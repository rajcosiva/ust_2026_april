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05" r:id="rId150"/>
    <p:sldId id="406" r:id="rId151"/>
    <p:sldId id="407" r:id="rId152"/>
    <p:sldId id="408" r:id="rId153"/>
    <p:sldId id="409" r:id="rId154"/>
    <p:sldId id="410" r:id="rId155"/>
    <p:sldId id="411" r:id="rId156"/>
    <p:sldId id="412" r:id="rId157"/>
    <p:sldId id="413" r:id="rId158"/>
    <p:sldId id="414" r:id="rId159"/>
    <p:sldId id="415" r:id="rId160"/>
    <p:sldId id="416" r:id="rId161"/>
    <p:sldId id="417" r:id="rId162"/>
    <p:sldId id="418" r:id="rId163"/>
    <p:sldId id="419" r:id="rId164"/>
    <p:sldId id="420" r:id="rId165"/>
    <p:sldId id="421" r:id="rId166"/>
    <p:sldId id="422" r:id="rId167"/>
    <p:sldId id="474" r:id="rId168"/>
    <p:sldId id="423" r:id="rId169"/>
    <p:sldId id="424" r:id="rId170"/>
    <p:sldId id="473" r:id="rId171"/>
    <p:sldId id="476" r:id="rId172"/>
    <p:sldId id="426" r:id="rId173"/>
    <p:sldId id="478"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42" d="100"/>
          <a:sy n="42" d="100"/>
        </p:scale>
        <p:origin x="56" y="2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viewProps" Target="view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tableStyles" Target="tableStyle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27047" y="670479"/>
            <a:ext cx="6877049" cy="7267574"/>
          </a:xfrm>
          <a:prstGeom prst="rect">
            <a:avLst/>
          </a:prstGeom>
        </p:spPr>
      </p:pic>
      <p:sp>
        <p:nvSpPr>
          <p:cNvPr id="2" name="Holder 2"/>
          <p:cNvSpPr>
            <a:spLocks noGrp="1"/>
          </p:cNvSpPr>
          <p:nvPr>
            <p:ph type="ctrTitle"/>
          </p:nvPr>
        </p:nvSpPr>
        <p:spPr>
          <a:xfrm>
            <a:off x="7765509" y="926607"/>
            <a:ext cx="10290810" cy="1301750"/>
          </a:xfrm>
          <a:prstGeom prst="rect">
            <a:avLst/>
          </a:prstGeom>
        </p:spPr>
        <p:txBody>
          <a:bodyPr wrap="square" lIns="0" tIns="0" rIns="0" bIns="0">
            <a:spAutoFit/>
          </a:bodyPr>
          <a:lstStyle>
            <a:lvl1pPr>
              <a:defRPr sz="5000" b="1" i="0">
                <a:solidFill>
                  <a:srgbClr val="E7181F"/>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600" b="0" i="0">
                <a:solidFill>
                  <a:srgbClr val="2E377E"/>
                </a:solidFill>
                <a:latin typeface="Georgia"/>
                <a:cs typeface="Georg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rgbClr val="E7181F"/>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600" b="0" i="0">
                <a:solidFill>
                  <a:srgbClr val="2E377E"/>
                </a:solidFill>
                <a:latin typeface="Georgia"/>
                <a:cs typeface="Georg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rgbClr val="E7181F"/>
                </a:solidFill>
                <a:latin typeface="Times New Roman"/>
                <a:cs typeface="Times New Roman"/>
              </a:defRPr>
            </a:lvl1pPr>
          </a:lstStyle>
          <a:p>
            <a:endParaRPr/>
          </a:p>
        </p:txBody>
      </p:sp>
      <p:sp>
        <p:nvSpPr>
          <p:cNvPr id="3" name="Holder 3"/>
          <p:cNvSpPr>
            <a:spLocks noGrp="1"/>
          </p:cNvSpPr>
          <p:nvPr>
            <p:ph sz="half" idx="2"/>
          </p:nvPr>
        </p:nvSpPr>
        <p:spPr>
          <a:xfrm>
            <a:off x="594299" y="3203225"/>
            <a:ext cx="6350634" cy="6916420"/>
          </a:xfrm>
          <a:prstGeom prst="rect">
            <a:avLst/>
          </a:prstGeom>
        </p:spPr>
        <p:txBody>
          <a:bodyPr wrap="square" lIns="0" tIns="0" rIns="0" bIns="0">
            <a:spAutoFit/>
          </a:bodyPr>
          <a:lstStyle>
            <a:lvl1pPr>
              <a:defRPr sz="2800" b="0" i="0">
                <a:solidFill>
                  <a:srgbClr val="2E377E"/>
                </a:solidFill>
                <a:latin typeface="Georgia"/>
                <a:cs typeface="Georgia"/>
              </a:defRPr>
            </a:lvl1pPr>
          </a:lstStyle>
          <a:p>
            <a:endParaRPr/>
          </a:p>
        </p:txBody>
      </p:sp>
      <p:sp>
        <p:nvSpPr>
          <p:cNvPr id="4" name="Holder 4"/>
          <p:cNvSpPr>
            <a:spLocks noGrp="1"/>
          </p:cNvSpPr>
          <p:nvPr>
            <p:ph sz="half" idx="3"/>
          </p:nvPr>
        </p:nvSpPr>
        <p:spPr>
          <a:xfrm>
            <a:off x="9327776" y="3203225"/>
            <a:ext cx="6350634" cy="6916420"/>
          </a:xfrm>
          <a:prstGeom prst="rect">
            <a:avLst/>
          </a:prstGeom>
        </p:spPr>
        <p:txBody>
          <a:bodyPr wrap="square" lIns="0" tIns="0" rIns="0" bIns="0">
            <a:spAutoFit/>
          </a:bodyPr>
          <a:lstStyle>
            <a:lvl1pPr>
              <a:defRPr sz="2800" b="0" i="0">
                <a:solidFill>
                  <a:srgbClr val="2E377E"/>
                </a:solidFill>
                <a:latin typeface="Georgia"/>
                <a:cs typeface="Georgia"/>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rgbClr val="E7181F"/>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85128" y="199826"/>
            <a:ext cx="16373475" cy="1271905"/>
          </a:xfrm>
          <a:prstGeom prst="rect">
            <a:avLst/>
          </a:prstGeom>
        </p:spPr>
        <p:txBody>
          <a:bodyPr wrap="square" lIns="0" tIns="0" rIns="0" bIns="0">
            <a:spAutoFit/>
          </a:bodyPr>
          <a:lstStyle>
            <a:lvl1pPr>
              <a:defRPr sz="5000" b="1" i="0">
                <a:solidFill>
                  <a:srgbClr val="E7181F"/>
                </a:solidFill>
                <a:latin typeface="Times New Roman"/>
                <a:cs typeface="Times New Roman"/>
              </a:defRPr>
            </a:lvl1pPr>
          </a:lstStyle>
          <a:p>
            <a:endParaRPr/>
          </a:p>
        </p:txBody>
      </p:sp>
      <p:sp>
        <p:nvSpPr>
          <p:cNvPr id="3" name="Holder 3"/>
          <p:cNvSpPr>
            <a:spLocks noGrp="1"/>
          </p:cNvSpPr>
          <p:nvPr>
            <p:ph type="body" idx="1"/>
          </p:nvPr>
        </p:nvSpPr>
        <p:spPr>
          <a:xfrm>
            <a:off x="469403" y="2363549"/>
            <a:ext cx="9935210" cy="5455920"/>
          </a:xfrm>
          <a:prstGeom prst="rect">
            <a:avLst/>
          </a:prstGeom>
        </p:spPr>
        <p:txBody>
          <a:bodyPr wrap="square" lIns="0" tIns="0" rIns="0" bIns="0">
            <a:spAutoFit/>
          </a:bodyPr>
          <a:lstStyle>
            <a:lvl1pPr>
              <a:defRPr sz="3600" b="0" i="0">
                <a:solidFill>
                  <a:srgbClr val="2E377E"/>
                </a:solidFill>
                <a:latin typeface="Georgia"/>
                <a:cs typeface="Georgia"/>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3/17/2026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redhat.com/en/topics/open-source/what-is-open-sourc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jpg"/><Relationship Id="rId7" Type="http://schemas.openxmlformats.org/officeDocument/2006/relationships/image" Target="../media/image11.pn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9.png"/><Relationship Id="rId10" Type="http://schemas.openxmlformats.org/officeDocument/2006/relationships/image" Target="../media/image14.jpg"/><Relationship Id="rId4" Type="http://schemas.openxmlformats.org/officeDocument/2006/relationships/image" Target="../media/image8.jp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jpg"/></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1.png"/><Relationship Id="rId4" Type="http://schemas.openxmlformats.org/officeDocument/2006/relationships/image" Target="../media/image27.jp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minikube.sigs.k8s.io/docs/drivers/docker/" TargetMode="Externa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3.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hyperlink" Target="https://kubernetes.io/docs/concepts/workloads/pods/" TargetMode="External"/><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6.jp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g"/><Relationship Id="rId1" Type="http://schemas.openxmlformats.org/officeDocument/2006/relationships/slideLayout" Target="../slideLayouts/slideLayout5.xml"/><Relationship Id="rId5" Type="http://schemas.openxmlformats.org/officeDocument/2006/relationships/image" Target="../media/image60.png"/><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jpg"/><Relationship Id="rId1" Type="http://schemas.openxmlformats.org/officeDocument/2006/relationships/slideLayout" Target="../slideLayouts/slideLayout5.xml"/><Relationship Id="rId5" Type="http://schemas.openxmlformats.org/officeDocument/2006/relationships/image" Target="../media/image51.png"/><Relationship Id="rId4" Type="http://schemas.openxmlformats.org/officeDocument/2006/relationships/image" Target="../media/image64.png"/></Relationships>
</file>

<file path=ppt/slides/_rels/slide48.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jpg"/><Relationship Id="rId1" Type="http://schemas.openxmlformats.org/officeDocument/2006/relationships/slideLayout" Target="../slideLayouts/slideLayout5.xml"/><Relationship Id="rId5" Type="http://schemas.openxmlformats.org/officeDocument/2006/relationships/image" Target="../media/image68.png"/><Relationship Id="rId4" Type="http://schemas.openxmlformats.org/officeDocument/2006/relationships/hyperlink" Target="http://a0dce056441c04035918de4bfb5bff97-40528368.us/" TargetMode="External"/></Relationships>
</file>

<file path=ppt/slides/_rels/slide50.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6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6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jpg"/><Relationship Id="rId1" Type="http://schemas.openxmlformats.org/officeDocument/2006/relationships/slideLayout" Target="../slideLayouts/slideLayout5.xml"/><Relationship Id="rId4" Type="http://schemas.openxmlformats.org/officeDocument/2006/relationships/image" Target="../media/image7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86.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42.png"/><Relationship Id="rId1" Type="http://schemas.openxmlformats.org/officeDocument/2006/relationships/slideLayout" Target="../slideLayouts/slideLayout5.xml"/><Relationship Id="rId6" Type="http://schemas.openxmlformats.org/officeDocument/2006/relationships/image" Target="../media/image55.png"/><Relationship Id="rId5" Type="http://schemas.openxmlformats.org/officeDocument/2006/relationships/image" Target="../media/image40.png"/><Relationship Id="rId4" Type="http://schemas.openxmlformats.org/officeDocument/2006/relationships/image" Target="../media/image54.png"/></Relationships>
</file>

<file path=ppt/slides/_rels/slide9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9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9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83.jp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image" Target="../media/image86.jpg"/><Relationship Id="rId1" Type="http://schemas.openxmlformats.org/officeDocument/2006/relationships/slideLayout" Target="../slideLayouts/slideLayout2.xml"/><Relationship Id="rId4" Type="http://schemas.openxmlformats.org/officeDocument/2006/relationships/image" Target="../media/image88.jpg"/></Relationships>
</file>

<file path=ppt/slides/_rels/slide97.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image" Target="../media/image86.jpg"/><Relationship Id="rId1" Type="http://schemas.openxmlformats.org/officeDocument/2006/relationships/slideLayout" Target="../slideLayouts/slideLayout2.xml"/><Relationship Id="rId4" Type="http://schemas.openxmlformats.org/officeDocument/2006/relationships/image" Target="../media/image88.jpg"/></Relationships>
</file>

<file path=ppt/slides/_rels/slide98.xml.rels><?xml version="1.0" encoding="UTF-8" standalone="yes"?>
<Relationships xmlns="http://schemas.openxmlformats.org/package/2006/relationships"><Relationship Id="rId2" Type="http://schemas.openxmlformats.org/officeDocument/2006/relationships/image" Target="../media/image89.jp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90.jpg"/><Relationship Id="rId1" Type="http://schemas.openxmlformats.org/officeDocument/2006/relationships/slideLayout" Target="../slideLayouts/slideLayout5.xml"/><Relationship Id="rId5" Type="http://schemas.openxmlformats.org/officeDocument/2006/relationships/image" Target="../media/image41.png"/><Relationship Id="rId4" Type="http://schemas.openxmlformats.org/officeDocument/2006/relationships/image" Target="../media/image40.png"/></Relationships>
</file>

<file path=ppt/slides/_rels/slide10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3" Type="http://schemas.openxmlformats.org/officeDocument/2006/relationships/image" Target="../media/image94.jpg"/><Relationship Id="rId2" Type="http://schemas.openxmlformats.org/officeDocument/2006/relationships/image" Target="../media/image93.jpg"/><Relationship Id="rId1" Type="http://schemas.openxmlformats.org/officeDocument/2006/relationships/slideLayout" Target="../slideLayouts/slideLayout2.xml"/><Relationship Id="rId4" Type="http://schemas.openxmlformats.org/officeDocument/2006/relationships/image" Target="../media/image95.jp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97.jp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8.jp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0.jpg"/><Relationship Id="rId2" Type="http://schemas.openxmlformats.org/officeDocument/2006/relationships/image" Target="../media/image99.jp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2.jpg"/><Relationship Id="rId2" Type="http://schemas.openxmlformats.org/officeDocument/2006/relationships/image" Target="../media/image101.jpg"/><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image" Target="../media/image103.jp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11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1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2" Type="http://schemas.openxmlformats.org/officeDocument/2006/relationships/image" Target="../media/image110.jpg"/><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2" Type="http://schemas.openxmlformats.org/officeDocument/2006/relationships/image" Target="../media/image111.jp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2.jp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14.jp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15.jp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0.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18.jp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19.jp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0.png"/><Relationship Id="rId1" Type="http://schemas.openxmlformats.org/officeDocument/2006/relationships/slideLayout" Target="../slideLayouts/slideLayout3.xml"/><Relationship Id="rId4" Type="http://schemas.openxmlformats.org/officeDocument/2006/relationships/image" Target="../media/image120.png"/></Relationships>
</file>

<file path=ppt/slides/_rels/slide1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21.jp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22.jpg"/><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2" Type="http://schemas.openxmlformats.org/officeDocument/2006/relationships/image" Target="../media/image123.jp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37.xml.rels><?xml version="1.0" encoding="UTF-8" standalone="yes"?>
<Relationships xmlns="http://schemas.openxmlformats.org/package/2006/relationships"><Relationship Id="rId2" Type="http://schemas.openxmlformats.org/officeDocument/2006/relationships/image" Target="../media/image124.jp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2" Type="http://schemas.openxmlformats.org/officeDocument/2006/relationships/image" Target="../media/image126.jp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2" Type="http://schemas.openxmlformats.org/officeDocument/2006/relationships/image" Target="../media/image128.jp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29.jpg"/><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3" Type="http://schemas.openxmlformats.org/officeDocument/2006/relationships/image" Target="../media/image131.jpg"/><Relationship Id="rId2" Type="http://schemas.openxmlformats.org/officeDocument/2006/relationships/image" Target="../media/image130.jp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2.jpg"/><Relationship Id="rId2" Type="http://schemas.openxmlformats.org/officeDocument/2006/relationships/image" Target="../media/image130.jpg"/><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3" Type="http://schemas.openxmlformats.org/officeDocument/2006/relationships/image" Target="../media/image134.jpg"/><Relationship Id="rId2" Type="http://schemas.openxmlformats.org/officeDocument/2006/relationships/image" Target="../media/image133.png"/><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136.png"/></Relationships>
</file>

<file path=ppt/slides/_rels/slide150.xml.rels><?xml version="1.0" encoding="UTF-8" standalone="yes"?>
<Relationships xmlns="http://schemas.openxmlformats.org/package/2006/relationships"><Relationship Id="rId3" Type="http://schemas.openxmlformats.org/officeDocument/2006/relationships/image" Target="../media/image138.jpg"/><Relationship Id="rId2" Type="http://schemas.openxmlformats.org/officeDocument/2006/relationships/image" Target="../media/image137.jpg"/><Relationship Id="rId1" Type="http://schemas.openxmlformats.org/officeDocument/2006/relationships/slideLayout" Target="../slideLayouts/slideLayout5.xml"/></Relationships>
</file>

<file path=ppt/slides/_rels/slide151.xml.rels><?xml version="1.0" encoding="UTF-8" standalone="yes"?>
<Relationships xmlns="http://schemas.openxmlformats.org/package/2006/relationships"><Relationship Id="rId2" Type="http://schemas.openxmlformats.org/officeDocument/2006/relationships/image" Target="../media/image139.jpg"/><Relationship Id="rId1" Type="http://schemas.openxmlformats.org/officeDocument/2006/relationships/slideLayout" Target="../slideLayouts/slideLayout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5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jpg"/><Relationship Id="rId1" Type="http://schemas.openxmlformats.org/officeDocument/2006/relationships/slideLayout" Target="../slideLayouts/slideLayout5.xml"/></Relationships>
</file>

<file path=ppt/slides/_rels/slide156.xml.rels><?xml version="1.0" encoding="UTF-8" standalone="yes"?>
<Relationships xmlns="http://schemas.openxmlformats.org/package/2006/relationships"><Relationship Id="rId3" Type="http://schemas.openxmlformats.org/officeDocument/2006/relationships/image" Target="../media/image143.jpg"/><Relationship Id="rId2" Type="http://schemas.openxmlformats.org/officeDocument/2006/relationships/image" Target="../media/image142.jp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45.jpg"/><Relationship Id="rId1" Type="http://schemas.openxmlformats.org/officeDocument/2006/relationships/slideLayout" Target="../slideLayouts/slideLayout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46.jpg"/><Relationship Id="rId1" Type="http://schemas.openxmlformats.org/officeDocument/2006/relationships/slideLayout" Target="../slideLayouts/slideLayout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41.png"/><Relationship Id="rId4" Type="http://schemas.openxmlformats.org/officeDocument/2006/relationships/image" Target="../media/image44.png"/></Relationships>
</file>

<file path=ppt/slides/_rels/slide17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147.jpg"/><Relationship Id="rId1" Type="http://schemas.openxmlformats.org/officeDocument/2006/relationships/slideLayout" Target="../slideLayouts/slideLayout5.xml"/></Relationships>
</file>

<file path=ppt/slides/_rels/slide17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2" Type="http://schemas.openxmlformats.org/officeDocument/2006/relationships/image" Target="../media/image150.jpg"/><Relationship Id="rId1" Type="http://schemas.openxmlformats.org/officeDocument/2006/relationships/slideLayout" Target="../slideLayouts/slideLayout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5.xml"/><Relationship Id="rId4" Type="http://schemas.openxmlformats.org/officeDocument/2006/relationships/image" Target="../media/image144.png"/></Relationships>
</file>

<file path=ppt/slides/_rels/slide18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5.xml"/></Relationships>
</file>

<file path=ppt/slides/_rels/slide18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88.xml.rels><?xml version="1.0" encoding="UTF-8" standalone="yes"?>
<Relationships xmlns="http://schemas.openxmlformats.org/package/2006/relationships"><Relationship Id="rId3" Type="http://schemas.openxmlformats.org/officeDocument/2006/relationships/image" Target="../media/image156.jpg"/><Relationship Id="rId2" Type="http://schemas.openxmlformats.org/officeDocument/2006/relationships/image" Target="../media/image155.jpg"/><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57.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0.xml.rels><?xml version="1.0" encoding="UTF-8" standalone="yes"?>
<Relationships xmlns="http://schemas.openxmlformats.org/package/2006/relationships"><Relationship Id="rId2" Type="http://schemas.openxmlformats.org/officeDocument/2006/relationships/image" Target="../media/image159.jpg"/><Relationship Id="rId1" Type="http://schemas.openxmlformats.org/officeDocument/2006/relationships/slideLayout" Target="../slideLayouts/slideLayout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162.jp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7.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5.xml"/></Relationships>
</file>

<file path=ppt/slides/_rels/slide208.xml.rels><?xml version="1.0" encoding="UTF-8" standalone="yes"?>
<Relationships xmlns="http://schemas.openxmlformats.org/package/2006/relationships"><Relationship Id="rId2" Type="http://schemas.openxmlformats.org/officeDocument/2006/relationships/image" Target="../media/image164.jpg"/><Relationship Id="rId1" Type="http://schemas.openxmlformats.org/officeDocument/2006/relationships/slideLayout" Target="../slideLayouts/slideLayout5.xml"/></Relationships>
</file>

<file path=ppt/slides/_rels/slide20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2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2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165.jp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66.jpg"/><Relationship Id="rId1" Type="http://schemas.openxmlformats.org/officeDocument/2006/relationships/slideLayout" Target="../slideLayouts/slideLayout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05605" y="680107"/>
            <a:ext cx="7676387" cy="7511805"/>
          </a:xfrm>
          <a:prstGeom prst="rect">
            <a:avLst/>
          </a:prstGeom>
        </p:spPr>
      </p:pic>
      <p:pic>
        <p:nvPicPr>
          <p:cNvPr id="3" name="object 3"/>
          <p:cNvPicPr/>
          <p:nvPr/>
        </p:nvPicPr>
        <p:blipFill>
          <a:blip r:embed="rId3" cstate="print"/>
          <a:stretch>
            <a:fillRect/>
          </a:stretch>
        </p:blipFill>
        <p:spPr>
          <a:xfrm>
            <a:off x="6801554" y="8257422"/>
            <a:ext cx="4905694" cy="7329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18694" y="3541763"/>
          <a:ext cx="16779874" cy="6337300"/>
        </p:xfrm>
        <a:graphic>
          <a:graphicData uri="http://schemas.openxmlformats.org/drawingml/2006/table">
            <a:tbl>
              <a:tblPr firstRow="1" bandRow="1">
                <a:tableStyleId>{2D5ABB26-0587-4C30-8999-92F81FD0307C}</a:tableStyleId>
              </a:tblPr>
              <a:tblGrid>
                <a:gridCol w="2814955">
                  <a:extLst>
                    <a:ext uri="{9D8B030D-6E8A-4147-A177-3AD203B41FA5}">
                      <a16:colId xmlns:a16="http://schemas.microsoft.com/office/drawing/2014/main" val="20000"/>
                    </a:ext>
                  </a:extLst>
                </a:gridCol>
                <a:gridCol w="6664959">
                  <a:extLst>
                    <a:ext uri="{9D8B030D-6E8A-4147-A177-3AD203B41FA5}">
                      <a16:colId xmlns:a16="http://schemas.microsoft.com/office/drawing/2014/main" val="20001"/>
                    </a:ext>
                  </a:extLst>
                </a:gridCol>
                <a:gridCol w="7299960">
                  <a:extLst>
                    <a:ext uri="{9D8B030D-6E8A-4147-A177-3AD203B41FA5}">
                      <a16:colId xmlns:a16="http://schemas.microsoft.com/office/drawing/2014/main" val="20002"/>
                    </a:ext>
                  </a:extLst>
                </a:gridCol>
              </a:tblGrid>
              <a:tr h="792480">
                <a:tc>
                  <a:txBody>
                    <a:bodyPr/>
                    <a:lstStyle/>
                    <a:p>
                      <a:pPr marL="151765">
                        <a:lnSpc>
                          <a:spcPct val="100000"/>
                        </a:lnSpc>
                        <a:spcBef>
                          <a:spcPts val="925"/>
                        </a:spcBef>
                      </a:pPr>
                      <a:r>
                        <a:rPr sz="3000" b="1" spc="-40" dirty="0">
                          <a:solidFill>
                            <a:srgbClr val="2E377E"/>
                          </a:solidFill>
                          <a:latin typeface="Times New Roman"/>
                          <a:cs typeface="Times New Roman"/>
                        </a:rPr>
                        <a:t>FEATURES</a:t>
                      </a:r>
                      <a:endParaRPr sz="3000">
                        <a:latin typeface="Times New Roman"/>
                        <a:cs typeface="Times New Roman"/>
                      </a:endParaRPr>
                    </a:p>
                  </a:txBody>
                  <a:tcPr marL="0" marR="0" marT="117475" marB="0">
                    <a:lnL w="57150">
                      <a:solidFill>
                        <a:srgbClr val="000000"/>
                      </a:solidFill>
                      <a:prstDash val="solid"/>
                    </a:lnL>
                    <a:lnR w="38100">
                      <a:solidFill>
                        <a:srgbClr val="000000"/>
                      </a:solidFill>
                      <a:prstDash val="solid"/>
                    </a:lnR>
                    <a:lnT w="57150">
                      <a:solidFill>
                        <a:srgbClr val="000000"/>
                      </a:solidFill>
                      <a:prstDash val="solid"/>
                    </a:lnT>
                    <a:lnB w="57150">
                      <a:solidFill>
                        <a:srgbClr val="000000"/>
                      </a:solidFill>
                      <a:prstDash val="solid"/>
                    </a:lnB>
                  </a:tcPr>
                </a:tc>
                <a:tc>
                  <a:txBody>
                    <a:bodyPr/>
                    <a:lstStyle/>
                    <a:p>
                      <a:pPr marL="919480">
                        <a:lnSpc>
                          <a:spcPct val="100000"/>
                        </a:lnSpc>
                        <a:spcBef>
                          <a:spcPts val="925"/>
                        </a:spcBef>
                      </a:pPr>
                      <a:r>
                        <a:rPr sz="3000" b="1" spc="-165" dirty="0">
                          <a:solidFill>
                            <a:srgbClr val="2E377E"/>
                          </a:solidFill>
                          <a:latin typeface="Times New Roman"/>
                          <a:cs typeface="Times New Roman"/>
                        </a:rPr>
                        <a:t>DOCKER</a:t>
                      </a:r>
                      <a:r>
                        <a:rPr sz="3000" b="1" spc="-25" dirty="0">
                          <a:solidFill>
                            <a:srgbClr val="2E377E"/>
                          </a:solidFill>
                          <a:latin typeface="Times New Roman"/>
                          <a:cs typeface="Times New Roman"/>
                        </a:rPr>
                        <a:t> </a:t>
                      </a:r>
                      <a:r>
                        <a:rPr sz="3000" b="1" spc="-20" dirty="0">
                          <a:solidFill>
                            <a:srgbClr val="2E377E"/>
                          </a:solidFill>
                          <a:latin typeface="Times New Roman"/>
                          <a:cs typeface="Times New Roman"/>
                        </a:rPr>
                        <a:t>SWARM</a:t>
                      </a:r>
                      <a:endParaRPr sz="3000">
                        <a:latin typeface="Times New Roman"/>
                        <a:cs typeface="Times New Roman"/>
                      </a:endParaRPr>
                    </a:p>
                  </a:txBody>
                  <a:tcPr marL="0" marR="0" marT="117475" marB="0">
                    <a:lnL w="38100">
                      <a:solidFill>
                        <a:srgbClr val="000000"/>
                      </a:solidFill>
                      <a:prstDash val="solid"/>
                    </a:lnL>
                    <a:lnR w="38100">
                      <a:solidFill>
                        <a:srgbClr val="000000"/>
                      </a:solidFill>
                      <a:prstDash val="solid"/>
                    </a:lnR>
                    <a:lnT w="57150">
                      <a:solidFill>
                        <a:srgbClr val="000000"/>
                      </a:solidFill>
                      <a:prstDash val="solid"/>
                    </a:lnT>
                    <a:lnB w="57150">
                      <a:solidFill>
                        <a:srgbClr val="000000"/>
                      </a:solidFill>
                      <a:prstDash val="solid"/>
                    </a:lnB>
                  </a:tcPr>
                </a:tc>
                <a:tc>
                  <a:txBody>
                    <a:bodyPr/>
                    <a:lstStyle/>
                    <a:p>
                      <a:pPr marL="1316355">
                        <a:lnSpc>
                          <a:spcPct val="100000"/>
                        </a:lnSpc>
                        <a:spcBef>
                          <a:spcPts val="925"/>
                        </a:spcBef>
                      </a:pPr>
                      <a:r>
                        <a:rPr sz="3000" b="1" spc="-55" dirty="0">
                          <a:solidFill>
                            <a:srgbClr val="2E377E"/>
                          </a:solidFill>
                          <a:latin typeface="Times New Roman"/>
                          <a:cs typeface="Times New Roman"/>
                        </a:rPr>
                        <a:t>KUBERNETES</a:t>
                      </a:r>
                      <a:endParaRPr sz="3000">
                        <a:latin typeface="Times New Roman"/>
                        <a:cs typeface="Times New Roman"/>
                      </a:endParaRPr>
                    </a:p>
                  </a:txBody>
                  <a:tcPr marL="0" marR="0" marT="117475" marB="0">
                    <a:lnL w="38100">
                      <a:solidFill>
                        <a:srgbClr val="000000"/>
                      </a:solidFill>
                      <a:prstDash val="solid"/>
                    </a:lnL>
                    <a:lnR w="76200">
                      <a:solidFill>
                        <a:srgbClr val="000000"/>
                      </a:solidFill>
                      <a:prstDash val="solid"/>
                    </a:lnR>
                    <a:lnT w="57150">
                      <a:solidFill>
                        <a:srgbClr val="000000"/>
                      </a:solidFill>
                      <a:prstDash val="solid"/>
                    </a:lnT>
                    <a:lnB w="57150">
                      <a:solidFill>
                        <a:srgbClr val="000000"/>
                      </a:solidFill>
                      <a:prstDash val="solid"/>
                    </a:lnB>
                  </a:tcPr>
                </a:tc>
                <a:extLst>
                  <a:ext uri="{0D108BD9-81ED-4DB2-BD59-A6C34878D82A}">
                    <a16:rowId xmlns:a16="http://schemas.microsoft.com/office/drawing/2014/main" val="10000"/>
                  </a:ext>
                </a:extLst>
              </a:tr>
              <a:tr h="5544820">
                <a:tc>
                  <a:txBody>
                    <a:bodyPr/>
                    <a:lstStyle/>
                    <a:p>
                      <a:pPr marL="151765">
                        <a:lnSpc>
                          <a:spcPct val="100000"/>
                        </a:lnSpc>
                        <a:spcBef>
                          <a:spcPts val="3020"/>
                        </a:spcBef>
                      </a:pPr>
                      <a:r>
                        <a:rPr sz="3000" spc="-10" dirty="0">
                          <a:solidFill>
                            <a:srgbClr val="2E377E"/>
                          </a:solidFill>
                          <a:latin typeface="Georgia"/>
                          <a:cs typeface="Georgia"/>
                        </a:rPr>
                        <a:t>Setup</a:t>
                      </a:r>
                      <a:endParaRPr sz="3000">
                        <a:latin typeface="Georgia"/>
                        <a:cs typeface="Georgia"/>
                      </a:endParaRPr>
                    </a:p>
                    <a:p>
                      <a:pPr>
                        <a:lnSpc>
                          <a:spcPct val="100000"/>
                        </a:lnSpc>
                        <a:spcBef>
                          <a:spcPts val="450"/>
                        </a:spcBef>
                      </a:pPr>
                      <a:endParaRPr sz="3000">
                        <a:latin typeface="Times New Roman"/>
                        <a:cs typeface="Times New Roman"/>
                      </a:endParaRPr>
                    </a:p>
                    <a:p>
                      <a:pPr marL="151765">
                        <a:lnSpc>
                          <a:spcPct val="100000"/>
                        </a:lnSpc>
                      </a:pPr>
                      <a:r>
                        <a:rPr sz="3000" dirty="0">
                          <a:solidFill>
                            <a:srgbClr val="2E377E"/>
                          </a:solidFill>
                          <a:latin typeface="Georgia"/>
                          <a:cs typeface="Georgia"/>
                        </a:rPr>
                        <a:t>Auto</a:t>
                      </a:r>
                      <a:r>
                        <a:rPr sz="3000" spc="45" dirty="0">
                          <a:solidFill>
                            <a:srgbClr val="2E377E"/>
                          </a:solidFill>
                          <a:latin typeface="Georgia"/>
                          <a:cs typeface="Georgia"/>
                        </a:rPr>
                        <a:t> </a:t>
                      </a:r>
                      <a:r>
                        <a:rPr sz="3000" spc="-10" dirty="0">
                          <a:solidFill>
                            <a:srgbClr val="2E377E"/>
                          </a:solidFill>
                          <a:latin typeface="Georgia"/>
                          <a:cs typeface="Georgia"/>
                        </a:rPr>
                        <a:t>Scaling</a:t>
                      </a:r>
                      <a:endParaRPr sz="3000">
                        <a:latin typeface="Georgia"/>
                        <a:cs typeface="Georgia"/>
                      </a:endParaRPr>
                    </a:p>
                    <a:p>
                      <a:pPr>
                        <a:lnSpc>
                          <a:spcPct val="100000"/>
                        </a:lnSpc>
                        <a:spcBef>
                          <a:spcPts val="2925"/>
                        </a:spcBef>
                      </a:pPr>
                      <a:endParaRPr sz="3000">
                        <a:latin typeface="Times New Roman"/>
                        <a:cs typeface="Times New Roman"/>
                      </a:endParaRPr>
                    </a:p>
                    <a:p>
                      <a:pPr marL="151765">
                        <a:lnSpc>
                          <a:spcPct val="100000"/>
                        </a:lnSpc>
                        <a:spcBef>
                          <a:spcPts val="5"/>
                        </a:spcBef>
                      </a:pPr>
                      <a:r>
                        <a:rPr sz="3000" spc="-10" dirty="0">
                          <a:solidFill>
                            <a:srgbClr val="2E377E"/>
                          </a:solidFill>
                          <a:latin typeface="Georgia"/>
                          <a:cs typeface="Georgia"/>
                        </a:rPr>
                        <a:t>Community</a:t>
                      </a:r>
                      <a:endParaRPr sz="3000">
                        <a:latin typeface="Georgia"/>
                        <a:cs typeface="Georgia"/>
                      </a:endParaRPr>
                    </a:p>
                    <a:p>
                      <a:pPr>
                        <a:lnSpc>
                          <a:spcPct val="100000"/>
                        </a:lnSpc>
                      </a:pPr>
                      <a:endParaRPr sz="3000">
                        <a:latin typeface="Times New Roman"/>
                        <a:cs typeface="Times New Roman"/>
                      </a:endParaRPr>
                    </a:p>
                    <a:p>
                      <a:pPr>
                        <a:lnSpc>
                          <a:spcPct val="100000"/>
                        </a:lnSpc>
                        <a:spcBef>
                          <a:spcPts val="2320"/>
                        </a:spcBef>
                      </a:pPr>
                      <a:endParaRPr sz="3000">
                        <a:latin typeface="Times New Roman"/>
                        <a:cs typeface="Times New Roman"/>
                      </a:endParaRPr>
                    </a:p>
                    <a:p>
                      <a:pPr marL="321945">
                        <a:lnSpc>
                          <a:spcPct val="100000"/>
                        </a:lnSpc>
                        <a:spcBef>
                          <a:spcPts val="5"/>
                        </a:spcBef>
                      </a:pPr>
                      <a:r>
                        <a:rPr sz="3000" spc="-25" dirty="0">
                          <a:solidFill>
                            <a:srgbClr val="2E377E"/>
                          </a:solidFill>
                          <a:latin typeface="Georgia"/>
                          <a:cs typeface="Georgia"/>
                        </a:rPr>
                        <a:t>GUI</a:t>
                      </a:r>
                      <a:endParaRPr sz="3000">
                        <a:latin typeface="Georgia"/>
                        <a:cs typeface="Georgia"/>
                      </a:endParaRPr>
                    </a:p>
                  </a:txBody>
                  <a:tcPr marL="0" marR="0" marT="383540" marB="0">
                    <a:lnL w="57150">
                      <a:solidFill>
                        <a:srgbClr val="000000"/>
                      </a:solidFill>
                      <a:prstDash val="solid"/>
                    </a:lnL>
                    <a:lnR w="38100">
                      <a:solidFill>
                        <a:srgbClr val="000000"/>
                      </a:solidFill>
                      <a:prstDash val="solid"/>
                    </a:lnR>
                    <a:lnT w="57150">
                      <a:solidFill>
                        <a:srgbClr val="000000"/>
                      </a:solidFill>
                      <a:prstDash val="solid"/>
                    </a:lnT>
                    <a:lnB w="57150">
                      <a:solidFill>
                        <a:srgbClr val="000000"/>
                      </a:solidFill>
                      <a:prstDash val="solid"/>
                    </a:lnB>
                  </a:tcPr>
                </a:tc>
                <a:tc>
                  <a:txBody>
                    <a:bodyPr/>
                    <a:lstStyle/>
                    <a:p>
                      <a:pPr marL="1766570">
                        <a:lnSpc>
                          <a:spcPct val="100000"/>
                        </a:lnSpc>
                        <a:spcBef>
                          <a:spcPts val="3020"/>
                        </a:spcBef>
                      </a:pPr>
                      <a:r>
                        <a:rPr sz="3000" spc="-20" dirty="0">
                          <a:solidFill>
                            <a:srgbClr val="2E377E"/>
                          </a:solidFill>
                          <a:latin typeface="Georgia"/>
                          <a:cs typeface="Georgia"/>
                        </a:rPr>
                        <a:t>Easy</a:t>
                      </a:r>
                      <a:endParaRPr sz="3000">
                        <a:latin typeface="Georgia"/>
                        <a:cs typeface="Georgia"/>
                      </a:endParaRPr>
                    </a:p>
                    <a:p>
                      <a:pPr marL="919480" marR="2691765" indent="158115">
                        <a:lnSpc>
                          <a:spcPts val="9080"/>
                        </a:lnSpc>
                        <a:spcBef>
                          <a:spcPts val="1075"/>
                        </a:spcBef>
                      </a:pPr>
                      <a:r>
                        <a:rPr sz="3000" dirty="0">
                          <a:solidFill>
                            <a:srgbClr val="2E377E"/>
                          </a:solidFill>
                          <a:latin typeface="Georgia"/>
                          <a:cs typeface="Georgia"/>
                        </a:rPr>
                        <a:t>No</a:t>
                      </a:r>
                      <a:r>
                        <a:rPr sz="3000" spc="-45" dirty="0">
                          <a:solidFill>
                            <a:srgbClr val="2E377E"/>
                          </a:solidFill>
                          <a:latin typeface="Georgia"/>
                          <a:cs typeface="Georgia"/>
                        </a:rPr>
                        <a:t> </a:t>
                      </a:r>
                      <a:r>
                        <a:rPr sz="3000" dirty="0">
                          <a:solidFill>
                            <a:srgbClr val="2E377E"/>
                          </a:solidFill>
                          <a:latin typeface="Georgia"/>
                          <a:cs typeface="Georgia"/>
                        </a:rPr>
                        <a:t>Auto</a:t>
                      </a:r>
                      <a:r>
                        <a:rPr sz="3000" spc="-40" dirty="0">
                          <a:solidFill>
                            <a:srgbClr val="2E377E"/>
                          </a:solidFill>
                          <a:latin typeface="Georgia"/>
                          <a:cs typeface="Georgia"/>
                        </a:rPr>
                        <a:t> </a:t>
                      </a:r>
                      <a:r>
                        <a:rPr sz="3000" spc="-10" dirty="0">
                          <a:solidFill>
                            <a:srgbClr val="2E377E"/>
                          </a:solidFill>
                          <a:latin typeface="Georgia"/>
                          <a:cs typeface="Georgia"/>
                        </a:rPr>
                        <a:t>Scaling </a:t>
                      </a:r>
                      <a:r>
                        <a:rPr sz="3000" dirty="0">
                          <a:solidFill>
                            <a:srgbClr val="2E377E"/>
                          </a:solidFill>
                          <a:latin typeface="Georgia"/>
                          <a:cs typeface="Georgia"/>
                        </a:rPr>
                        <a:t>Good</a:t>
                      </a:r>
                      <a:r>
                        <a:rPr sz="3000" spc="-135" dirty="0">
                          <a:solidFill>
                            <a:srgbClr val="2E377E"/>
                          </a:solidFill>
                          <a:latin typeface="Georgia"/>
                          <a:cs typeface="Georgia"/>
                        </a:rPr>
                        <a:t> </a:t>
                      </a:r>
                      <a:r>
                        <a:rPr sz="3000" spc="-10" dirty="0">
                          <a:solidFill>
                            <a:srgbClr val="2E377E"/>
                          </a:solidFill>
                          <a:latin typeface="Georgia"/>
                          <a:cs typeface="Georgia"/>
                        </a:rPr>
                        <a:t>Community</a:t>
                      </a:r>
                      <a:endParaRPr sz="3000">
                        <a:latin typeface="Georgia"/>
                        <a:cs typeface="Georgia"/>
                      </a:endParaRPr>
                    </a:p>
                    <a:p>
                      <a:pPr>
                        <a:lnSpc>
                          <a:spcPct val="100000"/>
                        </a:lnSpc>
                      </a:pPr>
                      <a:endParaRPr sz="3000">
                        <a:latin typeface="Times New Roman"/>
                        <a:cs typeface="Times New Roman"/>
                      </a:endParaRPr>
                    </a:p>
                    <a:p>
                      <a:pPr>
                        <a:lnSpc>
                          <a:spcPct val="100000"/>
                        </a:lnSpc>
                        <a:spcBef>
                          <a:spcPts val="415"/>
                        </a:spcBef>
                      </a:pPr>
                      <a:endParaRPr sz="3000">
                        <a:latin typeface="Times New Roman"/>
                        <a:cs typeface="Times New Roman"/>
                      </a:endParaRPr>
                    </a:p>
                    <a:p>
                      <a:pPr marL="1633855">
                        <a:lnSpc>
                          <a:spcPct val="100000"/>
                        </a:lnSpc>
                        <a:spcBef>
                          <a:spcPts val="5"/>
                        </a:spcBef>
                      </a:pPr>
                      <a:r>
                        <a:rPr sz="3000" dirty="0">
                          <a:solidFill>
                            <a:srgbClr val="2E377E"/>
                          </a:solidFill>
                          <a:latin typeface="Georgia"/>
                          <a:cs typeface="Georgia"/>
                        </a:rPr>
                        <a:t>No</a:t>
                      </a:r>
                      <a:r>
                        <a:rPr sz="3000" spc="-135" dirty="0">
                          <a:solidFill>
                            <a:srgbClr val="2E377E"/>
                          </a:solidFill>
                          <a:latin typeface="Georgia"/>
                          <a:cs typeface="Georgia"/>
                        </a:rPr>
                        <a:t> </a:t>
                      </a:r>
                      <a:r>
                        <a:rPr sz="3000" spc="-25" dirty="0">
                          <a:solidFill>
                            <a:srgbClr val="2E377E"/>
                          </a:solidFill>
                          <a:latin typeface="Georgia"/>
                          <a:cs typeface="Georgia"/>
                        </a:rPr>
                        <a:t>GUI</a:t>
                      </a:r>
                      <a:endParaRPr sz="3000">
                        <a:latin typeface="Georgia"/>
                        <a:cs typeface="Georgia"/>
                      </a:endParaRPr>
                    </a:p>
                  </a:txBody>
                  <a:tcPr marL="0" marR="0" marT="383540" marB="0">
                    <a:lnL w="38100">
                      <a:solidFill>
                        <a:srgbClr val="000000"/>
                      </a:solidFill>
                      <a:prstDash val="solid"/>
                    </a:lnL>
                    <a:lnR w="38100">
                      <a:solidFill>
                        <a:srgbClr val="000000"/>
                      </a:solidFill>
                      <a:prstDash val="solid"/>
                    </a:lnR>
                    <a:lnT w="57150">
                      <a:solidFill>
                        <a:srgbClr val="000000"/>
                      </a:solidFill>
                      <a:prstDash val="solid"/>
                    </a:lnT>
                    <a:lnB w="57150">
                      <a:solidFill>
                        <a:srgbClr val="000000"/>
                      </a:solidFill>
                      <a:prstDash val="solid"/>
                    </a:lnB>
                  </a:tcPr>
                </a:tc>
                <a:tc>
                  <a:txBody>
                    <a:bodyPr/>
                    <a:lstStyle/>
                    <a:p>
                      <a:pPr marL="2245995">
                        <a:lnSpc>
                          <a:spcPct val="100000"/>
                        </a:lnSpc>
                        <a:spcBef>
                          <a:spcPts val="3020"/>
                        </a:spcBef>
                      </a:pPr>
                      <a:r>
                        <a:rPr sz="3000" spc="-10" dirty="0">
                          <a:solidFill>
                            <a:srgbClr val="2E377E"/>
                          </a:solidFill>
                          <a:latin typeface="Georgia"/>
                          <a:cs typeface="Georgia"/>
                        </a:rPr>
                        <a:t>Complex</a:t>
                      </a:r>
                      <a:endParaRPr sz="3000">
                        <a:latin typeface="Georgia"/>
                        <a:cs typeface="Georgia"/>
                      </a:endParaRPr>
                    </a:p>
                    <a:p>
                      <a:pPr>
                        <a:lnSpc>
                          <a:spcPct val="100000"/>
                        </a:lnSpc>
                        <a:spcBef>
                          <a:spcPts val="2850"/>
                        </a:spcBef>
                      </a:pPr>
                      <a:endParaRPr sz="3000">
                        <a:latin typeface="Times New Roman"/>
                        <a:cs typeface="Times New Roman"/>
                      </a:endParaRPr>
                    </a:p>
                    <a:p>
                      <a:pPr marL="251460">
                        <a:lnSpc>
                          <a:spcPct val="100000"/>
                        </a:lnSpc>
                      </a:pPr>
                      <a:r>
                        <a:rPr sz="3000" dirty="0">
                          <a:solidFill>
                            <a:srgbClr val="2E377E"/>
                          </a:solidFill>
                          <a:latin typeface="Georgia"/>
                          <a:cs typeface="Georgia"/>
                        </a:rPr>
                        <a:t>Auto</a:t>
                      </a:r>
                      <a:r>
                        <a:rPr sz="3000" spc="45" dirty="0">
                          <a:solidFill>
                            <a:srgbClr val="2E377E"/>
                          </a:solidFill>
                          <a:latin typeface="Georgia"/>
                          <a:cs typeface="Georgia"/>
                        </a:rPr>
                        <a:t> </a:t>
                      </a:r>
                      <a:r>
                        <a:rPr sz="3000" spc="-10" dirty="0">
                          <a:solidFill>
                            <a:srgbClr val="2E377E"/>
                          </a:solidFill>
                          <a:latin typeface="Georgia"/>
                          <a:cs typeface="Georgia"/>
                        </a:rPr>
                        <a:t>Scaling</a:t>
                      </a:r>
                      <a:endParaRPr sz="3000">
                        <a:latin typeface="Georgia"/>
                        <a:cs typeface="Georgia"/>
                      </a:endParaRPr>
                    </a:p>
                    <a:p>
                      <a:pPr marL="251460" marR="410209">
                        <a:lnSpc>
                          <a:spcPct val="125000"/>
                        </a:lnSpc>
                        <a:spcBef>
                          <a:spcPts val="3000"/>
                        </a:spcBef>
                      </a:pPr>
                      <a:r>
                        <a:rPr sz="3000" dirty="0">
                          <a:solidFill>
                            <a:srgbClr val="2E377E"/>
                          </a:solidFill>
                          <a:latin typeface="Georgia"/>
                          <a:cs typeface="Georgia"/>
                        </a:rPr>
                        <a:t>Greater</a:t>
                      </a:r>
                      <a:r>
                        <a:rPr sz="3000" spc="65" dirty="0">
                          <a:solidFill>
                            <a:srgbClr val="2E377E"/>
                          </a:solidFill>
                          <a:latin typeface="Georgia"/>
                          <a:cs typeface="Georgia"/>
                        </a:rPr>
                        <a:t> </a:t>
                      </a:r>
                      <a:r>
                        <a:rPr sz="3000" spc="50" dirty="0">
                          <a:solidFill>
                            <a:srgbClr val="2E377E"/>
                          </a:solidFill>
                          <a:latin typeface="Georgia"/>
                          <a:cs typeface="Georgia"/>
                        </a:rPr>
                        <a:t>community</a:t>
                      </a:r>
                      <a:r>
                        <a:rPr sz="3000" spc="65" dirty="0">
                          <a:solidFill>
                            <a:srgbClr val="2E377E"/>
                          </a:solidFill>
                          <a:latin typeface="Georgia"/>
                          <a:cs typeface="Georgia"/>
                        </a:rPr>
                        <a:t> </a:t>
                      </a:r>
                      <a:r>
                        <a:rPr sz="3000" dirty="0">
                          <a:solidFill>
                            <a:srgbClr val="2E377E"/>
                          </a:solidFill>
                          <a:latin typeface="Georgia"/>
                          <a:cs typeface="Georgia"/>
                        </a:rPr>
                        <a:t>for</a:t>
                      </a:r>
                      <a:r>
                        <a:rPr sz="3000" spc="70" dirty="0">
                          <a:solidFill>
                            <a:srgbClr val="2E377E"/>
                          </a:solidFill>
                          <a:latin typeface="Georgia"/>
                          <a:cs typeface="Georgia"/>
                        </a:rPr>
                        <a:t> </a:t>
                      </a:r>
                      <a:r>
                        <a:rPr sz="3000" dirty="0">
                          <a:solidFill>
                            <a:srgbClr val="2E377E"/>
                          </a:solidFill>
                          <a:latin typeface="Georgia"/>
                          <a:cs typeface="Georgia"/>
                        </a:rPr>
                        <a:t>users</a:t>
                      </a:r>
                      <a:r>
                        <a:rPr sz="3000" spc="65" dirty="0">
                          <a:solidFill>
                            <a:srgbClr val="2E377E"/>
                          </a:solidFill>
                          <a:latin typeface="Georgia"/>
                          <a:cs typeface="Georgia"/>
                        </a:rPr>
                        <a:t> </a:t>
                      </a:r>
                      <a:r>
                        <a:rPr sz="3000" spc="-20" dirty="0">
                          <a:solidFill>
                            <a:srgbClr val="2E377E"/>
                          </a:solidFill>
                          <a:latin typeface="Georgia"/>
                          <a:cs typeface="Georgia"/>
                        </a:rPr>
                        <a:t>like </a:t>
                      </a:r>
                      <a:r>
                        <a:rPr sz="3000" dirty="0">
                          <a:solidFill>
                            <a:srgbClr val="2E377E"/>
                          </a:solidFill>
                          <a:latin typeface="Georgia"/>
                          <a:cs typeface="Georgia"/>
                        </a:rPr>
                        <a:t>documentation,</a:t>
                      </a:r>
                      <a:r>
                        <a:rPr sz="3000" spc="150" dirty="0">
                          <a:solidFill>
                            <a:srgbClr val="2E377E"/>
                          </a:solidFill>
                          <a:latin typeface="Georgia"/>
                          <a:cs typeface="Georgia"/>
                        </a:rPr>
                        <a:t> </a:t>
                      </a:r>
                      <a:r>
                        <a:rPr sz="3000" dirty="0">
                          <a:solidFill>
                            <a:srgbClr val="2E377E"/>
                          </a:solidFill>
                          <a:latin typeface="Georgia"/>
                          <a:cs typeface="Georgia"/>
                        </a:rPr>
                        <a:t>support</a:t>
                      </a:r>
                      <a:r>
                        <a:rPr sz="3000" spc="150" dirty="0">
                          <a:solidFill>
                            <a:srgbClr val="2E377E"/>
                          </a:solidFill>
                          <a:latin typeface="Georgia"/>
                          <a:cs typeface="Georgia"/>
                        </a:rPr>
                        <a:t> </a:t>
                      </a:r>
                      <a:r>
                        <a:rPr sz="3000" dirty="0">
                          <a:solidFill>
                            <a:srgbClr val="2E377E"/>
                          </a:solidFill>
                          <a:latin typeface="Georgia"/>
                          <a:cs typeface="Georgia"/>
                        </a:rPr>
                        <a:t>and</a:t>
                      </a:r>
                      <a:r>
                        <a:rPr sz="3000" spc="150" dirty="0">
                          <a:solidFill>
                            <a:srgbClr val="2E377E"/>
                          </a:solidFill>
                          <a:latin typeface="Georgia"/>
                          <a:cs typeface="Georgia"/>
                        </a:rPr>
                        <a:t> </a:t>
                      </a:r>
                      <a:r>
                        <a:rPr sz="3000" spc="-10" dirty="0">
                          <a:solidFill>
                            <a:srgbClr val="2E377E"/>
                          </a:solidFill>
                          <a:latin typeface="Georgia"/>
                          <a:cs typeface="Georgia"/>
                        </a:rPr>
                        <a:t>resources</a:t>
                      </a:r>
                      <a:endParaRPr sz="3000">
                        <a:latin typeface="Georgia"/>
                        <a:cs typeface="Georgia"/>
                      </a:endParaRPr>
                    </a:p>
                    <a:p>
                      <a:pPr>
                        <a:lnSpc>
                          <a:spcPct val="100000"/>
                        </a:lnSpc>
                        <a:spcBef>
                          <a:spcPts val="2310"/>
                        </a:spcBef>
                      </a:pPr>
                      <a:endParaRPr sz="3000">
                        <a:latin typeface="Times New Roman"/>
                        <a:cs typeface="Times New Roman"/>
                      </a:endParaRPr>
                    </a:p>
                    <a:p>
                      <a:pPr marL="2006600">
                        <a:lnSpc>
                          <a:spcPct val="100000"/>
                        </a:lnSpc>
                        <a:spcBef>
                          <a:spcPts val="5"/>
                        </a:spcBef>
                      </a:pPr>
                      <a:r>
                        <a:rPr sz="3000" spc="-25" dirty="0">
                          <a:solidFill>
                            <a:srgbClr val="2E377E"/>
                          </a:solidFill>
                          <a:latin typeface="Georgia"/>
                          <a:cs typeface="Georgia"/>
                        </a:rPr>
                        <a:t>GUI</a:t>
                      </a:r>
                      <a:endParaRPr sz="3000">
                        <a:latin typeface="Georgia"/>
                        <a:cs typeface="Georgia"/>
                      </a:endParaRPr>
                    </a:p>
                  </a:txBody>
                  <a:tcPr marL="0" marR="0" marT="383540" marB="0">
                    <a:lnL w="38100">
                      <a:solidFill>
                        <a:srgbClr val="000000"/>
                      </a:solidFill>
                      <a:prstDash val="solid"/>
                    </a:lnL>
                    <a:lnR w="76200">
                      <a:solidFill>
                        <a:srgbClr val="000000"/>
                      </a:solidFill>
                      <a:prstDash val="solid"/>
                    </a:lnR>
                    <a:lnT w="57150">
                      <a:solidFill>
                        <a:srgbClr val="000000"/>
                      </a:solidFill>
                      <a:prstDash val="solid"/>
                    </a:lnT>
                    <a:lnB w="57150">
                      <a:solidFill>
                        <a:srgbClr val="000000"/>
                      </a:solidFill>
                      <a:prstDash val="solid"/>
                    </a:lnB>
                  </a:tcPr>
                </a:tc>
                <a:extLst>
                  <a:ext uri="{0D108BD9-81ED-4DB2-BD59-A6C34878D82A}">
                    <a16:rowId xmlns:a16="http://schemas.microsoft.com/office/drawing/2014/main" val="10001"/>
                  </a:ext>
                </a:extLst>
              </a:tr>
            </a:tbl>
          </a:graphicData>
        </a:graphic>
      </p:graphicFrame>
      <p:sp>
        <p:nvSpPr>
          <p:cNvPr id="3" name="object 3"/>
          <p:cNvSpPr txBox="1">
            <a:spLocks noGrp="1"/>
          </p:cNvSpPr>
          <p:nvPr>
            <p:ph type="title"/>
          </p:nvPr>
        </p:nvSpPr>
        <p:spPr>
          <a:prstGeom prst="rect">
            <a:avLst/>
          </a:prstGeom>
        </p:spPr>
        <p:txBody>
          <a:bodyPr vert="horz" wrap="square" lIns="0" tIns="215454" rIns="0" bIns="0" rtlCol="0">
            <a:spAutoFit/>
          </a:bodyPr>
          <a:lstStyle/>
          <a:p>
            <a:pPr marL="193675">
              <a:lnSpc>
                <a:spcPct val="100000"/>
              </a:lnSpc>
              <a:spcBef>
                <a:spcPts val="100"/>
              </a:spcBef>
            </a:pPr>
            <a:r>
              <a:rPr spc="80" dirty="0">
                <a:solidFill>
                  <a:srgbClr val="FF3131"/>
                </a:solidFill>
              </a:rPr>
              <a:t>WHY</a:t>
            </a:r>
            <a:r>
              <a:rPr spc="-60" dirty="0">
                <a:solidFill>
                  <a:srgbClr val="FF3131"/>
                </a:solidFill>
              </a:rPr>
              <a:t> </a:t>
            </a:r>
            <a:r>
              <a:rPr spc="-270" dirty="0">
                <a:solidFill>
                  <a:srgbClr val="FF3131"/>
                </a:solidFill>
              </a:rPr>
              <a:t>KUBERNETES</a:t>
            </a:r>
          </a:p>
        </p:txBody>
      </p:sp>
      <p:sp>
        <p:nvSpPr>
          <p:cNvPr id="4" name="object 4"/>
          <p:cNvSpPr txBox="1"/>
          <p:nvPr/>
        </p:nvSpPr>
        <p:spPr>
          <a:xfrm>
            <a:off x="1192507" y="1852100"/>
            <a:ext cx="15601950" cy="1339850"/>
          </a:xfrm>
          <a:prstGeom prst="rect">
            <a:avLst/>
          </a:prstGeom>
        </p:spPr>
        <p:txBody>
          <a:bodyPr vert="horz" wrap="square" lIns="0" tIns="12065" rIns="0" bIns="0" rtlCol="0">
            <a:spAutoFit/>
          </a:bodyPr>
          <a:lstStyle/>
          <a:p>
            <a:pPr marL="12700" marR="5080">
              <a:lnSpc>
                <a:spcPct val="116599"/>
              </a:lnSpc>
              <a:spcBef>
                <a:spcPts val="95"/>
              </a:spcBef>
            </a:pPr>
            <a:r>
              <a:rPr sz="3700" dirty="0">
                <a:solidFill>
                  <a:srgbClr val="2E377E"/>
                </a:solidFill>
                <a:latin typeface="Georgia"/>
                <a:cs typeface="Georgia"/>
              </a:rPr>
              <a:t>Earlier</a:t>
            </a:r>
            <a:r>
              <a:rPr sz="3700" spc="35" dirty="0">
                <a:solidFill>
                  <a:srgbClr val="2E377E"/>
                </a:solidFill>
                <a:latin typeface="Georgia"/>
                <a:cs typeface="Georgia"/>
              </a:rPr>
              <a:t> </a:t>
            </a:r>
            <a:r>
              <a:rPr sz="3700" dirty="0">
                <a:solidFill>
                  <a:srgbClr val="2E377E"/>
                </a:solidFill>
                <a:latin typeface="Georgia"/>
                <a:cs typeface="Georgia"/>
              </a:rPr>
              <a:t>We</a:t>
            </a:r>
            <a:r>
              <a:rPr sz="3700" spc="35" dirty="0">
                <a:solidFill>
                  <a:srgbClr val="2E377E"/>
                </a:solidFill>
                <a:latin typeface="Georgia"/>
                <a:cs typeface="Georgia"/>
              </a:rPr>
              <a:t> </a:t>
            </a:r>
            <a:r>
              <a:rPr sz="3700" dirty="0">
                <a:solidFill>
                  <a:srgbClr val="2E377E"/>
                </a:solidFill>
                <a:latin typeface="Georgia"/>
                <a:cs typeface="Georgia"/>
              </a:rPr>
              <a:t>used</a:t>
            </a:r>
            <a:r>
              <a:rPr sz="3700" spc="35" dirty="0">
                <a:solidFill>
                  <a:srgbClr val="2E377E"/>
                </a:solidFill>
                <a:latin typeface="Georgia"/>
                <a:cs typeface="Georgia"/>
              </a:rPr>
              <a:t> </a:t>
            </a:r>
            <a:r>
              <a:rPr sz="3700" dirty="0">
                <a:solidFill>
                  <a:srgbClr val="2E377E"/>
                </a:solidFill>
                <a:latin typeface="Georgia"/>
                <a:cs typeface="Georgia"/>
              </a:rPr>
              <a:t>Docker</a:t>
            </a:r>
            <a:r>
              <a:rPr sz="3700" spc="35" dirty="0">
                <a:solidFill>
                  <a:srgbClr val="2E377E"/>
                </a:solidFill>
                <a:latin typeface="Georgia"/>
                <a:cs typeface="Georgia"/>
              </a:rPr>
              <a:t> </a:t>
            </a:r>
            <a:r>
              <a:rPr sz="3700" dirty="0">
                <a:solidFill>
                  <a:srgbClr val="2E377E"/>
                </a:solidFill>
                <a:latin typeface="Georgia"/>
                <a:cs typeface="Georgia"/>
              </a:rPr>
              <a:t>Swarm</a:t>
            </a:r>
            <a:r>
              <a:rPr sz="3700" spc="35" dirty="0">
                <a:solidFill>
                  <a:srgbClr val="2E377E"/>
                </a:solidFill>
                <a:latin typeface="Georgia"/>
                <a:cs typeface="Georgia"/>
              </a:rPr>
              <a:t> </a:t>
            </a:r>
            <a:r>
              <a:rPr sz="3700" dirty="0">
                <a:solidFill>
                  <a:srgbClr val="2E377E"/>
                </a:solidFill>
                <a:latin typeface="Georgia"/>
                <a:cs typeface="Georgia"/>
              </a:rPr>
              <a:t>as</a:t>
            </a:r>
            <a:r>
              <a:rPr sz="3700" spc="35" dirty="0">
                <a:solidFill>
                  <a:srgbClr val="2E377E"/>
                </a:solidFill>
                <a:latin typeface="Georgia"/>
                <a:cs typeface="Georgia"/>
              </a:rPr>
              <a:t> </a:t>
            </a:r>
            <a:r>
              <a:rPr sz="3700" dirty="0">
                <a:solidFill>
                  <a:srgbClr val="2E377E"/>
                </a:solidFill>
                <a:latin typeface="Georgia"/>
                <a:cs typeface="Georgia"/>
              </a:rPr>
              <a:t>a</a:t>
            </a:r>
            <a:r>
              <a:rPr sz="3700" spc="35" dirty="0">
                <a:solidFill>
                  <a:srgbClr val="2E377E"/>
                </a:solidFill>
                <a:latin typeface="Georgia"/>
                <a:cs typeface="Georgia"/>
              </a:rPr>
              <a:t> </a:t>
            </a:r>
            <a:r>
              <a:rPr sz="3700" dirty="0">
                <a:solidFill>
                  <a:srgbClr val="2E377E"/>
                </a:solidFill>
                <a:latin typeface="Georgia"/>
                <a:cs typeface="Georgia"/>
              </a:rPr>
              <a:t>container</a:t>
            </a:r>
            <a:r>
              <a:rPr sz="3700" spc="40" dirty="0">
                <a:solidFill>
                  <a:srgbClr val="2E377E"/>
                </a:solidFill>
                <a:latin typeface="Georgia"/>
                <a:cs typeface="Georgia"/>
              </a:rPr>
              <a:t> </a:t>
            </a:r>
            <a:r>
              <a:rPr sz="3700" dirty="0">
                <a:solidFill>
                  <a:srgbClr val="2E377E"/>
                </a:solidFill>
                <a:latin typeface="Georgia"/>
                <a:cs typeface="Georgia"/>
              </a:rPr>
              <a:t>orchestration</a:t>
            </a:r>
            <a:r>
              <a:rPr sz="3700" spc="35" dirty="0">
                <a:solidFill>
                  <a:srgbClr val="2E377E"/>
                </a:solidFill>
                <a:latin typeface="Georgia"/>
                <a:cs typeface="Georgia"/>
              </a:rPr>
              <a:t> </a:t>
            </a:r>
            <a:r>
              <a:rPr sz="3700" dirty="0">
                <a:solidFill>
                  <a:srgbClr val="2E377E"/>
                </a:solidFill>
                <a:latin typeface="Georgia"/>
                <a:cs typeface="Georgia"/>
              </a:rPr>
              <a:t>tool</a:t>
            </a:r>
            <a:r>
              <a:rPr sz="3700" spc="35" dirty="0">
                <a:solidFill>
                  <a:srgbClr val="2E377E"/>
                </a:solidFill>
                <a:latin typeface="Georgia"/>
                <a:cs typeface="Georgia"/>
              </a:rPr>
              <a:t> </a:t>
            </a:r>
            <a:r>
              <a:rPr sz="3700" spc="50" dirty="0">
                <a:solidFill>
                  <a:srgbClr val="2E377E"/>
                </a:solidFill>
                <a:latin typeface="Georgia"/>
                <a:cs typeface="Georgia"/>
              </a:rPr>
              <a:t>that</a:t>
            </a:r>
            <a:r>
              <a:rPr sz="3700" spc="35" dirty="0">
                <a:solidFill>
                  <a:srgbClr val="2E377E"/>
                </a:solidFill>
                <a:latin typeface="Georgia"/>
                <a:cs typeface="Georgia"/>
              </a:rPr>
              <a:t> </a:t>
            </a:r>
            <a:r>
              <a:rPr sz="3700" spc="105" dirty="0">
                <a:solidFill>
                  <a:srgbClr val="2E377E"/>
                </a:solidFill>
                <a:latin typeface="Georgia"/>
                <a:cs typeface="Georgia"/>
              </a:rPr>
              <a:t>we </a:t>
            </a:r>
            <a:r>
              <a:rPr sz="3700" dirty="0">
                <a:solidFill>
                  <a:srgbClr val="2E377E"/>
                </a:solidFill>
                <a:latin typeface="Georgia"/>
                <a:cs typeface="Georgia"/>
              </a:rPr>
              <a:t>used</a:t>
            </a:r>
            <a:r>
              <a:rPr sz="3700" spc="130" dirty="0">
                <a:solidFill>
                  <a:srgbClr val="2E377E"/>
                </a:solidFill>
                <a:latin typeface="Georgia"/>
                <a:cs typeface="Georgia"/>
              </a:rPr>
              <a:t> </a:t>
            </a:r>
            <a:r>
              <a:rPr sz="3700" spc="60" dirty="0">
                <a:solidFill>
                  <a:srgbClr val="2E377E"/>
                </a:solidFill>
                <a:latin typeface="Georgia"/>
                <a:cs typeface="Georgia"/>
              </a:rPr>
              <a:t>to</a:t>
            </a:r>
            <a:r>
              <a:rPr sz="3700" spc="135" dirty="0">
                <a:solidFill>
                  <a:srgbClr val="2E377E"/>
                </a:solidFill>
                <a:latin typeface="Georgia"/>
                <a:cs typeface="Georgia"/>
              </a:rPr>
              <a:t> </a:t>
            </a:r>
            <a:r>
              <a:rPr sz="3700" dirty="0">
                <a:solidFill>
                  <a:srgbClr val="2E377E"/>
                </a:solidFill>
                <a:latin typeface="Georgia"/>
                <a:cs typeface="Georgia"/>
              </a:rPr>
              <a:t>manage</a:t>
            </a:r>
            <a:r>
              <a:rPr sz="3700" spc="135" dirty="0">
                <a:solidFill>
                  <a:srgbClr val="2E377E"/>
                </a:solidFill>
                <a:latin typeface="Georgia"/>
                <a:cs typeface="Georgia"/>
              </a:rPr>
              <a:t> </a:t>
            </a:r>
            <a:r>
              <a:rPr sz="3700" dirty="0">
                <a:solidFill>
                  <a:srgbClr val="2E377E"/>
                </a:solidFill>
                <a:latin typeface="Georgia"/>
                <a:cs typeface="Georgia"/>
              </a:rPr>
              <a:t>multiple</a:t>
            </a:r>
            <a:r>
              <a:rPr sz="3700" spc="135" dirty="0">
                <a:solidFill>
                  <a:srgbClr val="2E377E"/>
                </a:solidFill>
                <a:latin typeface="Georgia"/>
                <a:cs typeface="Georgia"/>
              </a:rPr>
              <a:t> </a:t>
            </a:r>
            <a:r>
              <a:rPr sz="3700" dirty="0">
                <a:solidFill>
                  <a:srgbClr val="2E377E"/>
                </a:solidFill>
                <a:latin typeface="Georgia"/>
                <a:cs typeface="Georgia"/>
              </a:rPr>
              <a:t>containerized</a:t>
            </a:r>
            <a:r>
              <a:rPr sz="3700" spc="135" dirty="0">
                <a:solidFill>
                  <a:srgbClr val="2E377E"/>
                </a:solidFill>
                <a:latin typeface="Georgia"/>
                <a:cs typeface="Georgia"/>
              </a:rPr>
              <a:t> </a:t>
            </a:r>
            <a:r>
              <a:rPr sz="3700" dirty="0">
                <a:solidFill>
                  <a:srgbClr val="2E377E"/>
                </a:solidFill>
                <a:latin typeface="Georgia"/>
                <a:cs typeface="Georgia"/>
              </a:rPr>
              <a:t>applications</a:t>
            </a:r>
            <a:r>
              <a:rPr sz="3700" spc="135" dirty="0">
                <a:solidFill>
                  <a:srgbClr val="2E377E"/>
                </a:solidFill>
                <a:latin typeface="Georgia"/>
                <a:cs typeface="Georgia"/>
              </a:rPr>
              <a:t> </a:t>
            </a:r>
            <a:r>
              <a:rPr sz="3700" dirty="0">
                <a:solidFill>
                  <a:srgbClr val="2E377E"/>
                </a:solidFill>
                <a:latin typeface="Georgia"/>
                <a:cs typeface="Georgia"/>
              </a:rPr>
              <a:t>on</a:t>
            </a:r>
            <a:r>
              <a:rPr sz="3700" spc="130" dirty="0">
                <a:solidFill>
                  <a:srgbClr val="2E377E"/>
                </a:solidFill>
                <a:latin typeface="Georgia"/>
                <a:cs typeface="Georgia"/>
              </a:rPr>
              <a:t> </a:t>
            </a:r>
            <a:r>
              <a:rPr sz="3700" dirty="0">
                <a:solidFill>
                  <a:srgbClr val="2E377E"/>
                </a:solidFill>
                <a:latin typeface="Georgia"/>
                <a:cs typeface="Georgia"/>
              </a:rPr>
              <a:t>our</a:t>
            </a:r>
            <a:r>
              <a:rPr sz="3700" spc="135" dirty="0">
                <a:solidFill>
                  <a:srgbClr val="2E377E"/>
                </a:solidFill>
                <a:latin typeface="Georgia"/>
                <a:cs typeface="Georgia"/>
              </a:rPr>
              <a:t> </a:t>
            </a:r>
            <a:r>
              <a:rPr sz="3700" spc="-10" dirty="0">
                <a:solidFill>
                  <a:srgbClr val="2E377E"/>
                </a:solidFill>
                <a:latin typeface="Georgia"/>
                <a:cs typeface="Georgia"/>
              </a:rPr>
              <a:t>environments.</a:t>
            </a:r>
            <a:endParaRPr sz="3700">
              <a:latin typeface="Georgia"/>
              <a:cs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0" y="388683"/>
            <a:ext cx="2591435" cy="589280"/>
          </a:xfrm>
          <a:prstGeom prst="rect">
            <a:avLst/>
          </a:prstGeom>
        </p:spPr>
        <p:txBody>
          <a:bodyPr vert="horz" wrap="square" lIns="0" tIns="12700" rIns="0" bIns="0" rtlCol="0">
            <a:spAutoFit/>
          </a:bodyPr>
          <a:lstStyle/>
          <a:p>
            <a:pPr marL="12700">
              <a:lnSpc>
                <a:spcPct val="100000"/>
              </a:lnSpc>
              <a:spcBef>
                <a:spcPts val="100"/>
              </a:spcBef>
            </a:pPr>
            <a:r>
              <a:rPr sz="3700" b="0" spc="-565" dirty="0">
                <a:solidFill>
                  <a:srgbClr val="FF904D"/>
                </a:solidFill>
                <a:latin typeface="Arial MT"/>
                <a:cs typeface="Arial MT"/>
              </a:rPr>
              <a:t>KUBERNETES:</a:t>
            </a:r>
            <a:endParaRPr sz="3700">
              <a:latin typeface="Arial MT"/>
              <a:cs typeface="Arial MT"/>
            </a:endParaRPr>
          </a:p>
        </p:txBody>
      </p:sp>
      <p:sp>
        <p:nvSpPr>
          <p:cNvPr id="3" name="object 3"/>
          <p:cNvSpPr txBox="1"/>
          <p:nvPr/>
        </p:nvSpPr>
        <p:spPr>
          <a:xfrm>
            <a:off x="1016000" y="1406739"/>
            <a:ext cx="14651990" cy="7768590"/>
          </a:xfrm>
          <a:prstGeom prst="rect">
            <a:avLst/>
          </a:prstGeom>
        </p:spPr>
        <p:txBody>
          <a:bodyPr vert="horz" wrap="square" lIns="0" tIns="13970" rIns="0" bIns="0" rtlCol="0">
            <a:spAutoFit/>
          </a:bodyPr>
          <a:lstStyle/>
          <a:p>
            <a:pPr marL="497205">
              <a:lnSpc>
                <a:spcPts val="4075"/>
              </a:lnSpc>
              <a:spcBef>
                <a:spcPts val="110"/>
              </a:spcBef>
            </a:pPr>
            <a:r>
              <a:rPr sz="3600" spc="-415" dirty="0">
                <a:latin typeface="Trebuchet MS"/>
                <a:cs typeface="Trebuchet MS"/>
              </a:rPr>
              <a:t>IT</a:t>
            </a:r>
            <a:r>
              <a:rPr sz="3600" spc="-380" dirty="0">
                <a:latin typeface="Trebuchet MS"/>
                <a:cs typeface="Trebuchet MS"/>
              </a:rPr>
              <a:t> </a:t>
            </a:r>
            <a:r>
              <a:rPr sz="3600" spc="-220" dirty="0">
                <a:latin typeface="Trebuchet MS"/>
                <a:cs typeface="Trebuchet MS"/>
              </a:rPr>
              <a:t>is</a:t>
            </a:r>
            <a:r>
              <a:rPr sz="3600" spc="-375" dirty="0">
                <a:latin typeface="Trebuchet MS"/>
                <a:cs typeface="Trebuchet MS"/>
              </a:rPr>
              <a:t> </a:t>
            </a:r>
            <a:r>
              <a:rPr sz="3600" spc="-350" dirty="0">
                <a:latin typeface="Trebuchet MS"/>
                <a:cs typeface="Trebuchet MS"/>
              </a:rPr>
              <a:t>an</a:t>
            </a:r>
            <a:r>
              <a:rPr sz="3600" spc="-380" dirty="0">
                <a:latin typeface="Trebuchet MS"/>
                <a:cs typeface="Trebuchet MS"/>
              </a:rPr>
              <a:t> </a:t>
            </a:r>
            <a:r>
              <a:rPr sz="3600" spc="-355" dirty="0">
                <a:latin typeface="Trebuchet MS"/>
                <a:cs typeface="Trebuchet MS"/>
                <a:hlinkClick r:id="rId2"/>
              </a:rPr>
              <a:t>open-</a:t>
            </a:r>
            <a:r>
              <a:rPr sz="3600" spc="-365" dirty="0">
                <a:latin typeface="Trebuchet MS"/>
                <a:cs typeface="Trebuchet MS"/>
                <a:hlinkClick r:id="rId2"/>
              </a:rPr>
              <a:t>source</a:t>
            </a:r>
            <a:r>
              <a:rPr sz="3600" spc="-375" dirty="0">
                <a:latin typeface="Trebuchet MS"/>
                <a:cs typeface="Trebuchet MS"/>
              </a:rPr>
              <a:t> </a:t>
            </a:r>
            <a:r>
              <a:rPr sz="3600" spc="-395" dirty="0">
                <a:latin typeface="Trebuchet MS"/>
                <a:cs typeface="Trebuchet MS"/>
              </a:rPr>
              <a:t>container</a:t>
            </a:r>
            <a:r>
              <a:rPr sz="3600" spc="-380" dirty="0">
                <a:latin typeface="Trebuchet MS"/>
                <a:cs typeface="Trebuchet MS"/>
              </a:rPr>
              <a:t> </a:t>
            </a:r>
            <a:r>
              <a:rPr sz="3600" spc="-375" dirty="0">
                <a:latin typeface="Trebuchet MS"/>
                <a:cs typeface="Trebuchet MS"/>
              </a:rPr>
              <a:t>orchestration </a:t>
            </a:r>
            <a:r>
              <a:rPr sz="3600" spc="-434" dirty="0">
                <a:latin typeface="Trebuchet MS"/>
                <a:cs typeface="Trebuchet MS"/>
              </a:rPr>
              <a:t>platform.</a:t>
            </a:r>
            <a:endParaRPr sz="3600">
              <a:latin typeface="Trebuchet MS"/>
              <a:cs typeface="Trebuchet MS"/>
            </a:endParaRPr>
          </a:p>
          <a:p>
            <a:pPr marL="497205" marR="481330">
              <a:lnSpc>
                <a:spcPts val="3829"/>
              </a:lnSpc>
              <a:spcBef>
                <a:spcPts val="285"/>
              </a:spcBef>
            </a:pPr>
            <a:r>
              <a:rPr sz="3600" spc="-330" dirty="0">
                <a:latin typeface="Trebuchet MS"/>
                <a:cs typeface="Trebuchet MS"/>
              </a:rPr>
              <a:t>It</a:t>
            </a:r>
            <a:r>
              <a:rPr sz="3600" spc="55" dirty="0">
                <a:latin typeface="Trebuchet MS"/>
                <a:cs typeface="Trebuchet MS"/>
              </a:rPr>
              <a:t> </a:t>
            </a:r>
            <a:r>
              <a:rPr sz="3600" spc="-95" dirty="0">
                <a:latin typeface="Trebuchet MS"/>
                <a:cs typeface="Trebuchet MS"/>
              </a:rPr>
              <a:t>is</a:t>
            </a:r>
            <a:r>
              <a:rPr sz="3600" spc="-50" dirty="0">
                <a:latin typeface="Trebuchet MS"/>
                <a:cs typeface="Trebuchet MS"/>
              </a:rPr>
              <a:t> </a:t>
            </a:r>
            <a:r>
              <a:rPr sz="3600" spc="-315" dirty="0">
                <a:latin typeface="Trebuchet MS"/>
                <a:cs typeface="Trebuchet MS"/>
              </a:rPr>
              <a:t>us</a:t>
            </a:r>
            <a:r>
              <a:rPr sz="3600" spc="-315" dirty="0">
                <a:latin typeface="Trebuchet MS"/>
                <a:cs typeface="Trebuchet MS"/>
                <a:hlinkClick r:id="rId2"/>
              </a:rPr>
              <a:t>ed</a:t>
            </a:r>
            <a:r>
              <a:rPr sz="3600" spc="50" dirty="0">
                <a:latin typeface="Trebuchet MS"/>
                <a:cs typeface="Trebuchet MS"/>
                <a:hlinkClick r:id="rId2"/>
              </a:rPr>
              <a:t> </a:t>
            </a:r>
            <a:r>
              <a:rPr sz="3600" spc="-409" dirty="0">
                <a:latin typeface="Trebuchet MS"/>
                <a:cs typeface="Trebuchet MS"/>
                <a:hlinkClick r:id="rId2"/>
              </a:rPr>
              <a:t>to</a:t>
            </a:r>
            <a:r>
              <a:rPr sz="3600" spc="60" dirty="0">
                <a:latin typeface="Trebuchet MS"/>
                <a:cs typeface="Trebuchet MS"/>
                <a:hlinkClick r:id="rId2"/>
              </a:rPr>
              <a:t> </a:t>
            </a:r>
            <a:r>
              <a:rPr sz="3600" spc="-380" dirty="0">
                <a:latin typeface="Trebuchet MS"/>
                <a:cs typeface="Trebuchet MS"/>
                <a:hlinkClick r:id="rId2"/>
              </a:rPr>
              <a:t>automat</a:t>
            </a:r>
            <a:r>
              <a:rPr sz="3600" spc="-380" dirty="0">
                <a:latin typeface="Trebuchet MS"/>
                <a:cs typeface="Trebuchet MS"/>
              </a:rPr>
              <a:t>es</a:t>
            </a:r>
            <a:r>
              <a:rPr sz="3600" spc="60" dirty="0">
                <a:latin typeface="Trebuchet MS"/>
                <a:cs typeface="Trebuchet MS"/>
              </a:rPr>
              <a:t> </a:t>
            </a:r>
            <a:r>
              <a:rPr sz="3600" spc="-340" dirty="0">
                <a:latin typeface="Trebuchet MS"/>
                <a:cs typeface="Trebuchet MS"/>
              </a:rPr>
              <a:t>many</a:t>
            </a:r>
            <a:r>
              <a:rPr sz="3600" spc="60" dirty="0">
                <a:latin typeface="Trebuchet MS"/>
                <a:cs typeface="Trebuchet MS"/>
              </a:rPr>
              <a:t> </a:t>
            </a:r>
            <a:r>
              <a:rPr sz="3600" spc="-350" dirty="0">
                <a:latin typeface="Trebuchet MS"/>
                <a:cs typeface="Trebuchet MS"/>
              </a:rPr>
              <a:t>of</a:t>
            </a:r>
            <a:r>
              <a:rPr sz="3600" spc="65" dirty="0">
                <a:latin typeface="Trebuchet MS"/>
                <a:cs typeface="Trebuchet MS"/>
              </a:rPr>
              <a:t> </a:t>
            </a:r>
            <a:r>
              <a:rPr sz="3600" spc="-409" dirty="0">
                <a:latin typeface="Trebuchet MS"/>
                <a:cs typeface="Trebuchet MS"/>
              </a:rPr>
              <a:t>the</a:t>
            </a:r>
            <a:r>
              <a:rPr sz="3600" spc="60" dirty="0">
                <a:latin typeface="Trebuchet MS"/>
                <a:cs typeface="Trebuchet MS"/>
              </a:rPr>
              <a:t> </a:t>
            </a:r>
            <a:r>
              <a:rPr sz="3600" spc="-380" dirty="0">
                <a:latin typeface="Trebuchet MS"/>
                <a:cs typeface="Trebuchet MS"/>
              </a:rPr>
              <a:t>manual</a:t>
            </a:r>
            <a:r>
              <a:rPr sz="3600" spc="65" dirty="0">
                <a:latin typeface="Trebuchet MS"/>
                <a:cs typeface="Trebuchet MS"/>
              </a:rPr>
              <a:t> </a:t>
            </a:r>
            <a:r>
              <a:rPr sz="3600" spc="-320" dirty="0">
                <a:latin typeface="Trebuchet MS"/>
                <a:cs typeface="Trebuchet MS"/>
              </a:rPr>
              <a:t>processes</a:t>
            </a:r>
            <a:r>
              <a:rPr sz="3600" spc="45" dirty="0">
                <a:latin typeface="Trebuchet MS"/>
                <a:cs typeface="Trebuchet MS"/>
              </a:rPr>
              <a:t> </a:t>
            </a:r>
            <a:r>
              <a:rPr sz="3600" spc="-370" dirty="0">
                <a:latin typeface="Trebuchet MS"/>
                <a:cs typeface="Trebuchet MS"/>
              </a:rPr>
              <a:t>like</a:t>
            </a:r>
            <a:r>
              <a:rPr sz="3600" spc="60" dirty="0">
                <a:latin typeface="Trebuchet MS"/>
                <a:cs typeface="Trebuchet MS"/>
              </a:rPr>
              <a:t> </a:t>
            </a:r>
            <a:r>
              <a:rPr sz="3600" spc="-360" dirty="0">
                <a:latin typeface="Trebuchet MS"/>
                <a:cs typeface="Trebuchet MS"/>
              </a:rPr>
              <a:t>deploying,</a:t>
            </a:r>
            <a:r>
              <a:rPr sz="3600" spc="65" dirty="0">
                <a:latin typeface="Trebuchet MS"/>
                <a:cs typeface="Trebuchet MS"/>
              </a:rPr>
              <a:t> </a:t>
            </a:r>
            <a:r>
              <a:rPr sz="3600" spc="-375" dirty="0">
                <a:latin typeface="Trebuchet MS"/>
                <a:cs typeface="Trebuchet MS"/>
              </a:rPr>
              <a:t>managing, </a:t>
            </a:r>
            <a:r>
              <a:rPr sz="3600" spc="-365" dirty="0">
                <a:latin typeface="Trebuchet MS"/>
                <a:cs typeface="Trebuchet MS"/>
              </a:rPr>
              <a:t>and</a:t>
            </a:r>
            <a:r>
              <a:rPr sz="3600" spc="-390" dirty="0">
                <a:latin typeface="Trebuchet MS"/>
                <a:cs typeface="Trebuchet MS"/>
              </a:rPr>
              <a:t> </a:t>
            </a:r>
            <a:r>
              <a:rPr sz="3600" spc="-320" dirty="0">
                <a:latin typeface="Trebuchet MS"/>
                <a:cs typeface="Trebuchet MS"/>
              </a:rPr>
              <a:t>scaling</a:t>
            </a:r>
            <a:r>
              <a:rPr sz="3600" spc="-390" dirty="0">
                <a:latin typeface="Trebuchet MS"/>
                <a:cs typeface="Trebuchet MS"/>
              </a:rPr>
              <a:t> containerized </a:t>
            </a:r>
            <a:r>
              <a:rPr sz="3600" spc="-395" dirty="0">
                <a:latin typeface="Trebuchet MS"/>
                <a:cs typeface="Trebuchet MS"/>
              </a:rPr>
              <a:t>applications.</a:t>
            </a:r>
            <a:endParaRPr sz="3600">
              <a:latin typeface="Trebuchet MS"/>
              <a:cs typeface="Trebuchet MS"/>
            </a:endParaRPr>
          </a:p>
          <a:p>
            <a:pPr marL="497205">
              <a:lnSpc>
                <a:spcPts val="3525"/>
              </a:lnSpc>
            </a:pPr>
            <a:r>
              <a:rPr sz="3600" spc="-370" dirty="0">
                <a:latin typeface="Trebuchet MS"/>
                <a:cs typeface="Trebuchet MS"/>
              </a:rPr>
              <a:t>Kubernetes</a:t>
            </a:r>
            <a:r>
              <a:rPr sz="3600" spc="-380" dirty="0">
                <a:latin typeface="Trebuchet MS"/>
                <a:cs typeface="Trebuchet MS"/>
              </a:rPr>
              <a:t> </a:t>
            </a:r>
            <a:r>
              <a:rPr sz="3600" spc="-320" dirty="0">
                <a:latin typeface="Trebuchet MS"/>
                <a:cs typeface="Trebuchet MS"/>
              </a:rPr>
              <a:t>was</a:t>
            </a:r>
            <a:r>
              <a:rPr sz="3600" spc="-375" dirty="0">
                <a:latin typeface="Trebuchet MS"/>
                <a:cs typeface="Trebuchet MS"/>
              </a:rPr>
              <a:t> </a:t>
            </a:r>
            <a:r>
              <a:rPr sz="3600" spc="-395" dirty="0">
                <a:latin typeface="Trebuchet MS"/>
                <a:cs typeface="Trebuchet MS"/>
              </a:rPr>
              <a:t>developed</a:t>
            </a:r>
            <a:r>
              <a:rPr sz="3600" spc="-380" dirty="0">
                <a:latin typeface="Trebuchet MS"/>
                <a:cs typeface="Trebuchet MS"/>
              </a:rPr>
              <a:t> </a:t>
            </a:r>
            <a:r>
              <a:rPr sz="3600" spc="-265" dirty="0">
                <a:latin typeface="Trebuchet MS"/>
                <a:cs typeface="Trebuchet MS"/>
              </a:rPr>
              <a:t>by</a:t>
            </a:r>
            <a:r>
              <a:rPr sz="3600" spc="-375" dirty="0">
                <a:latin typeface="Trebuchet MS"/>
                <a:cs typeface="Trebuchet MS"/>
              </a:rPr>
              <a:t> </a:t>
            </a:r>
            <a:r>
              <a:rPr sz="3600" spc="-570" dirty="0">
                <a:latin typeface="Trebuchet MS"/>
                <a:cs typeface="Trebuchet MS"/>
              </a:rPr>
              <a:t>GOOGLE</a:t>
            </a:r>
            <a:r>
              <a:rPr sz="3600" spc="-380" dirty="0">
                <a:latin typeface="Trebuchet MS"/>
                <a:cs typeface="Trebuchet MS"/>
              </a:rPr>
              <a:t> </a:t>
            </a:r>
            <a:r>
              <a:rPr sz="3600" spc="-265" dirty="0">
                <a:latin typeface="Trebuchet MS"/>
                <a:cs typeface="Trebuchet MS"/>
              </a:rPr>
              <a:t>using</a:t>
            </a:r>
            <a:r>
              <a:rPr sz="3600" spc="-375" dirty="0">
                <a:latin typeface="Trebuchet MS"/>
                <a:cs typeface="Trebuchet MS"/>
              </a:rPr>
              <a:t> </a:t>
            </a:r>
            <a:r>
              <a:rPr sz="3600" spc="-635" dirty="0">
                <a:latin typeface="Trebuchet MS"/>
                <a:cs typeface="Trebuchet MS"/>
              </a:rPr>
              <a:t>GO</a:t>
            </a:r>
            <a:r>
              <a:rPr sz="3600" spc="-375" dirty="0">
                <a:latin typeface="Trebuchet MS"/>
                <a:cs typeface="Trebuchet MS"/>
              </a:rPr>
              <a:t> </a:t>
            </a:r>
            <a:r>
              <a:rPr sz="3600" spc="-385" dirty="0">
                <a:latin typeface="Trebuchet MS"/>
                <a:cs typeface="Trebuchet MS"/>
              </a:rPr>
              <a:t>Language.</a:t>
            </a:r>
            <a:endParaRPr sz="3600">
              <a:latin typeface="Trebuchet MS"/>
              <a:cs typeface="Trebuchet MS"/>
            </a:endParaRPr>
          </a:p>
          <a:p>
            <a:pPr marL="497205" marR="8199755">
              <a:lnSpc>
                <a:spcPts val="3820"/>
              </a:lnSpc>
              <a:spcBef>
                <a:spcPts val="300"/>
              </a:spcBef>
            </a:pPr>
            <a:r>
              <a:rPr sz="3600" spc="-415" dirty="0">
                <a:latin typeface="Trebuchet MS"/>
                <a:cs typeface="Trebuchet MS"/>
              </a:rPr>
              <a:t>Google</a:t>
            </a:r>
            <a:r>
              <a:rPr sz="3600" spc="-385" dirty="0">
                <a:latin typeface="Trebuchet MS"/>
                <a:cs typeface="Trebuchet MS"/>
              </a:rPr>
              <a:t> </a:t>
            </a:r>
            <a:r>
              <a:rPr sz="3600" spc="-390" dirty="0">
                <a:latin typeface="Trebuchet MS"/>
                <a:cs typeface="Trebuchet MS"/>
              </a:rPr>
              <a:t>donated</a:t>
            </a:r>
            <a:r>
              <a:rPr sz="3600" spc="-380" dirty="0">
                <a:latin typeface="Trebuchet MS"/>
                <a:cs typeface="Trebuchet MS"/>
              </a:rPr>
              <a:t> </a:t>
            </a:r>
            <a:r>
              <a:rPr sz="3600" spc="-150" dirty="0">
                <a:latin typeface="Trebuchet MS"/>
                <a:cs typeface="Trebuchet MS"/>
              </a:rPr>
              <a:t>K8's</a:t>
            </a:r>
            <a:r>
              <a:rPr sz="3600" spc="-380" dirty="0">
                <a:latin typeface="Trebuchet MS"/>
                <a:cs typeface="Trebuchet MS"/>
              </a:rPr>
              <a:t> </a:t>
            </a:r>
            <a:r>
              <a:rPr sz="3600" spc="-409" dirty="0">
                <a:latin typeface="Trebuchet MS"/>
                <a:cs typeface="Trebuchet MS"/>
              </a:rPr>
              <a:t>to</a:t>
            </a:r>
            <a:r>
              <a:rPr sz="3600" spc="-385" dirty="0">
                <a:latin typeface="Trebuchet MS"/>
                <a:cs typeface="Trebuchet MS"/>
              </a:rPr>
              <a:t> </a:t>
            </a:r>
            <a:r>
              <a:rPr sz="3600" spc="-570" dirty="0">
                <a:latin typeface="Trebuchet MS"/>
                <a:cs typeface="Trebuchet MS"/>
              </a:rPr>
              <a:t>CNCF</a:t>
            </a:r>
            <a:r>
              <a:rPr sz="3600" spc="-380" dirty="0">
                <a:latin typeface="Trebuchet MS"/>
                <a:cs typeface="Trebuchet MS"/>
              </a:rPr>
              <a:t> </a:t>
            </a:r>
            <a:r>
              <a:rPr sz="3600" spc="-330" dirty="0">
                <a:latin typeface="Trebuchet MS"/>
                <a:cs typeface="Trebuchet MS"/>
              </a:rPr>
              <a:t>in</a:t>
            </a:r>
            <a:r>
              <a:rPr sz="3600" spc="-380" dirty="0">
                <a:latin typeface="Trebuchet MS"/>
                <a:cs typeface="Trebuchet MS"/>
              </a:rPr>
              <a:t> </a:t>
            </a:r>
            <a:r>
              <a:rPr sz="3600" spc="-459" dirty="0">
                <a:latin typeface="Trebuchet MS"/>
                <a:cs typeface="Trebuchet MS"/>
              </a:rPr>
              <a:t>2014. </a:t>
            </a:r>
            <a:r>
              <a:rPr sz="3600" spc="-490" dirty="0">
                <a:latin typeface="Trebuchet MS"/>
                <a:cs typeface="Trebuchet MS"/>
              </a:rPr>
              <a:t>1st</a:t>
            </a:r>
            <a:r>
              <a:rPr sz="3600" spc="-385" dirty="0">
                <a:latin typeface="Trebuchet MS"/>
                <a:cs typeface="Trebuchet MS"/>
              </a:rPr>
              <a:t> </a:t>
            </a:r>
            <a:r>
              <a:rPr sz="3600" spc="-330" dirty="0">
                <a:latin typeface="Trebuchet MS"/>
                <a:cs typeface="Trebuchet MS"/>
              </a:rPr>
              <a:t>version</a:t>
            </a:r>
            <a:r>
              <a:rPr sz="3600" spc="-385" dirty="0">
                <a:latin typeface="Trebuchet MS"/>
                <a:cs typeface="Trebuchet MS"/>
              </a:rPr>
              <a:t> </a:t>
            </a:r>
            <a:r>
              <a:rPr sz="3600" spc="-320" dirty="0">
                <a:latin typeface="Trebuchet MS"/>
                <a:cs typeface="Trebuchet MS"/>
              </a:rPr>
              <a:t>was</a:t>
            </a:r>
            <a:r>
              <a:rPr sz="3600" spc="-380" dirty="0">
                <a:latin typeface="Trebuchet MS"/>
                <a:cs typeface="Trebuchet MS"/>
              </a:rPr>
              <a:t> </a:t>
            </a:r>
            <a:r>
              <a:rPr sz="3600" spc="-365" dirty="0">
                <a:latin typeface="Trebuchet MS"/>
                <a:cs typeface="Trebuchet MS"/>
              </a:rPr>
              <a:t>released</a:t>
            </a:r>
            <a:r>
              <a:rPr sz="3600" spc="-385" dirty="0">
                <a:latin typeface="Trebuchet MS"/>
                <a:cs typeface="Trebuchet MS"/>
              </a:rPr>
              <a:t> </a:t>
            </a:r>
            <a:r>
              <a:rPr sz="3600" spc="-330" dirty="0">
                <a:latin typeface="Trebuchet MS"/>
                <a:cs typeface="Trebuchet MS"/>
              </a:rPr>
              <a:t>in</a:t>
            </a:r>
            <a:r>
              <a:rPr sz="3600" spc="-380" dirty="0">
                <a:latin typeface="Trebuchet MS"/>
                <a:cs typeface="Trebuchet MS"/>
              </a:rPr>
              <a:t> </a:t>
            </a:r>
            <a:r>
              <a:rPr sz="3600" spc="-484" dirty="0">
                <a:latin typeface="Trebuchet MS"/>
                <a:cs typeface="Trebuchet MS"/>
              </a:rPr>
              <a:t>2015.</a:t>
            </a:r>
            <a:endParaRPr sz="3600">
              <a:latin typeface="Trebuchet MS"/>
              <a:cs typeface="Trebuchet MS"/>
            </a:endParaRPr>
          </a:p>
          <a:p>
            <a:pPr>
              <a:lnSpc>
                <a:spcPct val="100000"/>
              </a:lnSpc>
              <a:spcBef>
                <a:spcPts val="1140"/>
              </a:spcBef>
            </a:pPr>
            <a:endParaRPr sz="3600">
              <a:latin typeface="Trebuchet MS"/>
              <a:cs typeface="Trebuchet MS"/>
            </a:endParaRPr>
          </a:p>
          <a:p>
            <a:pPr marL="12700">
              <a:lnSpc>
                <a:spcPct val="100000"/>
              </a:lnSpc>
              <a:spcBef>
                <a:spcPts val="5"/>
              </a:spcBef>
            </a:pPr>
            <a:r>
              <a:rPr sz="3700" spc="-80" dirty="0">
                <a:solidFill>
                  <a:srgbClr val="FF904D"/>
                </a:solidFill>
                <a:latin typeface="Arial MT"/>
                <a:cs typeface="Arial MT"/>
              </a:rPr>
              <a:t>why</a:t>
            </a:r>
            <a:r>
              <a:rPr sz="3700" spc="-160" dirty="0">
                <a:solidFill>
                  <a:srgbClr val="FF904D"/>
                </a:solidFill>
                <a:latin typeface="Arial MT"/>
                <a:cs typeface="Arial MT"/>
              </a:rPr>
              <a:t> </a:t>
            </a:r>
            <a:r>
              <a:rPr sz="3700" spc="-565" dirty="0">
                <a:solidFill>
                  <a:srgbClr val="FF904D"/>
                </a:solidFill>
                <a:latin typeface="Arial MT"/>
                <a:cs typeface="Arial MT"/>
              </a:rPr>
              <a:t>KUBERNETES:</a:t>
            </a:r>
            <a:endParaRPr sz="3700">
              <a:latin typeface="Arial MT"/>
              <a:cs typeface="Arial MT"/>
            </a:endParaRPr>
          </a:p>
          <a:p>
            <a:pPr>
              <a:lnSpc>
                <a:spcPct val="100000"/>
              </a:lnSpc>
              <a:spcBef>
                <a:spcPts val="550"/>
              </a:spcBef>
            </a:pPr>
            <a:endParaRPr sz="3700">
              <a:latin typeface="Arial MT"/>
              <a:cs typeface="Arial MT"/>
            </a:endParaRPr>
          </a:p>
          <a:p>
            <a:pPr marL="497205" marR="5080">
              <a:lnSpc>
                <a:spcPts val="3820"/>
              </a:lnSpc>
            </a:pPr>
            <a:r>
              <a:rPr sz="3600" spc="-385" dirty="0">
                <a:latin typeface="Trebuchet MS"/>
                <a:cs typeface="Trebuchet MS"/>
              </a:rPr>
              <a:t>Containers </a:t>
            </a:r>
            <a:r>
              <a:rPr sz="3600" spc="-395" dirty="0">
                <a:latin typeface="Trebuchet MS"/>
                <a:cs typeface="Trebuchet MS"/>
              </a:rPr>
              <a:t>are</a:t>
            </a:r>
            <a:r>
              <a:rPr sz="3600" spc="-385" dirty="0">
                <a:latin typeface="Trebuchet MS"/>
                <a:cs typeface="Trebuchet MS"/>
              </a:rPr>
              <a:t> </a:t>
            </a:r>
            <a:r>
              <a:rPr sz="3600" spc="-360" dirty="0">
                <a:latin typeface="Trebuchet MS"/>
                <a:cs typeface="Trebuchet MS"/>
              </a:rPr>
              <a:t>a</a:t>
            </a:r>
            <a:r>
              <a:rPr sz="3600" spc="-380" dirty="0">
                <a:latin typeface="Trebuchet MS"/>
                <a:cs typeface="Trebuchet MS"/>
              </a:rPr>
              <a:t> </a:t>
            </a:r>
            <a:r>
              <a:rPr sz="3600" spc="-335" dirty="0">
                <a:latin typeface="Trebuchet MS"/>
                <a:cs typeface="Trebuchet MS"/>
              </a:rPr>
              <a:t>good</a:t>
            </a:r>
            <a:r>
              <a:rPr sz="3600" spc="-385" dirty="0">
                <a:latin typeface="Trebuchet MS"/>
                <a:cs typeface="Trebuchet MS"/>
              </a:rPr>
              <a:t> </a:t>
            </a:r>
            <a:r>
              <a:rPr sz="3600" spc="-365" dirty="0">
                <a:latin typeface="Trebuchet MS"/>
                <a:cs typeface="Trebuchet MS"/>
              </a:rPr>
              <a:t>and</a:t>
            </a:r>
            <a:r>
              <a:rPr sz="3600" spc="-380" dirty="0">
                <a:latin typeface="Trebuchet MS"/>
                <a:cs typeface="Trebuchet MS"/>
              </a:rPr>
              <a:t> </a:t>
            </a:r>
            <a:r>
              <a:rPr sz="3600" spc="-265" dirty="0">
                <a:latin typeface="Trebuchet MS"/>
                <a:cs typeface="Trebuchet MS"/>
              </a:rPr>
              <a:t>easy</a:t>
            </a:r>
            <a:r>
              <a:rPr sz="3600" spc="-385" dirty="0">
                <a:latin typeface="Trebuchet MS"/>
                <a:cs typeface="Trebuchet MS"/>
              </a:rPr>
              <a:t> </a:t>
            </a:r>
            <a:r>
              <a:rPr sz="3600" spc="-335" dirty="0">
                <a:latin typeface="Trebuchet MS"/>
                <a:cs typeface="Trebuchet MS"/>
              </a:rPr>
              <a:t>way</a:t>
            </a:r>
            <a:r>
              <a:rPr sz="3600" spc="-380" dirty="0">
                <a:latin typeface="Trebuchet MS"/>
                <a:cs typeface="Trebuchet MS"/>
              </a:rPr>
              <a:t> </a:t>
            </a:r>
            <a:r>
              <a:rPr sz="3600" spc="-409" dirty="0">
                <a:latin typeface="Trebuchet MS"/>
                <a:cs typeface="Trebuchet MS"/>
              </a:rPr>
              <a:t>to</a:t>
            </a:r>
            <a:r>
              <a:rPr sz="3600" spc="-385" dirty="0">
                <a:latin typeface="Trebuchet MS"/>
                <a:cs typeface="Trebuchet MS"/>
              </a:rPr>
              <a:t> </a:t>
            </a:r>
            <a:r>
              <a:rPr sz="3600" spc="-375" dirty="0">
                <a:latin typeface="Trebuchet MS"/>
                <a:cs typeface="Trebuchet MS"/>
              </a:rPr>
              <a:t>bundle</a:t>
            </a:r>
            <a:r>
              <a:rPr sz="3600" spc="-380" dirty="0">
                <a:latin typeface="Trebuchet MS"/>
                <a:cs typeface="Trebuchet MS"/>
              </a:rPr>
              <a:t> </a:t>
            </a:r>
            <a:r>
              <a:rPr sz="3600" spc="-365" dirty="0">
                <a:latin typeface="Trebuchet MS"/>
                <a:cs typeface="Trebuchet MS"/>
              </a:rPr>
              <a:t>and</a:t>
            </a:r>
            <a:r>
              <a:rPr sz="3600" spc="-385" dirty="0">
                <a:latin typeface="Trebuchet MS"/>
                <a:cs typeface="Trebuchet MS"/>
              </a:rPr>
              <a:t> </a:t>
            </a:r>
            <a:r>
              <a:rPr sz="3600" spc="-355" dirty="0">
                <a:latin typeface="Trebuchet MS"/>
                <a:cs typeface="Trebuchet MS"/>
              </a:rPr>
              <a:t>run</a:t>
            </a:r>
            <a:r>
              <a:rPr sz="3600" spc="-380" dirty="0">
                <a:latin typeface="Trebuchet MS"/>
                <a:cs typeface="Trebuchet MS"/>
              </a:rPr>
              <a:t> </a:t>
            </a:r>
            <a:r>
              <a:rPr sz="3600" spc="-310" dirty="0">
                <a:latin typeface="Trebuchet MS"/>
                <a:cs typeface="Trebuchet MS"/>
              </a:rPr>
              <a:t>your</a:t>
            </a:r>
            <a:r>
              <a:rPr sz="3600" spc="-385" dirty="0">
                <a:latin typeface="Trebuchet MS"/>
                <a:cs typeface="Trebuchet MS"/>
              </a:rPr>
              <a:t> applications.</a:t>
            </a:r>
            <a:r>
              <a:rPr sz="3600" spc="-380" dirty="0">
                <a:latin typeface="Trebuchet MS"/>
                <a:cs typeface="Trebuchet MS"/>
              </a:rPr>
              <a:t> </a:t>
            </a:r>
            <a:r>
              <a:rPr sz="3600" spc="-275" dirty="0">
                <a:latin typeface="Trebuchet MS"/>
                <a:cs typeface="Trebuchet MS"/>
              </a:rPr>
              <a:t>In</a:t>
            </a:r>
            <a:r>
              <a:rPr sz="3600" spc="-385" dirty="0">
                <a:latin typeface="Trebuchet MS"/>
                <a:cs typeface="Trebuchet MS"/>
              </a:rPr>
              <a:t> </a:t>
            </a:r>
            <a:r>
              <a:rPr sz="3600" spc="-409" dirty="0">
                <a:latin typeface="Trebuchet MS"/>
                <a:cs typeface="Trebuchet MS"/>
              </a:rPr>
              <a:t>a</a:t>
            </a:r>
            <a:r>
              <a:rPr sz="3600" spc="900" dirty="0">
                <a:latin typeface="Trebuchet MS"/>
                <a:cs typeface="Trebuchet MS"/>
              </a:rPr>
              <a:t> </a:t>
            </a:r>
            <a:r>
              <a:rPr sz="3600" spc="-390" dirty="0">
                <a:latin typeface="Trebuchet MS"/>
                <a:cs typeface="Trebuchet MS"/>
              </a:rPr>
              <a:t>production</a:t>
            </a:r>
            <a:r>
              <a:rPr sz="3600" spc="-385" dirty="0">
                <a:latin typeface="Trebuchet MS"/>
                <a:cs typeface="Trebuchet MS"/>
              </a:rPr>
              <a:t> </a:t>
            </a:r>
            <a:r>
              <a:rPr sz="3600" spc="-409" dirty="0">
                <a:latin typeface="Trebuchet MS"/>
                <a:cs typeface="Trebuchet MS"/>
              </a:rPr>
              <a:t>environment,</a:t>
            </a:r>
            <a:r>
              <a:rPr sz="3600" spc="-385" dirty="0">
                <a:latin typeface="Trebuchet MS"/>
                <a:cs typeface="Trebuchet MS"/>
              </a:rPr>
              <a:t> </a:t>
            </a:r>
            <a:r>
              <a:rPr sz="3600" spc="-285" dirty="0">
                <a:latin typeface="Trebuchet MS"/>
                <a:cs typeface="Trebuchet MS"/>
              </a:rPr>
              <a:t>you</a:t>
            </a:r>
            <a:r>
              <a:rPr sz="3600" spc="-385" dirty="0">
                <a:latin typeface="Trebuchet MS"/>
                <a:cs typeface="Trebuchet MS"/>
              </a:rPr>
              <a:t> </a:t>
            </a:r>
            <a:r>
              <a:rPr sz="3600" spc="-400" dirty="0">
                <a:latin typeface="Trebuchet MS"/>
                <a:cs typeface="Trebuchet MS"/>
              </a:rPr>
              <a:t>need</a:t>
            </a:r>
            <a:r>
              <a:rPr sz="3600" spc="-385" dirty="0">
                <a:latin typeface="Trebuchet MS"/>
                <a:cs typeface="Trebuchet MS"/>
              </a:rPr>
              <a:t> </a:t>
            </a:r>
            <a:r>
              <a:rPr sz="3600" spc="-409" dirty="0">
                <a:latin typeface="Trebuchet MS"/>
                <a:cs typeface="Trebuchet MS"/>
              </a:rPr>
              <a:t>to</a:t>
            </a:r>
            <a:r>
              <a:rPr sz="3600" spc="-385" dirty="0">
                <a:latin typeface="Trebuchet MS"/>
                <a:cs typeface="Trebuchet MS"/>
              </a:rPr>
              <a:t> </a:t>
            </a:r>
            <a:r>
              <a:rPr sz="3600" spc="-370" dirty="0">
                <a:latin typeface="Trebuchet MS"/>
                <a:cs typeface="Trebuchet MS"/>
              </a:rPr>
              <a:t>manage</a:t>
            </a:r>
            <a:r>
              <a:rPr sz="3600" spc="-385"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365" dirty="0">
                <a:latin typeface="Trebuchet MS"/>
                <a:cs typeface="Trebuchet MS"/>
              </a:rPr>
              <a:t>containers</a:t>
            </a:r>
            <a:r>
              <a:rPr sz="3600" spc="-385" dirty="0">
                <a:latin typeface="Trebuchet MS"/>
                <a:cs typeface="Trebuchet MS"/>
              </a:rPr>
              <a:t> </a:t>
            </a:r>
            <a:r>
              <a:rPr sz="3600" spc="-400" dirty="0">
                <a:latin typeface="Trebuchet MS"/>
                <a:cs typeface="Trebuchet MS"/>
              </a:rPr>
              <a:t>that</a:t>
            </a:r>
            <a:r>
              <a:rPr sz="3600" spc="-385" dirty="0">
                <a:latin typeface="Trebuchet MS"/>
                <a:cs typeface="Trebuchet MS"/>
              </a:rPr>
              <a:t> </a:t>
            </a:r>
            <a:r>
              <a:rPr sz="3600" spc="-355" dirty="0">
                <a:latin typeface="Trebuchet MS"/>
                <a:cs typeface="Trebuchet MS"/>
              </a:rPr>
              <a:t>run</a:t>
            </a:r>
            <a:r>
              <a:rPr sz="3600" spc="-385"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70" dirty="0">
                <a:latin typeface="Trebuchet MS"/>
                <a:cs typeface="Trebuchet MS"/>
              </a:rPr>
              <a:t>applications </a:t>
            </a:r>
            <a:r>
              <a:rPr sz="3600" spc="-365" dirty="0">
                <a:latin typeface="Trebuchet MS"/>
                <a:cs typeface="Trebuchet MS"/>
              </a:rPr>
              <a:t>and</a:t>
            </a:r>
            <a:r>
              <a:rPr sz="3600" spc="-385" dirty="0">
                <a:latin typeface="Trebuchet MS"/>
                <a:cs typeface="Trebuchet MS"/>
              </a:rPr>
              <a:t> </a:t>
            </a:r>
            <a:r>
              <a:rPr sz="3600" spc="-340" dirty="0">
                <a:latin typeface="Trebuchet MS"/>
                <a:cs typeface="Trebuchet MS"/>
              </a:rPr>
              <a:t>ensure</a:t>
            </a:r>
            <a:r>
              <a:rPr sz="3600" spc="-385" dirty="0">
                <a:latin typeface="Trebuchet MS"/>
                <a:cs typeface="Trebuchet MS"/>
              </a:rPr>
              <a:t> </a:t>
            </a:r>
            <a:r>
              <a:rPr sz="3600" spc="-400" dirty="0">
                <a:latin typeface="Trebuchet MS"/>
                <a:cs typeface="Trebuchet MS"/>
              </a:rPr>
              <a:t>that</a:t>
            </a:r>
            <a:r>
              <a:rPr sz="3600" spc="-380" dirty="0">
                <a:latin typeface="Trebuchet MS"/>
                <a:cs typeface="Trebuchet MS"/>
              </a:rPr>
              <a:t> </a:t>
            </a:r>
            <a:r>
              <a:rPr sz="3600" spc="-409" dirty="0">
                <a:latin typeface="Trebuchet MS"/>
                <a:cs typeface="Trebuchet MS"/>
              </a:rPr>
              <a:t>there</a:t>
            </a:r>
            <a:r>
              <a:rPr sz="3600" spc="-385" dirty="0">
                <a:latin typeface="Trebuchet MS"/>
                <a:cs typeface="Trebuchet MS"/>
              </a:rPr>
              <a:t> </a:t>
            </a:r>
            <a:r>
              <a:rPr sz="3600" spc="-220" dirty="0">
                <a:latin typeface="Trebuchet MS"/>
                <a:cs typeface="Trebuchet MS"/>
              </a:rPr>
              <a:t>is</a:t>
            </a:r>
            <a:r>
              <a:rPr sz="3600" spc="-385" dirty="0">
                <a:latin typeface="Trebuchet MS"/>
                <a:cs typeface="Trebuchet MS"/>
              </a:rPr>
              <a:t> </a:t>
            </a:r>
            <a:r>
              <a:rPr sz="3600" spc="-355" dirty="0">
                <a:latin typeface="Trebuchet MS"/>
                <a:cs typeface="Trebuchet MS"/>
              </a:rPr>
              <a:t>no</a:t>
            </a:r>
            <a:r>
              <a:rPr sz="3600" spc="-380" dirty="0">
                <a:latin typeface="Trebuchet MS"/>
                <a:cs typeface="Trebuchet MS"/>
              </a:rPr>
              <a:t> </a:t>
            </a:r>
            <a:r>
              <a:rPr sz="3600" spc="-440" dirty="0">
                <a:latin typeface="Trebuchet MS"/>
                <a:cs typeface="Trebuchet MS"/>
              </a:rPr>
              <a:t>downtime.</a:t>
            </a:r>
            <a:r>
              <a:rPr sz="3600" spc="-385" dirty="0">
                <a:latin typeface="Trebuchet MS"/>
                <a:cs typeface="Trebuchet MS"/>
              </a:rPr>
              <a:t> </a:t>
            </a:r>
            <a:r>
              <a:rPr sz="3600" spc="-275" dirty="0">
                <a:latin typeface="Trebuchet MS"/>
                <a:cs typeface="Trebuchet MS"/>
              </a:rPr>
              <a:t>In</a:t>
            </a:r>
            <a:r>
              <a:rPr sz="3600" spc="-385" dirty="0">
                <a:latin typeface="Trebuchet MS"/>
                <a:cs typeface="Trebuchet MS"/>
              </a:rPr>
              <a:t> </a:t>
            </a:r>
            <a:r>
              <a:rPr sz="3600" spc="-415" dirty="0">
                <a:latin typeface="Trebuchet MS"/>
                <a:cs typeface="Trebuchet MS"/>
              </a:rPr>
              <a:t>docker</a:t>
            </a:r>
            <a:r>
              <a:rPr sz="3600" spc="-380" dirty="0">
                <a:latin typeface="Trebuchet MS"/>
                <a:cs typeface="Trebuchet MS"/>
              </a:rPr>
              <a:t> </a:t>
            </a:r>
            <a:r>
              <a:rPr sz="3600" spc="-459" dirty="0">
                <a:latin typeface="Trebuchet MS"/>
                <a:cs typeface="Trebuchet MS"/>
              </a:rPr>
              <a:t>we</a:t>
            </a:r>
            <a:r>
              <a:rPr sz="3600" spc="-385" dirty="0">
                <a:latin typeface="Trebuchet MS"/>
                <a:cs typeface="Trebuchet MS"/>
              </a:rPr>
              <a:t> </a:t>
            </a:r>
            <a:r>
              <a:rPr sz="3600" spc="-320" dirty="0">
                <a:latin typeface="Trebuchet MS"/>
                <a:cs typeface="Trebuchet MS"/>
              </a:rPr>
              <a:t>used</a:t>
            </a:r>
            <a:r>
              <a:rPr sz="3600" spc="-385" dirty="0">
                <a:latin typeface="Trebuchet MS"/>
                <a:cs typeface="Trebuchet MS"/>
              </a:rPr>
              <a:t> </a:t>
            </a:r>
            <a:r>
              <a:rPr sz="3600" spc="-415" dirty="0">
                <a:latin typeface="Trebuchet MS"/>
                <a:cs typeface="Trebuchet MS"/>
              </a:rPr>
              <a:t>docker</a:t>
            </a:r>
            <a:r>
              <a:rPr sz="3600" spc="-380" dirty="0">
                <a:latin typeface="Trebuchet MS"/>
                <a:cs typeface="Trebuchet MS"/>
              </a:rPr>
              <a:t> </a:t>
            </a:r>
            <a:r>
              <a:rPr sz="3600" spc="-370" dirty="0">
                <a:latin typeface="Trebuchet MS"/>
                <a:cs typeface="Trebuchet MS"/>
              </a:rPr>
              <a:t>swarm</a:t>
            </a:r>
            <a:r>
              <a:rPr sz="3600" spc="-385" dirty="0">
                <a:latin typeface="Trebuchet MS"/>
                <a:cs typeface="Trebuchet MS"/>
              </a:rPr>
              <a:t> </a:t>
            </a:r>
            <a:r>
              <a:rPr sz="3600" spc="-360" dirty="0">
                <a:latin typeface="Trebuchet MS"/>
                <a:cs typeface="Trebuchet MS"/>
              </a:rPr>
              <a:t>for</a:t>
            </a:r>
            <a:r>
              <a:rPr sz="3600" spc="-385" dirty="0">
                <a:latin typeface="Trebuchet MS"/>
                <a:cs typeface="Trebuchet MS"/>
              </a:rPr>
              <a:t> </a:t>
            </a:r>
            <a:r>
              <a:rPr sz="3600" spc="-375" dirty="0">
                <a:latin typeface="Trebuchet MS"/>
                <a:cs typeface="Trebuchet MS"/>
              </a:rPr>
              <a:t>this.</a:t>
            </a:r>
            <a:r>
              <a:rPr sz="3600" spc="-380" dirty="0">
                <a:latin typeface="Trebuchet MS"/>
                <a:cs typeface="Trebuchet MS"/>
              </a:rPr>
              <a:t> </a:t>
            </a:r>
            <a:r>
              <a:rPr sz="3600" spc="-390" dirty="0">
                <a:latin typeface="Trebuchet MS"/>
                <a:cs typeface="Trebuchet MS"/>
              </a:rPr>
              <a:t>but</a:t>
            </a:r>
            <a:r>
              <a:rPr sz="3600" spc="-385" dirty="0">
                <a:latin typeface="Trebuchet MS"/>
                <a:cs typeface="Trebuchet MS"/>
              </a:rPr>
              <a:t> </a:t>
            </a:r>
            <a:r>
              <a:rPr sz="3600" spc="-310" dirty="0">
                <a:latin typeface="Trebuchet MS"/>
                <a:cs typeface="Trebuchet MS"/>
              </a:rPr>
              <a:t>any </a:t>
            </a:r>
            <a:r>
              <a:rPr sz="3600" spc="-400" dirty="0">
                <a:latin typeface="Trebuchet MS"/>
                <a:cs typeface="Trebuchet MS"/>
              </a:rPr>
              <a:t>how</a:t>
            </a:r>
            <a:r>
              <a:rPr sz="3600" spc="-385" dirty="0">
                <a:latin typeface="Trebuchet MS"/>
                <a:cs typeface="Trebuchet MS"/>
              </a:rPr>
              <a:t> </a:t>
            </a:r>
            <a:r>
              <a:rPr sz="3600" spc="-415" dirty="0">
                <a:latin typeface="Trebuchet MS"/>
                <a:cs typeface="Trebuchet MS"/>
              </a:rPr>
              <a:t>docker</a:t>
            </a:r>
            <a:r>
              <a:rPr sz="3600" spc="-380" dirty="0">
                <a:latin typeface="Trebuchet MS"/>
                <a:cs typeface="Trebuchet MS"/>
              </a:rPr>
              <a:t> </a:t>
            </a:r>
            <a:r>
              <a:rPr sz="3600" spc="-270" dirty="0">
                <a:latin typeface="Trebuchet MS"/>
                <a:cs typeface="Trebuchet MS"/>
              </a:rPr>
              <a:t>has</a:t>
            </a:r>
            <a:r>
              <a:rPr sz="3600" spc="-385" dirty="0">
                <a:latin typeface="Trebuchet MS"/>
                <a:cs typeface="Trebuchet MS"/>
              </a:rPr>
              <a:t> </a:t>
            </a:r>
            <a:r>
              <a:rPr sz="3600" spc="-405" dirty="0">
                <a:latin typeface="Trebuchet MS"/>
                <a:cs typeface="Trebuchet MS"/>
              </a:rPr>
              <a:t>drawbacks!</a:t>
            </a:r>
            <a:endParaRPr sz="3600">
              <a:latin typeface="Trebuchet MS"/>
              <a:cs typeface="Trebuchet MS"/>
            </a:endParaRPr>
          </a:p>
          <a:p>
            <a:pPr marL="497205">
              <a:lnSpc>
                <a:spcPct val="100000"/>
              </a:lnSpc>
              <a:spcBef>
                <a:spcPts val="3300"/>
              </a:spcBef>
            </a:pPr>
            <a:r>
              <a:rPr sz="3600" spc="-245" dirty="0">
                <a:latin typeface="Trebuchet MS"/>
                <a:cs typeface="Trebuchet MS"/>
              </a:rPr>
              <a:t>so</a:t>
            </a:r>
            <a:r>
              <a:rPr sz="3600" spc="-390" dirty="0">
                <a:latin typeface="Trebuchet MS"/>
                <a:cs typeface="Trebuchet MS"/>
              </a:rPr>
              <a:t> </a:t>
            </a:r>
            <a:r>
              <a:rPr sz="3600" spc="-459" dirty="0">
                <a:latin typeface="Trebuchet MS"/>
                <a:cs typeface="Trebuchet MS"/>
              </a:rPr>
              <a:t>we</a:t>
            </a:r>
            <a:r>
              <a:rPr sz="3600" spc="-390" dirty="0">
                <a:latin typeface="Trebuchet MS"/>
                <a:cs typeface="Trebuchet MS"/>
              </a:rPr>
              <a:t> </a:t>
            </a:r>
            <a:r>
              <a:rPr sz="3600" spc="-405" dirty="0">
                <a:latin typeface="Trebuchet MS"/>
                <a:cs typeface="Trebuchet MS"/>
              </a:rPr>
              <a:t>moved</a:t>
            </a:r>
            <a:r>
              <a:rPr sz="3600" spc="-390" dirty="0">
                <a:latin typeface="Trebuchet MS"/>
                <a:cs typeface="Trebuchet MS"/>
              </a:rPr>
              <a:t> </a:t>
            </a:r>
            <a:r>
              <a:rPr sz="3600" spc="-409" dirty="0">
                <a:latin typeface="Trebuchet MS"/>
                <a:cs typeface="Trebuchet MS"/>
              </a:rPr>
              <a:t>to</a:t>
            </a:r>
            <a:r>
              <a:rPr sz="3600" spc="-390" dirty="0">
                <a:latin typeface="Trebuchet MS"/>
                <a:cs typeface="Trebuchet MS"/>
              </a:rPr>
              <a:t> </a:t>
            </a:r>
            <a:r>
              <a:rPr sz="3600" spc="-409" dirty="0">
                <a:latin typeface="Trebuchet MS"/>
                <a:cs typeface="Trebuchet MS"/>
              </a:rPr>
              <a:t>KUBERNETES.</a:t>
            </a:r>
            <a:endParaRPr sz="3600">
              <a:latin typeface="Trebuchet MS"/>
              <a:cs typeface="Trebuchet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35740" y="154209"/>
            <a:ext cx="11399151" cy="9982199"/>
          </a:xfrm>
          <a:prstGeom prst="rect">
            <a:avLst/>
          </a:prstGeom>
        </p:spPr>
      </p:pic>
      <p:sp>
        <p:nvSpPr>
          <p:cNvPr id="3" name="object 3"/>
          <p:cNvSpPr txBox="1">
            <a:spLocks noGrp="1"/>
          </p:cNvSpPr>
          <p:nvPr>
            <p:ph type="title"/>
          </p:nvPr>
        </p:nvSpPr>
        <p:spPr>
          <a:prstGeom prst="rect">
            <a:avLst/>
          </a:prstGeom>
        </p:spPr>
        <p:txBody>
          <a:bodyPr vert="horz" wrap="square" lIns="0" tIns="201554" rIns="0" bIns="0" rtlCol="0">
            <a:spAutoFit/>
          </a:bodyPr>
          <a:lstStyle/>
          <a:p>
            <a:pPr marL="213360">
              <a:lnSpc>
                <a:spcPct val="100000"/>
              </a:lnSpc>
              <a:spcBef>
                <a:spcPts val="100"/>
              </a:spcBef>
            </a:pPr>
            <a:r>
              <a:rPr sz="3700" b="0" spc="70" dirty="0">
                <a:solidFill>
                  <a:srgbClr val="FF904D"/>
                </a:solidFill>
                <a:latin typeface="Arial MT"/>
                <a:cs typeface="Arial MT"/>
              </a:rPr>
              <a:t>aechitecture:</a:t>
            </a:r>
            <a:endParaRPr sz="3700">
              <a:latin typeface="Arial MT"/>
              <a:cs typeface="Arial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9843" y="1773037"/>
            <a:ext cx="2577490" cy="6464812"/>
          </a:xfrm>
          <a:prstGeom prst="rect">
            <a:avLst/>
          </a:prstGeom>
        </p:spPr>
      </p:pic>
      <p:pic>
        <p:nvPicPr>
          <p:cNvPr id="3" name="object 3"/>
          <p:cNvPicPr/>
          <p:nvPr/>
        </p:nvPicPr>
        <p:blipFill>
          <a:blip r:embed="rId3" cstate="print"/>
          <a:stretch>
            <a:fillRect/>
          </a:stretch>
        </p:blipFill>
        <p:spPr>
          <a:xfrm>
            <a:off x="6159131" y="2457754"/>
            <a:ext cx="5085436" cy="1771649"/>
          </a:xfrm>
          <a:prstGeom prst="rect">
            <a:avLst/>
          </a:prstGeom>
        </p:spPr>
      </p:pic>
      <p:sp>
        <p:nvSpPr>
          <p:cNvPr id="4" name="object 4"/>
          <p:cNvSpPr txBox="1"/>
          <p:nvPr/>
        </p:nvSpPr>
        <p:spPr>
          <a:xfrm>
            <a:off x="6796430" y="3053002"/>
            <a:ext cx="2265680" cy="483234"/>
          </a:xfrm>
          <a:prstGeom prst="rect">
            <a:avLst/>
          </a:prstGeom>
        </p:spPr>
        <p:txBody>
          <a:bodyPr vert="horz" wrap="square" lIns="0" tIns="12700" rIns="0" bIns="0" rtlCol="0">
            <a:spAutoFit/>
          </a:bodyPr>
          <a:lstStyle/>
          <a:p>
            <a:pPr marL="12700">
              <a:lnSpc>
                <a:spcPct val="100000"/>
              </a:lnSpc>
              <a:spcBef>
                <a:spcPts val="100"/>
              </a:spcBef>
            </a:pPr>
            <a:r>
              <a:rPr sz="3000" b="1" dirty="0">
                <a:solidFill>
                  <a:srgbClr val="E7181F"/>
                </a:solidFill>
                <a:latin typeface="Times New Roman"/>
                <a:cs typeface="Times New Roman"/>
              </a:rPr>
              <a:t>API-</a:t>
            </a:r>
            <a:r>
              <a:rPr sz="3000" b="1" spc="-135" dirty="0">
                <a:solidFill>
                  <a:srgbClr val="E7181F"/>
                </a:solidFill>
                <a:latin typeface="Times New Roman"/>
                <a:cs typeface="Times New Roman"/>
              </a:rPr>
              <a:t>SERVER</a:t>
            </a:r>
            <a:endParaRPr sz="3000">
              <a:latin typeface="Times New Roman"/>
              <a:cs typeface="Times New Roman"/>
            </a:endParaRPr>
          </a:p>
        </p:txBody>
      </p:sp>
      <p:grpSp>
        <p:nvGrpSpPr>
          <p:cNvPr id="5" name="object 5"/>
          <p:cNvGrpSpPr/>
          <p:nvPr/>
        </p:nvGrpSpPr>
        <p:grpSpPr>
          <a:xfrm>
            <a:off x="3237319" y="2690576"/>
            <a:ext cx="10042525" cy="1343025"/>
            <a:chOff x="3237319" y="2690576"/>
            <a:chExt cx="10042525" cy="1343025"/>
          </a:xfrm>
        </p:grpSpPr>
        <p:sp>
          <p:nvSpPr>
            <p:cNvPr id="6" name="object 6"/>
            <p:cNvSpPr/>
            <p:nvPr/>
          </p:nvSpPr>
          <p:spPr>
            <a:xfrm>
              <a:off x="3237318" y="2690583"/>
              <a:ext cx="10042525" cy="1289050"/>
            </a:xfrm>
            <a:custGeom>
              <a:avLst/>
              <a:gdLst/>
              <a:ahLst/>
              <a:cxnLst/>
              <a:rect l="l" t="t" r="r" b="b"/>
              <a:pathLst>
                <a:path w="10042525" h="1289050">
                  <a:moveTo>
                    <a:pt x="644652" y="344474"/>
                  </a:moveTo>
                  <a:lnTo>
                    <a:pt x="641096" y="343293"/>
                  </a:lnTo>
                  <a:lnTo>
                    <a:pt x="642874" y="344474"/>
                  </a:lnTo>
                  <a:lnTo>
                    <a:pt x="644652" y="344474"/>
                  </a:lnTo>
                  <a:close/>
                </a:path>
                <a:path w="10042525" h="1289050">
                  <a:moveTo>
                    <a:pt x="955141" y="343293"/>
                  </a:moveTo>
                  <a:lnTo>
                    <a:pt x="953363" y="343293"/>
                  </a:lnTo>
                  <a:lnTo>
                    <a:pt x="952766" y="343890"/>
                  </a:lnTo>
                  <a:lnTo>
                    <a:pt x="955141" y="343293"/>
                  </a:lnTo>
                  <a:close/>
                </a:path>
                <a:path w="10042525" h="1289050">
                  <a:moveTo>
                    <a:pt x="1630019" y="363220"/>
                  </a:moveTo>
                  <a:lnTo>
                    <a:pt x="1629422" y="363220"/>
                  </a:lnTo>
                  <a:lnTo>
                    <a:pt x="1629270" y="363537"/>
                  </a:lnTo>
                  <a:lnTo>
                    <a:pt x="1630019" y="363220"/>
                  </a:lnTo>
                  <a:close/>
                </a:path>
                <a:path w="10042525" h="1289050">
                  <a:moveTo>
                    <a:pt x="1632978" y="363982"/>
                  </a:moveTo>
                  <a:lnTo>
                    <a:pt x="1630603" y="363982"/>
                  </a:lnTo>
                  <a:lnTo>
                    <a:pt x="1630019" y="364566"/>
                  </a:lnTo>
                  <a:lnTo>
                    <a:pt x="1631797" y="364566"/>
                  </a:lnTo>
                  <a:lnTo>
                    <a:pt x="1632978" y="363982"/>
                  </a:lnTo>
                  <a:close/>
                </a:path>
                <a:path w="10042525" h="1289050">
                  <a:moveTo>
                    <a:pt x="2455392" y="809498"/>
                  </a:moveTo>
                  <a:lnTo>
                    <a:pt x="2453030" y="807720"/>
                  </a:lnTo>
                  <a:lnTo>
                    <a:pt x="2453614" y="808901"/>
                  </a:lnTo>
                  <a:lnTo>
                    <a:pt x="2454808" y="809498"/>
                  </a:lnTo>
                  <a:lnTo>
                    <a:pt x="2455392" y="809498"/>
                  </a:lnTo>
                  <a:close/>
                </a:path>
                <a:path w="10042525" h="1289050">
                  <a:moveTo>
                    <a:pt x="2463101" y="105410"/>
                  </a:moveTo>
                  <a:lnTo>
                    <a:pt x="2461920" y="104140"/>
                  </a:lnTo>
                  <a:lnTo>
                    <a:pt x="2462504" y="106680"/>
                  </a:lnTo>
                  <a:lnTo>
                    <a:pt x="2463101" y="106680"/>
                  </a:lnTo>
                  <a:lnTo>
                    <a:pt x="2463101" y="105410"/>
                  </a:lnTo>
                  <a:close/>
                </a:path>
                <a:path w="10042525" h="1289050">
                  <a:moveTo>
                    <a:pt x="2469019" y="793064"/>
                  </a:moveTo>
                  <a:lnTo>
                    <a:pt x="2467838" y="794334"/>
                  </a:lnTo>
                  <a:lnTo>
                    <a:pt x="2468549" y="794575"/>
                  </a:lnTo>
                  <a:lnTo>
                    <a:pt x="2468626" y="794334"/>
                  </a:lnTo>
                  <a:lnTo>
                    <a:pt x="2469019" y="793064"/>
                  </a:lnTo>
                  <a:close/>
                </a:path>
                <a:path w="10042525" h="1289050">
                  <a:moveTo>
                    <a:pt x="2478506" y="56134"/>
                  </a:moveTo>
                  <a:lnTo>
                    <a:pt x="2477325" y="49047"/>
                  </a:lnTo>
                  <a:lnTo>
                    <a:pt x="2476131" y="45491"/>
                  </a:lnTo>
                  <a:lnTo>
                    <a:pt x="2473769" y="40182"/>
                  </a:lnTo>
                  <a:lnTo>
                    <a:pt x="2473172" y="42545"/>
                  </a:lnTo>
                  <a:lnTo>
                    <a:pt x="2473172" y="46672"/>
                  </a:lnTo>
                  <a:lnTo>
                    <a:pt x="2476131" y="51993"/>
                  </a:lnTo>
                  <a:lnTo>
                    <a:pt x="2478506" y="56134"/>
                  </a:lnTo>
                  <a:close/>
                </a:path>
                <a:path w="10042525" h="1289050">
                  <a:moveTo>
                    <a:pt x="2505760" y="737412"/>
                  </a:moveTo>
                  <a:lnTo>
                    <a:pt x="2504579" y="737412"/>
                  </a:lnTo>
                  <a:lnTo>
                    <a:pt x="2505760" y="737997"/>
                  </a:lnTo>
                  <a:lnTo>
                    <a:pt x="2505760" y="737412"/>
                  </a:lnTo>
                  <a:close/>
                </a:path>
                <a:path w="10042525" h="1289050">
                  <a:moveTo>
                    <a:pt x="2508135" y="737997"/>
                  </a:moveTo>
                  <a:lnTo>
                    <a:pt x="2506942" y="736815"/>
                  </a:lnTo>
                  <a:lnTo>
                    <a:pt x="2505760" y="737997"/>
                  </a:lnTo>
                  <a:lnTo>
                    <a:pt x="2505760" y="739178"/>
                  </a:lnTo>
                  <a:lnTo>
                    <a:pt x="2507538" y="739775"/>
                  </a:lnTo>
                  <a:lnTo>
                    <a:pt x="2508135" y="739178"/>
                  </a:lnTo>
                  <a:lnTo>
                    <a:pt x="2508135" y="737997"/>
                  </a:lnTo>
                  <a:close/>
                </a:path>
                <a:path w="10042525" h="1289050">
                  <a:moveTo>
                    <a:pt x="2528278" y="126441"/>
                  </a:moveTo>
                  <a:lnTo>
                    <a:pt x="2527096" y="125857"/>
                  </a:lnTo>
                  <a:lnTo>
                    <a:pt x="2525903" y="127038"/>
                  </a:lnTo>
                  <a:lnTo>
                    <a:pt x="2526500" y="127622"/>
                  </a:lnTo>
                  <a:lnTo>
                    <a:pt x="2528278" y="126441"/>
                  </a:lnTo>
                  <a:close/>
                </a:path>
                <a:path w="10042525" h="1289050">
                  <a:moveTo>
                    <a:pt x="2540127" y="692505"/>
                  </a:moveTo>
                  <a:lnTo>
                    <a:pt x="2539530" y="692505"/>
                  </a:lnTo>
                  <a:lnTo>
                    <a:pt x="2540127" y="693089"/>
                  </a:lnTo>
                  <a:lnTo>
                    <a:pt x="2540127" y="692505"/>
                  </a:lnTo>
                  <a:close/>
                </a:path>
                <a:path w="10042525" h="1289050">
                  <a:moveTo>
                    <a:pt x="2579230" y="416560"/>
                  </a:moveTo>
                  <a:lnTo>
                    <a:pt x="2578646" y="416560"/>
                  </a:lnTo>
                  <a:lnTo>
                    <a:pt x="2579230" y="416979"/>
                  </a:lnTo>
                  <a:lnTo>
                    <a:pt x="2579230" y="416560"/>
                  </a:lnTo>
                  <a:close/>
                </a:path>
                <a:path w="10042525" h="1289050">
                  <a:moveTo>
                    <a:pt x="2656852" y="432523"/>
                  </a:moveTo>
                  <a:lnTo>
                    <a:pt x="2646781" y="428383"/>
                  </a:lnTo>
                  <a:lnTo>
                    <a:pt x="2655671" y="432523"/>
                  </a:lnTo>
                  <a:lnTo>
                    <a:pt x="2656852" y="432523"/>
                  </a:lnTo>
                  <a:close/>
                </a:path>
                <a:path w="10042525" h="1289050">
                  <a:moveTo>
                    <a:pt x="2675217" y="551281"/>
                  </a:moveTo>
                  <a:lnTo>
                    <a:pt x="2674632" y="550100"/>
                  </a:lnTo>
                  <a:lnTo>
                    <a:pt x="2674632" y="550697"/>
                  </a:lnTo>
                  <a:lnTo>
                    <a:pt x="2675217" y="551281"/>
                  </a:lnTo>
                  <a:close/>
                </a:path>
                <a:path w="10042525" h="1289050">
                  <a:moveTo>
                    <a:pt x="2684589" y="552780"/>
                  </a:moveTo>
                  <a:lnTo>
                    <a:pt x="2684107" y="551764"/>
                  </a:lnTo>
                  <a:lnTo>
                    <a:pt x="2682811" y="549224"/>
                  </a:lnTo>
                  <a:lnTo>
                    <a:pt x="2684475" y="553694"/>
                  </a:lnTo>
                  <a:lnTo>
                    <a:pt x="2684589" y="552780"/>
                  </a:lnTo>
                  <a:close/>
                </a:path>
                <a:path w="10042525" h="1289050">
                  <a:moveTo>
                    <a:pt x="2705443" y="539470"/>
                  </a:moveTo>
                  <a:lnTo>
                    <a:pt x="2704846" y="538873"/>
                  </a:lnTo>
                  <a:lnTo>
                    <a:pt x="2705443" y="540054"/>
                  </a:lnTo>
                  <a:lnTo>
                    <a:pt x="2705443" y="539470"/>
                  </a:lnTo>
                  <a:close/>
                </a:path>
                <a:path w="10042525" h="1289050">
                  <a:moveTo>
                    <a:pt x="2730322" y="524700"/>
                  </a:moveTo>
                  <a:lnTo>
                    <a:pt x="2729141" y="523519"/>
                  </a:lnTo>
                  <a:lnTo>
                    <a:pt x="2730322" y="525284"/>
                  </a:lnTo>
                  <a:lnTo>
                    <a:pt x="2730322" y="524700"/>
                  </a:lnTo>
                  <a:close/>
                </a:path>
                <a:path w="10042525" h="1289050">
                  <a:moveTo>
                    <a:pt x="2828086" y="475056"/>
                  </a:moveTo>
                  <a:lnTo>
                    <a:pt x="2825724" y="475653"/>
                  </a:lnTo>
                  <a:lnTo>
                    <a:pt x="2826905" y="476834"/>
                  </a:lnTo>
                  <a:lnTo>
                    <a:pt x="2828086" y="475653"/>
                  </a:lnTo>
                  <a:lnTo>
                    <a:pt x="2828086" y="475056"/>
                  </a:lnTo>
                  <a:close/>
                </a:path>
                <a:path w="10042525" h="1289050">
                  <a:moveTo>
                    <a:pt x="2872829" y="478904"/>
                  </a:moveTo>
                  <a:lnTo>
                    <a:pt x="2872536" y="478015"/>
                  </a:lnTo>
                  <a:lnTo>
                    <a:pt x="2872536" y="478612"/>
                  </a:lnTo>
                  <a:lnTo>
                    <a:pt x="2872829" y="478904"/>
                  </a:lnTo>
                  <a:close/>
                </a:path>
                <a:path w="10042525" h="1289050">
                  <a:moveTo>
                    <a:pt x="2877858" y="479793"/>
                  </a:moveTo>
                  <a:lnTo>
                    <a:pt x="2877274" y="478015"/>
                  </a:lnTo>
                  <a:lnTo>
                    <a:pt x="2877274" y="479196"/>
                  </a:lnTo>
                  <a:lnTo>
                    <a:pt x="2877858" y="479793"/>
                  </a:lnTo>
                  <a:close/>
                </a:path>
                <a:path w="10042525" h="1289050">
                  <a:moveTo>
                    <a:pt x="2889123" y="519963"/>
                  </a:moveTo>
                  <a:lnTo>
                    <a:pt x="2887942" y="518782"/>
                  </a:lnTo>
                  <a:lnTo>
                    <a:pt x="2889123" y="520560"/>
                  </a:lnTo>
                  <a:lnTo>
                    <a:pt x="2889123" y="519963"/>
                  </a:lnTo>
                  <a:close/>
                </a:path>
                <a:path w="10042525" h="1289050">
                  <a:moveTo>
                    <a:pt x="2905125" y="497154"/>
                  </a:moveTo>
                  <a:lnTo>
                    <a:pt x="2903931" y="493344"/>
                  </a:lnTo>
                  <a:lnTo>
                    <a:pt x="2901150" y="492074"/>
                  </a:lnTo>
                  <a:lnTo>
                    <a:pt x="2894533" y="489534"/>
                  </a:lnTo>
                  <a:lnTo>
                    <a:pt x="2886684" y="485724"/>
                  </a:lnTo>
                  <a:lnTo>
                    <a:pt x="2880233" y="483184"/>
                  </a:lnTo>
                  <a:lnTo>
                    <a:pt x="2884970" y="481914"/>
                  </a:lnTo>
                  <a:lnTo>
                    <a:pt x="2880830" y="481914"/>
                  </a:lnTo>
                  <a:lnTo>
                    <a:pt x="2879052" y="479374"/>
                  </a:lnTo>
                  <a:lnTo>
                    <a:pt x="2879636" y="481914"/>
                  </a:lnTo>
                  <a:lnTo>
                    <a:pt x="2876677" y="481914"/>
                  </a:lnTo>
                  <a:lnTo>
                    <a:pt x="2874302" y="478104"/>
                  </a:lnTo>
                  <a:lnTo>
                    <a:pt x="2872536" y="476834"/>
                  </a:lnTo>
                  <a:lnTo>
                    <a:pt x="2873121" y="478104"/>
                  </a:lnTo>
                  <a:lnTo>
                    <a:pt x="2873718" y="478104"/>
                  </a:lnTo>
                  <a:lnTo>
                    <a:pt x="2873718" y="479374"/>
                  </a:lnTo>
                  <a:lnTo>
                    <a:pt x="2874302" y="479374"/>
                  </a:lnTo>
                  <a:lnTo>
                    <a:pt x="2874302" y="480644"/>
                  </a:lnTo>
                  <a:lnTo>
                    <a:pt x="2873718" y="480644"/>
                  </a:lnTo>
                  <a:lnTo>
                    <a:pt x="2873121" y="481914"/>
                  </a:lnTo>
                  <a:lnTo>
                    <a:pt x="2870162" y="481914"/>
                  </a:lnTo>
                  <a:lnTo>
                    <a:pt x="2868384" y="479374"/>
                  </a:lnTo>
                  <a:lnTo>
                    <a:pt x="2866847" y="481914"/>
                  </a:lnTo>
                  <a:lnTo>
                    <a:pt x="2860979" y="480644"/>
                  </a:lnTo>
                  <a:lnTo>
                    <a:pt x="2854223" y="479374"/>
                  </a:lnTo>
                  <a:lnTo>
                    <a:pt x="2850019" y="478104"/>
                  </a:lnTo>
                  <a:lnTo>
                    <a:pt x="2845270" y="476834"/>
                  </a:lnTo>
                  <a:lnTo>
                    <a:pt x="2845397" y="478104"/>
                  </a:lnTo>
                  <a:lnTo>
                    <a:pt x="2845511" y="479374"/>
                  </a:lnTo>
                  <a:lnTo>
                    <a:pt x="2845625" y="480644"/>
                  </a:lnTo>
                  <a:lnTo>
                    <a:pt x="2845752" y="481914"/>
                  </a:lnTo>
                  <a:lnTo>
                    <a:pt x="2845866" y="483184"/>
                  </a:lnTo>
                  <a:lnTo>
                    <a:pt x="2842310" y="483184"/>
                  </a:lnTo>
                  <a:lnTo>
                    <a:pt x="2837573" y="484454"/>
                  </a:lnTo>
                  <a:lnTo>
                    <a:pt x="2837573" y="483184"/>
                  </a:lnTo>
                  <a:lnTo>
                    <a:pt x="2837573" y="479374"/>
                  </a:lnTo>
                  <a:lnTo>
                    <a:pt x="2833420" y="478104"/>
                  </a:lnTo>
                  <a:lnTo>
                    <a:pt x="2829280" y="478104"/>
                  </a:lnTo>
                  <a:lnTo>
                    <a:pt x="2836392" y="481914"/>
                  </a:lnTo>
                  <a:lnTo>
                    <a:pt x="2835198" y="483184"/>
                  </a:lnTo>
                  <a:lnTo>
                    <a:pt x="2829280" y="480644"/>
                  </a:lnTo>
                  <a:lnTo>
                    <a:pt x="2831058" y="479374"/>
                  </a:lnTo>
                  <a:lnTo>
                    <a:pt x="2829280" y="478104"/>
                  </a:lnTo>
                  <a:lnTo>
                    <a:pt x="2827502" y="476834"/>
                  </a:lnTo>
                  <a:lnTo>
                    <a:pt x="2824530" y="478104"/>
                  </a:lnTo>
                  <a:lnTo>
                    <a:pt x="2820911" y="477558"/>
                  </a:lnTo>
                  <a:lnTo>
                    <a:pt x="2818320" y="474980"/>
                  </a:lnTo>
                  <a:lnTo>
                    <a:pt x="2795689" y="452081"/>
                  </a:lnTo>
                  <a:lnTo>
                    <a:pt x="2793136" y="449580"/>
                  </a:lnTo>
                  <a:lnTo>
                    <a:pt x="2777566" y="434340"/>
                  </a:lnTo>
                  <a:lnTo>
                    <a:pt x="2768968" y="425932"/>
                  </a:lnTo>
                  <a:lnTo>
                    <a:pt x="2768968" y="518655"/>
                  </a:lnTo>
                  <a:lnTo>
                    <a:pt x="2768841" y="518744"/>
                  </a:lnTo>
                  <a:lnTo>
                    <a:pt x="2765882" y="518744"/>
                  </a:lnTo>
                  <a:lnTo>
                    <a:pt x="2766466" y="523824"/>
                  </a:lnTo>
                  <a:lnTo>
                    <a:pt x="2758770" y="522554"/>
                  </a:lnTo>
                  <a:lnTo>
                    <a:pt x="2761132" y="527634"/>
                  </a:lnTo>
                  <a:lnTo>
                    <a:pt x="2755811" y="527634"/>
                  </a:lnTo>
                  <a:lnTo>
                    <a:pt x="2752839" y="523824"/>
                  </a:lnTo>
                  <a:lnTo>
                    <a:pt x="2755811" y="521284"/>
                  </a:lnTo>
                  <a:lnTo>
                    <a:pt x="2759037" y="517804"/>
                  </a:lnTo>
                  <a:lnTo>
                    <a:pt x="2768968" y="518655"/>
                  </a:lnTo>
                  <a:lnTo>
                    <a:pt x="2768968" y="425932"/>
                  </a:lnTo>
                  <a:lnTo>
                    <a:pt x="2760700" y="417830"/>
                  </a:lnTo>
                  <a:lnTo>
                    <a:pt x="2743949" y="401320"/>
                  </a:lnTo>
                  <a:lnTo>
                    <a:pt x="2726766" y="384810"/>
                  </a:lnTo>
                  <a:lnTo>
                    <a:pt x="2738615" y="402590"/>
                  </a:lnTo>
                  <a:lnTo>
                    <a:pt x="2749283" y="417830"/>
                  </a:lnTo>
                  <a:lnTo>
                    <a:pt x="2739644" y="408940"/>
                  </a:lnTo>
                  <a:lnTo>
                    <a:pt x="2730322" y="400050"/>
                  </a:lnTo>
                  <a:lnTo>
                    <a:pt x="2721457" y="391160"/>
                  </a:lnTo>
                  <a:lnTo>
                    <a:pt x="2713139" y="382270"/>
                  </a:lnTo>
                  <a:lnTo>
                    <a:pt x="2698483" y="365760"/>
                  </a:lnTo>
                  <a:lnTo>
                    <a:pt x="2693886" y="360680"/>
                  </a:lnTo>
                  <a:lnTo>
                    <a:pt x="2684703" y="350520"/>
                  </a:lnTo>
                  <a:lnTo>
                    <a:pt x="2680551" y="345440"/>
                  </a:lnTo>
                  <a:lnTo>
                    <a:pt x="2675813" y="340360"/>
                  </a:lnTo>
                  <a:lnTo>
                    <a:pt x="2671661" y="335280"/>
                  </a:lnTo>
                  <a:lnTo>
                    <a:pt x="2668701" y="331470"/>
                  </a:lnTo>
                  <a:lnTo>
                    <a:pt x="2666339" y="328930"/>
                  </a:lnTo>
                  <a:lnTo>
                    <a:pt x="2663367" y="325120"/>
                  </a:lnTo>
                  <a:lnTo>
                    <a:pt x="2659227" y="320040"/>
                  </a:lnTo>
                  <a:lnTo>
                    <a:pt x="2655671" y="314960"/>
                  </a:lnTo>
                  <a:lnTo>
                    <a:pt x="2651518" y="309880"/>
                  </a:lnTo>
                  <a:lnTo>
                    <a:pt x="2641981" y="297180"/>
                  </a:lnTo>
                  <a:lnTo>
                    <a:pt x="2640076" y="294640"/>
                  </a:lnTo>
                  <a:lnTo>
                    <a:pt x="2628417" y="279400"/>
                  </a:lnTo>
                  <a:lnTo>
                    <a:pt x="2626322" y="276860"/>
                  </a:lnTo>
                  <a:lnTo>
                    <a:pt x="2615857" y="264160"/>
                  </a:lnTo>
                  <a:lnTo>
                    <a:pt x="2601747" y="246380"/>
                  </a:lnTo>
                  <a:lnTo>
                    <a:pt x="2604706" y="248920"/>
                  </a:lnTo>
                  <a:lnTo>
                    <a:pt x="2603525" y="246380"/>
                  </a:lnTo>
                  <a:lnTo>
                    <a:pt x="2602928" y="245110"/>
                  </a:lnTo>
                  <a:lnTo>
                    <a:pt x="2597607" y="243840"/>
                  </a:lnTo>
                  <a:lnTo>
                    <a:pt x="2588120" y="232410"/>
                  </a:lnTo>
                  <a:lnTo>
                    <a:pt x="2564803" y="194310"/>
                  </a:lnTo>
                  <a:lnTo>
                    <a:pt x="2548572" y="157480"/>
                  </a:lnTo>
                  <a:lnTo>
                    <a:pt x="2546058" y="151130"/>
                  </a:lnTo>
                  <a:lnTo>
                    <a:pt x="2546642" y="149860"/>
                  </a:lnTo>
                  <a:lnTo>
                    <a:pt x="2544864" y="147320"/>
                  </a:lnTo>
                  <a:lnTo>
                    <a:pt x="2543683" y="147320"/>
                  </a:lnTo>
                  <a:lnTo>
                    <a:pt x="2541308" y="140970"/>
                  </a:lnTo>
                  <a:lnTo>
                    <a:pt x="2544864" y="153670"/>
                  </a:lnTo>
                  <a:lnTo>
                    <a:pt x="2524125" y="129540"/>
                  </a:lnTo>
                  <a:lnTo>
                    <a:pt x="2524722" y="127000"/>
                  </a:lnTo>
                  <a:lnTo>
                    <a:pt x="2525318" y="127000"/>
                  </a:lnTo>
                  <a:lnTo>
                    <a:pt x="2520569" y="119380"/>
                  </a:lnTo>
                  <a:lnTo>
                    <a:pt x="2512276" y="105410"/>
                  </a:lnTo>
                  <a:lnTo>
                    <a:pt x="2510701" y="102870"/>
                  </a:lnTo>
                  <a:lnTo>
                    <a:pt x="2507538" y="97790"/>
                  </a:lnTo>
                  <a:lnTo>
                    <a:pt x="2506357" y="86360"/>
                  </a:lnTo>
                  <a:lnTo>
                    <a:pt x="2495842" y="81280"/>
                  </a:lnTo>
                  <a:lnTo>
                    <a:pt x="2490355" y="74930"/>
                  </a:lnTo>
                  <a:lnTo>
                    <a:pt x="2485910" y="63500"/>
                  </a:lnTo>
                  <a:lnTo>
                    <a:pt x="2484424" y="59690"/>
                  </a:lnTo>
                  <a:lnTo>
                    <a:pt x="2482342" y="63500"/>
                  </a:lnTo>
                  <a:lnTo>
                    <a:pt x="2478798" y="59690"/>
                  </a:lnTo>
                  <a:lnTo>
                    <a:pt x="2475268" y="54610"/>
                  </a:lnTo>
                  <a:lnTo>
                    <a:pt x="2473172" y="54610"/>
                  </a:lnTo>
                  <a:lnTo>
                    <a:pt x="2473172" y="49530"/>
                  </a:lnTo>
                  <a:lnTo>
                    <a:pt x="2472575" y="46990"/>
                  </a:lnTo>
                  <a:lnTo>
                    <a:pt x="2465273" y="34290"/>
                  </a:lnTo>
                  <a:lnTo>
                    <a:pt x="2456802" y="19050"/>
                  </a:lnTo>
                  <a:lnTo>
                    <a:pt x="2448661" y="7620"/>
                  </a:lnTo>
                  <a:lnTo>
                    <a:pt x="2442362" y="0"/>
                  </a:lnTo>
                  <a:lnTo>
                    <a:pt x="2443061" y="2540"/>
                  </a:lnTo>
                  <a:lnTo>
                    <a:pt x="2444877" y="10160"/>
                  </a:lnTo>
                  <a:lnTo>
                    <a:pt x="2447366" y="20320"/>
                  </a:lnTo>
                  <a:lnTo>
                    <a:pt x="2450058" y="34290"/>
                  </a:lnTo>
                  <a:lnTo>
                    <a:pt x="2453221" y="48260"/>
                  </a:lnTo>
                  <a:lnTo>
                    <a:pt x="2458643" y="73660"/>
                  </a:lnTo>
                  <a:lnTo>
                    <a:pt x="2460142" y="83820"/>
                  </a:lnTo>
                  <a:lnTo>
                    <a:pt x="2455583" y="73660"/>
                  </a:lnTo>
                  <a:lnTo>
                    <a:pt x="2454808" y="73660"/>
                  </a:lnTo>
                  <a:lnTo>
                    <a:pt x="2455799" y="77470"/>
                  </a:lnTo>
                  <a:lnTo>
                    <a:pt x="2456472" y="82943"/>
                  </a:lnTo>
                  <a:lnTo>
                    <a:pt x="2455392" y="82715"/>
                  </a:lnTo>
                  <a:lnTo>
                    <a:pt x="2457767" y="85674"/>
                  </a:lnTo>
                  <a:lnTo>
                    <a:pt x="2458364" y="85090"/>
                  </a:lnTo>
                  <a:lnTo>
                    <a:pt x="2458364" y="83820"/>
                  </a:lnTo>
                  <a:lnTo>
                    <a:pt x="2458948" y="83820"/>
                  </a:lnTo>
                  <a:lnTo>
                    <a:pt x="2464282" y="97790"/>
                  </a:lnTo>
                  <a:lnTo>
                    <a:pt x="2460726" y="99060"/>
                  </a:lnTo>
                  <a:lnTo>
                    <a:pt x="2461920" y="104140"/>
                  </a:lnTo>
                  <a:lnTo>
                    <a:pt x="2462504" y="102870"/>
                  </a:lnTo>
                  <a:lnTo>
                    <a:pt x="2463101" y="104140"/>
                  </a:lnTo>
                  <a:lnTo>
                    <a:pt x="2463685" y="104140"/>
                  </a:lnTo>
                  <a:lnTo>
                    <a:pt x="2464282" y="102870"/>
                  </a:lnTo>
                  <a:lnTo>
                    <a:pt x="2465463" y="102870"/>
                  </a:lnTo>
                  <a:lnTo>
                    <a:pt x="2466441" y="104965"/>
                  </a:lnTo>
                  <a:lnTo>
                    <a:pt x="2466060" y="104584"/>
                  </a:lnTo>
                  <a:lnTo>
                    <a:pt x="2465463" y="105168"/>
                  </a:lnTo>
                  <a:lnTo>
                    <a:pt x="2465463" y="105765"/>
                  </a:lnTo>
                  <a:lnTo>
                    <a:pt x="2467216" y="106654"/>
                  </a:lnTo>
                  <a:lnTo>
                    <a:pt x="2466657" y="106680"/>
                  </a:lnTo>
                  <a:lnTo>
                    <a:pt x="2470213" y="110490"/>
                  </a:lnTo>
                  <a:lnTo>
                    <a:pt x="2474353" y="120650"/>
                  </a:lnTo>
                  <a:lnTo>
                    <a:pt x="2476728" y="124460"/>
                  </a:lnTo>
                  <a:lnTo>
                    <a:pt x="2473769" y="127000"/>
                  </a:lnTo>
                  <a:lnTo>
                    <a:pt x="2477973" y="130810"/>
                  </a:lnTo>
                  <a:lnTo>
                    <a:pt x="2496896" y="176530"/>
                  </a:lnTo>
                  <a:lnTo>
                    <a:pt x="2501315" y="189230"/>
                  </a:lnTo>
                  <a:lnTo>
                    <a:pt x="2505303" y="199390"/>
                  </a:lnTo>
                  <a:lnTo>
                    <a:pt x="2508720" y="205740"/>
                  </a:lnTo>
                  <a:lnTo>
                    <a:pt x="2513469" y="215900"/>
                  </a:lnTo>
                  <a:lnTo>
                    <a:pt x="2520505" y="226060"/>
                  </a:lnTo>
                  <a:lnTo>
                    <a:pt x="2528303" y="236220"/>
                  </a:lnTo>
                  <a:lnTo>
                    <a:pt x="2535390" y="247650"/>
                  </a:lnTo>
                  <a:lnTo>
                    <a:pt x="2542540" y="260350"/>
                  </a:lnTo>
                  <a:lnTo>
                    <a:pt x="2543683" y="266700"/>
                  </a:lnTo>
                  <a:lnTo>
                    <a:pt x="2543048" y="269240"/>
                  </a:lnTo>
                  <a:lnTo>
                    <a:pt x="2544864" y="276860"/>
                  </a:lnTo>
                  <a:lnTo>
                    <a:pt x="2548877" y="281940"/>
                  </a:lnTo>
                  <a:lnTo>
                    <a:pt x="2549385" y="280670"/>
                  </a:lnTo>
                  <a:lnTo>
                    <a:pt x="2549296" y="279400"/>
                  </a:lnTo>
                  <a:lnTo>
                    <a:pt x="2549118" y="276860"/>
                  </a:lnTo>
                  <a:lnTo>
                    <a:pt x="2550795" y="276860"/>
                  </a:lnTo>
                  <a:lnTo>
                    <a:pt x="2553157" y="281940"/>
                  </a:lnTo>
                  <a:lnTo>
                    <a:pt x="2554935" y="287020"/>
                  </a:lnTo>
                  <a:lnTo>
                    <a:pt x="2557310" y="292100"/>
                  </a:lnTo>
                  <a:lnTo>
                    <a:pt x="2559088" y="297180"/>
                  </a:lnTo>
                  <a:lnTo>
                    <a:pt x="2551379" y="287020"/>
                  </a:lnTo>
                  <a:lnTo>
                    <a:pt x="2553754" y="294640"/>
                  </a:lnTo>
                  <a:lnTo>
                    <a:pt x="2553754" y="295681"/>
                  </a:lnTo>
                  <a:lnTo>
                    <a:pt x="2552573" y="294259"/>
                  </a:lnTo>
                  <a:lnTo>
                    <a:pt x="2550198" y="291299"/>
                  </a:lnTo>
                  <a:lnTo>
                    <a:pt x="2548420" y="289521"/>
                  </a:lnTo>
                  <a:lnTo>
                    <a:pt x="2554935" y="300164"/>
                  </a:lnTo>
                  <a:lnTo>
                    <a:pt x="2555532" y="300164"/>
                  </a:lnTo>
                  <a:lnTo>
                    <a:pt x="2555532" y="299389"/>
                  </a:lnTo>
                  <a:lnTo>
                    <a:pt x="2557843" y="302260"/>
                  </a:lnTo>
                  <a:lnTo>
                    <a:pt x="2562047" y="309880"/>
                  </a:lnTo>
                  <a:lnTo>
                    <a:pt x="2570340" y="323850"/>
                  </a:lnTo>
                  <a:lnTo>
                    <a:pt x="2576271" y="332740"/>
                  </a:lnTo>
                  <a:lnTo>
                    <a:pt x="2581605" y="339090"/>
                  </a:lnTo>
                  <a:lnTo>
                    <a:pt x="2586342" y="339090"/>
                  </a:lnTo>
                  <a:lnTo>
                    <a:pt x="2593708" y="353060"/>
                  </a:lnTo>
                  <a:lnTo>
                    <a:pt x="2597670" y="360680"/>
                  </a:lnTo>
                  <a:lnTo>
                    <a:pt x="2600426" y="367030"/>
                  </a:lnTo>
                  <a:lnTo>
                    <a:pt x="2604122" y="372110"/>
                  </a:lnTo>
                  <a:lnTo>
                    <a:pt x="2602928" y="368300"/>
                  </a:lnTo>
                  <a:lnTo>
                    <a:pt x="2599385" y="361950"/>
                  </a:lnTo>
                  <a:lnTo>
                    <a:pt x="2599969" y="360680"/>
                  </a:lnTo>
                  <a:lnTo>
                    <a:pt x="2604122" y="370840"/>
                  </a:lnTo>
                  <a:lnTo>
                    <a:pt x="2603995" y="369570"/>
                  </a:lnTo>
                  <a:lnTo>
                    <a:pt x="2603881" y="368300"/>
                  </a:lnTo>
                  <a:lnTo>
                    <a:pt x="2603766" y="367030"/>
                  </a:lnTo>
                  <a:lnTo>
                    <a:pt x="2603639" y="365760"/>
                  </a:lnTo>
                  <a:lnTo>
                    <a:pt x="2603525" y="364490"/>
                  </a:lnTo>
                  <a:lnTo>
                    <a:pt x="2601747" y="360680"/>
                  </a:lnTo>
                  <a:lnTo>
                    <a:pt x="2603525" y="361950"/>
                  </a:lnTo>
                  <a:lnTo>
                    <a:pt x="2608262" y="367030"/>
                  </a:lnTo>
                  <a:lnTo>
                    <a:pt x="2608859" y="369570"/>
                  </a:lnTo>
                  <a:lnTo>
                    <a:pt x="2610637" y="370840"/>
                  </a:lnTo>
                  <a:lnTo>
                    <a:pt x="2611234" y="372110"/>
                  </a:lnTo>
                  <a:lnTo>
                    <a:pt x="2612415" y="373380"/>
                  </a:lnTo>
                  <a:lnTo>
                    <a:pt x="2614790" y="378460"/>
                  </a:lnTo>
                  <a:lnTo>
                    <a:pt x="2617152" y="382270"/>
                  </a:lnTo>
                  <a:lnTo>
                    <a:pt x="2618333" y="386080"/>
                  </a:lnTo>
                  <a:lnTo>
                    <a:pt x="2621305" y="393700"/>
                  </a:lnTo>
                  <a:lnTo>
                    <a:pt x="2621889" y="397510"/>
                  </a:lnTo>
                  <a:lnTo>
                    <a:pt x="2628417" y="398780"/>
                  </a:lnTo>
                  <a:lnTo>
                    <a:pt x="2626042" y="398780"/>
                  </a:lnTo>
                  <a:lnTo>
                    <a:pt x="2630779" y="400050"/>
                  </a:lnTo>
                  <a:lnTo>
                    <a:pt x="2635516" y="400050"/>
                  </a:lnTo>
                  <a:lnTo>
                    <a:pt x="2643822" y="402590"/>
                  </a:lnTo>
                  <a:lnTo>
                    <a:pt x="2647378" y="403860"/>
                  </a:lnTo>
                  <a:lnTo>
                    <a:pt x="2652699" y="407670"/>
                  </a:lnTo>
                  <a:lnTo>
                    <a:pt x="2651518" y="408940"/>
                  </a:lnTo>
                  <a:lnTo>
                    <a:pt x="2661005" y="416560"/>
                  </a:lnTo>
                  <a:lnTo>
                    <a:pt x="2661005" y="417830"/>
                  </a:lnTo>
                  <a:lnTo>
                    <a:pt x="2656255" y="415290"/>
                  </a:lnTo>
                  <a:lnTo>
                    <a:pt x="2655074" y="415290"/>
                  </a:lnTo>
                  <a:lnTo>
                    <a:pt x="2662186" y="421640"/>
                  </a:lnTo>
                  <a:lnTo>
                    <a:pt x="2667520" y="426720"/>
                  </a:lnTo>
                  <a:lnTo>
                    <a:pt x="2671661" y="431800"/>
                  </a:lnTo>
                  <a:lnTo>
                    <a:pt x="2675217" y="434340"/>
                  </a:lnTo>
                  <a:lnTo>
                    <a:pt x="2668701" y="431800"/>
                  </a:lnTo>
                  <a:lnTo>
                    <a:pt x="2662186" y="431800"/>
                  </a:lnTo>
                  <a:lnTo>
                    <a:pt x="2659227" y="430530"/>
                  </a:lnTo>
                  <a:lnTo>
                    <a:pt x="2655671" y="430530"/>
                  </a:lnTo>
                  <a:lnTo>
                    <a:pt x="2662923" y="433070"/>
                  </a:lnTo>
                  <a:lnTo>
                    <a:pt x="2670670" y="436880"/>
                  </a:lnTo>
                  <a:lnTo>
                    <a:pt x="2679966" y="440690"/>
                  </a:lnTo>
                  <a:lnTo>
                    <a:pt x="2689720" y="443230"/>
                  </a:lnTo>
                  <a:lnTo>
                    <a:pt x="2697873" y="446874"/>
                  </a:lnTo>
                  <a:lnTo>
                    <a:pt x="2697657" y="446874"/>
                  </a:lnTo>
                  <a:lnTo>
                    <a:pt x="2698902" y="447268"/>
                  </a:lnTo>
                  <a:lnTo>
                    <a:pt x="2697518" y="446874"/>
                  </a:lnTo>
                  <a:lnTo>
                    <a:pt x="2677388" y="443230"/>
                  </a:lnTo>
                  <a:lnTo>
                    <a:pt x="2666923" y="440690"/>
                  </a:lnTo>
                  <a:lnTo>
                    <a:pt x="2655671" y="438150"/>
                  </a:lnTo>
                  <a:lnTo>
                    <a:pt x="2647962" y="436880"/>
                  </a:lnTo>
                  <a:lnTo>
                    <a:pt x="2650921" y="440690"/>
                  </a:lnTo>
                  <a:lnTo>
                    <a:pt x="2646781" y="438150"/>
                  </a:lnTo>
                  <a:lnTo>
                    <a:pt x="2642628" y="436880"/>
                  </a:lnTo>
                  <a:lnTo>
                    <a:pt x="2639072" y="435610"/>
                  </a:lnTo>
                  <a:lnTo>
                    <a:pt x="2634932" y="434340"/>
                  </a:lnTo>
                  <a:lnTo>
                    <a:pt x="2620708" y="430530"/>
                  </a:lnTo>
                  <a:lnTo>
                    <a:pt x="2617749" y="429260"/>
                  </a:lnTo>
                  <a:lnTo>
                    <a:pt x="2614790" y="429260"/>
                  </a:lnTo>
                  <a:lnTo>
                    <a:pt x="2613596" y="430530"/>
                  </a:lnTo>
                  <a:lnTo>
                    <a:pt x="2613012" y="433070"/>
                  </a:lnTo>
                  <a:lnTo>
                    <a:pt x="2614790" y="435610"/>
                  </a:lnTo>
                  <a:lnTo>
                    <a:pt x="2608262" y="433070"/>
                  </a:lnTo>
                  <a:lnTo>
                    <a:pt x="2598940" y="429260"/>
                  </a:lnTo>
                  <a:lnTo>
                    <a:pt x="2595829" y="427990"/>
                  </a:lnTo>
                  <a:lnTo>
                    <a:pt x="2592857" y="426720"/>
                  </a:lnTo>
                  <a:lnTo>
                    <a:pt x="2604122" y="426720"/>
                  </a:lnTo>
                  <a:lnTo>
                    <a:pt x="2597607" y="425450"/>
                  </a:lnTo>
                  <a:lnTo>
                    <a:pt x="2589301" y="422910"/>
                  </a:lnTo>
                  <a:lnTo>
                    <a:pt x="2587523" y="421640"/>
                  </a:lnTo>
                  <a:lnTo>
                    <a:pt x="2585745" y="420370"/>
                  </a:lnTo>
                  <a:lnTo>
                    <a:pt x="2582202" y="419100"/>
                  </a:lnTo>
                  <a:lnTo>
                    <a:pt x="2579230" y="416979"/>
                  </a:lnTo>
                  <a:lnTo>
                    <a:pt x="2579230" y="417830"/>
                  </a:lnTo>
                  <a:lnTo>
                    <a:pt x="2578646" y="417830"/>
                  </a:lnTo>
                  <a:lnTo>
                    <a:pt x="2578646" y="418934"/>
                  </a:lnTo>
                  <a:lnTo>
                    <a:pt x="2576271" y="418934"/>
                  </a:lnTo>
                  <a:lnTo>
                    <a:pt x="2575090" y="418338"/>
                  </a:lnTo>
                  <a:lnTo>
                    <a:pt x="2570340" y="417741"/>
                  </a:lnTo>
                  <a:lnTo>
                    <a:pt x="2565019" y="417741"/>
                  </a:lnTo>
                  <a:lnTo>
                    <a:pt x="2558491" y="417156"/>
                  </a:lnTo>
                  <a:lnTo>
                    <a:pt x="2557310" y="420700"/>
                  </a:lnTo>
                  <a:lnTo>
                    <a:pt x="2575674" y="420700"/>
                  </a:lnTo>
                  <a:lnTo>
                    <a:pt x="2575674" y="421640"/>
                  </a:lnTo>
                  <a:lnTo>
                    <a:pt x="2557907" y="421640"/>
                  </a:lnTo>
                  <a:lnTo>
                    <a:pt x="2544965" y="420370"/>
                  </a:lnTo>
                  <a:lnTo>
                    <a:pt x="2531681" y="420370"/>
                  </a:lnTo>
                  <a:lnTo>
                    <a:pt x="2516403" y="419100"/>
                  </a:lnTo>
                  <a:lnTo>
                    <a:pt x="2497467" y="415290"/>
                  </a:lnTo>
                  <a:lnTo>
                    <a:pt x="2489758" y="420370"/>
                  </a:lnTo>
                  <a:lnTo>
                    <a:pt x="2468435" y="415290"/>
                  </a:lnTo>
                  <a:lnTo>
                    <a:pt x="2468435" y="410210"/>
                  </a:lnTo>
                  <a:lnTo>
                    <a:pt x="2487053" y="411480"/>
                  </a:lnTo>
                  <a:lnTo>
                    <a:pt x="2509837" y="412750"/>
                  </a:lnTo>
                  <a:lnTo>
                    <a:pt x="2533840" y="412750"/>
                  </a:lnTo>
                  <a:lnTo>
                    <a:pt x="2556129" y="414020"/>
                  </a:lnTo>
                  <a:lnTo>
                    <a:pt x="2556713" y="411480"/>
                  </a:lnTo>
                  <a:lnTo>
                    <a:pt x="2520975" y="411480"/>
                  </a:lnTo>
                  <a:lnTo>
                    <a:pt x="2511691" y="410210"/>
                  </a:lnTo>
                  <a:lnTo>
                    <a:pt x="2506802" y="408940"/>
                  </a:lnTo>
                  <a:lnTo>
                    <a:pt x="2501989" y="406400"/>
                  </a:lnTo>
                  <a:lnTo>
                    <a:pt x="2500960" y="405130"/>
                  </a:lnTo>
                  <a:lnTo>
                    <a:pt x="2499931" y="403860"/>
                  </a:lnTo>
                  <a:lnTo>
                    <a:pt x="2503386" y="401320"/>
                  </a:lnTo>
                  <a:lnTo>
                    <a:pt x="2493314" y="405130"/>
                  </a:lnTo>
                  <a:lnTo>
                    <a:pt x="2461539" y="403860"/>
                  </a:lnTo>
                  <a:lnTo>
                    <a:pt x="2439466" y="402590"/>
                  </a:lnTo>
                  <a:lnTo>
                    <a:pt x="2417076" y="400050"/>
                  </a:lnTo>
                  <a:lnTo>
                    <a:pt x="2400681" y="397510"/>
                  </a:lnTo>
                  <a:lnTo>
                    <a:pt x="2384298" y="394970"/>
                  </a:lnTo>
                  <a:lnTo>
                    <a:pt x="2389035" y="397510"/>
                  </a:lnTo>
                  <a:lnTo>
                    <a:pt x="2373261" y="397510"/>
                  </a:lnTo>
                  <a:lnTo>
                    <a:pt x="2367457" y="396240"/>
                  </a:lnTo>
                  <a:lnTo>
                    <a:pt x="2364143" y="394970"/>
                  </a:lnTo>
                  <a:lnTo>
                    <a:pt x="2339175" y="392430"/>
                  </a:lnTo>
                  <a:lnTo>
                    <a:pt x="2314968" y="388620"/>
                  </a:lnTo>
                  <a:lnTo>
                    <a:pt x="2292985" y="384810"/>
                  </a:lnTo>
                  <a:lnTo>
                    <a:pt x="2274671" y="379730"/>
                  </a:lnTo>
                  <a:lnTo>
                    <a:pt x="2269350" y="384810"/>
                  </a:lnTo>
                  <a:lnTo>
                    <a:pt x="2263597" y="383540"/>
                  </a:lnTo>
                  <a:lnTo>
                    <a:pt x="2257564" y="381000"/>
                  </a:lnTo>
                  <a:lnTo>
                    <a:pt x="2252091" y="381000"/>
                  </a:lnTo>
                  <a:lnTo>
                    <a:pt x="2248014" y="383540"/>
                  </a:lnTo>
                  <a:lnTo>
                    <a:pt x="2232609" y="384810"/>
                  </a:lnTo>
                  <a:lnTo>
                    <a:pt x="2213279" y="384810"/>
                  </a:lnTo>
                  <a:lnTo>
                    <a:pt x="2205939" y="383540"/>
                  </a:lnTo>
                  <a:lnTo>
                    <a:pt x="2205355" y="383540"/>
                  </a:lnTo>
                  <a:lnTo>
                    <a:pt x="2204758" y="382270"/>
                  </a:lnTo>
                  <a:lnTo>
                    <a:pt x="2204174" y="382270"/>
                  </a:lnTo>
                  <a:lnTo>
                    <a:pt x="2204174" y="383540"/>
                  </a:lnTo>
                  <a:lnTo>
                    <a:pt x="2194534" y="382270"/>
                  </a:lnTo>
                  <a:lnTo>
                    <a:pt x="2192832" y="383540"/>
                  </a:lnTo>
                  <a:lnTo>
                    <a:pt x="2190585" y="384810"/>
                  </a:lnTo>
                  <a:lnTo>
                    <a:pt x="2179282" y="383540"/>
                  </a:lnTo>
                  <a:lnTo>
                    <a:pt x="2174367" y="383540"/>
                  </a:lnTo>
                  <a:lnTo>
                    <a:pt x="2165197" y="388620"/>
                  </a:lnTo>
                  <a:lnTo>
                    <a:pt x="2157946" y="388620"/>
                  </a:lnTo>
                  <a:lnTo>
                    <a:pt x="2152027" y="384810"/>
                  </a:lnTo>
                  <a:lnTo>
                    <a:pt x="2146096" y="381000"/>
                  </a:lnTo>
                  <a:lnTo>
                    <a:pt x="2132279" y="378460"/>
                  </a:lnTo>
                  <a:lnTo>
                    <a:pt x="2120849" y="379730"/>
                  </a:lnTo>
                  <a:lnTo>
                    <a:pt x="2107527" y="381000"/>
                  </a:lnTo>
                  <a:lnTo>
                    <a:pt x="2088032" y="381000"/>
                  </a:lnTo>
                  <a:lnTo>
                    <a:pt x="2078177" y="378460"/>
                  </a:lnTo>
                  <a:lnTo>
                    <a:pt x="2072335" y="373380"/>
                  </a:lnTo>
                  <a:lnTo>
                    <a:pt x="2072005" y="372110"/>
                  </a:lnTo>
                  <a:lnTo>
                    <a:pt x="2071370" y="369570"/>
                  </a:lnTo>
                  <a:lnTo>
                    <a:pt x="2076183" y="364490"/>
                  </a:lnTo>
                  <a:lnTo>
                    <a:pt x="2068868" y="368300"/>
                  </a:lnTo>
                  <a:lnTo>
                    <a:pt x="2065223" y="370840"/>
                  </a:lnTo>
                  <a:lnTo>
                    <a:pt x="2060689" y="370840"/>
                  </a:lnTo>
                  <a:lnTo>
                    <a:pt x="2050707" y="372110"/>
                  </a:lnTo>
                  <a:lnTo>
                    <a:pt x="2047748" y="369570"/>
                  </a:lnTo>
                  <a:lnTo>
                    <a:pt x="2050110" y="368300"/>
                  </a:lnTo>
                  <a:lnTo>
                    <a:pt x="2054263" y="365760"/>
                  </a:lnTo>
                  <a:lnTo>
                    <a:pt x="2045487" y="364490"/>
                  </a:lnTo>
                  <a:lnTo>
                    <a:pt x="2041448" y="365760"/>
                  </a:lnTo>
                  <a:lnTo>
                    <a:pt x="2038184" y="367030"/>
                  </a:lnTo>
                  <a:lnTo>
                    <a:pt x="2035797" y="367030"/>
                  </a:lnTo>
                  <a:lnTo>
                    <a:pt x="2031746" y="367030"/>
                  </a:lnTo>
                  <a:lnTo>
                    <a:pt x="2027593" y="373380"/>
                  </a:lnTo>
                  <a:lnTo>
                    <a:pt x="2023452" y="382270"/>
                  </a:lnTo>
                  <a:lnTo>
                    <a:pt x="2019300" y="382270"/>
                  </a:lnTo>
                  <a:lnTo>
                    <a:pt x="2024037" y="383540"/>
                  </a:lnTo>
                  <a:lnTo>
                    <a:pt x="2013953" y="384810"/>
                  </a:lnTo>
                  <a:lnTo>
                    <a:pt x="1992210" y="384810"/>
                  </a:lnTo>
                  <a:lnTo>
                    <a:pt x="1980793" y="382270"/>
                  </a:lnTo>
                  <a:lnTo>
                    <a:pt x="1981377" y="379730"/>
                  </a:lnTo>
                  <a:lnTo>
                    <a:pt x="1967166" y="382270"/>
                  </a:lnTo>
                  <a:lnTo>
                    <a:pt x="1966861" y="381000"/>
                  </a:lnTo>
                  <a:lnTo>
                    <a:pt x="1966569" y="379730"/>
                  </a:lnTo>
                  <a:lnTo>
                    <a:pt x="1943455" y="379730"/>
                  </a:lnTo>
                  <a:lnTo>
                    <a:pt x="1946427" y="381000"/>
                  </a:lnTo>
                  <a:lnTo>
                    <a:pt x="1931314" y="381000"/>
                  </a:lnTo>
                  <a:lnTo>
                    <a:pt x="1921421" y="379730"/>
                  </a:lnTo>
                  <a:lnTo>
                    <a:pt x="1912645" y="378460"/>
                  </a:lnTo>
                  <a:lnTo>
                    <a:pt x="1913242" y="377190"/>
                  </a:lnTo>
                  <a:lnTo>
                    <a:pt x="1906320" y="375920"/>
                  </a:lnTo>
                  <a:lnTo>
                    <a:pt x="1892465" y="373380"/>
                  </a:lnTo>
                  <a:lnTo>
                    <a:pt x="1871916" y="373380"/>
                  </a:lnTo>
                  <a:lnTo>
                    <a:pt x="1826145" y="375920"/>
                  </a:lnTo>
                  <a:lnTo>
                    <a:pt x="1827720" y="374650"/>
                  </a:lnTo>
                  <a:lnTo>
                    <a:pt x="1830882" y="372110"/>
                  </a:lnTo>
                  <a:lnTo>
                    <a:pt x="1825358" y="370840"/>
                  </a:lnTo>
                  <a:lnTo>
                    <a:pt x="1820545" y="374650"/>
                  </a:lnTo>
                  <a:lnTo>
                    <a:pt x="1813699" y="374650"/>
                  </a:lnTo>
                  <a:lnTo>
                    <a:pt x="1813407" y="372110"/>
                  </a:lnTo>
                  <a:lnTo>
                    <a:pt x="1813102" y="369570"/>
                  </a:lnTo>
                  <a:lnTo>
                    <a:pt x="1805317" y="372110"/>
                  </a:lnTo>
                  <a:lnTo>
                    <a:pt x="1799704" y="370840"/>
                  </a:lnTo>
                  <a:lnTo>
                    <a:pt x="1794852" y="368300"/>
                  </a:lnTo>
                  <a:lnTo>
                    <a:pt x="1789404" y="364490"/>
                  </a:lnTo>
                  <a:lnTo>
                    <a:pt x="1792960" y="372110"/>
                  </a:lnTo>
                  <a:lnTo>
                    <a:pt x="1777555" y="369570"/>
                  </a:lnTo>
                  <a:lnTo>
                    <a:pt x="1773161" y="368300"/>
                  </a:lnTo>
                  <a:lnTo>
                    <a:pt x="1768767" y="367030"/>
                  </a:lnTo>
                  <a:lnTo>
                    <a:pt x="1766366" y="364490"/>
                  </a:lnTo>
                  <a:lnTo>
                    <a:pt x="1767217" y="361950"/>
                  </a:lnTo>
                  <a:lnTo>
                    <a:pt x="1767636" y="360680"/>
                  </a:lnTo>
                  <a:lnTo>
                    <a:pt x="1769846" y="356870"/>
                  </a:lnTo>
                  <a:lnTo>
                    <a:pt x="1757997" y="361950"/>
                  </a:lnTo>
                  <a:lnTo>
                    <a:pt x="1756816" y="359410"/>
                  </a:lnTo>
                  <a:lnTo>
                    <a:pt x="1755635" y="356870"/>
                  </a:lnTo>
                  <a:lnTo>
                    <a:pt x="1750339" y="359410"/>
                  </a:lnTo>
                  <a:lnTo>
                    <a:pt x="1746224" y="358140"/>
                  </a:lnTo>
                  <a:lnTo>
                    <a:pt x="1740877" y="356870"/>
                  </a:lnTo>
                  <a:lnTo>
                    <a:pt x="1731924" y="358140"/>
                  </a:lnTo>
                  <a:lnTo>
                    <a:pt x="1731340" y="356870"/>
                  </a:lnTo>
                  <a:lnTo>
                    <a:pt x="1730743" y="355600"/>
                  </a:lnTo>
                  <a:lnTo>
                    <a:pt x="1734896" y="354330"/>
                  </a:lnTo>
                  <a:lnTo>
                    <a:pt x="1729562" y="353060"/>
                  </a:lnTo>
                  <a:lnTo>
                    <a:pt x="1704086" y="360680"/>
                  </a:lnTo>
                  <a:lnTo>
                    <a:pt x="1719491" y="356870"/>
                  </a:lnTo>
                  <a:lnTo>
                    <a:pt x="1717116" y="365760"/>
                  </a:lnTo>
                  <a:lnTo>
                    <a:pt x="1706854" y="368300"/>
                  </a:lnTo>
                  <a:lnTo>
                    <a:pt x="1699044" y="367030"/>
                  </a:lnTo>
                  <a:lnTo>
                    <a:pt x="1692122" y="365760"/>
                  </a:lnTo>
                  <a:lnTo>
                    <a:pt x="1684528" y="365760"/>
                  </a:lnTo>
                  <a:lnTo>
                    <a:pt x="1688376" y="364490"/>
                  </a:lnTo>
                  <a:lnTo>
                    <a:pt x="1692236" y="363220"/>
                  </a:lnTo>
                  <a:lnTo>
                    <a:pt x="1681353" y="363220"/>
                  </a:lnTo>
                  <a:lnTo>
                    <a:pt x="1674533" y="361950"/>
                  </a:lnTo>
                  <a:lnTo>
                    <a:pt x="1669148" y="360680"/>
                  </a:lnTo>
                  <a:lnTo>
                    <a:pt x="1662607" y="358140"/>
                  </a:lnTo>
                  <a:lnTo>
                    <a:pt x="1665566" y="360680"/>
                  </a:lnTo>
                  <a:lnTo>
                    <a:pt x="1670304" y="363220"/>
                  </a:lnTo>
                  <a:lnTo>
                    <a:pt x="1663192" y="364490"/>
                  </a:lnTo>
                  <a:lnTo>
                    <a:pt x="1657870" y="364490"/>
                  </a:lnTo>
                  <a:lnTo>
                    <a:pt x="1660232" y="360680"/>
                  </a:lnTo>
                  <a:lnTo>
                    <a:pt x="1655495" y="359410"/>
                  </a:lnTo>
                  <a:lnTo>
                    <a:pt x="1652498" y="363220"/>
                  </a:lnTo>
                  <a:lnTo>
                    <a:pt x="1646161" y="365760"/>
                  </a:lnTo>
                  <a:lnTo>
                    <a:pt x="1637830" y="365760"/>
                  </a:lnTo>
                  <a:lnTo>
                    <a:pt x="1628825" y="364490"/>
                  </a:lnTo>
                  <a:lnTo>
                    <a:pt x="1629270" y="363537"/>
                  </a:lnTo>
                  <a:lnTo>
                    <a:pt x="1627060" y="364490"/>
                  </a:lnTo>
                  <a:lnTo>
                    <a:pt x="1625282" y="365760"/>
                  </a:lnTo>
                  <a:lnTo>
                    <a:pt x="1619948" y="364490"/>
                  </a:lnTo>
                  <a:lnTo>
                    <a:pt x="1620532" y="363220"/>
                  </a:lnTo>
                  <a:lnTo>
                    <a:pt x="1623504" y="356870"/>
                  </a:lnTo>
                  <a:lnTo>
                    <a:pt x="1613420" y="363220"/>
                  </a:lnTo>
                  <a:lnTo>
                    <a:pt x="1606905" y="361950"/>
                  </a:lnTo>
                  <a:lnTo>
                    <a:pt x="1596834" y="365760"/>
                  </a:lnTo>
                  <a:lnTo>
                    <a:pt x="1597431" y="361950"/>
                  </a:lnTo>
                  <a:lnTo>
                    <a:pt x="1601571" y="360680"/>
                  </a:lnTo>
                  <a:lnTo>
                    <a:pt x="1550619" y="356870"/>
                  </a:lnTo>
                  <a:lnTo>
                    <a:pt x="1550327" y="354330"/>
                  </a:lnTo>
                  <a:lnTo>
                    <a:pt x="1550022" y="351790"/>
                  </a:lnTo>
                  <a:lnTo>
                    <a:pt x="1543443" y="354330"/>
                  </a:lnTo>
                  <a:lnTo>
                    <a:pt x="1534248" y="353060"/>
                  </a:lnTo>
                  <a:lnTo>
                    <a:pt x="1526273" y="353060"/>
                  </a:lnTo>
                  <a:lnTo>
                    <a:pt x="1523365" y="356870"/>
                  </a:lnTo>
                  <a:lnTo>
                    <a:pt x="1513535" y="354330"/>
                  </a:lnTo>
                  <a:lnTo>
                    <a:pt x="1492529" y="354330"/>
                  </a:lnTo>
                  <a:lnTo>
                    <a:pt x="1491945" y="351790"/>
                  </a:lnTo>
                  <a:lnTo>
                    <a:pt x="1491361" y="349250"/>
                  </a:lnTo>
                  <a:lnTo>
                    <a:pt x="1468335" y="349250"/>
                  </a:lnTo>
                  <a:lnTo>
                    <a:pt x="1447520" y="351790"/>
                  </a:lnTo>
                  <a:lnTo>
                    <a:pt x="1425371" y="351790"/>
                  </a:lnTo>
                  <a:lnTo>
                    <a:pt x="1398346" y="350520"/>
                  </a:lnTo>
                  <a:lnTo>
                    <a:pt x="1390878" y="347980"/>
                  </a:lnTo>
                  <a:lnTo>
                    <a:pt x="1383423" y="345440"/>
                  </a:lnTo>
                  <a:lnTo>
                    <a:pt x="1362494" y="342900"/>
                  </a:lnTo>
                  <a:lnTo>
                    <a:pt x="1339354" y="342900"/>
                  </a:lnTo>
                  <a:lnTo>
                    <a:pt x="1317764" y="341630"/>
                  </a:lnTo>
                  <a:lnTo>
                    <a:pt x="1216774" y="345440"/>
                  </a:lnTo>
                  <a:lnTo>
                    <a:pt x="1180299" y="347980"/>
                  </a:lnTo>
                  <a:lnTo>
                    <a:pt x="1173772" y="346710"/>
                  </a:lnTo>
                  <a:lnTo>
                    <a:pt x="1160729" y="344170"/>
                  </a:lnTo>
                  <a:lnTo>
                    <a:pt x="1154201" y="342900"/>
                  </a:lnTo>
                  <a:lnTo>
                    <a:pt x="1124889" y="342900"/>
                  </a:lnTo>
                  <a:lnTo>
                    <a:pt x="1095133" y="344170"/>
                  </a:lnTo>
                  <a:lnTo>
                    <a:pt x="1067714" y="341630"/>
                  </a:lnTo>
                  <a:lnTo>
                    <a:pt x="1058240" y="346710"/>
                  </a:lnTo>
                  <a:lnTo>
                    <a:pt x="1051941" y="345440"/>
                  </a:lnTo>
                  <a:lnTo>
                    <a:pt x="1039342" y="342900"/>
                  </a:lnTo>
                  <a:lnTo>
                    <a:pt x="993571" y="342900"/>
                  </a:lnTo>
                  <a:lnTo>
                    <a:pt x="969352" y="339090"/>
                  </a:lnTo>
                  <a:lnTo>
                    <a:pt x="961656" y="340360"/>
                  </a:lnTo>
                  <a:lnTo>
                    <a:pt x="957503" y="341630"/>
                  </a:lnTo>
                  <a:lnTo>
                    <a:pt x="956919" y="341630"/>
                  </a:lnTo>
                  <a:lnTo>
                    <a:pt x="959281" y="342900"/>
                  </a:lnTo>
                  <a:lnTo>
                    <a:pt x="959878" y="345440"/>
                  </a:lnTo>
                  <a:lnTo>
                    <a:pt x="951890" y="344170"/>
                  </a:lnTo>
                  <a:lnTo>
                    <a:pt x="943063" y="344170"/>
                  </a:lnTo>
                  <a:lnTo>
                    <a:pt x="936129" y="342900"/>
                  </a:lnTo>
                  <a:lnTo>
                    <a:pt x="933805" y="339090"/>
                  </a:lnTo>
                  <a:lnTo>
                    <a:pt x="936180" y="339090"/>
                  </a:lnTo>
                  <a:lnTo>
                    <a:pt x="934212" y="337820"/>
                  </a:lnTo>
                  <a:lnTo>
                    <a:pt x="932256" y="336550"/>
                  </a:lnTo>
                  <a:lnTo>
                    <a:pt x="909091" y="337820"/>
                  </a:lnTo>
                  <a:lnTo>
                    <a:pt x="898842" y="336550"/>
                  </a:lnTo>
                  <a:lnTo>
                    <a:pt x="904176" y="342900"/>
                  </a:lnTo>
                  <a:lnTo>
                    <a:pt x="886993" y="341630"/>
                  </a:lnTo>
                  <a:lnTo>
                    <a:pt x="891743" y="340360"/>
                  </a:lnTo>
                  <a:lnTo>
                    <a:pt x="842289" y="344170"/>
                  </a:lnTo>
                  <a:lnTo>
                    <a:pt x="801001" y="342900"/>
                  </a:lnTo>
                  <a:lnTo>
                    <a:pt x="760501" y="340360"/>
                  </a:lnTo>
                  <a:lnTo>
                    <a:pt x="713384" y="344170"/>
                  </a:lnTo>
                  <a:lnTo>
                    <a:pt x="714311" y="342900"/>
                  </a:lnTo>
                  <a:lnTo>
                    <a:pt x="715238" y="341630"/>
                  </a:lnTo>
                  <a:lnTo>
                    <a:pt x="709980" y="342900"/>
                  </a:lnTo>
                  <a:lnTo>
                    <a:pt x="702729" y="342900"/>
                  </a:lnTo>
                  <a:lnTo>
                    <a:pt x="698576" y="340360"/>
                  </a:lnTo>
                  <a:lnTo>
                    <a:pt x="685749" y="336550"/>
                  </a:lnTo>
                  <a:lnTo>
                    <a:pt x="673760" y="337820"/>
                  </a:lnTo>
                  <a:lnTo>
                    <a:pt x="662330" y="341630"/>
                  </a:lnTo>
                  <a:lnTo>
                    <a:pt x="651179" y="344170"/>
                  </a:lnTo>
                  <a:lnTo>
                    <a:pt x="651179" y="345440"/>
                  </a:lnTo>
                  <a:lnTo>
                    <a:pt x="650582" y="345440"/>
                  </a:lnTo>
                  <a:lnTo>
                    <a:pt x="650582" y="344474"/>
                  </a:lnTo>
                  <a:lnTo>
                    <a:pt x="644652" y="344474"/>
                  </a:lnTo>
                  <a:lnTo>
                    <a:pt x="640664" y="344982"/>
                  </a:lnTo>
                  <a:lnTo>
                    <a:pt x="624509" y="344170"/>
                  </a:lnTo>
                  <a:lnTo>
                    <a:pt x="628357" y="341630"/>
                  </a:lnTo>
                  <a:lnTo>
                    <a:pt x="622884" y="344170"/>
                  </a:lnTo>
                  <a:lnTo>
                    <a:pt x="617181" y="346710"/>
                  </a:lnTo>
                  <a:lnTo>
                    <a:pt x="620356" y="344170"/>
                  </a:lnTo>
                  <a:lnTo>
                    <a:pt x="599516" y="342900"/>
                  </a:lnTo>
                  <a:lnTo>
                    <a:pt x="578662" y="341630"/>
                  </a:lnTo>
                  <a:lnTo>
                    <a:pt x="533488" y="340360"/>
                  </a:lnTo>
                  <a:lnTo>
                    <a:pt x="438772" y="340360"/>
                  </a:lnTo>
                  <a:lnTo>
                    <a:pt x="392239" y="339090"/>
                  </a:lnTo>
                  <a:lnTo>
                    <a:pt x="395795" y="341630"/>
                  </a:lnTo>
                  <a:lnTo>
                    <a:pt x="380555" y="341630"/>
                  </a:lnTo>
                  <a:lnTo>
                    <a:pt x="364985" y="342900"/>
                  </a:lnTo>
                  <a:lnTo>
                    <a:pt x="350304" y="341630"/>
                  </a:lnTo>
                  <a:lnTo>
                    <a:pt x="337731" y="340360"/>
                  </a:lnTo>
                  <a:lnTo>
                    <a:pt x="326390" y="339090"/>
                  </a:lnTo>
                  <a:lnTo>
                    <a:pt x="315442" y="341630"/>
                  </a:lnTo>
                  <a:lnTo>
                    <a:pt x="306146" y="345440"/>
                  </a:lnTo>
                  <a:lnTo>
                    <a:pt x="299808" y="346710"/>
                  </a:lnTo>
                  <a:lnTo>
                    <a:pt x="288264" y="347980"/>
                  </a:lnTo>
                  <a:lnTo>
                    <a:pt x="278993" y="346710"/>
                  </a:lnTo>
                  <a:lnTo>
                    <a:pt x="274066" y="344170"/>
                  </a:lnTo>
                  <a:lnTo>
                    <a:pt x="275513" y="342900"/>
                  </a:lnTo>
                  <a:lnTo>
                    <a:pt x="248932" y="347980"/>
                  </a:lnTo>
                  <a:lnTo>
                    <a:pt x="234276" y="350520"/>
                  </a:lnTo>
                  <a:lnTo>
                    <a:pt x="217449" y="350520"/>
                  </a:lnTo>
                  <a:lnTo>
                    <a:pt x="212128" y="349250"/>
                  </a:lnTo>
                  <a:lnTo>
                    <a:pt x="203301" y="349250"/>
                  </a:lnTo>
                  <a:lnTo>
                    <a:pt x="192366" y="350520"/>
                  </a:lnTo>
                  <a:lnTo>
                    <a:pt x="169227" y="355600"/>
                  </a:lnTo>
                  <a:lnTo>
                    <a:pt x="159461" y="358140"/>
                  </a:lnTo>
                  <a:lnTo>
                    <a:pt x="152463" y="358140"/>
                  </a:lnTo>
                  <a:lnTo>
                    <a:pt x="150888" y="356870"/>
                  </a:lnTo>
                  <a:lnTo>
                    <a:pt x="149313" y="355600"/>
                  </a:lnTo>
                  <a:lnTo>
                    <a:pt x="149313" y="356870"/>
                  </a:lnTo>
                  <a:lnTo>
                    <a:pt x="148958" y="356819"/>
                  </a:lnTo>
                  <a:lnTo>
                    <a:pt x="149313" y="355117"/>
                  </a:lnTo>
                  <a:lnTo>
                    <a:pt x="148488" y="356755"/>
                  </a:lnTo>
                  <a:lnTo>
                    <a:pt x="141008" y="355600"/>
                  </a:lnTo>
                  <a:lnTo>
                    <a:pt x="125603" y="358140"/>
                  </a:lnTo>
                  <a:lnTo>
                    <a:pt x="121462" y="358140"/>
                  </a:lnTo>
                  <a:lnTo>
                    <a:pt x="117906" y="359410"/>
                  </a:lnTo>
                  <a:lnTo>
                    <a:pt x="113753" y="360680"/>
                  </a:lnTo>
                  <a:lnTo>
                    <a:pt x="110197" y="361950"/>
                  </a:lnTo>
                  <a:lnTo>
                    <a:pt x="101904" y="364490"/>
                  </a:lnTo>
                  <a:lnTo>
                    <a:pt x="90322" y="367030"/>
                  </a:lnTo>
                  <a:lnTo>
                    <a:pt x="78498" y="370840"/>
                  </a:lnTo>
                  <a:lnTo>
                    <a:pt x="66243" y="373380"/>
                  </a:lnTo>
                  <a:lnTo>
                    <a:pt x="53975" y="375793"/>
                  </a:lnTo>
                  <a:lnTo>
                    <a:pt x="54508" y="374650"/>
                  </a:lnTo>
                  <a:lnTo>
                    <a:pt x="50952" y="377190"/>
                  </a:lnTo>
                  <a:lnTo>
                    <a:pt x="45021" y="382270"/>
                  </a:lnTo>
                  <a:lnTo>
                    <a:pt x="40716" y="386080"/>
                  </a:lnTo>
                  <a:lnTo>
                    <a:pt x="35915" y="389890"/>
                  </a:lnTo>
                  <a:lnTo>
                    <a:pt x="30772" y="394970"/>
                  </a:lnTo>
                  <a:lnTo>
                    <a:pt x="25476" y="398780"/>
                  </a:lnTo>
                  <a:lnTo>
                    <a:pt x="21920" y="402590"/>
                  </a:lnTo>
                  <a:lnTo>
                    <a:pt x="18961" y="406400"/>
                  </a:lnTo>
                  <a:lnTo>
                    <a:pt x="15405" y="408940"/>
                  </a:lnTo>
                  <a:lnTo>
                    <a:pt x="7099" y="417830"/>
                  </a:lnTo>
                  <a:lnTo>
                    <a:pt x="2959" y="424180"/>
                  </a:lnTo>
                  <a:lnTo>
                    <a:pt x="0" y="427990"/>
                  </a:lnTo>
                  <a:lnTo>
                    <a:pt x="15405" y="436880"/>
                  </a:lnTo>
                  <a:lnTo>
                    <a:pt x="29400" y="446874"/>
                  </a:lnTo>
                  <a:lnTo>
                    <a:pt x="50660" y="446874"/>
                  </a:lnTo>
                  <a:lnTo>
                    <a:pt x="58648" y="448310"/>
                  </a:lnTo>
                  <a:lnTo>
                    <a:pt x="72872" y="449580"/>
                  </a:lnTo>
                  <a:lnTo>
                    <a:pt x="78206" y="450850"/>
                  </a:lnTo>
                  <a:lnTo>
                    <a:pt x="83540" y="450850"/>
                  </a:lnTo>
                  <a:lnTo>
                    <a:pt x="86995" y="452081"/>
                  </a:lnTo>
                  <a:lnTo>
                    <a:pt x="87147" y="452081"/>
                  </a:lnTo>
                  <a:lnTo>
                    <a:pt x="88874" y="450850"/>
                  </a:lnTo>
                  <a:lnTo>
                    <a:pt x="93014" y="449580"/>
                  </a:lnTo>
                  <a:lnTo>
                    <a:pt x="102463" y="446874"/>
                  </a:lnTo>
                  <a:lnTo>
                    <a:pt x="102717" y="446874"/>
                  </a:lnTo>
                  <a:lnTo>
                    <a:pt x="108419" y="445770"/>
                  </a:lnTo>
                  <a:lnTo>
                    <a:pt x="118922" y="443230"/>
                  </a:lnTo>
                  <a:lnTo>
                    <a:pt x="130644" y="439420"/>
                  </a:lnTo>
                  <a:lnTo>
                    <a:pt x="143256" y="436880"/>
                  </a:lnTo>
                  <a:lnTo>
                    <a:pt x="163169" y="433070"/>
                  </a:lnTo>
                  <a:lnTo>
                    <a:pt x="169976" y="433070"/>
                  </a:lnTo>
                  <a:lnTo>
                    <a:pt x="183083" y="430530"/>
                  </a:lnTo>
                  <a:lnTo>
                    <a:pt x="191973" y="429260"/>
                  </a:lnTo>
                  <a:lnTo>
                    <a:pt x="199669" y="427990"/>
                  </a:lnTo>
                  <a:lnTo>
                    <a:pt x="221005" y="426720"/>
                  </a:lnTo>
                  <a:lnTo>
                    <a:pt x="230479" y="425450"/>
                  </a:lnTo>
                  <a:lnTo>
                    <a:pt x="238188" y="425450"/>
                  </a:lnTo>
                  <a:lnTo>
                    <a:pt x="249440" y="426720"/>
                  </a:lnTo>
                  <a:lnTo>
                    <a:pt x="258597" y="426720"/>
                  </a:lnTo>
                  <a:lnTo>
                    <a:pt x="280022" y="429260"/>
                  </a:lnTo>
                  <a:lnTo>
                    <a:pt x="353733" y="434340"/>
                  </a:lnTo>
                  <a:lnTo>
                    <a:pt x="506603" y="433070"/>
                  </a:lnTo>
                  <a:lnTo>
                    <a:pt x="659472" y="433070"/>
                  </a:lnTo>
                  <a:lnTo>
                    <a:pt x="681393" y="425450"/>
                  </a:lnTo>
                  <a:lnTo>
                    <a:pt x="729030" y="431800"/>
                  </a:lnTo>
                  <a:lnTo>
                    <a:pt x="832535" y="431800"/>
                  </a:lnTo>
                  <a:lnTo>
                    <a:pt x="882853" y="435610"/>
                  </a:lnTo>
                  <a:lnTo>
                    <a:pt x="884034" y="429260"/>
                  </a:lnTo>
                  <a:lnTo>
                    <a:pt x="902398" y="429260"/>
                  </a:lnTo>
                  <a:lnTo>
                    <a:pt x="901217" y="433070"/>
                  </a:lnTo>
                  <a:lnTo>
                    <a:pt x="905370" y="434340"/>
                  </a:lnTo>
                  <a:lnTo>
                    <a:pt x="1058570" y="434340"/>
                  </a:lnTo>
                  <a:lnTo>
                    <a:pt x="1109497" y="435610"/>
                  </a:lnTo>
                  <a:lnTo>
                    <a:pt x="1210132" y="435610"/>
                  </a:lnTo>
                  <a:lnTo>
                    <a:pt x="1259522" y="436880"/>
                  </a:lnTo>
                  <a:lnTo>
                    <a:pt x="1308049" y="439420"/>
                  </a:lnTo>
                  <a:lnTo>
                    <a:pt x="1355559" y="440690"/>
                  </a:lnTo>
                  <a:lnTo>
                    <a:pt x="1401902" y="444500"/>
                  </a:lnTo>
                  <a:lnTo>
                    <a:pt x="1416596" y="446874"/>
                  </a:lnTo>
                  <a:lnTo>
                    <a:pt x="1414970" y="446874"/>
                  </a:lnTo>
                  <a:lnTo>
                    <a:pt x="1458722" y="449580"/>
                  </a:lnTo>
                  <a:lnTo>
                    <a:pt x="1472222" y="452081"/>
                  </a:lnTo>
                  <a:lnTo>
                    <a:pt x="1472907" y="452081"/>
                  </a:lnTo>
                  <a:lnTo>
                    <a:pt x="1510106" y="449580"/>
                  </a:lnTo>
                  <a:lnTo>
                    <a:pt x="1548244" y="448310"/>
                  </a:lnTo>
                  <a:lnTo>
                    <a:pt x="1624088" y="450850"/>
                  </a:lnTo>
                  <a:lnTo>
                    <a:pt x="1646605" y="450850"/>
                  </a:lnTo>
                  <a:lnTo>
                    <a:pt x="1646605" y="452081"/>
                  </a:lnTo>
                  <a:lnTo>
                    <a:pt x="1668322" y="450850"/>
                  </a:lnTo>
                  <a:lnTo>
                    <a:pt x="1693176" y="452081"/>
                  </a:lnTo>
                  <a:lnTo>
                    <a:pt x="1693621" y="452081"/>
                  </a:lnTo>
                  <a:lnTo>
                    <a:pt x="1720507" y="455930"/>
                  </a:lnTo>
                  <a:lnTo>
                    <a:pt x="1747951" y="458647"/>
                  </a:lnTo>
                  <a:lnTo>
                    <a:pt x="1795310" y="461010"/>
                  </a:lnTo>
                  <a:lnTo>
                    <a:pt x="2044369" y="467360"/>
                  </a:lnTo>
                  <a:lnTo>
                    <a:pt x="2093798" y="469900"/>
                  </a:lnTo>
                  <a:lnTo>
                    <a:pt x="2143328" y="471170"/>
                  </a:lnTo>
                  <a:lnTo>
                    <a:pt x="2293645" y="482600"/>
                  </a:lnTo>
                  <a:lnTo>
                    <a:pt x="2326716" y="487680"/>
                  </a:lnTo>
                  <a:lnTo>
                    <a:pt x="2360968" y="490220"/>
                  </a:lnTo>
                  <a:lnTo>
                    <a:pt x="2432291" y="492760"/>
                  </a:lnTo>
                  <a:lnTo>
                    <a:pt x="2450604" y="494030"/>
                  </a:lnTo>
                  <a:lnTo>
                    <a:pt x="2469019" y="494030"/>
                  </a:lnTo>
                  <a:lnTo>
                    <a:pt x="2505760" y="496570"/>
                  </a:lnTo>
                  <a:lnTo>
                    <a:pt x="2515095" y="496570"/>
                  </a:lnTo>
                  <a:lnTo>
                    <a:pt x="2524429" y="497840"/>
                  </a:lnTo>
                  <a:lnTo>
                    <a:pt x="2533751" y="497840"/>
                  </a:lnTo>
                  <a:lnTo>
                    <a:pt x="2561463" y="501650"/>
                  </a:lnTo>
                  <a:lnTo>
                    <a:pt x="2570937" y="501650"/>
                  </a:lnTo>
                  <a:lnTo>
                    <a:pt x="2588120" y="504190"/>
                  </a:lnTo>
                  <a:lnTo>
                    <a:pt x="2601074" y="505460"/>
                  </a:lnTo>
                  <a:lnTo>
                    <a:pt x="2623743" y="508000"/>
                  </a:lnTo>
                  <a:lnTo>
                    <a:pt x="2654528" y="510540"/>
                  </a:lnTo>
                  <a:lnTo>
                    <a:pt x="2733484" y="515620"/>
                  </a:lnTo>
                  <a:lnTo>
                    <a:pt x="2750261" y="517055"/>
                  </a:lnTo>
                  <a:lnTo>
                    <a:pt x="2745143" y="521284"/>
                  </a:lnTo>
                  <a:lnTo>
                    <a:pt x="2745727" y="521284"/>
                  </a:lnTo>
                  <a:lnTo>
                    <a:pt x="2734475" y="523824"/>
                  </a:lnTo>
                  <a:lnTo>
                    <a:pt x="2736850" y="525094"/>
                  </a:lnTo>
                  <a:lnTo>
                    <a:pt x="2736253" y="527634"/>
                  </a:lnTo>
                  <a:lnTo>
                    <a:pt x="2735072" y="528904"/>
                  </a:lnTo>
                  <a:lnTo>
                    <a:pt x="2732697" y="526364"/>
                  </a:lnTo>
                  <a:lnTo>
                    <a:pt x="2727363" y="528904"/>
                  </a:lnTo>
                  <a:lnTo>
                    <a:pt x="2720848" y="531444"/>
                  </a:lnTo>
                  <a:lnTo>
                    <a:pt x="2713736" y="528904"/>
                  </a:lnTo>
                  <a:lnTo>
                    <a:pt x="2716695" y="533984"/>
                  </a:lnTo>
                  <a:lnTo>
                    <a:pt x="2715514" y="533984"/>
                  </a:lnTo>
                  <a:lnTo>
                    <a:pt x="2708999" y="528904"/>
                  </a:lnTo>
                  <a:lnTo>
                    <a:pt x="2713139" y="535254"/>
                  </a:lnTo>
                  <a:lnTo>
                    <a:pt x="2712555" y="539064"/>
                  </a:lnTo>
                  <a:lnTo>
                    <a:pt x="2710777" y="539064"/>
                  </a:lnTo>
                  <a:lnTo>
                    <a:pt x="2711958" y="542874"/>
                  </a:lnTo>
                  <a:lnTo>
                    <a:pt x="2708402" y="541604"/>
                  </a:lnTo>
                  <a:lnTo>
                    <a:pt x="2707805" y="541604"/>
                  </a:lnTo>
                  <a:lnTo>
                    <a:pt x="2708402" y="542874"/>
                  </a:lnTo>
                  <a:lnTo>
                    <a:pt x="2703665" y="542874"/>
                  </a:lnTo>
                  <a:lnTo>
                    <a:pt x="2711361" y="546684"/>
                  </a:lnTo>
                  <a:lnTo>
                    <a:pt x="2706027" y="546684"/>
                  </a:lnTo>
                  <a:lnTo>
                    <a:pt x="2702483" y="544144"/>
                  </a:lnTo>
                  <a:lnTo>
                    <a:pt x="2708999" y="553034"/>
                  </a:lnTo>
                  <a:lnTo>
                    <a:pt x="2706624" y="553034"/>
                  </a:lnTo>
                  <a:lnTo>
                    <a:pt x="2700109" y="549224"/>
                  </a:lnTo>
                  <a:lnTo>
                    <a:pt x="2694178" y="547954"/>
                  </a:lnTo>
                  <a:lnTo>
                    <a:pt x="2698331" y="554304"/>
                  </a:lnTo>
                  <a:lnTo>
                    <a:pt x="2694178" y="558114"/>
                  </a:lnTo>
                  <a:lnTo>
                    <a:pt x="2690037" y="558114"/>
                  </a:lnTo>
                  <a:lnTo>
                    <a:pt x="2688704" y="556844"/>
                  </a:lnTo>
                  <a:lnTo>
                    <a:pt x="2686037" y="554304"/>
                  </a:lnTo>
                  <a:lnTo>
                    <a:pt x="2684703" y="553034"/>
                  </a:lnTo>
                  <a:lnTo>
                    <a:pt x="2684703" y="554304"/>
                  </a:lnTo>
                  <a:lnTo>
                    <a:pt x="2684475" y="553694"/>
                  </a:lnTo>
                  <a:lnTo>
                    <a:pt x="2684411" y="554304"/>
                  </a:lnTo>
                  <a:lnTo>
                    <a:pt x="2684107" y="556844"/>
                  </a:lnTo>
                  <a:lnTo>
                    <a:pt x="2681744" y="555574"/>
                  </a:lnTo>
                  <a:lnTo>
                    <a:pt x="2681744" y="554304"/>
                  </a:lnTo>
                  <a:lnTo>
                    <a:pt x="2680551" y="551764"/>
                  </a:lnTo>
                  <a:lnTo>
                    <a:pt x="2675813" y="551764"/>
                  </a:lnTo>
                  <a:lnTo>
                    <a:pt x="2680551" y="555574"/>
                  </a:lnTo>
                  <a:lnTo>
                    <a:pt x="2678773" y="556844"/>
                  </a:lnTo>
                  <a:lnTo>
                    <a:pt x="2681744" y="560654"/>
                  </a:lnTo>
                  <a:lnTo>
                    <a:pt x="2687066" y="569544"/>
                  </a:lnTo>
                  <a:lnTo>
                    <a:pt x="2688259" y="569544"/>
                  </a:lnTo>
                  <a:lnTo>
                    <a:pt x="2688259" y="574624"/>
                  </a:lnTo>
                  <a:lnTo>
                    <a:pt x="2687066" y="577164"/>
                  </a:lnTo>
                  <a:lnTo>
                    <a:pt x="2683522" y="575894"/>
                  </a:lnTo>
                  <a:lnTo>
                    <a:pt x="2681744" y="573354"/>
                  </a:lnTo>
                  <a:lnTo>
                    <a:pt x="2680551" y="577164"/>
                  </a:lnTo>
                  <a:lnTo>
                    <a:pt x="2678188" y="574624"/>
                  </a:lnTo>
                  <a:lnTo>
                    <a:pt x="2675813" y="578434"/>
                  </a:lnTo>
                  <a:lnTo>
                    <a:pt x="2676995" y="578434"/>
                  </a:lnTo>
                  <a:lnTo>
                    <a:pt x="2676410" y="579704"/>
                  </a:lnTo>
                  <a:lnTo>
                    <a:pt x="2674632" y="582244"/>
                  </a:lnTo>
                  <a:lnTo>
                    <a:pt x="2672257" y="582244"/>
                  </a:lnTo>
                  <a:lnTo>
                    <a:pt x="2671076" y="579704"/>
                  </a:lnTo>
                  <a:lnTo>
                    <a:pt x="2662783" y="578434"/>
                  </a:lnTo>
                  <a:lnTo>
                    <a:pt x="2665145" y="587324"/>
                  </a:lnTo>
                  <a:lnTo>
                    <a:pt x="2661005" y="592404"/>
                  </a:lnTo>
                  <a:lnTo>
                    <a:pt x="2658630" y="588594"/>
                  </a:lnTo>
                  <a:lnTo>
                    <a:pt x="2654477" y="587324"/>
                  </a:lnTo>
                  <a:lnTo>
                    <a:pt x="2662186" y="593674"/>
                  </a:lnTo>
                  <a:lnTo>
                    <a:pt x="2659227" y="593674"/>
                  </a:lnTo>
                  <a:lnTo>
                    <a:pt x="2655671" y="589864"/>
                  </a:lnTo>
                  <a:lnTo>
                    <a:pt x="2658630" y="596214"/>
                  </a:lnTo>
                  <a:lnTo>
                    <a:pt x="2652699" y="591134"/>
                  </a:lnTo>
                  <a:lnTo>
                    <a:pt x="2649740" y="589864"/>
                  </a:lnTo>
                  <a:lnTo>
                    <a:pt x="2654477" y="594944"/>
                  </a:lnTo>
                  <a:lnTo>
                    <a:pt x="2651518" y="594944"/>
                  </a:lnTo>
                  <a:lnTo>
                    <a:pt x="2647962" y="596214"/>
                  </a:lnTo>
                  <a:lnTo>
                    <a:pt x="2646184" y="593674"/>
                  </a:lnTo>
                  <a:lnTo>
                    <a:pt x="2644406" y="591134"/>
                  </a:lnTo>
                  <a:lnTo>
                    <a:pt x="2642628" y="587324"/>
                  </a:lnTo>
                  <a:lnTo>
                    <a:pt x="2644406" y="593674"/>
                  </a:lnTo>
                  <a:lnTo>
                    <a:pt x="2640266" y="588594"/>
                  </a:lnTo>
                  <a:lnTo>
                    <a:pt x="2643822" y="594944"/>
                  </a:lnTo>
                  <a:lnTo>
                    <a:pt x="2642755" y="593674"/>
                  </a:lnTo>
                  <a:lnTo>
                    <a:pt x="2638488" y="588594"/>
                  </a:lnTo>
                  <a:lnTo>
                    <a:pt x="2638488" y="593674"/>
                  </a:lnTo>
                  <a:lnTo>
                    <a:pt x="2636710" y="592404"/>
                  </a:lnTo>
                  <a:lnTo>
                    <a:pt x="2636710" y="591134"/>
                  </a:lnTo>
                  <a:lnTo>
                    <a:pt x="2634932" y="591134"/>
                  </a:lnTo>
                  <a:lnTo>
                    <a:pt x="2637294" y="600024"/>
                  </a:lnTo>
                  <a:lnTo>
                    <a:pt x="2636710" y="594944"/>
                  </a:lnTo>
                  <a:lnTo>
                    <a:pt x="2642044" y="601294"/>
                  </a:lnTo>
                  <a:lnTo>
                    <a:pt x="2644406" y="607644"/>
                  </a:lnTo>
                  <a:lnTo>
                    <a:pt x="2642438" y="606374"/>
                  </a:lnTo>
                  <a:lnTo>
                    <a:pt x="2638488" y="603834"/>
                  </a:lnTo>
                  <a:lnTo>
                    <a:pt x="2638488" y="606374"/>
                  </a:lnTo>
                  <a:lnTo>
                    <a:pt x="2637891" y="603834"/>
                  </a:lnTo>
                  <a:lnTo>
                    <a:pt x="2636710" y="606374"/>
                  </a:lnTo>
                  <a:lnTo>
                    <a:pt x="2634335" y="603834"/>
                  </a:lnTo>
                  <a:lnTo>
                    <a:pt x="2631376" y="603834"/>
                  </a:lnTo>
                  <a:lnTo>
                    <a:pt x="2634932" y="606374"/>
                  </a:lnTo>
                  <a:lnTo>
                    <a:pt x="2634932" y="607644"/>
                  </a:lnTo>
                  <a:lnTo>
                    <a:pt x="2634335" y="608914"/>
                  </a:lnTo>
                  <a:lnTo>
                    <a:pt x="2632557" y="606374"/>
                  </a:lnTo>
                  <a:lnTo>
                    <a:pt x="2631376" y="606374"/>
                  </a:lnTo>
                  <a:lnTo>
                    <a:pt x="2634932" y="610184"/>
                  </a:lnTo>
                  <a:lnTo>
                    <a:pt x="2635516" y="613994"/>
                  </a:lnTo>
                  <a:lnTo>
                    <a:pt x="2630195" y="613994"/>
                  </a:lnTo>
                  <a:lnTo>
                    <a:pt x="2626639" y="608914"/>
                  </a:lnTo>
                  <a:lnTo>
                    <a:pt x="2629598" y="613994"/>
                  </a:lnTo>
                  <a:lnTo>
                    <a:pt x="2627820" y="613994"/>
                  </a:lnTo>
                  <a:lnTo>
                    <a:pt x="2629598" y="619074"/>
                  </a:lnTo>
                  <a:lnTo>
                    <a:pt x="2626639" y="615264"/>
                  </a:lnTo>
                  <a:lnTo>
                    <a:pt x="2626042" y="613994"/>
                  </a:lnTo>
                  <a:lnTo>
                    <a:pt x="2618333" y="619074"/>
                  </a:lnTo>
                  <a:lnTo>
                    <a:pt x="2614790" y="615264"/>
                  </a:lnTo>
                  <a:lnTo>
                    <a:pt x="2618930" y="621614"/>
                  </a:lnTo>
                  <a:lnTo>
                    <a:pt x="2609456" y="617804"/>
                  </a:lnTo>
                  <a:lnTo>
                    <a:pt x="2615374" y="622884"/>
                  </a:lnTo>
                  <a:lnTo>
                    <a:pt x="2610637" y="620344"/>
                  </a:lnTo>
                  <a:lnTo>
                    <a:pt x="2612415" y="630504"/>
                  </a:lnTo>
                  <a:lnTo>
                    <a:pt x="2606484" y="622884"/>
                  </a:lnTo>
                  <a:lnTo>
                    <a:pt x="2601747" y="626694"/>
                  </a:lnTo>
                  <a:lnTo>
                    <a:pt x="2605303" y="635584"/>
                  </a:lnTo>
                  <a:lnTo>
                    <a:pt x="2597010" y="636854"/>
                  </a:lnTo>
                  <a:lnTo>
                    <a:pt x="2589301" y="633044"/>
                  </a:lnTo>
                  <a:lnTo>
                    <a:pt x="2585745" y="639394"/>
                  </a:lnTo>
                  <a:lnTo>
                    <a:pt x="2582189" y="641934"/>
                  </a:lnTo>
                  <a:lnTo>
                    <a:pt x="2579357" y="648284"/>
                  </a:lnTo>
                  <a:lnTo>
                    <a:pt x="2576792" y="654634"/>
                  </a:lnTo>
                  <a:lnTo>
                    <a:pt x="2574112" y="659714"/>
                  </a:lnTo>
                  <a:lnTo>
                    <a:pt x="2570937" y="666064"/>
                  </a:lnTo>
                  <a:lnTo>
                    <a:pt x="2564434" y="667334"/>
                  </a:lnTo>
                  <a:lnTo>
                    <a:pt x="2561602" y="671144"/>
                  </a:lnTo>
                  <a:lnTo>
                    <a:pt x="2559443" y="676224"/>
                  </a:lnTo>
                  <a:lnTo>
                    <a:pt x="2554935" y="678764"/>
                  </a:lnTo>
                  <a:lnTo>
                    <a:pt x="2557310" y="682574"/>
                  </a:lnTo>
                  <a:lnTo>
                    <a:pt x="2549017" y="680034"/>
                  </a:lnTo>
                  <a:lnTo>
                    <a:pt x="2551379" y="691464"/>
                  </a:lnTo>
                  <a:lnTo>
                    <a:pt x="2542502" y="690194"/>
                  </a:lnTo>
                  <a:lnTo>
                    <a:pt x="2543086" y="692734"/>
                  </a:lnTo>
                  <a:lnTo>
                    <a:pt x="2543086" y="694004"/>
                  </a:lnTo>
                  <a:lnTo>
                    <a:pt x="2544280" y="694004"/>
                  </a:lnTo>
                  <a:lnTo>
                    <a:pt x="2546642" y="696544"/>
                  </a:lnTo>
                  <a:lnTo>
                    <a:pt x="2544280" y="696544"/>
                  </a:lnTo>
                  <a:lnTo>
                    <a:pt x="2543683" y="700354"/>
                  </a:lnTo>
                  <a:lnTo>
                    <a:pt x="2539530" y="696544"/>
                  </a:lnTo>
                  <a:lnTo>
                    <a:pt x="2535390" y="691464"/>
                  </a:lnTo>
                  <a:lnTo>
                    <a:pt x="2538349" y="701624"/>
                  </a:lnTo>
                  <a:lnTo>
                    <a:pt x="2533015" y="699084"/>
                  </a:lnTo>
                  <a:lnTo>
                    <a:pt x="2538349" y="702894"/>
                  </a:lnTo>
                  <a:lnTo>
                    <a:pt x="2535390" y="705434"/>
                  </a:lnTo>
                  <a:lnTo>
                    <a:pt x="2534793" y="704164"/>
                  </a:lnTo>
                  <a:lnTo>
                    <a:pt x="2532532" y="713054"/>
                  </a:lnTo>
                  <a:lnTo>
                    <a:pt x="2526500" y="718134"/>
                  </a:lnTo>
                  <a:lnTo>
                    <a:pt x="2520467" y="721944"/>
                  </a:lnTo>
                  <a:lnTo>
                    <a:pt x="2518206" y="732104"/>
                  </a:lnTo>
                  <a:lnTo>
                    <a:pt x="2516543" y="729564"/>
                  </a:lnTo>
                  <a:lnTo>
                    <a:pt x="2516505" y="730834"/>
                  </a:lnTo>
                  <a:lnTo>
                    <a:pt x="2516124" y="732104"/>
                  </a:lnTo>
                  <a:lnTo>
                    <a:pt x="2513457" y="730834"/>
                  </a:lnTo>
                  <a:lnTo>
                    <a:pt x="2504579" y="727024"/>
                  </a:lnTo>
                  <a:lnTo>
                    <a:pt x="2511094" y="737184"/>
                  </a:lnTo>
                  <a:lnTo>
                    <a:pt x="2511094" y="740994"/>
                  </a:lnTo>
                  <a:lnTo>
                    <a:pt x="2512276" y="742264"/>
                  </a:lnTo>
                  <a:lnTo>
                    <a:pt x="2508720" y="744804"/>
                  </a:lnTo>
                  <a:lnTo>
                    <a:pt x="2506967" y="742264"/>
                  </a:lnTo>
                  <a:lnTo>
                    <a:pt x="2507983" y="744804"/>
                  </a:lnTo>
                  <a:lnTo>
                    <a:pt x="2509228" y="747344"/>
                  </a:lnTo>
                  <a:lnTo>
                    <a:pt x="2508135" y="746074"/>
                  </a:lnTo>
                  <a:lnTo>
                    <a:pt x="2499677" y="751154"/>
                  </a:lnTo>
                  <a:lnTo>
                    <a:pt x="2492946" y="758774"/>
                  </a:lnTo>
                  <a:lnTo>
                    <a:pt x="2486545" y="767664"/>
                  </a:lnTo>
                  <a:lnTo>
                    <a:pt x="2479103" y="774014"/>
                  </a:lnTo>
                  <a:lnTo>
                    <a:pt x="2481465" y="775284"/>
                  </a:lnTo>
                  <a:lnTo>
                    <a:pt x="2479103" y="777824"/>
                  </a:lnTo>
                  <a:lnTo>
                    <a:pt x="2478506" y="782904"/>
                  </a:lnTo>
                  <a:lnTo>
                    <a:pt x="2469019" y="782904"/>
                  </a:lnTo>
                  <a:lnTo>
                    <a:pt x="2474950" y="790524"/>
                  </a:lnTo>
                  <a:lnTo>
                    <a:pt x="2474353" y="791794"/>
                  </a:lnTo>
                  <a:lnTo>
                    <a:pt x="2475547" y="796874"/>
                  </a:lnTo>
                  <a:lnTo>
                    <a:pt x="2468549" y="794575"/>
                  </a:lnTo>
                  <a:lnTo>
                    <a:pt x="2467838" y="796874"/>
                  </a:lnTo>
                  <a:lnTo>
                    <a:pt x="2472575" y="804494"/>
                  </a:lnTo>
                  <a:lnTo>
                    <a:pt x="2467241" y="805764"/>
                  </a:lnTo>
                  <a:lnTo>
                    <a:pt x="2463952" y="805764"/>
                  </a:lnTo>
                  <a:lnTo>
                    <a:pt x="2463101" y="809574"/>
                  </a:lnTo>
                  <a:lnTo>
                    <a:pt x="2462250" y="814654"/>
                  </a:lnTo>
                  <a:lnTo>
                    <a:pt x="2458948" y="813384"/>
                  </a:lnTo>
                  <a:lnTo>
                    <a:pt x="2459545" y="814654"/>
                  </a:lnTo>
                  <a:lnTo>
                    <a:pt x="2451252" y="814654"/>
                  </a:lnTo>
                  <a:lnTo>
                    <a:pt x="2456586" y="824814"/>
                  </a:lnTo>
                  <a:lnTo>
                    <a:pt x="2448356" y="826084"/>
                  </a:lnTo>
                  <a:lnTo>
                    <a:pt x="2447696" y="824814"/>
                  </a:lnTo>
                  <a:lnTo>
                    <a:pt x="2447696" y="826084"/>
                  </a:lnTo>
                  <a:lnTo>
                    <a:pt x="2448280" y="826084"/>
                  </a:lnTo>
                  <a:lnTo>
                    <a:pt x="2449728" y="828624"/>
                  </a:lnTo>
                  <a:lnTo>
                    <a:pt x="2461920" y="851484"/>
                  </a:lnTo>
                  <a:lnTo>
                    <a:pt x="2487980" y="866724"/>
                  </a:lnTo>
                  <a:lnTo>
                    <a:pt x="2513469" y="874344"/>
                  </a:lnTo>
                  <a:lnTo>
                    <a:pt x="2519388" y="861644"/>
                  </a:lnTo>
                  <a:lnTo>
                    <a:pt x="2522347" y="856564"/>
                  </a:lnTo>
                  <a:lnTo>
                    <a:pt x="2525903" y="850214"/>
                  </a:lnTo>
                  <a:lnTo>
                    <a:pt x="2546642" y="838784"/>
                  </a:lnTo>
                  <a:lnTo>
                    <a:pt x="2548420" y="836244"/>
                  </a:lnTo>
                  <a:lnTo>
                    <a:pt x="2554351" y="828624"/>
                  </a:lnTo>
                  <a:lnTo>
                    <a:pt x="2558491" y="823544"/>
                  </a:lnTo>
                  <a:lnTo>
                    <a:pt x="2562047" y="818464"/>
                  </a:lnTo>
                  <a:lnTo>
                    <a:pt x="2566200" y="813384"/>
                  </a:lnTo>
                  <a:lnTo>
                    <a:pt x="2569756" y="808304"/>
                  </a:lnTo>
                  <a:lnTo>
                    <a:pt x="2575674" y="800684"/>
                  </a:lnTo>
                  <a:lnTo>
                    <a:pt x="2578049" y="798144"/>
                  </a:lnTo>
                  <a:lnTo>
                    <a:pt x="2577655" y="796874"/>
                  </a:lnTo>
                  <a:lnTo>
                    <a:pt x="2575674" y="790524"/>
                  </a:lnTo>
                  <a:lnTo>
                    <a:pt x="2584869" y="787984"/>
                  </a:lnTo>
                  <a:lnTo>
                    <a:pt x="2590558" y="781634"/>
                  </a:lnTo>
                  <a:lnTo>
                    <a:pt x="2595930" y="774014"/>
                  </a:lnTo>
                  <a:lnTo>
                    <a:pt x="2604122" y="770204"/>
                  </a:lnTo>
                  <a:lnTo>
                    <a:pt x="2599969" y="765124"/>
                  </a:lnTo>
                  <a:lnTo>
                    <a:pt x="2601747" y="763854"/>
                  </a:lnTo>
                  <a:lnTo>
                    <a:pt x="2604122" y="765124"/>
                  </a:lnTo>
                  <a:lnTo>
                    <a:pt x="2605900" y="765124"/>
                  </a:lnTo>
                  <a:lnTo>
                    <a:pt x="2606954" y="763854"/>
                  </a:lnTo>
                  <a:lnTo>
                    <a:pt x="2620683" y="747344"/>
                  </a:lnTo>
                  <a:lnTo>
                    <a:pt x="2622778" y="744804"/>
                  </a:lnTo>
                  <a:lnTo>
                    <a:pt x="2633230" y="732104"/>
                  </a:lnTo>
                  <a:lnTo>
                    <a:pt x="2647810" y="716864"/>
                  </a:lnTo>
                  <a:lnTo>
                    <a:pt x="2664561" y="705434"/>
                  </a:lnTo>
                  <a:lnTo>
                    <a:pt x="2668701" y="705434"/>
                  </a:lnTo>
                  <a:lnTo>
                    <a:pt x="2671191" y="701624"/>
                  </a:lnTo>
                  <a:lnTo>
                    <a:pt x="2672016" y="700354"/>
                  </a:lnTo>
                  <a:lnTo>
                    <a:pt x="2672854" y="699084"/>
                  </a:lnTo>
                  <a:lnTo>
                    <a:pt x="2676995" y="700354"/>
                  </a:lnTo>
                  <a:lnTo>
                    <a:pt x="2677363" y="699084"/>
                  </a:lnTo>
                  <a:lnTo>
                    <a:pt x="2691815" y="678764"/>
                  </a:lnTo>
                  <a:lnTo>
                    <a:pt x="2694178" y="674954"/>
                  </a:lnTo>
                  <a:lnTo>
                    <a:pt x="2694775" y="674954"/>
                  </a:lnTo>
                  <a:lnTo>
                    <a:pt x="2695371" y="676224"/>
                  </a:lnTo>
                  <a:lnTo>
                    <a:pt x="2695371" y="674954"/>
                  </a:lnTo>
                  <a:lnTo>
                    <a:pt x="2695371" y="669874"/>
                  </a:lnTo>
                  <a:lnTo>
                    <a:pt x="2704249" y="668604"/>
                  </a:lnTo>
                  <a:lnTo>
                    <a:pt x="2709583" y="667334"/>
                  </a:lnTo>
                  <a:lnTo>
                    <a:pt x="2726944" y="652094"/>
                  </a:lnTo>
                  <a:lnTo>
                    <a:pt x="2740825" y="636854"/>
                  </a:lnTo>
                  <a:lnTo>
                    <a:pt x="2743136" y="634314"/>
                  </a:lnTo>
                  <a:lnTo>
                    <a:pt x="2747441" y="630504"/>
                  </a:lnTo>
                  <a:lnTo>
                    <a:pt x="2756027" y="622884"/>
                  </a:lnTo>
                  <a:lnTo>
                    <a:pt x="2757462" y="621614"/>
                  </a:lnTo>
                  <a:lnTo>
                    <a:pt x="2760332" y="619074"/>
                  </a:lnTo>
                  <a:lnTo>
                    <a:pt x="2776613" y="608914"/>
                  </a:lnTo>
                  <a:lnTo>
                    <a:pt x="2778658" y="607644"/>
                  </a:lnTo>
                  <a:lnTo>
                    <a:pt x="2780690" y="606374"/>
                  </a:lnTo>
                  <a:lnTo>
                    <a:pt x="2789580" y="606374"/>
                  </a:lnTo>
                  <a:lnTo>
                    <a:pt x="2795498" y="600024"/>
                  </a:lnTo>
                  <a:lnTo>
                    <a:pt x="2799499" y="596214"/>
                  </a:lnTo>
                  <a:lnTo>
                    <a:pt x="2800832" y="594944"/>
                  </a:lnTo>
                  <a:lnTo>
                    <a:pt x="2802026" y="593674"/>
                  </a:lnTo>
                  <a:lnTo>
                    <a:pt x="2803207" y="592404"/>
                  </a:lnTo>
                  <a:lnTo>
                    <a:pt x="2812681" y="582244"/>
                  </a:lnTo>
                  <a:lnTo>
                    <a:pt x="2822168" y="580974"/>
                  </a:lnTo>
                  <a:lnTo>
                    <a:pt x="2825940" y="577164"/>
                  </a:lnTo>
                  <a:lnTo>
                    <a:pt x="2827197" y="575894"/>
                  </a:lnTo>
                  <a:lnTo>
                    <a:pt x="2836608" y="568274"/>
                  </a:lnTo>
                  <a:lnTo>
                    <a:pt x="2845917" y="558114"/>
                  </a:lnTo>
                  <a:lnTo>
                    <a:pt x="2850604" y="553034"/>
                  </a:lnTo>
                  <a:lnTo>
                    <a:pt x="2843492" y="549224"/>
                  </a:lnTo>
                  <a:lnTo>
                    <a:pt x="2846146" y="546684"/>
                  </a:lnTo>
                  <a:lnTo>
                    <a:pt x="2850121" y="542874"/>
                  </a:lnTo>
                  <a:lnTo>
                    <a:pt x="2856458" y="540334"/>
                  </a:lnTo>
                  <a:lnTo>
                    <a:pt x="2862249" y="536524"/>
                  </a:lnTo>
                  <a:lnTo>
                    <a:pt x="2864231" y="533984"/>
                  </a:lnTo>
                  <a:lnTo>
                    <a:pt x="2866212" y="531444"/>
                  </a:lnTo>
                  <a:lnTo>
                    <a:pt x="2867202" y="530174"/>
                  </a:lnTo>
                  <a:lnTo>
                    <a:pt x="2867787" y="532714"/>
                  </a:lnTo>
                  <a:lnTo>
                    <a:pt x="2868257" y="530174"/>
                  </a:lnTo>
                  <a:lnTo>
                    <a:pt x="2868472" y="528904"/>
                  </a:lnTo>
                  <a:lnTo>
                    <a:pt x="2868688" y="527634"/>
                  </a:lnTo>
                  <a:lnTo>
                    <a:pt x="2868904" y="526364"/>
                  </a:lnTo>
                  <a:lnTo>
                    <a:pt x="2873870" y="523824"/>
                  </a:lnTo>
                  <a:lnTo>
                    <a:pt x="2887345" y="526364"/>
                  </a:lnTo>
                  <a:lnTo>
                    <a:pt x="2888526" y="526364"/>
                  </a:lnTo>
                  <a:lnTo>
                    <a:pt x="2887345" y="525094"/>
                  </a:lnTo>
                  <a:lnTo>
                    <a:pt x="2884970" y="523824"/>
                  </a:lnTo>
                  <a:lnTo>
                    <a:pt x="2885567" y="521284"/>
                  </a:lnTo>
                  <a:lnTo>
                    <a:pt x="2884970" y="518744"/>
                  </a:lnTo>
                  <a:lnTo>
                    <a:pt x="2886748" y="516204"/>
                  </a:lnTo>
                  <a:lnTo>
                    <a:pt x="2889123" y="518744"/>
                  </a:lnTo>
                  <a:lnTo>
                    <a:pt x="2893263" y="514934"/>
                  </a:lnTo>
                  <a:lnTo>
                    <a:pt x="2897416" y="517474"/>
                  </a:lnTo>
                  <a:lnTo>
                    <a:pt x="2897416" y="514934"/>
                  </a:lnTo>
                  <a:lnTo>
                    <a:pt x="2891485" y="507314"/>
                  </a:lnTo>
                  <a:lnTo>
                    <a:pt x="2898597" y="508584"/>
                  </a:lnTo>
                  <a:lnTo>
                    <a:pt x="2897263" y="507314"/>
                  </a:lnTo>
                  <a:lnTo>
                    <a:pt x="2893263" y="503504"/>
                  </a:lnTo>
                  <a:lnTo>
                    <a:pt x="2897924" y="503504"/>
                  </a:lnTo>
                  <a:lnTo>
                    <a:pt x="2896819" y="504609"/>
                  </a:lnTo>
                  <a:lnTo>
                    <a:pt x="2897416" y="504609"/>
                  </a:lnTo>
                  <a:lnTo>
                    <a:pt x="2899194" y="505193"/>
                  </a:lnTo>
                  <a:lnTo>
                    <a:pt x="2899791" y="505790"/>
                  </a:lnTo>
                  <a:lnTo>
                    <a:pt x="2900972" y="505193"/>
                  </a:lnTo>
                  <a:lnTo>
                    <a:pt x="2899791" y="504609"/>
                  </a:lnTo>
                  <a:lnTo>
                    <a:pt x="2898127" y="503504"/>
                  </a:lnTo>
                  <a:lnTo>
                    <a:pt x="2898597" y="503504"/>
                  </a:lnTo>
                  <a:lnTo>
                    <a:pt x="2896235" y="502234"/>
                  </a:lnTo>
                  <a:lnTo>
                    <a:pt x="2896819" y="502234"/>
                  </a:lnTo>
                  <a:lnTo>
                    <a:pt x="2899194" y="503504"/>
                  </a:lnTo>
                  <a:lnTo>
                    <a:pt x="2900972" y="500964"/>
                  </a:lnTo>
                  <a:lnTo>
                    <a:pt x="2905125" y="497154"/>
                  </a:lnTo>
                  <a:close/>
                </a:path>
                <a:path w="10042525" h="1289050">
                  <a:moveTo>
                    <a:pt x="7808303" y="388708"/>
                  </a:moveTo>
                  <a:lnTo>
                    <a:pt x="7807846" y="388708"/>
                  </a:lnTo>
                  <a:lnTo>
                    <a:pt x="7807604" y="389343"/>
                  </a:lnTo>
                  <a:lnTo>
                    <a:pt x="7808303" y="388708"/>
                  </a:lnTo>
                  <a:close/>
                </a:path>
                <a:path w="10042525" h="1289050">
                  <a:moveTo>
                    <a:pt x="8019186" y="962253"/>
                  </a:moveTo>
                  <a:lnTo>
                    <a:pt x="8018627" y="961999"/>
                  </a:lnTo>
                  <a:lnTo>
                    <a:pt x="8018729" y="962253"/>
                  </a:lnTo>
                  <a:lnTo>
                    <a:pt x="8019186" y="962253"/>
                  </a:lnTo>
                  <a:close/>
                </a:path>
                <a:path w="10042525" h="1289050">
                  <a:moveTo>
                    <a:pt x="8085582" y="972413"/>
                  </a:moveTo>
                  <a:lnTo>
                    <a:pt x="8084388" y="971943"/>
                  </a:lnTo>
                  <a:lnTo>
                    <a:pt x="8078152" y="974953"/>
                  </a:lnTo>
                  <a:lnTo>
                    <a:pt x="8085582" y="972413"/>
                  </a:lnTo>
                  <a:close/>
                </a:path>
                <a:path w="10042525" h="1289050">
                  <a:moveTo>
                    <a:pt x="8110474" y="1207109"/>
                  </a:moveTo>
                  <a:lnTo>
                    <a:pt x="8110194" y="1206093"/>
                  </a:lnTo>
                  <a:lnTo>
                    <a:pt x="8109725" y="1206093"/>
                  </a:lnTo>
                  <a:lnTo>
                    <a:pt x="8110474" y="1207109"/>
                  </a:lnTo>
                  <a:close/>
                </a:path>
                <a:path w="10042525" h="1289050">
                  <a:moveTo>
                    <a:pt x="8270748" y="364934"/>
                  </a:moveTo>
                  <a:lnTo>
                    <a:pt x="8267967" y="364020"/>
                  </a:lnTo>
                  <a:lnTo>
                    <a:pt x="8269364" y="364934"/>
                  </a:lnTo>
                  <a:lnTo>
                    <a:pt x="8270748" y="364934"/>
                  </a:lnTo>
                  <a:close/>
                </a:path>
                <a:path w="10042525" h="1289050">
                  <a:moveTo>
                    <a:pt x="8464372" y="362038"/>
                  </a:moveTo>
                  <a:lnTo>
                    <a:pt x="8460651" y="362038"/>
                  </a:lnTo>
                  <a:lnTo>
                    <a:pt x="8462175" y="362178"/>
                  </a:lnTo>
                  <a:lnTo>
                    <a:pt x="8464372" y="362038"/>
                  </a:lnTo>
                  <a:close/>
                </a:path>
                <a:path w="10042525" h="1289050">
                  <a:moveTo>
                    <a:pt x="8762543" y="1003312"/>
                  </a:moveTo>
                  <a:lnTo>
                    <a:pt x="8761146" y="1003312"/>
                  </a:lnTo>
                  <a:lnTo>
                    <a:pt x="8760219" y="1003782"/>
                  </a:lnTo>
                  <a:lnTo>
                    <a:pt x="8762073" y="1003782"/>
                  </a:lnTo>
                  <a:lnTo>
                    <a:pt x="8762543" y="1003312"/>
                  </a:lnTo>
                  <a:close/>
                </a:path>
                <a:path w="10042525" h="1289050">
                  <a:moveTo>
                    <a:pt x="9045207" y="380199"/>
                  </a:moveTo>
                  <a:lnTo>
                    <a:pt x="9043352" y="380199"/>
                  </a:lnTo>
                  <a:lnTo>
                    <a:pt x="9042883" y="380669"/>
                  </a:lnTo>
                  <a:lnTo>
                    <a:pt x="9044280" y="380669"/>
                  </a:lnTo>
                  <a:lnTo>
                    <a:pt x="9045207" y="380199"/>
                  </a:lnTo>
                  <a:close/>
                </a:path>
                <a:path w="10042525" h="1289050">
                  <a:moveTo>
                    <a:pt x="9344774" y="1021943"/>
                  </a:moveTo>
                  <a:lnTo>
                    <a:pt x="9343250" y="1021803"/>
                  </a:lnTo>
                  <a:lnTo>
                    <a:pt x="9341053" y="1021943"/>
                  </a:lnTo>
                  <a:lnTo>
                    <a:pt x="9344774" y="1021943"/>
                  </a:lnTo>
                  <a:close/>
                </a:path>
                <a:path w="10042525" h="1289050">
                  <a:moveTo>
                    <a:pt x="9537459" y="1019962"/>
                  </a:moveTo>
                  <a:lnTo>
                    <a:pt x="9536062" y="1019048"/>
                  </a:lnTo>
                  <a:lnTo>
                    <a:pt x="9534677" y="1019048"/>
                  </a:lnTo>
                  <a:lnTo>
                    <a:pt x="9537459" y="1019962"/>
                  </a:lnTo>
                  <a:close/>
                </a:path>
                <a:path w="10042525" h="1289050">
                  <a:moveTo>
                    <a:pt x="9689655" y="728878"/>
                  </a:moveTo>
                  <a:lnTo>
                    <a:pt x="9687801" y="727494"/>
                  </a:lnTo>
                  <a:lnTo>
                    <a:pt x="9688271" y="728421"/>
                  </a:lnTo>
                  <a:lnTo>
                    <a:pt x="9689198" y="728878"/>
                  </a:lnTo>
                  <a:lnTo>
                    <a:pt x="9689655" y="728878"/>
                  </a:lnTo>
                  <a:close/>
                </a:path>
                <a:path w="10042525" h="1289050">
                  <a:moveTo>
                    <a:pt x="9695701" y="177888"/>
                  </a:moveTo>
                  <a:lnTo>
                    <a:pt x="9694951" y="176872"/>
                  </a:lnTo>
                  <a:lnTo>
                    <a:pt x="9695231" y="177888"/>
                  </a:lnTo>
                  <a:lnTo>
                    <a:pt x="9695701" y="177888"/>
                  </a:lnTo>
                  <a:close/>
                </a:path>
                <a:path w="10042525" h="1289050">
                  <a:moveTo>
                    <a:pt x="9700336" y="716178"/>
                  </a:moveTo>
                  <a:lnTo>
                    <a:pt x="9699409" y="716178"/>
                  </a:lnTo>
                  <a:lnTo>
                    <a:pt x="9700222" y="716521"/>
                  </a:lnTo>
                  <a:lnTo>
                    <a:pt x="9700336" y="716178"/>
                  </a:lnTo>
                  <a:close/>
                </a:path>
                <a:path w="10042525" h="1289050">
                  <a:moveTo>
                    <a:pt x="9707766" y="139268"/>
                  </a:moveTo>
                  <a:lnTo>
                    <a:pt x="9706839" y="133718"/>
                  </a:lnTo>
                  <a:lnTo>
                    <a:pt x="9705911" y="130949"/>
                  </a:lnTo>
                  <a:lnTo>
                    <a:pt x="9704057" y="126784"/>
                  </a:lnTo>
                  <a:lnTo>
                    <a:pt x="9703587" y="128638"/>
                  </a:lnTo>
                  <a:lnTo>
                    <a:pt x="9703587" y="131864"/>
                  </a:lnTo>
                  <a:lnTo>
                    <a:pt x="9705911" y="136029"/>
                  </a:lnTo>
                  <a:lnTo>
                    <a:pt x="9707766" y="139268"/>
                  </a:lnTo>
                  <a:close/>
                </a:path>
                <a:path w="10042525" h="1289050">
                  <a:moveTo>
                    <a:pt x="9727273" y="409028"/>
                  </a:moveTo>
                  <a:lnTo>
                    <a:pt x="9719843" y="411568"/>
                  </a:lnTo>
                  <a:lnTo>
                    <a:pt x="9721037" y="412038"/>
                  </a:lnTo>
                  <a:lnTo>
                    <a:pt x="9727273" y="409028"/>
                  </a:lnTo>
                  <a:close/>
                </a:path>
                <a:path w="10042525" h="1289050">
                  <a:moveTo>
                    <a:pt x="9730981" y="672922"/>
                  </a:moveTo>
                  <a:lnTo>
                    <a:pt x="9730054" y="672007"/>
                  </a:lnTo>
                  <a:lnTo>
                    <a:pt x="9729597" y="672465"/>
                  </a:lnTo>
                  <a:lnTo>
                    <a:pt x="9729127" y="672465"/>
                  </a:lnTo>
                  <a:lnTo>
                    <a:pt x="9729127" y="672922"/>
                  </a:lnTo>
                  <a:lnTo>
                    <a:pt x="9729127" y="673849"/>
                  </a:lnTo>
                  <a:lnTo>
                    <a:pt x="9730981" y="673849"/>
                  </a:lnTo>
                  <a:lnTo>
                    <a:pt x="9730981" y="672922"/>
                  </a:lnTo>
                  <a:close/>
                </a:path>
                <a:path w="10042525" h="1289050">
                  <a:moveTo>
                    <a:pt x="9746767" y="194297"/>
                  </a:moveTo>
                  <a:lnTo>
                    <a:pt x="9745840" y="193840"/>
                  </a:lnTo>
                  <a:lnTo>
                    <a:pt x="9744913" y="194767"/>
                  </a:lnTo>
                  <a:lnTo>
                    <a:pt x="9745383" y="195224"/>
                  </a:lnTo>
                  <a:lnTo>
                    <a:pt x="9746767" y="194297"/>
                  </a:lnTo>
                  <a:close/>
                </a:path>
                <a:path w="10042525" h="1289050">
                  <a:moveTo>
                    <a:pt x="9756051" y="637324"/>
                  </a:moveTo>
                  <a:lnTo>
                    <a:pt x="9755594" y="637324"/>
                  </a:lnTo>
                  <a:lnTo>
                    <a:pt x="9756051" y="637781"/>
                  </a:lnTo>
                  <a:lnTo>
                    <a:pt x="9756051" y="637324"/>
                  </a:lnTo>
                  <a:close/>
                </a:path>
                <a:path w="10042525" h="1289050">
                  <a:moveTo>
                    <a:pt x="9786798" y="421982"/>
                  </a:moveTo>
                  <a:lnTo>
                    <a:pt x="9786696" y="421728"/>
                  </a:lnTo>
                  <a:lnTo>
                    <a:pt x="9786239" y="421728"/>
                  </a:lnTo>
                  <a:lnTo>
                    <a:pt x="9786798" y="421982"/>
                  </a:lnTo>
                  <a:close/>
                </a:path>
                <a:path w="10042525" h="1289050">
                  <a:moveTo>
                    <a:pt x="9847529" y="433844"/>
                  </a:moveTo>
                  <a:lnTo>
                    <a:pt x="9839630" y="430606"/>
                  </a:lnTo>
                  <a:lnTo>
                    <a:pt x="9846589" y="433844"/>
                  </a:lnTo>
                  <a:lnTo>
                    <a:pt x="9847529" y="433844"/>
                  </a:lnTo>
                  <a:close/>
                </a:path>
                <a:path w="10042525" h="1289050">
                  <a:moveTo>
                    <a:pt x="9861918" y="526796"/>
                  </a:moveTo>
                  <a:lnTo>
                    <a:pt x="9861448" y="525868"/>
                  </a:lnTo>
                  <a:lnTo>
                    <a:pt x="9861448" y="526338"/>
                  </a:lnTo>
                  <a:lnTo>
                    <a:pt x="9861918" y="526796"/>
                  </a:lnTo>
                  <a:close/>
                </a:path>
                <a:path w="10042525" h="1289050">
                  <a:moveTo>
                    <a:pt x="9869221" y="527964"/>
                  </a:moveTo>
                  <a:lnTo>
                    <a:pt x="9867494" y="524408"/>
                  </a:lnTo>
                  <a:lnTo>
                    <a:pt x="9869119" y="528853"/>
                  </a:lnTo>
                  <a:lnTo>
                    <a:pt x="9869221" y="527964"/>
                  </a:lnTo>
                  <a:close/>
                </a:path>
                <a:path w="10042525" h="1289050">
                  <a:moveTo>
                    <a:pt x="9885591" y="517550"/>
                  </a:moveTo>
                  <a:lnTo>
                    <a:pt x="9885134" y="517080"/>
                  </a:lnTo>
                  <a:lnTo>
                    <a:pt x="9885591" y="518007"/>
                  </a:lnTo>
                  <a:lnTo>
                    <a:pt x="9885591" y="517550"/>
                  </a:lnTo>
                  <a:close/>
                </a:path>
                <a:path w="10042525" h="1289050">
                  <a:moveTo>
                    <a:pt x="9905098" y="505980"/>
                  </a:moveTo>
                  <a:lnTo>
                    <a:pt x="9904171" y="505066"/>
                  </a:lnTo>
                  <a:lnTo>
                    <a:pt x="9905098" y="506450"/>
                  </a:lnTo>
                  <a:lnTo>
                    <a:pt x="9905098" y="505980"/>
                  </a:lnTo>
                  <a:close/>
                </a:path>
                <a:path w="10042525" h="1289050">
                  <a:moveTo>
                    <a:pt x="9981705" y="467144"/>
                  </a:moveTo>
                  <a:lnTo>
                    <a:pt x="9979850" y="467601"/>
                  </a:lnTo>
                  <a:lnTo>
                    <a:pt x="9980778" y="468528"/>
                  </a:lnTo>
                  <a:lnTo>
                    <a:pt x="9981705" y="467601"/>
                  </a:lnTo>
                  <a:lnTo>
                    <a:pt x="9981705" y="467144"/>
                  </a:lnTo>
                  <a:close/>
                </a:path>
                <a:path w="10042525" h="1289050">
                  <a:moveTo>
                    <a:pt x="9997821" y="994638"/>
                  </a:moveTo>
                  <a:lnTo>
                    <a:pt x="9997122" y="995273"/>
                  </a:lnTo>
                  <a:lnTo>
                    <a:pt x="9997580" y="995273"/>
                  </a:lnTo>
                  <a:lnTo>
                    <a:pt x="9997821" y="994638"/>
                  </a:lnTo>
                  <a:close/>
                </a:path>
                <a:path w="10042525" h="1289050">
                  <a:moveTo>
                    <a:pt x="10016757" y="470154"/>
                  </a:moveTo>
                  <a:lnTo>
                    <a:pt x="10016528" y="469455"/>
                  </a:lnTo>
                  <a:lnTo>
                    <a:pt x="10016528" y="469912"/>
                  </a:lnTo>
                  <a:lnTo>
                    <a:pt x="10016757" y="470154"/>
                  </a:lnTo>
                  <a:close/>
                </a:path>
                <a:path w="10042525" h="1289050">
                  <a:moveTo>
                    <a:pt x="10020706" y="470839"/>
                  </a:moveTo>
                  <a:lnTo>
                    <a:pt x="10020249" y="469455"/>
                  </a:lnTo>
                  <a:lnTo>
                    <a:pt x="10020249" y="470382"/>
                  </a:lnTo>
                  <a:lnTo>
                    <a:pt x="10020706" y="470839"/>
                  </a:lnTo>
                  <a:close/>
                </a:path>
                <a:path w="10042525" h="1289050">
                  <a:moveTo>
                    <a:pt x="10029533" y="502285"/>
                  </a:moveTo>
                  <a:lnTo>
                    <a:pt x="10028606" y="501357"/>
                  </a:lnTo>
                  <a:lnTo>
                    <a:pt x="10029533" y="502742"/>
                  </a:lnTo>
                  <a:lnTo>
                    <a:pt x="10029533" y="502285"/>
                  </a:lnTo>
                  <a:close/>
                </a:path>
                <a:path w="10042525" h="1289050">
                  <a:moveTo>
                    <a:pt x="10029990" y="506628"/>
                  </a:moveTo>
                  <a:lnTo>
                    <a:pt x="10028136" y="505358"/>
                  </a:lnTo>
                  <a:lnTo>
                    <a:pt x="10028758" y="506209"/>
                  </a:lnTo>
                  <a:lnTo>
                    <a:pt x="10029990" y="506628"/>
                  </a:lnTo>
                  <a:close/>
                </a:path>
                <a:path w="10042525" h="1289050">
                  <a:moveTo>
                    <a:pt x="10039833" y="954633"/>
                  </a:moveTo>
                  <a:lnTo>
                    <a:pt x="10027768" y="947013"/>
                  </a:lnTo>
                  <a:lnTo>
                    <a:pt x="10022192" y="943203"/>
                  </a:lnTo>
                  <a:lnTo>
                    <a:pt x="10016617" y="938123"/>
                  </a:lnTo>
                  <a:lnTo>
                    <a:pt x="9993871" y="938123"/>
                  </a:lnTo>
                  <a:lnTo>
                    <a:pt x="9982721" y="936853"/>
                  </a:lnTo>
                  <a:lnTo>
                    <a:pt x="9978542" y="935583"/>
                  </a:lnTo>
                  <a:lnTo>
                    <a:pt x="9970186" y="935583"/>
                  </a:lnTo>
                  <a:lnTo>
                    <a:pt x="9966935" y="936853"/>
                  </a:lnTo>
                  <a:lnTo>
                    <a:pt x="9959975" y="938123"/>
                  </a:lnTo>
                  <a:lnTo>
                    <a:pt x="9954870" y="940663"/>
                  </a:lnTo>
                  <a:lnTo>
                    <a:pt x="9946640" y="941933"/>
                  </a:lnTo>
                  <a:lnTo>
                    <a:pt x="9937458" y="944473"/>
                  </a:lnTo>
                  <a:lnTo>
                    <a:pt x="9927577" y="947013"/>
                  </a:lnTo>
                  <a:lnTo>
                    <a:pt x="9917252" y="948283"/>
                  </a:lnTo>
                  <a:lnTo>
                    <a:pt x="9910293" y="949553"/>
                  </a:lnTo>
                  <a:lnTo>
                    <a:pt x="9902863" y="950823"/>
                  </a:lnTo>
                  <a:lnTo>
                    <a:pt x="9896361" y="952093"/>
                  </a:lnTo>
                  <a:lnTo>
                    <a:pt x="9889401" y="952093"/>
                  </a:lnTo>
                  <a:lnTo>
                    <a:pt x="9883369" y="953363"/>
                  </a:lnTo>
                  <a:lnTo>
                    <a:pt x="9866655" y="954633"/>
                  </a:lnTo>
                  <a:lnTo>
                    <a:pt x="9859226" y="955903"/>
                  </a:lnTo>
                  <a:lnTo>
                    <a:pt x="9853181" y="955903"/>
                  </a:lnTo>
                  <a:lnTo>
                    <a:pt x="9844367" y="954633"/>
                  </a:lnTo>
                  <a:lnTo>
                    <a:pt x="9837191" y="954633"/>
                  </a:lnTo>
                  <a:lnTo>
                    <a:pt x="9829101" y="953363"/>
                  </a:lnTo>
                  <a:lnTo>
                    <a:pt x="9762642" y="949553"/>
                  </a:lnTo>
                  <a:lnTo>
                    <a:pt x="9560496" y="949553"/>
                  </a:lnTo>
                  <a:lnTo>
                    <a:pt x="9533357" y="950823"/>
                  </a:lnTo>
                  <a:lnTo>
                    <a:pt x="9523070" y="950823"/>
                  </a:lnTo>
                  <a:lnTo>
                    <a:pt x="9505886" y="955903"/>
                  </a:lnTo>
                  <a:lnTo>
                    <a:pt x="9468548" y="950823"/>
                  </a:lnTo>
                  <a:lnTo>
                    <a:pt x="9387446" y="950823"/>
                  </a:lnTo>
                  <a:lnTo>
                    <a:pt x="9348025" y="948283"/>
                  </a:lnTo>
                  <a:lnTo>
                    <a:pt x="9347098" y="952093"/>
                  </a:lnTo>
                  <a:lnTo>
                    <a:pt x="9332697" y="952093"/>
                  </a:lnTo>
                  <a:lnTo>
                    <a:pt x="9333624" y="949553"/>
                  </a:lnTo>
                  <a:lnTo>
                    <a:pt x="9330385" y="949553"/>
                  </a:lnTo>
                  <a:lnTo>
                    <a:pt x="9280436" y="948283"/>
                  </a:lnTo>
                  <a:lnTo>
                    <a:pt x="9130792" y="948283"/>
                  </a:lnTo>
                  <a:lnTo>
                    <a:pt x="8986825" y="944473"/>
                  </a:lnTo>
                  <a:lnTo>
                    <a:pt x="8941295" y="940663"/>
                  </a:lnTo>
                  <a:lnTo>
                    <a:pt x="8929002" y="939393"/>
                  </a:lnTo>
                  <a:lnTo>
                    <a:pt x="8896769" y="936853"/>
                  </a:lnTo>
                  <a:lnTo>
                    <a:pt x="8886038" y="935583"/>
                  </a:lnTo>
                  <a:lnTo>
                    <a:pt x="8826614" y="938123"/>
                  </a:lnTo>
                  <a:lnTo>
                    <a:pt x="8767178" y="935583"/>
                  </a:lnTo>
                  <a:lnTo>
                    <a:pt x="8749538" y="935583"/>
                  </a:lnTo>
                  <a:lnTo>
                    <a:pt x="8750008" y="934313"/>
                  </a:lnTo>
                  <a:lnTo>
                    <a:pt x="8732520" y="935583"/>
                  </a:lnTo>
                  <a:lnTo>
                    <a:pt x="8712505" y="934313"/>
                  </a:lnTo>
                  <a:lnTo>
                    <a:pt x="8691626" y="931773"/>
                  </a:lnTo>
                  <a:lnTo>
                    <a:pt x="8671535" y="930503"/>
                  </a:lnTo>
                  <a:lnTo>
                    <a:pt x="8672932" y="929233"/>
                  </a:lnTo>
                  <a:lnTo>
                    <a:pt x="8618156" y="927963"/>
                  </a:lnTo>
                  <a:lnTo>
                    <a:pt x="8564080" y="925423"/>
                  </a:lnTo>
                  <a:lnTo>
                    <a:pt x="8403958" y="921613"/>
                  </a:lnTo>
                  <a:lnTo>
                    <a:pt x="8350580" y="919073"/>
                  </a:lnTo>
                  <a:lnTo>
                    <a:pt x="8242516" y="911453"/>
                  </a:lnTo>
                  <a:lnTo>
                    <a:pt x="8216595" y="907643"/>
                  </a:lnTo>
                  <a:lnTo>
                    <a:pt x="8189760" y="905103"/>
                  </a:lnTo>
                  <a:lnTo>
                    <a:pt x="8133867" y="902563"/>
                  </a:lnTo>
                  <a:lnTo>
                    <a:pt x="8119516" y="902563"/>
                  </a:lnTo>
                  <a:lnTo>
                    <a:pt x="8105089" y="901293"/>
                  </a:lnTo>
                  <a:lnTo>
                    <a:pt x="8090649" y="901293"/>
                  </a:lnTo>
                  <a:lnTo>
                    <a:pt x="8076298" y="900023"/>
                  </a:lnTo>
                  <a:lnTo>
                    <a:pt x="8068983" y="900023"/>
                  </a:lnTo>
                  <a:lnTo>
                    <a:pt x="8061668" y="898753"/>
                  </a:lnTo>
                  <a:lnTo>
                    <a:pt x="8054365" y="898753"/>
                  </a:lnTo>
                  <a:lnTo>
                    <a:pt x="8034109" y="896391"/>
                  </a:lnTo>
                  <a:lnTo>
                    <a:pt x="8034109" y="959383"/>
                  </a:lnTo>
                  <a:lnTo>
                    <a:pt x="8023746" y="959383"/>
                  </a:lnTo>
                  <a:lnTo>
                    <a:pt x="8026159" y="958443"/>
                  </a:lnTo>
                  <a:lnTo>
                    <a:pt x="8030337" y="958443"/>
                  </a:lnTo>
                  <a:lnTo>
                    <a:pt x="8034109" y="959383"/>
                  </a:lnTo>
                  <a:lnTo>
                    <a:pt x="8034109" y="896391"/>
                  </a:lnTo>
                  <a:lnTo>
                    <a:pt x="8032648" y="896213"/>
                  </a:lnTo>
                  <a:lnTo>
                    <a:pt x="8025231" y="896213"/>
                  </a:lnTo>
                  <a:lnTo>
                    <a:pt x="8011757" y="894943"/>
                  </a:lnTo>
                  <a:lnTo>
                    <a:pt x="8001609" y="892403"/>
                  </a:lnTo>
                  <a:lnTo>
                    <a:pt x="7983842" y="891133"/>
                  </a:lnTo>
                  <a:lnTo>
                    <a:pt x="7959725" y="888593"/>
                  </a:lnTo>
                  <a:lnTo>
                    <a:pt x="7930502" y="887323"/>
                  </a:lnTo>
                  <a:lnTo>
                    <a:pt x="7862887" y="882243"/>
                  </a:lnTo>
                  <a:lnTo>
                    <a:pt x="7827150" y="880973"/>
                  </a:lnTo>
                  <a:lnTo>
                    <a:pt x="7792148" y="878433"/>
                  </a:lnTo>
                  <a:lnTo>
                    <a:pt x="7831379" y="916533"/>
                  </a:lnTo>
                  <a:lnTo>
                    <a:pt x="7849082" y="934313"/>
                  </a:lnTo>
                  <a:lnTo>
                    <a:pt x="7851648" y="936853"/>
                  </a:lnTo>
                  <a:lnTo>
                    <a:pt x="7864462" y="949553"/>
                  </a:lnTo>
                  <a:lnTo>
                    <a:pt x="7875994" y="960983"/>
                  </a:lnTo>
                  <a:lnTo>
                    <a:pt x="7878559" y="963523"/>
                  </a:lnTo>
                  <a:lnTo>
                    <a:pt x="7889646" y="974953"/>
                  </a:lnTo>
                  <a:lnTo>
                    <a:pt x="7897952" y="982573"/>
                  </a:lnTo>
                  <a:lnTo>
                    <a:pt x="7903108" y="987653"/>
                  </a:lnTo>
                  <a:lnTo>
                    <a:pt x="7898473" y="981303"/>
                  </a:lnTo>
                  <a:lnTo>
                    <a:pt x="7893825" y="973683"/>
                  </a:lnTo>
                  <a:lnTo>
                    <a:pt x="7885468" y="960983"/>
                  </a:lnTo>
                  <a:lnTo>
                    <a:pt x="7893024" y="968603"/>
                  </a:lnTo>
                  <a:lnTo>
                    <a:pt x="7900327" y="976223"/>
                  </a:lnTo>
                  <a:lnTo>
                    <a:pt x="7907274" y="982573"/>
                  </a:lnTo>
                  <a:lnTo>
                    <a:pt x="7913789" y="990193"/>
                  </a:lnTo>
                  <a:lnTo>
                    <a:pt x="7925282" y="1002893"/>
                  </a:lnTo>
                  <a:lnTo>
                    <a:pt x="7928877" y="1006703"/>
                  </a:lnTo>
                  <a:lnTo>
                    <a:pt x="7936077" y="1014323"/>
                  </a:lnTo>
                  <a:lnTo>
                    <a:pt x="7939329" y="1018133"/>
                  </a:lnTo>
                  <a:lnTo>
                    <a:pt x="7943050" y="1021943"/>
                  </a:lnTo>
                  <a:lnTo>
                    <a:pt x="7946288" y="1025753"/>
                  </a:lnTo>
                  <a:lnTo>
                    <a:pt x="7948612" y="1028293"/>
                  </a:lnTo>
                  <a:lnTo>
                    <a:pt x="7950467" y="1032103"/>
                  </a:lnTo>
                  <a:lnTo>
                    <a:pt x="7952791" y="1034643"/>
                  </a:lnTo>
                  <a:lnTo>
                    <a:pt x="7956042" y="1038453"/>
                  </a:lnTo>
                  <a:lnTo>
                    <a:pt x="7958836" y="1042263"/>
                  </a:lnTo>
                  <a:lnTo>
                    <a:pt x="7962074" y="1046073"/>
                  </a:lnTo>
                  <a:lnTo>
                    <a:pt x="7970050" y="1056233"/>
                  </a:lnTo>
                  <a:lnTo>
                    <a:pt x="7971053" y="1057503"/>
                  </a:lnTo>
                  <a:lnTo>
                    <a:pt x="7980185" y="1070203"/>
                  </a:lnTo>
                  <a:lnTo>
                    <a:pt x="7982369" y="1072743"/>
                  </a:lnTo>
                  <a:lnTo>
                    <a:pt x="7990027" y="1081633"/>
                  </a:lnTo>
                  <a:lnTo>
                    <a:pt x="8001076" y="1095603"/>
                  </a:lnTo>
                  <a:lnTo>
                    <a:pt x="7998765" y="1094333"/>
                  </a:lnTo>
                  <a:lnTo>
                    <a:pt x="7999450" y="1095603"/>
                  </a:lnTo>
                  <a:lnTo>
                    <a:pt x="8000149" y="1096873"/>
                  </a:lnTo>
                  <a:lnTo>
                    <a:pt x="8004327" y="1098143"/>
                  </a:lnTo>
                  <a:lnTo>
                    <a:pt x="8011757" y="1107033"/>
                  </a:lnTo>
                  <a:lnTo>
                    <a:pt x="8014716" y="1110843"/>
                  </a:lnTo>
                  <a:lnTo>
                    <a:pt x="8018031" y="1115923"/>
                  </a:lnTo>
                  <a:lnTo>
                    <a:pt x="8021688" y="1121003"/>
                  </a:lnTo>
                  <a:lnTo>
                    <a:pt x="8025689" y="1128623"/>
                  </a:lnTo>
                  <a:lnTo>
                    <a:pt x="8030032" y="1136243"/>
                  </a:lnTo>
                  <a:lnTo>
                    <a:pt x="8034680" y="1146403"/>
                  </a:lnTo>
                  <a:lnTo>
                    <a:pt x="8039595" y="1157833"/>
                  </a:lnTo>
                  <a:lnTo>
                    <a:pt x="8042669" y="1165453"/>
                  </a:lnTo>
                  <a:lnTo>
                    <a:pt x="8044726" y="1170533"/>
                  </a:lnTo>
                  <a:lnTo>
                    <a:pt x="8044256" y="1171803"/>
                  </a:lnTo>
                  <a:lnTo>
                    <a:pt x="8045653" y="1173073"/>
                  </a:lnTo>
                  <a:lnTo>
                    <a:pt x="8046580" y="1173073"/>
                  </a:lnTo>
                  <a:lnTo>
                    <a:pt x="8048434" y="1178153"/>
                  </a:lnTo>
                  <a:lnTo>
                    <a:pt x="8045653" y="1167993"/>
                  </a:lnTo>
                  <a:lnTo>
                    <a:pt x="8044256" y="1165453"/>
                  </a:lnTo>
                  <a:lnTo>
                    <a:pt x="8052854" y="1174343"/>
                  </a:lnTo>
                  <a:lnTo>
                    <a:pt x="8057185" y="1179423"/>
                  </a:lnTo>
                  <a:lnTo>
                    <a:pt x="8061439" y="1185773"/>
                  </a:lnTo>
                  <a:lnTo>
                    <a:pt x="8061909" y="1187043"/>
                  </a:lnTo>
                  <a:lnTo>
                    <a:pt x="8060982" y="1189583"/>
                  </a:lnTo>
                  <a:lnTo>
                    <a:pt x="8064690" y="1194663"/>
                  </a:lnTo>
                  <a:lnTo>
                    <a:pt x="8071193" y="1206093"/>
                  </a:lnTo>
                  <a:lnTo>
                    <a:pt x="8074901" y="1212443"/>
                  </a:lnTo>
                  <a:lnTo>
                    <a:pt x="8075828" y="1221333"/>
                  </a:lnTo>
                  <a:lnTo>
                    <a:pt x="8079956" y="1223873"/>
                  </a:lnTo>
                  <a:lnTo>
                    <a:pt x="8084071" y="1225143"/>
                  </a:lnTo>
                  <a:lnTo>
                    <a:pt x="8088376" y="1230223"/>
                  </a:lnTo>
                  <a:lnTo>
                    <a:pt x="8091983" y="1239113"/>
                  </a:lnTo>
                  <a:lnTo>
                    <a:pt x="8093011" y="1241653"/>
                  </a:lnTo>
                  <a:lnTo>
                    <a:pt x="8094650" y="1239113"/>
                  </a:lnTo>
                  <a:lnTo>
                    <a:pt x="8097418" y="1241653"/>
                  </a:lnTo>
                  <a:lnTo>
                    <a:pt x="8100200" y="1245463"/>
                  </a:lnTo>
                  <a:lnTo>
                    <a:pt x="8101838" y="1246733"/>
                  </a:lnTo>
                  <a:lnTo>
                    <a:pt x="8101838" y="1250543"/>
                  </a:lnTo>
                  <a:lnTo>
                    <a:pt x="8102295" y="1251813"/>
                  </a:lnTo>
                  <a:lnTo>
                    <a:pt x="8108023" y="1261973"/>
                  </a:lnTo>
                  <a:lnTo>
                    <a:pt x="8114665" y="1273403"/>
                  </a:lnTo>
                  <a:lnTo>
                    <a:pt x="8121040" y="1283563"/>
                  </a:lnTo>
                  <a:lnTo>
                    <a:pt x="8125981" y="1288643"/>
                  </a:lnTo>
                  <a:lnTo>
                    <a:pt x="8125422" y="1287373"/>
                  </a:lnTo>
                  <a:lnTo>
                    <a:pt x="8124012" y="1281023"/>
                  </a:lnTo>
                  <a:lnTo>
                    <a:pt x="8122056" y="1272133"/>
                  </a:lnTo>
                  <a:lnTo>
                    <a:pt x="8119948" y="1261973"/>
                  </a:lnTo>
                  <a:lnTo>
                    <a:pt x="8117472" y="1250543"/>
                  </a:lnTo>
                  <a:lnTo>
                    <a:pt x="8115122" y="1240383"/>
                  </a:lnTo>
                  <a:lnTo>
                    <a:pt x="8113217" y="1230223"/>
                  </a:lnTo>
                  <a:lnTo>
                    <a:pt x="8112049" y="1223873"/>
                  </a:lnTo>
                  <a:lnTo>
                    <a:pt x="8115617" y="1231493"/>
                  </a:lnTo>
                  <a:lnTo>
                    <a:pt x="8116227" y="1231493"/>
                  </a:lnTo>
                  <a:lnTo>
                    <a:pt x="8115440" y="1227683"/>
                  </a:lnTo>
                  <a:lnTo>
                    <a:pt x="8114830" y="1223873"/>
                  </a:lnTo>
                  <a:lnTo>
                    <a:pt x="8112976" y="1222603"/>
                  </a:lnTo>
                  <a:lnTo>
                    <a:pt x="8108797" y="1212443"/>
                  </a:lnTo>
                  <a:lnTo>
                    <a:pt x="8111591" y="1211173"/>
                  </a:lnTo>
                  <a:lnTo>
                    <a:pt x="8110537" y="1207363"/>
                  </a:lnTo>
                  <a:lnTo>
                    <a:pt x="8107870" y="1207363"/>
                  </a:lnTo>
                  <a:lnTo>
                    <a:pt x="8107502" y="1206703"/>
                  </a:lnTo>
                  <a:lnTo>
                    <a:pt x="8107870" y="1206334"/>
                  </a:lnTo>
                  <a:lnTo>
                    <a:pt x="8107870" y="1205865"/>
                  </a:lnTo>
                  <a:lnTo>
                    <a:pt x="8106727" y="1205306"/>
                  </a:lnTo>
                  <a:lnTo>
                    <a:pt x="8106473" y="1204823"/>
                  </a:lnTo>
                  <a:lnTo>
                    <a:pt x="8106626" y="1205255"/>
                  </a:lnTo>
                  <a:lnTo>
                    <a:pt x="8106143" y="1205014"/>
                  </a:lnTo>
                  <a:lnTo>
                    <a:pt x="8104162" y="1202283"/>
                  </a:lnTo>
                  <a:lnTo>
                    <a:pt x="8100911" y="1194663"/>
                  </a:lnTo>
                  <a:lnTo>
                    <a:pt x="8099044" y="1190853"/>
                  </a:lnTo>
                  <a:lnTo>
                    <a:pt x="8101368" y="1189583"/>
                  </a:lnTo>
                  <a:lnTo>
                    <a:pt x="8098079" y="1185773"/>
                  </a:lnTo>
                  <a:lnTo>
                    <a:pt x="8094523" y="1179423"/>
                  </a:lnTo>
                  <a:lnTo>
                    <a:pt x="8090789" y="1170533"/>
                  </a:lnTo>
                  <a:lnTo>
                    <a:pt x="8086979" y="1160373"/>
                  </a:lnTo>
                  <a:lnTo>
                    <a:pt x="8079778" y="1141323"/>
                  </a:lnTo>
                  <a:lnTo>
                    <a:pt x="8076666" y="1132433"/>
                  </a:lnTo>
                  <a:lnTo>
                    <a:pt x="8073974" y="1127353"/>
                  </a:lnTo>
                  <a:lnTo>
                    <a:pt x="8070253" y="1119733"/>
                  </a:lnTo>
                  <a:lnTo>
                    <a:pt x="8047482" y="1084173"/>
                  </a:lnTo>
                  <a:lnTo>
                    <a:pt x="8046580" y="1080363"/>
                  </a:lnTo>
                  <a:lnTo>
                    <a:pt x="8047075" y="1077823"/>
                  </a:lnTo>
                  <a:lnTo>
                    <a:pt x="8045653" y="1072743"/>
                  </a:lnTo>
                  <a:lnTo>
                    <a:pt x="8042516" y="1067663"/>
                  </a:lnTo>
                  <a:lnTo>
                    <a:pt x="8042110" y="1068933"/>
                  </a:lnTo>
                  <a:lnTo>
                    <a:pt x="8042186" y="1070203"/>
                  </a:lnTo>
                  <a:lnTo>
                    <a:pt x="8042249" y="1071473"/>
                  </a:lnTo>
                  <a:lnTo>
                    <a:pt x="8042326" y="1072743"/>
                  </a:lnTo>
                  <a:lnTo>
                    <a:pt x="8041018" y="1071473"/>
                  </a:lnTo>
                  <a:lnTo>
                    <a:pt x="8039151" y="1067663"/>
                  </a:lnTo>
                  <a:lnTo>
                    <a:pt x="8037766" y="1063853"/>
                  </a:lnTo>
                  <a:lnTo>
                    <a:pt x="8035899" y="1060043"/>
                  </a:lnTo>
                  <a:lnTo>
                    <a:pt x="8034515" y="1056233"/>
                  </a:lnTo>
                  <a:lnTo>
                    <a:pt x="8040548" y="1063853"/>
                  </a:lnTo>
                  <a:lnTo>
                    <a:pt x="8038693" y="1058773"/>
                  </a:lnTo>
                  <a:lnTo>
                    <a:pt x="8038693" y="1056233"/>
                  </a:lnTo>
                  <a:lnTo>
                    <a:pt x="8034515" y="1051153"/>
                  </a:lnTo>
                  <a:lnTo>
                    <a:pt x="8029867" y="1042263"/>
                  </a:lnTo>
                  <a:lnTo>
                    <a:pt x="8025689" y="1035913"/>
                  </a:lnTo>
                  <a:lnTo>
                    <a:pt x="8021040" y="1028293"/>
                  </a:lnTo>
                  <a:lnTo>
                    <a:pt x="8016862" y="1023213"/>
                  </a:lnTo>
                  <a:lnTo>
                    <a:pt x="8013154" y="1023213"/>
                  </a:lnTo>
                  <a:lnTo>
                    <a:pt x="8007388" y="1013053"/>
                  </a:lnTo>
                  <a:lnTo>
                    <a:pt x="8004276" y="1006703"/>
                  </a:lnTo>
                  <a:lnTo>
                    <a:pt x="8002943" y="1003566"/>
                  </a:lnTo>
                  <a:lnTo>
                    <a:pt x="8002943" y="1005433"/>
                  </a:lnTo>
                  <a:lnTo>
                    <a:pt x="8002473" y="1006703"/>
                  </a:lnTo>
                  <a:lnTo>
                    <a:pt x="8000149" y="1000366"/>
                  </a:lnTo>
                  <a:lnTo>
                    <a:pt x="8002943" y="1005433"/>
                  </a:lnTo>
                  <a:lnTo>
                    <a:pt x="8002943" y="1003566"/>
                  </a:lnTo>
                  <a:lnTo>
                    <a:pt x="8002117" y="1001623"/>
                  </a:lnTo>
                  <a:lnTo>
                    <a:pt x="7999222" y="997813"/>
                  </a:lnTo>
                  <a:lnTo>
                    <a:pt x="7999336" y="999083"/>
                  </a:lnTo>
                  <a:lnTo>
                    <a:pt x="7999450" y="1000353"/>
                  </a:lnTo>
                  <a:lnTo>
                    <a:pt x="7999577" y="1001623"/>
                  </a:lnTo>
                  <a:lnTo>
                    <a:pt x="7999692" y="1002893"/>
                  </a:lnTo>
                  <a:lnTo>
                    <a:pt x="8001076" y="1006703"/>
                  </a:lnTo>
                  <a:lnTo>
                    <a:pt x="7999692" y="1005433"/>
                  </a:lnTo>
                  <a:lnTo>
                    <a:pt x="7996898" y="1001623"/>
                  </a:lnTo>
                  <a:lnTo>
                    <a:pt x="7995971" y="1001623"/>
                  </a:lnTo>
                  <a:lnTo>
                    <a:pt x="7995513" y="1000353"/>
                  </a:lnTo>
                  <a:lnTo>
                    <a:pt x="7994116" y="997813"/>
                  </a:lnTo>
                  <a:lnTo>
                    <a:pt x="7993659" y="997813"/>
                  </a:lnTo>
                  <a:lnTo>
                    <a:pt x="7992719" y="996543"/>
                  </a:lnTo>
                  <a:lnTo>
                    <a:pt x="7992262" y="995273"/>
                  </a:lnTo>
                  <a:lnTo>
                    <a:pt x="7990865" y="992733"/>
                  </a:lnTo>
                  <a:lnTo>
                    <a:pt x="7989011" y="988923"/>
                  </a:lnTo>
                  <a:lnTo>
                    <a:pt x="7988084" y="986383"/>
                  </a:lnTo>
                  <a:lnTo>
                    <a:pt x="7985760" y="981303"/>
                  </a:lnTo>
                  <a:lnTo>
                    <a:pt x="7985290" y="977493"/>
                  </a:lnTo>
                  <a:lnTo>
                    <a:pt x="7980185" y="976223"/>
                  </a:lnTo>
                  <a:lnTo>
                    <a:pt x="7978330" y="976223"/>
                  </a:lnTo>
                  <a:lnTo>
                    <a:pt x="7974622" y="974953"/>
                  </a:lnTo>
                  <a:lnTo>
                    <a:pt x="7971371" y="974953"/>
                  </a:lnTo>
                  <a:lnTo>
                    <a:pt x="7968120" y="973683"/>
                  </a:lnTo>
                  <a:lnTo>
                    <a:pt x="7965326" y="972413"/>
                  </a:lnTo>
                  <a:lnTo>
                    <a:pt x="7961147" y="969873"/>
                  </a:lnTo>
                  <a:lnTo>
                    <a:pt x="7962074" y="968603"/>
                  </a:lnTo>
                  <a:lnTo>
                    <a:pt x="7954658" y="963523"/>
                  </a:lnTo>
                  <a:lnTo>
                    <a:pt x="7954658" y="960983"/>
                  </a:lnTo>
                  <a:lnTo>
                    <a:pt x="7958366" y="963523"/>
                  </a:lnTo>
                  <a:lnTo>
                    <a:pt x="7959293" y="963523"/>
                  </a:lnTo>
                  <a:lnTo>
                    <a:pt x="7953718" y="959713"/>
                  </a:lnTo>
                  <a:lnTo>
                    <a:pt x="7949539" y="954633"/>
                  </a:lnTo>
                  <a:lnTo>
                    <a:pt x="7946288" y="950823"/>
                  </a:lnTo>
                  <a:lnTo>
                    <a:pt x="7943507" y="949553"/>
                  </a:lnTo>
                  <a:lnTo>
                    <a:pt x="7948612" y="950823"/>
                  </a:lnTo>
                  <a:lnTo>
                    <a:pt x="7953718" y="950823"/>
                  </a:lnTo>
                  <a:lnTo>
                    <a:pt x="7956042" y="952093"/>
                  </a:lnTo>
                  <a:lnTo>
                    <a:pt x="7958836" y="952093"/>
                  </a:lnTo>
                  <a:lnTo>
                    <a:pt x="7950009" y="948283"/>
                  </a:lnTo>
                  <a:lnTo>
                    <a:pt x="7929575" y="940663"/>
                  </a:lnTo>
                  <a:lnTo>
                    <a:pt x="7918437" y="936853"/>
                  </a:lnTo>
                  <a:lnTo>
                    <a:pt x="7925587" y="938123"/>
                  </a:lnTo>
                  <a:lnTo>
                    <a:pt x="7950009" y="943203"/>
                  </a:lnTo>
                  <a:lnTo>
                    <a:pt x="7954416" y="944473"/>
                  </a:lnTo>
                  <a:lnTo>
                    <a:pt x="7958836" y="945743"/>
                  </a:lnTo>
                  <a:lnTo>
                    <a:pt x="7964868" y="947013"/>
                  </a:lnTo>
                  <a:lnTo>
                    <a:pt x="7962544" y="944473"/>
                  </a:lnTo>
                  <a:lnTo>
                    <a:pt x="7969047" y="947013"/>
                  </a:lnTo>
                  <a:lnTo>
                    <a:pt x="7971828" y="948283"/>
                  </a:lnTo>
                  <a:lnTo>
                    <a:pt x="7975079" y="949553"/>
                  </a:lnTo>
                  <a:lnTo>
                    <a:pt x="7982509" y="950823"/>
                  </a:lnTo>
                  <a:lnTo>
                    <a:pt x="7986230" y="952093"/>
                  </a:lnTo>
                  <a:lnTo>
                    <a:pt x="7991792" y="952093"/>
                  </a:lnTo>
                  <a:lnTo>
                    <a:pt x="7992262" y="950823"/>
                  </a:lnTo>
                  <a:lnTo>
                    <a:pt x="7990865" y="948283"/>
                  </a:lnTo>
                  <a:lnTo>
                    <a:pt x="7995971" y="949553"/>
                  </a:lnTo>
                  <a:lnTo>
                    <a:pt x="8002473" y="952093"/>
                  </a:lnTo>
                  <a:lnTo>
                    <a:pt x="8005724" y="953363"/>
                  </a:lnTo>
                  <a:lnTo>
                    <a:pt x="8008048" y="954633"/>
                  </a:lnTo>
                  <a:lnTo>
                    <a:pt x="7999222" y="954633"/>
                  </a:lnTo>
                  <a:lnTo>
                    <a:pt x="8004327" y="955903"/>
                  </a:lnTo>
                  <a:lnTo>
                    <a:pt x="8010830" y="958443"/>
                  </a:lnTo>
                  <a:lnTo>
                    <a:pt x="8018627" y="961999"/>
                  </a:lnTo>
                  <a:lnTo>
                    <a:pt x="8018259" y="960983"/>
                  </a:lnTo>
                  <a:lnTo>
                    <a:pt x="8019186" y="960983"/>
                  </a:lnTo>
                  <a:lnTo>
                    <a:pt x="8019326" y="960780"/>
                  </a:lnTo>
                  <a:lnTo>
                    <a:pt x="8021040" y="960780"/>
                  </a:lnTo>
                  <a:lnTo>
                    <a:pt x="8021980" y="961237"/>
                  </a:lnTo>
                  <a:lnTo>
                    <a:pt x="8025689" y="961694"/>
                  </a:lnTo>
                  <a:lnTo>
                    <a:pt x="8029867" y="961694"/>
                  </a:lnTo>
                  <a:lnTo>
                    <a:pt x="8034972" y="962164"/>
                  </a:lnTo>
                  <a:lnTo>
                    <a:pt x="8035785" y="959713"/>
                  </a:lnTo>
                  <a:lnTo>
                    <a:pt x="8055991" y="959713"/>
                  </a:lnTo>
                  <a:lnTo>
                    <a:pt x="8067954" y="960983"/>
                  </a:lnTo>
                  <a:lnTo>
                    <a:pt x="8082801" y="964793"/>
                  </a:lnTo>
                  <a:lnTo>
                    <a:pt x="8088833" y="959713"/>
                  </a:lnTo>
                  <a:lnTo>
                    <a:pt x="8105546" y="963523"/>
                  </a:lnTo>
                  <a:lnTo>
                    <a:pt x="8105546" y="967333"/>
                  </a:lnTo>
                  <a:lnTo>
                    <a:pt x="8090967" y="966063"/>
                  </a:lnTo>
                  <a:lnTo>
                    <a:pt x="8054289" y="966063"/>
                  </a:lnTo>
                  <a:lnTo>
                    <a:pt x="8036839" y="964793"/>
                  </a:lnTo>
                  <a:lnTo>
                    <a:pt x="8036369" y="966063"/>
                  </a:lnTo>
                  <a:lnTo>
                    <a:pt x="8045996" y="967333"/>
                  </a:lnTo>
                  <a:lnTo>
                    <a:pt x="8071650" y="967333"/>
                  </a:lnTo>
                  <a:lnTo>
                    <a:pt x="8075841" y="968603"/>
                  </a:lnTo>
                  <a:lnTo>
                    <a:pt x="8082331" y="971143"/>
                  </a:lnTo>
                  <a:lnTo>
                    <a:pt x="8084388" y="971943"/>
                  </a:lnTo>
                  <a:lnTo>
                    <a:pt x="8086052" y="971143"/>
                  </a:lnTo>
                  <a:lnTo>
                    <a:pt x="8110956" y="972413"/>
                  </a:lnTo>
                  <a:lnTo>
                    <a:pt x="8128241" y="973683"/>
                  </a:lnTo>
                  <a:lnTo>
                    <a:pt x="8145793" y="976223"/>
                  </a:lnTo>
                  <a:lnTo>
                    <a:pt x="8171485" y="980033"/>
                  </a:lnTo>
                  <a:lnTo>
                    <a:pt x="8167764" y="977493"/>
                  </a:lnTo>
                  <a:lnTo>
                    <a:pt x="8176590" y="977493"/>
                  </a:lnTo>
                  <a:lnTo>
                    <a:pt x="8185404" y="976223"/>
                  </a:lnTo>
                  <a:lnTo>
                    <a:pt x="8187271" y="980033"/>
                  </a:lnTo>
                  <a:lnTo>
                    <a:pt x="8206841" y="981303"/>
                  </a:lnTo>
                  <a:lnTo>
                    <a:pt x="8216328" y="982573"/>
                  </a:lnTo>
                  <a:lnTo>
                    <a:pt x="8225803" y="983843"/>
                  </a:lnTo>
                  <a:lnTo>
                    <a:pt x="8237283" y="986383"/>
                  </a:lnTo>
                  <a:lnTo>
                    <a:pt x="8243024" y="987653"/>
                  </a:lnTo>
                  <a:lnTo>
                    <a:pt x="8257375" y="991463"/>
                  </a:lnTo>
                  <a:lnTo>
                    <a:pt x="8261553" y="987653"/>
                  </a:lnTo>
                  <a:lnTo>
                    <a:pt x="8267128" y="987653"/>
                  </a:lnTo>
                  <a:lnTo>
                    <a:pt x="8275015" y="995273"/>
                  </a:lnTo>
                  <a:lnTo>
                    <a:pt x="8278266" y="988923"/>
                  </a:lnTo>
                  <a:lnTo>
                    <a:pt x="8290344" y="987653"/>
                  </a:lnTo>
                  <a:lnTo>
                    <a:pt x="8297773" y="987653"/>
                  </a:lnTo>
                  <a:lnTo>
                    <a:pt x="8302879" y="986383"/>
                  </a:lnTo>
                  <a:lnTo>
                    <a:pt x="8307057" y="987653"/>
                  </a:lnTo>
                  <a:lnTo>
                    <a:pt x="8311235" y="988923"/>
                  </a:lnTo>
                  <a:lnTo>
                    <a:pt x="8320176" y="988923"/>
                  </a:lnTo>
                  <a:lnTo>
                    <a:pt x="8321510" y="987653"/>
                  </a:lnTo>
                  <a:lnTo>
                    <a:pt x="8332127" y="987653"/>
                  </a:lnTo>
                  <a:lnTo>
                    <a:pt x="8338159" y="991463"/>
                  </a:lnTo>
                  <a:lnTo>
                    <a:pt x="8339556" y="982573"/>
                  </a:lnTo>
                  <a:lnTo>
                    <a:pt x="8348840" y="985113"/>
                  </a:lnTo>
                  <a:lnTo>
                    <a:pt x="8352561" y="987653"/>
                  </a:lnTo>
                  <a:lnTo>
                    <a:pt x="8358137" y="991463"/>
                  </a:lnTo>
                  <a:lnTo>
                    <a:pt x="8368957" y="992733"/>
                  </a:lnTo>
                  <a:lnTo>
                    <a:pt x="8377923" y="991463"/>
                  </a:lnTo>
                  <a:lnTo>
                    <a:pt x="8388363" y="990193"/>
                  </a:lnTo>
                  <a:lnTo>
                    <a:pt x="8403628" y="990193"/>
                  </a:lnTo>
                  <a:lnTo>
                    <a:pt x="8411350" y="992733"/>
                  </a:lnTo>
                  <a:lnTo>
                    <a:pt x="8415934" y="996543"/>
                  </a:lnTo>
                  <a:lnTo>
                    <a:pt x="8416315" y="997813"/>
                  </a:lnTo>
                  <a:lnTo>
                    <a:pt x="8416696" y="999083"/>
                  </a:lnTo>
                  <a:lnTo>
                    <a:pt x="8412924" y="1002893"/>
                  </a:lnTo>
                  <a:lnTo>
                    <a:pt x="8421510" y="999083"/>
                  </a:lnTo>
                  <a:lnTo>
                    <a:pt x="8425066" y="997813"/>
                  </a:lnTo>
                  <a:lnTo>
                    <a:pt x="8432889" y="997813"/>
                  </a:lnTo>
                  <a:lnTo>
                    <a:pt x="8435200" y="1000353"/>
                  </a:lnTo>
                  <a:lnTo>
                    <a:pt x="8433346" y="1000353"/>
                  </a:lnTo>
                  <a:lnTo>
                    <a:pt x="8430095" y="1001623"/>
                  </a:lnTo>
                  <a:lnTo>
                    <a:pt x="8436966" y="1002893"/>
                  </a:lnTo>
                  <a:lnTo>
                    <a:pt x="8440141" y="1002893"/>
                  </a:lnTo>
                  <a:lnTo>
                    <a:pt x="8442693" y="1001623"/>
                  </a:lnTo>
                  <a:lnTo>
                    <a:pt x="8447735" y="1001623"/>
                  </a:lnTo>
                  <a:lnTo>
                    <a:pt x="8450986" y="996543"/>
                  </a:lnTo>
                  <a:lnTo>
                    <a:pt x="8454238" y="990193"/>
                  </a:lnTo>
                  <a:lnTo>
                    <a:pt x="8457489" y="990193"/>
                  </a:lnTo>
                  <a:lnTo>
                    <a:pt x="8453780" y="988923"/>
                  </a:lnTo>
                  <a:lnTo>
                    <a:pt x="8461680" y="987653"/>
                  </a:lnTo>
                  <a:lnTo>
                    <a:pt x="8478723" y="987653"/>
                  </a:lnTo>
                  <a:lnTo>
                    <a:pt x="8487677" y="988923"/>
                  </a:lnTo>
                  <a:lnTo>
                    <a:pt x="8487207" y="991463"/>
                  </a:lnTo>
                  <a:lnTo>
                    <a:pt x="8498345" y="988923"/>
                  </a:lnTo>
                  <a:lnTo>
                    <a:pt x="8498815" y="991463"/>
                  </a:lnTo>
                  <a:lnTo>
                    <a:pt x="8534184" y="991463"/>
                  </a:lnTo>
                  <a:lnTo>
                    <a:pt x="8541067" y="992733"/>
                  </a:lnTo>
                  <a:lnTo>
                    <a:pt x="8540598" y="994003"/>
                  </a:lnTo>
                  <a:lnTo>
                    <a:pt x="8548738" y="995273"/>
                  </a:lnTo>
                  <a:lnTo>
                    <a:pt x="8556879" y="996543"/>
                  </a:lnTo>
                  <a:lnTo>
                    <a:pt x="8572983" y="996543"/>
                  </a:lnTo>
                  <a:lnTo>
                    <a:pt x="8589962" y="995273"/>
                  </a:lnTo>
                  <a:lnTo>
                    <a:pt x="8608860" y="995273"/>
                  </a:lnTo>
                  <a:lnTo>
                    <a:pt x="8605139" y="997813"/>
                  </a:lnTo>
                  <a:lnTo>
                    <a:pt x="8609457" y="999083"/>
                  </a:lnTo>
                  <a:lnTo>
                    <a:pt x="8613242" y="995273"/>
                  </a:lnTo>
                  <a:lnTo>
                    <a:pt x="8618601" y="995273"/>
                  </a:lnTo>
                  <a:lnTo>
                    <a:pt x="8619071" y="999083"/>
                  </a:lnTo>
                  <a:lnTo>
                    <a:pt x="8628824" y="995273"/>
                  </a:lnTo>
                  <a:lnTo>
                    <a:pt x="8629980" y="997813"/>
                  </a:lnTo>
                  <a:lnTo>
                    <a:pt x="8631136" y="1000353"/>
                  </a:lnTo>
                  <a:lnTo>
                    <a:pt x="8637638" y="1002893"/>
                  </a:lnTo>
                  <a:lnTo>
                    <a:pt x="8634857" y="997813"/>
                  </a:lnTo>
                  <a:lnTo>
                    <a:pt x="8646922" y="999083"/>
                  </a:lnTo>
                  <a:lnTo>
                    <a:pt x="8653653" y="1000353"/>
                  </a:lnTo>
                  <a:lnTo>
                    <a:pt x="8660397" y="1001623"/>
                  </a:lnTo>
                  <a:lnTo>
                    <a:pt x="8656218" y="1005433"/>
                  </a:lnTo>
                  <a:lnTo>
                    <a:pt x="8654821" y="1006703"/>
                  </a:lnTo>
                  <a:lnTo>
                    <a:pt x="8652967" y="1009243"/>
                  </a:lnTo>
                  <a:lnTo>
                    <a:pt x="8662251" y="1005433"/>
                  </a:lnTo>
                  <a:lnTo>
                    <a:pt x="8664105" y="1010513"/>
                  </a:lnTo>
                  <a:lnTo>
                    <a:pt x="8671065" y="1005433"/>
                  </a:lnTo>
                  <a:lnTo>
                    <a:pt x="8670950" y="1006703"/>
                  </a:lnTo>
                  <a:lnTo>
                    <a:pt x="8670836" y="1007973"/>
                  </a:lnTo>
                  <a:lnTo>
                    <a:pt x="8670722" y="1009243"/>
                  </a:lnTo>
                  <a:lnTo>
                    <a:pt x="8670607" y="1010513"/>
                  </a:lnTo>
                  <a:lnTo>
                    <a:pt x="8682672" y="1007973"/>
                  </a:lnTo>
                  <a:lnTo>
                    <a:pt x="8683142" y="1009243"/>
                  </a:lnTo>
                  <a:lnTo>
                    <a:pt x="8683612" y="1010513"/>
                  </a:lnTo>
                  <a:lnTo>
                    <a:pt x="8680361" y="1011783"/>
                  </a:lnTo>
                  <a:lnTo>
                    <a:pt x="8684539" y="1011783"/>
                  </a:lnTo>
                  <a:lnTo>
                    <a:pt x="8704504" y="1006703"/>
                  </a:lnTo>
                  <a:lnTo>
                    <a:pt x="8692426" y="1009243"/>
                  </a:lnTo>
                  <a:lnTo>
                    <a:pt x="8694280" y="1002893"/>
                  </a:lnTo>
                  <a:lnTo>
                    <a:pt x="8702319" y="1000353"/>
                  </a:lnTo>
                  <a:lnTo>
                    <a:pt x="8708441" y="1001623"/>
                  </a:lnTo>
                  <a:lnTo>
                    <a:pt x="8713876" y="1002893"/>
                  </a:lnTo>
                  <a:lnTo>
                    <a:pt x="8719820" y="1002893"/>
                  </a:lnTo>
                  <a:lnTo>
                    <a:pt x="8713787" y="1004163"/>
                  </a:lnTo>
                  <a:lnTo>
                    <a:pt x="8728177" y="1002893"/>
                  </a:lnTo>
                  <a:lnTo>
                    <a:pt x="8728329" y="1004163"/>
                  </a:lnTo>
                  <a:lnTo>
                    <a:pt x="8728646" y="1006703"/>
                  </a:lnTo>
                  <a:lnTo>
                    <a:pt x="8737003" y="1007973"/>
                  </a:lnTo>
                  <a:lnTo>
                    <a:pt x="8734679" y="1006703"/>
                  </a:lnTo>
                  <a:lnTo>
                    <a:pt x="8730971" y="1005433"/>
                  </a:lnTo>
                  <a:lnTo>
                    <a:pt x="8736533" y="1004163"/>
                  </a:lnTo>
                  <a:lnTo>
                    <a:pt x="8740711" y="1004163"/>
                  </a:lnTo>
                  <a:lnTo>
                    <a:pt x="8738857" y="1006703"/>
                  </a:lnTo>
                  <a:lnTo>
                    <a:pt x="8742578" y="1006703"/>
                  </a:lnTo>
                  <a:lnTo>
                    <a:pt x="8743505" y="1002893"/>
                  </a:lnTo>
                  <a:lnTo>
                    <a:pt x="8754186" y="1000353"/>
                  </a:lnTo>
                  <a:lnTo>
                    <a:pt x="8763470" y="1002893"/>
                  </a:lnTo>
                  <a:lnTo>
                    <a:pt x="8763000" y="1004163"/>
                  </a:lnTo>
                  <a:lnTo>
                    <a:pt x="8764854" y="1004163"/>
                  </a:lnTo>
                  <a:lnTo>
                    <a:pt x="8766251" y="1002893"/>
                  </a:lnTo>
                  <a:lnTo>
                    <a:pt x="8770429" y="1004163"/>
                  </a:lnTo>
                  <a:lnTo>
                    <a:pt x="8767648" y="1009243"/>
                  </a:lnTo>
                  <a:lnTo>
                    <a:pt x="8775535" y="1004163"/>
                  </a:lnTo>
                  <a:lnTo>
                    <a:pt x="8780640" y="1005433"/>
                  </a:lnTo>
                  <a:lnTo>
                    <a:pt x="8788540" y="1002893"/>
                  </a:lnTo>
                  <a:lnTo>
                    <a:pt x="8788070" y="1005433"/>
                  </a:lnTo>
                  <a:lnTo>
                    <a:pt x="8784819" y="1006703"/>
                  </a:lnTo>
                  <a:lnTo>
                    <a:pt x="8824760" y="1009243"/>
                  </a:lnTo>
                  <a:lnTo>
                    <a:pt x="8825217" y="1013053"/>
                  </a:lnTo>
                  <a:lnTo>
                    <a:pt x="8830373" y="1011783"/>
                  </a:lnTo>
                  <a:lnTo>
                    <a:pt x="8843823" y="1011783"/>
                  </a:lnTo>
                  <a:lnTo>
                    <a:pt x="8846109" y="1009243"/>
                  </a:lnTo>
                  <a:lnTo>
                    <a:pt x="8853818" y="1010513"/>
                  </a:lnTo>
                  <a:lnTo>
                    <a:pt x="8863178" y="1010513"/>
                  </a:lnTo>
                  <a:lnTo>
                    <a:pt x="8870277" y="1011783"/>
                  </a:lnTo>
                  <a:lnTo>
                    <a:pt x="8870569" y="1013053"/>
                  </a:lnTo>
                  <a:lnTo>
                    <a:pt x="8871179" y="1015593"/>
                  </a:lnTo>
                  <a:lnTo>
                    <a:pt x="8889238" y="1015593"/>
                  </a:lnTo>
                  <a:lnTo>
                    <a:pt x="8922893" y="1013053"/>
                  </a:lnTo>
                  <a:lnTo>
                    <a:pt x="8944077" y="1014323"/>
                  </a:lnTo>
                  <a:lnTo>
                    <a:pt x="8951874" y="1016863"/>
                  </a:lnTo>
                  <a:lnTo>
                    <a:pt x="8955773" y="1018133"/>
                  </a:lnTo>
                  <a:lnTo>
                    <a:pt x="8972169" y="1020673"/>
                  </a:lnTo>
                  <a:lnTo>
                    <a:pt x="8990305" y="1020673"/>
                  </a:lnTo>
                  <a:lnTo>
                    <a:pt x="9007221" y="1021943"/>
                  </a:lnTo>
                  <a:lnTo>
                    <a:pt x="9114942" y="1016863"/>
                  </a:lnTo>
                  <a:lnTo>
                    <a:pt x="9121762" y="1018133"/>
                  </a:lnTo>
                  <a:lnTo>
                    <a:pt x="9128569" y="1019403"/>
                  </a:lnTo>
                  <a:lnTo>
                    <a:pt x="9135389" y="1020673"/>
                  </a:lnTo>
                  <a:lnTo>
                    <a:pt x="9158351" y="1020673"/>
                  </a:lnTo>
                  <a:lnTo>
                    <a:pt x="9181668" y="1019403"/>
                  </a:lnTo>
                  <a:lnTo>
                    <a:pt x="9203157" y="1020673"/>
                  </a:lnTo>
                  <a:lnTo>
                    <a:pt x="9210586" y="1018133"/>
                  </a:lnTo>
                  <a:lnTo>
                    <a:pt x="9225394" y="1020673"/>
                  </a:lnTo>
                  <a:lnTo>
                    <a:pt x="9261259" y="1020673"/>
                  </a:lnTo>
                  <a:lnTo>
                    <a:pt x="9280233" y="1023213"/>
                  </a:lnTo>
                  <a:lnTo>
                    <a:pt x="9286265" y="1021943"/>
                  </a:lnTo>
                  <a:lnTo>
                    <a:pt x="9289986" y="1021943"/>
                  </a:lnTo>
                  <a:lnTo>
                    <a:pt x="9288132" y="1020673"/>
                  </a:lnTo>
                  <a:lnTo>
                    <a:pt x="9287662" y="1018133"/>
                  </a:lnTo>
                  <a:lnTo>
                    <a:pt x="9292145" y="1019771"/>
                  </a:lnTo>
                  <a:lnTo>
                    <a:pt x="9291383" y="1019962"/>
                  </a:lnTo>
                  <a:lnTo>
                    <a:pt x="9292679" y="1019962"/>
                  </a:lnTo>
                  <a:lnTo>
                    <a:pt x="9294635" y="1020673"/>
                  </a:lnTo>
                  <a:lnTo>
                    <a:pt x="9309024" y="1018133"/>
                  </a:lnTo>
                  <a:lnTo>
                    <a:pt x="9308795" y="1019403"/>
                  </a:lnTo>
                  <a:lnTo>
                    <a:pt x="9308554" y="1020673"/>
                  </a:lnTo>
                  <a:lnTo>
                    <a:pt x="9308097" y="1023213"/>
                  </a:lnTo>
                  <a:lnTo>
                    <a:pt x="9306230" y="1023213"/>
                  </a:lnTo>
                  <a:lnTo>
                    <a:pt x="9309303" y="1024483"/>
                  </a:lnTo>
                  <a:lnTo>
                    <a:pt x="9327451" y="1024483"/>
                  </a:lnTo>
                  <a:lnTo>
                    <a:pt x="9335491" y="1025753"/>
                  </a:lnTo>
                  <a:lnTo>
                    <a:pt x="9331312" y="1020673"/>
                  </a:lnTo>
                  <a:lnTo>
                    <a:pt x="9343250" y="1021803"/>
                  </a:lnTo>
                  <a:lnTo>
                    <a:pt x="9379801" y="1019403"/>
                  </a:lnTo>
                  <a:lnTo>
                    <a:pt x="9443898" y="1021943"/>
                  </a:lnTo>
                  <a:lnTo>
                    <a:pt x="9480817" y="1019403"/>
                  </a:lnTo>
                  <a:lnTo>
                    <a:pt x="9479369" y="1020673"/>
                  </a:lnTo>
                  <a:lnTo>
                    <a:pt x="9489173" y="1020673"/>
                  </a:lnTo>
                  <a:lnTo>
                    <a:pt x="9492424" y="1021943"/>
                  </a:lnTo>
                  <a:lnTo>
                    <a:pt x="9502470" y="1025753"/>
                  </a:lnTo>
                  <a:lnTo>
                    <a:pt x="9511868" y="1024483"/>
                  </a:lnTo>
                  <a:lnTo>
                    <a:pt x="9529559" y="1019403"/>
                  </a:lnTo>
                  <a:lnTo>
                    <a:pt x="9529559" y="1018133"/>
                  </a:lnTo>
                  <a:lnTo>
                    <a:pt x="9530029" y="1018133"/>
                  </a:lnTo>
                  <a:lnTo>
                    <a:pt x="9530029" y="1019048"/>
                  </a:lnTo>
                  <a:lnTo>
                    <a:pt x="9534677" y="1019048"/>
                  </a:lnTo>
                  <a:lnTo>
                    <a:pt x="9538081" y="1018616"/>
                  </a:lnTo>
                  <a:lnTo>
                    <a:pt x="9550463" y="1019403"/>
                  </a:lnTo>
                  <a:lnTo>
                    <a:pt x="9548952" y="1020673"/>
                  </a:lnTo>
                  <a:lnTo>
                    <a:pt x="9547682" y="1021803"/>
                  </a:lnTo>
                  <a:lnTo>
                    <a:pt x="9551733" y="1019403"/>
                  </a:lnTo>
                  <a:lnTo>
                    <a:pt x="9556204" y="1018133"/>
                  </a:lnTo>
                  <a:lnTo>
                    <a:pt x="9553715" y="1019403"/>
                  </a:lnTo>
                  <a:lnTo>
                    <a:pt x="9574365" y="1020673"/>
                  </a:lnTo>
                  <a:lnTo>
                    <a:pt x="9595028" y="1021943"/>
                  </a:lnTo>
                  <a:lnTo>
                    <a:pt x="9686709" y="1021943"/>
                  </a:lnTo>
                  <a:lnTo>
                    <a:pt x="9732467" y="1023213"/>
                  </a:lnTo>
                  <a:lnTo>
                    <a:pt x="9729686" y="1020673"/>
                  </a:lnTo>
                  <a:lnTo>
                    <a:pt x="9765335" y="1020673"/>
                  </a:lnTo>
                  <a:lnTo>
                    <a:pt x="9775177" y="1021943"/>
                  </a:lnTo>
                  <a:lnTo>
                    <a:pt x="9784067" y="1023213"/>
                  </a:lnTo>
                  <a:lnTo>
                    <a:pt x="9792652" y="1020673"/>
                  </a:lnTo>
                  <a:lnTo>
                    <a:pt x="9799930" y="1019403"/>
                  </a:lnTo>
                  <a:lnTo>
                    <a:pt x="9804895" y="1016863"/>
                  </a:lnTo>
                  <a:lnTo>
                    <a:pt x="9813938" y="1016863"/>
                  </a:lnTo>
                  <a:lnTo>
                    <a:pt x="9821202" y="1018133"/>
                  </a:lnTo>
                  <a:lnTo>
                    <a:pt x="9825076" y="1019403"/>
                  </a:lnTo>
                  <a:lnTo>
                    <a:pt x="9823933" y="1020673"/>
                  </a:lnTo>
                  <a:lnTo>
                    <a:pt x="9844773" y="1015593"/>
                  </a:lnTo>
                  <a:lnTo>
                    <a:pt x="9856254" y="1014323"/>
                  </a:lnTo>
                  <a:lnTo>
                    <a:pt x="9869437" y="1014323"/>
                  </a:lnTo>
                  <a:lnTo>
                    <a:pt x="9873602" y="1015593"/>
                  </a:lnTo>
                  <a:lnTo>
                    <a:pt x="9880524" y="1015593"/>
                  </a:lnTo>
                  <a:lnTo>
                    <a:pt x="9889084" y="1014323"/>
                  </a:lnTo>
                  <a:lnTo>
                    <a:pt x="9898228" y="1011783"/>
                  </a:lnTo>
                  <a:lnTo>
                    <a:pt x="9907219" y="1010513"/>
                  </a:lnTo>
                  <a:lnTo>
                    <a:pt x="9914877" y="1009243"/>
                  </a:lnTo>
                  <a:lnTo>
                    <a:pt x="9920351" y="1009243"/>
                  </a:lnTo>
                  <a:lnTo>
                    <a:pt x="9922827" y="1010513"/>
                  </a:lnTo>
                  <a:lnTo>
                    <a:pt x="9922827" y="1010716"/>
                  </a:lnTo>
                  <a:lnTo>
                    <a:pt x="9922929" y="1010513"/>
                  </a:lnTo>
                  <a:lnTo>
                    <a:pt x="9935362" y="1010513"/>
                  </a:lnTo>
                  <a:lnTo>
                    <a:pt x="9941408" y="1007973"/>
                  </a:lnTo>
                  <a:lnTo>
                    <a:pt x="9944646" y="1007973"/>
                  </a:lnTo>
                  <a:lnTo>
                    <a:pt x="9947440" y="1006703"/>
                  </a:lnTo>
                  <a:lnTo>
                    <a:pt x="9950691" y="1006703"/>
                  </a:lnTo>
                  <a:lnTo>
                    <a:pt x="9953473" y="1005433"/>
                  </a:lnTo>
                  <a:lnTo>
                    <a:pt x="9959975" y="1004163"/>
                  </a:lnTo>
                  <a:lnTo>
                    <a:pt x="9978314" y="999083"/>
                  </a:lnTo>
                  <a:lnTo>
                    <a:pt x="9987915" y="996543"/>
                  </a:lnTo>
                  <a:lnTo>
                    <a:pt x="9995916" y="994537"/>
                  </a:lnTo>
                  <a:lnTo>
                    <a:pt x="9996653" y="994537"/>
                  </a:lnTo>
                  <a:lnTo>
                    <a:pt x="9996894" y="994295"/>
                  </a:lnTo>
                  <a:lnTo>
                    <a:pt x="9998050" y="994003"/>
                  </a:lnTo>
                  <a:lnTo>
                    <a:pt x="9997821" y="994638"/>
                  </a:lnTo>
                  <a:lnTo>
                    <a:pt x="9999904" y="992733"/>
                  </a:lnTo>
                  <a:lnTo>
                    <a:pt x="10004552" y="990193"/>
                  </a:lnTo>
                  <a:lnTo>
                    <a:pt x="10022649" y="973683"/>
                  </a:lnTo>
                  <a:lnTo>
                    <a:pt x="10024974" y="971143"/>
                  </a:lnTo>
                  <a:lnTo>
                    <a:pt x="10027768" y="968603"/>
                  </a:lnTo>
                  <a:lnTo>
                    <a:pt x="10032403" y="964793"/>
                  </a:lnTo>
                  <a:lnTo>
                    <a:pt x="10034257" y="962253"/>
                  </a:lnTo>
                  <a:lnTo>
                    <a:pt x="10037508" y="957173"/>
                  </a:lnTo>
                  <a:lnTo>
                    <a:pt x="10039833" y="954633"/>
                  </a:lnTo>
                  <a:close/>
                </a:path>
                <a:path w="10042525" h="1289050">
                  <a:moveTo>
                    <a:pt x="10042068" y="483768"/>
                  </a:moveTo>
                  <a:lnTo>
                    <a:pt x="10041141" y="481228"/>
                  </a:lnTo>
                  <a:lnTo>
                    <a:pt x="10030917" y="477367"/>
                  </a:lnTo>
                  <a:lnTo>
                    <a:pt x="10027679" y="476148"/>
                  </a:lnTo>
                  <a:lnTo>
                    <a:pt x="10022561" y="473608"/>
                  </a:lnTo>
                  <a:lnTo>
                    <a:pt x="10026282" y="472338"/>
                  </a:lnTo>
                  <a:lnTo>
                    <a:pt x="10023030" y="472338"/>
                  </a:lnTo>
                  <a:lnTo>
                    <a:pt x="10021633" y="471068"/>
                  </a:lnTo>
                  <a:lnTo>
                    <a:pt x="10022103" y="472338"/>
                  </a:lnTo>
                  <a:lnTo>
                    <a:pt x="10019779" y="472338"/>
                  </a:lnTo>
                  <a:lnTo>
                    <a:pt x="10017925" y="469798"/>
                  </a:lnTo>
                  <a:lnTo>
                    <a:pt x="10016528" y="468528"/>
                  </a:lnTo>
                  <a:lnTo>
                    <a:pt x="10016998" y="469798"/>
                  </a:lnTo>
                  <a:lnTo>
                    <a:pt x="10017455" y="469798"/>
                  </a:lnTo>
                  <a:lnTo>
                    <a:pt x="10017925" y="471068"/>
                  </a:lnTo>
                  <a:lnTo>
                    <a:pt x="10017455" y="471068"/>
                  </a:lnTo>
                  <a:lnTo>
                    <a:pt x="10016998" y="472338"/>
                  </a:lnTo>
                  <a:lnTo>
                    <a:pt x="10014674" y="472338"/>
                  </a:lnTo>
                  <a:lnTo>
                    <a:pt x="10013975" y="471068"/>
                  </a:lnTo>
                  <a:lnTo>
                    <a:pt x="10013429" y="470217"/>
                  </a:lnTo>
                  <a:lnTo>
                    <a:pt x="10015131" y="474878"/>
                  </a:lnTo>
                  <a:lnTo>
                    <a:pt x="10003625" y="469798"/>
                  </a:lnTo>
                  <a:lnTo>
                    <a:pt x="10000742" y="468528"/>
                  </a:lnTo>
                  <a:lnTo>
                    <a:pt x="9998888" y="469798"/>
                  </a:lnTo>
                  <a:lnTo>
                    <a:pt x="9995167" y="468528"/>
                  </a:lnTo>
                  <a:lnTo>
                    <a:pt x="9995294" y="469798"/>
                  </a:lnTo>
                  <a:lnTo>
                    <a:pt x="9995408" y="471068"/>
                  </a:lnTo>
                  <a:lnTo>
                    <a:pt x="9995522" y="472338"/>
                  </a:lnTo>
                  <a:lnTo>
                    <a:pt x="9995637" y="473608"/>
                  </a:lnTo>
                  <a:lnTo>
                    <a:pt x="9992855" y="473608"/>
                  </a:lnTo>
                  <a:lnTo>
                    <a:pt x="9989134" y="474878"/>
                  </a:lnTo>
                  <a:lnTo>
                    <a:pt x="9989134" y="473608"/>
                  </a:lnTo>
                  <a:lnTo>
                    <a:pt x="9989134" y="471068"/>
                  </a:lnTo>
                  <a:lnTo>
                    <a:pt x="9988207" y="470712"/>
                  </a:lnTo>
                  <a:lnTo>
                    <a:pt x="9988207" y="472338"/>
                  </a:lnTo>
                  <a:lnTo>
                    <a:pt x="9987280" y="473608"/>
                  </a:lnTo>
                  <a:lnTo>
                    <a:pt x="9982632" y="471068"/>
                  </a:lnTo>
                  <a:lnTo>
                    <a:pt x="9983559" y="470217"/>
                  </a:lnTo>
                  <a:lnTo>
                    <a:pt x="9988207" y="472338"/>
                  </a:lnTo>
                  <a:lnTo>
                    <a:pt x="9988207" y="470712"/>
                  </a:lnTo>
                  <a:lnTo>
                    <a:pt x="9985883" y="469798"/>
                  </a:lnTo>
                  <a:lnTo>
                    <a:pt x="9984029" y="469798"/>
                  </a:lnTo>
                  <a:lnTo>
                    <a:pt x="9981247" y="468528"/>
                  </a:lnTo>
                  <a:lnTo>
                    <a:pt x="9978923" y="469798"/>
                  </a:lnTo>
                  <a:lnTo>
                    <a:pt x="9975837" y="469201"/>
                  </a:lnTo>
                  <a:lnTo>
                    <a:pt x="9974047" y="467448"/>
                  </a:lnTo>
                  <a:lnTo>
                    <a:pt x="9956343" y="449668"/>
                  </a:lnTo>
                  <a:lnTo>
                    <a:pt x="9953777" y="447128"/>
                  </a:lnTo>
                  <a:lnTo>
                    <a:pt x="9940963" y="434428"/>
                  </a:lnTo>
                  <a:lnTo>
                    <a:pt x="9933800" y="427329"/>
                  </a:lnTo>
                  <a:lnTo>
                    <a:pt x="9933800" y="501091"/>
                  </a:lnTo>
                  <a:lnTo>
                    <a:pt x="9932962" y="501548"/>
                  </a:lnTo>
                  <a:lnTo>
                    <a:pt x="9933419" y="505358"/>
                  </a:lnTo>
                  <a:lnTo>
                    <a:pt x="9927387" y="504088"/>
                  </a:lnTo>
                  <a:lnTo>
                    <a:pt x="9929241" y="507898"/>
                  </a:lnTo>
                  <a:lnTo>
                    <a:pt x="9925063" y="507898"/>
                  </a:lnTo>
                  <a:lnTo>
                    <a:pt x="9922739" y="505358"/>
                  </a:lnTo>
                  <a:lnTo>
                    <a:pt x="9925063" y="504088"/>
                  </a:lnTo>
                  <a:lnTo>
                    <a:pt x="9927590" y="500621"/>
                  </a:lnTo>
                  <a:lnTo>
                    <a:pt x="9933800" y="501091"/>
                  </a:lnTo>
                  <a:lnTo>
                    <a:pt x="9933800" y="427329"/>
                  </a:lnTo>
                  <a:lnTo>
                    <a:pt x="9929431" y="422998"/>
                  </a:lnTo>
                  <a:lnTo>
                    <a:pt x="9926866" y="420458"/>
                  </a:lnTo>
                  <a:lnTo>
                    <a:pt x="9915779" y="409028"/>
                  </a:lnTo>
                  <a:lnTo>
                    <a:pt x="9907473" y="401408"/>
                  </a:lnTo>
                  <a:lnTo>
                    <a:pt x="9902317" y="396328"/>
                  </a:lnTo>
                  <a:lnTo>
                    <a:pt x="9906952" y="402678"/>
                  </a:lnTo>
                  <a:lnTo>
                    <a:pt x="9911601" y="410298"/>
                  </a:lnTo>
                  <a:lnTo>
                    <a:pt x="9919957" y="422998"/>
                  </a:lnTo>
                  <a:lnTo>
                    <a:pt x="9912401" y="415378"/>
                  </a:lnTo>
                  <a:lnTo>
                    <a:pt x="9905098" y="407758"/>
                  </a:lnTo>
                  <a:lnTo>
                    <a:pt x="9898151" y="401408"/>
                  </a:lnTo>
                  <a:lnTo>
                    <a:pt x="9891636" y="393788"/>
                  </a:lnTo>
                  <a:lnTo>
                    <a:pt x="9880143" y="381088"/>
                  </a:lnTo>
                  <a:lnTo>
                    <a:pt x="9876549" y="377278"/>
                  </a:lnTo>
                  <a:lnTo>
                    <a:pt x="9869348" y="369658"/>
                  </a:lnTo>
                  <a:lnTo>
                    <a:pt x="9866097" y="365848"/>
                  </a:lnTo>
                  <a:lnTo>
                    <a:pt x="9862375" y="362038"/>
                  </a:lnTo>
                  <a:lnTo>
                    <a:pt x="9859137" y="358228"/>
                  </a:lnTo>
                  <a:lnTo>
                    <a:pt x="9856813" y="355688"/>
                  </a:lnTo>
                  <a:lnTo>
                    <a:pt x="9854959" y="351878"/>
                  </a:lnTo>
                  <a:lnTo>
                    <a:pt x="9852635" y="349338"/>
                  </a:lnTo>
                  <a:lnTo>
                    <a:pt x="9849383" y="345528"/>
                  </a:lnTo>
                  <a:lnTo>
                    <a:pt x="9846589" y="341718"/>
                  </a:lnTo>
                  <a:lnTo>
                    <a:pt x="9843351" y="337908"/>
                  </a:lnTo>
                  <a:lnTo>
                    <a:pt x="9835375" y="327748"/>
                  </a:lnTo>
                  <a:lnTo>
                    <a:pt x="9834372" y="326478"/>
                  </a:lnTo>
                  <a:lnTo>
                    <a:pt x="9825241" y="313778"/>
                  </a:lnTo>
                  <a:lnTo>
                    <a:pt x="9823056" y="311238"/>
                  </a:lnTo>
                  <a:lnTo>
                    <a:pt x="9815398" y="302348"/>
                  </a:lnTo>
                  <a:lnTo>
                    <a:pt x="9804349" y="288378"/>
                  </a:lnTo>
                  <a:lnTo>
                    <a:pt x="9806661" y="289648"/>
                  </a:lnTo>
                  <a:lnTo>
                    <a:pt x="9805975" y="288378"/>
                  </a:lnTo>
                  <a:lnTo>
                    <a:pt x="9805276" y="287108"/>
                  </a:lnTo>
                  <a:lnTo>
                    <a:pt x="9801098" y="285838"/>
                  </a:lnTo>
                  <a:lnTo>
                    <a:pt x="9793668" y="276948"/>
                  </a:lnTo>
                  <a:lnTo>
                    <a:pt x="9790709" y="273138"/>
                  </a:lnTo>
                  <a:lnTo>
                    <a:pt x="9787395" y="268058"/>
                  </a:lnTo>
                  <a:lnTo>
                    <a:pt x="9783737" y="262978"/>
                  </a:lnTo>
                  <a:lnTo>
                    <a:pt x="9779737" y="255358"/>
                  </a:lnTo>
                  <a:lnTo>
                    <a:pt x="9775393" y="247738"/>
                  </a:lnTo>
                  <a:lnTo>
                    <a:pt x="9770745" y="237578"/>
                  </a:lnTo>
                  <a:lnTo>
                    <a:pt x="9765830" y="226148"/>
                  </a:lnTo>
                  <a:lnTo>
                    <a:pt x="9762757" y="218528"/>
                  </a:lnTo>
                  <a:lnTo>
                    <a:pt x="9760699" y="213448"/>
                  </a:lnTo>
                  <a:lnTo>
                    <a:pt x="9761169" y="212178"/>
                  </a:lnTo>
                  <a:lnTo>
                    <a:pt x="9759772" y="210908"/>
                  </a:lnTo>
                  <a:lnTo>
                    <a:pt x="9758845" y="210908"/>
                  </a:lnTo>
                  <a:lnTo>
                    <a:pt x="9756991" y="205828"/>
                  </a:lnTo>
                  <a:lnTo>
                    <a:pt x="9759772" y="215988"/>
                  </a:lnTo>
                  <a:lnTo>
                    <a:pt x="9761169" y="218528"/>
                  </a:lnTo>
                  <a:lnTo>
                    <a:pt x="9752571" y="209638"/>
                  </a:lnTo>
                  <a:lnTo>
                    <a:pt x="9748241" y="204558"/>
                  </a:lnTo>
                  <a:lnTo>
                    <a:pt x="9743986" y="198208"/>
                  </a:lnTo>
                  <a:lnTo>
                    <a:pt x="9743516" y="196938"/>
                  </a:lnTo>
                  <a:lnTo>
                    <a:pt x="9744443" y="194398"/>
                  </a:lnTo>
                  <a:lnTo>
                    <a:pt x="9740735" y="189318"/>
                  </a:lnTo>
                  <a:lnTo>
                    <a:pt x="9734232" y="177888"/>
                  </a:lnTo>
                  <a:lnTo>
                    <a:pt x="9730524" y="171538"/>
                  </a:lnTo>
                  <a:lnTo>
                    <a:pt x="9729597" y="162648"/>
                  </a:lnTo>
                  <a:lnTo>
                    <a:pt x="9725469" y="160108"/>
                  </a:lnTo>
                  <a:lnTo>
                    <a:pt x="9721355" y="158838"/>
                  </a:lnTo>
                  <a:lnTo>
                    <a:pt x="9717049" y="153758"/>
                  </a:lnTo>
                  <a:lnTo>
                    <a:pt x="9713443" y="144868"/>
                  </a:lnTo>
                  <a:lnTo>
                    <a:pt x="9712414" y="142328"/>
                  </a:lnTo>
                  <a:lnTo>
                    <a:pt x="9710776" y="144868"/>
                  </a:lnTo>
                  <a:lnTo>
                    <a:pt x="9708007" y="142328"/>
                  </a:lnTo>
                  <a:lnTo>
                    <a:pt x="9705226" y="138518"/>
                  </a:lnTo>
                  <a:lnTo>
                    <a:pt x="9703587" y="137248"/>
                  </a:lnTo>
                  <a:lnTo>
                    <a:pt x="9703587" y="133438"/>
                  </a:lnTo>
                  <a:lnTo>
                    <a:pt x="9703130" y="132168"/>
                  </a:lnTo>
                  <a:lnTo>
                    <a:pt x="9697402" y="122008"/>
                  </a:lnTo>
                  <a:lnTo>
                    <a:pt x="9690760" y="110578"/>
                  </a:lnTo>
                  <a:lnTo>
                    <a:pt x="9684385" y="100418"/>
                  </a:lnTo>
                  <a:lnTo>
                    <a:pt x="9679445" y="95338"/>
                  </a:lnTo>
                  <a:lnTo>
                    <a:pt x="9680003" y="96608"/>
                  </a:lnTo>
                  <a:lnTo>
                    <a:pt x="9681413" y="102958"/>
                  </a:lnTo>
                  <a:lnTo>
                    <a:pt x="9683369" y="111848"/>
                  </a:lnTo>
                  <a:lnTo>
                    <a:pt x="9685477" y="122008"/>
                  </a:lnTo>
                  <a:lnTo>
                    <a:pt x="9687954" y="133438"/>
                  </a:lnTo>
                  <a:lnTo>
                    <a:pt x="9690303" y="143598"/>
                  </a:lnTo>
                  <a:lnTo>
                    <a:pt x="9692208" y="153758"/>
                  </a:lnTo>
                  <a:lnTo>
                    <a:pt x="9693377" y="160108"/>
                  </a:lnTo>
                  <a:lnTo>
                    <a:pt x="9689808" y="152488"/>
                  </a:lnTo>
                  <a:lnTo>
                    <a:pt x="9689198" y="152488"/>
                  </a:lnTo>
                  <a:lnTo>
                    <a:pt x="9689986" y="156298"/>
                  </a:lnTo>
                  <a:lnTo>
                    <a:pt x="9690595" y="160108"/>
                  </a:lnTo>
                  <a:lnTo>
                    <a:pt x="9690913" y="160337"/>
                  </a:lnTo>
                  <a:lnTo>
                    <a:pt x="9689655" y="160083"/>
                  </a:lnTo>
                  <a:lnTo>
                    <a:pt x="9691522" y="162394"/>
                  </a:lnTo>
                  <a:lnTo>
                    <a:pt x="9691980" y="161925"/>
                  </a:lnTo>
                  <a:lnTo>
                    <a:pt x="9691980" y="161061"/>
                  </a:lnTo>
                  <a:lnTo>
                    <a:pt x="9692449" y="161378"/>
                  </a:lnTo>
                  <a:lnTo>
                    <a:pt x="9696628" y="171538"/>
                  </a:lnTo>
                  <a:lnTo>
                    <a:pt x="9693834" y="172808"/>
                  </a:lnTo>
                  <a:lnTo>
                    <a:pt x="9694888" y="176618"/>
                  </a:lnTo>
                  <a:lnTo>
                    <a:pt x="9697555" y="176618"/>
                  </a:lnTo>
                  <a:lnTo>
                    <a:pt x="9697910" y="177292"/>
                  </a:lnTo>
                  <a:lnTo>
                    <a:pt x="9697555" y="177647"/>
                  </a:lnTo>
                  <a:lnTo>
                    <a:pt x="9697555" y="178117"/>
                  </a:lnTo>
                  <a:lnTo>
                    <a:pt x="9698685" y="178689"/>
                  </a:lnTo>
                  <a:lnTo>
                    <a:pt x="9698952" y="179158"/>
                  </a:lnTo>
                  <a:lnTo>
                    <a:pt x="9698787" y="178739"/>
                  </a:lnTo>
                  <a:lnTo>
                    <a:pt x="9699269" y="178981"/>
                  </a:lnTo>
                  <a:lnTo>
                    <a:pt x="9701263" y="181698"/>
                  </a:lnTo>
                  <a:lnTo>
                    <a:pt x="9704514" y="189318"/>
                  </a:lnTo>
                  <a:lnTo>
                    <a:pt x="9706381" y="193128"/>
                  </a:lnTo>
                  <a:lnTo>
                    <a:pt x="9704057" y="194398"/>
                  </a:lnTo>
                  <a:lnTo>
                    <a:pt x="9707347" y="198208"/>
                  </a:lnTo>
                  <a:lnTo>
                    <a:pt x="9710903" y="204558"/>
                  </a:lnTo>
                  <a:lnTo>
                    <a:pt x="9714636" y="213448"/>
                  </a:lnTo>
                  <a:lnTo>
                    <a:pt x="9718446" y="223608"/>
                  </a:lnTo>
                  <a:lnTo>
                    <a:pt x="9725647" y="242658"/>
                  </a:lnTo>
                  <a:lnTo>
                    <a:pt x="9728759" y="251548"/>
                  </a:lnTo>
                  <a:lnTo>
                    <a:pt x="9731451" y="256628"/>
                  </a:lnTo>
                  <a:lnTo>
                    <a:pt x="9735172" y="264248"/>
                  </a:lnTo>
                  <a:lnTo>
                    <a:pt x="9757943" y="299808"/>
                  </a:lnTo>
                  <a:lnTo>
                    <a:pt x="9758845" y="303618"/>
                  </a:lnTo>
                  <a:lnTo>
                    <a:pt x="9758350" y="306158"/>
                  </a:lnTo>
                  <a:lnTo>
                    <a:pt x="9759772" y="311238"/>
                  </a:lnTo>
                  <a:lnTo>
                    <a:pt x="9762909" y="316318"/>
                  </a:lnTo>
                  <a:lnTo>
                    <a:pt x="9763315" y="315048"/>
                  </a:lnTo>
                  <a:lnTo>
                    <a:pt x="9763239" y="313778"/>
                  </a:lnTo>
                  <a:lnTo>
                    <a:pt x="9763176" y="312508"/>
                  </a:lnTo>
                  <a:lnTo>
                    <a:pt x="9763100" y="311238"/>
                  </a:lnTo>
                  <a:lnTo>
                    <a:pt x="9764408" y="312508"/>
                  </a:lnTo>
                  <a:lnTo>
                    <a:pt x="9766275" y="316318"/>
                  </a:lnTo>
                  <a:lnTo>
                    <a:pt x="9767659" y="320128"/>
                  </a:lnTo>
                  <a:lnTo>
                    <a:pt x="9769526" y="323938"/>
                  </a:lnTo>
                  <a:lnTo>
                    <a:pt x="9770910" y="327748"/>
                  </a:lnTo>
                  <a:lnTo>
                    <a:pt x="9764878" y="320128"/>
                  </a:lnTo>
                  <a:lnTo>
                    <a:pt x="9766732" y="325208"/>
                  </a:lnTo>
                  <a:lnTo>
                    <a:pt x="9766732" y="326745"/>
                  </a:lnTo>
                  <a:lnTo>
                    <a:pt x="9765805" y="325628"/>
                  </a:lnTo>
                  <a:lnTo>
                    <a:pt x="9763950" y="323316"/>
                  </a:lnTo>
                  <a:lnTo>
                    <a:pt x="9762553" y="321932"/>
                  </a:lnTo>
                  <a:lnTo>
                    <a:pt x="9767659" y="330263"/>
                  </a:lnTo>
                  <a:lnTo>
                    <a:pt x="9768129" y="330263"/>
                  </a:lnTo>
                  <a:lnTo>
                    <a:pt x="9768129" y="329450"/>
                  </a:lnTo>
                  <a:lnTo>
                    <a:pt x="9770910" y="332828"/>
                  </a:lnTo>
                  <a:lnTo>
                    <a:pt x="9775558" y="341718"/>
                  </a:lnTo>
                  <a:lnTo>
                    <a:pt x="9779737" y="348068"/>
                  </a:lnTo>
                  <a:lnTo>
                    <a:pt x="9784385" y="355688"/>
                  </a:lnTo>
                  <a:lnTo>
                    <a:pt x="9788563" y="360768"/>
                  </a:lnTo>
                  <a:lnTo>
                    <a:pt x="9792271" y="360768"/>
                  </a:lnTo>
                  <a:lnTo>
                    <a:pt x="9798037" y="370928"/>
                  </a:lnTo>
                  <a:lnTo>
                    <a:pt x="9801149" y="377278"/>
                  </a:lnTo>
                  <a:lnTo>
                    <a:pt x="9803308" y="382358"/>
                  </a:lnTo>
                  <a:lnTo>
                    <a:pt x="9806203" y="386168"/>
                  </a:lnTo>
                  <a:lnTo>
                    <a:pt x="9806089" y="384898"/>
                  </a:lnTo>
                  <a:lnTo>
                    <a:pt x="9805975" y="383628"/>
                  </a:lnTo>
                  <a:lnTo>
                    <a:pt x="9805848" y="382358"/>
                  </a:lnTo>
                  <a:lnTo>
                    <a:pt x="9805733" y="381088"/>
                  </a:lnTo>
                  <a:lnTo>
                    <a:pt x="9805264" y="379806"/>
                  </a:lnTo>
                  <a:lnTo>
                    <a:pt x="9805264" y="383628"/>
                  </a:lnTo>
                  <a:lnTo>
                    <a:pt x="9802482" y="378548"/>
                  </a:lnTo>
                  <a:lnTo>
                    <a:pt x="9802952" y="377278"/>
                  </a:lnTo>
                  <a:lnTo>
                    <a:pt x="9805264" y="383628"/>
                  </a:lnTo>
                  <a:lnTo>
                    <a:pt x="9805264" y="379806"/>
                  </a:lnTo>
                  <a:lnTo>
                    <a:pt x="9804349" y="377278"/>
                  </a:lnTo>
                  <a:lnTo>
                    <a:pt x="9805733" y="378548"/>
                  </a:lnTo>
                  <a:lnTo>
                    <a:pt x="9808527" y="382358"/>
                  </a:lnTo>
                  <a:lnTo>
                    <a:pt x="9809455" y="382358"/>
                  </a:lnTo>
                  <a:lnTo>
                    <a:pt x="9809912" y="383628"/>
                  </a:lnTo>
                  <a:lnTo>
                    <a:pt x="9811309" y="386168"/>
                  </a:lnTo>
                  <a:lnTo>
                    <a:pt x="9811766" y="386168"/>
                  </a:lnTo>
                  <a:lnTo>
                    <a:pt x="9812706" y="387438"/>
                  </a:lnTo>
                  <a:lnTo>
                    <a:pt x="9813163" y="388708"/>
                  </a:lnTo>
                  <a:lnTo>
                    <a:pt x="9814560" y="391248"/>
                  </a:lnTo>
                  <a:lnTo>
                    <a:pt x="9816414" y="395058"/>
                  </a:lnTo>
                  <a:lnTo>
                    <a:pt x="9817341" y="397598"/>
                  </a:lnTo>
                  <a:lnTo>
                    <a:pt x="9819665" y="402678"/>
                  </a:lnTo>
                  <a:lnTo>
                    <a:pt x="9820135" y="406488"/>
                  </a:lnTo>
                  <a:lnTo>
                    <a:pt x="9825241" y="407758"/>
                  </a:lnTo>
                  <a:lnTo>
                    <a:pt x="9827095" y="407758"/>
                  </a:lnTo>
                  <a:lnTo>
                    <a:pt x="9830803" y="409028"/>
                  </a:lnTo>
                  <a:lnTo>
                    <a:pt x="9834054" y="409028"/>
                  </a:lnTo>
                  <a:lnTo>
                    <a:pt x="9837306" y="410298"/>
                  </a:lnTo>
                  <a:lnTo>
                    <a:pt x="9840100" y="411568"/>
                  </a:lnTo>
                  <a:lnTo>
                    <a:pt x="9844278" y="414108"/>
                  </a:lnTo>
                  <a:lnTo>
                    <a:pt x="9843351" y="415378"/>
                  </a:lnTo>
                  <a:lnTo>
                    <a:pt x="9850768" y="420458"/>
                  </a:lnTo>
                  <a:lnTo>
                    <a:pt x="9850768" y="422998"/>
                  </a:lnTo>
                  <a:lnTo>
                    <a:pt x="9847059" y="420458"/>
                  </a:lnTo>
                  <a:lnTo>
                    <a:pt x="9846132" y="420458"/>
                  </a:lnTo>
                  <a:lnTo>
                    <a:pt x="9851707" y="424268"/>
                  </a:lnTo>
                  <a:lnTo>
                    <a:pt x="9855886" y="429348"/>
                  </a:lnTo>
                  <a:lnTo>
                    <a:pt x="9859137" y="433158"/>
                  </a:lnTo>
                  <a:lnTo>
                    <a:pt x="9861918" y="434428"/>
                  </a:lnTo>
                  <a:lnTo>
                    <a:pt x="9856813" y="433158"/>
                  </a:lnTo>
                  <a:lnTo>
                    <a:pt x="9851707" y="433158"/>
                  </a:lnTo>
                  <a:lnTo>
                    <a:pt x="9849383" y="431888"/>
                  </a:lnTo>
                  <a:lnTo>
                    <a:pt x="9846589" y="431888"/>
                  </a:lnTo>
                  <a:lnTo>
                    <a:pt x="9855416" y="435698"/>
                  </a:lnTo>
                  <a:lnTo>
                    <a:pt x="9875850" y="443318"/>
                  </a:lnTo>
                  <a:lnTo>
                    <a:pt x="9886988" y="447128"/>
                  </a:lnTo>
                  <a:lnTo>
                    <a:pt x="9879838" y="445858"/>
                  </a:lnTo>
                  <a:lnTo>
                    <a:pt x="9855416" y="440778"/>
                  </a:lnTo>
                  <a:lnTo>
                    <a:pt x="9851009" y="439508"/>
                  </a:lnTo>
                  <a:lnTo>
                    <a:pt x="9846589" y="438238"/>
                  </a:lnTo>
                  <a:lnTo>
                    <a:pt x="9840557" y="436968"/>
                  </a:lnTo>
                  <a:lnTo>
                    <a:pt x="9842881" y="439508"/>
                  </a:lnTo>
                  <a:lnTo>
                    <a:pt x="9836379" y="436968"/>
                  </a:lnTo>
                  <a:lnTo>
                    <a:pt x="9833597" y="435698"/>
                  </a:lnTo>
                  <a:lnTo>
                    <a:pt x="9830346" y="434428"/>
                  </a:lnTo>
                  <a:lnTo>
                    <a:pt x="9822917" y="433158"/>
                  </a:lnTo>
                  <a:lnTo>
                    <a:pt x="9819195" y="431888"/>
                  </a:lnTo>
                  <a:lnTo>
                    <a:pt x="9813633" y="431888"/>
                  </a:lnTo>
                  <a:lnTo>
                    <a:pt x="9813163" y="433158"/>
                  </a:lnTo>
                  <a:lnTo>
                    <a:pt x="9814560" y="435698"/>
                  </a:lnTo>
                  <a:lnTo>
                    <a:pt x="9809455" y="434428"/>
                  </a:lnTo>
                  <a:lnTo>
                    <a:pt x="9802952" y="431888"/>
                  </a:lnTo>
                  <a:lnTo>
                    <a:pt x="9799701" y="430618"/>
                  </a:lnTo>
                  <a:lnTo>
                    <a:pt x="9797377" y="429348"/>
                  </a:lnTo>
                  <a:lnTo>
                    <a:pt x="9806203" y="429348"/>
                  </a:lnTo>
                  <a:lnTo>
                    <a:pt x="9801098" y="428078"/>
                  </a:lnTo>
                  <a:lnTo>
                    <a:pt x="9794596" y="425538"/>
                  </a:lnTo>
                  <a:lnTo>
                    <a:pt x="9786798" y="421982"/>
                  </a:lnTo>
                  <a:lnTo>
                    <a:pt x="9787166" y="422998"/>
                  </a:lnTo>
                  <a:lnTo>
                    <a:pt x="9786239" y="422998"/>
                  </a:lnTo>
                  <a:lnTo>
                    <a:pt x="9786087" y="423202"/>
                  </a:lnTo>
                  <a:lnTo>
                    <a:pt x="9784385" y="423202"/>
                  </a:lnTo>
                  <a:lnTo>
                    <a:pt x="9783445" y="422744"/>
                  </a:lnTo>
                  <a:lnTo>
                    <a:pt x="9781667" y="422529"/>
                  </a:lnTo>
                  <a:lnTo>
                    <a:pt x="9781667" y="424599"/>
                  </a:lnTo>
                  <a:lnTo>
                    <a:pt x="9779267" y="425538"/>
                  </a:lnTo>
                  <a:lnTo>
                    <a:pt x="9775088" y="425538"/>
                  </a:lnTo>
                  <a:lnTo>
                    <a:pt x="9771304" y="424599"/>
                  </a:lnTo>
                  <a:lnTo>
                    <a:pt x="9781667" y="424599"/>
                  </a:lnTo>
                  <a:lnTo>
                    <a:pt x="9781667" y="422529"/>
                  </a:lnTo>
                  <a:lnTo>
                    <a:pt x="9779737" y="422287"/>
                  </a:lnTo>
                  <a:lnTo>
                    <a:pt x="9775558" y="422287"/>
                  </a:lnTo>
                  <a:lnTo>
                    <a:pt x="9770453" y="421817"/>
                  </a:lnTo>
                  <a:lnTo>
                    <a:pt x="9769627" y="424268"/>
                  </a:lnTo>
                  <a:lnTo>
                    <a:pt x="9749434" y="424268"/>
                  </a:lnTo>
                  <a:lnTo>
                    <a:pt x="9737471" y="422998"/>
                  </a:lnTo>
                  <a:lnTo>
                    <a:pt x="9722625" y="419188"/>
                  </a:lnTo>
                  <a:lnTo>
                    <a:pt x="9716592" y="424268"/>
                  </a:lnTo>
                  <a:lnTo>
                    <a:pt x="9699879" y="420458"/>
                  </a:lnTo>
                  <a:lnTo>
                    <a:pt x="9699879" y="416648"/>
                  </a:lnTo>
                  <a:lnTo>
                    <a:pt x="9714459" y="417918"/>
                  </a:lnTo>
                  <a:lnTo>
                    <a:pt x="9751136" y="417918"/>
                  </a:lnTo>
                  <a:lnTo>
                    <a:pt x="9768586" y="419188"/>
                  </a:lnTo>
                  <a:lnTo>
                    <a:pt x="9769056" y="417918"/>
                  </a:lnTo>
                  <a:lnTo>
                    <a:pt x="9759429" y="416648"/>
                  </a:lnTo>
                  <a:lnTo>
                    <a:pt x="9733775" y="416648"/>
                  </a:lnTo>
                  <a:lnTo>
                    <a:pt x="9729584" y="415378"/>
                  </a:lnTo>
                  <a:lnTo>
                    <a:pt x="9723095" y="412838"/>
                  </a:lnTo>
                  <a:lnTo>
                    <a:pt x="9721037" y="412038"/>
                  </a:lnTo>
                  <a:lnTo>
                    <a:pt x="9719373" y="412838"/>
                  </a:lnTo>
                  <a:lnTo>
                    <a:pt x="9694469" y="411568"/>
                  </a:lnTo>
                  <a:lnTo>
                    <a:pt x="9677184" y="410298"/>
                  </a:lnTo>
                  <a:lnTo>
                    <a:pt x="9659633" y="407758"/>
                  </a:lnTo>
                  <a:lnTo>
                    <a:pt x="9633941" y="403948"/>
                  </a:lnTo>
                  <a:lnTo>
                    <a:pt x="9637662" y="406488"/>
                  </a:lnTo>
                  <a:lnTo>
                    <a:pt x="9628835" y="406488"/>
                  </a:lnTo>
                  <a:lnTo>
                    <a:pt x="9620021" y="407758"/>
                  </a:lnTo>
                  <a:lnTo>
                    <a:pt x="9618154" y="403948"/>
                  </a:lnTo>
                  <a:lnTo>
                    <a:pt x="9598584" y="402678"/>
                  </a:lnTo>
                  <a:lnTo>
                    <a:pt x="9589097" y="401408"/>
                  </a:lnTo>
                  <a:lnTo>
                    <a:pt x="9579623" y="400138"/>
                  </a:lnTo>
                  <a:lnTo>
                    <a:pt x="9568142" y="397598"/>
                  </a:lnTo>
                  <a:lnTo>
                    <a:pt x="9562401" y="396328"/>
                  </a:lnTo>
                  <a:lnTo>
                    <a:pt x="9548050" y="392518"/>
                  </a:lnTo>
                  <a:lnTo>
                    <a:pt x="9543872" y="396328"/>
                  </a:lnTo>
                  <a:lnTo>
                    <a:pt x="9538297" y="396328"/>
                  </a:lnTo>
                  <a:lnTo>
                    <a:pt x="9530410" y="388708"/>
                  </a:lnTo>
                  <a:lnTo>
                    <a:pt x="9527159" y="395058"/>
                  </a:lnTo>
                  <a:lnTo>
                    <a:pt x="9515081" y="396328"/>
                  </a:lnTo>
                  <a:lnTo>
                    <a:pt x="9507652" y="396328"/>
                  </a:lnTo>
                  <a:lnTo>
                    <a:pt x="9502546" y="397598"/>
                  </a:lnTo>
                  <a:lnTo>
                    <a:pt x="9498368" y="396328"/>
                  </a:lnTo>
                  <a:lnTo>
                    <a:pt x="9494190" y="395058"/>
                  </a:lnTo>
                  <a:lnTo>
                    <a:pt x="9485249" y="395058"/>
                  </a:lnTo>
                  <a:lnTo>
                    <a:pt x="9483915" y="396328"/>
                  </a:lnTo>
                  <a:lnTo>
                    <a:pt x="9473298" y="396328"/>
                  </a:lnTo>
                  <a:lnTo>
                    <a:pt x="9467266" y="392518"/>
                  </a:lnTo>
                  <a:lnTo>
                    <a:pt x="9465869" y="401408"/>
                  </a:lnTo>
                  <a:lnTo>
                    <a:pt x="9456585" y="398868"/>
                  </a:lnTo>
                  <a:lnTo>
                    <a:pt x="9452864" y="396328"/>
                  </a:lnTo>
                  <a:lnTo>
                    <a:pt x="9447289" y="392518"/>
                  </a:lnTo>
                  <a:lnTo>
                    <a:pt x="9436468" y="391248"/>
                  </a:lnTo>
                  <a:lnTo>
                    <a:pt x="9427502" y="392518"/>
                  </a:lnTo>
                  <a:lnTo>
                    <a:pt x="9417063" y="393788"/>
                  </a:lnTo>
                  <a:lnTo>
                    <a:pt x="9401797" y="393788"/>
                  </a:lnTo>
                  <a:lnTo>
                    <a:pt x="9394076" y="391248"/>
                  </a:lnTo>
                  <a:lnTo>
                    <a:pt x="9389491" y="387438"/>
                  </a:lnTo>
                  <a:lnTo>
                    <a:pt x="9389110" y="386168"/>
                  </a:lnTo>
                  <a:lnTo>
                    <a:pt x="9388729" y="384898"/>
                  </a:lnTo>
                  <a:lnTo>
                    <a:pt x="9392501" y="381088"/>
                  </a:lnTo>
                  <a:lnTo>
                    <a:pt x="9383916" y="384898"/>
                  </a:lnTo>
                  <a:lnTo>
                    <a:pt x="9380360" y="386168"/>
                  </a:lnTo>
                  <a:lnTo>
                    <a:pt x="9372536" y="386168"/>
                  </a:lnTo>
                  <a:lnTo>
                    <a:pt x="9370225" y="383628"/>
                  </a:lnTo>
                  <a:lnTo>
                    <a:pt x="9372079" y="383628"/>
                  </a:lnTo>
                  <a:lnTo>
                    <a:pt x="9375330" y="382358"/>
                  </a:lnTo>
                  <a:lnTo>
                    <a:pt x="9368460" y="381088"/>
                  </a:lnTo>
                  <a:lnTo>
                    <a:pt x="9365285" y="381088"/>
                  </a:lnTo>
                  <a:lnTo>
                    <a:pt x="9362732" y="382358"/>
                  </a:lnTo>
                  <a:lnTo>
                    <a:pt x="9357690" y="382358"/>
                  </a:lnTo>
                  <a:lnTo>
                    <a:pt x="9354439" y="387438"/>
                  </a:lnTo>
                  <a:lnTo>
                    <a:pt x="9351188" y="393788"/>
                  </a:lnTo>
                  <a:lnTo>
                    <a:pt x="9347937" y="393788"/>
                  </a:lnTo>
                  <a:lnTo>
                    <a:pt x="9351645" y="395058"/>
                  </a:lnTo>
                  <a:lnTo>
                    <a:pt x="9343746" y="396328"/>
                  </a:lnTo>
                  <a:lnTo>
                    <a:pt x="9326702" y="396328"/>
                  </a:lnTo>
                  <a:lnTo>
                    <a:pt x="9317749" y="395058"/>
                  </a:lnTo>
                  <a:lnTo>
                    <a:pt x="9318219" y="392518"/>
                  </a:lnTo>
                  <a:lnTo>
                    <a:pt x="9307081" y="395058"/>
                  </a:lnTo>
                  <a:lnTo>
                    <a:pt x="9306611" y="392518"/>
                  </a:lnTo>
                  <a:lnTo>
                    <a:pt x="9271241" y="392518"/>
                  </a:lnTo>
                  <a:lnTo>
                    <a:pt x="9264358" y="391248"/>
                  </a:lnTo>
                  <a:lnTo>
                    <a:pt x="9264828" y="389978"/>
                  </a:lnTo>
                  <a:lnTo>
                    <a:pt x="9256687" y="388708"/>
                  </a:lnTo>
                  <a:lnTo>
                    <a:pt x="9248546" y="387438"/>
                  </a:lnTo>
                  <a:lnTo>
                    <a:pt x="9232443" y="387438"/>
                  </a:lnTo>
                  <a:lnTo>
                    <a:pt x="9215463" y="388708"/>
                  </a:lnTo>
                  <a:lnTo>
                    <a:pt x="9196565" y="388708"/>
                  </a:lnTo>
                  <a:lnTo>
                    <a:pt x="9200286" y="386168"/>
                  </a:lnTo>
                  <a:lnTo>
                    <a:pt x="9195968" y="384898"/>
                  </a:lnTo>
                  <a:lnTo>
                    <a:pt x="9192184" y="388708"/>
                  </a:lnTo>
                  <a:lnTo>
                    <a:pt x="9186824" y="388708"/>
                  </a:lnTo>
                  <a:lnTo>
                    <a:pt x="9186354" y="384898"/>
                  </a:lnTo>
                  <a:lnTo>
                    <a:pt x="9176601" y="388708"/>
                  </a:lnTo>
                  <a:lnTo>
                    <a:pt x="9175445" y="386168"/>
                  </a:lnTo>
                  <a:lnTo>
                    <a:pt x="9174289" y="383628"/>
                  </a:lnTo>
                  <a:lnTo>
                    <a:pt x="9167787" y="381088"/>
                  </a:lnTo>
                  <a:lnTo>
                    <a:pt x="9170568" y="386168"/>
                  </a:lnTo>
                  <a:lnTo>
                    <a:pt x="9158503" y="384898"/>
                  </a:lnTo>
                  <a:lnTo>
                    <a:pt x="9151772" y="383628"/>
                  </a:lnTo>
                  <a:lnTo>
                    <a:pt x="9145029" y="382358"/>
                  </a:lnTo>
                  <a:lnTo>
                    <a:pt x="9149207" y="378548"/>
                  </a:lnTo>
                  <a:lnTo>
                    <a:pt x="9150604" y="377278"/>
                  </a:lnTo>
                  <a:lnTo>
                    <a:pt x="9152458" y="374738"/>
                  </a:lnTo>
                  <a:lnTo>
                    <a:pt x="9143174" y="378548"/>
                  </a:lnTo>
                  <a:lnTo>
                    <a:pt x="9141320" y="373468"/>
                  </a:lnTo>
                  <a:lnTo>
                    <a:pt x="9134361" y="378548"/>
                  </a:lnTo>
                  <a:lnTo>
                    <a:pt x="9134475" y="377278"/>
                  </a:lnTo>
                  <a:lnTo>
                    <a:pt x="9134589" y="376008"/>
                  </a:lnTo>
                  <a:lnTo>
                    <a:pt x="9134704" y="374738"/>
                  </a:lnTo>
                  <a:lnTo>
                    <a:pt x="9134818" y="373468"/>
                  </a:lnTo>
                  <a:lnTo>
                    <a:pt x="9122753" y="376008"/>
                  </a:lnTo>
                  <a:lnTo>
                    <a:pt x="9122283" y="374738"/>
                  </a:lnTo>
                  <a:lnTo>
                    <a:pt x="9121813" y="373468"/>
                  </a:lnTo>
                  <a:lnTo>
                    <a:pt x="9125064" y="372198"/>
                  </a:lnTo>
                  <a:lnTo>
                    <a:pt x="9120886" y="372198"/>
                  </a:lnTo>
                  <a:lnTo>
                    <a:pt x="9100922" y="377278"/>
                  </a:lnTo>
                  <a:lnTo>
                    <a:pt x="9112999" y="374738"/>
                  </a:lnTo>
                  <a:lnTo>
                    <a:pt x="9111145" y="381088"/>
                  </a:lnTo>
                  <a:lnTo>
                    <a:pt x="9103106" y="383628"/>
                  </a:lnTo>
                  <a:lnTo>
                    <a:pt x="9096985" y="382358"/>
                  </a:lnTo>
                  <a:lnTo>
                    <a:pt x="9091549" y="381088"/>
                  </a:lnTo>
                  <a:lnTo>
                    <a:pt x="9085605" y="381088"/>
                  </a:lnTo>
                  <a:lnTo>
                    <a:pt x="9091638" y="379818"/>
                  </a:lnTo>
                  <a:lnTo>
                    <a:pt x="9077249" y="381088"/>
                  </a:lnTo>
                  <a:lnTo>
                    <a:pt x="9077096" y="379818"/>
                  </a:lnTo>
                  <a:lnTo>
                    <a:pt x="9076779" y="377278"/>
                  </a:lnTo>
                  <a:lnTo>
                    <a:pt x="9068422" y="376008"/>
                  </a:lnTo>
                  <a:lnTo>
                    <a:pt x="9070746" y="377278"/>
                  </a:lnTo>
                  <a:lnTo>
                    <a:pt x="9074455" y="378548"/>
                  </a:lnTo>
                  <a:lnTo>
                    <a:pt x="9068892" y="379818"/>
                  </a:lnTo>
                  <a:lnTo>
                    <a:pt x="9064714" y="379818"/>
                  </a:lnTo>
                  <a:lnTo>
                    <a:pt x="9066568" y="377278"/>
                  </a:lnTo>
                  <a:lnTo>
                    <a:pt x="9062847" y="377278"/>
                  </a:lnTo>
                  <a:lnTo>
                    <a:pt x="9061920" y="381088"/>
                  </a:lnTo>
                  <a:lnTo>
                    <a:pt x="9051239" y="383628"/>
                  </a:lnTo>
                  <a:lnTo>
                    <a:pt x="9041955" y="381088"/>
                  </a:lnTo>
                  <a:lnTo>
                    <a:pt x="9042425" y="379818"/>
                  </a:lnTo>
                  <a:lnTo>
                    <a:pt x="9040571" y="379818"/>
                  </a:lnTo>
                  <a:lnTo>
                    <a:pt x="9039174" y="381088"/>
                  </a:lnTo>
                  <a:lnTo>
                    <a:pt x="9034996" y="379818"/>
                  </a:lnTo>
                  <a:lnTo>
                    <a:pt x="9037777" y="374738"/>
                  </a:lnTo>
                  <a:lnTo>
                    <a:pt x="9029890" y="379818"/>
                  </a:lnTo>
                  <a:lnTo>
                    <a:pt x="9024785" y="378548"/>
                  </a:lnTo>
                  <a:lnTo>
                    <a:pt x="9016886" y="381088"/>
                  </a:lnTo>
                  <a:lnTo>
                    <a:pt x="9017356" y="378548"/>
                  </a:lnTo>
                  <a:lnTo>
                    <a:pt x="9020607" y="377278"/>
                  </a:lnTo>
                  <a:lnTo>
                    <a:pt x="8980665" y="374738"/>
                  </a:lnTo>
                  <a:lnTo>
                    <a:pt x="8980208" y="370928"/>
                  </a:lnTo>
                  <a:lnTo>
                    <a:pt x="8975052" y="372198"/>
                  </a:lnTo>
                  <a:lnTo>
                    <a:pt x="8961603" y="372198"/>
                  </a:lnTo>
                  <a:lnTo>
                    <a:pt x="8959317" y="374738"/>
                  </a:lnTo>
                  <a:lnTo>
                    <a:pt x="8951608" y="373468"/>
                  </a:lnTo>
                  <a:lnTo>
                    <a:pt x="8942248" y="373468"/>
                  </a:lnTo>
                  <a:lnTo>
                    <a:pt x="8935148" y="372198"/>
                  </a:lnTo>
                  <a:lnTo>
                    <a:pt x="8934856" y="370928"/>
                  </a:lnTo>
                  <a:lnTo>
                    <a:pt x="8934247" y="368388"/>
                  </a:lnTo>
                  <a:lnTo>
                    <a:pt x="8916187" y="368388"/>
                  </a:lnTo>
                  <a:lnTo>
                    <a:pt x="8882532" y="370928"/>
                  </a:lnTo>
                  <a:lnTo>
                    <a:pt x="8861349" y="369658"/>
                  </a:lnTo>
                  <a:lnTo>
                    <a:pt x="8853551" y="367118"/>
                  </a:lnTo>
                  <a:lnTo>
                    <a:pt x="8849652" y="365848"/>
                  </a:lnTo>
                  <a:lnTo>
                    <a:pt x="8833256" y="363308"/>
                  </a:lnTo>
                  <a:lnTo>
                    <a:pt x="8815121" y="363308"/>
                  </a:lnTo>
                  <a:lnTo>
                    <a:pt x="8798204" y="362038"/>
                  </a:lnTo>
                  <a:lnTo>
                    <a:pt x="8690483" y="367118"/>
                  </a:lnTo>
                  <a:lnTo>
                    <a:pt x="8683663" y="365848"/>
                  </a:lnTo>
                  <a:lnTo>
                    <a:pt x="8676856" y="364578"/>
                  </a:lnTo>
                  <a:lnTo>
                    <a:pt x="8670036" y="363308"/>
                  </a:lnTo>
                  <a:lnTo>
                    <a:pt x="8647074" y="363308"/>
                  </a:lnTo>
                  <a:lnTo>
                    <a:pt x="8623757" y="364578"/>
                  </a:lnTo>
                  <a:lnTo>
                    <a:pt x="8602269" y="363308"/>
                  </a:lnTo>
                  <a:lnTo>
                    <a:pt x="8594839" y="365848"/>
                  </a:lnTo>
                  <a:lnTo>
                    <a:pt x="8580031" y="363308"/>
                  </a:lnTo>
                  <a:lnTo>
                    <a:pt x="8544166" y="363308"/>
                  </a:lnTo>
                  <a:lnTo>
                    <a:pt x="8525192" y="360768"/>
                  </a:lnTo>
                  <a:lnTo>
                    <a:pt x="8519160" y="362038"/>
                  </a:lnTo>
                  <a:lnTo>
                    <a:pt x="8515439" y="362038"/>
                  </a:lnTo>
                  <a:lnTo>
                    <a:pt x="8517293" y="363308"/>
                  </a:lnTo>
                  <a:lnTo>
                    <a:pt x="8517763" y="365848"/>
                  </a:lnTo>
                  <a:lnTo>
                    <a:pt x="8513267" y="364223"/>
                  </a:lnTo>
                  <a:lnTo>
                    <a:pt x="8514042" y="364020"/>
                  </a:lnTo>
                  <a:lnTo>
                    <a:pt x="8512734" y="364020"/>
                  </a:lnTo>
                  <a:lnTo>
                    <a:pt x="8510791" y="363308"/>
                  </a:lnTo>
                  <a:lnTo>
                    <a:pt x="8496402" y="365848"/>
                  </a:lnTo>
                  <a:lnTo>
                    <a:pt x="8496630" y="364578"/>
                  </a:lnTo>
                  <a:lnTo>
                    <a:pt x="8496871" y="363308"/>
                  </a:lnTo>
                  <a:lnTo>
                    <a:pt x="8497329" y="360768"/>
                  </a:lnTo>
                  <a:lnTo>
                    <a:pt x="8499196" y="360768"/>
                  </a:lnTo>
                  <a:lnTo>
                    <a:pt x="8496122" y="359498"/>
                  </a:lnTo>
                  <a:lnTo>
                    <a:pt x="8477974" y="359498"/>
                  </a:lnTo>
                  <a:lnTo>
                    <a:pt x="8469935" y="358228"/>
                  </a:lnTo>
                  <a:lnTo>
                    <a:pt x="8474113" y="363308"/>
                  </a:lnTo>
                  <a:lnTo>
                    <a:pt x="8462175" y="362178"/>
                  </a:lnTo>
                  <a:lnTo>
                    <a:pt x="8425624" y="364578"/>
                  </a:lnTo>
                  <a:lnTo>
                    <a:pt x="8361527" y="362038"/>
                  </a:lnTo>
                  <a:lnTo>
                    <a:pt x="8324609" y="364578"/>
                  </a:lnTo>
                  <a:lnTo>
                    <a:pt x="8326056" y="363308"/>
                  </a:lnTo>
                  <a:lnTo>
                    <a:pt x="8316252" y="363308"/>
                  </a:lnTo>
                  <a:lnTo>
                    <a:pt x="8313001" y="362038"/>
                  </a:lnTo>
                  <a:lnTo>
                    <a:pt x="8302955" y="358228"/>
                  </a:lnTo>
                  <a:lnTo>
                    <a:pt x="8293557" y="359498"/>
                  </a:lnTo>
                  <a:lnTo>
                    <a:pt x="8275866" y="364578"/>
                  </a:lnTo>
                  <a:lnTo>
                    <a:pt x="8275866" y="365848"/>
                  </a:lnTo>
                  <a:lnTo>
                    <a:pt x="8275396" y="365848"/>
                  </a:lnTo>
                  <a:lnTo>
                    <a:pt x="8275396" y="364934"/>
                  </a:lnTo>
                  <a:lnTo>
                    <a:pt x="8270748" y="364934"/>
                  </a:lnTo>
                  <a:lnTo>
                    <a:pt x="8267332" y="365379"/>
                  </a:lnTo>
                  <a:lnTo>
                    <a:pt x="8254962" y="364578"/>
                  </a:lnTo>
                  <a:lnTo>
                    <a:pt x="8256473" y="363308"/>
                  </a:lnTo>
                  <a:lnTo>
                    <a:pt x="8257743" y="362178"/>
                  </a:lnTo>
                  <a:lnTo>
                    <a:pt x="8253692" y="364578"/>
                  </a:lnTo>
                  <a:lnTo>
                    <a:pt x="8249221" y="365848"/>
                  </a:lnTo>
                  <a:lnTo>
                    <a:pt x="8251711" y="364578"/>
                  </a:lnTo>
                  <a:lnTo>
                    <a:pt x="8231060" y="363308"/>
                  </a:lnTo>
                  <a:lnTo>
                    <a:pt x="8210397" y="362038"/>
                  </a:lnTo>
                  <a:lnTo>
                    <a:pt x="8118716" y="362038"/>
                  </a:lnTo>
                  <a:lnTo>
                    <a:pt x="8072958" y="360768"/>
                  </a:lnTo>
                  <a:lnTo>
                    <a:pt x="8075739" y="363308"/>
                  </a:lnTo>
                  <a:lnTo>
                    <a:pt x="8040090" y="363308"/>
                  </a:lnTo>
                  <a:lnTo>
                    <a:pt x="8030248" y="362038"/>
                  </a:lnTo>
                  <a:lnTo>
                    <a:pt x="8021358" y="360768"/>
                  </a:lnTo>
                  <a:lnTo>
                    <a:pt x="8012773" y="363308"/>
                  </a:lnTo>
                  <a:lnTo>
                    <a:pt x="8005496" y="364578"/>
                  </a:lnTo>
                  <a:lnTo>
                    <a:pt x="8000530" y="367118"/>
                  </a:lnTo>
                  <a:lnTo>
                    <a:pt x="7991488" y="367118"/>
                  </a:lnTo>
                  <a:lnTo>
                    <a:pt x="7984223" y="365848"/>
                  </a:lnTo>
                  <a:lnTo>
                    <a:pt x="7980350" y="364578"/>
                  </a:lnTo>
                  <a:lnTo>
                    <a:pt x="7981493" y="363308"/>
                  </a:lnTo>
                  <a:lnTo>
                    <a:pt x="7960652" y="368388"/>
                  </a:lnTo>
                  <a:lnTo>
                    <a:pt x="7949171" y="369658"/>
                  </a:lnTo>
                  <a:lnTo>
                    <a:pt x="7935989" y="369658"/>
                  </a:lnTo>
                  <a:lnTo>
                    <a:pt x="7931823" y="368388"/>
                  </a:lnTo>
                  <a:lnTo>
                    <a:pt x="7924901" y="368388"/>
                  </a:lnTo>
                  <a:lnTo>
                    <a:pt x="7916342" y="369658"/>
                  </a:lnTo>
                  <a:lnTo>
                    <a:pt x="7907198" y="372198"/>
                  </a:lnTo>
                  <a:lnTo>
                    <a:pt x="7898206" y="373468"/>
                  </a:lnTo>
                  <a:lnTo>
                    <a:pt x="7890548" y="374738"/>
                  </a:lnTo>
                  <a:lnTo>
                    <a:pt x="7885074" y="374738"/>
                  </a:lnTo>
                  <a:lnTo>
                    <a:pt x="7882598" y="373468"/>
                  </a:lnTo>
                  <a:lnTo>
                    <a:pt x="7882598" y="373265"/>
                  </a:lnTo>
                  <a:lnTo>
                    <a:pt x="7882496" y="373468"/>
                  </a:lnTo>
                  <a:lnTo>
                    <a:pt x="7870063" y="373468"/>
                  </a:lnTo>
                  <a:lnTo>
                    <a:pt x="7864018" y="376008"/>
                  </a:lnTo>
                  <a:lnTo>
                    <a:pt x="7860779" y="376008"/>
                  </a:lnTo>
                  <a:lnTo>
                    <a:pt x="7857985" y="377278"/>
                  </a:lnTo>
                  <a:lnTo>
                    <a:pt x="7854734" y="377278"/>
                  </a:lnTo>
                  <a:lnTo>
                    <a:pt x="7851953" y="378548"/>
                  </a:lnTo>
                  <a:lnTo>
                    <a:pt x="7845450" y="379818"/>
                  </a:lnTo>
                  <a:lnTo>
                    <a:pt x="7827111" y="384898"/>
                  </a:lnTo>
                  <a:lnTo>
                    <a:pt x="7817510" y="387438"/>
                  </a:lnTo>
                  <a:lnTo>
                    <a:pt x="7809497" y="389445"/>
                  </a:lnTo>
                  <a:lnTo>
                    <a:pt x="7808773" y="389445"/>
                  </a:lnTo>
                  <a:lnTo>
                    <a:pt x="7808519" y="389699"/>
                  </a:lnTo>
                  <a:lnTo>
                    <a:pt x="7807376" y="389978"/>
                  </a:lnTo>
                  <a:lnTo>
                    <a:pt x="7807604" y="389343"/>
                  </a:lnTo>
                  <a:lnTo>
                    <a:pt x="7805521" y="391248"/>
                  </a:lnTo>
                  <a:lnTo>
                    <a:pt x="7800873" y="393788"/>
                  </a:lnTo>
                  <a:lnTo>
                    <a:pt x="7782776" y="410298"/>
                  </a:lnTo>
                  <a:lnTo>
                    <a:pt x="7780452" y="412838"/>
                  </a:lnTo>
                  <a:lnTo>
                    <a:pt x="7777658" y="415378"/>
                  </a:lnTo>
                  <a:lnTo>
                    <a:pt x="7773022" y="419188"/>
                  </a:lnTo>
                  <a:lnTo>
                    <a:pt x="7771168" y="421728"/>
                  </a:lnTo>
                  <a:lnTo>
                    <a:pt x="7767917" y="426808"/>
                  </a:lnTo>
                  <a:lnTo>
                    <a:pt x="7765593" y="429348"/>
                  </a:lnTo>
                  <a:lnTo>
                    <a:pt x="7777658" y="436968"/>
                  </a:lnTo>
                  <a:lnTo>
                    <a:pt x="7783233" y="440778"/>
                  </a:lnTo>
                  <a:lnTo>
                    <a:pt x="7788808" y="445858"/>
                  </a:lnTo>
                  <a:lnTo>
                    <a:pt x="7811554" y="445858"/>
                  </a:lnTo>
                  <a:lnTo>
                    <a:pt x="7822705" y="447128"/>
                  </a:lnTo>
                  <a:lnTo>
                    <a:pt x="7826883" y="448398"/>
                  </a:lnTo>
                  <a:lnTo>
                    <a:pt x="7835239" y="448398"/>
                  </a:lnTo>
                  <a:lnTo>
                    <a:pt x="7838491" y="447128"/>
                  </a:lnTo>
                  <a:lnTo>
                    <a:pt x="7845450" y="445858"/>
                  </a:lnTo>
                  <a:lnTo>
                    <a:pt x="7850556" y="443318"/>
                  </a:lnTo>
                  <a:lnTo>
                    <a:pt x="7858785" y="442048"/>
                  </a:lnTo>
                  <a:lnTo>
                    <a:pt x="7867967" y="439508"/>
                  </a:lnTo>
                  <a:lnTo>
                    <a:pt x="7877848" y="436968"/>
                  </a:lnTo>
                  <a:lnTo>
                    <a:pt x="7888173" y="435698"/>
                  </a:lnTo>
                  <a:lnTo>
                    <a:pt x="7895133" y="434428"/>
                  </a:lnTo>
                  <a:lnTo>
                    <a:pt x="7902562" y="433158"/>
                  </a:lnTo>
                  <a:lnTo>
                    <a:pt x="7909065" y="431888"/>
                  </a:lnTo>
                  <a:lnTo>
                    <a:pt x="7916024" y="431888"/>
                  </a:lnTo>
                  <a:lnTo>
                    <a:pt x="7922057" y="430618"/>
                  </a:lnTo>
                  <a:lnTo>
                    <a:pt x="7938770" y="429348"/>
                  </a:lnTo>
                  <a:lnTo>
                    <a:pt x="7946199" y="428078"/>
                  </a:lnTo>
                  <a:lnTo>
                    <a:pt x="7952245" y="428078"/>
                  </a:lnTo>
                  <a:lnTo>
                    <a:pt x="7961058" y="429348"/>
                  </a:lnTo>
                  <a:lnTo>
                    <a:pt x="7968234" y="429348"/>
                  </a:lnTo>
                  <a:lnTo>
                    <a:pt x="7976324" y="430618"/>
                  </a:lnTo>
                  <a:lnTo>
                    <a:pt x="8042783" y="434428"/>
                  </a:lnTo>
                  <a:lnTo>
                    <a:pt x="8244929" y="434428"/>
                  </a:lnTo>
                  <a:lnTo>
                    <a:pt x="8272069" y="433158"/>
                  </a:lnTo>
                  <a:lnTo>
                    <a:pt x="8282356" y="433158"/>
                  </a:lnTo>
                  <a:lnTo>
                    <a:pt x="8299539" y="428078"/>
                  </a:lnTo>
                  <a:lnTo>
                    <a:pt x="8336877" y="433158"/>
                  </a:lnTo>
                  <a:lnTo>
                    <a:pt x="8417979" y="433158"/>
                  </a:lnTo>
                  <a:lnTo>
                    <a:pt x="8457400" y="435698"/>
                  </a:lnTo>
                  <a:lnTo>
                    <a:pt x="8458327" y="431888"/>
                  </a:lnTo>
                  <a:lnTo>
                    <a:pt x="8472729" y="431888"/>
                  </a:lnTo>
                  <a:lnTo>
                    <a:pt x="8471802" y="434428"/>
                  </a:lnTo>
                  <a:lnTo>
                    <a:pt x="8475040" y="434428"/>
                  </a:lnTo>
                  <a:lnTo>
                    <a:pt x="8524989" y="435698"/>
                  </a:lnTo>
                  <a:lnTo>
                    <a:pt x="8674633" y="435698"/>
                  </a:lnTo>
                  <a:lnTo>
                    <a:pt x="8818601" y="439508"/>
                  </a:lnTo>
                  <a:lnTo>
                    <a:pt x="8864130" y="443318"/>
                  </a:lnTo>
                  <a:lnTo>
                    <a:pt x="8876424" y="444588"/>
                  </a:lnTo>
                  <a:lnTo>
                    <a:pt x="8908656" y="447128"/>
                  </a:lnTo>
                  <a:lnTo>
                    <a:pt x="8919388" y="448398"/>
                  </a:lnTo>
                  <a:lnTo>
                    <a:pt x="8978811" y="445858"/>
                  </a:lnTo>
                  <a:lnTo>
                    <a:pt x="9038247" y="448398"/>
                  </a:lnTo>
                  <a:lnTo>
                    <a:pt x="9055887" y="448398"/>
                  </a:lnTo>
                  <a:lnTo>
                    <a:pt x="9055417" y="449668"/>
                  </a:lnTo>
                  <a:lnTo>
                    <a:pt x="9072905" y="448398"/>
                  </a:lnTo>
                  <a:lnTo>
                    <a:pt x="9092921" y="449668"/>
                  </a:lnTo>
                  <a:lnTo>
                    <a:pt x="9113799" y="452208"/>
                  </a:lnTo>
                  <a:lnTo>
                    <a:pt x="9133891" y="453478"/>
                  </a:lnTo>
                  <a:lnTo>
                    <a:pt x="9132494" y="454748"/>
                  </a:lnTo>
                  <a:lnTo>
                    <a:pt x="9187269" y="456018"/>
                  </a:lnTo>
                  <a:lnTo>
                    <a:pt x="9241345" y="458558"/>
                  </a:lnTo>
                  <a:lnTo>
                    <a:pt x="9401467" y="462368"/>
                  </a:lnTo>
                  <a:lnTo>
                    <a:pt x="9454845" y="464908"/>
                  </a:lnTo>
                  <a:lnTo>
                    <a:pt x="9562909" y="472528"/>
                  </a:lnTo>
                  <a:lnTo>
                    <a:pt x="9588830" y="476338"/>
                  </a:lnTo>
                  <a:lnTo>
                    <a:pt x="9615665" y="478878"/>
                  </a:lnTo>
                  <a:lnTo>
                    <a:pt x="9671558" y="481418"/>
                  </a:lnTo>
                  <a:lnTo>
                    <a:pt x="9685909" y="481418"/>
                  </a:lnTo>
                  <a:lnTo>
                    <a:pt x="9700336" y="482688"/>
                  </a:lnTo>
                  <a:lnTo>
                    <a:pt x="9714776" y="482688"/>
                  </a:lnTo>
                  <a:lnTo>
                    <a:pt x="9729127" y="483958"/>
                  </a:lnTo>
                  <a:lnTo>
                    <a:pt x="9736442" y="483958"/>
                  </a:lnTo>
                  <a:lnTo>
                    <a:pt x="9743757" y="485228"/>
                  </a:lnTo>
                  <a:lnTo>
                    <a:pt x="9751060" y="485228"/>
                  </a:lnTo>
                  <a:lnTo>
                    <a:pt x="9772777" y="487768"/>
                  </a:lnTo>
                  <a:lnTo>
                    <a:pt x="9780194" y="487768"/>
                  </a:lnTo>
                  <a:lnTo>
                    <a:pt x="9793668" y="489038"/>
                  </a:lnTo>
                  <a:lnTo>
                    <a:pt x="9803816" y="491578"/>
                  </a:lnTo>
                  <a:lnTo>
                    <a:pt x="9821583" y="492848"/>
                  </a:lnTo>
                  <a:lnTo>
                    <a:pt x="9845700" y="495388"/>
                  </a:lnTo>
                  <a:lnTo>
                    <a:pt x="9874923" y="496658"/>
                  </a:lnTo>
                  <a:lnTo>
                    <a:pt x="9920973" y="500126"/>
                  </a:lnTo>
                  <a:lnTo>
                    <a:pt x="9916706" y="502818"/>
                  </a:lnTo>
                  <a:lnTo>
                    <a:pt x="9917163" y="504088"/>
                  </a:lnTo>
                  <a:lnTo>
                    <a:pt x="9908349" y="505358"/>
                  </a:lnTo>
                  <a:lnTo>
                    <a:pt x="9910204" y="505358"/>
                  </a:lnTo>
                  <a:lnTo>
                    <a:pt x="9909746" y="507898"/>
                  </a:lnTo>
                  <a:lnTo>
                    <a:pt x="9908807" y="509168"/>
                  </a:lnTo>
                  <a:lnTo>
                    <a:pt x="9906952" y="506628"/>
                  </a:lnTo>
                  <a:lnTo>
                    <a:pt x="9902774" y="509168"/>
                  </a:lnTo>
                  <a:lnTo>
                    <a:pt x="9897669" y="510438"/>
                  </a:lnTo>
                  <a:lnTo>
                    <a:pt x="9892093" y="509168"/>
                  </a:lnTo>
                  <a:lnTo>
                    <a:pt x="9894418" y="512978"/>
                  </a:lnTo>
                  <a:lnTo>
                    <a:pt x="9893490" y="512978"/>
                  </a:lnTo>
                  <a:lnTo>
                    <a:pt x="9888385" y="509168"/>
                  </a:lnTo>
                  <a:lnTo>
                    <a:pt x="9891636" y="514248"/>
                  </a:lnTo>
                  <a:lnTo>
                    <a:pt x="9891166" y="516788"/>
                  </a:lnTo>
                  <a:lnTo>
                    <a:pt x="9889769" y="516788"/>
                  </a:lnTo>
                  <a:lnTo>
                    <a:pt x="9890709" y="520598"/>
                  </a:lnTo>
                  <a:lnTo>
                    <a:pt x="9887915" y="519328"/>
                  </a:lnTo>
                  <a:lnTo>
                    <a:pt x="9884207" y="520598"/>
                  </a:lnTo>
                  <a:lnTo>
                    <a:pt x="9890239" y="523138"/>
                  </a:lnTo>
                  <a:lnTo>
                    <a:pt x="9886061" y="523138"/>
                  </a:lnTo>
                  <a:lnTo>
                    <a:pt x="9883280" y="520598"/>
                  </a:lnTo>
                  <a:lnTo>
                    <a:pt x="9888385" y="528218"/>
                  </a:lnTo>
                  <a:lnTo>
                    <a:pt x="9886531" y="528218"/>
                  </a:lnTo>
                  <a:lnTo>
                    <a:pt x="9881413" y="524408"/>
                  </a:lnTo>
                  <a:lnTo>
                    <a:pt x="9876777" y="524408"/>
                  </a:lnTo>
                  <a:lnTo>
                    <a:pt x="9880028" y="529488"/>
                  </a:lnTo>
                  <a:lnTo>
                    <a:pt x="9876777" y="532028"/>
                  </a:lnTo>
                  <a:lnTo>
                    <a:pt x="9873526" y="532028"/>
                  </a:lnTo>
                  <a:lnTo>
                    <a:pt x="9872129" y="530758"/>
                  </a:lnTo>
                  <a:lnTo>
                    <a:pt x="9870745" y="529488"/>
                  </a:lnTo>
                  <a:lnTo>
                    <a:pt x="9869348" y="528218"/>
                  </a:lnTo>
                  <a:lnTo>
                    <a:pt x="9869348" y="529488"/>
                  </a:lnTo>
                  <a:lnTo>
                    <a:pt x="9869119" y="528853"/>
                  </a:lnTo>
                  <a:lnTo>
                    <a:pt x="9869030" y="529488"/>
                  </a:lnTo>
                  <a:lnTo>
                    <a:pt x="9868878" y="530758"/>
                  </a:lnTo>
                  <a:lnTo>
                    <a:pt x="9867024" y="529488"/>
                  </a:lnTo>
                  <a:lnTo>
                    <a:pt x="9866097" y="526948"/>
                  </a:lnTo>
                  <a:lnTo>
                    <a:pt x="9862375" y="526948"/>
                  </a:lnTo>
                  <a:lnTo>
                    <a:pt x="9866097" y="529488"/>
                  </a:lnTo>
                  <a:lnTo>
                    <a:pt x="9864700" y="530758"/>
                  </a:lnTo>
                  <a:lnTo>
                    <a:pt x="9867024" y="534568"/>
                  </a:lnTo>
                  <a:lnTo>
                    <a:pt x="9871202" y="540918"/>
                  </a:lnTo>
                  <a:lnTo>
                    <a:pt x="9872129" y="540918"/>
                  </a:lnTo>
                  <a:lnTo>
                    <a:pt x="9872129" y="544728"/>
                  </a:lnTo>
                  <a:lnTo>
                    <a:pt x="9871202" y="545998"/>
                  </a:lnTo>
                  <a:lnTo>
                    <a:pt x="9868421" y="545998"/>
                  </a:lnTo>
                  <a:lnTo>
                    <a:pt x="9867024" y="544728"/>
                  </a:lnTo>
                  <a:lnTo>
                    <a:pt x="9866097" y="545998"/>
                  </a:lnTo>
                  <a:lnTo>
                    <a:pt x="9864242" y="544728"/>
                  </a:lnTo>
                  <a:lnTo>
                    <a:pt x="9862375" y="547268"/>
                  </a:lnTo>
                  <a:lnTo>
                    <a:pt x="9863315" y="547268"/>
                  </a:lnTo>
                  <a:lnTo>
                    <a:pt x="9862845" y="548538"/>
                  </a:lnTo>
                  <a:lnTo>
                    <a:pt x="9861448" y="551078"/>
                  </a:lnTo>
                  <a:lnTo>
                    <a:pt x="9859594" y="551078"/>
                  </a:lnTo>
                  <a:lnTo>
                    <a:pt x="9858667" y="549808"/>
                  </a:lnTo>
                  <a:lnTo>
                    <a:pt x="9852165" y="548538"/>
                  </a:lnTo>
                  <a:lnTo>
                    <a:pt x="9854019" y="554888"/>
                  </a:lnTo>
                  <a:lnTo>
                    <a:pt x="9850768" y="558698"/>
                  </a:lnTo>
                  <a:lnTo>
                    <a:pt x="9848913" y="556158"/>
                  </a:lnTo>
                  <a:lnTo>
                    <a:pt x="9845662" y="554888"/>
                  </a:lnTo>
                  <a:lnTo>
                    <a:pt x="9851707" y="559968"/>
                  </a:lnTo>
                  <a:lnTo>
                    <a:pt x="9849383" y="559968"/>
                  </a:lnTo>
                  <a:lnTo>
                    <a:pt x="9846589" y="557428"/>
                  </a:lnTo>
                  <a:lnTo>
                    <a:pt x="9848913" y="562508"/>
                  </a:lnTo>
                  <a:lnTo>
                    <a:pt x="9844278" y="557428"/>
                  </a:lnTo>
                  <a:lnTo>
                    <a:pt x="9841954" y="557428"/>
                  </a:lnTo>
                  <a:lnTo>
                    <a:pt x="9845662" y="561238"/>
                  </a:lnTo>
                  <a:lnTo>
                    <a:pt x="9840557" y="561238"/>
                  </a:lnTo>
                  <a:lnTo>
                    <a:pt x="9839630" y="559968"/>
                  </a:lnTo>
                  <a:lnTo>
                    <a:pt x="9837776" y="557428"/>
                  </a:lnTo>
                  <a:lnTo>
                    <a:pt x="9836379" y="554888"/>
                  </a:lnTo>
                  <a:lnTo>
                    <a:pt x="9837776" y="559968"/>
                  </a:lnTo>
                  <a:lnTo>
                    <a:pt x="9834524" y="556158"/>
                  </a:lnTo>
                  <a:lnTo>
                    <a:pt x="9837306" y="561238"/>
                  </a:lnTo>
                  <a:lnTo>
                    <a:pt x="9836264" y="559968"/>
                  </a:lnTo>
                  <a:lnTo>
                    <a:pt x="9833127" y="556158"/>
                  </a:lnTo>
                  <a:lnTo>
                    <a:pt x="9833127" y="559968"/>
                  </a:lnTo>
                  <a:lnTo>
                    <a:pt x="9831743" y="558698"/>
                  </a:lnTo>
                  <a:lnTo>
                    <a:pt x="9831743" y="557428"/>
                  </a:lnTo>
                  <a:lnTo>
                    <a:pt x="9830346" y="557428"/>
                  </a:lnTo>
                  <a:lnTo>
                    <a:pt x="9832200" y="565048"/>
                  </a:lnTo>
                  <a:lnTo>
                    <a:pt x="9831743" y="561238"/>
                  </a:lnTo>
                  <a:lnTo>
                    <a:pt x="9835921" y="566318"/>
                  </a:lnTo>
                  <a:lnTo>
                    <a:pt x="9837776" y="571398"/>
                  </a:lnTo>
                  <a:lnTo>
                    <a:pt x="9836226" y="570128"/>
                  </a:lnTo>
                  <a:lnTo>
                    <a:pt x="9833127" y="567588"/>
                  </a:lnTo>
                  <a:lnTo>
                    <a:pt x="9833127" y="570128"/>
                  </a:lnTo>
                  <a:lnTo>
                    <a:pt x="9832670" y="567588"/>
                  </a:lnTo>
                  <a:lnTo>
                    <a:pt x="9831743" y="570128"/>
                  </a:lnTo>
                  <a:lnTo>
                    <a:pt x="9829876" y="568858"/>
                  </a:lnTo>
                  <a:lnTo>
                    <a:pt x="9828949" y="568858"/>
                  </a:lnTo>
                  <a:lnTo>
                    <a:pt x="9830346" y="570128"/>
                  </a:lnTo>
                  <a:lnTo>
                    <a:pt x="9830346" y="571398"/>
                  </a:lnTo>
                  <a:lnTo>
                    <a:pt x="9829876" y="571398"/>
                  </a:lnTo>
                  <a:lnTo>
                    <a:pt x="9828492" y="570128"/>
                  </a:lnTo>
                  <a:lnTo>
                    <a:pt x="9827565" y="570128"/>
                  </a:lnTo>
                  <a:lnTo>
                    <a:pt x="9830346" y="572668"/>
                  </a:lnTo>
                  <a:lnTo>
                    <a:pt x="9830803" y="576478"/>
                  </a:lnTo>
                  <a:lnTo>
                    <a:pt x="9828022" y="575208"/>
                  </a:lnTo>
                  <a:lnTo>
                    <a:pt x="9827095" y="575208"/>
                  </a:lnTo>
                  <a:lnTo>
                    <a:pt x="9828022" y="576478"/>
                  </a:lnTo>
                  <a:lnTo>
                    <a:pt x="9826625" y="575208"/>
                  </a:lnTo>
                  <a:lnTo>
                    <a:pt x="9823844" y="571398"/>
                  </a:lnTo>
                  <a:lnTo>
                    <a:pt x="9826168" y="576478"/>
                  </a:lnTo>
                  <a:lnTo>
                    <a:pt x="9824771" y="575208"/>
                  </a:lnTo>
                  <a:lnTo>
                    <a:pt x="9826168" y="579018"/>
                  </a:lnTo>
                  <a:lnTo>
                    <a:pt x="9823844" y="576478"/>
                  </a:lnTo>
                  <a:lnTo>
                    <a:pt x="9823374" y="575208"/>
                  </a:lnTo>
                  <a:lnTo>
                    <a:pt x="9817341" y="580288"/>
                  </a:lnTo>
                  <a:lnTo>
                    <a:pt x="9814560" y="576478"/>
                  </a:lnTo>
                  <a:lnTo>
                    <a:pt x="9817811" y="581558"/>
                  </a:lnTo>
                  <a:lnTo>
                    <a:pt x="9810382" y="579018"/>
                  </a:lnTo>
                  <a:lnTo>
                    <a:pt x="9815017" y="582828"/>
                  </a:lnTo>
                  <a:lnTo>
                    <a:pt x="9811309" y="581558"/>
                  </a:lnTo>
                  <a:lnTo>
                    <a:pt x="9812706" y="589178"/>
                  </a:lnTo>
                  <a:lnTo>
                    <a:pt x="9808058" y="582828"/>
                  </a:lnTo>
                  <a:lnTo>
                    <a:pt x="9804349" y="585368"/>
                  </a:lnTo>
                  <a:lnTo>
                    <a:pt x="9807130" y="591718"/>
                  </a:lnTo>
                  <a:lnTo>
                    <a:pt x="9800628" y="594258"/>
                  </a:lnTo>
                  <a:lnTo>
                    <a:pt x="9794596" y="590448"/>
                  </a:lnTo>
                  <a:lnTo>
                    <a:pt x="9791802" y="595528"/>
                  </a:lnTo>
                  <a:lnTo>
                    <a:pt x="9789020" y="598068"/>
                  </a:lnTo>
                  <a:lnTo>
                    <a:pt x="9785769" y="604418"/>
                  </a:lnTo>
                  <a:lnTo>
                    <a:pt x="9783915" y="609498"/>
                  </a:lnTo>
                  <a:lnTo>
                    <a:pt x="9780194" y="617118"/>
                  </a:lnTo>
                  <a:lnTo>
                    <a:pt x="9775101" y="617118"/>
                  </a:lnTo>
                  <a:lnTo>
                    <a:pt x="9772891" y="620928"/>
                  </a:lnTo>
                  <a:lnTo>
                    <a:pt x="9771189" y="624738"/>
                  </a:lnTo>
                  <a:lnTo>
                    <a:pt x="9767659" y="626008"/>
                  </a:lnTo>
                  <a:lnTo>
                    <a:pt x="9769526" y="629818"/>
                  </a:lnTo>
                  <a:lnTo>
                    <a:pt x="9763023" y="627278"/>
                  </a:lnTo>
                  <a:lnTo>
                    <a:pt x="9764878" y="636168"/>
                  </a:lnTo>
                  <a:lnTo>
                    <a:pt x="9757918" y="636168"/>
                  </a:lnTo>
                  <a:lnTo>
                    <a:pt x="9758375" y="637438"/>
                  </a:lnTo>
                  <a:lnTo>
                    <a:pt x="9758375" y="638708"/>
                  </a:lnTo>
                  <a:lnTo>
                    <a:pt x="9759302" y="638708"/>
                  </a:lnTo>
                  <a:lnTo>
                    <a:pt x="9761169" y="639978"/>
                  </a:lnTo>
                  <a:lnTo>
                    <a:pt x="9759302" y="639978"/>
                  </a:lnTo>
                  <a:lnTo>
                    <a:pt x="9758845" y="643788"/>
                  </a:lnTo>
                  <a:lnTo>
                    <a:pt x="9752343" y="636168"/>
                  </a:lnTo>
                  <a:lnTo>
                    <a:pt x="9754667" y="643788"/>
                  </a:lnTo>
                  <a:lnTo>
                    <a:pt x="9750488" y="642518"/>
                  </a:lnTo>
                  <a:lnTo>
                    <a:pt x="9754667" y="645058"/>
                  </a:lnTo>
                  <a:lnTo>
                    <a:pt x="9752343" y="646328"/>
                  </a:lnTo>
                  <a:lnTo>
                    <a:pt x="9751873" y="646328"/>
                  </a:lnTo>
                  <a:lnTo>
                    <a:pt x="9750107" y="653948"/>
                  </a:lnTo>
                  <a:lnTo>
                    <a:pt x="9745370" y="657758"/>
                  </a:lnTo>
                  <a:lnTo>
                    <a:pt x="9740646" y="660298"/>
                  </a:lnTo>
                  <a:lnTo>
                    <a:pt x="9738881" y="667918"/>
                  </a:lnTo>
                  <a:lnTo>
                    <a:pt x="9735629" y="664108"/>
                  </a:lnTo>
                  <a:lnTo>
                    <a:pt x="9739808" y="671728"/>
                  </a:lnTo>
                  <a:lnTo>
                    <a:pt x="9735160" y="667918"/>
                  </a:lnTo>
                  <a:lnTo>
                    <a:pt x="9728200" y="664108"/>
                  </a:lnTo>
                  <a:lnTo>
                    <a:pt x="9733305" y="671728"/>
                  </a:lnTo>
                  <a:lnTo>
                    <a:pt x="9733305" y="675538"/>
                  </a:lnTo>
                  <a:lnTo>
                    <a:pt x="9734232" y="675538"/>
                  </a:lnTo>
                  <a:lnTo>
                    <a:pt x="9731451" y="678078"/>
                  </a:lnTo>
                  <a:lnTo>
                    <a:pt x="9730067" y="676808"/>
                  </a:lnTo>
                  <a:lnTo>
                    <a:pt x="9730867" y="678078"/>
                  </a:lnTo>
                  <a:lnTo>
                    <a:pt x="9731845" y="680618"/>
                  </a:lnTo>
                  <a:lnTo>
                    <a:pt x="9730981" y="679348"/>
                  </a:lnTo>
                  <a:lnTo>
                    <a:pt x="9724365" y="683158"/>
                  </a:lnTo>
                  <a:lnTo>
                    <a:pt x="9719081" y="689508"/>
                  </a:lnTo>
                  <a:lnTo>
                    <a:pt x="9714078" y="695858"/>
                  </a:lnTo>
                  <a:lnTo>
                    <a:pt x="9708236" y="700938"/>
                  </a:lnTo>
                  <a:lnTo>
                    <a:pt x="9710090" y="702208"/>
                  </a:lnTo>
                  <a:lnTo>
                    <a:pt x="9708236" y="704748"/>
                  </a:lnTo>
                  <a:lnTo>
                    <a:pt x="9707766" y="708558"/>
                  </a:lnTo>
                  <a:lnTo>
                    <a:pt x="9700336" y="707288"/>
                  </a:lnTo>
                  <a:lnTo>
                    <a:pt x="9704984" y="714908"/>
                  </a:lnTo>
                  <a:lnTo>
                    <a:pt x="9704514" y="714908"/>
                  </a:lnTo>
                  <a:lnTo>
                    <a:pt x="9705442" y="718718"/>
                  </a:lnTo>
                  <a:lnTo>
                    <a:pt x="9700222" y="716521"/>
                  </a:lnTo>
                  <a:lnTo>
                    <a:pt x="9699409" y="718718"/>
                  </a:lnTo>
                  <a:lnTo>
                    <a:pt x="9703130" y="725068"/>
                  </a:lnTo>
                  <a:lnTo>
                    <a:pt x="9698952" y="725068"/>
                  </a:lnTo>
                  <a:lnTo>
                    <a:pt x="9696361" y="726338"/>
                  </a:lnTo>
                  <a:lnTo>
                    <a:pt x="9695701" y="728878"/>
                  </a:lnTo>
                  <a:lnTo>
                    <a:pt x="9695028" y="732688"/>
                  </a:lnTo>
                  <a:lnTo>
                    <a:pt x="9692449" y="731418"/>
                  </a:lnTo>
                  <a:lnTo>
                    <a:pt x="9692907" y="732688"/>
                  </a:lnTo>
                  <a:lnTo>
                    <a:pt x="9686417" y="732688"/>
                  </a:lnTo>
                  <a:lnTo>
                    <a:pt x="9690595" y="741578"/>
                  </a:lnTo>
                  <a:lnTo>
                    <a:pt x="9683623" y="741578"/>
                  </a:lnTo>
                  <a:lnTo>
                    <a:pt x="9694774" y="761898"/>
                  </a:lnTo>
                  <a:lnTo>
                    <a:pt x="9715195" y="774598"/>
                  </a:lnTo>
                  <a:lnTo>
                    <a:pt x="9735160" y="779678"/>
                  </a:lnTo>
                  <a:lnTo>
                    <a:pt x="9739808" y="769518"/>
                  </a:lnTo>
                  <a:lnTo>
                    <a:pt x="9742132" y="765708"/>
                  </a:lnTo>
                  <a:lnTo>
                    <a:pt x="9744913" y="760628"/>
                  </a:lnTo>
                  <a:lnTo>
                    <a:pt x="9761169" y="751738"/>
                  </a:lnTo>
                  <a:lnTo>
                    <a:pt x="9762553" y="750468"/>
                  </a:lnTo>
                  <a:lnTo>
                    <a:pt x="9767202" y="744118"/>
                  </a:lnTo>
                  <a:lnTo>
                    <a:pt x="9770453" y="740308"/>
                  </a:lnTo>
                  <a:lnTo>
                    <a:pt x="9773234" y="735228"/>
                  </a:lnTo>
                  <a:lnTo>
                    <a:pt x="9776485" y="731418"/>
                  </a:lnTo>
                  <a:lnTo>
                    <a:pt x="9779267" y="727608"/>
                  </a:lnTo>
                  <a:lnTo>
                    <a:pt x="9781591" y="725068"/>
                  </a:lnTo>
                  <a:lnTo>
                    <a:pt x="9783915" y="721258"/>
                  </a:lnTo>
                  <a:lnTo>
                    <a:pt x="9785769" y="719988"/>
                  </a:lnTo>
                  <a:lnTo>
                    <a:pt x="9785401" y="718718"/>
                  </a:lnTo>
                  <a:lnTo>
                    <a:pt x="9783915" y="713638"/>
                  </a:lnTo>
                  <a:lnTo>
                    <a:pt x="9791116" y="712368"/>
                  </a:lnTo>
                  <a:lnTo>
                    <a:pt x="9793795" y="708558"/>
                  </a:lnTo>
                  <a:lnTo>
                    <a:pt x="9795573" y="706018"/>
                  </a:lnTo>
                  <a:lnTo>
                    <a:pt x="9799777" y="700938"/>
                  </a:lnTo>
                  <a:lnTo>
                    <a:pt x="9806203" y="697128"/>
                  </a:lnTo>
                  <a:lnTo>
                    <a:pt x="9802952" y="694588"/>
                  </a:lnTo>
                  <a:lnTo>
                    <a:pt x="9804349" y="692048"/>
                  </a:lnTo>
                  <a:lnTo>
                    <a:pt x="9806203" y="694588"/>
                  </a:lnTo>
                  <a:lnTo>
                    <a:pt x="9807588" y="694588"/>
                  </a:lnTo>
                  <a:lnTo>
                    <a:pt x="9809556" y="692048"/>
                  </a:lnTo>
                  <a:lnTo>
                    <a:pt x="9818370" y="680618"/>
                  </a:lnTo>
                  <a:lnTo>
                    <a:pt x="9820491" y="678078"/>
                  </a:lnTo>
                  <a:lnTo>
                    <a:pt x="9825812" y="671728"/>
                  </a:lnTo>
                  <a:lnTo>
                    <a:pt x="9829013" y="667918"/>
                  </a:lnTo>
                  <a:lnTo>
                    <a:pt x="9840430" y="656488"/>
                  </a:lnTo>
                  <a:lnTo>
                    <a:pt x="9853562" y="646328"/>
                  </a:lnTo>
                  <a:lnTo>
                    <a:pt x="9856813" y="647598"/>
                  </a:lnTo>
                  <a:lnTo>
                    <a:pt x="9859251" y="643788"/>
                  </a:lnTo>
                  <a:lnTo>
                    <a:pt x="9860064" y="642518"/>
                  </a:lnTo>
                  <a:lnTo>
                    <a:pt x="9863315" y="643788"/>
                  </a:lnTo>
                  <a:lnTo>
                    <a:pt x="9863442" y="642518"/>
                  </a:lnTo>
                  <a:lnTo>
                    <a:pt x="9864242" y="634898"/>
                  </a:lnTo>
                  <a:lnTo>
                    <a:pt x="9869348" y="629818"/>
                  </a:lnTo>
                  <a:lnTo>
                    <a:pt x="9874923" y="626008"/>
                  </a:lnTo>
                  <a:lnTo>
                    <a:pt x="9876777" y="623468"/>
                  </a:lnTo>
                  <a:lnTo>
                    <a:pt x="9877234" y="623468"/>
                  </a:lnTo>
                  <a:lnTo>
                    <a:pt x="9877704" y="624738"/>
                  </a:lnTo>
                  <a:lnTo>
                    <a:pt x="9877704" y="623468"/>
                  </a:lnTo>
                  <a:lnTo>
                    <a:pt x="9877704" y="619658"/>
                  </a:lnTo>
                  <a:lnTo>
                    <a:pt x="9884664" y="618388"/>
                  </a:lnTo>
                  <a:lnTo>
                    <a:pt x="9888842" y="617118"/>
                  </a:lnTo>
                  <a:lnTo>
                    <a:pt x="9902444" y="605688"/>
                  </a:lnTo>
                  <a:lnTo>
                    <a:pt x="9912833" y="594258"/>
                  </a:lnTo>
                  <a:lnTo>
                    <a:pt x="9915131" y="591718"/>
                  </a:lnTo>
                  <a:lnTo>
                    <a:pt x="9917836" y="589178"/>
                  </a:lnTo>
                  <a:lnTo>
                    <a:pt x="9924567" y="582828"/>
                  </a:lnTo>
                  <a:lnTo>
                    <a:pt x="9925914" y="581558"/>
                  </a:lnTo>
                  <a:lnTo>
                    <a:pt x="9927260" y="580288"/>
                  </a:lnTo>
                  <a:lnTo>
                    <a:pt x="9928606" y="579018"/>
                  </a:lnTo>
                  <a:lnTo>
                    <a:pt x="9933165" y="576478"/>
                  </a:lnTo>
                  <a:lnTo>
                    <a:pt x="9942284" y="571398"/>
                  </a:lnTo>
                  <a:lnTo>
                    <a:pt x="9944557" y="570128"/>
                  </a:lnTo>
                  <a:lnTo>
                    <a:pt x="9951529" y="570128"/>
                  </a:lnTo>
                  <a:lnTo>
                    <a:pt x="9956165" y="565048"/>
                  </a:lnTo>
                  <a:lnTo>
                    <a:pt x="9958260" y="562508"/>
                  </a:lnTo>
                  <a:lnTo>
                    <a:pt x="9960343" y="559968"/>
                  </a:lnTo>
                  <a:lnTo>
                    <a:pt x="9961677" y="558698"/>
                  </a:lnTo>
                  <a:lnTo>
                    <a:pt x="9969640" y="551078"/>
                  </a:lnTo>
                  <a:lnTo>
                    <a:pt x="9977069" y="549808"/>
                  </a:lnTo>
                  <a:lnTo>
                    <a:pt x="9981006" y="545998"/>
                  </a:lnTo>
                  <a:lnTo>
                    <a:pt x="9988385" y="539648"/>
                  </a:lnTo>
                  <a:lnTo>
                    <a:pt x="9995675" y="532028"/>
                  </a:lnTo>
                  <a:lnTo>
                    <a:pt x="9998431" y="528218"/>
                  </a:lnTo>
                  <a:lnTo>
                    <a:pt x="9999345" y="526948"/>
                  </a:lnTo>
                  <a:lnTo>
                    <a:pt x="9993782" y="524408"/>
                  </a:lnTo>
                  <a:lnTo>
                    <a:pt x="9995510" y="523138"/>
                  </a:lnTo>
                  <a:lnTo>
                    <a:pt x="9998964" y="520598"/>
                  </a:lnTo>
                  <a:lnTo>
                    <a:pt x="10003930" y="518058"/>
                  </a:lnTo>
                  <a:lnTo>
                    <a:pt x="10008464" y="515518"/>
                  </a:lnTo>
                  <a:lnTo>
                    <a:pt x="10010407" y="512978"/>
                  </a:lnTo>
                  <a:lnTo>
                    <a:pt x="10012350" y="510438"/>
                  </a:lnTo>
                  <a:lnTo>
                    <a:pt x="10012820" y="511708"/>
                  </a:lnTo>
                  <a:lnTo>
                    <a:pt x="10013188" y="510438"/>
                  </a:lnTo>
                  <a:lnTo>
                    <a:pt x="10013442" y="509168"/>
                  </a:lnTo>
                  <a:lnTo>
                    <a:pt x="10013683" y="507898"/>
                  </a:lnTo>
                  <a:lnTo>
                    <a:pt x="10017582" y="505358"/>
                  </a:lnTo>
                  <a:lnTo>
                    <a:pt x="10028136" y="506628"/>
                  </a:lnTo>
                  <a:lnTo>
                    <a:pt x="10029063" y="506628"/>
                  </a:lnTo>
                  <a:lnTo>
                    <a:pt x="10028758" y="506209"/>
                  </a:lnTo>
                  <a:lnTo>
                    <a:pt x="10026282" y="505358"/>
                  </a:lnTo>
                  <a:lnTo>
                    <a:pt x="10026739" y="504088"/>
                  </a:lnTo>
                  <a:lnTo>
                    <a:pt x="10026434" y="501548"/>
                  </a:lnTo>
                  <a:lnTo>
                    <a:pt x="10026282" y="500278"/>
                  </a:lnTo>
                  <a:lnTo>
                    <a:pt x="10027679" y="499008"/>
                  </a:lnTo>
                  <a:lnTo>
                    <a:pt x="10029533" y="501548"/>
                  </a:lnTo>
                  <a:lnTo>
                    <a:pt x="10032784" y="497738"/>
                  </a:lnTo>
                  <a:lnTo>
                    <a:pt x="10036035" y="500278"/>
                  </a:lnTo>
                  <a:lnTo>
                    <a:pt x="10036035" y="497738"/>
                  </a:lnTo>
                  <a:lnTo>
                    <a:pt x="10031387" y="491388"/>
                  </a:lnTo>
                  <a:lnTo>
                    <a:pt x="10036962" y="493928"/>
                  </a:lnTo>
                  <a:lnTo>
                    <a:pt x="10034168" y="491388"/>
                  </a:lnTo>
                  <a:lnTo>
                    <a:pt x="10032784" y="490118"/>
                  </a:lnTo>
                  <a:lnTo>
                    <a:pt x="10035705" y="490118"/>
                  </a:lnTo>
                  <a:lnTo>
                    <a:pt x="10035565" y="490258"/>
                  </a:lnTo>
                  <a:lnTo>
                    <a:pt x="10037889" y="490258"/>
                  </a:lnTo>
                  <a:lnTo>
                    <a:pt x="10036492" y="489343"/>
                  </a:lnTo>
                  <a:lnTo>
                    <a:pt x="10036035" y="488848"/>
                  </a:lnTo>
                  <a:lnTo>
                    <a:pt x="10037420" y="488848"/>
                  </a:lnTo>
                  <a:lnTo>
                    <a:pt x="10038817" y="487578"/>
                  </a:lnTo>
                  <a:lnTo>
                    <a:pt x="10042068" y="483768"/>
                  </a:lnTo>
                  <a:close/>
                </a:path>
              </a:pathLst>
            </a:custGeom>
            <a:solidFill>
              <a:srgbClr val="000000"/>
            </a:solidFill>
          </p:spPr>
          <p:txBody>
            <a:bodyPr wrap="square" lIns="0" tIns="0" rIns="0" bIns="0" rtlCol="0"/>
            <a:lstStyle/>
            <a:p>
              <a:endParaRPr/>
            </a:p>
          </p:txBody>
        </p:sp>
        <p:sp>
          <p:nvSpPr>
            <p:cNvPr id="7" name="object 7"/>
            <p:cNvSpPr/>
            <p:nvPr/>
          </p:nvSpPr>
          <p:spPr>
            <a:xfrm>
              <a:off x="3439185" y="3294887"/>
              <a:ext cx="9838055" cy="738505"/>
            </a:xfrm>
            <a:custGeom>
              <a:avLst/>
              <a:gdLst/>
              <a:ahLst/>
              <a:cxnLst/>
              <a:rect l="l" t="t" r="r" b="b"/>
              <a:pathLst>
                <a:path w="9838055" h="738504">
                  <a:moveTo>
                    <a:pt x="13462" y="332359"/>
                  </a:moveTo>
                  <a:lnTo>
                    <a:pt x="12534" y="330974"/>
                  </a:lnTo>
                  <a:lnTo>
                    <a:pt x="12534" y="331431"/>
                  </a:lnTo>
                  <a:lnTo>
                    <a:pt x="13462" y="332359"/>
                  </a:lnTo>
                  <a:close/>
                </a:path>
                <a:path w="9838055" h="738504">
                  <a:moveTo>
                    <a:pt x="13931" y="328358"/>
                  </a:moveTo>
                  <a:lnTo>
                    <a:pt x="13309" y="327520"/>
                  </a:lnTo>
                  <a:lnTo>
                    <a:pt x="12077" y="327088"/>
                  </a:lnTo>
                  <a:lnTo>
                    <a:pt x="13931" y="328358"/>
                  </a:lnTo>
                  <a:close/>
                </a:path>
                <a:path w="9838055" h="738504">
                  <a:moveTo>
                    <a:pt x="21818" y="363347"/>
                  </a:moveTo>
                  <a:lnTo>
                    <a:pt x="21361" y="362877"/>
                  </a:lnTo>
                  <a:lnTo>
                    <a:pt x="21818" y="364274"/>
                  </a:lnTo>
                  <a:lnTo>
                    <a:pt x="21818" y="363347"/>
                  </a:lnTo>
                  <a:close/>
                </a:path>
                <a:path w="9838055" h="738504">
                  <a:moveTo>
                    <a:pt x="25539" y="363804"/>
                  </a:moveTo>
                  <a:lnTo>
                    <a:pt x="25298" y="363575"/>
                  </a:lnTo>
                  <a:lnTo>
                    <a:pt x="25539" y="364274"/>
                  </a:lnTo>
                  <a:lnTo>
                    <a:pt x="25539" y="363804"/>
                  </a:lnTo>
                  <a:close/>
                </a:path>
                <a:path w="9838055" h="738504">
                  <a:moveTo>
                    <a:pt x="62217" y="366115"/>
                  </a:moveTo>
                  <a:lnTo>
                    <a:pt x="61290" y="365188"/>
                  </a:lnTo>
                  <a:lnTo>
                    <a:pt x="60363" y="366115"/>
                  </a:lnTo>
                  <a:lnTo>
                    <a:pt x="60363" y="366585"/>
                  </a:lnTo>
                  <a:lnTo>
                    <a:pt x="62217" y="366115"/>
                  </a:lnTo>
                  <a:close/>
                </a:path>
                <a:path w="9838055" h="738504">
                  <a:moveTo>
                    <a:pt x="137896" y="328663"/>
                  </a:moveTo>
                  <a:lnTo>
                    <a:pt x="136969" y="327266"/>
                  </a:lnTo>
                  <a:lnTo>
                    <a:pt x="136969" y="327736"/>
                  </a:lnTo>
                  <a:lnTo>
                    <a:pt x="137896" y="328663"/>
                  </a:lnTo>
                  <a:close/>
                </a:path>
                <a:path w="9838055" h="738504">
                  <a:moveTo>
                    <a:pt x="156933" y="316636"/>
                  </a:moveTo>
                  <a:lnTo>
                    <a:pt x="156476" y="315709"/>
                  </a:lnTo>
                  <a:lnTo>
                    <a:pt x="156476" y="316179"/>
                  </a:lnTo>
                  <a:lnTo>
                    <a:pt x="156933" y="316636"/>
                  </a:lnTo>
                  <a:close/>
                </a:path>
                <a:path w="9838055" h="738504">
                  <a:moveTo>
                    <a:pt x="174574" y="309308"/>
                  </a:moveTo>
                  <a:lnTo>
                    <a:pt x="172961" y="304863"/>
                  </a:lnTo>
                  <a:lnTo>
                    <a:pt x="172847" y="305752"/>
                  </a:lnTo>
                  <a:lnTo>
                    <a:pt x="174574" y="309308"/>
                  </a:lnTo>
                  <a:close/>
                </a:path>
                <a:path w="9838055" h="738504">
                  <a:moveTo>
                    <a:pt x="180619" y="307390"/>
                  </a:moveTo>
                  <a:lnTo>
                    <a:pt x="180149" y="306920"/>
                  </a:lnTo>
                  <a:lnTo>
                    <a:pt x="180619" y="307848"/>
                  </a:lnTo>
                  <a:lnTo>
                    <a:pt x="180619" y="307390"/>
                  </a:lnTo>
                  <a:close/>
                </a:path>
                <a:path w="9838055" h="738504">
                  <a:moveTo>
                    <a:pt x="202438" y="403110"/>
                  </a:moveTo>
                  <a:lnTo>
                    <a:pt x="195478" y="399872"/>
                  </a:lnTo>
                  <a:lnTo>
                    <a:pt x="194551" y="399872"/>
                  </a:lnTo>
                  <a:lnTo>
                    <a:pt x="202438" y="403110"/>
                  </a:lnTo>
                  <a:close/>
                </a:path>
                <a:path w="9838055" h="738504">
                  <a:moveTo>
                    <a:pt x="255828" y="411988"/>
                  </a:moveTo>
                  <a:lnTo>
                    <a:pt x="255270" y="411734"/>
                  </a:lnTo>
                  <a:lnTo>
                    <a:pt x="255371" y="411988"/>
                  </a:lnTo>
                  <a:lnTo>
                    <a:pt x="255828" y="411988"/>
                  </a:lnTo>
                  <a:close/>
                </a:path>
                <a:path w="9838055" h="738504">
                  <a:moveTo>
                    <a:pt x="286473" y="196405"/>
                  </a:moveTo>
                  <a:lnTo>
                    <a:pt x="286016" y="195935"/>
                  </a:lnTo>
                  <a:lnTo>
                    <a:pt x="286016" y="196405"/>
                  </a:lnTo>
                  <a:lnTo>
                    <a:pt x="286473" y="196405"/>
                  </a:lnTo>
                  <a:close/>
                </a:path>
                <a:path w="9838055" h="738504">
                  <a:moveTo>
                    <a:pt x="297154" y="638962"/>
                  </a:moveTo>
                  <a:lnTo>
                    <a:pt x="296697" y="638492"/>
                  </a:lnTo>
                  <a:lnTo>
                    <a:pt x="295300" y="639419"/>
                  </a:lnTo>
                  <a:lnTo>
                    <a:pt x="296227" y="639889"/>
                  </a:lnTo>
                  <a:lnTo>
                    <a:pt x="297154" y="638962"/>
                  </a:lnTo>
                  <a:close/>
                </a:path>
                <a:path w="9838055" h="738504">
                  <a:moveTo>
                    <a:pt x="312940" y="159867"/>
                  </a:moveTo>
                  <a:lnTo>
                    <a:pt x="311086" y="159867"/>
                  </a:lnTo>
                  <a:lnTo>
                    <a:pt x="311086" y="160794"/>
                  </a:lnTo>
                  <a:lnTo>
                    <a:pt x="312013" y="161721"/>
                  </a:lnTo>
                  <a:lnTo>
                    <a:pt x="312483" y="161251"/>
                  </a:lnTo>
                  <a:lnTo>
                    <a:pt x="312940" y="161251"/>
                  </a:lnTo>
                  <a:lnTo>
                    <a:pt x="312940" y="160794"/>
                  </a:lnTo>
                  <a:lnTo>
                    <a:pt x="312940" y="159867"/>
                  </a:lnTo>
                  <a:close/>
                </a:path>
                <a:path w="9838055" h="738504">
                  <a:moveTo>
                    <a:pt x="322224" y="422148"/>
                  </a:moveTo>
                  <a:lnTo>
                    <a:pt x="321030" y="421690"/>
                  </a:lnTo>
                  <a:lnTo>
                    <a:pt x="314794" y="424688"/>
                  </a:lnTo>
                  <a:lnTo>
                    <a:pt x="322224" y="422148"/>
                  </a:lnTo>
                  <a:close/>
                </a:path>
                <a:path w="9838055" h="738504">
                  <a:moveTo>
                    <a:pt x="338480" y="701852"/>
                  </a:moveTo>
                  <a:lnTo>
                    <a:pt x="336156" y="697687"/>
                  </a:lnTo>
                  <a:lnTo>
                    <a:pt x="334302" y="694448"/>
                  </a:lnTo>
                  <a:lnTo>
                    <a:pt x="335229" y="699998"/>
                  </a:lnTo>
                  <a:lnTo>
                    <a:pt x="336156" y="702779"/>
                  </a:lnTo>
                  <a:lnTo>
                    <a:pt x="338010" y="706932"/>
                  </a:lnTo>
                  <a:lnTo>
                    <a:pt x="338480" y="705091"/>
                  </a:lnTo>
                  <a:lnTo>
                    <a:pt x="338480" y="701852"/>
                  </a:lnTo>
                  <a:close/>
                </a:path>
                <a:path w="9838055" h="738504">
                  <a:moveTo>
                    <a:pt x="342658" y="117538"/>
                  </a:moveTo>
                  <a:lnTo>
                    <a:pt x="341858" y="117208"/>
                  </a:lnTo>
                  <a:lnTo>
                    <a:pt x="341731" y="117538"/>
                  </a:lnTo>
                  <a:lnTo>
                    <a:pt x="342658" y="117538"/>
                  </a:lnTo>
                  <a:close/>
                </a:path>
                <a:path w="9838055" h="738504">
                  <a:moveTo>
                    <a:pt x="347116" y="656844"/>
                  </a:moveTo>
                  <a:lnTo>
                    <a:pt x="346837" y="655828"/>
                  </a:lnTo>
                  <a:lnTo>
                    <a:pt x="346367" y="655828"/>
                  </a:lnTo>
                  <a:lnTo>
                    <a:pt x="347116" y="656844"/>
                  </a:lnTo>
                  <a:close/>
                </a:path>
                <a:path w="9838055" h="738504">
                  <a:moveTo>
                    <a:pt x="354266" y="106222"/>
                  </a:moveTo>
                  <a:lnTo>
                    <a:pt x="353796" y="105295"/>
                  </a:lnTo>
                  <a:lnTo>
                    <a:pt x="352869" y="104838"/>
                  </a:lnTo>
                  <a:lnTo>
                    <a:pt x="352412" y="104838"/>
                  </a:lnTo>
                  <a:lnTo>
                    <a:pt x="354266" y="106222"/>
                  </a:lnTo>
                  <a:close/>
                </a:path>
                <a:path w="9838055" h="738504">
                  <a:moveTo>
                    <a:pt x="999185" y="453059"/>
                  </a:moveTo>
                  <a:lnTo>
                    <a:pt x="997788" y="453059"/>
                  </a:lnTo>
                  <a:lnTo>
                    <a:pt x="996861" y="453517"/>
                  </a:lnTo>
                  <a:lnTo>
                    <a:pt x="998715" y="453517"/>
                  </a:lnTo>
                  <a:lnTo>
                    <a:pt x="999185" y="453059"/>
                  </a:lnTo>
                  <a:close/>
                </a:path>
                <a:path w="9838055" h="738504">
                  <a:moveTo>
                    <a:pt x="1581416" y="471678"/>
                  </a:moveTo>
                  <a:lnTo>
                    <a:pt x="1579892" y="471538"/>
                  </a:lnTo>
                  <a:lnTo>
                    <a:pt x="1577708" y="471678"/>
                  </a:lnTo>
                  <a:lnTo>
                    <a:pt x="1581416" y="471678"/>
                  </a:lnTo>
                  <a:close/>
                </a:path>
                <a:path w="9838055" h="738504">
                  <a:moveTo>
                    <a:pt x="1774101" y="469709"/>
                  </a:moveTo>
                  <a:lnTo>
                    <a:pt x="1772704" y="468782"/>
                  </a:lnTo>
                  <a:lnTo>
                    <a:pt x="1771319" y="468782"/>
                  </a:lnTo>
                  <a:lnTo>
                    <a:pt x="1774101" y="469709"/>
                  </a:lnTo>
                  <a:close/>
                </a:path>
                <a:path w="9838055" h="738504">
                  <a:moveTo>
                    <a:pt x="2234463" y="444373"/>
                  </a:moveTo>
                  <a:lnTo>
                    <a:pt x="2233765" y="445008"/>
                  </a:lnTo>
                  <a:lnTo>
                    <a:pt x="2234222" y="445008"/>
                  </a:lnTo>
                  <a:lnTo>
                    <a:pt x="2234463" y="444373"/>
                  </a:lnTo>
                  <a:close/>
                </a:path>
                <a:path w="9838055" h="738504">
                  <a:moveTo>
                    <a:pt x="2276475" y="404368"/>
                  </a:moveTo>
                  <a:lnTo>
                    <a:pt x="2264410" y="396748"/>
                  </a:lnTo>
                  <a:lnTo>
                    <a:pt x="2258834" y="392938"/>
                  </a:lnTo>
                  <a:lnTo>
                    <a:pt x="2253259" y="387858"/>
                  </a:lnTo>
                  <a:lnTo>
                    <a:pt x="2230513" y="387858"/>
                  </a:lnTo>
                  <a:lnTo>
                    <a:pt x="2219363" y="386588"/>
                  </a:lnTo>
                  <a:lnTo>
                    <a:pt x="2215184" y="385318"/>
                  </a:lnTo>
                  <a:lnTo>
                    <a:pt x="2206828" y="385318"/>
                  </a:lnTo>
                  <a:lnTo>
                    <a:pt x="2203577" y="386588"/>
                  </a:lnTo>
                  <a:lnTo>
                    <a:pt x="2196617" y="387858"/>
                  </a:lnTo>
                  <a:lnTo>
                    <a:pt x="2191512" y="390398"/>
                  </a:lnTo>
                  <a:lnTo>
                    <a:pt x="2183282" y="391668"/>
                  </a:lnTo>
                  <a:lnTo>
                    <a:pt x="2174100" y="394208"/>
                  </a:lnTo>
                  <a:lnTo>
                    <a:pt x="2164219" y="396748"/>
                  </a:lnTo>
                  <a:lnTo>
                    <a:pt x="2153907" y="398018"/>
                  </a:lnTo>
                  <a:lnTo>
                    <a:pt x="2146935" y="399288"/>
                  </a:lnTo>
                  <a:lnTo>
                    <a:pt x="2139505" y="400558"/>
                  </a:lnTo>
                  <a:lnTo>
                    <a:pt x="2133003" y="401828"/>
                  </a:lnTo>
                  <a:lnTo>
                    <a:pt x="2126043" y="401828"/>
                  </a:lnTo>
                  <a:lnTo>
                    <a:pt x="2120011" y="403098"/>
                  </a:lnTo>
                  <a:lnTo>
                    <a:pt x="2103297" y="404368"/>
                  </a:lnTo>
                  <a:lnTo>
                    <a:pt x="2095868" y="405638"/>
                  </a:lnTo>
                  <a:lnTo>
                    <a:pt x="2089823" y="405638"/>
                  </a:lnTo>
                  <a:lnTo>
                    <a:pt x="2081009" y="404368"/>
                  </a:lnTo>
                  <a:lnTo>
                    <a:pt x="2073833" y="404368"/>
                  </a:lnTo>
                  <a:lnTo>
                    <a:pt x="2065743" y="403098"/>
                  </a:lnTo>
                  <a:lnTo>
                    <a:pt x="1999284" y="399288"/>
                  </a:lnTo>
                  <a:lnTo>
                    <a:pt x="1797138" y="399288"/>
                  </a:lnTo>
                  <a:lnTo>
                    <a:pt x="1769999" y="400558"/>
                  </a:lnTo>
                  <a:lnTo>
                    <a:pt x="1759712" y="400558"/>
                  </a:lnTo>
                  <a:lnTo>
                    <a:pt x="1742528" y="405638"/>
                  </a:lnTo>
                  <a:lnTo>
                    <a:pt x="1705190" y="400558"/>
                  </a:lnTo>
                  <a:lnTo>
                    <a:pt x="1624088" y="400558"/>
                  </a:lnTo>
                  <a:lnTo>
                    <a:pt x="1584667" y="398018"/>
                  </a:lnTo>
                  <a:lnTo>
                    <a:pt x="1583740" y="401828"/>
                  </a:lnTo>
                  <a:lnTo>
                    <a:pt x="1569339" y="401828"/>
                  </a:lnTo>
                  <a:lnTo>
                    <a:pt x="1570278" y="399288"/>
                  </a:lnTo>
                  <a:lnTo>
                    <a:pt x="1567027" y="399288"/>
                  </a:lnTo>
                  <a:lnTo>
                    <a:pt x="1517078" y="398018"/>
                  </a:lnTo>
                  <a:lnTo>
                    <a:pt x="1367434" y="398018"/>
                  </a:lnTo>
                  <a:lnTo>
                    <a:pt x="1223467" y="394208"/>
                  </a:lnTo>
                  <a:lnTo>
                    <a:pt x="1177937" y="390398"/>
                  </a:lnTo>
                  <a:lnTo>
                    <a:pt x="1165644" y="389128"/>
                  </a:lnTo>
                  <a:lnTo>
                    <a:pt x="1133411" y="386588"/>
                  </a:lnTo>
                  <a:lnTo>
                    <a:pt x="1122680" y="385318"/>
                  </a:lnTo>
                  <a:lnTo>
                    <a:pt x="1063256" y="387858"/>
                  </a:lnTo>
                  <a:lnTo>
                    <a:pt x="1003820" y="385318"/>
                  </a:lnTo>
                  <a:lnTo>
                    <a:pt x="986180" y="385318"/>
                  </a:lnTo>
                  <a:lnTo>
                    <a:pt x="986650" y="384048"/>
                  </a:lnTo>
                  <a:lnTo>
                    <a:pt x="969162" y="385318"/>
                  </a:lnTo>
                  <a:lnTo>
                    <a:pt x="949147" y="384048"/>
                  </a:lnTo>
                  <a:lnTo>
                    <a:pt x="928268" y="381508"/>
                  </a:lnTo>
                  <a:lnTo>
                    <a:pt x="908177" y="380238"/>
                  </a:lnTo>
                  <a:lnTo>
                    <a:pt x="909574" y="378968"/>
                  </a:lnTo>
                  <a:lnTo>
                    <a:pt x="854798" y="377698"/>
                  </a:lnTo>
                  <a:lnTo>
                    <a:pt x="800722" y="375158"/>
                  </a:lnTo>
                  <a:lnTo>
                    <a:pt x="640600" y="371348"/>
                  </a:lnTo>
                  <a:lnTo>
                    <a:pt x="587222" y="368808"/>
                  </a:lnTo>
                  <a:lnTo>
                    <a:pt x="479158" y="361188"/>
                  </a:lnTo>
                  <a:lnTo>
                    <a:pt x="453237" y="357378"/>
                  </a:lnTo>
                  <a:lnTo>
                    <a:pt x="426402" y="354838"/>
                  </a:lnTo>
                  <a:lnTo>
                    <a:pt x="370509" y="352298"/>
                  </a:lnTo>
                  <a:lnTo>
                    <a:pt x="356171" y="352298"/>
                  </a:lnTo>
                  <a:lnTo>
                    <a:pt x="341731" y="351028"/>
                  </a:lnTo>
                  <a:lnTo>
                    <a:pt x="327291" y="351028"/>
                  </a:lnTo>
                  <a:lnTo>
                    <a:pt x="312940" y="349758"/>
                  </a:lnTo>
                  <a:lnTo>
                    <a:pt x="305625" y="349758"/>
                  </a:lnTo>
                  <a:lnTo>
                    <a:pt x="298323" y="348488"/>
                  </a:lnTo>
                  <a:lnTo>
                    <a:pt x="291007" y="348488"/>
                  </a:lnTo>
                  <a:lnTo>
                    <a:pt x="270802" y="346125"/>
                  </a:lnTo>
                  <a:lnTo>
                    <a:pt x="270802" y="409130"/>
                  </a:lnTo>
                  <a:lnTo>
                    <a:pt x="260362" y="409130"/>
                  </a:lnTo>
                  <a:lnTo>
                    <a:pt x="262801" y="408178"/>
                  </a:lnTo>
                  <a:lnTo>
                    <a:pt x="266979" y="408178"/>
                  </a:lnTo>
                  <a:lnTo>
                    <a:pt x="270802" y="409130"/>
                  </a:lnTo>
                  <a:lnTo>
                    <a:pt x="270802" y="346125"/>
                  </a:lnTo>
                  <a:lnTo>
                    <a:pt x="269303" y="345948"/>
                  </a:lnTo>
                  <a:lnTo>
                    <a:pt x="261874" y="345948"/>
                  </a:lnTo>
                  <a:lnTo>
                    <a:pt x="248399" y="344678"/>
                  </a:lnTo>
                  <a:lnTo>
                    <a:pt x="238252" y="342138"/>
                  </a:lnTo>
                  <a:lnTo>
                    <a:pt x="220484" y="340868"/>
                  </a:lnTo>
                  <a:lnTo>
                    <a:pt x="196367" y="338328"/>
                  </a:lnTo>
                  <a:lnTo>
                    <a:pt x="167157" y="337058"/>
                  </a:lnTo>
                  <a:lnTo>
                    <a:pt x="121081" y="333603"/>
                  </a:lnTo>
                  <a:lnTo>
                    <a:pt x="125361" y="330898"/>
                  </a:lnTo>
                  <a:lnTo>
                    <a:pt x="124904" y="329628"/>
                  </a:lnTo>
                  <a:lnTo>
                    <a:pt x="133718" y="328358"/>
                  </a:lnTo>
                  <a:lnTo>
                    <a:pt x="131864" y="328358"/>
                  </a:lnTo>
                  <a:lnTo>
                    <a:pt x="132334" y="325818"/>
                  </a:lnTo>
                  <a:lnTo>
                    <a:pt x="133261" y="324548"/>
                  </a:lnTo>
                  <a:lnTo>
                    <a:pt x="135115" y="327088"/>
                  </a:lnTo>
                  <a:lnTo>
                    <a:pt x="139293" y="324548"/>
                  </a:lnTo>
                  <a:lnTo>
                    <a:pt x="144399" y="323278"/>
                  </a:lnTo>
                  <a:lnTo>
                    <a:pt x="149974" y="324548"/>
                  </a:lnTo>
                  <a:lnTo>
                    <a:pt x="147650" y="320738"/>
                  </a:lnTo>
                  <a:lnTo>
                    <a:pt x="148577" y="320738"/>
                  </a:lnTo>
                  <a:lnTo>
                    <a:pt x="153682" y="324548"/>
                  </a:lnTo>
                  <a:lnTo>
                    <a:pt x="150431" y="319468"/>
                  </a:lnTo>
                  <a:lnTo>
                    <a:pt x="150901" y="316928"/>
                  </a:lnTo>
                  <a:lnTo>
                    <a:pt x="152298" y="316928"/>
                  </a:lnTo>
                  <a:lnTo>
                    <a:pt x="151371" y="313118"/>
                  </a:lnTo>
                  <a:lnTo>
                    <a:pt x="154152" y="314388"/>
                  </a:lnTo>
                  <a:lnTo>
                    <a:pt x="157861" y="313118"/>
                  </a:lnTo>
                  <a:lnTo>
                    <a:pt x="151828" y="310578"/>
                  </a:lnTo>
                  <a:lnTo>
                    <a:pt x="156006" y="310578"/>
                  </a:lnTo>
                  <a:lnTo>
                    <a:pt x="158788" y="313118"/>
                  </a:lnTo>
                  <a:lnTo>
                    <a:pt x="153682" y="305498"/>
                  </a:lnTo>
                  <a:lnTo>
                    <a:pt x="155549" y="305498"/>
                  </a:lnTo>
                  <a:lnTo>
                    <a:pt x="160655" y="309308"/>
                  </a:lnTo>
                  <a:lnTo>
                    <a:pt x="165290" y="309308"/>
                  </a:lnTo>
                  <a:lnTo>
                    <a:pt x="162039" y="304228"/>
                  </a:lnTo>
                  <a:lnTo>
                    <a:pt x="165290" y="301688"/>
                  </a:lnTo>
                  <a:lnTo>
                    <a:pt x="168541" y="301688"/>
                  </a:lnTo>
                  <a:lnTo>
                    <a:pt x="169938" y="302958"/>
                  </a:lnTo>
                  <a:lnTo>
                    <a:pt x="171335" y="304228"/>
                  </a:lnTo>
                  <a:lnTo>
                    <a:pt x="172720" y="305498"/>
                  </a:lnTo>
                  <a:lnTo>
                    <a:pt x="172720" y="304228"/>
                  </a:lnTo>
                  <a:lnTo>
                    <a:pt x="172961" y="304863"/>
                  </a:lnTo>
                  <a:lnTo>
                    <a:pt x="173037" y="304228"/>
                  </a:lnTo>
                  <a:lnTo>
                    <a:pt x="173189" y="302958"/>
                  </a:lnTo>
                  <a:lnTo>
                    <a:pt x="175044" y="304228"/>
                  </a:lnTo>
                  <a:lnTo>
                    <a:pt x="175971" y="306768"/>
                  </a:lnTo>
                  <a:lnTo>
                    <a:pt x="179692" y="306768"/>
                  </a:lnTo>
                  <a:lnTo>
                    <a:pt x="175971" y="304228"/>
                  </a:lnTo>
                  <a:lnTo>
                    <a:pt x="177368" y="302958"/>
                  </a:lnTo>
                  <a:lnTo>
                    <a:pt x="175044" y="299148"/>
                  </a:lnTo>
                  <a:lnTo>
                    <a:pt x="170865" y="292798"/>
                  </a:lnTo>
                  <a:lnTo>
                    <a:pt x="169938" y="292798"/>
                  </a:lnTo>
                  <a:lnTo>
                    <a:pt x="169938" y="288988"/>
                  </a:lnTo>
                  <a:lnTo>
                    <a:pt x="170865" y="287718"/>
                  </a:lnTo>
                  <a:lnTo>
                    <a:pt x="173647" y="287718"/>
                  </a:lnTo>
                  <a:lnTo>
                    <a:pt x="175044" y="288988"/>
                  </a:lnTo>
                  <a:lnTo>
                    <a:pt x="175971" y="287718"/>
                  </a:lnTo>
                  <a:lnTo>
                    <a:pt x="177825" y="288988"/>
                  </a:lnTo>
                  <a:lnTo>
                    <a:pt x="179692" y="286448"/>
                  </a:lnTo>
                  <a:lnTo>
                    <a:pt x="178752" y="286448"/>
                  </a:lnTo>
                  <a:lnTo>
                    <a:pt x="179222" y="285178"/>
                  </a:lnTo>
                  <a:lnTo>
                    <a:pt x="180619" y="282638"/>
                  </a:lnTo>
                  <a:lnTo>
                    <a:pt x="182473" y="282638"/>
                  </a:lnTo>
                  <a:lnTo>
                    <a:pt x="183400" y="283908"/>
                  </a:lnTo>
                  <a:lnTo>
                    <a:pt x="189903" y="285178"/>
                  </a:lnTo>
                  <a:lnTo>
                    <a:pt x="188048" y="278828"/>
                  </a:lnTo>
                  <a:lnTo>
                    <a:pt x="191300" y="275018"/>
                  </a:lnTo>
                  <a:lnTo>
                    <a:pt x="193154" y="277558"/>
                  </a:lnTo>
                  <a:lnTo>
                    <a:pt x="196405" y="278828"/>
                  </a:lnTo>
                  <a:lnTo>
                    <a:pt x="190360" y="273748"/>
                  </a:lnTo>
                  <a:lnTo>
                    <a:pt x="192684" y="273748"/>
                  </a:lnTo>
                  <a:lnTo>
                    <a:pt x="195478" y="276288"/>
                  </a:lnTo>
                  <a:lnTo>
                    <a:pt x="193154" y="271208"/>
                  </a:lnTo>
                  <a:lnTo>
                    <a:pt x="197789" y="276288"/>
                  </a:lnTo>
                  <a:lnTo>
                    <a:pt x="200113" y="276288"/>
                  </a:lnTo>
                  <a:lnTo>
                    <a:pt x="196405" y="272478"/>
                  </a:lnTo>
                  <a:lnTo>
                    <a:pt x="201510" y="272478"/>
                  </a:lnTo>
                  <a:lnTo>
                    <a:pt x="202438" y="273748"/>
                  </a:lnTo>
                  <a:lnTo>
                    <a:pt x="204292" y="276288"/>
                  </a:lnTo>
                  <a:lnTo>
                    <a:pt x="205689" y="278828"/>
                  </a:lnTo>
                  <a:lnTo>
                    <a:pt x="204292" y="273748"/>
                  </a:lnTo>
                  <a:lnTo>
                    <a:pt x="207543" y="277558"/>
                  </a:lnTo>
                  <a:lnTo>
                    <a:pt x="204762" y="272478"/>
                  </a:lnTo>
                  <a:lnTo>
                    <a:pt x="205803" y="273748"/>
                  </a:lnTo>
                  <a:lnTo>
                    <a:pt x="208940" y="277558"/>
                  </a:lnTo>
                  <a:lnTo>
                    <a:pt x="208940" y="273748"/>
                  </a:lnTo>
                  <a:lnTo>
                    <a:pt x="210337" y="275018"/>
                  </a:lnTo>
                  <a:lnTo>
                    <a:pt x="210337" y="276288"/>
                  </a:lnTo>
                  <a:lnTo>
                    <a:pt x="211721" y="276288"/>
                  </a:lnTo>
                  <a:lnTo>
                    <a:pt x="209867" y="268668"/>
                  </a:lnTo>
                  <a:lnTo>
                    <a:pt x="210337" y="272478"/>
                  </a:lnTo>
                  <a:lnTo>
                    <a:pt x="206159" y="267398"/>
                  </a:lnTo>
                  <a:lnTo>
                    <a:pt x="204292" y="262318"/>
                  </a:lnTo>
                  <a:lnTo>
                    <a:pt x="205841" y="263588"/>
                  </a:lnTo>
                  <a:lnTo>
                    <a:pt x="208940" y="266128"/>
                  </a:lnTo>
                  <a:lnTo>
                    <a:pt x="208940" y="263588"/>
                  </a:lnTo>
                  <a:lnTo>
                    <a:pt x="209397" y="266128"/>
                  </a:lnTo>
                  <a:lnTo>
                    <a:pt x="210337" y="263588"/>
                  </a:lnTo>
                  <a:lnTo>
                    <a:pt x="212191" y="264858"/>
                  </a:lnTo>
                  <a:lnTo>
                    <a:pt x="213118" y="264858"/>
                  </a:lnTo>
                  <a:lnTo>
                    <a:pt x="211721" y="263588"/>
                  </a:lnTo>
                  <a:lnTo>
                    <a:pt x="211721" y="262318"/>
                  </a:lnTo>
                  <a:lnTo>
                    <a:pt x="212191" y="262318"/>
                  </a:lnTo>
                  <a:lnTo>
                    <a:pt x="213575" y="263588"/>
                  </a:lnTo>
                  <a:lnTo>
                    <a:pt x="214515" y="263588"/>
                  </a:lnTo>
                  <a:lnTo>
                    <a:pt x="211721" y="261048"/>
                  </a:lnTo>
                  <a:lnTo>
                    <a:pt x="211264" y="257238"/>
                  </a:lnTo>
                  <a:lnTo>
                    <a:pt x="214045" y="258508"/>
                  </a:lnTo>
                  <a:lnTo>
                    <a:pt x="214972" y="258508"/>
                  </a:lnTo>
                  <a:lnTo>
                    <a:pt x="214045" y="257238"/>
                  </a:lnTo>
                  <a:lnTo>
                    <a:pt x="215442" y="258508"/>
                  </a:lnTo>
                  <a:lnTo>
                    <a:pt x="218224" y="262318"/>
                  </a:lnTo>
                  <a:lnTo>
                    <a:pt x="215900" y="257238"/>
                  </a:lnTo>
                  <a:lnTo>
                    <a:pt x="217297" y="258508"/>
                  </a:lnTo>
                  <a:lnTo>
                    <a:pt x="215900" y="254698"/>
                  </a:lnTo>
                  <a:lnTo>
                    <a:pt x="218224" y="257238"/>
                  </a:lnTo>
                  <a:lnTo>
                    <a:pt x="218694" y="258508"/>
                  </a:lnTo>
                  <a:lnTo>
                    <a:pt x="224726" y="253428"/>
                  </a:lnTo>
                  <a:lnTo>
                    <a:pt x="227507" y="257238"/>
                  </a:lnTo>
                  <a:lnTo>
                    <a:pt x="224256" y="252158"/>
                  </a:lnTo>
                  <a:lnTo>
                    <a:pt x="231686" y="254698"/>
                  </a:lnTo>
                  <a:lnTo>
                    <a:pt x="227050" y="250888"/>
                  </a:lnTo>
                  <a:lnTo>
                    <a:pt x="230759" y="252158"/>
                  </a:lnTo>
                  <a:lnTo>
                    <a:pt x="229362" y="244538"/>
                  </a:lnTo>
                  <a:lnTo>
                    <a:pt x="234010" y="250888"/>
                  </a:lnTo>
                  <a:lnTo>
                    <a:pt x="237731" y="248348"/>
                  </a:lnTo>
                  <a:lnTo>
                    <a:pt x="234937" y="241998"/>
                  </a:lnTo>
                  <a:lnTo>
                    <a:pt x="241439" y="239458"/>
                  </a:lnTo>
                  <a:lnTo>
                    <a:pt x="247472" y="243268"/>
                  </a:lnTo>
                  <a:lnTo>
                    <a:pt x="250266" y="238188"/>
                  </a:lnTo>
                  <a:lnTo>
                    <a:pt x="253047" y="235648"/>
                  </a:lnTo>
                  <a:lnTo>
                    <a:pt x="256298" y="229298"/>
                  </a:lnTo>
                  <a:lnTo>
                    <a:pt x="258152" y="224218"/>
                  </a:lnTo>
                  <a:lnTo>
                    <a:pt x="261874" y="216598"/>
                  </a:lnTo>
                  <a:lnTo>
                    <a:pt x="266966" y="216598"/>
                  </a:lnTo>
                  <a:lnTo>
                    <a:pt x="269176" y="212788"/>
                  </a:lnTo>
                  <a:lnTo>
                    <a:pt x="270878" y="208978"/>
                  </a:lnTo>
                  <a:lnTo>
                    <a:pt x="274408" y="207708"/>
                  </a:lnTo>
                  <a:lnTo>
                    <a:pt x="272554" y="203898"/>
                  </a:lnTo>
                  <a:lnTo>
                    <a:pt x="279044" y="206438"/>
                  </a:lnTo>
                  <a:lnTo>
                    <a:pt x="277190" y="197548"/>
                  </a:lnTo>
                  <a:lnTo>
                    <a:pt x="284149" y="197548"/>
                  </a:lnTo>
                  <a:lnTo>
                    <a:pt x="283692" y="196278"/>
                  </a:lnTo>
                  <a:lnTo>
                    <a:pt x="283692" y="195008"/>
                  </a:lnTo>
                  <a:lnTo>
                    <a:pt x="282765" y="195008"/>
                  </a:lnTo>
                  <a:lnTo>
                    <a:pt x="280911" y="193738"/>
                  </a:lnTo>
                  <a:lnTo>
                    <a:pt x="282765" y="193738"/>
                  </a:lnTo>
                  <a:lnTo>
                    <a:pt x="283222" y="189928"/>
                  </a:lnTo>
                  <a:lnTo>
                    <a:pt x="289725" y="197548"/>
                  </a:lnTo>
                  <a:lnTo>
                    <a:pt x="287401" y="189928"/>
                  </a:lnTo>
                  <a:lnTo>
                    <a:pt x="291579" y="191198"/>
                  </a:lnTo>
                  <a:lnTo>
                    <a:pt x="287401" y="188658"/>
                  </a:lnTo>
                  <a:lnTo>
                    <a:pt x="289725" y="187388"/>
                  </a:lnTo>
                  <a:lnTo>
                    <a:pt x="290195" y="187388"/>
                  </a:lnTo>
                  <a:lnTo>
                    <a:pt x="291960" y="179768"/>
                  </a:lnTo>
                  <a:lnTo>
                    <a:pt x="296697" y="175958"/>
                  </a:lnTo>
                  <a:lnTo>
                    <a:pt x="301421" y="173418"/>
                  </a:lnTo>
                  <a:lnTo>
                    <a:pt x="303187" y="165798"/>
                  </a:lnTo>
                  <a:lnTo>
                    <a:pt x="306438" y="169608"/>
                  </a:lnTo>
                  <a:lnTo>
                    <a:pt x="302260" y="161988"/>
                  </a:lnTo>
                  <a:lnTo>
                    <a:pt x="306908" y="165798"/>
                  </a:lnTo>
                  <a:lnTo>
                    <a:pt x="313867" y="169608"/>
                  </a:lnTo>
                  <a:lnTo>
                    <a:pt x="308762" y="161988"/>
                  </a:lnTo>
                  <a:lnTo>
                    <a:pt x="308762" y="158178"/>
                  </a:lnTo>
                  <a:lnTo>
                    <a:pt x="307835" y="158178"/>
                  </a:lnTo>
                  <a:lnTo>
                    <a:pt x="310616" y="155638"/>
                  </a:lnTo>
                  <a:lnTo>
                    <a:pt x="312000" y="156908"/>
                  </a:lnTo>
                  <a:lnTo>
                    <a:pt x="311200" y="155638"/>
                  </a:lnTo>
                  <a:lnTo>
                    <a:pt x="310235" y="153098"/>
                  </a:lnTo>
                  <a:lnTo>
                    <a:pt x="311086" y="154368"/>
                  </a:lnTo>
                  <a:lnTo>
                    <a:pt x="317703" y="150558"/>
                  </a:lnTo>
                  <a:lnTo>
                    <a:pt x="322986" y="144208"/>
                  </a:lnTo>
                  <a:lnTo>
                    <a:pt x="327990" y="137858"/>
                  </a:lnTo>
                  <a:lnTo>
                    <a:pt x="333832" y="132778"/>
                  </a:lnTo>
                  <a:lnTo>
                    <a:pt x="331978" y="131508"/>
                  </a:lnTo>
                  <a:lnTo>
                    <a:pt x="333832" y="128968"/>
                  </a:lnTo>
                  <a:lnTo>
                    <a:pt x="334302" y="125158"/>
                  </a:lnTo>
                  <a:lnTo>
                    <a:pt x="341731" y="126428"/>
                  </a:lnTo>
                  <a:lnTo>
                    <a:pt x="337083" y="118808"/>
                  </a:lnTo>
                  <a:lnTo>
                    <a:pt x="337553" y="118808"/>
                  </a:lnTo>
                  <a:lnTo>
                    <a:pt x="336626" y="114998"/>
                  </a:lnTo>
                  <a:lnTo>
                    <a:pt x="341858" y="117208"/>
                  </a:lnTo>
                  <a:lnTo>
                    <a:pt x="342658" y="114998"/>
                  </a:lnTo>
                  <a:lnTo>
                    <a:pt x="338937" y="108648"/>
                  </a:lnTo>
                  <a:lnTo>
                    <a:pt x="343115" y="108648"/>
                  </a:lnTo>
                  <a:lnTo>
                    <a:pt x="345706" y="107378"/>
                  </a:lnTo>
                  <a:lnTo>
                    <a:pt x="346367" y="104838"/>
                  </a:lnTo>
                  <a:lnTo>
                    <a:pt x="347040" y="101028"/>
                  </a:lnTo>
                  <a:lnTo>
                    <a:pt x="349618" y="102298"/>
                  </a:lnTo>
                  <a:lnTo>
                    <a:pt x="349161" y="101028"/>
                  </a:lnTo>
                  <a:lnTo>
                    <a:pt x="355663" y="101028"/>
                  </a:lnTo>
                  <a:lnTo>
                    <a:pt x="351485" y="92138"/>
                  </a:lnTo>
                  <a:lnTo>
                    <a:pt x="358444" y="92138"/>
                  </a:lnTo>
                  <a:lnTo>
                    <a:pt x="347306" y="71818"/>
                  </a:lnTo>
                  <a:lnTo>
                    <a:pt x="326872" y="59118"/>
                  </a:lnTo>
                  <a:lnTo>
                    <a:pt x="306908" y="54038"/>
                  </a:lnTo>
                  <a:lnTo>
                    <a:pt x="302260" y="64198"/>
                  </a:lnTo>
                  <a:lnTo>
                    <a:pt x="299935" y="68008"/>
                  </a:lnTo>
                  <a:lnTo>
                    <a:pt x="297154" y="73088"/>
                  </a:lnTo>
                  <a:lnTo>
                    <a:pt x="280911" y="81978"/>
                  </a:lnTo>
                  <a:lnTo>
                    <a:pt x="279514" y="83248"/>
                  </a:lnTo>
                  <a:lnTo>
                    <a:pt x="274866" y="89598"/>
                  </a:lnTo>
                  <a:lnTo>
                    <a:pt x="271614" y="93408"/>
                  </a:lnTo>
                  <a:lnTo>
                    <a:pt x="268833" y="98488"/>
                  </a:lnTo>
                  <a:lnTo>
                    <a:pt x="265582" y="102298"/>
                  </a:lnTo>
                  <a:lnTo>
                    <a:pt x="262801" y="106108"/>
                  </a:lnTo>
                  <a:lnTo>
                    <a:pt x="260477" y="108648"/>
                  </a:lnTo>
                  <a:lnTo>
                    <a:pt x="258152" y="112458"/>
                  </a:lnTo>
                  <a:lnTo>
                    <a:pt x="256298" y="113728"/>
                  </a:lnTo>
                  <a:lnTo>
                    <a:pt x="256667" y="114998"/>
                  </a:lnTo>
                  <a:lnTo>
                    <a:pt x="258152" y="120078"/>
                  </a:lnTo>
                  <a:lnTo>
                    <a:pt x="250952" y="121348"/>
                  </a:lnTo>
                  <a:lnTo>
                    <a:pt x="248272" y="125158"/>
                  </a:lnTo>
                  <a:lnTo>
                    <a:pt x="246494" y="127698"/>
                  </a:lnTo>
                  <a:lnTo>
                    <a:pt x="242290" y="132778"/>
                  </a:lnTo>
                  <a:lnTo>
                    <a:pt x="235864" y="136588"/>
                  </a:lnTo>
                  <a:lnTo>
                    <a:pt x="239115" y="139128"/>
                  </a:lnTo>
                  <a:lnTo>
                    <a:pt x="237731" y="141668"/>
                  </a:lnTo>
                  <a:lnTo>
                    <a:pt x="235864" y="139128"/>
                  </a:lnTo>
                  <a:lnTo>
                    <a:pt x="234480" y="139128"/>
                  </a:lnTo>
                  <a:lnTo>
                    <a:pt x="232511" y="141668"/>
                  </a:lnTo>
                  <a:lnTo>
                    <a:pt x="223697" y="153098"/>
                  </a:lnTo>
                  <a:lnTo>
                    <a:pt x="221576" y="155638"/>
                  </a:lnTo>
                  <a:lnTo>
                    <a:pt x="216255" y="161988"/>
                  </a:lnTo>
                  <a:lnTo>
                    <a:pt x="213055" y="165798"/>
                  </a:lnTo>
                  <a:lnTo>
                    <a:pt x="201637" y="177228"/>
                  </a:lnTo>
                  <a:lnTo>
                    <a:pt x="188506" y="187388"/>
                  </a:lnTo>
                  <a:lnTo>
                    <a:pt x="185254" y="186118"/>
                  </a:lnTo>
                  <a:lnTo>
                    <a:pt x="182816" y="189928"/>
                  </a:lnTo>
                  <a:lnTo>
                    <a:pt x="182003" y="191198"/>
                  </a:lnTo>
                  <a:lnTo>
                    <a:pt x="178765" y="189928"/>
                  </a:lnTo>
                  <a:lnTo>
                    <a:pt x="178625" y="191198"/>
                  </a:lnTo>
                  <a:lnTo>
                    <a:pt x="177825" y="198818"/>
                  </a:lnTo>
                  <a:lnTo>
                    <a:pt x="172720" y="203898"/>
                  </a:lnTo>
                  <a:lnTo>
                    <a:pt x="167157" y="207708"/>
                  </a:lnTo>
                  <a:lnTo>
                    <a:pt x="165290" y="210248"/>
                  </a:lnTo>
                  <a:lnTo>
                    <a:pt x="164833" y="210248"/>
                  </a:lnTo>
                  <a:lnTo>
                    <a:pt x="164363" y="208978"/>
                  </a:lnTo>
                  <a:lnTo>
                    <a:pt x="164363" y="210248"/>
                  </a:lnTo>
                  <a:lnTo>
                    <a:pt x="164363" y="214058"/>
                  </a:lnTo>
                  <a:lnTo>
                    <a:pt x="157403" y="215328"/>
                  </a:lnTo>
                  <a:lnTo>
                    <a:pt x="153225" y="216598"/>
                  </a:lnTo>
                  <a:lnTo>
                    <a:pt x="139623" y="228028"/>
                  </a:lnTo>
                  <a:lnTo>
                    <a:pt x="129235" y="239458"/>
                  </a:lnTo>
                  <a:lnTo>
                    <a:pt x="126936" y="241998"/>
                  </a:lnTo>
                  <a:lnTo>
                    <a:pt x="124231" y="244538"/>
                  </a:lnTo>
                  <a:lnTo>
                    <a:pt x="119329" y="249174"/>
                  </a:lnTo>
                  <a:lnTo>
                    <a:pt x="119329" y="328358"/>
                  </a:lnTo>
                  <a:lnTo>
                    <a:pt x="117005" y="329628"/>
                  </a:lnTo>
                  <a:lnTo>
                    <a:pt x="114465" y="333108"/>
                  </a:lnTo>
                  <a:lnTo>
                    <a:pt x="108254" y="332638"/>
                  </a:lnTo>
                  <a:lnTo>
                    <a:pt x="109118" y="332168"/>
                  </a:lnTo>
                  <a:lnTo>
                    <a:pt x="108648" y="328358"/>
                  </a:lnTo>
                  <a:lnTo>
                    <a:pt x="114681" y="329628"/>
                  </a:lnTo>
                  <a:lnTo>
                    <a:pt x="112826" y="325818"/>
                  </a:lnTo>
                  <a:lnTo>
                    <a:pt x="117005" y="325818"/>
                  </a:lnTo>
                  <a:lnTo>
                    <a:pt x="119329" y="328358"/>
                  </a:lnTo>
                  <a:lnTo>
                    <a:pt x="119329" y="249174"/>
                  </a:lnTo>
                  <a:lnTo>
                    <a:pt x="117500" y="250888"/>
                  </a:lnTo>
                  <a:lnTo>
                    <a:pt x="116154" y="252158"/>
                  </a:lnTo>
                  <a:lnTo>
                    <a:pt x="114808" y="253428"/>
                  </a:lnTo>
                  <a:lnTo>
                    <a:pt x="113461" y="254698"/>
                  </a:lnTo>
                  <a:lnTo>
                    <a:pt x="108902" y="257238"/>
                  </a:lnTo>
                  <a:lnTo>
                    <a:pt x="99783" y="262318"/>
                  </a:lnTo>
                  <a:lnTo>
                    <a:pt x="97510" y="263588"/>
                  </a:lnTo>
                  <a:lnTo>
                    <a:pt x="90538" y="263588"/>
                  </a:lnTo>
                  <a:lnTo>
                    <a:pt x="85902" y="268668"/>
                  </a:lnTo>
                  <a:lnTo>
                    <a:pt x="83807" y="271208"/>
                  </a:lnTo>
                  <a:lnTo>
                    <a:pt x="81724" y="273748"/>
                  </a:lnTo>
                  <a:lnTo>
                    <a:pt x="80391" y="275018"/>
                  </a:lnTo>
                  <a:lnTo>
                    <a:pt x="72428" y="282638"/>
                  </a:lnTo>
                  <a:lnTo>
                    <a:pt x="65011" y="283908"/>
                  </a:lnTo>
                  <a:lnTo>
                    <a:pt x="61061" y="287718"/>
                  </a:lnTo>
                  <a:lnTo>
                    <a:pt x="59436" y="289128"/>
                  </a:lnTo>
                  <a:lnTo>
                    <a:pt x="59436" y="362648"/>
                  </a:lnTo>
                  <a:lnTo>
                    <a:pt x="58508" y="363499"/>
                  </a:lnTo>
                  <a:lnTo>
                    <a:pt x="53860" y="361378"/>
                  </a:lnTo>
                  <a:lnTo>
                    <a:pt x="54787" y="360108"/>
                  </a:lnTo>
                  <a:lnTo>
                    <a:pt x="59436" y="362648"/>
                  </a:lnTo>
                  <a:lnTo>
                    <a:pt x="59436" y="289128"/>
                  </a:lnTo>
                  <a:lnTo>
                    <a:pt x="53682" y="294068"/>
                  </a:lnTo>
                  <a:lnTo>
                    <a:pt x="46393" y="301688"/>
                  </a:lnTo>
                  <a:lnTo>
                    <a:pt x="43637" y="305498"/>
                  </a:lnTo>
                  <a:lnTo>
                    <a:pt x="42722" y="306768"/>
                  </a:lnTo>
                  <a:lnTo>
                    <a:pt x="48285" y="309308"/>
                  </a:lnTo>
                  <a:lnTo>
                    <a:pt x="46558" y="310578"/>
                  </a:lnTo>
                  <a:lnTo>
                    <a:pt x="43103" y="313118"/>
                  </a:lnTo>
                  <a:lnTo>
                    <a:pt x="38138" y="315658"/>
                  </a:lnTo>
                  <a:lnTo>
                    <a:pt x="33604" y="318198"/>
                  </a:lnTo>
                  <a:lnTo>
                    <a:pt x="31661" y="320738"/>
                  </a:lnTo>
                  <a:lnTo>
                    <a:pt x="29718" y="323278"/>
                  </a:lnTo>
                  <a:lnTo>
                    <a:pt x="29248" y="322008"/>
                  </a:lnTo>
                  <a:lnTo>
                    <a:pt x="28879" y="323278"/>
                  </a:lnTo>
                  <a:lnTo>
                    <a:pt x="28638" y="324548"/>
                  </a:lnTo>
                  <a:lnTo>
                    <a:pt x="28384" y="325818"/>
                  </a:lnTo>
                  <a:lnTo>
                    <a:pt x="24485" y="328358"/>
                  </a:lnTo>
                  <a:lnTo>
                    <a:pt x="13931" y="327088"/>
                  </a:lnTo>
                  <a:lnTo>
                    <a:pt x="13004" y="327088"/>
                  </a:lnTo>
                  <a:lnTo>
                    <a:pt x="13309" y="327520"/>
                  </a:lnTo>
                  <a:lnTo>
                    <a:pt x="15786" y="328358"/>
                  </a:lnTo>
                  <a:lnTo>
                    <a:pt x="15328" y="329628"/>
                  </a:lnTo>
                  <a:lnTo>
                    <a:pt x="15633" y="332168"/>
                  </a:lnTo>
                  <a:lnTo>
                    <a:pt x="15786" y="333438"/>
                  </a:lnTo>
                  <a:lnTo>
                    <a:pt x="14401" y="334708"/>
                  </a:lnTo>
                  <a:lnTo>
                    <a:pt x="12534" y="332168"/>
                  </a:lnTo>
                  <a:lnTo>
                    <a:pt x="9283" y="335978"/>
                  </a:lnTo>
                  <a:lnTo>
                    <a:pt x="6032" y="333438"/>
                  </a:lnTo>
                  <a:lnTo>
                    <a:pt x="6032" y="335978"/>
                  </a:lnTo>
                  <a:lnTo>
                    <a:pt x="10680" y="342328"/>
                  </a:lnTo>
                  <a:lnTo>
                    <a:pt x="5105" y="339788"/>
                  </a:lnTo>
                  <a:lnTo>
                    <a:pt x="7899" y="342328"/>
                  </a:lnTo>
                  <a:lnTo>
                    <a:pt x="9283" y="343598"/>
                  </a:lnTo>
                  <a:lnTo>
                    <a:pt x="6362" y="343598"/>
                  </a:lnTo>
                  <a:lnTo>
                    <a:pt x="6502" y="343458"/>
                  </a:lnTo>
                  <a:lnTo>
                    <a:pt x="4178" y="343458"/>
                  </a:lnTo>
                  <a:lnTo>
                    <a:pt x="5575" y="344385"/>
                  </a:lnTo>
                  <a:lnTo>
                    <a:pt x="6032" y="344868"/>
                  </a:lnTo>
                  <a:lnTo>
                    <a:pt x="4648" y="344868"/>
                  </a:lnTo>
                  <a:lnTo>
                    <a:pt x="3251" y="346138"/>
                  </a:lnTo>
                  <a:lnTo>
                    <a:pt x="0" y="349948"/>
                  </a:lnTo>
                  <a:lnTo>
                    <a:pt x="927" y="352488"/>
                  </a:lnTo>
                  <a:lnTo>
                    <a:pt x="11150" y="356349"/>
                  </a:lnTo>
                  <a:lnTo>
                    <a:pt x="14401" y="357568"/>
                  </a:lnTo>
                  <a:lnTo>
                    <a:pt x="19507" y="360108"/>
                  </a:lnTo>
                  <a:lnTo>
                    <a:pt x="15786" y="361378"/>
                  </a:lnTo>
                  <a:lnTo>
                    <a:pt x="19037" y="361378"/>
                  </a:lnTo>
                  <a:lnTo>
                    <a:pt x="20434" y="362648"/>
                  </a:lnTo>
                  <a:lnTo>
                    <a:pt x="19964" y="361378"/>
                  </a:lnTo>
                  <a:lnTo>
                    <a:pt x="22288" y="361378"/>
                  </a:lnTo>
                  <a:lnTo>
                    <a:pt x="24142" y="363918"/>
                  </a:lnTo>
                  <a:lnTo>
                    <a:pt x="25539" y="365188"/>
                  </a:lnTo>
                  <a:lnTo>
                    <a:pt x="25069" y="363918"/>
                  </a:lnTo>
                  <a:lnTo>
                    <a:pt x="24612" y="363918"/>
                  </a:lnTo>
                  <a:lnTo>
                    <a:pt x="24142" y="362648"/>
                  </a:lnTo>
                  <a:lnTo>
                    <a:pt x="24612" y="362648"/>
                  </a:lnTo>
                  <a:lnTo>
                    <a:pt x="25069" y="361378"/>
                  </a:lnTo>
                  <a:lnTo>
                    <a:pt x="27393" y="361378"/>
                  </a:lnTo>
                  <a:lnTo>
                    <a:pt x="28092" y="362648"/>
                  </a:lnTo>
                  <a:lnTo>
                    <a:pt x="28638" y="363499"/>
                  </a:lnTo>
                  <a:lnTo>
                    <a:pt x="26936" y="358838"/>
                  </a:lnTo>
                  <a:lnTo>
                    <a:pt x="38442" y="363918"/>
                  </a:lnTo>
                  <a:lnTo>
                    <a:pt x="41325" y="365188"/>
                  </a:lnTo>
                  <a:lnTo>
                    <a:pt x="43180" y="363918"/>
                  </a:lnTo>
                  <a:lnTo>
                    <a:pt x="46901" y="365188"/>
                  </a:lnTo>
                  <a:lnTo>
                    <a:pt x="46786" y="363918"/>
                  </a:lnTo>
                  <a:lnTo>
                    <a:pt x="46659" y="362648"/>
                  </a:lnTo>
                  <a:lnTo>
                    <a:pt x="46545" y="361378"/>
                  </a:lnTo>
                  <a:lnTo>
                    <a:pt x="46431" y="360108"/>
                  </a:lnTo>
                  <a:lnTo>
                    <a:pt x="49212" y="360108"/>
                  </a:lnTo>
                  <a:lnTo>
                    <a:pt x="52933" y="358838"/>
                  </a:lnTo>
                  <a:lnTo>
                    <a:pt x="52933" y="360108"/>
                  </a:lnTo>
                  <a:lnTo>
                    <a:pt x="52933" y="362648"/>
                  </a:lnTo>
                  <a:lnTo>
                    <a:pt x="56184" y="363918"/>
                  </a:lnTo>
                  <a:lnTo>
                    <a:pt x="58039" y="363918"/>
                  </a:lnTo>
                  <a:lnTo>
                    <a:pt x="60820" y="365188"/>
                  </a:lnTo>
                  <a:lnTo>
                    <a:pt x="63144" y="363918"/>
                  </a:lnTo>
                  <a:lnTo>
                    <a:pt x="66217" y="364528"/>
                  </a:lnTo>
                  <a:lnTo>
                    <a:pt x="68021" y="366268"/>
                  </a:lnTo>
                  <a:lnTo>
                    <a:pt x="85725" y="384048"/>
                  </a:lnTo>
                  <a:lnTo>
                    <a:pt x="88290" y="386588"/>
                  </a:lnTo>
                  <a:lnTo>
                    <a:pt x="101104" y="399288"/>
                  </a:lnTo>
                  <a:lnTo>
                    <a:pt x="112649" y="410718"/>
                  </a:lnTo>
                  <a:lnTo>
                    <a:pt x="115201" y="413258"/>
                  </a:lnTo>
                  <a:lnTo>
                    <a:pt x="126288" y="424688"/>
                  </a:lnTo>
                  <a:lnTo>
                    <a:pt x="134594" y="432308"/>
                  </a:lnTo>
                  <a:lnTo>
                    <a:pt x="139763" y="437388"/>
                  </a:lnTo>
                  <a:lnTo>
                    <a:pt x="135115" y="431038"/>
                  </a:lnTo>
                  <a:lnTo>
                    <a:pt x="130467" y="423418"/>
                  </a:lnTo>
                  <a:lnTo>
                    <a:pt x="122110" y="410718"/>
                  </a:lnTo>
                  <a:lnTo>
                    <a:pt x="129679" y="418338"/>
                  </a:lnTo>
                  <a:lnTo>
                    <a:pt x="136969" y="425958"/>
                  </a:lnTo>
                  <a:lnTo>
                    <a:pt x="143916" y="432308"/>
                  </a:lnTo>
                  <a:lnTo>
                    <a:pt x="150431" y="439928"/>
                  </a:lnTo>
                  <a:lnTo>
                    <a:pt x="161925" y="452628"/>
                  </a:lnTo>
                  <a:lnTo>
                    <a:pt x="165531" y="456438"/>
                  </a:lnTo>
                  <a:lnTo>
                    <a:pt x="172720" y="464058"/>
                  </a:lnTo>
                  <a:lnTo>
                    <a:pt x="175971" y="467868"/>
                  </a:lnTo>
                  <a:lnTo>
                    <a:pt x="179692" y="471678"/>
                  </a:lnTo>
                  <a:lnTo>
                    <a:pt x="182943" y="475488"/>
                  </a:lnTo>
                  <a:lnTo>
                    <a:pt x="185254" y="478028"/>
                  </a:lnTo>
                  <a:lnTo>
                    <a:pt x="187121" y="481838"/>
                  </a:lnTo>
                  <a:lnTo>
                    <a:pt x="189433" y="484378"/>
                  </a:lnTo>
                  <a:lnTo>
                    <a:pt x="192684" y="488188"/>
                  </a:lnTo>
                  <a:lnTo>
                    <a:pt x="195478" y="491998"/>
                  </a:lnTo>
                  <a:lnTo>
                    <a:pt x="198729" y="495808"/>
                  </a:lnTo>
                  <a:lnTo>
                    <a:pt x="206692" y="505968"/>
                  </a:lnTo>
                  <a:lnTo>
                    <a:pt x="207695" y="507238"/>
                  </a:lnTo>
                  <a:lnTo>
                    <a:pt x="216827" y="519938"/>
                  </a:lnTo>
                  <a:lnTo>
                    <a:pt x="219011" y="522478"/>
                  </a:lnTo>
                  <a:lnTo>
                    <a:pt x="226669" y="531368"/>
                  </a:lnTo>
                  <a:lnTo>
                    <a:pt x="237731" y="545338"/>
                  </a:lnTo>
                  <a:lnTo>
                    <a:pt x="235407" y="544068"/>
                  </a:lnTo>
                  <a:lnTo>
                    <a:pt x="236105" y="545338"/>
                  </a:lnTo>
                  <a:lnTo>
                    <a:pt x="236791" y="546608"/>
                  </a:lnTo>
                  <a:lnTo>
                    <a:pt x="240969" y="547878"/>
                  </a:lnTo>
                  <a:lnTo>
                    <a:pt x="248399" y="556768"/>
                  </a:lnTo>
                  <a:lnTo>
                    <a:pt x="251358" y="560578"/>
                  </a:lnTo>
                  <a:lnTo>
                    <a:pt x="254673" y="565658"/>
                  </a:lnTo>
                  <a:lnTo>
                    <a:pt x="258330" y="570738"/>
                  </a:lnTo>
                  <a:lnTo>
                    <a:pt x="262331" y="578358"/>
                  </a:lnTo>
                  <a:lnTo>
                    <a:pt x="266674" y="585978"/>
                  </a:lnTo>
                  <a:lnTo>
                    <a:pt x="271335" y="596138"/>
                  </a:lnTo>
                  <a:lnTo>
                    <a:pt x="276237" y="607568"/>
                  </a:lnTo>
                  <a:lnTo>
                    <a:pt x="279323" y="615188"/>
                  </a:lnTo>
                  <a:lnTo>
                    <a:pt x="281368" y="620268"/>
                  </a:lnTo>
                  <a:lnTo>
                    <a:pt x="280911" y="621538"/>
                  </a:lnTo>
                  <a:lnTo>
                    <a:pt x="282295" y="622808"/>
                  </a:lnTo>
                  <a:lnTo>
                    <a:pt x="283222" y="622808"/>
                  </a:lnTo>
                  <a:lnTo>
                    <a:pt x="285089" y="627888"/>
                  </a:lnTo>
                  <a:lnTo>
                    <a:pt x="282295" y="617728"/>
                  </a:lnTo>
                  <a:lnTo>
                    <a:pt x="298551" y="636778"/>
                  </a:lnTo>
                  <a:lnTo>
                    <a:pt x="297624" y="639318"/>
                  </a:lnTo>
                  <a:lnTo>
                    <a:pt x="301332" y="644398"/>
                  </a:lnTo>
                  <a:lnTo>
                    <a:pt x="307835" y="655828"/>
                  </a:lnTo>
                  <a:lnTo>
                    <a:pt x="311543" y="662178"/>
                  </a:lnTo>
                  <a:lnTo>
                    <a:pt x="312483" y="671068"/>
                  </a:lnTo>
                  <a:lnTo>
                    <a:pt x="316598" y="673608"/>
                  </a:lnTo>
                  <a:lnTo>
                    <a:pt x="320713" y="674878"/>
                  </a:lnTo>
                  <a:lnTo>
                    <a:pt x="325018" y="679958"/>
                  </a:lnTo>
                  <a:lnTo>
                    <a:pt x="328625" y="688848"/>
                  </a:lnTo>
                  <a:lnTo>
                    <a:pt x="329653" y="691388"/>
                  </a:lnTo>
                  <a:lnTo>
                    <a:pt x="331292" y="688848"/>
                  </a:lnTo>
                  <a:lnTo>
                    <a:pt x="334073" y="691388"/>
                  </a:lnTo>
                  <a:lnTo>
                    <a:pt x="336842" y="695198"/>
                  </a:lnTo>
                  <a:lnTo>
                    <a:pt x="338480" y="696468"/>
                  </a:lnTo>
                  <a:lnTo>
                    <a:pt x="338480" y="700278"/>
                  </a:lnTo>
                  <a:lnTo>
                    <a:pt x="338937" y="701548"/>
                  </a:lnTo>
                  <a:lnTo>
                    <a:pt x="344665" y="711708"/>
                  </a:lnTo>
                  <a:lnTo>
                    <a:pt x="351307" y="723138"/>
                  </a:lnTo>
                  <a:lnTo>
                    <a:pt x="357682" y="733298"/>
                  </a:lnTo>
                  <a:lnTo>
                    <a:pt x="362623" y="738378"/>
                  </a:lnTo>
                  <a:lnTo>
                    <a:pt x="362077" y="737108"/>
                  </a:lnTo>
                  <a:lnTo>
                    <a:pt x="360654" y="730758"/>
                  </a:lnTo>
                  <a:lnTo>
                    <a:pt x="358711" y="721868"/>
                  </a:lnTo>
                  <a:lnTo>
                    <a:pt x="356590" y="711708"/>
                  </a:lnTo>
                  <a:lnTo>
                    <a:pt x="354114" y="700278"/>
                  </a:lnTo>
                  <a:lnTo>
                    <a:pt x="351764" y="690118"/>
                  </a:lnTo>
                  <a:lnTo>
                    <a:pt x="349859" y="679958"/>
                  </a:lnTo>
                  <a:lnTo>
                    <a:pt x="348691" y="673608"/>
                  </a:lnTo>
                  <a:lnTo>
                    <a:pt x="352259" y="681228"/>
                  </a:lnTo>
                  <a:lnTo>
                    <a:pt x="352869" y="681228"/>
                  </a:lnTo>
                  <a:lnTo>
                    <a:pt x="352094" y="677418"/>
                  </a:lnTo>
                  <a:lnTo>
                    <a:pt x="351485" y="673608"/>
                  </a:lnTo>
                  <a:lnTo>
                    <a:pt x="351167" y="673404"/>
                  </a:lnTo>
                  <a:lnTo>
                    <a:pt x="352412" y="673646"/>
                  </a:lnTo>
                  <a:lnTo>
                    <a:pt x="350545" y="671334"/>
                  </a:lnTo>
                  <a:lnTo>
                    <a:pt x="350088" y="671791"/>
                  </a:lnTo>
                  <a:lnTo>
                    <a:pt x="350088" y="672668"/>
                  </a:lnTo>
                  <a:lnTo>
                    <a:pt x="349618" y="672338"/>
                  </a:lnTo>
                  <a:lnTo>
                    <a:pt x="345440" y="662178"/>
                  </a:lnTo>
                  <a:lnTo>
                    <a:pt x="348234" y="660908"/>
                  </a:lnTo>
                  <a:lnTo>
                    <a:pt x="347179" y="657098"/>
                  </a:lnTo>
                  <a:lnTo>
                    <a:pt x="344512" y="657098"/>
                  </a:lnTo>
                  <a:lnTo>
                    <a:pt x="344144" y="656437"/>
                  </a:lnTo>
                  <a:lnTo>
                    <a:pt x="344512" y="656069"/>
                  </a:lnTo>
                  <a:lnTo>
                    <a:pt x="344512" y="655612"/>
                  </a:lnTo>
                  <a:lnTo>
                    <a:pt x="343382" y="655053"/>
                  </a:lnTo>
                  <a:lnTo>
                    <a:pt x="343115" y="654558"/>
                  </a:lnTo>
                  <a:lnTo>
                    <a:pt x="343268" y="655002"/>
                  </a:lnTo>
                  <a:lnTo>
                    <a:pt x="342798" y="654761"/>
                  </a:lnTo>
                  <a:lnTo>
                    <a:pt x="340804" y="652018"/>
                  </a:lnTo>
                  <a:lnTo>
                    <a:pt x="337553" y="644398"/>
                  </a:lnTo>
                  <a:lnTo>
                    <a:pt x="335699" y="640588"/>
                  </a:lnTo>
                  <a:lnTo>
                    <a:pt x="338010" y="639318"/>
                  </a:lnTo>
                  <a:lnTo>
                    <a:pt x="334721" y="635508"/>
                  </a:lnTo>
                  <a:lnTo>
                    <a:pt x="331165" y="629158"/>
                  </a:lnTo>
                  <a:lnTo>
                    <a:pt x="327431" y="620268"/>
                  </a:lnTo>
                  <a:lnTo>
                    <a:pt x="323621" y="610108"/>
                  </a:lnTo>
                  <a:lnTo>
                    <a:pt x="316420" y="591058"/>
                  </a:lnTo>
                  <a:lnTo>
                    <a:pt x="313309" y="582168"/>
                  </a:lnTo>
                  <a:lnTo>
                    <a:pt x="310616" y="577088"/>
                  </a:lnTo>
                  <a:lnTo>
                    <a:pt x="306895" y="569468"/>
                  </a:lnTo>
                  <a:lnTo>
                    <a:pt x="284124" y="533908"/>
                  </a:lnTo>
                  <a:lnTo>
                    <a:pt x="283222" y="530098"/>
                  </a:lnTo>
                  <a:lnTo>
                    <a:pt x="283718" y="527558"/>
                  </a:lnTo>
                  <a:lnTo>
                    <a:pt x="282295" y="522478"/>
                  </a:lnTo>
                  <a:lnTo>
                    <a:pt x="279158" y="517398"/>
                  </a:lnTo>
                  <a:lnTo>
                    <a:pt x="278752" y="518668"/>
                  </a:lnTo>
                  <a:lnTo>
                    <a:pt x="278828" y="519938"/>
                  </a:lnTo>
                  <a:lnTo>
                    <a:pt x="278904" y="521208"/>
                  </a:lnTo>
                  <a:lnTo>
                    <a:pt x="278968" y="522478"/>
                  </a:lnTo>
                  <a:lnTo>
                    <a:pt x="277660" y="521208"/>
                  </a:lnTo>
                  <a:lnTo>
                    <a:pt x="275793" y="517398"/>
                  </a:lnTo>
                  <a:lnTo>
                    <a:pt x="274408" y="513588"/>
                  </a:lnTo>
                  <a:lnTo>
                    <a:pt x="272542" y="509778"/>
                  </a:lnTo>
                  <a:lnTo>
                    <a:pt x="271157" y="505968"/>
                  </a:lnTo>
                  <a:lnTo>
                    <a:pt x="277190" y="513588"/>
                  </a:lnTo>
                  <a:lnTo>
                    <a:pt x="275336" y="508508"/>
                  </a:lnTo>
                  <a:lnTo>
                    <a:pt x="275336" y="506984"/>
                  </a:lnTo>
                  <a:lnTo>
                    <a:pt x="276263" y="508088"/>
                  </a:lnTo>
                  <a:lnTo>
                    <a:pt x="278117" y="510400"/>
                  </a:lnTo>
                  <a:lnTo>
                    <a:pt x="279514" y="511784"/>
                  </a:lnTo>
                  <a:lnTo>
                    <a:pt x="274408" y="503466"/>
                  </a:lnTo>
                  <a:lnTo>
                    <a:pt x="273939" y="503466"/>
                  </a:lnTo>
                  <a:lnTo>
                    <a:pt x="273939" y="504278"/>
                  </a:lnTo>
                  <a:lnTo>
                    <a:pt x="271157" y="500888"/>
                  </a:lnTo>
                  <a:lnTo>
                    <a:pt x="266509" y="491998"/>
                  </a:lnTo>
                  <a:lnTo>
                    <a:pt x="262331" y="485648"/>
                  </a:lnTo>
                  <a:lnTo>
                    <a:pt x="257695" y="478028"/>
                  </a:lnTo>
                  <a:lnTo>
                    <a:pt x="253517" y="472948"/>
                  </a:lnTo>
                  <a:lnTo>
                    <a:pt x="249796" y="472948"/>
                  </a:lnTo>
                  <a:lnTo>
                    <a:pt x="244030" y="462788"/>
                  </a:lnTo>
                  <a:lnTo>
                    <a:pt x="240919" y="456438"/>
                  </a:lnTo>
                  <a:lnTo>
                    <a:pt x="239585" y="453301"/>
                  </a:lnTo>
                  <a:lnTo>
                    <a:pt x="239585" y="455168"/>
                  </a:lnTo>
                  <a:lnTo>
                    <a:pt x="239115" y="456438"/>
                  </a:lnTo>
                  <a:lnTo>
                    <a:pt x="236791" y="450100"/>
                  </a:lnTo>
                  <a:lnTo>
                    <a:pt x="239585" y="455168"/>
                  </a:lnTo>
                  <a:lnTo>
                    <a:pt x="239585" y="453301"/>
                  </a:lnTo>
                  <a:lnTo>
                    <a:pt x="238760" y="451358"/>
                  </a:lnTo>
                  <a:lnTo>
                    <a:pt x="235864" y="447548"/>
                  </a:lnTo>
                  <a:lnTo>
                    <a:pt x="235978" y="448818"/>
                  </a:lnTo>
                  <a:lnTo>
                    <a:pt x="236105" y="450088"/>
                  </a:lnTo>
                  <a:lnTo>
                    <a:pt x="236220" y="451358"/>
                  </a:lnTo>
                  <a:lnTo>
                    <a:pt x="236334" y="452628"/>
                  </a:lnTo>
                  <a:lnTo>
                    <a:pt x="237731" y="456438"/>
                  </a:lnTo>
                  <a:lnTo>
                    <a:pt x="236334" y="455168"/>
                  </a:lnTo>
                  <a:lnTo>
                    <a:pt x="233553" y="451358"/>
                  </a:lnTo>
                  <a:lnTo>
                    <a:pt x="232613" y="451358"/>
                  </a:lnTo>
                  <a:lnTo>
                    <a:pt x="232156" y="450088"/>
                  </a:lnTo>
                  <a:lnTo>
                    <a:pt x="230759" y="447548"/>
                  </a:lnTo>
                  <a:lnTo>
                    <a:pt x="230301" y="447548"/>
                  </a:lnTo>
                  <a:lnTo>
                    <a:pt x="229362" y="446278"/>
                  </a:lnTo>
                  <a:lnTo>
                    <a:pt x="228904" y="445008"/>
                  </a:lnTo>
                  <a:lnTo>
                    <a:pt x="227507" y="442468"/>
                  </a:lnTo>
                  <a:lnTo>
                    <a:pt x="225653" y="438658"/>
                  </a:lnTo>
                  <a:lnTo>
                    <a:pt x="224726" y="436118"/>
                  </a:lnTo>
                  <a:lnTo>
                    <a:pt x="222402" y="431038"/>
                  </a:lnTo>
                  <a:lnTo>
                    <a:pt x="221945" y="427228"/>
                  </a:lnTo>
                  <a:lnTo>
                    <a:pt x="216827" y="425958"/>
                  </a:lnTo>
                  <a:lnTo>
                    <a:pt x="214972" y="425958"/>
                  </a:lnTo>
                  <a:lnTo>
                    <a:pt x="211264" y="424688"/>
                  </a:lnTo>
                  <a:lnTo>
                    <a:pt x="208013" y="424688"/>
                  </a:lnTo>
                  <a:lnTo>
                    <a:pt x="204762" y="423418"/>
                  </a:lnTo>
                  <a:lnTo>
                    <a:pt x="201968" y="422148"/>
                  </a:lnTo>
                  <a:lnTo>
                    <a:pt x="197789" y="419608"/>
                  </a:lnTo>
                  <a:lnTo>
                    <a:pt x="198729" y="418338"/>
                  </a:lnTo>
                  <a:lnTo>
                    <a:pt x="191300" y="413258"/>
                  </a:lnTo>
                  <a:lnTo>
                    <a:pt x="191300" y="410718"/>
                  </a:lnTo>
                  <a:lnTo>
                    <a:pt x="195008" y="413258"/>
                  </a:lnTo>
                  <a:lnTo>
                    <a:pt x="195935" y="413258"/>
                  </a:lnTo>
                  <a:lnTo>
                    <a:pt x="190360" y="409448"/>
                  </a:lnTo>
                  <a:lnTo>
                    <a:pt x="186182" y="404368"/>
                  </a:lnTo>
                  <a:lnTo>
                    <a:pt x="182943" y="400558"/>
                  </a:lnTo>
                  <a:lnTo>
                    <a:pt x="180149" y="399288"/>
                  </a:lnTo>
                  <a:lnTo>
                    <a:pt x="185254" y="400558"/>
                  </a:lnTo>
                  <a:lnTo>
                    <a:pt x="190373" y="400558"/>
                  </a:lnTo>
                  <a:lnTo>
                    <a:pt x="192684" y="401828"/>
                  </a:lnTo>
                  <a:lnTo>
                    <a:pt x="195478" y="401828"/>
                  </a:lnTo>
                  <a:lnTo>
                    <a:pt x="186651" y="398018"/>
                  </a:lnTo>
                  <a:lnTo>
                    <a:pt x="166217" y="390398"/>
                  </a:lnTo>
                  <a:lnTo>
                    <a:pt x="155079" y="386588"/>
                  </a:lnTo>
                  <a:lnTo>
                    <a:pt x="162229" y="387858"/>
                  </a:lnTo>
                  <a:lnTo>
                    <a:pt x="186651" y="392938"/>
                  </a:lnTo>
                  <a:lnTo>
                    <a:pt x="191058" y="394208"/>
                  </a:lnTo>
                  <a:lnTo>
                    <a:pt x="195478" y="395478"/>
                  </a:lnTo>
                  <a:lnTo>
                    <a:pt x="201510" y="396748"/>
                  </a:lnTo>
                  <a:lnTo>
                    <a:pt x="199186" y="394208"/>
                  </a:lnTo>
                  <a:lnTo>
                    <a:pt x="205689" y="396748"/>
                  </a:lnTo>
                  <a:lnTo>
                    <a:pt x="208470" y="398018"/>
                  </a:lnTo>
                  <a:lnTo>
                    <a:pt x="211721" y="399288"/>
                  </a:lnTo>
                  <a:lnTo>
                    <a:pt x="219151" y="400558"/>
                  </a:lnTo>
                  <a:lnTo>
                    <a:pt x="222872" y="401828"/>
                  </a:lnTo>
                  <a:lnTo>
                    <a:pt x="228434" y="401828"/>
                  </a:lnTo>
                  <a:lnTo>
                    <a:pt x="228904" y="400558"/>
                  </a:lnTo>
                  <a:lnTo>
                    <a:pt x="227507" y="398018"/>
                  </a:lnTo>
                  <a:lnTo>
                    <a:pt x="232613" y="399288"/>
                  </a:lnTo>
                  <a:lnTo>
                    <a:pt x="239115" y="401828"/>
                  </a:lnTo>
                  <a:lnTo>
                    <a:pt x="242366" y="403098"/>
                  </a:lnTo>
                  <a:lnTo>
                    <a:pt x="244690" y="404368"/>
                  </a:lnTo>
                  <a:lnTo>
                    <a:pt x="235864" y="404368"/>
                  </a:lnTo>
                  <a:lnTo>
                    <a:pt x="240969" y="405638"/>
                  </a:lnTo>
                  <a:lnTo>
                    <a:pt x="247472" y="408178"/>
                  </a:lnTo>
                  <a:lnTo>
                    <a:pt x="255270" y="411734"/>
                  </a:lnTo>
                  <a:lnTo>
                    <a:pt x="254901" y="410718"/>
                  </a:lnTo>
                  <a:lnTo>
                    <a:pt x="255828" y="410718"/>
                  </a:lnTo>
                  <a:lnTo>
                    <a:pt x="255968" y="410514"/>
                  </a:lnTo>
                  <a:lnTo>
                    <a:pt x="257695" y="410514"/>
                  </a:lnTo>
                  <a:lnTo>
                    <a:pt x="258622" y="410972"/>
                  </a:lnTo>
                  <a:lnTo>
                    <a:pt x="262331" y="411441"/>
                  </a:lnTo>
                  <a:lnTo>
                    <a:pt x="266509" y="411441"/>
                  </a:lnTo>
                  <a:lnTo>
                    <a:pt x="271614" y="411899"/>
                  </a:lnTo>
                  <a:lnTo>
                    <a:pt x="272427" y="409448"/>
                  </a:lnTo>
                  <a:lnTo>
                    <a:pt x="292633" y="409448"/>
                  </a:lnTo>
                  <a:lnTo>
                    <a:pt x="304596" y="410718"/>
                  </a:lnTo>
                  <a:lnTo>
                    <a:pt x="319443" y="414528"/>
                  </a:lnTo>
                  <a:lnTo>
                    <a:pt x="325475" y="409448"/>
                  </a:lnTo>
                  <a:lnTo>
                    <a:pt x="342188" y="413258"/>
                  </a:lnTo>
                  <a:lnTo>
                    <a:pt x="342188" y="417068"/>
                  </a:lnTo>
                  <a:lnTo>
                    <a:pt x="327609" y="415798"/>
                  </a:lnTo>
                  <a:lnTo>
                    <a:pt x="290944" y="415798"/>
                  </a:lnTo>
                  <a:lnTo>
                    <a:pt x="273481" y="414528"/>
                  </a:lnTo>
                  <a:lnTo>
                    <a:pt x="273011" y="415798"/>
                  </a:lnTo>
                  <a:lnTo>
                    <a:pt x="282638" y="417068"/>
                  </a:lnTo>
                  <a:lnTo>
                    <a:pt x="308305" y="417068"/>
                  </a:lnTo>
                  <a:lnTo>
                    <a:pt x="312483" y="418338"/>
                  </a:lnTo>
                  <a:lnTo>
                    <a:pt x="318973" y="420878"/>
                  </a:lnTo>
                  <a:lnTo>
                    <a:pt x="321030" y="421690"/>
                  </a:lnTo>
                  <a:lnTo>
                    <a:pt x="322694" y="420878"/>
                  </a:lnTo>
                  <a:lnTo>
                    <a:pt x="347599" y="422148"/>
                  </a:lnTo>
                  <a:lnTo>
                    <a:pt x="364883" y="423418"/>
                  </a:lnTo>
                  <a:lnTo>
                    <a:pt x="382435" y="425958"/>
                  </a:lnTo>
                  <a:lnTo>
                    <a:pt x="408127" y="429768"/>
                  </a:lnTo>
                  <a:lnTo>
                    <a:pt x="404406" y="427228"/>
                  </a:lnTo>
                  <a:lnTo>
                    <a:pt x="413232" y="427228"/>
                  </a:lnTo>
                  <a:lnTo>
                    <a:pt x="422059" y="425958"/>
                  </a:lnTo>
                  <a:lnTo>
                    <a:pt x="423913" y="429768"/>
                  </a:lnTo>
                  <a:lnTo>
                    <a:pt x="443484" y="431038"/>
                  </a:lnTo>
                  <a:lnTo>
                    <a:pt x="452970" y="432308"/>
                  </a:lnTo>
                  <a:lnTo>
                    <a:pt x="462445" y="433578"/>
                  </a:lnTo>
                  <a:lnTo>
                    <a:pt x="473925" y="436118"/>
                  </a:lnTo>
                  <a:lnTo>
                    <a:pt x="479666" y="437388"/>
                  </a:lnTo>
                  <a:lnTo>
                    <a:pt x="494017" y="441198"/>
                  </a:lnTo>
                  <a:lnTo>
                    <a:pt x="498195" y="437388"/>
                  </a:lnTo>
                  <a:lnTo>
                    <a:pt x="503770" y="437388"/>
                  </a:lnTo>
                  <a:lnTo>
                    <a:pt x="511670" y="445008"/>
                  </a:lnTo>
                  <a:lnTo>
                    <a:pt x="514908" y="438658"/>
                  </a:lnTo>
                  <a:lnTo>
                    <a:pt x="526986" y="437388"/>
                  </a:lnTo>
                  <a:lnTo>
                    <a:pt x="534416" y="437388"/>
                  </a:lnTo>
                  <a:lnTo>
                    <a:pt x="539521" y="436118"/>
                  </a:lnTo>
                  <a:lnTo>
                    <a:pt x="543699" y="437388"/>
                  </a:lnTo>
                  <a:lnTo>
                    <a:pt x="547878" y="438658"/>
                  </a:lnTo>
                  <a:lnTo>
                    <a:pt x="556818" y="438658"/>
                  </a:lnTo>
                  <a:lnTo>
                    <a:pt x="558152" y="437388"/>
                  </a:lnTo>
                  <a:lnTo>
                    <a:pt x="568769" y="437388"/>
                  </a:lnTo>
                  <a:lnTo>
                    <a:pt x="574814" y="441198"/>
                  </a:lnTo>
                  <a:lnTo>
                    <a:pt x="576199" y="432308"/>
                  </a:lnTo>
                  <a:lnTo>
                    <a:pt x="585482" y="434848"/>
                  </a:lnTo>
                  <a:lnTo>
                    <a:pt x="589203" y="437388"/>
                  </a:lnTo>
                  <a:lnTo>
                    <a:pt x="594779" y="441198"/>
                  </a:lnTo>
                  <a:lnTo>
                    <a:pt x="605599" y="442468"/>
                  </a:lnTo>
                  <a:lnTo>
                    <a:pt x="614565" y="441198"/>
                  </a:lnTo>
                  <a:lnTo>
                    <a:pt x="625005" y="439928"/>
                  </a:lnTo>
                  <a:lnTo>
                    <a:pt x="640270" y="439928"/>
                  </a:lnTo>
                  <a:lnTo>
                    <a:pt x="647992" y="442468"/>
                  </a:lnTo>
                  <a:lnTo>
                    <a:pt x="652576" y="446278"/>
                  </a:lnTo>
                  <a:lnTo>
                    <a:pt x="652957" y="447548"/>
                  </a:lnTo>
                  <a:lnTo>
                    <a:pt x="653338" y="448818"/>
                  </a:lnTo>
                  <a:lnTo>
                    <a:pt x="649566" y="452628"/>
                  </a:lnTo>
                  <a:lnTo>
                    <a:pt x="658152" y="448818"/>
                  </a:lnTo>
                  <a:lnTo>
                    <a:pt x="661708" y="447548"/>
                  </a:lnTo>
                  <a:lnTo>
                    <a:pt x="669531" y="447548"/>
                  </a:lnTo>
                  <a:lnTo>
                    <a:pt x="671842" y="450088"/>
                  </a:lnTo>
                  <a:lnTo>
                    <a:pt x="669988" y="450088"/>
                  </a:lnTo>
                  <a:lnTo>
                    <a:pt x="666737" y="451358"/>
                  </a:lnTo>
                  <a:lnTo>
                    <a:pt x="673608" y="452628"/>
                  </a:lnTo>
                  <a:lnTo>
                    <a:pt x="676783" y="452628"/>
                  </a:lnTo>
                  <a:lnTo>
                    <a:pt x="679348" y="451358"/>
                  </a:lnTo>
                  <a:lnTo>
                    <a:pt x="684390" y="451358"/>
                  </a:lnTo>
                  <a:lnTo>
                    <a:pt x="687628" y="446278"/>
                  </a:lnTo>
                  <a:lnTo>
                    <a:pt x="690880" y="439928"/>
                  </a:lnTo>
                  <a:lnTo>
                    <a:pt x="694131" y="439928"/>
                  </a:lnTo>
                  <a:lnTo>
                    <a:pt x="690422" y="438658"/>
                  </a:lnTo>
                  <a:lnTo>
                    <a:pt x="698322" y="437388"/>
                  </a:lnTo>
                  <a:lnTo>
                    <a:pt x="715365" y="437388"/>
                  </a:lnTo>
                  <a:lnTo>
                    <a:pt x="724319" y="438658"/>
                  </a:lnTo>
                  <a:lnTo>
                    <a:pt x="723849" y="441198"/>
                  </a:lnTo>
                  <a:lnTo>
                    <a:pt x="734987" y="438658"/>
                  </a:lnTo>
                  <a:lnTo>
                    <a:pt x="735457" y="441198"/>
                  </a:lnTo>
                  <a:lnTo>
                    <a:pt x="770826" y="441198"/>
                  </a:lnTo>
                  <a:lnTo>
                    <a:pt x="777709" y="442468"/>
                  </a:lnTo>
                  <a:lnTo>
                    <a:pt x="777240" y="443738"/>
                  </a:lnTo>
                  <a:lnTo>
                    <a:pt x="785380" y="445008"/>
                  </a:lnTo>
                  <a:lnTo>
                    <a:pt x="793521" y="446278"/>
                  </a:lnTo>
                  <a:lnTo>
                    <a:pt x="809625" y="446278"/>
                  </a:lnTo>
                  <a:lnTo>
                    <a:pt x="826604" y="445008"/>
                  </a:lnTo>
                  <a:lnTo>
                    <a:pt x="845502" y="445008"/>
                  </a:lnTo>
                  <a:lnTo>
                    <a:pt x="841781" y="447548"/>
                  </a:lnTo>
                  <a:lnTo>
                    <a:pt x="846112" y="448818"/>
                  </a:lnTo>
                  <a:lnTo>
                    <a:pt x="849884" y="445008"/>
                  </a:lnTo>
                  <a:lnTo>
                    <a:pt x="855243" y="445008"/>
                  </a:lnTo>
                  <a:lnTo>
                    <a:pt x="855713" y="448818"/>
                  </a:lnTo>
                  <a:lnTo>
                    <a:pt x="865466" y="445008"/>
                  </a:lnTo>
                  <a:lnTo>
                    <a:pt x="866622" y="447548"/>
                  </a:lnTo>
                  <a:lnTo>
                    <a:pt x="867778" y="450088"/>
                  </a:lnTo>
                  <a:lnTo>
                    <a:pt x="874280" y="452628"/>
                  </a:lnTo>
                  <a:lnTo>
                    <a:pt x="871499" y="447548"/>
                  </a:lnTo>
                  <a:lnTo>
                    <a:pt x="883564" y="448818"/>
                  </a:lnTo>
                  <a:lnTo>
                    <a:pt x="890308" y="450088"/>
                  </a:lnTo>
                  <a:lnTo>
                    <a:pt x="897039" y="451358"/>
                  </a:lnTo>
                  <a:lnTo>
                    <a:pt x="892860" y="455168"/>
                  </a:lnTo>
                  <a:lnTo>
                    <a:pt x="891463" y="456438"/>
                  </a:lnTo>
                  <a:lnTo>
                    <a:pt x="889609" y="458978"/>
                  </a:lnTo>
                  <a:lnTo>
                    <a:pt x="898893" y="455168"/>
                  </a:lnTo>
                  <a:lnTo>
                    <a:pt x="900747" y="460248"/>
                  </a:lnTo>
                  <a:lnTo>
                    <a:pt x="907719" y="455168"/>
                  </a:lnTo>
                  <a:lnTo>
                    <a:pt x="907592" y="456438"/>
                  </a:lnTo>
                  <a:lnTo>
                    <a:pt x="907478" y="457708"/>
                  </a:lnTo>
                  <a:lnTo>
                    <a:pt x="907364" y="458978"/>
                  </a:lnTo>
                  <a:lnTo>
                    <a:pt x="907249" y="460248"/>
                  </a:lnTo>
                  <a:lnTo>
                    <a:pt x="919327" y="457708"/>
                  </a:lnTo>
                  <a:lnTo>
                    <a:pt x="919784" y="458978"/>
                  </a:lnTo>
                  <a:lnTo>
                    <a:pt x="920254" y="460248"/>
                  </a:lnTo>
                  <a:lnTo>
                    <a:pt x="917003" y="461518"/>
                  </a:lnTo>
                  <a:lnTo>
                    <a:pt x="921181" y="461518"/>
                  </a:lnTo>
                  <a:lnTo>
                    <a:pt x="941146" y="456438"/>
                  </a:lnTo>
                  <a:lnTo>
                    <a:pt x="929068" y="458978"/>
                  </a:lnTo>
                  <a:lnTo>
                    <a:pt x="930922" y="452628"/>
                  </a:lnTo>
                  <a:lnTo>
                    <a:pt x="938961" y="450088"/>
                  </a:lnTo>
                  <a:lnTo>
                    <a:pt x="945095" y="451358"/>
                  </a:lnTo>
                  <a:lnTo>
                    <a:pt x="950518" y="452628"/>
                  </a:lnTo>
                  <a:lnTo>
                    <a:pt x="956462" y="452628"/>
                  </a:lnTo>
                  <a:lnTo>
                    <a:pt x="950429" y="453898"/>
                  </a:lnTo>
                  <a:lnTo>
                    <a:pt x="964819" y="452628"/>
                  </a:lnTo>
                  <a:lnTo>
                    <a:pt x="964984" y="453898"/>
                  </a:lnTo>
                  <a:lnTo>
                    <a:pt x="965288" y="456438"/>
                  </a:lnTo>
                  <a:lnTo>
                    <a:pt x="973645" y="457708"/>
                  </a:lnTo>
                  <a:lnTo>
                    <a:pt x="971321" y="456438"/>
                  </a:lnTo>
                  <a:lnTo>
                    <a:pt x="967613" y="455168"/>
                  </a:lnTo>
                  <a:lnTo>
                    <a:pt x="973175" y="453898"/>
                  </a:lnTo>
                  <a:lnTo>
                    <a:pt x="977353" y="453898"/>
                  </a:lnTo>
                  <a:lnTo>
                    <a:pt x="975499" y="456438"/>
                  </a:lnTo>
                  <a:lnTo>
                    <a:pt x="979220" y="456438"/>
                  </a:lnTo>
                  <a:lnTo>
                    <a:pt x="980147" y="452628"/>
                  </a:lnTo>
                  <a:lnTo>
                    <a:pt x="990828" y="450088"/>
                  </a:lnTo>
                  <a:lnTo>
                    <a:pt x="1000112" y="452628"/>
                  </a:lnTo>
                  <a:lnTo>
                    <a:pt x="999642" y="453898"/>
                  </a:lnTo>
                  <a:lnTo>
                    <a:pt x="1001496" y="453898"/>
                  </a:lnTo>
                  <a:lnTo>
                    <a:pt x="1002893" y="452628"/>
                  </a:lnTo>
                  <a:lnTo>
                    <a:pt x="1007071" y="453898"/>
                  </a:lnTo>
                  <a:lnTo>
                    <a:pt x="1004290" y="458978"/>
                  </a:lnTo>
                  <a:lnTo>
                    <a:pt x="1012177" y="453898"/>
                  </a:lnTo>
                  <a:lnTo>
                    <a:pt x="1017295" y="455168"/>
                  </a:lnTo>
                  <a:lnTo>
                    <a:pt x="1025182" y="452628"/>
                  </a:lnTo>
                  <a:lnTo>
                    <a:pt x="1024712" y="455168"/>
                  </a:lnTo>
                  <a:lnTo>
                    <a:pt x="1021473" y="456438"/>
                  </a:lnTo>
                  <a:lnTo>
                    <a:pt x="1061402" y="458978"/>
                  </a:lnTo>
                  <a:lnTo>
                    <a:pt x="1061859" y="462788"/>
                  </a:lnTo>
                  <a:lnTo>
                    <a:pt x="1067015" y="461518"/>
                  </a:lnTo>
                  <a:lnTo>
                    <a:pt x="1080465" y="461518"/>
                  </a:lnTo>
                  <a:lnTo>
                    <a:pt x="1082751" y="458978"/>
                  </a:lnTo>
                  <a:lnTo>
                    <a:pt x="1090460" y="460248"/>
                  </a:lnTo>
                  <a:lnTo>
                    <a:pt x="1099820" y="460248"/>
                  </a:lnTo>
                  <a:lnTo>
                    <a:pt x="1106919" y="461518"/>
                  </a:lnTo>
                  <a:lnTo>
                    <a:pt x="1107224" y="462788"/>
                  </a:lnTo>
                  <a:lnTo>
                    <a:pt x="1107833" y="465328"/>
                  </a:lnTo>
                  <a:lnTo>
                    <a:pt x="1125880" y="465328"/>
                  </a:lnTo>
                  <a:lnTo>
                    <a:pt x="1159535" y="462788"/>
                  </a:lnTo>
                  <a:lnTo>
                    <a:pt x="1180719" y="464058"/>
                  </a:lnTo>
                  <a:lnTo>
                    <a:pt x="1188516" y="466598"/>
                  </a:lnTo>
                  <a:lnTo>
                    <a:pt x="1192415" y="467868"/>
                  </a:lnTo>
                  <a:lnTo>
                    <a:pt x="1208811" y="470408"/>
                  </a:lnTo>
                  <a:lnTo>
                    <a:pt x="1226947" y="470408"/>
                  </a:lnTo>
                  <a:lnTo>
                    <a:pt x="1243863" y="471678"/>
                  </a:lnTo>
                  <a:lnTo>
                    <a:pt x="1351584" y="466598"/>
                  </a:lnTo>
                  <a:lnTo>
                    <a:pt x="1358404" y="467868"/>
                  </a:lnTo>
                  <a:lnTo>
                    <a:pt x="1365211" y="469138"/>
                  </a:lnTo>
                  <a:lnTo>
                    <a:pt x="1372031" y="470408"/>
                  </a:lnTo>
                  <a:lnTo>
                    <a:pt x="1394993" y="470408"/>
                  </a:lnTo>
                  <a:lnTo>
                    <a:pt x="1418310" y="469138"/>
                  </a:lnTo>
                  <a:lnTo>
                    <a:pt x="1439799" y="470408"/>
                  </a:lnTo>
                  <a:lnTo>
                    <a:pt x="1447228" y="467868"/>
                  </a:lnTo>
                  <a:lnTo>
                    <a:pt x="1462036" y="470408"/>
                  </a:lnTo>
                  <a:lnTo>
                    <a:pt x="1497901" y="470408"/>
                  </a:lnTo>
                  <a:lnTo>
                    <a:pt x="1516875" y="472948"/>
                  </a:lnTo>
                  <a:lnTo>
                    <a:pt x="1522920" y="471678"/>
                  </a:lnTo>
                  <a:lnTo>
                    <a:pt x="1526628" y="471678"/>
                  </a:lnTo>
                  <a:lnTo>
                    <a:pt x="1524774" y="470408"/>
                  </a:lnTo>
                  <a:lnTo>
                    <a:pt x="1524304" y="467868"/>
                  </a:lnTo>
                  <a:lnTo>
                    <a:pt x="1528800" y="469519"/>
                  </a:lnTo>
                  <a:lnTo>
                    <a:pt x="1528025" y="469709"/>
                  </a:lnTo>
                  <a:lnTo>
                    <a:pt x="1529359" y="469709"/>
                  </a:lnTo>
                  <a:lnTo>
                    <a:pt x="1531277" y="470408"/>
                  </a:lnTo>
                  <a:lnTo>
                    <a:pt x="1545666" y="467868"/>
                  </a:lnTo>
                  <a:lnTo>
                    <a:pt x="1545437" y="469138"/>
                  </a:lnTo>
                  <a:lnTo>
                    <a:pt x="1545196" y="470408"/>
                  </a:lnTo>
                  <a:lnTo>
                    <a:pt x="1544739" y="472948"/>
                  </a:lnTo>
                  <a:lnTo>
                    <a:pt x="1542884" y="472948"/>
                  </a:lnTo>
                  <a:lnTo>
                    <a:pt x="1545945" y="474218"/>
                  </a:lnTo>
                  <a:lnTo>
                    <a:pt x="1564093" y="474218"/>
                  </a:lnTo>
                  <a:lnTo>
                    <a:pt x="1572133" y="475488"/>
                  </a:lnTo>
                  <a:lnTo>
                    <a:pt x="1567954" y="470408"/>
                  </a:lnTo>
                  <a:lnTo>
                    <a:pt x="1579892" y="471538"/>
                  </a:lnTo>
                  <a:lnTo>
                    <a:pt x="1616456" y="469138"/>
                  </a:lnTo>
                  <a:lnTo>
                    <a:pt x="1680540" y="471678"/>
                  </a:lnTo>
                  <a:lnTo>
                    <a:pt x="1717459" y="469138"/>
                  </a:lnTo>
                  <a:lnTo>
                    <a:pt x="1716011" y="470408"/>
                  </a:lnTo>
                  <a:lnTo>
                    <a:pt x="1725815" y="470408"/>
                  </a:lnTo>
                  <a:lnTo>
                    <a:pt x="1729066" y="471678"/>
                  </a:lnTo>
                  <a:lnTo>
                    <a:pt x="1739112" y="475488"/>
                  </a:lnTo>
                  <a:lnTo>
                    <a:pt x="1748510" y="474218"/>
                  </a:lnTo>
                  <a:lnTo>
                    <a:pt x="1766214" y="469138"/>
                  </a:lnTo>
                  <a:lnTo>
                    <a:pt x="1766214" y="467868"/>
                  </a:lnTo>
                  <a:lnTo>
                    <a:pt x="1766671" y="467868"/>
                  </a:lnTo>
                  <a:lnTo>
                    <a:pt x="1766671" y="468782"/>
                  </a:lnTo>
                  <a:lnTo>
                    <a:pt x="1771319" y="468782"/>
                  </a:lnTo>
                  <a:lnTo>
                    <a:pt x="1774723" y="468350"/>
                  </a:lnTo>
                  <a:lnTo>
                    <a:pt x="1787105" y="469138"/>
                  </a:lnTo>
                  <a:lnTo>
                    <a:pt x="1785594" y="470408"/>
                  </a:lnTo>
                  <a:lnTo>
                    <a:pt x="1784324" y="471538"/>
                  </a:lnTo>
                  <a:lnTo>
                    <a:pt x="1788375" y="469138"/>
                  </a:lnTo>
                  <a:lnTo>
                    <a:pt x="1792846" y="467868"/>
                  </a:lnTo>
                  <a:lnTo>
                    <a:pt x="1790357" y="469138"/>
                  </a:lnTo>
                  <a:lnTo>
                    <a:pt x="1811007" y="470408"/>
                  </a:lnTo>
                  <a:lnTo>
                    <a:pt x="1831670" y="471678"/>
                  </a:lnTo>
                  <a:lnTo>
                    <a:pt x="1923351" y="471678"/>
                  </a:lnTo>
                  <a:lnTo>
                    <a:pt x="1969109" y="472948"/>
                  </a:lnTo>
                  <a:lnTo>
                    <a:pt x="1966328" y="470408"/>
                  </a:lnTo>
                  <a:lnTo>
                    <a:pt x="2001977" y="470408"/>
                  </a:lnTo>
                  <a:lnTo>
                    <a:pt x="2011819" y="471678"/>
                  </a:lnTo>
                  <a:lnTo>
                    <a:pt x="2020709" y="472948"/>
                  </a:lnTo>
                  <a:lnTo>
                    <a:pt x="2029294" y="470408"/>
                  </a:lnTo>
                  <a:lnTo>
                    <a:pt x="2036572" y="469138"/>
                  </a:lnTo>
                  <a:lnTo>
                    <a:pt x="2041537" y="466598"/>
                  </a:lnTo>
                  <a:lnTo>
                    <a:pt x="2050592" y="466598"/>
                  </a:lnTo>
                  <a:lnTo>
                    <a:pt x="2057844" y="467868"/>
                  </a:lnTo>
                  <a:lnTo>
                    <a:pt x="2061718" y="469138"/>
                  </a:lnTo>
                  <a:lnTo>
                    <a:pt x="2060575" y="470408"/>
                  </a:lnTo>
                  <a:lnTo>
                    <a:pt x="2081415" y="465328"/>
                  </a:lnTo>
                  <a:lnTo>
                    <a:pt x="2092896" y="464058"/>
                  </a:lnTo>
                  <a:lnTo>
                    <a:pt x="2106079" y="464058"/>
                  </a:lnTo>
                  <a:lnTo>
                    <a:pt x="2110244" y="465328"/>
                  </a:lnTo>
                  <a:lnTo>
                    <a:pt x="2117166" y="465328"/>
                  </a:lnTo>
                  <a:lnTo>
                    <a:pt x="2125726" y="464058"/>
                  </a:lnTo>
                  <a:lnTo>
                    <a:pt x="2134870" y="461518"/>
                  </a:lnTo>
                  <a:lnTo>
                    <a:pt x="2143874" y="460248"/>
                  </a:lnTo>
                  <a:lnTo>
                    <a:pt x="2151519" y="458978"/>
                  </a:lnTo>
                  <a:lnTo>
                    <a:pt x="2156993" y="458978"/>
                  </a:lnTo>
                  <a:lnTo>
                    <a:pt x="2159470" y="460248"/>
                  </a:lnTo>
                  <a:lnTo>
                    <a:pt x="2159470" y="460451"/>
                  </a:lnTo>
                  <a:lnTo>
                    <a:pt x="2159571" y="460248"/>
                  </a:lnTo>
                  <a:lnTo>
                    <a:pt x="2172004" y="460248"/>
                  </a:lnTo>
                  <a:lnTo>
                    <a:pt x="2178050" y="457708"/>
                  </a:lnTo>
                  <a:lnTo>
                    <a:pt x="2181301" y="457708"/>
                  </a:lnTo>
                  <a:lnTo>
                    <a:pt x="2184082" y="456438"/>
                  </a:lnTo>
                  <a:lnTo>
                    <a:pt x="2187333" y="456438"/>
                  </a:lnTo>
                  <a:lnTo>
                    <a:pt x="2190115" y="455168"/>
                  </a:lnTo>
                  <a:lnTo>
                    <a:pt x="2196617" y="453898"/>
                  </a:lnTo>
                  <a:lnTo>
                    <a:pt x="2214956" y="448818"/>
                  </a:lnTo>
                  <a:lnTo>
                    <a:pt x="2224557" y="446278"/>
                  </a:lnTo>
                  <a:lnTo>
                    <a:pt x="2232558" y="444271"/>
                  </a:lnTo>
                  <a:lnTo>
                    <a:pt x="2233295" y="444271"/>
                  </a:lnTo>
                  <a:lnTo>
                    <a:pt x="2233536" y="444030"/>
                  </a:lnTo>
                  <a:lnTo>
                    <a:pt x="2234692" y="443738"/>
                  </a:lnTo>
                  <a:lnTo>
                    <a:pt x="2234463" y="444373"/>
                  </a:lnTo>
                  <a:lnTo>
                    <a:pt x="2236546" y="442468"/>
                  </a:lnTo>
                  <a:lnTo>
                    <a:pt x="2241194" y="439928"/>
                  </a:lnTo>
                  <a:lnTo>
                    <a:pt x="2259304" y="423418"/>
                  </a:lnTo>
                  <a:lnTo>
                    <a:pt x="2261616" y="420878"/>
                  </a:lnTo>
                  <a:lnTo>
                    <a:pt x="2264410" y="418338"/>
                  </a:lnTo>
                  <a:lnTo>
                    <a:pt x="2269045" y="414528"/>
                  </a:lnTo>
                  <a:lnTo>
                    <a:pt x="2270899" y="411988"/>
                  </a:lnTo>
                  <a:lnTo>
                    <a:pt x="2274151" y="406908"/>
                  </a:lnTo>
                  <a:lnTo>
                    <a:pt x="2276475" y="404368"/>
                  </a:lnTo>
                  <a:close/>
                </a:path>
                <a:path w="9838055" h="738504">
                  <a:moveTo>
                    <a:pt x="7574953" y="278320"/>
                  </a:moveTo>
                  <a:lnTo>
                    <a:pt x="7574026" y="276936"/>
                  </a:lnTo>
                  <a:lnTo>
                    <a:pt x="7574026" y="277393"/>
                  </a:lnTo>
                  <a:lnTo>
                    <a:pt x="7574953" y="278320"/>
                  </a:lnTo>
                  <a:close/>
                </a:path>
                <a:path w="9838055" h="738504">
                  <a:moveTo>
                    <a:pt x="7575423" y="274320"/>
                  </a:moveTo>
                  <a:lnTo>
                    <a:pt x="7574801" y="273469"/>
                  </a:lnTo>
                  <a:lnTo>
                    <a:pt x="7573569" y="273050"/>
                  </a:lnTo>
                  <a:lnTo>
                    <a:pt x="7575423" y="274320"/>
                  </a:lnTo>
                  <a:close/>
                </a:path>
                <a:path w="9838055" h="738504">
                  <a:moveTo>
                    <a:pt x="7583310" y="309295"/>
                  </a:moveTo>
                  <a:lnTo>
                    <a:pt x="7582852" y="308838"/>
                  </a:lnTo>
                  <a:lnTo>
                    <a:pt x="7583310" y="310222"/>
                  </a:lnTo>
                  <a:lnTo>
                    <a:pt x="7583310" y="309295"/>
                  </a:lnTo>
                  <a:close/>
                </a:path>
                <a:path w="9838055" h="738504">
                  <a:moveTo>
                    <a:pt x="7587031" y="309765"/>
                  </a:moveTo>
                  <a:lnTo>
                    <a:pt x="7586789" y="309537"/>
                  </a:lnTo>
                  <a:lnTo>
                    <a:pt x="7587031" y="310222"/>
                  </a:lnTo>
                  <a:lnTo>
                    <a:pt x="7587031" y="309765"/>
                  </a:lnTo>
                  <a:close/>
                </a:path>
                <a:path w="9838055" h="738504">
                  <a:moveTo>
                    <a:pt x="7623708" y="312077"/>
                  </a:moveTo>
                  <a:lnTo>
                    <a:pt x="7622781" y="311150"/>
                  </a:lnTo>
                  <a:lnTo>
                    <a:pt x="7621854" y="312077"/>
                  </a:lnTo>
                  <a:lnTo>
                    <a:pt x="7621854" y="312534"/>
                  </a:lnTo>
                  <a:lnTo>
                    <a:pt x="7623708" y="312077"/>
                  </a:lnTo>
                  <a:close/>
                </a:path>
                <a:path w="9838055" h="738504">
                  <a:moveTo>
                    <a:pt x="7699388" y="274612"/>
                  </a:moveTo>
                  <a:lnTo>
                    <a:pt x="7698460" y="273227"/>
                  </a:lnTo>
                  <a:lnTo>
                    <a:pt x="7698460" y="273697"/>
                  </a:lnTo>
                  <a:lnTo>
                    <a:pt x="7699388" y="274612"/>
                  </a:lnTo>
                  <a:close/>
                </a:path>
                <a:path w="9838055" h="738504">
                  <a:moveTo>
                    <a:pt x="7718425" y="262597"/>
                  </a:moveTo>
                  <a:lnTo>
                    <a:pt x="7717968" y="261670"/>
                  </a:lnTo>
                  <a:lnTo>
                    <a:pt x="7717968" y="262128"/>
                  </a:lnTo>
                  <a:lnTo>
                    <a:pt x="7718425" y="262597"/>
                  </a:lnTo>
                  <a:close/>
                </a:path>
                <a:path w="9838055" h="738504">
                  <a:moveTo>
                    <a:pt x="7736065" y="255270"/>
                  </a:moveTo>
                  <a:lnTo>
                    <a:pt x="7734440" y="250825"/>
                  </a:lnTo>
                  <a:lnTo>
                    <a:pt x="7734338" y="251714"/>
                  </a:lnTo>
                  <a:lnTo>
                    <a:pt x="7736065" y="255270"/>
                  </a:lnTo>
                  <a:close/>
                </a:path>
                <a:path w="9838055" h="738504">
                  <a:moveTo>
                    <a:pt x="7742110" y="253339"/>
                  </a:moveTo>
                  <a:lnTo>
                    <a:pt x="7741640" y="252882"/>
                  </a:lnTo>
                  <a:lnTo>
                    <a:pt x="7742110" y="253809"/>
                  </a:lnTo>
                  <a:lnTo>
                    <a:pt x="7742110" y="253339"/>
                  </a:lnTo>
                  <a:close/>
                </a:path>
                <a:path w="9838055" h="738504">
                  <a:moveTo>
                    <a:pt x="7763929" y="349072"/>
                  </a:moveTo>
                  <a:lnTo>
                    <a:pt x="7756969" y="345833"/>
                  </a:lnTo>
                  <a:lnTo>
                    <a:pt x="7756030" y="345833"/>
                  </a:lnTo>
                  <a:lnTo>
                    <a:pt x="7763929" y="349072"/>
                  </a:lnTo>
                  <a:close/>
                </a:path>
                <a:path w="9838055" h="738504">
                  <a:moveTo>
                    <a:pt x="7817320" y="357949"/>
                  </a:moveTo>
                  <a:lnTo>
                    <a:pt x="7816761" y="357695"/>
                  </a:lnTo>
                  <a:lnTo>
                    <a:pt x="7816863" y="357949"/>
                  </a:lnTo>
                  <a:lnTo>
                    <a:pt x="7817320" y="357949"/>
                  </a:lnTo>
                  <a:close/>
                </a:path>
                <a:path w="9838055" h="738504">
                  <a:moveTo>
                    <a:pt x="7847965" y="142354"/>
                  </a:moveTo>
                  <a:lnTo>
                    <a:pt x="7847508" y="141897"/>
                  </a:lnTo>
                  <a:lnTo>
                    <a:pt x="7847508" y="142354"/>
                  </a:lnTo>
                  <a:lnTo>
                    <a:pt x="7847965" y="142354"/>
                  </a:lnTo>
                  <a:close/>
                </a:path>
                <a:path w="9838055" h="738504">
                  <a:moveTo>
                    <a:pt x="7858646" y="584911"/>
                  </a:moveTo>
                  <a:lnTo>
                    <a:pt x="7858176" y="584454"/>
                  </a:lnTo>
                  <a:lnTo>
                    <a:pt x="7856791" y="585381"/>
                  </a:lnTo>
                  <a:lnTo>
                    <a:pt x="7857718" y="585838"/>
                  </a:lnTo>
                  <a:lnTo>
                    <a:pt x="7858646" y="584911"/>
                  </a:lnTo>
                  <a:close/>
                </a:path>
                <a:path w="9838055" h="738504">
                  <a:moveTo>
                    <a:pt x="7874432" y="105829"/>
                  </a:moveTo>
                  <a:lnTo>
                    <a:pt x="7872577" y="105829"/>
                  </a:lnTo>
                  <a:lnTo>
                    <a:pt x="7872577" y="106756"/>
                  </a:lnTo>
                  <a:lnTo>
                    <a:pt x="7873505" y="107670"/>
                  </a:lnTo>
                  <a:lnTo>
                    <a:pt x="7873962" y="107213"/>
                  </a:lnTo>
                  <a:lnTo>
                    <a:pt x="7874432" y="107213"/>
                  </a:lnTo>
                  <a:lnTo>
                    <a:pt x="7874432" y="106756"/>
                  </a:lnTo>
                  <a:lnTo>
                    <a:pt x="7874432" y="105829"/>
                  </a:lnTo>
                  <a:close/>
                </a:path>
                <a:path w="9838055" h="738504">
                  <a:moveTo>
                    <a:pt x="7883715" y="368109"/>
                  </a:moveTo>
                  <a:lnTo>
                    <a:pt x="7882522" y="367639"/>
                  </a:lnTo>
                  <a:lnTo>
                    <a:pt x="7876286" y="370649"/>
                  </a:lnTo>
                  <a:lnTo>
                    <a:pt x="7883715" y="368109"/>
                  </a:lnTo>
                  <a:close/>
                </a:path>
                <a:path w="9838055" h="738504">
                  <a:moveTo>
                    <a:pt x="7899971" y="647814"/>
                  </a:moveTo>
                  <a:lnTo>
                    <a:pt x="7897647" y="643648"/>
                  </a:lnTo>
                  <a:lnTo>
                    <a:pt x="7895793" y="640410"/>
                  </a:lnTo>
                  <a:lnTo>
                    <a:pt x="7896720" y="645960"/>
                  </a:lnTo>
                  <a:lnTo>
                    <a:pt x="7897647" y="648728"/>
                  </a:lnTo>
                  <a:lnTo>
                    <a:pt x="7899501" y="652894"/>
                  </a:lnTo>
                  <a:lnTo>
                    <a:pt x="7899971" y="651040"/>
                  </a:lnTo>
                  <a:lnTo>
                    <a:pt x="7899971" y="647814"/>
                  </a:lnTo>
                  <a:close/>
                </a:path>
                <a:path w="9838055" h="738504">
                  <a:moveTo>
                    <a:pt x="7904150" y="63500"/>
                  </a:moveTo>
                  <a:lnTo>
                    <a:pt x="7903337" y="63157"/>
                  </a:lnTo>
                  <a:lnTo>
                    <a:pt x="7903223" y="63500"/>
                  </a:lnTo>
                  <a:lnTo>
                    <a:pt x="7904150" y="63500"/>
                  </a:lnTo>
                  <a:close/>
                </a:path>
                <a:path w="9838055" h="738504">
                  <a:moveTo>
                    <a:pt x="7908607" y="602805"/>
                  </a:moveTo>
                  <a:lnTo>
                    <a:pt x="7908328" y="601789"/>
                  </a:lnTo>
                  <a:lnTo>
                    <a:pt x="7907858" y="601789"/>
                  </a:lnTo>
                  <a:lnTo>
                    <a:pt x="7908607" y="602805"/>
                  </a:lnTo>
                  <a:close/>
                </a:path>
                <a:path w="9838055" h="738504">
                  <a:moveTo>
                    <a:pt x="7915757" y="52184"/>
                  </a:moveTo>
                  <a:lnTo>
                    <a:pt x="7915288" y="51257"/>
                  </a:lnTo>
                  <a:lnTo>
                    <a:pt x="7914360" y="50800"/>
                  </a:lnTo>
                  <a:lnTo>
                    <a:pt x="7913903" y="50800"/>
                  </a:lnTo>
                  <a:lnTo>
                    <a:pt x="7915757" y="52184"/>
                  </a:lnTo>
                  <a:close/>
                </a:path>
                <a:path w="9838055" h="738504">
                  <a:moveTo>
                    <a:pt x="9142908" y="417639"/>
                  </a:moveTo>
                  <a:lnTo>
                    <a:pt x="9141384" y="417499"/>
                  </a:lnTo>
                  <a:lnTo>
                    <a:pt x="9139187" y="417639"/>
                  </a:lnTo>
                  <a:lnTo>
                    <a:pt x="9142908" y="417639"/>
                  </a:lnTo>
                  <a:close/>
                </a:path>
                <a:path w="9838055" h="738504">
                  <a:moveTo>
                    <a:pt x="9795954" y="390334"/>
                  </a:moveTo>
                  <a:lnTo>
                    <a:pt x="9795256" y="390969"/>
                  </a:lnTo>
                  <a:lnTo>
                    <a:pt x="9795713" y="390969"/>
                  </a:lnTo>
                  <a:lnTo>
                    <a:pt x="9795954" y="390334"/>
                  </a:lnTo>
                  <a:close/>
                </a:path>
                <a:path w="9838055" h="738504">
                  <a:moveTo>
                    <a:pt x="9837966" y="350329"/>
                  </a:moveTo>
                  <a:lnTo>
                    <a:pt x="9825901" y="342709"/>
                  </a:lnTo>
                  <a:lnTo>
                    <a:pt x="9820326" y="338899"/>
                  </a:lnTo>
                  <a:lnTo>
                    <a:pt x="9814750" y="333819"/>
                  </a:lnTo>
                  <a:lnTo>
                    <a:pt x="9792005" y="333819"/>
                  </a:lnTo>
                  <a:lnTo>
                    <a:pt x="9780854" y="332549"/>
                  </a:lnTo>
                  <a:lnTo>
                    <a:pt x="9776676" y="331279"/>
                  </a:lnTo>
                  <a:lnTo>
                    <a:pt x="9768319" y="331279"/>
                  </a:lnTo>
                  <a:lnTo>
                    <a:pt x="9765068" y="332549"/>
                  </a:lnTo>
                  <a:lnTo>
                    <a:pt x="9758108" y="333819"/>
                  </a:lnTo>
                  <a:lnTo>
                    <a:pt x="9753003" y="336359"/>
                  </a:lnTo>
                  <a:lnTo>
                    <a:pt x="9744773" y="337629"/>
                  </a:lnTo>
                  <a:lnTo>
                    <a:pt x="9735591" y="340169"/>
                  </a:lnTo>
                  <a:lnTo>
                    <a:pt x="9725711" y="342709"/>
                  </a:lnTo>
                  <a:lnTo>
                    <a:pt x="9715386" y="343979"/>
                  </a:lnTo>
                  <a:lnTo>
                    <a:pt x="9708426" y="345249"/>
                  </a:lnTo>
                  <a:lnTo>
                    <a:pt x="9700997" y="346519"/>
                  </a:lnTo>
                  <a:lnTo>
                    <a:pt x="9694494" y="347789"/>
                  </a:lnTo>
                  <a:lnTo>
                    <a:pt x="9687535" y="347789"/>
                  </a:lnTo>
                  <a:lnTo>
                    <a:pt x="9681502" y="349059"/>
                  </a:lnTo>
                  <a:lnTo>
                    <a:pt x="9664789" y="350329"/>
                  </a:lnTo>
                  <a:lnTo>
                    <a:pt x="9657359" y="351599"/>
                  </a:lnTo>
                  <a:lnTo>
                    <a:pt x="9651314" y="351599"/>
                  </a:lnTo>
                  <a:lnTo>
                    <a:pt x="9642500" y="350329"/>
                  </a:lnTo>
                  <a:lnTo>
                    <a:pt x="9635325" y="350329"/>
                  </a:lnTo>
                  <a:lnTo>
                    <a:pt x="9627235" y="349059"/>
                  </a:lnTo>
                  <a:lnTo>
                    <a:pt x="9560776" y="345249"/>
                  </a:lnTo>
                  <a:lnTo>
                    <a:pt x="9358630" y="345249"/>
                  </a:lnTo>
                  <a:lnTo>
                    <a:pt x="9331490" y="346519"/>
                  </a:lnTo>
                  <a:lnTo>
                    <a:pt x="9321203" y="346519"/>
                  </a:lnTo>
                  <a:lnTo>
                    <a:pt x="9304020" y="351599"/>
                  </a:lnTo>
                  <a:lnTo>
                    <a:pt x="9266682" y="346519"/>
                  </a:lnTo>
                  <a:lnTo>
                    <a:pt x="9185580" y="346519"/>
                  </a:lnTo>
                  <a:lnTo>
                    <a:pt x="9146159" y="343979"/>
                  </a:lnTo>
                  <a:lnTo>
                    <a:pt x="9145232" y="347789"/>
                  </a:lnTo>
                  <a:lnTo>
                    <a:pt x="9130830" y="347789"/>
                  </a:lnTo>
                  <a:lnTo>
                    <a:pt x="9131757" y="345249"/>
                  </a:lnTo>
                  <a:lnTo>
                    <a:pt x="9128519" y="345249"/>
                  </a:lnTo>
                  <a:lnTo>
                    <a:pt x="9078570" y="343979"/>
                  </a:lnTo>
                  <a:lnTo>
                    <a:pt x="8928925" y="343979"/>
                  </a:lnTo>
                  <a:lnTo>
                    <a:pt x="8784958" y="340169"/>
                  </a:lnTo>
                  <a:lnTo>
                    <a:pt x="8739429" y="336359"/>
                  </a:lnTo>
                  <a:lnTo>
                    <a:pt x="8727135" y="335089"/>
                  </a:lnTo>
                  <a:lnTo>
                    <a:pt x="8694903" y="332549"/>
                  </a:lnTo>
                  <a:lnTo>
                    <a:pt x="8684171" y="331279"/>
                  </a:lnTo>
                  <a:lnTo>
                    <a:pt x="8624748" y="333819"/>
                  </a:lnTo>
                  <a:lnTo>
                    <a:pt x="8565312" y="331279"/>
                  </a:lnTo>
                  <a:lnTo>
                    <a:pt x="8547671" y="331279"/>
                  </a:lnTo>
                  <a:lnTo>
                    <a:pt x="8548141" y="330009"/>
                  </a:lnTo>
                  <a:lnTo>
                    <a:pt x="8530653" y="331279"/>
                  </a:lnTo>
                  <a:lnTo>
                    <a:pt x="8510638" y="330009"/>
                  </a:lnTo>
                  <a:lnTo>
                    <a:pt x="8489759" y="327469"/>
                  </a:lnTo>
                  <a:lnTo>
                    <a:pt x="8469668" y="326199"/>
                  </a:lnTo>
                  <a:lnTo>
                    <a:pt x="8471065" y="324929"/>
                  </a:lnTo>
                  <a:lnTo>
                    <a:pt x="8416290" y="323659"/>
                  </a:lnTo>
                  <a:lnTo>
                    <a:pt x="8362213" y="321119"/>
                  </a:lnTo>
                  <a:lnTo>
                    <a:pt x="8202092" y="317309"/>
                  </a:lnTo>
                  <a:lnTo>
                    <a:pt x="8148714" y="314769"/>
                  </a:lnTo>
                  <a:lnTo>
                    <a:pt x="8040649" y="307149"/>
                  </a:lnTo>
                  <a:lnTo>
                    <a:pt x="8014729" y="303339"/>
                  </a:lnTo>
                  <a:lnTo>
                    <a:pt x="7987893" y="300799"/>
                  </a:lnTo>
                  <a:lnTo>
                    <a:pt x="7932001" y="298259"/>
                  </a:lnTo>
                  <a:lnTo>
                    <a:pt x="7917650" y="298259"/>
                  </a:lnTo>
                  <a:lnTo>
                    <a:pt x="7903223" y="296989"/>
                  </a:lnTo>
                  <a:lnTo>
                    <a:pt x="7888783" y="296989"/>
                  </a:lnTo>
                  <a:lnTo>
                    <a:pt x="7874432" y="295719"/>
                  </a:lnTo>
                  <a:lnTo>
                    <a:pt x="7867116" y="295719"/>
                  </a:lnTo>
                  <a:lnTo>
                    <a:pt x="7859801" y="294449"/>
                  </a:lnTo>
                  <a:lnTo>
                    <a:pt x="7852499" y="294449"/>
                  </a:lnTo>
                  <a:lnTo>
                    <a:pt x="7830782" y="291909"/>
                  </a:lnTo>
                  <a:lnTo>
                    <a:pt x="7823365" y="291909"/>
                  </a:lnTo>
                  <a:lnTo>
                    <a:pt x="7809890" y="290639"/>
                  </a:lnTo>
                  <a:lnTo>
                    <a:pt x="7799743" y="288099"/>
                  </a:lnTo>
                  <a:lnTo>
                    <a:pt x="7781976" y="286829"/>
                  </a:lnTo>
                  <a:lnTo>
                    <a:pt x="7757858" y="284289"/>
                  </a:lnTo>
                  <a:lnTo>
                    <a:pt x="7728636" y="283019"/>
                  </a:lnTo>
                  <a:lnTo>
                    <a:pt x="7682573" y="279565"/>
                  </a:lnTo>
                  <a:lnTo>
                    <a:pt x="7686853" y="276860"/>
                  </a:lnTo>
                  <a:lnTo>
                    <a:pt x="7686395" y="275590"/>
                  </a:lnTo>
                  <a:lnTo>
                    <a:pt x="7695209" y="274320"/>
                  </a:lnTo>
                  <a:lnTo>
                    <a:pt x="7693355" y="274320"/>
                  </a:lnTo>
                  <a:lnTo>
                    <a:pt x="7693812" y="271780"/>
                  </a:lnTo>
                  <a:lnTo>
                    <a:pt x="7694752" y="270510"/>
                  </a:lnTo>
                  <a:lnTo>
                    <a:pt x="7696606" y="273050"/>
                  </a:lnTo>
                  <a:lnTo>
                    <a:pt x="7700785" y="270510"/>
                  </a:lnTo>
                  <a:lnTo>
                    <a:pt x="7705890" y="269240"/>
                  </a:lnTo>
                  <a:lnTo>
                    <a:pt x="7711465" y="270510"/>
                  </a:lnTo>
                  <a:lnTo>
                    <a:pt x="7709141" y="266700"/>
                  </a:lnTo>
                  <a:lnTo>
                    <a:pt x="7710068" y="266700"/>
                  </a:lnTo>
                  <a:lnTo>
                    <a:pt x="7715174" y="270510"/>
                  </a:lnTo>
                  <a:lnTo>
                    <a:pt x="7711922" y="265430"/>
                  </a:lnTo>
                  <a:lnTo>
                    <a:pt x="7712392" y="262890"/>
                  </a:lnTo>
                  <a:lnTo>
                    <a:pt x="7713789" y="262890"/>
                  </a:lnTo>
                  <a:lnTo>
                    <a:pt x="7712850" y="259080"/>
                  </a:lnTo>
                  <a:lnTo>
                    <a:pt x="7715644" y="260350"/>
                  </a:lnTo>
                  <a:lnTo>
                    <a:pt x="7719352" y="259080"/>
                  </a:lnTo>
                  <a:lnTo>
                    <a:pt x="7713319" y="256540"/>
                  </a:lnTo>
                  <a:lnTo>
                    <a:pt x="7717498" y="256540"/>
                  </a:lnTo>
                  <a:lnTo>
                    <a:pt x="7720279" y="259080"/>
                  </a:lnTo>
                  <a:lnTo>
                    <a:pt x="7715174" y="251460"/>
                  </a:lnTo>
                  <a:lnTo>
                    <a:pt x="7717028" y="251460"/>
                  </a:lnTo>
                  <a:lnTo>
                    <a:pt x="7722146" y="255270"/>
                  </a:lnTo>
                  <a:lnTo>
                    <a:pt x="7726781" y="255270"/>
                  </a:lnTo>
                  <a:lnTo>
                    <a:pt x="7723530" y="250190"/>
                  </a:lnTo>
                  <a:lnTo>
                    <a:pt x="7726781" y="247650"/>
                  </a:lnTo>
                  <a:lnTo>
                    <a:pt x="7730033" y="247650"/>
                  </a:lnTo>
                  <a:lnTo>
                    <a:pt x="7731430" y="248920"/>
                  </a:lnTo>
                  <a:lnTo>
                    <a:pt x="7732814" y="250190"/>
                  </a:lnTo>
                  <a:lnTo>
                    <a:pt x="7734211" y="251460"/>
                  </a:lnTo>
                  <a:lnTo>
                    <a:pt x="7734211" y="250190"/>
                  </a:lnTo>
                  <a:lnTo>
                    <a:pt x="7734440" y="250825"/>
                  </a:lnTo>
                  <a:lnTo>
                    <a:pt x="7734528" y="250190"/>
                  </a:lnTo>
                  <a:lnTo>
                    <a:pt x="7734681" y="248920"/>
                  </a:lnTo>
                  <a:lnTo>
                    <a:pt x="7736535" y="250190"/>
                  </a:lnTo>
                  <a:lnTo>
                    <a:pt x="7737462" y="252730"/>
                  </a:lnTo>
                  <a:lnTo>
                    <a:pt x="7741183" y="252730"/>
                  </a:lnTo>
                  <a:lnTo>
                    <a:pt x="7737462" y="250190"/>
                  </a:lnTo>
                  <a:lnTo>
                    <a:pt x="7738859" y="248920"/>
                  </a:lnTo>
                  <a:lnTo>
                    <a:pt x="7736535" y="245110"/>
                  </a:lnTo>
                  <a:lnTo>
                    <a:pt x="7732357" y="238760"/>
                  </a:lnTo>
                  <a:lnTo>
                    <a:pt x="7731430" y="238760"/>
                  </a:lnTo>
                  <a:lnTo>
                    <a:pt x="7731430" y="234950"/>
                  </a:lnTo>
                  <a:lnTo>
                    <a:pt x="7732357" y="233680"/>
                  </a:lnTo>
                  <a:lnTo>
                    <a:pt x="7735138" y="233680"/>
                  </a:lnTo>
                  <a:lnTo>
                    <a:pt x="7736535" y="234950"/>
                  </a:lnTo>
                  <a:lnTo>
                    <a:pt x="7737462" y="233680"/>
                  </a:lnTo>
                  <a:lnTo>
                    <a:pt x="7739316" y="234950"/>
                  </a:lnTo>
                  <a:lnTo>
                    <a:pt x="7741183" y="232410"/>
                  </a:lnTo>
                  <a:lnTo>
                    <a:pt x="7740243" y="232410"/>
                  </a:lnTo>
                  <a:lnTo>
                    <a:pt x="7740713" y="231140"/>
                  </a:lnTo>
                  <a:lnTo>
                    <a:pt x="7742110" y="228600"/>
                  </a:lnTo>
                  <a:lnTo>
                    <a:pt x="7743965" y="228600"/>
                  </a:lnTo>
                  <a:lnTo>
                    <a:pt x="7744892" y="229870"/>
                  </a:lnTo>
                  <a:lnTo>
                    <a:pt x="7751394" y="231140"/>
                  </a:lnTo>
                  <a:lnTo>
                    <a:pt x="7749540" y="224790"/>
                  </a:lnTo>
                  <a:lnTo>
                    <a:pt x="7752791" y="220980"/>
                  </a:lnTo>
                  <a:lnTo>
                    <a:pt x="7754645" y="223520"/>
                  </a:lnTo>
                  <a:lnTo>
                    <a:pt x="7757896" y="224790"/>
                  </a:lnTo>
                  <a:lnTo>
                    <a:pt x="7751851" y="219710"/>
                  </a:lnTo>
                  <a:lnTo>
                    <a:pt x="7754175" y="219710"/>
                  </a:lnTo>
                  <a:lnTo>
                    <a:pt x="7756969" y="222250"/>
                  </a:lnTo>
                  <a:lnTo>
                    <a:pt x="7754645" y="217170"/>
                  </a:lnTo>
                  <a:lnTo>
                    <a:pt x="7759281" y="222250"/>
                  </a:lnTo>
                  <a:lnTo>
                    <a:pt x="7761605" y="222250"/>
                  </a:lnTo>
                  <a:lnTo>
                    <a:pt x="7757896" y="218440"/>
                  </a:lnTo>
                  <a:lnTo>
                    <a:pt x="7763002" y="218440"/>
                  </a:lnTo>
                  <a:lnTo>
                    <a:pt x="7763929" y="219710"/>
                  </a:lnTo>
                  <a:lnTo>
                    <a:pt x="7765783" y="222250"/>
                  </a:lnTo>
                  <a:lnTo>
                    <a:pt x="7767180" y="224790"/>
                  </a:lnTo>
                  <a:lnTo>
                    <a:pt x="7765783" y="219710"/>
                  </a:lnTo>
                  <a:lnTo>
                    <a:pt x="7769034" y="223520"/>
                  </a:lnTo>
                  <a:lnTo>
                    <a:pt x="7766253" y="218440"/>
                  </a:lnTo>
                  <a:lnTo>
                    <a:pt x="7767294" y="219710"/>
                  </a:lnTo>
                  <a:lnTo>
                    <a:pt x="7770431" y="223520"/>
                  </a:lnTo>
                  <a:lnTo>
                    <a:pt x="7770431" y="219710"/>
                  </a:lnTo>
                  <a:lnTo>
                    <a:pt x="7771816" y="220980"/>
                  </a:lnTo>
                  <a:lnTo>
                    <a:pt x="7771816" y="222250"/>
                  </a:lnTo>
                  <a:lnTo>
                    <a:pt x="7773213" y="222250"/>
                  </a:lnTo>
                  <a:lnTo>
                    <a:pt x="7771358" y="214630"/>
                  </a:lnTo>
                  <a:lnTo>
                    <a:pt x="7771816" y="218440"/>
                  </a:lnTo>
                  <a:lnTo>
                    <a:pt x="7767637" y="213360"/>
                  </a:lnTo>
                  <a:lnTo>
                    <a:pt x="7765783" y="208280"/>
                  </a:lnTo>
                  <a:lnTo>
                    <a:pt x="7767333" y="209550"/>
                  </a:lnTo>
                  <a:lnTo>
                    <a:pt x="7770431" y="212090"/>
                  </a:lnTo>
                  <a:lnTo>
                    <a:pt x="7770431" y="209550"/>
                  </a:lnTo>
                  <a:lnTo>
                    <a:pt x="7770889" y="212090"/>
                  </a:lnTo>
                  <a:lnTo>
                    <a:pt x="7771816" y="209550"/>
                  </a:lnTo>
                  <a:lnTo>
                    <a:pt x="7773683" y="210820"/>
                  </a:lnTo>
                  <a:lnTo>
                    <a:pt x="7774610" y="210820"/>
                  </a:lnTo>
                  <a:lnTo>
                    <a:pt x="7773213" y="209550"/>
                  </a:lnTo>
                  <a:lnTo>
                    <a:pt x="7773213" y="208280"/>
                  </a:lnTo>
                  <a:lnTo>
                    <a:pt x="7773683" y="208280"/>
                  </a:lnTo>
                  <a:lnTo>
                    <a:pt x="7775067" y="209550"/>
                  </a:lnTo>
                  <a:lnTo>
                    <a:pt x="7775994" y="209550"/>
                  </a:lnTo>
                  <a:lnTo>
                    <a:pt x="7773213" y="207010"/>
                  </a:lnTo>
                  <a:lnTo>
                    <a:pt x="7772755" y="203200"/>
                  </a:lnTo>
                  <a:lnTo>
                    <a:pt x="7775537" y="204470"/>
                  </a:lnTo>
                  <a:lnTo>
                    <a:pt x="7776464" y="204470"/>
                  </a:lnTo>
                  <a:lnTo>
                    <a:pt x="7775537" y="203200"/>
                  </a:lnTo>
                  <a:lnTo>
                    <a:pt x="7776934" y="204470"/>
                  </a:lnTo>
                  <a:lnTo>
                    <a:pt x="7779715" y="208280"/>
                  </a:lnTo>
                  <a:lnTo>
                    <a:pt x="7777391" y="203200"/>
                  </a:lnTo>
                  <a:lnTo>
                    <a:pt x="7778788" y="204470"/>
                  </a:lnTo>
                  <a:lnTo>
                    <a:pt x="7777391" y="200660"/>
                  </a:lnTo>
                  <a:lnTo>
                    <a:pt x="7779715" y="203200"/>
                  </a:lnTo>
                  <a:lnTo>
                    <a:pt x="7780185" y="204470"/>
                  </a:lnTo>
                  <a:lnTo>
                    <a:pt x="7786217" y="199390"/>
                  </a:lnTo>
                  <a:lnTo>
                    <a:pt x="7788999" y="203200"/>
                  </a:lnTo>
                  <a:lnTo>
                    <a:pt x="7785748" y="198120"/>
                  </a:lnTo>
                  <a:lnTo>
                    <a:pt x="7793177" y="200660"/>
                  </a:lnTo>
                  <a:lnTo>
                    <a:pt x="7788542" y="196850"/>
                  </a:lnTo>
                  <a:lnTo>
                    <a:pt x="7792250" y="198120"/>
                  </a:lnTo>
                  <a:lnTo>
                    <a:pt x="7790853" y="190500"/>
                  </a:lnTo>
                  <a:lnTo>
                    <a:pt x="7795501" y="196850"/>
                  </a:lnTo>
                  <a:lnTo>
                    <a:pt x="7799210" y="194310"/>
                  </a:lnTo>
                  <a:lnTo>
                    <a:pt x="7796428" y="187960"/>
                  </a:lnTo>
                  <a:lnTo>
                    <a:pt x="7802931" y="185420"/>
                  </a:lnTo>
                  <a:lnTo>
                    <a:pt x="7808963" y="189230"/>
                  </a:lnTo>
                  <a:lnTo>
                    <a:pt x="7811757" y="184150"/>
                  </a:lnTo>
                  <a:lnTo>
                    <a:pt x="7814538" y="181610"/>
                  </a:lnTo>
                  <a:lnTo>
                    <a:pt x="7817790" y="175260"/>
                  </a:lnTo>
                  <a:lnTo>
                    <a:pt x="7819644" y="170180"/>
                  </a:lnTo>
                  <a:lnTo>
                    <a:pt x="7823365" y="162560"/>
                  </a:lnTo>
                  <a:lnTo>
                    <a:pt x="7828458" y="162560"/>
                  </a:lnTo>
                  <a:lnTo>
                    <a:pt x="7830667" y="158750"/>
                  </a:lnTo>
                  <a:lnTo>
                    <a:pt x="7832369" y="154940"/>
                  </a:lnTo>
                  <a:lnTo>
                    <a:pt x="7835900" y="153670"/>
                  </a:lnTo>
                  <a:lnTo>
                    <a:pt x="7834033" y="149860"/>
                  </a:lnTo>
                  <a:lnTo>
                    <a:pt x="7840535" y="152400"/>
                  </a:lnTo>
                  <a:lnTo>
                    <a:pt x="7838681" y="143510"/>
                  </a:lnTo>
                  <a:lnTo>
                    <a:pt x="7845641" y="143510"/>
                  </a:lnTo>
                  <a:lnTo>
                    <a:pt x="7845184" y="142240"/>
                  </a:lnTo>
                  <a:lnTo>
                    <a:pt x="7845184" y="140970"/>
                  </a:lnTo>
                  <a:lnTo>
                    <a:pt x="7844256" y="140970"/>
                  </a:lnTo>
                  <a:lnTo>
                    <a:pt x="7842390" y="139700"/>
                  </a:lnTo>
                  <a:lnTo>
                    <a:pt x="7844256" y="139700"/>
                  </a:lnTo>
                  <a:lnTo>
                    <a:pt x="7844714" y="135890"/>
                  </a:lnTo>
                  <a:lnTo>
                    <a:pt x="7851216" y="143510"/>
                  </a:lnTo>
                  <a:lnTo>
                    <a:pt x="7848892" y="135890"/>
                  </a:lnTo>
                  <a:lnTo>
                    <a:pt x="7853070" y="137160"/>
                  </a:lnTo>
                  <a:lnTo>
                    <a:pt x="7848892" y="134620"/>
                  </a:lnTo>
                  <a:lnTo>
                    <a:pt x="7851216" y="133350"/>
                  </a:lnTo>
                  <a:lnTo>
                    <a:pt x="7851686" y="133350"/>
                  </a:lnTo>
                  <a:lnTo>
                    <a:pt x="7853451" y="125730"/>
                  </a:lnTo>
                  <a:lnTo>
                    <a:pt x="7858188" y="121920"/>
                  </a:lnTo>
                  <a:lnTo>
                    <a:pt x="7862913" y="119380"/>
                  </a:lnTo>
                  <a:lnTo>
                    <a:pt x="7864678" y="111760"/>
                  </a:lnTo>
                  <a:lnTo>
                    <a:pt x="7867929" y="115570"/>
                  </a:lnTo>
                  <a:lnTo>
                    <a:pt x="7863751" y="107950"/>
                  </a:lnTo>
                  <a:lnTo>
                    <a:pt x="7868399" y="111760"/>
                  </a:lnTo>
                  <a:lnTo>
                    <a:pt x="7875359" y="115570"/>
                  </a:lnTo>
                  <a:lnTo>
                    <a:pt x="7870253" y="107950"/>
                  </a:lnTo>
                  <a:lnTo>
                    <a:pt x="7870253" y="104140"/>
                  </a:lnTo>
                  <a:lnTo>
                    <a:pt x="7869326" y="104140"/>
                  </a:lnTo>
                  <a:lnTo>
                    <a:pt x="7872108" y="101600"/>
                  </a:lnTo>
                  <a:lnTo>
                    <a:pt x="7873492" y="102870"/>
                  </a:lnTo>
                  <a:lnTo>
                    <a:pt x="7872692" y="101600"/>
                  </a:lnTo>
                  <a:lnTo>
                    <a:pt x="7871714" y="99060"/>
                  </a:lnTo>
                  <a:lnTo>
                    <a:pt x="7872577" y="100330"/>
                  </a:lnTo>
                  <a:lnTo>
                    <a:pt x="7879194" y="96520"/>
                  </a:lnTo>
                  <a:lnTo>
                    <a:pt x="7884477" y="90170"/>
                  </a:lnTo>
                  <a:lnTo>
                    <a:pt x="7889481" y="83820"/>
                  </a:lnTo>
                  <a:lnTo>
                    <a:pt x="7895323" y="78740"/>
                  </a:lnTo>
                  <a:lnTo>
                    <a:pt x="7893469" y="77470"/>
                  </a:lnTo>
                  <a:lnTo>
                    <a:pt x="7895323" y="74930"/>
                  </a:lnTo>
                  <a:lnTo>
                    <a:pt x="7895793" y="71120"/>
                  </a:lnTo>
                  <a:lnTo>
                    <a:pt x="7903223" y="72390"/>
                  </a:lnTo>
                  <a:lnTo>
                    <a:pt x="7898574" y="64770"/>
                  </a:lnTo>
                  <a:lnTo>
                    <a:pt x="7899044" y="64770"/>
                  </a:lnTo>
                  <a:lnTo>
                    <a:pt x="7898117" y="60960"/>
                  </a:lnTo>
                  <a:lnTo>
                    <a:pt x="7903337" y="63157"/>
                  </a:lnTo>
                  <a:lnTo>
                    <a:pt x="7904150" y="60960"/>
                  </a:lnTo>
                  <a:lnTo>
                    <a:pt x="7900429" y="54610"/>
                  </a:lnTo>
                  <a:lnTo>
                    <a:pt x="7904607" y="54610"/>
                  </a:lnTo>
                  <a:lnTo>
                    <a:pt x="7907198" y="53340"/>
                  </a:lnTo>
                  <a:lnTo>
                    <a:pt x="7907858" y="50800"/>
                  </a:lnTo>
                  <a:lnTo>
                    <a:pt x="7908531" y="46990"/>
                  </a:lnTo>
                  <a:lnTo>
                    <a:pt x="7911109" y="48260"/>
                  </a:lnTo>
                  <a:lnTo>
                    <a:pt x="7910652" y="46990"/>
                  </a:lnTo>
                  <a:lnTo>
                    <a:pt x="7917142" y="46990"/>
                  </a:lnTo>
                  <a:lnTo>
                    <a:pt x="7912963" y="38100"/>
                  </a:lnTo>
                  <a:lnTo>
                    <a:pt x="7919936" y="38100"/>
                  </a:lnTo>
                  <a:lnTo>
                    <a:pt x="7908785" y="17780"/>
                  </a:lnTo>
                  <a:lnTo>
                    <a:pt x="7888364" y="5080"/>
                  </a:lnTo>
                  <a:lnTo>
                    <a:pt x="7868399" y="0"/>
                  </a:lnTo>
                  <a:lnTo>
                    <a:pt x="7863751" y="10160"/>
                  </a:lnTo>
                  <a:lnTo>
                    <a:pt x="7861427" y="13970"/>
                  </a:lnTo>
                  <a:lnTo>
                    <a:pt x="7858646" y="19050"/>
                  </a:lnTo>
                  <a:lnTo>
                    <a:pt x="7842390" y="27940"/>
                  </a:lnTo>
                  <a:lnTo>
                    <a:pt x="7841005" y="29210"/>
                  </a:lnTo>
                  <a:lnTo>
                    <a:pt x="7836357" y="35560"/>
                  </a:lnTo>
                  <a:lnTo>
                    <a:pt x="7833106" y="39370"/>
                  </a:lnTo>
                  <a:lnTo>
                    <a:pt x="7830325" y="44450"/>
                  </a:lnTo>
                  <a:lnTo>
                    <a:pt x="7827073" y="48260"/>
                  </a:lnTo>
                  <a:lnTo>
                    <a:pt x="7824292" y="52070"/>
                  </a:lnTo>
                  <a:lnTo>
                    <a:pt x="7821968" y="54610"/>
                  </a:lnTo>
                  <a:lnTo>
                    <a:pt x="7819644" y="58420"/>
                  </a:lnTo>
                  <a:lnTo>
                    <a:pt x="7817790" y="59690"/>
                  </a:lnTo>
                  <a:lnTo>
                    <a:pt x="7818158" y="60960"/>
                  </a:lnTo>
                  <a:lnTo>
                    <a:pt x="7819644" y="66040"/>
                  </a:lnTo>
                  <a:lnTo>
                    <a:pt x="7812443" y="67310"/>
                  </a:lnTo>
                  <a:lnTo>
                    <a:pt x="7809763" y="71120"/>
                  </a:lnTo>
                  <a:lnTo>
                    <a:pt x="7807985" y="73660"/>
                  </a:lnTo>
                  <a:lnTo>
                    <a:pt x="7803782" y="78740"/>
                  </a:lnTo>
                  <a:lnTo>
                    <a:pt x="7797355" y="82550"/>
                  </a:lnTo>
                  <a:lnTo>
                    <a:pt x="7800607" y="85090"/>
                  </a:lnTo>
                  <a:lnTo>
                    <a:pt x="7799210" y="87630"/>
                  </a:lnTo>
                  <a:lnTo>
                    <a:pt x="7797355" y="85090"/>
                  </a:lnTo>
                  <a:lnTo>
                    <a:pt x="7795971" y="85090"/>
                  </a:lnTo>
                  <a:lnTo>
                    <a:pt x="7794003" y="87630"/>
                  </a:lnTo>
                  <a:lnTo>
                    <a:pt x="7785189" y="99060"/>
                  </a:lnTo>
                  <a:lnTo>
                    <a:pt x="7783068" y="101600"/>
                  </a:lnTo>
                  <a:lnTo>
                    <a:pt x="7777747" y="107950"/>
                  </a:lnTo>
                  <a:lnTo>
                    <a:pt x="7774546" y="111760"/>
                  </a:lnTo>
                  <a:lnTo>
                    <a:pt x="7763129" y="123190"/>
                  </a:lnTo>
                  <a:lnTo>
                    <a:pt x="7749997" y="133350"/>
                  </a:lnTo>
                  <a:lnTo>
                    <a:pt x="7746746" y="132080"/>
                  </a:lnTo>
                  <a:lnTo>
                    <a:pt x="7744307" y="135890"/>
                  </a:lnTo>
                  <a:lnTo>
                    <a:pt x="7743495" y="137160"/>
                  </a:lnTo>
                  <a:lnTo>
                    <a:pt x="7740243" y="135890"/>
                  </a:lnTo>
                  <a:lnTo>
                    <a:pt x="7740116" y="137160"/>
                  </a:lnTo>
                  <a:lnTo>
                    <a:pt x="7739316" y="144780"/>
                  </a:lnTo>
                  <a:lnTo>
                    <a:pt x="7734211" y="149860"/>
                  </a:lnTo>
                  <a:lnTo>
                    <a:pt x="7728636" y="153670"/>
                  </a:lnTo>
                  <a:lnTo>
                    <a:pt x="7726781" y="156210"/>
                  </a:lnTo>
                  <a:lnTo>
                    <a:pt x="7726324" y="156210"/>
                  </a:lnTo>
                  <a:lnTo>
                    <a:pt x="7725854" y="154940"/>
                  </a:lnTo>
                  <a:lnTo>
                    <a:pt x="7725854" y="156210"/>
                  </a:lnTo>
                  <a:lnTo>
                    <a:pt x="7725854" y="160020"/>
                  </a:lnTo>
                  <a:lnTo>
                    <a:pt x="7718895" y="161290"/>
                  </a:lnTo>
                  <a:lnTo>
                    <a:pt x="7714716" y="162560"/>
                  </a:lnTo>
                  <a:lnTo>
                    <a:pt x="7701115" y="173990"/>
                  </a:lnTo>
                  <a:lnTo>
                    <a:pt x="7690726" y="185420"/>
                  </a:lnTo>
                  <a:lnTo>
                    <a:pt x="7688427" y="187960"/>
                  </a:lnTo>
                  <a:lnTo>
                    <a:pt x="7685722" y="190500"/>
                  </a:lnTo>
                  <a:lnTo>
                    <a:pt x="7680820" y="195135"/>
                  </a:lnTo>
                  <a:lnTo>
                    <a:pt x="7680820" y="274320"/>
                  </a:lnTo>
                  <a:lnTo>
                    <a:pt x="7678496" y="275590"/>
                  </a:lnTo>
                  <a:lnTo>
                    <a:pt x="7675956" y="279069"/>
                  </a:lnTo>
                  <a:lnTo>
                    <a:pt x="7669746" y="278599"/>
                  </a:lnTo>
                  <a:lnTo>
                    <a:pt x="7670597" y="278130"/>
                  </a:lnTo>
                  <a:lnTo>
                    <a:pt x="7670139" y="274320"/>
                  </a:lnTo>
                  <a:lnTo>
                    <a:pt x="7676172" y="275590"/>
                  </a:lnTo>
                  <a:lnTo>
                    <a:pt x="7674318" y="271780"/>
                  </a:lnTo>
                  <a:lnTo>
                    <a:pt x="7678496" y="271780"/>
                  </a:lnTo>
                  <a:lnTo>
                    <a:pt x="7680820" y="274320"/>
                  </a:lnTo>
                  <a:lnTo>
                    <a:pt x="7680820" y="195135"/>
                  </a:lnTo>
                  <a:lnTo>
                    <a:pt x="7678991" y="196850"/>
                  </a:lnTo>
                  <a:lnTo>
                    <a:pt x="7677645" y="198120"/>
                  </a:lnTo>
                  <a:lnTo>
                    <a:pt x="7676299" y="199390"/>
                  </a:lnTo>
                  <a:lnTo>
                    <a:pt x="7674953" y="200660"/>
                  </a:lnTo>
                  <a:lnTo>
                    <a:pt x="7670393" y="203200"/>
                  </a:lnTo>
                  <a:lnTo>
                    <a:pt x="7661275" y="208280"/>
                  </a:lnTo>
                  <a:lnTo>
                    <a:pt x="7659002" y="209550"/>
                  </a:lnTo>
                  <a:lnTo>
                    <a:pt x="7652029" y="209550"/>
                  </a:lnTo>
                  <a:lnTo>
                    <a:pt x="7647394" y="214630"/>
                  </a:lnTo>
                  <a:lnTo>
                    <a:pt x="7645298" y="217170"/>
                  </a:lnTo>
                  <a:lnTo>
                    <a:pt x="7643215" y="219710"/>
                  </a:lnTo>
                  <a:lnTo>
                    <a:pt x="7641882" y="220980"/>
                  </a:lnTo>
                  <a:lnTo>
                    <a:pt x="7633919" y="228600"/>
                  </a:lnTo>
                  <a:lnTo>
                    <a:pt x="7626490" y="229870"/>
                  </a:lnTo>
                  <a:lnTo>
                    <a:pt x="7622553" y="233680"/>
                  </a:lnTo>
                  <a:lnTo>
                    <a:pt x="7620927" y="235089"/>
                  </a:lnTo>
                  <a:lnTo>
                    <a:pt x="7620927" y="308610"/>
                  </a:lnTo>
                  <a:lnTo>
                    <a:pt x="7620000" y="309460"/>
                  </a:lnTo>
                  <a:lnTo>
                    <a:pt x="7615352" y="307340"/>
                  </a:lnTo>
                  <a:lnTo>
                    <a:pt x="7616279" y="306070"/>
                  </a:lnTo>
                  <a:lnTo>
                    <a:pt x="7620927" y="308610"/>
                  </a:lnTo>
                  <a:lnTo>
                    <a:pt x="7620927" y="235089"/>
                  </a:lnTo>
                  <a:lnTo>
                    <a:pt x="7615174" y="240030"/>
                  </a:lnTo>
                  <a:lnTo>
                    <a:pt x="7607884" y="247650"/>
                  </a:lnTo>
                  <a:lnTo>
                    <a:pt x="7605128" y="251460"/>
                  </a:lnTo>
                  <a:lnTo>
                    <a:pt x="7604214" y="252730"/>
                  </a:lnTo>
                  <a:lnTo>
                    <a:pt x="7609776" y="255270"/>
                  </a:lnTo>
                  <a:lnTo>
                    <a:pt x="7608049" y="256540"/>
                  </a:lnTo>
                  <a:lnTo>
                    <a:pt x="7604595" y="259080"/>
                  </a:lnTo>
                  <a:lnTo>
                    <a:pt x="7599629" y="261620"/>
                  </a:lnTo>
                  <a:lnTo>
                    <a:pt x="7595095" y="264160"/>
                  </a:lnTo>
                  <a:lnTo>
                    <a:pt x="7593152" y="266700"/>
                  </a:lnTo>
                  <a:lnTo>
                    <a:pt x="7591209" y="269240"/>
                  </a:lnTo>
                  <a:lnTo>
                    <a:pt x="7590739" y="267970"/>
                  </a:lnTo>
                  <a:lnTo>
                    <a:pt x="7590371" y="269240"/>
                  </a:lnTo>
                  <a:lnTo>
                    <a:pt x="7590117" y="270510"/>
                  </a:lnTo>
                  <a:lnTo>
                    <a:pt x="7589875" y="271780"/>
                  </a:lnTo>
                  <a:lnTo>
                    <a:pt x="7585977" y="274320"/>
                  </a:lnTo>
                  <a:lnTo>
                    <a:pt x="7575423" y="273050"/>
                  </a:lnTo>
                  <a:lnTo>
                    <a:pt x="7574496" y="273050"/>
                  </a:lnTo>
                  <a:lnTo>
                    <a:pt x="7574801" y="273469"/>
                  </a:lnTo>
                  <a:lnTo>
                    <a:pt x="7577277" y="274320"/>
                  </a:lnTo>
                  <a:lnTo>
                    <a:pt x="7576820" y="275590"/>
                  </a:lnTo>
                  <a:lnTo>
                    <a:pt x="7577125" y="278130"/>
                  </a:lnTo>
                  <a:lnTo>
                    <a:pt x="7577277" y="279400"/>
                  </a:lnTo>
                  <a:lnTo>
                    <a:pt x="7575880" y="280670"/>
                  </a:lnTo>
                  <a:lnTo>
                    <a:pt x="7574026" y="278130"/>
                  </a:lnTo>
                  <a:lnTo>
                    <a:pt x="7570775" y="281940"/>
                  </a:lnTo>
                  <a:lnTo>
                    <a:pt x="7567523" y="279400"/>
                  </a:lnTo>
                  <a:lnTo>
                    <a:pt x="7567523" y="281940"/>
                  </a:lnTo>
                  <a:lnTo>
                    <a:pt x="7572172" y="288290"/>
                  </a:lnTo>
                  <a:lnTo>
                    <a:pt x="7566596" y="285750"/>
                  </a:lnTo>
                  <a:lnTo>
                    <a:pt x="7569390" y="288290"/>
                  </a:lnTo>
                  <a:lnTo>
                    <a:pt x="7570775" y="289560"/>
                  </a:lnTo>
                  <a:lnTo>
                    <a:pt x="7567841" y="289560"/>
                  </a:lnTo>
                  <a:lnTo>
                    <a:pt x="7567993" y="289420"/>
                  </a:lnTo>
                  <a:lnTo>
                    <a:pt x="7565669" y="289420"/>
                  </a:lnTo>
                  <a:lnTo>
                    <a:pt x="7567066" y="290334"/>
                  </a:lnTo>
                  <a:lnTo>
                    <a:pt x="7567523" y="290830"/>
                  </a:lnTo>
                  <a:lnTo>
                    <a:pt x="7566139" y="290830"/>
                  </a:lnTo>
                  <a:lnTo>
                    <a:pt x="7564742" y="292100"/>
                  </a:lnTo>
                  <a:lnTo>
                    <a:pt x="7561491" y="295910"/>
                  </a:lnTo>
                  <a:lnTo>
                    <a:pt x="7562418" y="298450"/>
                  </a:lnTo>
                  <a:lnTo>
                    <a:pt x="7572642" y="302310"/>
                  </a:lnTo>
                  <a:lnTo>
                    <a:pt x="7575880" y="303530"/>
                  </a:lnTo>
                  <a:lnTo>
                    <a:pt x="7580998" y="306070"/>
                  </a:lnTo>
                  <a:lnTo>
                    <a:pt x="7577277" y="307340"/>
                  </a:lnTo>
                  <a:lnTo>
                    <a:pt x="7580528" y="307340"/>
                  </a:lnTo>
                  <a:lnTo>
                    <a:pt x="7581925" y="308610"/>
                  </a:lnTo>
                  <a:lnTo>
                    <a:pt x="7581455" y="307340"/>
                  </a:lnTo>
                  <a:lnTo>
                    <a:pt x="7583779" y="307340"/>
                  </a:lnTo>
                  <a:lnTo>
                    <a:pt x="7585634" y="309880"/>
                  </a:lnTo>
                  <a:lnTo>
                    <a:pt x="7587031" y="311150"/>
                  </a:lnTo>
                  <a:lnTo>
                    <a:pt x="7586561" y="309880"/>
                  </a:lnTo>
                  <a:lnTo>
                    <a:pt x="7586104" y="309880"/>
                  </a:lnTo>
                  <a:lnTo>
                    <a:pt x="7585634" y="308610"/>
                  </a:lnTo>
                  <a:lnTo>
                    <a:pt x="7586104" y="308610"/>
                  </a:lnTo>
                  <a:lnTo>
                    <a:pt x="7586561" y="307340"/>
                  </a:lnTo>
                  <a:lnTo>
                    <a:pt x="7588885" y="307340"/>
                  </a:lnTo>
                  <a:lnTo>
                    <a:pt x="7589583" y="308610"/>
                  </a:lnTo>
                  <a:lnTo>
                    <a:pt x="7590129" y="309460"/>
                  </a:lnTo>
                  <a:lnTo>
                    <a:pt x="7588428" y="304800"/>
                  </a:lnTo>
                  <a:lnTo>
                    <a:pt x="7599934" y="309880"/>
                  </a:lnTo>
                  <a:lnTo>
                    <a:pt x="7602817" y="311150"/>
                  </a:lnTo>
                  <a:lnTo>
                    <a:pt x="7604671" y="309880"/>
                  </a:lnTo>
                  <a:lnTo>
                    <a:pt x="7608392" y="311150"/>
                  </a:lnTo>
                  <a:lnTo>
                    <a:pt x="7608265" y="309880"/>
                  </a:lnTo>
                  <a:lnTo>
                    <a:pt x="7608151" y="308610"/>
                  </a:lnTo>
                  <a:lnTo>
                    <a:pt x="7608036" y="307340"/>
                  </a:lnTo>
                  <a:lnTo>
                    <a:pt x="7607922" y="306070"/>
                  </a:lnTo>
                  <a:lnTo>
                    <a:pt x="7610703" y="306070"/>
                  </a:lnTo>
                  <a:lnTo>
                    <a:pt x="7614425" y="304800"/>
                  </a:lnTo>
                  <a:lnTo>
                    <a:pt x="7614425" y="306070"/>
                  </a:lnTo>
                  <a:lnTo>
                    <a:pt x="7614425" y="308610"/>
                  </a:lnTo>
                  <a:lnTo>
                    <a:pt x="7617676" y="309880"/>
                  </a:lnTo>
                  <a:lnTo>
                    <a:pt x="7619530" y="309880"/>
                  </a:lnTo>
                  <a:lnTo>
                    <a:pt x="7622311" y="311150"/>
                  </a:lnTo>
                  <a:lnTo>
                    <a:pt x="7624635" y="309880"/>
                  </a:lnTo>
                  <a:lnTo>
                    <a:pt x="7627709" y="310489"/>
                  </a:lnTo>
                  <a:lnTo>
                    <a:pt x="7629512" y="312229"/>
                  </a:lnTo>
                  <a:lnTo>
                    <a:pt x="7647216" y="330009"/>
                  </a:lnTo>
                  <a:lnTo>
                    <a:pt x="7649781" y="332549"/>
                  </a:lnTo>
                  <a:lnTo>
                    <a:pt x="7662596" y="345249"/>
                  </a:lnTo>
                  <a:lnTo>
                    <a:pt x="7674127" y="356679"/>
                  </a:lnTo>
                  <a:lnTo>
                    <a:pt x="7676693" y="359219"/>
                  </a:lnTo>
                  <a:lnTo>
                    <a:pt x="7687780" y="370649"/>
                  </a:lnTo>
                  <a:lnTo>
                    <a:pt x="7696086" y="378269"/>
                  </a:lnTo>
                  <a:lnTo>
                    <a:pt x="7701242" y="383349"/>
                  </a:lnTo>
                  <a:lnTo>
                    <a:pt x="7696606" y="376999"/>
                  </a:lnTo>
                  <a:lnTo>
                    <a:pt x="7691958" y="369379"/>
                  </a:lnTo>
                  <a:lnTo>
                    <a:pt x="7683601" y="356679"/>
                  </a:lnTo>
                  <a:lnTo>
                    <a:pt x="7691158" y="364299"/>
                  </a:lnTo>
                  <a:lnTo>
                    <a:pt x="7698460" y="371919"/>
                  </a:lnTo>
                  <a:lnTo>
                    <a:pt x="7705407" y="378269"/>
                  </a:lnTo>
                  <a:lnTo>
                    <a:pt x="7711922" y="385889"/>
                  </a:lnTo>
                  <a:lnTo>
                    <a:pt x="7723416" y="398589"/>
                  </a:lnTo>
                  <a:lnTo>
                    <a:pt x="7727010" y="402399"/>
                  </a:lnTo>
                  <a:lnTo>
                    <a:pt x="7734211" y="410019"/>
                  </a:lnTo>
                  <a:lnTo>
                    <a:pt x="7737462" y="413829"/>
                  </a:lnTo>
                  <a:lnTo>
                    <a:pt x="7741183" y="417639"/>
                  </a:lnTo>
                  <a:lnTo>
                    <a:pt x="7744422" y="421449"/>
                  </a:lnTo>
                  <a:lnTo>
                    <a:pt x="7746746" y="423989"/>
                  </a:lnTo>
                  <a:lnTo>
                    <a:pt x="7748600" y="427799"/>
                  </a:lnTo>
                  <a:lnTo>
                    <a:pt x="7750924" y="430339"/>
                  </a:lnTo>
                  <a:lnTo>
                    <a:pt x="7754175" y="434149"/>
                  </a:lnTo>
                  <a:lnTo>
                    <a:pt x="7756969" y="437959"/>
                  </a:lnTo>
                  <a:lnTo>
                    <a:pt x="7760208" y="441769"/>
                  </a:lnTo>
                  <a:lnTo>
                    <a:pt x="7768183" y="451929"/>
                  </a:lnTo>
                  <a:lnTo>
                    <a:pt x="7769187" y="453199"/>
                  </a:lnTo>
                  <a:lnTo>
                    <a:pt x="7778318" y="465899"/>
                  </a:lnTo>
                  <a:lnTo>
                    <a:pt x="7780502" y="468439"/>
                  </a:lnTo>
                  <a:lnTo>
                    <a:pt x="7788161" y="477329"/>
                  </a:lnTo>
                  <a:lnTo>
                    <a:pt x="7799210" y="491299"/>
                  </a:lnTo>
                  <a:lnTo>
                    <a:pt x="7796898" y="490029"/>
                  </a:lnTo>
                  <a:lnTo>
                    <a:pt x="7797584" y="491299"/>
                  </a:lnTo>
                  <a:lnTo>
                    <a:pt x="7798282" y="492569"/>
                  </a:lnTo>
                  <a:lnTo>
                    <a:pt x="7802461" y="493839"/>
                  </a:lnTo>
                  <a:lnTo>
                    <a:pt x="7809890" y="502729"/>
                  </a:lnTo>
                  <a:lnTo>
                    <a:pt x="7812849" y="506539"/>
                  </a:lnTo>
                  <a:lnTo>
                    <a:pt x="7816164" y="511619"/>
                  </a:lnTo>
                  <a:lnTo>
                    <a:pt x="7819822" y="516699"/>
                  </a:lnTo>
                  <a:lnTo>
                    <a:pt x="7823822" y="524319"/>
                  </a:lnTo>
                  <a:lnTo>
                    <a:pt x="7828166" y="531939"/>
                  </a:lnTo>
                  <a:lnTo>
                    <a:pt x="7832814" y="542099"/>
                  </a:lnTo>
                  <a:lnTo>
                    <a:pt x="7837729" y="553529"/>
                  </a:lnTo>
                  <a:lnTo>
                    <a:pt x="7840802" y="561149"/>
                  </a:lnTo>
                  <a:lnTo>
                    <a:pt x="7842859" y="566229"/>
                  </a:lnTo>
                  <a:lnTo>
                    <a:pt x="7842390" y="567499"/>
                  </a:lnTo>
                  <a:lnTo>
                    <a:pt x="7843787" y="568769"/>
                  </a:lnTo>
                  <a:lnTo>
                    <a:pt x="7844714" y="568769"/>
                  </a:lnTo>
                  <a:lnTo>
                    <a:pt x="7846568" y="573849"/>
                  </a:lnTo>
                  <a:lnTo>
                    <a:pt x="7843787" y="563689"/>
                  </a:lnTo>
                  <a:lnTo>
                    <a:pt x="7842390" y="561149"/>
                  </a:lnTo>
                  <a:lnTo>
                    <a:pt x="7850987" y="570039"/>
                  </a:lnTo>
                  <a:lnTo>
                    <a:pt x="7855318" y="575119"/>
                  </a:lnTo>
                  <a:lnTo>
                    <a:pt x="7859573" y="581469"/>
                  </a:lnTo>
                  <a:lnTo>
                    <a:pt x="7860043" y="582739"/>
                  </a:lnTo>
                  <a:lnTo>
                    <a:pt x="7859115" y="585279"/>
                  </a:lnTo>
                  <a:lnTo>
                    <a:pt x="7862824" y="590359"/>
                  </a:lnTo>
                  <a:lnTo>
                    <a:pt x="7869326" y="601789"/>
                  </a:lnTo>
                  <a:lnTo>
                    <a:pt x="7873035" y="608139"/>
                  </a:lnTo>
                  <a:lnTo>
                    <a:pt x="7873962" y="617029"/>
                  </a:lnTo>
                  <a:lnTo>
                    <a:pt x="7878089" y="619569"/>
                  </a:lnTo>
                  <a:lnTo>
                    <a:pt x="7882204" y="620839"/>
                  </a:lnTo>
                  <a:lnTo>
                    <a:pt x="7886509" y="625919"/>
                  </a:lnTo>
                  <a:lnTo>
                    <a:pt x="7890116" y="634809"/>
                  </a:lnTo>
                  <a:lnTo>
                    <a:pt x="7891145" y="637349"/>
                  </a:lnTo>
                  <a:lnTo>
                    <a:pt x="7892783" y="634809"/>
                  </a:lnTo>
                  <a:lnTo>
                    <a:pt x="7895552" y="637349"/>
                  </a:lnTo>
                  <a:lnTo>
                    <a:pt x="7898333" y="641159"/>
                  </a:lnTo>
                  <a:lnTo>
                    <a:pt x="7899971" y="642429"/>
                  </a:lnTo>
                  <a:lnTo>
                    <a:pt x="7899971" y="646239"/>
                  </a:lnTo>
                  <a:lnTo>
                    <a:pt x="7900429" y="647509"/>
                  </a:lnTo>
                  <a:lnTo>
                    <a:pt x="7906156" y="657669"/>
                  </a:lnTo>
                  <a:lnTo>
                    <a:pt x="7912798" y="669099"/>
                  </a:lnTo>
                  <a:lnTo>
                    <a:pt x="7919174" y="679259"/>
                  </a:lnTo>
                  <a:lnTo>
                    <a:pt x="7924114" y="684339"/>
                  </a:lnTo>
                  <a:lnTo>
                    <a:pt x="7923555" y="683069"/>
                  </a:lnTo>
                  <a:lnTo>
                    <a:pt x="7922146" y="676719"/>
                  </a:lnTo>
                  <a:lnTo>
                    <a:pt x="7920190" y="667829"/>
                  </a:lnTo>
                  <a:lnTo>
                    <a:pt x="7918082" y="657669"/>
                  </a:lnTo>
                  <a:lnTo>
                    <a:pt x="7915605" y="646239"/>
                  </a:lnTo>
                  <a:lnTo>
                    <a:pt x="7913256" y="636079"/>
                  </a:lnTo>
                  <a:lnTo>
                    <a:pt x="7911351" y="625919"/>
                  </a:lnTo>
                  <a:lnTo>
                    <a:pt x="7910182" y="619569"/>
                  </a:lnTo>
                  <a:lnTo>
                    <a:pt x="7913751" y="627189"/>
                  </a:lnTo>
                  <a:lnTo>
                    <a:pt x="7914360" y="627189"/>
                  </a:lnTo>
                  <a:lnTo>
                    <a:pt x="7913573" y="623379"/>
                  </a:lnTo>
                  <a:lnTo>
                    <a:pt x="7912963" y="619569"/>
                  </a:lnTo>
                  <a:lnTo>
                    <a:pt x="7912633" y="619353"/>
                  </a:lnTo>
                  <a:lnTo>
                    <a:pt x="7913903" y="619594"/>
                  </a:lnTo>
                  <a:lnTo>
                    <a:pt x="7912036" y="617283"/>
                  </a:lnTo>
                  <a:lnTo>
                    <a:pt x="7911579" y="617753"/>
                  </a:lnTo>
                  <a:lnTo>
                    <a:pt x="7911579" y="618629"/>
                  </a:lnTo>
                  <a:lnTo>
                    <a:pt x="7911109" y="618299"/>
                  </a:lnTo>
                  <a:lnTo>
                    <a:pt x="7906931" y="608139"/>
                  </a:lnTo>
                  <a:lnTo>
                    <a:pt x="7909725" y="606869"/>
                  </a:lnTo>
                  <a:lnTo>
                    <a:pt x="7908671" y="603059"/>
                  </a:lnTo>
                  <a:lnTo>
                    <a:pt x="7906004" y="603059"/>
                  </a:lnTo>
                  <a:lnTo>
                    <a:pt x="7904607" y="600519"/>
                  </a:lnTo>
                  <a:lnTo>
                    <a:pt x="7905077" y="601789"/>
                  </a:lnTo>
                  <a:lnTo>
                    <a:pt x="7902295" y="597979"/>
                  </a:lnTo>
                  <a:lnTo>
                    <a:pt x="7899044" y="590359"/>
                  </a:lnTo>
                  <a:lnTo>
                    <a:pt x="7897177" y="586549"/>
                  </a:lnTo>
                  <a:lnTo>
                    <a:pt x="7899501" y="585279"/>
                  </a:lnTo>
                  <a:lnTo>
                    <a:pt x="7896212" y="581469"/>
                  </a:lnTo>
                  <a:lnTo>
                    <a:pt x="7892656" y="575119"/>
                  </a:lnTo>
                  <a:lnTo>
                    <a:pt x="7888922" y="566229"/>
                  </a:lnTo>
                  <a:lnTo>
                    <a:pt x="7885112" y="556069"/>
                  </a:lnTo>
                  <a:lnTo>
                    <a:pt x="7877911" y="537019"/>
                  </a:lnTo>
                  <a:lnTo>
                    <a:pt x="7874800" y="528129"/>
                  </a:lnTo>
                  <a:lnTo>
                    <a:pt x="7872108" y="523049"/>
                  </a:lnTo>
                  <a:lnTo>
                    <a:pt x="7868386" y="515429"/>
                  </a:lnTo>
                  <a:lnTo>
                    <a:pt x="7845615" y="479869"/>
                  </a:lnTo>
                  <a:lnTo>
                    <a:pt x="7844714" y="476059"/>
                  </a:lnTo>
                  <a:lnTo>
                    <a:pt x="7845209" y="473519"/>
                  </a:lnTo>
                  <a:lnTo>
                    <a:pt x="7843787" y="468439"/>
                  </a:lnTo>
                  <a:lnTo>
                    <a:pt x="7840650" y="463359"/>
                  </a:lnTo>
                  <a:lnTo>
                    <a:pt x="7840243" y="464629"/>
                  </a:lnTo>
                  <a:lnTo>
                    <a:pt x="7840319" y="465899"/>
                  </a:lnTo>
                  <a:lnTo>
                    <a:pt x="7840383" y="467169"/>
                  </a:lnTo>
                  <a:lnTo>
                    <a:pt x="7840459" y="468439"/>
                  </a:lnTo>
                  <a:lnTo>
                    <a:pt x="7839151" y="467169"/>
                  </a:lnTo>
                  <a:lnTo>
                    <a:pt x="7837284" y="463359"/>
                  </a:lnTo>
                  <a:lnTo>
                    <a:pt x="7835900" y="459549"/>
                  </a:lnTo>
                  <a:lnTo>
                    <a:pt x="7834033" y="455739"/>
                  </a:lnTo>
                  <a:lnTo>
                    <a:pt x="7832649" y="451929"/>
                  </a:lnTo>
                  <a:lnTo>
                    <a:pt x="7838681" y="459549"/>
                  </a:lnTo>
                  <a:lnTo>
                    <a:pt x="7836827" y="454469"/>
                  </a:lnTo>
                  <a:lnTo>
                    <a:pt x="7836827" y="452945"/>
                  </a:lnTo>
                  <a:lnTo>
                    <a:pt x="7837754" y="454050"/>
                  </a:lnTo>
                  <a:lnTo>
                    <a:pt x="7839608" y="456361"/>
                  </a:lnTo>
                  <a:lnTo>
                    <a:pt x="7841005" y="457746"/>
                  </a:lnTo>
                  <a:lnTo>
                    <a:pt x="7835900" y="449414"/>
                  </a:lnTo>
                  <a:lnTo>
                    <a:pt x="7835430" y="449414"/>
                  </a:lnTo>
                  <a:lnTo>
                    <a:pt x="7835430" y="450240"/>
                  </a:lnTo>
                  <a:lnTo>
                    <a:pt x="7832649" y="446849"/>
                  </a:lnTo>
                  <a:lnTo>
                    <a:pt x="7828000" y="437959"/>
                  </a:lnTo>
                  <a:lnTo>
                    <a:pt x="7823822" y="431609"/>
                  </a:lnTo>
                  <a:lnTo>
                    <a:pt x="7819174" y="423989"/>
                  </a:lnTo>
                  <a:lnTo>
                    <a:pt x="7814996" y="418909"/>
                  </a:lnTo>
                  <a:lnTo>
                    <a:pt x="7811287" y="418909"/>
                  </a:lnTo>
                  <a:lnTo>
                    <a:pt x="7805521" y="408749"/>
                  </a:lnTo>
                  <a:lnTo>
                    <a:pt x="7802410" y="402399"/>
                  </a:lnTo>
                  <a:lnTo>
                    <a:pt x="7801076" y="399262"/>
                  </a:lnTo>
                  <a:lnTo>
                    <a:pt x="7801076" y="401129"/>
                  </a:lnTo>
                  <a:lnTo>
                    <a:pt x="7800607" y="402399"/>
                  </a:lnTo>
                  <a:lnTo>
                    <a:pt x="7798282" y="396062"/>
                  </a:lnTo>
                  <a:lnTo>
                    <a:pt x="7801076" y="401129"/>
                  </a:lnTo>
                  <a:lnTo>
                    <a:pt x="7801076" y="399262"/>
                  </a:lnTo>
                  <a:lnTo>
                    <a:pt x="7800251" y="397319"/>
                  </a:lnTo>
                  <a:lnTo>
                    <a:pt x="7797355" y="393509"/>
                  </a:lnTo>
                  <a:lnTo>
                    <a:pt x="7797470" y="394779"/>
                  </a:lnTo>
                  <a:lnTo>
                    <a:pt x="7797584" y="396049"/>
                  </a:lnTo>
                  <a:lnTo>
                    <a:pt x="7797711" y="397319"/>
                  </a:lnTo>
                  <a:lnTo>
                    <a:pt x="7797825" y="398589"/>
                  </a:lnTo>
                  <a:lnTo>
                    <a:pt x="7799210" y="402399"/>
                  </a:lnTo>
                  <a:lnTo>
                    <a:pt x="7797825" y="401129"/>
                  </a:lnTo>
                  <a:lnTo>
                    <a:pt x="7795031" y="397319"/>
                  </a:lnTo>
                  <a:lnTo>
                    <a:pt x="7794104" y="397319"/>
                  </a:lnTo>
                  <a:lnTo>
                    <a:pt x="7793647" y="396049"/>
                  </a:lnTo>
                  <a:lnTo>
                    <a:pt x="7792250" y="393509"/>
                  </a:lnTo>
                  <a:lnTo>
                    <a:pt x="7791793" y="393509"/>
                  </a:lnTo>
                  <a:lnTo>
                    <a:pt x="7790853" y="392239"/>
                  </a:lnTo>
                  <a:lnTo>
                    <a:pt x="7790396" y="390969"/>
                  </a:lnTo>
                  <a:lnTo>
                    <a:pt x="7788999" y="388429"/>
                  </a:lnTo>
                  <a:lnTo>
                    <a:pt x="7787145" y="384619"/>
                  </a:lnTo>
                  <a:lnTo>
                    <a:pt x="7786217" y="382079"/>
                  </a:lnTo>
                  <a:lnTo>
                    <a:pt x="7783893" y="376999"/>
                  </a:lnTo>
                  <a:lnTo>
                    <a:pt x="7783423" y="373189"/>
                  </a:lnTo>
                  <a:lnTo>
                    <a:pt x="7778318" y="371919"/>
                  </a:lnTo>
                  <a:lnTo>
                    <a:pt x="7776464" y="371919"/>
                  </a:lnTo>
                  <a:lnTo>
                    <a:pt x="7772755" y="370649"/>
                  </a:lnTo>
                  <a:lnTo>
                    <a:pt x="7769504" y="370649"/>
                  </a:lnTo>
                  <a:lnTo>
                    <a:pt x="7766253" y="369379"/>
                  </a:lnTo>
                  <a:lnTo>
                    <a:pt x="7763459" y="368109"/>
                  </a:lnTo>
                  <a:lnTo>
                    <a:pt x="7759281" y="365569"/>
                  </a:lnTo>
                  <a:lnTo>
                    <a:pt x="7760208" y="364299"/>
                  </a:lnTo>
                  <a:lnTo>
                    <a:pt x="7752791" y="359219"/>
                  </a:lnTo>
                  <a:lnTo>
                    <a:pt x="7752791" y="356679"/>
                  </a:lnTo>
                  <a:lnTo>
                    <a:pt x="7756499" y="359219"/>
                  </a:lnTo>
                  <a:lnTo>
                    <a:pt x="7757427" y="359219"/>
                  </a:lnTo>
                  <a:lnTo>
                    <a:pt x="7751851" y="355409"/>
                  </a:lnTo>
                  <a:lnTo>
                    <a:pt x="7747673" y="350329"/>
                  </a:lnTo>
                  <a:lnTo>
                    <a:pt x="7744422" y="346519"/>
                  </a:lnTo>
                  <a:lnTo>
                    <a:pt x="7741640" y="345249"/>
                  </a:lnTo>
                  <a:lnTo>
                    <a:pt x="7746746" y="346519"/>
                  </a:lnTo>
                  <a:lnTo>
                    <a:pt x="7751851" y="346519"/>
                  </a:lnTo>
                  <a:lnTo>
                    <a:pt x="7754175" y="347789"/>
                  </a:lnTo>
                  <a:lnTo>
                    <a:pt x="7756969" y="347789"/>
                  </a:lnTo>
                  <a:lnTo>
                    <a:pt x="7748143" y="343979"/>
                  </a:lnTo>
                  <a:lnTo>
                    <a:pt x="7727709" y="336359"/>
                  </a:lnTo>
                  <a:lnTo>
                    <a:pt x="7716571" y="332549"/>
                  </a:lnTo>
                  <a:lnTo>
                    <a:pt x="7723721" y="333819"/>
                  </a:lnTo>
                  <a:lnTo>
                    <a:pt x="7748143" y="338899"/>
                  </a:lnTo>
                  <a:lnTo>
                    <a:pt x="7752550" y="340169"/>
                  </a:lnTo>
                  <a:lnTo>
                    <a:pt x="7756969" y="341439"/>
                  </a:lnTo>
                  <a:lnTo>
                    <a:pt x="7763002" y="342709"/>
                  </a:lnTo>
                  <a:lnTo>
                    <a:pt x="7760678" y="340169"/>
                  </a:lnTo>
                  <a:lnTo>
                    <a:pt x="7767180" y="342709"/>
                  </a:lnTo>
                  <a:lnTo>
                    <a:pt x="7769961" y="343979"/>
                  </a:lnTo>
                  <a:lnTo>
                    <a:pt x="7773213" y="345249"/>
                  </a:lnTo>
                  <a:lnTo>
                    <a:pt x="7780642" y="346519"/>
                  </a:lnTo>
                  <a:lnTo>
                    <a:pt x="7784363" y="347789"/>
                  </a:lnTo>
                  <a:lnTo>
                    <a:pt x="7789926" y="347789"/>
                  </a:lnTo>
                  <a:lnTo>
                    <a:pt x="7790396" y="346519"/>
                  </a:lnTo>
                  <a:lnTo>
                    <a:pt x="7788999" y="343979"/>
                  </a:lnTo>
                  <a:lnTo>
                    <a:pt x="7794104" y="345249"/>
                  </a:lnTo>
                  <a:lnTo>
                    <a:pt x="7800607" y="347789"/>
                  </a:lnTo>
                  <a:lnTo>
                    <a:pt x="7803858" y="349059"/>
                  </a:lnTo>
                  <a:lnTo>
                    <a:pt x="7806182" y="350329"/>
                  </a:lnTo>
                  <a:lnTo>
                    <a:pt x="7797355" y="350329"/>
                  </a:lnTo>
                  <a:lnTo>
                    <a:pt x="7802461" y="351599"/>
                  </a:lnTo>
                  <a:lnTo>
                    <a:pt x="7808963" y="354139"/>
                  </a:lnTo>
                  <a:lnTo>
                    <a:pt x="7816761" y="357695"/>
                  </a:lnTo>
                  <a:lnTo>
                    <a:pt x="7816393" y="356679"/>
                  </a:lnTo>
                  <a:lnTo>
                    <a:pt x="7817320" y="356679"/>
                  </a:lnTo>
                  <a:lnTo>
                    <a:pt x="7818247" y="355409"/>
                  </a:lnTo>
                  <a:lnTo>
                    <a:pt x="7821041" y="355409"/>
                  </a:lnTo>
                  <a:lnTo>
                    <a:pt x="7824292" y="354139"/>
                  </a:lnTo>
                  <a:lnTo>
                    <a:pt x="7828470" y="354139"/>
                  </a:lnTo>
                  <a:lnTo>
                    <a:pt x="7833576" y="355409"/>
                  </a:lnTo>
                  <a:lnTo>
                    <a:pt x="7854124" y="355409"/>
                  </a:lnTo>
                  <a:lnTo>
                    <a:pt x="7866088" y="356679"/>
                  </a:lnTo>
                  <a:lnTo>
                    <a:pt x="7880934" y="360489"/>
                  </a:lnTo>
                  <a:lnTo>
                    <a:pt x="7886967" y="355409"/>
                  </a:lnTo>
                  <a:lnTo>
                    <a:pt x="7903680" y="359219"/>
                  </a:lnTo>
                  <a:lnTo>
                    <a:pt x="7903680" y="363029"/>
                  </a:lnTo>
                  <a:lnTo>
                    <a:pt x="7889100" y="361759"/>
                  </a:lnTo>
                  <a:lnTo>
                    <a:pt x="7852423" y="361759"/>
                  </a:lnTo>
                  <a:lnTo>
                    <a:pt x="7834973" y="360489"/>
                  </a:lnTo>
                  <a:lnTo>
                    <a:pt x="7834503" y="361759"/>
                  </a:lnTo>
                  <a:lnTo>
                    <a:pt x="7844129" y="363029"/>
                  </a:lnTo>
                  <a:lnTo>
                    <a:pt x="7869783" y="363029"/>
                  </a:lnTo>
                  <a:lnTo>
                    <a:pt x="7873974" y="364299"/>
                  </a:lnTo>
                  <a:lnTo>
                    <a:pt x="7880464" y="366839"/>
                  </a:lnTo>
                  <a:lnTo>
                    <a:pt x="7882522" y="367639"/>
                  </a:lnTo>
                  <a:lnTo>
                    <a:pt x="7884185" y="366839"/>
                  </a:lnTo>
                  <a:lnTo>
                    <a:pt x="7909090" y="368109"/>
                  </a:lnTo>
                  <a:lnTo>
                    <a:pt x="7926375" y="369379"/>
                  </a:lnTo>
                  <a:lnTo>
                    <a:pt x="7943926" y="371919"/>
                  </a:lnTo>
                  <a:lnTo>
                    <a:pt x="7969618" y="375729"/>
                  </a:lnTo>
                  <a:lnTo>
                    <a:pt x="7965897" y="373189"/>
                  </a:lnTo>
                  <a:lnTo>
                    <a:pt x="7974724" y="373189"/>
                  </a:lnTo>
                  <a:lnTo>
                    <a:pt x="7983537" y="371919"/>
                  </a:lnTo>
                  <a:lnTo>
                    <a:pt x="7985404" y="375729"/>
                  </a:lnTo>
                  <a:lnTo>
                    <a:pt x="8004975" y="376999"/>
                  </a:lnTo>
                  <a:lnTo>
                    <a:pt x="8014462" y="378269"/>
                  </a:lnTo>
                  <a:lnTo>
                    <a:pt x="8023936" y="379539"/>
                  </a:lnTo>
                  <a:lnTo>
                    <a:pt x="8035417" y="382079"/>
                  </a:lnTo>
                  <a:lnTo>
                    <a:pt x="8041157" y="383349"/>
                  </a:lnTo>
                  <a:lnTo>
                    <a:pt x="8055508" y="387159"/>
                  </a:lnTo>
                  <a:lnTo>
                    <a:pt x="8059687" y="383349"/>
                  </a:lnTo>
                  <a:lnTo>
                    <a:pt x="8065262" y="383349"/>
                  </a:lnTo>
                  <a:lnTo>
                    <a:pt x="8073149" y="390969"/>
                  </a:lnTo>
                  <a:lnTo>
                    <a:pt x="8076400" y="384619"/>
                  </a:lnTo>
                  <a:lnTo>
                    <a:pt x="8088477" y="383349"/>
                  </a:lnTo>
                  <a:lnTo>
                    <a:pt x="8095907" y="383349"/>
                  </a:lnTo>
                  <a:lnTo>
                    <a:pt x="8101012" y="382079"/>
                  </a:lnTo>
                  <a:lnTo>
                    <a:pt x="8105191" y="383349"/>
                  </a:lnTo>
                  <a:lnTo>
                    <a:pt x="8109369" y="384619"/>
                  </a:lnTo>
                  <a:lnTo>
                    <a:pt x="8118310" y="384619"/>
                  </a:lnTo>
                  <a:lnTo>
                    <a:pt x="8119643" y="383349"/>
                  </a:lnTo>
                  <a:lnTo>
                    <a:pt x="8130260" y="383349"/>
                  </a:lnTo>
                  <a:lnTo>
                    <a:pt x="8136293" y="387159"/>
                  </a:lnTo>
                  <a:lnTo>
                    <a:pt x="8137690" y="378269"/>
                  </a:lnTo>
                  <a:lnTo>
                    <a:pt x="8146974" y="380809"/>
                  </a:lnTo>
                  <a:lnTo>
                    <a:pt x="8150695" y="383349"/>
                  </a:lnTo>
                  <a:lnTo>
                    <a:pt x="8156270" y="387159"/>
                  </a:lnTo>
                  <a:lnTo>
                    <a:pt x="8167090" y="388429"/>
                  </a:lnTo>
                  <a:lnTo>
                    <a:pt x="8176057" y="387159"/>
                  </a:lnTo>
                  <a:lnTo>
                    <a:pt x="8186496" y="385889"/>
                  </a:lnTo>
                  <a:lnTo>
                    <a:pt x="8201761" y="385889"/>
                  </a:lnTo>
                  <a:lnTo>
                    <a:pt x="8209483" y="388429"/>
                  </a:lnTo>
                  <a:lnTo>
                    <a:pt x="8214068" y="392239"/>
                  </a:lnTo>
                  <a:lnTo>
                    <a:pt x="8214449" y="393509"/>
                  </a:lnTo>
                  <a:lnTo>
                    <a:pt x="8214830" y="394779"/>
                  </a:lnTo>
                  <a:lnTo>
                    <a:pt x="8211058" y="398589"/>
                  </a:lnTo>
                  <a:lnTo>
                    <a:pt x="8219643" y="394779"/>
                  </a:lnTo>
                  <a:lnTo>
                    <a:pt x="8223199" y="393509"/>
                  </a:lnTo>
                  <a:lnTo>
                    <a:pt x="8231022" y="393509"/>
                  </a:lnTo>
                  <a:lnTo>
                    <a:pt x="8233334" y="396049"/>
                  </a:lnTo>
                  <a:lnTo>
                    <a:pt x="8231479" y="396049"/>
                  </a:lnTo>
                  <a:lnTo>
                    <a:pt x="8228228" y="397319"/>
                  </a:lnTo>
                  <a:lnTo>
                    <a:pt x="8235099" y="398589"/>
                  </a:lnTo>
                  <a:lnTo>
                    <a:pt x="8238274" y="398589"/>
                  </a:lnTo>
                  <a:lnTo>
                    <a:pt x="8240827" y="397319"/>
                  </a:lnTo>
                  <a:lnTo>
                    <a:pt x="8245869" y="397319"/>
                  </a:lnTo>
                  <a:lnTo>
                    <a:pt x="8249120" y="392239"/>
                  </a:lnTo>
                  <a:lnTo>
                    <a:pt x="8252371" y="385889"/>
                  </a:lnTo>
                  <a:lnTo>
                    <a:pt x="8255622" y="385889"/>
                  </a:lnTo>
                  <a:lnTo>
                    <a:pt x="8251914" y="384619"/>
                  </a:lnTo>
                  <a:lnTo>
                    <a:pt x="8259813" y="383349"/>
                  </a:lnTo>
                  <a:lnTo>
                    <a:pt x="8276857" y="383349"/>
                  </a:lnTo>
                  <a:lnTo>
                    <a:pt x="8285810" y="384619"/>
                  </a:lnTo>
                  <a:lnTo>
                    <a:pt x="8285340" y="387159"/>
                  </a:lnTo>
                  <a:lnTo>
                    <a:pt x="8296478" y="384619"/>
                  </a:lnTo>
                  <a:lnTo>
                    <a:pt x="8296948" y="387159"/>
                  </a:lnTo>
                  <a:lnTo>
                    <a:pt x="8332317" y="387159"/>
                  </a:lnTo>
                  <a:lnTo>
                    <a:pt x="8339201" y="388429"/>
                  </a:lnTo>
                  <a:lnTo>
                    <a:pt x="8338731" y="389699"/>
                  </a:lnTo>
                  <a:lnTo>
                    <a:pt x="8346872" y="390969"/>
                  </a:lnTo>
                  <a:lnTo>
                    <a:pt x="8355012" y="392239"/>
                  </a:lnTo>
                  <a:lnTo>
                    <a:pt x="8371116" y="392239"/>
                  </a:lnTo>
                  <a:lnTo>
                    <a:pt x="8388096" y="390969"/>
                  </a:lnTo>
                  <a:lnTo>
                    <a:pt x="8406993" y="390969"/>
                  </a:lnTo>
                  <a:lnTo>
                    <a:pt x="8403272" y="393509"/>
                  </a:lnTo>
                  <a:lnTo>
                    <a:pt x="8407590" y="394779"/>
                  </a:lnTo>
                  <a:lnTo>
                    <a:pt x="8411375" y="390969"/>
                  </a:lnTo>
                  <a:lnTo>
                    <a:pt x="8416734" y="390969"/>
                  </a:lnTo>
                  <a:lnTo>
                    <a:pt x="8417204" y="394779"/>
                  </a:lnTo>
                  <a:lnTo>
                    <a:pt x="8426958" y="390969"/>
                  </a:lnTo>
                  <a:lnTo>
                    <a:pt x="8428114" y="393509"/>
                  </a:lnTo>
                  <a:lnTo>
                    <a:pt x="8429269" y="396049"/>
                  </a:lnTo>
                  <a:lnTo>
                    <a:pt x="8435772" y="398589"/>
                  </a:lnTo>
                  <a:lnTo>
                    <a:pt x="8432990" y="393509"/>
                  </a:lnTo>
                  <a:lnTo>
                    <a:pt x="8445055" y="394779"/>
                  </a:lnTo>
                  <a:lnTo>
                    <a:pt x="8451786" y="396049"/>
                  </a:lnTo>
                  <a:lnTo>
                    <a:pt x="8458530" y="397319"/>
                  </a:lnTo>
                  <a:lnTo>
                    <a:pt x="8454352" y="401129"/>
                  </a:lnTo>
                  <a:lnTo>
                    <a:pt x="8452955" y="402399"/>
                  </a:lnTo>
                  <a:lnTo>
                    <a:pt x="8451101" y="404939"/>
                  </a:lnTo>
                  <a:lnTo>
                    <a:pt x="8460384" y="401129"/>
                  </a:lnTo>
                  <a:lnTo>
                    <a:pt x="8462239" y="406209"/>
                  </a:lnTo>
                  <a:lnTo>
                    <a:pt x="8469198" y="401129"/>
                  </a:lnTo>
                  <a:lnTo>
                    <a:pt x="8469084" y="402399"/>
                  </a:lnTo>
                  <a:lnTo>
                    <a:pt x="8468970" y="403669"/>
                  </a:lnTo>
                  <a:lnTo>
                    <a:pt x="8468855" y="404939"/>
                  </a:lnTo>
                  <a:lnTo>
                    <a:pt x="8468741" y="406209"/>
                  </a:lnTo>
                  <a:lnTo>
                    <a:pt x="8480806" y="403669"/>
                  </a:lnTo>
                  <a:lnTo>
                    <a:pt x="8481276" y="404939"/>
                  </a:lnTo>
                  <a:lnTo>
                    <a:pt x="8481746" y="406209"/>
                  </a:lnTo>
                  <a:lnTo>
                    <a:pt x="8478495" y="407479"/>
                  </a:lnTo>
                  <a:lnTo>
                    <a:pt x="8482673" y="407479"/>
                  </a:lnTo>
                  <a:lnTo>
                    <a:pt x="8502637" y="402399"/>
                  </a:lnTo>
                  <a:lnTo>
                    <a:pt x="8490560" y="404939"/>
                  </a:lnTo>
                  <a:lnTo>
                    <a:pt x="8492414" y="398589"/>
                  </a:lnTo>
                  <a:lnTo>
                    <a:pt x="8500453" y="396049"/>
                  </a:lnTo>
                  <a:lnTo>
                    <a:pt x="8506574" y="397319"/>
                  </a:lnTo>
                  <a:lnTo>
                    <a:pt x="8512010" y="398589"/>
                  </a:lnTo>
                  <a:lnTo>
                    <a:pt x="8517953" y="398589"/>
                  </a:lnTo>
                  <a:lnTo>
                    <a:pt x="8511921" y="399859"/>
                  </a:lnTo>
                  <a:lnTo>
                    <a:pt x="8526310" y="398589"/>
                  </a:lnTo>
                  <a:lnTo>
                    <a:pt x="8526462" y="399859"/>
                  </a:lnTo>
                  <a:lnTo>
                    <a:pt x="8526780" y="402399"/>
                  </a:lnTo>
                  <a:lnTo>
                    <a:pt x="8535137" y="403669"/>
                  </a:lnTo>
                  <a:lnTo>
                    <a:pt x="8532812" y="402399"/>
                  </a:lnTo>
                  <a:lnTo>
                    <a:pt x="8529104" y="401129"/>
                  </a:lnTo>
                  <a:lnTo>
                    <a:pt x="8534667" y="399859"/>
                  </a:lnTo>
                  <a:lnTo>
                    <a:pt x="8538845" y="399859"/>
                  </a:lnTo>
                  <a:lnTo>
                    <a:pt x="8536991" y="402399"/>
                  </a:lnTo>
                  <a:lnTo>
                    <a:pt x="8540712" y="402399"/>
                  </a:lnTo>
                  <a:lnTo>
                    <a:pt x="8541639" y="398589"/>
                  </a:lnTo>
                  <a:lnTo>
                    <a:pt x="8552320" y="396049"/>
                  </a:lnTo>
                  <a:lnTo>
                    <a:pt x="8561603" y="398589"/>
                  </a:lnTo>
                  <a:lnTo>
                    <a:pt x="8561133" y="399859"/>
                  </a:lnTo>
                  <a:lnTo>
                    <a:pt x="8562988" y="399859"/>
                  </a:lnTo>
                  <a:lnTo>
                    <a:pt x="8564385" y="398589"/>
                  </a:lnTo>
                  <a:lnTo>
                    <a:pt x="8568563" y="399859"/>
                  </a:lnTo>
                  <a:lnTo>
                    <a:pt x="8565782" y="404939"/>
                  </a:lnTo>
                  <a:lnTo>
                    <a:pt x="8573668" y="399859"/>
                  </a:lnTo>
                  <a:lnTo>
                    <a:pt x="8578774" y="401129"/>
                  </a:lnTo>
                  <a:lnTo>
                    <a:pt x="8586673" y="398589"/>
                  </a:lnTo>
                  <a:lnTo>
                    <a:pt x="8586203" y="401129"/>
                  </a:lnTo>
                  <a:lnTo>
                    <a:pt x="8582952" y="402399"/>
                  </a:lnTo>
                  <a:lnTo>
                    <a:pt x="8622894" y="404939"/>
                  </a:lnTo>
                  <a:lnTo>
                    <a:pt x="8623351" y="408749"/>
                  </a:lnTo>
                  <a:lnTo>
                    <a:pt x="8628507" y="407479"/>
                  </a:lnTo>
                  <a:lnTo>
                    <a:pt x="8641956" y="407479"/>
                  </a:lnTo>
                  <a:lnTo>
                    <a:pt x="8644242" y="404939"/>
                  </a:lnTo>
                  <a:lnTo>
                    <a:pt x="8651951" y="406209"/>
                  </a:lnTo>
                  <a:lnTo>
                    <a:pt x="8661311" y="406209"/>
                  </a:lnTo>
                  <a:lnTo>
                    <a:pt x="8668410" y="407479"/>
                  </a:lnTo>
                  <a:lnTo>
                    <a:pt x="8668702" y="408749"/>
                  </a:lnTo>
                  <a:lnTo>
                    <a:pt x="8669312" y="411289"/>
                  </a:lnTo>
                  <a:lnTo>
                    <a:pt x="8687371" y="411289"/>
                  </a:lnTo>
                  <a:lnTo>
                    <a:pt x="8721026" y="408749"/>
                  </a:lnTo>
                  <a:lnTo>
                    <a:pt x="8742210" y="410019"/>
                  </a:lnTo>
                  <a:lnTo>
                    <a:pt x="8750008" y="412559"/>
                  </a:lnTo>
                  <a:lnTo>
                    <a:pt x="8753907" y="413829"/>
                  </a:lnTo>
                  <a:lnTo>
                    <a:pt x="8770302" y="416369"/>
                  </a:lnTo>
                  <a:lnTo>
                    <a:pt x="8788438" y="416369"/>
                  </a:lnTo>
                  <a:lnTo>
                    <a:pt x="8805354" y="417639"/>
                  </a:lnTo>
                  <a:lnTo>
                    <a:pt x="8913076" y="412559"/>
                  </a:lnTo>
                  <a:lnTo>
                    <a:pt x="8919896" y="413829"/>
                  </a:lnTo>
                  <a:lnTo>
                    <a:pt x="8926703" y="415099"/>
                  </a:lnTo>
                  <a:lnTo>
                    <a:pt x="8933523" y="416369"/>
                  </a:lnTo>
                  <a:lnTo>
                    <a:pt x="8956484" y="416369"/>
                  </a:lnTo>
                  <a:lnTo>
                    <a:pt x="8979802" y="415099"/>
                  </a:lnTo>
                  <a:lnTo>
                    <a:pt x="9001290" y="416369"/>
                  </a:lnTo>
                  <a:lnTo>
                    <a:pt x="9008720" y="413829"/>
                  </a:lnTo>
                  <a:lnTo>
                    <a:pt x="9023528" y="416369"/>
                  </a:lnTo>
                  <a:lnTo>
                    <a:pt x="9059393" y="416369"/>
                  </a:lnTo>
                  <a:lnTo>
                    <a:pt x="9078366" y="418909"/>
                  </a:lnTo>
                  <a:lnTo>
                    <a:pt x="9084399" y="417639"/>
                  </a:lnTo>
                  <a:lnTo>
                    <a:pt x="9088120" y="417639"/>
                  </a:lnTo>
                  <a:lnTo>
                    <a:pt x="9086266" y="416369"/>
                  </a:lnTo>
                  <a:lnTo>
                    <a:pt x="9085796" y="413829"/>
                  </a:lnTo>
                  <a:lnTo>
                    <a:pt x="9092768" y="416369"/>
                  </a:lnTo>
                  <a:lnTo>
                    <a:pt x="9107157" y="413829"/>
                  </a:lnTo>
                  <a:lnTo>
                    <a:pt x="9106929" y="415099"/>
                  </a:lnTo>
                  <a:lnTo>
                    <a:pt x="9106687" y="416369"/>
                  </a:lnTo>
                  <a:lnTo>
                    <a:pt x="9106230" y="418909"/>
                  </a:lnTo>
                  <a:lnTo>
                    <a:pt x="9104363" y="418909"/>
                  </a:lnTo>
                  <a:lnTo>
                    <a:pt x="9107437" y="420179"/>
                  </a:lnTo>
                  <a:lnTo>
                    <a:pt x="9125585" y="420179"/>
                  </a:lnTo>
                  <a:lnTo>
                    <a:pt x="9133624" y="421449"/>
                  </a:lnTo>
                  <a:lnTo>
                    <a:pt x="9129446" y="416369"/>
                  </a:lnTo>
                  <a:lnTo>
                    <a:pt x="9141384" y="417499"/>
                  </a:lnTo>
                  <a:lnTo>
                    <a:pt x="9177934" y="415099"/>
                  </a:lnTo>
                  <a:lnTo>
                    <a:pt x="9242031" y="417639"/>
                  </a:lnTo>
                  <a:lnTo>
                    <a:pt x="9278950" y="415099"/>
                  </a:lnTo>
                  <a:lnTo>
                    <a:pt x="9277502" y="416369"/>
                  </a:lnTo>
                  <a:lnTo>
                    <a:pt x="9287307" y="416369"/>
                  </a:lnTo>
                  <a:lnTo>
                    <a:pt x="9290558" y="417639"/>
                  </a:lnTo>
                  <a:lnTo>
                    <a:pt x="9300604" y="421449"/>
                  </a:lnTo>
                  <a:lnTo>
                    <a:pt x="9310002" y="420179"/>
                  </a:lnTo>
                  <a:lnTo>
                    <a:pt x="9327693" y="415099"/>
                  </a:lnTo>
                  <a:lnTo>
                    <a:pt x="9327693" y="413829"/>
                  </a:lnTo>
                  <a:lnTo>
                    <a:pt x="9328633" y="413829"/>
                  </a:lnTo>
                  <a:lnTo>
                    <a:pt x="9348597" y="415099"/>
                  </a:lnTo>
                  <a:lnTo>
                    <a:pt x="9347086" y="416369"/>
                  </a:lnTo>
                  <a:lnTo>
                    <a:pt x="9345816" y="417499"/>
                  </a:lnTo>
                  <a:lnTo>
                    <a:pt x="9349867" y="415099"/>
                  </a:lnTo>
                  <a:lnTo>
                    <a:pt x="9354337" y="413829"/>
                  </a:lnTo>
                  <a:lnTo>
                    <a:pt x="9351848" y="415099"/>
                  </a:lnTo>
                  <a:lnTo>
                    <a:pt x="9372498" y="416369"/>
                  </a:lnTo>
                  <a:lnTo>
                    <a:pt x="9393161" y="417639"/>
                  </a:lnTo>
                  <a:lnTo>
                    <a:pt x="9484843" y="417639"/>
                  </a:lnTo>
                  <a:lnTo>
                    <a:pt x="9530601" y="418909"/>
                  </a:lnTo>
                  <a:lnTo>
                    <a:pt x="9527819" y="416369"/>
                  </a:lnTo>
                  <a:lnTo>
                    <a:pt x="9563468" y="416369"/>
                  </a:lnTo>
                  <a:lnTo>
                    <a:pt x="9573311" y="417639"/>
                  </a:lnTo>
                  <a:lnTo>
                    <a:pt x="9582201" y="418909"/>
                  </a:lnTo>
                  <a:lnTo>
                    <a:pt x="9590786" y="416369"/>
                  </a:lnTo>
                  <a:lnTo>
                    <a:pt x="9598063" y="415099"/>
                  </a:lnTo>
                  <a:lnTo>
                    <a:pt x="9603029" y="412559"/>
                  </a:lnTo>
                  <a:lnTo>
                    <a:pt x="9612071" y="412559"/>
                  </a:lnTo>
                  <a:lnTo>
                    <a:pt x="9619336" y="413829"/>
                  </a:lnTo>
                  <a:lnTo>
                    <a:pt x="9623209" y="415099"/>
                  </a:lnTo>
                  <a:lnTo>
                    <a:pt x="9622066" y="416369"/>
                  </a:lnTo>
                  <a:lnTo>
                    <a:pt x="9642907" y="411289"/>
                  </a:lnTo>
                  <a:lnTo>
                    <a:pt x="9654388" y="410019"/>
                  </a:lnTo>
                  <a:lnTo>
                    <a:pt x="9667570" y="410019"/>
                  </a:lnTo>
                  <a:lnTo>
                    <a:pt x="9671736" y="411289"/>
                  </a:lnTo>
                  <a:lnTo>
                    <a:pt x="9678657" y="411289"/>
                  </a:lnTo>
                  <a:lnTo>
                    <a:pt x="9687217" y="410019"/>
                  </a:lnTo>
                  <a:lnTo>
                    <a:pt x="9696361" y="407479"/>
                  </a:lnTo>
                  <a:lnTo>
                    <a:pt x="9705353" y="406209"/>
                  </a:lnTo>
                  <a:lnTo>
                    <a:pt x="9713011" y="404939"/>
                  </a:lnTo>
                  <a:lnTo>
                    <a:pt x="9718484" y="404939"/>
                  </a:lnTo>
                  <a:lnTo>
                    <a:pt x="9720961" y="406209"/>
                  </a:lnTo>
                  <a:lnTo>
                    <a:pt x="9733496" y="406209"/>
                  </a:lnTo>
                  <a:lnTo>
                    <a:pt x="9739541" y="403669"/>
                  </a:lnTo>
                  <a:lnTo>
                    <a:pt x="9742780" y="403669"/>
                  </a:lnTo>
                  <a:lnTo>
                    <a:pt x="9745574" y="402399"/>
                  </a:lnTo>
                  <a:lnTo>
                    <a:pt x="9748825" y="402399"/>
                  </a:lnTo>
                  <a:lnTo>
                    <a:pt x="9751606" y="401129"/>
                  </a:lnTo>
                  <a:lnTo>
                    <a:pt x="9758108" y="399859"/>
                  </a:lnTo>
                  <a:lnTo>
                    <a:pt x="9776447" y="394779"/>
                  </a:lnTo>
                  <a:lnTo>
                    <a:pt x="9786048" y="392239"/>
                  </a:lnTo>
                  <a:lnTo>
                    <a:pt x="9796183" y="389699"/>
                  </a:lnTo>
                  <a:lnTo>
                    <a:pt x="9795954" y="390334"/>
                  </a:lnTo>
                  <a:lnTo>
                    <a:pt x="9798037" y="388429"/>
                  </a:lnTo>
                  <a:lnTo>
                    <a:pt x="9802685" y="385889"/>
                  </a:lnTo>
                  <a:lnTo>
                    <a:pt x="9820783" y="369379"/>
                  </a:lnTo>
                  <a:lnTo>
                    <a:pt x="9823107" y="366839"/>
                  </a:lnTo>
                  <a:lnTo>
                    <a:pt x="9825901" y="364299"/>
                  </a:lnTo>
                  <a:lnTo>
                    <a:pt x="9830537" y="360489"/>
                  </a:lnTo>
                  <a:lnTo>
                    <a:pt x="9832391" y="357949"/>
                  </a:lnTo>
                  <a:lnTo>
                    <a:pt x="9835642" y="352869"/>
                  </a:lnTo>
                  <a:lnTo>
                    <a:pt x="9837966" y="350329"/>
                  </a:lnTo>
                  <a:close/>
                </a:path>
              </a:pathLst>
            </a:custGeom>
            <a:solidFill>
              <a:srgbClr val="000000"/>
            </a:solidFill>
          </p:spPr>
          <p:txBody>
            <a:bodyPr wrap="square" lIns="0" tIns="0" rIns="0" bIns="0" rtlCol="0"/>
            <a:lstStyle/>
            <a:p>
              <a:endParaRPr/>
            </a:p>
          </p:txBody>
        </p:sp>
      </p:grpSp>
      <p:pic>
        <p:nvPicPr>
          <p:cNvPr id="8" name="object 8"/>
          <p:cNvPicPr/>
          <p:nvPr/>
        </p:nvPicPr>
        <p:blipFill>
          <a:blip r:embed="rId4" cstate="print"/>
          <a:stretch>
            <a:fillRect/>
          </a:stretch>
        </p:blipFill>
        <p:spPr>
          <a:xfrm>
            <a:off x="13499624" y="1773037"/>
            <a:ext cx="4167213" cy="3038474"/>
          </a:xfrm>
          <a:prstGeom prst="rect">
            <a:avLst/>
          </a:prstGeom>
        </p:spPr>
      </p:pic>
      <p:sp>
        <p:nvSpPr>
          <p:cNvPr id="9" name="object 9"/>
          <p:cNvSpPr txBox="1"/>
          <p:nvPr/>
        </p:nvSpPr>
        <p:spPr>
          <a:xfrm>
            <a:off x="14560509" y="2783062"/>
            <a:ext cx="1663064" cy="1089660"/>
          </a:xfrm>
          <a:prstGeom prst="rect">
            <a:avLst/>
          </a:prstGeom>
        </p:spPr>
        <p:txBody>
          <a:bodyPr vert="horz" wrap="square" lIns="0" tIns="12700" rIns="0" bIns="0" rtlCol="0">
            <a:spAutoFit/>
          </a:bodyPr>
          <a:lstStyle/>
          <a:p>
            <a:pPr marL="12700" marR="5080" indent="329565">
              <a:lnSpc>
                <a:spcPct val="116300"/>
              </a:lnSpc>
              <a:spcBef>
                <a:spcPts val="100"/>
              </a:spcBef>
            </a:pPr>
            <a:r>
              <a:rPr sz="3000" b="1" spc="-20" dirty="0">
                <a:solidFill>
                  <a:srgbClr val="E7181F"/>
                </a:solidFill>
                <a:latin typeface="Times New Roman"/>
                <a:cs typeface="Times New Roman"/>
              </a:rPr>
              <a:t>ETCD </a:t>
            </a:r>
            <a:r>
              <a:rPr sz="3000" b="1" spc="-195" dirty="0">
                <a:solidFill>
                  <a:srgbClr val="E7181F"/>
                </a:solidFill>
                <a:latin typeface="Times New Roman"/>
                <a:cs typeface="Times New Roman"/>
              </a:rPr>
              <a:t>CLUSTER</a:t>
            </a:r>
            <a:endParaRPr sz="3000">
              <a:latin typeface="Times New Roman"/>
              <a:cs typeface="Times New Roman"/>
            </a:endParaRPr>
          </a:p>
        </p:txBody>
      </p:sp>
      <p:grpSp>
        <p:nvGrpSpPr>
          <p:cNvPr id="10" name="object 10"/>
          <p:cNvGrpSpPr/>
          <p:nvPr/>
        </p:nvGrpSpPr>
        <p:grpSpPr>
          <a:xfrm>
            <a:off x="6827604" y="6221958"/>
            <a:ext cx="1920239" cy="342900"/>
            <a:chOff x="6827604" y="6221958"/>
            <a:chExt cx="1920239" cy="342900"/>
          </a:xfrm>
        </p:grpSpPr>
        <p:sp>
          <p:nvSpPr>
            <p:cNvPr id="11" name="object 11"/>
            <p:cNvSpPr/>
            <p:nvPr/>
          </p:nvSpPr>
          <p:spPr>
            <a:xfrm>
              <a:off x="6827604" y="6393408"/>
              <a:ext cx="1877695" cy="0"/>
            </a:xfrm>
            <a:custGeom>
              <a:avLst/>
              <a:gdLst/>
              <a:ahLst/>
              <a:cxnLst/>
              <a:rect l="l" t="t" r="r" b="b"/>
              <a:pathLst>
                <a:path w="1877695">
                  <a:moveTo>
                    <a:pt x="0" y="0"/>
                  </a:moveTo>
                  <a:lnTo>
                    <a:pt x="1877377" y="0"/>
                  </a:lnTo>
                </a:path>
              </a:pathLst>
            </a:custGeom>
            <a:ln w="85724">
              <a:solidFill>
                <a:srgbClr val="8B3420"/>
              </a:solidFill>
            </a:ln>
          </p:spPr>
          <p:txBody>
            <a:bodyPr wrap="square" lIns="0" tIns="0" rIns="0" bIns="0" rtlCol="0"/>
            <a:lstStyle/>
            <a:p>
              <a:endParaRPr/>
            </a:p>
          </p:txBody>
        </p:sp>
        <p:sp>
          <p:nvSpPr>
            <p:cNvPr id="12" name="object 12"/>
            <p:cNvSpPr/>
            <p:nvPr/>
          </p:nvSpPr>
          <p:spPr>
            <a:xfrm>
              <a:off x="8533531" y="6264820"/>
              <a:ext cx="171450" cy="257175"/>
            </a:xfrm>
            <a:custGeom>
              <a:avLst/>
              <a:gdLst/>
              <a:ahLst/>
              <a:cxnLst/>
              <a:rect l="l" t="t" r="r" b="b"/>
              <a:pathLst>
                <a:path w="171450" h="257175">
                  <a:moveTo>
                    <a:pt x="0" y="0"/>
                  </a:moveTo>
                  <a:lnTo>
                    <a:pt x="171449" y="128587"/>
                  </a:lnTo>
                  <a:lnTo>
                    <a:pt x="0" y="257174"/>
                  </a:lnTo>
                </a:path>
              </a:pathLst>
            </a:custGeom>
            <a:ln w="85724">
              <a:solidFill>
                <a:srgbClr val="8B3420"/>
              </a:solidFill>
            </a:ln>
          </p:spPr>
          <p:txBody>
            <a:bodyPr wrap="square" lIns="0" tIns="0" rIns="0" bIns="0" rtlCol="0"/>
            <a:lstStyle/>
            <a:p>
              <a:endParaRPr/>
            </a:p>
          </p:txBody>
        </p:sp>
      </p:grpSp>
      <p:grpSp>
        <p:nvGrpSpPr>
          <p:cNvPr id="13" name="object 13"/>
          <p:cNvGrpSpPr/>
          <p:nvPr/>
        </p:nvGrpSpPr>
        <p:grpSpPr>
          <a:xfrm>
            <a:off x="12317053" y="6221958"/>
            <a:ext cx="1920239" cy="342900"/>
            <a:chOff x="12317053" y="6221958"/>
            <a:chExt cx="1920239" cy="342900"/>
          </a:xfrm>
        </p:grpSpPr>
        <p:sp>
          <p:nvSpPr>
            <p:cNvPr id="14" name="object 14"/>
            <p:cNvSpPr/>
            <p:nvPr/>
          </p:nvSpPr>
          <p:spPr>
            <a:xfrm>
              <a:off x="12317053" y="6393408"/>
              <a:ext cx="1877695" cy="0"/>
            </a:xfrm>
            <a:custGeom>
              <a:avLst/>
              <a:gdLst/>
              <a:ahLst/>
              <a:cxnLst/>
              <a:rect l="l" t="t" r="r" b="b"/>
              <a:pathLst>
                <a:path w="1877694">
                  <a:moveTo>
                    <a:pt x="0" y="0"/>
                  </a:moveTo>
                  <a:lnTo>
                    <a:pt x="1877377" y="0"/>
                  </a:lnTo>
                </a:path>
              </a:pathLst>
            </a:custGeom>
            <a:ln w="85724">
              <a:solidFill>
                <a:srgbClr val="8B3420"/>
              </a:solidFill>
            </a:ln>
          </p:spPr>
          <p:txBody>
            <a:bodyPr wrap="square" lIns="0" tIns="0" rIns="0" bIns="0" rtlCol="0"/>
            <a:lstStyle/>
            <a:p>
              <a:endParaRPr/>
            </a:p>
          </p:txBody>
        </p:sp>
        <p:sp>
          <p:nvSpPr>
            <p:cNvPr id="15" name="object 15"/>
            <p:cNvSpPr/>
            <p:nvPr/>
          </p:nvSpPr>
          <p:spPr>
            <a:xfrm>
              <a:off x="14022981" y="6264820"/>
              <a:ext cx="171450" cy="257175"/>
            </a:xfrm>
            <a:custGeom>
              <a:avLst/>
              <a:gdLst/>
              <a:ahLst/>
              <a:cxnLst/>
              <a:rect l="l" t="t" r="r" b="b"/>
              <a:pathLst>
                <a:path w="171450" h="257175">
                  <a:moveTo>
                    <a:pt x="0" y="0"/>
                  </a:moveTo>
                  <a:lnTo>
                    <a:pt x="171449" y="128587"/>
                  </a:lnTo>
                  <a:lnTo>
                    <a:pt x="0" y="257174"/>
                  </a:lnTo>
                </a:path>
              </a:pathLst>
            </a:custGeom>
            <a:ln w="85724">
              <a:solidFill>
                <a:srgbClr val="8B3420"/>
              </a:solidFill>
            </a:ln>
          </p:spPr>
          <p:txBody>
            <a:bodyPr wrap="square" lIns="0" tIns="0" rIns="0" bIns="0" rtlCol="0"/>
            <a:lstStyle/>
            <a:p>
              <a:endParaRPr/>
            </a:p>
          </p:txBody>
        </p:sp>
      </p:grpSp>
      <p:sp>
        <p:nvSpPr>
          <p:cNvPr id="16" name="object 16"/>
          <p:cNvSpPr txBox="1">
            <a:spLocks noGrp="1"/>
          </p:cNvSpPr>
          <p:nvPr>
            <p:ph type="title"/>
          </p:nvPr>
        </p:nvSpPr>
        <p:spPr>
          <a:prstGeom prst="rect">
            <a:avLst/>
          </a:prstGeom>
        </p:spPr>
        <p:txBody>
          <a:bodyPr vert="horz" wrap="square" lIns="0" tIns="201556" rIns="0" bIns="0" rtlCol="0">
            <a:spAutoFit/>
          </a:bodyPr>
          <a:lstStyle/>
          <a:p>
            <a:pPr marL="213360">
              <a:lnSpc>
                <a:spcPct val="100000"/>
              </a:lnSpc>
              <a:spcBef>
                <a:spcPts val="100"/>
              </a:spcBef>
            </a:pPr>
            <a:r>
              <a:rPr sz="3700" b="0" spc="-800" dirty="0">
                <a:solidFill>
                  <a:srgbClr val="FF904D"/>
                </a:solidFill>
                <a:latin typeface="Arial MT"/>
                <a:cs typeface="Arial MT"/>
              </a:rPr>
              <a:t>HOW</a:t>
            </a:r>
            <a:r>
              <a:rPr sz="3700" b="0" dirty="0">
                <a:solidFill>
                  <a:srgbClr val="FF904D"/>
                </a:solidFill>
                <a:latin typeface="Arial MT"/>
                <a:cs typeface="Arial MT"/>
              </a:rPr>
              <a:t> </a:t>
            </a:r>
            <a:r>
              <a:rPr sz="3700" b="0" spc="-390" dirty="0">
                <a:solidFill>
                  <a:srgbClr val="FF904D"/>
                </a:solidFill>
                <a:latin typeface="Arial MT"/>
                <a:cs typeface="Arial MT"/>
              </a:rPr>
              <a:t>IT</a:t>
            </a:r>
            <a:r>
              <a:rPr sz="3700" b="0" dirty="0">
                <a:solidFill>
                  <a:srgbClr val="FF904D"/>
                </a:solidFill>
                <a:latin typeface="Arial MT"/>
                <a:cs typeface="Arial MT"/>
              </a:rPr>
              <a:t> </a:t>
            </a:r>
            <a:r>
              <a:rPr sz="3700" b="0" spc="-650" dirty="0">
                <a:solidFill>
                  <a:srgbClr val="FF904D"/>
                </a:solidFill>
                <a:latin typeface="Arial MT"/>
                <a:cs typeface="Arial MT"/>
              </a:rPr>
              <a:t>WORKS:</a:t>
            </a:r>
            <a:endParaRPr sz="3700">
              <a:latin typeface="Arial MT"/>
              <a:cs typeface="Arial MT"/>
            </a:endParaRPr>
          </a:p>
        </p:txBody>
      </p:sp>
      <p:sp>
        <p:nvSpPr>
          <p:cNvPr id="17" name="object 17"/>
          <p:cNvSpPr txBox="1"/>
          <p:nvPr/>
        </p:nvSpPr>
        <p:spPr>
          <a:xfrm>
            <a:off x="3714477" y="2401863"/>
            <a:ext cx="1478280" cy="483234"/>
          </a:xfrm>
          <a:prstGeom prst="rect">
            <a:avLst/>
          </a:prstGeom>
        </p:spPr>
        <p:txBody>
          <a:bodyPr vert="horz" wrap="square" lIns="0" tIns="12700" rIns="0" bIns="0" rtlCol="0">
            <a:spAutoFit/>
          </a:bodyPr>
          <a:lstStyle/>
          <a:p>
            <a:pPr marL="12700">
              <a:lnSpc>
                <a:spcPct val="100000"/>
              </a:lnSpc>
              <a:spcBef>
                <a:spcPts val="100"/>
              </a:spcBef>
            </a:pPr>
            <a:r>
              <a:rPr sz="3000" b="1" dirty="0">
                <a:solidFill>
                  <a:srgbClr val="E7181F"/>
                </a:solidFill>
                <a:latin typeface="Times New Roman"/>
                <a:cs typeface="Times New Roman"/>
              </a:rPr>
              <a:t>get</a:t>
            </a:r>
            <a:r>
              <a:rPr sz="3000" b="1" spc="110" dirty="0">
                <a:solidFill>
                  <a:srgbClr val="E7181F"/>
                </a:solidFill>
                <a:latin typeface="Times New Roman"/>
                <a:cs typeface="Times New Roman"/>
              </a:rPr>
              <a:t> </a:t>
            </a:r>
            <a:r>
              <a:rPr sz="3000" b="1" spc="150" dirty="0">
                <a:solidFill>
                  <a:srgbClr val="E7181F"/>
                </a:solidFill>
                <a:latin typeface="Times New Roman"/>
                <a:cs typeface="Times New Roman"/>
              </a:rPr>
              <a:t>pods</a:t>
            </a:r>
            <a:endParaRPr sz="3000" dirty="0">
              <a:latin typeface="Times New Roman"/>
              <a:cs typeface="Times New Roman"/>
            </a:endParaRPr>
          </a:p>
        </p:txBody>
      </p:sp>
      <p:sp>
        <p:nvSpPr>
          <p:cNvPr id="18" name="object 18"/>
          <p:cNvSpPr txBox="1"/>
          <p:nvPr/>
        </p:nvSpPr>
        <p:spPr>
          <a:xfrm>
            <a:off x="3428727" y="6104292"/>
            <a:ext cx="3140710" cy="483234"/>
          </a:xfrm>
          <a:prstGeom prst="rect">
            <a:avLst/>
          </a:prstGeom>
        </p:spPr>
        <p:txBody>
          <a:bodyPr vert="horz" wrap="square" lIns="0" tIns="12700" rIns="0" bIns="0" rtlCol="0">
            <a:spAutoFit/>
          </a:bodyPr>
          <a:lstStyle/>
          <a:p>
            <a:pPr marL="12700">
              <a:lnSpc>
                <a:spcPct val="100000"/>
              </a:lnSpc>
              <a:spcBef>
                <a:spcPts val="100"/>
              </a:spcBef>
            </a:pPr>
            <a:r>
              <a:rPr sz="3000" b="1" spc="95" dirty="0">
                <a:solidFill>
                  <a:srgbClr val="5270FF"/>
                </a:solidFill>
                <a:latin typeface="Times New Roman"/>
                <a:cs typeface="Times New Roman"/>
              </a:rPr>
              <a:t>Authenticate</a:t>
            </a:r>
            <a:r>
              <a:rPr sz="3000" b="1" spc="20" dirty="0">
                <a:solidFill>
                  <a:srgbClr val="5270FF"/>
                </a:solidFill>
                <a:latin typeface="Times New Roman"/>
                <a:cs typeface="Times New Roman"/>
              </a:rPr>
              <a:t> </a:t>
            </a:r>
            <a:r>
              <a:rPr sz="3000" b="1" spc="90" dirty="0">
                <a:solidFill>
                  <a:srgbClr val="5270FF"/>
                </a:solidFill>
                <a:latin typeface="Times New Roman"/>
                <a:cs typeface="Times New Roman"/>
              </a:rPr>
              <a:t>user</a:t>
            </a:r>
            <a:endParaRPr sz="3000">
              <a:latin typeface="Times New Roman"/>
              <a:cs typeface="Times New Roman"/>
            </a:endParaRPr>
          </a:p>
        </p:txBody>
      </p:sp>
      <p:sp>
        <p:nvSpPr>
          <p:cNvPr id="19" name="object 19"/>
          <p:cNvSpPr txBox="1"/>
          <p:nvPr/>
        </p:nvSpPr>
        <p:spPr>
          <a:xfrm>
            <a:off x="9131300" y="6104292"/>
            <a:ext cx="2981960" cy="483234"/>
          </a:xfrm>
          <a:prstGeom prst="rect">
            <a:avLst/>
          </a:prstGeom>
        </p:spPr>
        <p:txBody>
          <a:bodyPr vert="horz" wrap="square" lIns="0" tIns="12700" rIns="0" bIns="0" rtlCol="0">
            <a:spAutoFit/>
          </a:bodyPr>
          <a:lstStyle/>
          <a:p>
            <a:pPr marL="12700">
              <a:lnSpc>
                <a:spcPct val="100000"/>
              </a:lnSpc>
              <a:spcBef>
                <a:spcPts val="100"/>
              </a:spcBef>
            </a:pPr>
            <a:r>
              <a:rPr sz="3000" b="1" spc="70" dirty="0">
                <a:solidFill>
                  <a:srgbClr val="5270FF"/>
                </a:solidFill>
                <a:latin typeface="Times New Roman"/>
                <a:cs typeface="Times New Roman"/>
              </a:rPr>
              <a:t>Validate</a:t>
            </a:r>
            <a:r>
              <a:rPr sz="3000" b="1" spc="-30" dirty="0">
                <a:solidFill>
                  <a:srgbClr val="5270FF"/>
                </a:solidFill>
                <a:latin typeface="Times New Roman"/>
                <a:cs typeface="Times New Roman"/>
              </a:rPr>
              <a:t> </a:t>
            </a:r>
            <a:r>
              <a:rPr sz="3000" b="1" spc="80" dirty="0">
                <a:solidFill>
                  <a:srgbClr val="5270FF"/>
                </a:solidFill>
                <a:latin typeface="Times New Roman"/>
                <a:cs typeface="Times New Roman"/>
              </a:rPr>
              <a:t>Request</a:t>
            </a:r>
            <a:endParaRPr sz="3000">
              <a:latin typeface="Times New Roman"/>
              <a:cs typeface="Times New Roman"/>
            </a:endParaRPr>
          </a:p>
        </p:txBody>
      </p:sp>
      <p:sp>
        <p:nvSpPr>
          <p:cNvPr id="20" name="object 20"/>
          <p:cNvSpPr txBox="1"/>
          <p:nvPr/>
        </p:nvSpPr>
        <p:spPr>
          <a:xfrm>
            <a:off x="14461357" y="6104292"/>
            <a:ext cx="2389505" cy="483234"/>
          </a:xfrm>
          <a:prstGeom prst="rect">
            <a:avLst/>
          </a:prstGeom>
        </p:spPr>
        <p:txBody>
          <a:bodyPr vert="horz" wrap="square" lIns="0" tIns="12700" rIns="0" bIns="0" rtlCol="0">
            <a:spAutoFit/>
          </a:bodyPr>
          <a:lstStyle/>
          <a:p>
            <a:pPr marL="12700">
              <a:lnSpc>
                <a:spcPct val="100000"/>
              </a:lnSpc>
              <a:spcBef>
                <a:spcPts val="100"/>
              </a:spcBef>
            </a:pPr>
            <a:r>
              <a:rPr sz="3000" b="1" spc="70" dirty="0">
                <a:solidFill>
                  <a:srgbClr val="5270FF"/>
                </a:solidFill>
                <a:latin typeface="Times New Roman"/>
                <a:cs typeface="Times New Roman"/>
              </a:rPr>
              <a:t>Retrieve</a:t>
            </a:r>
            <a:r>
              <a:rPr sz="3000" b="1" spc="-10" dirty="0">
                <a:solidFill>
                  <a:srgbClr val="5270FF"/>
                </a:solidFill>
                <a:latin typeface="Times New Roman"/>
                <a:cs typeface="Times New Roman"/>
              </a:rPr>
              <a:t> </a:t>
            </a:r>
            <a:r>
              <a:rPr sz="3000" b="1" spc="-20" dirty="0">
                <a:solidFill>
                  <a:srgbClr val="5270FF"/>
                </a:solidFill>
                <a:latin typeface="Times New Roman"/>
                <a:cs typeface="Times New Roman"/>
              </a:rPr>
              <a:t>Data</a:t>
            </a:r>
            <a:endParaRPr sz="3000">
              <a:latin typeface="Times New Roman"/>
              <a:cs typeface="Times New Roman"/>
            </a:endParaRPr>
          </a:p>
        </p:txBody>
      </p:sp>
      <p:sp>
        <p:nvSpPr>
          <p:cNvPr id="21" name="object 21"/>
          <p:cNvSpPr/>
          <p:nvPr/>
        </p:nvSpPr>
        <p:spPr>
          <a:xfrm>
            <a:off x="4371746" y="7051128"/>
            <a:ext cx="1088390" cy="715010"/>
          </a:xfrm>
          <a:custGeom>
            <a:avLst/>
            <a:gdLst/>
            <a:ahLst/>
            <a:cxnLst/>
            <a:rect l="l" t="t" r="r" b="b"/>
            <a:pathLst>
              <a:path w="1088389" h="715009">
                <a:moveTo>
                  <a:pt x="1088224" y="377190"/>
                </a:moveTo>
                <a:lnTo>
                  <a:pt x="1088148" y="368300"/>
                </a:lnTo>
                <a:lnTo>
                  <a:pt x="1087755" y="360680"/>
                </a:lnTo>
                <a:lnTo>
                  <a:pt x="1087716" y="359410"/>
                </a:lnTo>
                <a:lnTo>
                  <a:pt x="1087589" y="355600"/>
                </a:lnTo>
                <a:lnTo>
                  <a:pt x="1087513" y="353060"/>
                </a:lnTo>
                <a:lnTo>
                  <a:pt x="1087424" y="351790"/>
                </a:lnTo>
                <a:lnTo>
                  <a:pt x="1087107" y="346710"/>
                </a:lnTo>
                <a:lnTo>
                  <a:pt x="1086129" y="339090"/>
                </a:lnTo>
                <a:lnTo>
                  <a:pt x="1085011" y="332740"/>
                </a:lnTo>
                <a:lnTo>
                  <a:pt x="1084122" y="326390"/>
                </a:lnTo>
                <a:lnTo>
                  <a:pt x="1084122" y="325120"/>
                </a:lnTo>
                <a:lnTo>
                  <a:pt x="1083271" y="323850"/>
                </a:lnTo>
                <a:lnTo>
                  <a:pt x="1083271" y="322580"/>
                </a:lnTo>
                <a:lnTo>
                  <a:pt x="1080719" y="318770"/>
                </a:lnTo>
                <a:lnTo>
                  <a:pt x="1080719" y="307340"/>
                </a:lnTo>
                <a:lnTo>
                  <a:pt x="1079881" y="304800"/>
                </a:lnTo>
                <a:lnTo>
                  <a:pt x="1078179" y="300990"/>
                </a:lnTo>
                <a:lnTo>
                  <a:pt x="1075639" y="297180"/>
                </a:lnTo>
                <a:lnTo>
                  <a:pt x="1075639" y="292100"/>
                </a:lnTo>
                <a:lnTo>
                  <a:pt x="1072235" y="287020"/>
                </a:lnTo>
                <a:lnTo>
                  <a:pt x="1069695" y="279400"/>
                </a:lnTo>
                <a:lnTo>
                  <a:pt x="1056970" y="256540"/>
                </a:lnTo>
                <a:lnTo>
                  <a:pt x="1054430" y="251460"/>
                </a:lnTo>
                <a:lnTo>
                  <a:pt x="1051026" y="247650"/>
                </a:lnTo>
                <a:lnTo>
                  <a:pt x="1048486" y="241300"/>
                </a:lnTo>
                <a:lnTo>
                  <a:pt x="1046784" y="237490"/>
                </a:lnTo>
                <a:lnTo>
                  <a:pt x="1038301" y="224790"/>
                </a:lnTo>
                <a:lnTo>
                  <a:pt x="1032370" y="219710"/>
                </a:lnTo>
                <a:lnTo>
                  <a:pt x="1030668" y="213360"/>
                </a:lnTo>
                <a:lnTo>
                  <a:pt x="1030668" y="212090"/>
                </a:lnTo>
                <a:lnTo>
                  <a:pt x="1028979" y="212090"/>
                </a:lnTo>
                <a:lnTo>
                  <a:pt x="1028128" y="210820"/>
                </a:lnTo>
                <a:lnTo>
                  <a:pt x="1027277" y="210820"/>
                </a:lnTo>
                <a:lnTo>
                  <a:pt x="1018794" y="200660"/>
                </a:lnTo>
                <a:lnTo>
                  <a:pt x="1013701" y="194310"/>
                </a:lnTo>
                <a:lnTo>
                  <a:pt x="998753" y="177800"/>
                </a:lnTo>
                <a:lnTo>
                  <a:pt x="991158" y="170180"/>
                </a:lnTo>
                <a:lnTo>
                  <a:pt x="973836" y="153670"/>
                </a:lnTo>
                <a:lnTo>
                  <a:pt x="969594" y="151130"/>
                </a:lnTo>
                <a:lnTo>
                  <a:pt x="964349" y="146050"/>
                </a:lnTo>
                <a:lnTo>
                  <a:pt x="958875" y="142240"/>
                </a:lnTo>
                <a:lnTo>
                  <a:pt x="953249" y="137160"/>
                </a:lnTo>
                <a:lnTo>
                  <a:pt x="947534" y="133350"/>
                </a:lnTo>
                <a:lnTo>
                  <a:pt x="942441" y="128270"/>
                </a:lnTo>
                <a:lnTo>
                  <a:pt x="936510" y="124460"/>
                </a:lnTo>
                <a:lnTo>
                  <a:pt x="931418" y="120650"/>
                </a:lnTo>
                <a:lnTo>
                  <a:pt x="930567" y="120650"/>
                </a:lnTo>
                <a:lnTo>
                  <a:pt x="930567" y="119380"/>
                </a:lnTo>
                <a:lnTo>
                  <a:pt x="929716" y="119380"/>
                </a:lnTo>
                <a:lnTo>
                  <a:pt x="925474" y="116840"/>
                </a:lnTo>
                <a:lnTo>
                  <a:pt x="920381" y="114300"/>
                </a:lnTo>
                <a:lnTo>
                  <a:pt x="916139" y="110490"/>
                </a:lnTo>
                <a:lnTo>
                  <a:pt x="911059" y="107950"/>
                </a:lnTo>
                <a:lnTo>
                  <a:pt x="906818" y="104140"/>
                </a:lnTo>
                <a:lnTo>
                  <a:pt x="894092" y="95250"/>
                </a:lnTo>
                <a:lnTo>
                  <a:pt x="882205" y="90170"/>
                </a:lnTo>
                <a:lnTo>
                  <a:pt x="870331" y="82550"/>
                </a:lnTo>
                <a:lnTo>
                  <a:pt x="858456" y="77470"/>
                </a:lnTo>
                <a:lnTo>
                  <a:pt x="847229" y="74930"/>
                </a:lnTo>
                <a:lnTo>
                  <a:pt x="837349" y="72390"/>
                </a:lnTo>
                <a:lnTo>
                  <a:pt x="828268" y="68580"/>
                </a:lnTo>
                <a:lnTo>
                  <a:pt x="819429" y="64770"/>
                </a:lnTo>
                <a:lnTo>
                  <a:pt x="810742" y="62344"/>
                </a:lnTo>
                <a:lnTo>
                  <a:pt x="810514" y="62230"/>
                </a:lnTo>
                <a:lnTo>
                  <a:pt x="810120" y="62128"/>
                </a:lnTo>
                <a:lnTo>
                  <a:pt x="801192" y="58420"/>
                </a:lnTo>
                <a:lnTo>
                  <a:pt x="787476" y="54610"/>
                </a:lnTo>
                <a:lnTo>
                  <a:pt x="782955" y="53340"/>
                </a:lnTo>
                <a:lnTo>
                  <a:pt x="773544" y="50800"/>
                </a:lnTo>
                <a:lnTo>
                  <a:pt x="755040" y="45720"/>
                </a:lnTo>
                <a:lnTo>
                  <a:pt x="745629" y="44450"/>
                </a:lnTo>
                <a:lnTo>
                  <a:pt x="734377" y="43192"/>
                </a:lnTo>
                <a:lnTo>
                  <a:pt x="728726" y="41910"/>
                </a:lnTo>
                <a:lnTo>
                  <a:pt x="726859" y="41490"/>
                </a:lnTo>
                <a:lnTo>
                  <a:pt x="723138" y="40640"/>
                </a:lnTo>
                <a:lnTo>
                  <a:pt x="711987" y="38100"/>
                </a:lnTo>
                <a:lnTo>
                  <a:pt x="700659" y="36830"/>
                </a:lnTo>
                <a:lnTo>
                  <a:pt x="674357" y="34290"/>
                </a:lnTo>
                <a:lnTo>
                  <a:pt x="667575" y="33020"/>
                </a:lnTo>
                <a:lnTo>
                  <a:pt x="661631" y="33020"/>
                </a:lnTo>
                <a:lnTo>
                  <a:pt x="635342" y="33020"/>
                </a:lnTo>
                <a:lnTo>
                  <a:pt x="620064" y="33020"/>
                </a:lnTo>
                <a:lnTo>
                  <a:pt x="614133" y="31750"/>
                </a:lnTo>
                <a:lnTo>
                  <a:pt x="608190" y="33020"/>
                </a:lnTo>
                <a:lnTo>
                  <a:pt x="603948" y="35560"/>
                </a:lnTo>
                <a:lnTo>
                  <a:pt x="598004" y="33020"/>
                </a:lnTo>
                <a:lnTo>
                  <a:pt x="592074" y="33020"/>
                </a:lnTo>
                <a:lnTo>
                  <a:pt x="581037" y="33020"/>
                </a:lnTo>
                <a:lnTo>
                  <a:pt x="575106" y="33020"/>
                </a:lnTo>
                <a:lnTo>
                  <a:pt x="571715" y="33020"/>
                </a:lnTo>
                <a:lnTo>
                  <a:pt x="570014" y="34290"/>
                </a:lnTo>
                <a:lnTo>
                  <a:pt x="569163" y="34290"/>
                </a:lnTo>
                <a:lnTo>
                  <a:pt x="567474" y="35560"/>
                </a:lnTo>
                <a:lnTo>
                  <a:pt x="560679" y="35560"/>
                </a:lnTo>
                <a:lnTo>
                  <a:pt x="542442" y="35560"/>
                </a:lnTo>
                <a:lnTo>
                  <a:pt x="535444" y="36830"/>
                </a:lnTo>
                <a:lnTo>
                  <a:pt x="528447" y="36830"/>
                </a:lnTo>
                <a:lnTo>
                  <a:pt x="525907" y="38100"/>
                </a:lnTo>
                <a:lnTo>
                  <a:pt x="522503" y="36830"/>
                </a:lnTo>
                <a:lnTo>
                  <a:pt x="519963" y="38100"/>
                </a:lnTo>
                <a:lnTo>
                  <a:pt x="505536" y="40640"/>
                </a:lnTo>
                <a:lnTo>
                  <a:pt x="498487" y="40640"/>
                </a:lnTo>
                <a:lnTo>
                  <a:pt x="487730" y="41910"/>
                </a:lnTo>
                <a:lnTo>
                  <a:pt x="484327" y="40640"/>
                </a:lnTo>
                <a:lnTo>
                  <a:pt x="480936" y="43180"/>
                </a:lnTo>
                <a:lnTo>
                  <a:pt x="479247" y="43180"/>
                </a:lnTo>
                <a:lnTo>
                  <a:pt x="477545" y="43180"/>
                </a:lnTo>
                <a:lnTo>
                  <a:pt x="475843" y="41910"/>
                </a:lnTo>
                <a:lnTo>
                  <a:pt x="475005" y="43180"/>
                </a:lnTo>
                <a:lnTo>
                  <a:pt x="471601" y="45720"/>
                </a:lnTo>
                <a:lnTo>
                  <a:pt x="468210" y="45720"/>
                </a:lnTo>
                <a:lnTo>
                  <a:pt x="464820" y="46990"/>
                </a:lnTo>
                <a:lnTo>
                  <a:pt x="460578" y="46990"/>
                </a:lnTo>
                <a:lnTo>
                  <a:pt x="459727" y="46990"/>
                </a:lnTo>
                <a:lnTo>
                  <a:pt x="457187" y="49530"/>
                </a:lnTo>
                <a:lnTo>
                  <a:pt x="455485" y="50800"/>
                </a:lnTo>
                <a:lnTo>
                  <a:pt x="454634" y="50800"/>
                </a:lnTo>
                <a:lnTo>
                  <a:pt x="449554" y="49530"/>
                </a:lnTo>
                <a:lnTo>
                  <a:pt x="446151" y="52070"/>
                </a:lnTo>
                <a:lnTo>
                  <a:pt x="445706" y="52336"/>
                </a:lnTo>
                <a:lnTo>
                  <a:pt x="436829" y="55880"/>
                </a:lnTo>
                <a:lnTo>
                  <a:pt x="436829" y="57150"/>
                </a:lnTo>
                <a:lnTo>
                  <a:pt x="438277" y="58788"/>
                </a:lnTo>
                <a:lnTo>
                  <a:pt x="439369" y="60960"/>
                </a:lnTo>
                <a:lnTo>
                  <a:pt x="439369" y="62230"/>
                </a:lnTo>
                <a:lnTo>
                  <a:pt x="437667" y="62230"/>
                </a:lnTo>
                <a:lnTo>
                  <a:pt x="432587" y="64770"/>
                </a:lnTo>
                <a:lnTo>
                  <a:pt x="434276" y="67310"/>
                </a:lnTo>
                <a:lnTo>
                  <a:pt x="435127" y="67310"/>
                </a:lnTo>
                <a:lnTo>
                  <a:pt x="435978" y="67310"/>
                </a:lnTo>
                <a:lnTo>
                  <a:pt x="439369" y="67310"/>
                </a:lnTo>
                <a:lnTo>
                  <a:pt x="443611" y="64770"/>
                </a:lnTo>
                <a:lnTo>
                  <a:pt x="448703" y="64770"/>
                </a:lnTo>
                <a:lnTo>
                  <a:pt x="449554" y="63500"/>
                </a:lnTo>
                <a:lnTo>
                  <a:pt x="455485" y="63500"/>
                </a:lnTo>
                <a:lnTo>
                  <a:pt x="460578" y="62230"/>
                </a:lnTo>
                <a:lnTo>
                  <a:pt x="469061" y="62230"/>
                </a:lnTo>
                <a:lnTo>
                  <a:pt x="469061" y="59690"/>
                </a:lnTo>
                <a:lnTo>
                  <a:pt x="469061" y="57150"/>
                </a:lnTo>
                <a:lnTo>
                  <a:pt x="476694" y="57150"/>
                </a:lnTo>
                <a:lnTo>
                  <a:pt x="476694" y="59690"/>
                </a:lnTo>
                <a:lnTo>
                  <a:pt x="476694" y="60960"/>
                </a:lnTo>
                <a:lnTo>
                  <a:pt x="481787" y="62230"/>
                </a:lnTo>
                <a:lnTo>
                  <a:pt x="486029" y="62230"/>
                </a:lnTo>
                <a:lnTo>
                  <a:pt x="490270" y="59690"/>
                </a:lnTo>
                <a:lnTo>
                  <a:pt x="489204" y="58115"/>
                </a:lnTo>
                <a:lnTo>
                  <a:pt x="490270" y="57150"/>
                </a:lnTo>
                <a:lnTo>
                  <a:pt x="488569" y="55880"/>
                </a:lnTo>
                <a:lnTo>
                  <a:pt x="488391" y="55638"/>
                </a:lnTo>
                <a:lnTo>
                  <a:pt x="491121" y="54610"/>
                </a:lnTo>
                <a:lnTo>
                  <a:pt x="493661" y="54610"/>
                </a:lnTo>
                <a:lnTo>
                  <a:pt x="497052" y="59690"/>
                </a:lnTo>
                <a:lnTo>
                  <a:pt x="499605" y="60960"/>
                </a:lnTo>
                <a:lnTo>
                  <a:pt x="502145" y="60960"/>
                </a:lnTo>
                <a:lnTo>
                  <a:pt x="508939" y="59690"/>
                </a:lnTo>
                <a:lnTo>
                  <a:pt x="514870" y="58420"/>
                </a:lnTo>
                <a:lnTo>
                  <a:pt x="521665" y="58420"/>
                </a:lnTo>
                <a:lnTo>
                  <a:pt x="553897" y="55880"/>
                </a:lnTo>
                <a:lnTo>
                  <a:pt x="561530" y="54610"/>
                </a:lnTo>
                <a:lnTo>
                  <a:pt x="623328" y="54610"/>
                </a:lnTo>
                <a:lnTo>
                  <a:pt x="636181" y="55880"/>
                </a:lnTo>
                <a:lnTo>
                  <a:pt x="643826" y="57150"/>
                </a:lnTo>
                <a:lnTo>
                  <a:pt x="660793" y="57150"/>
                </a:lnTo>
                <a:lnTo>
                  <a:pt x="674357" y="57150"/>
                </a:lnTo>
                <a:lnTo>
                  <a:pt x="677760" y="58420"/>
                </a:lnTo>
                <a:lnTo>
                  <a:pt x="684542" y="58420"/>
                </a:lnTo>
                <a:lnTo>
                  <a:pt x="686244" y="58420"/>
                </a:lnTo>
                <a:lnTo>
                  <a:pt x="688784" y="59690"/>
                </a:lnTo>
                <a:lnTo>
                  <a:pt x="695566" y="58420"/>
                </a:lnTo>
                <a:lnTo>
                  <a:pt x="701509" y="59690"/>
                </a:lnTo>
                <a:lnTo>
                  <a:pt x="707453" y="59690"/>
                </a:lnTo>
                <a:lnTo>
                  <a:pt x="711695" y="59690"/>
                </a:lnTo>
                <a:lnTo>
                  <a:pt x="715086" y="60960"/>
                </a:lnTo>
                <a:lnTo>
                  <a:pt x="716775" y="60960"/>
                </a:lnTo>
                <a:lnTo>
                  <a:pt x="725258" y="62230"/>
                </a:lnTo>
                <a:lnTo>
                  <a:pt x="732904" y="64770"/>
                </a:lnTo>
                <a:lnTo>
                  <a:pt x="736257" y="65532"/>
                </a:lnTo>
                <a:lnTo>
                  <a:pt x="742226" y="67310"/>
                </a:lnTo>
                <a:lnTo>
                  <a:pt x="749871" y="68580"/>
                </a:lnTo>
                <a:lnTo>
                  <a:pt x="757504" y="69850"/>
                </a:lnTo>
                <a:lnTo>
                  <a:pt x="772769" y="74930"/>
                </a:lnTo>
                <a:lnTo>
                  <a:pt x="780402" y="74930"/>
                </a:lnTo>
                <a:lnTo>
                  <a:pt x="818578" y="87630"/>
                </a:lnTo>
                <a:lnTo>
                  <a:pt x="824522" y="90170"/>
                </a:lnTo>
                <a:lnTo>
                  <a:pt x="829614" y="92710"/>
                </a:lnTo>
                <a:lnTo>
                  <a:pt x="835545" y="93980"/>
                </a:lnTo>
                <a:lnTo>
                  <a:pt x="839787" y="95250"/>
                </a:lnTo>
                <a:lnTo>
                  <a:pt x="844029" y="97790"/>
                </a:lnTo>
                <a:lnTo>
                  <a:pt x="849122" y="100330"/>
                </a:lnTo>
                <a:lnTo>
                  <a:pt x="855916" y="102870"/>
                </a:lnTo>
                <a:lnTo>
                  <a:pt x="862698" y="106680"/>
                </a:lnTo>
                <a:lnTo>
                  <a:pt x="868641" y="110490"/>
                </a:lnTo>
                <a:lnTo>
                  <a:pt x="872032" y="113030"/>
                </a:lnTo>
                <a:lnTo>
                  <a:pt x="880516" y="115570"/>
                </a:lnTo>
                <a:lnTo>
                  <a:pt x="890689" y="120650"/>
                </a:lnTo>
                <a:lnTo>
                  <a:pt x="895781" y="124460"/>
                </a:lnTo>
                <a:lnTo>
                  <a:pt x="898334" y="127000"/>
                </a:lnTo>
                <a:lnTo>
                  <a:pt x="901725" y="128270"/>
                </a:lnTo>
                <a:lnTo>
                  <a:pt x="904265" y="130810"/>
                </a:lnTo>
                <a:lnTo>
                  <a:pt x="908507" y="133350"/>
                </a:lnTo>
                <a:lnTo>
                  <a:pt x="913599" y="135890"/>
                </a:lnTo>
                <a:lnTo>
                  <a:pt x="917841" y="138430"/>
                </a:lnTo>
                <a:lnTo>
                  <a:pt x="923810" y="143510"/>
                </a:lnTo>
                <a:lnTo>
                  <a:pt x="929932" y="147320"/>
                </a:lnTo>
                <a:lnTo>
                  <a:pt x="935736" y="151130"/>
                </a:lnTo>
                <a:lnTo>
                  <a:pt x="940752" y="156210"/>
                </a:lnTo>
                <a:lnTo>
                  <a:pt x="946442" y="161290"/>
                </a:lnTo>
                <a:lnTo>
                  <a:pt x="951992" y="165100"/>
                </a:lnTo>
                <a:lnTo>
                  <a:pt x="957211" y="168910"/>
                </a:lnTo>
                <a:lnTo>
                  <a:pt x="966673" y="179070"/>
                </a:lnTo>
                <a:lnTo>
                  <a:pt x="971715" y="182880"/>
                </a:lnTo>
                <a:lnTo>
                  <a:pt x="976744" y="187960"/>
                </a:lnTo>
                <a:lnTo>
                  <a:pt x="981468" y="191770"/>
                </a:lnTo>
                <a:lnTo>
                  <a:pt x="984859" y="195580"/>
                </a:lnTo>
                <a:lnTo>
                  <a:pt x="987412" y="199390"/>
                </a:lnTo>
                <a:lnTo>
                  <a:pt x="990803" y="201930"/>
                </a:lnTo>
                <a:lnTo>
                  <a:pt x="996734" y="207010"/>
                </a:lnTo>
                <a:lnTo>
                  <a:pt x="1001826" y="213360"/>
                </a:lnTo>
                <a:lnTo>
                  <a:pt x="1006068" y="219710"/>
                </a:lnTo>
                <a:lnTo>
                  <a:pt x="1011161" y="226060"/>
                </a:lnTo>
                <a:lnTo>
                  <a:pt x="1017104" y="232410"/>
                </a:lnTo>
                <a:lnTo>
                  <a:pt x="1019644" y="240030"/>
                </a:lnTo>
                <a:lnTo>
                  <a:pt x="1025588" y="245110"/>
                </a:lnTo>
                <a:lnTo>
                  <a:pt x="1026426" y="252730"/>
                </a:lnTo>
                <a:lnTo>
                  <a:pt x="1032370" y="257810"/>
                </a:lnTo>
                <a:lnTo>
                  <a:pt x="1039901" y="271780"/>
                </a:lnTo>
                <a:lnTo>
                  <a:pt x="1055268" y="307340"/>
                </a:lnTo>
                <a:lnTo>
                  <a:pt x="1056119" y="311150"/>
                </a:lnTo>
                <a:lnTo>
                  <a:pt x="1057821" y="316230"/>
                </a:lnTo>
                <a:lnTo>
                  <a:pt x="1059510" y="320040"/>
                </a:lnTo>
                <a:lnTo>
                  <a:pt x="1060361" y="325120"/>
                </a:lnTo>
                <a:lnTo>
                  <a:pt x="1061212" y="328930"/>
                </a:lnTo>
                <a:lnTo>
                  <a:pt x="1061212" y="332740"/>
                </a:lnTo>
                <a:lnTo>
                  <a:pt x="1062062" y="335280"/>
                </a:lnTo>
                <a:lnTo>
                  <a:pt x="1062913" y="342900"/>
                </a:lnTo>
                <a:lnTo>
                  <a:pt x="1064602" y="349250"/>
                </a:lnTo>
                <a:lnTo>
                  <a:pt x="1063752" y="355600"/>
                </a:lnTo>
                <a:lnTo>
                  <a:pt x="1063752" y="359410"/>
                </a:lnTo>
                <a:lnTo>
                  <a:pt x="1063752" y="360680"/>
                </a:lnTo>
                <a:lnTo>
                  <a:pt x="1062913" y="365760"/>
                </a:lnTo>
                <a:lnTo>
                  <a:pt x="1062850" y="377190"/>
                </a:lnTo>
                <a:lnTo>
                  <a:pt x="1062278" y="382270"/>
                </a:lnTo>
                <a:lnTo>
                  <a:pt x="1061237" y="388620"/>
                </a:lnTo>
                <a:lnTo>
                  <a:pt x="1060361" y="394970"/>
                </a:lnTo>
                <a:lnTo>
                  <a:pt x="1058786" y="402590"/>
                </a:lnTo>
                <a:lnTo>
                  <a:pt x="1056690" y="411276"/>
                </a:lnTo>
                <a:lnTo>
                  <a:pt x="1054887" y="416560"/>
                </a:lnTo>
                <a:lnTo>
                  <a:pt x="1051877" y="424180"/>
                </a:lnTo>
                <a:lnTo>
                  <a:pt x="1050467" y="427951"/>
                </a:lnTo>
                <a:lnTo>
                  <a:pt x="1046391" y="436880"/>
                </a:lnTo>
                <a:lnTo>
                  <a:pt x="1041273" y="447040"/>
                </a:lnTo>
                <a:lnTo>
                  <a:pt x="1035545" y="455904"/>
                </a:lnTo>
                <a:lnTo>
                  <a:pt x="1029817" y="463550"/>
                </a:lnTo>
                <a:lnTo>
                  <a:pt x="1028128" y="466090"/>
                </a:lnTo>
                <a:lnTo>
                  <a:pt x="1025575" y="468630"/>
                </a:lnTo>
                <a:lnTo>
                  <a:pt x="1024737" y="469900"/>
                </a:lnTo>
                <a:lnTo>
                  <a:pt x="1023886" y="471170"/>
                </a:lnTo>
                <a:lnTo>
                  <a:pt x="1019644" y="478790"/>
                </a:lnTo>
                <a:lnTo>
                  <a:pt x="1015403" y="483870"/>
                </a:lnTo>
                <a:lnTo>
                  <a:pt x="994194" y="504190"/>
                </a:lnTo>
                <a:lnTo>
                  <a:pt x="994194" y="505460"/>
                </a:lnTo>
                <a:lnTo>
                  <a:pt x="994092" y="505891"/>
                </a:lnTo>
                <a:lnTo>
                  <a:pt x="993343" y="506730"/>
                </a:lnTo>
                <a:lnTo>
                  <a:pt x="992492" y="509270"/>
                </a:lnTo>
                <a:lnTo>
                  <a:pt x="991641" y="510120"/>
                </a:lnTo>
                <a:lnTo>
                  <a:pt x="988250" y="511810"/>
                </a:lnTo>
                <a:lnTo>
                  <a:pt x="984859" y="511810"/>
                </a:lnTo>
                <a:lnTo>
                  <a:pt x="983170" y="514350"/>
                </a:lnTo>
                <a:lnTo>
                  <a:pt x="980630" y="516890"/>
                </a:lnTo>
                <a:lnTo>
                  <a:pt x="977226" y="519430"/>
                </a:lnTo>
                <a:lnTo>
                  <a:pt x="976376" y="520700"/>
                </a:lnTo>
                <a:lnTo>
                  <a:pt x="947534" y="542290"/>
                </a:lnTo>
                <a:lnTo>
                  <a:pt x="940752" y="546100"/>
                </a:lnTo>
                <a:lnTo>
                  <a:pt x="934808" y="551180"/>
                </a:lnTo>
                <a:lnTo>
                  <a:pt x="931418" y="554990"/>
                </a:lnTo>
                <a:lnTo>
                  <a:pt x="929716" y="554990"/>
                </a:lnTo>
                <a:lnTo>
                  <a:pt x="922934" y="557530"/>
                </a:lnTo>
                <a:lnTo>
                  <a:pt x="917841" y="562610"/>
                </a:lnTo>
                <a:lnTo>
                  <a:pt x="911898" y="565150"/>
                </a:lnTo>
                <a:lnTo>
                  <a:pt x="910209" y="566420"/>
                </a:lnTo>
                <a:lnTo>
                  <a:pt x="908507" y="566420"/>
                </a:lnTo>
                <a:lnTo>
                  <a:pt x="902576" y="572770"/>
                </a:lnTo>
                <a:lnTo>
                  <a:pt x="895781" y="574040"/>
                </a:lnTo>
                <a:lnTo>
                  <a:pt x="890689" y="577850"/>
                </a:lnTo>
                <a:lnTo>
                  <a:pt x="883907" y="581660"/>
                </a:lnTo>
                <a:lnTo>
                  <a:pt x="875423" y="582930"/>
                </a:lnTo>
                <a:lnTo>
                  <a:pt x="870331" y="588010"/>
                </a:lnTo>
                <a:lnTo>
                  <a:pt x="870331" y="589280"/>
                </a:lnTo>
                <a:lnTo>
                  <a:pt x="869480" y="589280"/>
                </a:lnTo>
                <a:lnTo>
                  <a:pt x="866940" y="590550"/>
                </a:lnTo>
                <a:lnTo>
                  <a:pt x="860158" y="593090"/>
                </a:lnTo>
                <a:lnTo>
                  <a:pt x="855065" y="596900"/>
                </a:lnTo>
                <a:lnTo>
                  <a:pt x="847432" y="600710"/>
                </a:lnTo>
                <a:lnTo>
                  <a:pt x="841489" y="601980"/>
                </a:lnTo>
                <a:lnTo>
                  <a:pt x="836396" y="604520"/>
                </a:lnTo>
                <a:lnTo>
                  <a:pt x="819429" y="610870"/>
                </a:lnTo>
                <a:lnTo>
                  <a:pt x="817740" y="613410"/>
                </a:lnTo>
                <a:lnTo>
                  <a:pt x="815187" y="613410"/>
                </a:lnTo>
                <a:lnTo>
                  <a:pt x="808812" y="617220"/>
                </a:lnTo>
                <a:lnTo>
                  <a:pt x="795743" y="622300"/>
                </a:lnTo>
                <a:lnTo>
                  <a:pt x="788885" y="624840"/>
                </a:lnTo>
                <a:lnTo>
                  <a:pt x="781253" y="626110"/>
                </a:lnTo>
                <a:lnTo>
                  <a:pt x="775322" y="631190"/>
                </a:lnTo>
                <a:lnTo>
                  <a:pt x="766838" y="631190"/>
                </a:lnTo>
                <a:lnTo>
                  <a:pt x="766838" y="632460"/>
                </a:lnTo>
                <a:lnTo>
                  <a:pt x="765987" y="632460"/>
                </a:lnTo>
                <a:lnTo>
                  <a:pt x="760895" y="633730"/>
                </a:lnTo>
                <a:lnTo>
                  <a:pt x="756653" y="636270"/>
                </a:lnTo>
                <a:lnTo>
                  <a:pt x="749020" y="638810"/>
                </a:lnTo>
                <a:lnTo>
                  <a:pt x="747318" y="638810"/>
                </a:lnTo>
                <a:lnTo>
                  <a:pt x="744778" y="640080"/>
                </a:lnTo>
                <a:lnTo>
                  <a:pt x="739686" y="641350"/>
                </a:lnTo>
                <a:lnTo>
                  <a:pt x="735444" y="642620"/>
                </a:lnTo>
                <a:lnTo>
                  <a:pt x="730351" y="643890"/>
                </a:lnTo>
                <a:lnTo>
                  <a:pt x="725258" y="646430"/>
                </a:lnTo>
                <a:lnTo>
                  <a:pt x="720166" y="648614"/>
                </a:lnTo>
                <a:lnTo>
                  <a:pt x="718477" y="648970"/>
                </a:lnTo>
                <a:lnTo>
                  <a:pt x="717626" y="649401"/>
                </a:lnTo>
                <a:lnTo>
                  <a:pt x="714235" y="650240"/>
                </a:lnTo>
                <a:lnTo>
                  <a:pt x="709993" y="651510"/>
                </a:lnTo>
                <a:lnTo>
                  <a:pt x="704900" y="652780"/>
                </a:lnTo>
                <a:lnTo>
                  <a:pt x="700659" y="654050"/>
                </a:lnTo>
                <a:lnTo>
                  <a:pt x="677887" y="661670"/>
                </a:lnTo>
                <a:lnTo>
                  <a:pt x="663206" y="664210"/>
                </a:lnTo>
                <a:lnTo>
                  <a:pt x="655701" y="666750"/>
                </a:lnTo>
                <a:lnTo>
                  <a:pt x="649757" y="668020"/>
                </a:lnTo>
                <a:lnTo>
                  <a:pt x="642975" y="669290"/>
                </a:lnTo>
                <a:lnTo>
                  <a:pt x="637032" y="670560"/>
                </a:lnTo>
                <a:lnTo>
                  <a:pt x="631939" y="671830"/>
                </a:lnTo>
                <a:lnTo>
                  <a:pt x="626859" y="671830"/>
                </a:lnTo>
                <a:lnTo>
                  <a:pt x="622617" y="673100"/>
                </a:lnTo>
                <a:lnTo>
                  <a:pt x="617524" y="674370"/>
                </a:lnTo>
                <a:lnTo>
                  <a:pt x="612432" y="674370"/>
                </a:lnTo>
                <a:lnTo>
                  <a:pt x="602246" y="676910"/>
                </a:lnTo>
                <a:lnTo>
                  <a:pt x="598004" y="678180"/>
                </a:lnTo>
                <a:lnTo>
                  <a:pt x="597166" y="678180"/>
                </a:lnTo>
                <a:lnTo>
                  <a:pt x="596328" y="678688"/>
                </a:lnTo>
                <a:lnTo>
                  <a:pt x="593763" y="679450"/>
                </a:lnTo>
                <a:lnTo>
                  <a:pt x="592924" y="680720"/>
                </a:lnTo>
                <a:lnTo>
                  <a:pt x="592074" y="680720"/>
                </a:lnTo>
                <a:lnTo>
                  <a:pt x="584352" y="680720"/>
                </a:lnTo>
                <a:lnTo>
                  <a:pt x="577646" y="681990"/>
                </a:lnTo>
                <a:lnTo>
                  <a:pt x="570941" y="681990"/>
                </a:lnTo>
                <a:lnTo>
                  <a:pt x="564070" y="683260"/>
                </a:lnTo>
                <a:lnTo>
                  <a:pt x="558139" y="684530"/>
                </a:lnTo>
                <a:lnTo>
                  <a:pt x="553046" y="684530"/>
                </a:lnTo>
                <a:lnTo>
                  <a:pt x="547103" y="685800"/>
                </a:lnTo>
                <a:lnTo>
                  <a:pt x="536079" y="685800"/>
                </a:lnTo>
                <a:lnTo>
                  <a:pt x="508088" y="688340"/>
                </a:lnTo>
                <a:lnTo>
                  <a:pt x="493661" y="688340"/>
                </a:lnTo>
                <a:lnTo>
                  <a:pt x="486879" y="689610"/>
                </a:lnTo>
                <a:lnTo>
                  <a:pt x="479107" y="689610"/>
                </a:lnTo>
                <a:lnTo>
                  <a:pt x="471182" y="690880"/>
                </a:lnTo>
                <a:lnTo>
                  <a:pt x="374891" y="690880"/>
                </a:lnTo>
                <a:lnTo>
                  <a:pt x="359625" y="688340"/>
                </a:lnTo>
                <a:lnTo>
                  <a:pt x="353682" y="688340"/>
                </a:lnTo>
                <a:lnTo>
                  <a:pt x="346900" y="687070"/>
                </a:lnTo>
                <a:lnTo>
                  <a:pt x="340956" y="685800"/>
                </a:lnTo>
                <a:lnTo>
                  <a:pt x="332473" y="685800"/>
                </a:lnTo>
                <a:lnTo>
                  <a:pt x="329082" y="684530"/>
                </a:lnTo>
                <a:lnTo>
                  <a:pt x="303555" y="680720"/>
                </a:lnTo>
                <a:lnTo>
                  <a:pt x="295148" y="678180"/>
                </a:lnTo>
                <a:lnTo>
                  <a:pt x="290906" y="678180"/>
                </a:lnTo>
                <a:lnTo>
                  <a:pt x="288366" y="676910"/>
                </a:lnTo>
                <a:lnTo>
                  <a:pt x="267995" y="671830"/>
                </a:lnTo>
                <a:lnTo>
                  <a:pt x="259232" y="669290"/>
                </a:lnTo>
                <a:lnTo>
                  <a:pt x="234061" y="661670"/>
                </a:lnTo>
                <a:lnTo>
                  <a:pt x="232371" y="661670"/>
                </a:lnTo>
                <a:lnTo>
                  <a:pt x="229819" y="659130"/>
                </a:lnTo>
                <a:lnTo>
                  <a:pt x="228130" y="659130"/>
                </a:lnTo>
                <a:lnTo>
                  <a:pt x="214553" y="654050"/>
                </a:lnTo>
                <a:lnTo>
                  <a:pt x="208610" y="651510"/>
                </a:lnTo>
                <a:lnTo>
                  <a:pt x="195884" y="643890"/>
                </a:lnTo>
                <a:lnTo>
                  <a:pt x="189953" y="641350"/>
                </a:lnTo>
                <a:lnTo>
                  <a:pt x="184010" y="636270"/>
                </a:lnTo>
                <a:lnTo>
                  <a:pt x="178079" y="633730"/>
                </a:lnTo>
                <a:lnTo>
                  <a:pt x="170434" y="631190"/>
                </a:lnTo>
                <a:lnTo>
                  <a:pt x="164503" y="624840"/>
                </a:lnTo>
                <a:lnTo>
                  <a:pt x="156870" y="622300"/>
                </a:lnTo>
                <a:lnTo>
                  <a:pt x="156019" y="621030"/>
                </a:lnTo>
                <a:lnTo>
                  <a:pt x="151777" y="618490"/>
                </a:lnTo>
                <a:lnTo>
                  <a:pt x="144983" y="613410"/>
                </a:lnTo>
                <a:lnTo>
                  <a:pt x="132791" y="603250"/>
                </a:lnTo>
                <a:lnTo>
                  <a:pt x="126974" y="598170"/>
                </a:lnTo>
                <a:lnTo>
                  <a:pt x="121234" y="593090"/>
                </a:lnTo>
                <a:lnTo>
                  <a:pt x="117843" y="590550"/>
                </a:lnTo>
                <a:lnTo>
                  <a:pt x="115290" y="588010"/>
                </a:lnTo>
                <a:lnTo>
                  <a:pt x="111899" y="585470"/>
                </a:lnTo>
                <a:lnTo>
                  <a:pt x="104267" y="577850"/>
                </a:lnTo>
                <a:lnTo>
                  <a:pt x="101727" y="574040"/>
                </a:lnTo>
                <a:lnTo>
                  <a:pt x="98323" y="571500"/>
                </a:lnTo>
                <a:lnTo>
                  <a:pt x="95783" y="567690"/>
                </a:lnTo>
                <a:lnTo>
                  <a:pt x="94081" y="567690"/>
                </a:lnTo>
                <a:lnTo>
                  <a:pt x="93243" y="565150"/>
                </a:lnTo>
                <a:lnTo>
                  <a:pt x="91541" y="563880"/>
                </a:lnTo>
                <a:lnTo>
                  <a:pt x="86461" y="557530"/>
                </a:lnTo>
                <a:lnTo>
                  <a:pt x="81470" y="552450"/>
                </a:lnTo>
                <a:lnTo>
                  <a:pt x="76631" y="546100"/>
                </a:lnTo>
                <a:lnTo>
                  <a:pt x="72034" y="539750"/>
                </a:lnTo>
                <a:lnTo>
                  <a:pt x="67792" y="534670"/>
                </a:lnTo>
                <a:lnTo>
                  <a:pt x="60998" y="521970"/>
                </a:lnTo>
                <a:lnTo>
                  <a:pt x="57683" y="515620"/>
                </a:lnTo>
                <a:lnTo>
                  <a:pt x="50736" y="501650"/>
                </a:lnTo>
                <a:lnTo>
                  <a:pt x="47434" y="495300"/>
                </a:lnTo>
                <a:lnTo>
                  <a:pt x="47434" y="494030"/>
                </a:lnTo>
                <a:lnTo>
                  <a:pt x="46583" y="494030"/>
                </a:lnTo>
                <a:lnTo>
                  <a:pt x="46583" y="486410"/>
                </a:lnTo>
                <a:lnTo>
                  <a:pt x="42341" y="481330"/>
                </a:lnTo>
                <a:lnTo>
                  <a:pt x="38100" y="468630"/>
                </a:lnTo>
                <a:lnTo>
                  <a:pt x="35547" y="462280"/>
                </a:lnTo>
                <a:lnTo>
                  <a:pt x="32156" y="449580"/>
                </a:lnTo>
                <a:lnTo>
                  <a:pt x="29616" y="441960"/>
                </a:lnTo>
                <a:lnTo>
                  <a:pt x="28765" y="434340"/>
                </a:lnTo>
                <a:lnTo>
                  <a:pt x="28765" y="429260"/>
                </a:lnTo>
                <a:lnTo>
                  <a:pt x="27063" y="422910"/>
                </a:lnTo>
                <a:lnTo>
                  <a:pt x="26225" y="416560"/>
                </a:lnTo>
                <a:lnTo>
                  <a:pt x="25590" y="408940"/>
                </a:lnTo>
                <a:lnTo>
                  <a:pt x="25057" y="401320"/>
                </a:lnTo>
                <a:lnTo>
                  <a:pt x="24942" y="398780"/>
                </a:lnTo>
                <a:lnTo>
                  <a:pt x="24828" y="396240"/>
                </a:lnTo>
                <a:lnTo>
                  <a:pt x="24663" y="392430"/>
                </a:lnTo>
                <a:lnTo>
                  <a:pt x="24726" y="368300"/>
                </a:lnTo>
                <a:lnTo>
                  <a:pt x="24879" y="364490"/>
                </a:lnTo>
                <a:lnTo>
                  <a:pt x="34709" y="317500"/>
                </a:lnTo>
                <a:lnTo>
                  <a:pt x="39789" y="304800"/>
                </a:lnTo>
                <a:lnTo>
                  <a:pt x="43192" y="297180"/>
                </a:lnTo>
                <a:lnTo>
                  <a:pt x="44030" y="294640"/>
                </a:lnTo>
                <a:lnTo>
                  <a:pt x="45732" y="290830"/>
                </a:lnTo>
                <a:lnTo>
                  <a:pt x="53365" y="279400"/>
                </a:lnTo>
                <a:lnTo>
                  <a:pt x="55918" y="273050"/>
                </a:lnTo>
                <a:lnTo>
                  <a:pt x="57886" y="270090"/>
                </a:lnTo>
                <a:lnTo>
                  <a:pt x="60159" y="266700"/>
                </a:lnTo>
                <a:lnTo>
                  <a:pt x="61849" y="264160"/>
                </a:lnTo>
                <a:lnTo>
                  <a:pt x="68643" y="255270"/>
                </a:lnTo>
                <a:lnTo>
                  <a:pt x="71183" y="252730"/>
                </a:lnTo>
                <a:lnTo>
                  <a:pt x="72034" y="250177"/>
                </a:lnTo>
                <a:lnTo>
                  <a:pt x="73723" y="247650"/>
                </a:lnTo>
                <a:lnTo>
                  <a:pt x="75412" y="245973"/>
                </a:lnTo>
                <a:lnTo>
                  <a:pt x="80518" y="242570"/>
                </a:lnTo>
                <a:lnTo>
                  <a:pt x="83045" y="237515"/>
                </a:lnTo>
                <a:lnTo>
                  <a:pt x="91541" y="229870"/>
                </a:lnTo>
                <a:lnTo>
                  <a:pt x="93218" y="227355"/>
                </a:lnTo>
                <a:lnTo>
                  <a:pt x="94932" y="224790"/>
                </a:lnTo>
                <a:lnTo>
                  <a:pt x="99174" y="219710"/>
                </a:lnTo>
                <a:lnTo>
                  <a:pt x="104267" y="213360"/>
                </a:lnTo>
                <a:lnTo>
                  <a:pt x="111061" y="208280"/>
                </a:lnTo>
                <a:lnTo>
                  <a:pt x="120383" y="199390"/>
                </a:lnTo>
                <a:lnTo>
                  <a:pt x="128866" y="191770"/>
                </a:lnTo>
                <a:lnTo>
                  <a:pt x="135661" y="185420"/>
                </a:lnTo>
                <a:lnTo>
                  <a:pt x="139903" y="182880"/>
                </a:lnTo>
                <a:lnTo>
                  <a:pt x="141592" y="181610"/>
                </a:lnTo>
                <a:lnTo>
                  <a:pt x="142443" y="180340"/>
                </a:lnTo>
                <a:lnTo>
                  <a:pt x="154317" y="171450"/>
                </a:lnTo>
                <a:lnTo>
                  <a:pt x="159410" y="166370"/>
                </a:lnTo>
                <a:lnTo>
                  <a:pt x="166776" y="161290"/>
                </a:lnTo>
                <a:lnTo>
                  <a:pt x="180886" y="151130"/>
                </a:lnTo>
                <a:lnTo>
                  <a:pt x="188252" y="147320"/>
                </a:lnTo>
                <a:lnTo>
                  <a:pt x="198437" y="139700"/>
                </a:lnTo>
                <a:lnTo>
                  <a:pt x="211061" y="132080"/>
                </a:lnTo>
                <a:lnTo>
                  <a:pt x="217170" y="128270"/>
                </a:lnTo>
                <a:lnTo>
                  <a:pt x="223037" y="124460"/>
                </a:lnTo>
                <a:lnTo>
                  <a:pt x="228130" y="120650"/>
                </a:lnTo>
                <a:lnTo>
                  <a:pt x="230670" y="118110"/>
                </a:lnTo>
                <a:lnTo>
                  <a:pt x="233222" y="115570"/>
                </a:lnTo>
                <a:lnTo>
                  <a:pt x="240004" y="114300"/>
                </a:lnTo>
                <a:lnTo>
                  <a:pt x="240855" y="114300"/>
                </a:lnTo>
                <a:lnTo>
                  <a:pt x="240855" y="113030"/>
                </a:lnTo>
                <a:lnTo>
                  <a:pt x="247637" y="109220"/>
                </a:lnTo>
                <a:lnTo>
                  <a:pt x="255270" y="105410"/>
                </a:lnTo>
                <a:lnTo>
                  <a:pt x="262064" y="101600"/>
                </a:lnTo>
                <a:lnTo>
                  <a:pt x="265455" y="100330"/>
                </a:lnTo>
                <a:lnTo>
                  <a:pt x="269697" y="97790"/>
                </a:lnTo>
                <a:lnTo>
                  <a:pt x="273088" y="95250"/>
                </a:lnTo>
                <a:lnTo>
                  <a:pt x="277329" y="93980"/>
                </a:lnTo>
                <a:lnTo>
                  <a:pt x="280720" y="92710"/>
                </a:lnTo>
                <a:lnTo>
                  <a:pt x="284962" y="90170"/>
                </a:lnTo>
                <a:lnTo>
                  <a:pt x="291833" y="87630"/>
                </a:lnTo>
                <a:lnTo>
                  <a:pt x="305244" y="81280"/>
                </a:lnTo>
                <a:lnTo>
                  <a:pt x="312115" y="77470"/>
                </a:lnTo>
                <a:lnTo>
                  <a:pt x="319176" y="73660"/>
                </a:lnTo>
                <a:lnTo>
                  <a:pt x="325374" y="71120"/>
                </a:lnTo>
                <a:lnTo>
                  <a:pt x="325691" y="70980"/>
                </a:lnTo>
                <a:lnTo>
                  <a:pt x="329082" y="69850"/>
                </a:lnTo>
                <a:lnTo>
                  <a:pt x="332066" y="68364"/>
                </a:lnTo>
                <a:lnTo>
                  <a:pt x="336715" y="67310"/>
                </a:lnTo>
                <a:lnTo>
                  <a:pt x="343509" y="64770"/>
                </a:lnTo>
                <a:lnTo>
                  <a:pt x="351142" y="62230"/>
                </a:lnTo>
                <a:lnTo>
                  <a:pt x="357924" y="59690"/>
                </a:lnTo>
                <a:lnTo>
                  <a:pt x="362165" y="57150"/>
                </a:lnTo>
                <a:lnTo>
                  <a:pt x="367258" y="55880"/>
                </a:lnTo>
                <a:lnTo>
                  <a:pt x="371500" y="54610"/>
                </a:lnTo>
                <a:lnTo>
                  <a:pt x="392849" y="46990"/>
                </a:lnTo>
                <a:lnTo>
                  <a:pt x="402666" y="43827"/>
                </a:lnTo>
                <a:lnTo>
                  <a:pt x="411365" y="41490"/>
                </a:lnTo>
                <a:lnTo>
                  <a:pt x="425157" y="39370"/>
                </a:lnTo>
                <a:lnTo>
                  <a:pt x="433425" y="36830"/>
                </a:lnTo>
                <a:lnTo>
                  <a:pt x="441909" y="35560"/>
                </a:lnTo>
                <a:lnTo>
                  <a:pt x="447001" y="34290"/>
                </a:lnTo>
                <a:lnTo>
                  <a:pt x="449554" y="33020"/>
                </a:lnTo>
                <a:lnTo>
                  <a:pt x="458038" y="33020"/>
                </a:lnTo>
                <a:lnTo>
                  <a:pt x="458876" y="33020"/>
                </a:lnTo>
                <a:lnTo>
                  <a:pt x="460578" y="31750"/>
                </a:lnTo>
                <a:lnTo>
                  <a:pt x="463118" y="31750"/>
                </a:lnTo>
                <a:lnTo>
                  <a:pt x="470763" y="30480"/>
                </a:lnTo>
                <a:lnTo>
                  <a:pt x="477545" y="29210"/>
                </a:lnTo>
                <a:lnTo>
                  <a:pt x="485178" y="27940"/>
                </a:lnTo>
                <a:lnTo>
                  <a:pt x="487730" y="27940"/>
                </a:lnTo>
                <a:lnTo>
                  <a:pt x="501294" y="27940"/>
                </a:lnTo>
                <a:lnTo>
                  <a:pt x="511479" y="25400"/>
                </a:lnTo>
                <a:lnTo>
                  <a:pt x="515721" y="24130"/>
                </a:lnTo>
                <a:lnTo>
                  <a:pt x="524764" y="22860"/>
                </a:lnTo>
                <a:lnTo>
                  <a:pt x="543153" y="21590"/>
                </a:lnTo>
                <a:lnTo>
                  <a:pt x="552196" y="20320"/>
                </a:lnTo>
                <a:lnTo>
                  <a:pt x="555586" y="20320"/>
                </a:lnTo>
                <a:lnTo>
                  <a:pt x="558990" y="19050"/>
                </a:lnTo>
                <a:lnTo>
                  <a:pt x="562381" y="19050"/>
                </a:lnTo>
                <a:lnTo>
                  <a:pt x="562381" y="15240"/>
                </a:lnTo>
                <a:lnTo>
                  <a:pt x="565772" y="13970"/>
                </a:lnTo>
                <a:lnTo>
                  <a:pt x="570014" y="13970"/>
                </a:lnTo>
                <a:lnTo>
                  <a:pt x="577646" y="10160"/>
                </a:lnTo>
                <a:lnTo>
                  <a:pt x="579348" y="8890"/>
                </a:lnTo>
                <a:lnTo>
                  <a:pt x="580199" y="7620"/>
                </a:lnTo>
                <a:lnTo>
                  <a:pt x="582739" y="5080"/>
                </a:lnTo>
                <a:lnTo>
                  <a:pt x="581037" y="2540"/>
                </a:lnTo>
                <a:lnTo>
                  <a:pt x="580199" y="2540"/>
                </a:lnTo>
                <a:lnTo>
                  <a:pt x="577646" y="2540"/>
                </a:lnTo>
                <a:lnTo>
                  <a:pt x="574268" y="1536"/>
                </a:lnTo>
                <a:lnTo>
                  <a:pt x="571715" y="0"/>
                </a:lnTo>
                <a:lnTo>
                  <a:pt x="569163" y="0"/>
                </a:lnTo>
                <a:lnTo>
                  <a:pt x="539470" y="0"/>
                </a:lnTo>
                <a:lnTo>
                  <a:pt x="536930" y="0"/>
                </a:lnTo>
                <a:lnTo>
                  <a:pt x="532688" y="1270"/>
                </a:lnTo>
                <a:lnTo>
                  <a:pt x="527596" y="1270"/>
                </a:lnTo>
                <a:lnTo>
                  <a:pt x="525056" y="1270"/>
                </a:lnTo>
                <a:lnTo>
                  <a:pt x="519963" y="2540"/>
                </a:lnTo>
                <a:lnTo>
                  <a:pt x="511479" y="2540"/>
                </a:lnTo>
                <a:lnTo>
                  <a:pt x="508939" y="2540"/>
                </a:lnTo>
                <a:lnTo>
                  <a:pt x="502145" y="3810"/>
                </a:lnTo>
                <a:lnTo>
                  <a:pt x="497903" y="3810"/>
                </a:lnTo>
                <a:lnTo>
                  <a:pt x="495363" y="3810"/>
                </a:lnTo>
                <a:lnTo>
                  <a:pt x="488569" y="5080"/>
                </a:lnTo>
                <a:lnTo>
                  <a:pt x="482346" y="5080"/>
                </a:lnTo>
                <a:lnTo>
                  <a:pt x="479793" y="5080"/>
                </a:lnTo>
                <a:lnTo>
                  <a:pt x="462559" y="7620"/>
                </a:lnTo>
                <a:lnTo>
                  <a:pt x="454634" y="7620"/>
                </a:lnTo>
                <a:lnTo>
                  <a:pt x="452094" y="7620"/>
                </a:lnTo>
                <a:lnTo>
                  <a:pt x="450392" y="8890"/>
                </a:lnTo>
                <a:lnTo>
                  <a:pt x="448703" y="8890"/>
                </a:lnTo>
                <a:lnTo>
                  <a:pt x="443611" y="10160"/>
                </a:lnTo>
                <a:lnTo>
                  <a:pt x="440220" y="10160"/>
                </a:lnTo>
                <a:lnTo>
                  <a:pt x="437667" y="10160"/>
                </a:lnTo>
                <a:lnTo>
                  <a:pt x="432587" y="11430"/>
                </a:lnTo>
                <a:lnTo>
                  <a:pt x="427494" y="12522"/>
                </a:lnTo>
                <a:lnTo>
                  <a:pt x="426212" y="12700"/>
                </a:lnTo>
                <a:lnTo>
                  <a:pt x="420700" y="12700"/>
                </a:lnTo>
                <a:lnTo>
                  <a:pt x="414769" y="13970"/>
                </a:lnTo>
                <a:lnTo>
                  <a:pt x="407771" y="16510"/>
                </a:lnTo>
                <a:lnTo>
                  <a:pt x="393763" y="20320"/>
                </a:lnTo>
                <a:lnTo>
                  <a:pt x="386765" y="22860"/>
                </a:lnTo>
                <a:lnTo>
                  <a:pt x="332473" y="40640"/>
                </a:lnTo>
                <a:lnTo>
                  <a:pt x="327380" y="42989"/>
                </a:lnTo>
                <a:lnTo>
                  <a:pt x="326745" y="43180"/>
                </a:lnTo>
                <a:lnTo>
                  <a:pt x="322897" y="44958"/>
                </a:lnTo>
                <a:lnTo>
                  <a:pt x="307657" y="50800"/>
                </a:lnTo>
                <a:lnTo>
                  <a:pt x="299389" y="54610"/>
                </a:lnTo>
                <a:lnTo>
                  <a:pt x="289991" y="58420"/>
                </a:lnTo>
                <a:lnTo>
                  <a:pt x="280835" y="63500"/>
                </a:lnTo>
                <a:lnTo>
                  <a:pt x="271830" y="67310"/>
                </a:lnTo>
                <a:lnTo>
                  <a:pt x="256120" y="74930"/>
                </a:lnTo>
                <a:lnTo>
                  <a:pt x="249339" y="80010"/>
                </a:lnTo>
                <a:lnTo>
                  <a:pt x="241706" y="83820"/>
                </a:lnTo>
                <a:lnTo>
                  <a:pt x="230251" y="88900"/>
                </a:lnTo>
                <a:lnTo>
                  <a:pt x="218795" y="96520"/>
                </a:lnTo>
                <a:lnTo>
                  <a:pt x="211543" y="100330"/>
                </a:lnTo>
                <a:lnTo>
                  <a:pt x="204050" y="104140"/>
                </a:lnTo>
                <a:lnTo>
                  <a:pt x="196723" y="109220"/>
                </a:lnTo>
                <a:lnTo>
                  <a:pt x="189953" y="113030"/>
                </a:lnTo>
                <a:lnTo>
                  <a:pt x="189953" y="114300"/>
                </a:lnTo>
                <a:lnTo>
                  <a:pt x="189103" y="114300"/>
                </a:lnTo>
                <a:lnTo>
                  <a:pt x="184010" y="118110"/>
                </a:lnTo>
                <a:lnTo>
                  <a:pt x="172135" y="125730"/>
                </a:lnTo>
                <a:lnTo>
                  <a:pt x="165354" y="130810"/>
                </a:lnTo>
                <a:lnTo>
                  <a:pt x="159410" y="135890"/>
                </a:lnTo>
                <a:lnTo>
                  <a:pt x="152628" y="139700"/>
                </a:lnTo>
                <a:lnTo>
                  <a:pt x="146685" y="143510"/>
                </a:lnTo>
                <a:lnTo>
                  <a:pt x="141592" y="147320"/>
                </a:lnTo>
                <a:lnTo>
                  <a:pt x="135661" y="151130"/>
                </a:lnTo>
                <a:lnTo>
                  <a:pt x="133959" y="151130"/>
                </a:lnTo>
                <a:lnTo>
                  <a:pt x="121234" y="161290"/>
                </a:lnTo>
                <a:lnTo>
                  <a:pt x="120383" y="162560"/>
                </a:lnTo>
                <a:lnTo>
                  <a:pt x="118694" y="163830"/>
                </a:lnTo>
                <a:lnTo>
                  <a:pt x="116141" y="166370"/>
                </a:lnTo>
                <a:lnTo>
                  <a:pt x="113601" y="167640"/>
                </a:lnTo>
                <a:lnTo>
                  <a:pt x="111899" y="168910"/>
                </a:lnTo>
                <a:lnTo>
                  <a:pt x="107657" y="172720"/>
                </a:lnTo>
                <a:lnTo>
                  <a:pt x="104267" y="176530"/>
                </a:lnTo>
                <a:lnTo>
                  <a:pt x="95783" y="184150"/>
                </a:lnTo>
                <a:lnTo>
                  <a:pt x="90690" y="187960"/>
                </a:lnTo>
                <a:lnTo>
                  <a:pt x="82207" y="196850"/>
                </a:lnTo>
                <a:lnTo>
                  <a:pt x="77114" y="199390"/>
                </a:lnTo>
                <a:lnTo>
                  <a:pt x="73723" y="204470"/>
                </a:lnTo>
                <a:lnTo>
                  <a:pt x="69481" y="209550"/>
                </a:lnTo>
                <a:lnTo>
                  <a:pt x="66090" y="215900"/>
                </a:lnTo>
                <a:lnTo>
                  <a:pt x="60998" y="219710"/>
                </a:lnTo>
                <a:lnTo>
                  <a:pt x="60159" y="219710"/>
                </a:lnTo>
                <a:lnTo>
                  <a:pt x="60159" y="220980"/>
                </a:lnTo>
                <a:lnTo>
                  <a:pt x="59309" y="220980"/>
                </a:lnTo>
                <a:lnTo>
                  <a:pt x="57607" y="222250"/>
                </a:lnTo>
                <a:lnTo>
                  <a:pt x="57086" y="223786"/>
                </a:lnTo>
                <a:lnTo>
                  <a:pt x="55067" y="226060"/>
                </a:lnTo>
                <a:lnTo>
                  <a:pt x="49974" y="232410"/>
                </a:lnTo>
                <a:lnTo>
                  <a:pt x="44030" y="237490"/>
                </a:lnTo>
                <a:lnTo>
                  <a:pt x="39789" y="245110"/>
                </a:lnTo>
                <a:lnTo>
                  <a:pt x="35369" y="251460"/>
                </a:lnTo>
                <a:lnTo>
                  <a:pt x="31102" y="259080"/>
                </a:lnTo>
                <a:lnTo>
                  <a:pt x="27152" y="265430"/>
                </a:lnTo>
                <a:lnTo>
                  <a:pt x="23672" y="273050"/>
                </a:lnTo>
                <a:lnTo>
                  <a:pt x="20853" y="280670"/>
                </a:lnTo>
                <a:lnTo>
                  <a:pt x="17627" y="288290"/>
                </a:lnTo>
                <a:lnTo>
                  <a:pt x="14249" y="295910"/>
                </a:lnTo>
                <a:lnTo>
                  <a:pt x="10947" y="302260"/>
                </a:lnTo>
                <a:lnTo>
                  <a:pt x="8407" y="308610"/>
                </a:lnTo>
                <a:lnTo>
                  <a:pt x="7112" y="313956"/>
                </a:lnTo>
                <a:lnTo>
                  <a:pt x="6705" y="314960"/>
                </a:lnTo>
                <a:lnTo>
                  <a:pt x="6565" y="316191"/>
                </a:lnTo>
                <a:lnTo>
                  <a:pt x="5016" y="322580"/>
                </a:lnTo>
                <a:lnTo>
                  <a:pt x="4165" y="326390"/>
                </a:lnTo>
                <a:lnTo>
                  <a:pt x="1612" y="330200"/>
                </a:lnTo>
                <a:lnTo>
                  <a:pt x="1549" y="336550"/>
                </a:lnTo>
                <a:lnTo>
                  <a:pt x="1485" y="337820"/>
                </a:lnTo>
                <a:lnTo>
                  <a:pt x="1231" y="342900"/>
                </a:lnTo>
                <a:lnTo>
                  <a:pt x="444" y="351790"/>
                </a:lnTo>
                <a:lnTo>
                  <a:pt x="0" y="358140"/>
                </a:lnTo>
                <a:lnTo>
                  <a:pt x="12" y="372110"/>
                </a:lnTo>
                <a:lnTo>
                  <a:pt x="406" y="377190"/>
                </a:lnTo>
                <a:lnTo>
                  <a:pt x="533" y="381000"/>
                </a:lnTo>
                <a:lnTo>
                  <a:pt x="660" y="384810"/>
                </a:lnTo>
                <a:lnTo>
                  <a:pt x="774" y="398780"/>
                </a:lnTo>
                <a:lnTo>
                  <a:pt x="1435" y="406400"/>
                </a:lnTo>
                <a:lnTo>
                  <a:pt x="2247" y="412750"/>
                </a:lnTo>
                <a:lnTo>
                  <a:pt x="3390" y="419100"/>
                </a:lnTo>
                <a:lnTo>
                  <a:pt x="5016" y="425450"/>
                </a:lnTo>
                <a:lnTo>
                  <a:pt x="5016" y="426720"/>
                </a:lnTo>
                <a:lnTo>
                  <a:pt x="5854" y="435610"/>
                </a:lnTo>
                <a:lnTo>
                  <a:pt x="7556" y="444500"/>
                </a:lnTo>
                <a:lnTo>
                  <a:pt x="10096" y="452120"/>
                </a:lnTo>
                <a:lnTo>
                  <a:pt x="13690" y="463550"/>
                </a:lnTo>
                <a:lnTo>
                  <a:pt x="17208" y="474980"/>
                </a:lnTo>
                <a:lnTo>
                  <a:pt x="21196" y="485140"/>
                </a:lnTo>
                <a:lnTo>
                  <a:pt x="26225" y="496570"/>
                </a:lnTo>
                <a:lnTo>
                  <a:pt x="29616" y="501650"/>
                </a:lnTo>
                <a:lnTo>
                  <a:pt x="31305" y="508000"/>
                </a:lnTo>
                <a:lnTo>
                  <a:pt x="34709" y="514350"/>
                </a:lnTo>
                <a:lnTo>
                  <a:pt x="52514" y="544830"/>
                </a:lnTo>
                <a:lnTo>
                  <a:pt x="53365" y="546100"/>
                </a:lnTo>
                <a:lnTo>
                  <a:pt x="55918" y="548640"/>
                </a:lnTo>
                <a:lnTo>
                  <a:pt x="57607" y="551180"/>
                </a:lnTo>
                <a:lnTo>
                  <a:pt x="60998" y="557530"/>
                </a:lnTo>
                <a:lnTo>
                  <a:pt x="64389" y="562610"/>
                </a:lnTo>
                <a:lnTo>
                  <a:pt x="69481" y="567690"/>
                </a:lnTo>
                <a:lnTo>
                  <a:pt x="77114" y="577850"/>
                </a:lnTo>
                <a:lnTo>
                  <a:pt x="82359" y="582930"/>
                </a:lnTo>
                <a:lnTo>
                  <a:pt x="87833" y="589280"/>
                </a:lnTo>
                <a:lnTo>
                  <a:pt x="93459" y="595630"/>
                </a:lnTo>
                <a:lnTo>
                  <a:pt x="99174" y="600710"/>
                </a:lnTo>
                <a:lnTo>
                  <a:pt x="105968" y="608330"/>
                </a:lnTo>
                <a:lnTo>
                  <a:pt x="124625" y="622300"/>
                </a:lnTo>
                <a:lnTo>
                  <a:pt x="132549" y="628650"/>
                </a:lnTo>
                <a:lnTo>
                  <a:pt x="140957" y="636270"/>
                </a:lnTo>
                <a:lnTo>
                  <a:pt x="149682" y="641350"/>
                </a:lnTo>
                <a:lnTo>
                  <a:pt x="158559" y="647700"/>
                </a:lnTo>
                <a:lnTo>
                  <a:pt x="191008" y="666750"/>
                </a:lnTo>
                <a:lnTo>
                  <a:pt x="201828" y="671830"/>
                </a:lnTo>
                <a:lnTo>
                  <a:pt x="204368" y="673100"/>
                </a:lnTo>
                <a:lnTo>
                  <a:pt x="207772" y="674370"/>
                </a:lnTo>
                <a:lnTo>
                  <a:pt x="210312" y="674370"/>
                </a:lnTo>
                <a:lnTo>
                  <a:pt x="218795" y="679450"/>
                </a:lnTo>
                <a:lnTo>
                  <a:pt x="223037" y="680720"/>
                </a:lnTo>
                <a:lnTo>
                  <a:pt x="226428" y="683260"/>
                </a:lnTo>
                <a:lnTo>
                  <a:pt x="230670" y="684530"/>
                </a:lnTo>
                <a:lnTo>
                  <a:pt x="234061" y="685800"/>
                </a:lnTo>
                <a:lnTo>
                  <a:pt x="238302" y="685800"/>
                </a:lnTo>
                <a:lnTo>
                  <a:pt x="242544" y="688340"/>
                </a:lnTo>
                <a:lnTo>
                  <a:pt x="246786" y="688340"/>
                </a:lnTo>
                <a:lnTo>
                  <a:pt x="268643" y="695960"/>
                </a:lnTo>
                <a:lnTo>
                  <a:pt x="279958" y="699770"/>
                </a:lnTo>
                <a:lnTo>
                  <a:pt x="291757" y="701040"/>
                </a:lnTo>
                <a:lnTo>
                  <a:pt x="293446" y="701040"/>
                </a:lnTo>
                <a:lnTo>
                  <a:pt x="299389" y="701040"/>
                </a:lnTo>
                <a:lnTo>
                  <a:pt x="314655" y="706120"/>
                </a:lnTo>
                <a:lnTo>
                  <a:pt x="320598" y="707390"/>
                </a:lnTo>
                <a:lnTo>
                  <a:pt x="332473" y="708660"/>
                </a:lnTo>
                <a:lnTo>
                  <a:pt x="334175" y="708660"/>
                </a:lnTo>
                <a:lnTo>
                  <a:pt x="342658" y="708660"/>
                </a:lnTo>
                <a:lnTo>
                  <a:pt x="349440" y="708660"/>
                </a:lnTo>
                <a:lnTo>
                  <a:pt x="356311" y="709930"/>
                </a:lnTo>
                <a:lnTo>
                  <a:pt x="354609" y="709930"/>
                </a:lnTo>
                <a:lnTo>
                  <a:pt x="374891" y="713740"/>
                </a:lnTo>
                <a:lnTo>
                  <a:pt x="382524" y="713740"/>
                </a:lnTo>
                <a:lnTo>
                  <a:pt x="399491" y="713740"/>
                </a:lnTo>
                <a:lnTo>
                  <a:pt x="419011" y="713740"/>
                </a:lnTo>
                <a:lnTo>
                  <a:pt x="425716" y="715010"/>
                </a:lnTo>
                <a:lnTo>
                  <a:pt x="438518" y="715010"/>
                </a:lnTo>
                <a:lnTo>
                  <a:pt x="444461" y="713740"/>
                </a:lnTo>
                <a:lnTo>
                  <a:pt x="484327" y="713740"/>
                </a:lnTo>
                <a:lnTo>
                  <a:pt x="500456" y="713740"/>
                </a:lnTo>
                <a:lnTo>
                  <a:pt x="504698" y="711200"/>
                </a:lnTo>
                <a:lnTo>
                  <a:pt x="521665" y="711200"/>
                </a:lnTo>
                <a:lnTo>
                  <a:pt x="525907" y="711200"/>
                </a:lnTo>
                <a:lnTo>
                  <a:pt x="527596" y="712470"/>
                </a:lnTo>
                <a:lnTo>
                  <a:pt x="534390" y="712470"/>
                </a:lnTo>
                <a:lnTo>
                  <a:pt x="537781" y="711200"/>
                </a:lnTo>
                <a:lnTo>
                  <a:pt x="544563" y="711200"/>
                </a:lnTo>
                <a:lnTo>
                  <a:pt x="548805" y="709930"/>
                </a:lnTo>
                <a:lnTo>
                  <a:pt x="539470" y="709930"/>
                </a:lnTo>
                <a:lnTo>
                  <a:pt x="523786" y="709930"/>
                </a:lnTo>
                <a:lnTo>
                  <a:pt x="525907" y="708660"/>
                </a:lnTo>
                <a:lnTo>
                  <a:pt x="528447" y="708660"/>
                </a:lnTo>
                <a:lnTo>
                  <a:pt x="536079" y="708660"/>
                </a:lnTo>
                <a:lnTo>
                  <a:pt x="539470" y="709930"/>
                </a:lnTo>
                <a:lnTo>
                  <a:pt x="540740" y="708660"/>
                </a:lnTo>
                <a:lnTo>
                  <a:pt x="548805" y="708660"/>
                </a:lnTo>
                <a:lnTo>
                  <a:pt x="568312" y="708660"/>
                </a:lnTo>
                <a:lnTo>
                  <a:pt x="575106" y="707390"/>
                </a:lnTo>
                <a:lnTo>
                  <a:pt x="588683" y="706120"/>
                </a:lnTo>
                <a:lnTo>
                  <a:pt x="596315" y="703580"/>
                </a:lnTo>
                <a:lnTo>
                  <a:pt x="603097" y="703580"/>
                </a:lnTo>
                <a:lnTo>
                  <a:pt x="618375" y="701040"/>
                </a:lnTo>
                <a:lnTo>
                  <a:pt x="621766" y="699770"/>
                </a:lnTo>
                <a:lnTo>
                  <a:pt x="624306" y="698500"/>
                </a:lnTo>
                <a:lnTo>
                  <a:pt x="637032" y="698500"/>
                </a:lnTo>
                <a:lnTo>
                  <a:pt x="647217" y="694690"/>
                </a:lnTo>
                <a:lnTo>
                  <a:pt x="653148" y="693420"/>
                </a:lnTo>
                <a:lnTo>
                  <a:pt x="658241" y="692150"/>
                </a:lnTo>
                <a:lnTo>
                  <a:pt x="661631" y="692150"/>
                </a:lnTo>
                <a:lnTo>
                  <a:pt x="664184" y="690880"/>
                </a:lnTo>
                <a:lnTo>
                  <a:pt x="667575" y="690880"/>
                </a:lnTo>
                <a:lnTo>
                  <a:pt x="693026" y="685800"/>
                </a:lnTo>
                <a:lnTo>
                  <a:pt x="694728" y="685800"/>
                </a:lnTo>
                <a:lnTo>
                  <a:pt x="703211" y="680720"/>
                </a:lnTo>
                <a:lnTo>
                  <a:pt x="711695" y="680720"/>
                </a:lnTo>
                <a:lnTo>
                  <a:pt x="714235" y="679450"/>
                </a:lnTo>
                <a:lnTo>
                  <a:pt x="717626" y="678180"/>
                </a:lnTo>
                <a:lnTo>
                  <a:pt x="748169" y="668020"/>
                </a:lnTo>
                <a:lnTo>
                  <a:pt x="757440" y="665480"/>
                </a:lnTo>
                <a:lnTo>
                  <a:pt x="775017" y="657860"/>
                </a:lnTo>
                <a:lnTo>
                  <a:pt x="783805" y="655320"/>
                </a:lnTo>
                <a:lnTo>
                  <a:pt x="795680" y="651510"/>
                </a:lnTo>
                <a:lnTo>
                  <a:pt x="801611" y="648970"/>
                </a:lnTo>
                <a:lnTo>
                  <a:pt x="805014" y="647700"/>
                </a:lnTo>
                <a:lnTo>
                  <a:pt x="846582" y="628650"/>
                </a:lnTo>
                <a:lnTo>
                  <a:pt x="851674" y="626110"/>
                </a:lnTo>
                <a:lnTo>
                  <a:pt x="855916" y="623570"/>
                </a:lnTo>
                <a:lnTo>
                  <a:pt x="868489" y="617220"/>
                </a:lnTo>
                <a:lnTo>
                  <a:pt x="875741" y="613410"/>
                </a:lnTo>
                <a:lnTo>
                  <a:pt x="882827" y="610870"/>
                </a:lnTo>
                <a:lnTo>
                  <a:pt x="889850" y="607060"/>
                </a:lnTo>
                <a:lnTo>
                  <a:pt x="894930" y="604520"/>
                </a:lnTo>
                <a:lnTo>
                  <a:pt x="899172" y="603250"/>
                </a:lnTo>
                <a:lnTo>
                  <a:pt x="924623" y="590550"/>
                </a:lnTo>
                <a:lnTo>
                  <a:pt x="930567" y="586740"/>
                </a:lnTo>
                <a:lnTo>
                  <a:pt x="935659" y="582930"/>
                </a:lnTo>
                <a:lnTo>
                  <a:pt x="942441" y="580390"/>
                </a:lnTo>
                <a:lnTo>
                  <a:pt x="944143" y="579120"/>
                </a:lnTo>
                <a:lnTo>
                  <a:pt x="946683" y="577850"/>
                </a:lnTo>
                <a:lnTo>
                  <a:pt x="947953" y="575945"/>
                </a:lnTo>
                <a:lnTo>
                  <a:pt x="949236" y="575310"/>
                </a:lnTo>
                <a:lnTo>
                  <a:pt x="950925" y="574040"/>
                </a:lnTo>
                <a:lnTo>
                  <a:pt x="952627" y="572770"/>
                </a:lnTo>
                <a:lnTo>
                  <a:pt x="954316" y="571500"/>
                </a:lnTo>
                <a:lnTo>
                  <a:pt x="972134" y="560070"/>
                </a:lnTo>
                <a:lnTo>
                  <a:pt x="977226" y="555713"/>
                </a:lnTo>
                <a:lnTo>
                  <a:pt x="982319" y="552450"/>
                </a:lnTo>
                <a:lnTo>
                  <a:pt x="987412" y="547370"/>
                </a:lnTo>
                <a:lnTo>
                  <a:pt x="988275" y="546633"/>
                </a:lnTo>
                <a:lnTo>
                  <a:pt x="989101" y="546100"/>
                </a:lnTo>
                <a:lnTo>
                  <a:pt x="993521" y="542175"/>
                </a:lnTo>
                <a:lnTo>
                  <a:pt x="999058" y="538480"/>
                </a:lnTo>
                <a:lnTo>
                  <a:pt x="1004697" y="533400"/>
                </a:lnTo>
                <a:lnTo>
                  <a:pt x="1010170" y="528320"/>
                </a:lnTo>
                <a:lnTo>
                  <a:pt x="1015403" y="524510"/>
                </a:lnTo>
                <a:lnTo>
                  <a:pt x="1021499" y="516890"/>
                </a:lnTo>
                <a:lnTo>
                  <a:pt x="1033056" y="504190"/>
                </a:lnTo>
                <a:lnTo>
                  <a:pt x="1034110" y="503148"/>
                </a:lnTo>
                <a:lnTo>
                  <a:pt x="1035761" y="501650"/>
                </a:lnTo>
                <a:lnTo>
                  <a:pt x="1035812" y="501497"/>
                </a:lnTo>
                <a:lnTo>
                  <a:pt x="1040853" y="496570"/>
                </a:lnTo>
                <a:lnTo>
                  <a:pt x="1043393" y="492760"/>
                </a:lnTo>
                <a:lnTo>
                  <a:pt x="1045095" y="488950"/>
                </a:lnTo>
                <a:lnTo>
                  <a:pt x="1047635" y="486410"/>
                </a:lnTo>
                <a:lnTo>
                  <a:pt x="1052436" y="481330"/>
                </a:lnTo>
                <a:lnTo>
                  <a:pt x="1056754" y="474980"/>
                </a:lnTo>
                <a:lnTo>
                  <a:pt x="1060767" y="469900"/>
                </a:lnTo>
                <a:lnTo>
                  <a:pt x="1064602" y="463550"/>
                </a:lnTo>
                <a:lnTo>
                  <a:pt x="1068844" y="457200"/>
                </a:lnTo>
                <a:lnTo>
                  <a:pt x="1071397" y="449580"/>
                </a:lnTo>
                <a:lnTo>
                  <a:pt x="1073937" y="443230"/>
                </a:lnTo>
                <a:lnTo>
                  <a:pt x="1077328" y="435610"/>
                </a:lnTo>
                <a:lnTo>
                  <a:pt x="1078179" y="427990"/>
                </a:lnTo>
                <a:lnTo>
                  <a:pt x="1083271" y="420370"/>
                </a:lnTo>
                <a:lnTo>
                  <a:pt x="1083271" y="419100"/>
                </a:lnTo>
                <a:lnTo>
                  <a:pt x="1084414" y="410210"/>
                </a:lnTo>
                <a:lnTo>
                  <a:pt x="1086370" y="393700"/>
                </a:lnTo>
                <a:lnTo>
                  <a:pt x="1087513" y="384810"/>
                </a:lnTo>
                <a:lnTo>
                  <a:pt x="1088224" y="377190"/>
                </a:lnTo>
                <a:close/>
              </a:path>
            </a:pathLst>
          </a:custGeom>
          <a:solidFill>
            <a:srgbClr val="E7181F"/>
          </a:solidFill>
        </p:spPr>
        <p:txBody>
          <a:bodyPr wrap="square" lIns="0" tIns="0" rIns="0" bIns="0" rtlCol="0"/>
          <a:lstStyle/>
          <a:p>
            <a:endParaRPr/>
          </a:p>
        </p:txBody>
      </p:sp>
      <p:sp>
        <p:nvSpPr>
          <p:cNvPr id="22" name="object 22"/>
          <p:cNvSpPr txBox="1"/>
          <p:nvPr/>
        </p:nvSpPr>
        <p:spPr>
          <a:xfrm>
            <a:off x="4835562" y="7119740"/>
            <a:ext cx="176530" cy="482600"/>
          </a:xfrm>
          <a:prstGeom prst="rect">
            <a:avLst/>
          </a:prstGeom>
        </p:spPr>
        <p:txBody>
          <a:bodyPr vert="horz" wrap="square" lIns="0" tIns="12700" rIns="0" bIns="0" rtlCol="0">
            <a:spAutoFit/>
          </a:bodyPr>
          <a:lstStyle/>
          <a:p>
            <a:pPr marL="12700">
              <a:lnSpc>
                <a:spcPct val="100000"/>
              </a:lnSpc>
              <a:spcBef>
                <a:spcPts val="100"/>
              </a:spcBef>
            </a:pPr>
            <a:r>
              <a:rPr sz="3000" b="1" spc="-365" dirty="0">
                <a:solidFill>
                  <a:srgbClr val="FF3131"/>
                </a:solidFill>
                <a:latin typeface="Times New Roman"/>
                <a:cs typeface="Times New Roman"/>
              </a:rPr>
              <a:t>1</a:t>
            </a:r>
            <a:endParaRPr sz="3000">
              <a:latin typeface="Times New Roman"/>
              <a:cs typeface="Times New Roman"/>
            </a:endParaRPr>
          </a:p>
        </p:txBody>
      </p:sp>
      <p:sp>
        <p:nvSpPr>
          <p:cNvPr id="23" name="object 23"/>
          <p:cNvSpPr/>
          <p:nvPr/>
        </p:nvSpPr>
        <p:spPr>
          <a:xfrm>
            <a:off x="9908959" y="7051128"/>
            <a:ext cx="1088390" cy="715010"/>
          </a:xfrm>
          <a:custGeom>
            <a:avLst/>
            <a:gdLst/>
            <a:ahLst/>
            <a:cxnLst/>
            <a:rect l="l" t="t" r="r" b="b"/>
            <a:pathLst>
              <a:path w="1088390" h="715009">
                <a:moveTo>
                  <a:pt x="1088224" y="377190"/>
                </a:moveTo>
                <a:lnTo>
                  <a:pt x="1088148" y="368300"/>
                </a:lnTo>
                <a:lnTo>
                  <a:pt x="1087755" y="360680"/>
                </a:lnTo>
                <a:lnTo>
                  <a:pt x="1087704" y="359410"/>
                </a:lnTo>
                <a:lnTo>
                  <a:pt x="1087589" y="355600"/>
                </a:lnTo>
                <a:lnTo>
                  <a:pt x="1087513" y="353060"/>
                </a:lnTo>
                <a:lnTo>
                  <a:pt x="1087424" y="351790"/>
                </a:lnTo>
                <a:lnTo>
                  <a:pt x="1087094" y="346710"/>
                </a:lnTo>
                <a:lnTo>
                  <a:pt x="1086129" y="339090"/>
                </a:lnTo>
                <a:lnTo>
                  <a:pt x="1084999" y="332740"/>
                </a:lnTo>
                <a:lnTo>
                  <a:pt x="1084122" y="326390"/>
                </a:lnTo>
                <a:lnTo>
                  <a:pt x="1084122" y="325120"/>
                </a:lnTo>
                <a:lnTo>
                  <a:pt x="1083271" y="323850"/>
                </a:lnTo>
                <a:lnTo>
                  <a:pt x="1083271" y="322580"/>
                </a:lnTo>
                <a:lnTo>
                  <a:pt x="1080719" y="318770"/>
                </a:lnTo>
                <a:lnTo>
                  <a:pt x="1080719" y="307340"/>
                </a:lnTo>
                <a:lnTo>
                  <a:pt x="1079881" y="304800"/>
                </a:lnTo>
                <a:lnTo>
                  <a:pt x="1078179" y="300990"/>
                </a:lnTo>
                <a:lnTo>
                  <a:pt x="1075639" y="297180"/>
                </a:lnTo>
                <a:lnTo>
                  <a:pt x="1075639" y="292100"/>
                </a:lnTo>
                <a:lnTo>
                  <a:pt x="1072235" y="287020"/>
                </a:lnTo>
                <a:lnTo>
                  <a:pt x="1069695" y="279400"/>
                </a:lnTo>
                <a:lnTo>
                  <a:pt x="1056970" y="256540"/>
                </a:lnTo>
                <a:lnTo>
                  <a:pt x="1054430" y="251460"/>
                </a:lnTo>
                <a:lnTo>
                  <a:pt x="1051026" y="247650"/>
                </a:lnTo>
                <a:lnTo>
                  <a:pt x="1048486" y="241300"/>
                </a:lnTo>
                <a:lnTo>
                  <a:pt x="1046784" y="237490"/>
                </a:lnTo>
                <a:lnTo>
                  <a:pt x="1038301" y="224790"/>
                </a:lnTo>
                <a:lnTo>
                  <a:pt x="1032370" y="219710"/>
                </a:lnTo>
                <a:lnTo>
                  <a:pt x="1030668" y="213360"/>
                </a:lnTo>
                <a:lnTo>
                  <a:pt x="1030668" y="212090"/>
                </a:lnTo>
                <a:lnTo>
                  <a:pt x="1028979" y="212090"/>
                </a:lnTo>
                <a:lnTo>
                  <a:pt x="1028128" y="210820"/>
                </a:lnTo>
                <a:lnTo>
                  <a:pt x="1027277" y="210820"/>
                </a:lnTo>
                <a:lnTo>
                  <a:pt x="1018794" y="200660"/>
                </a:lnTo>
                <a:lnTo>
                  <a:pt x="1013701" y="194310"/>
                </a:lnTo>
                <a:lnTo>
                  <a:pt x="998753" y="177800"/>
                </a:lnTo>
                <a:lnTo>
                  <a:pt x="991158" y="170180"/>
                </a:lnTo>
                <a:lnTo>
                  <a:pt x="973836" y="153670"/>
                </a:lnTo>
                <a:lnTo>
                  <a:pt x="969594" y="151130"/>
                </a:lnTo>
                <a:lnTo>
                  <a:pt x="964349" y="146050"/>
                </a:lnTo>
                <a:lnTo>
                  <a:pt x="958875" y="142240"/>
                </a:lnTo>
                <a:lnTo>
                  <a:pt x="953249" y="137160"/>
                </a:lnTo>
                <a:lnTo>
                  <a:pt x="947534" y="133350"/>
                </a:lnTo>
                <a:lnTo>
                  <a:pt x="942441" y="128270"/>
                </a:lnTo>
                <a:lnTo>
                  <a:pt x="936498" y="124460"/>
                </a:lnTo>
                <a:lnTo>
                  <a:pt x="931418" y="120650"/>
                </a:lnTo>
                <a:lnTo>
                  <a:pt x="930567" y="120650"/>
                </a:lnTo>
                <a:lnTo>
                  <a:pt x="930567" y="119380"/>
                </a:lnTo>
                <a:lnTo>
                  <a:pt x="929716" y="119380"/>
                </a:lnTo>
                <a:lnTo>
                  <a:pt x="925474" y="116840"/>
                </a:lnTo>
                <a:lnTo>
                  <a:pt x="920381" y="114300"/>
                </a:lnTo>
                <a:lnTo>
                  <a:pt x="916139" y="110490"/>
                </a:lnTo>
                <a:lnTo>
                  <a:pt x="911047" y="107950"/>
                </a:lnTo>
                <a:lnTo>
                  <a:pt x="906805" y="104140"/>
                </a:lnTo>
                <a:lnTo>
                  <a:pt x="894080" y="95250"/>
                </a:lnTo>
                <a:lnTo>
                  <a:pt x="882205" y="90170"/>
                </a:lnTo>
                <a:lnTo>
                  <a:pt x="870331" y="82550"/>
                </a:lnTo>
                <a:lnTo>
                  <a:pt x="858456" y="77470"/>
                </a:lnTo>
                <a:lnTo>
                  <a:pt x="847229" y="74930"/>
                </a:lnTo>
                <a:lnTo>
                  <a:pt x="837349" y="72390"/>
                </a:lnTo>
                <a:lnTo>
                  <a:pt x="828268" y="68580"/>
                </a:lnTo>
                <a:lnTo>
                  <a:pt x="819429" y="64770"/>
                </a:lnTo>
                <a:lnTo>
                  <a:pt x="810742" y="62344"/>
                </a:lnTo>
                <a:lnTo>
                  <a:pt x="810514" y="62230"/>
                </a:lnTo>
                <a:lnTo>
                  <a:pt x="810120" y="62128"/>
                </a:lnTo>
                <a:lnTo>
                  <a:pt x="801192" y="58420"/>
                </a:lnTo>
                <a:lnTo>
                  <a:pt x="787476" y="54610"/>
                </a:lnTo>
                <a:lnTo>
                  <a:pt x="782955" y="53340"/>
                </a:lnTo>
                <a:lnTo>
                  <a:pt x="773544" y="50800"/>
                </a:lnTo>
                <a:lnTo>
                  <a:pt x="755040" y="45720"/>
                </a:lnTo>
                <a:lnTo>
                  <a:pt x="745617" y="44450"/>
                </a:lnTo>
                <a:lnTo>
                  <a:pt x="734377" y="43192"/>
                </a:lnTo>
                <a:lnTo>
                  <a:pt x="728726" y="41910"/>
                </a:lnTo>
                <a:lnTo>
                  <a:pt x="723138" y="40640"/>
                </a:lnTo>
                <a:lnTo>
                  <a:pt x="711974" y="38100"/>
                </a:lnTo>
                <a:lnTo>
                  <a:pt x="700659" y="36830"/>
                </a:lnTo>
                <a:lnTo>
                  <a:pt x="674357" y="34290"/>
                </a:lnTo>
                <a:lnTo>
                  <a:pt x="667575" y="33020"/>
                </a:lnTo>
                <a:lnTo>
                  <a:pt x="661631" y="33020"/>
                </a:lnTo>
                <a:lnTo>
                  <a:pt x="635342" y="33020"/>
                </a:lnTo>
                <a:lnTo>
                  <a:pt x="620064" y="33020"/>
                </a:lnTo>
                <a:lnTo>
                  <a:pt x="614133" y="31750"/>
                </a:lnTo>
                <a:lnTo>
                  <a:pt x="608190" y="33020"/>
                </a:lnTo>
                <a:lnTo>
                  <a:pt x="603948" y="35560"/>
                </a:lnTo>
                <a:lnTo>
                  <a:pt x="598004" y="33020"/>
                </a:lnTo>
                <a:lnTo>
                  <a:pt x="592074" y="33020"/>
                </a:lnTo>
                <a:lnTo>
                  <a:pt x="581037" y="33020"/>
                </a:lnTo>
                <a:lnTo>
                  <a:pt x="575106" y="33020"/>
                </a:lnTo>
                <a:lnTo>
                  <a:pt x="571715" y="33020"/>
                </a:lnTo>
                <a:lnTo>
                  <a:pt x="570014" y="34290"/>
                </a:lnTo>
                <a:lnTo>
                  <a:pt x="569163" y="34290"/>
                </a:lnTo>
                <a:lnTo>
                  <a:pt x="567474" y="35560"/>
                </a:lnTo>
                <a:lnTo>
                  <a:pt x="560679" y="35560"/>
                </a:lnTo>
                <a:lnTo>
                  <a:pt x="542442" y="35560"/>
                </a:lnTo>
                <a:lnTo>
                  <a:pt x="535444" y="36830"/>
                </a:lnTo>
                <a:lnTo>
                  <a:pt x="528447" y="36830"/>
                </a:lnTo>
                <a:lnTo>
                  <a:pt x="525894" y="38100"/>
                </a:lnTo>
                <a:lnTo>
                  <a:pt x="522503" y="36830"/>
                </a:lnTo>
                <a:lnTo>
                  <a:pt x="519963" y="38100"/>
                </a:lnTo>
                <a:lnTo>
                  <a:pt x="505536" y="40640"/>
                </a:lnTo>
                <a:lnTo>
                  <a:pt x="498487" y="40640"/>
                </a:lnTo>
                <a:lnTo>
                  <a:pt x="487718" y="41910"/>
                </a:lnTo>
                <a:lnTo>
                  <a:pt x="484327" y="40640"/>
                </a:lnTo>
                <a:lnTo>
                  <a:pt x="480936" y="43180"/>
                </a:lnTo>
                <a:lnTo>
                  <a:pt x="479234" y="43180"/>
                </a:lnTo>
                <a:lnTo>
                  <a:pt x="477545" y="43180"/>
                </a:lnTo>
                <a:lnTo>
                  <a:pt x="475843" y="41910"/>
                </a:lnTo>
                <a:lnTo>
                  <a:pt x="474992" y="43180"/>
                </a:lnTo>
                <a:lnTo>
                  <a:pt x="471601" y="45720"/>
                </a:lnTo>
                <a:lnTo>
                  <a:pt x="468210" y="45720"/>
                </a:lnTo>
                <a:lnTo>
                  <a:pt x="464820" y="46990"/>
                </a:lnTo>
                <a:lnTo>
                  <a:pt x="460578" y="46990"/>
                </a:lnTo>
                <a:lnTo>
                  <a:pt x="459727" y="46990"/>
                </a:lnTo>
                <a:lnTo>
                  <a:pt x="457187" y="49530"/>
                </a:lnTo>
                <a:lnTo>
                  <a:pt x="455485" y="50800"/>
                </a:lnTo>
                <a:lnTo>
                  <a:pt x="454634" y="50800"/>
                </a:lnTo>
                <a:lnTo>
                  <a:pt x="449541" y="49530"/>
                </a:lnTo>
                <a:lnTo>
                  <a:pt x="446151" y="52070"/>
                </a:lnTo>
                <a:lnTo>
                  <a:pt x="445731" y="52324"/>
                </a:lnTo>
                <a:lnTo>
                  <a:pt x="436816" y="55880"/>
                </a:lnTo>
                <a:lnTo>
                  <a:pt x="436816" y="57150"/>
                </a:lnTo>
                <a:lnTo>
                  <a:pt x="438264" y="58788"/>
                </a:lnTo>
                <a:lnTo>
                  <a:pt x="439369" y="60960"/>
                </a:lnTo>
                <a:lnTo>
                  <a:pt x="439369" y="62230"/>
                </a:lnTo>
                <a:lnTo>
                  <a:pt x="437667" y="62230"/>
                </a:lnTo>
                <a:lnTo>
                  <a:pt x="432574" y="64770"/>
                </a:lnTo>
                <a:lnTo>
                  <a:pt x="434276" y="67310"/>
                </a:lnTo>
                <a:lnTo>
                  <a:pt x="435127" y="67310"/>
                </a:lnTo>
                <a:lnTo>
                  <a:pt x="435978" y="67310"/>
                </a:lnTo>
                <a:lnTo>
                  <a:pt x="439369" y="67310"/>
                </a:lnTo>
                <a:lnTo>
                  <a:pt x="443611" y="64770"/>
                </a:lnTo>
                <a:lnTo>
                  <a:pt x="448703" y="64770"/>
                </a:lnTo>
                <a:lnTo>
                  <a:pt x="449541" y="63500"/>
                </a:lnTo>
                <a:lnTo>
                  <a:pt x="455485" y="63500"/>
                </a:lnTo>
                <a:lnTo>
                  <a:pt x="460578" y="62230"/>
                </a:lnTo>
                <a:lnTo>
                  <a:pt x="469061" y="62230"/>
                </a:lnTo>
                <a:lnTo>
                  <a:pt x="469061" y="59690"/>
                </a:lnTo>
                <a:lnTo>
                  <a:pt x="469061" y="57150"/>
                </a:lnTo>
                <a:lnTo>
                  <a:pt x="476694" y="57150"/>
                </a:lnTo>
                <a:lnTo>
                  <a:pt x="476694" y="59690"/>
                </a:lnTo>
                <a:lnTo>
                  <a:pt x="476694" y="60960"/>
                </a:lnTo>
                <a:lnTo>
                  <a:pt x="481787" y="62230"/>
                </a:lnTo>
                <a:lnTo>
                  <a:pt x="486029" y="62230"/>
                </a:lnTo>
                <a:lnTo>
                  <a:pt x="490270" y="59690"/>
                </a:lnTo>
                <a:lnTo>
                  <a:pt x="489204" y="58115"/>
                </a:lnTo>
                <a:lnTo>
                  <a:pt x="490270" y="57150"/>
                </a:lnTo>
                <a:lnTo>
                  <a:pt x="488569" y="55880"/>
                </a:lnTo>
                <a:lnTo>
                  <a:pt x="488391" y="55626"/>
                </a:lnTo>
                <a:lnTo>
                  <a:pt x="491121" y="54610"/>
                </a:lnTo>
                <a:lnTo>
                  <a:pt x="493661" y="54610"/>
                </a:lnTo>
                <a:lnTo>
                  <a:pt x="496189" y="58420"/>
                </a:lnTo>
                <a:lnTo>
                  <a:pt x="497052" y="59690"/>
                </a:lnTo>
                <a:lnTo>
                  <a:pt x="499605" y="60960"/>
                </a:lnTo>
                <a:lnTo>
                  <a:pt x="502145" y="60960"/>
                </a:lnTo>
                <a:lnTo>
                  <a:pt x="508927" y="59690"/>
                </a:lnTo>
                <a:lnTo>
                  <a:pt x="514870" y="58420"/>
                </a:lnTo>
                <a:lnTo>
                  <a:pt x="521652" y="58420"/>
                </a:lnTo>
                <a:lnTo>
                  <a:pt x="553897" y="55880"/>
                </a:lnTo>
                <a:lnTo>
                  <a:pt x="561530" y="54610"/>
                </a:lnTo>
                <a:lnTo>
                  <a:pt x="623328" y="54610"/>
                </a:lnTo>
                <a:lnTo>
                  <a:pt x="636181" y="55880"/>
                </a:lnTo>
                <a:lnTo>
                  <a:pt x="643826" y="57150"/>
                </a:lnTo>
                <a:lnTo>
                  <a:pt x="660793" y="57150"/>
                </a:lnTo>
                <a:lnTo>
                  <a:pt x="674357" y="57150"/>
                </a:lnTo>
                <a:lnTo>
                  <a:pt x="677748" y="58420"/>
                </a:lnTo>
                <a:lnTo>
                  <a:pt x="684542" y="58420"/>
                </a:lnTo>
                <a:lnTo>
                  <a:pt x="686231" y="58420"/>
                </a:lnTo>
                <a:lnTo>
                  <a:pt x="688784" y="59690"/>
                </a:lnTo>
                <a:lnTo>
                  <a:pt x="695566" y="58420"/>
                </a:lnTo>
                <a:lnTo>
                  <a:pt x="701509" y="59690"/>
                </a:lnTo>
                <a:lnTo>
                  <a:pt x="707440" y="59690"/>
                </a:lnTo>
                <a:lnTo>
                  <a:pt x="711682" y="59690"/>
                </a:lnTo>
                <a:lnTo>
                  <a:pt x="715086" y="60960"/>
                </a:lnTo>
                <a:lnTo>
                  <a:pt x="716775" y="60960"/>
                </a:lnTo>
                <a:lnTo>
                  <a:pt x="725258" y="62230"/>
                </a:lnTo>
                <a:lnTo>
                  <a:pt x="732891" y="64770"/>
                </a:lnTo>
                <a:lnTo>
                  <a:pt x="736295" y="65544"/>
                </a:lnTo>
                <a:lnTo>
                  <a:pt x="742226" y="67310"/>
                </a:lnTo>
                <a:lnTo>
                  <a:pt x="749858" y="68580"/>
                </a:lnTo>
                <a:lnTo>
                  <a:pt x="757504" y="69850"/>
                </a:lnTo>
                <a:lnTo>
                  <a:pt x="772769" y="74930"/>
                </a:lnTo>
                <a:lnTo>
                  <a:pt x="780402" y="74930"/>
                </a:lnTo>
                <a:lnTo>
                  <a:pt x="818578" y="87630"/>
                </a:lnTo>
                <a:lnTo>
                  <a:pt x="824522" y="90170"/>
                </a:lnTo>
                <a:lnTo>
                  <a:pt x="829614" y="92710"/>
                </a:lnTo>
                <a:lnTo>
                  <a:pt x="835545" y="93980"/>
                </a:lnTo>
                <a:lnTo>
                  <a:pt x="839787" y="95250"/>
                </a:lnTo>
                <a:lnTo>
                  <a:pt x="844029" y="97790"/>
                </a:lnTo>
                <a:lnTo>
                  <a:pt x="849122" y="100330"/>
                </a:lnTo>
                <a:lnTo>
                  <a:pt x="855903" y="102870"/>
                </a:lnTo>
                <a:lnTo>
                  <a:pt x="862698" y="106680"/>
                </a:lnTo>
                <a:lnTo>
                  <a:pt x="868629" y="110490"/>
                </a:lnTo>
                <a:lnTo>
                  <a:pt x="872032" y="113030"/>
                </a:lnTo>
                <a:lnTo>
                  <a:pt x="880516" y="115570"/>
                </a:lnTo>
                <a:lnTo>
                  <a:pt x="890689" y="120650"/>
                </a:lnTo>
                <a:lnTo>
                  <a:pt x="895781" y="124460"/>
                </a:lnTo>
                <a:lnTo>
                  <a:pt x="898321" y="127000"/>
                </a:lnTo>
                <a:lnTo>
                  <a:pt x="901725" y="128270"/>
                </a:lnTo>
                <a:lnTo>
                  <a:pt x="904265" y="130810"/>
                </a:lnTo>
                <a:lnTo>
                  <a:pt x="908507" y="133350"/>
                </a:lnTo>
                <a:lnTo>
                  <a:pt x="913599" y="135890"/>
                </a:lnTo>
                <a:lnTo>
                  <a:pt x="917841" y="138430"/>
                </a:lnTo>
                <a:lnTo>
                  <a:pt x="923798" y="143510"/>
                </a:lnTo>
                <a:lnTo>
                  <a:pt x="929932" y="147320"/>
                </a:lnTo>
                <a:lnTo>
                  <a:pt x="935736" y="151130"/>
                </a:lnTo>
                <a:lnTo>
                  <a:pt x="940739" y="156210"/>
                </a:lnTo>
                <a:lnTo>
                  <a:pt x="946442" y="161290"/>
                </a:lnTo>
                <a:lnTo>
                  <a:pt x="951979" y="165100"/>
                </a:lnTo>
                <a:lnTo>
                  <a:pt x="957211" y="168910"/>
                </a:lnTo>
                <a:lnTo>
                  <a:pt x="966673" y="179070"/>
                </a:lnTo>
                <a:lnTo>
                  <a:pt x="971715" y="182880"/>
                </a:lnTo>
                <a:lnTo>
                  <a:pt x="976744" y="187960"/>
                </a:lnTo>
                <a:lnTo>
                  <a:pt x="981468" y="191770"/>
                </a:lnTo>
                <a:lnTo>
                  <a:pt x="984859" y="195580"/>
                </a:lnTo>
                <a:lnTo>
                  <a:pt x="987399" y="199390"/>
                </a:lnTo>
                <a:lnTo>
                  <a:pt x="990803" y="201930"/>
                </a:lnTo>
                <a:lnTo>
                  <a:pt x="996734" y="207010"/>
                </a:lnTo>
                <a:lnTo>
                  <a:pt x="1001826" y="213360"/>
                </a:lnTo>
                <a:lnTo>
                  <a:pt x="1006068" y="219710"/>
                </a:lnTo>
                <a:lnTo>
                  <a:pt x="1011161" y="226060"/>
                </a:lnTo>
                <a:lnTo>
                  <a:pt x="1017092" y="232410"/>
                </a:lnTo>
                <a:lnTo>
                  <a:pt x="1019644" y="240030"/>
                </a:lnTo>
                <a:lnTo>
                  <a:pt x="1025575" y="245110"/>
                </a:lnTo>
                <a:lnTo>
                  <a:pt x="1026426" y="252730"/>
                </a:lnTo>
                <a:lnTo>
                  <a:pt x="1032370" y="257810"/>
                </a:lnTo>
                <a:lnTo>
                  <a:pt x="1039901" y="271780"/>
                </a:lnTo>
                <a:lnTo>
                  <a:pt x="1055268" y="307340"/>
                </a:lnTo>
                <a:lnTo>
                  <a:pt x="1056119" y="311150"/>
                </a:lnTo>
                <a:lnTo>
                  <a:pt x="1057821" y="316230"/>
                </a:lnTo>
                <a:lnTo>
                  <a:pt x="1059510" y="320040"/>
                </a:lnTo>
                <a:lnTo>
                  <a:pt x="1060361" y="325120"/>
                </a:lnTo>
                <a:lnTo>
                  <a:pt x="1061212" y="328930"/>
                </a:lnTo>
                <a:lnTo>
                  <a:pt x="1061212" y="332740"/>
                </a:lnTo>
                <a:lnTo>
                  <a:pt x="1062062" y="335280"/>
                </a:lnTo>
                <a:lnTo>
                  <a:pt x="1062913" y="342900"/>
                </a:lnTo>
                <a:lnTo>
                  <a:pt x="1064602" y="349250"/>
                </a:lnTo>
                <a:lnTo>
                  <a:pt x="1063752" y="355600"/>
                </a:lnTo>
                <a:lnTo>
                  <a:pt x="1063752" y="359410"/>
                </a:lnTo>
                <a:lnTo>
                  <a:pt x="1063752" y="360680"/>
                </a:lnTo>
                <a:lnTo>
                  <a:pt x="1062913" y="365760"/>
                </a:lnTo>
                <a:lnTo>
                  <a:pt x="1062850" y="377190"/>
                </a:lnTo>
                <a:lnTo>
                  <a:pt x="1062266" y="382270"/>
                </a:lnTo>
                <a:lnTo>
                  <a:pt x="1061237" y="388620"/>
                </a:lnTo>
                <a:lnTo>
                  <a:pt x="1060361" y="394970"/>
                </a:lnTo>
                <a:lnTo>
                  <a:pt x="1058786" y="402590"/>
                </a:lnTo>
                <a:lnTo>
                  <a:pt x="1056690" y="411276"/>
                </a:lnTo>
                <a:lnTo>
                  <a:pt x="1054887" y="416560"/>
                </a:lnTo>
                <a:lnTo>
                  <a:pt x="1051877" y="424180"/>
                </a:lnTo>
                <a:lnTo>
                  <a:pt x="1050467" y="427951"/>
                </a:lnTo>
                <a:lnTo>
                  <a:pt x="1046391" y="436880"/>
                </a:lnTo>
                <a:lnTo>
                  <a:pt x="1041273" y="447040"/>
                </a:lnTo>
                <a:lnTo>
                  <a:pt x="1035545" y="455904"/>
                </a:lnTo>
                <a:lnTo>
                  <a:pt x="1029817" y="463550"/>
                </a:lnTo>
                <a:lnTo>
                  <a:pt x="1028128" y="466090"/>
                </a:lnTo>
                <a:lnTo>
                  <a:pt x="1025575" y="468630"/>
                </a:lnTo>
                <a:lnTo>
                  <a:pt x="1024737" y="469900"/>
                </a:lnTo>
                <a:lnTo>
                  <a:pt x="1023886" y="471170"/>
                </a:lnTo>
                <a:lnTo>
                  <a:pt x="1019644" y="478790"/>
                </a:lnTo>
                <a:lnTo>
                  <a:pt x="1015403" y="483870"/>
                </a:lnTo>
                <a:lnTo>
                  <a:pt x="994194" y="504190"/>
                </a:lnTo>
                <a:lnTo>
                  <a:pt x="994194" y="505460"/>
                </a:lnTo>
                <a:lnTo>
                  <a:pt x="994092" y="505879"/>
                </a:lnTo>
                <a:lnTo>
                  <a:pt x="993343" y="506730"/>
                </a:lnTo>
                <a:lnTo>
                  <a:pt x="992492" y="509270"/>
                </a:lnTo>
                <a:lnTo>
                  <a:pt x="991641" y="510120"/>
                </a:lnTo>
                <a:lnTo>
                  <a:pt x="988250" y="511810"/>
                </a:lnTo>
                <a:lnTo>
                  <a:pt x="984859" y="511810"/>
                </a:lnTo>
                <a:lnTo>
                  <a:pt x="983157" y="514350"/>
                </a:lnTo>
                <a:lnTo>
                  <a:pt x="980605" y="516902"/>
                </a:lnTo>
                <a:lnTo>
                  <a:pt x="977226" y="519430"/>
                </a:lnTo>
                <a:lnTo>
                  <a:pt x="976376" y="520700"/>
                </a:lnTo>
                <a:lnTo>
                  <a:pt x="947534" y="542290"/>
                </a:lnTo>
                <a:lnTo>
                  <a:pt x="940739" y="546100"/>
                </a:lnTo>
                <a:lnTo>
                  <a:pt x="934808" y="551180"/>
                </a:lnTo>
                <a:lnTo>
                  <a:pt x="931418" y="554990"/>
                </a:lnTo>
                <a:lnTo>
                  <a:pt x="929716" y="554990"/>
                </a:lnTo>
                <a:lnTo>
                  <a:pt x="922934" y="557530"/>
                </a:lnTo>
                <a:lnTo>
                  <a:pt x="917841" y="562610"/>
                </a:lnTo>
                <a:lnTo>
                  <a:pt x="911898" y="565150"/>
                </a:lnTo>
                <a:lnTo>
                  <a:pt x="910209" y="566420"/>
                </a:lnTo>
                <a:lnTo>
                  <a:pt x="908507" y="566420"/>
                </a:lnTo>
                <a:lnTo>
                  <a:pt x="902563" y="572770"/>
                </a:lnTo>
                <a:lnTo>
                  <a:pt x="895781" y="574040"/>
                </a:lnTo>
                <a:lnTo>
                  <a:pt x="890689" y="577850"/>
                </a:lnTo>
                <a:lnTo>
                  <a:pt x="883907" y="581660"/>
                </a:lnTo>
                <a:lnTo>
                  <a:pt x="875423" y="582930"/>
                </a:lnTo>
                <a:lnTo>
                  <a:pt x="870331" y="588010"/>
                </a:lnTo>
                <a:lnTo>
                  <a:pt x="870331" y="589280"/>
                </a:lnTo>
                <a:lnTo>
                  <a:pt x="869480" y="589280"/>
                </a:lnTo>
                <a:lnTo>
                  <a:pt x="866940" y="590550"/>
                </a:lnTo>
                <a:lnTo>
                  <a:pt x="860145" y="593090"/>
                </a:lnTo>
                <a:lnTo>
                  <a:pt x="855065" y="596900"/>
                </a:lnTo>
                <a:lnTo>
                  <a:pt x="847420" y="600710"/>
                </a:lnTo>
                <a:lnTo>
                  <a:pt x="841489" y="601980"/>
                </a:lnTo>
                <a:lnTo>
                  <a:pt x="836396" y="604520"/>
                </a:lnTo>
                <a:lnTo>
                  <a:pt x="819429" y="610870"/>
                </a:lnTo>
                <a:lnTo>
                  <a:pt x="817727" y="613410"/>
                </a:lnTo>
                <a:lnTo>
                  <a:pt x="815187" y="613410"/>
                </a:lnTo>
                <a:lnTo>
                  <a:pt x="808812" y="617220"/>
                </a:lnTo>
                <a:lnTo>
                  <a:pt x="795743" y="622300"/>
                </a:lnTo>
                <a:lnTo>
                  <a:pt x="788885" y="624840"/>
                </a:lnTo>
                <a:lnTo>
                  <a:pt x="781253" y="626110"/>
                </a:lnTo>
                <a:lnTo>
                  <a:pt x="775309" y="631190"/>
                </a:lnTo>
                <a:lnTo>
                  <a:pt x="766826" y="631190"/>
                </a:lnTo>
                <a:lnTo>
                  <a:pt x="766826" y="632460"/>
                </a:lnTo>
                <a:lnTo>
                  <a:pt x="765987" y="632460"/>
                </a:lnTo>
                <a:lnTo>
                  <a:pt x="760895" y="633730"/>
                </a:lnTo>
                <a:lnTo>
                  <a:pt x="756653" y="636270"/>
                </a:lnTo>
                <a:lnTo>
                  <a:pt x="749020" y="638810"/>
                </a:lnTo>
                <a:lnTo>
                  <a:pt x="747318" y="638810"/>
                </a:lnTo>
                <a:lnTo>
                  <a:pt x="744778" y="640080"/>
                </a:lnTo>
                <a:lnTo>
                  <a:pt x="739686" y="641350"/>
                </a:lnTo>
                <a:lnTo>
                  <a:pt x="735444" y="642620"/>
                </a:lnTo>
                <a:lnTo>
                  <a:pt x="730351" y="643890"/>
                </a:lnTo>
                <a:lnTo>
                  <a:pt x="725258" y="646430"/>
                </a:lnTo>
                <a:lnTo>
                  <a:pt x="720178" y="648614"/>
                </a:lnTo>
                <a:lnTo>
                  <a:pt x="718477" y="648970"/>
                </a:lnTo>
                <a:lnTo>
                  <a:pt x="717626" y="649401"/>
                </a:lnTo>
                <a:lnTo>
                  <a:pt x="714235" y="650240"/>
                </a:lnTo>
                <a:lnTo>
                  <a:pt x="709993" y="651510"/>
                </a:lnTo>
                <a:lnTo>
                  <a:pt x="704900" y="652780"/>
                </a:lnTo>
                <a:lnTo>
                  <a:pt x="700659" y="654050"/>
                </a:lnTo>
                <a:lnTo>
                  <a:pt x="677887" y="661670"/>
                </a:lnTo>
                <a:lnTo>
                  <a:pt x="663194" y="664210"/>
                </a:lnTo>
                <a:lnTo>
                  <a:pt x="655701" y="666750"/>
                </a:lnTo>
                <a:lnTo>
                  <a:pt x="649757" y="668020"/>
                </a:lnTo>
                <a:lnTo>
                  <a:pt x="642975" y="669290"/>
                </a:lnTo>
                <a:lnTo>
                  <a:pt x="637032" y="670560"/>
                </a:lnTo>
                <a:lnTo>
                  <a:pt x="631939" y="671830"/>
                </a:lnTo>
                <a:lnTo>
                  <a:pt x="626859" y="671830"/>
                </a:lnTo>
                <a:lnTo>
                  <a:pt x="622617" y="673100"/>
                </a:lnTo>
                <a:lnTo>
                  <a:pt x="617524" y="674370"/>
                </a:lnTo>
                <a:lnTo>
                  <a:pt x="612432" y="674370"/>
                </a:lnTo>
                <a:lnTo>
                  <a:pt x="602246" y="676910"/>
                </a:lnTo>
                <a:lnTo>
                  <a:pt x="598004" y="678180"/>
                </a:lnTo>
                <a:lnTo>
                  <a:pt x="597166" y="678180"/>
                </a:lnTo>
                <a:lnTo>
                  <a:pt x="596328" y="678688"/>
                </a:lnTo>
                <a:lnTo>
                  <a:pt x="593763" y="679450"/>
                </a:lnTo>
                <a:lnTo>
                  <a:pt x="592924" y="680720"/>
                </a:lnTo>
                <a:lnTo>
                  <a:pt x="592074" y="680720"/>
                </a:lnTo>
                <a:lnTo>
                  <a:pt x="584352" y="680720"/>
                </a:lnTo>
                <a:lnTo>
                  <a:pt x="577646" y="681990"/>
                </a:lnTo>
                <a:lnTo>
                  <a:pt x="570941" y="681990"/>
                </a:lnTo>
                <a:lnTo>
                  <a:pt x="564070" y="683260"/>
                </a:lnTo>
                <a:lnTo>
                  <a:pt x="558139" y="684530"/>
                </a:lnTo>
                <a:lnTo>
                  <a:pt x="553046" y="684530"/>
                </a:lnTo>
                <a:lnTo>
                  <a:pt x="547103" y="685800"/>
                </a:lnTo>
                <a:lnTo>
                  <a:pt x="536079" y="685800"/>
                </a:lnTo>
                <a:lnTo>
                  <a:pt x="508088" y="688340"/>
                </a:lnTo>
                <a:lnTo>
                  <a:pt x="493661" y="688340"/>
                </a:lnTo>
                <a:lnTo>
                  <a:pt x="486879" y="689610"/>
                </a:lnTo>
                <a:lnTo>
                  <a:pt x="479107" y="689610"/>
                </a:lnTo>
                <a:lnTo>
                  <a:pt x="471182" y="690880"/>
                </a:lnTo>
                <a:lnTo>
                  <a:pt x="374891" y="690880"/>
                </a:lnTo>
                <a:lnTo>
                  <a:pt x="359625" y="688340"/>
                </a:lnTo>
                <a:lnTo>
                  <a:pt x="353682" y="688340"/>
                </a:lnTo>
                <a:lnTo>
                  <a:pt x="346900" y="687070"/>
                </a:lnTo>
                <a:lnTo>
                  <a:pt x="340956" y="685800"/>
                </a:lnTo>
                <a:lnTo>
                  <a:pt x="332473" y="685800"/>
                </a:lnTo>
                <a:lnTo>
                  <a:pt x="329082" y="684530"/>
                </a:lnTo>
                <a:lnTo>
                  <a:pt x="303555" y="680720"/>
                </a:lnTo>
                <a:lnTo>
                  <a:pt x="295148" y="678180"/>
                </a:lnTo>
                <a:lnTo>
                  <a:pt x="290906" y="678180"/>
                </a:lnTo>
                <a:lnTo>
                  <a:pt x="288353" y="676910"/>
                </a:lnTo>
                <a:lnTo>
                  <a:pt x="267995" y="671830"/>
                </a:lnTo>
                <a:lnTo>
                  <a:pt x="259232" y="669290"/>
                </a:lnTo>
                <a:lnTo>
                  <a:pt x="234061" y="661670"/>
                </a:lnTo>
                <a:lnTo>
                  <a:pt x="232371" y="661670"/>
                </a:lnTo>
                <a:lnTo>
                  <a:pt x="229819" y="659130"/>
                </a:lnTo>
                <a:lnTo>
                  <a:pt x="228130" y="659130"/>
                </a:lnTo>
                <a:lnTo>
                  <a:pt x="214553" y="654050"/>
                </a:lnTo>
                <a:lnTo>
                  <a:pt x="208610" y="651510"/>
                </a:lnTo>
                <a:lnTo>
                  <a:pt x="195884" y="643890"/>
                </a:lnTo>
                <a:lnTo>
                  <a:pt x="189953" y="641350"/>
                </a:lnTo>
                <a:lnTo>
                  <a:pt x="184010" y="636270"/>
                </a:lnTo>
                <a:lnTo>
                  <a:pt x="178079" y="633730"/>
                </a:lnTo>
                <a:lnTo>
                  <a:pt x="170434" y="631190"/>
                </a:lnTo>
                <a:lnTo>
                  <a:pt x="164503" y="624840"/>
                </a:lnTo>
                <a:lnTo>
                  <a:pt x="156870" y="622300"/>
                </a:lnTo>
                <a:lnTo>
                  <a:pt x="156019" y="621030"/>
                </a:lnTo>
                <a:lnTo>
                  <a:pt x="151777" y="618490"/>
                </a:lnTo>
                <a:lnTo>
                  <a:pt x="144983" y="613410"/>
                </a:lnTo>
                <a:lnTo>
                  <a:pt x="132791" y="603250"/>
                </a:lnTo>
                <a:lnTo>
                  <a:pt x="126974" y="598170"/>
                </a:lnTo>
                <a:lnTo>
                  <a:pt x="121234" y="593090"/>
                </a:lnTo>
                <a:lnTo>
                  <a:pt x="117843" y="590550"/>
                </a:lnTo>
                <a:lnTo>
                  <a:pt x="115290" y="588010"/>
                </a:lnTo>
                <a:lnTo>
                  <a:pt x="111899" y="585470"/>
                </a:lnTo>
                <a:lnTo>
                  <a:pt x="104267" y="577850"/>
                </a:lnTo>
                <a:lnTo>
                  <a:pt x="101727" y="574040"/>
                </a:lnTo>
                <a:lnTo>
                  <a:pt x="98323" y="571500"/>
                </a:lnTo>
                <a:lnTo>
                  <a:pt x="95783" y="567690"/>
                </a:lnTo>
                <a:lnTo>
                  <a:pt x="94081" y="567690"/>
                </a:lnTo>
                <a:lnTo>
                  <a:pt x="93243" y="565150"/>
                </a:lnTo>
                <a:lnTo>
                  <a:pt x="91541" y="563880"/>
                </a:lnTo>
                <a:lnTo>
                  <a:pt x="86461" y="557530"/>
                </a:lnTo>
                <a:lnTo>
                  <a:pt x="81470" y="552450"/>
                </a:lnTo>
                <a:lnTo>
                  <a:pt x="76631" y="546100"/>
                </a:lnTo>
                <a:lnTo>
                  <a:pt x="72034" y="539750"/>
                </a:lnTo>
                <a:lnTo>
                  <a:pt x="67792" y="534670"/>
                </a:lnTo>
                <a:lnTo>
                  <a:pt x="60998" y="521970"/>
                </a:lnTo>
                <a:lnTo>
                  <a:pt x="57683" y="515620"/>
                </a:lnTo>
                <a:lnTo>
                  <a:pt x="50736" y="501650"/>
                </a:lnTo>
                <a:lnTo>
                  <a:pt x="47421" y="495300"/>
                </a:lnTo>
                <a:lnTo>
                  <a:pt x="47421" y="494030"/>
                </a:lnTo>
                <a:lnTo>
                  <a:pt x="46583" y="494030"/>
                </a:lnTo>
                <a:lnTo>
                  <a:pt x="46583" y="486410"/>
                </a:lnTo>
                <a:lnTo>
                  <a:pt x="42341" y="481330"/>
                </a:lnTo>
                <a:lnTo>
                  <a:pt x="38100" y="468630"/>
                </a:lnTo>
                <a:lnTo>
                  <a:pt x="35547" y="462280"/>
                </a:lnTo>
                <a:lnTo>
                  <a:pt x="32156" y="449580"/>
                </a:lnTo>
                <a:lnTo>
                  <a:pt x="29616" y="441960"/>
                </a:lnTo>
                <a:lnTo>
                  <a:pt x="28765" y="434340"/>
                </a:lnTo>
                <a:lnTo>
                  <a:pt x="28765" y="429260"/>
                </a:lnTo>
                <a:lnTo>
                  <a:pt x="27063" y="422910"/>
                </a:lnTo>
                <a:lnTo>
                  <a:pt x="26212" y="416560"/>
                </a:lnTo>
                <a:lnTo>
                  <a:pt x="25590" y="408940"/>
                </a:lnTo>
                <a:lnTo>
                  <a:pt x="25057" y="401320"/>
                </a:lnTo>
                <a:lnTo>
                  <a:pt x="24942" y="398780"/>
                </a:lnTo>
                <a:lnTo>
                  <a:pt x="24828" y="396240"/>
                </a:lnTo>
                <a:lnTo>
                  <a:pt x="24663" y="392430"/>
                </a:lnTo>
                <a:lnTo>
                  <a:pt x="24726" y="368300"/>
                </a:lnTo>
                <a:lnTo>
                  <a:pt x="24879" y="364490"/>
                </a:lnTo>
                <a:lnTo>
                  <a:pt x="34696" y="317500"/>
                </a:lnTo>
                <a:lnTo>
                  <a:pt x="39789" y="304800"/>
                </a:lnTo>
                <a:lnTo>
                  <a:pt x="43180" y="297180"/>
                </a:lnTo>
                <a:lnTo>
                  <a:pt x="44005" y="294690"/>
                </a:lnTo>
                <a:lnTo>
                  <a:pt x="45732" y="290830"/>
                </a:lnTo>
                <a:lnTo>
                  <a:pt x="53365" y="279400"/>
                </a:lnTo>
                <a:lnTo>
                  <a:pt x="55892" y="273062"/>
                </a:lnTo>
                <a:lnTo>
                  <a:pt x="57886" y="270090"/>
                </a:lnTo>
                <a:lnTo>
                  <a:pt x="60147" y="266700"/>
                </a:lnTo>
                <a:lnTo>
                  <a:pt x="61849" y="264160"/>
                </a:lnTo>
                <a:lnTo>
                  <a:pt x="68630" y="255270"/>
                </a:lnTo>
                <a:lnTo>
                  <a:pt x="71183" y="252730"/>
                </a:lnTo>
                <a:lnTo>
                  <a:pt x="72021" y="250190"/>
                </a:lnTo>
                <a:lnTo>
                  <a:pt x="73723" y="247650"/>
                </a:lnTo>
                <a:lnTo>
                  <a:pt x="75425" y="245948"/>
                </a:lnTo>
                <a:lnTo>
                  <a:pt x="80518" y="242570"/>
                </a:lnTo>
                <a:lnTo>
                  <a:pt x="83045" y="237515"/>
                </a:lnTo>
                <a:lnTo>
                  <a:pt x="91541" y="229870"/>
                </a:lnTo>
                <a:lnTo>
                  <a:pt x="93218" y="227355"/>
                </a:lnTo>
                <a:lnTo>
                  <a:pt x="94932" y="224790"/>
                </a:lnTo>
                <a:lnTo>
                  <a:pt x="99174" y="219710"/>
                </a:lnTo>
                <a:lnTo>
                  <a:pt x="104267" y="213360"/>
                </a:lnTo>
                <a:lnTo>
                  <a:pt x="111048" y="208280"/>
                </a:lnTo>
                <a:lnTo>
                  <a:pt x="120383" y="199390"/>
                </a:lnTo>
                <a:lnTo>
                  <a:pt x="128866" y="191770"/>
                </a:lnTo>
                <a:lnTo>
                  <a:pt x="135661" y="185420"/>
                </a:lnTo>
                <a:lnTo>
                  <a:pt x="139903" y="182880"/>
                </a:lnTo>
                <a:lnTo>
                  <a:pt x="141592" y="181610"/>
                </a:lnTo>
                <a:lnTo>
                  <a:pt x="142443" y="180340"/>
                </a:lnTo>
                <a:lnTo>
                  <a:pt x="154317" y="171450"/>
                </a:lnTo>
                <a:lnTo>
                  <a:pt x="159410" y="166370"/>
                </a:lnTo>
                <a:lnTo>
                  <a:pt x="166776" y="161290"/>
                </a:lnTo>
                <a:lnTo>
                  <a:pt x="180886" y="151130"/>
                </a:lnTo>
                <a:lnTo>
                  <a:pt x="188252" y="147320"/>
                </a:lnTo>
                <a:lnTo>
                  <a:pt x="198437" y="139700"/>
                </a:lnTo>
                <a:lnTo>
                  <a:pt x="211048" y="132080"/>
                </a:lnTo>
                <a:lnTo>
                  <a:pt x="217170" y="128270"/>
                </a:lnTo>
                <a:lnTo>
                  <a:pt x="223037" y="124460"/>
                </a:lnTo>
                <a:lnTo>
                  <a:pt x="228130" y="120650"/>
                </a:lnTo>
                <a:lnTo>
                  <a:pt x="230670" y="118110"/>
                </a:lnTo>
                <a:lnTo>
                  <a:pt x="233222" y="115570"/>
                </a:lnTo>
                <a:lnTo>
                  <a:pt x="240004" y="114300"/>
                </a:lnTo>
                <a:lnTo>
                  <a:pt x="240855" y="114300"/>
                </a:lnTo>
                <a:lnTo>
                  <a:pt x="240855" y="113030"/>
                </a:lnTo>
                <a:lnTo>
                  <a:pt x="247637" y="109220"/>
                </a:lnTo>
                <a:lnTo>
                  <a:pt x="255270" y="105410"/>
                </a:lnTo>
                <a:lnTo>
                  <a:pt x="262064" y="101600"/>
                </a:lnTo>
                <a:lnTo>
                  <a:pt x="265455" y="100330"/>
                </a:lnTo>
                <a:lnTo>
                  <a:pt x="269697" y="97790"/>
                </a:lnTo>
                <a:lnTo>
                  <a:pt x="273088" y="95250"/>
                </a:lnTo>
                <a:lnTo>
                  <a:pt x="277329" y="93980"/>
                </a:lnTo>
                <a:lnTo>
                  <a:pt x="280720" y="92710"/>
                </a:lnTo>
                <a:lnTo>
                  <a:pt x="284962" y="90170"/>
                </a:lnTo>
                <a:lnTo>
                  <a:pt x="291833" y="87630"/>
                </a:lnTo>
                <a:lnTo>
                  <a:pt x="305244" y="81280"/>
                </a:lnTo>
                <a:lnTo>
                  <a:pt x="312115" y="77470"/>
                </a:lnTo>
                <a:lnTo>
                  <a:pt x="319176" y="73660"/>
                </a:lnTo>
                <a:lnTo>
                  <a:pt x="325374" y="71120"/>
                </a:lnTo>
                <a:lnTo>
                  <a:pt x="325691" y="70980"/>
                </a:lnTo>
                <a:lnTo>
                  <a:pt x="329082" y="69850"/>
                </a:lnTo>
                <a:lnTo>
                  <a:pt x="332066" y="68364"/>
                </a:lnTo>
                <a:lnTo>
                  <a:pt x="336715" y="67310"/>
                </a:lnTo>
                <a:lnTo>
                  <a:pt x="343496" y="64770"/>
                </a:lnTo>
                <a:lnTo>
                  <a:pt x="351142" y="62230"/>
                </a:lnTo>
                <a:lnTo>
                  <a:pt x="357924" y="59690"/>
                </a:lnTo>
                <a:lnTo>
                  <a:pt x="362165" y="57150"/>
                </a:lnTo>
                <a:lnTo>
                  <a:pt x="367258" y="55880"/>
                </a:lnTo>
                <a:lnTo>
                  <a:pt x="371500" y="54610"/>
                </a:lnTo>
                <a:lnTo>
                  <a:pt x="392849" y="46990"/>
                </a:lnTo>
                <a:lnTo>
                  <a:pt x="402666" y="43827"/>
                </a:lnTo>
                <a:lnTo>
                  <a:pt x="411365" y="41490"/>
                </a:lnTo>
                <a:lnTo>
                  <a:pt x="425157" y="39370"/>
                </a:lnTo>
                <a:lnTo>
                  <a:pt x="433425" y="36830"/>
                </a:lnTo>
                <a:lnTo>
                  <a:pt x="441909" y="35560"/>
                </a:lnTo>
                <a:lnTo>
                  <a:pt x="447001" y="34290"/>
                </a:lnTo>
                <a:lnTo>
                  <a:pt x="449541" y="33020"/>
                </a:lnTo>
                <a:lnTo>
                  <a:pt x="458025" y="33020"/>
                </a:lnTo>
                <a:lnTo>
                  <a:pt x="458876" y="33020"/>
                </a:lnTo>
                <a:lnTo>
                  <a:pt x="460578" y="31750"/>
                </a:lnTo>
                <a:lnTo>
                  <a:pt x="463118" y="31750"/>
                </a:lnTo>
                <a:lnTo>
                  <a:pt x="470750" y="30480"/>
                </a:lnTo>
                <a:lnTo>
                  <a:pt x="477545" y="29210"/>
                </a:lnTo>
                <a:lnTo>
                  <a:pt x="485178" y="27940"/>
                </a:lnTo>
                <a:lnTo>
                  <a:pt x="487718" y="27940"/>
                </a:lnTo>
                <a:lnTo>
                  <a:pt x="501294" y="27940"/>
                </a:lnTo>
                <a:lnTo>
                  <a:pt x="511479" y="25400"/>
                </a:lnTo>
                <a:lnTo>
                  <a:pt x="515721" y="24130"/>
                </a:lnTo>
                <a:lnTo>
                  <a:pt x="524764" y="22860"/>
                </a:lnTo>
                <a:lnTo>
                  <a:pt x="543153" y="21590"/>
                </a:lnTo>
                <a:lnTo>
                  <a:pt x="552196" y="20320"/>
                </a:lnTo>
                <a:lnTo>
                  <a:pt x="555586" y="20320"/>
                </a:lnTo>
                <a:lnTo>
                  <a:pt x="558990" y="19050"/>
                </a:lnTo>
                <a:lnTo>
                  <a:pt x="562381" y="19050"/>
                </a:lnTo>
                <a:lnTo>
                  <a:pt x="562381" y="15240"/>
                </a:lnTo>
                <a:lnTo>
                  <a:pt x="565772" y="13970"/>
                </a:lnTo>
                <a:lnTo>
                  <a:pt x="570014" y="13970"/>
                </a:lnTo>
                <a:lnTo>
                  <a:pt x="577646" y="10160"/>
                </a:lnTo>
                <a:lnTo>
                  <a:pt x="579348" y="8890"/>
                </a:lnTo>
                <a:lnTo>
                  <a:pt x="580199" y="7620"/>
                </a:lnTo>
                <a:lnTo>
                  <a:pt x="582739" y="5080"/>
                </a:lnTo>
                <a:lnTo>
                  <a:pt x="581037" y="2540"/>
                </a:lnTo>
                <a:lnTo>
                  <a:pt x="580199" y="2540"/>
                </a:lnTo>
                <a:lnTo>
                  <a:pt x="577646" y="2540"/>
                </a:lnTo>
                <a:lnTo>
                  <a:pt x="574268" y="1536"/>
                </a:lnTo>
                <a:lnTo>
                  <a:pt x="571715" y="0"/>
                </a:lnTo>
                <a:lnTo>
                  <a:pt x="569163" y="0"/>
                </a:lnTo>
                <a:lnTo>
                  <a:pt x="539470" y="0"/>
                </a:lnTo>
                <a:lnTo>
                  <a:pt x="536930" y="0"/>
                </a:lnTo>
                <a:lnTo>
                  <a:pt x="532688" y="1270"/>
                </a:lnTo>
                <a:lnTo>
                  <a:pt x="527596" y="1270"/>
                </a:lnTo>
                <a:lnTo>
                  <a:pt x="525056" y="1270"/>
                </a:lnTo>
                <a:lnTo>
                  <a:pt x="519963" y="2540"/>
                </a:lnTo>
                <a:lnTo>
                  <a:pt x="511479" y="2540"/>
                </a:lnTo>
                <a:lnTo>
                  <a:pt x="508927" y="2540"/>
                </a:lnTo>
                <a:lnTo>
                  <a:pt x="502145" y="3810"/>
                </a:lnTo>
                <a:lnTo>
                  <a:pt x="497903" y="3810"/>
                </a:lnTo>
                <a:lnTo>
                  <a:pt x="495363" y="3810"/>
                </a:lnTo>
                <a:lnTo>
                  <a:pt x="488569" y="5080"/>
                </a:lnTo>
                <a:lnTo>
                  <a:pt x="482346" y="5080"/>
                </a:lnTo>
                <a:lnTo>
                  <a:pt x="479793" y="5080"/>
                </a:lnTo>
                <a:lnTo>
                  <a:pt x="462559" y="7620"/>
                </a:lnTo>
                <a:lnTo>
                  <a:pt x="454634" y="7620"/>
                </a:lnTo>
                <a:lnTo>
                  <a:pt x="452094" y="7620"/>
                </a:lnTo>
                <a:lnTo>
                  <a:pt x="450392" y="8890"/>
                </a:lnTo>
                <a:lnTo>
                  <a:pt x="448703" y="8890"/>
                </a:lnTo>
                <a:lnTo>
                  <a:pt x="443611" y="10160"/>
                </a:lnTo>
                <a:lnTo>
                  <a:pt x="440220" y="10160"/>
                </a:lnTo>
                <a:lnTo>
                  <a:pt x="437667" y="10160"/>
                </a:lnTo>
                <a:lnTo>
                  <a:pt x="432574" y="11430"/>
                </a:lnTo>
                <a:lnTo>
                  <a:pt x="427482" y="12522"/>
                </a:lnTo>
                <a:lnTo>
                  <a:pt x="426212" y="12700"/>
                </a:lnTo>
                <a:lnTo>
                  <a:pt x="420700" y="12700"/>
                </a:lnTo>
                <a:lnTo>
                  <a:pt x="414769" y="13970"/>
                </a:lnTo>
                <a:lnTo>
                  <a:pt x="407771" y="16510"/>
                </a:lnTo>
                <a:lnTo>
                  <a:pt x="393763" y="20320"/>
                </a:lnTo>
                <a:lnTo>
                  <a:pt x="386765" y="22860"/>
                </a:lnTo>
                <a:lnTo>
                  <a:pt x="332473" y="40640"/>
                </a:lnTo>
                <a:lnTo>
                  <a:pt x="327393" y="42989"/>
                </a:lnTo>
                <a:lnTo>
                  <a:pt x="326745" y="43180"/>
                </a:lnTo>
                <a:lnTo>
                  <a:pt x="322897" y="44958"/>
                </a:lnTo>
                <a:lnTo>
                  <a:pt x="307657" y="50800"/>
                </a:lnTo>
                <a:lnTo>
                  <a:pt x="299389" y="54610"/>
                </a:lnTo>
                <a:lnTo>
                  <a:pt x="289991" y="58420"/>
                </a:lnTo>
                <a:lnTo>
                  <a:pt x="280835" y="63500"/>
                </a:lnTo>
                <a:lnTo>
                  <a:pt x="271830" y="67310"/>
                </a:lnTo>
                <a:lnTo>
                  <a:pt x="256120" y="74930"/>
                </a:lnTo>
                <a:lnTo>
                  <a:pt x="249339" y="80010"/>
                </a:lnTo>
                <a:lnTo>
                  <a:pt x="241693" y="83820"/>
                </a:lnTo>
                <a:lnTo>
                  <a:pt x="230251" y="88900"/>
                </a:lnTo>
                <a:lnTo>
                  <a:pt x="218795" y="96520"/>
                </a:lnTo>
                <a:lnTo>
                  <a:pt x="211543" y="100330"/>
                </a:lnTo>
                <a:lnTo>
                  <a:pt x="204050" y="104140"/>
                </a:lnTo>
                <a:lnTo>
                  <a:pt x="196723" y="109220"/>
                </a:lnTo>
                <a:lnTo>
                  <a:pt x="189953" y="113030"/>
                </a:lnTo>
                <a:lnTo>
                  <a:pt x="189953" y="114300"/>
                </a:lnTo>
                <a:lnTo>
                  <a:pt x="189103" y="114300"/>
                </a:lnTo>
                <a:lnTo>
                  <a:pt x="184010" y="118110"/>
                </a:lnTo>
                <a:lnTo>
                  <a:pt x="172135" y="125730"/>
                </a:lnTo>
                <a:lnTo>
                  <a:pt x="165354" y="130810"/>
                </a:lnTo>
                <a:lnTo>
                  <a:pt x="159410" y="135890"/>
                </a:lnTo>
                <a:lnTo>
                  <a:pt x="152628" y="139700"/>
                </a:lnTo>
                <a:lnTo>
                  <a:pt x="146685" y="143510"/>
                </a:lnTo>
                <a:lnTo>
                  <a:pt x="141592" y="147320"/>
                </a:lnTo>
                <a:lnTo>
                  <a:pt x="135661" y="151130"/>
                </a:lnTo>
                <a:lnTo>
                  <a:pt x="133959" y="151130"/>
                </a:lnTo>
                <a:lnTo>
                  <a:pt x="121234" y="161290"/>
                </a:lnTo>
                <a:lnTo>
                  <a:pt x="120383" y="162560"/>
                </a:lnTo>
                <a:lnTo>
                  <a:pt x="118694" y="163830"/>
                </a:lnTo>
                <a:lnTo>
                  <a:pt x="116141" y="166370"/>
                </a:lnTo>
                <a:lnTo>
                  <a:pt x="113601" y="167640"/>
                </a:lnTo>
                <a:lnTo>
                  <a:pt x="111899" y="168910"/>
                </a:lnTo>
                <a:lnTo>
                  <a:pt x="107657" y="172720"/>
                </a:lnTo>
                <a:lnTo>
                  <a:pt x="104267" y="176530"/>
                </a:lnTo>
                <a:lnTo>
                  <a:pt x="95783" y="184150"/>
                </a:lnTo>
                <a:lnTo>
                  <a:pt x="90690" y="187960"/>
                </a:lnTo>
                <a:lnTo>
                  <a:pt x="82207" y="196850"/>
                </a:lnTo>
                <a:lnTo>
                  <a:pt x="77114" y="199390"/>
                </a:lnTo>
                <a:lnTo>
                  <a:pt x="73723" y="204470"/>
                </a:lnTo>
                <a:lnTo>
                  <a:pt x="69481" y="209550"/>
                </a:lnTo>
                <a:lnTo>
                  <a:pt x="66090" y="215900"/>
                </a:lnTo>
                <a:lnTo>
                  <a:pt x="60998" y="219710"/>
                </a:lnTo>
                <a:lnTo>
                  <a:pt x="60147" y="219710"/>
                </a:lnTo>
                <a:lnTo>
                  <a:pt x="60147" y="220980"/>
                </a:lnTo>
                <a:lnTo>
                  <a:pt x="59309" y="220980"/>
                </a:lnTo>
                <a:lnTo>
                  <a:pt x="57607" y="222250"/>
                </a:lnTo>
                <a:lnTo>
                  <a:pt x="57086" y="223786"/>
                </a:lnTo>
                <a:lnTo>
                  <a:pt x="55067" y="226060"/>
                </a:lnTo>
                <a:lnTo>
                  <a:pt x="49974" y="232410"/>
                </a:lnTo>
                <a:lnTo>
                  <a:pt x="44030" y="237490"/>
                </a:lnTo>
                <a:lnTo>
                  <a:pt x="39789" y="245110"/>
                </a:lnTo>
                <a:lnTo>
                  <a:pt x="35369" y="251460"/>
                </a:lnTo>
                <a:lnTo>
                  <a:pt x="31089" y="259080"/>
                </a:lnTo>
                <a:lnTo>
                  <a:pt x="27139" y="265430"/>
                </a:lnTo>
                <a:lnTo>
                  <a:pt x="23672" y="273050"/>
                </a:lnTo>
                <a:lnTo>
                  <a:pt x="20853" y="280670"/>
                </a:lnTo>
                <a:lnTo>
                  <a:pt x="17627" y="288290"/>
                </a:lnTo>
                <a:lnTo>
                  <a:pt x="14249" y="295910"/>
                </a:lnTo>
                <a:lnTo>
                  <a:pt x="10947" y="302260"/>
                </a:lnTo>
                <a:lnTo>
                  <a:pt x="8407" y="308610"/>
                </a:lnTo>
                <a:lnTo>
                  <a:pt x="7099" y="313982"/>
                </a:lnTo>
                <a:lnTo>
                  <a:pt x="6705" y="314960"/>
                </a:lnTo>
                <a:lnTo>
                  <a:pt x="6565" y="316141"/>
                </a:lnTo>
                <a:lnTo>
                  <a:pt x="5003" y="322580"/>
                </a:lnTo>
                <a:lnTo>
                  <a:pt x="4165" y="326390"/>
                </a:lnTo>
                <a:lnTo>
                  <a:pt x="1612" y="330200"/>
                </a:lnTo>
                <a:lnTo>
                  <a:pt x="1549" y="336550"/>
                </a:lnTo>
                <a:lnTo>
                  <a:pt x="1485" y="337820"/>
                </a:lnTo>
                <a:lnTo>
                  <a:pt x="1231" y="342900"/>
                </a:lnTo>
                <a:lnTo>
                  <a:pt x="444" y="351790"/>
                </a:lnTo>
                <a:lnTo>
                  <a:pt x="0" y="358140"/>
                </a:lnTo>
                <a:lnTo>
                  <a:pt x="12" y="372110"/>
                </a:lnTo>
                <a:lnTo>
                  <a:pt x="406" y="377190"/>
                </a:lnTo>
                <a:lnTo>
                  <a:pt x="533" y="381000"/>
                </a:lnTo>
                <a:lnTo>
                  <a:pt x="660" y="384810"/>
                </a:lnTo>
                <a:lnTo>
                  <a:pt x="762" y="398780"/>
                </a:lnTo>
                <a:lnTo>
                  <a:pt x="1435" y="406400"/>
                </a:lnTo>
                <a:lnTo>
                  <a:pt x="2247" y="412750"/>
                </a:lnTo>
                <a:lnTo>
                  <a:pt x="3390" y="419100"/>
                </a:lnTo>
                <a:lnTo>
                  <a:pt x="5003" y="425450"/>
                </a:lnTo>
                <a:lnTo>
                  <a:pt x="5003" y="426720"/>
                </a:lnTo>
                <a:lnTo>
                  <a:pt x="5854" y="435610"/>
                </a:lnTo>
                <a:lnTo>
                  <a:pt x="7556" y="444500"/>
                </a:lnTo>
                <a:lnTo>
                  <a:pt x="10096" y="452120"/>
                </a:lnTo>
                <a:lnTo>
                  <a:pt x="13690" y="463550"/>
                </a:lnTo>
                <a:lnTo>
                  <a:pt x="17208" y="474980"/>
                </a:lnTo>
                <a:lnTo>
                  <a:pt x="21196" y="485140"/>
                </a:lnTo>
                <a:lnTo>
                  <a:pt x="26212" y="496570"/>
                </a:lnTo>
                <a:lnTo>
                  <a:pt x="29616" y="501650"/>
                </a:lnTo>
                <a:lnTo>
                  <a:pt x="31305" y="508000"/>
                </a:lnTo>
                <a:lnTo>
                  <a:pt x="34696" y="514350"/>
                </a:lnTo>
                <a:lnTo>
                  <a:pt x="52514" y="544830"/>
                </a:lnTo>
                <a:lnTo>
                  <a:pt x="53365" y="546100"/>
                </a:lnTo>
                <a:lnTo>
                  <a:pt x="55905" y="548640"/>
                </a:lnTo>
                <a:lnTo>
                  <a:pt x="57607" y="551180"/>
                </a:lnTo>
                <a:lnTo>
                  <a:pt x="60998" y="557530"/>
                </a:lnTo>
                <a:lnTo>
                  <a:pt x="64389" y="562610"/>
                </a:lnTo>
                <a:lnTo>
                  <a:pt x="69481" y="567690"/>
                </a:lnTo>
                <a:lnTo>
                  <a:pt x="77114" y="577850"/>
                </a:lnTo>
                <a:lnTo>
                  <a:pt x="82359" y="582930"/>
                </a:lnTo>
                <a:lnTo>
                  <a:pt x="87833" y="589280"/>
                </a:lnTo>
                <a:lnTo>
                  <a:pt x="93459" y="595630"/>
                </a:lnTo>
                <a:lnTo>
                  <a:pt x="99174" y="600710"/>
                </a:lnTo>
                <a:lnTo>
                  <a:pt x="105968" y="608330"/>
                </a:lnTo>
                <a:lnTo>
                  <a:pt x="124625" y="622300"/>
                </a:lnTo>
                <a:lnTo>
                  <a:pt x="132549" y="628650"/>
                </a:lnTo>
                <a:lnTo>
                  <a:pt x="140957" y="636270"/>
                </a:lnTo>
                <a:lnTo>
                  <a:pt x="149682" y="641350"/>
                </a:lnTo>
                <a:lnTo>
                  <a:pt x="158559" y="647700"/>
                </a:lnTo>
                <a:lnTo>
                  <a:pt x="191008" y="666750"/>
                </a:lnTo>
                <a:lnTo>
                  <a:pt x="201828" y="671830"/>
                </a:lnTo>
                <a:lnTo>
                  <a:pt x="204368" y="673100"/>
                </a:lnTo>
                <a:lnTo>
                  <a:pt x="207759" y="674370"/>
                </a:lnTo>
                <a:lnTo>
                  <a:pt x="210312" y="674370"/>
                </a:lnTo>
                <a:lnTo>
                  <a:pt x="218795" y="679450"/>
                </a:lnTo>
                <a:lnTo>
                  <a:pt x="223037" y="680720"/>
                </a:lnTo>
                <a:lnTo>
                  <a:pt x="226428" y="683260"/>
                </a:lnTo>
                <a:lnTo>
                  <a:pt x="230670" y="684530"/>
                </a:lnTo>
                <a:lnTo>
                  <a:pt x="234061" y="685800"/>
                </a:lnTo>
                <a:lnTo>
                  <a:pt x="238302" y="685800"/>
                </a:lnTo>
                <a:lnTo>
                  <a:pt x="242544" y="688340"/>
                </a:lnTo>
                <a:lnTo>
                  <a:pt x="246786" y="688340"/>
                </a:lnTo>
                <a:lnTo>
                  <a:pt x="268630" y="695960"/>
                </a:lnTo>
                <a:lnTo>
                  <a:pt x="279958" y="699770"/>
                </a:lnTo>
                <a:lnTo>
                  <a:pt x="291757" y="701040"/>
                </a:lnTo>
                <a:lnTo>
                  <a:pt x="293446" y="701040"/>
                </a:lnTo>
                <a:lnTo>
                  <a:pt x="299389" y="701040"/>
                </a:lnTo>
                <a:lnTo>
                  <a:pt x="314655" y="706120"/>
                </a:lnTo>
                <a:lnTo>
                  <a:pt x="320598" y="707390"/>
                </a:lnTo>
                <a:lnTo>
                  <a:pt x="332473" y="708660"/>
                </a:lnTo>
                <a:lnTo>
                  <a:pt x="334175" y="708660"/>
                </a:lnTo>
                <a:lnTo>
                  <a:pt x="342658" y="708660"/>
                </a:lnTo>
                <a:lnTo>
                  <a:pt x="349440" y="708660"/>
                </a:lnTo>
                <a:lnTo>
                  <a:pt x="356311" y="709930"/>
                </a:lnTo>
                <a:lnTo>
                  <a:pt x="354609" y="709930"/>
                </a:lnTo>
                <a:lnTo>
                  <a:pt x="374891" y="713740"/>
                </a:lnTo>
                <a:lnTo>
                  <a:pt x="382524" y="713740"/>
                </a:lnTo>
                <a:lnTo>
                  <a:pt x="399491" y="713740"/>
                </a:lnTo>
                <a:lnTo>
                  <a:pt x="419011" y="713740"/>
                </a:lnTo>
                <a:lnTo>
                  <a:pt x="425716" y="715010"/>
                </a:lnTo>
                <a:lnTo>
                  <a:pt x="438518" y="715010"/>
                </a:lnTo>
                <a:lnTo>
                  <a:pt x="444461" y="713740"/>
                </a:lnTo>
                <a:lnTo>
                  <a:pt x="484327" y="713740"/>
                </a:lnTo>
                <a:lnTo>
                  <a:pt x="500443" y="713740"/>
                </a:lnTo>
                <a:lnTo>
                  <a:pt x="504685" y="711200"/>
                </a:lnTo>
                <a:lnTo>
                  <a:pt x="521652" y="711200"/>
                </a:lnTo>
                <a:lnTo>
                  <a:pt x="525894" y="711200"/>
                </a:lnTo>
                <a:lnTo>
                  <a:pt x="527596" y="712470"/>
                </a:lnTo>
                <a:lnTo>
                  <a:pt x="534377" y="712470"/>
                </a:lnTo>
                <a:lnTo>
                  <a:pt x="537781" y="711200"/>
                </a:lnTo>
                <a:lnTo>
                  <a:pt x="544563" y="711200"/>
                </a:lnTo>
                <a:lnTo>
                  <a:pt x="548805" y="709930"/>
                </a:lnTo>
                <a:lnTo>
                  <a:pt x="539470" y="709930"/>
                </a:lnTo>
                <a:lnTo>
                  <a:pt x="523773" y="709930"/>
                </a:lnTo>
                <a:lnTo>
                  <a:pt x="525894" y="708660"/>
                </a:lnTo>
                <a:lnTo>
                  <a:pt x="528447" y="708660"/>
                </a:lnTo>
                <a:lnTo>
                  <a:pt x="536079" y="708660"/>
                </a:lnTo>
                <a:lnTo>
                  <a:pt x="539470" y="709930"/>
                </a:lnTo>
                <a:lnTo>
                  <a:pt x="540740" y="708660"/>
                </a:lnTo>
                <a:lnTo>
                  <a:pt x="548805" y="708660"/>
                </a:lnTo>
                <a:lnTo>
                  <a:pt x="568312" y="708660"/>
                </a:lnTo>
                <a:lnTo>
                  <a:pt x="575106" y="707390"/>
                </a:lnTo>
                <a:lnTo>
                  <a:pt x="588683" y="706120"/>
                </a:lnTo>
                <a:lnTo>
                  <a:pt x="596315" y="703580"/>
                </a:lnTo>
                <a:lnTo>
                  <a:pt x="603097" y="703580"/>
                </a:lnTo>
                <a:lnTo>
                  <a:pt x="618375" y="701040"/>
                </a:lnTo>
                <a:lnTo>
                  <a:pt x="621766" y="699770"/>
                </a:lnTo>
                <a:lnTo>
                  <a:pt x="624306" y="698500"/>
                </a:lnTo>
                <a:lnTo>
                  <a:pt x="637032" y="698500"/>
                </a:lnTo>
                <a:lnTo>
                  <a:pt x="647217" y="694690"/>
                </a:lnTo>
                <a:lnTo>
                  <a:pt x="653148" y="693420"/>
                </a:lnTo>
                <a:lnTo>
                  <a:pt x="658241" y="692150"/>
                </a:lnTo>
                <a:lnTo>
                  <a:pt x="661631" y="692150"/>
                </a:lnTo>
                <a:lnTo>
                  <a:pt x="664184" y="690880"/>
                </a:lnTo>
                <a:lnTo>
                  <a:pt x="667575" y="690880"/>
                </a:lnTo>
                <a:lnTo>
                  <a:pt x="693026" y="685800"/>
                </a:lnTo>
                <a:lnTo>
                  <a:pt x="694715" y="685800"/>
                </a:lnTo>
                <a:lnTo>
                  <a:pt x="703199" y="680720"/>
                </a:lnTo>
                <a:lnTo>
                  <a:pt x="711682" y="680720"/>
                </a:lnTo>
                <a:lnTo>
                  <a:pt x="714235" y="679450"/>
                </a:lnTo>
                <a:lnTo>
                  <a:pt x="717626" y="678180"/>
                </a:lnTo>
                <a:lnTo>
                  <a:pt x="748169" y="668020"/>
                </a:lnTo>
                <a:lnTo>
                  <a:pt x="757428" y="665480"/>
                </a:lnTo>
                <a:lnTo>
                  <a:pt x="775004" y="657860"/>
                </a:lnTo>
                <a:lnTo>
                  <a:pt x="783793" y="655320"/>
                </a:lnTo>
                <a:lnTo>
                  <a:pt x="795680" y="651510"/>
                </a:lnTo>
                <a:lnTo>
                  <a:pt x="801611" y="648970"/>
                </a:lnTo>
                <a:lnTo>
                  <a:pt x="805002" y="647700"/>
                </a:lnTo>
                <a:lnTo>
                  <a:pt x="846582" y="628650"/>
                </a:lnTo>
                <a:lnTo>
                  <a:pt x="851662" y="626110"/>
                </a:lnTo>
                <a:lnTo>
                  <a:pt x="855903" y="623570"/>
                </a:lnTo>
                <a:lnTo>
                  <a:pt x="868489" y="617220"/>
                </a:lnTo>
                <a:lnTo>
                  <a:pt x="875741" y="613410"/>
                </a:lnTo>
                <a:lnTo>
                  <a:pt x="882827" y="610870"/>
                </a:lnTo>
                <a:lnTo>
                  <a:pt x="889838" y="607060"/>
                </a:lnTo>
                <a:lnTo>
                  <a:pt x="894930" y="604520"/>
                </a:lnTo>
                <a:lnTo>
                  <a:pt x="899172" y="603250"/>
                </a:lnTo>
                <a:lnTo>
                  <a:pt x="924623" y="590550"/>
                </a:lnTo>
                <a:lnTo>
                  <a:pt x="930567" y="586740"/>
                </a:lnTo>
                <a:lnTo>
                  <a:pt x="935659" y="582930"/>
                </a:lnTo>
                <a:lnTo>
                  <a:pt x="942441" y="580390"/>
                </a:lnTo>
                <a:lnTo>
                  <a:pt x="944143" y="579120"/>
                </a:lnTo>
                <a:lnTo>
                  <a:pt x="946683" y="577850"/>
                </a:lnTo>
                <a:lnTo>
                  <a:pt x="947953" y="575945"/>
                </a:lnTo>
                <a:lnTo>
                  <a:pt x="949223" y="575310"/>
                </a:lnTo>
                <a:lnTo>
                  <a:pt x="950925" y="574040"/>
                </a:lnTo>
                <a:lnTo>
                  <a:pt x="952627" y="572770"/>
                </a:lnTo>
                <a:lnTo>
                  <a:pt x="954316" y="571500"/>
                </a:lnTo>
                <a:lnTo>
                  <a:pt x="972134" y="560070"/>
                </a:lnTo>
                <a:lnTo>
                  <a:pt x="977226" y="555713"/>
                </a:lnTo>
                <a:lnTo>
                  <a:pt x="982319" y="552450"/>
                </a:lnTo>
                <a:lnTo>
                  <a:pt x="987399" y="547370"/>
                </a:lnTo>
                <a:lnTo>
                  <a:pt x="988237" y="546658"/>
                </a:lnTo>
                <a:lnTo>
                  <a:pt x="989101" y="546100"/>
                </a:lnTo>
                <a:lnTo>
                  <a:pt x="993521" y="542175"/>
                </a:lnTo>
                <a:lnTo>
                  <a:pt x="999058" y="538480"/>
                </a:lnTo>
                <a:lnTo>
                  <a:pt x="1004684" y="533400"/>
                </a:lnTo>
                <a:lnTo>
                  <a:pt x="1010158" y="528320"/>
                </a:lnTo>
                <a:lnTo>
                  <a:pt x="1015403" y="524510"/>
                </a:lnTo>
                <a:lnTo>
                  <a:pt x="1021499" y="516890"/>
                </a:lnTo>
                <a:lnTo>
                  <a:pt x="1033056" y="504190"/>
                </a:lnTo>
                <a:lnTo>
                  <a:pt x="1034110" y="503148"/>
                </a:lnTo>
                <a:lnTo>
                  <a:pt x="1035761" y="501650"/>
                </a:lnTo>
                <a:lnTo>
                  <a:pt x="1035812" y="501497"/>
                </a:lnTo>
                <a:lnTo>
                  <a:pt x="1040853" y="496570"/>
                </a:lnTo>
                <a:lnTo>
                  <a:pt x="1043393" y="492760"/>
                </a:lnTo>
                <a:lnTo>
                  <a:pt x="1045095" y="488950"/>
                </a:lnTo>
                <a:lnTo>
                  <a:pt x="1047635" y="486410"/>
                </a:lnTo>
                <a:lnTo>
                  <a:pt x="1052436" y="481330"/>
                </a:lnTo>
                <a:lnTo>
                  <a:pt x="1056754" y="474980"/>
                </a:lnTo>
                <a:lnTo>
                  <a:pt x="1060754" y="469900"/>
                </a:lnTo>
                <a:lnTo>
                  <a:pt x="1064602" y="463550"/>
                </a:lnTo>
                <a:lnTo>
                  <a:pt x="1068844" y="457200"/>
                </a:lnTo>
                <a:lnTo>
                  <a:pt x="1071397" y="449580"/>
                </a:lnTo>
                <a:lnTo>
                  <a:pt x="1073937" y="443230"/>
                </a:lnTo>
                <a:lnTo>
                  <a:pt x="1077328" y="435610"/>
                </a:lnTo>
                <a:lnTo>
                  <a:pt x="1078179" y="427990"/>
                </a:lnTo>
                <a:lnTo>
                  <a:pt x="1083271" y="420370"/>
                </a:lnTo>
                <a:lnTo>
                  <a:pt x="1083271" y="419100"/>
                </a:lnTo>
                <a:lnTo>
                  <a:pt x="1084402" y="410210"/>
                </a:lnTo>
                <a:lnTo>
                  <a:pt x="1086370" y="393700"/>
                </a:lnTo>
                <a:lnTo>
                  <a:pt x="1087513" y="384810"/>
                </a:lnTo>
                <a:lnTo>
                  <a:pt x="1088224" y="377190"/>
                </a:lnTo>
                <a:close/>
              </a:path>
            </a:pathLst>
          </a:custGeom>
          <a:solidFill>
            <a:srgbClr val="E7181F"/>
          </a:solidFill>
        </p:spPr>
        <p:txBody>
          <a:bodyPr wrap="square" lIns="0" tIns="0" rIns="0" bIns="0" rtlCol="0"/>
          <a:lstStyle/>
          <a:p>
            <a:endParaRPr/>
          </a:p>
        </p:txBody>
      </p:sp>
      <p:sp>
        <p:nvSpPr>
          <p:cNvPr id="24" name="object 24"/>
          <p:cNvSpPr txBox="1"/>
          <p:nvPr/>
        </p:nvSpPr>
        <p:spPr>
          <a:xfrm>
            <a:off x="10340774" y="7119740"/>
            <a:ext cx="240665" cy="482600"/>
          </a:xfrm>
          <a:prstGeom prst="rect">
            <a:avLst/>
          </a:prstGeom>
        </p:spPr>
        <p:txBody>
          <a:bodyPr vert="horz" wrap="square" lIns="0" tIns="12700" rIns="0" bIns="0" rtlCol="0">
            <a:spAutoFit/>
          </a:bodyPr>
          <a:lstStyle/>
          <a:p>
            <a:pPr marL="12700">
              <a:lnSpc>
                <a:spcPct val="100000"/>
              </a:lnSpc>
              <a:spcBef>
                <a:spcPts val="100"/>
              </a:spcBef>
            </a:pPr>
            <a:r>
              <a:rPr sz="3000" b="1" spc="130" dirty="0">
                <a:solidFill>
                  <a:srgbClr val="FF3131"/>
                </a:solidFill>
                <a:latin typeface="Times New Roman"/>
                <a:cs typeface="Times New Roman"/>
              </a:rPr>
              <a:t>2</a:t>
            </a:r>
            <a:endParaRPr sz="3000">
              <a:latin typeface="Times New Roman"/>
              <a:cs typeface="Times New Roman"/>
            </a:endParaRPr>
          </a:p>
        </p:txBody>
      </p:sp>
      <p:sp>
        <p:nvSpPr>
          <p:cNvPr id="25" name="object 25"/>
          <p:cNvSpPr/>
          <p:nvPr/>
        </p:nvSpPr>
        <p:spPr>
          <a:xfrm>
            <a:off x="14847875" y="7051128"/>
            <a:ext cx="1088390" cy="715010"/>
          </a:xfrm>
          <a:custGeom>
            <a:avLst/>
            <a:gdLst/>
            <a:ahLst/>
            <a:cxnLst/>
            <a:rect l="l" t="t" r="r" b="b"/>
            <a:pathLst>
              <a:path w="1088390" h="715009">
                <a:moveTo>
                  <a:pt x="1088224" y="377190"/>
                </a:moveTo>
                <a:lnTo>
                  <a:pt x="1088136" y="368300"/>
                </a:lnTo>
                <a:lnTo>
                  <a:pt x="1087742" y="360680"/>
                </a:lnTo>
                <a:lnTo>
                  <a:pt x="1087704" y="359410"/>
                </a:lnTo>
                <a:lnTo>
                  <a:pt x="1087577" y="355600"/>
                </a:lnTo>
                <a:lnTo>
                  <a:pt x="1087501" y="353060"/>
                </a:lnTo>
                <a:lnTo>
                  <a:pt x="1087424" y="351790"/>
                </a:lnTo>
                <a:lnTo>
                  <a:pt x="1087094" y="346710"/>
                </a:lnTo>
                <a:lnTo>
                  <a:pt x="1086129" y="339090"/>
                </a:lnTo>
                <a:lnTo>
                  <a:pt x="1084999" y="332740"/>
                </a:lnTo>
                <a:lnTo>
                  <a:pt x="1084110" y="326390"/>
                </a:lnTo>
                <a:lnTo>
                  <a:pt x="1084110" y="325120"/>
                </a:lnTo>
                <a:lnTo>
                  <a:pt x="1083259" y="323850"/>
                </a:lnTo>
                <a:lnTo>
                  <a:pt x="1083259" y="322580"/>
                </a:lnTo>
                <a:lnTo>
                  <a:pt x="1080719" y="318770"/>
                </a:lnTo>
                <a:lnTo>
                  <a:pt x="1080719" y="307340"/>
                </a:lnTo>
                <a:lnTo>
                  <a:pt x="1079868" y="304800"/>
                </a:lnTo>
                <a:lnTo>
                  <a:pt x="1078166" y="300990"/>
                </a:lnTo>
                <a:lnTo>
                  <a:pt x="1075626" y="297180"/>
                </a:lnTo>
                <a:lnTo>
                  <a:pt x="1075626" y="292100"/>
                </a:lnTo>
                <a:lnTo>
                  <a:pt x="1072235" y="287020"/>
                </a:lnTo>
                <a:lnTo>
                  <a:pt x="1069682" y="279400"/>
                </a:lnTo>
                <a:lnTo>
                  <a:pt x="1056957" y="256540"/>
                </a:lnTo>
                <a:lnTo>
                  <a:pt x="1054417" y="251460"/>
                </a:lnTo>
                <a:lnTo>
                  <a:pt x="1051026" y="247650"/>
                </a:lnTo>
                <a:lnTo>
                  <a:pt x="1048473" y="241300"/>
                </a:lnTo>
                <a:lnTo>
                  <a:pt x="1046784" y="237490"/>
                </a:lnTo>
                <a:lnTo>
                  <a:pt x="1038301" y="224790"/>
                </a:lnTo>
                <a:lnTo>
                  <a:pt x="1032357" y="219710"/>
                </a:lnTo>
                <a:lnTo>
                  <a:pt x="1030668" y="213360"/>
                </a:lnTo>
                <a:lnTo>
                  <a:pt x="1030668" y="212090"/>
                </a:lnTo>
                <a:lnTo>
                  <a:pt x="1028966" y="212090"/>
                </a:lnTo>
                <a:lnTo>
                  <a:pt x="1028115" y="210820"/>
                </a:lnTo>
                <a:lnTo>
                  <a:pt x="1027264" y="210820"/>
                </a:lnTo>
                <a:lnTo>
                  <a:pt x="1018781" y="200660"/>
                </a:lnTo>
                <a:lnTo>
                  <a:pt x="1013701" y="194310"/>
                </a:lnTo>
                <a:lnTo>
                  <a:pt x="998740" y="177800"/>
                </a:lnTo>
                <a:lnTo>
                  <a:pt x="991146" y="170180"/>
                </a:lnTo>
                <a:lnTo>
                  <a:pt x="973823" y="153670"/>
                </a:lnTo>
                <a:lnTo>
                  <a:pt x="969581" y="151130"/>
                </a:lnTo>
                <a:lnTo>
                  <a:pt x="964349" y="146050"/>
                </a:lnTo>
                <a:lnTo>
                  <a:pt x="958875" y="142240"/>
                </a:lnTo>
                <a:lnTo>
                  <a:pt x="953236" y="137160"/>
                </a:lnTo>
                <a:lnTo>
                  <a:pt x="947521" y="133350"/>
                </a:lnTo>
                <a:lnTo>
                  <a:pt x="942428" y="128270"/>
                </a:lnTo>
                <a:lnTo>
                  <a:pt x="936498" y="124460"/>
                </a:lnTo>
                <a:lnTo>
                  <a:pt x="931405" y="120650"/>
                </a:lnTo>
                <a:lnTo>
                  <a:pt x="930554" y="120650"/>
                </a:lnTo>
                <a:lnTo>
                  <a:pt x="930554" y="119380"/>
                </a:lnTo>
                <a:lnTo>
                  <a:pt x="929703" y="119380"/>
                </a:lnTo>
                <a:lnTo>
                  <a:pt x="925461" y="116840"/>
                </a:lnTo>
                <a:lnTo>
                  <a:pt x="920381" y="114300"/>
                </a:lnTo>
                <a:lnTo>
                  <a:pt x="916139" y="110490"/>
                </a:lnTo>
                <a:lnTo>
                  <a:pt x="911047" y="107950"/>
                </a:lnTo>
                <a:lnTo>
                  <a:pt x="906805" y="104140"/>
                </a:lnTo>
                <a:lnTo>
                  <a:pt x="894080" y="95250"/>
                </a:lnTo>
                <a:lnTo>
                  <a:pt x="882205" y="90170"/>
                </a:lnTo>
                <a:lnTo>
                  <a:pt x="870318" y="82550"/>
                </a:lnTo>
                <a:lnTo>
                  <a:pt x="858443" y="77470"/>
                </a:lnTo>
                <a:lnTo>
                  <a:pt x="847217" y="74930"/>
                </a:lnTo>
                <a:lnTo>
                  <a:pt x="837349" y="72390"/>
                </a:lnTo>
                <a:lnTo>
                  <a:pt x="828268" y="68580"/>
                </a:lnTo>
                <a:lnTo>
                  <a:pt x="819416" y="64770"/>
                </a:lnTo>
                <a:lnTo>
                  <a:pt x="810704" y="62331"/>
                </a:lnTo>
                <a:lnTo>
                  <a:pt x="810501" y="62230"/>
                </a:lnTo>
                <a:lnTo>
                  <a:pt x="810145" y="62141"/>
                </a:lnTo>
                <a:lnTo>
                  <a:pt x="801179" y="58420"/>
                </a:lnTo>
                <a:lnTo>
                  <a:pt x="787463" y="54610"/>
                </a:lnTo>
                <a:lnTo>
                  <a:pt x="782942" y="53340"/>
                </a:lnTo>
                <a:lnTo>
                  <a:pt x="773531" y="50800"/>
                </a:lnTo>
                <a:lnTo>
                  <a:pt x="755027" y="45720"/>
                </a:lnTo>
                <a:lnTo>
                  <a:pt x="745617" y="44450"/>
                </a:lnTo>
                <a:lnTo>
                  <a:pt x="734352" y="43192"/>
                </a:lnTo>
                <a:lnTo>
                  <a:pt x="729640" y="42125"/>
                </a:lnTo>
                <a:lnTo>
                  <a:pt x="728713" y="41910"/>
                </a:lnTo>
                <a:lnTo>
                  <a:pt x="723138" y="40640"/>
                </a:lnTo>
                <a:lnTo>
                  <a:pt x="711974" y="38100"/>
                </a:lnTo>
                <a:lnTo>
                  <a:pt x="700659" y="36830"/>
                </a:lnTo>
                <a:lnTo>
                  <a:pt x="674357" y="34290"/>
                </a:lnTo>
                <a:lnTo>
                  <a:pt x="667562" y="33020"/>
                </a:lnTo>
                <a:lnTo>
                  <a:pt x="661631" y="33020"/>
                </a:lnTo>
                <a:lnTo>
                  <a:pt x="635330" y="33020"/>
                </a:lnTo>
                <a:lnTo>
                  <a:pt x="620064" y="33020"/>
                </a:lnTo>
                <a:lnTo>
                  <a:pt x="614121" y="31750"/>
                </a:lnTo>
                <a:lnTo>
                  <a:pt x="608177" y="33020"/>
                </a:lnTo>
                <a:lnTo>
                  <a:pt x="603935" y="35560"/>
                </a:lnTo>
                <a:lnTo>
                  <a:pt x="598004" y="33020"/>
                </a:lnTo>
                <a:lnTo>
                  <a:pt x="592061" y="33020"/>
                </a:lnTo>
                <a:lnTo>
                  <a:pt x="581037" y="33020"/>
                </a:lnTo>
                <a:lnTo>
                  <a:pt x="575094" y="33020"/>
                </a:lnTo>
                <a:lnTo>
                  <a:pt x="571703" y="33020"/>
                </a:lnTo>
                <a:lnTo>
                  <a:pt x="570001" y="34290"/>
                </a:lnTo>
                <a:lnTo>
                  <a:pt x="569163" y="34290"/>
                </a:lnTo>
                <a:lnTo>
                  <a:pt x="567461" y="35560"/>
                </a:lnTo>
                <a:lnTo>
                  <a:pt x="560679" y="35560"/>
                </a:lnTo>
                <a:lnTo>
                  <a:pt x="542429" y="35560"/>
                </a:lnTo>
                <a:lnTo>
                  <a:pt x="535432" y="36830"/>
                </a:lnTo>
                <a:lnTo>
                  <a:pt x="528434" y="36830"/>
                </a:lnTo>
                <a:lnTo>
                  <a:pt x="525894" y="38100"/>
                </a:lnTo>
                <a:lnTo>
                  <a:pt x="522503" y="36830"/>
                </a:lnTo>
                <a:lnTo>
                  <a:pt x="519950" y="38100"/>
                </a:lnTo>
                <a:lnTo>
                  <a:pt x="505536" y="40640"/>
                </a:lnTo>
                <a:lnTo>
                  <a:pt x="498475" y="40640"/>
                </a:lnTo>
                <a:lnTo>
                  <a:pt x="487718" y="41910"/>
                </a:lnTo>
                <a:lnTo>
                  <a:pt x="484327" y="40640"/>
                </a:lnTo>
                <a:lnTo>
                  <a:pt x="480923" y="43180"/>
                </a:lnTo>
                <a:lnTo>
                  <a:pt x="479234" y="43180"/>
                </a:lnTo>
                <a:lnTo>
                  <a:pt x="477532" y="43180"/>
                </a:lnTo>
                <a:lnTo>
                  <a:pt x="475843" y="41910"/>
                </a:lnTo>
                <a:lnTo>
                  <a:pt x="474992" y="43180"/>
                </a:lnTo>
                <a:lnTo>
                  <a:pt x="471601" y="45720"/>
                </a:lnTo>
                <a:lnTo>
                  <a:pt x="468198" y="45720"/>
                </a:lnTo>
                <a:lnTo>
                  <a:pt x="464807" y="46990"/>
                </a:lnTo>
                <a:lnTo>
                  <a:pt x="460565" y="46990"/>
                </a:lnTo>
                <a:lnTo>
                  <a:pt x="459714" y="46990"/>
                </a:lnTo>
                <a:lnTo>
                  <a:pt x="457174" y="49530"/>
                </a:lnTo>
                <a:lnTo>
                  <a:pt x="455472" y="50800"/>
                </a:lnTo>
                <a:lnTo>
                  <a:pt x="454634" y="50800"/>
                </a:lnTo>
                <a:lnTo>
                  <a:pt x="449541" y="49530"/>
                </a:lnTo>
                <a:lnTo>
                  <a:pt x="446151" y="52070"/>
                </a:lnTo>
                <a:lnTo>
                  <a:pt x="445731" y="52324"/>
                </a:lnTo>
                <a:lnTo>
                  <a:pt x="436816" y="55880"/>
                </a:lnTo>
                <a:lnTo>
                  <a:pt x="436816" y="57150"/>
                </a:lnTo>
                <a:lnTo>
                  <a:pt x="438264" y="58788"/>
                </a:lnTo>
                <a:lnTo>
                  <a:pt x="439356" y="60960"/>
                </a:lnTo>
                <a:lnTo>
                  <a:pt x="439356" y="62230"/>
                </a:lnTo>
                <a:lnTo>
                  <a:pt x="437667" y="62230"/>
                </a:lnTo>
                <a:lnTo>
                  <a:pt x="432574" y="64770"/>
                </a:lnTo>
                <a:lnTo>
                  <a:pt x="434263" y="67310"/>
                </a:lnTo>
                <a:lnTo>
                  <a:pt x="435114" y="67310"/>
                </a:lnTo>
                <a:lnTo>
                  <a:pt x="435965" y="67310"/>
                </a:lnTo>
                <a:lnTo>
                  <a:pt x="439356" y="67310"/>
                </a:lnTo>
                <a:lnTo>
                  <a:pt x="443598" y="64770"/>
                </a:lnTo>
                <a:lnTo>
                  <a:pt x="448691" y="64770"/>
                </a:lnTo>
                <a:lnTo>
                  <a:pt x="449541" y="63500"/>
                </a:lnTo>
                <a:lnTo>
                  <a:pt x="455472" y="63500"/>
                </a:lnTo>
                <a:lnTo>
                  <a:pt x="460565" y="62230"/>
                </a:lnTo>
                <a:lnTo>
                  <a:pt x="469049" y="62230"/>
                </a:lnTo>
                <a:lnTo>
                  <a:pt x="469049" y="59690"/>
                </a:lnTo>
                <a:lnTo>
                  <a:pt x="469049" y="57150"/>
                </a:lnTo>
                <a:lnTo>
                  <a:pt x="476681" y="57150"/>
                </a:lnTo>
                <a:lnTo>
                  <a:pt x="476681" y="59690"/>
                </a:lnTo>
                <a:lnTo>
                  <a:pt x="476681" y="60960"/>
                </a:lnTo>
                <a:lnTo>
                  <a:pt x="481774" y="62230"/>
                </a:lnTo>
                <a:lnTo>
                  <a:pt x="486016" y="62230"/>
                </a:lnTo>
                <a:lnTo>
                  <a:pt x="490258" y="59690"/>
                </a:lnTo>
                <a:lnTo>
                  <a:pt x="489191" y="58102"/>
                </a:lnTo>
                <a:lnTo>
                  <a:pt x="490258" y="57150"/>
                </a:lnTo>
                <a:lnTo>
                  <a:pt x="488569" y="55880"/>
                </a:lnTo>
                <a:lnTo>
                  <a:pt x="488391" y="55626"/>
                </a:lnTo>
                <a:lnTo>
                  <a:pt x="491109" y="54610"/>
                </a:lnTo>
                <a:lnTo>
                  <a:pt x="493649" y="54610"/>
                </a:lnTo>
                <a:lnTo>
                  <a:pt x="496201" y="58420"/>
                </a:lnTo>
                <a:lnTo>
                  <a:pt x="497052" y="59690"/>
                </a:lnTo>
                <a:lnTo>
                  <a:pt x="499592" y="60960"/>
                </a:lnTo>
                <a:lnTo>
                  <a:pt x="502132" y="60960"/>
                </a:lnTo>
                <a:lnTo>
                  <a:pt x="508927" y="59690"/>
                </a:lnTo>
                <a:lnTo>
                  <a:pt x="514858" y="58420"/>
                </a:lnTo>
                <a:lnTo>
                  <a:pt x="521652" y="58420"/>
                </a:lnTo>
                <a:lnTo>
                  <a:pt x="553885" y="55880"/>
                </a:lnTo>
                <a:lnTo>
                  <a:pt x="561517" y="54610"/>
                </a:lnTo>
                <a:lnTo>
                  <a:pt x="623316" y="54610"/>
                </a:lnTo>
                <a:lnTo>
                  <a:pt x="636181" y="55880"/>
                </a:lnTo>
                <a:lnTo>
                  <a:pt x="643813" y="57150"/>
                </a:lnTo>
                <a:lnTo>
                  <a:pt x="660781" y="57150"/>
                </a:lnTo>
                <a:lnTo>
                  <a:pt x="674357" y="57150"/>
                </a:lnTo>
                <a:lnTo>
                  <a:pt x="677748" y="58420"/>
                </a:lnTo>
                <a:lnTo>
                  <a:pt x="684530" y="58420"/>
                </a:lnTo>
                <a:lnTo>
                  <a:pt x="686231" y="58420"/>
                </a:lnTo>
                <a:lnTo>
                  <a:pt x="688771" y="59690"/>
                </a:lnTo>
                <a:lnTo>
                  <a:pt x="695566" y="58420"/>
                </a:lnTo>
                <a:lnTo>
                  <a:pt x="701497" y="59690"/>
                </a:lnTo>
                <a:lnTo>
                  <a:pt x="707440" y="59690"/>
                </a:lnTo>
                <a:lnTo>
                  <a:pt x="711682" y="59690"/>
                </a:lnTo>
                <a:lnTo>
                  <a:pt x="715073" y="60960"/>
                </a:lnTo>
                <a:lnTo>
                  <a:pt x="716775" y="60960"/>
                </a:lnTo>
                <a:lnTo>
                  <a:pt x="725258" y="62230"/>
                </a:lnTo>
                <a:lnTo>
                  <a:pt x="732891" y="64770"/>
                </a:lnTo>
                <a:lnTo>
                  <a:pt x="736295" y="65544"/>
                </a:lnTo>
                <a:lnTo>
                  <a:pt x="742226" y="67310"/>
                </a:lnTo>
                <a:lnTo>
                  <a:pt x="749858" y="68580"/>
                </a:lnTo>
                <a:lnTo>
                  <a:pt x="757491" y="69850"/>
                </a:lnTo>
                <a:lnTo>
                  <a:pt x="772756" y="74930"/>
                </a:lnTo>
                <a:lnTo>
                  <a:pt x="780402" y="74930"/>
                </a:lnTo>
                <a:lnTo>
                  <a:pt x="818578" y="87630"/>
                </a:lnTo>
                <a:lnTo>
                  <a:pt x="824509" y="90170"/>
                </a:lnTo>
                <a:lnTo>
                  <a:pt x="829602" y="92710"/>
                </a:lnTo>
                <a:lnTo>
                  <a:pt x="835545" y="93980"/>
                </a:lnTo>
                <a:lnTo>
                  <a:pt x="839787" y="95250"/>
                </a:lnTo>
                <a:lnTo>
                  <a:pt x="844029" y="97790"/>
                </a:lnTo>
                <a:lnTo>
                  <a:pt x="849109" y="100330"/>
                </a:lnTo>
                <a:lnTo>
                  <a:pt x="855903" y="102870"/>
                </a:lnTo>
                <a:lnTo>
                  <a:pt x="862685" y="106680"/>
                </a:lnTo>
                <a:lnTo>
                  <a:pt x="868629" y="110490"/>
                </a:lnTo>
                <a:lnTo>
                  <a:pt x="872020" y="113030"/>
                </a:lnTo>
                <a:lnTo>
                  <a:pt x="880503" y="115570"/>
                </a:lnTo>
                <a:lnTo>
                  <a:pt x="890689" y="120650"/>
                </a:lnTo>
                <a:lnTo>
                  <a:pt x="895769" y="124460"/>
                </a:lnTo>
                <a:lnTo>
                  <a:pt x="898321" y="127000"/>
                </a:lnTo>
                <a:lnTo>
                  <a:pt x="901712" y="128270"/>
                </a:lnTo>
                <a:lnTo>
                  <a:pt x="904252" y="130810"/>
                </a:lnTo>
                <a:lnTo>
                  <a:pt x="908494" y="133350"/>
                </a:lnTo>
                <a:lnTo>
                  <a:pt x="913587" y="135890"/>
                </a:lnTo>
                <a:lnTo>
                  <a:pt x="917829" y="138430"/>
                </a:lnTo>
                <a:lnTo>
                  <a:pt x="923798" y="143510"/>
                </a:lnTo>
                <a:lnTo>
                  <a:pt x="929919" y="147320"/>
                </a:lnTo>
                <a:lnTo>
                  <a:pt x="935723" y="151130"/>
                </a:lnTo>
                <a:lnTo>
                  <a:pt x="940739" y="156210"/>
                </a:lnTo>
                <a:lnTo>
                  <a:pt x="946442" y="161290"/>
                </a:lnTo>
                <a:lnTo>
                  <a:pt x="951979" y="165100"/>
                </a:lnTo>
                <a:lnTo>
                  <a:pt x="957199" y="168910"/>
                </a:lnTo>
                <a:lnTo>
                  <a:pt x="966660" y="179070"/>
                </a:lnTo>
                <a:lnTo>
                  <a:pt x="971702" y="182880"/>
                </a:lnTo>
                <a:lnTo>
                  <a:pt x="976744" y="187960"/>
                </a:lnTo>
                <a:lnTo>
                  <a:pt x="981456" y="191770"/>
                </a:lnTo>
                <a:lnTo>
                  <a:pt x="984846" y="195580"/>
                </a:lnTo>
                <a:lnTo>
                  <a:pt x="987399" y="199390"/>
                </a:lnTo>
                <a:lnTo>
                  <a:pt x="990790" y="201930"/>
                </a:lnTo>
                <a:lnTo>
                  <a:pt x="996734" y="207010"/>
                </a:lnTo>
                <a:lnTo>
                  <a:pt x="1001814" y="213360"/>
                </a:lnTo>
                <a:lnTo>
                  <a:pt x="1006055" y="219710"/>
                </a:lnTo>
                <a:lnTo>
                  <a:pt x="1011148" y="226060"/>
                </a:lnTo>
                <a:lnTo>
                  <a:pt x="1017092" y="232410"/>
                </a:lnTo>
                <a:lnTo>
                  <a:pt x="1019632" y="240030"/>
                </a:lnTo>
                <a:lnTo>
                  <a:pt x="1025575" y="245110"/>
                </a:lnTo>
                <a:lnTo>
                  <a:pt x="1026426" y="252730"/>
                </a:lnTo>
                <a:lnTo>
                  <a:pt x="1032357" y="257810"/>
                </a:lnTo>
                <a:lnTo>
                  <a:pt x="1039888" y="271780"/>
                </a:lnTo>
                <a:lnTo>
                  <a:pt x="1055268" y="307340"/>
                </a:lnTo>
                <a:lnTo>
                  <a:pt x="1056119" y="311150"/>
                </a:lnTo>
                <a:lnTo>
                  <a:pt x="1057808" y="316230"/>
                </a:lnTo>
                <a:lnTo>
                  <a:pt x="1059510" y="320040"/>
                </a:lnTo>
                <a:lnTo>
                  <a:pt x="1060361" y="325120"/>
                </a:lnTo>
                <a:lnTo>
                  <a:pt x="1061199" y="328930"/>
                </a:lnTo>
                <a:lnTo>
                  <a:pt x="1061199" y="332740"/>
                </a:lnTo>
                <a:lnTo>
                  <a:pt x="1062050" y="335280"/>
                </a:lnTo>
                <a:lnTo>
                  <a:pt x="1062901" y="342900"/>
                </a:lnTo>
                <a:lnTo>
                  <a:pt x="1064602" y="349250"/>
                </a:lnTo>
                <a:lnTo>
                  <a:pt x="1063752" y="355600"/>
                </a:lnTo>
                <a:lnTo>
                  <a:pt x="1063752" y="359410"/>
                </a:lnTo>
                <a:lnTo>
                  <a:pt x="1063752" y="360680"/>
                </a:lnTo>
                <a:lnTo>
                  <a:pt x="1062901" y="365760"/>
                </a:lnTo>
                <a:lnTo>
                  <a:pt x="1062837" y="377190"/>
                </a:lnTo>
                <a:lnTo>
                  <a:pt x="1062266" y="382270"/>
                </a:lnTo>
                <a:lnTo>
                  <a:pt x="1061224" y="388620"/>
                </a:lnTo>
                <a:lnTo>
                  <a:pt x="1060361" y="394970"/>
                </a:lnTo>
                <a:lnTo>
                  <a:pt x="1058773" y="402590"/>
                </a:lnTo>
                <a:lnTo>
                  <a:pt x="1056678" y="411276"/>
                </a:lnTo>
                <a:lnTo>
                  <a:pt x="1054874" y="416560"/>
                </a:lnTo>
                <a:lnTo>
                  <a:pt x="1051877" y="424180"/>
                </a:lnTo>
                <a:lnTo>
                  <a:pt x="1050442" y="427977"/>
                </a:lnTo>
                <a:lnTo>
                  <a:pt x="1046378" y="436880"/>
                </a:lnTo>
                <a:lnTo>
                  <a:pt x="1041273" y="447040"/>
                </a:lnTo>
                <a:lnTo>
                  <a:pt x="1035507" y="455955"/>
                </a:lnTo>
                <a:lnTo>
                  <a:pt x="1029817" y="463550"/>
                </a:lnTo>
                <a:lnTo>
                  <a:pt x="1028115" y="466090"/>
                </a:lnTo>
                <a:lnTo>
                  <a:pt x="1025575" y="468630"/>
                </a:lnTo>
                <a:lnTo>
                  <a:pt x="1024724" y="469900"/>
                </a:lnTo>
                <a:lnTo>
                  <a:pt x="1023874" y="471170"/>
                </a:lnTo>
                <a:lnTo>
                  <a:pt x="1019632" y="478790"/>
                </a:lnTo>
                <a:lnTo>
                  <a:pt x="1015390" y="483870"/>
                </a:lnTo>
                <a:lnTo>
                  <a:pt x="994181" y="504190"/>
                </a:lnTo>
                <a:lnTo>
                  <a:pt x="994181" y="505460"/>
                </a:lnTo>
                <a:lnTo>
                  <a:pt x="994079" y="505891"/>
                </a:lnTo>
                <a:lnTo>
                  <a:pt x="993330" y="506730"/>
                </a:lnTo>
                <a:lnTo>
                  <a:pt x="992492" y="509270"/>
                </a:lnTo>
                <a:lnTo>
                  <a:pt x="991641" y="510120"/>
                </a:lnTo>
                <a:lnTo>
                  <a:pt x="988250" y="511810"/>
                </a:lnTo>
                <a:lnTo>
                  <a:pt x="984846" y="511810"/>
                </a:lnTo>
                <a:lnTo>
                  <a:pt x="983157" y="514350"/>
                </a:lnTo>
                <a:lnTo>
                  <a:pt x="980617" y="516890"/>
                </a:lnTo>
                <a:lnTo>
                  <a:pt x="977214" y="519430"/>
                </a:lnTo>
                <a:lnTo>
                  <a:pt x="976363" y="520700"/>
                </a:lnTo>
                <a:lnTo>
                  <a:pt x="947521" y="542290"/>
                </a:lnTo>
                <a:lnTo>
                  <a:pt x="940739" y="546100"/>
                </a:lnTo>
                <a:lnTo>
                  <a:pt x="934796" y="551180"/>
                </a:lnTo>
                <a:lnTo>
                  <a:pt x="931405" y="554990"/>
                </a:lnTo>
                <a:lnTo>
                  <a:pt x="929703" y="554990"/>
                </a:lnTo>
                <a:lnTo>
                  <a:pt x="922921" y="557530"/>
                </a:lnTo>
                <a:lnTo>
                  <a:pt x="917829" y="562610"/>
                </a:lnTo>
                <a:lnTo>
                  <a:pt x="911898" y="565150"/>
                </a:lnTo>
                <a:lnTo>
                  <a:pt x="910196" y="566420"/>
                </a:lnTo>
                <a:lnTo>
                  <a:pt x="908494" y="566420"/>
                </a:lnTo>
                <a:lnTo>
                  <a:pt x="902563" y="572770"/>
                </a:lnTo>
                <a:lnTo>
                  <a:pt x="895769" y="574040"/>
                </a:lnTo>
                <a:lnTo>
                  <a:pt x="890689" y="577850"/>
                </a:lnTo>
                <a:lnTo>
                  <a:pt x="883894" y="581660"/>
                </a:lnTo>
                <a:lnTo>
                  <a:pt x="875411" y="582930"/>
                </a:lnTo>
                <a:lnTo>
                  <a:pt x="870318" y="588010"/>
                </a:lnTo>
                <a:lnTo>
                  <a:pt x="870318" y="589280"/>
                </a:lnTo>
                <a:lnTo>
                  <a:pt x="869480" y="589280"/>
                </a:lnTo>
                <a:lnTo>
                  <a:pt x="866927" y="590550"/>
                </a:lnTo>
                <a:lnTo>
                  <a:pt x="860145" y="593090"/>
                </a:lnTo>
                <a:lnTo>
                  <a:pt x="855052" y="596900"/>
                </a:lnTo>
                <a:lnTo>
                  <a:pt x="847420" y="600710"/>
                </a:lnTo>
                <a:lnTo>
                  <a:pt x="841476" y="601980"/>
                </a:lnTo>
                <a:lnTo>
                  <a:pt x="836383" y="604520"/>
                </a:lnTo>
                <a:lnTo>
                  <a:pt x="819416" y="610870"/>
                </a:lnTo>
                <a:lnTo>
                  <a:pt x="817727" y="613410"/>
                </a:lnTo>
                <a:lnTo>
                  <a:pt x="815174" y="613410"/>
                </a:lnTo>
                <a:lnTo>
                  <a:pt x="808799" y="617220"/>
                </a:lnTo>
                <a:lnTo>
                  <a:pt x="795731" y="622300"/>
                </a:lnTo>
                <a:lnTo>
                  <a:pt x="788885" y="624840"/>
                </a:lnTo>
                <a:lnTo>
                  <a:pt x="781240" y="626110"/>
                </a:lnTo>
                <a:lnTo>
                  <a:pt x="775309" y="631190"/>
                </a:lnTo>
                <a:lnTo>
                  <a:pt x="766826" y="631190"/>
                </a:lnTo>
                <a:lnTo>
                  <a:pt x="766826" y="632460"/>
                </a:lnTo>
                <a:lnTo>
                  <a:pt x="765975" y="632460"/>
                </a:lnTo>
                <a:lnTo>
                  <a:pt x="760882" y="633730"/>
                </a:lnTo>
                <a:lnTo>
                  <a:pt x="756640" y="636270"/>
                </a:lnTo>
                <a:lnTo>
                  <a:pt x="749007" y="638810"/>
                </a:lnTo>
                <a:lnTo>
                  <a:pt x="747318" y="638810"/>
                </a:lnTo>
                <a:lnTo>
                  <a:pt x="744766" y="640080"/>
                </a:lnTo>
                <a:lnTo>
                  <a:pt x="739673" y="641350"/>
                </a:lnTo>
                <a:lnTo>
                  <a:pt x="735431" y="642620"/>
                </a:lnTo>
                <a:lnTo>
                  <a:pt x="730351" y="643890"/>
                </a:lnTo>
                <a:lnTo>
                  <a:pt x="725258" y="646430"/>
                </a:lnTo>
                <a:lnTo>
                  <a:pt x="720166" y="648614"/>
                </a:lnTo>
                <a:lnTo>
                  <a:pt x="718464" y="648970"/>
                </a:lnTo>
                <a:lnTo>
                  <a:pt x="717613" y="649401"/>
                </a:lnTo>
                <a:lnTo>
                  <a:pt x="714222" y="650240"/>
                </a:lnTo>
                <a:lnTo>
                  <a:pt x="709980" y="651510"/>
                </a:lnTo>
                <a:lnTo>
                  <a:pt x="704900" y="652780"/>
                </a:lnTo>
                <a:lnTo>
                  <a:pt x="700659" y="654050"/>
                </a:lnTo>
                <a:lnTo>
                  <a:pt x="677875" y="661670"/>
                </a:lnTo>
                <a:lnTo>
                  <a:pt x="663194" y="664210"/>
                </a:lnTo>
                <a:lnTo>
                  <a:pt x="655688" y="666750"/>
                </a:lnTo>
                <a:lnTo>
                  <a:pt x="649757" y="668020"/>
                </a:lnTo>
                <a:lnTo>
                  <a:pt x="642962" y="669290"/>
                </a:lnTo>
                <a:lnTo>
                  <a:pt x="637032" y="670560"/>
                </a:lnTo>
                <a:lnTo>
                  <a:pt x="631939" y="671830"/>
                </a:lnTo>
                <a:lnTo>
                  <a:pt x="626846" y="671830"/>
                </a:lnTo>
                <a:lnTo>
                  <a:pt x="622604" y="673100"/>
                </a:lnTo>
                <a:lnTo>
                  <a:pt x="617512" y="674370"/>
                </a:lnTo>
                <a:lnTo>
                  <a:pt x="612419" y="674370"/>
                </a:lnTo>
                <a:lnTo>
                  <a:pt x="602246" y="676910"/>
                </a:lnTo>
                <a:lnTo>
                  <a:pt x="598004" y="678180"/>
                </a:lnTo>
                <a:lnTo>
                  <a:pt x="597154" y="678180"/>
                </a:lnTo>
                <a:lnTo>
                  <a:pt x="596303" y="678700"/>
                </a:lnTo>
                <a:lnTo>
                  <a:pt x="593763" y="679450"/>
                </a:lnTo>
                <a:lnTo>
                  <a:pt x="592912" y="680720"/>
                </a:lnTo>
                <a:lnTo>
                  <a:pt x="592061" y="680720"/>
                </a:lnTo>
                <a:lnTo>
                  <a:pt x="584352" y="680720"/>
                </a:lnTo>
                <a:lnTo>
                  <a:pt x="577646" y="681990"/>
                </a:lnTo>
                <a:lnTo>
                  <a:pt x="570928" y="681990"/>
                </a:lnTo>
                <a:lnTo>
                  <a:pt x="564070" y="683260"/>
                </a:lnTo>
                <a:lnTo>
                  <a:pt x="558126" y="684530"/>
                </a:lnTo>
                <a:lnTo>
                  <a:pt x="553034" y="684530"/>
                </a:lnTo>
                <a:lnTo>
                  <a:pt x="547103" y="685800"/>
                </a:lnTo>
                <a:lnTo>
                  <a:pt x="536067" y="685800"/>
                </a:lnTo>
                <a:lnTo>
                  <a:pt x="508076" y="688340"/>
                </a:lnTo>
                <a:lnTo>
                  <a:pt x="493649" y="688340"/>
                </a:lnTo>
                <a:lnTo>
                  <a:pt x="486867" y="689610"/>
                </a:lnTo>
                <a:lnTo>
                  <a:pt x="479094" y="689610"/>
                </a:lnTo>
                <a:lnTo>
                  <a:pt x="471170" y="690880"/>
                </a:lnTo>
                <a:lnTo>
                  <a:pt x="374878" y="690880"/>
                </a:lnTo>
                <a:lnTo>
                  <a:pt x="359613" y="688340"/>
                </a:lnTo>
                <a:lnTo>
                  <a:pt x="353669" y="688340"/>
                </a:lnTo>
                <a:lnTo>
                  <a:pt x="346887" y="687070"/>
                </a:lnTo>
                <a:lnTo>
                  <a:pt x="340944" y="685800"/>
                </a:lnTo>
                <a:lnTo>
                  <a:pt x="332460" y="685800"/>
                </a:lnTo>
                <a:lnTo>
                  <a:pt x="329069" y="684530"/>
                </a:lnTo>
                <a:lnTo>
                  <a:pt x="303542" y="680720"/>
                </a:lnTo>
                <a:lnTo>
                  <a:pt x="295135" y="678180"/>
                </a:lnTo>
                <a:lnTo>
                  <a:pt x="290893" y="678180"/>
                </a:lnTo>
                <a:lnTo>
                  <a:pt x="288353" y="676910"/>
                </a:lnTo>
                <a:lnTo>
                  <a:pt x="267995" y="671830"/>
                </a:lnTo>
                <a:lnTo>
                  <a:pt x="259232" y="669290"/>
                </a:lnTo>
                <a:lnTo>
                  <a:pt x="234061" y="661670"/>
                </a:lnTo>
                <a:lnTo>
                  <a:pt x="232359" y="661670"/>
                </a:lnTo>
                <a:lnTo>
                  <a:pt x="229819" y="659130"/>
                </a:lnTo>
                <a:lnTo>
                  <a:pt x="228117" y="659130"/>
                </a:lnTo>
                <a:lnTo>
                  <a:pt x="214541" y="654050"/>
                </a:lnTo>
                <a:lnTo>
                  <a:pt x="208610" y="651510"/>
                </a:lnTo>
                <a:lnTo>
                  <a:pt x="195884" y="643890"/>
                </a:lnTo>
                <a:lnTo>
                  <a:pt x="189941" y="641350"/>
                </a:lnTo>
                <a:lnTo>
                  <a:pt x="184010" y="636270"/>
                </a:lnTo>
                <a:lnTo>
                  <a:pt x="178066" y="633730"/>
                </a:lnTo>
                <a:lnTo>
                  <a:pt x="170434" y="631190"/>
                </a:lnTo>
                <a:lnTo>
                  <a:pt x="164490" y="624840"/>
                </a:lnTo>
                <a:lnTo>
                  <a:pt x="156857" y="622300"/>
                </a:lnTo>
                <a:lnTo>
                  <a:pt x="156006" y="621030"/>
                </a:lnTo>
                <a:lnTo>
                  <a:pt x="151765" y="618490"/>
                </a:lnTo>
                <a:lnTo>
                  <a:pt x="144983" y="613410"/>
                </a:lnTo>
                <a:lnTo>
                  <a:pt x="132791" y="603250"/>
                </a:lnTo>
                <a:lnTo>
                  <a:pt x="126961" y="598170"/>
                </a:lnTo>
                <a:lnTo>
                  <a:pt x="121221" y="593090"/>
                </a:lnTo>
                <a:lnTo>
                  <a:pt x="117830" y="590550"/>
                </a:lnTo>
                <a:lnTo>
                  <a:pt x="115290" y="588010"/>
                </a:lnTo>
                <a:lnTo>
                  <a:pt x="111899" y="585470"/>
                </a:lnTo>
                <a:lnTo>
                  <a:pt x="104254" y="577850"/>
                </a:lnTo>
                <a:lnTo>
                  <a:pt x="101714" y="574040"/>
                </a:lnTo>
                <a:lnTo>
                  <a:pt x="98323" y="571500"/>
                </a:lnTo>
                <a:lnTo>
                  <a:pt x="95770" y="567690"/>
                </a:lnTo>
                <a:lnTo>
                  <a:pt x="94081" y="567690"/>
                </a:lnTo>
                <a:lnTo>
                  <a:pt x="93230" y="565150"/>
                </a:lnTo>
                <a:lnTo>
                  <a:pt x="91528" y="563880"/>
                </a:lnTo>
                <a:lnTo>
                  <a:pt x="86461" y="557530"/>
                </a:lnTo>
                <a:lnTo>
                  <a:pt x="81457" y="552450"/>
                </a:lnTo>
                <a:lnTo>
                  <a:pt x="76619" y="546100"/>
                </a:lnTo>
                <a:lnTo>
                  <a:pt x="72021" y="539750"/>
                </a:lnTo>
                <a:lnTo>
                  <a:pt x="67779" y="534670"/>
                </a:lnTo>
                <a:lnTo>
                  <a:pt x="60998" y="521970"/>
                </a:lnTo>
                <a:lnTo>
                  <a:pt x="57683" y="515620"/>
                </a:lnTo>
                <a:lnTo>
                  <a:pt x="50736" y="501650"/>
                </a:lnTo>
                <a:lnTo>
                  <a:pt x="47421" y="495300"/>
                </a:lnTo>
                <a:lnTo>
                  <a:pt x="47421" y="494030"/>
                </a:lnTo>
                <a:lnTo>
                  <a:pt x="46570" y="494030"/>
                </a:lnTo>
                <a:lnTo>
                  <a:pt x="46570" y="486410"/>
                </a:lnTo>
                <a:lnTo>
                  <a:pt x="42329" y="481330"/>
                </a:lnTo>
                <a:lnTo>
                  <a:pt x="38087" y="468630"/>
                </a:lnTo>
                <a:lnTo>
                  <a:pt x="35547" y="462280"/>
                </a:lnTo>
                <a:lnTo>
                  <a:pt x="32143" y="449580"/>
                </a:lnTo>
                <a:lnTo>
                  <a:pt x="29603" y="441960"/>
                </a:lnTo>
                <a:lnTo>
                  <a:pt x="28752" y="434340"/>
                </a:lnTo>
                <a:lnTo>
                  <a:pt x="28752" y="429260"/>
                </a:lnTo>
                <a:lnTo>
                  <a:pt x="27063" y="422910"/>
                </a:lnTo>
                <a:lnTo>
                  <a:pt x="26212" y="416560"/>
                </a:lnTo>
                <a:lnTo>
                  <a:pt x="25590" y="408940"/>
                </a:lnTo>
                <a:lnTo>
                  <a:pt x="25044" y="401320"/>
                </a:lnTo>
                <a:lnTo>
                  <a:pt x="24930" y="398780"/>
                </a:lnTo>
                <a:lnTo>
                  <a:pt x="24828" y="396240"/>
                </a:lnTo>
                <a:lnTo>
                  <a:pt x="24663" y="392430"/>
                </a:lnTo>
                <a:lnTo>
                  <a:pt x="26936" y="347980"/>
                </a:lnTo>
                <a:lnTo>
                  <a:pt x="37236" y="309880"/>
                </a:lnTo>
                <a:lnTo>
                  <a:pt x="39789" y="304800"/>
                </a:lnTo>
                <a:lnTo>
                  <a:pt x="43180" y="297180"/>
                </a:lnTo>
                <a:lnTo>
                  <a:pt x="44018" y="294640"/>
                </a:lnTo>
                <a:lnTo>
                  <a:pt x="45720" y="290830"/>
                </a:lnTo>
                <a:lnTo>
                  <a:pt x="53352" y="279400"/>
                </a:lnTo>
                <a:lnTo>
                  <a:pt x="55905" y="273050"/>
                </a:lnTo>
                <a:lnTo>
                  <a:pt x="57873" y="270090"/>
                </a:lnTo>
                <a:lnTo>
                  <a:pt x="60147" y="266700"/>
                </a:lnTo>
                <a:lnTo>
                  <a:pt x="61836" y="264160"/>
                </a:lnTo>
                <a:lnTo>
                  <a:pt x="68630" y="255270"/>
                </a:lnTo>
                <a:lnTo>
                  <a:pt x="71170" y="252730"/>
                </a:lnTo>
                <a:lnTo>
                  <a:pt x="72009" y="250215"/>
                </a:lnTo>
                <a:lnTo>
                  <a:pt x="73723" y="247650"/>
                </a:lnTo>
                <a:lnTo>
                  <a:pt x="75412" y="245960"/>
                </a:lnTo>
                <a:lnTo>
                  <a:pt x="80505" y="242570"/>
                </a:lnTo>
                <a:lnTo>
                  <a:pt x="83032" y="237515"/>
                </a:lnTo>
                <a:lnTo>
                  <a:pt x="91528" y="229870"/>
                </a:lnTo>
                <a:lnTo>
                  <a:pt x="93230" y="227330"/>
                </a:lnTo>
                <a:lnTo>
                  <a:pt x="94932" y="224790"/>
                </a:lnTo>
                <a:lnTo>
                  <a:pt x="99174" y="219710"/>
                </a:lnTo>
                <a:lnTo>
                  <a:pt x="104254" y="213360"/>
                </a:lnTo>
                <a:lnTo>
                  <a:pt x="111048" y="208280"/>
                </a:lnTo>
                <a:lnTo>
                  <a:pt x="120383" y="199390"/>
                </a:lnTo>
                <a:lnTo>
                  <a:pt x="128866" y="191770"/>
                </a:lnTo>
                <a:lnTo>
                  <a:pt x="135648" y="185420"/>
                </a:lnTo>
                <a:lnTo>
                  <a:pt x="139890" y="182880"/>
                </a:lnTo>
                <a:lnTo>
                  <a:pt x="141592" y="181610"/>
                </a:lnTo>
                <a:lnTo>
                  <a:pt x="142430" y="180340"/>
                </a:lnTo>
                <a:lnTo>
                  <a:pt x="154317" y="171450"/>
                </a:lnTo>
                <a:lnTo>
                  <a:pt x="159397" y="166370"/>
                </a:lnTo>
                <a:lnTo>
                  <a:pt x="166776" y="161290"/>
                </a:lnTo>
                <a:lnTo>
                  <a:pt x="180873" y="151130"/>
                </a:lnTo>
                <a:lnTo>
                  <a:pt x="188252" y="147320"/>
                </a:lnTo>
                <a:lnTo>
                  <a:pt x="198424" y="139700"/>
                </a:lnTo>
                <a:lnTo>
                  <a:pt x="211048" y="132080"/>
                </a:lnTo>
                <a:lnTo>
                  <a:pt x="217157" y="128270"/>
                </a:lnTo>
                <a:lnTo>
                  <a:pt x="223024" y="124460"/>
                </a:lnTo>
                <a:lnTo>
                  <a:pt x="228117" y="120650"/>
                </a:lnTo>
                <a:lnTo>
                  <a:pt x="230644" y="118122"/>
                </a:lnTo>
                <a:lnTo>
                  <a:pt x="233210" y="115570"/>
                </a:lnTo>
                <a:lnTo>
                  <a:pt x="239991" y="114300"/>
                </a:lnTo>
                <a:lnTo>
                  <a:pt x="240842" y="114300"/>
                </a:lnTo>
                <a:lnTo>
                  <a:pt x="240842" y="113030"/>
                </a:lnTo>
                <a:lnTo>
                  <a:pt x="247637" y="109220"/>
                </a:lnTo>
                <a:lnTo>
                  <a:pt x="255270" y="105410"/>
                </a:lnTo>
                <a:lnTo>
                  <a:pt x="262051" y="101600"/>
                </a:lnTo>
                <a:lnTo>
                  <a:pt x="265442" y="100330"/>
                </a:lnTo>
                <a:lnTo>
                  <a:pt x="269684" y="97790"/>
                </a:lnTo>
                <a:lnTo>
                  <a:pt x="273088" y="95250"/>
                </a:lnTo>
                <a:lnTo>
                  <a:pt x="277329" y="93980"/>
                </a:lnTo>
                <a:lnTo>
                  <a:pt x="280720" y="92710"/>
                </a:lnTo>
                <a:lnTo>
                  <a:pt x="284962" y="90170"/>
                </a:lnTo>
                <a:lnTo>
                  <a:pt x="291820" y="87630"/>
                </a:lnTo>
                <a:lnTo>
                  <a:pt x="305244" y="81280"/>
                </a:lnTo>
                <a:lnTo>
                  <a:pt x="312102" y="77470"/>
                </a:lnTo>
                <a:lnTo>
                  <a:pt x="319176" y="73660"/>
                </a:lnTo>
                <a:lnTo>
                  <a:pt x="325361" y="71120"/>
                </a:lnTo>
                <a:lnTo>
                  <a:pt x="325678" y="70980"/>
                </a:lnTo>
                <a:lnTo>
                  <a:pt x="329069" y="69850"/>
                </a:lnTo>
                <a:lnTo>
                  <a:pt x="332054" y="68364"/>
                </a:lnTo>
                <a:lnTo>
                  <a:pt x="336702" y="67310"/>
                </a:lnTo>
                <a:lnTo>
                  <a:pt x="343496" y="64770"/>
                </a:lnTo>
                <a:lnTo>
                  <a:pt x="351129" y="62230"/>
                </a:lnTo>
                <a:lnTo>
                  <a:pt x="357911" y="59690"/>
                </a:lnTo>
                <a:lnTo>
                  <a:pt x="362153" y="57150"/>
                </a:lnTo>
                <a:lnTo>
                  <a:pt x="367245" y="55880"/>
                </a:lnTo>
                <a:lnTo>
                  <a:pt x="371487" y="54610"/>
                </a:lnTo>
                <a:lnTo>
                  <a:pt x="392849" y="46990"/>
                </a:lnTo>
                <a:lnTo>
                  <a:pt x="402729" y="43815"/>
                </a:lnTo>
                <a:lnTo>
                  <a:pt x="411353" y="41490"/>
                </a:lnTo>
                <a:lnTo>
                  <a:pt x="425145" y="39370"/>
                </a:lnTo>
                <a:lnTo>
                  <a:pt x="433425" y="36830"/>
                </a:lnTo>
                <a:lnTo>
                  <a:pt x="441909" y="35560"/>
                </a:lnTo>
                <a:lnTo>
                  <a:pt x="446989" y="34290"/>
                </a:lnTo>
                <a:lnTo>
                  <a:pt x="449541" y="33020"/>
                </a:lnTo>
                <a:lnTo>
                  <a:pt x="458025" y="33020"/>
                </a:lnTo>
                <a:lnTo>
                  <a:pt x="458876" y="33020"/>
                </a:lnTo>
                <a:lnTo>
                  <a:pt x="460565" y="31750"/>
                </a:lnTo>
                <a:lnTo>
                  <a:pt x="463118" y="31750"/>
                </a:lnTo>
                <a:lnTo>
                  <a:pt x="470750" y="30480"/>
                </a:lnTo>
                <a:lnTo>
                  <a:pt x="477532" y="29210"/>
                </a:lnTo>
                <a:lnTo>
                  <a:pt x="485165" y="27940"/>
                </a:lnTo>
                <a:lnTo>
                  <a:pt x="487718" y="27940"/>
                </a:lnTo>
                <a:lnTo>
                  <a:pt x="501294" y="27940"/>
                </a:lnTo>
                <a:lnTo>
                  <a:pt x="511467" y="25400"/>
                </a:lnTo>
                <a:lnTo>
                  <a:pt x="515708" y="24130"/>
                </a:lnTo>
                <a:lnTo>
                  <a:pt x="524751" y="22860"/>
                </a:lnTo>
                <a:lnTo>
                  <a:pt x="543153" y="21590"/>
                </a:lnTo>
                <a:lnTo>
                  <a:pt x="552196" y="20320"/>
                </a:lnTo>
                <a:lnTo>
                  <a:pt x="555586" y="20320"/>
                </a:lnTo>
                <a:lnTo>
                  <a:pt x="558977" y="19050"/>
                </a:lnTo>
                <a:lnTo>
                  <a:pt x="562368" y="19050"/>
                </a:lnTo>
                <a:lnTo>
                  <a:pt x="562368" y="15240"/>
                </a:lnTo>
                <a:lnTo>
                  <a:pt x="565759" y="13970"/>
                </a:lnTo>
                <a:lnTo>
                  <a:pt x="570001" y="13970"/>
                </a:lnTo>
                <a:lnTo>
                  <a:pt x="577646" y="10160"/>
                </a:lnTo>
                <a:lnTo>
                  <a:pt x="579335" y="8890"/>
                </a:lnTo>
                <a:lnTo>
                  <a:pt x="580186" y="7620"/>
                </a:lnTo>
                <a:lnTo>
                  <a:pt x="582726" y="5080"/>
                </a:lnTo>
                <a:lnTo>
                  <a:pt x="581037" y="2540"/>
                </a:lnTo>
                <a:lnTo>
                  <a:pt x="580186" y="2540"/>
                </a:lnTo>
                <a:lnTo>
                  <a:pt x="577646" y="2540"/>
                </a:lnTo>
                <a:lnTo>
                  <a:pt x="574243" y="1524"/>
                </a:lnTo>
                <a:lnTo>
                  <a:pt x="571703" y="0"/>
                </a:lnTo>
                <a:lnTo>
                  <a:pt x="569163" y="0"/>
                </a:lnTo>
                <a:lnTo>
                  <a:pt x="539470" y="0"/>
                </a:lnTo>
                <a:lnTo>
                  <a:pt x="536917" y="0"/>
                </a:lnTo>
                <a:lnTo>
                  <a:pt x="532676" y="1270"/>
                </a:lnTo>
                <a:lnTo>
                  <a:pt x="527583" y="1270"/>
                </a:lnTo>
                <a:lnTo>
                  <a:pt x="525043" y="1270"/>
                </a:lnTo>
                <a:lnTo>
                  <a:pt x="519950" y="2540"/>
                </a:lnTo>
                <a:lnTo>
                  <a:pt x="511467" y="2540"/>
                </a:lnTo>
                <a:lnTo>
                  <a:pt x="508927" y="2540"/>
                </a:lnTo>
                <a:lnTo>
                  <a:pt x="502132" y="3810"/>
                </a:lnTo>
                <a:lnTo>
                  <a:pt x="497890" y="3810"/>
                </a:lnTo>
                <a:lnTo>
                  <a:pt x="495350" y="3810"/>
                </a:lnTo>
                <a:lnTo>
                  <a:pt x="488569" y="5080"/>
                </a:lnTo>
                <a:lnTo>
                  <a:pt x="482333" y="5080"/>
                </a:lnTo>
                <a:lnTo>
                  <a:pt x="479793" y="5080"/>
                </a:lnTo>
                <a:lnTo>
                  <a:pt x="462559" y="7620"/>
                </a:lnTo>
                <a:lnTo>
                  <a:pt x="454634" y="7620"/>
                </a:lnTo>
                <a:lnTo>
                  <a:pt x="452081" y="7620"/>
                </a:lnTo>
                <a:lnTo>
                  <a:pt x="450392" y="8890"/>
                </a:lnTo>
                <a:lnTo>
                  <a:pt x="448691" y="8890"/>
                </a:lnTo>
                <a:lnTo>
                  <a:pt x="443598" y="10160"/>
                </a:lnTo>
                <a:lnTo>
                  <a:pt x="440207" y="10160"/>
                </a:lnTo>
                <a:lnTo>
                  <a:pt x="437667" y="10160"/>
                </a:lnTo>
                <a:lnTo>
                  <a:pt x="432574" y="11430"/>
                </a:lnTo>
                <a:lnTo>
                  <a:pt x="427482" y="12522"/>
                </a:lnTo>
                <a:lnTo>
                  <a:pt x="426199" y="12700"/>
                </a:lnTo>
                <a:lnTo>
                  <a:pt x="420700" y="12700"/>
                </a:lnTo>
                <a:lnTo>
                  <a:pt x="414756" y="13970"/>
                </a:lnTo>
                <a:lnTo>
                  <a:pt x="407758" y="16510"/>
                </a:lnTo>
                <a:lnTo>
                  <a:pt x="393763" y="20320"/>
                </a:lnTo>
                <a:lnTo>
                  <a:pt x="386765" y="22860"/>
                </a:lnTo>
                <a:lnTo>
                  <a:pt x="332460" y="40640"/>
                </a:lnTo>
                <a:lnTo>
                  <a:pt x="327355" y="43002"/>
                </a:lnTo>
                <a:lnTo>
                  <a:pt x="326745" y="43180"/>
                </a:lnTo>
                <a:lnTo>
                  <a:pt x="322961" y="44932"/>
                </a:lnTo>
                <a:lnTo>
                  <a:pt x="307657" y="50800"/>
                </a:lnTo>
                <a:lnTo>
                  <a:pt x="299377" y="54610"/>
                </a:lnTo>
                <a:lnTo>
                  <a:pt x="289979" y="58420"/>
                </a:lnTo>
                <a:lnTo>
                  <a:pt x="280822" y="63500"/>
                </a:lnTo>
                <a:lnTo>
                  <a:pt x="271818" y="67310"/>
                </a:lnTo>
                <a:lnTo>
                  <a:pt x="256120" y="74930"/>
                </a:lnTo>
                <a:lnTo>
                  <a:pt x="249326" y="80010"/>
                </a:lnTo>
                <a:lnTo>
                  <a:pt x="241693" y="83820"/>
                </a:lnTo>
                <a:lnTo>
                  <a:pt x="230238" y="88900"/>
                </a:lnTo>
                <a:lnTo>
                  <a:pt x="218782" y="96520"/>
                </a:lnTo>
                <a:lnTo>
                  <a:pt x="211531" y="100330"/>
                </a:lnTo>
                <a:lnTo>
                  <a:pt x="204050" y="104140"/>
                </a:lnTo>
                <a:lnTo>
                  <a:pt x="196710" y="109220"/>
                </a:lnTo>
                <a:lnTo>
                  <a:pt x="189941" y="113030"/>
                </a:lnTo>
                <a:lnTo>
                  <a:pt x="189941" y="114300"/>
                </a:lnTo>
                <a:lnTo>
                  <a:pt x="189090" y="114300"/>
                </a:lnTo>
                <a:lnTo>
                  <a:pt x="184010" y="118110"/>
                </a:lnTo>
                <a:lnTo>
                  <a:pt x="172123" y="125730"/>
                </a:lnTo>
                <a:lnTo>
                  <a:pt x="165341" y="130810"/>
                </a:lnTo>
                <a:lnTo>
                  <a:pt x="159397" y="135890"/>
                </a:lnTo>
                <a:lnTo>
                  <a:pt x="152615" y="139700"/>
                </a:lnTo>
                <a:lnTo>
                  <a:pt x="146672" y="143510"/>
                </a:lnTo>
                <a:lnTo>
                  <a:pt x="141592" y="147320"/>
                </a:lnTo>
                <a:lnTo>
                  <a:pt x="135648" y="151130"/>
                </a:lnTo>
                <a:lnTo>
                  <a:pt x="133946" y="151130"/>
                </a:lnTo>
                <a:lnTo>
                  <a:pt x="121221" y="161290"/>
                </a:lnTo>
                <a:lnTo>
                  <a:pt x="120383" y="162560"/>
                </a:lnTo>
                <a:lnTo>
                  <a:pt x="118681" y="163830"/>
                </a:lnTo>
                <a:lnTo>
                  <a:pt x="116141" y="166370"/>
                </a:lnTo>
                <a:lnTo>
                  <a:pt x="113588" y="167640"/>
                </a:lnTo>
                <a:lnTo>
                  <a:pt x="111899" y="168910"/>
                </a:lnTo>
                <a:lnTo>
                  <a:pt x="107657" y="172720"/>
                </a:lnTo>
                <a:lnTo>
                  <a:pt x="104254" y="176530"/>
                </a:lnTo>
                <a:lnTo>
                  <a:pt x="95770" y="184150"/>
                </a:lnTo>
                <a:lnTo>
                  <a:pt x="90690" y="187960"/>
                </a:lnTo>
                <a:lnTo>
                  <a:pt x="82207" y="196850"/>
                </a:lnTo>
                <a:lnTo>
                  <a:pt x="77114" y="199390"/>
                </a:lnTo>
                <a:lnTo>
                  <a:pt x="73723" y="204470"/>
                </a:lnTo>
                <a:lnTo>
                  <a:pt x="69481" y="209550"/>
                </a:lnTo>
                <a:lnTo>
                  <a:pt x="66078" y="215900"/>
                </a:lnTo>
                <a:lnTo>
                  <a:pt x="60998" y="219710"/>
                </a:lnTo>
                <a:lnTo>
                  <a:pt x="60147" y="219710"/>
                </a:lnTo>
                <a:lnTo>
                  <a:pt x="60147" y="220980"/>
                </a:lnTo>
                <a:lnTo>
                  <a:pt x="59296" y="220980"/>
                </a:lnTo>
                <a:lnTo>
                  <a:pt x="57594" y="222250"/>
                </a:lnTo>
                <a:lnTo>
                  <a:pt x="57086" y="223774"/>
                </a:lnTo>
                <a:lnTo>
                  <a:pt x="55054" y="226060"/>
                </a:lnTo>
                <a:lnTo>
                  <a:pt x="49961" y="232410"/>
                </a:lnTo>
                <a:lnTo>
                  <a:pt x="44030" y="237490"/>
                </a:lnTo>
                <a:lnTo>
                  <a:pt x="39789" y="245110"/>
                </a:lnTo>
                <a:lnTo>
                  <a:pt x="35356" y="251460"/>
                </a:lnTo>
                <a:lnTo>
                  <a:pt x="31089" y="259080"/>
                </a:lnTo>
                <a:lnTo>
                  <a:pt x="27139" y="265430"/>
                </a:lnTo>
                <a:lnTo>
                  <a:pt x="23660" y="273050"/>
                </a:lnTo>
                <a:lnTo>
                  <a:pt x="20840" y="280670"/>
                </a:lnTo>
                <a:lnTo>
                  <a:pt x="17614" y="288290"/>
                </a:lnTo>
                <a:lnTo>
                  <a:pt x="14236" y="295910"/>
                </a:lnTo>
                <a:lnTo>
                  <a:pt x="10934" y="302260"/>
                </a:lnTo>
                <a:lnTo>
                  <a:pt x="8394" y="308610"/>
                </a:lnTo>
                <a:lnTo>
                  <a:pt x="7099" y="313956"/>
                </a:lnTo>
                <a:lnTo>
                  <a:pt x="6692" y="314960"/>
                </a:lnTo>
                <a:lnTo>
                  <a:pt x="6553" y="316179"/>
                </a:lnTo>
                <a:lnTo>
                  <a:pt x="5003" y="322580"/>
                </a:lnTo>
                <a:lnTo>
                  <a:pt x="4152" y="326390"/>
                </a:lnTo>
                <a:lnTo>
                  <a:pt x="1612" y="330200"/>
                </a:lnTo>
                <a:lnTo>
                  <a:pt x="1549" y="336550"/>
                </a:lnTo>
                <a:lnTo>
                  <a:pt x="1485" y="337820"/>
                </a:lnTo>
                <a:lnTo>
                  <a:pt x="1219" y="342900"/>
                </a:lnTo>
                <a:lnTo>
                  <a:pt x="444" y="351790"/>
                </a:lnTo>
                <a:lnTo>
                  <a:pt x="0" y="358140"/>
                </a:lnTo>
                <a:lnTo>
                  <a:pt x="12" y="372110"/>
                </a:lnTo>
                <a:lnTo>
                  <a:pt x="406" y="377190"/>
                </a:lnTo>
                <a:lnTo>
                  <a:pt x="533" y="381000"/>
                </a:lnTo>
                <a:lnTo>
                  <a:pt x="647" y="384810"/>
                </a:lnTo>
                <a:lnTo>
                  <a:pt x="762" y="398780"/>
                </a:lnTo>
                <a:lnTo>
                  <a:pt x="1422" y="406400"/>
                </a:lnTo>
                <a:lnTo>
                  <a:pt x="2247" y="412750"/>
                </a:lnTo>
                <a:lnTo>
                  <a:pt x="3378" y="419100"/>
                </a:lnTo>
                <a:lnTo>
                  <a:pt x="5003" y="425450"/>
                </a:lnTo>
                <a:lnTo>
                  <a:pt x="5003" y="426720"/>
                </a:lnTo>
                <a:lnTo>
                  <a:pt x="5854" y="435610"/>
                </a:lnTo>
                <a:lnTo>
                  <a:pt x="7543" y="444500"/>
                </a:lnTo>
                <a:lnTo>
                  <a:pt x="10096" y="452120"/>
                </a:lnTo>
                <a:lnTo>
                  <a:pt x="13677" y="463550"/>
                </a:lnTo>
                <a:lnTo>
                  <a:pt x="17195" y="474980"/>
                </a:lnTo>
                <a:lnTo>
                  <a:pt x="21183" y="485140"/>
                </a:lnTo>
                <a:lnTo>
                  <a:pt x="26212" y="496570"/>
                </a:lnTo>
                <a:lnTo>
                  <a:pt x="29603" y="501650"/>
                </a:lnTo>
                <a:lnTo>
                  <a:pt x="31305" y="508000"/>
                </a:lnTo>
                <a:lnTo>
                  <a:pt x="34696" y="514350"/>
                </a:lnTo>
                <a:lnTo>
                  <a:pt x="52514" y="544830"/>
                </a:lnTo>
                <a:lnTo>
                  <a:pt x="53352" y="546100"/>
                </a:lnTo>
                <a:lnTo>
                  <a:pt x="55905" y="548640"/>
                </a:lnTo>
                <a:lnTo>
                  <a:pt x="57594" y="551180"/>
                </a:lnTo>
                <a:lnTo>
                  <a:pt x="60998" y="557530"/>
                </a:lnTo>
                <a:lnTo>
                  <a:pt x="64389" y="562610"/>
                </a:lnTo>
                <a:lnTo>
                  <a:pt x="69481" y="567690"/>
                </a:lnTo>
                <a:lnTo>
                  <a:pt x="77114" y="577850"/>
                </a:lnTo>
                <a:lnTo>
                  <a:pt x="82346" y="582930"/>
                </a:lnTo>
                <a:lnTo>
                  <a:pt x="87820" y="589280"/>
                </a:lnTo>
                <a:lnTo>
                  <a:pt x="93459" y="595630"/>
                </a:lnTo>
                <a:lnTo>
                  <a:pt x="99174" y="600710"/>
                </a:lnTo>
                <a:lnTo>
                  <a:pt x="105956" y="608330"/>
                </a:lnTo>
                <a:lnTo>
                  <a:pt x="124625" y="622300"/>
                </a:lnTo>
                <a:lnTo>
                  <a:pt x="132549" y="628650"/>
                </a:lnTo>
                <a:lnTo>
                  <a:pt x="140944" y="636270"/>
                </a:lnTo>
                <a:lnTo>
                  <a:pt x="149669" y="641350"/>
                </a:lnTo>
                <a:lnTo>
                  <a:pt x="158559" y="647700"/>
                </a:lnTo>
                <a:lnTo>
                  <a:pt x="191008" y="666750"/>
                </a:lnTo>
                <a:lnTo>
                  <a:pt x="201815" y="671830"/>
                </a:lnTo>
                <a:lnTo>
                  <a:pt x="204368" y="673100"/>
                </a:lnTo>
                <a:lnTo>
                  <a:pt x="207759" y="674370"/>
                </a:lnTo>
                <a:lnTo>
                  <a:pt x="210299" y="674370"/>
                </a:lnTo>
                <a:lnTo>
                  <a:pt x="218782" y="679450"/>
                </a:lnTo>
                <a:lnTo>
                  <a:pt x="223024" y="680720"/>
                </a:lnTo>
                <a:lnTo>
                  <a:pt x="226428" y="683260"/>
                </a:lnTo>
                <a:lnTo>
                  <a:pt x="230670" y="684530"/>
                </a:lnTo>
                <a:lnTo>
                  <a:pt x="234061" y="685800"/>
                </a:lnTo>
                <a:lnTo>
                  <a:pt x="238302" y="685800"/>
                </a:lnTo>
                <a:lnTo>
                  <a:pt x="242544" y="688340"/>
                </a:lnTo>
                <a:lnTo>
                  <a:pt x="246786" y="688340"/>
                </a:lnTo>
                <a:lnTo>
                  <a:pt x="268630" y="695960"/>
                </a:lnTo>
                <a:lnTo>
                  <a:pt x="279946" y="699770"/>
                </a:lnTo>
                <a:lnTo>
                  <a:pt x="291744" y="701040"/>
                </a:lnTo>
                <a:lnTo>
                  <a:pt x="293446" y="701040"/>
                </a:lnTo>
                <a:lnTo>
                  <a:pt x="299377" y="701040"/>
                </a:lnTo>
                <a:lnTo>
                  <a:pt x="314655" y="706120"/>
                </a:lnTo>
                <a:lnTo>
                  <a:pt x="320586" y="707390"/>
                </a:lnTo>
                <a:lnTo>
                  <a:pt x="332460" y="708660"/>
                </a:lnTo>
                <a:lnTo>
                  <a:pt x="334162" y="708660"/>
                </a:lnTo>
                <a:lnTo>
                  <a:pt x="342646" y="708660"/>
                </a:lnTo>
                <a:lnTo>
                  <a:pt x="349427" y="708660"/>
                </a:lnTo>
                <a:lnTo>
                  <a:pt x="356298" y="709930"/>
                </a:lnTo>
                <a:lnTo>
                  <a:pt x="354609" y="709930"/>
                </a:lnTo>
                <a:lnTo>
                  <a:pt x="374878" y="713740"/>
                </a:lnTo>
                <a:lnTo>
                  <a:pt x="382524" y="713740"/>
                </a:lnTo>
                <a:lnTo>
                  <a:pt x="399491" y="713740"/>
                </a:lnTo>
                <a:lnTo>
                  <a:pt x="418998" y="713740"/>
                </a:lnTo>
                <a:lnTo>
                  <a:pt x="425704" y="715010"/>
                </a:lnTo>
                <a:lnTo>
                  <a:pt x="438505" y="715010"/>
                </a:lnTo>
                <a:lnTo>
                  <a:pt x="444449" y="713740"/>
                </a:lnTo>
                <a:lnTo>
                  <a:pt x="484327" y="713740"/>
                </a:lnTo>
                <a:lnTo>
                  <a:pt x="500443" y="713740"/>
                </a:lnTo>
                <a:lnTo>
                  <a:pt x="504685" y="711200"/>
                </a:lnTo>
                <a:lnTo>
                  <a:pt x="521652" y="711200"/>
                </a:lnTo>
                <a:lnTo>
                  <a:pt x="525894" y="711200"/>
                </a:lnTo>
                <a:lnTo>
                  <a:pt x="527583" y="712470"/>
                </a:lnTo>
                <a:lnTo>
                  <a:pt x="534377" y="712470"/>
                </a:lnTo>
                <a:lnTo>
                  <a:pt x="537768" y="711200"/>
                </a:lnTo>
                <a:lnTo>
                  <a:pt x="544550" y="711200"/>
                </a:lnTo>
                <a:lnTo>
                  <a:pt x="548792" y="709930"/>
                </a:lnTo>
                <a:lnTo>
                  <a:pt x="539470" y="709930"/>
                </a:lnTo>
                <a:lnTo>
                  <a:pt x="523773" y="709930"/>
                </a:lnTo>
                <a:lnTo>
                  <a:pt x="525894" y="708660"/>
                </a:lnTo>
                <a:lnTo>
                  <a:pt x="528434" y="708660"/>
                </a:lnTo>
                <a:lnTo>
                  <a:pt x="536067" y="708660"/>
                </a:lnTo>
                <a:lnTo>
                  <a:pt x="539470" y="709930"/>
                </a:lnTo>
                <a:lnTo>
                  <a:pt x="540740" y="708660"/>
                </a:lnTo>
                <a:lnTo>
                  <a:pt x="548792" y="708660"/>
                </a:lnTo>
                <a:lnTo>
                  <a:pt x="568312" y="708660"/>
                </a:lnTo>
                <a:lnTo>
                  <a:pt x="575094" y="707390"/>
                </a:lnTo>
                <a:lnTo>
                  <a:pt x="588670" y="706120"/>
                </a:lnTo>
                <a:lnTo>
                  <a:pt x="596303" y="703580"/>
                </a:lnTo>
                <a:lnTo>
                  <a:pt x="603097" y="703580"/>
                </a:lnTo>
                <a:lnTo>
                  <a:pt x="618363" y="701040"/>
                </a:lnTo>
                <a:lnTo>
                  <a:pt x="621753" y="699770"/>
                </a:lnTo>
                <a:lnTo>
                  <a:pt x="624306" y="698500"/>
                </a:lnTo>
                <a:lnTo>
                  <a:pt x="637032" y="698500"/>
                </a:lnTo>
                <a:lnTo>
                  <a:pt x="647204" y="694690"/>
                </a:lnTo>
                <a:lnTo>
                  <a:pt x="653148" y="693420"/>
                </a:lnTo>
                <a:lnTo>
                  <a:pt x="658241" y="692150"/>
                </a:lnTo>
                <a:lnTo>
                  <a:pt x="661631" y="692150"/>
                </a:lnTo>
                <a:lnTo>
                  <a:pt x="664171" y="690880"/>
                </a:lnTo>
                <a:lnTo>
                  <a:pt x="667562" y="690880"/>
                </a:lnTo>
                <a:lnTo>
                  <a:pt x="693013" y="685800"/>
                </a:lnTo>
                <a:lnTo>
                  <a:pt x="694715" y="685800"/>
                </a:lnTo>
                <a:lnTo>
                  <a:pt x="703199" y="680720"/>
                </a:lnTo>
                <a:lnTo>
                  <a:pt x="711682" y="680720"/>
                </a:lnTo>
                <a:lnTo>
                  <a:pt x="714222" y="679450"/>
                </a:lnTo>
                <a:lnTo>
                  <a:pt x="717626" y="678180"/>
                </a:lnTo>
                <a:lnTo>
                  <a:pt x="748157" y="668020"/>
                </a:lnTo>
                <a:lnTo>
                  <a:pt x="757428" y="665480"/>
                </a:lnTo>
                <a:lnTo>
                  <a:pt x="775004" y="657860"/>
                </a:lnTo>
                <a:lnTo>
                  <a:pt x="783793" y="655320"/>
                </a:lnTo>
                <a:lnTo>
                  <a:pt x="795667" y="651510"/>
                </a:lnTo>
                <a:lnTo>
                  <a:pt x="801611" y="648970"/>
                </a:lnTo>
                <a:lnTo>
                  <a:pt x="805002" y="647700"/>
                </a:lnTo>
                <a:lnTo>
                  <a:pt x="846569" y="628650"/>
                </a:lnTo>
                <a:lnTo>
                  <a:pt x="851662" y="626110"/>
                </a:lnTo>
                <a:lnTo>
                  <a:pt x="855903" y="623570"/>
                </a:lnTo>
                <a:lnTo>
                  <a:pt x="868476" y="617220"/>
                </a:lnTo>
                <a:lnTo>
                  <a:pt x="875728" y="613410"/>
                </a:lnTo>
                <a:lnTo>
                  <a:pt x="882827" y="610870"/>
                </a:lnTo>
                <a:lnTo>
                  <a:pt x="889838" y="607060"/>
                </a:lnTo>
                <a:lnTo>
                  <a:pt x="894930" y="604520"/>
                </a:lnTo>
                <a:lnTo>
                  <a:pt x="899172" y="603250"/>
                </a:lnTo>
                <a:lnTo>
                  <a:pt x="924623" y="590550"/>
                </a:lnTo>
                <a:lnTo>
                  <a:pt x="930554" y="586740"/>
                </a:lnTo>
                <a:lnTo>
                  <a:pt x="935647" y="582930"/>
                </a:lnTo>
                <a:lnTo>
                  <a:pt x="942428" y="580390"/>
                </a:lnTo>
                <a:lnTo>
                  <a:pt x="944130" y="579120"/>
                </a:lnTo>
                <a:lnTo>
                  <a:pt x="946670" y="577850"/>
                </a:lnTo>
                <a:lnTo>
                  <a:pt x="947940" y="575945"/>
                </a:lnTo>
                <a:lnTo>
                  <a:pt x="949223" y="575310"/>
                </a:lnTo>
                <a:lnTo>
                  <a:pt x="950912" y="574040"/>
                </a:lnTo>
                <a:lnTo>
                  <a:pt x="952614" y="572770"/>
                </a:lnTo>
                <a:lnTo>
                  <a:pt x="954316" y="571500"/>
                </a:lnTo>
                <a:lnTo>
                  <a:pt x="972121" y="560070"/>
                </a:lnTo>
                <a:lnTo>
                  <a:pt x="977201" y="555726"/>
                </a:lnTo>
                <a:lnTo>
                  <a:pt x="982306" y="552450"/>
                </a:lnTo>
                <a:lnTo>
                  <a:pt x="987399" y="547370"/>
                </a:lnTo>
                <a:lnTo>
                  <a:pt x="988263" y="546633"/>
                </a:lnTo>
                <a:lnTo>
                  <a:pt x="989088" y="546100"/>
                </a:lnTo>
                <a:lnTo>
                  <a:pt x="993508" y="542175"/>
                </a:lnTo>
                <a:lnTo>
                  <a:pt x="999045" y="538480"/>
                </a:lnTo>
                <a:lnTo>
                  <a:pt x="1004684" y="533400"/>
                </a:lnTo>
                <a:lnTo>
                  <a:pt x="1010158" y="528320"/>
                </a:lnTo>
                <a:lnTo>
                  <a:pt x="1015390" y="524510"/>
                </a:lnTo>
                <a:lnTo>
                  <a:pt x="1021486" y="516890"/>
                </a:lnTo>
                <a:lnTo>
                  <a:pt x="1033043" y="504190"/>
                </a:lnTo>
                <a:lnTo>
                  <a:pt x="1034097" y="503148"/>
                </a:lnTo>
                <a:lnTo>
                  <a:pt x="1035748" y="501650"/>
                </a:lnTo>
                <a:lnTo>
                  <a:pt x="1035799" y="501497"/>
                </a:lnTo>
                <a:lnTo>
                  <a:pt x="1040841" y="496570"/>
                </a:lnTo>
                <a:lnTo>
                  <a:pt x="1043393" y="492760"/>
                </a:lnTo>
                <a:lnTo>
                  <a:pt x="1045083" y="488950"/>
                </a:lnTo>
                <a:lnTo>
                  <a:pt x="1047635" y="486410"/>
                </a:lnTo>
                <a:lnTo>
                  <a:pt x="1052423" y="481330"/>
                </a:lnTo>
                <a:lnTo>
                  <a:pt x="1056754" y="474980"/>
                </a:lnTo>
                <a:lnTo>
                  <a:pt x="1060754" y="469900"/>
                </a:lnTo>
                <a:lnTo>
                  <a:pt x="1064602" y="463550"/>
                </a:lnTo>
                <a:lnTo>
                  <a:pt x="1068844" y="457200"/>
                </a:lnTo>
                <a:lnTo>
                  <a:pt x="1071384" y="449580"/>
                </a:lnTo>
                <a:lnTo>
                  <a:pt x="1073924" y="443230"/>
                </a:lnTo>
                <a:lnTo>
                  <a:pt x="1077328" y="435610"/>
                </a:lnTo>
                <a:lnTo>
                  <a:pt x="1078166" y="427990"/>
                </a:lnTo>
                <a:lnTo>
                  <a:pt x="1083259" y="420370"/>
                </a:lnTo>
                <a:lnTo>
                  <a:pt x="1083259" y="419100"/>
                </a:lnTo>
                <a:lnTo>
                  <a:pt x="1084402" y="410210"/>
                </a:lnTo>
                <a:lnTo>
                  <a:pt x="1086358" y="393700"/>
                </a:lnTo>
                <a:lnTo>
                  <a:pt x="1087501" y="384810"/>
                </a:lnTo>
                <a:lnTo>
                  <a:pt x="1088224" y="377190"/>
                </a:lnTo>
                <a:close/>
              </a:path>
            </a:pathLst>
          </a:custGeom>
          <a:solidFill>
            <a:srgbClr val="E7181F"/>
          </a:solidFill>
        </p:spPr>
        <p:txBody>
          <a:bodyPr wrap="square" lIns="0" tIns="0" rIns="0" bIns="0" rtlCol="0"/>
          <a:lstStyle/>
          <a:p>
            <a:endParaRPr/>
          </a:p>
        </p:txBody>
      </p:sp>
      <p:sp>
        <p:nvSpPr>
          <p:cNvPr id="26" name="object 26"/>
          <p:cNvSpPr txBox="1"/>
          <p:nvPr/>
        </p:nvSpPr>
        <p:spPr>
          <a:xfrm>
            <a:off x="15282921" y="7119740"/>
            <a:ext cx="234315" cy="482600"/>
          </a:xfrm>
          <a:prstGeom prst="rect">
            <a:avLst/>
          </a:prstGeom>
        </p:spPr>
        <p:txBody>
          <a:bodyPr vert="horz" wrap="square" lIns="0" tIns="12700" rIns="0" bIns="0" rtlCol="0">
            <a:spAutoFit/>
          </a:bodyPr>
          <a:lstStyle/>
          <a:p>
            <a:pPr marL="12700">
              <a:lnSpc>
                <a:spcPct val="100000"/>
              </a:lnSpc>
              <a:spcBef>
                <a:spcPts val="100"/>
              </a:spcBef>
            </a:pPr>
            <a:r>
              <a:rPr sz="3000" b="1" spc="85" dirty="0">
                <a:solidFill>
                  <a:srgbClr val="FF3131"/>
                </a:solidFill>
                <a:latin typeface="Times New Roman"/>
                <a:cs typeface="Times New Roman"/>
              </a:rPr>
              <a:t>3</a:t>
            </a:r>
            <a:endParaRPr sz="30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4825" y="1242359"/>
            <a:ext cx="2059109" cy="5149133"/>
          </a:xfrm>
          <a:prstGeom prst="rect">
            <a:avLst/>
          </a:prstGeom>
        </p:spPr>
      </p:pic>
      <p:pic>
        <p:nvPicPr>
          <p:cNvPr id="3" name="object 3"/>
          <p:cNvPicPr/>
          <p:nvPr/>
        </p:nvPicPr>
        <p:blipFill>
          <a:blip r:embed="rId3" cstate="print"/>
          <a:stretch>
            <a:fillRect/>
          </a:stretch>
        </p:blipFill>
        <p:spPr>
          <a:xfrm>
            <a:off x="5069983" y="1787947"/>
            <a:ext cx="4052121" cy="1411666"/>
          </a:xfrm>
          <a:prstGeom prst="rect">
            <a:avLst/>
          </a:prstGeom>
        </p:spPr>
      </p:pic>
      <p:sp>
        <p:nvSpPr>
          <p:cNvPr id="4" name="object 4"/>
          <p:cNvSpPr txBox="1"/>
          <p:nvPr/>
        </p:nvSpPr>
        <p:spPr>
          <a:xfrm>
            <a:off x="5575207" y="2259666"/>
            <a:ext cx="1811020" cy="389890"/>
          </a:xfrm>
          <a:prstGeom prst="rect">
            <a:avLst/>
          </a:prstGeom>
        </p:spPr>
        <p:txBody>
          <a:bodyPr vert="horz" wrap="square" lIns="0" tIns="11430" rIns="0" bIns="0" rtlCol="0">
            <a:spAutoFit/>
          </a:bodyPr>
          <a:lstStyle/>
          <a:p>
            <a:pPr marL="12700">
              <a:lnSpc>
                <a:spcPct val="100000"/>
              </a:lnSpc>
              <a:spcBef>
                <a:spcPts val="90"/>
              </a:spcBef>
            </a:pPr>
            <a:r>
              <a:rPr sz="2400" b="1" dirty="0">
                <a:solidFill>
                  <a:srgbClr val="E7181F"/>
                </a:solidFill>
                <a:latin typeface="Times New Roman"/>
                <a:cs typeface="Times New Roman"/>
              </a:rPr>
              <a:t>API-</a:t>
            </a:r>
            <a:r>
              <a:rPr sz="2400" b="1" spc="-120" dirty="0">
                <a:solidFill>
                  <a:srgbClr val="E7181F"/>
                </a:solidFill>
                <a:latin typeface="Times New Roman"/>
                <a:cs typeface="Times New Roman"/>
              </a:rPr>
              <a:t>SERVER</a:t>
            </a:r>
            <a:endParaRPr sz="2400">
              <a:latin typeface="Times New Roman"/>
              <a:cs typeface="Times New Roman"/>
            </a:endParaRPr>
          </a:p>
        </p:txBody>
      </p:sp>
      <p:grpSp>
        <p:nvGrpSpPr>
          <p:cNvPr id="5" name="object 5"/>
          <p:cNvGrpSpPr/>
          <p:nvPr/>
        </p:nvGrpSpPr>
        <p:grpSpPr>
          <a:xfrm>
            <a:off x="2741856" y="1973436"/>
            <a:ext cx="5832475" cy="4623435"/>
            <a:chOff x="2741856" y="1973436"/>
            <a:chExt cx="5832475" cy="4623435"/>
          </a:xfrm>
        </p:grpSpPr>
        <p:sp>
          <p:nvSpPr>
            <p:cNvPr id="6" name="object 6"/>
            <p:cNvSpPr/>
            <p:nvPr/>
          </p:nvSpPr>
          <p:spPr>
            <a:xfrm>
              <a:off x="2741853" y="1973439"/>
              <a:ext cx="2315210" cy="699135"/>
            </a:xfrm>
            <a:custGeom>
              <a:avLst/>
              <a:gdLst/>
              <a:ahLst/>
              <a:cxnLst/>
              <a:rect l="l" t="t" r="r" b="b"/>
              <a:pathLst>
                <a:path w="2315210" h="699135">
                  <a:moveTo>
                    <a:pt x="43434" y="299720"/>
                  </a:moveTo>
                  <a:lnTo>
                    <a:pt x="42964" y="299720"/>
                  </a:lnTo>
                  <a:lnTo>
                    <a:pt x="42875" y="299974"/>
                  </a:lnTo>
                  <a:lnTo>
                    <a:pt x="43434" y="299720"/>
                  </a:lnTo>
                  <a:close/>
                </a:path>
                <a:path w="2315210" h="699135">
                  <a:moveTo>
                    <a:pt x="513740" y="275297"/>
                  </a:moveTo>
                  <a:lnTo>
                    <a:pt x="510908" y="274345"/>
                  </a:lnTo>
                  <a:lnTo>
                    <a:pt x="512330" y="275297"/>
                  </a:lnTo>
                  <a:lnTo>
                    <a:pt x="513740" y="275297"/>
                  </a:lnTo>
                  <a:close/>
                </a:path>
                <a:path w="2315210" h="699135">
                  <a:moveTo>
                    <a:pt x="1301369" y="290880"/>
                  </a:moveTo>
                  <a:lnTo>
                    <a:pt x="1299476" y="290880"/>
                  </a:lnTo>
                  <a:lnTo>
                    <a:pt x="1299006" y="291350"/>
                  </a:lnTo>
                  <a:lnTo>
                    <a:pt x="1300416" y="291350"/>
                  </a:lnTo>
                  <a:lnTo>
                    <a:pt x="1301369" y="290880"/>
                  </a:lnTo>
                  <a:close/>
                </a:path>
                <a:path w="2315210" h="699135">
                  <a:moveTo>
                    <a:pt x="1951278" y="660425"/>
                  </a:moveTo>
                  <a:lnTo>
                    <a:pt x="1950631" y="659193"/>
                  </a:lnTo>
                  <a:lnTo>
                    <a:pt x="1950631" y="660425"/>
                  </a:lnTo>
                  <a:lnTo>
                    <a:pt x="1951278" y="660425"/>
                  </a:lnTo>
                  <a:close/>
                </a:path>
                <a:path w="2315210" h="699135">
                  <a:moveTo>
                    <a:pt x="1956765" y="646912"/>
                  </a:moveTo>
                  <a:lnTo>
                    <a:pt x="1954885" y="645490"/>
                  </a:lnTo>
                  <a:lnTo>
                    <a:pt x="1955355" y="646442"/>
                  </a:lnTo>
                  <a:lnTo>
                    <a:pt x="1956295" y="646912"/>
                  </a:lnTo>
                  <a:lnTo>
                    <a:pt x="1956765" y="646912"/>
                  </a:lnTo>
                  <a:close/>
                </a:path>
                <a:path w="2315210" h="699135">
                  <a:moveTo>
                    <a:pt x="1962912" y="83820"/>
                  </a:moveTo>
                  <a:lnTo>
                    <a:pt x="1962150" y="83820"/>
                  </a:lnTo>
                  <a:lnTo>
                    <a:pt x="1962442" y="85090"/>
                  </a:lnTo>
                  <a:lnTo>
                    <a:pt x="1962912" y="85090"/>
                  </a:lnTo>
                  <a:lnTo>
                    <a:pt x="1962912" y="83820"/>
                  </a:lnTo>
                  <a:close/>
                </a:path>
                <a:path w="2315210" h="699135">
                  <a:moveTo>
                    <a:pt x="1967636" y="633793"/>
                  </a:moveTo>
                  <a:lnTo>
                    <a:pt x="1966683" y="635063"/>
                  </a:lnTo>
                  <a:lnTo>
                    <a:pt x="1967153" y="635063"/>
                  </a:lnTo>
                  <a:lnTo>
                    <a:pt x="1967636" y="633793"/>
                  </a:lnTo>
                  <a:close/>
                </a:path>
                <a:path w="2315210" h="699135">
                  <a:moveTo>
                    <a:pt x="1975192" y="44856"/>
                  </a:moveTo>
                  <a:lnTo>
                    <a:pt x="1974240" y="39192"/>
                  </a:lnTo>
                  <a:lnTo>
                    <a:pt x="1973300" y="36360"/>
                  </a:lnTo>
                  <a:lnTo>
                    <a:pt x="1971408" y="32118"/>
                  </a:lnTo>
                  <a:lnTo>
                    <a:pt x="1970938" y="33997"/>
                  </a:lnTo>
                  <a:lnTo>
                    <a:pt x="1970938" y="37312"/>
                  </a:lnTo>
                  <a:lnTo>
                    <a:pt x="1973300" y="41554"/>
                  </a:lnTo>
                  <a:lnTo>
                    <a:pt x="1975192" y="44856"/>
                  </a:lnTo>
                  <a:close/>
                </a:path>
                <a:path w="2315210" h="699135">
                  <a:moveTo>
                    <a:pt x="1995017" y="320040"/>
                  </a:moveTo>
                  <a:lnTo>
                    <a:pt x="1987461" y="322580"/>
                  </a:lnTo>
                  <a:lnTo>
                    <a:pt x="1988527" y="323126"/>
                  </a:lnTo>
                  <a:lnTo>
                    <a:pt x="1995017" y="320040"/>
                  </a:lnTo>
                  <a:close/>
                </a:path>
                <a:path w="2315210" h="699135">
                  <a:moveTo>
                    <a:pt x="1998802" y="589775"/>
                  </a:moveTo>
                  <a:lnTo>
                    <a:pt x="1997849" y="588835"/>
                  </a:lnTo>
                  <a:lnTo>
                    <a:pt x="1997379" y="589305"/>
                  </a:lnTo>
                  <a:lnTo>
                    <a:pt x="1996909" y="589305"/>
                  </a:lnTo>
                  <a:lnTo>
                    <a:pt x="1996909" y="589775"/>
                  </a:lnTo>
                  <a:lnTo>
                    <a:pt x="1996909" y="590715"/>
                  </a:lnTo>
                  <a:lnTo>
                    <a:pt x="1998802" y="590715"/>
                  </a:lnTo>
                  <a:lnTo>
                    <a:pt x="1998802" y="589775"/>
                  </a:lnTo>
                  <a:close/>
                </a:path>
                <a:path w="2315210" h="699135">
                  <a:moveTo>
                    <a:pt x="2014855" y="101053"/>
                  </a:moveTo>
                  <a:lnTo>
                    <a:pt x="2013902" y="100584"/>
                  </a:lnTo>
                  <a:lnTo>
                    <a:pt x="2012962" y="101523"/>
                  </a:lnTo>
                  <a:lnTo>
                    <a:pt x="2013432" y="101993"/>
                  </a:lnTo>
                  <a:lnTo>
                    <a:pt x="2014855" y="101053"/>
                  </a:lnTo>
                  <a:close/>
                </a:path>
                <a:path w="2315210" h="699135">
                  <a:moveTo>
                    <a:pt x="2024291" y="553415"/>
                  </a:moveTo>
                  <a:lnTo>
                    <a:pt x="2023821" y="553415"/>
                  </a:lnTo>
                  <a:lnTo>
                    <a:pt x="2024291" y="553885"/>
                  </a:lnTo>
                  <a:lnTo>
                    <a:pt x="2024291" y="553415"/>
                  </a:lnTo>
                  <a:close/>
                </a:path>
                <a:path w="2315210" h="699135">
                  <a:moveTo>
                    <a:pt x="2055456" y="332740"/>
                  </a:moveTo>
                  <a:lnTo>
                    <a:pt x="2054987" y="332740"/>
                  </a:lnTo>
                  <a:lnTo>
                    <a:pt x="2055456" y="333171"/>
                  </a:lnTo>
                  <a:lnTo>
                    <a:pt x="2055456" y="332740"/>
                  </a:lnTo>
                  <a:close/>
                </a:path>
                <a:path w="2315210" h="699135">
                  <a:moveTo>
                    <a:pt x="2117318" y="345643"/>
                  </a:moveTo>
                  <a:lnTo>
                    <a:pt x="2109292" y="342341"/>
                  </a:lnTo>
                  <a:lnTo>
                    <a:pt x="2116378" y="345643"/>
                  </a:lnTo>
                  <a:lnTo>
                    <a:pt x="2117318" y="345643"/>
                  </a:lnTo>
                  <a:close/>
                </a:path>
                <a:path w="2315210" h="699135">
                  <a:moveTo>
                    <a:pt x="2131961" y="440563"/>
                  </a:moveTo>
                  <a:lnTo>
                    <a:pt x="2131479" y="439610"/>
                  </a:lnTo>
                  <a:lnTo>
                    <a:pt x="2131479" y="440093"/>
                  </a:lnTo>
                  <a:lnTo>
                    <a:pt x="2131961" y="440563"/>
                  </a:lnTo>
                  <a:close/>
                </a:path>
                <a:path w="2315210" h="699135">
                  <a:moveTo>
                    <a:pt x="2139391" y="441706"/>
                  </a:moveTo>
                  <a:lnTo>
                    <a:pt x="2139035" y="440753"/>
                  </a:lnTo>
                  <a:lnTo>
                    <a:pt x="2137994" y="438213"/>
                  </a:lnTo>
                  <a:lnTo>
                    <a:pt x="2139289" y="442544"/>
                  </a:lnTo>
                  <a:lnTo>
                    <a:pt x="2139391" y="441706"/>
                  </a:lnTo>
                  <a:close/>
                </a:path>
                <a:path w="2315210" h="699135">
                  <a:moveTo>
                    <a:pt x="2156041" y="431114"/>
                  </a:moveTo>
                  <a:lnTo>
                    <a:pt x="2155571" y="430644"/>
                  </a:lnTo>
                  <a:lnTo>
                    <a:pt x="2156041" y="431584"/>
                  </a:lnTo>
                  <a:lnTo>
                    <a:pt x="2156041" y="431114"/>
                  </a:lnTo>
                  <a:close/>
                </a:path>
                <a:path w="2315210" h="699135">
                  <a:moveTo>
                    <a:pt x="2175865" y="419315"/>
                  </a:moveTo>
                  <a:lnTo>
                    <a:pt x="2174925" y="418363"/>
                  </a:lnTo>
                  <a:lnTo>
                    <a:pt x="2175865" y="419785"/>
                  </a:lnTo>
                  <a:lnTo>
                    <a:pt x="2175865" y="419315"/>
                  </a:lnTo>
                  <a:close/>
                </a:path>
                <a:path w="2315210" h="699135">
                  <a:moveTo>
                    <a:pt x="2253780" y="379653"/>
                  </a:moveTo>
                  <a:lnTo>
                    <a:pt x="2251887" y="380123"/>
                  </a:lnTo>
                  <a:lnTo>
                    <a:pt x="2252840" y="381063"/>
                  </a:lnTo>
                  <a:lnTo>
                    <a:pt x="2253780" y="380123"/>
                  </a:lnTo>
                  <a:lnTo>
                    <a:pt x="2253780" y="379653"/>
                  </a:lnTo>
                  <a:close/>
                </a:path>
                <a:path w="2315210" h="699135">
                  <a:moveTo>
                    <a:pt x="2289429" y="382727"/>
                  </a:moveTo>
                  <a:lnTo>
                    <a:pt x="2289200" y="382003"/>
                  </a:lnTo>
                  <a:lnTo>
                    <a:pt x="2289200" y="382485"/>
                  </a:lnTo>
                  <a:lnTo>
                    <a:pt x="2289429" y="382727"/>
                  </a:lnTo>
                  <a:close/>
                </a:path>
                <a:path w="2315210" h="699135">
                  <a:moveTo>
                    <a:pt x="2293442" y="383425"/>
                  </a:moveTo>
                  <a:lnTo>
                    <a:pt x="2292972" y="382003"/>
                  </a:lnTo>
                  <a:lnTo>
                    <a:pt x="2292972" y="382955"/>
                  </a:lnTo>
                  <a:lnTo>
                    <a:pt x="2293442" y="383425"/>
                  </a:lnTo>
                  <a:close/>
                </a:path>
                <a:path w="2315210" h="699135">
                  <a:moveTo>
                    <a:pt x="2302421" y="415531"/>
                  </a:moveTo>
                  <a:lnTo>
                    <a:pt x="2301468" y="414591"/>
                  </a:lnTo>
                  <a:lnTo>
                    <a:pt x="2302421" y="416001"/>
                  </a:lnTo>
                  <a:lnTo>
                    <a:pt x="2302421" y="415531"/>
                  </a:lnTo>
                  <a:close/>
                </a:path>
                <a:path w="2315210" h="699135">
                  <a:moveTo>
                    <a:pt x="2302891" y="420433"/>
                  </a:moveTo>
                  <a:lnTo>
                    <a:pt x="2300998" y="419163"/>
                  </a:lnTo>
                  <a:lnTo>
                    <a:pt x="2301633" y="420014"/>
                  </a:lnTo>
                  <a:lnTo>
                    <a:pt x="2302891" y="420433"/>
                  </a:lnTo>
                  <a:close/>
                </a:path>
                <a:path w="2315210" h="699135">
                  <a:moveTo>
                    <a:pt x="2315172" y="397573"/>
                  </a:moveTo>
                  <a:lnTo>
                    <a:pt x="2314219" y="393763"/>
                  </a:lnTo>
                  <a:lnTo>
                    <a:pt x="2300528" y="388683"/>
                  </a:lnTo>
                  <a:lnTo>
                    <a:pt x="2295334" y="386143"/>
                  </a:lnTo>
                  <a:lnTo>
                    <a:pt x="2299106" y="384873"/>
                  </a:lnTo>
                  <a:lnTo>
                    <a:pt x="2295804" y="384873"/>
                  </a:lnTo>
                  <a:lnTo>
                    <a:pt x="2294394" y="383603"/>
                  </a:lnTo>
                  <a:lnTo>
                    <a:pt x="2294864" y="384873"/>
                  </a:lnTo>
                  <a:lnTo>
                    <a:pt x="2292502" y="384873"/>
                  </a:lnTo>
                  <a:lnTo>
                    <a:pt x="2290610" y="382333"/>
                  </a:lnTo>
                  <a:lnTo>
                    <a:pt x="2289200" y="381063"/>
                  </a:lnTo>
                  <a:lnTo>
                    <a:pt x="2289670" y="382333"/>
                  </a:lnTo>
                  <a:lnTo>
                    <a:pt x="2290140" y="382333"/>
                  </a:lnTo>
                  <a:lnTo>
                    <a:pt x="2290610" y="383603"/>
                  </a:lnTo>
                  <a:lnTo>
                    <a:pt x="2290140" y="383603"/>
                  </a:lnTo>
                  <a:lnTo>
                    <a:pt x="2289670" y="384873"/>
                  </a:lnTo>
                  <a:lnTo>
                    <a:pt x="2287308" y="384873"/>
                  </a:lnTo>
                  <a:lnTo>
                    <a:pt x="2286597" y="383603"/>
                  </a:lnTo>
                  <a:lnTo>
                    <a:pt x="2286050" y="382752"/>
                  </a:lnTo>
                  <a:lnTo>
                    <a:pt x="2287778" y="387413"/>
                  </a:lnTo>
                  <a:lnTo>
                    <a:pt x="2276068" y="382333"/>
                  </a:lnTo>
                  <a:lnTo>
                    <a:pt x="2273147" y="381063"/>
                  </a:lnTo>
                  <a:lnTo>
                    <a:pt x="2271255" y="382333"/>
                  </a:lnTo>
                  <a:lnTo>
                    <a:pt x="2267470" y="381063"/>
                  </a:lnTo>
                  <a:lnTo>
                    <a:pt x="2267597" y="382333"/>
                  </a:lnTo>
                  <a:lnTo>
                    <a:pt x="2267712" y="383603"/>
                  </a:lnTo>
                  <a:lnTo>
                    <a:pt x="2267826" y="384873"/>
                  </a:lnTo>
                  <a:lnTo>
                    <a:pt x="2267953" y="386143"/>
                  </a:lnTo>
                  <a:lnTo>
                    <a:pt x="2265108" y="386143"/>
                  </a:lnTo>
                  <a:lnTo>
                    <a:pt x="2261336" y="387413"/>
                  </a:lnTo>
                  <a:lnTo>
                    <a:pt x="2261336" y="386143"/>
                  </a:lnTo>
                  <a:lnTo>
                    <a:pt x="2261336" y="383603"/>
                  </a:lnTo>
                  <a:lnTo>
                    <a:pt x="2260396" y="383247"/>
                  </a:lnTo>
                  <a:lnTo>
                    <a:pt x="2260396" y="384873"/>
                  </a:lnTo>
                  <a:lnTo>
                    <a:pt x="2259444" y="386143"/>
                  </a:lnTo>
                  <a:lnTo>
                    <a:pt x="2254720" y="383603"/>
                  </a:lnTo>
                  <a:lnTo>
                    <a:pt x="2255672" y="382752"/>
                  </a:lnTo>
                  <a:lnTo>
                    <a:pt x="2260396" y="384873"/>
                  </a:lnTo>
                  <a:lnTo>
                    <a:pt x="2260396" y="383247"/>
                  </a:lnTo>
                  <a:lnTo>
                    <a:pt x="2258034" y="382333"/>
                  </a:lnTo>
                  <a:lnTo>
                    <a:pt x="2256142" y="382333"/>
                  </a:lnTo>
                  <a:lnTo>
                    <a:pt x="2253310" y="381063"/>
                  </a:lnTo>
                  <a:lnTo>
                    <a:pt x="2250948" y="382333"/>
                  </a:lnTo>
                  <a:lnTo>
                    <a:pt x="2248077" y="381787"/>
                  </a:lnTo>
                  <a:lnTo>
                    <a:pt x="2227986" y="361950"/>
                  </a:lnTo>
                  <a:lnTo>
                    <a:pt x="2225484" y="359410"/>
                  </a:lnTo>
                  <a:lnTo>
                    <a:pt x="2213000" y="346710"/>
                  </a:lnTo>
                  <a:lnTo>
                    <a:pt x="2206904" y="340525"/>
                  </a:lnTo>
                  <a:lnTo>
                    <a:pt x="2206904" y="413778"/>
                  </a:lnTo>
                  <a:lnTo>
                    <a:pt x="2206561" y="414083"/>
                  </a:lnTo>
                  <a:lnTo>
                    <a:pt x="2204199" y="415353"/>
                  </a:lnTo>
                  <a:lnTo>
                    <a:pt x="2204669" y="419163"/>
                  </a:lnTo>
                  <a:lnTo>
                    <a:pt x="2198535" y="417893"/>
                  </a:lnTo>
                  <a:lnTo>
                    <a:pt x="2200427" y="421703"/>
                  </a:lnTo>
                  <a:lnTo>
                    <a:pt x="2196173" y="420433"/>
                  </a:lnTo>
                  <a:lnTo>
                    <a:pt x="2193810" y="417893"/>
                  </a:lnTo>
                  <a:lnTo>
                    <a:pt x="2196173" y="416623"/>
                  </a:lnTo>
                  <a:lnTo>
                    <a:pt x="2198509" y="413473"/>
                  </a:lnTo>
                  <a:lnTo>
                    <a:pt x="2206904" y="413778"/>
                  </a:lnTo>
                  <a:lnTo>
                    <a:pt x="2206904" y="340525"/>
                  </a:lnTo>
                  <a:lnTo>
                    <a:pt x="2200503" y="334010"/>
                  </a:lnTo>
                  <a:lnTo>
                    <a:pt x="2198001" y="331470"/>
                  </a:lnTo>
                  <a:lnTo>
                    <a:pt x="2186724" y="321310"/>
                  </a:lnTo>
                  <a:lnTo>
                    <a:pt x="2178291" y="312420"/>
                  </a:lnTo>
                  <a:lnTo>
                    <a:pt x="2173033" y="307340"/>
                  </a:lnTo>
                  <a:lnTo>
                    <a:pt x="2177758" y="313690"/>
                  </a:lnTo>
                  <a:lnTo>
                    <a:pt x="2182482" y="321310"/>
                  </a:lnTo>
                  <a:lnTo>
                    <a:pt x="2190978" y="334010"/>
                  </a:lnTo>
                  <a:lnTo>
                    <a:pt x="2183295" y="326390"/>
                  </a:lnTo>
                  <a:lnTo>
                    <a:pt x="2175865" y="318770"/>
                  </a:lnTo>
                  <a:lnTo>
                    <a:pt x="2168804" y="312420"/>
                  </a:lnTo>
                  <a:lnTo>
                    <a:pt x="2162175" y="304800"/>
                  </a:lnTo>
                  <a:lnTo>
                    <a:pt x="2150491" y="292100"/>
                  </a:lnTo>
                  <a:lnTo>
                    <a:pt x="2147189" y="288290"/>
                  </a:lnTo>
                  <a:lnTo>
                    <a:pt x="2136190" y="275577"/>
                  </a:lnTo>
                  <a:lnTo>
                    <a:pt x="2132431" y="271780"/>
                  </a:lnTo>
                  <a:lnTo>
                    <a:pt x="2129117" y="267970"/>
                  </a:lnTo>
                  <a:lnTo>
                    <a:pt x="2126767" y="265430"/>
                  </a:lnTo>
                  <a:lnTo>
                    <a:pt x="2124875" y="262890"/>
                  </a:lnTo>
                  <a:lnTo>
                    <a:pt x="2122513" y="260350"/>
                  </a:lnTo>
                  <a:lnTo>
                    <a:pt x="2119211" y="255270"/>
                  </a:lnTo>
                  <a:lnTo>
                    <a:pt x="2116378" y="251460"/>
                  </a:lnTo>
                  <a:lnTo>
                    <a:pt x="2113064" y="247650"/>
                  </a:lnTo>
                  <a:lnTo>
                    <a:pt x="2104961" y="237490"/>
                  </a:lnTo>
                  <a:lnTo>
                    <a:pt x="2103945" y="236220"/>
                  </a:lnTo>
                  <a:lnTo>
                    <a:pt x="2094649" y="223520"/>
                  </a:lnTo>
                  <a:lnTo>
                    <a:pt x="2092655" y="220980"/>
                  </a:lnTo>
                  <a:lnTo>
                    <a:pt x="2084641" y="210820"/>
                  </a:lnTo>
                  <a:lnTo>
                    <a:pt x="2073402" y="196850"/>
                  </a:lnTo>
                  <a:lnTo>
                    <a:pt x="2075764" y="198120"/>
                  </a:lnTo>
                  <a:lnTo>
                    <a:pt x="2075053" y="196850"/>
                  </a:lnTo>
                  <a:lnTo>
                    <a:pt x="2074341" y="195580"/>
                  </a:lnTo>
                  <a:lnTo>
                    <a:pt x="2070100" y="194310"/>
                  </a:lnTo>
                  <a:lnTo>
                    <a:pt x="2062543" y="185420"/>
                  </a:lnTo>
                  <a:lnTo>
                    <a:pt x="2059533" y="181610"/>
                  </a:lnTo>
                  <a:lnTo>
                    <a:pt x="2056168" y="176530"/>
                  </a:lnTo>
                  <a:lnTo>
                    <a:pt x="2052447" y="170180"/>
                  </a:lnTo>
                  <a:lnTo>
                    <a:pt x="2048383" y="163830"/>
                  </a:lnTo>
                  <a:lnTo>
                    <a:pt x="2031098" y="125730"/>
                  </a:lnTo>
                  <a:lnTo>
                    <a:pt x="2029015" y="120650"/>
                  </a:lnTo>
                  <a:lnTo>
                    <a:pt x="2029485" y="119380"/>
                  </a:lnTo>
                  <a:lnTo>
                    <a:pt x="2028786" y="118110"/>
                  </a:lnTo>
                  <a:lnTo>
                    <a:pt x="2028075" y="116840"/>
                  </a:lnTo>
                  <a:lnTo>
                    <a:pt x="2027123" y="118110"/>
                  </a:lnTo>
                  <a:lnTo>
                    <a:pt x="2025243" y="113030"/>
                  </a:lnTo>
                  <a:lnTo>
                    <a:pt x="2028075" y="123190"/>
                  </a:lnTo>
                  <a:lnTo>
                    <a:pt x="2029485" y="125730"/>
                  </a:lnTo>
                  <a:lnTo>
                    <a:pt x="2020747" y="116840"/>
                  </a:lnTo>
                  <a:lnTo>
                    <a:pt x="2016340" y="111760"/>
                  </a:lnTo>
                  <a:lnTo>
                    <a:pt x="2012022" y="105410"/>
                  </a:lnTo>
                  <a:lnTo>
                    <a:pt x="2011540" y="102870"/>
                  </a:lnTo>
                  <a:lnTo>
                    <a:pt x="2012022" y="101600"/>
                  </a:lnTo>
                  <a:lnTo>
                    <a:pt x="2012492" y="101600"/>
                  </a:lnTo>
                  <a:lnTo>
                    <a:pt x="2008708" y="95250"/>
                  </a:lnTo>
                  <a:lnTo>
                    <a:pt x="2002104" y="83820"/>
                  </a:lnTo>
                  <a:lnTo>
                    <a:pt x="2001151" y="82550"/>
                  </a:lnTo>
                  <a:lnTo>
                    <a:pt x="1998319" y="78740"/>
                  </a:lnTo>
                  <a:lnTo>
                    <a:pt x="1997379" y="69850"/>
                  </a:lnTo>
                  <a:lnTo>
                    <a:pt x="1993188" y="66040"/>
                  </a:lnTo>
                  <a:lnTo>
                    <a:pt x="1988997" y="64770"/>
                  </a:lnTo>
                  <a:lnTo>
                    <a:pt x="1984629" y="59690"/>
                  </a:lnTo>
                  <a:lnTo>
                    <a:pt x="1980958" y="50800"/>
                  </a:lnTo>
                  <a:lnTo>
                    <a:pt x="1979904" y="48260"/>
                  </a:lnTo>
                  <a:lnTo>
                    <a:pt x="1978240" y="50800"/>
                  </a:lnTo>
                  <a:lnTo>
                    <a:pt x="1975421" y="48260"/>
                  </a:lnTo>
                  <a:lnTo>
                    <a:pt x="1972602" y="44450"/>
                  </a:lnTo>
                  <a:lnTo>
                    <a:pt x="1970938" y="43180"/>
                  </a:lnTo>
                  <a:lnTo>
                    <a:pt x="1970938" y="39370"/>
                  </a:lnTo>
                  <a:lnTo>
                    <a:pt x="1951405" y="5080"/>
                  </a:lnTo>
                  <a:lnTo>
                    <a:pt x="1946389" y="0"/>
                  </a:lnTo>
                  <a:lnTo>
                    <a:pt x="1946948" y="1270"/>
                  </a:lnTo>
                  <a:lnTo>
                    <a:pt x="1948395" y="7620"/>
                  </a:lnTo>
                  <a:lnTo>
                    <a:pt x="1950364" y="16510"/>
                  </a:lnTo>
                  <a:lnTo>
                    <a:pt x="1952523" y="26670"/>
                  </a:lnTo>
                  <a:lnTo>
                    <a:pt x="1955038" y="38100"/>
                  </a:lnTo>
                  <a:lnTo>
                    <a:pt x="1957425" y="49530"/>
                  </a:lnTo>
                  <a:lnTo>
                    <a:pt x="1959356" y="59690"/>
                  </a:lnTo>
                  <a:lnTo>
                    <a:pt x="1960549" y="66040"/>
                  </a:lnTo>
                  <a:lnTo>
                    <a:pt x="1956917" y="58420"/>
                  </a:lnTo>
                  <a:lnTo>
                    <a:pt x="1956295" y="58420"/>
                  </a:lnTo>
                  <a:lnTo>
                    <a:pt x="1957095" y="62230"/>
                  </a:lnTo>
                  <a:lnTo>
                    <a:pt x="1957717" y="66040"/>
                  </a:lnTo>
                  <a:lnTo>
                    <a:pt x="1958276" y="66421"/>
                  </a:lnTo>
                  <a:lnTo>
                    <a:pt x="1956765" y="66116"/>
                  </a:lnTo>
                  <a:lnTo>
                    <a:pt x="1958657" y="68465"/>
                  </a:lnTo>
                  <a:lnTo>
                    <a:pt x="1959127" y="67995"/>
                  </a:lnTo>
                  <a:lnTo>
                    <a:pt x="1959127" y="66992"/>
                  </a:lnTo>
                  <a:lnTo>
                    <a:pt x="1959610" y="67310"/>
                  </a:lnTo>
                  <a:lnTo>
                    <a:pt x="1963851" y="77470"/>
                  </a:lnTo>
                  <a:lnTo>
                    <a:pt x="1961019" y="78740"/>
                  </a:lnTo>
                  <a:lnTo>
                    <a:pt x="1962086" y="83502"/>
                  </a:lnTo>
                  <a:lnTo>
                    <a:pt x="1962442" y="82550"/>
                  </a:lnTo>
                  <a:lnTo>
                    <a:pt x="1964804" y="82550"/>
                  </a:lnTo>
                  <a:lnTo>
                    <a:pt x="1965490" y="83807"/>
                  </a:lnTo>
                  <a:lnTo>
                    <a:pt x="1965274" y="83578"/>
                  </a:lnTo>
                  <a:lnTo>
                    <a:pt x="1964804" y="84048"/>
                  </a:lnTo>
                  <a:lnTo>
                    <a:pt x="1964804" y="84531"/>
                  </a:lnTo>
                  <a:lnTo>
                    <a:pt x="1965921" y="85090"/>
                  </a:lnTo>
                  <a:lnTo>
                    <a:pt x="1965744" y="85090"/>
                  </a:lnTo>
                  <a:lnTo>
                    <a:pt x="1968576" y="88900"/>
                  </a:lnTo>
                  <a:lnTo>
                    <a:pt x="1971878" y="96520"/>
                  </a:lnTo>
                  <a:lnTo>
                    <a:pt x="1973770" y="99060"/>
                  </a:lnTo>
                  <a:lnTo>
                    <a:pt x="1971408" y="100330"/>
                  </a:lnTo>
                  <a:lnTo>
                    <a:pt x="1974761" y="104140"/>
                  </a:lnTo>
                  <a:lnTo>
                    <a:pt x="1978367" y="111760"/>
                  </a:lnTo>
                  <a:lnTo>
                    <a:pt x="1982165" y="120650"/>
                  </a:lnTo>
                  <a:lnTo>
                    <a:pt x="1986051" y="130810"/>
                  </a:lnTo>
                  <a:lnTo>
                    <a:pt x="1993366" y="151130"/>
                  </a:lnTo>
                  <a:lnTo>
                    <a:pt x="1996541" y="158750"/>
                  </a:lnTo>
                  <a:lnTo>
                    <a:pt x="1999272" y="163830"/>
                  </a:lnTo>
                  <a:lnTo>
                    <a:pt x="2003056" y="172720"/>
                  </a:lnTo>
                  <a:lnTo>
                    <a:pt x="2008657" y="180340"/>
                  </a:lnTo>
                  <a:lnTo>
                    <a:pt x="2014867" y="189230"/>
                  </a:lnTo>
                  <a:lnTo>
                    <a:pt x="2020519" y="198120"/>
                  </a:lnTo>
                  <a:lnTo>
                    <a:pt x="2026208" y="208280"/>
                  </a:lnTo>
                  <a:lnTo>
                    <a:pt x="2027123" y="212090"/>
                  </a:lnTo>
                  <a:lnTo>
                    <a:pt x="2026627" y="215900"/>
                  </a:lnTo>
                  <a:lnTo>
                    <a:pt x="2028075" y="220980"/>
                  </a:lnTo>
                  <a:lnTo>
                    <a:pt x="2031263" y="226060"/>
                  </a:lnTo>
                  <a:lnTo>
                    <a:pt x="2031669" y="223520"/>
                  </a:lnTo>
                  <a:lnTo>
                    <a:pt x="2031453" y="220980"/>
                  </a:lnTo>
                  <a:lnTo>
                    <a:pt x="2032800" y="220980"/>
                  </a:lnTo>
                  <a:lnTo>
                    <a:pt x="2036102" y="229870"/>
                  </a:lnTo>
                  <a:lnTo>
                    <a:pt x="2037994" y="233680"/>
                  </a:lnTo>
                  <a:lnTo>
                    <a:pt x="2039404" y="237490"/>
                  </a:lnTo>
                  <a:lnTo>
                    <a:pt x="2033270" y="229870"/>
                  </a:lnTo>
                  <a:lnTo>
                    <a:pt x="2035149" y="234950"/>
                  </a:lnTo>
                  <a:lnTo>
                    <a:pt x="2035149" y="236283"/>
                  </a:lnTo>
                  <a:lnTo>
                    <a:pt x="2034209" y="235153"/>
                  </a:lnTo>
                  <a:lnTo>
                    <a:pt x="2032317" y="232791"/>
                  </a:lnTo>
                  <a:lnTo>
                    <a:pt x="2030907" y="231381"/>
                  </a:lnTo>
                  <a:lnTo>
                    <a:pt x="2036102" y="239877"/>
                  </a:lnTo>
                  <a:lnTo>
                    <a:pt x="2036572" y="239877"/>
                  </a:lnTo>
                  <a:lnTo>
                    <a:pt x="2036572" y="239153"/>
                  </a:lnTo>
                  <a:lnTo>
                    <a:pt x="2038413" y="241300"/>
                  </a:lnTo>
                  <a:lnTo>
                    <a:pt x="2041766" y="247650"/>
                  </a:lnTo>
                  <a:lnTo>
                    <a:pt x="2048383" y="259080"/>
                  </a:lnTo>
                  <a:lnTo>
                    <a:pt x="2053094" y="265430"/>
                  </a:lnTo>
                  <a:lnTo>
                    <a:pt x="2057349" y="271780"/>
                  </a:lnTo>
                  <a:lnTo>
                    <a:pt x="2061121" y="271780"/>
                  </a:lnTo>
                  <a:lnTo>
                    <a:pt x="2066988" y="281940"/>
                  </a:lnTo>
                  <a:lnTo>
                    <a:pt x="2070150" y="288290"/>
                  </a:lnTo>
                  <a:lnTo>
                    <a:pt x="2072347" y="293370"/>
                  </a:lnTo>
                  <a:lnTo>
                    <a:pt x="2075294" y="297180"/>
                  </a:lnTo>
                  <a:lnTo>
                    <a:pt x="2074341" y="294640"/>
                  </a:lnTo>
                  <a:lnTo>
                    <a:pt x="2071509" y="289560"/>
                  </a:lnTo>
                  <a:lnTo>
                    <a:pt x="2071992" y="288290"/>
                  </a:lnTo>
                  <a:lnTo>
                    <a:pt x="2075294" y="295910"/>
                  </a:lnTo>
                  <a:lnTo>
                    <a:pt x="2075180" y="294640"/>
                  </a:lnTo>
                  <a:lnTo>
                    <a:pt x="2075053" y="293370"/>
                  </a:lnTo>
                  <a:lnTo>
                    <a:pt x="2074938" y="292100"/>
                  </a:lnTo>
                  <a:lnTo>
                    <a:pt x="2074824" y="290830"/>
                  </a:lnTo>
                  <a:lnTo>
                    <a:pt x="2073402" y="288290"/>
                  </a:lnTo>
                  <a:lnTo>
                    <a:pt x="2074824" y="288290"/>
                  </a:lnTo>
                  <a:lnTo>
                    <a:pt x="2078596" y="293370"/>
                  </a:lnTo>
                  <a:lnTo>
                    <a:pt x="2079066" y="294640"/>
                  </a:lnTo>
                  <a:lnTo>
                    <a:pt x="2080488" y="295910"/>
                  </a:lnTo>
                  <a:lnTo>
                    <a:pt x="2080958" y="297180"/>
                  </a:lnTo>
                  <a:lnTo>
                    <a:pt x="2081898" y="298450"/>
                  </a:lnTo>
                  <a:lnTo>
                    <a:pt x="2082380" y="299720"/>
                  </a:lnTo>
                  <a:lnTo>
                    <a:pt x="2083790" y="302260"/>
                  </a:lnTo>
                  <a:lnTo>
                    <a:pt x="2085682" y="306070"/>
                  </a:lnTo>
                  <a:lnTo>
                    <a:pt x="2086622" y="308610"/>
                  </a:lnTo>
                  <a:lnTo>
                    <a:pt x="2088984" y="313690"/>
                  </a:lnTo>
                  <a:lnTo>
                    <a:pt x="2089454" y="317500"/>
                  </a:lnTo>
                  <a:lnTo>
                    <a:pt x="2094649" y="318770"/>
                  </a:lnTo>
                  <a:lnTo>
                    <a:pt x="2092769" y="318770"/>
                  </a:lnTo>
                  <a:lnTo>
                    <a:pt x="2096541" y="320040"/>
                  </a:lnTo>
                  <a:lnTo>
                    <a:pt x="2100313" y="320040"/>
                  </a:lnTo>
                  <a:lnTo>
                    <a:pt x="2103628" y="321310"/>
                  </a:lnTo>
                  <a:lnTo>
                    <a:pt x="2106930" y="321310"/>
                  </a:lnTo>
                  <a:lnTo>
                    <a:pt x="2109762" y="322580"/>
                  </a:lnTo>
                  <a:lnTo>
                    <a:pt x="2114016" y="325120"/>
                  </a:lnTo>
                  <a:lnTo>
                    <a:pt x="2113064" y="327660"/>
                  </a:lnTo>
                  <a:lnTo>
                    <a:pt x="2120620" y="332740"/>
                  </a:lnTo>
                  <a:lnTo>
                    <a:pt x="2120620" y="334010"/>
                  </a:lnTo>
                  <a:lnTo>
                    <a:pt x="2116848" y="331470"/>
                  </a:lnTo>
                  <a:lnTo>
                    <a:pt x="2115896" y="331470"/>
                  </a:lnTo>
                  <a:lnTo>
                    <a:pt x="2125815" y="340360"/>
                  </a:lnTo>
                  <a:lnTo>
                    <a:pt x="2129117" y="344170"/>
                  </a:lnTo>
                  <a:lnTo>
                    <a:pt x="2131961" y="346710"/>
                  </a:lnTo>
                  <a:lnTo>
                    <a:pt x="2126767" y="345440"/>
                  </a:lnTo>
                  <a:lnTo>
                    <a:pt x="2124405" y="345440"/>
                  </a:lnTo>
                  <a:lnTo>
                    <a:pt x="2121573" y="344170"/>
                  </a:lnTo>
                  <a:lnTo>
                    <a:pt x="2116378" y="344170"/>
                  </a:lnTo>
                  <a:lnTo>
                    <a:pt x="2125345" y="347980"/>
                  </a:lnTo>
                  <a:lnTo>
                    <a:pt x="2146122" y="355600"/>
                  </a:lnTo>
                  <a:lnTo>
                    <a:pt x="2157450" y="359410"/>
                  </a:lnTo>
                  <a:lnTo>
                    <a:pt x="2150173" y="358140"/>
                  </a:lnTo>
                  <a:lnTo>
                    <a:pt x="2133676" y="354330"/>
                  </a:lnTo>
                  <a:lnTo>
                    <a:pt x="2125345" y="351790"/>
                  </a:lnTo>
                  <a:lnTo>
                    <a:pt x="2116378" y="350520"/>
                  </a:lnTo>
                  <a:lnTo>
                    <a:pt x="2110232" y="349250"/>
                  </a:lnTo>
                  <a:lnTo>
                    <a:pt x="2112594" y="351790"/>
                  </a:lnTo>
                  <a:lnTo>
                    <a:pt x="2105990" y="349250"/>
                  </a:lnTo>
                  <a:lnTo>
                    <a:pt x="2103145" y="347980"/>
                  </a:lnTo>
                  <a:lnTo>
                    <a:pt x="2099843" y="346710"/>
                  </a:lnTo>
                  <a:lnTo>
                    <a:pt x="2092286" y="344170"/>
                  </a:lnTo>
                  <a:lnTo>
                    <a:pt x="2088515" y="344170"/>
                  </a:lnTo>
                  <a:lnTo>
                    <a:pt x="2086152" y="342900"/>
                  </a:lnTo>
                  <a:lnTo>
                    <a:pt x="2083790" y="342900"/>
                  </a:lnTo>
                  <a:lnTo>
                    <a:pt x="2082850" y="344170"/>
                  </a:lnTo>
                  <a:lnTo>
                    <a:pt x="2082380" y="345440"/>
                  </a:lnTo>
                  <a:lnTo>
                    <a:pt x="2083790" y="347980"/>
                  </a:lnTo>
                  <a:lnTo>
                    <a:pt x="2078596" y="346710"/>
                  </a:lnTo>
                  <a:lnTo>
                    <a:pt x="2071166" y="342900"/>
                  </a:lnTo>
                  <a:lnTo>
                    <a:pt x="2068677" y="341630"/>
                  </a:lnTo>
                  <a:lnTo>
                    <a:pt x="2066315" y="340360"/>
                  </a:lnTo>
                  <a:lnTo>
                    <a:pt x="2075294" y="341630"/>
                  </a:lnTo>
                  <a:lnTo>
                    <a:pt x="2070100" y="340360"/>
                  </a:lnTo>
                  <a:lnTo>
                    <a:pt x="2066798" y="337820"/>
                  </a:lnTo>
                  <a:lnTo>
                    <a:pt x="2063483" y="337820"/>
                  </a:lnTo>
                  <a:lnTo>
                    <a:pt x="2060651" y="336550"/>
                  </a:lnTo>
                  <a:lnTo>
                    <a:pt x="2057819" y="335280"/>
                  </a:lnTo>
                  <a:lnTo>
                    <a:pt x="2055456" y="333171"/>
                  </a:lnTo>
                  <a:lnTo>
                    <a:pt x="2055456" y="334010"/>
                  </a:lnTo>
                  <a:lnTo>
                    <a:pt x="2054987" y="334010"/>
                  </a:lnTo>
                  <a:lnTo>
                    <a:pt x="2054402" y="334784"/>
                  </a:lnTo>
                  <a:lnTo>
                    <a:pt x="2053094" y="334784"/>
                  </a:lnTo>
                  <a:lnTo>
                    <a:pt x="2052154" y="334314"/>
                  </a:lnTo>
                  <a:lnTo>
                    <a:pt x="2048383" y="333844"/>
                  </a:lnTo>
                  <a:lnTo>
                    <a:pt x="2044128" y="333844"/>
                  </a:lnTo>
                  <a:lnTo>
                    <a:pt x="2038934" y="333375"/>
                  </a:lnTo>
                  <a:lnTo>
                    <a:pt x="2037994" y="336207"/>
                  </a:lnTo>
                  <a:lnTo>
                    <a:pt x="2053577" y="336207"/>
                  </a:lnTo>
                  <a:lnTo>
                    <a:pt x="2053577" y="336550"/>
                  </a:lnTo>
                  <a:lnTo>
                    <a:pt x="2028151" y="336550"/>
                  </a:lnTo>
                  <a:lnTo>
                    <a:pt x="2017560" y="335280"/>
                  </a:lnTo>
                  <a:lnTo>
                    <a:pt x="2005393" y="335280"/>
                  </a:lnTo>
                  <a:lnTo>
                    <a:pt x="1990293" y="331470"/>
                  </a:lnTo>
                  <a:lnTo>
                    <a:pt x="1984159" y="335280"/>
                  </a:lnTo>
                  <a:lnTo>
                    <a:pt x="1967153" y="331470"/>
                  </a:lnTo>
                  <a:lnTo>
                    <a:pt x="1967153" y="327660"/>
                  </a:lnTo>
                  <a:lnTo>
                    <a:pt x="1982000" y="328930"/>
                  </a:lnTo>
                  <a:lnTo>
                    <a:pt x="2000148" y="328930"/>
                  </a:lnTo>
                  <a:lnTo>
                    <a:pt x="2037041" y="331470"/>
                  </a:lnTo>
                  <a:lnTo>
                    <a:pt x="2037511" y="328930"/>
                  </a:lnTo>
                  <a:lnTo>
                    <a:pt x="2009025" y="328930"/>
                  </a:lnTo>
                  <a:lnTo>
                    <a:pt x="2001634" y="327660"/>
                  </a:lnTo>
                  <a:lnTo>
                    <a:pt x="1997379" y="327660"/>
                  </a:lnTo>
                  <a:lnTo>
                    <a:pt x="1989937" y="323850"/>
                  </a:lnTo>
                  <a:lnTo>
                    <a:pt x="1988527" y="323126"/>
                  </a:lnTo>
                  <a:lnTo>
                    <a:pt x="1986991" y="323850"/>
                  </a:lnTo>
                  <a:lnTo>
                    <a:pt x="1961667" y="322580"/>
                  </a:lnTo>
                  <a:lnTo>
                    <a:pt x="1944077" y="321310"/>
                  </a:lnTo>
                  <a:lnTo>
                    <a:pt x="1926234" y="318770"/>
                  </a:lnTo>
                  <a:lnTo>
                    <a:pt x="1900110" y="314960"/>
                  </a:lnTo>
                  <a:lnTo>
                    <a:pt x="1903882" y="317500"/>
                  </a:lnTo>
                  <a:lnTo>
                    <a:pt x="1894916" y="317500"/>
                  </a:lnTo>
                  <a:lnTo>
                    <a:pt x="1885937" y="318770"/>
                  </a:lnTo>
                  <a:lnTo>
                    <a:pt x="1884057" y="314960"/>
                  </a:lnTo>
                  <a:lnTo>
                    <a:pt x="1864144" y="313690"/>
                  </a:lnTo>
                  <a:lnTo>
                    <a:pt x="1854504" y="312420"/>
                  </a:lnTo>
                  <a:lnTo>
                    <a:pt x="1844865" y="311150"/>
                  </a:lnTo>
                  <a:lnTo>
                    <a:pt x="1833181" y="308610"/>
                  </a:lnTo>
                  <a:lnTo>
                    <a:pt x="1827339" y="307340"/>
                  </a:lnTo>
                  <a:lnTo>
                    <a:pt x="1812747" y="303530"/>
                  </a:lnTo>
                  <a:lnTo>
                    <a:pt x="1808505" y="307340"/>
                  </a:lnTo>
                  <a:lnTo>
                    <a:pt x="1802841" y="307340"/>
                  </a:lnTo>
                  <a:lnTo>
                    <a:pt x="1794802" y="299720"/>
                  </a:lnTo>
                  <a:lnTo>
                    <a:pt x="1791500" y="306070"/>
                  </a:lnTo>
                  <a:lnTo>
                    <a:pt x="1779231" y="307340"/>
                  </a:lnTo>
                  <a:lnTo>
                    <a:pt x="1771675" y="307340"/>
                  </a:lnTo>
                  <a:lnTo>
                    <a:pt x="1766481" y="308610"/>
                  </a:lnTo>
                  <a:lnTo>
                    <a:pt x="1762226" y="307340"/>
                  </a:lnTo>
                  <a:lnTo>
                    <a:pt x="1757972" y="306070"/>
                  </a:lnTo>
                  <a:lnTo>
                    <a:pt x="1747532" y="306070"/>
                  </a:lnTo>
                  <a:lnTo>
                    <a:pt x="1745742" y="307340"/>
                  </a:lnTo>
                  <a:lnTo>
                    <a:pt x="1736725" y="307340"/>
                  </a:lnTo>
                  <a:lnTo>
                    <a:pt x="1730590" y="303530"/>
                  </a:lnTo>
                  <a:lnTo>
                    <a:pt x="1729168" y="312420"/>
                  </a:lnTo>
                  <a:lnTo>
                    <a:pt x="1719732" y="311150"/>
                  </a:lnTo>
                  <a:lnTo>
                    <a:pt x="1715008" y="307340"/>
                  </a:lnTo>
                  <a:lnTo>
                    <a:pt x="1710283" y="303530"/>
                  </a:lnTo>
                  <a:lnTo>
                    <a:pt x="1699272" y="302260"/>
                  </a:lnTo>
                  <a:lnTo>
                    <a:pt x="1690154" y="303530"/>
                  </a:lnTo>
                  <a:lnTo>
                    <a:pt x="1679536" y="304800"/>
                  </a:lnTo>
                  <a:lnTo>
                    <a:pt x="1664004" y="304800"/>
                  </a:lnTo>
                  <a:lnTo>
                    <a:pt x="1656156" y="302260"/>
                  </a:lnTo>
                  <a:lnTo>
                    <a:pt x="1651495" y="298450"/>
                  </a:lnTo>
                  <a:lnTo>
                    <a:pt x="1651241" y="297180"/>
                  </a:lnTo>
                  <a:lnTo>
                    <a:pt x="1650733" y="294640"/>
                  </a:lnTo>
                  <a:lnTo>
                    <a:pt x="1654568" y="292100"/>
                  </a:lnTo>
                  <a:lnTo>
                    <a:pt x="1645831" y="295910"/>
                  </a:lnTo>
                  <a:lnTo>
                    <a:pt x="1642211" y="295910"/>
                  </a:lnTo>
                  <a:lnTo>
                    <a:pt x="1634261" y="297180"/>
                  </a:lnTo>
                  <a:lnTo>
                    <a:pt x="1631899" y="294640"/>
                  </a:lnTo>
                  <a:lnTo>
                    <a:pt x="1633791" y="294640"/>
                  </a:lnTo>
                  <a:lnTo>
                    <a:pt x="1637093" y="292100"/>
                  </a:lnTo>
                  <a:lnTo>
                    <a:pt x="1626882" y="292100"/>
                  </a:lnTo>
                  <a:lnTo>
                    <a:pt x="1624279" y="293370"/>
                  </a:lnTo>
                  <a:lnTo>
                    <a:pt x="1622323" y="293370"/>
                  </a:lnTo>
                  <a:lnTo>
                    <a:pt x="1622463" y="293230"/>
                  </a:lnTo>
                  <a:lnTo>
                    <a:pt x="1622285" y="293370"/>
                  </a:lnTo>
                  <a:lnTo>
                    <a:pt x="1619148" y="293370"/>
                  </a:lnTo>
                  <a:lnTo>
                    <a:pt x="1615846" y="297180"/>
                  </a:lnTo>
                  <a:lnTo>
                    <a:pt x="1612544" y="304800"/>
                  </a:lnTo>
                  <a:lnTo>
                    <a:pt x="1609229" y="304800"/>
                  </a:lnTo>
                  <a:lnTo>
                    <a:pt x="1613014" y="306070"/>
                  </a:lnTo>
                  <a:lnTo>
                    <a:pt x="1604975" y="307340"/>
                  </a:lnTo>
                  <a:lnTo>
                    <a:pt x="1587652" y="307340"/>
                  </a:lnTo>
                  <a:lnTo>
                    <a:pt x="1578546" y="306070"/>
                  </a:lnTo>
                  <a:lnTo>
                    <a:pt x="1579016" y="303530"/>
                  </a:lnTo>
                  <a:lnTo>
                    <a:pt x="1567688" y="306070"/>
                  </a:lnTo>
                  <a:lnTo>
                    <a:pt x="1567205" y="303530"/>
                  </a:lnTo>
                  <a:lnTo>
                    <a:pt x="1531239" y="303530"/>
                  </a:lnTo>
                  <a:lnTo>
                    <a:pt x="1524241" y="302260"/>
                  </a:lnTo>
                  <a:lnTo>
                    <a:pt x="1524711" y="300990"/>
                  </a:lnTo>
                  <a:lnTo>
                    <a:pt x="1516430" y="299720"/>
                  </a:lnTo>
                  <a:lnTo>
                    <a:pt x="1508163" y="298450"/>
                  </a:lnTo>
                  <a:lnTo>
                    <a:pt x="1491780" y="298450"/>
                  </a:lnTo>
                  <a:lnTo>
                    <a:pt x="1474508" y="299720"/>
                  </a:lnTo>
                  <a:lnTo>
                    <a:pt x="1455305" y="299720"/>
                  </a:lnTo>
                  <a:lnTo>
                    <a:pt x="1459077" y="297180"/>
                  </a:lnTo>
                  <a:lnTo>
                    <a:pt x="1454683" y="295910"/>
                  </a:lnTo>
                  <a:lnTo>
                    <a:pt x="1450848" y="299720"/>
                  </a:lnTo>
                  <a:lnTo>
                    <a:pt x="1445387" y="299720"/>
                  </a:lnTo>
                  <a:lnTo>
                    <a:pt x="1444917" y="295910"/>
                  </a:lnTo>
                  <a:lnTo>
                    <a:pt x="1434998" y="299720"/>
                  </a:lnTo>
                  <a:lnTo>
                    <a:pt x="1433817" y="297180"/>
                  </a:lnTo>
                  <a:lnTo>
                    <a:pt x="1432636" y="294640"/>
                  </a:lnTo>
                  <a:lnTo>
                    <a:pt x="1426019" y="292100"/>
                  </a:lnTo>
                  <a:lnTo>
                    <a:pt x="1428851" y="297180"/>
                  </a:lnTo>
                  <a:lnTo>
                    <a:pt x="1416583" y="295910"/>
                  </a:lnTo>
                  <a:lnTo>
                    <a:pt x="1409738" y="294640"/>
                  </a:lnTo>
                  <a:lnTo>
                    <a:pt x="1402892" y="293370"/>
                  </a:lnTo>
                  <a:lnTo>
                    <a:pt x="1407134" y="289560"/>
                  </a:lnTo>
                  <a:lnTo>
                    <a:pt x="1408557" y="288290"/>
                  </a:lnTo>
                  <a:lnTo>
                    <a:pt x="1410436" y="285750"/>
                  </a:lnTo>
                  <a:lnTo>
                    <a:pt x="1401000" y="289560"/>
                  </a:lnTo>
                  <a:lnTo>
                    <a:pt x="1399108" y="284480"/>
                  </a:lnTo>
                  <a:lnTo>
                    <a:pt x="1392021" y="289560"/>
                  </a:lnTo>
                  <a:lnTo>
                    <a:pt x="1392123" y="288290"/>
                  </a:lnTo>
                  <a:lnTo>
                    <a:pt x="1392212" y="287020"/>
                  </a:lnTo>
                  <a:lnTo>
                    <a:pt x="1392313" y="285750"/>
                  </a:lnTo>
                  <a:lnTo>
                    <a:pt x="1392402" y="284480"/>
                  </a:lnTo>
                  <a:lnTo>
                    <a:pt x="1392504" y="283210"/>
                  </a:lnTo>
                  <a:lnTo>
                    <a:pt x="1380223" y="285750"/>
                  </a:lnTo>
                  <a:lnTo>
                    <a:pt x="1379283" y="284480"/>
                  </a:lnTo>
                  <a:lnTo>
                    <a:pt x="1382585" y="283210"/>
                  </a:lnTo>
                  <a:lnTo>
                    <a:pt x="1378331" y="281940"/>
                  </a:lnTo>
                  <a:lnTo>
                    <a:pt x="1358023" y="288290"/>
                  </a:lnTo>
                  <a:lnTo>
                    <a:pt x="1370304" y="285750"/>
                  </a:lnTo>
                  <a:lnTo>
                    <a:pt x="1368412" y="292100"/>
                  </a:lnTo>
                  <a:lnTo>
                    <a:pt x="1360246" y="293370"/>
                  </a:lnTo>
                  <a:lnTo>
                    <a:pt x="1354010" y="293370"/>
                  </a:lnTo>
                  <a:lnTo>
                    <a:pt x="1348498" y="292100"/>
                  </a:lnTo>
                  <a:lnTo>
                    <a:pt x="1342440" y="292100"/>
                  </a:lnTo>
                  <a:lnTo>
                    <a:pt x="1348587" y="290830"/>
                  </a:lnTo>
                  <a:lnTo>
                    <a:pt x="1333944" y="290830"/>
                  </a:lnTo>
                  <a:lnTo>
                    <a:pt x="1333474" y="288290"/>
                  </a:lnTo>
                  <a:lnTo>
                    <a:pt x="1324978" y="287020"/>
                  </a:lnTo>
                  <a:lnTo>
                    <a:pt x="1327340" y="288290"/>
                  </a:lnTo>
                  <a:lnTo>
                    <a:pt x="1331112" y="289560"/>
                  </a:lnTo>
                  <a:lnTo>
                    <a:pt x="1325448" y="290830"/>
                  </a:lnTo>
                  <a:lnTo>
                    <a:pt x="1321193" y="290830"/>
                  </a:lnTo>
                  <a:lnTo>
                    <a:pt x="1323086" y="288290"/>
                  </a:lnTo>
                  <a:lnTo>
                    <a:pt x="1319314" y="287020"/>
                  </a:lnTo>
                  <a:lnTo>
                    <a:pt x="1318361" y="292100"/>
                  </a:lnTo>
                  <a:lnTo>
                    <a:pt x="1307503" y="294640"/>
                  </a:lnTo>
                  <a:lnTo>
                    <a:pt x="1298054" y="292100"/>
                  </a:lnTo>
                  <a:lnTo>
                    <a:pt x="1298054" y="290830"/>
                  </a:lnTo>
                  <a:lnTo>
                    <a:pt x="1296644" y="290830"/>
                  </a:lnTo>
                  <a:lnTo>
                    <a:pt x="1295222" y="292100"/>
                  </a:lnTo>
                  <a:lnTo>
                    <a:pt x="1290980" y="290830"/>
                  </a:lnTo>
                  <a:lnTo>
                    <a:pt x="1293812" y="285750"/>
                  </a:lnTo>
                  <a:lnTo>
                    <a:pt x="1285786" y="290830"/>
                  </a:lnTo>
                  <a:lnTo>
                    <a:pt x="1280591" y="288290"/>
                  </a:lnTo>
                  <a:lnTo>
                    <a:pt x="1272565" y="292100"/>
                  </a:lnTo>
                  <a:lnTo>
                    <a:pt x="1273035" y="288290"/>
                  </a:lnTo>
                  <a:lnTo>
                    <a:pt x="1276337" y="288290"/>
                  </a:lnTo>
                  <a:lnTo>
                    <a:pt x="1249260" y="285750"/>
                  </a:lnTo>
                  <a:lnTo>
                    <a:pt x="1235735" y="284480"/>
                  </a:lnTo>
                  <a:lnTo>
                    <a:pt x="1235570" y="283210"/>
                  </a:lnTo>
                  <a:lnTo>
                    <a:pt x="1235252" y="280670"/>
                  </a:lnTo>
                  <a:lnTo>
                    <a:pt x="1230007" y="283210"/>
                  </a:lnTo>
                  <a:lnTo>
                    <a:pt x="1222679" y="281940"/>
                  </a:lnTo>
                  <a:lnTo>
                    <a:pt x="1216329" y="281940"/>
                  </a:lnTo>
                  <a:lnTo>
                    <a:pt x="1214005" y="284480"/>
                  </a:lnTo>
                  <a:lnTo>
                    <a:pt x="1206169" y="283210"/>
                  </a:lnTo>
                  <a:lnTo>
                    <a:pt x="1189443" y="283210"/>
                  </a:lnTo>
                  <a:lnTo>
                    <a:pt x="1189126" y="281940"/>
                  </a:lnTo>
                  <a:lnTo>
                    <a:pt x="1188516" y="279400"/>
                  </a:lnTo>
                  <a:lnTo>
                    <a:pt x="1170152" y="279400"/>
                  </a:lnTo>
                  <a:lnTo>
                    <a:pt x="1135926" y="281940"/>
                  </a:lnTo>
                  <a:lnTo>
                    <a:pt x="1125143" y="280670"/>
                  </a:lnTo>
                  <a:lnTo>
                    <a:pt x="1114374" y="279400"/>
                  </a:lnTo>
                  <a:lnTo>
                    <a:pt x="1110411" y="278130"/>
                  </a:lnTo>
                  <a:lnTo>
                    <a:pt x="1106449" y="276860"/>
                  </a:lnTo>
                  <a:lnTo>
                    <a:pt x="1102423" y="275577"/>
                  </a:lnTo>
                  <a:lnTo>
                    <a:pt x="1102207" y="275577"/>
                  </a:lnTo>
                  <a:lnTo>
                    <a:pt x="1067358" y="273050"/>
                  </a:lnTo>
                  <a:lnTo>
                    <a:pt x="1050163" y="273050"/>
                  </a:lnTo>
                  <a:lnTo>
                    <a:pt x="969683" y="276860"/>
                  </a:lnTo>
                  <a:lnTo>
                    <a:pt x="940612" y="276860"/>
                  </a:lnTo>
                  <a:lnTo>
                    <a:pt x="933564" y="275577"/>
                  </a:lnTo>
                  <a:lnTo>
                    <a:pt x="919822" y="273050"/>
                  </a:lnTo>
                  <a:lnTo>
                    <a:pt x="873125" y="275577"/>
                  </a:lnTo>
                  <a:lnTo>
                    <a:pt x="872566" y="275577"/>
                  </a:lnTo>
                  <a:lnTo>
                    <a:pt x="850887" y="273050"/>
                  </a:lnTo>
                  <a:lnTo>
                    <a:pt x="843330" y="276860"/>
                  </a:lnTo>
                  <a:lnTo>
                    <a:pt x="828281" y="274320"/>
                  </a:lnTo>
                  <a:lnTo>
                    <a:pt x="791806" y="273050"/>
                  </a:lnTo>
                  <a:lnTo>
                    <a:pt x="772502" y="270510"/>
                  </a:lnTo>
                  <a:lnTo>
                    <a:pt x="766368" y="271780"/>
                  </a:lnTo>
                  <a:lnTo>
                    <a:pt x="763066" y="273050"/>
                  </a:lnTo>
                  <a:lnTo>
                    <a:pt x="762596" y="273050"/>
                  </a:lnTo>
                  <a:lnTo>
                    <a:pt x="764476" y="274320"/>
                  </a:lnTo>
                  <a:lnTo>
                    <a:pt x="764946" y="275577"/>
                  </a:lnTo>
                  <a:lnTo>
                    <a:pt x="759841" y="274688"/>
                  </a:lnTo>
                  <a:lnTo>
                    <a:pt x="761174" y="274345"/>
                  </a:lnTo>
                  <a:lnTo>
                    <a:pt x="759752" y="274345"/>
                  </a:lnTo>
                  <a:lnTo>
                    <a:pt x="759485" y="274612"/>
                  </a:lnTo>
                  <a:lnTo>
                    <a:pt x="757872" y="274320"/>
                  </a:lnTo>
                  <a:lnTo>
                    <a:pt x="743470" y="275577"/>
                  </a:lnTo>
                  <a:lnTo>
                    <a:pt x="743242" y="275577"/>
                  </a:lnTo>
                  <a:lnTo>
                    <a:pt x="743546" y="274320"/>
                  </a:lnTo>
                  <a:lnTo>
                    <a:pt x="744181" y="271780"/>
                  </a:lnTo>
                  <a:lnTo>
                    <a:pt x="746061" y="270510"/>
                  </a:lnTo>
                  <a:lnTo>
                    <a:pt x="742937" y="269240"/>
                  </a:lnTo>
                  <a:lnTo>
                    <a:pt x="724484" y="270510"/>
                  </a:lnTo>
                  <a:lnTo>
                    <a:pt x="716318" y="267970"/>
                  </a:lnTo>
                  <a:lnTo>
                    <a:pt x="720559" y="274320"/>
                  </a:lnTo>
                  <a:lnTo>
                    <a:pt x="706869" y="273050"/>
                  </a:lnTo>
                  <a:lnTo>
                    <a:pt x="710653" y="271780"/>
                  </a:lnTo>
                  <a:lnTo>
                    <a:pt x="671461" y="275577"/>
                  </a:lnTo>
                  <a:lnTo>
                    <a:pt x="670712" y="275577"/>
                  </a:lnTo>
                  <a:lnTo>
                    <a:pt x="638340" y="274320"/>
                  </a:lnTo>
                  <a:lnTo>
                    <a:pt x="606069" y="271780"/>
                  </a:lnTo>
                  <a:lnTo>
                    <a:pt x="568718" y="275577"/>
                  </a:lnTo>
                  <a:lnTo>
                    <a:pt x="568528" y="275577"/>
                  </a:lnTo>
                  <a:lnTo>
                    <a:pt x="569252" y="274320"/>
                  </a:lnTo>
                  <a:lnTo>
                    <a:pt x="569988" y="273050"/>
                  </a:lnTo>
                  <a:lnTo>
                    <a:pt x="565797" y="274320"/>
                  </a:lnTo>
                  <a:lnTo>
                    <a:pt x="560019" y="274320"/>
                  </a:lnTo>
                  <a:lnTo>
                    <a:pt x="556717" y="271780"/>
                  </a:lnTo>
                  <a:lnTo>
                    <a:pt x="546493" y="269240"/>
                  </a:lnTo>
                  <a:lnTo>
                    <a:pt x="536943" y="270510"/>
                  </a:lnTo>
                  <a:lnTo>
                    <a:pt x="519010" y="275577"/>
                  </a:lnTo>
                  <a:lnTo>
                    <a:pt x="518464" y="275577"/>
                  </a:lnTo>
                  <a:lnTo>
                    <a:pt x="518464" y="275297"/>
                  </a:lnTo>
                  <a:lnTo>
                    <a:pt x="513740" y="275297"/>
                  </a:lnTo>
                  <a:lnTo>
                    <a:pt x="511492" y="275577"/>
                  </a:lnTo>
                  <a:lnTo>
                    <a:pt x="497713" y="275577"/>
                  </a:lnTo>
                  <a:lnTo>
                    <a:pt x="500761" y="273050"/>
                  </a:lnTo>
                  <a:lnTo>
                    <a:pt x="496392" y="274320"/>
                  </a:lnTo>
                  <a:lnTo>
                    <a:pt x="494157" y="275577"/>
                  </a:lnTo>
                  <a:lnTo>
                    <a:pt x="466369" y="273050"/>
                  </a:lnTo>
                  <a:lnTo>
                    <a:pt x="452361" y="271780"/>
                  </a:lnTo>
                  <a:lnTo>
                    <a:pt x="312585" y="271780"/>
                  </a:lnTo>
                  <a:lnTo>
                    <a:pt x="315417" y="273050"/>
                  </a:lnTo>
                  <a:lnTo>
                    <a:pt x="279171" y="273050"/>
                  </a:lnTo>
                  <a:lnTo>
                    <a:pt x="269151" y="271780"/>
                  </a:lnTo>
                  <a:lnTo>
                    <a:pt x="260108" y="271780"/>
                  </a:lnTo>
                  <a:lnTo>
                    <a:pt x="251383" y="273050"/>
                  </a:lnTo>
                  <a:lnTo>
                    <a:pt x="244043" y="275577"/>
                  </a:lnTo>
                  <a:lnTo>
                    <a:pt x="238925" y="276860"/>
                  </a:lnTo>
                  <a:lnTo>
                    <a:pt x="229730" y="278130"/>
                  </a:lnTo>
                  <a:lnTo>
                    <a:pt x="222338" y="276860"/>
                  </a:lnTo>
                  <a:lnTo>
                    <a:pt x="218592" y="274447"/>
                  </a:lnTo>
                  <a:lnTo>
                    <a:pt x="209257" y="275577"/>
                  </a:lnTo>
                  <a:lnTo>
                    <a:pt x="198374" y="278130"/>
                  </a:lnTo>
                  <a:lnTo>
                    <a:pt x="186702" y="280670"/>
                  </a:lnTo>
                  <a:lnTo>
                    <a:pt x="173291" y="280670"/>
                  </a:lnTo>
                  <a:lnTo>
                    <a:pt x="169049" y="279400"/>
                  </a:lnTo>
                  <a:lnTo>
                    <a:pt x="162013" y="279400"/>
                  </a:lnTo>
                  <a:lnTo>
                    <a:pt x="144018" y="281940"/>
                  </a:lnTo>
                  <a:lnTo>
                    <a:pt x="134861" y="284480"/>
                  </a:lnTo>
                  <a:lnTo>
                    <a:pt x="127076" y="285750"/>
                  </a:lnTo>
                  <a:lnTo>
                    <a:pt x="121500" y="285750"/>
                  </a:lnTo>
                  <a:lnTo>
                    <a:pt x="118986" y="284480"/>
                  </a:lnTo>
                  <a:lnTo>
                    <a:pt x="118846" y="284480"/>
                  </a:lnTo>
                  <a:lnTo>
                    <a:pt x="118986" y="283794"/>
                  </a:lnTo>
                  <a:lnTo>
                    <a:pt x="118643" y="284480"/>
                  </a:lnTo>
                  <a:lnTo>
                    <a:pt x="106235" y="284480"/>
                  </a:lnTo>
                  <a:lnTo>
                    <a:pt x="100101" y="285750"/>
                  </a:lnTo>
                  <a:lnTo>
                    <a:pt x="96799" y="287020"/>
                  </a:lnTo>
                  <a:lnTo>
                    <a:pt x="93967" y="287020"/>
                  </a:lnTo>
                  <a:lnTo>
                    <a:pt x="90652" y="288290"/>
                  </a:lnTo>
                  <a:lnTo>
                    <a:pt x="87820" y="288290"/>
                  </a:lnTo>
                  <a:lnTo>
                    <a:pt x="81216" y="290830"/>
                  </a:lnTo>
                  <a:lnTo>
                    <a:pt x="62560" y="295910"/>
                  </a:lnTo>
                  <a:lnTo>
                    <a:pt x="52793" y="298450"/>
                  </a:lnTo>
                  <a:lnTo>
                    <a:pt x="44640" y="300469"/>
                  </a:lnTo>
                  <a:lnTo>
                    <a:pt x="44856" y="300316"/>
                  </a:lnTo>
                  <a:lnTo>
                    <a:pt x="43916" y="300316"/>
                  </a:lnTo>
                  <a:lnTo>
                    <a:pt x="43472" y="300748"/>
                  </a:lnTo>
                  <a:lnTo>
                    <a:pt x="42494" y="300990"/>
                  </a:lnTo>
                  <a:lnTo>
                    <a:pt x="42875" y="299974"/>
                  </a:lnTo>
                  <a:lnTo>
                    <a:pt x="40601" y="300990"/>
                  </a:lnTo>
                  <a:lnTo>
                    <a:pt x="35877" y="304800"/>
                  </a:lnTo>
                  <a:lnTo>
                    <a:pt x="17462" y="321310"/>
                  </a:lnTo>
                  <a:lnTo>
                    <a:pt x="15113" y="323850"/>
                  </a:lnTo>
                  <a:lnTo>
                    <a:pt x="12268" y="326390"/>
                  </a:lnTo>
                  <a:lnTo>
                    <a:pt x="7556" y="331470"/>
                  </a:lnTo>
                  <a:lnTo>
                    <a:pt x="5664" y="334010"/>
                  </a:lnTo>
                  <a:lnTo>
                    <a:pt x="2362" y="339090"/>
                  </a:lnTo>
                  <a:lnTo>
                    <a:pt x="0" y="341630"/>
                  </a:lnTo>
                  <a:lnTo>
                    <a:pt x="12268" y="349250"/>
                  </a:lnTo>
                  <a:lnTo>
                    <a:pt x="23609" y="356870"/>
                  </a:lnTo>
                  <a:lnTo>
                    <a:pt x="41071" y="356870"/>
                  </a:lnTo>
                  <a:lnTo>
                    <a:pt x="46748" y="358140"/>
                  </a:lnTo>
                  <a:lnTo>
                    <a:pt x="58077" y="359410"/>
                  </a:lnTo>
                  <a:lnTo>
                    <a:pt x="62331" y="360680"/>
                  </a:lnTo>
                  <a:lnTo>
                    <a:pt x="70827" y="360680"/>
                  </a:lnTo>
                  <a:lnTo>
                    <a:pt x="74129" y="359410"/>
                  </a:lnTo>
                  <a:lnTo>
                    <a:pt x="81216" y="356870"/>
                  </a:lnTo>
                  <a:lnTo>
                    <a:pt x="86410" y="355600"/>
                  </a:lnTo>
                  <a:lnTo>
                    <a:pt x="94780" y="353060"/>
                  </a:lnTo>
                  <a:lnTo>
                    <a:pt x="104114" y="351790"/>
                  </a:lnTo>
                  <a:lnTo>
                    <a:pt x="114160" y="349250"/>
                  </a:lnTo>
                  <a:lnTo>
                    <a:pt x="124650" y="347980"/>
                  </a:lnTo>
                  <a:lnTo>
                    <a:pt x="131737" y="345440"/>
                  </a:lnTo>
                  <a:lnTo>
                    <a:pt x="139293" y="345440"/>
                  </a:lnTo>
                  <a:lnTo>
                    <a:pt x="145910" y="344170"/>
                  </a:lnTo>
                  <a:lnTo>
                    <a:pt x="152984" y="342900"/>
                  </a:lnTo>
                  <a:lnTo>
                    <a:pt x="159131" y="341630"/>
                  </a:lnTo>
                  <a:lnTo>
                    <a:pt x="176123" y="340360"/>
                  </a:lnTo>
                  <a:lnTo>
                    <a:pt x="198793" y="340360"/>
                  </a:lnTo>
                  <a:lnTo>
                    <a:pt x="206082" y="341630"/>
                  </a:lnTo>
                  <a:lnTo>
                    <a:pt x="214312" y="341630"/>
                  </a:lnTo>
                  <a:lnTo>
                    <a:pt x="281901" y="346710"/>
                  </a:lnTo>
                  <a:lnTo>
                    <a:pt x="403720" y="345440"/>
                  </a:lnTo>
                  <a:lnTo>
                    <a:pt x="525551" y="345440"/>
                  </a:lnTo>
                  <a:lnTo>
                    <a:pt x="543026" y="340360"/>
                  </a:lnTo>
                  <a:lnTo>
                    <a:pt x="580986" y="344170"/>
                  </a:lnTo>
                  <a:lnTo>
                    <a:pt x="621880" y="345440"/>
                  </a:lnTo>
                  <a:lnTo>
                    <a:pt x="663473" y="345440"/>
                  </a:lnTo>
                  <a:lnTo>
                    <a:pt x="703567" y="347980"/>
                  </a:lnTo>
                  <a:lnTo>
                    <a:pt x="704507" y="342900"/>
                  </a:lnTo>
                  <a:lnTo>
                    <a:pt x="719150" y="342900"/>
                  </a:lnTo>
                  <a:lnTo>
                    <a:pt x="718210" y="345440"/>
                  </a:lnTo>
                  <a:lnTo>
                    <a:pt x="721512" y="346710"/>
                  </a:lnTo>
                  <a:lnTo>
                    <a:pt x="772312" y="346710"/>
                  </a:lnTo>
                  <a:lnTo>
                    <a:pt x="874064" y="347980"/>
                  </a:lnTo>
                  <a:lnTo>
                    <a:pt x="974280" y="347980"/>
                  </a:lnTo>
                  <a:lnTo>
                    <a:pt x="1023175" y="350520"/>
                  </a:lnTo>
                  <a:lnTo>
                    <a:pt x="1070902" y="351790"/>
                  </a:lnTo>
                  <a:lnTo>
                    <a:pt x="1117206" y="354330"/>
                  </a:lnTo>
                  <a:lnTo>
                    <a:pt x="1129703" y="356870"/>
                  </a:lnTo>
                  <a:lnTo>
                    <a:pt x="1162494" y="359410"/>
                  </a:lnTo>
                  <a:lnTo>
                    <a:pt x="1173403" y="360680"/>
                  </a:lnTo>
                  <a:lnTo>
                    <a:pt x="1203439" y="358140"/>
                  </a:lnTo>
                  <a:lnTo>
                    <a:pt x="1233843" y="358140"/>
                  </a:lnTo>
                  <a:lnTo>
                    <a:pt x="1294282" y="360680"/>
                  </a:lnTo>
                  <a:lnTo>
                    <a:pt x="1312227" y="360680"/>
                  </a:lnTo>
                  <a:lnTo>
                    <a:pt x="1311757" y="361950"/>
                  </a:lnTo>
                  <a:lnTo>
                    <a:pt x="1329537" y="360680"/>
                  </a:lnTo>
                  <a:lnTo>
                    <a:pt x="1349883" y="361950"/>
                  </a:lnTo>
                  <a:lnTo>
                    <a:pt x="1371117" y="364490"/>
                  </a:lnTo>
                  <a:lnTo>
                    <a:pt x="1391551" y="365760"/>
                  </a:lnTo>
                  <a:lnTo>
                    <a:pt x="1390142" y="367030"/>
                  </a:lnTo>
                  <a:lnTo>
                    <a:pt x="1633588" y="373380"/>
                  </a:lnTo>
                  <a:lnTo>
                    <a:pt x="1778723" y="381000"/>
                  </a:lnTo>
                  <a:lnTo>
                    <a:pt x="1881517" y="391160"/>
                  </a:lnTo>
                  <a:lnTo>
                    <a:pt x="1938350" y="393700"/>
                  </a:lnTo>
                  <a:lnTo>
                    <a:pt x="1952955" y="394970"/>
                  </a:lnTo>
                  <a:lnTo>
                    <a:pt x="1967636" y="394970"/>
                  </a:lnTo>
                  <a:lnTo>
                    <a:pt x="1982317" y="396240"/>
                  </a:lnTo>
                  <a:lnTo>
                    <a:pt x="1996909" y="396240"/>
                  </a:lnTo>
                  <a:lnTo>
                    <a:pt x="2004339" y="397510"/>
                  </a:lnTo>
                  <a:lnTo>
                    <a:pt x="2019223" y="397510"/>
                  </a:lnTo>
                  <a:lnTo>
                    <a:pt x="2041296" y="400050"/>
                  </a:lnTo>
                  <a:lnTo>
                    <a:pt x="2048852" y="401320"/>
                  </a:lnTo>
                  <a:lnTo>
                    <a:pt x="2062543" y="402590"/>
                  </a:lnTo>
                  <a:lnTo>
                    <a:pt x="2072868" y="403860"/>
                  </a:lnTo>
                  <a:lnTo>
                    <a:pt x="2090928" y="406400"/>
                  </a:lnTo>
                  <a:lnTo>
                    <a:pt x="2115464" y="407670"/>
                  </a:lnTo>
                  <a:lnTo>
                    <a:pt x="2178380" y="412750"/>
                  </a:lnTo>
                  <a:lnTo>
                    <a:pt x="2191766" y="413232"/>
                  </a:lnTo>
                  <a:lnTo>
                    <a:pt x="2187676" y="416623"/>
                  </a:lnTo>
                  <a:lnTo>
                    <a:pt x="2188146" y="416623"/>
                  </a:lnTo>
                  <a:lnTo>
                    <a:pt x="2179180" y="417893"/>
                  </a:lnTo>
                  <a:lnTo>
                    <a:pt x="2181060" y="419163"/>
                  </a:lnTo>
                  <a:lnTo>
                    <a:pt x="2179650" y="422973"/>
                  </a:lnTo>
                  <a:lnTo>
                    <a:pt x="2177758" y="420433"/>
                  </a:lnTo>
                  <a:lnTo>
                    <a:pt x="2173503" y="422973"/>
                  </a:lnTo>
                  <a:lnTo>
                    <a:pt x="2168309" y="424243"/>
                  </a:lnTo>
                  <a:lnTo>
                    <a:pt x="2162645" y="422973"/>
                  </a:lnTo>
                  <a:lnTo>
                    <a:pt x="2165007" y="426783"/>
                  </a:lnTo>
                  <a:lnTo>
                    <a:pt x="2164067" y="426783"/>
                  </a:lnTo>
                  <a:lnTo>
                    <a:pt x="2158873" y="422973"/>
                  </a:lnTo>
                  <a:lnTo>
                    <a:pt x="2162175" y="428053"/>
                  </a:lnTo>
                  <a:lnTo>
                    <a:pt x="2161705" y="430593"/>
                  </a:lnTo>
                  <a:lnTo>
                    <a:pt x="2160282" y="430593"/>
                  </a:lnTo>
                  <a:lnTo>
                    <a:pt x="2161235" y="434403"/>
                  </a:lnTo>
                  <a:lnTo>
                    <a:pt x="2158403" y="433133"/>
                  </a:lnTo>
                  <a:lnTo>
                    <a:pt x="2154618" y="434403"/>
                  </a:lnTo>
                  <a:lnTo>
                    <a:pt x="2160765" y="436943"/>
                  </a:lnTo>
                  <a:lnTo>
                    <a:pt x="2156510" y="436943"/>
                  </a:lnTo>
                  <a:lnTo>
                    <a:pt x="2153678" y="434403"/>
                  </a:lnTo>
                  <a:lnTo>
                    <a:pt x="2158873" y="442023"/>
                  </a:lnTo>
                  <a:lnTo>
                    <a:pt x="2156980" y="442023"/>
                  </a:lnTo>
                  <a:lnTo>
                    <a:pt x="2151786" y="438213"/>
                  </a:lnTo>
                  <a:lnTo>
                    <a:pt x="2147062" y="436943"/>
                  </a:lnTo>
                  <a:lnTo>
                    <a:pt x="2150376" y="443293"/>
                  </a:lnTo>
                  <a:lnTo>
                    <a:pt x="2147062" y="445833"/>
                  </a:lnTo>
                  <a:lnTo>
                    <a:pt x="2143760" y="445833"/>
                  </a:lnTo>
                  <a:lnTo>
                    <a:pt x="2142337" y="444563"/>
                  </a:lnTo>
                  <a:lnTo>
                    <a:pt x="2140928" y="443293"/>
                  </a:lnTo>
                  <a:lnTo>
                    <a:pt x="2139505" y="442023"/>
                  </a:lnTo>
                  <a:lnTo>
                    <a:pt x="2139505" y="443293"/>
                  </a:lnTo>
                  <a:lnTo>
                    <a:pt x="2139289" y="442544"/>
                  </a:lnTo>
                  <a:lnTo>
                    <a:pt x="2139200" y="443293"/>
                  </a:lnTo>
                  <a:lnTo>
                    <a:pt x="2139035" y="444563"/>
                  </a:lnTo>
                  <a:lnTo>
                    <a:pt x="2137156" y="443293"/>
                  </a:lnTo>
                  <a:lnTo>
                    <a:pt x="2136203" y="440753"/>
                  </a:lnTo>
                  <a:lnTo>
                    <a:pt x="2132431" y="440753"/>
                  </a:lnTo>
                  <a:lnTo>
                    <a:pt x="2136203" y="443293"/>
                  </a:lnTo>
                  <a:lnTo>
                    <a:pt x="2134793" y="444563"/>
                  </a:lnTo>
                  <a:lnTo>
                    <a:pt x="2137156" y="448373"/>
                  </a:lnTo>
                  <a:lnTo>
                    <a:pt x="2141397" y="454723"/>
                  </a:lnTo>
                  <a:lnTo>
                    <a:pt x="2140928" y="454723"/>
                  </a:lnTo>
                  <a:lnTo>
                    <a:pt x="2142337" y="455993"/>
                  </a:lnTo>
                  <a:lnTo>
                    <a:pt x="2142337" y="458533"/>
                  </a:lnTo>
                  <a:lnTo>
                    <a:pt x="2141397" y="461073"/>
                  </a:lnTo>
                  <a:lnTo>
                    <a:pt x="2138565" y="459803"/>
                  </a:lnTo>
                  <a:lnTo>
                    <a:pt x="2137156" y="458533"/>
                  </a:lnTo>
                  <a:lnTo>
                    <a:pt x="2136203" y="461073"/>
                  </a:lnTo>
                  <a:lnTo>
                    <a:pt x="2134311" y="458533"/>
                  </a:lnTo>
                  <a:lnTo>
                    <a:pt x="2132431" y="461073"/>
                  </a:lnTo>
                  <a:lnTo>
                    <a:pt x="2133371" y="462343"/>
                  </a:lnTo>
                  <a:lnTo>
                    <a:pt x="2132901" y="463613"/>
                  </a:lnTo>
                  <a:lnTo>
                    <a:pt x="2131479" y="464883"/>
                  </a:lnTo>
                  <a:lnTo>
                    <a:pt x="2129599" y="464883"/>
                  </a:lnTo>
                  <a:lnTo>
                    <a:pt x="2128647" y="463613"/>
                  </a:lnTo>
                  <a:lnTo>
                    <a:pt x="2122043" y="462343"/>
                  </a:lnTo>
                  <a:lnTo>
                    <a:pt x="2123922" y="469963"/>
                  </a:lnTo>
                  <a:lnTo>
                    <a:pt x="2120620" y="472503"/>
                  </a:lnTo>
                  <a:lnTo>
                    <a:pt x="2118728" y="469963"/>
                  </a:lnTo>
                  <a:lnTo>
                    <a:pt x="2115426" y="468693"/>
                  </a:lnTo>
                  <a:lnTo>
                    <a:pt x="2121573" y="473773"/>
                  </a:lnTo>
                  <a:lnTo>
                    <a:pt x="2119211" y="473773"/>
                  </a:lnTo>
                  <a:lnTo>
                    <a:pt x="2116378" y="471233"/>
                  </a:lnTo>
                  <a:lnTo>
                    <a:pt x="2118728" y="476313"/>
                  </a:lnTo>
                  <a:lnTo>
                    <a:pt x="2114016" y="472503"/>
                  </a:lnTo>
                  <a:lnTo>
                    <a:pt x="2111654" y="471233"/>
                  </a:lnTo>
                  <a:lnTo>
                    <a:pt x="2115426" y="475043"/>
                  </a:lnTo>
                  <a:lnTo>
                    <a:pt x="2113064" y="476313"/>
                  </a:lnTo>
                  <a:lnTo>
                    <a:pt x="2110232" y="476313"/>
                  </a:lnTo>
                  <a:lnTo>
                    <a:pt x="2108339" y="473773"/>
                  </a:lnTo>
                  <a:lnTo>
                    <a:pt x="2107400" y="472503"/>
                  </a:lnTo>
                  <a:lnTo>
                    <a:pt x="2105990" y="469963"/>
                  </a:lnTo>
                  <a:lnTo>
                    <a:pt x="2107400" y="473773"/>
                  </a:lnTo>
                  <a:lnTo>
                    <a:pt x="2104097" y="471233"/>
                  </a:lnTo>
                  <a:lnTo>
                    <a:pt x="2106930" y="475043"/>
                  </a:lnTo>
                  <a:lnTo>
                    <a:pt x="2105507" y="473773"/>
                  </a:lnTo>
                  <a:lnTo>
                    <a:pt x="2102675" y="471233"/>
                  </a:lnTo>
                  <a:lnTo>
                    <a:pt x="2102675" y="473773"/>
                  </a:lnTo>
                  <a:lnTo>
                    <a:pt x="2101265" y="472503"/>
                  </a:lnTo>
                  <a:lnTo>
                    <a:pt x="2099843" y="472503"/>
                  </a:lnTo>
                  <a:lnTo>
                    <a:pt x="2101735" y="478853"/>
                  </a:lnTo>
                  <a:lnTo>
                    <a:pt x="2101265" y="475043"/>
                  </a:lnTo>
                  <a:lnTo>
                    <a:pt x="2105507" y="480123"/>
                  </a:lnTo>
                  <a:lnTo>
                    <a:pt x="2107400" y="485203"/>
                  </a:lnTo>
                  <a:lnTo>
                    <a:pt x="2105825" y="483933"/>
                  </a:lnTo>
                  <a:lnTo>
                    <a:pt x="2102675" y="481393"/>
                  </a:lnTo>
                  <a:lnTo>
                    <a:pt x="2102675" y="483933"/>
                  </a:lnTo>
                  <a:lnTo>
                    <a:pt x="2102205" y="481393"/>
                  </a:lnTo>
                  <a:lnTo>
                    <a:pt x="2101265" y="485203"/>
                  </a:lnTo>
                  <a:lnTo>
                    <a:pt x="2099373" y="482663"/>
                  </a:lnTo>
                  <a:lnTo>
                    <a:pt x="2097011" y="482663"/>
                  </a:lnTo>
                  <a:lnTo>
                    <a:pt x="2098433" y="483933"/>
                  </a:lnTo>
                  <a:lnTo>
                    <a:pt x="2099843" y="483933"/>
                  </a:lnTo>
                  <a:lnTo>
                    <a:pt x="2099843" y="485203"/>
                  </a:lnTo>
                  <a:lnTo>
                    <a:pt x="2099373" y="486473"/>
                  </a:lnTo>
                  <a:lnTo>
                    <a:pt x="2097951" y="483933"/>
                  </a:lnTo>
                  <a:lnTo>
                    <a:pt x="2097011" y="483933"/>
                  </a:lnTo>
                  <a:lnTo>
                    <a:pt x="2099843" y="487743"/>
                  </a:lnTo>
                  <a:lnTo>
                    <a:pt x="2100313" y="491553"/>
                  </a:lnTo>
                  <a:lnTo>
                    <a:pt x="2097481" y="490283"/>
                  </a:lnTo>
                  <a:lnTo>
                    <a:pt x="2096541" y="489013"/>
                  </a:lnTo>
                  <a:lnTo>
                    <a:pt x="2096541" y="490283"/>
                  </a:lnTo>
                  <a:lnTo>
                    <a:pt x="2097481" y="491553"/>
                  </a:lnTo>
                  <a:lnTo>
                    <a:pt x="2096071" y="490283"/>
                  </a:lnTo>
                  <a:lnTo>
                    <a:pt x="2093239" y="486473"/>
                  </a:lnTo>
                  <a:lnTo>
                    <a:pt x="2095601" y="491553"/>
                  </a:lnTo>
                  <a:lnTo>
                    <a:pt x="2094179" y="490283"/>
                  </a:lnTo>
                  <a:lnTo>
                    <a:pt x="2095601" y="494093"/>
                  </a:lnTo>
                  <a:lnTo>
                    <a:pt x="2093239" y="491553"/>
                  </a:lnTo>
                  <a:lnTo>
                    <a:pt x="2092756" y="490283"/>
                  </a:lnTo>
                  <a:lnTo>
                    <a:pt x="2086622" y="494093"/>
                  </a:lnTo>
                  <a:lnTo>
                    <a:pt x="2083790" y="491553"/>
                  </a:lnTo>
                  <a:lnTo>
                    <a:pt x="2087092" y="496633"/>
                  </a:lnTo>
                  <a:lnTo>
                    <a:pt x="2079536" y="492823"/>
                  </a:lnTo>
                  <a:lnTo>
                    <a:pt x="2084260" y="497903"/>
                  </a:lnTo>
                  <a:lnTo>
                    <a:pt x="2080488" y="496633"/>
                  </a:lnTo>
                  <a:lnTo>
                    <a:pt x="2081898" y="504253"/>
                  </a:lnTo>
                  <a:lnTo>
                    <a:pt x="2077186" y="497903"/>
                  </a:lnTo>
                  <a:lnTo>
                    <a:pt x="2073402" y="500443"/>
                  </a:lnTo>
                  <a:lnTo>
                    <a:pt x="2076234" y="508063"/>
                  </a:lnTo>
                  <a:lnTo>
                    <a:pt x="2069630" y="509333"/>
                  </a:lnTo>
                  <a:lnTo>
                    <a:pt x="2063483" y="505523"/>
                  </a:lnTo>
                  <a:lnTo>
                    <a:pt x="2060651" y="510603"/>
                  </a:lnTo>
                  <a:lnTo>
                    <a:pt x="2057819" y="513143"/>
                  </a:lnTo>
                  <a:lnTo>
                    <a:pt x="2054517" y="520763"/>
                  </a:lnTo>
                  <a:lnTo>
                    <a:pt x="2052624" y="525843"/>
                  </a:lnTo>
                  <a:lnTo>
                    <a:pt x="2048852" y="532193"/>
                  </a:lnTo>
                  <a:lnTo>
                    <a:pt x="2043671" y="532193"/>
                  </a:lnTo>
                  <a:lnTo>
                    <a:pt x="2041410" y="536003"/>
                  </a:lnTo>
                  <a:lnTo>
                    <a:pt x="2039683" y="541083"/>
                  </a:lnTo>
                  <a:lnTo>
                    <a:pt x="2036102" y="542353"/>
                  </a:lnTo>
                  <a:lnTo>
                    <a:pt x="2037994" y="546163"/>
                  </a:lnTo>
                  <a:lnTo>
                    <a:pt x="2031377" y="543623"/>
                  </a:lnTo>
                  <a:lnTo>
                    <a:pt x="2033270" y="552513"/>
                  </a:lnTo>
                  <a:lnTo>
                    <a:pt x="2026183" y="551243"/>
                  </a:lnTo>
                  <a:lnTo>
                    <a:pt x="2026653" y="553783"/>
                  </a:lnTo>
                  <a:lnTo>
                    <a:pt x="2026653" y="555053"/>
                  </a:lnTo>
                  <a:lnTo>
                    <a:pt x="2027605" y="555053"/>
                  </a:lnTo>
                  <a:lnTo>
                    <a:pt x="2029485" y="556323"/>
                  </a:lnTo>
                  <a:lnTo>
                    <a:pt x="2027605" y="556323"/>
                  </a:lnTo>
                  <a:lnTo>
                    <a:pt x="2027123" y="560133"/>
                  </a:lnTo>
                  <a:lnTo>
                    <a:pt x="2020519" y="552513"/>
                  </a:lnTo>
                  <a:lnTo>
                    <a:pt x="2022881" y="560133"/>
                  </a:lnTo>
                  <a:lnTo>
                    <a:pt x="2018626" y="558863"/>
                  </a:lnTo>
                  <a:lnTo>
                    <a:pt x="2022881" y="561403"/>
                  </a:lnTo>
                  <a:lnTo>
                    <a:pt x="2020519" y="562673"/>
                  </a:lnTo>
                  <a:lnTo>
                    <a:pt x="2020049" y="562673"/>
                  </a:lnTo>
                  <a:lnTo>
                    <a:pt x="2018245" y="570293"/>
                  </a:lnTo>
                  <a:lnTo>
                    <a:pt x="2008619" y="577913"/>
                  </a:lnTo>
                  <a:lnTo>
                    <a:pt x="2006828" y="584263"/>
                  </a:lnTo>
                  <a:lnTo>
                    <a:pt x="2003513" y="580453"/>
                  </a:lnTo>
                  <a:lnTo>
                    <a:pt x="2007768" y="588073"/>
                  </a:lnTo>
                  <a:lnTo>
                    <a:pt x="2003044" y="584263"/>
                  </a:lnTo>
                  <a:lnTo>
                    <a:pt x="1995957" y="581723"/>
                  </a:lnTo>
                  <a:lnTo>
                    <a:pt x="2001151" y="589343"/>
                  </a:lnTo>
                  <a:lnTo>
                    <a:pt x="2001151" y="591883"/>
                  </a:lnTo>
                  <a:lnTo>
                    <a:pt x="2002104" y="593153"/>
                  </a:lnTo>
                  <a:lnTo>
                    <a:pt x="1999272" y="595693"/>
                  </a:lnTo>
                  <a:lnTo>
                    <a:pt x="1997862" y="593153"/>
                  </a:lnTo>
                  <a:lnTo>
                    <a:pt x="1998675" y="595693"/>
                  </a:lnTo>
                  <a:lnTo>
                    <a:pt x="1992058" y="599503"/>
                  </a:lnTo>
                  <a:lnTo>
                    <a:pt x="1986699" y="605853"/>
                  </a:lnTo>
                  <a:lnTo>
                    <a:pt x="1981593" y="613473"/>
                  </a:lnTo>
                  <a:lnTo>
                    <a:pt x="1975662" y="618553"/>
                  </a:lnTo>
                  <a:lnTo>
                    <a:pt x="1977542" y="619823"/>
                  </a:lnTo>
                  <a:lnTo>
                    <a:pt x="1975662" y="621093"/>
                  </a:lnTo>
                  <a:lnTo>
                    <a:pt x="1975192" y="626173"/>
                  </a:lnTo>
                  <a:lnTo>
                    <a:pt x="1967636" y="624903"/>
                  </a:lnTo>
                  <a:lnTo>
                    <a:pt x="1972348" y="632523"/>
                  </a:lnTo>
                  <a:lnTo>
                    <a:pt x="1971878" y="632523"/>
                  </a:lnTo>
                  <a:lnTo>
                    <a:pt x="1972830" y="636333"/>
                  </a:lnTo>
                  <a:lnTo>
                    <a:pt x="1967115" y="635165"/>
                  </a:lnTo>
                  <a:lnTo>
                    <a:pt x="1966683" y="636333"/>
                  </a:lnTo>
                  <a:lnTo>
                    <a:pt x="1970468" y="642683"/>
                  </a:lnTo>
                  <a:lnTo>
                    <a:pt x="1966214" y="643953"/>
                  </a:lnTo>
                  <a:lnTo>
                    <a:pt x="1963585" y="643953"/>
                  </a:lnTo>
                  <a:lnTo>
                    <a:pt x="1962912" y="647763"/>
                  </a:lnTo>
                  <a:lnTo>
                    <a:pt x="1962226" y="650303"/>
                  </a:lnTo>
                  <a:lnTo>
                    <a:pt x="1960079" y="650303"/>
                  </a:lnTo>
                  <a:lnTo>
                    <a:pt x="1953463" y="651573"/>
                  </a:lnTo>
                  <a:lnTo>
                    <a:pt x="1957717" y="659193"/>
                  </a:lnTo>
                  <a:lnTo>
                    <a:pt x="1951278" y="660425"/>
                  </a:lnTo>
                  <a:lnTo>
                    <a:pt x="1961959" y="680783"/>
                  </a:lnTo>
                  <a:lnTo>
                    <a:pt x="1982736" y="693483"/>
                  </a:lnTo>
                  <a:lnTo>
                    <a:pt x="2003044" y="698563"/>
                  </a:lnTo>
                  <a:lnTo>
                    <a:pt x="2007768" y="688403"/>
                  </a:lnTo>
                  <a:lnTo>
                    <a:pt x="2010130" y="684593"/>
                  </a:lnTo>
                  <a:lnTo>
                    <a:pt x="2012962" y="678243"/>
                  </a:lnTo>
                  <a:lnTo>
                    <a:pt x="2029485" y="670623"/>
                  </a:lnTo>
                  <a:lnTo>
                    <a:pt x="2030907" y="668083"/>
                  </a:lnTo>
                  <a:lnTo>
                    <a:pt x="2035632" y="661733"/>
                  </a:lnTo>
                  <a:lnTo>
                    <a:pt x="2038934" y="657923"/>
                  </a:lnTo>
                  <a:lnTo>
                    <a:pt x="2041766" y="654113"/>
                  </a:lnTo>
                  <a:lnTo>
                    <a:pt x="2045068" y="649033"/>
                  </a:lnTo>
                  <a:lnTo>
                    <a:pt x="2047900" y="645223"/>
                  </a:lnTo>
                  <a:lnTo>
                    <a:pt x="2052624" y="640143"/>
                  </a:lnTo>
                  <a:lnTo>
                    <a:pt x="2054517" y="637603"/>
                  </a:lnTo>
                  <a:lnTo>
                    <a:pt x="2054136" y="636333"/>
                  </a:lnTo>
                  <a:lnTo>
                    <a:pt x="2052624" y="631253"/>
                  </a:lnTo>
                  <a:lnTo>
                    <a:pt x="2059952" y="629983"/>
                  </a:lnTo>
                  <a:lnTo>
                    <a:pt x="2062670" y="626173"/>
                  </a:lnTo>
                  <a:lnTo>
                    <a:pt x="2064486" y="623633"/>
                  </a:lnTo>
                  <a:lnTo>
                    <a:pt x="2068766" y="618553"/>
                  </a:lnTo>
                  <a:lnTo>
                    <a:pt x="2075294" y="614743"/>
                  </a:lnTo>
                  <a:lnTo>
                    <a:pt x="2071992" y="612203"/>
                  </a:lnTo>
                  <a:lnTo>
                    <a:pt x="2073402" y="609663"/>
                  </a:lnTo>
                  <a:lnTo>
                    <a:pt x="2075294" y="612203"/>
                  </a:lnTo>
                  <a:lnTo>
                    <a:pt x="2076704" y="612203"/>
                  </a:lnTo>
                  <a:lnTo>
                    <a:pt x="2078697" y="609663"/>
                  </a:lnTo>
                  <a:lnTo>
                    <a:pt x="2088654" y="596963"/>
                  </a:lnTo>
                  <a:lnTo>
                    <a:pt x="2089632" y="595693"/>
                  </a:lnTo>
                  <a:lnTo>
                    <a:pt x="2095538" y="588073"/>
                  </a:lnTo>
                  <a:lnTo>
                    <a:pt x="2098484" y="584263"/>
                  </a:lnTo>
                  <a:lnTo>
                    <a:pt x="2110105" y="572833"/>
                  </a:lnTo>
                  <a:lnTo>
                    <a:pt x="2123452" y="562673"/>
                  </a:lnTo>
                  <a:lnTo>
                    <a:pt x="2126754" y="563943"/>
                  </a:lnTo>
                  <a:lnTo>
                    <a:pt x="2129244" y="560133"/>
                  </a:lnTo>
                  <a:lnTo>
                    <a:pt x="2130069" y="558863"/>
                  </a:lnTo>
                  <a:lnTo>
                    <a:pt x="2133371" y="560133"/>
                  </a:lnTo>
                  <a:lnTo>
                    <a:pt x="2133511" y="558863"/>
                  </a:lnTo>
                  <a:lnTo>
                    <a:pt x="2134184" y="552513"/>
                  </a:lnTo>
                  <a:lnTo>
                    <a:pt x="2134311" y="551243"/>
                  </a:lnTo>
                  <a:lnTo>
                    <a:pt x="2139505" y="546163"/>
                  </a:lnTo>
                  <a:lnTo>
                    <a:pt x="2145182" y="542353"/>
                  </a:lnTo>
                  <a:lnTo>
                    <a:pt x="2147062" y="539813"/>
                  </a:lnTo>
                  <a:lnTo>
                    <a:pt x="2148014" y="539813"/>
                  </a:lnTo>
                  <a:lnTo>
                    <a:pt x="2148014" y="534733"/>
                  </a:lnTo>
                  <a:lnTo>
                    <a:pt x="2155088" y="534733"/>
                  </a:lnTo>
                  <a:lnTo>
                    <a:pt x="2159343" y="533463"/>
                  </a:lnTo>
                  <a:lnTo>
                    <a:pt x="2173173" y="520763"/>
                  </a:lnTo>
                  <a:lnTo>
                    <a:pt x="2183739" y="509333"/>
                  </a:lnTo>
                  <a:lnTo>
                    <a:pt x="2186076" y="506793"/>
                  </a:lnTo>
                  <a:lnTo>
                    <a:pt x="2188819" y="504253"/>
                  </a:lnTo>
                  <a:lnTo>
                    <a:pt x="2195665" y="497903"/>
                  </a:lnTo>
                  <a:lnTo>
                    <a:pt x="2197036" y="496633"/>
                  </a:lnTo>
                  <a:lnTo>
                    <a:pt x="2199779" y="494093"/>
                  </a:lnTo>
                  <a:lnTo>
                    <a:pt x="2204415" y="491553"/>
                  </a:lnTo>
                  <a:lnTo>
                    <a:pt x="2213686" y="486473"/>
                  </a:lnTo>
                  <a:lnTo>
                    <a:pt x="2216010" y="485203"/>
                  </a:lnTo>
                  <a:lnTo>
                    <a:pt x="2223084" y="483933"/>
                  </a:lnTo>
                  <a:lnTo>
                    <a:pt x="2227808" y="480123"/>
                  </a:lnTo>
                  <a:lnTo>
                    <a:pt x="2230996" y="476313"/>
                  </a:lnTo>
                  <a:lnTo>
                    <a:pt x="2232063" y="475043"/>
                  </a:lnTo>
                  <a:lnTo>
                    <a:pt x="2233244" y="473773"/>
                  </a:lnTo>
                  <a:lnTo>
                    <a:pt x="2234425" y="472503"/>
                  </a:lnTo>
                  <a:lnTo>
                    <a:pt x="2241499" y="464883"/>
                  </a:lnTo>
                  <a:lnTo>
                    <a:pt x="2270785" y="442023"/>
                  </a:lnTo>
                  <a:lnTo>
                    <a:pt x="2271725" y="440753"/>
                  </a:lnTo>
                  <a:lnTo>
                    <a:pt x="2266061" y="438213"/>
                  </a:lnTo>
                  <a:lnTo>
                    <a:pt x="2267813" y="436943"/>
                  </a:lnTo>
                  <a:lnTo>
                    <a:pt x="2271331" y="434403"/>
                  </a:lnTo>
                  <a:lnTo>
                    <a:pt x="2276386" y="431863"/>
                  </a:lnTo>
                  <a:lnTo>
                    <a:pt x="2280996" y="428053"/>
                  </a:lnTo>
                  <a:lnTo>
                    <a:pt x="2282317" y="426783"/>
                  </a:lnTo>
                  <a:lnTo>
                    <a:pt x="2284946" y="424243"/>
                  </a:lnTo>
                  <a:lnTo>
                    <a:pt x="2285415" y="425513"/>
                  </a:lnTo>
                  <a:lnTo>
                    <a:pt x="2285796" y="424243"/>
                  </a:lnTo>
                  <a:lnTo>
                    <a:pt x="2285962" y="422973"/>
                  </a:lnTo>
                  <a:lnTo>
                    <a:pt x="2286139" y="421703"/>
                  </a:lnTo>
                  <a:lnTo>
                    <a:pt x="2286304" y="420433"/>
                  </a:lnTo>
                  <a:lnTo>
                    <a:pt x="2290267" y="419163"/>
                  </a:lnTo>
                  <a:lnTo>
                    <a:pt x="2300998" y="420433"/>
                  </a:lnTo>
                  <a:lnTo>
                    <a:pt x="2301951" y="420433"/>
                  </a:lnTo>
                  <a:lnTo>
                    <a:pt x="2301633" y="420014"/>
                  </a:lnTo>
                  <a:lnTo>
                    <a:pt x="2299106" y="419163"/>
                  </a:lnTo>
                  <a:lnTo>
                    <a:pt x="2299589" y="416623"/>
                  </a:lnTo>
                  <a:lnTo>
                    <a:pt x="2299106" y="414083"/>
                  </a:lnTo>
                  <a:lnTo>
                    <a:pt x="2300528" y="412813"/>
                  </a:lnTo>
                  <a:lnTo>
                    <a:pt x="2302421" y="414083"/>
                  </a:lnTo>
                  <a:lnTo>
                    <a:pt x="2304072" y="412813"/>
                  </a:lnTo>
                  <a:lnTo>
                    <a:pt x="2305723" y="411543"/>
                  </a:lnTo>
                  <a:lnTo>
                    <a:pt x="2309025" y="414083"/>
                  </a:lnTo>
                  <a:lnTo>
                    <a:pt x="2309025" y="411543"/>
                  </a:lnTo>
                  <a:lnTo>
                    <a:pt x="2304300" y="405193"/>
                  </a:lnTo>
                  <a:lnTo>
                    <a:pt x="2309977" y="406463"/>
                  </a:lnTo>
                  <a:lnTo>
                    <a:pt x="2308555" y="405193"/>
                  </a:lnTo>
                  <a:lnTo>
                    <a:pt x="2305723" y="402653"/>
                  </a:lnTo>
                  <a:lnTo>
                    <a:pt x="2309152" y="402653"/>
                  </a:lnTo>
                  <a:lnTo>
                    <a:pt x="2308555" y="403263"/>
                  </a:lnTo>
                  <a:lnTo>
                    <a:pt x="2309025" y="403263"/>
                  </a:lnTo>
                  <a:lnTo>
                    <a:pt x="2310447" y="403733"/>
                  </a:lnTo>
                  <a:lnTo>
                    <a:pt x="2310917" y="404202"/>
                  </a:lnTo>
                  <a:lnTo>
                    <a:pt x="2311857" y="403733"/>
                  </a:lnTo>
                  <a:lnTo>
                    <a:pt x="2310917" y="403263"/>
                  </a:lnTo>
                  <a:lnTo>
                    <a:pt x="2309977" y="402653"/>
                  </a:lnTo>
                  <a:lnTo>
                    <a:pt x="2309495" y="402018"/>
                  </a:lnTo>
                  <a:lnTo>
                    <a:pt x="2310447" y="402653"/>
                  </a:lnTo>
                  <a:lnTo>
                    <a:pt x="2311857" y="400113"/>
                  </a:lnTo>
                  <a:lnTo>
                    <a:pt x="2315172" y="397573"/>
                  </a:lnTo>
                  <a:close/>
                </a:path>
              </a:pathLst>
            </a:custGeom>
            <a:solidFill>
              <a:srgbClr val="E7181F"/>
            </a:solidFill>
          </p:spPr>
          <p:txBody>
            <a:bodyPr wrap="square" lIns="0" tIns="0" rIns="0" bIns="0" rtlCol="0"/>
            <a:lstStyle/>
            <a:p>
              <a:endParaRPr/>
            </a:p>
          </p:txBody>
        </p:sp>
        <p:pic>
          <p:nvPicPr>
            <p:cNvPr id="7" name="object 7"/>
            <p:cNvPicPr/>
            <p:nvPr/>
          </p:nvPicPr>
          <p:blipFill>
            <a:blip r:embed="rId4" cstate="print"/>
            <a:stretch>
              <a:fillRect/>
            </a:stretch>
          </p:blipFill>
          <p:spPr>
            <a:xfrm>
              <a:off x="5350221" y="5034533"/>
              <a:ext cx="3223528" cy="1562099"/>
            </a:xfrm>
            <a:prstGeom prst="rect">
              <a:avLst/>
            </a:prstGeom>
          </p:spPr>
        </p:pic>
      </p:grpSp>
      <p:sp>
        <p:nvSpPr>
          <p:cNvPr id="8" name="object 8"/>
          <p:cNvSpPr txBox="1"/>
          <p:nvPr/>
        </p:nvSpPr>
        <p:spPr>
          <a:xfrm>
            <a:off x="5928834" y="5581668"/>
            <a:ext cx="1447800" cy="389890"/>
          </a:xfrm>
          <a:prstGeom prst="rect">
            <a:avLst/>
          </a:prstGeom>
        </p:spPr>
        <p:txBody>
          <a:bodyPr vert="horz" wrap="square" lIns="0" tIns="11430" rIns="0" bIns="0" rtlCol="0">
            <a:spAutoFit/>
          </a:bodyPr>
          <a:lstStyle/>
          <a:p>
            <a:pPr marL="12700">
              <a:lnSpc>
                <a:spcPct val="100000"/>
              </a:lnSpc>
              <a:spcBef>
                <a:spcPts val="90"/>
              </a:spcBef>
            </a:pPr>
            <a:r>
              <a:rPr sz="2400" b="1" spc="85" dirty="0">
                <a:solidFill>
                  <a:srgbClr val="E7181F"/>
                </a:solidFill>
                <a:latin typeface="Times New Roman"/>
                <a:cs typeface="Times New Roman"/>
              </a:rPr>
              <a:t>Scheduler</a:t>
            </a:r>
            <a:endParaRPr sz="2400" dirty="0">
              <a:latin typeface="Times New Roman"/>
              <a:cs typeface="Times New Roman"/>
            </a:endParaRPr>
          </a:p>
        </p:txBody>
      </p:sp>
      <p:grpSp>
        <p:nvGrpSpPr>
          <p:cNvPr id="9" name="object 9"/>
          <p:cNvGrpSpPr/>
          <p:nvPr/>
        </p:nvGrpSpPr>
        <p:grpSpPr>
          <a:xfrm>
            <a:off x="6970803" y="3036182"/>
            <a:ext cx="10285730" cy="6499225"/>
            <a:chOff x="6970803" y="3036182"/>
            <a:chExt cx="10285730" cy="6499225"/>
          </a:xfrm>
        </p:grpSpPr>
        <p:pic>
          <p:nvPicPr>
            <p:cNvPr id="10" name="object 10"/>
            <p:cNvPicPr/>
            <p:nvPr/>
          </p:nvPicPr>
          <p:blipFill>
            <a:blip r:embed="rId5" cstate="print"/>
            <a:stretch>
              <a:fillRect/>
            </a:stretch>
          </p:blipFill>
          <p:spPr>
            <a:xfrm>
              <a:off x="6970803" y="3036182"/>
              <a:ext cx="597718" cy="1990496"/>
            </a:xfrm>
            <a:prstGeom prst="rect">
              <a:avLst/>
            </a:prstGeom>
          </p:spPr>
        </p:pic>
        <p:sp>
          <p:nvSpPr>
            <p:cNvPr id="11" name="object 11"/>
            <p:cNvSpPr/>
            <p:nvPr/>
          </p:nvSpPr>
          <p:spPr>
            <a:xfrm>
              <a:off x="10315574" y="4183565"/>
              <a:ext cx="6940550" cy="5351780"/>
            </a:xfrm>
            <a:custGeom>
              <a:avLst/>
              <a:gdLst/>
              <a:ahLst/>
              <a:cxnLst/>
              <a:rect l="l" t="t" r="r" b="b"/>
              <a:pathLst>
                <a:path w="6940550" h="5351780">
                  <a:moveTo>
                    <a:pt x="6940471" y="5351688"/>
                  </a:moveTo>
                  <a:lnTo>
                    <a:pt x="0" y="5351688"/>
                  </a:lnTo>
                  <a:lnTo>
                    <a:pt x="0" y="0"/>
                  </a:lnTo>
                  <a:lnTo>
                    <a:pt x="6940471" y="0"/>
                  </a:lnTo>
                  <a:lnTo>
                    <a:pt x="6940471" y="5351688"/>
                  </a:lnTo>
                  <a:close/>
                </a:path>
              </a:pathLst>
            </a:custGeom>
            <a:solidFill>
              <a:srgbClr val="FFDE58"/>
            </a:solidFill>
          </p:spPr>
          <p:txBody>
            <a:bodyPr wrap="square" lIns="0" tIns="0" rIns="0" bIns="0" rtlCol="0"/>
            <a:lstStyle/>
            <a:p>
              <a:endParaRPr/>
            </a:p>
          </p:txBody>
        </p:sp>
        <p:sp>
          <p:nvSpPr>
            <p:cNvPr id="12" name="object 12"/>
            <p:cNvSpPr/>
            <p:nvPr/>
          </p:nvSpPr>
          <p:spPr>
            <a:xfrm>
              <a:off x="10458449" y="4346851"/>
              <a:ext cx="6669405" cy="5066030"/>
            </a:xfrm>
            <a:custGeom>
              <a:avLst/>
              <a:gdLst/>
              <a:ahLst/>
              <a:cxnLst/>
              <a:rect l="l" t="t" r="r" b="b"/>
              <a:pathLst>
                <a:path w="6669405" h="5066030">
                  <a:moveTo>
                    <a:pt x="6668833" y="5065938"/>
                  </a:moveTo>
                  <a:lnTo>
                    <a:pt x="0" y="5065938"/>
                  </a:lnTo>
                  <a:lnTo>
                    <a:pt x="0" y="0"/>
                  </a:lnTo>
                  <a:lnTo>
                    <a:pt x="6668833" y="0"/>
                  </a:lnTo>
                  <a:lnTo>
                    <a:pt x="6668833" y="5065938"/>
                  </a:lnTo>
                  <a:close/>
                </a:path>
              </a:pathLst>
            </a:custGeom>
            <a:solidFill>
              <a:srgbClr val="FFFFFF"/>
            </a:solidFill>
          </p:spPr>
          <p:txBody>
            <a:bodyPr wrap="square" lIns="0" tIns="0" rIns="0" bIns="0" rtlCol="0"/>
            <a:lstStyle/>
            <a:p>
              <a:endParaRPr/>
            </a:p>
          </p:txBody>
        </p:sp>
        <p:pic>
          <p:nvPicPr>
            <p:cNvPr id="13" name="object 13"/>
            <p:cNvPicPr/>
            <p:nvPr/>
          </p:nvPicPr>
          <p:blipFill>
            <a:blip r:embed="rId6" cstate="print"/>
            <a:stretch>
              <a:fillRect/>
            </a:stretch>
          </p:blipFill>
          <p:spPr>
            <a:xfrm>
              <a:off x="11436685" y="5100140"/>
              <a:ext cx="2305049" cy="1504949"/>
            </a:xfrm>
            <a:prstGeom prst="rect">
              <a:avLst/>
            </a:prstGeom>
          </p:spPr>
        </p:pic>
      </p:grpSp>
      <p:sp>
        <p:nvSpPr>
          <p:cNvPr id="14" name="object 14"/>
          <p:cNvSpPr txBox="1"/>
          <p:nvPr/>
        </p:nvSpPr>
        <p:spPr>
          <a:xfrm>
            <a:off x="10458449" y="5621488"/>
            <a:ext cx="6669405" cy="389890"/>
          </a:xfrm>
          <a:prstGeom prst="rect">
            <a:avLst/>
          </a:prstGeom>
        </p:spPr>
        <p:txBody>
          <a:bodyPr vert="horz" wrap="square" lIns="0" tIns="11430" rIns="0" bIns="0" rtlCol="0">
            <a:spAutoFit/>
          </a:bodyPr>
          <a:lstStyle/>
          <a:p>
            <a:pPr marL="1583055">
              <a:lnSpc>
                <a:spcPct val="100000"/>
              </a:lnSpc>
              <a:spcBef>
                <a:spcPts val="90"/>
              </a:spcBef>
            </a:pPr>
            <a:r>
              <a:rPr sz="2400" b="1" spc="45" dirty="0">
                <a:solidFill>
                  <a:srgbClr val="E7181F"/>
                </a:solidFill>
                <a:latin typeface="Times New Roman"/>
                <a:cs typeface="Times New Roman"/>
              </a:rPr>
              <a:t>Kubelet</a:t>
            </a:r>
            <a:endParaRPr sz="2400" dirty="0">
              <a:latin typeface="Times New Roman"/>
              <a:cs typeface="Times New Roman"/>
            </a:endParaRPr>
          </a:p>
        </p:txBody>
      </p:sp>
      <p:pic>
        <p:nvPicPr>
          <p:cNvPr id="15" name="object 15"/>
          <p:cNvPicPr/>
          <p:nvPr/>
        </p:nvPicPr>
        <p:blipFill>
          <a:blip r:embed="rId7" cstate="print"/>
          <a:stretch>
            <a:fillRect/>
          </a:stretch>
        </p:blipFill>
        <p:spPr>
          <a:xfrm>
            <a:off x="1781970" y="547401"/>
            <a:ext cx="231775" cy="368300"/>
          </a:xfrm>
          <a:prstGeom prst="rect">
            <a:avLst/>
          </a:prstGeom>
        </p:spPr>
      </p:pic>
      <p:grpSp>
        <p:nvGrpSpPr>
          <p:cNvPr id="16" name="object 16"/>
          <p:cNvGrpSpPr/>
          <p:nvPr/>
        </p:nvGrpSpPr>
        <p:grpSpPr>
          <a:xfrm>
            <a:off x="7531148" y="454215"/>
            <a:ext cx="8531225" cy="5829300"/>
            <a:chOff x="7531148" y="454215"/>
            <a:chExt cx="8531225" cy="5829300"/>
          </a:xfrm>
        </p:grpSpPr>
        <p:sp>
          <p:nvSpPr>
            <p:cNvPr id="17" name="object 17"/>
            <p:cNvSpPr/>
            <p:nvPr/>
          </p:nvSpPr>
          <p:spPr>
            <a:xfrm>
              <a:off x="8285933" y="5761426"/>
              <a:ext cx="3368040" cy="0"/>
            </a:xfrm>
            <a:custGeom>
              <a:avLst/>
              <a:gdLst/>
              <a:ahLst/>
              <a:cxnLst/>
              <a:rect l="l" t="t" r="r" b="b"/>
              <a:pathLst>
                <a:path w="3368040">
                  <a:moveTo>
                    <a:pt x="0" y="0"/>
                  </a:moveTo>
                  <a:lnTo>
                    <a:pt x="3367780" y="0"/>
                  </a:lnTo>
                </a:path>
              </a:pathLst>
            </a:custGeom>
            <a:ln w="104774">
              <a:solidFill>
                <a:srgbClr val="E7181F"/>
              </a:solidFill>
            </a:ln>
          </p:spPr>
          <p:txBody>
            <a:bodyPr wrap="square" lIns="0" tIns="0" rIns="0" bIns="0" rtlCol="0"/>
            <a:lstStyle/>
            <a:p>
              <a:endParaRPr/>
            </a:p>
          </p:txBody>
        </p:sp>
        <p:sp>
          <p:nvSpPr>
            <p:cNvPr id="18" name="object 18"/>
            <p:cNvSpPr/>
            <p:nvPr/>
          </p:nvSpPr>
          <p:spPr>
            <a:xfrm>
              <a:off x="11444164" y="5604264"/>
              <a:ext cx="209550" cy="314325"/>
            </a:xfrm>
            <a:custGeom>
              <a:avLst/>
              <a:gdLst/>
              <a:ahLst/>
              <a:cxnLst/>
              <a:rect l="l" t="t" r="r" b="b"/>
              <a:pathLst>
                <a:path w="209550" h="314325">
                  <a:moveTo>
                    <a:pt x="0" y="0"/>
                  </a:moveTo>
                  <a:lnTo>
                    <a:pt x="209549" y="157162"/>
                  </a:lnTo>
                  <a:lnTo>
                    <a:pt x="0" y="314324"/>
                  </a:lnTo>
                </a:path>
              </a:pathLst>
            </a:custGeom>
            <a:ln w="104774">
              <a:solidFill>
                <a:srgbClr val="E7181F"/>
              </a:solidFill>
            </a:ln>
          </p:spPr>
          <p:txBody>
            <a:bodyPr wrap="square" lIns="0" tIns="0" rIns="0" bIns="0" rtlCol="0"/>
            <a:lstStyle/>
            <a:p>
              <a:endParaRPr/>
            </a:p>
          </p:txBody>
        </p:sp>
        <p:sp>
          <p:nvSpPr>
            <p:cNvPr id="19" name="object 19"/>
            <p:cNvSpPr/>
            <p:nvPr/>
          </p:nvSpPr>
          <p:spPr>
            <a:xfrm>
              <a:off x="8338222" y="6073494"/>
              <a:ext cx="3368040" cy="0"/>
            </a:xfrm>
            <a:custGeom>
              <a:avLst/>
              <a:gdLst/>
              <a:ahLst/>
              <a:cxnLst/>
              <a:rect l="l" t="t" r="r" b="b"/>
              <a:pathLst>
                <a:path w="3368040">
                  <a:moveTo>
                    <a:pt x="3367780" y="0"/>
                  </a:moveTo>
                  <a:lnTo>
                    <a:pt x="0" y="0"/>
                  </a:lnTo>
                </a:path>
              </a:pathLst>
            </a:custGeom>
            <a:ln w="104774">
              <a:solidFill>
                <a:srgbClr val="5BB503"/>
              </a:solidFill>
            </a:ln>
          </p:spPr>
          <p:txBody>
            <a:bodyPr wrap="square" lIns="0" tIns="0" rIns="0" bIns="0" rtlCol="0"/>
            <a:lstStyle/>
            <a:p>
              <a:endParaRPr/>
            </a:p>
          </p:txBody>
        </p:sp>
        <p:sp>
          <p:nvSpPr>
            <p:cNvPr id="20" name="object 20"/>
            <p:cNvSpPr/>
            <p:nvPr/>
          </p:nvSpPr>
          <p:spPr>
            <a:xfrm>
              <a:off x="8338222" y="5916331"/>
              <a:ext cx="209550" cy="314325"/>
            </a:xfrm>
            <a:custGeom>
              <a:avLst/>
              <a:gdLst/>
              <a:ahLst/>
              <a:cxnLst/>
              <a:rect l="l" t="t" r="r" b="b"/>
              <a:pathLst>
                <a:path w="209550" h="314325">
                  <a:moveTo>
                    <a:pt x="209549" y="314324"/>
                  </a:moveTo>
                  <a:lnTo>
                    <a:pt x="0" y="157162"/>
                  </a:lnTo>
                  <a:lnTo>
                    <a:pt x="209549" y="0"/>
                  </a:lnTo>
                </a:path>
              </a:pathLst>
            </a:custGeom>
            <a:ln w="104774">
              <a:solidFill>
                <a:srgbClr val="5BB503"/>
              </a:solidFill>
            </a:ln>
          </p:spPr>
          <p:txBody>
            <a:bodyPr wrap="square" lIns="0" tIns="0" rIns="0" bIns="0" rtlCol="0"/>
            <a:lstStyle/>
            <a:p>
              <a:endParaRPr/>
            </a:p>
          </p:txBody>
        </p:sp>
        <p:pic>
          <p:nvPicPr>
            <p:cNvPr id="21" name="object 21"/>
            <p:cNvPicPr/>
            <p:nvPr/>
          </p:nvPicPr>
          <p:blipFill>
            <a:blip r:embed="rId8" cstate="print"/>
            <a:stretch>
              <a:fillRect/>
            </a:stretch>
          </p:blipFill>
          <p:spPr>
            <a:xfrm>
              <a:off x="7531148" y="3043675"/>
              <a:ext cx="598610" cy="1990724"/>
            </a:xfrm>
            <a:prstGeom prst="rect">
              <a:avLst/>
            </a:prstGeom>
          </p:spPr>
        </p:pic>
        <p:pic>
          <p:nvPicPr>
            <p:cNvPr id="22" name="object 22"/>
            <p:cNvPicPr/>
            <p:nvPr/>
          </p:nvPicPr>
          <p:blipFill>
            <a:blip r:embed="rId9" cstate="print"/>
            <a:stretch>
              <a:fillRect/>
            </a:stretch>
          </p:blipFill>
          <p:spPr>
            <a:xfrm>
              <a:off x="8635939" y="2684047"/>
              <a:ext cx="3955655" cy="2591969"/>
            </a:xfrm>
            <a:prstGeom prst="rect">
              <a:avLst/>
            </a:prstGeom>
          </p:spPr>
        </p:pic>
        <p:pic>
          <p:nvPicPr>
            <p:cNvPr id="23" name="object 23"/>
            <p:cNvPicPr/>
            <p:nvPr/>
          </p:nvPicPr>
          <p:blipFill>
            <a:blip r:embed="rId10" cstate="print"/>
            <a:stretch>
              <a:fillRect/>
            </a:stretch>
          </p:blipFill>
          <p:spPr>
            <a:xfrm>
              <a:off x="11509292" y="454215"/>
              <a:ext cx="4552949" cy="3038474"/>
            </a:xfrm>
            <a:prstGeom prst="rect">
              <a:avLst/>
            </a:prstGeom>
          </p:spPr>
        </p:pic>
      </p:grpSp>
      <p:sp>
        <p:nvSpPr>
          <p:cNvPr id="24" name="object 24"/>
          <p:cNvSpPr txBox="1">
            <a:spLocks noGrp="1"/>
          </p:cNvSpPr>
          <p:nvPr>
            <p:ph type="title"/>
          </p:nvPr>
        </p:nvSpPr>
        <p:spPr>
          <a:xfrm>
            <a:off x="786209" y="388683"/>
            <a:ext cx="3698875" cy="589280"/>
          </a:xfrm>
          <a:prstGeom prst="rect">
            <a:avLst/>
          </a:prstGeom>
        </p:spPr>
        <p:txBody>
          <a:bodyPr vert="horz" wrap="square" lIns="0" tIns="12700" rIns="0" bIns="0" rtlCol="0">
            <a:spAutoFit/>
          </a:bodyPr>
          <a:lstStyle/>
          <a:p>
            <a:pPr marL="12700">
              <a:lnSpc>
                <a:spcPct val="100000"/>
              </a:lnSpc>
              <a:spcBef>
                <a:spcPts val="100"/>
              </a:spcBef>
              <a:tabLst>
                <a:tab pos="1228725" algn="l"/>
              </a:tabLst>
            </a:pPr>
            <a:r>
              <a:rPr sz="3700" b="0" spc="-280" dirty="0">
                <a:solidFill>
                  <a:srgbClr val="FF904D"/>
                </a:solidFill>
                <a:latin typeface="Arial MT"/>
                <a:cs typeface="Arial MT"/>
              </a:rPr>
              <a:t>How</a:t>
            </a:r>
            <a:r>
              <a:rPr sz="3700" b="0" dirty="0">
                <a:solidFill>
                  <a:srgbClr val="FF904D"/>
                </a:solidFill>
                <a:latin typeface="Arial MT"/>
                <a:cs typeface="Arial MT"/>
              </a:rPr>
              <a:t>	</a:t>
            </a:r>
            <a:r>
              <a:rPr sz="3700" b="0" spc="80" dirty="0">
                <a:solidFill>
                  <a:srgbClr val="FF904D"/>
                </a:solidFill>
                <a:latin typeface="Arial MT"/>
                <a:cs typeface="Arial MT"/>
              </a:rPr>
              <a:t>od</a:t>
            </a:r>
            <a:r>
              <a:rPr sz="3700" b="0" spc="-5" dirty="0">
                <a:solidFill>
                  <a:srgbClr val="FF904D"/>
                </a:solidFill>
                <a:latin typeface="Arial MT"/>
                <a:cs typeface="Arial MT"/>
              </a:rPr>
              <a:t> </a:t>
            </a:r>
            <a:r>
              <a:rPr sz="3700" b="0" spc="85" dirty="0">
                <a:solidFill>
                  <a:srgbClr val="FF904D"/>
                </a:solidFill>
                <a:latin typeface="Arial MT"/>
                <a:cs typeface="Arial MT"/>
              </a:rPr>
              <a:t>creates:</a:t>
            </a:r>
            <a:endParaRPr sz="3700">
              <a:latin typeface="Arial MT"/>
              <a:cs typeface="Arial MT"/>
            </a:endParaRPr>
          </a:p>
        </p:txBody>
      </p:sp>
      <p:sp>
        <p:nvSpPr>
          <p:cNvPr id="25" name="object 25"/>
          <p:cNvSpPr txBox="1"/>
          <p:nvPr/>
        </p:nvSpPr>
        <p:spPr>
          <a:xfrm>
            <a:off x="2896224" y="1740832"/>
            <a:ext cx="1629410" cy="389890"/>
          </a:xfrm>
          <a:prstGeom prst="rect">
            <a:avLst/>
          </a:prstGeom>
        </p:spPr>
        <p:txBody>
          <a:bodyPr vert="horz" wrap="square" lIns="0" tIns="11430" rIns="0" bIns="0" rtlCol="0">
            <a:spAutoFit/>
          </a:bodyPr>
          <a:lstStyle/>
          <a:p>
            <a:pPr marL="12700">
              <a:lnSpc>
                <a:spcPct val="100000"/>
              </a:lnSpc>
              <a:spcBef>
                <a:spcPts val="90"/>
              </a:spcBef>
            </a:pPr>
            <a:r>
              <a:rPr sz="2400" b="1" spc="70" dirty="0">
                <a:solidFill>
                  <a:srgbClr val="326BE4"/>
                </a:solidFill>
                <a:latin typeface="Times New Roman"/>
                <a:cs typeface="Times New Roman"/>
              </a:rPr>
              <a:t>create</a:t>
            </a:r>
            <a:r>
              <a:rPr sz="2400" b="1" spc="-35" dirty="0">
                <a:solidFill>
                  <a:srgbClr val="326BE4"/>
                </a:solidFill>
                <a:latin typeface="Times New Roman"/>
                <a:cs typeface="Times New Roman"/>
              </a:rPr>
              <a:t> </a:t>
            </a:r>
            <a:r>
              <a:rPr sz="2400" b="1" spc="100" dirty="0">
                <a:solidFill>
                  <a:srgbClr val="326BE4"/>
                </a:solidFill>
                <a:latin typeface="Times New Roman"/>
                <a:cs typeface="Times New Roman"/>
              </a:rPr>
              <a:t>pods</a:t>
            </a:r>
            <a:endParaRPr sz="2400">
              <a:latin typeface="Times New Roman"/>
              <a:cs typeface="Times New Roman"/>
            </a:endParaRPr>
          </a:p>
        </p:txBody>
      </p:sp>
      <p:sp>
        <p:nvSpPr>
          <p:cNvPr id="26" name="object 26"/>
          <p:cNvSpPr txBox="1"/>
          <p:nvPr/>
        </p:nvSpPr>
        <p:spPr>
          <a:xfrm>
            <a:off x="12955913" y="1464238"/>
            <a:ext cx="1663064" cy="1089660"/>
          </a:xfrm>
          <a:prstGeom prst="rect">
            <a:avLst/>
          </a:prstGeom>
        </p:spPr>
        <p:txBody>
          <a:bodyPr vert="horz" wrap="square" lIns="0" tIns="12700" rIns="0" bIns="0" rtlCol="0">
            <a:spAutoFit/>
          </a:bodyPr>
          <a:lstStyle/>
          <a:p>
            <a:pPr marL="12700" marR="5080" indent="329565">
              <a:lnSpc>
                <a:spcPct val="116300"/>
              </a:lnSpc>
              <a:spcBef>
                <a:spcPts val="100"/>
              </a:spcBef>
            </a:pPr>
            <a:r>
              <a:rPr sz="3000" b="1" spc="-20" dirty="0">
                <a:solidFill>
                  <a:srgbClr val="E7181F"/>
                </a:solidFill>
                <a:latin typeface="Times New Roman"/>
                <a:cs typeface="Times New Roman"/>
              </a:rPr>
              <a:t>ETCD </a:t>
            </a:r>
            <a:r>
              <a:rPr sz="3000" b="1" spc="-195" dirty="0">
                <a:solidFill>
                  <a:srgbClr val="E7181F"/>
                </a:solidFill>
                <a:latin typeface="Times New Roman"/>
                <a:cs typeface="Times New Roman"/>
              </a:rPr>
              <a:t>CLUSTER</a:t>
            </a:r>
            <a:endParaRPr sz="3000">
              <a:latin typeface="Times New Roman"/>
              <a:cs typeface="Times New Roman"/>
            </a:endParaRPr>
          </a:p>
        </p:txBody>
      </p:sp>
      <p:sp>
        <p:nvSpPr>
          <p:cNvPr id="27" name="object 27"/>
          <p:cNvSpPr txBox="1"/>
          <p:nvPr/>
        </p:nvSpPr>
        <p:spPr>
          <a:xfrm>
            <a:off x="10458449" y="8407456"/>
            <a:ext cx="6669405" cy="787400"/>
          </a:xfrm>
          <a:prstGeom prst="rect">
            <a:avLst/>
          </a:prstGeom>
        </p:spPr>
        <p:txBody>
          <a:bodyPr vert="horz" wrap="square" lIns="0" tIns="12700" rIns="0" bIns="0" rtlCol="0">
            <a:spAutoFit/>
          </a:bodyPr>
          <a:lstStyle/>
          <a:p>
            <a:pPr marR="103505" algn="ctr">
              <a:lnSpc>
                <a:spcPct val="100000"/>
              </a:lnSpc>
              <a:spcBef>
                <a:spcPts val="100"/>
              </a:spcBef>
            </a:pPr>
            <a:r>
              <a:rPr sz="5000" b="1" spc="170" dirty="0">
                <a:latin typeface="Times New Roman"/>
                <a:cs typeface="Times New Roman"/>
              </a:rPr>
              <a:t>Worker</a:t>
            </a:r>
            <a:r>
              <a:rPr sz="5000" b="1" spc="-35" dirty="0">
                <a:latin typeface="Times New Roman"/>
                <a:cs typeface="Times New Roman"/>
              </a:rPr>
              <a:t> </a:t>
            </a:r>
            <a:r>
              <a:rPr sz="5000" b="1" spc="275" dirty="0">
                <a:latin typeface="Times New Roman"/>
                <a:cs typeface="Times New Roman"/>
              </a:rPr>
              <a:t>Node</a:t>
            </a:r>
            <a:endParaRPr sz="5000">
              <a:latin typeface="Times New Roman"/>
              <a:cs typeface="Times New Roman"/>
            </a:endParaRPr>
          </a:p>
        </p:txBody>
      </p:sp>
      <p:grpSp>
        <p:nvGrpSpPr>
          <p:cNvPr id="28" name="object 28"/>
          <p:cNvGrpSpPr/>
          <p:nvPr/>
        </p:nvGrpSpPr>
        <p:grpSpPr>
          <a:xfrm>
            <a:off x="8625097" y="1944934"/>
            <a:ext cx="3420745" cy="419100"/>
            <a:chOff x="8625097" y="1944934"/>
            <a:chExt cx="3420745" cy="419100"/>
          </a:xfrm>
        </p:grpSpPr>
        <p:sp>
          <p:nvSpPr>
            <p:cNvPr id="29" name="object 29"/>
            <p:cNvSpPr/>
            <p:nvPr/>
          </p:nvSpPr>
          <p:spPr>
            <a:xfrm>
              <a:off x="8625097" y="2154484"/>
              <a:ext cx="3368040" cy="0"/>
            </a:xfrm>
            <a:custGeom>
              <a:avLst/>
              <a:gdLst/>
              <a:ahLst/>
              <a:cxnLst/>
              <a:rect l="l" t="t" r="r" b="b"/>
              <a:pathLst>
                <a:path w="3368040">
                  <a:moveTo>
                    <a:pt x="0" y="0"/>
                  </a:moveTo>
                  <a:lnTo>
                    <a:pt x="3367780" y="0"/>
                  </a:lnTo>
                </a:path>
              </a:pathLst>
            </a:custGeom>
            <a:ln w="104774">
              <a:solidFill>
                <a:srgbClr val="E7181F"/>
              </a:solidFill>
            </a:ln>
          </p:spPr>
          <p:txBody>
            <a:bodyPr wrap="square" lIns="0" tIns="0" rIns="0" bIns="0" rtlCol="0"/>
            <a:lstStyle/>
            <a:p>
              <a:endParaRPr/>
            </a:p>
          </p:txBody>
        </p:sp>
        <p:sp>
          <p:nvSpPr>
            <p:cNvPr id="30" name="object 30"/>
            <p:cNvSpPr/>
            <p:nvPr/>
          </p:nvSpPr>
          <p:spPr>
            <a:xfrm>
              <a:off x="11783328" y="1997322"/>
              <a:ext cx="209550" cy="314325"/>
            </a:xfrm>
            <a:custGeom>
              <a:avLst/>
              <a:gdLst/>
              <a:ahLst/>
              <a:cxnLst/>
              <a:rect l="l" t="t" r="r" b="b"/>
              <a:pathLst>
                <a:path w="209550" h="314325">
                  <a:moveTo>
                    <a:pt x="0" y="0"/>
                  </a:moveTo>
                  <a:lnTo>
                    <a:pt x="209549" y="157162"/>
                  </a:lnTo>
                  <a:lnTo>
                    <a:pt x="0" y="314324"/>
                  </a:lnTo>
                </a:path>
              </a:pathLst>
            </a:custGeom>
            <a:ln w="104774">
              <a:solidFill>
                <a:srgbClr val="E7181F"/>
              </a:solidFill>
            </a:ln>
          </p:spPr>
          <p:txBody>
            <a:bodyPr wrap="square" lIns="0" tIns="0" rIns="0" bIns="0" rtlCol="0"/>
            <a:lstStyle/>
            <a:p>
              <a:endParaRPr/>
            </a:p>
          </p:txBody>
        </p:sp>
      </p:grpSp>
      <p:sp>
        <p:nvSpPr>
          <p:cNvPr id="31" name="object 31"/>
          <p:cNvSpPr txBox="1"/>
          <p:nvPr/>
        </p:nvSpPr>
        <p:spPr>
          <a:xfrm>
            <a:off x="3009315" y="2434604"/>
            <a:ext cx="1412240" cy="389890"/>
          </a:xfrm>
          <a:prstGeom prst="rect">
            <a:avLst/>
          </a:prstGeom>
        </p:spPr>
        <p:txBody>
          <a:bodyPr vert="horz" wrap="square" lIns="0" tIns="11430" rIns="0" bIns="0" rtlCol="0">
            <a:spAutoFit/>
          </a:bodyPr>
          <a:lstStyle/>
          <a:p>
            <a:pPr marL="12700">
              <a:lnSpc>
                <a:spcPct val="100000"/>
              </a:lnSpc>
              <a:spcBef>
                <a:spcPts val="90"/>
              </a:spcBef>
            </a:pPr>
            <a:r>
              <a:rPr sz="2400" b="1" spc="-150" dirty="0">
                <a:solidFill>
                  <a:srgbClr val="326BE4"/>
                </a:solidFill>
                <a:latin typeface="Times New Roman"/>
                <a:cs typeface="Times New Roman"/>
              </a:rPr>
              <a:t>1.</a:t>
            </a:r>
            <a:r>
              <a:rPr sz="2400" b="1" spc="-20" dirty="0">
                <a:solidFill>
                  <a:srgbClr val="326BE4"/>
                </a:solidFill>
                <a:latin typeface="Times New Roman"/>
                <a:cs typeface="Times New Roman"/>
              </a:rPr>
              <a:t> </a:t>
            </a:r>
            <a:r>
              <a:rPr sz="2400" b="1" spc="55" dirty="0">
                <a:solidFill>
                  <a:srgbClr val="326BE4"/>
                </a:solidFill>
                <a:latin typeface="Times New Roman"/>
                <a:cs typeface="Times New Roman"/>
              </a:rPr>
              <a:t>Request</a:t>
            </a:r>
            <a:endParaRPr sz="2400">
              <a:latin typeface="Times New Roman"/>
              <a:cs typeface="Times New Roman"/>
            </a:endParaRPr>
          </a:p>
        </p:txBody>
      </p:sp>
      <p:sp>
        <p:nvSpPr>
          <p:cNvPr id="32" name="object 32"/>
          <p:cNvSpPr txBox="1"/>
          <p:nvPr/>
        </p:nvSpPr>
        <p:spPr>
          <a:xfrm>
            <a:off x="5625751" y="3764231"/>
            <a:ext cx="1463040" cy="389890"/>
          </a:xfrm>
          <a:prstGeom prst="rect">
            <a:avLst/>
          </a:prstGeom>
        </p:spPr>
        <p:txBody>
          <a:bodyPr vert="horz" wrap="square" lIns="0" tIns="11430" rIns="0" bIns="0" rtlCol="0">
            <a:spAutoFit/>
          </a:bodyPr>
          <a:lstStyle/>
          <a:p>
            <a:pPr marL="12700">
              <a:lnSpc>
                <a:spcPct val="100000"/>
              </a:lnSpc>
              <a:spcBef>
                <a:spcPts val="90"/>
              </a:spcBef>
            </a:pPr>
            <a:r>
              <a:rPr sz="2400" b="1" spc="60" dirty="0">
                <a:solidFill>
                  <a:srgbClr val="326BE4"/>
                </a:solidFill>
                <a:latin typeface="Times New Roman"/>
                <a:cs typeface="Times New Roman"/>
              </a:rPr>
              <a:t>2.</a:t>
            </a:r>
            <a:r>
              <a:rPr sz="2400" b="1" spc="-30" dirty="0">
                <a:solidFill>
                  <a:srgbClr val="326BE4"/>
                </a:solidFill>
                <a:latin typeface="Times New Roman"/>
                <a:cs typeface="Times New Roman"/>
              </a:rPr>
              <a:t> </a:t>
            </a:r>
            <a:r>
              <a:rPr sz="2400" b="1" spc="55" dirty="0">
                <a:solidFill>
                  <a:srgbClr val="326BE4"/>
                </a:solidFill>
                <a:latin typeface="Times New Roman"/>
                <a:cs typeface="Times New Roman"/>
              </a:rPr>
              <a:t>Request</a:t>
            </a:r>
            <a:endParaRPr sz="2400">
              <a:latin typeface="Times New Roman"/>
              <a:cs typeface="Times New Roman"/>
            </a:endParaRPr>
          </a:p>
        </p:txBody>
      </p:sp>
      <p:sp>
        <p:nvSpPr>
          <p:cNvPr id="33" name="object 33"/>
          <p:cNvSpPr txBox="1"/>
          <p:nvPr/>
        </p:nvSpPr>
        <p:spPr>
          <a:xfrm>
            <a:off x="8121310" y="6458417"/>
            <a:ext cx="2057400" cy="626745"/>
          </a:xfrm>
          <a:prstGeom prst="rect">
            <a:avLst/>
          </a:prstGeom>
        </p:spPr>
        <p:txBody>
          <a:bodyPr vert="horz" wrap="square" lIns="0" tIns="12065" rIns="0" bIns="0" rtlCol="0">
            <a:spAutoFit/>
          </a:bodyPr>
          <a:lstStyle/>
          <a:p>
            <a:pPr marL="281305" marR="5080" indent="-269240">
              <a:lnSpc>
                <a:spcPct val="115999"/>
              </a:lnSpc>
              <a:spcBef>
                <a:spcPts val="95"/>
              </a:spcBef>
            </a:pPr>
            <a:r>
              <a:rPr sz="1700" b="1" dirty="0">
                <a:solidFill>
                  <a:srgbClr val="326BE4"/>
                </a:solidFill>
                <a:latin typeface="Times New Roman"/>
                <a:cs typeface="Times New Roman"/>
              </a:rPr>
              <a:t>3.</a:t>
            </a:r>
            <a:r>
              <a:rPr sz="1700" b="1" spc="55" dirty="0">
                <a:solidFill>
                  <a:srgbClr val="326BE4"/>
                </a:solidFill>
                <a:latin typeface="Times New Roman"/>
                <a:cs typeface="Times New Roman"/>
              </a:rPr>
              <a:t> </a:t>
            </a:r>
            <a:r>
              <a:rPr sz="1700" b="1" dirty="0">
                <a:solidFill>
                  <a:srgbClr val="326BE4"/>
                </a:solidFill>
                <a:latin typeface="Times New Roman"/>
                <a:cs typeface="Times New Roman"/>
              </a:rPr>
              <a:t>Find</a:t>
            </a:r>
            <a:r>
              <a:rPr sz="1700" b="1" spc="65" dirty="0">
                <a:solidFill>
                  <a:srgbClr val="326BE4"/>
                </a:solidFill>
                <a:latin typeface="Times New Roman"/>
                <a:cs typeface="Times New Roman"/>
              </a:rPr>
              <a:t> </a:t>
            </a:r>
            <a:r>
              <a:rPr sz="1700" b="1" spc="60" dirty="0">
                <a:solidFill>
                  <a:srgbClr val="326BE4"/>
                </a:solidFill>
                <a:latin typeface="Times New Roman"/>
                <a:cs typeface="Times New Roman"/>
              </a:rPr>
              <a:t>perfect</a:t>
            </a:r>
            <a:r>
              <a:rPr sz="1700" b="1" spc="70" dirty="0">
                <a:solidFill>
                  <a:srgbClr val="326BE4"/>
                </a:solidFill>
                <a:latin typeface="Times New Roman"/>
                <a:cs typeface="Times New Roman"/>
              </a:rPr>
              <a:t> </a:t>
            </a:r>
            <a:r>
              <a:rPr sz="1700" b="1" spc="85" dirty="0">
                <a:solidFill>
                  <a:srgbClr val="326BE4"/>
                </a:solidFill>
                <a:latin typeface="Times New Roman"/>
                <a:cs typeface="Times New Roman"/>
              </a:rPr>
              <a:t>Node </a:t>
            </a:r>
            <a:r>
              <a:rPr sz="1700" b="1" spc="55" dirty="0">
                <a:solidFill>
                  <a:srgbClr val="326BE4"/>
                </a:solidFill>
                <a:latin typeface="Times New Roman"/>
                <a:cs typeface="Times New Roman"/>
              </a:rPr>
              <a:t>to</a:t>
            </a:r>
            <a:r>
              <a:rPr sz="1700" b="1" spc="35" dirty="0">
                <a:solidFill>
                  <a:srgbClr val="326BE4"/>
                </a:solidFill>
                <a:latin typeface="Times New Roman"/>
                <a:cs typeface="Times New Roman"/>
              </a:rPr>
              <a:t> </a:t>
            </a:r>
            <a:r>
              <a:rPr sz="1700" b="1" dirty="0">
                <a:solidFill>
                  <a:srgbClr val="326BE4"/>
                </a:solidFill>
                <a:latin typeface="Times New Roman"/>
                <a:cs typeface="Times New Roman"/>
              </a:rPr>
              <a:t>Create</a:t>
            </a:r>
            <a:r>
              <a:rPr sz="1700" b="1" spc="40" dirty="0">
                <a:solidFill>
                  <a:srgbClr val="326BE4"/>
                </a:solidFill>
                <a:latin typeface="Times New Roman"/>
                <a:cs typeface="Times New Roman"/>
              </a:rPr>
              <a:t> </a:t>
            </a:r>
            <a:r>
              <a:rPr sz="1700" b="1" dirty="0">
                <a:solidFill>
                  <a:srgbClr val="326BE4"/>
                </a:solidFill>
                <a:latin typeface="Times New Roman"/>
                <a:cs typeface="Times New Roman"/>
              </a:rPr>
              <a:t>a</a:t>
            </a:r>
            <a:r>
              <a:rPr sz="1700" b="1" spc="40" dirty="0">
                <a:solidFill>
                  <a:srgbClr val="326BE4"/>
                </a:solidFill>
                <a:latin typeface="Times New Roman"/>
                <a:cs typeface="Times New Roman"/>
              </a:rPr>
              <a:t> </a:t>
            </a:r>
            <a:r>
              <a:rPr sz="1700" b="1" spc="30" dirty="0">
                <a:solidFill>
                  <a:srgbClr val="326BE4"/>
                </a:solidFill>
                <a:latin typeface="Times New Roman"/>
                <a:cs typeface="Times New Roman"/>
              </a:rPr>
              <a:t>Pod</a:t>
            </a:r>
            <a:endParaRPr sz="1700">
              <a:latin typeface="Times New Roman"/>
              <a:cs typeface="Times New Roman"/>
            </a:endParaRPr>
          </a:p>
        </p:txBody>
      </p:sp>
      <p:sp>
        <p:nvSpPr>
          <p:cNvPr id="34" name="object 34"/>
          <p:cNvSpPr txBox="1"/>
          <p:nvPr/>
        </p:nvSpPr>
        <p:spPr>
          <a:xfrm>
            <a:off x="10493663" y="3005589"/>
            <a:ext cx="2576195" cy="863600"/>
          </a:xfrm>
          <a:prstGeom prst="rect">
            <a:avLst/>
          </a:prstGeom>
        </p:spPr>
        <p:txBody>
          <a:bodyPr vert="horz" wrap="square" lIns="0" tIns="12700" rIns="0" bIns="0" rtlCol="0">
            <a:spAutoFit/>
          </a:bodyPr>
          <a:lstStyle/>
          <a:p>
            <a:pPr marL="422909" marR="5080" indent="-410845">
              <a:lnSpc>
                <a:spcPct val="114599"/>
              </a:lnSpc>
              <a:spcBef>
                <a:spcPts val="100"/>
              </a:spcBef>
            </a:pPr>
            <a:r>
              <a:rPr sz="2400" b="1" dirty="0">
                <a:solidFill>
                  <a:srgbClr val="326BE4"/>
                </a:solidFill>
                <a:latin typeface="Times New Roman"/>
                <a:cs typeface="Times New Roman"/>
              </a:rPr>
              <a:t>4.</a:t>
            </a:r>
            <a:r>
              <a:rPr sz="2400" b="1" spc="40" dirty="0">
                <a:solidFill>
                  <a:srgbClr val="326BE4"/>
                </a:solidFill>
                <a:latin typeface="Times New Roman"/>
                <a:cs typeface="Times New Roman"/>
              </a:rPr>
              <a:t> </a:t>
            </a:r>
            <a:r>
              <a:rPr sz="2400" b="1" dirty="0">
                <a:solidFill>
                  <a:srgbClr val="326BE4"/>
                </a:solidFill>
                <a:latin typeface="Times New Roman"/>
                <a:cs typeface="Times New Roman"/>
              </a:rPr>
              <a:t>Creates</a:t>
            </a:r>
            <a:r>
              <a:rPr sz="2400" b="1" spc="40" dirty="0">
                <a:solidFill>
                  <a:srgbClr val="326BE4"/>
                </a:solidFill>
                <a:latin typeface="Times New Roman"/>
                <a:cs typeface="Times New Roman"/>
              </a:rPr>
              <a:t> </a:t>
            </a:r>
            <a:r>
              <a:rPr sz="2400" b="1" dirty="0">
                <a:solidFill>
                  <a:srgbClr val="326BE4"/>
                </a:solidFill>
                <a:latin typeface="Times New Roman"/>
                <a:cs typeface="Times New Roman"/>
              </a:rPr>
              <a:t>a</a:t>
            </a:r>
            <a:r>
              <a:rPr sz="2400" b="1" spc="40" dirty="0">
                <a:solidFill>
                  <a:srgbClr val="326BE4"/>
                </a:solidFill>
                <a:latin typeface="Times New Roman"/>
                <a:cs typeface="Times New Roman"/>
              </a:rPr>
              <a:t> </a:t>
            </a:r>
            <a:r>
              <a:rPr sz="2400" b="1" spc="140" dirty="0">
                <a:solidFill>
                  <a:srgbClr val="326BE4"/>
                </a:solidFill>
                <a:latin typeface="Times New Roman"/>
                <a:cs typeface="Times New Roman"/>
              </a:rPr>
              <a:t>pod</a:t>
            </a:r>
            <a:r>
              <a:rPr sz="2400" b="1" spc="40" dirty="0">
                <a:solidFill>
                  <a:srgbClr val="326BE4"/>
                </a:solidFill>
                <a:latin typeface="Times New Roman"/>
                <a:cs typeface="Times New Roman"/>
              </a:rPr>
              <a:t> </a:t>
            </a:r>
            <a:r>
              <a:rPr sz="2400" b="1" spc="95" dirty="0">
                <a:solidFill>
                  <a:srgbClr val="326BE4"/>
                </a:solidFill>
                <a:latin typeface="Times New Roman"/>
                <a:cs typeface="Times New Roman"/>
              </a:rPr>
              <a:t>in </a:t>
            </a:r>
            <a:r>
              <a:rPr sz="2400" b="1" spc="90" dirty="0">
                <a:solidFill>
                  <a:srgbClr val="326BE4"/>
                </a:solidFill>
                <a:latin typeface="Times New Roman"/>
                <a:cs typeface="Times New Roman"/>
              </a:rPr>
              <a:t>worker</a:t>
            </a:r>
            <a:r>
              <a:rPr sz="2400" b="1" spc="-30" dirty="0">
                <a:solidFill>
                  <a:srgbClr val="326BE4"/>
                </a:solidFill>
                <a:latin typeface="Times New Roman"/>
                <a:cs typeface="Times New Roman"/>
              </a:rPr>
              <a:t> </a:t>
            </a:r>
            <a:r>
              <a:rPr sz="2400" b="1" spc="130" dirty="0">
                <a:solidFill>
                  <a:srgbClr val="326BE4"/>
                </a:solidFill>
                <a:latin typeface="Times New Roman"/>
                <a:cs typeface="Times New Roman"/>
              </a:rPr>
              <a:t>node</a:t>
            </a:r>
            <a:endParaRPr sz="2400">
              <a:latin typeface="Times New Roman"/>
              <a:cs typeface="Times New Roman"/>
            </a:endParaRPr>
          </a:p>
        </p:txBody>
      </p:sp>
      <p:sp>
        <p:nvSpPr>
          <p:cNvPr id="35" name="object 35"/>
          <p:cNvSpPr txBox="1"/>
          <p:nvPr/>
        </p:nvSpPr>
        <p:spPr>
          <a:xfrm>
            <a:off x="9168093" y="1079834"/>
            <a:ext cx="2490470" cy="863600"/>
          </a:xfrm>
          <a:prstGeom prst="rect">
            <a:avLst/>
          </a:prstGeom>
        </p:spPr>
        <p:txBody>
          <a:bodyPr vert="horz" wrap="square" lIns="0" tIns="12700" rIns="0" bIns="0" rtlCol="0">
            <a:spAutoFit/>
          </a:bodyPr>
          <a:lstStyle/>
          <a:p>
            <a:pPr marL="942340" marR="5080" indent="-930275">
              <a:lnSpc>
                <a:spcPct val="114599"/>
              </a:lnSpc>
              <a:spcBef>
                <a:spcPts val="100"/>
              </a:spcBef>
            </a:pPr>
            <a:r>
              <a:rPr sz="2400" b="1" dirty="0">
                <a:solidFill>
                  <a:srgbClr val="326BE4"/>
                </a:solidFill>
                <a:latin typeface="Times New Roman"/>
                <a:cs typeface="Times New Roman"/>
              </a:rPr>
              <a:t>5.</a:t>
            </a:r>
            <a:r>
              <a:rPr sz="2400" b="1" spc="-10" dirty="0">
                <a:solidFill>
                  <a:srgbClr val="326BE4"/>
                </a:solidFill>
                <a:latin typeface="Times New Roman"/>
                <a:cs typeface="Times New Roman"/>
              </a:rPr>
              <a:t> </a:t>
            </a:r>
            <a:r>
              <a:rPr sz="2400" b="1" spc="75" dirty="0">
                <a:solidFill>
                  <a:srgbClr val="326BE4"/>
                </a:solidFill>
                <a:latin typeface="Times New Roman"/>
                <a:cs typeface="Times New Roman"/>
              </a:rPr>
              <a:t>Update</a:t>
            </a:r>
            <a:r>
              <a:rPr sz="2400" b="1" spc="-10" dirty="0">
                <a:solidFill>
                  <a:srgbClr val="326BE4"/>
                </a:solidFill>
                <a:latin typeface="Times New Roman"/>
                <a:cs typeface="Times New Roman"/>
              </a:rPr>
              <a:t> </a:t>
            </a:r>
            <a:r>
              <a:rPr sz="2400" b="1" spc="95" dirty="0">
                <a:solidFill>
                  <a:srgbClr val="326BE4"/>
                </a:solidFill>
                <a:latin typeface="Times New Roman"/>
                <a:cs typeface="Times New Roman"/>
              </a:rPr>
              <a:t>the</a:t>
            </a:r>
            <a:r>
              <a:rPr sz="2400" b="1" spc="-5" dirty="0">
                <a:solidFill>
                  <a:srgbClr val="326BE4"/>
                </a:solidFill>
                <a:latin typeface="Times New Roman"/>
                <a:cs typeface="Times New Roman"/>
              </a:rPr>
              <a:t> </a:t>
            </a:r>
            <a:r>
              <a:rPr sz="2400" b="1" spc="114" dirty="0">
                <a:solidFill>
                  <a:srgbClr val="326BE4"/>
                </a:solidFill>
                <a:latin typeface="Times New Roman"/>
                <a:cs typeface="Times New Roman"/>
              </a:rPr>
              <a:t>pod </a:t>
            </a:r>
            <a:r>
              <a:rPr sz="2400" b="1" spc="30" dirty="0">
                <a:solidFill>
                  <a:srgbClr val="326BE4"/>
                </a:solidFill>
                <a:latin typeface="Times New Roman"/>
                <a:cs typeface="Times New Roman"/>
              </a:rPr>
              <a:t>data</a:t>
            </a:r>
            <a:endParaRPr sz="24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103144" y="1101613"/>
            <a:ext cx="9788343" cy="6936960"/>
          </a:xfrm>
          <a:prstGeom prst="rect">
            <a:avLst/>
          </a:prstGeom>
        </p:spPr>
      </p:pic>
      <p:pic>
        <p:nvPicPr>
          <p:cNvPr id="3" name="object 3"/>
          <p:cNvPicPr/>
          <p:nvPr/>
        </p:nvPicPr>
        <p:blipFill>
          <a:blip r:embed="rId3" cstate="print"/>
          <a:stretch>
            <a:fillRect/>
          </a:stretch>
        </p:blipFill>
        <p:spPr>
          <a:xfrm>
            <a:off x="706364" y="1662417"/>
            <a:ext cx="171450" cy="171450"/>
          </a:xfrm>
          <a:prstGeom prst="rect">
            <a:avLst/>
          </a:prstGeom>
        </p:spPr>
      </p:pic>
      <p:pic>
        <p:nvPicPr>
          <p:cNvPr id="4" name="object 4"/>
          <p:cNvPicPr/>
          <p:nvPr/>
        </p:nvPicPr>
        <p:blipFill>
          <a:blip r:embed="rId3" cstate="print"/>
          <a:stretch>
            <a:fillRect/>
          </a:stretch>
        </p:blipFill>
        <p:spPr>
          <a:xfrm>
            <a:off x="706364" y="2653017"/>
            <a:ext cx="171450" cy="171450"/>
          </a:xfrm>
          <a:prstGeom prst="rect">
            <a:avLst/>
          </a:prstGeom>
        </p:spPr>
      </p:pic>
      <p:pic>
        <p:nvPicPr>
          <p:cNvPr id="5" name="object 5"/>
          <p:cNvPicPr/>
          <p:nvPr/>
        </p:nvPicPr>
        <p:blipFill>
          <a:blip r:embed="rId3" cstate="print"/>
          <a:stretch>
            <a:fillRect/>
          </a:stretch>
        </p:blipFill>
        <p:spPr>
          <a:xfrm>
            <a:off x="706364" y="3643617"/>
            <a:ext cx="171450" cy="171450"/>
          </a:xfrm>
          <a:prstGeom prst="rect">
            <a:avLst/>
          </a:prstGeom>
        </p:spPr>
      </p:pic>
      <p:pic>
        <p:nvPicPr>
          <p:cNvPr id="6" name="object 6"/>
          <p:cNvPicPr/>
          <p:nvPr/>
        </p:nvPicPr>
        <p:blipFill>
          <a:blip r:embed="rId3" cstate="print"/>
          <a:stretch>
            <a:fillRect/>
          </a:stretch>
        </p:blipFill>
        <p:spPr>
          <a:xfrm>
            <a:off x="706364" y="4138917"/>
            <a:ext cx="171450" cy="171450"/>
          </a:xfrm>
          <a:prstGeom prst="rect">
            <a:avLst/>
          </a:prstGeom>
        </p:spPr>
      </p:pic>
      <p:pic>
        <p:nvPicPr>
          <p:cNvPr id="7" name="object 7"/>
          <p:cNvPicPr/>
          <p:nvPr/>
        </p:nvPicPr>
        <p:blipFill>
          <a:blip r:embed="rId3" cstate="print"/>
          <a:stretch>
            <a:fillRect/>
          </a:stretch>
        </p:blipFill>
        <p:spPr>
          <a:xfrm>
            <a:off x="706364" y="7110715"/>
            <a:ext cx="171450" cy="171450"/>
          </a:xfrm>
          <a:prstGeom prst="rect">
            <a:avLst/>
          </a:prstGeom>
        </p:spPr>
      </p:pic>
      <p:sp>
        <p:nvSpPr>
          <p:cNvPr id="8" name="object 8"/>
          <p:cNvSpPr txBox="1">
            <a:spLocks noGrp="1"/>
          </p:cNvSpPr>
          <p:nvPr>
            <p:ph type="title"/>
          </p:nvPr>
        </p:nvSpPr>
        <p:spPr>
          <a:xfrm>
            <a:off x="786209" y="388692"/>
            <a:ext cx="1776095" cy="589280"/>
          </a:xfrm>
          <a:prstGeom prst="rect">
            <a:avLst/>
          </a:prstGeom>
        </p:spPr>
        <p:txBody>
          <a:bodyPr vert="horz" wrap="square" lIns="0" tIns="12700" rIns="0" bIns="0" rtlCol="0">
            <a:spAutoFit/>
          </a:bodyPr>
          <a:lstStyle/>
          <a:p>
            <a:pPr marL="12700">
              <a:lnSpc>
                <a:spcPct val="100000"/>
              </a:lnSpc>
              <a:spcBef>
                <a:spcPts val="100"/>
              </a:spcBef>
            </a:pPr>
            <a:r>
              <a:rPr sz="3700" b="0" spc="210" dirty="0">
                <a:solidFill>
                  <a:srgbClr val="FF904D"/>
                </a:solidFill>
                <a:latin typeface="Arial MT"/>
                <a:cs typeface="Arial MT"/>
              </a:rPr>
              <a:t>cluster:</a:t>
            </a:r>
            <a:endParaRPr sz="3700">
              <a:latin typeface="Arial MT"/>
              <a:cs typeface="Arial MT"/>
            </a:endParaRPr>
          </a:p>
        </p:txBody>
      </p:sp>
      <p:sp>
        <p:nvSpPr>
          <p:cNvPr id="9" name="object 9"/>
          <p:cNvSpPr txBox="1"/>
          <p:nvPr/>
        </p:nvSpPr>
        <p:spPr>
          <a:xfrm>
            <a:off x="1016000" y="1426436"/>
            <a:ext cx="6419215" cy="8348345"/>
          </a:xfrm>
          <a:prstGeom prst="rect">
            <a:avLst/>
          </a:prstGeom>
        </p:spPr>
        <p:txBody>
          <a:bodyPr vert="horz" wrap="square" lIns="0" tIns="81915" rIns="0" bIns="0" rtlCol="0">
            <a:spAutoFit/>
          </a:bodyPr>
          <a:lstStyle/>
          <a:p>
            <a:pPr marL="12700" marR="242570">
              <a:lnSpc>
                <a:spcPts val="3829"/>
              </a:lnSpc>
              <a:spcBef>
                <a:spcPts val="645"/>
              </a:spcBef>
            </a:pPr>
            <a:r>
              <a:rPr sz="3600" spc="-330" dirty="0">
                <a:latin typeface="Trebuchet MS"/>
                <a:cs typeface="Trebuchet MS"/>
              </a:rPr>
              <a:t>It</a:t>
            </a:r>
            <a:r>
              <a:rPr sz="3600" spc="-390" dirty="0">
                <a:latin typeface="Trebuchet MS"/>
                <a:cs typeface="Trebuchet MS"/>
              </a:rPr>
              <a:t> </a:t>
            </a:r>
            <a:r>
              <a:rPr sz="3600" spc="-220" dirty="0">
                <a:latin typeface="Trebuchet MS"/>
                <a:cs typeface="Trebuchet MS"/>
              </a:rPr>
              <a:t>is</a:t>
            </a:r>
            <a:r>
              <a:rPr sz="3600" spc="-385" dirty="0">
                <a:latin typeface="Trebuchet MS"/>
                <a:cs typeface="Trebuchet MS"/>
              </a:rPr>
              <a:t> </a:t>
            </a:r>
            <a:r>
              <a:rPr sz="3600" spc="-360" dirty="0">
                <a:latin typeface="Trebuchet MS"/>
                <a:cs typeface="Trebuchet MS"/>
              </a:rPr>
              <a:t>a</a:t>
            </a:r>
            <a:r>
              <a:rPr sz="3600" spc="-390" dirty="0">
                <a:latin typeface="Trebuchet MS"/>
                <a:cs typeface="Trebuchet MS"/>
              </a:rPr>
              <a:t> </a:t>
            </a:r>
            <a:r>
              <a:rPr sz="3600" spc="-340" dirty="0">
                <a:latin typeface="Trebuchet MS"/>
                <a:cs typeface="Trebuchet MS"/>
              </a:rPr>
              <a:t>group</a:t>
            </a:r>
            <a:r>
              <a:rPr sz="3600" spc="-385" dirty="0">
                <a:latin typeface="Trebuchet MS"/>
                <a:cs typeface="Trebuchet MS"/>
              </a:rPr>
              <a:t> </a:t>
            </a:r>
            <a:r>
              <a:rPr sz="3600" spc="-350" dirty="0">
                <a:latin typeface="Trebuchet MS"/>
                <a:cs typeface="Trebuchet MS"/>
              </a:rPr>
              <a:t>of</a:t>
            </a:r>
            <a:r>
              <a:rPr sz="3600" spc="-390" dirty="0">
                <a:latin typeface="Trebuchet MS"/>
                <a:cs typeface="Trebuchet MS"/>
              </a:rPr>
              <a:t> </a:t>
            </a:r>
            <a:r>
              <a:rPr sz="3600" spc="-315" dirty="0">
                <a:latin typeface="Trebuchet MS"/>
                <a:cs typeface="Trebuchet MS"/>
              </a:rPr>
              <a:t>serversIt</a:t>
            </a:r>
            <a:r>
              <a:rPr sz="3600" spc="-385" dirty="0">
                <a:latin typeface="Trebuchet MS"/>
                <a:cs typeface="Trebuchet MS"/>
              </a:rPr>
              <a:t> will </a:t>
            </a:r>
            <a:r>
              <a:rPr sz="3600" spc="-365" dirty="0">
                <a:latin typeface="Trebuchet MS"/>
                <a:cs typeface="Trebuchet MS"/>
              </a:rPr>
              <a:t>have</a:t>
            </a:r>
            <a:r>
              <a:rPr sz="3600" spc="-390" dirty="0">
                <a:latin typeface="Trebuchet MS"/>
                <a:cs typeface="Trebuchet MS"/>
              </a:rPr>
              <a:t> </a:t>
            </a:r>
            <a:r>
              <a:rPr sz="3600" spc="-405" dirty="0">
                <a:latin typeface="Trebuchet MS"/>
                <a:cs typeface="Trebuchet MS"/>
              </a:rPr>
              <a:t>both </a:t>
            </a:r>
            <a:r>
              <a:rPr sz="3600" spc="-375" dirty="0">
                <a:latin typeface="Trebuchet MS"/>
                <a:cs typeface="Trebuchet MS"/>
              </a:rPr>
              <a:t>manager </a:t>
            </a:r>
            <a:r>
              <a:rPr sz="3600" spc="-365" dirty="0">
                <a:latin typeface="Trebuchet MS"/>
                <a:cs typeface="Trebuchet MS"/>
              </a:rPr>
              <a:t>and</a:t>
            </a:r>
            <a:r>
              <a:rPr sz="3600" spc="-375" dirty="0">
                <a:latin typeface="Trebuchet MS"/>
                <a:cs typeface="Trebuchet MS"/>
              </a:rPr>
              <a:t> </a:t>
            </a:r>
            <a:r>
              <a:rPr sz="3600" spc="-405" dirty="0">
                <a:latin typeface="Trebuchet MS"/>
                <a:cs typeface="Trebuchet MS"/>
              </a:rPr>
              <a:t>worker</a:t>
            </a:r>
            <a:r>
              <a:rPr sz="3600" spc="-375" dirty="0">
                <a:latin typeface="Trebuchet MS"/>
                <a:cs typeface="Trebuchet MS"/>
              </a:rPr>
              <a:t> </a:t>
            </a:r>
            <a:r>
              <a:rPr sz="3600" spc="-390" dirty="0">
                <a:latin typeface="Trebuchet MS"/>
                <a:cs typeface="Trebuchet MS"/>
              </a:rPr>
              <a:t>nodes.</a:t>
            </a:r>
            <a:endParaRPr sz="3600">
              <a:latin typeface="Trebuchet MS"/>
              <a:cs typeface="Trebuchet MS"/>
            </a:endParaRPr>
          </a:p>
          <a:p>
            <a:pPr marL="12700">
              <a:lnSpc>
                <a:spcPts val="3525"/>
              </a:lnSpc>
            </a:pPr>
            <a:r>
              <a:rPr sz="3600" spc="-320" dirty="0">
                <a:latin typeface="Trebuchet MS"/>
                <a:cs typeface="Trebuchet MS"/>
              </a:rPr>
              <a:t>Master</a:t>
            </a:r>
            <a:r>
              <a:rPr sz="3600" spc="-380" dirty="0">
                <a:latin typeface="Trebuchet MS"/>
                <a:cs typeface="Trebuchet MS"/>
              </a:rPr>
              <a:t> </a:t>
            </a:r>
            <a:r>
              <a:rPr sz="3600" spc="-405" dirty="0">
                <a:latin typeface="Trebuchet MS"/>
                <a:cs typeface="Trebuchet MS"/>
              </a:rPr>
              <a:t>Node</a:t>
            </a:r>
            <a:r>
              <a:rPr sz="3600" spc="-380" dirty="0">
                <a:latin typeface="Trebuchet MS"/>
                <a:cs typeface="Trebuchet MS"/>
              </a:rPr>
              <a:t> </a:t>
            </a:r>
            <a:r>
              <a:rPr sz="3600" spc="-220" dirty="0">
                <a:latin typeface="Trebuchet MS"/>
                <a:cs typeface="Trebuchet MS"/>
              </a:rPr>
              <a:t>is</a:t>
            </a:r>
            <a:r>
              <a:rPr sz="3600" spc="-380" dirty="0">
                <a:latin typeface="Trebuchet MS"/>
                <a:cs typeface="Trebuchet MS"/>
              </a:rPr>
              <a:t> </a:t>
            </a:r>
            <a:r>
              <a:rPr sz="3600" spc="-320" dirty="0">
                <a:latin typeface="Trebuchet MS"/>
                <a:cs typeface="Trebuchet MS"/>
              </a:rPr>
              <a:t>used</a:t>
            </a:r>
            <a:r>
              <a:rPr sz="3600" spc="-375" dirty="0">
                <a:latin typeface="Trebuchet MS"/>
                <a:cs typeface="Trebuchet MS"/>
              </a:rPr>
              <a:t> </a:t>
            </a:r>
            <a:r>
              <a:rPr sz="3600" spc="-409" dirty="0">
                <a:latin typeface="Trebuchet MS"/>
                <a:cs typeface="Trebuchet MS"/>
              </a:rPr>
              <a:t>to</a:t>
            </a:r>
            <a:r>
              <a:rPr sz="3600" spc="-380" dirty="0">
                <a:latin typeface="Trebuchet MS"/>
                <a:cs typeface="Trebuchet MS"/>
              </a:rPr>
              <a:t> </a:t>
            </a:r>
            <a:r>
              <a:rPr sz="3600" spc="-245" dirty="0">
                <a:latin typeface="Trebuchet MS"/>
                <a:cs typeface="Trebuchet MS"/>
              </a:rPr>
              <a:t>assign</a:t>
            </a:r>
            <a:r>
              <a:rPr sz="3600" spc="-380" dirty="0">
                <a:latin typeface="Trebuchet MS"/>
                <a:cs typeface="Trebuchet MS"/>
              </a:rPr>
              <a:t> </a:t>
            </a:r>
            <a:r>
              <a:rPr sz="3600" spc="-275" dirty="0">
                <a:latin typeface="Trebuchet MS"/>
                <a:cs typeface="Trebuchet MS"/>
              </a:rPr>
              <a:t>tasks</a:t>
            </a:r>
            <a:r>
              <a:rPr sz="3600" spc="-380" dirty="0">
                <a:latin typeface="Trebuchet MS"/>
                <a:cs typeface="Trebuchet MS"/>
              </a:rPr>
              <a:t> </a:t>
            </a:r>
            <a:r>
              <a:rPr sz="3600" spc="-434" dirty="0">
                <a:latin typeface="Trebuchet MS"/>
                <a:cs typeface="Trebuchet MS"/>
              </a:rPr>
              <a:t>to</a:t>
            </a:r>
            <a:endParaRPr sz="3600">
              <a:latin typeface="Trebuchet MS"/>
              <a:cs typeface="Trebuchet MS"/>
            </a:endParaRPr>
          </a:p>
          <a:p>
            <a:pPr marL="12700">
              <a:lnSpc>
                <a:spcPts val="3825"/>
              </a:lnSpc>
            </a:pPr>
            <a:r>
              <a:rPr sz="3600" spc="-420" dirty="0">
                <a:latin typeface="Trebuchet MS"/>
                <a:cs typeface="Trebuchet MS"/>
              </a:rPr>
              <a:t>Worker</a:t>
            </a:r>
            <a:r>
              <a:rPr sz="3600" spc="-385" dirty="0">
                <a:latin typeface="Trebuchet MS"/>
                <a:cs typeface="Trebuchet MS"/>
              </a:rPr>
              <a:t> </a:t>
            </a:r>
            <a:r>
              <a:rPr sz="3600" spc="-405" dirty="0">
                <a:latin typeface="Trebuchet MS"/>
                <a:cs typeface="Trebuchet MS"/>
              </a:rPr>
              <a:t>Nodes.</a:t>
            </a:r>
            <a:endParaRPr sz="3600">
              <a:latin typeface="Trebuchet MS"/>
              <a:cs typeface="Trebuchet MS"/>
            </a:endParaRPr>
          </a:p>
          <a:p>
            <a:pPr marL="12700">
              <a:lnSpc>
                <a:spcPts val="3825"/>
              </a:lnSpc>
            </a:pPr>
            <a:r>
              <a:rPr sz="3600" spc="-420" dirty="0">
                <a:latin typeface="Trebuchet MS"/>
                <a:cs typeface="Trebuchet MS"/>
              </a:rPr>
              <a:t>Worker</a:t>
            </a:r>
            <a:r>
              <a:rPr sz="3600" spc="-390" dirty="0">
                <a:latin typeface="Trebuchet MS"/>
                <a:cs typeface="Trebuchet MS"/>
              </a:rPr>
              <a:t> </a:t>
            </a:r>
            <a:r>
              <a:rPr sz="3600" spc="-385" dirty="0">
                <a:latin typeface="Trebuchet MS"/>
                <a:cs typeface="Trebuchet MS"/>
              </a:rPr>
              <a:t>node will </a:t>
            </a:r>
            <a:r>
              <a:rPr sz="3600" spc="-400" dirty="0">
                <a:latin typeface="Trebuchet MS"/>
                <a:cs typeface="Trebuchet MS"/>
              </a:rPr>
              <a:t>perform</a:t>
            </a:r>
            <a:r>
              <a:rPr sz="3600" spc="-385"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405" dirty="0">
                <a:latin typeface="Trebuchet MS"/>
                <a:cs typeface="Trebuchet MS"/>
              </a:rPr>
              <a:t>task.</a:t>
            </a:r>
            <a:endParaRPr sz="3600">
              <a:latin typeface="Trebuchet MS"/>
              <a:cs typeface="Trebuchet MS"/>
            </a:endParaRPr>
          </a:p>
          <a:p>
            <a:pPr marL="12700">
              <a:lnSpc>
                <a:spcPts val="4070"/>
              </a:lnSpc>
            </a:pPr>
            <a:r>
              <a:rPr sz="3600" spc="-459" dirty="0">
                <a:latin typeface="Trebuchet MS"/>
                <a:cs typeface="Trebuchet MS"/>
              </a:rPr>
              <a:t>we</a:t>
            </a:r>
            <a:r>
              <a:rPr sz="3600" spc="-390" dirty="0">
                <a:latin typeface="Trebuchet MS"/>
                <a:cs typeface="Trebuchet MS"/>
              </a:rPr>
              <a:t> </a:t>
            </a:r>
            <a:r>
              <a:rPr sz="3600" spc="-365" dirty="0">
                <a:latin typeface="Trebuchet MS"/>
                <a:cs typeface="Trebuchet MS"/>
              </a:rPr>
              <a:t>have</a:t>
            </a:r>
            <a:r>
              <a:rPr sz="3600" spc="-385" dirty="0">
                <a:latin typeface="Trebuchet MS"/>
                <a:cs typeface="Trebuchet MS"/>
              </a:rPr>
              <a:t> </a:t>
            </a:r>
            <a:r>
              <a:rPr sz="3600" spc="-215" dirty="0">
                <a:latin typeface="Trebuchet MS"/>
                <a:cs typeface="Trebuchet MS"/>
              </a:rPr>
              <a:t>4</a:t>
            </a:r>
            <a:r>
              <a:rPr sz="3600" spc="-390" dirty="0">
                <a:latin typeface="Trebuchet MS"/>
                <a:cs typeface="Trebuchet MS"/>
              </a:rPr>
              <a:t> </a:t>
            </a:r>
            <a:r>
              <a:rPr sz="3600" spc="-385" dirty="0">
                <a:latin typeface="Trebuchet MS"/>
                <a:cs typeface="Trebuchet MS"/>
              </a:rPr>
              <a:t>components </a:t>
            </a:r>
            <a:r>
              <a:rPr sz="3600" spc="-330" dirty="0">
                <a:latin typeface="Trebuchet MS"/>
                <a:cs typeface="Trebuchet MS"/>
              </a:rPr>
              <a:t>in</a:t>
            </a:r>
            <a:r>
              <a:rPr sz="3600" spc="-390" dirty="0">
                <a:latin typeface="Trebuchet MS"/>
                <a:cs typeface="Trebuchet MS"/>
              </a:rPr>
              <a:t> </a:t>
            </a:r>
            <a:r>
              <a:rPr sz="3600" spc="-320" dirty="0">
                <a:latin typeface="Trebuchet MS"/>
                <a:cs typeface="Trebuchet MS"/>
              </a:rPr>
              <a:t>Master</a:t>
            </a:r>
            <a:r>
              <a:rPr sz="3600" spc="-385" dirty="0">
                <a:latin typeface="Trebuchet MS"/>
                <a:cs typeface="Trebuchet MS"/>
              </a:rPr>
              <a:t> </a:t>
            </a:r>
            <a:r>
              <a:rPr sz="3600" spc="-425" dirty="0">
                <a:latin typeface="Trebuchet MS"/>
                <a:cs typeface="Trebuchet MS"/>
              </a:rPr>
              <a:t>Node</a:t>
            </a:r>
            <a:endParaRPr sz="3600">
              <a:latin typeface="Trebuchet MS"/>
              <a:cs typeface="Trebuchet MS"/>
            </a:endParaRPr>
          </a:p>
          <a:p>
            <a:pPr marL="12700" marR="4467225">
              <a:lnSpc>
                <a:spcPts val="3829"/>
              </a:lnSpc>
              <a:spcBef>
                <a:spcPts val="3865"/>
              </a:spcBef>
            </a:pPr>
            <a:r>
              <a:rPr sz="3600" spc="-470" dirty="0">
                <a:latin typeface="Trebuchet MS"/>
                <a:cs typeface="Trebuchet MS"/>
              </a:rPr>
              <a:t>1.API</a:t>
            </a:r>
            <a:r>
              <a:rPr sz="3600" spc="-320" dirty="0">
                <a:latin typeface="Trebuchet MS"/>
                <a:cs typeface="Trebuchet MS"/>
              </a:rPr>
              <a:t> </a:t>
            </a:r>
            <a:r>
              <a:rPr sz="3600" spc="-335" dirty="0">
                <a:latin typeface="Trebuchet MS"/>
                <a:cs typeface="Trebuchet MS"/>
              </a:rPr>
              <a:t>Server </a:t>
            </a:r>
            <a:r>
              <a:rPr sz="3600" spc="-475" dirty="0">
                <a:latin typeface="Trebuchet MS"/>
                <a:cs typeface="Trebuchet MS"/>
              </a:rPr>
              <a:t>2.ETCD</a:t>
            </a:r>
            <a:endParaRPr sz="3600">
              <a:latin typeface="Trebuchet MS"/>
              <a:cs typeface="Trebuchet MS"/>
            </a:endParaRPr>
          </a:p>
          <a:p>
            <a:pPr marL="12700">
              <a:lnSpc>
                <a:spcPts val="3525"/>
              </a:lnSpc>
            </a:pPr>
            <a:r>
              <a:rPr sz="3600" spc="-509" dirty="0">
                <a:latin typeface="Trebuchet MS"/>
                <a:cs typeface="Trebuchet MS"/>
              </a:rPr>
              <a:t>3.</a:t>
            </a:r>
            <a:r>
              <a:rPr sz="3600" spc="-340" dirty="0">
                <a:latin typeface="Trebuchet MS"/>
                <a:cs typeface="Trebuchet MS"/>
              </a:rPr>
              <a:t> </a:t>
            </a:r>
            <a:r>
              <a:rPr sz="3600" spc="-380" dirty="0">
                <a:latin typeface="Trebuchet MS"/>
                <a:cs typeface="Trebuchet MS"/>
              </a:rPr>
              <a:t>Controllers-</a:t>
            </a:r>
            <a:r>
              <a:rPr sz="3600" spc="-385" dirty="0">
                <a:latin typeface="Trebuchet MS"/>
                <a:cs typeface="Trebuchet MS"/>
              </a:rPr>
              <a:t>manager</a:t>
            </a:r>
            <a:endParaRPr sz="3600">
              <a:latin typeface="Trebuchet MS"/>
              <a:cs typeface="Trebuchet MS"/>
            </a:endParaRPr>
          </a:p>
          <a:p>
            <a:pPr marL="12700">
              <a:lnSpc>
                <a:spcPts val="3825"/>
              </a:lnSpc>
            </a:pPr>
            <a:r>
              <a:rPr sz="3600" spc="-425" dirty="0">
                <a:latin typeface="Trebuchet MS"/>
                <a:cs typeface="Trebuchet MS"/>
              </a:rPr>
              <a:t>4.</a:t>
            </a:r>
            <a:r>
              <a:rPr sz="3600" spc="-395" dirty="0">
                <a:latin typeface="Trebuchet MS"/>
                <a:cs typeface="Trebuchet MS"/>
              </a:rPr>
              <a:t> </a:t>
            </a:r>
            <a:r>
              <a:rPr sz="3600" spc="-360" dirty="0">
                <a:latin typeface="Trebuchet MS"/>
                <a:cs typeface="Trebuchet MS"/>
              </a:rPr>
              <a:t>Schedulers</a:t>
            </a:r>
            <a:endParaRPr sz="3600">
              <a:latin typeface="Trebuchet MS"/>
              <a:cs typeface="Trebuchet MS"/>
            </a:endParaRPr>
          </a:p>
          <a:p>
            <a:pPr marL="12700">
              <a:lnSpc>
                <a:spcPts val="4075"/>
              </a:lnSpc>
            </a:pPr>
            <a:r>
              <a:rPr sz="3600" spc="-459" dirty="0">
                <a:latin typeface="Trebuchet MS"/>
                <a:cs typeface="Trebuchet MS"/>
              </a:rPr>
              <a:t>we</a:t>
            </a:r>
            <a:r>
              <a:rPr sz="3600" spc="-390" dirty="0">
                <a:latin typeface="Trebuchet MS"/>
                <a:cs typeface="Trebuchet MS"/>
              </a:rPr>
              <a:t> </a:t>
            </a:r>
            <a:r>
              <a:rPr sz="3600" spc="-365" dirty="0">
                <a:latin typeface="Trebuchet MS"/>
                <a:cs typeface="Trebuchet MS"/>
              </a:rPr>
              <a:t>have</a:t>
            </a:r>
            <a:r>
              <a:rPr sz="3600" spc="-390" dirty="0">
                <a:latin typeface="Trebuchet MS"/>
                <a:cs typeface="Trebuchet MS"/>
              </a:rPr>
              <a:t> </a:t>
            </a:r>
            <a:r>
              <a:rPr sz="3600" spc="-215" dirty="0">
                <a:latin typeface="Trebuchet MS"/>
                <a:cs typeface="Trebuchet MS"/>
              </a:rPr>
              <a:t>4</a:t>
            </a:r>
            <a:r>
              <a:rPr sz="3600" spc="-390" dirty="0">
                <a:latin typeface="Trebuchet MS"/>
                <a:cs typeface="Trebuchet MS"/>
              </a:rPr>
              <a:t> </a:t>
            </a:r>
            <a:r>
              <a:rPr sz="3600" spc="-385" dirty="0">
                <a:latin typeface="Trebuchet MS"/>
                <a:cs typeface="Trebuchet MS"/>
              </a:rPr>
              <a:t>components</a:t>
            </a:r>
            <a:r>
              <a:rPr sz="3600" spc="-390" dirty="0">
                <a:latin typeface="Trebuchet MS"/>
                <a:cs typeface="Trebuchet MS"/>
              </a:rPr>
              <a:t> </a:t>
            </a:r>
            <a:r>
              <a:rPr sz="3600" spc="-330" dirty="0">
                <a:latin typeface="Trebuchet MS"/>
                <a:cs typeface="Trebuchet MS"/>
              </a:rPr>
              <a:t>in</a:t>
            </a:r>
            <a:r>
              <a:rPr sz="3600" spc="-390" dirty="0">
                <a:latin typeface="Trebuchet MS"/>
                <a:cs typeface="Trebuchet MS"/>
              </a:rPr>
              <a:t> </a:t>
            </a:r>
            <a:r>
              <a:rPr sz="3600" spc="-420" dirty="0">
                <a:latin typeface="Trebuchet MS"/>
                <a:cs typeface="Trebuchet MS"/>
              </a:rPr>
              <a:t>Worker</a:t>
            </a:r>
            <a:r>
              <a:rPr sz="3600" spc="-390" dirty="0">
                <a:latin typeface="Trebuchet MS"/>
                <a:cs typeface="Trebuchet MS"/>
              </a:rPr>
              <a:t> </a:t>
            </a:r>
            <a:r>
              <a:rPr sz="3600" spc="-459" dirty="0">
                <a:latin typeface="Trebuchet MS"/>
                <a:cs typeface="Trebuchet MS"/>
              </a:rPr>
              <a:t>Node.</a:t>
            </a:r>
            <a:endParaRPr sz="3600">
              <a:latin typeface="Trebuchet MS"/>
              <a:cs typeface="Trebuchet MS"/>
            </a:endParaRPr>
          </a:p>
          <a:p>
            <a:pPr marL="314325" indent="-313055">
              <a:lnSpc>
                <a:spcPts val="4070"/>
              </a:lnSpc>
              <a:spcBef>
                <a:spcPts val="3329"/>
              </a:spcBef>
              <a:buSzPct val="73611"/>
              <a:buAutoNum type="arabicPeriod"/>
              <a:tabLst>
                <a:tab pos="314325" algn="l"/>
              </a:tabLst>
            </a:pPr>
            <a:r>
              <a:rPr sz="3600" spc="-405" dirty="0">
                <a:latin typeface="Trebuchet MS"/>
                <a:cs typeface="Trebuchet MS"/>
              </a:rPr>
              <a:t>Kubelet</a:t>
            </a:r>
            <a:endParaRPr sz="3600">
              <a:latin typeface="Trebuchet MS"/>
              <a:cs typeface="Trebuchet MS"/>
            </a:endParaRPr>
          </a:p>
          <a:p>
            <a:pPr marL="388620" indent="-375920">
              <a:lnSpc>
                <a:spcPts val="3825"/>
              </a:lnSpc>
              <a:buSzPct val="73611"/>
              <a:buAutoNum type="arabicPeriod"/>
              <a:tabLst>
                <a:tab pos="388620" algn="l"/>
              </a:tabLst>
            </a:pPr>
            <a:r>
              <a:rPr sz="3600" spc="-350" dirty="0">
                <a:latin typeface="Trebuchet MS"/>
                <a:cs typeface="Trebuchet MS"/>
              </a:rPr>
              <a:t>Kube-</a:t>
            </a:r>
            <a:r>
              <a:rPr sz="3600" spc="-335" dirty="0">
                <a:latin typeface="Trebuchet MS"/>
                <a:cs typeface="Trebuchet MS"/>
              </a:rPr>
              <a:t>Proxy</a:t>
            </a:r>
            <a:endParaRPr sz="3600">
              <a:latin typeface="Trebuchet MS"/>
              <a:cs typeface="Trebuchet MS"/>
            </a:endParaRPr>
          </a:p>
          <a:p>
            <a:pPr marL="382905" indent="-370205">
              <a:lnSpc>
                <a:spcPts val="3825"/>
              </a:lnSpc>
              <a:buSzPct val="73611"/>
              <a:buAutoNum type="arabicPeriod"/>
              <a:tabLst>
                <a:tab pos="382905" algn="l"/>
              </a:tabLst>
            </a:pPr>
            <a:r>
              <a:rPr sz="3600" spc="-395" dirty="0">
                <a:latin typeface="Trebuchet MS"/>
                <a:cs typeface="Trebuchet MS"/>
              </a:rPr>
              <a:t>Pod</a:t>
            </a:r>
            <a:endParaRPr sz="3600">
              <a:latin typeface="Trebuchet MS"/>
              <a:cs typeface="Trebuchet MS"/>
            </a:endParaRPr>
          </a:p>
          <a:p>
            <a:pPr marL="403225" indent="-390525">
              <a:lnSpc>
                <a:spcPts val="4075"/>
              </a:lnSpc>
              <a:buSzPct val="73611"/>
              <a:buAutoNum type="arabicPeriod"/>
              <a:tabLst>
                <a:tab pos="403225" algn="l"/>
              </a:tabLst>
            </a:pPr>
            <a:r>
              <a:rPr sz="3600" spc="-425" dirty="0">
                <a:latin typeface="Trebuchet MS"/>
                <a:cs typeface="Trebuchet MS"/>
              </a:rPr>
              <a:t>Container</a:t>
            </a:r>
            <a:endParaRPr sz="3600">
              <a:latin typeface="Trebuchet MS"/>
              <a:cs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74212" y="547401"/>
            <a:ext cx="231775" cy="368300"/>
          </a:xfrm>
          <a:prstGeom prst="rect">
            <a:avLst/>
          </a:prstGeom>
        </p:spPr>
      </p:pic>
      <p:sp>
        <p:nvSpPr>
          <p:cNvPr id="3" name="object 3"/>
          <p:cNvSpPr txBox="1">
            <a:spLocks noGrp="1"/>
          </p:cNvSpPr>
          <p:nvPr>
            <p:ph type="title"/>
          </p:nvPr>
        </p:nvSpPr>
        <p:spPr>
          <a:xfrm>
            <a:off x="786209" y="388683"/>
            <a:ext cx="2303780" cy="589280"/>
          </a:xfrm>
          <a:prstGeom prst="rect">
            <a:avLst/>
          </a:prstGeom>
        </p:spPr>
        <p:txBody>
          <a:bodyPr vert="horz" wrap="square" lIns="0" tIns="12700" rIns="0" bIns="0" rtlCol="0">
            <a:spAutoFit/>
          </a:bodyPr>
          <a:lstStyle/>
          <a:p>
            <a:pPr marL="12700">
              <a:lnSpc>
                <a:spcPct val="100000"/>
              </a:lnSpc>
              <a:spcBef>
                <a:spcPts val="100"/>
              </a:spcBef>
              <a:tabLst>
                <a:tab pos="520700" algn="l"/>
              </a:tabLst>
            </a:pPr>
            <a:r>
              <a:rPr sz="3700" b="0" spc="50" dirty="0">
                <a:solidFill>
                  <a:srgbClr val="FF904D"/>
                </a:solidFill>
                <a:latin typeface="Arial MT"/>
                <a:cs typeface="Arial MT"/>
              </a:rPr>
              <a:t>a</a:t>
            </a:r>
            <a:r>
              <a:rPr sz="3700" b="0" dirty="0">
                <a:solidFill>
                  <a:srgbClr val="FF904D"/>
                </a:solidFill>
                <a:latin typeface="Arial MT"/>
                <a:cs typeface="Arial MT"/>
              </a:rPr>
              <a:t>	i</a:t>
            </a:r>
            <a:r>
              <a:rPr sz="3700" b="0" spc="35" dirty="0">
                <a:solidFill>
                  <a:srgbClr val="FF904D"/>
                </a:solidFill>
                <a:latin typeface="Arial MT"/>
                <a:cs typeface="Arial MT"/>
              </a:rPr>
              <a:t> </a:t>
            </a:r>
            <a:r>
              <a:rPr sz="3700" b="0" spc="80" dirty="0">
                <a:solidFill>
                  <a:srgbClr val="FF904D"/>
                </a:solidFill>
                <a:latin typeface="Arial MT"/>
                <a:cs typeface="Arial MT"/>
              </a:rPr>
              <a:t>server:</a:t>
            </a:r>
            <a:endParaRPr sz="3700">
              <a:latin typeface="Arial MT"/>
              <a:cs typeface="Arial MT"/>
            </a:endParaRPr>
          </a:p>
        </p:txBody>
      </p:sp>
      <p:pic>
        <p:nvPicPr>
          <p:cNvPr id="4" name="object 4"/>
          <p:cNvPicPr/>
          <p:nvPr/>
        </p:nvPicPr>
        <p:blipFill>
          <a:blip r:embed="rId3" cstate="print"/>
          <a:stretch>
            <a:fillRect/>
          </a:stretch>
        </p:blipFill>
        <p:spPr>
          <a:xfrm>
            <a:off x="1170384" y="5675932"/>
            <a:ext cx="171450" cy="171449"/>
          </a:xfrm>
          <a:prstGeom prst="rect">
            <a:avLst/>
          </a:prstGeom>
        </p:spPr>
      </p:pic>
      <p:pic>
        <p:nvPicPr>
          <p:cNvPr id="5" name="object 5"/>
          <p:cNvPicPr/>
          <p:nvPr/>
        </p:nvPicPr>
        <p:blipFill>
          <a:blip r:embed="rId3" cstate="print"/>
          <a:stretch>
            <a:fillRect/>
          </a:stretch>
        </p:blipFill>
        <p:spPr>
          <a:xfrm>
            <a:off x="1170384" y="6161707"/>
            <a:ext cx="171450" cy="171449"/>
          </a:xfrm>
          <a:prstGeom prst="rect">
            <a:avLst/>
          </a:prstGeom>
        </p:spPr>
      </p:pic>
      <p:pic>
        <p:nvPicPr>
          <p:cNvPr id="6" name="object 6"/>
          <p:cNvPicPr/>
          <p:nvPr/>
        </p:nvPicPr>
        <p:blipFill>
          <a:blip r:embed="rId4" cstate="print"/>
          <a:stretch>
            <a:fillRect/>
          </a:stretch>
        </p:blipFill>
        <p:spPr>
          <a:xfrm>
            <a:off x="1170384" y="6647482"/>
            <a:ext cx="171450" cy="171449"/>
          </a:xfrm>
          <a:prstGeom prst="rect">
            <a:avLst/>
          </a:prstGeom>
        </p:spPr>
      </p:pic>
      <p:pic>
        <p:nvPicPr>
          <p:cNvPr id="7" name="object 7"/>
          <p:cNvPicPr/>
          <p:nvPr/>
        </p:nvPicPr>
        <p:blipFill>
          <a:blip r:embed="rId3" cstate="print"/>
          <a:stretch>
            <a:fillRect/>
          </a:stretch>
        </p:blipFill>
        <p:spPr>
          <a:xfrm>
            <a:off x="1170384" y="7133257"/>
            <a:ext cx="171450" cy="171449"/>
          </a:xfrm>
          <a:prstGeom prst="rect">
            <a:avLst/>
          </a:prstGeom>
        </p:spPr>
      </p:pic>
      <p:pic>
        <p:nvPicPr>
          <p:cNvPr id="8" name="object 8"/>
          <p:cNvPicPr/>
          <p:nvPr/>
        </p:nvPicPr>
        <p:blipFill>
          <a:blip r:embed="rId5" cstate="print"/>
          <a:stretch>
            <a:fillRect/>
          </a:stretch>
        </p:blipFill>
        <p:spPr>
          <a:xfrm>
            <a:off x="1170384" y="7619032"/>
            <a:ext cx="171450" cy="171449"/>
          </a:xfrm>
          <a:prstGeom prst="rect">
            <a:avLst/>
          </a:prstGeom>
        </p:spPr>
      </p:pic>
      <p:pic>
        <p:nvPicPr>
          <p:cNvPr id="9" name="object 9"/>
          <p:cNvPicPr/>
          <p:nvPr/>
        </p:nvPicPr>
        <p:blipFill>
          <a:blip r:embed="rId3" cstate="print"/>
          <a:stretch>
            <a:fillRect/>
          </a:stretch>
        </p:blipFill>
        <p:spPr>
          <a:xfrm>
            <a:off x="1170384" y="8104806"/>
            <a:ext cx="171450" cy="171449"/>
          </a:xfrm>
          <a:prstGeom prst="rect">
            <a:avLst/>
          </a:prstGeom>
        </p:spPr>
      </p:pic>
      <p:pic>
        <p:nvPicPr>
          <p:cNvPr id="10" name="object 10"/>
          <p:cNvPicPr/>
          <p:nvPr/>
        </p:nvPicPr>
        <p:blipFill>
          <a:blip r:embed="rId4" cstate="print"/>
          <a:stretch>
            <a:fillRect/>
          </a:stretch>
        </p:blipFill>
        <p:spPr>
          <a:xfrm>
            <a:off x="1170384" y="8590581"/>
            <a:ext cx="171450" cy="171449"/>
          </a:xfrm>
          <a:prstGeom prst="rect">
            <a:avLst/>
          </a:prstGeom>
        </p:spPr>
      </p:pic>
      <p:pic>
        <p:nvPicPr>
          <p:cNvPr id="11" name="object 11"/>
          <p:cNvPicPr/>
          <p:nvPr/>
        </p:nvPicPr>
        <p:blipFill>
          <a:blip r:embed="rId6" cstate="print"/>
          <a:stretch>
            <a:fillRect/>
          </a:stretch>
        </p:blipFill>
        <p:spPr>
          <a:xfrm>
            <a:off x="1485918" y="3313467"/>
            <a:ext cx="171450" cy="171449"/>
          </a:xfrm>
          <a:prstGeom prst="rect">
            <a:avLst/>
          </a:prstGeom>
        </p:spPr>
      </p:pic>
      <p:pic>
        <p:nvPicPr>
          <p:cNvPr id="12" name="object 12"/>
          <p:cNvPicPr/>
          <p:nvPr/>
        </p:nvPicPr>
        <p:blipFill>
          <a:blip r:embed="rId3" cstate="print"/>
          <a:stretch>
            <a:fillRect/>
          </a:stretch>
        </p:blipFill>
        <p:spPr>
          <a:xfrm>
            <a:off x="1485918" y="3799242"/>
            <a:ext cx="171450" cy="171449"/>
          </a:xfrm>
          <a:prstGeom prst="rect">
            <a:avLst/>
          </a:prstGeom>
        </p:spPr>
      </p:pic>
      <p:pic>
        <p:nvPicPr>
          <p:cNvPr id="13" name="object 13"/>
          <p:cNvPicPr/>
          <p:nvPr/>
        </p:nvPicPr>
        <p:blipFill>
          <a:blip r:embed="rId4" cstate="print"/>
          <a:stretch>
            <a:fillRect/>
          </a:stretch>
        </p:blipFill>
        <p:spPr>
          <a:xfrm>
            <a:off x="1485918" y="1389974"/>
            <a:ext cx="171450" cy="171449"/>
          </a:xfrm>
          <a:prstGeom prst="rect">
            <a:avLst/>
          </a:prstGeom>
        </p:spPr>
      </p:pic>
      <p:pic>
        <p:nvPicPr>
          <p:cNvPr id="14" name="object 14"/>
          <p:cNvPicPr/>
          <p:nvPr/>
        </p:nvPicPr>
        <p:blipFill>
          <a:blip r:embed="rId5" cstate="print"/>
          <a:stretch>
            <a:fillRect/>
          </a:stretch>
        </p:blipFill>
        <p:spPr>
          <a:xfrm>
            <a:off x="1485918" y="2028149"/>
            <a:ext cx="171450" cy="171449"/>
          </a:xfrm>
          <a:prstGeom prst="rect">
            <a:avLst/>
          </a:prstGeom>
        </p:spPr>
      </p:pic>
      <p:sp>
        <p:nvSpPr>
          <p:cNvPr id="15" name="object 15"/>
          <p:cNvSpPr txBox="1"/>
          <p:nvPr/>
        </p:nvSpPr>
        <p:spPr>
          <a:xfrm>
            <a:off x="637685" y="1087980"/>
            <a:ext cx="16634460" cy="8350250"/>
          </a:xfrm>
          <a:prstGeom prst="rect">
            <a:avLst/>
          </a:prstGeom>
        </p:spPr>
        <p:txBody>
          <a:bodyPr vert="horz" wrap="square" lIns="0" tIns="12065" rIns="0" bIns="0" rtlCol="0">
            <a:spAutoFit/>
          </a:bodyPr>
          <a:lstStyle/>
          <a:p>
            <a:pPr marL="1256030" marR="3247390">
              <a:lnSpc>
                <a:spcPct val="116300"/>
              </a:lnSpc>
              <a:spcBef>
                <a:spcPts val="95"/>
              </a:spcBef>
            </a:pPr>
            <a:r>
              <a:rPr sz="3600" spc="-330" dirty="0">
                <a:latin typeface="Trebuchet MS"/>
                <a:cs typeface="Trebuchet MS"/>
              </a:rPr>
              <a:t>It</a:t>
            </a:r>
            <a:r>
              <a:rPr sz="3600" spc="-385" dirty="0">
                <a:latin typeface="Trebuchet MS"/>
                <a:cs typeface="Trebuchet MS"/>
              </a:rPr>
              <a:t> </a:t>
            </a:r>
            <a:r>
              <a:rPr sz="3600" spc="-220" dirty="0">
                <a:latin typeface="Trebuchet MS"/>
                <a:cs typeface="Trebuchet MS"/>
              </a:rPr>
              <a:t>is</a:t>
            </a:r>
            <a:r>
              <a:rPr sz="3600" spc="-380" dirty="0">
                <a:latin typeface="Trebuchet MS"/>
                <a:cs typeface="Trebuchet MS"/>
              </a:rPr>
              <a:t> </a:t>
            </a:r>
            <a:r>
              <a:rPr sz="3600" spc="-320" dirty="0">
                <a:latin typeface="Trebuchet MS"/>
                <a:cs typeface="Trebuchet MS"/>
              </a:rPr>
              <a:t>used</a:t>
            </a:r>
            <a:r>
              <a:rPr sz="3600" spc="-380" dirty="0">
                <a:latin typeface="Trebuchet MS"/>
                <a:cs typeface="Trebuchet MS"/>
              </a:rPr>
              <a:t> </a:t>
            </a:r>
            <a:r>
              <a:rPr sz="3600" spc="-409" dirty="0">
                <a:latin typeface="Trebuchet MS"/>
                <a:cs typeface="Trebuchet MS"/>
              </a:rPr>
              <a:t>to</a:t>
            </a:r>
            <a:r>
              <a:rPr sz="3600" spc="-380" dirty="0">
                <a:latin typeface="Trebuchet MS"/>
                <a:cs typeface="Trebuchet MS"/>
              </a:rPr>
              <a:t> </a:t>
            </a:r>
            <a:r>
              <a:rPr sz="3600" spc="-455" dirty="0">
                <a:latin typeface="Trebuchet MS"/>
                <a:cs typeface="Trebuchet MS"/>
              </a:rPr>
              <a:t>accept</a:t>
            </a:r>
            <a:r>
              <a:rPr sz="3600" spc="-385"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365" dirty="0">
                <a:latin typeface="Trebuchet MS"/>
                <a:cs typeface="Trebuchet MS"/>
              </a:rPr>
              <a:t>request</a:t>
            </a:r>
            <a:r>
              <a:rPr sz="3600" spc="-380" dirty="0">
                <a:latin typeface="Trebuchet MS"/>
                <a:cs typeface="Trebuchet MS"/>
              </a:rPr>
              <a:t> </a:t>
            </a:r>
            <a:r>
              <a:rPr sz="3600" spc="-400" dirty="0">
                <a:latin typeface="Trebuchet MS"/>
                <a:cs typeface="Trebuchet MS"/>
              </a:rPr>
              <a:t>from</a:t>
            </a:r>
            <a:r>
              <a:rPr sz="3600" spc="-380"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20" dirty="0">
                <a:latin typeface="Trebuchet MS"/>
                <a:cs typeface="Trebuchet MS"/>
              </a:rPr>
              <a:t>user</a:t>
            </a:r>
            <a:r>
              <a:rPr sz="3600" spc="-380" dirty="0">
                <a:latin typeface="Trebuchet MS"/>
                <a:cs typeface="Trebuchet MS"/>
              </a:rPr>
              <a:t> </a:t>
            </a:r>
            <a:r>
              <a:rPr sz="3600" spc="-365" dirty="0">
                <a:latin typeface="Trebuchet MS"/>
                <a:cs typeface="Trebuchet MS"/>
              </a:rPr>
              <a:t>and</a:t>
            </a:r>
            <a:r>
              <a:rPr sz="3600" spc="-380" dirty="0">
                <a:latin typeface="Trebuchet MS"/>
                <a:cs typeface="Trebuchet MS"/>
              </a:rPr>
              <a:t> </a:t>
            </a:r>
            <a:r>
              <a:rPr sz="3600" spc="-350" dirty="0">
                <a:latin typeface="Trebuchet MS"/>
                <a:cs typeface="Trebuchet MS"/>
              </a:rPr>
              <a:t>store</a:t>
            </a:r>
            <a:r>
              <a:rPr sz="3600" spc="-380"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65" dirty="0">
                <a:latin typeface="Trebuchet MS"/>
                <a:cs typeface="Trebuchet MS"/>
              </a:rPr>
              <a:t>request</a:t>
            </a:r>
            <a:r>
              <a:rPr sz="3600" spc="-380" dirty="0">
                <a:latin typeface="Trebuchet MS"/>
                <a:cs typeface="Trebuchet MS"/>
              </a:rPr>
              <a:t> </a:t>
            </a:r>
            <a:r>
              <a:rPr sz="3600" spc="-330" dirty="0">
                <a:latin typeface="Trebuchet MS"/>
                <a:cs typeface="Trebuchet MS"/>
              </a:rPr>
              <a:t>in</a:t>
            </a:r>
            <a:r>
              <a:rPr sz="3600" spc="-380" dirty="0">
                <a:latin typeface="Trebuchet MS"/>
                <a:cs typeface="Trebuchet MS"/>
              </a:rPr>
              <a:t> </a:t>
            </a:r>
            <a:r>
              <a:rPr sz="3600" spc="-565" dirty="0">
                <a:latin typeface="Trebuchet MS"/>
                <a:cs typeface="Trebuchet MS"/>
              </a:rPr>
              <a:t>ETCD. </a:t>
            </a:r>
            <a:r>
              <a:rPr sz="3600" spc="-330" dirty="0">
                <a:latin typeface="Trebuchet MS"/>
                <a:cs typeface="Trebuchet MS"/>
              </a:rPr>
              <a:t>It</a:t>
            </a:r>
            <a:r>
              <a:rPr sz="3600" spc="-385" dirty="0">
                <a:latin typeface="Trebuchet MS"/>
                <a:cs typeface="Trebuchet MS"/>
              </a:rPr>
              <a:t> </a:t>
            </a:r>
            <a:r>
              <a:rPr sz="3600" spc="-220" dirty="0">
                <a:latin typeface="Trebuchet MS"/>
                <a:cs typeface="Trebuchet MS"/>
              </a:rPr>
              <a:t>is</a:t>
            </a:r>
            <a:r>
              <a:rPr sz="3600" spc="-380"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305" dirty="0">
                <a:latin typeface="Trebuchet MS"/>
                <a:cs typeface="Trebuchet MS"/>
              </a:rPr>
              <a:t>only</a:t>
            </a:r>
            <a:r>
              <a:rPr sz="3600" spc="-380" dirty="0">
                <a:latin typeface="Trebuchet MS"/>
                <a:cs typeface="Trebuchet MS"/>
              </a:rPr>
              <a:t> </a:t>
            </a:r>
            <a:r>
              <a:rPr sz="3600" spc="-420" dirty="0">
                <a:latin typeface="Trebuchet MS"/>
                <a:cs typeface="Trebuchet MS"/>
              </a:rPr>
              <a:t>component</a:t>
            </a:r>
            <a:r>
              <a:rPr sz="3600" spc="-380" dirty="0">
                <a:latin typeface="Trebuchet MS"/>
                <a:cs typeface="Trebuchet MS"/>
              </a:rPr>
              <a:t> </a:t>
            </a:r>
            <a:r>
              <a:rPr sz="3600" spc="-400" dirty="0">
                <a:latin typeface="Trebuchet MS"/>
                <a:cs typeface="Trebuchet MS"/>
              </a:rPr>
              <a:t>that</a:t>
            </a:r>
            <a:r>
              <a:rPr sz="3600" spc="-380" dirty="0">
                <a:latin typeface="Trebuchet MS"/>
                <a:cs typeface="Trebuchet MS"/>
              </a:rPr>
              <a:t> interacts </a:t>
            </a:r>
            <a:r>
              <a:rPr sz="3600" spc="-400" dirty="0">
                <a:latin typeface="Trebuchet MS"/>
                <a:cs typeface="Trebuchet MS"/>
              </a:rPr>
              <a:t>with</a:t>
            </a:r>
            <a:r>
              <a:rPr sz="3600" spc="-380"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530" dirty="0">
                <a:latin typeface="Trebuchet MS"/>
                <a:cs typeface="Trebuchet MS"/>
              </a:rPr>
              <a:t>ETCD</a:t>
            </a:r>
            <a:r>
              <a:rPr sz="3600" spc="-385" dirty="0">
                <a:latin typeface="Trebuchet MS"/>
                <a:cs typeface="Trebuchet MS"/>
              </a:rPr>
              <a:t> </a:t>
            </a:r>
            <a:r>
              <a:rPr sz="3600" spc="-390" dirty="0">
                <a:latin typeface="Trebuchet MS"/>
                <a:cs typeface="Trebuchet MS"/>
              </a:rPr>
              <a:t>directly</a:t>
            </a:r>
            <a:endParaRPr sz="3600">
              <a:latin typeface="Trebuchet MS"/>
              <a:cs typeface="Trebuchet MS"/>
            </a:endParaRPr>
          </a:p>
          <a:p>
            <a:pPr marL="12700">
              <a:lnSpc>
                <a:spcPct val="100000"/>
              </a:lnSpc>
              <a:spcBef>
                <a:spcPts val="730"/>
              </a:spcBef>
            </a:pPr>
            <a:r>
              <a:rPr sz="3700" spc="-560" dirty="0">
                <a:solidFill>
                  <a:srgbClr val="FF904D"/>
                </a:solidFill>
                <a:latin typeface="Arial MT"/>
                <a:cs typeface="Arial MT"/>
              </a:rPr>
              <a:t>ETCD:</a:t>
            </a:r>
            <a:endParaRPr sz="3700">
              <a:latin typeface="Arial MT"/>
              <a:cs typeface="Arial MT"/>
            </a:endParaRPr>
          </a:p>
          <a:p>
            <a:pPr marL="1256030">
              <a:lnSpc>
                <a:spcPts val="4075"/>
              </a:lnSpc>
              <a:spcBef>
                <a:spcPts val="635"/>
              </a:spcBef>
            </a:pPr>
            <a:r>
              <a:rPr sz="3600" spc="-330" dirty="0">
                <a:latin typeface="Trebuchet MS"/>
                <a:cs typeface="Trebuchet MS"/>
              </a:rPr>
              <a:t>It</a:t>
            </a:r>
            <a:r>
              <a:rPr sz="3600" spc="-385" dirty="0">
                <a:latin typeface="Trebuchet MS"/>
                <a:cs typeface="Trebuchet MS"/>
              </a:rPr>
              <a:t> </a:t>
            </a:r>
            <a:r>
              <a:rPr sz="3600" spc="-220" dirty="0">
                <a:latin typeface="Trebuchet MS"/>
                <a:cs typeface="Trebuchet MS"/>
              </a:rPr>
              <a:t>is</a:t>
            </a:r>
            <a:r>
              <a:rPr sz="3600" spc="-385" dirty="0">
                <a:latin typeface="Trebuchet MS"/>
                <a:cs typeface="Trebuchet MS"/>
              </a:rPr>
              <a:t> </a:t>
            </a:r>
            <a:r>
              <a:rPr sz="3600" spc="-370" dirty="0">
                <a:latin typeface="Trebuchet MS"/>
                <a:cs typeface="Trebuchet MS"/>
              </a:rPr>
              <a:t>like</a:t>
            </a:r>
            <a:r>
              <a:rPr sz="3600" spc="-385" dirty="0">
                <a:latin typeface="Trebuchet MS"/>
                <a:cs typeface="Trebuchet MS"/>
              </a:rPr>
              <a:t> </a:t>
            </a:r>
            <a:r>
              <a:rPr sz="3600" spc="-360" dirty="0">
                <a:latin typeface="Trebuchet MS"/>
                <a:cs typeface="Trebuchet MS"/>
              </a:rPr>
              <a:t>a</a:t>
            </a:r>
            <a:r>
              <a:rPr sz="3600" spc="-385" dirty="0">
                <a:latin typeface="Trebuchet MS"/>
                <a:cs typeface="Trebuchet MS"/>
              </a:rPr>
              <a:t> </a:t>
            </a:r>
            <a:r>
              <a:rPr sz="3600" spc="-360" dirty="0">
                <a:latin typeface="Trebuchet MS"/>
                <a:cs typeface="Trebuchet MS"/>
              </a:rPr>
              <a:t>database</a:t>
            </a:r>
            <a:r>
              <a:rPr sz="3600" spc="-385" dirty="0">
                <a:latin typeface="Trebuchet MS"/>
                <a:cs typeface="Trebuchet MS"/>
              </a:rPr>
              <a:t> </a:t>
            </a:r>
            <a:r>
              <a:rPr sz="3600" spc="-409" dirty="0">
                <a:latin typeface="Trebuchet MS"/>
                <a:cs typeface="Trebuchet MS"/>
              </a:rPr>
              <a:t>to</a:t>
            </a:r>
            <a:r>
              <a:rPr sz="3600" spc="-385" dirty="0">
                <a:latin typeface="Trebuchet MS"/>
                <a:cs typeface="Trebuchet MS"/>
              </a:rPr>
              <a:t> </a:t>
            </a:r>
            <a:r>
              <a:rPr sz="3600" spc="-365" dirty="0">
                <a:latin typeface="Trebuchet MS"/>
                <a:cs typeface="Trebuchet MS"/>
              </a:rPr>
              <a:t>our</a:t>
            </a:r>
            <a:r>
              <a:rPr sz="3600" spc="-385" dirty="0">
                <a:latin typeface="Trebuchet MS"/>
                <a:cs typeface="Trebuchet MS"/>
              </a:rPr>
              <a:t> </a:t>
            </a:r>
            <a:r>
              <a:rPr sz="3600" spc="-20" dirty="0">
                <a:latin typeface="Trebuchet MS"/>
                <a:cs typeface="Trebuchet MS"/>
              </a:rPr>
              <a:t>k8's</a:t>
            </a:r>
            <a:endParaRPr sz="3600">
              <a:latin typeface="Trebuchet MS"/>
              <a:cs typeface="Trebuchet MS"/>
            </a:endParaRPr>
          </a:p>
          <a:p>
            <a:pPr marL="1256030">
              <a:lnSpc>
                <a:spcPts val="4070"/>
              </a:lnSpc>
            </a:pPr>
            <a:r>
              <a:rPr sz="3600" spc="-385" dirty="0">
                <a:latin typeface="Trebuchet MS"/>
                <a:cs typeface="Trebuchet MS"/>
              </a:rPr>
              <a:t>it </a:t>
            </a:r>
            <a:r>
              <a:rPr sz="3600" spc="-220" dirty="0">
                <a:latin typeface="Trebuchet MS"/>
                <a:cs typeface="Trebuchet MS"/>
              </a:rPr>
              <a:t>is</a:t>
            </a:r>
            <a:r>
              <a:rPr sz="3600" spc="-385" dirty="0">
                <a:latin typeface="Trebuchet MS"/>
                <a:cs typeface="Trebuchet MS"/>
              </a:rPr>
              <a:t> </a:t>
            </a:r>
            <a:r>
              <a:rPr sz="3600" spc="-320" dirty="0">
                <a:latin typeface="Trebuchet MS"/>
                <a:cs typeface="Trebuchet MS"/>
              </a:rPr>
              <a:t>used</a:t>
            </a:r>
            <a:r>
              <a:rPr sz="3600" spc="-380" dirty="0">
                <a:latin typeface="Trebuchet MS"/>
                <a:cs typeface="Trebuchet MS"/>
              </a:rPr>
              <a:t> </a:t>
            </a:r>
            <a:r>
              <a:rPr sz="3600" spc="-409" dirty="0">
                <a:latin typeface="Trebuchet MS"/>
                <a:cs typeface="Trebuchet MS"/>
              </a:rPr>
              <a:t>to</a:t>
            </a:r>
            <a:r>
              <a:rPr sz="3600" spc="-385" dirty="0">
                <a:latin typeface="Trebuchet MS"/>
                <a:cs typeface="Trebuchet MS"/>
              </a:rPr>
              <a:t> </a:t>
            </a:r>
            <a:r>
              <a:rPr sz="3600" spc="-350" dirty="0">
                <a:latin typeface="Trebuchet MS"/>
                <a:cs typeface="Trebuchet MS"/>
              </a:rPr>
              <a:t>store</a:t>
            </a:r>
            <a:r>
              <a:rPr sz="3600" spc="-385"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330" dirty="0">
                <a:latin typeface="Trebuchet MS"/>
                <a:cs typeface="Trebuchet MS"/>
              </a:rPr>
              <a:t>requests</a:t>
            </a:r>
            <a:r>
              <a:rPr sz="3600" spc="-385" dirty="0">
                <a:latin typeface="Trebuchet MS"/>
                <a:cs typeface="Trebuchet MS"/>
              </a:rPr>
              <a:t> </a:t>
            </a:r>
            <a:r>
              <a:rPr sz="3600" spc="-350" dirty="0">
                <a:latin typeface="Trebuchet MS"/>
                <a:cs typeface="Trebuchet MS"/>
              </a:rPr>
              <a:t>of</a:t>
            </a:r>
            <a:r>
              <a:rPr sz="3600" spc="-385" dirty="0">
                <a:latin typeface="Trebuchet MS"/>
                <a:cs typeface="Trebuchet MS"/>
              </a:rPr>
              <a:t> </a:t>
            </a:r>
            <a:r>
              <a:rPr sz="3600" spc="-365" dirty="0">
                <a:latin typeface="Trebuchet MS"/>
                <a:cs typeface="Trebuchet MS"/>
              </a:rPr>
              <a:t>our</a:t>
            </a:r>
            <a:r>
              <a:rPr sz="3600" spc="-380" dirty="0">
                <a:latin typeface="Trebuchet MS"/>
                <a:cs typeface="Trebuchet MS"/>
              </a:rPr>
              <a:t> </a:t>
            </a:r>
            <a:r>
              <a:rPr sz="3600" spc="-375" dirty="0">
                <a:latin typeface="Trebuchet MS"/>
                <a:cs typeface="Trebuchet MS"/>
              </a:rPr>
              <a:t>cluster</a:t>
            </a:r>
            <a:r>
              <a:rPr sz="3600" spc="-385" dirty="0">
                <a:latin typeface="Trebuchet MS"/>
                <a:cs typeface="Trebuchet MS"/>
              </a:rPr>
              <a:t> </a:t>
            </a:r>
            <a:r>
              <a:rPr sz="3600" spc="-370" dirty="0">
                <a:latin typeface="Trebuchet MS"/>
                <a:cs typeface="Trebuchet MS"/>
              </a:rPr>
              <a:t>like</a:t>
            </a:r>
            <a:r>
              <a:rPr sz="3600" spc="-380" dirty="0">
                <a:latin typeface="Trebuchet MS"/>
                <a:cs typeface="Trebuchet MS"/>
              </a:rPr>
              <a:t> pods,</a:t>
            </a:r>
            <a:r>
              <a:rPr sz="3600" spc="-385" dirty="0">
                <a:latin typeface="Trebuchet MS"/>
                <a:cs typeface="Trebuchet MS"/>
              </a:rPr>
              <a:t> </a:t>
            </a:r>
            <a:r>
              <a:rPr sz="3600" spc="-380" dirty="0">
                <a:latin typeface="Trebuchet MS"/>
                <a:cs typeface="Trebuchet MS"/>
              </a:rPr>
              <a:t>nodes,</a:t>
            </a:r>
            <a:r>
              <a:rPr sz="3600" spc="-385" dirty="0">
                <a:latin typeface="Trebuchet MS"/>
                <a:cs typeface="Trebuchet MS"/>
              </a:rPr>
              <a:t> </a:t>
            </a:r>
            <a:r>
              <a:rPr sz="3600" spc="-360" dirty="0">
                <a:latin typeface="Trebuchet MS"/>
                <a:cs typeface="Trebuchet MS"/>
              </a:rPr>
              <a:t>configs,</a:t>
            </a:r>
            <a:r>
              <a:rPr sz="3600" spc="-380" dirty="0">
                <a:latin typeface="Trebuchet MS"/>
                <a:cs typeface="Trebuchet MS"/>
              </a:rPr>
              <a:t> </a:t>
            </a:r>
            <a:r>
              <a:rPr sz="3600" spc="-390" dirty="0">
                <a:latin typeface="Trebuchet MS"/>
                <a:cs typeface="Trebuchet MS"/>
              </a:rPr>
              <a:t>secrets,</a:t>
            </a:r>
            <a:r>
              <a:rPr sz="3600" spc="-385" dirty="0">
                <a:latin typeface="Trebuchet MS"/>
                <a:cs typeface="Trebuchet MS"/>
              </a:rPr>
              <a:t> </a:t>
            </a:r>
            <a:r>
              <a:rPr sz="3600" spc="-335" dirty="0">
                <a:latin typeface="Trebuchet MS"/>
                <a:cs typeface="Trebuchet MS"/>
              </a:rPr>
              <a:t>roles</a:t>
            </a:r>
            <a:r>
              <a:rPr sz="3600" spc="-385" dirty="0">
                <a:latin typeface="Trebuchet MS"/>
                <a:cs typeface="Trebuchet MS"/>
              </a:rPr>
              <a:t> </a:t>
            </a:r>
            <a:r>
              <a:rPr sz="3600" spc="-565" dirty="0">
                <a:latin typeface="Trebuchet MS"/>
                <a:cs typeface="Trebuchet MS"/>
              </a:rPr>
              <a:t>etc..</a:t>
            </a:r>
            <a:endParaRPr sz="3600">
              <a:latin typeface="Trebuchet MS"/>
              <a:cs typeface="Trebuchet MS"/>
            </a:endParaRPr>
          </a:p>
          <a:p>
            <a:pPr marL="12700">
              <a:lnSpc>
                <a:spcPct val="100000"/>
              </a:lnSpc>
              <a:spcBef>
                <a:spcPts val="3450"/>
              </a:spcBef>
            </a:pPr>
            <a:r>
              <a:rPr sz="3700" spc="75" dirty="0">
                <a:solidFill>
                  <a:srgbClr val="FF904D"/>
                </a:solidFill>
                <a:latin typeface="Arial MT"/>
                <a:cs typeface="Arial MT"/>
              </a:rPr>
              <a:t>scheduler:</a:t>
            </a:r>
            <a:endParaRPr sz="3700">
              <a:latin typeface="Arial MT"/>
              <a:cs typeface="Arial MT"/>
            </a:endParaRPr>
          </a:p>
          <a:p>
            <a:pPr marL="940435">
              <a:lnSpc>
                <a:spcPts val="4075"/>
              </a:lnSpc>
              <a:spcBef>
                <a:spcPts val="2565"/>
              </a:spcBef>
            </a:pPr>
            <a:r>
              <a:rPr sz="3600" spc="-330" dirty="0">
                <a:latin typeface="Trebuchet MS"/>
                <a:cs typeface="Trebuchet MS"/>
              </a:rPr>
              <a:t>It</a:t>
            </a:r>
            <a:r>
              <a:rPr sz="3600" spc="-385" dirty="0">
                <a:latin typeface="Trebuchet MS"/>
                <a:cs typeface="Trebuchet MS"/>
              </a:rPr>
              <a:t> </a:t>
            </a:r>
            <a:r>
              <a:rPr sz="3600" spc="-220" dirty="0">
                <a:latin typeface="Trebuchet MS"/>
                <a:cs typeface="Trebuchet MS"/>
              </a:rPr>
              <a:t>is</a:t>
            </a:r>
            <a:r>
              <a:rPr sz="3600" spc="-385" dirty="0">
                <a:latin typeface="Trebuchet MS"/>
                <a:cs typeface="Trebuchet MS"/>
              </a:rPr>
              <a:t> </a:t>
            </a:r>
            <a:r>
              <a:rPr sz="3600" spc="-320" dirty="0">
                <a:latin typeface="Trebuchet MS"/>
                <a:cs typeface="Trebuchet MS"/>
              </a:rPr>
              <a:t>used</a:t>
            </a:r>
            <a:r>
              <a:rPr sz="3600" spc="-385" dirty="0">
                <a:latin typeface="Trebuchet MS"/>
                <a:cs typeface="Trebuchet MS"/>
              </a:rPr>
              <a:t> </a:t>
            </a:r>
            <a:r>
              <a:rPr sz="3600" spc="-409" dirty="0">
                <a:latin typeface="Trebuchet MS"/>
                <a:cs typeface="Trebuchet MS"/>
              </a:rPr>
              <a:t>to</a:t>
            </a:r>
            <a:r>
              <a:rPr sz="3600" spc="-385" dirty="0">
                <a:latin typeface="Trebuchet MS"/>
                <a:cs typeface="Trebuchet MS"/>
              </a:rPr>
              <a:t> </a:t>
            </a:r>
            <a:r>
              <a:rPr sz="3600" spc="-365" dirty="0">
                <a:latin typeface="Trebuchet MS"/>
                <a:cs typeface="Trebuchet MS"/>
              </a:rPr>
              <a:t>search</a:t>
            </a:r>
            <a:r>
              <a:rPr sz="3600" spc="-385" dirty="0">
                <a:latin typeface="Trebuchet MS"/>
                <a:cs typeface="Trebuchet MS"/>
              </a:rPr>
              <a:t> </a:t>
            </a:r>
            <a:r>
              <a:rPr sz="3600" spc="-345" dirty="0">
                <a:latin typeface="Trebuchet MS"/>
                <a:cs typeface="Trebuchet MS"/>
              </a:rPr>
              <a:t>pending</a:t>
            </a:r>
            <a:r>
              <a:rPr sz="3600" spc="-385" dirty="0">
                <a:latin typeface="Trebuchet MS"/>
                <a:cs typeface="Trebuchet MS"/>
              </a:rPr>
              <a:t> </a:t>
            </a:r>
            <a:r>
              <a:rPr sz="3600" spc="-275" dirty="0">
                <a:latin typeface="Trebuchet MS"/>
                <a:cs typeface="Trebuchet MS"/>
              </a:rPr>
              <a:t>tasks</a:t>
            </a:r>
            <a:r>
              <a:rPr sz="3600" spc="-385" dirty="0">
                <a:latin typeface="Trebuchet MS"/>
                <a:cs typeface="Trebuchet MS"/>
              </a:rPr>
              <a:t> </a:t>
            </a:r>
            <a:r>
              <a:rPr sz="3600" spc="-405" dirty="0">
                <a:latin typeface="Trebuchet MS"/>
                <a:cs typeface="Trebuchet MS"/>
              </a:rPr>
              <a:t>which</a:t>
            </a:r>
            <a:r>
              <a:rPr sz="3600" spc="-380" dirty="0">
                <a:latin typeface="Trebuchet MS"/>
                <a:cs typeface="Trebuchet MS"/>
              </a:rPr>
              <a:t> </a:t>
            </a:r>
            <a:r>
              <a:rPr sz="3600" spc="-395" dirty="0">
                <a:latin typeface="Trebuchet MS"/>
                <a:cs typeface="Trebuchet MS"/>
              </a:rPr>
              <a:t>are</a:t>
            </a:r>
            <a:r>
              <a:rPr sz="3600" spc="-385" dirty="0">
                <a:latin typeface="Trebuchet MS"/>
                <a:cs typeface="Trebuchet MS"/>
              </a:rPr>
              <a:t> </a:t>
            </a:r>
            <a:r>
              <a:rPr sz="3600" spc="-365" dirty="0">
                <a:latin typeface="Trebuchet MS"/>
                <a:cs typeface="Trebuchet MS"/>
              </a:rPr>
              <a:t>present</a:t>
            </a:r>
            <a:r>
              <a:rPr sz="3600" spc="-385" dirty="0">
                <a:latin typeface="Trebuchet MS"/>
                <a:cs typeface="Trebuchet MS"/>
              </a:rPr>
              <a:t> </a:t>
            </a:r>
            <a:r>
              <a:rPr sz="3600" spc="-330" dirty="0">
                <a:latin typeface="Trebuchet MS"/>
                <a:cs typeface="Trebuchet MS"/>
              </a:rPr>
              <a:t>in</a:t>
            </a:r>
            <a:r>
              <a:rPr sz="3600" spc="-385" dirty="0">
                <a:latin typeface="Trebuchet MS"/>
                <a:cs typeface="Trebuchet MS"/>
              </a:rPr>
              <a:t> </a:t>
            </a:r>
            <a:r>
              <a:rPr sz="3600" spc="-565" dirty="0">
                <a:latin typeface="Trebuchet MS"/>
                <a:cs typeface="Trebuchet MS"/>
              </a:rPr>
              <a:t>ETCD.</a:t>
            </a:r>
            <a:endParaRPr sz="3600">
              <a:latin typeface="Trebuchet MS"/>
              <a:cs typeface="Trebuchet MS"/>
            </a:endParaRPr>
          </a:p>
          <a:p>
            <a:pPr marL="940435" marR="5126355">
              <a:lnSpc>
                <a:spcPts val="3829"/>
              </a:lnSpc>
              <a:spcBef>
                <a:spcPts val="290"/>
              </a:spcBef>
            </a:pPr>
            <a:r>
              <a:rPr sz="3600" spc="-270" dirty="0">
                <a:latin typeface="Trebuchet MS"/>
                <a:cs typeface="Trebuchet MS"/>
              </a:rPr>
              <a:t>If</a:t>
            </a:r>
            <a:r>
              <a:rPr sz="3600" spc="-385" dirty="0">
                <a:latin typeface="Trebuchet MS"/>
                <a:cs typeface="Trebuchet MS"/>
              </a:rPr>
              <a:t> </a:t>
            </a:r>
            <a:r>
              <a:rPr sz="3600" spc="-285" dirty="0">
                <a:latin typeface="Trebuchet MS"/>
                <a:cs typeface="Trebuchet MS"/>
              </a:rPr>
              <a:t>any</a:t>
            </a:r>
            <a:r>
              <a:rPr sz="3600" spc="-385" dirty="0">
                <a:latin typeface="Trebuchet MS"/>
                <a:cs typeface="Trebuchet MS"/>
              </a:rPr>
              <a:t> </a:t>
            </a:r>
            <a:r>
              <a:rPr sz="3600" spc="-345" dirty="0">
                <a:latin typeface="Trebuchet MS"/>
                <a:cs typeface="Trebuchet MS"/>
              </a:rPr>
              <a:t>pending</a:t>
            </a:r>
            <a:r>
              <a:rPr sz="3600" spc="-385" dirty="0">
                <a:latin typeface="Trebuchet MS"/>
                <a:cs typeface="Trebuchet MS"/>
              </a:rPr>
              <a:t> </a:t>
            </a:r>
            <a:r>
              <a:rPr sz="3600" spc="-320" dirty="0">
                <a:latin typeface="Trebuchet MS"/>
                <a:cs typeface="Trebuchet MS"/>
              </a:rPr>
              <a:t>task</a:t>
            </a:r>
            <a:r>
              <a:rPr sz="3600" spc="-380" dirty="0">
                <a:latin typeface="Trebuchet MS"/>
                <a:cs typeface="Trebuchet MS"/>
              </a:rPr>
              <a:t> </a:t>
            </a:r>
            <a:r>
              <a:rPr sz="3600" spc="-355" dirty="0">
                <a:latin typeface="Trebuchet MS"/>
                <a:cs typeface="Trebuchet MS"/>
              </a:rPr>
              <a:t>found</a:t>
            </a:r>
            <a:r>
              <a:rPr sz="3600" spc="-385" dirty="0">
                <a:latin typeface="Trebuchet MS"/>
                <a:cs typeface="Trebuchet MS"/>
              </a:rPr>
              <a:t> </a:t>
            </a:r>
            <a:r>
              <a:rPr sz="3600" spc="-330" dirty="0">
                <a:latin typeface="Trebuchet MS"/>
                <a:cs typeface="Trebuchet MS"/>
              </a:rPr>
              <a:t>in</a:t>
            </a:r>
            <a:r>
              <a:rPr sz="3600" spc="-385" dirty="0">
                <a:latin typeface="Trebuchet MS"/>
                <a:cs typeface="Trebuchet MS"/>
              </a:rPr>
              <a:t> </a:t>
            </a:r>
            <a:r>
              <a:rPr sz="3600" spc="-555" dirty="0">
                <a:latin typeface="Trebuchet MS"/>
                <a:cs typeface="Trebuchet MS"/>
              </a:rPr>
              <a:t>ETCD,</a:t>
            </a:r>
            <a:r>
              <a:rPr sz="3600" spc="-380" dirty="0">
                <a:latin typeface="Trebuchet MS"/>
                <a:cs typeface="Trebuchet MS"/>
              </a:rPr>
              <a:t> </a:t>
            </a:r>
            <a:r>
              <a:rPr sz="3600" spc="-385" dirty="0">
                <a:latin typeface="Trebuchet MS"/>
                <a:cs typeface="Trebuchet MS"/>
              </a:rPr>
              <a:t>it will </a:t>
            </a:r>
            <a:r>
              <a:rPr sz="3600" spc="-370" dirty="0">
                <a:latin typeface="Trebuchet MS"/>
                <a:cs typeface="Trebuchet MS"/>
              </a:rPr>
              <a:t>schedule</a:t>
            </a:r>
            <a:r>
              <a:rPr sz="3600" spc="-385" dirty="0">
                <a:latin typeface="Trebuchet MS"/>
                <a:cs typeface="Trebuchet MS"/>
              </a:rPr>
              <a:t> </a:t>
            </a:r>
            <a:r>
              <a:rPr sz="3600" spc="-330" dirty="0">
                <a:latin typeface="Trebuchet MS"/>
                <a:cs typeface="Trebuchet MS"/>
              </a:rPr>
              <a:t>in</a:t>
            </a:r>
            <a:r>
              <a:rPr sz="3600" spc="-380" dirty="0">
                <a:latin typeface="Trebuchet MS"/>
                <a:cs typeface="Trebuchet MS"/>
              </a:rPr>
              <a:t> </a:t>
            </a:r>
            <a:r>
              <a:rPr sz="3600" spc="-405" dirty="0">
                <a:latin typeface="Trebuchet MS"/>
                <a:cs typeface="Trebuchet MS"/>
              </a:rPr>
              <a:t>worker</a:t>
            </a:r>
            <a:r>
              <a:rPr sz="3600" spc="-385" dirty="0">
                <a:latin typeface="Trebuchet MS"/>
                <a:cs typeface="Trebuchet MS"/>
              </a:rPr>
              <a:t> </a:t>
            </a:r>
            <a:r>
              <a:rPr sz="3600" spc="-445" dirty="0">
                <a:latin typeface="Trebuchet MS"/>
                <a:cs typeface="Trebuchet MS"/>
              </a:rPr>
              <a:t>node. </a:t>
            </a:r>
            <a:r>
              <a:rPr sz="3600" spc="-330" dirty="0">
                <a:latin typeface="Trebuchet MS"/>
                <a:cs typeface="Trebuchet MS"/>
              </a:rPr>
              <a:t>It</a:t>
            </a:r>
            <a:r>
              <a:rPr sz="3600" spc="-385" dirty="0">
                <a:latin typeface="Trebuchet MS"/>
                <a:cs typeface="Trebuchet MS"/>
              </a:rPr>
              <a:t> will </a:t>
            </a:r>
            <a:r>
              <a:rPr sz="3600" spc="-420" dirty="0">
                <a:latin typeface="Trebuchet MS"/>
                <a:cs typeface="Trebuchet MS"/>
              </a:rPr>
              <a:t>decide</a:t>
            </a:r>
            <a:r>
              <a:rPr sz="3600" spc="-385" dirty="0">
                <a:latin typeface="Trebuchet MS"/>
                <a:cs typeface="Trebuchet MS"/>
              </a:rPr>
              <a:t> </a:t>
            </a:r>
            <a:r>
              <a:rPr sz="3600" spc="-330" dirty="0">
                <a:latin typeface="Trebuchet MS"/>
                <a:cs typeface="Trebuchet MS"/>
              </a:rPr>
              <a:t>in</a:t>
            </a:r>
            <a:r>
              <a:rPr sz="3600" spc="-385" dirty="0">
                <a:latin typeface="Trebuchet MS"/>
                <a:cs typeface="Trebuchet MS"/>
              </a:rPr>
              <a:t> </a:t>
            </a:r>
            <a:r>
              <a:rPr sz="3600" spc="-405" dirty="0">
                <a:latin typeface="Trebuchet MS"/>
                <a:cs typeface="Trebuchet MS"/>
              </a:rPr>
              <a:t>which</a:t>
            </a:r>
            <a:r>
              <a:rPr sz="3600" spc="-385" dirty="0">
                <a:latin typeface="Trebuchet MS"/>
                <a:cs typeface="Trebuchet MS"/>
              </a:rPr>
              <a:t> </a:t>
            </a:r>
            <a:r>
              <a:rPr sz="3600" spc="-405" dirty="0">
                <a:latin typeface="Trebuchet MS"/>
                <a:cs typeface="Trebuchet MS"/>
              </a:rPr>
              <a:t>worker</a:t>
            </a:r>
            <a:r>
              <a:rPr sz="3600" spc="-385" dirty="0">
                <a:latin typeface="Trebuchet MS"/>
                <a:cs typeface="Trebuchet MS"/>
              </a:rPr>
              <a:t> node </a:t>
            </a:r>
            <a:r>
              <a:rPr sz="3600" spc="-365" dirty="0">
                <a:latin typeface="Trebuchet MS"/>
                <a:cs typeface="Trebuchet MS"/>
              </a:rPr>
              <a:t>our</a:t>
            </a:r>
            <a:r>
              <a:rPr sz="3600" spc="-385" dirty="0">
                <a:latin typeface="Trebuchet MS"/>
                <a:cs typeface="Trebuchet MS"/>
              </a:rPr>
              <a:t> </a:t>
            </a:r>
            <a:r>
              <a:rPr sz="3600" spc="-320" dirty="0">
                <a:latin typeface="Trebuchet MS"/>
                <a:cs typeface="Trebuchet MS"/>
              </a:rPr>
              <a:t>task</a:t>
            </a:r>
            <a:r>
              <a:rPr sz="3600" spc="-385" dirty="0">
                <a:latin typeface="Trebuchet MS"/>
                <a:cs typeface="Trebuchet MS"/>
              </a:rPr>
              <a:t> </a:t>
            </a:r>
            <a:r>
              <a:rPr sz="3600" spc="-320" dirty="0">
                <a:latin typeface="Trebuchet MS"/>
                <a:cs typeface="Trebuchet MS"/>
              </a:rPr>
              <a:t>should</a:t>
            </a:r>
            <a:r>
              <a:rPr sz="3600" spc="-385" dirty="0">
                <a:latin typeface="Trebuchet MS"/>
                <a:cs typeface="Trebuchet MS"/>
              </a:rPr>
              <a:t> </a:t>
            </a:r>
            <a:r>
              <a:rPr sz="3600" spc="-300" dirty="0">
                <a:latin typeface="Trebuchet MS"/>
                <a:cs typeface="Trebuchet MS"/>
              </a:rPr>
              <a:t>gets</a:t>
            </a:r>
            <a:r>
              <a:rPr sz="3600" spc="-385" dirty="0">
                <a:latin typeface="Trebuchet MS"/>
                <a:cs typeface="Trebuchet MS"/>
              </a:rPr>
              <a:t> </a:t>
            </a:r>
            <a:r>
              <a:rPr sz="3600" spc="-455" dirty="0">
                <a:latin typeface="Trebuchet MS"/>
                <a:cs typeface="Trebuchet MS"/>
              </a:rPr>
              <a:t>executed. </a:t>
            </a:r>
            <a:r>
              <a:rPr sz="3600" spc="-330" dirty="0">
                <a:latin typeface="Trebuchet MS"/>
                <a:cs typeface="Trebuchet MS"/>
              </a:rPr>
              <a:t>It</a:t>
            </a:r>
            <a:r>
              <a:rPr sz="3600" spc="-390" dirty="0">
                <a:latin typeface="Trebuchet MS"/>
                <a:cs typeface="Trebuchet MS"/>
              </a:rPr>
              <a:t> </a:t>
            </a:r>
            <a:r>
              <a:rPr sz="3600" spc="-385" dirty="0">
                <a:latin typeface="Trebuchet MS"/>
                <a:cs typeface="Trebuchet MS"/>
              </a:rPr>
              <a:t>will </a:t>
            </a:r>
            <a:r>
              <a:rPr sz="3600" spc="-420" dirty="0">
                <a:latin typeface="Trebuchet MS"/>
                <a:cs typeface="Trebuchet MS"/>
              </a:rPr>
              <a:t>decide</a:t>
            </a:r>
            <a:r>
              <a:rPr sz="3600" spc="-385" dirty="0">
                <a:latin typeface="Trebuchet MS"/>
                <a:cs typeface="Trebuchet MS"/>
              </a:rPr>
              <a:t> </a:t>
            </a:r>
            <a:r>
              <a:rPr sz="3600" spc="-265" dirty="0">
                <a:latin typeface="Trebuchet MS"/>
                <a:cs typeface="Trebuchet MS"/>
              </a:rPr>
              <a:t>by</a:t>
            </a:r>
            <a:r>
              <a:rPr sz="3600" spc="-385" dirty="0">
                <a:latin typeface="Trebuchet MS"/>
                <a:cs typeface="Trebuchet MS"/>
              </a:rPr>
              <a:t> </a:t>
            </a:r>
            <a:r>
              <a:rPr sz="3600" spc="-409" dirty="0">
                <a:latin typeface="Trebuchet MS"/>
                <a:cs typeface="Trebuchet MS"/>
              </a:rPr>
              <a:t>communication</a:t>
            </a:r>
            <a:r>
              <a:rPr sz="3600" spc="-385" dirty="0">
                <a:latin typeface="Trebuchet MS"/>
                <a:cs typeface="Trebuchet MS"/>
              </a:rPr>
              <a:t> </a:t>
            </a:r>
            <a:r>
              <a:rPr sz="3600" spc="-400" dirty="0">
                <a:latin typeface="Trebuchet MS"/>
                <a:cs typeface="Trebuchet MS"/>
              </a:rPr>
              <a:t>with</a:t>
            </a:r>
            <a:r>
              <a:rPr sz="3600" spc="-385"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95" dirty="0">
                <a:latin typeface="Trebuchet MS"/>
                <a:cs typeface="Trebuchet MS"/>
              </a:rPr>
              <a:t>kubelet</a:t>
            </a:r>
            <a:r>
              <a:rPr sz="3600" spc="-385" dirty="0">
                <a:latin typeface="Trebuchet MS"/>
                <a:cs typeface="Trebuchet MS"/>
              </a:rPr>
              <a:t> </a:t>
            </a:r>
            <a:r>
              <a:rPr sz="3600" spc="-330" dirty="0">
                <a:latin typeface="Trebuchet MS"/>
                <a:cs typeface="Trebuchet MS"/>
              </a:rPr>
              <a:t>in</a:t>
            </a:r>
            <a:r>
              <a:rPr sz="3600" spc="-385" dirty="0">
                <a:latin typeface="Trebuchet MS"/>
                <a:cs typeface="Trebuchet MS"/>
              </a:rPr>
              <a:t> </a:t>
            </a:r>
            <a:r>
              <a:rPr sz="3600" spc="-405" dirty="0">
                <a:latin typeface="Trebuchet MS"/>
                <a:cs typeface="Trebuchet MS"/>
              </a:rPr>
              <a:t>worker</a:t>
            </a:r>
            <a:r>
              <a:rPr sz="3600" spc="-385" dirty="0">
                <a:latin typeface="Trebuchet MS"/>
                <a:cs typeface="Trebuchet MS"/>
              </a:rPr>
              <a:t> </a:t>
            </a:r>
            <a:r>
              <a:rPr sz="3600" spc="-405" dirty="0">
                <a:latin typeface="Trebuchet MS"/>
                <a:cs typeface="Trebuchet MS"/>
              </a:rPr>
              <a:t>node </a:t>
            </a:r>
            <a:r>
              <a:rPr sz="3600" spc="-375" dirty="0">
                <a:latin typeface="Trebuchet MS"/>
                <a:cs typeface="Trebuchet MS"/>
              </a:rPr>
              <a:t>Scheduler</a:t>
            </a:r>
            <a:r>
              <a:rPr sz="3600" spc="-385" dirty="0">
                <a:latin typeface="Trebuchet MS"/>
                <a:cs typeface="Trebuchet MS"/>
              </a:rPr>
              <a:t> </a:t>
            </a:r>
            <a:r>
              <a:rPr sz="3600" spc="-305" dirty="0">
                <a:latin typeface="Trebuchet MS"/>
                <a:cs typeface="Trebuchet MS"/>
              </a:rPr>
              <a:t>always</a:t>
            </a:r>
            <a:r>
              <a:rPr sz="3600" spc="-380" dirty="0">
                <a:latin typeface="Trebuchet MS"/>
                <a:cs typeface="Trebuchet MS"/>
              </a:rPr>
              <a:t> </a:t>
            </a:r>
            <a:r>
              <a:rPr sz="3600" spc="-395" dirty="0">
                <a:latin typeface="Trebuchet MS"/>
                <a:cs typeface="Trebuchet MS"/>
              </a:rPr>
              <a:t>monitor</a:t>
            </a:r>
            <a:r>
              <a:rPr sz="3600" spc="-380" dirty="0">
                <a:latin typeface="Trebuchet MS"/>
                <a:cs typeface="Trebuchet MS"/>
              </a:rPr>
              <a:t> </a:t>
            </a:r>
            <a:r>
              <a:rPr sz="3600" spc="-290" dirty="0">
                <a:latin typeface="Trebuchet MS"/>
                <a:cs typeface="Trebuchet MS"/>
              </a:rPr>
              <a:t>API-</a:t>
            </a:r>
            <a:r>
              <a:rPr sz="3600" spc="-365" dirty="0">
                <a:latin typeface="Trebuchet MS"/>
                <a:cs typeface="Trebuchet MS"/>
              </a:rPr>
              <a:t>Server</a:t>
            </a:r>
            <a:endParaRPr sz="3600">
              <a:latin typeface="Trebuchet MS"/>
              <a:cs typeface="Trebuchet MS"/>
            </a:endParaRPr>
          </a:p>
          <a:p>
            <a:pPr marL="940435">
              <a:lnSpc>
                <a:spcPts val="3515"/>
              </a:lnSpc>
            </a:pPr>
            <a:r>
              <a:rPr sz="3600" spc="-465" dirty="0">
                <a:latin typeface="Trebuchet MS"/>
                <a:cs typeface="Trebuchet MS"/>
              </a:rPr>
              <a:t>The</a:t>
            </a:r>
            <a:r>
              <a:rPr sz="3600" spc="-380" dirty="0">
                <a:latin typeface="Trebuchet MS"/>
                <a:cs typeface="Trebuchet MS"/>
              </a:rPr>
              <a:t> </a:t>
            </a:r>
            <a:r>
              <a:rPr sz="3600" spc="-370" dirty="0">
                <a:latin typeface="Trebuchet MS"/>
                <a:cs typeface="Trebuchet MS"/>
              </a:rPr>
              <a:t>scheduler</a:t>
            </a:r>
            <a:r>
              <a:rPr sz="3600" spc="-375" dirty="0">
                <a:latin typeface="Trebuchet MS"/>
                <a:cs typeface="Trebuchet MS"/>
              </a:rPr>
              <a:t> </a:t>
            </a:r>
            <a:r>
              <a:rPr sz="3600" spc="-220" dirty="0">
                <a:latin typeface="Trebuchet MS"/>
                <a:cs typeface="Trebuchet MS"/>
              </a:rPr>
              <a:t>is</a:t>
            </a:r>
            <a:r>
              <a:rPr sz="3600" spc="-380" dirty="0">
                <a:latin typeface="Trebuchet MS"/>
                <a:cs typeface="Trebuchet MS"/>
              </a:rPr>
              <a:t> </a:t>
            </a:r>
            <a:r>
              <a:rPr sz="3600" spc="-360" dirty="0">
                <a:latin typeface="Trebuchet MS"/>
                <a:cs typeface="Trebuchet MS"/>
              </a:rPr>
              <a:t>a</a:t>
            </a:r>
            <a:r>
              <a:rPr sz="3600" spc="-375" dirty="0">
                <a:latin typeface="Trebuchet MS"/>
                <a:cs typeface="Trebuchet MS"/>
              </a:rPr>
              <a:t> </a:t>
            </a:r>
            <a:r>
              <a:rPr sz="3600" spc="-409" dirty="0">
                <a:latin typeface="Trebuchet MS"/>
                <a:cs typeface="Trebuchet MS"/>
              </a:rPr>
              <a:t>crucial</a:t>
            </a:r>
            <a:r>
              <a:rPr sz="3600" spc="-380" dirty="0">
                <a:latin typeface="Trebuchet MS"/>
                <a:cs typeface="Trebuchet MS"/>
              </a:rPr>
              <a:t> </a:t>
            </a:r>
            <a:r>
              <a:rPr sz="3600" spc="-420" dirty="0">
                <a:latin typeface="Trebuchet MS"/>
                <a:cs typeface="Trebuchet MS"/>
              </a:rPr>
              <a:t>component</a:t>
            </a:r>
            <a:r>
              <a:rPr sz="3600" spc="-375" dirty="0">
                <a:latin typeface="Trebuchet MS"/>
                <a:cs typeface="Trebuchet MS"/>
              </a:rPr>
              <a:t> </a:t>
            </a:r>
            <a:r>
              <a:rPr sz="3600" spc="-335" dirty="0">
                <a:latin typeface="Trebuchet MS"/>
                <a:cs typeface="Trebuchet MS"/>
              </a:rPr>
              <a:t>responsible</a:t>
            </a:r>
            <a:r>
              <a:rPr sz="3600" spc="-375" dirty="0">
                <a:latin typeface="Trebuchet MS"/>
                <a:cs typeface="Trebuchet MS"/>
              </a:rPr>
              <a:t> </a:t>
            </a:r>
            <a:r>
              <a:rPr sz="3600" spc="-360" dirty="0">
                <a:latin typeface="Trebuchet MS"/>
                <a:cs typeface="Trebuchet MS"/>
              </a:rPr>
              <a:t>for</a:t>
            </a:r>
            <a:r>
              <a:rPr sz="3600" spc="-380" dirty="0">
                <a:latin typeface="Trebuchet MS"/>
                <a:cs typeface="Trebuchet MS"/>
              </a:rPr>
              <a:t> </a:t>
            </a:r>
            <a:r>
              <a:rPr sz="3600" spc="-260" dirty="0">
                <a:latin typeface="Trebuchet MS"/>
                <a:cs typeface="Trebuchet MS"/>
              </a:rPr>
              <a:t>assigning</a:t>
            </a:r>
            <a:r>
              <a:rPr sz="3600" spc="-375" dirty="0">
                <a:latin typeface="Trebuchet MS"/>
                <a:cs typeface="Trebuchet MS"/>
              </a:rPr>
              <a:t> </a:t>
            </a:r>
            <a:r>
              <a:rPr sz="3600" spc="-315" dirty="0">
                <a:latin typeface="Trebuchet MS"/>
                <a:cs typeface="Trebuchet MS"/>
              </a:rPr>
              <a:t>pods</a:t>
            </a:r>
            <a:r>
              <a:rPr sz="3600" spc="-380" dirty="0">
                <a:latin typeface="Trebuchet MS"/>
                <a:cs typeface="Trebuchet MS"/>
              </a:rPr>
              <a:t> </a:t>
            </a:r>
            <a:r>
              <a:rPr sz="3600" spc="-409" dirty="0">
                <a:latin typeface="Trebuchet MS"/>
                <a:cs typeface="Trebuchet MS"/>
              </a:rPr>
              <a:t>to</a:t>
            </a:r>
            <a:r>
              <a:rPr sz="3600" spc="-375" dirty="0">
                <a:latin typeface="Trebuchet MS"/>
                <a:cs typeface="Trebuchet MS"/>
              </a:rPr>
              <a:t> </a:t>
            </a:r>
            <a:r>
              <a:rPr sz="3600" spc="-340" dirty="0">
                <a:latin typeface="Trebuchet MS"/>
                <a:cs typeface="Trebuchet MS"/>
              </a:rPr>
              <a:t>nodes</a:t>
            </a:r>
            <a:endParaRPr sz="3600">
              <a:latin typeface="Trebuchet MS"/>
              <a:cs typeface="Trebuchet MS"/>
            </a:endParaRPr>
          </a:p>
          <a:p>
            <a:pPr marL="940435" marR="5080">
              <a:lnSpc>
                <a:spcPts val="3829"/>
              </a:lnSpc>
              <a:spcBef>
                <a:spcPts val="285"/>
              </a:spcBef>
            </a:pPr>
            <a:r>
              <a:rPr sz="3600" spc="-345" dirty="0">
                <a:latin typeface="Trebuchet MS"/>
                <a:cs typeface="Trebuchet MS"/>
              </a:rPr>
              <a:t>This</a:t>
            </a:r>
            <a:r>
              <a:rPr sz="3600" spc="-360" dirty="0">
                <a:latin typeface="Trebuchet MS"/>
                <a:cs typeface="Trebuchet MS"/>
              </a:rPr>
              <a:t> </a:t>
            </a:r>
            <a:r>
              <a:rPr sz="3600" spc="-385" dirty="0">
                <a:latin typeface="Trebuchet MS"/>
                <a:cs typeface="Trebuchet MS"/>
              </a:rPr>
              <a:t>will</a:t>
            </a:r>
            <a:r>
              <a:rPr sz="3600" spc="-360" dirty="0">
                <a:latin typeface="Trebuchet MS"/>
                <a:cs typeface="Trebuchet MS"/>
              </a:rPr>
              <a:t> </a:t>
            </a:r>
            <a:r>
              <a:rPr sz="3600" spc="-340" dirty="0">
                <a:latin typeface="Trebuchet MS"/>
                <a:cs typeface="Trebuchet MS"/>
              </a:rPr>
              <a:t>ensure</a:t>
            </a:r>
            <a:r>
              <a:rPr sz="3600" spc="-355" dirty="0">
                <a:latin typeface="Trebuchet MS"/>
                <a:cs typeface="Trebuchet MS"/>
              </a:rPr>
              <a:t> </a:t>
            </a:r>
            <a:r>
              <a:rPr sz="3600" spc="-400" dirty="0">
                <a:latin typeface="Trebuchet MS"/>
                <a:cs typeface="Trebuchet MS"/>
              </a:rPr>
              <a:t>that</a:t>
            </a:r>
            <a:r>
              <a:rPr sz="3600" spc="-360" dirty="0">
                <a:latin typeface="Trebuchet MS"/>
                <a:cs typeface="Trebuchet MS"/>
              </a:rPr>
              <a:t> </a:t>
            </a:r>
            <a:r>
              <a:rPr sz="3600" spc="-315" dirty="0">
                <a:latin typeface="Trebuchet MS"/>
                <a:cs typeface="Trebuchet MS"/>
              </a:rPr>
              <a:t>pods</a:t>
            </a:r>
            <a:r>
              <a:rPr sz="3600" spc="-355" dirty="0">
                <a:latin typeface="Trebuchet MS"/>
                <a:cs typeface="Trebuchet MS"/>
              </a:rPr>
              <a:t> </a:t>
            </a:r>
            <a:r>
              <a:rPr sz="3600" spc="-395" dirty="0">
                <a:latin typeface="Trebuchet MS"/>
                <a:cs typeface="Trebuchet MS"/>
              </a:rPr>
              <a:t>are</a:t>
            </a:r>
            <a:r>
              <a:rPr sz="3600" spc="-360" dirty="0">
                <a:latin typeface="Trebuchet MS"/>
                <a:cs typeface="Trebuchet MS"/>
              </a:rPr>
              <a:t> </a:t>
            </a:r>
            <a:r>
              <a:rPr sz="3600" spc="-375" dirty="0">
                <a:latin typeface="Trebuchet MS"/>
                <a:cs typeface="Trebuchet MS"/>
              </a:rPr>
              <a:t>scheduled</a:t>
            </a:r>
            <a:r>
              <a:rPr sz="3600" spc="-355" dirty="0">
                <a:latin typeface="Trebuchet MS"/>
                <a:cs typeface="Trebuchet MS"/>
              </a:rPr>
              <a:t> on</a:t>
            </a:r>
            <a:r>
              <a:rPr sz="3600" spc="-360" dirty="0">
                <a:latin typeface="Trebuchet MS"/>
                <a:cs typeface="Trebuchet MS"/>
              </a:rPr>
              <a:t> </a:t>
            </a:r>
            <a:r>
              <a:rPr sz="3600" spc="-350" dirty="0">
                <a:latin typeface="Trebuchet MS"/>
                <a:cs typeface="Trebuchet MS"/>
              </a:rPr>
              <a:t>suitable</a:t>
            </a:r>
            <a:r>
              <a:rPr sz="3600" spc="-355" dirty="0">
                <a:latin typeface="Trebuchet MS"/>
                <a:cs typeface="Trebuchet MS"/>
              </a:rPr>
              <a:t> </a:t>
            </a:r>
            <a:r>
              <a:rPr sz="3600" spc="-330" dirty="0">
                <a:latin typeface="Trebuchet MS"/>
                <a:cs typeface="Trebuchet MS"/>
              </a:rPr>
              <a:t>nodes</a:t>
            </a:r>
            <a:r>
              <a:rPr sz="3600" spc="-360" dirty="0">
                <a:latin typeface="Trebuchet MS"/>
                <a:cs typeface="Trebuchet MS"/>
              </a:rPr>
              <a:t> </a:t>
            </a:r>
            <a:r>
              <a:rPr sz="3600" spc="-400" dirty="0">
                <a:latin typeface="Trebuchet MS"/>
                <a:cs typeface="Trebuchet MS"/>
              </a:rPr>
              <a:t>that</a:t>
            </a:r>
            <a:r>
              <a:rPr sz="3600" spc="-360" dirty="0">
                <a:latin typeface="Trebuchet MS"/>
                <a:cs typeface="Trebuchet MS"/>
              </a:rPr>
              <a:t> </a:t>
            </a:r>
            <a:r>
              <a:rPr sz="3600" spc="-459" dirty="0">
                <a:latin typeface="Trebuchet MS"/>
                <a:cs typeface="Trebuchet MS"/>
              </a:rPr>
              <a:t>meet</a:t>
            </a:r>
            <a:r>
              <a:rPr sz="3600" spc="-355" dirty="0">
                <a:latin typeface="Trebuchet MS"/>
                <a:cs typeface="Trebuchet MS"/>
              </a:rPr>
              <a:t> </a:t>
            </a:r>
            <a:r>
              <a:rPr sz="3600" spc="-385" dirty="0">
                <a:latin typeface="Trebuchet MS"/>
                <a:cs typeface="Trebuchet MS"/>
              </a:rPr>
              <a:t>their</a:t>
            </a:r>
            <a:r>
              <a:rPr sz="3600" spc="-360" dirty="0">
                <a:latin typeface="Trebuchet MS"/>
                <a:cs typeface="Trebuchet MS"/>
              </a:rPr>
              <a:t> </a:t>
            </a:r>
            <a:r>
              <a:rPr sz="3600" spc="-375" dirty="0">
                <a:latin typeface="Trebuchet MS"/>
                <a:cs typeface="Trebuchet MS"/>
              </a:rPr>
              <a:t>resource</a:t>
            </a:r>
            <a:r>
              <a:rPr sz="3600" spc="-355" dirty="0">
                <a:latin typeface="Trebuchet MS"/>
                <a:cs typeface="Trebuchet MS"/>
              </a:rPr>
              <a:t> </a:t>
            </a:r>
            <a:r>
              <a:rPr sz="3600" spc="-390" dirty="0">
                <a:latin typeface="Trebuchet MS"/>
                <a:cs typeface="Trebuchet MS"/>
              </a:rPr>
              <a:t>requirements </a:t>
            </a:r>
            <a:r>
              <a:rPr sz="3600" spc="-365" dirty="0">
                <a:latin typeface="Trebuchet MS"/>
                <a:cs typeface="Trebuchet MS"/>
              </a:rPr>
              <a:t>and</a:t>
            </a:r>
            <a:r>
              <a:rPr sz="3600" spc="-385" dirty="0">
                <a:latin typeface="Trebuchet MS"/>
                <a:cs typeface="Trebuchet MS"/>
              </a:rPr>
              <a:t> </a:t>
            </a:r>
            <a:r>
              <a:rPr sz="3600" spc="-355" dirty="0">
                <a:latin typeface="Trebuchet MS"/>
                <a:cs typeface="Trebuchet MS"/>
              </a:rPr>
              <a:t>constraints</a:t>
            </a:r>
            <a:endParaRPr sz="3600">
              <a:latin typeface="Trebuchet MS"/>
              <a:cs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49327" y="3657329"/>
            <a:ext cx="1466849" cy="1466849"/>
          </a:xfrm>
          <a:prstGeom prst="rect">
            <a:avLst/>
          </a:prstGeom>
        </p:spPr>
      </p:pic>
      <p:sp>
        <p:nvSpPr>
          <p:cNvPr id="3" name="object 3"/>
          <p:cNvSpPr txBox="1">
            <a:spLocks noGrp="1"/>
          </p:cNvSpPr>
          <p:nvPr>
            <p:ph type="title"/>
          </p:nvPr>
        </p:nvSpPr>
        <p:spPr>
          <a:xfrm>
            <a:off x="786209" y="388680"/>
            <a:ext cx="4874895" cy="589280"/>
          </a:xfrm>
          <a:prstGeom prst="rect">
            <a:avLst/>
          </a:prstGeom>
        </p:spPr>
        <p:txBody>
          <a:bodyPr vert="horz" wrap="square" lIns="0" tIns="12700" rIns="0" bIns="0" rtlCol="0">
            <a:spAutoFit/>
          </a:bodyPr>
          <a:lstStyle/>
          <a:p>
            <a:pPr marL="12700">
              <a:lnSpc>
                <a:spcPct val="100000"/>
              </a:lnSpc>
              <a:spcBef>
                <a:spcPts val="100"/>
              </a:spcBef>
            </a:pPr>
            <a:r>
              <a:rPr sz="3700" b="0" spc="-800" dirty="0">
                <a:solidFill>
                  <a:srgbClr val="FF904D"/>
                </a:solidFill>
                <a:latin typeface="Arial MT"/>
                <a:cs typeface="Arial MT"/>
              </a:rPr>
              <a:t>HOW</a:t>
            </a:r>
            <a:r>
              <a:rPr sz="3700" b="0" spc="5" dirty="0">
                <a:solidFill>
                  <a:srgbClr val="FF904D"/>
                </a:solidFill>
                <a:latin typeface="Arial MT"/>
                <a:cs typeface="Arial MT"/>
              </a:rPr>
              <a:t> </a:t>
            </a:r>
            <a:r>
              <a:rPr sz="3700" b="0" spc="-655" dirty="0">
                <a:solidFill>
                  <a:srgbClr val="FF904D"/>
                </a:solidFill>
                <a:latin typeface="Arial MT"/>
                <a:cs typeface="Arial MT"/>
              </a:rPr>
              <a:t>SCHEDULER</a:t>
            </a:r>
            <a:r>
              <a:rPr sz="3700" b="0" spc="10" dirty="0">
                <a:solidFill>
                  <a:srgbClr val="FF904D"/>
                </a:solidFill>
                <a:latin typeface="Arial MT"/>
                <a:cs typeface="Arial MT"/>
              </a:rPr>
              <a:t> </a:t>
            </a:r>
            <a:r>
              <a:rPr sz="3700" b="0" spc="-610" dirty="0">
                <a:solidFill>
                  <a:srgbClr val="FF904D"/>
                </a:solidFill>
                <a:latin typeface="Arial MT"/>
                <a:cs typeface="Arial MT"/>
              </a:rPr>
              <a:t>DECIDES</a:t>
            </a:r>
            <a:endParaRPr sz="3700">
              <a:latin typeface="Arial MT"/>
              <a:cs typeface="Arial MT"/>
            </a:endParaRPr>
          </a:p>
        </p:txBody>
      </p:sp>
      <p:pic>
        <p:nvPicPr>
          <p:cNvPr id="4" name="object 4"/>
          <p:cNvPicPr/>
          <p:nvPr/>
        </p:nvPicPr>
        <p:blipFill>
          <a:blip r:embed="rId2" cstate="print"/>
          <a:stretch>
            <a:fillRect/>
          </a:stretch>
        </p:blipFill>
        <p:spPr>
          <a:xfrm>
            <a:off x="7126879" y="3444055"/>
            <a:ext cx="1885949" cy="1895474"/>
          </a:xfrm>
          <a:prstGeom prst="rect">
            <a:avLst/>
          </a:prstGeom>
        </p:spPr>
      </p:pic>
      <p:pic>
        <p:nvPicPr>
          <p:cNvPr id="5" name="object 5"/>
          <p:cNvPicPr/>
          <p:nvPr/>
        </p:nvPicPr>
        <p:blipFill>
          <a:blip r:embed="rId2" cstate="print"/>
          <a:stretch>
            <a:fillRect/>
          </a:stretch>
        </p:blipFill>
        <p:spPr>
          <a:xfrm>
            <a:off x="13282499" y="2590793"/>
            <a:ext cx="3228974" cy="3238499"/>
          </a:xfrm>
          <a:prstGeom prst="rect">
            <a:avLst/>
          </a:prstGeom>
        </p:spPr>
      </p:pic>
      <p:sp>
        <p:nvSpPr>
          <p:cNvPr id="6" name="object 6"/>
          <p:cNvSpPr/>
          <p:nvPr/>
        </p:nvSpPr>
        <p:spPr>
          <a:xfrm>
            <a:off x="1291925" y="7661811"/>
            <a:ext cx="2954020" cy="1078865"/>
          </a:xfrm>
          <a:custGeom>
            <a:avLst/>
            <a:gdLst/>
            <a:ahLst/>
            <a:cxnLst/>
            <a:rect l="l" t="t" r="r" b="b"/>
            <a:pathLst>
              <a:path w="2954020" h="1078865">
                <a:moveTo>
                  <a:pt x="2953808" y="1078708"/>
                </a:moveTo>
                <a:lnTo>
                  <a:pt x="0" y="1078708"/>
                </a:lnTo>
                <a:lnTo>
                  <a:pt x="0" y="0"/>
                </a:lnTo>
                <a:lnTo>
                  <a:pt x="2953808" y="0"/>
                </a:lnTo>
                <a:lnTo>
                  <a:pt x="2953808" y="1078708"/>
                </a:lnTo>
                <a:close/>
              </a:path>
            </a:pathLst>
          </a:custGeom>
          <a:solidFill>
            <a:srgbClr val="33E7D0"/>
          </a:solidFill>
        </p:spPr>
        <p:txBody>
          <a:bodyPr wrap="square" lIns="0" tIns="0" rIns="0" bIns="0" rtlCol="0"/>
          <a:lstStyle/>
          <a:p>
            <a:endParaRPr/>
          </a:p>
        </p:txBody>
      </p:sp>
      <p:sp>
        <p:nvSpPr>
          <p:cNvPr id="7" name="object 7"/>
          <p:cNvSpPr/>
          <p:nvPr/>
        </p:nvSpPr>
        <p:spPr>
          <a:xfrm>
            <a:off x="5542996" y="7297358"/>
            <a:ext cx="4453890" cy="1773555"/>
          </a:xfrm>
          <a:custGeom>
            <a:avLst/>
            <a:gdLst/>
            <a:ahLst/>
            <a:cxnLst/>
            <a:rect l="l" t="t" r="r" b="b"/>
            <a:pathLst>
              <a:path w="4453890" h="1773554">
                <a:moveTo>
                  <a:pt x="4453609" y="1773132"/>
                </a:moveTo>
                <a:lnTo>
                  <a:pt x="0" y="1773132"/>
                </a:lnTo>
                <a:lnTo>
                  <a:pt x="0" y="0"/>
                </a:lnTo>
                <a:lnTo>
                  <a:pt x="4453609" y="0"/>
                </a:lnTo>
                <a:lnTo>
                  <a:pt x="4453609" y="1773132"/>
                </a:lnTo>
                <a:close/>
              </a:path>
            </a:pathLst>
          </a:custGeom>
          <a:solidFill>
            <a:srgbClr val="33E7D0"/>
          </a:solidFill>
        </p:spPr>
        <p:txBody>
          <a:bodyPr wrap="square" lIns="0" tIns="0" rIns="0" bIns="0" rtlCol="0"/>
          <a:lstStyle/>
          <a:p>
            <a:endParaRPr/>
          </a:p>
        </p:txBody>
      </p:sp>
      <p:sp>
        <p:nvSpPr>
          <p:cNvPr id="8" name="object 8"/>
          <p:cNvSpPr/>
          <p:nvPr/>
        </p:nvSpPr>
        <p:spPr>
          <a:xfrm>
            <a:off x="11630988" y="6855460"/>
            <a:ext cx="5929630" cy="2691765"/>
          </a:xfrm>
          <a:custGeom>
            <a:avLst/>
            <a:gdLst/>
            <a:ahLst/>
            <a:cxnLst/>
            <a:rect l="l" t="t" r="r" b="b"/>
            <a:pathLst>
              <a:path w="5929630" h="2691765">
                <a:moveTo>
                  <a:pt x="5929514" y="2691410"/>
                </a:moveTo>
                <a:lnTo>
                  <a:pt x="0" y="2691410"/>
                </a:lnTo>
                <a:lnTo>
                  <a:pt x="0" y="0"/>
                </a:lnTo>
                <a:lnTo>
                  <a:pt x="5929514" y="0"/>
                </a:lnTo>
                <a:lnTo>
                  <a:pt x="5929514" y="2691410"/>
                </a:lnTo>
                <a:close/>
              </a:path>
            </a:pathLst>
          </a:custGeom>
          <a:solidFill>
            <a:srgbClr val="33E7D0"/>
          </a:solidFill>
        </p:spPr>
        <p:txBody>
          <a:bodyPr wrap="square" lIns="0" tIns="0" rIns="0" bIns="0" rtlCol="0"/>
          <a:lstStyle/>
          <a:p>
            <a:endParaRPr/>
          </a:p>
        </p:txBody>
      </p:sp>
      <p:sp>
        <p:nvSpPr>
          <p:cNvPr id="9" name="object 9"/>
          <p:cNvSpPr txBox="1"/>
          <p:nvPr/>
        </p:nvSpPr>
        <p:spPr>
          <a:xfrm>
            <a:off x="786209" y="1204440"/>
            <a:ext cx="15948660" cy="1092200"/>
          </a:xfrm>
          <a:prstGeom prst="rect">
            <a:avLst/>
          </a:prstGeom>
        </p:spPr>
        <p:txBody>
          <a:bodyPr vert="horz" wrap="square" lIns="0" tIns="12065" rIns="0" bIns="0" rtlCol="0">
            <a:spAutoFit/>
          </a:bodyPr>
          <a:lstStyle/>
          <a:p>
            <a:pPr marL="12700" marR="5080">
              <a:lnSpc>
                <a:spcPct val="116700"/>
              </a:lnSpc>
              <a:spcBef>
                <a:spcPts val="95"/>
              </a:spcBef>
            </a:pPr>
            <a:r>
              <a:rPr sz="3000" b="1" spc="50" dirty="0">
                <a:latin typeface="Times New Roman"/>
                <a:cs typeface="Times New Roman"/>
              </a:rPr>
              <a:t>The</a:t>
            </a:r>
            <a:r>
              <a:rPr sz="3000" b="1" spc="5" dirty="0">
                <a:latin typeface="Times New Roman"/>
                <a:cs typeface="Times New Roman"/>
              </a:rPr>
              <a:t> </a:t>
            </a:r>
            <a:r>
              <a:rPr sz="3000" b="1" spc="135" dirty="0">
                <a:latin typeface="Times New Roman"/>
                <a:cs typeface="Times New Roman"/>
              </a:rPr>
              <a:t>scheduler</a:t>
            </a:r>
            <a:r>
              <a:rPr sz="3000" b="1" spc="5" dirty="0">
                <a:latin typeface="Times New Roman"/>
                <a:cs typeface="Times New Roman"/>
              </a:rPr>
              <a:t> </a:t>
            </a:r>
            <a:r>
              <a:rPr sz="3000" b="1" spc="95" dirty="0">
                <a:latin typeface="Times New Roman"/>
                <a:cs typeface="Times New Roman"/>
              </a:rPr>
              <a:t>is</a:t>
            </a:r>
            <a:r>
              <a:rPr sz="3000" b="1" spc="10" dirty="0">
                <a:latin typeface="Times New Roman"/>
                <a:cs typeface="Times New Roman"/>
              </a:rPr>
              <a:t> </a:t>
            </a:r>
            <a:r>
              <a:rPr sz="3000" b="1" spc="85" dirty="0">
                <a:latin typeface="Times New Roman"/>
                <a:cs typeface="Times New Roman"/>
              </a:rPr>
              <a:t>going</a:t>
            </a:r>
            <a:r>
              <a:rPr sz="3000" b="1" spc="5" dirty="0">
                <a:latin typeface="Times New Roman"/>
                <a:cs typeface="Times New Roman"/>
              </a:rPr>
              <a:t> </a:t>
            </a:r>
            <a:r>
              <a:rPr sz="3000" b="1" spc="95" dirty="0">
                <a:latin typeface="Times New Roman"/>
                <a:cs typeface="Times New Roman"/>
              </a:rPr>
              <a:t>to</a:t>
            </a:r>
            <a:r>
              <a:rPr sz="3000" b="1" spc="10" dirty="0">
                <a:latin typeface="Times New Roman"/>
                <a:cs typeface="Times New Roman"/>
              </a:rPr>
              <a:t> </a:t>
            </a:r>
            <a:r>
              <a:rPr sz="3000" b="1" spc="160" dirty="0">
                <a:latin typeface="Times New Roman"/>
                <a:cs typeface="Times New Roman"/>
              </a:rPr>
              <a:t>decide</a:t>
            </a:r>
            <a:r>
              <a:rPr sz="3000" b="1" spc="5" dirty="0">
                <a:latin typeface="Times New Roman"/>
                <a:cs typeface="Times New Roman"/>
              </a:rPr>
              <a:t> </a:t>
            </a:r>
            <a:r>
              <a:rPr sz="3000" b="1" spc="130" dirty="0">
                <a:latin typeface="Times New Roman"/>
                <a:cs typeface="Times New Roman"/>
              </a:rPr>
              <a:t>the</a:t>
            </a:r>
            <a:r>
              <a:rPr sz="3000" b="1" spc="10" dirty="0">
                <a:latin typeface="Times New Roman"/>
                <a:cs typeface="Times New Roman"/>
              </a:rPr>
              <a:t> </a:t>
            </a:r>
            <a:r>
              <a:rPr sz="3000" b="1" spc="135" dirty="0">
                <a:latin typeface="Times New Roman"/>
                <a:cs typeface="Times New Roman"/>
              </a:rPr>
              <a:t>put</a:t>
            </a:r>
            <a:r>
              <a:rPr sz="3000" b="1" spc="5" dirty="0">
                <a:latin typeface="Times New Roman"/>
                <a:cs typeface="Times New Roman"/>
              </a:rPr>
              <a:t> </a:t>
            </a:r>
            <a:r>
              <a:rPr sz="3000" b="1" spc="130" dirty="0">
                <a:latin typeface="Times New Roman"/>
                <a:cs typeface="Times New Roman"/>
              </a:rPr>
              <a:t>the</a:t>
            </a:r>
            <a:r>
              <a:rPr sz="3000" b="1" spc="10" dirty="0">
                <a:latin typeface="Times New Roman"/>
                <a:cs typeface="Times New Roman"/>
              </a:rPr>
              <a:t> </a:t>
            </a:r>
            <a:r>
              <a:rPr sz="3000" b="1" dirty="0">
                <a:latin typeface="Times New Roman"/>
                <a:cs typeface="Times New Roman"/>
              </a:rPr>
              <a:t>right</a:t>
            </a:r>
            <a:r>
              <a:rPr sz="3000" b="1" spc="5" dirty="0">
                <a:latin typeface="Times New Roman"/>
                <a:cs typeface="Times New Roman"/>
              </a:rPr>
              <a:t> </a:t>
            </a:r>
            <a:r>
              <a:rPr sz="3000" b="1" spc="190" dirty="0">
                <a:latin typeface="Times New Roman"/>
                <a:cs typeface="Times New Roman"/>
              </a:rPr>
              <a:t>pod</a:t>
            </a:r>
            <a:r>
              <a:rPr sz="3000" b="1" spc="5" dirty="0">
                <a:latin typeface="Times New Roman"/>
                <a:cs typeface="Times New Roman"/>
              </a:rPr>
              <a:t> </a:t>
            </a:r>
            <a:r>
              <a:rPr sz="3000" b="1" spc="160" dirty="0">
                <a:latin typeface="Times New Roman"/>
                <a:cs typeface="Times New Roman"/>
              </a:rPr>
              <a:t>in</a:t>
            </a:r>
            <a:r>
              <a:rPr sz="3000" b="1" spc="10" dirty="0">
                <a:latin typeface="Times New Roman"/>
                <a:cs typeface="Times New Roman"/>
              </a:rPr>
              <a:t> </a:t>
            </a:r>
            <a:r>
              <a:rPr sz="3000" b="1" dirty="0">
                <a:latin typeface="Times New Roman"/>
                <a:cs typeface="Times New Roman"/>
              </a:rPr>
              <a:t>right</a:t>
            </a:r>
            <a:r>
              <a:rPr sz="3000" b="1" spc="5" dirty="0">
                <a:latin typeface="Times New Roman"/>
                <a:cs typeface="Times New Roman"/>
              </a:rPr>
              <a:t> </a:t>
            </a:r>
            <a:r>
              <a:rPr sz="3000" b="1" spc="200" dirty="0">
                <a:latin typeface="Times New Roman"/>
                <a:cs typeface="Times New Roman"/>
              </a:rPr>
              <a:t>node</a:t>
            </a:r>
            <a:r>
              <a:rPr sz="3000" b="1" spc="10" dirty="0">
                <a:latin typeface="Times New Roman"/>
                <a:cs typeface="Times New Roman"/>
              </a:rPr>
              <a:t> </a:t>
            </a:r>
            <a:r>
              <a:rPr sz="3000" b="1" spc="145" dirty="0">
                <a:latin typeface="Times New Roman"/>
                <a:cs typeface="Times New Roman"/>
              </a:rPr>
              <a:t>based</a:t>
            </a:r>
            <a:r>
              <a:rPr sz="3000" b="1" spc="5" dirty="0">
                <a:latin typeface="Times New Roman"/>
                <a:cs typeface="Times New Roman"/>
              </a:rPr>
              <a:t> </a:t>
            </a:r>
            <a:r>
              <a:rPr sz="3000" b="1" spc="210" dirty="0">
                <a:latin typeface="Times New Roman"/>
                <a:cs typeface="Times New Roman"/>
              </a:rPr>
              <a:t>on</a:t>
            </a:r>
            <a:r>
              <a:rPr sz="3000" b="1" spc="10" dirty="0">
                <a:latin typeface="Times New Roman"/>
                <a:cs typeface="Times New Roman"/>
              </a:rPr>
              <a:t> </a:t>
            </a:r>
            <a:r>
              <a:rPr sz="3000" b="1" spc="75" dirty="0">
                <a:latin typeface="Times New Roman"/>
                <a:cs typeface="Times New Roman"/>
              </a:rPr>
              <a:t>Size,</a:t>
            </a:r>
            <a:r>
              <a:rPr sz="3000" b="1" spc="5" dirty="0">
                <a:latin typeface="Times New Roman"/>
                <a:cs typeface="Times New Roman"/>
              </a:rPr>
              <a:t> </a:t>
            </a:r>
            <a:r>
              <a:rPr sz="3000" b="1" spc="110" dirty="0">
                <a:latin typeface="Times New Roman"/>
                <a:cs typeface="Times New Roman"/>
              </a:rPr>
              <a:t>Memory, </a:t>
            </a:r>
            <a:r>
              <a:rPr sz="3000" b="1" spc="-80" dirty="0">
                <a:latin typeface="Times New Roman"/>
                <a:cs typeface="Times New Roman"/>
              </a:rPr>
              <a:t>CPU</a:t>
            </a:r>
            <a:r>
              <a:rPr sz="3000" b="1" spc="-95" dirty="0">
                <a:latin typeface="Times New Roman"/>
                <a:cs typeface="Times New Roman"/>
              </a:rPr>
              <a:t> </a:t>
            </a:r>
            <a:r>
              <a:rPr sz="3000" b="1" spc="35" dirty="0">
                <a:latin typeface="Times New Roman"/>
                <a:cs typeface="Times New Roman"/>
              </a:rPr>
              <a:t>etc..</a:t>
            </a:r>
            <a:endParaRPr sz="3000">
              <a:latin typeface="Times New Roman"/>
              <a:cs typeface="Times New Roman"/>
            </a:endParaRPr>
          </a:p>
        </p:txBody>
      </p:sp>
      <p:sp>
        <p:nvSpPr>
          <p:cNvPr id="10" name="object 10"/>
          <p:cNvSpPr txBox="1"/>
          <p:nvPr/>
        </p:nvSpPr>
        <p:spPr>
          <a:xfrm>
            <a:off x="2319439" y="4080498"/>
            <a:ext cx="1122680" cy="518159"/>
          </a:xfrm>
          <a:prstGeom prst="rect">
            <a:avLst/>
          </a:prstGeom>
        </p:spPr>
        <p:txBody>
          <a:bodyPr vert="horz" wrap="square" lIns="0" tIns="16510" rIns="0" bIns="0" rtlCol="0">
            <a:spAutoFit/>
          </a:bodyPr>
          <a:lstStyle/>
          <a:p>
            <a:pPr marL="12700">
              <a:lnSpc>
                <a:spcPct val="100000"/>
              </a:lnSpc>
              <a:spcBef>
                <a:spcPts val="130"/>
              </a:spcBef>
            </a:pPr>
            <a:r>
              <a:rPr sz="3200" b="1" spc="270" dirty="0">
                <a:solidFill>
                  <a:srgbClr val="E7181F"/>
                </a:solidFill>
                <a:latin typeface="Times New Roman"/>
                <a:cs typeface="Times New Roman"/>
              </a:rPr>
              <a:t>pod-</a:t>
            </a:r>
            <a:r>
              <a:rPr sz="3200" b="1" spc="-390" dirty="0">
                <a:solidFill>
                  <a:srgbClr val="E7181F"/>
                </a:solidFill>
                <a:latin typeface="Times New Roman"/>
                <a:cs typeface="Times New Roman"/>
              </a:rPr>
              <a:t>1</a:t>
            </a:r>
            <a:endParaRPr sz="3200">
              <a:latin typeface="Times New Roman"/>
              <a:cs typeface="Times New Roman"/>
            </a:endParaRPr>
          </a:p>
        </p:txBody>
      </p:sp>
      <p:sp>
        <p:nvSpPr>
          <p:cNvPr id="11" name="object 11"/>
          <p:cNvSpPr txBox="1"/>
          <p:nvPr/>
        </p:nvSpPr>
        <p:spPr>
          <a:xfrm>
            <a:off x="7475549" y="4144170"/>
            <a:ext cx="1191260" cy="518159"/>
          </a:xfrm>
          <a:prstGeom prst="rect">
            <a:avLst/>
          </a:prstGeom>
        </p:spPr>
        <p:txBody>
          <a:bodyPr vert="horz" wrap="square" lIns="0" tIns="16510" rIns="0" bIns="0" rtlCol="0">
            <a:spAutoFit/>
          </a:bodyPr>
          <a:lstStyle/>
          <a:p>
            <a:pPr marL="12700">
              <a:lnSpc>
                <a:spcPct val="100000"/>
              </a:lnSpc>
              <a:spcBef>
                <a:spcPts val="130"/>
              </a:spcBef>
            </a:pPr>
            <a:r>
              <a:rPr sz="3200" b="1" spc="270" dirty="0">
                <a:solidFill>
                  <a:srgbClr val="E7181F"/>
                </a:solidFill>
                <a:latin typeface="Times New Roman"/>
                <a:cs typeface="Times New Roman"/>
              </a:rPr>
              <a:t>pod-</a:t>
            </a:r>
            <a:r>
              <a:rPr sz="3200" b="1" spc="155" dirty="0">
                <a:solidFill>
                  <a:srgbClr val="E7181F"/>
                </a:solidFill>
                <a:latin typeface="Times New Roman"/>
                <a:cs typeface="Times New Roman"/>
              </a:rPr>
              <a:t>2</a:t>
            </a:r>
            <a:endParaRPr sz="3200">
              <a:latin typeface="Times New Roman"/>
              <a:cs typeface="Times New Roman"/>
            </a:endParaRPr>
          </a:p>
        </p:txBody>
      </p:sp>
      <p:sp>
        <p:nvSpPr>
          <p:cNvPr id="12" name="object 12"/>
          <p:cNvSpPr txBox="1"/>
          <p:nvPr/>
        </p:nvSpPr>
        <p:spPr>
          <a:xfrm>
            <a:off x="14305570" y="3922616"/>
            <a:ext cx="1184275" cy="518159"/>
          </a:xfrm>
          <a:prstGeom prst="rect">
            <a:avLst/>
          </a:prstGeom>
        </p:spPr>
        <p:txBody>
          <a:bodyPr vert="horz" wrap="square" lIns="0" tIns="16510" rIns="0" bIns="0" rtlCol="0">
            <a:spAutoFit/>
          </a:bodyPr>
          <a:lstStyle/>
          <a:p>
            <a:pPr marL="12700">
              <a:lnSpc>
                <a:spcPct val="100000"/>
              </a:lnSpc>
              <a:spcBef>
                <a:spcPts val="130"/>
              </a:spcBef>
            </a:pPr>
            <a:r>
              <a:rPr sz="3200" b="1" spc="270" dirty="0">
                <a:solidFill>
                  <a:srgbClr val="E7181F"/>
                </a:solidFill>
                <a:latin typeface="Times New Roman"/>
                <a:cs typeface="Times New Roman"/>
              </a:rPr>
              <a:t>pod-</a:t>
            </a:r>
            <a:r>
              <a:rPr sz="3200" b="1" spc="110" dirty="0">
                <a:solidFill>
                  <a:srgbClr val="E7181F"/>
                </a:solidFill>
                <a:latin typeface="Times New Roman"/>
                <a:cs typeface="Times New Roman"/>
              </a:rPr>
              <a:t>3</a:t>
            </a:r>
            <a:endParaRPr sz="3200">
              <a:latin typeface="Times New Roman"/>
              <a:cs typeface="Times New Roman"/>
            </a:endParaRPr>
          </a:p>
        </p:txBody>
      </p:sp>
      <p:sp>
        <p:nvSpPr>
          <p:cNvPr id="13" name="object 13"/>
          <p:cNvSpPr txBox="1"/>
          <p:nvPr/>
        </p:nvSpPr>
        <p:spPr>
          <a:xfrm>
            <a:off x="2107061" y="7892522"/>
            <a:ext cx="1547495" cy="518159"/>
          </a:xfrm>
          <a:prstGeom prst="rect">
            <a:avLst/>
          </a:prstGeom>
        </p:spPr>
        <p:txBody>
          <a:bodyPr vert="horz" wrap="square" lIns="0" tIns="16510" rIns="0" bIns="0" rtlCol="0">
            <a:spAutoFit/>
          </a:bodyPr>
          <a:lstStyle/>
          <a:p>
            <a:pPr marL="12700">
              <a:lnSpc>
                <a:spcPct val="100000"/>
              </a:lnSpc>
              <a:spcBef>
                <a:spcPts val="130"/>
              </a:spcBef>
            </a:pPr>
            <a:r>
              <a:rPr sz="3200" b="1" spc="60" dirty="0">
                <a:solidFill>
                  <a:srgbClr val="E7181F"/>
                </a:solidFill>
                <a:latin typeface="Times New Roman"/>
                <a:cs typeface="Times New Roman"/>
              </a:rPr>
              <a:t>NODE-</a:t>
            </a:r>
            <a:r>
              <a:rPr sz="3200" b="1" spc="-390" dirty="0">
                <a:solidFill>
                  <a:srgbClr val="E7181F"/>
                </a:solidFill>
                <a:latin typeface="Times New Roman"/>
                <a:cs typeface="Times New Roman"/>
              </a:rPr>
              <a:t>1</a:t>
            </a:r>
            <a:endParaRPr sz="3200">
              <a:latin typeface="Times New Roman"/>
              <a:cs typeface="Times New Roman"/>
            </a:endParaRPr>
          </a:p>
        </p:txBody>
      </p:sp>
      <p:sp>
        <p:nvSpPr>
          <p:cNvPr id="14" name="object 14"/>
          <p:cNvSpPr txBox="1"/>
          <p:nvPr/>
        </p:nvSpPr>
        <p:spPr>
          <a:xfrm>
            <a:off x="7253055" y="7871487"/>
            <a:ext cx="1616075" cy="518159"/>
          </a:xfrm>
          <a:prstGeom prst="rect">
            <a:avLst/>
          </a:prstGeom>
        </p:spPr>
        <p:txBody>
          <a:bodyPr vert="horz" wrap="square" lIns="0" tIns="16510" rIns="0" bIns="0" rtlCol="0">
            <a:spAutoFit/>
          </a:bodyPr>
          <a:lstStyle/>
          <a:p>
            <a:pPr marL="12700">
              <a:lnSpc>
                <a:spcPct val="100000"/>
              </a:lnSpc>
              <a:spcBef>
                <a:spcPts val="130"/>
              </a:spcBef>
            </a:pPr>
            <a:r>
              <a:rPr sz="3200" b="1" spc="60" dirty="0">
                <a:solidFill>
                  <a:srgbClr val="E7181F"/>
                </a:solidFill>
                <a:latin typeface="Times New Roman"/>
                <a:cs typeface="Times New Roman"/>
              </a:rPr>
              <a:t>NODE-</a:t>
            </a:r>
            <a:r>
              <a:rPr sz="3200" b="1" spc="155" dirty="0">
                <a:solidFill>
                  <a:srgbClr val="E7181F"/>
                </a:solidFill>
                <a:latin typeface="Times New Roman"/>
                <a:cs typeface="Times New Roman"/>
              </a:rPr>
              <a:t>2</a:t>
            </a:r>
            <a:endParaRPr sz="3200">
              <a:latin typeface="Times New Roman"/>
              <a:cs typeface="Times New Roman"/>
            </a:endParaRPr>
          </a:p>
        </p:txBody>
      </p:sp>
      <p:sp>
        <p:nvSpPr>
          <p:cNvPr id="15" name="object 15"/>
          <p:cNvSpPr txBox="1"/>
          <p:nvPr/>
        </p:nvSpPr>
        <p:spPr>
          <a:xfrm>
            <a:off x="14093229" y="7892522"/>
            <a:ext cx="1609725" cy="518159"/>
          </a:xfrm>
          <a:prstGeom prst="rect">
            <a:avLst/>
          </a:prstGeom>
        </p:spPr>
        <p:txBody>
          <a:bodyPr vert="horz" wrap="square" lIns="0" tIns="16510" rIns="0" bIns="0" rtlCol="0">
            <a:spAutoFit/>
          </a:bodyPr>
          <a:lstStyle/>
          <a:p>
            <a:pPr marL="12700">
              <a:lnSpc>
                <a:spcPct val="100000"/>
              </a:lnSpc>
              <a:spcBef>
                <a:spcPts val="130"/>
              </a:spcBef>
            </a:pPr>
            <a:r>
              <a:rPr sz="3200" b="1" spc="60" dirty="0">
                <a:solidFill>
                  <a:srgbClr val="E7181F"/>
                </a:solidFill>
                <a:latin typeface="Times New Roman"/>
                <a:cs typeface="Times New Roman"/>
              </a:rPr>
              <a:t>NODE-</a:t>
            </a:r>
            <a:r>
              <a:rPr sz="3200" b="1" spc="110" dirty="0">
                <a:solidFill>
                  <a:srgbClr val="E7181F"/>
                </a:solidFill>
                <a:latin typeface="Times New Roman"/>
                <a:cs typeface="Times New Roman"/>
              </a:rPr>
              <a:t>3</a:t>
            </a:r>
            <a:endParaRPr sz="3200">
              <a:latin typeface="Times New Roman"/>
              <a:cs typeface="Times New Roman"/>
            </a:endParaRPr>
          </a:p>
        </p:txBody>
      </p:sp>
      <p:sp>
        <p:nvSpPr>
          <p:cNvPr id="16" name="object 16"/>
          <p:cNvSpPr/>
          <p:nvPr/>
        </p:nvSpPr>
        <p:spPr>
          <a:xfrm>
            <a:off x="2832990" y="5121830"/>
            <a:ext cx="95250" cy="285750"/>
          </a:xfrm>
          <a:custGeom>
            <a:avLst/>
            <a:gdLst/>
            <a:ahLst/>
            <a:cxnLst/>
            <a:rect l="l" t="t" r="r" b="b"/>
            <a:pathLst>
              <a:path w="95250" h="285750">
                <a:moveTo>
                  <a:pt x="0" y="285749"/>
                </a:moveTo>
                <a:lnTo>
                  <a:pt x="0" y="0"/>
                </a:lnTo>
                <a:lnTo>
                  <a:pt x="95249" y="0"/>
                </a:lnTo>
                <a:lnTo>
                  <a:pt x="95249" y="285749"/>
                </a:lnTo>
                <a:lnTo>
                  <a:pt x="0" y="285749"/>
                </a:lnTo>
                <a:close/>
              </a:path>
            </a:pathLst>
          </a:custGeom>
          <a:solidFill>
            <a:srgbClr val="000000"/>
          </a:solidFill>
        </p:spPr>
        <p:txBody>
          <a:bodyPr wrap="square" lIns="0" tIns="0" rIns="0" bIns="0" rtlCol="0"/>
          <a:lstStyle/>
          <a:p>
            <a:endParaRPr/>
          </a:p>
        </p:txBody>
      </p:sp>
      <p:sp>
        <p:nvSpPr>
          <p:cNvPr id="17" name="object 17"/>
          <p:cNvSpPr/>
          <p:nvPr/>
        </p:nvSpPr>
        <p:spPr>
          <a:xfrm>
            <a:off x="2832990" y="5502830"/>
            <a:ext cx="95250" cy="285750"/>
          </a:xfrm>
          <a:custGeom>
            <a:avLst/>
            <a:gdLst/>
            <a:ahLst/>
            <a:cxnLst/>
            <a:rect l="l" t="t" r="r" b="b"/>
            <a:pathLst>
              <a:path w="95250" h="285750">
                <a:moveTo>
                  <a:pt x="0" y="285749"/>
                </a:moveTo>
                <a:lnTo>
                  <a:pt x="0" y="0"/>
                </a:lnTo>
                <a:lnTo>
                  <a:pt x="95249" y="0"/>
                </a:lnTo>
                <a:lnTo>
                  <a:pt x="95249" y="285749"/>
                </a:lnTo>
                <a:lnTo>
                  <a:pt x="0" y="285749"/>
                </a:lnTo>
                <a:close/>
              </a:path>
            </a:pathLst>
          </a:custGeom>
          <a:solidFill>
            <a:srgbClr val="000000"/>
          </a:solidFill>
        </p:spPr>
        <p:txBody>
          <a:bodyPr wrap="square" lIns="0" tIns="0" rIns="0" bIns="0" rtlCol="0"/>
          <a:lstStyle/>
          <a:p>
            <a:endParaRPr/>
          </a:p>
        </p:txBody>
      </p:sp>
      <p:sp>
        <p:nvSpPr>
          <p:cNvPr id="18" name="object 18"/>
          <p:cNvSpPr/>
          <p:nvPr/>
        </p:nvSpPr>
        <p:spPr>
          <a:xfrm>
            <a:off x="2832990" y="5883830"/>
            <a:ext cx="95250" cy="285750"/>
          </a:xfrm>
          <a:custGeom>
            <a:avLst/>
            <a:gdLst/>
            <a:ahLst/>
            <a:cxnLst/>
            <a:rect l="l" t="t" r="r" b="b"/>
            <a:pathLst>
              <a:path w="95250" h="285750">
                <a:moveTo>
                  <a:pt x="0" y="285749"/>
                </a:moveTo>
                <a:lnTo>
                  <a:pt x="0" y="0"/>
                </a:lnTo>
                <a:lnTo>
                  <a:pt x="95249" y="0"/>
                </a:lnTo>
                <a:lnTo>
                  <a:pt x="95249" y="285749"/>
                </a:lnTo>
                <a:lnTo>
                  <a:pt x="0" y="285749"/>
                </a:lnTo>
                <a:close/>
              </a:path>
            </a:pathLst>
          </a:custGeom>
          <a:solidFill>
            <a:srgbClr val="000000"/>
          </a:solidFill>
        </p:spPr>
        <p:txBody>
          <a:bodyPr wrap="square" lIns="0" tIns="0" rIns="0" bIns="0" rtlCol="0"/>
          <a:lstStyle/>
          <a:p>
            <a:endParaRPr/>
          </a:p>
        </p:txBody>
      </p:sp>
      <p:sp>
        <p:nvSpPr>
          <p:cNvPr id="19" name="object 19"/>
          <p:cNvSpPr/>
          <p:nvPr/>
        </p:nvSpPr>
        <p:spPr>
          <a:xfrm>
            <a:off x="2832990" y="6264830"/>
            <a:ext cx="95250" cy="285750"/>
          </a:xfrm>
          <a:custGeom>
            <a:avLst/>
            <a:gdLst/>
            <a:ahLst/>
            <a:cxnLst/>
            <a:rect l="l" t="t" r="r" b="b"/>
            <a:pathLst>
              <a:path w="95250" h="285750">
                <a:moveTo>
                  <a:pt x="0" y="285749"/>
                </a:moveTo>
                <a:lnTo>
                  <a:pt x="0" y="0"/>
                </a:lnTo>
                <a:lnTo>
                  <a:pt x="95249" y="0"/>
                </a:lnTo>
                <a:lnTo>
                  <a:pt x="95249" y="285749"/>
                </a:lnTo>
                <a:lnTo>
                  <a:pt x="0" y="285749"/>
                </a:lnTo>
                <a:close/>
              </a:path>
            </a:pathLst>
          </a:custGeom>
          <a:solidFill>
            <a:srgbClr val="000000"/>
          </a:solidFill>
        </p:spPr>
        <p:txBody>
          <a:bodyPr wrap="square" lIns="0" tIns="0" rIns="0" bIns="0" rtlCol="0"/>
          <a:lstStyle/>
          <a:p>
            <a:endParaRPr/>
          </a:p>
        </p:txBody>
      </p:sp>
      <p:sp>
        <p:nvSpPr>
          <p:cNvPr id="20" name="object 20"/>
          <p:cNvSpPr/>
          <p:nvPr/>
        </p:nvSpPr>
        <p:spPr>
          <a:xfrm>
            <a:off x="2832990" y="6645830"/>
            <a:ext cx="95250" cy="285750"/>
          </a:xfrm>
          <a:custGeom>
            <a:avLst/>
            <a:gdLst/>
            <a:ahLst/>
            <a:cxnLst/>
            <a:rect l="l" t="t" r="r" b="b"/>
            <a:pathLst>
              <a:path w="95250" h="285750">
                <a:moveTo>
                  <a:pt x="0" y="285749"/>
                </a:moveTo>
                <a:lnTo>
                  <a:pt x="0" y="0"/>
                </a:lnTo>
                <a:lnTo>
                  <a:pt x="95249" y="0"/>
                </a:lnTo>
                <a:lnTo>
                  <a:pt x="95249" y="285749"/>
                </a:lnTo>
                <a:lnTo>
                  <a:pt x="0" y="285749"/>
                </a:lnTo>
                <a:close/>
              </a:path>
            </a:pathLst>
          </a:custGeom>
          <a:solidFill>
            <a:srgbClr val="000000"/>
          </a:solidFill>
        </p:spPr>
        <p:txBody>
          <a:bodyPr wrap="square" lIns="0" tIns="0" rIns="0" bIns="0" rtlCol="0"/>
          <a:lstStyle/>
          <a:p>
            <a:endParaRPr/>
          </a:p>
        </p:txBody>
      </p:sp>
      <p:sp>
        <p:nvSpPr>
          <p:cNvPr id="21" name="object 21"/>
          <p:cNvSpPr/>
          <p:nvPr/>
        </p:nvSpPr>
        <p:spPr>
          <a:xfrm>
            <a:off x="2832990" y="7026830"/>
            <a:ext cx="95250" cy="285750"/>
          </a:xfrm>
          <a:custGeom>
            <a:avLst/>
            <a:gdLst/>
            <a:ahLst/>
            <a:cxnLst/>
            <a:rect l="l" t="t" r="r" b="b"/>
            <a:pathLst>
              <a:path w="95250" h="285750">
                <a:moveTo>
                  <a:pt x="0" y="285749"/>
                </a:moveTo>
                <a:lnTo>
                  <a:pt x="0" y="0"/>
                </a:lnTo>
                <a:lnTo>
                  <a:pt x="95249" y="0"/>
                </a:lnTo>
                <a:lnTo>
                  <a:pt x="95249" y="285749"/>
                </a:lnTo>
                <a:lnTo>
                  <a:pt x="0" y="285749"/>
                </a:lnTo>
                <a:close/>
              </a:path>
            </a:pathLst>
          </a:custGeom>
          <a:solidFill>
            <a:srgbClr val="000000"/>
          </a:solidFill>
        </p:spPr>
        <p:txBody>
          <a:bodyPr wrap="square" lIns="0" tIns="0" rIns="0" bIns="0" rtlCol="0"/>
          <a:lstStyle/>
          <a:p>
            <a:endParaRPr/>
          </a:p>
        </p:txBody>
      </p:sp>
      <p:grpSp>
        <p:nvGrpSpPr>
          <p:cNvPr id="22" name="object 22"/>
          <p:cNvGrpSpPr/>
          <p:nvPr/>
        </p:nvGrpSpPr>
        <p:grpSpPr>
          <a:xfrm>
            <a:off x="2690115" y="7407830"/>
            <a:ext cx="381000" cy="548640"/>
            <a:chOff x="2690115" y="7407830"/>
            <a:chExt cx="381000" cy="548640"/>
          </a:xfrm>
        </p:grpSpPr>
        <p:sp>
          <p:nvSpPr>
            <p:cNvPr id="23" name="object 23"/>
            <p:cNvSpPr/>
            <p:nvPr/>
          </p:nvSpPr>
          <p:spPr>
            <a:xfrm>
              <a:off x="2832989" y="7407833"/>
              <a:ext cx="95250" cy="501015"/>
            </a:xfrm>
            <a:custGeom>
              <a:avLst/>
              <a:gdLst/>
              <a:ahLst/>
              <a:cxnLst/>
              <a:rect l="l" t="t" r="r" b="b"/>
              <a:pathLst>
                <a:path w="95250" h="501015">
                  <a:moveTo>
                    <a:pt x="95250" y="381000"/>
                  </a:moveTo>
                  <a:lnTo>
                    <a:pt x="0" y="381000"/>
                  </a:lnTo>
                  <a:lnTo>
                    <a:pt x="0" y="501015"/>
                  </a:lnTo>
                  <a:lnTo>
                    <a:pt x="95250" y="501015"/>
                  </a:lnTo>
                  <a:lnTo>
                    <a:pt x="95250" y="381000"/>
                  </a:lnTo>
                  <a:close/>
                </a:path>
                <a:path w="95250" h="501015">
                  <a:moveTo>
                    <a:pt x="95250" y="0"/>
                  </a:moveTo>
                  <a:lnTo>
                    <a:pt x="0" y="0"/>
                  </a:lnTo>
                  <a:lnTo>
                    <a:pt x="0" y="285750"/>
                  </a:lnTo>
                  <a:lnTo>
                    <a:pt x="95250" y="285750"/>
                  </a:lnTo>
                  <a:lnTo>
                    <a:pt x="95250" y="0"/>
                  </a:lnTo>
                  <a:close/>
                </a:path>
              </a:pathLst>
            </a:custGeom>
            <a:solidFill>
              <a:srgbClr val="000000"/>
            </a:solidFill>
          </p:spPr>
          <p:txBody>
            <a:bodyPr wrap="square" lIns="0" tIns="0" rIns="0" bIns="0" rtlCol="0"/>
            <a:lstStyle/>
            <a:p>
              <a:endParaRPr/>
            </a:p>
          </p:txBody>
        </p:sp>
        <p:sp>
          <p:nvSpPr>
            <p:cNvPr id="24" name="object 24"/>
            <p:cNvSpPr/>
            <p:nvPr/>
          </p:nvSpPr>
          <p:spPr>
            <a:xfrm>
              <a:off x="2737740" y="7718346"/>
              <a:ext cx="285750" cy="190500"/>
            </a:xfrm>
            <a:custGeom>
              <a:avLst/>
              <a:gdLst/>
              <a:ahLst/>
              <a:cxnLst/>
              <a:rect l="l" t="t" r="r" b="b"/>
              <a:pathLst>
                <a:path w="285750" h="190500">
                  <a:moveTo>
                    <a:pt x="285749" y="0"/>
                  </a:moveTo>
                  <a:lnTo>
                    <a:pt x="142874" y="190499"/>
                  </a:lnTo>
                  <a:lnTo>
                    <a:pt x="0" y="0"/>
                  </a:lnTo>
                </a:path>
              </a:pathLst>
            </a:custGeom>
            <a:ln w="95249">
              <a:solidFill>
                <a:srgbClr val="000000"/>
              </a:solidFill>
            </a:ln>
          </p:spPr>
          <p:txBody>
            <a:bodyPr wrap="square" lIns="0" tIns="0" rIns="0" bIns="0" rtlCol="0"/>
            <a:lstStyle/>
            <a:p>
              <a:endParaRPr/>
            </a:p>
          </p:txBody>
        </p:sp>
      </p:grpSp>
      <p:sp>
        <p:nvSpPr>
          <p:cNvPr id="25" name="object 25"/>
          <p:cNvSpPr/>
          <p:nvPr/>
        </p:nvSpPr>
        <p:spPr>
          <a:xfrm>
            <a:off x="8022463" y="5334903"/>
            <a:ext cx="96520" cy="286385"/>
          </a:xfrm>
          <a:custGeom>
            <a:avLst/>
            <a:gdLst/>
            <a:ahLst/>
            <a:cxnLst/>
            <a:rect l="l" t="t" r="r" b="b"/>
            <a:pathLst>
              <a:path w="96520" h="286385">
                <a:moveTo>
                  <a:pt x="0" y="285747"/>
                </a:moveTo>
                <a:lnTo>
                  <a:pt x="1111" y="0"/>
                </a:lnTo>
                <a:lnTo>
                  <a:pt x="96360" y="370"/>
                </a:lnTo>
                <a:lnTo>
                  <a:pt x="95249" y="286118"/>
                </a:lnTo>
                <a:lnTo>
                  <a:pt x="0" y="285747"/>
                </a:lnTo>
                <a:close/>
              </a:path>
            </a:pathLst>
          </a:custGeom>
          <a:solidFill>
            <a:srgbClr val="000000"/>
          </a:solidFill>
        </p:spPr>
        <p:txBody>
          <a:bodyPr wrap="square" lIns="0" tIns="0" rIns="0" bIns="0" rtlCol="0"/>
          <a:lstStyle/>
          <a:p>
            <a:endParaRPr/>
          </a:p>
        </p:txBody>
      </p:sp>
      <p:sp>
        <p:nvSpPr>
          <p:cNvPr id="26" name="object 26"/>
          <p:cNvSpPr/>
          <p:nvPr/>
        </p:nvSpPr>
        <p:spPr>
          <a:xfrm>
            <a:off x="8020980" y="5715900"/>
            <a:ext cx="96520" cy="286385"/>
          </a:xfrm>
          <a:custGeom>
            <a:avLst/>
            <a:gdLst/>
            <a:ahLst/>
            <a:cxnLst/>
            <a:rect l="l" t="t" r="r" b="b"/>
            <a:pathLst>
              <a:path w="96520" h="286385">
                <a:moveTo>
                  <a:pt x="0" y="285747"/>
                </a:moveTo>
                <a:lnTo>
                  <a:pt x="1111" y="0"/>
                </a:lnTo>
                <a:lnTo>
                  <a:pt x="96360" y="370"/>
                </a:lnTo>
                <a:lnTo>
                  <a:pt x="95249" y="286118"/>
                </a:lnTo>
                <a:lnTo>
                  <a:pt x="0" y="285747"/>
                </a:lnTo>
                <a:close/>
              </a:path>
            </a:pathLst>
          </a:custGeom>
          <a:solidFill>
            <a:srgbClr val="000000"/>
          </a:solidFill>
        </p:spPr>
        <p:txBody>
          <a:bodyPr wrap="square" lIns="0" tIns="0" rIns="0" bIns="0" rtlCol="0"/>
          <a:lstStyle/>
          <a:p>
            <a:endParaRPr/>
          </a:p>
        </p:txBody>
      </p:sp>
      <p:sp>
        <p:nvSpPr>
          <p:cNvPr id="27" name="object 27"/>
          <p:cNvSpPr/>
          <p:nvPr/>
        </p:nvSpPr>
        <p:spPr>
          <a:xfrm>
            <a:off x="8019498" y="6096897"/>
            <a:ext cx="96520" cy="286385"/>
          </a:xfrm>
          <a:custGeom>
            <a:avLst/>
            <a:gdLst/>
            <a:ahLst/>
            <a:cxnLst/>
            <a:rect l="l" t="t" r="r" b="b"/>
            <a:pathLst>
              <a:path w="96520" h="286385">
                <a:moveTo>
                  <a:pt x="0" y="285747"/>
                </a:moveTo>
                <a:lnTo>
                  <a:pt x="1111" y="0"/>
                </a:lnTo>
                <a:lnTo>
                  <a:pt x="96360" y="370"/>
                </a:lnTo>
                <a:lnTo>
                  <a:pt x="95249" y="286118"/>
                </a:lnTo>
                <a:lnTo>
                  <a:pt x="0" y="285747"/>
                </a:lnTo>
                <a:close/>
              </a:path>
            </a:pathLst>
          </a:custGeom>
          <a:solidFill>
            <a:srgbClr val="000000"/>
          </a:solidFill>
        </p:spPr>
        <p:txBody>
          <a:bodyPr wrap="square" lIns="0" tIns="0" rIns="0" bIns="0" rtlCol="0"/>
          <a:lstStyle/>
          <a:p>
            <a:endParaRPr/>
          </a:p>
        </p:txBody>
      </p:sp>
      <p:sp>
        <p:nvSpPr>
          <p:cNvPr id="28" name="object 28"/>
          <p:cNvSpPr/>
          <p:nvPr/>
        </p:nvSpPr>
        <p:spPr>
          <a:xfrm>
            <a:off x="8018016" y="6477894"/>
            <a:ext cx="96520" cy="286385"/>
          </a:xfrm>
          <a:custGeom>
            <a:avLst/>
            <a:gdLst/>
            <a:ahLst/>
            <a:cxnLst/>
            <a:rect l="l" t="t" r="r" b="b"/>
            <a:pathLst>
              <a:path w="96520" h="286384">
                <a:moveTo>
                  <a:pt x="0" y="285747"/>
                </a:moveTo>
                <a:lnTo>
                  <a:pt x="1111" y="0"/>
                </a:lnTo>
                <a:lnTo>
                  <a:pt x="96360" y="370"/>
                </a:lnTo>
                <a:lnTo>
                  <a:pt x="95249" y="286118"/>
                </a:lnTo>
                <a:lnTo>
                  <a:pt x="0" y="285747"/>
                </a:lnTo>
                <a:close/>
              </a:path>
            </a:pathLst>
          </a:custGeom>
          <a:solidFill>
            <a:srgbClr val="000000"/>
          </a:solidFill>
        </p:spPr>
        <p:txBody>
          <a:bodyPr wrap="square" lIns="0" tIns="0" rIns="0" bIns="0" rtlCol="0"/>
          <a:lstStyle/>
          <a:p>
            <a:endParaRPr/>
          </a:p>
        </p:txBody>
      </p:sp>
      <p:sp>
        <p:nvSpPr>
          <p:cNvPr id="29" name="object 29"/>
          <p:cNvSpPr/>
          <p:nvPr/>
        </p:nvSpPr>
        <p:spPr>
          <a:xfrm>
            <a:off x="8016534" y="6858891"/>
            <a:ext cx="96520" cy="286385"/>
          </a:xfrm>
          <a:custGeom>
            <a:avLst/>
            <a:gdLst/>
            <a:ahLst/>
            <a:cxnLst/>
            <a:rect l="l" t="t" r="r" b="b"/>
            <a:pathLst>
              <a:path w="96520" h="286384">
                <a:moveTo>
                  <a:pt x="0" y="285747"/>
                </a:moveTo>
                <a:lnTo>
                  <a:pt x="1111" y="0"/>
                </a:lnTo>
                <a:lnTo>
                  <a:pt x="96360" y="370"/>
                </a:lnTo>
                <a:lnTo>
                  <a:pt x="95249" y="286118"/>
                </a:lnTo>
                <a:lnTo>
                  <a:pt x="0" y="285747"/>
                </a:lnTo>
                <a:close/>
              </a:path>
            </a:pathLst>
          </a:custGeom>
          <a:solidFill>
            <a:srgbClr val="000000"/>
          </a:solidFill>
        </p:spPr>
        <p:txBody>
          <a:bodyPr wrap="square" lIns="0" tIns="0" rIns="0" bIns="0" rtlCol="0"/>
          <a:lstStyle/>
          <a:p>
            <a:endParaRPr/>
          </a:p>
        </p:txBody>
      </p:sp>
      <p:grpSp>
        <p:nvGrpSpPr>
          <p:cNvPr id="30" name="object 30"/>
          <p:cNvGrpSpPr/>
          <p:nvPr/>
        </p:nvGrpSpPr>
        <p:grpSpPr>
          <a:xfrm>
            <a:off x="7871511" y="7239889"/>
            <a:ext cx="381000" cy="695960"/>
            <a:chOff x="7871511" y="7239889"/>
            <a:chExt cx="381000" cy="695960"/>
          </a:xfrm>
        </p:grpSpPr>
        <p:sp>
          <p:nvSpPr>
            <p:cNvPr id="31" name="object 31"/>
            <p:cNvSpPr/>
            <p:nvPr/>
          </p:nvSpPr>
          <p:spPr>
            <a:xfrm>
              <a:off x="8013636" y="7239901"/>
              <a:ext cx="97790" cy="648335"/>
            </a:xfrm>
            <a:custGeom>
              <a:avLst/>
              <a:gdLst/>
              <a:ahLst/>
              <a:cxnLst/>
              <a:rect l="l" t="t" r="r" b="b"/>
              <a:pathLst>
                <a:path w="97790" h="648334">
                  <a:moveTo>
                    <a:pt x="96291" y="381355"/>
                  </a:moveTo>
                  <a:lnTo>
                    <a:pt x="1041" y="380987"/>
                  </a:lnTo>
                  <a:lnTo>
                    <a:pt x="0" y="647712"/>
                  </a:lnTo>
                  <a:lnTo>
                    <a:pt x="95250" y="648081"/>
                  </a:lnTo>
                  <a:lnTo>
                    <a:pt x="96291" y="381355"/>
                  </a:lnTo>
                  <a:close/>
                </a:path>
                <a:path w="97790" h="648334">
                  <a:moveTo>
                    <a:pt x="97764" y="368"/>
                  </a:moveTo>
                  <a:lnTo>
                    <a:pt x="2527" y="0"/>
                  </a:lnTo>
                  <a:lnTo>
                    <a:pt x="1409" y="285737"/>
                  </a:lnTo>
                  <a:lnTo>
                    <a:pt x="96659" y="286118"/>
                  </a:lnTo>
                  <a:lnTo>
                    <a:pt x="97764" y="368"/>
                  </a:lnTo>
                  <a:close/>
                </a:path>
              </a:pathLst>
            </a:custGeom>
            <a:solidFill>
              <a:srgbClr val="000000"/>
            </a:solidFill>
          </p:spPr>
          <p:txBody>
            <a:bodyPr wrap="square" lIns="0" tIns="0" rIns="0" bIns="0" rtlCol="0"/>
            <a:lstStyle/>
            <a:p>
              <a:endParaRPr/>
            </a:p>
          </p:txBody>
        </p:sp>
        <p:sp>
          <p:nvSpPr>
            <p:cNvPr id="32" name="object 32"/>
            <p:cNvSpPr/>
            <p:nvPr/>
          </p:nvSpPr>
          <p:spPr>
            <a:xfrm>
              <a:off x="7919136" y="7696734"/>
              <a:ext cx="285750" cy="191135"/>
            </a:xfrm>
            <a:custGeom>
              <a:avLst/>
              <a:gdLst/>
              <a:ahLst/>
              <a:cxnLst/>
              <a:rect l="l" t="t" r="r" b="b"/>
              <a:pathLst>
                <a:path w="285750" h="191134">
                  <a:moveTo>
                    <a:pt x="285747" y="1111"/>
                  </a:moveTo>
                  <a:lnTo>
                    <a:pt x="142132" y="191054"/>
                  </a:lnTo>
                  <a:lnTo>
                    <a:pt x="0" y="0"/>
                  </a:lnTo>
                </a:path>
              </a:pathLst>
            </a:custGeom>
            <a:ln w="95249">
              <a:solidFill>
                <a:srgbClr val="000000"/>
              </a:solidFill>
            </a:ln>
          </p:spPr>
          <p:txBody>
            <a:bodyPr wrap="square" lIns="0" tIns="0" rIns="0" bIns="0" rtlCol="0"/>
            <a:lstStyle/>
            <a:p>
              <a:endParaRPr/>
            </a:p>
          </p:txBody>
        </p:sp>
      </p:grpSp>
      <p:sp>
        <p:nvSpPr>
          <p:cNvPr id="33" name="object 33"/>
          <p:cNvSpPr/>
          <p:nvPr/>
        </p:nvSpPr>
        <p:spPr>
          <a:xfrm>
            <a:off x="14854454" y="5824302"/>
            <a:ext cx="96520" cy="286385"/>
          </a:xfrm>
          <a:custGeom>
            <a:avLst/>
            <a:gdLst/>
            <a:ahLst/>
            <a:cxnLst/>
            <a:rect l="l" t="t" r="r" b="b"/>
            <a:pathLst>
              <a:path w="96519" h="286385">
                <a:moveTo>
                  <a:pt x="0" y="285749"/>
                </a:moveTo>
                <a:lnTo>
                  <a:pt x="677" y="0"/>
                </a:lnTo>
                <a:lnTo>
                  <a:pt x="95927" y="225"/>
                </a:lnTo>
                <a:lnTo>
                  <a:pt x="95249" y="285975"/>
                </a:lnTo>
                <a:lnTo>
                  <a:pt x="0" y="285749"/>
                </a:lnTo>
                <a:close/>
              </a:path>
            </a:pathLst>
          </a:custGeom>
          <a:solidFill>
            <a:srgbClr val="000000"/>
          </a:solidFill>
        </p:spPr>
        <p:txBody>
          <a:bodyPr wrap="square" lIns="0" tIns="0" rIns="0" bIns="0" rtlCol="0"/>
          <a:lstStyle/>
          <a:p>
            <a:endParaRPr/>
          </a:p>
        </p:txBody>
      </p:sp>
      <p:sp>
        <p:nvSpPr>
          <p:cNvPr id="34" name="object 34"/>
          <p:cNvSpPr/>
          <p:nvPr/>
        </p:nvSpPr>
        <p:spPr>
          <a:xfrm>
            <a:off x="14853550" y="6205301"/>
            <a:ext cx="96520" cy="286385"/>
          </a:xfrm>
          <a:custGeom>
            <a:avLst/>
            <a:gdLst/>
            <a:ahLst/>
            <a:cxnLst/>
            <a:rect l="l" t="t" r="r" b="b"/>
            <a:pathLst>
              <a:path w="96519" h="286385">
                <a:moveTo>
                  <a:pt x="0" y="285749"/>
                </a:moveTo>
                <a:lnTo>
                  <a:pt x="677" y="0"/>
                </a:lnTo>
                <a:lnTo>
                  <a:pt x="95927" y="225"/>
                </a:lnTo>
                <a:lnTo>
                  <a:pt x="95249" y="285975"/>
                </a:lnTo>
                <a:lnTo>
                  <a:pt x="0" y="285749"/>
                </a:lnTo>
                <a:close/>
              </a:path>
            </a:pathLst>
          </a:custGeom>
          <a:solidFill>
            <a:srgbClr val="000000"/>
          </a:solidFill>
        </p:spPr>
        <p:txBody>
          <a:bodyPr wrap="square" lIns="0" tIns="0" rIns="0" bIns="0" rtlCol="0"/>
          <a:lstStyle/>
          <a:p>
            <a:endParaRPr/>
          </a:p>
        </p:txBody>
      </p:sp>
      <p:grpSp>
        <p:nvGrpSpPr>
          <p:cNvPr id="35" name="object 35"/>
          <p:cNvGrpSpPr/>
          <p:nvPr/>
        </p:nvGrpSpPr>
        <p:grpSpPr>
          <a:xfrm>
            <a:off x="14707765" y="6586300"/>
            <a:ext cx="381000" cy="1370330"/>
            <a:chOff x="14707765" y="6586300"/>
            <a:chExt cx="381000" cy="1370330"/>
          </a:xfrm>
        </p:grpSpPr>
        <p:sp>
          <p:nvSpPr>
            <p:cNvPr id="36" name="object 36"/>
            <p:cNvSpPr/>
            <p:nvPr/>
          </p:nvSpPr>
          <p:spPr>
            <a:xfrm>
              <a:off x="14850187" y="6586308"/>
              <a:ext cx="98425" cy="1322705"/>
            </a:xfrm>
            <a:custGeom>
              <a:avLst/>
              <a:gdLst/>
              <a:ahLst/>
              <a:cxnLst/>
              <a:rect l="l" t="t" r="r" b="b"/>
              <a:pathLst>
                <a:path w="98425" h="1322704">
                  <a:moveTo>
                    <a:pt x="95669" y="1143215"/>
                  </a:moveTo>
                  <a:lnTo>
                    <a:pt x="419" y="1143000"/>
                  </a:lnTo>
                  <a:lnTo>
                    <a:pt x="0" y="1322476"/>
                  </a:lnTo>
                  <a:lnTo>
                    <a:pt x="95250" y="1322692"/>
                  </a:lnTo>
                  <a:lnTo>
                    <a:pt x="95669" y="1143215"/>
                  </a:lnTo>
                  <a:close/>
                </a:path>
                <a:path w="98425" h="1322704">
                  <a:moveTo>
                    <a:pt x="96570" y="762215"/>
                  </a:moveTo>
                  <a:lnTo>
                    <a:pt x="1320" y="762000"/>
                  </a:lnTo>
                  <a:lnTo>
                    <a:pt x="647" y="1047750"/>
                  </a:lnTo>
                  <a:lnTo>
                    <a:pt x="95897" y="1047965"/>
                  </a:lnTo>
                  <a:lnTo>
                    <a:pt x="96570" y="762215"/>
                  </a:lnTo>
                  <a:close/>
                </a:path>
                <a:path w="98425" h="1322704">
                  <a:moveTo>
                    <a:pt x="97472" y="381228"/>
                  </a:moveTo>
                  <a:lnTo>
                    <a:pt x="2235" y="381000"/>
                  </a:lnTo>
                  <a:lnTo>
                    <a:pt x="1549" y="666750"/>
                  </a:lnTo>
                  <a:lnTo>
                    <a:pt x="96799" y="666965"/>
                  </a:lnTo>
                  <a:lnTo>
                    <a:pt x="97472" y="381228"/>
                  </a:lnTo>
                  <a:close/>
                </a:path>
                <a:path w="98425" h="1322704">
                  <a:moveTo>
                    <a:pt x="98386" y="228"/>
                  </a:moveTo>
                  <a:lnTo>
                    <a:pt x="3136" y="0"/>
                  </a:lnTo>
                  <a:lnTo>
                    <a:pt x="2451" y="285750"/>
                  </a:lnTo>
                  <a:lnTo>
                    <a:pt x="97701" y="285978"/>
                  </a:lnTo>
                  <a:lnTo>
                    <a:pt x="98386" y="228"/>
                  </a:lnTo>
                  <a:close/>
                </a:path>
              </a:pathLst>
            </a:custGeom>
            <a:solidFill>
              <a:srgbClr val="000000"/>
            </a:solidFill>
          </p:spPr>
          <p:txBody>
            <a:bodyPr wrap="square" lIns="0" tIns="0" rIns="0" bIns="0" rtlCol="0"/>
            <a:lstStyle/>
            <a:p>
              <a:endParaRPr/>
            </a:p>
          </p:txBody>
        </p:sp>
        <p:sp>
          <p:nvSpPr>
            <p:cNvPr id="37" name="object 37"/>
            <p:cNvSpPr/>
            <p:nvPr/>
          </p:nvSpPr>
          <p:spPr>
            <a:xfrm>
              <a:off x="14755390" y="7718049"/>
              <a:ext cx="285750" cy="191135"/>
            </a:xfrm>
            <a:custGeom>
              <a:avLst/>
              <a:gdLst/>
              <a:ahLst/>
              <a:cxnLst/>
              <a:rect l="l" t="t" r="r" b="b"/>
              <a:pathLst>
                <a:path w="285750" h="191134">
                  <a:moveTo>
                    <a:pt x="285749" y="677"/>
                  </a:moveTo>
                  <a:lnTo>
                    <a:pt x="142422" y="190838"/>
                  </a:lnTo>
                  <a:lnTo>
                    <a:pt x="0" y="0"/>
                  </a:lnTo>
                </a:path>
              </a:pathLst>
            </a:custGeom>
            <a:ln w="95249">
              <a:solidFill>
                <a:srgbClr val="000000"/>
              </a:solidFill>
            </a:ln>
          </p:spPr>
          <p:txBody>
            <a:bodyPr wrap="square" lIns="0" tIns="0" rIns="0" bIns="0" rtlCol="0"/>
            <a:lstStyle/>
            <a:p>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80325" y="511175"/>
            <a:ext cx="12103735" cy="482600"/>
          </a:xfrm>
          <a:prstGeom prst="rect">
            <a:avLst/>
          </a:prstGeom>
        </p:spPr>
        <p:txBody>
          <a:bodyPr vert="horz" wrap="square" lIns="0" tIns="12700" rIns="0" bIns="0" rtlCol="0">
            <a:spAutoFit/>
          </a:bodyPr>
          <a:lstStyle/>
          <a:p>
            <a:pPr marL="12700">
              <a:lnSpc>
                <a:spcPct val="100000"/>
              </a:lnSpc>
              <a:spcBef>
                <a:spcPts val="100"/>
              </a:spcBef>
            </a:pPr>
            <a:r>
              <a:rPr sz="3000" b="1" dirty="0">
                <a:latin typeface="Times New Roman"/>
                <a:cs typeface="Times New Roman"/>
              </a:rPr>
              <a:t>Just</a:t>
            </a:r>
            <a:r>
              <a:rPr sz="3000" b="1" spc="-25" dirty="0">
                <a:latin typeface="Times New Roman"/>
                <a:cs typeface="Times New Roman"/>
              </a:rPr>
              <a:t> </a:t>
            </a:r>
            <a:r>
              <a:rPr sz="3000" b="1" spc="170" dirty="0">
                <a:latin typeface="Times New Roman"/>
                <a:cs typeface="Times New Roman"/>
              </a:rPr>
              <a:t>assume</a:t>
            </a:r>
            <a:r>
              <a:rPr sz="3000" b="1" spc="-25" dirty="0">
                <a:latin typeface="Times New Roman"/>
                <a:cs typeface="Times New Roman"/>
              </a:rPr>
              <a:t> </a:t>
            </a:r>
            <a:r>
              <a:rPr sz="3000" b="1" spc="70" dirty="0">
                <a:latin typeface="Times New Roman"/>
                <a:cs typeface="Times New Roman"/>
              </a:rPr>
              <a:t>that</a:t>
            </a:r>
            <a:r>
              <a:rPr sz="3000" b="1" spc="-20" dirty="0">
                <a:latin typeface="Times New Roman"/>
                <a:cs typeface="Times New Roman"/>
              </a:rPr>
              <a:t> </a:t>
            </a:r>
            <a:r>
              <a:rPr sz="3000" b="1" spc="310" dirty="0">
                <a:latin typeface="Times New Roman"/>
                <a:cs typeface="Times New Roman"/>
              </a:rPr>
              <a:t>we</a:t>
            </a:r>
            <a:r>
              <a:rPr sz="3000" b="1" spc="-25" dirty="0">
                <a:latin typeface="Times New Roman"/>
                <a:cs typeface="Times New Roman"/>
              </a:rPr>
              <a:t> </a:t>
            </a:r>
            <a:r>
              <a:rPr sz="3000" b="1" spc="160" dirty="0">
                <a:latin typeface="Times New Roman"/>
                <a:cs typeface="Times New Roman"/>
              </a:rPr>
              <a:t>have</a:t>
            </a:r>
            <a:r>
              <a:rPr sz="3000" b="1" spc="-20" dirty="0">
                <a:latin typeface="Times New Roman"/>
                <a:cs typeface="Times New Roman"/>
              </a:rPr>
              <a:t> </a:t>
            </a:r>
            <a:r>
              <a:rPr sz="3000" b="1" spc="-315" dirty="0">
                <a:latin typeface="Times New Roman"/>
                <a:cs typeface="Times New Roman"/>
              </a:rPr>
              <a:t>1</a:t>
            </a:r>
            <a:r>
              <a:rPr sz="3000" b="1" spc="-25" dirty="0">
                <a:latin typeface="Times New Roman"/>
                <a:cs typeface="Times New Roman"/>
              </a:rPr>
              <a:t> </a:t>
            </a:r>
            <a:r>
              <a:rPr sz="3000" b="1" spc="190" dirty="0">
                <a:latin typeface="Times New Roman"/>
                <a:cs typeface="Times New Roman"/>
              </a:rPr>
              <a:t>pod</a:t>
            </a:r>
            <a:r>
              <a:rPr sz="3000" b="1" spc="-20" dirty="0">
                <a:latin typeface="Times New Roman"/>
                <a:cs typeface="Times New Roman"/>
              </a:rPr>
              <a:t> </a:t>
            </a:r>
            <a:r>
              <a:rPr sz="3000" b="1" spc="160" dirty="0">
                <a:latin typeface="Times New Roman"/>
                <a:cs typeface="Times New Roman"/>
              </a:rPr>
              <a:t>and</a:t>
            </a:r>
            <a:r>
              <a:rPr sz="3000" b="1" spc="-25" dirty="0">
                <a:latin typeface="Times New Roman"/>
                <a:cs typeface="Times New Roman"/>
              </a:rPr>
              <a:t> </a:t>
            </a:r>
            <a:r>
              <a:rPr sz="3000" b="1" spc="120" dirty="0">
                <a:latin typeface="Times New Roman"/>
                <a:cs typeface="Times New Roman"/>
              </a:rPr>
              <a:t>4</a:t>
            </a:r>
            <a:r>
              <a:rPr sz="3000" b="1" spc="-25" dirty="0">
                <a:latin typeface="Times New Roman"/>
                <a:cs typeface="Times New Roman"/>
              </a:rPr>
              <a:t> </a:t>
            </a:r>
            <a:r>
              <a:rPr sz="3000" b="1" spc="180" dirty="0">
                <a:latin typeface="Times New Roman"/>
                <a:cs typeface="Times New Roman"/>
              </a:rPr>
              <a:t>nodes</a:t>
            </a:r>
            <a:r>
              <a:rPr sz="3000" b="1" spc="-20" dirty="0">
                <a:latin typeface="Times New Roman"/>
                <a:cs typeface="Times New Roman"/>
              </a:rPr>
              <a:t> </a:t>
            </a:r>
            <a:r>
              <a:rPr sz="3000" b="1" dirty="0">
                <a:latin typeface="Times New Roman"/>
                <a:cs typeface="Times New Roman"/>
              </a:rPr>
              <a:t>just</a:t>
            </a:r>
            <a:r>
              <a:rPr sz="3000" b="1" spc="-25" dirty="0">
                <a:latin typeface="Times New Roman"/>
                <a:cs typeface="Times New Roman"/>
              </a:rPr>
              <a:t> </a:t>
            </a:r>
            <a:r>
              <a:rPr sz="3000" b="1" spc="60" dirty="0">
                <a:latin typeface="Times New Roman"/>
                <a:cs typeface="Times New Roman"/>
              </a:rPr>
              <a:t>like</a:t>
            </a:r>
            <a:r>
              <a:rPr sz="3000" b="1" spc="-20" dirty="0">
                <a:latin typeface="Times New Roman"/>
                <a:cs typeface="Times New Roman"/>
              </a:rPr>
              <a:t> </a:t>
            </a:r>
            <a:r>
              <a:rPr sz="3000" b="1" spc="130" dirty="0">
                <a:latin typeface="Times New Roman"/>
                <a:cs typeface="Times New Roman"/>
              </a:rPr>
              <a:t>the</a:t>
            </a:r>
            <a:r>
              <a:rPr sz="3000" b="1" spc="-25" dirty="0">
                <a:latin typeface="Times New Roman"/>
                <a:cs typeface="Times New Roman"/>
              </a:rPr>
              <a:t> </a:t>
            </a:r>
            <a:r>
              <a:rPr sz="3000" b="1" spc="210" dirty="0">
                <a:latin typeface="Times New Roman"/>
                <a:cs typeface="Times New Roman"/>
              </a:rPr>
              <a:t>below</a:t>
            </a:r>
            <a:r>
              <a:rPr sz="3000" b="1" spc="-20" dirty="0">
                <a:latin typeface="Times New Roman"/>
                <a:cs typeface="Times New Roman"/>
              </a:rPr>
              <a:t> </a:t>
            </a:r>
            <a:r>
              <a:rPr sz="3000" b="1" spc="114" dirty="0">
                <a:latin typeface="Times New Roman"/>
                <a:cs typeface="Times New Roman"/>
              </a:rPr>
              <a:t>image</a:t>
            </a:r>
            <a:endParaRPr sz="3000">
              <a:latin typeface="Times New Roman"/>
              <a:cs typeface="Times New Roman"/>
            </a:endParaRPr>
          </a:p>
        </p:txBody>
      </p:sp>
      <p:pic>
        <p:nvPicPr>
          <p:cNvPr id="3" name="object 3"/>
          <p:cNvPicPr/>
          <p:nvPr/>
        </p:nvPicPr>
        <p:blipFill>
          <a:blip r:embed="rId2" cstate="print"/>
          <a:stretch>
            <a:fillRect/>
          </a:stretch>
        </p:blipFill>
        <p:spPr>
          <a:xfrm>
            <a:off x="6529192" y="1401164"/>
            <a:ext cx="3228974" cy="3238499"/>
          </a:xfrm>
          <a:prstGeom prst="rect">
            <a:avLst/>
          </a:prstGeom>
        </p:spPr>
      </p:pic>
      <p:sp>
        <p:nvSpPr>
          <p:cNvPr id="4" name="object 4"/>
          <p:cNvSpPr txBox="1">
            <a:spLocks noGrp="1"/>
          </p:cNvSpPr>
          <p:nvPr>
            <p:ph type="title"/>
          </p:nvPr>
        </p:nvSpPr>
        <p:spPr>
          <a:xfrm>
            <a:off x="7428116" y="2104047"/>
            <a:ext cx="1433195" cy="1579245"/>
          </a:xfrm>
          <a:prstGeom prst="rect">
            <a:avLst/>
          </a:prstGeom>
        </p:spPr>
        <p:txBody>
          <a:bodyPr vert="horz" wrap="square" lIns="0" tIns="12065" rIns="0" bIns="0" rtlCol="0">
            <a:spAutoFit/>
          </a:bodyPr>
          <a:lstStyle/>
          <a:p>
            <a:pPr marL="12700" marR="5080" indent="201295">
              <a:lnSpc>
                <a:spcPct val="117200"/>
              </a:lnSpc>
              <a:spcBef>
                <a:spcPts val="95"/>
              </a:spcBef>
            </a:pPr>
            <a:r>
              <a:rPr sz="4350" spc="260" dirty="0">
                <a:solidFill>
                  <a:srgbClr val="FF3131"/>
                </a:solidFill>
              </a:rPr>
              <a:t>pod </a:t>
            </a:r>
            <a:r>
              <a:rPr sz="4350" spc="215" dirty="0">
                <a:solidFill>
                  <a:srgbClr val="FF3131"/>
                </a:solidFill>
              </a:rPr>
              <a:t>6</a:t>
            </a:r>
            <a:r>
              <a:rPr sz="4350" spc="-40" dirty="0">
                <a:solidFill>
                  <a:srgbClr val="FF3131"/>
                </a:solidFill>
              </a:rPr>
              <a:t> </a:t>
            </a:r>
            <a:r>
              <a:rPr sz="4350" spc="245" dirty="0">
                <a:solidFill>
                  <a:srgbClr val="FF3131"/>
                </a:solidFill>
              </a:rPr>
              <a:t>cpu</a:t>
            </a:r>
            <a:endParaRPr sz="4350"/>
          </a:p>
        </p:txBody>
      </p:sp>
      <p:sp>
        <p:nvSpPr>
          <p:cNvPr id="5" name="object 5"/>
          <p:cNvSpPr txBox="1"/>
          <p:nvPr/>
        </p:nvSpPr>
        <p:spPr>
          <a:xfrm>
            <a:off x="1350183" y="5452101"/>
            <a:ext cx="2788285" cy="3801110"/>
          </a:xfrm>
          <a:prstGeom prst="rect">
            <a:avLst/>
          </a:prstGeom>
          <a:solidFill>
            <a:srgbClr val="D5EFF1"/>
          </a:solidFill>
        </p:spPr>
        <p:txBody>
          <a:bodyPr vert="horz" wrap="square" lIns="0" tIns="76835" rIns="0" bIns="0" rtlCol="0">
            <a:spAutoFit/>
          </a:bodyPr>
          <a:lstStyle/>
          <a:p>
            <a:pPr>
              <a:lnSpc>
                <a:spcPct val="100000"/>
              </a:lnSpc>
              <a:spcBef>
                <a:spcPts val="605"/>
              </a:spcBef>
            </a:pPr>
            <a:endParaRPr sz="4500">
              <a:latin typeface="Times New Roman"/>
              <a:cs typeface="Times New Roman"/>
            </a:endParaRPr>
          </a:p>
          <a:p>
            <a:pPr marL="330835" marR="498475" indent="20955">
              <a:lnSpc>
                <a:spcPct val="116700"/>
              </a:lnSpc>
            </a:pPr>
            <a:r>
              <a:rPr sz="4500" b="1" spc="340" dirty="0">
                <a:latin typeface="Times New Roman"/>
                <a:cs typeface="Times New Roman"/>
              </a:rPr>
              <a:t>Node-</a:t>
            </a:r>
            <a:r>
              <a:rPr sz="4500" b="1" spc="-525" dirty="0">
                <a:latin typeface="Times New Roman"/>
                <a:cs typeface="Times New Roman"/>
              </a:rPr>
              <a:t>1 </a:t>
            </a:r>
            <a:r>
              <a:rPr sz="4500" b="1" spc="270" dirty="0">
                <a:latin typeface="Times New Roman"/>
                <a:cs typeface="Times New Roman"/>
              </a:rPr>
              <a:t>2</a:t>
            </a:r>
            <a:r>
              <a:rPr sz="4500" b="1" spc="-45" dirty="0">
                <a:latin typeface="Times New Roman"/>
                <a:cs typeface="Times New Roman"/>
              </a:rPr>
              <a:t> </a:t>
            </a:r>
            <a:r>
              <a:rPr sz="4500" b="1" spc="-155" dirty="0">
                <a:latin typeface="Times New Roman"/>
                <a:cs typeface="Times New Roman"/>
              </a:rPr>
              <a:t>CPU’s</a:t>
            </a:r>
            <a:endParaRPr sz="4500">
              <a:latin typeface="Times New Roman"/>
              <a:cs typeface="Times New Roman"/>
            </a:endParaRPr>
          </a:p>
        </p:txBody>
      </p:sp>
      <p:sp>
        <p:nvSpPr>
          <p:cNvPr id="6" name="object 6"/>
          <p:cNvSpPr txBox="1"/>
          <p:nvPr/>
        </p:nvSpPr>
        <p:spPr>
          <a:xfrm>
            <a:off x="5723845" y="5452101"/>
            <a:ext cx="2788285" cy="3801110"/>
          </a:xfrm>
          <a:prstGeom prst="rect">
            <a:avLst/>
          </a:prstGeom>
          <a:solidFill>
            <a:srgbClr val="D5EFF1"/>
          </a:solidFill>
        </p:spPr>
        <p:txBody>
          <a:bodyPr vert="horz" wrap="square" lIns="0" tIns="76835" rIns="0" bIns="0" rtlCol="0">
            <a:spAutoFit/>
          </a:bodyPr>
          <a:lstStyle/>
          <a:p>
            <a:pPr>
              <a:lnSpc>
                <a:spcPct val="100000"/>
              </a:lnSpc>
              <a:spcBef>
                <a:spcPts val="605"/>
              </a:spcBef>
            </a:pPr>
            <a:endParaRPr sz="4500">
              <a:latin typeface="Times New Roman"/>
              <a:cs typeface="Times New Roman"/>
            </a:endParaRPr>
          </a:p>
          <a:p>
            <a:pPr marL="450215" marR="359410" indent="-33655">
              <a:lnSpc>
                <a:spcPct val="116700"/>
              </a:lnSpc>
            </a:pPr>
            <a:r>
              <a:rPr sz="4500" b="1" spc="340" dirty="0">
                <a:latin typeface="Times New Roman"/>
                <a:cs typeface="Times New Roman"/>
              </a:rPr>
              <a:t>Node-</a:t>
            </a:r>
            <a:r>
              <a:rPr sz="4500" b="1" spc="220" dirty="0">
                <a:latin typeface="Times New Roman"/>
                <a:cs typeface="Times New Roman"/>
              </a:rPr>
              <a:t>2 </a:t>
            </a:r>
            <a:r>
              <a:rPr sz="4500" b="1" spc="180" dirty="0">
                <a:latin typeface="Times New Roman"/>
                <a:cs typeface="Times New Roman"/>
              </a:rPr>
              <a:t>4</a:t>
            </a:r>
            <a:r>
              <a:rPr sz="4500" b="1" spc="-45" dirty="0">
                <a:latin typeface="Times New Roman"/>
                <a:cs typeface="Times New Roman"/>
              </a:rPr>
              <a:t> </a:t>
            </a:r>
            <a:r>
              <a:rPr sz="4500" b="1" spc="-114" dirty="0">
                <a:latin typeface="Times New Roman"/>
                <a:cs typeface="Times New Roman"/>
              </a:rPr>
              <a:t>CPU’s</a:t>
            </a:r>
            <a:endParaRPr sz="4500">
              <a:latin typeface="Times New Roman"/>
              <a:cs typeface="Times New Roman"/>
            </a:endParaRPr>
          </a:p>
        </p:txBody>
      </p:sp>
      <p:sp>
        <p:nvSpPr>
          <p:cNvPr id="7" name="object 7"/>
          <p:cNvSpPr txBox="1"/>
          <p:nvPr/>
        </p:nvSpPr>
        <p:spPr>
          <a:xfrm>
            <a:off x="10097508" y="5452101"/>
            <a:ext cx="2788285" cy="3801110"/>
          </a:xfrm>
          <a:prstGeom prst="rect">
            <a:avLst/>
          </a:prstGeom>
          <a:solidFill>
            <a:srgbClr val="D5EFF1"/>
          </a:solidFill>
        </p:spPr>
        <p:txBody>
          <a:bodyPr vert="horz" wrap="square" lIns="0" tIns="76835" rIns="0" bIns="0" rtlCol="0">
            <a:spAutoFit/>
          </a:bodyPr>
          <a:lstStyle/>
          <a:p>
            <a:pPr>
              <a:lnSpc>
                <a:spcPct val="100000"/>
              </a:lnSpc>
              <a:spcBef>
                <a:spcPts val="605"/>
              </a:spcBef>
            </a:pPr>
            <a:endParaRPr sz="4500">
              <a:latin typeface="Times New Roman"/>
              <a:cs typeface="Times New Roman"/>
            </a:endParaRPr>
          </a:p>
          <a:p>
            <a:pPr marL="284480" marR="276860" indent="111760">
              <a:lnSpc>
                <a:spcPct val="116700"/>
              </a:lnSpc>
            </a:pPr>
            <a:r>
              <a:rPr sz="4500" b="1" spc="340" dirty="0">
                <a:latin typeface="Times New Roman"/>
                <a:cs typeface="Times New Roman"/>
              </a:rPr>
              <a:t>Node-</a:t>
            </a:r>
            <a:r>
              <a:rPr sz="4500" b="1" spc="150" dirty="0">
                <a:latin typeface="Times New Roman"/>
                <a:cs typeface="Times New Roman"/>
              </a:rPr>
              <a:t>3 </a:t>
            </a:r>
            <a:r>
              <a:rPr sz="4500" b="1" spc="65" dirty="0">
                <a:latin typeface="Times New Roman"/>
                <a:cs typeface="Times New Roman"/>
              </a:rPr>
              <a:t>10</a:t>
            </a:r>
            <a:r>
              <a:rPr sz="4500" b="1" spc="-50" dirty="0">
                <a:latin typeface="Times New Roman"/>
                <a:cs typeface="Times New Roman"/>
              </a:rPr>
              <a:t> </a:t>
            </a:r>
            <a:r>
              <a:rPr sz="4500" b="1" spc="-165" dirty="0">
                <a:latin typeface="Times New Roman"/>
                <a:cs typeface="Times New Roman"/>
              </a:rPr>
              <a:t>CPU’s</a:t>
            </a:r>
            <a:endParaRPr sz="4500">
              <a:latin typeface="Times New Roman"/>
              <a:cs typeface="Times New Roman"/>
            </a:endParaRPr>
          </a:p>
        </p:txBody>
      </p:sp>
      <p:sp>
        <p:nvSpPr>
          <p:cNvPr id="8" name="object 8"/>
          <p:cNvSpPr txBox="1"/>
          <p:nvPr/>
        </p:nvSpPr>
        <p:spPr>
          <a:xfrm>
            <a:off x="14471170" y="5452101"/>
            <a:ext cx="2788285" cy="3801110"/>
          </a:xfrm>
          <a:prstGeom prst="rect">
            <a:avLst/>
          </a:prstGeom>
          <a:solidFill>
            <a:srgbClr val="D5EFF1"/>
          </a:solidFill>
        </p:spPr>
        <p:txBody>
          <a:bodyPr vert="horz" wrap="square" lIns="0" tIns="76835" rIns="0" bIns="0" rtlCol="0">
            <a:spAutoFit/>
          </a:bodyPr>
          <a:lstStyle/>
          <a:p>
            <a:pPr>
              <a:lnSpc>
                <a:spcPct val="100000"/>
              </a:lnSpc>
              <a:spcBef>
                <a:spcPts val="605"/>
              </a:spcBef>
            </a:pPr>
            <a:endParaRPr sz="4500">
              <a:latin typeface="Times New Roman"/>
              <a:cs typeface="Times New Roman"/>
            </a:endParaRPr>
          </a:p>
          <a:p>
            <a:pPr marL="263525" marR="354965" indent="85725">
              <a:lnSpc>
                <a:spcPct val="116700"/>
              </a:lnSpc>
            </a:pPr>
            <a:r>
              <a:rPr sz="4500" b="1" spc="340" dirty="0">
                <a:latin typeface="Times New Roman"/>
                <a:cs typeface="Times New Roman"/>
              </a:rPr>
              <a:t>Node-</a:t>
            </a:r>
            <a:r>
              <a:rPr sz="4500" b="1" spc="130" dirty="0">
                <a:latin typeface="Times New Roman"/>
                <a:cs typeface="Times New Roman"/>
              </a:rPr>
              <a:t>4 </a:t>
            </a:r>
            <a:r>
              <a:rPr sz="4500" b="1" spc="-60" dirty="0">
                <a:latin typeface="Times New Roman"/>
                <a:cs typeface="Times New Roman"/>
              </a:rPr>
              <a:t>14</a:t>
            </a:r>
            <a:r>
              <a:rPr sz="4500" b="1" spc="-220" dirty="0">
                <a:latin typeface="Times New Roman"/>
                <a:cs typeface="Times New Roman"/>
              </a:rPr>
              <a:t> </a:t>
            </a:r>
            <a:r>
              <a:rPr sz="4500" b="1" spc="-170" dirty="0">
                <a:latin typeface="Times New Roman"/>
                <a:cs typeface="Times New Roman"/>
              </a:rPr>
              <a:t>CPU’s</a:t>
            </a:r>
            <a:endParaRPr sz="4500">
              <a:latin typeface="Times New Roman"/>
              <a:cs typeface="Times New Roman"/>
            </a:endParaRPr>
          </a:p>
        </p:txBody>
      </p:sp>
      <p:sp>
        <p:nvSpPr>
          <p:cNvPr id="9" name="object 9"/>
          <p:cNvSpPr txBox="1"/>
          <p:nvPr/>
        </p:nvSpPr>
        <p:spPr>
          <a:xfrm>
            <a:off x="6593216" y="9569450"/>
            <a:ext cx="4204970" cy="482600"/>
          </a:xfrm>
          <a:prstGeom prst="rect">
            <a:avLst/>
          </a:prstGeom>
        </p:spPr>
        <p:txBody>
          <a:bodyPr vert="horz" wrap="square" lIns="0" tIns="12700" rIns="0" bIns="0" rtlCol="0">
            <a:spAutoFit/>
          </a:bodyPr>
          <a:lstStyle/>
          <a:p>
            <a:pPr marL="12700">
              <a:lnSpc>
                <a:spcPct val="100000"/>
              </a:lnSpc>
              <a:spcBef>
                <a:spcPts val="100"/>
              </a:spcBef>
            </a:pPr>
            <a:r>
              <a:rPr sz="3000" b="1" dirty="0">
                <a:latin typeface="Times New Roman"/>
                <a:cs typeface="Times New Roman"/>
              </a:rPr>
              <a:t>Lets</a:t>
            </a:r>
            <a:r>
              <a:rPr sz="3000" b="1" spc="-55" dirty="0">
                <a:latin typeface="Times New Roman"/>
                <a:cs typeface="Times New Roman"/>
              </a:rPr>
              <a:t> </a:t>
            </a:r>
            <a:r>
              <a:rPr sz="3000" b="1" spc="150" dirty="0">
                <a:latin typeface="Times New Roman"/>
                <a:cs typeface="Times New Roman"/>
              </a:rPr>
              <a:t>see</a:t>
            </a:r>
            <a:r>
              <a:rPr sz="3000" b="1" spc="-50" dirty="0">
                <a:latin typeface="Times New Roman"/>
                <a:cs typeface="Times New Roman"/>
              </a:rPr>
              <a:t> </a:t>
            </a:r>
            <a:r>
              <a:rPr sz="3000" b="1" spc="200" dirty="0">
                <a:latin typeface="Times New Roman"/>
                <a:cs typeface="Times New Roman"/>
              </a:rPr>
              <a:t>How</a:t>
            </a:r>
            <a:r>
              <a:rPr sz="3000" b="1" spc="-55" dirty="0">
                <a:latin typeface="Times New Roman"/>
                <a:cs typeface="Times New Roman"/>
              </a:rPr>
              <a:t> </a:t>
            </a:r>
            <a:r>
              <a:rPr sz="3000" b="1" spc="65" dirty="0">
                <a:latin typeface="Times New Roman"/>
                <a:cs typeface="Times New Roman"/>
              </a:rPr>
              <a:t>its</a:t>
            </a:r>
            <a:r>
              <a:rPr sz="3000" b="1" spc="-50" dirty="0">
                <a:latin typeface="Times New Roman"/>
                <a:cs typeface="Times New Roman"/>
              </a:rPr>
              <a:t> </a:t>
            </a:r>
            <a:r>
              <a:rPr sz="3000" b="1" spc="145" dirty="0">
                <a:latin typeface="Times New Roman"/>
                <a:cs typeface="Times New Roman"/>
              </a:rPr>
              <a:t>decides</a:t>
            </a:r>
            <a:endParaRPr sz="30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50183" y="5884898"/>
            <a:ext cx="2788285" cy="3801110"/>
          </a:xfrm>
          <a:custGeom>
            <a:avLst/>
            <a:gdLst/>
            <a:ahLst/>
            <a:cxnLst/>
            <a:rect l="l" t="t" r="r" b="b"/>
            <a:pathLst>
              <a:path w="2788285" h="3801109">
                <a:moveTo>
                  <a:pt x="2788128" y="3801003"/>
                </a:moveTo>
                <a:lnTo>
                  <a:pt x="0" y="3801003"/>
                </a:lnTo>
                <a:lnTo>
                  <a:pt x="0" y="0"/>
                </a:lnTo>
                <a:lnTo>
                  <a:pt x="2788128" y="0"/>
                </a:lnTo>
                <a:lnTo>
                  <a:pt x="2788128" y="3801003"/>
                </a:lnTo>
                <a:close/>
              </a:path>
            </a:pathLst>
          </a:custGeom>
          <a:solidFill>
            <a:srgbClr val="D5EFF1"/>
          </a:solidFill>
        </p:spPr>
        <p:txBody>
          <a:bodyPr wrap="square" lIns="0" tIns="0" rIns="0" bIns="0" rtlCol="0"/>
          <a:lstStyle/>
          <a:p>
            <a:endParaRPr/>
          </a:p>
        </p:txBody>
      </p:sp>
      <p:sp>
        <p:nvSpPr>
          <p:cNvPr id="3" name="object 3"/>
          <p:cNvSpPr txBox="1"/>
          <p:nvPr/>
        </p:nvSpPr>
        <p:spPr>
          <a:xfrm>
            <a:off x="2177869" y="511175"/>
            <a:ext cx="12748260" cy="482600"/>
          </a:xfrm>
          <a:prstGeom prst="rect">
            <a:avLst/>
          </a:prstGeom>
        </p:spPr>
        <p:txBody>
          <a:bodyPr vert="horz" wrap="square" lIns="0" tIns="12700" rIns="0" bIns="0" rtlCol="0">
            <a:spAutoFit/>
          </a:bodyPr>
          <a:lstStyle/>
          <a:p>
            <a:pPr marL="12700">
              <a:lnSpc>
                <a:spcPct val="100000"/>
              </a:lnSpc>
              <a:spcBef>
                <a:spcPts val="100"/>
              </a:spcBef>
              <a:tabLst>
                <a:tab pos="463550" algn="l"/>
              </a:tabLst>
            </a:pPr>
            <a:r>
              <a:rPr sz="3000" b="1" spc="-25" dirty="0">
                <a:latin typeface="Times New Roman"/>
                <a:cs typeface="Times New Roman"/>
              </a:rPr>
              <a:t>It</a:t>
            </a:r>
            <a:r>
              <a:rPr sz="3000" b="1" dirty="0">
                <a:latin typeface="Times New Roman"/>
                <a:cs typeface="Times New Roman"/>
              </a:rPr>
              <a:t>	</a:t>
            </a:r>
            <a:r>
              <a:rPr sz="3000" b="1" spc="85" dirty="0">
                <a:latin typeface="Times New Roman"/>
                <a:cs typeface="Times New Roman"/>
              </a:rPr>
              <a:t>Eliminates</a:t>
            </a:r>
            <a:r>
              <a:rPr sz="3000" b="1" spc="-30" dirty="0">
                <a:latin typeface="Times New Roman"/>
                <a:cs typeface="Times New Roman"/>
              </a:rPr>
              <a:t> </a:t>
            </a:r>
            <a:r>
              <a:rPr sz="3000" b="1" spc="225" dirty="0">
                <a:latin typeface="Times New Roman"/>
                <a:cs typeface="Times New Roman"/>
              </a:rPr>
              <a:t>Node-</a:t>
            </a:r>
            <a:r>
              <a:rPr sz="3000" b="1" spc="-315" dirty="0">
                <a:latin typeface="Times New Roman"/>
                <a:cs typeface="Times New Roman"/>
              </a:rPr>
              <a:t>1</a:t>
            </a:r>
            <a:r>
              <a:rPr sz="3000" b="1" spc="-25" dirty="0">
                <a:latin typeface="Times New Roman"/>
                <a:cs typeface="Times New Roman"/>
              </a:rPr>
              <a:t> </a:t>
            </a:r>
            <a:r>
              <a:rPr sz="3000" b="1" spc="-275" dirty="0">
                <a:latin typeface="Times New Roman"/>
                <a:cs typeface="Times New Roman"/>
              </a:rPr>
              <a:t>&amp;</a:t>
            </a:r>
            <a:r>
              <a:rPr sz="3000" b="1" spc="-25" dirty="0">
                <a:latin typeface="Times New Roman"/>
                <a:cs typeface="Times New Roman"/>
              </a:rPr>
              <a:t> </a:t>
            </a:r>
            <a:r>
              <a:rPr sz="3000" b="1" spc="225" dirty="0">
                <a:latin typeface="Times New Roman"/>
                <a:cs typeface="Times New Roman"/>
              </a:rPr>
              <a:t>Node-</a:t>
            </a:r>
            <a:r>
              <a:rPr sz="3000" b="1" spc="180" dirty="0">
                <a:latin typeface="Times New Roman"/>
                <a:cs typeface="Times New Roman"/>
              </a:rPr>
              <a:t>2</a:t>
            </a:r>
            <a:r>
              <a:rPr sz="3000" b="1" spc="-25" dirty="0">
                <a:latin typeface="Times New Roman"/>
                <a:cs typeface="Times New Roman"/>
              </a:rPr>
              <a:t> </a:t>
            </a:r>
            <a:r>
              <a:rPr sz="3000" b="1" spc="150" dirty="0">
                <a:latin typeface="Times New Roman"/>
                <a:cs typeface="Times New Roman"/>
              </a:rPr>
              <a:t>because</a:t>
            </a:r>
            <a:r>
              <a:rPr sz="3000" b="1" spc="-25" dirty="0">
                <a:latin typeface="Times New Roman"/>
                <a:cs typeface="Times New Roman"/>
              </a:rPr>
              <a:t> </a:t>
            </a:r>
            <a:r>
              <a:rPr sz="3000" b="1" spc="180" dirty="0">
                <a:latin typeface="Times New Roman"/>
                <a:cs typeface="Times New Roman"/>
              </a:rPr>
              <a:t>Node</a:t>
            </a:r>
            <a:r>
              <a:rPr sz="3000" b="1" spc="-25" dirty="0">
                <a:latin typeface="Times New Roman"/>
                <a:cs typeface="Times New Roman"/>
              </a:rPr>
              <a:t> </a:t>
            </a:r>
            <a:r>
              <a:rPr sz="3000" b="1" spc="130" dirty="0">
                <a:latin typeface="Times New Roman"/>
                <a:cs typeface="Times New Roman"/>
              </a:rPr>
              <a:t>contains</a:t>
            </a:r>
            <a:r>
              <a:rPr sz="3000" b="1" spc="-25" dirty="0">
                <a:latin typeface="Times New Roman"/>
                <a:cs typeface="Times New Roman"/>
              </a:rPr>
              <a:t> </a:t>
            </a:r>
            <a:r>
              <a:rPr sz="3000" b="1" spc="110" dirty="0">
                <a:latin typeface="Times New Roman"/>
                <a:cs typeface="Times New Roman"/>
              </a:rPr>
              <a:t>less</a:t>
            </a:r>
            <a:r>
              <a:rPr sz="3000" b="1" spc="-25" dirty="0">
                <a:latin typeface="Times New Roman"/>
                <a:cs typeface="Times New Roman"/>
              </a:rPr>
              <a:t> </a:t>
            </a:r>
            <a:r>
              <a:rPr sz="3000" b="1" spc="-80" dirty="0">
                <a:latin typeface="Times New Roman"/>
                <a:cs typeface="Times New Roman"/>
              </a:rPr>
              <a:t>CPU</a:t>
            </a:r>
            <a:r>
              <a:rPr sz="3000" b="1" spc="-25" dirty="0">
                <a:latin typeface="Times New Roman"/>
                <a:cs typeface="Times New Roman"/>
              </a:rPr>
              <a:t> </a:t>
            </a:r>
            <a:r>
              <a:rPr sz="3000" b="1" spc="70" dirty="0">
                <a:latin typeface="Times New Roman"/>
                <a:cs typeface="Times New Roman"/>
              </a:rPr>
              <a:t>that</a:t>
            </a:r>
            <a:r>
              <a:rPr sz="3000" b="1" spc="-25" dirty="0">
                <a:latin typeface="Times New Roman"/>
                <a:cs typeface="Times New Roman"/>
              </a:rPr>
              <a:t> </a:t>
            </a:r>
            <a:r>
              <a:rPr sz="3000" b="1" spc="165" dirty="0">
                <a:latin typeface="Times New Roman"/>
                <a:cs typeface="Times New Roman"/>
              </a:rPr>
              <a:t>pod</a:t>
            </a:r>
            <a:endParaRPr sz="3000">
              <a:latin typeface="Times New Roman"/>
              <a:cs typeface="Times New Roman"/>
            </a:endParaRPr>
          </a:p>
        </p:txBody>
      </p:sp>
      <p:pic>
        <p:nvPicPr>
          <p:cNvPr id="4" name="object 4"/>
          <p:cNvPicPr/>
          <p:nvPr/>
        </p:nvPicPr>
        <p:blipFill>
          <a:blip r:embed="rId2" cstate="print"/>
          <a:stretch>
            <a:fillRect/>
          </a:stretch>
        </p:blipFill>
        <p:spPr>
          <a:xfrm>
            <a:off x="6529192" y="1401164"/>
            <a:ext cx="3228974" cy="3238499"/>
          </a:xfrm>
          <a:prstGeom prst="rect">
            <a:avLst/>
          </a:prstGeom>
        </p:spPr>
      </p:pic>
      <p:sp>
        <p:nvSpPr>
          <p:cNvPr id="5" name="object 5"/>
          <p:cNvSpPr txBox="1">
            <a:spLocks noGrp="1"/>
          </p:cNvSpPr>
          <p:nvPr>
            <p:ph type="title"/>
          </p:nvPr>
        </p:nvSpPr>
        <p:spPr>
          <a:xfrm>
            <a:off x="7428116" y="2104048"/>
            <a:ext cx="1433195" cy="1579245"/>
          </a:xfrm>
          <a:prstGeom prst="rect">
            <a:avLst/>
          </a:prstGeom>
        </p:spPr>
        <p:txBody>
          <a:bodyPr vert="horz" wrap="square" lIns="0" tIns="12065" rIns="0" bIns="0" rtlCol="0">
            <a:spAutoFit/>
          </a:bodyPr>
          <a:lstStyle/>
          <a:p>
            <a:pPr marL="12700" marR="5080" indent="201295">
              <a:lnSpc>
                <a:spcPct val="117200"/>
              </a:lnSpc>
              <a:spcBef>
                <a:spcPts val="95"/>
              </a:spcBef>
            </a:pPr>
            <a:r>
              <a:rPr sz="4350" spc="260" dirty="0">
                <a:solidFill>
                  <a:srgbClr val="FF3131"/>
                </a:solidFill>
              </a:rPr>
              <a:t>pod </a:t>
            </a:r>
            <a:r>
              <a:rPr sz="4350" spc="215" dirty="0">
                <a:solidFill>
                  <a:srgbClr val="FF3131"/>
                </a:solidFill>
              </a:rPr>
              <a:t>6</a:t>
            </a:r>
            <a:r>
              <a:rPr sz="4350" spc="-40" dirty="0">
                <a:solidFill>
                  <a:srgbClr val="FF3131"/>
                </a:solidFill>
              </a:rPr>
              <a:t> </a:t>
            </a:r>
            <a:r>
              <a:rPr sz="4350" spc="245" dirty="0">
                <a:solidFill>
                  <a:srgbClr val="FF3131"/>
                </a:solidFill>
              </a:rPr>
              <a:t>cpu</a:t>
            </a:r>
            <a:endParaRPr sz="4350"/>
          </a:p>
        </p:txBody>
      </p:sp>
      <p:sp>
        <p:nvSpPr>
          <p:cNvPr id="6" name="object 6"/>
          <p:cNvSpPr txBox="1"/>
          <p:nvPr/>
        </p:nvSpPr>
        <p:spPr>
          <a:xfrm>
            <a:off x="1350183" y="5884898"/>
            <a:ext cx="2788285" cy="3801110"/>
          </a:xfrm>
          <a:prstGeom prst="rect">
            <a:avLst/>
          </a:prstGeom>
        </p:spPr>
        <p:txBody>
          <a:bodyPr vert="horz" wrap="square" lIns="0" tIns="76835" rIns="0" bIns="0" rtlCol="0">
            <a:spAutoFit/>
          </a:bodyPr>
          <a:lstStyle/>
          <a:p>
            <a:pPr>
              <a:lnSpc>
                <a:spcPct val="100000"/>
              </a:lnSpc>
              <a:spcBef>
                <a:spcPts val="605"/>
              </a:spcBef>
            </a:pPr>
            <a:endParaRPr sz="4500">
              <a:latin typeface="Times New Roman"/>
              <a:cs typeface="Times New Roman"/>
            </a:endParaRPr>
          </a:p>
          <a:p>
            <a:pPr marL="330835" marR="498475" indent="20955">
              <a:lnSpc>
                <a:spcPct val="116700"/>
              </a:lnSpc>
            </a:pPr>
            <a:r>
              <a:rPr sz="4500" b="1" spc="340" dirty="0">
                <a:latin typeface="Times New Roman"/>
                <a:cs typeface="Times New Roman"/>
              </a:rPr>
              <a:t>Node-</a:t>
            </a:r>
            <a:r>
              <a:rPr sz="4500" b="1" spc="-525" dirty="0">
                <a:latin typeface="Times New Roman"/>
                <a:cs typeface="Times New Roman"/>
              </a:rPr>
              <a:t>1 </a:t>
            </a:r>
            <a:r>
              <a:rPr sz="4500" b="1" spc="270" dirty="0">
                <a:latin typeface="Times New Roman"/>
                <a:cs typeface="Times New Roman"/>
              </a:rPr>
              <a:t>2</a:t>
            </a:r>
            <a:r>
              <a:rPr sz="4500" b="1" spc="-45" dirty="0">
                <a:latin typeface="Times New Roman"/>
                <a:cs typeface="Times New Roman"/>
              </a:rPr>
              <a:t> </a:t>
            </a:r>
            <a:r>
              <a:rPr sz="4500" b="1" spc="-155" dirty="0">
                <a:latin typeface="Times New Roman"/>
                <a:cs typeface="Times New Roman"/>
              </a:rPr>
              <a:t>CPU’s</a:t>
            </a:r>
            <a:endParaRPr sz="4500">
              <a:latin typeface="Times New Roman"/>
              <a:cs typeface="Times New Roman"/>
            </a:endParaRPr>
          </a:p>
        </p:txBody>
      </p:sp>
      <p:sp>
        <p:nvSpPr>
          <p:cNvPr id="7" name="object 7"/>
          <p:cNvSpPr txBox="1"/>
          <p:nvPr/>
        </p:nvSpPr>
        <p:spPr>
          <a:xfrm>
            <a:off x="5723845" y="5884898"/>
            <a:ext cx="2788285" cy="3801110"/>
          </a:xfrm>
          <a:prstGeom prst="rect">
            <a:avLst/>
          </a:prstGeom>
          <a:solidFill>
            <a:srgbClr val="D5EFF1"/>
          </a:solidFill>
        </p:spPr>
        <p:txBody>
          <a:bodyPr vert="horz" wrap="square" lIns="0" tIns="76835" rIns="0" bIns="0" rtlCol="0">
            <a:spAutoFit/>
          </a:bodyPr>
          <a:lstStyle/>
          <a:p>
            <a:pPr>
              <a:lnSpc>
                <a:spcPct val="100000"/>
              </a:lnSpc>
              <a:spcBef>
                <a:spcPts val="605"/>
              </a:spcBef>
            </a:pPr>
            <a:endParaRPr sz="4500">
              <a:latin typeface="Times New Roman"/>
              <a:cs typeface="Times New Roman"/>
            </a:endParaRPr>
          </a:p>
          <a:p>
            <a:pPr marL="450215" marR="359410" indent="-33655">
              <a:lnSpc>
                <a:spcPct val="116700"/>
              </a:lnSpc>
            </a:pPr>
            <a:r>
              <a:rPr sz="4500" b="1" spc="340" dirty="0">
                <a:latin typeface="Times New Roman"/>
                <a:cs typeface="Times New Roman"/>
              </a:rPr>
              <a:t>Node-</a:t>
            </a:r>
            <a:r>
              <a:rPr sz="4500" b="1" spc="220" dirty="0">
                <a:latin typeface="Times New Roman"/>
                <a:cs typeface="Times New Roman"/>
              </a:rPr>
              <a:t>2 </a:t>
            </a:r>
            <a:r>
              <a:rPr sz="4500" b="1" spc="180" dirty="0">
                <a:latin typeface="Times New Roman"/>
                <a:cs typeface="Times New Roman"/>
              </a:rPr>
              <a:t>4</a:t>
            </a:r>
            <a:r>
              <a:rPr sz="4500" b="1" spc="-45" dirty="0">
                <a:latin typeface="Times New Roman"/>
                <a:cs typeface="Times New Roman"/>
              </a:rPr>
              <a:t> </a:t>
            </a:r>
            <a:r>
              <a:rPr sz="4500" b="1" spc="-114" dirty="0">
                <a:latin typeface="Times New Roman"/>
                <a:cs typeface="Times New Roman"/>
              </a:rPr>
              <a:t>CPU’s</a:t>
            </a:r>
            <a:endParaRPr sz="4500">
              <a:latin typeface="Times New Roman"/>
              <a:cs typeface="Times New Roman"/>
            </a:endParaRPr>
          </a:p>
        </p:txBody>
      </p:sp>
      <p:sp>
        <p:nvSpPr>
          <p:cNvPr id="8" name="object 8"/>
          <p:cNvSpPr txBox="1"/>
          <p:nvPr/>
        </p:nvSpPr>
        <p:spPr>
          <a:xfrm>
            <a:off x="10097508" y="5884898"/>
            <a:ext cx="2788285" cy="3801110"/>
          </a:xfrm>
          <a:prstGeom prst="rect">
            <a:avLst/>
          </a:prstGeom>
          <a:solidFill>
            <a:srgbClr val="D5EFF1"/>
          </a:solidFill>
        </p:spPr>
        <p:txBody>
          <a:bodyPr vert="horz" wrap="square" lIns="0" tIns="76835" rIns="0" bIns="0" rtlCol="0">
            <a:spAutoFit/>
          </a:bodyPr>
          <a:lstStyle/>
          <a:p>
            <a:pPr>
              <a:lnSpc>
                <a:spcPct val="100000"/>
              </a:lnSpc>
              <a:spcBef>
                <a:spcPts val="605"/>
              </a:spcBef>
            </a:pPr>
            <a:endParaRPr sz="4500">
              <a:latin typeface="Times New Roman"/>
              <a:cs typeface="Times New Roman"/>
            </a:endParaRPr>
          </a:p>
          <a:p>
            <a:pPr marL="284480" marR="276860" indent="111760">
              <a:lnSpc>
                <a:spcPct val="116700"/>
              </a:lnSpc>
            </a:pPr>
            <a:r>
              <a:rPr sz="4500" b="1" spc="340" dirty="0">
                <a:latin typeface="Times New Roman"/>
                <a:cs typeface="Times New Roman"/>
              </a:rPr>
              <a:t>Node-</a:t>
            </a:r>
            <a:r>
              <a:rPr sz="4500" b="1" spc="150" dirty="0">
                <a:latin typeface="Times New Roman"/>
                <a:cs typeface="Times New Roman"/>
              </a:rPr>
              <a:t>3 </a:t>
            </a:r>
            <a:r>
              <a:rPr sz="4500" b="1" spc="65" dirty="0">
                <a:latin typeface="Times New Roman"/>
                <a:cs typeface="Times New Roman"/>
              </a:rPr>
              <a:t>10</a:t>
            </a:r>
            <a:r>
              <a:rPr sz="4500" b="1" spc="-50" dirty="0">
                <a:latin typeface="Times New Roman"/>
                <a:cs typeface="Times New Roman"/>
              </a:rPr>
              <a:t> </a:t>
            </a:r>
            <a:r>
              <a:rPr sz="4500" b="1" spc="-165" dirty="0">
                <a:latin typeface="Times New Roman"/>
                <a:cs typeface="Times New Roman"/>
              </a:rPr>
              <a:t>CPU’s</a:t>
            </a:r>
            <a:endParaRPr sz="4500">
              <a:latin typeface="Times New Roman"/>
              <a:cs typeface="Times New Roman"/>
            </a:endParaRPr>
          </a:p>
        </p:txBody>
      </p:sp>
      <p:sp>
        <p:nvSpPr>
          <p:cNvPr id="9" name="object 9"/>
          <p:cNvSpPr txBox="1"/>
          <p:nvPr/>
        </p:nvSpPr>
        <p:spPr>
          <a:xfrm>
            <a:off x="14471170" y="5884898"/>
            <a:ext cx="2788285" cy="3801110"/>
          </a:xfrm>
          <a:prstGeom prst="rect">
            <a:avLst/>
          </a:prstGeom>
          <a:solidFill>
            <a:srgbClr val="D5EFF1"/>
          </a:solidFill>
        </p:spPr>
        <p:txBody>
          <a:bodyPr vert="horz" wrap="square" lIns="0" tIns="76835" rIns="0" bIns="0" rtlCol="0">
            <a:spAutoFit/>
          </a:bodyPr>
          <a:lstStyle/>
          <a:p>
            <a:pPr>
              <a:lnSpc>
                <a:spcPct val="100000"/>
              </a:lnSpc>
              <a:spcBef>
                <a:spcPts val="605"/>
              </a:spcBef>
            </a:pPr>
            <a:endParaRPr sz="4500">
              <a:latin typeface="Times New Roman"/>
              <a:cs typeface="Times New Roman"/>
            </a:endParaRPr>
          </a:p>
          <a:p>
            <a:pPr marL="263525" marR="354965" indent="85725">
              <a:lnSpc>
                <a:spcPct val="116700"/>
              </a:lnSpc>
            </a:pPr>
            <a:r>
              <a:rPr sz="4500" b="1" spc="340" dirty="0">
                <a:latin typeface="Times New Roman"/>
                <a:cs typeface="Times New Roman"/>
              </a:rPr>
              <a:t>Node-</a:t>
            </a:r>
            <a:r>
              <a:rPr sz="4500" b="1" spc="130" dirty="0">
                <a:latin typeface="Times New Roman"/>
                <a:cs typeface="Times New Roman"/>
              </a:rPr>
              <a:t>4 </a:t>
            </a:r>
            <a:r>
              <a:rPr sz="4500" b="1" spc="-60" dirty="0">
                <a:latin typeface="Times New Roman"/>
                <a:cs typeface="Times New Roman"/>
              </a:rPr>
              <a:t>14</a:t>
            </a:r>
            <a:r>
              <a:rPr sz="4500" b="1" spc="-220" dirty="0">
                <a:latin typeface="Times New Roman"/>
                <a:cs typeface="Times New Roman"/>
              </a:rPr>
              <a:t> </a:t>
            </a:r>
            <a:r>
              <a:rPr sz="4500" b="1" spc="-170" dirty="0">
                <a:latin typeface="Times New Roman"/>
                <a:cs typeface="Times New Roman"/>
              </a:rPr>
              <a:t>CPU’s</a:t>
            </a:r>
            <a:endParaRPr sz="4500">
              <a:latin typeface="Times New Roman"/>
              <a:cs typeface="Times New Roman"/>
            </a:endParaRPr>
          </a:p>
        </p:txBody>
      </p:sp>
      <p:grpSp>
        <p:nvGrpSpPr>
          <p:cNvPr id="10" name="object 10"/>
          <p:cNvGrpSpPr/>
          <p:nvPr/>
        </p:nvGrpSpPr>
        <p:grpSpPr>
          <a:xfrm>
            <a:off x="1331105" y="5865882"/>
            <a:ext cx="2826385" cy="3921760"/>
            <a:chOff x="1331105" y="5865882"/>
            <a:chExt cx="2826385" cy="3921760"/>
          </a:xfrm>
        </p:grpSpPr>
        <p:sp>
          <p:nvSpPr>
            <p:cNvPr id="11" name="object 11"/>
            <p:cNvSpPr/>
            <p:nvPr/>
          </p:nvSpPr>
          <p:spPr>
            <a:xfrm>
              <a:off x="1350155" y="5884952"/>
              <a:ext cx="2788285" cy="3806825"/>
            </a:xfrm>
            <a:custGeom>
              <a:avLst/>
              <a:gdLst/>
              <a:ahLst/>
              <a:cxnLst/>
              <a:rect l="l" t="t" r="r" b="b"/>
              <a:pathLst>
                <a:path w="2788285" h="3806825">
                  <a:moveTo>
                    <a:pt x="0" y="0"/>
                  </a:moveTo>
                  <a:lnTo>
                    <a:pt x="2788128" y="3806197"/>
                  </a:lnTo>
                </a:path>
              </a:pathLst>
            </a:custGeom>
            <a:ln w="38100">
              <a:solidFill>
                <a:srgbClr val="000000"/>
              </a:solidFill>
            </a:ln>
          </p:spPr>
          <p:txBody>
            <a:bodyPr wrap="square" lIns="0" tIns="0" rIns="0" bIns="0" rtlCol="0"/>
            <a:lstStyle/>
            <a:p>
              <a:endParaRPr/>
            </a:p>
          </p:txBody>
        </p:sp>
        <p:sp>
          <p:nvSpPr>
            <p:cNvPr id="12" name="object 12"/>
            <p:cNvSpPr/>
            <p:nvPr/>
          </p:nvSpPr>
          <p:spPr>
            <a:xfrm>
              <a:off x="1366108" y="5884932"/>
              <a:ext cx="2772410" cy="3883660"/>
            </a:xfrm>
            <a:custGeom>
              <a:avLst/>
              <a:gdLst/>
              <a:ahLst/>
              <a:cxnLst/>
              <a:rect l="l" t="t" r="r" b="b"/>
              <a:pathLst>
                <a:path w="2772410" h="3883659">
                  <a:moveTo>
                    <a:pt x="2772135" y="0"/>
                  </a:moveTo>
                  <a:lnTo>
                    <a:pt x="0" y="3883635"/>
                  </a:lnTo>
                </a:path>
              </a:pathLst>
            </a:custGeom>
            <a:ln w="38099">
              <a:solidFill>
                <a:srgbClr val="000000"/>
              </a:solidFill>
            </a:ln>
          </p:spPr>
          <p:txBody>
            <a:bodyPr wrap="square" lIns="0" tIns="0" rIns="0" bIns="0" rtlCol="0"/>
            <a:lstStyle/>
            <a:p>
              <a:endParaRPr/>
            </a:p>
          </p:txBody>
        </p:sp>
      </p:grpSp>
      <p:grpSp>
        <p:nvGrpSpPr>
          <p:cNvPr id="13" name="object 13"/>
          <p:cNvGrpSpPr/>
          <p:nvPr/>
        </p:nvGrpSpPr>
        <p:grpSpPr>
          <a:xfrm>
            <a:off x="5705216" y="5827163"/>
            <a:ext cx="2850515" cy="3921760"/>
            <a:chOff x="5705216" y="5827163"/>
            <a:chExt cx="2850515" cy="3921760"/>
          </a:xfrm>
        </p:grpSpPr>
        <p:sp>
          <p:nvSpPr>
            <p:cNvPr id="14" name="object 14"/>
            <p:cNvSpPr/>
            <p:nvPr/>
          </p:nvSpPr>
          <p:spPr>
            <a:xfrm>
              <a:off x="5724266" y="5846213"/>
              <a:ext cx="2772410" cy="3883660"/>
            </a:xfrm>
            <a:custGeom>
              <a:avLst/>
              <a:gdLst/>
              <a:ahLst/>
              <a:cxnLst/>
              <a:rect l="l" t="t" r="r" b="b"/>
              <a:pathLst>
                <a:path w="2772409" h="3883659">
                  <a:moveTo>
                    <a:pt x="2772135" y="0"/>
                  </a:moveTo>
                  <a:lnTo>
                    <a:pt x="0" y="3883635"/>
                  </a:lnTo>
                </a:path>
              </a:pathLst>
            </a:custGeom>
            <a:ln w="38099">
              <a:solidFill>
                <a:srgbClr val="000000"/>
              </a:solidFill>
            </a:ln>
          </p:spPr>
          <p:txBody>
            <a:bodyPr wrap="square" lIns="0" tIns="0" rIns="0" bIns="0" rtlCol="0"/>
            <a:lstStyle/>
            <a:p>
              <a:endParaRPr/>
            </a:p>
          </p:txBody>
        </p:sp>
        <p:sp>
          <p:nvSpPr>
            <p:cNvPr id="15" name="object 15"/>
            <p:cNvSpPr/>
            <p:nvPr/>
          </p:nvSpPr>
          <p:spPr>
            <a:xfrm>
              <a:off x="5748497" y="5873695"/>
              <a:ext cx="2788285" cy="3806825"/>
            </a:xfrm>
            <a:custGeom>
              <a:avLst/>
              <a:gdLst/>
              <a:ahLst/>
              <a:cxnLst/>
              <a:rect l="l" t="t" r="r" b="b"/>
              <a:pathLst>
                <a:path w="2788284" h="3806825">
                  <a:moveTo>
                    <a:pt x="0" y="0"/>
                  </a:moveTo>
                  <a:lnTo>
                    <a:pt x="2788128" y="3806197"/>
                  </a:lnTo>
                </a:path>
              </a:pathLst>
            </a:custGeom>
            <a:ln w="38100">
              <a:solidFill>
                <a:srgbClr val="000000"/>
              </a:solidFill>
            </a:ln>
          </p:spPr>
          <p:txBody>
            <a:bodyPr wrap="square" lIns="0" tIns="0" rIns="0" bIns="0" rtlCol="0"/>
            <a:lstStyle/>
            <a:p>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330083"/>
            <a:ext cx="14381480" cy="2159000"/>
          </a:xfrm>
          <a:prstGeom prst="rect">
            <a:avLst/>
          </a:prstGeom>
        </p:spPr>
        <p:txBody>
          <a:bodyPr vert="horz" wrap="square" lIns="0" tIns="88900" rIns="0" bIns="0" rtlCol="0">
            <a:spAutoFit/>
          </a:bodyPr>
          <a:lstStyle/>
          <a:p>
            <a:pPr marL="12700">
              <a:lnSpc>
                <a:spcPct val="100000"/>
              </a:lnSpc>
              <a:spcBef>
                <a:spcPts val="700"/>
              </a:spcBef>
            </a:pPr>
            <a:r>
              <a:rPr sz="3000" b="1" spc="85" dirty="0">
                <a:latin typeface="Times New Roman"/>
                <a:cs typeface="Times New Roman"/>
              </a:rPr>
              <a:t>In</a:t>
            </a:r>
            <a:r>
              <a:rPr sz="3000" b="1" spc="-20"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65" dirty="0">
                <a:latin typeface="Times New Roman"/>
                <a:cs typeface="Times New Roman"/>
              </a:rPr>
              <a:t>rest</a:t>
            </a:r>
            <a:r>
              <a:rPr sz="3000" b="1" spc="-15" dirty="0">
                <a:latin typeface="Times New Roman"/>
                <a:cs typeface="Times New Roman"/>
              </a:rPr>
              <a:t> </a:t>
            </a:r>
            <a:r>
              <a:rPr sz="3000" b="1" spc="90" dirty="0">
                <a:latin typeface="Times New Roman"/>
                <a:cs typeface="Times New Roman"/>
              </a:rPr>
              <a:t>of</a:t>
            </a:r>
            <a:r>
              <a:rPr sz="3000" b="1" spc="-20" dirty="0">
                <a:latin typeface="Times New Roman"/>
                <a:cs typeface="Times New Roman"/>
              </a:rPr>
              <a:t> </a:t>
            </a:r>
            <a:r>
              <a:rPr sz="3000" b="1" spc="135" dirty="0">
                <a:latin typeface="Times New Roman"/>
                <a:cs typeface="Times New Roman"/>
              </a:rPr>
              <a:t>these</a:t>
            </a:r>
            <a:r>
              <a:rPr sz="3000" b="1" spc="-20" dirty="0">
                <a:latin typeface="Times New Roman"/>
                <a:cs typeface="Times New Roman"/>
              </a:rPr>
              <a:t> </a:t>
            </a:r>
            <a:r>
              <a:rPr sz="3000" b="1" spc="180" dirty="0">
                <a:latin typeface="Times New Roman"/>
                <a:cs typeface="Times New Roman"/>
              </a:rPr>
              <a:t>2</a:t>
            </a:r>
            <a:r>
              <a:rPr sz="3000" b="1" spc="-15" dirty="0">
                <a:latin typeface="Times New Roman"/>
                <a:cs typeface="Times New Roman"/>
              </a:rPr>
              <a:t> </a:t>
            </a:r>
            <a:r>
              <a:rPr sz="3000" b="1" spc="145" dirty="0">
                <a:latin typeface="Times New Roman"/>
                <a:cs typeface="Times New Roman"/>
              </a:rPr>
              <a:t>nodes,</a:t>
            </a:r>
            <a:r>
              <a:rPr sz="3000" b="1" spc="-20" dirty="0">
                <a:latin typeface="Times New Roman"/>
                <a:cs typeface="Times New Roman"/>
              </a:rPr>
              <a:t> </a:t>
            </a:r>
            <a:r>
              <a:rPr sz="3000" b="1" spc="135" dirty="0">
                <a:latin typeface="Times New Roman"/>
                <a:cs typeface="Times New Roman"/>
              </a:rPr>
              <a:t>scheduler</a:t>
            </a:r>
            <a:r>
              <a:rPr sz="3000" b="1" spc="-20" dirty="0">
                <a:latin typeface="Times New Roman"/>
                <a:cs typeface="Times New Roman"/>
              </a:rPr>
              <a:t> </a:t>
            </a:r>
            <a:r>
              <a:rPr sz="3000" b="1" spc="155" dirty="0">
                <a:latin typeface="Times New Roman"/>
                <a:cs typeface="Times New Roman"/>
              </a:rPr>
              <a:t>decides</a:t>
            </a:r>
            <a:r>
              <a:rPr sz="3000" b="1" spc="-15" dirty="0">
                <a:latin typeface="Times New Roman"/>
                <a:cs typeface="Times New Roman"/>
              </a:rPr>
              <a:t> </a:t>
            </a:r>
            <a:r>
              <a:rPr sz="3000" b="1" spc="145" dirty="0">
                <a:latin typeface="Times New Roman"/>
                <a:cs typeface="Times New Roman"/>
              </a:rPr>
              <a:t>based</a:t>
            </a:r>
            <a:r>
              <a:rPr sz="3000" b="1" spc="-20" dirty="0">
                <a:latin typeface="Times New Roman"/>
                <a:cs typeface="Times New Roman"/>
              </a:rPr>
              <a:t> </a:t>
            </a:r>
            <a:r>
              <a:rPr sz="3000" b="1" spc="210" dirty="0">
                <a:latin typeface="Times New Roman"/>
                <a:cs typeface="Times New Roman"/>
              </a:rPr>
              <a:t>on</a:t>
            </a:r>
            <a:r>
              <a:rPr sz="3000" b="1" spc="-20" dirty="0">
                <a:latin typeface="Times New Roman"/>
                <a:cs typeface="Times New Roman"/>
              </a:rPr>
              <a:t> </a:t>
            </a:r>
            <a:r>
              <a:rPr sz="3000" b="1" spc="-25" dirty="0">
                <a:latin typeface="Times New Roman"/>
                <a:cs typeface="Times New Roman"/>
              </a:rPr>
              <a:t>CPU</a:t>
            </a:r>
            <a:endParaRPr sz="3000">
              <a:latin typeface="Times New Roman"/>
              <a:cs typeface="Times New Roman"/>
            </a:endParaRPr>
          </a:p>
          <a:p>
            <a:pPr marL="12700" marR="5080">
              <a:lnSpc>
                <a:spcPts val="4200"/>
              </a:lnSpc>
              <a:spcBef>
                <a:spcPts val="240"/>
              </a:spcBef>
            </a:pPr>
            <a:r>
              <a:rPr sz="3000" b="1" spc="-100" dirty="0">
                <a:latin typeface="Times New Roman"/>
                <a:cs typeface="Times New Roman"/>
              </a:rPr>
              <a:t>Ex:</a:t>
            </a:r>
            <a:r>
              <a:rPr sz="3000" b="1" spc="-35" dirty="0">
                <a:latin typeface="Times New Roman"/>
                <a:cs typeface="Times New Roman"/>
              </a:rPr>
              <a:t> </a:t>
            </a:r>
            <a:r>
              <a:rPr sz="3000" b="1" dirty="0">
                <a:latin typeface="Times New Roman"/>
                <a:cs typeface="Times New Roman"/>
              </a:rPr>
              <a:t>If</a:t>
            </a:r>
            <a:r>
              <a:rPr sz="3000" b="1" spc="-35" dirty="0">
                <a:latin typeface="Times New Roman"/>
                <a:cs typeface="Times New Roman"/>
              </a:rPr>
              <a:t> </a:t>
            </a:r>
            <a:r>
              <a:rPr sz="3000" b="1" spc="135" dirty="0">
                <a:latin typeface="Times New Roman"/>
                <a:cs typeface="Times New Roman"/>
              </a:rPr>
              <a:t>scheduler</a:t>
            </a:r>
            <a:r>
              <a:rPr sz="3000" b="1" spc="-30" dirty="0">
                <a:latin typeface="Times New Roman"/>
                <a:cs typeface="Times New Roman"/>
              </a:rPr>
              <a:t> </a:t>
            </a:r>
            <a:r>
              <a:rPr sz="3000" b="1" spc="120" dirty="0">
                <a:latin typeface="Times New Roman"/>
                <a:cs typeface="Times New Roman"/>
              </a:rPr>
              <a:t>places</a:t>
            </a:r>
            <a:r>
              <a:rPr sz="3000" b="1" spc="-35" dirty="0">
                <a:latin typeface="Times New Roman"/>
                <a:cs typeface="Times New Roman"/>
              </a:rPr>
              <a:t> </a:t>
            </a:r>
            <a:r>
              <a:rPr sz="3000" b="1" spc="130" dirty="0">
                <a:latin typeface="Times New Roman"/>
                <a:cs typeface="Times New Roman"/>
              </a:rPr>
              <a:t>the</a:t>
            </a:r>
            <a:r>
              <a:rPr sz="3000" b="1" spc="-30" dirty="0">
                <a:latin typeface="Times New Roman"/>
                <a:cs typeface="Times New Roman"/>
              </a:rPr>
              <a:t> </a:t>
            </a:r>
            <a:r>
              <a:rPr sz="3000" b="1" spc="190" dirty="0">
                <a:latin typeface="Times New Roman"/>
                <a:cs typeface="Times New Roman"/>
              </a:rPr>
              <a:t>pod</a:t>
            </a:r>
            <a:r>
              <a:rPr sz="3000" b="1" spc="-35" dirty="0">
                <a:latin typeface="Times New Roman"/>
                <a:cs typeface="Times New Roman"/>
              </a:rPr>
              <a:t> </a:t>
            </a:r>
            <a:r>
              <a:rPr sz="3000" b="1" spc="210" dirty="0">
                <a:latin typeface="Times New Roman"/>
                <a:cs typeface="Times New Roman"/>
              </a:rPr>
              <a:t>on</a:t>
            </a:r>
            <a:r>
              <a:rPr sz="3000" b="1" spc="-30" dirty="0">
                <a:latin typeface="Times New Roman"/>
                <a:cs typeface="Times New Roman"/>
              </a:rPr>
              <a:t> </a:t>
            </a:r>
            <a:r>
              <a:rPr sz="3000" b="1" spc="225" dirty="0">
                <a:latin typeface="Times New Roman"/>
                <a:cs typeface="Times New Roman"/>
              </a:rPr>
              <a:t>Node-</a:t>
            </a:r>
            <a:r>
              <a:rPr sz="3000" b="1" spc="135" dirty="0">
                <a:latin typeface="Times New Roman"/>
                <a:cs typeface="Times New Roman"/>
              </a:rPr>
              <a:t>3</a:t>
            </a:r>
            <a:r>
              <a:rPr sz="3000" b="1" spc="-35" dirty="0">
                <a:latin typeface="Times New Roman"/>
                <a:cs typeface="Times New Roman"/>
              </a:rPr>
              <a:t> </a:t>
            </a:r>
            <a:r>
              <a:rPr sz="3000" b="1" spc="160" dirty="0">
                <a:latin typeface="Times New Roman"/>
                <a:cs typeface="Times New Roman"/>
              </a:rPr>
              <a:t>then</a:t>
            </a:r>
            <a:r>
              <a:rPr sz="3000" b="1" spc="-30" dirty="0">
                <a:latin typeface="Times New Roman"/>
                <a:cs typeface="Times New Roman"/>
              </a:rPr>
              <a:t> </a:t>
            </a:r>
            <a:r>
              <a:rPr sz="3000" b="1" spc="225" dirty="0">
                <a:latin typeface="Times New Roman"/>
                <a:cs typeface="Times New Roman"/>
              </a:rPr>
              <a:t>Node-</a:t>
            </a:r>
            <a:r>
              <a:rPr sz="3000" b="1" spc="135" dirty="0">
                <a:latin typeface="Times New Roman"/>
                <a:cs typeface="Times New Roman"/>
              </a:rPr>
              <a:t>3</a:t>
            </a:r>
            <a:r>
              <a:rPr sz="3000" b="1" spc="-35" dirty="0">
                <a:latin typeface="Times New Roman"/>
                <a:cs typeface="Times New Roman"/>
              </a:rPr>
              <a:t> </a:t>
            </a:r>
            <a:r>
              <a:rPr sz="3000" b="1" spc="130" dirty="0">
                <a:latin typeface="Times New Roman"/>
                <a:cs typeface="Times New Roman"/>
              </a:rPr>
              <a:t>contains</a:t>
            </a:r>
            <a:r>
              <a:rPr sz="3000" b="1" spc="-30" dirty="0">
                <a:latin typeface="Times New Roman"/>
                <a:cs typeface="Times New Roman"/>
              </a:rPr>
              <a:t> </a:t>
            </a:r>
            <a:r>
              <a:rPr sz="3000" b="1" spc="170" dirty="0">
                <a:latin typeface="Times New Roman"/>
                <a:cs typeface="Times New Roman"/>
              </a:rPr>
              <a:t>only</a:t>
            </a:r>
            <a:r>
              <a:rPr sz="3000" b="1" spc="-35" dirty="0">
                <a:latin typeface="Times New Roman"/>
                <a:cs typeface="Times New Roman"/>
              </a:rPr>
              <a:t> </a:t>
            </a:r>
            <a:r>
              <a:rPr sz="3000" b="1" spc="180" dirty="0">
                <a:latin typeface="Times New Roman"/>
                <a:cs typeface="Times New Roman"/>
              </a:rPr>
              <a:t>2</a:t>
            </a:r>
            <a:r>
              <a:rPr sz="3000" b="1" spc="-30" dirty="0">
                <a:latin typeface="Times New Roman"/>
                <a:cs typeface="Times New Roman"/>
              </a:rPr>
              <a:t> </a:t>
            </a:r>
            <a:r>
              <a:rPr sz="3000" b="1" spc="-95" dirty="0">
                <a:latin typeface="Times New Roman"/>
                <a:cs typeface="Times New Roman"/>
              </a:rPr>
              <a:t>CPU’s</a:t>
            </a:r>
            <a:r>
              <a:rPr sz="3000" b="1" spc="-35" dirty="0">
                <a:latin typeface="Times New Roman"/>
                <a:cs typeface="Times New Roman"/>
              </a:rPr>
              <a:t> </a:t>
            </a:r>
            <a:r>
              <a:rPr sz="3000" b="1" spc="150" dirty="0">
                <a:latin typeface="Times New Roman"/>
                <a:cs typeface="Times New Roman"/>
              </a:rPr>
              <a:t>only </a:t>
            </a:r>
            <a:r>
              <a:rPr sz="3000" b="1" dirty="0">
                <a:latin typeface="Times New Roman"/>
                <a:cs typeface="Times New Roman"/>
              </a:rPr>
              <a:t>If</a:t>
            </a:r>
            <a:r>
              <a:rPr sz="3000" b="1" spc="-25" dirty="0">
                <a:latin typeface="Times New Roman"/>
                <a:cs typeface="Times New Roman"/>
              </a:rPr>
              <a:t> </a:t>
            </a:r>
            <a:r>
              <a:rPr sz="3000" b="1" spc="135" dirty="0">
                <a:latin typeface="Times New Roman"/>
                <a:cs typeface="Times New Roman"/>
              </a:rPr>
              <a:t>scheduler</a:t>
            </a:r>
            <a:r>
              <a:rPr sz="3000" b="1" spc="-30" dirty="0">
                <a:latin typeface="Times New Roman"/>
                <a:cs typeface="Times New Roman"/>
              </a:rPr>
              <a:t> </a:t>
            </a:r>
            <a:r>
              <a:rPr sz="3000" b="1" spc="120" dirty="0">
                <a:latin typeface="Times New Roman"/>
                <a:cs typeface="Times New Roman"/>
              </a:rPr>
              <a:t>places</a:t>
            </a:r>
            <a:r>
              <a:rPr sz="3000" b="1" spc="-25" dirty="0">
                <a:latin typeface="Times New Roman"/>
                <a:cs typeface="Times New Roman"/>
              </a:rPr>
              <a:t> </a:t>
            </a:r>
            <a:r>
              <a:rPr sz="3000" b="1" spc="130" dirty="0">
                <a:latin typeface="Times New Roman"/>
                <a:cs typeface="Times New Roman"/>
              </a:rPr>
              <a:t>the</a:t>
            </a:r>
            <a:r>
              <a:rPr sz="3000" b="1" spc="-25" dirty="0">
                <a:latin typeface="Times New Roman"/>
                <a:cs typeface="Times New Roman"/>
              </a:rPr>
              <a:t> </a:t>
            </a:r>
            <a:r>
              <a:rPr sz="3000" b="1" spc="190" dirty="0">
                <a:latin typeface="Times New Roman"/>
                <a:cs typeface="Times New Roman"/>
              </a:rPr>
              <a:t>pod</a:t>
            </a:r>
            <a:r>
              <a:rPr sz="3000" b="1" spc="-25" dirty="0">
                <a:latin typeface="Times New Roman"/>
                <a:cs typeface="Times New Roman"/>
              </a:rPr>
              <a:t> </a:t>
            </a:r>
            <a:r>
              <a:rPr sz="3000" b="1" spc="210" dirty="0">
                <a:latin typeface="Times New Roman"/>
                <a:cs typeface="Times New Roman"/>
              </a:rPr>
              <a:t>on</a:t>
            </a:r>
            <a:r>
              <a:rPr sz="3000" b="1" spc="-25" dirty="0">
                <a:latin typeface="Times New Roman"/>
                <a:cs typeface="Times New Roman"/>
              </a:rPr>
              <a:t> </a:t>
            </a:r>
            <a:r>
              <a:rPr sz="3000" b="1" spc="225" dirty="0">
                <a:latin typeface="Times New Roman"/>
                <a:cs typeface="Times New Roman"/>
              </a:rPr>
              <a:t>Node-</a:t>
            </a:r>
            <a:r>
              <a:rPr sz="3000" b="1" spc="120" dirty="0">
                <a:latin typeface="Times New Roman"/>
                <a:cs typeface="Times New Roman"/>
              </a:rPr>
              <a:t>4</a:t>
            </a:r>
            <a:r>
              <a:rPr sz="3000" b="1" spc="-25" dirty="0">
                <a:latin typeface="Times New Roman"/>
                <a:cs typeface="Times New Roman"/>
              </a:rPr>
              <a:t> </a:t>
            </a:r>
            <a:r>
              <a:rPr sz="3000" b="1" spc="160" dirty="0">
                <a:latin typeface="Times New Roman"/>
                <a:cs typeface="Times New Roman"/>
              </a:rPr>
              <a:t>then</a:t>
            </a:r>
            <a:r>
              <a:rPr sz="3000" b="1" spc="-25" dirty="0">
                <a:latin typeface="Times New Roman"/>
                <a:cs typeface="Times New Roman"/>
              </a:rPr>
              <a:t> </a:t>
            </a:r>
            <a:r>
              <a:rPr sz="3000" b="1" spc="225" dirty="0">
                <a:latin typeface="Times New Roman"/>
                <a:cs typeface="Times New Roman"/>
              </a:rPr>
              <a:t>Node-</a:t>
            </a:r>
            <a:r>
              <a:rPr sz="3000" b="1" spc="120" dirty="0">
                <a:latin typeface="Times New Roman"/>
                <a:cs typeface="Times New Roman"/>
              </a:rPr>
              <a:t>4</a:t>
            </a:r>
            <a:r>
              <a:rPr sz="3000" b="1" spc="-25" dirty="0">
                <a:latin typeface="Times New Roman"/>
                <a:cs typeface="Times New Roman"/>
              </a:rPr>
              <a:t> </a:t>
            </a:r>
            <a:r>
              <a:rPr sz="3000" b="1" spc="130" dirty="0">
                <a:latin typeface="Times New Roman"/>
                <a:cs typeface="Times New Roman"/>
              </a:rPr>
              <a:t>contains</a:t>
            </a:r>
            <a:r>
              <a:rPr sz="3000" b="1" spc="-25" dirty="0">
                <a:latin typeface="Times New Roman"/>
                <a:cs typeface="Times New Roman"/>
              </a:rPr>
              <a:t> </a:t>
            </a:r>
            <a:r>
              <a:rPr sz="3000" b="1" spc="170" dirty="0">
                <a:latin typeface="Times New Roman"/>
                <a:cs typeface="Times New Roman"/>
              </a:rPr>
              <a:t>only</a:t>
            </a:r>
            <a:r>
              <a:rPr sz="3000" b="1" spc="-25" dirty="0">
                <a:latin typeface="Times New Roman"/>
                <a:cs typeface="Times New Roman"/>
              </a:rPr>
              <a:t> </a:t>
            </a:r>
            <a:r>
              <a:rPr sz="3000" b="1" spc="120" dirty="0">
                <a:latin typeface="Times New Roman"/>
                <a:cs typeface="Times New Roman"/>
              </a:rPr>
              <a:t>4</a:t>
            </a:r>
            <a:r>
              <a:rPr sz="3000" b="1" spc="-25" dirty="0">
                <a:latin typeface="Times New Roman"/>
                <a:cs typeface="Times New Roman"/>
              </a:rPr>
              <a:t> </a:t>
            </a:r>
            <a:r>
              <a:rPr sz="3000" b="1" spc="-10" dirty="0">
                <a:latin typeface="Times New Roman"/>
                <a:cs typeface="Times New Roman"/>
              </a:rPr>
              <a:t>CPU’s.</a:t>
            </a:r>
            <a:endParaRPr sz="3000">
              <a:latin typeface="Times New Roman"/>
              <a:cs typeface="Times New Roman"/>
            </a:endParaRPr>
          </a:p>
          <a:p>
            <a:pPr marL="12700">
              <a:lnSpc>
                <a:spcPct val="100000"/>
              </a:lnSpc>
              <a:spcBef>
                <a:spcPts val="360"/>
              </a:spcBef>
            </a:pPr>
            <a:r>
              <a:rPr sz="3000" b="1" spc="95" dirty="0">
                <a:latin typeface="Times New Roman"/>
                <a:cs typeface="Times New Roman"/>
              </a:rPr>
              <a:t>So</a:t>
            </a:r>
            <a:r>
              <a:rPr sz="3000" b="1" spc="-15" dirty="0">
                <a:latin typeface="Times New Roman"/>
                <a:cs typeface="Times New Roman"/>
              </a:rPr>
              <a:t> </a:t>
            </a:r>
            <a:r>
              <a:rPr sz="3000" b="1" spc="135" dirty="0">
                <a:latin typeface="Times New Roman"/>
                <a:cs typeface="Times New Roman"/>
              </a:rPr>
              <a:t>scheduler</a:t>
            </a:r>
            <a:r>
              <a:rPr sz="3000" b="1" spc="-15" dirty="0">
                <a:latin typeface="Times New Roman"/>
                <a:cs typeface="Times New Roman"/>
              </a:rPr>
              <a:t> </a:t>
            </a:r>
            <a:r>
              <a:rPr sz="3000" b="1" spc="110" dirty="0">
                <a:latin typeface="Times New Roman"/>
                <a:cs typeface="Times New Roman"/>
              </a:rPr>
              <a:t>selects</a:t>
            </a:r>
            <a:r>
              <a:rPr sz="3000" b="1" spc="-10" dirty="0">
                <a:latin typeface="Times New Roman"/>
                <a:cs typeface="Times New Roman"/>
              </a:rPr>
              <a:t> </a:t>
            </a:r>
            <a:r>
              <a:rPr sz="3000" b="1" spc="225" dirty="0">
                <a:latin typeface="Times New Roman"/>
                <a:cs typeface="Times New Roman"/>
              </a:rPr>
              <a:t>Node-</a:t>
            </a:r>
            <a:r>
              <a:rPr sz="3000" b="1" spc="120" dirty="0">
                <a:latin typeface="Times New Roman"/>
                <a:cs typeface="Times New Roman"/>
              </a:rPr>
              <a:t>4</a:t>
            </a:r>
            <a:r>
              <a:rPr sz="3000" b="1" spc="-15" dirty="0">
                <a:latin typeface="Times New Roman"/>
                <a:cs typeface="Times New Roman"/>
              </a:rPr>
              <a:t> </a:t>
            </a:r>
            <a:r>
              <a:rPr sz="3000" b="1" spc="95" dirty="0">
                <a:latin typeface="Times New Roman"/>
                <a:cs typeface="Times New Roman"/>
              </a:rPr>
              <a:t>to</a:t>
            </a:r>
            <a:r>
              <a:rPr sz="3000" b="1" spc="-10" dirty="0">
                <a:latin typeface="Times New Roman"/>
                <a:cs typeface="Times New Roman"/>
              </a:rPr>
              <a:t> </a:t>
            </a:r>
            <a:r>
              <a:rPr sz="3000" b="1" spc="120" dirty="0">
                <a:latin typeface="Times New Roman"/>
                <a:cs typeface="Times New Roman"/>
              </a:rPr>
              <a:t>place</a:t>
            </a:r>
            <a:r>
              <a:rPr sz="3000" b="1" spc="-15" dirty="0">
                <a:latin typeface="Times New Roman"/>
                <a:cs typeface="Times New Roman"/>
              </a:rPr>
              <a:t> </a:t>
            </a:r>
            <a:r>
              <a:rPr sz="3000" b="1" dirty="0">
                <a:latin typeface="Times New Roman"/>
                <a:cs typeface="Times New Roman"/>
              </a:rPr>
              <a:t>a</a:t>
            </a:r>
            <a:r>
              <a:rPr sz="3000" b="1" spc="-10" dirty="0">
                <a:latin typeface="Times New Roman"/>
                <a:cs typeface="Times New Roman"/>
              </a:rPr>
              <a:t> </a:t>
            </a:r>
            <a:r>
              <a:rPr sz="3000" b="1" spc="114" dirty="0">
                <a:latin typeface="Times New Roman"/>
                <a:cs typeface="Times New Roman"/>
              </a:rPr>
              <a:t>pod.</a:t>
            </a:r>
            <a:endParaRPr sz="3000">
              <a:latin typeface="Times New Roman"/>
              <a:cs typeface="Times New Roman"/>
            </a:endParaRPr>
          </a:p>
        </p:txBody>
      </p:sp>
      <p:pic>
        <p:nvPicPr>
          <p:cNvPr id="3" name="object 3"/>
          <p:cNvPicPr/>
          <p:nvPr/>
        </p:nvPicPr>
        <p:blipFill>
          <a:blip r:embed="rId2" cstate="print"/>
          <a:stretch>
            <a:fillRect/>
          </a:stretch>
        </p:blipFill>
        <p:spPr>
          <a:xfrm>
            <a:off x="7541308" y="3546830"/>
            <a:ext cx="3154190" cy="3163494"/>
          </a:xfrm>
          <a:prstGeom prst="rect">
            <a:avLst/>
          </a:prstGeom>
        </p:spPr>
      </p:pic>
      <p:sp>
        <p:nvSpPr>
          <p:cNvPr id="4" name="object 4"/>
          <p:cNvSpPr txBox="1"/>
          <p:nvPr/>
        </p:nvSpPr>
        <p:spPr>
          <a:xfrm>
            <a:off x="8419118" y="4233141"/>
            <a:ext cx="1400175" cy="1543685"/>
          </a:xfrm>
          <a:prstGeom prst="rect">
            <a:avLst/>
          </a:prstGeom>
        </p:spPr>
        <p:txBody>
          <a:bodyPr vert="horz" wrap="square" lIns="0" tIns="12065" rIns="0" bIns="0" rtlCol="0">
            <a:spAutoFit/>
          </a:bodyPr>
          <a:lstStyle/>
          <a:p>
            <a:pPr marL="12700" marR="5080" indent="196215">
              <a:lnSpc>
                <a:spcPct val="117200"/>
              </a:lnSpc>
              <a:spcBef>
                <a:spcPts val="95"/>
              </a:spcBef>
            </a:pPr>
            <a:r>
              <a:rPr sz="4250" b="1" spc="254" dirty="0">
                <a:solidFill>
                  <a:srgbClr val="FF3131"/>
                </a:solidFill>
                <a:latin typeface="Times New Roman"/>
                <a:cs typeface="Times New Roman"/>
              </a:rPr>
              <a:t>pod </a:t>
            </a:r>
            <a:r>
              <a:rPr sz="4250" b="1" spc="210" dirty="0">
                <a:solidFill>
                  <a:srgbClr val="FF3131"/>
                </a:solidFill>
                <a:latin typeface="Times New Roman"/>
                <a:cs typeface="Times New Roman"/>
              </a:rPr>
              <a:t>6</a:t>
            </a:r>
            <a:r>
              <a:rPr sz="4250" b="1" spc="-40" dirty="0">
                <a:solidFill>
                  <a:srgbClr val="FF3131"/>
                </a:solidFill>
                <a:latin typeface="Times New Roman"/>
                <a:cs typeface="Times New Roman"/>
              </a:rPr>
              <a:t> </a:t>
            </a:r>
            <a:r>
              <a:rPr sz="4250" b="1" spc="235" dirty="0">
                <a:solidFill>
                  <a:srgbClr val="FF3131"/>
                </a:solidFill>
                <a:latin typeface="Times New Roman"/>
                <a:cs typeface="Times New Roman"/>
              </a:rPr>
              <a:t>cpu</a:t>
            </a:r>
            <a:endParaRPr sz="4250">
              <a:latin typeface="Times New Roman"/>
              <a:cs typeface="Times New Roman"/>
            </a:endParaRPr>
          </a:p>
        </p:txBody>
      </p:sp>
      <p:sp>
        <p:nvSpPr>
          <p:cNvPr id="5" name="object 5"/>
          <p:cNvSpPr/>
          <p:nvPr/>
        </p:nvSpPr>
        <p:spPr>
          <a:xfrm>
            <a:off x="13668229" y="3284478"/>
            <a:ext cx="2724150" cy="3713479"/>
          </a:xfrm>
          <a:custGeom>
            <a:avLst/>
            <a:gdLst/>
            <a:ahLst/>
            <a:cxnLst/>
            <a:rect l="l" t="t" r="r" b="b"/>
            <a:pathLst>
              <a:path w="2724150" h="3713479">
                <a:moveTo>
                  <a:pt x="2723553" y="3712969"/>
                </a:moveTo>
                <a:lnTo>
                  <a:pt x="0" y="3712969"/>
                </a:lnTo>
                <a:lnTo>
                  <a:pt x="0" y="0"/>
                </a:lnTo>
                <a:lnTo>
                  <a:pt x="2723553" y="0"/>
                </a:lnTo>
                <a:lnTo>
                  <a:pt x="2723553" y="3712969"/>
                </a:lnTo>
                <a:close/>
              </a:path>
            </a:pathLst>
          </a:custGeom>
          <a:solidFill>
            <a:srgbClr val="C1FF72"/>
          </a:solidFill>
        </p:spPr>
        <p:txBody>
          <a:bodyPr wrap="square" lIns="0" tIns="0" rIns="0" bIns="0" rtlCol="0"/>
          <a:lstStyle/>
          <a:p>
            <a:endParaRPr/>
          </a:p>
        </p:txBody>
      </p:sp>
      <p:sp>
        <p:nvSpPr>
          <p:cNvPr id="6" name="object 6"/>
          <p:cNvSpPr txBox="1"/>
          <p:nvPr/>
        </p:nvSpPr>
        <p:spPr>
          <a:xfrm>
            <a:off x="1524451" y="3284478"/>
            <a:ext cx="2724150" cy="3713479"/>
          </a:xfrm>
          <a:prstGeom prst="rect">
            <a:avLst/>
          </a:prstGeom>
          <a:solidFill>
            <a:srgbClr val="D5EFF1"/>
          </a:solidFill>
        </p:spPr>
        <p:txBody>
          <a:bodyPr vert="horz" wrap="square" lIns="0" tIns="296545" rIns="0" bIns="0" rtlCol="0">
            <a:spAutoFit/>
          </a:bodyPr>
          <a:lstStyle/>
          <a:p>
            <a:pPr>
              <a:lnSpc>
                <a:spcPct val="100000"/>
              </a:lnSpc>
              <a:spcBef>
                <a:spcPts val="2335"/>
              </a:spcBef>
            </a:pPr>
            <a:endParaRPr sz="4400">
              <a:latin typeface="Times New Roman"/>
              <a:cs typeface="Times New Roman"/>
            </a:endParaRPr>
          </a:p>
          <a:p>
            <a:pPr marL="278130" marR="270510" indent="109220">
              <a:lnSpc>
                <a:spcPct val="116599"/>
              </a:lnSpc>
            </a:pPr>
            <a:r>
              <a:rPr sz="4400" b="1" spc="325" dirty="0">
                <a:latin typeface="Times New Roman"/>
                <a:cs typeface="Times New Roman"/>
              </a:rPr>
              <a:t>Node-</a:t>
            </a:r>
            <a:r>
              <a:rPr sz="4400" b="1" spc="145" dirty="0">
                <a:latin typeface="Times New Roman"/>
                <a:cs typeface="Times New Roman"/>
              </a:rPr>
              <a:t>3 </a:t>
            </a:r>
            <a:r>
              <a:rPr sz="4400" b="1" spc="65" dirty="0">
                <a:latin typeface="Times New Roman"/>
                <a:cs typeface="Times New Roman"/>
              </a:rPr>
              <a:t>10</a:t>
            </a:r>
            <a:r>
              <a:rPr sz="4400" b="1" spc="-45" dirty="0">
                <a:latin typeface="Times New Roman"/>
                <a:cs typeface="Times New Roman"/>
              </a:rPr>
              <a:t> </a:t>
            </a:r>
            <a:r>
              <a:rPr sz="4400" b="1" spc="-160" dirty="0">
                <a:latin typeface="Times New Roman"/>
                <a:cs typeface="Times New Roman"/>
              </a:rPr>
              <a:t>CPU’s</a:t>
            </a:r>
            <a:endParaRPr sz="4400">
              <a:latin typeface="Times New Roman"/>
              <a:cs typeface="Times New Roman"/>
            </a:endParaRPr>
          </a:p>
        </p:txBody>
      </p:sp>
      <p:sp>
        <p:nvSpPr>
          <p:cNvPr id="7" name="object 7"/>
          <p:cNvSpPr txBox="1"/>
          <p:nvPr/>
        </p:nvSpPr>
        <p:spPr>
          <a:xfrm>
            <a:off x="14064299" y="4339927"/>
            <a:ext cx="1969770" cy="695325"/>
          </a:xfrm>
          <a:prstGeom prst="rect">
            <a:avLst/>
          </a:prstGeom>
        </p:spPr>
        <p:txBody>
          <a:bodyPr vert="horz" wrap="square" lIns="0" tIns="12065" rIns="0" bIns="0" rtlCol="0">
            <a:spAutoFit/>
          </a:bodyPr>
          <a:lstStyle/>
          <a:p>
            <a:pPr marL="12700">
              <a:lnSpc>
                <a:spcPct val="100000"/>
              </a:lnSpc>
              <a:spcBef>
                <a:spcPts val="95"/>
              </a:spcBef>
            </a:pPr>
            <a:r>
              <a:rPr sz="4400" b="1" spc="325" dirty="0">
                <a:latin typeface="Times New Roman"/>
                <a:cs typeface="Times New Roman"/>
              </a:rPr>
              <a:t>Node-</a:t>
            </a:r>
            <a:r>
              <a:rPr sz="4400" b="1" spc="100" dirty="0">
                <a:latin typeface="Times New Roman"/>
                <a:cs typeface="Times New Roman"/>
              </a:rPr>
              <a:t>4</a:t>
            </a:r>
            <a:endParaRPr sz="4400">
              <a:latin typeface="Times New Roman"/>
              <a:cs typeface="Times New Roman"/>
            </a:endParaRPr>
          </a:p>
        </p:txBody>
      </p:sp>
      <p:sp>
        <p:nvSpPr>
          <p:cNvPr id="8" name="object 8"/>
          <p:cNvSpPr txBox="1"/>
          <p:nvPr/>
        </p:nvSpPr>
        <p:spPr>
          <a:xfrm>
            <a:off x="13979977" y="5121497"/>
            <a:ext cx="2138045" cy="695325"/>
          </a:xfrm>
          <a:prstGeom prst="rect">
            <a:avLst/>
          </a:prstGeom>
        </p:spPr>
        <p:txBody>
          <a:bodyPr vert="horz" wrap="square" lIns="0" tIns="12065" rIns="0" bIns="0" rtlCol="0">
            <a:spAutoFit/>
          </a:bodyPr>
          <a:lstStyle/>
          <a:p>
            <a:pPr marL="12700">
              <a:lnSpc>
                <a:spcPct val="100000"/>
              </a:lnSpc>
              <a:spcBef>
                <a:spcPts val="95"/>
              </a:spcBef>
            </a:pPr>
            <a:r>
              <a:rPr sz="4400" b="1" spc="-85" dirty="0">
                <a:latin typeface="Times New Roman"/>
                <a:cs typeface="Times New Roman"/>
              </a:rPr>
              <a:t>14</a:t>
            </a:r>
            <a:r>
              <a:rPr sz="4400" b="1" spc="-185" dirty="0">
                <a:latin typeface="Times New Roman"/>
                <a:cs typeface="Times New Roman"/>
              </a:rPr>
              <a:t> </a:t>
            </a:r>
            <a:r>
              <a:rPr sz="4400" b="1" spc="-140" dirty="0">
                <a:latin typeface="Times New Roman"/>
                <a:cs typeface="Times New Roman"/>
              </a:rPr>
              <a:t>CPU’s</a:t>
            </a:r>
            <a:endParaRPr sz="4400">
              <a:latin typeface="Times New Roman"/>
              <a:cs typeface="Times New Roman"/>
            </a:endParaRPr>
          </a:p>
        </p:txBody>
      </p:sp>
      <p:sp>
        <p:nvSpPr>
          <p:cNvPr id="9" name="object 9"/>
          <p:cNvSpPr/>
          <p:nvPr/>
        </p:nvSpPr>
        <p:spPr>
          <a:xfrm>
            <a:off x="10679064" y="5055229"/>
            <a:ext cx="629920" cy="111760"/>
          </a:xfrm>
          <a:custGeom>
            <a:avLst/>
            <a:gdLst/>
            <a:ahLst/>
            <a:cxnLst/>
            <a:rect l="l" t="t" r="r" b="b"/>
            <a:pathLst>
              <a:path w="629920" h="111760">
                <a:moveTo>
                  <a:pt x="628613" y="111577"/>
                </a:moveTo>
                <a:lnTo>
                  <a:pt x="0" y="104768"/>
                </a:lnTo>
                <a:lnTo>
                  <a:pt x="1134" y="0"/>
                </a:lnTo>
                <a:lnTo>
                  <a:pt x="629747" y="6808"/>
                </a:lnTo>
                <a:lnTo>
                  <a:pt x="628613" y="111577"/>
                </a:lnTo>
                <a:close/>
              </a:path>
            </a:pathLst>
          </a:custGeom>
          <a:solidFill>
            <a:srgbClr val="000000"/>
          </a:solidFill>
        </p:spPr>
        <p:txBody>
          <a:bodyPr wrap="square" lIns="0" tIns="0" rIns="0" bIns="0" rtlCol="0"/>
          <a:lstStyle/>
          <a:p>
            <a:endParaRPr/>
          </a:p>
        </p:txBody>
      </p:sp>
      <p:sp>
        <p:nvSpPr>
          <p:cNvPr id="10" name="object 10"/>
          <p:cNvSpPr/>
          <p:nvPr/>
        </p:nvSpPr>
        <p:spPr>
          <a:xfrm>
            <a:off x="11412446" y="5063173"/>
            <a:ext cx="629920" cy="111760"/>
          </a:xfrm>
          <a:custGeom>
            <a:avLst/>
            <a:gdLst/>
            <a:ahLst/>
            <a:cxnLst/>
            <a:rect l="l" t="t" r="r" b="b"/>
            <a:pathLst>
              <a:path w="629920" h="111760">
                <a:moveTo>
                  <a:pt x="628613" y="111577"/>
                </a:moveTo>
                <a:lnTo>
                  <a:pt x="0" y="104768"/>
                </a:lnTo>
                <a:lnTo>
                  <a:pt x="1134" y="0"/>
                </a:lnTo>
                <a:lnTo>
                  <a:pt x="629747" y="6808"/>
                </a:lnTo>
                <a:lnTo>
                  <a:pt x="628613" y="111577"/>
                </a:lnTo>
                <a:close/>
              </a:path>
            </a:pathLst>
          </a:custGeom>
          <a:solidFill>
            <a:srgbClr val="000000"/>
          </a:solidFill>
        </p:spPr>
        <p:txBody>
          <a:bodyPr wrap="square" lIns="0" tIns="0" rIns="0" bIns="0" rtlCol="0"/>
          <a:lstStyle/>
          <a:p>
            <a:endParaRPr/>
          </a:p>
        </p:txBody>
      </p:sp>
      <p:sp>
        <p:nvSpPr>
          <p:cNvPr id="11" name="object 11"/>
          <p:cNvSpPr/>
          <p:nvPr/>
        </p:nvSpPr>
        <p:spPr>
          <a:xfrm>
            <a:off x="12145827" y="5071116"/>
            <a:ext cx="629920" cy="111760"/>
          </a:xfrm>
          <a:custGeom>
            <a:avLst/>
            <a:gdLst/>
            <a:ahLst/>
            <a:cxnLst/>
            <a:rect l="l" t="t" r="r" b="b"/>
            <a:pathLst>
              <a:path w="629920" h="111760">
                <a:moveTo>
                  <a:pt x="628613" y="111577"/>
                </a:moveTo>
                <a:lnTo>
                  <a:pt x="0" y="104768"/>
                </a:lnTo>
                <a:lnTo>
                  <a:pt x="1134" y="0"/>
                </a:lnTo>
                <a:lnTo>
                  <a:pt x="629747" y="6808"/>
                </a:lnTo>
                <a:lnTo>
                  <a:pt x="628613" y="111577"/>
                </a:lnTo>
                <a:close/>
              </a:path>
            </a:pathLst>
          </a:custGeom>
          <a:solidFill>
            <a:srgbClr val="000000"/>
          </a:solidFill>
        </p:spPr>
        <p:txBody>
          <a:bodyPr wrap="square" lIns="0" tIns="0" rIns="0" bIns="0" rtlCol="0"/>
          <a:lstStyle/>
          <a:p>
            <a:endParaRPr/>
          </a:p>
        </p:txBody>
      </p:sp>
      <p:sp>
        <p:nvSpPr>
          <p:cNvPr id="12" name="object 12"/>
          <p:cNvSpPr/>
          <p:nvPr/>
        </p:nvSpPr>
        <p:spPr>
          <a:xfrm>
            <a:off x="12879209" y="5079060"/>
            <a:ext cx="629920" cy="111760"/>
          </a:xfrm>
          <a:custGeom>
            <a:avLst/>
            <a:gdLst/>
            <a:ahLst/>
            <a:cxnLst/>
            <a:rect l="l" t="t" r="r" b="b"/>
            <a:pathLst>
              <a:path w="629919" h="111760">
                <a:moveTo>
                  <a:pt x="628613" y="111577"/>
                </a:moveTo>
                <a:lnTo>
                  <a:pt x="0" y="104768"/>
                </a:lnTo>
                <a:lnTo>
                  <a:pt x="1134" y="0"/>
                </a:lnTo>
                <a:lnTo>
                  <a:pt x="629747" y="6808"/>
                </a:lnTo>
                <a:lnTo>
                  <a:pt x="628613" y="111577"/>
                </a:lnTo>
                <a:close/>
              </a:path>
            </a:pathLst>
          </a:custGeom>
          <a:solidFill>
            <a:srgbClr val="000000"/>
          </a:solidFill>
        </p:spPr>
        <p:txBody>
          <a:bodyPr wrap="square" lIns="0" tIns="0" rIns="0" bIns="0" rtlCol="0"/>
          <a:lstStyle/>
          <a:p>
            <a:endParaRPr/>
          </a:p>
        </p:txBody>
      </p:sp>
      <p:grpSp>
        <p:nvGrpSpPr>
          <p:cNvPr id="13" name="object 13"/>
          <p:cNvGrpSpPr/>
          <p:nvPr/>
        </p:nvGrpSpPr>
        <p:grpSpPr>
          <a:xfrm>
            <a:off x="13612592" y="4931121"/>
            <a:ext cx="380365" cy="419100"/>
            <a:chOff x="13612592" y="4931121"/>
            <a:chExt cx="380365" cy="419100"/>
          </a:xfrm>
        </p:grpSpPr>
        <p:sp>
          <p:nvSpPr>
            <p:cNvPr id="14" name="object 14"/>
            <p:cNvSpPr/>
            <p:nvPr/>
          </p:nvSpPr>
          <p:spPr>
            <a:xfrm>
              <a:off x="13612592" y="5087003"/>
              <a:ext cx="328295" cy="108585"/>
            </a:xfrm>
            <a:custGeom>
              <a:avLst/>
              <a:gdLst/>
              <a:ahLst/>
              <a:cxnLst/>
              <a:rect l="l" t="t" r="r" b="b"/>
              <a:pathLst>
                <a:path w="328294" h="108585">
                  <a:moveTo>
                    <a:pt x="327135" y="108312"/>
                  </a:moveTo>
                  <a:lnTo>
                    <a:pt x="0" y="104768"/>
                  </a:lnTo>
                  <a:lnTo>
                    <a:pt x="1134" y="0"/>
                  </a:lnTo>
                  <a:lnTo>
                    <a:pt x="328270" y="3543"/>
                  </a:lnTo>
                  <a:lnTo>
                    <a:pt x="327135" y="108312"/>
                  </a:lnTo>
                  <a:close/>
                </a:path>
              </a:pathLst>
            </a:custGeom>
            <a:solidFill>
              <a:srgbClr val="000000"/>
            </a:solidFill>
          </p:spPr>
          <p:txBody>
            <a:bodyPr wrap="square" lIns="0" tIns="0" rIns="0" bIns="0" rtlCol="0"/>
            <a:lstStyle/>
            <a:p>
              <a:endParaRPr/>
            </a:p>
          </p:txBody>
        </p:sp>
        <p:sp>
          <p:nvSpPr>
            <p:cNvPr id="15" name="object 15"/>
            <p:cNvSpPr/>
            <p:nvPr/>
          </p:nvSpPr>
          <p:spPr>
            <a:xfrm>
              <a:off x="13729055" y="4983508"/>
              <a:ext cx="211454" cy="314325"/>
            </a:xfrm>
            <a:custGeom>
              <a:avLst/>
              <a:gdLst/>
              <a:ahLst/>
              <a:cxnLst/>
              <a:rect l="l" t="t" r="r" b="b"/>
              <a:pathLst>
                <a:path w="211455" h="314325">
                  <a:moveTo>
                    <a:pt x="3404" y="0"/>
                  </a:moveTo>
                  <a:lnTo>
                    <a:pt x="211239" y="159422"/>
                  </a:lnTo>
                  <a:lnTo>
                    <a:pt x="0" y="314306"/>
                  </a:lnTo>
                </a:path>
              </a:pathLst>
            </a:custGeom>
            <a:ln w="104774">
              <a:solidFill>
                <a:srgbClr val="000000"/>
              </a:solidFill>
            </a:ln>
          </p:spPr>
          <p:txBody>
            <a:bodyPr wrap="square" lIns="0" tIns="0" rIns="0" bIns="0" rtlCol="0"/>
            <a:lstStyle/>
            <a:p>
              <a:endParaRPr/>
            </a:p>
          </p:txBody>
        </p:sp>
      </p:grpSp>
      <p:pic>
        <p:nvPicPr>
          <p:cNvPr id="16" name="object 16"/>
          <p:cNvPicPr/>
          <p:nvPr/>
        </p:nvPicPr>
        <p:blipFill>
          <a:blip r:embed="rId3" cstate="print"/>
          <a:stretch>
            <a:fillRect/>
          </a:stretch>
        </p:blipFill>
        <p:spPr>
          <a:xfrm>
            <a:off x="1747808" y="8469370"/>
            <a:ext cx="104775" cy="104774"/>
          </a:xfrm>
          <a:prstGeom prst="rect">
            <a:avLst/>
          </a:prstGeom>
        </p:spPr>
      </p:pic>
      <p:pic>
        <p:nvPicPr>
          <p:cNvPr id="17" name="object 17"/>
          <p:cNvPicPr/>
          <p:nvPr/>
        </p:nvPicPr>
        <p:blipFill>
          <a:blip r:embed="rId3" cstate="print"/>
          <a:stretch>
            <a:fillRect/>
          </a:stretch>
        </p:blipFill>
        <p:spPr>
          <a:xfrm>
            <a:off x="1747808" y="9002770"/>
            <a:ext cx="104775" cy="104774"/>
          </a:xfrm>
          <a:prstGeom prst="rect">
            <a:avLst/>
          </a:prstGeom>
        </p:spPr>
      </p:pic>
      <p:pic>
        <p:nvPicPr>
          <p:cNvPr id="18" name="object 18"/>
          <p:cNvPicPr/>
          <p:nvPr/>
        </p:nvPicPr>
        <p:blipFill>
          <a:blip r:embed="rId3" cstate="print"/>
          <a:stretch>
            <a:fillRect/>
          </a:stretch>
        </p:blipFill>
        <p:spPr>
          <a:xfrm>
            <a:off x="1747808" y="9536170"/>
            <a:ext cx="104775" cy="104774"/>
          </a:xfrm>
          <a:prstGeom prst="rect">
            <a:avLst/>
          </a:prstGeom>
        </p:spPr>
      </p:pic>
      <p:sp>
        <p:nvSpPr>
          <p:cNvPr id="19" name="object 19"/>
          <p:cNvSpPr txBox="1"/>
          <p:nvPr/>
        </p:nvSpPr>
        <p:spPr>
          <a:xfrm>
            <a:off x="1363633" y="7627995"/>
            <a:ext cx="10074275" cy="2159000"/>
          </a:xfrm>
          <a:prstGeom prst="rect">
            <a:avLst/>
          </a:prstGeom>
        </p:spPr>
        <p:txBody>
          <a:bodyPr vert="horz" wrap="square" lIns="0" tIns="12065" rIns="0" bIns="0" rtlCol="0">
            <a:spAutoFit/>
          </a:bodyPr>
          <a:lstStyle/>
          <a:p>
            <a:pPr marL="659765" marR="5080" indent="-647700">
              <a:lnSpc>
                <a:spcPct val="116700"/>
              </a:lnSpc>
              <a:spcBef>
                <a:spcPts val="95"/>
              </a:spcBef>
            </a:pPr>
            <a:r>
              <a:rPr sz="3000" b="1" spc="120" dirty="0">
                <a:latin typeface="Times New Roman"/>
                <a:cs typeface="Times New Roman"/>
              </a:rPr>
              <a:t>Not</a:t>
            </a:r>
            <a:r>
              <a:rPr sz="3000" b="1" spc="-20" dirty="0">
                <a:latin typeface="Times New Roman"/>
                <a:cs typeface="Times New Roman"/>
              </a:rPr>
              <a:t> </a:t>
            </a:r>
            <a:r>
              <a:rPr sz="3000" b="1" spc="170" dirty="0">
                <a:latin typeface="Times New Roman"/>
                <a:cs typeface="Times New Roman"/>
              </a:rPr>
              <a:t>only</a:t>
            </a:r>
            <a:r>
              <a:rPr sz="3000" b="1" spc="-20" dirty="0">
                <a:latin typeface="Times New Roman"/>
                <a:cs typeface="Times New Roman"/>
              </a:rPr>
              <a:t> </a:t>
            </a:r>
            <a:r>
              <a:rPr sz="3000" b="1" spc="-80" dirty="0">
                <a:latin typeface="Times New Roman"/>
                <a:cs typeface="Times New Roman"/>
              </a:rPr>
              <a:t>CPU</a:t>
            </a:r>
            <a:r>
              <a:rPr sz="3000" b="1" spc="-20" dirty="0">
                <a:latin typeface="Times New Roman"/>
                <a:cs typeface="Times New Roman"/>
              </a:rPr>
              <a:t> </a:t>
            </a:r>
            <a:r>
              <a:rPr sz="3000" b="1" dirty="0">
                <a:latin typeface="Times New Roman"/>
                <a:cs typeface="Times New Roman"/>
              </a:rPr>
              <a:t>it</a:t>
            </a:r>
            <a:r>
              <a:rPr sz="3000" b="1" spc="-20" dirty="0">
                <a:latin typeface="Times New Roman"/>
                <a:cs typeface="Times New Roman"/>
              </a:rPr>
              <a:t> </a:t>
            </a:r>
            <a:r>
              <a:rPr sz="3000" b="1" spc="110" dirty="0">
                <a:latin typeface="Times New Roman"/>
                <a:cs typeface="Times New Roman"/>
              </a:rPr>
              <a:t>selects</a:t>
            </a:r>
            <a:r>
              <a:rPr sz="3000" b="1" spc="-15" dirty="0">
                <a:latin typeface="Times New Roman"/>
                <a:cs typeface="Times New Roman"/>
              </a:rPr>
              <a:t> </a:t>
            </a:r>
            <a:r>
              <a:rPr sz="3000" b="1" spc="150" dirty="0">
                <a:latin typeface="Times New Roman"/>
                <a:cs typeface="Times New Roman"/>
              </a:rPr>
              <a:t>based</a:t>
            </a:r>
            <a:r>
              <a:rPr sz="3000" b="1" spc="-20" dirty="0">
                <a:latin typeface="Times New Roman"/>
                <a:cs typeface="Times New Roman"/>
              </a:rPr>
              <a:t> </a:t>
            </a:r>
            <a:r>
              <a:rPr sz="3000" b="1" spc="210" dirty="0">
                <a:latin typeface="Times New Roman"/>
                <a:cs typeface="Times New Roman"/>
              </a:rPr>
              <a:t>on</a:t>
            </a:r>
            <a:r>
              <a:rPr sz="3000" b="1" spc="-20" dirty="0">
                <a:latin typeface="Times New Roman"/>
                <a:cs typeface="Times New Roman"/>
              </a:rPr>
              <a:t> </a:t>
            </a:r>
            <a:r>
              <a:rPr sz="3000" b="1" spc="95" dirty="0">
                <a:latin typeface="Times New Roman"/>
                <a:cs typeface="Times New Roman"/>
              </a:rPr>
              <a:t>different</a:t>
            </a:r>
            <a:r>
              <a:rPr sz="3000" b="1" spc="-20" dirty="0">
                <a:latin typeface="Times New Roman"/>
                <a:cs typeface="Times New Roman"/>
              </a:rPr>
              <a:t> </a:t>
            </a:r>
            <a:r>
              <a:rPr sz="3000" b="1" spc="105" dirty="0">
                <a:latin typeface="Times New Roman"/>
                <a:cs typeface="Times New Roman"/>
              </a:rPr>
              <a:t>parameters</a:t>
            </a:r>
            <a:r>
              <a:rPr sz="3000" b="1" spc="-20" dirty="0">
                <a:latin typeface="Times New Roman"/>
                <a:cs typeface="Times New Roman"/>
              </a:rPr>
              <a:t> </a:t>
            </a:r>
            <a:r>
              <a:rPr sz="3000" b="1" spc="40" dirty="0">
                <a:latin typeface="Times New Roman"/>
                <a:cs typeface="Times New Roman"/>
              </a:rPr>
              <a:t>like </a:t>
            </a:r>
            <a:r>
              <a:rPr sz="3000" b="1" spc="95" dirty="0">
                <a:latin typeface="Times New Roman"/>
                <a:cs typeface="Times New Roman"/>
              </a:rPr>
              <a:t>Resource</a:t>
            </a:r>
            <a:r>
              <a:rPr sz="3000" b="1" spc="5" dirty="0">
                <a:latin typeface="Times New Roman"/>
                <a:cs typeface="Times New Roman"/>
              </a:rPr>
              <a:t> </a:t>
            </a:r>
            <a:r>
              <a:rPr sz="3000" b="1" spc="125" dirty="0">
                <a:latin typeface="Times New Roman"/>
                <a:cs typeface="Times New Roman"/>
              </a:rPr>
              <a:t>Requirement</a:t>
            </a:r>
            <a:r>
              <a:rPr sz="3000" b="1" spc="10" dirty="0">
                <a:latin typeface="Times New Roman"/>
                <a:cs typeface="Times New Roman"/>
              </a:rPr>
              <a:t> </a:t>
            </a:r>
            <a:r>
              <a:rPr sz="3000" b="1" spc="105" dirty="0">
                <a:latin typeface="Times New Roman"/>
                <a:cs typeface="Times New Roman"/>
              </a:rPr>
              <a:t>limits</a:t>
            </a:r>
            <a:endParaRPr sz="3000">
              <a:latin typeface="Times New Roman"/>
              <a:cs typeface="Times New Roman"/>
            </a:endParaRPr>
          </a:p>
          <a:p>
            <a:pPr marL="659765" marR="5892800">
              <a:lnSpc>
                <a:spcPts val="4200"/>
              </a:lnSpc>
              <a:spcBef>
                <a:spcPts val="100"/>
              </a:spcBef>
            </a:pPr>
            <a:r>
              <a:rPr sz="3000" b="1" dirty="0">
                <a:latin typeface="Times New Roman"/>
                <a:cs typeface="Times New Roman"/>
              </a:rPr>
              <a:t>Taints</a:t>
            </a:r>
            <a:r>
              <a:rPr sz="3000" b="1" spc="95" dirty="0">
                <a:latin typeface="Times New Roman"/>
                <a:cs typeface="Times New Roman"/>
              </a:rPr>
              <a:t> </a:t>
            </a:r>
            <a:r>
              <a:rPr sz="3000" b="1" spc="-275" dirty="0">
                <a:latin typeface="Times New Roman"/>
                <a:cs typeface="Times New Roman"/>
              </a:rPr>
              <a:t>&amp;</a:t>
            </a:r>
            <a:r>
              <a:rPr sz="3000" b="1" spc="100" dirty="0">
                <a:latin typeface="Times New Roman"/>
                <a:cs typeface="Times New Roman"/>
              </a:rPr>
              <a:t> </a:t>
            </a:r>
            <a:r>
              <a:rPr sz="3000" b="1" spc="60" dirty="0">
                <a:latin typeface="Times New Roman"/>
                <a:cs typeface="Times New Roman"/>
              </a:rPr>
              <a:t>Tolerations </a:t>
            </a:r>
            <a:r>
              <a:rPr sz="3000" b="1" spc="180" dirty="0">
                <a:latin typeface="Times New Roman"/>
                <a:cs typeface="Times New Roman"/>
              </a:rPr>
              <a:t>Node</a:t>
            </a:r>
            <a:r>
              <a:rPr sz="3000" b="1" spc="-25" dirty="0">
                <a:latin typeface="Times New Roman"/>
                <a:cs typeface="Times New Roman"/>
              </a:rPr>
              <a:t> </a:t>
            </a:r>
            <a:r>
              <a:rPr sz="3000" b="1" spc="90" dirty="0">
                <a:latin typeface="Times New Roman"/>
                <a:cs typeface="Times New Roman"/>
              </a:rPr>
              <a:t>selector</a:t>
            </a:r>
            <a:endParaRPr sz="300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00174" y="1189562"/>
            <a:ext cx="171450" cy="171449"/>
          </a:xfrm>
          <a:prstGeom prst="rect">
            <a:avLst/>
          </a:prstGeom>
        </p:spPr>
      </p:pic>
      <p:sp>
        <p:nvSpPr>
          <p:cNvPr id="3" name="object 3"/>
          <p:cNvSpPr txBox="1">
            <a:spLocks noGrp="1"/>
          </p:cNvSpPr>
          <p:nvPr>
            <p:ph type="title"/>
          </p:nvPr>
        </p:nvSpPr>
        <p:spPr>
          <a:xfrm>
            <a:off x="1795412" y="975503"/>
            <a:ext cx="5725795" cy="575945"/>
          </a:xfrm>
          <a:prstGeom prst="rect">
            <a:avLst/>
          </a:prstGeom>
        </p:spPr>
        <p:txBody>
          <a:bodyPr vert="horz" wrap="square" lIns="0" tIns="13970" rIns="0" bIns="0" rtlCol="0">
            <a:spAutoFit/>
          </a:bodyPr>
          <a:lstStyle/>
          <a:p>
            <a:pPr marL="12700">
              <a:lnSpc>
                <a:spcPct val="100000"/>
              </a:lnSpc>
              <a:spcBef>
                <a:spcPts val="110"/>
              </a:spcBef>
            </a:pPr>
            <a:r>
              <a:rPr sz="3600" b="0" spc="-375" dirty="0">
                <a:solidFill>
                  <a:srgbClr val="000000"/>
                </a:solidFill>
                <a:latin typeface="Trebuchet MS"/>
                <a:cs typeface="Trebuchet MS"/>
              </a:rPr>
              <a:t>Scheduler</a:t>
            </a:r>
            <a:r>
              <a:rPr sz="3600" b="0" spc="-390" dirty="0">
                <a:solidFill>
                  <a:srgbClr val="000000"/>
                </a:solidFill>
                <a:latin typeface="Trebuchet MS"/>
                <a:cs typeface="Trebuchet MS"/>
              </a:rPr>
              <a:t> </a:t>
            </a:r>
            <a:r>
              <a:rPr sz="3600" b="0" spc="-385" dirty="0">
                <a:solidFill>
                  <a:srgbClr val="000000"/>
                </a:solidFill>
                <a:latin typeface="Trebuchet MS"/>
                <a:cs typeface="Trebuchet MS"/>
              </a:rPr>
              <a:t>will</a:t>
            </a:r>
            <a:r>
              <a:rPr sz="3600" b="0" spc="-390" dirty="0">
                <a:solidFill>
                  <a:srgbClr val="000000"/>
                </a:solidFill>
                <a:latin typeface="Trebuchet MS"/>
                <a:cs typeface="Trebuchet MS"/>
              </a:rPr>
              <a:t> </a:t>
            </a:r>
            <a:r>
              <a:rPr sz="3600" b="0" spc="-380" dirty="0">
                <a:solidFill>
                  <a:srgbClr val="000000"/>
                </a:solidFill>
                <a:latin typeface="Trebuchet MS"/>
                <a:cs typeface="Trebuchet MS"/>
              </a:rPr>
              <a:t>do</a:t>
            </a:r>
            <a:r>
              <a:rPr sz="3600" b="0" spc="-385" dirty="0">
                <a:solidFill>
                  <a:srgbClr val="000000"/>
                </a:solidFill>
                <a:latin typeface="Trebuchet MS"/>
                <a:cs typeface="Trebuchet MS"/>
              </a:rPr>
              <a:t> </a:t>
            </a:r>
            <a:r>
              <a:rPr sz="3600" b="0" spc="-409" dirty="0">
                <a:solidFill>
                  <a:srgbClr val="000000"/>
                </a:solidFill>
                <a:latin typeface="Trebuchet MS"/>
                <a:cs typeface="Trebuchet MS"/>
              </a:rPr>
              <a:t>the</a:t>
            </a:r>
            <a:r>
              <a:rPr sz="3600" b="0" spc="-390" dirty="0">
                <a:solidFill>
                  <a:srgbClr val="000000"/>
                </a:solidFill>
                <a:latin typeface="Trebuchet MS"/>
                <a:cs typeface="Trebuchet MS"/>
              </a:rPr>
              <a:t> </a:t>
            </a:r>
            <a:r>
              <a:rPr sz="3600" b="0" spc="-350" dirty="0">
                <a:solidFill>
                  <a:srgbClr val="000000"/>
                </a:solidFill>
                <a:latin typeface="Trebuchet MS"/>
                <a:cs typeface="Trebuchet MS"/>
              </a:rPr>
              <a:t>following</a:t>
            </a:r>
            <a:r>
              <a:rPr sz="3600" b="0" spc="-390" dirty="0">
                <a:solidFill>
                  <a:srgbClr val="000000"/>
                </a:solidFill>
                <a:latin typeface="Trebuchet MS"/>
                <a:cs typeface="Trebuchet MS"/>
              </a:rPr>
              <a:t> </a:t>
            </a:r>
            <a:r>
              <a:rPr sz="3600" b="0" spc="-340" dirty="0">
                <a:solidFill>
                  <a:srgbClr val="000000"/>
                </a:solidFill>
                <a:latin typeface="Trebuchet MS"/>
                <a:cs typeface="Trebuchet MS"/>
              </a:rPr>
              <a:t>taks</a:t>
            </a:r>
            <a:endParaRPr sz="3600">
              <a:latin typeface="Trebuchet MS"/>
              <a:cs typeface="Trebuchet MS"/>
            </a:endParaRPr>
          </a:p>
        </p:txBody>
      </p:sp>
      <p:pic>
        <p:nvPicPr>
          <p:cNvPr id="4" name="object 4"/>
          <p:cNvPicPr/>
          <p:nvPr/>
        </p:nvPicPr>
        <p:blipFill>
          <a:blip r:embed="rId2" cstate="print"/>
          <a:stretch>
            <a:fillRect/>
          </a:stretch>
        </p:blipFill>
        <p:spPr>
          <a:xfrm>
            <a:off x="1864232" y="7421036"/>
            <a:ext cx="171450" cy="171449"/>
          </a:xfrm>
          <a:prstGeom prst="rect">
            <a:avLst/>
          </a:prstGeom>
        </p:spPr>
      </p:pic>
      <p:sp>
        <p:nvSpPr>
          <p:cNvPr id="5" name="object 5"/>
          <p:cNvSpPr txBox="1"/>
          <p:nvPr/>
        </p:nvSpPr>
        <p:spPr>
          <a:xfrm>
            <a:off x="1016000" y="1461278"/>
            <a:ext cx="15903575" cy="7778750"/>
          </a:xfrm>
          <a:prstGeom prst="rect">
            <a:avLst/>
          </a:prstGeom>
        </p:spPr>
        <p:txBody>
          <a:bodyPr vert="horz" wrap="square" lIns="0" tIns="13970" rIns="0" bIns="0" rtlCol="0">
            <a:spAutoFit/>
          </a:bodyPr>
          <a:lstStyle/>
          <a:p>
            <a:pPr marL="1570990" indent="-421005">
              <a:lnSpc>
                <a:spcPts val="4075"/>
              </a:lnSpc>
              <a:spcBef>
                <a:spcPts val="110"/>
              </a:spcBef>
              <a:buAutoNum type="alphaLcPeriod"/>
              <a:tabLst>
                <a:tab pos="1570990" algn="l"/>
              </a:tabLst>
            </a:pPr>
            <a:r>
              <a:rPr sz="3600" spc="-370" dirty="0">
                <a:latin typeface="Trebuchet MS"/>
                <a:cs typeface="Trebuchet MS"/>
              </a:rPr>
              <a:t>Pod</a:t>
            </a:r>
            <a:r>
              <a:rPr sz="3600" spc="-390" dirty="0">
                <a:latin typeface="Trebuchet MS"/>
                <a:cs typeface="Trebuchet MS"/>
              </a:rPr>
              <a:t> </a:t>
            </a:r>
            <a:r>
              <a:rPr sz="3600" spc="-434" dirty="0">
                <a:latin typeface="Trebuchet MS"/>
                <a:cs typeface="Trebuchet MS"/>
              </a:rPr>
              <a:t>Creation</a:t>
            </a:r>
            <a:endParaRPr sz="3600">
              <a:latin typeface="Trebuchet MS"/>
              <a:cs typeface="Trebuchet MS"/>
            </a:endParaRPr>
          </a:p>
          <a:p>
            <a:pPr marL="1570990" indent="-434975">
              <a:lnSpc>
                <a:spcPts val="3825"/>
              </a:lnSpc>
              <a:buAutoNum type="alphaLcPeriod"/>
              <a:tabLst>
                <a:tab pos="1570990" algn="l"/>
              </a:tabLst>
            </a:pPr>
            <a:r>
              <a:rPr sz="3600" spc="-370" dirty="0">
                <a:latin typeface="Trebuchet MS"/>
                <a:cs typeface="Trebuchet MS"/>
              </a:rPr>
              <a:t>Pod</a:t>
            </a:r>
            <a:r>
              <a:rPr sz="3600" spc="-390" dirty="0">
                <a:latin typeface="Trebuchet MS"/>
                <a:cs typeface="Trebuchet MS"/>
              </a:rPr>
              <a:t> </a:t>
            </a:r>
            <a:r>
              <a:rPr sz="3600" spc="-350" dirty="0">
                <a:latin typeface="Trebuchet MS"/>
                <a:cs typeface="Trebuchet MS"/>
              </a:rPr>
              <a:t>scheduling</a:t>
            </a:r>
            <a:endParaRPr sz="3600">
              <a:latin typeface="Trebuchet MS"/>
              <a:cs typeface="Trebuchet MS"/>
            </a:endParaRPr>
          </a:p>
          <a:p>
            <a:pPr marL="1571625" indent="-408305">
              <a:lnSpc>
                <a:spcPts val="3825"/>
              </a:lnSpc>
              <a:buAutoNum type="alphaLcPeriod"/>
              <a:tabLst>
                <a:tab pos="1571625" algn="l"/>
              </a:tabLst>
            </a:pPr>
            <a:r>
              <a:rPr sz="3600" spc="-360" dirty="0">
                <a:latin typeface="Trebuchet MS"/>
                <a:cs typeface="Trebuchet MS"/>
              </a:rPr>
              <a:t>Selecting</a:t>
            </a:r>
            <a:r>
              <a:rPr sz="3600" spc="-390" dirty="0">
                <a:latin typeface="Trebuchet MS"/>
                <a:cs typeface="Trebuchet MS"/>
              </a:rPr>
              <a:t> </a:t>
            </a:r>
            <a:r>
              <a:rPr sz="3600" spc="-425" dirty="0">
                <a:latin typeface="Trebuchet MS"/>
                <a:cs typeface="Trebuchet MS"/>
              </a:rPr>
              <a:t>Node</a:t>
            </a:r>
            <a:endParaRPr sz="3600">
              <a:latin typeface="Trebuchet MS"/>
              <a:cs typeface="Trebuchet MS"/>
            </a:endParaRPr>
          </a:p>
          <a:p>
            <a:pPr marL="1570990" indent="-434975">
              <a:lnSpc>
                <a:spcPts val="3825"/>
              </a:lnSpc>
              <a:buAutoNum type="alphaLcPeriod"/>
              <a:tabLst>
                <a:tab pos="1570990" algn="l"/>
              </a:tabLst>
            </a:pPr>
            <a:r>
              <a:rPr sz="3600" spc="-370" dirty="0">
                <a:latin typeface="Trebuchet MS"/>
                <a:cs typeface="Trebuchet MS"/>
              </a:rPr>
              <a:t>Pod</a:t>
            </a:r>
            <a:r>
              <a:rPr sz="3600" spc="-390" dirty="0">
                <a:latin typeface="Trebuchet MS"/>
                <a:cs typeface="Trebuchet MS"/>
              </a:rPr>
              <a:t> </a:t>
            </a:r>
            <a:r>
              <a:rPr sz="3600" spc="-330" dirty="0">
                <a:latin typeface="Trebuchet MS"/>
                <a:cs typeface="Trebuchet MS"/>
              </a:rPr>
              <a:t>Running</a:t>
            </a:r>
            <a:endParaRPr sz="3600">
              <a:latin typeface="Trebuchet MS"/>
              <a:cs typeface="Trebuchet MS"/>
            </a:endParaRPr>
          </a:p>
          <a:p>
            <a:pPr marL="1570990" indent="-429895">
              <a:lnSpc>
                <a:spcPts val="4070"/>
              </a:lnSpc>
              <a:buAutoNum type="alphaLcPeriod"/>
              <a:tabLst>
                <a:tab pos="1570990" algn="l"/>
              </a:tabLst>
            </a:pPr>
            <a:r>
              <a:rPr sz="3600" spc="-395" dirty="0">
                <a:latin typeface="Trebuchet MS"/>
                <a:cs typeface="Trebuchet MS"/>
              </a:rPr>
              <a:t>Kubelet </a:t>
            </a:r>
            <a:r>
              <a:rPr sz="3600" spc="-409" dirty="0">
                <a:latin typeface="Trebuchet MS"/>
                <a:cs typeface="Trebuchet MS"/>
              </a:rPr>
              <a:t>Action</a:t>
            </a:r>
            <a:endParaRPr sz="3600">
              <a:latin typeface="Trebuchet MS"/>
              <a:cs typeface="Trebuchet MS"/>
            </a:endParaRPr>
          </a:p>
          <a:p>
            <a:pPr marL="12700">
              <a:lnSpc>
                <a:spcPct val="100000"/>
              </a:lnSpc>
              <a:spcBef>
                <a:spcPts val="3615"/>
              </a:spcBef>
            </a:pPr>
            <a:r>
              <a:rPr sz="3700" spc="340" dirty="0">
                <a:solidFill>
                  <a:srgbClr val="FF904D"/>
                </a:solidFill>
                <a:latin typeface="Arial MT"/>
                <a:cs typeface="Arial MT"/>
              </a:rPr>
              <a:t>controllers:</a:t>
            </a:r>
            <a:endParaRPr sz="3700">
              <a:latin typeface="Arial MT"/>
              <a:cs typeface="Arial MT"/>
            </a:endParaRPr>
          </a:p>
          <a:p>
            <a:pPr marL="476250" marR="5080" algn="just">
              <a:lnSpc>
                <a:spcPts val="3829"/>
              </a:lnSpc>
              <a:spcBef>
                <a:spcPts val="2295"/>
              </a:spcBef>
            </a:pPr>
            <a:r>
              <a:rPr sz="3600" spc="-525" dirty="0">
                <a:latin typeface="Trebuchet MS"/>
                <a:cs typeface="Trebuchet MS"/>
              </a:rPr>
              <a:t>The</a:t>
            </a:r>
            <a:r>
              <a:rPr sz="3600" spc="250" dirty="0">
                <a:latin typeface="Trebuchet MS"/>
                <a:cs typeface="Trebuchet MS"/>
              </a:rPr>
              <a:t> </a:t>
            </a:r>
            <a:r>
              <a:rPr sz="3600" spc="-415" dirty="0">
                <a:latin typeface="Trebuchet MS"/>
                <a:cs typeface="Trebuchet MS"/>
              </a:rPr>
              <a:t>controller</a:t>
            </a:r>
            <a:r>
              <a:rPr sz="3600" spc="145" dirty="0">
                <a:latin typeface="Trebuchet MS"/>
                <a:cs typeface="Trebuchet MS"/>
              </a:rPr>
              <a:t> </a:t>
            </a:r>
            <a:r>
              <a:rPr sz="3600" spc="-325" dirty="0">
                <a:latin typeface="Trebuchet MS"/>
                <a:cs typeface="Trebuchet MS"/>
              </a:rPr>
              <a:t>Manager</a:t>
            </a:r>
            <a:r>
              <a:rPr sz="3600" spc="125" dirty="0">
                <a:latin typeface="Trebuchet MS"/>
                <a:cs typeface="Trebuchet MS"/>
              </a:rPr>
              <a:t> </a:t>
            </a:r>
            <a:r>
              <a:rPr sz="3600" spc="-409" dirty="0">
                <a:latin typeface="Trebuchet MS"/>
                <a:cs typeface="Trebuchet MS"/>
              </a:rPr>
              <a:t>collects</a:t>
            </a:r>
            <a:r>
              <a:rPr sz="3600" spc="170" dirty="0">
                <a:latin typeface="Trebuchet MS"/>
                <a:cs typeface="Trebuchet MS"/>
              </a:rPr>
              <a:t> </a:t>
            </a:r>
            <a:r>
              <a:rPr sz="3600" spc="-445" dirty="0">
                <a:latin typeface="Trebuchet MS"/>
                <a:cs typeface="Trebuchet MS"/>
              </a:rPr>
              <a:t>the</a:t>
            </a:r>
            <a:r>
              <a:rPr sz="3600" spc="175" dirty="0">
                <a:latin typeface="Trebuchet MS"/>
                <a:cs typeface="Trebuchet MS"/>
              </a:rPr>
              <a:t> </a:t>
            </a:r>
            <a:r>
              <a:rPr sz="3600" spc="-420" dirty="0">
                <a:latin typeface="Trebuchet MS"/>
                <a:cs typeface="Trebuchet MS"/>
              </a:rPr>
              <a:t>data/information</a:t>
            </a:r>
            <a:r>
              <a:rPr sz="3600" spc="175" dirty="0">
                <a:latin typeface="Trebuchet MS"/>
                <a:cs typeface="Trebuchet MS"/>
              </a:rPr>
              <a:t> </a:t>
            </a:r>
            <a:r>
              <a:rPr sz="3600" spc="-420" dirty="0">
                <a:latin typeface="Trebuchet MS"/>
                <a:cs typeface="Trebuchet MS"/>
              </a:rPr>
              <a:t>from</a:t>
            </a:r>
            <a:r>
              <a:rPr sz="3600" spc="175" dirty="0">
                <a:latin typeface="Trebuchet MS"/>
                <a:cs typeface="Trebuchet MS"/>
              </a:rPr>
              <a:t> </a:t>
            </a:r>
            <a:r>
              <a:rPr sz="3600" spc="-445" dirty="0">
                <a:latin typeface="Trebuchet MS"/>
                <a:cs typeface="Trebuchet MS"/>
              </a:rPr>
              <a:t>the</a:t>
            </a:r>
            <a:r>
              <a:rPr sz="3600" spc="170" dirty="0">
                <a:latin typeface="Trebuchet MS"/>
                <a:cs typeface="Trebuchet MS"/>
              </a:rPr>
              <a:t> </a:t>
            </a:r>
            <a:r>
              <a:rPr sz="3600" spc="-310" dirty="0">
                <a:latin typeface="Trebuchet MS"/>
                <a:cs typeface="Trebuchet MS"/>
              </a:rPr>
              <a:t>API</a:t>
            </a:r>
            <a:r>
              <a:rPr sz="3600" spc="175" dirty="0">
                <a:latin typeface="Trebuchet MS"/>
                <a:cs typeface="Trebuchet MS"/>
              </a:rPr>
              <a:t> </a:t>
            </a:r>
            <a:r>
              <a:rPr sz="3600" spc="-355" dirty="0">
                <a:latin typeface="Trebuchet MS"/>
                <a:cs typeface="Trebuchet MS"/>
              </a:rPr>
              <a:t>Server</a:t>
            </a:r>
            <a:r>
              <a:rPr sz="3600" spc="175" dirty="0">
                <a:latin typeface="Trebuchet MS"/>
                <a:cs typeface="Trebuchet MS"/>
              </a:rPr>
              <a:t> </a:t>
            </a:r>
            <a:r>
              <a:rPr sz="3600" spc="-350" dirty="0">
                <a:latin typeface="Trebuchet MS"/>
                <a:cs typeface="Trebuchet MS"/>
              </a:rPr>
              <a:t>of</a:t>
            </a:r>
            <a:r>
              <a:rPr sz="3600" spc="175" dirty="0">
                <a:latin typeface="Trebuchet MS"/>
                <a:cs typeface="Trebuchet MS"/>
              </a:rPr>
              <a:t> </a:t>
            </a:r>
            <a:r>
              <a:rPr sz="3600" spc="-445" dirty="0">
                <a:latin typeface="Trebuchet MS"/>
                <a:cs typeface="Trebuchet MS"/>
              </a:rPr>
              <a:t>the</a:t>
            </a:r>
            <a:r>
              <a:rPr sz="3600" spc="170" dirty="0">
                <a:latin typeface="Trebuchet MS"/>
                <a:cs typeface="Trebuchet MS"/>
              </a:rPr>
              <a:t> </a:t>
            </a:r>
            <a:r>
              <a:rPr sz="3600" spc="-380" dirty="0">
                <a:latin typeface="Trebuchet MS"/>
                <a:cs typeface="Trebuchet MS"/>
              </a:rPr>
              <a:t>Kubernetes </a:t>
            </a:r>
            <a:r>
              <a:rPr sz="3600" spc="-375" dirty="0">
                <a:latin typeface="Trebuchet MS"/>
                <a:cs typeface="Trebuchet MS"/>
              </a:rPr>
              <a:t>cluster</a:t>
            </a:r>
            <a:r>
              <a:rPr sz="3600" spc="370" dirty="0">
                <a:latin typeface="Trebuchet MS"/>
                <a:cs typeface="Trebuchet MS"/>
              </a:rPr>
              <a:t> </a:t>
            </a:r>
            <a:r>
              <a:rPr sz="3600" spc="-370" dirty="0">
                <a:latin typeface="Trebuchet MS"/>
                <a:cs typeface="Trebuchet MS"/>
              </a:rPr>
              <a:t>like</a:t>
            </a:r>
            <a:r>
              <a:rPr sz="3600" spc="370" dirty="0">
                <a:latin typeface="Trebuchet MS"/>
                <a:cs typeface="Trebuchet MS"/>
              </a:rPr>
              <a:t> </a:t>
            </a:r>
            <a:r>
              <a:rPr sz="3600" spc="-409" dirty="0">
                <a:latin typeface="Trebuchet MS"/>
                <a:cs typeface="Trebuchet MS"/>
              </a:rPr>
              <a:t>the</a:t>
            </a:r>
            <a:r>
              <a:rPr sz="3600" spc="370" dirty="0">
                <a:latin typeface="Trebuchet MS"/>
                <a:cs typeface="Trebuchet MS"/>
              </a:rPr>
              <a:t> </a:t>
            </a:r>
            <a:r>
              <a:rPr sz="3600" spc="-355" dirty="0">
                <a:latin typeface="Trebuchet MS"/>
                <a:cs typeface="Trebuchet MS"/>
              </a:rPr>
              <a:t>desired</a:t>
            </a:r>
            <a:r>
              <a:rPr sz="3600" spc="370" dirty="0">
                <a:latin typeface="Trebuchet MS"/>
                <a:cs typeface="Trebuchet MS"/>
              </a:rPr>
              <a:t> </a:t>
            </a:r>
            <a:r>
              <a:rPr sz="3600" spc="-360" dirty="0">
                <a:latin typeface="Trebuchet MS"/>
                <a:cs typeface="Trebuchet MS"/>
              </a:rPr>
              <a:t>state</a:t>
            </a:r>
            <a:r>
              <a:rPr sz="3600" spc="370" dirty="0">
                <a:latin typeface="Trebuchet MS"/>
                <a:cs typeface="Trebuchet MS"/>
              </a:rPr>
              <a:t> </a:t>
            </a:r>
            <a:r>
              <a:rPr sz="3600" spc="-350" dirty="0">
                <a:latin typeface="Trebuchet MS"/>
                <a:cs typeface="Trebuchet MS"/>
              </a:rPr>
              <a:t>of</a:t>
            </a:r>
            <a:r>
              <a:rPr sz="3600" spc="370" dirty="0">
                <a:latin typeface="Trebuchet MS"/>
                <a:cs typeface="Trebuchet MS"/>
              </a:rPr>
              <a:t> </a:t>
            </a:r>
            <a:r>
              <a:rPr sz="3600" spc="-409" dirty="0">
                <a:latin typeface="Trebuchet MS"/>
                <a:cs typeface="Trebuchet MS"/>
              </a:rPr>
              <a:t>the</a:t>
            </a:r>
            <a:r>
              <a:rPr sz="3600" spc="370" dirty="0">
                <a:latin typeface="Trebuchet MS"/>
                <a:cs typeface="Trebuchet MS"/>
              </a:rPr>
              <a:t> </a:t>
            </a:r>
            <a:r>
              <a:rPr sz="3600" spc="-375" dirty="0">
                <a:latin typeface="Trebuchet MS"/>
                <a:cs typeface="Trebuchet MS"/>
              </a:rPr>
              <a:t>cluster</a:t>
            </a:r>
            <a:r>
              <a:rPr sz="3600" spc="370" dirty="0">
                <a:latin typeface="Trebuchet MS"/>
                <a:cs typeface="Trebuchet MS"/>
              </a:rPr>
              <a:t> </a:t>
            </a:r>
            <a:r>
              <a:rPr sz="3600" spc="-365" dirty="0">
                <a:latin typeface="Trebuchet MS"/>
                <a:cs typeface="Trebuchet MS"/>
              </a:rPr>
              <a:t>and</a:t>
            </a:r>
            <a:r>
              <a:rPr sz="3600" spc="370" dirty="0">
                <a:latin typeface="Trebuchet MS"/>
                <a:cs typeface="Trebuchet MS"/>
              </a:rPr>
              <a:t> </a:t>
            </a:r>
            <a:r>
              <a:rPr sz="3600" spc="-390" dirty="0">
                <a:latin typeface="Trebuchet MS"/>
                <a:cs typeface="Trebuchet MS"/>
              </a:rPr>
              <a:t>then</a:t>
            </a:r>
            <a:r>
              <a:rPr sz="3600" spc="370" dirty="0">
                <a:latin typeface="Trebuchet MS"/>
                <a:cs typeface="Trebuchet MS"/>
              </a:rPr>
              <a:t> </a:t>
            </a:r>
            <a:r>
              <a:rPr sz="3600" spc="-375" dirty="0">
                <a:latin typeface="Trebuchet MS"/>
                <a:cs typeface="Trebuchet MS"/>
              </a:rPr>
              <a:t>decides</a:t>
            </a:r>
            <a:r>
              <a:rPr sz="3600" spc="370" dirty="0">
                <a:latin typeface="Trebuchet MS"/>
                <a:cs typeface="Trebuchet MS"/>
              </a:rPr>
              <a:t> </a:t>
            </a:r>
            <a:r>
              <a:rPr sz="3600" spc="-409" dirty="0">
                <a:latin typeface="Trebuchet MS"/>
                <a:cs typeface="Trebuchet MS"/>
              </a:rPr>
              <a:t>what</a:t>
            </a:r>
            <a:r>
              <a:rPr sz="3600" spc="370" dirty="0">
                <a:latin typeface="Trebuchet MS"/>
                <a:cs typeface="Trebuchet MS"/>
              </a:rPr>
              <a:t> </a:t>
            </a:r>
            <a:r>
              <a:rPr sz="3600" spc="-409" dirty="0">
                <a:latin typeface="Trebuchet MS"/>
                <a:cs typeface="Trebuchet MS"/>
              </a:rPr>
              <a:t>to</a:t>
            </a:r>
            <a:r>
              <a:rPr sz="3600" spc="370" dirty="0">
                <a:latin typeface="Trebuchet MS"/>
                <a:cs typeface="Trebuchet MS"/>
              </a:rPr>
              <a:t> </a:t>
            </a:r>
            <a:r>
              <a:rPr sz="3600" spc="-380" dirty="0">
                <a:latin typeface="Trebuchet MS"/>
                <a:cs typeface="Trebuchet MS"/>
              </a:rPr>
              <a:t>do</a:t>
            </a:r>
            <a:r>
              <a:rPr sz="3600" spc="370" dirty="0">
                <a:latin typeface="Trebuchet MS"/>
                <a:cs typeface="Trebuchet MS"/>
              </a:rPr>
              <a:t> </a:t>
            </a:r>
            <a:r>
              <a:rPr sz="3600" spc="-265" dirty="0">
                <a:latin typeface="Trebuchet MS"/>
                <a:cs typeface="Trebuchet MS"/>
              </a:rPr>
              <a:t>by</a:t>
            </a:r>
            <a:r>
              <a:rPr sz="3600" spc="370" dirty="0">
                <a:latin typeface="Trebuchet MS"/>
                <a:cs typeface="Trebuchet MS"/>
              </a:rPr>
              <a:t> </a:t>
            </a:r>
            <a:r>
              <a:rPr sz="3600" spc="-305" dirty="0">
                <a:latin typeface="Trebuchet MS"/>
                <a:cs typeface="Trebuchet MS"/>
              </a:rPr>
              <a:t>sending</a:t>
            </a:r>
            <a:r>
              <a:rPr sz="3600" spc="370" dirty="0">
                <a:latin typeface="Trebuchet MS"/>
                <a:cs typeface="Trebuchet MS"/>
              </a:rPr>
              <a:t> </a:t>
            </a:r>
            <a:r>
              <a:rPr sz="3600" spc="-434" dirty="0">
                <a:latin typeface="Trebuchet MS"/>
                <a:cs typeface="Trebuchet MS"/>
              </a:rPr>
              <a:t>the </a:t>
            </a:r>
            <a:r>
              <a:rPr sz="3600" spc="-340" dirty="0">
                <a:latin typeface="Trebuchet MS"/>
                <a:cs typeface="Trebuchet MS"/>
              </a:rPr>
              <a:t>instructions</a:t>
            </a:r>
            <a:r>
              <a:rPr sz="3600" spc="-385" dirty="0">
                <a:latin typeface="Trebuchet MS"/>
                <a:cs typeface="Trebuchet MS"/>
              </a:rPr>
              <a:t> </a:t>
            </a:r>
            <a:r>
              <a:rPr sz="3600" spc="-409" dirty="0">
                <a:latin typeface="Trebuchet MS"/>
                <a:cs typeface="Trebuchet MS"/>
              </a:rPr>
              <a:t>to</a:t>
            </a:r>
            <a:r>
              <a:rPr sz="3600" spc="-385"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10" dirty="0">
                <a:latin typeface="Trebuchet MS"/>
                <a:cs typeface="Trebuchet MS"/>
              </a:rPr>
              <a:t>API</a:t>
            </a:r>
            <a:r>
              <a:rPr sz="3600" spc="-385" dirty="0">
                <a:latin typeface="Trebuchet MS"/>
                <a:cs typeface="Trebuchet MS"/>
              </a:rPr>
              <a:t> </a:t>
            </a:r>
            <a:r>
              <a:rPr sz="3600" spc="-405" dirty="0">
                <a:latin typeface="Trebuchet MS"/>
                <a:cs typeface="Trebuchet MS"/>
              </a:rPr>
              <a:t>Server.</a:t>
            </a:r>
            <a:endParaRPr sz="3600">
              <a:latin typeface="Trebuchet MS"/>
              <a:cs typeface="Trebuchet MS"/>
            </a:endParaRPr>
          </a:p>
          <a:p>
            <a:pPr marL="1256030">
              <a:lnSpc>
                <a:spcPts val="4070"/>
              </a:lnSpc>
              <a:spcBef>
                <a:spcPts val="3779"/>
              </a:spcBef>
            </a:pPr>
            <a:r>
              <a:rPr sz="3600" spc="-420" dirty="0">
                <a:latin typeface="Trebuchet MS"/>
                <a:cs typeface="Trebuchet MS"/>
              </a:rPr>
              <a:t>Controller</a:t>
            </a:r>
            <a:r>
              <a:rPr sz="3600" spc="-390" dirty="0">
                <a:latin typeface="Trebuchet MS"/>
                <a:cs typeface="Trebuchet MS"/>
              </a:rPr>
              <a:t> </a:t>
            </a:r>
            <a:r>
              <a:rPr sz="3600" spc="-385" dirty="0">
                <a:latin typeface="Trebuchet MS"/>
                <a:cs typeface="Trebuchet MS"/>
              </a:rPr>
              <a:t>will </a:t>
            </a:r>
            <a:r>
              <a:rPr sz="3600" spc="-380" dirty="0">
                <a:latin typeface="Trebuchet MS"/>
                <a:cs typeface="Trebuchet MS"/>
              </a:rPr>
              <a:t>do</a:t>
            </a:r>
            <a:r>
              <a:rPr sz="3600" spc="-385"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50" dirty="0">
                <a:latin typeface="Trebuchet MS"/>
                <a:cs typeface="Trebuchet MS"/>
              </a:rPr>
              <a:t>following</a:t>
            </a:r>
            <a:r>
              <a:rPr sz="3600" spc="-385" dirty="0">
                <a:latin typeface="Trebuchet MS"/>
                <a:cs typeface="Trebuchet MS"/>
              </a:rPr>
              <a:t> </a:t>
            </a:r>
            <a:r>
              <a:rPr sz="3600" spc="-340" dirty="0">
                <a:latin typeface="Trebuchet MS"/>
                <a:cs typeface="Trebuchet MS"/>
              </a:rPr>
              <a:t>taks</a:t>
            </a:r>
            <a:endParaRPr sz="3600">
              <a:latin typeface="Trebuchet MS"/>
              <a:cs typeface="Trebuchet MS"/>
            </a:endParaRPr>
          </a:p>
          <a:p>
            <a:pPr marL="2035175" lvl="1" indent="-421005">
              <a:lnSpc>
                <a:spcPts val="3825"/>
              </a:lnSpc>
              <a:buAutoNum type="alphaLcPeriod"/>
              <a:tabLst>
                <a:tab pos="2035175" algn="l"/>
              </a:tabLst>
            </a:pPr>
            <a:r>
              <a:rPr sz="3600" spc="-385" dirty="0">
                <a:latin typeface="Trebuchet MS"/>
                <a:cs typeface="Trebuchet MS"/>
              </a:rPr>
              <a:t>Replication</a:t>
            </a:r>
            <a:r>
              <a:rPr sz="3600" spc="-395" dirty="0">
                <a:latin typeface="Trebuchet MS"/>
                <a:cs typeface="Trebuchet MS"/>
              </a:rPr>
              <a:t> </a:t>
            </a:r>
            <a:r>
              <a:rPr sz="3600" spc="-430" dirty="0">
                <a:latin typeface="Trebuchet MS"/>
                <a:cs typeface="Trebuchet MS"/>
              </a:rPr>
              <a:t>Controller</a:t>
            </a:r>
            <a:endParaRPr sz="3600">
              <a:latin typeface="Trebuchet MS"/>
              <a:cs typeface="Trebuchet MS"/>
            </a:endParaRPr>
          </a:p>
          <a:p>
            <a:pPr marL="2035175" lvl="1" indent="-434975">
              <a:lnSpc>
                <a:spcPts val="3825"/>
              </a:lnSpc>
              <a:buAutoNum type="alphaLcPeriod"/>
              <a:tabLst>
                <a:tab pos="2035175" algn="l"/>
              </a:tabLst>
            </a:pPr>
            <a:r>
              <a:rPr sz="3600" spc="-405" dirty="0">
                <a:latin typeface="Trebuchet MS"/>
                <a:cs typeface="Trebuchet MS"/>
              </a:rPr>
              <a:t>Node</a:t>
            </a:r>
            <a:r>
              <a:rPr sz="3600" spc="-385" dirty="0">
                <a:latin typeface="Trebuchet MS"/>
                <a:cs typeface="Trebuchet MS"/>
              </a:rPr>
              <a:t> </a:t>
            </a:r>
            <a:r>
              <a:rPr sz="3600" spc="-430" dirty="0">
                <a:latin typeface="Trebuchet MS"/>
                <a:cs typeface="Trebuchet MS"/>
              </a:rPr>
              <a:t>Controller</a:t>
            </a:r>
            <a:endParaRPr sz="3600">
              <a:latin typeface="Trebuchet MS"/>
              <a:cs typeface="Trebuchet MS"/>
            </a:endParaRPr>
          </a:p>
          <a:p>
            <a:pPr marL="2035175" lvl="1" indent="-408305">
              <a:lnSpc>
                <a:spcPts val="4075"/>
              </a:lnSpc>
              <a:buAutoNum type="alphaLcPeriod"/>
              <a:tabLst>
                <a:tab pos="2035175" algn="l"/>
              </a:tabLst>
            </a:pPr>
            <a:r>
              <a:rPr sz="3600" spc="-370" dirty="0">
                <a:latin typeface="Trebuchet MS"/>
                <a:cs typeface="Trebuchet MS"/>
              </a:rPr>
              <a:t>Service</a:t>
            </a:r>
            <a:r>
              <a:rPr sz="3600" spc="-390" dirty="0">
                <a:latin typeface="Trebuchet MS"/>
                <a:cs typeface="Trebuchet MS"/>
              </a:rPr>
              <a:t> </a:t>
            </a:r>
            <a:r>
              <a:rPr sz="3600" spc="-430" dirty="0">
                <a:latin typeface="Trebuchet MS"/>
                <a:cs typeface="Trebuchet MS"/>
              </a:rPr>
              <a:t>Controller</a:t>
            </a:r>
            <a:endParaRPr sz="3600">
              <a:latin typeface="Trebuchet MS"/>
              <a:cs typeface="Trebuchet M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59131" y="1967894"/>
            <a:ext cx="5085436" cy="1771649"/>
          </a:xfrm>
          <a:prstGeom prst="rect">
            <a:avLst/>
          </a:prstGeom>
        </p:spPr>
      </p:pic>
      <p:sp>
        <p:nvSpPr>
          <p:cNvPr id="3" name="object 3"/>
          <p:cNvSpPr txBox="1"/>
          <p:nvPr/>
        </p:nvSpPr>
        <p:spPr>
          <a:xfrm>
            <a:off x="6796430" y="2563142"/>
            <a:ext cx="2265680" cy="483234"/>
          </a:xfrm>
          <a:prstGeom prst="rect">
            <a:avLst/>
          </a:prstGeom>
        </p:spPr>
        <p:txBody>
          <a:bodyPr vert="horz" wrap="square" lIns="0" tIns="12700" rIns="0" bIns="0" rtlCol="0">
            <a:spAutoFit/>
          </a:bodyPr>
          <a:lstStyle/>
          <a:p>
            <a:pPr marL="12700">
              <a:lnSpc>
                <a:spcPct val="100000"/>
              </a:lnSpc>
              <a:spcBef>
                <a:spcPts val="100"/>
              </a:spcBef>
            </a:pPr>
            <a:r>
              <a:rPr sz="3000" b="1" dirty="0">
                <a:solidFill>
                  <a:srgbClr val="E7181F"/>
                </a:solidFill>
                <a:latin typeface="Times New Roman"/>
                <a:cs typeface="Times New Roman"/>
              </a:rPr>
              <a:t>API-</a:t>
            </a:r>
            <a:r>
              <a:rPr sz="3000" b="1" spc="-135" dirty="0">
                <a:solidFill>
                  <a:srgbClr val="E7181F"/>
                </a:solidFill>
                <a:latin typeface="Times New Roman"/>
                <a:cs typeface="Times New Roman"/>
              </a:rPr>
              <a:t>SERVER</a:t>
            </a:r>
            <a:endParaRPr sz="3000">
              <a:latin typeface="Times New Roman"/>
              <a:cs typeface="Times New Roman"/>
            </a:endParaRPr>
          </a:p>
        </p:txBody>
      </p:sp>
      <p:pic>
        <p:nvPicPr>
          <p:cNvPr id="4" name="object 4"/>
          <p:cNvPicPr/>
          <p:nvPr/>
        </p:nvPicPr>
        <p:blipFill>
          <a:blip r:embed="rId3" cstate="print"/>
          <a:stretch>
            <a:fillRect/>
          </a:stretch>
        </p:blipFill>
        <p:spPr>
          <a:xfrm>
            <a:off x="10157128" y="7275769"/>
            <a:ext cx="1163620" cy="2254891"/>
          </a:xfrm>
          <a:prstGeom prst="rect">
            <a:avLst/>
          </a:prstGeom>
        </p:spPr>
      </p:pic>
      <p:pic>
        <p:nvPicPr>
          <p:cNvPr id="5" name="object 5"/>
          <p:cNvPicPr/>
          <p:nvPr/>
        </p:nvPicPr>
        <p:blipFill>
          <a:blip r:embed="rId3" cstate="print"/>
          <a:stretch>
            <a:fillRect/>
          </a:stretch>
        </p:blipFill>
        <p:spPr>
          <a:xfrm>
            <a:off x="11664438" y="7032506"/>
            <a:ext cx="1163620" cy="2254891"/>
          </a:xfrm>
          <a:prstGeom prst="rect">
            <a:avLst/>
          </a:prstGeom>
        </p:spPr>
      </p:pic>
      <p:pic>
        <p:nvPicPr>
          <p:cNvPr id="6" name="object 6"/>
          <p:cNvPicPr/>
          <p:nvPr/>
        </p:nvPicPr>
        <p:blipFill>
          <a:blip r:embed="rId3" cstate="print"/>
          <a:stretch>
            <a:fillRect/>
          </a:stretch>
        </p:blipFill>
        <p:spPr>
          <a:xfrm>
            <a:off x="13171744" y="6789253"/>
            <a:ext cx="1163620" cy="2254891"/>
          </a:xfrm>
          <a:prstGeom prst="rect">
            <a:avLst/>
          </a:prstGeom>
        </p:spPr>
      </p:pic>
      <p:grpSp>
        <p:nvGrpSpPr>
          <p:cNvPr id="7" name="object 7"/>
          <p:cNvGrpSpPr/>
          <p:nvPr/>
        </p:nvGrpSpPr>
        <p:grpSpPr>
          <a:xfrm>
            <a:off x="476601" y="1545371"/>
            <a:ext cx="17327245" cy="5220970"/>
            <a:chOff x="476601" y="1545371"/>
            <a:chExt cx="17327245" cy="5220970"/>
          </a:xfrm>
        </p:grpSpPr>
        <p:sp>
          <p:nvSpPr>
            <p:cNvPr id="8" name="object 8"/>
            <p:cNvSpPr/>
            <p:nvPr/>
          </p:nvSpPr>
          <p:spPr>
            <a:xfrm>
              <a:off x="3237319" y="2200718"/>
              <a:ext cx="2905125" cy="874394"/>
            </a:xfrm>
            <a:custGeom>
              <a:avLst/>
              <a:gdLst/>
              <a:ahLst/>
              <a:cxnLst/>
              <a:rect l="l" t="t" r="r" b="b"/>
              <a:pathLst>
                <a:path w="2905125" h="874394">
                  <a:moveTo>
                    <a:pt x="644652" y="344487"/>
                  </a:moveTo>
                  <a:lnTo>
                    <a:pt x="641096" y="343306"/>
                  </a:lnTo>
                  <a:lnTo>
                    <a:pt x="642874" y="344487"/>
                  </a:lnTo>
                  <a:lnTo>
                    <a:pt x="644652" y="344487"/>
                  </a:lnTo>
                  <a:close/>
                </a:path>
                <a:path w="2905125" h="874394">
                  <a:moveTo>
                    <a:pt x="955141" y="343306"/>
                  </a:moveTo>
                  <a:lnTo>
                    <a:pt x="953363" y="343306"/>
                  </a:lnTo>
                  <a:lnTo>
                    <a:pt x="952766" y="343890"/>
                  </a:lnTo>
                  <a:lnTo>
                    <a:pt x="955141" y="343306"/>
                  </a:lnTo>
                  <a:close/>
                </a:path>
                <a:path w="2905125" h="874394">
                  <a:moveTo>
                    <a:pt x="1630019" y="363220"/>
                  </a:moveTo>
                  <a:lnTo>
                    <a:pt x="1629422" y="363220"/>
                  </a:lnTo>
                  <a:lnTo>
                    <a:pt x="1629270" y="363537"/>
                  </a:lnTo>
                  <a:lnTo>
                    <a:pt x="1630019" y="363220"/>
                  </a:lnTo>
                  <a:close/>
                </a:path>
                <a:path w="2905125" h="874394">
                  <a:moveTo>
                    <a:pt x="1632978" y="363982"/>
                  </a:moveTo>
                  <a:lnTo>
                    <a:pt x="1630603" y="363982"/>
                  </a:lnTo>
                  <a:lnTo>
                    <a:pt x="1630019" y="364578"/>
                  </a:lnTo>
                  <a:lnTo>
                    <a:pt x="1631797" y="364578"/>
                  </a:lnTo>
                  <a:lnTo>
                    <a:pt x="1632978" y="363982"/>
                  </a:lnTo>
                  <a:close/>
                </a:path>
                <a:path w="2905125" h="874394">
                  <a:moveTo>
                    <a:pt x="2455392" y="809498"/>
                  </a:moveTo>
                  <a:lnTo>
                    <a:pt x="2453030" y="807732"/>
                  </a:lnTo>
                  <a:lnTo>
                    <a:pt x="2453614" y="808913"/>
                  </a:lnTo>
                  <a:lnTo>
                    <a:pt x="2454808" y="809498"/>
                  </a:lnTo>
                  <a:lnTo>
                    <a:pt x="2455392" y="809498"/>
                  </a:lnTo>
                  <a:close/>
                </a:path>
                <a:path w="2905125" h="874394">
                  <a:moveTo>
                    <a:pt x="2463101" y="105410"/>
                  </a:moveTo>
                  <a:lnTo>
                    <a:pt x="2461920" y="104140"/>
                  </a:lnTo>
                  <a:lnTo>
                    <a:pt x="2462504" y="106680"/>
                  </a:lnTo>
                  <a:lnTo>
                    <a:pt x="2463101" y="106680"/>
                  </a:lnTo>
                  <a:lnTo>
                    <a:pt x="2463101" y="105410"/>
                  </a:lnTo>
                  <a:close/>
                </a:path>
                <a:path w="2905125" h="874394">
                  <a:moveTo>
                    <a:pt x="2469019" y="793076"/>
                  </a:moveTo>
                  <a:lnTo>
                    <a:pt x="2467838" y="794346"/>
                  </a:lnTo>
                  <a:lnTo>
                    <a:pt x="2468549" y="794575"/>
                  </a:lnTo>
                  <a:lnTo>
                    <a:pt x="2468626" y="794346"/>
                  </a:lnTo>
                  <a:lnTo>
                    <a:pt x="2469019" y="793076"/>
                  </a:lnTo>
                  <a:close/>
                </a:path>
                <a:path w="2905125" h="874394">
                  <a:moveTo>
                    <a:pt x="2478506" y="56134"/>
                  </a:moveTo>
                  <a:lnTo>
                    <a:pt x="2477325" y="49047"/>
                  </a:lnTo>
                  <a:lnTo>
                    <a:pt x="2476131" y="45504"/>
                  </a:lnTo>
                  <a:lnTo>
                    <a:pt x="2473769" y="40182"/>
                  </a:lnTo>
                  <a:lnTo>
                    <a:pt x="2473172" y="42545"/>
                  </a:lnTo>
                  <a:lnTo>
                    <a:pt x="2473172" y="46685"/>
                  </a:lnTo>
                  <a:lnTo>
                    <a:pt x="2476131" y="52006"/>
                  </a:lnTo>
                  <a:lnTo>
                    <a:pt x="2478506" y="56134"/>
                  </a:lnTo>
                  <a:close/>
                </a:path>
                <a:path w="2905125" h="874394">
                  <a:moveTo>
                    <a:pt x="2505760" y="737412"/>
                  </a:moveTo>
                  <a:lnTo>
                    <a:pt x="2504579" y="737412"/>
                  </a:lnTo>
                  <a:lnTo>
                    <a:pt x="2505760" y="738009"/>
                  </a:lnTo>
                  <a:lnTo>
                    <a:pt x="2505760" y="737412"/>
                  </a:lnTo>
                  <a:close/>
                </a:path>
                <a:path w="2905125" h="874394">
                  <a:moveTo>
                    <a:pt x="2508135" y="738009"/>
                  </a:moveTo>
                  <a:lnTo>
                    <a:pt x="2506942" y="736828"/>
                  </a:lnTo>
                  <a:lnTo>
                    <a:pt x="2505760" y="738009"/>
                  </a:lnTo>
                  <a:lnTo>
                    <a:pt x="2505760" y="739190"/>
                  </a:lnTo>
                  <a:lnTo>
                    <a:pt x="2507538" y="739775"/>
                  </a:lnTo>
                  <a:lnTo>
                    <a:pt x="2508135" y="739190"/>
                  </a:lnTo>
                  <a:lnTo>
                    <a:pt x="2508135" y="738009"/>
                  </a:lnTo>
                  <a:close/>
                </a:path>
                <a:path w="2905125" h="874394">
                  <a:moveTo>
                    <a:pt x="2528278" y="126453"/>
                  </a:moveTo>
                  <a:lnTo>
                    <a:pt x="2527096" y="125857"/>
                  </a:lnTo>
                  <a:lnTo>
                    <a:pt x="2525903" y="127038"/>
                  </a:lnTo>
                  <a:lnTo>
                    <a:pt x="2526500" y="127635"/>
                  </a:lnTo>
                  <a:lnTo>
                    <a:pt x="2528278" y="126453"/>
                  </a:lnTo>
                  <a:close/>
                </a:path>
                <a:path w="2905125" h="874394">
                  <a:moveTo>
                    <a:pt x="2540127" y="692505"/>
                  </a:moveTo>
                  <a:lnTo>
                    <a:pt x="2539530" y="692505"/>
                  </a:lnTo>
                  <a:lnTo>
                    <a:pt x="2540127" y="693102"/>
                  </a:lnTo>
                  <a:lnTo>
                    <a:pt x="2540127" y="692505"/>
                  </a:lnTo>
                  <a:close/>
                </a:path>
                <a:path w="2905125" h="874394">
                  <a:moveTo>
                    <a:pt x="2579230" y="416560"/>
                  </a:moveTo>
                  <a:lnTo>
                    <a:pt x="2578646" y="416560"/>
                  </a:lnTo>
                  <a:lnTo>
                    <a:pt x="2579230" y="416991"/>
                  </a:lnTo>
                  <a:lnTo>
                    <a:pt x="2579230" y="416560"/>
                  </a:lnTo>
                  <a:close/>
                </a:path>
                <a:path w="2905125" h="874394">
                  <a:moveTo>
                    <a:pt x="2656852" y="432523"/>
                  </a:moveTo>
                  <a:lnTo>
                    <a:pt x="2646781" y="428383"/>
                  </a:lnTo>
                  <a:lnTo>
                    <a:pt x="2655671" y="432523"/>
                  </a:lnTo>
                  <a:lnTo>
                    <a:pt x="2656852" y="432523"/>
                  </a:lnTo>
                  <a:close/>
                </a:path>
                <a:path w="2905125" h="874394">
                  <a:moveTo>
                    <a:pt x="2675217" y="551294"/>
                  </a:moveTo>
                  <a:lnTo>
                    <a:pt x="2674632" y="550113"/>
                  </a:lnTo>
                  <a:lnTo>
                    <a:pt x="2674632" y="550697"/>
                  </a:lnTo>
                  <a:lnTo>
                    <a:pt x="2675217" y="551294"/>
                  </a:lnTo>
                  <a:close/>
                </a:path>
                <a:path w="2905125" h="874394">
                  <a:moveTo>
                    <a:pt x="2684589" y="552792"/>
                  </a:moveTo>
                  <a:lnTo>
                    <a:pt x="2684107" y="551776"/>
                  </a:lnTo>
                  <a:lnTo>
                    <a:pt x="2682811" y="549236"/>
                  </a:lnTo>
                  <a:lnTo>
                    <a:pt x="2684475" y="553707"/>
                  </a:lnTo>
                  <a:lnTo>
                    <a:pt x="2684589" y="552792"/>
                  </a:lnTo>
                  <a:close/>
                </a:path>
                <a:path w="2905125" h="874394">
                  <a:moveTo>
                    <a:pt x="2705443" y="539470"/>
                  </a:moveTo>
                  <a:lnTo>
                    <a:pt x="2704846" y="538886"/>
                  </a:lnTo>
                  <a:lnTo>
                    <a:pt x="2705443" y="540067"/>
                  </a:lnTo>
                  <a:lnTo>
                    <a:pt x="2705443" y="539470"/>
                  </a:lnTo>
                  <a:close/>
                </a:path>
                <a:path w="2905125" h="874394">
                  <a:moveTo>
                    <a:pt x="2730322" y="524700"/>
                  </a:moveTo>
                  <a:lnTo>
                    <a:pt x="2729141" y="523519"/>
                  </a:lnTo>
                  <a:lnTo>
                    <a:pt x="2730322" y="525297"/>
                  </a:lnTo>
                  <a:lnTo>
                    <a:pt x="2730322" y="524700"/>
                  </a:lnTo>
                  <a:close/>
                </a:path>
                <a:path w="2905125" h="874394">
                  <a:moveTo>
                    <a:pt x="2828086" y="475068"/>
                  </a:moveTo>
                  <a:lnTo>
                    <a:pt x="2825724" y="475665"/>
                  </a:lnTo>
                  <a:lnTo>
                    <a:pt x="2826905" y="476846"/>
                  </a:lnTo>
                  <a:lnTo>
                    <a:pt x="2828086" y="475665"/>
                  </a:lnTo>
                  <a:lnTo>
                    <a:pt x="2828086" y="475068"/>
                  </a:lnTo>
                  <a:close/>
                </a:path>
                <a:path w="2905125" h="874394">
                  <a:moveTo>
                    <a:pt x="2872829" y="478917"/>
                  </a:moveTo>
                  <a:lnTo>
                    <a:pt x="2872536" y="478028"/>
                  </a:lnTo>
                  <a:lnTo>
                    <a:pt x="2872536" y="478612"/>
                  </a:lnTo>
                  <a:lnTo>
                    <a:pt x="2872829" y="478917"/>
                  </a:lnTo>
                  <a:close/>
                </a:path>
                <a:path w="2905125" h="874394">
                  <a:moveTo>
                    <a:pt x="2877858" y="479793"/>
                  </a:moveTo>
                  <a:lnTo>
                    <a:pt x="2877274" y="478028"/>
                  </a:lnTo>
                  <a:lnTo>
                    <a:pt x="2877274" y="479209"/>
                  </a:lnTo>
                  <a:lnTo>
                    <a:pt x="2877858" y="479793"/>
                  </a:lnTo>
                  <a:close/>
                </a:path>
                <a:path w="2905125" h="874394">
                  <a:moveTo>
                    <a:pt x="2889123" y="519976"/>
                  </a:moveTo>
                  <a:lnTo>
                    <a:pt x="2887942" y="518795"/>
                  </a:lnTo>
                  <a:lnTo>
                    <a:pt x="2889123" y="520560"/>
                  </a:lnTo>
                  <a:lnTo>
                    <a:pt x="2889123" y="519976"/>
                  </a:lnTo>
                  <a:close/>
                </a:path>
                <a:path w="2905125" h="874394">
                  <a:moveTo>
                    <a:pt x="2905125" y="497166"/>
                  </a:moveTo>
                  <a:lnTo>
                    <a:pt x="2903931" y="493356"/>
                  </a:lnTo>
                  <a:lnTo>
                    <a:pt x="2901150" y="492086"/>
                  </a:lnTo>
                  <a:lnTo>
                    <a:pt x="2894533" y="489546"/>
                  </a:lnTo>
                  <a:lnTo>
                    <a:pt x="2886684" y="485736"/>
                  </a:lnTo>
                  <a:lnTo>
                    <a:pt x="2880233" y="483196"/>
                  </a:lnTo>
                  <a:lnTo>
                    <a:pt x="2884970" y="481926"/>
                  </a:lnTo>
                  <a:lnTo>
                    <a:pt x="2880830" y="481926"/>
                  </a:lnTo>
                  <a:lnTo>
                    <a:pt x="2879052" y="479386"/>
                  </a:lnTo>
                  <a:lnTo>
                    <a:pt x="2879636" y="481926"/>
                  </a:lnTo>
                  <a:lnTo>
                    <a:pt x="2876677" y="481926"/>
                  </a:lnTo>
                  <a:lnTo>
                    <a:pt x="2874302" y="478116"/>
                  </a:lnTo>
                  <a:lnTo>
                    <a:pt x="2872536" y="476846"/>
                  </a:lnTo>
                  <a:lnTo>
                    <a:pt x="2873121" y="478116"/>
                  </a:lnTo>
                  <a:lnTo>
                    <a:pt x="2873718" y="478116"/>
                  </a:lnTo>
                  <a:lnTo>
                    <a:pt x="2873718" y="479386"/>
                  </a:lnTo>
                  <a:lnTo>
                    <a:pt x="2874302" y="479386"/>
                  </a:lnTo>
                  <a:lnTo>
                    <a:pt x="2874302" y="480656"/>
                  </a:lnTo>
                  <a:lnTo>
                    <a:pt x="2873718" y="480656"/>
                  </a:lnTo>
                  <a:lnTo>
                    <a:pt x="2873121" y="481926"/>
                  </a:lnTo>
                  <a:lnTo>
                    <a:pt x="2870162" y="481926"/>
                  </a:lnTo>
                  <a:lnTo>
                    <a:pt x="2868384" y="479386"/>
                  </a:lnTo>
                  <a:lnTo>
                    <a:pt x="2866847" y="481926"/>
                  </a:lnTo>
                  <a:lnTo>
                    <a:pt x="2860979" y="480656"/>
                  </a:lnTo>
                  <a:lnTo>
                    <a:pt x="2854223" y="479386"/>
                  </a:lnTo>
                  <a:lnTo>
                    <a:pt x="2850019" y="478116"/>
                  </a:lnTo>
                  <a:lnTo>
                    <a:pt x="2845270" y="476846"/>
                  </a:lnTo>
                  <a:lnTo>
                    <a:pt x="2845397" y="478116"/>
                  </a:lnTo>
                  <a:lnTo>
                    <a:pt x="2845511" y="479386"/>
                  </a:lnTo>
                  <a:lnTo>
                    <a:pt x="2845625" y="480656"/>
                  </a:lnTo>
                  <a:lnTo>
                    <a:pt x="2845752" y="481926"/>
                  </a:lnTo>
                  <a:lnTo>
                    <a:pt x="2845866" y="483196"/>
                  </a:lnTo>
                  <a:lnTo>
                    <a:pt x="2842310" y="483196"/>
                  </a:lnTo>
                  <a:lnTo>
                    <a:pt x="2837573" y="484466"/>
                  </a:lnTo>
                  <a:lnTo>
                    <a:pt x="2837573" y="483196"/>
                  </a:lnTo>
                  <a:lnTo>
                    <a:pt x="2837573" y="479386"/>
                  </a:lnTo>
                  <a:lnTo>
                    <a:pt x="2833420" y="478116"/>
                  </a:lnTo>
                  <a:lnTo>
                    <a:pt x="2829280" y="478116"/>
                  </a:lnTo>
                  <a:lnTo>
                    <a:pt x="2836392" y="481926"/>
                  </a:lnTo>
                  <a:lnTo>
                    <a:pt x="2835198" y="483196"/>
                  </a:lnTo>
                  <a:lnTo>
                    <a:pt x="2829280" y="480656"/>
                  </a:lnTo>
                  <a:lnTo>
                    <a:pt x="2831058" y="479386"/>
                  </a:lnTo>
                  <a:lnTo>
                    <a:pt x="2829280" y="478116"/>
                  </a:lnTo>
                  <a:lnTo>
                    <a:pt x="2827502" y="476846"/>
                  </a:lnTo>
                  <a:lnTo>
                    <a:pt x="2824530" y="478116"/>
                  </a:lnTo>
                  <a:lnTo>
                    <a:pt x="2820924" y="477570"/>
                  </a:lnTo>
                  <a:lnTo>
                    <a:pt x="2818320" y="474980"/>
                  </a:lnTo>
                  <a:lnTo>
                    <a:pt x="2795689" y="452094"/>
                  </a:lnTo>
                  <a:lnTo>
                    <a:pt x="2793136" y="449580"/>
                  </a:lnTo>
                  <a:lnTo>
                    <a:pt x="2777566" y="434340"/>
                  </a:lnTo>
                  <a:lnTo>
                    <a:pt x="2768981" y="425945"/>
                  </a:lnTo>
                  <a:lnTo>
                    <a:pt x="2768981" y="518655"/>
                  </a:lnTo>
                  <a:lnTo>
                    <a:pt x="2768841" y="518756"/>
                  </a:lnTo>
                  <a:lnTo>
                    <a:pt x="2765882" y="518756"/>
                  </a:lnTo>
                  <a:lnTo>
                    <a:pt x="2766466" y="523836"/>
                  </a:lnTo>
                  <a:lnTo>
                    <a:pt x="2758770" y="522566"/>
                  </a:lnTo>
                  <a:lnTo>
                    <a:pt x="2761132" y="527646"/>
                  </a:lnTo>
                  <a:lnTo>
                    <a:pt x="2755811" y="527646"/>
                  </a:lnTo>
                  <a:lnTo>
                    <a:pt x="2752839" y="523836"/>
                  </a:lnTo>
                  <a:lnTo>
                    <a:pt x="2755811" y="521296"/>
                  </a:lnTo>
                  <a:lnTo>
                    <a:pt x="2759049" y="517804"/>
                  </a:lnTo>
                  <a:lnTo>
                    <a:pt x="2768981" y="518655"/>
                  </a:lnTo>
                  <a:lnTo>
                    <a:pt x="2768981" y="425945"/>
                  </a:lnTo>
                  <a:lnTo>
                    <a:pt x="2760700" y="417830"/>
                  </a:lnTo>
                  <a:lnTo>
                    <a:pt x="2743949" y="401320"/>
                  </a:lnTo>
                  <a:lnTo>
                    <a:pt x="2726766" y="384810"/>
                  </a:lnTo>
                  <a:lnTo>
                    <a:pt x="2738615" y="402590"/>
                  </a:lnTo>
                  <a:lnTo>
                    <a:pt x="2749283" y="417830"/>
                  </a:lnTo>
                  <a:lnTo>
                    <a:pt x="2739644" y="408940"/>
                  </a:lnTo>
                  <a:lnTo>
                    <a:pt x="2730322" y="400050"/>
                  </a:lnTo>
                  <a:lnTo>
                    <a:pt x="2721457" y="391160"/>
                  </a:lnTo>
                  <a:lnTo>
                    <a:pt x="2713139" y="382270"/>
                  </a:lnTo>
                  <a:lnTo>
                    <a:pt x="2698483" y="365760"/>
                  </a:lnTo>
                  <a:lnTo>
                    <a:pt x="2693886" y="360680"/>
                  </a:lnTo>
                  <a:lnTo>
                    <a:pt x="2684703" y="350520"/>
                  </a:lnTo>
                  <a:lnTo>
                    <a:pt x="2680551" y="345440"/>
                  </a:lnTo>
                  <a:lnTo>
                    <a:pt x="2675813" y="340360"/>
                  </a:lnTo>
                  <a:lnTo>
                    <a:pt x="2671661" y="335280"/>
                  </a:lnTo>
                  <a:lnTo>
                    <a:pt x="2668701" y="331470"/>
                  </a:lnTo>
                  <a:lnTo>
                    <a:pt x="2666339" y="328930"/>
                  </a:lnTo>
                  <a:lnTo>
                    <a:pt x="2663367" y="325120"/>
                  </a:lnTo>
                  <a:lnTo>
                    <a:pt x="2659227" y="320040"/>
                  </a:lnTo>
                  <a:lnTo>
                    <a:pt x="2655671" y="314960"/>
                  </a:lnTo>
                  <a:lnTo>
                    <a:pt x="2651518" y="309880"/>
                  </a:lnTo>
                  <a:lnTo>
                    <a:pt x="2641981" y="297180"/>
                  </a:lnTo>
                  <a:lnTo>
                    <a:pt x="2640076" y="294640"/>
                  </a:lnTo>
                  <a:lnTo>
                    <a:pt x="2628417" y="279400"/>
                  </a:lnTo>
                  <a:lnTo>
                    <a:pt x="2626322" y="276860"/>
                  </a:lnTo>
                  <a:lnTo>
                    <a:pt x="2615857" y="264160"/>
                  </a:lnTo>
                  <a:lnTo>
                    <a:pt x="2601747" y="246380"/>
                  </a:lnTo>
                  <a:lnTo>
                    <a:pt x="2604706" y="248920"/>
                  </a:lnTo>
                  <a:lnTo>
                    <a:pt x="2603525" y="246380"/>
                  </a:lnTo>
                  <a:lnTo>
                    <a:pt x="2602928" y="245110"/>
                  </a:lnTo>
                  <a:lnTo>
                    <a:pt x="2597607" y="243840"/>
                  </a:lnTo>
                  <a:lnTo>
                    <a:pt x="2588120" y="232410"/>
                  </a:lnTo>
                  <a:lnTo>
                    <a:pt x="2564803" y="194310"/>
                  </a:lnTo>
                  <a:lnTo>
                    <a:pt x="2548572" y="157480"/>
                  </a:lnTo>
                  <a:lnTo>
                    <a:pt x="2546058" y="151130"/>
                  </a:lnTo>
                  <a:lnTo>
                    <a:pt x="2546642" y="149860"/>
                  </a:lnTo>
                  <a:lnTo>
                    <a:pt x="2544864" y="147320"/>
                  </a:lnTo>
                  <a:lnTo>
                    <a:pt x="2543683" y="147320"/>
                  </a:lnTo>
                  <a:lnTo>
                    <a:pt x="2541308" y="140970"/>
                  </a:lnTo>
                  <a:lnTo>
                    <a:pt x="2544864" y="153670"/>
                  </a:lnTo>
                  <a:lnTo>
                    <a:pt x="2524125" y="129540"/>
                  </a:lnTo>
                  <a:lnTo>
                    <a:pt x="2524722" y="127000"/>
                  </a:lnTo>
                  <a:lnTo>
                    <a:pt x="2525318" y="127000"/>
                  </a:lnTo>
                  <a:lnTo>
                    <a:pt x="2520569" y="119380"/>
                  </a:lnTo>
                  <a:lnTo>
                    <a:pt x="2512276" y="105410"/>
                  </a:lnTo>
                  <a:lnTo>
                    <a:pt x="2510701" y="102870"/>
                  </a:lnTo>
                  <a:lnTo>
                    <a:pt x="2507538" y="97790"/>
                  </a:lnTo>
                  <a:lnTo>
                    <a:pt x="2506357" y="86360"/>
                  </a:lnTo>
                  <a:lnTo>
                    <a:pt x="2495842" y="81280"/>
                  </a:lnTo>
                  <a:lnTo>
                    <a:pt x="2490355" y="74930"/>
                  </a:lnTo>
                  <a:lnTo>
                    <a:pt x="2485910" y="63500"/>
                  </a:lnTo>
                  <a:lnTo>
                    <a:pt x="2484424" y="59690"/>
                  </a:lnTo>
                  <a:lnTo>
                    <a:pt x="2482342" y="63500"/>
                  </a:lnTo>
                  <a:lnTo>
                    <a:pt x="2478798" y="59690"/>
                  </a:lnTo>
                  <a:lnTo>
                    <a:pt x="2475268" y="54610"/>
                  </a:lnTo>
                  <a:lnTo>
                    <a:pt x="2473172" y="54610"/>
                  </a:lnTo>
                  <a:lnTo>
                    <a:pt x="2473172" y="49530"/>
                  </a:lnTo>
                  <a:lnTo>
                    <a:pt x="2472575" y="46990"/>
                  </a:lnTo>
                  <a:lnTo>
                    <a:pt x="2465273" y="34290"/>
                  </a:lnTo>
                  <a:lnTo>
                    <a:pt x="2456802" y="19050"/>
                  </a:lnTo>
                  <a:lnTo>
                    <a:pt x="2448661" y="7620"/>
                  </a:lnTo>
                  <a:lnTo>
                    <a:pt x="2442362" y="0"/>
                  </a:lnTo>
                  <a:lnTo>
                    <a:pt x="2443061" y="2540"/>
                  </a:lnTo>
                  <a:lnTo>
                    <a:pt x="2444877" y="10160"/>
                  </a:lnTo>
                  <a:lnTo>
                    <a:pt x="2447366" y="20320"/>
                  </a:lnTo>
                  <a:lnTo>
                    <a:pt x="2450058" y="34290"/>
                  </a:lnTo>
                  <a:lnTo>
                    <a:pt x="2453221" y="48260"/>
                  </a:lnTo>
                  <a:lnTo>
                    <a:pt x="2458643" y="73660"/>
                  </a:lnTo>
                  <a:lnTo>
                    <a:pt x="2460142" y="83820"/>
                  </a:lnTo>
                  <a:lnTo>
                    <a:pt x="2455583" y="73660"/>
                  </a:lnTo>
                  <a:lnTo>
                    <a:pt x="2454808" y="73660"/>
                  </a:lnTo>
                  <a:lnTo>
                    <a:pt x="2455799" y="77470"/>
                  </a:lnTo>
                  <a:lnTo>
                    <a:pt x="2456472" y="82956"/>
                  </a:lnTo>
                  <a:lnTo>
                    <a:pt x="2455392" y="82727"/>
                  </a:lnTo>
                  <a:lnTo>
                    <a:pt x="2457767" y="85686"/>
                  </a:lnTo>
                  <a:lnTo>
                    <a:pt x="2458364" y="85090"/>
                  </a:lnTo>
                  <a:lnTo>
                    <a:pt x="2458364" y="83820"/>
                  </a:lnTo>
                  <a:lnTo>
                    <a:pt x="2458948" y="83820"/>
                  </a:lnTo>
                  <a:lnTo>
                    <a:pt x="2464282" y="97790"/>
                  </a:lnTo>
                  <a:lnTo>
                    <a:pt x="2460726" y="99060"/>
                  </a:lnTo>
                  <a:lnTo>
                    <a:pt x="2461920" y="104140"/>
                  </a:lnTo>
                  <a:lnTo>
                    <a:pt x="2462504" y="102870"/>
                  </a:lnTo>
                  <a:lnTo>
                    <a:pt x="2463101" y="104140"/>
                  </a:lnTo>
                  <a:lnTo>
                    <a:pt x="2463685" y="104140"/>
                  </a:lnTo>
                  <a:lnTo>
                    <a:pt x="2464282" y="102870"/>
                  </a:lnTo>
                  <a:lnTo>
                    <a:pt x="2465463" y="102870"/>
                  </a:lnTo>
                  <a:lnTo>
                    <a:pt x="2466441" y="104965"/>
                  </a:lnTo>
                  <a:lnTo>
                    <a:pt x="2466060" y="104584"/>
                  </a:lnTo>
                  <a:lnTo>
                    <a:pt x="2465463" y="105181"/>
                  </a:lnTo>
                  <a:lnTo>
                    <a:pt x="2465463" y="105778"/>
                  </a:lnTo>
                  <a:lnTo>
                    <a:pt x="2467229" y="106667"/>
                  </a:lnTo>
                  <a:lnTo>
                    <a:pt x="2466657" y="106680"/>
                  </a:lnTo>
                  <a:lnTo>
                    <a:pt x="2470213" y="110490"/>
                  </a:lnTo>
                  <a:lnTo>
                    <a:pt x="2474353" y="120650"/>
                  </a:lnTo>
                  <a:lnTo>
                    <a:pt x="2476728" y="124460"/>
                  </a:lnTo>
                  <a:lnTo>
                    <a:pt x="2473769" y="127000"/>
                  </a:lnTo>
                  <a:lnTo>
                    <a:pt x="2477973" y="130810"/>
                  </a:lnTo>
                  <a:lnTo>
                    <a:pt x="2496896" y="176530"/>
                  </a:lnTo>
                  <a:lnTo>
                    <a:pt x="2501315" y="189230"/>
                  </a:lnTo>
                  <a:lnTo>
                    <a:pt x="2505303" y="199390"/>
                  </a:lnTo>
                  <a:lnTo>
                    <a:pt x="2508720" y="205740"/>
                  </a:lnTo>
                  <a:lnTo>
                    <a:pt x="2513469" y="215900"/>
                  </a:lnTo>
                  <a:lnTo>
                    <a:pt x="2520505" y="226060"/>
                  </a:lnTo>
                  <a:lnTo>
                    <a:pt x="2528303" y="236220"/>
                  </a:lnTo>
                  <a:lnTo>
                    <a:pt x="2535390" y="247650"/>
                  </a:lnTo>
                  <a:lnTo>
                    <a:pt x="2542540" y="260350"/>
                  </a:lnTo>
                  <a:lnTo>
                    <a:pt x="2543683" y="266700"/>
                  </a:lnTo>
                  <a:lnTo>
                    <a:pt x="2543048" y="269240"/>
                  </a:lnTo>
                  <a:lnTo>
                    <a:pt x="2544864" y="276860"/>
                  </a:lnTo>
                  <a:lnTo>
                    <a:pt x="2548877" y="281940"/>
                  </a:lnTo>
                  <a:lnTo>
                    <a:pt x="2549385" y="280670"/>
                  </a:lnTo>
                  <a:lnTo>
                    <a:pt x="2549296" y="279400"/>
                  </a:lnTo>
                  <a:lnTo>
                    <a:pt x="2549118" y="276860"/>
                  </a:lnTo>
                  <a:lnTo>
                    <a:pt x="2550795" y="276860"/>
                  </a:lnTo>
                  <a:lnTo>
                    <a:pt x="2553157" y="281940"/>
                  </a:lnTo>
                  <a:lnTo>
                    <a:pt x="2554935" y="287020"/>
                  </a:lnTo>
                  <a:lnTo>
                    <a:pt x="2557310" y="292100"/>
                  </a:lnTo>
                  <a:lnTo>
                    <a:pt x="2559088" y="297180"/>
                  </a:lnTo>
                  <a:lnTo>
                    <a:pt x="2551379" y="287020"/>
                  </a:lnTo>
                  <a:lnTo>
                    <a:pt x="2553754" y="294640"/>
                  </a:lnTo>
                  <a:lnTo>
                    <a:pt x="2553754" y="295681"/>
                  </a:lnTo>
                  <a:lnTo>
                    <a:pt x="2552573" y="294259"/>
                  </a:lnTo>
                  <a:lnTo>
                    <a:pt x="2550198" y="291312"/>
                  </a:lnTo>
                  <a:lnTo>
                    <a:pt x="2548420" y="289534"/>
                  </a:lnTo>
                  <a:lnTo>
                    <a:pt x="2554935" y="300164"/>
                  </a:lnTo>
                  <a:lnTo>
                    <a:pt x="2555532" y="300164"/>
                  </a:lnTo>
                  <a:lnTo>
                    <a:pt x="2555532" y="299389"/>
                  </a:lnTo>
                  <a:lnTo>
                    <a:pt x="2557843" y="302260"/>
                  </a:lnTo>
                  <a:lnTo>
                    <a:pt x="2562047" y="309880"/>
                  </a:lnTo>
                  <a:lnTo>
                    <a:pt x="2570340" y="323850"/>
                  </a:lnTo>
                  <a:lnTo>
                    <a:pt x="2576271" y="332740"/>
                  </a:lnTo>
                  <a:lnTo>
                    <a:pt x="2581605" y="339090"/>
                  </a:lnTo>
                  <a:lnTo>
                    <a:pt x="2586342" y="339090"/>
                  </a:lnTo>
                  <a:lnTo>
                    <a:pt x="2593708" y="353060"/>
                  </a:lnTo>
                  <a:lnTo>
                    <a:pt x="2597670" y="360680"/>
                  </a:lnTo>
                  <a:lnTo>
                    <a:pt x="2600426" y="367030"/>
                  </a:lnTo>
                  <a:lnTo>
                    <a:pt x="2604122" y="372110"/>
                  </a:lnTo>
                  <a:lnTo>
                    <a:pt x="2602928" y="368300"/>
                  </a:lnTo>
                  <a:lnTo>
                    <a:pt x="2599385" y="361950"/>
                  </a:lnTo>
                  <a:lnTo>
                    <a:pt x="2599969" y="360680"/>
                  </a:lnTo>
                  <a:lnTo>
                    <a:pt x="2604122" y="370840"/>
                  </a:lnTo>
                  <a:lnTo>
                    <a:pt x="2603995" y="369570"/>
                  </a:lnTo>
                  <a:lnTo>
                    <a:pt x="2603881" y="368300"/>
                  </a:lnTo>
                  <a:lnTo>
                    <a:pt x="2603766" y="367030"/>
                  </a:lnTo>
                  <a:lnTo>
                    <a:pt x="2603639" y="365760"/>
                  </a:lnTo>
                  <a:lnTo>
                    <a:pt x="2603525" y="364490"/>
                  </a:lnTo>
                  <a:lnTo>
                    <a:pt x="2601747" y="360680"/>
                  </a:lnTo>
                  <a:lnTo>
                    <a:pt x="2603525" y="361950"/>
                  </a:lnTo>
                  <a:lnTo>
                    <a:pt x="2608262" y="367030"/>
                  </a:lnTo>
                  <a:lnTo>
                    <a:pt x="2608859" y="369570"/>
                  </a:lnTo>
                  <a:lnTo>
                    <a:pt x="2610637" y="370840"/>
                  </a:lnTo>
                  <a:lnTo>
                    <a:pt x="2611234" y="372110"/>
                  </a:lnTo>
                  <a:lnTo>
                    <a:pt x="2612415" y="373380"/>
                  </a:lnTo>
                  <a:lnTo>
                    <a:pt x="2614790" y="378460"/>
                  </a:lnTo>
                  <a:lnTo>
                    <a:pt x="2617152" y="382270"/>
                  </a:lnTo>
                  <a:lnTo>
                    <a:pt x="2618333" y="386080"/>
                  </a:lnTo>
                  <a:lnTo>
                    <a:pt x="2621305" y="393700"/>
                  </a:lnTo>
                  <a:lnTo>
                    <a:pt x="2621889" y="397510"/>
                  </a:lnTo>
                  <a:lnTo>
                    <a:pt x="2628417" y="398780"/>
                  </a:lnTo>
                  <a:lnTo>
                    <a:pt x="2626042" y="398780"/>
                  </a:lnTo>
                  <a:lnTo>
                    <a:pt x="2630779" y="400050"/>
                  </a:lnTo>
                  <a:lnTo>
                    <a:pt x="2635516" y="400050"/>
                  </a:lnTo>
                  <a:lnTo>
                    <a:pt x="2643822" y="402590"/>
                  </a:lnTo>
                  <a:lnTo>
                    <a:pt x="2647378" y="403860"/>
                  </a:lnTo>
                  <a:lnTo>
                    <a:pt x="2652699" y="407670"/>
                  </a:lnTo>
                  <a:lnTo>
                    <a:pt x="2651518" y="408940"/>
                  </a:lnTo>
                  <a:lnTo>
                    <a:pt x="2661005" y="416560"/>
                  </a:lnTo>
                  <a:lnTo>
                    <a:pt x="2661005" y="417830"/>
                  </a:lnTo>
                  <a:lnTo>
                    <a:pt x="2656255" y="415290"/>
                  </a:lnTo>
                  <a:lnTo>
                    <a:pt x="2655074" y="415290"/>
                  </a:lnTo>
                  <a:lnTo>
                    <a:pt x="2662186" y="421640"/>
                  </a:lnTo>
                  <a:lnTo>
                    <a:pt x="2667520" y="426720"/>
                  </a:lnTo>
                  <a:lnTo>
                    <a:pt x="2671661" y="431800"/>
                  </a:lnTo>
                  <a:lnTo>
                    <a:pt x="2675217" y="434340"/>
                  </a:lnTo>
                  <a:lnTo>
                    <a:pt x="2668701" y="431800"/>
                  </a:lnTo>
                  <a:lnTo>
                    <a:pt x="2662186" y="431800"/>
                  </a:lnTo>
                  <a:lnTo>
                    <a:pt x="2659227" y="430530"/>
                  </a:lnTo>
                  <a:lnTo>
                    <a:pt x="2655671" y="430530"/>
                  </a:lnTo>
                  <a:lnTo>
                    <a:pt x="2662923" y="433070"/>
                  </a:lnTo>
                  <a:lnTo>
                    <a:pt x="2670670" y="436880"/>
                  </a:lnTo>
                  <a:lnTo>
                    <a:pt x="2679966" y="440690"/>
                  </a:lnTo>
                  <a:lnTo>
                    <a:pt x="2689720" y="443230"/>
                  </a:lnTo>
                  <a:lnTo>
                    <a:pt x="2697873" y="446887"/>
                  </a:lnTo>
                  <a:lnTo>
                    <a:pt x="2697657" y="446887"/>
                  </a:lnTo>
                  <a:lnTo>
                    <a:pt x="2699169" y="447344"/>
                  </a:lnTo>
                  <a:lnTo>
                    <a:pt x="2700502" y="447725"/>
                  </a:lnTo>
                  <a:lnTo>
                    <a:pt x="2697518" y="446887"/>
                  </a:lnTo>
                  <a:lnTo>
                    <a:pt x="2677388" y="443230"/>
                  </a:lnTo>
                  <a:lnTo>
                    <a:pt x="2666923" y="440690"/>
                  </a:lnTo>
                  <a:lnTo>
                    <a:pt x="2655671" y="438150"/>
                  </a:lnTo>
                  <a:lnTo>
                    <a:pt x="2647962" y="436880"/>
                  </a:lnTo>
                  <a:lnTo>
                    <a:pt x="2650921" y="440690"/>
                  </a:lnTo>
                  <a:lnTo>
                    <a:pt x="2646781" y="438150"/>
                  </a:lnTo>
                  <a:lnTo>
                    <a:pt x="2642628" y="436880"/>
                  </a:lnTo>
                  <a:lnTo>
                    <a:pt x="2639072" y="435610"/>
                  </a:lnTo>
                  <a:lnTo>
                    <a:pt x="2634932" y="434340"/>
                  </a:lnTo>
                  <a:lnTo>
                    <a:pt x="2620708" y="430530"/>
                  </a:lnTo>
                  <a:lnTo>
                    <a:pt x="2617749" y="429260"/>
                  </a:lnTo>
                  <a:lnTo>
                    <a:pt x="2614790" y="429260"/>
                  </a:lnTo>
                  <a:lnTo>
                    <a:pt x="2613596" y="430530"/>
                  </a:lnTo>
                  <a:lnTo>
                    <a:pt x="2613012" y="433070"/>
                  </a:lnTo>
                  <a:lnTo>
                    <a:pt x="2614790" y="435610"/>
                  </a:lnTo>
                  <a:lnTo>
                    <a:pt x="2608262" y="433070"/>
                  </a:lnTo>
                  <a:lnTo>
                    <a:pt x="2598940" y="429260"/>
                  </a:lnTo>
                  <a:lnTo>
                    <a:pt x="2595829" y="427990"/>
                  </a:lnTo>
                  <a:lnTo>
                    <a:pt x="2592857" y="426720"/>
                  </a:lnTo>
                  <a:lnTo>
                    <a:pt x="2604122" y="426720"/>
                  </a:lnTo>
                  <a:lnTo>
                    <a:pt x="2597607" y="425450"/>
                  </a:lnTo>
                  <a:lnTo>
                    <a:pt x="2589301" y="422910"/>
                  </a:lnTo>
                  <a:lnTo>
                    <a:pt x="2587523" y="421640"/>
                  </a:lnTo>
                  <a:lnTo>
                    <a:pt x="2585745" y="420370"/>
                  </a:lnTo>
                  <a:lnTo>
                    <a:pt x="2582202" y="419100"/>
                  </a:lnTo>
                  <a:lnTo>
                    <a:pt x="2579230" y="416991"/>
                  </a:lnTo>
                  <a:lnTo>
                    <a:pt x="2579230" y="417830"/>
                  </a:lnTo>
                  <a:lnTo>
                    <a:pt x="2578646" y="417830"/>
                  </a:lnTo>
                  <a:lnTo>
                    <a:pt x="2578646" y="418934"/>
                  </a:lnTo>
                  <a:lnTo>
                    <a:pt x="2576271" y="418934"/>
                  </a:lnTo>
                  <a:lnTo>
                    <a:pt x="2575090" y="418350"/>
                  </a:lnTo>
                  <a:lnTo>
                    <a:pt x="2570340" y="417753"/>
                  </a:lnTo>
                  <a:lnTo>
                    <a:pt x="2565019" y="417753"/>
                  </a:lnTo>
                  <a:lnTo>
                    <a:pt x="2558491" y="417156"/>
                  </a:lnTo>
                  <a:lnTo>
                    <a:pt x="2557310" y="420712"/>
                  </a:lnTo>
                  <a:lnTo>
                    <a:pt x="2575674" y="420712"/>
                  </a:lnTo>
                  <a:lnTo>
                    <a:pt x="2575674" y="421640"/>
                  </a:lnTo>
                  <a:lnTo>
                    <a:pt x="2557907" y="421640"/>
                  </a:lnTo>
                  <a:lnTo>
                    <a:pt x="2544965" y="420370"/>
                  </a:lnTo>
                  <a:lnTo>
                    <a:pt x="2531681" y="420370"/>
                  </a:lnTo>
                  <a:lnTo>
                    <a:pt x="2516403" y="419100"/>
                  </a:lnTo>
                  <a:lnTo>
                    <a:pt x="2497467" y="415290"/>
                  </a:lnTo>
                  <a:lnTo>
                    <a:pt x="2489758" y="420370"/>
                  </a:lnTo>
                  <a:lnTo>
                    <a:pt x="2468435" y="415290"/>
                  </a:lnTo>
                  <a:lnTo>
                    <a:pt x="2468435" y="410210"/>
                  </a:lnTo>
                  <a:lnTo>
                    <a:pt x="2487053" y="411480"/>
                  </a:lnTo>
                  <a:lnTo>
                    <a:pt x="2509837" y="412750"/>
                  </a:lnTo>
                  <a:lnTo>
                    <a:pt x="2533840" y="412750"/>
                  </a:lnTo>
                  <a:lnTo>
                    <a:pt x="2556129" y="414020"/>
                  </a:lnTo>
                  <a:lnTo>
                    <a:pt x="2556713" y="411480"/>
                  </a:lnTo>
                  <a:lnTo>
                    <a:pt x="2520975" y="411480"/>
                  </a:lnTo>
                  <a:lnTo>
                    <a:pt x="2511691" y="410210"/>
                  </a:lnTo>
                  <a:lnTo>
                    <a:pt x="2506802" y="408940"/>
                  </a:lnTo>
                  <a:lnTo>
                    <a:pt x="2501989" y="406400"/>
                  </a:lnTo>
                  <a:lnTo>
                    <a:pt x="2500960" y="405130"/>
                  </a:lnTo>
                  <a:lnTo>
                    <a:pt x="2499931" y="403860"/>
                  </a:lnTo>
                  <a:lnTo>
                    <a:pt x="2503386" y="401320"/>
                  </a:lnTo>
                  <a:lnTo>
                    <a:pt x="2493314" y="405130"/>
                  </a:lnTo>
                  <a:lnTo>
                    <a:pt x="2461539" y="403860"/>
                  </a:lnTo>
                  <a:lnTo>
                    <a:pt x="2439466" y="402590"/>
                  </a:lnTo>
                  <a:lnTo>
                    <a:pt x="2417076" y="400050"/>
                  </a:lnTo>
                  <a:lnTo>
                    <a:pt x="2400681" y="397510"/>
                  </a:lnTo>
                  <a:lnTo>
                    <a:pt x="2384298" y="394970"/>
                  </a:lnTo>
                  <a:lnTo>
                    <a:pt x="2389035" y="397510"/>
                  </a:lnTo>
                  <a:lnTo>
                    <a:pt x="2373261" y="397510"/>
                  </a:lnTo>
                  <a:lnTo>
                    <a:pt x="2367457" y="396240"/>
                  </a:lnTo>
                  <a:lnTo>
                    <a:pt x="2364143" y="394970"/>
                  </a:lnTo>
                  <a:lnTo>
                    <a:pt x="2339175" y="392430"/>
                  </a:lnTo>
                  <a:lnTo>
                    <a:pt x="2314968" y="388620"/>
                  </a:lnTo>
                  <a:lnTo>
                    <a:pt x="2292985" y="384810"/>
                  </a:lnTo>
                  <a:lnTo>
                    <a:pt x="2274671" y="379730"/>
                  </a:lnTo>
                  <a:lnTo>
                    <a:pt x="2269350" y="384810"/>
                  </a:lnTo>
                  <a:lnTo>
                    <a:pt x="2263597" y="383540"/>
                  </a:lnTo>
                  <a:lnTo>
                    <a:pt x="2257564" y="381000"/>
                  </a:lnTo>
                  <a:lnTo>
                    <a:pt x="2252091" y="381000"/>
                  </a:lnTo>
                  <a:lnTo>
                    <a:pt x="2248014" y="383540"/>
                  </a:lnTo>
                  <a:lnTo>
                    <a:pt x="2232609" y="384810"/>
                  </a:lnTo>
                  <a:lnTo>
                    <a:pt x="2213279" y="384810"/>
                  </a:lnTo>
                  <a:lnTo>
                    <a:pt x="2205939" y="383540"/>
                  </a:lnTo>
                  <a:lnTo>
                    <a:pt x="2205355" y="383540"/>
                  </a:lnTo>
                  <a:lnTo>
                    <a:pt x="2204758" y="382270"/>
                  </a:lnTo>
                  <a:lnTo>
                    <a:pt x="2204174" y="382270"/>
                  </a:lnTo>
                  <a:lnTo>
                    <a:pt x="2204174" y="383540"/>
                  </a:lnTo>
                  <a:lnTo>
                    <a:pt x="2194534" y="382270"/>
                  </a:lnTo>
                  <a:lnTo>
                    <a:pt x="2192832" y="383540"/>
                  </a:lnTo>
                  <a:lnTo>
                    <a:pt x="2190585" y="384810"/>
                  </a:lnTo>
                  <a:lnTo>
                    <a:pt x="2179282" y="383540"/>
                  </a:lnTo>
                  <a:lnTo>
                    <a:pt x="2174367" y="383540"/>
                  </a:lnTo>
                  <a:lnTo>
                    <a:pt x="2165197" y="388620"/>
                  </a:lnTo>
                  <a:lnTo>
                    <a:pt x="2157946" y="388620"/>
                  </a:lnTo>
                  <a:lnTo>
                    <a:pt x="2152027" y="384810"/>
                  </a:lnTo>
                  <a:lnTo>
                    <a:pt x="2146096" y="381000"/>
                  </a:lnTo>
                  <a:lnTo>
                    <a:pt x="2132279" y="378460"/>
                  </a:lnTo>
                  <a:lnTo>
                    <a:pt x="2120849" y="379730"/>
                  </a:lnTo>
                  <a:lnTo>
                    <a:pt x="2107527" y="381000"/>
                  </a:lnTo>
                  <a:lnTo>
                    <a:pt x="2088032" y="381000"/>
                  </a:lnTo>
                  <a:lnTo>
                    <a:pt x="2078177" y="378460"/>
                  </a:lnTo>
                  <a:lnTo>
                    <a:pt x="2072335" y="373380"/>
                  </a:lnTo>
                  <a:lnTo>
                    <a:pt x="2072005" y="372110"/>
                  </a:lnTo>
                  <a:lnTo>
                    <a:pt x="2071370" y="369570"/>
                  </a:lnTo>
                  <a:lnTo>
                    <a:pt x="2076183" y="364490"/>
                  </a:lnTo>
                  <a:lnTo>
                    <a:pt x="2068868" y="368300"/>
                  </a:lnTo>
                  <a:lnTo>
                    <a:pt x="2065223" y="370840"/>
                  </a:lnTo>
                  <a:lnTo>
                    <a:pt x="2060689" y="370840"/>
                  </a:lnTo>
                  <a:lnTo>
                    <a:pt x="2050707" y="372110"/>
                  </a:lnTo>
                  <a:lnTo>
                    <a:pt x="2047748" y="369570"/>
                  </a:lnTo>
                  <a:lnTo>
                    <a:pt x="2050110" y="368300"/>
                  </a:lnTo>
                  <a:lnTo>
                    <a:pt x="2054263" y="365760"/>
                  </a:lnTo>
                  <a:lnTo>
                    <a:pt x="2045487" y="364490"/>
                  </a:lnTo>
                  <a:lnTo>
                    <a:pt x="2041448" y="365760"/>
                  </a:lnTo>
                  <a:lnTo>
                    <a:pt x="2038184" y="367030"/>
                  </a:lnTo>
                  <a:lnTo>
                    <a:pt x="2035797" y="367030"/>
                  </a:lnTo>
                  <a:lnTo>
                    <a:pt x="2031746" y="367030"/>
                  </a:lnTo>
                  <a:lnTo>
                    <a:pt x="2027593" y="373380"/>
                  </a:lnTo>
                  <a:lnTo>
                    <a:pt x="2023452" y="382270"/>
                  </a:lnTo>
                  <a:lnTo>
                    <a:pt x="2019300" y="382270"/>
                  </a:lnTo>
                  <a:lnTo>
                    <a:pt x="2024037" y="383540"/>
                  </a:lnTo>
                  <a:lnTo>
                    <a:pt x="2013953" y="384810"/>
                  </a:lnTo>
                  <a:lnTo>
                    <a:pt x="1992210" y="384810"/>
                  </a:lnTo>
                  <a:lnTo>
                    <a:pt x="1980793" y="382270"/>
                  </a:lnTo>
                  <a:lnTo>
                    <a:pt x="1981377" y="379730"/>
                  </a:lnTo>
                  <a:lnTo>
                    <a:pt x="1967166" y="382270"/>
                  </a:lnTo>
                  <a:lnTo>
                    <a:pt x="1966861" y="381000"/>
                  </a:lnTo>
                  <a:lnTo>
                    <a:pt x="1966569" y="379730"/>
                  </a:lnTo>
                  <a:lnTo>
                    <a:pt x="1943455" y="379730"/>
                  </a:lnTo>
                  <a:lnTo>
                    <a:pt x="1946427" y="381000"/>
                  </a:lnTo>
                  <a:lnTo>
                    <a:pt x="1931314" y="381000"/>
                  </a:lnTo>
                  <a:lnTo>
                    <a:pt x="1921421" y="379730"/>
                  </a:lnTo>
                  <a:lnTo>
                    <a:pt x="1912645" y="378460"/>
                  </a:lnTo>
                  <a:lnTo>
                    <a:pt x="1913242" y="377190"/>
                  </a:lnTo>
                  <a:lnTo>
                    <a:pt x="1906320" y="375920"/>
                  </a:lnTo>
                  <a:lnTo>
                    <a:pt x="1892465" y="373380"/>
                  </a:lnTo>
                  <a:lnTo>
                    <a:pt x="1871916" y="373380"/>
                  </a:lnTo>
                  <a:lnTo>
                    <a:pt x="1826145" y="375920"/>
                  </a:lnTo>
                  <a:lnTo>
                    <a:pt x="1827720" y="374650"/>
                  </a:lnTo>
                  <a:lnTo>
                    <a:pt x="1830882" y="372110"/>
                  </a:lnTo>
                  <a:lnTo>
                    <a:pt x="1825358" y="370840"/>
                  </a:lnTo>
                  <a:lnTo>
                    <a:pt x="1820545" y="374650"/>
                  </a:lnTo>
                  <a:lnTo>
                    <a:pt x="1813699" y="374650"/>
                  </a:lnTo>
                  <a:lnTo>
                    <a:pt x="1813407" y="372110"/>
                  </a:lnTo>
                  <a:lnTo>
                    <a:pt x="1813102" y="369570"/>
                  </a:lnTo>
                  <a:lnTo>
                    <a:pt x="1805317" y="372110"/>
                  </a:lnTo>
                  <a:lnTo>
                    <a:pt x="1799704" y="370840"/>
                  </a:lnTo>
                  <a:lnTo>
                    <a:pt x="1794852" y="368300"/>
                  </a:lnTo>
                  <a:lnTo>
                    <a:pt x="1789404" y="364490"/>
                  </a:lnTo>
                  <a:lnTo>
                    <a:pt x="1792960" y="372110"/>
                  </a:lnTo>
                  <a:lnTo>
                    <a:pt x="1777555" y="369570"/>
                  </a:lnTo>
                  <a:lnTo>
                    <a:pt x="1773161" y="368300"/>
                  </a:lnTo>
                  <a:lnTo>
                    <a:pt x="1768767" y="367030"/>
                  </a:lnTo>
                  <a:lnTo>
                    <a:pt x="1766366" y="364490"/>
                  </a:lnTo>
                  <a:lnTo>
                    <a:pt x="1767217" y="361950"/>
                  </a:lnTo>
                  <a:lnTo>
                    <a:pt x="1767636" y="360680"/>
                  </a:lnTo>
                  <a:lnTo>
                    <a:pt x="1769846" y="356870"/>
                  </a:lnTo>
                  <a:lnTo>
                    <a:pt x="1757997" y="361950"/>
                  </a:lnTo>
                  <a:lnTo>
                    <a:pt x="1756816" y="359410"/>
                  </a:lnTo>
                  <a:lnTo>
                    <a:pt x="1755635" y="356870"/>
                  </a:lnTo>
                  <a:lnTo>
                    <a:pt x="1750339" y="359410"/>
                  </a:lnTo>
                  <a:lnTo>
                    <a:pt x="1746224" y="358140"/>
                  </a:lnTo>
                  <a:lnTo>
                    <a:pt x="1740877" y="356870"/>
                  </a:lnTo>
                  <a:lnTo>
                    <a:pt x="1731924" y="358140"/>
                  </a:lnTo>
                  <a:lnTo>
                    <a:pt x="1731340" y="356870"/>
                  </a:lnTo>
                  <a:lnTo>
                    <a:pt x="1730743" y="355600"/>
                  </a:lnTo>
                  <a:lnTo>
                    <a:pt x="1734896" y="354330"/>
                  </a:lnTo>
                  <a:lnTo>
                    <a:pt x="1729562" y="353060"/>
                  </a:lnTo>
                  <a:lnTo>
                    <a:pt x="1704086" y="360680"/>
                  </a:lnTo>
                  <a:lnTo>
                    <a:pt x="1719491" y="356870"/>
                  </a:lnTo>
                  <a:lnTo>
                    <a:pt x="1717116" y="365760"/>
                  </a:lnTo>
                  <a:lnTo>
                    <a:pt x="1706854" y="368300"/>
                  </a:lnTo>
                  <a:lnTo>
                    <a:pt x="1699044" y="367030"/>
                  </a:lnTo>
                  <a:lnTo>
                    <a:pt x="1692122" y="365760"/>
                  </a:lnTo>
                  <a:lnTo>
                    <a:pt x="1684528" y="365760"/>
                  </a:lnTo>
                  <a:lnTo>
                    <a:pt x="1688376" y="364490"/>
                  </a:lnTo>
                  <a:lnTo>
                    <a:pt x="1692236" y="363220"/>
                  </a:lnTo>
                  <a:lnTo>
                    <a:pt x="1681353" y="363220"/>
                  </a:lnTo>
                  <a:lnTo>
                    <a:pt x="1674533" y="361950"/>
                  </a:lnTo>
                  <a:lnTo>
                    <a:pt x="1669148" y="360680"/>
                  </a:lnTo>
                  <a:lnTo>
                    <a:pt x="1662607" y="358140"/>
                  </a:lnTo>
                  <a:lnTo>
                    <a:pt x="1665566" y="360680"/>
                  </a:lnTo>
                  <a:lnTo>
                    <a:pt x="1670304" y="363220"/>
                  </a:lnTo>
                  <a:lnTo>
                    <a:pt x="1663192" y="364490"/>
                  </a:lnTo>
                  <a:lnTo>
                    <a:pt x="1657870" y="364490"/>
                  </a:lnTo>
                  <a:lnTo>
                    <a:pt x="1660232" y="360680"/>
                  </a:lnTo>
                  <a:lnTo>
                    <a:pt x="1655495" y="359410"/>
                  </a:lnTo>
                  <a:lnTo>
                    <a:pt x="1652498" y="363220"/>
                  </a:lnTo>
                  <a:lnTo>
                    <a:pt x="1646161" y="365760"/>
                  </a:lnTo>
                  <a:lnTo>
                    <a:pt x="1637830" y="365760"/>
                  </a:lnTo>
                  <a:lnTo>
                    <a:pt x="1628825" y="364490"/>
                  </a:lnTo>
                  <a:lnTo>
                    <a:pt x="1629270" y="363537"/>
                  </a:lnTo>
                  <a:lnTo>
                    <a:pt x="1627060" y="364490"/>
                  </a:lnTo>
                  <a:lnTo>
                    <a:pt x="1625282" y="365760"/>
                  </a:lnTo>
                  <a:lnTo>
                    <a:pt x="1619948" y="364490"/>
                  </a:lnTo>
                  <a:lnTo>
                    <a:pt x="1620532" y="363220"/>
                  </a:lnTo>
                  <a:lnTo>
                    <a:pt x="1623504" y="356870"/>
                  </a:lnTo>
                  <a:lnTo>
                    <a:pt x="1613420" y="363220"/>
                  </a:lnTo>
                  <a:lnTo>
                    <a:pt x="1606905" y="361950"/>
                  </a:lnTo>
                  <a:lnTo>
                    <a:pt x="1596834" y="365760"/>
                  </a:lnTo>
                  <a:lnTo>
                    <a:pt x="1597431" y="361950"/>
                  </a:lnTo>
                  <a:lnTo>
                    <a:pt x="1601571" y="360680"/>
                  </a:lnTo>
                  <a:lnTo>
                    <a:pt x="1550619" y="356870"/>
                  </a:lnTo>
                  <a:lnTo>
                    <a:pt x="1550327" y="354330"/>
                  </a:lnTo>
                  <a:lnTo>
                    <a:pt x="1550022" y="351790"/>
                  </a:lnTo>
                  <a:lnTo>
                    <a:pt x="1543443" y="354330"/>
                  </a:lnTo>
                  <a:lnTo>
                    <a:pt x="1534248" y="353060"/>
                  </a:lnTo>
                  <a:lnTo>
                    <a:pt x="1526273" y="353060"/>
                  </a:lnTo>
                  <a:lnTo>
                    <a:pt x="1523365" y="356870"/>
                  </a:lnTo>
                  <a:lnTo>
                    <a:pt x="1513535" y="354330"/>
                  </a:lnTo>
                  <a:lnTo>
                    <a:pt x="1492529" y="354330"/>
                  </a:lnTo>
                  <a:lnTo>
                    <a:pt x="1491945" y="351790"/>
                  </a:lnTo>
                  <a:lnTo>
                    <a:pt x="1491361" y="349250"/>
                  </a:lnTo>
                  <a:lnTo>
                    <a:pt x="1468335" y="349250"/>
                  </a:lnTo>
                  <a:lnTo>
                    <a:pt x="1447520" y="351790"/>
                  </a:lnTo>
                  <a:lnTo>
                    <a:pt x="1425371" y="351790"/>
                  </a:lnTo>
                  <a:lnTo>
                    <a:pt x="1398346" y="350520"/>
                  </a:lnTo>
                  <a:lnTo>
                    <a:pt x="1390878" y="347980"/>
                  </a:lnTo>
                  <a:lnTo>
                    <a:pt x="1383423" y="345440"/>
                  </a:lnTo>
                  <a:lnTo>
                    <a:pt x="1362494" y="342900"/>
                  </a:lnTo>
                  <a:lnTo>
                    <a:pt x="1339354" y="342900"/>
                  </a:lnTo>
                  <a:lnTo>
                    <a:pt x="1317764" y="341630"/>
                  </a:lnTo>
                  <a:lnTo>
                    <a:pt x="1216774" y="345440"/>
                  </a:lnTo>
                  <a:lnTo>
                    <a:pt x="1180299" y="347980"/>
                  </a:lnTo>
                  <a:lnTo>
                    <a:pt x="1173772" y="346710"/>
                  </a:lnTo>
                  <a:lnTo>
                    <a:pt x="1160729" y="344170"/>
                  </a:lnTo>
                  <a:lnTo>
                    <a:pt x="1154201" y="342900"/>
                  </a:lnTo>
                  <a:lnTo>
                    <a:pt x="1124889" y="342900"/>
                  </a:lnTo>
                  <a:lnTo>
                    <a:pt x="1095133" y="344170"/>
                  </a:lnTo>
                  <a:lnTo>
                    <a:pt x="1067714" y="341630"/>
                  </a:lnTo>
                  <a:lnTo>
                    <a:pt x="1058240" y="346710"/>
                  </a:lnTo>
                  <a:lnTo>
                    <a:pt x="1051941" y="345440"/>
                  </a:lnTo>
                  <a:lnTo>
                    <a:pt x="1039342" y="342900"/>
                  </a:lnTo>
                  <a:lnTo>
                    <a:pt x="993571" y="342900"/>
                  </a:lnTo>
                  <a:lnTo>
                    <a:pt x="969352" y="339090"/>
                  </a:lnTo>
                  <a:lnTo>
                    <a:pt x="961656" y="340360"/>
                  </a:lnTo>
                  <a:lnTo>
                    <a:pt x="957503" y="341630"/>
                  </a:lnTo>
                  <a:lnTo>
                    <a:pt x="956919" y="341630"/>
                  </a:lnTo>
                  <a:lnTo>
                    <a:pt x="959281" y="342900"/>
                  </a:lnTo>
                  <a:lnTo>
                    <a:pt x="959878" y="345440"/>
                  </a:lnTo>
                  <a:lnTo>
                    <a:pt x="951890" y="344170"/>
                  </a:lnTo>
                  <a:lnTo>
                    <a:pt x="943063" y="344170"/>
                  </a:lnTo>
                  <a:lnTo>
                    <a:pt x="936129" y="342900"/>
                  </a:lnTo>
                  <a:lnTo>
                    <a:pt x="933805" y="339090"/>
                  </a:lnTo>
                  <a:lnTo>
                    <a:pt x="936180" y="339090"/>
                  </a:lnTo>
                  <a:lnTo>
                    <a:pt x="934212" y="337820"/>
                  </a:lnTo>
                  <a:lnTo>
                    <a:pt x="932256" y="336550"/>
                  </a:lnTo>
                  <a:lnTo>
                    <a:pt x="909091" y="337820"/>
                  </a:lnTo>
                  <a:lnTo>
                    <a:pt x="898842" y="336550"/>
                  </a:lnTo>
                  <a:lnTo>
                    <a:pt x="904176" y="342900"/>
                  </a:lnTo>
                  <a:lnTo>
                    <a:pt x="886993" y="341630"/>
                  </a:lnTo>
                  <a:lnTo>
                    <a:pt x="891743" y="340360"/>
                  </a:lnTo>
                  <a:lnTo>
                    <a:pt x="842289" y="344170"/>
                  </a:lnTo>
                  <a:lnTo>
                    <a:pt x="801001" y="342900"/>
                  </a:lnTo>
                  <a:lnTo>
                    <a:pt x="760501" y="340360"/>
                  </a:lnTo>
                  <a:lnTo>
                    <a:pt x="713384" y="344170"/>
                  </a:lnTo>
                  <a:lnTo>
                    <a:pt x="714311" y="342900"/>
                  </a:lnTo>
                  <a:lnTo>
                    <a:pt x="715238" y="341630"/>
                  </a:lnTo>
                  <a:lnTo>
                    <a:pt x="709980" y="342900"/>
                  </a:lnTo>
                  <a:lnTo>
                    <a:pt x="702729" y="342900"/>
                  </a:lnTo>
                  <a:lnTo>
                    <a:pt x="698576" y="340360"/>
                  </a:lnTo>
                  <a:lnTo>
                    <a:pt x="685749" y="336550"/>
                  </a:lnTo>
                  <a:lnTo>
                    <a:pt x="673760" y="337820"/>
                  </a:lnTo>
                  <a:lnTo>
                    <a:pt x="662330" y="341630"/>
                  </a:lnTo>
                  <a:lnTo>
                    <a:pt x="651179" y="344170"/>
                  </a:lnTo>
                  <a:lnTo>
                    <a:pt x="651179" y="345440"/>
                  </a:lnTo>
                  <a:lnTo>
                    <a:pt x="650582" y="345440"/>
                  </a:lnTo>
                  <a:lnTo>
                    <a:pt x="650582" y="344487"/>
                  </a:lnTo>
                  <a:lnTo>
                    <a:pt x="644652" y="344487"/>
                  </a:lnTo>
                  <a:lnTo>
                    <a:pt x="640676" y="344982"/>
                  </a:lnTo>
                  <a:lnTo>
                    <a:pt x="624509" y="344170"/>
                  </a:lnTo>
                  <a:lnTo>
                    <a:pt x="628357" y="341630"/>
                  </a:lnTo>
                  <a:lnTo>
                    <a:pt x="622884" y="344170"/>
                  </a:lnTo>
                  <a:lnTo>
                    <a:pt x="617181" y="346710"/>
                  </a:lnTo>
                  <a:lnTo>
                    <a:pt x="620356" y="344170"/>
                  </a:lnTo>
                  <a:lnTo>
                    <a:pt x="599516" y="342900"/>
                  </a:lnTo>
                  <a:lnTo>
                    <a:pt x="578662" y="341630"/>
                  </a:lnTo>
                  <a:lnTo>
                    <a:pt x="533488" y="340360"/>
                  </a:lnTo>
                  <a:lnTo>
                    <a:pt x="438772" y="340360"/>
                  </a:lnTo>
                  <a:lnTo>
                    <a:pt x="392239" y="339090"/>
                  </a:lnTo>
                  <a:lnTo>
                    <a:pt x="395795" y="341630"/>
                  </a:lnTo>
                  <a:lnTo>
                    <a:pt x="380555" y="341630"/>
                  </a:lnTo>
                  <a:lnTo>
                    <a:pt x="364985" y="342900"/>
                  </a:lnTo>
                  <a:lnTo>
                    <a:pt x="350304" y="341630"/>
                  </a:lnTo>
                  <a:lnTo>
                    <a:pt x="337731" y="340360"/>
                  </a:lnTo>
                  <a:lnTo>
                    <a:pt x="326390" y="339090"/>
                  </a:lnTo>
                  <a:lnTo>
                    <a:pt x="315442" y="341630"/>
                  </a:lnTo>
                  <a:lnTo>
                    <a:pt x="306146" y="345440"/>
                  </a:lnTo>
                  <a:lnTo>
                    <a:pt x="299808" y="346710"/>
                  </a:lnTo>
                  <a:lnTo>
                    <a:pt x="288264" y="347980"/>
                  </a:lnTo>
                  <a:lnTo>
                    <a:pt x="278993" y="346710"/>
                  </a:lnTo>
                  <a:lnTo>
                    <a:pt x="274066" y="344170"/>
                  </a:lnTo>
                  <a:lnTo>
                    <a:pt x="275513" y="342900"/>
                  </a:lnTo>
                  <a:lnTo>
                    <a:pt x="248932" y="347980"/>
                  </a:lnTo>
                  <a:lnTo>
                    <a:pt x="234276" y="350520"/>
                  </a:lnTo>
                  <a:lnTo>
                    <a:pt x="217449" y="350520"/>
                  </a:lnTo>
                  <a:lnTo>
                    <a:pt x="212128" y="349250"/>
                  </a:lnTo>
                  <a:lnTo>
                    <a:pt x="203301" y="349250"/>
                  </a:lnTo>
                  <a:lnTo>
                    <a:pt x="192366" y="350520"/>
                  </a:lnTo>
                  <a:lnTo>
                    <a:pt x="169227" y="355600"/>
                  </a:lnTo>
                  <a:lnTo>
                    <a:pt x="159461" y="358140"/>
                  </a:lnTo>
                  <a:lnTo>
                    <a:pt x="152463" y="358140"/>
                  </a:lnTo>
                  <a:lnTo>
                    <a:pt x="150888" y="356870"/>
                  </a:lnTo>
                  <a:lnTo>
                    <a:pt x="149313" y="355600"/>
                  </a:lnTo>
                  <a:lnTo>
                    <a:pt x="149313" y="356870"/>
                  </a:lnTo>
                  <a:lnTo>
                    <a:pt x="148958" y="356819"/>
                  </a:lnTo>
                  <a:lnTo>
                    <a:pt x="149313" y="355117"/>
                  </a:lnTo>
                  <a:lnTo>
                    <a:pt x="148488" y="356755"/>
                  </a:lnTo>
                  <a:lnTo>
                    <a:pt x="141008" y="355600"/>
                  </a:lnTo>
                  <a:lnTo>
                    <a:pt x="125603" y="358140"/>
                  </a:lnTo>
                  <a:lnTo>
                    <a:pt x="121462" y="358140"/>
                  </a:lnTo>
                  <a:lnTo>
                    <a:pt x="117906" y="359410"/>
                  </a:lnTo>
                  <a:lnTo>
                    <a:pt x="113753" y="360680"/>
                  </a:lnTo>
                  <a:lnTo>
                    <a:pt x="110197" y="361950"/>
                  </a:lnTo>
                  <a:lnTo>
                    <a:pt x="101904" y="364490"/>
                  </a:lnTo>
                  <a:lnTo>
                    <a:pt x="90322" y="367030"/>
                  </a:lnTo>
                  <a:lnTo>
                    <a:pt x="78498" y="370840"/>
                  </a:lnTo>
                  <a:lnTo>
                    <a:pt x="66243" y="373380"/>
                  </a:lnTo>
                  <a:lnTo>
                    <a:pt x="53975" y="375793"/>
                  </a:lnTo>
                  <a:lnTo>
                    <a:pt x="54508" y="374650"/>
                  </a:lnTo>
                  <a:lnTo>
                    <a:pt x="50952" y="377190"/>
                  </a:lnTo>
                  <a:lnTo>
                    <a:pt x="45021" y="382270"/>
                  </a:lnTo>
                  <a:lnTo>
                    <a:pt x="40716" y="386080"/>
                  </a:lnTo>
                  <a:lnTo>
                    <a:pt x="35915" y="389890"/>
                  </a:lnTo>
                  <a:lnTo>
                    <a:pt x="30772" y="394970"/>
                  </a:lnTo>
                  <a:lnTo>
                    <a:pt x="25476" y="398780"/>
                  </a:lnTo>
                  <a:lnTo>
                    <a:pt x="21920" y="402590"/>
                  </a:lnTo>
                  <a:lnTo>
                    <a:pt x="18961" y="406400"/>
                  </a:lnTo>
                  <a:lnTo>
                    <a:pt x="15405" y="408940"/>
                  </a:lnTo>
                  <a:lnTo>
                    <a:pt x="7099" y="417830"/>
                  </a:lnTo>
                  <a:lnTo>
                    <a:pt x="2959" y="424180"/>
                  </a:lnTo>
                  <a:lnTo>
                    <a:pt x="0" y="427990"/>
                  </a:lnTo>
                  <a:lnTo>
                    <a:pt x="15405" y="436880"/>
                  </a:lnTo>
                  <a:lnTo>
                    <a:pt x="29400" y="446887"/>
                  </a:lnTo>
                  <a:lnTo>
                    <a:pt x="50660" y="446887"/>
                  </a:lnTo>
                  <a:lnTo>
                    <a:pt x="58648" y="448310"/>
                  </a:lnTo>
                  <a:lnTo>
                    <a:pt x="72872" y="449580"/>
                  </a:lnTo>
                  <a:lnTo>
                    <a:pt x="78206" y="450850"/>
                  </a:lnTo>
                  <a:lnTo>
                    <a:pt x="83540" y="450850"/>
                  </a:lnTo>
                  <a:lnTo>
                    <a:pt x="86995" y="452094"/>
                  </a:lnTo>
                  <a:lnTo>
                    <a:pt x="87147" y="452094"/>
                  </a:lnTo>
                  <a:lnTo>
                    <a:pt x="88874" y="450850"/>
                  </a:lnTo>
                  <a:lnTo>
                    <a:pt x="93014" y="449580"/>
                  </a:lnTo>
                  <a:lnTo>
                    <a:pt x="102463" y="446887"/>
                  </a:lnTo>
                  <a:lnTo>
                    <a:pt x="102717" y="446887"/>
                  </a:lnTo>
                  <a:lnTo>
                    <a:pt x="108419" y="445770"/>
                  </a:lnTo>
                  <a:lnTo>
                    <a:pt x="118922" y="443230"/>
                  </a:lnTo>
                  <a:lnTo>
                    <a:pt x="130644" y="439420"/>
                  </a:lnTo>
                  <a:lnTo>
                    <a:pt x="143256" y="436880"/>
                  </a:lnTo>
                  <a:lnTo>
                    <a:pt x="163169" y="433070"/>
                  </a:lnTo>
                  <a:lnTo>
                    <a:pt x="169976" y="433070"/>
                  </a:lnTo>
                  <a:lnTo>
                    <a:pt x="183083" y="430530"/>
                  </a:lnTo>
                  <a:lnTo>
                    <a:pt x="191973" y="429260"/>
                  </a:lnTo>
                  <a:lnTo>
                    <a:pt x="199669" y="427990"/>
                  </a:lnTo>
                  <a:lnTo>
                    <a:pt x="221005" y="426720"/>
                  </a:lnTo>
                  <a:lnTo>
                    <a:pt x="230479" y="425450"/>
                  </a:lnTo>
                  <a:lnTo>
                    <a:pt x="238188" y="425450"/>
                  </a:lnTo>
                  <a:lnTo>
                    <a:pt x="249440" y="426720"/>
                  </a:lnTo>
                  <a:lnTo>
                    <a:pt x="258597" y="426720"/>
                  </a:lnTo>
                  <a:lnTo>
                    <a:pt x="280022" y="429260"/>
                  </a:lnTo>
                  <a:lnTo>
                    <a:pt x="353733" y="434340"/>
                  </a:lnTo>
                  <a:lnTo>
                    <a:pt x="506603" y="433070"/>
                  </a:lnTo>
                  <a:lnTo>
                    <a:pt x="659472" y="433070"/>
                  </a:lnTo>
                  <a:lnTo>
                    <a:pt x="681393" y="425450"/>
                  </a:lnTo>
                  <a:lnTo>
                    <a:pt x="729030" y="431800"/>
                  </a:lnTo>
                  <a:lnTo>
                    <a:pt x="832535" y="431800"/>
                  </a:lnTo>
                  <a:lnTo>
                    <a:pt x="882853" y="435610"/>
                  </a:lnTo>
                  <a:lnTo>
                    <a:pt x="884034" y="429260"/>
                  </a:lnTo>
                  <a:lnTo>
                    <a:pt x="902398" y="429260"/>
                  </a:lnTo>
                  <a:lnTo>
                    <a:pt x="901217" y="433070"/>
                  </a:lnTo>
                  <a:lnTo>
                    <a:pt x="905370" y="434340"/>
                  </a:lnTo>
                  <a:lnTo>
                    <a:pt x="1058570" y="434340"/>
                  </a:lnTo>
                  <a:lnTo>
                    <a:pt x="1109497" y="435610"/>
                  </a:lnTo>
                  <a:lnTo>
                    <a:pt x="1210132" y="435610"/>
                  </a:lnTo>
                  <a:lnTo>
                    <a:pt x="1259522" y="436880"/>
                  </a:lnTo>
                  <a:lnTo>
                    <a:pt x="1308049" y="439420"/>
                  </a:lnTo>
                  <a:lnTo>
                    <a:pt x="1355559" y="440690"/>
                  </a:lnTo>
                  <a:lnTo>
                    <a:pt x="1401902" y="444500"/>
                  </a:lnTo>
                  <a:lnTo>
                    <a:pt x="1416596" y="446887"/>
                  </a:lnTo>
                  <a:lnTo>
                    <a:pt x="1414970" y="446887"/>
                  </a:lnTo>
                  <a:lnTo>
                    <a:pt x="1458722" y="449580"/>
                  </a:lnTo>
                  <a:lnTo>
                    <a:pt x="1472222" y="452094"/>
                  </a:lnTo>
                  <a:lnTo>
                    <a:pt x="1472907" y="452094"/>
                  </a:lnTo>
                  <a:lnTo>
                    <a:pt x="1510106" y="449580"/>
                  </a:lnTo>
                  <a:lnTo>
                    <a:pt x="1548244" y="448310"/>
                  </a:lnTo>
                  <a:lnTo>
                    <a:pt x="1624088" y="450850"/>
                  </a:lnTo>
                  <a:lnTo>
                    <a:pt x="1646605" y="450850"/>
                  </a:lnTo>
                  <a:lnTo>
                    <a:pt x="1646605" y="452094"/>
                  </a:lnTo>
                  <a:lnTo>
                    <a:pt x="1668322" y="450850"/>
                  </a:lnTo>
                  <a:lnTo>
                    <a:pt x="1693176" y="452094"/>
                  </a:lnTo>
                  <a:lnTo>
                    <a:pt x="1693621" y="452094"/>
                  </a:lnTo>
                  <a:lnTo>
                    <a:pt x="1720507" y="455930"/>
                  </a:lnTo>
                  <a:lnTo>
                    <a:pt x="1747951" y="458647"/>
                  </a:lnTo>
                  <a:lnTo>
                    <a:pt x="1795310" y="461010"/>
                  </a:lnTo>
                  <a:lnTo>
                    <a:pt x="2044369" y="467360"/>
                  </a:lnTo>
                  <a:lnTo>
                    <a:pt x="2093798" y="469900"/>
                  </a:lnTo>
                  <a:lnTo>
                    <a:pt x="2143328" y="471170"/>
                  </a:lnTo>
                  <a:lnTo>
                    <a:pt x="2293645" y="482600"/>
                  </a:lnTo>
                  <a:lnTo>
                    <a:pt x="2326716" y="487680"/>
                  </a:lnTo>
                  <a:lnTo>
                    <a:pt x="2360968" y="490220"/>
                  </a:lnTo>
                  <a:lnTo>
                    <a:pt x="2432291" y="492760"/>
                  </a:lnTo>
                  <a:lnTo>
                    <a:pt x="2450604" y="494030"/>
                  </a:lnTo>
                  <a:lnTo>
                    <a:pt x="2469019" y="494030"/>
                  </a:lnTo>
                  <a:lnTo>
                    <a:pt x="2505760" y="496570"/>
                  </a:lnTo>
                  <a:lnTo>
                    <a:pt x="2515095" y="496570"/>
                  </a:lnTo>
                  <a:lnTo>
                    <a:pt x="2524429" y="497840"/>
                  </a:lnTo>
                  <a:lnTo>
                    <a:pt x="2533751" y="497840"/>
                  </a:lnTo>
                  <a:lnTo>
                    <a:pt x="2561463" y="501650"/>
                  </a:lnTo>
                  <a:lnTo>
                    <a:pt x="2570937" y="501650"/>
                  </a:lnTo>
                  <a:lnTo>
                    <a:pt x="2588120" y="504190"/>
                  </a:lnTo>
                  <a:lnTo>
                    <a:pt x="2601074" y="505460"/>
                  </a:lnTo>
                  <a:lnTo>
                    <a:pt x="2623743" y="508000"/>
                  </a:lnTo>
                  <a:lnTo>
                    <a:pt x="2654528" y="510540"/>
                  </a:lnTo>
                  <a:lnTo>
                    <a:pt x="2733484" y="515620"/>
                  </a:lnTo>
                  <a:lnTo>
                    <a:pt x="2750274" y="517055"/>
                  </a:lnTo>
                  <a:lnTo>
                    <a:pt x="2745143" y="521296"/>
                  </a:lnTo>
                  <a:lnTo>
                    <a:pt x="2745727" y="521296"/>
                  </a:lnTo>
                  <a:lnTo>
                    <a:pt x="2734475" y="523836"/>
                  </a:lnTo>
                  <a:lnTo>
                    <a:pt x="2736850" y="525106"/>
                  </a:lnTo>
                  <a:lnTo>
                    <a:pt x="2736253" y="527646"/>
                  </a:lnTo>
                  <a:lnTo>
                    <a:pt x="2735072" y="528916"/>
                  </a:lnTo>
                  <a:lnTo>
                    <a:pt x="2732697" y="526376"/>
                  </a:lnTo>
                  <a:lnTo>
                    <a:pt x="2727363" y="528916"/>
                  </a:lnTo>
                  <a:lnTo>
                    <a:pt x="2720848" y="531456"/>
                  </a:lnTo>
                  <a:lnTo>
                    <a:pt x="2713736" y="528916"/>
                  </a:lnTo>
                  <a:lnTo>
                    <a:pt x="2716695" y="533996"/>
                  </a:lnTo>
                  <a:lnTo>
                    <a:pt x="2715514" y="533996"/>
                  </a:lnTo>
                  <a:lnTo>
                    <a:pt x="2708999" y="528916"/>
                  </a:lnTo>
                  <a:lnTo>
                    <a:pt x="2713139" y="535266"/>
                  </a:lnTo>
                  <a:lnTo>
                    <a:pt x="2712555" y="539076"/>
                  </a:lnTo>
                  <a:lnTo>
                    <a:pt x="2710777" y="539076"/>
                  </a:lnTo>
                  <a:lnTo>
                    <a:pt x="2711958" y="542886"/>
                  </a:lnTo>
                  <a:lnTo>
                    <a:pt x="2708402" y="541616"/>
                  </a:lnTo>
                  <a:lnTo>
                    <a:pt x="2707805" y="541616"/>
                  </a:lnTo>
                  <a:lnTo>
                    <a:pt x="2708402" y="542886"/>
                  </a:lnTo>
                  <a:lnTo>
                    <a:pt x="2703665" y="542886"/>
                  </a:lnTo>
                  <a:lnTo>
                    <a:pt x="2711361" y="546696"/>
                  </a:lnTo>
                  <a:lnTo>
                    <a:pt x="2706027" y="546696"/>
                  </a:lnTo>
                  <a:lnTo>
                    <a:pt x="2702483" y="544156"/>
                  </a:lnTo>
                  <a:lnTo>
                    <a:pt x="2708999" y="553046"/>
                  </a:lnTo>
                  <a:lnTo>
                    <a:pt x="2706624" y="553046"/>
                  </a:lnTo>
                  <a:lnTo>
                    <a:pt x="2700109" y="549236"/>
                  </a:lnTo>
                  <a:lnTo>
                    <a:pt x="2694178" y="547966"/>
                  </a:lnTo>
                  <a:lnTo>
                    <a:pt x="2698331" y="554316"/>
                  </a:lnTo>
                  <a:lnTo>
                    <a:pt x="2694178" y="558126"/>
                  </a:lnTo>
                  <a:lnTo>
                    <a:pt x="2690037" y="558126"/>
                  </a:lnTo>
                  <a:lnTo>
                    <a:pt x="2688704" y="556856"/>
                  </a:lnTo>
                  <a:lnTo>
                    <a:pt x="2686037" y="554316"/>
                  </a:lnTo>
                  <a:lnTo>
                    <a:pt x="2684703" y="553046"/>
                  </a:lnTo>
                  <a:lnTo>
                    <a:pt x="2684703" y="554316"/>
                  </a:lnTo>
                  <a:lnTo>
                    <a:pt x="2684475" y="553707"/>
                  </a:lnTo>
                  <a:lnTo>
                    <a:pt x="2684411" y="554316"/>
                  </a:lnTo>
                  <a:lnTo>
                    <a:pt x="2684107" y="556856"/>
                  </a:lnTo>
                  <a:lnTo>
                    <a:pt x="2681744" y="555586"/>
                  </a:lnTo>
                  <a:lnTo>
                    <a:pt x="2681744" y="554316"/>
                  </a:lnTo>
                  <a:lnTo>
                    <a:pt x="2680551" y="551776"/>
                  </a:lnTo>
                  <a:lnTo>
                    <a:pt x="2675813" y="551776"/>
                  </a:lnTo>
                  <a:lnTo>
                    <a:pt x="2680551" y="555586"/>
                  </a:lnTo>
                  <a:lnTo>
                    <a:pt x="2678773" y="556856"/>
                  </a:lnTo>
                  <a:lnTo>
                    <a:pt x="2681744" y="560666"/>
                  </a:lnTo>
                  <a:lnTo>
                    <a:pt x="2687066" y="569556"/>
                  </a:lnTo>
                  <a:lnTo>
                    <a:pt x="2688259" y="569556"/>
                  </a:lnTo>
                  <a:lnTo>
                    <a:pt x="2688259" y="574636"/>
                  </a:lnTo>
                  <a:lnTo>
                    <a:pt x="2687066" y="577176"/>
                  </a:lnTo>
                  <a:lnTo>
                    <a:pt x="2683522" y="575906"/>
                  </a:lnTo>
                  <a:lnTo>
                    <a:pt x="2681744" y="573366"/>
                  </a:lnTo>
                  <a:lnTo>
                    <a:pt x="2680551" y="577176"/>
                  </a:lnTo>
                  <a:lnTo>
                    <a:pt x="2678188" y="574636"/>
                  </a:lnTo>
                  <a:lnTo>
                    <a:pt x="2675813" y="578446"/>
                  </a:lnTo>
                  <a:lnTo>
                    <a:pt x="2676995" y="578446"/>
                  </a:lnTo>
                  <a:lnTo>
                    <a:pt x="2676410" y="579716"/>
                  </a:lnTo>
                  <a:lnTo>
                    <a:pt x="2674632" y="582256"/>
                  </a:lnTo>
                  <a:lnTo>
                    <a:pt x="2672257" y="582256"/>
                  </a:lnTo>
                  <a:lnTo>
                    <a:pt x="2671076" y="579716"/>
                  </a:lnTo>
                  <a:lnTo>
                    <a:pt x="2662783" y="578446"/>
                  </a:lnTo>
                  <a:lnTo>
                    <a:pt x="2665145" y="587336"/>
                  </a:lnTo>
                  <a:lnTo>
                    <a:pt x="2661005" y="592416"/>
                  </a:lnTo>
                  <a:lnTo>
                    <a:pt x="2658630" y="588606"/>
                  </a:lnTo>
                  <a:lnTo>
                    <a:pt x="2654477" y="587336"/>
                  </a:lnTo>
                  <a:lnTo>
                    <a:pt x="2662186" y="593686"/>
                  </a:lnTo>
                  <a:lnTo>
                    <a:pt x="2659227" y="593686"/>
                  </a:lnTo>
                  <a:lnTo>
                    <a:pt x="2655671" y="589876"/>
                  </a:lnTo>
                  <a:lnTo>
                    <a:pt x="2658630" y="596226"/>
                  </a:lnTo>
                  <a:lnTo>
                    <a:pt x="2652699" y="591146"/>
                  </a:lnTo>
                  <a:lnTo>
                    <a:pt x="2649740" y="589876"/>
                  </a:lnTo>
                  <a:lnTo>
                    <a:pt x="2654477" y="594956"/>
                  </a:lnTo>
                  <a:lnTo>
                    <a:pt x="2651518" y="594956"/>
                  </a:lnTo>
                  <a:lnTo>
                    <a:pt x="2647962" y="596226"/>
                  </a:lnTo>
                  <a:lnTo>
                    <a:pt x="2646184" y="593686"/>
                  </a:lnTo>
                  <a:lnTo>
                    <a:pt x="2644406" y="591146"/>
                  </a:lnTo>
                  <a:lnTo>
                    <a:pt x="2642628" y="587336"/>
                  </a:lnTo>
                  <a:lnTo>
                    <a:pt x="2644406" y="593686"/>
                  </a:lnTo>
                  <a:lnTo>
                    <a:pt x="2640266" y="588606"/>
                  </a:lnTo>
                  <a:lnTo>
                    <a:pt x="2643822" y="594956"/>
                  </a:lnTo>
                  <a:lnTo>
                    <a:pt x="2642755" y="593686"/>
                  </a:lnTo>
                  <a:lnTo>
                    <a:pt x="2638488" y="588606"/>
                  </a:lnTo>
                  <a:lnTo>
                    <a:pt x="2638488" y="593686"/>
                  </a:lnTo>
                  <a:lnTo>
                    <a:pt x="2636710" y="592416"/>
                  </a:lnTo>
                  <a:lnTo>
                    <a:pt x="2636710" y="591146"/>
                  </a:lnTo>
                  <a:lnTo>
                    <a:pt x="2634932" y="591146"/>
                  </a:lnTo>
                  <a:lnTo>
                    <a:pt x="2637294" y="600036"/>
                  </a:lnTo>
                  <a:lnTo>
                    <a:pt x="2636710" y="594956"/>
                  </a:lnTo>
                  <a:lnTo>
                    <a:pt x="2642044" y="601306"/>
                  </a:lnTo>
                  <a:lnTo>
                    <a:pt x="2644406" y="607656"/>
                  </a:lnTo>
                  <a:lnTo>
                    <a:pt x="2642438" y="606386"/>
                  </a:lnTo>
                  <a:lnTo>
                    <a:pt x="2638488" y="603846"/>
                  </a:lnTo>
                  <a:lnTo>
                    <a:pt x="2638488" y="606386"/>
                  </a:lnTo>
                  <a:lnTo>
                    <a:pt x="2637891" y="603846"/>
                  </a:lnTo>
                  <a:lnTo>
                    <a:pt x="2636710" y="606386"/>
                  </a:lnTo>
                  <a:lnTo>
                    <a:pt x="2634335" y="603846"/>
                  </a:lnTo>
                  <a:lnTo>
                    <a:pt x="2631376" y="603846"/>
                  </a:lnTo>
                  <a:lnTo>
                    <a:pt x="2634932" y="606386"/>
                  </a:lnTo>
                  <a:lnTo>
                    <a:pt x="2634932" y="607656"/>
                  </a:lnTo>
                  <a:lnTo>
                    <a:pt x="2634335" y="608926"/>
                  </a:lnTo>
                  <a:lnTo>
                    <a:pt x="2632557" y="606386"/>
                  </a:lnTo>
                  <a:lnTo>
                    <a:pt x="2631376" y="606386"/>
                  </a:lnTo>
                  <a:lnTo>
                    <a:pt x="2634932" y="610196"/>
                  </a:lnTo>
                  <a:lnTo>
                    <a:pt x="2635516" y="614006"/>
                  </a:lnTo>
                  <a:lnTo>
                    <a:pt x="2630195" y="614006"/>
                  </a:lnTo>
                  <a:lnTo>
                    <a:pt x="2626639" y="608926"/>
                  </a:lnTo>
                  <a:lnTo>
                    <a:pt x="2629598" y="614006"/>
                  </a:lnTo>
                  <a:lnTo>
                    <a:pt x="2627820" y="614006"/>
                  </a:lnTo>
                  <a:lnTo>
                    <a:pt x="2629598" y="619086"/>
                  </a:lnTo>
                  <a:lnTo>
                    <a:pt x="2626639" y="615276"/>
                  </a:lnTo>
                  <a:lnTo>
                    <a:pt x="2626042" y="614006"/>
                  </a:lnTo>
                  <a:lnTo>
                    <a:pt x="2618333" y="619086"/>
                  </a:lnTo>
                  <a:lnTo>
                    <a:pt x="2614790" y="615276"/>
                  </a:lnTo>
                  <a:lnTo>
                    <a:pt x="2618930" y="621626"/>
                  </a:lnTo>
                  <a:lnTo>
                    <a:pt x="2609456" y="617816"/>
                  </a:lnTo>
                  <a:lnTo>
                    <a:pt x="2615374" y="622896"/>
                  </a:lnTo>
                  <a:lnTo>
                    <a:pt x="2610637" y="620356"/>
                  </a:lnTo>
                  <a:lnTo>
                    <a:pt x="2612415" y="630516"/>
                  </a:lnTo>
                  <a:lnTo>
                    <a:pt x="2606484" y="622896"/>
                  </a:lnTo>
                  <a:lnTo>
                    <a:pt x="2601747" y="626706"/>
                  </a:lnTo>
                  <a:lnTo>
                    <a:pt x="2605303" y="635596"/>
                  </a:lnTo>
                  <a:lnTo>
                    <a:pt x="2597010" y="636866"/>
                  </a:lnTo>
                  <a:lnTo>
                    <a:pt x="2589301" y="633056"/>
                  </a:lnTo>
                  <a:lnTo>
                    <a:pt x="2585745" y="639406"/>
                  </a:lnTo>
                  <a:lnTo>
                    <a:pt x="2582189" y="641946"/>
                  </a:lnTo>
                  <a:lnTo>
                    <a:pt x="2579357" y="648296"/>
                  </a:lnTo>
                  <a:lnTo>
                    <a:pt x="2576792" y="654646"/>
                  </a:lnTo>
                  <a:lnTo>
                    <a:pt x="2574112" y="659726"/>
                  </a:lnTo>
                  <a:lnTo>
                    <a:pt x="2570937" y="666076"/>
                  </a:lnTo>
                  <a:lnTo>
                    <a:pt x="2564434" y="667346"/>
                  </a:lnTo>
                  <a:lnTo>
                    <a:pt x="2561602" y="671156"/>
                  </a:lnTo>
                  <a:lnTo>
                    <a:pt x="2559443" y="676236"/>
                  </a:lnTo>
                  <a:lnTo>
                    <a:pt x="2554935" y="678776"/>
                  </a:lnTo>
                  <a:lnTo>
                    <a:pt x="2557310" y="682586"/>
                  </a:lnTo>
                  <a:lnTo>
                    <a:pt x="2549017" y="680046"/>
                  </a:lnTo>
                  <a:lnTo>
                    <a:pt x="2551379" y="691476"/>
                  </a:lnTo>
                  <a:lnTo>
                    <a:pt x="2542502" y="690206"/>
                  </a:lnTo>
                  <a:lnTo>
                    <a:pt x="2543086" y="692746"/>
                  </a:lnTo>
                  <a:lnTo>
                    <a:pt x="2543086" y="694016"/>
                  </a:lnTo>
                  <a:lnTo>
                    <a:pt x="2544280" y="694016"/>
                  </a:lnTo>
                  <a:lnTo>
                    <a:pt x="2546642" y="696556"/>
                  </a:lnTo>
                  <a:lnTo>
                    <a:pt x="2544280" y="696556"/>
                  </a:lnTo>
                  <a:lnTo>
                    <a:pt x="2543683" y="700366"/>
                  </a:lnTo>
                  <a:lnTo>
                    <a:pt x="2539530" y="696556"/>
                  </a:lnTo>
                  <a:lnTo>
                    <a:pt x="2535390" y="691476"/>
                  </a:lnTo>
                  <a:lnTo>
                    <a:pt x="2538349" y="701636"/>
                  </a:lnTo>
                  <a:lnTo>
                    <a:pt x="2533015" y="699096"/>
                  </a:lnTo>
                  <a:lnTo>
                    <a:pt x="2538349" y="702906"/>
                  </a:lnTo>
                  <a:lnTo>
                    <a:pt x="2535390" y="705446"/>
                  </a:lnTo>
                  <a:lnTo>
                    <a:pt x="2534793" y="704176"/>
                  </a:lnTo>
                  <a:lnTo>
                    <a:pt x="2532532" y="713066"/>
                  </a:lnTo>
                  <a:lnTo>
                    <a:pt x="2526500" y="718146"/>
                  </a:lnTo>
                  <a:lnTo>
                    <a:pt x="2520467" y="721956"/>
                  </a:lnTo>
                  <a:lnTo>
                    <a:pt x="2518206" y="732116"/>
                  </a:lnTo>
                  <a:lnTo>
                    <a:pt x="2516543" y="729576"/>
                  </a:lnTo>
                  <a:lnTo>
                    <a:pt x="2516505" y="730846"/>
                  </a:lnTo>
                  <a:lnTo>
                    <a:pt x="2516124" y="732116"/>
                  </a:lnTo>
                  <a:lnTo>
                    <a:pt x="2513457" y="730846"/>
                  </a:lnTo>
                  <a:lnTo>
                    <a:pt x="2504579" y="727036"/>
                  </a:lnTo>
                  <a:lnTo>
                    <a:pt x="2511094" y="737196"/>
                  </a:lnTo>
                  <a:lnTo>
                    <a:pt x="2511094" y="741006"/>
                  </a:lnTo>
                  <a:lnTo>
                    <a:pt x="2512276" y="742276"/>
                  </a:lnTo>
                  <a:lnTo>
                    <a:pt x="2508720" y="744816"/>
                  </a:lnTo>
                  <a:lnTo>
                    <a:pt x="2506967" y="742276"/>
                  </a:lnTo>
                  <a:lnTo>
                    <a:pt x="2507983" y="744816"/>
                  </a:lnTo>
                  <a:lnTo>
                    <a:pt x="2509228" y="747356"/>
                  </a:lnTo>
                  <a:lnTo>
                    <a:pt x="2508135" y="746086"/>
                  </a:lnTo>
                  <a:lnTo>
                    <a:pt x="2499677" y="751166"/>
                  </a:lnTo>
                  <a:lnTo>
                    <a:pt x="2492946" y="758786"/>
                  </a:lnTo>
                  <a:lnTo>
                    <a:pt x="2486545" y="767676"/>
                  </a:lnTo>
                  <a:lnTo>
                    <a:pt x="2479103" y="774026"/>
                  </a:lnTo>
                  <a:lnTo>
                    <a:pt x="2481465" y="775296"/>
                  </a:lnTo>
                  <a:lnTo>
                    <a:pt x="2479103" y="777836"/>
                  </a:lnTo>
                  <a:lnTo>
                    <a:pt x="2478506" y="782916"/>
                  </a:lnTo>
                  <a:lnTo>
                    <a:pt x="2469019" y="782916"/>
                  </a:lnTo>
                  <a:lnTo>
                    <a:pt x="2474950" y="790536"/>
                  </a:lnTo>
                  <a:lnTo>
                    <a:pt x="2474353" y="791806"/>
                  </a:lnTo>
                  <a:lnTo>
                    <a:pt x="2475547" y="796886"/>
                  </a:lnTo>
                  <a:lnTo>
                    <a:pt x="2468549" y="794575"/>
                  </a:lnTo>
                  <a:lnTo>
                    <a:pt x="2467838" y="796886"/>
                  </a:lnTo>
                  <a:lnTo>
                    <a:pt x="2472575" y="804506"/>
                  </a:lnTo>
                  <a:lnTo>
                    <a:pt x="2467241" y="805776"/>
                  </a:lnTo>
                  <a:lnTo>
                    <a:pt x="2463952" y="805776"/>
                  </a:lnTo>
                  <a:lnTo>
                    <a:pt x="2463101" y="809586"/>
                  </a:lnTo>
                  <a:lnTo>
                    <a:pt x="2462250" y="814666"/>
                  </a:lnTo>
                  <a:lnTo>
                    <a:pt x="2458948" y="813396"/>
                  </a:lnTo>
                  <a:lnTo>
                    <a:pt x="2459545" y="814666"/>
                  </a:lnTo>
                  <a:lnTo>
                    <a:pt x="2451252" y="814666"/>
                  </a:lnTo>
                  <a:lnTo>
                    <a:pt x="2456586" y="824826"/>
                  </a:lnTo>
                  <a:lnTo>
                    <a:pt x="2448356" y="826096"/>
                  </a:lnTo>
                  <a:lnTo>
                    <a:pt x="2447696" y="824826"/>
                  </a:lnTo>
                  <a:lnTo>
                    <a:pt x="2447696" y="826096"/>
                  </a:lnTo>
                  <a:lnTo>
                    <a:pt x="2448280" y="826096"/>
                  </a:lnTo>
                  <a:lnTo>
                    <a:pt x="2449728" y="828636"/>
                  </a:lnTo>
                  <a:lnTo>
                    <a:pt x="2461920" y="851496"/>
                  </a:lnTo>
                  <a:lnTo>
                    <a:pt x="2487980" y="866736"/>
                  </a:lnTo>
                  <a:lnTo>
                    <a:pt x="2513469" y="874356"/>
                  </a:lnTo>
                  <a:lnTo>
                    <a:pt x="2519388" y="861656"/>
                  </a:lnTo>
                  <a:lnTo>
                    <a:pt x="2522347" y="856576"/>
                  </a:lnTo>
                  <a:lnTo>
                    <a:pt x="2525903" y="850226"/>
                  </a:lnTo>
                  <a:lnTo>
                    <a:pt x="2546642" y="838796"/>
                  </a:lnTo>
                  <a:lnTo>
                    <a:pt x="2548420" y="836256"/>
                  </a:lnTo>
                  <a:lnTo>
                    <a:pt x="2554351" y="828636"/>
                  </a:lnTo>
                  <a:lnTo>
                    <a:pt x="2558491" y="823556"/>
                  </a:lnTo>
                  <a:lnTo>
                    <a:pt x="2562047" y="818476"/>
                  </a:lnTo>
                  <a:lnTo>
                    <a:pt x="2566200" y="813396"/>
                  </a:lnTo>
                  <a:lnTo>
                    <a:pt x="2569756" y="808316"/>
                  </a:lnTo>
                  <a:lnTo>
                    <a:pt x="2575674" y="800696"/>
                  </a:lnTo>
                  <a:lnTo>
                    <a:pt x="2578049" y="798156"/>
                  </a:lnTo>
                  <a:lnTo>
                    <a:pt x="2577655" y="796886"/>
                  </a:lnTo>
                  <a:lnTo>
                    <a:pt x="2575674" y="790536"/>
                  </a:lnTo>
                  <a:lnTo>
                    <a:pt x="2584869" y="787996"/>
                  </a:lnTo>
                  <a:lnTo>
                    <a:pt x="2590558" y="781646"/>
                  </a:lnTo>
                  <a:lnTo>
                    <a:pt x="2595930" y="774026"/>
                  </a:lnTo>
                  <a:lnTo>
                    <a:pt x="2604122" y="770216"/>
                  </a:lnTo>
                  <a:lnTo>
                    <a:pt x="2599969" y="765136"/>
                  </a:lnTo>
                  <a:lnTo>
                    <a:pt x="2601747" y="763866"/>
                  </a:lnTo>
                  <a:lnTo>
                    <a:pt x="2604122" y="765136"/>
                  </a:lnTo>
                  <a:lnTo>
                    <a:pt x="2605900" y="765136"/>
                  </a:lnTo>
                  <a:lnTo>
                    <a:pt x="2606954" y="763866"/>
                  </a:lnTo>
                  <a:lnTo>
                    <a:pt x="2620683" y="747356"/>
                  </a:lnTo>
                  <a:lnTo>
                    <a:pt x="2622778" y="744816"/>
                  </a:lnTo>
                  <a:lnTo>
                    <a:pt x="2633230" y="732116"/>
                  </a:lnTo>
                  <a:lnTo>
                    <a:pt x="2647810" y="716876"/>
                  </a:lnTo>
                  <a:lnTo>
                    <a:pt x="2664561" y="705446"/>
                  </a:lnTo>
                  <a:lnTo>
                    <a:pt x="2668701" y="705446"/>
                  </a:lnTo>
                  <a:lnTo>
                    <a:pt x="2671191" y="701636"/>
                  </a:lnTo>
                  <a:lnTo>
                    <a:pt x="2672016" y="700366"/>
                  </a:lnTo>
                  <a:lnTo>
                    <a:pt x="2672854" y="699096"/>
                  </a:lnTo>
                  <a:lnTo>
                    <a:pt x="2676995" y="700366"/>
                  </a:lnTo>
                  <a:lnTo>
                    <a:pt x="2677363" y="699096"/>
                  </a:lnTo>
                  <a:lnTo>
                    <a:pt x="2691815" y="678776"/>
                  </a:lnTo>
                  <a:lnTo>
                    <a:pt x="2694178" y="674966"/>
                  </a:lnTo>
                  <a:lnTo>
                    <a:pt x="2694775" y="674966"/>
                  </a:lnTo>
                  <a:lnTo>
                    <a:pt x="2695371" y="676236"/>
                  </a:lnTo>
                  <a:lnTo>
                    <a:pt x="2695371" y="674966"/>
                  </a:lnTo>
                  <a:lnTo>
                    <a:pt x="2695371" y="669886"/>
                  </a:lnTo>
                  <a:lnTo>
                    <a:pt x="2704249" y="668616"/>
                  </a:lnTo>
                  <a:lnTo>
                    <a:pt x="2709583" y="667346"/>
                  </a:lnTo>
                  <a:lnTo>
                    <a:pt x="2726944" y="652106"/>
                  </a:lnTo>
                  <a:lnTo>
                    <a:pt x="2740825" y="636866"/>
                  </a:lnTo>
                  <a:lnTo>
                    <a:pt x="2743136" y="634326"/>
                  </a:lnTo>
                  <a:lnTo>
                    <a:pt x="2747441" y="630516"/>
                  </a:lnTo>
                  <a:lnTo>
                    <a:pt x="2756027" y="622896"/>
                  </a:lnTo>
                  <a:lnTo>
                    <a:pt x="2757462" y="621626"/>
                  </a:lnTo>
                  <a:lnTo>
                    <a:pt x="2760332" y="619086"/>
                  </a:lnTo>
                  <a:lnTo>
                    <a:pt x="2776613" y="608926"/>
                  </a:lnTo>
                  <a:lnTo>
                    <a:pt x="2778658" y="607656"/>
                  </a:lnTo>
                  <a:lnTo>
                    <a:pt x="2780690" y="606386"/>
                  </a:lnTo>
                  <a:lnTo>
                    <a:pt x="2789580" y="606386"/>
                  </a:lnTo>
                  <a:lnTo>
                    <a:pt x="2795498" y="600036"/>
                  </a:lnTo>
                  <a:lnTo>
                    <a:pt x="2799499" y="596226"/>
                  </a:lnTo>
                  <a:lnTo>
                    <a:pt x="2800832" y="594956"/>
                  </a:lnTo>
                  <a:lnTo>
                    <a:pt x="2802026" y="593686"/>
                  </a:lnTo>
                  <a:lnTo>
                    <a:pt x="2803207" y="592416"/>
                  </a:lnTo>
                  <a:lnTo>
                    <a:pt x="2812681" y="582256"/>
                  </a:lnTo>
                  <a:lnTo>
                    <a:pt x="2822168" y="580986"/>
                  </a:lnTo>
                  <a:lnTo>
                    <a:pt x="2825940" y="577176"/>
                  </a:lnTo>
                  <a:lnTo>
                    <a:pt x="2827197" y="575906"/>
                  </a:lnTo>
                  <a:lnTo>
                    <a:pt x="2836608" y="568286"/>
                  </a:lnTo>
                  <a:lnTo>
                    <a:pt x="2845917" y="558126"/>
                  </a:lnTo>
                  <a:lnTo>
                    <a:pt x="2850604" y="553046"/>
                  </a:lnTo>
                  <a:lnTo>
                    <a:pt x="2843492" y="549236"/>
                  </a:lnTo>
                  <a:lnTo>
                    <a:pt x="2846146" y="546696"/>
                  </a:lnTo>
                  <a:lnTo>
                    <a:pt x="2850121" y="542886"/>
                  </a:lnTo>
                  <a:lnTo>
                    <a:pt x="2856458" y="540346"/>
                  </a:lnTo>
                  <a:lnTo>
                    <a:pt x="2862249" y="536536"/>
                  </a:lnTo>
                  <a:lnTo>
                    <a:pt x="2864231" y="533996"/>
                  </a:lnTo>
                  <a:lnTo>
                    <a:pt x="2866212" y="531456"/>
                  </a:lnTo>
                  <a:lnTo>
                    <a:pt x="2867202" y="530186"/>
                  </a:lnTo>
                  <a:lnTo>
                    <a:pt x="2867787" y="532726"/>
                  </a:lnTo>
                  <a:lnTo>
                    <a:pt x="2868257" y="530186"/>
                  </a:lnTo>
                  <a:lnTo>
                    <a:pt x="2868472" y="528916"/>
                  </a:lnTo>
                  <a:lnTo>
                    <a:pt x="2868688" y="527646"/>
                  </a:lnTo>
                  <a:lnTo>
                    <a:pt x="2868904" y="526376"/>
                  </a:lnTo>
                  <a:lnTo>
                    <a:pt x="2873870" y="523836"/>
                  </a:lnTo>
                  <a:lnTo>
                    <a:pt x="2887345" y="526376"/>
                  </a:lnTo>
                  <a:lnTo>
                    <a:pt x="2888526" y="526376"/>
                  </a:lnTo>
                  <a:lnTo>
                    <a:pt x="2887345" y="525106"/>
                  </a:lnTo>
                  <a:lnTo>
                    <a:pt x="2884970" y="523836"/>
                  </a:lnTo>
                  <a:lnTo>
                    <a:pt x="2885567" y="521296"/>
                  </a:lnTo>
                  <a:lnTo>
                    <a:pt x="2884970" y="518756"/>
                  </a:lnTo>
                  <a:lnTo>
                    <a:pt x="2886748" y="516216"/>
                  </a:lnTo>
                  <a:lnTo>
                    <a:pt x="2889123" y="518756"/>
                  </a:lnTo>
                  <a:lnTo>
                    <a:pt x="2893263" y="514946"/>
                  </a:lnTo>
                  <a:lnTo>
                    <a:pt x="2897416" y="517486"/>
                  </a:lnTo>
                  <a:lnTo>
                    <a:pt x="2897416" y="514946"/>
                  </a:lnTo>
                  <a:lnTo>
                    <a:pt x="2891485" y="507326"/>
                  </a:lnTo>
                  <a:lnTo>
                    <a:pt x="2898597" y="508596"/>
                  </a:lnTo>
                  <a:lnTo>
                    <a:pt x="2897263" y="507326"/>
                  </a:lnTo>
                  <a:lnTo>
                    <a:pt x="2893263" y="503516"/>
                  </a:lnTo>
                  <a:lnTo>
                    <a:pt x="2897911" y="503516"/>
                  </a:lnTo>
                  <a:lnTo>
                    <a:pt x="2896819" y="504609"/>
                  </a:lnTo>
                  <a:lnTo>
                    <a:pt x="2897416" y="504609"/>
                  </a:lnTo>
                  <a:lnTo>
                    <a:pt x="2899194" y="505206"/>
                  </a:lnTo>
                  <a:lnTo>
                    <a:pt x="2899791" y="505790"/>
                  </a:lnTo>
                  <a:lnTo>
                    <a:pt x="2900972" y="505206"/>
                  </a:lnTo>
                  <a:lnTo>
                    <a:pt x="2899791" y="504609"/>
                  </a:lnTo>
                  <a:lnTo>
                    <a:pt x="2898140" y="503516"/>
                  </a:lnTo>
                  <a:lnTo>
                    <a:pt x="2898597" y="503516"/>
                  </a:lnTo>
                  <a:lnTo>
                    <a:pt x="2896235" y="502246"/>
                  </a:lnTo>
                  <a:lnTo>
                    <a:pt x="2896819" y="502246"/>
                  </a:lnTo>
                  <a:lnTo>
                    <a:pt x="2899194" y="503516"/>
                  </a:lnTo>
                  <a:lnTo>
                    <a:pt x="2900972" y="500976"/>
                  </a:lnTo>
                  <a:lnTo>
                    <a:pt x="2905125" y="497166"/>
                  </a:lnTo>
                  <a:close/>
                </a:path>
              </a:pathLst>
            </a:custGeom>
            <a:solidFill>
              <a:srgbClr val="000000"/>
            </a:solidFill>
          </p:spPr>
          <p:txBody>
            <a:bodyPr wrap="square" lIns="0" tIns="0" rIns="0" bIns="0" rtlCol="0"/>
            <a:lstStyle/>
            <a:p>
              <a:endParaRPr/>
            </a:p>
          </p:txBody>
        </p:sp>
        <p:pic>
          <p:nvPicPr>
            <p:cNvPr id="9" name="object 9"/>
            <p:cNvPicPr/>
            <p:nvPr/>
          </p:nvPicPr>
          <p:blipFill>
            <a:blip r:embed="rId4" cstate="print"/>
            <a:stretch>
              <a:fillRect/>
            </a:stretch>
          </p:blipFill>
          <p:spPr>
            <a:xfrm>
              <a:off x="476601" y="1545371"/>
              <a:ext cx="3248024" cy="2876549"/>
            </a:xfrm>
            <a:prstGeom prst="rect">
              <a:avLst/>
            </a:prstGeom>
          </p:spPr>
        </p:pic>
        <p:sp>
          <p:nvSpPr>
            <p:cNvPr id="10" name="object 10"/>
            <p:cNvSpPr/>
            <p:nvPr/>
          </p:nvSpPr>
          <p:spPr>
            <a:xfrm>
              <a:off x="3439185" y="2859074"/>
              <a:ext cx="5058410" cy="2493010"/>
            </a:xfrm>
            <a:custGeom>
              <a:avLst/>
              <a:gdLst/>
              <a:ahLst/>
              <a:cxnLst/>
              <a:rect l="l" t="t" r="r" b="b"/>
              <a:pathLst>
                <a:path w="5058409" h="2493010">
                  <a:moveTo>
                    <a:pt x="13462" y="278320"/>
                  </a:moveTo>
                  <a:lnTo>
                    <a:pt x="12534" y="276923"/>
                  </a:lnTo>
                  <a:lnTo>
                    <a:pt x="12534" y="277393"/>
                  </a:lnTo>
                  <a:lnTo>
                    <a:pt x="13462" y="278320"/>
                  </a:lnTo>
                  <a:close/>
                </a:path>
                <a:path w="5058409" h="2493010">
                  <a:moveTo>
                    <a:pt x="13931" y="274320"/>
                  </a:moveTo>
                  <a:lnTo>
                    <a:pt x="13309" y="273469"/>
                  </a:lnTo>
                  <a:lnTo>
                    <a:pt x="12077" y="273050"/>
                  </a:lnTo>
                  <a:lnTo>
                    <a:pt x="13931" y="274320"/>
                  </a:lnTo>
                  <a:close/>
                </a:path>
                <a:path w="5058409" h="2493010">
                  <a:moveTo>
                    <a:pt x="21818" y="309295"/>
                  </a:moveTo>
                  <a:lnTo>
                    <a:pt x="21361" y="308838"/>
                  </a:lnTo>
                  <a:lnTo>
                    <a:pt x="21818" y="310222"/>
                  </a:lnTo>
                  <a:lnTo>
                    <a:pt x="21818" y="309295"/>
                  </a:lnTo>
                  <a:close/>
                </a:path>
                <a:path w="5058409" h="2493010">
                  <a:moveTo>
                    <a:pt x="25539" y="309765"/>
                  </a:moveTo>
                  <a:lnTo>
                    <a:pt x="25298" y="309537"/>
                  </a:lnTo>
                  <a:lnTo>
                    <a:pt x="25539" y="310222"/>
                  </a:lnTo>
                  <a:lnTo>
                    <a:pt x="25539" y="309765"/>
                  </a:lnTo>
                  <a:close/>
                </a:path>
                <a:path w="5058409" h="2493010">
                  <a:moveTo>
                    <a:pt x="62217" y="312077"/>
                  </a:moveTo>
                  <a:lnTo>
                    <a:pt x="61290" y="311150"/>
                  </a:lnTo>
                  <a:lnTo>
                    <a:pt x="60363" y="312077"/>
                  </a:lnTo>
                  <a:lnTo>
                    <a:pt x="60363" y="312534"/>
                  </a:lnTo>
                  <a:lnTo>
                    <a:pt x="62217" y="312077"/>
                  </a:lnTo>
                  <a:close/>
                </a:path>
                <a:path w="5058409" h="2493010">
                  <a:moveTo>
                    <a:pt x="137896" y="274612"/>
                  </a:moveTo>
                  <a:lnTo>
                    <a:pt x="136969" y="273227"/>
                  </a:lnTo>
                  <a:lnTo>
                    <a:pt x="136969" y="273685"/>
                  </a:lnTo>
                  <a:lnTo>
                    <a:pt x="137896" y="274612"/>
                  </a:lnTo>
                  <a:close/>
                </a:path>
                <a:path w="5058409" h="2493010">
                  <a:moveTo>
                    <a:pt x="156933" y="262585"/>
                  </a:moveTo>
                  <a:lnTo>
                    <a:pt x="156476" y="261670"/>
                  </a:lnTo>
                  <a:lnTo>
                    <a:pt x="156476" y="262128"/>
                  </a:lnTo>
                  <a:lnTo>
                    <a:pt x="156933" y="262585"/>
                  </a:lnTo>
                  <a:close/>
                </a:path>
                <a:path w="5058409" h="2493010">
                  <a:moveTo>
                    <a:pt x="174574" y="255270"/>
                  </a:moveTo>
                  <a:lnTo>
                    <a:pt x="172961" y="250825"/>
                  </a:lnTo>
                  <a:lnTo>
                    <a:pt x="172847" y="251714"/>
                  </a:lnTo>
                  <a:lnTo>
                    <a:pt x="174574" y="255270"/>
                  </a:lnTo>
                  <a:close/>
                </a:path>
                <a:path w="5058409" h="2493010">
                  <a:moveTo>
                    <a:pt x="180619" y="253339"/>
                  </a:moveTo>
                  <a:lnTo>
                    <a:pt x="180149" y="252882"/>
                  </a:lnTo>
                  <a:lnTo>
                    <a:pt x="180619" y="253809"/>
                  </a:lnTo>
                  <a:lnTo>
                    <a:pt x="180619" y="253339"/>
                  </a:lnTo>
                  <a:close/>
                </a:path>
                <a:path w="5058409" h="2493010">
                  <a:moveTo>
                    <a:pt x="202438" y="349072"/>
                  </a:moveTo>
                  <a:lnTo>
                    <a:pt x="195478" y="345833"/>
                  </a:lnTo>
                  <a:lnTo>
                    <a:pt x="194551" y="345833"/>
                  </a:lnTo>
                  <a:lnTo>
                    <a:pt x="202438" y="349072"/>
                  </a:lnTo>
                  <a:close/>
                </a:path>
                <a:path w="5058409" h="2493010">
                  <a:moveTo>
                    <a:pt x="255828" y="357949"/>
                  </a:moveTo>
                  <a:lnTo>
                    <a:pt x="255270" y="357695"/>
                  </a:lnTo>
                  <a:lnTo>
                    <a:pt x="255371" y="357949"/>
                  </a:lnTo>
                  <a:lnTo>
                    <a:pt x="255828" y="357949"/>
                  </a:lnTo>
                  <a:close/>
                </a:path>
                <a:path w="5058409" h="2493010">
                  <a:moveTo>
                    <a:pt x="286473" y="142354"/>
                  </a:moveTo>
                  <a:lnTo>
                    <a:pt x="286016" y="141897"/>
                  </a:lnTo>
                  <a:lnTo>
                    <a:pt x="286016" y="142354"/>
                  </a:lnTo>
                  <a:lnTo>
                    <a:pt x="286473" y="142354"/>
                  </a:lnTo>
                  <a:close/>
                </a:path>
                <a:path w="5058409" h="2493010">
                  <a:moveTo>
                    <a:pt x="297154" y="584911"/>
                  </a:moveTo>
                  <a:lnTo>
                    <a:pt x="296697" y="584454"/>
                  </a:lnTo>
                  <a:lnTo>
                    <a:pt x="295300" y="585381"/>
                  </a:lnTo>
                  <a:lnTo>
                    <a:pt x="296227" y="585838"/>
                  </a:lnTo>
                  <a:lnTo>
                    <a:pt x="297154" y="584911"/>
                  </a:lnTo>
                  <a:close/>
                </a:path>
                <a:path w="5058409" h="2493010">
                  <a:moveTo>
                    <a:pt x="312940" y="106743"/>
                  </a:moveTo>
                  <a:lnTo>
                    <a:pt x="312483" y="107213"/>
                  </a:lnTo>
                  <a:lnTo>
                    <a:pt x="312940" y="107213"/>
                  </a:lnTo>
                  <a:lnTo>
                    <a:pt x="312940" y="106743"/>
                  </a:lnTo>
                  <a:close/>
                </a:path>
                <a:path w="5058409" h="2493010">
                  <a:moveTo>
                    <a:pt x="312940" y="105829"/>
                  </a:moveTo>
                  <a:lnTo>
                    <a:pt x="311086" y="105829"/>
                  </a:lnTo>
                  <a:lnTo>
                    <a:pt x="311086" y="106743"/>
                  </a:lnTo>
                  <a:lnTo>
                    <a:pt x="312013" y="107670"/>
                  </a:lnTo>
                  <a:lnTo>
                    <a:pt x="312940" y="106743"/>
                  </a:lnTo>
                  <a:lnTo>
                    <a:pt x="312940" y="105829"/>
                  </a:lnTo>
                  <a:close/>
                </a:path>
                <a:path w="5058409" h="2493010">
                  <a:moveTo>
                    <a:pt x="322224" y="368109"/>
                  </a:moveTo>
                  <a:lnTo>
                    <a:pt x="321030" y="367639"/>
                  </a:lnTo>
                  <a:lnTo>
                    <a:pt x="314794" y="370649"/>
                  </a:lnTo>
                  <a:lnTo>
                    <a:pt x="322224" y="368109"/>
                  </a:lnTo>
                  <a:close/>
                </a:path>
                <a:path w="5058409" h="2493010">
                  <a:moveTo>
                    <a:pt x="338480" y="647801"/>
                  </a:moveTo>
                  <a:lnTo>
                    <a:pt x="336156" y="643648"/>
                  </a:lnTo>
                  <a:lnTo>
                    <a:pt x="334302" y="640410"/>
                  </a:lnTo>
                  <a:lnTo>
                    <a:pt x="335229" y="645960"/>
                  </a:lnTo>
                  <a:lnTo>
                    <a:pt x="336156" y="648728"/>
                  </a:lnTo>
                  <a:lnTo>
                    <a:pt x="338010" y="652894"/>
                  </a:lnTo>
                  <a:lnTo>
                    <a:pt x="338480" y="651040"/>
                  </a:lnTo>
                  <a:lnTo>
                    <a:pt x="338480" y="647801"/>
                  </a:lnTo>
                  <a:close/>
                </a:path>
                <a:path w="5058409" h="2493010">
                  <a:moveTo>
                    <a:pt x="342658" y="63500"/>
                  </a:moveTo>
                  <a:lnTo>
                    <a:pt x="341858" y="63157"/>
                  </a:lnTo>
                  <a:lnTo>
                    <a:pt x="341731" y="63500"/>
                  </a:lnTo>
                  <a:lnTo>
                    <a:pt x="342658" y="63500"/>
                  </a:lnTo>
                  <a:close/>
                </a:path>
                <a:path w="5058409" h="2493010">
                  <a:moveTo>
                    <a:pt x="347116" y="602805"/>
                  </a:moveTo>
                  <a:lnTo>
                    <a:pt x="346837" y="601789"/>
                  </a:lnTo>
                  <a:lnTo>
                    <a:pt x="346367" y="601789"/>
                  </a:lnTo>
                  <a:lnTo>
                    <a:pt x="347116" y="602805"/>
                  </a:lnTo>
                  <a:close/>
                </a:path>
                <a:path w="5058409" h="2493010">
                  <a:moveTo>
                    <a:pt x="354266" y="52184"/>
                  </a:moveTo>
                  <a:lnTo>
                    <a:pt x="353796" y="51257"/>
                  </a:lnTo>
                  <a:lnTo>
                    <a:pt x="352869" y="50787"/>
                  </a:lnTo>
                  <a:lnTo>
                    <a:pt x="352412" y="50787"/>
                  </a:lnTo>
                  <a:lnTo>
                    <a:pt x="354266" y="52184"/>
                  </a:lnTo>
                  <a:close/>
                </a:path>
                <a:path w="5058409" h="2493010">
                  <a:moveTo>
                    <a:pt x="999185" y="399008"/>
                  </a:moveTo>
                  <a:lnTo>
                    <a:pt x="997788" y="399008"/>
                  </a:lnTo>
                  <a:lnTo>
                    <a:pt x="996861" y="399478"/>
                  </a:lnTo>
                  <a:lnTo>
                    <a:pt x="998715" y="399478"/>
                  </a:lnTo>
                  <a:lnTo>
                    <a:pt x="999185" y="399008"/>
                  </a:lnTo>
                  <a:close/>
                </a:path>
                <a:path w="5058409" h="2493010">
                  <a:moveTo>
                    <a:pt x="1581416" y="417639"/>
                  </a:moveTo>
                  <a:lnTo>
                    <a:pt x="1579892" y="417499"/>
                  </a:lnTo>
                  <a:lnTo>
                    <a:pt x="1577708" y="417639"/>
                  </a:lnTo>
                  <a:lnTo>
                    <a:pt x="1581416" y="417639"/>
                  </a:lnTo>
                  <a:close/>
                </a:path>
                <a:path w="5058409" h="2493010">
                  <a:moveTo>
                    <a:pt x="1774101" y="415658"/>
                  </a:moveTo>
                  <a:lnTo>
                    <a:pt x="1772704" y="414731"/>
                  </a:lnTo>
                  <a:lnTo>
                    <a:pt x="1771319" y="414731"/>
                  </a:lnTo>
                  <a:lnTo>
                    <a:pt x="1774101" y="415658"/>
                  </a:lnTo>
                  <a:close/>
                </a:path>
                <a:path w="5058409" h="2493010">
                  <a:moveTo>
                    <a:pt x="2234463" y="390334"/>
                  </a:moveTo>
                  <a:lnTo>
                    <a:pt x="2233765" y="390969"/>
                  </a:lnTo>
                  <a:lnTo>
                    <a:pt x="2234222" y="390969"/>
                  </a:lnTo>
                  <a:lnTo>
                    <a:pt x="2234463" y="390334"/>
                  </a:lnTo>
                  <a:close/>
                </a:path>
                <a:path w="5058409" h="2493010">
                  <a:moveTo>
                    <a:pt x="2276475" y="350329"/>
                  </a:moveTo>
                  <a:lnTo>
                    <a:pt x="2264410" y="342709"/>
                  </a:lnTo>
                  <a:lnTo>
                    <a:pt x="2258834" y="338899"/>
                  </a:lnTo>
                  <a:lnTo>
                    <a:pt x="2253259" y="333819"/>
                  </a:lnTo>
                  <a:lnTo>
                    <a:pt x="2230513" y="333819"/>
                  </a:lnTo>
                  <a:lnTo>
                    <a:pt x="2219363" y="332549"/>
                  </a:lnTo>
                  <a:lnTo>
                    <a:pt x="2215184" y="331279"/>
                  </a:lnTo>
                  <a:lnTo>
                    <a:pt x="2206828" y="331279"/>
                  </a:lnTo>
                  <a:lnTo>
                    <a:pt x="2203577" y="332549"/>
                  </a:lnTo>
                  <a:lnTo>
                    <a:pt x="2196617" y="333819"/>
                  </a:lnTo>
                  <a:lnTo>
                    <a:pt x="2191512" y="336359"/>
                  </a:lnTo>
                  <a:lnTo>
                    <a:pt x="2183282" y="337629"/>
                  </a:lnTo>
                  <a:lnTo>
                    <a:pt x="2174100" y="340169"/>
                  </a:lnTo>
                  <a:lnTo>
                    <a:pt x="2164219" y="342709"/>
                  </a:lnTo>
                  <a:lnTo>
                    <a:pt x="2153907" y="343979"/>
                  </a:lnTo>
                  <a:lnTo>
                    <a:pt x="2146935" y="345249"/>
                  </a:lnTo>
                  <a:lnTo>
                    <a:pt x="2139505" y="346519"/>
                  </a:lnTo>
                  <a:lnTo>
                    <a:pt x="2133003" y="347789"/>
                  </a:lnTo>
                  <a:lnTo>
                    <a:pt x="2126043" y="347789"/>
                  </a:lnTo>
                  <a:lnTo>
                    <a:pt x="2120011" y="349059"/>
                  </a:lnTo>
                  <a:lnTo>
                    <a:pt x="2103297" y="350329"/>
                  </a:lnTo>
                  <a:lnTo>
                    <a:pt x="2095868" y="351599"/>
                  </a:lnTo>
                  <a:lnTo>
                    <a:pt x="2089823" y="351599"/>
                  </a:lnTo>
                  <a:lnTo>
                    <a:pt x="2081009" y="350329"/>
                  </a:lnTo>
                  <a:lnTo>
                    <a:pt x="2073833" y="350329"/>
                  </a:lnTo>
                  <a:lnTo>
                    <a:pt x="2065743" y="349059"/>
                  </a:lnTo>
                  <a:lnTo>
                    <a:pt x="1999284" y="345249"/>
                  </a:lnTo>
                  <a:lnTo>
                    <a:pt x="1797138" y="345249"/>
                  </a:lnTo>
                  <a:lnTo>
                    <a:pt x="1769999" y="346519"/>
                  </a:lnTo>
                  <a:lnTo>
                    <a:pt x="1759712" y="346519"/>
                  </a:lnTo>
                  <a:lnTo>
                    <a:pt x="1742528" y="351599"/>
                  </a:lnTo>
                  <a:lnTo>
                    <a:pt x="1705190" y="346519"/>
                  </a:lnTo>
                  <a:lnTo>
                    <a:pt x="1624088" y="346519"/>
                  </a:lnTo>
                  <a:lnTo>
                    <a:pt x="1584667" y="343979"/>
                  </a:lnTo>
                  <a:lnTo>
                    <a:pt x="1583740" y="347789"/>
                  </a:lnTo>
                  <a:lnTo>
                    <a:pt x="1569339" y="347789"/>
                  </a:lnTo>
                  <a:lnTo>
                    <a:pt x="1570278" y="345249"/>
                  </a:lnTo>
                  <a:lnTo>
                    <a:pt x="1567027" y="345249"/>
                  </a:lnTo>
                  <a:lnTo>
                    <a:pt x="1517078" y="343979"/>
                  </a:lnTo>
                  <a:lnTo>
                    <a:pt x="1367434" y="343979"/>
                  </a:lnTo>
                  <a:lnTo>
                    <a:pt x="1223467" y="340169"/>
                  </a:lnTo>
                  <a:lnTo>
                    <a:pt x="1177937" y="336359"/>
                  </a:lnTo>
                  <a:lnTo>
                    <a:pt x="1165644" y="335089"/>
                  </a:lnTo>
                  <a:lnTo>
                    <a:pt x="1133411" y="332549"/>
                  </a:lnTo>
                  <a:lnTo>
                    <a:pt x="1122680" y="331279"/>
                  </a:lnTo>
                  <a:lnTo>
                    <a:pt x="1063256" y="333819"/>
                  </a:lnTo>
                  <a:lnTo>
                    <a:pt x="1003820" y="331279"/>
                  </a:lnTo>
                  <a:lnTo>
                    <a:pt x="986180" y="331279"/>
                  </a:lnTo>
                  <a:lnTo>
                    <a:pt x="986650" y="330009"/>
                  </a:lnTo>
                  <a:lnTo>
                    <a:pt x="969162" y="331279"/>
                  </a:lnTo>
                  <a:lnTo>
                    <a:pt x="949147" y="330009"/>
                  </a:lnTo>
                  <a:lnTo>
                    <a:pt x="928268" y="327469"/>
                  </a:lnTo>
                  <a:lnTo>
                    <a:pt x="908177" y="326199"/>
                  </a:lnTo>
                  <a:lnTo>
                    <a:pt x="909574" y="324929"/>
                  </a:lnTo>
                  <a:lnTo>
                    <a:pt x="854798" y="323659"/>
                  </a:lnTo>
                  <a:lnTo>
                    <a:pt x="800722" y="321119"/>
                  </a:lnTo>
                  <a:lnTo>
                    <a:pt x="640600" y="317309"/>
                  </a:lnTo>
                  <a:lnTo>
                    <a:pt x="587222" y="314769"/>
                  </a:lnTo>
                  <a:lnTo>
                    <a:pt x="479158" y="307149"/>
                  </a:lnTo>
                  <a:lnTo>
                    <a:pt x="453237" y="303339"/>
                  </a:lnTo>
                  <a:lnTo>
                    <a:pt x="426402" y="300799"/>
                  </a:lnTo>
                  <a:lnTo>
                    <a:pt x="370509" y="298259"/>
                  </a:lnTo>
                  <a:lnTo>
                    <a:pt x="356171" y="298259"/>
                  </a:lnTo>
                  <a:lnTo>
                    <a:pt x="341731" y="296989"/>
                  </a:lnTo>
                  <a:lnTo>
                    <a:pt x="327291" y="296989"/>
                  </a:lnTo>
                  <a:lnTo>
                    <a:pt x="312940" y="295719"/>
                  </a:lnTo>
                  <a:lnTo>
                    <a:pt x="305625" y="295719"/>
                  </a:lnTo>
                  <a:lnTo>
                    <a:pt x="298323" y="294449"/>
                  </a:lnTo>
                  <a:lnTo>
                    <a:pt x="291007" y="294449"/>
                  </a:lnTo>
                  <a:lnTo>
                    <a:pt x="270751" y="292087"/>
                  </a:lnTo>
                  <a:lnTo>
                    <a:pt x="270751" y="355079"/>
                  </a:lnTo>
                  <a:lnTo>
                    <a:pt x="260388" y="355079"/>
                  </a:lnTo>
                  <a:lnTo>
                    <a:pt x="262801" y="354139"/>
                  </a:lnTo>
                  <a:lnTo>
                    <a:pt x="266979" y="354139"/>
                  </a:lnTo>
                  <a:lnTo>
                    <a:pt x="270751" y="355079"/>
                  </a:lnTo>
                  <a:lnTo>
                    <a:pt x="270751" y="292087"/>
                  </a:lnTo>
                  <a:lnTo>
                    <a:pt x="269303" y="291909"/>
                  </a:lnTo>
                  <a:lnTo>
                    <a:pt x="261874" y="291909"/>
                  </a:lnTo>
                  <a:lnTo>
                    <a:pt x="248399" y="290639"/>
                  </a:lnTo>
                  <a:lnTo>
                    <a:pt x="238252" y="288099"/>
                  </a:lnTo>
                  <a:lnTo>
                    <a:pt x="220484" y="286829"/>
                  </a:lnTo>
                  <a:lnTo>
                    <a:pt x="196367" y="284289"/>
                  </a:lnTo>
                  <a:lnTo>
                    <a:pt x="167157" y="283019"/>
                  </a:lnTo>
                  <a:lnTo>
                    <a:pt x="121081" y="279565"/>
                  </a:lnTo>
                  <a:lnTo>
                    <a:pt x="125361" y="276860"/>
                  </a:lnTo>
                  <a:lnTo>
                    <a:pt x="124904" y="275590"/>
                  </a:lnTo>
                  <a:lnTo>
                    <a:pt x="133718" y="274320"/>
                  </a:lnTo>
                  <a:lnTo>
                    <a:pt x="131864" y="274320"/>
                  </a:lnTo>
                  <a:lnTo>
                    <a:pt x="132334" y="271780"/>
                  </a:lnTo>
                  <a:lnTo>
                    <a:pt x="133261" y="270510"/>
                  </a:lnTo>
                  <a:lnTo>
                    <a:pt x="135115" y="273050"/>
                  </a:lnTo>
                  <a:lnTo>
                    <a:pt x="139293" y="270510"/>
                  </a:lnTo>
                  <a:lnTo>
                    <a:pt x="144399" y="269240"/>
                  </a:lnTo>
                  <a:lnTo>
                    <a:pt x="149974" y="270510"/>
                  </a:lnTo>
                  <a:lnTo>
                    <a:pt x="147650" y="266700"/>
                  </a:lnTo>
                  <a:lnTo>
                    <a:pt x="148577" y="266700"/>
                  </a:lnTo>
                  <a:lnTo>
                    <a:pt x="153682" y="270510"/>
                  </a:lnTo>
                  <a:lnTo>
                    <a:pt x="150431" y="265430"/>
                  </a:lnTo>
                  <a:lnTo>
                    <a:pt x="150901" y="262890"/>
                  </a:lnTo>
                  <a:lnTo>
                    <a:pt x="152298" y="262890"/>
                  </a:lnTo>
                  <a:lnTo>
                    <a:pt x="151371" y="259080"/>
                  </a:lnTo>
                  <a:lnTo>
                    <a:pt x="154152" y="260350"/>
                  </a:lnTo>
                  <a:lnTo>
                    <a:pt x="157861" y="259080"/>
                  </a:lnTo>
                  <a:lnTo>
                    <a:pt x="151828" y="256540"/>
                  </a:lnTo>
                  <a:lnTo>
                    <a:pt x="156006" y="256540"/>
                  </a:lnTo>
                  <a:lnTo>
                    <a:pt x="158788" y="259080"/>
                  </a:lnTo>
                  <a:lnTo>
                    <a:pt x="153682" y="251460"/>
                  </a:lnTo>
                  <a:lnTo>
                    <a:pt x="155549" y="251460"/>
                  </a:lnTo>
                  <a:lnTo>
                    <a:pt x="160655" y="255270"/>
                  </a:lnTo>
                  <a:lnTo>
                    <a:pt x="165290" y="255270"/>
                  </a:lnTo>
                  <a:lnTo>
                    <a:pt x="162039" y="250190"/>
                  </a:lnTo>
                  <a:lnTo>
                    <a:pt x="165290" y="247650"/>
                  </a:lnTo>
                  <a:lnTo>
                    <a:pt x="168541" y="247650"/>
                  </a:lnTo>
                  <a:lnTo>
                    <a:pt x="169938" y="248920"/>
                  </a:lnTo>
                  <a:lnTo>
                    <a:pt x="171335" y="250190"/>
                  </a:lnTo>
                  <a:lnTo>
                    <a:pt x="172720" y="251460"/>
                  </a:lnTo>
                  <a:lnTo>
                    <a:pt x="172720" y="250190"/>
                  </a:lnTo>
                  <a:lnTo>
                    <a:pt x="172961" y="250825"/>
                  </a:lnTo>
                  <a:lnTo>
                    <a:pt x="173037" y="250190"/>
                  </a:lnTo>
                  <a:lnTo>
                    <a:pt x="173189" y="248920"/>
                  </a:lnTo>
                  <a:lnTo>
                    <a:pt x="175044" y="250190"/>
                  </a:lnTo>
                  <a:lnTo>
                    <a:pt x="175971" y="252730"/>
                  </a:lnTo>
                  <a:lnTo>
                    <a:pt x="179692" y="252730"/>
                  </a:lnTo>
                  <a:lnTo>
                    <a:pt x="175971" y="250190"/>
                  </a:lnTo>
                  <a:lnTo>
                    <a:pt x="177368" y="248920"/>
                  </a:lnTo>
                  <a:lnTo>
                    <a:pt x="175044" y="245110"/>
                  </a:lnTo>
                  <a:lnTo>
                    <a:pt x="170865" y="238760"/>
                  </a:lnTo>
                  <a:lnTo>
                    <a:pt x="169938" y="238760"/>
                  </a:lnTo>
                  <a:lnTo>
                    <a:pt x="169938" y="234950"/>
                  </a:lnTo>
                  <a:lnTo>
                    <a:pt x="170865" y="233680"/>
                  </a:lnTo>
                  <a:lnTo>
                    <a:pt x="173647" y="233680"/>
                  </a:lnTo>
                  <a:lnTo>
                    <a:pt x="175044" y="234950"/>
                  </a:lnTo>
                  <a:lnTo>
                    <a:pt x="175971" y="233680"/>
                  </a:lnTo>
                  <a:lnTo>
                    <a:pt x="177825" y="234950"/>
                  </a:lnTo>
                  <a:lnTo>
                    <a:pt x="179692" y="232410"/>
                  </a:lnTo>
                  <a:lnTo>
                    <a:pt x="178752" y="232410"/>
                  </a:lnTo>
                  <a:lnTo>
                    <a:pt x="179222" y="231140"/>
                  </a:lnTo>
                  <a:lnTo>
                    <a:pt x="180619" y="228600"/>
                  </a:lnTo>
                  <a:lnTo>
                    <a:pt x="182473" y="228600"/>
                  </a:lnTo>
                  <a:lnTo>
                    <a:pt x="183400" y="229870"/>
                  </a:lnTo>
                  <a:lnTo>
                    <a:pt x="189903" y="231140"/>
                  </a:lnTo>
                  <a:lnTo>
                    <a:pt x="188048" y="224790"/>
                  </a:lnTo>
                  <a:lnTo>
                    <a:pt x="191300" y="220980"/>
                  </a:lnTo>
                  <a:lnTo>
                    <a:pt x="193154" y="223520"/>
                  </a:lnTo>
                  <a:lnTo>
                    <a:pt x="196405" y="224790"/>
                  </a:lnTo>
                  <a:lnTo>
                    <a:pt x="190360" y="219710"/>
                  </a:lnTo>
                  <a:lnTo>
                    <a:pt x="192684" y="219710"/>
                  </a:lnTo>
                  <a:lnTo>
                    <a:pt x="195478" y="222250"/>
                  </a:lnTo>
                  <a:lnTo>
                    <a:pt x="193154" y="217170"/>
                  </a:lnTo>
                  <a:lnTo>
                    <a:pt x="197789" y="222250"/>
                  </a:lnTo>
                  <a:lnTo>
                    <a:pt x="200113" y="222250"/>
                  </a:lnTo>
                  <a:lnTo>
                    <a:pt x="196405" y="218440"/>
                  </a:lnTo>
                  <a:lnTo>
                    <a:pt x="201510" y="218440"/>
                  </a:lnTo>
                  <a:lnTo>
                    <a:pt x="202438" y="219710"/>
                  </a:lnTo>
                  <a:lnTo>
                    <a:pt x="204292" y="222250"/>
                  </a:lnTo>
                  <a:lnTo>
                    <a:pt x="205689" y="224790"/>
                  </a:lnTo>
                  <a:lnTo>
                    <a:pt x="204292" y="219710"/>
                  </a:lnTo>
                  <a:lnTo>
                    <a:pt x="207543" y="223520"/>
                  </a:lnTo>
                  <a:lnTo>
                    <a:pt x="204762" y="218440"/>
                  </a:lnTo>
                  <a:lnTo>
                    <a:pt x="205803" y="219710"/>
                  </a:lnTo>
                  <a:lnTo>
                    <a:pt x="208940" y="223520"/>
                  </a:lnTo>
                  <a:lnTo>
                    <a:pt x="208940" y="219710"/>
                  </a:lnTo>
                  <a:lnTo>
                    <a:pt x="210337" y="220980"/>
                  </a:lnTo>
                  <a:lnTo>
                    <a:pt x="210337" y="222250"/>
                  </a:lnTo>
                  <a:lnTo>
                    <a:pt x="211721" y="222250"/>
                  </a:lnTo>
                  <a:lnTo>
                    <a:pt x="209867" y="214630"/>
                  </a:lnTo>
                  <a:lnTo>
                    <a:pt x="210337" y="218440"/>
                  </a:lnTo>
                  <a:lnTo>
                    <a:pt x="206159" y="213360"/>
                  </a:lnTo>
                  <a:lnTo>
                    <a:pt x="204292" y="208280"/>
                  </a:lnTo>
                  <a:lnTo>
                    <a:pt x="205841" y="209550"/>
                  </a:lnTo>
                  <a:lnTo>
                    <a:pt x="208940" y="212090"/>
                  </a:lnTo>
                  <a:lnTo>
                    <a:pt x="208940" y="209550"/>
                  </a:lnTo>
                  <a:lnTo>
                    <a:pt x="209397" y="212090"/>
                  </a:lnTo>
                  <a:lnTo>
                    <a:pt x="210337" y="209550"/>
                  </a:lnTo>
                  <a:lnTo>
                    <a:pt x="212191" y="210820"/>
                  </a:lnTo>
                  <a:lnTo>
                    <a:pt x="213118" y="210820"/>
                  </a:lnTo>
                  <a:lnTo>
                    <a:pt x="211721" y="209550"/>
                  </a:lnTo>
                  <a:lnTo>
                    <a:pt x="211721" y="208280"/>
                  </a:lnTo>
                  <a:lnTo>
                    <a:pt x="212191" y="208280"/>
                  </a:lnTo>
                  <a:lnTo>
                    <a:pt x="213575" y="209550"/>
                  </a:lnTo>
                  <a:lnTo>
                    <a:pt x="214515" y="209550"/>
                  </a:lnTo>
                  <a:lnTo>
                    <a:pt x="211721" y="207010"/>
                  </a:lnTo>
                  <a:lnTo>
                    <a:pt x="211264" y="203200"/>
                  </a:lnTo>
                  <a:lnTo>
                    <a:pt x="214045" y="204470"/>
                  </a:lnTo>
                  <a:lnTo>
                    <a:pt x="214972" y="204470"/>
                  </a:lnTo>
                  <a:lnTo>
                    <a:pt x="214045" y="203200"/>
                  </a:lnTo>
                  <a:lnTo>
                    <a:pt x="215442" y="204470"/>
                  </a:lnTo>
                  <a:lnTo>
                    <a:pt x="218224" y="208280"/>
                  </a:lnTo>
                  <a:lnTo>
                    <a:pt x="215900" y="203200"/>
                  </a:lnTo>
                  <a:lnTo>
                    <a:pt x="217297" y="204470"/>
                  </a:lnTo>
                  <a:lnTo>
                    <a:pt x="215900" y="200660"/>
                  </a:lnTo>
                  <a:lnTo>
                    <a:pt x="218224" y="203200"/>
                  </a:lnTo>
                  <a:lnTo>
                    <a:pt x="218694" y="204470"/>
                  </a:lnTo>
                  <a:lnTo>
                    <a:pt x="224726" y="199390"/>
                  </a:lnTo>
                  <a:lnTo>
                    <a:pt x="227507" y="203200"/>
                  </a:lnTo>
                  <a:lnTo>
                    <a:pt x="224256" y="198120"/>
                  </a:lnTo>
                  <a:lnTo>
                    <a:pt x="231686" y="200660"/>
                  </a:lnTo>
                  <a:lnTo>
                    <a:pt x="227050" y="196850"/>
                  </a:lnTo>
                  <a:lnTo>
                    <a:pt x="230759" y="198120"/>
                  </a:lnTo>
                  <a:lnTo>
                    <a:pt x="229362" y="190500"/>
                  </a:lnTo>
                  <a:lnTo>
                    <a:pt x="234010" y="196850"/>
                  </a:lnTo>
                  <a:lnTo>
                    <a:pt x="237731" y="194310"/>
                  </a:lnTo>
                  <a:lnTo>
                    <a:pt x="234937" y="187960"/>
                  </a:lnTo>
                  <a:lnTo>
                    <a:pt x="241439" y="185420"/>
                  </a:lnTo>
                  <a:lnTo>
                    <a:pt x="247472" y="189230"/>
                  </a:lnTo>
                  <a:lnTo>
                    <a:pt x="250266" y="184150"/>
                  </a:lnTo>
                  <a:lnTo>
                    <a:pt x="253047" y="181610"/>
                  </a:lnTo>
                  <a:lnTo>
                    <a:pt x="256298" y="175260"/>
                  </a:lnTo>
                  <a:lnTo>
                    <a:pt x="258152" y="170180"/>
                  </a:lnTo>
                  <a:lnTo>
                    <a:pt x="261874" y="162560"/>
                  </a:lnTo>
                  <a:lnTo>
                    <a:pt x="266966" y="162560"/>
                  </a:lnTo>
                  <a:lnTo>
                    <a:pt x="269176" y="158750"/>
                  </a:lnTo>
                  <a:lnTo>
                    <a:pt x="270878" y="154940"/>
                  </a:lnTo>
                  <a:lnTo>
                    <a:pt x="274408" y="153670"/>
                  </a:lnTo>
                  <a:lnTo>
                    <a:pt x="272554" y="149860"/>
                  </a:lnTo>
                  <a:lnTo>
                    <a:pt x="279044" y="152400"/>
                  </a:lnTo>
                  <a:lnTo>
                    <a:pt x="277190" y="143510"/>
                  </a:lnTo>
                  <a:lnTo>
                    <a:pt x="284149" y="143510"/>
                  </a:lnTo>
                  <a:lnTo>
                    <a:pt x="283692" y="142240"/>
                  </a:lnTo>
                  <a:lnTo>
                    <a:pt x="283692" y="140970"/>
                  </a:lnTo>
                  <a:lnTo>
                    <a:pt x="282765" y="140970"/>
                  </a:lnTo>
                  <a:lnTo>
                    <a:pt x="280911" y="139700"/>
                  </a:lnTo>
                  <a:lnTo>
                    <a:pt x="282765" y="139700"/>
                  </a:lnTo>
                  <a:lnTo>
                    <a:pt x="283222" y="135890"/>
                  </a:lnTo>
                  <a:lnTo>
                    <a:pt x="289725" y="143510"/>
                  </a:lnTo>
                  <a:lnTo>
                    <a:pt x="287401" y="135890"/>
                  </a:lnTo>
                  <a:lnTo>
                    <a:pt x="291579" y="137160"/>
                  </a:lnTo>
                  <a:lnTo>
                    <a:pt x="287401" y="134620"/>
                  </a:lnTo>
                  <a:lnTo>
                    <a:pt x="289725" y="133350"/>
                  </a:lnTo>
                  <a:lnTo>
                    <a:pt x="290195" y="133350"/>
                  </a:lnTo>
                  <a:lnTo>
                    <a:pt x="291960" y="125730"/>
                  </a:lnTo>
                  <a:lnTo>
                    <a:pt x="296697" y="121920"/>
                  </a:lnTo>
                  <a:lnTo>
                    <a:pt x="301421" y="119380"/>
                  </a:lnTo>
                  <a:lnTo>
                    <a:pt x="303187" y="111760"/>
                  </a:lnTo>
                  <a:lnTo>
                    <a:pt x="306438" y="115570"/>
                  </a:lnTo>
                  <a:lnTo>
                    <a:pt x="302260" y="107950"/>
                  </a:lnTo>
                  <a:lnTo>
                    <a:pt x="306908" y="111760"/>
                  </a:lnTo>
                  <a:lnTo>
                    <a:pt x="313867" y="115570"/>
                  </a:lnTo>
                  <a:lnTo>
                    <a:pt x="308762" y="107950"/>
                  </a:lnTo>
                  <a:lnTo>
                    <a:pt x="308762" y="104140"/>
                  </a:lnTo>
                  <a:lnTo>
                    <a:pt x="307835" y="104140"/>
                  </a:lnTo>
                  <a:lnTo>
                    <a:pt x="310616" y="101600"/>
                  </a:lnTo>
                  <a:lnTo>
                    <a:pt x="312000" y="102870"/>
                  </a:lnTo>
                  <a:lnTo>
                    <a:pt x="311200" y="101600"/>
                  </a:lnTo>
                  <a:lnTo>
                    <a:pt x="310235" y="99060"/>
                  </a:lnTo>
                  <a:lnTo>
                    <a:pt x="311086" y="100330"/>
                  </a:lnTo>
                  <a:lnTo>
                    <a:pt x="317703" y="96520"/>
                  </a:lnTo>
                  <a:lnTo>
                    <a:pt x="322986" y="90170"/>
                  </a:lnTo>
                  <a:lnTo>
                    <a:pt x="327990" y="83820"/>
                  </a:lnTo>
                  <a:lnTo>
                    <a:pt x="333832" y="78740"/>
                  </a:lnTo>
                  <a:lnTo>
                    <a:pt x="331978" y="77470"/>
                  </a:lnTo>
                  <a:lnTo>
                    <a:pt x="333832" y="74930"/>
                  </a:lnTo>
                  <a:lnTo>
                    <a:pt x="334302" y="71120"/>
                  </a:lnTo>
                  <a:lnTo>
                    <a:pt x="341731" y="72390"/>
                  </a:lnTo>
                  <a:lnTo>
                    <a:pt x="337083" y="64770"/>
                  </a:lnTo>
                  <a:lnTo>
                    <a:pt x="337553" y="64770"/>
                  </a:lnTo>
                  <a:lnTo>
                    <a:pt x="336626" y="60960"/>
                  </a:lnTo>
                  <a:lnTo>
                    <a:pt x="341858" y="63157"/>
                  </a:lnTo>
                  <a:lnTo>
                    <a:pt x="342658" y="60960"/>
                  </a:lnTo>
                  <a:lnTo>
                    <a:pt x="338937" y="54610"/>
                  </a:lnTo>
                  <a:lnTo>
                    <a:pt x="343115" y="54610"/>
                  </a:lnTo>
                  <a:lnTo>
                    <a:pt x="345706" y="53340"/>
                  </a:lnTo>
                  <a:lnTo>
                    <a:pt x="346367" y="50800"/>
                  </a:lnTo>
                  <a:lnTo>
                    <a:pt x="347040" y="46990"/>
                  </a:lnTo>
                  <a:lnTo>
                    <a:pt x="349618" y="48260"/>
                  </a:lnTo>
                  <a:lnTo>
                    <a:pt x="349161" y="46990"/>
                  </a:lnTo>
                  <a:lnTo>
                    <a:pt x="355663" y="46990"/>
                  </a:lnTo>
                  <a:lnTo>
                    <a:pt x="351485" y="38100"/>
                  </a:lnTo>
                  <a:lnTo>
                    <a:pt x="358444" y="38100"/>
                  </a:lnTo>
                  <a:lnTo>
                    <a:pt x="347306" y="17780"/>
                  </a:lnTo>
                  <a:lnTo>
                    <a:pt x="326872" y="5080"/>
                  </a:lnTo>
                  <a:lnTo>
                    <a:pt x="306908" y="0"/>
                  </a:lnTo>
                  <a:lnTo>
                    <a:pt x="302260" y="10160"/>
                  </a:lnTo>
                  <a:lnTo>
                    <a:pt x="299935" y="13970"/>
                  </a:lnTo>
                  <a:lnTo>
                    <a:pt x="297154" y="19050"/>
                  </a:lnTo>
                  <a:lnTo>
                    <a:pt x="280911" y="27940"/>
                  </a:lnTo>
                  <a:lnTo>
                    <a:pt x="279514" y="29210"/>
                  </a:lnTo>
                  <a:lnTo>
                    <a:pt x="274866" y="35560"/>
                  </a:lnTo>
                  <a:lnTo>
                    <a:pt x="271614" y="39370"/>
                  </a:lnTo>
                  <a:lnTo>
                    <a:pt x="268833" y="44450"/>
                  </a:lnTo>
                  <a:lnTo>
                    <a:pt x="265582" y="48260"/>
                  </a:lnTo>
                  <a:lnTo>
                    <a:pt x="262801" y="52070"/>
                  </a:lnTo>
                  <a:lnTo>
                    <a:pt x="260477" y="54610"/>
                  </a:lnTo>
                  <a:lnTo>
                    <a:pt x="258152" y="58420"/>
                  </a:lnTo>
                  <a:lnTo>
                    <a:pt x="256298" y="59690"/>
                  </a:lnTo>
                  <a:lnTo>
                    <a:pt x="256667" y="60960"/>
                  </a:lnTo>
                  <a:lnTo>
                    <a:pt x="258152" y="66040"/>
                  </a:lnTo>
                  <a:lnTo>
                    <a:pt x="250952" y="67310"/>
                  </a:lnTo>
                  <a:lnTo>
                    <a:pt x="248272" y="71120"/>
                  </a:lnTo>
                  <a:lnTo>
                    <a:pt x="246494" y="73660"/>
                  </a:lnTo>
                  <a:lnTo>
                    <a:pt x="242290" y="78740"/>
                  </a:lnTo>
                  <a:lnTo>
                    <a:pt x="235864" y="82550"/>
                  </a:lnTo>
                  <a:lnTo>
                    <a:pt x="239115" y="85090"/>
                  </a:lnTo>
                  <a:lnTo>
                    <a:pt x="237731" y="87630"/>
                  </a:lnTo>
                  <a:lnTo>
                    <a:pt x="235864" y="85090"/>
                  </a:lnTo>
                  <a:lnTo>
                    <a:pt x="234480" y="85090"/>
                  </a:lnTo>
                  <a:lnTo>
                    <a:pt x="232511" y="87630"/>
                  </a:lnTo>
                  <a:lnTo>
                    <a:pt x="223697" y="99060"/>
                  </a:lnTo>
                  <a:lnTo>
                    <a:pt x="221576" y="101600"/>
                  </a:lnTo>
                  <a:lnTo>
                    <a:pt x="216255" y="107950"/>
                  </a:lnTo>
                  <a:lnTo>
                    <a:pt x="213055" y="111760"/>
                  </a:lnTo>
                  <a:lnTo>
                    <a:pt x="201637" y="123190"/>
                  </a:lnTo>
                  <a:lnTo>
                    <a:pt x="188506" y="133350"/>
                  </a:lnTo>
                  <a:lnTo>
                    <a:pt x="185254" y="132080"/>
                  </a:lnTo>
                  <a:lnTo>
                    <a:pt x="182816" y="135890"/>
                  </a:lnTo>
                  <a:lnTo>
                    <a:pt x="182003" y="137160"/>
                  </a:lnTo>
                  <a:lnTo>
                    <a:pt x="178765" y="135890"/>
                  </a:lnTo>
                  <a:lnTo>
                    <a:pt x="178625" y="137160"/>
                  </a:lnTo>
                  <a:lnTo>
                    <a:pt x="177825" y="144780"/>
                  </a:lnTo>
                  <a:lnTo>
                    <a:pt x="172720" y="149860"/>
                  </a:lnTo>
                  <a:lnTo>
                    <a:pt x="167157" y="153670"/>
                  </a:lnTo>
                  <a:lnTo>
                    <a:pt x="165290" y="156210"/>
                  </a:lnTo>
                  <a:lnTo>
                    <a:pt x="164833" y="156210"/>
                  </a:lnTo>
                  <a:lnTo>
                    <a:pt x="164363" y="154940"/>
                  </a:lnTo>
                  <a:lnTo>
                    <a:pt x="164363" y="156210"/>
                  </a:lnTo>
                  <a:lnTo>
                    <a:pt x="164363" y="160020"/>
                  </a:lnTo>
                  <a:lnTo>
                    <a:pt x="157403" y="161290"/>
                  </a:lnTo>
                  <a:lnTo>
                    <a:pt x="153225" y="162560"/>
                  </a:lnTo>
                  <a:lnTo>
                    <a:pt x="139623" y="173990"/>
                  </a:lnTo>
                  <a:lnTo>
                    <a:pt x="129235" y="185420"/>
                  </a:lnTo>
                  <a:lnTo>
                    <a:pt x="126936" y="187960"/>
                  </a:lnTo>
                  <a:lnTo>
                    <a:pt x="124231" y="190500"/>
                  </a:lnTo>
                  <a:lnTo>
                    <a:pt x="119329" y="195135"/>
                  </a:lnTo>
                  <a:lnTo>
                    <a:pt x="119329" y="274320"/>
                  </a:lnTo>
                  <a:lnTo>
                    <a:pt x="117005" y="275590"/>
                  </a:lnTo>
                  <a:lnTo>
                    <a:pt x="114465" y="279069"/>
                  </a:lnTo>
                  <a:lnTo>
                    <a:pt x="108254" y="278599"/>
                  </a:lnTo>
                  <a:lnTo>
                    <a:pt x="109118" y="278130"/>
                  </a:lnTo>
                  <a:lnTo>
                    <a:pt x="108648" y="274320"/>
                  </a:lnTo>
                  <a:lnTo>
                    <a:pt x="114681" y="275590"/>
                  </a:lnTo>
                  <a:lnTo>
                    <a:pt x="112826" y="271780"/>
                  </a:lnTo>
                  <a:lnTo>
                    <a:pt x="117005" y="271780"/>
                  </a:lnTo>
                  <a:lnTo>
                    <a:pt x="119329" y="274320"/>
                  </a:lnTo>
                  <a:lnTo>
                    <a:pt x="119329" y="195135"/>
                  </a:lnTo>
                  <a:lnTo>
                    <a:pt x="117500" y="196850"/>
                  </a:lnTo>
                  <a:lnTo>
                    <a:pt x="116154" y="198120"/>
                  </a:lnTo>
                  <a:lnTo>
                    <a:pt x="114808" y="199390"/>
                  </a:lnTo>
                  <a:lnTo>
                    <a:pt x="113461" y="200660"/>
                  </a:lnTo>
                  <a:lnTo>
                    <a:pt x="108902" y="203200"/>
                  </a:lnTo>
                  <a:lnTo>
                    <a:pt x="99783" y="208280"/>
                  </a:lnTo>
                  <a:lnTo>
                    <a:pt x="97510" y="209550"/>
                  </a:lnTo>
                  <a:lnTo>
                    <a:pt x="90538" y="209550"/>
                  </a:lnTo>
                  <a:lnTo>
                    <a:pt x="85902" y="214630"/>
                  </a:lnTo>
                  <a:lnTo>
                    <a:pt x="83807" y="217170"/>
                  </a:lnTo>
                  <a:lnTo>
                    <a:pt x="81724" y="219710"/>
                  </a:lnTo>
                  <a:lnTo>
                    <a:pt x="80391" y="220980"/>
                  </a:lnTo>
                  <a:lnTo>
                    <a:pt x="72428" y="228600"/>
                  </a:lnTo>
                  <a:lnTo>
                    <a:pt x="65011" y="229870"/>
                  </a:lnTo>
                  <a:lnTo>
                    <a:pt x="61061" y="233680"/>
                  </a:lnTo>
                  <a:lnTo>
                    <a:pt x="59436" y="235089"/>
                  </a:lnTo>
                  <a:lnTo>
                    <a:pt x="59436" y="308610"/>
                  </a:lnTo>
                  <a:lnTo>
                    <a:pt x="58508" y="309448"/>
                  </a:lnTo>
                  <a:lnTo>
                    <a:pt x="53860" y="307340"/>
                  </a:lnTo>
                  <a:lnTo>
                    <a:pt x="54787" y="306070"/>
                  </a:lnTo>
                  <a:lnTo>
                    <a:pt x="59436" y="308610"/>
                  </a:lnTo>
                  <a:lnTo>
                    <a:pt x="59436" y="235089"/>
                  </a:lnTo>
                  <a:lnTo>
                    <a:pt x="53682" y="240030"/>
                  </a:lnTo>
                  <a:lnTo>
                    <a:pt x="46393" y="247650"/>
                  </a:lnTo>
                  <a:lnTo>
                    <a:pt x="43637" y="251460"/>
                  </a:lnTo>
                  <a:lnTo>
                    <a:pt x="42722" y="252730"/>
                  </a:lnTo>
                  <a:lnTo>
                    <a:pt x="48285" y="255270"/>
                  </a:lnTo>
                  <a:lnTo>
                    <a:pt x="46558" y="256540"/>
                  </a:lnTo>
                  <a:lnTo>
                    <a:pt x="43103" y="259080"/>
                  </a:lnTo>
                  <a:lnTo>
                    <a:pt x="38138" y="261620"/>
                  </a:lnTo>
                  <a:lnTo>
                    <a:pt x="33604" y="264160"/>
                  </a:lnTo>
                  <a:lnTo>
                    <a:pt x="31661" y="266700"/>
                  </a:lnTo>
                  <a:lnTo>
                    <a:pt x="29718" y="269240"/>
                  </a:lnTo>
                  <a:lnTo>
                    <a:pt x="29248" y="267970"/>
                  </a:lnTo>
                  <a:lnTo>
                    <a:pt x="28879" y="269240"/>
                  </a:lnTo>
                  <a:lnTo>
                    <a:pt x="28638" y="270510"/>
                  </a:lnTo>
                  <a:lnTo>
                    <a:pt x="28384" y="271780"/>
                  </a:lnTo>
                  <a:lnTo>
                    <a:pt x="24485" y="274320"/>
                  </a:lnTo>
                  <a:lnTo>
                    <a:pt x="13931" y="273050"/>
                  </a:lnTo>
                  <a:lnTo>
                    <a:pt x="13004" y="273050"/>
                  </a:lnTo>
                  <a:lnTo>
                    <a:pt x="13309" y="273469"/>
                  </a:lnTo>
                  <a:lnTo>
                    <a:pt x="15786" y="274320"/>
                  </a:lnTo>
                  <a:lnTo>
                    <a:pt x="15328" y="275590"/>
                  </a:lnTo>
                  <a:lnTo>
                    <a:pt x="15633" y="278130"/>
                  </a:lnTo>
                  <a:lnTo>
                    <a:pt x="15786" y="279400"/>
                  </a:lnTo>
                  <a:lnTo>
                    <a:pt x="14401" y="280670"/>
                  </a:lnTo>
                  <a:lnTo>
                    <a:pt x="12534" y="278130"/>
                  </a:lnTo>
                  <a:lnTo>
                    <a:pt x="9283" y="281940"/>
                  </a:lnTo>
                  <a:lnTo>
                    <a:pt x="6032" y="279400"/>
                  </a:lnTo>
                  <a:lnTo>
                    <a:pt x="6032" y="281940"/>
                  </a:lnTo>
                  <a:lnTo>
                    <a:pt x="10680" y="288290"/>
                  </a:lnTo>
                  <a:lnTo>
                    <a:pt x="5105" y="285750"/>
                  </a:lnTo>
                  <a:lnTo>
                    <a:pt x="7899" y="288290"/>
                  </a:lnTo>
                  <a:lnTo>
                    <a:pt x="9283" y="289560"/>
                  </a:lnTo>
                  <a:lnTo>
                    <a:pt x="6350" y="289560"/>
                  </a:lnTo>
                  <a:lnTo>
                    <a:pt x="6502" y="289407"/>
                  </a:lnTo>
                  <a:lnTo>
                    <a:pt x="4178" y="289407"/>
                  </a:lnTo>
                  <a:lnTo>
                    <a:pt x="5575" y="290334"/>
                  </a:lnTo>
                  <a:lnTo>
                    <a:pt x="6032" y="290830"/>
                  </a:lnTo>
                  <a:lnTo>
                    <a:pt x="4648" y="290830"/>
                  </a:lnTo>
                  <a:lnTo>
                    <a:pt x="3251" y="292100"/>
                  </a:lnTo>
                  <a:lnTo>
                    <a:pt x="0" y="295910"/>
                  </a:lnTo>
                  <a:lnTo>
                    <a:pt x="927" y="298450"/>
                  </a:lnTo>
                  <a:lnTo>
                    <a:pt x="11150" y="302298"/>
                  </a:lnTo>
                  <a:lnTo>
                    <a:pt x="14401" y="303530"/>
                  </a:lnTo>
                  <a:lnTo>
                    <a:pt x="19507" y="306070"/>
                  </a:lnTo>
                  <a:lnTo>
                    <a:pt x="15786" y="307340"/>
                  </a:lnTo>
                  <a:lnTo>
                    <a:pt x="19037" y="307340"/>
                  </a:lnTo>
                  <a:lnTo>
                    <a:pt x="20434" y="308610"/>
                  </a:lnTo>
                  <a:lnTo>
                    <a:pt x="19964" y="307340"/>
                  </a:lnTo>
                  <a:lnTo>
                    <a:pt x="22288" y="307340"/>
                  </a:lnTo>
                  <a:lnTo>
                    <a:pt x="24142" y="309880"/>
                  </a:lnTo>
                  <a:lnTo>
                    <a:pt x="25539" y="311150"/>
                  </a:lnTo>
                  <a:lnTo>
                    <a:pt x="25069" y="309880"/>
                  </a:lnTo>
                  <a:lnTo>
                    <a:pt x="24612" y="309880"/>
                  </a:lnTo>
                  <a:lnTo>
                    <a:pt x="24142" y="308610"/>
                  </a:lnTo>
                  <a:lnTo>
                    <a:pt x="24612" y="308610"/>
                  </a:lnTo>
                  <a:lnTo>
                    <a:pt x="25069" y="307340"/>
                  </a:lnTo>
                  <a:lnTo>
                    <a:pt x="27393" y="307340"/>
                  </a:lnTo>
                  <a:lnTo>
                    <a:pt x="28092" y="308610"/>
                  </a:lnTo>
                  <a:lnTo>
                    <a:pt x="28638" y="309448"/>
                  </a:lnTo>
                  <a:lnTo>
                    <a:pt x="26936" y="304800"/>
                  </a:lnTo>
                  <a:lnTo>
                    <a:pt x="38442" y="309880"/>
                  </a:lnTo>
                  <a:lnTo>
                    <a:pt x="41325" y="311150"/>
                  </a:lnTo>
                  <a:lnTo>
                    <a:pt x="43180" y="309880"/>
                  </a:lnTo>
                  <a:lnTo>
                    <a:pt x="46901" y="311150"/>
                  </a:lnTo>
                  <a:lnTo>
                    <a:pt x="46786" y="309880"/>
                  </a:lnTo>
                  <a:lnTo>
                    <a:pt x="46659" y="308610"/>
                  </a:lnTo>
                  <a:lnTo>
                    <a:pt x="46545" y="307340"/>
                  </a:lnTo>
                  <a:lnTo>
                    <a:pt x="46431" y="306070"/>
                  </a:lnTo>
                  <a:lnTo>
                    <a:pt x="49212" y="306070"/>
                  </a:lnTo>
                  <a:lnTo>
                    <a:pt x="52933" y="304800"/>
                  </a:lnTo>
                  <a:lnTo>
                    <a:pt x="52933" y="306070"/>
                  </a:lnTo>
                  <a:lnTo>
                    <a:pt x="52933" y="308610"/>
                  </a:lnTo>
                  <a:lnTo>
                    <a:pt x="56184" y="309880"/>
                  </a:lnTo>
                  <a:lnTo>
                    <a:pt x="58039" y="309880"/>
                  </a:lnTo>
                  <a:lnTo>
                    <a:pt x="60820" y="311150"/>
                  </a:lnTo>
                  <a:lnTo>
                    <a:pt x="63144" y="309880"/>
                  </a:lnTo>
                  <a:lnTo>
                    <a:pt x="66217" y="310489"/>
                  </a:lnTo>
                  <a:lnTo>
                    <a:pt x="68021" y="312229"/>
                  </a:lnTo>
                  <a:lnTo>
                    <a:pt x="85725" y="330009"/>
                  </a:lnTo>
                  <a:lnTo>
                    <a:pt x="88290" y="332549"/>
                  </a:lnTo>
                  <a:lnTo>
                    <a:pt x="101104" y="345249"/>
                  </a:lnTo>
                  <a:lnTo>
                    <a:pt x="112649" y="356679"/>
                  </a:lnTo>
                  <a:lnTo>
                    <a:pt x="115201" y="359219"/>
                  </a:lnTo>
                  <a:lnTo>
                    <a:pt x="126288" y="370649"/>
                  </a:lnTo>
                  <a:lnTo>
                    <a:pt x="134594" y="378269"/>
                  </a:lnTo>
                  <a:lnTo>
                    <a:pt x="139763" y="383349"/>
                  </a:lnTo>
                  <a:lnTo>
                    <a:pt x="135115" y="376999"/>
                  </a:lnTo>
                  <a:lnTo>
                    <a:pt x="130467" y="369379"/>
                  </a:lnTo>
                  <a:lnTo>
                    <a:pt x="122110" y="356679"/>
                  </a:lnTo>
                  <a:lnTo>
                    <a:pt x="129679" y="364299"/>
                  </a:lnTo>
                  <a:lnTo>
                    <a:pt x="136969" y="371919"/>
                  </a:lnTo>
                  <a:lnTo>
                    <a:pt x="143916" y="378269"/>
                  </a:lnTo>
                  <a:lnTo>
                    <a:pt x="150431" y="385889"/>
                  </a:lnTo>
                  <a:lnTo>
                    <a:pt x="161925" y="398589"/>
                  </a:lnTo>
                  <a:lnTo>
                    <a:pt x="165531" y="402399"/>
                  </a:lnTo>
                  <a:lnTo>
                    <a:pt x="172720" y="410019"/>
                  </a:lnTo>
                  <a:lnTo>
                    <a:pt x="175971" y="413829"/>
                  </a:lnTo>
                  <a:lnTo>
                    <a:pt x="179692" y="417639"/>
                  </a:lnTo>
                  <a:lnTo>
                    <a:pt x="182943" y="421449"/>
                  </a:lnTo>
                  <a:lnTo>
                    <a:pt x="185254" y="423989"/>
                  </a:lnTo>
                  <a:lnTo>
                    <a:pt x="187121" y="427799"/>
                  </a:lnTo>
                  <a:lnTo>
                    <a:pt x="189433" y="430339"/>
                  </a:lnTo>
                  <a:lnTo>
                    <a:pt x="192684" y="434149"/>
                  </a:lnTo>
                  <a:lnTo>
                    <a:pt x="195478" y="437959"/>
                  </a:lnTo>
                  <a:lnTo>
                    <a:pt x="198729" y="441769"/>
                  </a:lnTo>
                  <a:lnTo>
                    <a:pt x="206692" y="451929"/>
                  </a:lnTo>
                  <a:lnTo>
                    <a:pt x="207695" y="453199"/>
                  </a:lnTo>
                  <a:lnTo>
                    <a:pt x="216827" y="465899"/>
                  </a:lnTo>
                  <a:lnTo>
                    <a:pt x="219011" y="468439"/>
                  </a:lnTo>
                  <a:lnTo>
                    <a:pt x="226669" y="477329"/>
                  </a:lnTo>
                  <a:lnTo>
                    <a:pt x="237731" y="491299"/>
                  </a:lnTo>
                  <a:lnTo>
                    <a:pt x="235407" y="490029"/>
                  </a:lnTo>
                  <a:lnTo>
                    <a:pt x="236105" y="491299"/>
                  </a:lnTo>
                  <a:lnTo>
                    <a:pt x="236791" y="492569"/>
                  </a:lnTo>
                  <a:lnTo>
                    <a:pt x="240969" y="493839"/>
                  </a:lnTo>
                  <a:lnTo>
                    <a:pt x="248399" y="502729"/>
                  </a:lnTo>
                  <a:lnTo>
                    <a:pt x="251358" y="506539"/>
                  </a:lnTo>
                  <a:lnTo>
                    <a:pt x="254673" y="511619"/>
                  </a:lnTo>
                  <a:lnTo>
                    <a:pt x="258330" y="516699"/>
                  </a:lnTo>
                  <a:lnTo>
                    <a:pt x="262331" y="524319"/>
                  </a:lnTo>
                  <a:lnTo>
                    <a:pt x="266674" y="531939"/>
                  </a:lnTo>
                  <a:lnTo>
                    <a:pt x="271335" y="542099"/>
                  </a:lnTo>
                  <a:lnTo>
                    <a:pt x="276237" y="553529"/>
                  </a:lnTo>
                  <a:lnTo>
                    <a:pt x="279323" y="561149"/>
                  </a:lnTo>
                  <a:lnTo>
                    <a:pt x="281368" y="566229"/>
                  </a:lnTo>
                  <a:lnTo>
                    <a:pt x="280911" y="567499"/>
                  </a:lnTo>
                  <a:lnTo>
                    <a:pt x="282295" y="568769"/>
                  </a:lnTo>
                  <a:lnTo>
                    <a:pt x="283222" y="568769"/>
                  </a:lnTo>
                  <a:lnTo>
                    <a:pt x="285089" y="573849"/>
                  </a:lnTo>
                  <a:lnTo>
                    <a:pt x="282295" y="563689"/>
                  </a:lnTo>
                  <a:lnTo>
                    <a:pt x="298551" y="582739"/>
                  </a:lnTo>
                  <a:lnTo>
                    <a:pt x="297624" y="585279"/>
                  </a:lnTo>
                  <a:lnTo>
                    <a:pt x="301332" y="590359"/>
                  </a:lnTo>
                  <a:lnTo>
                    <a:pt x="307835" y="601789"/>
                  </a:lnTo>
                  <a:lnTo>
                    <a:pt x="311543" y="608139"/>
                  </a:lnTo>
                  <a:lnTo>
                    <a:pt x="312483" y="617029"/>
                  </a:lnTo>
                  <a:lnTo>
                    <a:pt x="316598" y="619569"/>
                  </a:lnTo>
                  <a:lnTo>
                    <a:pt x="320713" y="620839"/>
                  </a:lnTo>
                  <a:lnTo>
                    <a:pt x="325018" y="625919"/>
                  </a:lnTo>
                  <a:lnTo>
                    <a:pt x="328625" y="634809"/>
                  </a:lnTo>
                  <a:lnTo>
                    <a:pt x="329653" y="637349"/>
                  </a:lnTo>
                  <a:lnTo>
                    <a:pt x="331292" y="634809"/>
                  </a:lnTo>
                  <a:lnTo>
                    <a:pt x="334073" y="637349"/>
                  </a:lnTo>
                  <a:lnTo>
                    <a:pt x="336842" y="641159"/>
                  </a:lnTo>
                  <a:lnTo>
                    <a:pt x="338480" y="642429"/>
                  </a:lnTo>
                  <a:lnTo>
                    <a:pt x="338480" y="646239"/>
                  </a:lnTo>
                  <a:lnTo>
                    <a:pt x="338937" y="647509"/>
                  </a:lnTo>
                  <a:lnTo>
                    <a:pt x="344665" y="657669"/>
                  </a:lnTo>
                  <a:lnTo>
                    <a:pt x="351307" y="669099"/>
                  </a:lnTo>
                  <a:lnTo>
                    <a:pt x="357682" y="679259"/>
                  </a:lnTo>
                  <a:lnTo>
                    <a:pt x="362623" y="684339"/>
                  </a:lnTo>
                  <a:lnTo>
                    <a:pt x="362077" y="683069"/>
                  </a:lnTo>
                  <a:lnTo>
                    <a:pt x="360654" y="676719"/>
                  </a:lnTo>
                  <a:lnTo>
                    <a:pt x="358711" y="667829"/>
                  </a:lnTo>
                  <a:lnTo>
                    <a:pt x="356590" y="657669"/>
                  </a:lnTo>
                  <a:lnTo>
                    <a:pt x="354114" y="646239"/>
                  </a:lnTo>
                  <a:lnTo>
                    <a:pt x="351764" y="636079"/>
                  </a:lnTo>
                  <a:lnTo>
                    <a:pt x="349859" y="625919"/>
                  </a:lnTo>
                  <a:lnTo>
                    <a:pt x="348691" y="619569"/>
                  </a:lnTo>
                  <a:lnTo>
                    <a:pt x="352259" y="627189"/>
                  </a:lnTo>
                  <a:lnTo>
                    <a:pt x="352869" y="627189"/>
                  </a:lnTo>
                  <a:lnTo>
                    <a:pt x="352094" y="623379"/>
                  </a:lnTo>
                  <a:lnTo>
                    <a:pt x="351485" y="619569"/>
                  </a:lnTo>
                  <a:lnTo>
                    <a:pt x="351155" y="619353"/>
                  </a:lnTo>
                  <a:lnTo>
                    <a:pt x="352412" y="619594"/>
                  </a:lnTo>
                  <a:lnTo>
                    <a:pt x="350545" y="617283"/>
                  </a:lnTo>
                  <a:lnTo>
                    <a:pt x="350088" y="617740"/>
                  </a:lnTo>
                  <a:lnTo>
                    <a:pt x="350088" y="618629"/>
                  </a:lnTo>
                  <a:lnTo>
                    <a:pt x="349618" y="618299"/>
                  </a:lnTo>
                  <a:lnTo>
                    <a:pt x="345440" y="608139"/>
                  </a:lnTo>
                  <a:lnTo>
                    <a:pt x="348234" y="606869"/>
                  </a:lnTo>
                  <a:lnTo>
                    <a:pt x="347179" y="603059"/>
                  </a:lnTo>
                  <a:lnTo>
                    <a:pt x="344512" y="603059"/>
                  </a:lnTo>
                  <a:lnTo>
                    <a:pt x="344144" y="602399"/>
                  </a:lnTo>
                  <a:lnTo>
                    <a:pt x="344512" y="602018"/>
                  </a:lnTo>
                  <a:lnTo>
                    <a:pt x="344512" y="601560"/>
                  </a:lnTo>
                  <a:lnTo>
                    <a:pt x="343369" y="601002"/>
                  </a:lnTo>
                  <a:lnTo>
                    <a:pt x="343115" y="600519"/>
                  </a:lnTo>
                  <a:lnTo>
                    <a:pt x="343268" y="600951"/>
                  </a:lnTo>
                  <a:lnTo>
                    <a:pt x="342785" y="600710"/>
                  </a:lnTo>
                  <a:lnTo>
                    <a:pt x="340804" y="597979"/>
                  </a:lnTo>
                  <a:lnTo>
                    <a:pt x="337553" y="590359"/>
                  </a:lnTo>
                  <a:lnTo>
                    <a:pt x="335699" y="586549"/>
                  </a:lnTo>
                  <a:lnTo>
                    <a:pt x="338010" y="585279"/>
                  </a:lnTo>
                  <a:lnTo>
                    <a:pt x="334721" y="581469"/>
                  </a:lnTo>
                  <a:lnTo>
                    <a:pt x="331165" y="575119"/>
                  </a:lnTo>
                  <a:lnTo>
                    <a:pt x="327431" y="566229"/>
                  </a:lnTo>
                  <a:lnTo>
                    <a:pt x="323621" y="556069"/>
                  </a:lnTo>
                  <a:lnTo>
                    <a:pt x="316420" y="537019"/>
                  </a:lnTo>
                  <a:lnTo>
                    <a:pt x="313309" y="528129"/>
                  </a:lnTo>
                  <a:lnTo>
                    <a:pt x="310616" y="523049"/>
                  </a:lnTo>
                  <a:lnTo>
                    <a:pt x="306895" y="515429"/>
                  </a:lnTo>
                  <a:lnTo>
                    <a:pt x="284124" y="479869"/>
                  </a:lnTo>
                  <a:lnTo>
                    <a:pt x="283222" y="476059"/>
                  </a:lnTo>
                  <a:lnTo>
                    <a:pt x="283718" y="473519"/>
                  </a:lnTo>
                  <a:lnTo>
                    <a:pt x="282295" y="468439"/>
                  </a:lnTo>
                  <a:lnTo>
                    <a:pt x="279158" y="463359"/>
                  </a:lnTo>
                  <a:lnTo>
                    <a:pt x="278752" y="464629"/>
                  </a:lnTo>
                  <a:lnTo>
                    <a:pt x="278828" y="465899"/>
                  </a:lnTo>
                  <a:lnTo>
                    <a:pt x="278904" y="467169"/>
                  </a:lnTo>
                  <a:lnTo>
                    <a:pt x="278968" y="468439"/>
                  </a:lnTo>
                  <a:lnTo>
                    <a:pt x="277660" y="467169"/>
                  </a:lnTo>
                  <a:lnTo>
                    <a:pt x="275793" y="463359"/>
                  </a:lnTo>
                  <a:lnTo>
                    <a:pt x="274408" y="459549"/>
                  </a:lnTo>
                  <a:lnTo>
                    <a:pt x="272542" y="455739"/>
                  </a:lnTo>
                  <a:lnTo>
                    <a:pt x="271157" y="451929"/>
                  </a:lnTo>
                  <a:lnTo>
                    <a:pt x="277190" y="459549"/>
                  </a:lnTo>
                  <a:lnTo>
                    <a:pt x="275336" y="454469"/>
                  </a:lnTo>
                  <a:lnTo>
                    <a:pt x="275336" y="452945"/>
                  </a:lnTo>
                  <a:lnTo>
                    <a:pt x="276263" y="454037"/>
                  </a:lnTo>
                  <a:lnTo>
                    <a:pt x="278117" y="456349"/>
                  </a:lnTo>
                  <a:lnTo>
                    <a:pt x="279514" y="457746"/>
                  </a:lnTo>
                  <a:lnTo>
                    <a:pt x="274408" y="449414"/>
                  </a:lnTo>
                  <a:lnTo>
                    <a:pt x="273939" y="449414"/>
                  </a:lnTo>
                  <a:lnTo>
                    <a:pt x="273939" y="450240"/>
                  </a:lnTo>
                  <a:lnTo>
                    <a:pt x="271157" y="446849"/>
                  </a:lnTo>
                  <a:lnTo>
                    <a:pt x="266509" y="437959"/>
                  </a:lnTo>
                  <a:lnTo>
                    <a:pt x="262331" y="431609"/>
                  </a:lnTo>
                  <a:lnTo>
                    <a:pt x="257695" y="423989"/>
                  </a:lnTo>
                  <a:lnTo>
                    <a:pt x="253517" y="418909"/>
                  </a:lnTo>
                  <a:lnTo>
                    <a:pt x="249796" y="418909"/>
                  </a:lnTo>
                  <a:lnTo>
                    <a:pt x="244030" y="408749"/>
                  </a:lnTo>
                  <a:lnTo>
                    <a:pt x="240919" y="402399"/>
                  </a:lnTo>
                  <a:lnTo>
                    <a:pt x="239585" y="399262"/>
                  </a:lnTo>
                  <a:lnTo>
                    <a:pt x="239585" y="401129"/>
                  </a:lnTo>
                  <a:lnTo>
                    <a:pt x="239115" y="402399"/>
                  </a:lnTo>
                  <a:lnTo>
                    <a:pt x="236791" y="396062"/>
                  </a:lnTo>
                  <a:lnTo>
                    <a:pt x="239585" y="401129"/>
                  </a:lnTo>
                  <a:lnTo>
                    <a:pt x="239585" y="399262"/>
                  </a:lnTo>
                  <a:lnTo>
                    <a:pt x="238760" y="397319"/>
                  </a:lnTo>
                  <a:lnTo>
                    <a:pt x="235864" y="393509"/>
                  </a:lnTo>
                  <a:lnTo>
                    <a:pt x="235978" y="394779"/>
                  </a:lnTo>
                  <a:lnTo>
                    <a:pt x="236105" y="396049"/>
                  </a:lnTo>
                  <a:lnTo>
                    <a:pt x="236220" y="397319"/>
                  </a:lnTo>
                  <a:lnTo>
                    <a:pt x="236334" y="398589"/>
                  </a:lnTo>
                  <a:lnTo>
                    <a:pt x="237731" y="402399"/>
                  </a:lnTo>
                  <a:lnTo>
                    <a:pt x="236334" y="401129"/>
                  </a:lnTo>
                  <a:lnTo>
                    <a:pt x="233553" y="397319"/>
                  </a:lnTo>
                  <a:lnTo>
                    <a:pt x="232613" y="397319"/>
                  </a:lnTo>
                  <a:lnTo>
                    <a:pt x="232156" y="396049"/>
                  </a:lnTo>
                  <a:lnTo>
                    <a:pt x="230759" y="393509"/>
                  </a:lnTo>
                  <a:lnTo>
                    <a:pt x="230301" y="393509"/>
                  </a:lnTo>
                  <a:lnTo>
                    <a:pt x="229362" y="392239"/>
                  </a:lnTo>
                  <a:lnTo>
                    <a:pt x="228904" y="390969"/>
                  </a:lnTo>
                  <a:lnTo>
                    <a:pt x="227507" y="388429"/>
                  </a:lnTo>
                  <a:lnTo>
                    <a:pt x="225653" y="384619"/>
                  </a:lnTo>
                  <a:lnTo>
                    <a:pt x="224726" y="382079"/>
                  </a:lnTo>
                  <a:lnTo>
                    <a:pt x="222402" y="376999"/>
                  </a:lnTo>
                  <a:lnTo>
                    <a:pt x="221945" y="373189"/>
                  </a:lnTo>
                  <a:lnTo>
                    <a:pt x="216827" y="371919"/>
                  </a:lnTo>
                  <a:lnTo>
                    <a:pt x="214972" y="371919"/>
                  </a:lnTo>
                  <a:lnTo>
                    <a:pt x="211264" y="370649"/>
                  </a:lnTo>
                  <a:lnTo>
                    <a:pt x="208013" y="370649"/>
                  </a:lnTo>
                  <a:lnTo>
                    <a:pt x="204762" y="369379"/>
                  </a:lnTo>
                  <a:lnTo>
                    <a:pt x="201968" y="368109"/>
                  </a:lnTo>
                  <a:lnTo>
                    <a:pt x="197789" y="365569"/>
                  </a:lnTo>
                  <a:lnTo>
                    <a:pt x="198729" y="364299"/>
                  </a:lnTo>
                  <a:lnTo>
                    <a:pt x="191300" y="359219"/>
                  </a:lnTo>
                  <a:lnTo>
                    <a:pt x="191300" y="356679"/>
                  </a:lnTo>
                  <a:lnTo>
                    <a:pt x="195008" y="359219"/>
                  </a:lnTo>
                  <a:lnTo>
                    <a:pt x="195935" y="359219"/>
                  </a:lnTo>
                  <a:lnTo>
                    <a:pt x="190360" y="355409"/>
                  </a:lnTo>
                  <a:lnTo>
                    <a:pt x="186182" y="350329"/>
                  </a:lnTo>
                  <a:lnTo>
                    <a:pt x="182943" y="346519"/>
                  </a:lnTo>
                  <a:lnTo>
                    <a:pt x="180149" y="345249"/>
                  </a:lnTo>
                  <a:lnTo>
                    <a:pt x="185254" y="346519"/>
                  </a:lnTo>
                  <a:lnTo>
                    <a:pt x="190373" y="346519"/>
                  </a:lnTo>
                  <a:lnTo>
                    <a:pt x="192684" y="347789"/>
                  </a:lnTo>
                  <a:lnTo>
                    <a:pt x="195478" y="347789"/>
                  </a:lnTo>
                  <a:lnTo>
                    <a:pt x="186651" y="343979"/>
                  </a:lnTo>
                  <a:lnTo>
                    <a:pt x="166217" y="336359"/>
                  </a:lnTo>
                  <a:lnTo>
                    <a:pt x="155079" y="332549"/>
                  </a:lnTo>
                  <a:lnTo>
                    <a:pt x="162229" y="333819"/>
                  </a:lnTo>
                  <a:lnTo>
                    <a:pt x="186651" y="338899"/>
                  </a:lnTo>
                  <a:lnTo>
                    <a:pt x="191058" y="340169"/>
                  </a:lnTo>
                  <a:lnTo>
                    <a:pt x="195478" y="341439"/>
                  </a:lnTo>
                  <a:lnTo>
                    <a:pt x="201510" y="342709"/>
                  </a:lnTo>
                  <a:lnTo>
                    <a:pt x="199186" y="340169"/>
                  </a:lnTo>
                  <a:lnTo>
                    <a:pt x="205689" y="342709"/>
                  </a:lnTo>
                  <a:lnTo>
                    <a:pt x="208470" y="343979"/>
                  </a:lnTo>
                  <a:lnTo>
                    <a:pt x="211721" y="345249"/>
                  </a:lnTo>
                  <a:lnTo>
                    <a:pt x="219151" y="346519"/>
                  </a:lnTo>
                  <a:lnTo>
                    <a:pt x="222872" y="347789"/>
                  </a:lnTo>
                  <a:lnTo>
                    <a:pt x="228434" y="347789"/>
                  </a:lnTo>
                  <a:lnTo>
                    <a:pt x="228904" y="346519"/>
                  </a:lnTo>
                  <a:lnTo>
                    <a:pt x="227507" y="343979"/>
                  </a:lnTo>
                  <a:lnTo>
                    <a:pt x="232613" y="345249"/>
                  </a:lnTo>
                  <a:lnTo>
                    <a:pt x="239115" y="347789"/>
                  </a:lnTo>
                  <a:lnTo>
                    <a:pt x="242366" y="349059"/>
                  </a:lnTo>
                  <a:lnTo>
                    <a:pt x="244690" y="350329"/>
                  </a:lnTo>
                  <a:lnTo>
                    <a:pt x="235864" y="350329"/>
                  </a:lnTo>
                  <a:lnTo>
                    <a:pt x="240969" y="351599"/>
                  </a:lnTo>
                  <a:lnTo>
                    <a:pt x="247472" y="354139"/>
                  </a:lnTo>
                  <a:lnTo>
                    <a:pt x="255270" y="357695"/>
                  </a:lnTo>
                  <a:lnTo>
                    <a:pt x="254901" y="356679"/>
                  </a:lnTo>
                  <a:lnTo>
                    <a:pt x="255828" y="356679"/>
                  </a:lnTo>
                  <a:lnTo>
                    <a:pt x="255981" y="356463"/>
                  </a:lnTo>
                  <a:lnTo>
                    <a:pt x="257695" y="356463"/>
                  </a:lnTo>
                  <a:lnTo>
                    <a:pt x="258622" y="356933"/>
                  </a:lnTo>
                  <a:lnTo>
                    <a:pt x="262331" y="357390"/>
                  </a:lnTo>
                  <a:lnTo>
                    <a:pt x="266509" y="357390"/>
                  </a:lnTo>
                  <a:lnTo>
                    <a:pt x="271614" y="357860"/>
                  </a:lnTo>
                  <a:lnTo>
                    <a:pt x="272427" y="355409"/>
                  </a:lnTo>
                  <a:lnTo>
                    <a:pt x="292633" y="355409"/>
                  </a:lnTo>
                  <a:lnTo>
                    <a:pt x="304596" y="356679"/>
                  </a:lnTo>
                  <a:lnTo>
                    <a:pt x="319443" y="360489"/>
                  </a:lnTo>
                  <a:lnTo>
                    <a:pt x="325475" y="355409"/>
                  </a:lnTo>
                  <a:lnTo>
                    <a:pt x="342188" y="359219"/>
                  </a:lnTo>
                  <a:lnTo>
                    <a:pt x="342188" y="363029"/>
                  </a:lnTo>
                  <a:lnTo>
                    <a:pt x="327609" y="361759"/>
                  </a:lnTo>
                  <a:lnTo>
                    <a:pt x="290944" y="361759"/>
                  </a:lnTo>
                  <a:lnTo>
                    <a:pt x="273481" y="360489"/>
                  </a:lnTo>
                  <a:lnTo>
                    <a:pt x="273011" y="361759"/>
                  </a:lnTo>
                  <a:lnTo>
                    <a:pt x="282638" y="363029"/>
                  </a:lnTo>
                  <a:lnTo>
                    <a:pt x="308305" y="363029"/>
                  </a:lnTo>
                  <a:lnTo>
                    <a:pt x="312483" y="364299"/>
                  </a:lnTo>
                  <a:lnTo>
                    <a:pt x="318973" y="366839"/>
                  </a:lnTo>
                  <a:lnTo>
                    <a:pt x="321030" y="367639"/>
                  </a:lnTo>
                  <a:lnTo>
                    <a:pt x="322694" y="366839"/>
                  </a:lnTo>
                  <a:lnTo>
                    <a:pt x="347599" y="368109"/>
                  </a:lnTo>
                  <a:lnTo>
                    <a:pt x="364883" y="369379"/>
                  </a:lnTo>
                  <a:lnTo>
                    <a:pt x="382435" y="371919"/>
                  </a:lnTo>
                  <a:lnTo>
                    <a:pt x="408127" y="375729"/>
                  </a:lnTo>
                  <a:lnTo>
                    <a:pt x="404406" y="373189"/>
                  </a:lnTo>
                  <a:lnTo>
                    <a:pt x="413232" y="373189"/>
                  </a:lnTo>
                  <a:lnTo>
                    <a:pt x="422059" y="371919"/>
                  </a:lnTo>
                  <a:lnTo>
                    <a:pt x="423913" y="375729"/>
                  </a:lnTo>
                  <a:lnTo>
                    <a:pt x="443484" y="376999"/>
                  </a:lnTo>
                  <a:lnTo>
                    <a:pt x="452970" y="378269"/>
                  </a:lnTo>
                  <a:lnTo>
                    <a:pt x="462445" y="379539"/>
                  </a:lnTo>
                  <a:lnTo>
                    <a:pt x="473925" y="382079"/>
                  </a:lnTo>
                  <a:lnTo>
                    <a:pt x="479666" y="383349"/>
                  </a:lnTo>
                  <a:lnTo>
                    <a:pt x="494017" y="387159"/>
                  </a:lnTo>
                  <a:lnTo>
                    <a:pt x="498195" y="383349"/>
                  </a:lnTo>
                  <a:lnTo>
                    <a:pt x="503770" y="383349"/>
                  </a:lnTo>
                  <a:lnTo>
                    <a:pt x="511670" y="390969"/>
                  </a:lnTo>
                  <a:lnTo>
                    <a:pt x="514908" y="384619"/>
                  </a:lnTo>
                  <a:lnTo>
                    <a:pt x="526986" y="383349"/>
                  </a:lnTo>
                  <a:lnTo>
                    <a:pt x="534416" y="383349"/>
                  </a:lnTo>
                  <a:lnTo>
                    <a:pt x="539521" y="382079"/>
                  </a:lnTo>
                  <a:lnTo>
                    <a:pt x="543699" y="383349"/>
                  </a:lnTo>
                  <a:lnTo>
                    <a:pt x="547878" y="384619"/>
                  </a:lnTo>
                  <a:lnTo>
                    <a:pt x="556818" y="384619"/>
                  </a:lnTo>
                  <a:lnTo>
                    <a:pt x="558152" y="383349"/>
                  </a:lnTo>
                  <a:lnTo>
                    <a:pt x="568769" y="383349"/>
                  </a:lnTo>
                  <a:lnTo>
                    <a:pt x="574814" y="387159"/>
                  </a:lnTo>
                  <a:lnTo>
                    <a:pt x="576199" y="378269"/>
                  </a:lnTo>
                  <a:lnTo>
                    <a:pt x="585482" y="380809"/>
                  </a:lnTo>
                  <a:lnTo>
                    <a:pt x="589203" y="383349"/>
                  </a:lnTo>
                  <a:lnTo>
                    <a:pt x="594779" y="387159"/>
                  </a:lnTo>
                  <a:lnTo>
                    <a:pt x="605599" y="388429"/>
                  </a:lnTo>
                  <a:lnTo>
                    <a:pt x="614565" y="387159"/>
                  </a:lnTo>
                  <a:lnTo>
                    <a:pt x="625005" y="385889"/>
                  </a:lnTo>
                  <a:lnTo>
                    <a:pt x="640270" y="385889"/>
                  </a:lnTo>
                  <a:lnTo>
                    <a:pt x="647992" y="388429"/>
                  </a:lnTo>
                  <a:lnTo>
                    <a:pt x="652576" y="392239"/>
                  </a:lnTo>
                  <a:lnTo>
                    <a:pt x="652957" y="393509"/>
                  </a:lnTo>
                  <a:lnTo>
                    <a:pt x="653338" y="394779"/>
                  </a:lnTo>
                  <a:lnTo>
                    <a:pt x="649566" y="398589"/>
                  </a:lnTo>
                  <a:lnTo>
                    <a:pt x="658152" y="394779"/>
                  </a:lnTo>
                  <a:lnTo>
                    <a:pt x="661708" y="393509"/>
                  </a:lnTo>
                  <a:lnTo>
                    <a:pt x="669531" y="393509"/>
                  </a:lnTo>
                  <a:lnTo>
                    <a:pt x="671842" y="396049"/>
                  </a:lnTo>
                  <a:lnTo>
                    <a:pt x="669988" y="396049"/>
                  </a:lnTo>
                  <a:lnTo>
                    <a:pt x="666737" y="397319"/>
                  </a:lnTo>
                  <a:lnTo>
                    <a:pt x="673608" y="398589"/>
                  </a:lnTo>
                  <a:lnTo>
                    <a:pt x="676783" y="398589"/>
                  </a:lnTo>
                  <a:lnTo>
                    <a:pt x="679348" y="397319"/>
                  </a:lnTo>
                  <a:lnTo>
                    <a:pt x="684390" y="397319"/>
                  </a:lnTo>
                  <a:lnTo>
                    <a:pt x="687628" y="392239"/>
                  </a:lnTo>
                  <a:lnTo>
                    <a:pt x="690880" y="385889"/>
                  </a:lnTo>
                  <a:lnTo>
                    <a:pt x="694131" y="385889"/>
                  </a:lnTo>
                  <a:lnTo>
                    <a:pt x="690422" y="384619"/>
                  </a:lnTo>
                  <a:lnTo>
                    <a:pt x="698322" y="383349"/>
                  </a:lnTo>
                  <a:lnTo>
                    <a:pt x="715365" y="383349"/>
                  </a:lnTo>
                  <a:lnTo>
                    <a:pt x="724319" y="384619"/>
                  </a:lnTo>
                  <a:lnTo>
                    <a:pt x="723849" y="387159"/>
                  </a:lnTo>
                  <a:lnTo>
                    <a:pt x="734987" y="384619"/>
                  </a:lnTo>
                  <a:lnTo>
                    <a:pt x="735457" y="387159"/>
                  </a:lnTo>
                  <a:lnTo>
                    <a:pt x="770826" y="387159"/>
                  </a:lnTo>
                  <a:lnTo>
                    <a:pt x="777709" y="388429"/>
                  </a:lnTo>
                  <a:lnTo>
                    <a:pt x="777240" y="389699"/>
                  </a:lnTo>
                  <a:lnTo>
                    <a:pt x="785380" y="390969"/>
                  </a:lnTo>
                  <a:lnTo>
                    <a:pt x="793521" y="392239"/>
                  </a:lnTo>
                  <a:lnTo>
                    <a:pt x="809625" y="392239"/>
                  </a:lnTo>
                  <a:lnTo>
                    <a:pt x="826604" y="390969"/>
                  </a:lnTo>
                  <a:lnTo>
                    <a:pt x="845502" y="390969"/>
                  </a:lnTo>
                  <a:lnTo>
                    <a:pt x="841781" y="393509"/>
                  </a:lnTo>
                  <a:lnTo>
                    <a:pt x="846112" y="394779"/>
                  </a:lnTo>
                  <a:lnTo>
                    <a:pt x="849884" y="390969"/>
                  </a:lnTo>
                  <a:lnTo>
                    <a:pt x="855243" y="390969"/>
                  </a:lnTo>
                  <a:lnTo>
                    <a:pt x="855713" y="394779"/>
                  </a:lnTo>
                  <a:lnTo>
                    <a:pt x="865466" y="390969"/>
                  </a:lnTo>
                  <a:lnTo>
                    <a:pt x="866622" y="393509"/>
                  </a:lnTo>
                  <a:lnTo>
                    <a:pt x="867778" y="396049"/>
                  </a:lnTo>
                  <a:lnTo>
                    <a:pt x="874280" y="398589"/>
                  </a:lnTo>
                  <a:lnTo>
                    <a:pt x="871499" y="393509"/>
                  </a:lnTo>
                  <a:lnTo>
                    <a:pt x="883564" y="394779"/>
                  </a:lnTo>
                  <a:lnTo>
                    <a:pt x="890308" y="396049"/>
                  </a:lnTo>
                  <a:lnTo>
                    <a:pt x="897039" y="397319"/>
                  </a:lnTo>
                  <a:lnTo>
                    <a:pt x="892860" y="401129"/>
                  </a:lnTo>
                  <a:lnTo>
                    <a:pt x="891463" y="402399"/>
                  </a:lnTo>
                  <a:lnTo>
                    <a:pt x="889609" y="404939"/>
                  </a:lnTo>
                  <a:lnTo>
                    <a:pt x="898893" y="401129"/>
                  </a:lnTo>
                  <a:lnTo>
                    <a:pt x="900747" y="406209"/>
                  </a:lnTo>
                  <a:lnTo>
                    <a:pt x="907719" y="401129"/>
                  </a:lnTo>
                  <a:lnTo>
                    <a:pt x="907592" y="402399"/>
                  </a:lnTo>
                  <a:lnTo>
                    <a:pt x="907478" y="403669"/>
                  </a:lnTo>
                  <a:lnTo>
                    <a:pt x="907364" y="404939"/>
                  </a:lnTo>
                  <a:lnTo>
                    <a:pt x="907249" y="406209"/>
                  </a:lnTo>
                  <a:lnTo>
                    <a:pt x="919327" y="403669"/>
                  </a:lnTo>
                  <a:lnTo>
                    <a:pt x="919784" y="404939"/>
                  </a:lnTo>
                  <a:lnTo>
                    <a:pt x="920254" y="406209"/>
                  </a:lnTo>
                  <a:lnTo>
                    <a:pt x="917003" y="407479"/>
                  </a:lnTo>
                  <a:lnTo>
                    <a:pt x="921181" y="407479"/>
                  </a:lnTo>
                  <a:lnTo>
                    <a:pt x="941146" y="402399"/>
                  </a:lnTo>
                  <a:lnTo>
                    <a:pt x="929068" y="404939"/>
                  </a:lnTo>
                  <a:lnTo>
                    <a:pt x="930922" y="398589"/>
                  </a:lnTo>
                  <a:lnTo>
                    <a:pt x="938961" y="396049"/>
                  </a:lnTo>
                  <a:lnTo>
                    <a:pt x="945095" y="397319"/>
                  </a:lnTo>
                  <a:lnTo>
                    <a:pt x="950518" y="398589"/>
                  </a:lnTo>
                  <a:lnTo>
                    <a:pt x="956462" y="398589"/>
                  </a:lnTo>
                  <a:lnTo>
                    <a:pt x="950429" y="399859"/>
                  </a:lnTo>
                  <a:lnTo>
                    <a:pt x="964819" y="398589"/>
                  </a:lnTo>
                  <a:lnTo>
                    <a:pt x="964984" y="399859"/>
                  </a:lnTo>
                  <a:lnTo>
                    <a:pt x="965288" y="402399"/>
                  </a:lnTo>
                  <a:lnTo>
                    <a:pt x="973645" y="403669"/>
                  </a:lnTo>
                  <a:lnTo>
                    <a:pt x="971321" y="402399"/>
                  </a:lnTo>
                  <a:lnTo>
                    <a:pt x="967613" y="401129"/>
                  </a:lnTo>
                  <a:lnTo>
                    <a:pt x="973175" y="399859"/>
                  </a:lnTo>
                  <a:lnTo>
                    <a:pt x="977353" y="399859"/>
                  </a:lnTo>
                  <a:lnTo>
                    <a:pt x="975499" y="402399"/>
                  </a:lnTo>
                  <a:lnTo>
                    <a:pt x="979220" y="402399"/>
                  </a:lnTo>
                  <a:lnTo>
                    <a:pt x="980147" y="398589"/>
                  </a:lnTo>
                  <a:lnTo>
                    <a:pt x="990828" y="396049"/>
                  </a:lnTo>
                  <a:lnTo>
                    <a:pt x="1000112" y="398589"/>
                  </a:lnTo>
                  <a:lnTo>
                    <a:pt x="999642" y="399859"/>
                  </a:lnTo>
                  <a:lnTo>
                    <a:pt x="1001496" y="399859"/>
                  </a:lnTo>
                  <a:lnTo>
                    <a:pt x="1002893" y="398589"/>
                  </a:lnTo>
                  <a:lnTo>
                    <a:pt x="1007071" y="399859"/>
                  </a:lnTo>
                  <a:lnTo>
                    <a:pt x="1004290" y="404939"/>
                  </a:lnTo>
                  <a:lnTo>
                    <a:pt x="1012177" y="399859"/>
                  </a:lnTo>
                  <a:lnTo>
                    <a:pt x="1017295" y="401129"/>
                  </a:lnTo>
                  <a:lnTo>
                    <a:pt x="1025182" y="398589"/>
                  </a:lnTo>
                  <a:lnTo>
                    <a:pt x="1024712" y="401129"/>
                  </a:lnTo>
                  <a:lnTo>
                    <a:pt x="1021473" y="402399"/>
                  </a:lnTo>
                  <a:lnTo>
                    <a:pt x="1061402" y="404939"/>
                  </a:lnTo>
                  <a:lnTo>
                    <a:pt x="1061859" y="408749"/>
                  </a:lnTo>
                  <a:lnTo>
                    <a:pt x="1067015" y="407479"/>
                  </a:lnTo>
                  <a:lnTo>
                    <a:pt x="1080465" y="407479"/>
                  </a:lnTo>
                  <a:lnTo>
                    <a:pt x="1082751" y="404939"/>
                  </a:lnTo>
                  <a:lnTo>
                    <a:pt x="1090460" y="406209"/>
                  </a:lnTo>
                  <a:lnTo>
                    <a:pt x="1099820" y="406209"/>
                  </a:lnTo>
                  <a:lnTo>
                    <a:pt x="1106919" y="407479"/>
                  </a:lnTo>
                  <a:lnTo>
                    <a:pt x="1107224" y="408749"/>
                  </a:lnTo>
                  <a:lnTo>
                    <a:pt x="1107833" y="411289"/>
                  </a:lnTo>
                  <a:lnTo>
                    <a:pt x="1125880" y="411289"/>
                  </a:lnTo>
                  <a:lnTo>
                    <a:pt x="1159535" y="408749"/>
                  </a:lnTo>
                  <a:lnTo>
                    <a:pt x="1180719" y="410019"/>
                  </a:lnTo>
                  <a:lnTo>
                    <a:pt x="1188516" y="412559"/>
                  </a:lnTo>
                  <a:lnTo>
                    <a:pt x="1192415" y="413829"/>
                  </a:lnTo>
                  <a:lnTo>
                    <a:pt x="1208811" y="416369"/>
                  </a:lnTo>
                  <a:lnTo>
                    <a:pt x="1226947" y="416369"/>
                  </a:lnTo>
                  <a:lnTo>
                    <a:pt x="1243863" y="417639"/>
                  </a:lnTo>
                  <a:lnTo>
                    <a:pt x="1351584" y="412559"/>
                  </a:lnTo>
                  <a:lnTo>
                    <a:pt x="1358404" y="413829"/>
                  </a:lnTo>
                  <a:lnTo>
                    <a:pt x="1365211" y="415099"/>
                  </a:lnTo>
                  <a:lnTo>
                    <a:pt x="1372031" y="416369"/>
                  </a:lnTo>
                  <a:lnTo>
                    <a:pt x="1394993" y="416369"/>
                  </a:lnTo>
                  <a:lnTo>
                    <a:pt x="1418310" y="415099"/>
                  </a:lnTo>
                  <a:lnTo>
                    <a:pt x="1439799" y="416369"/>
                  </a:lnTo>
                  <a:lnTo>
                    <a:pt x="1447228" y="413829"/>
                  </a:lnTo>
                  <a:lnTo>
                    <a:pt x="1462036" y="416369"/>
                  </a:lnTo>
                  <a:lnTo>
                    <a:pt x="1497901" y="416369"/>
                  </a:lnTo>
                  <a:lnTo>
                    <a:pt x="1516875" y="418909"/>
                  </a:lnTo>
                  <a:lnTo>
                    <a:pt x="1522920" y="417639"/>
                  </a:lnTo>
                  <a:lnTo>
                    <a:pt x="1526628" y="417639"/>
                  </a:lnTo>
                  <a:lnTo>
                    <a:pt x="1524774" y="416369"/>
                  </a:lnTo>
                  <a:lnTo>
                    <a:pt x="1524304" y="413829"/>
                  </a:lnTo>
                  <a:lnTo>
                    <a:pt x="1528787" y="415467"/>
                  </a:lnTo>
                  <a:lnTo>
                    <a:pt x="1528025" y="415658"/>
                  </a:lnTo>
                  <a:lnTo>
                    <a:pt x="1529321" y="415658"/>
                  </a:lnTo>
                  <a:lnTo>
                    <a:pt x="1531277" y="416369"/>
                  </a:lnTo>
                  <a:lnTo>
                    <a:pt x="1545666" y="413829"/>
                  </a:lnTo>
                  <a:lnTo>
                    <a:pt x="1545437" y="415099"/>
                  </a:lnTo>
                  <a:lnTo>
                    <a:pt x="1545196" y="416369"/>
                  </a:lnTo>
                  <a:lnTo>
                    <a:pt x="1544739" y="418909"/>
                  </a:lnTo>
                  <a:lnTo>
                    <a:pt x="1542884" y="418909"/>
                  </a:lnTo>
                  <a:lnTo>
                    <a:pt x="1545945" y="420179"/>
                  </a:lnTo>
                  <a:lnTo>
                    <a:pt x="1564093" y="420179"/>
                  </a:lnTo>
                  <a:lnTo>
                    <a:pt x="1572133" y="421449"/>
                  </a:lnTo>
                  <a:lnTo>
                    <a:pt x="1567954" y="416369"/>
                  </a:lnTo>
                  <a:lnTo>
                    <a:pt x="1579892" y="417499"/>
                  </a:lnTo>
                  <a:lnTo>
                    <a:pt x="1616456" y="415099"/>
                  </a:lnTo>
                  <a:lnTo>
                    <a:pt x="1680540" y="417639"/>
                  </a:lnTo>
                  <a:lnTo>
                    <a:pt x="1717459" y="415099"/>
                  </a:lnTo>
                  <a:lnTo>
                    <a:pt x="1716011" y="416369"/>
                  </a:lnTo>
                  <a:lnTo>
                    <a:pt x="1725815" y="416369"/>
                  </a:lnTo>
                  <a:lnTo>
                    <a:pt x="1729066" y="417639"/>
                  </a:lnTo>
                  <a:lnTo>
                    <a:pt x="1739112" y="421449"/>
                  </a:lnTo>
                  <a:lnTo>
                    <a:pt x="1748510" y="420179"/>
                  </a:lnTo>
                  <a:lnTo>
                    <a:pt x="1766214" y="415099"/>
                  </a:lnTo>
                  <a:lnTo>
                    <a:pt x="1766214" y="413829"/>
                  </a:lnTo>
                  <a:lnTo>
                    <a:pt x="1766671" y="413829"/>
                  </a:lnTo>
                  <a:lnTo>
                    <a:pt x="1766671" y="414731"/>
                  </a:lnTo>
                  <a:lnTo>
                    <a:pt x="1771319" y="414731"/>
                  </a:lnTo>
                  <a:lnTo>
                    <a:pt x="1774710" y="414312"/>
                  </a:lnTo>
                  <a:lnTo>
                    <a:pt x="1787105" y="415099"/>
                  </a:lnTo>
                  <a:lnTo>
                    <a:pt x="1785594" y="416369"/>
                  </a:lnTo>
                  <a:lnTo>
                    <a:pt x="1784324" y="417499"/>
                  </a:lnTo>
                  <a:lnTo>
                    <a:pt x="1788375" y="415099"/>
                  </a:lnTo>
                  <a:lnTo>
                    <a:pt x="1792846" y="413829"/>
                  </a:lnTo>
                  <a:lnTo>
                    <a:pt x="1790357" y="415099"/>
                  </a:lnTo>
                  <a:lnTo>
                    <a:pt x="1811007" y="416369"/>
                  </a:lnTo>
                  <a:lnTo>
                    <a:pt x="1831670" y="417639"/>
                  </a:lnTo>
                  <a:lnTo>
                    <a:pt x="1923351" y="417639"/>
                  </a:lnTo>
                  <a:lnTo>
                    <a:pt x="1969109" y="418909"/>
                  </a:lnTo>
                  <a:lnTo>
                    <a:pt x="1966328" y="416369"/>
                  </a:lnTo>
                  <a:lnTo>
                    <a:pt x="2001977" y="416369"/>
                  </a:lnTo>
                  <a:lnTo>
                    <a:pt x="2011819" y="417639"/>
                  </a:lnTo>
                  <a:lnTo>
                    <a:pt x="2020709" y="418909"/>
                  </a:lnTo>
                  <a:lnTo>
                    <a:pt x="2029294" y="416369"/>
                  </a:lnTo>
                  <a:lnTo>
                    <a:pt x="2036572" y="415099"/>
                  </a:lnTo>
                  <a:lnTo>
                    <a:pt x="2041537" y="412559"/>
                  </a:lnTo>
                  <a:lnTo>
                    <a:pt x="2050592" y="412559"/>
                  </a:lnTo>
                  <a:lnTo>
                    <a:pt x="2057844" y="413829"/>
                  </a:lnTo>
                  <a:lnTo>
                    <a:pt x="2061718" y="415099"/>
                  </a:lnTo>
                  <a:lnTo>
                    <a:pt x="2060575" y="416369"/>
                  </a:lnTo>
                  <a:lnTo>
                    <a:pt x="2081415" y="411289"/>
                  </a:lnTo>
                  <a:lnTo>
                    <a:pt x="2092896" y="410019"/>
                  </a:lnTo>
                  <a:lnTo>
                    <a:pt x="2106079" y="410019"/>
                  </a:lnTo>
                  <a:lnTo>
                    <a:pt x="2110244" y="411289"/>
                  </a:lnTo>
                  <a:lnTo>
                    <a:pt x="2117166" y="411289"/>
                  </a:lnTo>
                  <a:lnTo>
                    <a:pt x="2125726" y="410019"/>
                  </a:lnTo>
                  <a:lnTo>
                    <a:pt x="2134870" y="407479"/>
                  </a:lnTo>
                  <a:lnTo>
                    <a:pt x="2143874" y="406209"/>
                  </a:lnTo>
                  <a:lnTo>
                    <a:pt x="2151519" y="404939"/>
                  </a:lnTo>
                  <a:lnTo>
                    <a:pt x="2156993" y="404939"/>
                  </a:lnTo>
                  <a:lnTo>
                    <a:pt x="2159470" y="406209"/>
                  </a:lnTo>
                  <a:lnTo>
                    <a:pt x="2159470" y="406412"/>
                  </a:lnTo>
                  <a:lnTo>
                    <a:pt x="2159571" y="406209"/>
                  </a:lnTo>
                  <a:lnTo>
                    <a:pt x="2172004" y="406209"/>
                  </a:lnTo>
                  <a:lnTo>
                    <a:pt x="2178050" y="403669"/>
                  </a:lnTo>
                  <a:lnTo>
                    <a:pt x="2181301" y="403669"/>
                  </a:lnTo>
                  <a:lnTo>
                    <a:pt x="2184082" y="402399"/>
                  </a:lnTo>
                  <a:lnTo>
                    <a:pt x="2187333" y="402399"/>
                  </a:lnTo>
                  <a:lnTo>
                    <a:pt x="2190115" y="401129"/>
                  </a:lnTo>
                  <a:lnTo>
                    <a:pt x="2196617" y="399859"/>
                  </a:lnTo>
                  <a:lnTo>
                    <a:pt x="2214956" y="394779"/>
                  </a:lnTo>
                  <a:lnTo>
                    <a:pt x="2224557" y="392239"/>
                  </a:lnTo>
                  <a:lnTo>
                    <a:pt x="2232609" y="390220"/>
                  </a:lnTo>
                  <a:lnTo>
                    <a:pt x="2233295" y="390220"/>
                  </a:lnTo>
                  <a:lnTo>
                    <a:pt x="2233523" y="389991"/>
                  </a:lnTo>
                  <a:lnTo>
                    <a:pt x="2234692" y="389699"/>
                  </a:lnTo>
                  <a:lnTo>
                    <a:pt x="2234463" y="390334"/>
                  </a:lnTo>
                  <a:lnTo>
                    <a:pt x="2236546" y="388429"/>
                  </a:lnTo>
                  <a:lnTo>
                    <a:pt x="2241194" y="385889"/>
                  </a:lnTo>
                  <a:lnTo>
                    <a:pt x="2259304" y="369379"/>
                  </a:lnTo>
                  <a:lnTo>
                    <a:pt x="2261616" y="366839"/>
                  </a:lnTo>
                  <a:lnTo>
                    <a:pt x="2264410" y="364299"/>
                  </a:lnTo>
                  <a:lnTo>
                    <a:pt x="2269045" y="360489"/>
                  </a:lnTo>
                  <a:lnTo>
                    <a:pt x="2270899" y="357949"/>
                  </a:lnTo>
                  <a:lnTo>
                    <a:pt x="2274151" y="352869"/>
                  </a:lnTo>
                  <a:lnTo>
                    <a:pt x="2276475" y="350329"/>
                  </a:lnTo>
                  <a:close/>
                </a:path>
                <a:path w="5058409" h="2493010">
                  <a:moveTo>
                    <a:pt x="5057889" y="2480843"/>
                  </a:moveTo>
                  <a:lnTo>
                    <a:pt x="5019789" y="2480843"/>
                  </a:lnTo>
                  <a:lnTo>
                    <a:pt x="5019789" y="2492552"/>
                  </a:lnTo>
                  <a:lnTo>
                    <a:pt x="5057889" y="2492552"/>
                  </a:lnTo>
                  <a:lnTo>
                    <a:pt x="5057889" y="2480843"/>
                  </a:lnTo>
                  <a:close/>
                </a:path>
                <a:path w="5058409" h="2493010">
                  <a:moveTo>
                    <a:pt x="5057889" y="2214143"/>
                  </a:moveTo>
                  <a:lnTo>
                    <a:pt x="5019789" y="2214143"/>
                  </a:lnTo>
                  <a:lnTo>
                    <a:pt x="5019789" y="2442743"/>
                  </a:lnTo>
                  <a:lnTo>
                    <a:pt x="5057889" y="2442743"/>
                  </a:lnTo>
                  <a:lnTo>
                    <a:pt x="5057889" y="2214143"/>
                  </a:lnTo>
                  <a:close/>
                </a:path>
                <a:path w="5058409" h="2493010">
                  <a:moveTo>
                    <a:pt x="5057889" y="1947443"/>
                  </a:moveTo>
                  <a:lnTo>
                    <a:pt x="5019789" y="1947443"/>
                  </a:lnTo>
                  <a:lnTo>
                    <a:pt x="5019789" y="2176043"/>
                  </a:lnTo>
                  <a:lnTo>
                    <a:pt x="5057889" y="2176043"/>
                  </a:lnTo>
                  <a:lnTo>
                    <a:pt x="5057889" y="1947443"/>
                  </a:lnTo>
                  <a:close/>
                </a:path>
                <a:path w="5058409" h="2493010">
                  <a:moveTo>
                    <a:pt x="5057889" y="1680743"/>
                  </a:moveTo>
                  <a:lnTo>
                    <a:pt x="5019789" y="1680743"/>
                  </a:lnTo>
                  <a:lnTo>
                    <a:pt x="5019789" y="1909343"/>
                  </a:lnTo>
                  <a:lnTo>
                    <a:pt x="5057889" y="1909343"/>
                  </a:lnTo>
                  <a:lnTo>
                    <a:pt x="5057889" y="1680743"/>
                  </a:lnTo>
                  <a:close/>
                </a:path>
                <a:path w="5058409" h="2493010">
                  <a:moveTo>
                    <a:pt x="5057889" y="1414043"/>
                  </a:moveTo>
                  <a:lnTo>
                    <a:pt x="5019789" y="1414043"/>
                  </a:lnTo>
                  <a:lnTo>
                    <a:pt x="5019789" y="1642643"/>
                  </a:lnTo>
                  <a:lnTo>
                    <a:pt x="5057889" y="1642643"/>
                  </a:lnTo>
                  <a:lnTo>
                    <a:pt x="5057889" y="1414043"/>
                  </a:lnTo>
                  <a:close/>
                </a:path>
                <a:path w="5058409" h="2493010">
                  <a:moveTo>
                    <a:pt x="5057889" y="1147343"/>
                  </a:moveTo>
                  <a:lnTo>
                    <a:pt x="5019789" y="1147343"/>
                  </a:lnTo>
                  <a:lnTo>
                    <a:pt x="5019789" y="1375943"/>
                  </a:lnTo>
                  <a:lnTo>
                    <a:pt x="5057889" y="1375943"/>
                  </a:lnTo>
                  <a:lnTo>
                    <a:pt x="5057889" y="1147343"/>
                  </a:lnTo>
                  <a:close/>
                </a:path>
                <a:path w="5058409" h="2493010">
                  <a:moveTo>
                    <a:pt x="5057889" y="880643"/>
                  </a:moveTo>
                  <a:lnTo>
                    <a:pt x="5019789" y="880643"/>
                  </a:lnTo>
                  <a:lnTo>
                    <a:pt x="5019789" y="1109243"/>
                  </a:lnTo>
                  <a:lnTo>
                    <a:pt x="5057889" y="1109243"/>
                  </a:lnTo>
                  <a:lnTo>
                    <a:pt x="5057889" y="880643"/>
                  </a:lnTo>
                  <a:close/>
                </a:path>
              </a:pathLst>
            </a:custGeom>
            <a:solidFill>
              <a:srgbClr val="000000"/>
            </a:solidFill>
          </p:spPr>
          <p:txBody>
            <a:bodyPr wrap="square" lIns="0" tIns="0" rIns="0" bIns="0" rtlCol="0"/>
            <a:lstStyle/>
            <a:p>
              <a:endParaRPr/>
            </a:p>
          </p:txBody>
        </p:sp>
        <p:sp>
          <p:nvSpPr>
            <p:cNvPr id="11" name="object 11"/>
            <p:cNvSpPr/>
            <p:nvPr/>
          </p:nvSpPr>
          <p:spPr>
            <a:xfrm>
              <a:off x="8497141" y="5351570"/>
              <a:ext cx="5247640" cy="0"/>
            </a:xfrm>
            <a:custGeom>
              <a:avLst/>
              <a:gdLst/>
              <a:ahLst/>
              <a:cxnLst/>
              <a:rect l="l" t="t" r="r" b="b"/>
              <a:pathLst>
                <a:path w="5247640">
                  <a:moveTo>
                    <a:pt x="0" y="0"/>
                  </a:moveTo>
                  <a:lnTo>
                    <a:pt x="5247186" y="0"/>
                  </a:lnTo>
                </a:path>
              </a:pathLst>
            </a:custGeom>
            <a:ln w="38099">
              <a:solidFill>
                <a:srgbClr val="000000"/>
              </a:solidFill>
            </a:ln>
          </p:spPr>
          <p:txBody>
            <a:bodyPr wrap="square" lIns="0" tIns="0" rIns="0" bIns="0" rtlCol="0"/>
            <a:lstStyle/>
            <a:p>
              <a:endParaRPr/>
            </a:p>
          </p:txBody>
        </p:sp>
        <p:sp>
          <p:nvSpPr>
            <p:cNvPr id="12" name="object 12"/>
            <p:cNvSpPr/>
            <p:nvPr/>
          </p:nvSpPr>
          <p:spPr>
            <a:xfrm>
              <a:off x="13763615" y="5351860"/>
              <a:ext cx="19050" cy="1357630"/>
            </a:xfrm>
            <a:custGeom>
              <a:avLst/>
              <a:gdLst/>
              <a:ahLst/>
              <a:cxnLst/>
              <a:rect l="l" t="t" r="r" b="b"/>
              <a:pathLst>
                <a:path w="19050" h="1357629">
                  <a:moveTo>
                    <a:pt x="18786" y="0"/>
                  </a:moveTo>
                  <a:lnTo>
                    <a:pt x="0" y="1357233"/>
                  </a:lnTo>
                </a:path>
              </a:pathLst>
            </a:custGeom>
            <a:ln w="38100">
              <a:solidFill>
                <a:srgbClr val="000000"/>
              </a:solidFill>
            </a:ln>
          </p:spPr>
          <p:txBody>
            <a:bodyPr wrap="square" lIns="0" tIns="0" rIns="0" bIns="0" rtlCol="0"/>
            <a:lstStyle/>
            <a:p>
              <a:endParaRPr/>
            </a:p>
          </p:txBody>
        </p:sp>
        <p:sp>
          <p:nvSpPr>
            <p:cNvPr id="13" name="object 13"/>
            <p:cNvSpPr/>
            <p:nvPr/>
          </p:nvSpPr>
          <p:spPr>
            <a:xfrm>
              <a:off x="13707525" y="6632110"/>
              <a:ext cx="114300" cy="77470"/>
            </a:xfrm>
            <a:custGeom>
              <a:avLst/>
              <a:gdLst/>
              <a:ahLst/>
              <a:cxnLst/>
              <a:rect l="l" t="t" r="r" b="b"/>
              <a:pathLst>
                <a:path w="114300" h="77470">
                  <a:moveTo>
                    <a:pt x="114289" y="1581"/>
                  </a:moveTo>
                  <a:lnTo>
                    <a:pt x="56089" y="76983"/>
                  </a:lnTo>
                  <a:lnTo>
                    <a:pt x="0" y="0"/>
                  </a:lnTo>
                </a:path>
              </a:pathLst>
            </a:custGeom>
            <a:ln w="38100">
              <a:solidFill>
                <a:srgbClr val="000000"/>
              </a:solidFill>
            </a:ln>
          </p:spPr>
          <p:txBody>
            <a:bodyPr wrap="square" lIns="0" tIns="0" rIns="0" bIns="0" rtlCol="0"/>
            <a:lstStyle/>
            <a:p>
              <a:endParaRPr/>
            </a:p>
          </p:txBody>
        </p:sp>
        <p:sp>
          <p:nvSpPr>
            <p:cNvPr id="14" name="object 14"/>
            <p:cNvSpPr/>
            <p:nvPr/>
          </p:nvSpPr>
          <p:spPr>
            <a:xfrm>
              <a:off x="12194052" y="5370910"/>
              <a:ext cx="19050" cy="1357630"/>
            </a:xfrm>
            <a:custGeom>
              <a:avLst/>
              <a:gdLst/>
              <a:ahLst/>
              <a:cxnLst/>
              <a:rect l="l" t="t" r="r" b="b"/>
              <a:pathLst>
                <a:path w="19050" h="1357629">
                  <a:moveTo>
                    <a:pt x="18786" y="0"/>
                  </a:moveTo>
                  <a:lnTo>
                    <a:pt x="0" y="1357233"/>
                  </a:lnTo>
                </a:path>
              </a:pathLst>
            </a:custGeom>
            <a:ln w="38100">
              <a:solidFill>
                <a:srgbClr val="000000"/>
              </a:solidFill>
            </a:ln>
          </p:spPr>
          <p:txBody>
            <a:bodyPr wrap="square" lIns="0" tIns="0" rIns="0" bIns="0" rtlCol="0"/>
            <a:lstStyle/>
            <a:p>
              <a:endParaRPr/>
            </a:p>
          </p:txBody>
        </p:sp>
        <p:sp>
          <p:nvSpPr>
            <p:cNvPr id="15" name="object 15"/>
            <p:cNvSpPr/>
            <p:nvPr/>
          </p:nvSpPr>
          <p:spPr>
            <a:xfrm>
              <a:off x="12137962" y="6651160"/>
              <a:ext cx="114300" cy="77470"/>
            </a:xfrm>
            <a:custGeom>
              <a:avLst/>
              <a:gdLst/>
              <a:ahLst/>
              <a:cxnLst/>
              <a:rect l="l" t="t" r="r" b="b"/>
              <a:pathLst>
                <a:path w="114300" h="77470">
                  <a:moveTo>
                    <a:pt x="114289" y="1581"/>
                  </a:moveTo>
                  <a:lnTo>
                    <a:pt x="56089" y="76983"/>
                  </a:lnTo>
                  <a:lnTo>
                    <a:pt x="0" y="0"/>
                  </a:lnTo>
                </a:path>
              </a:pathLst>
            </a:custGeom>
            <a:ln w="38100">
              <a:solidFill>
                <a:srgbClr val="000000"/>
              </a:solidFill>
            </a:ln>
          </p:spPr>
          <p:txBody>
            <a:bodyPr wrap="square" lIns="0" tIns="0" rIns="0" bIns="0" rtlCol="0"/>
            <a:lstStyle/>
            <a:p>
              <a:endParaRPr/>
            </a:p>
          </p:txBody>
        </p:sp>
        <p:sp>
          <p:nvSpPr>
            <p:cNvPr id="16" name="object 16"/>
            <p:cNvSpPr/>
            <p:nvPr/>
          </p:nvSpPr>
          <p:spPr>
            <a:xfrm>
              <a:off x="10624489" y="5389960"/>
              <a:ext cx="19050" cy="1357630"/>
            </a:xfrm>
            <a:custGeom>
              <a:avLst/>
              <a:gdLst/>
              <a:ahLst/>
              <a:cxnLst/>
              <a:rect l="l" t="t" r="r" b="b"/>
              <a:pathLst>
                <a:path w="19050" h="1357629">
                  <a:moveTo>
                    <a:pt x="18786" y="0"/>
                  </a:moveTo>
                  <a:lnTo>
                    <a:pt x="0" y="1357233"/>
                  </a:lnTo>
                </a:path>
              </a:pathLst>
            </a:custGeom>
            <a:ln w="38100">
              <a:solidFill>
                <a:srgbClr val="000000"/>
              </a:solidFill>
            </a:ln>
          </p:spPr>
          <p:txBody>
            <a:bodyPr wrap="square" lIns="0" tIns="0" rIns="0" bIns="0" rtlCol="0"/>
            <a:lstStyle/>
            <a:p>
              <a:endParaRPr/>
            </a:p>
          </p:txBody>
        </p:sp>
        <p:sp>
          <p:nvSpPr>
            <p:cNvPr id="17" name="object 17"/>
            <p:cNvSpPr/>
            <p:nvPr/>
          </p:nvSpPr>
          <p:spPr>
            <a:xfrm>
              <a:off x="10568399" y="6670210"/>
              <a:ext cx="114300" cy="77470"/>
            </a:xfrm>
            <a:custGeom>
              <a:avLst/>
              <a:gdLst/>
              <a:ahLst/>
              <a:cxnLst/>
              <a:rect l="l" t="t" r="r" b="b"/>
              <a:pathLst>
                <a:path w="114300" h="77470">
                  <a:moveTo>
                    <a:pt x="114289" y="1581"/>
                  </a:moveTo>
                  <a:lnTo>
                    <a:pt x="56089" y="76983"/>
                  </a:lnTo>
                  <a:lnTo>
                    <a:pt x="0" y="0"/>
                  </a:lnTo>
                </a:path>
              </a:pathLst>
            </a:custGeom>
            <a:ln w="38100">
              <a:solidFill>
                <a:srgbClr val="000000"/>
              </a:solidFill>
            </a:ln>
          </p:spPr>
          <p:txBody>
            <a:bodyPr wrap="square" lIns="0" tIns="0" rIns="0" bIns="0" rtlCol="0"/>
            <a:lstStyle/>
            <a:p>
              <a:endParaRPr/>
            </a:p>
          </p:txBody>
        </p:sp>
        <p:sp>
          <p:nvSpPr>
            <p:cNvPr id="18" name="object 18"/>
            <p:cNvSpPr/>
            <p:nvPr/>
          </p:nvSpPr>
          <p:spPr>
            <a:xfrm>
              <a:off x="12174760" y="1719893"/>
              <a:ext cx="5629275" cy="1355725"/>
            </a:xfrm>
            <a:custGeom>
              <a:avLst/>
              <a:gdLst/>
              <a:ahLst/>
              <a:cxnLst/>
              <a:rect l="l" t="t" r="r" b="b"/>
              <a:pathLst>
                <a:path w="5629275" h="1355725">
                  <a:moveTo>
                    <a:pt x="5629015" y="0"/>
                  </a:moveTo>
                  <a:lnTo>
                    <a:pt x="5550798" y="239602"/>
                  </a:lnTo>
                  <a:lnTo>
                    <a:pt x="5629015" y="456917"/>
                  </a:lnTo>
                  <a:lnTo>
                    <a:pt x="5566338" y="951284"/>
                  </a:lnTo>
                  <a:lnTo>
                    <a:pt x="5629015" y="1355720"/>
                  </a:lnTo>
                  <a:lnTo>
                    <a:pt x="2540283" y="1314437"/>
                  </a:lnTo>
                  <a:lnTo>
                    <a:pt x="2290537" y="1312317"/>
                  </a:lnTo>
                  <a:lnTo>
                    <a:pt x="2092297" y="1311531"/>
                  </a:lnTo>
                  <a:lnTo>
                    <a:pt x="2065465" y="1315095"/>
                  </a:lnTo>
                  <a:lnTo>
                    <a:pt x="2006798" y="1330775"/>
                  </a:lnTo>
                  <a:lnTo>
                    <a:pt x="1979893" y="1334338"/>
                  </a:lnTo>
                  <a:lnTo>
                    <a:pt x="1947282" y="1330797"/>
                  </a:lnTo>
                  <a:lnTo>
                    <a:pt x="1886964" y="1315259"/>
                  </a:lnTo>
                  <a:lnTo>
                    <a:pt x="1854280" y="1311790"/>
                  </a:lnTo>
                  <a:lnTo>
                    <a:pt x="1603650" y="1313365"/>
                  </a:lnTo>
                  <a:lnTo>
                    <a:pt x="1353026" y="1316303"/>
                  </a:lnTo>
                  <a:lnTo>
                    <a:pt x="1102413" y="1320603"/>
                  </a:lnTo>
                  <a:lnTo>
                    <a:pt x="851818" y="1326267"/>
                  </a:lnTo>
                  <a:lnTo>
                    <a:pt x="601245" y="1333294"/>
                  </a:lnTo>
                  <a:lnTo>
                    <a:pt x="350701" y="1341684"/>
                  </a:lnTo>
                  <a:lnTo>
                    <a:pt x="100192" y="1351437"/>
                  </a:lnTo>
                  <a:lnTo>
                    <a:pt x="0" y="1355720"/>
                  </a:lnTo>
                  <a:lnTo>
                    <a:pt x="117454" y="1048603"/>
                  </a:lnTo>
                  <a:lnTo>
                    <a:pt x="54777" y="734100"/>
                  </a:lnTo>
                  <a:lnTo>
                    <a:pt x="0" y="516785"/>
                  </a:lnTo>
                  <a:lnTo>
                    <a:pt x="93885" y="277182"/>
                  </a:lnTo>
                  <a:lnTo>
                    <a:pt x="0" y="0"/>
                  </a:lnTo>
                  <a:lnTo>
                    <a:pt x="452336" y="12569"/>
                  </a:lnTo>
                  <a:lnTo>
                    <a:pt x="535085" y="0"/>
                  </a:lnTo>
                  <a:lnTo>
                    <a:pt x="680511" y="18919"/>
                  </a:lnTo>
                  <a:lnTo>
                    <a:pt x="2228529" y="62071"/>
                  </a:lnTo>
                  <a:lnTo>
                    <a:pt x="2494777" y="69457"/>
                  </a:lnTo>
                  <a:lnTo>
                    <a:pt x="5629015" y="0"/>
                  </a:lnTo>
                  <a:close/>
                </a:path>
              </a:pathLst>
            </a:custGeom>
            <a:solidFill>
              <a:srgbClr val="DF4A32">
                <a:alpha val="84999"/>
              </a:srgbClr>
            </a:solidFill>
          </p:spPr>
          <p:txBody>
            <a:bodyPr wrap="square" lIns="0" tIns="0" rIns="0" bIns="0" rtlCol="0"/>
            <a:lstStyle/>
            <a:p>
              <a:endParaRPr/>
            </a:p>
          </p:txBody>
        </p:sp>
        <p:sp>
          <p:nvSpPr>
            <p:cNvPr id="19" name="object 19"/>
            <p:cNvSpPr/>
            <p:nvPr/>
          </p:nvSpPr>
          <p:spPr>
            <a:xfrm>
              <a:off x="12756843" y="1726372"/>
              <a:ext cx="5046980" cy="1328420"/>
            </a:xfrm>
            <a:custGeom>
              <a:avLst/>
              <a:gdLst/>
              <a:ahLst/>
              <a:cxnLst/>
              <a:rect l="l" t="t" r="r" b="b"/>
              <a:pathLst>
                <a:path w="5046980" h="1328420">
                  <a:moveTo>
                    <a:pt x="548174" y="848135"/>
                  </a:moveTo>
                  <a:lnTo>
                    <a:pt x="527398" y="816963"/>
                  </a:lnTo>
                  <a:lnTo>
                    <a:pt x="463839" y="725304"/>
                  </a:lnTo>
                  <a:lnTo>
                    <a:pt x="355651" y="575939"/>
                  </a:lnTo>
                  <a:lnTo>
                    <a:pt x="200991" y="371650"/>
                  </a:lnTo>
                  <a:lnTo>
                    <a:pt x="69504" y="183796"/>
                  </a:lnTo>
                  <a:lnTo>
                    <a:pt x="12425" y="70461"/>
                  </a:lnTo>
                  <a:lnTo>
                    <a:pt x="0" y="14809"/>
                  </a:lnTo>
                  <a:lnTo>
                    <a:pt x="2470" y="0"/>
                  </a:lnTo>
                  <a:lnTo>
                    <a:pt x="98428" y="12440"/>
                  </a:lnTo>
                  <a:lnTo>
                    <a:pt x="250459" y="16716"/>
                  </a:lnTo>
                  <a:lnTo>
                    <a:pt x="253117" y="68247"/>
                  </a:lnTo>
                  <a:lnTo>
                    <a:pt x="257318" y="121578"/>
                  </a:lnTo>
                  <a:lnTo>
                    <a:pt x="263356" y="175266"/>
                  </a:lnTo>
                  <a:lnTo>
                    <a:pt x="271526" y="227866"/>
                  </a:lnTo>
                  <a:lnTo>
                    <a:pt x="282125" y="277933"/>
                  </a:lnTo>
                  <a:lnTo>
                    <a:pt x="295447" y="324025"/>
                  </a:lnTo>
                  <a:lnTo>
                    <a:pt x="311788" y="364696"/>
                  </a:lnTo>
                  <a:lnTo>
                    <a:pt x="331442" y="398503"/>
                  </a:lnTo>
                  <a:lnTo>
                    <a:pt x="354704" y="424002"/>
                  </a:lnTo>
                  <a:lnTo>
                    <a:pt x="439348" y="535429"/>
                  </a:lnTo>
                  <a:lnTo>
                    <a:pt x="499807" y="676207"/>
                  </a:lnTo>
                  <a:lnTo>
                    <a:pt x="536083" y="796916"/>
                  </a:lnTo>
                  <a:lnTo>
                    <a:pt x="548174" y="848135"/>
                  </a:lnTo>
                  <a:close/>
                </a:path>
                <a:path w="5046980" h="1328420">
                  <a:moveTo>
                    <a:pt x="1658490" y="1305570"/>
                  </a:moveTo>
                  <a:lnTo>
                    <a:pt x="1642841" y="1305498"/>
                  </a:lnTo>
                  <a:lnTo>
                    <a:pt x="1613540" y="1305372"/>
                  </a:lnTo>
                  <a:lnTo>
                    <a:pt x="1579755" y="1305259"/>
                  </a:lnTo>
                  <a:lnTo>
                    <a:pt x="1547295" y="1305151"/>
                  </a:lnTo>
                  <a:lnTo>
                    <a:pt x="1510214" y="1305052"/>
                  </a:lnTo>
                  <a:lnTo>
                    <a:pt x="1483382" y="1308616"/>
                  </a:lnTo>
                  <a:lnTo>
                    <a:pt x="1424715" y="1324295"/>
                  </a:lnTo>
                  <a:lnTo>
                    <a:pt x="1397810" y="1327859"/>
                  </a:lnTo>
                  <a:lnTo>
                    <a:pt x="1431091" y="1210827"/>
                  </a:lnTo>
                  <a:lnTo>
                    <a:pt x="1486423" y="1086387"/>
                  </a:lnTo>
                  <a:lnTo>
                    <a:pt x="1579755" y="937419"/>
                  </a:lnTo>
                  <a:lnTo>
                    <a:pt x="1613540" y="903291"/>
                  </a:lnTo>
                  <a:lnTo>
                    <a:pt x="1621409" y="903157"/>
                  </a:lnTo>
                  <a:lnTo>
                    <a:pt x="1624381" y="903107"/>
                  </a:lnTo>
                  <a:lnTo>
                    <a:pt x="1640130" y="959263"/>
                  </a:lnTo>
                  <a:lnTo>
                    <a:pt x="1645103" y="1132853"/>
                  </a:lnTo>
                  <a:lnTo>
                    <a:pt x="1647614" y="1187876"/>
                  </a:lnTo>
                  <a:lnTo>
                    <a:pt x="1651869" y="1245748"/>
                  </a:lnTo>
                  <a:lnTo>
                    <a:pt x="1658490" y="1305570"/>
                  </a:lnTo>
                  <a:close/>
                </a:path>
                <a:path w="5046980" h="1328420">
                  <a:moveTo>
                    <a:pt x="5046932" y="450438"/>
                  </a:moveTo>
                  <a:lnTo>
                    <a:pt x="5030874" y="577302"/>
                  </a:lnTo>
                  <a:lnTo>
                    <a:pt x="4998868" y="546971"/>
                  </a:lnTo>
                  <a:lnTo>
                    <a:pt x="4959731" y="518516"/>
                  </a:lnTo>
                  <a:lnTo>
                    <a:pt x="4914505" y="491884"/>
                  </a:lnTo>
                  <a:lnTo>
                    <a:pt x="4864234" y="467025"/>
                  </a:lnTo>
                  <a:lnTo>
                    <a:pt x="4809958" y="443889"/>
                  </a:lnTo>
                  <a:lnTo>
                    <a:pt x="4752721" y="422424"/>
                  </a:lnTo>
                  <a:lnTo>
                    <a:pt x="4693563" y="402580"/>
                  </a:lnTo>
                  <a:lnTo>
                    <a:pt x="4633528" y="384306"/>
                  </a:lnTo>
                  <a:lnTo>
                    <a:pt x="4573656" y="367552"/>
                  </a:lnTo>
                  <a:lnTo>
                    <a:pt x="4514991" y="352265"/>
                  </a:lnTo>
                  <a:lnTo>
                    <a:pt x="4458574" y="338397"/>
                  </a:lnTo>
                  <a:lnTo>
                    <a:pt x="4405448" y="325895"/>
                  </a:lnTo>
                  <a:lnTo>
                    <a:pt x="4356654" y="314709"/>
                  </a:lnTo>
                  <a:lnTo>
                    <a:pt x="4313234" y="304788"/>
                  </a:lnTo>
                  <a:lnTo>
                    <a:pt x="4276231" y="296082"/>
                  </a:lnTo>
                  <a:lnTo>
                    <a:pt x="4246686" y="288540"/>
                  </a:lnTo>
                  <a:lnTo>
                    <a:pt x="4225642" y="282111"/>
                  </a:lnTo>
                  <a:lnTo>
                    <a:pt x="4214141" y="276743"/>
                  </a:lnTo>
                  <a:lnTo>
                    <a:pt x="4213224" y="272388"/>
                  </a:lnTo>
                  <a:lnTo>
                    <a:pt x="4229190" y="266695"/>
                  </a:lnTo>
                  <a:lnTo>
                    <a:pt x="4305769" y="256859"/>
                  </a:lnTo>
                  <a:lnTo>
                    <a:pt x="4361398" y="252678"/>
                  </a:lnTo>
                  <a:lnTo>
                    <a:pt x="4425265" y="248961"/>
                  </a:lnTo>
                  <a:lnTo>
                    <a:pt x="4494877" y="245691"/>
                  </a:lnTo>
                  <a:lnTo>
                    <a:pt x="4567742" y="242847"/>
                  </a:lnTo>
                  <a:lnTo>
                    <a:pt x="4641368" y="240410"/>
                  </a:lnTo>
                  <a:lnTo>
                    <a:pt x="4713263" y="238361"/>
                  </a:lnTo>
                  <a:lnTo>
                    <a:pt x="4780934" y="236680"/>
                  </a:lnTo>
                  <a:lnTo>
                    <a:pt x="4841890" y="235348"/>
                  </a:lnTo>
                  <a:lnTo>
                    <a:pt x="4893638" y="234346"/>
                  </a:lnTo>
                  <a:lnTo>
                    <a:pt x="4933686" y="233654"/>
                  </a:lnTo>
                  <a:lnTo>
                    <a:pt x="4968715" y="233123"/>
                  </a:lnTo>
                  <a:lnTo>
                    <a:pt x="5046932" y="450438"/>
                  </a:lnTo>
                  <a:close/>
                </a:path>
              </a:pathLst>
            </a:custGeom>
            <a:solidFill>
              <a:srgbClr val="252444">
                <a:alpha val="29998"/>
              </a:srgbClr>
            </a:solidFill>
          </p:spPr>
          <p:txBody>
            <a:bodyPr wrap="square" lIns="0" tIns="0" rIns="0" bIns="0" rtlCol="0"/>
            <a:lstStyle/>
            <a:p>
              <a:endParaRPr/>
            </a:p>
          </p:txBody>
        </p:sp>
      </p:grpSp>
      <p:sp>
        <p:nvSpPr>
          <p:cNvPr id="20" name="object 20"/>
          <p:cNvSpPr txBox="1">
            <a:spLocks noGrp="1"/>
          </p:cNvSpPr>
          <p:nvPr>
            <p:ph type="title"/>
          </p:nvPr>
        </p:nvSpPr>
        <p:spPr>
          <a:prstGeom prst="rect">
            <a:avLst/>
          </a:prstGeom>
        </p:spPr>
        <p:txBody>
          <a:bodyPr vert="horz" wrap="square" lIns="0" tIns="201554" rIns="0" bIns="0" rtlCol="0">
            <a:spAutoFit/>
          </a:bodyPr>
          <a:lstStyle/>
          <a:p>
            <a:pPr marL="213360">
              <a:lnSpc>
                <a:spcPct val="100000"/>
              </a:lnSpc>
              <a:spcBef>
                <a:spcPts val="100"/>
              </a:spcBef>
            </a:pPr>
            <a:r>
              <a:rPr sz="3700" b="0" spc="-800" dirty="0">
                <a:solidFill>
                  <a:srgbClr val="FF904D"/>
                </a:solidFill>
                <a:latin typeface="Arial MT"/>
                <a:cs typeface="Arial MT"/>
              </a:rPr>
              <a:t>HOW</a:t>
            </a:r>
            <a:r>
              <a:rPr sz="3700" b="0" dirty="0">
                <a:solidFill>
                  <a:srgbClr val="FF904D"/>
                </a:solidFill>
                <a:latin typeface="Arial MT"/>
                <a:cs typeface="Arial MT"/>
              </a:rPr>
              <a:t> </a:t>
            </a:r>
            <a:r>
              <a:rPr sz="3700" b="0" spc="-565" dirty="0">
                <a:solidFill>
                  <a:srgbClr val="FF904D"/>
                </a:solidFill>
                <a:latin typeface="Arial MT"/>
                <a:cs typeface="Arial MT"/>
              </a:rPr>
              <a:t>NODE</a:t>
            </a:r>
            <a:r>
              <a:rPr sz="3700" b="0" spc="5" dirty="0">
                <a:solidFill>
                  <a:srgbClr val="FF904D"/>
                </a:solidFill>
                <a:latin typeface="Arial MT"/>
                <a:cs typeface="Arial MT"/>
              </a:rPr>
              <a:t> </a:t>
            </a:r>
            <a:r>
              <a:rPr sz="3700" b="0" spc="-575" dirty="0">
                <a:solidFill>
                  <a:srgbClr val="FF904D"/>
                </a:solidFill>
                <a:latin typeface="Arial MT"/>
                <a:cs typeface="Arial MT"/>
              </a:rPr>
              <a:t>CONTROLLER</a:t>
            </a:r>
            <a:r>
              <a:rPr sz="3700" b="0" dirty="0">
                <a:solidFill>
                  <a:srgbClr val="FF904D"/>
                </a:solidFill>
                <a:latin typeface="Arial MT"/>
                <a:cs typeface="Arial MT"/>
              </a:rPr>
              <a:t> </a:t>
            </a:r>
            <a:r>
              <a:rPr sz="3700" b="0" spc="-650" dirty="0">
                <a:solidFill>
                  <a:srgbClr val="FF904D"/>
                </a:solidFill>
                <a:latin typeface="Arial MT"/>
                <a:cs typeface="Arial MT"/>
              </a:rPr>
              <a:t>WORKS:</a:t>
            </a:r>
            <a:endParaRPr sz="3700">
              <a:latin typeface="Arial MT"/>
              <a:cs typeface="Arial MT"/>
            </a:endParaRPr>
          </a:p>
        </p:txBody>
      </p:sp>
      <p:sp>
        <p:nvSpPr>
          <p:cNvPr id="21" name="object 21"/>
          <p:cNvSpPr txBox="1"/>
          <p:nvPr/>
        </p:nvSpPr>
        <p:spPr>
          <a:xfrm>
            <a:off x="4002013" y="1909876"/>
            <a:ext cx="1376045" cy="391795"/>
          </a:xfrm>
          <a:prstGeom prst="rect">
            <a:avLst/>
          </a:prstGeom>
        </p:spPr>
        <p:txBody>
          <a:bodyPr vert="horz" wrap="square" lIns="0" tIns="12700" rIns="0" bIns="0" rtlCol="0">
            <a:spAutoFit/>
          </a:bodyPr>
          <a:lstStyle/>
          <a:p>
            <a:pPr marL="12700">
              <a:lnSpc>
                <a:spcPct val="100000"/>
              </a:lnSpc>
              <a:spcBef>
                <a:spcPts val="100"/>
              </a:spcBef>
            </a:pPr>
            <a:r>
              <a:rPr sz="2400" b="1" spc="-120" dirty="0">
                <a:solidFill>
                  <a:srgbClr val="E7181F"/>
                </a:solidFill>
                <a:latin typeface="Times New Roman"/>
                <a:cs typeface="Times New Roman"/>
              </a:rPr>
              <a:t>REQUEST</a:t>
            </a:r>
            <a:endParaRPr sz="2400">
              <a:latin typeface="Times New Roman"/>
              <a:cs typeface="Times New Roman"/>
            </a:endParaRPr>
          </a:p>
        </p:txBody>
      </p:sp>
      <p:sp>
        <p:nvSpPr>
          <p:cNvPr id="22" name="object 22"/>
          <p:cNvSpPr txBox="1"/>
          <p:nvPr/>
        </p:nvSpPr>
        <p:spPr>
          <a:xfrm>
            <a:off x="1331842" y="2633062"/>
            <a:ext cx="1540510" cy="615950"/>
          </a:xfrm>
          <a:prstGeom prst="rect">
            <a:avLst/>
          </a:prstGeom>
        </p:spPr>
        <p:txBody>
          <a:bodyPr vert="horz" wrap="square" lIns="0" tIns="12700" rIns="0" bIns="0" rtlCol="0">
            <a:spAutoFit/>
          </a:bodyPr>
          <a:lstStyle/>
          <a:p>
            <a:pPr marL="12700" marR="5080" indent="449580">
              <a:lnSpc>
                <a:spcPct val="113999"/>
              </a:lnSpc>
              <a:spcBef>
                <a:spcPts val="100"/>
              </a:spcBef>
            </a:pPr>
            <a:r>
              <a:rPr sz="1700" b="1" spc="-20" dirty="0">
                <a:solidFill>
                  <a:srgbClr val="E7181F"/>
                </a:solidFill>
                <a:latin typeface="Times New Roman"/>
                <a:cs typeface="Times New Roman"/>
              </a:rPr>
              <a:t>NODE </a:t>
            </a:r>
            <a:r>
              <a:rPr sz="1700" b="1" spc="-114" dirty="0">
                <a:solidFill>
                  <a:srgbClr val="E7181F"/>
                </a:solidFill>
                <a:latin typeface="Times New Roman"/>
                <a:cs typeface="Times New Roman"/>
              </a:rPr>
              <a:t>CONTROLLERS</a:t>
            </a:r>
            <a:endParaRPr sz="1700">
              <a:latin typeface="Times New Roman"/>
              <a:cs typeface="Times New Roman"/>
            </a:endParaRPr>
          </a:p>
        </p:txBody>
      </p:sp>
      <p:sp>
        <p:nvSpPr>
          <p:cNvPr id="23" name="object 23"/>
          <p:cNvSpPr txBox="1"/>
          <p:nvPr/>
        </p:nvSpPr>
        <p:spPr>
          <a:xfrm>
            <a:off x="9978071" y="9591946"/>
            <a:ext cx="1254760" cy="467359"/>
          </a:xfrm>
          <a:prstGeom prst="rect">
            <a:avLst/>
          </a:prstGeom>
        </p:spPr>
        <p:txBody>
          <a:bodyPr vert="horz" wrap="square" lIns="0" tIns="12065" rIns="0" bIns="0" rtlCol="0">
            <a:spAutoFit/>
          </a:bodyPr>
          <a:lstStyle/>
          <a:p>
            <a:pPr marL="12700">
              <a:lnSpc>
                <a:spcPct val="100000"/>
              </a:lnSpc>
              <a:spcBef>
                <a:spcPts val="95"/>
              </a:spcBef>
            </a:pPr>
            <a:r>
              <a:rPr sz="2900" b="1" spc="204" dirty="0">
                <a:latin typeface="Times New Roman"/>
                <a:cs typeface="Times New Roman"/>
              </a:rPr>
              <a:t>Node-</a:t>
            </a:r>
            <a:r>
              <a:rPr sz="2900" b="1" spc="-355" dirty="0">
                <a:latin typeface="Times New Roman"/>
                <a:cs typeface="Times New Roman"/>
              </a:rPr>
              <a:t>1</a:t>
            </a:r>
            <a:endParaRPr sz="2900">
              <a:latin typeface="Times New Roman"/>
              <a:cs typeface="Times New Roman"/>
            </a:endParaRPr>
          </a:p>
        </p:txBody>
      </p:sp>
      <p:sp>
        <p:nvSpPr>
          <p:cNvPr id="24" name="object 24"/>
          <p:cNvSpPr txBox="1"/>
          <p:nvPr/>
        </p:nvSpPr>
        <p:spPr>
          <a:xfrm>
            <a:off x="12070698" y="9591946"/>
            <a:ext cx="1316355" cy="467359"/>
          </a:xfrm>
          <a:prstGeom prst="rect">
            <a:avLst/>
          </a:prstGeom>
        </p:spPr>
        <p:txBody>
          <a:bodyPr vert="horz" wrap="square" lIns="0" tIns="12065" rIns="0" bIns="0" rtlCol="0">
            <a:spAutoFit/>
          </a:bodyPr>
          <a:lstStyle/>
          <a:p>
            <a:pPr marL="12700">
              <a:lnSpc>
                <a:spcPct val="100000"/>
              </a:lnSpc>
              <a:spcBef>
                <a:spcPts val="95"/>
              </a:spcBef>
            </a:pPr>
            <a:r>
              <a:rPr sz="2900" b="1" spc="204" dirty="0">
                <a:latin typeface="Times New Roman"/>
                <a:cs typeface="Times New Roman"/>
              </a:rPr>
              <a:t>Node-</a:t>
            </a:r>
            <a:r>
              <a:rPr sz="2900" b="1" spc="120" dirty="0">
                <a:latin typeface="Times New Roman"/>
                <a:cs typeface="Times New Roman"/>
              </a:rPr>
              <a:t>2</a:t>
            </a:r>
            <a:endParaRPr sz="2900">
              <a:latin typeface="Times New Roman"/>
              <a:cs typeface="Times New Roman"/>
            </a:endParaRPr>
          </a:p>
        </p:txBody>
      </p:sp>
      <p:sp>
        <p:nvSpPr>
          <p:cNvPr id="25" name="object 25"/>
          <p:cNvSpPr txBox="1"/>
          <p:nvPr/>
        </p:nvSpPr>
        <p:spPr>
          <a:xfrm>
            <a:off x="13837870" y="9591946"/>
            <a:ext cx="1310005" cy="467359"/>
          </a:xfrm>
          <a:prstGeom prst="rect">
            <a:avLst/>
          </a:prstGeom>
        </p:spPr>
        <p:txBody>
          <a:bodyPr vert="horz" wrap="square" lIns="0" tIns="12065" rIns="0" bIns="0" rtlCol="0">
            <a:spAutoFit/>
          </a:bodyPr>
          <a:lstStyle/>
          <a:p>
            <a:pPr marL="12700">
              <a:lnSpc>
                <a:spcPct val="100000"/>
              </a:lnSpc>
              <a:spcBef>
                <a:spcPts val="95"/>
              </a:spcBef>
            </a:pPr>
            <a:r>
              <a:rPr sz="2900" b="1" spc="204" dirty="0">
                <a:latin typeface="Times New Roman"/>
                <a:cs typeface="Times New Roman"/>
              </a:rPr>
              <a:t>Node-</a:t>
            </a:r>
            <a:r>
              <a:rPr sz="2900" b="1" spc="80" dirty="0">
                <a:latin typeface="Times New Roman"/>
                <a:cs typeface="Times New Roman"/>
              </a:rPr>
              <a:t>3</a:t>
            </a:r>
            <a:endParaRPr sz="2900">
              <a:latin typeface="Times New Roman"/>
              <a:cs typeface="Times New Roman"/>
            </a:endParaRPr>
          </a:p>
        </p:txBody>
      </p:sp>
      <p:sp>
        <p:nvSpPr>
          <p:cNvPr id="26" name="object 26"/>
          <p:cNvSpPr txBox="1"/>
          <p:nvPr/>
        </p:nvSpPr>
        <p:spPr>
          <a:xfrm>
            <a:off x="14444195" y="7663515"/>
            <a:ext cx="2280285" cy="467359"/>
          </a:xfrm>
          <a:prstGeom prst="rect">
            <a:avLst/>
          </a:prstGeom>
        </p:spPr>
        <p:txBody>
          <a:bodyPr vert="horz" wrap="square" lIns="0" tIns="12065" rIns="0" bIns="0" rtlCol="0">
            <a:spAutoFit/>
          </a:bodyPr>
          <a:lstStyle/>
          <a:p>
            <a:pPr marL="12700">
              <a:lnSpc>
                <a:spcPct val="100000"/>
              </a:lnSpc>
              <a:spcBef>
                <a:spcPts val="95"/>
              </a:spcBef>
            </a:pPr>
            <a:r>
              <a:rPr sz="2900" b="1" spc="80" dirty="0">
                <a:solidFill>
                  <a:srgbClr val="FF3131"/>
                </a:solidFill>
                <a:latin typeface="Times New Roman"/>
                <a:cs typeface="Times New Roman"/>
              </a:rPr>
              <a:t>UnReachable</a:t>
            </a:r>
            <a:endParaRPr sz="2900">
              <a:latin typeface="Times New Roman"/>
              <a:cs typeface="Times New Roman"/>
            </a:endParaRPr>
          </a:p>
        </p:txBody>
      </p:sp>
      <p:pic>
        <p:nvPicPr>
          <p:cNvPr id="27" name="object 27"/>
          <p:cNvPicPr/>
          <p:nvPr/>
        </p:nvPicPr>
        <p:blipFill>
          <a:blip r:embed="rId5" cstate="print"/>
          <a:stretch>
            <a:fillRect/>
          </a:stretch>
        </p:blipFill>
        <p:spPr>
          <a:xfrm>
            <a:off x="781401" y="6719994"/>
            <a:ext cx="85725" cy="85724"/>
          </a:xfrm>
          <a:prstGeom prst="rect">
            <a:avLst/>
          </a:prstGeom>
        </p:spPr>
      </p:pic>
      <p:sp>
        <p:nvSpPr>
          <p:cNvPr id="28" name="object 28"/>
          <p:cNvSpPr txBox="1"/>
          <p:nvPr/>
        </p:nvSpPr>
        <p:spPr>
          <a:xfrm>
            <a:off x="1003552" y="6456463"/>
            <a:ext cx="8475345" cy="2654300"/>
          </a:xfrm>
          <a:prstGeom prst="rect">
            <a:avLst/>
          </a:prstGeom>
        </p:spPr>
        <p:txBody>
          <a:bodyPr vert="horz" wrap="square" lIns="0" tIns="12700" rIns="0" bIns="0" rtlCol="0">
            <a:spAutoFit/>
          </a:bodyPr>
          <a:lstStyle/>
          <a:p>
            <a:pPr marL="12700" marR="5080">
              <a:lnSpc>
                <a:spcPct val="114999"/>
              </a:lnSpc>
              <a:spcBef>
                <a:spcPts val="100"/>
              </a:spcBef>
            </a:pPr>
            <a:r>
              <a:rPr sz="2500" b="1" spc="145" dirty="0">
                <a:latin typeface="Times New Roman"/>
                <a:cs typeface="Times New Roman"/>
              </a:rPr>
              <a:t>Node</a:t>
            </a:r>
            <a:r>
              <a:rPr sz="2500" b="1" spc="40" dirty="0">
                <a:latin typeface="Times New Roman"/>
                <a:cs typeface="Times New Roman"/>
              </a:rPr>
              <a:t> </a:t>
            </a:r>
            <a:r>
              <a:rPr sz="2500" b="1" dirty="0">
                <a:latin typeface="Times New Roman"/>
                <a:cs typeface="Times New Roman"/>
              </a:rPr>
              <a:t>Controller</a:t>
            </a:r>
            <a:r>
              <a:rPr sz="2500" b="1" spc="45" dirty="0">
                <a:latin typeface="Times New Roman"/>
                <a:cs typeface="Times New Roman"/>
              </a:rPr>
              <a:t> </a:t>
            </a:r>
            <a:r>
              <a:rPr sz="2500" b="1" spc="130" dirty="0">
                <a:latin typeface="Times New Roman"/>
                <a:cs typeface="Times New Roman"/>
              </a:rPr>
              <a:t>will</a:t>
            </a:r>
            <a:r>
              <a:rPr sz="2500" b="1" spc="45" dirty="0">
                <a:latin typeface="Times New Roman"/>
                <a:cs typeface="Times New Roman"/>
              </a:rPr>
              <a:t> </a:t>
            </a:r>
            <a:r>
              <a:rPr sz="2500" b="1" spc="95" dirty="0">
                <a:latin typeface="Times New Roman"/>
                <a:cs typeface="Times New Roman"/>
              </a:rPr>
              <a:t>checks</a:t>
            </a:r>
            <a:r>
              <a:rPr sz="2500" b="1" spc="45" dirty="0">
                <a:latin typeface="Times New Roman"/>
                <a:cs typeface="Times New Roman"/>
              </a:rPr>
              <a:t> </a:t>
            </a:r>
            <a:r>
              <a:rPr sz="2500" b="1" spc="100" dirty="0">
                <a:latin typeface="Times New Roman"/>
                <a:cs typeface="Times New Roman"/>
              </a:rPr>
              <a:t>the</a:t>
            </a:r>
            <a:r>
              <a:rPr sz="2500" b="1" spc="40" dirty="0">
                <a:latin typeface="Times New Roman"/>
                <a:cs typeface="Times New Roman"/>
              </a:rPr>
              <a:t> </a:t>
            </a:r>
            <a:r>
              <a:rPr sz="2500" b="1" spc="145" dirty="0">
                <a:latin typeface="Times New Roman"/>
                <a:cs typeface="Times New Roman"/>
              </a:rPr>
              <a:t>nodes</a:t>
            </a:r>
            <a:r>
              <a:rPr sz="2500" b="1" spc="45" dirty="0">
                <a:latin typeface="Times New Roman"/>
                <a:cs typeface="Times New Roman"/>
              </a:rPr>
              <a:t> </a:t>
            </a:r>
            <a:r>
              <a:rPr sz="2500" b="1" dirty="0">
                <a:latin typeface="Times New Roman"/>
                <a:cs typeface="Times New Roman"/>
              </a:rPr>
              <a:t>for</a:t>
            </a:r>
            <a:r>
              <a:rPr sz="2500" b="1" spc="45" dirty="0">
                <a:latin typeface="Times New Roman"/>
                <a:cs typeface="Times New Roman"/>
              </a:rPr>
              <a:t> </a:t>
            </a:r>
            <a:r>
              <a:rPr sz="2500" b="1" spc="114" dirty="0">
                <a:latin typeface="Times New Roman"/>
                <a:cs typeface="Times New Roman"/>
              </a:rPr>
              <a:t>every</a:t>
            </a:r>
            <a:r>
              <a:rPr sz="2500" b="1" spc="45" dirty="0">
                <a:latin typeface="Times New Roman"/>
                <a:cs typeface="Times New Roman"/>
              </a:rPr>
              <a:t> </a:t>
            </a:r>
            <a:r>
              <a:rPr sz="2500" b="1" spc="85" dirty="0">
                <a:latin typeface="Times New Roman"/>
                <a:cs typeface="Times New Roman"/>
              </a:rPr>
              <a:t>5</a:t>
            </a:r>
            <a:r>
              <a:rPr sz="2500" b="1" spc="40" dirty="0">
                <a:latin typeface="Times New Roman"/>
                <a:cs typeface="Times New Roman"/>
              </a:rPr>
              <a:t> </a:t>
            </a:r>
            <a:r>
              <a:rPr sz="2500" b="1" spc="120" dirty="0">
                <a:latin typeface="Times New Roman"/>
                <a:cs typeface="Times New Roman"/>
              </a:rPr>
              <a:t>seconds </a:t>
            </a:r>
            <a:r>
              <a:rPr sz="2500" b="1" spc="80" dirty="0">
                <a:latin typeface="Times New Roman"/>
                <a:cs typeface="Times New Roman"/>
              </a:rPr>
              <a:t>through</a:t>
            </a:r>
            <a:r>
              <a:rPr sz="2500" b="1" spc="105" dirty="0">
                <a:latin typeface="Times New Roman"/>
                <a:cs typeface="Times New Roman"/>
              </a:rPr>
              <a:t> </a:t>
            </a:r>
            <a:r>
              <a:rPr sz="2500" b="1" dirty="0">
                <a:latin typeface="Times New Roman"/>
                <a:cs typeface="Times New Roman"/>
              </a:rPr>
              <a:t>API-</a:t>
            </a:r>
            <a:r>
              <a:rPr sz="2500" b="1" spc="40" dirty="0">
                <a:latin typeface="Times New Roman"/>
                <a:cs typeface="Times New Roman"/>
              </a:rPr>
              <a:t>Server.</a:t>
            </a:r>
            <a:endParaRPr sz="2500">
              <a:latin typeface="Times New Roman"/>
              <a:cs typeface="Times New Roman"/>
            </a:endParaRPr>
          </a:p>
          <a:p>
            <a:pPr marL="12700">
              <a:lnSpc>
                <a:spcPct val="100000"/>
              </a:lnSpc>
              <a:spcBef>
                <a:spcPts val="450"/>
              </a:spcBef>
            </a:pPr>
            <a:r>
              <a:rPr sz="2500" b="1" dirty="0">
                <a:latin typeface="Times New Roman"/>
                <a:cs typeface="Times New Roman"/>
              </a:rPr>
              <a:t>It</a:t>
            </a:r>
            <a:r>
              <a:rPr sz="2500" b="1" spc="-10" dirty="0">
                <a:latin typeface="Times New Roman"/>
                <a:cs typeface="Times New Roman"/>
              </a:rPr>
              <a:t> </a:t>
            </a:r>
            <a:r>
              <a:rPr sz="2500" b="1" spc="105" dirty="0">
                <a:latin typeface="Times New Roman"/>
                <a:cs typeface="Times New Roman"/>
              </a:rPr>
              <a:t>works</a:t>
            </a:r>
            <a:r>
              <a:rPr sz="2500" b="1" spc="-5" dirty="0">
                <a:latin typeface="Times New Roman"/>
                <a:cs typeface="Times New Roman"/>
              </a:rPr>
              <a:t> </a:t>
            </a:r>
            <a:r>
              <a:rPr sz="2500" b="1" spc="50" dirty="0">
                <a:latin typeface="Times New Roman"/>
                <a:cs typeface="Times New Roman"/>
              </a:rPr>
              <a:t>like</a:t>
            </a:r>
            <a:r>
              <a:rPr sz="2500" b="1" spc="-10" dirty="0">
                <a:latin typeface="Times New Roman"/>
                <a:cs typeface="Times New Roman"/>
              </a:rPr>
              <a:t> </a:t>
            </a:r>
            <a:r>
              <a:rPr sz="2500" b="1" dirty="0">
                <a:latin typeface="Times New Roman"/>
                <a:cs typeface="Times New Roman"/>
              </a:rPr>
              <a:t>a</a:t>
            </a:r>
            <a:r>
              <a:rPr sz="2500" b="1" spc="-5" dirty="0">
                <a:latin typeface="Times New Roman"/>
                <a:cs typeface="Times New Roman"/>
              </a:rPr>
              <a:t> </a:t>
            </a:r>
            <a:r>
              <a:rPr sz="2500" b="1" spc="65" dirty="0">
                <a:latin typeface="Times New Roman"/>
                <a:cs typeface="Times New Roman"/>
              </a:rPr>
              <a:t>heartbeat</a:t>
            </a:r>
            <a:r>
              <a:rPr sz="2500" b="1" spc="-5" dirty="0">
                <a:latin typeface="Times New Roman"/>
                <a:cs typeface="Times New Roman"/>
              </a:rPr>
              <a:t> </a:t>
            </a:r>
            <a:r>
              <a:rPr sz="2500" b="1" dirty="0">
                <a:latin typeface="Times New Roman"/>
                <a:cs typeface="Times New Roman"/>
              </a:rPr>
              <a:t>for</a:t>
            </a:r>
            <a:r>
              <a:rPr sz="2500" b="1" spc="-10" dirty="0">
                <a:latin typeface="Times New Roman"/>
                <a:cs typeface="Times New Roman"/>
              </a:rPr>
              <a:t> </a:t>
            </a:r>
            <a:r>
              <a:rPr sz="2500" b="1" spc="90" dirty="0">
                <a:latin typeface="Times New Roman"/>
                <a:cs typeface="Times New Roman"/>
              </a:rPr>
              <a:t>our</a:t>
            </a:r>
            <a:r>
              <a:rPr sz="2500" b="1" spc="-5" dirty="0">
                <a:latin typeface="Times New Roman"/>
                <a:cs typeface="Times New Roman"/>
              </a:rPr>
              <a:t> </a:t>
            </a:r>
            <a:r>
              <a:rPr sz="2500" b="1" spc="100" dirty="0">
                <a:latin typeface="Times New Roman"/>
                <a:cs typeface="Times New Roman"/>
              </a:rPr>
              <a:t>body.</a:t>
            </a:r>
            <a:endParaRPr sz="2500">
              <a:latin typeface="Times New Roman"/>
              <a:cs typeface="Times New Roman"/>
            </a:endParaRPr>
          </a:p>
          <a:p>
            <a:pPr marL="12700" marR="524510">
              <a:lnSpc>
                <a:spcPct val="114999"/>
              </a:lnSpc>
            </a:pPr>
            <a:r>
              <a:rPr sz="2500" b="1" dirty="0">
                <a:latin typeface="Times New Roman"/>
                <a:cs typeface="Times New Roman"/>
              </a:rPr>
              <a:t>If</a:t>
            </a:r>
            <a:r>
              <a:rPr sz="2500" b="1" spc="-15" dirty="0">
                <a:latin typeface="Times New Roman"/>
                <a:cs typeface="Times New Roman"/>
              </a:rPr>
              <a:t> </a:t>
            </a:r>
            <a:r>
              <a:rPr sz="2500" b="1" spc="145" dirty="0">
                <a:latin typeface="Times New Roman"/>
                <a:cs typeface="Times New Roman"/>
              </a:rPr>
              <a:t>Node</a:t>
            </a:r>
            <a:r>
              <a:rPr sz="2500" b="1" spc="-15" dirty="0">
                <a:latin typeface="Times New Roman"/>
                <a:cs typeface="Times New Roman"/>
              </a:rPr>
              <a:t> </a:t>
            </a:r>
            <a:r>
              <a:rPr sz="2500" b="1" spc="75" dirty="0">
                <a:latin typeface="Times New Roman"/>
                <a:cs typeface="Times New Roman"/>
              </a:rPr>
              <a:t>controller</a:t>
            </a:r>
            <a:r>
              <a:rPr sz="2500" b="1" spc="-15" dirty="0">
                <a:latin typeface="Times New Roman"/>
                <a:cs typeface="Times New Roman"/>
              </a:rPr>
              <a:t> </a:t>
            </a:r>
            <a:r>
              <a:rPr sz="2500" b="1" spc="130" dirty="0">
                <a:latin typeface="Times New Roman"/>
                <a:cs typeface="Times New Roman"/>
              </a:rPr>
              <a:t>does</a:t>
            </a:r>
            <a:r>
              <a:rPr sz="2500" b="1" spc="-15" dirty="0">
                <a:latin typeface="Times New Roman"/>
                <a:cs typeface="Times New Roman"/>
              </a:rPr>
              <a:t> </a:t>
            </a:r>
            <a:r>
              <a:rPr sz="2500" b="1" spc="114" dirty="0">
                <a:latin typeface="Times New Roman"/>
                <a:cs typeface="Times New Roman"/>
              </a:rPr>
              <a:t>not</a:t>
            </a:r>
            <a:r>
              <a:rPr sz="2500" b="1" spc="-15" dirty="0">
                <a:latin typeface="Times New Roman"/>
                <a:cs typeface="Times New Roman"/>
              </a:rPr>
              <a:t> </a:t>
            </a:r>
            <a:r>
              <a:rPr sz="2500" b="1" dirty="0">
                <a:latin typeface="Times New Roman"/>
                <a:cs typeface="Times New Roman"/>
              </a:rPr>
              <a:t>get</a:t>
            </a:r>
            <a:r>
              <a:rPr sz="2500" b="1" spc="-15" dirty="0">
                <a:latin typeface="Times New Roman"/>
                <a:cs typeface="Times New Roman"/>
              </a:rPr>
              <a:t> </a:t>
            </a:r>
            <a:r>
              <a:rPr sz="2500" b="1" spc="135" dirty="0">
                <a:latin typeface="Times New Roman"/>
                <a:cs typeface="Times New Roman"/>
              </a:rPr>
              <a:t>any</a:t>
            </a:r>
            <a:r>
              <a:rPr sz="2500" b="1" spc="-15" dirty="0">
                <a:latin typeface="Times New Roman"/>
                <a:cs typeface="Times New Roman"/>
              </a:rPr>
              <a:t> </a:t>
            </a:r>
            <a:r>
              <a:rPr sz="2500" b="1" spc="114" dirty="0">
                <a:latin typeface="Times New Roman"/>
                <a:cs typeface="Times New Roman"/>
              </a:rPr>
              <a:t>response</a:t>
            </a:r>
            <a:r>
              <a:rPr sz="2500" b="1" spc="-15" dirty="0">
                <a:latin typeface="Times New Roman"/>
                <a:cs typeface="Times New Roman"/>
              </a:rPr>
              <a:t> </a:t>
            </a:r>
            <a:r>
              <a:rPr sz="2500" b="1" spc="105" dirty="0">
                <a:latin typeface="Times New Roman"/>
                <a:cs typeface="Times New Roman"/>
              </a:rPr>
              <a:t>from</a:t>
            </a:r>
            <a:r>
              <a:rPr sz="2500" b="1" spc="-15" dirty="0">
                <a:latin typeface="Times New Roman"/>
                <a:cs typeface="Times New Roman"/>
              </a:rPr>
              <a:t> </a:t>
            </a:r>
            <a:r>
              <a:rPr sz="2500" b="1" spc="80" dirty="0">
                <a:latin typeface="Times New Roman"/>
                <a:cs typeface="Times New Roman"/>
              </a:rPr>
              <a:t>Any </a:t>
            </a:r>
            <a:r>
              <a:rPr sz="2500" b="1" spc="145" dirty="0">
                <a:latin typeface="Times New Roman"/>
                <a:cs typeface="Times New Roman"/>
              </a:rPr>
              <a:t>Node</a:t>
            </a:r>
            <a:r>
              <a:rPr sz="2500" b="1" spc="50" dirty="0">
                <a:latin typeface="Times New Roman"/>
                <a:cs typeface="Times New Roman"/>
              </a:rPr>
              <a:t> </a:t>
            </a:r>
            <a:r>
              <a:rPr sz="2500" b="1" dirty="0">
                <a:latin typeface="Times New Roman"/>
                <a:cs typeface="Times New Roman"/>
              </a:rPr>
              <a:t>for</a:t>
            </a:r>
            <a:r>
              <a:rPr sz="2500" b="1" spc="55" dirty="0">
                <a:latin typeface="Times New Roman"/>
                <a:cs typeface="Times New Roman"/>
              </a:rPr>
              <a:t> </a:t>
            </a:r>
            <a:r>
              <a:rPr sz="2500" b="1" spc="215" dirty="0">
                <a:latin typeface="Times New Roman"/>
                <a:cs typeface="Times New Roman"/>
              </a:rPr>
              <a:t>40</a:t>
            </a:r>
            <a:r>
              <a:rPr sz="2500" b="1" spc="55" dirty="0">
                <a:latin typeface="Times New Roman"/>
                <a:cs typeface="Times New Roman"/>
              </a:rPr>
              <a:t> </a:t>
            </a:r>
            <a:r>
              <a:rPr sz="2500" b="1" spc="130" dirty="0">
                <a:latin typeface="Times New Roman"/>
                <a:cs typeface="Times New Roman"/>
              </a:rPr>
              <a:t>seconds</a:t>
            </a:r>
            <a:r>
              <a:rPr sz="2500" b="1" spc="50" dirty="0">
                <a:latin typeface="Times New Roman"/>
                <a:cs typeface="Times New Roman"/>
              </a:rPr>
              <a:t> </a:t>
            </a:r>
            <a:r>
              <a:rPr sz="2500" b="1" spc="125" dirty="0">
                <a:latin typeface="Times New Roman"/>
                <a:cs typeface="Times New Roman"/>
              </a:rPr>
              <a:t>then</a:t>
            </a:r>
            <a:r>
              <a:rPr sz="2500" b="1" spc="55" dirty="0">
                <a:latin typeface="Times New Roman"/>
                <a:cs typeface="Times New Roman"/>
              </a:rPr>
              <a:t> </a:t>
            </a:r>
            <a:r>
              <a:rPr sz="2500" b="1" spc="145" dirty="0">
                <a:latin typeface="Times New Roman"/>
                <a:cs typeface="Times New Roman"/>
              </a:rPr>
              <a:t>Node</a:t>
            </a:r>
            <a:r>
              <a:rPr sz="2500" b="1" spc="55" dirty="0">
                <a:latin typeface="Times New Roman"/>
                <a:cs typeface="Times New Roman"/>
              </a:rPr>
              <a:t> </a:t>
            </a:r>
            <a:r>
              <a:rPr sz="2500" b="1" dirty="0">
                <a:latin typeface="Times New Roman"/>
                <a:cs typeface="Times New Roman"/>
              </a:rPr>
              <a:t>Controller</a:t>
            </a:r>
            <a:r>
              <a:rPr sz="2500" b="1" spc="55" dirty="0">
                <a:latin typeface="Times New Roman"/>
                <a:cs typeface="Times New Roman"/>
              </a:rPr>
              <a:t> </a:t>
            </a:r>
            <a:r>
              <a:rPr sz="2500" b="1" spc="70" dirty="0">
                <a:latin typeface="Times New Roman"/>
                <a:cs typeface="Times New Roman"/>
              </a:rPr>
              <a:t>marks</a:t>
            </a:r>
            <a:r>
              <a:rPr sz="2500" b="1" spc="50" dirty="0">
                <a:latin typeface="Times New Roman"/>
                <a:cs typeface="Times New Roman"/>
              </a:rPr>
              <a:t> </a:t>
            </a:r>
            <a:r>
              <a:rPr sz="2500" b="1" spc="-20" dirty="0">
                <a:latin typeface="Times New Roman"/>
                <a:cs typeface="Times New Roman"/>
              </a:rPr>
              <a:t>that </a:t>
            </a:r>
            <a:r>
              <a:rPr sz="2500" b="1" spc="160" dirty="0">
                <a:latin typeface="Times New Roman"/>
                <a:cs typeface="Times New Roman"/>
              </a:rPr>
              <a:t>node</a:t>
            </a:r>
            <a:r>
              <a:rPr sz="2500" b="1" spc="-25" dirty="0">
                <a:latin typeface="Times New Roman"/>
                <a:cs typeface="Times New Roman"/>
              </a:rPr>
              <a:t> </a:t>
            </a:r>
            <a:r>
              <a:rPr sz="2500" b="1" spc="60" dirty="0">
                <a:latin typeface="Times New Roman"/>
                <a:cs typeface="Times New Roman"/>
              </a:rPr>
              <a:t>as</a:t>
            </a:r>
            <a:r>
              <a:rPr sz="2500" b="1" spc="-25" dirty="0">
                <a:latin typeface="Times New Roman"/>
                <a:cs typeface="Times New Roman"/>
              </a:rPr>
              <a:t> </a:t>
            </a:r>
            <a:r>
              <a:rPr sz="2500" b="1" spc="-30" dirty="0">
                <a:latin typeface="Times New Roman"/>
                <a:cs typeface="Times New Roman"/>
              </a:rPr>
              <a:t>UNREACHABLE</a:t>
            </a:r>
            <a:endParaRPr sz="2500">
              <a:latin typeface="Times New Roman"/>
              <a:cs typeface="Times New Roman"/>
            </a:endParaRPr>
          </a:p>
        </p:txBody>
      </p:sp>
      <p:pic>
        <p:nvPicPr>
          <p:cNvPr id="29" name="object 29"/>
          <p:cNvPicPr/>
          <p:nvPr/>
        </p:nvPicPr>
        <p:blipFill>
          <a:blip r:embed="rId5" cstate="print"/>
          <a:stretch>
            <a:fillRect/>
          </a:stretch>
        </p:blipFill>
        <p:spPr>
          <a:xfrm>
            <a:off x="781401" y="7596294"/>
            <a:ext cx="85725" cy="85724"/>
          </a:xfrm>
          <a:prstGeom prst="rect">
            <a:avLst/>
          </a:prstGeom>
        </p:spPr>
      </p:pic>
      <p:pic>
        <p:nvPicPr>
          <p:cNvPr id="30" name="object 30"/>
          <p:cNvPicPr/>
          <p:nvPr/>
        </p:nvPicPr>
        <p:blipFill>
          <a:blip r:embed="rId5" cstate="print"/>
          <a:stretch>
            <a:fillRect/>
          </a:stretch>
        </p:blipFill>
        <p:spPr>
          <a:xfrm>
            <a:off x="781401" y="8034444"/>
            <a:ext cx="85725" cy="85724"/>
          </a:xfrm>
          <a:prstGeom prst="rect">
            <a:avLst/>
          </a:prstGeom>
        </p:spPr>
      </p:pic>
      <p:sp>
        <p:nvSpPr>
          <p:cNvPr id="31" name="object 31"/>
          <p:cNvSpPr txBox="1"/>
          <p:nvPr/>
        </p:nvSpPr>
        <p:spPr>
          <a:xfrm>
            <a:off x="12851867" y="1906923"/>
            <a:ext cx="3983354" cy="406400"/>
          </a:xfrm>
          <a:prstGeom prst="rect">
            <a:avLst/>
          </a:prstGeom>
        </p:spPr>
        <p:txBody>
          <a:bodyPr vert="horz" wrap="square" lIns="0" tIns="12700" rIns="0" bIns="0" rtlCol="0">
            <a:spAutoFit/>
          </a:bodyPr>
          <a:lstStyle/>
          <a:p>
            <a:pPr marL="12700">
              <a:lnSpc>
                <a:spcPct val="100000"/>
              </a:lnSpc>
              <a:spcBef>
                <a:spcPts val="100"/>
              </a:spcBef>
            </a:pPr>
            <a:r>
              <a:rPr sz="2500" b="1" spc="145" dirty="0">
                <a:solidFill>
                  <a:srgbClr val="FDFEFE"/>
                </a:solidFill>
                <a:latin typeface="Times New Roman"/>
                <a:cs typeface="Times New Roman"/>
              </a:rPr>
              <a:t>Node</a:t>
            </a:r>
            <a:r>
              <a:rPr sz="2500" b="1" spc="20" dirty="0">
                <a:solidFill>
                  <a:srgbClr val="FDFEFE"/>
                </a:solidFill>
                <a:latin typeface="Times New Roman"/>
                <a:cs typeface="Times New Roman"/>
              </a:rPr>
              <a:t> </a:t>
            </a:r>
            <a:r>
              <a:rPr sz="2500" b="1" spc="75" dirty="0">
                <a:solidFill>
                  <a:srgbClr val="FDFEFE"/>
                </a:solidFill>
                <a:latin typeface="Times New Roman"/>
                <a:cs typeface="Times New Roman"/>
              </a:rPr>
              <a:t>Monitor</a:t>
            </a:r>
            <a:r>
              <a:rPr sz="2500" b="1" spc="25" dirty="0">
                <a:solidFill>
                  <a:srgbClr val="FDFEFE"/>
                </a:solidFill>
                <a:latin typeface="Times New Roman"/>
                <a:cs typeface="Times New Roman"/>
              </a:rPr>
              <a:t> </a:t>
            </a:r>
            <a:r>
              <a:rPr sz="2500" b="1" dirty="0">
                <a:solidFill>
                  <a:srgbClr val="FDFEFE"/>
                </a:solidFill>
                <a:latin typeface="Times New Roman"/>
                <a:cs typeface="Times New Roman"/>
              </a:rPr>
              <a:t>Period:</a:t>
            </a:r>
            <a:r>
              <a:rPr sz="2500" b="1" spc="25" dirty="0">
                <a:solidFill>
                  <a:srgbClr val="FDFEFE"/>
                </a:solidFill>
                <a:latin typeface="Times New Roman"/>
                <a:cs typeface="Times New Roman"/>
              </a:rPr>
              <a:t> </a:t>
            </a:r>
            <a:r>
              <a:rPr sz="2500" b="1" spc="85" dirty="0">
                <a:solidFill>
                  <a:srgbClr val="FDFEFE"/>
                </a:solidFill>
                <a:latin typeface="Times New Roman"/>
                <a:cs typeface="Times New Roman"/>
              </a:rPr>
              <a:t>5</a:t>
            </a:r>
            <a:r>
              <a:rPr sz="2500" b="1" spc="25" dirty="0">
                <a:solidFill>
                  <a:srgbClr val="FDFEFE"/>
                </a:solidFill>
                <a:latin typeface="Times New Roman"/>
                <a:cs typeface="Times New Roman"/>
              </a:rPr>
              <a:t> </a:t>
            </a:r>
            <a:r>
              <a:rPr sz="2500" b="1" spc="85" dirty="0">
                <a:solidFill>
                  <a:srgbClr val="FDFEFE"/>
                </a:solidFill>
                <a:latin typeface="Times New Roman"/>
                <a:cs typeface="Times New Roman"/>
              </a:rPr>
              <a:t>sec</a:t>
            </a:r>
            <a:endParaRPr sz="2500">
              <a:latin typeface="Times New Roman"/>
              <a:cs typeface="Times New Roman"/>
            </a:endParaRPr>
          </a:p>
        </p:txBody>
      </p:sp>
      <p:sp>
        <p:nvSpPr>
          <p:cNvPr id="32" name="object 32"/>
          <p:cNvSpPr txBox="1"/>
          <p:nvPr/>
        </p:nvSpPr>
        <p:spPr>
          <a:xfrm>
            <a:off x="12522559" y="2395130"/>
            <a:ext cx="5108575" cy="406400"/>
          </a:xfrm>
          <a:prstGeom prst="rect">
            <a:avLst/>
          </a:prstGeom>
        </p:spPr>
        <p:txBody>
          <a:bodyPr vert="horz" wrap="square" lIns="0" tIns="12700" rIns="0" bIns="0" rtlCol="0">
            <a:spAutoFit/>
          </a:bodyPr>
          <a:lstStyle/>
          <a:p>
            <a:pPr marL="12700">
              <a:lnSpc>
                <a:spcPct val="100000"/>
              </a:lnSpc>
              <a:spcBef>
                <a:spcPts val="100"/>
              </a:spcBef>
            </a:pPr>
            <a:r>
              <a:rPr sz="2500" b="1" spc="145" dirty="0">
                <a:solidFill>
                  <a:srgbClr val="FDFEFE"/>
                </a:solidFill>
                <a:latin typeface="Times New Roman"/>
                <a:cs typeface="Times New Roman"/>
              </a:rPr>
              <a:t>Node</a:t>
            </a:r>
            <a:r>
              <a:rPr sz="2500" b="1" spc="25" dirty="0">
                <a:solidFill>
                  <a:srgbClr val="FDFEFE"/>
                </a:solidFill>
                <a:latin typeface="Times New Roman"/>
                <a:cs typeface="Times New Roman"/>
              </a:rPr>
              <a:t> </a:t>
            </a:r>
            <a:r>
              <a:rPr sz="2500" b="1" spc="75" dirty="0">
                <a:solidFill>
                  <a:srgbClr val="FDFEFE"/>
                </a:solidFill>
                <a:latin typeface="Times New Roman"/>
                <a:cs typeface="Times New Roman"/>
              </a:rPr>
              <a:t>Monitor</a:t>
            </a:r>
            <a:r>
              <a:rPr sz="2500" b="1" spc="25" dirty="0">
                <a:solidFill>
                  <a:srgbClr val="FDFEFE"/>
                </a:solidFill>
                <a:latin typeface="Times New Roman"/>
                <a:cs typeface="Times New Roman"/>
              </a:rPr>
              <a:t> </a:t>
            </a:r>
            <a:r>
              <a:rPr sz="2500" b="1" dirty="0">
                <a:solidFill>
                  <a:srgbClr val="FDFEFE"/>
                </a:solidFill>
                <a:latin typeface="Times New Roman"/>
                <a:cs typeface="Times New Roman"/>
              </a:rPr>
              <a:t>Grace</a:t>
            </a:r>
            <a:r>
              <a:rPr sz="2500" b="1" spc="30" dirty="0">
                <a:solidFill>
                  <a:srgbClr val="FDFEFE"/>
                </a:solidFill>
                <a:latin typeface="Times New Roman"/>
                <a:cs typeface="Times New Roman"/>
              </a:rPr>
              <a:t> </a:t>
            </a:r>
            <a:r>
              <a:rPr sz="2500" b="1" dirty="0">
                <a:solidFill>
                  <a:srgbClr val="FDFEFE"/>
                </a:solidFill>
                <a:latin typeface="Times New Roman"/>
                <a:cs typeface="Times New Roman"/>
              </a:rPr>
              <a:t>Period:</a:t>
            </a:r>
            <a:r>
              <a:rPr sz="2500" b="1" spc="25" dirty="0">
                <a:solidFill>
                  <a:srgbClr val="FDFEFE"/>
                </a:solidFill>
                <a:latin typeface="Times New Roman"/>
                <a:cs typeface="Times New Roman"/>
              </a:rPr>
              <a:t> </a:t>
            </a:r>
            <a:r>
              <a:rPr sz="2500" b="1" spc="215" dirty="0">
                <a:solidFill>
                  <a:srgbClr val="FDFEFE"/>
                </a:solidFill>
                <a:latin typeface="Times New Roman"/>
                <a:cs typeface="Times New Roman"/>
              </a:rPr>
              <a:t>40</a:t>
            </a:r>
            <a:r>
              <a:rPr sz="2500" b="1" spc="25" dirty="0">
                <a:solidFill>
                  <a:srgbClr val="FDFEFE"/>
                </a:solidFill>
                <a:latin typeface="Times New Roman"/>
                <a:cs typeface="Times New Roman"/>
              </a:rPr>
              <a:t> </a:t>
            </a:r>
            <a:r>
              <a:rPr sz="2500" b="1" spc="85" dirty="0">
                <a:solidFill>
                  <a:srgbClr val="FDFEFE"/>
                </a:solidFill>
                <a:latin typeface="Times New Roman"/>
                <a:cs typeface="Times New Roman"/>
              </a:rPr>
              <a:t>sec</a:t>
            </a:r>
            <a:endParaRPr sz="250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59131" y="1967897"/>
            <a:ext cx="5085436" cy="1771649"/>
          </a:xfrm>
          <a:prstGeom prst="rect">
            <a:avLst/>
          </a:prstGeom>
        </p:spPr>
      </p:pic>
      <p:sp>
        <p:nvSpPr>
          <p:cNvPr id="3" name="object 3"/>
          <p:cNvSpPr txBox="1"/>
          <p:nvPr/>
        </p:nvSpPr>
        <p:spPr>
          <a:xfrm>
            <a:off x="6796430" y="2563145"/>
            <a:ext cx="2265680" cy="483234"/>
          </a:xfrm>
          <a:prstGeom prst="rect">
            <a:avLst/>
          </a:prstGeom>
        </p:spPr>
        <p:txBody>
          <a:bodyPr vert="horz" wrap="square" lIns="0" tIns="12700" rIns="0" bIns="0" rtlCol="0">
            <a:spAutoFit/>
          </a:bodyPr>
          <a:lstStyle/>
          <a:p>
            <a:pPr marL="12700">
              <a:lnSpc>
                <a:spcPct val="100000"/>
              </a:lnSpc>
              <a:spcBef>
                <a:spcPts val="100"/>
              </a:spcBef>
            </a:pPr>
            <a:r>
              <a:rPr sz="3000" b="1" dirty="0">
                <a:solidFill>
                  <a:srgbClr val="E7181F"/>
                </a:solidFill>
                <a:latin typeface="Times New Roman"/>
                <a:cs typeface="Times New Roman"/>
              </a:rPr>
              <a:t>API-</a:t>
            </a:r>
            <a:r>
              <a:rPr sz="3000" b="1" spc="-135" dirty="0">
                <a:solidFill>
                  <a:srgbClr val="E7181F"/>
                </a:solidFill>
                <a:latin typeface="Times New Roman"/>
                <a:cs typeface="Times New Roman"/>
              </a:rPr>
              <a:t>SERVER</a:t>
            </a:r>
            <a:endParaRPr sz="3000">
              <a:latin typeface="Times New Roman"/>
              <a:cs typeface="Times New Roman"/>
            </a:endParaRPr>
          </a:p>
        </p:txBody>
      </p:sp>
      <p:grpSp>
        <p:nvGrpSpPr>
          <p:cNvPr id="4" name="object 4"/>
          <p:cNvGrpSpPr/>
          <p:nvPr/>
        </p:nvGrpSpPr>
        <p:grpSpPr>
          <a:xfrm>
            <a:off x="628444" y="1640852"/>
            <a:ext cx="14037944" cy="8411845"/>
            <a:chOff x="628444" y="1640852"/>
            <a:chExt cx="14037944" cy="8411845"/>
          </a:xfrm>
        </p:grpSpPr>
        <p:sp>
          <p:nvSpPr>
            <p:cNvPr id="5" name="object 5"/>
            <p:cNvSpPr/>
            <p:nvPr/>
          </p:nvSpPr>
          <p:spPr>
            <a:xfrm>
              <a:off x="3237319" y="2200718"/>
              <a:ext cx="2905125" cy="874394"/>
            </a:xfrm>
            <a:custGeom>
              <a:avLst/>
              <a:gdLst/>
              <a:ahLst/>
              <a:cxnLst/>
              <a:rect l="l" t="t" r="r" b="b"/>
              <a:pathLst>
                <a:path w="2905125" h="874394">
                  <a:moveTo>
                    <a:pt x="644652" y="344487"/>
                  </a:moveTo>
                  <a:lnTo>
                    <a:pt x="641096" y="343306"/>
                  </a:lnTo>
                  <a:lnTo>
                    <a:pt x="642874" y="344487"/>
                  </a:lnTo>
                  <a:lnTo>
                    <a:pt x="644652" y="344487"/>
                  </a:lnTo>
                  <a:close/>
                </a:path>
                <a:path w="2905125" h="874394">
                  <a:moveTo>
                    <a:pt x="955141" y="343306"/>
                  </a:moveTo>
                  <a:lnTo>
                    <a:pt x="953363" y="343306"/>
                  </a:lnTo>
                  <a:lnTo>
                    <a:pt x="952766" y="343890"/>
                  </a:lnTo>
                  <a:lnTo>
                    <a:pt x="955141" y="343306"/>
                  </a:lnTo>
                  <a:close/>
                </a:path>
                <a:path w="2905125" h="874394">
                  <a:moveTo>
                    <a:pt x="1630019" y="363220"/>
                  </a:moveTo>
                  <a:lnTo>
                    <a:pt x="1629422" y="363220"/>
                  </a:lnTo>
                  <a:lnTo>
                    <a:pt x="1629270" y="363537"/>
                  </a:lnTo>
                  <a:lnTo>
                    <a:pt x="1630019" y="363220"/>
                  </a:lnTo>
                  <a:close/>
                </a:path>
                <a:path w="2905125" h="874394">
                  <a:moveTo>
                    <a:pt x="1632978" y="363982"/>
                  </a:moveTo>
                  <a:lnTo>
                    <a:pt x="1630603" y="363982"/>
                  </a:lnTo>
                  <a:lnTo>
                    <a:pt x="1630019" y="364578"/>
                  </a:lnTo>
                  <a:lnTo>
                    <a:pt x="1631797" y="364578"/>
                  </a:lnTo>
                  <a:lnTo>
                    <a:pt x="1632978" y="363982"/>
                  </a:lnTo>
                  <a:close/>
                </a:path>
                <a:path w="2905125" h="874394">
                  <a:moveTo>
                    <a:pt x="2455392" y="809510"/>
                  </a:moveTo>
                  <a:lnTo>
                    <a:pt x="2453030" y="807732"/>
                  </a:lnTo>
                  <a:lnTo>
                    <a:pt x="2453614" y="808913"/>
                  </a:lnTo>
                  <a:lnTo>
                    <a:pt x="2454808" y="809510"/>
                  </a:lnTo>
                  <a:lnTo>
                    <a:pt x="2455392" y="809510"/>
                  </a:lnTo>
                  <a:close/>
                </a:path>
                <a:path w="2905125" h="874394">
                  <a:moveTo>
                    <a:pt x="2463101" y="105410"/>
                  </a:moveTo>
                  <a:lnTo>
                    <a:pt x="2461920" y="104140"/>
                  </a:lnTo>
                  <a:lnTo>
                    <a:pt x="2462504" y="106680"/>
                  </a:lnTo>
                  <a:lnTo>
                    <a:pt x="2463101" y="106680"/>
                  </a:lnTo>
                  <a:lnTo>
                    <a:pt x="2463101" y="105410"/>
                  </a:lnTo>
                  <a:close/>
                </a:path>
                <a:path w="2905125" h="874394">
                  <a:moveTo>
                    <a:pt x="2469019" y="793076"/>
                  </a:moveTo>
                  <a:lnTo>
                    <a:pt x="2467838" y="794346"/>
                  </a:lnTo>
                  <a:lnTo>
                    <a:pt x="2468549" y="794575"/>
                  </a:lnTo>
                  <a:lnTo>
                    <a:pt x="2468626" y="794346"/>
                  </a:lnTo>
                  <a:lnTo>
                    <a:pt x="2469019" y="793076"/>
                  </a:lnTo>
                  <a:close/>
                </a:path>
                <a:path w="2905125" h="874394">
                  <a:moveTo>
                    <a:pt x="2478506" y="56134"/>
                  </a:moveTo>
                  <a:lnTo>
                    <a:pt x="2477325" y="49047"/>
                  </a:lnTo>
                  <a:lnTo>
                    <a:pt x="2476131" y="45504"/>
                  </a:lnTo>
                  <a:lnTo>
                    <a:pt x="2473769" y="40182"/>
                  </a:lnTo>
                  <a:lnTo>
                    <a:pt x="2473172" y="42545"/>
                  </a:lnTo>
                  <a:lnTo>
                    <a:pt x="2473172" y="46685"/>
                  </a:lnTo>
                  <a:lnTo>
                    <a:pt x="2476131" y="52006"/>
                  </a:lnTo>
                  <a:lnTo>
                    <a:pt x="2478506" y="56134"/>
                  </a:lnTo>
                  <a:close/>
                </a:path>
                <a:path w="2905125" h="874394">
                  <a:moveTo>
                    <a:pt x="2505760" y="737412"/>
                  </a:moveTo>
                  <a:lnTo>
                    <a:pt x="2504579" y="737412"/>
                  </a:lnTo>
                  <a:lnTo>
                    <a:pt x="2505760" y="738009"/>
                  </a:lnTo>
                  <a:lnTo>
                    <a:pt x="2505760" y="737412"/>
                  </a:lnTo>
                  <a:close/>
                </a:path>
                <a:path w="2905125" h="874394">
                  <a:moveTo>
                    <a:pt x="2508135" y="738009"/>
                  </a:moveTo>
                  <a:lnTo>
                    <a:pt x="2506942" y="736828"/>
                  </a:lnTo>
                  <a:lnTo>
                    <a:pt x="2505760" y="738009"/>
                  </a:lnTo>
                  <a:lnTo>
                    <a:pt x="2505760" y="739190"/>
                  </a:lnTo>
                  <a:lnTo>
                    <a:pt x="2507538" y="739775"/>
                  </a:lnTo>
                  <a:lnTo>
                    <a:pt x="2508135" y="739190"/>
                  </a:lnTo>
                  <a:lnTo>
                    <a:pt x="2508135" y="738009"/>
                  </a:lnTo>
                  <a:close/>
                </a:path>
                <a:path w="2905125" h="874394">
                  <a:moveTo>
                    <a:pt x="2528278" y="126453"/>
                  </a:moveTo>
                  <a:lnTo>
                    <a:pt x="2527096" y="125857"/>
                  </a:lnTo>
                  <a:lnTo>
                    <a:pt x="2525903" y="127038"/>
                  </a:lnTo>
                  <a:lnTo>
                    <a:pt x="2526500" y="127635"/>
                  </a:lnTo>
                  <a:lnTo>
                    <a:pt x="2528278" y="126453"/>
                  </a:lnTo>
                  <a:close/>
                </a:path>
                <a:path w="2905125" h="874394">
                  <a:moveTo>
                    <a:pt x="2540127" y="692505"/>
                  </a:moveTo>
                  <a:lnTo>
                    <a:pt x="2539530" y="692505"/>
                  </a:lnTo>
                  <a:lnTo>
                    <a:pt x="2540127" y="693102"/>
                  </a:lnTo>
                  <a:lnTo>
                    <a:pt x="2540127" y="692505"/>
                  </a:lnTo>
                  <a:close/>
                </a:path>
                <a:path w="2905125" h="874394">
                  <a:moveTo>
                    <a:pt x="2579230" y="416560"/>
                  </a:moveTo>
                  <a:lnTo>
                    <a:pt x="2578646" y="416560"/>
                  </a:lnTo>
                  <a:lnTo>
                    <a:pt x="2579230" y="416991"/>
                  </a:lnTo>
                  <a:lnTo>
                    <a:pt x="2579230" y="416560"/>
                  </a:lnTo>
                  <a:close/>
                </a:path>
                <a:path w="2905125" h="874394">
                  <a:moveTo>
                    <a:pt x="2656852" y="432523"/>
                  </a:moveTo>
                  <a:lnTo>
                    <a:pt x="2646781" y="428396"/>
                  </a:lnTo>
                  <a:lnTo>
                    <a:pt x="2655671" y="432523"/>
                  </a:lnTo>
                  <a:lnTo>
                    <a:pt x="2656852" y="432523"/>
                  </a:lnTo>
                  <a:close/>
                </a:path>
                <a:path w="2905125" h="874394">
                  <a:moveTo>
                    <a:pt x="2675217" y="551294"/>
                  </a:moveTo>
                  <a:lnTo>
                    <a:pt x="2674632" y="550113"/>
                  </a:lnTo>
                  <a:lnTo>
                    <a:pt x="2674632" y="550697"/>
                  </a:lnTo>
                  <a:lnTo>
                    <a:pt x="2675217" y="551294"/>
                  </a:lnTo>
                  <a:close/>
                </a:path>
                <a:path w="2905125" h="874394">
                  <a:moveTo>
                    <a:pt x="2684589" y="552792"/>
                  </a:moveTo>
                  <a:lnTo>
                    <a:pt x="2684107" y="551776"/>
                  </a:lnTo>
                  <a:lnTo>
                    <a:pt x="2682811" y="549236"/>
                  </a:lnTo>
                  <a:lnTo>
                    <a:pt x="2684475" y="553707"/>
                  </a:lnTo>
                  <a:lnTo>
                    <a:pt x="2684589" y="552792"/>
                  </a:lnTo>
                  <a:close/>
                </a:path>
                <a:path w="2905125" h="874394">
                  <a:moveTo>
                    <a:pt x="2705443" y="539470"/>
                  </a:moveTo>
                  <a:lnTo>
                    <a:pt x="2704846" y="538886"/>
                  </a:lnTo>
                  <a:lnTo>
                    <a:pt x="2705443" y="540067"/>
                  </a:lnTo>
                  <a:lnTo>
                    <a:pt x="2705443" y="539470"/>
                  </a:lnTo>
                  <a:close/>
                </a:path>
                <a:path w="2905125" h="874394">
                  <a:moveTo>
                    <a:pt x="2730322" y="524700"/>
                  </a:moveTo>
                  <a:lnTo>
                    <a:pt x="2729141" y="523519"/>
                  </a:lnTo>
                  <a:lnTo>
                    <a:pt x="2730322" y="525297"/>
                  </a:lnTo>
                  <a:lnTo>
                    <a:pt x="2730322" y="524700"/>
                  </a:lnTo>
                  <a:close/>
                </a:path>
                <a:path w="2905125" h="874394">
                  <a:moveTo>
                    <a:pt x="2828086" y="475068"/>
                  </a:moveTo>
                  <a:lnTo>
                    <a:pt x="2825724" y="475665"/>
                  </a:lnTo>
                  <a:lnTo>
                    <a:pt x="2826905" y="476846"/>
                  </a:lnTo>
                  <a:lnTo>
                    <a:pt x="2828086" y="475665"/>
                  </a:lnTo>
                  <a:lnTo>
                    <a:pt x="2828086" y="475068"/>
                  </a:lnTo>
                  <a:close/>
                </a:path>
                <a:path w="2905125" h="874394">
                  <a:moveTo>
                    <a:pt x="2872829" y="478917"/>
                  </a:moveTo>
                  <a:lnTo>
                    <a:pt x="2872536" y="478028"/>
                  </a:lnTo>
                  <a:lnTo>
                    <a:pt x="2872536" y="478612"/>
                  </a:lnTo>
                  <a:lnTo>
                    <a:pt x="2872829" y="478917"/>
                  </a:lnTo>
                  <a:close/>
                </a:path>
                <a:path w="2905125" h="874394">
                  <a:moveTo>
                    <a:pt x="2877858" y="479793"/>
                  </a:moveTo>
                  <a:lnTo>
                    <a:pt x="2877274" y="478028"/>
                  </a:lnTo>
                  <a:lnTo>
                    <a:pt x="2877274" y="479209"/>
                  </a:lnTo>
                  <a:lnTo>
                    <a:pt x="2877858" y="479793"/>
                  </a:lnTo>
                  <a:close/>
                </a:path>
                <a:path w="2905125" h="874394">
                  <a:moveTo>
                    <a:pt x="2889123" y="519976"/>
                  </a:moveTo>
                  <a:lnTo>
                    <a:pt x="2887942" y="518795"/>
                  </a:lnTo>
                  <a:lnTo>
                    <a:pt x="2889123" y="520560"/>
                  </a:lnTo>
                  <a:lnTo>
                    <a:pt x="2889123" y="519976"/>
                  </a:lnTo>
                  <a:close/>
                </a:path>
                <a:path w="2905125" h="874394">
                  <a:moveTo>
                    <a:pt x="2905125" y="497166"/>
                  </a:moveTo>
                  <a:lnTo>
                    <a:pt x="2903931" y="493356"/>
                  </a:lnTo>
                  <a:lnTo>
                    <a:pt x="2901150" y="492086"/>
                  </a:lnTo>
                  <a:lnTo>
                    <a:pt x="2894533" y="489546"/>
                  </a:lnTo>
                  <a:lnTo>
                    <a:pt x="2886684" y="485736"/>
                  </a:lnTo>
                  <a:lnTo>
                    <a:pt x="2880233" y="483196"/>
                  </a:lnTo>
                  <a:lnTo>
                    <a:pt x="2884970" y="481926"/>
                  </a:lnTo>
                  <a:lnTo>
                    <a:pt x="2880830" y="481926"/>
                  </a:lnTo>
                  <a:lnTo>
                    <a:pt x="2879052" y="479386"/>
                  </a:lnTo>
                  <a:lnTo>
                    <a:pt x="2879636" y="481926"/>
                  </a:lnTo>
                  <a:lnTo>
                    <a:pt x="2876677" y="481926"/>
                  </a:lnTo>
                  <a:lnTo>
                    <a:pt x="2874302" y="478116"/>
                  </a:lnTo>
                  <a:lnTo>
                    <a:pt x="2872536" y="476846"/>
                  </a:lnTo>
                  <a:lnTo>
                    <a:pt x="2873121" y="478116"/>
                  </a:lnTo>
                  <a:lnTo>
                    <a:pt x="2873718" y="478116"/>
                  </a:lnTo>
                  <a:lnTo>
                    <a:pt x="2873718" y="479386"/>
                  </a:lnTo>
                  <a:lnTo>
                    <a:pt x="2874302" y="479386"/>
                  </a:lnTo>
                  <a:lnTo>
                    <a:pt x="2874302" y="480656"/>
                  </a:lnTo>
                  <a:lnTo>
                    <a:pt x="2873718" y="480656"/>
                  </a:lnTo>
                  <a:lnTo>
                    <a:pt x="2873121" y="481926"/>
                  </a:lnTo>
                  <a:lnTo>
                    <a:pt x="2870162" y="481926"/>
                  </a:lnTo>
                  <a:lnTo>
                    <a:pt x="2868384" y="479386"/>
                  </a:lnTo>
                  <a:lnTo>
                    <a:pt x="2866847" y="481926"/>
                  </a:lnTo>
                  <a:lnTo>
                    <a:pt x="2860979" y="480656"/>
                  </a:lnTo>
                  <a:lnTo>
                    <a:pt x="2854223" y="479386"/>
                  </a:lnTo>
                  <a:lnTo>
                    <a:pt x="2850019" y="478116"/>
                  </a:lnTo>
                  <a:lnTo>
                    <a:pt x="2845270" y="476846"/>
                  </a:lnTo>
                  <a:lnTo>
                    <a:pt x="2845397" y="478116"/>
                  </a:lnTo>
                  <a:lnTo>
                    <a:pt x="2845511" y="479386"/>
                  </a:lnTo>
                  <a:lnTo>
                    <a:pt x="2845625" y="480656"/>
                  </a:lnTo>
                  <a:lnTo>
                    <a:pt x="2845752" y="481926"/>
                  </a:lnTo>
                  <a:lnTo>
                    <a:pt x="2845866" y="483196"/>
                  </a:lnTo>
                  <a:lnTo>
                    <a:pt x="2842310" y="483196"/>
                  </a:lnTo>
                  <a:lnTo>
                    <a:pt x="2837573" y="484466"/>
                  </a:lnTo>
                  <a:lnTo>
                    <a:pt x="2837573" y="483196"/>
                  </a:lnTo>
                  <a:lnTo>
                    <a:pt x="2837573" y="479386"/>
                  </a:lnTo>
                  <a:lnTo>
                    <a:pt x="2833420" y="478116"/>
                  </a:lnTo>
                  <a:lnTo>
                    <a:pt x="2829280" y="478116"/>
                  </a:lnTo>
                  <a:lnTo>
                    <a:pt x="2836392" y="481926"/>
                  </a:lnTo>
                  <a:lnTo>
                    <a:pt x="2835198" y="483196"/>
                  </a:lnTo>
                  <a:lnTo>
                    <a:pt x="2829280" y="480656"/>
                  </a:lnTo>
                  <a:lnTo>
                    <a:pt x="2831058" y="479386"/>
                  </a:lnTo>
                  <a:lnTo>
                    <a:pt x="2829280" y="478116"/>
                  </a:lnTo>
                  <a:lnTo>
                    <a:pt x="2827502" y="476846"/>
                  </a:lnTo>
                  <a:lnTo>
                    <a:pt x="2824530" y="478116"/>
                  </a:lnTo>
                  <a:lnTo>
                    <a:pt x="2820924" y="477570"/>
                  </a:lnTo>
                  <a:lnTo>
                    <a:pt x="2818320" y="474980"/>
                  </a:lnTo>
                  <a:lnTo>
                    <a:pt x="2795689" y="452094"/>
                  </a:lnTo>
                  <a:lnTo>
                    <a:pt x="2793136" y="449580"/>
                  </a:lnTo>
                  <a:lnTo>
                    <a:pt x="2777566" y="434340"/>
                  </a:lnTo>
                  <a:lnTo>
                    <a:pt x="2768981" y="425945"/>
                  </a:lnTo>
                  <a:lnTo>
                    <a:pt x="2768981" y="518655"/>
                  </a:lnTo>
                  <a:lnTo>
                    <a:pt x="2768841" y="518756"/>
                  </a:lnTo>
                  <a:lnTo>
                    <a:pt x="2765882" y="518756"/>
                  </a:lnTo>
                  <a:lnTo>
                    <a:pt x="2766466" y="523836"/>
                  </a:lnTo>
                  <a:lnTo>
                    <a:pt x="2758770" y="522566"/>
                  </a:lnTo>
                  <a:lnTo>
                    <a:pt x="2761132" y="527646"/>
                  </a:lnTo>
                  <a:lnTo>
                    <a:pt x="2755811" y="527646"/>
                  </a:lnTo>
                  <a:lnTo>
                    <a:pt x="2752839" y="523836"/>
                  </a:lnTo>
                  <a:lnTo>
                    <a:pt x="2755811" y="521296"/>
                  </a:lnTo>
                  <a:lnTo>
                    <a:pt x="2759049" y="517804"/>
                  </a:lnTo>
                  <a:lnTo>
                    <a:pt x="2768981" y="518655"/>
                  </a:lnTo>
                  <a:lnTo>
                    <a:pt x="2768981" y="425945"/>
                  </a:lnTo>
                  <a:lnTo>
                    <a:pt x="2760700" y="417830"/>
                  </a:lnTo>
                  <a:lnTo>
                    <a:pt x="2743949" y="401320"/>
                  </a:lnTo>
                  <a:lnTo>
                    <a:pt x="2726766" y="384810"/>
                  </a:lnTo>
                  <a:lnTo>
                    <a:pt x="2738615" y="402590"/>
                  </a:lnTo>
                  <a:lnTo>
                    <a:pt x="2749283" y="417830"/>
                  </a:lnTo>
                  <a:lnTo>
                    <a:pt x="2739644" y="408940"/>
                  </a:lnTo>
                  <a:lnTo>
                    <a:pt x="2730322" y="400050"/>
                  </a:lnTo>
                  <a:lnTo>
                    <a:pt x="2721457" y="391160"/>
                  </a:lnTo>
                  <a:lnTo>
                    <a:pt x="2713139" y="382270"/>
                  </a:lnTo>
                  <a:lnTo>
                    <a:pt x="2698483" y="365760"/>
                  </a:lnTo>
                  <a:lnTo>
                    <a:pt x="2693886" y="360680"/>
                  </a:lnTo>
                  <a:lnTo>
                    <a:pt x="2684703" y="350520"/>
                  </a:lnTo>
                  <a:lnTo>
                    <a:pt x="2680551" y="345440"/>
                  </a:lnTo>
                  <a:lnTo>
                    <a:pt x="2675813" y="340360"/>
                  </a:lnTo>
                  <a:lnTo>
                    <a:pt x="2671661" y="335280"/>
                  </a:lnTo>
                  <a:lnTo>
                    <a:pt x="2668701" y="331470"/>
                  </a:lnTo>
                  <a:lnTo>
                    <a:pt x="2666339" y="328930"/>
                  </a:lnTo>
                  <a:lnTo>
                    <a:pt x="2663367" y="325120"/>
                  </a:lnTo>
                  <a:lnTo>
                    <a:pt x="2659227" y="320040"/>
                  </a:lnTo>
                  <a:lnTo>
                    <a:pt x="2655671" y="314960"/>
                  </a:lnTo>
                  <a:lnTo>
                    <a:pt x="2651518" y="309880"/>
                  </a:lnTo>
                  <a:lnTo>
                    <a:pt x="2641981" y="297180"/>
                  </a:lnTo>
                  <a:lnTo>
                    <a:pt x="2640076" y="294640"/>
                  </a:lnTo>
                  <a:lnTo>
                    <a:pt x="2628417" y="279400"/>
                  </a:lnTo>
                  <a:lnTo>
                    <a:pt x="2626322" y="276860"/>
                  </a:lnTo>
                  <a:lnTo>
                    <a:pt x="2615857" y="264160"/>
                  </a:lnTo>
                  <a:lnTo>
                    <a:pt x="2601747" y="246380"/>
                  </a:lnTo>
                  <a:lnTo>
                    <a:pt x="2604706" y="248920"/>
                  </a:lnTo>
                  <a:lnTo>
                    <a:pt x="2603525" y="246380"/>
                  </a:lnTo>
                  <a:lnTo>
                    <a:pt x="2602928" y="245110"/>
                  </a:lnTo>
                  <a:lnTo>
                    <a:pt x="2597607" y="243840"/>
                  </a:lnTo>
                  <a:lnTo>
                    <a:pt x="2588120" y="232410"/>
                  </a:lnTo>
                  <a:lnTo>
                    <a:pt x="2564803" y="194310"/>
                  </a:lnTo>
                  <a:lnTo>
                    <a:pt x="2548572" y="157480"/>
                  </a:lnTo>
                  <a:lnTo>
                    <a:pt x="2546058" y="151130"/>
                  </a:lnTo>
                  <a:lnTo>
                    <a:pt x="2546642" y="149860"/>
                  </a:lnTo>
                  <a:lnTo>
                    <a:pt x="2544864" y="147320"/>
                  </a:lnTo>
                  <a:lnTo>
                    <a:pt x="2543683" y="147320"/>
                  </a:lnTo>
                  <a:lnTo>
                    <a:pt x="2541308" y="140970"/>
                  </a:lnTo>
                  <a:lnTo>
                    <a:pt x="2544864" y="153670"/>
                  </a:lnTo>
                  <a:lnTo>
                    <a:pt x="2524125" y="129540"/>
                  </a:lnTo>
                  <a:lnTo>
                    <a:pt x="2524722" y="127000"/>
                  </a:lnTo>
                  <a:lnTo>
                    <a:pt x="2525318" y="127000"/>
                  </a:lnTo>
                  <a:lnTo>
                    <a:pt x="2520569" y="119380"/>
                  </a:lnTo>
                  <a:lnTo>
                    <a:pt x="2512276" y="105410"/>
                  </a:lnTo>
                  <a:lnTo>
                    <a:pt x="2510701" y="102870"/>
                  </a:lnTo>
                  <a:lnTo>
                    <a:pt x="2507538" y="97790"/>
                  </a:lnTo>
                  <a:lnTo>
                    <a:pt x="2506357" y="86360"/>
                  </a:lnTo>
                  <a:lnTo>
                    <a:pt x="2495842" y="81280"/>
                  </a:lnTo>
                  <a:lnTo>
                    <a:pt x="2490355" y="74930"/>
                  </a:lnTo>
                  <a:lnTo>
                    <a:pt x="2485910" y="63500"/>
                  </a:lnTo>
                  <a:lnTo>
                    <a:pt x="2484424" y="59690"/>
                  </a:lnTo>
                  <a:lnTo>
                    <a:pt x="2482342" y="63500"/>
                  </a:lnTo>
                  <a:lnTo>
                    <a:pt x="2478798" y="59690"/>
                  </a:lnTo>
                  <a:lnTo>
                    <a:pt x="2475268" y="54610"/>
                  </a:lnTo>
                  <a:lnTo>
                    <a:pt x="2473172" y="54610"/>
                  </a:lnTo>
                  <a:lnTo>
                    <a:pt x="2473172" y="49530"/>
                  </a:lnTo>
                  <a:lnTo>
                    <a:pt x="2472575" y="46990"/>
                  </a:lnTo>
                  <a:lnTo>
                    <a:pt x="2465273" y="34290"/>
                  </a:lnTo>
                  <a:lnTo>
                    <a:pt x="2456802" y="19050"/>
                  </a:lnTo>
                  <a:lnTo>
                    <a:pt x="2448661" y="7620"/>
                  </a:lnTo>
                  <a:lnTo>
                    <a:pt x="2442362" y="0"/>
                  </a:lnTo>
                  <a:lnTo>
                    <a:pt x="2443061" y="2540"/>
                  </a:lnTo>
                  <a:lnTo>
                    <a:pt x="2444877" y="10160"/>
                  </a:lnTo>
                  <a:lnTo>
                    <a:pt x="2447366" y="20320"/>
                  </a:lnTo>
                  <a:lnTo>
                    <a:pt x="2450058" y="34290"/>
                  </a:lnTo>
                  <a:lnTo>
                    <a:pt x="2453221" y="48260"/>
                  </a:lnTo>
                  <a:lnTo>
                    <a:pt x="2458643" y="73660"/>
                  </a:lnTo>
                  <a:lnTo>
                    <a:pt x="2460142" y="83820"/>
                  </a:lnTo>
                  <a:lnTo>
                    <a:pt x="2455583" y="73660"/>
                  </a:lnTo>
                  <a:lnTo>
                    <a:pt x="2454808" y="73660"/>
                  </a:lnTo>
                  <a:lnTo>
                    <a:pt x="2455799" y="77470"/>
                  </a:lnTo>
                  <a:lnTo>
                    <a:pt x="2456472" y="82956"/>
                  </a:lnTo>
                  <a:lnTo>
                    <a:pt x="2455392" y="82727"/>
                  </a:lnTo>
                  <a:lnTo>
                    <a:pt x="2457767" y="85686"/>
                  </a:lnTo>
                  <a:lnTo>
                    <a:pt x="2458364" y="85090"/>
                  </a:lnTo>
                  <a:lnTo>
                    <a:pt x="2458364" y="83820"/>
                  </a:lnTo>
                  <a:lnTo>
                    <a:pt x="2458948" y="83820"/>
                  </a:lnTo>
                  <a:lnTo>
                    <a:pt x="2464282" y="97790"/>
                  </a:lnTo>
                  <a:lnTo>
                    <a:pt x="2460726" y="99060"/>
                  </a:lnTo>
                  <a:lnTo>
                    <a:pt x="2461920" y="104140"/>
                  </a:lnTo>
                  <a:lnTo>
                    <a:pt x="2462504" y="102870"/>
                  </a:lnTo>
                  <a:lnTo>
                    <a:pt x="2463101" y="104140"/>
                  </a:lnTo>
                  <a:lnTo>
                    <a:pt x="2463685" y="104140"/>
                  </a:lnTo>
                  <a:lnTo>
                    <a:pt x="2464282" y="102870"/>
                  </a:lnTo>
                  <a:lnTo>
                    <a:pt x="2465463" y="102870"/>
                  </a:lnTo>
                  <a:lnTo>
                    <a:pt x="2466441" y="104990"/>
                  </a:lnTo>
                  <a:lnTo>
                    <a:pt x="2466060" y="104597"/>
                  </a:lnTo>
                  <a:lnTo>
                    <a:pt x="2465463" y="105181"/>
                  </a:lnTo>
                  <a:lnTo>
                    <a:pt x="2465463" y="105778"/>
                  </a:lnTo>
                  <a:lnTo>
                    <a:pt x="2467229" y="106667"/>
                  </a:lnTo>
                  <a:lnTo>
                    <a:pt x="2466657" y="106680"/>
                  </a:lnTo>
                  <a:lnTo>
                    <a:pt x="2470213" y="110490"/>
                  </a:lnTo>
                  <a:lnTo>
                    <a:pt x="2474353" y="120650"/>
                  </a:lnTo>
                  <a:lnTo>
                    <a:pt x="2476728" y="124460"/>
                  </a:lnTo>
                  <a:lnTo>
                    <a:pt x="2473769" y="127000"/>
                  </a:lnTo>
                  <a:lnTo>
                    <a:pt x="2477973" y="130810"/>
                  </a:lnTo>
                  <a:lnTo>
                    <a:pt x="2496896" y="176530"/>
                  </a:lnTo>
                  <a:lnTo>
                    <a:pt x="2501315" y="189230"/>
                  </a:lnTo>
                  <a:lnTo>
                    <a:pt x="2505303" y="199390"/>
                  </a:lnTo>
                  <a:lnTo>
                    <a:pt x="2508720" y="205740"/>
                  </a:lnTo>
                  <a:lnTo>
                    <a:pt x="2513469" y="215900"/>
                  </a:lnTo>
                  <a:lnTo>
                    <a:pt x="2520505" y="226060"/>
                  </a:lnTo>
                  <a:lnTo>
                    <a:pt x="2528303" y="236220"/>
                  </a:lnTo>
                  <a:lnTo>
                    <a:pt x="2535390" y="247650"/>
                  </a:lnTo>
                  <a:lnTo>
                    <a:pt x="2542540" y="260350"/>
                  </a:lnTo>
                  <a:lnTo>
                    <a:pt x="2543683" y="266700"/>
                  </a:lnTo>
                  <a:lnTo>
                    <a:pt x="2543048" y="269240"/>
                  </a:lnTo>
                  <a:lnTo>
                    <a:pt x="2544864" y="276860"/>
                  </a:lnTo>
                  <a:lnTo>
                    <a:pt x="2548877" y="281940"/>
                  </a:lnTo>
                  <a:lnTo>
                    <a:pt x="2549385" y="280670"/>
                  </a:lnTo>
                  <a:lnTo>
                    <a:pt x="2549296" y="279400"/>
                  </a:lnTo>
                  <a:lnTo>
                    <a:pt x="2549118" y="276860"/>
                  </a:lnTo>
                  <a:lnTo>
                    <a:pt x="2550795" y="276860"/>
                  </a:lnTo>
                  <a:lnTo>
                    <a:pt x="2553157" y="281940"/>
                  </a:lnTo>
                  <a:lnTo>
                    <a:pt x="2554935" y="287020"/>
                  </a:lnTo>
                  <a:lnTo>
                    <a:pt x="2557310" y="292100"/>
                  </a:lnTo>
                  <a:lnTo>
                    <a:pt x="2559088" y="297180"/>
                  </a:lnTo>
                  <a:lnTo>
                    <a:pt x="2551379" y="287020"/>
                  </a:lnTo>
                  <a:lnTo>
                    <a:pt x="2553754" y="294640"/>
                  </a:lnTo>
                  <a:lnTo>
                    <a:pt x="2553754" y="295681"/>
                  </a:lnTo>
                  <a:lnTo>
                    <a:pt x="2552573" y="294259"/>
                  </a:lnTo>
                  <a:lnTo>
                    <a:pt x="2550198" y="291312"/>
                  </a:lnTo>
                  <a:lnTo>
                    <a:pt x="2548420" y="289534"/>
                  </a:lnTo>
                  <a:lnTo>
                    <a:pt x="2554935" y="300164"/>
                  </a:lnTo>
                  <a:lnTo>
                    <a:pt x="2555532" y="300164"/>
                  </a:lnTo>
                  <a:lnTo>
                    <a:pt x="2555532" y="299389"/>
                  </a:lnTo>
                  <a:lnTo>
                    <a:pt x="2557843" y="302260"/>
                  </a:lnTo>
                  <a:lnTo>
                    <a:pt x="2562047" y="309880"/>
                  </a:lnTo>
                  <a:lnTo>
                    <a:pt x="2570340" y="323850"/>
                  </a:lnTo>
                  <a:lnTo>
                    <a:pt x="2576271" y="332740"/>
                  </a:lnTo>
                  <a:lnTo>
                    <a:pt x="2581605" y="339090"/>
                  </a:lnTo>
                  <a:lnTo>
                    <a:pt x="2586342" y="339090"/>
                  </a:lnTo>
                  <a:lnTo>
                    <a:pt x="2593708" y="353060"/>
                  </a:lnTo>
                  <a:lnTo>
                    <a:pt x="2597670" y="360680"/>
                  </a:lnTo>
                  <a:lnTo>
                    <a:pt x="2600426" y="367030"/>
                  </a:lnTo>
                  <a:lnTo>
                    <a:pt x="2604122" y="372110"/>
                  </a:lnTo>
                  <a:lnTo>
                    <a:pt x="2602928" y="368300"/>
                  </a:lnTo>
                  <a:lnTo>
                    <a:pt x="2599385" y="361950"/>
                  </a:lnTo>
                  <a:lnTo>
                    <a:pt x="2599969" y="360680"/>
                  </a:lnTo>
                  <a:lnTo>
                    <a:pt x="2604122" y="370840"/>
                  </a:lnTo>
                  <a:lnTo>
                    <a:pt x="2603995" y="369570"/>
                  </a:lnTo>
                  <a:lnTo>
                    <a:pt x="2603881" y="368300"/>
                  </a:lnTo>
                  <a:lnTo>
                    <a:pt x="2603766" y="367030"/>
                  </a:lnTo>
                  <a:lnTo>
                    <a:pt x="2603639" y="365760"/>
                  </a:lnTo>
                  <a:lnTo>
                    <a:pt x="2603525" y="364490"/>
                  </a:lnTo>
                  <a:lnTo>
                    <a:pt x="2601747" y="360680"/>
                  </a:lnTo>
                  <a:lnTo>
                    <a:pt x="2603525" y="361950"/>
                  </a:lnTo>
                  <a:lnTo>
                    <a:pt x="2608262" y="367030"/>
                  </a:lnTo>
                  <a:lnTo>
                    <a:pt x="2608859" y="369570"/>
                  </a:lnTo>
                  <a:lnTo>
                    <a:pt x="2610637" y="370840"/>
                  </a:lnTo>
                  <a:lnTo>
                    <a:pt x="2611234" y="372110"/>
                  </a:lnTo>
                  <a:lnTo>
                    <a:pt x="2612415" y="373380"/>
                  </a:lnTo>
                  <a:lnTo>
                    <a:pt x="2614790" y="378460"/>
                  </a:lnTo>
                  <a:lnTo>
                    <a:pt x="2617152" y="382270"/>
                  </a:lnTo>
                  <a:lnTo>
                    <a:pt x="2618333" y="386080"/>
                  </a:lnTo>
                  <a:lnTo>
                    <a:pt x="2621305" y="393700"/>
                  </a:lnTo>
                  <a:lnTo>
                    <a:pt x="2621889" y="397510"/>
                  </a:lnTo>
                  <a:lnTo>
                    <a:pt x="2628417" y="398780"/>
                  </a:lnTo>
                  <a:lnTo>
                    <a:pt x="2626042" y="398780"/>
                  </a:lnTo>
                  <a:lnTo>
                    <a:pt x="2630779" y="400050"/>
                  </a:lnTo>
                  <a:lnTo>
                    <a:pt x="2635516" y="400050"/>
                  </a:lnTo>
                  <a:lnTo>
                    <a:pt x="2643822" y="402590"/>
                  </a:lnTo>
                  <a:lnTo>
                    <a:pt x="2647378" y="403860"/>
                  </a:lnTo>
                  <a:lnTo>
                    <a:pt x="2652699" y="407670"/>
                  </a:lnTo>
                  <a:lnTo>
                    <a:pt x="2651518" y="408940"/>
                  </a:lnTo>
                  <a:lnTo>
                    <a:pt x="2661005" y="416560"/>
                  </a:lnTo>
                  <a:lnTo>
                    <a:pt x="2661005" y="417830"/>
                  </a:lnTo>
                  <a:lnTo>
                    <a:pt x="2656255" y="415290"/>
                  </a:lnTo>
                  <a:lnTo>
                    <a:pt x="2655074" y="415290"/>
                  </a:lnTo>
                  <a:lnTo>
                    <a:pt x="2662186" y="421640"/>
                  </a:lnTo>
                  <a:lnTo>
                    <a:pt x="2667520" y="426720"/>
                  </a:lnTo>
                  <a:lnTo>
                    <a:pt x="2671661" y="431800"/>
                  </a:lnTo>
                  <a:lnTo>
                    <a:pt x="2675217" y="434340"/>
                  </a:lnTo>
                  <a:lnTo>
                    <a:pt x="2668701" y="431800"/>
                  </a:lnTo>
                  <a:lnTo>
                    <a:pt x="2662186" y="431800"/>
                  </a:lnTo>
                  <a:lnTo>
                    <a:pt x="2659227" y="430530"/>
                  </a:lnTo>
                  <a:lnTo>
                    <a:pt x="2655671" y="430530"/>
                  </a:lnTo>
                  <a:lnTo>
                    <a:pt x="2662923" y="433070"/>
                  </a:lnTo>
                  <a:lnTo>
                    <a:pt x="2670670" y="436880"/>
                  </a:lnTo>
                  <a:lnTo>
                    <a:pt x="2679966" y="440690"/>
                  </a:lnTo>
                  <a:lnTo>
                    <a:pt x="2689720" y="443230"/>
                  </a:lnTo>
                  <a:lnTo>
                    <a:pt x="2697873" y="446887"/>
                  </a:lnTo>
                  <a:lnTo>
                    <a:pt x="2697657" y="446887"/>
                  </a:lnTo>
                  <a:lnTo>
                    <a:pt x="2699169" y="447344"/>
                  </a:lnTo>
                  <a:lnTo>
                    <a:pt x="2700502" y="447725"/>
                  </a:lnTo>
                  <a:lnTo>
                    <a:pt x="2697518" y="446887"/>
                  </a:lnTo>
                  <a:lnTo>
                    <a:pt x="2677388" y="443230"/>
                  </a:lnTo>
                  <a:lnTo>
                    <a:pt x="2666923" y="440690"/>
                  </a:lnTo>
                  <a:lnTo>
                    <a:pt x="2655671" y="438150"/>
                  </a:lnTo>
                  <a:lnTo>
                    <a:pt x="2647962" y="436880"/>
                  </a:lnTo>
                  <a:lnTo>
                    <a:pt x="2650921" y="440690"/>
                  </a:lnTo>
                  <a:lnTo>
                    <a:pt x="2646781" y="438150"/>
                  </a:lnTo>
                  <a:lnTo>
                    <a:pt x="2642628" y="436880"/>
                  </a:lnTo>
                  <a:lnTo>
                    <a:pt x="2639072" y="435610"/>
                  </a:lnTo>
                  <a:lnTo>
                    <a:pt x="2634932" y="434340"/>
                  </a:lnTo>
                  <a:lnTo>
                    <a:pt x="2620708" y="430530"/>
                  </a:lnTo>
                  <a:lnTo>
                    <a:pt x="2617749" y="429260"/>
                  </a:lnTo>
                  <a:lnTo>
                    <a:pt x="2614790" y="429260"/>
                  </a:lnTo>
                  <a:lnTo>
                    <a:pt x="2613596" y="430530"/>
                  </a:lnTo>
                  <a:lnTo>
                    <a:pt x="2613012" y="433070"/>
                  </a:lnTo>
                  <a:lnTo>
                    <a:pt x="2614790" y="435610"/>
                  </a:lnTo>
                  <a:lnTo>
                    <a:pt x="2608262" y="433070"/>
                  </a:lnTo>
                  <a:lnTo>
                    <a:pt x="2598940" y="429260"/>
                  </a:lnTo>
                  <a:lnTo>
                    <a:pt x="2595829" y="427990"/>
                  </a:lnTo>
                  <a:lnTo>
                    <a:pt x="2592857" y="426720"/>
                  </a:lnTo>
                  <a:lnTo>
                    <a:pt x="2604122" y="426720"/>
                  </a:lnTo>
                  <a:lnTo>
                    <a:pt x="2597607" y="425450"/>
                  </a:lnTo>
                  <a:lnTo>
                    <a:pt x="2589301" y="422910"/>
                  </a:lnTo>
                  <a:lnTo>
                    <a:pt x="2587523" y="421640"/>
                  </a:lnTo>
                  <a:lnTo>
                    <a:pt x="2585745" y="420370"/>
                  </a:lnTo>
                  <a:lnTo>
                    <a:pt x="2582202" y="419100"/>
                  </a:lnTo>
                  <a:lnTo>
                    <a:pt x="2579230" y="416991"/>
                  </a:lnTo>
                  <a:lnTo>
                    <a:pt x="2579230" y="417830"/>
                  </a:lnTo>
                  <a:lnTo>
                    <a:pt x="2578646" y="417830"/>
                  </a:lnTo>
                  <a:lnTo>
                    <a:pt x="2578646" y="418934"/>
                  </a:lnTo>
                  <a:lnTo>
                    <a:pt x="2576271" y="418934"/>
                  </a:lnTo>
                  <a:lnTo>
                    <a:pt x="2575090" y="418350"/>
                  </a:lnTo>
                  <a:lnTo>
                    <a:pt x="2570340" y="417753"/>
                  </a:lnTo>
                  <a:lnTo>
                    <a:pt x="2565019" y="417753"/>
                  </a:lnTo>
                  <a:lnTo>
                    <a:pt x="2558491" y="417169"/>
                  </a:lnTo>
                  <a:lnTo>
                    <a:pt x="2557310" y="420712"/>
                  </a:lnTo>
                  <a:lnTo>
                    <a:pt x="2575674" y="420712"/>
                  </a:lnTo>
                  <a:lnTo>
                    <a:pt x="2575674" y="421640"/>
                  </a:lnTo>
                  <a:lnTo>
                    <a:pt x="2557907" y="421640"/>
                  </a:lnTo>
                  <a:lnTo>
                    <a:pt x="2544965" y="420370"/>
                  </a:lnTo>
                  <a:lnTo>
                    <a:pt x="2531681" y="420370"/>
                  </a:lnTo>
                  <a:lnTo>
                    <a:pt x="2516403" y="419100"/>
                  </a:lnTo>
                  <a:lnTo>
                    <a:pt x="2497467" y="415290"/>
                  </a:lnTo>
                  <a:lnTo>
                    <a:pt x="2489758" y="420370"/>
                  </a:lnTo>
                  <a:lnTo>
                    <a:pt x="2468435" y="415290"/>
                  </a:lnTo>
                  <a:lnTo>
                    <a:pt x="2468435" y="410210"/>
                  </a:lnTo>
                  <a:lnTo>
                    <a:pt x="2487053" y="411480"/>
                  </a:lnTo>
                  <a:lnTo>
                    <a:pt x="2509837" y="412750"/>
                  </a:lnTo>
                  <a:lnTo>
                    <a:pt x="2533840" y="412750"/>
                  </a:lnTo>
                  <a:lnTo>
                    <a:pt x="2556129" y="414020"/>
                  </a:lnTo>
                  <a:lnTo>
                    <a:pt x="2556713" y="411480"/>
                  </a:lnTo>
                  <a:lnTo>
                    <a:pt x="2520975" y="411480"/>
                  </a:lnTo>
                  <a:lnTo>
                    <a:pt x="2511691" y="410210"/>
                  </a:lnTo>
                  <a:lnTo>
                    <a:pt x="2506802" y="408940"/>
                  </a:lnTo>
                  <a:lnTo>
                    <a:pt x="2501989" y="406400"/>
                  </a:lnTo>
                  <a:lnTo>
                    <a:pt x="2500960" y="405130"/>
                  </a:lnTo>
                  <a:lnTo>
                    <a:pt x="2499931" y="403860"/>
                  </a:lnTo>
                  <a:lnTo>
                    <a:pt x="2503386" y="401320"/>
                  </a:lnTo>
                  <a:lnTo>
                    <a:pt x="2493314" y="405130"/>
                  </a:lnTo>
                  <a:lnTo>
                    <a:pt x="2461539" y="403860"/>
                  </a:lnTo>
                  <a:lnTo>
                    <a:pt x="2439466" y="402590"/>
                  </a:lnTo>
                  <a:lnTo>
                    <a:pt x="2417076" y="400050"/>
                  </a:lnTo>
                  <a:lnTo>
                    <a:pt x="2400681" y="397510"/>
                  </a:lnTo>
                  <a:lnTo>
                    <a:pt x="2384298" y="394970"/>
                  </a:lnTo>
                  <a:lnTo>
                    <a:pt x="2389035" y="397510"/>
                  </a:lnTo>
                  <a:lnTo>
                    <a:pt x="2373261" y="397510"/>
                  </a:lnTo>
                  <a:lnTo>
                    <a:pt x="2367457" y="396240"/>
                  </a:lnTo>
                  <a:lnTo>
                    <a:pt x="2364143" y="394970"/>
                  </a:lnTo>
                  <a:lnTo>
                    <a:pt x="2339175" y="392430"/>
                  </a:lnTo>
                  <a:lnTo>
                    <a:pt x="2314968" y="388620"/>
                  </a:lnTo>
                  <a:lnTo>
                    <a:pt x="2292985" y="384810"/>
                  </a:lnTo>
                  <a:lnTo>
                    <a:pt x="2274671" y="379730"/>
                  </a:lnTo>
                  <a:lnTo>
                    <a:pt x="2269350" y="384810"/>
                  </a:lnTo>
                  <a:lnTo>
                    <a:pt x="2263597" y="383540"/>
                  </a:lnTo>
                  <a:lnTo>
                    <a:pt x="2257564" y="381000"/>
                  </a:lnTo>
                  <a:lnTo>
                    <a:pt x="2252091" y="381000"/>
                  </a:lnTo>
                  <a:lnTo>
                    <a:pt x="2248014" y="383540"/>
                  </a:lnTo>
                  <a:lnTo>
                    <a:pt x="2232609" y="384810"/>
                  </a:lnTo>
                  <a:lnTo>
                    <a:pt x="2213279" y="384810"/>
                  </a:lnTo>
                  <a:lnTo>
                    <a:pt x="2205939" y="383540"/>
                  </a:lnTo>
                  <a:lnTo>
                    <a:pt x="2205355" y="383540"/>
                  </a:lnTo>
                  <a:lnTo>
                    <a:pt x="2204758" y="382270"/>
                  </a:lnTo>
                  <a:lnTo>
                    <a:pt x="2204174" y="382270"/>
                  </a:lnTo>
                  <a:lnTo>
                    <a:pt x="2204174" y="383540"/>
                  </a:lnTo>
                  <a:lnTo>
                    <a:pt x="2194534" y="382270"/>
                  </a:lnTo>
                  <a:lnTo>
                    <a:pt x="2192832" y="383540"/>
                  </a:lnTo>
                  <a:lnTo>
                    <a:pt x="2190585" y="384810"/>
                  </a:lnTo>
                  <a:lnTo>
                    <a:pt x="2179282" y="383540"/>
                  </a:lnTo>
                  <a:lnTo>
                    <a:pt x="2174367" y="383540"/>
                  </a:lnTo>
                  <a:lnTo>
                    <a:pt x="2165197" y="388620"/>
                  </a:lnTo>
                  <a:lnTo>
                    <a:pt x="2157946" y="388620"/>
                  </a:lnTo>
                  <a:lnTo>
                    <a:pt x="2152027" y="384810"/>
                  </a:lnTo>
                  <a:lnTo>
                    <a:pt x="2146096" y="381000"/>
                  </a:lnTo>
                  <a:lnTo>
                    <a:pt x="2132279" y="378460"/>
                  </a:lnTo>
                  <a:lnTo>
                    <a:pt x="2120849" y="379730"/>
                  </a:lnTo>
                  <a:lnTo>
                    <a:pt x="2107527" y="381000"/>
                  </a:lnTo>
                  <a:lnTo>
                    <a:pt x="2088032" y="381000"/>
                  </a:lnTo>
                  <a:lnTo>
                    <a:pt x="2078177" y="378460"/>
                  </a:lnTo>
                  <a:lnTo>
                    <a:pt x="2072335" y="373380"/>
                  </a:lnTo>
                  <a:lnTo>
                    <a:pt x="2072005" y="372110"/>
                  </a:lnTo>
                  <a:lnTo>
                    <a:pt x="2071370" y="369570"/>
                  </a:lnTo>
                  <a:lnTo>
                    <a:pt x="2076183" y="364490"/>
                  </a:lnTo>
                  <a:lnTo>
                    <a:pt x="2068868" y="368300"/>
                  </a:lnTo>
                  <a:lnTo>
                    <a:pt x="2065223" y="370840"/>
                  </a:lnTo>
                  <a:lnTo>
                    <a:pt x="2060689" y="370840"/>
                  </a:lnTo>
                  <a:lnTo>
                    <a:pt x="2050707" y="372110"/>
                  </a:lnTo>
                  <a:lnTo>
                    <a:pt x="2047748" y="369570"/>
                  </a:lnTo>
                  <a:lnTo>
                    <a:pt x="2050110" y="368300"/>
                  </a:lnTo>
                  <a:lnTo>
                    <a:pt x="2054263" y="365760"/>
                  </a:lnTo>
                  <a:lnTo>
                    <a:pt x="2045487" y="364490"/>
                  </a:lnTo>
                  <a:lnTo>
                    <a:pt x="2041448" y="365760"/>
                  </a:lnTo>
                  <a:lnTo>
                    <a:pt x="2038184" y="367030"/>
                  </a:lnTo>
                  <a:lnTo>
                    <a:pt x="2035797" y="367030"/>
                  </a:lnTo>
                  <a:lnTo>
                    <a:pt x="2031746" y="367030"/>
                  </a:lnTo>
                  <a:lnTo>
                    <a:pt x="2027593" y="373380"/>
                  </a:lnTo>
                  <a:lnTo>
                    <a:pt x="2023452" y="382270"/>
                  </a:lnTo>
                  <a:lnTo>
                    <a:pt x="2019300" y="382270"/>
                  </a:lnTo>
                  <a:lnTo>
                    <a:pt x="2024037" y="383540"/>
                  </a:lnTo>
                  <a:lnTo>
                    <a:pt x="2013953" y="384810"/>
                  </a:lnTo>
                  <a:lnTo>
                    <a:pt x="1992210" y="384810"/>
                  </a:lnTo>
                  <a:lnTo>
                    <a:pt x="1980793" y="382270"/>
                  </a:lnTo>
                  <a:lnTo>
                    <a:pt x="1981377" y="379730"/>
                  </a:lnTo>
                  <a:lnTo>
                    <a:pt x="1967166" y="382270"/>
                  </a:lnTo>
                  <a:lnTo>
                    <a:pt x="1966861" y="381000"/>
                  </a:lnTo>
                  <a:lnTo>
                    <a:pt x="1966569" y="379730"/>
                  </a:lnTo>
                  <a:lnTo>
                    <a:pt x="1943455" y="379730"/>
                  </a:lnTo>
                  <a:lnTo>
                    <a:pt x="1946427" y="381000"/>
                  </a:lnTo>
                  <a:lnTo>
                    <a:pt x="1931314" y="381000"/>
                  </a:lnTo>
                  <a:lnTo>
                    <a:pt x="1921421" y="379730"/>
                  </a:lnTo>
                  <a:lnTo>
                    <a:pt x="1912645" y="378460"/>
                  </a:lnTo>
                  <a:lnTo>
                    <a:pt x="1913242" y="377190"/>
                  </a:lnTo>
                  <a:lnTo>
                    <a:pt x="1906320" y="375920"/>
                  </a:lnTo>
                  <a:lnTo>
                    <a:pt x="1892465" y="373380"/>
                  </a:lnTo>
                  <a:lnTo>
                    <a:pt x="1871916" y="373380"/>
                  </a:lnTo>
                  <a:lnTo>
                    <a:pt x="1826145" y="375920"/>
                  </a:lnTo>
                  <a:lnTo>
                    <a:pt x="1827720" y="374650"/>
                  </a:lnTo>
                  <a:lnTo>
                    <a:pt x="1830882" y="372110"/>
                  </a:lnTo>
                  <a:lnTo>
                    <a:pt x="1825358" y="370840"/>
                  </a:lnTo>
                  <a:lnTo>
                    <a:pt x="1820545" y="374650"/>
                  </a:lnTo>
                  <a:lnTo>
                    <a:pt x="1813699" y="374650"/>
                  </a:lnTo>
                  <a:lnTo>
                    <a:pt x="1813407" y="372110"/>
                  </a:lnTo>
                  <a:lnTo>
                    <a:pt x="1813102" y="369570"/>
                  </a:lnTo>
                  <a:lnTo>
                    <a:pt x="1805317" y="372110"/>
                  </a:lnTo>
                  <a:lnTo>
                    <a:pt x="1799704" y="370840"/>
                  </a:lnTo>
                  <a:lnTo>
                    <a:pt x="1794852" y="368300"/>
                  </a:lnTo>
                  <a:lnTo>
                    <a:pt x="1789404" y="364490"/>
                  </a:lnTo>
                  <a:lnTo>
                    <a:pt x="1792960" y="372110"/>
                  </a:lnTo>
                  <a:lnTo>
                    <a:pt x="1777555" y="369570"/>
                  </a:lnTo>
                  <a:lnTo>
                    <a:pt x="1773161" y="368300"/>
                  </a:lnTo>
                  <a:lnTo>
                    <a:pt x="1768767" y="367030"/>
                  </a:lnTo>
                  <a:lnTo>
                    <a:pt x="1766366" y="364490"/>
                  </a:lnTo>
                  <a:lnTo>
                    <a:pt x="1767217" y="361950"/>
                  </a:lnTo>
                  <a:lnTo>
                    <a:pt x="1767636" y="360680"/>
                  </a:lnTo>
                  <a:lnTo>
                    <a:pt x="1769846" y="356870"/>
                  </a:lnTo>
                  <a:lnTo>
                    <a:pt x="1757997" y="361950"/>
                  </a:lnTo>
                  <a:lnTo>
                    <a:pt x="1756816" y="359410"/>
                  </a:lnTo>
                  <a:lnTo>
                    <a:pt x="1755635" y="356870"/>
                  </a:lnTo>
                  <a:lnTo>
                    <a:pt x="1750339" y="359410"/>
                  </a:lnTo>
                  <a:lnTo>
                    <a:pt x="1746224" y="358140"/>
                  </a:lnTo>
                  <a:lnTo>
                    <a:pt x="1740877" y="356870"/>
                  </a:lnTo>
                  <a:lnTo>
                    <a:pt x="1731924" y="358140"/>
                  </a:lnTo>
                  <a:lnTo>
                    <a:pt x="1731340" y="356870"/>
                  </a:lnTo>
                  <a:lnTo>
                    <a:pt x="1730743" y="355600"/>
                  </a:lnTo>
                  <a:lnTo>
                    <a:pt x="1734896" y="354330"/>
                  </a:lnTo>
                  <a:lnTo>
                    <a:pt x="1729562" y="353060"/>
                  </a:lnTo>
                  <a:lnTo>
                    <a:pt x="1704086" y="360680"/>
                  </a:lnTo>
                  <a:lnTo>
                    <a:pt x="1719491" y="356870"/>
                  </a:lnTo>
                  <a:lnTo>
                    <a:pt x="1717116" y="365760"/>
                  </a:lnTo>
                  <a:lnTo>
                    <a:pt x="1706854" y="368300"/>
                  </a:lnTo>
                  <a:lnTo>
                    <a:pt x="1699044" y="367030"/>
                  </a:lnTo>
                  <a:lnTo>
                    <a:pt x="1692122" y="365760"/>
                  </a:lnTo>
                  <a:lnTo>
                    <a:pt x="1684528" y="365760"/>
                  </a:lnTo>
                  <a:lnTo>
                    <a:pt x="1688376" y="364490"/>
                  </a:lnTo>
                  <a:lnTo>
                    <a:pt x="1692236" y="363220"/>
                  </a:lnTo>
                  <a:lnTo>
                    <a:pt x="1681353" y="363220"/>
                  </a:lnTo>
                  <a:lnTo>
                    <a:pt x="1674533" y="361950"/>
                  </a:lnTo>
                  <a:lnTo>
                    <a:pt x="1669148" y="360680"/>
                  </a:lnTo>
                  <a:lnTo>
                    <a:pt x="1662607" y="358140"/>
                  </a:lnTo>
                  <a:lnTo>
                    <a:pt x="1665566" y="360680"/>
                  </a:lnTo>
                  <a:lnTo>
                    <a:pt x="1670304" y="363220"/>
                  </a:lnTo>
                  <a:lnTo>
                    <a:pt x="1663192" y="364490"/>
                  </a:lnTo>
                  <a:lnTo>
                    <a:pt x="1657870" y="364490"/>
                  </a:lnTo>
                  <a:lnTo>
                    <a:pt x="1660232" y="360680"/>
                  </a:lnTo>
                  <a:lnTo>
                    <a:pt x="1655495" y="359410"/>
                  </a:lnTo>
                  <a:lnTo>
                    <a:pt x="1652498" y="363220"/>
                  </a:lnTo>
                  <a:lnTo>
                    <a:pt x="1646161" y="365760"/>
                  </a:lnTo>
                  <a:lnTo>
                    <a:pt x="1637830" y="365760"/>
                  </a:lnTo>
                  <a:lnTo>
                    <a:pt x="1628825" y="364490"/>
                  </a:lnTo>
                  <a:lnTo>
                    <a:pt x="1629270" y="363537"/>
                  </a:lnTo>
                  <a:lnTo>
                    <a:pt x="1627060" y="364490"/>
                  </a:lnTo>
                  <a:lnTo>
                    <a:pt x="1625282" y="365760"/>
                  </a:lnTo>
                  <a:lnTo>
                    <a:pt x="1619948" y="364490"/>
                  </a:lnTo>
                  <a:lnTo>
                    <a:pt x="1620532" y="363220"/>
                  </a:lnTo>
                  <a:lnTo>
                    <a:pt x="1623504" y="356870"/>
                  </a:lnTo>
                  <a:lnTo>
                    <a:pt x="1613420" y="363220"/>
                  </a:lnTo>
                  <a:lnTo>
                    <a:pt x="1606905" y="361950"/>
                  </a:lnTo>
                  <a:lnTo>
                    <a:pt x="1596834" y="365760"/>
                  </a:lnTo>
                  <a:lnTo>
                    <a:pt x="1597431" y="361950"/>
                  </a:lnTo>
                  <a:lnTo>
                    <a:pt x="1601571" y="360680"/>
                  </a:lnTo>
                  <a:lnTo>
                    <a:pt x="1550619" y="356870"/>
                  </a:lnTo>
                  <a:lnTo>
                    <a:pt x="1550327" y="354330"/>
                  </a:lnTo>
                  <a:lnTo>
                    <a:pt x="1550022" y="351790"/>
                  </a:lnTo>
                  <a:lnTo>
                    <a:pt x="1543443" y="354330"/>
                  </a:lnTo>
                  <a:lnTo>
                    <a:pt x="1534248" y="353060"/>
                  </a:lnTo>
                  <a:lnTo>
                    <a:pt x="1526273" y="353060"/>
                  </a:lnTo>
                  <a:lnTo>
                    <a:pt x="1523365" y="356870"/>
                  </a:lnTo>
                  <a:lnTo>
                    <a:pt x="1513535" y="354330"/>
                  </a:lnTo>
                  <a:lnTo>
                    <a:pt x="1492529" y="354330"/>
                  </a:lnTo>
                  <a:lnTo>
                    <a:pt x="1491945" y="351790"/>
                  </a:lnTo>
                  <a:lnTo>
                    <a:pt x="1491361" y="349250"/>
                  </a:lnTo>
                  <a:lnTo>
                    <a:pt x="1468335" y="349250"/>
                  </a:lnTo>
                  <a:lnTo>
                    <a:pt x="1447520" y="351790"/>
                  </a:lnTo>
                  <a:lnTo>
                    <a:pt x="1425371" y="351790"/>
                  </a:lnTo>
                  <a:lnTo>
                    <a:pt x="1398346" y="350520"/>
                  </a:lnTo>
                  <a:lnTo>
                    <a:pt x="1390878" y="347980"/>
                  </a:lnTo>
                  <a:lnTo>
                    <a:pt x="1383423" y="345440"/>
                  </a:lnTo>
                  <a:lnTo>
                    <a:pt x="1362494" y="342900"/>
                  </a:lnTo>
                  <a:lnTo>
                    <a:pt x="1339354" y="342900"/>
                  </a:lnTo>
                  <a:lnTo>
                    <a:pt x="1317764" y="341630"/>
                  </a:lnTo>
                  <a:lnTo>
                    <a:pt x="1216774" y="345440"/>
                  </a:lnTo>
                  <a:lnTo>
                    <a:pt x="1180299" y="347980"/>
                  </a:lnTo>
                  <a:lnTo>
                    <a:pt x="1173772" y="346710"/>
                  </a:lnTo>
                  <a:lnTo>
                    <a:pt x="1160729" y="344170"/>
                  </a:lnTo>
                  <a:lnTo>
                    <a:pt x="1154201" y="342900"/>
                  </a:lnTo>
                  <a:lnTo>
                    <a:pt x="1124889" y="342900"/>
                  </a:lnTo>
                  <a:lnTo>
                    <a:pt x="1095133" y="344170"/>
                  </a:lnTo>
                  <a:lnTo>
                    <a:pt x="1067714" y="341630"/>
                  </a:lnTo>
                  <a:lnTo>
                    <a:pt x="1058240" y="346710"/>
                  </a:lnTo>
                  <a:lnTo>
                    <a:pt x="1051941" y="345440"/>
                  </a:lnTo>
                  <a:lnTo>
                    <a:pt x="1039342" y="342900"/>
                  </a:lnTo>
                  <a:lnTo>
                    <a:pt x="993571" y="342900"/>
                  </a:lnTo>
                  <a:lnTo>
                    <a:pt x="969352" y="339090"/>
                  </a:lnTo>
                  <a:lnTo>
                    <a:pt x="961656" y="340360"/>
                  </a:lnTo>
                  <a:lnTo>
                    <a:pt x="957503" y="341630"/>
                  </a:lnTo>
                  <a:lnTo>
                    <a:pt x="956919" y="341630"/>
                  </a:lnTo>
                  <a:lnTo>
                    <a:pt x="959281" y="342900"/>
                  </a:lnTo>
                  <a:lnTo>
                    <a:pt x="959878" y="345440"/>
                  </a:lnTo>
                  <a:lnTo>
                    <a:pt x="951890" y="344170"/>
                  </a:lnTo>
                  <a:lnTo>
                    <a:pt x="943063" y="344170"/>
                  </a:lnTo>
                  <a:lnTo>
                    <a:pt x="936129" y="342900"/>
                  </a:lnTo>
                  <a:lnTo>
                    <a:pt x="933805" y="339090"/>
                  </a:lnTo>
                  <a:lnTo>
                    <a:pt x="936180" y="339090"/>
                  </a:lnTo>
                  <a:lnTo>
                    <a:pt x="934212" y="337820"/>
                  </a:lnTo>
                  <a:lnTo>
                    <a:pt x="932256" y="336550"/>
                  </a:lnTo>
                  <a:lnTo>
                    <a:pt x="909091" y="337820"/>
                  </a:lnTo>
                  <a:lnTo>
                    <a:pt x="898842" y="336550"/>
                  </a:lnTo>
                  <a:lnTo>
                    <a:pt x="904176" y="342900"/>
                  </a:lnTo>
                  <a:lnTo>
                    <a:pt x="886993" y="341630"/>
                  </a:lnTo>
                  <a:lnTo>
                    <a:pt x="891743" y="340360"/>
                  </a:lnTo>
                  <a:lnTo>
                    <a:pt x="842289" y="344170"/>
                  </a:lnTo>
                  <a:lnTo>
                    <a:pt x="801001" y="342900"/>
                  </a:lnTo>
                  <a:lnTo>
                    <a:pt x="760501" y="340360"/>
                  </a:lnTo>
                  <a:lnTo>
                    <a:pt x="713384" y="344170"/>
                  </a:lnTo>
                  <a:lnTo>
                    <a:pt x="714311" y="342900"/>
                  </a:lnTo>
                  <a:lnTo>
                    <a:pt x="715238" y="341630"/>
                  </a:lnTo>
                  <a:lnTo>
                    <a:pt x="709980" y="342900"/>
                  </a:lnTo>
                  <a:lnTo>
                    <a:pt x="702729" y="342900"/>
                  </a:lnTo>
                  <a:lnTo>
                    <a:pt x="698576" y="340360"/>
                  </a:lnTo>
                  <a:lnTo>
                    <a:pt x="685749" y="336550"/>
                  </a:lnTo>
                  <a:lnTo>
                    <a:pt x="673760" y="337820"/>
                  </a:lnTo>
                  <a:lnTo>
                    <a:pt x="662330" y="341630"/>
                  </a:lnTo>
                  <a:lnTo>
                    <a:pt x="651179" y="344170"/>
                  </a:lnTo>
                  <a:lnTo>
                    <a:pt x="651179" y="345440"/>
                  </a:lnTo>
                  <a:lnTo>
                    <a:pt x="650582" y="345440"/>
                  </a:lnTo>
                  <a:lnTo>
                    <a:pt x="650582" y="344487"/>
                  </a:lnTo>
                  <a:lnTo>
                    <a:pt x="644652" y="344487"/>
                  </a:lnTo>
                  <a:lnTo>
                    <a:pt x="640676" y="344982"/>
                  </a:lnTo>
                  <a:lnTo>
                    <a:pt x="624509" y="344170"/>
                  </a:lnTo>
                  <a:lnTo>
                    <a:pt x="628357" y="341630"/>
                  </a:lnTo>
                  <a:lnTo>
                    <a:pt x="622884" y="344170"/>
                  </a:lnTo>
                  <a:lnTo>
                    <a:pt x="617181" y="346710"/>
                  </a:lnTo>
                  <a:lnTo>
                    <a:pt x="620356" y="344170"/>
                  </a:lnTo>
                  <a:lnTo>
                    <a:pt x="599516" y="342900"/>
                  </a:lnTo>
                  <a:lnTo>
                    <a:pt x="578662" y="341630"/>
                  </a:lnTo>
                  <a:lnTo>
                    <a:pt x="533488" y="340360"/>
                  </a:lnTo>
                  <a:lnTo>
                    <a:pt x="438772" y="340360"/>
                  </a:lnTo>
                  <a:lnTo>
                    <a:pt x="392239" y="339090"/>
                  </a:lnTo>
                  <a:lnTo>
                    <a:pt x="395795" y="341630"/>
                  </a:lnTo>
                  <a:lnTo>
                    <a:pt x="380555" y="341630"/>
                  </a:lnTo>
                  <a:lnTo>
                    <a:pt x="364985" y="342900"/>
                  </a:lnTo>
                  <a:lnTo>
                    <a:pt x="350304" y="341630"/>
                  </a:lnTo>
                  <a:lnTo>
                    <a:pt x="337731" y="340360"/>
                  </a:lnTo>
                  <a:lnTo>
                    <a:pt x="326390" y="339090"/>
                  </a:lnTo>
                  <a:lnTo>
                    <a:pt x="315442" y="341630"/>
                  </a:lnTo>
                  <a:lnTo>
                    <a:pt x="306146" y="345440"/>
                  </a:lnTo>
                  <a:lnTo>
                    <a:pt x="299808" y="346710"/>
                  </a:lnTo>
                  <a:lnTo>
                    <a:pt x="288264" y="347980"/>
                  </a:lnTo>
                  <a:lnTo>
                    <a:pt x="278993" y="346710"/>
                  </a:lnTo>
                  <a:lnTo>
                    <a:pt x="274066" y="344170"/>
                  </a:lnTo>
                  <a:lnTo>
                    <a:pt x="275513" y="342900"/>
                  </a:lnTo>
                  <a:lnTo>
                    <a:pt x="248932" y="347980"/>
                  </a:lnTo>
                  <a:lnTo>
                    <a:pt x="234276" y="350520"/>
                  </a:lnTo>
                  <a:lnTo>
                    <a:pt x="217449" y="350520"/>
                  </a:lnTo>
                  <a:lnTo>
                    <a:pt x="212128" y="349250"/>
                  </a:lnTo>
                  <a:lnTo>
                    <a:pt x="203301" y="349250"/>
                  </a:lnTo>
                  <a:lnTo>
                    <a:pt x="192366" y="350520"/>
                  </a:lnTo>
                  <a:lnTo>
                    <a:pt x="169227" y="355600"/>
                  </a:lnTo>
                  <a:lnTo>
                    <a:pt x="159461" y="358140"/>
                  </a:lnTo>
                  <a:lnTo>
                    <a:pt x="152463" y="358140"/>
                  </a:lnTo>
                  <a:lnTo>
                    <a:pt x="150888" y="356870"/>
                  </a:lnTo>
                  <a:lnTo>
                    <a:pt x="149313" y="355600"/>
                  </a:lnTo>
                  <a:lnTo>
                    <a:pt x="149313" y="356870"/>
                  </a:lnTo>
                  <a:lnTo>
                    <a:pt x="148958" y="356819"/>
                  </a:lnTo>
                  <a:lnTo>
                    <a:pt x="149313" y="355117"/>
                  </a:lnTo>
                  <a:lnTo>
                    <a:pt x="148488" y="356755"/>
                  </a:lnTo>
                  <a:lnTo>
                    <a:pt x="141008" y="355600"/>
                  </a:lnTo>
                  <a:lnTo>
                    <a:pt x="125603" y="358140"/>
                  </a:lnTo>
                  <a:lnTo>
                    <a:pt x="121462" y="358140"/>
                  </a:lnTo>
                  <a:lnTo>
                    <a:pt x="117906" y="359410"/>
                  </a:lnTo>
                  <a:lnTo>
                    <a:pt x="113753" y="360680"/>
                  </a:lnTo>
                  <a:lnTo>
                    <a:pt x="110197" y="361950"/>
                  </a:lnTo>
                  <a:lnTo>
                    <a:pt x="101904" y="364490"/>
                  </a:lnTo>
                  <a:lnTo>
                    <a:pt x="90322" y="367030"/>
                  </a:lnTo>
                  <a:lnTo>
                    <a:pt x="78498" y="370840"/>
                  </a:lnTo>
                  <a:lnTo>
                    <a:pt x="66243" y="373380"/>
                  </a:lnTo>
                  <a:lnTo>
                    <a:pt x="53975" y="375793"/>
                  </a:lnTo>
                  <a:lnTo>
                    <a:pt x="54508" y="374650"/>
                  </a:lnTo>
                  <a:lnTo>
                    <a:pt x="50952" y="377190"/>
                  </a:lnTo>
                  <a:lnTo>
                    <a:pt x="45021" y="382270"/>
                  </a:lnTo>
                  <a:lnTo>
                    <a:pt x="40716" y="386080"/>
                  </a:lnTo>
                  <a:lnTo>
                    <a:pt x="35915" y="389890"/>
                  </a:lnTo>
                  <a:lnTo>
                    <a:pt x="30772" y="394970"/>
                  </a:lnTo>
                  <a:lnTo>
                    <a:pt x="25476" y="398780"/>
                  </a:lnTo>
                  <a:lnTo>
                    <a:pt x="21920" y="402590"/>
                  </a:lnTo>
                  <a:lnTo>
                    <a:pt x="18961" y="406400"/>
                  </a:lnTo>
                  <a:lnTo>
                    <a:pt x="15405" y="408940"/>
                  </a:lnTo>
                  <a:lnTo>
                    <a:pt x="7099" y="417830"/>
                  </a:lnTo>
                  <a:lnTo>
                    <a:pt x="2959" y="424180"/>
                  </a:lnTo>
                  <a:lnTo>
                    <a:pt x="0" y="427990"/>
                  </a:lnTo>
                  <a:lnTo>
                    <a:pt x="15405" y="436880"/>
                  </a:lnTo>
                  <a:lnTo>
                    <a:pt x="29400" y="446887"/>
                  </a:lnTo>
                  <a:lnTo>
                    <a:pt x="50660" y="446887"/>
                  </a:lnTo>
                  <a:lnTo>
                    <a:pt x="58648" y="448310"/>
                  </a:lnTo>
                  <a:lnTo>
                    <a:pt x="72872" y="449580"/>
                  </a:lnTo>
                  <a:lnTo>
                    <a:pt x="78206" y="450850"/>
                  </a:lnTo>
                  <a:lnTo>
                    <a:pt x="83540" y="450850"/>
                  </a:lnTo>
                  <a:lnTo>
                    <a:pt x="86995" y="452094"/>
                  </a:lnTo>
                  <a:lnTo>
                    <a:pt x="87147" y="452094"/>
                  </a:lnTo>
                  <a:lnTo>
                    <a:pt x="88874" y="450850"/>
                  </a:lnTo>
                  <a:lnTo>
                    <a:pt x="93014" y="449580"/>
                  </a:lnTo>
                  <a:lnTo>
                    <a:pt x="102463" y="446887"/>
                  </a:lnTo>
                  <a:lnTo>
                    <a:pt x="102717" y="446887"/>
                  </a:lnTo>
                  <a:lnTo>
                    <a:pt x="108419" y="445770"/>
                  </a:lnTo>
                  <a:lnTo>
                    <a:pt x="118922" y="443230"/>
                  </a:lnTo>
                  <a:lnTo>
                    <a:pt x="130644" y="439420"/>
                  </a:lnTo>
                  <a:lnTo>
                    <a:pt x="143256" y="436880"/>
                  </a:lnTo>
                  <a:lnTo>
                    <a:pt x="163169" y="433070"/>
                  </a:lnTo>
                  <a:lnTo>
                    <a:pt x="169976" y="433070"/>
                  </a:lnTo>
                  <a:lnTo>
                    <a:pt x="183083" y="430530"/>
                  </a:lnTo>
                  <a:lnTo>
                    <a:pt x="191973" y="429260"/>
                  </a:lnTo>
                  <a:lnTo>
                    <a:pt x="199669" y="427990"/>
                  </a:lnTo>
                  <a:lnTo>
                    <a:pt x="221005" y="426720"/>
                  </a:lnTo>
                  <a:lnTo>
                    <a:pt x="230479" y="425450"/>
                  </a:lnTo>
                  <a:lnTo>
                    <a:pt x="238188" y="425450"/>
                  </a:lnTo>
                  <a:lnTo>
                    <a:pt x="249440" y="426720"/>
                  </a:lnTo>
                  <a:lnTo>
                    <a:pt x="258597" y="426720"/>
                  </a:lnTo>
                  <a:lnTo>
                    <a:pt x="280022" y="429260"/>
                  </a:lnTo>
                  <a:lnTo>
                    <a:pt x="353733" y="434340"/>
                  </a:lnTo>
                  <a:lnTo>
                    <a:pt x="506603" y="433070"/>
                  </a:lnTo>
                  <a:lnTo>
                    <a:pt x="659472" y="433070"/>
                  </a:lnTo>
                  <a:lnTo>
                    <a:pt x="681393" y="425450"/>
                  </a:lnTo>
                  <a:lnTo>
                    <a:pt x="729030" y="431800"/>
                  </a:lnTo>
                  <a:lnTo>
                    <a:pt x="832535" y="431800"/>
                  </a:lnTo>
                  <a:lnTo>
                    <a:pt x="882853" y="435610"/>
                  </a:lnTo>
                  <a:lnTo>
                    <a:pt x="884034" y="429260"/>
                  </a:lnTo>
                  <a:lnTo>
                    <a:pt x="902398" y="429260"/>
                  </a:lnTo>
                  <a:lnTo>
                    <a:pt x="901217" y="433070"/>
                  </a:lnTo>
                  <a:lnTo>
                    <a:pt x="905370" y="434340"/>
                  </a:lnTo>
                  <a:lnTo>
                    <a:pt x="1058570" y="434340"/>
                  </a:lnTo>
                  <a:lnTo>
                    <a:pt x="1109497" y="435610"/>
                  </a:lnTo>
                  <a:lnTo>
                    <a:pt x="1210132" y="435610"/>
                  </a:lnTo>
                  <a:lnTo>
                    <a:pt x="1259522" y="436880"/>
                  </a:lnTo>
                  <a:lnTo>
                    <a:pt x="1308049" y="439420"/>
                  </a:lnTo>
                  <a:lnTo>
                    <a:pt x="1355559" y="440690"/>
                  </a:lnTo>
                  <a:lnTo>
                    <a:pt x="1401902" y="444500"/>
                  </a:lnTo>
                  <a:lnTo>
                    <a:pt x="1416596" y="446887"/>
                  </a:lnTo>
                  <a:lnTo>
                    <a:pt x="1414970" y="446887"/>
                  </a:lnTo>
                  <a:lnTo>
                    <a:pt x="1458722" y="449580"/>
                  </a:lnTo>
                  <a:lnTo>
                    <a:pt x="1472222" y="452094"/>
                  </a:lnTo>
                  <a:lnTo>
                    <a:pt x="1472907" y="452094"/>
                  </a:lnTo>
                  <a:lnTo>
                    <a:pt x="1510106" y="449580"/>
                  </a:lnTo>
                  <a:lnTo>
                    <a:pt x="1548244" y="448310"/>
                  </a:lnTo>
                  <a:lnTo>
                    <a:pt x="1624088" y="450850"/>
                  </a:lnTo>
                  <a:lnTo>
                    <a:pt x="1646605" y="450850"/>
                  </a:lnTo>
                  <a:lnTo>
                    <a:pt x="1646605" y="452094"/>
                  </a:lnTo>
                  <a:lnTo>
                    <a:pt x="1668322" y="450850"/>
                  </a:lnTo>
                  <a:lnTo>
                    <a:pt x="1693176" y="452094"/>
                  </a:lnTo>
                  <a:lnTo>
                    <a:pt x="1693621" y="452094"/>
                  </a:lnTo>
                  <a:lnTo>
                    <a:pt x="1720507" y="455930"/>
                  </a:lnTo>
                  <a:lnTo>
                    <a:pt x="1747951" y="458660"/>
                  </a:lnTo>
                  <a:lnTo>
                    <a:pt x="1795310" y="461010"/>
                  </a:lnTo>
                  <a:lnTo>
                    <a:pt x="2044369" y="467360"/>
                  </a:lnTo>
                  <a:lnTo>
                    <a:pt x="2093798" y="469900"/>
                  </a:lnTo>
                  <a:lnTo>
                    <a:pt x="2143328" y="471170"/>
                  </a:lnTo>
                  <a:lnTo>
                    <a:pt x="2293645" y="482600"/>
                  </a:lnTo>
                  <a:lnTo>
                    <a:pt x="2326716" y="487680"/>
                  </a:lnTo>
                  <a:lnTo>
                    <a:pt x="2360968" y="490220"/>
                  </a:lnTo>
                  <a:lnTo>
                    <a:pt x="2432291" y="492760"/>
                  </a:lnTo>
                  <a:lnTo>
                    <a:pt x="2450604" y="494030"/>
                  </a:lnTo>
                  <a:lnTo>
                    <a:pt x="2469019" y="494030"/>
                  </a:lnTo>
                  <a:lnTo>
                    <a:pt x="2505760" y="496570"/>
                  </a:lnTo>
                  <a:lnTo>
                    <a:pt x="2515095" y="496570"/>
                  </a:lnTo>
                  <a:lnTo>
                    <a:pt x="2524429" y="497840"/>
                  </a:lnTo>
                  <a:lnTo>
                    <a:pt x="2533751" y="497840"/>
                  </a:lnTo>
                  <a:lnTo>
                    <a:pt x="2561463" y="501650"/>
                  </a:lnTo>
                  <a:lnTo>
                    <a:pt x="2570937" y="501650"/>
                  </a:lnTo>
                  <a:lnTo>
                    <a:pt x="2588120" y="504190"/>
                  </a:lnTo>
                  <a:lnTo>
                    <a:pt x="2601074" y="505460"/>
                  </a:lnTo>
                  <a:lnTo>
                    <a:pt x="2623743" y="508000"/>
                  </a:lnTo>
                  <a:lnTo>
                    <a:pt x="2654528" y="510540"/>
                  </a:lnTo>
                  <a:lnTo>
                    <a:pt x="2733484" y="515620"/>
                  </a:lnTo>
                  <a:lnTo>
                    <a:pt x="2750274" y="517055"/>
                  </a:lnTo>
                  <a:lnTo>
                    <a:pt x="2745143" y="521296"/>
                  </a:lnTo>
                  <a:lnTo>
                    <a:pt x="2745727" y="521296"/>
                  </a:lnTo>
                  <a:lnTo>
                    <a:pt x="2734475" y="523836"/>
                  </a:lnTo>
                  <a:lnTo>
                    <a:pt x="2736850" y="525106"/>
                  </a:lnTo>
                  <a:lnTo>
                    <a:pt x="2736253" y="527646"/>
                  </a:lnTo>
                  <a:lnTo>
                    <a:pt x="2735072" y="528916"/>
                  </a:lnTo>
                  <a:lnTo>
                    <a:pt x="2732697" y="526376"/>
                  </a:lnTo>
                  <a:lnTo>
                    <a:pt x="2727363" y="528916"/>
                  </a:lnTo>
                  <a:lnTo>
                    <a:pt x="2720848" y="531456"/>
                  </a:lnTo>
                  <a:lnTo>
                    <a:pt x="2713736" y="528916"/>
                  </a:lnTo>
                  <a:lnTo>
                    <a:pt x="2716695" y="533996"/>
                  </a:lnTo>
                  <a:lnTo>
                    <a:pt x="2715514" y="533996"/>
                  </a:lnTo>
                  <a:lnTo>
                    <a:pt x="2708999" y="528916"/>
                  </a:lnTo>
                  <a:lnTo>
                    <a:pt x="2713139" y="535266"/>
                  </a:lnTo>
                  <a:lnTo>
                    <a:pt x="2712555" y="539076"/>
                  </a:lnTo>
                  <a:lnTo>
                    <a:pt x="2710777" y="539076"/>
                  </a:lnTo>
                  <a:lnTo>
                    <a:pt x="2711958" y="542886"/>
                  </a:lnTo>
                  <a:lnTo>
                    <a:pt x="2708402" y="541616"/>
                  </a:lnTo>
                  <a:lnTo>
                    <a:pt x="2707805" y="541616"/>
                  </a:lnTo>
                  <a:lnTo>
                    <a:pt x="2708402" y="542886"/>
                  </a:lnTo>
                  <a:lnTo>
                    <a:pt x="2703665" y="542886"/>
                  </a:lnTo>
                  <a:lnTo>
                    <a:pt x="2711361" y="546696"/>
                  </a:lnTo>
                  <a:lnTo>
                    <a:pt x="2706027" y="546696"/>
                  </a:lnTo>
                  <a:lnTo>
                    <a:pt x="2702483" y="544156"/>
                  </a:lnTo>
                  <a:lnTo>
                    <a:pt x="2708999" y="553046"/>
                  </a:lnTo>
                  <a:lnTo>
                    <a:pt x="2706624" y="553046"/>
                  </a:lnTo>
                  <a:lnTo>
                    <a:pt x="2700109" y="549236"/>
                  </a:lnTo>
                  <a:lnTo>
                    <a:pt x="2694178" y="547966"/>
                  </a:lnTo>
                  <a:lnTo>
                    <a:pt x="2698331" y="554316"/>
                  </a:lnTo>
                  <a:lnTo>
                    <a:pt x="2694178" y="558126"/>
                  </a:lnTo>
                  <a:lnTo>
                    <a:pt x="2690037" y="558126"/>
                  </a:lnTo>
                  <a:lnTo>
                    <a:pt x="2688704" y="556856"/>
                  </a:lnTo>
                  <a:lnTo>
                    <a:pt x="2686037" y="554316"/>
                  </a:lnTo>
                  <a:lnTo>
                    <a:pt x="2684703" y="553046"/>
                  </a:lnTo>
                  <a:lnTo>
                    <a:pt x="2684703" y="554316"/>
                  </a:lnTo>
                  <a:lnTo>
                    <a:pt x="2684475" y="553707"/>
                  </a:lnTo>
                  <a:lnTo>
                    <a:pt x="2684411" y="554316"/>
                  </a:lnTo>
                  <a:lnTo>
                    <a:pt x="2684107" y="556856"/>
                  </a:lnTo>
                  <a:lnTo>
                    <a:pt x="2681744" y="555586"/>
                  </a:lnTo>
                  <a:lnTo>
                    <a:pt x="2681744" y="554316"/>
                  </a:lnTo>
                  <a:lnTo>
                    <a:pt x="2680551" y="551776"/>
                  </a:lnTo>
                  <a:lnTo>
                    <a:pt x="2675813" y="551776"/>
                  </a:lnTo>
                  <a:lnTo>
                    <a:pt x="2680551" y="555586"/>
                  </a:lnTo>
                  <a:lnTo>
                    <a:pt x="2678773" y="556856"/>
                  </a:lnTo>
                  <a:lnTo>
                    <a:pt x="2681744" y="560666"/>
                  </a:lnTo>
                  <a:lnTo>
                    <a:pt x="2687066" y="569556"/>
                  </a:lnTo>
                  <a:lnTo>
                    <a:pt x="2688259" y="569556"/>
                  </a:lnTo>
                  <a:lnTo>
                    <a:pt x="2688259" y="574636"/>
                  </a:lnTo>
                  <a:lnTo>
                    <a:pt x="2687066" y="577176"/>
                  </a:lnTo>
                  <a:lnTo>
                    <a:pt x="2683522" y="575906"/>
                  </a:lnTo>
                  <a:lnTo>
                    <a:pt x="2681744" y="573366"/>
                  </a:lnTo>
                  <a:lnTo>
                    <a:pt x="2680551" y="577176"/>
                  </a:lnTo>
                  <a:lnTo>
                    <a:pt x="2678188" y="574636"/>
                  </a:lnTo>
                  <a:lnTo>
                    <a:pt x="2675813" y="578446"/>
                  </a:lnTo>
                  <a:lnTo>
                    <a:pt x="2676995" y="578446"/>
                  </a:lnTo>
                  <a:lnTo>
                    <a:pt x="2676410" y="579716"/>
                  </a:lnTo>
                  <a:lnTo>
                    <a:pt x="2674632" y="582256"/>
                  </a:lnTo>
                  <a:lnTo>
                    <a:pt x="2672257" y="582256"/>
                  </a:lnTo>
                  <a:lnTo>
                    <a:pt x="2671076" y="579716"/>
                  </a:lnTo>
                  <a:lnTo>
                    <a:pt x="2662783" y="578446"/>
                  </a:lnTo>
                  <a:lnTo>
                    <a:pt x="2665145" y="587336"/>
                  </a:lnTo>
                  <a:lnTo>
                    <a:pt x="2661005" y="592416"/>
                  </a:lnTo>
                  <a:lnTo>
                    <a:pt x="2658630" y="588606"/>
                  </a:lnTo>
                  <a:lnTo>
                    <a:pt x="2654477" y="587336"/>
                  </a:lnTo>
                  <a:lnTo>
                    <a:pt x="2662186" y="593686"/>
                  </a:lnTo>
                  <a:lnTo>
                    <a:pt x="2659227" y="593686"/>
                  </a:lnTo>
                  <a:lnTo>
                    <a:pt x="2655671" y="589876"/>
                  </a:lnTo>
                  <a:lnTo>
                    <a:pt x="2658630" y="596226"/>
                  </a:lnTo>
                  <a:lnTo>
                    <a:pt x="2652699" y="591146"/>
                  </a:lnTo>
                  <a:lnTo>
                    <a:pt x="2649740" y="589876"/>
                  </a:lnTo>
                  <a:lnTo>
                    <a:pt x="2654477" y="594956"/>
                  </a:lnTo>
                  <a:lnTo>
                    <a:pt x="2651518" y="594956"/>
                  </a:lnTo>
                  <a:lnTo>
                    <a:pt x="2647962" y="596226"/>
                  </a:lnTo>
                  <a:lnTo>
                    <a:pt x="2646184" y="593686"/>
                  </a:lnTo>
                  <a:lnTo>
                    <a:pt x="2644406" y="591146"/>
                  </a:lnTo>
                  <a:lnTo>
                    <a:pt x="2642628" y="587336"/>
                  </a:lnTo>
                  <a:lnTo>
                    <a:pt x="2644406" y="593686"/>
                  </a:lnTo>
                  <a:lnTo>
                    <a:pt x="2640266" y="588606"/>
                  </a:lnTo>
                  <a:lnTo>
                    <a:pt x="2643822" y="594956"/>
                  </a:lnTo>
                  <a:lnTo>
                    <a:pt x="2642755" y="593686"/>
                  </a:lnTo>
                  <a:lnTo>
                    <a:pt x="2638488" y="588606"/>
                  </a:lnTo>
                  <a:lnTo>
                    <a:pt x="2638488" y="593686"/>
                  </a:lnTo>
                  <a:lnTo>
                    <a:pt x="2636710" y="592416"/>
                  </a:lnTo>
                  <a:lnTo>
                    <a:pt x="2636710" y="591146"/>
                  </a:lnTo>
                  <a:lnTo>
                    <a:pt x="2634932" y="591146"/>
                  </a:lnTo>
                  <a:lnTo>
                    <a:pt x="2637294" y="600036"/>
                  </a:lnTo>
                  <a:lnTo>
                    <a:pt x="2636710" y="594956"/>
                  </a:lnTo>
                  <a:lnTo>
                    <a:pt x="2642044" y="601306"/>
                  </a:lnTo>
                  <a:lnTo>
                    <a:pt x="2644406" y="607656"/>
                  </a:lnTo>
                  <a:lnTo>
                    <a:pt x="2642438" y="606386"/>
                  </a:lnTo>
                  <a:lnTo>
                    <a:pt x="2638488" y="603846"/>
                  </a:lnTo>
                  <a:lnTo>
                    <a:pt x="2638488" y="606386"/>
                  </a:lnTo>
                  <a:lnTo>
                    <a:pt x="2637891" y="603846"/>
                  </a:lnTo>
                  <a:lnTo>
                    <a:pt x="2636710" y="606386"/>
                  </a:lnTo>
                  <a:lnTo>
                    <a:pt x="2634335" y="603846"/>
                  </a:lnTo>
                  <a:lnTo>
                    <a:pt x="2631376" y="603846"/>
                  </a:lnTo>
                  <a:lnTo>
                    <a:pt x="2634932" y="606386"/>
                  </a:lnTo>
                  <a:lnTo>
                    <a:pt x="2634932" y="607656"/>
                  </a:lnTo>
                  <a:lnTo>
                    <a:pt x="2634335" y="608926"/>
                  </a:lnTo>
                  <a:lnTo>
                    <a:pt x="2632557" y="606386"/>
                  </a:lnTo>
                  <a:lnTo>
                    <a:pt x="2631376" y="606386"/>
                  </a:lnTo>
                  <a:lnTo>
                    <a:pt x="2634932" y="610196"/>
                  </a:lnTo>
                  <a:lnTo>
                    <a:pt x="2635516" y="614006"/>
                  </a:lnTo>
                  <a:lnTo>
                    <a:pt x="2630195" y="614006"/>
                  </a:lnTo>
                  <a:lnTo>
                    <a:pt x="2626639" y="608926"/>
                  </a:lnTo>
                  <a:lnTo>
                    <a:pt x="2629598" y="614006"/>
                  </a:lnTo>
                  <a:lnTo>
                    <a:pt x="2627820" y="614006"/>
                  </a:lnTo>
                  <a:lnTo>
                    <a:pt x="2629598" y="619086"/>
                  </a:lnTo>
                  <a:lnTo>
                    <a:pt x="2626639" y="615276"/>
                  </a:lnTo>
                  <a:lnTo>
                    <a:pt x="2626042" y="614006"/>
                  </a:lnTo>
                  <a:lnTo>
                    <a:pt x="2618333" y="619086"/>
                  </a:lnTo>
                  <a:lnTo>
                    <a:pt x="2614790" y="615276"/>
                  </a:lnTo>
                  <a:lnTo>
                    <a:pt x="2618930" y="621626"/>
                  </a:lnTo>
                  <a:lnTo>
                    <a:pt x="2609456" y="617816"/>
                  </a:lnTo>
                  <a:lnTo>
                    <a:pt x="2615374" y="622896"/>
                  </a:lnTo>
                  <a:lnTo>
                    <a:pt x="2610637" y="620356"/>
                  </a:lnTo>
                  <a:lnTo>
                    <a:pt x="2612415" y="630516"/>
                  </a:lnTo>
                  <a:lnTo>
                    <a:pt x="2606484" y="622896"/>
                  </a:lnTo>
                  <a:lnTo>
                    <a:pt x="2601747" y="626706"/>
                  </a:lnTo>
                  <a:lnTo>
                    <a:pt x="2605303" y="635596"/>
                  </a:lnTo>
                  <a:lnTo>
                    <a:pt x="2597010" y="636866"/>
                  </a:lnTo>
                  <a:lnTo>
                    <a:pt x="2589301" y="633056"/>
                  </a:lnTo>
                  <a:lnTo>
                    <a:pt x="2585745" y="639406"/>
                  </a:lnTo>
                  <a:lnTo>
                    <a:pt x="2582189" y="641946"/>
                  </a:lnTo>
                  <a:lnTo>
                    <a:pt x="2579357" y="648296"/>
                  </a:lnTo>
                  <a:lnTo>
                    <a:pt x="2576792" y="654646"/>
                  </a:lnTo>
                  <a:lnTo>
                    <a:pt x="2574112" y="659726"/>
                  </a:lnTo>
                  <a:lnTo>
                    <a:pt x="2570937" y="666076"/>
                  </a:lnTo>
                  <a:lnTo>
                    <a:pt x="2564434" y="667346"/>
                  </a:lnTo>
                  <a:lnTo>
                    <a:pt x="2561602" y="671156"/>
                  </a:lnTo>
                  <a:lnTo>
                    <a:pt x="2559443" y="676236"/>
                  </a:lnTo>
                  <a:lnTo>
                    <a:pt x="2554935" y="678776"/>
                  </a:lnTo>
                  <a:lnTo>
                    <a:pt x="2557310" y="682586"/>
                  </a:lnTo>
                  <a:lnTo>
                    <a:pt x="2549017" y="680046"/>
                  </a:lnTo>
                  <a:lnTo>
                    <a:pt x="2551379" y="691476"/>
                  </a:lnTo>
                  <a:lnTo>
                    <a:pt x="2542502" y="690206"/>
                  </a:lnTo>
                  <a:lnTo>
                    <a:pt x="2543086" y="692746"/>
                  </a:lnTo>
                  <a:lnTo>
                    <a:pt x="2543086" y="694016"/>
                  </a:lnTo>
                  <a:lnTo>
                    <a:pt x="2544280" y="694016"/>
                  </a:lnTo>
                  <a:lnTo>
                    <a:pt x="2546642" y="696556"/>
                  </a:lnTo>
                  <a:lnTo>
                    <a:pt x="2544280" y="696556"/>
                  </a:lnTo>
                  <a:lnTo>
                    <a:pt x="2543683" y="700366"/>
                  </a:lnTo>
                  <a:lnTo>
                    <a:pt x="2539530" y="696556"/>
                  </a:lnTo>
                  <a:lnTo>
                    <a:pt x="2535390" y="691476"/>
                  </a:lnTo>
                  <a:lnTo>
                    <a:pt x="2538349" y="701636"/>
                  </a:lnTo>
                  <a:lnTo>
                    <a:pt x="2533015" y="699096"/>
                  </a:lnTo>
                  <a:lnTo>
                    <a:pt x="2538349" y="702906"/>
                  </a:lnTo>
                  <a:lnTo>
                    <a:pt x="2535390" y="705446"/>
                  </a:lnTo>
                  <a:lnTo>
                    <a:pt x="2534793" y="704176"/>
                  </a:lnTo>
                  <a:lnTo>
                    <a:pt x="2532532" y="713066"/>
                  </a:lnTo>
                  <a:lnTo>
                    <a:pt x="2526500" y="718146"/>
                  </a:lnTo>
                  <a:lnTo>
                    <a:pt x="2520467" y="721956"/>
                  </a:lnTo>
                  <a:lnTo>
                    <a:pt x="2518206" y="732116"/>
                  </a:lnTo>
                  <a:lnTo>
                    <a:pt x="2516543" y="729576"/>
                  </a:lnTo>
                  <a:lnTo>
                    <a:pt x="2516505" y="730846"/>
                  </a:lnTo>
                  <a:lnTo>
                    <a:pt x="2516124" y="732116"/>
                  </a:lnTo>
                  <a:lnTo>
                    <a:pt x="2513457" y="730846"/>
                  </a:lnTo>
                  <a:lnTo>
                    <a:pt x="2504579" y="727036"/>
                  </a:lnTo>
                  <a:lnTo>
                    <a:pt x="2511094" y="737196"/>
                  </a:lnTo>
                  <a:lnTo>
                    <a:pt x="2511094" y="741006"/>
                  </a:lnTo>
                  <a:lnTo>
                    <a:pt x="2512276" y="742276"/>
                  </a:lnTo>
                  <a:lnTo>
                    <a:pt x="2508720" y="744816"/>
                  </a:lnTo>
                  <a:lnTo>
                    <a:pt x="2506967" y="742276"/>
                  </a:lnTo>
                  <a:lnTo>
                    <a:pt x="2507983" y="744816"/>
                  </a:lnTo>
                  <a:lnTo>
                    <a:pt x="2509228" y="747356"/>
                  </a:lnTo>
                  <a:lnTo>
                    <a:pt x="2508135" y="746086"/>
                  </a:lnTo>
                  <a:lnTo>
                    <a:pt x="2499677" y="751166"/>
                  </a:lnTo>
                  <a:lnTo>
                    <a:pt x="2492946" y="758786"/>
                  </a:lnTo>
                  <a:lnTo>
                    <a:pt x="2486545" y="767676"/>
                  </a:lnTo>
                  <a:lnTo>
                    <a:pt x="2479103" y="774026"/>
                  </a:lnTo>
                  <a:lnTo>
                    <a:pt x="2481465" y="775296"/>
                  </a:lnTo>
                  <a:lnTo>
                    <a:pt x="2479103" y="777836"/>
                  </a:lnTo>
                  <a:lnTo>
                    <a:pt x="2478506" y="782916"/>
                  </a:lnTo>
                  <a:lnTo>
                    <a:pt x="2469019" y="782916"/>
                  </a:lnTo>
                  <a:lnTo>
                    <a:pt x="2474950" y="790536"/>
                  </a:lnTo>
                  <a:lnTo>
                    <a:pt x="2474353" y="791806"/>
                  </a:lnTo>
                  <a:lnTo>
                    <a:pt x="2475547" y="796886"/>
                  </a:lnTo>
                  <a:lnTo>
                    <a:pt x="2468549" y="794575"/>
                  </a:lnTo>
                  <a:lnTo>
                    <a:pt x="2467838" y="796886"/>
                  </a:lnTo>
                  <a:lnTo>
                    <a:pt x="2472575" y="804506"/>
                  </a:lnTo>
                  <a:lnTo>
                    <a:pt x="2467241" y="805776"/>
                  </a:lnTo>
                  <a:lnTo>
                    <a:pt x="2463952" y="805776"/>
                  </a:lnTo>
                  <a:lnTo>
                    <a:pt x="2463101" y="809586"/>
                  </a:lnTo>
                  <a:lnTo>
                    <a:pt x="2462250" y="814666"/>
                  </a:lnTo>
                  <a:lnTo>
                    <a:pt x="2458948" y="813396"/>
                  </a:lnTo>
                  <a:lnTo>
                    <a:pt x="2459545" y="814666"/>
                  </a:lnTo>
                  <a:lnTo>
                    <a:pt x="2451252" y="814666"/>
                  </a:lnTo>
                  <a:lnTo>
                    <a:pt x="2456586" y="824826"/>
                  </a:lnTo>
                  <a:lnTo>
                    <a:pt x="2448356" y="826096"/>
                  </a:lnTo>
                  <a:lnTo>
                    <a:pt x="2447696" y="824826"/>
                  </a:lnTo>
                  <a:lnTo>
                    <a:pt x="2447696" y="826096"/>
                  </a:lnTo>
                  <a:lnTo>
                    <a:pt x="2448280" y="826096"/>
                  </a:lnTo>
                  <a:lnTo>
                    <a:pt x="2449728" y="828636"/>
                  </a:lnTo>
                  <a:lnTo>
                    <a:pt x="2461920" y="851496"/>
                  </a:lnTo>
                  <a:lnTo>
                    <a:pt x="2487980" y="866736"/>
                  </a:lnTo>
                  <a:lnTo>
                    <a:pt x="2513469" y="874356"/>
                  </a:lnTo>
                  <a:lnTo>
                    <a:pt x="2519388" y="861656"/>
                  </a:lnTo>
                  <a:lnTo>
                    <a:pt x="2522347" y="856576"/>
                  </a:lnTo>
                  <a:lnTo>
                    <a:pt x="2525903" y="850226"/>
                  </a:lnTo>
                  <a:lnTo>
                    <a:pt x="2546642" y="838796"/>
                  </a:lnTo>
                  <a:lnTo>
                    <a:pt x="2548420" y="836256"/>
                  </a:lnTo>
                  <a:lnTo>
                    <a:pt x="2554351" y="828636"/>
                  </a:lnTo>
                  <a:lnTo>
                    <a:pt x="2558491" y="823556"/>
                  </a:lnTo>
                  <a:lnTo>
                    <a:pt x="2562047" y="818476"/>
                  </a:lnTo>
                  <a:lnTo>
                    <a:pt x="2566200" y="813396"/>
                  </a:lnTo>
                  <a:lnTo>
                    <a:pt x="2569756" y="808316"/>
                  </a:lnTo>
                  <a:lnTo>
                    <a:pt x="2575674" y="800696"/>
                  </a:lnTo>
                  <a:lnTo>
                    <a:pt x="2578049" y="798156"/>
                  </a:lnTo>
                  <a:lnTo>
                    <a:pt x="2577655" y="796886"/>
                  </a:lnTo>
                  <a:lnTo>
                    <a:pt x="2575674" y="790536"/>
                  </a:lnTo>
                  <a:lnTo>
                    <a:pt x="2584869" y="787996"/>
                  </a:lnTo>
                  <a:lnTo>
                    <a:pt x="2590558" y="781646"/>
                  </a:lnTo>
                  <a:lnTo>
                    <a:pt x="2595930" y="774026"/>
                  </a:lnTo>
                  <a:lnTo>
                    <a:pt x="2604122" y="770216"/>
                  </a:lnTo>
                  <a:lnTo>
                    <a:pt x="2599969" y="765136"/>
                  </a:lnTo>
                  <a:lnTo>
                    <a:pt x="2601747" y="763866"/>
                  </a:lnTo>
                  <a:lnTo>
                    <a:pt x="2604122" y="765136"/>
                  </a:lnTo>
                  <a:lnTo>
                    <a:pt x="2605900" y="765136"/>
                  </a:lnTo>
                  <a:lnTo>
                    <a:pt x="2606954" y="763866"/>
                  </a:lnTo>
                  <a:lnTo>
                    <a:pt x="2620683" y="747356"/>
                  </a:lnTo>
                  <a:lnTo>
                    <a:pt x="2622778" y="744816"/>
                  </a:lnTo>
                  <a:lnTo>
                    <a:pt x="2633230" y="732116"/>
                  </a:lnTo>
                  <a:lnTo>
                    <a:pt x="2647810" y="716876"/>
                  </a:lnTo>
                  <a:lnTo>
                    <a:pt x="2664561" y="705446"/>
                  </a:lnTo>
                  <a:lnTo>
                    <a:pt x="2668701" y="705446"/>
                  </a:lnTo>
                  <a:lnTo>
                    <a:pt x="2671191" y="701636"/>
                  </a:lnTo>
                  <a:lnTo>
                    <a:pt x="2672016" y="700366"/>
                  </a:lnTo>
                  <a:lnTo>
                    <a:pt x="2672854" y="699096"/>
                  </a:lnTo>
                  <a:lnTo>
                    <a:pt x="2676995" y="700366"/>
                  </a:lnTo>
                  <a:lnTo>
                    <a:pt x="2677363" y="699096"/>
                  </a:lnTo>
                  <a:lnTo>
                    <a:pt x="2691815" y="678776"/>
                  </a:lnTo>
                  <a:lnTo>
                    <a:pt x="2694178" y="674966"/>
                  </a:lnTo>
                  <a:lnTo>
                    <a:pt x="2694775" y="674966"/>
                  </a:lnTo>
                  <a:lnTo>
                    <a:pt x="2695371" y="676236"/>
                  </a:lnTo>
                  <a:lnTo>
                    <a:pt x="2695371" y="674966"/>
                  </a:lnTo>
                  <a:lnTo>
                    <a:pt x="2695371" y="669886"/>
                  </a:lnTo>
                  <a:lnTo>
                    <a:pt x="2704249" y="668616"/>
                  </a:lnTo>
                  <a:lnTo>
                    <a:pt x="2709583" y="667346"/>
                  </a:lnTo>
                  <a:lnTo>
                    <a:pt x="2726944" y="652106"/>
                  </a:lnTo>
                  <a:lnTo>
                    <a:pt x="2740825" y="636866"/>
                  </a:lnTo>
                  <a:lnTo>
                    <a:pt x="2743136" y="634326"/>
                  </a:lnTo>
                  <a:lnTo>
                    <a:pt x="2747441" y="630516"/>
                  </a:lnTo>
                  <a:lnTo>
                    <a:pt x="2756027" y="622896"/>
                  </a:lnTo>
                  <a:lnTo>
                    <a:pt x="2757462" y="621626"/>
                  </a:lnTo>
                  <a:lnTo>
                    <a:pt x="2760332" y="619086"/>
                  </a:lnTo>
                  <a:lnTo>
                    <a:pt x="2776613" y="608926"/>
                  </a:lnTo>
                  <a:lnTo>
                    <a:pt x="2778658" y="607656"/>
                  </a:lnTo>
                  <a:lnTo>
                    <a:pt x="2780690" y="606386"/>
                  </a:lnTo>
                  <a:lnTo>
                    <a:pt x="2789580" y="606386"/>
                  </a:lnTo>
                  <a:lnTo>
                    <a:pt x="2795498" y="600036"/>
                  </a:lnTo>
                  <a:lnTo>
                    <a:pt x="2799499" y="596226"/>
                  </a:lnTo>
                  <a:lnTo>
                    <a:pt x="2800832" y="594956"/>
                  </a:lnTo>
                  <a:lnTo>
                    <a:pt x="2802026" y="593686"/>
                  </a:lnTo>
                  <a:lnTo>
                    <a:pt x="2803207" y="592416"/>
                  </a:lnTo>
                  <a:lnTo>
                    <a:pt x="2812681" y="582256"/>
                  </a:lnTo>
                  <a:lnTo>
                    <a:pt x="2822168" y="580986"/>
                  </a:lnTo>
                  <a:lnTo>
                    <a:pt x="2825940" y="577176"/>
                  </a:lnTo>
                  <a:lnTo>
                    <a:pt x="2827197" y="575906"/>
                  </a:lnTo>
                  <a:lnTo>
                    <a:pt x="2836608" y="568286"/>
                  </a:lnTo>
                  <a:lnTo>
                    <a:pt x="2845917" y="558126"/>
                  </a:lnTo>
                  <a:lnTo>
                    <a:pt x="2850604" y="553046"/>
                  </a:lnTo>
                  <a:lnTo>
                    <a:pt x="2843492" y="549236"/>
                  </a:lnTo>
                  <a:lnTo>
                    <a:pt x="2846146" y="546696"/>
                  </a:lnTo>
                  <a:lnTo>
                    <a:pt x="2850121" y="542886"/>
                  </a:lnTo>
                  <a:lnTo>
                    <a:pt x="2856458" y="540346"/>
                  </a:lnTo>
                  <a:lnTo>
                    <a:pt x="2862249" y="536536"/>
                  </a:lnTo>
                  <a:lnTo>
                    <a:pt x="2864231" y="533996"/>
                  </a:lnTo>
                  <a:lnTo>
                    <a:pt x="2866212" y="531456"/>
                  </a:lnTo>
                  <a:lnTo>
                    <a:pt x="2867202" y="530186"/>
                  </a:lnTo>
                  <a:lnTo>
                    <a:pt x="2867787" y="532726"/>
                  </a:lnTo>
                  <a:lnTo>
                    <a:pt x="2868257" y="530186"/>
                  </a:lnTo>
                  <a:lnTo>
                    <a:pt x="2868472" y="528916"/>
                  </a:lnTo>
                  <a:lnTo>
                    <a:pt x="2868688" y="527646"/>
                  </a:lnTo>
                  <a:lnTo>
                    <a:pt x="2868904" y="526376"/>
                  </a:lnTo>
                  <a:lnTo>
                    <a:pt x="2873870" y="523836"/>
                  </a:lnTo>
                  <a:lnTo>
                    <a:pt x="2887345" y="526376"/>
                  </a:lnTo>
                  <a:lnTo>
                    <a:pt x="2888526" y="526376"/>
                  </a:lnTo>
                  <a:lnTo>
                    <a:pt x="2887345" y="525106"/>
                  </a:lnTo>
                  <a:lnTo>
                    <a:pt x="2884970" y="523836"/>
                  </a:lnTo>
                  <a:lnTo>
                    <a:pt x="2885567" y="521296"/>
                  </a:lnTo>
                  <a:lnTo>
                    <a:pt x="2884970" y="518756"/>
                  </a:lnTo>
                  <a:lnTo>
                    <a:pt x="2886748" y="516216"/>
                  </a:lnTo>
                  <a:lnTo>
                    <a:pt x="2889123" y="518756"/>
                  </a:lnTo>
                  <a:lnTo>
                    <a:pt x="2893263" y="514946"/>
                  </a:lnTo>
                  <a:lnTo>
                    <a:pt x="2897416" y="517486"/>
                  </a:lnTo>
                  <a:lnTo>
                    <a:pt x="2897416" y="514946"/>
                  </a:lnTo>
                  <a:lnTo>
                    <a:pt x="2891485" y="507326"/>
                  </a:lnTo>
                  <a:lnTo>
                    <a:pt x="2898597" y="508596"/>
                  </a:lnTo>
                  <a:lnTo>
                    <a:pt x="2897263" y="507326"/>
                  </a:lnTo>
                  <a:lnTo>
                    <a:pt x="2893263" y="503516"/>
                  </a:lnTo>
                  <a:lnTo>
                    <a:pt x="2897911" y="503516"/>
                  </a:lnTo>
                  <a:lnTo>
                    <a:pt x="2896819" y="504609"/>
                  </a:lnTo>
                  <a:lnTo>
                    <a:pt x="2897416" y="504609"/>
                  </a:lnTo>
                  <a:lnTo>
                    <a:pt x="2899194" y="505206"/>
                  </a:lnTo>
                  <a:lnTo>
                    <a:pt x="2899791" y="505790"/>
                  </a:lnTo>
                  <a:lnTo>
                    <a:pt x="2900972" y="505206"/>
                  </a:lnTo>
                  <a:lnTo>
                    <a:pt x="2899791" y="504609"/>
                  </a:lnTo>
                  <a:lnTo>
                    <a:pt x="2898140" y="503516"/>
                  </a:lnTo>
                  <a:lnTo>
                    <a:pt x="2898597" y="503516"/>
                  </a:lnTo>
                  <a:lnTo>
                    <a:pt x="2896235" y="502246"/>
                  </a:lnTo>
                  <a:lnTo>
                    <a:pt x="2896819" y="502246"/>
                  </a:lnTo>
                  <a:lnTo>
                    <a:pt x="2899194" y="503516"/>
                  </a:lnTo>
                  <a:lnTo>
                    <a:pt x="2900972" y="500976"/>
                  </a:lnTo>
                  <a:lnTo>
                    <a:pt x="2905125" y="497166"/>
                  </a:lnTo>
                  <a:close/>
                </a:path>
              </a:pathLst>
            </a:custGeom>
            <a:solidFill>
              <a:srgbClr val="000000"/>
            </a:solidFill>
          </p:spPr>
          <p:txBody>
            <a:bodyPr wrap="square" lIns="0" tIns="0" rIns="0" bIns="0" rtlCol="0"/>
            <a:lstStyle/>
            <a:p>
              <a:endParaRPr/>
            </a:p>
          </p:txBody>
        </p:sp>
        <p:pic>
          <p:nvPicPr>
            <p:cNvPr id="6" name="object 6"/>
            <p:cNvPicPr/>
            <p:nvPr/>
          </p:nvPicPr>
          <p:blipFill>
            <a:blip r:embed="rId3" cstate="print"/>
            <a:stretch>
              <a:fillRect/>
            </a:stretch>
          </p:blipFill>
          <p:spPr>
            <a:xfrm>
              <a:off x="628444" y="1640852"/>
              <a:ext cx="3419474" cy="2876549"/>
            </a:xfrm>
            <a:prstGeom prst="rect">
              <a:avLst/>
            </a:prstGeom>
          </p:spPr>
        </p:pic>
        <p:sp>
          <p:nvSpPr>
            <p:cNvPr id="7" name="object 7"/>
            <p:cNvSpPr/>
            <p:nvPr/>
          </p:nvSpPr>
          <p:spPr>
            <a:xfrm>
              <a:off x="3439185" y="2859074"/>
              <a:ext cx="2276475" cy="684530"/>
            </a:xfrm>
            <a:custGeom>
              <a:avLst/>
              <a:gdLst/>
              <a:ahLst/>
              <a:cxnLst/>
              <a:rect l="l" t="t" r="r" b="b"/>
              <a:pathLst>
                <a:path w="2276475" h="684529">
                  <a:moveTo>
                    <a:pt x="13462" y="278320"/>
                  </a:moveTo>
                  <a:lnTo>
                    <a:pt x="12534" y="276923"/>
                  </a:lnTo>
                  <a:lnTo>
                    <a:pt x="12534" y="277393"/>
                  </a:lnTo>
                  <a:lnTo>
                    <a:pt x="13462" y="278320"/>
                  </a:lnTo>
                  <a:close/>
                </a:path>
                <a:path w="2276475" h="684529">
                  <a:moveTo>
                    <a:pt x="13931" y="274320"/>
                  </a:moveTo>
                  <a:lnTo>
                    <a:pt x="13309" y="273469"/>
                  </a:lnTo>
                  <a:lnTo>
                    <a:pt x="12077" y="273050"/>
                  </a:lnTo>
                  <a:lnTo>
                    <a:pt x="13931" y="274320"/>
                  </a:lnTo>
                  <a:close/>
                </a:path>
                <a:path w="2276475" h="684529">
                  <a:moveTo>
                    <a:pt x="21818" y="309295"/>
                  </a:moveTo>
                  <a:lnTo>
                    <a:pt x="21361" y="308838"/>
                  </a:lnTo>
                  <a:lnTo>
                    <a:pt x="21818" y="310222"/>
                  </a:lnTo>
                  <a:lnTo>
                    <a:pt x="21818" y="309295"/>
                  </a:lnTo>
                  <a:close/>
                </a:path>
                <a:path w="2276475" h="684529">
                  <a:moveTo>
                    <a:pt x="25539" y="309765"/>
                  </a:moveTo>
                  <a:lnTo>
                    <a:pt x="25298" y="309537"/>
                  </a:lnTo>
                  <a:lnTo>
                    <a:pt x="25539" y="310222"/>
                  </a:lnTo>
                  <a:lnTo>
                    <a:pt x="25539" y="309765"/>
                  </a:lnTo>
                  <a:close/>
                </a:path>
                <a:path w="2276475" h="684529">
                  <a:moveTo>
                    <a:pt x="62217" y="312077"/>
                  </a:moveTo>
                  <a:lnTo>
                    <a:pt x="61290" y="311150"/>
                  </a:lnTo>
                  <a:lnTo>
                    <a:pt x="60363" y="312077"/>
                  </a:lnTo>
                  <a:lnTo>
                    <a:pt x="60363" y="312534"/>
                  </a:lnTo>
                  <a:lnTo>
                    <a:pt x="62217" y="312077"/>
                  </a:lnTo>
                  <a:close/>
                </a:path>
                <a:path w="2276475" h="684529">
                  <a:moveTo>
                    <a:pt x="137896" y="274612"/>
                  </a:moveTo>
                  <a:lnTo>
                    <a:pt x="136969" y="273227"/>
                  </a:lnTo>
                  <a:lnTo>
                    <a:pt x="136969" y="273685"/>
                  </a:lnTo>
                  <a:lnTo>
                    <a:pt x="137896" y="274612"/>
                  </a:lnTo>
                  <a:close/>
                </a:path>
                <a:path w="2276475" h="684529">
                  <a:moveTo>
                    <a:pt x="156933" y="262597"/>
                  </a:moveTo>
                  <a:lnTo>
                    <a:pt x="156476" y="261670"/>
                  </a:lnTo>
                  <a:lnTo>
                    <a:pt x="156476" y="262128"/>
                  </a:lnTo>
                  <a:lnTo>
                    <a:pt x="156933" y="262597"/>
                  </a:lnTo>
                  <a:close/>
                </a:path>
                <a:path w="2276475" h="684529">
                  <a:moveTo>
                    <a:pt x="174574" y="255270"/>
                  </a:moveTo>
                  <a:lnTo>
                    <a:pt x="172961" y="250825"/>
                  </a:lnTo>
                  <a:lnTo>
                    <a:pt x="172847" y="251714"/>
                  </a:lnTo>
                  <a:lnTo>
                    <a:pt x="174574" y="255270"/>
                  </a:lnTo>
                  <a:close/>
                </a:path>
                <a:path w="2276475" h="684529">
                  <a:moveTo>
                    <a:pt x="180619" y="253339"/>
                  </a:moveTo>
                  <a:lnTo>
                    <a:pt x="180149" y="252882"/>
                  </a:lnTo>
                  <a:lnTo>
                    <a:pt x="180619" y="253809"/>
                  </a:lnTo>
                  <a:lnTo>
                    <a:pt x="180619" y="253339"/>
                  </a:lnTo>
                  <a:close/>
                </a:path>
                <a:path w="2276475" h="684529">
                  <a:moveTo>
                    <a:pt x="202438" y="349072"/>
                  </a:moveTo>
                  <a:lnTo>
                    <a:pt x="195478" y="345833"/>
                  </a:lnTo>
                  <a:lnTo>
                    <a:pt x="194551" y="345833"/>
                  </a:lnTo>
                  <a:lnTo>
                    <a:pt x="202438" y="349072"/>
                  </a:lnTo>
                  <a:close/>
                </a:path>
                <a:path w="2276475" h="684529">
                  <a:moveTo>
                    <a:pt x="255828" y="357949"/>
                  </a:moveTo>
                  <a:lnTo>
                    <a:pt x="255270" y="357695"/>
                  </a:lnTo>
                  <a:lnTo>
                    <a:pt x="255371" y="357949"/>
                  </a:lnTo>
                  <a:lnTo>
                    <a:pt x="255828" y="357949"/>
                  </a:lnTo>
                  <a:close/>
                </a:path>
                <a:path w="2276475" h="684529">
                  <a:moveTo>
                    <a:pt x="286473" y="142354"/>
                  </a:moveTo>
                  <a:lnTo>
                    <a:pt x="286016" y="141897"/>
                  </a:lnTo>
                  <a:lnTo>
                    <a:pt x="286016" y="142354"/>
                  </a:lnTo>
                  <a:lnTo>
                    <a:pt x="286473" y="142354"/>
                  </a:lnTo>
                  <a:close/>
                </a:path>
                <a:path w="2276475" h="684529">
                  <a:moveTo>
                    <a:pt x="297154" y="584911"/>
                  </a:moveTo>
                  <a:lnTo>
                    <a:pt x="296697" y="584454"/>
                  </a:lnTo>
                  <a:lnTo>
                    <a:pt x="295300" y="585381"/>
                  </a:lnTo>
                  <a:lnTo>
                    <a:pt x="296227" y="585838"/>
                  </a:lnTo>
                  <a:lnTo>
                    <a:pt x="297154" y="584911"/>
                  </a:lnTo>
                  <a:close/>
                </a:path>
                <a:path w="2276475" h="684529">
                  <a:moveTo>
                    <a:pt x="312940" y="106743"/>
                  </a:moveTo>
                  <a:lnTo>
                    <a:pt x="312483" y="107213"/>
                  </a:lnTo>
                  <a:lnTo>
                    <a:pt x="312940" y="107213"/>
                  </a:lnTo>
                  <a:lnTo>
                    <a:pt x="312940" y="106743"/>
                  </a:lnTo>
                  <a:close/>
                </a:path>
                <a:path w="2276475" h="684529">
                  <a:moveTo>
                    <a:pt x="312940" y="105829"/>
                  </a:moveTo>
                  <a:lnTo>
                    <a:pt x="311086" y="105829"/>
                  </a:lnTo>
                  <a:lnTo>
                    <a:pt x="311086" y="106743"/>
                  </a:lnTo>
                  <a:lnTo>
                    <a:pt x="312013" y="107670"/>
                  </a:lnTo>
                  <a:lnTo>
                    <a:pt x="312940" y="106743"/>
                  </a:lnTo>
                  <a:lnTo>
                    <a:pt x="312940" y="105829"/>
                  </a:lnTo>
                  <a:close/>
                </a:path>
                <a:path w="2276475" h="684529">
                  <a:moveTo>
                    <a:pt x="322224" y="368109"/>
                  </a:moveTo>
                  <a:lnTo>
                    <a:pt x="321030" y="367639"/>
                  </a:lnTo>
                  <a:lnTo>
                    <a:pt x="314794" y="370649"/>
                  </a:lnTo>
                  <a:lnTo>
                    <a:pt x="322224" y="368109"/>
                  </a:lnTo>
                  <a:close/>
                </a:path>
                <a:path w="2276475" h="684529">
                  <a:moveTo>
                    <a:pt x="338480" y="647801"/>
                  </a:moveTo>
                  <a:lnTo>
                    <a:pt x="336156" y="643648"/>
                  </a:lnTo>
                  <a:lnTo>
                    <a:pt x="334302" y="640410"/>
                  </a:lnTo>
                  <a:lnTo>
                    <a:pt x="335229" y="645960"/>
                  </a:lnTo>
                  <a:lnTo>
                    <a:pt x="336156" y="648728"/>
                  </a:lnTo>
                  <a:lnTo>
                    <a:pt x="338010" y="652894"/>
                  </a:lnTo>
                  <a:lnTo>
                    <a:pt x="338480" y="651040"/>
                  </a:lnTo>
                  <a:lnTo>
                    <a:pt x="338480" y="647801"/>
                  </a:lnTo>
                  <a:close/>
                </a:path>
                <a:path w="2276475" h="684529">
                  <a:moveTo>
                    <a:pt x="342658" y="63500"/>
                  </a:moveTo>
                  <a:lnTo>
                    <a:pt x="341858" y="63157"/>
                  </a:lnTo>
                  <a:lnTo>
                    <a:pt x="341731" y="63500"/>
                  </a:lnTo>
                  <a:lnTo>
                    <a:pt x="342658" y="63500"/>
                  </a:lnTo>
                  <a:close/>
                </a:path>
                <a:path w="2276475" h="684529">
                  <a:moveTo>
                    <a:pt x="347116" y="602805"/>
                  </a:moveTo>
                  <a:lnTo>
                    <a:pt x="346837" y="601789"/>
                  </a:lnTo>
                  <a:lnTo>
                    <a:pt x="346367" y="601789"/>
                  </a:lnTo>
                  <a:lnTo>
                    <a:pt x="347116" y="602805"/>
                  </a:lnTo>
                  <a:close/>
                </a:path>
                <a:path w="2276475" h="684529">
                  <a:moveTo>
                    <a:pt x="354266" y="52184"/>
                  </a:moveTo>
                  <a:lnTo>
                    <a:pt x="353796" y="51257"/>
                  </a:lnTo>
                  <a:lnTo>
                    <a:pt x="352869" y="50800"/>
                  </a:lnTo>
                  <a:lnTo>
                    <a:pt x="352412" y="50800"/>
                  </a:lnTo>
                  <a:lnTo>
                    <a:pt x="354266" y="52184"/>
                  </a:lnTo>
                  <a:close/>
                </a:path>
                <a:path w="2276475" h="684529">
                  <a:moveTo>
                    <a:pt x="999185" y="399008"/>
                  </a:moveTo>
                  <a:lnTo>
                    <a:pt x="997788" y="399008"/>
                  </a:lnTo>
                  <a:lnTo>
                    <a:pt x="996861" y="399478"/>
                  </a:lnTo>
                  <a:lnTo>
                    <a:pt x="998715" y="399478"/>
                  </a:lnTo>
                  <a:lnTo>
                    <a:pt x="999185" y="399008"/>
                  </a:lnTo>
                  <a:close/>
                </a:path>
                <a:path w="2276475" h="684529">
                  <a:moveTo>
                    <a:pt x="1581416" y="417639"/>
                  </a:moveTo>
                  <a:lnTo>
                    <a:pt x="1579892" y="417499"/>
                  </a:lnTo>
                  <a:lnTo>
                    <a:pt x="1577708" y="417639"/>
                  </a:lnTo>
                  <a:lnTo>
                    <a:pt x="1581416" y="417639"/>
                  </a:lnTo>
                  <a:close/>
                </a:path>
                <a:path w="2276475" h="684529">
                  <a:moveTo>
                    <a:pt x="1774101" y="415658"/>
                  </a:moveTo>
                  <a:lnTo>
                    <a:pt x="1772704" y="414731"/>
                  </a:lnTo>
                  <a:lnTo>
                    <a:pt x="1771319" y="414731"/>
                  </a:lnTo>
                  <a:lnTo>
                    <a:pt x="1774101" y="415658"/>
                  </a:lnTo>
                  <a:close/>
                </a:path>
                <a:path w="2276475" h="684529">
                  <a:moveTo>
                    <a:pt x="2234463" y="390334"/>
                  </a:moveTo>
                  <a:lnTo>
                    <a:pt x="2233765" y="390969"/>
                  </a:lnTo>
                  <a:lnTo>
                    <a:pt x="2234222" y="390969"/>
                  </a:lnTo>
                  <a:lnTo>
                    <a:pt x="2234463" y="390334"/>
                  </a:lnTo>
                  <a:close/>
                </a:path>
                <a:path w="2276475" h="684529">
                  <a:moveTo>
                    <a:pt x="2276475" y="350329"/>
                  </a:moveTo>
                  <a:lnTo>
                    <a:pt x="2264410" y="342709"/>
                  </a:lnTo>
                  <a:lnTo>
                    <a:pt x="2258834" y="338899"/>
                  </a:lnTo>
                  <a:lnTo>
                    <a:pt x="2253259" y="333819"/>
                  </a:lnTo>
                  <a:lnTo>
                    <a:pt x="2230513" y="333819"/>
                  </a:lnTo>
                  <a:lnTo>
                    <a:pt x="2219363" y="332549"/>
                  </a:lnTo>
                  <a:lnTo>
                    <a:pt x="2215184" y="331279"/>
                  </a:lnTo>
                  <a:lnTo>
                    <a:pt x="2206828" y="331279"/>
                  </a:lnTo>
                  <a:lnTo>
                    <a:pt x="2203577" y="332549"/>
                  </a:lnTo>
                  <a:lnTo>
                    <a:pt x="2196617" y="333819"/>
                  </a:lnTo>
                  <a:lnTo>
                    <a:pt x="2191512" y="336359"/>
                  </a:lnTo>
                  <a:lnTo>
                    <a:pt x="2183282" y="337629"/>
                  </a:lnTo>
                  <a:lnTo>
                    <a:pt x="2174100" y="340169"/>
                  </a:lnTo>
                  <a:lnTo>
                    <a:pt x="2164219" y="342709"/>
                  </a:lnTo>
                  <a:lnTo>
                    <a:pt x="2153907" y="343979"/>
                  </a:lnTo>
                  <a:lnTo>
                    <a:pt x="2146935" y="345249"/>
                  </a:lnTo>
                  <a:lnTo>
                    <a:pt x="2139505" y="346519"/>
                  </a:lnTo>
                  <a:lnTo>
                    <a:pt x="2133003" y="347789"/>
                  </a:lnTo>
                  <a:lnTo>
                    <a:pt x="2126043" y="347789"/>
                  </a:lnTo>
                  <a:lnTo>
                    <a:pt x="2120011" y="349059"/>
                  </a:lnTo>
                  <a:lnTo>
                    <a:pt x="2103297" y="350329"/>
                  </a:lnTo>
                  <a:lnTo>
                    <a:pt x="2095868" y="351599"/>
                  </a:lnTo>
                  <a:lnTo>
                    <a:pt x="2089823" y="351599"/>
                  </a:lnTo>
                  <a:lnTo>
                    <a:pt x="2081009" y="350329"/>
                  </a:lnTo>
                  <a:lnTo>
                    <a:pt x="2073833" y="350329"/>
                  </a:lnTo>
                  <a:lnTo>
                    <a:pt x="2065743" y="349059"/>
                  </a:lnTo>
                  <a:lnTo>
                    <a:pt x="1999284" y="345249"/>
                  </a:lnTo>
                  <a:lnTo>
                    <a:pt x="1797138" y="345249"/>
                  </a:lnTo>
                  <a:lnTo>
                    <a:pt x="1769999" y="346519"/>
                  </a:lnTo>
                  <a:lnTo>
                    <a:pt x="1759712" y="346519"/>
                  </a:lnTo>
                  <a:lnTo>
                    <a:pt x="1742528" y="351599"/>
                  </a:lnTo>
                  <a:lnTo>
                    <a:pt x="1705190" y="346519"/>
                  </a:lnTo>
                  <a:lnTo>
                    <a:pt x="1624088" y="346519"/>
                  </a:lnTo>
                  <a:lnTo>
                    <a:pt x="1584667" y="343979"/>
                  </a:lnTo>
                  <a:lnTo>
                    <a:pt x="1583740" y="347789"/>
                  </a:lnTo>
                  <a:lnTo>
                    <a:pt x="1569339" y="347789"/>
                  </a:lnTo>
                  <a:lnTo>
                    <a:pt x="1570278" y="345249"/>
                  </a:lnTo>
                  <a:lnTo>
                    <a:pt x="1567027" y="345249"/>
                  </a:lnTo>
                  <a:lnTo>
                    <a:pt x="1517078" y="343979"/>
                  </a:lnTo>
                  <a:lnTo>
                    <a:pt x="1367434" y="343979"/>
                  </a:lnTo>
                  <a:lnTo>
                    <a:pt x="1223467" y="340169"/>
                  </a:lnTo>
                  <a:lnTo>
                    <a:pt x="1177937" y="336359"/>
                  </a:lnTo>
                  <a:lnTo>
                    <a:pt x="1165644" y="335089"/>
                  </a:lnTo>
                  <a:lnTo>
                    <a:pt x="1133411" y="332549"/>
                  </a:lnTo>
                  <a:lnTo>
                    <a:pt x="1122680" y="331279"/>
                  </a:lnTo>
                  <a:lnTo>
                    <a:pt x="1063256" y="333819"/>
                  </a:lnTo>
                  <a:lnTo>
                    <a:pt x="1003820" y="331279"/>
                  </a:lnTo>
                  <a:lnTo>
                    <a:pt x="986180" y="331279"/>
                  </a:lnTo>
                  <a:lnTo>
                    <a:pt x="986650" y="330009"/>
                  </a:lnTo>
                  <a:lnTo>
                    <a:pt x="969162" y="331279"/>
                  </a:lnTo>
                  <a:lnTo>
                    <a:pt x="949147" y="330009"/>
                  </a:lnTo>
                  <a:lnTo>
                    <a:pt x="928268" y="327469"/>
                  </a:lnTo>
                  <a:lnTo>
                    <a:pt x="908177" y="326199"/>
                  </a:lnTo>
                  <a:lnTo>
                    <a:pt x="909574" y="324929"/>
                  </a:lnTo>
                  <a:lnTo>
                    <a:pt x="854798" y="323659"/>
                  </a:lnTo>
                  <a:lnTo>
                    <a:pt x="800722" y="321119"/>
                  </a:lnTo>
                  <a:lnTo>
                    <a:pt x="640600" y="317309"/>
                  </a:lnTo>
                  <a:lnTo>
                    <a:pt x="587222" y="314769"/>
                  </a:lnTo>
                  <a:lnTo>
                    <a:pt x="479158" y="307149"/>
                  </a:lnTo>
                  <a:lnTo>
                    <a:pt x="453237" y="303339"/>
                  </a:lnTo>
                  <a:lnTo>
                    <a:pt x="426402" y="300799"/>
                  </a:lnTo>
                  <a:lnTo>
                    <a:pt x="370509" y="298259"/>
                  </a:lnTo>
                  <a:lnTo>
                    <a:pt x="356171" y="298259"/>
                  </a:lnTo>
                  <a:lnTo>
                    <a:pt x="341731" y="296989"/>
                  </a:lnTo>
                  <a:lnTo>
                    <a:pt x="327291" y="296989"/>
                  </a:lnTo>
                  <a:lnTo>
                    <a:pt x="312940" y="295719"/>
                  </a:lnTo>
                  <a:lnTo>
                    <a:pt x="305625" y="295719"/>
                  </a:lnTo>
                  <a:lnTo>
                    <a:pt x="298323" y="294449"/>
                  </a:lnTo>
                  <a:lnTo>
                    <a:pt x="291007" y="294449"/>
                  </a:lnTo>
                  <a:lnTo>
                    <a:pt x="270751" y="292087"/>
                  </a:lnTo>
                  <a:lnTo>
                    <a:pt x="270751" y="355079"/>
                  </a:lnTo>
                  <a:lnTo>
                    <a:pt x="260388" y="355079"/>
                  </a:lnTo>
                  <a:lnTo>
                    <a:pt x="262801" y="354139"/>
                  </a:lnTo>
                  <a:lnTo>
                    <a:pt x="266979" y="354139"/>
                  </a:lnTo>
                  <a:lnTo>
                    <a:pt x="270751" y="355079"/>
                  </a:lnTo>
                  <a:lnTo>
                    <a:pt x="270751" y="292087"/>
                  </a:lnTo>
                  <a:lnTo>
                    <a:pt x="269303" y="291909"/>
                  </a:lnTo>
                  <a:lnTo>
                    <a:pt x="261874" y="291909"/>
                  </a:lnTo>
                  <a:lnTo>
                    <a:pt x="248399" y="290639"/>
                  </a:lnTo>
                  <a:lnTo>
                    <a:pt x="238252" y="288099"/>
                  </a:lnTo>
                  <a:lnTo>
                    <a:pt x="220484" y="286829"/>
                  </a:lnTo>
                  <a:lnTo>
                    <a:pt x="196367" y="284289"/>
                  </a:lnTo>
                  <a:lnTo>
                    <a:pt x="167157" y="283019"/>
                  </a:lnTo>
                  <a:lnTo>
                    <a:pt x="121081" y="279565"/>
                  </a:lnTo>
                  <a:lnTo>
                    <a:pt x="125361" y="276860"/>
                  </a:lnTo>
                  <a:lnTo>
                    <a:pt x="124904" y="275590"/>
                  </a:lnTo>
                  <a:lnTo>
                    <a:pt x="133718" y="274320"/>
                  </a:lnTo>
                  <a:lnTo>
                    <a:pt x="131864" y="274320"/>
                  </a:lnTo>
                  <a:lnTo>
                    <a:pt x="132334" y="271780"/>
                  </a:lnTo>
                  <a:lnTo>
                    <a:pt x="133261" y="270510"/>
                  </a:lnTo>
                  <a:lnTo>
                    <a:pt x="135115" y="273050"/>
                  </a:lnTo>
                  <a:lnTo>
                    <a:pt x="139293" y="270510"/>
                  </a:lnTo>
                  <a:lnTo>
                    <a:pt x="144399" y="269240"/>
                  </a:lnTo>
                  <a:lnTo>
                    <a:pt x="149974" y="270510"/>
                  </a:lnTo>
                  <a:lnTo>
                    <a:pt x="147650" y="266700"/>
                  </a:lnTo>
                  <a:lnTo>
                    <a:pt x="148577" y="266700"/>
                  </a:lnTo>
                  <a:lnTo>
                    <a:pt x="153682" y="270510"/>
                  </a:lnTo>
                  <a:lnTo>
                    <a:pt x="150431" y="265430"/>
                  </a:lnTo>
                  <a:lnTo>
                    <a:pt x="150901" y="262890"/>
                  </a:lnTo>
                  <a:lnTo>
                    <a:pt x="152298" y="262890"/>
                  </a:lnTo>
                  <a:lnTo>
                    <a:pt x="151371" y="259080"/>
                  </a:lnTo>
                  <a:lnTo>
                    <a:pt x="154152" y="260350"/>
                  </a:lnTo>
                  <a:lnTo>
                    <a:pt x="157861" y="259080"/>
                  </a:lnTo>
                  <a:lnTo>
                    <a:pt x="151828" y="256540"/>
                  </a:lnTo>
                  <a:lnTo>
                    <a:pt x="156006" y="256540"/>
                  </a:lnTo>
                  <a:lnTo>
                    <a:pt x="158788" y="259080"/>
                  </a:lnTo>
                  <a:lnTo>
                    <a:pt x="153682" y="251460"/>
                  </a:lnTo>
                  <a:lnTo>
                    <a:pt x="155549" y="251460"/>
                  </a:lnTo>
                  <a:lnTo>
                    <a:pt x="160655" y="255270"/>
                  </a:lnTo>
                  <a:lnTo>
                    <a:pt x="165290" y="255270"/>
                  </a:lnTo>
                  <a:lnTo>
                    <a:pt x="162039" y="250190"/>
                  </a:lnTo>
                  <a:lnTo>
                    <a:pt x="165290" y="247650"/>
                  </a:lnTo>
                  <a:lnTo>
                    <a:pt x="168541" y="247650"/>
                  </a:lnTo>
                  <a:lnTo>
                    <a:pt x="169938" y="248920"/>
                  </a:lnTo>
                  <a:lnTo>
                    <a:pt x="171335" y="250190"/>
                  </a:lnTo>
                  <a:lnTo>
                    <a:pt x="172720" y="251460"/>
                  </a:lnTo>
                  <a:lnTo>
                    <a:pt x="172720" y="250190"/>
                  </a:lnTo>
                  <a:lnTo>
                    <a:pt x="172961" y="250825"/>
                  </a:lnTo>
                  <a:lnTo>
                    <a:pt x="173037" y="250190"/>
                  </a:lnTo>
                  <a:lnTo>
                    <a:pt x="173189" y="248920"/>
                  </a:lnTo>
                  <a:lnTo>
                    <a:pt x="175044" y="250190"/>
                  </a:lnTo>
                  <a:lnTo>
                    <a:pt x="175971" y="252730"/>
                  </a:lnTo>
                  <a:lnTo>
                    <a:pt x="179692" y="252730"/>
                  </a:lnTo>
                  <a:lnTo>
                    <a:pt x="175971" y="250190"/>
                  </a:lnTo>
                  <a:lnTo>
                    <a:pt x="177368" y="248920"/>
                  </a:lnTo>
                  <a:lnTo>
                    <a:pt x="175044" y="245110"/>
                  </a:lnTo>
                  <a:lnTo>
                    <a:pt x="170865" y="238760"/>
                  </a:lnTo>
                  <a:lnTo>
                    <a:pt x="169938" y="238760"/>
                  </a:lnTo>
                  <a:lnTo>
                    <a:pt x="169938" y="234950"/>
                  </a:lnTo>
                  <a:lnTo>
                    <a:pt x="170865" y="233680"/>
                  </a:lnTo>
                  <a:lnTo>
                    <a:pt x="173647" y="233680"/>
                  </a:lnTo>
                  <a:lnTo>
                    <a:pt x="175044" y="234950"/>
                  </a:lnTo>
                  <a:lnTo>
                    <a:pt x="175971" y="233680"/>
                  </a:lnTo>
                  <a:lnTo>
                    <a:pt x="177825" y="234950"/>
                  </a:lnTo>
                  <a:lnTo>
                    <a:pt x="179692" y="232410"/>
                  </a:lnTo>
                  <a:lnTo>
                    <a:pt x="178752" y="232410"/>
                  </a:lnTo>
                  <a:lnTo>
                    <a:pt x="179222" y="231140"/>
                  </a:lnTo>
                  <a:lnTo>
                    <a:pt x="180619" y="228600"/>
                  </a:lnTo>
                  <a:lnTo>
                    <a:pt x="182473" y="228600"/>
                  </a:lnTo>
                  <a:lnTo>
                    <a:pt x="183400" y="229870"/>
                  </a:lnTo>
                  <a:lnTo>
                    <a:pt x="189903" y="231140"/>
                  </a:lnTo>
                  <a:lnTo>
                    <a:pt x="188048" y="224790"/>
                  </a:lnTo>
                  <a:lnTo>
                    <a:pt x="191300" y="220980"/>
                  </a:lnTo>
                  <a:lnTo>
                    <a:pt x="193154" y="223520"/>
                  </a:lnTo>
                  <a:lnTo>
                    <a:pt x="196405" y="224790"/>
                  </a:lnTo>
                  <a:lnTo>
                    <a:pt x="190360" y="219710"/>
                  </a:lnTo>
                  <a:lnTo>
                    <a:pt x="192684" y="219710"/>
                  </a:lnTo>
                  <a:lnTo>
                    <a:pt x="195478" y="222250"/>
                  </a:lnTo>
                  <a:lnTo>
                    <a:pt x="193154" y="217170"/>
                  </a:lnTo>
                  <a:lnTo>
                    <a:pt x="197789" y="222250"/>
                  </a:lnTo>
                  <a:lnTo>
                    <a:pt x="200113" y="222250"/>
                  </a:lnTo>
                  <a:lnTo>
                    <a:pt x="196405" y="218440"/>
                  </a:lnTo>
                  <a:lnTo>
                    <a:pt x="201510" y="218440"/>
                  </a:lnTo>
                  <a:lnTo>
                    <a:pt x="202438" y="219710"/>
                  </a:lnTo>
                  <a:lnTo>
                    <a:pt x="204292" y="222250"/>
                  </a:lnTo>
                  <a:lnTo>
                    <a:pt x="205689" y="224790"/>
                  </a:lnTo>
                  <a:lnTo>
                    <a:pt x="204292" y="219710"/>
                  </a:lnTo>
                  <a:lnTo>
                    <a:pt x="207543" y="223520"/>
                  </a:lnTo>
                  <a:lnTo>
                    <a:pt x="204762" y="218440"/>
                  </a:lnTo>
                  <a:lnTo>
                    <a:pt x="205803" y="219710"/>
                  </a:lnTo>
                  <a:lnTo>
                    <a:pt x="208940" y="223520"/>
                  </a:lnTo>
                  <a:lnTo>
                    <a:pt x="208940" y="219710"/>
                  </a:lnTo>
                  <a:lnTo>
                    <a:pt x="210337" y="220980"/>
                  </a:lnTo>
                  <a:lnTo>
                    <a:pt x="210337" y="222250"/>
                  </a:lnTo>
                  <a:lnTo>
                    <a:pt x="211721" y="222250"/>
                  </a:lnTo>
                  <a:lnTo>
                    <a:pt x="209867" y="214630"/>
                  </a:lnTo>
                  <a:lnTo>
                    <a:pt x="210337" y="218440"/>
                  </a:lnTo>
                  <a:lnTo>
                    <a:pt x="206159" y="213360"/>
                  </a:lnTo>
                  <a:lnTo>
                    <a:pt x="204292" y="208280"/>
                  </a:lnTo>
                  <a:lnTo>
                    <a:pt x="205841" y="209550"/>
                  </a:lnTo>
                  <a:lnTo>
                    <a:pt x="208940" y="212090"/>
                  </a:lnTo>
                  <a:lnTo>
                    <a:pt x="208940" y="209550"/>
                  </a:lnTo>
                  <a:lnTo>
                    <a:pt x="209397" y="212090"/>
                  </a:lnTo>
                  <a:lnTo>
                    <a:pt x="210337" y="209550"/>
                  </a:lnTo>
                  <a:lnTo>
                    <a:pt x="212191" y="210820"/>
                  </a:lnTo>
                  <a:lnTo>
                    <a:pt x="213118" y="210820"/>
                  </a:lnTo>
                  <a:lnTo>
                    <a:pt x="211721" y="209550"/>
                  </a:lnTo>
                  <a:lnTo>
                    <a:pt x="211721" y="208280"/>
                  </a:lnTo>
                  <a:lnTo>
                    <a:pt x="212191" y="208280"/>
                  </a:lnTo>
                  <a:lnTo>
                    <a:pt x="213575" y="209550"/>
                  </a:lnTo>
                  <a:lnTo>
                    <a:pt x="214515" y="209550"/>
                  </a:lnTo>
                  <a:lnTo>
                    <a:pt x="211721" y="207010"/>
                  </a:lnTo>
                  <a:lnTo>
                    <a:pt x="211264" y="203200"/>
                  </a:lnTo>
                  <a:lnTo>
                    <a:pt x="214045" y="204470"/>
                  </a:lnTo>
                  <a:lnTo>
                    <a:pt x="214972" y="204470"/>
                  </a:lnTo>
                  <a:lnTo>
                    <a:pt x="214045" y="203200"/>
                  </a:lnTo>
                  <a:lnTo>
                    <a:pt x="215442" y="204470"/>
                  </a:lnTo>
                  <a:lnTo>
                    <a:pt x="218224" y="208280"/>
                  </a:lnTo>
                  <a:lnTo>
                    <a:pt x="215900" y="203200"/>
                  </a:lnTo>
                  <a:lnTo>
                    <a:pt x="217297" y="204470"/>
                  </a:lnTo>
                  <a:lnTo>
                    <a:pt x="215900" y="200660"/>
                  </a:lnTo>
                  <a:lnTo>
                    <a:pt x="218224" y="203200"/>
                  </a:lnTo>
                  <a:lnTo>
                    <a:pt x="218694" y="204470"/>
                  </a:lnTo>
                  <a:lnTo>
                    <a:pt x="224726" y="199390"/>
                  </a:lnTo>
                  <a:lnTo>
                    <a:pt x="227507" y="203200"/>
                  </a:lnTo>
                  <a:lnTo>
                    <a:pt x="224256" y="198120"/>
                  </a:lnTo>
                  <a:lnTo>
                    <a:pt x="231686" y="200660"/>
                  </a:lnTo>
                  <a:lnTo>
                    <a:pt x="227050" y="196850"/>
                  </a:lnTo>
                  <a:lnTo>
                    <a:pt x="230759" y="198120"/>
                  </a:lnTo>
                  <a:lnTo>
                    <a:pt x="229362" y="190500"/>
                  </a:lnTo>
                  <a:lnTo>
                    <a:pt x="234010" y="196850"/>
                  </a:lnTo>
                  <a:lnTo>
                    <a:pt x="237731" y="194310"/>
                  </a:lnTo>
                  <a:lnTo>
                    <a:pt x="234937" y="187960"/>
                  </a:lnTo>
                  <a:lnTo>
                    <a:pt x="241439" y="185420"/>
                  </a:lnTo>
                  <a:lnTo>
                    <a:pt x="247472" y="189230"/>
                  </a:lnTo>
                  <a:lnTo>
                    <a:pt x="250266" y="184150"/>
                  </a:lnTo>
                  <a:lnTo>
                    <a:pt x="253047" y="181610"/>
                  </a:lnTo>
                  <a:lnTo>
                    <a:pt x="256298" y="175260"/>
                  </a:lnTo>
                  <a:lnTo>
                    <a:pt x="258152" y="170180"/>
                  </a:lnTo>
                  <a:lnTo>
                    <a:pt x="261874" y="162560"/>
                  </a:lnTo>
                  <a:lnTo>
                    <a:pt x="266966" y="162560"/>
                  </a:lnTo>
                  <a:lnTo>
                    <a:pt x="269176" y="158750"/>
                  </a:lnTo>
                  <a:lnTo>
                    <a:pt x="270878" y="154940"/>
                  </a:lnTo>
                  <a:lnTo>
                    <a:pt x="274408" y="153670"/>
                  </a:lnTo>
                  <a:lnTo>
                    <a:pt x="272554" y="149860"/>
                  </a:lnTo>
                  <a:lnTo>
                    <a:pt x="279044" y="152400"/>
                  </a:lnTo>
                  <a:lnTo>
                    <a:pt x="277190" y="143510"/>
                  </a:lnTo>
                  <a:lnTo>
                    <a:pt x="284149" y="143510"/>
                  </a:lnTo>
                  <a:lnTo>
                    <a:pt x="283692" y="142240"/>
                  </a:lnTo>
                  <a:lnTo>
                    <a:pt x="283692" y="140970"/>
                  </a:lnTo>
                  <a:lnTo>
                    <a:pt x="282765" y="140970"/>
                  </a:lnTo>
                  <a:lnTo>
                    <a:pt x="280911" y="139700"/>
                  </a:lnTo>
                  <a:lnTo>
                    <a:pt x="282765" y="139700"/>
                  </a:lnTo>
                  <a:lnTo>
                    <a:pt x="283222" y="135890"/>
                  </a:lnTo>
                  <a:lnTo>
                    <a:pt x="289725" y="143510"/>
                  </a:lnTo>
                  <a:lnTo>
                    <a:pt x="287401" y="135890"/>
                  </a:lnTo>
                  <a:lnTo>
                    <a:pt x="291579" y="137160"/>
                  </a:lnTo>
                  <a:lnTo>
                    <a:pt x="287401" y="134620"/>
                  </a:lnTo>
                  <a:lnTo>
                    <a:pt x="289725" y="133350"/>
                  </a:lnTo>
                  <a:lnTo>
                    <a:pt x="290195" y="133350"/>
                  </a:lnTo>
                  <a:lnTo>
                    <a:pt x="291960" y="125730"/>
                  </a:lnTo>
                  <a:lnTo>
                    <a:pt x="296697" y="121920"/>
                  </a:lnTo>
                  <a:lnTo>
                    <a:pt x="301421" y="119380"/>
                  </a:lnTo>
                  <a:lnTo>
                    <a:pt x="303187" y="111760"/>
                  </a:lnTo>
                  <a:lnTo>
                    <a:pt x="306438" y="115570"/>
                  </a:lnTo>
                  <a:lnTo>
                    <a:pt x="302260" y="107950"/>
                  </a:lnTo>
                  <a:lnTo>
                    <a:pt x="306908" y="111760"/>
                  </a:lnTo>
                  <a:lnTo>
                    <a:pt x="313867" y="115570"/>
                  </a:lnTo>
                  <a:lnTo>
                    <a:pt x="308762" y="107950"/>
                  </a:lnTo>
                  <a:lnTo>
                    <a:pt x="308762" y="104140"/>
                  </a:lnTo>
                  <a:lnTo>
                    <a:pt x="307835" y="104140"/>
                  </a:lnTo>
                  <a:lnTo>
                    <a:pt x="310616" y="101600"/>
                  </a:lnTo>
                  <a:lnTo>
                    <a:pt x="312000" y="102870"/>
                  </a:lnTo>
                  <a:lnTo>
                    <a:pt x="311200" y="101600"/>
                  </a:lnTo>
                  <a:lnTo>
                    <a:pt x="310235" y="99060"/>
                  </a:lnTo>
                  <a:lnTo>
                    <a:pt x="311086" y="100330"/>
                  </a:lnTo>
                  <a:lnTo>
                    <a:pt x="317703" y="96520"/>
                  </a:lnTo>
                  <a:lnTo>
                    <a:pt x="322986" y="90170"/>
                  </a:lnTo>
                  <a:lnTo>
                    <a:pt x="327990" y="83820"/>
                  </a:lnTo>
                  <a:lnTo>
                    <a:pt x="333832" y="78740"/>
                  </a:lnTo>
                  <a:lnTo>
                    <a:pt x="331978" y="77470"/>
                  </a:lnTo>
                  <a:lnTo>
                    <a:pt x="333832" y="74930"/>
                  </a:lnTo>
                  <a:lnTo>
                    <a:pt x="334302" y="71120"/>
                  </a:lnTo>
                  <a:lnTo>
                    <a:pt x="341731" y="72390"/>
                  </a:lnTo>
                  <a:lnTo>
                    <a:pt x="337083" y="64770"/>
                  </a:lnTo>
                  <a:lnTo>
                    <a:pt x="337553" y="64770"/>
                  </a:lnTo>
                  <a:lnTo>
                    <a:pt x="336626" y="60960"/>
                  </a:lnTo>
                  <a:lnTo>
                    <a:pt x="341858" y="63157"/>
                  </a:lnTo>
                  <a:lnTo>
                    <a:pt x="342658" y="60960"/>
                  </a:lnTo>
                  <a:lnTo>
                    <a:pt x="338937" y="54610"/>
                  </a:lnTo>
                  <a:lnTo>
                    <a:pt x="343115" y="54610"/>
                  </a:lnTo>
                  <a:lnTo>
                    <a:pt x="345706" y="53340"/>
                  </a:lnTo>
                  <a:lnTo>
                    <a:pt x="346367" y="50800"/>
                  </a:lnTo>
                  <a:lnTo>
                    <a:pt x="347040" y="46990"/>
                  </a:lnTo>
                  <a:lnTo>
                    <a:pt x="349618" y="48260"/>
                  </a:lnTo>
                  <a:lnTo>
                    <a:pt x="349161" y="46990"/>
                  </a:lnTo>
                  <a:lnTo>
                    <a:pt x="355663" y="46990"/>
                  </a:lnTo>
                  <a:lnTo>
                    <a:pt x="351485" y="38100"/>
                  </a:lnTo>
                  <a:lnTo>
                    <a:pt x="358444" y="38100"/>
                  </a:lnTo>
                  <a:lnTo>
                    <a:pt x="347306" y="17780"/>
                  </a:lnTo>
                  <a:lnTo>
                    <a:pt x="326872" y="5080"/>
                  </a:lnTo>
                  <a:lnTo>
                    <a:pt x="306908" y="0"/>
                  </a:lnTo>
                  <a:lnTo>
                    <a:pt x="302260" y="10160"/>
                  </a:lnTo>
                  <a:lnTo>
                    <a:pt x="299935" y="13970"/>
                  </a:lnTo>
                  <a:lnTo>
                    <a:pt x="297154" y="19050"/>
                  </a:lnTo>
                  <a:lnTo>
                    <a:pt x="280911" y="27940"/>
                  </a:lnTo>
                  <a:lnTo>
                    <a:pt x="279514" y="29210"/>
                  </a:lnTo>
                  <a:lnTo>
                    <a:pt x="274866" y="35560"/>
                  </a:lnTo>
                  <a:lnTo>
                    <a:pt x="271614" y="39370"/>
                  </a:lnTo>
                  <a:lnTo>
                    <a:pt x="268833" y="44450"/>
                  </a:lnTo>
                  <a:lnTo>
                    <a:pt x="265582" y="48260"/>
                  </a:lnTo>
                  <a:lnTo>
                    <a:pt x="262801" y="52070"/>
                  </a:lnTo>
                  <a:lnTo>
                    <a:pt x="260477" y="54610"/>
                  </a:lnTo>
                  <a:lnTo>
                    <a:pt x="258152" y="58420"/>
                  </a:lnTo>
                  <a:lnTo>
                    <a:pt x="256298" y="59690"/>
                  </a:lnTo>
                  <a:lnTo>
                    <a:pt x="256667" y="60960"/>
                  </a:lnTo>
                  <a:lnTo>
                    <a:pt x="258152" y="66040"/>
                  </a:lnTo>
                  <a:lnTo>
                    <a:pt x="250952" y="67310"/>
                  </a:lnTo>
                  <a:lnTo>
                    <a:pt x="248272" y="71120"/>
                  </a:lnTo>
                  <a:lnTo>
                    <a:pt x="246494" y="73660"/>
                  </a:lnTo>
                  <a:lnTo>
                    <a:pt x="242290" y="78740"/>
                  </a:lnTo>
                  <a:lnTo>
                    <a:pt x="235864" y="82550"/>
                  </a:lnTo>
                  <a:lnTo>
                    <a:pt x="239115" y="85090"/>
                  </a:lnTo>
                  <a:lnTo>
                    <a:pt x="237731" y="87630"/>
                  </a:lnTo>
                  <a:lnTo>
                    <a:pt x="235864" y="85090"/>
                  </a:lnTo>
                  <a:lnTo>
                    <a:pt x="234480" y="85090"/>
                  </a:lnTo>
                  <a:lnTo>
                    <a:pt x="232511" y="87630"/>
                  </a:lnTo>
                  <a:lnTo>
                    <a:pt x="223697" y="99060"/>
                  </a:lnTo>
                  <a:lnTo>
                    <a:pt x="221576" y="101600"/>
                  </a:lnTo>
                  <a:lnTo>
                    <a:pt x="216255" y="107950"/>
                  </a:lnTo>
                  <a:lnTo>
                    <a:pt x="213055" y="111760"/>
                  </a:lnTo>
                  <a:lnTo>
                    <a:pt x="201637" y="123190"/>
                  </a:lnTo>
                  <a:lnTo>
                    <a:pt x="188506" y="133350"/>
                  </a:lnTo>
                  <a:lnTo>
                    <a:pt x="185254" y="132080"/>
                  </a:lnTo>
                  <a:lnTo>
                    <a:pt x="182816" y="135890"/>
                  </a:lnTo>
                  <a:lnTo>
                    <a:pt x="182003" y="137160"/>
                  </a:lnTo>
                  <a:lnTo>
                    <a:pt x="178765" y="135890"/>
                  </a:lnTo>
                  <a:lnTo>
                    <a:pt x="178625" y="137160"/>
                  </a:lnTo>
                  <a:lnTo>
                    <a:pt x="177825" y="144780"/>
                  </a:lnTo>
                  <a:lnTo>
                    <a:pt x="172720" y="149860"/>
                  </a:lnTo>
                  <a:lnTo>
                    <a:pt x="167157" y="153670"/>
                  </a:lnTo>
                  <a:lnTo>
                    <a:pt x="165290" y="156210"/>
                  </a:lnTo>
                  <a:lnTo>
                    <a:pt x="164833" y="156210"/>
                  </a:lnTo>
                  <a:lnTo>
                    <a:pt x="164363" y="154940"/>
                  </a:lnTo>
                  <a:lnTo>
                    <a:pt x="164363" y="156210"/>
                  </a:lnTo>
                  <a:lnTo>
                    <a:pt x="164363" y="160020"/>
                  </a:lnTo>
                  <a:lnTo>
                    <a:pt x="157403" y="161290"/>
                  </a:lnTo>
                  <a:lnTo>
                    <a:pt x="153225" y="162560"/>
                  </a:lnTo>
                  <a:lnTo>
                    <a:pt x="139623" y="173990"/>
                  </a:lnTo>
                  <a:lnTo>
                    <a:pt x="129235" y="185420"/>
                  </a:lnTo>
                  <a:lnTo>
                    <a:pt x="126936" y="187960"/>
                  </a:lnTo>
                  <a:lnTo>
                    <a:pt x="124231" y="190500"/>
                  </a:lnTo>
                  <a:lnTo>
                    <a:pt x="119329" y="195135"/>
                  </a:lnTo>
                  <a:lnTo>
                    <a:pt x="119329" y="274320"/>
                  </a:lnTo>
                  <a:lnTo>
                    <a:pt x="117005" y="275590"/>
                  </a:lnTo>
                  <a:lnTo>
                    <a:pt x="114465" y="279069"/>
                  </a:lnTo>
                  <a:lnTo>
                    <a:pt x="108254" y="278599"/>
                  </a:lnTo>
                  <a:lnTo>
                    <a:pt x="109118" y="278130"/>
                  </a:lnTo>
                  <a:lnTo>
                    <a:pt x="108648" y="274320"/>
                  </a:lnTo>
                  <a:lnTo>
                    <a:pt x="114681" y="275590"/>
                  </a:lnTo>
                  <a:lnTo>
                    <a:pt x="112826" y="271780"/>
                  </a:lnTo>
                  <a:lnTo>
                    <a:pt x="117005" y="271780"/>
                  </a:lnTo>
                  <a:lnTo>
                    <a:pt x="119329" y="274320"/>
                  </a:lnTo>
                  <a:lnTo>
                    <a:pt x="119329" y="195135"/>
                  </a:lnTo>
                  <a:lnTo>
                    <a:pt x="117500" y="196850"/>
                  </a:lnTo>
                  <a:lnTo>
                    <a:pt x="116154" y="198120"/>
                  </a:lnTo>
                  <a:lnTo>
                    <a:pt x="114808" y="199390"/>
                  </a:lnTo>
                  <a:lnTo>
                    <a:pt x="113461" y="200660"/>
                  </a:lnTo>
                  <a:lnTo>
                    <a:pt x="108902" y="203200"/>
                  </a:lnTo>
                  <a:lnTo>
                    <a:pt x="99783" y="208280"/>
                  </a:lnTo>
                  <a:lnTo>
                    <a:pt x="97510" y="209550"/>
                  </a:lnTo>
                  <a:lnTo>
                    <a:pt x="90538" y="209550"/>
                  </a:lnTo>
                  <a:lnTo>
                    <a:pt x="85902" y="214630"/>
                  </a:lnTo>
                  <a:lnTo>
                    <a:pt x="83807" y="217170"/>
                  </a:lnTo>
                  <a:lnTo>
                    <a:pt x="81724" y="219710"/>
                  </a:lnTo>
                  <a:lnTo>
                    <a:pt x="80391" y="220980"/>
                  </a:lnTo>
                  <a:lnTo>
                    <a:pt x="72428" y="228600"/>
                  </a:lnTo>
                  <a:lnTo>
                    <a:pt x="65011" y="229870"/>
                  </a:lnTo>
                  <a:lnTo>
                    <a:pt x="61061" y="233680"/>
                  </a:lnTo>
                  <a:lnTo>
                    <a:pt x="59436" y="235089"/>
                  </a:lnTo>
                  <a:lnTo>
                    <a:pt x="59436" y="308610"/>
                  </a:lnTo>
                  <a:lnTo>
                    <a:pt x="58508" y="309460"/>
                  </a:lnTo>
                  <a:lnTo>
                    <a:pt x="53860" y="307340"/>
                  </a:lnTo>
                  <a:lnTo>
                    <a:pt x="54787" y="306070"/>
                  </a:lnTo>
                  <a:lnTo>
                    <a:pt x="59436" y="308610"/>
                  </a:lnTo>
                  <a:lnTo>
                    <a:pt x="59436" y="235089"/>
                  </a:lnTo>
                  <a:lnTo>
                    <a:pt x="53682" y="240030"/>
                  </a:lnTo>
                  <a:lnTo>
                    <a:pt x="46393" y="247650"/>
                  </a:lnTo>
                  <a:lnTo>
                    <a:pt x="43637" y="251460"/>
                  </a:lnTo>
                  <a:lnTo>
                    <a:pt x="42722" y="252730"/>
                  </a:lnTo>
                  <a:lnTo>
                    <a:pt x="48285" y="255270"/>
                  </a:lnTo>
                  <a:lnTo>
                    <a:pt x="46558" y="256540"/>
                  </a:lnTo>
                  <a:lnTo>
                    <a:pt x="43103" y="259080"/>
                  </a:lnTo>
                  <a:lnTo>
                    <a:pt x="38138" y="261620"/>
                  </a:lnTo>
                  <a:lnTo>
                    <a:pt x="33604" y="264160"/>
                  </a:lnTo>
                  <a:lnTo>
                    <a:pt x="31661" y="266700"/>
                  </a:lnTo>
                  <a:lnTo>
                    <a:pt x="29718" y="269240"/>
                  </a:lnTo>
                  <a:lnTo>
                    <a:pt x="29248" y="267970"/>
                  </a:lnTo>
                  <a:lnTo>
                    <a:pt x="28879" y="269240"/>
                  </a:lnTo>
                  <a:lnTo>
                    <a:pt x="28638" y="270510"/>
                  </a:lnTo>
                  <a:lnTo>
                    <a:pt x="28384" y="271780"/>
                  </a:lnTo>
                  <a:lnTo>
                    <a:pt x="24485" y="274320"/>
                  </a:lnTo>
                  <a:lnTo>
                    <a:pt x="13931" y="273050"/>
                  </a:lnTo>
                  <a:lnTo>
                    <a:pt x="13004" y="273050"/>
                  </a:lnTo>
                  <a:lnTo>
                    <a:pt x="13309" y="273469"/>
                  </a:lnTo>
                  <a:lnTo>
                    <a:pt x="15786" y="274320"/>
                  </a:lnTo>
                  <a:lnTo>
                    <a:pt x="15328" y="275590"/>
                  </a:lnTo>
                  <a:lnTo>
                    <a:pt x="15633" y="278130"/>
                  </a:lnTo>
                  <a:lnTo>
                    <a:pt x="15786" y="279400"/>
                  </a:lnTo>
                  <a:lnTo>
                    <a:pt x="14401" y="280670"/>
                  </a:lnTo>
                  <a:lnTo>
                    <a:pt x="12534" y="278130"/>
                  </a:lnTo>
                  <a:lnTo>
                    <a:pt x="9283" y="281940"/>
                  </a:lnTo>
                  <a:lnTo>
                    <a:pt x="6032" y="279400"/>
                  </a:lnTo>
                  <a:lnTo>
                    <a:pt x="6032" y="281940"/>
                  </a:lnTo>
                  <a:lnTo>
                    <a:pt x="10680" y="288290"/>
                  </a:lnTo>
                  <a:lnTo>
                    <a:pt x="5105" y="285750"/>
                  </a:lnTo>
                  <a:lnTo>
                    <a:pt x="7899" y="288290"/>
                  </a:lnTo>
                  <a:lnTo>
                    <a:pt x="9283" y="289560"/>
                  </a:lnTo>
                  <a:lnTo>
                    <a:pt x="6350" y="289560"/>
                  </a:lnTo>
                  <a:lnTo>
                    <a:pt x="6502" y="289407"/>
                  </a:lnTo>
                  <a:lnTo>
                    <a:pt x="4178" y="289407"/>
                  </a:lnTo>
                  <a:lnTo>
                    <a:pt x="5575" y="290334"/>
                  </a:lnTo>
                  <a:lnTo>
                    <a:pt x="6032" y="290830"/>
                  </a:lnTo>
                  <a:lnTo>
                    <a:pt x="4648" y="290830"/>
                  </a:lnTo>
                  <a:lnTo>
                    <a:pt x="3251" y="292100"/>
                  </a:lnTo>
                  <a:lnTo>
                    <a:pt x="0" y="295910"/>
                  </a:lnTo>
                  <a:lnTo>
                    <a:pt x="927" y="298450"/>
                  </a:lnTo>
                  <a:lnTo>
                    <a:pt x="11150" y="302298"/>
                  </a:lnTo>
                  <a:lnTo>
                    <a:pt x="14401" y="303530"/>
                  </a:lnTo>
                  <a:lnTo>
                    <a:pt x="19507" y="306070"/>
                  </a:lnTo>
                  <a:lnTo>
                    <a:pt x="15786" y="307340"/>
                  </a:lnTo>
                  <a:lnTo>
                    <a:pt x="19037" y="307340"/>
                  </a:lnTo>
                  <a:lnTo>
                    <a:pt x="20434" y="308610"/>
                  </a:lnTo>
                  <a:lnTo>
                    <a:pt x="19964" y="307340"/>
                  </a:lnTo>
                  <a:lnTo>
                    <a:pt x="22288" y="307340"/>
                  </a:lnTo>
                  <a:lnTo>
                    <a:pt x="24142" y="309880"/>
                  </a:lnTo>
                  <a:lnTo>
                    <a:pt x="25539" y="311150"/>
                  </a:lnTo>
                  <a:lnTo>
                    <a:pt x="25069" y="309880"/>
                  </a:lnTo>
                  <a:lnTo>
                    <a:pt x="24612" y="309880"/>
                  </a:lnTo>
                  <a:lnTo>
                    <a:pt x="24142" y="308610"/>
                  </a:lnTo>
                  <a:lnTo>
                    <a:pt x="24612" y="308610"/>
                  </a:lnTo>
                  <a:lnTo>
                    <a:pt x="25069" y="307340"/>
                  </a:lnTo>
                  <a:lnTo>
                    <a:pt x="27393" y="307340"/>
                  </a:lnTo>
                  <a:lnTo>
                    <a:pt x="28092" y="308610"/>
                  </a:lnTo>
                  <a:lnTo>
                    <a:pt x="28638" y="309460"/>
                  </a:lnTo>
                  <a:lnTo>
                    <a:pt x="26936" y="304800"/>
                  </a:lnTo>
                  <a:lnTo>
                    <a:pt x="38442" y="309880"/>
                  </a:lnTo>
                  <a:lnTo>
                    <a:pt x="41325" y="311150"/>
                  </a:lnTo>
                  <a:lnTo>
                    <a:pt x="43180" y="309880"/>
                  </a:lnTo>
                  <a:lnTo>
                    <a:pt x="46901" y="311150"/>
                  </a:lnTo>
                  <a:lnTo>
                    <a:pt x="46786" y="309880"/>
                  </a:lnTo>
                  <a:lnTo>
                    <a:pt x="46659" y="308610"/>
                  </a:lnTo>
                  <a:lnTo>
                    <a:pt x="46545" y="307340"/>
                  </a:lnTo>
                  <a:lnTo>
                    <a:pt x="46431" y="306070"/>
                  </a:lnTo>
                  <a:lnTo>
                    <a:pt x="49212" y="306070"/>
                  </a:lnTo>
                  <a:lnTo>
                    <a:pt x="52933" y="304800"/>
                  </a:lnTo>
                  <a:lnTo>
                    <a:pt x="52933" y="306070"/>
                  </a:lnTo>
                  <a:lnTo>
                    <a:pt x="52933" y="308610"/>
                  </a:lnTo>
                  <a:lnTo>
                    <a:pt x="56184" y="309880"/>
                  </a:lnTo>
                  <a:lnTo>
                    <a:pt x="58039" y="309880"/>
                  </a:lnTo>
                  <a:lnTo>
                    <a:pt x="60820" y="311150"/>
                  </a:lnTo>
                  <a:lnTo>
                    <a:pt x="63144" y="309880"/>
                  </a:lnTo>
                  <a:lnTo>
                    <a:pt x="66217" y="310489"/>
                  </a:lnTo>
                  <a:lnTo>
                    <a:pt x="68021" y="312229"/>
                  </a:lnTo>
                  <a:lnTo>
                    <a:pt x="85725" y="330009"/>
                  </a:lnTo>
                  <a:lnTo>
                    <a:pt x="88290" y="332549"/>
                  </a:lnTo>
                  <a:lnTo>
                    <a:pt x="101104" y="345249"/>
                  </a:lnTo>
                  <a:lnTo>
                    <a:pt x="112649" y="356679"/>
                  </a:lnTo>
                  <a:lnTo>
                    <a:pt x="115201" y="359219"/>
                  </a:lnTo>
                  <a:lnTo>
                    <a:pt x="126288" y="370649"/>
                  </a:lnTo>
                  <a:lnTo>
                    <a:pt x="134594" y="378269"/>
                  </a:lnTo>
                  <a:lnTo>
                    <a:pt x="139763" y="383349"/>
                  </a:lnTo>
                  <a:lnTo>
                    <a:pt x="135115" y="376999"/>
                  </a:lnTo>
                  <a:lnTo>
                    <a:pt x="130467" y="369379"/>
                  </a:lnTo>
                  <a:lnTo>
                    <a:pt x="122110" y="356679"/>
                  </a:lnTo>
                  <a:lnTo>
                    <a:pt x="129679" y="364299"/>
                  </a:lnTo>
                  <a:lnTo>
                    <a:pt x="136969" y="371919"/>
                  </a:lnTo>
                  <a:lnTo>
                    <a:pt x="143916" y="378269"/>
                  </a:lnTo>
                  <a:lnTo>
                    <a:pt x="150431" y="385889"/>
                  </a:lnTo>
                  <a:lnTo>
                    <a:pt x="161925" y="398589"/>
                  </a:lnTo>
                  <a:lnTo>
                    <a:pt x="165531" y="402399"/>
                  </a:lnTo>
                  <a:lnTo>
                    <a:pt x="172720" y="410019"/>
                  </a:lnTo>
                  <a:lnTo>
                    <a:pt x="175971" y="413829"/>
                  </a:lnTo>
                  <a:lnTo>
                    <a:pt x="179692" y="417639"/>
                  </a:lnTo>
                  <a:lnTo>
                    <a:pt x="182943" y="421449"/>
                  </a:lnTo>
                  <a:lnTo>
                    <a:pt x="185254" y="423989"/>
                  </a:lnTo>
                  <a:lnTo>
                    <a:pt x="187121" y="427799"/>
                  </a:lnTo>
                  <a:lnTo>
                    <a:pt x="189433" y="430339"/>
                  </a:lnTo>
                  <a:lnTo>
                    <a:pt x="192684" y="434149"/>
                  </a:lnTo>
                  <a:lnTo>
                    <a:pt x="195478" y="437959"/>
                  </a:lnTo>
                  <a:lnTo>
                    <a:pt x="198729" y="441769"/>
                  </a:lnTo>
                  <a:lnTo>
                    <a:pt x="206692" y="451929"/>
                  </a:lnTo>
                  <a:lnTo>
                    <a:pt x="207695" y="453199"/>
                  </a:lnTo>
                  <a:lnTo>
                    <a:pt x="216827" y="465899"/>
                  </a:lnTo>
                  <a:lnTo>
                    <a:pt x="219011" y="468439"/>
                  </a:lnTo>
                  <a:lnTo>
                    <a:pt x="226669" y="477329"/>
                  </a:lnTo>
                  <a:lnTo>
                    <a:pt x="237731" y="491299"/>
                  </a:lnTo>
                  <a:lnTo>
                    <a:pt x="235407" y="490029"/>
                  </a:lnTo>
                  <a:lnTo>
                    <a:pt x="236105" y="491299"/>
                  </a:lnTo>
                  <a:lnTo>
                    <a:pt x="236791" y="492569"/>
                  </a:lnTo>
                  <a:lnTo>
                    <a:pt x="240969" y="493839"/>
                  </a:lnTo>
                  <a:lnTo>
                    <a:pt x="248399" y="502729"/>
                  </a:lnTo>
                  <a:lnTo>
                    <a:pt x="251358" y="506539"/>
                  </a:lnTo>
                  <a:lnTo>
                    <a:pt x="254673" y="511619"/>
                  </a:lnTo>
                  <a:lnTo>
                    <a:pt x="258330" y="516699"/>
                  </a:lnTo>
                  <a:lnTo>
                    <a:pt x="262331" y="524319"/>
                  </a:lnTo>
                  <a:lnTo>
                    <a:pt x="266674" y="531939"/>
                  </a:lnTo>
                  <a:lnTo>
                    <a:pt x="271335" y="542099"/>
                  </a:lnTo>
                  <a:lnTo>
                    <a:pt x="276237" y="553529"/>
                  </a:lnTo>
                  <a:lnTo>
                    <a:pt x="279323" y="561149"/>
                  </a:lnTo>
                  <a:lnTo>
                    <a:pt x="281368" y="566229"/>
                  </a:lnTo>
                  <a:lnTo>
                    <a:pt x="280911" y="567499"/>
                  </a:lnTo>
                  <a:lnTo>
                    <a:pt x="282295" y="568769"/>
                  </a:lnTo>
                  <a:lnTo>
                    <a:pt x="283222" y="568769"/>
                  </a:lnTo>
                  <a:lnTo>
                    <a:pt x="285089" y="573849"/>
                  </a:lnTo>
                  <a:lnTo>
                    <a:pt x="282295" y="563689"/>
                  </a:lnTo>
                  <a:lnTo>
                    <a:pt x="298551" y="582739"/>
                  </a:lnTo>
                  <a:lnTo>
                    <a:pt x="297624" y="585279"/>
                  </a:lnTo>
                  <a:lnTo>
                    <a:pt x="301332" y="590359"/>
                  </a:lnTo>
                  <a:lnTo>
                    <a:pt x="307835" y="601789"/>
                  </a:lnTo>
                  <a:lnTo>
                    <a:pt x="311543" y="608139"/>
                  </a:lnTo>
                  <a:lnTo>
                    <a:pt x="312483" y="617029"/>
                  </a:lnTo>
                  <a:lnTo>
                    <a:pt x="316598" y="619569"/>
                  </a:lnTo>
                  <a:lnTo>
                    <a:pt x="320713" y="620839"/>
                  </a:lnTo>
                  <a:lnTo>
                    <a:pt x="325018" y="625919"/>
                  </a:lnTo>
                  <a:lnTo>
                    <a:pt x="328625" y="634809"/>
                  </a:lnTo>
                  <a:lnTo>
                    <a:pt x="329653" y="637349"/>
                  </a:lnTo>
                  <a:lnTo>
                    <a:pt x="331292" y="634809"/>
                  </a:lnTo>
                  <a:lnTo>
                    <a:pt x="334073" y="637349"/>
                  </a:lnTo>
                  <a:lnTo>
                    <a:pt x="336842" y="641159"/>
                  </a:lnTo>
                  <a:lnTo>
                    <a:pt x="338480" y="642429"/>
                  </a:lnTo>
                  <a:lnTo>
                    <a:pt x="338480" y="646239"/>
                  </a:lnTo>
                  <a:lnTo>
                    <a:pt x="338937" y="647509"/>
                  </a:lnTo>
                  <a:lnTo>
                    <a:pt x="344665" y="657669"/>
                  </a:lnTo>
                  <a:lnTo>
                    <a:pt x="351307" y="669099"/>
                  </a:lnTo>
                  <a:lnTo>
                    <a:pt x="357682" y="679259"/>
                  </a:lnTo>
                  <a:lnTo>
                    <a:pt x="362623" y="684339"/>
                  </a:lnTo>
                  <a:lnTo>
                    <a:pt x="362077" y="683069"/>
                  </a:lnTo>
                  <a:lnTo>
                    <a:pt x="360654" y="676719"/>
                  </a:lnTo>
                  <a:lnTo>
                    <a:pt x="358711" y="667829"/>
                  </a:lnTo>
                  <a:lnTo>
                    <a:pt x="356590" y="657669"/>
                  </a:lnTo>
                  <a:lnTo>
                    <a:pt x="354114" y="646239"/>
                  </a:lnTo>
                  <a:lnTo>
                    <a:pt x="351764" y="636079"/>
                  </a:lnTo>
                  <a:lnTo>
                    <a:pt x="349859" y="625919"/>
                  </a:lnTo>
                  <a:lnTo>
                    <a:pt x="348691" y="619569"/>
                  </a:lnTo>
                  <a:lnTo>
                    <a:pt x="352259" y="627189"/>
                  </a:lnTo>
                  <a:lnTo>
                    <a:pt x="352869" y="627189"/>
                  </a:lnTo>
                  <a:lnTo>
                    <a:pt x="352094" y="623379"/>
                  </a:lnTo>
                  <a:lnTo>
                    <a:pt x="351485" y="619569"/>
                  </a:lnTo>
                  <a:lnTo>
                    <a:pt x="351155" y="619353"/>
                  </a:lnTo>
                  <a:lnTo>
                    <a:pt x="352412" y="619594"/>
                  </a:lnTo>
                  <a:lnTo>
                    <a:pt x="350545" y="617283"/>
                  </a:lnTo>
                  <a:lnTo>
                    <a:pt x="350088" y="617753"/>
                  </a:lnTo>
                  <a:lnTo>
                    <a:pt x="350088" y="618629"/>
                  </a:lnTo>
                  <a:lnTo>
                    <a:pt x="349618" y="618299"/>
                  </a:lnTo>
                  <a:lnTo>
                    <a:pt x="345440" y="608139"/>
                  </a:lnTo>
                  <a:lnTo>
                    <a:pt x="348234" y="606869"/>
                  </a:lnTo>
                  <a:lnTo>
                    <a:pt x="347179" y="603059"/>
                  </a:lnTo>
                  <a:lnTo>
                    <a:pt x="344512" y="603059"/>
                  </a:lnTo>
                  <a:lnTo>
                    <a:pt x="344144" y="602399"/>
                  </a:lnTo>
                  <a:lnTo>
                    <a:pt x="344512" y="602030"/>
                  </a:lnTo>
                  <a:lnTo>
                    <a:pt x="344512" y="601560"/>
                  </a:lnTo>
                  <a:lnTo>
                    <a:pt x="343369" y="601002"/>
                  </a:lnTo>
                  <a:lnTo>
                    <a:pt x="343115" y="600519"/>
                  </a:lnTo>
                  <a:lnTo>
                    <a:pt x="343268" y="600951"/>
                  </a:lnTo>
                  <a:lnTo>
                    <a:pt x="342785" y="600710"/>
                  </a:lnTo>
                  <a:lnTo>
                    <a:pt x="340804" y="597979"/>
                  </a:lnTo>
                  <a:lnTo>
                    <a:pt x="337553" y="590359"/>
                  </a:lnTo>
                  <a:lnTo>
                    <a:pt x="335699" y="586549"/>
                  </a:lnTo>
                  <a:lnTo>
                    <a:pt x="338010" y="585279"/>
                  </a:lnTo>
                  <a:lnTo>
                    <a:pt x="334721" y="581469"/>
                  </a:lnTo>
                  <a:lnTo>
                    <a:pt x="331165" y="575119"/>
                  </a:lnTo>
                  <a:lnTo>
                    <a:pt x="327431" y="566229"/>
                  </a:lnTo>
                  <a:lnTo>
                    <a:pt x="323621" y="556069"/>
                  </a:lnTo>
                  <a:lnTo>
                    <a:pt x="316420" y="537019"/>
                  </a:lnTo>
                  <a:lnTo>
                    <a:pt x="313309" y="528129"/>
                  </a:lnTo>
                  <a:lnTo>
                    <a:pt x="310616" y="523049"/>
                  </a:lnTo>
                  <a:lnTo>
                    <a:pt x="306895" y="515429"/>
                  </a:lnTo>
                  <a:lnTo>
                    <a:pt x="284124" y="479869"/>
                  </a:lnTo>
                  <a:lnTo>
                    <a:pt x="283222" y="476059"/>
                  </a:lnTo>
                  <a:lnTo>
                    <a:pt x="283718" y="473519"/>
                  </a:lnTo>
                  <a:lnTo>
                    <a:pt x="282295" y="468439"/>
                  </a:lnTo>
                  <a:lnTo>
                    <a:pt x="279158" y="463359"/>
                  </a:lnTo>
                  <a:lnTo>
                    <a:pt x="278752" y="464629"/>
                  </a:lnTo>
                  <a:lnTo>
                    <a:pt x="278828" y="465899"/>
                  </a:lnTo>
                  <a:lnTo>
                    <a:pt x="278904" y="467169"/>
                  </a:lnTo>
                  <a:lnTo>
                    <a:pt x="278968" y="468439"/>
                  </a:lnTo>
                  <a:lnTo>
                    <a:pt x="277660" y="467169"/>
                  </a:lnTo>
                  <a:lnTo>
                    <a:pt x="275793" y="463359"/>
                  </a:lnTo>
                  <a:lnTo>
                    <a:pt x="274408" y="459549"/>
                  </a:lnTo>
                  <a:lnTo>
                    <a:pt x="272542" y="455739"/>
                  </a:lnTo>
                  <a:lnTo>
                    <a:pt x="271157" y="451929"/>
                  </a:lnTo>
                  <a:lnTo>
                    <a:pt x="277190" y="459549"/>
                  </a:lnTo>
                  <a:lnTo>
                    <a:pt x="275336" y="454469"/>
                  </a:lnTo>
                  <a:lnTo>
                    <a:pt x="275336" y="452945"/>
                  </a:lnTo>
                  <a:lnTo>
                    <a:pt x="276263" y="454037"/>
                  </a:lnTo>
                  <a:lnTo>
                    <a:pt x="278117" y="456349"/>
                  </a:lnTo>
                  <a:lnTo>
                    <a:pt x="279514" y="457746"/>
                  </a:lnTo>
                  <a:lnTo>
                    <a:pt x="274408" y="449414"/>
                  </a:lnTo>
                  <a:lnTo>
                    <a:pt x="273939" y="449414"/>
                  </a:lnTo>
                  <a:lnTo>
                    <a:pt x="273939" y="450240"/>
                  </a:lnTo>
                  <a:lnTo>
                    <a:pt x="271157" y="446849"/>
                  </a:lnTo>
                  <a:lnTo>
                    <a:pt x="266509" y="437959"/>
                  </a:lnTo>
                  <a:lnTo>
                    <a:pt x="262331" y="431609"/>
                  </a:lnTo>
                  <a:lnTo>
                    <a:pt x="257695" y="423989"/>
                  </a:lnTo>
                  <a:lnTo>
                    <a:pt x="253517" y="418909"/>
                  </a:lnTo>
                  <a:lnTo>
                    <a:pt x="249796" y="418909"/>
                  </a:lnTo>
                  <a:lnTo>
                    <a:pt x="244030" y="408749"/>
                  </a:lnTo>
                  <a:lnTo>
                    <a:pt x="240919" y="402399"/>
                  </a:lnTo>
                  <a:lnTo>
                    <a:pt x="239585" y="399262"/>
                  </a:lnTo>
                  <a:lnTo>
                    <a:pt x="239585" y="401129"/>
                  </a:lnTo>
                  <a:lnTo>
                    <a:pt x="239115" y="402399"/>
                  </a:lnTo>
                  <a:lnTo>
                    <a:pt x="236791" y="396062"/>
                  </a:lnTo>
                  <a:lnTo>
                    <a:pt x="239585" y="401129"/>
                  </a:lnTo>
                  <a:lnTo>
                    <a:pt x="239585" y="399262"/>
                  </a:lnTo>
                  <a:lnTo>
                    <a:pt x="238760" y="397319"/>
                  </a:lnTo>
                  <a:lnTo>
                    <a:pt x="235864" y="393509"/>
                  </a:lnTo>
                  <a:lnTo>
                    <a:pt x="235978" y="394779"/>
                  </a:lnTo>
                  <a:lnTo>
                    <a:pt x="236105" y="396049"/>
                  </a:lnTo>
                  <a:lnTo>
                    <a:pt x="236220" y="397319"/>
                  </a:lnTo>
                  <a:lnTo>
                    <a:pt x="236334" y="398589"/>
                  </a:lnTo>
                  <a:lnTo>
                    <a:pt x="237731" y="402399"/>
                  </a:lnTo>
                  <a:lnTo>
                    <a:pt x="236334" y="401129"/>
                  </a:lnTo>
                  <a:lnTo>
                    <a:pt x="233553" y="397319"/>
                  </a:lnTo>
                  <a:lnTo>
                    <a:pt x="232613" y="397319"/>
                  </a:lnTo>
                  <a:lnTo>
                    <a:pt x="232156" y="396049"/>
                  </a:lnTo>
                  <a:lnTo>
                    <a:pt x="230759" y="393509"/>
                  </a:lnTo>
                  <a:lnTo>
                    <a:pt x="230301" y="393509"/>
                  </a:lnTo>
                  <a:lnTo>
                    <a:pt x="229362" y="392239"/>
                  </a:lnTo>
                  <a:lnTo>
                    <a:pt x="228904" y="390969"/>
                  </a:lnTo>
                  <a:lnTo>
                    <a:pt x="227507" y="388429"/>
                  </a:lnTo>
                  <a:lnTo>
                    <a:pt x="225653" y="384619"/>
                  </a:lnTo>
                  <a:lnTo>
                    <a:pt x="224726" y="382079"/>
                  </a:lnTo>
                  <a:lnTo>
                    <a:pt x="222402" y="376999"/>
                  </a:lnTo>
                  <a:lnTo>
                    <a:pt x="221945" y="373189"/>
                  </a:lnTo>
                  <a:lnTo>
                    <a:pt x="216827" y="371919"/>
                  </a:lnTo>
                  <a:lnTo>
                    <a:pt x="214972" y="371919"/>
                  </a:lnTo>
                  <a:lnTo>
                    <a:pt x="211264" y="370649"/>
                  </a:lnTo>
                  <a:lnTo>
                    <a:pt x="208013" y="370649"/>
                  </a:lnTo>
                  <a:lnTo>
                    <a:pt x="204762" y="369379"/>
                  </a:lnTo>
                  <a:lnTo>
                    <a:pt x="201968" y="368109"/>
                  </a:lnTo>
                  <a:lnTo>
                    <a:pt x="197789" y="365569"/>
                  </a:lnTo>
                  <a:lnTo>
                    <a:pt x="198729" y="364299"/>
                  </a:lnTo>
                  <a:lnTo>
                    <a:pt x="191300" y="359219"/>
                  </a:lnTo>
                  <a:lnTo>
                    <a:pt x="191300" y="356679"/>
                  </a:lnTo>
                  <a:lnTo>
                    <a:pt x="195008" y="359219"/>
                  </a:lnTo>
                  <a:lnTo>
                    <a:pt x="195935" y="359219"/>
                  </a:lnTo>
                  <a:lnTo>
                    <a:pt x="190360" y="355409"/>
                  </a:lnTo>
                  <a:lnTo>
                    <a:pt x="186182" y="350329"/>
                  </a:lnTo>
                  <a:lnTo>
                    <a:pt x="182943" y="346519"/>
                  </a:lnTo>
                  <a:lnTo>
                    <a:pt x="180149" y="345249"/>
                  </a:lnTo>
                  <a:lnTo>
                    <a:pt x="185254" y="346519"/>
                  </a:lnTo>
                  <a:lnTo>
                    <a:pt x="190373" y="346519"/>
                  </a:lnTo>
                  <a:lnTo>
                    <a:pt x="192684" y="347789"/>
                  </a:lnTo>
                  <a:lnTo>
                    <a:pt x="195478" y="347789"/>
                  </a:lnTo>
                  <a:lnTo>
                    <a:pt x="186651" y="343979"/>
                  </a:lnTo>
                  <a:lnTo>
                    <a:pt x="166217" y="336359"/>
                  </a:lnTo>
                  <a:lnTo>
                    <a:pt x="155079" y="332549"/>
                  </a:lnTo>
                  <a:lnTo>
                    <a:pt x="162229" y="333819"/>
                  </a:lnTo>
                  <a:lnTo>
                    <a:pt x="186651" y="338899"/>
                  </a:lnTo>
                  <a:lnTo>
                    <a:pt x="191058" y="340169"/>
                  </a:lnTo>
                  <a:lnTo>
                    <a:pt x="195478" y="341439"/>
                  </a:lnTo>
                  <a:lnTo>
                    <a:pt x="201510" y="342709"/>
                  </a:lnTo>
                  <a:lnTo>
                    <a:pt x="199186" y="340169"/>
                  </a:lnTo>
                  <a:lnTo>
                    <a:pt x="205689" y="342709"/>
                  </a:lnTo>
                  <a:lnTo>
                    <a:pt x="208470" y="343979"/>
                  </a:lnTo>
                  <a:lnTo>
                    <a:pt x="211721" y="345249"/>
                  </a:lnTo>
                  <a:lnTo>
                    <a:pt x="219151" y="346519"/>
                  </a:lnTo>
                  <a:lnTo>
                    <a:pt x="222872" y="347789"/>
                  </a:lnTo>
                  <a:lnTo>
                    <a:pt x="228434" y="347789"/>
                  </a:lnTo>
                  <a:lnTo>
                    <a:pt x="228904" y="346519"/>
                  </a:lnTo>
                  <a:lnTo>
                    <a:pt x="227507" y="343979"/>
                  </a:lnTo>
                  <a:lnTo>
                    <a:pt x="232613" y="345249"/>
                  </a:lnTo>
                  <a:lnTo>
                    <a:pt x="239115" y="347789"/>
                  </a:lnTo>
                  <a:lnTo>
                    <a:pt x="242366" y="349059"/>
                  </a:lnTo>
                  <a:lnTo>
                    <a:pt x="244690" y="350329"/>
                  </a:lnTo>
                  <a:lnTo>
                    <a:pt x="235864" y="350329"/>
                  </a:lnTo>
                  <a:lnTo>
                    <a:pt x="240969" y="351599"/>
                  </a:lnTo>
                  <a:lnTo>
                    <a:pt x="247472" y="354139"/>
                  </a:lnTo>
                  <a:lnTo>
                    <a:pt x="255270" y="357695"/>
                  </a:lnTo>
                  <a:lnTo>
                    <a:pt x="254901" y="356679"/>
                  </a:lnTo>
                  <a:lnTo>
                    <a:pt x="255828" y="356679"/>
                  </a:lnTo>
                  <a:lnTo>
                    <a:pt x="255981" y="356463"/>
                  </a:lnTo>
                  <a:lnTo>
                    <a:pt x="257695" y="356463"/>
                  </a:lnTo>
                  <a:lnTo>
                    <a:pt x="258622" y="356933"/>
                  </a:lnTo>
                  <a:lnTo>
                    <a:pt x="262331" y="357390"/>
                  </a:lnTo>
                  <a:lnTo>
                    <a:pt x="266509" y="357390"/>
                  </a:lnTo>
                  <a:lnTo>
                    <a:pt x="271614" y="357860"/>
                  </a:lnTo>
                  <a:lnTo>
                    <a:pt x="272427" y="355409"/>
                  </a:lnTo>
                  <a:lnTo>
                    <a:pt x="292633" y="355409"/>
                  </a:lnTo>
                  <a:lnTo>
                    <a:pt x="304596" y="356679"/>
                  </a:lnTo>
                  <a:lnTo>
                    <a:pt x="319443" y="360489"/>
                  </a:lnTo>
                  <a:lnTo>
                    <a:pt x="325475" y="355409"/>
                  </a:lnTo>
                  <a:lnTo>
                    <a:pt x="342188" y="359219"/>
                  </a:lnTo>
                  <a:lnTo>
                    <a:pt x="342188" y="363029"/>
                  </a:lnTo>
                  <a:lnTo>
                    <a:pt x="327609" y="361759"/>
                  </a:lnTo>
                  <a:lnTo>
                    <a:pt x="290944" y="361759"/>
                  </a:lnTo>
                  <a:lnTo>
                    <a:pt x="273481" y="360489"/>
                  </a:lnTo>
                  <a:lnTo>
                    <a:pt x="273011" y="361759"/>
                  </a:lnTo>
                  <a:lnTo>
                    <a:pt x="282638" y="363029"/>
                  </a:lnTo>
                  <a:lnTo>
                    <a:pt x="308305" y="363029"/>
                  </a:lnTo>
                  <a:lnTo>
                    <a:pt x="312483" y="364299"/>
                  </a:lnTo>
                  <a:lnTo>
                    <a:pt x="318973" y="366839"/>
                  </a:lnTo>
                  <a:lnTo>
                    <a:pt x="321030" y="367639"/>
                  </a:lnTo>
                  <a:lnTo>
                    <a:pt x="322694" y="366839"/>
                  </a:lnTo>
                  <a:lnTo>
                    <a:pt x="347599" y="368109"/>
                  </a:lnTo>
                  <a:lnTo>
                    <a:pt x="364883" y="369379"/>
                  </a:lnTo>
                  <a:lnTo>
                    <a:pt x="382435" y="371919"/>
                  </a:lnTo>
                  <a:lnTo>
                    <a:pt x="408127" y="375729"/>
                  </a:lnTo>
                  <a:lnTo>
                    <a:pt x="404406" y="373189"/>
                  </a:lnTo>
                  <a:lnTo>
                    <a:pt x="413232" y="373189"/>
                  </a:lnTo>
                  <a:lnTo>
                    <a:pt x="422059" y="371919"/>
                  </a:lnTo>
                  <a:lnTo>
                    <a:pt x="423913" y="375729"/>
                  </a:lnTo>
                  <a:lnTo>
                    <a:pt x="443484" y="376999"/>
                  </a:lnTo>
                  <a:lnTo>
                    <a:pt x="452970" y="378269"/>
                  </a:lnTo>
                  <a:lnTo>
                    <a:pt x="462445" y="379539"/>
                  </a:lnTo>
                  <a:lnTo>
                    <a:pt x="473925" y="382079"/>
                  </a:lnTo>
                  <a:lnTo>
                    <a:pt x="479666" y="383349"/>
                  </a:lnTo>
                  <a:lnTo>
                    <a:pt x="494017" y="387159"/>
                  </a:lnTo>
                  <a:lnTo>
                    <a:pt x="498195" y="383349"/>
                  </a:lnTo>
                  <a:lnTo>
                    <a:pt x="503770" y="383349"/>
                  </a:lnTo>
                  <a:lnTo>
                    <a:pt x="511670" y="390969"/>
                  </a:lnTo>
                  <a:lnTo>
                    <a:pt x="514908" y="384619"/>
                  </a:lnTo>
                  <a:lnTo>
                    <a:pt x="526986" y="383349"/>
                  </a:lnTo>
                  <a:lnTo>
                    <a:pt x="534416" y="383349"/>
                  </a:lnTo>
                  <a:lnTo>
                    <a:pt x="539521" y="382079"/>
                  </a:lnTo>
                  <a:lnTo>
                    <a:pt x="543699" y="383349"/>
                  </a:lnTo>
                  <a:lnTo>
                    <a:pt x="547878" y="384619"/>
                  </a:lnTo>
                  <a:lnTo>
                    <a:pt x="556818" y="384619"/>
                  </a:lnTo>
                  <a:lnTo>
                    <a:pt x="558152" y="383349"/>
                  </a:lnTo>
                  <a:lnTo>
                    <a:pt x="568769" y="383349"/>
                  </a:lnTo>
                  <a:lnTo>
                    <a:pt x="574814" y="387159"/>
                  </a:lnTo>
                  <a:lnTo>
                    <a:pt x="576199" y="378269"/>
                  </a:lnTo>
                  <a:lnTo>
                    <a:pt x="585482" y="380809"/>
                  </a:lnTo>
                  <a:lnTo>
                    <a:pt x="589203" y="383349"/>
                  </a:lnTo>
                  <a:lnTo>
                    <a:pt x="594779" y="387159"/>
                  </a:lnTo>
                  <a:lnTo>
                    <a:pt x="605599" y="388429"/>
                  </a:lnTo>
                  <a:lnTo>
                    <a:pt x="614565" y="387159"/>
                  </a:lnTo>
                  <a:lnTo>
                    <a:pt x="625005" y="385889"/>
                  </a:lnTo>
                  <a:lnTo>
                    <a:pt x="640270" y="385889"/>
                  </a:lnTo>
                  <a:lnTo>
                    <a:pt x="647992" y="388429"/>
                  </a:lnTo>
                  <a:lnTo>
                    <a:pt x="652576" y="392239"/>
                  </a:lnTo>
                  <a:lnTo>
                    <a:pt x="652957" y="393509"/>
                  </a:lnTo>
                  <a:lnTo>
                    <a:pt x="653338" y="394779"/>
                  </a:lnTo>
                  <a:lnTo>
                    <a:pt x="649566" y="398589"/>
                  </a:lnTo>
                  <a:lnTo>
                    <a:pt x="658152" y="394779"/>
                  </a:lnTo>
                  <a:lnTo>
                    <a:pt x="661708" y="393509"/>
                  </a:lnTo>
                  <a:lnTo>
                    <a:pt x="669531" y="393509"/>
                  </a:lnTo>
                  <a:lnTo>
                    <a:pt x="671842" y="396049"/>
                  </a:lnTo>
                  <a:lnTo>
                    <a:pt x="669988" y="396049"/>
                  </a:lnTo>
                  <a:lnTo>
                    <a:pt x="666737" y="397319"/>
                  </a:lnTo>
                  <a:lnTo>
                    <a:pt x="673608" y="398589"/>
                  </a:lnTo>
                  <a:lnTo>
                    <a:pt x="676783" y="398589"/>
                  </a:lnTo>
                  <a:lnTo>
                    <a:pt x="679348" y="397319"/>
                  </a:lnTo>
                  <a:lnTo>
                    <a:pt x="684390" y="397319"/>
                  </a:lnTo>
                  <a:lnTo>
                    <a:pt x="687628" y="392239"/>
                  </a:lnTo>
                  <a:lnTo>
                    <a:pt x="690880" y="385889"/>
                  </a:lnTo>
                  <a:lnTo>
                    <a:pt x="694131" y="385889"/>
                  </a:lnTo>
                  <a:lnTo>
                    <a:pt x="690422" y="384619"/>
                  </a:lnTo>
                  <a:lnTo>
                    <a:pt x="698322" y="383349"/>
                  </a:lnTo>
                  <a:lnTo>
                    <a:pt x="715365" y="383349"/>
                  </a:lnTo>
                  <a:lnTo>
                    <a:pt x="724319" y="384619"/>
                  </a:lnTo>
                  <a:lnTo>
                    <a:pt x="723849" y="387159"/>
                  </a:lnTo>
                  <a:lnTo>
                    <a:pt x="734987" y="384619"/>
                  </a:lnTo>
                  <a:lnTo>
                    <a:pt x="735457" y="387159"/>
                  </a:lnTo>
                  <a:lnTo>
                    <a:pt x="770826" y="387159"/>
                  </a:lnTo>
                  <a:lnTo>
                    <a:pt x="777709" y="388429"/>
                  </a:lnTo>
                  <a:lnTo>
                    <a:pt x="777240" y="389699"/>
                  </a:lnTo>
                  <a:lnTo>
                    <a:pt x="785380" y="390969"/>
                  </a:lnTo>
                  <a:lnTo>
                    <a:pt x="793521" y="392239"/>
                  </a:lnTo>
                  <a:lnTo>
                    <a:pt x="809625" y="392239"/>
                  </a:lnTo>
                  <a:lnTo>
                    <a:pt x="826604" y="390969"/>
                  </a:lnTo>
                  <a:lnTo>
                    <a:pt x="845502" y="390969"/>
                  </a:lnTo>
                  <a:lnTo>
                    <a:pt x="841781" y="393509"/>
                  </a:lnTo>
                  <a:lnTo>
                    <a:pt x="846112" y="394779"/>
                  </a:lnTo>
                  <a:lnTo>
                    <a:pt x="849884" y="390969"/>
                  </a:lnTo>
                  <a:lnTo>
                    <a:pt x="855243" y="390969"/>
                  </a:lnTo>
                  <a:lnTo>
                    <a:pt x="855713" y="394779"/>
                  </a:lnTo>
                  <a:lnTo>
                    <a:pt x="865466" y="390969"/>
                  </a:lnTo>
                  <a:lnTo>
                    <a:pt x="866622" y="393509"/>
                  </a:lnTo>
                  <a:lnTo>
                    <a:pt x="867778" y="396049"/>
                  </a:lnTo>
                  <a:lnTo>
                    <a:pt x="874280" y="398589"/>
                  </a:lnTo>
                  <a:lnTo>
                    <a:pt x="871499" y="393509"/>
                  </a:lnTo>
                  <a:lnTo>
                    <a:pt x="883564" y="394779"/>
                  </a:lnTo>
                  <a:lnTo>
                    <a:pt x="890308" y="396049"/>
                  </a:lnTo>
                  <a:lnTo>
                    <a:pt x="897039" y="397319"/>
                  </a:lnTo>
                  <a:lnTo>
                    <a:pt x="892860" y="401129"/>
                  </a:lnTo>
                  <a:lnTo>
                    <a:pt x="891463" y="402399"/>
                  </a:lnTo>
                  <a:lnTo>
                    <a:pt x="889609" y="404939"/>
                  </a:lnTo>
                  <a:lnTo>
                    <a:pt x="898893" y="401129"/>
                  </a:lnTo>
                  <a:lnTo>
                    <a:pt x="900747" y="406209"/>
                  </a:lnTo>
                  <a:lnTo>
                    <a:pt x="907719" y="401129"/>
                  </a:lnTo>
                  <a:lnTo>
                    <a:pt x="907592" y="402399"/>
                  </a:lnTo>
                  <a:lnTo>
                    <a:pt x="907478" y="403669"/>
                  </a:lnTo>
                  <a:lnTo>
                    <a:pt x="907364" y="404939"/>
                  </a:lnTo>
                  <a:lnTo>
                    <a:pt x="907249" y="406209"/>
                  </a:lnTo>
                  <a:lnTo>
                    <a:pt x="919327" y="403669"/>
                  </a:lnTo>
                  <a:lnTo>
                    <a:pt x="919784" y="404939"/>
                  </a:lnTo>
                  <a:lnTo>
                    <a:pt x="920254" y="406209"/>
                  </a:lnTo>
                  <a:lnTo>
                    <a:pt x="917003" y="407479"/>
                  </a:lnTo>
                  <a:lnTo>
                    <a:pt x="921181" y="407479"/>
                  </a:lnTo>
                  <a:lnTo>
                    <a:pt x="941146" y="402399"/>
                  </a:lnTo>
                  <a:lnTo>
                    <a:pt x="929068" y="404939"/>
                  </a:lnTo>
                  <a:lnTo>
                    <a:pt x="930922" y="398589"/>
                  </a:lnTo>
                  <a:lnTo>
                    <a:pt x="938961" y="396049"/>
                  </a:lnTo>
                  <a:lnTo>
                    <a:pt x="945095" y="397319"/>
                  </a:lnTo>
                  <a:lnTo>
                    <a:pt x="950518" y="398589"/>
                  </a:lnTo>
                  <a:lnTo>
                    <a:pt x="956462" y="398589"/>
                  </a:lnTo>
                  <a:lnTo>
                    <a:pt x="950429" y="399859"/>
                  </a:lnTo>
                  <a:lnTo>
                    <a:pt x="964819" y="398589"/>
                  </a:lnTo>
                  <a:lnTo>
                    <a:pt x="964984" y="399859"/>
                  </a:lnTo>
                  <a:lnTo>
                    <a:pt x="965288" y="402399"/>
                  </a:lnTo>
                  <a:lnTo>
                    <a:pt x="973645" y="403669"/>
                  </a:lnTo>
                  <a:lnTo>
                    <a:pt x="971321" y="402399"/>
                  </a:lnTo>
                  <a:lnTo>
                    <a:pt x="967613" y="401129"/>
                  </a:lnTo>
                  <a:lnTo>
                    <a:pt x="973175" y="399859"/>
                  </a:lnTo>
                  <a:lnTo>
                    <a:pt x="977353" y="399859"/>
                  </a:lnTo>
                  <a:lnTo>
                    <a:pt x="975499" y="402399"/>
                  </a:lnTo>
                  <a:lnTo>
                    <a:pt x="979220" y="402399"/>
                  </a:lnTo>
                  <a:lnTo>
                    <a:pt x="980147" y="398589"/>
                  </a:lnTo>
                  <a:lnTo>
                    <a:pt x="990828" y="396049"/>
                  </a:lnTo>
                  <a:lnTo>
                    <a:pt x="1000112" y="398589"/>
                  </a:lnTo>
                  <a:lnTo>
                    <a:pt x="999642" y="399859"/>
                  </a:lnTo>
                  <a:lnTo>
                    <a:pt x="1001496" y="399859"/>
                  </a:lnTo>
                  <a:lnTo>
                    <a:pt x="1002893" y="398589"/>
                  </a:lnTo>
                  <a:lnTo>
                    <a:pt x="1007071" y="399859"/>
                  </a:lnTo>
                  <a:lnTo>
                    <a:pt x="1004290" y="404939"/>
                  </a:lnTo>
                  <a:lnTo>
                    <a:pt x="1012177" y="399859"/>
                  </a:lnTo>
                  <a:lnTo>
                    <a:pt x="1017295" y="401129"/>
                  </a:lnTo>
                  <a:lnTo>
                    <a:pt x="1025182" y="398589"/>
                  </a:lnTo>
                  <a:lnTo>
                    <a:pt x="1024712" y="401129"/>
                  </a:lnTo>
                  <a:lnTo>
                    <a:pt x="1021473" y="402399"/>
                  </a:lnTo>
                  <a:lnTo>
                    <a:pt x="1061402" y="404939"/>
                  </a:lnTo>
                  <a:lnTo>
                    <a:pt x="1061859" y="408749"/>
                  </a:lnTo>
                  <a:lnTo>
                    <a:pt x="1067015" y="407479"/>
                  </a:lnTo>
                  <a:lnTo>
                    <a:pt x="1080465" y="407479"/>
                  </a:lnTo>
                  <a:lnTo>
                    <a:pt x="1082751" y="404939"/>
                  </a:lnTo>
                  <a:lnTo>
                    <a:pt x="1090460" y="406209"/>
                  </a:lnTo>
                  <a:lnTo>
                    <a:pt x="1099820" y="406209"/>
                  </a:lnTo>
                  <a:lnTo>
                    <a:pt x="1106919" y="407479"/>
                  </a:lnTo>
                  <a:lnTo>
                    <a:pt x="1107224" y="408749"/>
                  </a:lnTo>
                  <a:lnTo>
                    <a:pt x="1107833" y="411289"/>
                  </a:lnTo>
                  <a:lnTo>
                    <a:pt x="1125880" y="411289"/>
                  </a:lnTo>
                  <a:lnTo>
                    <a:pt x="1159535" y="408749"/>
                  </a:lnTo>
                  <a:lnTo>
                    <a:pt x="1180719" y="410019"/>
                  </a:lnTo>
                  <a:lnTo>
                    <a:pt x="1188516" y="412559"/>
                  </a:lnTo>
                  <a:lnTo>
                    <a:pt x="1192415" y="413829"/>
                  </a:lnTo>
                  <a:lnTo>
                    <a:pt x="1208811" y="416369"/>
                  </a:lnTo>
                  <a:lnTo>
                    <a:pt x="1226947" y="416369"/>
                  </a:lnTo>
                  <a:lnTo>
                    <a:pt x="1243863" y="417639"/>
                  </a:lnTo>
                  <a:lnTo>
                    <a:pt x="1351584" y="412559"/>
                  </a:lnTo>
                  <a:lnTo>
                    <a:pt x="1358404" y="413829"/>
                  </a:lnTo>
                  <a:lnTo>
                    <a:pt x="1365211" y="415099"/>
                  </a:lnTo>
                  <a:lnTo>
                    <a:pt x="1372031" y="416369"/>
                  </a:lnTo>
                  <a:lnTo>
                    <a:pt x="1394993" y="416369"/>
                  </a:lnTo>
                  <a:lnTo>
                    <a:pt x="1418310" y="415099"/>
                  </a:lnTo>
                  <a:lnTo>
                    <a:pt x="1439799" y="416369"/>
                  </a:lnTo>
                  <a:lnTo>
                    <a:pt x="1447228" y="413829"/>
                  </a:lnTo>
                  <a:lnTo>
                    <a:pt x="1462036" y="416369"/>
                  </a:lnTo>
                  <a:lnTo>
                    <a:pt x="1497901" y="416369"/>
                  </a:lnTo>
                  <a:lnTo>
                    <a:pt x="1516875" y="418909"/>
                  </a:lnTo>
                  <a:lnTo>
                    <a:pt x="1522920" y="417639"/>
                  </a:lnTo>
                  <a:lnTo>
                    <a:pt x="1526628" y="417639"/>
                  </a:lnTo>
                  <a:lnTo>
                    <a:pt x="1524774" y="416369"/>
                  </a:lnTo>
                  <a:lnTo>
                    <a:pt x="1524304" y="413829"/>
                  </a:lnTo>
                  <a:lnTo>
                    <a:pt x="1528787" y="415467"/>
                  </a:lnTo>
                  <a:lnTo>
                    <a:pt x="1528025" y="415658"/>
                  </a:lnTo>
                  <a:lnTo>
                    <a:pt x="1529321" y="415658"/>
                  </a:lnTo>
                  <a:lnTo>
                    <a:pt x="1531277" y="416369"/>
                  </a:lnTo>
                  <a:lnTo>
                    <a:pt x="1545666" y="413829"/>
                  </a:lnTo>
                  <a:lnTo>
                    <a:pt x="1545437" y="415099"/>
                  </a:lnTo>
                  <a:lnTo>
                    <a:pt x="1545196" y="416369"/>
                  </a:lnTo>
                  <a:lnTo>
                    <a:pt x="1544739" y="418909"/>
                  </a:lnTo>
                  <a:lnTo>
                    <a:pt x="1542884" y="418909"/>
                  </a:lnTo>
                  <a:lnTo>
                    <a:pt x="1545945" y="420179"/>
                  </a:lnTo>
                  <a:lnTo>
                    <a:pt x="1564093" y="420179"/>
                  </a:lnTo>
                  <a:lnTo>
                    <a:pt x="1572133" y="421449"/>
                  </a:lnTo>
                  <a:lnTo>
                    <a:pt x="1567954" y="416369"/>
                  </a:lnTo>
                  <a:lnTo>
                    <a:pt x="1579892" y="417499"/>
                  </a:lnTo>
                  <a:lnTo>
                    <a:pt x="1616456" y="415099"/>
                  </a:lnTo>
                  <a:lnTo>
                    <a:pt x="1680540" y="417639"/>
                  </a:lnTo>
                  <a:lnTo>
                    <a:pt x="1717459" y="415099"/>
                  </a:lnTo>
                  <a:lnTo>
                    <a:pt x="1716011" y="416369"/>
                  </a:lnTo>
                  <a:lnTo>
                    <a:pt x="1725815" y="416369"/>
                  </a:lnTo>
                  <a:lnTo>
                    <a:pt x="1729066" y="417639"/>
                  </a:lnTo>
                  <a:lnTo>
                    <a:pt x="1739112" y="421449"/>
                  </a:lnTo>
                  <a:lnTo>
                    <a:pt x="1748510" y="420179"/>
                  </a:lnTo>
                  <a:lnTo>
                    <a:pt x="1766214" y="415099"/>
                  </a:lnTo>
                  <a:lnTo>
                    <a:pt x="1766214" y="413829"/>
                  </a:lnTo>
                  <a:lnTo>
                    <a:pt x="1766671" y="413829"/>
                  </a:lnTo>
                  <a:lnTo>
                    <a:pt x="1766671" y="414731"/>
                  </a:lnTo>
                  <a:lnTo>
                    <a:pt x="1771319" y="414731"/>
                  </a:lnTo>
                  <a:lnTo>
                    <a:pt x="1774710" y="414312"/>
                  </a:lnTo>
                  <a:lnTo>
                    <a:pt x="1787105" y="415099"/>
                  </a:lnTo>
                  <a:lnTo>
                    <a:pt x="1785594" y="416369"/>
                  </a:lnTo>
                  <a:lnTo>
                    <a:pt x="1784324" y="417499"/>
                  </a:lnTo>
                  <a:lnTo>
                    <a:pt x="1788375" y="415099"/>
                  </a:lnTo>
                  <a:lnTo>
                    <a:pt x="1792846" y="413829"/>
                  </a:lnTo>
                  <a:lnTo>
                    <a:pt x="1790357" y="415099"/>
                  </a:lnTo>
                  <a:lnTo>
                    <a:pt x="1811007" y="416369"/>
                  </a:lnTo>
                  <a:lnTo>
                    <a:pt x="1831670" y="417639"/>
                  </a:lnTo>
                  <a:lnTo>
                    <a:pt x="1923351" y="417639"/>
                  </a:lnTo>
                  <a:lnTo>
                    <a:pt x="1969109" y="418909"/>
                  </a:lnTo>
                  <a:lnTo>
                    <a:pt x="1966328" y="416369"/>
                  </a:lnTo>
                  <a:lnTo>
                    <a:pt x="2001977" y="416369"/>
                  </a:lnTo>
                  <a:lnTo>
                    <a:pt x="2011819" y="417639"/>
                  </a:lnTo>
                  <a:lnTo>
                    <a:pt x="2020709" y="418909"/>
                  </a:lnTo>
                  <a:lnTo>
                    <a:pt x="2029294" y="416369"/>
                  </a:lnTo>
                  <a:lnTo>
                    <a:pt x="2036572" y="415099"/>
                  </a:lnTo>
                  <a:lnTo>
                    <a:pt x="2041537" y="412559"/>
                  </a:lnTo>
                  <a:lnTo>
                    <a:pt x="2050592" y="412559"/>
                  </a:lnTo>
                  <a:lnTo>
                    <a:pt x="2057844" y="413829"/>
                  </a:lnTo>
                  <a:lnTo>
                    <a:pt x="2061718" y="415099"/>
                  </a:lnTo>
                  <a:lnTo>
                    <a:pt x="2060575" y="416369"/>
                  </a:lnTo>
                  <a:lnTo>
                    <a:pt x="2081415" y="411289"/>
                  </a:lnTo>
                  <a:lnTo>
                    <a:pt x="2092896" y="410019"/>
                  </a:lnTo>
                  <a:lnTo>
                    <a:pt x="2106079" y="410019"/>
                  </a:lnTo>
                  <a:lnTo>
                    <a:pt x="2110244" y="411289"/>
                  </a:lnTo>
                  <a:lnTo>
                    <a:pt x="2117166" y="411289"/>
                  </a:lnTo>
                  <a:lnTo>
                    <a:pt x="2125726" y="410019"/>
                  </a:lnTo>
                  <a:lnTo>
                    <a:pt x="2134870" y="407479"/>
                  </a:lnTo>
                  <a:lnTo>
                    <a:pt x="2143874" y="406209"/>
                  </a:lnTo>
                  <a:lnTo>
                    <a:pt x="2151519" y="404939"/>
                  </a:lnTo>
                  <a:lnTo>
                    <a:pt x="2156993" y="404939"/>
                  </a:lnTo>
                  <a:lnTo>
                    <a:pt x="2159470" y="406209"/>
                  </a:lnTo>
                  <a:lnTo>
                    <a:pt x="2159470" y="406412"/>
                  </a:lnTo>
                  <a:lnTo>
                    <a:pt x="2159571" y="406209"/>
                  </a:lnTo>
                  <a:lnTo>
                    <a:pt x="2172004" y="406209"/>
                  </a:lnTo>
                  <a:lnTo>
                    <a:pt x="2178050" y="403669"/>
                  </a:lnTo>
                  <a:lnTo>
                    <a:pt x="2181301" y="403669"/>
                  </a:lnTo>
                  <a:lnTo>
                    <a:pt x="2184082" y="402399"/>
                  </a:lnTo>
                  <a:lnTo>
                    <a:pt x="2187333" y="402399"/>
                  </a:lnTo>
                  <a:lnTo>
                    <a:pt x="2190115" y="401129"/>
                  </a:lnTo>
                  <a:lnTo>
                    <a:pt x="2196617" y="399859"/>
                  </a:lnTo>
                  <a:lnTo>
                    <a:pt x="2214956" y="394779"/>
                  </a:lnTo>
                  <a:lnTo>
                    <a:pt x="2224557" y="392239"/>
                  </a:lnTo>
                  <a:lnTo>
                    <a:pt x="2232609" y="390220"/>
                  </a:lnTo>
                  <a:lnTo>
                    <a:pt x="2233295" y="390220"/>
                  </a:lnTo>
                  <a:lnTo>
                    <a:pt x="2233523" y="389991"/>
                  </a:lnTo>
                  <a:lnTo>
                    <a:pt x="2234692" y="389699"/>
                  </a:lnTo>
                  <a:lnTo>
                    <a:pt x="2234463" y="390334"/>
                  </a:lnTo>
                  <a:lnTo>
                    <a:pt x="2236546" y="388429"/>
                  </a:lnTo>
                  <a:lnTo>
                    <a:pt x="2241194" y="385889"/>
                  </a:lnTo>
                  <a:lnTo>
                    <a:pt x="2259304" y="369379"/>
                  </a:lnTo>
                  <a:lnTo>
                    <a:pt x="2261616" y="366839"/>
                  </a:lnTo>
                  <a:lnTo>
                    <a:pt x="2264410" y="364299"/>
                  </a:lnTo>
                  <a:lnTo>
                    <a:pt x="2269045" y="360489"/>
                  </a:lnTo>
                  <a:lnTo>
                    <a:pt x="2270899" y="357949"/>
                  </a:lnTo>
                  <a:lnTo>
                    <a:pt x="2274151" y="352869"/>
                  </a:lnTo>
                  <a:lnTo>
                    <a:pt x="2276475" y="350329"/>
                  </a:lnTo>
                  <a:close/>
                </a:path>
              </a:pathLst>
            </a:custGeom>
            <a:solidFill>
              <a:srgbClr val="000000"/>
            </a:solidFill>
          </p:spPr>
          <p:txBody>
            <a:bodyPr wrap="square" lIns="0" tIns="0" rIns="0" bIns="0" rtlCol="0"/>
            <a:lstStyle/>
            <a:p>
              <a:endParaRPr/>
            </a:p>
          </p:txBody>
        </p:sp>
        <p:pic>
          <p:nvPicPr>
            <p:cNvPr id="8" name="object 8"/>
            <p:cNvPicPr/>
            <p:nvPr/>
          </p:nvPicPr>
          <p:blipFill>
            <a:blip r:embed="rId4" cstate="print"/>
            <a:stretch>
              <a:fillRect/>
            </a:stretch>
          </p:blipFill>
          <p:spPr>
            <a:xfrm>
              <a:off x="9340064" y="6666718"/>
              <a:ext cx="1746166" cy="3385706"/>
            </a:xfrm>
            <a:prstGeom prst="rect">
              <a:avLst/>
            </a:prstGeom>
          </p:spPr>
        </p:pic>
        <p:pic>
          <p:nvPicPr>
            <p:cNvPr id="9" name="object 9"/>
            <p:cNvPicPr/>
            <p:nvPr/>
          </p:nvPicPr>
          <p:blipFill>
            <a:blip r:embed="rId4" cstate="print"/>
            <a:stretch>
              <a:fillRect/>
            </a:stretch>
          </p:blipFill>
          <p:spPr>
            <a:xfrm>
              <a:off x="11604270" y="6300945"/>
              <a:ext cx="1746166" cy="3383281"/>
            </a:xfrm>
            <a:prstGeom prst="rect">
              <a:avLst/>
            </a:prstGeom>
          </p:spPr>
        </p:pic>
        <p:sp>
          <p:nvSpPr>
            <p:cNvPr id="10" name="object 10"/>
            <p:cNvSpPr/>
            <p:nvPr/>
          </p:nvSpPr>
          <p:spPr>
            <a:xfrm>
              <a:off x="8458962" y="3739730"/>
              <a:ext cx="38100" cy="1005840"/>
            </a:xfrm>
            <a:custGeom>
              <a:avLst/>
              <a:gdLst/>
              <a:ahLst/>
              <a:cxnLst/>
              <a:rect l="l" t="t" r="r" b="b"/>
              <a:pathLst>
                <a:path w="38100" h="1005839">
                  <a:moveTo>
                    <a:pt x="38100" y="800100"/>
                  </a:moveTo>
                  <a:lnTo>
                    <a:pt x="0" y="800100"/>
                  </a:lnTo>
                  <a:lnTo>
                    <a:pt x="0" y="1005484"/>
                  </a:lnTo>
                  <a:lnTo>
                    <a:pt x="38100" y="1005484"/>
                  </a:lnTo>
                  <a:lnTo>
                    <a:pt x="38100" y="800100"/>
                  </a:lnTo>
                  <a:close/>
                </a:path>
                <a:path w="38100" h="1005839">
                  <a:moveTo>
                    <a:pt x="38100" y="533400"/>
                  </a:moveTo>
                  <a:lnTo>
                    <a:pt x="0" y="533400"/>
                  </a:lnTo>
                  <a:lnTo>
                    <a:pt x="0" y="762000"/>
                  </a:lnTo>
                  <a:lnTo>
                    <a:pt x="38100" y="762000"/>
                  </a:lnTo>
                  <a:lnTo>
                    <a:pt x="38100" y="533400"/>
                  </a:lnTo>
                  <a:close/>
                </a:path>
                <a:path w="38100" h="1005839">
                  <a:moveTo>
                    <a:pt x="38100" y="266700"/>
                  </a:moveTo>
                  <a:lnTo>
                    <a:pt x="0" y="266700"/>
                  </a:lnTo>
                  <a:lnTo>
                    <a:pt x="0" y="495300"/>
                  </a:lnTo>
                  <a:lnTo>
                    <a:pt x="38100" y="495300"/>
                  </a:lnTo>
                  <a:lnTo>
                    <a:pt x="38100" y="266700"/>
                  </a:lnTo>
                  <a:close/>
                </a:path>
                <a:path w="38100" h="1005839">
                  <a:moveTo>
                    <a:pt x="38100" y="0"/>
                  </a:moveTo>
                  <a:lnTo>
                    <a:pt x="0" y="0"/>
                  </a:lnTo>
                  <a:lnTo>
                    <a:pt x="0" y="228600"/>
                  </a:lnTo>
                  <a:lnTo>
                    <a:pt x="38100" y="228600"/>
                  </a:lnTo>
                  <a:lnTo>
                    <a:pt x="38100" y="0"/>
                  </a:lnTo>
                  <a:close/>
                </a:path>
              </a:pathLst>
            </a:custGeom>
            <a:solidFill>
              <a:srgbClr val="000000"/>
            </a:solidFill>
          </p:spPr>
          <p:txBody>
            <a:bodyPr wrap="square" lIns="0" tIns="0" rIns="0" bIns="0" rtlCol="0"/>
            <a:lstStyle/>
            <a:p>
              <a:endParaRPr/>
            </a:p>
          </p:txBody>
        </p:sp>
        <p:sp>
          <p:nvSpPr>
            <p:cNvPr id="11" name="object 11"/>
            <p:cNvSpPr/>
            <p:nvPr/>
          </p:nvSpPr>
          <p:spPr>
            <a:xfrm>
              <a:off x="8459042" y="4739249"/>
              <a:ext cx="6111875" cy="6350"/>
            </a:xfrm>
            <a:custGeom>
              <a:avLst/>
              <a:gdLst/>
              <a:ahLst/>
              <a:cxnLst/>
              <a:rect l="l" t="t" r="r" b="b"/>
              <a:pathLst>
                <a:path w="6111875" h="6350">
                  <a:moveTo>
                    <a:pt x="0" y="0"/>
                  </a:moveTo>
                  <a:lnTo>
                    <a:pt x="6111570" y="5884"/>
                  </a:lnTo>
                </a:path>
              </a:pathLst>
            </a:custGeom>
            <a:ln w="38099">
              <a:solidFill>
                <a:srgbClr val="000000"/>
              </a:solidFill>
            </a:ln>
          </p:spPr>
          <p:txBody>
            <a:bodyPr wrap="square" lIns="0" tIns="0" rIns="0" bIns="0" rtlCol="0"/>
            <a:lstStyle/>
            <a:p>
              <a:endParaRPr/>
            </a:p>
          </p:txBody>
        </p:sp>
        <p:sp>
          <p:nvSpPr>
            <p:cNvPr id="12" name="object 12"/>
            <p:cNvSpPr/>
            <p:nvPr/>
          </p:nvSpPr>
          <p:spPr>
            <a:xfrm>
              <a:off x="14589598" y="4720528"/>
              <a:ext cx="0" cy="1026794"/>
            </a:xfrm>
            <a:custGeom>
              <a:avLst/>
              <a:gdLst/>
              <a:ahLst/>
              <a:cxnLst/>
              <a:rect l="l" t="t" r="r" b="b"/>
              <a:pathLst>
                <a:path h="1026795">
                  <a:moveTo>
                    <a:pt x="0" y="0"/>
                  </a:moveTo>
                  <a:lnTo>
                    <a:pt x="0" y="1026448"/>
                  </a:lnTo>
                </a:path>
              </a:pathLst>
            </a:custGeom>
            <a:ln w="38099">
              <a:solidFill>
                <a:srgbClr val="000000"/>
              </a:solidFill>
            </a:ln>
          </p:spPr>
          <p:txBody>
            <a:bodyPr wrap="square" lIns="0" tIns="0" rIns="0" bIns="0" rtlCol="0"/>
            <a:lstStyle/>
            <a:p>
              <a:endParaRPr/>
            </a:p>
          </p:txBody>
        </p:sp>
        <p:sp>
          <p:nvSpPr>
            <p:cNvPr id="13" name="object 13"/>
            <p:cNvSpPr/>
            <p:nvPr/>
          </p:nvSpPr>
          <p:spPr>
            <a:xfrm>
              <a:off x="14532448" y="5670776"/>
              <a:ext cx="114300" cy="76200"/>
            </a:xfrm>
            <a:custGeom>
              <a:avLst/>
              <a:gdLst/>
              <a:ahLst/>
              <a:cxnLst/>
              <a:rect l="l" t="t" r="r" b="b"/>
              <a:pathLst>
                <a:path w="114300" h="76200">
                  <a:moveTo>
                    <a:pt x="114299" y="0"/>
                  </a:moveTo>
                  <a:lnTo>
                    <a:pt x="57149" y="76199"/>
                  </a:lnTo>
                  <a:lnTo>
                    <a:pt x="0" y="0"/>
                  </a:lnTo>
                </a:path>
              </a:pathLst>
            </a:custGeom>
            <a:ln w="38099">
              <a:solidFill>
                <a:srgbClr val="000000"/>
              </a:solidFill>
            </a:ln>
          </p:spPr>
          <p:txBody>
            <a:bodyPr wrap="square" lIns="0" tIns="0" rIns="0" bIns="0" rtlCol="0"/>
            <a:lstStyle/>
            <a:p>
              <a:endParaRPr/>
            </a:p>
          </p:txBody>
        </p:sp>
        <p:sp>
          <p:nvSpPr>
            <p:cNvPr id="14" name="object 14"/>
            <p:cNvSpPr/>
            <p:nvPr/>
          </p:nvSpPr>
          <p:spPr>
            <a:xfrm>
              <a:off x="12425672" y="4764473"/>
              <a:ext cx="19050" cy="1357630"/>
            </a:xfrm>
            <a:custGeom>
              <a:avLst/>
              <a:gdLst/>
              <a:ahLst/>
              <a:cxnLst/>
              <a:rect l="l" t="t" r="r" b="b"/>
              <a:pathLst>
                <a:path w="19050" h="1357629">
                  <a:moveTo>
                    <a:pt x="18786" y="0"/>
                  </a:moveTo>
                  <a:lnTo>
                    <a:pt x="0" y="1357233"/>
                  </a:lnTo>
                </a:path>
              </a:pathLst>
            </a:custGeom>
            <a:ln w="38100">
              <a:solidFill>
                <a:srgbClr val="000000"/>
              </a:solidFill>
            </a:ln>
          </p:spPr>
          <p:txBody>
            <a:bodyPr wrap="square" lIns="0" tIns="0" rIns="0" bIns="0" rtlCol="0"/>
            <a:lstStyle/>
            <a:p>
              <a:endParaRPr/>
            </a:p>
          </p:txBody>
        </p:sp>
        <p:sp>
          <p:nvSpPr>
            <p:cNvPr id="15" name="object 15"/>
            <p:cNvSpPr/>
            <p:nvPr/>
          </p:nvSpPr>
          <p:spPr>
            <a:xfrm>
              <a:off x="12369583" y="6044722"/>
              <a:ext cx="114300" cy="77470"/>
            </a:xfrm>
            <a:custGeom>
              <a:avLst/>
              <a:gdLst/>
              <a:ahLst/>
              <a:cxnLst/>
              <a:rect l="l" t="t" r="r" b="b"/>
              <a:pathLst>
                <a:path w="114300" h="77470">
                  <a:moveTo>
                    <a:pt x="114289" y="1581"/>
                  </a:moveTo>
                  <a:lnTo>
                    <a:pt x="56089" y="76983"/>
                  </a:lnTo>
                  <a:lnTo>
                    <a:pt x="0" y="0"/>
                  </a:lnTo>
                </a:path>
              </a:pathLst>
            </a:custGeom>
            <a:ln w="38100">
              <a:solidFill>
                <a:srgbClr val="000000"/>
              </a:solidFill>
            </a:ln>
          </p:spPr>
          <p:txBody>
            <a:bodyPr wrap="square" lIns="0" tIns="0" rIns="0" bIns="0" rtlCol="0"/>
            <a:lstStyle/>
            <a:p>
              <a:endParaRPr/>
            </a:p>
          </p:txBody>
        </p:sp>
        <p:sp>
          <p:nvSpPr>
            <p:cNvPr id="16" name="object 16"/>
            <p:cNvSpPr/>
            <p:nvPr/>
          </p:nvSpPr>
          <p:spPr>
            <a:xfrm>
              <a:off x="9814443" y="4739584"/>
              <a:ext cx="19050" cy="1878330"/>
            </a:xfrm>
            <a:custGeom>
              <a:avLst/>
              <a:gdLst/>
              <a:ahLst/>
              <a:cxnLst/>
              <a:rect l="l" t="t" r="r" b="b"/>
              <a:pathLst>
                <a:path w="19050" h="1878329">
                  <a:moveTo>
                    <a:pt x="18858" y="0"/>
                  </a:moveTo>
                  <a:lnTo>
                    <a:pt x="0" y="1878258"/>
                  </a:lnTo>
                </a:path>
              </a:pathLst>
            </a:custGeom>
            <a:ln w="38099">
              <a:solidFill>
                <a:srgbClr val="000000"/>
              </a:solidFill>
            </a:ln>
          </p:spPr>
          <p:txBody>
            <a:bodyPr wrap="square" lIns="0" tIns="0" rIns="0" bIns="0" rtlCol="0"/>
            <a:lstStyle/>
            <a:p>
              <a:endParaRPr/>
            </a:p>
          </p:txBody>
        </p:sp>
        <p:sp>
          <p:nvSpPr>
            <p:cNvPr id="17" name="object 17"/>
            <p:cNvSpPr/>
            <p:nvPr/>
          </p:nvSpPr>
          <p:spPr>
            <a:xfrm>
              <a:off x="9758061" y="6541072"/>
              <a:ext cx="114300" cy="76835"/>
            </a:xfrm>
            <a:custGeom>
              <a:avLst/>
              <a:gdLst/>
              <a:ahLst/>
              <a:cxnLst/>
              <a:rect l="l" t="t" r="r" b="b"/>
              <a:pathLst>
                <a:path w="114300" h="76834">
                  <a:moveTo>
                    <a:pt x="114294" y="1147"/>
                  </a:moveTo>
                  <a:lnTo>
                    <a:pt x="56382" y="76769"/>
                  </a:lnTo>
                  <a:lnTo>
                    <a:pt x="0" y="0"/>
                  </a:lnTo>
                </a:path>
              </a:pathLst>
            </a:custGeom>
            <a:ln w="38099">
              <a:solidFill>
                <a:srgbClr val="000000"/>
              </a:solidFill>
            </a:ln>
          </p:spPr>
          <p:txBody>
            <a:bodyPr wrap="square" lIns="0" tIns="0" rIns="0" bIns="0" rtlCol="0"/>
            <a:lstStyle/>
            <a:p>
              <a:endParaRPr/>
            </a:p>
          </p:txBody>
        </p:sp>
        <p:sp>
          <p:nvSpPr>
            <p:cNvPr id="18" name="object 18"/>
            <p:cNvSpPr/>
            <p:nvPr/>
          </p:nvSpPr>
          <p:spPr>
            <a:xfrm>
              <a:off x="10176047" y="7711758"/>
              <a:ext cx="738505" cy="564515"/>
            </a:xfrm>
            <a:custGeom>
              <a:avLst/>
              <a:gdLst/>
              <a:ahLst/>
              <a:cxnLst/>
              <a:rect l="l" t="t" r="r" b="b"/>
              <a:pathLst>
                <a:path w="738504" h="564515">
                  <a:moveTo>
                    <a:pt x="738333" y="304063"/>
                  </a:moveTo>
                  <a:lnTo>
                    <a:pt x="130185" y="564443"/>
                  </a:lnTo>
                  <a:lnTo>
                    <a:pt x="0" y="260379"/>
                  </a:lnTo>
                  <a:lnTo>
                    <a:pt x="608148" y="0"/>
                  </a:lnTo>
                  <a:lnTo>
                    <a:pt x="738333" y="304063"/>
                  </a:lnTo>
                  <a:close/>
                </a:path>
              </a:pathLst>
            </a:custGeom>
            <a:solidFill>
              <a:srgbClr val="FFCF09"/>
            </a:solidFill>
          </p:spPr>
          <p:txBody>
            <a:bodyPr wrap="square" lIns="0" tIns="0" rIns="0" bIns="0" rtlCol="0"/>
            <a:lstStyle/>
            <a:p>
              <a:endParaRPr/>
            </a:p>
          </p:txBody>
        </p:sp>
      </p:grpSp>
      <p:grpSp>
        <p:nvGrpSpPr>
          <p:cNvPr id="19" name="object 19"/>
          <p:cNvGrpSpPr/>
          <p:nvPr/>
        </p:nvGrpSpPr>
        <p:grpSpPr>
          <a:xfrm>
            <a:off x="13868475" y="5935536"/>
            <a:ext cx="1746250" cy="3383279"/>
            <a:chOff x="13868475" y="5935536"/>
            <a:chExt cx="1746250" cy="3383279"/>
          </a:xfrm>
        </p:grpSpPr>
        <p:pic>
          <p:nvPicPr>
            <p:cNvPr id="20" name="object 20"/>
            <p:cNvPicPr/>
            <p:nvPr/>
          </p:nvPicPr>
          <p:blipFill>
            <a:blip r:embed="rId4" cstate="print"/>
            <a:stretch>
              <a:fillRect/>
            </a:stretch>
          </p:blipFill>
          <p:spPr>
            <a:xfrm>
              <a:off x="13868475" y="5935536"/>
              <a:ext cx="1746166" cy="3383281"/>
            </a:xfrm>
            <a:prstGeom prst="rect">
              <a:avLst/>
            </a:prstGeom>
          </p:spPr>
        </p:pic>
        <p:sp>
          <p:nvSpPr>
            <p:cNvPr id="21" name="object 21"/>
            <p:cNvSpPr/>
            <p:nvPr/>
          </p:nvSpPr>
          <p:spPr>
            <a:xfrm>
              <a:off x="14720265" y="7007465"/>
              <a:ext cx="738505" cy="1129030"/>
            </a:xfrm>
            <a:custGeom>
              <a:avLst/>
              <a:gdLst/>
              <a:ahLst/>
              <a:cxnLst/>
              <a:rect l="l" t="t" r="r" b="b"/>
              <a:pathLst>
                <a:path w="738505" h="1129029">
                  <a:moveTo>
                    <a:pt x="738339" y="868502"/>
                  </a:moveTo>
                  <a:lnTo>
                    <a:pt x="608152" y="564438"/>
                  </a:lnTo>
                  <a:lnTo>
                    <a:pt x="0" y="824814"/>
                  </a:lnTo>
                  <a:lnTo>
                    <a:pt x="130187" y="1128877"/>
                  </a:lnTo>
                  <a:lnTo>
                    <a:pt x="738339" y="868502"/>
                  </a:lnTo>
                  <a:close/>
                </a:path>
                <a:path w="738505" h="1129029">
                  <a:moveTo>
                    <a:pt x="738339" y="304063"/>
                  </a:moveTo>
                  <a:lnTo>
                    <a:pt x="608152" y="0"/>
                  </a:lnTo>
                  <a:lnTo>
                    <a:pt x="0" y="260375"/>
                  </a:lnTo>
                  <a:lnTo>
                    <a:pt x="130187" y="564438"/>
                  </a:lnTo>
                  <a:lnTo>
                    <a:pt x="738339" y="304063"/>
                  </a:lnTo>
                  <a:close/>
                </a:path>
              </a:pathLst>
            </a:custGeom>
            <a:solidFill>
              <a:srgbClr val="FFCF09"/>
            </a:solidFill>
          </p:spPr>
          <p:txBody>
            <a:bodyPr wrap="square" lIns="0" tIns="0" rIns="0" bIns="0" rtlCol="0"/>
            <a:lstStyle/>
            <a:p>
              <a:endParaRPr/>
            </a:p>
          </p:txBody>
        </p:sp>
      </p:grpSp>
      <p:pic>
        <p:nvPicPr>
          <p:cNvPr id="22" name="object 22"/>
          <p:cNvPicPr/>
          <p:nvPr/>
        </p:nvPicPr>
        <p:blipFill>
          <a:blip r:embed="rId5" cstate="print"/>
          <a:stretch>
            <a:fillRect/>
          </a:stretch>
        </p:blipFill>
        <p:spPr>
          <a:xfrm>
            <a:off x="2250903" y="547401"/>
            <a:ext cx="231775" cy="368300"/>
          </a:xfrm>
          <a:prstGeom prst="rect">
            <a:avLst/>
          </a:prstGeom>
        </p:spPr>
      </p:pic>
      <p:sp>
        <p:nvSpPr>
          <p:cNvPr id="23" name="object 23"/>
          <p:cNvSpPr txBox="1">
            <a:spLocks noGrp="1"/>
          </p:cNvSpPr>
          <p:nvPr>
            <p:ph type="title"/>
          </p:nvPr>
        </p:nvSpPr>
        <p:spPr>
          <a:xfrm>
            <a:off x="786209" y="388683"/>
            <a:ext cx="7673975" cy="589280"/>
          </a:xfrm>
          <a:prstGeom prst="rect">
            <a:avLst/>
          </a:prstGeom>
        </p:spPr>
        <p:txBody>
          <a:bodyPr vert="horz" wrap="square" lIns="0" tIns="12700" rIns="0" bIns="0" rtlCol="0">
            <a:spAutoFit/>
          </a:bodyPr>
          <a:lstStyle/>
          <a:p>
            <a:pPr marL="12700">
              <a:lnSpc>
                <a:spcPct val="100000"/>
              </a:lnSpc>
              <a:spcBef>
                <a:spcPts val="100"/>
              </a:spcBef>
              <a:tabLst>
                <a:tab pos="1697355" algn="l"/>
              </a:tabLst>
            </a:pPr>
            <a:r>
              <a:rPr sz="3700" b="0" spc="-800" dirty="0">
                <a:solidFill>
                  <a:srgbClr val="FF904D"/>
                </a:solidFill>
                <a:latin typeface="Arial MT"/>
                <a:cs typeface="Arial MT"/>
              </a:rPr>
              <a:t>HOW</a:t>
            </a:r>
            <a:r>
              <a:rPr sz="3700" b="0" dirty="0">
                <a:solidFill>
                  <a:srgbClr val="FF904D"/>
                </a:solidFill>
                <a:latin typeface="Arial MT"/>
                <a:cs typeface="Arial MT"/>
              </a:rPr>
              <a:t> </a:t>
            </a:r>
            <a:r>
              <a:rPr sz="3700" b="0" spc="-775" dirty="0">
                <a:solidFill>
                  <a:srgbClr val="FF904D"/>
                </a:solidFill>
                <a:latin typeface="Arial MT"/>
                <a:cs typeface="Arial MT"/>
              </a:rPr>
              <a:t>RE</a:t>
            </a:r>
            <a:r>
              <a:rPr sz="3700" b="0" dirty="0">
                <a:solidFill>
                  <a:srgbClr val="FF904D"/>
                </a:solidFill>
                <a:latin typeface="Arial MT"/>
                <a:cs typeface="Arial MT"/>
              </a:rPr>
              <a:t>	</a:t>
            </a:r>
            <a:r>
              <a:rPr sz="3700" b="0" spc="-405" dirty="0">
                <a:solidFill>
                  <a:srgbClr val="FF904D"/>
                </a:solidFill>
                <a:latin typeface="Arial MT"/>
                <a:cs typeface="Arial MT"/>
              </a:rPr>
              <a:t>LICATION</a:t>
            </a:r>
            <a:r>
              <a:rPr sz="3700" b="0" spc="-5" dirty="0">
                <a:solidFill>
                  <a:srgbClr val="FF904D"/>
                </a:solidFill>
                <a:latin typeface="Arial MT"/>
                <a:cs typeface="Arial MT"/>
              </a:rPr>
              <a:t> </a:t>
            </a:r>
            <a:r>
              <a:rPr sz="3700" b="0" spc="-575" dirty="0">
                <a:solidFill>
                  <a:srgbClr val="FF904D"/>
                </a:solidFill>
                <a:latin typeface="Arial MT"/>
                <a:cs typeface="Arial MT"/>
              </a:rPr>
              <a:t>CONTROLLER</a:t>
            </a:r>
            <a:r>
              <a:rPr sz="3700" b="0" dirty="0">
                <a:solidFill>
                  <a:srgbClr val="FF904D"/>
                </a:solidFill>
                <a:latin typeface="Arial MT"/>
                <a:cs typeface="Arial MT"/>
              </a:rPr>
              <a:t> </a:t>
            </a:r>
            <a:r>
              <a:rPr sz="3700" b="0" spc="-650" dirty="0">
                <a:solidFill>
                  <a:srgbClr val="FF904D"/>
                </a:solidFill>
                <a:latin typeface="Arial MT"/>
                <a:cs typeface="Arial MT"/>
              </a:rPr>
              <a:t>WORKS:</a:t>
            </a:r>
            <a:endParaRPr sz="3700">
              <a:latin typeface="Arial MT"/>
              <a:cs typeface="Arial MT"/>
            </a:endParaRPr>
          </a:p>
        </p:txBody>
      </p:sp>
      <p:sp>
        <p:nvSpPr>
          <p:cNvPr id="24" name="object 24"/>
          <p:cNvSpPr txBox="1"/>
          <p:nvPr/>
        </p:nvSpPr>
        <p:spPr>
          <a:xfrm>
            <a:off x="4002013" y="1909878"/>
            <a:ext cx="1376045" cy="391795"/>
          </a:xfrm>
          <a:prstGeom prst="rect">
            <a:avLst/>
          </a:prstGeom>
        </p:spPr>
        <p:txBody>
          <a:bodyPr vert="horz" wrap="square" lIns="0" tIns="12700" rIns="0" bIns="0" rtlCol="0">
            <a:spAutoFit/>
          </a:bodyPr>
          <a:lstStyle/>
          <a:p>
            <a:pPr marL="12700">
              <a:lnSpc>
                <a:spcPct val="100000"/>
              </a:lnSpc>
              <a:spcBef>
                <a:spcPts val="100"/>
              </a:spcBef>
            </a:pPr>
            <a:r>
              <a:rPr sz="2400" b="1" spc="-120" dirty="0">
                <a:solidFill>
                  <a:srgbClr val="E7181F"/>
                </a:solidFill>
                <a:latin typeface="Times New Roman"/>
                <a:cs typeface="Times New Roman"/>
              </a:rPr>
              <a:t>REQUEST</a:t>
            </a:r>
            <a:endParaRPr sz="2400">
              <a:latin typeface="Times New Roman"/>
              <a:cs typeface="Times New Roman"/>
            </a:endParaRPr>
          </a:p>
        </p:txBody>
      </p:sp>
      <p:sp>
        <p:nvSpPr>
          <p:cNvPr id="25" name="object 25"/>
          <p:cNvSpPr txBox="1"/>
          <p:nvPr/>
        </p:nvSpPr>
        <p:spPr>
          <a:xfrm>
            <a:off x="1331842" y="2633064"/>
            <a:ext cx="1540510" cy="615950"/>
          </a:xfrm>
          <a:prstGeom prst="rect">
            <a:avLst/>
          </a:prstGeom>
        </p:spPr>
        <p:txBody>
          <a:bodyPr vert="horz" wrap="square" lIns="0" tIns="12700" rIns="0" bIns="0" rtlCol="0">
            <a:spAutoFit/>
          </a:bodyPr>
          <a:lstStyle/>
          <a:p>
            <a:pPr marL="12700" marR="5080" indent="50800">
              <a:lnSpc>
                <a:spcPct val="113999"/>
              </a:lnSpc>
              <a:spcBef>
                <a:spcPts val="100"/>
              </a:spcBef>
            </a:pPr>
            <a:r>
              <a:rPr sz="1700" b="1" spc="-55" dirty="0">
                <a:solidFill>
                  <a:srgbClr val="E7181F"/>
                </a:solidFill>
                <a:latin typeface="Times New Roman"/>
                <a:cs typeface="Times New Roman"/>
              </a:rPr>
              <a:t>REPLICATION </a:t>
            </a:r>
            <a:r>
              <a:rPr sz="1700" b="1" spc="-114" dirty="0">
                <a:solidFill>
                  <a:srgbClr val="E7181F"/>
                </a:solidFill>
                <a:latin typeface="Times New Roman"/>
                <a:cs typeface="Times New Roman"/>
              </a:rPr>
              <a:t>CONTROLLERS</a:t>
            </a:r>
            <a:endParaRPr sz="1700">
              <a:latin typeface="Times New Roman"/>
              <a:cs typeface="Times New Roman"/>
            </a:endParaRPr>
          </a:p>
        </p:txBody>
      </p:sp>
      <p:sp>
        <p:nvSpPr>
          <p:cNvPr id="26" name="object 26"/>
          <p:cNvSpPr/>
          <p:nvPr/>
        </p:nvSpPr>
        <p:spPr>
          <a:xfrm>
            <a:off x="10249662" y="7361960"/>
            <a:ext cx="2952750" cy="1401445"/>
          </a:xfrm>
          <a:custGeom>
            <a:avLst/>
            <a:gdLst/>
            <a:ahLst/>
            <a:cxnLst/>
            <a:rect l="l" t="t" r="r" b="b"/>
            <a:pathLst>
              <a:path w="2952750" h="1401445">
                <a:moveTo>
                  <a:pt x="738339" y="1141069"/>
                </a:moveTo>
                <a:lnTo>
                  <a:pt x="608152" y="837006"/>
                </a:lnTo>
                <a:lnTo>
                  <a:pt x="0" y="1097381"/>
                </a:lnTo>
                <a:lnTo>
                  <a:pt x="130187" y="1401445"/>
                </a:lnTo>
                <a:lnTo>
                  <a:pt x="738339" y="1141069"/>
                </a:lnTo>
                <a:close/>
              </a:path>
              <a:path w="2952750" h="1401445">
                <a:moveTo>
                  <a:pt x="2923641" y="868502"/>
                </a:moveTo>
                <a:lnTo>
                  <a:pt x="2793454" y="564438"/>
                </a:lnTo>
                <a:lnTo>
                  <a:pt x="2185301" y="824826"/>
                </a:lnTo>
                <a:lnTo>
                  <a:pt x="2315489" y="1128890"/>
                </a:lnTo>
                <a:lnTo>
                  <a:pt x="2923641" y="868502"/>
                </a:lnTo>
                <a:close/>
              </a:path>
              <a:path w="2952750" h="1401445">
                <a:moveTo>
                  <a:pt x="2952216" y="304063"/>
                </a:moveTo>
                <a:lnTo>
                  <a:pt x="2822029" y="0"/>
                </a:lnTo>
                <a:lnTo>
                  <a:pt x="2213876" y="260375"/>
                </a:lnTo>
                <a:lnTo>
                  <a:pt x="2344064" y="564438"/>
                </a:lnTo>
                <a:lnTo>
                  <a:pt x="2952216" y="304063"/>
                </a:lnTo>
                <a:close/>
              </a:path>
            </a:pathLst>
          </a:custGeom>
          <a:solidFill>
            <a:srgbClr val="FFCF09"/>
          </a:solidFill>
        </p:spPr>
        <p:txBody>
          <a:bodyPr wrap="square" lIns="0" tIns="0" rIns="0" bIns="0" rtlCol="0"/>
          <a:lstStyle/>
          <a:p>
            <a:endParaRPr/>
          </a:p>
        </p:txBody>
      </p:sp>
      <p:sp>
        <p:nvSpPr>
          <p:cNvPr id="27" name="object 27"/>
          <p:cNvSpPr txBox="1"/>
          <p:nvPr/>
        </p:nvSpPr>
        <p:spPr>
          <a:xfrm rot="20280000">
            <a:off x="10258477" y="7863413"/>
            <a:ext cx="554783" cy="266700"/>
          </a:xfrm>
          <a:prstGeom prst="rect">
            <a:avLst/>
          </a:prstGeom>
        </p:spPr>
        <p:txBody>
          <a:bodyPr vert="horz" wrap="square" lIns="0" tIns="0" rIns="0" bIns="0" rtlCol="0">
            <a:spAutoFit/>
          </a:bodyPr>
          <a:lstStyle/>
          <a:p>
            <a:pPr>
              <a:lnSpc>
                <a:spcPts val="2039"/>
              </a:lnSpc>
            </a:pPr>
            <a:r>
              <a:rPr sz="2100" b="1" spc="114" dirty="0">
                <a:latin typeface="Times New Roman"/>
                <a:cs typeface="Times New Roman"/>
              </a:rPr>
              <a:t>pod</a:t>
            </a:r>
            <a:endParaRPr sz="2100">
              <a:latin typeface="Times New Roman"/>
              <a:cs typeface="Times New Roman"/>
            </a:endParaRPr>
          </a:p>
        </p:txBody>
      </p:sp>
      <p:sp>
        <p:nvSpPr>
          <p:cNvPr id="28" name="object 28"/>
          <p:cNvSpPr txBox="1"/>
          <p:nvPr/>
        </p:nvSpPr>
        <p:spPr>
          <a:xfrm rot="20280000">
            <a:off x="10342814" y="8350616"/>
            <a:ext cx="554783" cy="266700"/>
          </a:xfrm>
          <a:prstGeom prst="rect">
            <a:avLst/>
          </a:prstGeom>
        </p:spPr>
        <p:txBody>
          <a:bodyPr vert="horz" wrap="square" lIns="0" tIns="0" rIns="0" bIns="0" rtlCol="0">
            <a:spAutoFit/>
          </a:bodyPr>
          <a:lstStyle/>
          <a:p>
            <a:pPr>
              <a:lnSpc>
                <a:spcPts val="2039"/>
              </a:lnSpc>
            </a:pPr>
            <a:r>
              <a:rPr sz="2100" b="1" spc="114" dirty="0">
                <a:latin typeface="Times New Roman"/>
                <a:cs typeface="Times New Roman"/>
              </a:rPr>
              <a:t>pod</a:t>
            </a:r>
            <a:endParaRPr sz="2100">
              <a:latin typeface="Times New Roman"/>
              <a:cs typeface="Times New Roman"/>
            </a:endParaRPr>
          </a:p>
        </p:txBody>
      </p:sp>
      <p:sp>
        <p:nvSpPr>
          <p:cNvPr id="29" name="object 29"/>
          <p:cNvSpPr txBox="1"/>
          <p:nvPr/>
        </p:nvSpPr>
        <p:spPr>
          <a:xfrm rot="20280000">
            <a:off x="12541305" y="7513608"/>
            <a:ext cx="554783" cy="266700"/>
          </a:xfrm>
          <a:prstGeom prst="rect">
            <a:avLst/>
          </a:prstGeom>
        </p:spPr>
        <p:txBody>
          <a:bodyPr vert="horz" wrap="square" lIns="0" tIns="0" rIns="0" bIns="0" rtlCol="0">
            <a:spAutoFit/>
          </a:bodyPr>
          <a:lstStyle/>
          <a:p>
            <a:pPr>
              <a:lnSpc>
                <a:spcPts val="2039"/>
              </a:lnSpc>
            </a:pPr>
            <a:r>
              <a:rPr sz="2100" b="1" spc="114" dirty="0">
                <a:latin typeface="Times New Roman"/>
                <a:cs typeface="Times New Roman"/>
              </a:rPr>
              <a:t>pod</a:t>
            </a:r>
            <a:endParaRPr sz="2100">
              <a:latin typeface="Times New Roman"/>
              <a:cs typeface="Times New Roman"/>
            </a:endParaRPr>
          </a:p>
        </p:txBody>
      </p:sp>
      <p:sp>
        <p:nvSpPr>
          <p:cNvPr id="30" name="object 30"/>
          <p:cNvSpPr txBox="1"/>
          <p:nvPr/>
        </p:nvSpPr>
        <p:spPr>
          <a:xfrm rot="20280000">
            <a:off x="12528117" y="8078052"/>
            <a:ext cx="554783" cy="266700"/>
          </a:xfrm>
          <a:prstGeom prst="rect">
            <a:avLst/>
          </a:prstGeom>
        </p:spPr>
        <p:txBody>
          <a:bodyPr vert="horz" wrap="square" lIns="0" tIns="0" rIns="0" bIns="0" rtlCol="0">
            <a:spAutoFit/>
          </a:bodyPr>
          <a:lstStyle/>
          <a:p>
            <a:pPr>
              <a:lnSpc>
                <a:spcPts val="2039"/>
              </a:lnSpc>
            </a:pPr>
            <a:r>
              <a:rPr sz="2100" b="1" spc="114" dirty="0">
                <a:latin typeface="Times New Roman"/>
                <a:cs typeface="Times New Roman"/>
              </a:rPr>
              <a:t>pod</a:t>
            </a:r>
            <a:endParaRPr sz="2100">
              <a:latin typeface="Times New Roman"/>
              <a:cs typeface="Times New Roman"/>
            </a:endParaRPr>
          </a:p>
        </p:txBody>
      </p:sp>
      <p:sp>
        <p:nvSpPr>
          <p:cNvPr id="31" name="object 31"/>
          <p:cNvSpPr txBox="1"/>
          <p:nvPr/>
        </p:nvSpPr>
        <p:spPr>
          <a:xfrm rot="20280000">
            <a:off x="14813418" y="7159112"/>
            <a:ext cx="554783" cy="266700"/>
          </a:xfrm>
          <a:prstGeom prst="rect">
            <a:avLst/>
          </a:prstGeom>
        </p:spPr>
        <p:txBody>
          <a:bodyPr vert="horz" wrap="square" lIns="0" tIns="0" rIns="0" bIns="0" rtlCol="0">
            <a:spAutoFit/>
          </a:bodyPr>
          <a:lstStyle/>
          <a:p>
            <a:pPr>
              <a:lnSpc>
                <a:spcPts val="2039"/>
              </a:lnSpc>
            </a:pPr>
            <a:r>
              <a:rPr sz="2100" b="1" spc="114" dirty="0">
                <a:latin typeface="Times New Roman"/>
                <a:cs typeface="Times New Roman"/>
              </a:rPr>
              <a:t>pod</a:t>
            </a:r>
            <a:endParaRPr sz="2100">
              <a:latin typeface="Times New Roman"/>
              <a:cs typeface="Times New Roman"/>
            </a:endParaRPr>
          </a:p>
        </p:txBody>
      </p:sp>
      <p:sp>
        <p:nvSpPr>
          <p:cNvPr id="32" name="object 32"/>
          <p:cNvSpPr txBox="1"/>
          <p:nvPr/>
        </p:nvSpPr>
        <p:spPr>
          <a:xfrm rot="20280000">
            <a:off x="14813418" y="7723555"/>
            <a:ext cx="554783" cy="266700"/>
          </a:xfrm>
          <a:prstGeom prst="rect">
            <a:avLst/>
          </a:prstGeom>
        </p:spPr>
        <p:txBody>
          <a:bodyPr vert="horz" wrap="square" lIns="0" tIns="0" rIns="0" bIns="0" rtlCol="0">
            <a:spAutoFit/>
          </a:bodyPr>
          <a:lstStyle/>
          <a:p>
            <a:pPr>
              <a:lnSpc>
                <a:spcPts val="2039"/>
              </a:lnSpc>
            </a:pPr>
            <a:r>
              <a:rPr sz="2100" b="1" spc="114" dirty="0">
                <a:latin typeface="Times New Roman"/>
                <a:cs typeface="Times New Roman"/>
              </a:rPr>
              <a:t>pod</a:t>
            </a:r>
            <a:endParaRPr sz="2100">
              <a:latin typeface="Times New Roman"/>
              <a:cs typeface="Times New Roman"/>
            </a:endParaRPr>
          </a:p>
        </p:txBody>
      </p:sp>
      <p:grpSp>
        <p:nvGrpSpPr>
          <p:cNvPr id="33" name="object 33"/>
          <p:cNvGrpSpPr/>
          <p:nvPr/>
        </p:nvGrpSpPr>
        <p:grpSpPr>
          <a:xfrm>
            <a:off x="781401" y="6719996"/>
            <a:ext cx="85725" cy="1400175"/>
            <a:chOff x="781401" y="6719996"/>
            <a:chExt cx="85725" cy="1400175"/>
          </a:xfrm>
        </p:grpSpPr>
        <p:pic>
          <p:nvPicPr>
            <p:cNvPr id="34" name="object 34"/>
            <p:cNvPicPr/>
            <p:nvPr/>
          </p:nvPicPr>
          <p:blipFill>
            <a:blip r:embed="rId6" cstate="print"/>
            <a:stretch>
              <a:fillRect/>
            </a:stretch>
          </p:blipFill>
          <p:spPr>
            <a:xfrm>
              <a:off x="781401" y="6719996"/>
              <a:ext cx="85725" cy="85724"/>
            </a:xfrm>
            <a:prstGeom prst="rect">
              <a:avLst/>
            </a:prstGeom>
          </p:spPr>
        </p:pic>
        <p:pic>
          <p:nvPicPr>
            <p:cNvPr id="35" name="object 35"/>
            <p:cNvPicPr/>
            <p:nvPr/>
          </p:nvPicPr>
          <p:blipFill>
            <a:blip r:embed="rId6" cstate="print"/>
            <a:stretch>
              <a:fillRect/>
            </a:stretch>
          </p:blipFill>
          <p:spPr>
            <a:xfrm>
              <a:off x="781401" y="7596295"/>
              <a:ext cx="85725" cy="85724"/>
            </a:xfrm>
            <a:prstGeom prst="rect">
              <a:avLst/>
            </a:prstGeom>
          </p:spPr>
        </p:pic>
        <p:pic>
          <p:nvPicPr>
            <p:cNvPr id="36" name="object 36"/>
            <p:cNvPicPr/>
            <p:nvPr/>
          </p:nvPicPr>
          <p:blipFill>
            <a:blip r:embed="rId6" cstate="print"/>
            <a:stretch>
              <a:fillRect/>
            </a:stretch>
          </p:blipFill>
          <p:spPr>
            <a:xfrm>
              <a:off x="781401" y="8034445"/>
              <a:ext cx="85725" cy="85724"/>
            </a:xfrm>
            <a:prstGeom prst="rect">
              <a:avLst/>
            </a:prstGeom>
          </p:spPr>
        </p:pic>
      </p:grpSp>
      <p:sp>
        <p:nvSpPr>
          <p:cNvPr id="37" name="object 37"/>
          <p:cNvSpPr txBox="1"/>
          <p:nvPr/>
        </p:nvSpPr>
        <p:spPr>
          <a:xfrm>
            <a:off x="1003552" y="6456464"/>
            <a:ext cx="8145780" cy="2654300"/>
          </a:xfrm>
          <a:prstGeom prst="rect">
            <a:avLst/>
          </a:prstGeom>
        </p:spPr>
        <p:txBody>
          <a:bodyPr vert="horz" wrap="square" lIns="0" tIns="12700" rIns="0" bIns="0" rtlCol="0">
            <a:spAutoFit/>
          </a:bodyPr>
          <a:lstStyle/>
          <a:p>
            <a:pPr marL="12700" marR="5080">
              <a:lnSpc>
                <a:spcPct val="114999"/>
              </a:lnSpc>
              <a:spcBef>
                <a:spcPts val="100"/>
              </a:spcBef>
            </a:pPr>
            <a:r>
              <a:rPr sz="2500" b="1" spc="70" dirty="0">
                <a:latin typeface="Times New Roman"/>
                <a:cs typeface="Times New Roman"/>
              </a:rPr>
              <a:t>Replication</a:t>
            </a:r>
            <a:r>
              <a:rPr sz="2500" b="1" spc="85" dirty="0">
                <a:latin typeface="Times New Roman"/>
                <a:cs typeface="Times New Roman"/>
              </a:rPr>
              <a:t> </a:t>
            </a:r>
            <a:r>
              <a:rPr sz="2500" b="1" dirty="0">
                <a:latin typeface="Times New Roman"/>
                <a:cs typeface="Times New Roman"/>
              </a:rPr>
              <a:t>Controller</a:t>
            </a:r>
            <a:r>
              <a:rPr sz="2500" b="1" spc="85" dirty="0">
                <a:latin typeface="Times New Roman"/>
                <a:cs typeface="Times New Roman"/>
              </a:rPr>
              <a:t> </a:t>
            </a:r>
            <a:r>
              <a:rPr sz="2500" b="1" spc="75" dirty="0">
                <a:latin typeface="Times New Roman"/>
                <a:cs typeface="Times New Roman"/>
              </a:rPr>
              <a:t>is</a:t>
            </a:r>
            <a:r>
              <a:rPr sz="2500" b="1" spc="85" dirty="0">
                <a:latin typeface="Times New Roman"/>
                <a:cs typeface="Times New Roman"/>
              </a:rPr>
              <a:t> </a:t>
            </a:r>
            <a:r>
              <a:rPr sz="2500" b="1" spc="100" dirty="0">
                <a:latin typeface="Times New Roman"/>
                <a:cs typeface="Times New Roman"/>
              </a:rPr>
              <a:t>the</a:t>
            </a:r>
            <a:r>
              <a:rPr sz="2500" b="1" spc="85" dirty="0">
                <a:latin typeface="Times New Roman"/>
                <a:cs typeface="Times New Roman"/>
              </a:rPr>
              <a:t> </a:t>
            </a:r>
            <a:r>
              <a:rPr sz="2500" b="1" spc="105" dirty="0">
                <a:latin typeface="Times New Roman"/>
                <a:cs typeface="Times New Roman"/>
              </a:rPr>
              <a:t>responsible</a:t>
            </a:r>
            <a:r>
              <a:rPr sz="2500" b="1" spc="85" dirty="0">
                <a:latin typeface="Times New Roman"/>
                <a:cs typeface="Times New Roman"/>
              </a:rPr>
              <a:t> </a:t>
            </a:r>
            <a:r>
              <a:rPr sz="2500" b="1" dirty="0">
                <a:latin typeface="Times New Roman"/>
                <a:cs typeface="Times New Roman"/>
              </a:rPr>
              <a:t>for</a:t>
            </a:r>
            <a:r>
              <a:rPr sz="2500" b="1" spc="85" dirty="0">
                <a:latin typeface="Times New Roman"/>
                <a:cs typeface="Times New Roman"/>
              </a:rPr>
              <a:t> </a:t>
            </a:r>
            <a:r>
              <a:rPr sz="2500" b="1" spc="95" dirty="0">
                <a:latin typeface="Times New Roman"/>
                <a:cs typeface="Times New Roman"/>
              </a:rPr>
              <a:t>monitoring </a:t>
            </a:r>
            <a:r>
              <a:rPr sz="2500" b="1" spc="100" dirty="0">
                <a:latin typeface="Times New Roman"/>
                <a:cs typeface="Times New Roman"/>
              </a:rPr>
              <a:t>the</a:t>
            </a:r>
            <a:r>
              <a:rPr sz="2500" b="1" spc="-25" dirty="0">
                <a:latin typeface="Times New Roman"/>
                <a:cs typeface="Times New Roman"/>
              </a:rPr>
              <a:t> </a:t>
            </a:r>
            <a:r>
              <a:rPr sz="2500" b="1" spc="100" dirty="0">
                <a:latin typeface="Times New Roman"/>
                <a:cs typeface="Times New Roman"/>
              </a:rPr>
              <a:t>desired</a:t>
            </a:r>
            <a:r>
              <a:rPr sz="2500" b="1" spc="-20" dirty="0">
                <a:latin typeface="Times New Roman"/>
                <a:cs typeface="Times New Roman"/>
              </a:rPr>
              <a:t> </a:t>
            </a:r>
            <a:r>
              <a:rPr sz="2500" b="1" spc="155" dirty="0">
                <a:latin typeface="Times New Roman"/>
                <a:cs typeface="Times New Roman"/>
              </a:rPr>
              <a:t>number</a:t>
            </a:r>
            <a:r>
              <a:rPr sz="2500" b="1" spc="-20" dirty="0">
                <a:latin typeface="Times New Roman"/>
                <a:cs typeface="Times New Roman"/>
              </a:rPr>
              <a:t> </a:t>
            </a:r>
            <a:r>
              <a:rPr sz="2500" b="1" spc="70" dirty="0">
                <a:latin typeface="Times New Roman"/>
                <a:cs typeface="Times New Roman"/>
              </a:rPr>
              <a:t>of</a:t>
            </a:r>
            <a:r>
              <a:rPr sz="2500" b="1" spc="-20" dirty="0">
                <a:latin typeface="Times New Roman"/>
                <a:cs typeface="Times New Roman"/>
              </a:rPr>
              <a:t> </a:t>
            </a:r>
            <a:r>
              <a:rPr sz="2500" b="1" spc="135" dirty="0">
                <a:latin typeface="Times New Roman"/>
                <a:cs typeface="Times New Roman"/>
              </a:rPr>
              <a:t>pods</a:t>
            </a:r>
            <a:r>
              <a:rPr sz="2500" b="1" spc="-20" dirty="0">
                <a:latin typeface="Times New Roman"/>
                <a:cs typeface="Times New Roman"/>
              </a:rPr>
              <a:t> </a:t>
            </a:r>
            <a:r>
              <a:rPr sz="2500" b="1" spc="50" dirty="0">
                <a:latin typeface="Times New Roman"/>
                <a:cs typeface="Times New Roman"/>
              </a:rPr>
              <a:t>are</a:t>
            </a:r>
            <a:r>
              <a:rPr sz="2500" b="1" spc="-20" dirty="0">
                <a:latin typeface="Times New Roman"/>
                <a:cs typeface="Times New Roman"/>
              </a:rPr>
              <a:t> </a:t>
            </a:r>
            <a:r>
              <a:rPr sz="2500" b="1" spc="110" dirty="0">
                <a:latin typeface="Times New Roman"/>
                <a:cs typeface="Times New Roman"/>
              </a:rPr>
              <a:t>running</a:t>
            </a:r>
            <a:r>
              <a:rPr sz="2500" b="1" spc="-20" dirty="0">
                <a:latin typeface="Times New Roman"/>
                <a:cs typeface="Times New Roman"/>
              </a:rPr>
              <a:t> </a:t>
            </a:r>
            <a:r>
              <a:rPr sz="2500" b="1" spc="60" dirty="0">
                <a:latin typeface="Times New Roman"/>
                <a:cs typeface="Times New Roman"/>
              </a:rPr>
              <a:t>or</a:t>
            </a:r>
            <a:r>
              <a:rPr sz="2500" b="1" spc="-25" dirty="0">
                <a:latin typeface="Times New Roman"/>
                <a:cs typeface="Times New Roman"/>
              </a:rPr>
              <a:t> </a:t>
            </a:r>
            <a:r>
              <a:rPr sz="2500" b="1" spc="60" dirty="0">
                <a:latin typeface="Times New Roman"/>
                <a:cs typeface="Times New Roman"/>
              </a:rPr>
              <a:t>not.</a:t>
            </a:r>
            <a:endParaRPr sz="2500">
              <a:latin typeface="Times New Roman"/>
              <a:cs typeface="Times New Roman"/>
            </a:endParaRPr>
          </a:p>
          <a:p>
            <a:pPr marL="12700">
              <a:lnSpc>
                <a:spcPct val="100000"/>
              </a:lnSpc>
              <a:spcBef>
                <a:spcPts val="450"/>
              </a:spcBef>
            </a:pPr>
            <a:r>
              <a:rPr sz="2500" b="1" dirty="0">
                <a:latin typeface="Times New Roman"/>
                <a:cs typeface="Times New Roman"/>
              </a:rPr>
              <a:t>If</a:t>
            </a:r>
            <a:r>
              <a:rPr sz="2500" b="1" spc="-25" dirty="0">
                <a:latin typeface="Times New Roman"/>
                <a:cs typeface="Times New Roman"/>
              </a:rPr>
              <a:t> </a:t>
            </a:r>
            <a:r>
              <a:rPr sz="2500" b="1" dirty="0">
                <a:latin typeface="Times New Roman"/>
                <a:cs typeface="Times New Roman"/>
              </a:rPr>
              <a:t>a</a:t>
            </a:r>
            <a:r>
              <a:rPr sz="2500" b="1" spc="-25" dirty="0">
                <a:latin typeface="Times New Roman"/>
                <a:cs typeface="Times New Roman"/>
              </a:rPr>
              <a:t> </a:t>
            </a:r>
            <a:r>
              <a:rPr sz="2500" b="1" spc="155" dirty="0">
                <a:latin typeface="Times New Roman"/>
                <a:cs typeface="Times New Roman"/>
              </a:rPr>
              <a:t>pod</a:t>
            </a:r>
            <a:r>
              <a:rPr sz="2500" b="1" spc="-25" dirty="0">
                <a:latin typeface="Times New Roman"/>
                <a:cs typeface="Times New Roman"/>
              </a:rPr>
              <a:t> </a:t>
            </a:r>
            <a:r>
              <a:rPr sz="2500" b="1" spc="100" dirty="0">
                <a:latin typeface="Times New Roman"/>
                <a:cs typeface="Times New Roman"/>
              </a:rPr>
              <a:t>deletes</a:t>
            </a:r>
            <a:r>
              <a:rPr sz="2500" b="1" spc="-25" dirty="0">
                <a:latin typeface="Times New Roman"/>
                <a:cs typeface="Times New Roman"/>
              </a:rPr>
              <a:t> </a:t>
            </a:r>
            <a:r>
              <a:rPr sz="2500" b="1" spc="125" dirty="0">
                <a:latin typeface="Times New Roman"/>
                <a:cs typeface="Times New Roman"/>
              </a:rPr>
              <a:t>then</a:t>
            </a:r>
            <a:r>
              <a:rPr sz="2500" b="1" spc="-25" dirty="0">
                <a:latin typeface="Times New Roman"/>
                <a:cs typeface="Times New Roman"/>
              </a:rPr>
              <a:t> </a:t>
            </a:r>
            <a:r>
              <a:rPr sz="2500" b="1" spc="-170" dirty="0">
                <a:latin typeface="Times New Roman"/>
                <a:cs typeface="Times New Roman"/>
              </a:rPr>
              <a:t>RC</a:t>
            </a:r>
            <a:r>
              <a:rPr sz="2500" b="1" spc="-25" dirty="0">
                <a:latin typeface="Times New Roman"/>
                <a:cs typeface="Times New Roman"/>
              </a:rPr>
              <a:t> </a:t>
            </a:r>
            <a:r>
              <a:rPr sz="2500" b="1" spc="130" dirty="0">
                <a:latin typeface="Times New Roman"/>
                <a:cs typeface="Times New Roman"/>
              </a:rPr>
              <a:t>will</a:t>
            </a:r>
            <a:r>
              <a:rPr sz="2500" b="1" spc="-25" dirty="0">
                <a:latin typeface="Times New Roman"/>
                <a:cs typeface="Times New Roman"/>
              </a:rPr>
              <a:t> </a:t>
            </a:r>
            <a:r>
              <a:rPr sz="2500" b="1" spc="65" dirty="0">
                <a:latin typeface="Times New Roman"/>
                <a:cs typeface="Times New Roman"/>
              </a:rPr>
              <a:t>creates</a:t>
            </a:r>
            <a:r>
              <a:rPr sz="2500" b="1" spc="-25" dirty="0">
                <a:latin typeface="Times New Roman"/>
                <a:cs typeface="Times New Roman"/>
              </a:rPr>
              <a:t> </a:t>
            </a:r>
            <a:r>
              <a:rPr sz="2500" b="1" spc="240" dirty="0">
                <a:latin typeface="Times New Roman"/>
                <a:cs typeface="Times New Roman"/>
              </a:rPr>
              <a:t>new</a:t>
            </a:r>
            <a:r>
              <a:rPr sz="2500" b="1" spc="-25" dirty="0">
                <a:latin typeface="Times New Roman"/>
                <a:cs typeface="Times New Roman"/>
              </a:rPr>
              <a:t> </a:t>
            </a:r>
            <a:r>
              <a:rPr sz="2500" b="1" spc="114" dirty="0">
                <a:latin typeface="Times New Roman"/>
                <a:cs typeface="Times New Roman"/>
              </a:rPr>
              <a:t>pods</a:t>
            </a:r>
            <a:endParaRPr sz="2500">
              <a:latin typeface="Times New Roman"/>
              <a:cs typeface="Times New Roman"/>
            </a:endParaRPr>
          </a:p>
          <a:p>
            <a:pPr marL="12700" marR="194945">
              <a:lnSpc>
                <a:spcPct val="114999"/>
              </a:lnSpc>
            </a:pPr>
            <a:r>
              <a:rPr sz="2500" b="1" dirty="0">
                <a:latin typeface="Times New Roman"/>
                <a:cs typeface="Times New Roman"/>
              </a:rPr>
              <a:t>If</a:t>
            </a:r>
            <a:r>
              <a:rPr sz="2500" b="1" spc="-15" dirty="0">
                <a:latin typeface="Times New Roman"/>
                <a:cs typeface="Times New Roman"/>
              </a:rPr>
              <a:t> </a:t>
            </a:r>
            <a:r>
              <a:rPr sz="2500" b="1" spc="145" dirty="0">
                <a:latin typeface="Times New Roman"/>
                <a:cs typeface="Times New Roman"/>
              </a:rPr>
              <a:t>Node</a:t>
            </a:r>
            <a:r>
              <a:rPr sz="2500" b="1" spc="-15" dirty="0">
                <a:latin typeface="Times New Roman"/>
                <a:cs typeface="Times New Roman"/>
              </a:rPr>
              <a:t> </a:t>
            </a:r>
            <a:r>
              <a:rPr sz="2500" b="1" spc="75" dirty="0">
                <a:latin typeface="Times New Roman"/>
                <a:cs typeface="Times New Roman"/>
              </a:rPr>
              <a:t>controller</a:t>
            </a:r>
            <a:r>
              <a:rPr sz="2500" b="1" spc="-15" dirty="0">
                <a:latin typeface="Times New Roman"/>
                <a:cs typeface="Times New Roman"/>
              </a:rPr>
              <a:t> </a:t>
            </a:r>
            <a:r>
              <a:rPr sz="2500" b="1" spc="130" dirty="0">
                <a:latin typeface="Times New Roman"/>
                <a:cs typeface="Times New Roman"/>
              </a:rPr>
              <a:t>does</a:t>
            </a:r>
            <a:r>
              <a:rPr sz="2500" b="1" spc="-15" dirty="0">
                <a:latin typeface="Times New Roman"/>
                <a:cs typeface="Times New Roman"/>
              </a:rPr>
              <a:t> </a:t>
            </a:r>
            <a:r>
              <a:rPr sz="2500" b="1" spc="114" dirty="0">
                <a:latin typeface="Times New Roman"/>
                <a:cs typeface="Times New Roman"/>
              </a:rPr>
              <a:t>not</a:t>
            </a:r>
            <a:r>
              <a:rPr sz="2500" b="1" spc="-15" dirty="0">
                <a:latin typeface="Times New Roman"/>
                <a:cs typeface="Times New Roman"/>
              </a:rPr>
              <a:t> </a:t>
            </a:r>
            <a:r>
              <a:rPr sz="2500" b="1" dirty="0">
                <a:latin typeface="Times New Roman"/>
                <a:cs typeface="Times New Roman"/>
              </a:rPr>
              <a:t>get</a:t>
            </a:r>
            <a:r>
              <a:rPr sz="2500" b="1" spc="-15" dirty="0">
                <a:latin typeface="Times New Roman"/>
                <a:cs typeface="Times New Roman"/>
              </a:rPr>
              <a:t> </a:t>
            </a:r>
            <a:r>
              <a:rPr sz="2500" b="1" spc="135" dirty="0">
                <a:latin typeface="Times New Roman"/>
                <a:cs typeface="Times New Roman"/>
              </a:rPr>
              <a:t>any</a:t>
            </a:r>
            <a:r>
              <a:rPr sz="2500" b="1" spc="-15" dirty="0">
                <a:latin typeface="Times New Roman"/>
                <a:cs typeface="Times New Roman"/>
              </a:rPr>
              <a:t> </a:t>
            </a:r>
            <a:r>
              <a:rPr sz="2500" b="1" spc="114" dirty="0">
                <a:latin typeface="Times New Roman"/>
                <a:cs typeface="Times New Roman"/>
              </a:rPr>
              <a:t>response</a:t>
            </a:r>
            <a:r>
              <a:rPr sz="2500" b="1" spc="-15" dirty="0">
                <a:latin typeface="Times New Roman"/>
                <a:cs typeface="Times New Roman"/>
              </a:rPr>
              <a:t> </a:t>
            </a:r>
            <a:r>
              <a:rPr sz="2500" b="1" spc="105" dirty="0">
                <a:latin typeface="Times New Roman"/>
                <a:cs typeface="Times New Roman"/>
              </a:rPr>
              <a:t>from</a:t>
            </a:r>
            <a:r>
              <a:rPr sz="2500" b="1" spc="-15" dirty="0">
                <a:latin typeface="Times New Roman"/>
                <a:cs typeface="Times New Roman"/>
              </a:rPr>
              <a:t> </a:t>
            </a:r>
            <a:r>
              <a:rPr sz="2500" b="1" spc="80" dirty="0">
                <a:latin typeface="Times New Roman"/>
                <a:cs typeface="Times New Roman"/>
              </a:rPr>
              <a:t>Any </a:t>
            </a:r>
            <a:r>
              <a:rPr sz="2500" b="1" spc="145" dirty="0">
                <a:latin typeface="Times New Roman"/>
                <a:cs typeface="Times New Roman"/>
              </a:rPr>
              <a:t>Node</a:t>
            </a:r>
            <a:r>
              <a:rPr sz="2500" b="1" spc="50" dirty="0">
                <a:latin typeface="Times New Roman"/>
                <a:cs typeface="Times New Roman"/>
              </a:rPr>
              <a:t> </a:t>
            </a:r>
            <a:r>
              <a:rPr sz="2500" b="1" dirty="0">
                <a:latin typeface="Times New Roman"/>
                <a:cs typeface="Times New Roman"/>
              </a:rPr>
              <a:t>for</a:t>
            </a:r>
            <a:r>
              <a:rPr sz="2500" b="1" spc="55" dirty="0">
                <a:latin typeface="Times New Roman"/>
                <a:cs typeface="Times New Roman"/>
              </a:rPr>
              <a:t> </a:t>
            </a:r>
            <a:r>
              <a:rPr sz="2500" b="1" spc="215" dirty="0">
                <a:latin typeface="Times New Roman"/>
                <a:cs typeface="Times New Roman"/>
              </a:rPr>
              <a:t>40</a:t>
            </a:r>
            <a:r>
              <a:rPr sz="2500" b="1" spc="55" dirty="0">
                <a:latin typeface="Times New Roman"/>
                <a:cs typeface="Times New Roman"/>
              </a:rPr>
              <a:t> </a:t>
            </a:r>
            <a:r>
              <a:rPr sz="2500" b="1" spc="130" dirty="0">
                <a:latin typeface="Times New Roman"/>
                <a:cs typeface="Times New Roman"/>
              </a:rPr>
              <a:t>seconds</a:t>
            </a:r>
            <a:r>
              <a:rPr sz="2500" b="1" spc="50" dirty="0">
                <a:latin typeface="Times New Roman"/>
                <a:cs typeface="Times New Roman"/>
              </a:rPr>
              <a:t> </a:t>
            </a:r>
            <a:r>
              <a:rPr sz="2500" b="1" spc="125" dirty="0">
                <a:latin typeface="Times New Roman"/>
                <a:cs typeface="Times New Roman"/>
              </a:rPr>
              <a:t>then</a:t>
            </a:r>
            <a:r>
              <a:rPr sz="2500" b="1" spc="55" dirty="0">
                <a:latin typeface="Times New Roman"/>
                <a:cs typeface="Times New Roman"/>
              </a:rPr>
              <a:t> </a:t>
            </a:r>
            <a:r>
              <a:rPr sz="2500" b="1" spc="145" dirty="0">
                <a:latin typeface="Times New Roman"/>
                <a:cs typeface="Times New Roman"/>
              </a:rPr>
              <a:t>Node</a:t>
            </a:r>
            <a:r>
              <a:rPr sz="2500" b="1" spc="55" dirty="0">
                <a:latin typeface="Times New Roman"/>
                <a:cs typeface="Times New Roman"/>
              </a:rPr>
              <a:t> </a:t>
            </a:r>
            <a:r>
              <a:rPr sz="2500" b="1" dirty="0">
                <a:latin typeface="Times New Roman"/>
                <a:cs typeface="Times New Roman"/>
              </a:rPr>
              <a:t>Controller</a:t>
            </a:r>
            <a:r>
              <a:rPr sz="2500" b="1" spc="55" dirty="0">
                <a:latin typeface="Times New Roman"/>
                <a:cs typeface="Times New Roman"/>
              </a:rPr>
              <a:t> </a:t>
            </a:r>
            <a:r>
              <a:rPr sz="2500" b="1" spc="70" dirty="0">
                <a:latin typeface="Times New Roman"/>
                <a:cs typeface="Times New Roman"/>
              </a:rPr>
              <a:t>marks</a:t>
            </a:r>
            <a:r>
              <a:rPr sz="2500" b="1" spc="50" dirty="0">
                <a:latin typeface="Times New Roman"/>
                <a:cs typeface="Times New Roman"/>
              </a:rPr>
              <a:t> </a:t>
            </a:r>
            <a:r>
              <a:rPr sz="2500" b="1" spc="-20" dirty="0">
                <a:latin typeface="Times New Roman"/>
                <a:cs typeface="Times New Roman"/>
              </a:rPr>
              <a:t>that </a:t>
            </a:r>
            <a:r>
              <a:rPr sz="2500" b="1" spc="160" dirty="0">
                <a:latin typeface="Times New Roman"/>
                <a:cs typeface="Times New Roman"/>
              </a:rPr>
              <a:t>node</a:t>
            </a:r>
            <a:r>
              <a:rPr sz="2500" b="1" spc="-25" dirty="0">
                <a:latin typeface="Times New Roman"/>
                <a:cs typeface="Times New Roman"/>
              </a:rPr>
              <a:t> </a:t>
            </a:r>
            <a:r>
              <a:rPr sz="2500" b="1" spc="60" dirty="0">
                <a:latin typeface="Times New Roman"/>
                <a:cs typeface="Times New Roman"/>
              </a:rPr>
              <a:t>as</a:t>
            </a:r>
            <a:r>
              <a:rPr sz="2500" b="1" spc="-25" dirty="0">
                <a:latin typeface="Times New Roman"/>
                <a:cs typeface="Times New Roman"/>
              </a:rPr>
              <a:t> </a:t>
            </a:r>
            <a:r>
              <a:rPr sz="2500" b="1" spc="-30" dirty="0">
                <a:latin typeface="Times New Roman"/>
                <a:cs typeface="Times New Roman"/>
              </a:rPr>
              <a:t>UNREACHABLE</a:t>
            </a:r>
            <a:endParaRPr sz="2500">
              <a:latin typeface="Times New Roman"/>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6209" y="388683"/>
            <a:ext cx="1845945" cy="589280"/>
          </a:xfrm>
          <a:prstGeom prst="rect">
            <a:avLst/>
          </a:prstGeom>
        </p:spPr>
        <p:txBody>
          <a:bodyPr vert="horz" wrap="square" lIns="0" tIns="12700" rIns="0" bIns="0" rtlCol="0">
            <a:spAutoFit/>
          </a:bodyPr>
          <a:lstStyle/>
          <a:p>
            <a:pPr marL="12700">
              <a:lnSpc>
                <a:spcPct val="100000"/>
              </a:lnSpc>
              <a:spcBef>
                <a:spcPts val="100"/>
              </a:spcBef>
            </a:pPr>
            <a:r>
              <a:rPr sz="3700" b="0" spc="145" dirty="0">
                <a:solidFill>
                  <a:srgbClr val="FF904D"/>
                </a:solidFill>
                <a:latin typeface="Arial MT"/>
                <a:cs typeface="Arial MT"/>
              </a:rPr>
              <a:t>kubelet:</a:t>
            </a:r>
            <a:endParaRPr sz="3700">
              <a:latin typeface="Arial MT"/>
              <a:cs typeface="Arial MT"/>
            </a:endParaRPr>
          </a:p>
        </p:txBody>
      </p:sp>
      <p:pic>
        <p:nvPicPr>
          <p:cNvPr id="3" name="object 3"/>
          <p:cNvPicPr/>
          <p:nvPr/>
        </p:nvPicPr>
        <p:blipFill>
          <a:blip r:embed="rId2" cstate="print"/>
          <a:stretch>
            <a:fillRect/>
          </a:stretch>
        </p:blipFill>
        <p:spPr>
          <a:xfrm>
            <a:off x="2032037" y="3965237"/>
            <a:ext cx="231775" cy="368300"/>
          </a:xfrm>
          <a:prstGeom prst="rect">
            <a:avLst/>
          </a:prstGeom>
        </p:spPr>
      </p:pic>
      <p:pic>
        <p:nvPicPr>
          <p:cNvPr id="4" name="object 4"/>
          <p:cNvPicPr/>
          <p:nvPr/>
        </p:nvPicPr>
        <p:blipFill>
          <a:blip r:embed="rId3" cstate="print"/>
          <a:stretch>
            <a:fillRect/>
          </a:stretch>
        </p:blipFill>
        <p:spPr>
          <a:xfrm>
            <a:off x="1473408" y="1385552"/>
            <a:ext cx="171450" cy="171449"/>
          </a:xfrm>
          <a:prstGeom prst="rect">
            <a:avLst/>
          </a:prstGeom>
        </p:spPr>
      </p:pic>
      <p:pic>
        <p:nvPicPr>
          <p:cNvPr id="5" name="object 5"/>
          <p:cNvPicPr/>
          <p:nvPr/>
        </p:nvPicPr>
        <p:blipFill>
          <a:blip r:embed="rId3" cstate="print"/>
          <a:stretch>
            <a:fillRect/>
          </a:stretch>
        </p:blipFill>
        <p:spPr>
          <a:xfrm>
            <a:off x="1473408" y="2661902"/>
            <a:ext cx="171450" cy="171449"/>
          </a:xfrm>
          <a:prstGeom prst="rect">
            <a:avLst/>
          </a:prstGeom>
        </p:spPr>
      </p:pic>
      <p:pic>
        <p:nvPicPr>
          <p:cNvPr id="6" name="object 6"/>
          <p:cNvPicPr/>
          <p:nvPr/>
        </p:nvPicPr>
        <p:blipFill>
          <a:blip r:embed="rId3" cstate="print"/>
          <a:stretch>
            <a:fillRect/>
          </a:stretch>
        </p:blipFill>
        <p:spPr>
          <a:xfrm>
            <a:off x="1400174" y="4777577"/>
            <a:ext cx="171450" cy="171449"/>
          </a:xfrm>
          <a:prstGeom prst="rect">
            <a:avLst/>
          </a:prstGeom>
        </p:spPr>
      </p:pic>
      <p:pic>
        <p:nvPicPr>
          <p:cNvPr id="7" name="object 7"/>
          <p:cNvPicPr/>
          <p:nvPr/>
        </p:nvPicPr>
        <p:blipFill>
          <a:blip r:embed="rId3" cstate="print"/>
          <a:stretch>
            <a:fillRect/>
          </a:stretch>
        </p:blipFill>
        <p:spPr>
          <a:xfrm>
            <a:off x="1400174" y="6053927"/>
            <a:ext cx="171450" cy="171449"/>
          </a:xfrm>
          <a:prstGeom prst="rect">
            <a:avLst/>
          </a:prstGeom>
        </p:spPr>
      </p:pic>
      <p:pic>
        <p:nvPicPr>
          <p:cNvPr id="8" name="object 8"/>
          <p:cNvPicPr/>
          <p:nvPr/>
        </p:nvPicPr>
        <p:blipFill>
          <a:blip r:embed="rId2" cstate="print"/>
          <a:stretch>
            <a:fillRect/>
          </a:stretch>
        </p:blipFill>
        <p:spPr>
          <a:xfrm>
            <a:off x="798909" y="6975231"/>
            <a:ext cx="231775" cy="368300"/>
          </a:xfrm>
          <a:prstGeom prst="rect">
            <a:avLst/>
          </a:prstGeom>
        </p:spPr>
      </p:pic>
      <p:pic>
        <p:nvPicPr>
          <p:cNvPr id="9" name="object 9"/>
          <p:cNvPicPr/>
          <p:nvPr/>
        </p:nvPicPr>
        <p:blipFill>
          <a:blip r:embed="rId3" cstate="print"/>
          <a:stretch>
            <a:fillRect/>
          </a:stretch>
        </p:blipFill>
        <p:spPr>
          <a:xfrm>
            <a:off x="1761126" y="8905875"/>
            <a:ext cx="171450" cy="171449"/>
          </a:xfrm>
          <a:prstGeom prst="rect">
            <a:avLst/>
          </a:prstGeom>
        </p:spPr>
      </p:pic>
      <p:pic>
        <p:nvPicPr>
          <p:cNvPr id="10" name="object 10"/>
          <p:cNvPicPr/>
          <p:nvPr/>
        </p:nvPicPr>
        <p:blipFill>
          <a:blip r:embed="rId3" cstate="print"/>
          <a:stretch>
            <a:fillRect/>
          </a:stretch>
        </p:blipFill>
        <p:spPr>
          <a:xfrm>
            <a:off x="1761126" y="9391650"/>
            <a:ext cx="171450" cy="171449"/>
          </a:xfrm>
          <a:prstGeom prst="rect">
            <a:avLst/>
          </a:prstGeom>
        </p:spPr>
      </p:pic>
      <p:sp>
        <p:nvSpPr>
          <p:cNvPr id="11" name="object 11"/>
          <p:cNvSpPr txBox="1"/>
          <p:nvPr/>
        </p:nvSpPr>
        <p:spPr>
          <a:xfrm>
            <a:off x="786209" y="1083559"/>
            <a:ext cx="16732885" cy="8670290"/>
          </a:xfrm>
          <a:prstGeom prst="rect">
            <a:avLst/>
          </a:prstGeom>
        </p:spPr>
        <p:txBody>
          <a:bodyPr vert="horz" wrap="square" lIns="0" tIns="12065" rIns="0" bIns="0" rtlCol="0">
            <a:spAutoFit/>
          </a:bodyPr>
          <a:lstStyle/>
          <a:p>
            <a:pPr marL="1094740" marR="612775">
              <a:lnSpc>
                <a:spcPct val="116300"/>
              </a:lnSpc>
              <a:spcBef>
                <a:spcPts val="95"/>
              </a:spcBef>
            </a:pPr>
            <a:r>
              <a:rPr sz="3600" spc="-395" dirty="0">
                <a:latin typeface="Trebuchet MS"/>
                <a:cs typeface="Trebuchet MS"/>
              </a:rPr>
              <a:t>kubelet</a:t>
            </a:r>
            <a:r>
              <a:rPr sz="3600" spc="-380" dirty="0">
                <a:latin typeface="Trebuchet MS"/>
                <a:cs typeface="Trebuchet MS"/>
              </a:rPr>
              <a:t> </a:t>
            </a:r>
            <a:r>
              <a:rPr sz="3600" spc="-220" dirty="0">
                <a:latin typeface="Trebuchet MS"/>
                <a:cs typeface="Trebuchet MS"/>
              </a:rPr>
              <a:t>is</a:t>
            </a:r>
            <a:r>
              <a:rPr sz="3600" spc="-380"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360" dirty="0">
                <a:latin typeface="Trebuchet MS"/>
                <a:cs typeface="Trebuchet MS"/>
              </a:rPr>
              <a:t>primary</a:t>
            </a:r>
            <a:r>
              <a:rPr sz="3600" spc="-380" dirty="0">
                <a:latin typeface="Trebuchet MS"/>
                <a:cs typeface="Trebuchet MS"/>
              </a:rPr>
              <a:t> </a:t>
            </a:r>
            <a:r>
              <a:rPr sz="3600" spc="-420" dirty="0">
                <a:latin typeface="Trebuchet MS"/>
                <a:cs typeface="Trebuchet MS"/>
              </a:rPr>
              <a:t>component</a:t>
            </a:r>
            <a:r>
              <a:rPr sz="3600" spc="-380" dirty="0">
                <a:latin typeface="Trebuchet MS"/>
                <a:cs typeface="Trebuchet MS"/>
              </a:rPr>
              <a:t> </a:t>
            </a:r>
            <a:r>
              <a:rPr sz="3600" spc="-350" dirty="0">
                <a:latin typeface="Trebuchet MS"/>
                <a:cs typeface="Trebuchet MS"/>
              </a:rPr>
              <a:t>of</a:t>
            </a:r>
            <a:r>
              <a:rPr sz="3600" spc="-380"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420" dirty="0">
                <a:latin typeface="Trebuchet MS"/>
                <a:cs typeface="Trebuchet MS"/>
              </a:rPr>
              <a:t>Worker</a:t>
            </a:r>
            <a:r>
              <a:rPr sz="3600" spc="-380" dirty="0">
                <a:latin typeface="Trebuchet MS"/>
                <a:cs typeface="Trebuchet MS"/>
              </a:rPr>
              <a:t> </a:t>
            </a:r>
            <a:r>
              <a:rPr sz="3600" spc="-405" dirty="0">
                <a:latin typeface="Trebuchet MS"/>
                <a:cs typeface="Trebuchet MS"/>
              </a:rPr>
              <a:t>Node</a:t>
            </a:r>
            <a:r>
              <a:rPr sz="3600" spc="-380" dirty="0">
                <a:latin typeface="Trebuchet MS"/>
                <a:cs typeface="Trebuchet MS"/>
              </a:rPr>
              <a:t> </a:t>
            </a:r>
            <a:r>
              <a:rPr sz="3600" spc="-405" dirty="0">
                <a:latin typeface="Trebuchet MS"/>
                <a:cs typeface="Trebuchet MS"/>
              </a:rPr>
              <a:t>which</a:t>
            </a:r>
            <a:r>
              <a:rPr sz="3600" spc="-380" dirty="0">
                <a:latin typeface="Trebuchet MS"/>
                <a:cs typeface="Trebuchet MS"/>
              </a:rPr>
              <a:t> </a:t>
            </a:r>
            <a:r>
              <a:rPr sz="3600" spc="-335" dirty="0">
                <a:latin typeface="Trebuchet MS"/>
                <a:cs typeface="Trebuchet MS"/>
              </a:rPr>
              <a:t>manages</a:t>
            </a:r>
            <a:r>
              <a:rPr sz="3600" spc="-380"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305" dirty="0">
                <a:latin typeface="Trebuchet MS"/>
                <a:cs typeface="Trebuchet MS"/>
              </a:rPr>
              <a:t>Pods</a:t>
            </a:r>
            <a:r>
              <a:rPr sz="3600" spc="-380" dirty="0">
                <a:latin typeface="Trebuchet MS"/>
                <a:cs typeface="Trebuchet MS"/>
              </a:rPr>
              <a:t> </a:t>
            </a:r>
            <a:r>
              <a:rPr sz="3600" spc="-365" dirty="0">
                <a:latin typeface="Trebuchet MS"/>
                <a:cs typeface="Trebuchet MS"/>
              </a:rPr>
              <a:t>and</a:t>
            </a:r>
            <a:r>
              <a:rPr sz="3600" spc="-380" dirty="0">
                <a:latin typeface="Trebuchet MS"/>
                <a:cs typeface="Trebuchet MS"/>
              </a:rPr>
              <a:t> </a:t>
            </a:r>
            <a:r>
              <a:rPr sz="3600" spc="-345" dirty="0">
                <a:latin typeface="Trebuchet MS"/>
                <a:cs typeface="Trebuchet MS"/>
              </a:rPr>
              <a:t>regularly </a:t>
            </a:r>
            <a:r>
              <a:rPr sz="3600" spc="-385" dirty="0">
                <a:latin typeface="Trebuchet MS"/>
                <a:cs typeface="Trebuchet MS"/>
              </a:rPr>
              <a:t>checks</a:t>
            </a:r>
            <a:r>
              <a:rPr sz="3600" spc="-390" dirty="0">
                <a:latin typeface="Trebuchet MS"/>
                <a:cs typeface="Trebuchet MS"/>
              </a:rPr>
              <a:t> </a:t>
            </a:r>
            <a:r>
              <a:rPr sz="3600" spc="-409" dirty="0">
                <a:latin typeface="Trebuchet MS"/>
                <a:cs typeface="Trebuchet MS"/>
              </a:rPr>
              <a:t>whether</a:t>
            </a:r>
            <a:r>
              <a:rPr sz="3600" spc="-385"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80" dirty="0">
                <a:latin typeface="Trebuchet MS"/>
                <a:cs typeface="Trebuchet MS"/>
              </a:rPr>
              <a:t>pod</a:t>
            </a:r>
            <a:r>
              <a:rPr sz="3600" spc="-385" dirty="0">
                <a:latin typeface="Trebuchet MS"/>
                <a:cs typeface="Trebuchet MS"/>
              </a:rPr>
              <a:t> </a:t>
            </a:r>
            <a:r>
              <a:rPr sz="3600" spc="-220" dirty="0">
                <a:latin typeface="Trebuchet MS"/>
                <a:cs typeface="Trebuchet MS"/>
              </a:rPr>
              <a:t>is</a:t>
            </a:r>
            <a:r>
              <a:rPr sz="3600" spc="-390" dirty="0">
                <a:latin typeface="Trebuchet MS"/>
                <a:cs typeface="Trebuchet MS"/>
              </a:rPr>
              <a:t> </a:t>
            </a:r>
            <a:r>
              <a:rPr sz="3600" spc="-325" dirty="0">
                <a:latin typeface="Trebuchet MS"/>
                <a:cs typeface="Trebuchet MS"/>
              </a:rPr>
              <a:t>running</a:t>
            </a:r>
            <a:r>
              <a:rPr sz="3600" spc="-385" dirty="0">
                <a:latin typeface="Trebuchet MS"/>
                <a:cs typeface="Trebuchet MS"/>
              </a:rPr>
              <a:t> </a:t>
            </a:r>
            <a:r>
              <a:rPr sz="3600" spc="-380" dirty="0">
                <a:latin typeface="Trebuchet MS"/>
                <a:cs typeface="Trebuchet MS"/>
              </a:rPr>
              <a:t>or</a:t>
            </a:r>
            <a:r>
              <a:rPr sz="3600" spc="-385" dirty="0">
                <a:latin typeface="Trebuchet MS"/>
                <a:cs typeface="Trebuchet MS"/>
              </a:rPr>
              <a:t> </a:t>
            </a:r>
            <a:r>
              <a:rPr sz="3600" spc="-470" dirty="0">
                <a:latin typeface="Trebuchet MS"/>
                <a:cs typeface="Trebuchet MS"/>
              </a:rPr>
              <a:t>not.</a:t>
            </a:r>
            <a:endParaRPr sz="3600">
              <a:latin typeface="Trebuchet MS"/>
              <a:cs typeface="Trebuchet MS"/>
            </a:endParaRPr>
          </a:p>
          <a:p>
            <a:pPr marL="1094740" marR="5080">
              <a:lnSpc>
                <a:spcPct val="116300"/>
              </a:lnSpc>
              <a:spcBef>
                <a:spcPts val="5"/>
              </a:spcBef>
            </a:pPr>
            <a:r>
              <a:rPr sz="3600" spc="-270" dirty="0">
                <a:latin typeface="Trebuchet MS"/>
                <a:cs typeface="Trebuchet MS"/>
              </a:rPr>
              <a:t>If</a:t>
            </a:r>
            <a:r>
              <a:rPr sz="3600" spc="-385" dirty="0">
                <a:latin typeface="Trebuchet MS"/>
                <a:cs typeface="Trebuchet MS"/>
              </a:rPr>
              <a:t> </a:t>
            </a:r>
            <a:r>
              <a:rPr sz="3600" spc="-315" dirty="0">
                <a:latin typeface="Trebuchet MS"/>
                <a:cs typeface="Trebuchet MS"/>
              </a:rPr>
              <a:t>pods</a:t>
            </a:r>
            <a:r>
              <a:rPr sz="3600" spc="-385" dirty="0">
                <a:latin typeface="Trebuchet MS"/>
                <a:cs typeface="Trebuchet MS"/>
              </a:rPr>
              <a:t> </a:t>
            </a:r>
            <a:r>
              <a:rPr sz="3600" spc="-395" dirty="0">
                <a:latin typeface="Trebuchet MS"/>
                <a:cs typeface="Trebuchet MS"/>
              </a:rPr>
              <a:t>are</a:t>
            </a:r>
            <a:r>
              <a:rPr sz="3600" spc="-385" dirty="0">
                <a:latin typeface="Trebuchet MS"/>
                <a:cs typeface="Trebuchet MS"/>
              </a:rPr>
              <a:t> not </a:t>
            </a:r>
            <a:r>
              <a:rPr sz="3600" spc="-355" dirty="0">
                <a:latin typeface="Trebuchet MS"/>
                <a:cs typeface="Trebuchet MS"/>
              </a:rPr>
              <a:t>working</a:t>
            </a:r>
            <a:r>
              <a:rPr sz="3600" spc="-385" dirty="0">
                <a:latin typeface="Trebuchet MS"/>
                <a:cs typeface="Trebuchet MS"/>
              </a:rPr>
              <a:t> </a:t>
            </a:r>
            <a:r>
              <a:rPr sz="3600" spc="-390" dirty="0">
                <a:latin typeface="Trebuchet MS"/>
                <a:cs typeface="Trebuchet MS"/>
              </a:rPr>
              <a:t>properly,</a:t>
            </a:r>
            <a:r>
              <a:rPr sz="3600" spc="-385" dirty="0">
                <a:latin typeface="Trebuchet MS"/>
                <a:cs typeface="Trebuchet MS"/>
              </a:rPr>
              <a:t> </a:t>
            </a:r>
            <a:r>
              <a:rPr sz="3600" spc="-390" dirty="0">
                <a:latin typeface="Trebuchet MS"/>
                <a:cs typeface="Trebuchet MS"/>
              </a:rPr>
              <a:t>then</a:t>
            </a:r>
            <a:r>
              <a:rPr sz="3600" spc="-385" dirty="0">
                <a:latin typeface="Trebuchet MS"/>
                <a:cs typeface="Trebuchet MS"/>
              </a:rPr>
              <a:t> </a:t>
            </a:r>
            <a:r>
              <a:rPr sz="3600" spc="-395" dirty="0">
                <a:latin typeface="Trebuchet MS"/>
                <a:cs typeface="Trebuchet MS"/>
              </a:rPr>
              <a:t>kubelet</a:t>
            </a:r>
            <a:r>
              <a:rPr sz="3600" spc="-380" dirty="0">
                <a:latin typeface="Trebuchet MS"/>
                <a:cs typeface="Trebuchet MS"/>
              </a:rPr>
              <a:t> </a:t>
            </a:r>
            <a:r>
              <a:rPr sz="3600" spc="-390" dirty="0">
                <a:latin typeface="Trebuchet MS"/>
                <a:cs typeface="Trebuchet MS"/>
              </a:rPr>
              <a:t>creates</a:t>
            </a:r>
            <a:r>
              <a:rPr sz="3600" spc="-385" dirty="0">
                <a:latin typeface="Trebuchet MS"/>
                <a:cs typeface="Trebuchet MS"/>
              </a:rPr>
              <a:t> </a:t>
            </a:r>
            <a:r>
              <a:rPr sz="3600" spc="-360" dirty="0">
                <a:latin typeface="Trebuchet MS"/>
                <a:cs typeface="Trebuchet MS"/>
              </a:rPr>
              <a:t>a</a:t>
            </a:r>
            <a:r>
              <a:rPr sz="3600" spc="-385" dirty="0">
                <a:latin typeface="Trebuchet MS"/>
                <a:cs typeface="Trebuchet MS"/>
              </a:rPr>
              <a:t> </a:t>
            </a:r>
            <a:r>
              <a:rPr sz="3600" spc="-420" dirty="0">
                <a:latin typeface="Trebuchet MS"/>
                <a:cs typeface="Trebuchet MS"/>
              </a:rPr>
              <a:t>new</a:t>
            </a:r>
            <a:r>
              <a:rPr sz="3600" spc="-385" dirty="0">
                <a:latin typeface="Trebuchet MS"/>
                <a:cs typeface="Trebuchet MS"/>
              </a:rPr>
              <a:t> </a:t>
            </a:r>
            <a:r>
              <a:rPr sz="3600" spc="-380" dirty="0">
                <a:latin typeface="Trebuchet MS"/>
                <a:cs typeface="Trebuchet MS"/>
              </a:rPr>
              <a:t>pod</a:t>
            </a:r>
            <a:r>
              <a:rPr sz="3600" spc="-385" dirty="0">
                <a:latin typeface="Trebuchet MS"/>
                <a:cs typeface="Trebuchet MS"/>
              </a:rPr>
              <a:t> </a:t>
            </a:r>
            <a:r>
              <a:rPr sz="3600" spc="-365" dirty="0">
                <a:latin typeface="Trebuchet MS"/>
                <a:cs typeface="Trebuchet MS"/>
              </a:rPr>
              <a:t>and</a:t>
            </a:r>
            <a:r>
              <a:rPr sz="3600" spc="-385" dirty="0">
                <a:latin typeface="Trebuchet MS"/>
                <a:cs typeface="Trebuchet MS"/>
              </a:rPr>
              <a:t> </a:t>
            </a:r>
            <a:r>
              <a:rPr sz="3600" spc="-380" dirty="0">
                <a:latin typeface="Trebuchet MS"/>
                <a:cs typeface="Trebuchet MS"/>
              </a:rPr>
              <a:t>replaces</a:t>
            </a:r>
            <a:r>
              <a:rPr sz="3600" spc="-385" dirty="0">
                <a:latin typeface="Trebuchet MS"/>
                <a:cs typeface="Trebuchet MS"/>
              </a:rPr>
              <a:t> it</a:t>
            </a:r>
            <a:r>
              <a:rPr sz="3600" spc="-380" dirty="0">
                <a:latin typeface="Trebuchet MS"/>
                <a:cs typeface="Trebuchet MS"/>
              </a:rPr>
              <a:t> </a:t>
            </a:r>
            <a:r>
              <a:rPr sz="3600" spc="-400" dirty="0">
                <a:latin typeface="Trebuchet MS"/>
                <a:cs typeface="Trebuchet MS"/>
              </a:rPr>
              <a:t>with</a:t>
            </a:r>
            <a:r>
              <a:rPr sz="3600" spc="-385" dirty="0">
                <a:latin typeface="Trebuchet MS"/>
                <a:cs typeface="Trebuchet MS"/>
              </a:rPr>
              <a:t> </a:t>
            </a:r>
            <a:r>
              <a:rPr sz="3600" spc="-434" dirty="0">
                <a:latin typeface="Trebuchet MS"/>
                <a:cs typeface="Trebuchet MS"/>
              </a:rPr>
              <a:t>the</a:t>
            </a:r>
            <a:r>
              <a:rPr sz="3600" spc="900" dirty="0">
                <a:latin typeface="Trebuchet MS"/>
                <a:cs typeface="Trebuchet MS"/>
              </a:rPr>
              <a:t> </a:t>
            </a:r>
            <a:r>
              <a:rPr sz="3600" spc="-335" dirty="0">
                <a:latin typeface="Trebuchet MS"/>
                <a:cs typeface="Trebuchet MS"/>
              </a:rPr>
              <a:t>previous</a:t>
            </a:r>
            <a:r>
              <a:rPr sz="3600" spc="-385" dirty="0">
                <a:latin typeface="Trebuchet MS"/>
                <a:cs typeface="Trebuchet MS"/>
              </a:rPr>
              <a:t> one </a:t>
            </a:r>
            <a:r>
              <a:rPr sz="3600" spc="-375" dirty="0">
                <a:latin typeface="Trebuchet MS"/>
                <a:cs typeface="Trebuchet MS"/>
              </a:rPr>
              <a:t>because</a:t>
            </a:r>
            <a:r>
              <a:rPr sz="3600" spc="-385"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70" dirty="0">
                <a:latin typeface="Trebuchet MS"/>
                <a:cs typeface="Trebuchet MS"/>
              </a:rPr>
              <a:t>failed</a:t>
            </a:r>
            <a:r>
              <a:rPr sz="3600" spc="-385" dirty="0">
                <a:latin typeface="Trebuchet MS"/>
                <a:cs typeface="Trebuchet MS"/>
              </a:rPr>
              <a:t> </a:t>
            </a:r>
            <a:r>
              <a:rPr sz="3600" spc="-380" dirty="0">
                <a:latin typeface="Trebuchet MS"/>
                <a:cs typeface="Trebuchet MS"/>
              </a:rPr>
              <a:t>pod </a:t>
            </a:r>
            <a:r>
              <a:rPr sz="3600" spc="-480" dirty="0">
                <a:latin typeface="Trebuchet MS"/>
                <a:cs typeface="Trebuchet MS"/>
              </a:rPr>
              <a:t>can’t</a:t>
            </a:r>
            <a:r>
              <a:rPr sz="3600" spc="-385" dirty="0">
                <a:latin typeface="Trebuchet MS"/>
                <a:cs typeface="Trebuchet MS"/>
              </a:rPr>
              <a:t> </a:t>
            </a:r>
            <a:r>
              <a:rPr sz="3600" spc="-409" dirty="0">
                <a:latin typeface="Trebuchet MS"/>
                <a:cs typeface="Trebuchet MS"/>
              </a:rPr>
              <a:t>be</a:t>
            </a:r>
            <a:r>
              <a:rPr sz="3600" spc="-385" dirty="0">
                <a:latin typeface="Trebuchet MS"/>
                <a:cs typeface="Trebuchet MS"/>
              </a:rPr>
              <a:t> </a:t>
            </a:r>
            <a:r>
              <a:rPr sz="3600" spc="-380" dirty="0">
                <a:latin typeface="Trebuchet MS"/>
                <a:cs typeface="Trebuchet MS"/>
              </a:rPr>
              <a:t>restarted</a:t>
            </a:r>
            <a:r>
              <a:rPr sz="3600" spc="-385" dirty="0">
                <a:latin typeface="Trebuchet MS"/>
                <a:cs typeface="Trebuchet MS"/>
              </a:rPr>
              <a:t> </a:t>
            </a:r>
            <a:r>
              <a:rPr sz="3600" spc="-455" dirty="0">
                <a:latin typeface="Trebuchet MS"/>
                <a:cs typeface="Trebuchet MS"/>
              </a:rPr>
              <a:t>hence,</a:t>
            </a:r>
            <a:r>
              <a:rPr sz="3600" spc="-385"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280" dirty="0">
                <a:latin typeface="Trebuchet MS"/>
                <a:cs typeface="Trebuchet MS"/>
              </a:rPr>
              <a:t>IP</a:t>
            </a:r>
            <a:r>
              <a:rPr sz="3600" spc="-385" dirty="0">
                <a:latin typeface="Trebuchet MS"/>
                <a:cs typeface="Trebuchet MS"/>
              </a:rPr>
              <a:t> </a:t>
            </a:r>
            <a:r>
              <a:rPr sz="3600" spc="-350" dirty="0">
                <a:latin typeface="Trebuchet MS"/>
                <a:cs typeface="Trebuchet MS"/>
              </a:rPr>
              <a:t>of</a:t>
            </a:r>
            <a:r>
              <a:rPr sz="3600" spc="-385"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80" dirty="0">
                <a:latin typeface="Trebuchet MS"/>
                <a:cs typeface="Trebuchet MS"/>
              </a:rPr>
              <a:t>pod</a:t>
            </a:r>
            <a:r>
              <a:rPr sz="3600" spc="-385" dirty="0">
                <a:latin typeface="Trebuchet MS"/>
                <a:cs typeface="Trebuchet MS"/>
              </a:rPr>
              <a:t> </a:t>
            </a:r>
            <a:r>
              <a:rPr sz="3600" spc="-365" dirty="0">
                <a:latin typeface="Trebuchet MS"/>
                <a:cs typeface="Trebuchet MS"/>
              </a:rPr>
              <a:t>might</a:t>
            </a:r>
            <a:r>
              <a:rPr sz="3600" spc="-380" dirty="0">
                <a:latin typeface="Trebuchet MS"/>
                <a:cs typeface="Trebuchet MS"/>
              </a:rPr>
              <a:t> </a:t>
            </a:r>
            <a:r>
              <a:rPr sz="3600" spc="-409" dirty="0">
                <a:latin typeface="Trebuchet MS"/>
                <a:cs typeface="Trebuchet MS"/>
              </a:rPr>
              <a:t>be</a:t>
            </a:r>
            <a:r>
              <a:rPr sz="3600" spc="-385" dirty="0">
                <a:latin typeface="Trebuchet MS"/>
                <a:cs typeface="Trebuchet MS"/>
              </a:rPr>
              <a:t> changed</a:t>
            </a:r>
            <a:endParaRPr sz="3600">
              <a:latin typeface="Trebuchet MS"/>
              <a:cs typeface="Trebuchet MS"/>
            </a:endParaRPr>
          </a:p>
          <a:p>
            <a:pPr marL="12700">
              <a:lnSpc>
                <a:spcPct val="100000"/>
              </a:lnSpc>
              <a:spcBef>
                <a:spcPts val="1340"/>
              </a:spcBef>
              <a:tabLst>
                <a:tab pos="1478280" algn="l"/>
              </a:tabLst>
            </a:pPr>
            <a:r>
              <a:rPr sz="3700" spc="65" dirty="0">
                <a:solidFill>
                  <a:srgbClr val="FF904D"/>
                </a:solidFill>
                <a:latin typeface="Arial MT"/>
                <a:cs typeface="Arial MT"/>
              </a:rPr>
              <a:t>kube-</a:t>
            </a:r>
            <a:r>
              <a:rPr sz="3700" dirty="0">
                <a:solidFill>
                  <a:srgbClr val="FF904D"/>
                </a:solidFill>
                <a:latin typeface="Arial MT"/>
                <a:cs typeface="Arial MT"/>
              </a:rPr>
              <a:t>	</a:t>
            </a:r>
            <a:r>
              <a:rPr sz="3700" spc="215" dirty="0">
                <a:solidFill>
                  <a:srgbClr val="FF904D"/>
                </a:solidFill>
                <a:latin typeface="Arial MT"/>
                <a:cs typeface="Arial MT"/>
              </a:rPr>
              <a:t>roxy</a:t>
            </a:r>
            <a:endParaRPr sz="3700">
              <a:latin typeface="Arial MT"/>
              <a:cs typeface="Arial MT"/>
            </a:endParaRPr>
          </a:p>
          <a:p>
            <a:pPr marL="1021715" marR="408305">
              <a:lnSpc>
                <a:spcPct val="116300"/>
              </a:lnSpc>
              <a:spcBef>
                <a:spcPts val="830"/>
              </a:spcBef>
            </a:pPr>
            <a:r>
              <a:rPr sz="3600" spc="-350" dirty="0">
                <a:latin typeface="Trebuchet MS"/>
                <a:cs typeface="Trebuchet MS"/>
              </a:rPr>
              <a:t>kube-</a:t>
            </a:r>
            <a:r>
              <a:rPr sz="3600" spc="-325" dirty="0">
                <a:latin typeface="Trebuchet MS"/>
                <a:cs typeface="Trebuchet MS"/>
              </a:rPr>
              <a:t>proxy</a:t>
            </a:r>
            <a:r>
              <a:rPr sz="3600" spc="-385" dirty="0">
                <a:latin typeface="Trebuchet MS"/>
                <a:cs typeface="Trebuchet MS"/>
              </a:rPr>
              <a:t> </a:t>
            </a:r>
            <a:r>
              <a:rPr sz="3600" spc="-355" dirty="0">
                <a:latin typeface="Trebuchet MS"/>
                <a:cs typeface="Trebuchet MS"/>
              </a:rPr>
              <a:t>contains</a:t>
            </a:r>
            <a:r>
              <a:rPr sz="3600" spc="-380" dirty="0">
                <a:latin typeface="Trebuchet MS"/>
                <a:cs typeface="Trebuchet MS"/>
              </a:rPr>
              <a:t> </a:t>
            </a:r>
            <a:r>
              <a:rPr sz="3600" spc="-365" dirty="0">
                <a:latin typeface="Trebuchet MS"/>
                <a:cs typeface="Trebuchet MS"/>
              </a:rPr>
              <a:t>all</a:t>
            </a:r>
            <a:r>
              <a:rPr sz="3600" spc="-385"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405" dirty="0">
                <a:latin typeface="Trebuchet MS"/>
                <a:cs typeface="Trebuchet MS"/>
              </a:rPr>
              <a:t>network</a:t>
            </a:r>
            <a:r>
              <a:rPr sz="3600" spc="-380" dirty="0">
                <a:latin typeface="Trebuchet MS"/>
                <a:cs typeface="Trebuchet MS"/>
              </a:rPr>
              <a:t> </a:t>
            </a:r>
            <a:r>
              <a:rPr sz="3600" spc="-360" dirty="0">
                <a:latin typeface="Trebuchet MS"/>
                <a:cs typeface="Trebuchet MS"/>
              </a:rPr>
              <a:t>configuration</a:t>
            </a:r>
            <a:r>
              <a:rPr sz="3600" spc="-385" dirty="0">
                <a:latin typeface="Trebuchet MS"/>
                <a:cs typeface="Trebuchet MS"/>
              </a:rPr>
              <a:t> </a:t>
            </a:r>
            <a:r>
              <a:rPr sz="3600" spc="-350" dirty="0">
                <a:latin typeface="Trebuchet MS"/>
                <a:cs typeface="Trebuchet MS"/>
              </a:rPr>
              <a:t>of</a:t>
            </a:r>
            <a:r>
              <a:rPr sz="3600" spc="-380" dirty="0">
                <a:latin typeface="Trebuchet MS"/>
                <a:cs typeface="Trebuchet MS"/>
              </a:rPr>
              <a:t> </a:t>
            </a:r>
            <a:r>
              <a:rPr sz="3600" spc="-409" dirty="0">
                <a:latin typeface="Trebuchet MS"/>
                <a:cs typeface="Trebuchet MS"/>
              </a:rPr>
              <a:t>the</a:t>
            </a:r>
            <a:r>
              <a:rPr sz="3600" spc="-380" dirty="0">
                <a:latin typeface="Trebuchet MS"/>
                <a:cs typeface="Trebuchet MS"/>
              </a:rPr>
              <a:t> </a:t>
            </a:r>
            <a:r>
              <a:rPr sz="3600" spc="-395" dirty="0">
                <a:latin typeface="Trebuchet MS"/>
                <a:cs typeface="Trebuchet MS"/>
              </a:rPr>
              <a:t>entire</a:t>
            </a:r>
            <a:r>
              <a:rPr sz="3600" spc="-385" dirty="0">
                <a:latin typeface="Trebuchet MS"/>
                <a:cs typeface="Trebuchet MS"/>
              </a:rPr>
              <a:t> </a:t>
            </a:r>
            <a:r>
              <a:rPr sz="3600" spc="-375" dirty="0">
                <a:latin typeface="Trebuchet MS"/>
                <a:cs typeface="Trebuchet MS"/>
              </a:rPr>
              <a:t>cluster</a:t>
            </a:r>
            <a:r>
              <a:rPr sz="3600" spc="-380" dirty="0">
                <a:latin typeface="Trebuchet MS"/>
                <a:cs typeface="Trebuchet MS"/>
              </a:rPr>
              <a:t> </a:t>
            </a:r>
            <a:r>
              <a:rPr sz="3600" spc="-335" dirty="0">
                <a:latin typeface="Trebuchet MS"/>
                <a:cs typeface="Trebuchet MS"/>
              </a:rPr>
              <a:t>such</a:t>
            </a:r>
            <a:r>
              <a:rPr sz="3600" spc="-380" dirty="0">
                <a:latin typeface="Trebuchet MS"/>
                <a:cs typeface="Trebuchet MS"/>
              </a:rPr>
              <a:t> </a:t>
            </a:r>
            <a:r>
              <a:rPr sz="3600" spc="-240" dirty="0">
                <a:latin typeface="Trebuchet MS"/>
                <a:cs typeface="Trebuchet MS"/>
              </a:rPr>
              <a:t>as</a:t>
            </a:r>
            <a:r>
              <a:rPr sz="3600" spc="-385" dirty="0">
                <a:latin typeface="Trebuchet MS"/>
                <a:cs typeface="Trebuchet MS"/>
              </a:rPr>
              <a:t> </a:t>
            </a:r>
            <a:r>
              <a:rPr sz="3600" spc="-380" dirty="0">
                <a:latin typeface="Trebuchet MS"/>
                <a:cs typeface="Trebuchet MS"/>
              </a:rPr>
              <a:t>pod </a:t>
            </a:r>
            <a:r>
              <a:rPr sz="3600" spc="-400" dirty="0">
                <a:latin typeface="Trebuchet MS"/>
                <a:cs typeface="Trebuchet MS"/>
              </a:rPr>
              <a:t>IP,</a:t>
            </a:r>
            <a:r>
              <a:rPr sz="3600" spc="-380" dirty="0">
                <a:latin typeface="Trebuchet MS"/>
                <a:cs typeface="Trebuchet MS"/>
              </a:rPr>
              <a:t> Services, </a:t>
            </a:r>
            <a:r>
              <a:rPr sz="3600" spc="-365" dirty="0">
                <a:latin typeface="Trebuchet MS"/>
                <a:cs typeface="Trebuchet MS"/>
              </a:rPr>
              <a:t>Deployments</a:t>
            </a:r>
            <a:r>
              <a:rPr sz="3600" spc="-355" dirty="0">
                <a:latin typeface="Trebuchet MS"/>
                <a:cs typeface="Trebuchet MS"/>
              </a:rPr>
              <a:t> </a:t>
            </a:r>
            <a:r>
              <a:rPr sz="3600" spc="-555" dirty="0">
                <a:latin typeface="Trebuchet MS"/>
                <a:cs typeface="Trebuchet MS"/>
              </a:rPr>
              <a:t>etc..</a:t>
            </a:r>
            <a:endParaRPr sz="3600">
              <a:latin typeface="Trebuchet MS"/>
              <a:cs typeface="Trebuchet MS"/>
            </a:endParaRPr>
          </a:p>
          <a:p>
            <a:pPr marL="1021715">
              <a:lnSpc>
                <a:spcPct val="100000"/>
              </a:lnSpc>
              <a:spcBef>
                <a:spcPts val="705"/>
              </a:spcBef>
            </a:pPr>
            <a:r>
              <a:rPr sz="3600" spc="-330" dirty="0">
                <a:latin typeface="Trebuchet MS"/>
                <a:cs typeface="Trebuchet MS"/>
              </a:rPr>
              <a:t>It</a:t>
            </a:r>
            <a:r>
              <a:rPr sz="3600" spc="-385" dirty="0">
                <a:latin typeface="Trebuchet MS"/>
                <a:cs typeface="Trebuchet MS"/>
              </a:rPr>
              <a:t> </a:t>
            </a:r>
            <a:r>
              <a:rPr sz="3600" spc="-340" dirty="0">
                <a:latin typeface="Trebuchet MS"/>
                <a:cs typeface="Trebuchet MS"/>
              </a:rPr>
              <a:t>takes</a:t>
            </a:r>
            <a:r>
              <a:rPr sz="3600" spc="-385" dirty="0">
                <a:latin typeface="Trebuchet MS"/>
                <a:cs typeface="Trebuchet MS"/>
              </a:rPr>
              <a:t> </a:t>
            </a:r>
            <a:r>
              <a:rPr sz="3600" spc="-430" dirty="0">
                <a:latin typeface="Trebuchet MS"/>
                <a:cs typeface="Trebuchet MS"/>
              </a:rPr>
              <a:t>care</a:t>
            </a:r>
            <a:r>
              <a:rPr sz="3600" spc="-385" dirty="0">
                <a:latin typeface="Trebuchet MS"/>
                <a:cs typeface="Trebuchet MS"/>
              </a:rPr>
              <a:t> </a:t>
            </a:r>
            <a:r>
              <a:rPr sz="3600" spc="-350" dirty="0">
                <a:latin typeface="Trebuchet MS"/>
                <a:cs typeface="Trebuchet MS"/>
              </a:rPr>
              <a:t>of</a:t>
            </a:r>
            <a:r>
              <a:rPr sz="3600" spc="-380"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75" dirty="0">
                <a:latin typeface="Trebuchet MS"/>
                <a:cs typeface="Trebuchet MS"/>
              </a:rPr>
              <a:t>load</a:t>
            </a:r>
            <a:r>
              <a:rPr sz="3600" spc="-385" dirty="0">
                <a:latin typeface="Trebuchet MS"/>
                <a:cs typeface="Trebuchet MS"/>
              </a:rPr>
              <a:t> </a:t>
            </a:r>
            <a:r>
              <a:rPr sz="3600" spc="-360" dirty="0">
                <a:latin typeface="Trebuchet MS"/>
                <a:cs typeface="Trebuchet MS"/>
              </a:rPr>
              <a:t>balancing</a:t>
            </a:r>
            <a:r>
              <a:rPr sz="3600" spc="-380" dirty="0">
                <a:latin typeface="Trebuchet MS"/>
                <a:cs typeface="Trebuchet MS"/>
              </a:rPr>
              <a:t> </a:t>
            </a:r>
            <a:r>
              <a:rPr sz="3600" spc="-365" dirty="0">
                <a:latin typeface="Trebuchet MS"/>
                <a:cs typeface="Trebuchet MS"/>
              </a:rPr>
              <a:t>and</a:t>
            </a:r>
            <a:r>
              <a:rPr sz="3600" spc="-385" dirty="0">
                <a:latin typeface="Trebuchet MS"/>
                <a:cs typeface="Trebuchet MS"/>
              </a:rPr>
              <a:t> </a:t>
            </a:r>
            <a:r>
              <a:rPr sz="3600" spc="-345" dirty="0">
                <a:latin typeface="Trebuchet MS"/>
                <a:cs typeface="Trebuchet MS"/>
              </a:rPr>
              <a:t>routing</a:t>
            </a:r>
            <a:r>
              <a:rPr sz="3600" spc="-385" dirty="0">
                <a:latin typeface="Trebuchet MS"/>
                <a:cs typeface="Trebuchet MS"/>
              </a:rPr>
              <a:t> </a:t>
            </a:r>
            <a:r>
              <a:rPr sz="3600" spc="-405" dirty="0">
                <a:latin typeface="Trebuchet MS"/>
                <a:cs typeface="Trebuchet MS"/>
              </a:rPr>
              <a:t>which</a:t>
            </a:r>
            <a:r>
              <a:rPr sz="3600" spc="-385" dirty="0">
                <a:latin typeface="Trebuchet MS"/>
                <a:cs typeface="Trebuchet MS"/>
              </a:rPr>
              <a:t> </a:t>
            </a:r>
            <a:r>
              <a:rPr sz="3600" spc="-395" dirty="0">
                <a:latin typeface="Trebuchet MS"/>
                <a:cs typeface="Trebuchet MS"/>
              </a:rPr>
              <a:t>comes</a:t>
            </a:r>
            <a:r>
              <a:rPr sz="3600" spc="-380" dirty="0">
                <a:latin typeface="Trebuchet MS"/>
                <a:cs typeface="Trebuchet MS"/>
              </a:rPr>
              <a:t> under</a:t>
            </a:r>
            <a:r>
              <a:rPr sz="3600" spc="-385" dirty="0">
                <a:latin typeface="Trebuchet MS"/>
                <a:cs typeface="Trebuchet MS"/>
              </a:rPr>
              <a:t> </a:t>
            </a:r>
            <a:r>
              <a:rPr sz="3600" spc="-370" dirty="0">
                <a:latin typeface="Trebuchet MS"/>
                <a:cs typeface="Trebuchet MS"/>
              </a:rPr>
              <a:t>networking</a:t>
            </a:r>
            <a:r>
              <a:rPr sz="3600" spc="-385" dirty="0">
                <a:latin typeface="Trebuchet MS"/>
                <a:cs typeface="Trebuchet MS"/>
              </a:rPr>
              <a:t> </a:t>
            </a:r>
            <a:r>
              <a:rPr sz="3600" spc="-390" dirty="0">
                <a:latin typeface="Trebuchet MS"/>
                <a:cs typeface="Trebuchet MS"/>
              </a:rPr>
              <a:t>configuration.</a:t>
            </a:r>
            <a:endParaRPr sz="3600">
              <a:latin typeface="Trebuchet MS"/>
              <a:cs typeface="Trebuchet MS"/>
            </a:endParaRPr>
          </a:p>
          <a:p>
            <a:pPr marL="245745">
              <a:lnSpc>
                <a:spcPct val="100000"/>
              </a:lnSpc>
              <a:spcBef>
                <a:spcPts val="3354"/>
              </a:spcBef>
              <a:tabLst>
                <a:tab pos="1193165" algn="l"/>
              </a:tabLst>
            </a:pPr>
            <a:r>
              <a:rPr sz="3700" spc="-25" dirty="0">
                <a:solidFill>
                  <a:srgbClr val="FF904D"/>
                </a:solidFill>
                <a:latin typeface="Arial MT"/>
                <a:cs typeface="Arial MT"/>
              </a:rPr>
              <a:t>od:</a:t>
            </a:r>
            <a:r>
              <a:rPr sz="3700" dirty="0">
                <a:solidFill>
                  <a:srgbClr val="FF904D"/>
                </a:solidFill>
                <a:latin typeface="Arial MT"/>
                <a:cs typeface="Arial MT"/>
              </a:rPr>
              <a:t>	</a:t>
            </a:r>
            <a:r>
              <a:rPr sz="3600" spc="-365" dirty="0">
                <a:latin typeface="Trebuchet MS"/>
                <a:cs typeface="Trebuchet MS"/>
              </a:rPr>
              <a:t>A</a:t>
            </a:r>
            <a:r>
              <a:rPr sz="3600" spc="-385" dirty="0">
                <a:latin typeface="Trebuchet MS"/>
                <a:cs typeface="Trebuchet MS"/>
              </a:rPr>
              <a:t> </a:t>
            </a:r>
            <a:r>
              <a:rPr sz="3600" spc="-340" dirty="0">
                <a:latin typeface="Trebuchet MS"/>
                <a:cs typeface="Trebuchet MS"/>
              </a:rPr>
              <a:t>group</a:t>
            </a:r>
            <a:r>
              <a:rPr sz="3600" spc="-385" dirty="0">
                <a:latin typeface="Trebuchet MS"/>
                <a:cs typeface="Trebuchet MS"/>
              </a:rPr>
              <a:t> </a:t>
            </a:r>
            <a:r>
              <a:rPr sz="3600" spc="-350" dirty="0">
                <a:latin typeface="Trebuchet MS"/>
                <a:cs typeface="Trebuchet MS"/>
              </a:rPr>
              <a:t>of</a:t>
            </a:r>
            <a:r>
              <a:rPr sz="3600" spc="-380" dirty="0">
                <a:latin typeface="Trebuchet MS"/>
                <a:cs typeface="Trebuchet MS"/>
              </a:rPr>
              <a:t> </a:t>
            </a:r>
            <a:r>
              <a:rPr sz="3600" spc="-385" dirty="0">
                <a:latin typeface="Trebuchet MS"/>
                <a:cs typeface="Trebuchet MS"/>
              </a:rPr>
              <a:t>one </a:t>
            </a:r>
            <a:r>
              <a:rPr sz="3600" spc="-380" dirty="0">
                <a:latin typeface="Trebuchet MS"/>
                <a:cs typeface="Trebuchet MS"/>
              </a:rPr>
              <a:t>or </a:t>
            </a:r>
            <a:r>
              <a:rPr sz="3600" spc="-430" dirty="0">
                <a:latin typeface="Trebuchet MS"/>
                <a:cs typeface="Trebuchet MS"/>
              </a:rPr>
              <a:t>more</a:t>
            </a:r>
            <a:r>
              <a:rPr sz="3600" spc="-385" dirty="0">
                <a:latin typeface="Trebuchet MS"/>
                <a:cs typeface="Trebuchet MS"/>
              </a:rPr>
              <a:t> </a:t>
            </a:r>
            <a:r>
              <a:rPr sz="3600" spc="-400" dirty="0">
                <a:latin typeface="Trebuchet MS"/>
                <a:cs typeface="Trebuchet MS"/>
              </a:rPr>
              <a:t>containers.</a:t>
            </a:r>
            <a:endParaRPr sz="3600">
              <a:latin typeface="Trebuchet MS"/>
              <a:cs typeface="Trebuchet MS"/>
            </a:endParaRPr>
          </a:p>
          <a:p>
            <a:pPr>
              <a:lnSpc>
                <a:spcPct val="100000"/>
              </a:lnSpc>
              <a:spcBef>
                <a:spcPts val="650"/>
              </a:spcBef>
            </a:pPr>
            <a:endParaRPr sz="3600">
              <a:latin typeface="Trebuchet MS"/>
              <a:cs typeface="Trebuchet MS"/>
            </a:endParaRPr>
          </a:p>
          <a:p>
            <a:pPr marL="12700">
              <a:lnSpc>
                <a:spcPct val="100000"/>
              </a:lnSpc>
            </a:pPr>
            <a:r>
              <a:rPr sz="3700" spc="165" dirty="0">
                <a:solidFill>
                  <a:srgbClr val="FF904D"/>
                </a:solidFill>
                <a:latin typeface="Arial MT"/>
                <a:cs typeface="Arial MT"/>
              </a:rPr>
              <a:t>container:</a:t>
            </a:r>
            <a:endParaRPr sz="3700">
              <a:latin typeface="Arial MT"/>
              <a:cs typeface="Arial MT"/>
            </a:endParaRPr>
          </a:p>
          <a:p>
            <a:pPr marL="1382395" marR="7200900">
              <a:lnSpc>
                <a:spcPts val="3829"/>
              </a:lnSpc>
              <a:spcBef>
                <a:spcPts val="1605"/>
              </a:spcBef>
            </a:pPr>
            <a:r>
              <a:rPr sz="3600" spc="-330" dirty="0">
                <a:latin typeface="Trebuchet MS"/>
                <a:cs typeface="Trebuchet MS"/>
              </a:rPr>
              <a:t>It</a:t>
            </a:r>
            <a:r>
              <a:rPr sz="3600" spc="-390" dirty="0">
                <a:latin typeface="Trebuchet MS"/>
                <a:cs typeface="Trebuchet MS"/>
              </a:rPr>
              <a:t> </a:t>
            </a:r>
            <a:r>
              <a:rPr sz="3600" spc="-220" dirty="0">
                <a:latin typeface="Trebuchet MS"/>
                <a:cs typeface="Trebuchet MS"/>
              </a:rPr>
              <a:t>is</a:t>
            </a:r>
            <a:r>
              <a:rPr sz="3600" spc="-385" dirty="0">
                <a:latin typeface="Trebuchet MS"/>
                <a:cs typeface="Trebuchet MS"/>
              </a:rPr>
              <a:t> </a:t>
            </a:r>
            <a:r>
              <a:rPr sz="3600" spc="-360" dirty="0">
                <a:latin typeface="Trebuchet MS"/>
                <a:cs typeface="Trebuchet MS"/>
              </a:rPr>
              <a:t>a</a:t>
            </a:r>
            <a:r>
              <a:rPr sz="3600" spc="-390" dirty="0">
                <a:latin typeface="Trebuchet MS"/>
                <a:cs typeface="Trebuchet MS"/>
              </a:rPr>
              <a:t> </a:t>
            </a:r>
            <a:r>
              <a:rPr sz="3600" spc="-365" dirty="0">
                <a:latin typeface="Trebuchet MS"/>
                <a:cs typeface="Trebuchet MS"/>
              </a:rPr>
              <a:t>virtual</a:t>
            </a:r>
            <a:r>
              <a:rPr sz="3600" spc="-385" dirty="0">
                <a:latin typeface="Trebuchet MS"/>
                <a:cs typeface="Trebuchet MS"/>
              </a:rPr>
              <a:t> </a:t>
            </a:r>
            <a:r>
              <a:rPr sz="3600" spc="-409" dirty="0">
                <a:latin typeface="Trebuchet MS"/>
                <a:cs typeface="Trebuchet MS"/>
              </a:rPr>
              <a:t>machine</a:t>
            </a:r>
            <a:r>
              <a:rPr sz="3600" spc="-390" dirty="0">
                <a:latin typeface="Trebuchet MS"/>
                <a:cs typeface="Trebuchet MS"/>
              </a:rPr>
              <a:t> </a:t>
            </a:r>
            <a:r>
              <a:rPr sz="3600" spc="-405" dirty="0">
                <a:latin typeface="Trebuchet MS"/>
                <a:cs typeface="Trebuchet MS"/>
              </a:rPr>
              <a:t>which</a:t>
            </a:r>
            <a:r>
              <a:rPr sz="3600" spc="-385" dirty="0">
                <a:latin typeface="Trebuchet MS"/>
                <a:cs typeface="Trebuchet MS"/>
              </a:rPr>
              <a:t> </a:t>
            </a:r>
            <a:r>
              <a:rPr sz="3600" spc="-325" dirty="0">
                <a:latin typeface="Trebuchet MS"/>
                <a:cs typeface="Trebuchet MS"/>
              </a:rPr>
              <a:t>does</a:t>
            </a:r>
            <a:r>
              <a:rPr sz="3600" spc="-390" dirty="0">
                <a:latin typeface="Trebuchet MS"/>
                <a:cs typeface="Trebuchet MS"/>
              </a:rPr>
              <a:t> </a:t>
            </a:r>
            <a:r>
              <a:rPr sz="3600" spc="-385" dirty="0">
                <a:latin typeface="Trebuchet MS"/>
                <a:cs typeface="Trebuchet MS"/>
              </a:rPr>
              <a:t>not </a:t>
            </a:r>
            <a:r>
              <a:rPr sz="3600" spc="-365" dirty="0">
                <a:latin typeface="Trebuchet MS"/>
                <a:cs typeface="Trebuchet MS"/>
              </a:rPr>
              <a:t>have</a:t>
            </a:r>
            <a:r>
              <a:rPr sz="3600" spc="-385" dirty="0">
                <a:latin typeface="Trebuchet MS"/>
                <a:cs typeface="Trebuchet MS"/>
              </a:rPr>
              <a:t> </a:t>
            </a:r>
            <a:r>
              <a:rPr sz="3600" spc="-285" dirty="0">
                <a:latin typeface="Trebuchet MS"/>
                <a:cs typeface="Trebuchet MS"/>
              </a:rPr>
              <a:t>any</a:t>
            </a:r>
            <a:r>
              <a:rPr sz="3600" spc="-390" dirty="0">
                <a:latin typeface="Trebuchet MS"/>
                <a:cs typeface="Trebuchet MS"/>
              </a:rPr>
              <a:t> </a:t>
            </a:r>
            <a:r>
              <a:rPr sz="3600" spc="-475" dirty="0">
                <a:latin typeface="Trebuchet MS"/>
                <a:cs typeface="Trebuchet MS"/>
              </a:rPr>
              <a:t>OS. </a:t>
            </a:r>
            <a:r>
              <a:rPr sz="3600" spc="-385" dirty="0">
                <a:latin typeface="Trebuchet MS"/>
                <a:cs typeface="Trebuchet MS"/>
              </a:rPr>
              <a:t>it </a:t>
            </a:r>
            <a:r>
              <a:rPr sz="3600" spc="-220" dirty="0">
                <a:latin typeface="Trebuchet MS"/>
                <a:cs typeface="Trebuchet MS"/>
              </a:rPr>
              <a:t>is</a:t>
            </a:r>
            <a:r>
              <a:rPr sz="3600" spc="-385" dirty="0">
                <a:latin typeface="Trebuchet MS"/>
                <a:cs typeface="Trebuchet MS"/>
              </a:rPr>
              <a:t> </a:t>
            </a:r>
            <a:r>
              <a:rPr sz="3600" spc="-320" dirty="0">
                <a:latin typeface="Trebuchet MS"/>
                <a:cs typeface="Trebuchet MS"/>
              </a:rPr>
              <a:t>used</a:t>
            </a:r>
            <a:r>
              <a:rPr sz="3600" spc="-385" dirty="0">
                <a:latin typeface="Trebuchet MS"/>
                <a:cs typeface="Trebuchet MS"/>
              </a:rPr>
              <a:t> </a:t>
            </a:r>
            <a:r>
              <a:rPr sz="3600" spc="-409" dirty="0">
                <a:latin typeface="Trebuchet MS"/>
                <a:cs typeface="Trebuchet MS"/>
              </a:rPr>
              <a:t>to</a:t>
            </a:r>
            <a:r>
              <a:rPr sz="3600" spc="-385" dirty="0">
                <a:latin typeface="Trebuchet MS"/>
                <a:cs typeface="Trebuchet MS"/>
              </a:rPr>
              <a:t> </a:t>
            </a:r>
            <a:r>
              <a:rPr sz="3600" spc="-355" dirty="0">
                <a:latin typeface="Trebuchet MS"/>
                <a:cs typeface="Trebuchet MS"/>
              </a:rPr>
              <a:t>run</a:t>
            </a:r>
            <a:r>
              <a:rPr sz="3600" spc="-380" dirty="0">
                <a:latin typeface="Trebuchet MS"/>
                <a:cs typeface="Trebuchet MS"/>
              </a:rPr>
              <a:t> </a:t>
            </a:r>
            <a:r>
              <a:rPr sz="3600" spc="-409" dirty="0">
                <a:latin typeface="Trebuchet MS"/>
                <a:cs typeface="Trebuchet MS"/>
              </a:rPr>
              <a:t>the</a:t>
            </a:r>
            <a:r>
              <a:rPr sz="3600" spc="-385" dirty="0">
                <a:latin typeface="Trebuchet MS"/>
                <a:cs typeface="Trebuchet MS"/>
              </a:rPr>
              <a:t> </a:t>
            </a:r>
            <a:r>
              <a:rPr sz="3600" spc="-360" dirty="0">
                <a:latin typeface="Trebuchet MS"/>
                <a:cs typeface="Trebuchet MS"/>
              </a:rPr>
              <a:t>applications</a:t>
            </a:r>
            <a:r>
              <a:rPr sz="3600" spc="-385" dirty="0">
                <a:latin typeface="Trebuchet MS"/>
                <a:cs typeface="Trebuchet MS"/>
              </a:rPr>
              <a:t> </a:t>
            </a:r>
            <a:r>
              <a:rPr sz="3600" spc="-330" dirty="0">
                <a:latin typeface="Trebuchet MS"/>
                <a:cs typeface="Trebuchet MS"/>
              </a:rPr>
              <a:t>in</a:t>
            </a:r>
            <a:r>
              <a:rPr sz="3600" spc="-385" dirty="0">
                <a:latin typeface="Trebuchet MS"/>
                <a:cs typeface="Trebuchet MS"/>
              </a:rPr>
              <a:t> </a:t>
            </a:r>
            <a:r>
              <a:rPr sz="3600" spc="-405" dirty="0">
                <a:latin typeface="Trebuchet MS"/>
                <a:cs typeface="Trebuchet MS"/>
              </a:rPr>
              <a:t>worker</a:t>
            </a:r>
            <a:r>
              <a:rPr sz="3600" spc="-380" dirty="0">
                <a:latin typeface="Trebuchet MS"/>
                <a:cs typeface="Trebuchet MS"/>
              </a:rPr>
              <a:t> </a:t>
            </a:r>
            <a:r>
              <a:rPr sz="3600" spc="-390" dirty="0">
                <a:latin typeface="Trebuchet MS"/>
                <a:cs typeface="Trebuchet MS"/>
              </a:rPr>
              <a:t>nodes.</a:t>
            </a:r>
            <a:endParaRPr sz="3600">
              <a:latin typeface="Trebuchet MS"/>
              <a:cs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037007" y="474496"/>
            <a:ext cx="231775" cy="368300"/>
          </a:xfrm>
          <a:prstGeom prst="rect">
            <a:avLst/>
          </a:prstGeom>
        </p:spPr>
      </p:pic>
      <p:sp>
        <p:nvSpPr>
          <p:cNvPr id="3" name="object 3"/>
          <p:cNvSpPr txBox="1">
            <a:spLocks noGrp="1"/>
          </p:cNvSpPr>
          <p:nvPr>
            <p:ph type="title"/>
          </p:nvPr>
        </p:nvSpPr>
        <p:spPr>
          <a:xfrm>
            <a:off x="786209" y="315778"/>
            <a:ext cx="5622925" cy="589280"/>
          </a:xfrm>
          <a:prstGeom prst="rect">
            <a:avLst/>
          </a:prstGeom>
        </p:spPr>
        <p:txBody>
          <a:bodyPr vert="horz" wrap="square" lIns="0" tIns="12700" rIns="0" bIns="0" rtlCol="0">
            <a:spAutoFit/>
          </a:bodyPr>
          <a:lstStyle/>
          <a:p>
            <a:pPr marL="12700">
              <a:lnSpc>
                <a:spcPct val="100000"/>
              </a:lnSpc>
              <a:spcBef>
                <a:spcPts val="100"/>
              </a:spcBef>
              <a:tabLst>
                <a:tab pos="5483225" algn="l"/>
              </a:tabLst>
            </a:pPr>
            <a:r>
              <a:rPr sz="3700" b="0" spc="75" dirty="0">
                <a:solidFill>
                  <a:srgbClr val="FF904D"/>
                </a:solidFill>
                <a:latin typeface="Arial MT"/>
                <a:cs typeface="Arial MT"/>
              </a:rPr>
              <a:t>kubernetes</a:t>
            </a:r>
            <a:r>
              <a:rPr sz="3700" b="0" spc="20" dirty="0">
                <a:solidFill>
                  <a:srgbClr val="FF904D"/>
                </a:solidFill>
                <a:latin typeface="Arial MT"/>
                <a:cs typeface="Arial MT"/>
              </a:rPr>
              <a:t> </a:t>
            </a:r>
            <a:r>
              <a:rPr sz="3700" b="0" spc="254" dirty="0">
                <a:solidFill>
                  <a:srgbClr val="FF904D"/>
                </a:solidFill>
                <a:latin typeface="Arial MT"/>
                <a:cs typeface="Arial MT"/>
              </a:rPr>
              <a:t>cluster</a:t>
            </a:r>
            <a:r>
              <a:rPr sz="3700" b="0" spc="20" dirty="0">
                <a:solidFill>
                  <a:srgbClr val="FF904D"/>
                </a:solidFill>
                <a:latin typeface="Arial MT"/>
                <a:cs typeface="Arial MT"/>
              </a:rPr>
              <a:t> </a:t>
            </a:r>
            <a:r>
              <a:rPr sz="3700" b="0" spc="-20" dirty="0">
                <a:solidFill>
                  <a:srgbClr val="FF904D"/>
                </a:solidFill>
                <a:latin typeface="Arial MT"/>
                <a:cs typeface="Arial MT"/>
              </a:rPr>
              <a:t>setu</a:t>
            </a:r>
            <a:r>
              <a:rPr sz="3700" b="0" dirty="0">
                <a:solidFill>
                  <a:srgbClr val="FF904D"/>
                </a:solidFill>
                <a:latin typeface="Arial MT"/>
                <a:cs typeface="Arial MT"/>
              </a:rPr>
              <a:t>	</a:t>
            </a:r>
            <a:r>
              <a:rPr sz="3700" b="0" spc="-50" dirty="0">
                <a:solidFill>
                  <a:srgbClr val="FF904D"/>
                </a:solidFill>
                <a:latin typeface="Arial MT"/>
                <a:cs typeface="Arial MT"/>
              </a:rPr>
              <a:t>:</a:t>
            </a:r>
            <a:endParaRPr sz="3700">
              <a:latin typeface="Arial MT"/>
              <a:cs typeface="Arial MT"/>
            </a:endParaRPr>
          </a:p>
        </p:txBody>
      </p:sp>
      <p:sp>
        <p:nvSpPr>
          <p:cNvPr id="4" name="object 4"/>
          <p:cNvSpPr txBox="1"/>
          <p:nvPr/>
        </p:nvSpPr>
        <p:spPr>
          <a:xfrm>
            <a:off x="1016000" y="1371117"/>
            <a:ext cx="8492490" cy="5919470"/>
          </a:xfrm>
          <a:prstGeom prst="rect">
            <a:avLst/>
          </a:prstGeom>
        </p:spPr>
        <p:txBody>
          <a:bodyPr vert="horz" wrap="square" lIns="0" tIns="13970" rIns="0" bIns="0" rtlCol="0">
            <a:spAutoFit/>
          </a:bodyPr>
          <a:lstStyle/>
          <a:p>
            <a:pPr marL="12700">
              <a:lnSpc>
                <a:spcPct val="100000"/>
              </a:lnSpc>
              <a:spcBef>
                <a:spcPts val="110"/>
              </a:spcBef>
            </a:pPr>
            <a:r>
              <a:rPr sz="3600" spc="-445" dirty="0">
                <a:latin typeface="Trebuchet MS"/>
                <a:cs typeface="Trebuchet MS"/>
              </a:rPr>
              <a:t>There</a:t>
            </a:r>
            <a:r>
              <a:rPr sz="3600" spc="-380" dirty="0">
                <a:latin typeface="Trebuchet MS"/>
                <a:cs typeface="Trebuchet MS"/>
              </a:rPr>
              <a:t> </a:t>
            </a:r>
            <a:r>
              <a:rPr sz="3600" spc="-395" dirty="0">
                <a:latin typeface="Trebuchet MS"/>
                <a:cs typeface="Trebuchet MS"/>
              </a:rPr>
              <a:t>are</a:t>
            </a:r>
            <a:r>
              <a:rPr sz="3600" spc="-375" dirty="0">
                <a:latin typeface="Trebuchet MS"/>
                <a:cs typeface="Trebuchet MS"/>
              </a:rPr>
              <a:t> </a:t>
            </a:r>
            <a:r>
              <a:rPr sz="3600" spc="-400" dirty="0">
                <a:latin typeface="Trebuchet MS"/>
                <a:cs typeface="Trebuchet MS"/>
              </a:rPr>
              <a:t>multiple</a:t>
            </a:r>
            <a:r>
              <a:rPr sz="3600" spc="-380" dirty="0">
                <a:latin typeface="Trebuchet MS"/>
                <a:cs typeface="Trebuchet MS"/>
              </a:rPr>
              <a:t> </a:t>
            </a:r>
            <a:r>
              <a:rPr sz="3600" spc="-275" dirty="0">
                <a:latin typeface="Trebuchet MS"/>
                <a:cs typeface="Trebuchet MS"/>
              </a:rPr>
              <a:t>ways</a:t>
            </a:r>
            <a:r>
              <a:rPr sz="3600" spc="-375" dirty="0">
                <a:latin typeface="Trebuchet MS"/>
                <a:cs typeface="Trebuchet MS"/>
              </a:rPr>
              <a:t> </a:t>
            </a:r>
            <a:r>
              <a:rPr sz="3600" spc="-409" dirty="0">
                <a:latin typeface="Trebuchet MS"/>
                <a:cs typeface="Trebuchet MS"/>
              </a:rPr>
              <a:t>to</a:t>
            </a:r>
            <a:r>
              <a:rPr sz="3600" spc="-375" dirty="0">
                <a:latin typeface="Trebuchet MS"/>
                <a:cs typeface="Trebuchet MS"/>
              </a:rPr>
              <a:t> </a:t>
            </a:r>
            <a:r>
              <a:rPr sz="3600" spc="-345" dirty="0">
                <a:latin typeface="Trebuchet MS"/>
                <a:cs typeface="Trebuchet MS"/>
              </a:rPr>
              <a:t>setup</a:t>
            </a:r>
            <a:r>
              <a:rPr sz="3600" spc="-380" dirty="0">
                <a:latin typeface="Trebuchet MS"/>
                <a:cs typeface="Trebuchet MS"/>
              </a:rPr>
              <a:t> </a:t>
            </a:r>
            <a:r>
              <a:rPr sz="3600" spc="-370" dirty="0">
                <a:latin typeface="Trebuchet MS"/>
                <a:cs typeface="Trebuchet MS"/>
              </a:rPr>
              <a:t>kubernetes</a:t>
            </a:r>
            <a:r>
              <a:rPr sz="3600" spc="-375" dirty="0">
                <a:latin typeface="Trebuchet MS"/>
                <a:cs typeface="Trebuchet MS"/>
              </a:rPr>
              <a:t> </a:t>
            </a:r>
            <a:r>
              <a:rPr sz="3600" spc="-420" dirty="0">
                <a:latin typeface="Trebuchet MS"/>
                <a:cs typeface="Trebuchet MS"/>
              </a:rPr>
              <a:t>cluster.</a:t>
            </a:r>
            <a:endParaRPr sz="3600">
              <a:latin typeface="Trebuchet MS"/>
              <a:cs typeface="Trebuchet MS"/>
            </a:endParaRPr>
          </a:p>
          <a:p>
            <a:pPr marL="12700">
              <a:lnSpc>
                <a:spcPts val="4075"/>
              </a:lnSpc>
              <a:spcBef>
                <a:spcPts val="3329"/>
              </a:spcBef>
            </a:pPr>
            <a:r>
              <a:rPr sz="3600" spc="-484" dirty="0">
                <a:latin typeface="Trebuchet MS"/>
                <a:cs typeface="Trebuchet MS"/>
              </a:rPr>
              <a:t>1.SELF</a:t>
            </a:r>
            <a:r>
              <a:rPr sz="3600" spc="-345" dirty="0">
                <a:latin typeface="Trebuchet MS"/>
                <a:cs typeface="Trebuchet MS"/>
              </a:rPr>
              <a:t> </a:t>
            </a:r>
            <a:r>
              <a:rPr sz="3600" spc="-380" dirty="0">
                <a:latin typeface="Trebuchet MS"/>
                <a:cs typeface="Trebuchet MS"/>
              </a:rPr>
              <a:t>MANAGER</a:t>
            </a:r>
            <a:r>
              <a:rPr sz="3600" spc="-340" dirty="0">
                <a:latin typeface="Trebuchet MS"/>
                <a:cs typeface="Trebuchet MS"/>
              </a:rPr>
              <a:t> </a:t>
            </a:r>
            <a:r>
              <a:rPr sz="3600" spc="-150" dirty="0">
                <a:latin typeface="Trebuchet MS"/>
                <a:cs typeface="Trebuchet MS"/>
              </a:rPr>
              <a:t>K8'S</a:t>
            </a:r>
            <a:r>
              <a:rPr sz="3600" spc="-340" dirty="0">
                <a:latin typeface="Trebuchet MS"/>
                <a:cs typeface="Trebuchet MS"/>
              </a:rPr>
              <a:t> </a:t>
            </a:r>
            <a:r>
              <a:rPr sz="3600" spc="-450" dirty="0">
                <a:latin typeface="Trebuchet MS"/>
                <a:cs typeface="Trebuchet MS"/>
              </a:rPr>
              <a:t>CLUSTER</a:t>
            </a:r>
            <a:endParaRPr sz="3600">
              <a:latin typeface="Trebuchet MS"/>
              <a:cs typeface="Trebuchet MS"/>
            </a:endParaRPr>
          </a:p>
          <a:p>
            <a:pPr marL="12700" marR="3208655">
              <a:lnSpc>
                <a:spcPts val="3829"/>
              </a:lnSpc>
              <a:spcBef>
                <a:spcPts val="285"/>
              </a:spcBef>
            </a:pPr>
            <a:r>
              <a:rPr sz="3600" spc="-405" dirty="0">
                <a:latin typeface="Trebuchet MS"/>
                <a:cs typeface="Trebuchet MS"/>
              </a:rPr>
              <a:t>a.mini</a:t>
            </a:r>
            <a:r>
              <a:rPr sz="3600" spc="-370" dirty="0">
                <a:latin typeface="Trebuchet MS"/>
                <a:cs typeface="Trebuchet MS"/>
              </a:rPr>
              <a:t> </a:t>
            </a:r>
            <a:r>
              <a:rPr sz="3600" spc="-365" dirty="0">
                <a:latin typeface="Trebuchet MS"/>
                <a:cs typeface="Trebuchet MS"/>
              </a:rPr>
              <a:t>kube </a:t>
            </a:r>
            <a:r>
              <a:rPr sz="3600" spc="-305" dirty="0">
                <a:latin typeface="Trebuchet MS"/>
                <a:cs typeface="Trebuchet MS"/>
              </a:rPr>
              <a:t>(single</a:t>
            </a:r>
            <a:r>
              <a:rPr sz="3600" spc="-365" dirty="0">
                <a:latin typeface="Trebuchet MS"/>
                <a:cs typeface="Trebuchet MS"/>
              </a:rPr>
              <a:t> </a:t>
            </a:r>
            <a:r>
              <a:rPr sz="3600" spc="-375" dirty="0">
                <a:latin typeface="Trebuchet MS"/>
                <a:cs typeface="Trebuchet MS"/>
              </a:rPr>
              <a:t>node</a:t>
            </a:r>
            <a:r>
              <a:rPr sz="3600" spc="-365" dirty="0">
                <a:latin typeface="Trebuchet MS"/>
                <a:cs typeface="Trebuchet MS"/>
              </a:rPr>
              <a:t> </a:t>
            </a:r>
            <a:r>
              <a:rPr sz="3600" spc="-380" dirty="0">
                <a:latin typeface="Trebuchet MS"/>
                <a:cs typeface="Trebuchet MS"/>
              </a:rPr>
              <a:t>cluster) </a:t>
            </a:r>
            <a:r>
              <a:rPr sz="3600" spc="-405" dirty="0">
                <a:latin typeface="Trebuchet MS"/>
                <a:cs typeface="Trebuchet MS"/>
              </a:rPr>
              <a:t>b.kubeadm(multi</a:t>
            </a:r>
            <a:r>
              <a:rPr sz="3600" spc="-340" dirty="0">
                <a:latin typeface="Trebuchet MS"/>
                <a:cs typeface="Trebuchet MS"/>
              </a:rPr>
              <a:t> </a:t>
            </a:r>
            <a:r>
              <a:rPr sz="3600" spc="-375" dirty="0">
                <a:latin typeface="Trebuchet MS"/>
                <a:cs typeface="Trebuchet MS"/>
              </a:rPr>
              <a:t>node</a:t>
            </a:r>
            <a:r>
              <a:rPr sz="3600" spc="-335" dirty="0">
                <a:latin typeface="Trebuchet MS"/>
                <a:cs typeface="Trebuchet MS"/>
              </a:rPr>
              <a:t> </a:t>
            </a:r>
            <a:r>
              <a:rPr sz="3600" spc="-380" dirty="0">
                <a:latin typeface="Trebuchet MS"/>
                <a:cs typeface="Trebuchet MS"/>
              </a:rPr>
              <a:t>cluster)</a:t>
            </a:r>
            <a:endParaRPr sz="3600">
              <a:latin typeface="Trebuchet MS"/>
              <a:cs typeface="Trebuchet MS"/>
            </a:endParaRPr>
          </a:p>
          <a:p>
            <a:pPr marL="12700">
              <a:lnSpc>
                <a:spcPts val="3775"/>
              </a:lnSpc>
            </a:pPr>
            <a:r>
              <a:rPr sz="3600" spc="-590" dirty="0">
                <a:latin typeface="Trebuchet MS"/>
                <a:cs typeface="Trebuchet MS"/>
              </a:rPr>
              <a:t>c.</a:t>
            </a:r>
            <a:r>
              <a:rPr sz="3600" spc="-395" dirty="0">
                <a:latin typeface="Trebuchet MS"/>
                <a:cs typeface="Trebuchet MS"/>
              </a:rPr>
              <a:t> </a:t>
            </a:r>
            <a:r>
              <a:rPr sz="3600" spc="-375" dirty="0">
                <a:latin typeface="Trebuchet MS"/>
                <a:cs typeface="Trebuchet MS"/>
              </a:rPr>
              <a:t>KOPS</a:t>
            </a:r>
            <a:endParaRPr sz="3600">
              <a:latin typeface="Trebuchet MS"/>
              <a:cs typeface="Trebuchet MS"/>
            </a:endParaRPr>
          </a:p>
          <a:p>
            <a:pPr marL="395605" indent="-392430">
              <a:lnSpc>
                <a:spcPts val="4075"/>
              </a:lnSpc>
              <a:spcBef>
                <a:spcPts val="3329"/>
              </a:spcBef>
              <a:buSzPct val="93055"/>
              <a:buAutoNum type="arabicPeriod" startAt="2"/>
              <a:tabLst>
                <a:tab pos="395605" algn="l"/>
              </a:tabLst>
            </a:pPr>
            <a:r>
              <a:rPr sz="3600" spc="-520" dirty="0">
                <a:latin typeface="Trebuchet MS"/>
                <a:cs typeface="Trebuchet MS"/>
              </a:rPr>
              <a:t>CLOUD</a:t>
            </a:r>
            <a:r>
              <a:rPr sz="3600" spc="-350" dirty="0">
                <a:latin typeface="Trebuchet MS"/>
                <a:cs typeface="Trebuchet MS"/>
              </a:rPr>
              <a:t> </a:t>
            </a:r>
            <a:r>
              <a:rPr sz="3600" spc="-385" dirty="0">
                <a:latin typeface="Trebuchet MS"/>
                <a:cs typeface="Trebuchet MS"/>
              </a:rPr>
              <a:t>MANAGED</a:t>
            </a:r>
            <a:r>
              <a:rPr sz="3600" spc="-350" dirty="0">
                <a:latin typeface="Trebuchet MS"/>
                <a:cs typeface="Trebuchet MS"/>
              </a:rPr>
              <a:t> </a:t>
            </a:r>
            <a:r>
              <a:rPr sz="3600" spc="-145" dirty="0">
                <a:latin typeface="Trebuchet MS"/>
                <a:cs typeface="Trebuchet MS"/>
              </a:rPr>
              <a:t>K8'S</a:t>
            </a:r>
            <a:r>
              <a:rPr sz="3600" spc="-350" dirty="0">
                <a:latin typeface="Trebuchet MS"/>
                <a:cs typeface="Trebuchet MS"/>
              </a:rPr>
              <a:t> </a:t>
            </a:r>
            <a:r>
              <a:rPr sz="3600" spc="-445" dirty="0">
                <a:latin typeface="Trebuchet MS"/>
                <a:cs typeface="Trebuchet MS"/>
              </a:rPr>
              <a:t>CLUSTER</a:t>
            </a:r>
            <a:endParaRPr sz="3600">
              <a:latin typeface="Trebuchet MS"/>
              <a:cs typeface="Trebuchet MS"/>
            </a:endParaRPr>
          </a:p>
          <a:p>
            <a:pPr marL="398780" lvl="1" indent="-398780">
              <a:lnSpc>
                <a:spcPts val="3825"/>
              </a:lnSpc>
              <a:buSzPct val="65277"/>
              <a:buAutoNum type="alphaLcPeriod"/>
              <a:tabLst>
                <a:tab pos="398780" algn="l"/>
              </a:tabLst>
            </a:pPr>
            <a:r>
              <a:rPr sz="3600" spc="-340" dirty="0">
                <a:latin typeface="Trebuchet MS"/>
                <a:cs typeface="Trebuchet MS"/>
              </a:rPr>
              <a:t>AWS</a:t>
            </a:r>
            <a:r>
              <a:rPr sz="3600" spc="-310" dirty="0">
                <a:latin typeface="Trebuchet MS"/>
                <a:cs typeface="Trebuchet MS"/>
              </a:rPr>
              <a:t> </a:t>
            </a:r>
            <a:r>
              <a:rPr sz="3600" spc="-290" dirty="0">
                <a:latin typeface="Trebuchet MS"/>
                <a:cs typeface="Trebuchet MS"/>
              </a:rPr>
              <a:t>EKS</a:t>
            </a:r>
            <a:endParaRPr sz="3600">
              <a:latin typeface="Trebuchet MS"/>
              <a:cs typeface="Trebuchet MS"/>
            </a:endParaRPr>
          </a:p>
          <a:p>
            <a:pPr marL="316865" lvl="1" indent="-313055">
              <a:lnSpc>
                <a:spcPts val="3825"/>
              </a:lnSpc>
              <a:buSzPct val="65277"/>
              <a:buAutoNum type="alphaLcPeriod"/>
              <a:tabLst>
                <a:tab pos="316865" algn="l"/>
              </a:tabLst>
            </a:pPr>
            <a:r>
              <a:rPr sz="3600" spc="-375" dirty="0">
                <a:latin typeface="Trebuchet MS"/>
                <a:cs typeface="Trebuchet MS"/>
              </a:rPr>
              <a:t>AZURE</a:t>
            </a:r>
            <a:r>
              <a:rPr sz="3600" spc="-315" dirty="0">
                <a:latin typeface="Trebuchet MS"/>
                <a:cs typeface="Trebuchet MS"/>
              </a:rPr>
              <a:t> </a:t>
            </a:r>
            <a:r>
              <a:rPr sz="3600" spc="-290" dirty="0">
                <a:latin typeface="Trebuchet MS"/>
                <a:cs typeface="Trebuchet MS"/>
              </a:rPr>
              <a:t>AKS</a:t>
            </a:r>
            <a:endParaRPr sz="3600">
              <a:latin typeface="Trebuchet MS"/>
              <a:cs typeface="Trebuchet MS"/>
            </a:endParaRPr>
          </a:p>
          <a:p>
            <a:pPr marL="272415" lvl="1" indent="-269875">
              <a:lnSpc>
                <a:spcPts val="3825"/>
              </a:lnSpc>
              <a:buSzPct val="65277"/>
              <a:buAutoNum type="alphaLcPeriod"/>
              <a:tabLst>
                <a:tab pos="272415" algn="l"/>
              </a:tabLst>
            </a:pPr>
            <a:r>
              <a:rPr sz="3600" spc="-560" dirty="0">
                <a:latin typeface="Trebuchet MS"/>
                <a:cs typeface="Trebuchet MS"/>
              </a:rPr>
              <a:t>GCP</a:t>
            </a:r>
            <a:r>
              <a:rPr sz="3600" spc="-310" dirty="0">
                <a:latin typeface="Trebuchet MS"/>
                <a:cs typeface="Trebuchet MS"/>
              </a:rPr>
              <a:t> </a:t>
            </a:r>
            <a:r>
              <a:rPr sz="3600" spc="-400" dirty="0">
                <a:latin typeface="Trebuchet MS"/>
                <a:cs typeface="Trebuchet MS"/>
              </a:rPr>
              <a:t>GKS</a:t>
            </a:r>
            <a:endParaRPr sz="3600">
              <a:latin typeface="Trebuchet MS"/>
              <a:cs typeface="Trebuchet MS"/>
            </a:endParaRPr>
          </a:p>
          <a:p>
            <a:pPr marL="318135" lvl="1" indent="-305435">
              <a:lnSpc>
                <a:spcPts val="4070"/>
              </a:lnSpc>
              <a:buSzPct val="65277"/>
              <a:buAutoNum type="alphaLcPeriod"/>
              <a:tabLst>
                <a:tab pos="318135" algn="l"/>
              </a:tabLst>
            </a:pPr>
            <a:r>
              <a:rPr sz="3600" spc="-190" dirty="0">
                <a:latin typeface="Trebuchet MS"/>
                <a:cs typeface="Trebuchet MS"/>
              </a:rPr>
              <a:t>IBM</a:t>
            </a:r>
            <a:r>
              <a:rPr sz="3600" spc="-290" dirty="0">
                <a:latin typeface="Trebuchet MS"/>
                <a:cs typeface="Trebuchet MS"/>
              </a:rPr>
              <a:t> </a:t>
            </a:r>
            <a:r>
              <a:rPr sz="3600" spc="-310" dirty="0">
                <a:latin typeface="Trebuchet MS"/>
                <a:cs typeface="Trebuchet MS"/>
              </a:rPr>
              <a:t>IKE</a:t>
            </a:r>
            <a:endParaRPr sz="3600">
              <a:latin typeface="Trebuchet MS"/>
              <a:cs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2497" y="0"/>
            <a:ext cx="10730229" cy="10286999"/>
          </a:xfrm>
          <a:prstGeom prst="rect">
            <a:avLst/>
          </a:prstGeom>
        </p:spPr>
      </p:pic>
      <p:sp>
        <p:nvSpPr>
          <p:cNvPr id="3" name="object 3"/>
          <p:cNvSpPr txBox="1">
            <a:spLocks noGrp="1"/>
          </p:cNvSpPr>
          <p:nvPr>
            <p:ph type="title"/>
          </p:nvPr>
        </p:nvSpPr>
        <p:spPr>
          <a:prstGeom prst="rect">
            <a:avLst/>
          </a:prstGeom>
        </p:spPr>
        <p:txBody>
          <a:bodyPr vert="horz" wrap="square" lIns="0" tIns="215463" rIns="0" bIns="0" rtlCol="0">
            <a:spAutoFit/>
          </a:bodyPr>
          <a:lstStyle/>
          <a:p>
            <a:pPr marL="193675">
              <a:lnSpc>
                <a:spcPct val="100000"/>
              </a:lnSpc>
              <a:spcBef>
                <a:spcPts val="100"/>
              </a:spcBef>
            </a:pPr>
            <a:r>
              <a:rPr spc="-160" dirty="0">
                <a:solidFill>
                  <a:srgbClr val="FF3131"/>
                </a:solidFill>
              </a:rPr>
              <a:t>MINIKUBE</a:t>
            </a:r>
            <a:r>
              <a:rPr spc="-160" dirty="0">
                <a:solidFill>
                  <a:srgbClr val="2E377E"/>
                </a:solidFill>
              </a:rPr>
              <a:t>:</a:t>
            </a:r>
          </a:p>
        </p:txBody>
      </p:sp>
      <p:sp>
        <p:nvSpPr>
          <p:cNvPr id="4" name="object 4"/>
          <p:cNvSpPr txBox="1"/>
          <p:nvPr/>
        </p:nvSpPr>
        <p:spPr>
          <a:xfrm>
            <a:off x="1016000" y="1852111"/>
            <a:ext cx="15938500" cy="6530975"/>
          </a:xfrm>
          <a:prstGeom prst="rect">
            <a:avLst/>
          </a:prstGeom>
        </p:spPr>
        <p:txBody>
          <a:bodyPr vert="horz" wrap="square" lIns="0" tIns="106045" rIns="0" bIns="0" rtlCol="0">
            <a:spAutoFit/>
          </a:bodyPr>
          <a:lstStyle/>
          <a:p>
            <a:pPr marL="12700">
              <a:lnSpc>
                <a:spcPct val="100000"/>
              </a:lnSpc>
              <a:spcBef>
                <a:spcPts val="835"/>
              </a:spcBef>
            </a:pPr>
            <a:r>
              <a:rPr sz="3700" dirty="0">
                <a:solidFill>
                  <a:srgbClr val="2E377E"/>
                </a:solidFill>
                <a:latin typeface="Georgia"/>
                <a:cs typeface="Georgia"/>
              </a:rPr>
              <a:t>It</a:t>
            </a:r>
            <a:r>
              <a:rPr sz="3700" spc="-30" dirty="0">
                <a:solidFill>
                  <a:srgbClr val="2E377E"/>
                </a:solidFill>
                <a:latin typeface="Georgia"/>
                <a:cs typeface="Georgia"/>
              </a:rPr>
              <a:t> </a:t>
            </a:r>
            <a:r>
              <a:rPr sz="3700" dirty="0">
                <a:solidFill>
                  <a:srgbClr val="2E377E"/>
                </a:solidFill>
                <a:latin typeface="Georgia"/>
                <a:cs typeface="Georgia"/>
              </a:rPr>
              <a:t>is</a:t>
            </a:r>
            <a:r>
              <a:rPr sz="3700" spc="-20" dirty="0">
                <a:solidFill>
                  <a:srgbClr val="2E377E"/>
                </a:solidFill>
                <a:latin typeface="Georgia"/>
                <a:cs typeface="Georgia"/>
              </a:rPr>
              <a:t> </a:t>
            </a:r>
            <a:r>
              <a:rPr sz="3700" dirty="0">
                <a:solidFill>
                  <a:srgbClr val="2E377E"/>
                </a:solidFill>
                <a:latin typeface="Georgia"/>
                <a:cs typeface="Georgia"/>
              </a:rPr>
              <a:t>a</a:t>
            </a:r>
            <a:r>
              <a:rPr sz="3700" spc="-15" dirty="0">
                <a:solidFill>
                  <a:srgbClr val="2E377E"/>
                </a:solidFill>
                <a:latin typeface="Georgia"/>
                <a:cs typeface="Georgia"/>
              </a:rPr>
              <a:t> </a:t>
            </a:r>
            <a:r>
              <a:rPr sz="3700" dirty="0">
                <a:solidFill>
                  <a:srgbClr val="2E377E"/>
                </a:solidFill>
                <a:latin typeface="Georgia"/>
                <a:cs typeface="Georgia"/>
              </a:rPr>
              <a:t>tool</a:t>
            </a:r>
            <a:r>
              <a:rPr sz="3700" spc="-20" dirty="0">
                <a:solidFill>
                  <a:srgbClr val="2E377E"/>
                </a:solidFill>
                <a:latin typeface="Georgia"/>
                <a:cs typeface="Georgia"/>
              </a:rPr>
              <a:t> </a:t>
            </a:r>
            <a:r>
              <a:rPr sz="3700" dirty="0">
                <a:solidFill>
                  <a:srgbClr val="2E377E"/>
                </a:solidFill>
                <a:latin typeface="Georgia"/>
                <a:cs typeface="Georgia"/>
              </a:rPr>
              <a:t>used</a:t>
            </a:r>
            <a:r>
              <a:rPr sz="3700" spc="-20" dirty="0">
                <a:solidFill>
                  <a:srgbClr val="2E377E"/>
                </a:solidFill>
                <a:latin typeface="Georgia"/>
                <a:cs typeface="Georgia"/>
              </a:rPr>
              <a:t> </a:t>
            </a:r>
            <a:r>
              <a:rPr sz="3700" spc="60" dirty="0">
                <a:solidFill>
                  <a:srgbClr val="2E377E"/>
                </a:solidFill>
                <a:latin typeface="Georgia"/>
                <a:cs typeface="Georgia"/>
              </a:rPr>
              <a:t>to</a:t>
            </a:r>
            <a:r>
              <a:rPr sz="3700" spc="-15" dirty="0">
                <a:solidFill>
                  <a:srgbClr val="2E377E"/>
                </a:solidFill>
                <a:latin typeface="Georgia"/>
                <a:cs typeface="Georgia"/>
              </a:rPr>
              <a:t> </a:t>
            </a:r>
            <a:r>
              <a:rPr sz="3700" spc="55" dirty="0">
                <a:solidFill>
                  <a:srgbClr val="2E377E"/>
                </a:solidFill>
                <a:latin typeface="Georgia"/>
                <a:cs typeface="Georgia"/>
              </a:rPr>
              <a:t>setup</a:t>
            </a:r>
            <a:r>
              <a:rPr sz="3700" spc="-20" dirty="0">
                <a:solidFill>
                  <a:srgbClr val="2E377E"/>
                </a:solidFill>
                <a:latin typeface="Georgia"/>
                <a:cs typeface="Georgia"/>
              </a:rPr>
              <a:t> </a:t>
            </a:r>
            <a:r>
              <a:rPr sz="3700" dirty="0">
                <a:solidFill>
                  <a:srgbClr val="2E377E"/>
                </a:solidFill>
                <a:latin typeface="Georgia"/>
                <a:cs typeface="Georgia"/>
              </a:rPr>
              <a:t>single</a:t>
            </a:r>
            <a:r>
              <a:rPr sz="3700" spc="-20" dirty="0">
                <a:solidFill>
                  <a:srgbClr val="2E377E"/>
                </a:solidFill>
                <a:latin typeface="Georgia"/>
                <a:cs typeface="Georgia"/>
              </a:rPr>
              <a:t> </a:t>
            </a:r>
            <a:r>
              <a:rPr sz="3700" dirty="0">
                <a:solidFill>
                  <a:srgbClr val="2E377E"/>
                </a:solidFill>
                <a:latin typeface="Georgia"/>
                <a:cs typeface="Georgia"/>
              </a:rPr>
              <a:t>node</a:t>
            </a:r>
            <a:r>
              <a:rPr sz="3700" spc="-15" dirty="0">
                <a:solidFill>
                  <a:srgbClr val="2E377E"/>
                </a:solidFill>
                <a:latin typeface="Georgia"/>
                <a:cs typeface="Georgia"/>
              </a:rPr>
              <a:t> </a:t>
            </a:r>
            <a:r>
              <a:rPr sz="3700" spc="45" dirty="0">
                <a:solidFill>
                  <a:srgbClr val="2E377E"/>
                </a:solidFill>
                <a:latin typeface="Georgia"/>
                <a:cs typeface="Georgia"/>
              </a:rPr>
              <a:t>cluster</a:t>
            </a:r>
            <a:r>
              <a:rPr sz="3700" spc="-20" dirty="0">
                <a:solidFill>
                  <a:srgbClr val="2E377E"/>
                </a:solidFill>
                <a:latin typeface="Georgia"/>
                <a:cs typeface="Georgia"/>
              </a:rPr>
              <a:t> </a:t>
            </a:r>
            <a:r>
              <a:rPr sz="3700" dirty="0">
                <a:solidFill>
                  <a:srgbClr val="2E377E"/>
                </a:solidFill>
                <a:latin typeface="Georgia"/>
                <a:cs typeface="Georgia"/>
              </a:rPr>
              <a:t>on</a:t>
            </a:r>
            <a:r>
              <a:rPr sz="3700" spc="-15" dirty="0">
                <a:solidFill>
                  <a:srgbClr val="2E377E"/>
                </a:solidFill>
                <a:latin typeface="Georgia"/>
                <a:cs typeface="Georgia"/>
              </a:rPr>
              <a:t> </a:t>
            </a:r>
            <a:r>
              <a:rPr sz="3700" spc="-10" dirty="0">
                <a:solidFill>
                  <a:srgbClr val="2E377E"/>
                </a:solidFill>
                <a:latin typeface="Georgia"/>
                <a:cs typeface="Georgia"/>
              </a:rPr>
              <a:t>K8's.</a:t>
            </a:r>
            <a:endParaRPr sz="3700">
              <a:latin typeface="Georgia"/>
              <a:cs typeface="Georgia"/>
            </a:endParaRPr>
          </a:p>
          <a:p>
            <a:pPr marL="12700" marR="2834640">
              <a:lnSpc>
                <a:spcPts val="5180"/>
              </a:lnSpc>
              <a:spcBef>
                <a:spcPts val="290"/>
              </a:spcBef>
            </a:pPr>
            <a:r>
              <a:rPr sz="3700" dirty="0">
                <a:solidFill>
                  <a:srgbClr val="2E377E"/>
                </a:solidFill>
                <a:latin typeface="Georgia"/>
                <a:cs typeface="Georgia"/>
              </a:rPr>
              <a:t>It</a:t>
            </a:r>
            <a:r>
              <a:rPr sz="3700" spc="15" dirty="0">
                <a:solidFill>
                  <a:srgbClr val="2E377E"/>
                </a:solidFill>
                <a:latin typeface="Georgia"/>
                <a:cs typeface="Georgia"/>
              </a:rPr>
              <a:t> </a:t>
            </a:r>
            <a:r>
              <a:rPr sz="3700" dirty="0">
                <a:solidFill>
                  <a:srgbClr val="2E377E"/>
                </a:solidFill>
                <a:latin typeface="Georgia"/>
                <a:cs typeface="Georgia"/>
              </a:rPr>
              <a:t>contains</a:t>
            </a:r>
            <a:r>
              <a:rPr sz="3700" spc="15" dirty="0">
                <a:solidFill>
                  <a:srgbClr val="2E377E"/>
                </a:solidFill>
                <a:latin typeface="Georgia"/>
                <a:cs typeface="Georgia"/>
              </a:rPr>
              <a:t> </a:t>
            </a:r>
            <a:r>
              <a:rPr sz="3700" spc="-45" dirty="0">
                <a:solidFill>
                  <a:srgbClr val="2E377E"/>
                </a:solidFill>
                <a:latin typeface="Georgia"/>
                <a:cs typeface="Georgia"/>
              </a:rPr>
              <a:t>API</a:t>
            </a:r>
            <a:r>
              <a:rPr sz="3700" spc="20" dirty="0">
                <a:solidFill>
                  <a:srgbClr val="2E377E"/>
                </a:solidFill>
                <a:latin typeface="Georgia"/>
                <a:cs typeface="Georgia"/>
              </a:rPr>
              <a:t> </a:t>
            </a:r>
            <a:r>
              <a:rPr sz="3700" dirty="0">
                <a:solidFill>
                  <a:srgbClr val="2E377E"/>
                </a:solidFill>
                <a:latin typeface="Georgia"/>
                <a:cs typeface="Georgia"/>
              </a:rPr>
              <a:t>Servers,</a:t>
            </a:r>
            <a:r>
              <a:rPr sz="3700" spc="15" dirty="0">
                <a:solidFill>
                  <a:srgbClr val="2E377E"/>
                </a:solidFill>
                <a:latin typeface="Georgia"/>
                <a:cs typeface="Georgia"/>
              </a:rPr>
              <a:t> </a:t>
            </a:r>
            <a:r>
              <a:rPr sz="3700" spc="-95" dirty="0">
                <a:solidFill>
                  <a:srgbClr val="2E377E"/>
                </a:solidFill>
                <a:latin typeface="Georgia"/>
                <a:cs typeface="Georgia"/>
              </a:rPr>
              <a:t>ETDC</a:t>
            </a:r>
            <a:r>
              <a:rPr sz="3700" spc="15" dirty="0">
                <a:solidFill>
                  <a:srgbClr val="2E377E"/>
                </a:solidFill>
                <a:latin typeface="Georgia"/>
                <a:cs typeface="Georgia"/>
              </a:rPr>
              <a:t> </a:t>
            </a:r>
            <a:r>
              <a:rPr sz="3700" dirty="0">
                <a:solidFill>
                  <a:srgbClr val="2E377E"/>
                </a:solidFill>
                <a:latin typeface="Georgia"/>
                <a:cs typeface="Georgia"/>
              </a:rPr>
              <a:t>database</a:t>
            </a:r>
            <a:r>
              <a:rPr sz="3700" spc="20" dirty="0">
                <a:solidFill>
                  <a:srgbClr val="2E377E"/>
                </a:solidFill>
                <a:latin typeface="Georgia"/>
                <a:cs typeface="Georgia"/>
              </a:rPr>
              <a:t> </a:t>
            </a:r>
            <a:r>
              <a:rPr sz="3700" dirty="0">
                <a:solidFill>
                  <a:srgbClr val="2E377E"/>
                </a:solidFill>
                <a:latin typeface="Georgia"/>
                <a:cs typeface="Georgia"/>
              </a:rPr>
              <a:t>and</a:t>
            </a:r>
            <a:r>
              <a:rPr sz="3700" spc="15" dirty="0">
                <a:solidFill>
                  <a:srgbClr val="2E377E"/>
                </a:solidFill>
                <a:latin typeface="Georgia"/>
                <a:cs typeface="Georgia"/>
              </a:rPr>
              <a:t> </a:t>
            </a:r>
            <a:r>
              <a:rPr sz="3700" dirty="0">
                <a:solidFill>
                  <a:srgbClr val="2E377E"/>
                </a:solidFill>
                <a:latin typeface="Georgia"/>
                <a:cs typeface="Georgia"/>
              </a:rPr>
              <a:t>container</a:t>
            </a:r>
            <a:r>
              <a:rPr sz="3700" spc="15" dirty="0">
                <a:solidFill>
                  <a:srgbClr val="2E377E"/>
                </a:solidFill>
                <a:latin typeface="Georgia"/>
                <a:cs typeface="Georgia"/>
              </a:rPr>
              <a:t> </a:t>
            </a:r>
            <a:r>
              <a:rPr sz="3700" spc="-10" dirty="0">
                <a:solidFill>
                  <a:srgbClr val="2E377E"/>
                </a:solidFill>
                <a:latin typeface="Georgia"/>
                <a:cs typeface="Georgia"/>
              </a:rPr>
              <a:t>runtime </a:t>
            </a:r>
            <a:r>
              <a:rPr sz="3700" dirty="0">
                <a:solidFill>
                  <a:srgbClr val="2E377E"/>
                </a:solidFill>
                <a:latin typeface="Georgia"/>
                <a:cs typeface="Georgia"/>
              </a:rPr>
              <a:t>It</a:t>
            </a:r>
            <a:r>
              <a:rPr sz="3700" spc="65" dirty="0">
                <a:solidFill>
                  <a:srgbClr val="2E377E"/>
                </a:solidFill>
                <a:latin typeface="Georgia"/>
                <a:cs typeface="Georgia"/>
              </a:rPr>
              <a:t> </a:t>
            </a:r>
            <a:r>
              <a:rPr sz="3700" dirty="0">
                <a:solidFill>
                  <a:srgbClr val="2E377E"/>
                </a:solidFill>
                <a:latin typeface="Georgia"/>
                <a:cs typeface="Georgia"/>
              </a:rPr>
              <a:t>helps</a:t>
            </a:r>
            <a:r>
              <a:rPr sz="3700" spc="70" dirty="0">
                <a:solidFill>
                  <a:srgbClr val="2E377E"/>
                </a:solidFill>
                <a:latin typeface="Georgia"/>
                <a:cs typeface="Georgia"/>
              </a:rPr>
              <a:t> </a:t>
            </a:r>
            <a:r>
              <a:rPr sz="3700" spc="90" dirty="0">
                <a:solidFill>
                  <a:srgbClr val="2E377E"/>
                </a:solidFill>
                <a:latin typeface="Georgia"/>
                <a:cs typeface="Georgia"/>
              </a:rPr>
              <a:t>you</a:t>
            </a:r>
            <a:r>
              <a:rPr sz="3700" spc="65" dirty="0">
                <a:solidFill>
                  <a:srgbClr val="2E377E"/>
                </a:solidFill>
                <a:latin typeface="Georgia"/>
                <a:cs typeface="Georgia"/>
              </a:rPr>
              <a:t> </a:t>
            </a:r>
            <a:r>
              <a:rPr sz="3700" spc="60" dirty="0">
                <a:solidFill>
                  <a:srgbClr val="2E377E"/>
                </a:solidFill>
                <a:latin typeface="Georgia"/>
                <a:cs typeface="Georgia"/>
              </a:rPr>
              <a:t>to</a:t>
            </a:r>
            <a:r>
              <a:rPr sz="3700" spc="70" dirty="0">
                <a:solidFill>
                  <a:srgbClr val="2E377E"/>
                </a:solidFill>
                <a:latin typeface="Georgia"/>
                <a:cs typeface="Georgia"/>
              </a:rPr>
              <a:t> </a:t>
            </a:r>
            <a:r>
              <a:rPr sz="3700" dirty="0">
                <a:solidFill>
                  <a:srgbClr val="2E377E"/>
                </a:solidFill>
                <a:latin typeface="Georgia"/>
                <a:cs typeface="Georgia"/>
              </a:rPr>
              <a:t>containerized</a:t>
            </a:r>
            <a:r>
              <a:rPr sz="3700" spc="65" dirty="0">
                <a:solidFill>
                  <a:srgbClr val="2E377E"/>
                </a:solidFill>
                <a:latin typeface="Georgia"/>
                <a:cs typeface="Georgia"/>
              </a:rPr>
              <a:t> </a:t>
            </a:r>
            <a:r>
              <a:rPr sz="3700" spc="-10" dirty="0">
                <a:solidFill>
                  <a:srgbClr val="2E377E"/>
                </a:solidFill>
                <a:latin typeface="Georgia"/>
                <a:cs typeface="Georgia"/>
              </a:rPr>
              <a:t>applications.</a:t>
            </a:r>
            <a:endParaRPr sz="3700">
              <a:latin typeface="Georgia"/>
              <a:cs typeface="Georgia"/>
            </a:endParaRPr>
          </a:p>
          <a:p>
            <a:pPr marL="12700">
              <a:lnSpc>
                <a:spcPct val="100000"/>
              </a:lnSpc>
              <a:spcBef>
                <a:spcPts val="434"/>
              </a:spcBef>
            </a:pPr>
            <a:r>
              <a:rPr sz="3700" dirty="0">
                <a:solidFill>
                  <a:srgbClr val="2E377E"/>
                </a:solidFill>
                <a:latin typeface="Georgia"/>
                <a:cs typeface="Georgia"/>
              </a:rPr>
              <a:t>It</a:t>
            </a:r>
            <a:r>
              <a:rPr sz="3700" spc="250" dirty="0">
                <a:solidFill>
                  <a:srgbClr val="2E377E"/>
                </a:solidFill>
                <a:latin typeface="Georgia"/>
                <a:cs typeface="Georgia"/>
              </a:rPr>
              <a:t> </a:t>
            </a:r>
            <a:r>
              <a:rPr sz="3700" dirty="0">
                <a:solidFill>
                  <a:srgbClr val="2E377E"/>
                </a:solidFill>
                <a:latin typeface="Georgia"/>
                <a:cs typeface="Georgia"/>
              </a:rPr>
              <a:t>is</a:t>
            </a:r>
            <a:r>
              <a:rPr sz="3700" spc="254" dirty="0">
                <a:solidFill>
                  <a:srgbClr val="2E377E"/>
                </a:solidFill>
                <a:latin typeface="Georgia"/>
                <a:cs typeface="Georgia"/>
              </a:rPr>
              <a:t> </a:t>
            </a:r>
            <a:r>
              <a:rPr sz="3700" dirty="0">
                <a:solidFill>
                  <a:srgbClr val="2E377E"/>
                </a:solidFill>
                <a:latin typeface="Georgia"/>
                <a:cs typeface="Georgia"/>
              </a:rPr>
              <a:t>used</a:t>
            </a:r>
            <a:r>
              <a:rPr sz="3700" spc="254" dirty="0">
                <a:solidFill>
                  <a:srgbClr val="2E377E"/>
                </a:solidFill>
                <a:latin typeface="Georgia"/>
                <a:cs typeface="Georgia"/>
              </a:rPr>
              <a:t> </a:t>
            </a:r>
            <a:r>
              <a:rPr sz="3700" dirty="0">
                <a:solidFill>
                  <a:srgbClr val="2E377E"/>
                </a:solidFill>
                <a:latin typeface="Georgia"/>
                <a:cs typeface="Georgia"/>
              </a:rPr>
              <a:t>for</a:t>
            </a:r>
            <a:r>
              <a:rPr sz="3700" spc="254" dirty="0">
                <a:solidFill>
                  <a:srgbClr val="2E377E"/>
                </a:solidFill>
                <a:latin typeface="Georgia"/>
                <a:cs typeface="Georgia"/>
              </a:rPr>
              <a:t> </a:t>
            </a:r>
            <a:r>
              <a:rPr sz="3700" dirty="0">
                <a:solidFill>
                  <a:srgbClr val="2E377E"/>
                </a:solidFill>
                <a:latin typeface="Georgia"/>
                <a:cs typeface="Georgia"/>
              </a:rPr>
              <a:t>development,</a:t>
            </a:r>
            <a:r>
              <a:rPr sz="3700" spc="254" dirty="0">
                <a:solidFill>
                  <a:srgbClr val="2E377E"/>
                </a:solidFill>
                <a:latin typeface="Georgia"/>
                <a:cs typeface="Georgia"/>
              </a:rPr>
              <a:t> </a:t>
            </a:r>
            <a:r>
              <a:rPr sz="3700" dirty="0">
                <a:solidFill>
                  <a:srgbClr val="2E377E"/>
                </a:solidFill>
                <a:latin typeface="Georgia"/>
                <a:cs typeface="Georgia"/>
              </a:rPr>
              <a:t>testing,</a:t>
            </a:r>
            <a:r>
              <a:rPr sz="3700" spc="254" dirty="0">
                <a:solidFill>
                  <a:srgbClr val="2E377E"/>
                </a:solidFill>
                <a:latin typeface="Georgia"/>
                <a:cs typeface="Georgia"/>
              </a:rPr>
              <a:t> </a:t>
            </a:r>
            <a:r>
              <a:rPr sz="3700" dirty="0">
                <a:solidFill>
                  <a:srgbClr val="2E377E"/>
                </a:solidFill>
                <a:latin typeface="Georgia"/>
                <a:cs typeface="Georgia"/>
              </a:rPr>
              <a:t>and</a:t>
            </a:r>
            <a:r>
              <a:rPr sz="3700" spc="254" dirty="0">
                <a:solidFill>
                  <a:srgbClr val="2E377E"/>
                </a:solidFill>
                <a:latin typeface="Georgia"/>
                <a:cs typeface="Georgia"/>
              </a:rPr>
              <a:t> </a:t>
            </a:r>
            <a:r>
              <a:rPr sz="3700" dirty="0">
                <a:solidFill>
                  <a:srgbClr val="2E377E"/>
                </a:solidFill>
                <a:latin typeface="Georgia"/>
                <a:cs typeface="Georgia"/>
              </a:rPr>
              <a:t>experimentation</a:t>
            </a:r>
            <a:r>
              <a:rPr sz="3700" spc="254" dirty="0">
                <a:solidFill>
                  <a:srgbClr val="2E377E"/>
                </a:solidFill>
                <a:latin typeface="Georgia"/>
                <a:cs typeface="Georgia"/>
              </a:rPr>
              <a:t> </a:t>
            </a:r>
            <a:r>
              <a:rPr sz="3700" dirty="0">
                <a:solidFill>
                  <a:srgbClr val="2E377E"/>
                </a:solidFill>
                <a:latin typeface="Georgia"/>
                <a:cs typeface="Georgia"/>
              </a:rPr>
              <a:t>purposes</a:t>
            </a:r>
            <a:r>
              <a:rPr sz="3700" spc="254" dirty="0">
                <a:solidFill>
                  <a:srgbClr val="2E377E"/>
                </a:solidFill>
                <a:latin typeface="Georgia"/>
                <a:cs typeface="Georgia"/>
              </a:rPr>
              <a:t> </a:t>
            </a:r>
            <a:r>
              <a:rPr sz="3700" dirty="0">
                <a:solidFill>
                  <a:srgbClr val="2E377E"/>
                </a:solidFill>
                <a:latin typeface="Georgia"/>
                <a:cs typeface="Georgia"/>
              </a:rPr>
              <a:t>on</a:t>
            </a:r>
            <a:r>
              <a:rPr sz="3700" spc="254" dirty="0">
                <a:solidFill>
                  <a:srgbClr val="2E377E"/>
                </a:solidFill>
                <a:latin typeface="Georgia"/>
                <a:cs typeface="Georgia"/>
              </a:rPr>
              <a:t> </a:t>
            </a:r>
            <a:r>
              <a:rPr sz="3700" spc="-10" dirty="0">
                <a:solidFill>
                  <a:srgbClr val="2E377E"/>
                </a:solidFill>
                <a:latin typeface="Georgia"/>
                <a:cs typeface="Georgia"/>
              </a:rPr>
              <a:t>local.</a:t>
            </a:r>
            <a:endParaRPr sz="3700">
              <a:latin typeface="Georgia"/>
              <a:cs typeface="Georgia"/>
            </a:endParaRPr>
          </a:p>
          <a:p>
            <a:pPr marL="12700" marR="5927725">
              <a:lnSpc>
                <a:spcPts val="5180"/>
              </a:lnSpc>
              <a:spcBef>
                <a:spcPts val="290"/>
              </a:spcBef>
            </a:pPr>
            <a:r>
              <a:rPr sz="3700" dirty="0">
                <a:solidFill>
                  <a:srgbClr val="2E377E"/>
                </a:solidFill>
                <a:latin typeface="Georgia"/>
                <a:cs typeface="Georgia"/>
              </a:rPr>
              <a:t>Here</a:t>
            </a:r>
            <a:r>
              <a:rPr sz="3700" spc="-25" dirty="0">
                <a:solidFill>
                  <a:srgbClr val="2E377E"/>
                </a:solidFill>
                <a:latin typeface="Georgia"/>
                <a:cs typeface="Georgia"/>
              </a:rPr>
              <a:t> </a:t>
            </a:r>
            <a:r>
              <a:rPr sz="3700" dirty="0">
                <a:solidFill>
                  <a:srgbClr val="2E377E"/>
                </a:solidFill>
                <a:latin typeface="Georgia"/>
                <a:cs typeface="Georgia"/>
              </a:rPr>
              <a:t>Master</a:t>
            </a:r>
            <a:r>
              <a:rPr sz="3700" spc="-25" dirty="0">
                <a:solidFill>
                  <a:srgbClr val="2E377E"/>
                </a:solidFill>
                <a:latin typeface="Georgia"/>
                <a:cs typeface="Georgia"/>
              </a:rPr>
              <a:t> </a:t>
            </a:r>
            <a:r>
              <a:rPr sz="3700" dirty="0">
                <a:solidFill>
                  <a:srgbClr val="2E377E"/>
                </a:solidFill>
                <a:latin typeface="Georgia"/>
                <a:cs typeface="Georgia"/>
              </a:rPr>
              <a:t>and</a:t>
            </a:r>
            <a:r>
              <a:rPr sz="3700" spc="-25" dirty="0">
                <a:solidFill>
                  <a:srgbClr val="2E377E"/>
                </a:solidFill>
                <a:latin typeface="Georgia"/>
                <a:cs typeface="Georgia"/>
              </a:rPr>
              <a:t> </a:t>
            </a:r>
            <a:r>
              <a:rPr sz="3700" spc="75" dirty="0">
                <a:solidFill>
                  <a:srgbClr val="2E377E"/>
                </a:solidFill>
                <a:latin typeface="Georgia"/>
                <a:cs typeface="Georgia"/>
              </a:rPr>
              <a:t>worker</a:t>
            </a:r>
            <a:r>
              <a:rPr sz="3700" spc="-25" dirty="0">
                <a:solidFill>
                  <a:srgbClr val="2E377E"/>
                </a:solidFill>
                <a:latin typeface="Georgia"/>
                <a:cs typeface="Georgia"/>
              </a:rPr>
              <a:t> </a:t>
            </a:r>
            <a:r>
              <a:rPr sz="3700" dirty="0">
                <a:solidFill>
                  <a:srgbClr val="2E377E"/>
                </a:solidFill>
                <a:latin typeface="Georgia"/>
                <a:cs typeface="Georgia"/>
              </a:rPr>
              <a:t>runs</a:t>
            </a:r>
            <a:r>
              <a:rPr sz="3700" spc="-25" dirty="0">
                <a:solidFill>
                  <a:srgbClr val="2E377E"/>
                </a:solidFill>
                <a:latin typeface="Georgia"/>
                <a:cs typeface="Georgia"/>
              </a:rPr>
              <a:t> </a:t>
            </a:r>
            <a:r>
              <a:rPr sz="3700" dirty="0">
                <a:solidFill>
                  <a:srgbClr val="2E377E"/>
                </a:solidFill>
                <a:latin typeface="Georgia"/>
                <a:cs typeface="Georgia"/>
              </a:rPr>
              <a:t>on</a:t>
            </a:r>
            <a:r>
              <a:rPr sz="3700" spc="-20" dirty="0">
                <a:solidFill>
                  <a:srgbClr val="2E377E"/>
                </a:solidFill>
                <a:latin typeface="Georgia"/>
                <a:cs typeface="Georgia"/>
              </a:rPr>
              <a:t> </a:t>
            </a:r>
            <a:r>
              <a:rPr sz="3700" dirty="0">
                <a:solidFill>
                  <a:srgbClr val="2E377E"/>
                </a:solidFill>
                <a:latin typeface="Georgia"/>
                <a:cs typeface="Georgia"/>
              </a:rPr>
              <a:t>same</a:t>
            </a:r>
            <a:r>
              <a:rPr sz="3700" spc="-25" dirty="0">
                <a:solidFill>
                  <a:srgbClr val="2E377E"/>
                </a:solidFill>
                <a:latin typeface="Georgia"/>
                <a:cs typeface="Georgia"/>
              </a:rPr>
              <a:t> </a:t>
            </a:r>
            <a:r>
              <a:rPr sz="3700" spc="-10" dirty="0">
                <a:solidFill>
                  <a:srgbClr val="2E377E"/>
                </a:solidFill>
                <a:latin typeface="Georgia"/>
                <a:cs typeface="Georgia"/>
              </a:rPr>
              <a:t>machine </a:t>
            </a:r>
            <a:r>
              <a:rPr sz="3700" dirty="0">
                <a:solidFill>
                  <a:srgbClr val="2E377E"/>
                </a:solidFill>
                <a:latin typeface="Georgia"/>
                <a:cs typeface="Georgia"/>
              </a:rPr>
              <a:t>It is a platform </a:t>
            </a:r>
            <a:r>
              <a:rPr sz="3700" spc="-10" dirty="0">
                <a:solidFill>
                  <a:srgbClr val="2E377E"/>
                </a:solidFill>
                <a:latin typeface="Georgia"/>
                <a:cs typeface="Georgia"/>
              </a:rPr>
              <a:t>Independent.</a:t>
            </a:r>
            <a:endParaRPr sz="3700">
              <a:latin typeface="Georgia"/>
              <a:cs typeface="Georgia"/>
            </a:endParaRPr>
          </a:p>
          <a:p>
            <a:pPr marL="12700">
              <a:lnSpc>
                <a:spcPct val="100000"/>
              </a:lnSpc>
              <a:spcBef>
                <a:spcPts val="434"/>
              </a:spcBef>
            </a:pPr>
            <a:r>
              <a:rPr sz="3700" dirty="0">
                <a:solidFill>
                  <a:srgbClr val="2E377E"/>
                </a:solidFill>
                <a:latin typeface="Georgia"/>
                <a:cs typeface="Georgia"/>
              </a:rPr>
              <a:t>By</a:t>
            </a:r>
            <a:r>
              <a:rPr sz="3700" spc="65" dirty="0">
                <a:solidFill>
                  <a:srgbClr val="2E377E"/>
                </a:solidFill>
                <a:latin typeface="Georgia"/>
                <a:cs typeface="Georgia"/>
              </a:rPr>
              <a:t> </a:t>
            </a:r>
            <a:r>
              <a:rPr sz="3700" dirty="0">
                <a:solidFill>
                  <a:srgbClr val="2E377E"/>
                </a:solidFill>
                <a:latin typeface="Georgia"/>
                <a:cs typeface="Georgia"/>
              </a:rPr>
              <a:t>default</a:t>
            </a:r>
            <a:r>
              <a:rPr sz="3700" spc="65" dirty="0">
                <a:solidFill>
                  <a:srgbClr val="2E377E"/>
                </a:solidFill>
                <a:latin typeface="Georgia"/>
                <a:cs typeface="Georgia"/>
              </a:rPr>
              <a:t> </a:t>
            </a:r>
            <a:r>
              <a:rPr sz="3700" spc="55" dirty="0">
                <a:solidFill>
                  <a:srgbClr val="2E377E"/>
                </a:solidFill>
                <a:latin typeface="Georgia"/>
                <a:cs typeface="Georgia"/>
              </a:rPr>
              <a:t>it</a:t>
            </a:r>
            <a:r>
              <a:rPr sz="3700" spc="65" dirty="0">
                <a:solidFill>
                  <a:srgbClr val="2E377E"/>
                </a:solidFill>
                <a:latin typeface="Georgia"/>
                <a:cs typeface="Georgia"/>
              </a:rPr>
              <a:t> </a:t>
            </a:r>
            <a:r>
              <a:rPr sz="3700" dirty="0">
                <a:solidFill>
                  <a:srgbClr val="2E377E"/>
                </a:solidFill>
                <a:latin typeface="Georgia"/>
                <a:cs typeface="Georgia"/>
              </a:rPr>
              <a:t>will</a:t>
            </a:r>
            <a:r>
              <a:rPr sz="3700" spc="65" dirty="0">
                <a:solidFill>
                  <a:srgbClr val="2E377E"/>
                </a:solidFill>
                <a:latin typeface="Georgia"/>
                <a:cs typeface="Georgia"/>
              </a:rPr>
              <a:t> </a:t>
            </a:r>
            <a:r>
              <a:rPr sz="3700" dirty="0">
                <a:solidFill>
                  <a:srgbClr val="2E377E"/>
                </a:solidFill>
                <a:latin typeface="Georgia"/>
                <a:cs typeface="Georgia"/>
              </a:rPr>
              <a:t>create</a:t>
            </a:r>
            <a:r>
              <a:rPr sz="3700" spc="65" dirty="0">
                <a:solidFill>
                  <a:srgbClr val="2E377E"/>
                </a:solidFill>
                <a:latin typeface="Georgia"/>
                <a:cs typeface="Georgia"/>
              </a:rPr>
              <a:t> </a:t>
            </a:r>
            <a:r>
              <a:rPr sz="3700" dirty="0">
                <a:solidFill>
                  <a:srgbClr val="2E377E"/>
                </a:solidFill>
                <a:latin typeface="Georgia"/>
                <a:cs typeface="Georgia"/>
              </a:rPr>
              <a:t>one</a:t>
            </a:r>
            <a:r>
              <a:rPr sz="3700" spc="65" dirty="0">
                <a:solidFill>
                  <a:srgbClr val="2E377E"/>
                </a:solidFill>
                <a:latin typeface="Georgia"/>
                <a:cs typeface="Georgia"/>
              </a:rPr>
              <a:t> </a:t>
            </a:r>
            <a:r>
              <a:rPr sz="3700" dirty="0">
                <a:solidFill>
                  <a:srgbClr val="2E377E"/>
                </a:solidFill>
                <a:latin typeface="Georgia"/>
                <a:cs typeface="Georgia"/>
              </a:rPr>
              <a:t>node</a:t>
            </a:r>
            <a:r>
              <a:rPr sz="3700" spc="65" dirty="0">
                <a:solidFill>
                  <a:srgbClr val="2E377E"/>
                </a:solidFill>
                <a:latin typeface="Georgia"/>
                <a:cs typeface="Georgia"/>
              </a:rPr>
              <a:t> </a:t>
            </a:r>
            <a:r>
              <a:rPr sz="3700" spc="-10" dirty="0">
                <a:solidFill>
                  <a:srgbClr val="2E377E"/>
                </a:solidFill>
                <a:latin typeface="Georgia"/>
                <a:cs typeface="Georgia"/>
              </a:rPr>
              <a:t>only.</a:t>
            </a:r>
            <a:endParaRPr sz="3700">
              <a:latin typeface="Georgia"/>
              <a:cs typeface="Georgia"/>
            </a:endParaRPr>
          </a:p>
          <a:p>
            <a:pPr marL="12700">
              <a:lnSpc>
                <a:spcPct val="100000"/>
              </a:lnSpc>
              <a:spcBef>
                <a:spcPts val="735"/>
              </a:spcBef>
            </a:pPr>
            <a:r>
              <a:rPr sz="3700" dirty="0">
                <a:solidFill>
                  <a:srgbClr val="2E377E"/>
                </a:solidFill>
                <a:latin typeface="Georgia"/>
                <a:cs typeface="Georgia"/>
              </a:rPr>
              <a:t>Installing</a:t>
            </a:r>
            <a:r>
              <a:rPr sz="3700" spc="35" dirty="0">
                <a:solidFill>
                  <a:srgbClr val="2E377E"/>
                </a:solidFill>
                <a:latin typeface="Georgia"/>
                <a:cs typeface="Georgia"/>
              </a:rPr>
              <a:t> </a:t>
            </a:r>
            <a:r>
              <a:rPr sz="3700" dirty="0">
                <a:solidFill>
                  <a:srgbClr val="2E377E"/>
                </a:solidFill>
                <a:latin typeface="Georgia"/>
                <a:cs typeface="Georgia"/>
              </a:rPr>
              <a:t>Minikube</a:t>
            </a:r>
            <a:r>
              <a:rPr sz="3700" spc="40" dirty="0">
                <a:solidFill>
                  <a:srgbClr val="2E377E"/>
                </a:solidFill>
                <a:latin typeface="Georgia"/>
                <a:cs typeface="Georgia"/>
              </a:rPr>
              <a:t> </a:t>
            </a:r>
            <a:r>
              <a:rPr sz="3700" dirty="0">
                <a:solidFill>
                  <a:srgbClr val="2E377E"/>
                </a:solidFill>
                <a:latin typeface="Georgia"/>
                <a:cs typeface="Georgia"/>
              </a:rPr>
              <a:t>is</a:t>
            </a:r>
            <a:r>
              <a:rPr sz="3700" spc="35" dirty="0">
                <a:solidFill>
                  <a:srgbClr val="2E377E"/>
                </a:solidFill>
                <a:latin typeface="Georgia"/>
                <a:cs typeface="Georgia"/>
              </a:rPr>
              <a:t> </a:t>
            </a:r>
            <a:r>
              <a:rPr sz="3700" dirty="0">
                <a:solidFill>
                  <a:srgbClr val="2E377E"/>
                </a:solidFill>
                <a:latin typeface="Georgia"/>
                <a:cs typeface="Georgia"/>
              </a:rPr>
              <a:t>simple</a:t>
            </a:r>
            <a:r>
              <a:rPr sz="3700" spc="40" dirty="0">
                <a:solidFill>
                  <a:srgbClr val="2E377E"/>
                </a:solidFill>
                <a:latin typeface="Georgia"/>
                <a:cs typeface="Georgia"/>
              </a:rPr>
              <a:t> </a:t>
            </a:r>
            <a:r>
              <a:rPr sz="3700" dirty="0">
                <a:solidFill>
                  <a:srgbClr val="2E377E"/>
                </a:solidFill>
                <a:latin typeface="Georgia"/>
                <a:cs typeface="Georgia"/>
              </a:rPr>
              <a:t>compared</a:t>
            </a:r>
            <a:r>
              <a:rPr sz="3700" spc="35" dirty="0">
                <a:solidFill>
                  <a:srgbClr val="2E377E"/>
                </a:solidFill>
                <a:latin typeface="Georgia"/>
                <a:cs typeface="Georgia"/>
              </a:rPr>
              <a:t> </a:t>
            </a:r>
            <a:r>
              <a:rPr sz="3700" spc="60" dirty="0">
                <a:solidFill>
                  <a:srgbClr val="2E377E"/>
                </a:solidFill>
                <a:latin typeface="Georgia"/>
                <a:cs typeface="Georgia"/>
              </a:rPr>
              <a:t>to</a:t>
            </a:r>
            <a:r>
              <a:rPr sz="3700" spc="40" dirty="0">
                <a:solidFill>
                  <a:srgbClr val="2E377E"/>
                </a:solidFill>
                <a:latin typeface="Georgia"/>
                <a:cs typeface="Georgia"/>
              </a:rPr>
              <a:t> </a:t>
            </a:r>
            <a:r>
              <a:rPr sz="3700" dirty="0">
                <a:solidFill>
                  <a:srgbClr val="2E377E"/>
                </a:solidFill>
                <a:latin typeface="Georgia"/>
                <a:cs typeface="Georgia"/>
              </a:rPr>
              <a:t>other</a:t>
            </a:r>
            <a:r>
              <a:rPr sz="3700" spc="35" dirty="0">
                <a:solidFill>
                  <a:srgbClr val="2E377E"/>
                </a:solidFill>
                <a:latin typeface="Georgia"/>
                <a:cs typeface="Georgia"/>
              </a:rPr>
              <a:t> </a:t>
            </a:r>
            <a:r>
              <a:rPr sz="3700" spc="-10" dirty="0">
                <a:solidFill>
                  <a:srgbClr val="2E377E"/>
                </a:solidFill>
                <a:latin typeface="Georgia"/>
                <a:cs typeface="Georgia"/>
              </a:rPr>
              <a:t>tools.</a:t>
            </a:r>
            <a:endParaRPr sz="3700">
              <a:latin typeface="Georgia"/>
              <a:cs typeface="Georgia"/>
            </a:endParaRPr>
          </a:p>
          <a:p>
            <a:pPr>
              <a:lnSpc>
                <a:spcPct val="100000"/>
              </a:lnSpc>
              <a:spcBef>
                <a:spcPts val="1180"/>
              </a:spcBef>
            </a:pPr>
            <a:endParaRPr sz="3700">
              <a:latin typeface="Georgia"/>
              <a:cs typeface="Georgia"/>
            </a:endParaRPr>
          </a:p>
          <a:p>
            <a:pPr marL="12700">
              <a:lnSpc>
                <a:spcPct val="100000"/>
              </a:lnSpc>
            </a:pPr>
            <a:r>
              <a:rPr sz="3700" spc="-145" dirty="0">
                <a:solidFill>
                  <a:srgbClr val="FF3131"/>
                </a:solidFill>
                <a:latin typeface="Georgia"/>
                <a:cs typeface="Georgia"/>
              </a:rPr>
              <a:t>NOTE:</a:t>
            </a:r>
            <a:r>
              <a:rPr sz="3700" spc="30" dirty="0">
                <a:solidFill>
                  <a:srgbClr val="FF3131"/>
                </a:solidFill>
                <a:latin typeface="Georgia"/>
                <a:cs typeface="Georgia"/>
              </a:rPr>
              <a:t> </a:t>
            </a:r>
            <a:r>
              <a:rPr sz="3700" dirty="0">
                <a:solidFill>
                  <a:srgbClr val="FF3131"/>
                </a:solidFill>
                <a:latin typeface="Georgia"/>
                <a:cs typeface="Georgia"/>
              </a:rPr>
              <a:t>But</a:t>
            </a:r>
            <a:r>
              <a:rPr sz="3700" spc="35" dirty="0">
                <a:solidFill>
                  <a:srgbClr val="FF3131"/>
                </a:solidFill>
                <a:latin typeface="Georgia"/>
                <a:cs typeface="Georgia"/>
              </a:rPr>
              <a:t> </a:t>
            </a:r>
            <a:r>
              <a:rPr sz="3700" spc="130" dirty="0">
                <a:solidFill>
                  <a:srgbClr val="FF3131"/>
                </a:solidFill>
                <a:latin typeface="Georgia"/>
                <a:cs typeface="Georgia"/>
              </a:rPr>
              <a:t>we</a:t>
            </a:r>
            <a:r>
              <a:rPr sz="3700" spc="35" dirty="0">
                <a:solidFill>
                  <a:srgbClr val="FF3131"/>
                </a:solidFill>
                <a:latin typeface="Georgia"/>
                <a:cs typeface="Georgia"/>
              </a:rPr>
              <a:t> </a:t>
            </a:r>
            <a:r>
              <a:rPr sz="3700" dirty="0">
                <a:solidFill>
                  <a:srgbClr val="FF3131"/>
                </a:solidFill>
                <a:latin typeface="Georgia"/>
                <a:cs typeface="Georgia"/>
              </a:rPr>
              <a:t>dont</a:t>
            </a:r>
            <a:r>
              <a:rPr sz="3700" spc="35" dirty="0">
                <a:solidFill>
                  <a:srgbClr val="FF3131"/>
                </a:solidFill>
                <a:latin typeface="Georgia"/>
                <a:cs typeface="Georgia"/>
              </a:rPr>
              <a:t> </a:t>
            </a:r>
            <a:r>
              <a:rPr sz="3700" dirty="0">
                <a:solidFill>
                  <a:srgbClr val="FF3131"/>
                </a:solidFill>
                <a:latin typeface="Georgia"/>
                <a:cs typeface="Georgia"/>
              </a:rPr>
              <a:t>implement</a:t>
            </a:r>
            <a:r>
              <a:rPr sz="3700" spc="35" dirty="0">
                <a:solidFill>
                  <a:srgbClr val="FF3131"/>
                </a:solidFill>
                <a:latin typeface="Georgia"/>
                <a:cs typeface="Georgia"/>
              </a:rPr>
              <a:t> </a:t>
            </a:r>
            <a:r>
              <a:rPr sz="3700" dirty="0">
                <a:solidFill>
                  <a:srgbClr val="FF3131"/>
                </a:solidFill>
                <a:latin typeface="Georgia"/>
                <a:cs typeface="Georgia"/>
              </a:rPr>
              <a:t>this</a:t>
            </a:r>
            <a:r>
              <a:rPr sz="3700" spc="35" dirty="0">
                <a:solidFill>
                  <a:srgbClr val="FF3131"/>
                </a:solidFill>
                <a:latin typeface="Georgia"/>
                <a:cs typeface="Georgia"/>
              </a:rPr>
              <a:t> </a:t>
            </a:r>
            <a:r>
              <a:rPr sz="3700" dirty="0">
                <a:solidFill>
                  <a:srgbClr val="FF3131"/>
                </a:solidFill>
                <a:latin typeface="Georgia"/>
                <a:cs typeface="Georgia"/>
              </a:rPr>
              <a:t>in</a:t>
            </a:r>
            <a:r>
              <a:rPr sz="3700" spc="35" dirty="0">
                <a:solidFill>
                  <a:srgbClr val="FF3131"/>
                </a:solidFill>
                <a:latin typeface="Georgia"/>
                <a:cs typeface="Georgia"/>
              </a:rPr>
              <a:t> </a:t>
            </a:r>
            <a:r>
              <a:rPr sz="3700" dirty="0">
                <a:solidFill>
                  <a:srgbClr val="FF3131"/>
                </a:solidFill>
                <a:latin typeface="Georgia"/>
                <a:cs typeface="Georgia"/>
              </a:rPr>
              <a:t>real-</a:t>
            </a:r>
            <a:r>
              <a:rPr sz="3700" spc="-20" dirty="0">
                <a:solidFill>
                  <a:srgbClr val="FF3131"/>
                </a:solidFill>
                <a:latin typeface="Georgia"/>
                <a:cs typeface="Georgia"/>
              </a:rPr>
              <a:t>time</a:t>
            </a:r>
            <a:endParaRPr sz="3700">
              <a:latin typeface="Georgia"/>
              <a:cs typeface="Georgi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84772" y="3105739"/>
            <a:ext cx="143129" cy="143002"/>
          </a:xfrm>
          <a:prstGeom prst="rect">
            <a:avLst/>
          </a:prstGeom>
        </p:spPr>
      </p:pic>
      <p:pic>
        <p:nvPicPr>
          <p:cNvPr id="3" name="object 3"/>
          <p:cNvPicPr/>
          <p:nvPr/>
        </p:nvPicPr>
        <p:blipFill>
          <a:blip r:embed="rId2" cstate="print"/>
          <a:stretch>
            <a:fillRect/>
          </a:stretch>
        </p:blipFill>
        <p:spPr>
          <a:xfrm>
            <a:off x="1684772" y="3762964"/>
            <a:ext cx="143129" cy="143002"/>
          </a:xfrm>
          <a:prstGeom prst="rect">
            <a:avLst/>
          </a:prstGeom>
        </p:spPr>
      </p:pic>
      <p:pic>
        <p:nvPicPr>
          <p:cNvPr id="4" name="object 4"/>
          <p:cNvPicPr/>
          <p:nvPr/>
        </p:nvPicPr>
        <p:blipFill>
          <a:blip r:embed="rId2" cstate="print"/>
          <a:stretch>
            <a:fillRect/>
          </a:stretch>
        </p:blipFill>
        <p:spPr>
          <a:xfrm>
            <a:off x="1684772" y="4420189"/>
            <a:ext cx="143129" cy="143002"/>
          </a:xfrm>
          <a:prstGeom prst="rect">
            <a:avLst/>
          </a:prstGeom>
        </p:spPr>
      </p:pic>
      <p:pic>
        <p:nvPicPr>
          <p:cNvPr id="5" name="object 5"/>
          <p:cNvPicPr/>
          <p:nvPr/>
        </p:nvPicPr>
        <p:blipFill>
          <a:blip r:embed="rId2" cstate="print"/>
          <a:stretch>
            <a:fillRect/>
          </a:stretch>
        </p:blipFill>
        <p:spPr>
          <a:xfrm>
            <a:off x="1684772" y="5077414"/>
            <a:ext cx="143129" cy="143002"/>
          </a:xfrm>
          <a:prstGeom prst="rect">
            <a:avLst/>
          </a:prstGeom>
        </p:spPr>
      </p:pic>
      <p:pic>
        <p:nvPicPr>
          <p:cNvPr id="6" name="object 6"/>
          <p:cNvPicPr/>
          <p:nvPr/>
        </p:nvPicPr>
        <p:blipFill>
          <a:blip r:embed="rId2" cstate="print"/>
          <a:stretch>
            <a:fillRect/>
          </a:stretch>
        </p:blipFill>
        <p:spPr>
          <a:xfrm>
            <a:off x="1684772" y="5734639"/>
            <a:ext cx="143129" cy="143002"/>
          </a:xfrm>
          <a:prstGeom prst="rect">
            <a:avLst/>
          </a:prstGeom>
        </p:spPr>
      </p:pic>
      <p:sp>
        <p:nvSpPr>
          <p:cNvPr id="7" name="object 7"/>
          <p:cNvSpPr txBox="1">
            <a:spLocks noGrp="1"/>
          </p:cNvSpPr>
          <p:nvPr>
            <p:ph type="title"/>
          </p:nvPr>
        </p:nvSpPr>
        <p:spPr>
          <a:prstGeom prst="rect">
            <a:avLst/>
          </a:prstGeom>
        </p:spPr>
        <p:txBody>
          <a:bodyPr vert="horz" wrap="square" lIns="0" tIns="215452" rIns="0" bIns="0" rtlCol="0">
            <a:spAutoFit/>
          </a:bodyPr>
          <a:lstStyle/>
          <a:p>
            <a:pPr marL="193675">
              <a:lnSpc>
                <a:spcPct val="100000"/>
              </a:lnSpc>
              <a:spcBef>
                <a:spcPts val="100"/>
              </a:spcBef>
            </a:pPr>
            <a:r>
              <a:rPr spc="-125" dirty="0">
                <a:solidFill>
                  <a:srgbClr val="FF3131"/>
                </a:solidFill>
              </a:rPr>
              <a:t>MINIKUBE</a:t>
            </a:r>
            <a:r>
              <a:rPr spc="-165" dirty="0">
                <a:solidFill>
                  <a:srgbClr val="FF3131"/>
                </a:solidFill>
              </a:rPr>
              <a:t> </a:t>
            </a:r>
            <a:r>
              <a:rPr spc="-210" dirty="0">
                <a:solidFill>
                  <a:srgbClr val="FF3131"/>
                </a:solidFill>
              </a:rPr>
              <a:t>SETUP:</a:t>
            </a:r>
          </a:p>
        </p:txBody>
      </p:sp>
      <p:sp>
        <p:nvSpPr>
          <p:cNvPr id="8" name="object 8"/>
          <p:cNvSpPr txBox="1"/>
          <p:nvPr/>
        </p:nvSpPr>
        <p:spPr>
          <a:xfrm>
            <a:off x="1224397" y="1874360"/>
            <a:ext cx="10771505" cy="4886325"/>
          </a:xfrm>
          <a:prstGeom prst="rect">
            <a:avLst/>
          </a:prstGeom>
        </p:spPr>
        <p:txBody>
          <a:bodyPr vert="horz" wrap="square" lIns="0" tIns="14605" rIns="0" bIns="0" rtlCol="0">
            <a:spAutoFit/>
          </a:bodyPr>
          <a:lstStyle/>
          <a:p>
            <a:pPr marL="12700">
              <a:lnSpc>
                <a:spcPct val="100000"/>
              </a:lnSpc>
              <a:spcBef>
                <a:spcPts val="115"/>
              </a:spcBef>
            </a:pPr>
            <a:r>
              <a:rPr sz="2950" b="1" spc="-50" dirty="0">
                <a:solidFill>
                  <a:srgbClr val="2E377E"/>
                </a:solidFill>
                <a:latin typeface="Times New Roman"/>
                <a:cs typeface="Times New Roman"/>
              </a:rPr>
              <a:t>REQUIREMENTS:</a:t>
            </a:r>
            <a:endParaRPr sz="2950">
              <a:latin typeface="Times New Roman"/>
              <a:cs typeface="Times New Roman"/>
            </a:endParaRPr>
          </a:p>
          <a:p>
            <a:pPr>
              <a:lnSpc>
                <a:spcPct val="100000"/>
              </a:lnSpc>
              <a:spcBef>
                <a:spcPts val="1010"/>
              </a:spcBef>
            </a:pPr>
            <a:endParaRPr sz="2950">
              <a:latin typeface="Times New Roman"/>
              <a:cs typeface="Times New Roman"/>
            </a:endParaRPr>
          </a:p>
          <a:p>
            <a:pPr marL="810895">
              <a:lnSpc>
                <a:spcPct val="100000"/>
              </a:lnSpc>
            </a:pPr>
            <a:r>
              <a:rPr sz="3700" spc="-254" dirty="0">
                <a:solidFill>
                  <a:srgbClr val="2E377E"/>
                </a:solidFill>
                <a:latin typeface="Georgia"/>
                <a:cs typeface="Georgia"/>
              </a:rPr>
              <a:t>2</a:t>
            </a:r>
            <a:r>
              <a:rPr sz="3700" spc="-70" dirty="0">
                <a:solidFill>
                  <a:srgbClr val="2E377E"/>
                </a:solidFill>
                <a:latin typeface="Georgia"/>
                <a:cs typeface="Georgia"/>
              </a:rPr>
              <a:t> </a:t>
            </a:r>
            <a:r>
              <a:rPr sz="3700" spc="-20" dirty="0">
                <a:solidFill>
                  <a:srgbClr val="2E377E"/>
                </a:solidFill>
                <a:latin typeface="Georgia"/>
                <a:cs typeface="Georgia"/>
              </a:rPr>
              <a:t>CPUs</a:t>
            </a:r>
            <a:r>
              <a:rPr sz="3700" spc="-100" dirty="0">
                <a:solidFill>
                  <a:srgbClr val="2E377E"/>
                </a:solidFill>
                <a:latin typeface="Georgia"/>
                <a:cs typeface="Georgia"/>
              </a:rPr>
              <a:t> </a:t>
            </a:r>
            <a:r>
              <a:rPr sz="3700" dirty="0">
                <a:solidFill>
                  <a:srgbClr val="2E377E"/>
                </a:solidFill>
                <a:latin typeface="Georgia"/>
                <a:cs typeface="Georgia"/>
              </a:rPr>
              <a:t>or</a:t>
            </a:r>
            <a:r>
              <a:rPr sz="3700" spc="-85" dirty="0">
                <a:solidFill>
                  <a:srgbClr val="2E377E"/>
                </a:solidFill>
                <a:latin typeface="Georgia"/>
                <a:cs typeface="Georgia"/>
              </a:rPr>
              <a:t> </a:t>
            </a:r>
            <a:r>
              <a:rPr sz="3700" spc="-20" dirty="0">
                <a:solidFill>
                  <a:srgbClr val="2E377E"/>
                </a:solidFill>
                <a:latin typeface="Georgia"/>
                <a:cs typeface="Georgia"/>
              </a:rPr>
              <a:t>more</a:t>
            </a:r>
            <a:endParaRPr sz="3700">
              <a:latin typeface="Georgia"/>
              <a:cs typeface="Georgia"/>
            </a:endParaRPr>
          </a:p>
          <a:p>
            <a:pPr marL="810895" marR="5095875">
              <a:lnSpc>
                <a:spcPts val="5180"/>
              </a:lnSpc>
              <a:spcBef>
                <a:spcPts val="290"/>
              </a:spcBef>
            </a:pPr>
            <a:r>
              <a:rPr sz="3700" spc="-180" dirty="0">
                <a:solidFill>
                  <a:srgbClr val="2E377E"/>
                </a:solidFill>
                <a:latin typeface="Georgia"/>
                <a:cs typeface="Georgia"/>
              </a:rPr>
              <a:t>2GB</a:t>
            </a:r>
            <a:r>
              <a:rPr sz="3700" spc="-45" dirty="0">
                <a:solidFill>
                  <a:srgbClr val="2E377E"/>
                </a:solidFill>
                <a:latin typeface="Georgia"/>
                <a:cs typeface="Georgia"/>
              </a:rPr>
              <a:t> </a:t>
            </a:r>
            <a:r>
              <a:rPr sz="3700" dirty="0">
                <a:solidFill>
                  <a:srgbClr val="2E377E"/>
                </a:solidFill>
                <a:latin typeface="Georgia"/>
                <a:cs typeface="Georgia"/>
              </a:rPr>
              <a:t>of</a:t>
            </a:r>
            <a:r>
              <a:rPr sz="3700" spc="-45" dirty="0">
                <a:solidFill>
                  <a:srgbClr val="2E377E"/>
                </a:solidFill>
                <a:latin typeface="Georgia"/>
                <a:cs typeface="Georgia"/>
              </a:rPr>
              <a:t> </a:t>
            </a:r>
            <a:r>
              <a:rPr sz="3700" spc="50" dirty="0">
                <a:solidFill>
                  <a:srgbClr val="2E377E"/>
                </a:solidFill>
                <a:latin typeface="Georgia"/>
                <a:cs typeface="Georgia"/>
              </a:rPr>
              <a:t>free</a:t>
            </a:r>
            <a:r>
              <a:rPr sz="3700" spc="-40" dirty="0">
                <a:solidFill>
                  <a:srgbClr val="2E377E"/>
                </a:solidFill>
                <a:latin typeface="Georgia"/>
                <a:cs typeface="Georgia"/>
              </a:rPr>
              <a:t> </a:t>
            </a:r>
            <a:r>
              <a:rPr sz="3700" spc="50" dirty="0">
                <a:solidFill>
                  <a:srgbClr val="2E377E"/>
                </a:solidFill>
                <a:latin typeface="Georgia"/>
                <a:cs typeface="Georgia"/>
              </a:rPr>
              <a:t>memory </a:t>
            </a:r>
            <a:r>
              <a:rPr sz="3700" spc="-165" dirty="0">
                <a:solidFill>
                  <a:srgbClr val="2E377E"/>
                </a:solidFill>
                <a:latin typeface="Georgia"/>
                <a:cs typeface="Georgia"/>
              </a:rPr>
              <a:t>20GB</a:t>
            </a:r>
            <a:r>
              <a:rPr sz="3700" spc="-20" dirty="0">
                <a:solidFill>
                  <a:srgbClr val="2E377E"/>
                </a:solidFill>
                <a:latin typeface="Georgia"/>
                <a:cs typeface="Georgia"/>
              </a:rPr>
              <a:t> </a:t>
            </a:r>
            <a:r>
              <a:rPr sz="3700" dirty="0">
                <a:solidFill>
                  <a:srgbClr val="2E377E"/>
                </a:solidFill>
                <a:latin typeface="Georgia"/>
                <a:cs typeface="Georgia"/>
              </a:rPr>
              <a:t>of</a:t>
            </a:r>
            <a:r>
              <a:rPr sz="3700" spc="-20" dirty="0">
                <a:solidFill>
                  <a:srgbClr val="2E377E"/>
                </a:solidFill>
                <a:latin typeface="Georgia"/>
                <a:cs typeface="Georgia"/>
              </a:rPr>
              <a:t> </a:t>
            </a:r>
            <a:r>
              <a:rPr sz="3700" spc="50" dirty="0">
                <a:solidFill>
                  <a:srgbClr val="2E377E"/>
                </a:solidFill>
                <a:latin typeface="Georgia"/>
                <a:cs typeface="Georgia"/>
              </a:rPr>
              <a:t>free</a:t>
            </a:r>
            <a:r>
              <a:rPr sz="3700" spc="-20" dirty="0">
                <a:solidFill>
                  <a:srgbClr val="2E377E"/>
                </a:solidFill>
                <a:latin typeface="Georgia"/>
                <a:cs typeface="Georgia"/>
              </a:rPr>
              <a:t> </a:t>
            </a:r>
            <a:r>
              <a:rPr sz="3700" dirty="0">
                <a:solidFill>
                  <a:srgbClr val="2E377E"/>
                </a:solidFill>
                <a:latin typeface="Georgia"/>
                <a:cs typeface="Georgia"/>
              </a:rPr>
              <a:t>disk</a:t>
            </a:r>
            <a:r>
              <a:rPr sz="3700" spc="-20" dirty="0">
                <a:solidFill>
                  <a:srgbClr val="2E377E"/>
                </a:solidFill>
                <a:latin typeface="Georgia"/>
                <a:cs typeface="Georgia"/>
              </a:rPr>
              <a:t> </a:t>
            </a:r>
            <a:r>
              <a:rPr sz="3700" spc="-10" dirty="0">
                <a:solidFill>
                  <a:srgbClr val="2E377E"/>
                </a:solidFill>
                <a:latin typeface="Georgia"/>
                <a:cs typeface="Georgia"/>
              </a:rPr>
              <a:t>space </a:t>
            </a:r>
            <a:r>
              <a:rPr sz="3700" dirty="0">
                <a:solidFill>
                  <a:srgbClr val="2E377E"/>
                </a:solidFill>
                <a:latin typeface="Georgia"/>
                <a:cs typeface="Georgia"/>
              </a:rPr>
              <a:t>Internet</a:t>
            </a:r>
            <a:r>
              <a:rPr sz="3700" spc="220" dirty="0">
                <a:solidFill>
                  <a:srgbClr val="2E377E"/>
                </a:solidFill>
                <a:latin typeface="Georgia"/>
                <a:cs typeface="Georgia"/>
              </a:rPr>
              <a:t> </a:t>
            </a:r>
            <a:r>
              <a:rPr sz="3700" spc="-10" dirty="0">
                <a:solidFill>
                  <a:srgbClr val="2E377E"/>
                </a:solidFill>
                <a:latin typeface="Georgia"/>
                <a:cs typeface="Georgia"/>
              </a:rPr>
              <a:t>connection</a:t>
            </a:r>
            <a:endParaRPr sz="3700">
              <a:latin typeface="Georgia"/>
              <a:cs typeface="Georgia"/>
            </a:endParaRPr>
          </a:p>
          <a:p>
            <a:pPr marL="810895">
              <a:lnSpc>
                <a:spcPct val="100000"/>
              </a:lnSpc>
              <a:spcBef>
                <a:spcPts val="430"/>
              </a:spcBef>
            </a:pPr>
            <a:r>
              <a:rPr sz="3700" dirty="0">
                <a:solidFill>
                  <a:srgbClr val="2E377E"/>
                </a:solidFill>
                <a:latin typeface="Georgia"/>
                <a:cs typeface="Georgia"/>
              </a:rPr>
              <a:t>Container</a:t>
            </a:r>
            <a:r>
              <a:rPr sz="3700" spc="25" dirty="0">
                <a:solidFill>
                  <a:srgbClr val="2E377E"/>
                </a:solidFill>
                <a:latin typeface="Georgia"/>
                <a:cs typeface="Georgia"/>
              </a:rPr>
              <a:t> </a:t>
            </a:r>
            <a:r>
              <a:rPr sz="3700" dirty="0">
                <a:solidFill>
                  <a:srgbClr val="2E377E"/>
                </a:solidFill>
                <a:latin typeface="Georgia"/>
                <a:cs typeface="Georgia"/>
              </a:rPr>
              <a:t>or</a:t>
            </a:r>
            <a:r>
              <a:rPr sz="3700" spc="25" dirty="0">
                <a:solidFill>
                  <a:srgbClr val="2E377E"/>
                </a:solidFill>
                <a:latin typeface="Georgia"/>
                <a:cs typeface="Georgia"/>
              </a:rPr>
              <a:t> </a:t>
            </a:r>
            <a:r>
              <a:rPr sz="3700" spc="50" dirty="0">
                <a:solidFill>
                  <a:srgbClr val="2E377E"/>
                </a:solidFill>
                <a:latin typeface="Georgia"/>
                <a:cs typeface="Georgia"/>
              </a:rPr>
              <a:t>virtual</a:t>
            </a:r>
            <a:r>
              <a:rPr sz="3700" spc="25" dirty="0">
                <a:solidFill>
                  <a:srgbClr val="2E377E"/>
                </a:solidFill>
                <a:latin typeface="Georgia"/>
                <a:cs typeface="Georgia"/>
              </a:rPr>
              <a:t> </a:t>
            </a:r>
            <a:r>
              <a:rPr sz="3700" dirty="0">
                <a:solidFill>
                  <a:srgbClr val="2E377E"/>
                </a:solidFill>
                <a:latin typeface="Georgia"/>
                <a:cs typeface="Georgia"/>
              </a:rPr>
              <a:t>machine</a:t>
            </a:r>
            <a:r>
              <a:rPr sz="3700" spc="25" dirty="0">
                <a:solidFill>
                  <a:srgbClr val="2E377E"/>
                </a:solidFill>
                <a:latin typeface="Georgia"/>
                <a:cs typeface="Georgia"/>
              </a:rPr>
              <a:t> </a:t>
            </a:r>
            <a:r>
              <a:rPr sz="3700" dirty="0">
                <a:solidFill>
                  <a:srgbClr val="2E377E"/>
                </a:solidFill>
                <a:latin typeface="Georgia"/>
                <a:cs typeface="Georgia"/>
              </a:rPr>
              <a:t>manager,</a:t>
            </a:r>
            <a:r>
              <a:rPr sz="3700" spc="25" dirty="0">
                <a:solidFill>
                  <a:srgbClr val="2E377E"/>
                </a:solidFill>
                <a:latin typeface="Georgia"/>
                <a:cs typeface="Georgia"/>
              </a:rPr>
              <a:t> </a:t>
            </a:r>
            <a:r>
              <a:rPr sz="3700" dirty="0">
                <a:solidFill>
                  <a:srgbClr val="2E377E"/>
                </a:solidFill>
                <a:latin typeface="Georgia"/>
                <a:cs typeface="Georgia"/>
              </a:rPr>
              <a:t>such</a:t>
            </a:r>
            <a:r>
              <a:rPr sz="3700" spc="30" dirty="0">
                <a:solidFill>
                  <a:srgbClr val="2E377E"/>
                </a:solidFill>
                <a:latin typeface="Georgia"/>
                <a:cs typeface="Georgia"/>
              </a:rPr>
              <a:t> </a:t>
            </a:r>
            <a:r>
              <a:rPr sz="3700" spc="-25" dirty="0">
                <a:solidFill>
                  <a:srgbClr val="2E377E"/>
                </a:solidFill>
                <a:latin typeface="Georgia"/>
                <a:cs typeface="Georgia"/>
              </a:rPr>
              <a:t>as:</a:t>
            </a:r>
            <a:endParaRPr sz="3700">
              <a:latin typeface="Georgia"/>
              <a:cs typeface="Georgia"/>
            </a:endParaRPr>
          </a:p>
          <a:p>
            <a:pPr marL="810895">
              <a:lnSpc>
                <a:spcPct val="100000"/>
              </a:lnSpc>
              <a:spcBef>
                <a:spcPts val="735"/>
              </a:spcBef>
            </a:pPr>
            <a:r>
              <a:rPr sz="3700" spc="-10" dirty="0">
                <a:solidFill>
                  <a:srgbClr val="2E377E"/>
                </a:solidFill>
                <a:latin typeface="Georgia"/>
                <a:cs typeface="Georgia"/>
                <a:hlinkClick r:id="rId3"/>
              </a:rPr>
              <a:t>Docker</a:t>
            </a:r>
            <a:r>
              <a:rPr sz="3700" spc="-10" dirty="0">
                <a:solidFill>
                  <a:srgbClr val="2E377E"/>
                </a:solidFill>
                <a:latin typeface="Georgia"/>
                <a:cs typeface="Georgia"/>
              </a:rPr>
              <a:t>.</a:t>
            </a:r>
            <a:endParaRPr sz="3700">
              <a:latin typeface="Georgia"/>
              <a:cs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9662" y="223695"/>
            <a:ext cx="17113250" cy="9252585"/>
          </a:xfrm>
          <a:prstGeom prst="rect">
            <a:avLst/>
          </a:prstGeom>
        </p:spPr>
        <p:txBody>
          <a:bodyPr vert="horz" wrap="square" lIns="0" tIns="94615" rIns="0" bIns="0" rtlCol="0">
            <a:spAutoFit/>
          </a:bodyPr>
          <a:lstStyle/>
          <a:p>
            <a:pPr marL="394335">
              <a:lnSpc>
                <a:spcPct val="100000"/>
              </a:lnSpc>
              <a:spcBef>
                <a:spcPts val="745"/>
              </a:spcBef>
              <a:tabLst>
                <a:tab pos="3143885" algn="l"/>
              </a:tabLst>
            </a:pPr>
            <a:r>
              <a:rPr sz="2600" b="1" u="heavy" spc="-245" dirty="0">
                <a:solidFill>
                  <a:srgbClr val="FF3131"/>
                </a:solidFill>
                <a:uFill>
                  <a:solidFill>
                    <a:srgbClr val="FF3131"/>
                  </a:solidFill>
                </a:uFill>
                <a:latin typeface="Times New Roman"/>
                <a:cs typeface="Times New Roman"/>
              </a:rPr>
              <a:t>UPDATE</a:t>
            </a:r>
            <a:r>
              <a:rPr sz="2600" b="1" u="heavy" spc="-60" dirty="0">
                <a:solidFill>
                  <a:srgbClr val="FF3131"/>
                </a:solidFill>
                <a:uFill>
                  <a:solidFill>
                    <a:srgbClr val="FF3131"/>
                  </a:solidFill>
                </a:uFill>
                <a:latin typeface="Times New Roman"/>
                <a:cs typeface="Times New Roman"/>
              </a:rPr>
              <a:t> </a:t>
            </a:r>
            <a:r>
              <a:rPr sz="2600" b="1" u="heavy" spc="-265" dirty="0">
                <a:solidFill>
                  <a:srgbClr val="FF3131"/>
                </a:solidFill>
                <a:uFill>
                  <a:solidFill>
                    <a:srgbClr val="FF3131"/>
                  </a:solidFill>
                </a:uFill>
                <a:latin typeface="Times New Roman"/>
                <a:cs typeface="Times New Roman"/>
              </a:rPr>
              <a:t>SERVER:</a:t>
            </a:r>
            <a:r>
              <a:rPr sz="2600" b="1" u="heavy" dirty="0">
                <a:solidFill>
                  <a:srgbClr val="FF3131"/>
                </a:solidFill>
                <a:uFill>
                  <a:solidFill>
                    <a:srgbClr val="FF3131"/>
                  </a:solidFill>
                </a:uFill>
                <a:latin typeface="Times New Roman"/>
                <a:cs typeface="Times New Roman"/>
              </a:rPr>
              <a:t>	</a:t>
            </a:r>
            <a:endParaRPr sz="2600">
              <a:latin typeface="Times New Roman"/>
              <a:cs typeface="Times New Roman"/>
            </a:endParaRPr>
          </a:p>
          <a:p>
            <a:pPr marL="608330" indent="-213995">
              <a:lnSpc>
                <a:spcPct val="100000"/>
              </a:lnSpc>
              <a:spcBef>
                <a:spcPts val="645"/>
              </a:spcBef>
              <a:buAutoNum type="arabicPlain"/>
              <a:tabLst>
                <a:tab pos="608330" algn="l"/>
              </a:tabLst>
            </a:pPr>
            <a:r>
              <a:rPr sz="2600" dirty="0">
                <a:solidFill>
                  <a:srgbClr val="2E377E"/>
                </a:solidFill>
                <a:latin typeface="Georgia"/>
                <a:cs typeface="Georgia"/>
              </a:rPr>
              <a:t>apt</a:t>
            </a:r>
            <a:r>
              <a:rPr sz="2600" spc="85" dirty="0">
                <a:solidFill>
                  <a:srgbClr val="2E377E"/>
                </a:solidFill>
                <a:latin typeface="Georgia"/>
                <a:cs typeface="Georgia"/>
              </a:rPr>
              <a:t> </a:t>
            </a:r>
            <a:r>
              <a:rPr sz="2600" dirty="0">
                <a:solidFill>
                  <a:srgbClr val="2E377E"/>
                </a:solidFill>
                <a:latin typeface="Georgia"/>
                <a:cs typeface="Georgia"/>
              </a:rPr>
              <a:t>update</a:t>
            </a:r>
            <a:r>
              <a:rPr sz="2600" spc="85" dirty="0">
                <a:solidFill>
                  <a:srgbClr val="2E377E"/>
                </a:solidFill>
                <a:latin typeface="Georgia"/>
                <a:cs typeface="Georgia"/>
              </a:rPr>
              <a:t> </a:t>
            </a:r>
            <a:r>
              <a:rPr sz="2600" dirty="0">
                <a:solidFill>
                  <a:srgbClr val="2E377E"/>
                </a:solidFill>
                <a:latin typeface="Georgia"/>
                <a:cs typeface="Georgia"/>
              </a:rPr>
              <a:t>-</a:t>
            </a:r>
            <a:r>
              <a:rPr sz="2600" spc="100" dirty="0">
                <a:solidFill>
                  <a:srgbClr val="2E377E"/>
                </a:solidFill>
                <a:latin typeface="Georgia"/>
                <a:cs typeface="Georgia"/>
              </a:rPr>
              <a:t>y</a:t>
            </a:r>
            <a:endParaRPr sz="2600">
              <a:latin typeface="Georgia"/>
              <a:cs typeface="Georgia"/>
            </a:endParaRPr>
          </a:p>
          <a:p>
            <a:pPr marL="629285" indent="-234950">
              <a:lnSpc>
                <a:spcPct val="100000"/>
              </a:lnSpc>
              <a:spcBef>
                <a:spcPts val="405"/>
              </a:spcBef>
              <a:buAutoNum type="arabicPlain"/>
              <a:tabLst>
                <a:tab pos="629285" algn="l"/>
              </a:tabLst>
            </a:pPr>
            <a:r>
              <a:rPr sz="2600" dirty="0">
                <a:solidFill>
                  <a:srgbClr val="2E377E"/>
                </a:solidFill>
                <a:latin typeface="Georgia"/>
                <a:cs typeface="Georgia"/>
              </a:rPr>
              <a:t>apt</a:t>
            </a:r>
            <a:r>
              <a:rPr sz="2600" spc="75" dirty="0">
                <a:solidFill>
                  <a:srgbClr val="2E377E"/>
                </a:solidFill>
                <a:latin typeface="Georgia"/>
                <a:cs typeface="Georgia"/>
              </a:rPr>
              <a:t> </a:t>
            </a:r>
            <a:r>
              <a:rPr sz="2600" dirty="0">
                <a:solidFill>
                  <a:srgbClr val="2E377E"/>
                </a:solidFill>
                <a:latin typeface="Georgia"/>
                <a:cs typeface="Georgia"/>
              </a:rPr>
              <a:t>upgrade</a:t>
            </a:r>
            <a:r>
              <a:rPr sz="2600" spc="80" dirty="0">
                <a:solidFill>
                  <a:srgbClr val="2E377E"/>
                </a:solidFill>
                <a:latin typeface="Georgia"/>
                <a:cs typeface="Georgia"/>
              </a:rPr>
              <a:t> </a:t>
            </a:r>
            <a:r>
              <a:rPr sz="2600" dirty="0">
                <a:solidFill>
                  <a:srgbClr val="2E377E"/>
                </a:solidFill>
                <a:latin typeface="Georgia"/>
                <a:cs typeface="Georgia"/>
              </a:rPr>
              <a:t>-</a:t>
            </a:r>
            <a:r>
              <a:rPr sz="2600" spc="100" dirty="0">
                <a:solidFill>
                  <a:srgbClr val="2E377E"/>
                </a:solidFill>
                <a:latin typeface="Georgia"/>
                <a:cs typeface="Georgia"/>
              </a:rPr>
              <a:t>y</a:t>
            </a:r>
            <a:endParaRPr sz="2600">
              <a:latin typeface="Georgia"/>
              <a:cs typeface="Georgia"/>
            </a:endParaRPr>
          </a:p>
          <a:p>
            <a:pPr marL="394335">
              <a:lnSpc>
                <a:spcPct val="100000"/>
              </a:lnSpc>
              <a:spcBef>
                <a:spcPts val="390"/>
              </a:spcBef>
              <a:tabLst>
                <a:tab pos="3232785" algn="l"/>
              </a:tabLst>
            </a:pPr>
            <a:r>
              <a:rPr sz="2600" b="1" u="heavy" spc="-275" dirty="0">
                <a:solidFill>
                  <a:srgbClr val="FF3131"/>
                </a:solidFill>
                <a:uFill>
                  <a:solidFill>
                    <a:srgbClr val="FF3131"/>
                  </a:solidFill>
                </a:uFill>
                <a:latin typeface="Times New Roman"/>
                <a:cs typeface="Times New Roman"/>
              </a:rPr>
              <a:t>INSTALL</a:t>
            </a:r>
            <a:r>
              <a:rPr sz="2600" b="1" u="heavy" spc="-70" dirty="0">
                <a:solidFill>
                  <a:srgbClr val="FF3131"/>
                </a:solidFill>
                <a:uFill>
                  <a:solidFill>
                    <a:srgbClr val="FF3131"/>
                  </a:solidFill>
                </a:uFill>
                <a:latin typeface="Times New Roman"/>
                <a:cs typeface="Times New Roman"/>
              </a:rPr>
              <a:t> </a:t>
            </a:r>
            <a:r>
              <a:rPr sz="2600" b="1" u="heavy" spc="-315" dirty="0">
                <a:solidFill>
                  <a:srgbClr val="FF3131"/>
                </a:solidFill>
                <a:uFill>
                  <a:solidFill>
                    <a:srgbClr val="FF3131"/>
                  </a:solidFill>
                </a:uFill>
                <a:latin typeface="Times New Roman"/>
                <a:cs typeface="Times New Roman"/>
              </a:rPr>
              <a:t>DOCKER:</a:t>
            </a:r>
            <a:r>
              <a:rPr sz="2600" b="1" u="heavy" dirty="0">
                <a:solidFill>
                  <a:srgbClr val="FF3131"/>
                </a:solidFill>
                <a:uFill>
                  <a:solidFill>
                    <a:srgbClr val="FF3131"/>
                  </a:solidFill>
                </a:uFill>
                <a:latin typeface="Times New Roman"/>
                <a:cs typeface="Times New Roman"/>
              </a:rPr>
              <a:t>	</a:t>
            </a:r>
            <a:endParaRPr sz="2600">
              <a:latin typeface="Times New Roman"/>
              <a:cs typeface="Times New Roman"/>
            </a:endParaRPr>
          </a:p>
          <a:p>
            <a:pPr marL="702310" indent="-233679">
              <a:lnSpc>
                <a:spcPct val="100000"/>
              </a:lnSpc>
              <a:spcBef>
                <a:spcPts val="645"/>
              </a:spcBef>
              <a:buAutoNum type="arabicPlain" startAt="3"/>
              <a:tabLst>
                <a:tab pos="702310" algn="l"/>
              </a:tabLst>
            </a:pPr>
            <a:r>
              <a:rPr sz="2600" dirty="0">
                <a:solidFill>
                  <a:srgbClr val="2E377E"/>
                </a:solidFill>
                <a:latin typeface="Georgia"/>
                <a:cs typeface="Georgia"/>
              </a:rPr>
              <a:t>sudo</a:t>
            </a:r>
            <a:r>
              <a:rPr sz="2600" spc="110" dirty="0">
                <a:solidFill>
                  <a:srgbClr val="2E377E"/>
                </a:solidFill>
                <a:latin typeface="Georgia"/>
                <a:cs typeface="Georgia"/>
              </a:rPr>
              <a:t> </a:t>
            </a:r>
            <a:r>
              <a:rPr sz="2600" dirty="0">
                <a:solidFill>
                  <a:srgbClr val="2E377E"/>
                </a:solidFill>
                <a:latin typeface="Georgia"/>
                <a:cs typeface="Georgia"/>
              </a:rPr>
              <a:t>apt</a:t>
            </a:r>
            <a:r>
              <a:rPr sz="2600" spc="110" dirty="0">
                <a:solidFill>
                  <a:srgbClr val="2E377E"/>
                </a:solidFill>
                <a:latin typeface="Georgia"/>
                <a:cs typeface="Georgia"/>
              </a:rPr>
              <a:t> </a:t>
            </a:r>
            <a:r>
              <a:rPr sz="2600" dirty="0">
                <a:solidFill>
                  <a:srgbClr val="2E377E"/>
                </a:solidFill>
                <a:latin typeface="Georgia"/>
                <a:cs typeface="Georgia"/>
              </a:rPr>
              <a:t>install</a:t>
            </a:r>
            <a:r>
              <a:rPr sz="2600" spc="114" dirty="0">
                <a:solidFill>
                  <a:srgbClr val="2E377E"/>
                </a:solidFill>
                <a:latin typeface="Georgia"/>
                <a:cs typeface="Georgia"/>
              </a:rPr>
              <a:t> </a:t>
            </a:r>
            <a:r>
              <a:rPr sz="2600" dirty="0">
                <a:solidFill>
                  <a:srgbClr val="2E377E"/>
                </a:solidFill>
                <a:latin typeface="Georgia"/>
                <a:cs typeface="Georgia"/>
              </a:rPr>
              <a:t>curl</a:t>
            </a:r>
            <a:r>
              <a:rPr sz="2600" spc="110" dirty="0">
                <a:solidFill>
                  <a:srgbClr val="2E377E"/>
                </a:solidFill>
                <a:latin typeface="Georgia"/>
                <a:cs typeface="Georgia"/>
              </a:rPr>
              <a:t> </a:t>
            </a:r>
            <a:r>
              <a:rPr sz="2600" spc="70" dirty="0">
                <a:solidFill>
                  <a:srgbClr val="2E377E"/>
                </a:solidFill>
                <a:latin typeface="Georgia"/>
                <a:cs typeface="Georgia"/>
              </a:rPr>
              <a:t>wget</a:t>
            </a:r>
            <a:r>
              <a:rPr sz="2600" spc="110" dirty="0">
                <a:solidFill>
                  <a:srgbClr val="2E377E"/>
                </a:solidFill>
                <a:latin typeface="Georgia"/>
                <a:cs typeface="Georgia"/>
              </a:rPr>
              <a:t> </a:t>
            </a:r>
            <a:r>
              <a:rPr sz="2600" dirty="0">
                <a:solidFill>
                  <a:srgbClr val="2E377E"/>
                </a:solidFill>
                <a:latin typeface="Georgia"/>
                <a:cs typeface="Georgia"/>
              </a:rPr>
              <a:t>apt-transport-https</a:t>
            </a:r>
            <a:r>
              <a:rPr sz="2600" spc="114" dirty="0">
                <a:solidFill>
                  <a:srgbClr val="2E377E"/>
                </a:solidFill>
                <a:latin typeface="Georgia"/>
                <a:cs typeface="Georgia"/>
              </a:rPr>
              <a:t> </a:t>
            </a:r>
            <a:r>
              <a:rPr sz="2600" dirty="0">
                <a:solidFill>
                  <a:srgbClr val="2E377E"/>
                </a:solidFill>
                <a:latin typeface="Georgia"/>
                <a:cs typeface="Georgia"/>
              </a:rPr>
              <a:t>-</a:t>
            </a:r>
            <a:r>
              <a:rPr sz="2600" spc="100" dirty="0">
                <a:solidFill>
                  <a:srgbClr val="2E377E"/>
                </a:solidFill>
                <a:latin typeface="Georgia"/>
                <a:cs typeface="Georgia"/>
              </a:rPr>
              <a:t>y</a:t>
            </a:r>
            <a:endParaRPr sz="2600">
              <a:latin typeface="Georgia"/>
              <a:cs typeface="Georgia"/>
            </a:endParaRPr>
          </a:p>
          <a:p>
            <a:pPr marL="468630" marR="8230870" indent="236854">
              <a:lnSpc>
                <a:spcPct val="112999"/>
              </a:lnSpc>
              <a:buAutoNum type="arabicPlain" startAt="3"/>
              <a:tabLst>
                <a:tab pos="705485" algn="l"/>
              </a:tabLst>
            </a:pPr>
            <a:r>
              <a:rPr sz="2600" dirty="0">
                <a:solidFill>
                  <a:srgbClr val="2E377E"/>
                </a:solidFill>
                <a:latin typeface="Georgia"/>
                <a:cs typeface="Georgia"/>
              </a:rPr>
              <a:t>sudo</a:t>
            </a:r>
            <a:r>
              <a:rPr sz="2600" spc="5" dirty="0">
                <a:solidFill>
                  <a:srgbClr val="2E377E"/>
                </a:solidFill>
                <a:latin typeface="Georgia"/>
                <a:cs typeface="Georgia"/>
              </a:rPr>
              <a:t> </a:t>
            </a:r>
            <a:r>
              <a:rPr sz="2600" dirty="0">
                <a:solidFill>
                  <a:srgbClr val="2E377E"/>
                </a:solidFill>
                <a:latin typeface="Georgia"/>
                <a:cs typeface="Georgia"/>
              </a:rPr>
              <a:t>curl</a:t>
            </a:r>
            <a:r>
              <a:rPr sz="2600" spc="15" dirty="0">
                <a:solidFill>
                  <a:srgbClr val="2E377E"/>
                </a:solidFill>
                <a:latin typeface="Georgia"/>
                <a:cs typeface="Georgia"/>
              </a:rPr>
              <a:t> </a:t>
            </a:r>
            <a:r>
              <a:rPr sz="2600" dirty="0">
                <a:solidFill>
                  <a:srgbClr val="2E377E"/>
                </a:solidFill>
                <a:latin typeface="Georgia"/>
                <a:cs typeface="Georgia"/>
              </a:rPr>
              <a:t>-fsSL</a:t>
            </a:r>
            <a:r>
              <a:rPr sz="2600" spc="15" dirty="0">
                <a:solidFill>
                  <a:srgbClr val="2E377E"/>
                </a:solidFill>
                <a:latin typeface="Georgia"/>
                <a:cs typeface="Georgia"/>
              </a:rPr>
              <a:t> </a:t>
            </a:r>
            <a:r>
              <a:rPr sz="2600" spc="-10" dirty="0">
                <a:solidFill>
                  <a:srgbClr val="2E377E"/>
                </a:solidFill>
                <a:latin typeface="Georgia"/>
                <a:cs typeface="Georgia"/>
              </a:rPr>
              <a:t>https://get.docker.com</a:t>
            </a:r>
            <a:r>
              <a:rPr sz="2600" spc="15" dirty="0">
                <a:solidFill>
                  <a:srgbClr val="2E377E"/>
                </a:solidFill>
                <a:latin typeface="Georgia"/>
                <a:cs typeface="Georgia"/>
              </a:rPr>
              <a:t> </a:t>
            </a:r>
            <a:r>
              <a:rPr sz="2600" dirty="0">
                <a:solidFill>
                  <a:srgbClr val="2E377E"/>
                </a:solidFill>
                <a:latin typeface="Georgia"/>
                <a:cs typeface="Georgia"/>
              </a:rPr>
              <a:t>-o</a:t>
            </a:r>
            <a:r>
              <a:rPr sz="2600" spc="15" dirty="0">
                <a:solidFill>
                  <a:srgbClr val="2E377E"/>
                </a:solidFill>
                <a:latin typeface="Georgia"/>
                <a:cs typeface="Georgia"/>
              </a:rPr>
              <a:t> </a:t>
            </a:r>
            <a:r>
              <a:rPr sz="2600" dirty="0">
                <a:solidFill>
                  <a:srgbClr val="2E377E"/>
                </a:solidFill>
                <a:latin typeface="Georgia"/>
                <a:cs typeface="Georgia"/>
              </a:rPr>
              <a:t>get-</a:t>
            </a:r>
            <a:r>
              <a:rPr sz="2600" spc="-10" dirty="0">
                <a:solidFill>
                  <a:srgbClr val="2E377E"/>
                </a:solidFill>
                <a:latin typeface="Georgia"/>
                <a:cs typeface="Georgia"/>
              </a:rPr>
              <a:t>docker.sh </a:t>
            </a:r>
            <a:r>
              <a:rPr sz="2600" dirty="0">
                <a:solidFill>
                  <a:srgbClr val="2E377E"/>
                </a:solidFill>
                <a:latin typeface="Georgia"/>
                <a:cs typeface="Georgia"/>
              </a:rPr>
              <a:t>sudo</a:t>
            </a:r>
            <a:r>
              <a:rPr sz="2600" spc="75" dirty="0">
                <a:solidFill>
                  <a:srgbClr val="2E377E"/>
                </a:solidFill>
                <a:latin typeface="Georgia"/>
                <a:cs typeface="Georgia"/>
              </a:rPr>
              <a:t> </a:t>
            </a:r>
            <a:r>
              <a:rPr sz="2600" dirty="0">
                <a:solidFill>
                  <a:srgbClr val="2E377E"/>
                </a:solidFill>
                <a:latin typeface="Georgia"/>
                <a:cs typeface="Georgia"/>
              </a:rPr>
              <a:t>sh</a:t>
            </a:r>
            <a:r>
              <a:rPr sz="2600" spc="80" dirty="0">
                <a:solidFill>
                  <a:srgbClr val="2E377E"/>
                </a:solidFill>
                <a:latin typeface="Georgia"/>
                <a:cs typeface="Georgia"/>
              </a:rPr>
              <a:t> </a:t>
            </a:r>
            <a:r>
              <a:rPr sz="2600" dirty="0">
                <a:solidFill>
                  <a:srgbClr val="2E377E"/>
                </a:solidFill>
                <a:latin typeface="Georgia"/>
                <a:cs typeface="Georgia"/>
              </a:rPr>
              <a:t>get-</a:t>
            </a:r>
            <a:r>
              <a:rPr sz="2600" spc="-10" dirty="0">
                <a:solidFill>
                  <a:srgbClr val="2E377E"/>
                </a:solidFill>
                <a:latin typeface="Georgia"/>
                <a:cs typeface="Georgia"/>
              </a:rPr>
              <a:t>docker.sh</a:t>
            </a:r>
            <a:endParaRPr sz="2600">
              <a:latin typeface="Georgia"/>
              <a:cs typeface="Georgia"/>
            </a:endParaRPr>
          </a:p>
          <a:p>
            <a:pPr marL="394335">
              <a:lnSpc>
                <a:spcPct val="100000"/>
              </a:lnSpc>
              <a:spcBef>
                <a:spcPts val="464"/>
              </a:spcBef>
              <a:tabLst>
                <a:tab pos="3537585" algn="l"/>
              </a:tabLst>
            </a:pPr>
            <a:r>
              <a:rPr sz="2600" b="1" u="heavy" spc="-275" dirty="0">
                <a:solidFill>
                  <a:srgbClr val="FF3131"/>
                </a:solidFill>
                <a:uFill>
                  <a:solidFill>
                    <a:srgbClr val="FF3131"/>
                  </a:solidFill>
                </a:uFill>
                <a:latin typeface="Times New Roman"/>
                <a:cs typeface="Times New Roman"/>
              </a:rPr>
              <a:t>INSTALL</a:t>
            </a:r>
            <a:r>
              <a:rPr sz="2600" b="1" u="heavy" spc="-70" dirty="0">
                <a:solidFill>
                  <a:srgbClr val="FF3131"/>
                </a:solidFill>
                <a:uFill>
                  <a:solidFill>
                    <a:srgbClr val="FF3131"/>
                  </a:solidFill>
                </a:uFill>
                <a:latin typeface="Times New Roman"/>
                <a:cs typeface="Times New Roman"/>
              </a:rPr>
              <a:t> </a:t>
            </a:r>
            <a:r>
              <a:rPr sz="2600" b="1" u="heavy" spc="-10" dirty="0">
                <a:solidFill>
                  <a:srgbClr val="FF3131"/>
                </a:solidFill>
                <a:uFill>
                  <a:solidFill>
                    <a:srgbClr val="FF3131"/>
                  </a:solidFill>
                </a:uFill>
                <a:latin typeface="Times New Roman"/>
                <a:cs typeface="Times New Roman"/>
              </a:rPr>
              <a:t>MINIKUBE:</a:t>
            </a:r>
            <a:r>
              <a:rPr sz="2600" b="1" u="heavy" dirty="0">
                <a:solidFill>
                  <a:srgbClr val="FF3131"/>
                </a:solidFill>
                <a:uFill>
                  <a:solidFill>
                    <a:srgbClr val="FF3131"/>
                  </a:solidFill>
                </a:uFill>
                <a:latin typeface="Times New Roman"/>
                <a:cs typeface="Times New Roman"/>
              </a:rPr>
              <a:t>	</a:t>
            </a:r>
            <a:endParaRPr sz="2600">
              <a:latin typeface="Times New Roman"/>
              <a:cs typeface="Times New Roman"/>
            </a:endParaRPr>
          </a:p>
          <a:p>
            <a:pPr marL="716915" indent="-240665">
              <a:lnSpc>
                <a:spcPct val="100000"/>
              </a:lnSpc>
              <a:spcBef>
                <a:spcPts val="900"/>
              </a:spcBef>
              <a:buAutoNum type="arabicPlain" startAt="5"/>
              <a:tabLst>
                <a:tab pos="716915" algn="l"/>
              </a:tabLst>
            </a:pPr>
            <a:r>
              <a:rPr sz="2600" dirty="0">
                <a:solidFill>
                  <a:srgbClr val="2E377E"/>
                </a:solidFill>
                <a:latin typeface="Georgia"/>
                <a:cs typeface="Georgia"/>
              </a:rPr>
              <a:t>sudo</a:t>
            </a:r>
            <a:r>
              <a:rPr sz="2600" spc="170" dirty="0">
                <a:solidFill>
                  <a:srgbClr val="2E377E"/>
                </a:solidFill>
                <a:latin typeface="Georgia"/>
                <a:cs typeface="Georgia"/>
              </a:rPr>
              <a:t> </a:t>
            </a:r>
            <a:r>
              <a:rPr sz="2600" dirty="0">
                <a:solidFill>
                  <a:srgbClr val="2E377E"/>
                </a:solidFill>
                <a:latin typeface="Georgia"/>
                <a:cs typeface="Georgia"/>
              </a:rPr>
              <a:t>curl</a:t>
            </a:r>
            <a:r>
              <a:rPr sz="2600" spc="170" dirty="0">
                <a:solidFill>
                  <a:srgbClr val="2E377E"/>
                </a:solidFill>
                <a:latin typeface="Georgia"/>
                <a:cs typeface="Georgia"/>
              </a:rPr>
              <a:t> </a:t>
            </a:r>
            <a:r>
              <a:rPr sz="2600" dirty="0">
                <a:solidFill>
                  <a:srgbClr val="2E377E"/>
                </a:solidFill>
                <a:latin typeface="Georgia"/>
                <a:cs typeface="Georgia"/>
              </a:rPr>
              <a:t>-LO</a:t>
            </a:r>
            <a:r>
              <a:rPr sz="2600" spc="170" dirty="0">
                <a:solidFill>
                  <a:srgbClr val="2E377E"/>
                </a:solidFill>
                <a:latin typeface="Georgia"/>
                <a:cs typeface="Georgia"/>
              </a:rPr>
              <a:t> </a:t>
            </a:r>
            <a:r>
              <a:rPr sz="2600" spc="-10" dirty="0">
                <a:solidFill>
                  <a:srgbClr val="2E377E"/>
                </a:solidFill>
                <a:latin typeface="Georgia"/>
                <a:cs typeface="Georgia"/>
              </a:rPr>
              <a:t>https://storage.googleapis.com/minikube/releases/latest/minikube-</a:t>
            </a:r>
            <a:r>
              <a:rPr sz="2600" dirty="0">
                <a:solidFill>
                  <a:srgbClr val="2E377E"/>
                </a:solidFill>
                <a:latin typeface="Georgia"/>
                <a:cs typeface="Georgia"/>
              </a:rPr>
              <a:t>linux-</a:t>
            </a:r>
            <a:r>
              <a:rPr sz="2600" spc="-20" dirty="0">
                <a:solidFill>
                  <a:srgbClr val="2E377E"/>
                </a:solidFill>
                <a:latin typeface="Georgia"/>
                <a:cs typeface="Georgia"/>
              </a:rPr>
              <a:t>amd64</a:t>
            </a:r>
            <a:endParaRPr sz="2600">
              <a:latin typeface="Georgia"/>
              <a:cs typeface="Georgia"/>
            </a:endParaRPr>
          </a:p>
          <a:p>
            <a:pPr marL="635635" indent="-241300">
              <a:lnSpc>
                <a:spcPct val="100000"/>
              </a:lnSpc>
              <a:spcBef>
                <a:spcPts val="405"/>
              </a:spcBef>
              <a:buAutoNum type="arabicPlain" startAt="5"/>
              <a:tabLst>
                <a:tab pos="635635" algn="l"/>
              </a:tabLst>
            </a:pPr>
            <a:r>
              <a:rPr sz="2600" dirty="0">
                <a:solidFill>
                  <a:srgbClr val="2E377E"/>
                </a:solidFill>
                <a:latin typeface="Georgia"/>
                <a:cs typeface="Georgia"/>
              </a:rPr>
              <a:t>sudo</a:t>
            </a:r>
            <a:r>
              <a:rPr sz="2600" spc="85" dirty="0">
                <a:solidFill>
                  <a:srgbClr val="2E377E"/>
                </a:solidFill>
                <a:latin typeface="Georgia"/>
                <a:cs typeface="Georgia"/>
              </a:rPr>
              <a:t> </a:t>
            </a:r>
            <a:r>
              <a:rPr sz="2600" spc="90" dirty="0">
                <a:solidFill>
                  <a:srgbClr val="2E377E"/>
                </a:solidFill>
                <a:latin typeface="Georgia"/>
                <a:cs typeface="Georgia"/>
              </a:rPr>
              <a:t>mv </a:t>
            </a:r>
            <a:r>
              <a:rPr sz="2600" dirty="0">
                <a:solidFill>
                  <a:srgbClr val="2E377E"/>
                </a:solidFill>
                <a:latin typeface="Georgia"/>
                <a:cs typeface="Georgia"/>
              </a:rPr>
              <a:t>minikube-linux-</a:t>
            </a:r>
            <a:r>
              <a:rPr sz="2600" spc="-60" dirty="0">
                <a:solidFill>
                  <a:srgbClr val="2E377E"/>
                </a:solidFill>
                <a:latin typeface="Georgia"/>
                <a:cs typeface="Georgia"/>
              </a:rPr>
              <a:t>amd64</a:t>
            </a:r>
            <a:r>
              <a:rPr sz="2600" spc="90" dirty="0">
                <a:solidFill>
                  <a:srgbClr val="2E377E"/>
                </a:solidFill>
                <a:latin typeface="Georgia"/>
                <a:cs typeface="Georgia"/>
              </a:rPr>
              <a:t> </a:t>
            </a:r>
            <a:r>
              <a:rPr sz="2600" spc="-10" dirty="0">
                <a:solidFill>
                  <a:srgbClr val="2E377E"/>
                </a:solidFill>
                <a:latin typeface="Georgia"/>
                <a:cs typeface="Georgia"/>
              </a:rPr>
              <a:t>/usr/local/bin/minikube</a:t>
            </a:r>
            <a:endParaRPr sz="2600">
              <a:latin typeface="Georgia"/>
              <a:cs typeface="Georgia"/>
            </a:endParaRPr>
          </a:p>
          <a:p>
            <a:pPr marL="681990" indent="-213360">
              <a:lnSpc>
                <a:spcPct val="100000"/>
              </a:lnSpc>
              <a:spcBef>
                <a:spcPts val="405"/>
              </a:spcBef>
              <a:buAutoNum type="arabicPlain" startAt="5"/>
              <a:tabLst>
                <a:tab pos="681990" algn="l"/>
              </a:tabLst>
            </a:pPr>
            <a:r>
              <a:rPr sz="2600" dirty="0">
                <a:solidFill>
                  <a:srgbClr val="2E377E"/>
                </a:solidFill>
                <a:latin typeface="Georgia"/>
                <a:cs typeface="Georgia"/>
              </a:rPr>
              <a:t>sudo</a:t>
            </a:r>
            <a:r>
              <a:rPr sz="2600" spc="5" dirty="0">
                <a:solidFill>
                  <a:srgbClr val="2E377E"/>
                </a:solidFill>
                <a:latin typeface="Georgia"/>
                <a:cs typeface="Georgia"/>
              </a:rPr>
              <a:t> </a:t>
            </a:r>
            <a:r>
              <a:rPr sz="2600" dirty="0">
                <a:solidFill>
                  <a:srgbClr val="2E377E"/>
                </a:solidFill>
                <a:latin typeface="Georgia"/>
                <a:cs typeface="Georgia"/>
              </a:rPr>
              <a:t>chmod</a:t>
            </a:r>
            <a:r>
              <a:rPr sz="2600" spc="5" dirty="0">
                <a:solidFill>
                  <a:srgbClr val="2E377E"/>
                </a:solidFill>
                <a:latin typeface="Georgia"/>
                <a:cs typeface="Georgia"/>
              </a:rPr>
              <a:t> </a:t>
            </a:r>
            <a:r>
              <a:rPr sz="2600" spc="-60" dirty="0">
                <a:solidFill>
                  <a:srgbClr val="2E377E"/>
                </a:solidFill>
                <a:latin typeface="Georgia"/>
                <a:cs typeface="Georgia"/>
              </a:rPr>
              <a:t>+x</a:t>
            </a:r>
            <a:r>
              <a:rPr sz="2600" spc="5" dirty="0">
                <a:solidFill>
                  <a:srgbClr val="2E377E"/>
                </a:solidFill>
                <a:latin typeface="Georgia"/>
                <a:cs typeface="Georgia"/>
              </a:rPr>
              <a:t> </a:t>
            </a:r>
            <a:r>
              <a:rPr sz="2600" spc="-10" dirty="0">
                <a:solidFill>
                  <a:srgbClr val="2E377E"/>
                </a:solidFill>
                <a:latin typeface="Georgia"/>
                <a:cs typeface="Georgia"/>
              </a:rPr>
              <a:t>/usr/local/bin/minikube</a:t>
            </a:r>
            <a:endParaRPr sz="2600">
              <a:latin typeface="Georgia"/>
              <a:cs typeface="Georgia"/>
            </a:endParaRPr>
          </a:p>
          <a:p>
            <a:pPr marL="636905" indent="-242570">
              <a:lnSpc>
                <a:spcPct val="100000"/>
              </a:lnSpc>
              <a:spcBef>
                <a:spcPts val="405"/>
              </a:spcBef>
              <a:buAutoNum type="arabicPlain" startAt="5"/>
              <a:tabLst>
                <a:tab pos="636905" algn="l"/>
              </a:tabLst>
            </a:pPr>
            <a:r>
              <a:rPr sz="2600" dirty="0">
                <a:solidFill>
                  <a:srgbClr val="2E377E"/>
                </a:solidFill>
                <a:latin typeface="Georgia"/>
                <a:cs typeface="Georgia"/>
              </a:rPr>
              <a:t>sudo</a:t>
            </a:r>
            <a:r>
              <a:rPr sz="2600" spc="90" dirty="0">
                <a:solidFill>
                  <a:srgbClr val="2E377E"/>
                </a:solidFill>
                <a:latin typeface="Georgia"/>
                <a:cs typeface="Georgia"/>
              </a:rPr>
              <a:t> </a:t>
            </a:r>
            <a:r>
              <a:rPr sz="2600" dirty="0">
                <a:solidFill>
                  <a:srgbClr val="2E377E"/>
                </a:solidFill>
                <a:latin typeface="Georgia"/>
                <a:cs typeface="Georgia"/>
              </a:rPr>
              <a:t>minikube</a:t>
            </a:r>
            <a:r>
              <a:rPr sz="2600" spc="95" dirty="0">
                <a:solidFill>
                  <a:srgbClr val="2E377E"/>
                </a:solidFill>
                <a:latin typeface="Georgia"/>
                <a:cs typeface="Georgia"/>
              </a:rPr>
              <a:t> </a:t>
            </a:r>
            <a:r>
              <a:rPr sz="2600" spc="-10" dirty="0">
                <a:solidFill>
                  <a:srgbClr val="2E377E"/>
                </a:solidFill>
                <a:latin typeface="Georgia"/>
                <a:cs typeface="Georgia"/>
              </a:rPr>
              <a:t>version</a:t>
            </a:r>
            <a:endParaRPr sz="2600">
              <a:latin typeface="Georgia"/>
              <a:cs typeface="Georgia"/>
            </a:endParaRPr>
          </a:p>
          <a:p>
            <a:pPr marL="394335">
              <a:lnSpc>
                <a:spcPct val="100000"/>
              </a:lnSpc>
              <a:spcBef>
                <a:spcPts val="284"/>
              </a:spcBef>
              <a:tabLst>
                <a:tab pos="3356610" algn="l"/>
              </a:tabLst>
            </a:pPr>
            <a:r>
              <a:rPr sz="2600" b="1" u="heavy" spc="-275" dirty="0">
                <a:solidFill>
                  <a:srgbClr val="FF3131"/>
                </a:solidFill>
                <a:uFill>
                  <a:solidFill>
                    <a:srgbClr val="FF3131"/>
                  </a:solidFill>
                </a:uFill>
                <a:latin typeface="Times New Roman"/>
                <a:cs typeface="Times New Roman"/>
              </a:rPr>
              <a:t>INSTALL</a:t>
            </a:r>
            <a:r>
              <a:rPr sz="2600" b="1" u="heavy" spc="-70" dirty="0">
                <a:solidFill>
                  <a:srgbClr val="FF3131"/>
                </a:solidFill>
                <a:uFill>
                  <a:solidFill>
                    <a:srgbClr val="FF3131"/>
                  </a:solidFill>
                </a:uFill>
                <a:latin typeface="Times New Roman"/>
                <a:cs typeface="Times New Roman"/>
              </a:rPr>
              <a:t> </a:t>
            </a:r>
            <a:r>
              <a:rPr sz="2600" b="1" u="heavy" spc="-320" dirty="0">
                <a:solidFill>
                  <a:srgbClr val="FF3131"/>
                </a:solidFill>
                <a:uFill>
                  <a:solidFill>
                    <a:srgbClr val="FF3131"/>
                  </a:solidFill>
                </a:uFill>
                <a:latin typeface="Times New Roman"/>
                <a:cs typeface="Times New Roman"/>
              </a:rPr>
              <a:t>KUBECTL:</a:t>
            </a:r>
            <a:r>
              <a:rPr sz="2600" b="1" u="heavy" dirty="0">
                <a:solidFill>
                  <a:srgbClr val="FF3131"/>
                </a:solidFill>
                <a:uFill>
                  <a:solidFill>
                    <a:srgbClr val="FF3131"/>
                  </a:solidFill>
                </a:uFill>
                <a:latin typeface="Times New Roman"/>
                <a:cs typeface="Times New Roman"/>
              </a:rPr>
              <a:t>	</a:t>
            </a:r>
            <a:endParaRPr sz="2600">
              <a:latin typeface="Times New Roman"/>
              <a:cs typeface="Times New Roman"/>
            </a:endParaRPr>
          </a:p>
          <a:p>
            <a:pPr marL="327025" indent="-240665">
              <a:lnSpc>
                <a:spcPct val="100000"/>
              </a:lnSpc>
              <a:spcBef>
                <a:spcPts val="1415"/>
              </a:spcBef>
              <a:buAutoNum type="arabicPlain" startAt="9"/>
              <a:tabLst>
                <a:tab pos="327025" algn="l"/>
              </a:tabLst>
            </a:pPr>
            <a:r>
              <a:rPr sz="2600" dirty="0">
                <a:solidFill>
                  <a:srgbClr val="2E377E"/>
                </a:solidFill>
                <a:latin typeface="Georgia"/>
                <a:cs typeface="Georgia"/>
              </a:rPr>
              <a:t>sudo</a:t>
            </a:r>
            <a:r>
              <a:rPr sz="2600" spc="-25" dirty="0">
                <a:solidFill>
                  <a:srgbClr val="2E377E"/>
                </a:solidFill>
                <a:latin typeface="Georgia"/>
                <a:cs typeface="Georgia"/>
              </a:rPr>
              <a:t> </a:t>
            </a:r>
            <a:r>
              <a:rPr sz="2600" dirty="0">
                <a:solidFill>
                  <a:srgbClr val="2E377E"/>
                </a:solidFill>
                <a:latin typeface="Georgia"/>
                <a:cs typeface="Georgia"/>
              </a:rPr>
              <a:t>curl</a:t>
            </a:r>
            <a:r>
              <a:rPr sz="2600" spc="-20" dirty="0">
                <a:solidFill>
                  <a:srgbClr val="2E377E"/>
                </a:solidFill>
                <a:latin typeface="Georgia"/>
                <a:cs typeface="Georgia"/>
              </a:rPr>
              <a:t> </a:t>
            </a:r>
            <a:r>
              <a:rPr sz="2600" dirty="0">
                <a:solidFill>
                  <a:srgbClr val="2E377E"/>
                </a:solidFill>
                <a:latin typeface="Georgia"/>
                <a:cs typeface="Georgia"/>
              </a:rPr>
              <a:t>-</a:t>
            </a:r>
            <a:r>
              <a:rPr sz="2600" spc="-35" dirty="0">
                <a:solidFill>
                  <a:srgbClr val="2E377E"/>
                </a:solidFill>
                <a:latin typeface="Georgia"/>
                <a:cs typeface="Georgia"/>
              </a:rPr>
              <a:t>LO</a:t>
            </a:r>
            <a:r>
              <a:rPr sz="2600" spc="-20" dirty="0">
                <a:solidFill>
                  <a:srgbClr val="2E377E"/>
                </a:solidFill>
                <a:latin typeface="Georgia"/>
                <a:cs typeface="Georgia"/>
              </a:rPr>
              <a:t> </a:t>
            </a:r>
            <a:r>
              <a:rPr sz="2600" spc="-50" dirty="0">
                <a:solidFill>
                  <a:srgbClr val="2E377E"/>
                </a:solidFill>
                <a:latin typeface="Georgia"/>
                <a:cs typeface="Georgia"/>
              </a:rPr>
              <a:t>"https://dl.k8s.io/release/$(curl</a:t>
            </a:r>
            <a:r>
              <a:rPr sz="2600" spc="-25" dirty="0">
                <a:solidFill>
                  <a:srgbClr val="2E377E"/>
                </a:solidFill>
                <a:latin typeface="Georgia"/>
                <a:cs typeface="Georgia"/>
              </a:rPr>
              <a:t> </a:t>
            </a:r>
            <a:r>
              <a:rPr sz="2600" dirty="0">
                <a:solidFill>
                  <a:srgbClr val="2E377E"/>
                </a:solidFill>
                <a:latin typeface="Georgia"/>
                <a:cs typeface="Georgia"/>
              </a:rPr>
              <a:t>-L</a:t>
            </a:r>
            <a:r>
              <a:rPr sz="2600" spc="-20" dirty="0">
                <a:solidFill>
                  <a:srgbClr val="2E377E"/>
                </a:solidFill>
                <a:latin typeface="Georgia"/>
                <a:cs typeface="Georgia"/>
              </a:rPr>
              <a:t> </a:t>
            </a:r>
            <a:r>
              <a:rPr sz="2600" dirty="0">
                <a:solidFill>
                  <a:srgbClr val="2E377E"/>
                </a:solidFill>
                <a:latin typeface="Georgia"/>
                <a:cs typeface="Georgia"/>
              </a:rPr>
              <a:t>-s</a:t>
            </a:r>
            <a:r>
              <a:rPr sz="2600" spc="-20" dirty="0">
                <a:solidFill>
                  <a:srgbClr val="2E377E"/>
                </a:solidFill>
                <a:latin typeface="Georgia"/>
                <a:cs typeface="Georgia"/>
              </a:rPr>
              <a:t> </a:t>
            </a:r>
            <a:r>
              <a:rPr sz="2600" spc="-10" dirty="0">
                <a:solidFill>
                  <a:srgbClr val="2E377E"/>
                </a:solidFill>
                <a:latin typeface="Georgia"/>
                <a:cs typeface="Georgia"/>
              </a:rPr>
              <a:t>https://dl.k8s.io/release/stable.txt)/bin/linux/amd64/kubectl"</a:t>
            </a:r>
            <a:endParaRPr sz="2600">
              <a:latin typeface="Georgia"/>
              <a:cs typeface="Georgia"/>
            </a:endParaRPr>
          </a:p>
          <a:p>
            <a:pPr marL="511809" indent="-416559">
              <a:lnSpc>
                <a:spcPct val="100000"/>
              </a:lnSpc>
              <a:spcBef>
                <a:spcPts val="405"/>
              </a:spcBef>
              <a:buAutoNum type="arabicPlain" startAt="9"/>
              <a:tabLst>
                <a:tab pos="511809" algn="l"/>
              </a:tabLst>
            </a:pPr>
            <a:r>
              <a:rPr sz="2600" dirty="0">
                <a:solidFill>
                  <a:srgbClr val="2E377E"/>
                </a:solidFill>
                <a:latin typeface="Georgia"/>
                <a:cs typeface="Georgia"/>
              </a:rPr>
              <a:t>sudo</a:t>
            </a:r>
            <a:r>
              <a:rPr sz="2600" spc="30" dirty="0">
                <a:solidFill>
                  <a:srgbClr val="2E377E"/>
                </a:solidFill>
                <a:latin typeface="Georgia"/>
                <a:cs typeface="Georgia"/>
              </a:rPr>
              <a:t> </a:t>
            </a:r>
            <a:r>
              <a:rPr sz="2600" dirty="0">
                <a:solidFill>
                  <a:srgbClr val="2E377E"/>
                </a:solidFill>
                <a:latin typeface="Georgia"/>
                <a:cs typeface="Georgia"/>
              </a:rPr>
              <a:t>curl</a:t>
            </a:r>
            <a:r>
              <a:rPr sz="2600" spc="30" dirty="0">
                <a:solidFill>
                  <a:srgbClr val="2E377E"/>
                </a:solidFill>
                <a:latin typeface="Georgia"/>
                <a:cs typeface="Georgia"/>
              </a:rPr>
              <a:t> </a:t>
            </a:r>
            <a:r>
              <a:rPr sz="2600" dirty="0">
                <a:solidFill>
                  <a:srgbClr val="2E377E"/>
                </a:solidFill>
                <a:latin typeface="Georgia"/>
                <a:cs typeface="Georgia"/>
              </a:rPr>
              <a:t>-LO</a:t>
            </a:r>
            <a:r>
              <a:rPr sz="2600" spc="35" dirty="0">
                <a:solidFill>
                  <a:srgbClr val="2E377E"/>
                </a:solidFill>
                <a:latin typeface="Georgia"/>
                <a:cs typeface="Georgia"/>
              </a:rPr>
              <a:t> </a:t>
            </a:r>
            <a:r>
              <a:rPr sz="2600" spc="-60" dirty="0">
                <a:solidFill>
                  <a:srgbClr val="2E377E"/>
                </a:solidFill>
                <a:latin typeface="Georgia"/>
                <a:cs typeface="Georgia"/>
              </a:rPr>
              <a:t>"https://dl.k8s.io/$(curl</a:t>
            </a:r>
            <a:r>
              <a:rPr sz="2600" spc="30" dirty="0">
                <a:solidFill>
                  <a:srgbClr val="2E377E"/>
                </a:solidFill>
                <a:latin typeface="Georgia"/>
                <a:cs typeface="Georgia"/>
              </a:rPr>
              <a:t> </a:t>
            </a:r>
            <a:r>
              <a:rPr sz="2600" dirty="0">
                <a:solidFill>
                  <a:srgbClr val="2E377E"/>
                </a:solidFill>
                <a:latin typeface="Georgia"/>
                <a:cs typeface="Georgia"/>
              </a:rPr>
              <a:t>-L</a:t>
            </a:r>
            <a:r>
              <a:rPr sz="2600" spc="35" dirty="0">
                <a:solidFill>
                  <a:srgbClr val="2E377E"/>
                </a:solidFill>
                <a:latin typeface="Georgia"/>
                <a:cs typeface="Georgia"/>
              </a:rPr>
              <a:t> </a:t>
            </a:r>
            <a:r>
              <a:rPr sz="2600" dirty="0">
                <a:solidFill>
                  <a:srgbClr val="2E377E"/>
                </a:solidFill>
                <a:latin typeface="Georgia"/>
                <a:cs typeface="Georgia"/>
              </a:rPr>
              <a:t>-s</a:t>
            </a:r>
            <a:r>
              <a:rPr sz="2600" spc="30" dirty="0">
                <a:solidFill>
                  <a:srgbClr val="2E377E"/>
                </a:solidFill>
                <a:latin typeface="Georgia"/>
                <a:cs typeface="Georgia"/>
              </a:rPr>
              <a:t> </a:t>
            </a:r>
            <a:r>
              <a:rPr sz="2600" spc="-30" dirty="0">
                <a:solidFill>
                  <a:srgbClr val="2E377E"/>
                </a:solidFill>
                <a:latin typeface="Georgia"/>
                <a:cs typeface="Georgia"/>
              </a:rPr>
              <a:t>https://dl.k8s.io/release/stable.txt)/bin/linux/amd64/kubectl.sha256"</a:t>
            </a:r>
            <a:endParaRPr sz="2600">
              <a:latin typeface="Georgia"/>
              <a:cs typeface="Georgia"/>
            </a:endParaRPr>
          </a:p>
          <a:p>
            <a:pPr marL="367665" indent="-354965">
              <a:lnSpc>
                <a:spcPct val="100000"/>
              </a:lnSpc>
              <a:spcBef>
                <a:spcPts val="405"/>
              </a:spcBef>
              <a:buAutoNum type="arabicPlain" startAt="9"/>
              <a:tabLst>
                <a:tab pos="367665" algn="l"/>
              </a:tabLst>
            </a:pPr>
            <a:r>
              <a:rPr sz="2600" dirty="0">
                <a:solidFill>
                  <a:srgbClr val="2E377E"/>
                </a:solidFill>
                <a:latin typeface="Georgia"/>
                <a:cs typeface="Georgia"/>
              </a:rPr>
              <a:t>sudo</a:t>
            </a:r>
            <a:r>
              <a:rPr sz="2600" spc="-20" dirty="0">
                <a:solidFill>
                  <a:srgbClr val="2E377E"/>
                </a:solidFill>
                <a:latin typeface="Georgia"/>
                <a:cs typeface="Georgia"/>
              </a:rPr>
              <a:t> </a:t>
            </a:r>
            <a:r>
              <a:rPr sz="2600" dirty="0">
                <a:solidFill>
                  <a:srgbClr val="2E377E"/>
                </a:solidFill>
                <a:latin typeface="Georgia"/>
                <a:cs typeface="Georgia"/>
              </a:rPr>
              <a:t>echo</a:t>
            </a:r>
            <a:r>
              <a:rPr sz="2600" spc="-20" dirty="0">
                <a:solidFill>
                  <a:srgbClr val="2E377E"/>
                </a:solidFill>
                <a:latin typeface="Georgia"/>
                <a:cs typeface="Georgia"/>
              </a:rPr>
              <a:t> </a:t>
            </a:r>
            <a:r>
              <a:rPr sz="2600" spc="-85" dirty="0">
                <a:solidFill>
                  <a:srgbClr val="2E377E"/>
                </a:solidFill>
                <a:latin typeface="Georgia"/>
                <a:cs typeface="Georgia"/>
              </a:rPr>
              <a:t>"$(cat</a:t>
            </a:r>
            <a:r>
              <a:rPr sz="2600" spc="-15" dirty="0">
                <a:solidFill>
                  <a:srgbClr val="2E377E"/>
                </a:solidFill>
                <a:latin typeface="Georgia"/>
                <a:cs typeface="Georgia"/>
              </a:rPr>
              <a:t> </a:t>
            </a:r>
            <a:r>
              <a:rPr sz="2600" spc="-35" dirty="0">
                <a:solidFill>
                  <a:srgbClr val="2E377E"/>
                </a:solidFill>
                <a:latin typeface="Georgia"/>
                <a:cs typeface="Georgia"/>
              </a:rPr>
              <a:t>kubectl.sha256)</a:t>
            </a:r>
            <a:r>
              <a:rPr sz="2600" spc="-20" dirty="0">
                <a:solidFill>
                  <a:srgbClr val="2E377E"/>
                </a:solidFill>
                <a:latin typeface="Georgia"/>
                <a:cs typeface="Georgia"/>
              </a:rPr>
              <a:t> </a:t>
            </a:r>
            <a:r>
              <a:rPr sz="2600" dirty="0">
                <a:solidFill>
                  <a:srgbClr val="2E377E"/>
                </a:solidFill>
                <a:latin typeface="Georgia"/>
                <a:cs typeface="Georgia"/>
              </a:rPr>
              <a:t>kubectl"</a:t>
            </a:r>
            <a:r>
              <a:rPr sz="2600" spc="-20" dirty="0">
                <a:solidFill>
                  <a:srgbClr val="2E377E"/>
                </a:solidFill>
                <a:latin typeface="Georgia"/>
                <a:cs typeface="Georgia"/>
              </a:rPr>
              <a:t> </a:t>
            </a:r>
            <a:r>
              <a:rPr sz="2600" spc="445" dirty="0">
                <a:solidFill>
                  <a:srgbClr val="2E377E"/>
                </a:solidFill>
                <a:latin typeface="Georgia"/>
                <a:cs typeface="Georgia"/>
              </a:rPr>
              <a:t>|</a:t>
            </a:r>
            <a:r>
              <a:rPr sz="2600" spc="-15" dirty="0">
                <a:solidFill>
                  <a:srgbClr val="2E377E"/>
                </a:solidFill>
                <a:latin typeface="Georgia"/>
                <a:cs typeface="Georgia"/>
              </a:rPr>
              <a:t> </a:t>
            </a:r>
            <a:r>
              <a:rPr sz="2600" spc="-35" dirty="0">
                <a:solidFill>
                  <a:srgbClr val="2E377E"/>
                </a:solidFill>
                <a:latin typeface="Georgia"/>
                <a:cs typeface="Georgia"/>
              </a:rPr>
              <a:t>sha256sum</a:t>
            </a:r>
            <a:r>
              <a:rPr sz="2600" spc="-20" dirty="0">
                <a:solidFill>
                  <a:srgbClr val="2E377E"/>
                </a:solidFill>
                <a:latin typeface="Georgia"/>
                <a:cs typeface="Georgia"/>
              </a:rPr>
              <a:t> </a:t>
            </a:r>
            <a:r>
              <a:rPr sz="2600" dirty="0">
                <a:solidFill>
                  <a:srgbClr val="2E377E"/>
                </a:solidFill>
                <a:latin typeface="Georgia"/>
                <a:cs typeface="Georgia"/>
              </a:rPr>
              <a:t>--</a:t>
            </a:r>
            <a:r>
              <a:rPr sz="2600" spc="-10" dirty="0">
                <a:solidFill>
                  <a:srgbClr val="2E377E"/>
                </a:solidFill>
                <a:latin typeface="Georgia"/>
                <a:cs typeface="Georgia"/>
              </a:rPr>
              <a:t>check</a:t>
            </a:r>
            <a:endParaRPr sz="2600">
              <a:latin typeface="Georgia"/>
              <a:cs typeface="Georgia"/>
            </a:endParaRPr>
          </a:p>
          <a:p>
            <a:pPr marL="388620" indent="-375920">
              <a:lnSpc>
                <a:spcPct val="100000"/>
              </a:lnSpc>
              <a:spcBef>
                <a:spcPts val="405"/>
              </a:spcBef>
              <a:buAutoNum type="arabicPlain" startAt="9"/>
              <a:tabLst>
                <a:tab pos="388620" algn="l"/>
              </a:tabLst>
            </a:pPr>
            <a:r>
              <a:rPr sz="2600" dirty="0">
                <a:solidFill>
                  <a:srgbClr val="2E377E"/>
                </a:solidFill>
                <a:latin typeface="Georgia"/>
                <a:cs typeface="Georgia"/>
              </a:rPr>
              <a:t>sudo</a:t>
            </a:r>
            <a:r>
              <a:rPr sz="2600" spc="40" dirty="0">
                <a:solidFill>
                  <a:srgbClr val="2E377E"/>
                </a:solidFill>
                <a:latin typeface="Georgia"/>
                <a:cs typeface="Georgia"/>
              </a:rPr>
              <a:t> </a:t>
            </a:r>
            <a:r>
              <a:rPr sz="2600" dirty="0">
                <a:solidFill>
                  <a:srgbClr val="2E377E"/>
                </a:solidFill>
                <a:latin typeface="Georgia"/>
                <a:cs typeface="Georgia"/>
              </a:rPr>
              <a:t>install</a:t>
            </a:r>
            <a:r>
              <a:rPr sz="2600" spc="45" dirty="0">
                <a:solidFill>
                  <a:srgbClr val="2E377E"/>
                </a:solidFill>
                <a:latin typeface="Georgia"/>
                <a:cs typeface="Georgia"/>
              </a:rPr>
              <a:t> </a:t>
            </a:r>
            <a:r>
              <a:rPr sz="2600" dirty="0">
                <a:solidFill>
                  <a:srgbClr val="2E377E"/>
                </a:solidFill>
                <a:latin typeface="Georgia"/>
                <a:cs typeface="Georgia"/>
              </a:rPr>
              <a:t>-o</a:t>
            </a:r>
            <a:r>
              <a:rPr sz="2600" spc="45" dirty="0">
                <a:solidFill>
                  <a:srgbClr val="2E377E"/>
                </a:solidFill>
                <a:latin typeface="Georgia"/>
                <a:cs typeface="Georgia"/>
              </a:rPr>
              <a:t> </a:t>
            </a:r>
            <a:r>
              <a:rPr sz="2600" dirty="0">
                <a:solidFill>
                  <a:srgbClr val="2E377E"/>
                </a:solidFill>
                <a:latin typeface="Georgia"/>
                <a:cs typeface="Georgia"/>
              </a:rPr>
              <a:t>root</a:t>
            </a:r>
            <a:r>
              <a:rPr sz="2600" spc="45" dirty="0">
                <a:solidFill>
                  <a:srgbClr val="2E377E"/>
                </a:solidFill>
                <a:latin typeface="Georgia"/>
                <a:cs typeface="Georgia"/>
              </a:rPr>
              <a:t> </a:t>
            </a:r>
            <a:r>
              <a:rPr sz="2600" dirty="0">
                <a:solidFill>
                  <a:srgbClr val="2E377E"/>
                </a:solidFill>
                <a:latin typeface="Georgia"/>
                <a:cs typeface="Georgia"/>
              </a:rPr>
              <a:t>-g</a:t>
            </a:r>
            <a:r>
              <a:rPr sz="2600" spc="45" dirty="0">
                <a:solidFill>
                  <a:srgbClr val="2E377E"/>
                </a:solidFill>
                <a:latin typeface="Georgia"/>
                <a:cs typeface="Georgia"/>
              </a:rPr>
              <a:t> </a:t>
            </a:r>
            <a:r>
              <a:rPr sz="2600" dirty="0">
                <a:solidFill>
                  <a:srgbClr val="2E377E"/>
                </a:solidFill>
                <a:latin typeface="Georgia"/>
                <a:cs typeface="Georgia"/>
              </a:rPr>
              <a:t>root</a:t>
            </a:r>
            <a:r>
              <a:rPr sz="2600" spc="45" dirty="0">
                <a:solidFill>
                  <a:srgbClr val="2E377E"/>
                </a:solidFill>
                <a:latin typeface="Georgia"/>
                <a:cs typeface="Georgia"/>
              </a:rPr>
              <a:t> </a:t>
            </a:r>
            <a:r>
              <a:rPr sz="2600" dirty="0">
                <a:solidFill>
                  <a:srgbClr val="2E377E"/>
                </a:solidFill>
                <a:latin typeface="Georgia"/>
                <a:cs typeface="Georgia"/>
              </a:rPr>
              <a:t>-m</a:t>
            </a:r>
            <a:r>
              <a:rPr sz="2600" spc="40" dirty="0">
                <a:solidFill>
                  <a:srgbClr val="2E377E"/>
                </a:solidFill>
                <a:latin typeface="Georgia"/>
                <a:cs typeface="Georgia"/>
              </a:rPr>
              <a:t> </a:t>
            </a:r>
            <a:r>
              <a:rPr sz="2600" spc="-145" dirty="0">
                <a:solidFill>
                  <a:srgbClr val="2E377E"/>
                </a:solidFill>
                <a:latin typeface="Georgia"/>
                <a:cs typeface="Georgia"/>
              </a:rPr>
              <a:t>0755</a:t>
            </a:r>
            <a:r>
              <a:rPr sz="2600" spc="45" dirty="0">
                <a:solidFill>
                  <a:srgbClr val="2E377E"/>
                </a:solidFill>
                <a:latin typeface="Georgia"/>
                <a:cs typeface="Georgia"/>
              </a:rPr>
              <a:t> </a:t>
            </a:r>
            <a:r>
              <a:rPr sz="2600" dirty="0">
                <a:solidFill>
                  <a:srgbClr val="2E377E"/>
                </a:solidFill>
                <a:latin typeface="Georgia"/>
                <a:cs typeface="Georgia"/>
              </a:rPr>
              <a:t>kubectl</a:t>
            </a:r>
            <a:r>
              <a:rPr sz="2600" spc="45" dirty="0">
                <a:solidFill>
                  <a:srgbClr val="2E377E"/>
                </a:solidFill>
                <a:latin typeface="Georgia"/>
                <a:cs typeface="Georgia"/>
              </a:rPr>
              <a:t> </a:t>
            </a:r>
            <a:r>
              <a:rPr sz="2600" spc="-10" dirty="0">
                <a:solidFill>
                  <a:srgbClr val="2E377E"/>
                </a:solidFill>
                <a:latin typeface="Georgia"/>
                <a:cs typeface="Georgia"/>
              </a:rPr>
              <a:t>/usr/local/bin/kubectl</a:t>
            </a:r>
            <a:endParaRPr sz="2600">
              <a:latin typeface="Georgia"/>
              <a:cs typeface="Georgia"/>
            </a:endParaRPr>
          </a:p>
          <a:p>
            <a:pPr marL="461009" indent="-374650">
              <a:lnSpc>
                <a:spcPct val="100000"/>
              </a:lnSpc>
              <a:spcBef>
                <a:spcPts val="405"/>
              </a:spcBef>
              <a:buAutoNum type="arabicPlain" startAt="9"/>
              <a:tabLst>
                <a:tab pos="461009" algn="l"/>
              </a:tabLst>
            </a:pPr>
            <a:r>
              <a:rPr sz="2600" dirty="0">
                <a:solidFill>
                  <a:srgbClr val="2E377E"/>
                </a:solidFill>
                <a:latin typeface="Georgia"/>
                <a:cs typeface="Georgia"/>
              </a:rPr>
              <a:t>sudo</a:t>
            </a:r>
            <a:r>
              <a:rPr sz="2600" spc="160" dirty="0">
                <a:solidFill>
                  <a:srgbClr val="2E377E"/>
                </a:solidFill>
                <a:latin typeface="Georgia"/>
                <a:cs typeface="Georgia"/>
              </a:rPr>
              <a:t> </a:t>
            </a:r>
            <a:r>
              <a:rPr sz="2600" dirty="0">
                <a:solidFill>
                  <a:srgbClr val="2E377E"/>
                </a:solidFill>
                <a:latin typeface="Georgia"/>
                <a:cs typeface="Georgia"/>
              </a:rPr>
              <a:t>kubectl</a:t>
            </a:r>
            <a:r>
              <a:rPr sz="2600" spc="160" dirty="0">
                <a:solidFill>
                  <a:srgbClr val="2E377E"/>
                </a:solidFill>
                <a:latin typeface="Georgia"/>
                <a:cs typeface="Georgia"/>
              </a:rPr>
              <a:t> </a:t>
            </a:r>
            <a:r>
              <a:rPr sz="2600" dirty="0">
                <a:solidFill>
                  <a:srgbClr val="2E377E"/>
                </a:solidFill>
                <a:latin typeface="Georgia"/>
                <a:cs typeface="Georgia"/>
              </a:rPr>
              <a:t>version</a:t>
            </a:r>
            <a:r>
              <a:rPr sz="2600" spc="160" dirty="0">
                <a:solidFill>
                  <a:srgbClr val="2E377E"/>
                </a:solidFill>
                <a:latin typeface="Georgia"/>
                <a:cs typeface="Georgia"/>
              </a:rPr>
              <a:t> </a:t>
            </a:r>
            <a:r>
              <a:rPr sz="2600" dirty="0">
                <a:solidFill>
                  <a:srgbClr val="2E377E"/>
                </a:solidFill>
                <a:latin typeface="Georgia"/>
                <a:cs typeface="Georgia"/>
              </a:rPr>
              <a:t>--</a:t>
            </a:r>
            <a:r>
              <a:rPr sz="2600" spc="-10" dirty="0">
                <a:solidFill>
                  <a:srgbClr val="2E377E"/>
                </a:solidFill>
                <a:latin typeface="Georgia"/>
                <a:cs typeface="Georgia"/>
              </a:rPr>
              <a:t>client</a:t>
            </a:r>
            <a:endParaRPr sz="2600">
              <a:latin typeface="Georgia"/>
              <a:cs typeface="Georgia"/>
            </a:endParaRPr>
          </a:p>
          <a:p>
            <a:pPr marL="464184" indent="-377825">
              <a:lnSpc>
                <a:spcPct val="100000"/>
              </a:lnSpc>
              <a:spcBef>
                <a:spcPts val="405"/>
              </a:spcBef>
              <a:buAutoNum type="arabicPlain" startAt="9"/>
              <a:tabLst>
                <a:tab pos="464184" algn="l"/>
              </a:tabLst>
            </a:pPr>
            <a:r>
              <a:rPr sz="2600" dirty="0">
                <a:solidFill>
                  <a:srgbClr val="2E377E"/>
                </a:solidFill>
                <a:latin typeface="Georgia"/>
                <a:cs typeface="Georgia"/>
              </a:rPr>
              <a:t>sudo</a:t>
            </a:r>
            <a:r>
              <a:rPr sz="2600" spc="155" dirty="0">
                <a:solidFill>
                  <a:srgbClr val="2E377E"/>
                </a:solidFill>
                <a:latin typeface="Georgia"/>
                <a:cs typeface="Georgia"/>
              </a:rPr>
              <a:t> </a:t>
            </a:r>
            <a:r>
              <a:rPr sz="2600" dirty="0">
                <a:solidFill>
                  <a:srgbClr val="2E377E"/>
                </a:solidFill>
                <a:latin typeface="Georgia"/>
                <a:cs typeface="Georgia"/>
              </a:rPr>
              <a:t>kubectl</a:t>
            </a:r>
            <a:r>
              <a:rPr sz="2600" spc="155" dirty="0">
                <a:solidFill>
                  <a:srgbClr val="2E377E"/>
                </a:solidFill>
                <a:latin typeface="Georgia"/>
                <a:cs typeface="Georgia"/>
              </a:rPr>
              <a:t> </a:t>
            </a:r>
            <a:r>
              <a:rPr sz="2600" dirty="0">
                <a:solidFill>
                  <a:srgbClr val="2E377E"/>
                </a:solidFill>
                <a:latin typeface="Georgia"/>
                <a:cs typeface="Georgia"/>
              </a:rPr>
              <a:t>version</a:t>
            </a:r>
            <a:r>
              <a:rPr sz="2600" spc="160" dirty="0">
                <a:solidFill>
                  <a:srgbClr val="2E377E"/>
                </a:solidFill>
                <a:latin typeface="Georgia"/>
                <a:cs typeface="Georgia"/>
              </a:rPr>
              <a:t> </a:t>
            </a:r>
            <a:r>
              <a:rPr sz="2600" dirty="0">
                <a:solidFill>
                  <a:srgbClr val="2E377E"/>
                </a:solidFill>
                <a:latin typeface="Georgia"/>
                <a:cs typeface="Georgia"/>
              </a:rPr>
              <a:t>--client</a:t>
            </a:r>
            <a:r>
              <a:rPr sz="2600" spc="155" dirty="0">
                <a:solidFill>
                  <a:srgbClr val="2E377E"/>
                </a:solidFill>
                <a:latin typeface="Georgia"/>
                <a:cs typeface="Georgia"/>
              </a:rPr>
              <a:t> </a:t>
            </a:r>
            <a:r>
              <a:rPr sz="2600" dirty="0">
                <a:solidFill>
                  <a:srgbClr val="2E377E"/>
                </a:solidFill>
                <a:latin typeface="Georgia"/>
                <a:cs typeface="Georgia"/>
              </a:rPr>
              <a:t>--</a:t>
            </a:r>
            <a:r>
              <a:rPr sz="2600" spc="-10" dirty="0">
                <a:solidFill>
                  <a:srgbClr val="2E377E"/>
                </a:solidFill>
                <a:latin typeface="Georgia"/>
                <a:cs typeface="Georgia"/>
              </a:rPr>
              <a:t>output=yaml</a:t>
            </a:r>
            <a:endParaRPr sz="2600">
              <a:latin typeface="Georgia"/>
              <a:cs typeface="Georgia"/>
            </a:endParaRPr>
          </a:p>
          <a:p>
            <a:pPr marL="386715" indent="-374015">
              <a:lnSpc>
                <a:spcPct val="100000"/>
              </a:lnSpc>
              <a:spcBef>
                <a:spcPts val="405"/>
              </a:spcBef>
              <a:buAutoNum type="arabicPlain" startAt="9"/>
              <a:tabLst>
                <a:tab pos="386715" algn="l"/>
              </a:tabLst>
            </a:pPr>
            <a:r>
              <a:rPr sz="2600" dirty="0">
                <a:solidFill>
                  <a:srgbClr val="2E377E"/>
                </a:solidFill>
                <a:latin typeface="Georgia"/>
                <a:cs typeface="Georgia"/>
              </a:rPr>
              <a:t>sudo</a:t>
            </a:r>
            <a:r>
              <a:rPr sz="2600" spc="140" dirty="0">
                <a:solidFill>
                  <a:srgbClr val="2E377E"/>
                </a:solidFill>
                <a:latin typeface="Georgia"/>
                <a:cs typeface="Georgia"/>
              </a:rPr>
              <a:t> </a:t>
            </a:r>
            <a:r>
              <a:rPr sz="2600" dirty="0">
                <a:solidFill>
                  <a:srgbClr val="2E377E"/>
                </a:solidFill>
                <a:latin typeface="Georgia"/>
                <a:cs typeface="Georgia"/>
              </a:rPr>
              <a:t>minikube</a:t>
            </a:r>
            <a:r>
              <a:rPr sz="2600" spc="140" dirty="0">
                <a:solidFill>
                  <a:srgbClr val="2E377E"/>
                </a:solidFill>
                <a:latin typeface="Georgia"/>
                <a:cs typeface="Georgia"/>
              </a:rPr>
              <a:t> </a:t>
            </a:r>
            <a:r>
              <a:rPr sz="2600" dirty="0">
                <a:solidFill>
                  <a:srgbClr val="2E377E"/>
                </a:solidFill>
                <a:latin typeface="Georgia"/>
                <a:cs typeface="Georgia"/>
              </a:rPr>
              <a:t>start</a:t>
            </a:r>
            <a:r>
              <a:rPr sz="2600" spc="145" dirty="0">
                <a:solidFill>
                  <a:srgbClr val="2E377E"/>
                </a:solidFill>
                <a:latin typeface="Georgia"/>
                <a:cs typeface="Georgia"/>
              </a:rPr>
              <a:t> </a:t>
            </a:r>
            <a:r>
              <a:rPr sz="2600" dirty="0">
                <a:solidFill>
                  <a:srgbClr val="2E377E"/>
                </a:solidFill>
                <a:latin typeface="Georgia"/>
                <a:cs typeface="Georgia"/>
              </a:rPr>
              <a:t>--driver=docker</a:t>
            </a:r>
            <a:r>
              <a:rPr sz="2600" spc="140" dirty="0">
                <a:solidFill>
                  <a:srgbClr val="2E377E"/>
                </a:solidFill>
                <a:latin typeface="Georgia"/>
                <a:cs typeface="Georgia"/>
              </a:rPr>
              <a:t> </a:t>
            </a:r>
            <a:r>
              <a:rPr sz="2600" dirty="0">
                <a:solidFill>
                  <a:srgbClr val="2E377E"/>
                </a:solidFill>
                <a:latin typeface="Georgia"/>
                <a:cs typeface="Georgia"/>
              </a:rPr>
              <a:t>--</a:t>
            </a:r>
            <a:r>
              <a:rPr sz="2600" spc="-10" dirty="0">
                <a:solidFill>
                  <a:srgbClr val="2E377E"/>
                </a:solidFill>
                <a:latin typeface="Georgia"/>
                <a:cs typeface="Georgia"/>
              </a:rPr>
              <a:t>force</a:t>
            </a:r>
            <a:endParaRPr sz="2600">
              <a:latin typeface="Georgia"/>
              <a:cs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26486" y="1998087"/>
            <a:ext cx="142875" cy="143129"/>
          </a:xfrm>
          <a:prstGeom prst="rect">
            <a:avLst/>
          </a:prstGeom>
        </p:spPr>
      </p:pic>
      <p:pic>
        <p:nvPicPr>
          <p:cNvPr id="3" name="object 3"/>
          <p:cNvPicPr/>
          <p:nvPr/>
        </p:nvPicPr>
        <p:blipFill>
          <a:blip r:embed="rId2" cstate="print"/>
          <a:stretch>
            <a:fillRect/>
          </a:stretch>
        </p:blipFill>
        <p:spPr>
          <a:xfrm>
            <a:off x="1226486" y="2655312"/>
            <a:ext cx="142875" cy="143129"/>
          </a:xfrm>
          <a:prstGeom prst="rect">
            <a:avLst/>
          </a:prstGeom>
        </p:spPr>
      </p:pic>
      <p:pic>
        <p:nvPicPr>
          <p:cNvPr id="4" name="object 4"/>
          <p:cNvPicPr/>
          <p:nvPr/>
        </p:nvPicPr>
        <p:blipFill>
          <a:blip r:embed="rId2" cstate="print"/>
          <a:stretch>
            <a:fillRect/>
          </a:stretch>
        </p:blipFill>
        <p:spPr>
          <a:xfrm>
            <a:off x="1226486" y="3312537"/>
            <a:ext cx="142875" cy="143129"/>
          </a:xfrm>
          <a:prstGeom prst="rect">
            <a:avLst/>
          </a:prstGeom>
        </p:spPr>
      </p:pic>
      <p:pic>
        <p:nvPicPr>
          <p:cNvPr id="5" name="object 5"/>
          <p:cNvPicPr/>
          <p:nvPr/>
        </p:nvPicPr>
        <p:blipFill>
          <a:blip r:embed="rId2" cstate="print"/>
          <a:stretch>
            <a:fillRect/>
          </a:stretch>
        </p:blipFill>
        <p:spPr>
          <a:xfrm>
            <a:off x="1226486" y="3969762"/>
            <a:ext cx="142875" cy="143129"/>
          </a:xfrm>
          <a:prstGeom prst="rect">
            <a:avLst/>
          </a:prstGeom>
        </p:spPr>
      </p:pic>
      <p:pic>
        <p:nvPicPr>
          <p:cNvPr id="6" name="object 6"/>
          <p:cNvPicPr/>
          <p:nvPr/>
        </p:nvPicPr>
        <p:blipFill>
          <a:blip r:embed="rId2" cstate="print"/>
          <a:stretch>
            <a:fillRect/>
          </a:stretch>
        </p:blipFill>
        <p:spPr>
          <a:xfrm>
            <a:off x="1226486" y="4626987"/>
            <a:ext cx="142875" cy="143129"/>
          </a:xfrm>
          <a:prstGeom prst="rect">
            <a:avLst/>
          </a:prstGeom>
        </p:spPr>
      </p:pic>
      <p:pic>
        <p:nvPicPr>
          <p:cNvPr id="7" name="object 7"/>
          <p:cNvPicPr/>
          <p:nvPr/>
        </p:nvPicPr>
        <p:blipFill>
          <a:blip r:embed="rId3" cstate="print"/>
          <a:stretch>
            <a:fillRect/>
          </a:stretch>
        </p:blipFill>
        <p:spPr>
          <a:xfrm>
            <a:off x="1226486" y="5284212"/>
            <a:ext cx="142875" cy="143002"/>
          </a:xfrm>
          <a:prstGeom prst="rect">
            <a:avLst/>
          </a:prstGeom>
        </p:spPr>
      </p:pic>
      <p:pic>
        <p:nvPicPr>
          <p:cNvPr id="8" name="object 8"/>
          <p:cNvPicPr/>
          <p:nvPr/>
        </p:nvPicPr>
        <p:blipFill>
          <a:blip r:embed="rId2" cstate="print"/>
          <a:stretch>
            <a:fillRect/>
          </a:stretch>
        </p:blipFill>
        <p:spPr>
          <a:xfrm>
            <a:off x="1226486" y="5941437"/>
            <a:ext cx="142875" cy="143129"/>
          </a:xfrm>
          <a:prstGeom prst="rect">
            <a:avLst/>
          </a:prstGeom>
        </p:spPr>
      </p:pic>
      <p:sp>
        <p:nvSpPr>
          <p:cNvPr id="9" name="object 9"/>
          <p:cNvSpPr txBox="1">
            <a:spLocks noGrp="1"/>
          </p:cNvSpPr>
          <p:nvPr>
            <p:ph type="title"/>
          </p:nvPr>
        </p:nvSpPr>
        <p:spPr>
          <a:prstGeom prst="rect">
            <a:avLst/>
          </a:prstGeom>
        </p:spPr>
        <p:txBody>
          <a:bodyPr vert="horz" wrap="square" lIns="0" tIns="215463" rIns="0" bIns="0" rtlCol="0">
            <a:spAutoFit/>
          </a:bodyPr>
          <a:lstStyle/>
          <a:p>
            <a:pPr marL="193675">
              <a:lnSpc>
                <a:spcPct val="100000"/>
              </a:lnSpc>
              <a:spcBef>
                <a:spcPts val="100"/>
              </a:spcBef>
            </a:pPr>
            <a:r>
              <a:rPr spc="-400" dirty="0">
                <a:solidFill>
                  <a:srgbClr val="FF3131"/>
                </a:solidFill>
              </a:rPr>
              <a:t>KUBECTL:</a:t>
            </a:r>
          </a:p>
        </p:txBody>
      </p:sp>
      <p:sp>
        <p:nvSpPr>
          <p:cNvPr id="10" name="object 10"/>
          <p:cNvSpPr txBox="1"/>
          <p:nvPr/>
        </p:nvSpPr>
        <p:spPr>
          <a:xfrm>
            <a:off x="1016000" y="1683955"/>
            <a:ext cx="15909925" cy="7386320"/>
          </a:xfrm>
          <a:prstGeom prst="rect">
            <a:avLst/>
          </a:prstGeom>
        </p:spPr>
        <p:txBody>
          <a:bodyPr vert="horz" wrap="square" lIns="0" tIns="12065" rIns="0" bIns="0" rtlCol="0">
            <a:spAutoFit/>
          </a:bodyPr>
          <a:lstStyle/>
          <a:p>
            <a:pPr marL="561340" marR="5080">
              <a:lnSpc>
                <a:spcPct val="116599"/>
              </a:lnSpc>
              <a:spcBef>
                <a:spcPts val="95"/>
              </a:spcBef>
            </a:pPr>
            <a:r>
              <a:rPr sz="3700" spc="50" dirty="0">
                <a:solidFill>
                  <a:srgbClr val="2E377E"/>
                </a:solidFill>
                <a:latin typeface="Georgia"/>
                <a:cs typeface="Georgia"/>
              </a:rPr>
              <a:t>kubectl</a:t>
            </a:r>
            <a:r>
              <a:rPr sz="3700" spc="-30" dirty="0">
                <a:solidFill>
                  <a:srgbClr val="2E377E"/>
                </a:solidFill>
                <a:latin typeface="Georgia"/>
                <a:cs typeface="Georgia"/>
              </a:rPr>
              <a:t> </a:t>
            </a:r>
            <a:r>
              <a:rPr sz="3700" dirty="0">
                <a:solidFill>
                  <a:srgbClr val="2E377E"/>
                </a:solidFill>
                <a:latin typeface="Georgia"/>
                <a:cs typeface="Georgia"/>
              </a:rPr>
              <a:t>is</a:t>
            </a:r>
            <a:r>
              <a:rPr sz="3700" spc="-25" dirty="0">
                <a:solidFill>
                  <a:srgbClr val="2E377E"/>
                </a:solidFill>
                <a:latin typeface="Georgia"/>
                <a:cs typeface="Georgia"/>
              </a:rPr>
              <a:t> </a:t>
            </a:r>
            <a:r>
              <a:rPr sz="3700" spc="60" dirty="0">
                <a:solidFill>
                  <a:srgbClr val="2E377E"/>
                </a:solidFill>
                <a:latin typeface="Georgia"/>
                <a:cs typeface="Georgia"/>
              </a:rPr>
              <a:t>the</a:t>
            </a:r>
            <a:r>
              <a:rPr sz="3700" spc="-25" dirty="0">
                <a:solidFill>
                  <a:srgbClr val="2E377E"/>
                </a:solidFill>
                <a:latin typeface="Georgia"/>
                <a:cs typeface="Georgia"/>
              </a:rPr>
              <a:t> </a:t>
            </a:r>
            <a:r>
              <a:rPr sz="3700" spc="-60" dirty="0">
                <a:solidFill>
                  <a:srgbClr val="2E377E"/>
                </a:solidFill>
                <a:latin typeface="Georgia"/>
                <a:cs typeface="Georgia"/>
              </a:rPr>
              <a:t>CLI</a:t>
            </a:r>
            <a:r>
              <a:rPr sz="3700" spc="-25" dirty="0">
                <a:solidFill>
                  <a:srgbClr val="2E377E"/>
                </a:solidFill>
                <a:latin typeface="Georgia"/>
                <a:cs typeface="Georgia"/>
              </a:rPr>
              <a:t> </a:t>
            </a:r>
            <a:r>
              <a:rPr sz="3700" spc="60" dirty="0">
                <a:solidFill>
                  <a:srgbClr val="2E377E"/>
                </a:solidFill>
                <a:latin typeface="Georgia"/>
                <a:cs typeface="Georgia"/>
              </a:rPr>
              <a:t>which</a:t>
            </a:r>
            <a:r>
              <a:rPr sz="3700" spc="-25" dirty="0">
                <a:solidFill>
                  <a:srgbClr val="2E377E"/>
                </a:solidFill>
                <a:latin typeface="Georgia"/>
                <a:cs typeface="Georgia"/>
              </a:rPr>
              <a:t> </a:t>
            </a:r>
            <a:r>
              <a:rPr sz="3700" dirty="0">
                <a:solidFill>
                  <a:srgbClr val="2E377E"/>
                </a:solidFill>
                <a:latin typeface="Georgia"/>
                <a:cs typeface="Georgia"/>
              </a:rPr>
              <a:t>is</a:t>
            </a:r>
            <a:r>
              <a:rPr sz="3700" spc="-30" dirty="0">
                <a:solidFill>
                  <a:srgbClr val="2E377E"/>
                </a:solidFill>
                <a:latin typeface="Georgia"/>
                <a:cs typeface="Georgia"/>
              </a:rPr>
              <a:t> </a:t>
            </a:r>
            <a:r>
              <a:rPr sz="3700" dirty="0">
                <a:solidFill>
                  <a:srgbClr val="2E377E"/>
                </a:solidFill>
                <a:latin typeface="Georgia"/>
                <a:cs typeface="Georgia"/>
              </a:rPr>
              <a:t>used</a:t>
            </a:r>
            <a:r>
              <a:rPr sz="3700" spc="-25" dirty="0">
                <a:solidFill>
                  <a:srgbClr val="2E377E"/>
                </a:solidFill>
                <a:latin typeface="Georgia"/>
                <a:cs typeface="Georgia"/>
              </a:rPr>
              <a:t> </a:t>
            </a:r>
            <a:r>
              <a:rPr sz="3700" spc="60" dirty="0">
                <a:solidFill>
                  <a:srgbClr val="2E377E"/>
                </a:solidFill>
                <a:latin typeface="Georgia"/>
                <a:cs typeface="Georgia"/>
              </a:rPr>
              <a:t>to</a:t>
            </a:r>
            <a:r>
              <a:rPr sz="3700" spc="-25" dirty="0">
                <a:solidFill>
                  <a:srgbClr val="2E377E"/>
                </a:solidFill>
                <a:latin typeface="Georgia"/>
                <a:cs typeface="Georgia"/>
              </a:rPr>
              <a:t> </a:t>
            </a:r>
            <a:r>
              <a:rPr sz="3700" spc="45" dirty="0">
                <a:solidFill>
                  <a:srgbClr val="2E377E"/>
                </a:solidFill>
                <a:latin typeface="Georgia"/>
                <a:cs typeface="Georgia"/>
              </a:rPr>
              <a:t>interact</a:t>
            </a:r>
            <a:r>
              <a:rPr sz="3700" spc="-25" dirty="0">
                <a:solidFill>
                  <a:srgbClr val="2E377E"/>
                </a:solidFill>
                <a:latin typeface="Georgia"/>
                <a:cs typeface="Georgia"/>
              </a:rPr>
              <a:t> </a:t>
            </a:r>
            <a:r>
              <a:rPr sz="3700" spc="85" dirty="0">
                <a:solidFill>
                  <a:srgbClr val="2E377E"/>
                </a:solidFill>
                <a:latin typeface="Georgia"/>
                <a:cs typeface="Georgia"/>
              </a:rPr>
              <a:t>with</a:t>
            </a:r>
            <a:r>
              <a:rPr sz="3700" spc="-25" dirty="0">
                <a:solidFill>
                  <a:srgbClr val="2E377E"/>
                </a:solidFill>
                <a:latin typeface="Georgia"/>
                <a:cs typeface="Georgia"/>
              </a:rPr>
              <a:t> </a:t>
            </a:r>
            <a:r>
              <a:rPr sz="3700" dirty="0">
                <a:solidFill>
                  <a:srgbClr val="2E377E"/>
                </a:solidFill>
                <a:latin typeface="Georgia"/>
                <a:cs typeface="Georgia"/>
              </a:rPr>
              <a:t>a</a:t>
            </a:r>
            <a:r>
              <a:rPr sz="3700" spc="-30" dirty="0">
                <a:solidFill>
                  <a:srgbClr val="2E377E"/>
                </a:solidFill>
                <a:latin typeface="Georgia"/>
                <a:cs typeface="Georgia"/>
              </a:rPr>
              <a:t> </a:t>
            </a:r>
            <a:r>
              <a:rPr sz="3700" dirty="0">
                <a:solidFill>
                  <a:srgbClr val="2E377E"/>
                </a:solidFill>
                <a:latin typeface="Georgia"/>
                <a:cs typeface="Georgia"/>
              </a:rPr>
              <a:t>Kubernetes</a:t>
            </a:r>
            <a:r>
              <a:rPr sz="3700" spc="-25" dirty="0">
                <a:solidFill>
                  <a:srgbClr val="2E377E"/>
                </a:solidFill>
                <a:latin typeface="Georgia"/>
                <a:cs typeface="Georgia"/>
              </a:rPr>
              <a:t> </a:t>
            </a:r>
            <a:r>
              <a:rPr sz="3700" spc="-10" dirty="0">
                <a:solidFill>
                  <a:srgbClr val="2E377E"/>
                </a:solidFill>
                <a:latin typeface="Georgia"/>
                <a:cs typeface="Georgia"/>
              </a:rPr>
              <a:t>cluster.</a:t>
            </a:r>
            <a:r>
              <a:rPr sz="3700" spc="925" dirty="0">
                <a:solidFill>
                  <a:srgbClr val="2E377E"/>
                </a:solidFill>
                <a:latin typeface="Georgia"/>
                <a:cs typeface="Georgia"/>
              </a:rPr>
              <a:t>  </a:t>
            </a:r>
            <a:r>
              <a:rPr sz="3700" dirty="0">
                <a:solidFill>
                  <a:srgbClr val="2E377E"/>
                </a:solidFill>
                <a:latin typeface="Georgia"/>
                <a:cs typeface="Georgia"/>
              </a:rPr>
              <a:t>We</a:t>
            </a:r>
            <a:r>
              <a:rPr sz="3700" spc="130" dirty="0">
                <a:solidFill>
                  <a:srgbClr val="2E377E"/>
                </a:solidFill>
                <a:latin typeface="Georgia"/>
                <a:cs typeface="Georgia"/>
              </a:rPr>
              <a:t> </a:t>
            </a:r>
            <a:r>
              <a:rPr sz="3700" dirty="0">
                <a:solidFill>
                  <a:srgbClr val="2E377E"/>
                </a:solidFill>
                <a:latin typeface="Georgia"/>
                <a:cs typeface="Georgia"/>
              </a:rPr>
              <a:t>can</a:t>
            </a:r>
            <a:r>
              <a:rPr sz="3700" spc="135" dirty="0">
                <a:solidFill>
                  <a:srgbClr val="2E377E"/>
                </a:solidFill>
                <a:latin typeface="Georgia"/>
                <a:cs typeface="Georgia"/>
              </a:rPr>
              <a:t> </a:t>
            </a:r>
            <a:r>
              <a:rPr sz="3700" dirty="0">
                <a:solidFill>
                  <a:srgbClr val="2E377E"/>
                </a:solidFill>
                <a:latin typeface="Georgia"/>
                <a:cs typeface="Georgia"/>
              </a:rPr>
              <a:t>create,</a:t>
            </a:r>
            <a:r>
              <a:rPr sz="3700" spc="135" dirty="0">
                <a:solidFill>
                  <a:srgbClr val="2E377E"/>
                </a:solidFill>
                <a:latin typeface="Georgia"/>
                <a:cs typeface="Georgia"/>
              </a:rPr>
              <a:t> </a:t>
            </a:r>
            <a:r>
              <a:rPr sz="3700" dirty="0">
                <a:solidFill>
                  <a:srgbClr val="2E377E"/>
                </a:solidFill>
                <a:latin typeface="Georgia"/>
                <a:cs typeface="Georgia"/>
              </a:rPr>
              <a:t>manage</a:t>
            </a:r>
            <a:r>
              <a:rPr sz="3700" spc="130" dirty="0">
                <a:solidFill>
                  <a:srgbClr val="2E377E"/>
                </a:solidFill>
                <a:latin typeface="Georgia"/>
                <a:cs typeface="Georgia"/>
              </a:rPr>
              <a:t> </a:t>
            </a:r>
            <a:r>
              <a:rPr sz="3700" dirty="0">
                <a:solidFill>
                  <a:srgbClr val="2E377E"/>
                </a:solidFill>
                <a:latin typeface="Georgia"/>
                <a:cs typeface="Georgia"/>
              </a:rPr>
              <a:t>pods,</a:t>
            </a:r>
            <a:r>
              <a:rPr sz="3700" spc="135" dirty="0">
                <a:solidFill>
                  <a:srgbClr val="2E377E"/>
                </a:solidFill>
                <a:latin typeface="Georgia"/>
                <a:cs typeface="Georgia"/>
              </a:rPr>
              <a:t> </a:t>
            </a:r>
            <a:r>
              <a:rPr sz="3700" dirty="0">
                <a:solidFill>
                  <a:srgbClr val="2E377E"/>
                </a:solidFill>
                <a:latin typeface="Georgia"/>
                <a:cs typeface="Georgia"/>
              </a:rPr>
              <a:t>services,</a:t>
            </a:r>
            <a:r>
              <a:rPr sz="3700" spc="135" dirty="0">
                <a:solidFill>
                  <a:srgbClr val="2E377E"/>
                </a:solidFill>
                <a:latin typeface="Georgia"/>
                <a:cs typeface="Georgia"/>
              </a:rPr>
              <a:t> </a:t>
            </a:r>
            <a:r>
              <a:rPr sz="3700" dirty="0">
                <a:solidFill>
                  <a:srgbClr val="2E377E"/>
                </a:solidFill>
                <a:latin typeface="Georgia"/>
                <a:cs typeface="Georgia"/>
              </a:rPr>
              <a:t>deployments,</a:t>
            </a:r>
            <a:r>
              <a:rPr sz="3700" spc="135" dirty="0">
                <a:solidFill>
                  <a:srgbClr val="2E377E"/>
                </a:solidFill>
                <a:latin typeface="Georgia"/>
                <a:cs typeface="Georgia"/>
              </a:rPr>
              <a:t> </a:t>
            </a:r>
            <a:r>
              <a:rPr sz="3700" dirty="0">
                <a:solidFill>
                  <a:srgbClr val="2E377E"/>
                </a:solidFill>
                <a:latin typeface="Georgia"/>
                <a:cs typeface="Georgia"/>
              </a:rPr>
              <a:t>and</a:t>
            </a:r>
            <a:r>
              <a:rPr sz="3700" spc="130" dirty="0">
                <a:solidFill>
                  <a:srgbClr val="2E377E"/>
                </a:solidFill>
                <a:latin typeface="Georgia"/>
                <a:cs typeface="Georgia"/>
              </a:rPr>
              <a:t> </a:t>
            </a:r>
            <a:r>
              <a:rPr sz="3700" dirty="0">
                <a:solidFill>
                  <a:srgbClr val="2E377E"/>
                </a:solidFill>
                <a:latin typeface="Georgia"/>
                <a:cs typeface="Georgia"/>
              </a:rPr>
              <a:t>other</a:t>
            </a:r>
            <a:r>
              <a:rPr sz="3700" spc="135" dirty="0">
                <a:solidFill>
                  <a:srgbClr val="2E377E"/>
                </a:solidFill>
                <a:latin typeface="Georgia"/>
                <a:cs typeface="Georgia"/>
              </a:rPr>
              <a:t> </a:t>
            </a:r>
            <a:r>
              <a:rPr sz="3700" spc="-10" dirty="0">
                <a:solidFill>
                  <a:srgbClr val="2E377E"/>
                </a:solidFill>
                <a:latin typeface="Georgia"/>
                <a:cs typeface="Georgia"/>
              </a:rPr>
              <a:t>resources </a:t>
            </a:r>
            <a:r>
              <a:rPr sz="3700" dirty="0">
                <a:solidFill>
                  <a:srgbClr val="2E377E"/>
                </a:solidFill>
                <a:latin typeface="Georgia"/>
                <a:cs typeface="Georgia"/>
              </a:rPr>
              <a:t>We</a:t>
            </a:r>
            <a:r>
              <a:rPr sz="3700" spc="150" dirty="0">
                <a:solidFill>
                  <a:srgbClr val="2E377E"/>
                </a:solidFill>
                <a:latin typeface="Georgia"/>
                <a:cs typeface="Georgia"/>
              </a:rPr>
              <a:t> </a:t>
            </a:r>
            <a:r>
              <a:rPr sz="3700" dirty="0">
                <a:solidFill>
                  <a:srgbClr val="2E377E"/>
                </a:solidFill>
                <a:latin typeface="Georgia"/>
                <a:cs typeface="Georgia"/>
              </a:rPr>
              <a:t>can</a:t>
            </a:r>
            <a:r>
              <a:rPr sz="3700" spc="150" dirty="0">
                <a:solidFill>
                  <a:srgbClr val="2E377E"/>
                </a:solidFill>
                <a:latin typeface="Georgia"/>
                <a:cs typeface="Georgia"/>
              </a:rPr>
              <a:t> </a:t>
            </a:r>
            <a:r>
              <a:rPr sz="3700" dirty="0">
                <a:solidFill>
                  <a:srgbClr val="2E377E"/>
                </a:solidFill>
                <a:latin typeface="Georgia"/>
                <a:cs typeface="Georgia"/>
              </a:rPr>
              <a:t>also</a:t>
            </a:r>
            <a:r>
              <a:rPr sz="3700" spc="150" dirty="0">
                <a:solidFill>
                  <a:srgbClr val="2E377E"/>
                </a:solidFill>
                <a:latin typeface="Georgia"/>
                <a:cs typeface="Georgia"/>
              </a:rPr>
              <a:t> </a:t>
            </a:r>
            <a:r>
              <a:rPr sz="3700" dirty="0">
                <a:solidFill>
                  <a:srgbClr val="2E377E"/>
                </a:solidFill>
                <a:latin typeface="Georgia"/>
                <a:cs typeface="Georgia"/>
              </a:rPr>
              <a:t>monitoring,</a:t>
            </a:r>
            <a:r>
              <a:rPr sz="3700" spc="155" dirty="0">
                <a:solidFill>
                  <a:srgbClr val="2E377E"/>
                </a:solidFill>
                <a:latin typeface="Georgia"/>
                <a:cs typeface="Georgia"/>
              </a:rPr>
              <a:t> </a:t>
            </a:r>
            <a:r>
              <a:rPr sz="3700" dirty="0">
                <a:solidFill>
                  <a:srgbClr val="2E377E"/>
                </a:solidFill>
                <a:latin typeface="Georgia"/>
                <a:cs typeface="Georgia"/>
              </a:rPr>
              <a:t>troubleshooting,</a:t>
            </a:r>
            <a:r>
              <a:rPr sz="3700" spc="150" dirty="0">
                <a:solidFill>
                  <a:srgbClr val="2E377E"/>
                </a:solidFill>
                <a:latin typeface="Georgia"/>
                <a:cs typeface="Georgia"/>
              </a:rPr>
              <a:t> </a:t>
            </a:r>
            <a:r>
              <a:rPr sz="3700" dirty="0">
                <a:solidFill>
                  <a:srgbClr val="2E377E"/>
                </a:solidFill>
                <a:latin typeface="Georgia"/>
                <a:cs typeface="Georgia"/>
              </a:rPr>
              <a:t>scaling</a:t>
            </a:r>
            <a:r>
              <a:rPr sz="3700" spc="150" dirty="0">
                <a:solidFill>
                  <a:srgbClr val="2E377E"/>
                </a:solidFill>
                <a:latin typeface="Georgia"/>
                <a:cs typeface="Georgia"/>
              </a:rPr>
              <a:t> </a:t>
            </a:r>
            <a:r>
              <a:rPr sz="3700" dirty="0">
                <a:solidFill>
                  <a:srgbClr val="2E377E"/>
                </a:solidFill>
                <a:latin typeface="Georgia"/>
                <a:cs typeface="Georgia"/>
              </a:rPr>
              <a:t>and</a:t>
            </a:r>
            <a:r>
              <a:rPr sz="3700" spc="155" dirty="0">
                <a:solidFill>
                  <a:srgbClr val="2E377E"/>
                </a:solidFill>
                <a:latin typeface="Georgia"/>
                <a:cs typeface="Georgia"/>
              </a:rPr>
              <a:t> </a:t>
            </a:r>
            <a:r>
              <a:rPr sz="3700" dirty="0">
                <a:solidFill>
                  <a:srgbClr val="2E377E"/>
                </a:solidFill>
                <a:latin typeface="Georgia"/>
                <a:cs typeface="Georgia"/>
              </a:rPr>
              <a:t>updating</a:t>
            </a:r>
            <a:r>
              <a:rPr sz="3700" spc="150" dirty="0">
                <a:solidFill>
                  <a:srgbClr val="2E377E"/>
                </a:solidFill>
                <a:latin typeface="Georgia"/>
                <a:cs typeface="Georgia"/>
              </a:rPr>
              <a:t> </a:t>
            </a:r>
            <a:r>
              <a:rPr sz="3700" spc="60" dirty="0">
                <a:solidFill>
                  <a:srgbClr val="2E377E"/>
                </a:solidFill>
                <a:latin typeface="Georgia"/>
                <a:cs typeface="Georgia"/>
              </a:rPr>
              <a:t>the</a:t>
            </a:r>
            <a:r>
              <a:rPr sz="3700" spc="150" dirty="0">
                <a:solidFill>
                  <a:srgbClr val="2E377E"/>
                </a:solidFill>
                <a:latin typeface="Georgia"/>
                <a:cs typeface="Georgia"/>
              </a:rPr>
              <a:t> </a:t>
            </a:r>
            <a:r>
              <a:rPr sz="3700" spc="-20" dirty="0">
                <a:solidFill>
                  <a:srgbClr val="2E377E"/>
                </a:solidFill>
                <a:latin typeface="Georgia"/>
                <a:cs typeface="Georgia"/>
              </a:rPr>
              <a:t>pods. </a:t>
            </a:r>
            <a:r>
              <a:rPr sz="3700" dirty="0">
                <a:solidFill>
                  <a:srgbClr val="2E377E"/>
                </a:solidFill>
                <a:latin typeface="Georgia"/>
                <a:cs typeface="Georgia"/>
              </a:rPr>
              <a:t>To</a:t>
            </a:r>
            <a:r>
              <a:rPr sz="3700" spc="70" dirty="0">
                <a:solidFill>
                  <a:srgbClr val="2E377E"/>
                </a:solidFill>
                <a:latin typeface="Georgia"/>
                <a:cs typeface="Georgia"/>
              </a:rPr>
              <a:t> </a:t>
            </a:r>
            <a:r>
              <a:rPr sz="3700" dirty="0">
                <a:solidFill>
                  <a:srgbClr val="2E377E"/>
                </a:solidFill>
                <a:latin typeface="Georgia"/>
                <a:cs typeface="Georgia"/>
              </a:rPr>
              <a:t>perform</a:t>
            </a:r>
            <a:r>
              <a:rPr sz="3700" spc="75" dirty="0">
                <a:solidFill>
                  <a:srgbClr val="2E377E"/>
                </a:solidFill>
                <a:latin typeface="Georgia"/>
                <a:cs typeface="Georgia"/>
              </a:rPr>
              <a:t> </a:t>
            </a:r>
            <a:r>
              <a:rPr sz="3700" spc="50" dirty="0">
                <a:solidFill>
                  <a:srgbClr val="2E377E"/>
                </a:solidFill>
                <a:latin typeface="Georgia"/>
                <a:cs typeface="Georgia"/>
              </a:rPr>
              <a:t>these</a:t>
            </a:r>
            <a:r>
              <a:rPr sz="3700" spc="75" dirty="0">
                <a:solidFill>
                  <a:srgbClr val="2E377E"/>
                </a:solidFill>
                <a:latin typeface="Georgia"/>
                <a:cs typeface="Georgia"/>
              </a:rPr>
              <a:t> </a:t>
            </a:r>
            <a:r>
              <a:rPr sz="3700" dirty="0">
                <a:solidFill>
                  <a:srgbClr val="2E377E"/>
                </a:solidFill>
                <a:latin typeface="Georgia"/>
                <a:cs typeface="Georgia"/>
              </a:rPr>
              <a:t>tasks</a:t>
            </a:r>
            <a:r>
              <a:rPr sz="3700" spc="75" dirty="0">
                <a:solidFill>
                  <a:srgbClr val="2E377E"/>
                </a:solidFill>
                <a:latin typeface="Georgia"/>
                <a:cs typeface="Georgia"/>
              </a:rPr>
              <a:t> </a:t>
            </a:r>
            <a:r>
              <a:rPr sz="3700" spc="55" dirty="0">
                <a:solidFill>
                  <a:srgbClr val="2E377E"/>
                </a:solidFill>
                <a:latin typeface="Georgia"/>
                <a:cs typeface="Georgia"/>
              </a:rPr>
              <a:t>it</a:t>
            </a:r>
            <a:r>
              <a:rPr sz="3700" spc="75" dirty="0">
                <a:solidFill>
                  <a:srgbClr val="2E377E"/>
                </a:solidFill>
                <a:latin typeface="Georgia"/>
                <a:cs typeface="Georgia"/>
              </a:rPr>
              <a:t> </a:t>
            </a:r>
            <a:r>
              <a:rPr sz="3700" dirty="0">
                <a:solidFill>
                  <a:srgbClr val="2E377E"/>
                </a:solidFill>
                <a:latin typeface="Georgia"/>
                <a:cs typeface="Georgia"/>
              </a:rPr>
              <a:t>communicates</a:t>
            </a:r>
            <a:r>
              <a:rPr sz="3700" spc="75" dirty="0">
                <a:solidFill>
                  <a:srgbClr val="2E377E"/>
                </a:solidFill>
                <a:latin typeface="Georgia"/>
                <a:cs typeface="Georgia"/>
              </a:rPr>
              <a:t> </a:t>
            </a:r>
            <a:r>
              <a:rPr sz="3700" spc="85" dirty="0">
                <a:solidFill>
                  <a:srgbClr val="2E377E"/>
                </a:solidFill>
                <a:latin typeface="Georgia"/>
                <a:cs typeface="Georgia"/>
              </a:rPr>
              <a:t>with</a:t>
            </a:r>
            <a:r>
              <a:rPr sz="3700" spc="75" dirty="0">
                <a:solidFill>
                  <a:srgbClr val="2E377E"/>
                </a:solidFill>
                <a:latin typeface="Georgia"/>
                <a:cs typeface="Georgia"/>
              </a:rPr>
              <a:t> </a:t>
            </a:r>
            <a:r>
              <a:rPr sz="3700" spc="60" dirty="0">
                <a:solidFill>
                  <a:srgbClr val="2E377E"/>
                </a:solidFill>
                <a:latin typeface="Georgia"/>
                <a:cs typeface="Georgia"/>
              </a:rPr>
              <a:t>the</a:t>
            </a:r>
            <a:r>
              <a:rPr sz="3700" spc="75" dirty="0">
                <a:solidFill>
                  <a:srgbClr val="2E377E"/>
                </a:solidFill>
                <a:latin typeface="Georgia"/>
                <a:cs typeface="Georgia"/>
              </a:rPr>
              <a:t> </a:t>
            </a:r>
            <a:r>
              <a:rPr sz="3700" dirty="0">
                <a:solidFill>
                  <a:srgbClr val="2E377E"/>
                </a:solidFill>
                <a:latin typeface="Georgia"/>
                <a:cs typeface="Georgia"/>
              </a:rPr>
              <a:t>Kubernetes</a:t>
            </a:r>
            <a:r>
              <a:rPr sz="3700" spc="75" dirty="0">
                <a:solidFill>
                  <a:srgbClr val="2E377E"/>
                </a:solidFill>
                <a:latin typeface="Georgia"/>
                <a:cs typeface="Georgia"/>
              </a:rPr>
              <a:t> </a:t>
            </a:r>
            <a:r>
              <a:rPr sz="3700" spc="-25" dirty="0">
                <a:solidFill>
                  <a:srgbClr val="2E377E"/>
                </a:solidFill>
                <a:latin typeface="Georgia"/>
                <a:cs typeface="Georgia"/>
              </a:rPr>
              <a:t>API</a:t>
            </a:r>
            <a:r>
              <a:rPr sz="3700" spc="75" dirty="0">
                <a:solidFill>
                  <a:srgbClr val="2E377E"/>
                </a:solidFill>
                <a:latin typeface="Georgia"/>
                <a:cs typeface="Georgia"/>
              </a:rPr>
              <a:t> </a:t>
            </a:r>
            <a:r>
              <a:rPr sz="3700" spc="-10" dirty="0">
                <a:solidFill>
                  <a:srgbClr val="2E377E"/>
                </a:solidFill>
                <a:latin typeface="Georgia"/>
                <a:cs typeface="Georgia"/>
              </a:rPr>
              <a:t>server. </a:t>
            </a:r>
            <a:r>
              <a:rPr sz="3700" dirty="0">
                <a:solidFill>
                  <a:srgbClr val="2E377E"/>
                </a:solidFill>
                <a:latin typeface="Georgia"/>
                <a:cs typeface="Georgia"/>
              </a:rPr>
              <a:t>It</a:t>
            </a:r>
            <a:r>
              <a:rPr sz="3700" spc="-35" dirty="0">
                <a:solidFill>
                  <a:srgbClr val="2E377E"/>
                </a:solidFill>
                <a:latin typeface="Georgia"/>
                <a:cs typeface="Georgia"/>
              </a:rPr>
              <a:t> </a:t>
            </a:r>
            <a:r>
              <a:rPr sz="3700" dirty="0">
                <a:solidFill>
                  <a:srgbClr val="2E377E"/>
                </a:solidFill>
                <a:latin typeface="Georgia"/>
                <a:cs typeface="Georgia"/>
              </a:rPr>
              <a:t>has</a:t>
            </a:r>
            <a:r>
              <a:rPr sz="3700" spc="-35" dirty="0">
                <a:solidFill>
                  <a:srgbClr val="2E377E"/>
                </a:solidFill>
                <a:latin typeface="Georgia"/>
                <a:cs typeface="Georgia"/>
              </a:rPr>
              <a:t> </a:t>
            </a:r>
            <a:r>
              <a:rPr sz="3700" spc="55" dirty="0">
                <a:solidFill>
                  <a:srgbClr val="2E377E"/>
                </a:solidFill>
                <a:latin typeface="Georgia"/>
                <a:cs typeface="Georgia"/>
              </a:rPr>
              <a:t>many</a:t>
            </a:r>
            <a:r>
              <a:rPr sz="3700" spc="-35" dirty="0">
                <a:solidFill>
                  <a:srgbClr val="2E377E"/>
                </a:solidFill>
                <a:latin typeface="Georgia"/>
                <a:cs typeface="Georgia"/>
              </a:rPr>
              <a:t> </a:t>
            </a:r>
            <a:r>
              <a:rPr sz="3700" dirty="0">
                <a:solidFill>
                  <a:srgbClr val="2E377E"/>
                </a:solidFill>
                <a:latin typeface="Georgia"/>
                <a:cs typeface="Georgia"/>
              </a:rPr>
              <a:t>options</a:t>
            </a:r>
            <a:r>
              <a:rPr sz="3700" spc="-35" dirty="0">
                <a:solidFill>
                  <a:srgbClr val="2E377E"/>
                </a:solidFill>
                <a:latin typeface="Georgia"/>
                <a:cs typeface="Georgia"/>
              </a:rPr>
              <a:t> </a:t>
            </a:r>
            <a:r>
              <a:rPr sz="3700" dirty="0">
                <a:solidFill>
                  <a:srgbClr val="2E377E"/>
                </a:solidFill>
                <a:latin typeface="Georgia"/>
                <a:cs typeface="Georgia"/>
              </a:rPr>
              <a:t>and</a:t>
            </a:r>
            <a:r>
              <a:rPr sz="3700" spc="-30" dirty="0">
                <a:solidFill>
                  <a:srgbClr val="2E377E"/>
                </a:solidFill>
                <a:latin typeface="Georgia"/>
                <a:cs typeface="Georgia"/>
              </a:rPr>
              <a:t> </a:t>
            </a:r>
            <a:r>
              <a:rPr sz="3700" dirty="0">
                <a:solidFill>
                  <a:srgbClr val="2E377E"/>
                </a:solidFill>
                <a:latin typeface="Georgia"/>
                <a:cs typeface="Georgia"/>
              </a:rPr>
              <a:t>commands,</a:t>
            </a:r>
            <a:r>
              <a:rPr sz="3700" spc="-35" dirty="0">
                <a:solidFill>
                  <a:srgbClr val="2E377E"/>
                </a:solidFill>
                <a:latin typeface="Georgia"/>
                <a:cs typeface="Georgia"/>
              </a:rPr>
              <a:t> </a:t>
            </a:r>
            <a:r>
              <a:rPr sz="3700" spc="60" dirty="0">
                <a:solidFill>
                  <a:srgbClr val="2E377E"/>
                </a:solidFill>
                <a:latin typeface="Georgia"/>
                <a:cs typeface="Georgia"/>
              </a:rPr>
              <a:t>to</a:t>
            </a:r>
            <a:r>
              <a:rPr sz="3700" spc="-35" dirty="0">
                <a:solidFill>
                  <a:srgbClr val="2E377E"/>
                </a:solidFill>
                <a:latin typeface="Georgia"/>
                <a:cs typeface="Georgia"/>
              </a:rPr>
              <a:t> </a:t>
            </a:r>
            <a:r>
              <a:rPr sz="3700" spc="90" dirty="0">
                <a:solidFill>
                  <a:srgbClr val="2E377E"/>
                </a:solidFill>
                <a:latin typeface="Georgia"/>
                <a:cs typeface="Georgia"/>
              </a:rPr>
              <a:t>work</a:t>
            </a:r>
            <a:r>
              <a:rPr sz="3700" spc="-35" dirty="0">
                <a:solidFill>
                  <a:srgbClr val="2E377E"/>
                </a:solidFill>
                <a:latin typeface="Georgia"/>
                <a:cs typeface="Georgia"/>
              </a:rPr>
              <a:t> </a:t>
            </a:r>
            <a:r>
              <a:rPr sz="3700" spc="-25" dirty="0">
                <a:solidFill>
                  <a:srgbClr val="2E377E"/>
                </a:solidFill>
                <a:latin typeface="Georgia"/>
                <a:cs typeface="Georgia"/>
              </a:rPr>
              <a:t>on.</a:t>
            </a:r>
            <a:endParaRPr sz="3700">
              <a:latin typeface="Georgia"/>
              <a:cs typeface="Georgia"/>
            </a:endParaRPr>
          </a:p>
          <a:p>
            <a:pPr marL="561340" marR="2306955">
              <a:lnSpc>
                <a:spcPts val="5180"/>
              </a:lnSpc>
              <a:spcBef>
                <a:spcPts val="295"/>
              </a:spcBef>
            </a:pPr>
            <a:r>
              <a:rPr sz="3700" dirty="0">
                <a:solidFill>
                  <a:srgbClr val="2E377E"/>
                </a:solidFill>
                <a:latin typeface="Georgia"/>
                <a:cs typeface="Georgia"/>
              </a:rPr>
              <a:t>The configuration</a:t>
            </a:r>
            <a:r>
              <a:rPr sz="3700" spc="5" dirty="0">
                <a:solidFill>
                  <a:srgbClr val="2E377E"/>
                </a:solidFill>
                <a:latin typeface="Georgia"/>
                <a:cs typeface="Georgia"/>
              </a:rPr>
              <a:t> </a:t>
            </a:r>
            <a:r>
              <a:rPr sz="3700" dirty="0">
                <a:solidFill>
                  <a:srgbClr val="2E377E"/>
                </a:solidFill>
                <a:latin typeface="Georgia"/>
                <a:cs typeface="Georgia"/>
              </a:rPr>
              <a:t>of</a:t>
            </a:r>
            <a:r>
              <a:rPr sz="3700" spc="5" dirty="0">
                <a:solidFill>
                  <a:srgbClr val="2E377E"/>
                </a:solidFill>
                <a:latin typeface="Georgia"/>
                <a:cs typeface="Georgia"/>
              </a:rPr>
              <a:t> </a:t>
            </a:r>
            <a:r>
              <a:rPr sz="3700" spc="50" dirty="0">
                <a:solidFill>
                  <a:srgbClr val="2E377E"/>
                </a:solidFill>
                <a:latin typeface="Georgia"/>
                <a:cs typeface="Georgia"/>
              </a:rPr>
              <a:t>kubectl</a:t>
            </a:r>
            <a:r>
              <a:rPr sz="3700" spc="5" dirty="0">
                <a:solidFill>
                  <a:srgbClr val="2E377E"/>
                </a:solidFill>
                <a:latin typeface="Georgia"/>
                <a:cs typeface="Georgia"/>
              </a:rPr>
              <a:t> </a:t>
            </a:r>
            <a:r>
              <a:rPr sz="3700" dirty="0">
                <a:solidFill>
                  <a:srgbClr val="2E377E"/>
                </a:solidFill>
                <a:latin typeface="Georgia"/>
                <a:cs typeface="Georgia"/>
              </a:rPr>
              <a:t>is</a:t>
            </a:r>
            <a:r>
              <a:rPr sz="3700" spc="5" dirty="0">
                <a:solidFill>
                  <a:srgbClr val="2E377E"/>
                </a:solidFill>
                <a:latin typeface="Georgia"/>
                <a:cs typeface="Georgia"/>
              </a:rPr>
              <a:t> </a:t>
            </a:r>
            <a:r>
              <a:rPr sz="3700" dirty="0">
                <a:solidFill>
                  <a:srgbClr val="2E377E"/>
                </a:solidFill>
                <a:latin typeface="Georgia"/>
                <a:cs typeface="Georgia"/>
              </a:rPr>
              <a:t>in</a:t>
            </a:r>
            <a:r>
              <a:rPr sz="3700" spc="5" dirty="0">
                <a:solidFill>
                  <a:srgbClr val="2E377E"/>
                </a:solidFill>
                <a:latin typeface="Georgia"/>
                <a:cs typeface="Georgia"/>
              </a:rPr>
              <a:t> </a:t>
            </a:r>
            <a:r>
              <a:rPr sz="3700" spc="60" dirty="0">
                <a:solidFill>
                  <a:srgbClr val="2E377E"/>
                </a:solidFill>
                <a:latin typeface="Georgia"/>
                <a:cs typeface="Georgia"/>
              </a:rPr>
              <a:t>the</a:t>
            </a:r>
            <a:r>
              <a:rPr sz="3700" spc="5" dirty="0">
                <a:solidFill>
                  <a:srgbClr val="2E377E"/>
                </a:solidFill>
                <a:latin typeface="Georgia"/>
                <a:cs typeface="Georgia"/>
              </a:rPr>
              <a:t> </a:t>
            </a:r>
            <a:r>
              <a:rPr sz="3700" spc="-110" dirty="0">
                <a:solidFill>
                  <a:srgbClr val="2E377E"/>
                </a:solidFill>
                <a:latin typeface="Georgia"/>
                <a:cs typeface="Georgia"/>
              </a:rPr>
              <a:t>$HOME/.kube</a:t>
            </a:r>
            <a:r>
              <a:rPr sz="3700" dirty="0">
                <a:solidFill>
                  <a:srgbClr val="2E377E"/>
                </a:solidFill>
                <a:latin typeface="Georgia"/>
                <a:cs typeface="Georgia"/>
              </a:rPr>
              <a:t> </a:t>
            </a:r>
            <a:r>
              <a:rPr sz="3700" spc="-10" dirty="0">
                <a:solidFill>
                  <a:srgbClr val="2E377E"/>
                </a:solidFill>
                <a:latin typeface="Georgia"/>
                <a:cs typeface="Georgia"/>
              </a:rPr>
              <a:t>directory. </a:t>
            </a:r>
            <a:r>
              <a:rPr sz="3700" dirty="0">
                <a:solidFill>
                  <a:srgbClr val="2E377E"/>
                </a:solidFill>
                <a:latin typeface="Georgia"/>
                <a:cs typeface="Georgia"/>
              </a:rPr>
              <a:t>The</a:t>
            </a:r>
            <a:r>
              <a:rPr sz="3700" spc="5" dirty="0">
                <a:solidFill>
                  <a:srgbClr val="2E377E"/>
                </a:solidFill>
                <a:latin typeface="Georgia"/>
                <a:cs typeface="Georgia"/>
              </a:rPr>
              <a:t> </a:t>
            </a:r>
            <a:r>
              <a:rPr sz="3700" dirty="0">
                <a:solidFill>
                  <a:srgbClr val="2E377E"/>
                </a:solidFill>
                <a:latin typeface="Georgia"/>
                <a:cs typeface="Georgia"/>
              </a:rPr>
              <a:t>latest</a:t>
            </a:r>
            <a:r>
              <a:rPr sz="3700" spc="10" dirty="0">
                <a:solidFill>
                  <a:srgbClr val="2E377E"/>
                </a:solidFill>
                <a:latin typeface="Georgia"/>
                <a:cs typeface="Georgia"/>
              </a:rPr>
              <a:t> </a:t>
            </a:r>
            <a:r>
              <a:rPr sz="3700" spc="45" dirty="0">
                <a:solidFill>
                  <a:srgbClr val="2E377E"/>
                </a:solidFill>
                <a:latin typeface="Georgia"/>
                <a:cs typeface="Georgia"/>
              </a:rPr>
              <a:t>version</a:t>
            </a:r>
            <a:r>
              <a:rPr sz="3700" spc="5" dirty="0">
                <a:solidFill>
                  <a:srgbClr val="2E377E"/>
                </a:solidFill>
                <a:latin typeface="Georgia"/>
                <a:cs typeface="Georgia"/>
              </a:rPr>
              <a:t> </a:t>
            </a:r>
            <a:r>
              <a:rPr sz="3700" dirty="0">
                <a:solidFill>
                  <a:srgbClr val="2E377E"/>
                </a:solidFill>
                <a:latin typeface="Georgia"/>
                <a:cs typeface="Georgia"/>
              </a:rPr>
              <a:t>is</a:t>
            </a:r>
            <a:r>
              <a:rPr sz="3700" spc="10" dirty="0">
                <a:solidFill>
                  <a:srgbClr val="2E377E"/>
                </a:solidFill>
                <a:latin typeface="Georgia"/>
                <a:cs typeface="Georgia"/>
              </a:rPr>
              <a:t> </a:t>
            </a:r>
            <a:r>
              <a:rPr sz="3700" spc="-20" dirty="0">
                <a:solidFill>
                  <a:srgbClr val="2E377E"/>
                </a:solidFill>
                <a:latin typeface="Georgia"/>
                <a:cs typeface="Georgia"/>
              </a:rPr>
              <a:t>1.28</a:t>
            </a:r>
            <a:endParaRPr sz="3700">
              <a:latin typeface="Georgia"/>
              <a:cs typeface="Georgia"/>
            </a:endParaRPr>
          </a:p>
          <a:p>
            <a:pPr>
              <a:lnSpc>
                <a:spcPct val="100000"/>
              </a:lnSpc>
              <a:spcBef>
                <a:spcPts val="2140"/>
              </a:spcBef>
            </a:pPr>
            <a:endParaRPr sz="3700">
              <a:latin typeface="Georgia"/>
              <a:cs typeface="Georgia"/>
            </a:endParaRPr>
          </a:p>
          <a:p>
            <a:pPr marL="12700">
              <a:lnSpc>
                <a:spcPct val="100000"/>
              </a:lnSpc>
            </a:pPr>
            <a:r>
              <a:rPr sz="3700" b="1" spc="-335" dirty="0">
                <a:solidFill>
                  <a:srgbClr val="FF3131"/>
                </a:solidFill>
                <a:latin typeface="Times New Roman"/>
                <a:cs typeface="Times New Roman"/>
              </a:rPr>
              <a:t>SYNTAX:</a:t>
            </a:r>
            <a:endParaRPr sz="3700">
              <a:latin typeface="Times New Roman"/>
              <a:cs typeface="Times New Roman"/>
            </a:endParaRPr>
          </a:p>
          <a:p>
            <a:pPr marL="12700" marR="6283325">
              <a:lnSpc>
                <a:spcPct val="116599"/>
              </a:lnSpc>
              <a:spcBef>
                <a:spcPts val="290"/>
              </a:spcBef>
            </a:pPr>
            <a:r>
              <a:rPr sz="3700" spc="50" dirty="0">
                <a:solidFill>
                  <a:srgbClr val="2E377E"/>
                </a:solidFill>
                <a:latin typeface="Georgia"/>
                <a:cs typeface="Georgia"/>
              </a:rPr>
              <a:t>kubectl</a:t>
            </a:r>
            <a:r>
              <a:rPr sz="3700" spc="-120" dirty="0">
                <a:solidFill>
                  <a:srgbClr val="2E377E"/>
                </a:solidFill>
                <a:latin typeface="Georgia"/>
                <a:cs typeface="Georgia"/>
              </a:rPr>
              <a:t> </a:t>
            </a:r>
            <a:r>
              <a:rPr sz="3700" spc="-20" dirty="0">
                <a:solidFill>
                  <a:srgbClr val="2E377E"/>
                </a:solidFill>
                <a:latin typeface="Georgia"/>
                <a:cs typeface="Georgia"/>
              </a:rPr>
              <a:t>[command]</a:t>
            </a:r>
            <a:r>
              <a:rPr sz="3700" spc="-90" dirty="0">
                <a:solidFill>
                  <a:srgbClr val="2E377E"/>
                </a:solidFill>
                <a:latin typeface="Georgia"/>
                <a:cs typeface="Georgia"/>
              </a:rPr>
              <a:t> </a:t>
            </a:r>
            <a:r>
              <a:rPr sz="3700" spc="-120" dirty="0">
                <a:solidFill>
                  <a:srgbClr val="2E377E"/>
                </a:solidFill>
                <a:latin typeface="Georgia"/>
                <a:cs typeface="Georgia"/>
              </a:rPr>
              <a:t>[TYPE]</a:t>
            </a:r>
            <a:r>
              <a:rPr sz="3700" spc="-95" dirty="0">
                <a:solidFill>
                  <a:srgbClr val="2E377E"/>
                </a:solidFill>
                <a:latin typeface="Georgia"/>
                <a:cs typeface="Georgia"/>
              </a:rPr>
              <a:t> </a:t>
            </a:r>
            <a:r>
              <a:rPr sz="3700" spc="-160" dirty="0">
                <a:solidFill>
                  <a:srgbClr val="2E377E"/>
                </a:solidFill>
                <a:latin typeface="Georgia"/>
                <a:cs typeface="Georgia"/>
              </a:rPr>
              <a:t>[NAME]</a:t>
            </a:r>
            <a:r>
              <a:rPr sz="3700" spc="-70" dirty="0">
                <a:solidFill>
                  <a:srgbClr val="2E377E"/>
                </a:solidFill>
                <a:latin typeface="Georgia"/>
                <a:cs typeface="Georgia"/>
              </a:rPr>
              <a:t> </a:t>
            </a:r>
            <a:r>
              <a:rPr sz="3700" spc="-10" dirty="0">
                <a:solidFill>
                  <a:srgbClr val="2E377E"/>
                </a:solidFill>
                <a:latin typeface="Georgia"/>
                <a:cs typeface="Georgia"/>
              </a:rPr>
              <a:t>[flags] </a:t>
            </a:r>
            <a:r>
              <a:rPr sz="3700" spc="50" dirty="0">
                <a:solidFill>
                  <a:srgbClr val="2E377E"/>
                </a:solidFill>
                <a:latin typeface="Georgia"/>
                <a:cs typeface="Georgia"/>
              </a:rPr>
              <a:t>kubectl</a:t>
            </a:r>
            <a:r>
              <a:rPr sz="3700" spc="5" dirty="0">
                <a:solidFill>
                  <a:srgbClr val="2E377E"/>
                </a:solidFill>
                <a:latin typeface="Georgia"/>
                <a:cs typeface="Georgia"/>
              </a:rPr>
              <a:t> </a:t>
            </a:r>
            <a:r>
              <a:rPr sz="3700" dirty="0">
                <a:solidFill>
                  <a:srgbClr val="2E377E"/>
                </a:solidFill>
                <a:latin typeface="Georgia"/>
                <a:cs typeface="Georgia"/>
              </a:rPr>
              <a:t>api-resources</a:t>
            </a:r>
            <a:r>
              <a:rPr sz="3700" spc="5" dirty="0">
                <a:solidFill>
                  <a:srgbClr val="2E377E"/>
                </a:solidFill>
                <a:latin typeface="Georgia"/>
                <a:cs typeface="Georgia"/>
              </a:rPr>
              <a:t> </a:t>
            </a:r>
            <a:r>
              <a:rPr sz="3700" spc="-260" dirty="0">
                <a:solidFill>
                  <a:srgbClr val="2E377E"/>
                </a:solidFill>
                <a:latin typeface="Georgia"/>
                <a:cs typeface="Georgia"/>
              </a:rPr>
              <a:t>:</a:t>
            </a:r>
            <a:r>
              <a:rPr sz="3700" spc="5" dirty="0">
                <a:solidFill>
                  <a:srgbClr val="2E377E"/>
                </a:solidFill>
                <a:latin typeface="Georgia"/>
                <a:cs typeface="Georgia"/>
              </a:rPr>
              <a:t> </a:t>
            </a:r>
            <a:r>
              <a:rPr sz="3700" spc="60" dirty="0">
                <a:solidFill>
                  <a:srgbClr val="2E377E"/>
                </a:solidFill>
                <a:latin typeface="Georgia"/>
                <a:cs typeface="Georgia"/>
              </a:rPr>
              <a:t>to</a:t>
            </a:r>
            <a:r>
              <a:rPr sz="3700" spc="5" dirty="0">
                <a:solidFill>
                  <a:srgbClr val="2E377E"/>
                </a:solidFill>
                <a:latin typeface="Georgia"/>
                <a:cs typeface="Georgia"/>
              </a:rPr>
              <a:t> </a:t>
            </a:r>
            <a:r>
              <a:rPr sz="3700" dirty="0">
                <a:solidFill>
                  <a:srgbClr val="2E377E"/>
                </a:solidFill>
                <a:latin typeface="Georgia"/>
                <a:cs typeface="Georgia"/>
              </a:rPr>
              <a:t>list</a:t>
            </a:r>
            <a:r>
              <a:rPr sz="3700" spc="5" dirty="0">
                <a:solidFill>
                  <a:srgbClr val="2E377E"/>
                </a:solidFill>
                <a:latin typeface="Georgia"/>
                <a:cs typeface="Georgia"/>
              </a:rPr>
              <a:t> </a:t>
            </a:r>
            <a:r>
              <a:rPr sz="3700" dirty="0">
                <a:solidFill>
                  <a:srgbClr val="2E377E"/>
                </a:solidFill>
                <a:latin typeface="Georgia"/>
                <a:cs typeface="Georgia"/>
              </a:rPr>
              <a:t>all</a:t>
            </a:r>
            <a:r>
              <a:rPr sz="3700" spc="10" dirty="0">
                <a:solidFill>
                  <a:srgbClr val="2E377E"/>
                </a:solidFill>
                <a:latin typeface="Georgia"/>
                <a:cs typeface="Georgia"/>
              </a:rPr>
              <a:t> </a:t>
            </a:r>
            <a:r>
              <a:rPr sz="3700" dirty="0">
                <a:solidFill>
                  <a:srgbClr val="2E377E"/>
                </a:solidFill>
                <a:latin typeface="Georgia"/>
                <a:cs typeface="Georgia"/>
              </a:rPr>
              <a:t>api</a:t>
            </a:r>
            <a:r>
              <a:rPr sz="3700" spc="5" dirty="0">
                <a:solidFill>
                  <a:srgbClr val="2E377E"/>
                </a:solidFill>
                <a:latin typeface="Georgia"/>
                <a:cs typeface="Georgia"/>
              </a:rPr>
              <a:t> </a:t>
            </a:r>
            <a:r>
              <a:rPr sz="3700" spc="-10" dirty="0">
                <a:solidFill>
                  <a:srgbClr val="2E377E"/>
                </a:solidFill>
                <a:latin typeface="Georgia"/>
                <a:cs typeface="Georgia"/>
              </a:rPr>
              <a:t>resources</a:t>
            </a:r>
            <a:endParaRPr sz="3700">
              <a:latin typeface="Georgia"/>
              <a:cs typeface="Georgi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02560" y="936695"/>
            <a:ext cx="9735185" cy="787400"/>
          </a:xfrm>
          <a:prstGeom prst="rect">
            <a:avLst/>
          </a:prstGeom>
        </p:spPr>
        <p:txBody>
          <a:bodyPr vert="horz" wrap="square" lIns="0" tIns="12700" rIns="0" bIns="0" rtlCol="0">
            <a:spAutoFit/>
          </a:bodyPr>
          <a:lstStyle/>
          <a:p>
            <a:pPr marL="12700">
              <a:lnSpc>
                <a:spcPct val="100000"/>
              </a:lnSpc>
              <a:spcBef>
                <a:spcPts val="100"/>
              </a:spcBef>
            </a:pPr>
            <a:r>
              <a:rPr dirty="0">
                <a:solidFill>
                  <a:srgbClr val="326BE4"/>
                </a:solidFill>
              </a:rPr>
              <a:t>Lets</a:t>
            </a:r>
            <a:r>
              <a:rPr spc="-60" dirty="0">
                <a:solidFill>
                  <a:srgbClr val="326BE4"/>
                </a:solidFill>
              </a:rPr>
              <a:t> </a:t>
            </a:r>
            <a:r>
              <a:rPr dirty="0">
                <a:solidFill>
                  <a:srgbClr val="326BE4"/>
                </a:solidFill>
              </a:rPr>
              <a:t>start</a:t>
            </a:r>
            <a:r>
              <a:rPr spc="-55" dirty="0">
                <a:solidFill>
                  <a:srgbClr val="326BE4"/>
                </a:solidFill>
              </a:rPr>
              <a:t> </a:t>
            </a:r>
            <a:r>
              <a:rPr spc="195" dirty="0">
                <a:solidFill>
                  <a:srgbClr val="326BE4"/>
                </a:solidFill>
              </a:rPr>
              <a:t>working</a:t>
            </a:r>
            <a:r>
              <a:rPr spc="-60" dirty="0">
                <a:solidFill>
                  <a:srgbClr val="326BE4"/>
                </a:solidFill>
              </a:rPr>
              <a:t> </a:t>
            </a:r>
            <a:r>
              <a:rPr spc="355" dirty="0">
                <a:solidFill>
                  <a:srgbClr val="326BE4"/>
                </a:solidFill>
              </a:rPr>
              <a:t>on</a:t>
            </a:r>
            <a:r>
              <a:rPr spc="-55" dirty="0">
                <a:solidFill>
                  <a:srgbClr val="326BE4"/>
                </a:solidFill>
              </a:rPr>
              <a:t> </a:t>
            </a:r>
            <a:r>
              <a:rPr spc="135" dirty="0">
                <a:solidFill>
                  <a:srgbClr val="326BE4"/>
                </a:solidFill>
              </a:rPr>
              <a:t>kubernetes!</a:t>
            </a:r>
          </a:p>
        </p:txBody>
      </p:sp>
      <p:sp>
        <p:nvSpPr>
          <p:cNvPr id="3" name="object 3"/>
          <p:cNvSpPr txBox="1"/>
          <p:nvPr/>
        </p:nvSpPr>
        <p:spPr>
          <a:xfrm>
            <a:off x="1334852" y="3083244"/>
            <a:ext cx="15509240" cy="3453129"/>
          </a:xfrm>
          <a:prstGeom prst="rect">
            <a:avLst/>
          </a:prstGeom>
        </p:spPr>
        <p:txBody>
          <a:bodyPr vert="horz" wrap="square" lIns="0" tIns="334645" rIns="0" bIns="0" rtlCol="0">
            <a:spAutoFit/>
          </a:bodyPr>
          <a:lstStyle/>
          <a:p>
            <a:pPr marL="12700">
              <a:lnSpc>
                <a:spcPct val="100000"/>
              </a:lnSpc>
              <a:spcBef>
                <a:spcPts val="2635"/>
              </a:spcBef>
            </a:pPr>
            <a:r>
              <a:rPr sz="5000" b="1" spc="85" dirty="0">
                <a:solidFill>
                  <a:srgbClr val="E7181F"/>
                </a:solidFill>
                <a:latin typeface="Times New Roman"/>
                <a:cs typeface="Times New Roman"/>
              </a:rPr>
              <a:t>Note:</a:t>
            </a:r>
            <a:endParaRPr sz="5000">
              <a:latin typeface="Times New Roman"/>
              <a:cs typeface="Times New Roman"/>
            </a:endParaRPr>
          </a:p>
          <a:p>
            <a:pPr marL="12700" marR="5080">
              <a:lnSpc>
                <a:spcPct val="115900"/>
              </a:lnSpc>
              <a:spcBef>
                <a:spcPts val="1260"/>
              </a:spcBef>
            </a:pPr>
            <a:r>
              <a:rPr sz="3850" b="1" spc="135" dirty="0">
                <a:latin typeface="Times New Roman"/>
                <a:cs typeface="Times New Roman"/>
              </a:rPr>
              <a:t>Kubernetes</a:t>
            </a:r>
            <a:r>
              <a:rPr sz="3850" b="1" spc="-25" dirty="0">
                <a:latin typeface="Times New Roman"/>
                <a:cs typeface="Times New Roman"/>
              </a:rPr>
              <a:t> </a:t>
            </a:r>
            <a:r>
              <a:rPr sz="3850" b="1" spc="204" dirty="0">
                <a:latin typeface="Times New Roman"/>
                <a:cs typeface="Times New Roman"/>
              </a:rPr>
              <a:t>will</a:t>
            </a:r>
            <a:r>
              <a:rPr sz="3850" b="1" spc="-20" dirty="0">
                <a:latin typeface="Times New Roman"/>
                <a:cs typeface="Times New Roman"/>
              </a:rPr>
              <a:t> </a:t>
            </a:r>
            <a:r>
              <a:rPr sz="3850" b="1" spc="190" dirty="0">
                <a:latin typeface="Times New Roman"/>
                <a:cs typeface="Times New Roman"/>
              </a:rPr>
              <a:t>not</a:t>
            </a:r>
            <a:r>
              <a:rPr sz="3850" b="1" spc="-20" dirty="0">
                <a:latin typeface="Times New Roman"/>
                <a:cs typeface="Times New Roman"/>
              </a:rPr>
              <a:t> </a:t>
            </a:r>
            <a:r>
              <a:rPr sz="3850" b="1" spc="220" dirty="0">
                <a:latin typeface="Times New Roman"/>
                <a:cs typeface="Times New Roman"/>
              </a:rPr>
              <a:t>deploy</a:t>
            </a:r>
            <a:r>
              <a:rPr sz="3850" b="1" spc="-25" dirty="0">
                <a:latin typeface="Times New Roman"/>
                <a:cs typeface="Times New Roman"/>
              </a:rPr>
              <a:t> </a:t>
            </a:r>
            <a:r>
              <a:rPr sz="3850" b="1" spc="175" dirty="0">
                <a:latin typeface="Times New Roman"/>
                <a:cs typeface="Times New Roman"/>
              </a:rPr>
              <a:t>the</a:t>
            </a:r>
            <a:r>
              <a:rPr sz="3850" b="1" spc="-20" dirty="0">
                <a:latin typeface="Times New Roman"/>
                <a:cs typeface="Times New Roman"/>
              </a:rPr>
              <a:t> </a:t>
            </a:r>
            <a:r>
              <a:rPr sz="3850" b="1" spc="160" dirty="0">
                <a:latin typeface="Times New Roman"/>
                <a:cs typeface="Times New Roman"/>
              </a:rPr>
              <a:t>containers</a:t>
            </a:r>
            <a:r>
              <a:rPr sz="3850" b="1" spc="-20" dirty="0">
                <a:latin typeface="Times New Roman"/>
                <a:cs typeface="Times New Roman"/>
              </a:rPr>
              <a:t> </a:t>
            </a:r>
            <a:r>
              <a:rPr sz="3850" b="1" spc="140" dirty="0">
                <a:latin typeface="Times New Roman"/>
                <a:cs typeface="Times New Roman"/>
              </a:rPr>
              <a:t>directly</a:t>
            </a:r>
            <a:r>
              <a:rPr sz="3850" b="1" spc="-20" dirty="0">
                <a:latin typeface="Times New Roman"/>
                <a:cs typeface="Times New Roman"/>
              </a:rPr>
              <a:t> </a:t>
            </a:r>
            <a:r>
              <a:rPr sz="3850" b="1" spc="280" dirty="0">
                <a:latin typeface="Times New Roman"/>
                <a:cs typeface="Times New Roman"/>
              </a:rPr>
              <a:t>on</a:t>
            </a:r>
            <a:r>
              <a:rPr sz="3850" b="1" spc="-25" dirty="0">
                <a:latin typeface="Times New Roman"/>
                <a:cs typeface="Times New Roman"/>
              </a:rPr>
              <a:t> </a:t>
            </a:r>
            <a:r>
              <a:rPr sz="3850" b="1" spc="160" dirty="0">
                <a:latin typeface="Times New Roman"/>
                <a:cs typeface="Times New Roman"/>
              </a:rPr>
              <a:t>worker</a:t>
            </a:r>
            <a:r>
              <a:rPr sz="3850" b="1" spc="-20" dirty="0">
                <a:latin typeface="Times New Roman"/>
                <a:cs typeface="Times New Roman"/>
              </a:rPr>
              <a:t> </a:t>
            </a:r>
            <a:r>
              <a:rPr sz="3850" b="1" spc="185" dirty="0">
                <a:latin typeface="Times New Roman"/>
                <a:cs typeface="Times New Roman"/>
              </a:rPr>
              <a:t>nodes. </a:t>
            </a:r>
            <a:r>
              <a:rPr sz="3850" b="1" spc="135" dirty="0">
                <a:latin typeface="Times New Roman"/>
                <a:cs typeface="Times New Roman"/>
              </a:rPr>
              <a:t>Kubernetes</a:t>
            </a:r>
            <a:r>
              <a:rPr sz="3850" b="1" spc="-50" dirty="0">
                <a:latin typeface="Times New Roman"/>
                <a:cs typeface="Times New Roman"/>
              </a:rPr>
              <a:t> </a:t>
            </a:r>
            <a:r>
              <a:rPr sz="3850" b="1" spc="165" dirty="0">
                <a:latin typeface="Times New Roman"/>
                <a:cs typeface="Times New Roman"/>
              </a:rPr>
              <a:t>has</a:t>
            </a:r>
            <a:r>
              <a:rPr sz="3850" b="1" spc="-45" dirty="0">
                <a:latin typeface="Times New Roman"/>
                <a:cs typeface="Times New Roman"/>
              </a:rPr>
              <a:t> </a:t>
            </a:r>
            <a:r>
              <a:rPr sz="3850" b="1" spc="75" dirty="0">
                <a:latin typeface="Times New Roman"/>
                <a:cs typeface="Times New Roman"/>
              </a:rPr>
              <a:t>a</a:t>
            </a:r>
            <a:r>
              <a:rPr sz="3850" b="1" spc="-45" dirty="0">
                <a:latin typeface="Times New Roman"/>
                <a:cs typeface="Times New Roman"/>
              </a:rPr>
              <a:t> </a:t>
            </a:r>
            <a:r>
              <a:rPr sz="3850" b="1" spc="120" dirty="0">
                <a:latin typeface="Times New Roman"/>
                <a:cs typeface="Times New Roman"/>
              </a:rPr>
              <a:t>object</a:t>
            </a:r>
            <a:r>
              <a:rPr sz="3850" b="1" spc="-45" dirty="0">
                <a:latin typeface="Times New Roman"/>
                <a:cs typeface="Times New Roman"/>
              </a:rPr>
              <a:t> </a:t>
            </a:r>
            <a:r>
              <a:rPr sz="3850" b="1" spc="150" dirty="0">
                <a:latin typeface="Times New Roman"/>
                <a:cs typeface="Times New Roman"/>
              </a:rPr>
              <a:t>called</a:t>
            </a:r>
            <a:r>
              <a:rPr sz="3850" b="1" spc="-45" dirty="0">
                <a:latin typeface="Times New Roman"/>
                <a:cs typeface="Times New Roman"/>
              </a:rPr>
              <a:t> </a:t>
            </a:r>
            <a:r>
              <a:rPr sz="3850" b="1" dirty="0">
                <a:latin typeface="Times New Roman"/>
                <a:cs typeface="Times New Roman"/>
              </a:rPr>
              <a:t>POD</a:t>
            </a:r>
            <a:r>
              <a:rPr sz="3850" b="1" spc="-45" dirty="0">
                <a:latin typeface="Times New Roman"/>
                <a:cs typeface="Times New Roman"/>
              </a:rPr>
              <a:t> </a:t>
            </a:r>
            <a:r>
              <a:rPr sz="3850" b="1" spc="285" dirty="0">
                <a:latin typeface="Times New Roman"/>
                <a:cs typeface="Times New Roman"/>
              </a:rPr>
              <a:t>which</a:t>
            </a:r>
            <a:r>
              <a:rPr sz="3850" b="1" spc="-45" dirty="0">
                <a:latin typeface="Times New Roman"/>
                <a:cs typeface="Times New Roman"/>
              </a:rPr>
              <a:t> </a:t>
            </a:r>
            <a:r>
              <a:rPr sz="3850" b="1" spc="175" dirty="0">
                <a:latin typeface="Times New Roman"/>
                <a:cs typeface="Times New Roman"/>
              </a:rPr>
              <a:t>contains</a:t>
            </a:r>
            <a:r>
              <a:rPr sz="3850" b="1" spc="-45" dirty="0">
                <a:latin typeface="Times New Roman"/>
                <a:cs typeface="Times New Roman"/>
              </a:rPr>
              <a:t> </a:t>
            </a:r>
            <a:r>
              <a:rPr sz="3850" b="1" spc="135" dirty="0">
                <a:latin typeface="Times New Roman"/>
                <a:cs typeface="Times New Roman"/>
              </a:rPr>
              <a:t>containers.</a:t>
            </a:r>
            <a:endParaRPr sz="3850">
              <a:latin typeface="Times New Roman"/>
              <a:cs typeface="Times New Roman"/>
            </a:endParaRPr>
          </a:p>
          <a:p>
            <a:pPr marL="5088255">
              <a:lnSpc>
                <a:spcPct val="100000"/>
              </a:lnSpc>
              <a:spcBef>
                <a:spcPts val="1855"/>
              </a:spcBef>
            </a:pPr>
            <a:r>
              <a:rPr sz="3850" b="1" dirty="0">
                <a:latin typeface="Times New Roman"/>
                <a:cs typeface="Times New Roman"/>
              </a:rPr>
              <a:t>Lets</a:t>
            </a:r>
            <a:r>
              <a:rPr sz="3850" b="1" spc="-70" dirty="0">
                <a:latin typeface="Times New Roman"/>
                <a:cs typeface="Times New Roman"/>
              </a:rPr>
              <a:t> </a:t>
            </a:r>
            <a:r>
              <a:rPr sz="3850" b="1" spc="135" dirty="0">
                <a:latin typeface="Times New Roman"/>
                <a:cs typeface="Times New Roman"/>
              </a:rPr>
              <a:t>learn</a:t>
            </a:r>
            <a:r>
              <a:rPr sz="3850" b="1" spc="-70" dirty="0">
                <a:latin typeface="Times New Roman"/>
                <a:cs typeface="Times New Roman"/>
              </a:rPr>
              <a:t> </a:t>
            </a:r>
            <a:r>
              <a:rPr sz="3850" b="1" spc="170" dirty="0">
                <a:latin typeface="Times New Roman"/>
                <a:cs typeface="Times New Roman"/>
              </a:rPr>
              <a:t>about</a:t>
            </a:r>
            <a:r>
              <a:rPr sz="3850" b="1" spc="-70" dirty="0">
                <a:latin typeface="Times New Roman"/>
                <a:cs typeface="Times New Roman"/>
              </a:rPr>
              <a:t> </a:t>
            </a:r>
            <a:r>
              <a:rPr sz="3850" b="1" spc="-20" dirty="0">
                <a:latin typeface="Times New Roman"/>
                <a:cs typeface="Times New Roman"/>
              </a:rPr>
              <a:t>PODS</a:t>
            </a:r>
            <a:endParaRPr sz="385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6111" y="331068"/>
            <a:ext cx="1502410" cy="787400"/>
          </a:xfrm>
          <a:prstGeom prst="rect">
            <a:avLst/>
          </a:prstGeom>
        </p:spPr>
        <p:txBody>
          <a:bodyPr vert="horz" wrap="square" lIns="0" tIns="12700" rIns="0" bIns="0" rtlCol="0">
            <a:spAutoFit/>
          </a:bodyPr>
          <a:lstStyle/>
          <a:p>
            <a:pPr marL="12700">
              <a:lnSpc>
                <a:spcPct val="100000"/>
              </a:lnSpc>
              <a:spcBef>
                <a:spcPts val="100"/>
              </a:spcBef>
            </a:pPr>
            <a:r>
              <a:rPr spc="-140" dirty="0">
                <a:solidFill>
                  <a:srgbClr val="FF3131"/>
                </a:solidFill>
              </a:rPr>
              <a:t>POD:</a:t>
            </a:r>
          </a:p>
        </p:txBody>
      </p:sp>
      <p:pic>
        <p:nvPicPr>
          <p:cNvPr id="3" name="object 3"/>
          <p:cNvPicPr/>
          <p:nvPr/>
        </p:nvPicPr>
        <p:blipFill>
          <a:blip r:embed="rId2" cstate="print"/>
          <a:stretch>
            <a:fillRect/>
          </a:stretch>
        </p:blipFill>
        <p:spPr>
          <a:xfrm>
            <a:off x="1195414" y="1561484"/>
            <a:ext cx="124094" cy="124094"/>
          </a:xfrm>
          <a:prstGeom prst="rect">
            <a:avLst/>
          </a:prstGeom>
        </p:spPr>
      </p:pic>
      <p:pic>
        <p:nvPicPr>
          <p:cNvPr id="4" name="object 4"/>
          <p:cNvPicPr/>
          <p:nvPr/>
        </p:nvPicPr>
        <p:blipFill>
          <a:blip r:embed="rId3" cstate="print"/>
          <a:stretch>
            <a:fillRect/>
          </a:stretch>
        </p:blipFill>
        <p:spPr>
          <a:xfrm>
            <a:off x="1195414" y="2155364"/>
            <a:ext cx="124094" cy="124094"/>
          </a:xfrm>
          <a:prstGeom prst="rect">
            <a:avLst/>
          </a:prstGeom>
        </p:spPr>
      </p:pic>
      <p:pic>
        <p:nvPicPr>
          <p:cNvPr id="5" name="object 5"/>
          <p:cNvPicPr/>
          <p:nvPr/>
        </p:nvPicPr>
        <p:blipFill>
          <a:blip r:embed="rId2" cstate="print"/>
          <a:stretch>
            <a:fillRect/>
          </a:stretch>
        </p:blipFill>
        <p:spPr>
          <a:xfrm>
            <a:off x="1195414" y="2749245"/>
            <a:ext cx="124094" cy="124094"/>
          </a:xfrm>
          <a:prstGeom prst="rect">
            <a:avLst/>
          </a:prstGeom>
        </p:spPr>
      </p:pic>
      <p:pic>
        <p:nvPicPr>
          <p:cNvPr id="6" name="object 6"/>
          <p:cNvPicPr/>
          <p:nvPr/>
        </p:nvPicPr>
        <p:blipFill>
          <a:blip r:embed="rId2" cstate="print"/>
          <a:stretch>
            <a:fillRect/>
          </a:stretch>
        </p:blipFill>
        <p:spPr>
          <a:xfrm>
            <a:off x="1195414" y="3343126"/>
            <a:ext cx="124094" cy="124094"/>
          </a:xfrm>
          <a:prstGeom prst="rect">
            <a:avLst/>
          </a:prstGeom>
        </p:spPr>
      </p:pic>
      <p:pic>
        <p:nvPicPr>
          <p:cNvPr id="7" name="object 7"/>
          <p:cNvPicPr/>
          <p:nvPr/>
        </p:nvPicPr>
        <p:blipFill>
          <a:blip r:embed="rId2" cstate="print"/>
          <a:stretch>
            <a:fillRect/>
          </a:stretch>
        </p:blipFill>
        <p:spPr>
          <a:xfrm>
            <a:off x="1195414" y="3937007"/>
            <a:ext cx="124094" cy="124094"/>
          </a:xfrm>
          <a:prstGeom prst="rect">
            <a:avLst/>
          </a:prstGeom>
        </p:spPr>
      </p:pic>
      <p:pic>
        <p:nvPicPr>
          <p:cNvPr id="8" name="object 8"/>
          <p:cNvPicPr/>
          <p:nvPr/>
        </p:nvPicPr>
        <p:blipFill>
          <a:blip r:embed="rId2" cstate="print"/>
          <a:stretch>
            <a:fillRect/>
          </a:stretch>
        </p:blipFill>
        <p:spPr>
          <a:xfrm>
            <a:off x="1195414" y="5124768"/>
            <a:ext cx="124094" cy="124094"/>
          </a:xfrm>
          <a:prstGeom prst="rect">
            <a:avLst/>
          </a:prstGeom>
        </p:spPr>
      </p:pic>
      <p:pic>
        <p:nvPicPr>
          <p:cNvPr id="9" name="object 9"/>
          <p:cNvPicPr/>
          <p:nvPr/>
        </p:nvPicPr>
        <p:blipFill>
          <a:blip r:embed="rId2" cstate="print"/>
          <a:stretch>
            <a:fillRect/>
          </a:stretch>
        </p:blipFill>
        <p:spPr>
          <a:xfrm>
            <a:off x="1195414" y="6312530"/>
            <a:ext cx="124094" cy="124093"/>
          </a:xfrm>
          <a:prstGeom prst="rect">
            <a:avLst/>
          </a:prstGeom>
        </p:spPr>
      </p:pic>
      <p:pic>
        <p:nvPicPr>
          <p:cNvPr id="10" name="object 10"/>
          <p:cNvPicPr/>
          <p:nvPr/>
        </p:nvPicPr>
        <p:blipFill>
          <a:blip r:embed="rId4" cstate="print"/>
          <a:stretch>
            <a:fillRect/>
          </a:stretch>
        </p:blipFill>
        <p:spPr>
          <a:xfrm>
            <a:off x="1195414" y="7500292"/>
            <a:ext cx="124094" cy="124094"/>
          </a:xfrm>
          <a:prstGeom prst="rect">
            <a:avLst/>
          </a:prstGeom>
        </p:spPr>
      </p:pic>
      <p:pic>
        <p:nvPicPr>
          <p:cNvPr id="11" name="object 11"/>
          <p:cNvPicPr/>
          <p:nvPr/>
        </p:nvPicPr>
        <p:blipFill>
          <a:blip r:embed="rId5" cstate="print"/>
          <a:stretch>
            <a:fillRect/>
          </a:stretch>
        </p:blipFill>
        <p:spPr>
          <a:xfrm>
            <a:off x="1195414" y="8094173"/>
            <a:ext cx="124094" cy="124094"/>
          </a:xfrm>
          <a:prstGeom prst="rect">
            <a:avLst/>
          </a:prstGeom>
        </p:spPr>
      </p:pic>
      <p:pic>
        <p:nvPicPr>
          <p:cNvPr id="12" name="object 12"/>
          <p:cNvPicPr/>
          <p:nvPr/>
        </p:nvPicPr>
        <p:blipFill>
          <a:blip r:embed="rId6" cstate="print"/>
          <a:stretch>
            <a:fillRect/>
          </a:stretch>
        </p:blipFill>
        <p:spPr>
          <a:xfrm>
            <a:off x="1908957" y="8683621"/>
            <a:ext cx="132958" cy="132958"/>
          </a:xfrm>
          <a:prstGeom prst="rect">
            <a:avLst/>
          </a:prstGeom>
        </p:spPr>
      </p:pic>
      <p:pic>
        <p:nvPicPr>
          <p:cNvPr id="13" name="object 13"/>
          <p:cNvPicPr/>
          <p:nvPr/>
        </p:nvPicPr>
        <p:blipFill>
          <a:blip r:embed="rId7" cstate="print"/>
          <a:stretch>
            <a:fillRect/>
          </a:stretch>
        </p:blipFill>
        <p:spPr>
          <a:xfrm>
            <a:off x="1908957" y="9277502"/>
            <a:ext cx="132958" cy="132958"/>
          </a:xfrm>
          <a:prstGeom prst="rect">
            <a:avLst/>
          </a:prstGeom>
        </p:spPr>
      </p:pic>
      <p:sp>
        <p:nvSpPr>
          <p:cNvPr id="14" name="object 14"/>
          <p:cNvSpPr txBox="1"/>
          <p:nvPr/>
        </p:nvSpPr>
        <p:spPr>
          <a:xfrm>
            <a:off x="1489349" y="1226138"/>
            <a:ext cx="15591790" cy="8340090"/>
          </a:xfrm>
          <a:prstGeom prst="rect">
            <a:avLst/>
          </a:prstGeom>
        </p:spPr>
        <p:txBody>
          <a:bodyPr vert="horz" wrap="square" lIns="0" tIns="12700" rIns="0" bIns="0" rtlCol="0">
            <a:spAutoFit/>
          </a:bodyPr>
          <a:lstStyle/>
          <a:p>
            <a:pPr marL="12700" marR="6559550">
              <a:lnSpc>
                <a:spcPct val="116300"/>
              </a:lnSpc>
              <a:spcBef>
                <a:spcPts val="100"/>
              </a:spcBef>
            </a:pPr>
            <a:r>
              <a:rPr sz="3350" dirty="0">
                <a:solidFill>
                  <a:srgbClr val="2E377E"/>
                </a:solidFill>
                <a:latin typeface="Georgia"/>
                <a:cs typeface="Georgia"/>
              </a:rPr>
              <a:t>It</a:t>
            </a:r>
            <a:r>
              <a:rPr sz="3350" spc="25" dirty="0">
                <a:solidFill>
                  <a:srgbClr val="2E377E"/>
                </a:solidFill>
                <a:latin typeface="Georgia"/>
                <a:cs typeface="Georgia"/>
              </a:rPr>
              <a:t> </a:t>
            </a:r>
            <a:r>
              <a:rPr sz="3350" dirty="0">
                <a:solidFill>
                  <a:srgbClr val="2E377E"/>
                </a:solidFill>
                <a:latin typeface="Georgia"/>
                <a:cs typeface="Georgia"/>
              </a:rPr>
              <a:t>is</a:t>
            </a:r>
            <a:r>
              <a:rPr sz="3350" spc="20" dirty="0">
                <a:solidFill>
                  <a:srgbClr val="2E377E"/>
                </a:solidFill>
                <a:latin typeface="Georgia"/>
                <a:cs typeface="Georgia"/>
              </a:rPr>
              <a:t> </a:t>
            </a:r>
            <a:r>
              <a:rPr sz="3350" dirty="0">
                <a:solidFill>
                  <a:srgbClr val="2E377E"/>
                </a:solidFill>
                <a:latin typeface="Georgia"/>
                <a:cs typeface="Georgia"/>
              </a:rPr>
              <a:t>a</a:t>
            </a:r>
            <a:r>
              <a:rPr sz="3350" spc="25" dirty="0">
                <a:solidFill>
                  <a:srgbClr val="2E377E"/>
                </a:solidFill>
                <a:latin typeface="Georgia"/>
                <a:cs typeface="Georgia"/>
              </a:rPr>
              <a:t> </a:t>
            </a:r>
            <a:r>
              <a:rPr sz="3350" dirty="0">
                <a:solidFill>
                  <a:srgbClr val="2E377E"/>
                </a:solidFill>
                <a:latin typeface="Georgia"/>
                <a:cs typeface="Georgia"/>
              </a:rPr>
              <a:t>smallest</a:t>
            </a:r>
            <a:r>
              <a:rPr sz="3350" spc="25" dirty="0">
                <a:solidFill>
                  <a:srgbClr val="2E377E"/>
                </a:solidFill>
                <a:latin typeface="Georgia"/>
                <a:cs typeface="Georgia"/>
              </a:rPr>
              <a:t> </a:t>
            </a:r>
            <a:r>
              <a:rPr sz="3350" dirty="0">
                <a:solidFill>
                  <a:srgbClr val="2E377E"/>
                </a:solidFill>
                <a:latin typeface="Georgia"/>
                <a:cs typeface="Georgia"/>
              </a:rPr>
              <a:t>object</a:t>
            </a:r>
            <a:r>
              <a:rPr sz="3350" spc="20" dirty="0">
                <a:solidFill>
                  <a:srgbClr val="2E377E"/>
                </a:solidFill>
                <a:latin typeface="Georgia"/>
                <a:cs typeface="Georgia"/>
              </a:rPr>
              <a:t> </a:t>
            </a:r>
            <a:r>
              <a:rPr sz="3350" spc="50" dirty="0">
                <a:solidFill>
                  <a:srgbClr val="2E377E"/>
                </a:solidFill>
                <a:latin typeface="Georgia"/>
                <a:cs typeface="Georgia"/>
              </a:rPr>
              <a:t>that</a:t>
            </a:r>
            <a:r>
              <a:rPr sz="3350" spc="20" dirty="0">
                <a:solidFill>
                  <a:srgbClr val="2E377E"/>
                </a:solidFill>
                <a:latin typeface="Georgia"/>
                <a:cs typeface="Georgia"/>
              </a:rPr>
              <a:t> </a:t>
            </a:r>
            <a:r>
              <a:rPr sz="3350" spc="120" dirty="0">
                <a:solidFill>
                  <a:srgbClr val="2E377E"/>
                </a:solidFill>
                <a:latin typeface="Georgia"/>
                <a:cs typeface="Georgia"/>
              </a:rPr>
              <a:t>we</a:t>
            </a:r>
            <a:r>
              <a:rPr sz="3350" spc="25" dirty="0">
                <a:solidFill>
                  <a:srgbClr val="2E377E"/>
                </a:solidFill>
                <a:latin typeface="Georgia"/>
                <a:cs typeface="Georgia"/>
              </a:rPr>
              <a:t> </a:t>
            </a:r>
            <a:r>
              <a:rPr sz="3350" dirty="0">
                <a:solidFill>
                  <a:srgbClr val="2E377E"/>
                </a:solidFill>
                <a:latin typeface="Georgia"/>
                <a:cs typeface="Georgia"/>
              </a:rPr>
              <a:t>can</a:t>
            </a:r>
            <a:r>
              <a:rPr sz="3350" spc="25" dirty="0">
                <a:solidFill>
                  <a:srgbClr val="2E377E"/>
                </a:solidFill>
                <a:latin typeface="Georgia"/>
                <a:cs typeface="Georgia"/>
              </a:rPr>
              <a:t> </a:t>
            </a:r>
            <a:r>
              <a:rPr sz="3350" dirty="0">
                <a:solidFill>
                  <a:srgbClr val="2E377E"/>
                </a:solidFill>
                <a:latin typeface="Georgia"/>
                <a:cs typeface="Georgia"/>
              </a:rPr>
              <a:t>create</a:t>
            </a:r>
            <a:r>
              <a:rPr sz="3350" spc="25" dirty="0">
                <a:solidFill>
                  <a:srgbClr val="2E377E"/>
                </a:solidFill>
                <a:latin typeface="Georgia"/>
                <a:cs typeface="Georgia"/>
              </a:rPr>
              <a:t> </a:t>
            </a:r>
            <a:r>
              <a:rPr sz="3350" dirty="0">
                <a:solidFill>
                  <a:srgbClr val="2E377E"/>
                </a:solidFill>
                <a:latin typeface="Georgia"/>
                <a:cs typeface="Georgia"/>
              </a:rPr>
              <a:t>in</a:t>
            </a:r>
            <a:r>
              <a:rPr sz="3350" spc="20" dirty="0">
                <a:solidFill>
                  <a:srgbClr val="2E377E"/>
                </a:solidFill>
                <a:latin typeface="Georgia"/>
                <a:cs typeface="Georgia"/>
              </a:rPr>
              <a:t> </a:t>
            </a:r>
            <a:r>
              <a:rPr sz="3350" spc="-65" dirty="0">
                <a:solidFill>
                  <a:srgbClr val="2E377E"/>
                </a:solidFill>
                <a:latin typeface="Georgia"/>
                <a:cs typeface="Georgia"/>
              </a:rPr>
              <a:t>K8's. </a:t>
            </a:r>
            <a:r>
              <a:rPr sz="3350" dirty="0">
                <a:solidFill>
                  <a:srgbClr val="2E377E"/>
                </a:solidFill>
                <a:latin typeface="Georgia"/>
                <a:cs typeface="Georgia"/>
              </a:rPr>
              <a:t>It</a:t>
            </a:r>
            <a:r>
              <a:rPr sz="3350" spc="-5" dirty="0">
                <a:solidFill>
                  <a:srgbClr val="2E377E"/>
                </a:solidFill>
                <a:latin typeface="Georgia"/>
                <a:cs typeface="Georgia"/>
              </a:rPr>
              <a:t> </a:t>
            </a:r>
            <a:r>
              <a:rPr sz="3350" dirty="0">
                <a:solidFill>
                  <a:srgbClr val="2E377E"/>
                </a:solidFill>
                <a:latin typeface="Georgia"/>
                <a:cs typeface="Georgia"/>
              </a:rPr>
              <a:t>is</a:t>
            </a:r>
            <a:r>
              <a:rPr sz="3350" spc="-5" dirty="0">
                <a:solidFill>
                  <a:srgbClr val="2E377E"/>
                </a:solidFill>
                <a:latin typeface="Georgia"/>
                <a:cs typeface="Georgia"/>
              </a:rPr>
              <a:t> </a:t>
            </a:r>
            <a:r>
              <a:rPr sz="3350" dirty="0">
                <a:solidFill>
                  <a:srgbClr val="2E377E"/>
                </a:solidFill>
                <a:latin typeface="Georgia"/>
                <a:cs typeface="Georgia"/>
              </a:rPr>
              <a:t>a</a:t>
            </a:r>
            <a:r>
              <a:rPr sz="3350" spc="-5" dirty="0">
                <a:solidFill>
                  <a:srgbClr val="2E377E"/>
                </a:solidFill>
                <a:latin typeface="Georgia"/>
                <a:cs typeface="Georgia"/>
              </a:rPr>
              <a:t> </a:t>
            </a:r>
            <a:r>
              <a:rPr sz="3350" dirty="0">
                <a:solidFill>
                  <a:srgbClr val="2E377E"/>
                </a:solidFill>
                <a:latin typeface="Georgia"/>
                <a:cs typeface="Georgia"/>
              </a:rPr>
              <a:t>group</a:t>
            </a:r>
            <a:r>
              <a:rPr sz="3350" spc="-5" dirty="0">
                <a:solidFill>
                  <a:srgbClr val="2E377E"/>
                </a:solidFill>
                <a:latin typeface="Georgia"/>
                <a:cs typeface="Georgia"/>
              </a:rPr>
              <a:t> </a:t>
            </a:r>
            <a:r>
              <a:rPr sz="3350" dirty="0">
                <a:solidFill>
                  <a:srgbClr val="2E377E"/>
                </a:solidFill>
                <a:latin typeface="Georgia"/>
                <a:cs typeface="Georgia"/>
              </a:rPr>
              <a:t>of</a:t>
            </a:r>
            <a:r>
              <a:rPr sz="3350" spc="-5" dirty="0">
                <a:solidFill>
                  <a:srgbClr val="2E377E"/>
                </a:solidFill>
                <a:latin typeface="Georgia"/>
                <a:cs typeface="Georgia"/>
              </a:rPr>
              <a:t> </a:t>
            </a:r>
            <a:r>
              <a:rPr sz="3350" spc="-10" dirty="0">
                <a:solidFill>
                  <a:srgbClr val="2E377E"/>
                </a:solidFill>
                <a:latin typeface="Georgia"/>
                <a:cs typeface="Georgia"/>
              </a:rPr>
              <a:t>containers.</a:t>
            </a:r>
            <a:endParaRPr sz="3350">
              <a:latin typeface="Georgia"/>
              <a:cs typeface="Georgia"/>
            </a:endParaRPr>
          </a:p>
          <a:p>
            <a:pPr marL="12700" marR="6182995">
              <a:lnSpc>
                <a:spcPct val="116300"/>
              </a:lnSpc>
            </a:pPr>
            <a:r>
              <a:rPr sz="3350" dirty="0">
                <a:solidFill>
                  <a:srgbClr val="2E377E"/>
                </a:solidFill>
                <a:latin typeface="Georgia"/>
                <a:cs typeface="Georgia"/>
              </a:rPr>
              <a:t>Pod</a:t>
            </a:r>
            <a:r>
              <a:rPr sz="3350" spc="40" dirty="0">
                <a:solidFill>
                  <a:srgbClr val="2E377E"/>
                </a:solidFill>
                <a:latin typeface="Georgia"/>
                <a:cs typeface="Georgia"/>
              </a:rPr>
              <a:t> </a:t>
            </a:r>
            <a:r>
              <a:rPr sz="3350" dirty="0">
                <a:solidFill>
                  <a:srgbClr val="2E377E"/>
                </a:solidFill>
                <a:latin typeface="Georgia"/>
                <a:cs typeface="Georgia"/>
              </a:rPr>
              <a:t>acts</a:t>
            </a:r>
            <a:r>
              <a:rPr sz="3350" spc="50" dirty="0">
                <a:solidFill>
                  <a:srgbClr val="2E377E"/>
                </a:solidFill>
                <a:latin typeface="Georgia"/>
                <a:cs typeface="Georgia"/>
              </a:rPr>
              <a:t> </a:t>
            </a:r>
            <a:r>
              <a:rPr sz="3350" dirty="0">
                <a:solidFill>
                  <a:srgbClr val="2E377E"/>
                </a:solidFill>
                <a:latin typeface="Georgia"/>
                <a:cs typeface="Georgia"/>
              </a:rPr>
              <a:t>like</a:t>
            </a:r>
            <a:r>
              <a:rPr sz="3350" spc="50" dirty="0">
                <a:solidFill>
                  <a:srgbClr val="2E377E"/>
                </a:solidFill>
                <a:latin typeface="Georgia"/>
                <a:cs typeface="Georgia"/>
              </a:rPr>
              <a:t> </a:t>
            </a:r>
            <a:r>
              <a:rPr sz="3350" dirty="0">
                <a:solidFill>
                  <a:srgbClr val="2E377E"/>
                </a:solidFill>
                <a:latin typeface="Georgia"/>
                <a:cs typeface="Georgia"/>
              </a:rPr>
              <a:t>a</a:t>
            </a:r>
            <a:r>
              <a:rPr sz="3350" spc="50" dirty="0">
                <a:solidFill>
                  <a:srgbClr val="2E377E"/>
                </a:solidFill>
                <a:latin typeface="Georgia"/>
                <a:cs typeface="Georgia"/>
              </a:rPr>
              <a:t> </a:t>
            </a:r>
            <a:r>
              <a:rPr sz="3350" dirty="0">
                <a:solidFill>
                  <a:srgbClr val="2E377E"/>
                </a:solidFill>
                <a:latin typeface="Georgia"/>
                <a:cs typeface="Georgia"/>
              </a:rPr>
              <a:t>single</a:t>
            </a:r>
            <a:r>
              <a:rPr sz="3350" spc="50" dirty="0">
                <a:solidFill>
                  <a:srgbClr val="2E377E"/>
                </a:solidFill>
                <a:latin typeface="Georgia"/>
                <a:cs typeface="Georgia"/>
              </a:rPr>
              <a:t> </a:t>
            </a:r>
            <a:r>
              <a:rPr sz="3350" dirty="0">
                <a:solidFill>
                  <a:srgbClr val="2E377E"/>
                </a:solidFill>
                <a:latin typeface="Georgia"/>
                <a:cs typeface="Georgia"/>
              </a:rPr>
              <a:t>instance</a:t>
            </a:r>
            <a:r>
              <a:rPr sz="3350" spc="50" dirty="0">
                <a:solidFill>
                  <a:srgbClr val="2E377E"/>
                </a:solidFill>
                <a:latin typeface="Georgia"/>
                <a:cs typeface="Georgia"/>
              </a:rPr>
              <a:t> </a:t>
            </a:r>
            <a:r>
              <a:rPr sz="3350" dirty="0">
                <a:solidFill>
                  <a:srgbClr val="2E377E"/>
                </a:solidFill>
                <a:latin typeface="Georgia"/>
                <a:cs typeface="Georgia"/>
              </a:rPr>
              <a:t>for</a:t>
            </a:r>
            <a:r>
              <a:rPr sz="3350" spc="55" dirty="0">
                <a:solidFill>
                  <a:srgbClr val="2E377E"/>
                </a:solidFill>
                <a:latin typeface="Georgia"/>
                <a:cs typeface="Georgia"/>
              </a:rPr>
              <a:t> </a:t>
            </a:r>
            <a:r>
              <a:rPr sz="3350" dirty="0">
                <a:solidFill>
                  <a:srgbClr val="2E377E"/>
                </a:solidFill>
                <a:latin typeface="Georgia"/>
                <a:cs typeface="Georgia"/>
              </a:rPr>
              <a:t>our</a:t>
            </a:r>
            <a:r>
              <a:rPr sz="3350" spc="50" dirty="0">
                <a:solidFill>
                  <a:srgbClr val="2E377E"/>
                </a:solidFill>
                <a:latin typeface="Georgia"/>
                <a:cs typeface="Georgia"/>
              </a:rPr>
              <a:t> </a:t>
            </a:r>
            <a:r>
              <a:rPr sz="3350" spc="-10" dirty="0">
                <a:solidFill>
                  <a:srgbClr val="2E377E"/>
                </a:solidFill>
                <a:latin typeface="Georgia"/>
                <a:cs typeface="Georgia"/>
              </a:rPr>
              <a:t>application. </a:t>
            </a:r>
            <a:r>
              <a:rPr sz="3350" dirty="0">
                <a:solidFill>
                  <a:srgbClr val="2E377E"/>
                </a:solidFill>
                <a:latin typeface="Georgia"/>
                <a:cs typeface="Georgia"/>
              </a:rPr>
              <a:t>Pods</a:t>
            </a:r>
            <a:r>
              <a:rPr sz="3350" spc="30" dirty="0">
                <a:solidFill>
                  <a:srgbClr val="2E377E"/>
                </a:solidFill>
                <a:latin typeface="Georgia"/>
                <a:cs typeface="Georgia"/>
              </a:rPr>
              <a:t> </a:t>
            </a:r>
            <a:r>
              <a:rPr sz="3350" dirty="0">
                <a:solidFill>
                  <a:srgbClr val="2E377E"/>
                </a:solidFill>
                <a:latin typeface="Georgia"/>
                <a:cs typeface="Georgia"/>
              </a:rPr>
              <a:t>are</a:t>
            </a:r>
            <a:r>
              <a:rPr sz="3350" spc="35" dirty="0">
                <a:solidFill>
                  <a:srgbClr val="2E377E"/>
                </a:solidFill>
                <a:latin typeface="Georgia"/>
                <a:cs typeface="Georgia"/>
              </a:rPr>
              <a:t> </a:t>
            </a:r>
            <a:r>
              <a:rPr sz="3350" dirty="0">
                <a:solidFill>
                  <a:srgbClr val="2E377E"/>
                </a:solidFill>
                <a:latin typeface="Georgia"/>
                <a:cs typeface="Georgia"/>
              </a:rPr>
              <a:t>ephemeral</a:t>
            </a:r>
            <a:r>
              <a:rPr sz="3350" spc="40" dirty="0">
                <a:solidFill>
                  <a:srgbClr val="2E377E"/>
                </a:solidFill>
                <a:latin typeface="Georgia"/>
                <a:cs typeface="Georgia"/>
              </a:rPr>
              <a:t> </a:t>
            </a:r>
            <a:r>
              <a:rPr sz="3350" dirty="0">
                <a:solidFill>
                  <a:srgbClr val="2E377E"/>
                </a:solidFill>
                <a:latin typeface="Georgia"/>
                <a:cs typeface="Georgia"/>
              </a:rPr>
              <a:t>(short</a:t>
            </a:r>
            <a:r>
              <a:rPr sz="3350" spc="35" dirty="0">
                <a:solidFill>
                  <a:srgbClr val="2E377E"/>
                </a:solidFill>
                <a:latin typeface="Georgia"/>
                <a:cs typeface="Georgia"/>
              </a:rPr>
              <a:t> </a:t>
            </a:r>
            <a:r>
              <a:rPr sz="3350" dirty="0">
                <a:solidFill>
                  <a:srgbClr val="2E377E"/>
                </a:solidFill>
                <a:latin typeface="Georgia"/>
                <a:cs typeface="Georgia"/>
              </a:rPr>
              <a:t>living</a:t>
            </a:r>
            <a:r>
              <a:rPr sz="3350" spc="40" dirty="0">
                <a:solidFill>
                  <a:srgbClr val="2E377E"/>
                </a:solidFill>
                <a:latin typeface="Georgia"/>
                <a:cs typeface="Georgia"/>
              </a:rPr>
              <a:t> </a:t>
            </a:r>
            <a:r>
              <a:rPr sz="3350" spc="-10" dirty="0">
                <a:solidFill>
                  <a:srgbClr val="2E377E"/>
                </a:solidFill>
                <a:latin typeface="Georgia"/>
                <a:cs typeface="Georgia"/>
              </a:rPr>
              <a:t>objects)</a:t>
            </a:r>
            <a:endParaRPr sz="3350">
              <a:latin typeface="Georgia"/>
              <a:cs typeface="Georgia"/>
            </a:endParaRPr>
          </a:p>
          <a:p>
            <a:pPr marL="12700" marR="247650">
              <a:lnSpc>
                <a:spcPct val="116300"/>
              </a:lnSpc>
            </a:pPr>
            <a:r>
              <a:rPr sz="3350" dirty="0">
                <a:solidFill>
                  <a:srgbClr val="2E377E"/>
                </a:solidFill>
                <a:latin typeface="Georgia"/>
                <a:cs typeface="Georgia"/>
              </a:rPr>
              <a:t>Mostly</a:t>
            </a:r>
            <a:r>
              <a:rPr sz="3350" spc="5" dirty="0">
                <a:solidFill>
                  <a:srgbClr val="2E377E"/>
                </a:solidFill>
                <a:latin typeface="Georgia"/>
                <a:cs typeface="Georgia"/>
              </a:rPr>
              <a:t> </a:t>
            </a:r>
            <a:r>
              <a:rPr sz="3350" spc="120" dirty="0">
                <a:solidFill>
                  <a:srgbClr val="2E377E"/>
                </a:solidFill>
                <a:latin typeface="Georgia"/>
                <a:cs typeface="Georgia"/>
              </a:rPr>
              <a:t>we</a:t>
            </a:r>
            <a:r>
              <a:rPr sz="3350" spc="15" dirty="0">
                <a:solidFill>
                  <a:srgbClr val="2E377E"/>
                </a:solidFill>
                <a:latin typeface="Georgia"/>
                <a:cs typeface="Georgia"/>
              </a:rPr>
              <a:t> </a:t>
            </a:r>
            <a:r>
              <a:rPr sz="3350" dirty="0">
                <a:solidFill>
                  <a:srgbClr val="2E377E"/>
                </a:solidFill>
                <a:latin typeface="Georgia"/>
                <a:cs typeface="Georgia"/>
              </a:rPr>
              <a:t>can</a:t>
            </a:r>
            <a:r>
              <a:rPr sz="3350" spc="20" dirty="0">
                <a:solidFill>
                  <a:srgbClr val="2E377E"/>
                </a:solidFill>
                <a:latin typeface="Georgia"/>
                <a:cs typeface="Georgia"/>
              </a:rPr>
              <a:t> </a:t>
            </a:r>
            <a:r>
              <a:rPr sz="3350" dirty="0">
                <a:solidFill>
                  <a:srgbClr val="2E377E"/>
                </a:solidFill>
                <a:latin typeface="Georgia"/>
                <a:cs typeface="Georgia"/>
              </a:rPr>
              <a:t>use</a:t>
            </a:r>
            <a:r>
              <a:rPr sz="3350" spc="15" dirty="0">
                <a:solidFill>
                  <a:srgbClr val="2E377E"/>
                </a:solidFill>
                <a:latin typeface="Georgia"/>
                <a:cs typeface="Georgia"/>
              </a:rPr>
              <a:t> </a:t>
            </a:r>
            <a:r>
              <a:rPr sz="3350" dirty="0">
                <a:solidFill>
                  <a:srgbClr val="2E377E"/>
                </a:solidFill>
                <a:latin typeface="Georgia"/>
                <a:cs typeface="Georgia"/>
              </a:rPr>
              <a:t>single</a:t>
            </a:r>
            <a:r>
              <a:rPr sz="3350" spc="15" dirty="0">
                <a:solidFill>
                  <a:srgbClr val="2E377E"/>
                </a:solidFill>
                <a:latin typeface="Georgia"/>
                <a:cs typeface="Georgia"/>
              </a:rPr>
              <a:t> </a:t>
            </a:r>
            <a:r>
              <a:rPr sz="3350" dirty="0">
                <a:solidFill>
                  <a:srgbClr val="2E377E"/>
                </a:solidFill>
                <a:latin typeface="Georgia"/>
                <a:cs typeface="Georgia"/>
              </a:rPr>
              <a:t>container</a:t>
            </a:r>
            <a:r>
              <a:rPr sz="3350" spc="15" dirty="0">
                <a:solidFill>
                  <a:srgbClr val="2E377E"/>
                </a:solidFill>
                <a:latin typeface="Georgia"/>
                <a:cs typeface="Georgia"/>
              </a:rPr>
              <a:t> </a:t>
            </a:r>
            <a:r>
              <a:rPr sz="3350" dirty="0">
                <a:solidFill>
                  <a:srgbClr val="2E377E"/>
                </a:solidFill>
                <a:latin typeface="Georgia"/>
                <a:cs typeface="Georgia"/>
              </a:rPr>
              <a:t>inside</a:t>
            </a:r>
            <a:r>
              <a:rPr sz="3350" spc="20" dirty="0">
                <a:solidFill>
                  <a:srgbClr val="2E377E"/>
                </a:solidFill>
                <a:latin typeface="Georgia"/>
                <a:cs typeface="Georgia"/>
              </a:rPr>
              <a:t> </a:t>
            </a:r>
            <a:r>
              <a:rPr sz="3350" dirty="0">
                <a:solidFill>
                  <a:srgbClr val="2E377E"/>
                </a:solidFill>
                <a:latin typeface="Georgia"/>
                <a:cs typeface="Georgia"/>
              </a:rPr>
              <a:t>a</a:t>
            </a:r>
            <a:r>
              <a:rPr sz="3350" spc="15" dirty="0">
                <a:solidFill>
                  <a:srgbClr val="2E377E"/>
                </a:solidFill>
                <a:latin typeface="Georgia"/>
                <a:cs typeface="Georgia"/>
              </a:rPr>
              <a:t> </a:t>
            </a:r>
            <a:r>
              <a:rPr sz="3350" dirty="0">
                <a:solidFill>
                  <a:srgbClr val="2E377E"/>
                </a:solidFill>
                <a:latin typeface="Georgia"/>
                <a:cs typeface="Georgia"/>
              </a:rPr>
              <a:t>pod</a:t>
            </a:r>
            <a:r>
              <a:rPr sz="3350" spc="15" dirty="0">
                <a:solidFill>
                  <a:srgbClr val="2E377E"/>
                </a:solidFill>
                <a:latin typeface="Georgia"/>
                <a:cs typeface="Georgia"/>
              </a:rPr>
              <a:t> </a:t>
            </a:r>
            <a:r>
              <a:rPr sz="3350" spc="50" dirty="0">
                <a:solidFill>
                  <a:srgbClr val="2E377E"/>
                </a:solidFill>
                <a:latin typeface="Georgia"/>
                <a:cs typeface="Georgia"/>
              </a:rPr>
              <a:t>but</a:t>
            </a:r>
            <a:r>
              <a:rPr sz="3350" spc="15" dirty="0">
                <a:solidFill>
                  <a:srgbClr val="2E377E"/>
                </a:solidFill>
                <a:latin typeface="Georgia"/>
                <a:cs typeface="Georgia"/>
              </a:rPr>
              <a:t> </a:t>
            </a:r>
            <a:r>
              <a:rPr sz="3350" dirty="0">
                <a:solidFill>
                  <a:srgbClr val="2E377E"/>
                </a:solidFill>
                <a:latin typeface="Georgia"/>
                <a:cs typeface="Georgia"/>
              </a:rPr>
              <a:t>if</a:t>
            </a:r>
            <a:r>
              <a:rPr sz="3350" spc="15" dirty="0">
                <a:solidFill>
                  <a:srgbClr val="2E377E"/>
                </a:solidFill>
                <a:latin typeface="Georgia"/>
                <a:cs typeface="Georgia"/>
              </a:rPr>
              <a:t> </a:t>
            </a:r>
            <a:r>
              <a:rPr sz="3350" spc="120" dirty="0">
                <a:solidFill>
                  <a:srgbClr val="2E377E"/>
                </a:solidFill>
                <a:latin typeface="Georgia"/>
                <a:cs typeface="Georgia"/>
              </a:rPr>
              <a:t>we</a:t>
            </a:r>
            <a:r>
              <a:rPr sz="3350" spc="15" dirty="0">
                <a:solidFill>
                  <a:srgbClr val="2E377E"/>
                </a:solidFill>
                <a:latin typeface="Georgia"/>
                <a:cs typeface="Georgia"/>
              </a:rPr>
              <a:t> </a:t>
            </a:r>
            <a:r>
              <a:rPr sz="3350" dirty="0">
                <a:solidFill>
                  <a:srgbClr val="2E377E"/>
                </a:solidFill>
                <a:latin typeface="Georgia"/>
                <a:cs typeface="Georgia"/>
              </a:rPr>
              <a:t>required,</a:t>
            </a:r>
            <a:r>
              <a:rPr sz="3350" spc="20" dirty="0">
                <a:solidFill>
                  <a:srgbClr val="2E377E"/>
                </a:solidFill>
                <a:latin typeface="Georgia"/>
                <a:cs typeface="Georgia"/>
              </a:rPr>
              <a:t> </a:t>
            </a:r>
            <a:r>
              <a:rPr sz="3350" spc="120" dirty="0">
                <a:solidFill>
                  <a:srgbClr val="2E377E"/>
                </a:solidFill>
                <a:latin typeface="Georgia"/>
                <a:cs typeface="Georgia"/>
              </a:rPr>
              <a:t>we</a:t>
            </a:r>
            <a:r>
              <a:rPr sz="3350" spc="15" dirty="0">
                <a:solidFill>
                  <a:srgbClr val="2E377E"/>
                </a:solidFill>
                <a:latin typeface="Georgia"/>
                <a:cs typeface="Georgia"/>
              </a:rPr>
              <a:t> </a:t>
            </a:r>
            <a:r>
              <a:rPr sz="3350" dirty="0">
                <a:solidFill>
                  <a:srgbClr val="2E377E"/>
                </a:solidFill>
                <a:latin typeface="Georgia"/>
                <a:cs typeface="Georgia"/>
              </a:rPr>
              <a:t>can</a:t>
            </a:r>
            <a:r>
              <a:rPr sz="3350" spc="20" dirty="0">
                <a:solidFill>
                  <a:srgbClr val="2E377E"/>
                </a:solidFill>
                <a:latin typeface="Georgia"/>
                <a:cs typeface="Georgia"/>
              </a:rPr>
              <a:t> </a:t>
            </a:r>
            <a:r>
              <a:rPr sz="3350" spc="-10" dirty="0">
                <a:solidFill>
                  <a:srgbClr val="2E377E"/>
                </a:solidFill>
                <a:latin typeface="Georgia"/>
                <a:cs typeface="Georgia"/>
              </a:rPr>
              <a:t>create </a:t>
            </a:r>
            <a:r>
              <a:rPr sz="3350" dirty="0">
                <a:solidFill>
                  <a:srgbClr val="2E377E"/>
                </a:solidFill>
                <a:latin typeface="Georgia"/>
                <a:cs typeface="Georgia"/>
              </a:rPr>
              <a:t>multiple</a:t>
            </a:r>
            <a:r>
              <a:rPr sz="3350" spc="85" dirty="0">
                <a:solidFill>
                  <a:srgbClr val="2E377E"/>
                </a:solidFill>
                <a:latin typeface="Georgia"/>
                <a:cs typeface="Georgia"/>
              </a:rPr>
              <a:t> </a:t>
            </a:r>
            <a:r>
              <a:rPr sz="3350" dirty="0">
                <a:solidFill>
                  <a:srgbClr val="2E377E"/>
                </a:solidFill>
                <a:latin typeface="Georgia"/>
                <a:cs typeface="Georgia"/>
              </a:rPr>
              <a:t>containers</a:t>
            </a:r>
            <a:r>
              <a:rPr sz="3350" spc="85" dirty="0">
                <a:solidFill>
                  <a:srgbClr val="2E377E"/>
                </a:solidFill>
                <a:latin typeface="Georgia"/>
                <a:cs typeface="Georgia"/>
              </a:rPr>
              <a:t> </a:t>
            </a:r>
            <a:r>
              <a:rPr sz="3350" dirty="0">
                <a:solidFill>
                  <a:srgbClr val="2E377E"/>
                </a:solidFill>
                <a:latin typeface="Georgia"/>
                <a:cs typeface="Georgia"/>
              </a:rPr>
              <a:t>inside</a:t>
            </a:r>
            <a:r>
              <a:rPr sz="3350" spc="90" dirty="0">
                <a:solidFill>
                  <a:srgbClr val="2E377E"/>
                </a:solidFill>
                <a:latin typeface="Georgia"/>
                <a:cs typeface="Georgia"/>
              </a:rPr>
              <a:t> </a:t>
            </a:r>
            <a:r>
              <a:rPr sz="3350" dirty="0">
                <a:solidFill>
                  <a:srgbClr val="2E377E"/>
                </a:solidFill>
                <a:latin typeface="Georgia"/>
                <a:cs typeface="Georgia"/>
              </a:rPr>
              <a:t>a</a:t>
            </a:r>
            <a:r>
              <a:rPr sz="3350" spc="85" dirty="0">
                <a:solidFill>
                  <a:srgbClr val="2E377E"/>
                </a:solidFill>
                <a:latin typeface="Georgia"/>
                <a:cs typeface="Georgia"/>
              </a:rPr>
              <a:t> </a:t>
            </a:r>
            <a:r>
              <a:rPr sz="3350" dirty="0">
                <a:solidFill>
                  <a:srgbClr val="2E377E"/>
                </a:solidFill>
                <a:latin typeface="Georgia"/>
                <a:cs typeface="Georgia"/>
              </a:rPr>
              <a:t>same</a:t>
            </a:r>
            <a:r>
              <a:rPr sz="3350" spc="85" dirty="0">
                <a:solidFill>
                  <a:srgbClr val="2E377E"/>
                </a:solidFill>
                <a:latin typeface="Georgia"/>
                <a:cs typeface="Georgia"/>
              </a:rPr>
              <a:t> </a:t>
            </a:r>
            <a:r>
              <a:rPr sz="3350" spc="-20" dirty="0">
                <a:solidFill>
                  <a:srgbClr val="2E377E"/>
                </a:solidFill>
                <a:latin typeface="Georgia"/>
                <a:cs typeface="Georgia"/>
              </a:rPr>
              <a:t>pod.</a:t>
            </a:r>
            <a:endParaRPr sz="3350">
              <a:latin typeface="Georgia"/>
              <a:cs typeface="Georgia"/>
            </a:endParaRPr>
          </a:p>
          <a:p>
            <a:pPr marL="12700" marR="1530350">
              <a:lnSpc>
                <a:spcPct val="116300"/>
              </a:lnSpc>
            </a:pPr>
            <a:r>
              <a:rPr sz="3350" spc="70" dirty="0">
                <a:solidFill>
                  <a:srgbClr val="2E377E"/>
                </a:solidFill>
                <a:latin typeface="Georgia"/>
                <a:cs typeface="Georgia"/>
              </a:rPr>
              <a:t>when</a:t>
            </a:r>
            <a:r>
              <a:rPr sz="3350" spc="20" dirty="0">
                <a:solidFill>
                  <a:srgbClr val="2E377E"/>
                </a:solidFill>
                <a:latin typeface="Georgia"/>
                <a:cs typeface="Georgia"/>
              </a:rPr>
              <a:t> </a:t>
            </a:r>
            <a:r>
              <a:rPr sz="3350" spc="120" dirty="0">
                <a:solidFill>
                  <a:srgbClr val="2E377E"/>
                </a:solidFill>
                <a:latin typeface="Georgia"/>
                <a:cs typeface="Georgia"/>
              </a:rPr>
              <a:t>we</a:t>
            </a:r>
            <a:r>
              <a:rPr sz="3350" spc="20" dirty="0">
                <a:solidFill>
                  <a:srgbClr val="2E377E"/>
                </a:solidFill>
                <a:latin typeface="Georgia"/>
                <a:cs typeface="Georgia"/>
              </a:rPr>
              <a:t> </a:t>
            </a:r>
            <a:r>
              <a:rPr sz="3350" dirty="0">
                <a:solidFill>
                  <a:srgbClr val="2E377E"/>
                </a:solidFill>
                <a:latin typeface="Georgia"/>
                <a:cs typeface="Georgia"/>
              </a:rPr>
              <a:t>create</a:t>
            </a:r>
            <a:r>
              <a:rPr sz="3350" spc="20" dirty="0">
                <a:solidFill>
                  <a:srgbClr val="2E377E"/>
                </a:solidFill>
                <a:latin typeface="Georgia"/>
                <a:cs typeface="Georgia"/>
              </a:rPr>
              <a:t> </a:t>
            </a:r>
            <a:r>
              <a:rPr sz="3350" dirty="0">
                <a:solidFill>
                  <a:srgbClr val="2E377E"/>
                </a:solidFill>
                <a:latin typeface="Georgia"/>
                <a:cs typeface="Georgia"/>
              </a:rPr>
              <a:t>a</a:t>
            </a:r>
            <a:r>
              <a:rPr sz="3350" spc="20" dirty="0">
                <a:solidFill>
                  <a:srgbClr val="2E377E"/>
                </a:solidFill>
                <a:latin typeface="Georgia"/>
                <a:cs typeface="Georgia"/>
              </a:rPr>
              <a:t> </a:t>
            </a:r>
            <a:r>
              <a:rPr sz="3350" dirty="0">
                <a:solidFill>
                  <a:srgbClr val="2E377E"/>
                </a:solidFill>
                <a:latin typeface="Georgia"/>
                <a:cs typeface="Georgia"/>
              </a:rPr>
              <a:t>pod,</a:t>
            </a:r>
            <a:r>
              <a:rPr sz="3350" spc="20" dirty="0">
                <a:solidFill>
                  <a:srgbClr val="2E377E"/>
                </a:solidFill>
                <a:latin typeface="Georgia"/>
                <a:cs typeface="Georgia"/>
              </a:rPr>
              <a:t> </a:t>
            </a:r>
            <a:r>
              <a:rPr sz="3350" dirty="0">
                <a:solidFill>
                  <a:srgbClr val="2E377E"/>
                </a:solidFill>
                <a:latin typeface="Georgia"/>
                <a:cs typeface="Georgia"/>
              </a:rPr>
              <a:t>containers</a:t>
            </a:r>
            <a:r>
              <a:rPr sz="3350" spc="20" dirty="0">
                <a:solidFill>
                  <a:srgbClr val="2E377E"/>
                </a:solidFill>
                <a:latin typeface="Georgia"/>
                <a:cs typeface="Georgia"/>
              </a:rPr>
              <a:t> </a:t>
            </a:r>
            <a:r>
              <a:rPr sz="3350" dirty="0">
                <a:solidFill>
                  <a:srgbClr val="2E377E"/>
                </a:solidFill>
                <a:latin typeface="Georgia"/>
                <a:cs typeface="Georgia"/>
              </a:rPr>
              <a:t>inside</a:t>
            </a:r>
            <a:r>
              <a:rPr sz="3350" spc="20" dirty="0">
                <a:solidFill>
                  <a:srgbClr val="2E377E"/>
                </a:solidFill>
                <a:latin typeface="Georgia"/>
                <a:cs typeface="Georgia"/>
              </a:rPr>
              <a:t> </a:t>
            </a:r>
            <a:r>
              <a:rPr sz="3350" dirty="0">
                <a:solidFill>
                  <a:srgbClr val="2E377E"/>
                </a:solidFill>
                <a:latin typeface="Georgia"/>
                <a:cs typeface="Georgia"/>
              </a:rPr>
              <a:t>pods</a:t>
            </a:r>
            <a:r>
              <a:rPr sz="3350" spc="20" dirty="0">
                <a:solidFill>
                  <a:srgbClr val="2E377E"/>
                </a:solidFill>
                <a:latin typeface="Georgia"/>
                <a:cs typeface="Georgia"/>
              </a:rPr>
              <a:t> </a:t>
            </a:r>
            <a:r>
              <a:rPr sz="3350" dirty="0">
                <a:solidFill>
                  <a:srgbClr val="2E377E"/>
                </a:solidFill>
                <a:latin typeface="Georgia"/>
                <a:cs typeface="Georgia"/>
              </a:rPr>
              <a:t>can</a:t>
            </a:r>
            <a:r>
              <a:rPr sz="3350" spc="25" dirty="0">
                <a:solidFill>
                  <a:srgbClr val="2E377E"/>
                </a:solidFill>
                <a:latin typeface="Georgia"/>
                <a:cs typeface="Georgia"/>
              </a:rPr>
              <a:t> </a:t>
            </a:r>
            <a:r>
              <a:rPr sz="3350" dirty="0">
                <a:solidFill>
                  <a:srgbClr val="2E377E"/>
                </a:solidFill>
                <a:latin typeface="Georgia"/>
                <a:cs typeface="Georgia"/>
              </a:rPr>
              <a:t>share</a:t>
            </a:r>
            <a:r>
              <a:rPr sz="3350" spc="15" dirty="0">
                <a:solidFill>
                  <a:srgbClr val="2E377E"/>
                </a:solidFill>
                <a:latin typeface="Georgia"/>
                <a:cs typeface="Georgia"/>
              </a:rPr>
              <a:t> </a:t>
            </a:r>
            <a:r>
              <a:rPr sz="3350" spc="55" dirty="0">
                <a:solidFill>
                  <a:srgbClr val="2E377E"/>
                </a:solidFill>
                <a:latin typeface="Georgia"/>
                <a:cs typeface="Georgia"/>
              </a:rPr>
              <a:t>the</a:t>
            </a:r>
            <a:r>
              <a:rPr sz="3350" spc="20" dirty="0">
                <a:solidFill>
                  <a:srgbClr val="2E377E"/>
                </a:solidFill>
                <a:latin typeface="Georgia"/>
                <a:cs typeface="Georgia"/>
              </a:rPr>
              <a:t> </a:t>
            </a:r>
            <a:r>
              <a:rPr sz="3350" dirty="0">
                <a:solidFill>
                  <a:srgbClr val="2E377E"/>
                </a:solidFill>
                <a:latin typeface="Georgia"/>
                <a:cs typeface="Georgia"/>
              </a:rPr>
              <a:t>same</a:t>
            </a:r>
            <a:r>
              <a:rPr sz="3350" spc="20" dirty="0">
                <a:solidFill>
                  <a:srgbClr val="2E377E"/>
                </a:solidFill>
                <a:latin typeface="Georgia"/>
                <a:cs typeface="Georgia"/>
              </a:rPr>
              <a:t> </a:t>
            </a:r>
            <a:r>
              <a:rPr sz="3350" spc="60" dirty="0">
                <a:solidFill>
                  <a:srgbClr val="2E377E"/>
                </a:solidFill>
                <a:latin typeface="Georgia"/>
                <a:cs typeface="Georgia"/>
              </a:rPr>
              <a:t>network </a:t>
            </a:r>
            <a:r>
              <a:rPr sz="3350" dirty="0">
                <a:solidFill>
                  <a:srgbClr val="2E377E"/>
                </a:solidFill>
                <a:latin typeface="Georgia"/>
                <a:cs typeface="Georgia"/>
              </a:rPr>
              <a:t>namespace,</a:t>
            </a:r>
            <a:r>
              <a:rPr sz="3350" spc="25" dirty="0">
                <a:solidFill>
                  <a:srgbClr val="2E377E"/>
                </a:solidFill>
                <a:latin typeface="Georgia"/>
                <a:cs typeface="Georgia"/>
              </a:rPr>
              <a:t> </a:t>
            </a:r>
            <a:r>
              <a:rPr sz="3350" dirty="0">
                <a:solidFill>
                  <a:srgbClr val="2E377E"/>
                </a:solidFill>
                <a:latin typeface="Georgia"/>
                <a:cs typeface="Georgia"/>
              </a:rPr>
              <a:t>and</a:t>
            </a:r>
            <a:r>
              <a:rPr sz="3350" spc="20" dirty="0">
                <a:solidFill>
                  <a:srgbClr val="2E377E"/>
                </a:solidFill>
                <a:latin typeface="Georgia"/>
                <a:cs typeface="Georgia"/>
              </a:rPr>
              <a:t> </a:t>
            </a:r>
            <a:r>
              <a:rPr sz="3350" dirty="0">
                <a:solidFill>
                  <a:srgbClr val="2E377E"/>
                </a:solidFill>
                <a:latin typeface="Georgia"/>
                <a:cs typeface="Georgia"/>
              </a:rPr>
              <a:t>can</a:t>
            </a:r>
            <a:r>
              <a:rPr sz="3350" spc="25" dirty="0">
                <a:solidFill>
                  <a:srgbClr val="2E377E"/>
                </a:solidFill>
                <a:latin typeface="Georgia"/>
                <a:cs typeface="Georgia"/>
              </a:rPr>
              <a:t> </a:t>
            </a:r>
            <a:r>
              <a:rPr sz="3350" dirty="0">
                <a:solidFill>
                  <a:srgbClr val="2E377E"/>
                </a:solidFill>
                <a:latin typeface="Georgia"/>
                <a:cs typeface="Georgia"/>
              </a:rPr>
              <a:t>share</a:t>
            </a:r>
            <a:r>
              <a:rPr sz="3350" spc="20" dirty="0">
                <a:solidFill>
                  <a:srgbClr val="2E377E"/>
                </a:solidFill>
                <a:latin typeface="Georgia"/>
                <a:cs typeface="Georgia"/>
              </a:rPr>
              <a:t> </a:t>
            </a:r>
            <a:r>
              <a:rPr sz="3350" spc="55" dirty="0">
                <a:solidFill>
                  <a:srgbClr val="2E377E"/>
                </a:solidFill>
                <a:latin typeface="Georgia"/>
                <a:cs typeface="Georgia"/>
              </a:rPr>
              <a:t>the</a:t>
            </a:r>
            <a:r>
              <a:rPr sz="3350" spc="20" dirty="0">
                <a:solidFill>
                  <a:srgbClr val="2E377E"/>
                </a:solidFill>
                <a:latin typeface="Georgia"/>
                <a:cs typeface="Georgia"/>
              </a:rPr>
              <a:t> </a:t>
            </a:r>
            <a:r>
              <a:rPr sz="3350" dirty="0">
                <a:solidFill>
                  <a:srgbClr val="2E377E"/>
                </a:solidFill>
                <a:latin typeface="Georgia"/>
                <a:cs typeface="Georgia"/>
              </a:rPr>
              <a:t>same</a:t>
            </a:r>
            <a:r>
              <a:rPr sz="3350" spc="25" dirty="0">
                <a:solidFill>
                  <a:srgbClr val="2E377E"/>
                </a:solidFill>
                <a:latin typeface="Georgia"/>
                <a:cs typeface="Georgia"/>
              </a:rPr>
              <a:t> </a:t>
            </a:r>
            <a:r>
              <a:rPr sz="3350" dirty="0">
                <a:solidFill>
                  <a:srgbClr val="2E377E"/>
                </a:solidFill>
                <a:latin typeface="Georgia"/>
                <a:cs typeface="Georgia"/>
              </a:rPr>
              <a:t>storage</a:t>
            </a:r>
            <a:r>
              <a:rPr sz="3350" spc="20" dirty="0">
                <a:solidFill>
                  <a:srgbClr val="2E377E"/>
                </a:solidFill>
                <a:latin typeface="Georgia"/>
                <a:cs typeface="Georgia"/>
              </a:rPr>
              <a:t> </a:t>
            </a:r>
            <a:r>
              <a:rPr sz="3350" spc="50" dirty="0">
                <a:solidFill>
                  <a:srgbClr val="2E377E"/>
                </a:solidFill>
                <a:latin typeface="Georgia"/>
                <a:cs typeface="Georgia"/>
              </a:rPr>
              <a:t>volumes</a:t>
            </a:r>
            <a:r>
              <a:rPr sz="3350" spc="25" dirty="0">
                <a:solidFill>
                  <a:srgbClr val="2E377E"/>
                </a:solidFill>
                <a:latin typeface="Georgia"/>
                <a:cs typeface="Georgia"/>
              </a:rPr>
              <a:t> </a:t>
            </a:r>
            <a:r>
              <a:rPr sz="3350" spc="-50" dirty="0">
                <a:solidFill>
                  <a:srgbClr val="2E377E"/>
                </a:solidFill>
                <a:latin typeface="Georgia"/>
                <a:cs typeface="Georgia"/>
              </a:rPr>
              <a:t>.</a:t>
            </a:r>
            <a:endParaRPr sz="3350">
              <a:latin typeface="Georgia"/>
              <a:cs typeface="Georgia"/>
            </a:endParaRPr>
          </a:p>
          <a:p>
            <a:pPr marL="12700" marR="1719580">
              <a:lnSpc>
                <a:spcPct val="116300"/>
              </a:lnSpc>
              <a:spcBef>
                <a:spcPts val="5"/>
              </a:spcBef>
            </a:pPr>
            <a:r>
              <a:rPr sz="3350" dirty="0">
                <a:solidFill>
                  <a:srgbClr val="2E377E"/>
                </a:solidFill>
                <a:latin typeface="Georgia"/>
                <a:cs typeface="Georgia"/>
              </a:rPr>
              <a:t>While</a:t>
            </a:r>
            <a:r>
              <a:rPr sz="3350" spc="-45" dirty="0">
                <a:solidFill>
                  <a:srgbClr val="2E377E"/>
                </a:solidFill>
                <a:latin typeface="Georgia"/>
                <a:cs typeface="Georgia"/>
              </a:rPr>
              <a:t> </a:t>
            </a:r>
            <a:r>
              <a:rPr sz="3350" dirty="0">
                <a:solidFill>
                  <a:srgbClr val="2E377E"/>
                </a:solidFill>
                <a:latin typeface="Georgia"/>
                <a:cs typeface="Georgia"/>
              </a:rPr>
              <a:t>creating</a:t>
            </a:r>
            <a:r>
              <a:rPr sz="3350" spc="-40" dirty="0">
                <a:solidFill>
                  <a:srgbClr val="2E377E"/>
                </a:solidFill>
                <a:latin typeface="Georgia"/>
                <a:cs typeface="Georgia"/>
              </a:rPr>
              <a:t> </a:t>
            </a:r>
            <a:r>
              <a:rPr sz="3350" dirty="0">
                <a:solidFill>
                  <a:srgbClr val="2E377E"/>
                </a:solidFill>
                <a:latin typeface="Georgia"/>
                <a:cs typeface="Georgia"/>
              </a:rPr>
              <a:t>pod,</a:t>
            </a:r>
            <a:r>
              <a:rPr sz="3350" spc="-45" dirty="0">
                <a:solidFill>
                  <a:srgbClr val="2E377E"/>
                </a:solidFill>
                <a:latin typeface="Georgia"/>
                <a:cs typeface="Georgia"/>
              </a:rPr>
              <a:t> </a:t>
            </a:r>
            <a:r>
              <a:rPr sz="3350" spc="120" dirty="0">
                <a:solidFill>
                  <a:srgbClr val="2E377E"/>
                </a:solidFill>
                <a:latin typeface="Georgia"/>
                <a:cs typeface="Georgia"/>
              </a:rPr>
              <a:t>we</a:t>
            </a:r>
            <a:r>
              <a:rPr sz="3350" spc="-40" dirty="0">
                <a:solidFill>
                  <a:srgbClr val="2E377E"/>
                </a:solidFill>
                <a:latin typeface="Georgia"/>
                <a:cs typeface="Georgia"/>
              </a:rPr>
              <a:t> </a:t>
            </a:r>
            <a:r>
              <a:rPr sz="3350" spc="55" dirty="0">
                <a:solidFill>
                  <a:srgbClr val="2E377E"/>
                </a:solidFill>
                <a:latin typeface="Georgia"/>
                <a:cs typeface="Georgia"/>
              </a:rPr>
              <a:t>must</a:t>
            </a:r>
            <a:r>
              <a:rPr sz="3350" spc="-45" dirty="0">
                <a:solidFill>
                  <a:srgbClr val="2E377E"/>
                </a:solidFill>
                <a:latin typeface="Georgia"/>
                <a:cs typeface="Georgia"/>
              </a:rPr>
              <a:t> </a:t>
            </a:r>
            <a:r>
              <a:rPr sz="3350" spc="60" dirty="0">
                <a:solidFill>
                  <a:srgbClr val="2E377E"/>
                </a:solidFill>
                <a:latin typeface="Georgia"/>
                <a:cs typeface="Georgia"/>
              </a:rPr>
              <a:t>specify</a:t>
            </a:r>
            <a:r>
              <a:rPr sz="3350" spc="-40" dirty="0">
                <a:solidFill>
                  <a:srgbClr val="2E377E"/>
                </a:solidFill>
                <a:latin typeface="Georgia"/>
                <a:cs typeface="Georgia"/>
              </a:rPr>
              <a:t> </a:t>
            </a:r>
            <a:r>
              <a:rPr sz="3350" spc="55" dirty="0">
                <a:solidFill>
                  <a:srgbClr val="2E377E"/>
                </a:solidFill>
                <a:latin typeface="Georgia"/>
                <a:cs typeface="Georgia"/>
              </a:rPr>
              <a:t>the</a:t>
            </a:r>
            <a:r>
              <a:rPr sz="3350" spc="-40" dirty="0">
                <a:solidFill>
                  <a:srgbClr val="2E377E"/>
                </a:solidFill>
                <a:latin typeface="Georgia"/>
                <a:cs typeface="Georgia"/>
              </a:rPr>
              <a:t> </a:t>
            </a:r>
            <a:r>
              <a:rPr sz="3350" dirty="0">
                <a:solidFill>
                  <a:srgbClr val="2E377E"/>
                </a:solidFill>
                <a:latin typeface="Georgia"/>
                <a:cs typeface="Georgia"/>
              </a:rPr>
              <a:t>image,</a:t>
            </a:r>
            <a:r>
              <a:rPr sz="3350" spc="-45" dirty="0">
                <a:solidFill>
                  <a:srgbClr val="2E377E"/>
                </a:solidFill>
                <a:latin typeface="Georgia"/>
                <a:cs typeface="Georgia"/>
              </a:rPr>
              <a:t> </a:t>
            </a:r>
            <a:r>
              <a:rPr sz="3350" dirty="0">
                <a:solidFill>
                  <a:srgbClr val="2E377E"/>
                </a:solidFill>
                <a:latin typeface="Georgia"/>
                <a:cs typeface="Georgia"/>
              </a:rPr>
              <a:t>along</a:t>
            </a:r>
            <a:r>
              <a:rPr sz="3350" spc="-40" dirty="0">
                <a:solidFill>
                  <a:srgbClr val="2E377E"/>
                </a:solidFill>
                <a:latin typeface="Georgia"/>
                <a:cs typeface="Georgia"/>
              </a:rPr>
              <a:t> </a:t>
            </a:r>
            <a:r>
              <a:rPr sz="3350" spc="80" dirty="0">
                <a:solidFill>
                  <a:srgbClr val="2E377E"/>
                </a:solidFill>
                <a:latin typeface="Georgia"/>
                <a:cs typeface="Georgia"/>
              </a:rPr>
              <a:t>with</a:t>
            </a:r>
            <a:r>
              <a:rPr sz="3350" spc="-45" dirty="0">
                <a:solidFill>
                  <a:srgbClr val="2E377E"/>
                </a:solidFill>
                <a:latin typeface="Georgia"/>
                <a:cs typeface="Georgia"/>
              </a:rPr>
              <a:t> </a:t>
            </a:r>
            <a:r>
              <a:rPr sz="3350" spc="65" dirty="0">
                <a:solidFill>
                  <a:srgbClr val="2E377E"/>
                </a:solidFill>
                <a:latin typeface="Georgia"/>
                <a:cs typeface="Georgia"/>
              </a:rPr>
              <a:t>any</a:t>
            </a:r>
            <a:r>
              <a:rPr sz="3350" spc="-40" dirty="0">
                <a:solidFill>
                  <a:srgbClr val="2E377E"/>
                </a:solidFill>
                <a:latin typeface="Georgia"/>
                <a:cs typeface="Georgia"/>
              </a:rPr>
              <a:t> </a:t>
            </a:r>
            <a:r>
              <a:rPr sz="3350" spc="40" dirty="0">
                <a:solidFill>
                  <a:srgbClr val="2E377E"/>
                </a:solidFill>
                <a:latin typeface="Georgia"/>
                <a:cs typeface="Georgia"/>
              </a:rPr>
              <a:t>necessary </a:t>
            </a:r>
            <a:r>
              <a:rPr sz="3350" dirty="0">
                <a:solidFill>
                  <a:srgbClr val="2E377E"/>
                </a:solidFill>
                <a:latin typeface="Georgia"/>
                <a:cs typeface="Georgia"/>
              </a:rPr>
              <a:t>configuration</a:t>
            </a:r>
            <a:r>
              <a:rPr sz="3350" spc="195" dirty="0">
                <a:solidFill>
                  <a:srgbClr val="2E377E"/>
                </a:solidFill>
                <a:latin typeface="Georgia"/>
                <a:cs typeface="Georgia"/>
              </a:rPr>
              <a:t> </a:t>
            </a:r>
            <a:r>
              <a:rPr sz="3350" dirty="0">
                <a:solidFill>
                  <a:srgbClr val="2E377E"/>
                </a:solidFill>
                <a:latin typeface="Georgia"/>
                <a:cs typeface="Georgia"/>
              </a:rPr>
              <a:t>and</a:t>
            </a:r>
            <a:r>
              <a:rPr sz="3350" spc="195" dirty="0">
                <a:solidFill>
                  <a:srgbClr val="2E377E"/>
                </a:solidFill>
                <a:latin typeface="Georgia"/>
                <a:cs typeface="Georgia"/>
              </a:rPr>
              <a:t> </a:t>
            </a:r>
            <a:r>
              <a:rPr sz="3350" dirty="0">
                <a:solidFill>
                  <a:srgbClr val="2E377E"/>
                </a:solidFill>
                <a:latin typeface="Georgia"/>
                <a:cs typeface="Georgia"/>
              </a:rPr>
              <a:t>resource</a:t>
            </a:r>
            <a:r>
              <a:rPr sz="3350" spc="190" dirty="0">
                <a:solidFill>
                  <a:srgbClr val="2E377E"/>
                </a:solidFill>
                <a:latin typeface="Georgia"/>
                <a:cs typeface="Georgia"/>
              </a:rPr>
              <a:t> </a:t>
            </a:r>
            <a:r>
              <a:rPr sz="3350" spc="-10" dirty="0">
                <a:solidFill>
                  <a:srgbClr val="2E377E"/>
                </a:solidFill>
                <a:latin typeface="Georgia"/>
                <a:cs typeface="Georgia"/>
              </a:rPr>
              <a:t>limits.</a:t>
            </a:r>
            <a:endParaRPr sz="3350">
              <a:latin typeface="Georgia"/>
              <a:cs typeface="Georgia"/>
            </a:endParaRPr>
          </a:p>
          <a:p>
            <a:pPr marL="107314" marR="5080" indent="-95250">
              <a:lnSpc>
                <a:spcPct val="116300"/>
              </a:lnSpc>
            </a:pPr>
            <a:r>
              <a:rPr sz="3350" spc="-85" dirty="0">
                <a:solidFill>
                  <a:srgbClr val="2E377E"/>
                </a:solidFill>
                <a:latin typeface="Georgia"/>
                <a:cs typeface="Georgia"/>
              </a:rPr>
              <a:t>K8's</a:t>
            </a:r>
            <a:r>
              <a:rPr sz="3350" spc="55" dirty="0">
                <a:solidFill>
                  <a:srgbClr val="2E377E"/>
                </a:solidFill>
                <a:latin typeface="Georgia"/>
                <a:cs typeface="Georgia"/>
              </a:rPr>
              <a:t> </a:t>
            </a:r>
            <a:r>
              <a:rPr sz="3350" dirty="0">
                <a:solidFill>
                  <a:srgbClr val="2E377E"/>
                </a:solidFill>
                <a:latin typeface="Georgia"/>
                <a:cs typeface="Georgia"/>
              </a:rPr>
              <a:t>cannot</a:t>
            </a:r>
            <a:r>
              <a:rPr sz="3350" spc="65" dirty="0">
                <a:solidFill>
                  <a:srgbClr val="2E377E"/>
                </a:solidFill>
                <a:latin typeface="Georgia"/>
                <a:cs typeface="Georgia"/>
              </a:rPr>
              <a:t> </a:t>
            </a:r>
            <a:r>
              <a:rPr sz="3350" dirty="0">
                <a:solidFill>
                  <a:srgbClr val="2E377E"/>
                </a:solidFill>
                <a:latin typeface="Georgia"/>
                <a:cs typeface="Georgia"/>
              </a:rPr>
              <a:t>communicate</a:t>
            </a:r>
            <a:r>
              <a:rPr sz="3350" spc="60" dirty="0">
                <a:solidFill>
                  <a:srgbClr val="2E377E"/>
                </a:solidFill>
                <a:latin typeface="Georgia"/>
                <a:cs typeface="Georgia"/>
              </a:rPr>
              <a:t> </a:t>
            </a:r>
            <a:r>
              <a:rPr sz="3350" spc="80" dirty="0">
                <a:solidFill>
                  <a:srgbClr val="2E377E"/>
                </a:solidFill>
                <a:latin typeface="Georgia"/>
                <a:cs typeface="Georgia"/>
              </a:rPr>
              <a:t>with</a:t>
            </a:r>
            <a:r>
              <a:rPr sz="3350" spc="65" dirty="0">
                <a:solidFill>
                  <a:srgbClr val="2E377E"/>
                </a:solidFill>
                <a:latin typeface="Georgia"/>
                <a:cs typeface="Georgia"/>
              </a:rPr>
              <a:t> </a:t>
            </a:r>
            <a:r>
              <a:rPr sz="3350" dirty="0">
                <a:solidFill>
                  <a:srgbClr val="2E377E"/>
                </a:solidFill>
                <a:latin typeface="Georgia"/>
                <a:cs typeface="Georgia"/>
              </a:rPr>
              <a:t>containers,</a:t>
            </a:r>
            <a:r>
              <a:rPr sz="3350" spc="65" dirty="0">
                <a:solidFill>
                  <a:srgbClr val="2E377E"/>
                </a:solidFill>
                <a:latin typeface="Georgia"/>
                <a:cs typeface="Georgia"/>
              </a:rPr>
              <a:t> </a:t>
            </a:r>
            <a:r>
              <a:rPr sz="3350" spc="90" dirty="0">
                <a:solidFill>
                  <a:srgbClr val="2E377E"/>
                </a:solidFill>
                <a:latin typeface="Georgia"/>
                <a:cs typeface="Georgia"/>
              </a:rPr>
              <a:t>they</a:t>
            </a:r>
            <a:r>
              <a:rPr sz="3350" spc="65" dirty="0">
                <a:solidFill>
                  <a:srgbClr val="2E377E"/>
                </a:solidFill>
                <a:latin typeface="Georgia"/>
                <a:cs typeface="Georgia"/>
              </a:rPr>
              <a:t> </a:t>
            </a:r>
            <a:r>
              <a:rPr sz="3350" dirty="0">
                <a:solidFill>
                  <a:srgbClr val="2E377E"/>
                </a:solidFill>
                <a:latin typeface="Georgia"/>
                <a:cs typeface="Georgia"/>
              </a:rPr>
              <a:t>can</a:t>
            </a:r>
            <a:r>
              <a:rPr sz="3350" spc="65" dirty="0">
                <a:solidFill>
                  <a:srgbClr val="2E377E"/>
                </a:solidFill>
                <a:latin typeface="Georgia"/>
                <a:cs typeface="Georgia"/>
              </a:rPr>
              <a:t> </a:t>
            </a:r>
            <a:r>
              <a:rPr sz="3350" dirty="0">
                <a:solidFill>
                  <a:srgbClr val="2E377E"/>
                </a:solidFill>
                <a:latin typeface="Georgia"/>
                <a:cs typeface="Georgia"/>
              </a:rPr>
              <a:t>communicate</a:t>
            </a:r>
            <a:r>
              <a:rPr sz="3350" spc="65" dirty="0">
                <a:solidFill>
                  <a:srgbClr val="2E377E"/>
                </a:solidFill>
                <a:latin typeface="Georgia"/>
                <a:cs typeface="Georgia"/>
              </a:rPr>
              <a:t> </a:t>
            </a:r>
            <a:r>
              <a:rPr sz="3350" spc="80" dirty="0">
                <a:solidFill>
                  <a:srgbClr val="2E377E"/>
                </a:solidFill>
                <a:latin typeface="Georgia"/>
                <a:cs typeface="Georgia"/>
              </a:rPr>
              <a:t>with</a:t>
            </a:r>
            <a:r>
              <a:rPr sz="3350" spc="65" dirty="0">
                <a:solidFill>
                  <a:srgbClr val="2E377E"/>
                </a:solidFill>
                <a:latin typeface="Georgia"/>
                <a:cs typeface="Georgia"/>
              </a:rPr>
              <a:t> </a:t>
            </a:r>
            <a:r>
              <a:rPr sz="3350" spc="55" dirty="0">
                <a:solidFill>
                  <a:srgbClr val="2E377E"/>
                </a:solidFill>
                <a:latin typeface="Georgia"/>
                <a:cs typeface="Georgia"/>
              </a:rPr>
              <a:t>only</a:t>
            </a:r>
            <a:r>
              <a:rPr sz="3350" spc="65" dirty="0">
                <a:solidFill>
                  <a:srgbClr val="2E377E"/>
                </a:solidFill>
                <a:latin typeface="Georgia"/>
                <a:cs typeface="Georgia"/>
              </a:rPr>
              <a:t> </a:t>
            </a:r>
            <a:r>
              <a:rPr sz="3350" spc="-20" dirty="0">
                <a:solidFill>
                  <a:srgbClr val="2E377E"/>
                </a:solidFill>
                <a:latin typeface="Georgia"/>
                <a:cs typeface="Georgia"/>
              </a:rPr>
              <a:t>pods. </a:t>
            </a:r>
            <a:r>
              <a:rPr sz="3350" dirty="0">
                <a:solidFill>
                  <a:srgbClr val="2E377E"/>
                </a:solidFill>
                <a:latin typeface="Georgia"/>
                <a:cs typeface="Georgia"/>
              </a:rPr>
              <a:t>We can</a:t>
            </a:r>
            <a:r>
              <a:rPr sz="3350" spc="5" dirty="0">
                <a:solidFill>
                  <a:srgbClr val="2E377E"/>
                </a:solidFill>
                <a:latin typeface="Georgia"/>
                <a:cs typeface="Georgia"/>
              </a:rPr>
              <a:t> </a:t>
            </a:r>
            <a:r>
              <a:rPr sz="3350" dirty="0">
                <a:solidFill>
                  <a:srgbClr val="2E377E"/>
                </a:solidFill>
                <a:latin typeface="Georgia"/>
                <a:cs typeface="Georgia"/>
              </a:rPr>
              <a:t>create this</a:t>
            </a:r>
            <a:r>
              <a:rPr sz="3350" spc="5" dirty="0">
                <a:solidFill>
                  <a:srgbClr val="2E377E"/>
                </a:solidFill>
                <a:latin typeface="Georgia"/>
                <a:cs typeface="Georgia"/>
              </a:rPr>
              <a:t> </a:t>
            </a:r>
            <a:r>
              <a:rPr sz="3350" dirty="0">
                <a:solidFill>
                  <a:srgbClr val="2E377E"/>
                </a:solidFill>
                <a:latin typeface="Georgia"/>
                <a:cs typeface="Georgia"/>
              </a:rPr>
              <a:t>pod in </a:t>
            </a:r>
            <a:r>
              <a:rPr sz="3350" spc="105" dirty="0">
                <a:solidFill>
                  <a:srgbClr val="2E377E"/>
                </a:solidFill>
                <a:latin typeface="Georgia"/>
                <a:cs typeface="Georgia"/>
              </a:rPr>
              <a:t>two</a:t>
            </a:r>
            <a:r>
              <a:rPr sz="3350" spc="5" dirty="0">
                <a:solidFill>
                  <a:srgbClr val="2E377E"/>
                </a:solidFill>
                <a:latin typeface="Georgia"/>
                <a:cs typeface="Georgia"/>
              </a:rPr>
              <a:t> </a:t>
            </a:r>
            <a:r>
              <a:rPr sz="3350" spc="50" dirty="0">
                <a:solidFill>
                  <a:srgbClr val="2E377E"/>
                </a:solidFill>
                <a:latin typeface="Georgia"/>
                <a:cs typeface="Georgia"/>
              </a:rPr>
              <a:t>ways,</a:t>
            </a:r>
            <a:endParaRPr sz="3350">
              <a:latin typeface="Georgia"/>
              <a:cs typeface="Georgia"/>
            </a:endParaRPr>
          </a:p>
          <a:p>
            <a:pPr marL="1106805" indent="-371475">
              <a:lnSpc>
                <a:spcPct val="100000"/>
              </a:lnSpc>
              <a:spcBef>
                <a:spcPts val="655"/>
              </a:spcBef>
              <a:buAutoNum type="arabicPeriod"/>
              <a:tabLst>
                <a:tab pos="1106805" algn="l"/>
              </a:tabLst>
            </a:pPr>
            <a:r>
              <a:rPr sz="3350" spc="-10" dirty="0">
                <a:solidFill>
                  <a:srgbClr val="2E377E"/>
                </a:solidFill>
                <a:latin typeface="Georgia"/>
                <a:cs typeface="Georgia"/>
              </a:rPr>
              <a:t>Imperative(command)</a:t>
            </a:r>
            <a:endParaRPr sz="3350">
              <a:latin typeface="Georgia"/>
              <a:cs typeface="Georgia"/>
            </a:endParaRPr>
          </a:p>
          <a:p>
            <a:pPr marL="1133475" indent="-398145">
              <a:lnSpc>
                <a:spcPct val="100000"/>
              </a:lnSpc>
              <a:spcBef>
                <a:spcPts val="655"/>
              </a:spcBef>
              <a:buAutoNum type="arabicPeriod"/>
              <a:tabLst>
                <a:tab pos="1133475" algn="l"/>
              </a:tabLst>
            </a:pPr>
            <a:r>
              <a:rPr sz="3350" dirty="0">
                <a:solidFill>
                  <a:srgbClr val="2E377E"/>
                </a:solidFill>
                <a:latin typeface="Georgia"/>
                <a:cs typeface="Georgia"/>
              </a:rPr>
              <a:t>Declarative</a:t>
            </a:r>
            <a:r>
              <a:rPr sz="3350" spc="60" dirty="0">
                <a:solidFill>
                  <a:srgbClr val="2E377E"/>
                </a:solidFill>
                <a:latin typeface="Georgia"/>
                <a:cs typeface="Georgia"/>
              </a:rPr>
              <a:t> </a:t>
            </a:r>
            <a:r>
              <a:rPr sz="3350" spc="-10" dirty="0">
                <a:solidFill>
                  <a:srgbClr val="2E377E"/>
                </a:solidFill>
                <a:latin typeface="Georgia"/>
                <a:cs typeface="Georgia"/>
              </a:rPr>
              <a:t>(Manifest</a:t>
            </a:r>
            <a:r>
              <a:rPr sz="3350" spc="60" dirty="0">
                <a:solidFill>
                  <a:srgbClr val="2E377E"/>
                </a:solidFill>
                <a:latin typeface="Georgia"/>
                <a:cs typeface="Georgia"/>
              </a:rPr>
              <a:t> </a:t>
            </a:r>
            <a:r>
              <a:rPr sz="3350" spc="-10" dirty="0">
                <a:solidFill>
                  <a:srgbClr val="2E377E"/>
                </a:solidFill>
                <a:latin typeface="Georgia"/>
                <a:cs typeface="Georgia"/>
              </a:rPr>
              <a:t>file)</a:t>
            </a:r>
            <a:endParaRPr sz="3350">
              <a:latin typeface="Georgia"/>
              <a:cs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643210" y="1703891"/>
            <a:ext cx="7471409" cy="5576570"/>
            <a:chOff x="5643210" y="1703891"/>
            <a:chExt cx="7471409" cy="5576570"/>
          </a:xfrm>
        </p:grpSpPr>
        <p:sp>
          <p:nvSpPr>
            <p:cNvPr id="3" name="object 3"/>
            <p:cNvSpPr/>
            <p:nvPr/>
          </p:nvSpPr>
          <p:spPr>
            <a:xfrm>
              <a:off x="5643210" y="1703891"/>
              <a:ext cx="7471409" cy="5576570"/>
            </a:xfrm>
            <a:custGeom>
              <a:avLst/>
              <a:gdLst/>
              <a:ahLst/>
              <a:cxnLst/>
              <a:rect l="l" t="t" r="r" b="b"/>
              <a:pathLst>
                <a:path w="7471409" h="5576570">
                  <a:moveTo>
                    <a:pt x="7471340" y="5576277"/>
                  </a:moveTo>
                  <a:lnTo>
                    <a:pt x="0" y="5576277"/>
                  </a:lnTo>
                  <a:lnTo>
                    <a:pt x="0" y="0"/>
                  </a:lnTo>
                  <a:lnTo>
                    <a:pt x="7471340" y="0"/>
                  </a:lnTo>
                  <a:lnTo>
                    <a:pt x="7471340" y="5576277"/>
                  </a:lnTo>
                  <a:close/>
                </a:path>
              </a:pathLst>
            </a:custGeom>
            <a:solidFill>
              <a:srgbClr val="D5EFF1"/>
            </a:solidFill>
          </p:spPr>
          <p:txBody>
            <a:bodyPr wrap="square" lIns="0" tIns="0" rIns="0" bIns="0" rtlCol="0"/>
            <a:lstStyle/>
            <a:p>
              <a:endParaRPr/>
            </a:p>
          </p:txBody>
        </p:sp>
        <p:sp>
          <p:nvSpPr>
            <p:cNvPr id="4" name="object 4"/>
            <p:cNvSpPr/>
            <p:nvPr/>
          </p:nvSpPr>
          <p:spPr>
            <a:xfrm>
              <a:off x="6051067" y="3029444"/>
              <a:ext cx="6706234" cy="1557020"/>
            </a:xfrm>
            <a:custGeom>
              <a:avLst/>
              <a:gdLst/>
              <a:ahLst/>
              <a:cxnLst/>
              <a:rect l="l" t="t" r="r" b="b"/>
              <a:pathLst>
                <a:path w="6706234" h="1557020">
                  <a:moveTo>
                    <a:pt x="2967304" y="0"/>
                  </a:moveTo>
                  <a:lnTo>
                    <a:pt x="0" y="0"/>
                  </a:lnTo>
                  <a:lnTo>
                    <a:pt x="0" y="1556626"/>
                  </a:lnTo>
                  <a:lnTo>
                    <a:pt x="2967304" y="1556626"/>
                  </a:lnTo>
                  <a:lnTo>
                    <a:pt x="2967304" y="0"/>
                  </a:lnTo>
                  <a:close/>
                </a:path>
                <a:path w="6706234" h="1557020">
                  <a:moveTo>
                    <a:pt x="6706209" y="0"/>
                  </a:moveTo>
                  <a:lnTo>
                    <a:pt x="3951732" y="0"/>
                  </a:lnTo>
                  <a:lnTo>
                    <a:pt x="3951732" y="1556626"/>
                  </a:lnTo>
                  <a:lnTo>
                    <a:pt x="6706209" y="1556626"/>
                  </a:lnTo>
                  <a:lnTo>
                    <a:pt x="6706209" y="0"/>
                  </a:lnTo>
                  <a:close/>
                </a:path>
              </a:pathLst>
            </a:custGeom>
            <a:solidFill>
              <a:srgbClr val="33E7D0"/>
            </a:solidFill>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43940" rIns="0" bIns="0" rtlCol="0">
            <a:spAutoFit/>
          </a:bodyPr>
          <a:lstStyle/>
          <a:p>
            <a:pPr marL="193675">
              <a:lnSpc>
                <a:spcPct val="100000"/>
              </a:lnSpc>
              <a:spcBef>
                <a:spcPts val="100"/>
              </a:spcBef>
            </a:pPr>
            <a:r>
              <a:rPr spc="-240" dirty="0">
                <a:solidFill>
                  <a:srgbClr val="FF3131"/>
                </a:solidFill>
              </a:rPr>
              <a:t>SINGLE</a:t>
            </a:r>
            <a:r>
              <a:rPr spc="-70" dirty="0">
                <a:solidFill>
                  <a:srgbClr val="FF3131"/>
                </a:solidFill>
              </a:rPr>
              <a:t> </a:t>
            </a:r>
            <a:r>
              <a:rPr spc="-170" dirty="0">
                <a:solidFill>
                  <a:srgbClr val="FF3131"/>
                </a:solidFill>
              </a:rPr>
              <a:t>CONTAINER</a:t>
            </a:r>
            <a:r>
              <a:rPr spc="-65" dirty="0">
                <a:solidFill>
                  <a:srgbClr val="FF3131"/>
                </a:solidFill>
              </a:rPr>
              <a:t> </a:t>
            </a:r>
            <a:r>
              <a:rPr spc="-25" dirty="0">
                <a:solidFill>
                  <a:srgbClr val="FF3131"/>
                </a:solidFill>
              </a:rPr>
              <a:t>POD</a:t>
            </a:r>
          </a:p>
        </p:txBody>
      </p:sp>
      <p:sp>
        <p:nvSpPr>
          <p:cNvPr id="6" name="object 6"/>
          <p:cNvSpPr txBox="1"/>
          <p:nvPr/>
        </p:nvSpPr>
        <p:spPr>
          <a:xfrm>
            <a:off x="1117354" y="7359408"/>
            <a:ext cx="16522700" cy="2466975"/>
          </a:xfrm>
          <a:prstGeom prst="rect">
            <a:avLst/>
          </a:prstGeom>
        </p:spPr>
        <p:txBody>
          <a:bodyPr vert="horz" wrap="square" lIns="0" tIns="12700" rIns="0" bIns="0" rtlCol="0">
            <a:spAutoFit/>
          </a:bodyPr>
          <a:lstStyle/>
          <a:p>
            <a:pPr marR="2051685" algn="ctr">
              <a:lnSpc>
                <a:spcPct val="100000"/>
              </a:lnSpc>
              <a:spcBef>
                <a:spcPts val="100"/>
              </a:spcBef>
            </a:pPr>
            <a:r>
              <a:rPr sz="4000" b="1" spc="295" dirty="0">
                <a:solidFill>
                  <a:srgbClr val="5270FF"/>
                </a:solidFill>
                <a:latin typeface="Times New Roman"/>
                <a:cs typeface="Times New Roman"/>
              </a:rPr>
              <a:t>Node-</a:t>
            </a:r>
            <a:r>
              <a:rPr sz="4000" b="1" spc="-470" dirty="0">
                <a:solidFill>
                  <a:srgbClr val="5270FF"/>
                </a:solidFill>
                <a:latin typeface="Times New Roman"/>
                <a:cs typeface="Times New Roman"/>
              </a:rPr>
              <a:t>1</a:t>
            </a:r>
            <a:endParaRPr sz="4000">
              <a:latin typeface="Times New Roman"/>
              <a:cs typeface="Times New Roman"/>
            </a:endParaRPr>
          </a:p>
          <a:p>
            <a:pPr marL="5440680" marR="5080" indent="-5428615">
              <a:lnSpc>
                <a:spcPct val="115599"/>
              </a:lnSpc>
              <a:spcBef>
                <a:spcPts val="3325"/>
              </a:spcBef>
            </a:pPr>
            <a:r>
              <a:rPr sz="4000" b="1" spc="70" dirty="0">
                <a:latin typeface="Times New Roman"/>
                <a:cs typeface="Times New Roman"/>
              </a:rPr>
              <a:t>Basically,</a:t>
            </a:r>
            <a:r>
              <a:rPr sz="4000" b="1" spc="-25" dirty="0">
                <a:latin typeface="Times New Roman"/>
                <a:cs typeface="Times New Roman"/>
              </a:rPr>
              <a:t> </a:t>
            </a:r>
            <a:r>
              <a:rPr sz="4000" b="1" spc="185" dirty="0">
                <a:latin typeface="Times New Roman"/>
                <a:cs typeface="Times New Roman"/>
              </a:rPr>
              <a:t>each</a:t>
            </a:r>
            <a:r>
              <a:rPr sz="4000" b="1" spc="-20" dirty="0">
                <a:latin typeface="Times New Roman"/>
                <a:cs typeface="Times New Roman"/>
              </a:rPr>
              <a:t> </a:t>
            </a:r>
            <a:r>
              <a:rPr sz="4000" b="1" spc="220" dirty="0">
                <a:latin typeface="Times New Roman"/>
                <a:cs typeface="Times New Roman"/>
              </a:rPr>
              <a:t>pods</a:t>
            </a:r>
            <a:r>
              <a:rPr sz="4000" b="1" spc="-20" dirty="0">
                <a:latin typeface="Times New Roman"/>
                <a:cs typeface="Times New Roman"/>
              </a:rPr>
              <a:t> </a:t>
            </a:r>
            <a:r>
              <a:rPr sz="4000" b="1" spc="235" dirty="0">
                <a:latin typeface="Times New Roman"/>
                <a:cs typeface="Times New Roman"/>
              </a:rPr>
              <a:t>needs</a:t>
            </a:r>
            <a:r>
              <a:rPr sz="4000" b="1" spc="-25" dirty="0">
                <a:latin typeface="Times New Roman"/>
                <a:cs typeface="Times New Roman"/>
              </a:rPr>
              <a:t> </a:t>
            </a:r>
            <a:r>
              <a:rPr sz="4000" b="1" spc="220" dirty="0">
                <a:latin typeface="Times New Roman"/>
                <a:cs typeface="Times New Roman"/>
              </a:rPr>
              <a:t>only</a:t>
            </a:r>
            <a:r>
              <a:rPr sz="4000" b="1" spc="-20" dirty="0">
                <a:latin typeface="Times New Roman"/>
                <a:cs typeface="Times New Roman"/>
              </a:rPr>
              <a:t> </a:t>
            </a:r>
            <a:r>
              <a:rPr sz="4000" b="1" spc="260" dirty="0">
                <a:latin typeface="Times New Roman"/>
                <a:cs typeface="Times New Roman"/>
              </a:rPr>
              <a:t>one</a:t>
            </a:r>
            <a:r>
              <a:rPr sz="4000" b="1" spc="-20" dirty="0">
                <a:latin typeface="Times New Roman"/>
                <a:cs typeface="Times New Roman"/>
              </a:rPr>
              <a:t> </a:t>
            </a:r>
            <a:r>
              <a:rPr sz="4000" b="1" spc="135" dirty="0">
                <a:latin typeface="Times New Roman"/>
                <a:cs typeface="Times New Roman"/>
              </a:rPr>
              <a:t>container.</a:t>
            </a:r>
            <a:r>
              <a:rPr sz="4000" b="1" spc="-20" dirty="0">
                <a:latin typeface="Times New Roman"/>
                <a:cs typeface="Times New Roman"/>
              </a:rPr>
              <a:t> </a:t>
            </a:r>
            <a:r>
              <a:rPr sz="4000" b="1" dirty="0">
                <a:latin typeface="Times New Roman"/>
                <a:cs typeface="Times New Roman"/>
              </a:rPr>
              <a:t>But</a:t>
            </a:r>
            <a:r>
              <a:rPr sz="4000" b="1" spc="-25" dirty="0">
                <a:latin typeface="Times New Roman"/>
                <a:cs typeface="Times New Roman"/>
              </a:rPr>
              <a:t> </a:t>
            </a:r>
            <a:r>
              <a:rPr sz="4000" b="1" spc="229" dirty="0">
                <a:latin typeface="Times New Roman"/>
                <a:cs typeface="Times New Roman"/>
              </a:rPr>
              <a:t>sometimes</a:t>
            </a:r>
            <a:r>
              <a:rPr sz="4000" b="1" spc="-20" dirty="0">
                <a:latin typeface="Times New Roman"/>
                <a:cs typeface="Times New Roman"/>
              </a:rPr>
              <a:t> </a:t>
            </a:r>
            <a:r>
              <a:rPr sz="4000" b="1" spc="409" dirty="0">
                <a:latin typeface="Times New Roman"/>
                <a:cs typeface="Times New Roman"/>
              </a:rPr>
              <a:t>we</a:t>
            </a:r>
            <a:r>
              <a:rPr sz="4000" b="1" spc="-20" dirty="0">
                <a:latin typeface="Times New Roman"/>
                <a:cs typeface="Times New Roman"/>
              </a:rPr>
              <a:t> </a:t>
            </a:r>
            <a:r>
              <a:rPr sz="4000" b="1" spc="245" dirty="0">
                <a:latin typeface="Times New Roman"/>
                <a:cs typeface="Times New Roman"/>
              </a:rPr>
              <a:t>need </a:t>
            </a:r>
            <a:r>
              <a:rPr sz="4000" b="1" spc="240" dirty="0">
                <a:latin typeface="Times New Roman"/>
                <a:cs typeface="Times New Roman"/>
              </a:rPr>
              <a:t>2</a:t>
            </a:r>
            <a:r>
              <a:rPr sz="4000" b="1" spc="-40" dirty="0">
                <a:latin typeface="Times New Roman"/>
                <a:cs typeface="Times New Roman"/>
              </a:rPr>
              <a:t> </a:t>
            </a:r>
            <a:r>
              <a:rPr sz="4000" b="1" spc="155" dirty="0">
                <a:latin typeface="Times New Roman"/>
                <a:cs typeface="Times New Roman"/>
              </a:rPr>
              <a:t>containers</a:t>
            </a:r>
            <a:r>
              <a:rPr sz="4000" b="1" spc="-40" dirty="0">
                <a:latin typeface="Times New Roman"/>
                <a:cs typeface="Times New Roman"/>
              </a:rPr>
              <a:t> </a:t>
            </a:r>
            <a:r>
              <a:rPr sz="4000" b="1" spc="210" dirty="0">
                <a:latin typeface="Times New Roman"/>
                <a:cs typeface="Times New Roman"/>
              </a:rPr>
              <a:t>in</a:t>
            </a:r>
            <a:r>
              <a:rPr sz="4000" b="1" spc="-40" dirty="0">
                <a:latin typeface="Times New Roman"/>
                <a:cs typeface="Times New Roman"/>
              </a:rPr>
              <a:t> </a:t>
            </a:r>
            <a:r>
              <a:rPr sz="4000" b="1" spc="260" dirty="0">
                <a:latin typeface="Times New Roman"/>
                <a:cs typeface="Times New Roman"/>
              </a:rPr>
              <a:t>one</a:t>
            </a:r>
            <a:r>
              <a:rPr sz="4000" b="1" spc="-40" dirty="0">
                <a:latin typeface="Times New Roman"/>
                <a:cs typeface="Times New Roman"/>
              </a:rPr>
              <a:t> </a:t>
            </a:r>
            <a:r>
              <a:rPr sz="4000" b="1" spc="160" dirty="0">
                <a:latin typeface="Times New Roman"/>
                <a:cs typeface="Times New Roman"/>
              </a:rPr>
              <a:t>pod.</a:t>
            </a:r>
            <a:endParaRPr sz="4000">
              <a:latin typeface="Times New Roman"/>
              <a:cs typeface="Times New Roman"/>
            </a:endParaRPr>
          </a:p>
        </p:txBody>
      </p:sp>
      <p:sp>
        <p:nvSpPr>
          <p:cNvPr id="7" name="object 7"/>
          <p:cNvSpPr txBox="1"/>
          <p:nvPr/>
        </p:nvSpPr>
        <p:spPr>
          <a:xfrm>
            <a:off x="5643210" y="1703891"/>
            <a:ext cx="7471409" cy="5576570"/>
          </a:xfrm>
          <a:prstGeom prst="rect">
            <a:avLst/>
          </a:prstGeom>
        </p:spPr>
        <p:txBody>
          <a:bodyPr vert="horz" wrap="square" lIns="0" tIns="0" rIns="0" bIns="0" rtlCol="0">
            <a:spAutoFit/>
          </a:bodyPr>
          <a:lstStyle/>
          <a:p>
            <a:pPr>
              <a:lnSpc>
                <a:spcPct val="100000"/>
              </a:lnSpc>
            </a:pPr>
            <a:endParaRPr sz="4000">
              <a:latin typeface="Times New Roman"/>
              <a:cs typeface="Times New Roman"/>
            </a:endParaRPr>
          </a:p>
          <a:p>
            <a:pPr>
              <a:lnSpc>
                <a:spcPct val="100000"/>
              </a:lnSpc>
            </a:pPr>
            <a:endParaRPr sz="4000">
              <a:latin typeface="Times New Roman"/>
              <a:cs typeface="Times New Roman"/>
            </a:endParaRPr>
          </a:p>
          <a:p>
            <a:pPr>
              <a:lnSpc>
                <a:spcPct val="100000"/>
              </a:lnSpc>
            </a:pPr>
            <a:endParaRPr sz="4000">
              <a:latin typeface="Times New Roman"/>
              <a:cs typeface="Times New Roman"/>
            </a:endParaRPr>
          </a:p>
          <a:p>
            <a:pPr>
              <a:lnSpc>
                <a:spcPct val="100000"/>
              </a:lnSpc>
            </a:pPr>
            <a:endParaRPr sz="4000">
              <a:latin typeface="Times New Roman"/>
              <a:cs typeface="Times New Roman"/>
            </a:endParaRPr>
          </a:p>
          <a:p>
            <a:pPr>
              <a:lnSpc>
                <a:spcPct val="100000"/>
              </a:lnSpc>
              <a:spcBef>
                <a:spcPts val="1155"/>
              </a:spcBef>
            </a:pPr>
            <a:endParaRPr sz="4000">
              <a:latin typeface="Times New Roman"/>
              <a:cs typeface="Times New Roman"/>
            </a:endParaRPr>
          </a:p>
          <a:p>
            <a:pPr marR="695325" algn="ctr">
              <a:lnSpc>
                <a:spcPct val="100000"/>
              </a:lnSpc>
              <a:tabLst>
                <a:tab pos="3372485" algn="l"/>
              </a:tabLst>
            </a:pPr>
            <a:r>
              <a:rPr sz="4000" b="1" spc="220" dirty="0">
                <a:solidFill>
                  <a:srgbClr val="5270FF"/>
                </a:solidFill>
                <a:latin typeface="Times New Roman"/>
                <a:cs typeface="Times New Roman"/>
              </a:rPr>
              <a:t>Pod-</a:t>
            </a:r>
            <a:r>
              <a:rPr sz="4000" b="1" spc="-470" dirty="0">
                <a:solidFill>
                  <a:srgbClr val="5270FF"/>
                </a:solidFill>
                <a:latin typeface="Times New Roman"/>
                <a:cs typeface="Times New Roman"/>
              </a:rPr>
              <a:t>1</a:t>
            </a:r>
            <a:r>
              <a:rPr sz="4000" b="1" dirty="0">
                <a:solidFill>
                  <a:srgbClr val="5270FF"/>
                </a:solidFill>
                <a:latin typeface="Times New Roman"/>
                <a:cs typeface="Times New Roman"/>
              </a:rPr>
              <a:t>	</a:t>
            </a:r>
            <a:r>
              <a:rPr sz="4000" b="1" spc="220" dirty="0">
                <a:solidFill>
                  <a:srgbClr val="5270FF"/>
                </a:solidFill>
                <a:latin typeface="Times New Roman"/>
                <a:cs typeface="Times New Roman"/>
              </a:rPr>
              <a:t>Pod-</a:t>
            </a:r>
            <a:r>
              <a:rPr sz="4000" b="1" spc="190" dirty="0">
                <a:solidFill>
                  <a:srgbClr val="5270FF"/>
                </a:solidFill>
                <a:latin typeface="Times New Roman"/>
                <a:cs typeface="Times New Roman"/>
              </a:rPr>
              <a:t>2</a:t>
            </a:r>
            <a:endParaRPr sz="4000">
              <a:latin typeface="Times New Roman"/>
              <a:cs typeface="Times New Roman"/>
            </a:endParaRPr>
          </a:p>
        </p:txBody>
      </p:sp>
      <p:sp>
        <p:nvSpPr>
          <p:cNvPr id="8" name="object 8"/>
          <p:cNvSpPr txBox="1"/>
          <p:nvPr/>
        </p:nvSpPr>
        <p:spPr>
          <a:xfrm>
            <a:off x="6530311" y="3365929"/>
            <a:ext cx="2057400" cy="883919"/>
          </a:xfrm>
          <a:prstGeom prst="rect">
            <a:avLst/>
          </a:prstGeom>
          <a:solidFill>
            <a:srgbClr val="FFCF09"/>
          </a:solidFill>
        </p:spPr>
        <p:txBody>
          <a:bodyPr vert="horz" wrap="square" lIns="0" tIns="168275" rIns="0" bIns="0" rtlCol="0">
            <a:spAutoFit/>
          </a:bodyPr>
          <a:lstStyle/>
          <a:p>
            <a:pPr marL="297815">
              <a:lnSpc>
                <a:spcPct val="100000"/>
              </a:lnSpc>
              <a:spcBef>
                <a:spcPts val="1325"/>
              </a:spcBef>
            </a:pPr>
            <a:r>
              <a:rPr sz="2500" b="1" spc="50" dirty="0">
                <a:latin typeface="Times New Roman"/>
                <a:cs typeface="Times New Roman"/>
              </a:rPr>
              <a:t>Container</a:t>
            </a:r>
            <a:endParaRPr sz="2500">
              <a:latin typeface="Times New Roman"/>
              <a:cs typeface="Times New Roman"/>
            </a:endParaRPr>
          </a:p>
        </p:txBody>
      </p:sp>
      <p:sp>
        <p:nvSpPr>
          <p:cNvPr id="9" name="object 9"/>
          <p:cNvSpPr txBox="1"/>
          <p:nvPr/>
        </p:nvSpPr>
        <p:spPr>
          <a:xfrm>
            <a:off x="10288072" y="3365929"/>
            <a:ext cx="2209165" cy="883919"/>
          </a:xfrm>
          <a:prstGeom prst="rect">
            <a:avLst/>
          </a:prstGeom>
          <a:solidFill>
            <a:srgbClr val="FFCF09"/>
          </a:solidFill>
        </p:spPr>
        <p:txBody>
          <a:bodyPr vert="horz" wrap="square" lIns="0" tIns="168275" rIns="0" bIns="0" rtlCol="0">
            <a:spAutoFit/>
          </a:bodyPr>
          <a:lstStyle/>
          <a:p>
            <a:pPr marL="406400">
              <a:lnSpc>
                <a:spcPct val="100000"/>
              </a:lnSpc>
              <a:spcBef>
                <a:spcPts val="1325"/>
              </a:spcBef>
            </a:pPr>
            <a:r>
              <a:rPr sz="2500" b="1" spc="50" dirty="0">
                <a:latin typeface="Times New Roman"/>
                <a:cs typeface="Times New Roman"/>
              </a:rPr>
              <a:t>Container</a:t>
            </a:r>
            <a:endParaRPr sz="250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643211" y="1940458"/>
            <a:ext cx="7470775" cy="4452620"/>
            <a:chOff x="5643211" y="1940458"/>
            <a:chExt cx="7470775" cy="4452620"/>
          </a:xfrm>
        </p:grpSpPr>
        <p:sp>
          <p:nvSpPr>
            <p:cNvPr id="3" name="object 3"/>
            <p:cNvSpPr/>
            <p:nvPr/>
          </p:nvSpPr>
          <p:spPr>
            <a:xfrm>
              <a:off x="5643211" y="1940458"/>
              <a:ext cx="7470775" cy="4452620"/>
            </a:xfrm>
            <a:custGeom>
              <a:avLst/>
              <a:gdLst/>
              <a:ahLst/>
              <a:cxnLst/>
              <a:rect l="l" t="t" r="r" b="b"/>
              <a:pathLst>
                <a:path w="7470775" h="4452620">
                  <a:moveTo>
                    <a:pt x="7470618" y="4452578"/>
                  </a:moveTo>
                  <a:lnTo>
                    <a:pt x="0" y="4452578"/>
                  </a:lnTo>
                  <a:lnTo>
                    <a:pt x="0" y="0"/>
                  </a:lnTo>
                  <a:lnTo>
                    <a:pt x="7470618" y="0"/>
                  </a:lnTo>
                  <a:lnTo>
                    <a:pt x="7470618" y="4452578"/>
                  </a:lnTo>
                  <a:close/>
                </a:path>
              </a:pathLst>
            </a:custGeom>
            <a:solidFill>
              <a:srgbClr val="D5EFF1"/>
            </a:solidFill>
          </p:spPr>
          <p:txBody>
            <a:bodyPr wrap="square" lIns="0" tIns="0" rIns="0" bIns="0" rtlCol="0"/>
            <a:lstStyle/>
            <a:p>
              <a:endParaRPr/>
            </a:p>
          </p:txBody>
        </p:sp>
        <p:sp>
          <p:nvSpPr>
            <p:cNvPr id="4" name="object 4"/>
            <p:cNvSpPr/>
            <p:nvPr/>
          </p:nvSpPr>
          <p:spPr>
            <a:xfrm>
              <a:off x="6051073" y="3029442"/>
              <a:ext cx="6372860" cy="1557020"/>
            </a:xfrm>
            <a:custGeom>
              <a:avLst/>
              <a:gdLst/>
              <a:ahLst/>
              <a:cxnLst/>
              <a:rect l="l" t="t" r="r" b="b"/>
              <a:pathLst>
                <a:path w="6372859" h="1557020">
                  <a:moveTo>
                    <a:pt x="6372399" y="1556616"/>
                  </a:moveTo>
                  <a:lnTo>
                    <a:pt x="0" y="1556616"/>
                  </a:lnTo>
                  <a:lnTo>
                    <a:pt x="0" y="0"/>
                  </a:lnTo>
                  <a:lnTo>
                    <a:pt x="6372399" y="0"/>
                  </a:lnTo>
                  <a:lnTo>
                    <a:pt x="6372399" y="1556616"/>
                  </a:lnTo>
                  <a:close/>
                </a:path>
              </a:pathLst>
            </a:custGeom>
            <a:solidFill>
              <a:srgbClr val="33E7D0"/>
            </a:solidFill>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43941" rIns="0" bIns="0" rtlCol="0">
            <a:spAutoFit/>
          </a:bodyPr>
          <a:lstStyle/>
          <a:p>
            <a:pPr marL="193675">
              <a:lnSpc>
                <a:spcPct val="100000"/>
              </a:lnSpc>
              <a:spcBef>
                <a:spcPts val="100"/>
              </a:spcBef>
            </a:pPr>
            <a:r>
              <a:rPr spc="-250" dirty="0">
                <a:solidFill>
                  <a:srgbClr val="FF3131"/>
                </a:solidFill>
              </a:rPr>
              <a:t>MULTI</a:t>
            </a:r>
            <a:r>
              <a:rPr spc="-65" dirty="0">
                <a:solidFill>
                  <a:srgbClr val="FF3131"/>
                </a:solidFill>
              </a:rPr>
              <a:t> </a:t>
            </a:r>
            <a:r>
              <a:rPr spc="-170" dirty="0">
                <a:solidFill>
                  <a:srgbClr val="FF3131"/>
                </a:solidFill>
              </a:rPr>
              <a:t>CONTAINER</a:t>
            </a:r>
            <a:r>
              <a:rPr spc="-85" dirty="0">
                <a:solidFill>
                  <a:srgbClr val="FF3131"/>
                </a:solidFill>
              </a:rPr>
              <a:t> </a:t>
            </a:r>
            <a:r>
              <a:rPr spc="-25" dirty="0">
                <a:solidFill>
                  <a:srgbClr val="FF3131"/>
                </a:solidFill>
              </a:rPr>
              <a:t>POD</a:t>
            </a:r>
          </a:p>
        </p:txBody>
      </p:sp>
      <p:sp>
        <p:nvSpPr>
          <p:cNvPr id="6" name="object 6"/>
          <p:cNvSpPr txBox="1"/>
          <p:nvPr/>
        </p:nvSpPr>
        <p:spPr>
          <a:xfrm>
            <a:off x="943820" y="6574042"/>
            <a:ext cx="15607030" cy="2225675"/>
          </a:xfrm>
          <a:prstGeom prst="rect">
            <a:avLst/>
          </a:prstGeom>
        </p:spPr>
        <p:txBody>
          <a:bodyPr vert="horz" wrap="square" lIns="0" tIns="12700" rIns="0" bIns="0" rtlCol="0">
            <a:spAutoFit/>
          </a:bodyPr>
          <a:lstStyle/>
          <a:p>
            <a:pPr marL="619125" algn="ctr">
              <a:lnSpc>
                <a:spcPct val="100000"/>
              </a:lnSpc>
              <a:spcBef>
                <a:spcPts val="100"/>
              </a:spcBef>
            </a:pPr>
            <a:r>
              <a:rPr sz="4000" b="1" spc="220" dirty="0">
                <a:solidFill>
                  <a:srgbClr val="5270FF"/>
                </a:solidFill>
                <a:latin typeface="Times New Roman"/>
                <a:cs typeface="Times New Roman"/>
              </a:rPr>
              <a:t>Node</a:t>
            </a:r>
            <a:endParaRPr sz="4000">
              <a:latin typeface="Times New Roman"/>
              <a:cs typeface="Times New Roman"/>
            </a:endParaRPr>
          </a:p>
          <a:p>
            <a:pPr marL="12700" marR="5080">
              <a:lnSpc>
                <a:spcPct val="116700"/>
              </a:lnSpc>
              <a:spcBef>
                <a:spcPts val="4120"/>
              </a:spcBef>
            </a:pPr>
            <a:r>
              <a:rPr sz="3000" b="1" spc="90" dirty="0">
                <a:latin typeface="Times New Roman"/>
                <a:cs typeface="Times New Roman"/>
              </a:rPr>
              <a:t>Helper</a:t>
            </a:r>
            <a:r>
              <a:rPr sz="3000" b="1" dirty="0">
                <a:latin typeface="Times New Roman"/>
                <a:cs typeface="Times New Roman"/>
              </a:rPr>
              <a:t> </a:t>
            </a:r>
            <a:r>
              <a:rPr sz="3000" b="1" spc="120" dirty="0">
                <a:latin typeface="Times New Roman"/>
                <a:cs typeface="Times New Roman"/>
              </a:rPr>
              <a:t>containers</a:t>
            </a:r>
            <a:r>
              <a:rPr sz="3000" b="1" dirty="0">
                <a:latin typeface="Times New Roman"/>
                <a:cs typeface="Times New Roman"/>
              </a:rPr>
              <a:t> </a:t>
            </a:r>
            <a:r>
              <a:rPr sz="3000" b="1" spc="60" dirty="0">
                <a:latin typeface="Times New Roman"/>
                <a:cs typeface="Times New Roman"/>
              </a:rPr>
              <a:t>are</a:t>
            </a:r>
            <a:r>
              <a:rPr sz="3000" b="1" dirty="0">
                <a:latin typeface="Times New Roman"/>
                <a:cs typeface="Times New Roman"/>
              </a:rPr>
              <a:t> </a:t>
            </a:r>
            <a:r>
              <a:rPr sz="3000" b="1" spc="110" dirty="0">
                <a:latin typeface="Times New Roman"/>
                <a:cs typeface="Times New Roman"/>
              </a:rPr>
              <a:t>additional</a:t>
            </a:r>
            <a:r>
              <a:rPr sz="3000" b="1" dirty="0">
                <a:latin typeface="Times New Roman"/>
                <a:cs typeface="Times New Roman"/>
              </a:rPr>
              <a:t> </a:t>
            </a:r>
            <a:r>
              <a:rPr sz="3000" b="1" spc="120" dirty="0">
                <a:latin typeface="Times New Roman"/>
                <a:cs typeface="Times New Roman"/>
              </a:rPr>
              <a:t>containers</a:t>
            </a:r>
            <a:r>
              <a:rPr sz="3000" b="1" spc="5" dirty="0">
                <a:latin typeface="Times New Roman"/>
                <a:cs typeface="Times New Roman"/>
              </a:rPr>
              <a:t> </a:t>
            </a:r>
            <a:r>
              <a:rPr sz="3000" b="1" spc="160" dirty="0">
                <a:latin typeface="Times New Roman"/>
                <a:cs typeface="Times New Roman"/>
              </a:rPr>
              <a:t>included</a:t>
            </a:r>
            <a:r>
              <a:rPr sz="3000" b="1" dirty="0">
                <a:latin typeface="Times New Roman"/>
                <a:cs typeface="Times New Roman"/>
              </a:rPr>
              <a:t> </a:t>
            </a:r>
            <a:r>
              <a:rPr sz="3000" b="1" spc="160" dirty="0">
                <a:latin typeface="Times New Roman"/>
                <a:cs typeface="Times New Roman"/>
              </a:rPr>
              <a:t>in</a:t>
            </a:r>
            <a:r>
              <a:rPr sz="3000" b="1" dirty="0">
                <a:latin typeface="Times New Roman"/>
                <a:cs typeface="Times New Roman"/>
              </a:rPr>
              <a:t> a </a:t>
            </a:r>
            <a:r>
              <a:rPr sz="3000" b="1" spc="190" dirty="0">
                <a:latin typeface="Times New Roman"/>
                <a:cs typeface="Times New Roman"/>
              </a:rPr>
              <a:t>pod</a:t>
            </a:r>
            <a:r>
              <a:rPr sz="3000" b="1" dirty="0">
                <a:latin typeface="Times New Roman"/>
                <a:cs typeface="Times New Roman"/>
              </a:rPr>
              <a:t> </a:t>
            </a:r>
            <a:r>
              <a:rPr sz="3000" b="1" spc="95" dirty="0">
                <a:latin typeface="Times New Roman"/>
                <a:cs typeface="Times New Roman"/>
              </a:rPr>
              <a:t>to</a:t>
            </a:r>
            <a:r>
              <a:rPr sz="3000" b="1" spc="5" dirty="0">
                <a:latin typeface="Times New Roman"/>
                <a:cs typeface="Times New Roman"/>
              </a:rPr>
              <a:t> </a:t>
            </a:r>
            <a:r>
              <a:rPr sz="3000" b="1" spc="125" dirty="0">
                <a:latin typeface="Times New Roman"/>
                <a:cs typeface="Times New Roman"/>
              </a:rPr>
              <a:t>perform</a:t>
            </a:r>
            <a:r>
              <a:rPr sz="3000" b="1" dirty="0">
                <a:latin typeface="Times New Roman"/>
                <a:cs typeface="Times New Roman"/>
              </a:rPr>
              <a:t> </a:t>
            </a:r>
            <a:r>
              <a:rPr sz="3000" b="1" spc="210" dirty="0">
                <a:latin typeface="Times New Roman"/>
                <a:cs typeface="Times New Roman"/>
              </a:rPr>
              <a:t>some</a:t>
            </a:r>
            <a:r>
              <a:rPr sz="3000" b="1" dirty="0">
                <a:latin typeface="Times New Roman"/>
                <a:cs typeface="Times New Roman"/>
              </a:rPr>
              <a:t> tasks </a:t>
            </a:r>
            <a:r>
              <a:rPr sz="3000" b="1" spc="50" dirty="0">
                <a:latin typeface="Times New Roman"/>
                <a:cs typeface="Times New Roman"/>
              </a:rPr>
              <a:t>that </a:t>
            </a:r>
            <a:r>
              <a:rPr sz="3000" b="1" spc="125" dirty="0">
                <a:latin typeface="Times New Roman"/>
                <a:cs typeface="Times New Roman"/>
              </a:rPr>
              <a:t>support</a:t>
            </a:r>
            <a:r>
              <a:rPr sz="3000" b="1" spc="-20"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120" dirty="0">
                <a:latin typeface="Times New Roman"/>
                <a:cs typeface="Times New Roman"/>
              </a:rPr>
              <a:t>primary</a:t>
            </a:r>
            <a:r>
              <a:rPr sz="3000" b="1" spc="-20" dirty="0">
                <a:latin typeface="Times New Roman"/>
                <a:cs typeface="Times New Roman"/>
              </a:rPr>
              <a:t> </a:t>
            </a:r>
            <a:r>
              <a:rPr sz="3000" b="1" spc="120" dirty="0">
                <a:latin typeface="Times New Roman"/>
                <a:cs typeface="Times New Roman"/>
              </a:rPr>
              <a:t>container</a:t>
            </a:r>
            <a:r>
              <a:rPr sz="3000" b="1" spc="-15" dirty="0">
                <a:latin typeface="Times New Roman"/>
                <a:cs typeface="Times New Roman"/>
              </a:rPr>
              <a:t> </a:t>
            </a:r>
            <a:r>
              <a:rPr sz="3000" b="1" spc="220" dirty="0">
                <a:latin typeface="Times New Roman"/>
                <a:cs typeface="Times New Roman"/>
              </a:rPr>
              <a:t>which</a:t>
            </a:r>
            <a:r>
              <a:rPr sz="3000" b="1" spc="-20" dirty="0">
                <a:latin typeface="Times New Roman"/>
                <a:cs typeface="Times New Roman"/>
              </a:rPr>
              <a:t> </a:t>
            </a:r>
            <a:r>
              <a:rPr sz="3000" b="1" spc="60" dirty="0">
                <a:latin typeface="Times New Roman"/>
                <a:cs typeface="Times New Roman"/>
              </a:rPr>
              <a:t>are</a:t>
            </a:r>
            <a:r>
              <a:rPr sz="3000" b="1" spc="-20" dirty="0">
                <a:latin typeface="Times New Roman"/>
                <a:cs typeface="Times New Roman"/>
              </a:rPr>
              <a:t> </a:t>
            </a:r>
            <a:r>
              <a:rPr sz="3000" b="1" spc="135" dirty="0">
                <a:latin typeface="Times New Roman"/>
                <a:cs typeface="Times New Roman"/>
              </a:rPr>
              <a:t>running</a:t>
            </a:r>
            <a:r>
              <a:rPr sz="3000" b="1" spc="-15" dirty="0">
                <a:latin typeface="Times New Roman"/>
                <a:cs typeface="Times New Roman"/>
              </a:rPr>
              <a:t> </a:t>
            </a:r>
            <a:r>
              <a:rPr sz="3000" b="1" spc="160" dirty="0">
                <a:latin typeface="Times New Roman"/>
                <a:cs typeface="Times New Roman"/>
              </a:rPr>
              <a:t>in</a:t>
            </a:r>
            <a:r>
              <a:rPr sz="3000" b="1" spc="-20"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114" dirty="0">
                <a:latin typeface="Times New Roman"/>
                <a:cs typeface="Times New Roman"/>
              </a:rPr>
              <a:t>pod.</a:t>
            </a:r>
            <a:endParaRPr sz="3000">
              <a:latin typeface="Times New Roman"/>
              <a:cs typeface="Times New Roman"/>
            </a:endParaRPr>
          </a:p>
        </p:txBody>
      </p:sp>
      <p:sp>
        <p:nvSpPr>
          <p:cNvPr id="7" name="object 7"/>
          <p:cNvSpPr txBox="1"/>
          <p:nvPr/>
        </p:nvSpPr>
        <p:spPr>
          <a:xfrm>
            <a:off x="5643211" y="1940458"/>
            <a:ext cx="7470775" cy="4452620"/>
          </a:xfrm>
          <a:prstGeom prst="rect">
            <a:avLst/>
          </a:prstGeom>
        </p:spPr>
        <p:txBody>
          <a:bodyPr vert="horz" wrap="square" lIns="0" tIns="0" rIns="0" bIns="0" rtlCol="0">
            <a:spAutoFit/>
          </a:bodyPr>
          <a:lstStyle/>
          <a:p>
            <a:pPr>
              <a:lnSpc>
                <a:spcPct val="100000"/>
              </a:lnSpc>
            </a:pPr>
            <a:endParaRPr sz="4000">
              <a:latin typeface="Times New Roman"/>
              <a:cs typeface="Times New Roman"/>
            </a:endParaRPr>
          </a:p>
          <a:p>
            <a:pPr>
              <a:lnSpc>
                <a:spcPct val="100000"/>
              </a:lnSpc>
            </a:pPr>
            <a:endParaRPr sz="4000">
              <a:latin typeface="Times New Roman"/>
              <a:cs typeface="Times New Roman"/>
            </a:endParaRPr>
          </a:p>
          <a:p>
            <a:pPr>
              <a:lnSpc>
                <a:spcPct val="100000"/>
              </a:lnSpc>
            </a:pPr>
            <a:endParaRPr sz="4000">
              <a:latin typeface="Times New Roman"/>
              <a:cs typeface="Times New Roman"/>
            </a:endParaRPr>
          </a:p>
          <a:p>
            <a:pPr>
              <a:lnSpc>
                <a:spcPct val="100000"/>
              </a:lnSpc>
              <a:spcBef>
                <a:spcPts val="3945"/>
              </a:spcBef>
            </a:pPr>
            <a:endParaRPr sz="4000">
              <a:latin typeface="Times New Roman"/>
              <a:cs typeface="Times New Roman"/>
            </a:endParaRPr>
          </a:p>
          <a:p>
            <a:pPr marR="276225" algn="ctr">
              <a:lnSpc>
                <a:spcPct val="100000"/>
              </a:lnSpc>
            </a:pPr>
            <a:r>
              <a:rPr sz="4000" b="1" spc="100" dirty="0">
                <a:solidFill>
                  <a:srgbClr val="5270FF"/>
                </a:solidFill>
                <a:latin typeface="Times New Roman"/>
                <a:cs typeface="Times New Roman"/>
              </a:rPr>
              <a:t>Pod</a:t>
            </a:r>
            <a:endParaRPr sz="4000">
              <a:latin typeface="Times New Roman"/>
              <a:cs typeface="Times New Roman"/>
            </a:endParaRPr>
          </a:p>
        </p:txBody>
      </p:sp>
      <p:sp>
        <p:nvSpPr>
          <p:cNvPr id="8" name="object 8"/>
          <p:cNvSpPr txBox="1"/>
          <p:nvPr/>
        </p:nvSpPr>
        <p:spPr>
          <a:xfrm>
            <a:off x="6530311" y="3365929"/>
            <a:ext cx="2057400" cy="883919"/>
          </a:xfrm>
          <a:prstGeom prst="rect">
            <a:avLst/>
          </a:prstGeom>
          <a:solidFill>
            <a:srgbClr val="FFCF09"/>
          </a:solidFill>
        </p:spPr>
        <p:txBody>
          <a:bodyPr vert="horz" wrap="square" lIns="0" tIns="168275" rIns="0" bIns="0" rtlCol="0">
            <a:spAutoFit/>
          </a:bodyPr>
          <a:lstStyle/>
          <a:p>
            <a:pPr marL="296545">
              <a:lnSpc>
                <a:spcPct val="100000"/>
              </a:lnSpc>
              <a:spcBef>
                <a:spcPts val="1325"/>
              </a:spcBef>
            </a:pPr>
            <a:r>
              <a:rPr sz="2500" b="1" spc="145" dirty="0">
                <a:latin typeface="Times New Roman"/>
                <a:cs typeface="Times New Roman"/>
              </a:rPr>
              <a:t>App-</a:t>
            </a:r>
            <a:r>
              <a:rPr sz="2500" b="1" spc="-20" dirty="0">
                <a:latin typeface="Times New Roman"/>
                <a:cs typeface="Times New Roman"/>
              </a:rPr>
              <a:t>Cont</a:t>
            </a:r>
            <a:endParaRPr sz="2500">
              <a:latin typeface="Times New Roman"/>
              <a:cs typeface="Times New Roman"/>
            </a:endParaRPr>
          </a:p>
        </p:txBody>
      </p:sp>
      <p:sp>
        <p:nvSpPr>
          <p:cNvPr id="9" name="object 9"/>
          <p:cNvSpPr txBox="1"/>
          <p:nvPr/>
        </p:nvSpPr>
        <p:spPr>
          <a:xfrm>
            <a:off x="9303398" y="3365929"/>
            <a:ext cx="2765425" cy="883919"/>
          </a:xfrm>
          <a:prstGeom prst="rect">
            <a:avLst/>
          </a:prstGeom>
          <a:solidFill>
            <a:srgbClr val="FFCF09"/>
          </a:solidFill>
        </p:spPr>
        <p:txBody>
          <a:bodyPr vert="horz" wrap="square" lIns="0" tIns="168275" rIns="0" bIns="0" rtlCol="0">
            <a:spAutoFit/>
          </a:bodyPr>
          <a:lstStyle/>
          <a:p>
            <a:pPr marL="438784">
              <a:lnSpc>
                <a:spcPct val="100000"/>
              </a:lnSpc>
              <a:spcBef>
                <a:spcPts val="1325"/>
              </a:spcBef>
            </a:pPr>
            <a:r>
              <a:rPr sz="2500" b="1" spc="105" dirty="0">
                <a:latin typeface="Times New Roman"/>
                <a:cs typeface="Times New Roman"/>
              </a:rPr>
              <a:t>Helper-</a:t>
            </a:r>
            <a:r>
              <a:rPr sz="2500" b="1" spc="-20" dirty="0">
                <a:latin typeface="Times New Roman"/>
                <a:cs typeface="Times New Roman"/>
              </a:rPr>
              <a:t>Cont</a:t>
            </a:r>
            <a:endParaRPr sz="250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31618" y="2126709"/>
            <a:ext cx="104775" cy="104774"/>
          </a:xfrm>
          <a:prstGeom prst="rect">
            <a:avLst/>
          </a:prstGeom>
        </p:spPr>
      </p:pic>
      <p:sp>
        <p:nvSpPr>
          <p:cNvPr id="3" name="object 3"/>
          <p:cNvSpPr txBox="1"/>
          <p:nvPr/>
        </p:nvSpPr>
        <p:spPr>
          <a:xfrm>
            <a:off x="2095143" y="1894934"/>
            <a:ext cx="14968219" cy="5816600"/>
          </a:xfrm>
          <a:prstGeom prst="rect">
            <a:avLst/>
          </a:prstGeom>
        </p:spPr>
        <p:txBody>
          <a:bodyPr vert="horz" wrap="square" lIns="0" tIns="12700" rIns="0" bIns="0" rtlCol="0">
            <a:spAutoFit/>
          </a:bodyPr>
          <a:lstStyle/>
          <a:p>
            <a:pPr marL="12700">
              <a:lnSpc>
                <a:spcPct val="100000"/>
              </a:lnSpc>
              <a:spcBef>
                <a:spcPts val="100"/>
              </a:spcBef>
            </a:pPr>
            <a:r>
              <a:rPr sz="3000" b="1" dirty="0">
                <a:latin typeface="Times New Roman"/>
                <a:cs typeface="Times New Roman"/>
              </a:rPr>
              <a:t>A</a:t>
            </a:r>
            <a:r>
              <a:rPr sz="3000" b="1" spc="-30" dirty="0">
                <a:latin typeface="Times New Roman"/>
                <a:cs typeface="Times New Roman"/>
              </a:rPr>
              <a:t> </a:t>
            </a:r>
            <a:r>
              <a:rPr sz="3000" b="1" spc="130" dirty="0">
                <a:latin typeface="Times New Roman"/>
                <a:cs typeface="Times New Roman"/>
              </a:rPr>
              <a:t>helper</a:t>
            </a:r>
            <a:r>
              <a:rPr sz="3000" b="1" spc="-25" dirty="0">
                <a:latin typeface="Times New Roman"/>
                <a:cs typeface="Times New Roman"/>
              </a:rPr>
              <a:t> </a:t>
            </a:r>
            <a:r>
              <a:rPr sz="3000" b="1" spc="120" dirty="0">
                <a:latin typeface="Times New Roman"/>
                <a:cs typeface="Times New Roman"/>
              </a:rPr>
              <a:t>container</a:t>
            </a:r>
            <a:r>
              <a:rPr sz="3000" b="1" spc="-30" dirty="0">
                <a:latin typeface="Times New Roman"/>
                <a:cs typeface="Times New Roman"/>
              </a:rPr>
              <a:t> </a:t>
            </a:r>
            <a:r>
              <a:rPr sz="3000" b="1" spc="95" dirty="0">
                <a:latin typeface="Times New Roman"/>
                <a:cs typeface="Times New Roman"/>
              </a:rPr>
              <a:t>is</a:t>
            </a:r>
            <a:r>
              <a:rPr sz="3000" b="1" spc="-25" dirty="0">
                <a:latin typeface="Times New Roman"/>
                <a:cs typeface="Times New Roman"/>
              </a:rPr>
              <a:t> </a:t>
            </a:r>
            <a:r>
              <a:rPr sz="3000" b="1" spc="170" dirty="0">
                <a:latin typeface="Times New Roman"/>
                <a:cs typeface="Times New Roman"/>
              </a:rPr>
              <a:t>used</a:t>
            </a:r>
            <a:r>
              <a:rPr sz="3000" b="1" spc="-30" dirty="0">
                <a:latin typeface="Times New Roman"/>
                <a:cs typeface="Times New Roman"/>
              </a:rPr>
              <a:t> </a:t>
            </a:r>
            <a:r>
              <a:rPr sz="3000" b="1" spc="95" dirty="0">
                <a:latin typeface="Times New Roman"/>
                <a:cs typeface="Times New Roman"/>
              </a:rPr>
              <a:t>to</a:t>
            </a:r>
            <a:r>
              <a:rPr sz="3000" b="1" spc="-25" dirty="0">
                <a:latin typeface="Times New Roman"/>
                <a:cs typeface="Times New Roman"/>
              </a:rPr>
              <a:t> </a:t>
            </a:r>
            <a:r>
              <a:rPr sz="3000" b="1" spc="105" dirty="0">
                <a:latin typeface="Times New Roman"/>
                <a:cs typeface="Times New Roman"/>
              </a:rPr>
              <a:t>collect</a:t>
            </a:r>
            <a:r>
              <a:rPr sz="3000" b="1" spc="-25" dirty="0">
                <a:latin typeface="Times New Roman"/>
                <a:cs typeface="Times New Roman"/>
              </a:rPr>
              <a:t> </a:t>
            </a:r>
            <a:r>
              <a:rPr sz="3000" b="1" spc="130" dirty="0">
                <a:latin typeface="Times New Roman"/>
                <a:cs typeface="Times New Roman"/>
              </a:rPr>
              <a:t>the</a:t>
            </a:r>
            <a:r>
              <a:rPr sz="3000" b="1" spc="-30" dirty="0">
                <a:latin typeface="Times New Roman"/>
                <a:cs typeface="Times New Roman"/>
              </a:rPr>
              <a:t> </a:t>
            </a:r>
            <a:r>
              <a:rPr sz="3000" b="1" spc="75" dirty="0">
                <a:latin typeface="Times New Roman"/>
                <a:cs typeface="Times New Roman"/>
              </a:rPr>
              <a:t>logs</a:t>
            </a:r>
            <a:r>
              <a:rPr sz="3000" b="1" spc="-25" dirty="0">
                <a:latin typeface="Times New Roman"/>
                <a:cs typeface="Times New Roman"/>
              </a:rPr>
              <a:t> </a:t>
            </a:r>
            <a:r>
              <a:rPr sz="3000" b="1" spc="130" dirty="0">
                <a:latin typeface="Times New Roman"/>
                <a:cs typeface="Times New Roman"/>
              </a:rPr>
              <a:t>from</a:t>
            </a:r>
            <a:r>
              <a:rPr sz="3000" b="1" spc="-30" dirty="0">
                <a:latin typeface="Times New Roman"/>
                <a:cs typeface="Times New Roman"/>
              </a:rPr>
              <a:t> </a:t>
            </a:r>
            <a:r>
              <a:rPr sz="3000" b="1" spc="130" dirty="0">
                <a:latin typeface="Times New Roman"/>
                <a:cs typeface="Times New Roman"/>
              </a:rPr>
              <a:t>the</a:t>
            </a:r>
            <a:r>
              <a:rPr sz="3000" b="1" spc="-25" dirty="0">
                <a:latin typeface="Times New Roman"/>
                <a:cs typeface="Times New Roman"/>
              </a:rPr>
              <a:t> </a:t>
            </a:r>
            <a:r>
              <a:rPr sz="3000" b="1" spc="120" dirty="0">
                <a:latin typeface="Times New Roman"/>
                <a:cs typeface="Times New Roman"/>
              </a:rPr>
              <a:t>primary</a:t>
            </a:r>
            <a:r>
              <a:rPr sz="3000" b="1" spc="-30" dirty="0">
                <a:latin typeface="Times New Roman"/>
                <a:cs typeface="Times New Roman"/>
              </a:rPr>
              <a:t> </a:t>
            </a:r>
            <a:r>
              <a:rPr sz="3000" b="1" spc="95" dirty="0">
                <a:latin typeface="Times New Roman"/>
                <a:cs typeface="Times New Roman"/>
              </a:rPr>
              <a:t>container.</a:t>
            </a:r>
            <a:endParaRPr sz="3000">
              <a:latin typeface="Times New Roman"/>
              <a:cs typeface="Times New Roman"/>
            </a:endParaRPr>
          </a:p>
          <a:p>
            <a:pPr>
              <a:lnSpc>
                <a:spcPct val="100000"/>
              </a:lnSpc>
              <a:spcBef>
                <a:spcPts val="745"/>
              </a:spcBef>
            </a:pPr>
            <a:endParaRPr sz="3000">
              <a:latin typeface="Times New Roman"/>
              <a:cs typeface="Times New Roman"/>
            </a:endParaRPr>
          </a:p>
          <a:p>
            <a:pPr marL="12700" marR="205740">
              <a:lnSpc>
                <a:spcPct val="116700"/>
              </a:lnSpc>
              <a:spcBef>
                <a:spcPts val="5"/>
              </a:spcBef>
            </a:pPr>
            <a:r>
              <a:rPr sz="3000" b="1" spc="90" dirty="0">
                <a:latin typeface="Times New Roman"/>
                <a:cs typeface="Times New Roman"/>
              </a:rPr>
              <a:t>Helper</a:t>
            </a:r>
            <a:r>
              <a:rPr sz="3000" b="1" spc="-20" dirty="0">
                <a:latin typeface="Times New Roman"/>
                <a:cs typeface="Times New Roman"/>
              </a:rPr>
              <a:t> </a:t>
            </a:r>
            <a:r>
              <a:rPr sz="3000" b="1" spc="120" dirty="0">
                <a:latin typeface="Times New Roman"/>
                <a:cs typeface="Times New Roman"/>
              </a:rPr>
              <a:t>containers</a:t>
            </a:r>
            <a:r>
              <a:rPr sz="3000" b="1" spc="-15" dirty="0">
                <a:latin typeface="Times New Roman"/>
                <a:cs typeface="Times New Roman"/>
              </a:rPr>
              <a:t> </a:t>
            </a:r>
            <a:r>
              <a:rPr sz="3000" b="1" spc="145" dirty="0">
                <a:latin typeface="Times New Roman"/>
                <a:cs typeface="Times New Roman"/>
              </a:rPr>
              <a:t>can</a:t>
            </a:r>
            <a:r>
              <a:rPr sz="3000" b="1" spc="-15" dirty="0">
                <a:latin typeface="Times New Roman"/>
                <a:cs typeface="Times New Roman"/>
              </a:rPr>
              <a:t> </a:t>
            </a:r>
            <a:r>
              <a:rPr sz="3000" b="1" spc="185" dirty="0">
                <a:latin typeface="Times New Roman"/>
                <a:cs typeface="Times New Roman"/>
              </a:rPr>
              <a:t>be</a:t>
            </a:r>
            <a:r>
              <a:rPr sz="3000" b="1" spc="-20" dirty="0">
                <a:latin typeface="Times New Roman"/>
                <a:cs typeface="Times New Roman"/>
              </a:rPr>
              <a:t> </a:t>
            </a:r>
            <a:r>
              <a:rPr sz="3000" b="1" spc="170" dirty="0">
                <a:latin typeface="Times New Roman"/>
                <a:cs typeface="Times New Roman"/>
              </a:rPr>
              <a:t>used</a:t>
            </a:r>
            <a:r>
              <a:rPr sz="3000" b="1" spc="-15" dirty="0">
                <a:latin typeface="Times New Roman"/>
                <a:cs typeface="Times New Roman"/>
              </a:rPr>
              <a:t> </a:t>
            </a:r>
            <a:r>
              <a:rPr sz="3000" b="1" spc="95" dirty="0">
                <a:latin typeface="Times New Roman"/>
                <a:cs typeface="Times New Roman"/>
              </a:rPr>
              <a:t>to</a:t>
            </a:r>
            <a:r>
              <a:rPr sz="3000" b="1" spc="-15" dirty="0">
                <a:latin typeface="Times New Roman"/>
                <a:cs typeface="Times New Roman"/>
              </a:rPr>
              <a:t> </a:t>
            </a:r>
            <a:r>
              <a:rPr sz="3000" b="1" spc="145" dirty="0">
                <a:latin typeface="Times New Roman"/>
                <a:cs typeface="Times New Roman"/>
              </a:rPr>
              <a:t>run</a:t>
            </a:r>
            <a:r>
              <a:rPr sz="3000" b="1" spc="-15" dirty="0">
                <a:latin typeface="Times New Roman"/>
                <a:cs typeface="Times New Roman"/>
              </a:rPr>
              <a:t> </a:t>
            </a:r>
            <a:r>
              <a:rPr sz="3000" b="1" spc="130" dirty="0">
                <a:latin typeface="Times New Roman"/>
                <a:cs typeface="Times New Roman"/>
              </a:rPr>
              <a:t>monitoring</a:t>
            </a:r>
            <a:r>
              <a:rPr sz="3000" b="1" spc="-20" dirty="0">
                <a:latin typeface="Times New Roman"/>
                <a:cs typeface="Times New Roman"/>
              </a:rPr>
              <a:t> </a:t>
            </a:r>
            <a:r>
              <a:rPr sz="3000" b="1" spc="160" dirty="0">
                <a:latin typeface="Times New Roman"/>
                <a:cs typeface="Times New Roman"/>
              </a:rPr>
              <a:t>and</a:t>
            </a:r>
            <a:r>
              <a:rPr sz="3000" b="1" spc="-15" dirty="0">
                <a:latin typeface="Times New Roman"/>
                <a:cs typeface="Times New Roman"/>
              </a:rPr>
              <a:t> </a:t>
            </a:r>
            <a:r>
              <a:rPr sz="3000" b="1" spc="120" dirty="0">
                <a:latin typeface="Times New Roman"/>
                <a:cs typeface="Times New Roman"/>
              </a:rPr>
              <a:t>metrics</a:t>
            </a:r>
            <a:r>
              <a:rPr sz="3000" b="1" spc="-15" dirty="0">
                <a:latin typeface="Times New Roman"/>
                <a:cs typeface="Times New Roman"/>
              </a:rPr>
              <a:t> </a:t>
            </a:r>
            <a:r>
              <a:rPr sz="3000" b="1" spc="125" dirty="0">
                <a:latin typeface="Times New Roman"/>
                <a:cs typeface="Times New Roman"/>
              </a:rPr>
              <a:t>collection</a:t>
            </a:r>
            <a:r>
              <a:rPr sz="3000" b="1" spc="-20" dirty="0">
                <a:latin typeface="Times New Roman"/>
                <a:cs typeface="Times New Roman"/>
              </a:rPr>
              <a:t> </a:t>
            </a:r>
            <a:r>
              <a:rPr sz="3000" b="1" spc="90" dirty="0">
                <a:latin typeface="Times New Roman"/>
                <a:cs typeface="Times New Roman"/>
              </a:rPr>
              <a:t>agents</a:t>
            </a:r>
            <a:r>
              <a:rPr sz="3000" b="1" spc="-15" dirty="0">
                <a:latin typeface="Times New Roman"/>
                <a:cs typeface="Times New Roman"/>
              </a:rPr>
              <a:t> </a:t>
            </a:r>
            <a:r>
              <a:rPr sz="3000" b="1" spc="110" dirty="0">
                <a:latin typeface="Times New Roman"/>
                <a:cs typeface="Times New Roman"/>
              </a:rPr>
              <a:t>from </a:t>
            </a:r>
            <a:r>
              <a:rPr sz="3000" b="1" spc="130" dirty="0">
                <a:latin typeface="Times New Roman"/>
                <a:cs typeface="Times New Roman"/>
              </a:rPr>
              <a:t>the</a:t>
            </a:r>
            <a:r>
              <a:rPr sz="3000" b="1" spc="-25" dirty="0">
                <a:latin typeface="Times New Roman"/>
                <a:cs typeface="Times New Roman"/>
              </a:rPr>
              <a:t> </a:t>
            </a:r>
            <a:r>
              <a:rPr sz="3000" b="1" spc="185" dirty="0">
                <a:latin typeface="Times New Roman"/>
                <a:cs typeface="Times New Roman"/>
              </a:rPr>
              <a:t>main</a:t>
            </a:r>
            <a:r>
              <a:rPr sz="3000" b="1" spc="-20" dirty="0">
                <a:latin typeface="Times New Roman"/>
                <a:cs typeface="Times New Roman"/>
              </a:rPr>
              <a:t> </a:t>
            </a:r>
            <a:r>
              <a:rPr sz="3000" b="1" spc="114" dirty="0">
                <a:latin typeface="Times New Roman"/>
                <a:cs typeface="Times New Roman"/>
              </a:rPr>
              <a:t>application</a:t>
            </a:r>
            <a:r>
              <a:rPr sz="3000" b="1" spc="-20" dirty="0">
                <a:latin typeface="Times New Roman"/>
                <a:cs typeface="Times New Roman"/>
              </a:rPr>
              <a:t> </a:t>
            </a:r>
            <a:r>
              <a:rPr sz="3000" b="1" spc="95" dirty="0">
                <a:latin typeface="Times New Roman"/>
                <a:cs typeface="Times New Roman"/>
              </a:rPr>
              <a:t>container.</a:t>
            </a:r>
            <a:endParaRPr sz="3000">
              <a:latin typeface="Times New Roman"/>
              <a:cs typeface="Times New Roman"/>
            </a:endParaRPr>
          </a:p>
          <a:p>
            <a:pPr>
              <a:lnSpc>
                <a:spcPct val="100000"/>
              </a:lnSpc>
              <a:spcBef>
                <a:spcPts val="745"/>
              </a:spcBef>
            </a:pPr>
            <a:endParaRPr sz="3000">
              <a:latin typeface="Times New Roman"/>
              <a:cs typeface="Times New Roman"/>
            </a:endParaRPr>
          </a:p>
          <a:p>
            <a:pPr marL="12700" marR="177165">
              <a:lnSpc>
                <a:spcPct val="116700"/>
              </a:lnSpc>
            </a:pPr>
            <a:r>
              <a:rPr sz="3000" b="1" spc="90" dirty="0">
                <a:latin typeface="Times New Roman"/>
                <a:cs typeface="Times New Roman"/>
              </a:rPr>
              <a:t>Helper</a:t>
            </a:r>
            <a:r>
              <a:rPr sz="3000" b="1" spc="-15" dirty="0">
                <a:latin typeface="Times New Roman"/>
                <a:cs typeface="Times New Roman"/>
              </a:rPr>
              <a:t> </a:t>
            </a:r>
            <a:r>
              <a:rPr sz="3000" b="1" spc="120" dirty="0">
                <a:latin typeface="Times New Roman"/>
                <a:cs typeface="Times New Roman"/>
              </a:rPr>
              <a:t>containers</a:t>
            </a:r>
            <a:r>
              <a:rPr sz="3000" b="1" spc="-15" dirty="0">
                <a:latin typeface="Times New Roman"/>
                <a:cs typeface="Times New Roman"/>
              </a:rPr>
              <a:t> </a:t>
            </a:r>
            <a:r>
              <a:rPr sz="3000" b="1" spc="145" dirty="0">
                <a:latin typeface="Times New Roman"/>
                <a:cs typeface="Times New Roman"/>
              </a:rPr>
              <a:t>can</a:t>
            </a:r>
            <a:r>
              <a:rPr sz="3000" b="1" spc="-15" dirty="0">
                <a:latin typeface="Times New Roman"/>
                <a:cs typeface="Times New Roman"/>
              </a:rPr>
              <a:t> </a:t>
            </a:r>
            <a:r>
              <a:rPr sz="3000" b="1" spc="75" dirty="0">
                <a:latin typeface="Times New Roman"/>
                <a:cs typeface="Times New Roman"/>
              </a:rPr>
              <a:t>assist</a:t>
            </a:r>
            <a:r>
              <a:rPr sz="3000" b="1" spc="-10" dirty="0">
                <a:latin typeface="Times New Roman"/>
                <a:cs typeface="Times New Roman"/>
              </a:rPr>
              <a:t> </a:t>
            </a:r>
            <a:r>
              <a:rPr sz="3000" b="1" spc="160" dirty="0">
                <a:latin typeface="Times New Roman"/>
                <a:cs typeface="Times New Roman"/>
              </a:rPr>
              <a:t>in</a:t>
            </a:r>
            <a:r>
              <a:rPr sz="3000" b="1" spc="-15" dirty="0">
                <a:latin typeface="Times New Roman"/>
                <a:cs typeface="Times New Roman"/>
              </a:rPr>
              <a:t> </a:t>
            </a:r>
            <a:r>
              <a:rPr sz="3000" b="1" spc="145" dirty="0">
                <a:latin typeface="Times New Roman"/>
                <a:cs typeface="Times New Roman"/>
              </a:rPr>
              <a:t>syncing</a:t>
            </a:r>
            <a:r>
              <a:rPr sz="3000" b="1" spc="-15" dirty="0">
                <a:latin typeface="Times New Roman"/>
                <a:cs typeface="Times New Roman"/>
              </a:rPr>
              <a:t> </a:t>
            </a:r>
            <a:r>
              <a:rPr sz="3000" b="1" spc="80" dirty="0">
                <a:latin typeface="Times New Roman"/>
                <a:cs typeface="Times New Roman"/>
              </a:rPr>
              <a:t>files</a:t>
            </a:r>
            <a:r>
              <a:rPr sz="3000" b="1" spc="-15" dirty="0">
                <a:latin typeface="Times New Roman"/>
                <a:cs typeface="Times New Roman"/>
              </a:rPr>
              <a:t> </a:t>
            </a:r>
            <a:r>
              <a:rPr sz="3000" b="1" spc="75" dirty="0">
                <a:latin typeface="Times New Roman"/>
                <a:cs typeface="Times New Roman"/>
              </a:rPr>
              <a:t>or</a:t>
            </a:r>
            <a:r>
              <a:rPr sz="3000" b="1" spc="-10" dirty="0">
                <a:latin typeface="Times New Roman"/>
                <a:cs typeface="Times New Roman"/>
              </a:rPr>
              <a:t> </a:t>
            </a:r>
            <a:r>
              <a:rPr sz="3000" b="1" spc="70" dirty="0">
                <a:latin typeface="Times New Roman"/>
                <a:cs typeface="Times New Roman"/>
              </a:rPr>
              <a:t>data</a:t>
            </a:r>
            <a:r>
              <a:rPr sz="3000" b="1" spc="-15" dirty="0">
                <a:latin typeface="Times New Roman"/>
                <a:cs typeface="Times New Roman"/>
              </a:rPr>
              <a:t> </a:t>
            </a:r>
            <a:r>
              <a:rPr sz="3000" b="1" spc="200" dirty="0">
                <a:latin typeface="Times New Roman"/>
                <a:cs typeface="Times New Roman"/>
              </a:rPr>
              <a:t>between</a:t>
            </a:r>
            <a:r>
              <a:rPr sz="3000" b="1" spc="-15" dirty="0">
                <a:latin typeface="Times New Roman"/>
                <a:cs typeface="Times New Roman"/>
              </a:rPr>
              <a:t> </a:t>
            </a:r>
            <a:r>
              <a:rPr sz="3000" b="1" spc="120" dirty="0">
                <a:latin typeface="Times New Roman"/>
                <a:cs typeface="Times New Roman"/>
              </a:rPr>
              <a:t>containers</a:t>
            </a:r>
            <a:r>
              <a:rPr sz="3000" b="1" spc="-15" dirty="0">
                <a:latin typeface="Times New Roman"/>
                <a:cs typeface="Times New Roman"/>
              </a:rPr>
              <a:t> </a:t>
            </a:r>
            <a:r>
              <a:rPr sz="3000" b="1" spc="160" dirty="0">
                <a:latin typeface="Times New Roman"/>
                <a:cs typeface="Times New Roman"/>
              </a:rPr>
              <a:t>in</a:t>
            </a:r>
            <a:r>
              <a:rPr sz="3000" b="1" spc="-10" dirty="0">
                <a:latin typeface="Times New Roman"/>
                <a:cs typeface="Times New Roman"/>
              </a:rPr>
              <a:t> </a:t>
            </a:r>
            <a:r>
              <a:rPr sz="3000" b="1" dirty="0">
                <a:latin typeface="Times New Roman"/>
                <a:cs typeface="Times New Roman"/>
              </a:rPr>
              <a:t>a</a:t>
            </a:r>
            <a:r>
              <a:rPr sz="3000" b="1" spc="-15" dirty="0">
                <a:latin typeface="Times New Roman"/>
                <a:cs typeface="Times New Roman"/>
              </a:rPr>
              <a:t> </a:t>
            </a:r>
            <a:r>
              <a:rPr sz="3000" b="1" spc="135" dirty="0">
                <a:latin typeface="Times New Roman"/>
                <a:cs typeface="Times New Roman"/>
              </a:rPr>
              <a:t>pod.</a:t>
            </a:r>
            <a:r>
              <a:rPr sz="3000" b="1" spc="-15" dirty="0">
                <a:latin typeface="Times New Roman"/>
                <a:cs typeface="Times New Roman"/>
              </a:rPr>
              <a:t> </a:t>
            </a:r>
            <a:r>
              <a:rPr sz="3000" b="1" spc="-25" dirty="0">
                <a:latin typeface="Times New Roman"/>
                <a:cs typeface="Times New Roman"/>
              </a:rPr>
              <a:t>For </a:t>
            </a:r>
            <a:r>
              <a:rPr sz="3000" b="1" spc="145" dirty="0">
                <a:latin typeface="Times New Roman"/>
                <a:cs typeface="Times New Roman"/>
              </a:rPr>
              <a:t>example,</a:t>
            </a:r>
            <a:r>
              <a:rPr sz="3000" b="1" spc="-10" dirty="0">
                <a:latin typeface="Times New Roman"/>
                <a:cs typeface="Times New Roman"/>
              </a:rPr>
              <a:t> </a:t>
            </a:r>
            <a:r>
              <a:rPr sz="3000" b="1" dirty="0">
                <a:latin typeface="Times New Roman"/>
                <a:cs typeface="Times New Roman"/>
              </a:rPr>
              <a:t>a</a:t>
            </a:r>
            <a:r>
              <a:rPr sz="3000" b="1" spc="-10" dirty="0">
                <a:latin typeface="Times New Roman"/>
                <a:cs typeface="Times New Roman"/>
              </a:rPr>
              <a:t> </a:t>
            </a:r>
            <a:r>
              <a:rPr sz="3000" b="1" spc="190" dirty="0">
                <a:latin typeface="Times New Roman"/>
                <a:cs typeface="Times New Roman"/>
              </a:rPr>
              <a:t>pod</a:t>
            </a:r>
            <a:r>
              <a:rPr sz="3000" b="1" spc="-10" dirty="0">
                <a:latin typeface="Times New Roman"/>
                <a:cs typeface="Times New Roman"/>
              </a:rPr>
              <a:t> </a:t>
            </a:r>
            <a:r>
              <a:rPr sz="3000" b="1" spc="125" dirty="0">
                <a:latin typeface="Times New Roman"/>
                <a:cs typeface="Times New Roman"/>
              </a:rPr>
              <a:t>might</a:t>
            </a:r>
            <a:r>
              <a:rPr sz="3000" b="1" spc="-10" dirty="0">
                <a:latin typeface="Times New Roman"/>
                <a:cs typeface="Times New Roman"/>
              </a:rPr>
              <a:t> </a:t>
            </a:r>
            <a:r>
              <a:rPr sz="3000" b="1" spc="160" dirty="0">
                <a:latin typeface="Times New Roman"/>
                <a:cs typeface="Times New Roman"/>
              </a:rPr>
              <a:t>have</a:t>
            </a:r>
            <a:r>
              <a:rPr sz="3000" b="1" spc="-10" dirty="0">
                <a:latin typeface="Times New Roman"/>
                <a:cs typeface="Times New Roman"/>
              </a:rPr>
              <a:t> </a:t>
            </a:r>
            <a:r>
              <a:rPr sz="3000" b="1" dirty="0">
                <a:latin typeface="Times New Roman"/>
                <a:cs typeface="Times New Roman"/>
              </a:rPr>
              <a:t>a</a:t>
            </a:r>
            <a:r>
              <a:rPr sz="3000" b="1" spc="-10" dirty="0">
                <a:latin typeface="Times New Roman"/>
                <a:cs typeface="Times New Roman"/>
              </a:rPr>
              <a:t> </a:t>
            </a:r>
            <a:r>
              <a:rPr sz="3000" b="1" spc="185" dirty="0">
                <a:latin typeface="Times New Roman"/>
                <a:cs typeface="Times New Roman"/>
              </a:rPr>
              <a:t>main</a:t>
            </a:r>
            <a:r>
              <a:rPr sz="3000" b="1" spc="-10" dirty="0">
                <a:latin typeface="Times New Roman"/>
                <a:cs typeface="Times New Roman"/>
              </a:rPr>
              <a:t> </a:t>
            </a:r>
            <a:r>
              <a:rPr sz="3000" b="1" spc="114" dirty="0">
                <a:latin typeface="Times New Roman"/>
                <a:cs typeface="Times New Roman"/>
              </a:rPr>
              <a:t>application</a:t>
            </a:r>
            <a:r>
              <a:rPr sz="3000" b="1" spc="-10" dirty="0">
                <a:latin typeface="Times New Roman"/>
                <a:cs typeface="Times New Roman"/>
              </a:rPr>
              <a:t> </a:t>
            </a:r>
            <a:r>
              <a:rPr sz="3000" b="1" spc="120" dirty="0">
                <a:latin typeface="Times New Roman"/>
                <a:cs typeface="Times New Roman"/>
              </a:rPr>
              <a:t>container</a:t>
            </a:r>
            <a:r>
              <a:rPr sz="3000" b="1" spc="-10" dirty="0">
                <a:latin typeface="Times New Roman"/>
                <a:cs typeface="Times New Roman"/>
              </a:rPr>
              <a:t> </a:t>
            </a:r>
            <a:r>
              <a:rPr sz="3000" b="1" spc="160" dirty="0">
                <a:latin typeface="Times New Roman"/>
                <a:cs typeface="Times New Roman"/>
              </a:rPr>
              <a:t>and</a:t>
            </a:r>
            <a:r>
              <a:rPr sz="3000" b="1" spc="-10" dirty="0">
                <a:latin typeface="Times New Roman"/>
                <a:cs typeface="Times New Roman"/>
              </a:rPr>
              <a:t> </a:t>
            </a:r>
            <a:r>
              <a:rPr sz="3000" b="1" dirty="0">
                <a:latin typeface="Times New Roman"/>
                <a:cs typeface="Times New Roman"/>
              </a:rPr>
              <a:t>a</a:t>
            </a:r>
            <a:r>
              <a:rPr sz="3000" b="1" spc="-5" dirty="0">
                <a:latin typeface="Times New Roman"/>
                <a:cs typeface="Times New Roman"/>
              </a:rPr>
              <a:t> </a:t>
            </a:r>
            <a:r>
              <a:rPr sz="3000" b="1" spc="130" dirty="0">
                <a:latin typeface="Times New Roman"/>
                <a:cs typeface="Times New Roman"/>
              </a:rPr>
              <a:t>helper</a:t>
            </a:r>
            <a:r>
              <a:rPr sz="3000" b="1" spc="-10" dirty="0">
                <a:latin typeface="Times New Roman"/>
                <a:cs typeface="Times New Roman"/>
              </a:rPr>
              <a:t> </a:t>
            </a:r>
            <a:r>
              <a:rPr sz="3000" b="1" spc="110" dirty="0">
                <a:latin typeface="Times New Roman"/>
                <a:cs typeface="Times New Roman"/>
              </a:rPr>
              <a:t>container </a:t>
            </a:r>
            <a:r>
              <a:rPr sz="3000" b="1" spc="135" dirty="0">
                <a:latin typeface="Times New Roman"/>
                <a:cs typeface="Times New Roman"/>
              </a:rPr>
              <a:t>responsible</a:t>
            </a:r>
            <a:r>
              <a:rPr sz="3000" b="1" spc="-20" dirty="0">
                <a:latin typeface="Times New Roman"/>
                <a:cs typeface="Times New Roman"/>
              </a:rPr>
              <a:t> </a:t>
            </a:r>
            <a:r>
              <a:rPr sz="3000" b="1" spc="50" dirty="0">
                <a:latin typeface="Times New Roman"/>
                <a:cs typeface="Times New Roman"/>
              </a:rPr>
              <a:t>for</a:t>
            </a:r>
            <a:r>
              <a:rPr sz="3000" b="1" spc="-15" dirty="0">
                <a:latin typeface="Times New Roman"/>
                <a:cs typeface="Times New Roman"/>
              </a:rPr>
              <a:t> </a:t>
            </a:r>
            <a:r>
              <a:rPr sz="3000" b="1" spc="145" dirty="0">
                <a:latin typeface="Times New Roman"/>
                <a:cs typeface="Times New Roman"/>
              </a:rPr>
              <a:t>syncing</a:t>
            </a:r>
            <a:r>
              <a:rPr sz="3000" b="1" spc="-15" dirty="0">
                <a:latin typeface="Times New Roman"/>
                <a:cs typeface="Times New Roman"/>
              </a:rPr>
              <a:t> </a:t>
            </a:r>
            <a:r>
              <a:rPr sz="3000" b="1" spc="100" dirty="0">
                <a:latin typeface="Times New Roman"/>
                <a:cs typeface="Times New Roman"/>
              </a:rPr>
              <a:t>configuration</a:t>
            </a:r>
            <a:r>
              <a:rPr sz="3000" b="1" spc="-15" dirty="0">
                <a:latin typeface="Times New Roman"/>
                <a:cs typeface="Times New Roman"/>
              </a:rPr>
              <a:t> </a:t>
            </a:r>
            <a:r>
              <a:rPr sz="3000" b="1" spc="80" dirty="0">
                <a:latin typeface="Times New Roman"/>
                <a:cs typeface="Times New Roman"/>
              </a:rPr>
              <a:t>files</a:t>
            </a:r>
            <a:r>
              <a:rPr sz="3000" b="1" spc="-15" dirty="0">
                <a:latin typeface="Times New Roman"/>
                <a:cs typeface="Times New Roman"/>
              </a:rPr>
              <a:t> </a:t>
            </a:r>
            <a:r>
              <a:rPr sz="3000" b="1" spc="75" dirty="0">
                <a:latin typeface="Times New Roman"/>
                <a:cs typeface="Times New Roman"/>
              </a:rPr>
              <a:t>or</a:t>
            </a:r>
            <a:r>
              <a:rPr sz="3000" b="1" spc="-15" dirty="0">
                <a:latin typeface="Times New Roman"/>
                <a:cs typeface="Times New Roman"/>
              </a:rPr>
              <a:t> </a:t>
            </a:r>
            <a:r>
              <a:rPr sz="3000" b="1" spc="110" dirty="0">
                <a:latin typeface="Times New Roman"/>
                <a:cs typeface="Times New Roman"/>
              </a:rPr>
              <a:t>other</a:t>
            </a:r>
            <a:r>
              <a:rPr sz="3000" b="1" spc="-15" dirty="0">
                <a:latin typeface="Times New Roman"/>
                <a:cs typeface="Times New Roman"/>
              </a:rPr>
              <a:t> </a:t>
            </a:r>
            <a:r>
              <a:rPr sz="3000" b="1" spc="120" dirty="0">
                <a:latin typeface="Times New Roman"/>
                <a:cs typeface="Times New Roman"/>
              </a:rPr>
              <a:t>shared</a:t>
            </a:r>
            <a:r>
              <a:rPr sz="3000" b="1" spc="-15" dirty="0">
                <a:latin typeface="Times New Roman"/>
                <a:cs typeface="Times New Roman"/>
              </a:rPr>
              <a:t> </a:t>
            </a:r>
            <a:r>
              <a:rPr sz="3000" b="1" spc="90" dirty="0">
                <a:latin typeface="Times New Roman"/>
                <a:cs typeface="Times New Roman"/>
              </a:rPr>
              <a:t>resources.</a:t>
            </a:r>
            <a:endParaRPr sz="3000">
              <a:latin typeface="Times New Roman"/>
              <a:cs typeface="Times New Roman"/>
            </a:endParaRPr>
          </a:p>
          <a:p>
            <a:pPr>
              <a:lnSpc>
                <a:spcPct val="100000"/>
              </a:lnSpc>
              <a:spcBef>
                <a:spcPts val="750"/>
              </a:spcBef>
            </a:pPr>
            <a:endParaRPr sz="3000">
              <a:latin typeface="Times New Roman"/>
              <a:cs typeface="Times New Roman"/>
            </a:endParaRPr>
          </a:p>
          <a:p>
            <a:pPr marL="12700" marR="5080">
              <a:lnSpc>
                <a:spcPct val="116700"/>
              </a:lnSpc>
            </a:pPr>
            <a:r>
              <a:rPr sz="3000" b="1" spc="130" dirty="0">
                <a:latin typeface="Times New Roman"/>
                <a:cs typeface="Times New Roman"/>
              </a:rPr>
              <a:t>Security-</a:t>
            </a:r>
            <a:r>
              <a:rPr sz="3000" b="1" spc="85" dirty="0">
                <a:latin typeface="Times New Roman"/>
                <a:cs typeface="Times New Roman"/>
              </a:rPr>
              <a:t>related</a:t>
            </a:r>
            <a:r>
              <a:rPr sz="3000" b="1" spc="5" dirty="0">
                <a:latin typeface="Times New Roman"/>
                <a:cs typeface="Times New Roman"/>
              </a:rPr>
              <a:t> </a:t>
            </a:r>
            <a:r>
              <a:rPr sz="3000" b="1" dirty="0">
                <a:latin typeface="Times New Roman"/>
                <a:cs typeface="Times New Roman"/>
              </a:rPr>
              <a:t>tasks,</a:t>
            </a:r>
            <a:r>
              <a:rPr sz="3000" b="1" spc="5" dirty="0">
                <a:latin typeface="Times New Roman"/>
                <a:cs typeface="Times New Roman"/>
              </a:rPr>
              <a:t> </a:t>
            </a:r>
            <a:r>
              <a:rPr sz="3000" b="1" spc="165" dirty="0">
                <a:latin typeface="Times New Roman"/>
                <a:cs typeface="Times New Roman"/>
              </a:rPr>
              <a:t>such</a:t>
            </a:r>
            <a:r>
              <a:rPr sz="3000" b="1" spc="10" dirty="0">
                <a:latin typeface="Times New Roman"/>
                <a:cs typeface="Times New Roman"/>
              </a:rPr>
              <a:t> </a:t>
            </a:r>
            <a:r>
              <a:rPr sz="3000" b="1" spc="80" dirty="0">
                <a:latin typeface="Times New Roman"/>
                <a:cs typeface="Times New Roman"/>
              </a:rPr>
              <a:t>as</a:t>
            </a:r>
            <a:r>
              <a:rPr sz="3000" b="1" spc="5" dirty="0">
                <a:latin typeface="Times New Roman"/>
                <a:cs typeface="Times New Roman"/>
              </a:rPr>
              <a:t> </a:t>
            </a:r>
            <a:r>
              <a:rPr sz="3000" b="1" spc="130" dirty="0">
                <a:latin typeface="Times New Roman"/>
                <a:cs typeface="Times New Roman"/>
              </a:rPr>
              <a:t>handling</a:t>
            </a:r>
            <a:r>
              <a:rPr sz="3000" b="1" spc="5" dirty="0">
                <a:latin typeface="Times New Roman"/>
                <a:cs typeface="Times New Roman"/>
              </a:rPr>
              <a:t> </a:t>
            </a:r>
            <a:r>
              <a:rPr sz="3000" b="1" spc="85" dirty="0">
                <a:latin typeface="Times New Roman"/>
                <a:cs typeface="Times New Roman"/>
              </a:rPr>
              <a:t>secrets,</a:t>
            </a:r>
            <a:r>
              <a:rPr sz="3000" b="1" spc="10" dirty="0">
                <a:latin typeface="Times New Roman"/>
                <a:cs typeface="Times New Roman"/>
              </a:rPr>
              <a:t> </a:t>
            </a:r>
            <a:r>
              <a:rPr sz="3000" b="1" spc="130" dirty="0">
                <a:latin typeface="Times New Roman"/>
                <a:cs typeface="Times New Roman"/>
              </a:rPr>
              <a:t>encryption,</a:t>
            </a:r>
            <a:r>
              <a:rPr sz="3000" b="1" spc="5" dirty="0">
                <a:latin typeface="Times New Roman"/>
                <a:cs typeface="Times New Roman"/>
              </a:rPr>
              <a:t> </a:t>
            </a:r>
            <a:r>
              <a:rPr sz="3000" b="1" spc="75" dirty="0">
                <a:latin typeface="Times New Roman"/>
                <a:cs typeface="Times New Roman"/>
              </a:rPr>
              <a:t>or</a:t>
            </a:r>
            <a:r>
              <a:rPr sz="3000" b="1" spc="5" dirty="0">
                <a:latin typeface="Times New Roman"/>
                <a:cs typeface="Times New Roman"/>
              </a:rPr>
              <a:t> </a:t>
            </a:r>
            <a:r>
              <a:rPr sz="3000" b="1" spc="110" dirty="0">
                <a:latin typeface="Times New Roman"/>
                <a:cs typeface="Times New Roman"/>
              </a:rPr>
              <a:t>authentication,</a:t>
            </a:r>
            <a:r>
              <a:rPr sz="3000" b="1" spc="10" dirty="0">
                <a:latin typeface="Times New Roman"/>
                <a:cs typeface="Times New Roman"/>
              </a:rPr>
              <a:t> </a:t>
            </a:r>
            <a:r>
              <a:rPr sz="3000" b="1" spc="145" dirty="0">
                <a:latin typeface="Times New Roman"/>
                <a:cs typeface="Times New Roman"/>
              </a:rPr>
              <a:t>can</a:t>
            </a:r>
            <a:r>
              <a:rPr sz="3000" b="1" spc="5" dirty="0">
                <a:latin typeface="Times New Roman"/>
                <a:cs typeface="Times New Roman"/>
              </a:rPr>
              <a:t> </a:t>
            </a:r>
            <a:r>
              <a:rPr sz="3000" b="1" spc="160" dirty="0">
                <a:latin typeface="Times New Roman"/>
                <a:cs typeface="Times New Roman"/>
              </a:rPr>
              <a:t>be </a:t>
            </a:r>
            <a:r>
              <a:rPr sz="3000" b="1" spc="200" dirty="0">
                <a:latin typeface="Times New Roman"/>
                <a:cs typeface="Times New Roman"/>
              </a:rPr>
              <a:t>done</a:t>
            </a:r>
            <a:r>
              <a:rPr sz="3000" b="1" spc="-20" dirty="0">
                <a:latin typeface="Times New Roman"/>
                <a:cs typeface="Times New Roman"/>
              </a:rPr>
              <a:t> </a:t>
            </a:r>
            <a:r>
              <a:rPr sz="3000" b="1" spc="200" dirty="0">
                <a:latin typeface="Times New Roman"/>
                <a:cs typeface="Times New Roman"/>
              </a:rPr>
              <a:t>by</a:t>
            </a:r>
            <a:r>
              <a:rPr sz="3000" b="1" spc="-20" dirty="0">
                <a:latin typeface="Times New Roman"/>
                <a:cs typeface="Times New Roman"/>
              </a:rPr>
              <a:t> </a:t>
            </a:r>
            <a:r>
              <a:rPr sz="3000" b="1" spc="130" dirty="0">
                <a:latin typeface="Times New Roman"/>
                <a:cs typeface="Times New Roman"/>
              </a:rPr>
              <a:t>helper</a:t>
            </a:r>
            <a:r>
              <a:rPr sz="3000" b="1" spc="-20" dirty="0">
                <a:latin typeface="Times New Roman"/>
                <a:cs typeface="Times New Roman"/>
              </a:rPr>
              <a:t> </a:t>
            </a:r>
            <a:r>
              <a:rPr sz="3000" b="1" spc="95" dirty="0">
                <a:latin typeface="Times New Roman"/>
                <a:cs typeface="Times New Roman"/>
              </a:rPr>
              <a:t>container.</a:t>
            </a:r>
            <a:endParaRPr sz="3000">
              <a:latin typeface="Times New Roman"/>
              <a:cs typeface="Times New Roman"/>
            </a:endParaRPr>
          </a:p>
        </p:txBody>
      </p:sp>
      <p:pic>
        <p:nvPicPr>
          <p:cNvPr id="4" name="object 4"/>
          <p:cNvPicPr/>
          <p:nvPr/>
        </p:nvPicPr>
        <p:blipFill>
          <a:blip r:embed="rId2" cstate="print"/>
          <a:stretch>
            <a:fillRect/>
          </a:stretch>
        </p:blipFill>
        <p:spPr>
          <a:xfrm>
            <a:off x="1831618" y="3193509"/>
            <a:ext cx="104775" cy="104774"/>
          </a:xfrm>
          <a:prstGeom prst="rect">
            <a:avLst/>
          </a:prstGeom>
        </p:spPr>
      </p:pic>
      <p:pic>
        <p:nvPicPr>
          <p:cNvPr id="5" name="object 5"/>
          <p:cNvPicPr/>
          <p:nvPr/>
        </p:nvPicPr>
        <p:blipFill>
          <a:blip r:embed="rId2" cstate="print"/>
          <a:stretch>
            <a:fillRect/>
          </a:stretch>
        </p:blipFill>
        <p:spPr>
          <a:xfrm>
            <a:off x="1831618" y="4793709"/>
            <a:ext cx="104775" cy="104774"/>
          </a:xfrm>
          <a:prstGeom prst="rect">
            <a:avLst/>
          </a:prstGeom>
        </p:spPr>
      </p:pic>
      <p:pic>
        <p:nvPicPr>
          <p:cNvPr id="6" name="object 6"/>
          <p:cNvPicPr/>
          <p:nvPr/>
        </p:nvPicPr>
        <p:blipFill>
          <a:blip r:embed="rId3" cstate="print"/>
          <a:stretch>
            <a:fillRect/>
          </a:stretch>
        </p:blipFill>
        <p:spPr>
          <a:xfrm>
            <a:off x="1831618" y="6927309"/>
            <a:ext cx="104775" cy="104774"/>
          </a:xfrm>
          <a:prstGeom prst="rect">
            <a:avLst/>
          </a:prstGeom>
        </p:spPr>
      </p:pic>
      <p:sp>
        <p:nvSpPr>
          <p:cNvPr id="7" name="object 7"/>
          <p:cNvSpPr txBox="1">
            <a:spLocks noGrp="1"/>
          </p:cNvSpPr>
          <p:nvPr>
            <p:ph type="title"/>
          </p:nvPr>
        </p:nvSpPr>
        <p:spPr>
          <a:prstGeom prst="rect">
            <a:avLst/>
          </a:prstGeom>
        </p:spPr>
        <p:txBody>
          <a:bodyPr vert="horz" wrap="square" lIns="0" tIns="143941" rIns="0" bIns="0" rtlCol="0">
            <a:spAutoFit/>
          </a:bodyPr>
          <a:lstStyle/>
          <a:p>
            <a:pPr marL="193675">
              <a:lnSpc>
                <a:spcPct val="100000"/>
              </a:lnSpc>
              <a:spcBef>
                <a:spcPts val="100"/>
              </a:spcBef>
            </a:pPr>
            <a:r>
              <a:rPr spc="320" dirty="0">
                <a:solidFill>
                  <a:srgbClr val="FF3131"/>
                </a:solidFill>
              </a:rPr>
              <a:t>How</a:t>
            </a:r>
            <a:r>
              <a:rPr spc="-50" dirty="0">
                <a:solidFill>
                  <a:srgbClr val="FF3131"/>
                </a:solidFill>
              </a:rPr>
              <a:t> </a:t>
            </a:r>
            <a:r>
              <a:rPr spc="150" dirty="0">
                <a:solidFill>
                  <a:srgbClr val="FF3131"/>
                </a:solidFill>
              </a:rPr>
              <a:t>Helper</a:t>
            </a:r>
            <a:r>
              <a:rPr spc="-45" dirty="0">
                <a:solidFill>
                  <a:srgbClr val="FF3131"/>
                </a:solidFill>
              </a:rPr>
              <a:t> </a:t>
            </a:r>
            <a:r>
              <a:rPr spc="200" dirty="0">
                <a:solidFill>
                  <a:srgbClr val="FF3131"/>
                </a:solidFill>
              </a:rPr>
              <a:t>container</a:t>
            </a:r>
            <a:r>
              <a:rPr spc="-45" dirty="0">
                <a:solidFill>
                  <a:srgbClr val="FF3131"/>
                </a:solidFill>
              </a:rPr>
              <a:t> </a:t>
            </a:r>
            <a:r>
              <a:rPr spc="95" dirty="0">
                <a:solidFill>
                  <a:srgbClr val="FF3131"/>
                </a:solidFill>
              </a:rPr>
              <a:t>works: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6111" y="402590"/>
            <a:ext cx="4867275" cy="787400"/>
          </a:xfrm>
          <a:prstGeom prst="rect">
            <a:avLst/>
          </a:prstGeom>
        </p:spPr>
        <p:txBody>
          <a:bodyPr vert="horz" wrap="square" lIns="0" tIns="12700" rIns="0" bIns="0" rtlCol="0">
            <a:spAutoFit/>
          </a:bodyPr>
          <a:lstStyle/>
          <a:p>
            <a:pPr marL="12700">
              <a:lnSpc>
                <a:spcPct val="100000"/>
              </a:lnSpc>
              <a:spcBef>
                <a:spcPts val="100"/>
              </a:spcBef>
            </a:pPr>
            <a:r>
              <a:rPr dirty="0">
                <a:solidFill>
                  <a:srgbClr val="FF3131"/>
                </a:solidFill>
              </a:rPr>
              <a:t>POD</a:t>
            </a:r>
            <a:r>
              <a:rPr spc="-310" dirty="0">
                <a:solidFill>
                  <a:srgbClr val="FF3131"/>
                </a:solidFill>
              </a:rPr>
              <a:t> </a:t>
            </a:r>
            <a:r>
              <a:rPr spc="-265" dirty="0">
                <a:solidFill>
                  <a:srgbClr val="FF3131"/>
                </a:solidFill>
              </a:rPr>
              <a:t>CREATION:</a:t>
            </a:r>
          </a:p>
        </p:txBody>
      </p:sp>
      <p:sp>
        <p:nvSpPr>
          <p:cNvPr id="3" name="object 3"/>
          <p:cNvSpPr txBox="1"/>
          <p:nvPr/>
        </p:nvSpPr>
        <p:spPr>
          <a:xfrm>
            <a:off x="757739" y="1414240"/>
            <a:ext cx="13588365" cy="6291580"/>
          </a:xfrm>
          <a:prstGeom prst="rect">
            <a:avLst/>
          </a:prstGeom>
        </p:spPr>
        <p:txBody>
          <a:bodyPr vert="horz" wrap="square" lIns="0" tIns="12700" rIns="0" bIns="0" rtlCol="0">
            <a:spAutoFit/>
          </a:bodyPr>
          <a:lstStyle/>
          <a:p>
            <a:pPr marL="12700">
              <a:lnSpc>
                <a:spcPct val="100000"/>
              </a:lnSpc>
              <a:spcBef>
                <a:spcPts val="100"/>
              </a:spcBef>
            </a:pPr>
            <a:r>
              <a:rPr sz="3600" spc="-40" dirty="0">
                <a:solidFill>
                  <a:srgbClr val="2E377E"/>
                </a:solidFill>
                <a:latin typeface="Georgia"/>
                <a:cs typeface="Georgia"/>
              </a:rPr>
              <a:t>IMPERATIVE:</a:t>
            </a:r>
            <a:endParaRPr sz="3600">
              <a:latin typeface="Georgia"/>
              <a:cs typeface="Georgia"/>
            </a:endParaRPr>
          </a:p>
          <a:p>
            <a:pPr>
              <a:lnSpc>
                <a:spcPct val="100000"/>
              </a:lnSpc>
              <a:spcBef>
                <a:spcPts val="1645"/>
              </a:spcBef>
            </a:pPr>
            <a:endParaRPr sz="3600">
              <a:latin typeface="Georgia"/>
              <a:cs typeface="Georgia"/>
            </a:endParaRPr>
          </a:p>
          <a:p>
            <a:pPr marL="12700">
              <a:lnSpc>
                <a:spcPct val="100000"/>
              </a:lnSpc>
            </a:pPr>
            <a:r>
              <a:rPr sz="3600" dirty="0">
                <a:solidFill>
                  <a:srgbClr val="2E377E"/>
                </a:solidFill>
                <a:latin typeface="Georgia"/>
                <a:cs typeface="Georgia"/>
              </a:rPr>
              <a:t>The</a:t>
            </a:r>
            <a:r>
              <a:rPr sz="3600" spc="-15" dirty="0">
                <a:solidFill>
                  <a:srgbClr val="2E377E"/>
                </a:solidFill>
                <a:latin typeface="Georgia"/>
                <a:cs typeface="Georgia"/>
              </a:rPr>
              <a:t> </a:t>
            </a:r>
            <a:r>
              <a:rPr sz="3600" spc="50" dirty="0">
                <a:solidFill>
                  <a:srgbClr val="2E377E"/>
                </a:solidFill>
                <a:latin typeface="Georgia"/>
                <a:cs typeface="Georgia"/>
              </a:rPr>
              <a:t>imperative</a:t>
            </a:r>
            <a:r>
              <a:rPr sz="3600" spc="-10" dirty="0">
                <a:solidFill>
                  <a:srgbClr val="2E377E"/>
                </a:solidFill>
                <a:latin typeface="Georgia"/>
                <a:cs typeface="Georgia"/>
              </a:rPr>
              <a:t> </a:t>
            </a:r>
            <a:r>
              <a:rPr sz="3600" spc="125" dirty="0">
                <a:solidFill>
                  <a:srgbClr val="2E377E"/>
                </a:solidFill>
                <a:latin typeface="Georgia"/>
                <a:cs typeface="Georgia"/>
              </a:rPr>
              <a:t>way</a:t>
            </a:r>
            <a:r>
              <a:rPr sz="3600" spc="-10" dirty="0">
                <a:solidFill>
                  <a:srgbClr val="2E377E"/>
                </a:solidFill>
                <a:latin typeface="Georgia"/>
                <a:cs typeface="Georgia"/>
              </a:rPr>
              <a:t> </a:t>
            </a:r>
            <a:r>
              <a:rPr sz="3600" dirty="0">
                <a:solidFill>
                  <a:srgbClr val="2E377E"/>
                </a:solidFill>
                <a:latin typeface="Georgia"/>
                <a:cs typeface="Georgia"/>
              </a:rPr>
              <a:t>uses</a:t>
            </a:r>
            <a:r>
              <a:rPr sz="3600" spc="-15" dirty="0">
                <a:solidFill>
                  <a:srgbClr val="2E377E"/>
                </a:solidFill>
                <a:latin typeface="Georgia"/>
                <a:cs typeface="Georgia"/>
              </a:rPr>
              <a:t> </a:t>
            </a:r>
            <a:r>
              <a:rPr sz="3600" spc="60" dirty="0">
                <a:solidFill>
                  <a:srgbClr val="2E377E"/>
                </a:solidFill>
                <a:latin typeface="Georgia"/>
                <a:cs typeface="Georgia"/>
              </a:rPr>
              <a:t>kubectl</a:t>
            </a:r>
            <a:r>
              <a:rPr sz="3600" spc="-10" dirty="0">
                <a:solidFill>
                  <a:srgbClr val="2E377E"/>
                </a:solidFill>
                <a:latin typeface="Georgia"/>
                <a:cs typeface="Georgia"/>
              </a:rPr>
              <a:t> </a:t>
            </a:r>
            <a:r>
              <a:rPr sz="3600" dirty="0">
                <a:solidFill>
                  <a:srgbClr val="2E377E"/>
                </a:solidFill>
                <a:latin typeface="Georgia"/>
                <a:cs typeface="Georgia"/>
              </a:rPr>
              <a:t>command</a:t>
            </a:r>
            <a:r>
              <a:rPr sz="3600" spc="-10"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spc="55" dirty="0">
                <a:solidFill>
                  <a:srgbClr val="2E377E"/>
                </a:solidFill>
                <a:latin typeface="Georgia"/>
                <a:cs typeface="Georgia"/>
              </a:rPr>
              <a:t>create</a:t>
            </a:r>
            <a:r>
              <a:rPr sz="3600" spc="-10" dirty="0">
                <a:solidFill>
                  <a:srgbClr val="2E377E"/>
                </a:solidFill>
                <a:latin typeface="Georgia"/>
                <a:cs typeface="Georgia"/>
              </a:rPr>
              <a:t> </a:t>
            </a:r>
            <a:r>
              <a:rPr sz="3600" spc="-20" dirty="0">
                <a:solidFill>
                  <a:srgbClr val="2E377E"/>
                </a:solidFill>
                <a:latin typeface="Georgia"/>
                <a:cs typeface="Georgia"/>
              </a:rPr>
              <a:t>pod.</a:t>
            </a:r>
            <a:endParaRPr sz="3600">
              <a:latin typeface="Georgia"/>
              <a:cs typeface="Georgia"/>
            </a:endParaRPr>
          </a:p>
          <a:p>
            <a:pPr marL="12700" marR="5080">
              <a:lnSpc>
                <a:spcPct val="113700"/>
              </a:lnSpc>
              <a:spcBef>
                <a:spcPts val="115"/>
              </a:spcBef>
            </a:pPr>
            <a:r>
              <a:rPr sz="3600" dirty="0">
                <a:solidFill>
                  <a:srgbClr val="2E377E"/>
                </a:solidFill>
                <a:latin typeface="Georgia"/>
                <a:cs typeface="Georgia"/>
              </a:rPr>
              <a:t>This</a:t>
            </a:r>
            <a:r>
              <a:rPr sz="3600" spc="80" dirty="0">
                <a:solidFill>
                  <a:srgbClr val="2E377E"/>
                </a:solidFill>
                <a:latin typeface="Georgia"/>
                <a:cs typeface="Georgia"/>
              </a:rPr>
              <a:t> </a:t>
            </a:r>
            <a:r>
              <a:rPr sz="3600" dirty="0">
                <a:solidFill>
                  <a:srgbClr val="2E377E"/>
                </a:solidFill>
                <a:latin typeface="Georgia"/>
                <a:cs typeface="Georgia"/>
              </a:rPr>
              <a:t>method</a:t>
            </a:r>
            <a:r>
              <a:rPr sz="3600" spc="80" dirty="0">
                <a:solidFill>
                  <a:srgbClr val="2E377E"/>
                </a:solidFill>
                <a:latin typeface="Georgia"/>
                <a:cs typeface="Georgia"/>
              </a:rPr>
              <a:t> </a:t>
            </a:r>
            <a:r>
              <a:rPr sz="3600" dirty="0">
                <a:solidFill>
                  <a:srgbClr val="2E377E"/>
                </a:solidFill>
                <a:latin typeface="Georgia"/>
                <a:cs typeface="Georgia"/>
              </a:rPr>
              <a:t>is</a:t>
            </a:r>
            <a:r>
              <a:rPr sz="3600" spc="80" dirty="0">
                <a:solidFill>
                  <a:srgbClr val="2E377E"/>
                </a:solidFill>
                <a:latin typeface="Georgia"/>
                <a:cs typeface="Georgia"/>
              </a:rPr>
              <a:t> </a:t>
            </a:r>
            <a:r>
              <a:rPr sz="3600" dirty="0">
                <a:solidFill>
                  <a:srgbClr val="2E377E"/>
                </a:solidFill>
                <a:latin typeface="Georgia"/>
                <a:cs typeface="Georgia"/>
              </a:rPr>
              <a:t>useful</a:t>
            </a:r>
            <a:r>
              <a:rPr sz="3600" spc="80" dirty="0">
                <a:solidFill>
                  <a:srgbClr val="2E377E"/>
                </a:solidFill>
                <a:latin typeface="Georgia"/>
                <a:cs typeface="Georgia"/>
              </a:rPr>
              <a:t> </a:t>
            </a:r>
            <a:r>
              <a:rPr sz="3600" dirty="0">
                <a:solidFill>
                  <a:srgbClr val="2E377E"/>
                </a:solidFill>
                <a:latin typeface="Georgia"/>
                <a:cs typeface="Georgia"/>
              </a:rPr>
              <a:t>for</a:t>
            </a:r>
            <a:r>
              <a:rPr sz="3600" spc="85" dirty="0">
                <a:solidFill>
                  <a:srgbClr val="2E377E"/>
                </a:solidFill>
                <a:latin typeface="Georgia"/>
                <a:cs typeface="Georgia"/>
              </a:rPr>
              <a:t> </a:t>
            </a:r>
            <a:r>
              <a:rPr sz="3600" spc="60" dirty="0">
                <a:solidFill>
                  <a:srgbClr val="2E377E"/>
                </a:solidFill>
                <a:latin typeface="Georgia"/>
                <a:cs typeface="Georgia"/>
              </a:rPr>
              <a:t>quickly</a:t>
            </a:r>
            <a:r>
              <a:rPr sz="3600" spc="80" dirty="0">
                <a:solidFill>
                  <a:srgbClr val="2E377E"/>
                </a:solidFill>
                <a:latin typeface="Georgia"/>
                <a:cs typeface="Georgia"/>
              </a:rPr>
              <a:t> </a:t>
            </a:r>
            <a:r>
              <a:rPr sz="3600" dirty="0">
                <a:solidFill>
                  <a:srgbClr val="2E377E"/>
                </a:solidFill>
                <a:latin typeface="Georgia"/>
                <a:cs typeface="Georgia"/>
              </a:rPr>
              <a:t>creating</a:t>
            </a:r>
            <a:r>
              <a:rPr sz="3600" spc="80" dirty="0">
                <a:solidFill>
                  <a:srgbClr val="2E377E"/>
                </a:solidFill>
                <a:latin typeface="Georgia"/>
                <a:cs typeface="Georgia"/>
              </a:rPr>
              <a:t> </a:t>
            </a:r>
            <a:r>
              <a:rPr sz="3600" dirty="0">
                <a:solidFill>
                  <a:srgbClr val="2E377E"/>
                </a:solidFill>
                <a:latin typeface="Georgia"/>
                <a:cs typeface="Georgia"/>
              </a:rPr>
              <a:t>and</a:t>
            </a:r>
            <a:r>
              <a:rPr sz="3600" spc="80" dirty="0">
                <a:solidFill>
                  <a:srgbClr val="2E377E"/>
                </a:solidFill>
                <a:latin typeface="Georgia"/>
                <a:cs typeface="Georgia"/>
              </a:rPr>
              <a:t> </a:t>
            </a:r>
            <a:r>
              <a:rPr sz="3600" dirty="0">
                <a:solidFill>
                  <a:srgbClr val="2E377E"/>
                </a:solidFill>
                <a:latin typeface="Georgia"/>
                <a:cs typeface="Georgia"/>
              </a:rPr>
              <a:t>modifying</a:t>
            </a:r>
            <a:r>
              <a:rPr sz="3600" spc="85" dirty="0">
                <a:solidFill>
                  <a:srgbClr val="2E377E"/>
                </a:solidFill>
                <a:latin typeface="Georgia"/>
                <a:cs typeface="Georgia"/>
              </a:rPr>
              <a:t> </a:t>
            </a:r>
            <a:r>
              <a:rPr sz="3600" spc="60" dirty="0">
                <a:solidFill>
                  <a:srgbClr val="2E377E"/>
                </a:solidFill>
                <a:latin typeface="Georgia"/>
                <a:cs typeface="Georgia"/>
              </a:rPr>
              <a:t>the</a:t>
            </a:r>
            <a:r>
              <a:rPr sz="3600" spc="80" dirty="0">
                <a:solidFill>
                  <a:srgbClr val="2E377E"/>
                </a:solidFill>
                <a:latin typeface="Georgia"/>
                <a:cs typeface="Georgia"/>
              </a:rPr>
              <a:t> </a:t>
            </a:r>
            <a:r>
              <a:rPr sz="3600" spc="-10" dirty="0">
                <a:solidFill>
                  <a:srgbClr val="2E377E"/>
                </a:solidFill>
                <a:latin typeface="Georgia"/>
                <a:cs typeface="Georgia"/>
              </a:rPr>
              <a:t>pods. </a:t>
            </a:r>
            <a:r>
              <a:rPr sz="3600" spc="-110" dirty="0">
                <a:solidFill>
                  <a:srgbClr val="2E377E"/>
                </a:solidFill>
                <a:latin typeface="Georgia"/>
                <a:cs typeface="Georgia"/>
              </a:rPr>
              <a:t>SYNTAX:</a:t>
            </a:r>
            <a:r>
              <a:rPr sz="3600" spc="35" dirty="0">
                <a:solidFill>
                  <a:srgbClr val="2E377E"/>
                </a:solidFill>
                <a:latin typeface="Georgia"/>
                <a:cs typeface="Georgia"/>
              </a:rPr>
              <a:t> </a:t>
            </a:r>
            <a:r>
              <a:rPr sz="3600" spc="60" dirty="0">
                <a:solidFill>
                  <a:srgbClr val="2E377E"/>
                </a:solidFill>
                <a:latin typeface="Georgia"/>
                <a:cs typeface="Georgia"/>
              </a:rPr>
              <a:t>kubectl</a:t>
            </a:r>
            <a:r>
              <a:rPr sz="3600" spc="35" dirty="0">
                <a:solidFill>
                  <a:srgbClr val="2E377E"/>
                </a:solidFill>
                <a:latin typeface="Georgia"/>
                <a:cs typeface="Georgia"/>
              </a:rPr>
              <a:t> </a:t>
            </a:r>
            <a:r>
              <a:rPr sz="3600" dirty="0">
                <a:solidFill>
                  <a:srgbClr val="2E377E"/>
                </a:solidFill>
                <a:latin typeface="Georgia"/>
                <a:cs typeface="Georgia"/>
              </a:rPr>
              <a:t>run</a:t>
            </a:r>
            <a:r>
              <a:rPr sz="3600" spc="40" dirty="0">
                <a:solidFill>
                  <a:srgbClr val="2E377E"/>
                </a:solidFill>
                <a:latin typeface="Georgia"/>
                <a:cs typeface="Georgia"/>
              </a:rPr>
              <a:t> </a:t>
            </a:r>
            <a:r>
              <a:rPr sz="3600" dirty="0">
                <a:solidFill>
                  <a:srgbClr val="2E377E"/>
                </a:solidFill>
                <a:latin typeface="Georgia"/>
                <a:cs typeface="Georgia"/>
              </a:rPr>
              <a:t>pod_name</a:t>
            </a:r>
            <a:r>
              <a:rPr sz="3600" spc="35" dirty="0">
                <a:solidFill>
                  <a:srgbClr val="2E377E"/>
                </a:solidFill>
                <a:latin typeface="Georgia"/>
                <a:cs typeface="Georgia"/>
              </a:rPr>
              <a:t> </a:t>
            </a:r>
            <a:r>
              <a:rPr sz="3600" dirty="0">
                <a:solidFill>
                  <a:srgbClr val="2E377E"/>
                </a:solidFill>
                <a:latin typeface="Georgia"/>
                <a:cs typeface="Georgia"/>
              </a:rPr>
              <a:t>--</a:t>
            </a:r>
            <a:r>
              <a:rPr sz="3600" spc="-10" dirty="0">
                <a:solidFill>
                  <a:srgbClr val="2E377E"/>
                </a:solidFill>
                <a:latin typeface="Georgia"/>
                <a:cs typeface="Georgia"/>
              </a:rPr>
              <a:t>image=image_name </a:t>
            </a:r>
            <a:r>
              <a:rPr sz="3600" spc="90" dirty="0">
                <a:solidFill>
                  <a:srgbClr val="2E377E"/>
                </a:solidFill>
                <a:latin typeface="Trebuchet MS"/>
                <a:cs typeface="Trebuchet MS"/>
              </a:rPr>
              <a:t>COMMAND:</a:t>
            </a:r>
            <a:r>
              <a:rPr sz="3600" spc="-285" dirty="0">
                <a:solidFill>
                  <a:srgbClr val="2E377E"/>
                </a:solidFill>
                <a:latin typeface="Trebuchet MS"/>
                <a:cs typeface="Trebuchet MS"/>
              </a:rPr>
              <a:t> </a:t>
            </a:r>
            <a:r>
              <a:rPr sz="3600" b="1" i="1" spc="155" dirty="0">
                <a:solidFill>
                  <a:srgbClr val="2E377E"/>
                </a:solidFill>
                <a:latin typeface="Times New Roman"/>
                <a:cs typeface="Times New Roman"/>
              </a:rPr>
              <a:t>kubectl</a:t>
            </a:r>
            <a:r>
              <a:rPr sz="3600" b="1" i="1" spc="-110" dirty="0">
                <a:solidFill>
                  <a:srgbClr val="2E377E"/>
                </a:solidFill>
                <a:latin typeface="Times New Roman"/>
                <a:cs typeface="Times New Roman"/>
              </a:rPr>
              <a:t> </a:t>
            </a:r>
            <a:r>
              <a:rPr sz="3600" b="1" i="1" spc="125" dirty="0">
                <a:solidFill>
                  <a:srgbClr val="2E377E"/>
                </a:solidFill>
                <a:latin typeface="Times New Roman"/>
                <a:cs typeface="Times New Roman"/>
              </a:rPr>
              <a:t>run</a:t>
            </a:r>
            <a:r>
              <a:rPr sz="3600" b="1" i="1" spc="-110" dirty="0">
                <a:solidFill>
                  <a:srgbClr val="2E377E"/>
                </a:solidFill>
                <a:latin typeface="Times New Roman"/>
                <a:cs typeface="Times New Roman"/>
              </a:rPr>
              <a:t> </a:t>
            </a:r>
            <a:r>
              <a:rPr sz="3600" b="1" i="1" spc="235" dirty="0">
                <a:solidFill>
                  <a:srgbClr val="2E377E"/>
                </a:solidFill>
                <a:latin typeface="Times New Roman"/>
                <a:cs typeface="Times New Roman"/>
              </a:rPr>
              <a:t>pod-</a:t>
            </a:r>
            <a:r>
              <a:rPr sz="3600" b="1" i="1" spc="-225" dirty="0">
                <a:solidFill>
                  <a:srgbClr val="2E377E"/>
                </a:solidFill>
                <a:latin typeface="Times New Roman"/>
                <a:cs typeface="Times New Roman"/>
              </a:rPr>
              <a:t>1</a:t>
            </a:r>
            <a:r>
              <a:rPr sz="3600" b="1" i="1" spc="-110" dirty="0">
                <a:solidFill>
                  <a:srgbClr val="2E377E"/>
                </a:solidFill>
                <a:latin typeface="Times New Roman"/>
                <a:cs typeface="Times New Roman"/>
              </a:rPr>
              <a:t> </a:t>
            </a:r>
            <a:r>
              <a:rPr sz="3600" b="1" i="1" spc="225" dirty="0">
                <a:solidFill>
                  <a:srgbClr val="2E377E"/>
                </a:solidFill>
                <a:latin typeface="Times New Roman"/>
                <a:cs typeface="Times New Roman"/>
              </a:rPr>
              <a:t>--</a:t>
            </a:r>
            <a:r>
              <a:rPr sz="3600" b="1" i="1" spc="85" dirty="0">
                <a:solidFill>
                  <a:srgbClr val="2E377E"/>
                </a:solidFill>
                <a:latin typeface="Times New Roman"/>
                <a:cs typeface="Times New Roman"/>
              </a:rPr>
              <a:t>image=nginx</a:t>
            </a:r>
            <a:endParaRPr sz="3600">
              <a:latin typeface="Times New Roman"/>
              <a:cs typeface="Times New Roman"/>
            </a:endParaRPr>
          </a:p>
          <a:p>
            <a:pPr>
              <a:lnSpc>
                <a:spcPct val="100000"/>
              </a:lnSpc>
              <a:spcBef>
                <a:spcPts val="894"/>
              </a:spcBef>
            </a:pPr>
            <a:endParaRPr sz="3600">
              <a:latin typeface="Times New Roman"/>
              <a:cs typeface="Times New Roman"/>
            </a:endParaRPr>
          </a:p>
          <a:p>
            <a:pPr marL="12700" marR="5463540">
              <a:lnSpc>
                <a:spcPct val="116300"/>
              </a:lnSpc>
            </a:pPr>
            <a:r>
              <a:rPr sz="3600" b="1" i="1" spc="155" dirty="0">
                <a:solidFill>
                  <a:srgbClr val="2E377E"/>
                </a:solidFill>
                <a:latin typeface="Times New Roman"/>
                <a:cs typeface="Times New Roman"/>
              </a:rPr>
              <a:t>kubectl</a:t>
            </a:r>
            <a:r>
              <a:rPr sz="3600" b="1" i="1" spc="-114" dirty="0">
                <a:solidFill>
                  <a:srgbClr val="2E377E"/>
                </a:solidFill>
                <a:latin typeface="Times New Roman"/>
                <a:cs typeface="Times New Roman"/>
              </a:rPr>
              <a:t> </a:t>
            </a:r>
            <a:r>
              <a:rPr sz="3600" b="1" i="1" spc="-240" dirty="0">
                <a:solidFill>
                  <a:srgbClr val="2E377E"/>
                </a:solidFill>
                <a:latin typeface="Times New Roman"/>
                <a:cs typeface="Times New Roman"/>
              </a:rPr>
              <a:t>:</a:t>
            </a:r>
            <a:r>
              <a:rPr sz="3600" b="1" i="1" spc="-114" dirty="0">
                <a:solidFill>
                  <a:srgbClr val="2E377E"/>
                </a:solidFill>
                <a:latin typeface="Times New Roman"/>
                <a:cs typeface="Times New Roman"/>
              </a:rPr>
              <a:t> </a:t>
            </a:r>
            <a:r>
              <a:rPr sz="3600" b="1" i="1" spc="229" dirty="0">
                <a:solidFill>
                  <a:srgbClr val="2E377E"/>
                </a:solidFill>
                <a:latin typeface="Times New Roman"/>
                <a:cs typeface="Times New Roman"/>
              </a:rPr>
              <a:t>command</a:t>
            </a:r>
            <a:r>
              <a:rPr sz="3600" b="1" i="1" spc="-114" dirty="0">
                <a:solidFill>
                  <a:srgbClr val="2E377E"/>
                </a:solidFill>
                <a:latin typeface="Times New Roman"/>
                <a:cs typeface="Times New Roman"/>
              </a:rPr>
              <a:t> </a:t>
            </a:r>
            <a:r>
              <a:rPr sz="3600" b="1" i="1" spc="75" dirty="0">
                <a:solidFill>
                  <a:srgbClr val="2E377E"/>
                </a:solidFill>
                <a:latin typeface="Times New Roman"/>
                <a:cs typeface="Times New Roman"/>
              </a:rPr>
              <a:t>line</a:t>
            </a:r>
            <a:r>
              <a:rPr sz="3600" b="1" i="1" spc="-114" dirty="0">
                <a:solidFill>
                  <a:srgbClr val="2E377E"/>
                </a:solidFill>
                <a:latin typeface="Times New Roman"/>
                <a:cs typeface="Times New Roman"/>
              </a:rPr>
              <a:t> </a:t>
            </a:r>
            <a:r>
              <a:rPr sz="3600" b="1" i="1" spc="160" dirty="0">
                <a:solidFill>
                  <a:srgbClr val="2E377E"/>
                </a:solidFill>
                <a:latin typeface="Times New Roman"/>
                <a:cs typeface="Times New Roman"/>
              </a:rPr>
              <a:t>tool</a:t>
            </a:r>
            <a:r>
              <a:rPr sz="3600" b="1" i="1" spc="-114" dirty="0">
                <a:solidFill>
                  <a:srgbClr val="2E377E"/>
                </a:solidFill>
                <a:latin typeface="Times New Roman"/>
                <a:cs typeface="Times New Roman"/>
              </a:rPr>
              <a:t> </a:t>
            </a:r>
            <a:r>
              <a:rPr sz="3600" b="1" i="1" spc="125" dirty="0">
                <a:solidFill>
                  <a:srgbClr val="2E377E"/>
                </a:solidFill>
                <a:latin typeface="Times New Roman"/>
                <a:cs typeface="Times New Roman"/>
              </a:rPr>
              <a:t>run</a:t>
            </a:r>
            <a:r>
              <a:rPr sz="3600" b="1" i="1" spc="-110" dirty="0">
                <a:solidFill>
                  <a:srgbClr val="2E377E"/>
                </a:solidFill>
                <a:latin typeface="Times New Roman"/>
                <a:cs typeface="Times New Roman"/>
              </a:rPr>
              <a:t> </a:t>
            </a:r>
            <a:r>
              <a:rPr sz="3600" b="1" i="1" spc="-240" dirty="0">
                <a:solidFill>
                  <a:srgbClr val="2E377E"/>
                </a:solidFill>
                <a:latin typeface="Times New Roman"/>
                <a:cs typeface="Times New Roman"/>
              </a:rPr>
              <a:t>:</a:t>
            </a:r>
            <a:r>
              <a:rPr sz="3600" b="1" i="1" spc="-114" dirty="0">
                <a:solidFill>
                  <a:srgbClr val="2E377E"/>
                </a:solidFill>
                <a:latin typeface="Times New Roman"/>
                <a:cs typeface="Times New Roman"/>
              </a:rPr>
              <a:t> </a:t>
            </a:r>
            <a:r>
              <a:rPr sz="3600" b="1" i="1" spc="140" dirty="0">
                <a:solidFill>
                  <a:srgbClr val="2E377E"/>
                </a:solidFill>
                <a:latin typeface="Times New Roman"/>
                <a:cs typeface="Times New Roman"/>
              </a:rPr>
              <a:t>action </a:t>
            </a:r>
            <a:r>
              <a:rPr sz="3600" b="1" i="1" spc="235" dirty="0">
                <a:solidFill>
                  <a:srgbClr val="2E377E"/>
                </a:solidFill>
                <a:latin typeface="Times New Roman"/>
                <a:cs typeface="Times New Roman"/>
              </a:rPr>
              <a:t>pod-</a:t>
            </a:r>
            <a:r>
              <a:rPr sz="3600" b="1" i="1" spc="-225" dirty="0">
                <a:solidFill>
                  <a:srgbClr val="2E377E"/>
                </a:solidFill>
                <a:latin typeface="Times New Roman"/>
                <a:cs typeface="Times New Roman"/>
              </a:rPr>
              <a:t>1</a:t>
            </a:r>
            <a:r>
              <a:rPr sz="3600" b="1" i="1" spc="-120" dirty="0">
                <a:solidFill>
                  <a:srgbClr val="2E377E"/>
                </a:solidFill>
                <a:latin typeface="Times New Roman"/>
                <a:cs typeface="Times New Roman"/>
              </a:rPr>
              <a:t> </a:t>
            </a:r>
            <a:r>
              <a:rPr sz="3600" b="1" i="1" spc="-240" dirty="0">
                <a:solidFill>
                  <a:srgbClr val="2E377E"/>
                </a:solidFill>
                <a:latin typeface="Times New Roman"/>
                <a:cs typeface="Times New Roman"/>
              </a:rPr>
              <a:t>:</a:t>
            </a:r>
            <a:r>
              <a:rPr sz="3600" b="1" i="1" spc="-114" dirty="0">
                <a:solidFill>
                  <a:srgbClr val="2E377E"/>
                </a:solidFill>
                <a:latin typeface="Times New Roman"/>
                <a:cs typeface="Times New Roman"/>
              </a:rPr>
              <a:t> </a:t>
            </a:r>
            <a:r>
              <a:rPr sz="3600" b="1" i="1" spc="215" dirty="0">
                <a:solidFill>
                  <a:srgbClr val="2E377E"/>
                </a:solidFill>
                <a:latin typeface="Times New Roman"/>
                <a:cs typeface="Times New Roman"/>
              </a:rPr>
              <a:t>name</a:t>
            </a:r>
            <a:r>
              <a:rPr sz="3600" b="1" i="1" spc="-120" dirty="0">
                <a:solidFill>
                  <a:srgbClr val="2E377E"/>
                </a:solidFill>
                <a:latin typeface="Times New Roman"/>
                <a:cs typeface="Times New Roman"/>
              </a:rPr>
              <a:t> </a:t>
            </a:r>
            <a:r>
              <a:rPr sz="3600" b="1" i="1" spc="210" dirty="0">
                <a:solidFill>
                  <a:srgbClr val="2E377E"/>
                </a:solidFill>
                <a:latin typeface="Times New Roman"/>
                <a:cs typeface="Times New Roman"/>
              </a:rPr>
              <a:t>of</a:t>
            </a:r>
            <a:r>
              <a:rPr sz="3600" b="1" i="1" spc="-114" dirty="0">
                <a:solidFill>
                  <a:srgbClr val="2E377E"/>
                </a:solidFill>
                <a:latin typeface="Times New Roman"/>
                <a:cs typeface="Times New Roman"/>
              </a:rPr>
              <a:t> </a:t>
            </a:r>
            <a:r>
              <a:rPr sz="3600" b="1" i="1" spc="215" dirty="0">
                <a:solidFill>
                  <a:srgbClr val="2E377E"/>
                </a:solidFill>
                <a:latin typeface="Times New Roman"/>
                <a:cs typeface="Times New Roman"/>
              </a:rPr>
              <a:t>pod</a:t>
            </a:r>
            <a:endParaRPr sz="3600">
              <a:latin typeface="Times New Roman"/>
              <a:cs typeface="Times New Roman"/>
            </a:endParaRPr>
          </a:p>
          <a:p>
            <a:pPr marL="12700">
              <a:lnSpc>
                <a:spcPct val="100000"/>
              </a:lnSpc>
              <a:spcBef>
                <a:spcPts val="705"/>
              </a:spcBef>
            </a:pPr>
            <a:r>
              <a:rPr sz="3600" b="1" i="1" spc="60" dirty="0">
                <a:solidFill>
                  <a:srgbClr val="2E377E"/>
                </a:solidFill>
                <a:latin typeface="Times New Roman"/>
                <a:cs typeface="Times New Roman"/>
              </a:rPr>
              <a:t>nginx</a:t>
            </a:r>
            <a:r>
              <a:rPr sz="3600" b="1" i="1" spc="-125" dirty="0">
                <a:solidFill>
                  <a:srgbClr val="2E377E"/>
                </a:solidFill>
                <a:latin typeface="Times New Roman"/>
                <a:cs typeface="Times New Roman"/>
              </a:rPr>
              <a:t> </a:t>
            </a:r>
            <a:r>
              <a:rPr sz="3600" b="1" i="1" spc="-240" dirty="0">
                <a:solidFill>
                  <a:srgbClr val="2E377E"/>
                </a:solidFill>
                <a:latin typeface="Times New Roman"/>
                <a:cs typeface="Times New Roman"/>
              </a:rPr>
              <a:t>:</a:t>
            </a:r>
            <a:r>
              <a:rPr sz="3600" b="1" i="1" spc="-120" dirty="0">
                <a:solidFill>
                  <a:srgbClr val="2E377E"/>
                </a:solidFill>
                <a:latin typeface="Times New Roman"/>
                <a:cs typeface="Times New Roman"/>
              </a:rPr>
              <a:t> </a:t>
            </a:r>
            <a:r>
              <a:rPr sz="3600" b="1" i="1" spc="215" dirty="0">
                <a:solidFill>
                  <a:srgbClr val="2E377E"/>
                </a:solidFill>
                <a:latin typeface="Times New Roman"/>
                <a:cs typeface="Times New Roman"/>
              </a:rPr>
              <a:t>name</a:t>
            </a:r>
            <a:r>
              <a:rPr sz="3600" b="1" i="1" spc="-120" dirty="0">
                <a:solidFill>
                  <a:srgbClr val="2E377E"/>
                </a:solidFill>
                <a:latin typeface="Times New Roman"/>
                <a:cs typeface="Times New Roman"/>
              </a:rPr>
              <a:t> </a:t>
            </a:r>
            <a:r>
              <a:rPr sz="3600" b="1" i="1" spc="210" dirty="0">
                <a:solidFill>
                  <a:srgbClr val="2E377E"/>
                </a:solidFill>
                <a:latin typeface="Times New Roman"/>
                <a:cs typeface="Times New Roman"/>
              </a:rPr>
              <a:t>of</a:t>
            </a:r>
            <a:r>
              <a:rPr sz="3600" b="1" i="1" spc="-120" dirty="0">
                <a:solidFill>
                  <a:srgbClr val="2E377E"/>
                </a:solidFill>
                <a:latin typeface="Times New Roman"/>
                <a:cs typeface="Times New Roman"/>
              </a:rPr>
              <a:t> </a:t>
            </a:r>
            <a:r>
              <a:rPr sz="3600" b="1" i="1" spc="165" dirty="0">
                <a:solidFill>
                  <a:srgbClr val="2E377E"/>
                </a:solidFill>
                <a:latin typeface="Times New Roman"/>
                <a:cs typeface="Times New Roman"/>
              </a:rPr>
              <a:t>image</a:t>
            </a:r>
            <a:endParaRPr sz="360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15454" rIns="0" bIns="0" rtlCol="0">
            <a:spAutoFit/>
          </a:bodyPr>
          <a:lstStyle/>
          <a:p>
            <a:pPr marL="193675">
              <a:lnSpc>
                <a:spcPct val="100000"/>
              </a:lnSpc>
              <a:spcBef>
                <a:spcPts val="100"/>
              </a:spcBef>
            </a:pPr>
            <a:r>
              <a:rPr spc="-400" dirty="0">
                <a:solidFill>
                  <a:srgbClr val="FF3131"/>
                </a:solidFill>
              </a:rPr>
              <a:t>KUBECTL:</a:t>
            </a:r>
          </a:p>
        </p:txBody>
      </p:sp>
      <p:sp>
        <p:nvSpPr>
          <p:cNvPr id="3" name="object 3"/>
          <p:cNvSpPr txBox="1"/>
          <p:nvPr/>
        </p:nvSpPr>
        <p:spPr>
          <a:xfrm>
            <a:off x="910139" y="1566640"/>
            <a:ext cx="16295369" cy="8233409"/>
          </a:xfrm>
          <a:prstGeom prst="rect">
            <a:avLst/>
          </a:prstGeom>
        </p:spPr>
        <p:txBody>
          <a:bodyPr vert="horz" wrap="square" lIns="0" tIns="12700" rIns="0" bIns="0" rtlCol="0">
            <a:spAutoFit/>
          </a:bodyPr>
          <a:lstStyle/>
          <a:p>
            <a:pPr marL="12700">
              <a:lnSpc>
                <a:spcPct val="100000"/>
              </a:lnSpc>
              <a:spcBef>
                <a:spcPts val="100"/>
              </a:spcBef>
            </a:pPr>
            <a:r>
              <a:rPr sz="3600" spc="-40" dirty="0">
                <a:solidFill>
                  <a:srgbClr val="2E377E"/>
                </a:solidFill>
                <a:latin typeface="Georgia"/>
                <a:cs typeface="Georgia"/>
              </a:rPr>
              <a:t>DECLARATIVE:</a:t>
            </a:r>
            <a:endParaRPr sz="3600">
              <a:latin typeface="Georgia"/>
              <a:cs typeface="Georgia"/>
            </a:endParaRPr>
          </a:p>
          <a:p>
            <a:pPr>
              <a:lnSpc>
                <a:spcPct val="100000"/>
              </a:lnSpc>
              <a:spcBef>
                <a:spcPts val="940"/>
              </a:spcBef>
            </a:pPr>
            <a:endParaRPr sz="3600">
              <a:latin typeface="Georgia"/>
              <a:cs typeface="Georgia"/>
            </a:endParaRPr>
          </a:p>
          <a:p>
            <a:pPr marL="12700" marR="620395">
              <a:lnSpc>
                <a:spcPct val="116300"/>
              </a:lnSpc>
            </a:pPr>
            <a:r>
              <a:rPr sz="360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Declarativ</a:t>
            </a:r>
            <a:r>
              <a:rPr sz="3600" spc="-5" dirty="0">
                <a:solidFill>
                  <a:srgbClr val="2E377E"/>
                </a:solidFill>
                <a:latin typeface="Georgia"/>
                <a:cs typeface="Georgia"/>
              </a:rPr>
              <a:t> </a:t>
            </a:r>
            <a:r>
              <a:rPr sz="3600" spc="95" dirty="0">
                <a:solidFill>
                  <a:srgbClr val="2E377E"/>
                </a:solidFill>
                <a:latin typeface="Georgia"/>
                <a:cs typeface="Georgia"/>
              </a:rPr>
              <a:t>tive</a:t>
            </a:r>
            <a:r>
              <a:rPr sz="3600" spc="-10" dirty="0">
                <a:solidFill>
                  <a:srgbClr val="2E377E"/>
                </a:solidFill>
                <a:latin typeface="Georgia"/>
                <a:cs typeface="Georgia"/>
              </a:rPr>
              <a:t> </a:t>
            </a:r>
            <a:r>
              <a:rPr sz="3600" spc="125" dirty="0">
                <a:solidFill>
                  <a:srgbClr val="2E377E"/>
                </a:solidFill>
                <a:latin typeface="Georgia"/>
                <a:cs typeface="Georgia"/>
              </a:rPr>
              <a:t>way</a:t>
            </a:r>
            <a:r>
              <a:rPr sz="3600" spc="-5" dirty="0">
                <a:solidFill>
                  <a:srgbClr val="2E377E"/>
                </a:solidFill>
                <a:latin typeface="Georgia"/>
                <a:cs typeface="Georgia"/>
              </a:rPr>
              <a:t> </a:t>
            </a:r>
            <a:r>
              <a:rPr sz="3600" spc="140" dirty="0">
                <a:solidFill>
                  <a:srgbClr val="2E377E"/>
                </a:solidFill>
                <a:latin typeface="Georgia"/>
                <a:cs typeface="Georgia"/>
              </a:rPr>
              <a:t>we</a:t>
            </a:r>
            <a:r>
              <a:rPr sz="3600" spc="-10" dirty="0">
                <a:solidFill>
                  <a:srgbClr val="2E377E"/>
                </a:solidFill>
                <a:latin typeface="Georgia"/>
                <a:cs typeface="Georgia"/>
              </a:rPr>
              <a:t> </a:t>
            </a:r>
            <a:r>
              <a:rPr sz="3600" dirty="0">
                <a:solidFill>
                  <a:srgbClr val="2E377E"/>
                </a:solidFill>
                <a:latin typeface="Georgia"/>
                <a:cs typeface="Georgia"/>
              </a:rPr>
              <a:t>need</a:t>
            </a:r>
            <a:r>
              <a:rPr sz="3600" spc="-5" dirty="0">
                <a:solidFill>
                  <a:srgbClr val="2E377E"/>
                </a:solidFill>
                <a:latin typeface="Georgia"/>
                <a:cs typeface="Georgia"/>
              </a:rPr>
              <a:t> </a:t>
            </a:r>
            <a:r>
              <a:rPr sz="3600" spc="70" dirty="0">
                <a:solidFill>
                  <a:srgbClr val="2E377E"/>
                </a:solidFill>
                <a:latin typeface="Georgia"/>
                <a:cs typeface="Georgia"/>
              </a:rPr>
              <a:t>to</a:t>
            </a:r>
            <a:r>
              <a:rPr sz="3600" spc="-5" dirty="0">
                <a:solidFill>
                  <a:srgbClr val="2E377E"/>
                </a:solidFill>
                <a:latin typeface="Georgia"/>
                <a:cs typeface="Georgia"/>
              </a:rPr>
              <a:t> </a:t>
            </a:r>
            <a:r>
              <a:rPr sz="3600" spc="55" dirty="0">
                <a:solidFill>
                  <a:srgbClr val="2E377E"/>
                </a:solidFill>
                <a:latin typeface="Georgia"/>
                <a:cs typeface="Georgia"/>
              </a:rPr>
              <a:t>create</a:t>
            </a:r>
            <a:r>
              <a:rPr sz="3600" spc="-10" dirty="0">
                <a:solidFill>
                  <a:srgbClr val="2E377E"/>
                </a:solidFill>
                <a:latin typeface="Georgia"/>
                <a:cs typeface="Georgia"/>
              </a:rPr>
              <a:t> </a:t>
            </a:r>
            <a:r>
              <a:rPr sz="3600" dirty="0">
                <a:solidFill>
                  <a:srgbClr val="2E377E"/>
                </a:solidFill>
                <a:latin typeface="Georgia"/>
                <a:cs typeface="Georgia"/>
              </a:rPr>
              <a:t>a</a:t>
            </a:r>
            <a:r>
              <a:rPr sz="3600" spc="-5" dirty="0">
                <a:solidFill>
                  <a:srgbClr val="2E377E"/>
                </a:solidFill>
                <a:latin typeface="Georgia"/>
                <a:cs typeface="Georgia"/>
              </a:rPr>
              <a:t> </a:t>
            </a:r>
            <a:r>
              <a:rPr sz="3600" dirty="0">
                <a:solidFill>
                  <a:srgbClr val="2E377E"/>
                </a:solidFill>
                <a:latin typeface="Georgia"/>
                <a:cs typeface="Georgia"/>
              </a:rPr>
              <a:t>Manifest</a:t>
            </a:r>
            <a:r>
              <a:rPr sz="3600" spc="-10" dirty="0">
                <a:solidFill>
                  <a:srgbClr val="2E377E"/>
                </a:solidFill>
                <a:latin typeface="Georgia"/>
                <a:cs typeface="Georgia"/>
              </a:rPr>
              <a:t> </a:t>
            </a:r>
            <a:r>
              <a:rPr sz="3600" dirty="0">
                <a:solidFill>
                  <a:srgbClr val="2E377E"/>
                </a:solidFill>
                <a:latin typeface="Georgia"/>
                <a:cs typeface="Georgia"/>
              </a:rPr>
              <a:t>file</a:t>
            </a:r>
            <a:r>
              <a:rPr sz="3600" spc="-5" dirty="0">
                <a:solidFill>
                  <a:srgbClr val="2E377E"/>
                </a:solidFill>
                <a:latin typeface="Georgia"/>
                <a:cs typeface="Georgia"/>
              </a:rPr>
              <a:t> </a:t>
            </a:r>
            <a:r>
              <a:rPr sz="3600" dirty="0">
                <a:solidFill>
                  <a:srgbClr val="2E377E"/>
                </a:solidFill>
                <a:latin typeface="Georgia"/>
                <a:cs typeface="Georgia"/>
              </a:rPr>
              <a:t>in</a:t>
            </a:r>
            <a:r>
              <a:rPr sz="3600" spc="-5" dirty="0">
                <a:solidFill>
                  <a:srgbClr val="2E377E"/>
                </a:solidFill>
                <a:latin typeface="Georgia"/>
                <a:cs typeface="Georgia"/>
              </a:rPr>
              <a:t> </a:t>
            </a:r>
            <a:r>
              <a:rPr sz="3600" spc="-70" dirty="0">
                <a:solidFill>
                  <a:srgbClr val="2E377E"/>
                </a:solidFill>
                <a:latin typeface="Georgia"/>
                <a:cs typeface="Georgia"/>
              </a:rPr>
              <a:t>YAML</a:t>
            </a:r>
            <a:r>
              <a:rPr sz="3600" spc="-10" dirty="0">
                <a:solidFill>
                  <a:srgbClr val="2E377E"/>
                </a:solidFill>
                <a:latin typeface="Georgia"/>
                <a:cs typeface="Georgia"/>
              </a:rPr>
              <a:t> Extension. </a:t>
            </a:r>
            <a:r>
              <a:rPr sz="3600" dirty="0">
                <a:solidFill>
                  <a:srgbClr val="2E377E"/>
                </a:solidFill>
                <a:latin typeface="Georgia"/>
                <a:cs typeface="Georgia"/>
              </a:rPr>
              <a:t>This</a:t>
            </a:r>
            <a:r>
              <a:rPr sz="3600" spc="20" dirty="0">
                <a:solidFill>
                  <a:srgbClr val="2E377E"/>
                </a:solidFill>
                <a:latin typeface="Georgia"/>
                <a:cs typeface="Georgia"/>
              </a:rPr>
              <a:t> </a:t>
            </a:r>
            <a:r>
              <a:rPr sz="3600" dirty="0">
                <a:solidFill>
                  <a:srgbClr val="2E377E"/>
                </a:solidFill>
                <a:latin typeface="Georgia"/>
                <a:cs typeface="Georgia"/>
              </a:rPr>
              <a:t>file</a:t>
            </a:r>
            <a:r>
              <a:rPr sz="3600" spc="20" dirty="0">
                <a:solidFill>
                  <a:srgbClr val="2E377E"/>
                </a:solidFill>
                <a:latin typeface="Georgia"/>
                <a:cs typeface="Georgia"/>
              </a:rPr>
              <a:t> </a:t>
            </a:r>
            <a:r>
              <a:rPr sz="3600" dirty="0">
                <a:solidFill>
                  <a:srgbClr val="2E377E"/>
                </a:solidFill>
                <a:latin typeface="Georgia"/>
                <a:cs typeface="Georgia"/>
              </a:rPr>
              <a:t>contains</a:t>
            </a:r>
            <a:r>
              <a:rPr sz="3600" spc="20"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desired</a:t>
            </a:r>
            <a:r>
              <a:rPr sz="3600" spc="20" dirty="0">
                <a:solidFill>
                  <a:srgbClr val="2E377E"/>
                </a:solidFill>
                <a:latin typeface="Georgia"/>
                <a:cs typeface="Georgia"/>
              </a:rPr>
              <a:t> </a:t>
            </a:r>
            <a:r>
              <a:rPr sz="3600" spc="65" dirty="0">
                <a:solidFill>
                  <a:srgbClr val="2E377E"/>
                </a:solidFill>
                <a:latin typeface="Georgia"/>
                <a:cs typeface="Georgia"/>
              </a:rPr>
              <a:t>state</a:t>
            </a:r>
            <a:r>
              <a:rPr sz="3600" spc="20"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spc="-20" dirty="0">
                <a:solidFill>
                  <a:srgbClr val="2E377E"/>
                </a:solidFill>
                <a:latin typeface="Georgia"/>
                <a:cs typeface="Georgia"/>
              </a:rPr>
              <a:t>Pod.</a:t>
            </a:r>
            <a:endParaRPr sz="3600">
              <a:latin typeface="Georgia"/>
              <a:cs typeface="Georgia"/>
            </a:endParaRPr>
          </a:p>
          <a:p>
            <a:pPr marL="12700" marR="3994785">
              <a:lnSpc>
                <a:spcPct val="116300"/>
              </a:lnSpc>
            </a:pPr>
            <a:r>
              <a:rPr sz="3600" dirty="0">
                <a:solidFill>
                  <a:srgbClr val="2E377E"/>
                </a:solidFill>
                <a:latin typeface="Georgia"/>
                <a:cs typeface="Georgia"/>
              </a:rPr>
              <a:t>It</a:t>
            </a:r>
            <a:r>
              <a:rPr sz="3600" spc="50" dirty="0">
                <a:solidFill>
                  <a:srgbClr val="2E377E"/>
                </a:solidFill>
                <a:latin typeface="Georgia"/>
                <a:cs typeface="Georgia"/>
              </a:rPr>
              <a:t> </a:t>
            </a:r>
            <a:r>
              <a:rPr sz="3600" spc="60" dirty="0">
                <a:solidFill>
                  <a:srgbClr val="2E377E"/>
                </a:solidFill>
                <a:latin typeface="Georgia"/>
                <a:cs typeface="Georgia"/>
              </a:rPr>
              <a:t>takes</a:t>
            </a:r>
            <a:r>
              <a:rPr sz="3600" spc="50" dirty="0">
                <a:solidFill>
                  <a:srgbClr val="2E377E"/>
                </a:solidFill>
                <a:latin typeface="Georgia"/>
                <a:cs typeface="Georgia"/>
              </a:rPr>
              <a:t> </a:t>
            </a:r>
            <a:r>
              <a:rPr sz="3600" dirty="0">
                <a:solidFill>
                  <a:srgbClr val="2E377E"/>
                </a:solidFill>
                <a:latin typeface="Georgia"/>
                <a:cs typeface="Georgia"/>
              </a:rPr>
              <a:t>care</a:t>
            </a:r>
            <a:r>
              <a:rPr sz="3600" spc="50" dirty="0">
                <a:solidFill>
                  <a:srgbClr val="2E377E"/>
                </a:solidFill>
                <a:latin typeface="Georgia"/>
                <a:cs typeface="Georgia"/>
              </a:rPr>
              <a:t> </a:t>
            </a:r>
            <a:r>
              <a:rPr sz="3600" dirty="0">
                <a:solidFill>
                  <a:srgbClr val="2E377E"/>
                </a:solidFill>
                <a:latin typeface="Georgia"/>
                <a:cs typeface="Georgia"/>
              </a:rPr>
              <a:t>of</a:t>
            </a:r>
            <a:r>
              <a:rPr sz="3600" spc="55" dirty="0">
                <a:solidFill>
                  <a:srgbClr val="2E377E"/>
                </a:solidFill>
                <a:latin typeface="Georgia"/>
                <a:cs typeface="Georgia"/>
              </a:rPr>
              <a:t> </a:t>
            </a:r>
            <a:r>
              <a:rPr sz="3600" dirty="0">
                <a:solidFill>
                  <a:srgbClr val="2E377E"/>
                </a:solidFill>
                <a:latin typeface="Georgia"/>
                <a:cs typeface="Georgia"/>
              </a:rPr>
              <a:t>creating,</a:t>
            </a:r>
            <a:r>
              <a:rPr sz="3600" spc="50" dirty="0">
                <a:solidFill>
                  <a:srgbClr val="2E377E"/>
                </a:solidFill>
                <a:latin typeface="Georgia"/>
                <a:cs typeface="Georgia"/>
              </a:rPr>
              <a:t> </a:t>
            </a:r>
            <a:r>
              <a:rPr sz="3600" dirty="0">
                <a:solidFill>
                  <a:srgbClr val="2E377E"/>
                </a:solidFill>
                <a:latin typeface="Georgia"/>
                <a:cs typeface="Georgia"/>
              </a:rPr>
              <a:t>updating,</a:t>
            </a:r>
            <a:r>
              <a:rPr sz="3600" spc="50" dirty="0">
                <a:solidFill>
                  <a:srgbClr val="2E377E"/>
                </a:solidFill>
                <a:latin typeface="Georgia"/>
                <a:cs typeface="Georgia"/>
              </a:rPr>
              <a:t> </a:t>
            </a:r>
            <a:r>
              <a:rPr sz="3600" dirty="0">
                <a:solidFill>
                  <a:srgbClr val="2E377E"/>
                </a:solidFill>
                <a:latin typeface="Georgia"/>
                <a:cs typeface="Georgia"/>
              </a:rPr>
              <a:t>or</a:t>
            </a:r>
            <a:r>
              <a:rPr sz="3600" spc="55" dirty="0">
                <a:solidFill>
                  <a:srgbClr val="2E377E"/>
                </a:solidFill>
                <a:latin typeface="Georgia"/>
                <a:cs typeface="Georgia"/>
              </a:rPr>
              <a:t> </a:t>
            </a:r>
            <a:r>
              <a:rPr sz="3600" dirty="0">
                <a:solidFill>
                  <a:srgbClr val="2E377E"/>
                </a:solidFill>
                <a:latin typeface="Georgia"/>
                <a:cs typeface="Georgia"/>
              </a:rPr>
              <a:t>deleting</a:t>
            </a:r>
            <a:r>
              <a:rPr sz="3600" spc="50" dirty="0">
                <a:solidFill>
                  <a:srgbClr val="2E377E"/>
                </a:solidFill>
                <a:latin typeface="Georgia"/>
                <a:cs typeface="Georgia"/>
              </a:rPr>
              <a:t> </a:t>
            </a:r>
            <a:r>
              <a:rPr sz="3600" spc="60" dirty="0">
                <a:solidFill>
                  <a:srgbClr val="2E377E"/>
                </a:solidFill>
                <a:latin typeface="Georgia"/>
                <a:cs typeface="Georgia"/>
              </a:rPr>
              <a:t>the</a:t>
            </a:r>
            <a:r>
              <a:rPr sz="3600" spc="50" dirty="0">
                <a:solidFill>
                  <a:srgbClr val="2E377E"/>
                </a:solidFill>
                <a:latin typeface="Georgia"/>
                <a:cs typeface="Georgia"/>
              </a:rPr>
              <a:t> </a:t>
            </a:r>
            <a:r>
              <a:rPr sz="3600" spc="-10" dirty="0">
                <a:solidFill>
                  <a:srgbClr val="2E377E"/>
                </a:solidFill>
                <a:latin typeface="Georgia"/>
                <a:cs typeface="Georgia"/>
              </a:rPr>
              <a:t>resources. </a:t>
            </a:r>
            <a:r>
              <a:rPr sz="3600" dirty="0">
                <a:solidFill>
                  <a:srgbClr val="2E377E"/>
                </a:solidFill>
                <a:latin typeface="Georgia"/>
                <a:cs typeface="Georgia"/>
              </a:rPr>
              <a:t>This</a:t>
            </a:r>
            <a:r>
              <a:rPr sz="3600" spc="10" dirty="0">
                <a:solidFill>
                  <a:srgbClr val="2E377E"/>
                </a:solidFill>
                <a:latin typeface="Georgia"/>
                <a:cs typeface="Georgia"/>
              </a:rPr>
              <a:t> </a:t>
            </a:r>
            <a:r>
              <a:rPr sz="3600" dirty="0">
                <a:solidFill>
                  <a:srgbClr val="2E377E"/>
                </a:solidFill>
                <a:latin typeface="Georgia"/>
                <a:cs typeface="Georgia"/>
              </a:rPr>
              <a:t>manifest</a:t>
            </a:r>
            <a:r>
              <a:rPr sz="3600" spc="10" dirty="0">
                <a:solidFill>
                  <a:srgbClr val="2E377E"/>
                </a:solidFill>
                <a:latin typeface="Georgia"/>
                <a:cs typeface="Georgia"/>
              </a:rPr>
              <a:t> </a:t>
            </a:r>
            <a:r>
              <a:rPr sz="3600" dirty="0">
                <a:solidFill>
                  <a:srgbClr val="2E377E"/>
                </a:solidFill>
                <a:latin typeface="Georgia"/>
                <a:cs typeface="Georgia"/>
              </a:rPr>
              <a:t>file</a:t>
            </a:r>
            <a:r>
              <a:rPr sz="3600" spc="15" dirty="0">
                <a:solidFill>
                  <a:srgbClr val="2E377E"/>
                </a:solidFill>
                <a:latin typeface="Georgia"/>
                <a:cs typeface="Georgia"/>
              </a:rPr>
              <a:t> </a:t>
            </a:r>
            <a:r>
              <a:rPr sz="3600" dirty="0">
                <a:solidFill>
                  <a:srgbClr val="2E377E"/>
                </a:solidFill>
                <a:latin typeface="Georgia"/>
                <a:cs typeface="Georgia"/>
              </a:rPr>
              <a:t>need</a:t>
            </a:r>
            <a:r>
              <a:rPr sz="3600" spc="10"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spc="50" dirty="0">
                <a:solidFill>
                  <a:srgbClr val="2E377E"/>
                </a:solidFill>
                <a:latin typeface="Georgia"/>
                <a:cs typeface="Georgia"/>
              </a:rPr>
              <a:t>follow</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spc="50" dirty="0">
                <a:solidFill>
                  <a:srgbClr val="2E377E"/>
                </a:solidFill>
                <a:latin typeface="Georgia"/>
                <a:cs typeface="Georgia"/>
              </a:rPr>
              <a:t>yaml</a:t>
            </a:r>
            <a:r>
              <a:rPr sz="3600" spc="10" dirty="0">
                <a:solidFill>
                  <a:srgbClr val="2E377E"/>
                </a:solidFill>
                <a:latin typeface="Georgia"/>
                <a:cs typeface="Georgia"/>
              </a:rPr>
              <a:t> </a:t>
            </a:r>
            <a:r>
              <a:rPr sz="3600" spc="-10" dirty="0">
                <a:solidFill>
                  <a:srgbClr val="2E377E"/>
                </a:solidFill>
                <a:latin typeface="Georgia"/>
                <a:cs typeface="Georgia"/>
              </a:rPr>
              <a:t>indentation.</a:t>
            </a:r>
            <a:endParaRPr sz="3600">
              <a:latin typeface="Georgia"/>
              <a:cs typeface="Georgia"/>
            </a:endParaRPr>
          </a:p>
          <a:p>
            <a:pPr marL="12700">
              <a:lnSpc>
                <a:spcPct val="100000"/>
              </a:lnSpc>
              <a:spcBef>
                <a:spcPts val="705"/>
              </a:spcBef>
            </a:pPr>
            <a:r>
              <a:rPr sz="3600" spc="-70" dirty="0">
                <a:solidFill>
                  <a:srgbClr val="2E377E"/>
                </a:solidFill>
                <a:latin typeface="Georgia"/>
                <a:cs typeface="Georgia"/>
              </a:rPr>
              <a:t>YAML</a:t>
            </a:r>
            <a:r>
              <a:rPr sz="3600" spc="25" dirty="0">
                <a:solidFill>
                  <a:srgbClr val="2E377E"/>
                </a:solidFill>
                <a:latin typeface="Georgia"/>
                <a:cs typeface="Georgia"/>
              </a:rPr>
              <a:t> </a:t>
            </a:r>
            <a:r>
              <a:rPr sz="3600" dirty="0">
                <a:solidFill>
                  <a:srgbClr val="2E377E"/>
                </a:solidFill>
                <a:latin typeface="Georgia"/>
                <a:cs typeface="Georgia"/>
              </a:rPr>
              <a:t>file</a:t>
            </a:r>
            <a:r>
              <a:rPr sz="3600" spc="30" dirty="0">
                <a:solidFill>
                  <a:srgbClr val="2E377E"/>
                </a:solidFill>
                <a:latin typeface="Georgia"/>
                <a:cs typeface="Georgia"/>
              </a:rPr>
              <a:t> </a:t>
            </a:r>
            <a:r>
              <a:rPr sz="3600" dirty="0">
                <a:solidFill>
                  <a:srgbClr val="2E377E"/>
                </a:solidFill>
                <a:latin typeface="Georgia"/>
                <a:cs typeface="Georgia"/>
              </a:rPr>
              <a:t>consist</a:t>
            </a:r>
            <a:r>
              <a:rPr sz="3600" spc="25" dirty="0">
                <a:solidFill>
                  <a:srgbClr val="2E377E"/>
                </a:solidFill>
                <a:latin typeface="Georgia"/>
                <a:cs typeface="Georgia"/>
              </a:rPr>
              <a:t> </a:t>
            </a:r>
            <a:r>
              <a:rPr sz="3600" dirty="0">
                <a:solidFill>
                  <a:srgbClr val="2E377E"/>
                </a:solidFill>
                <a:latin typeface="Georgia"/>
                <a:cs typeface="Georgia"/>
              </a:rPr>
              <a:t>of</a:t>
            </a:r>
            <a:r>
              <a:rPr sz="3600" spc="30" dirty="0">
                <a:solidFill>
                  <a:srgbClr val="2E377E"/>
                </a:solidFill>
                <a:latin typeface="Georgia"/>
                <a:cs typeface="Georgia"/>
              </a:rPr>
              <a:t> </a:t>
            </a:r>
            <a:r>
              <a:rPr sz="3600" spc="-55" dirty="0">
                <a:solidFill>
                  <a:srgbClr val="2E377E"/>
                </a:solidFill>
                <a:latin typeface="Georgia"/>
                <a:cs typeface="Georgia"/>
              </a:rPr>
              <a:t>KEY-</a:t>
            </a:r>
            <a:r>
              <a:rPr sz="3600" spc="-130" dirty="0">
                <a:solidFill>
                  <a:srgbClr val="2E377E"/>
                </a:solidFill>
                <a:latin typeface="Georgia"/>
                <a:cs typeface="Georgia"/>
              </a:rPr>
              <a:t>VALUE</a:t>
            </a:r>
            <a:r>
              <a:rPr sz="3600" spc="25" dirty="0">
                <a:solidFill>
                  <a:srgbClr val="2E377E"/>
                </a:solidFill>
                <a:latin typeface="Georgia"/>
                <a:cs typeface="Georgia"/>
              </a:rPr>
              <a:t> </a:t>
            </a:r>
            <a:r>
              <a:rPr sz="3600" spc="-10" dirty="0">
                <a:solidFill>
                  <a:srgbClr val="2E377E"/>
                </a:solidFill>
                <a:latin typeface="Georgia"/>
                <a:cs typeface="Georgia"/>
              </a:rPr>
              <a:t>Pair.</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Here</a:t>
            </a:r>
            <a:r>
              <a:rPr sz="3600" spc="-10" dirty="0">
                <a:solidFill>
                  <a:srgbClr val="2E377E"/>
                </a:solidFill>
                <a:latin typeface="Georgia"/>
                <a:cs typeface="Georgia"/>
              </a:rPr>
              <a:t> </a:t>
            </a:r>
            <a:r>
              <a:rPr sz="3600" spc="140" dirty="0">
                <a:solidFill>
                  <a:srgbClr val="2E377E"/>
                </a:solidFill>
                <a:latin typeface="Georgia"/>
                <a:cs typeface="Georgia"/>
              </a:rPr>
              <a:t>we</a:t>
            </a:r>
            <a:r>
              <a:rPr sz="3600" spc="-5" dirty="0">
                <a:solidFill>
                  <a:srgbClr val="2E377E"/>
                </a:solidFill>
                <a:latin typeface="Georgia"/>
                <a:cs typeface="Georgia"/>
              </a:rPr>
              <a:t> </a:t>
            </a:r>
            <a:r>
              <a:rPr sz="3600" spc="50" dirty="0">
                <a:solidFill>
                  <a:srgbClr val="2E377E"/>
                </a:solidFill>
                <a:latin typeface="Georgia"/>
                <a:cs typeface="Georgia"/>
              </a:rPr>
              <a:t>use</a:t>
            </a:r>
            <a:r>
              <a:rPr sz="3600" spc="-5" dirty="0">
                <a:solidFill>
                  <a:srgbClr val="2E377E"/>
                </a:solidFill>
                <a:latin typeface="Georgia"/>
                <a:cs typeface="Georgia"/>
              </a:rPr>
              <a:t> </a:t>
            </a:r>
            <a:r>
              <a:rPr sz="3600" spc="55" dirty="0">
                <a:solidFill>
                  <a:srgbClr val="2E377E"/>
                </a:solidFill>
                <a:latin typeface="Georgia"/>
                <a:cs typeface="Georgia"/>
              </a:rPr>
              <a:t>create</a:t>
            </a:r>
            <a:r>
              <a:rPr sz="3600" spc="-5" dirty="0">
                <a:solidFill>
                  <a:srgbClr val="2E377E"/>
                </a:solidFill>
                <a:latin typeface="Georgia"/>
                <a:cs typeface="Georgia"/>
              </a:rPr>
              <a:t> </a:t>
            </a:r>
            <a:r>
              <a:rPr sz="3600" dirty="0">
                <a:solidFill>
                  <a:srgbClr val="2E377E"/>
                </a:solidFill>
                <a:latin typeface="Georgia"/>
                <a:cs typeface="Georgia"/>
              </a:rPr>
              <a:t>or</a:t>
            </a:r>
            <a:r>
              <a:rPr sz="3600" spc="-10" dirty="0">
                <a:solidFill>
                  <a:srgbClr val="2E377E"/>
                </a:solidFill>
                <a:latin typeface="Georgia"/>
                <a:cs typeface="Georgia"/>
              </a:rPr>
              <a:t> </a:t>
            </a:r>
            <a:r>
              <a:rPr sz="3600" dirty="0">
                <a:solidFill>
                  <a:srgbClr val="2E377E"/>
                </a:solidFill>
                <a:latin typeface="Georgia"/>
                <a:cs typeface="Georgia"/>
              </a:rPr>
              <a:t>apply</a:t>
            </a:r>
            <a:r>
              <a:rPr sz="3600" spc="-5" dirty="0">
                <a:solidFill>
                  <a:srgbClr val="2E377E"/>
                </a:solidFill>
                <a:latin typeface="Georgia"/>
                <a:cs typeface="Georgia"/>
              </a:rPr>
              <a:t> </a:t>
            </a:r>
            <a:r>
              <a:rPr sz="3600" dirty="0">
                <a:solidFill>
                  <a:srgbClr val="2E377E"/>
                </a:solidFill>
                <a:latin typeface="Georgia"/>
                <a:cs typeface="Georgia"/>
              </a:rPr>
              <a:t>command</a:t>
            </a:r>
            <a:r>
              <a:rPr sz="3600" spc="-5" dirty="0">
                <a:solidFill>
                  <a:srgbClr val="2E377E"/>
                </a:solidFill>
                <a:latin typeface="Georgia"/>
                <a:cs typeface="Georgia"/>
              </a:rPr>
              <a:t> </a:t>
            </a:r>
            <a:r>
              <a:rPr sz="3600" spc="70" dirty="0">
                <a:solidFill>
                  <a:srgbClr val="2E377E"/>
                </a:solidFill>
                <a:latin typeface="Georgia"/>
                <a:cs typeface="Georgia"/>
              </a:rPr>
              <a:t>to</a:t>
            </a:r>
            <a:r>
              <a:rPr sz="3600" spc="-5" dirty="0">
                <a:solidFill>
                  <a:srgbClr val="2E377E"/>
                </a:solidFill>
                <a:latin typeface="Georgia"/>
                <a:cs typeface="Georgia"/>
              </a:rPr>
              <a:t> </a:t>
            </a:r>
            <a:r>
              <a:rPr sz="3600" spc="80" dirty="0">
                <a:solidFill>
                  <a:srgbClr val="2E377E"/>
                </a:solidFill>
                <a:latin typeface="Georgia"/>
                <a:cs typeface="Georgia"/>
              </a:rPr>
              <a:t>execute</a:t>
            </a:r>
            <a:r>
              <a:rPr sz="3600" spc="-10" dirty="0">
                <a:solidFill>
                  <a:srgbClr val="2E377E"/>
                </a:solidFill>
                <a:latin typeface="Georgia"/>
                <a:cs typeface="Georgia"/>
              </a:rPr>
              <a:t> </a:t>
            </a:r>
            <a:r>
              <a:rPr sz="3600" spc="6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Manifest</a:t>
            </a:r>
            <a:r>
              <a:rPr sz="3600" spc="-5" dirty="0">
                <a:solidFill>
                  <a:srgbClr val="2E377E"/>
                </a:solidFill>
                <a:latin typeface="Georgia"/>
                <a:cs typeface="Georgia"/>
              </a:rPr>
              <a:t> </a:t>
            </a:r>
            <a:r>
              <a:rPr sz="3600" spc="-20" dirty="0">
                <a:solidFill>
                  <a:srgbClr val="2E377E"/>
                </a:solidFill>
                <a:latin typeface="Georgia"/>
                <a:cs typeface="Georgia"/>
              </a:rPr>
              <a:t>file.</a:t>
            </a:r>
            <a:endParaRPr sz="3600">
              <a:latin typeface="Georgia"/>
              <a:cs typeface="Georgia"/>
            </a:endParaRPr>
          </a:p>
          <a:p>
            <a:pPr>
              <a:lnSpc>
                <a:spcPct val="100000"/>
              </a:lnSpc>
              <a:spcBef>
                <a:spcPts val="1635"/>
              </a:spcBef>
            </a:pPr>
            <a:endParaRPr sz="3600">
              <a:latin typeface="Georgia"/>
              <a:cs typeface="Georgia"/>
            </a:endParaRPr>
          </a:p>
          <a:p>
            <a:pPr marL="12700">
              <a:lnSpc>
                <a:spcPct val="100000"/>
              </a:lnSpc>
            </a:pPr>
            <a:r>
              <a:rPr sz="3600" spc="-110" dirty="0">
                <a:solidFill>
                  <a:srgbClr val="2E377E"/>
                </a:solidFill>
                <a:latin typeface="Georgia"/>
                <a:cs typeface="Georgia"/>
              </a:rPr>
              <a:t>SYNTAX:</a:t>
            </a:r>
            <a:r>
              <a:rPr sz="3600" spc="15" dirty="0">
                <a:solidFill>
                  <a:srgbClr val="2E377E"/>
                </a:solidFill>
                <a:latin typeface="Georgia"/>
                <a:cs typeface="Georgia"/>
              </a:rPr>
              <a:t> </a:t>
            </a:r>
            <a:r>
              <a:rPr sz="3600" spc="60" dirty="0">
                <a:solidFill>
                  <a:srgbClr val="2E377E"/>
                </a:solidFill>
                <a:latin typeface="Georgia"/>
                <a:cs typeface="Georgia"/>
              </a:rPr>
              <a:t>kubectl</a:t>
            </a:r>
            <a:r>
              <a:rPr sz="3600" spc="15" dirty="0">
                <a:solidFill>
                  <a:srgbClr val="2E377E"/>
                </a:solidFill>
                <a:latin typeface="Georgia"/>
                <a:cs typeface="Georgia"/>
              </a:rPr>
              <a:t> </a:t>
            </a:r>
            <a:r>
              <a:rPr sz="3600" dirty="0">
                <a:solidFill>
                  <a:srgbClr val="2E377E"/>
                </a:solidFill>
                <a:latin typeface="Georgia"/>
                <a:cs typeface="Georgia"/>
              </a:rPr>
              <a:t>create/apply</a:t>
            </a:r>
            <a:r>
              <a:rPr sz="3600" spc="15" dirty="0">
                <a:solidFill>
                  <a:srgbClr val="2E377E"/>
                </a:solidFill>
                <a:latin typeface="Georgia"/>
                <a:cs typeface="Georgia"/>
              </a:rPr>
              <a:t> </a:t>
            </a:r>
            <a:r>
              <a:rPr sz="3600" dirty="0">
                <a:solidFill>
                  <a:srgbClr val="2E377E"/>
                </a:solidFill>
                <a:latin typeface="Georgia"/>
                <a:cs typeface="Georgia"/>
              </a:rPr>
              <a:t>-</a:t>
            </a:r>
            <a:r>
              <a:rPr sz="3600" spc="55" dirty="0">
                <a:solidFill>
                  <a:srgbClr val="2E377E"/>
                </a:solidFill>
                <a:latin typeface="Georgia"/>
                <a:cs typeface="Georgia"/>
              </a:rPr>
              <a:t>f</a:t>
            </a:r>
            <a:r>
              <a:rPr sz="3600" spc="15" dirty="0">
                <a:solidFill>
                  <a:srgbClr val="2E377E"/>
                </a:solidFill>
                <a:latin typeface="Georgia"/>
                <a:cs typeface="Georgia"/>
              </a:rPr>
              <a:t> </a:t>
            </a:r>
            <a:r>
              <a:rPr sz="3600" spc="-10" dirty="0">
                <a:solidFill>
                  <a:srgbClr val="2E377E"/>
                </a:solidFill>
                <a:latin typeface="Georgia"/>
                <a:cs typeface="Georgia"/>
              </a:rPr>
              <a:t>file_name</a:t>
            </a:r>
            <a:endParaRPr sz="3600">
              <a:latin typeface="Georgia"/>
              <a:cs typeface="Georgia"/>
            </a:endParaRPr>
          </a:p>
          <a:p>
            <a:pPr>
              <a:lnSpc>
                <a:spcPct val="100000"/>
              </a:lnSpc>
              <a:spcBef>
                <a:spcPts val="1645"/>
              </a:spcBef>
            </a:pPr>
            <a:endParaRPr sz="3600">
              <a:latin typeface="Georgia"/>
              <a:cs typeface="Georgia"/>
            </a:endParaRPr>
          </a:p>
          <a:p>
            <a:pPr marL="12700">
              <a:lnSpc>
                <a:spcPct val="100000"/>
              </a:lnSpc>
            </a:pPr>
            <a:r>
              <a:rPr sz="3600" spc="-145" dirty="0">
                <a:solidFill>
                  <a:srgbClr val="2E377E"/>
                </a:solidFill>
                <a:latin typeface="Georgia"/>
                <a:cs typeface="Georgia"/>
              </a:rPr>
              <a:t>CREATE:</a:t>
            </a:r>
            <a:r>
              <a:rPr sz="3600" spc="10" dirty="0">
                <a:solidFill>
                  <a:srgbClr val="2E377E"/>
                </a:solidFill>
                <a:latin typeface="Georgia"/>
                <a:cs typeface="Georgia"/>
              </a:rPr>
              <a:t> </a:t>
            </a:r>
            <a:r>
              <a:rPr sz="3600" dirty="0">
                <a:solidFill>
                  <a:srgbClr val="2E377E"/>
                </a:solidFill>
                <a:latin typeface="Georgia"/>
                <a:cs typeface="Georgia"/>
              </a:rPr>
              <a:t>if</a:t>
            </a:r>
            <a:r>
              <a:rPr sz="3600" spc="10"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dirty="0">
                <a:solidFill>
                  <a:srgbClr val="2E377E"/>
                </a:solidFill>
                <a:latin typeface="Georgia"/>
                <a:cs typeface="Georgia"/>
              </a:rPr>
              <a:t>are</a:t>
            </a:r>
            <a:r>
              <a:rPr sz="3600" spc="10" dirty="0">
                <a:solidFill>
                  <a:srgbClr val="2E377E"/>
                </a:solidFill>
                <a:latin typeface="Georgia"/>
                <a:cs typeface="Georgia"/>
              </a:rPr>
              <a:t> </a:t>
            </a:r>
            <a:r>
              <a:rPr sz="3600" dirty="0">
                <a:solidFill>
                  <a:srgbClr val="2E377E"/>
                </a:solidFill>
                <a:latin typeface="Georgia"/>
                <a:cs typeface="Georgia"/>
              </a:rPr>
              <a:t>creating</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object</a:t>
            </a:r>
            <a:r>
              <a:rPr sz="3600" spc="10" dirty="0">
                <a:solidFill>
                  <a:srgbClr val="2E377E"/>
                </a:solidFill>
                <a:latin typeface="Georgia"/>
                <a:cs typeface="Georgia"/>
              </a:rPr>
              <a:t> </a:t>
            </a:r>
            <a:r>
              <a:rPr sz="3600" dirty="0">
                <a:solidFill>
                  <a:srgbClr val="2E377E"/>
                </a:solidFill>
                <a:latin typeface="Georgia"/>
                <a:cs typeface="Georgia"/>
              </a:rPr>
              <a:t>for</a:t>
            </a:r>
            <a:r>
              <a:rPr sz="3600" spc="10" dirty="0">
                <a:solidFill>
                  <a:srgbClr val="2E377E"/>
                </a:solidFill>
                <a:latin typeface="Georgia"/>
                <a:cs typeface="Georgia"/>
              </a:rPr>
              <a:t> </a:t>
            </a:r>
            <a:r>
              <a:rPr sz="3600" spc="50" dirty="0">
                <a:solidFill>
                  <a:srgbClr val="2E377E"/>
                </a:solidFill>
                <a:latin typeface="Georgia"/>
                <a:cs typeface="Georgia"/>
              </a:rPr>
              <a:t>first</a:t>
            </a:r>
            <a:r>
              <a:rPr sz="3600" spc="10" dirty="0">
                <a:solidFill>
                  <a:srgbClr val="2E377E"/>
                </a:solidFill>
                <a:latin typeface="Georgia"/>
                <a:cs typeface="Georgia"/>
              </a:rPr>
              <a:t> </a:t>
            </a:r>
            <a:r>
              <a:rPr sz="3600" spc="55" dirty="0">
                <a:solidFill>
                  <a:srgbClr val="2E377E"/>
                </a:solidFill>
                <a:latin typeface="Georgia"/>
                <a:cs typeface="Georgia"/>
              </a:rPr>
              <a:t>time</a:t>
            </a:r>
            <a:r>
              <a:rPr sz="3600" spc="10"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spc="50" dirty="0">
                <a:solidFill>
                  <a:srgbClr val="2E377E"/>
                </a:solidFill>
                <a:latin typeface="Georgia"/>
                <a:cs typeface="Georgia"/>
              </a:rPr>
              <a:t>use</a:t>
            </a:r>
            <a:r>
              <a:rPr sz="3600" spc="10" dirty="0">
                <a:solidFill>
                  <a:srgbClr val="2E377E"/>
                </a:solidFill>
                <a:latin typeface="Georgia"/>
                <a:cs typeface="Georgia"/>
              </a:rPr>
              <a:t> </a:t>
            </a:r>
            <a:r>
              <a:rPr sz="3600" spc="55" dirty="0">
                <a:solidFill>
                  <a:srgbClr val="2E377E"/>
                </a:solidFill>
                <a:latin typeface="Georgia"/>
                <a:cs typeface="Georgia"/>
              </a:rPr>
              <a:t>create</a:t>
            </a:r>
            <a:r>
              <a:rPr sz="3600" spc="10" dirty="0">
                <a:solidFill>
                  <a:srgbClr val="2E377E"/>
                </a:solidFill>
                <a:latin typeface="Georgia"/>
                <a:cs typeface="Georgia"/>
              </a:rPr>
              <a:t> </a:t>
            </a:r>
            <a:r>
              <a:rPr sz="3600" spc="-20" dirty="0">
                <a:solidFill>
                  <a:srgbClr val="2E377E"/>
                </a:solidFill>
                <a:latin typeface="Georgia"/>
                <a:cs typeface="Georgia"/>
              </a:rPr>
              <a:t>only.</a:t>
            </a:r>
            <a:endParaRPr sz="3600">
              <a:latin typeface="Georgia"/>
              <a:cs typeface="Georgia"/>
            </a:endParaRPr>
          </a:p>
          <a:p>
            <a:pPr marL="12700">
              <a:lnSpc>
                <a:spcPct val="100000"/>
              </a:lnSpc>
              <a:spcBef>
                <a:spcPts val="705"/>
              </a:spcBef>
            </a:pPr>
            <a:r>
              <a:rPr sz="3600" spc="-75" dirty="0">
                <a:solidFill>
                  <a:srgbClr val="2E377E"/>
                </a:solidFill>
                <a:latin typeface="Georgia"/>
                <a:cs typeface="Georgia"/>
              </a:rPr>
              <a:t>APPLY:</a:t>
            </a:r>
            <a:r>
              <a:rPr sz="3600" spc="15" dirty="0">
                <a:solidFill>
                  <a:srgbClr val="2E377E"/>
                </a:solidFill>
                <a:latin typeface="Georgia"/>
                <a:cs typeface="Georgia"/>
              </a:rPr>
              <a:t> </a:t>
            </a:r>
            <a:r>
              <a:rPr sz="3600" dirty="0">
                <a:solidFill>
                  <a:srgbClr val="2E377E"/>
                </a:solidFill>
                <a:latin typeface="Georgia"/>
                <a:cs typeface="Georgia"/>
              </a:rPr>
              <a:t>if</a:t>
            </a:r>
            <a:r>
              <a:rPr sz="3600" spc="20" dirty="0">
                <a:solidFill>
                  <a:srgbClr val="2E377E"/>
                </a:solidFill>
                <a:latin typeface="Georgia"/>
                <a:cs typeface="Georgia"/>
              </a:rPr>
              <a:t> </a:t>
            </a:r>
            <a:r>
              <a:rPr sz="3600" spc="140" dirty="0">
                <a:solidFill>
                  <a:srgbClr val="2E377E"/>
                </a:solidFill>
                <a:latin typeface="Georgia"/>
                <a:cs typeface="Georgia"/>
              </a:rPr>
              <a:t>we</a:t>
            </a:r>
            <a:r>
              <a:rPr sz="3600" spc="20" dirty="0">
                <a:solidFill>
                  <a:srgbClr val="2E377E"/>
                </a:solidFill>
                <a:latin typeface="Georgia"/>
                <a:cs typeface="Georgia"/>
              </a:rPr>
              <a:t> </a:t>
            </a:r>
            <a:r>
              <a:rPr sz="3600" dirty="0">
                <a:solidFill>
                  <a:srgbClr val="2E377E"/>
                </a:solidFill>
                <a:latin typeface="Georgia"/>
                <a:cs typeface="Georgia"/>
              </a:rPr>
              <a:t>change</a:t>
            </a:r>
            <a:r>
              <a:rPr sz="3600" spc="15" dirty="0">
                <a:solidFill>
                  <a:srgbClr val="2E377E"/>
                </a:solidFill>
                <a:latin typeface="Georgia"/>
                <a:cs typeface="Georgia"/>
              </a:rPr>
              <a:t> </a:t>
            </a:r>
            <a:r>
              <a:rPr sz="3600" spc="65" dirty="0">
                <a:solidFill>
                  <a:srgbClr val="2E377E"/>
                </a:solidFill>
                <a:latin typeface="Georgia"/>
                <a:cs typeface="Georgia"/>
              </a:rPr>
              <a:t>any</a:t>
            </a:r>
            <a:r>
              <a:rPr sz="3600" spc="20" dirty="0">
                <a:solidFill>
                  <a:srgbClr val="2E377E"/>
                </a:solidFill>
                <a:latin typeface="Georgia"/>
                <a:cs typeface="Georgia"/>
              </a:rPr>
              <a:t> </a:t>
            </a:r>
            <a:r>
              <a:rPr sz="3600" dirty="0">
                <a:solidFill>
                  <a:srgbClr val="2E377E"/>
                </a:solidFill>
                <a:latin typeface="Georgia"/>
                <a:cs typeface="Georgia"/>
              </a:rPr>
              <a:t>thing</a:t>
            </a:r>
            <a:r>
              <a:rPr sz="3600" spc="20" dirty="0">
                <a:solidFill>
                  <a:srgbClr val="2E377E"/>
                </a:solidFill>
                <a:latin typeface="Georgia"/>
                <a:cs typeface="Georgia"/>
              </a:rPr>
              <a:t> </a:t>
            </a:r>
            <a:r>
              <a:rPr sz="3600" dirty="0">
                <a:solidFill>
                  <a:srgbClr val="2E377E"/>
                </a:solidFill>
                <a:latin typeface="Georgia"/>
                <a:cs typeface="Georgia"/>
              </a:rPr>
              <a:t>on</a:t>
            </a:r>
            <a:r>
              <a:rPr sz="3600" spc="20" dirty="0">
                <a:solidFill>
                  <a:srgbClr val="2E377E"/>
                </a:solidFill>
                <a:latin typeface="Georgia"/>
                <a:cs typeface="Georgia"/>
              </a:rPr>
              <a:t> </a:t>
            </a:r>
            <a:r>
              <a:rPr sz="3600" dirty="0">
                <a:solidFill>
                  <a:srgbClr val="2E377E"/>
                </a:solidFill>
                <a:latin typeface="Georgia"/>
                <a:cs typeface="Georgia"/>
              </a:rPr>
              <a:t>files</a:t>
            </a:r>
            <a:r>
              <a:rPr sz="3600" spc="15"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dirty="0">
                <a:solidFill>
                  <a:srgbClr val="2E377E"/>
                </a:solidFill>
                <a:latin typeface="Georgia"/>
                <a:cs typeface="Georgia"/>
              </a:rPr>
              <a:t>changes</a:t>
            </a:r>
            <a:r>
              <a:rPr sz="3600" spc="20" dirty="0">
                <a:solidFill>
                  <a:srgbClr val="2E377E"/>
                </a:solidFill>
                <a:latin typeface="Georgia"/>
                <a:cs typeface="Georgia"/>
              </a:rPr>
              <a:t> </a:t>
            </a:r>
            <a:r>
              <a:rPr sz="3600" dirty="0">
                <a:solidFill>
                  <a:srgbClr val="2E377E"/>
                </a:solidFill>
                <a:latin typeface="Georgia"/>
                <a:cs typeface="Georgia"/>
              </a:rPr>
              <a:t>need</a:t>
            </a:r>
            <a:r>
              <a:rPr sz="3600" spc="20"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apply</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spc="-10" dirty="0">
                <a:solidFill>
                  <a:srgbClr val="2E377E"/>
                </a:solidFill>
                <a:latin typeface="Georgia"/>
                <a:cs typeface="Georgia"/>
              </a:rPr>
              <a:t>resources.</a:t>
            </a:r>
            <a:endParaRPr sz="3600">
              <a:latin typeface="Georgia"/>
              <a:cs typeface="Georgi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8180" y="1866029"/>
            <a:ext cx="7619999" cy="6891222"/>
          </a:xfrm>
          <a:prstGeom prst="rect">
            <a:avLst/>
          </a:prstGeom>
        </p:spPr>
      </p:pic>
      <p:sp>
        <p:nvSpPr>
          <p:cNvPr id="3" name="object 3"/>
          <p:cNvSpPr txBox="1">
            <a:spLocks noGrp="1"/>
          </p:cNvSpPr>
          <p:nvPr>
            <p:ph type="title"/>
          </p:nvPr>
        </p:nvSpPr>
        <p:spPr>
          <a:xfrm>
            <a:off x="325094" y="555439"/>
            <a:ext cx="4816475" cy="787400"/>
          </a:xfrm>
          <a:prstGeom prst="rect">
            <a:avLst/>
          </a:prstGeom>
        </p:spPr>
        <p:txBody>
          <a:bodyPr vert="horz" wrap="square" lIns="0" tIns="12700" rIns="0" bIns="0" rtlCol="0">
            <a:spAutoFit/>
          </a:bodyPr>
          <a:lstStyle/>
          <a:p>
            <a:pPr marL="12700">
              <a:lnSpc>
                <a:spcPct val="100000"/>
              </a:lnSpc>
              <a:spcBef>
                <a:spcPts val="100"/>
              </a:spcBef>
            </a:pPr>
            <a:r>
              <a:rPr spc="-155" dirty="0">
                <a:solidFill>
                  <a:srgbClr val="FF3131"/>
                </a:solidFill>
              </a:rPr>
              <a:t>MANIFEST</a:t>
            </a:r>
            <a:r>
              <a:rPr spc="-125" dirty="0">
                <a:solidFill>
                  <a:srgbClr val="FF3131"/>
                </a:solidFill>
              </a:rPr>
              <a:t> </a:t>
            </a:r>
            <a:r>
              <a:rPr spc="-434" dirty="0">
                <a:solidFill>
                  <a:srgbClr val="FF3131"/>
                </a:solidFill>
              </a:rPr>
              <a:t>FILE:</a:t>
            </a:r>
          </a:p>
        </p:txBody>
      </p:sp>
      <p:sp>
        <p:nvSpPr>
          <p:cNvPr id="4" name="object 4"/>
          <p:cNvSpPr txBox="1"/>
          <p:nvPr/>
        </p:nvSpPr>
        <p:spPr>
          <a:xfrm>
            <a:off x="8085427" y="1695060"/>
            <a:ext cx="9450070" cy="5768975"/>
          </a:xfrm>
          <a:prstGeom prst="rect">
            <a:avLst/>
          </a:prstGeom>
        </p:spPr>
        <p:txBody>
          <a:bodyPr vert="horz" wrap="square" lIns="0" tIns="12700" rIns="0" bIns="0" rtlCol="0">
            <a:spAutoFit/>
          </a:bodyPr>
          <a:lstStyle/>
          <a:p>
            <a:pPr marL="12700" marR="5080">
              <a:lnSpc>
                <a:spcPct val="116300"/>
              </a:lnSpc>
              <a:spcBef>
                <a:spcPts val="100"/>
              </a:spcBef>
              <a:tabLst>
                <a:tab pos="2555240" algn="l"/>
                <a:tab pos="3651885" algn="l"/>
                <a:tab pos="4204970" algn="l"/>
                <a:tab pos="5092700" algn="l"/>
                <a:tab pos="6845934" algn="l"/>
                <a:tab pos="7468870" algn="l"/>
                <a:tab pos="8425180" algn="l"/>
              </a:tabLst>
            </a:pPr>
            <a:r>
              <a:rPr sz="3600" spc="105" dirty="0">
                <a:solidFill>
                  <a:srgbClr val="2E377E"/>
                </a:solidFill>
                <a:latin typeface="Times New Roman"/>
                <a:cs typeface="Times New Roman"/>
              </a:rPr>
              <a:t>apiVersion</a:t>
            </a:r>
            <a:r>
              <a:rPr sz="3600" spc="105" dirty="0">
                <a:solidFill>
                  <a:srgbClr val="2E377E"/>
                </a:solidFill>
                <a:latin typeface="Georgia"/>
                <a:cs typeface="Georgia"/>
              </a:rPr>
              <a:t>:</a:t>
            </a:r>
            <a:r>
              <a:rPr sz="3600" dirty="0">
                <a:solidFill>
                  <a:srgbClr val="2E377E"/>
                </a:solidFill>
                <a:latin typeface="Georgia"/>
                <a:cs typeface="Georgia"/>
              </a:rPr>
              <a:t>	</a:t>
            </a:r>
            <a:r>
              <a:rPr sz="3600" spc="-20" dirty="0">
                <a:solidFill>
                  <a:srgbClr val="2E377E"/>
                </a:solidFill>
                <a:latin typeface="Georgia"/>
                <a:cs typeface="Georgia"/>
              </a:rPr>
              <a:t>This</a:t>
            </a:r>
            <a:r>
              <a:rPr sz="3600" dirty="0">
                <a:solidFill>
                  <a:srgbClr val="2E377E"/>
                </a:solidFill>
                <a:latin typeface="Georgia"/>
                <a:cs typeface="Georgia"/>
              </a:rPr>
              <a:t>	</a:t>
            </a:r>
            <a:r>
              <a:rPr sz="3600" spc="-25" dirty="0">
                <a:solidFill>
                  <a:srgbClr val="2E377E"/>
                </a:solidFill>
                <a:latin typeface="Georgia"/>
                <a:cs typeface="Georgia"/>
              </a:rPr>
              <a:t>is</a:t>
            </a:r>
            <a:r>
              <a:rPr sz="3600" dirty="0">
                <a:solidFill>
                  <a:srgbClr val="2E377E"/>
                </a:solidFill>
                <a:latin typeface="Georgia"/>
                <a:cs typeface="Georgia"/>
              </a:rPr>
              <a:t>	</a:t>
            </a:r>
            <a:r>
              <a:rPr sz="3600" spc="35" dirty="0">
                <a:solidFill>
                  <a:srgbClr val="2E377E"/>
                </a:solidFill>
                <a:latin typeface="Georgia"/>
                <a:cs typeface="Georgia"/>
              </a:rPr>
              <a:t>the</a:t>
            </a:r>
            <a:r>
              <a:rPr sz="3600" dirty="0">
                <a:solidFill>
                  <a:srgbClr val="2E377E"/>
                </a:solidFill>
                <a:latin typeface="Georgia"/>
                <a:cs typeface="Georgia"/>
              </a:rPr>
              <a:t>	</a:t>
            </a:r>
            <a:r>
              <a:rPr sz="3600" spc="40" dirty="0">
                <a:solidFill>
                  <a:srgbClr val="2E377E"/>
                </a:solidFill>
                <a:latin typeface="Georgia"/>
                <a:cs typeface="Georgia"/>
              </a:rPr>
              <a:t>version</a:t>
            </a:r>
            <a:r>
              <a:rPr sz="3600" dirty="0">
                <a:solidFill>
                  <a:srgbClr val="2E377E"/>
                </a:solidFill>
                <a:latin typeface="Georgia"/>
                <a:cs typeface="Georgia"/>
              </a:rPr>
              <a:t>	</a:t>
            </a:r>
            <a:r>
              <a:rPr sz="3600" spc="-25" dirty="0">
                <a:solidFill>
                  <a:srgbClr val="2E377E"/>
                </a:solidFill>
                <a:latin typeface="Georgia"/>
                <a:cs typeface="Georgia"/>
              </a:rPr>
              <a:t>of</a:t>
            </a:r>
            <a:r>
              <a:rPr sz="3600" dirty="0">
                <a:solidFill>
                  <a:srgbClr val="2E377E"/>
                </a:solidFill>
                <a:latin typeface="Georgia"/>
                <a:cs typeface="Georgia"/>
              </a:rPr>
              <a:t>	</a:t>
            </a:r>
            <a:r>
              <a:rPr sz="3600" spc="-25" dirty="0">
                <a:solidFill>
                  <a:srgbClr val="2E377E"/>
                </a:solidFill>
                <a:latin typeface="Georgia"/>
                <a:cs typeface="Georgia"/>
              </a:rPr>
              <a:t>API</a:t>
            </a:r>
            <a:r>
              <a:rPr sz="3600" dirty="0">
                <a:solidFill>
                  <a:srgbClr val="2E377E"/>
                </a:solidFill>
                <a:latin typeface="Georgia"/>
                <a:cs typeface="Georgia"/>
              </a:rPr>
              <a:t>	</a:t>
            </a:r>
            <a:r>
              <a:rPr sz="3600" spc="-20" dirty="0">
                <a:solidFill>
                  <a:srgbClr val="2E377E"/>
                </a:solidFill>
                <a:latin typeface="Georgia"/>
                <a:cs typeface="Georgia"/>
              </a:rPr>
              <a:t>from </a:t>
            </a:r>
            <a:r>
              <a:rPr sz="3600" spc="45" dirty="0">
                <a:solidFill>
                  <a:srgbClr val="2E377E"/>
                </a:solidFill>
                <a:latin typeface="Georgia"/>
                <a:cs typeface="Georgia"/>
              </a:rPr>
              <a:t>Kubernetes</a:t>
            </a:r>
            <a:r>
              <a:rPr sz="3600" spc="-20" dirty="0">
                <a:solidFill>
                  <a:srgbClr val="2E377E"/>
                </a:solidFill>
                <a:latin typeface="Georgia"/>
                <a:cs typeface="Georgia"/>
              </a:rPr>
              <a:t> </a:t>
            </a:r>
            <a:r>
              <a:rPr sz="3600" spc="55" dirty="0">
                <a:solidFill>
                  <a:srgbClr val="2E377E"/>
                </a:solidFill>
                <a:latin typeface="Georgia"/>
                <a:cs typeface="Georgia"/>
              </a:rPr>
              <a:t>which</a:t>
            </a:r>
            <a:r>
              <a:rPr sz="3600" spc="-20"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used</a:t>
            </a:r>
            <a:r>
              <a:rPr sz="3600" spc="-20"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spc="55" dirty="0">
                <a:solidFill>
                  <a:srgbClr val="2E377E"/>
                </a:solidFill>
                <a:latin typeface="Georgia"/>
                <a:cs typeface="Georgia"/>
              </a:rPr>
              <a:t>create</a:t>
            </a:r>
            <a:r>
              <a:rPr sz="3600" spc="-20" dirty="0">
                <a:solidFill>
                  <a:srgbClr val="2E377E"/>
                </a:solidFill>
                <a:latin typeface="Georgia"/>
                <a:cs typeface="Georgia"/>
              </a:rPr>
              <a:t> </a:t>
            </a:r>
            <a:r>
              <a:rPr sz="3600" spc="-10" dirty="0">
                <a:solidFill>
                  <a:srgbClr val="2E377E"/>
                </a:solidFill>
                <a:latin typeface="Georgia"/>
                <a:cs typeface="Georgia"/>
              </a:rPr>
              <a:t>objects.</a:t>
            </a:r>
            <a:endParaRPr sz="3600">
              <a:latin typeface="Georgia"/>
              <a:cs typeface="Georgia"/>
            </a:endParaRPr>
          </a:p>
          <a:p>
            <a:pPr>
              <a:lnSpc>
                <a:spcPct val="100000"/>
              </a:lnSpc>
              <a:spcBef>
                <a:spcPts val="1639"/>
              </a:spcBef>
            </a:pPr>
            <a:endParaRPr sz="3600">
              <a:latin typeface="Georgia"/>
              <a:cs typeface="Georgia"/>
            </a:endParaRPr>
          </a:p>
          <a:p>
            <a:pPr marL="12700">
              <a:lnSpc>
                <a:spcPct val="100000"/>
              </a:lnSpc>
            </a:pPr>
            <a:r>
              <a:rPr sz="3600" spc="160" dirty="0">
                <a:solidFill>
                  <a:srgbClr val="2E377E"/>
                </a:solidFill>
                <a:latin typeface="Times New Roman"/>
                <a:cs typeface="Times New Roman"/>
              </a:rPr>
              <a:t>kind:</a:t>
            </a:r>
            <a:r>
              <a:rPr sz="3600" dirty="0">
                <a:solidFill>
                  <a:srgbClr val="2E377E"/>
                </a:solidFill>
                <a:latin typeface="Times New Roman"/>
                <a:cs typeface="Times New Roman"/>
              </a:rPr>
              <a:t> </a:t>
            </a:r>
            <a:r>
              <a:rPr sz="3600" dirty="0">
                <a:solidFill>
                  <a:srgbClr val="2E377E"/>
                </a:solidFill>
                <a:latin typeface="Georgia"/>
                <a:cs typeface="Georgia"/>
              </a:rPr>
              <a:t>defines</a:t>
            </a:r>
            <a:r>
              <a:rPr sz="3600" spc="30"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object</a:t>
            </a:r>
            <a:r>
              <a:rPr sz="3600" spc="30" dirty="0">
                <a:solidFill>
                  <a:srgbClr val="2E377E"/>
                </a:solidFill>
                <a:latin typeface="Georgia"/>
                <a:cs typeface="Georgia"/>
              </a:rPr>
              <a:t> </a:t>
            </a:r>
            <a:r>
              <a:rPr sz="3600" spc="55" dirty="0">
                <a:solidFill>
                  <a:srgbClr val="2E377E"/>
                </a:solidFill>
                <a:latin typeface="Georgia"/>
                <a:cs typeface="Georgia"/>
              </a:rPr>
              <a:t>that</a:t>
            </a:r>
            <a:r>
              <a:rPr sz="3600" spc="35" dirty="0">
                <a:solidFill>
                  <a:srgbClr val="2E377E"/>
                </a:solidFill>
                <a:latin typeface="Georgia"/>
                <a:cs typeface="Georgia"/>
              </a:rPr>
              <a:t> </a:t>
            </a:r>
            <a:r>
              <a:rPr sz="3600" spc="140" dirty="0">
                <a:solidFill>
                  <a:srgbClr val="2E377E"/>
                </a:solidFill>
                <a:latin typeface="Georgia"/>
                <a:cs typeface="Georgia"/>
              </a:rPr>
              <a:t>we</a:t>
            </a:r>
            <a:r>
              <a:rPr sz="3600" spc="30" dirty="0">
                <a:solidFill>
                  <a:srgbClr val="2E377E"/>
                </a:solidFill>
                <a:latin typeface="Georgia"/>
                <a:cs typeface="Georgia"/>
              </a:rPr>
              <a:t> </a:t>
            </a:r>
            <a:r>
              <a:rPr sz="3600" dirty="0">
                <a:solidFill>
                  <a:srgbClr val="2E377E"/>
                </a:solidFill>
                <a:latin typeface="Georgia"/>
                <a:cs typeface="Georgia"/>
              </a:rPr>
              <a:t>are</a:t>
            </a:r>
            <a:r>
              <a:rPr sz="3600" spc="30" dirty="0">
                <a:solidFill>
                  <a:srgbClr val="2E377E"/>
                </a:solidFill>
                <a:latin typeface="Georgia"/>
                <a:cs typeface="Georgia"/>
              </a:rPr>
              <a:t> </a:t>
            </a:r>
            <a:r>
              <a:rPr sz="3600" spc="-10" dirty="0">
                <a:solidFill>
                  <a:srgbClr val="2E377E"/>
                </a:solidFill>
                <a:latin typeface="Georgia"/>
                <a:cs typeface="Georgia"/>
              </a:rPr>
              <a:t>creating.</a:t>
            </a:r>
            <a:endParaRPr sz="3600">
              <a:latin typeface="Georgia"/>
              <a:cs typeface="Georgia"/>
            </a:endParaRPr>
          </a:p>
          <a:p>
            <a:pPr>
              <a:lnSpc>
                <a:spcPct val="100000"/>
              </a:lnSpc>
              <a:spcBef>
                <a:spcPts val="935"/>
              </a:spcBef>
            </a:pPr>
            <a:endParaRPr sz="3600">
              <a:latin typeface="Georgia"/>
              <a:cs typeface="Georgia"/>
            </a:endParaRPr>
          </a:p>
          <a:p>
            <a:pPr marL="12700" marR="5080">
              <a:lnSpc>
                <a:spcPct val="116300"/>
              </a:lnSpc>
              <a:tabLst>
                <a:tab pos="2255520" algn="l"/>
                <a:tab pos="3343910" algn="l"/>
                <a:tab pos="4717415" algn="l"/>
                <a:tab pos="5581015" algn="l"/>
                <a:tab pos="7037070" algn="l"/>
                <a:tab pos="7983855" algn="l"/>
              </a:tabLst>
            </a:pPr>
            <a:r>
              <a:rPr sz="3600" spc="204" dirty="0">
                <a:solidFill>
                  <a:srgbClr val="2E377E"/>
                </a:solidFill>
                <a:latin typeface="Times New Roman"/>
                <a:cs typeface="Times New Roman"/>
              </a:rPr>
              <a:t>metadata</a:t>
            </a:r>
            <a:r>
              <a:rPr sz="3600" spc="204" dirty="0">
                <a:solidFill>
                  <a:srgbClr val="2E377E"/>
                </a:solidFill>
                <a:latin typeface="Georgia"/>
                <a:cs typeface="Georgia"/>
              </a:rPr>
              <a:t>:</a:t>
            </a:r>
            <a:r>
              <a:rPr sz="3600" dirty="0">
                <a:solidFill>
                  <a:srgbClr val="2E377E"/>
                </a:solidFill>
                <a:latin typeface="Georgia"/>
                <a:cs typeface="Georgia"/>
              </a:rPr>
              <a:t>	</a:t>
            </a:r>
            <a:r>
              <a:rPr sz="3600" spc="-20" dirty="0">
                <a:solidFill>
                  <a:srgbClr val="2E377E"/>
                </a:solidFill>
                <a:latin typeface="Georgia"/>
                <a:cs typeface="Georgia"/>
              </a:rPr>
              <a:t>data</a:t>
            </a:r>
            <a:r>
              <a:rPr sz="3600" dirty="0">
                <a:solidFill>
                  <a:srgbClr val="2E377E"/>
                </a:solidFill>
                <a:latin typeface="Georgia"/>
                <a:cs typeface="Georgia"/>
              </a:rPr>
              <a:t>	</a:t>
            </a:r>
            <a:r>
              <a:rPr sz="3600" spc="-10" dirty="0">
                <a:solidFill>
                  <a:srgbClr val="2E377E"/>
                </a:solidFill>
                <a:latin typeface="Georgia"/>
                <a:cs typeface="Georgia"/>
              </a:rPr>
              <a:t>about</a:t>
            </a:r>
            <a:r>
              <a:rPr sz="3600" dirty="0">
                <a:solidFill>
                  <a:srgbClr val="2E377E"/>
                </a:solidFill>
                <a:latin typeface="Georgia"/>
                <a:cs typeface="Georgia"/>
              </a:rPr>
              <a:t>	</a:t>
            </a:r>
            <a:r>
              <a:rPr sz="3600" spc="35" dirty="0">
                <a:solidFill>
                  <a:srgbClr val="2E377E"/>
                </a:solidFill>
                <a:latin typeface="Georgia"/>
                <a:cs typeface="Georgia"/>
              </a:rPr>
              <a:t>the</a:t>
            </a:r>
            <a:r>
              <a:rPr sz="3600" dirty="0">
                <a:solidFill>
                  <a:srgbClr val="2E377E"/>
                </a:solidFill>
                <a:latin typeface="Georgia"/>
                <a:cs typeface="Georgia"/>
              </a:rPr>
              <a:t>	</a:t>
            </a:r>
            <a:r>
              <a:rPr sz="3600" spc="-10" dirty="0">
                <a:solidFill>
                  <a:srgbClr val="2E377E"/>
                </a:solidFill>
                <a:latin typeface="Georgia"/>
                <a:cs typeface="Georgia"/>
              </a:rPr>
              <a:t>object</a:t>
            </a:r>
            <a:r>
              <a:rPr sz="3600" dirty="0">
                <a:solidFill>
                  <a:srgbClr val="2E377E"/>
                </a:solidFill>
                <a:latin typeface="Georgia"/>
                <a:cs typeface="Georgia"/>
              </a:rPr>
              <a:t>	</a:t>
            </a:r>
            <a:r>
              <a:rPr sz="3600" spc="-20" dirty="0">
                <a:solidFill>
                  <a:srgbClr val="2E377E"/>
                </a:solidFill>
                <a:latin typeface="Georgia"/>
                <a:cs typeface="Georgia"/>
              </a:rPr>
              <a:t>like</a:t>
            </a:r>
            <a:r>
              <a:rPr sz="3600" dirty="0">
                <a:solidFill>
                  <a:srgbClr val="2E377E"/>
                </a:solidFill>
                <a:latin typeface="Georgia"/>
                <a:cs typeface="Georgia"/>
              </a:rPr>
              <a:t>	</a:t>
            </a:r>
            <a:r>
              <a:rPr sz="3600" spc="-10" dirty="0">
                <a:solidFill>
                  <a:srgbClr val="2E377E"/>
                </a:solidFill>
                <a:latin typeface="Georgia"/>
                <a:cs typeface="Georgia"/>
              </a:rPr>
              <a:t>names, </a:t>
            </a:r>
            <a:r>
              <a:rPr sz="3600" dirty="0">
                <a:solidFill>
                  <a:srgbClr val="2E377E"/>
                </a:solidFill>
                <a:latin typeface="Georgia"/>
                <a:cs typeface="Georgia"/>
              </a:rPr>
              <a:t>labels</a:t>
            </a:r>
            <a:r>
              <a:rPr sz="3600" spc="-30" dirty="0">
                <a:solidFill>
                  <a:srgbClr val="2E377E"/>
                </a:solidFill>
                <a:latin typeface="Georgia"/>
                <a:cs typeface="Georgia"/>
              </a:rPr>
              <a:t> </a:t>
            </a:r>
            <a:r>
              <a:rPr sz="3600" spc="85" dirty="0">
                <a:solidFill>
                  <a:srgbClr val="2E377E"/>
                </a:solidFill>
                <a:latin typeface="Georgia"/>
                <a:cs typeface="Georgia"/>
              </a:rPr>
              <a:t>etc</a:t>
            </a:r>
            <a:r>
              <a:rPr sz="3600" spc="-25" dirty="0">
                <a:solidFill>
                  <a:srgbClr val="2E377E"/>
                </a:solidFill>
                <a:latin typeface="Georgia"/>
                <a:cs typeface="Georgia"/>
              </a:rPr>
              <a:t> ...</a:t>
            </a:r>
            <a:endParaRPr sz="3600">
              <a:latin typeface="Georgia"/>
              <a:cs typeface="Georgia"/>
            </a:endParaRPr>
          </a:p>
          <a:p>
            <a:pPr>
              <a:lnSpc>
                <a:spcPct val="100000"/>
              </a:lnSpc>
              <a:spcBef>
                <a:spcPts val="1639"/>
              </a:spcBef>
            </a:pPr>
            <a:endParaRPr sz="3600">
              <a:latin typeface="Georgia"/>
              <a:cs typeface="Georgia"/>
            </a:endParaRPr>
          </a:p>
          <a:p>
            <a:pPr marL="12700">
              <a:lnSpc>
                <a:spcPct val="100000"/>
              </a:lnSpc>
            </a:pPr>
            <a:r>
              <a:rPr sz="3600" spc="100" dirty="0">
                <a:solidFill>
                  <a:srgbClr val="2E377E"/>
                </a:solidFill>
                <a:latin typeface="Times New Roman"/>
                <a:cs typeface="Times New Roman"/>
              </a:rPr>
              <a:t>spec</a:t>
            </a:r>
            <a:r>
              <a:rPr sz="3600" spc="100" dirty="0">
                <a:solidFill>
                  <a:srgbClr val="2E377E"/>
                </a:solidFill>
                <a:latin typeface="Georgia"/>
                <a:cs typeface="Georgia"/>
              </a:rPr>
              <a:t>:</a:t>
            </a:r>
            <a:r>
              <a:rPr sz="3600" spc="30" dirty="0">
                <a:solidFill>
                  <a:srgbClr val="2E377E"/>
                </a:solidFill>
                <a:latin typeface="Georgia"/>
                <a:cs typeface="Georgia"/>
              </a:rPr>
              <a:t> </a:t>
            </a:r>
            <a:r>
              <a:rPr sz="3600" dirty="0">
                <a:solidFill>
                  <a:srgbClr val="2E377E"/>
                </a:solidFill>
                <a:latin typeface="Georgia"/>
                <a:cs typeface="Georgia"/>
              </a:rPr>
              <a:t>It</a:t>
            </a:r>
            <a:r>
              <a:rPr sz="3600" spc="30" dirty="0">
                <a:solidFill>
                  <a:srgbClr val="2E377E"/>
                </a:solidFill>
                <a:latin typeface="Georgia"/>
                <a:cs typeface="Georgia"/>
              </a:rPr>
              <a:t> </a:t>
            </a:r>
            <a:r>
              <a:rPr sz="3600" dirty="0">
                <a:solidFill>
                  <a:srgbClr val="2E377E"/>
                </a:solidFill>
                <a:latin typeface="Georgia"/>
                <a:cs typeface="Georgia"/>
              </a:rPr>
              <a:t>is</a:t>
            </a:r>
            <a:r>
              <a:rPr sz="3600" spc="3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specifications</a:t>
            </a:r>
            <a:r>
              <a:rPr sz="3600" spc="30" dirty="0">
                <a:solidFill>
                  <a:srgbClr val="2E377E"/>
                </a:solidFill>
                <a:latin typeface="Georgia"/>
                <a:cs typeface="Georgia"/>
              </a:rPr>
              <a:t> </a:t>
            </a:r>
            <a:r>
              <a:rPr sz="3600" dirty="0">
                <a:solidFill>
                  <a:srgbClr val="2E377E"/>
                </a:solidFill>
                <a:latin typeface="Georgia"/>
                <a:cs typeface="Georgia"/>
              </a:rPr>
              <a:t>of</a:t>
            </a:r>
            <a:r>
              <a:rPr sz="3600" spc="3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spc="-10" dirty="0">
                <a:solidFill>
                  <a:srgbClr val="2E377E"/>
                </a:solidFill>
                <a:latin typeface="Georgia"/>
                <a:cs typeface="Georgia"/>
              </a:rPr>
              <a:t>object</a:t>
            </a:r>
            <a:endParaRPr sz="3600">
              <a:latin typeface="Georgia"/>
              <a:cs typeface="Georgi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094" y="555438"/>
            <a:ext cx="4041775" cy="787400"/>
          </a:xfrm>
          <a:prstGeom prst="rect">
            <a:avLst/>
          </a:prstGeom>
        </p:spPr>
        <p:txBody>
          <a:bodyPr vert="horz" wrap="square" lIns="0" tIns="12700" rIns="0" bIns="0" rtlCol="0">
            <a:spAutoFit/>
          </a:bodyPr>
          <a:lstStyle/>
          <a:p>
            <a:pPr marL="12700">
              <a:lnSpc>
                <a:spcPct val="100000"/>
              </a:lnSpc>
              <a:spcBef>
                <a:spcPts val="100"/>
              </a:spcBef>
            </a:pPr>
            <a:r>
              <a:rPr spc="-70" dirty="0">
                <a:solidFill>
                  <a:srgbClr val="FF3131"/>
                </a:solidFill>
              </a:rPr>
              <a:t>COMMANDS:</a:t>
            </a:r>
          </a:p>
        </p:txBody>
      </p:sp>
      <p:pic>
        <p:nvPicPr>
          <p:cNvPr id="3" name="object 3"/>
          <p:cNvPicPr/>
          <p:nvPr/>
        </p:nvPicPr>
        <p:blipFill>
          <a:blip r:embed="rId2" cstate="print"/>
          <a:stretch>
            <a:fillRect/>
          </a:stretch>
        </p:blipFill>
        <p:spPr>
          <a:xfrm>
            <a:off x="832524" y="2184931"/>
            <a:ext cx="133350" cy="133349"/>
          </a:xfrm>
          <a:prstGeom prst="rect">
            <a:avLst/>
          </a:prstGeom>
        </p:spPr>
      </p:pic>
      <p:sp>
        <p:nvSpPr>
          <p:cNvPr id="4" name="object 4"/>
          <p:cNvSpPr txBox="1"/>
          <p:nvPr/>
        </p:nvSpPr>
        <p:spPr>
          <a:xfrm>
            <a:off x="1149330" y="1825520"/>
            <a:ext cx="16628110" cy="7045325"/>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To</a:t>
            </a:r>
            <a:r>
              <a:rPr sz="3600" spc="-55" dirty="0">
                <a:solidFill>
                  <a:srgbClr val="2E377E"/>
                </a:solidFill>
                <a:latin typeface="Georgia"/>
                <a:cs typeface="Georgia"/>
              </a:rPr>
              <a:t> </a:t>
            </a:r>
            <a:r>
              <a:rPr sz="3600" spc="75" dirty="0">
                <a:solidFill>
                  <a:srgbClr val="2E377E"/>
                </a:solidFill>
                <a:latin typeface="Georgia"/>
                <a:cs typeface="Georgia"/>
              </a:rPr>
              <a:t>get</a:t>
            </a:r>
            <a:r>
              <a:rPr sz="3600" spc="-55" dirty="0">
                <a:solidFill>
                  <a:srgbClr val="2E377E"/>
                </a:solidFill>
                <a:latin typeface="Georgia"/>
                <a:cs typeface="Georgia"/>
              </a:rPr>
              <a:t> </a:t>
            </a:r>
            <a:r>
              <a:rPr sz="3600" dirty="0">
                <a:solidFill>
                  <a:srgbClr val="2E377E"/>
                </a:solidFill>
                <a:latin typeface="Georgia"/>
                <a:cs typeface="Georgia"/>
              </a:rPr>
              <a:t>all</a:t>
            </a:r>
            <a:r>
              <a:rPr sz="3600" spc="-50" dirty="0">
                <a:solidFill>
                  <a:srgbClr val="2E377E"/>
                </a:solidFill>
                <a:latin typeface="Georgia"/>
                <a:cs typeface="Georgia"/>
              </a:rPr>
              <a:t> </a:t>
            </a:r>
            <a:r>
              <a:rPr sz="3600" spc="60" dirty="0">
                <a:solidFill>
                  <a:srgbClr val="2E377E"/>
                </a:solidFill>
                <a:latin typeface="Georgia"/>
                <a:cs typeface="Georgia"/>
              </a:rPr>
              <a:t>the</a:t>
            </a:r>
            <a:r>
              <a:rPr sz="3600" spc="-55" dirty="0">
                <a:solidFill>
                  <a:srgbClr val="2E377E"/>
                </a:solidFill>
                <a:latin typeface="Georgia"/>
                <a:cs typeface="Georgia"/>
              </a:rPr>
              <a:t> </a:t>
            </a:r>
            <a:r>
              <a:rPr sz="3600" dirty="0">
                <a:solidFill>
                  <a:srgbClr val="2E377E"/>
                </a:solidFill>
                <a:latin typeface="Georgia"/>
                <a:cs typeface="Georgia"/>
              </a:rPr>
              <a:t>pods:</a:t>
            </a:r>
            <a:r>
              <a:rPr sz="3600" spc="-50" dirty="0">
                <a:solidFill>
                  <a:srgbClr val="2E377E"/>
                </a:solidFill>
                <a:latin typeface="Georgia"/>
                <a:cs typeface="Georgia"/>
              </a:rPr>
              <a:t> </a:t>
            </a:r>
            <a:r>
              <a:rPr sz="3600" spc="225" dirty="0">
                <a:solidFill>
                  <a:srgbClr val="2E377E"/>
                </a:solidFill>
                <a:latin typeface="Times New Roman"/>
                <a:cs typeface="Times New Roman"/>
              </a:rPr>
              <a:t>kubetctl</a:t>
            </a:r>
            <a:r>
              <a:rPr sz="3600" spc="-80" dirty="0">
                <a:solidFill>
                  <a:srgbClr val="2E377E"/>
                </a:solidFill>
                <a:latin typeface="Times New Roman"/>
                <a:cs typeface="Times New Roman"/>
              </a:rPr>
              <a:t> </a:t>
            </a:r>
            <a:r>
              <a:rPr sz="3600" spc="204" dirty="0">
                <a:solidFill>
                  <a:srgbClr val="2E377E"/>
                </a:solidFill>
                <a:latin typeface="Times New Roman"/>
                <a:cs typeface="Times New Roman"/>
              </a:rPr>
              <a:t>get</a:t>
            </a:r>
            <a:r>
              <a:rPr sz="3600" spc="-85" dirty="0">
                <a:solidFill>
                  <a:srgbClr val="2E377E"/>
                </a:solidFill>
                <a:latin typeface="Times New Roman"/>
                <a:cs typeface="Times New Roman"/>
              </a:rPr>
              <a:t> </a:t>
            </a:r>
            <a:r>
              <a:rPr sz="3600" spc="229" dirty="0">
                <a:solidFill>
                  <a:srgbClr val="2E377E"/>
                </a:solidFill>
                <a:latin typeface="Times New Roman"/>
                <a:cs typeface="Times New Roman"/>
              </a:rPr>
              <a:t>pods</a:t>
            </a:r>
            <a:r>
              <a:rPr sz="3600" spc="-80" dirty="0">
                <a:solidFill>
                  <a:srgbClr val="2E377E"/>
                </a:solidFill>
                <a:latin typeface="Times New Roman"/>
                <a:cs typeface="Times New Roman"/>
              </a:rPr>
              <a:t> </a:t>
            </a:r>
            <a:r>
              <a:rPr sz="3600" dirty="0">
                <a:solidFill>
                  <a:srgbClr val="2E377E"/>
                </a:solidFill>
                <a:latin typeface="Times New Roman"/>
                <a:cs typeface="Times New Roman"/>
              </a:rPr>
              <a:t>(or)</a:t>
            </a:r>
            <a:r>
              <a:rPr sz="3600" spc="-85" dirty="0">
                <a:solidFill>
                  <a:srgbClr val="2E377E"/>
                </a:solidFill>
                <a:latin typeface="Times New Roman"/>
                <a:cs typeface="Times New Roman"/>
              </a:rPr>
              <a:t> </a:t>
            </a:r>
            <a:r>
              <a:rPr sz="3600" spc="204" dirty="0">
                <a:solidFill>
                  <a:srgbClr val="2E377E"/>
                </a:solidFill>
                <a:latin typeface="Times New Roman"/>
                <a:cs typeface="Times New Roman"/>
              </a:rPr>
              <a:t>kubectl</a:t>
            </a:r>
            <a:r>
              <a:rPr sz="3600" spc="-80" dirty="0">
                <a:solidFill>
                  <a:srgbClr val="2E377E"/>
                </a:solidFill>
                <a:latin typeface="Times New Roman"/>
                <a:cs typeface="Times New Roman"/>
              </a:rPr>
              <a:t> </a:t>
            </a:r>
            <a:r>
              <a:rPr sz="3600" spc="204" dirty="0">
                <a:solidFill>
                  <a:srgbClr val="2E377E"/>
                </a:solidFill>
                <a:latin typeface="Times New Roman"/>
                <a:cs typeface="Times New Roman"/>
              </a:rPr>
              <a:t>get</a:t>
            </a:r>
            <a:r>
              <a:rPr sz="3600" spc="-85" dirty="0">
                <a:solidFill>
                  <a:srgbClr val="2E377E"/>
                </a:solidFill>
                <a:latin typeface="Times New Roman"/>
                <a:cs typeface="Times New Roman"/>
              </a:rPr>
              <a:t> </a:t>
            </a:r>
            <a:r>
              <a:rPr sz="3600" spc="245" dirty="0">
                <a:solidFill>
                  <a:srgbClr val="2E377E"/>
                </a:solidFill>
                <a:latin typeface="Times New Roman"/>
                <a:cs typeface="Times New Roman"/>
              </a:rPr>
              <a:t>pod</a:t>
            </a:r>
            <a:r>
              <a:rPr sz="3600" spc="-85" dirty="0">
                <a:solidFill>
                  <a:srgbClr val="2E377E"/>
                </a:solidFill>
                <a:latin typeface="Times New Roman"/>
                <a:cs typeface="Times New Roman"/>
              </a:rPr>
              <a:t> </a:t>
            </a:r>
            <a:r>
              <a:rPr sz="3600" dirty="0">
                <a:solidFill>
                  <a:srgbClr val="2E377E"/>
                </a:solidFill>
                <a:latin typeface="Times New Roman"/>
                <a:cs typeface="Times New Roman"/>
              </a:rPr>
              <a:t>(or)</a:t>
            </a:r>
            <a:r>
              <a:rPr sz="3600" spc="-80" dirty="0">
                <a:solidFill>
                  <a:srgbClr val="2E377E"/>
                </a:solidFill>
                <a:latin typeface="Times New Roman"/>
                <a:cs typeface="Times New Roman"/>
              </a:rPr>
              <a:t> </a:t>
            </a:r>
            <a:r>
              <a:rPr sz="3600" spc="204" dirty="0">
                <a:solidFill>
                  <a:srgbClr val="2E377E"/>
                </a:solidFill>
                <a:latin typeface="Times New Roman"/>
                <a:cs typeface="Times New Roman"/>
              </a:rPr>
              <a:t>kubectl</a:t>
            </a:r>
            <a:r>
              <a:rPr sz="3600" spc="-85" dirty="0">
                <a:solidFill>
                  <a:srgbClr val="2E377E"/>
                </a:solidFill>
                <a:latin typeface="Times New Roman"/>
                <a:cs typeface="Times New Roman"/>
              </a:rPr>
              <a:t> </a:t>
            </a:r>
            <a:r>
              <a:rPr sz="3600" spc="204" dirty="0">
                <a:solidFill>
                  <a:srgbClr val="2E377E"/>
                </a:solidFill>
                <a:latin typeface="Times New Roman"/>
                <a:cs typeface="Times New Roman"/>
              </a:rPr>
              <a:t>get</a:t>
            </a:r>
            <a:r>
              <a:rPr sz="3600" spc="-80" dirty="0">
                <a:solidFill>
                  <a:srgbClr val="2E377E"/>
                </a:solidFill>
                <a:latin typeface="Times New Roman"/>
                <a:cs typeface="Times New Roman"/>
              </a:rPr>
              <a:t> </a:t>
            </a:r>
            <a:r>
              <a:rPr sz="3600" spc="200" dirty="0">
                <a:solidFill>
                  <a:srgbClr val="2E377E"/>
                </a:solidFill>
                <a:latin typeface="Times New Roman"/>
                <a:cs typeface="Times New Roman"/>
              </a:rPr>
              <a:t>po</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To</a:t>
            </a:r>
            <a:r>
              <a:rPr sz="3600" spc="-90" dirty="0">
                <a:solidFill>
                  <a:srgbClr val="2E377E"/>
                </a:solidFill>
                <a:latin typeface="Georgia"/>
                <a:cs typeface="Georgia"/>
              </a:rPr>
              <a:t> </a:t>
            </a:r>
            <a:r>
              <a:rPr sz="3600" spc="55" dirty="0">
                <a:solidFill>
                  <a:srgbClr val="2E377E"/>
                </a:solidFill>
                <a:latin typeface="Georgia"/>
                <a:cs typeface="Georgia"/>
              </a:rPr>
              <a:t>delete</a:t>
            </a:r>
            <a:r>
              <a:rPr sz="3600" spc="-90" dirty="0">
                <a:solidFill>
                  <a:srgbClr val="2E377E"/>
                </a:solidFill>
                <a:latin typeface="Georgia"/>
                <a:cs typeface="Georgia"/>
              </a:rPr>
              <a:t> </a:t>
            </a:r>
            <a:r>
              <a:rPr sz="3600" dirty="0">
                <a:solidFill>
                  <a:srgbClr val="2E377E"/>
                </a:solidFill>
                <a:latin typeface="Georgia"/>
                <a:cs typeface="Georgia"/>
              </a:rPr>
              <a:t>a</a:t>
            </a:r>
            <a:r>
              <a:rPr sz="3600" spc="-90" dirty="0">
                <a:solidFill>
                  <a:srgbClr val="2E377E"/>
                </a:solidFill>
                <a:latin typeface="Georgia"/>
                <a:cs typeface="Georgia"/>
              </a:rPr>
              <a:t> </a:t>
            </a:r>
            <a:r>
              <a:rPr sz="3600" spc="-10" dirty="0">
                <a:solidFill>
                  <a:srgbClr val="2E377E"/>
                </a:solidFill>
                <a:latin typeface="Georgia"/>
                <a:cs typeface="Georgia"/>
              </a:rPr>
              <a:t>pod:</a:t>
            </a:r>
            <a:r>
              <a:rPr sz="3600" spc="-85" dirty="0">
                <a:solidFill>
                  <a:srgbClr val="2E377E"/>
                </a:solidFill>
                <a:latin typeface="Georgia"/>
                <a:cs typeface="Georgia"/>
              </a:rPr>
              <a:t> </a:t>
            </a:r>
            <a:r>
              <a:rPr sz="3600" spc="204" dirty="0">
                <a:solidFill>
                  <a:srgbClr val="2E377E"/>
                </a:solidFill>
                <a:latin typeface="Times New Roman"/>
                <a:cs typeface="Times New Roman"/>
              </a:rPr>
              <a:t>kubectl</a:t>
            </a:r>
            <a:r>
              <a:rPr sz="3600" spc="-120" dirty="0">
                <a:solidFill>
                  <a:srgbClr val="2E377E"/>
                </a:solidFill>
                <a:latin typeface="Times New Roman"/>
                <a:cs typeface="Times New Roman"/>
              </a:rPr>
              <a:t> </a:t>
            </a:r>
            <a:r>
              <a:rPr sz="3600" spc="204" dirty="0">
                <a:solidFill>
                  <a:srgbClr val="2E377E"/>
                </a:solidFill>
                <a:latin typeface="Times New Roman"/>
                <a:cs typeface="Times New Roman"/>
              </a:rPr>
              <a:t>delete</a:t>
            </a:r>
            <a:r>
              <a:rPr sz="3600" spc="-120" dirty="0">
                <a:solidFill>
                  <a:srgbClr val="2E377E"/>
                </a:solidFill>
                <a:latin typeface="Times New Roman"/>
                <a:cs typeface="Times New Roman"/>
              </a:rPr>
              <a:t> </a:t>
            </a:r>
            <a:r>
              <a:rPr sz="3600" spc="245" dirty="0">
                <a:solidFill>
                  <a:srgbClr val="2E377E"/>
                </a:solidFill>
                <a:latin typeface="Times New Roman"/>
                <a:cs typeface="Times New Roman"/>
              </a:rPr>
              <a:t>pod</a:t>
            </a:r>
            <a:r>
              <a:rPr sz="3600" spc="-120" dirty="0">
                <a:solidFill>
                  <a:srgbClr val="2E377E"/>
                </a:solidFill>
                <a:latin typeface="Times New Roman"/>
                <a:cs typeface="Times New Roman"/>
              </a:rPr>
              <a:t> </a:t>
            </a:r>
            <a:r>
              <a:rPr sz="3600" spc="295" dirty="0">
                <a:solidFill>
                  <a:srgbClr val="2E377E"/>
                </a:solidFill>
                <a:latin typeface="Times New Roman"/>
                <a:cs typeface="Times New Roman"/>
              </a:rPr>
              <a:t>pod_name</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To</a:t>
            </a:r>
            <a:r>
              <a:rPr sz="3600" spc="-90" dirty="0">
                <a:solidFill>
                  <a:srgbClr val="2E377E"/>
                </a:solidFill>
                <a:latin typeface="Georgia"/>
                <a:cs typeface="Georgia"/>
              </a:rPr>
              <a:t> </a:t>
            </a:r>
            <a:r>
              <a:rPr sz="3600" spc="75" dirty="0">
                <a:solidFill>
                  <a:srgbClr val="2E377E"/>
                </a:solidFill>
                <a:latin typeface="Georgia"/>
                <a:cs typeface="Georgia"/>
              </a:rPr>
              <a:t>get</a:t>
            </a:r>
            <a:r>
              <a:rPr sz="3600" spc="-85" dirty="0">
                <a:solidFill>
                  <a:srgbClr val="2E377E"/>
                </a:solidFill>
                <a:latin typeface="Georgia"/>
                <a:cs typeface="Georgia"/>
              </a:rPr>
              <a:t> </a:t>
            </a:r>
            <a:r>
              <a:rPr sz="3600" dirty="0">
                <a:solidFill>
                  <a:srgbClr val="2E377E"/>
                </a:solidFill>
                <a:latin typeface="Georgia"/>
                <a:cs typeface="Georgia"/>
              </a:rPr>
              <a:t>IP</a:t>
            </a:r>
            <a:r>
              <a:rPr sz="3600" spc="-90" dirty="0">
                <a:solidFill>
                  <a:srgbClr val="2E377E"/>
                </a:solidFill>
                <a:latin typeface="Georgia"/>
                <a:cs typeface="Georgia"/>
              </a:rPr>
              <a:t> </a:t>
            </a:r>
            <a:r>
              <a:rPr sz="3600" dirty="0">
                <a:solidFill>
                  <a:srgbClr val="2E377E"/>
                </a:solidFill>
                <a:latin typeface="Georgia"/>
                <a:cs typeface="Georgia"/>
              </a:rPr>
              <a:t>of</a:t>
            </a:r>
            <a:r>
              <a:rPr sz="3600" spc="-85" dirty="0">
                <a:solidFill>
                  <a:srgbClr val="2E377E"/>
                </a:solidFill>
                <a:latin typeface="Georgia"/>
                <a:cs typeface="Georgia"/>
              </a:rPr>
              <a:t> </a:t>
            </a:r>
            <a:r>
              <a:rPr sz="3600" dirty="0">
                <a:solidFill>
                  <a:srgbClr val="2E377E"/>
                </a:solidFill>
                <a:latin typeface="Georgia"/>
                <a:cs typeface="Georgia"/>
              </a:rPr>
              <a:t>a</a:t>
            </a:r>
            <a:r>
              <a:rPr sz="3600" spc="-85" dirty="0">
                <a:solidFill>
                  <a:srgbClr val="2E377E"/>
                </a:solidFill>
                <a:latin typeface="Georgia"/>
                <a:cs typeface="Georgia"/>
              </a:rPr>
              <a:t> </a:t>
            </a:r>
            <a:r>
              <a:rPr sz="3600" spc="-10" dirty="0">
                <a:solidFill>
                  <a:srgbClr val="2E377E"/>
                </a:solidFill>
                <a:latin typeface="Georgia"/>
                <a:cs typeface="Georgia"/>
              </a:rPr>
              <a:t>pod:</a:t>
            </a:r>
            <a:r>
              <a:rPr sz="3600" spc="-85" dirty="0">
                <a:solidFill>
                  <a:srgbClr val="2E377E"/>
                </a:solidFill>
                <a:latin typeface="Georgia"/>
                <a:cs typeface="Georgia"/>
              </a:rPr>
              <a:t> </a:t>
            </a:r>
            <a:r>
              <a:rPr sz="3600" spc="204" dirty="0">
                <a:solidFill>
                  <a:srgbClr val="2E377E"/>
                </a:solidFill>
                <a:latin typeface="Times New Roman"/>
                <a:cs typeface="Times New Roman"/>
              </a:rPr>
              <a:t>kubectl</a:t>
            </a:r>
            <a:r>
              <a:rPr sz="3600" spc="-114" dirty="0">
                <a:solidFill>
                  <a:srgbClr val="2E377E"/>
                </a:solidFill>
                <a:latin typeface="Times New Roman"/>
                <a:cs typeface="Times New Roman"/>
              </a:rPr>
              <a:t> </a:t>
            </a:r>
            <a:r>
              <a:rPr sz="3600" spc="204" dirty="0">
                <a:solidFill>
                  <a:srgbClr val="2E377E"/>
                </a:solidFill>
                <a:latin typeface="Times New Roman"/>
                <a:cs typeface="Times New Roman"/>
              </a:rPr>
              <a:t>get</a:t>
            </a:r>
            <a:r>
              <a:rPr sz="3600" spc="-114" dirty="0">
                <a:solidFill>
                  <a:srgbClr val="2E377E"/>
                </a:solidFill>
                <a:latin typeface="Times New Roman"/>
                <a:cs typeface="Times New Roman"/>
              </a:rPr>
              <a:t> </a:t>
            </a:r>
            <a:r>
              <a:rPr sz="3600" spc="225" dirty="0">
                <a:solidFill>
                  <a:srgbClr val="2E377E"/>
                </a:solidFill>
                <a:latin typeface="Times New Roman"/>
                <a:cs typeface="Times New Roman"/>
              </a:rPr>
              <a:t>po</a:t>
            </a:r>
            <a:r>
              <a:rPr sz="3600" spc="-120" dirty="0">
                <a:solidFill>
                  <a:srgbClr val="2E377E"/>
                </a:solidFill>
                <a:latin typeface="Times New Roman"/>
                <a:cs typeface="Times New Roman"/>
              </a:rPr>
              <a:t> </a:t>
            </a:r>
            <a:r>
              <a:rPr sz="3600" spc="305" dirty="0">
                <a:solidFill>
                  <a:srgbClr val="2E377E"/>
                </a:solidFill>
                <a:latin typeface="Times New Roman"/>
                <a:cs typeface="Times New Roman"/>
              </a:rPr>
              <a:t>pod_name</a:t>
            </a:r>
            <a:r>
              <a:rPr sz="3600" spc="-114"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160" dirty="0">
                <a:solidFill>
                  <a:srgbClr val="2E377E"/>
                </a:solidFill>
                <a:latin typeface="Times New Roman"/>
                <a:cs typeface="Times New Roman"/>
              </a:rPr>
              <a:t>o</a:t>
            </a:r>
            <a:r>
              <a:rPr sz="3600" spc="-120" dirty="0">
                <a:solidFill>
                  <a:srgbClr val="2E377E"/>
                </a:solidFill>
                <a:latin typeface="Times New Roman"/>
                <a:cs typeface="Times New Roman"/>
              </a:rPr>
              <a:t> </a:t>
            </a:r>
            <a:r>
              <a:rPr sz="3600" spc="180" dirty="0">
                <a:solidFill>
                  <a:srgbClr val="2E377E"/>
                </a:solidFill>
                <a:latin typeface="Times New Roman"/>
                <a:cs typeface="Times New Roman"/>
              </a:rPr>
              <a:t>wide</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To</a:t>
            </a:r>
            <a:r>
              <a:rPr sz="3600" spc="-95" dirty="0">
                <a:solidFill>
                  <a:srgbClr val="2E377E"/>
                </a:solidFill>
                <a:latin typeface="Georgia"/>
                <a:cs typeface="Georgia"/>
              </a:rPr>
              <a:t> </a:t>
            </a:r>
            <a:r>
              <a:rPr sz="3600" spc="75" dirty="0">
                <a:solidFill>
                  <a:srgbClr val="2E377E"/>
                </a:solidFill>
                <a:latin typeface="Georgia"/>
                <a:cs typeface="Georgia"/>
              </a:rPr>
              <a:t>get</a:t>
            </a:r>
            <a:r>
              <a:rPr sz="3600" spc="-95" dirty="0">
                <a:solidFill>
                  <a:srgbClr val="2E377E"/>
                </a:solidFill>
                <a:latin typeface="Georgia"/>
                <a:cs typeface="Georgia"/>
              </a:rPr>
              <a:t> </a:t>
            </a:r>
            <a:r>
              <a:rPr sz="3600" dirty="0">
                <a:solidFill>
                  <a:srgbClr val="2E377E"/>
                </a:solidFill>
                <a:latin typeface="Georgia"/>
                <a:cs typeface="Georgia"/>
              </a:rPr>
              <a:t>IP</a:t>
            </a:r>
            <a:r>
              <a:rPr sz="3600" spc="-90" dirty="0">
                <a:solidFill>
                  <a:srgbClr val="2E377E"/>
                </a:solidFill>
                <a:latin typeface="Georgia"/>
                <a:cs typeface="Georgia"/>
              </a:rPr>
              <a:t> </a:t>
            </a:r>
            <a:r>
              <a:rPr sz="3600" dirty="0">
                <a:solidFill>
                  <a:srgbClr val="2E377E"/>
                </a:solidFill>
                <a:latin typeface="Georgia"/>
                <a:cs typeface="Georgia"/>
              </a:rPr>
              <a:t>of</a:t>
            </a:r>
            <a:r>
              <a:rPr sz="3600" spc="-95" dirty="0">
                <a:solidFill>
                  <a:srgbClr val="2E377E"/>
                </a:solidFill>
                <a:latin typeface="Georgia"/>
                <a:cs typeface="Georgia"/>
              </a:rPr>
              <a:t> </a:t>
            </a:r>
            <a:r>
              <a:rPr sz="3600" dirty="0">
                <a:solidFill>
                  <a:srgbClr val="2E377E"/>
                </a:solidFill>
                <a:latin typeface="Georgia"/>
                <a:cs typeface="Georgia"/>
              </a:rPr>
              <a:t>all</a:t>
            </a:r>
            <a:r>
              <a:rPr sz="3600" spc="-95" dirty="0">
                <a:solidFill>
                  <a:srgbClr val="2E377E"/>
                </a:solidFill>
                <a:latin typeface="Georgia"/>
                <a:cs typeface="Georgia"/>
              </a:rPr>
              <a:t> </a:t>
            </a:r>
            <a:r>
              <a:rPr sz="3600" dirty="0">
                <a:solidFill>
                  <a:srgbClr val="2E377E"/>
                </a:solidFill>
                <a:latin typeface="Georgia"/>
                <a:cs typeface="Georgia"/>
              </a:rPr>
              <a:t>pods:</a:t>
            </a:r>
            <a:r>
              <a:rPr sz="3600" spc="-85" dirty="0">
                <a:solidFill>
                  <a:srgbClr val="2E377E"/>
                </a:solidFill>
                <a:latin typeface="Georgia"/>
                <a:cs typeface="Georgia"/>
              </a:rPr>
              <a:t> </a:t>
            </a:r>
            <a:r>
              <a:rPr sz="3600" spc="204" dirty="0">
                <a:solidFill>
                  <a:srgbClr val="2E377E"/>
                </a:solidFill>
                <a:latin typeface="Times New Roman"/>
                <a:cs typeface="Times New Roman"/>
              </a:rPr>
              <a:t>kubectl</a:t>
            </a:r>
            <a:r>
              <a:rPr sz="3600" spc="-125" dirty="0">
                <a:solidFill>
                  <a:srgbClr val="2E377E"/>
                </a:solidFill>
                <a:latin typeface="Times New Roman"/>
                <a:cs typeface="Times New Roman"/>
              </a:rPr>
              <a:t> </a:t>
            </a:r>
            <a:r>
              <a:rPr sz="3600" spc="204" dirty="0">
                <a:solidFill>
                  <a:srgbClr val="2E377E"/>
                </a:solidFill>
                <a:latin typeface="Times New Roman"/>
                <a:cs typeface="Times New Roman"/>
              </a:rPr>
              <a:t>get</a:t>
            </a:r>
            <a:r>
              <a:rPr sz="3600" spc="-125" dirty="0">
                <a:solidFill>
                  <a:srgbClr val="2E377E"/>
                </a:solidFill>
                <a:latin typeface="Times New Roman"/>
                <a:cs typeface="Times New Roman"/>
              </a:rPr>
              <a:t> </a:t>
            </a:r>
            <a:r>
              <a:rPr sz="3600" spc="225" dirty="0">
                <a:solidFill>
                  <a:srgbClr val="2E377E"/>
                </a:solidFill>
                <a:latin typeface="Times New Roman"/>
                <a:cs typeface="Times New Roman"/>
              </a:rPr>
              <a:t>po</a:t>
            </a:r>
            <a:r>
              <a:rPr sz="3600" spc="-120"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160" dirty="0">
                <a:solidFill>
                  <a:srgbClr val="2E377E"/>
                </a:solidFill>
                <a:latin typeface="Times New Roman"/>
                <a:cs typeface="Times New Roman"/>
              </a:rPr>
              <a:t>o</a:t>
            </a:r>
            <a:r>
              <a:rPr sz="3600" spc="-125" dirty="0">
                <a:solidFill>
                  <a:srgbClr val="2E377E"/>
                </a:solidFill>
                <a:latin typeface="Times New Roman"/>
                <a:cs typeface="Times New Roman"/>
              </a:rPr>
              <a:t> </a:t>
            </a:r>
            <a:r>
              <a:rPr sz="3600" spc="180" dirty="0">
                <a:solidFill>
                  <a:srgbClr val="2E377E"/>
                </a:solidFill>
                <a:latin typeface="Times New Roman"/>
                <a:cs typeface="Times New Roman"/>
              </a:rPr>
              <a:t>wide</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To</a:t>
            </a:r>
            <a:r>
              <a:rPr sz="3600" spc="-55" dirty="0">
                <a:solidFill>
                  <a:srgbClr val="2E377E"/>
                </a:solidFill>
                <a:latin typeface="Georgia"/>
                <a:cs typeface="Georgia"/>
              </a:rPr>
              <a:t> </a:t>
            </a:r>
            <a:r>
              <a:rPr sz="3600" spc="75" dirty="0">
                <a:solidFill>
                  <a:srgbClr val="2E377E"/>
                </a:solidFill>
                <a:latin typeface="Georgia"/>
                <a:cs typeface="Georgia"/>
              </a:rPr>
              <a:t>get</a:t>
            </a:r>
            <a:r>
              <a:rPr sz="3600" spc="-55" dirty="0">
                <a:solidFill>
                  <a:srgbClr val="2E377E"/>
                </a:solidFill>
                <a:latin typeface="Georgia"/>
                <a:cs typeface="Georgia"/>
              </a:rPr>
              <a:t> </a:t>
            </a:r>
            <a:r>
              <a:rPr sz="3600" dirty="0">
                <a:solidFill>
                  <a:srgbClr val="2E377E"/>
                </a:solidFill>
                <a:latin typeface="Georgia"/>
                <a:cs typeface="Georgia"/>
              </a:rPr>
              <a:t>all</a:t>
            </a:r>
            <a:r>
              <a:rPr sz="3600" spc="-55" dirty="0">
                <a:solidFill>
                  <a:srgbClr val="2E377E"/>
                </a:solidFill>
                <a:latin typeface="Georgia"/>
                <a:cs typeface="Georgia"/>
              </a:rPr>
              <a:t> </a:t>
            </a:r>
            <a:r>
              <a:rPr sz="3600" dirty="0">
                <a:solidFill>
                  <a:srgbClr val="2E377E"/>
                </a:solidFill>
                <a:latin typeface="Georgia"/>
                <a:cs typeface="Georgia"/>
              </a:rPr>
              <a:t>details</a:t>
            </a:r>
            <a:r>
              <a:rPr sz="3600" spc="-55" dirty="0">
                <a:solidFill>
                  <a:srgbClr val="2E377E"/>
                </a:solidFill>
                <a:latin typeface="Georgia"/>
                <a:cs typeface="Georgia"/>
              </a:rPr>
              <a:t> </a:t>
            </a:r>
            <a:r>
              <a:rPr sz="3600" dirty="0">
                <a:solidFill>
                  <a:srgbClr val="2E377E"/>
                </a:solidFill>
                <a:latin typeface="Georgia"/>
                <a:cs typeface="Georgia"/>
              </a:rPr>
              <a:t>of</a:t>
            </a:r>
            <a:r>
              <a:rPr sz="3600" spc="-55" dirty="0">
                <a:solidFill>
                  <a:srgbClr val="2E377E"/>
                </a:solidFill>
                <a:latin typeface="Georgia"/>
                <a:cs typeface="Georgia"/>
              </a:rPr>
              <a:t> </a:t>
            </a:r>
            <a:r>
              <a:rPr sz="3600" dirty="0">
                <a:solidFill>
                  <a:srgbClr val="2E377E"/>
                </a:solidFill>
                <a:latin typeface="Georgia"/>
                <a:cs typeface="Georgia"/>
              </a:rPr>
              <a:t>a</a:t>
            </a:r>
            <a:r>
              <a:rPr sz="3600" spc="-50" dirty="0">
                <a:solidFill>
                  <a:srgbClr val="2E377E"/>
                </a:solidFill>
                <a:latin typeface="Georgia"/>
                <a:cs typeface="Georgia"/>
              </a:rPr>
              <a:t> </a:t>
            </a:r>
            <a:r>
              <a:rPr sz="3600" spc="-10" dirty="0">
                <a:solidFill>
                  <a:srgbClr val="2E377E"/>
                </a:solidFill>
                <a:latin typeface="Georgia"/>
                <a:cs typeface="Georgia"/>
              </a:rPr>
              <a:t>pod:</a:t>
            </a:r>
            <a:r>
              <a:rPr sz="3600" spc="-55" dirty="0">
                <a:solidFill>
                  <a:srgbClr val="2E377E"/>
                </a:solidFill>
                <a:latin typeface="Georgia"/>
                <a:cs typeface="Georgia"/>
              </a:rPr>
              <a:t> </a:t>
            </a:r>
            <a:r>
              <a:rPr sz="3600" spc="204" dirty="0">
                <a:solidFill>
                  <a:srgbClr val="2E377E"/>
                </a:solidFill>
                <a:latin typeface="Times New Roman"/>
                <a:cs typeface="Times New Roman"/>
              </a:rPr>
              <a:t>kubectl</a:t>
            </a:r>
            <a:r>
              <a:rPr sz="3600" spc="-85" dirty="0">
                <a:solidFill>
                  <a:srgbClr val="2E377E"/>
                </a:solidFill>
                <a:latin typeface="Times New Roman"/>
                <a:cs typeface="Times New Roman"/>
              </a:rPr>
              <a:t> </a:t>
            </a:r>
            <a:r>
              <a:rPr sz="3600" spc="190" dirty="0">
                <a:solidFill>
                  <a:srgbClr val="2E377E"/>
                </a:solidFill>
                <a:latin typeface="Times New Roman"/>
                <a:cs typeface="Times New Roman"/>
              </a:rPr>
              <a:t>describe</a:t>
            </a:r>
            <a:r>
              <a:rPr sz="3600" spc="-85" dirty="0">
                <a:solidFill>
                  <a:srgbClr val="2E377E"/>
                </a:solidFill>
                <a:latin typeface="Times New Roman"/>
                <a:cs typeface="Times New Roman"/>
              </a:rPr>
              <a:t> </a:t>
            </a:r>
            <a:r>
              <a:rPr sz="3600" spc="245" dirty="0">
                <a:solidFill>
                  <a:srgbClr val="2E377E"/>
                </a:solidFill>
                <a:latin typeface="Times New Roman"/>
                <a:cs typeface="Times New Roman"/>
              </a:rPr>
              <a:t>pod</a:t>
            </a:r>
            <a:r>
              <a:rPr sz="3600" spc="-85" dirty="0">
                <a:solidFill>
                  <a:srgbClr val="2E377E"/>
                </a:solidFill>
                <a:latin typeface="Times New Roman"/>
                <a:cs typeface="Times New Roman"/>
              </a:rPr>
              <a:t> </a:t>
            </a:r>
            <a:r>
              <a:rPr sz="3600" spc="254" dirty="0">
                <a:solidFill>
                  <a:srgbClr val="2E377E"/>
                </a:solidFill>
                <a:latin typeface="Times New Roman"/>
                <a:cs typeface="Times New Roman"/>
              </a:rPr>
              <a:t>podname</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To</a:t>
            </a:r>
            <a:r>
              <a:rPr sz="3600" spc="-55" dirty="0">
                <a:solidFill>
                  <a:srgbClr val="2E377E"/>
                </a:solidFill>
                <a:latin typeface="Georgia"/>
                <a:cs typeface="Georgia"/>
              </a:rPr>
              <a:t> </a:t>
            </a:r>
            <a:r>
              <a:rPr sz="3600" spc="75" dirty="0">
                <a:solidFill>
                  <a:srgbClr val="2E377E"/>
                </a:solidFill>
                <a:latin typeface="Georgia"/>
                <a:cs typeface="Georgia"/>
              </a:rPr>
              <a:t>get</a:t>
            </a:r>
            <a:r>
              <a:rPr sz="3600" spc="-55" dirty="0">
                <a:solidFill>
                  <a:srgbClr val="2E377E"/>
                </a:solidFill>
                <a:latin typeface="Georgia"/>
                <a:cs typeface="Georgia"/>
              </a:rPr>
              <a:t> </a:t>
            </a:r>
            <a:r>
              <a:rPr sz="3600" dirty="0">
                <a:solidFill>
                  <a:srgbClr val="2E377E"/>
                </a:solidFill>
                <a:latin typeface="Georgia"/>
                <a:cs typeface="Georgia"/>
              </a:rPr>
              <a:t>all</a:t>
            </a:r>
            <a:r>
              <a:rPr sz="3600" spc="-55" dirty="0">
                <a:solidFill>
                  <a:srgbClr val="2E377E"/>
                </a:solidFill>
                <a:latin typeface="Georgia"/>
                <a:cs typeface="Georgia"/>
              </a:rPr>
              <a:t> </a:t>
            </a:r>
            <a:r>
              <a:rPr sz="3600" dirty="0">
                <a:solidFill>
                  <a:srgbClr val="2E377E"/>
                </a:solidFill>
                <a:latin typeface="Georgia"/>
                <a:cs typeface="Georgia"/>
              </a:rPr>
              <a:t>details</a:t>
            </a:r>
            <a:r>
              <a:rPr sz="3600" spc="-50" dirty="0">
                <a:solidFill>
                  <a:srgbClr val="2E377E"/>
                </a:solidFill>
                <a:latin typeface="Georgia"/>
                <a:cs typeface="Georgia"/>
              </a:rPr>
              <a:t> </a:t>
            </a:r>
            <a:r>
              <a:rPr sz="3600" dirty="0">
                <a:solidFill>
                  <a:srgbClr val="2E377E"/>
                </a:solidFill>
                <a:latin typeface="Georgia"/>
                <a:cs typeface="Georgia"/>
              </a:rPr>
              <a:t>of</a:t>
            </a:r>
            <a:r>
              <a:rPr sz="3600" spc="-55" dirty="0">
                <a:solidFill>
                  <a:srgbClr val="2E377E"/>
                </a:solidFill>
                <a:latin typeface="Georgia"/>
                <a:cs typeface="Georgia"/>
              </a:rPr>
              <a:t> </a:t>
            </a:r>
            <a:r>
              <a:rPr sz="3600" dirty="0">
                <a:solidFill>
                  <a:srgbClr val="2E377E"/>
                </a:solidFill>
                <a:latin typeface="Georgia"/>
                <a:cs typeface="Georgia"/>
              </a:rPr>
              <a:t>all</a:t>
            </a:r>
            <a:r>
              <a:rPr sz="3600" spc="-55" dirty="0">
                <a:solidFill>
                  <a:srgbClr val="2E377E"/>
                </a:solidFill>
                <a:latin typeface="Georgia"/>
                <a:cs typeface="Georgia"/>
              </a:rPr>
              <a:t> </a:t>
            </a:r>
            <a:r>
              <a:rPr sz="3600" dirty="0">
                <a:solidFill>
                  <a:srgbClr val="2E377E"/>
                </a:solidFill>
                <a:latin typeface="Georgia"/>
                <a:cs typeface="Georgia"/>
              </a:rPr>
              <a:t>pods:</a:t>
            </a:r>
            <a:r>
              <a:rPr sz="3600" spc="-55" dirty="0">
                <a:solidFill>
                  <a:srgbClr val="2E377E"/>
                </a:solidFill>
                <a:latin typeface="Georgia"/>
                <a:cs typeface="Georgia"/>
              </a:rPr>
              <a:t> </a:t>
            </a:r>
            <a:r>
              <a:rPr sz="3600" spc="204" dirty="0">
                <a:solidFill>
                  <a:srgbClr val="2E377E"/>
                </a:solidFill>
                <a:latin typeface="Times New Roman"/>
                <a:cs typeface="Times New Roman"/>
              </a:rPr>
              <a:t>kubectl</a:t>
            </a:r>
            <a:r>
              <a:rPr sz="3600" spc="-80" dirty="0">
                <a:solidFill>
                  <a:srgbClr val="2E377E"/>
                </a:solidFill>
                <a:latin typeface="Times New Roman"/>
                <a:cs typeface="Times New Roman"/>
              </a:rPr>
              <a:t> </a:t>
            </a:r>
            <a:r>
              <a:rPr sz="3600" spc="190" dirty="0">
                <a:solidFill>
                  <a:srgbClr val="2E377E"/>
                </a:solidFill>
                <a:latin typeface="Times New Roman"/>
                <a:cs typeface="Times New Roman"/>
              </a:rPr>
              <a:t>describe</a:t>
            </a:r>
            <a:r>
              <a:rPr sz="3600" spc="-85" dirty="0">
                <a:solidFill>
                  <a:srgbClr val="2E377E"/>
                </a:solidFill>
                <a:latin typeface="Times New Roman"/>
                <a:cs typeface="Times New Roman"/>
              </a:rPr>
              <a:t> </a:t>
            </a:r>
            <a:r>
              <a:rPr sz="3600" spc="200" dirty="0">
                <a:solidFill>
                  <a:srgbClr val="2E377E"/>
                </a:solidFill>
                <a:latin typeface="Times New Roman"/>
                <a:cs typeface="Times New Roman"/>
              </a:rPr>
              <a:t>po</a:t>
            </a:r>
            <a:endParaRPr sz="3600">
              <a:latin typeface="Times New Roman"/>
              <a:cs typeface="Times New Roman"/>
            </a:endParaRPr>
          </a:p>
          <a:p>
            <a:pPr marL="12700" marR="2541905">
              <a:lnSpc>
                <a:spcPct val="116300"/>
              </a:lnSpc>
            </a:pPr>
            <a:r>
              <a:rPr sz="3600" dirty="0">
                <a:solidFill>
                  <a:srgbClr val="2E377E"/>
                </a:solidFill>
                <a:latin typeface="Georgia"/>
                <a:cs typeface="Georgia"/>
              </a:rPr>
              <a:t>To</a:t>
            </a:r>
            <a:r>
              <a:rPr sz="3600" spc="-50" dirty="0">
                <a:solidFill>
                  <a:srgbClr val="2E377E"/>
                </a:solidFill>
                <a:latin typeface="Georgia"/>
                <a:cs typeface="Georgia"/>
              </a:rPr>
              <a:t> </a:t>
            </a:r>
            <a:r>
              <a:rPr sz="3600" spc="75" dirty="0">
                <a:solidFill>
                  <a:srgbClr val="2E377E"/>
                </a:solidFill>
                <a:latin typeface="Georgia"/>
                <a:cs typeface="Georgia"/>
              </a:rPr>
              <a:t>get</a:t>
            </a:r>
            <a:r>
              <a:rPr sz="3600" spc="-45"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pod</a:t>
            </a:r>
            <a:r>
              <a:rPr sz="3600" spc="-45" dirty="0">
                <a:solidFill>
                  <a:srgbClr val="2E377E"/>
                </a:solidFill>
                <a:latin typeface="Georgia"/>
                <a:cs typeface="Georgia"/>
              </a:rPr>
              <a:t> </a:t>
            </a:r>
            <a:r>
              <a:rPr sz="3600" dirty="0">
                <a:solidFill>
                  <a:srgbClr val="2E377E"/>
                </a:solidFill>
                <a:latin typeface="Georgia"/>
                <a:cs typeface="Georgia"/>
              </a:rPr>
              <a:t>details</a:t>
            </a:r>
            <a:r>
              <a:rPr sz="3600" spc="-45" dirty="0">
                <a:solidFill>
                  <a:srgbClr val="2E377E"/>
                </a:solidFill>
                <a:latin typeface="Georgia"/>
                <a:cs typeface="Georgia"/>
              </a:rPr>
              <a:t> </a:t>
            </a:r>
            <a:r>
              <a:rPr sz="3600" dirty="0">
                <a:solidFill>
                  <a:srgbClr val="2E377E"/>
                </a:solidFill>
                <a:latin typeface="Georgia"/>
                <a:cs typeface="Georgia"/>
              </a:rPr>
              <a:t>in</a:t>
            </a:r>
            <a:r>
              <a:rPr sz="3600" spc="-50" dirty="0">
                <a:solidFill>
                  <a:srgbClr val="2E377E"/>
                </a:solidFill>
                <a:latin typeface="Georgia"/>
                <a:cs typeface="Georgia"/>
              </a:rPr>
              <a:t> </a:t>
            </a:r>
            <a:r>
              <a:rPr sz="3600" spc="-70" dirty="0">
                <a:solidFill>
                  <a:srgbClr val="2E377E"/>
                </a:solidFill>
                <a:latin typeface="Georgia"/>
                <a:cs typeface="Georgia"/>
              </a:rPr>
              <a:t>YAML</a:t>
            </a:r>
            <a:r>
              <a:rPr sz="3600" spc="-45" dirty="0">
                <a:solidFill>
                  <a:srgbClr val="2E377E"/>
                </a:solidFill>
                <a:latin typeface="Georgia"/>
                <a:cs typeface="Georgia"/>
              </a:rPr>
              <a:t> </a:t>
            </a:r>
            <a:r>
              <a:rPr sz="3600" dirty="0">
                <a:solidFill>
                  <a:srgbClr val="2E377E"/>
                </a:solidFill>
                <a:latin typeface="Georgia"/>
                <a:cs typeface="Georgia"/>
              </a:rPr>
              <a:t>format:</a:t>
            </a:r>
            <a:r>
              <a:rPr sz="3600" spc="-40" dirty="0">
                <a:solidFill>
                  <a:srgbClr val="2E377E"/>
                </a:solidFill>
                <a:latin typeface="Georgia"/>
                <a:cs typeface="Georgia"/>
              </a:rPr>
              <a:t> </a:t>
            </a:r>
            <a:r>
              <a:rPr sz="3600" spc="204" dirty="0">
                <a:solidFill>
                  <a:srgbClr val="2E377E"/>
                </a:solidFill>
                <a:latin typeface="Times New Roman"/>
                <a:cs typeface="Times New Roman"/>
              </a:rPr>
              <a:t>kubectl</a:t>
            </a:r>
            <a:r>
              <a:rPr sz="3600" spc="-75" dirty="0">
                <a:solidFill>
                  <a:srgbClr val="2E377E"/>
                </a:solidFill>
                <a:latin typeface="Times New Roman"/>
                <a:cs typeface="Times New Roman"/>
              </a:rPr>
              <a:t> </a:t>
            </a:r>
            <a:r>
              <a:rPr sz="3600" spc="204" dirty="0">
                <a:solidFill>
                  <a:srgbClr val="2E377E"/>
                </a:solidFill>
                <a:latin typeface="Times New Roman"/>
                <a:cs typeface="Times New Roman"/>
              </a:rPr>
              <a:t>get</a:t>
            </a:r>
            <a:r>
              <a:rPr sz="3600" spc="-75" dirty="0">
                <a:solidFill>
                  <a:srgbClr val="2E377E"/>
                </a:solidFill>
                <a:latin typeface="Times New Roman"/>
                <a:cs typeface="Times New Roman"/>
              </a:rPr>
              <a:t> </a:t>
            </a:r>
            <a:r>
              <a:rPr sz="3600" spc="245" dirty="0">
                <a:solidFill>
                  <a:srgbClr val="2E377E"/>
                </a:solidFill>
                <a:latin typeface="Times New Roman"/>
                <a:cs typeface="Times New Roman"/>
              </a:rPr>
              <a:t>pod</a:t>
            </a:r>
            <a:r>
              <a:rPr sz="3600" spc="-80" dirty="0">
                <a:solidFill>
                  <a:srgbClr val="2E377E"/>
                </a:solidFill>
                <a:latin typeface="Times New Roman"/>
                <a:cs typeface="Times New Roman"/>
              </a:rPr>
              <a:t> </a:t>
            </a:r>
            <a:r>
              <a:rPr sz="3600" spc="225" dirty="0">
                <a:solidFill>
                  <a:srgbClr val="2E377E"/>
                </a:solidFill>
                <a:latin typeface="Times New Roman"/>
                <a:cs typeface="Times New Roman"/>
              </a:rPr>
              <a:t>pod-</a:t>
            </a:r>
            <a:r>
              <a:rPr sz="3600" spc="-270" dirty="0">
                <a:solidFill>
                  <a:srgbClr val="2E377E"/>
                </a:solidFill>
                <a:latin typeface="Times New Roman"/>
                <a:cs typeface="Times New Roman"/>
              </a:rPr>
              <a:t>1</a:t>
            </a:r>
            <a:r>
              <a:rPr sz="3600" spc="-75"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160" dirty="0">
                <a:solidFill>
                  <a:srgbClr val="2E377E"/>
                </a:solidFill>
                <a:latin typeface="Times New Roman"/>
                <a:cs typeface="Times New Roman"/>
              </a:rPr>
              <a:t>o</a:t>
            </a:r>
            <a:r>
              <a:rPr sz="3600" spc="-75" dirty="0">
                <a:solidFill>
                  <a:srgbClr val="2E377E"/>
                </a:solidFill>
                <a:latin typeface="Times New Roman"/>
                <a:cs typeface="Times New Roman"/>
              </a:rPr>
              <a:t> </a:t>
            </a:r>
            <a:r>
              <a:rPr sz="3600" spc="180" dirty="0">
                <a:solidFill>
                  <a:srgbClr val="2E377E"/>
                </a:solidFill>
                <a:latin typeface="Times New Roman"/>
                <a:cs typeface="Times New Roman"/>
              </a:rPr>
              <a:t>yaml </a:t>
            </a:r>
            <a:r>
              <a:rPr sz="3600" dirty="0">
                <a:solidFill>
                  <a:srgbClr val="2E377E"/>
                </a:solidFill>
                <a:latin typeface="Georgia"/>
                <a:cs typeface="Georgia"/>
              </a:rPr>
              <a:t>To</a:t>
            </a:r>
            <a:r>
              <a:rPr sz="3600" spc="-40" dirty="0">
                <a:solidFill>
                  <a:srgbClr val="2E377E"/>
                </a:solidFill>
                <a:latin typeface="Georgia"/>
                <a:cs typeface="Georgia"/>
              </a:rPr>
              <a:t> </a:t>
            </a:r>
            <a:r>
              <a:rPr sz="3600" spc="75" dirty="0">
                <a:solidFill>
                  <a:srgbClr val="2E377E"/>
                </a:solidFill>
                <a:latin typeface="Georgia"/>
                <a:cs typeface="Georgia"/>
              </a:rPr>
              <a:t>get</a:t>
            </a:r>
            <a:r>
              <a:rPr sz="3600" spc="-40"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pod</a:t>
            </a:r>
            <a:r>
              <a:rPr sz="3600" spc="-40" dirty="0">
                <a:solidFill>
                  <a:srgbClr val="2E377E"/>
                </a:solidFill>
                <a:latin typeface="Georgia"/>
                <a:cs typeface="Georgia"/>
              </a:rPr>
              <a:t> </a:t>
            </a:r>
            <a:r>
              <a:rPr sz="3600" dirty="0">
                <a:solidFill>
                  <a:srgbClr val="2E377E"/>
                </a:solidFill>
                <a:latin typeface="Georgia"/>
                <a:cs typeface="Georgia"/>
              </a:rPr>
              <a:t>details</a:t>
            </a:r>
            <a:r>
              <a:rPr sz="3600" spc="-35" dirty="0">
                <a:solidFill>
                  <a:srgbClr val="2E377E"/>
                </a:solidFill>
                <a:latin typeface="Georgia"/>
                <a:cs typeface="Georgia"/>
              </a:rPr>
              <a:t> </a:t>
            </a:r>
            <a:r>
              <a:rPr sz="3600" dirty="0">
                <a:solidFill>
                  <a:srgbClr val="2E377E"/>
                </a:solidFill>
                <a:latin typeface="Georgia"/>
                <a:cs typeface="Georgia"/>
              </a:rPr>
              <a:t>in</a:t>
            </a:r>
            <a:r>
              <a:rPr sz="3600" spc="-40" dirty="0">
                <a:solidFill>
                  <a:srgbClr val="2E377E"/>
                </a:solidFill>
                <a:latin typeface="Georgia"/>
                <a:cs typeface="Georgia"/>
              </a:rPr>
              <a:t> </a:t>
            </a:r>
            <a:r>
              <a:rPr sz="3600" spc="-215" dirty="0">
                <a:solidFill>
                  <a:srgbClr val="2E377E"/>
                </a:solidFill>
                <a:latin typeface="Georgia"/>
                <a:cs typeface="Georgia"/>
              </a:rPr>
              <a:t>JSON</a:t>
            </a:r>
            <a:r>
              <a:rPr sz="3600" spc="-40" dirty="0">
                <a:solidFill>
                  <a:srgbClr val="2E377E"/>
                </a:solidFill>
                <a:latin typeface="Georgia"/>
                <a:cs typeface="Georgia"/>
              </a:rPr>
              <a:t> </a:t>
            </a:r>
            <a:r>
              <a:rPr sz="3600" dirty="0">
                <a:solidFill>
                  <a:srgbClr val="2E377E"/>
                </a:solidFill>
                <a:latin typeface="Georgia"/>
                <a:cs typeface="Georgia"/>
              </a:rPr>
              <a:t>format:</a:t>
            </a:r>
            <a:r>
              <a:rPr sz="3600" spc="-30" dirty="0">
                <a:solidFill>
                  <a:srgbClr val="2E377E"/>
                </a:solidFill>
                <a:latin typeface="Georgia"/>
                <a:cs typeface="Georgia"/>
              </a:rPr>
              <a:t> </a:t>
            </a:r>
            <a:r>
              <a:rPr sz="3600" spc="204" dirty="0">
                <a:solidFill>
                  <a:srgbClr val="2E377E"/>
                </a:solidFill>
                <a:latin typeface="Times New Roman"/>
                <a:cs typeface="Times New Roman"/>
              </a:rPr>
              <a:t>kubectl</a:t>
            </a:r>
            <a:r>
              <a:rPr sz="3600" spc="-70" dirty="0">
                <a:solidFill>
                  <a:srgbClr val="2E377E"/>
                </a:solidFill>
                <a:latin typeface="Times New Roman"/>
                <a:cs typeface="Times New Roman"/>
              </a:rPr>
              <a:t> </a:t>
            </a:r>
            <a:r>
              <a:rPr sz="3600" spc="204" dirty="0">
                <a:solidFill>
                  <a:srgbClr val="2E377E"/>
                </a:solidFill>
                <a:latin typeface="Times New Roman"/>
                <a:cs typeface="Times New Roman"/>
              </a:rPr>
              <a:t>get</a:t>
            </a:r>
            <a:r>
              <a:rPr sz="3600" spc="-65" dirty="0">
                <a:solidFill>
                  <a:srgbClr val="2E377E"/>
                </a:solidFill>
                <a:latin typeface="Times New Roman"/>
                <a:cs typeface="Times New Roman"/>
              </a:rPr>
              <a:t> </a:t>
            </a:r>
            <a:r>
              <a:rPr sz="3600" spc="245" dirty="0">
                <a:solidFill>
                  <a:srgbClr val="2E377E"/>
                </a:solidFill>
                <a:latin typeface="Times New Roman"/>
                <a:cs typeface="Times New Roman"/>
              </a:rPr>
              <a:t>pod</a:t>
            </a:r>
            <a:r>
              <a:rPr sz="3600" spc="-70" dirty="0">
                <a:solidFill>
                  <a:srgbClr val="2E377E"/>
                </a:solidFill>
                <a:latin typeface="Times New Roman"/>
                <a:cs typeface="Times New Roman"/>
              </a:rPr>
              <a:t> </a:t>
            </a:r>
            <a:r>
              <a:rPr sz="3600" spc="225" dirty="0">
                <a:solidFill>
                  <a:srgbClr val="2E377E"/>
                </a:solidFill>
                <a:latin typeface="Times New Roman"/>
                <a:cs typeface="Times New Roman"/>
              </a:rPr>
              <a:t>pod-</a:t>
            </a:r>
            <a:r>
              <a:rPr sz="3600" spc="-270" dirty="0">
                <a:solidFill>
                  <a:srgbClr val="2E377E"/>
                </a:solidFill>
                <a:latin typeface="Times New Roman"/>
                <a:cs typeface="Times New Roman"/>
              </a:rPr>
              <a:t>1</a:t>
            </a:r>
            <a:r>
              <a:rPr sz="3600" spc="-65"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160" dirty="0">
                <a:solidFill>
                  <a:srgbClr val="2E377E"/>
                </a:solidFill>
                <a:latin typeface="Times New Roman"/>
                <a:cs typeface="Times New Roman"/>
              </a:rPr>
              <a:t>o</a:t>
            </a:r>
            <a:r>
              <a:rPr sz="3600" spc="-70" dirty="0">
                <a:solidFill>
                  <a:srgbClr val="2E377E"/>
                </a:solidFill>
                <a:latin typeface="Times New Roman"/>
                <a:cs typeface="Times New Roman"/>
              </a:rPr>
              <a:t> </a:t>
            </a:r>
            <a:r>
              <a:rPr sz="3600" spc="170" dirty="0">
                <a:solidFill>
                  <a:srgbClr val="2E377E"/>
                </a:solidFill>
                <a:latin typeface="Times New Roman"/>
                <a:cs typeface="Times New Roman"/>
              </a:rPr>
              <a:t>json </a:t>
            </a:r>
            <a:r>
              <a:rPr sz="3600" dirty="0">
                <a:solidFill>
                  <a:srgbClr val="2E377E"/>
                </a:solidFill>
                <a:latin typeface="Georgia"/>
                <a:cs typeface="Georgia"/>
              </a:rPr>
              <a:t>To</a:t>
            </a:r>
            <a:r>
              <a:rPr sz="3600" spc="-70" dirty="0">
                <a:solidFill>
                  <a:srgbClr val="2E377E"/>
                </a:solidFill>
                <a:latin typeface="Georgia"/>
                <a:cs typeface="Georgia"/>
              </a:rPr>
              <a:t> </a:t>
            </a:r>
            <a:r>
              <a:rPr sz="3600" spc="65" dirty="0">
                <a:solidFill>
                  <a:srgbClr val="2E377E"/>
                </a:solidFill>
                <a:latin typeface="Georgia"/>
                <a:cs typeface="Georgia"/>
              </a:rPr>
              <a:t>enter</a:t>
            </a:r>
            <a:r>
              <a:rPr sz="3600" spc="-65" dirty="0">
                <a:solidFill>
                  <a:srgbClr val="2E377E"/>
                </a:solidFill>
                <a:latin typeface="Georgia"/>
                <a:cs typeface="Georgia"/>
              </a:rPr>
              <a:t> </a:t>
            </a:r>
            <a:r>
              <a:rPr sz="3600" dirty="0">
                <a:solidFill>
                  <a:srgbClr val="2E377E"/>
                </a:solidFill>
                <a:latin typeface="Georgia"/>
                <a:cs typeface="Georgia"/>
              </a:rPr>
              <a:t>into</a:t>
            </a:r>
            <a:r>
              <a:rPr sz="3600" spc="-65" dirty="0">
                <a:solidFill>
                  <a:srgbClr val="2E377E"/>
                </a:solidFill>
                <a:latin typeface="Georgia"/>
                <a:cs typeface="Georgia"/>
              </a:rPr>
              <a:t> </a:t>
            </a:r>
            <a:r>
              <a:rPr sz="3600" dirty="0">
                <a:solidFill>
                  <a:srgbClr val="2E377E"/>
                </a:solidFill>
                <a:latin typeface="Georgia"/>
                <a:cs typeface="Georgia"/>
              </a:rPr>
              <a:t>a</a:t>
            </a:r>
            <a:r>
              <a:rPr sz="3600" spc="-65" dirty="0">
                <a:solidFill>
                  <a:srgbClr val="2E377E"/>
                </a:solidFill>
                <a:latin typeface="Georgia"/>
                <a:cs typeface="Georgia"/>
              </a:rPr>
              <a:t> </a:t>
            </a:r>
            <a:r>
              <a:rPr sz="3600" spc="-10" dirty="0">
                <a:solidFill>
                  <a:srgbClr val="2E377E"/>
                </a:solidFill>
                <a:latin typeface="Georgia"/>
                <a:cs typeface="Georgia"/>
              </a:rPr>
              <a:t>pod:</a:t>
            </a:r>
            <a:r>
              <a:rPr sz="3600" spc="-65" dirty="0">
                <a:solidFill>
                  <a:srgbClr val="2E377E"/>
                </a:solidFill>
                <a:latin typeface="Georgia"/>
                <a:cs typeface="Georgia"/>
              </a:rPr>
              <a:t> </a:t>
            </a:r>
            <a:r>
              <a:rPr sz="3600" spc="204" dirty="0">
                <a:solidFill>
                  <a:srgbClr val="2E377E"/>
                </a:solidFill>
                <a:latin typeface="Times New Roman"/>
                <a:cs typeface="Times New Roman"/>
              </a:rPr>
              <a:t>kubectl</a:t>
            </a:r>
            <a:r>
              <a:rPr sz="3600" spc="-100" dirty="0">
                <a:solidFill>
                  <a:srgbClr val="2E377E"/>
                </a:solidFill>
                <a:latin typeface="Times New Roman"/>
                <a:cs typeface="Times New Roman"/>
              </a:rPr>
              <a:t> </a:t>
            </a:r>
            <a:r>
              <a:rPr sz="3600" spc="155" dirty="0">
                <a:solidFill>
                  <a:srgbClr val="2E377E"/>
                </a:solidFill>
                <a:latin typeface="Times New Roman"/>
                <a:cs typeface="Times New Roman"/>
              </a:rPr>
              <a:t>exec</a:t>
            </a:r>
            <a:r>
              <a:rPr sz="3600" spc="-95"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210" dirty="0">
                <a:solidFill>
                  <a:srgbClr val="2E377E"/>
                </a:solidFill>
                <a:latin typeface="Times New Roman"/>
                <a:cs typeface="Times New Roman"/>
              </a:rPr>
              <a:t>it</a:t>
            </a:r>
            <a:r>
              <a:rPr sz="3600" spc="-95" dirty="0">
                <a:solidFill>
                  <a:srgbClr val="2E377E"/>
                </a:solidFill>
                <a:latin typeface="Times New Roman"/>
                <a:cs typeface="Times New Roman"/>
              </a:rPr>
              <a:t> </a:t>
            </a:r>
            <a:r>
              <a:rPr sz="3600" spc="305" dirty="0">
                <a:solidFill>
                  <a:srgbClr val="2E377E"/>
                </a:solidFill>
                <a:latin typeface="Times New Roman"/>
                <a:cs typeface="Times New Roman"/>
              </a:rPr>
              <a:t>pod_name</a:t>
            </a:r>
            <a:r>
              <a:rPr sz="3600" spc="-95"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95" dirty="0">
                <a:solidFill>
                  <a:srgbClr val="2E377E"/>
                </a:solidFill>
                <a:latin typeface="Times New Roman"/>
                <a:cs typeface="Times New Roman"/>
              </a:rPr>
              <a:t>c</a:t>
            </a:r>
            <a:r>
              <a:rPr sz="3600" spc="-95" dirty="0">
                <a:solidFill>
                  <a:srgbClr val="2E377E"/>
                </a:solidFill>
                <a:latin typeface="Times New Roman"/>
                <a:cs typeface="Times New Roman"/>
              </a:rPr>
              <a:t> </a:t>
            </a:r>
            <a:r>
              <a:rPr sz="3600" spc="300" dirty="0">
                <a:solidFill>
                  <a:srgbClr val="2E377E"/>
                </a:solidFill>
                <a:latin typeface="Times New Roman"/>
                <a:cs typeface="Times New Roman"/>
              </a:rPr>
              <a:t>cont_name</a:t>
            </a:r>
            <a:r>
              <a:rPr sz="3600" spc="-95" dirty="0">
                <a:solidFill>
                  <a:srgbClr val="2E377E"/>
                </a:solidFill>
                <a:latin typeface="Times New Roman"/>
                <a:cs typeface="Times New Roman"/>
              </a:rPr>
              <a:t> </a:t>
            </a:r>
            <a:r>
              <a:rPr sz="3600" spc="200" dirty="0">
                <a:solidFill>
                  <a:srgbClr val="2E377E"/>
                </a:solidFill>
                <a:latin typeface="Times New Roman"/>
                <a:cs typeface="Times New Roman"/>
              </a:rPr>
              <a:t>bash </a:t>
            </a:r>
            <a:r>
              <a:rPr sz="3600" dirty="0">
                <a:solidFill>
                  <a:srgbClr val="2E377E"/>
                </a:solidFill>
                <a:latin typeface="Georgia"/>
                <a:cs typeface="Georgia"/>
              </a:rPr>
              <a:t>To</a:t>
            </a:r>
            <a:r>
              <a:rPr sz="3600" spc="-35" dirty="0">
                <a:solidFill>
                  <a:srgbClr val="2E377E"/>
                </a:solidFill>
                <a:latin typeface="Georgia"/>
                <a:cs typeface="Georgia"/>
              </a:rPr>
              <a:t> </a:t>
            </a:r>
            <a:r>
              <a:rPr sz="3600" spc="75" dirty="0">
                <a:solidFill>
                  <a:srgbClr val="2E377E"/>
                </a:solidFill>
                <a:latin typeface="Georgia"/>
                <a:cs typeface="Georgia"/>
              </a:rPr>
              <a:t>get</a:t>
            </a:r>
            <a:r>
              <a:rPr sz="3600" spc="-35"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logging</a:t>
            </a:r>
            <a:r>
              <a:rPr sz="3600" spc="-35" dirty="0">
                <a:solidFill>
                  <a:srgbClr val="2E377E"/>
                </a:solidFill>
                <a:latin typeface="Georgia"/>
                <a:cs typeface="Georgia"/>
              </a:rPr>
              <a:t> </a:t>
            </a:r>
            <a:r>
              <a:rPr sz="3600" dirty="0">
                <a:solidFill>
                  <a:srgbClr val="2E377E"/>
                </a:solidFill>
                <a:latin typeface="Georgia"/>
                <a:cs typeface="Georgia"/>
              </a:rPr>
              <a:t>info</a:t>
            </a:r>
            <a:r>
              <a:rPr sz="3600" spc="-35" dirty="0">
                <a:solidFill>
                  <a:srgbClr val="2E377E"/>
                </a:solidFill>
                <a:latin typeface="Georgia"/>
                <a:cs typeface="Georgia"/>
              </a:rPr>
              <a:t> </a:t>
            </a:r>
            <a:r>
              <a:rPr sz="3600" dirty="0">
                <a:solidFill>
                  <a:srgbClr val="2E377E"/>
                </a:solidFill>
                <a:latin typeface="Georgia"/>
                <a:cs typeface="Georgia"/>
              </a:rPr>
              <a:t>of</a:t>
            </a:r>
            <a:r>
              <a:rPr sz="3600" spc="-35" dirty="0">
                <a:solidFill>
                  <a:srgbClr val="2E377E"/>
                </a:solidFill>
                <a:latin typeface="Georgia"/>
                <a:cs typeface="Georgia"/>
              </a:rPr>
              <a:t> </a:t>
            </a:r>
            <a:r>
              <a:rPr sz="3600" dirty="0">
                <a:solidFill>
                  <a:srgbClr val="2E377E"/>
                </a:solidFill>
                <a:latin typeface="Georgia"/>
                <a:cs typeface="Georgia"/>
              </a:rPr>
              <a:t>our</a:t>
            </a:r>
            <a:r>
              <a:rPr sz="3600" spc="-35" dirty="0">
                <a:solidFill>
                  <a:srgbClr val="2E377E"/>
                </a:solidFill>
                <a:latin typeface="Georgia"/>
                <a:cs typeface="Georgia"/>
              </a:rPr>
              <a:t> </a:t>
            </a:r>
            <a:r>
              <a:rPr sz="3600" spc="-10" dirty="0">
                <a:solidFill>
                  <a:srgbClr val="2E377E"/>
                </a:solidFill>
                <a:latin typeface="Georgia"/>
                <a:cs typeface="Georgia"/>
              </a:rPr>
              <a:t>pod:</a:t>
            </a:r>
            <a:r>
              <a:rPr sz="3600" spc="-30" dirty="0">
                <a:solidFill>
                  <a:srgbClr val="2E377E"/>
                </a:solidFill>
                <a:latin typeface="Georgia"/>
                <a:cs typeface="Georgia"/>
              </a:rPr>
              <a:t> </a:t>
            </a:r>
            <a:r>
              <a:rPr sz="3600" spc="204" dirty="0">
                <a:solidFill>
                  <a:srgbClr val="2E377E"/>
                </a:solidFill>
                <a:latin typeface="Times New Roman"/>
                <a:cs typeface="Times New Roman"/>
              </a:rPr>
              <a:t>kubectl</a:t>
            </a:r>
            <a:r>
              <a:rPr sz="3600" spc="-65" dirty="0">
                <a:solidFill>
                  <a:srgbClr val="2E377E"/>
                </a:solidFill>
                <a:latin typeface="Times New Roman"/>
                <a:cs typeface="Times New Roman"/>
              </a:rPr>
              <a:t> </a:t>
            </a:r>
            <a:r>
              <a:rPr sz="3600" spc="105" dirty="0">
                <a:solidFill>
                  <a:srgbClr val="2E377E"/>
                </a:solidFill>
                <a:latin typeface="Times New Roman"/>
                <a:cs typeface="Times New Roman"/>
              </a:rPr>
              <a:t>logs</a:t>
            </a:r>
            <a:r>
              <a:rPr sz="3600" spc="-65" dirty="0">
                <a:solidFill>
                  <a:srgbClr val="2E377E"/>
                </a:solidFill>
                <a:latin typeface="Times New Roman"/>
                <a:cs typeface="Times New Roman"/>
              </a:rPr>
              <a:t> </a:t>
            </a:r>
            <a:r>
              <a:rPr sz="3600" spc="295" dirty="0">
                <a:solidFill>
                  <a:srgbClr val="2E377E"/>
                </a:solidFill>
                <a:latin typeface="Times New Roman"/>
                <a:cs typeface="Times New Roman"/>
              </a:rPr>
              <a:t>pod_name</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To</a:t>
            </a:r>
            <a:r>
              <a:rPr sz="3600" spc="-20" dirty="0">
                <a:solidFill>
                  <a:srgbClr val="2E377E"/>
                </a:solidFill>
                <a:latin typeface="Georgia"/>
                <a:cs typeface="Georgia"/>
              </a:rPr>
              <a:t> </a:t>
            </a:r>
            <a:r>
              <a:rPr sz="3600" spc="75" dirty="0">
                <a:solidFill>
                  <a:srgbClr val="2E377E"/>
                </a:solidFill>
                <a:latin typeface="Georgia"/>
                <a:cs typeface="Georgia"/>
              </a:rPr>
              <a:t>get</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logs</a:t>
            </a:r>
            <a:r>
              <a:rPr sz="3600" spc="-20"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dirty="0">
                <a:solidFill>
                  <a:srgbClr val="2E377E"/>
                </a:solidFill>
                <a:latin typeface="Georgia"/>
                <a:cs typeface="Georgia"/>
              </a:rPr>
              <a:t>containers</a:t>
            </a:r>
            <a:r>
              <a:rPr sz="3600" spc="-20" dirty="0">
                <a:solidFill>
                  <a:srgbClr val="2E377E"/>
                </a:solidFill>
                <a:latin typeface="Georgia"/>
                <a:cs typeface="Georgia"/>
              </a:rPr>
              <a:t> </a:t>
            </a:r>
            <a:r>
              <a:rPr sz="3600" dirty="0">
                <a:solidFill>
                  <a:srgbClr val="2E377E"/>
                </a:solidFill>
                <a:latin typeface="Georgia"/>
                <a:cs typeface="Georgia"/>
              </a:rPr>
              <a:t>inside</a:t>
            </a:r>
            <a:r>
              <a:rPr sz="3600" spc="-2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spc="-10" dirty="0">
                <a:solidFill>
                  <a:srgbClr val="2E377E"/>
                </a:solidFill>
                <a:latin typeface="Georgia"/>
                <a:cs typeface="Georgia"/>
              </a:rPr>
              <a:t>pod:</a:t>
            </a:r>
            <a:r>
              <a:rPr sz="3600" spc="-20" dirty="0">
                <a:solidFill>
                  <a:srgbClr val="2E377E"/>
                </a:solidFill>
                <a:latin typeface="Georgia"/>
                <a:cs typeface="Georgia"/>
              </a:rPr>
              <a:t> </a:t>
            </a:r>
            <a:r>
              <a:rPr sz="3600" spc="204" dirty="0">
                <a:solidFill>
                  <a:srgbClr val="2E377E"/>
                </a:solidFill>
                <a:latin typeface="Times New Roman"/>
                <a:cs typeface="Times New Roman"/>
              </a:rPr>
              <a:t>kubectl</a:t>
            </a:r>
            <a:r>
              <a:rPr sz="3600" spc="-50" dirty="0">
                <a:solidFill>
                  <a:srgbClr val="2E377E"/>
                </a:solidFill>
                <a:latin typeface="Times New Roman"/>
                <a:cs typeface="Times New Roman"/>
              </a:rPr>
              <a:t> </a:t>
            </a:r>
            <a:r>
              <a:rPr sz="3600" spc="105" dirty="0">
                <a:solidFill>
                  <a:srgbClr val="2E377E"/>
                </a:solidFill>
                <a:latin typeface="Times New Roman"/>
                <a:cs typeface="Times New Roman"/>
              </a:rPr>
              <a:t>logs</a:t>
            </a:r>
            <a:r>
              <a:rPr sz="3600" spc="-50" dirty="0">
                <a:solidFill>
                  <a:srgbClr val="2E377E"/>
                </a:solidFill>
                <a:latin typeface="Times New Roman"/>
                <a:cs typeface="Times New Roman"/>
              </a:rPr>
              <a:t> </a:t>
            </a:r>
            <a:r>
              <a:rPr sz="3600" spc="305" dirty="0">
                <a:solidFill>
                  <a:srgbClr val="2E377E"/>
                </a:solidFill>
                <a:latin typeface="Times New Roman"/>
                <a:cs typeface="Times New Roman"/>
              </a:rPr>
              <a:t>pod_name</a:t>
            </a:r>
            <a:r>
              <a:rPr sz="3600" spc="-50"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95" dirty="0">
                <a:solidFill>
                  <a:srgbClr val="2E377E"/>
                </a:solidFill>
                <a:latin typeface="Times New Roman"/>
                <a:cs typeface="Times New Roman"/>
              </a:rPr>
              <a:t>c</a:t>
            </a:r>
            <a:r>
              <a:rPr sz="3600" spc="-45" dirty="0">
                <a:solidFill>
                  <a:srgbClr val="2E377E"/>
                </a:solidFill>
                <a:latin typeface="Times New Roman"/>
                <a:cs typeface="Times New Roman"/>
              </a:rPr>
              <a:t> </a:t>
            </a:r>
            <a:r>
              <a:rPr sz="3600" spc="225" dirty="0">
                <a:solidFill>
                  <a:srgbClr val="2E377E"/>
                </a:solidFill>
                <a:latin typeface="Times New Roman"/>
                <a:cs typeface="Times New Roman"/>
              </a:rPr>
              <a:t>cont-</a:t>
            </a:r>
            <a:r>
              <a:rPr sz="3600" spc="265" dirty="0">
                <a:solidFill>
                  <a:srgbClr val="2E377E"/>
                </a:solidFill>
                <a:latin typeface="Times New Roman"/>
                <a:cs typeface="Times New Roman"/>
              </a:rPr>
              <a:t>name</a:t>
            </a:r>
            <a:endParaRPr sz="3600">
              <a:latin typeface="Times New Roman"/>
              <a:cs typeface="Times New Roman"/>
            </a:endParaRPr>
          </a:p>
        </p:txBody>
      </p:sp>
      <p:pic>
        <p:nvPicPr>
          <p:cNvPr id="5" name="object 5"/>
          <p:cNvPicPr/>
          <p:nvPr/>
        </p:nvPicPr>
        <p:blipFill>
          <a:blip r:embed="rId2" cstate="print"/>
          <a:stretch>
            <a:fillRect/>
          </a:stretch>
        </p:blipFill>
        <p:spPr>
          <a:xfrm>
            <a:off x="832524" y="2823105"/>
            <a:ext cx="133350" cy="133349"/>
          </a:xfrm>
          <a:prstGeom prst="rect">
            <a:avLst/>
          </a:prstGeom>
        </p:spPr>
      </p:pic>
      <p:pic>
        <p:nvPicPr>
          <p:cNvPr id="6" name="object 6"/>
          <p:cNvPicPr/>
          <p:nvPr/>
        </p:nvPicPr>
        <p:blipFill>
          <a:blip r:embed="rId2" cstate="print"/>
          <a:stretch>
            <a:fillRect/>
          </a:stretch>
        </p:blipFill>
        <p:spPr>
          <a:xfrm>
            <a:off x="832524" y="3461280"/>
            <a:ext cx="133350" cy="133349"/>
          </a:xfrm>
          <a:prstGeom prst="rect">
            <a:avLst/>
          </a:prstGeom>
        </p:spPr>
      </p:pic>
      <p:pic>
        <p:nvPicPr>
          <p:cNvPr id="7" name="object 7"/>
          <p:cNvPicPr/>
          <p:nvPr/>
        </p:nvPicPr>
        <p:blipFill>
          <a:blip r:embed="rId2" cstate="print"/>
          <a:stretch>
            <a:fillRect/>
          </a:stretch>
        </p:blipFill>
        <p:spPr>
          <a:xfrm>
            <a:off x="832524" y="4099455"/>
            <a:ext cx="133350" cy="133349"/>
          </a:xfrm>
          <a:prstGeom prst="rect">
            <a:avLst/>
          </a:prstGeom>
        </p:spPr>
      </p:pic>
      <p:pic>
        <p:nvPicPr>
          <p:cNvPr id="8" name="object 8"/>
          <p:cNvPicPr/>
          <p:nvPr/>
        </p:nvPicPr>
        <p:blipFill>
          <a:blip r:embed="rId2" cstate="print"/>
          <a:stretch>
            <a:fillRect/>
          </a:stretch>
        </p:blipFill>
        <p:spPr>
          <a:xfrm>
            <a:off x="832524" y="4737630"/>
            <a:ext cx="133350" cy="133349"/>
          </a:xfrm>
          <a:prstGeom prst="rect">
            <a:avLst/>
          </a:prstGeom>
        </p:spPr>
      </p:pic>
      <p:pic>
        <p:nvPicPr>
          <p:cNvPr id="9" name="object 9"/>
          <p:cNvPicPr/>
          <p:nvPr/>
        </p:nvPicPr>
        <p:blipFill>
          <a:blip r:embed="rId2" cstate="print"/>
          <a:stretch>
            <a:fillRect/>
          </a:stretch>
        </p:blipFill>
        <p:spPr>
          <a:xfrm>
            <a:off x="832524" y="5375805"/>
            <a:ext cx="133350" cy="133349"/>
          </a:xfrm>
          <a:prstGeom prst="rect">
            <a:avLst/>
          </a:prstGeom>
        </p:spPr>
      </p:pic>
      <p:pic>
        <p:nvPicPr>
          <p:cNvPr id="10" name="object 10"/>
          <p:cNvPicPr/>
          <p:nvPr/>
        </p:nvPicPr>
        <p:blipFill>
          <a:blip r:embed="rId2" cstate="print"/>
          <a:stretch>
            <a:fillRect/>
          </a:stretch>
        </p:blipFill>
        <p:spPr>
          <a:xfrm>
            <a:off x="832524" y="6013980"/>
            <a:ext cx="133350" cy="133349"/>
          </a:xfrm>
          <a:prstGeom prst="rect">
            <a:avLst/>
          </a:prstGeom>
        </p:spPr>
      </p:pic>
      <p:pic>
        <p:nvPicPr>
          <p:cNvPr id="11" name="object 11"/>
          <p:cNvPicPr/>
          <p:nvPr/>
        </p:nvPicPr>
        <p:blipFill>
          <a:blip r:embed="rId2" cstate="print"/>
          <a:stretch>
            <a:fillRect/>
          </a:stretch>
        </p:blipFill>
        <p:spPr>
          <a:xfrm>
            <a:off x="832524" y="6652155"/>
            <a:ext cx="133350" cy="133349"/>
          </a:xfrm>
          <a:prstGeom prst="rect">
            <a:avLst/>
          </a:prstGeom>
        </p:spPr>
      </p:pic>
      <p:pic>
        <p:nvPicPr>
          <p:cNvPr id="12" name="object 12"/>
          <p:cNvPicPr/>
          <p:nvPr/>
        </p:nvPicPr>
        <p:blipFill>
          <a:blip r:embed="rId2" cstate="print"/>
          <a:stretch>
            <a:fillRect/>
          </a:stretch>
        </p:blipFill>
        <p:spPr>
          <a:xfrm>
            <a:off x="832524" y="7290330"/>
            <a:ext cx="133350" cy="133349"/>
          </a:xfrm>
          <a:prstGeom prst="rect">
            <a:avLst/>
          </a:prstGeom>
        </p:spPr>
      </p:pic>
      <p:pic>
        <p:nvPicPr>
          <p:cNvPr id="13" name="object 13"/>
          <p:cNvPicPr/>
          <p:nvPr/>
        </p:nvPicPr>
        <p:blipFill>
          <a:blip r:embed="rId3" cstate="print"/>
          <a:stretch>
            <a:fillRect/>
          </a:stretch>
        </p:blipFill>
        <p:spPr>
          <a:xfrm>
            <a:off x="832524" y="7928505"/>
            <a:ext cx="133350" cy="133349"/>
          </a:xfrm>
          <a:prstGeom prst="rect">
            <a:avLst/>
          </a:prstGeom>
        </p:spPr>
      </p:pic>
      <p:pic>
        <p:nvPicPr>
          <p:cNvPr id="14" name="object 14"/>
          <p:cNvPicPr/>
          <p:nvPr/>
        </p:nvPicPr>
        <p:blipFill>
          <a:blip r:embed="rId2" cstate="print"/>
          <a:stretch>
            <a:fillRect/>
          </a:stretch>
        </p:blipFill>
        <p:spPr>
          <a:xfrm>
            <a:off x="832524" y="8566680"/>
            <a:ext cx="133350" cy="13334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6316" y="340445"/>
            <a:ext cx="9678670" cy="787400"/>
          </a:xfrm>
          <a:prstGeom prst="rect">
            <a:avLst/>
          </a:prstGeom>
        </p:spPr>
        <p:txBody>
          <a:bodyPr vert="horz" wrap="square" lIns="0" tIns="12700" rIns="0" bIns="0" rtlCol="0">
            <a:spAutoFit/>
          </a:bodyPr>
          <a:lstStyle/>
          <a:p>
            <a:pPr marL="12700">
              <a:lnSpc>
                <a:spcPct val="100000"/>
              </a:lnSpc>
              <a:spcBef>
                <a:spcPts val="100"/>
              </a:spcBef>
            </a:pPr>
            <a:r>
              <a:rPr spc="-260" dirty="0">
                <a:solidFill>
                  <a:srgbClr val="FF3131"/>
                </a:solidFill>
              </a:rPr>
              <a:t>KUBERNETES</a:t>
            </a:r>
            <a:r>
              <a:rPr spc="-40" dirty="0">
                <a:solidFill>
                  <a:srgbClr val="FF3131"/>
                </a:solidFill>
              </a:rPr>
              <a:t> </a:t>
            </a:r>
            <a:r>
              <a:rPr spc="-254" dirty="0">
                <a:solidFill>
                  <a:srgbClr val="FF3131"/>
                </a:solidFill>
              </a:rPr>
              <a:t>METRICS</a:t>
            </a:r>
            <a:r>
              <a:rPr spc="-35" dirty="0">
                <a:solidFill>
                  <a:srgbClr val="FF3131"/>
                </a:solidFill>
              </a:rPr>
              <a:t> </a:t>
            </a:r>
            <a:r>
              <a:rPr spc="-300" dirty="0">
                <a:solidFill>
                  <a:srgbClr val="FF3131"/>
                </a:solidFill>
              </a:rPr>
              <a:t>SERVER:</a:t>
            </a:r>
          </a:p>
        </p:txBody>
      </p:sp>
      <p:pic>
        <p:nvPicPr>
          <p:cNvPr id="3" name="object 3"/>
          <p:cNvPicPr/>
          <p:nvPr/>
        </p:nvPicPr>
        <p:blipFill>
          <a:blip r:embed="rId2" cstate="print"/>
          <a:stretch>
            <a:fillRect/>
          </a:stretch>
        </p:blipFill>
        <p:spPr>
          <a:xfrm>
            <a:off x="1476374" y="1570775"/>
            <a:ext cx="133350" cy="133349"/>
          </a:xfrm>
          <a:prstGeom prst="rect">
            <a:avLst/>
          </a:prstGeom>
        </p:spPr>
      </p:pic>
      <p:pic>
        <p:nvPicPr>
          <p:cNvPr id="4" name="object 4"/>
          <p:cNvPicPr/>
          <p:nvPr/>
        </p:nvPicPr>
        <p:blipFill>
          <a:blip r:embed="rId2" cstate="print"/>
          <a:stretch>
            <a:fillRect/>
          </a:stretch>
        </p:blipFill>
        <p:spPr>
          <a:xfrm>
            <a:off x="1476374" y="2847125"/>
            <a:ext cx="133350" cy="133349"/>
          </a:xfrm>
          <a:prstGeom prst="rect">
            <a:avLst/>
          </a:prstGeom>
        </p:spPr>
      </p:pic>
      <p:sp>
        <p:nvSpPr>
          <p:cNvPr id="5" name="object 5"/>
          <p:cNvSpPr txBox="1"/>
          <p:nvPr/>
        </p:nvSpPr>
        <p:spPr>
          <a:xfrm>
            <a:off x="516316" y="1211366"/>
            <a:ext cx="16336010" cy="8455025"/>
          </a:xfrm>
          <a:prstGeom prst="rect">
            <a:avLst/>
          </a:prstGeom>
        </p:spPr>
        <p:txBody>
          <a:bodyPr vert="horz" wrap="square" lIns="0" tIns="12700" rIns="0" bIns="0" rtlCol="0">
            <a:spAutoFit/>
          </a:bodyPr>
          <a:lstStyle/>
          <a:p>
            <a:pPr marL="1289050" marR="1087755">
              <a:lnSpc>
                <a:spcPct val="116300"/>
              </a:lnSpc>
              <a:spcBef>
                <a:spcPts val="100"/>
              </a:spcBef>
            </a:pPr>
            <a:r>
              <a:rPr sz="3600" dirty="0">
                <a:solidFill>
                  <a:srgbClr val="2E377E"/>
                </a:solidFill>
                <a:latin typeface="Georgia"/>
                <a:cs typeface="Georgia"/>
              </a:rPr>
              <a:t>It is</a:t>
            </a:r>
            <a:r>
              <a:rPr sz="3600" spc="5" dirty="0">
                <a:solidFill>
                  <a:srgbClr val="2E377E"/>
                </a:solidFill>
                <a:latin typeface="Georgia"/>
                <a:cs typeface="Georgia"/>
              </a:rPr>
              <a:t> </a:t>
            </a:r>
            <a:r>
              <a:rPr sz="3600" dirty="0">
                <a:solidFill>
                  <a:srgbClr val="2E377E"/>
                </a:solidFill>
                <a:latin typeface="Georgia"/>
                <a:cs typeface="Georgia"/>
              </a:rPr>
              <a:t>used</a:t>
            </a:r>
            <a:r>
              <a:rPr sz="3600" spc="5" dirty="0">
                <a:solidFill>
                  <a:srgbClr val="2E377E"/>
                </a:solidFill>
                <a:latin typeface="Georgia"/>
                <a:cs typeface="Georgia"/>
              </a:rPr>
              <a:t> </a:t>
            </a:r>
            <a:r>
              <a:rPr sz="3600" spc="6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monitor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Kubernetes</a:t>
            </a:r>
            <a:r>
              <a:rPr sz="3600" spc="5" dirty="0">
                <a:solidFill>
                  <a:srgbClr val="2E377E"/>
                </a:solidFill>
                <a:latin typeface="Georgia"/>
                <a:cs typeface="Georgia"/>
              </a:rPr>
              <a:t> </a:t>
            </a:r>
            <a:r>
              <a:rPr sz="3600" dirty="0">
                <a:solidFill>
                  <a:srgbClr val="2E377E"/>
                </a:solidFill>
                <a:latin typeface="Georgia"/>
                <a:cs typeface="Georgia"/>
              </a:rPr>
              <a:t>components</a:t>
            </a:r>
            <a:r>
              <a:rPr sz="3600" spc="5" dirty="0">
                <a:solidFill>
                  <a:srgbClr val="2E377E"/>
                </a:solidFill>
                <a:latin typeface="Georgia"/>
                <a:cs typeface="Georgia"/>
              </a:rPr>
              <a:t> </a:t>
            </a:r>
            <a:r>
              <a:rPr sz="3600" dirty="0">
                <a:solidFill>
                  <a:srgbClr val="2E377E"/>
                </a:solidFill>
                <a:latin typeface="Georgia"/>
                <a:cs typeface="Georgia"/>
              </a:rPr>
              <a:t>like </a:t>
            </a:r>
            <a:r>
              <a:rPr sz="3600" spc="-10" dirty="0">
                <a:solidFill>
                  <a:srgbClr val="2E377E"/>
                </a:solidFill>
                <a:latin typeface="Georgia"/>
                <a:cs typeface="Georgia"/>
              </a:rPr>
              <a:t>Pods,</a:t>
            </a:r>
            <a:r>
              <a:rPr sz="3600" spc="5" dirty="0">
                <a:solidFill>
                  <a:srgbClr val="2E377E"/>
                </a:solidFill>
                <a:latin typeface="Georgia"/>
                <a:cs typeface="Georgia"/>
              </a:rPr>
              <a:t> </a:t>
            </a:r>
            <a:r>
              <a:rPr sz="3600" dirty="0">
                <a:solidFill>
                  <a:srgbClr val="2E377E"/>
                </a:solidFill>
                <a:latin typeface="Georgia"/>
                <a:cs typeface="Georgia"/>
              </a:rPr>
              <a:t>Nodes</a:t>
            </a:r>
            <a:r>
              <a:rPr sz="3600" spc="5" dirty="0">
                <a:solidFill>
                  <a:srgbClr val="2E377E"/>
                </a:solidFill>
                <a:latin typeface="Georgia"/>
                <a:cs typeface="Georgia"/>
              </a:rPr>
              <a:t> </a:t>
            </a:r>
            <a:r>
              <a:rPr sz="3600" spc="640" dirty="0">
                <a:solidFill>
                  <a:srgbClr val="2E377E"/>
                </a:solidFill>
                <a:latin typeface="Georgia"/>
                <a:cs typeface="Georgia"/>
              </a:rPr>
              <a:t>&amp; </a:t>
            </a:r>
            <a:r>
              <a:rPr sz="3600" dirty="0">
                <a:solidFill>
                  <a:srgbClr val="2E377E"/>
                </a:solidFill>
                <a:latin typeface="Georgia"/>
                <a:cs typeface="Georgia"/>
              </a:rPr>
              <a:t>Deployments</a:t>
            </a:r>
            <a:r>
              <a:rPr sz="3600" spc="260" dirty="0">
                <a:solidFill>
                  <a:srgbClr val="2E377E"/>
                </a:solidFill>
                <a:latin typeface="Georgia"/>
                <a:cs typeface="Georgia"/>
              </a:rPr>
              <a:t> </a:t>
            </a:r>
            <a:r>
              <a:rPr sz="3600" spc="-10" dirty="0">
                <a:solidFill>
                  <a:srgbClr val="2E377E"/>
                </a:solidFill>
                <a:latin typeface="Georgia"/>
                <a:cs typeface="Georgia"/>
              </a:rPr>
              <a:t>etc...</a:t>
            </a:r>
            <a:endParaRPr sz="3600">
              <a:latin typeface="Georgia"/>
              <a:cs typeface="Georgia"/>
            </a:endParaRPr>
          </a:p>
          <a:p>
            <a:pPr marL="1289050" marR="297180">
              <a:lnSpc>
                <a:spcPct val="116300"/>
              </a:lnSpc>
            </a:pPr>
            <a:r>
              <a:rPr sz="360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Kubernetes</a:t>
            </a:r>
            <a:r>
              <a:rPr sz="3600" spc="15" dirty="0">
                <a:solidFill>
                  <a:srgbClr val="2E377E"/>
                </a:solidFill>
                <a:latin typeface="Georgia"/>
                <a:cs typeface="Georgia"/>
              </a:rPr>
              <a:t> </a:t>
            </a:r>
            <a:r>
              <a:rPr sz="3600" dirty="0">
                <a:solidFill>
                  <a:srgbClr val="2E377E"/>
                </a:solidFill>
                <a:latin typeface="Georgia"/>
                <a:cs typeface="Georgia"/>
              </a:rPr>
              <a:t>Metrics</a:t>
            </a:r>
            <a:r>
              <a:rPr sz="3600" spc="15" dirty="0">
                <a:solidFill>
                  <a:srgbClr val="2E377E"/>
                </a:solidFill>
                <a:latin typeface="Georgia"/>
                <a:cs typeface="Georgia"/>
              </a:rPr>
              <a:t> </a:t>
            </a:r>
            <a:r>
              <a:rPr sz="3600" dirty="0">
                <a:solidFill>
                  <a:srgbClr val="2E377E"/>
                </a:solidFill>
                <a:latin typeface="Georgia"/>
                <a:cs typeface="Georgia"/>
              </a:rPr>
              <a:t>Server</a:t>
            </a:r>
            <a:r>
              <a:rPr sz="3600" spc="15" dirty="0">
                <a:solidFill>
                  <a:srgbClr val="2E377E"/>
                </a:solidFill>
                <a:latin typeface="Georgia"/>
                <a:cs typeface="Georgia"/>
              </a:rPr>
              <a:t> </a:t>
            </a:r>
            <a:r>
              <a:rPr sz="3600" dirty="0">
                <a:solidFill>
                  <a:srgbClr val="2E377E"/>
                </a:solidFill>
                <a:latin typeface="Georgia"/>
                <a:cs typeface="Georgia"/>
              </a:rPr>
              <a:t>measures</a:t>
            </a:r>
            <a:r>
              <a:rPr sz="3600" spc="15" dirty="0">
                <a:solidFill>
                  <a:srgbClr val="2E377E"/>
                </a:solidFill>
                <a:latin typeface="Georgia"/>
                <a:cs typeface="Georgia"/>
              </a:rPr>
              <a:t> </a:t>
            </a:r>
            <a:r>
              <a:rPr sz="3600" spc="-55" dirty="0">
                <a:solidFill>
                  <a:srgbClr val="2E377E"/>
                </a:solidFill>
                <a:latin typeface="Georgia"/>
                <a:cs typeface="Georgia"/>
              </a:rPr>
              <a:t>CPU</a:t>
            </a:r>
            <a:r>
              <a:rPr sz="3600" spc="15"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spc="50" dirty="0">
                <a:solidFill>
                  <a:srgbClr val="2E377E"/>
                </a:solidFill>
                <a:latin typeface="Georgia"/>
                <a:cs typeface="Georgia"/>
              </a:rPr>
              <a:t>memory</a:t>
            </a:r>
            <a:r>
              <a:rPr sz="3600" spc="15" dirty="0">
                <a:solidFill>
                  <a:srgbClr val="2E377E"/>
                </a:solidFill>
                <a:latin typeface="Georgia"/>
                <a:cs typeface="Georgia"/>
              </a:rPr>
              <a:t> </a:t>
            </a:r>
            <a:r>
              <a:rPr sz="3600" dirty="0">
                <a:solidFill>
                  <a:srgbClr val="2E377E"/>
                </a:solidFill>
                <a:latin typeface="Georgia"/>
                <a:cs typeface="Georgia"/>
              </a:rPr>
              <a:t>usage</a:t>
            </a:r>
            <a:r>
              <a:rPr sz="3600" spc="15" dirty="0">
                <a:solidFill>
                  <a:srgbClr val="2E377E"/>
                </a:solidFill>
                <a:latin typeface="Georgia"/>
                <a:cs typeface="Georgia"/>
              </a:rPr>
              <a:t> </a:t>
            </a:r>
            <a:r>
              <a:rPr sz="3600" spc="-10" dirty="0">
                <a:solidFill>
                  <a:srgbClr val="2E377E"/>
                </a:solidFill>
                <a:latin typeface="Georgia"/>
                <a:cs typeface="Georgia"/>
              </a:rPr>
              <a:t>across </a:t>
            </a:r>
            <a:r>
              <a:rPr sz="3600" spc="5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Kubernetes</a:t>
            </a:r>
            <a:r>
              <a:rPr sz="3600" spc="45" dirty="0">
                <a:solidFill>
                  <a:srgbClr val="2E377E"/>
                </a:solidFill>
                <a:latin typeface="Georgia"/>
                <a:cs typeface="Georgia"/>
              </a:rPr>
              <a:t> </a:t>
            </a:r>
            <a:r>
              <a:rPr sz="3600" dirty="0">
                <a:solidFill>
                  <a:srgbClr val="2E377E"/>
                </a:solidFill>
                <a:latin typeface="Georgia"/>
                <a:cs typeface="Georgia"/>
              </a:rPr>
              <a:t>cluster</a:t>
            </a:r>
            <a:r>
              <a:rPr sz="3600" spc="40" dirty="0">
                <a:solidFill>
                  <a:srgbClr val="2E377E"/>
                </a:solidFill>
                <a:latin typeface="Georgia"/>
                <a:cs typeface="Georgia"/>
              </a:rPr>
              <a:t> </a:t>
            </a:r>
            <a:r>
              <a:rPr sz="3600" dirty="0">
                <a:solidFill>
                  <a:srgbClr val="2E377E"/>
                </a:solidFill>
                <a:latin typeface="Georgia"/>
                <a:cs typeface="Georgia"/>
              </a:rPr>
              <a:t>like</a:t>
            </a:r>
            <a:r>
              <a:rPr sz="3600" spc="45" dirty="0">
                <a:solidFill>
                  <a:srgbClr val="2E377E"/>
                </a:solidFill>
                <a:latin typeface="Georgia"/>
                <a:cs typeface="Georgia"/>
              </a:rPr>
              <a:t> </a:t>
            </a:r>
            <a:r>
              <a:rPr sz="3600" dirty="0">
                <a:solidFill>
                  <a:srgbClr val="2E377E"/>
                </a:solidFill>
                <a:latin typeface="Georgia"/>
                <a:cs typeface="Georgia"/>
              </a:rPr>
              <a:t>Pods</a:t>
            </a:r>
            <a:r>
              <a:rPr sz="3600" spc="45" dirty="0">
                <a:solidFill>
                  <a:srgbClr val="2E377E"/>
                </a:solidFill>
                <a:latin typeface="Georgia"/>
                <a:cs typeface="Georgia"/>
              </a:rPr>
              <a:t> </a:t>
            </a:r>
            <a:r>
              <a:rPr sz="3600" spc="690" dirty="0">
                <a:solidFill>
                  <a:srgbClr val="2E377E"/>
                </a:solidFill>
                <a:latin typeface="Georgia"/>
                <a:cs typeface="Georgia"/>
              </a:rPr>
              <a:t>&amp;</a:t>
            </a:r>
            <a:r>
              <a:rPr sz="3600" spc="45" dirty="0">
                <a:solidFill>
                  <a:srgbClr val="2E377E"/>
                </a:solidFill>
                <a:latin typeface="Georgia"/>
                <a:cs typeface="Georgia"/>
              </a:rPr>
              <a:t> </a:t>
            </a:r>
            <a:r>
              <a:rPr sz="3600" spc="-10" dirty="0">
                <a:solidFill>
                  <a:srgbClr val="2E377E"/>
                </a:solidFill>
                <a:latin typeface="Georgia"/>
                <a:cs typeface="Georgia"/>
              </a:rPr>
              <a:t>Nodes.</a:t>
            </a:r>
            <a:endParaRPr sz="3600">
              <a:latin typeface="Georgia"/>
              <a:cs typeface="Georgia"/>
            </a:endParaRPr>
          </a:p>
          <a:p>
            <a:pPr marL="12700">
              <a:lnSpc>
                <a:spcPct val="100000"/>
              </a:lnSpc>
              <a:spcBef>
                <a:spcPts val="2120"/>
              </a:spcBef>
            </a:pPr>
            <a:r>
              <a:rPr sz="5000" b="1" spc="-140" dirty="0">
                <a:solidFill>
                  <a:srgbClr val="FF3131"/>
                </a:solidFill>
                <a:latin typeface="Times New Roman"/>
                <a:cs typeface="Times New Roman"/>
              </a:rPr>
              <a:t>INSTALLATION:</a:t>
            </a:r>
            <a:endParaRPr sz="5000">
              <a:latin typeface="Times New Roman"/>
              <a:cs typeface="Times New Roman"/>
            </a:endParaRPr>
          </a:p>
          <a:p>
            <a:pPr marL="511809" marR="5080">
              <a:lnSpc>
                <a:spcPct val="115399"/>
              </a:lnSpc>
              <a:spcBef>
                <a:spcPts val="2150"/>
              </a:spcBef>
            </a:pPr>
            <a:r>
              <a:rPr sz="3250" spc="-85" dirty="0">
                <a:solidFill>
                  <a:srgbClr val="2E377E"/>
                </a:solidFill>
                <a:latin typeface="Georgia"/>
                <a:cs typeface="Georgia"/>
              </a:rPr>
              <a:t>DOWNLOAD</a:t>
            </a:r>
            <a:r>
              <a:rPr sz="3250" spc="-10" dirty="0">
                <a:solidFill>
                  <a:srgbClr val="2E377E"/>
                </a:solidFill>
                <a:latin typeface="Georgia"/>
                <a:cs typeface="Georgia"/>
              </a:rPr>
              <a:t> </a:t>
            </a:r>
            <a:r>
              <a:rPr sz="3250" spc="-145" dirty="0">
                <a:solidFill>
                  <a:srgbClr val="2E377E"/>
                </a:solidFill>
                <a:latin typeface="Georgia"/>
                <a:cs typeface="Georgia"/>
              </a:rPr>
              <a:t>THE</a:t>
            </a:r>
            <a:r>
              <a:rPr sz="3250" spc="-10" dirty="0">
                <a:solidFill>
                  <a:srgbClr val="2E377E"/>
                </a:solidFill>
                <a:latin typeface="Georgia"/>
                <a:cs typeface="Georgia"/>
              </a:rPr>
              <a:t> </a:t>
            </a:r>
            <a:r>
              <a:rPr sz="3250" spc="-175" dirty="0">
                <a:solidFill>
                  <a:srgbClr val="2E377E"/>
                </a:solidFill>
                <a:latin typeface="Georgia"/>
                <a:cs typeface="Georgia"/>
              </a:rPr>
              <a:t>FILE:</a:t>
            </a:r>
            <a:r>
              <a:rPr sz="3250" spc="-10" dirty="0">
                <a:solidFill>
                  <a:srgbClr val="2E377E"/>
                </a:solidFill>
                <a:latin typeface="Georgia"/>
                <a:cs typeface="Georgia"/>
              </a:rPr>
              <a:t> </a:t>
            </a:r>
            <a:r>
              <a:rPr sz="3250" spc="50" dirty="0">
                <a:solidFill>
                  <a:srgbClr val="E7181F"/>
                </a:solidFill>
                <a:latin typeface="Georgia"/>
                <a:cs typeface="Georgia"/>
              </a:rPr>
              <a:t>kubectl</a:t>
            </a:r>
            <a:r>
              <a:rPr sz="3250" spc="-10" dirty="0">
                <a:solidFill>
                  <a:srgbClr val="E7181F"/>
                </a:solidFill>
                <a:latin typeface="Georgia"/>
                <a:cs typeface="Georgia"/>
              </a:rPr>
              <a:t> </a:t>
            </a:r>
            <a:r>
              <a:rPr sz="3250" dirty="0">
                <a:solidFill>
                  <a:srgbClr val="E7181F"/>
                </a:solidFill>
                <a:latin typeface="Georgia"/>
                <a:cs typeface="Georgia"/>
              </a:rPr>
              <a:t>apply</a:t>
            </a:r>
            <a:r>
              <a:rPr sz="3250" spc="-10" dirty="0">
                <a:solidFill>
                  <a:srgbClr val="E7181F"/>
                </a:solidFill>
                <a:latin typeface="Georgia"/>
                <a:cs typeface="Georgia"/>
              </a:rPr>
              <a:t> </a:t>
            </a:r>
            <a:r>
              <a:rPr sz="3250" dirty="0">
                <a:solidFill>
                  <a:srgbClr val="E7181F"/>
                </a:solidFill>
                <a:latin typeface="Georgia"/>
                <a:cs typeface="Georgia"/>
              </a:rPr>
              <a:t>-</a:t>
            </a:r>
            <a:r>
              <a:rPr sz="3250" spc="50" dirty="0">
                <a:solidFill>
                  <a:srgbClr val="E7181F"/>
                </a:solidFill>
                <a:latin typeface="Georgia"/>
                <a:cs typeface="Georgia"/>
              </a:rPr>
              <a:t>f</a:t>
            </a:r>
            <a:r>
              <a:rPr sz="3250" spc="-10" dirty="0">
                <a:solidFill>
                  <a:srgbClr val="E7181F"/>
                </a:solidFill>
                <a:latin typeface="Georgia"/>
                <a:cs typeface="Georgia"/>
              </a:rPr>
              <a:t> </a:t>
            </a:r>
            <a:r>
              <a:rPr sz="3250" dirty="0">
                <a:solidFill>
                  <a:srgbClr val="E7181F"/>
                </a:solidFill>
                <a:latin typeface="Georgia"/>
                <a:cs typeface="Georgia"/>
              </a:rPr>
              <a:t>https://github.com/kubernetes-</a:t>
            </a:r>
            <a:r>
              <a:rPr sz="3250" spc="-10" dirty="0">
                <a:solidFill>
                  <a:srgbClr val="E7181F"/>
                </a:solidFill>
                <a:latin typeface="Georgia"/>
                <a:cs typeface="Georgia"/>
              </a:rPr>
              <a:t>sigs/metrics- server/releases/latest/download/components.yaml</a:t>
            </a:r>
            <a:endParaRPr sz="3250">
              <a:latin typeface="Georgia"/>
              <a:cs typeface="Georgia"/>
            </a:endParaRPr>
          </a:p>
          <a:p>
            <a:pPr marL="511809" marR="1433830">
              <a:lnSpc>
                <a:spcPct val="115399"/>
              </a:lnSpc>
            </a:pPr>
            <a:r>
              <a:rPr sz="3250" spc="-155" dirty="0">
                <a:solidFill>
                  <a:srgbClr val="2E377E"/>
                </a:solidFill>
                <a:latin typeface="Georgia"/>
                <a:cs typeface="Georgia"/>
              </a:rPr>
              <a:t>SEE</a:t>
            </a:r>
            <a:r>
              <a:rPr sz="3250" spc="25" dirty="0">
                <a:solidFill>
                  <a:srgbClr val="2E377E"/>
                </a:solidFill>
                <a:latin typeface="Georgia"/>
                <a:cs typeface="Georgia"/>
              </a:rPr>
              <a:t> </a:t>
            </a:r>
            <a:r>
              <a:rPr sz="3250" spc="-145" dirty="0">
                <a:solidFill>
                  <a:srgbClr val="2E377E"/>
                </a:solidFill>
                <a:latin typeface="Georgia"/>
                <a:cs typeface="Georgia"/>
              </a:rPr>
              <a:t>THE</a:t>
            </a:r>
            <a:r>
              <a:rPr sz="3250" spc="25" dirty="0">
                <a:solidFill>
                  <a:srgbClr val="2E377E"/>
                </a:solidFill>
                <a:latin typeface="Georgia"/>
                <a:cs typeface="Georgia"/>
              </a:rPr>
              <a:t> </a:t>
            </a:r>
            <a:r>
              <a:rPr sz="3250" spc="-114" dirty="0">
                <a:solidFill>
                  <a:srgbClr val="2E377E"/>
                </a:solidFill>
                <a:latin typeface="Georgia"/>
                <a:cs typeface="Georgia"/>
              </a:rPr>
              <a:t>DEPLOYMENT:</a:t>
            </a:r>
            <a:r>
              <a:rPr sz="3250" spc="20" dirty="0">
                <a:solidFill>
                  <a:srgbClr val="2E377E"/>
                </a:solidFill>
                <a:latin typeface="Georgia"/>
                <a:cs typeface="Georgia"/>
              </a:rPr>
              <a:t> </a:t>
            </a:r>
            <a:r>
              <a:rPr sz="3250" spc="50" dirty="0">
                <a:solidFill>
                  <a:srgbClr val="E7181F"/>
                </a:solidFill>
                <a:latin typeface="Georgia"/>
                <a:cs typeface="Georgia"/>
              </a:rPr>
              <a:t>kubectl</a:t>
            </a:r>
            <a:r>
              <a:rPr sz="3250" spc="25" dirty="0">
                <a:solidFill>
                  <a:srgbClr val="E7181F"/>
                </a:solidFill>
                <a:latin typeface="Georgia"/>
                <a:cs typeface="Georgia"/>
              </a:rPr>
              <a:t> </a:t>
            </a:r>
            <a:r>
              <a:rPr sz="3250" dirty="0">
                <a:solidFill>
                  <a:srgbClr val="E7181F"/>
                </a:solidFill>
                <a:latin typeface="Georgia"/>
                <a:cs typeface="Georgia"/>
              </a:rPr>
              <a:t>-n</a:t>
            </a:r>
            <a:r>
              <a:rPr sz="3250" spc="25" dirty="0">
                <a:solidFill>
                  <a:srgbClr val="E7181F"/>
                </a:solidFill>
                <a:latin typeface="Georgia"/>
                <a:cs typeface="Georgia"/>
              </a:rPr>
              <a:t> </a:t>
            </a:r>
            <a:r>
              <a:rPr sz="3250" dirty="0">
                <a:solidFill>
                  <a:srgbClr val="E7181F"/>
                </a:solidFill>
                <a:latin typeface="Georgia"/>
                <a:cs typeface="Georgia"/>
              </a:rPr>
              <a:t>kube-</a:t>
            </a:r>
            <a:r>
              <a:rPr sz="3250" spc="75" dirty="0">
                <a:solidFill>
                  <a:srgbClr val="E7181F"/>
                </a:solidFill>
                <a:latin typeface="Georgia"/>
                <a:cs typeface="Georgia"/>
              </a:rPr>
              <a:t>system</a:t>
            </a:r>
            <a:r>
              <a:rPr sz="3250" spc="25" dirty="0">
                <a:solidFill>
                  <a:srgbClr val="E7181F"/>
                </a:solidFill>
                <a:latin typeface="Georgia"/>
                <a:cs typeface="Georgia"/>
              </a:rPr>
              <a:t> </a:t>
            </a:r>
            <a:r>
              <a:rPr sz="3250" spc="65" dirty="0">
                <a:solidFill>
                  <a:srgbClr val="E7181F"/>
                </a:solidFill>
                <a:latin typeface="Georgia"/>
                <a:cs typeface="Georgia"/>
              </a:rPr>
              <a:t>get</a:t>
            </a:r>
            <a:r>
              <a:rPr sz="3250" spc="20" dirty="0">
                <a:solidFill>
                  <a:srgbClr val="E7181F"/>
                </a:solidFill>
                <a:latin typeface="Georgia"/>
                <a:cs typeface="Georgia"/>
              </a:rPr>
              <a:t> </a:t>
            </a:r>
            <a:r>
              <a:rPr sz="3250" spc="50" dirty="0">
                <a:solidFill>
                  <a:srgbClr val="E7181F"/>
                </a:solidFill>
                <a:latin typeface="Georgia"/>
                <a:cs typeface="Georgia"/>
              </a:rPr>
              <a:t>deploy</a:t>
            </a:r>
            <a:r>
              <a:rPr sz="3250" spc="25" dirty="0">
                <a:solidFill>
                  <a:srgbClr val="E7181F"/>
                </a:solidFill>
                <a:latin typeface="Georgia"/>
                <a:cs typeface="Georgia"/>
              </a:rPr>
              <a:t> </a:t>
            </a:r>
            <a:r>
              <a:rPr sz="3250" dirty="0">
                <a:solidFill>
                  <a:srgbClr val="E7181F"/>
                </a:solidFill>
                <a:latin typeface="Georgia"/>
                <a:cs typeface="Georgia"/>
              </a:rPr>
              <a:t>metrics-</a:t>
            </a:r>
            <a:r>
              <a:rPr sz="3250" spc="50" dirty="0">
                <a:solidFill>
                  <a:srgbClr val="E7181F"/>
                </a:solidFill>
                <a:latin typeface="Georgia"/>
                <a:cs typeface="Georgia"/>
              </a:rPr>
              <a:t>server </a:t>
            </a:r>
            <a:r>
              <a:rPr sz="3250" spc="-105" dirty="0">
                <a:solidFill>
                  <a:srgbClr val="2E377E"/>
                </a:solidFill>
                <a:latin typeface="Georgia"/>
                <a:cs typeface="Georgia"/>
              </a:rPr>
              <a:t>EDIT</a:t>
            </a:r>
            <a:r>
              <a:rPr sz="3250" spc="25" dirty="0">
                <a:solidFill>
                  <a:srgbClr val="2E377E"/>
                </a:solidFill>
                <a:latin typeface="Georgia"/>
                <a:cs typeface="Georgia"/>
              </a:rPr>
              <a:t> </a:t>
            </a:r>
            <a:r>
              <a:rPr sz="3250" spc="-145" dirty="0">
                <a:solidFill>
                  <a:srgbClr val="2E377E"/>
                </a:solidFill>
                <a:latin typeface="Georgia"/>
                <a:cs typeface="Georgia"/>
              </a:rPr>
              <a:t>THE</a:t>
            </a:r>
            <a:r>
              <a:rPr sz="3250" spc="25" dirty="0">
                <a:solidFill>
                  <a:srgbClr val="2E377E"/>
                </a:solidFill>
                <a:latin typeface="Georgia"/>
                <a:cs typeface="Georgia"/>
              </a:rPr>
              <a:t> </a:t>
            </a:r>
            <a:r>
              <a:rPr sz="3250" spc="-100" dirty="0">
                <a:solidFill>
                  <a:srgbClr val="2E377E"/>
                </a:solidFill>
                <a:latin typeface="Georgia"/>
                <a:cs typeface="Georgia"/>
              </a:rPr>
              <a:t>DEPLOYMENT</a:t>
            </a:r>
            <a:r>
              <a:rPr sz="3250" spc="20" dirty="0">
                <a:solidFill>
                  <a:srgbClr val="2E377E"/>
                </a:solidFill>
                <a:latin typeface="Georgia"/>
                <a:cs typeface="Georgia"/>
              </a:rPr>
              <a:t> </a:t>
            </a:r>
            <a:r>
              <a:rPr sz="3250" spc="-210" dirty="0">
                <a:solidFill>
                  <a:srgbClr val="2E377E"/>
                </a:solidFill>
                <a:latin typeface="Georgia"/>
                <a:cs typeface="Georgia"/>
              </a:rPr>
              <a:t>:</a:t>
            </a:r>
            <a:r>
              <a:rPr sz="3250" spc="25" dirty="0">
                <a:solidFill>
                  <a:srgbClr val="2E377E"/>
                </a:solidFill>
                <a:latin typeface="Georgia"/>
                <a:cs typeface="Georgia"/>
              </a:rPr>
              <a:t> </a:t>
            </a:r>
            <a:r>
              <a:rPr sz="3250" spc="50" dirty="0">
                <a:solidFill>
                  <a:srgbClr val="E7181F"/>
                </a:solidFill>
                <a:latin typeface="Georgia"/>
                <a:cs typeface="Georgia"/>
              </a:rPr>
              <a:t>kubectl</a:t>
            </a:r>
            <a:r>
              <a:rPr sz="3250" spc="20" dirty="0">
                <a:solidFill>
                  <a:srgbClr val="E7181F"/>
                </a:solidFill>
                <a:latin typeface="Georgia"/>
                <a:cs typeface="Georgia"/>
              </a:rPr>
              <a:t> </a:t>
            </a:r>
            <a:r>
              <a:rPr sz="3250" dirty="0">
                <a:solidFill>
                  <a:srgbClr val="E7181F"/>
                </a:solidFill>
                <a:latin typeface="Georgia"/>
                <a:cs typeface="Georgia"/>
              </a:rPr>
              <a:t>-n</a:t>
            </a:r>
            <a:r>
              <a:rPr sz="3250" spc="30" dirty="0">
                <a:solidFill>
                  <a:srgbClr val="E7181F"/>
                </a:solidFill>
                <a:latin typeface="Georgia"/>
                <a:cs typeface="Georgia"/>
              </a:rPr>
              <a:t> </a:t>
            </a:r>
            <a:r>
              <a:rPr sz="3250" dirty="0">
                <a:solidFill>
                  <a:srgbClr val="E7181F"/>
                </a:solidFill>
                <a:latin typeface="Georgia"/>
                <a:cs typeface="Georgia"/>
              </a:rPr>
              <a:t>kube-</a:t>
            </a:r>
            <a:r>
              <a:rPr sz="3250" spc="75" dirty="0">
                <a:solidFill>
                  <a:srgbClr val="E7181F"/>
                </a:solidFill>
                <a:latin typeface="Georgia"/>
                <a:cs typeface="Georgia"/>
              </a:rPr>
              <a:t>system</a:t>
            </a:r>
            <a:r>
              <a:rPr sz="3250" spc="20" dirty="0">
                <a:solidFill>
                  <a:srgbClr val="E7181F"/>
                </a:solidFill>
                <a:latin typeface="Georgia"/>
                <a:cs typeface="Georgia"/>
              </a:rPr>
              <a:t> </a:t>
            </a:r>
            <a:r>
              <a:rPr sz="3250" dirty="0">
                <a:solidFill>
                  <a:srgbClr val="E7181F"/>
                </a:solidFill>
                <a:latin typeface="Georgia"/>
                <a:cs typeface="Georgia"/>
              </a:rPr>
              <a:t>edit</a:t>
            </a:r>
            <a:r>
              <a:rPr sz="3250" spc="25" dirty="0">
                <a:solidFill>
                  <a:srgbClr val="E7181F"/>
                </a:solidFill>
                <a:latin typeface="Georgia"/>
                <a:cs typeface="Georgia"/>
              </a:rPr>
              <a:t> </a:t>
            </a:r>
            <a:r>
              <a:rPr sz="3250" spc="50" dirty="0">
                <a:solidFill>
                  <a:srgbClr val="E7181F"/>
                </a:solidFill>
                <a:latin typeface="Georgia"/>
                <a:cs typeface="Georgia"/>
              </a:rPr>
              <a:t>deploy</a:t>
            </a:r>
            <a:r>
              <a:rPr sz="3250" spc="20" dirty="0">
                <a:solidFill>
                  <a:srgbClr val="E7181F"/>
                </a:solidFill>
                <a:latin typeface="Georgia"/>
                <a:cs typeface="Georgia"/>
              </a:rPr>
              <a:t> </a:t>
            </a:r>
            <a:r>
              <a:rPr sz="3250" dirty="0">
                <a:solidFill>
                  <a:srgbClr val="E7181F"/>
                </a:solidFill>
                <a:latin typeface="Georgia"/>
                <a:cs typeface="Georgia"/>
              </a:rPr>
              <a:t>metrics-</a:t>
            </a:r>
            <a:r>
              <a:rPr sz="3250" spc="50" dirty="0">
                <a:solidFill>
                  <a:srgbClr val="E7181F"/>
                </a:solidFill>
                <a:latin typeface="Georgia"/>
                <a:cs typeface="Georgia"/>
              </a:rPr>
              <a:t>server </a:t>
            </a:r>
            <a:r>
              <a:rPr sz="3250" dirty="0">
                <a:solidFill>
                  <a:srgbClr val="2E377E"/>
                </a:solidFill>
                <a:latin typeface="Georgia"/>
                <a:cs typeface="Georgia"/>
              </a:rPr>
              <a:t>Add</a:t>
            </a:r>
            <a:r>
              <a:rPr sz="3250" spc="35" dirty="0">
                <a:solidFill>
                  <a:srgbClr val="2E377E"/>
                </a:solidFill>
                <a:latin typeface="Georgia"/>
                <a:cs typeface="Georgia"/>
              </a:rPr>
              <a:t> </a:t>
            </a:r>
            <a:r>
              <a:rPr sz="3250" spc="55" dirty="0">
                <a:solidFill>
                  <a:srgbClr val="2E377E"/>
                </a:solidFill>
                <a:latin typeface="Georgia"/>
                <a:cs typeface="Georgia"/>
              </a:rPr>
              <a:t>these</a:t>
            </a:r>
            <a:r>
              <a:rPr sz="3250" spc="40" dirty="0">
                <a:solidFill>
                  <a:srgbClr val="2E377E"/>
                </a:solidFill>
                <a:latin typeface="Georgia"/>
                <a:cs typeface="Georgia"/>
              </a:rPr>
              <a:t> </a:t>
            </a:r>
            <a:r>
              <a:rPr sz="3250" dirty="0">
                <a:solidFill>
                  <a:srgbClr val="2E377E"/>
                </a:solidFill>
                <a:latin typeface="Georgia"/>
                <a:cs typeface="Georgia"/>
              </a:rPr>
              <a:t>commands</a:t>
            </a:r>
            <a:r>
              <a:rPr sz="3250" spc="40" dirty="0">
                <a:solidFill>
                  <a:srgbClr val="2E377E"/>
                </a:solidFill>
                <a:latin typeface="Georgia"/>
                <a:cs typeface="Georgia"/>
              </a:rPr>
              <a:t> </a:t>
            </a:r>
            <a:r>
              <a:rPr sz="3250" dirty="0">
                <a:solidFill>
                  <a:srgbClr val="2E377E"/>
                </a:solidFill>
                <a:latin typeface="Georgia"/>
                <a:cs typeface="Georgia"/>
              </a:rPr>
              <a:t>under</a:t>
            </a:r>
            <a:r>
              <a:rPr sz="3250" spc="35" dirty="0">
                <a:solidFill>
                  <a:srgbClr val="2E377E"/>
                </a:solidFill>
                <a:latin typeface="Georgia"/>
                <a:cs typeface="Georgia"/>
              </a:rPr>
              <a:t> </a:t>
            </a:r>
            <a:r>
              <a:rPr sz="3250" spc="60" dirty="0">
                <a:solidFill>
                  <a:srgbClr val="2E377E"/>
                </a:solidFill>
                <a:latin typeface="Georgia"/>
                <a:cs typeface="Georgia"/>
              </a:rPr>
              <a:t>the</a:t>
            </a:r>
            <a:r>
              <a:rPr sz="3250" spc="35" dirty="0">
                <a:solidFill>
                  <a:srgbClr val="2E377E"/>
                </a:solidFill>
                <a:latin typeface="Georgia"/>
                <a:cs typeface="Georgia"/>
              </a:rPr>
              <a:t> </a:t>
            </a:r>
            <a:r>
              <a:rPr sz="3250" dirty="0">
                <a:solidFill>
                  <a:srgbClr val="2E377E"/>
                </a:solidFill>
                <a:latin typeface="Georgia"/>
                <a:cs typeface="Georgia"/>
              </a:rPr>
              <a:t>container</a:t>
            </a:r>
            <a:r>
              <a:rPr sz="3250" spc="40" dirty="0">
                <a:solidFill>
                  <a:srgbClr val="2E377E"/>
                </a:solidFill>
                <a:latin typeface="Georgia"/>
                <a:cs typeface="Georgia"/>
              </a:rPr>
              <a:t> </a:t>
            </a:r>
            <a:r>
              <a:rPr sz="3250" spc="-20" dirty="0">
                <a:solidFill>
                  <a:srgbClr val="2E377E"/>
                </a:solidFill>
                <a:latin typeface="Georgia"/>
                <a:cs typeface="Georgia"/>
              </a:rPr>
              <a:t>args</a:t>
            </a:r>
            <a:endParaRPr sz="3250">
              <a:latin typeface="Georgia"/>
              <a:cs typeface="Georgia"/>
            </a:endParaRPr>
          </a:p>
          <a:p>
            <a:pPr marL="761365" indent="-249554">
              <a:lnSpc>
                <a:spcPct val="100000"/>
              </a:lnSpc>
              <a:spcBef>
                <a:spcPts val="600"/>
              </a:spcBef>
              <a:buChar char="-"/>
              <a:tabLst>
                <a:tab pos="761365" algn="l"/>
              </a:tabLst>
            </a:pPr>
            <a:r>
              <a:rPr sz="3250" spc="225" dirty="0">
                <a:solidFill>
                  <a:srgbClr val="E7181F"/>
                </a:solidFill>
                <a:latin typeface="Times New Roman"/>
                <a:cs typeface="Times New Roman"/>
              </a:rPr>
              <a:t>/metrics-</a:t>
            </a:r>
            <a:r>
              <a:rPr sz="3250" spc="200" dirty="0">
                <a:solidFill>
                  <a:srgbClr val="E7181F"/>
                </a:solidFill>
                <a:latin typeface="Times New Roman"/>
                <a:cs typeface="Times New Roman"/>
              </a:rPr>
              <a:t>server</a:t>
            </a:r>
            <a:endParaRPr sz="3250">
              <a:latin typeface="Times New Roman"/>
              <a:cs typeface="Times New Roman"/>
            </a:endParaRPr>
          </a:p>
          <a:p>
            <a:pPr marL="761365" indent="-249554">
              <a:lnSpc>
                <a:spcPct val="100000"/>
              </a:lnSpc>
              <a:spcBef>
                <a:spcPts val="600"/>
              </a:spcBef>
              <a:buChar char="-"/>
              <a:tabLst>
                <a:tab pos="761365" algn="l"/>
              </a:tabLst>
            </a:pPr>
            <a:r>
              <a:rPr sz="3250" spc="150" dirty="0">
                <a:solidFill>
                  <a:srgbClr val="E7181F"/>
                </a:solidFill>
                <a:latin typeface="Times New Roman"/>
                <a:cs typeface="Times New Roman"/>
              </a:rPr>
              <a:t>--</a:t>
            </a:r>
            <a:r>
              <a:rPr sz="3250" spc="195" dirty="0">
                <a:solidFill>
                  <a:srgbClr val="E7181F"/>
                </a:solidFill>
                <a:latin typeface="Times New Roman"/>
                <a:cs typeface="Times New Roman"/>
              </a:rPr>
              <a:t>kubelet-insecure-</a:t>
            </a:r>
            <a:r>
              <a:rPr sz="3250" spc="145" dirty="0">
                <a:solidFill>
                  <a:srgbClr val="E7181F"/>
                </a:solidFill>
                <a:latin typeface="Times New Roman"/>
                <a:cs typeface="Times New Roman"/>
              </a:rPr>
              <a:t>tls</a:t>
            </a:r>
            <a:endParaRPr sz="3250">
              <a:latin typeface="Times New Roman"/>
              <a:cs typeface="Times New Roman"/>
            </a:endParaRPr>
          </a:p>
          <a:p>
            <a:pPr marL="761365" indent="-249554">
              <a:lnSpc>
                <a:spcPct val="100000"/>
              </a:lnSpc>
              <a:spcBef>
                <a:spcPts val="600"/>
              </a:spcBef>
              <a:buChar char="-"/>
              <a:tabLst>
                <a:tab pos="761365" algn="l"/>
              </a:tabLst>
            </a:pPr>
            <a:r>
              <a:rPr sz="3250" spc="150" dirty="0">
                <a:solidFill>
                  <a:srgbClr val="E7181F"/>
                </a:solidFill>
                <a:latin typeface="Times New Roman"/>
                <a:cs typeface="Times New Roman"/>
              </a:rPr>
              <a:t>--</a:t>
            </a:r>
            <a:r>
              <a:rPr sz="3250" spc="195" dirty="0">
                <a:solidFill>
                  <a:srgbClr val="E7181F"/>
                </a:solidFill>
                <a:latin typeface="Times New Roman"/>
                <a:cs typeface="Times New Roman"/>
              </a:rPr>
              <a:t>kubelet-</a:t>
            </a:r>
            <a:r>
              <a:rPr sz="3250" spc="210" dirty="0">
                <a:solidFill>
                  <a:srgbClr val="E7181F"/>
                </a:solidFill>
                <a:latin typeface="Times New Roman"/>
                <a:cs typeface="Times New Roman"/>
              </a:rPr>
              <a:t>preferred-</a:t>
            </a:r>
            <a:r>
              <a:rPr sz="3250" spc="204" dirty="0">
                <a:solidFill>
                  <a:srgbClr val="E7181F"/>
                </a:solidFill>
                <a:latin typeface="Times New Roman"/>
                <a:cs typeface="Times New Roman"/>
              </a:rPr>
              <a:t>address-</a:t>
            </a:r>
            <a:r>
              <a:rPr sz="3250" spc="175" dirty="0">
                <a:solidFill>
                  <a:srgbClr val="E7181F"/>
                </a:solidFill>
                <a:latin typeface="Times New Roman"/>
                <a:cs typeface="Times New Roman"/>
              </a:rPr>
              <a:t>types=InternalIP</a:t>
            </a:r>
            <a:endParaRPr sz="325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28700" y="1028700"/>
            <a:ext cx="14649449" cy="4038599"/>
          </a:xfrm>
          <a:prstGeom prst="rect">
            <a:avLst/>
          </a:prstGeom>
        </p:spPr>
      </p:pic>
      <p:pic>
        <p:nvPicPr>
          <p:cNvPr id="3" name="object 3"/>
          <p:cNvPicPr/>
          <p:nvPr/>
        </p:nvPicPr>
        <p:blipFill>
          <a:blip r:embed="rId3" cstate="print"/>
          <a:stretch>
            <a:fillRect/>
          </a:stretch>
        </p:blipFill>
        <p:spPr>
          <a:xfrm>
            <a:off x="1476374" y="7373808"/>
            <a:ext cx="133350" cy="133349"/>
          </a:xfrm>
          <a:prstGeom prst="rect">
            <a:avLst/>
          </a:prstGeom>
        </p:spPr>
      </p:pic>
      <p:pic>
        <p:nvPicPr>
          <p:cNvPr id="4" name="object 4"/>
          <p:cNvPicPr/>
          <p:nvPr/>
        </p:nvPicPr>
        <p:blipFill>
          <a:blip r:embed="rId3" cstate="print"/>
          <a:stretch>
            <a:fillRect/>
          </a:stretch>
        </p:blipFill>
        <p:spPr>
          <a:xfrm>
            <a:off x="1476374" y="8011983"/>
            <a:ext cx="133350" cy="133349"/>
          </a:xfrm>
          <a:prstGeom prst="rect">
            <a:avLst/>
          </a:prstGeom>
        </p:spPr>
      </p:pic>
      <p:sp>
        <p:nvSpPr>
          <p:cNvPr id="5" name="object 5"/>
          <p:cNvSpPr txBox="1"/>
          <p:nvPr/>
        </p:nvSpPr>
        <p:spPr>
          <a:xfrm>
            <a:off x="1016000" y="5909647"/>
            <a:ext cx="14345919" cy="2406650"/>
          </a:xfrm>
          <a:prstGeom prst="rect">
            <a:avLst/>
          </a:prstGeom>
        </p:spPr>
        <p:txBody>
          <a:bodyPr vert="horz" wrap="square" lIns="0" tIns="12700" rIns="0" bIns="0" rtlCol="0">
            <a:spAutoFit/>
          </a:bodyPr>
          <a:lstStyle/>
          <a:p>
            <a:pPr marL="12700">
              <a:lnSpc>
                <a:spcPct val="100000"/>
              </a:lnSpc>
              <a:spcBef>
                <a:spcPts val="100"/>
              </a:spcBef>
            </a:pPr>
            <a:r>
              <a:rPr sz="5000" b="1" spc="-55" dirty="0">
                <a:solidFill>
                  <a:srgbClr val="FF3131"/>
                </a:solidFill>
                <a:latin typeface="Times New Roman"/>
                <a:cs typeface="Times New Roman"/>
              </a:rPr>
              <a:t>MONITOR:</a:t>
            </a:r>
            <a:endParaRPr sz="5000">
              <a:latin typeface="Times New Roman"/>
              <a:cs typeface="Times New Roman"/>
            </a:endParaRPr>
          </a:p>
          <a:p>
            <a:pPr marL="789305">
              <a:lnSpc>
                <a:spcPct val="100000"/>
              </a:lnSpc>
              <a:spcBef>
                <a:spcPts val="3400"/>
              </a:spcBef>
            </a:pPr>
            <a:r>
              <a:rPr sz="3600" dirty="0">
                <a:solidFill>
                  <a:srgbClr val="2E377E"/>
                </a:solidFill>
                <a:latin typeface="Georgia"/>
                <a:cs typeface="Georgia"/>
              </a:rPr>
              <a:t>Check</a:t>
            </a:r>
            <a:r>
              <a:rPr sz="3600" spc="-35"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Node</a:t>
            </a:r>
            <a:r>
              <a:rPr sz="3600" spc="-35" dirty="0">
                <a:solidFill>
                  <a:srgbClr val="2E377E"/>
                </a:solidFill>
                <a:latin typeface="Georgia"/>
                <a:cs typeface="Georgia"/>
              </a:rPr>
              <a:t> </a:t>
            </a:r>
            <a:r>
              <a:rPr sz="3600" dirty="0">
                <a:solidFill>
                  <a:srgbClr val="2E377E"/>
                </a:solidFill>
                <a:latin typeface="Georgia"/>
                <a:cs typeface="Georgia"/>
              </a:rPr>
              <a:t>metrics:</a:t>
            </a:r>
            <a:r>
              <a:rPr sz="3600" spc="-35" dirty="0">
                <a:solidFill>
                  <a:srgbClr val="2E377E"/>
                </a:solidFill>
                <a:latin typeface="Georgia"/>
                <a:cs typeface="Georgia"/>
              </a:rPr>
              <a:t> </a:t>
            </a:r>
            <a:r>
              <a:rPr sz="3600" spc="45" dirty="0">
                <a:solidFill>
                  <a:srgbClr val="2E377E"/>
                </a:solidFill>
                <a:latin typeface="Georgia"/>
                <a:cs typeface="Georgia"/>
              </a:rPr>
              <a:t>kubectl</a:t>
            </a:r>
            <a:r>
              <a:rPr sz="3600" spc="-35" dirty="0">
                <a:solidFill>
                  <a:srgbClr val="2E377E"/>
                </a:solidFill>
                <a:latin typeface="Georgia"/>
                <a:cs typeface="Georgia"/>
              </a:rPr>
              <a:t> </a:t>
            </a:r>
            <a:r>
              <a:rPr sz="3600" dirty="0">
                <a:solidFill>
                  <a:srgbClr val="2E377E"/>
                </a:solidFill>
                <a:latin typeface="Georgia"/>
                <a:cs typeface="Georgia"/>
              </a:rPr>
              <a:t>top</a:t>
            </a:r>
            <a:r>
              <a:rPr sz="3600" spc="-35" dirty="0">
                <a:solidFill>
                  <a:srgbClr val="2E377E"/>
                </a:solidFill>
                <a:latin typeface="Georgia"/>
                <a:cs typeface="Georgia"/>
              </a:rPr>
              <a:t> </a:t>
            </a:r>
            <a:r>
              <a:rPr sz="3600" spc="-10" dirty="0">
                <a:solidFill>
                  <a:srgbClr val="2E377E"/>
                </a:solidFill>
                <a:latin typeface="Georgia"/>
                <a:cs typeface="Georgia"/>
              </a:rPr>
              <a:t>nodes</a:t>
            </a:r>
            <a:endParaRPr sz="3600">
              <a:latin typeface="Georgia"/>
              <a:cs typeface="Georgia"/>
            </a:endParaRPr>
          </a:p>
          <a:p>
            <a:pPr marL="789305">
              <a:lnSpc>
                <a:spcPct val="100000"/>
              </a:lnSpc>
              <a:spcBef>
                <a:spcPts val="705"/>
              </a:spcBef>
            </a:pPr>
            <a:r>
              <a:rPr sz="3600" dirty="0">
                <a:solidFill>
                  <a:srgbClr val="2E377E"/>
                </a:solidFill>
                <a:latin typeface="Georgia"/>
                <a:cs typeface="Georgia"/>
              </a:rPr>
              <a:t>Now</a:t>
            </a:r>
            <a:r>
              <a:rPr sz="3600" spc="-5" dirty="0">
                <a:solidFill>
                  <a:srgbClr val="2E377E"/>
                </a:solidFill>
                <a:latin typeface="Georgia"/>
                <a:cs typeface="Georgia"/>
              </a:rPr>
              <a:t> </a:t>
            </a:r>
            <a:r>
              <a:rPr sz="3600" dirty="0">
                <a:solidFill>
                  <a:srgbClr val="2E377E"/>
                </a:solidFill>
                <a:latin typeface="Georgia"/>
                <a:cs typeface="Georgia"/>
              </a:rPr>
              <a:t>create</a:t>
            </a:r>
            <a:r>
              <a:rPr sz="3600" spc="-5" dirty="0">
                <a:solidFill>
                  <a:srgbClr val="2E377E"/>
                </a:solidFill>
                <a:latin typeface="Georgia"/>
                <a:cs typeface="Georgia"/>
              </a:rPr>
              <a:t> </a:t>
            </a:r>
            <a:r>
              <a:rPr sz="3600" dirty="0">
                <a:solidFill>
                  <a:srgbClr val="2E377E"/>
                </a:solidFill>
                <a:latin typeface="Georgia"/>
                <a:cs typeface="Georgia"/>
              </a:rPr>
              <a:t>some</a:t>
            </a:r>
            <a:r>
              <a:rPr sz="3600" spc="-5" dirty="0">
                <a:solidFill>
                  <a:srgbClr val="2E377E"/>
                </a:solidFill>
                <a:latin typeface="Georgia"/>
                <a:cs typeface="Georgia"/>
              </a:rPr>
              <a:t> </a:t>
            </a:r>
            <a:r>
              <a:rPr sz="3600" dirty="0">
                <a:solidFill>
                  <a:srgbClr val="2E377E"/>
                </a:solidFill>
                <a:latin typeface="Georgia"/>
                <a:cs typeface="Georgia"/>
              </a:rPr>
              <a:t>pods</a:t>
            </a:r>
            <a:r>
              <a:rPr sz="3600" spc="-5" dirty="0">
                <a:solidFill>
                  <a:srgbClr val="2E377E"/>
                </a:solidFill>
                <a:latin typeface="Georgia"/>
                <a:cs typeface="Georgia"/>
              </a:rPr>
              <a:t> </a:t>
            </a:r>
            <a:r>
              <a:rPr sz="3600" dirty="0">
                <a:solidFill>
                  <a:srgbClr val="2E377E"/>
                </a:solidFill>
                <a:latin typeface="Georgia"/>
                <a:cs typeface="Georgia"/>
              </a:rPr>
              <a:t>and</a:t>
            </a:r>
            <a:r>
              <a:rPr sz="3600" spc="-5" dirty="0">
                <a:solidFill>
                  <a:srgbClr val="2E377E"/>
                </a:solidFill>
                <a:latin typeface="Georgia"/>
                <a:cs typeface="Georgia"/>
              </a:rPr>
              <a:t> </a:t>
            </a:r>
            <a:r>
              <a:rPr sz="3600" spc="50" dirty="0">
                <a:solidFill>
                  <a:srgbClr val="2E377E"/>
                </a:solidFill>
                <a:latin typeface="Georgia"/>
                <a:cs typeface="Georgia"/>
              </a:rPr>
              <a:t>check</a:t>
            </a:r>
            <a:r>
              <a:rPr sz="3600" spc="-5" dirty="0">
                <a:solidFill>
                  <a:srgbClr val="2E377E"/>
                </a:solidFill>
                <a:latin typeface="Georgia"/>
                <a:cs typeface="Georgia"/>
              </a:rPr>
              <a:t>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pod</a:t>
            </a:r>
            <a:r>
              <a:rPr sz="3600" spc="-5" dirty="0">
                <a:solidFill>
                  <a:srgbClr val="2E377E"/>
                </a:solidFill>
                <a:latin typeface="Georgia"/>
                <a:cs typeface="Georgia"/>
              </a:rPr>
              <a:t> </a:t>
            </a:r>
            <a:r>
              <a:rPr sz="3600" dirty="0">
                <a:solidFill>
                  <a:srgbClr val="2E377E"/>
                </a:solidFill>
                <a:latin typeface="Georgia"/>
                <a:cs typeface="Georgia"/>
              </a:rPr>
              <a:t>metrics </a:t>
            </a:r>
            <a:r>
              <a:rPr sz="3600" spc="-245" dirty="0">
                <a:solidFill>
                  <a:srgbClr val="2E377E"/>
                </a:solidFill>
                <a:latin typeface="Georgia"/>
                <a:cs typeface="Georgia"/>
              </a:rPr>
              <a:t>:</a:t>
            </a:r>
            <a:r>
              <a:rPr sz="3600" spc="-5" dirty="0">
                <a:solidFill>
                  <a:srgbClr val="2E377E"/>
                </a:solidFill>
                <a:latin typeface="Georgia"/>
                <a:cs typeface="Georgia"/>
              </a:rPr>
              <a:t> </a:t>
            </a:r>
            <a:r>
              <a:rPr sz="3600" spc="45" dirty="0">
                <a:solidFill>
                  <a:srgbClr val="2E377E"/>
                </a:solidFill>
                <a:latin typeface="Georgia"/>
                <a:cs typeface="Georgia"/>
              </a:rPr>
              <a:t>kubectl</a:t>
            </a:r>
            <a:r>
              <a:rPr sz="3600" spc="-5" dirty="0">
                <a:solidFill>
                  <a:srgbClr val="2E377E"/>
                </a:solidFill>
                <a:latin typeface="Georgia"/>
                <a:cs typeface="Georgia"/>
              </a:rPr>
              <a:t> </a:t>
            </a:r>
            <a:r>
              <a:rPr sz="3600" dirty="0">
                <a:solidFill>
                  <a:srgbClr val="2E377E"/>
                </a:solidFill>
                <a:latin typeface="Georgia"/>
                <a:cs typeface="Georgia"/>
              </a:rPr>
              <a:t>top</a:t>
            </a:r>
            <a:r>
              <a:rPr sz="3600" spc="-5" dirty="0">
                <a:solidFill>
                  <a:srgbClr val="2E377E"/>
                </a:solidFill>
                <a:latin typeface="Georgia"/>
                <a:cs typeface="Georgia"/>
              </a:rPr>
              <a:t> </a:t>
            </a:r>
            <a:r>
              <a:rPr sz="3600" spc="-25" dirty="0">
                <a:solidFill>
                  <a:srgbClr val="2E377E"/>
                </a:solidFill>
                <a:latin typeface="Georgia"/>
                <a:cs typeface="Georgia"/>
              </a:rPr>
              <a:t>pod</a:t>
            </a:r>
            <a:endParaRPr sz="3600">
              <a:latin typeface="Georgia"/>
              <a:cs typeface="Georg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17855" rIns="0" bIns="0" rtlCol="0">
            <a:spAutoFit/>
          </a:bodyPr>
          <a:lstStyle/>
          <a:p>
            <a:pPr marL="299085">
              <a:lnSpc>
                <a:spcPct val="100000"/>
              </a:lnSpc>
              <a:spcBef>
                <a:spcPts val="100"/>
              </a:spcBef>
            </a:pPr>
            <a:r>
              <a:rPr spc="-10" dirty="0">
                <a:solidFill>
                  <a:srgbClr val="FF3131"/>
                </a:solidFill>
              </a:rPr>
              <a:t>Labels,</a:t>
            </a:r>
            <a:r>
              <a:rPr spc="-175" dirty="0">
                <a:solidFill>
                  <a:srgbClr val="FF3131"/>
                </a:solidFill>
              </a:rPr>
              <a:t> </a:t>
            </a:r>
            <a:r>
              <a:rPr spc="75" dirty="0">
                <a:solidFill>
                  <a:srgbClr val="FF3131"/>
                </a:solidFill>
              </a:rPr>
              <a:t>Selectors,</a:t>
            </a:r>
            <a:r>
              <a:rPr spc="-170" dirty="0">
                <a:solidFill>
                  <a:srgbClr val="FF3131"/>
                </a:solidFill>
              </a:rPr>
              <a:t> </a:t>
            </a:r>
            <a:r>
              <a:rPr spc="229" dirty="0">
                <a:solidFill>
                  <a:srgbClr val="FF3131"/>
                </a:solidFill>
              </a:rPr>
              <a:t>and</a:t>
            </a:r>
            <a:r>
              <a:rPr spc="-170" dirty="0">
                <a:solidFill>
                  <a:srgbClr val="FF3131"/>
                </a:solidFill>
              </a:rPr>
              <a:t> </a:t>
            </a:r>
            <a:r>
              <a:rPr spc="254" dirty="0">
                <a:solidFill>
                  <a:srgbClr val="FF3131"/>
                </a:solidFill>
              </a:rPr>
              <a:t>Node</a:t>
            </a:r>
            <a:r>
              <a:rPr spc="-170" dirty="0">
                <a:solidFill>
                  <a:srgbClr val="FF3131"/>
                </a:solidFill>
              </a:rPr>
              <a:t> </a:t>
            </a:r>
            <a:r>
              <a:rPr spc="-10" dirty="0">
                <a:solidFill>
                  <a:srgbClr val="FF3131"/>
                </a:solidFill>
              </a:rPr>
              <a:t>Selectors:</a:t>
            </a:r>
          </a:p>
        </p:txBody>
      </p:sp>
      <p:pic>
        <p:nvPicPr>
          <p:cNvPr id="3" name="object 3"/>
          <p:cNvPicPr/>
          <p:nvPr/>
        </p:nvPicPr>
        <p:blipFill>
          <a:blip r:embed="rId2" cstate="print"/>
          <a:stretch>
            <a:fillRect/>
          </a:stretch>
        </p:blipFill>
        <p:spPr>
          <a:xfrm>
            <a:off x="1864510" y="4571169"/>
            <a:ext cx="133350" cy="133349"/>
          </a:xfrm>
          <a:prstGeom prst="rect">
            <a:avLst/>
          </a:prstGeom>
        </p:spPr>
      </p:pic>
      <p:pic>
        <p:nvPicPr>
          <p:cNvPr id="4" name="object 4"/>
          <p:cNvPicPr/>
          <p:nvPr/>
        </p:nvPicPr>
        <p:blipFill>
          <a:blip r:embed="rId3" cstate="print"/>
          <a:stretch>
            <a:fillRect/>
          </a:stretch>
        </p:blipFill>
        <p:spPr>
          <a:xfrm>
            <a:off x="1864510" y="5209344"/>
            <a:ext cx="133350" cy="133349"/>
          </a:xfrm>
          <a:prstGeom prst="rect">
            <a:avLst/>
          </a:prstGeom>
        </p:spPr>
      </p:pic>
      <p:pic>
        <p:nvPicPr>
          <p:cNvPr id="5" name="object 5"/>
          <p:cNvPicPr/>
          <p:nvPr/>
        </p:nvPicPr>
        <p:blipFill>
          <a:blip r:embed="rId4" cstate="print"/>
          <a:stretch>
            <a:fillRect/>
          </a:stretch>
        </p:blipFill>
        <p:spPr>
          <a:xfrm>
            <a:off x="1864510" y="5847519"/>
            <a:ext cx="133350" cy="133349"/>
          </a:xfrm>
          <a:prstGeom prst="rect">
            <a:avLst/>
          </a:prstGeom>
        </p:spPr>
      </p:pic>
      <p:pic>
        <p:nvPicPr>
          <p:cNvPr id="6" name="object 6"/>
          <p:cNvPicPr/>
          <p:nvPr/>
        </p:nvPicPr>
        <p:blipFill>
          <a:blip r:embed="rId5" cstate="print"/>
          <a:stretch>
            <a:fillRect/>
          </a:stretch>
        </p:blipFill>
        <p:spPr>
          <a:xfrm>
            <a:off x="1864510" y="6485694"/>
            <a:ext cx="133350" cy="133349"/>
          </a:xfrm>
          <a:prstGeom prst="rect">
            <a:avLst/>
          </a:prstGeom>
        </p:spPr>
      </p:pic>
      <p:pic>
        <p:nvPicPr>
          <p:cNvPr id="7" name="object 7"/>
          <p:cNvPicPr/>
          <p:nvPr/>
        </p:nvPicPr>
        <p:blipFill>
          <a:blip r:embed="rId5" cstate="print"/>
          <a:stretch>
            <a:fillRect/>
          </a:stretch>
        </p:blipFill>
        <p:spPr>
          <a:xfrm>
            <a:off x="1864510" y="7762044"/>
            <a:ext cx="133350" cy="133349"/>
          </a:xfrm>
          <a:prstGeom prst="rect">
            <a:avLst/>
          </a:prstGeom>
        </p:spPr>
      </p:pic>
      <p:sp>
        <p:nvSpPr>
          <p:cNvPr id="8" name="object 8"/>
          <p:cNvSpPr txBox="1"/>
          <p:nvPr/>
        </p:nvSpPr>
        <p:spPr>
          <a:xfrm>
            <a:off x="1404135" y="3003132"/>
            <a:ext cx="15686405" cy="5701665"/>
          </a:xfrm>
          <a:prstGeom prst="rect">
            <a:avLst/>
          </a:prstGeom>
        </p:spPr>
        <p:txBody>
          <a:bodyPr vert="horz" wrap="square" lIns="0" tIns="12700" rIns="0" bIns="0" rtlCol="0">
            <a:spAutoFit/>
          </a:bodyPr>
          <a:lstStyle/>
          <a:p>
            <a:pPr marL="12700">
              <a:lnSpc>
                <a:spcPct val="100000"/>
              </a:lnSpc>
              <a:spcBef>
                <a:spcPts val="100"/>
              </a:spcBef>
            </a:pPr>
            <a:r>
              <a:rPr sz="5000" b="1" spc="-10" dirty="0">
                <a:solidFill>
                  <a:srgbClr val="FF3131"/>
                </a:solidFill>
                <a:latin typeface="Times New Roman"/>
                <a:cs typeface="Times New Roman"/>
              </a:rPr>
              <a:t>Labels:</a:t>
            </a:r>
            <a:endParaRPr sz="5000">
              <a:latin typeface="Times New Roman"/>
              <a:cs typeface="Times New Roman"/>
            </a:endParaRPr>
          </a:p>
          <a:p>
            <a:pPr marL="789305" marR="245745">
              <a:lnSpc>
                <a:spcPct val="116300"/>
              </a:lnSpc>
              <a:spcBef>
                <a:spcPts val="3515"/>
              </a:spcBef>
            </a:pPr>
            <a:r>
              <a:rPr sz="3600" dirty="0">
                <a:solidFill>
                  <a:srgbClr val="2E377E"/>
                </a:solidFill>
                <a:latin typeface="Georgia"/>
                <a:cs typeface="Georgia"/>
              </a:rPr>
              <a:t>Labels</a:t>
            </a:r>
            <a:r>
              <a:rPr sz="3600" spc="-15" dirty="0">
                <a:solidFill>
                  <a:srgbClr val="2E377E"/>
                </a:solidFill>
                <a:latin typeface="Georgia"/>
                <a:cs typeface="Georgia"/>
              </a:rPr>
              <a:t> </a:t>
            </a:r>
            <a:r>
              <a:rPr sz="3600" dirty="0">
                <a:solidFill>
                  <a:srgbClr val="2E377E"/>
                </a:solidFill>
                <a:latin typeface="Georgia"/>
                <a:cs typeface="Georgia"/>
              </a:rPr>
              <a:t>are</a:t>
            </a:r>
            <a:r>
              <a:rPr sz="3600" spc="-15" dirty="0">
                <a:solidFill>
                  <a:srgbClr val="2E377E"/>
                </a:solidFill>
                <a:latin typeface="Georgia"/>
                <a:cs typeface="Georgia"/>
              </a:rPr>
              <a:t> </a:t>
            </a:r>
            <a:r>
              <a:rPr sz="3600" dirty="0">
                <a:solidFill>
                  <a:srgbClr val="2E377E"/>
                </a:solidFill>
                <a:latin typeface="Georgia"/>
                <a:cs typeface="Georgia"/>
              </a:rPr>
              <a:t>used</a:t>
            </a:r>
            <a:r>
              <a:rPr sz="3600" spc="-10" dirty="0">
                <a:solidFill>
                  <a:srgbClr val="2E377E"/>
                </a:solidFill>
                <a:latin typeface="Georgia"/>
                <a:cs typeface="Georgia"/>
              </a:rPr>
              <a:t> </a:t>
            </a:r>
            <a:r>
              <a:rPr sz="3600" spc="6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organize</a:t>
            </a:r>
            <a:r>
              <a:rPr sz="3600" spc="-15" dirty="0">
                <a:solidFill>
                  <a:srgbClr val="2E377E"/>
                </a:solidFill>
                <a:latin typeface="Georgia"/>
                <a:cs typeface="Georgia"/>
              </a:rPr>
              <a:t> </a:t>
            </a:r>
            <a:r>
              <a:rPr sz="3600" dirty="0">
                <a:solidFill>
                  <a:srgbClr val="2E377E"/>
                </a:solidFill>
                <a:latin typeface="Georgia"/>
                <a:cs typeface="Georgia"/>
              </a:rPr>
              <a:t>Kubernetes</a:t>
            </a:r>
            <a:r>
              <a:rPr sz="3600" spc="-10" dirty="0">
                <a:solidFill>
                  <a:srgbClr val="2E377E"/>
                </a:solidFill>
                <a:latin typeface="Georgia"/>
                <a:cs typeface="Georgia"/>
              </a:rPr>
              <a:t> </a:t>
            </a:r>
            <a:r>
              <a:rPr sz="3600" dirty="0">
                <a:solidFill>
                  <a:srgbClr val="2E377E"/>
                </a:solidFill>
                <a:latin typeface="Georgia"/>
                <a:cs typeface="Georgia"/>
              </a:rPr>
              <a:t>Objects</a:t>
            </a:r>
            <a:r>
              <a:rPr sz="3600" spc="-15" dirty="0">
                <a:solidFill>
                  <a:srgbClr val="2E377E"/>
                </a:solidFill>
                <a:latin typeface="Georgia"/>
                <a:cs typeface="Georgia"/>
              </a:rPr>
              <a:t> </a:t>
            </a:r>
            <a:r>
              <a:rPr sz="3600" dirty="0">
                <a:solidFill>
                  <a:srgbClr val="2E377E"/>
                </a:solidFill>
                <a:latin typeface="Georgia"/>
                <a:cs typeface="Georgia"/>
              </a:rPr>
              <a:t>such</a:t>
            </a:r>
            <a:r>
              <a:rPr sz="3600" spc="-15" dirty="0">
                <a:solidFill>
                  <a:srgbClr val="2E377E"/>
                </a:solidFill>
                <a:latin typeface="Georgia"/>
                <a:cs typeface="Georgia"/>
              </a:rPr>
              <a:t> </a:t>
            </a:r>
            <a:r>
              <a:rPr sz="3600" dirty="0">
                <a:solidFill>
                  <a:srgbClr val="2E377E"/>
                </a:solidFill>
                <a:latin typeface="Georgia"/>
                <a:cs typeface="Georgia"/>
              </a:rPr>
              <a:t>as</a:t>
            </a:r>
            <a:r>
              <a:rPr sz="3600" spc="-10" dirty="0">
                <a:solidFill>
                  <a:srgbClr val="2E377E"/>
                </a:solidFill>
                <a:latin typeface="Georgia"/>
                <a:cs typeface="Georgia"/>
              </a:rPr>
              <a:t> Pods,</a:t>
            </a:r>
            <a:r>
              <a:rPr sz="3600" spc="-15" dirty="0">
                <a:solidFill>
                  <a:srgbClr val="2E377E"/>
                </a:solidFill>
                <a:latin typeface="Georgia"/>
                <a:cs typeface="Georgia"/>
              </a:rPr>
              <a:t> </a:t>
            </a:r>
            <a:r>
              <a:rPr sz="3600" dirty="0">
                <a:solidFill>
                  <a:srgbClr val="2E377E"/>
                </a:solidFill>
                <a:latin typeface="Georgia"/>
                <a:cs typeface="Georgia"/>
              </a:rPr>
              <a:t>nodes,</a:t>
            </a:r>
            <a:r>
              <a:rPr sz="3600" spc="-15" dirty="0">
                <a:solidFill>
                  <a:srgbClr val="2E377E"/>
                </a:solidFill>
                <a:latin typeface="Georgia"/>
                <a:cs typeface="Georgia"/>
              </a:rPr>
              <a:t> </a:t>
            </a:r>
            <a:r>
              <a:rPr sz="3600" spc="-20" dirty="0">
                <a:solidFill>
                  <a:srgbClr val="2E377E"/>
                </a:solidFill>
                <a:latin typeface="Georgia"/>
                <a:cs typeface="Georgia"/>
              </a:rPr>
              <a:t>etc. </a:t>
            </a:r>
            <a:r>
              <a:rPr sz="3600" dirty="0">
                <a:solidFill>
                  <a:srgbClr val="2E377E"/>
                </a:solidFill>
                <a:latin typeface="Georgia"/>
                <a:cs typeface="Georgia"/>
              </a:rPr>
              <a:t>You</a:t>
            </a:r>
            <a:r>
              <a:rPr sz="3600" spc="-5" dirty="0">
                <a:solidFill>
                  <a:srgbClr val="2E377E"/>
                </a:solidFill>
                <a:latin typeface="Georgia"/>
                <a:cs typeface="Georgia"/>
              </a:rPr>
              <a:t> </a:t>
            </a:r>
            <a:r>
              <a:rPr sz="3600" dirty="0">
                <a:solidFill>
                  <a:srgbClr val="2E377E"/>
                </a:solidFill>
                <a:latin typeface="Georgia"/>
                <a:cs typeface="Georgia"/>
              </a:rPr>
              <a:t>can add</a:t>
            </a:r>
            <a:r>
              <a:rPr sz="3600" spc="-5" dirty="0">
                <a:solidFill>
                  <a:srgbClr val="2E377E"/>
                </a:solidFill>
                <a:latin typeface="Georgia"/>
                <a:cs typeface="Georgia"/>
              </a:rPr>
              <a:t> </a:t>
            </a:r>
            <a:r>
              <a:rPr sz="3600" dirty="0">
                <a:solidFill>
                  <a:srgbClr val="2E377E"/>
                </a:solidFill>
                <a:latin typeface="Georgia"/>
                <a:cs typeface="Georgia"/>
              </a:rPr>
              <a:t>multiple labels</a:t>
            </a:r>
            <a:r>
              <a:rPr sz="3600" spc="-5" dirty="0">
                <a:solidFill>
                  <a:srgbClr val="2E377E"/>
                </a:solidFill>
                <a:latin typeface="Georgia"/>
                <a:cs typeface="Georgia"/>
              </a:rPr>
              <a:t> </a:t>
            </a:r>
            <a:r>
              <a:rPr sz="3600" spc="65" dirty="0">
                <a:solidFill>
                  <a:srgbClr val="2E377E"/>
                </a:solidFill>
                <a:latin typeface="Georgia"/>
                <a:cs typeface="Georgia"/>
              </a:rPr>
              <a:t>over</a:t>
            </a:r>
            <a:r>
              <a:rPr sz="3600" dirty="0">
                <a:solidFill>
                  <a:srgbClr val="2E377E"/>
                </a:solidFill>
                <a:latin typeface="Georgia"/>
                <a:cs typeface="Georgia"/>
              </a:rPr>
              <a:t>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Kubernetes </a:t>
            </a:r>
            <a:r>
              <a:rPr sz="3600" spc="-10" dirty="0">
                <a:solidFill>
                  <a:srgbClr val="2E377E"/>
                </a:solidFill>
                <a:latin typeface="Georgia"/>
                <a:cs typeface="Georgia"/>
              </a:rPr>
              <a:t>Objects.</a:t>
            </a:r>
            <a:endParaRPr sz="3600">
              <a:latin typeface="Georgia"/>
              <a:cs typeface="Georgia"/>
            </a:endParaRPr>
          </a:p>
          <a:p>
            <a:pPr marL="789305">
              <a:lnSpc>
                <a:spcPct val="100000"/>
              </a:lnSpc>
              <a:spcBef>
                <a:spcPts val="705"/>
              </a:spcBef>
            </a:pPr>
            <a:r>
              <a:rPr sz="3600" dirty="0">
                <a:solidFill>
                  <a:srgbClr val="2E377E"/>
                </a:solidFill>
                <a:latin typeface="Georgia"/>
                <a:cs typeface="Georgia"/>
              </a:rPr>
              <a:t>Labels</a:t>
            </a:r>
            <a:r>
              <a:rPr sz="3600" spc="-15" dirty="0">
                <a:solidFill>
                  <a:srgbClr val="2E377E"/>
                </a:solidFill>
                <a:latin typeface="Georgia"/>
                <a:cs typeface="Georgia"/>
              </a:rPr>
              <a:t> </a:t>
            </a:r>
            <a:r>
              <a:rPr sz="3600" dirty="0">
                <a:solidFill>
                  <a:srgbClr val="2E377E"/>
                </a:solidFill>
                <a:latin typeface="Georgia"/>
                <a:cs typeface="Georgia"/>
              </a:rPr>
              <a:t>are</a:t>
            </a:r>
            <a:r>
              <a:rPr sz="3600" spc="-15" dirty="0">
                <a:solidFill>
                  <a:srgbClr val="2E377E"/>
                </a:solidFill>
                <a:latin typeface="Georgia"/>
                <a:cs typeface="Georgia"/>
              </a:rPr>
              <a:t> </a:t>
            </a:r>
            <a:r>
              <a:rPr sz="3600" dirty="0">
                <a:solidFill>
                  <a:srgbClr val="2E377E"/>
                </a:solidFill>
                <a:latin typeface="Georgia"/>
                <a:cs typeface="Georgia"/>
              </a:rPr>
              <a:t>defined</a:t>
            </a:r>
            <a:r>
              <a:rPr sz="3600" spc="-15"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spc="85" dirty="0">
                <a:solidFill>
                  <a:srgbClr val="2E377E"/>
                </a:solidFill>
                <a:latin typeface="Georgia"/>
                <a:cs typeface="Georgia"/>
              </a:rPr>
              <a:t>key-</a:t>
            </a:r>
            <a:r>
              <a:rPr sz="3600" dirty="0">
                <a:solidFill>
                  <a:srgbClr val="2E377E"/>
                </a:solidFill>
                <a:latin typeface="Georgia"/>
                <a:cs typeface="Georgia"/>
              </a:rPr>
              <a:t>value</a:t>
            </a:r>
            <a:r>
              <a:rPr sz="3600" spc="-15" dirty="0">
                <a:solidFill>
                  <a:srgbClr val="2E377E"/>
                </a:solidFill>
                <a:latin typeface="Georgia"/>
                <a:cs typeface="Georgia"/>
              </a:rPr>
              <a:t> </a:t>
            </a:r>
            <a:r>
              <a:rPr sz="3600" spc="-10" dirty="0">
                <a:solidFill>
                  <a:srgbClr val="2E377E"/>
                </a:solidFill>
                <a:latin typeface="Georgia"/>
                <a:cs typeface="Georgia"/>
              </a:rPr>
              <a:t>pairs.</a:t>
            </a:r>
            <a:endParaRPr sz="3600">
              <a:latin typeface="Georgia"/>
              <a:cs typeface="Georgia"/>
            </a:endParaRPr>
          </a:p>
          <a:p>
            <a:pPr marL="789305" marR="5080">
              <a:lnSpc>
                <a:spcPct val="116300"/>
              </a:lnSpc>
            </a:pPr>
            <a:r>
              <a:rPr sz="3600" dirty="0">
                <a:solidFill>
                  <a:srgbClr val="2E377E"/>
                </a:solidFill>
                <a:latin typeface="Georgia"/>
                <a:cs typeface="Georgia"/>
              </a:rPr>
              <a:t>Labels</a:t>
            </a:r>
            <a:r>
              <a:rPr sz="3600" spc="-60" dirty="0">
                <a:solidFill>
                  <a:srgbClr val="2E377E"/>
                </a:solidFill>
                <a:latin typeface="Georgia"/>
                <a:cs typeface="Georgia"/>
              </a:rPr>
              <a:t> </a:t>
            </a:r>
            <a:r>
              <a:rPr sz="3600" dirty="0">
                <a:solidFill>
                  <a:srgbClr val="2E377E"/>
                </a:solidFill>
                <a:latin typeface="Georgia"/>
                <a:cs typeface="Georgia"/>
              </a:rPr>
              <a:t>are</a:t>
            </a:r>
            <a:r>
              <a:rPr sz="3600" spc="-60" dirty="0">
                <a:solidFill>
                  <a:srgbClr val="2E377E"/>
                </a:solidFill>
                <a:latin typeface="Georgia"/>
                <a:cs typeface="Georgia"/>
              </a:rPr>
              <a:t> </a:t>
            </a:r>
            <a:r>
              <a:rPr sz="3600" dirty="0">
                <a:solidFill>
                  <a:srgbClr val="2E377E"/>
                </a:solidFill>
                <a:latin typeface="Georgia"/>
                <a:cs typeface="Georgia"/>
              </a:rPr>
              <a:t>similar</a:t>
            </a:r>
            <a:r>
              <a:rPr sz="3600" spc="-55" dirty="0">
                <a:solidFill>
                  <a:srgbClr val="2E377E"/>
                </a:solidFill>
                <a:latin typeface="Georgia"/>
                <a:cs typeface="Georgia"/>
              </a:rPr>
              <a:t> </a:t>
            </a:r>
            <a:r>
              <a:rPr sz="3600" spc="60" dirty="0">
                <a:solidFill>
                  <a:srgbClr val="2E377E"/>
                </a:solidFill>
                <a:latin typeface="Georgia"/>
                <a:cs typeface="Georgia"/>
              </a:rPr>
              <a:t>to</a:t>
            </a:r>
            <a:r>
              <a:rPr sz="3600" spc="-60" dirty="0">
                <a:solidFill>
                  <a:srgbClr val="2E377E"/>
                </a:solidFill>
                <a:latin typeface="Georgia"/>
                <a:cs typeface="Georgia"/>
              </a:rPr>
              <a:t> </a:t>
            </a:r>
            <a:r>
              <a:rPr sz="3600" dirty="0">
                <a:solidFill>
                  <a:srgbClr val="2E377E"/>
                </a:solidFill>
                <a:latin typeface="Georgia"/>
                <a:cs typeface="Georgia"/>
              </a:rPr>
              <a:t>tags</a:t>
            </a:r>
            <a:r>
              <a:rPr sz="3600" spc="-60" dirty="0">
                <a:solidFill>
                  <a:srgbClr val="2E377E"/>
                </a:solidFill>
                <a:latin typeface="Georgia"/>
                <a:cs typeface="Georgia"/>
              </a:rPr>
              <a:t> </a:t>
            </a:r>
            <a:r>
              <a:rPr sz="3600" dirty="0">
                <a:solidFill>
                  <a:srgbClr val="2E377E"/>
                </a:solidFill>
                <a:latin typeface="Georgia"/>
                <a:cs typeface="Georgia"/>
              </a:rPr>
              <a:t>in</a:t>
            </a:r>
            <a:r>
              <a:rPr sz="3600" spc="-55" dirty="0">
                <a:solidFill>
                  <a:srgbClr val="2E377E"/>
                </a:solidFill>
                <a:latin typeface="Georgia"/>
                <a:cs typeface="Georgia"/>
              </a:rPr>
              <a:t> </a:t>
            </a:r>
            <a:r>
              <a:rPr sz="3600" spc="-120" dirty="0">
                <a:solidFill>
                  <a:srgbClr val="2E377E"/>
                </a:solidFill>
                <a:latin typeface="Georgia"/>
                <a:cs typeface="Georgia"/>
              </a:rPr>
              <a:t>AWS</a:t>
            </a:r>
            <a:r>
              <a:rPr sz="3600" spc="-60" dirty="0">
                <a:solidFill>
                  <a:srgbClr val="2E377E"/>
                </a:solidFill>
                <a:latin typeface="Georgia"/>
                <a:cs typeface="Georgia"/>
              </a:rPr>
              <a:t> </a:t>
            </a:r>
            <a:r>
              <a:rPr sz="3600" dirty="0">
                <a:solidFill>
                  <a:srgbClr val="2E377E"/>
                </a:solidFill>
                <a:latin typeface="Georgia"/>
                <a:cs typeface="Georgia"/>
              </a:rPr>
              <a:t>or</a:t>
            </a:r>
            <a:r>
              <a:rPr sz="3600" spc="-60" dirty="0">
                <a:solidFill>
                  <a:srgbClr val="2E377E"/>
                </a:solidFill>
                <a:latin typeface="Georgia"/>
                <a:cs typeface="Georgia"/>
              </a:rPr>
              <a:t> </a:t>
            </a:r>
            <a:r>
              <a:rPr sz="3600" dirty="0">
                <a:solidFill>
                  <a:srgbClr val="2E377E"/>
                </a:solidFill>
                <a:latin typeface="Georgia"/>
                <a:cs typeface="Georgia"/>
              </a:rPr>
              <a:t>Azure</a:t>
            </a:r>
            <a:r>
              <a:rPr sz="3600" spc="-55" dirty="0">
                <a:solidFill>
                  <a:srgbClr val="2E377E"/>
                </a:solidFill>
                <a:latin typeface="Georgia"/>
                <a:cs typeface="Georgia"/>
              </a:rPr>
              <a:t> </a:t>
            </a:r>
            <a:r>
              <a:rPr sz="3600" spc="65" dirty="0">
                <a:solidFill>
                  <a:srgbClr val="2E377E"/>
                </a:solidFill>
                <a:latin typeface="Georgia"/>
                <a:cs typeface="Georgia"/>
              </a:rPr>
              <a:t>where</a:t>
            </a:r>
            <a:r>
              <a:rPr sz="3600" spc="-60" dirty="0">
                <a:solidFill>
                  <a:srgbClr val="2E377E"/>
                </a:solidFill>
                <a:latin typeface="Georgia"/>
                <a:cs typeface="Georgia"/>
              </a:rPr>
              <a:t> </a:t>
            </a:r>
            <a:r>
              <a:rPr sz="3600" spc="80" dirty="0">
                <a:solidFill>
                  <a:srgbClr val="2E377E"/>
                </a:solidFill>
                <a:latin typeface="Georgia"/>
                <a:cs typeface="Georgia"/>
              </a:rPr>
              <a:t>you</a:t>
            </a:r>
            <a:r>
              <a:rPr sz="3600" spc="-55" dirty="0">
                <a:solidFill>
                  <a:srgbClr val="2E377E"/>
                </a:solidFill>
                <a:latin typeface="Georgia"/>
                <a:cs typeface="Georgia"/>
              </a:rPr>
              <a:t> </a:t>
            </a:r>
            <a:r>
              <a:rPr sz="3600" spc="60" dirty="0">
                <a:solidFill>
                  <a:srgbClr val="2E377E"/>
                </a:solidFill>
                <a:latin typeface="Georgia"/>
                <a:cs typeface="Georgia"/>
              </a:rPr>
              <a:t>give</a:t>
            </a:r>
            <a:r>
              <a:rPr sz="3600" spc="-60" dirty="0">
                <a:solidFill>
                  <a:srgbClr val="2E377E"/>
                </a:solidFill>
                <a:latin typeface="Georgia"/>
                <a:cs typeface="Georgia"/>
              </a:rPr>
              <a:t> </a:t>
            </a:r>
            <a:r>
              <a:rPr sz="3600" dirty="0">
                <a:solidFill>
                  <a:srgbClr val="2E377E"/>
                </a:solidFill>
                <a:latin typeface="Georgia"/>
                <a:cs typeface="Georgia"/>
              </a:rPr>
              <a:t>a</a:t>
            </a:r>
            <a:r>
              <a:rPr sz="3600" spc="-60" dirty="0">
                <a:solidFill>
                  <a:srgbClr val="2E377E"/>
                </a:solidFill>
                <a:latin typeface="Georgia"/>
                <a:cs typeface="Georgia"/>
              </a:rPr>
              <a:t> </a:t>
            </a:r>
            <a:r>
              <a:rPr sz="3600" dirty="0">
                <a:solidFill>
                  <a:srgbClr val="2E377E"/>
                </a:solidFill>
                <a:latin typeface="Georgia"/>
                <a:cs typeface="Georgia"/>
              </a:rPr>
              <a:t>name</a:t>
            </a:r>
            <a:r>
              <a:rPr sz="3600" spc="-55" dirty="0">
                <a:solidFill>
                  <a:srgbClr val="2E377E"/>
                </a:solidFill>
                <a:latin typeface="Georgia"/>
                <a:cs typeface="Georgia"/>
              </a:rPr>
              <a:t> </a:t>
            </a:r>
            <a:r>
              <a:rPr sz="3600" spc="60" dirty="0">
                <a:solidFill>
                  <a:srgbClr val="2E377E"/>
                </a:solidFill>
                <a:latin typeface="Georgia"/>
                <a:cs typeface="Georgia"/>
              </a:rPr>
              <a:t>to</a:t>
            </a:r>
            <a:r>
              <a:rPr sz="3600" spc="-60" dirty="0">
                <a:solidFill>
                  <a:srgbClr val="2E377E"/>
                </a:solidFill>
                <a:latin typeface="Georgia"/>
                <a:cs typeface="Georgia"/>
              </a:rPr>
              <a:t> </a:t>
            </a:r>
            <a:r>
              <a:rPr sz="3600" spc="-10" dirty="0">
                <a:solidFill>
                  <a:srgbClr val="2E377E"/>
                </a:solidFill>
                <a:latin typeface="Georgia"/>
                <a:cs typeface="Georgia"/>
              </a:rPr>
              <a:t>filter </a:t>
            </a:r>
            <a:r>
              <a:rPr sz="3600" spc="50" dirty="0">
                <a:solidFill>
                  <a:srgbClr val="2E377E"/>
                </a:solidFill>
                <a:latin typeface="Georgia"/>
                <a:cs typeface="Georgia"/>
              </a:rPr>
              <a:t>the</a:t>
            </a:r>
            <a:r>
              <a:rPr sz="3600" spc="70" dirty="0">
                <a:solidFill>
                  <a:srgbClr val="2E377E"/>
                </a:solidFill>
                <a:latin typeface="Georgia"/>
                <a:cs typeface="Georgia"/>
              </a:rPr>
              <a:t> </a:t>
            </a:r>
            <a:r>
              <a:rPr sz="3600" dirty="0">
                <a:solidFill>
                  <a:srgbClr val="2E377E"/>
                </a:solidFill>
                <a:latin typeface="Georgia"/>
                <a:cs typeface="Georgia"/>
              </a:rPr>
              <a:t>resources</a:t>
            </a:r>
            <a:r>
              <a:rPr sz="3600" spc="75" dirty="0">
                <a:solidFill>
                  <a:srgbClr val="2E377E"/>
                </a:solidFill>
                <a:latin typeface="Georgia"/>
                <a:cs typeface="Georgia"/>
              </a:rPr>
              <a:t> </a:t>
            </a:r>
            <a:r>
              <a:rPr sz="3600" spc="-10" dirty="0">
                <a:solidFill>
                  <a:srgbClr val="2E377E"/>
                </a:solidFill>
                <a:latin typeface="Georgia"/>
                <a:cs typeface="Georgia"/>
              </a:rPr>
              <a:t>quickly.</a:t>
            </a:r>
            <a:endParaRPr sz="3600">
              <a:latin typeface="Georgia"/>
              <a:cs typeface="Georgia"/>
            </a:endParaRPr>
          </a:p>
          <a:p>
            <a:pPr marL="789305" marR="1504315">
              <a:lnSpc>
                <a:spcPct val="116300"/>
              </a:lnSpc>
              <a:spcBef>
                <a:spcPts val="5"/>
              </a:spcBef>
            </a:pPr>
            <a:r>
              <a:rPr sz="3600" dirty="0">
                <a:solidFill>
                  <a:srgbClr val="2E377E"/>
                </a:solidFill>
                <a:latin typeface="Georgia"/>
                <a:cs typeface="Georgia"/>
              </a:rPr>
              <a:t>You</a:t>
            </a:r>
            <a:r>
              <a:rPr sz="3600" spc="50" dirty="0">
                <a:solidFill>
                  <a:srgbClr val="2E377E"/>
                </a:solidFill>
                <a:latin typeface="Georgia"/>
                <a:cs typeface="Georgia"/>
              </a:rPr>
              <a:t> </a:t>
            </a:r>
            <a:r>
              <a:rPr sz="3600" dirty="0">
                <a:solidFill>
                  <a:srgbClr val="2E377E"/>
                </a:solidFill>
                <a:latin typeface="Georgia"/>
                <a:cs typeface="Georgia"/>
              </a:rPr>
              <a:t>can</a:t>
            </a:r>
            <a:r>
              <a:rPr sz="3600" spc="55" dirty="0">
                <a:solidFill>
                  <a:srgbClr val="2E377E"/>
                </a:solidFill>
                <a:latin typeface="Georgia"/>
                <a:cs typeface="Georgia"/>
              </a:rPr>
              <a:t> </a:t>
            </a:r>
            <a:r>
              <a:rPr sz="3600" dirty="0">
                <a:solidFill>
                  <a:srgbClr val="2E377E"/>
                </a:solidFill>
                <a:latin typeface="Georgia"/>
                <a:cs typeface="Georgia"/>
              </a:rPr>
              <a:t>add</a:t>
            </a:r>
            <a:r>
              <a:rPr sz="3600" spc="50" dirty="0">
                <a:solidFill>
                  <a:srgbClr val="2E377E"/>
                </a:solidFill>
                <a:latin typeface="Georgia"/>
                <a:cs typeface="Georgia"/>
              </a:rPr>
              <a:t> </a:t>
            </a:r>
            <a:r>
              <a:rPr sz="3600" dirty="0">
                <a:solidFill>
                  <a:srgbClr val="2E377E"/>
                </a:solidFill>
                <a:latin typeface="Georgia"/>
                <a:cs typeface="Georgia"/>
              </a:rPr>
              <a:t>labels</a:t>
            </a:r>
            <a:r>
              <a:rPr sz="3600" spc="55" dirty="0">
                <a:solidFill>
                  <a:srgbClr val="2E377E"/>
                </a:solidFill>
                <a:latin typeface="Georgia"/>
                <a:cs typeface="Georgia"/>
              </a:rPr>
              <a:t> </a:t>
            </a:r>
            <a:r>
              <a:rPr sz="3600" dirty="0">
                <a:solidFill>
                  <a:srgbClr val="2E377E"/>
                </a:solidFill>
                <a:latin typeface="Georgia"/>
                <a:cs typeface="Georgia"/>
              </a:rPr>
              <a:t>like</a:t>
            </a:r>
            <a:r>
              <a:rPr sz="3600" spc="55" dirty="0">
                <a:solidFill>
                  <a:srgbClr val="2E377E"/>
                </a:solidFill>
                <a:latin typeface="Georgia"/>
                <a:cs typeface="Georgia"/>
              </a:rPr>
              <a:t> </a:t>
            </a:r>
            <a:r>
              <a:rPr sz="3600" dirty="0">
                <a:solidFill>
                  <a:srgbClr val="2E377E"/>
                </a:solidFill>
                <a:latin typeface="Georgia"/>
                <a:cs typeface="Georgia"/>
              </a:rPr>
              <a:t>environment,</a:t>
            </a:r>
            <a:r>
              <a:rPr sz="3600" spc="50" dirty="0">
                <a:solidFill>
                  <a:srgbClr val="2E377E"/>
                </a:solidFill>
                <a:latin typeface="Georgia"/>
                <a:cs typeface="Georgia"/>
              </a:rPr>
              <a:t> </a:t>
            </a:r>
            <a:r>
              <a:rPr sz="3600" dirty="0">
                <a:solidFill>
                  <a:srgbClr val="2E377E"/>
                </a:solidFill>
                <a:latin typeface="Georgia"/>
                <a:cs typeface="Georgia"/>
              </a:rPr>
              <a:t>department</a:t>
            </a:r>
            <a:r>
              <a:rPr sz="3600" spc="55" dirty="0">
                <a:solidFill>
                  <a:srgbClr val="2E377E"/>
                </a:solidFill>
                <a:latin typeface="Georgia"/>
                <a:cs typeface="Georgia"/>
              </a:rPr>
              <a:t> </a:t>
            </a:r>
            <a:r>
              <a:rPr sz="3600" dirty="0">
                <a:solidFill>
                  <a:srgbClr val="2E377E"/>
                </a:solidFill>
                <a:latin typeface="Georgia"/>
                <a:cs typeface="Georgia"/>
              </a:rPr>
              <a:t>or</a:t>
            </a:r>
            <a:r>
              <a:rPr sz="3600" spc="55" dirty="0">
                <a:solidFill>
                  <a:srgbClr val="2E377E"/>
                </a:solidFill>
                <a:latin typeface="Georgia"/>
                <a:cs typeface="Georgia"/>
              </a:rPr>
              <a:t> </a:t>
            </a:r>
            <a:r>
              <a:rPr sz="3600" dirty="0">
                <a:solidFill>
                  <a:srgbClr val="2E377E"/>
                </a:solidFill>
                <a:latin typeface="Georgia"/>
                <a:cs typeface="Georgia"/>
              </a:rPr>
              <a:t>anything</a:t>
            </a:r>
            <a:r>
              <a:rPr sz="3600" spc="50" dirty="0">
                <a:solidFill>
                  <a:srgbClr val="2E377E"/>
                </a:solidFill>
                <a:latin typeface="Georgia"/>
                <a:cs typeface="Georgia"/>
              </a:rPr>
              <a:t> </a:t>
            </a:r>
            <a:r>
              <a:rPr sz="3600" spc="-20" dirty="0">
                <a:solidFill>
                  <a:srgbClr val="2E377E"/>
                </a:solidFill>
                <a:latin typeface="Georgia"/>
                <a:cs typeface="Georgia"/>
              </a:rPr>
              <a:t>else </a:t>
            </a:r>
            <a:r>
              <a:rPr sz="3600" dirty="0">
                <a:solidFill>
                  <a:srgbClr val="2E377E"/>
                </a:solidFill>
                <a:latin typeface="Georgia"/>
                <a:cs typeface="Georgia"/>
              </a:rPr>
              <a:t>according</a:t>
            </a:r>
            <a:r>
              <a:rPr sz="3600" spc="-15" dirty="0">
                <a:solidFill>
                  <a:srgbClr val="2E377E"/>
                </a:solidFill>
                <a:latin typeface="Georgia"/>
                <a:cs typeface="Georgia"/>
              </a:rPr>
              <a:t> </a:t>
            </a:r>
            <a:r>
              <a:rPr sz="3600" spc="60" dirty="0">
                <a:solidFill>
                  <a:srgbClr val="2E377E"/>
                </a:solidFill>
                <a:latin typeface="Georgia"/>
                <a:cs typeface="Georgia"/>
              </a:rPr>
              <a:t>to</a:t>
            </a:r>
            <a:r>
              <a:rPr sz="3600" spc="-15" dirty="0">
                <a:solidFill>
                  <a:srgbClr val="2E377E"/>
                </a:solidFill>
                <a:latin typeface="Georgia"/>
                <a:cs typeface="Georgia"/>
              </a:rPr>
              <a:t> </a:t>
            </a:r>
            <a:r>
              <a:rPr sz="3600" spc="-20" dirty="0">
                <a:solidFill>
                  <a:srgbClr val="2E377E"/>
                </a:solidFill>
                <a:latin typeface="Georgia"/>
                <a:cs typeface="Georgia"/>
              </a:rPr>
              <a:t>you.</a:t>
            </a:r>
            <a:endParaRPr sz="3600">
              <a:latin typeface="Georgia"/>
              <a:cs typeface="Georg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17852" rIns="0" bIns="0" rtlCol="0">
            <a:spAutoFit/>
          </a:bodyPr>
          <a:lstStyle/>
          <a:p>
            <a:pPr marL="299085">
              <a:lnSpc>
                <a:spcPct val="100000"/>
              </a:lnSpc>
              <a:spcBef>
                <a:spcPts val="100"/>
              </a:spcBef>
            </a:pPr>
            <a:r>
              <a:rPr spc="60" dirty="0">
                <a:solidFill>
                  <a:srgbClr val="FF3131"/>
                </a:solidFill>
              </a:rPr>
              <a:t>Label-</a:t>
            </a:r>
            <a:r>
              <a:rPr spc="-10" dirty="0">
                <a:solidFill>
                  <a:srgbClr val="FF3131"/>
                </a:solidFill>
              </a:rPr>
              <a:t>Selectors:</a:t>
            </a:r>
          </a:p>
        </p:txBody>
      </p:sp>
      <p:pic>
        <p:nvPicPr>
          <p:cNvPr id="3" name="object 3"/>
          <p:cNvPicPr/>
          <p:nvPr/>
        </p:nvPicPr>
        <p:blipFill>
          <a:blip r:embed="rId2" cstate="print"/>
          <a:stretch>
            <a:fillRect/>
          </a:stretch>
        </p:blipFill>
        <p:spPr>
          <a:xfrm>
            <a:off x="1670442" y="2857500"/>
            <a:ext cx="133350" cy="133349"/>
          </a:xfrm>
          <a:prstGeom prst="rect">
            <a:avLst/>
          </a:prstGeom>
        </p:spPr>
      </p:pic>
      <p:sp>
        <p:nvSpPr>
          <p:cNvPr id="4" name="object 4"/>
          <p:cNvSpPr txBox="1"/>
          <p:nvPr/>
        </p:nvSpPr>
        <p:spPr>
          <a:xfrm>
            <a:off x="1987248" y="2498089"/>
            <a:ext cx="14692630" cy="4492625"/>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Once</a:t>
            </a:r>
            <a:r>
              <a:rPr sz="3600" spc="40" dirty="0">
                <a:solidFill>
                  <a:srgbClr val="2E377E"/>
                </a:solidFill>
                <a:latin typeface="Georgia"/>
                <a:cs typeface="Georgia"/>
              </a:rPr>
              <a:t> </a:t>
            </a:r>
            <a:r>
              <a:rPr sz="3600" spc="5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labels</a:t>
            </a:r>
            <a:r>
              <a:rPr sz="3600" spc="40" dirty="0">
                <a:solidFill>
                  <a:srgbClr val="2E377E"/>
                </a:solidFill>
                <a:latin typeface="Georgia"/>
                <a:cs typeface="Georgia"/>
              </a:rPr>
              <a:t> </a:t>
            </a:r>
            <a:r>
              <a:rPr sz="3600" dirty="0">
                <a:solidFill>
                  <a:srgbClr val="2E377E"/>
                </a:solidFill>
                <a:latin typeface="Georgia"/>
                <a:cs typeface="Georgia"/>
              </a:rPr>
              <a:t>are</a:t>
            </a:r>
            <a:r>
              <a:rPr sz="3600" spc="45" dirty="0">
                <a:solidFill>
                  <a:srgbClr val="2E377E"/>
                </a:solidFill>
                <a:latin typeface="Georgia"/>
                <a:cs typeface="Georgia"/>
              </a:rPr>
              <a:t> </a:t>
            </a:r>
            <a:r>
              <a:rPr sz="3600" dirty="0">
                <a:solidFill>
                  <a:srgbClr val="2E377E"/>
                </a:solidFill>
                <a:latin typeface="Georgia"/>
                <a:cs typeface="Georgia"/>
              </a:rPr>
              <a:t>attached</a:t>
            </a:r>
            <a:r>
              <a:rPr sz="3600" spc="40" dirty="0">
                <a:solidFill>
                  <a:srgbClr val="2E377E"/>
                </a:solidFill>
                <a:latin typeface="Georgia"/>
                <a:cs typeface="Georgia"/>
              </a:rPr>
              <a:t> </a:t>
            </a:r>
            <a:r>
              <a:rPr sz="3600" spc="60" dirty="0">
                <a:solidFill>
                  <a:srgbClr val="2E377E"/>
                </a:solidFill>
                <a:latin typeface="Georgia"/>
                <a:cs typeface="Georgia"/>
              </a:rPr>
              <a:t>to</a:t>
            </a:r>
            <a:r>
              <a:rPr sz="3600" spc="40" dirty="0">
                <a:solidFill>
                  <a:srgbClr val="2E377E"/>
                </a:solidFill>
                <a:latin typeface="Georgia"/>
                <a:cs typeface="Georgia"/>
              </a:rPr>
              <a:t> </a:t>
            </a:r>
            <a:r>
              <a:rPr sz="3600" spc="5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Kubernetes</a:t>
            </a:r>
            <a:r>
              <a:rPr sz="3600" spc="40" dirty="0">
                <a:solidFill>
                  <a:srgbClr val="2E377E"/>
                </a:solidFill>
                <a:latin typeface="Georgia"/>
                <a:cs typeface="Georgia"/>
              </a:rPr>
              <a:t> </a:t>
            </a:r>
            <a:r>
              <a:rPr sz="3600" dirty="0">
                <a:solidFill>
                  <a:srgbClr val="2E377E"/>
                </a:solidFill>
                <a:latin typeface="Georgia"/>
                <a:cs typeface="Georgia"/>
              </a:rPr>
              <a:t>objects</a:t>
            </a:r>
            <a:r>
              <a:rPr sz="3600" spc="40" dirty="0">
                <a:solidFill>
                  <a:srgbClr val="2E377E"/>
                </a:solidFill>
                <a:latin typeface="Georgia"/>
                <a:cs typeface="Georgia"/>
              </a:rPr>
              <a:t> </a:t>
            </a:r>
            <a:r>
              <a:rPr sz="3600" dirty="0">
                <a:solidFill>
                  <a:srgbClr val="2E377E"/>
                </a:solidFill>
                <a:latin typeface="Georgia"/>
                <a:cs typeface="Georgia"/>
              </a:rPr>
              <a:t>those</a:t>
            </a:r>
            <a:r>
              <a:rPr sz="3600" spc="45" dirty="0">
                <a:solidFill>
                  <a:srgbClr val="2E377E"/>
                </a:solidFill>
                <a:latin typeface="Georgia"/>
                <a:cs typeface="Georgia"/>
              </a:rPr>
              <a:t> </a:t>
            </a:r>
            <a:r>
              <a:rPr sz="3600" dirty="0">
                <a:solidFill>
                  <a:srgbClr val="2E377E"/>
                </a:solidFill>
                <a:latin typeface="Georgia"/>
                <a:cs typeface="Georgia"/>
              </a:rPr>
              <a:t>objects</a:t>
            </a:r>
            <a:r>
              <a:rPr sz="3600" spc="40" dirty="0">
                <a:solidFill>
                  <a:srgbClr val="2E377E"/>
                </a:solidFill>
                <a:latin typeface="Georgia"/>
                <a:cs typeface="Georgia"/>
              </a:rPr>
              <a:t> </a:t>
            </a:r>
            <a:r>
              <a:rPr sz="3600" spc="-20" dirty="0">
                <a:solidFill>
                  <a:srgbClr val="2E377E"/>
                </a:solidFill>
                <a:latin typeface="Georgia"/>
                <a:cs typeface="Georgia"/>
              </a:rPr>
              <a:t>will </a:t>
            </a:r>
            <a:r>
              <a:rPr sz="3600" dirty="0">
                <a:solidFill>
                  <a:srgbClr val="2E377E"/>
                </a:solidFill>
                <a:latin typeface="Georgia"/>
                <a:cs typeface="Georgia"/>
              </a:rPr>
              <a:t>be</a:t>
            </a:r>
            <a:r>
              <a:rPr sz="3600" spc="-20" dirty="0">
                <a:solidFill>
                  <a:srgbClr val="2E377E"/>
                </a:solidFill>
                <a:latin typeface="Georgia"/>
                <a:cs typeface="Georgia"/>
              </a:rPr>
              <a:t> </a:t>
            </a:r>
            <a:r>
              <a:rPr sz="3600" dirty="0">
                <a:solidFill>
                  <a:srgbClr val="2E377E"/>
                </a:solidFill>
                <a:latin typeface="Georgia"/>
                <a:cs typeface="Georgia"/>
              </a:rPr>
              <a:t>filtered</a:t>
            </a:r>
            <a:r>
              <a:rPr sz="3600" spc="-20" dirty="0">
                <a:solidFill>
                  <a:srgbClr val="2E377E"/>
                </a:solidFill>
                <a:latin typeface="Georgia"/>
                <a:cs typeface="Georgia"/>
              </a:rPr>
              <a:t> </a:t>
            </a:r>
            <a:r>
              <a:rPr sz="3600" spc="55" dirty="0">
                <a:solidFill>
                  <a:srgbClr val="2E377E"/>
                </a:solidFill>
                <a:latin typeface="Georgia"/>
                <a:cs typeface="Georgia"/>
              </a:rPr>
              <a:t>out</a:t>
            </a:r>
            <a:r>
              <a:rPr sz="3600" spc="-20" dirty="0">
                <a:solidFill>
                  <a:srgbClr val="2E377E"/>
                </a:solidFill>
                <a:latin typeface="Georgia"/>
                <a:cs typeface="Georgia"/>
              </a:rPr>
              <a:t> </a:t>
            </a:r>
            <a:r>
              <a:rPr sz="3600" spc="75" dirty="0">
                <a:solidFill>
                  <a:srgbClr val="2E377E"/>
                </a:solidFill>
                <a:latin typeface="Georgia"/>
                <a:cs typeface="Georgia"/>
              </a:rPr>
              <a:t>with</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help</a:t>
            </a:r>
            <a:r>
              <a:rPr sz="3600" spc="-20"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dirty="0">
                <a:solidFill>
                  <a:srgbClr val="2E377E"/>
                </a:solidFill>
                <a:latin typeface="Georgia"/>
                <a:cs typeface="Georgia"/>
              </a:rPr>
              <a:t>labels-Selectors</a:t>
            </a:r>
            <a:r>
              <a:rPr sz="3600" spc="-20" dirty="0">
                <a:solidFill>
                  <a:srgbClr val="2E377E"/>
                </a:solidFill>
                <a:latin typeface="Georgia"/>
                <a:cs typeface="Georgia"/>
              </a:rPr>
              <a:t> </a:t>
            </a:r>
            <a:r>
              <a:rPr sz="3600" spc="65" dirty="0">
                <a:solidFill>
                  <a:srgbClr val="2E377E"/>
                </a:solidFill>
                <a:latin typeface="Georgia"/>
                <a:cs typeface="Georgia"/>
              </a:rPr>
              <a:t>known</a:t>
            </a:r>
            <a:r>
              <a:rPr sz="3600" spc="-20" dirty="0">
                <a:solidFill>
                  <a:srgbClr val="2E377E"/>
                </a:solidFill>
                <a:latin typeface="Georgia"/>
                <a:cs typeface="Georgia"/>
              </a:rPr>
              <a:t> </a:t>
            </a:r>
            <a:r>
              <a:rPr sz="3600" dirty="0">
                <a:solidFill>
                  <a:srgbClr val="2E377E"/>
                </a:solidFill>
                <a:latin typeface="Georgia"/>
                <a:cs typeface="Georgia"/>
              </a:rPr>
              <a:t>as</a:t>
            </a:r>
            <a:r>
              <a:rPr sz="3600" spc="-20" dirty="0">
                <a:solidFill>
                  <a:srgbClr val="2E377E"/>
                </a:solidFill>
                <a:latin typeface="Georgia"/>
                <a:cs typeface="Georgia"/>
              </a:rPr>
              <a:t> </a:t>
            </a:r>
            <a:r>
              <a:rPr sz="3600" spc="-10" dirty="0">
                <a:solidFill>
                  <a:srgbClr val="2E377E"/>
                </a:solidFill>
                <a:latin typeface="Georgia"/>
                <a:cs typeface="Georgia"/>
              </a:rPr>
              <a:t>Selectors.</a:t>
            </a:r>
            <a:endParaRPr sz="3600">
              <a:latin typeface="Georgia"/>
              <a:cs typeface="Georgia"/>
            </a:endParaRPr>
          </a:p>
          <a:p>
            <a:pPr>
              <a:lnSpc>
                <a:spcPct val="100000"/>
              </a:lnSpc>
            </a:pPr>
            <a:endParaRPr sz="3600">
              <a:latin typeface="Georgia"/>
              <a:cs typeface="Georgia"/>
            </a:endParaRPr>
          </a:p>
          <a:p>
            <a:pPr>
              <a:lnSpc>
                <a:spcPct val="100000"/>
              </a:lnSpc>
              <a:spcBef>
                <a:spcPts val="1870"/>
              </a:spcBef>
            </a:pPr>
            <a:endParaRPr sz="3600">
              <a:latin typeface="Georgia"/>
              <a:cs typeface="Georgia"/>
            </a:endParaRPr>
          </a:p>
          <a:p>
            <a:pPr marL="12700" marR="54610">
              <a:lnSpc>
                <a:spcPct val="116300"/>
              </a:lnSpc>
            </a:pPr>
            <a:r>
              <a:rPr sz="3600" dirty="0">
                <a:solidFill>
                  <a:srgbClr val="2E377E"/>
                </a:solidFill>
                <a:latin typeface="Georgia"/>
                <a:cs typeface="Georgia"/>
              </a:rPr>
              <a:t>The</a:t>
            </a:r>
            <a:r>
              <a:rPr sz="3600" spc="25" dirty="0">
                <a:solidFill>
                  <a:srgbClr val="2E377E"/>
                </a:solidFill>
                <a:latin typeface="Georgia"/>
                <a:cs typeface="Georgia"/>
              </a:rPr>
              <a:t> </a:t>
            </a:r>
            <a:r>
              <a:rPr sz="3600" spc="-60" dirty="0">
                <a:solidFill>
                  <a:srgbClr val="2E377E"/>
                </a:solidFill>
                <a:latin typeface="Georgia"/>
                <a:cs typeface="Georgia"/>
              </a:rPr>
              <a:t>API</a:t>
            </a:r>
            <a:r>
              <a:rPr sz="3600" spc="30" dirty="0">
                <a:solidFill>
                  <a:srgbClr val="2E377E"/>
                </a:solidFill>
                <a:latin typeface="Georgia"/>
                <a:cs typeface="Georgia"/>
              </a:rPr>
              <a:t> </a:t>
            </a:r>
            <a:r>
              <a:rPr sz="3600" spc="55" dirty="0">
                <a:solidFill>
                  <a:srgbClr val="2E377E"/>
                </a:solidFill>
                <a:latin typeface="Georgia"/>
                <a:cs typeface="Georgia"/>
              </a:rPr>
              <a:t>currently</a:t>
            </a:r>
            <a:r>
              <a:rPr sz="3600" spc="25" dirty="0">
                <a:solidFill>
                  <a:srgbClr val="2E377E"/>
                </a:solidFill>
                <a:latin typeface="Georgia"/>
                <a:cs typeface="Georgia"/>
              </a:rPr>
              <a:t> </a:t>
            </a:r>
            <a:r>
              <a:rPr sz="3600" dirty="0">
                <a:solidFill>
                  <a:srgbClr val="2E377E"/>
                </a:solidFill>
                <a:latin typeface="Georgia"/>
                <a:cs typeface="Georgia"/>
              </a:rPr>
              <a:t>supports</a:t>
            </a:r>
            <a:r>
              <a:rPr sz="3600" spc="30" dirty="0">
                <a:solidFill>
                  <a:srgbClr val="2E377E"/>
                </a:solidFill>
                <a:latin typeface="Georgia"/>
                <a:cs typeface="Georgia"/>
              </a:rPr>
              <a:t> </a:t>
            </a:r>
            <a:r>
              <a:rPr sz="3600" spc="105" dirty="0">
                <a:solidFill>
                  <a:srgbClr val="2E377E"/>
                </a:solidFill>
                <a:latin typeface="Georgia"/>
                <a:cs typeface="Georgia"/>
              </a:rPr>
              <a:t>two</a:t>
            </a:r>
            <a:r>
              <a:rPr sz="3600" spc="25" dirty="0">
                <a:solidFill>
                  <a:srgbClr val="2E377E"/>
                </a:solidFill>
                <a:latin typeface="Georgia"/>
                <a:cs typeface="Georgia"/>
              </a:rPr>
              <a:t> </a:t>
            </a:r>
            <a:r>
              <a:rPr sz="3600" spc="75" dirty="0">
                <a:solidFill>
                  <a:srgbClr val="2E377E"/>
                </a:solidFill>
                <a:latin typeface="Georgia"/>
                <a:cs typeface="Georgia"/>
              </a:rPr>
              <a:t>types</a:t>
            </a:r>
            <a:r>
              <a:rPr sz="3600" spc="30" dirty="0">
                <a:solidFill>
                  <a:srgbClr val="2E377E"/>
                </a:solidFill>
                <a:latin typeface="Georgia"/>
                <a:cs typeface="Georgia"/>
              </a:rPr>
              <a:t> </a:t>
            </a:r>
            <a:r>
              <a:rPr sz="3600" dirty="0">
                <a:solidFill>
                  <a:srgbClr val="2E377E"/>
                </a:solidFill>
                <a:latin typeface="Georgia"/>
                <a:cs typeface="Georgia"/>
              </a:rPr>
              <a:t>of</a:t>
            </a:r>
            <a:r>
              <a:rPr sz="3600" spc="30" dirty="0">
                <a:solidFill>
                  <a:srgbClr val="2E377E"/>
                </a:solidFill>
                <a:latin typeface="Georgia"/>
                <a:cs typeface="Georgia"/>
              </a:rPr>
              <a:t> </a:t>
            </a:r>
            <a:r>
              <a:rPr sz="3600" spc="-10" dirty="0">
                <a:solidFill>
                  <a:srgbClr val="2E377E"/>
                </a:solidFill>
                <a:latin typeface="Georgia"/>
                <a:cs typeface="Georgia"/>
              </a:rPr>
              <a:t>label-</a:t>
            </a:r>
            <a:r>
              <a:rPr sz="3600" dirty="0">
                <a:solidFill>
                  <a:srgbClr val="2E377E"/>
                </a:solidFill>
                <a:latin typeface="Georgia"/>
                <a:cs typeface="Georgia"/>
              </a:rPr>
              <a:t>selectors</a:t>
            </a:r>
            <a:r>
              <a:rPr sz="3600" spc="25" dirty="0">
                <a:solidFill>
                  <a:srgbClr val="2E377E"/>
                </a:solidFill>
                <a:latin typeface="Georgia"/>
                <a:cs typeface="Georgia"/>
              </a:rPr>
              <a:t> </a:t>
            </a:r>
            <a:r>
              <a:rPr sz="3600" dirty="0">
                <a:solidFill>
                  <a:srgbClr val="2E377E"/>
                </a:solidFill>
                <a:latin typeface="Georgia"/>
                <a:cs typeface="Georgia"/>
              </a:rPr>
              <a:t>equality-</a:t>
            </a:r>
            <a:r>
              <a:rPr sz="3600" spc="-20" dirty="0">
                <a:solidFill>
                  <a:srgbClr val="2E377E"/>
                </a:solidFill>
                <a:latin typeface="Georgia"/>
                <a:cs typeface="Georgia"/>
              </a:rPr>
              <a:t>based </a:t>
            </a:r>
            <a:r>
              <a:rPr sz="3600" dirty="0">
                <a:solidFill>
                  <a:srgbClr val="2E377E"/>
                </a:solidFill>
                <a:latin typeface="Georgia"/>
                <a:cs typeface="Georgia"/>
              </a:rPr>
              <a:t>and</a:t>
            </a:r>
            <a:r>
              <a:rPr sz="3600" spc="25" dirty="0">
                <a:solidFill>
                  <a:srgbClr val="2E377E"/>
                </a:solidFill>
                <a:latin typeface="Georgia"/>
                <a:cs typeface="Georgia"/>
              </a:rPr>
              <a:t> </a:t>
            </a:r>
            <a:r>
              <a:rPr sz="3600" dirty="0">
                <a:solidFill>
                  <a:srgbClr val="2E377E"/>
                </a:solidFill>
                <a:latin typeface="Georgia"/>
                <a:cs typeface="Georgia"/>
              </a:rPr>
              <a:t>set-</a:t>
            </a:r>
            <a:r>
              <a:rPr sz="3600" spc="-10" dirty="0">
                <a:solidFill>
                  <a:srgbClr val="2E377E"/>
                </a:solidFill>
                <a:latin typeface="Georgia"/>
                <a:cs typeface="Georgia"/>
              </a:rPr>
              <a:t>based.</a:t>
            </a:r>
            <a:r>
              <a:rPr sz="3600" spc="25" dirty="0">
                <a:solidFill>
                  <a:srgbClr val="2E377E"/>
                </a:solidFill>
                <a:latin typeface="Georgia"/>
                <a:cs typeface="Georgia"/>
              </a:rPr>
              <a:t> </a:t>
            </a:r>
            <a:r>
              <a:rPr sz="3600" spc="-10" dirty="0">
                <a:solidFill>
                  <a:srgbClr val="2E377E"/>
                </a:solidFill>
                <a:latin typeface="Georgia"/>
                <a:cs typeface="Georgia"/>
              </a:rPr>
              <a:t>Label</a:t>
            </a:r>
            <a:r>
              <a:rPr sz="3600" spc="25" dirty="0">
                <a:solidFill>
                  <a:srgbClr val="2E377E"/>
                </a:solidFill>
                <a:latin typeface="Georgia"/>
                <a:cs typeface="Georgia"/>
              </a:rPr>
              <a:t> </a:t>
            </a:r>
            <a:r>
              <a:rPr sz="3600" dirty="0">
                <a:solidFill>
                  <a:srgbClr val="2E377E"/>
                </a:solidFill>
                <a:latin typeface="Georgia"/>
                <a:cs typeface="Georgia"/>
              </a:rPr>
              <a:t>selectors</a:t>
            </a:r>
            <a:r>
              <a:rPr sz="3600" spc="30" dirty="0">
                <a:solidFill>
                  <a:srgbClr val="2E377E"/>
                </a:solidFill>
                <a:latin typeface="Georgia"/>
                <a:cs typeface="Georgia"/>
              </a:rPr>
              <a:t> </a:t>
            </a:r>
            <a:r>
              <a:rPr sz="3600" dirty="0">
                <a:solidFill>
                  <a:srgbClr val="2E377E"/>
                </a:solidFill>
                <a:latin typeface="Georgia"/>
                <a:cs typeface="Georgia"/>
              </a:rPr>
              <a:t>can</a:t>
            </a:r>
            <a:r>
              <a:rPr sz="3600" spc="25" dirty="0">
                <a:solidFill>
                  <a:srgbClr val="2E377E"/>
                </a:solidFill>
                <a:latin typeface="Georgia"/>
                <a:cs typeface="Georgia"/>
              </a:rPr>
              <a:t> </a:t>
            </a:r>
            <a:r>
              <a:rPr sz="3600" dirty="0">
                <a:solidFill>
                  <a:srgbClr val="2E377E"/>
                </a:solidFill>
                <a:latin typeface="Georgia"/>
                <a:cs typeface="Georgia"/>
              </a:rPr>
              <a:t>be</a:t>
            </a:r>
            <a:r>
              <a:rPr sz="3600" spc="25" dirty="0">
                <a:solidFill>
                  <a:srgbClr val="2E377E"/>
                </a:solidFill>
                <a:latin typeface="Georgia"/>
                <a:cs typeface="Georgia"/>
              </a:rPr>
              <a:t> </a:t>
            </a:r>
            <a:r>
              <a:rPr sz="3600" dirty="0">
                <a:solidFill>
                  <a:srgbClr val="2E377E"/>
                </a:solidFill>
                <a:latin typeface="Georgia"/>
                <a:cs typeface="Georgia"/>
              </a:rPr>
              <a:t>made</a:t>
            </a:r>
            <a:r>
              <a:rPr sz="3600" spc="25" dirty="0">
                <a:solidFill>
                  <a:srgbClr val="2E377E"/>
                </a:solidFill>
                <a:latin typeface="Georgia"/>
                <a:cs typeface="Georgia"/>
              </a:rPr>
              <a:t> </a:t>
            </a:r>
            <a:r>
              <a:rPr sz="3600" dirty="0">
                <a:solidFill>
                  <a:srgbClr val="2E377E"/>
                </a:solidFill>
                <a:latin typeface="Georgia"/>
                <a:cs typeface="Georgia"/>
              </a:rPr>
              <a:t>of</a:t>
            </a:r>
            <a:r>
              <a:rPr sz="3600" spc="30" dirty="0">
                <a:solidFill>
                  <a:srgbClr val="2E377E"/>
                </a:solidFill>
                <a:latin typeface="Georgia"/>
                <a:cs typeface="Georgia"/>
              </a:rPr>
              <a:t> </a:t>
            </a:r>
            <a:r>
              <a:rPr sz="3600" dirty="0">
                <a:solidFill>
                  <a:srgbClr val="2E377E"/>
                </a:solidFill>
                <a:latin typeface="Georgia"/>
                <a:cs typeface="Georgia"/>
              </a:rPr>
              <a:t>multiple</a:t>
            </a:r>
            <a:r>
              <a:rPr sz="3600" spc="25" dirty="0">
                <a:solidFill>
                  <a:srgbClr val="2E377E"/>
                </a:solidFill>
                <a:latin typeface="Georgia"/>
                <a:cs typeface="Georgia"/>
              </a:rPr>
              <a:t> </a:t>
            </a:r>
            <a:r>
              <a:rPr sz="3600" dirty="0">
                <a:solidFill>
                  <a:srgbClr val="2E377E"/>
                </a:solidFill>
                <a:latin typeface="Georgia"/>
                <a:cs typeface="Georgia"/>
              </a:rPr>
              <a:t>selectors</a:t>
            </a:r>
            <a:r>
              <a:rPr sz="3600" spc="25" dirty="0">
                <a:solidFill>
                  <a:srgbClr val="2E377E"/>
                </a:solidFill>
                <a:latin typeface="Georgia"/>
                <a:cs typeface="Georgia"/>
              </a:rPr>
              <a:t> </a:t>
            </a:r>
            <a:r>
              <a:rPr sz="3600" dirty="0">
                <a:solidFill>
                  <a:srgbClr val="2E377E"/>
                </a:solidFill>
                <a:latin typeface="Georgia"/>
                <a:cs typeface="Georgia"/>
              </a:rPr>
              <a:t>that</a:t>
            </a:r>
            <a:r>
              <a:rPr sz="3600" spc="25" dirty="0">
                <a:solidFill>
                  <a:srgbClr val="2E377E"/>
                </a:solidFill>
                <a:latin typeface="Georgia"/>
                <a:cs typeface="Georgia"/>
              </a:rPr>
              <a:t> </a:t>
            </a:r>
            <a:r>
              <a:rPr sz="3600" spc="-25" dirty="0">
                <a:solidFill>
                  <a:srgbClr val="2E377E"/>
                </a:solidFill>
                <a:latin typeface="Georgia"/>
                <a:cs typeface="Georgia"/>
              </a:rPr>
              <a:t>are </a:t>
            </a:r>
            <a:r>
              <a:rPr sz="3600" dirty="0">
                <a:solidFill>
                  <a:srgbClr val="2E377E"/>
                </a:solidFill>
                <a:latin typeface="Georgia"/>
                <a:cs typeface="Georgia"/>
              </a:rPr>
              <a:t>comma-</a:t>
            </a:r>
            <a:r>
              <a:rPr sz="3600" spc="-10" dirty="0">
                <a:solidFill>
                  <a:srgbClr val="2E377E"/>
                </a:solidFill>
                <a:latin typeface="Georgia"/>
                <a:cs typeface="Georgia"/>
              </a:rPr>
              <a:t>separated.</a:t>
            </a:r>
            <a:endParaRPr sz="3600">
              <a:latin typeface="Georgia"/>
              <a:cs typeface="Georgia"/>
            </a:endParaRPr>
          </a:p>
        </p:txBody>
      </p:sp>
      <p:pic>
        <p:nvPicPr>
          <p:cNvPr id="5" name="object 5"/>
          <p:cNvPicPr/>
          <p:nvPr/>
        </p:nvPicPr>
        <p:blipFill>
          <a:blip r:embed="rId3" cstate="print"/>
          <a:stretch>
            <a:fillRect/>
          </a:stretch>
        </p:blipFill>
        <p:spPr>
          <a:xfrm>
            <a:off x="1670442" y="5410199"/>
            <a:ext cx="133350" cy="13334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4086" y="857380"/>
            <a:ext cx="4173854" cy="787400"/>
          </a:xfrm>
          <a:prstGeom prst="rect">
            <a:avLst/>
          </a:prstGeom>
        </p:spPr>
        <p:txBody>
          <a:bodyPr vert="horz" wrap="square" lIns="0" tIns="12700" rIns="0" bIns="0" rtlCol="0">
            <a:spAutoFit/>
          </a:bodyPr>
          <a:lstStyle/>
          <a:p>
            <a:pPr marL="12700">
              <a:lnSpc>
                <a:spcPct val="100000"/>
              </a:lnSpc>
              <a:spcBef>
                <a:spcPts val="100"/>
              </a:spcBef>
            </a:pPr>
            <a:r>
              <a:rPr spc="254" dirty="0">
                <a:solidFill>
                  <a:srgbClr val="FF3131"/>
                </a:solidFill>
              </a:rPr>
              <a:t>Node</a:t>
            </a:r>
            <a:r>
              <a:rPr spc="-155" dirty="0">
                <a:solidFill>
                  <a:srgbClr val="FF3131"/>
                </a:solidFill>
              </a:rPr>
              <a:t> </a:t>
            </a:r>
            <a:r>
              <a:rPr spc="-10" dirty="0">
                <a:solidFill>
                  <a:srgbClr val="FF3131"/>
                </a:solidFill>
              </a:rPr>
              <a:t>Selector:</a:t>
            </a:r>
          </a:p>
        </p:txBody>
      </p:sp>
      <p:sp>
        <p:nvSpPr>
          <p:cNvPr id="3" name="object 3"/>
          <p:cNvSpPr txBox="1"/>
          <p:nvPr/>
        </p:nvSpPr>
        <p:spPr>
          <a:xfrm>
            <a:off x="1210067" y="2235050"/>
            <a:ext cx="15846425" cy="5768975"/>
          </a:xfrm>
          <a:prstGeom prst="rect">
            <a:avLst/>
          </a:prstGeom>
        </p:spPr>
        <p:txBody>
          <a:bodyPr vert="horz" wrap="square" lIns="0" tIns="12700" rIns="0" bIns="0" rtlCol="0">
            <a:spAutoFit/>
          </a:bodyPr>
          <a:lstStyle/>
          <a:p>
            <a:pPr marL="12700" marR="291465">
              <a:lnSpc>
                <a:spcPct val="116300"/>
              </a:lnSpc>
              <a:spcBef>
                <a:spcPts val="100"/>
              </a:spcBef>
            </a:pPr>
            <a:r>
              <a:rPr sz="3600" dirty="0">
                <a:solidFill>
                  <a:srgbClr val="2E377E"/>
                </a:solidFill>
                <a:latin typeface="Georgia"/>
                <a:cs typeface="Georgia"/>
              </a:rPr>
              <a:t>Node</a:t>
            </a:r>
            <a:r>
              <a:rPr sz="3600" spc="5" dirty="0">
                <a:solidFill>
                  <a:srgbClr val="2E377E"/>
                </a:solidFill>
                <a:latin typeface="Georgia"/>
                <a:cs typeface="Georgia"/>
              </a:rPr>
              <a:t> </a:t>
            </a:r>
            <a:r>
              <a:rPr sz="3600" dirty="0">
                <a:solidFill>
                  <a:srgbClr val="2E377E"/>
                </a:solidFill>
                <a:latin typeface="Georgia"/>
                <a:cs typeface="Georgia"/>
              </a:rPr>
              <a:t>selector</a:t>
            </a:r>
            <a:r>
              <a:rPr sz="3600" spc="5" dirty="0">
                <a:solidFill>
                  <a:srgbClr val="2E377E"/>
                </a:solidFill>
                <a:latin typeface="Georgia"/>
                <a:cs typeface="Georgia"/>
              </a:rPr>
              <a:t> </a:t>
            </a:r>
            <a:r>
              <a:rPr sz="3600" dirty="0">
                <a:solidFill>
                  <a:srgbClr val="2E377E"/>
                </a:solidFill>
                <a:latin typeface="Georgia"/>
                <a:cs typeface="Georgia"/>
              </a:rPr>
              <a:t>means</a:t>
            </a:r>
            <a:r>
              <a:rPr sz="3600" spc="5" dirty="0">
                <a:solidFill>
                  <a:srgbClr val="2E377E"/>
                </a:solidFill>
                <a:latin typeface="Georgia"/>
                <a:cs typeface="Georgia"/>
              </a:rPr>
              <a:t> </a:t>
            </a:r>
            <a:r>
              <a:rPr sz="3600" dirty="0">
                <a:solidFill>
                  <a:srgbClr val="2E377E"/>
                </a:solidFill>
                <a:latin typeface="Georgia"/>
                <a:cs typeface="Georgia"/>
              </a:rPr>
              <a:t>selecting</a:t>
            </a:r>
            <a:r>
              <a:rPr sz="3600" spc="5" dirty="0">
                <a:solidFill>
                  <a:srgbClr val="2E377E"/>
                </a:solidFill>
                <a:latin typeface="Georgia"/>
                <a:cs typeface="Georgia"/>
              </a:rPr>
              <a:t>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nodes.</a:t>
            </a:r>
            <a:r>
              <a:rPr sz="3600" spc="5" dirty="0">
                <a:solidFill>
                  <a:srgbClr val="2E377E"/>
                </a:solidFill>
                <a:latin typeface="Georgia"/>
                <a:cs typeface="Georgia"/>
              </a:rPr>
              <a:t> </a:t>
            </a:r>
            <a:r>
              <a:rPr sz="3600" dirty="0">
                <a:solidFill>
                  <a:srgbClr val="2E377E"/>
                </a:solidFill>
                <a:latin typeface="Georgia"/>
                <a:cs typeface="Georgia"/>
              </a:rPr>
              <a:t>Node</a:t>
            </a:r>
            <a:r>
              <a:rPr sz="3600" spc="5" dirty="0">
                <a:solidFill>
                  <a:srgbClr val="2E377E"/>
                </a:solidFill>
                <a:latin typeface="Georgia"/>
                <a:cs typeface="Georgia"/>
              </a:rPr>
              <a:t> </a:t>
            </a:r>
            <a:r>
              <a:rPr sz="3600" dirty="0">
                <a:solidFill>
                  <a:srgbClr val="2E377E"/>
                </a:solidFill>
                <a:latin typeface="Georgia"/>
                <a:cs typeface="Georgia"/>
              </a:rPr>
              <a:t>selector</a:t>
            </a:r>
            <a:r>
              <a:rPr sz="3600" spc="5" dirty="0">
                <a:solidFill>
                  <a:srgbClr val="2E377E"/>
                </a:solidFill>
                <a:latin typeface="Georgia"/>
                <a:cs typeface="Georgia"/>
              </a:rPr>
              <a:t> </a:t>
            </a:r>
            <a:r>
              <a:rPr sz="3600" dirty="0">
                <a:solidFill>
                  <a:srgbClr val="2E377E"/>
                </a:solidFill>
                <a:latin typeface="Georgia"/>
                <a:cs typeface="Georgia"/>
              </a:rPr>
              <a:t>is</a:t>
            </a:r>
            <a:r>
              <a:rPr sz="3600" spc="5" dirty="0">
                <a:solidFill>
                  <a:srgbClr val="2E377E"/>
                </a:solidFill>
                <a:latin typeface="Georgia"/>
                <a:cs typeface="Georgia"/>
              </a:rPr>
              <a:t> </a:t>
            </a:r>
            <a:r>
              <a:rPr sz="3600" dirty="0">
                <a:solidFill>
                  <a:srgbClr val="2E377E"/>
                </a:solidFill>
                <a:latin typeface="Georgia"/>
                <a:cs typeface="Georgia"/>
              </a:rPr>
              <a:t>used</a:t>
            </a:r>
            <a:r>
              <a:rPr sz="3600" spc="5" dirty="0">
                <a:solidFill>
                  <a:srgbClr val="2E377E"/>
                </a:solidFill>
                <a:latin typeface="Georgia"/>
                <a:cs typeface="Georgia"/>
              </a:rPr>
              <a:t> </a:t>
            </a:r>
            <a:r>
              <a:rPr sz="3600" spc="6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choose</a:t>
            </a:r>
            <a:r>
              <a:rPr sz="3600" spc="5" dirty="0">
                <a:solidFill>
                  <a:srgbClr val="2E377E"/>
                </a:solidFill>
                <a:latin typeface="Georgia"/>
                <a:cs typeface="Georgia"/>
              </a:rPr>
              <a:t> </a:t>
            </a:r>
            <a:r>
              <a:rPr sz="3600" spc="25" dirty="0">
                <a:solidFill>
                  <a:srgbClr val="2E377E"/>
                </a:solidFill>
                <a:latin typeface="Georgia"/>
                <a:cs typeface="Georgia"/>
              </a:rPr>
              <a:t>the </a:t>
            </a:r>
            <a:r>
              <a:rPr sz="3600" dirty="0">
                <a:solidFill>
                  <a:srgbClr val="2E377E"/>
                </a:solidFill>
                <a:latin typeface="Georgia"/>
                <a:cs typeface="Georgia"/>
              </a:rPr>
              <a:t>node</a:t>
            </a:r>
            <a:r>
              <a:rPr sz="3600" spc="-5" dirty="0">
                <a:solidFill>
                  <a:srgbClr val="2E377E"/>
                </a:solidFill>
                <a:latin typeface="Georgia"/>
                <a:cs typeface="Georgia"/>
              </a:rPr>
              <a:t> </a:t>
            </a:r>
            <a:r>
              <a:rPr sz="3600" spc="6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apply a</a:t>
            </a:r>
            <a:r>
              <a:rPr sz="3600" spc="-5" dirty="0">
                <a:solidFill>
                  <a:srgbClr val="2E377E"/>
                </a:solidFill>
                <a:latin typeface="Georgia"/>
                <a:cs typeface="Georgia"/>
              </a:rPr>
              <a:t> </a:t>
            </a:r>
            <a:r>
              <a:rPr sz="3600" dirty="0">
                <a:solidFill>
                  <a:srgbClr val="2E377E"/>
                </a:solidFill>
                <a:latin typeface="Georgia"/>
                <a:cs typeface="Georgia"/>
              </a:rPr>
              <a:t>particular</a:t>
            </a:r>
            <a:r>
              <a:rPr sz="3600" spc="-5" dirty="0">
                <a:solidFill>
                  <a:srgbClr val="2E377E"/>
                </a:solidFill>
                <a:latin typeface="Georgia"/>
                <a:cs typeface="Georgia"/>
              </a:rPr>
              <a:t> </a:t>
            </a:r>
            <a:r>
              <a:rPr sz="3600" spc="-10" dirty="0">
                <a:solidFill>
                  <a:srgbClr val="2E377E"/>
                </a:solidFill>
                <a:latin typeface="Georgia"/>
                <a:cs typeface="Georgia"/>
              </a:rPr>
              <a:t>command.</a:t>
            </a:r>
            <a:endParaRPr sz="3600">
              <a:latin typeface="Georgia"/>
              <a:cs typeface="Georgia"/>
            </a:endParaRPr>
          </a:p>
          <a:p>
            <a:pPr>
              <a:lnSpc>
                <a:spcPct val="100000"/>
              </a:lnSpc>
              <a:spcBef>
                <a:spcPts val="935"/>
              </a:spcBef>
            </a:pPr>
            <a:endParaRPr sz="3600">
              <a:latin typeface="Georgia"/>
              <a:cs typeface="Georgia"/>
            </a:endParaRPr>
          </a:p>
          <a:p>
            <a:pPr marL="12700" marR="5080">
              <a:lnSpc>
                <a:spcPct val="116300"/>
              </a:lnSpc>
            </a:pPr>
            <a:r>
              <a:rPr sz="3600" dirty="0">
                <a:solidFill>
                  <a:srgbClr val="2E377E"/>
                </a:solidFill>
                <a:latin typeface="Georgia"/>
                <a:cs typeface="Georgia"/>
              </a:rPr>
              <a:t>This</a:t>
            </a:r>
            <a:r>
              <a:rPr sz="3600" spc="-55" dirty="0">
                <a:solidFill>
                  <a:srgbClr val="2E377E"/>
                </a:solidFill>
                <a:latin typeface="Georgia"/>
                <a:cs typeface="Georgia"/>
              </a:rPr>
              <a:t> </a:t>
            </a:r>
            <a:r>
              <a:rPr sz="3600" dirty="0">
                <a:solidFill>
                  <a:srgbClr val="2E377E"/>
                </a:solidFill>
                <a:latin typeface="Georgia"/>
                <a:cs typeface="Georgia"/>
              </a:rPr>
              <a:t>is</a:t>
            </a:r>
            <a:r>
              <a:rPr sz="3600" spc="-55" dirty="0">
                <a:solidFill>
                  <a:srgbClr val="2E377E"/>
                </a:solidFill>
                <a:latin typeface="Georgia"/>
                <a:cs typeface="Georgia"/>
              </a:rPr>
              <a:t> </a:t>
            </a:r>
            <a:r>
              <a:rPr sz="3600" dirty="0">
                <a:solidFill>
                  <a:srgbClr val="2E377E"/>
                </a:solidFill>
                <a:latin typeface="Georgia"/>
                <a:cs typeface="Georgia"/>
              </a:rPr>
              <a:t>done</a:t>
            </a:r>
            <a:r>
              <a:rPr sz="3600" spc="-55" dirty="0">
                <a:solidFill>
                  <a:srgbClr val="2E377E"/>
                </a:solidFill>
                <a:latin typeface="Georgia"/>
                <a:cs typeface="Georgia"/>
              </a:rPr>
              <a:t> </a:t>
            </a:r>
            <a:r>
              <a:rPr sz="3600" spc="90" dirty="0">
                <a:solidFill>
                  <a:srgbClr val="2E377E"/>
                </a:solidFill>
                <a:latin typeface="Georgia"/>
                <a:cs typeface="Georgia"/>
              </a:rPr>
              <a:t>by</a:t>
            </a:r>
            <a:r>
              <a:rPr sz="3600" spc="-50" dirty="0">
                <a:solidFill>
                  <a:srgbClr val="2E377E"/>
                </a:solidFill>
                <a:latin typeface="Georgia"/>
                <a:cs typeface="Georgia"/>
              </a:rPr>
              <a:t> </a:t>
            </a:r>
            <a:r>
              <a:rPr sz="3600" dirty="0">
                <a:solidFill>
                  <a:srgbClr val="2E377E"/>
                </a:solidFill>
                <a:latin typeface="Georgia"/>
                <a:cs typeface="Georgia"/>
              </a:rPr>
              <a:t>Labels</a:t>
            </a:r>
            <a:r>
              <a:rPr sz="3600" spc="-55" dirty="0">
                <a:solidFill>
                  <a:srgbClr val="2E377E"/>
                </a:solidFill>
                <a:latin typeface="Georgia"/>
                <a:cs typeface="Georgia"/>
              </a:rPr>
              <a:t> </a:t>
            </a:r>
            <a:r>
              <a:rPr sz="3600" spc="65" dirty="0">
                <a:solidFill>
                  <a:srgbClr val="2E377E"/>
                </a:solidFill>
                <a:latin typeface="Georgia"/>
                <a:cs typeface="Georgia"/>
              </a:rPr>
              <a:t>where</a:t>
            </a:r>
            <a:r>
              <a:rPr sz="3600" spc="-55" dirty="0">
                <a:solidFill>
                  <a:srgbClr val="2E377E"/>
                </a:solidFill>
                <a:latin typeface="Georgia"/>
                <a:cs typeface="Georgia"/>
              </a:rPr>
              <a:t> </a:t>
            </a:r>
            <a:r>
              <a:rPr sz="3600" dirty="0">
                <a:solidFill>
                  <a:srgbClr val="2E377E"/>
                </a:solidFill>
                <a:latin typeface="Georgia"/>
                <a:cs typeface="Georgia"/>
              </a:rPr>
              <a:t>in</a:t>
            </a:r>
            <a:r>
              <a:rPr sz="3600" spc="-55" dirty="0">
                <a:solidFill>
                  <a:srgbClr val="2E377E"/>
                </a:solidFill>
                <a:latin typeface="Georgia"/>
                <a:cs typeface="Georgia"/>
              </a:rPr>
              <a:t> </a:t>
            </a:r>
            <a:r>
              <a:rPr sz="3600" spc="50" dirty="0">
                <a:solidFill>
                  <a:srgbClr val="2E377E"/>
                </a:solidFill>
                <a:latin typeface="Georgia"/>
                <a:cs typeface="Georgia"/>
              </a:rPr>
              <a:t>the</a:t>
            </a:r>
            <a:r>
              <a:rPr sz="3600" spc="-50" dirty="0">
                <a:solidFill>
                  <a:srgbClr val="2E377E"/>
                </a:solidFill>
                <a:latin typeface="Georgia"/>
                <a:cs typeface="Georgia"/>
              </a:rPr>
              <a:t> </a:t>
            </a:r>
            <a:r>
              <a:rPr sz="3600" dirty="0">
                <a:solidFill>
                  <a:srgbClr val="2E377E"/>
                </a:solidFill>
                <a:latin typeface="Georgia"/>
                <a:cs typeface="Georgia"/>
              </a:rPr>
              <a:t>manifest</a:t>
            </a:r>
            <a:r>
              <a:rPr sz="3600" spc="-55" dirty="0">
                <a:solidFill>
                  <a:srgbClr val="2E377E"/>
                </a:solidFill>
                <a:latin typeface="Georgia"/>
                <a:cs typeface="Georgia"/>
              </a:rPr>
              <a:t> </a:t>
            </a:r>
            <a:r>
              <a:rPr sz="3600" dirty="0">
                <a:solidFill>
                  <a:srgbClr val="2E377E"/>
                </a:solidFill>
                <a:latin typeface="Georgia"/>
                <a:cs typeface="Georgia"/>
              </a:rPr>
              <a:t>file,</a:t>
            </a:r>
            <a:r>
              <a:rPr sz="3600" spc="-55" dirty="0">
                <a:solidFill>
                  <a:srgbClr val="2E377E"/>
                </a:solidFill>
                <a:latin typeface="Georgia"/>
                <a:cs typeface="Georgia"/>
              </a:rPr>
              <a:t> </a:t>
            </a:r>
            <a:r>
              <a:rPr sz="3600" spc="130" dirty="0">
                <a:solidFill>
                  <a:srgbClr val="2E377E"/>
                </a:solidFill>
                <a:latin typeface="Georgia"/>
                <a:cs typeface="Georgia"/>
              </a:rPr>
              <a:t>we</a:t>
            </a:r>
            <a:r>
              <a:rPr sz="3600" spc="-55" dirty="0">
                <a:solidFill>
                  <a:srgbClr val="2E377E"/>
                </a:solidFill>
                <a:latin typeface="Georgia"/>
                <a:cs typeface="Georgia"/>
              </a:rPr>
              <a:t> </a:t>
            </a:r>
            <a:r>
              <a:rPr sz="3600" dirty="0">
                <a:solidFill>
                  <a:srgbClr val="2E377E"/>
                </a:solidFill>
                <a:latin typeface="Georgia"/>
                <a:cs typeface="Georgia"/>
              </a:rPr>
              <a:t>mentioned</a:t>
            </a:r>
            <a:r>
              <a:rPr sz="3600" spc="-50" dirty="0">
                <a:solidFill>
                  <a:srgbClr val="2E377E"/>
                </a:solidFill>
                <a:latin typeface="Georgia"/>
                <a:cs typeface="Georgia"/>
              </a:rPr>
              <a:t> </a:t>
            </a:r>
            <a:r>
              <a:rPr sz="3600" spc="50" dirty="0">
                <a:solidFill>
                  <a:srgbClr val="2E377E"/>
                </a:solidFill>
                <a:latin typeface="Georgia"/>
                <a:cs typeface="Georgia"/>
              </a:rPr>
              <a:t>the</a:t>
            </a:r>
            <a:r>
              <a:rPr sz="3600" spc="-55" dirty="0">
                <a:solidFill>
                  <a:srgbClr val="2E377E"/>
                </a:solidFill>
                <a:latin typeface="Georgia"/>
                <a:cs typeface="Georgia"/>
              </a:rPr>
              <a:t> </a:t>
            </a:r>
            <a:r>
              <a:rPr sz="3600" dirty="0">
                <a:solidFill>
                  <a:srgbClr val="2E377E"/>
                </a:solidFill>
                <a:latin typeface="Georgia"/>
                <a:cs typeface="Georgia"/>
              </a:rPr>
              <a:t>node</a:t>
            </a:r>
            <a:r>
              <a:rPr sz="3600" spc="-55" dirty="0">
                <a:solidFill>
                  <a:srgbClr val="2E377E"/>
                </a:solidFill>
                <a:latin typeface="Georgia"/>
                <a:cs typeface="Georgia"/>
              </a:rPr>
              <a:t> </a:t>
            </a:r>
            <a:r>
              <a:rPr sz="3600" spc="-20" dirty="0">
                <a:solidFill>
                  <a:srgbClr val="2E377E"/>
                </a:solidFill>
                <a:latin typeface="Georgia"/>
                <a:cs typeface="Georgia"/>
              </a:rPr>
              <a:t>label </a:t>
            </a:r>
            <a:r>
              <a:rPr sz="3600" spc="-10" dirty="0">
                <a:solidFill>
                  <a:srgbClr val="2E377E"/>
                </a:solidFill>
                <a:latin typeface="Georgia"/>
                <a:cs typeface="Georgia"/>
              </a:rPr>
              <a:t>name.</a:t>
            </a:r>
            <a:r>
              <a:rPr sz="3600" spc="-30" dirty="0">
                <a:solidFill>
                  <a:srgbClr val="2E377E"/>
                </a:solidFill>
                <a:latin typeface="Georgia"/>
                <a:cs typeface="Georgia"/>
              </a:rPr>
              <a:t> </a:t>
            </a:r>
            <a:r>
              <a:rPr sz="3600" spc="-10" dirty="0">
                <a:solidFill>
                  <a:srgbClr val="2E377E"/>
                </a:solidFill>
                <a:latin typeface="Georgia"/>
                <a:cs typeface="Georgia"/>
              </a:rPr>
              <a:t>While</a:t>
            </a:r>
            <a:r>
              <a:rPr sz="3600" spc="-25" dirty="0">
                <a:solidFill>
                  <a:srgbClr val="2E377E"/>
                </a:solidFill>
                <a:latin typeface="Georgia"/>
                <a:cs typeface="Georgia"/>
              </a:rPr>
              <a:t> </a:t>
            </a:r>
            <a:r>
              <a:rPr sz="3600" dirty="0">
                <a:solidFill>
                  <a:srgbClr val="2E377E"/>
                </a:solidFill>
                <a:latin typeface="Georgia"/>
                <a:cs typeface="Georgia"/>
              </a:rPr>
              <a:t>running</a:t>
            </a:r>
            <a:r>
              <a:rPr sz="3600" spc="-25"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manifest</a:t>
            </a:r>
            <a:r>
              <a:rPr sz="3600" spc="-25" dirty="0">
                <a:solidFill>
                  <a:srgbClr val="2E377E"/>
                </a:solidFill>
                <a:latin typeface="Georgia"/>
                <a:cs typeface="Georgia"/>
              </a:rPr>
              <a:t> </a:t>
            </a:r>
            <a:r>
              <a:rPr sz="3600" dirty="0">
                <a:solidFill>
                  <a:srgbClr val="2E377E"/>
                </a:solidFill>
                <a:latin typeface="Georgia"/>
                <a:cs typeface="Georgia"/>
              </a:rPr>
              <a:t>file,</a:t>
            </a:r>
            <a:r>
              <a:rPr sz="3600" spc="-25" dirty="0">
                <a:solidFill>
                  <a:srgbClr val="2E377E"/>
                </a:solidFill>
                <a:latin typeface="Georgia"/>
                <a:cs typeface="Georgia"/>
              </a:rPr>
              <a:t> </a:t>
            </a:r>
            <a:r>
              <a:rPr sz="3600" dirty="0">
                <a:solidFill>
                  <a:srgbClr val="2E377E"/>
                </a:solidFill>
                <a:latin typeface="Georgia"/>
                <a:cs typeface="Georgia"/>
              </a:rPr>
              <a:t>master</a:t>
            </a:r>
            <a:r>
              <a:rPr sz="3600" spc="-25" dirty="0">
                <a:solidFill>
                  <a:srgbClr val="2E377E"/>
                </a:solidFill>
                <a:latin typeface="Georgia"/>
                <a:cs typeface="Georgia"/>
              </a:rPr>
              <a:t> </a:t>
            </a:r>
            <a:r>
              <a:rPr sz="3600" dirty="0">
                <a:solidFill>
                  <a:srgbClr val="2E377E"/>
                </a:solidFill>
                <a:latin typeface="Georgia"/>
                <a:cs typeface="Georgia"/>
              </a:rPr>
              <a:t>nodes</a:t>
            </a:r>
            <a:r>
              <a:rPr sz="3600" spc="-25" dirty="0">
                <a:solidFill>
                  <a:srgbClr val="2E377E"/>
                </a:solidFill>
                <a:latin typeface="Georgia"/>
                <a:cs typeface="Georgia"/>
              </a:rPr>
              <a:t> </a:t>
            </a:r>
            <a:r>
              <a:rPr sz="3600" dirty="0">
                <a:solidFill>
                  <a:srgbClr val="2E377E"/>
                </a:solidFill>
                <a:latin typeface="Georgia"/>
                <a:cs typeface="Georgia"/>
              </a:rPr>
              <a:t>find</a:t>
            </a:r>
            <a:r>
              <a:rPr sz="3600" spc="-25"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node</a:t>
            </a:r>
            <a:r>
              <a:rPr sz="3600" spc="-25" dirty="0">
                <a:solidFill>
                  <a:srgbClr val="2E377E"/>
                </a:solidFill>
                <a:latin typeface="Georgia"/>
                <a:cs typeface="Georgia"/>
              </a:rPr>
              <a:t> </a:t>
            </a:r>
            <a:r>
              <a:rPr sz="3600" dirty="0">
                <a:solidFill>
                  <a:srgbClr val="2E377E"/>
                </a:solidFill>
                <a:latin typeface="Georgia"/>
                <a:cs typeface="Georgia"/>
              </a:rPr>
              <a:t>that</a:t>
            </a:r>
            <a:r>
              <a:rPr sz="3600" spc="-25" dirty="0">
                <a:solidFill>
                  <a:srgbClr val="2E377E"/>
                </a:solidFill>
                <a:latin typeface="Georgia"/>
                <a:cs typeface="Georgia"/>
              </a:rPr>
              <a:t> has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same</a:t>
            </a:r>
            <a:r>
              <a:rPr sz="3600" spc="-25" dirty="0">
                <a:solidFill>
                  <a:srgbClr val="2E377E"/>
                </a:solidFill>
                <a:latin typeface="Georgia"/>
                <a:cs typeface="Georgia"/>
              </a:rPr>
              <a:t> </a:t>
            </a:r>
            <a:r>
              <a:rPr sz="3600" dirty="0">
                <a:solidFill>
                  <a:srgbClr val="2E377E"/>
                </a:solidFill>
                <a:latin typeface="Georgia"/>
                <a:cs typeface="Georgia"/>
              </a:rPr>
              <a:t>label</a:t>
            </a:r>
            <a:r>
              <a:rPr sz="3600" spc="-20" dirty="0">
                <a:solidFill>
                  <a:srgbClr val="2E377E"/>
                </a:solidFill>
                <a:latin typeface="Georgia"/>
                <a:cs typeface="Georgia"/>
              </a:rPr>
              <a:t> </a:t>
            </a:r>
            <a:r>
              <a:rPr sz="3600" dirty="0">
                <a:solidFill>
                  <a:srgbClr val="2E377E"/>
                </a:solidFill>
                <a:latin typeface="Georgia"/>
                <a:cs typeface="Georgia"/>
              </a:rPr>
              <a:t>and</a:t>
            </a:r>
            <a:r>
              <a:rPr sz="3600" spc="-25" dirty="0">
                <a:solidFill>
                  <a:srgbClr val="2E377E"/>
                </a:solidFill>
                <a:latin typeface="Georgia"/>
                <a:cs typeface="Georgia"/>
              </a:rPr>
              <a:t> </a:t>
            </a:r>
            <a:r>
              <a:rPr sz="3600" dirty="0">
                <a:solidFill>
                  <a:srgbClr val="2E377E"/>
                </a:solidFill>
                <a:latin typeface="Georgia"/>
                <a:cs typeface="Georgia"/>
              </a:rPr>
              <a:t>create</a:t>
            </a:r>
            <a:r>
              <a:rPr sz="3600" spc="-25"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dirty="0">
                <a:solidFill>
                  <a:srgbClr val="2E377E"/>
                </a:solidFill>
                <a:latin typeface="Georgia"/>
                <a:cs typeface="Georgia"/>
              </a:rPr>
              <a:t>on</a:t>
            </a:r>
            <a:r>
              <a:rPr sz="3600" spc="-25" dirty="0">
                <a:solidFill>
                  <a:srgbClr val="2E377E"/>
                </a:solidFill>
                <a:latin typeface="Georgia"/>
                <a:cs typeface="Georgia"/>
              </a:rPr>
              <a:t> </a:t>
            </a:r>
            <a:r>
              <a:rPr sz="3600" dirty="0">
                <a:solidFill>
                  <a:srgbClr val="2E377E"/>
                </a:solidFill>
                <a:latin typeface="Georgia"/>
                <a:cs typeface="Georgia"/>
              </a:rPr>
              <a:t>that</a:t>
            </a:r>
            <a:r>
              <a:rPr sz="3600" spc="-20" dirty="0">
                <a:solidFill>
                  <a:srgbClr val="2E377E"/>
                </a:solidFill>
                <a:latin typeface="Georgia"/>
                <a:cs typeface="Georgia"/>
              </a:rPr>
              <a:t> </a:t>
            </a:r>
            <a:r>
              <a:rPr sz="3600" spc="-10" dirty="0">
                <a:solidFill>
                  <a:srgbClr val="2E377E"/>
                </a:solidFill>
                <a:latin typeface="Georgia"/>
                <a:cs typeface="Georgia"/>
              </a:rPr>
              <a:t>container.</a:t>
            </a:r>
            <a:endParaRPr sz="3600">
              <a:latin typeface="Georgia"/>
              <a:cs typeface="Georgia"/>
            </a:endParaRPr>
          </a:p>
          <a:p>
            <a:pPr>
              <a:lnSpc>
                <a:spcPct val="100000"/>
              </a:lnSpc>
              <a:spcBef>
                <a:spcPts val="935"/>
              </a:spcBef>
            </a:pPr>
            <a:endParaRPr sz="3600">
              <a:latin typeface="Georgia"/>
              <a:cs typeface="Georgia"/>
            </a:endParaRPr>
          </a:p>
          <a:p>
            <a:pPr marL="12700" marR="896619">
              <a:lnSpc>
                <a:spcPct val="116300"/>
              </a:lnSpc>
            </a:pPr>
            <a:r>
              <a:rPr sz="3600" dirty="0">
                <a:solidFill>
                  <a:srgbClr val="2E377E"/>
                </a:solidFill>
                <a:latin typeface="Georgia"/>
                <a:cs typeface="Georgia"/>
              </a:rPr>
              <a:t>Make</a:t>
            </a:r>
            <a:r>
              <a:rPr sz="3600" spc="-20" dirty="0">
                <a:solidFill>
                  <a:srgbClr val="2E377E"/>
                </a:solidFill>
                <a:latin typeface="Georgia"/>
                <a:cs typeface="Georgia"/>
              </a:rPr>
              <a:t> </a:t>
            </a:r>
            <a:r>
              <a:rPr sz="3600" dirty="0">
                <a:solidFill>
                  <a:srgbClr val="2E377E"/>
                </a:solidFill>
                <a:latin typeface="Georgia"/>
                <a:cs typeface="Georgia"/>
              </a:rPr>
              <a:t>sure</a:t>
            </a:r>
            <a:r>
              <a:rPr sz="3600" spc="-25" dirty="0">
                <a:solidFill>
                  <a:srgbClr val="2E377E"/>
                </a:solidFill>
                <a:latin typeface="Georgia"/>
                <a:cs typeface="Georgia"/>
              </a:rPr>
              <a:t> </a:t>
            </a:r>
            <a:r>
              <a:rPr sz="3600" dirty="0">
                <a:solidFill>
                  <a:srgbClr val="2E377E"/>
                </a:solidFill>
                <a:latin typeface="Georgia"/>
                <a:cs typeface="Georgia"/>
              </a:rPr>
              <a:t>that</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node</a:t>
            </a:r>
            <a:r>
              <a:rPr sz="3600" spc="-20" dirty="0">
                <a:solidFill>
                  <a:srgbClr val="2E377E"/>
                </a:solidFill>
                <a:latin typeface="Georgia"/>
                <a:cs typeface="Georgia"/>
              </a:rPr>
              <a:t> </a:t>
            </a:r>
            <a:r>
              <a:rPr sz="3600" spc="50" dirty="0">
                <a:solidFill>
                  <a:srgbClr val="2E377E"/>
                </a:solidFill>
                <a:latin typeface="Georgia"/>
                <a:cs typeface="Georgia"/>
              </a:rPr>
              <a:t>must</a:t>
            </a:r>
            <a:r>
              <a:rPr sz="3600" spc="-20" dirty="0">
                <a:solidFill>
                  <a:srgbClr val="2E377E"/>
                </a:solidFill>
                <a:latin typeface="Georgia"/>
                <a:cs typeface="Georgia"/>
              </a:rPr>
              <a:t> </a:t>
            </a:r>
            <a:r>
              <a:rPr sz="3600" dirty="0">
                <a:solidFill>
                  <a:srgbClr val="2E377E"/>
                </a:solidFill>
                <a:latin typeface="Georgia"/>
                <a:cs typeface="Georgia"/>
              </a:rPr>
              <a:t>have</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label. </a:t>
            </a:r>
            <a:r>
              <a:rPr sz="3600" dirty="0">
                <a:solidFill>
                  <a:srgbClr val="2E377E"/>
                </a:solidFill>
                <a:latin typeface="Georgia"/>
                <a:cs typeface="Georgia"/>
              </a:rPr>
              <a:t>If</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node</a:t>
            </a:r>
            <a:r>
              <a:rPr sz="3600" spc="-20" dirty="0">
                <a:solidFill>
                  <a:srgbClr val="2E377E"/>
                </a:solidFill>
                <a:latin typeface="Georgia"/>
                <a:cs typeface="Georgia"/>
              </a:rPr>
              <a:t> </a:t>
            </a:r>
            <a:r>
              <a:rPr sz="3600" dirty="0">
                <a:solidFill>
                  <a:srgbClr val="2E377E"/>
                </a:solidFill>
                <a:latin typeface="Georgia"/>
                <a:cs typeface="Georgia"/>
              </a:rPr>
              <a:t>doesn’t</a:t>
            </a:r>
            <a:r>
              <a:rPr sz="3600" spc="-20" dirty="0">
                <a:solidFill>
                  <a:srgbClr val="2E377E"/>
                </a:solidFill>
                <a:latin typeface="Georgia"/>
                <a:cs typeface="Georgia"/>
              </a:rPr>
              <a:t> </a:t>
            </a:r>
            <a:r>
              <a:rPr sz="3600" dirty="0">
                <a:solidFill>
                  <a:srgbClr val="2E377E"/>
                </a:solidFill>
                <a:latin typeface="Georgia"/>
                <a:cs typeface="Georgia"/>
              </a:rPr>
              <a:t>have</a:t>
            </a:r>
            <a:r>
              <a:rPr sz="3600" spc="-20" dirty="0">
                <a:solidFill>
                  <a:srgbClr val="2E377E"/>
                </a:solidFill>
                <a:latin typeface="Georgia"/>
                <a:cs typeface="Georgia"/>
              </a:rPr>
              <a:t> </a:t>
            </a:r>
            <a:r>
              <a:rPr sz="3600" spc="30" dirty="0">
                <a:solidFill>
                  <a:srgbClr val="2E377E"/>
                </a:solidFill>
                <a:latin typeface="Georgia"/>
                <a:cs typeface="Georgia"/>
              </a:rPr>
              <a:t>any </a:t>
            </a:r>
            <a:r>
              <a:rPr sz="3600" dirty="0">
                <a:solidFill>
                  <a:srgbClr val="2E377E"/>
                </a:solidFill>
                <a:latin typeface="Georgia"/>
                <a:cs typeface="Georgia"/>
              </a:rPr>
              <a:t>label</a:t>
            </a:r>
            <a:r>
              <a:rPr sz="3600" spc="-25" dirty="0">
                <a:solidFill>
                  <a:srgbClr val="2E377E"/>
                </a:solidFill>
                <a:latin typeface="Georgia"/>
                <a:cs typeface="Georgia"/>
              </a:rPr>
              <a:t> </a:t>
            </a:r>
            <a:r>
              <a:rPr sz="3600" dirty="0">
                <a:solidFill>
                  <a:srgbClr val="2E377E"/>
                </a:solidFill>
                <a:latin typeface="Georgia"/>
                <a:cs typeface="Georgia"/>
              </a:rPr>
              <a:t>then,</a:t>
            </a:r>
            <a:r>
              <a:rPr sz="3600" spc="-25"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manifest</a:t>
            </a:r>
            <a:r>
              <a:rPr sz="3600" spc="-25" dirty="0">
                <a:solidFill>
                  <a:srgbClr val="2E377E"/>
                </a:solidFill>
                <a:latin typeface="Georgia"/>
                <a:cs typeface="Georgia"/>
              </a:rPr>
              <a:t> </a:t>
            </a:r>
            <a:r>
              <a:rPr sz="3600" dirty="0">
                <a:solidFill>
                  <a:srgbClr val="2E377E"/>
                </a:solidFill>
                <a:latin typeface="Georgia"/>
                <a:cs typeface="Georgia"/>
              </a:rPr>
              <a:t>file</a:t>
            </a:r>
            <a:r>
              <a:rPr sz="3600" spc="-25" dirty="0">
                <a:solidFill>
                  <a:srgbClr val="2E377E"/>
                </a:solidFill>
                <a:latin typeface="Georgia"/>
                <a:cs typeface="Georgia"/>
              </a:rPr>
              <a:t> </a:t>
            </a:r>
            <a:r>
              <a:rPr sz="3600" dirty="0">
                <a:solidFill>
                  <a:srgbClr val="2E377E"/>
                </a:solidFill>
                <a:latin typeface="Georgia"/>
                <a:cs typeface="Georgia"/>
              </a:rPr>
              <a:t>will</a:t>
            </a:r>
            <a:r>
              <a:rPr sz="3600" spc="-25" dirty="0">
                <a:solidFill>
                  <a:srgbClr val="2E377E"/>
                </a:solidFill>
                <a:latin typeface="Georgia"/>
                <a:cs typeface="Georgia"/>
              </a:rPr>
              <a:t> </a:t>
            </a:r>
            <a:r>
              <a:rPr sz="3600" dirty="0">
                <a:solidFill>
                  <a:srgbClr val="2E377E"/>
                </a:solidFill>
                <a:latin typeface="Georgia"/>
                <a:cs typeface="Georgia"/>
              </a:rPr>
              <a:t>jump</a:t>
            </a:r>
            <a:r>
              <a:rPr sz="3600" spc="-25" dirty="0">
                <a:solidFill>
                  <a:srgbClr val="2E377E"/>
                </a:solidFill>
                <a:latin typeface="Georgia"/>
                <a:cs typeface="Georgia"/>
              </a:rPr>
              <a:t> </a:t>
            </a:r>
            <a:r>
              <a:rPr sz="3600" spc="60" dirty="0">
                <a:solidFill>
                  <a:srgbClr val="2E377E"/>
                </a:solidFill>
                <a:latin typeface="Georgia"/>
                <a:cs typeface="Georgia"/>
              </a:rPr>
              <a:t>to</a:t>
            </a:r>
            <a:r>
              <a:rPr sz="3600" spc="-25"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spc="70" dirty="0">
                <a:solidFill>
                  <a:srgbClr val="2E377E"/>
                </a:solidFill>
                <a:latin typeface="Georgia"/>
                <a:cs typeface="Georgia"/>
              </a:rPr>
              <a:t>next</a:t>
            </a:r>
            <a:r>
              <a:rPr sz="3600" spc="-20" dirty="0">
                <a:solidFill>
                  <a:srgbClr val="2E377E"/>
                </a:solidFill>
                <a:latin typeface="Georgia"/>
                <a:cs typeface="Georgia"/>
              </a:rPr>
              <a:t> </a:t>
            </a:r>
            <a:r>
              <a:rPr sz="3600" spc="-10" dirty="0">
                <a:solidFill>
                  <a:srgbClr val="2E377E"/>
                </a:solidFill>
                <a:latin typeface="Georgia"/>
                <a:cs typeface="Georgia"/>
              </a:rPr>
              <a:t>node.</a:t>
            </a:r>
            <a:endParaRPr sz="3600">
              <a:latin typeface="Georgia"/>
              <a:cs typeface="Georg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645190"/>
            <a:ext cx="12311380" cy="9220200"/>
          </a:xfrm>
          <a:prstGeom prst="rect">
            <a:avLst/>
          </a:prstGeom>
        </p:spPr>
        <p:txBody>
          <a:bodyPr vert="horz" wrap="square" lIns="0" tIns="12065" rIns="0" bIns="0" rtlCol="0">
            <a:spAutoFit/>
          </a:bodyPr>
          <a:lstStyle/>
          <a:p>
            <a:pPr marL="21590" marR="10370820">
              <a:lnSpc>
                <a:spcPct val="116700"/>
              </a:lnSpc>
              <a:spcBef>
                <a:spcPts val="95"/>
              </a:spcBef>
            </a:pPr>
            <a:r>
              <a:rPr sz="2300" b="1" spc="60" dirty="0">
                <a:latin typeface="Times New Roman"/>
                <a:cs typeface="Times New Roman"/>
              </a:rPr>
              <a:t>apiVersion:</a:t>
            </a:r>
            <a:r>
              <a:rPr sz="2300" b="1" spc="-20" dirty="0">
                <a:latin typeface="Times New Roman"/>
                <a:cs typeface="Times New Roman"/>
              </a:rPr>
              <a:t> </a:t>
            </a:r>
            <a:r>
              <a:rPr sz="2300" b="1" spc="-25" dirty="0">
                <a:latin typeface="Times New Roman"/>
                <a:cs typeface="Times New Roman"/>
              </a:rPr>
              <a:t>v1 </a:t>
            </a:r>
            <a:r>
              <a:rPr sz="2300" b="1" dirty="0">
                <a:latin typeface="Times New Roman"/>
                <a:cs typeface="Times New Roman"/>
              </a:rPr>
              <a:t>kind:</a:t>
            </a:r>
            <a:r>
              <a:rPr sz="2300" b="1" spc="165" dirty="0">
                <a:latin typeface="Times New Roman"/>
                <a:cs typeface="Times New Roman"/>
              </a:rPr>
              <a:t> </a:t>
            </a:r>
            <a:r>
              <a:rPr sz="2300" b="1" spc="45" dirty="0">
                <a:latin typeface="Times New Roman"/>
                <a:cs typeface="Times New Roman"/>
              </a:rPr>
              <a:t>Pod metadata: </a:t>
            </a:r>
            <a:r>
              <a:rPr sz="2300" b="1" spc="95" dirty="0">
                <a:latin typeface="Times New Roman"/>
                <a:cs typeface="Times New Roman"/>
              </a:rPr>
              <a:t>name:</a:t>
            </a:r>
            <a:r>
              <a:rPr sz="2300" b="1" spc="-20" dirty="0">
                <a:latin typeface="Times New Roman"/>
                <a:cs typeface="Times New Roman"/>
              </a:rPr>
              <a:t> </a:t>
            </a:r>
            <a:r>
              <a:rPr sz="2300" b="1" spc="190" dirty="0">
                <a:latin typeface="Times New Roman"/>
                <a:cs typeface="Times New Roman"/>
              </a:rPr>
              <a:t>pod-</a:t>
            </a:r>
            <a:r>
              <a:rPr sz="2300" b="1" spc="-50" dirty="0">
                <a:latin typeface="Times New Roman"/>
                <a:cs typeface="Times New Roman"/>
              </a:rPr>
              <a:t>1 </a:t>
            </a:r>
            <a:r>
              <a:rPr sz="2300" b="1" spc="-10" dirty="0">
                <a:latin typeface="Times New Roman"/>
                <a:cs typeface="Times New Roman"/>
              </a:rPr>
              <a:t>labels:</a:t>
            </a:r>
            <a:endParaRPr sz="2300">
              <a:latin typeface="Times New Roman"/>
              <a:cs typeface="Times New Roman"/>
            </a:endParaRPr>
          </a:p>
          <a:p>
            <a:pPr marL="303530" marR="9182100">
              <a:lnSpc>
                <a:spcPct val="116700"/>
              </a:lnSpc>
              <a:spcBef>
                <a:spcPts val="5"/>
              </a:spcBef>
            </a:pPr>
            <a:r>
              <a:rPr sz="2300" b="1" spc="75" dirty="0">
                <a:latin typeface="Times New Roman"/>
                <a:cs typeface="Times New Roman"/>
              </a:rPr>
              <a:t>env:</a:t>
            </a:r>
            <a:r>
              <a:rPr sz="2300" b="1" spc="-20" dirty="0">
                <a:latin typeface="Times New Roman"/>
                <a:cs typeface="Times New Roman"/>
              </a:rPr>
              <a:t> </a:t>
            </a:r>
            <a:r>
              <a:rPr sz="2300" b="1" spc="55" dirty="0">
                <a:latin typeface="Times New Roman"/>
                <a:cs typeface="Times New Roman"/>
              </a:rPr>
              <a:t>testing </a:t>
            </a:r>
            <a:r>
              <a:rPr sz="2300" b="1" spc="85" dirty="0">
                <a:latin typeface="Times New Roman"/>
                <a:cs typeface="Times New Roman"/>
              </a:rPr>
              <a:t>department:</a:t>
            </a:r>
            <a:r>
              <a:rPr sz="2300" b="1" spc="-20" dirty="0">
                <a:latin typeface="Times New Roman"/>
                <a:cs typeface="Times New Roman"/>
              </a:rPr>
              <a:t> </a:t>
            </a:r>
            <a:r>
              <a:rPr sz="2300" b="1" spc="70" dirty="0">
                <a:latin typeface="Times New Roman"/>
                <a:cs typeface="Times New Roman"/>
              </a:rPr>
              <a:t>DevOps</a:t>
            </a:r>
            <a:endParaRPr sz="2300">
              <a:latin typeface="Times New Roman"/>
              <a:cs typeface="Times New Roman"/>
            </a:endParaRPr>
          </a:p>
          <a:p>
            <a:pPr marL="162560" marR="10636885" indent="-140970">
              <a:lnSpc>
                <a:spcPct val="116700"/>
              </a:lnSpc>
            </a:pPr>
            <a:r>
              <a:rPr sz="2300" b="1" spc="50" dirty="0">
                <a:latin typeface="Times New Roman"/>
                <a:cs typeface="Times New Roman"/>
              </a:rPr>
              <a:t>spec: </a:t>
            </a:r>
            <a:r>
              <a:rPr sz="2300" b="1" spc="55" dirty="0">
                <a:latin typeface="Times New Roman"/>
                <a:cs typeface="Times New Roman"/>
              </a:rPr>
              <a:t>containers:</a:t>
            </a:r>
            <a:endParaRPr sz="2300">
              <a:latin typeface="Times New Roman"/>
              <a:cs typeface="Times New Roman"/>
            </a:endParaRPr>
          </a:p>
          <a:p>
            <a:pPr marL="444500" marR="9331960" indent="-140970">
              <a:lnSpc>
                <a:spcPct val="116700"/>
              </a:lnSpc>
            </a:pPr>
            <a:r>
              <a:rPr sz="2300" b="1" spc="310" dirty="0">
                <a:latin typeface="Times New Roman"/>
                <a:cs typeface="Times New Roman"/>
              </a:rPr>
              <a:t>-</a:t>
            </a:r>
            <a:r>
              <a:rPr sz="2300" b="1" spc="-25" dirty="0">
                <a:latin typeface="Times New Roman"/>
                <a:cs typeface="Times New Roman"/>
              </a:rPr>
              <a:t> </a:t>
            </a:r>
            <a:r>
              <a:rPr sz="2300" b="1" spc="95" dirty="0">
                <a:latin typeface="Times New Roman"/>
                <a:cs typeface="Times New Roman"/>
              </a:rPr>
              <a:t>name:</a:t>
            </a:r>
            <a:r>
              <a:rPr sz="2300" b="1" spc="-20" dirty="0">
                <a:latin typeface="Times New Roman"/>
                <a:cs typeface="Times New Roman"/>
              </a:rPr>
              <a:t> </a:t>
            </a:r>
            <a:r>
              <a:rPr sz="2300" b="1" spc="50" dirty="0">
                <a:latin typeface="Times New Roman"/>
                <a:cs typeface="Times New Roman"/>
              </a:rPr>
              <a:t>containers1 image:</a:t>
            </a:r>
            <a:r>
              <a:rPr sz="2300" b="1" dirty="0">
                <a:latin typeface="Times New Roman"/>
                <a:cs typeface="Times New Roman"/>
              </a:rPr>
              <a:t> </a:t>
            </a:r>
            <a:r>
              <a:rPr sz="2300" b="1" spc="125" dirty="0">
                <a:latin typeface="Times New Roman"/>
                <a:cs typeface="Times New Roman"/>
              </a:rPr>
              <a:t>ubuntu</a:t>
            </a:r>
            <a:endParaRPr sz="2300">
              <a:latin typeface="Times New Roman"/>
              <a:cs typeface="Times New Roman"/>
            </a:endParaRPr>
          </a:p>
          <a:p>
            <a:pPr marL="444500">
              <a:lnSpc>
                <a:spcPct val="100000"/>
              </a:lnSpc>
              <a:spcBef>
                <a:spcPts val="459"/>
              </a:spcBef>
            </a:pPr>
            <a:r>
              <a:rPr sz="2300" b="1" spc="130" dirty="0">
                <a:latin typeface="Times New Roman"/>
                <a:cs typeface="Times New Roman"/>
              </a:rPr>
              <a:t>command:</a:t>
            </a:r>
            <a:r>
              <a:rPr sz="2300" b="1" spc="65" dirty="0">
                <a:latin typeface="Times New Roman"/>
                <a:cs typeface="Times New Roman"/>
              </a:rPr>
              <a:t> </a:t>
            </a:r>
            <a:r>
              <a:rPr sz="2300" b="1" dirty="0">
                <a:latin typeface="Times New Roman"/>
                <a:cs typeface="Times New Roman"/>
              </a:rPr>
              <a:t>["/bin/bash",</a:t>
            </a:r>
            <a:r>
              <a:rPr sz="2300" b="1" spc="60" dirty="0">
                <a:latin typeface="Times New Roman"/>
                <a:cs typeface="Times New Roman"/>
              </a:rPr>
              <a:t> </a:t>
            </a:r>
            <a:r>
              <a:rPr sz="2300" b="1" spc="-100" dirty="0">
                <a:latin typeface="Times New Roman"/>
                <a:cs typeface="Times New Roman"/>
              </a:rPr>
              <a:t>"-</a:t>
            </a:r>
            <a:r>
              <a:rPr sz="2300" b="1" spc="-145" dirty="0">
                <a:latin typeface="Times New Roman"/>
                <a:cs typeface="Times New Roman"/>
              </a:rPr>
              <a:t>c",</a:t>
            </a:r>
            <a:r>
              <a:rPr sz="2300" b="1" spc="65" dirty="0">
                <a:latin typeface="Times New Roman"/>
                <a:cs typeface="Times New Roman"/>
              </a:rPr>
              <a:t> </a:t>
            </a:r>
            <a:r>
              <a:rPr sz="2300" b="1" dirty="0">
                <a:latin typeface="Times New Roman"/>
                <a:cs typeface="Times New Roman"/>
              </a:rPr>
              <a:t>"while</a:t>
            </a:r>
            <a:r>
              <a:rPr sz="2300" b="1" spc="65" dirty="0">
                <a:latin typeface="Times New Roman"/>
                <a:cs typeface="Times New Roman"/>
              </a:rPr>
              <a:t> </a:t>
            </a:r>
            <a:r>
              <a:rPr sz="2300" b="1" dirty="0">
                <a:latin typeface="Times New Roman"/>
                <a:cs typeface="Times New Roman"/>
              </a:rPr>
              <a:t>true;</a:t>
            </a:r>
            <a:r>
              <a:rPr sz="2300" b="1" spc="65" dirty="0">
                <a:latin typeface="Times New Roman"/>
                <a:cs typeface="Times New Roman"/>
              </a:rPr>
              <a:t> </a:t>
            </a:r>
            <a:r>
              <a:rPr sz="2300" b="1" spc="145" dirty="0">
                <a:latin typeface="Times New Roman"/>
                <a:cs typeface="Times New Roman"/>
              </a:rPr>
              <a:t>do</a:t>
            </a:r>
            <a:r>
              <a:rPr sz="2300" b="1" spc="65" dirty="0">
                <a:latin typeface="Times New Roman"/>
                <a:cs typeface="Times New Roman"/>
              </a:rPr>
              <a:t> </a:t>
            </a:r>
            <a:r>
              <a:rPr sz="2300" b="1" spc="135" dirty="0">
                <a:latin typeface="Times New Roman"/>
                <a:cs typeface="Times New Roman"/>
              </a:rPr>
              <a:t>echo</a:t>
            </a:r>
            <a:r>
              <a:rPr sz="2300" b="1" spc="65" dirty="0">
                <a:latin typeface="Times New Roman"/>
                <a:cs typeface="Times New Roman"/>
              </a:rPr>
              <a:t> </a:t>
            </a:r>
            <a:r>
              <a:rPr sz="2300" b="1" dirty="0">
                <a:latin typeface="Times New Roman"/>
                <a:cs typeface="Times New Roman"/>
              </a:rPr>
              <a:t>This</a:t>
            </a:r>
            <a:r>
              <a:rPr sz="2300" b="1" spc="65" dirty="0">
                <a:latin typeface="Times New Roman"/>
                <a:cs typeface="Times New Roman"/>
              </a:rPr>
              <a:t> </a:t>
            </a:r>
            <a:r>
              <a:rPr sz="2300" b="1" spc="70" dirty="0">
                <a:latin typeface="Times New Roman"/>
                <a:cs typeface="Times New Roman"/>
              </a:rPr>
              <a:t>is</a:t>
            </a:r>
            <a:r>
              <a:rPr sz="2300" b="1" spc="65" dirty="0">
                <a:latin typeface="Times New Roman"/>
                <a:cs typeface="Times New Roman"/>
              </a:rPr>
              <a:t> </a:t>
            </a:r>
            <a:r>
              <a:rPr sz="2300" b="1" spc="95" dirty="0">
                <a:latin typeface="Times New Roman"/>
                <a:cs typeface="Times New Roman"/>
              </a:rPr>
              <a:t>our</a:t>
            </a:r>
            <a:r>
              <a:rPr sz="2300" b="1" spc="65" dirty="0">
                <a:latin typeface="Times New Roman"/>
                <a:cs typeface="Times New Roman"/>
              </a:rPr>
              <a:t> </a:t>
            </a:r>
            <a:r>
              <a:rPr sz="2300" b="1" dirty="0">
                <a:latin typeface="Times New Roman"/>
                <a:cs typeface="Times New Roman"/>
              </a:rPr>
              <a:t>Pod;</a:t>
            </a:r>
            <a:r>
              <a:rPr sz="2300" b="1" spc="65" dirty="0">
                <a:latin typeface="Times New Roman"/>
                <a:cs typeface="Times New Roman"/>
              </a:rPr>
              <a:t> </a:t>
            </a:r>
            <a:r>
              <a:rPr sz="2300" b="1" spc="110" dirty="0">
                <a:latin typeface="Times New Roman"/>
                <a:cs typeface="Times New Roman"/>
              </a:rPr>
              <a:t>sleep</a:t>
            </a:r>
            <a:r>
              <a:rPr sz="2300" b="1" spc="65" dirty="0">
                <a:latin typeface="Times New Roman"/>
                <a:cs typeface="Times New Roman"/>
              </a:rPr>
              <a:t> </a:t>
            </a:r>
            <a:r>
              <a:rPr sz="2300" b="1" spc="80" dirty="0">
                <a:latin typeface="Times New Roman"/>
                <a:cs typeface="Times New Roman"/>
              </a:rPr>
              <a:t>5</a:t>
            </a:r>
            <a:r>
              <a:rPr sz="2300" b="1" spc="65" dirty="0">
                <a:latin typeface="Times New Roman"/>
                <a:cs typeface="Times New Roman"/>
              </a:rPr>
              <a:t> </a:t>
            </a:r>
            <a:r>
              <a:rPr sz="2300" b="1" spc="-170" dirty="0">
                <a:latin typeface="Times New Roman"/>
                <a:cs typeface="Times New Roman"/>
              </a:rPr>
              <a:t>;</a:t>
            </a:r>
            <a:r>
              <a:rPr sz="2300" b="1" spc="65" dirty="0">
                <a:latin typeface="Times New Roman"/>
                <a:cs typeface="Times New Roman"/>
              </a:rPr>
              <a:t> </a:t>
            </a:r>
            <a:r>
              <a:rPr sz="2300" b="1" spc="-10" dirty="0">
                <a:latin typeface="Times New Roman"/>
                <a:cs typeface="Times New Roman"/>
              </a:rPr>
              <a:t>done"]</a:t>
            </a:r>
            <a:endParaRPr sz="2300">
              <a:latin typeface="Times New Roman"/>
              <a:cs typeface="Times New Roman"/>
            </a:endParaRPr>
          </a:p>
          <a:p>
            <a:pPr marL="12700" marR="224790">
              <a:lnSpc>
                <a:spcPct val="117600"/>
              </a:lnSpc>
              <a:spcBef>
                <a:spcPts val="2630"/>
              </a:spcBef>
            </a:pPr>
            <a:r>
              <a:rPr sz="3150" b="1" dirty="0">
                <a:solidFill>
                  <a:srgbClr val="326BE4"/>
                </a:solidFill>
                <a:latin typeface="Times New Roman"/>
                <a:cs typeface="Times New Roman"/>
              </a:rPr>
              <a:t>To</a:t>
            </a:r>
            <a:r>
              <a:rPr sz="3150" b="1" spc="-20" dirty="0">
                <a:solidFill>
                  <a:srgbClr val="326BE4"/>
                </a:solidFill>
                <a:latin typeface="Times New Roman"/>
                <a:cs typeface="Times New Roman"/>
              </a:rPr>
              <a:t> </a:t>
            </a:r>
            <a:r>
              <a:rPr sz="3150" b="1" spc="180" dirty="0">
                <a:solidFill>
                  <a:srgbClr val="326BE4"/>
                </a:solidFill>
                <a:latin typeface="Times New Roman"/>
                <a:cs typeface="Times New Roman"/>
              </a:rPr>
              <a:t>see</a:t>
            </a:r>
            <a:r>
              <a:rPr sz="3150" b="1" spc="-15" dirty="0">
                <a:solidFill>
                  <a:srgbClr val="326BE4"/>
                </a:solidFill>
                <a:latin typeface="Times New Roman"/>
                <a:cs typeface="Times New Roman"/>
              </a:rPr>
              <a:t> </a:t>
            </a:r>
            <a:r>
              <a:rPr sz="3150" b="1" spc="155" dirty="0">
                <a:solidFill>
                  <a:srgbClr val="326BE4"/>
                </a:solidFill>
                <a:latin typeface="Times New Roman"/>
                <a:cs typeface="Times New Roman"/>
              </a:rPr>
              <a:t>the</a:t>
            </a:r>
            <a:r>
              <a:rPr sz="3150" b="1" spc="-15" dirty="0">
                <a:solidFill>
                  <a:srgbClr val="326BE4"/>
                </a:solidFill>
                <a:latin typeface="Times New Roman"/>
                <a:cs typeface="Times New Roman"/>
              </a:rPr>
              <a:t> </a:t>
            </a:r>
            <a:r>
              <a:rPr sz="3150" b="1" spc="75" dirty="0">
                <a:solidFill>
                  <a:srgbClr val="326BE4"/>
                </a:solidFill>
                <a:latin typeface="Times New Roman"/>
                <a:cs typeface="Times New Roman"/>
              </a:rPr>
              <a:t>list</a:t>
            </a:r>
            <a:r>
              <a:rPr sz="3150" b="1" spc="-20" dirty="0">
                <a:solidFill>
                  <a:srgbClr val="326BE4"/>
                </a:solidFill>
                <a:latin typeface="Times New Roman"/>
                <a:cs typeface="Times New Roman"/>
              </a:rPr>
              <a:t> </a:t>
            </a:r>
            <a:r>
              <a:rPr sz="3150" b="1" spc="105" dirty="0">
                <a:solidFill>
                  <a:srgbClr val="326BE4"/>
                </a:solidFill>
                <a:latin typeface="Times New Roman"/>
                <a:cs typeface="Times New Roman"/>
              </a:rPr>
              <a:t>of</a:t>
            </a:r>
            <a:r>
              <a:rPr sz="3150" b="1" spc="-15" dirty="0">
                <a:solidFill>
                  <a:srgbClr val="326BE4"/>
                </a:solidFill>
                <a:latin typeface="Times New Roman"/>
                <a:cs typeface="Times New Roman"/>
              </a:rPr>
              <a:t> </a:t>
            </a:r>
            <a:r>
              <a:rPr sz="3150" b="1" spc="190" dirty="0">
                <a:solidFill>
                  <a:srgbClr val="326BE4"/>
                </a:solidFill>
                <a:latin typeface="Times New Roman"/>
                <a:cs typeface="Times New Roman"/>
              </a:rPr>
              <a:t>pods</a:t>
            </a:r>
            <a:r>
              <a:rPr sz="3150" b="1" spc="-15" dirty="0">
                <a:solidFill>
                  <a:srgbClr val="326BE4"/>
                </a:solidFill>
                <a:latin typeface="Times New Roman"/>
                <a:cs typeface="Times New Roman"/>
              </a:rPr>
              <a:t> </a:t>
            </a:r>
            <a:r>
              <a:rPr sz="3150" b="1" spc="210" dirty="0">
                <a:solidFill>
                  <a:srgbClr val="326BE4"/>
                </a:solidFill>
                <a:latin typeface="Times New Roman"/>
                <a:cs typeface="Times New Roman"/>
              </a:rPr>
              <a:t>with</a:t>
            </a:r>
            <a:r>
              <a:rPr sz="3150" b="1" spc="-20" dirty="0">
                <a:solidFill>
                  <a:srgbClr val="326BE4"/>
                </a:solidFill>
                <a:latin typeface="Times New Roman"/>
                <a:cs typeface="Times New Roman"/>
              </a:rPr>
              <a:t> </a:t>
            </a:r>
            <a:r>
              <a:rPr sz="3150" b="1" spc="70" dirty="0">
                <a:solidFill>
                  <a:srgbClr val="326BE4"/>
                </a:solidFill>
                <a:latin typeface="Times New Roman"/>
                <a:cs typeface="Times New Roman"/>
              </a:rPr>
              <a:t>labels</a:t>
            </a:r>
            <a:r>
              <a:rPr sz="3150" b="1" spc="70" dirty="0">
                <a:latin typeface="Times New Roman"/>
                <a:cs typeface="Times New Roman"/>
              </a:rPr>
              <a:t>:</a:t>
            </a:r>
            <a:r>
              <a:rPr sz="3150" b="1" spc="-15" dirty="0">
                <a:latin typeface="Times New Roman"/>
                <a:cs typeface="Times New Roman"/>
              </a:rPr>
              <a:t> </a:t>
            </a:r>
            <a:r>
              <a:rPr sz="3150" b="1" spc="120" dirty="0">
                <a:solidFill>
                  <a:srgbClr val="FF3131"/>
                </a:solidFill>
                <a:latin typeface="Times New Roman"/>
                <a:cs typeface="Times New Roman"/>
              </a:rPr>
              <a:t>kubectl</a:t>
            </a:r>
            <a:r>
              <a:rPr sz="3150" b="1" spc="-15" dirty="0">
                <a:solidFill>
                  <a:srgbClr val="FF3131"/>
                </a:solidFill>
                <a:latin typeface="Times New Roman"/>
                <a:cs typeface="Times New Roman"/>
              </a:rPr>
              <a:t> </a:t>
            </a:r>
            <a:r>
              <a:rPr sz="3150" b="1" spc="65" dirty="0">
                <a:solidFill>
                  <a:srgbClr val="FF3131"/>
                </a:solidFill>
                <a:latin typeface="Times New Roman"/>
                <a:cs typeface="Times New Roman"/>
              </a:rPr>
              <a:t>get</a:t>
            </a:r>
            <a:r>
              <a:rPr sz="3150" b="1" spc="-20" dirty="0">
                <a:solidFill>
                  <a:srgbClr val="FF3131"/>
                </a:solidFill>
                <a:latin typeface="Times New Roman"/>
                <a:cs typeface="Times New Roman"/>
              </a:rPr>
              <a:t> </a:t>
            </a:r>
            <a:r>
              <a:rPr sz="3150" b="1" spc="190" dirty="0">
                <a:solidFill>
                  <a:srgbClr val="FF3131"/>
                </a:solidFill>
                <a:latin typeface="Times New Roman"/>
                <a:cs typeface="Times New Roman"/>
              </a:rPr>
              <a:t>pods</a:t>
            </a:r>
            <a:r>
              <a:rPr sz="3150" b="1" spc="-15" dirty="0">
                <a:solidFill>
                  <a:srgbClr val="FF3131"/>
                </a:solidFill>
                <a:latin typeface="Times New Roman"/>
                <a:cs typeface="Times New Roman"/>
              </a:rPr>
              <a:t> </a:t>
            </a:r>
            <a:r>
              <a:rPr sz="3150" b="1" spc="425" dirty="0">
                <a:solidFill>
                  <a:srgbClr val="FF3131"/>
                </a:solidFill>
                <a:latin typeface="Times New Roman"/>
                <a:cs typeface="Times New Roman"/>
              </a:rPr>
              <a:t>--</a:t>
            </a:r>
            <a:r>
              <a:rPr sz="3150" b="1" spc="295" dirty="0">
                <a:solidFill>
                  <a:srgbClr val="FF3131"/>
                </a:solidFill>
                <a:latin typeface="Times New Roman"/>
                <a:cs typeface="Times New Roman"/>
              </a:rPr>
              <a:t>show-</a:t>
            </a:r>
            <a:r>
              <a:rPr sz="3150" b="1" spc="114" dirty="0">
                <a:solidFill>
                  <a:srgbClr val="FF3131"/>
                </a:solidFill>
                <a:latin typeface="Times New Roman"/>
                <a:cs typeface="Times New Roman"/>
              </a:rPr>
              <a:t>labels </a:t>
            </a:r>
            <a:r>
              <a:rPr sz="3150" b="1" spc="215" dirty="0">
                <a:latin typeface="Times New Roman"/>
                <a:cs typeface="Times New Roman"/>
              </a:rPr>
              <a:t>Now,</a:t>
            </a:r>
            <a:r>
              <a:rPr sz="3150" b="1" spc="-20" dirty="0">
                <a:latin typeface="Times New Roman"/>
                <a:cs typeface="Times New Roman"/>
              </a:rPr>
              <a:t> </a:t>
            </a:r>
            <a:r>
              <a:rPr sz="3150" b="1" dirty="0">
                <a:latin typeface="Times New Roman"/>
                <a:cs typeface="Times New Roman"/>
              </a:rPr>
              <a:t>I</a:t>
            </a:r>
            <a:r>
              <a:rPr sz="3150" b="1" spc="-20" dirty="0">
                <a:latin typeface="Times New Roman"/>
                <a:cs typeface="Times New Roman"/>
              </a:rPr>
              <a:t> </a:t>
            </a:r>
            <a:r>
              <a:rPr sz="3150" b="1" spc="210" dirty="0">
                <a:latin typeface="Times New Roman"/>
                <a:cs typeface="Times New Roman"/>
              </a:rPr>
              <a:t>want</a:t>
            </a:r>
            <a:r>
              <a:rPr sz="3150" b="1" spc="-20" dirty="0">
                <a:latin typeface="Times New Roman"/>
                <a:cs typeface="Times New Roman"/>
              </a:rPr>
              <a:t> </a:t>
            </a:r>
            <a:r>
              <a:rPr sz="3150" b="1" spc="110" dirty="0">
                <a:latin typeface="Times New Roman"/>
                <a:cs typeface="Times New Roman"/>
              </a:rPr>
              <a:t>to</a:t>
            </a:r>
            <a:r>
              <a:rPr sz="3150" b="1" spc="-15" dirty="0">
                <a:latin typeface="Times New Roman"/>
                <a:cs typeface="Times New Roman"/>
              </a:rPr>
              <a:t> </a:t>
            </a:r>
            <a:r>
              <a:rPr sz="3150" b="1" spc="75" dirty="0">
                <a:latin typeface="Times New Roman"/>
                <a:cs typeface="Times New Roman"/>
              </a:rPr>
              <a:t>list</a:t>
            </a:r>
            <a:r>
              <a:rPr sz="3150" b="1" spc="-20" dirty="0">
                <a:latin typeface="Times New Roman"/>
                <a:cs typeface="Times New Roman"/>
              </a:rPr>
              <a:t> </a:t>
            </a:r>
            <a:r>
              <a:rPr sz="3150" b="1" spc="155" dirty="0">
                <a:latin typeface="Times New Roman"/>
                <a:cs typeface="Times New Roman"/>
              </a:rPr>
              <a:t>those</a:t>
            </a:r>
            <a:r>
              <a:rPr sz="3150" b="1" spc="-20" dirty="0">
                <a:latin typeface="Times New Roman"/>
                <a:cs typeface="Times New Roman"/>
              </a:rPr>
              <a:t> </a:t>
            </a:r>
            <a:r>
              <a:rPr sz="3150" b="1" spc="190" dirty="0">
                <a:latin typeface="Times New Roman"/>
                <a:cs typeface="Times New Roman"/>
              </a:rPr>
              <a:t>pods</a:t>
            </a:r>
            <a:r>
              <a:rPr sz="3150" b="1" spc="-15" dirty="0">
                <a:latin typeface="Times New Roman"/>
                <a:cs typeface="Times New Roman"/>
              </a:rPr>
              <a:t> </a:t>
            </a:r>
            <a:r>
              <a:rPr sz="3150" b="1" spc="80" dirty="0">
                <a:latin typeface="Times New Roman"/>
                <a:cs typeface="Times New Roman"/>
              </a:rPr>
              <a:t>that</a:t>
            </a:r>
            <a:r>
              <a:rPr sz="3150" b="1" spc="-20" dirty="0">
                <a:latin typeface="Times New Roman"/>
                <a:cs typeface="Times New Roman"/>
              </a:rPr>
              <a:t> </a:t>
            </a:r>
            <a:r>
              <a:rPr sz="3150" b="1" spc="180" dirty="0">
                <a:latin typeface="Times New Roman"/>
                <a:cs typeface="Times New Roman"/>
              </a:rPr>
              <a:t>have</a:t>
            </a:r>
            <a:r>
              <a:rPr sz="3150" b="1" spc="-20" dirty="0">
                <a:latin typeface="Times New Roman"/>
                <a:cs typeface="Times New Roman"/>
              </a:rPr>
              <a:t> </a:t>
            </a:r>
            <a:r>
              <a:rPr sz="3150" b="1" spc="155" dirty="0">
                <a:latin typeface="Times New Roman"/>
                <a:cs typeface="Times New Roman"/>
              </a:rPr>
              <a:t>the</a:t>
            </a:r>
            <a:r>
              <a:rPr sz="3150" b="1" spc="-20" dirty="0">
                <a:latin typeface="Times New Roman"/>
                <a:cs typeface="Times New Roman"/>
              </a:rPr>
              <a:t> </a:t>
            </a:r>
            <a:r>
              <a:rPr sz="3150" b="1" spc="120" dirty="0">
                <a:latin typeface="Times New Roman"/>
                <a:cs typeface="Times New Roman"/>
              </a:rPr>
              <a:t>label</a:t>
            </a:r>
            <a:r>
              <a:rPr sz="3150" b="1" spc="-15" dirty="0">
                <a:latin typeface="Times New Roman"/>
                <a:cs typeface="Times New Roman"/>
              </a:rPr>
              <a:t> </a:t>
            </a:r>
            <a:r>
              <a:rPr sz="3150" b="1" spc="85" dirty="0">
                <a:latin typeface="Times New Roman"/>
                <a:cs typeface="Times New Roman"/>
              </a:rPr>
              <a:t>env=testing. </a:t>
            </a:r>
            <a:r>
              <a:rPr sz="3150" b="1" spc="120" dirty="0">
                <a:solidFill>
                  <a:srgbClr val="FF3131"/>
                </a:solidFill>
                <a:latin typeface="Times New Roman"/>
                <a:cs typeface="Times New Roman"/>
              </a:rPr>
              <a:t>kubectl</a:t>
            </a:r>
            <a:r>
              <a:rPr sz="3150" b="1" spc="-15" dirty="0">
                <a:solidFill>
                  <a:srgbClr val="FF3131"/>
                </a:solidFill>
                <a:latin typeface="Times New Roman"/>
                <a:cs typeface="Times New Roman"/>
              </a:rPr>
              <a:t> </a:t>
            </a:r>
            <a:r>
              <a:rPr sz="3150" b="1" spc="65" dirty="0">
                <a:solidFill>
                  <a:srgbClr val="FF3131"/>
                </a:solidFill>
                <a:latin typeface="Times New Roman"/>
                <a:cs typeface="Times New Roman"/>
              </a:rPr>
              <a:t>get</a:t>
            </a:r>
            <a:r>
              <a:rPr sz="3150" b="1" spc="-15" dirty="0">
                <a:solidFill>
                  <a:srgbClr val="FF3131"/>
                </a:solidFill>
                <a:latin typeface="Times New Roman"/>
                <a:cs typeface="Times New Roman"/>
              </a:rPr>
              <a:t> </a:t>
            </a:r>
            <a:r>
              <a:rPr sz="3150" b="1" spc="190" dirty="0">
                <a:solidFill>
                  <a:srgbClr val="FF3131"/>
                </a:solidFill>
                <a:latin typeface="Times New Roman"/>
                <a:cs typeface="Times New Roman"/>
              </a:rPr>
              <a:t>pods</a:t>
            </a:r>
            <a:r>
              <a:rPr sz="3150" b="1" spc="-10" dirty="0">
                <a:solidFill>
                  <a:srgbClr val="FF3131"/>
                </a:solidFill>
                <a:latin typeface="Times New Roman"/>
                <a:cs typeface="Times New Roman"/>
              </a:rPr>
              <a:t> </a:t>
            </a:r>
            <a:r>
              <a:rPr sz="3150" b="1" spc="425" dirty="0">
                <a:solidFill>
                  <a:srgbClr val="FF3131"/>
                </a:solidFill>
                <a:latin typeface="Times New Roman"/>
                <a:cs typeface="Times New Roman"/>
              </a:rPr>
              <a:t>-</a:t>
            </a:r>
            <a:r>
              <a:rPr sz="3150" b="1" spc="70" dirty="0">
                <a:solidFill>
                  <a:srgbClr val="FF3131"/>
                </a:solidFill>
                <a:latin typeface="Times New Roman"/>
                <a:cs typeface="Times New Roman"/>
              </a:rPr>
              <a:t>l</a:t>
            </a:r>
            <a:r>
              <a:rPr sz="3150" b="1" spc="-15" dirty="0">
                <a:solidFill>
                  <a:srgbClr val="FF3131"/>
                </a:solidFill>
                <a:latin typeface="Times New Roman"/>
                <a:cs typeface="Times New Roman"/>
              </a:rPr>
              <a:t> </a:t>
            </a:r>
            <a:r>
              <a:rPr sz="3150" b="1" spc="95" dirty="0">
                <a:solidFill>
                  <a:srgbClr val="FF3131"/>
                </a:solidFill>
                <a:latin typeface="Times New Roman"/>
                <a:cs typeface="Times New Roman"/>
              </a:rPr>
              <a:t>env=testing</a:t>
            </a:r>
            <a:endParaRPr sz="3150">
              <a:latin typeface="Times New Roman"/>
              <a:cs typeface="Times New Roman"/>
            </a:endParaRPr>
          </a:p>
          <a:p>
            <a:pPr marL="12700">
              <a:lnSpc>
                <a:spcPct val="100000"/>
              </a:lnSpc>
              <a:spcBef>
                <a:spcPts val="665"/>
              </a:spcBef>
            </a:pPr>
            <a:r>
              <a:rPr sz="3150" b="1" spc="120" dirty="0">
                <a:solidFill>
                  <a:srgbClr val="FF3131"/>
                </a:solidFill>
                <a:latin typeface="Times New Roman"/>
                <a:cs typeface="Times New Roman"/>
              </a:rPr>
              <a:t>kubectl</a:t>
            </a:r>
            <a:r>
              <a:rPr sz="3150" b="1" spc="-15" dirty="0">
                <a:solidFill>
                  <a:srgbClr val="FF3131"/>
                </a:solidFill>
                <a:latin typeface="Times New Roman"/>
                <a:cs typeface="Times New Roman"/>
              </a:rPr>
              <a:t> </a:t>
            </a:r>
            <a:r>
              <a:rPr sz="3150" b="1" spc="65" dirty="0">
                <a:solidFill>
                  <a:srgbClr val="FF3131"/>
                </a:solidFill>
                <a:latin typeface="Times New Roman"/>
                <a:cs typeface="Times New Roman"/>
              </a:rPr>
              <a:t>get</a:t>
            </a:r>
            <a:r>
              <a:rPr sz="3150" b="1" spc="-15" dirty="0">
                <a:solidFill>
                  <a:srgbClr val="FF3131"/>
                </a:solidFill>
                <a:latin typeface="Times New Roman"/>
                <a:cs typeface="Times New Roman"/>
              </a:rPr>
              <a:t> </a:t>
            </a:r>
            <a:r>
              <a:rPr sz="3150" b="1" spc="190" dirty="0">
                <a:solidFill>
                  <a:srgbClr val="FF3131"/>
                </a:solidFill>
                <a:latin typeface="Times New Roman"/>
                <a:cs typeface="Times New Roman"/>
              </a:rPr>
              <a:t>pods</a:t>
            </a:r>
            <a:r>
              <a:rPr sz="3150" b="1" spc="-10" dirty="0">
                <a:solidFill>
                  <a:srgbClr val="FF3131"/>
                </a:solidFill>
                <a:latin typeface="Times New Roman"/>
                <a:cs typeface="Times New Roman"/>
              </a:rPr>
              <a:t> </a:t>
            </a:r>
            <a:r>
              <a:rPr sz="3150" b="1" spc="425" dirty="0">
                <a:solidFill>
                  <a:srgbClr val="FF3131"/>
                </a:solidFill>
                <a:latin typeface="Times New Roman"/>
                <a:cs typeface="Times New Roman"/>
              </a:rPr>
              <a:t>-</a:t>
            </a:r>
            <a:r>
              <a:rPr sz="3150" b="1" spc="70" dirty="0">
                <a:solidFill>
                  <a:srgbClr val="FF3131"/>
                </a:solidFill>
                <a:latin typeface="Times New Roman"/>
                <a:cs typeface="Times New Roman"/>
              </a:rPr>
              <a:t>l</a:t>
            </a:r>
            <a:r>
              <a:rPr sz="3150" b="1" spc="-15" dirty="0">
                <a:solidFill>
                  <a:srgbClr val="FF3131"/>
                </a:solidFill>
                <a:latin typeface="Times New Roman"/>
                <a:cs typeface="Times New Roman"/>
              </a:rPr>
              <a:t> </a:t>
            </a:r>
            <a:r>
              <a:rPr sz="3150" b="1" spc="95" dirty="0">
                <a:solidFill>
                  <a:srgbClr val="FF3131"/>
                </a:solidFill>
                <a:latin typeface="Times New Roman"/>
                <a:cs typeface="Times New Roman"/>
              </a:rPr>
              <a:t>department!=DevOps</a:t>
            </a:r>
            <a:endParaRPr sz="3150">
              <a:latin typeface="Times New Roman"/>
              <a:cs typeface="Times New Roman"/>
            </a:endParaRPr>
          </a:p>
          <a:p>
            <a:pPr marL="12700" marR="5080">
              <a:lnSpc>
                <a:spcPts val="4440"/>
              </a:lnSpc>
              <a:spcBef>
                <a:spcPts val="260"/>
              </a:spcBef>
            </a:pPr>
            <a:r>
              <a:rPr sz="3150" b="1" dirty="0">
                <a:latin typeface="Times New Roman"/>
                <a:cs typeface="Times New Roman"/>
              </a:rPr>
              <a:t>As</a:t>
            </a:r>
            <a:r>
              <a:rPr sz="3150" b="1" spc="-30" dirty="0">
                <a:latin typeface="Times New Roman"/>
                <a:cs typeface="Times New Roman"/>
              </a:rPr>
              <a:t> </a:t>
            </a:r>
            <a:r>
              <a:rPr sz="3150" b="1" spc="345" dirty="0">
                <a:latin typeface="Times New Roman"/>
                <a:cs typeface="Times New Roman"/>
              </a:rPr>
              <a:t>we</a:t>
            </a:r>
            <a:r>
              <a:rPr sz="3150" b="1" spc="-25" dirty="0">
                <a:latin typeface="Times New Roman"/>
                <a:cs typeface="Times New Roman"/>
              </a:rPr>
              <a:t> </a:t>
            </a:r>
            <a:r>
              <a:rPr sz="3150" b="1" spc="175" dirty="0">
                <a:latin typeface="Times New Roman"/>
                <a:cs typeface="Times New Roman"/>
              </a:rPr>
              <a:t>have</a:t>
            </a:r>
            <a:r>
              <a:rPr sz="3150" b="1" spc="-25" dirty="0">
                <a:latin typeface="Times New Roman"/>
                <a:cs typeface="Times New Roman"/>
              </a:rPr>
              <a:t> </a:t>
            </a:r>
            <a:r>
              <a:rPr sz="3150" b="1" spc="160" dirty="0">
                <a:latin typeface="Times New Roman"/>
                <a:cs typeface="Times New Roman"/>
              </a:rPr>
              <a:t>discussed</a:t>
            </a:r>
            <a:r>
              <a:rPr sz="3150" b="1" spc="-30" dirty="0">
                <a:latin typeface="Times New Roman"/>
                <a:cs typeface="Times New Roman"/>
              </a:rPr>
              <a:t> </a:t>
            </a:r>
            <a:r>
              <a:rPr sz="3150" b="1" spc="65" dirty="0">
                <a:latin typeface="Times New Roman"/>
                <a:cs typeface="Times New Roman"/>
              </a:rPr>
              <a:t>earlier,</a:t>
            </a:r>
            <a:r>
              <a:rPr sz="3150" b="1" spc="-25" dirty="0">
                <a:latin typeface="Times New Roman"/>
                <a:cs typeface="Times New Roman"/>
              </a:rPr>
              <a:t> </a:t>
            </a:r>
            <a:r>
              <a:rPr sz="3150" b="1" spc="125" dirty="0">
                <a:latin typeface="Times New Roman"/>
                <a:cs typeface="Times New Roman"/>
              </a:rPr>
              <a:t>there</a:t>
            </a:r>
            <a:r>
              <a:rPr sz="3150" b="1" spc="-25" dirty="0">
                <a:latin typeface="Times New Roman"/>
                <a:cs typeface="Times New Roman"/>
              </a:rPr>
              <a:t> </a:t>
            </a:r>
            <a:r>
              <a:rPr sz="3150" b="1" spc="80" dirty="0">
                <a:latin typeface="Times New Roman"/>
                <a:cs typeface="Times New Roman"/>
              </a:rPr>
              <a:t>are</a:t>
            </a:r>
            <a:r>
              <a:rPr sz="3150" b="1" spc="-25" dirty="0">
                <a:latin typeface="Times New Roman"/>
                <a:cs typeface="Times New Roman"/>
              </a:rPr>
              <a:t> </a:t>
            </a:r>
            <a:r>
              <a:rPr sz="3150" b="1" spc="229" dirty="0">
                <a:latin typeface="Times New Roman"/>
                <a:cs typeface="Times New Roman"/>
              </a:rPr>
              <a:t>two</a:t>
            </a:r>
            <a:r>
              <a:rPr sz="3150" b="1" spc="-30" dirty="0">
                <a:latin typeface="Times New Roman"/>
                <a:cs typeface="Times New Roman"/>
              </a:rPr>
              <a:t> </a:t>
            </a:r>
            <a:r>
              <a:rPr sz="3150" b="1" spc="155" dirty="0">
                <a:latin typeface="Times New Roman"/>
                <a:cs typeface="Times New Roman"/>
              </a:rPr>
              <a:t>types</a:t>
            </a:r>
            <a:r>
              <a:rPr sz="3150" b="1" spc="-25" dirty="0">
                <a:latin typeface="Times New Roman"/>
                <a:cs typeface="Times New Roman"/>
              </a:rPr>
              <a:t> </a:t>
            </a:r>
            <a:r>
              <a:rPr sz="3150" b="1" spc="100" dirty="0">
                <a:latin typeface="Times New Roman"/>
                <a:cs typeface="Times New Roman"/>
              </a:rPr>
              <a:t>of</a:t>
            </a:r>
            <a:r>
              <a:rPr sz="3150" b="1" spc="-25" dirty="0">
                <a:latin typeface="Times New Roman"/>
                <a:cs typeface="Times New Roman"/>
              </a:rPr>
              <a:t> </a:t>
            </a:r>
            <a:r>
              <a:rPr sz="3150" b="1" spc="165" dirty="0">
                <a:latin typeface="Times New Roman"/>
                <a:cs typeface="Times New Roman"/>
              </a:rPr>
              <a:t>label-</a:t>
            </a:r>
            <a:r>
              <a:rPr sz="3150" b="1" spc="105" dirty="0">
                <a:latin typeface="Times New Roman"/>
                <a:cs typeface="Times New Roman"/>
              </a:rPr>
              <a:t>selectors </a:t>
            </a:r>
            <a:r>
              <a:rPr sz="3150" b="1" spc="130" dirty="0">
                <a:latin typeface="Times New Roman"/>
                <a:cs typeface="Times New Roman"/>
              </a:rPr>
              <a:t>equality</a:t>
            </a:r>
            <a:r>
              <a:rPr sz="3150" b="1" spc="-35" dirty="0">
                <a:latin typeface="Times New Roman"/>
                <a:cs typeface="Times New Roman"/>
              </a:rPr>
              <a:t> </a:t>
            </a:r>
            <a:r>
              <a:rPr sz="3150" b="1" spc="180" dirty="0">
                <a:latin typeface="Times New Roman"/>
                <a:cs typeface="Times New Roman"/>
              </a:rPr>
              <a:t>and</a:t>
            </a:r>
            <a:r>
              <a:rPr sz="3150" b="1" spc="-30" dirty="0">
                <a:latin typeface="Times New Roman"/>
                <a:cs typeface="Times New Roman"/>
              </a:rPr>
              <a:t> </a:t>
            </a:r>
            <a:r>
              <a:rPr sz="3150" b="1" spc="185" dirty="0">
                <a:latin typeface="Times New Roman"/>
                <a:cs typeface="Times New Roman"/>
              </a:rPr>
              <a:t>set-</a:t>
            </a:r>
            <a:r>
              <a:rPr sz="3150" b="1" spc="120" dirty="0">
                <a:latin typeface="Times New Roman"/>
                <a:cs typeface="Times New Roman"/>
              </a:rPr>
              <a:t>based.</a:t>
            </a:r>
            <a:endParaRPr sz="3150">
              <a:latin typeface="Times New Roman"/>
              <a:cs typeface="Times New Roman"/>
            </a:endParaRPr>
          </a:p>
          <a:p>
            <a:pPr marL="12700">
              <a:lnSpc>
                <a:spcPct val="100000"/>
              </a:lnSpc>
              <a:spcBef>
                <a:spcPts val="409"/>
              </a:spcBef>
            </a:pPr>
            <a:r>
              <a:rPr sz="3150" b="1" spc="50" dirty="0">
                <a:latin typeface="Times New Roman"/>
                <a:cs typeface="Times New Roman"/>
              </a:rPr>
              <a:t>This</a:t>
            </a:r>
            <a:r>
              <a:rPr sz="3150" b="1" spc="-50" dirty="0">
                <a:latin typeface="Times New Roman"/>
                <a:cs typeface="Times New Roman"/>
              </a:rPr>
              <a:t> </a:t>
            </a:r>
            <a:r>
              <a:rPr sz="3150" b="1" spc="110" dirty="0">
                <a:latin typeface="Times New Roman"/>
                <a:cs typeface="Times New Roman"/>
              </a:rPr>
              <a:t>is</a:t>
            </a:r>
            <a:r>
              <a:rPr sz="3150" b="1" spc="-35" dirty="0">
                <a:latin typeface="Times New Roman"/>
                <a:cs typeface="Times New Roman"/>
              </a:rPr>
              <a:t> </a:t>
            </a:r>
            <a:r>
              <a:rPr sz="3150" b="1" spc="150" dirty="0">
                <a:latin typeface="Times New Roman"/>
                <a:cs typeface="Times New Roman"/>
              </a:rPr>
              <a:t>the</a:t>
            </a:r>
            <a:r>
              <a:rPr sz="3150" b="1" spc="-35" dirty="0">
                <a:latin typeface="Times New Roman"/>
                <a:cs typeface="Times New Roman"/>
              </a:rPr>
              <a:t> </a:t>
            </a:r>
            <a:r>
              <a:rPr sz="3150" b="1" spc="185" dirty="0">
                <a:latin typeface="Times New Roman"/>
                <a:cs typeface="Times New Roman"/>
              </a:rPr>
              <a:t>example</a:t>
            </a:r>
            <a:r>
              <a:rPr sz="3150" b="1" spc="-40" dirty="0">
                <a:latin typeface="Times New Roman"/>
                <a:cs typeface="Times New Roman"/>
              </a:rPr>
              <a:t> </a:t>
            </a:r>
            <a:r>
              <a:rPr sz="3150" b="1" spc="100" dirty="0">
                <a:latin typeface="Times New Roman"/>
                <a:cs typeface="Times New Roman"/>
              </a:rPr>
              <a:t>of</a:t>
            </a:r>
            <a:r>
              <a:rPr sz="3150" b="1" spc="-35" dirty="0">
                <a:latin typeface="Times New Roman"/>
                <a:cs typeface="Times New Roman"/>
              </a:rPr>
              <a:t> </a:t>
            </a:r>
            <a:r>
              <a:rPr sz="3150" b="1" spc="130" dirty="0">
                <a:latin typeface="Times New Roman"/>
                <a:cs typeface="Times New Roman"/>
              </a:rPr>
              <a:t>equality</a:t>
            </a:r>
            <a:r>
              <a:rPr sz="3150" b="1" spc="-35" dirty="0">
                <a:latin typeface="Times New Roman"/>
                <a:cs typeface="Times New Roman"/>
              </a:rPr>
              <a:t> </a:t>
            </a:r>
            <a:r>
              <a:rPr sz="3150" b="1" spc="160" dirty="0">
                <a:latin typeface="Times New Roman"/>
                <a:cs typeface="Times New Roman"/>
              </a:rPr>
              <a:t>based</a:t>
            </a:r>
            <a:r>
              <a:rPr sz="3150" b="1" spc="-40" dirty="0">
                <a:latin typeface="Times New Roman"/>
                <a:cs typeface="Times New Roman"/>
              </a:rPr>
              <a:t> </a:t>
            </a:r>
            <a:r>
              <a:rPr sz="3150" b="1" spc="220" dirty="0">
                <a:latin typeface="Times New Roman"/>
                <a:cs typeface="Times New Roman"/>
              </a:rPr>
              <a:t>where</a:t>
            </a:r>
            <a:r>
              <a:rPr sz="3150" b="1" spc="-35" dirty="0">
                <a:latin typeface="Times New Roman"/>
                <a:cs typeface="Times New Roman"/>
              </a:rPr>
              <a:t> </a:t>
            </a:r>
            <a:r>
              <a:rPr sz="3150" b="1" spc="345" dirty="0">
                <a:latin typeface="Times New Roman"/>
                <a:cs typeface="Times New Roman"/>
              </a:rPr>
              <a:t>we</a:t>
            </a:r>
            <a:r>
              <a:rPr sz="3150" b="1" spc="-35" dirty="0">
                <a:latin typeface="Times New Roman"/>
                <a:cs typeface="Times New Roman"/>
              </a:rPr>
              <a:t> </a:t>
            </a:r>
            <a:r>
              <a:rPr sz="3150" b="1" spc="190" dirty="0">
                <a:latin typeface="Times New Roman"/>
                <a:cs typeface="Times New Roman"/>
              </a:rPr>
              <a:t>used</a:t>
            </a:r>
            <a:r>
              <a:rPr sz="3150" b="1" spc="-35" dirty="0">
                <a:latin typeface="Times New Roman"/>
                <a:cs typeface="Times New Roman"/>
              </a:rPr>
              <a:t> </a:t>
            </a:r>
            <a:r>
              <a:rPr sz="3150" b="1" spc="-10" dirty="0">
                <a:latin typeface="Times New Roman"/>
                <a:cs typeface="Times New Roman"/>
              </a:rPr>
              <a:t>equalsTo(=).</a:t>
            </a:r>
            <a:endParaRPr sz="3150">
              <a:latin typeface="Times New Roman"/>
              <a:cs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93611" y="871241"/>
            <a:ext cx="15130780" cy="8607425"/>
          </a:xfrm>
          <a:prstGeom prst="rect">
            <a:avLst/>
          </a:prstGeom>
        </p:spPr>
        <p:txBody>
          <a:bodyPr vert="horz" wrap="square" lIns="0" tIns="12700" rIns="0" bIns="0" rtlCol="0">
            <a:spAutoFit/>
          </a:bodyPr>
          <a:lstStyle/>
          <a:p>
            <a:pPr marL="12700" marR="844550">
              <a:lnSpc>
                <a:spcPct val="116300"/>
              </a:lnSpc>
              <a:spcBef>
                <a:spcPts val="100"/>
              </a:spcBef>
            </a:pPr>
            <a:r>
              <a:rPr sz="3600" b="1" spc="215" dirty="0">
                <a:latin typeface="Times New Roman"/>
                <a:cs typeface="Times New Roman"/>
              </a:rPr>
              <a:t>Now,</a:t>
            </a:r>
            <a:r>
              <a:rPr sz="3600" b="1" spc="-65" dirty="0">
                <a:latin typeface="Times New Roman"/>
                <a:cs typeface="Times New Roman"/>
              </a:rPr>
              <a:t> </a:t>
            </a:r>
            <a:r>
              <a:rPr sz="3600" b="1" spc="170" dirty="0">
                <a:latin typeface="Times New Roman"/>
                <a:cs typeface="Times New Roman"/>
              </a:rPr>
              <a:t>Suppose</a:t>
            </a:r>
            <a:r>
              <a:rPr sz="3600" b="1" spc="-60" dirty="0">
                <a:latin typeface="Times New Roman"/>
                <a:cs typeface="Times New Roman"/>
              </a:rPr>
              <a:t> </a:t>
            </a:r>
            <a:r>
              <a:rPr sz="3600" b="1" dirty="0">
                <a:latin typeface="Times New Roman"/>
                <a:cs typeface="Times New Roman"/>
              </a:rPr>
              <a:t>I</a:t>
            </a:r>
            <a:r>
              <a:rPr sz="3600" b="1" spc="-60" dirty="0">
                <a:latin typeface="Times New Roman"/>
                <a:cs typeface="Times New Roman"/>
              </a:rPr>
              <a:t> </a:t>
            </a:r>
            <a:r>
              <a:rPr sz="3600" b="1" spc="50" dirty="0">
                <a:latin typeface="Times New Roman"/>
                <a:cs typeface="Times New Roman"/>
              </a:rPr>
              <a:t>forgot</a:t>
            </a:r>
            <a:r>
              <a:rPr sz="3600" b="1" spc="-60" dirty="0">
                <a:latin typeface="Times New Roman"/>
                <a:cs typeface="Times New Roman"/>
              </a:rPr>
              <a:t> </a:t>
            </a:r>
            <a:r>
              <a:rPr sz="3600" b="1" spc="105" dirty="0">
                <a:latin typeface="Times New Roman"/>
                <a:cs typeface="Times New Roman"/>
              </a:rPr>
              <a:t>to</a:t>
            </a:r>
            <a:r>
              <a:rPr sz="3600" b="1" spc="-65" dirty="0">
                <a:latin typeface="Times New Roman"/>
                <a:cs typeface="Times New Roman"/>
              </a:rPr>
              <a:t> </a:t>
            </a:r>
            <a:r>
              <a:rPr sz="3600" b="1" spc="165" dirty="0">
                <a:latin typeface="Times New Roman"/>
                <a:cs typeface="Times New Roman"/>
              </a:rPr>
              <a:t>add</a:t>
            </a:r>
            <a:r>
              <a:rPr sz="3600" b="1" spc="-60" dirty="0">
                <a:latin typeface="Times New Roman"/>
                <a:cs typeface="Times New Roman"/>
              </a:rPr>
              <a:t> </a:t>
            </a:r>
            <a:r>
              <a:rPr sz="3600" b="1" spc="145" dirty="0">
                <a:latin typeface="Times New Roman"/>
                <a:cs typeface="Times New Roman"/>
              </a:rPr>
              <a:t>the</a:t>
            </a:r>
            <a:r>
              <a:rPr sz="3600" b="1" spc="-60" dirty="0">
                <a:latin typeface="Times New Roman"/>
                <a:cs typeface="Times New Roman"/>
              </a:rPr>
              <a:t> </a:t>
            </a:r>
            <a:r>
              <a:rPr sz="3600" b="1" spc="114" dirty="0">
                <a:latin typeface="Times New Roman"/>
                <a:cs typeface="Times New Roman"/>
              </a:rPr>
              <a:t>label</a:t>
            </a:r>
            <a:r>
              <a:rPr sz="3600" b="1" spc="-60" dirty="0">
                <a:latin typeface="Times New Roman"/>
                <a:cs typeface="Times New Roman"/>
              </a:rPr>
              <a:t> </a:t>
            </a:r>
            <a:r>
              <a:rPr sz="3600" b="1" spc="114" dirty="0">
                <a:latin typeface="Times New Roman"/>
                <a:cs typeface="Times New Roman"/>
              </a:rPr>
              <a:t>through</a:t>
            </a:r>
            <a:r>
              <a:rPr sz="3600" b="1" spc="-60" dirty="0">
                <a:latin typeface="Times New Roman"/>
                <a:cs typeface="Times New Roman"/>
              </a:rPr>
              <a:t> </a:t>
            </a:r>
            <a:r>
              <a:rPr sz="3600" b="1" spc="145" dirty="0">
                <a:latin typeface="Times New Roman"/>
                <a:cs typeface="Times New Roman"/>
              </a:rPr>
              <a:t>the</a:t>
            </a:r>
            <a:r>
              <a:rPr sz="3600" b="1" spc="-65" dirty="0">
                <a:latin typeface="Times New Roman"/>
                <a:cs typeface="Times New Roman"/>
              </a:rPr>
              <a:t> </a:t>
            </a:r>
            <a:r>
              <a:rPr sz="3600" b="1" spc="85" dirty="0">
                <a:latin typeface="Times New Roman"/>
                <a:cs typeface="Times New Roman"/>
              </a:rPr>
              <a:t>declarative(via </a:t>
            </a:r>
            <a:r>
              <a:rPr sz="3600" b="1" spc="114" dirty="0">
                <a:latin typeface="Times New Roman"/>
                <a:cs typeface="Times New Roman"/>
              </a:rPr>
              <a:t>manifest)</a:t>
            </a:r>
            <a:r>
              <a:rPr sz="3600" b="1" spc="-40" dirty="0">
                <a:latin typeface="Times New Roman"/>
                <a:cs typeface="Times New Roman"/>
              </a:rPr>
              <a:t> </a:t>
            </a:r>
            <a:r>
              <a:rPr sz="3600" b="1" spc="180" dirty="0">
                <a:latin typeface="Times New Roman"/>
                <a:cs typeface="Times New Roman"/>
              </a:rPr>
              <a:t>method.</a:t>
            </a:r>
            <a:r>
              <a:rPr sz="3600" b="1" spc="-40" dirty="0">
                <a:latin typeface="Times New Roman"/>
                <a:cs typeface="Times New Roman"/>
              </a:rPr>
              <a:t> </a:t>
            </a:r>
            <a:r>
              <a:rPr sz="3600" b="1" spc="50" dirty="0">
                <a:latin typeface="Times New Roman"/>
                <a:cs typeface="Times New Roman"/>
              </a:rPr>
              <a:t>So,</a:t>
            </a:r>
            <a:r>
              <a:rPr sz="3600" b="1" spc="-35" dirty="0">
                <a:latin typeface="Times New Roman"/>
                <a:cs typeface="Times New Roman"/>
              </a:rPr>
              <a:t> </a:t>
            </a:r>
            <a:r>
              <a:rPr sz="3600" b="1" dirty="0">
                <a:latin typeface="Times New Roman"/>
                <a:cs typeface="Times New Roman"/>
              </a:rPr>
              <a:t>I</a:t>
            </a:r>
            <a:r>
              <a:rPr sz="3600" b="1" spc="-40" dirty="0">
                <a:latin typeface="Times New Roman"/>
                <a:cs typeface="Times New Roman"/>
              </a:rPr>
              <a:t> </a:t>
            </a:r>
            <a:r>
              <a:rPr sz="3600" b="1" spc="165" dirty="0">
                <a:latin typeface="Times New Roman"/>
                <a:cs typeface="Times New Roman"/>
              </a:rPr>
              <a:t>can</a:t>
            </a:r>
            <a:r>
              <a:rPr sz="3600" b="1" spc="-35" dirty="0">
                <a:latin typeface="Times New Roman"/>
                <a:cs typeface="Times New Roman"/>
              </a:rPr>
              <a:t> </a:t>
            </a:r>
            <a:r>
              <a:rPr sz="3600" b="1" spc="165" dirty="0">
                <a:latin typeface="Times New Roman"/>
                <a:cs typeface="Times New Roman"/>
              </a:rPr>
              <a:t>add</a:t>
            </a:r>
            <a:r>
              <a:rPr sz="3600" b="1" spc="-40" dirty="0">
                <a:latin typeface="Times New Roman"/>
                <a:cs typeface="Times New Roman"/>
              </a:rPr>
              <a:t> </a:t>
            </a:r>
            <a:r>
              <a:rPr sz="3600" b="1" spc="110" dirty="0">
                <a:latin typeface="Times New Roman"/>
                <a:cs typeface="Times New Roman"/>
              </a:rPr>
              <a:t>labels</a:t>
            </a:r>
            <a:r>
              <a:rPr sz="3600" b="1" spc="-40" dirty="0">
                <a:latin typeface="Times New Roman"/>
                <a:cs typeface="Times New Roman"/>
              </a:rPr>
              <a:t> </a:t>
            </a:r>
            <a:r>
              <a:rPr sz="3600" b="1" dirty="0">
                <a:latin typeface="Times New Roman"/>
                <a:cs typeface="Times New Roman"/>
              </a:rPr>
              <a:t>after</a:t>
            </a:r>
            <a:r>
              <a:rPr sz="3600" b="1" spc="-35" dirty="0">
                <a:latin typeface="Times New Roman"/>
                <a:cs typeface="Times New Roman"/>
              </a:rPr>
              <a:t> </a:t>
            </a:r>
            <a:r>
              <a:rPr sz="3600" b="1" spc="85" dirty="0">
                <a:latin typeface="Times New Roman"/>
                <a:cs typeface="Times New Roman"/>
              </a:rPr>
              <a:t>creating</a:t>
            </a:r>
            <a:r>
              <a:rPr sz="3600" b="1" spc="-40" dirty="0">
                <a:latin typeface="Times New Roman"/>
                <a:cs typeface="Times New Roman"/>
              </a:rPr>
              <a:t> </a:t>
            </a:r>
            <a:r>
              <a:rPr sz="3600" b="1" spc="145" dirty="0">
                <a:latin typeface="Times New Roman"/>
                <a:cs typeface="Times New Roman"/>
              </a:rPr>
              <a:t>the</a:t>
            </a:r>
            <a:r>
              <a:rPr sz="3600" b="1" spc="-35" dirty="0">
                <a:latin typeface="Times New Roman"/>
                <a:cs typeface="Times New Roman"/>
              </a:rPr>
              <a:t> </a:t>
            </a:r>
            <a:r>
              <a:rPr sz="3600" b="1" spc="190" dirty="0">
                <a:latin typeface="Times New Roman"/>
                <a:cs typeface="Times New Roman"/>
              </a:rPr>
              <a:t>pods</a:t>
            </a:r>
            <a:r>
              <a:rPr sz="3600" b="1" spc="-40" dirty="0">
                <a:latin typeface="Times New Roman"/>
                <a:cs typeface="Times New Roman"/>
              </a:rPr>
              <a:t> </a:t>
            </a:r>
            <a:r>
              <a:rPr sz="3600" b="1" spc="80" dirty="0">
                <a:latin typeface="Times New Roman"/>
                <a:cs typeface="Times New Roman"/>
              </a:rPr>
              <a:t>as</a:t>
            </a:r>
            <a:r>
              <a:rPr sz="3600" b="1" spc="-40" dirty="0">
                <a:latin typeface="Times New Roman"/>
                <a:cs typeface="Times New Roman"/>
              </a:rPr>
              <a:t> </a:t>
            </a:r>
            <a:r>
              <a:rPr sz="3600" b="1" spc="185" dirty="0">
                <a:latin typeface="Times New Roman"/>
                <a:cs typeface="Times New Roman"/>
              </a:rPr>
              <a:t>well </a:t>
            </a:r>
            <a:r>
              <a:rPr sz="3600" b="1" spc="240" dirty="0">
                <a:latin typeface="Times New Roman"/>
                <a:cs typeface="Times New Roman"/>
              </a:rPr>
              <a:t>which</a:t>
            </a:r>
            <a:r>
              <a:rPr sz="3600" b="1" spc="-55" dirty="0">
                <a:latin typeface="Times New Roman"/>
                <a:cs typeface="Times New Roman"/>
              </a:rPr>
              <a:t> </a:t>
            </a:r>
            <a:r>
              <a:rPr sz="3600" b="1" spc="105" dirty="0">
                <a:latin typeface="Times New Roman"/>
                <a:cs typeface="Times New Roman"/>
              </a:rPr>
              <a:t>is</a:t>
            </a:r>
            <a:r>
              <a:rPr sz="3600" b="1" spc="-50" dirty="0">
                <a:latin typeface="Times New Roman"/>
                <a:cs typeface="Times New Roman"/>
              </a:rPr>
              <a:t> </a:t>
            </a:r>
            <a:r>
              <a:rPr sz="3600" b="1" spc="240" dirty="0">
                <a:latin typeface="Times New Roman"/>
                <a:cs typeface="Times New Roman"/>
              </a:rPr>
              <a:t>known</a:t>
            </a:r>
            <a:r>
              <a:rPr sz="3600" b="1" spc="-50" dirty="0">
                <a:latin typeface="Times New Roman"/>
                <a:cs typeface="Times New Roman"/>
              </a:rPr>
              <a:t> </a:t>
            </a:r>
            <a:r>
              <a:rPr sz="3600" b="1" spc="80" dirty="0">
                <a:latin typeface="Times New Roman"/>
                <a:cs typeface="Times New Roman"/>
              </a:rPr>
              <a:t>as</a:t>
            </a:r>
            <a:r>
              <a:rPr sz="3600" b="1" spc="-55" dirty="0">
                <a:latin typeface="Times New Roman"/>
                <a:cs typeface="Times New Roman"/>
              </a:rPr>
              <a:t> </a:t>
            </a:r>
            <a:r>
              <a:rPr sz="3600" b="1" spc="145" dirty="0">
                <a:latin typeface="Times New Roman"/>
                <a:cs typeface="Times New Roman"/>
              </a:rPr>
              <a:t>the</a:t>
            </a:r>
            <a:r>
              <a:rPr sz="3600" b="1" spc="-50" dirty="0">
                <a:latin typeface="Times New Roman"/>
                <a:cs typeface="Times New Roman"/>
              </a:rPr>
              <a:t> </a:t>
            </a:r>
            <a:r>
              <a:rPr sz="3600" b="1" spc="125" dirty="0">
                <a:latin typeface="Times New Roman"/>
                <a:cs typeface="Times New Roman"/>
              </a:rPr>
              <a:t>imperative(via</a:t>
            </a:r>
            <a:r>
              <a:rPr sz="3600" b="1" spc="-50" dirty="0">
                <a:latin typeface="Times New Roman"/>
                <a:cs typeface="Times New Roman"/>
              </a:rPr>
              <a:t> </a:t>
            </a:r>
            <a:r>
              <a:rPr sz="3600" b="1" spc="210" dirty="0">
                <a:latin typeface="Times New Roman"/>
                <a:cs typeface="Times New Roman"/>
              </a:rPr>
              <a:t>command)</a:t>
            </a:r>
            <a:r>
              <a:rPr sz="3600" b="1" spc="-55" dirty="0">
                <a:latin typeface="Times New Roman"/>
                <a:cs typeface="Times New Roman"/>
              </a:rPr>
              <a:t> </a:t>
            </a:r>
            <a:r>
              <a:rPr sz="3600" b="1" spc="170" dirty="0">
                <a:latin typeface="Times New Roman"/>
                <a:cs typeface="Times New Roman"/>
              </a:rPr>
              <a:t>method.</a:t>
            </a:r>
            <a:endParaRPr sz="3600">
              <a:latin typeface="Times New Roman"/>
              <a:cs typeface="Times New Roman"/>
            </a:endParaRPr>
          </a:p>
          <a:p>
            <a:pPr>
              <a:lnSpc>
                <a:spcPct val="100000"/>
              </a:lnSpc>
              <a:spcBef>
                <a:spcPts val="1590"/>
              </a:spcBef>
            </a:pPr>
            <a:endParaRPr sz="3600">
              <a:latin typeface="Times New Roman"/>
              <a:cs typeface="Times New Roman"/>
            </a:endParaRPr>
          </a:p>
          <a:p>
            <a:pPr marL="12700">
              <a:lnSpc>
                <a:spcPct val="100000"/>
              </a:lnSpc>
            </a:pPr>
            <a:r>
              <a:rPr sz="3600" b="1" spc="110" dirty="0">
                <a:solidFill>
                  <a:srgbClr val="FF3131"/>
                </a:solidFill>
                <a:latin typeface="Times New Roman"/>
                <a:cs typeface="Times New Roman"/>
              </a:rPr>
              <a:t>kubectl</a:t>
            </a:r>
            <a:r>
              <a:rPr sz="3600" b="1" spc="-45" dirty="0">
                <a:solidFill>
                  <a:srgbClr val="FF3131"/>
                </a:solidFill>
                <a:latin typeface="Times New Roman"/>
                <a:cs typeface="Times New Roman"/>
              </a:rPr>
              <a:t> </a:t>
            </a:r>
            <a:r>
              <a:rPr sz="3600" b="1" spc="114" dirty="0">
                <a:solidFill>
                  <a:srgbClr val="FF3131"/>
                </a:solidFill>
                <a:latin typeface="Times New Roman"/>
                <a:cs typeface="Times New Roman"/>
              </a:rPr>
              <a:t>label</a:t>
            </a:r>
            <a:r>
              <a:rPr sz="3600" b="1" spc="-40" dirty="0">
                <a:solidFill>
                  <a:srgbClr val="FF3131"/>
                </a:solidFill>
                <a:latin typeface="Times New Roman"/>
                <a:cs typeface="Times New Roman"/>
              </a:rPr>
              <a:t> </a:t>
            </a:r>
            <a:r>
              <a:rPr sz="3600" b="1" spc="190" dirty="0">
                <a:solidFill>
                  <a:srgbClr val="FF3131"/>
                </a:solidFill>
                <a:latin typeface="Times New Roman"/>
                <a:cs typeface="Times New Roman"/>
              </a:rPr>
              <a:t>pods</a:t>
            </a:r>
            <a:r>
              <a:rPr sz="3600" b="1" spc="-40" dirty="0">
                <a:solidFill>
                  <a:srgbClr val="FF3131"/>
                </a:solidFill>
                <a:latin typeface="Times New Roman"/>
                <a:cs typeface="Times New Roman"/>
              </a:rPr>
              <a:t> </a:t>
            </a:r>
            <a:r>
              <a:rPr sz="3600" b="1" spc="145" dirty="0">
                <a:solidFill>
                  <a:srgbClr val="FF3131"/>
                </a:solidFill>
                <a:latin typeface="Times New Roman"/>
                <a:cs typeface="Times New Roman"/>
              </a:rPr>
              <a:t>Pod_name</a:t>
            </a:r>
            <a:r>
              <a:rPr sz="3600" b="1" spc="-40" dirty="0">
                <a:solidFill>
                  <a:srgbClr val="FF3131"/>
                </a:solidFill>
                <a:latin typeface="Times New Roman"/>
                <a:cs typeface="Times New Roman"/>
              </a:rPr>
              <a:t> </a:t>
            </a:r>
            <a:r>
              <a:rPr sz="3600" b="1" spc="35" dirty="0">
                <a:solidFill>
                  <a:srgbClr val="FF3131"/>
                </a:solidFill>
                <a:latin typeface="Times New Roman"/>
                <a:cs typeface="Times New Roman"/>
              </a:rPr>
              <a:t>Location=India</a:t>
            </a:r>
            <a:endParaRPr sz="3600">
              <a:latin typeface="Times New Roman"/>
              <a:cs typeface="Times New Roman"/>
            </a:endParaRPr>
          </a:p>
          <a:p>
            <a:pPr>
              <a:lnSpc>
                <a:spcPct val="100000"/>
              </a:lnSpc>
              <a:spcBef>
                <a:spcPts val="3135"/>
              </a:spcBef>
            </a:pPr>
            <a:endParaRPr sz="3600">
              <a:latin typeface="Times New Roman"/>
              <a:cs typeface="Times New Roman"/>
            </a:endParaRPr>
          </a:p>
          <a:p>
            <a:pPr marL="12700" marR="186055">
              <a:lnSpc>
                <a:spcPct val="116300"/>
              </a:lnSpc>
            </a:pPr>
            <a:r>
              <a:rPr sz="3600" b="1" dirty="0">
                <a:latin typeface="Times New Roman"/>
                <a:cs typeface="Times New Roman"/>
              </a:rPr>
              <a:t>As</a:t>
            </a:r>
            <a:r>
              <a:rPr sz="3600" b="1" spc="-55" dirty="0">
                <a:latin typeface="Times New Roman"/>
                <a:cs typeface="Times New Roman"/>
              </a:rPr>
              <a:t> </a:t>
            </a:r>
            <a:r>
              <a:rPr sz="3600" b="1" spc="360" dirty="0">
                <a:latin typeface="Times New Roman"/>
                <a:cs typeface="Times New Roman"/>
              </a:rPr>
              <a:t>we</a:t>
            </a:r>
            <a:r>
              <a:rPr sz="3600" b="1" spc="-50" dirty="0">
                <a:latin typeface="Times New Roman"/>
                <a:cs typeface="Times New Roman"/>
              </a:rPr>
              <a:t> </a:t>
            </a:r>
            <a:r>
              <a:rPr sz="3600" b="1" spc="160" dirty="0">
                <a:latin typeface="Times New Roman"/>
                <a:cs typeface="Times New Roman"/>
              </a:rPr>
              <a:t>discussed</a:t>
            </a:r>
            <a:r>
              <a:rPr sz="3600" b="1" spc="-55" dirty="0">
                <a:latin typeface="Times New Roman"/>
                <a:cs typeface="Times New Roman"/>
              </a:rPr>
              <a:t> </a:t>
            </a:r>
            <a:r>
              <a:rPr sz="3600" b="1" spc="145" dirty="0">
                <a:latin typeface="Times New Roman"/>
                <a:cs typeface="Times New Roman"/>
              </a:rPr>
              <a:t>the</a:t>
            </a:r>
            <a:r>
              <a:rPr sz="3600" b="1" spc="-50" dirty="0">
                <a:latin typeface="Times New Roman"/>
                <a:cs typeface="Times New Roman"/>
              </a:rPr>
              <a:t> </a:t>
            </a:r>
            <a:r>
              <a:rPr sz="3600" b="1" spc="170" dirty="0">
                <a:latin typeface="Times New Roman"/>
                <a:cs typeface="Times New Roman"/>
              </a:rPr>
              <a:t>type</a:t>
            </a:r>
            <a:r>
              <a:rPr sz="3600" b="1" spc="-55" dirty="0">
                <a:latin typeface="Times New Roman"/>
                <a:cs typeface="Times New Roman"/>
              </a:rPr>
              <a:t> </a:t>
            </a:r>
            <a:r>
              <a:rPr sz="3600" b="1" spc="100" dirty="0">
                <a:latin typeface="Times New Roman"/>
                <a:cs typeface="Times New Roman"/>
              </a:rPr>
              <a:t>of</a:t>
            </a:r>
            <a:r>
              <a:rPr sz="3600" b="1" spc="-50" dirty="0">
                <a:latin typeface="Times New Roman"/>
                <a:cs typeface="Times New Roman"/>
              </a:rPr>
              <a:t> </a:t>
            </a:r>
            <a:r>
              <a:rPr sz="3600" b="1" spc="170" dirty="0">
                <a:latin typeface="Times New Roman"/>
                <a:cs typeface="Times New Roman"/>
              </a:rPr>
              <a:t>label-</a:t>
            </a:r>
            <a:r>
              <a:rPr sz="3600" b="1" spc="95" dirty="0">
                <a:latin typeface="Times New Roman"/>
                <a:cs typeface="Times New Roman"/>
              </a:rPr>
              <a:t>selector,</a:t>
            </a:r>
            <a:r>
              <a:rPr sz="3600" b="1" spc="-55" dirty="0">
                <a:latin typeface="Times New Roman"/>
                <a:cs typeface="Times New Roman"/>
              </a:rPr>
              <a:t> </a:t>
            </a:r>
            <a:r>
              <a:rPr sz="3600" b="1" dirty="0">
                <a:latin typeface="Times New Roman"/>
                <a:cs typeface="Times New Roman"/>
              </a:rPr>
              <a:t>let’s</a:t>
            </a:r>
            <a:r>
              <a:rPr sz="3600" b="1" spc="-50" dirty="0">
                <a:latin typeface="Times New Roman"/>
                <a:cs typeface="Times New Roman"/>
              </a:rPr>
              <a:t> </a:t>
            </a:r>
            <a:r>
              <a:rPr sz="3600" b="1" spc="180" dirty="0">
                <a:latin typeface="Times New Roman"/>
                <a:cs typeface="Times New Roman"/>
              </a:rPr>
              <a:t>see</a:t>
            </a:r>
            <a:r>
              <a:rPr sz="3600" b="1" spc="-50" dirty="0">
                <a:latin typeface="Times New Roman"/>
                <a:cs typeface="Times New Roman"/>
              </a:rPr>
              <a:t> </a:t>
            </a:r>
            <a:r>
              <a:rPr sz="3600" b="1" spc="145" dirty="0">
                <a:latin typeface="Times New Roman"/>
                <a:cs typeface="Times New Roman"/>
              </a:rPr>
              <a:t>the</a:t>
            </a:r>
            <a:r>
              <a:rPr sz="3600" b="1" spc="-55" dirty="0">
                <a:latin typeface="Times New Roman"/>
                <a:cs typeface="Times New Roman"/>
              </a:rPr>
              <a:t> </a:t>
            </a:r>
            <a:r>
              <a:rPr sz="3600" b="1" spc="195" dirty="0">
                <a:latin typeface="Times New Roman"/>
                <a:cs typeface="Times New Roman"/>
              </a:rPr>
              <a:t>example</a:t>
            </a:r>
            <a:r>
              <a:rPr sz="3600" b="1" spc="-50" dirty="0">
                <a:latin typeface="Times New Roman"/>
                <a:cs typeface="Times New Roman"/>
              </a:rPr>
              <a:t> </a:t>
            </a:r>
            <a:r>
              <a:rPr sz="3600" b="1" spc="100" dirty="0">
                <a:latin typeface="Times New Roman"/>
                <a:cs typeface="Times New Roman"/>
              </a:rPr>
              <a:t>of</a:t>
            </a:r>
            <a:r>
              <a:rPr sz="3600" b="1" spc="-55" dirty="0">
                <a:latin typeface="Times New Roman"/>
                <a:cs typeface="Times New Roman"/>
              </a:rPr>
              <a:t> </a:t>
            </a:r>
            <a:r>
              <a:rPr sz="3600" b="1" spc="50" dirty="0">
                <a:latin typeface="Times New Roman"/>
                <a:cs typeface="Times New Roman"/>
              </a:rPr>
              <a:t>a</a:t>
            </a:r>
            <a:r>
              <a:rPr sz="3600" b="1" spc="-50" dirty="0">
                <a:latin typeface="Times New Roman"/>
                <a:cs typeface="Times New Roman"/>
              </a:rPr>
              <a:t> </a:t>
            </a:r>
            <a:r>
              <a:rPr sz="3600" b="1" spc="175" dirty="0">
                <a:latin typeface="Times New Roman"/>
                <a:cs typeface="Times New Roman"/>
              </a:rPr>
              <a:t>set- </a:t>
            </a:r>
            <a:r>
              <a:rPr sz="3600" b="1" spc="160" dirty="0">
                <a:latin typeface="Times New Roman"/>
                <a:cs typeface="Times New Roman"/>
              </a:rPr>
              <a:t>based</a:t>
            </a:r>
            <a:r>
              <a:rPr sz="3600" b="1" spc="-55" dirty="0">
                <a:latin typeface="Times New Roman"/>
                <a:cs typeface="Times New Roman"/>
              </a:rPr>
              <a:t> </a:t>
            </a:r>
            <a:r>
              <a:rPr sz="3600" b="1" spc="170" dirty="0">
                <a:latin typeface="Times New Roman"/>
                <a:cs typeface="Times New Roman"/>
              </a:rPr>
              <a:t>label-</a:t>
            </a:r>
            <a:r>
              <a:rPr sz="3600" b="1" spc="114" dirty="0">
                <a:latin typeface="Times New Roman"/>
                <a:cs typeface="Times New Roman"/>
              </a:rPr>
              <a:t>selector</a:t>
            </a:r>
            <a:r>
              <a:rPr sz="3600" b="1" spc="-50" dirty="0">
                <a:latin typeface="Times New Roman"/>
                <a:cs typeface="Times New Roman"/>
              </a:rPr>
              <a:t> </a:t>
            </a:r>
            <a:r>
              <a:rPr sz="3600" b="1" spc="225" dirty="0">
                <a:latin typeface="Times New Roman"/>
                <a:cs typeface="Times New Roman"/>
              </a:rPr>
              <a:t>where</a:t>
            </a:r>
            <a:r>
              <a:rPr sz="3600" b="1" spc="-50" dirty="0">
                <a:latin typeface="Times New Roman"/>
                <a:cs typeface="Times New Roman"/>
              </a:rPr>
              <a:t> </a:t>
            </a:r>
            <a:r>
              <a:rPr sz="3600" b="1" spc="360" dirty="0">
                <a:latin typeface="Times New Roman"/>
                <a:cs typeface="Times New Roman"/>
              </a:rPr>
              <a:t>we</a:t>
            </a:r>
            <a:r>
              <a:rPr sz="3600" b="1" spc="-50" dirty="0">
                <a:latin typeface="Times New Roman"/>
                <a:cs typeface="Times New Roman"/>
              </a:rPr>
              <a:t> </a:t>
            </a:r>
            <a:r>
              <a:rPr sz="3600" b="1" spc="185" dirty="0">
                <a:latin typeface="Times New Roman"/>
                <a:cs typeface="Times New Roman"/>
              </a:rPr>
              <a:t>use</a:t>
            </a:r>
            <a:r>
              <a:rPr sz="3600" b="1" spc="-50" dirty="0">
                <a:latin typeface="Times New Roman"/>
                <a:cs typeface="Times New Roman"/>
              </a:rPr>
              <a:t> </a:t>
            </a:r>
            <a:r>
              <a:rPr sz="3600" b="1" spc="110" dirty="0">
                <a:latin typeface="Times New Roman"/>
                <a:cs typeface="Times New Roman"/>
              </a:rPr>
              <a:t>in,</a:t>
            </a:r>
            <a:r>
              <a:rPr sz="3600" b="1" spc="-50" dirty="0">
                <a:latin typeface="Times New Roman"/>
                <a:cs typeface="Times New Roman"/>
              </a:rPr>
              <a:t> </a:t>
            </a:r>
            <a:r>
              <a:rPr sz="3600" b="1" spc="135" dirty="0">
                <a:latin typeface="Times New Roman"/>
                <a:cs typeface="Times New Roman"/>
              </a:rPr>
              <a:t>notin,</a:t>
            </a:r>
            <a:r>
              <a:rPr sz="3600" b="1" spc="-50" dirty="0">
                <a:latin typeface="Times New Roman"/>
                <a:cs typeface="Times New Roman"/>
              </a:rPr>
              <a:t> </a:t>
            </a:r>
            <a:r>
              <a:rPr sz="3600" b="1" spc="185" dirty="0">
                <a:latin typeface="Times New Roman"/>
                <a:cs typeface="Times New Roman"/>
              </a:rPr>
              <a:t>and</a:t>
            </a:r>
            <a:r>
              <a:rPr sz="3600" b="1" spc="-50" dirty="0">
                <a:latin typeface="Times New Roman"/>
                <a:cs typeface="Times New Roman"/>
              </a:rPr>
              <a:t> </a:t>
            </a:r>
            <a:r>
              <a:rPr sz="3600" b="1" spc="85" dirty="0">
                <a:latin typeface="Times New Roman"/>
                <a:cs typeface="Times New Roman"/>
              </a:rPr>
              <a:t>exists.</a:t>
            </a:r>
            <a:endParaRPr sz="3600">
              <a:latin typeface="Times New Roman"/>
              <a:cs typeface="Times New Roman"/>
            </a:endParaRPr>
          </a:p>
          <a:p>
            <a:pPr>
              <a:lnSpc>
                <a:spcPct val="100000"/>
              </a:lnSpc>
              <a:spcBef>
                <a:spcPts val="885"/>
              </a:spcBef>
            </a:pPr>
            <a:endParaRPr sz="3600">
              <a:latin typeface="Times New Roman"/>
              <a:cs typeface="Times New Roman"/>
            </a:endParaRPr>
          </a:p>
          <a:p>
            <a:pPr marL="12700" marR="5080">
              <a:lnSpc>
                <a:spcPct val="116300"/>
              </a:lnSpc>
            </a:pPr>
            <a:r>
              <a:rPr sz="3600" b="1" spc="-10" dirty="0">
                <a:latin typeface="Times New Roman"/>
                <a:cs typeface="Times New Roman"/>
              </a:rPr>
              <a:t>Lets</a:t>
            </a:r>
            <a:r>
              <a:rPr sz="3600" b="1" spc="-65" dirty="0">
                <a:latin typeface="Times New Roman"/>
                <a:cs typeface="Times New Roman"/>
              </a:rPr>
              <a:t> </a:t>
            </a:r>
            <a:r>
              <a:rPr sz="3600" b="1" spc="65" dirty="0">
                <a:latin typeface="Times New Roman"/>
                <a:cs typeface="Times New Roman"/>
              </a:rPr>
              <a:t>list</a:t>
            </a:r>
            <a:r>
              <a:rPr sz="3600" b="1" spc="-60" dirty="0">
                <a:latin typeface="Times New Roman"/>
                <a:cs typeface="Times New Roman"/>
              </a:rPr>
              <a:t> </a:t>
            </a:r>
            <a:r>
              <a:rPr sz="3600" b="1" spc="50" dirty="0">
                <a:latin typeface="Times New Roman"/>
                <a:cs typeface="Times New Roman"/>
              </a:rPr>
              <a:t>all</a:t>
            </a:r>
            <a:r>
              <a:rPr sz="3600" b="1" spc="-65" dirty="0">
                <a:latin typeface="Times New Roman"/>
                <a:cs typeface="Times New Roman"/>
              </a:rPr>
              <a:t> </a:t>
            </a:r>
            <a:r>
              <a:rPr sz="3600" b="1" spc="150" dirty="0">
                <a:latin typeface="Times New Roman"/>
                <a:cs typeface="Times New Roman"/>
              </a:rPr>
              <a:t>those</a:t>
            </a:r>
            <a:r>
              <a:rPr sz="3600" b="1" spc="-60" dirty="0">
                <a:latin typeface="Times New Roman"/>
                <a:cs typeface="Times New Roman"/>
              </a:rPr>
              <a:t> </a:t>
            </a:r>
            <a:r>
              <a:rPr sz="3600" b="1" spc="190" dirty="0">
                <a:latin typeface="Times New Roman"/>
                <a:cs typeface="Times New Roman"/>
              </a:rPr>
              <a:t>pods</a:t>
            </a:r>
            <a:r>
              <a:rPr sz="3600" b="1" spc="-60" dirty="0">
                <a:latin typeface="Times New Roman"/>
                <a:cs typeface="Times New Roman"/>
              </a:rPr>
              <a:t> </a:t>
            </a:r>
            <a:r>
              <a:rPr sz="3600" b="1" spc="65" dirty="0">
                <a:latin typeface="Times New Roman"/>
                <a:cs typeface="Times New Roman"/>
              </a:rPr>
              <a:t>that</a:t>
            </a:r>
            <a:r>
              <a:rPr sz="3600" b="1" spc="-65" dirty="0">
                <a:latin typeface="Times New Roman"/>
                <a:cs typeface="Times New Roman"/>
              </a:rPr>
              <a:t> </a:t>
            </a:r>
            <a:r>
              <a:rPr sz="3600" b="1" spc="180" dirty="0">
                <a:latin typeface="Times New Roman"/>
                <a:cs typeface="Times New Roman"/>
              </a:rPr>
              <a:t>have</a:t>
            </a:r>
            <a:r>
              <a:rPr sz="3600" b="1" spc="-60" dirty="0">
                <a:latin typeface="Times New Roman"/>
                <a:cs typeface="Times New Roman"/>
              </a:rPr>
              <a:t> </a:t>
            </a:r>
            <a:r>
              <a:rPr sz="3600" b="1" spc="165" dirty="0">
                <a:latin typeface="Times New Roman"/>
                <a:cs typeface="Times New Roman"/>
              </a:rPr>
              <a:t>an</a:t>
            </a:r>
            <a:r>
              <a:rPr sz="3600" b="1" spc="-65" dirty="0">
                <a:latin typeface="Times New Roman"/>
                <a:cs typeface="Times New Roman"/>
              </a:rPr>
              <a:t> </a:t>
            </a:r>
            <a:r>
              <a:rPr sz="3600" b="1" spc="245" dirty="0">
                <a:latin typeface="Times New Roman"/>
                <a:cs typeface="Times New Roman"/>
              </a:rPr>
              <a:t>env</a:t>
            </a:r>
            <a:r>
              <a:rPr sz="3600" b="1" spc="-60" dirty="0">
                <a:latin typeface="Times New Roman"/>
                <a:cs typeface="Times New Roman"/>
              </a:rPr>
              <a:t> </a:t>
            </a:r>
            <a:r>
              <a:rPr sz="3600" b="1" spc="114" dirty="0">
                <a:latin typeface="Times New Roman"/>
                <a:cs typeface="Times New Roman"/>
              </a:rPr>
              <a:t>label</a:t>
            </a:r>
            <a:r>
              <a:rPr sz="3600" b="1" spc="-60" dirty="0">
                <a:latin typeface="Times New Roman"/>
                <a:cs typeface="Times New Roman"/>
              </a:rPr>
              <a:t> </a:t>
            </a:r>
            <a:r>
              <a:rPr sz="3600" b="1" spc="204" dirty="0">
                <a:latin typeface="Times New Roman"/>
                <a:cs typeface="Times New Roman"/>
              </a:rPr>
              <a:t>with</a:t>
            </a:r>
            <a:r>
              <a:rPr sz="3600" b="1" spc="-65" dirty="0">
                <a:latin typeface="Times New Roman"/>
                <a:cs typeface="Times New Roman"/>
              </a:rPr>
              <a:t> </a:t>
            </a:r>
            <a:r>
              <a:rPr sz="3600" b="1" spc="155" dirty="0">
                <a:latin typeface="Times New Roman"/>
                <a:cs typeface="Times New Roman"/>
              </a:rPr>
              <a:t>value</a:t>
            </a:r>
            <a:r>
              <a:rPr sz="3600" b="1" spc="-60" dirty="0">
                <a:latin typeface="Times New Roman"/>
                <a:cs typeface="Times New Roman"/>
              </a:rPr>
              <a:t> </a:t>
            </a:r>
            <a:r>
              <a:rPr sz="3600" b="1" spc="55" dirty="0">
                <a:latin typeface="Times New Roman"/>
                <a:cs typeface="Times New Roman"/>
              </a:rPr>
              <a:t>for</a:t>
            </a:r>
            <a:r>
              <a:rPr sz="3600" b="1" spc="-65" dirty="0">
                <a:latin typeface="Times New Roman"/>
                <a:cs typeface="Times New Roman"/>
              </a:rPr>
              <a:t> </a:t>
            </a:r>
            <a:r>
              <a:rPr sz="3600" b="1" spc="114" dirty="0">
                <a:latin typeface="Times New Roman"/>
                <a:cs typeface="Times New Roman"/>
              </a:rPr>
              <a:t>either</a:t>
            </a:r>
            <a:r>
              <a:rPr sz="3600" b="1" spc="-60" dirty="0">
                <a:latin typeface="Times New Roman"/>
                <a:cs typeface="Times New Roman"/>
              </a:rPr>
              <a:t> </a:t>
            </a:r>
            <a:r>
              <a:rPr sz="3600" b="1" spc="80" dirty="0">
                <a:latin typeface="Times New Roman"/>
                <a:cs typeface="Times New Roman"/>
              </a:rPr>
              <a:t>testing </a:t>
            </a:r>
            <a:r>
              <a:rPr sz="3600" b="1" spc="90" dirty="0">
                <a:latin typeface="Times New Roman"/>
                <a:cs typeface="Times New Roman"/>
              </a:rPr>
              <a:t>or</a:t>
            </a:r>
            <a:r>
              <a:rPr sz="3600" b="1" spc="-55" dirty="0">
                <a:latin typeface="Times New Roman"/>
                <a:cs typeface="Times New Roman"/>
              </a:rPr>
              <a:t> </a:t>
            </a:r>
            <a:r>
              <a:rPr sz="3600" b="1" spc="175" dirty="0">
                <a:latin typeface="Times New Roman"/>
                <a:cs typeface="Times New Roman"/>
              </a:rPr>
              <a:t>development.</a:t>
            </a:r>
            <a:endParaRPr sz="3600">
              <a:latin typeface="Times New Roman"/>
              <a:cs typeface="Times New Roman"/>
            </a:endParaRPr>
          </a:p>
          <a:p>
            <a:pPr>
              <a:lnSpc>
                <a:spcPct val="100000"/>
              </a:lnSpc>
              <a:spcBef>
                <a:spcPts val="1590"/>
              </a:spcBef>
            </a:pPr>
            <a:endParaRPr sz="3600">
              <a:latin typeface="Times New Roman"/>
              <a:cs typeface="Times New Roman"/>
            </a:endParaRPr>
          </a:p>
          <a:p>
            <a:pPr marL="12700">
              <a:lnSpc>
                <a:spcPct val="100000"/>
              </a:lnSpc>
            </a:pPr>
            <a:r>
              <a:rPr sz="3600" b="1" spc="110" dirty="0">
                <a:solidFill>
                  <a:srgbClr val="FF3131"/>
                </a:solidFill>
                <a:latin typeface="Times New Roman"/>
                <a:cs typeface="Times New Roman"/>
              </a:rPr>
              <a:t>kubectl</a:t>
            </a:r>
            <a:r>
              <a:rPr sz="3600" b="1" spc="-55" dirty="0">
                <a:solidFill>
                  <a:srgbClr val="FF3131"/>
                </a:solidFill>
                <a:latin typeface="Times New Roman"/>
                <a:cs typeface="Times New Roman"/>
              </a:rPr>
              <a:t> </a:t>
            </a:r>
            <a:r>
              <a:rPr sz="3600" b="1" spc="55" dirty="0">
                <a:solidFill>
                  <a:srgbClr val="FF3131"/>
                </a:solidFill>
                <a:latin typeface="Times New Roman"/>
                <a:cs typeface="Times New Roman"/>
              </a:rPr>
              <a:t>get</a:t>
            </a:r>
            <a:r>
              <a:rPr sz="3600" b="1" spc="-50" dirty="0">
                <a:solidFill>
                  <a:srgbClr val="FF3131"/>
                </a:solidFill>
                <a:latin typeface="Times New Roman"/>
                <a:cs typeface="Times New Roman"/>
              </a:rPr>
              <a:t> </a:t>
            </a:r>
            <a:r>
              <a:rPr sz="3600" b="1" spc="190" dirty="0">
                <a:solidFill>
                  <a:srgbClr val="FF3131"/>
                </a:solidFill>
                <a:latin typeface="Times New Roman"/>
                <a:cs typeface="Times New Roman"/>
              </a:rPr>
              <a:t>pods</a:t>
            </a:r>
            <a:r>
              <a:rPr sz="3600" b="1" spc="-50" dirty="0">
                <a:solidFill>
                  <a:srgbClr val="FF3131"/>
                </a:solidFill>
                <a:latin typeface="Times New Roman"/>
                <a:cs typeface="Times New Roman"/>
              </a:rPr>
              <a:t> </a:t>
            </a:r>
            <a:r>
              <a:rPr sz="3600" b="1" spc="465" dirty="0">
                <a:solidFill>
                  <a:srgbClr val="FF3131"/>
                </a:solidFill>
                <a:latin typeface="Times New Roman"/>
                <a:cs typeface="Times New Roman"/>
              </a:rPr>
              <a:t>-</a:t>
            </a:r>
            <a:r>
              <a:rPr sz="3600" b="1" spc="70" dirty="0">
                <a:solidFill>
                  <a:srgbClr val="FF3131"/>
                </a:solidFill>
                <a:latin typeface="Times New Roman"/>
                <a:cs typeface="Times New Roman"/>
              </a:rPr>
              <a:t>l</a:t>
            </a:r>
            <a:r>
              <a:rPr sz="3600" b="1" spc="-55" dirty="0">
                <a:solidFill>
                  <a:srgbClr val="FF3131"/>
                </a:solidFill>
                <a:latin typeface="Times New Roman"/>
                <a:cs typeface="Times New Roman"/>
              </a:rPr>
              <a:t> </a:t>
            </a:r>
            <a:r>
              <a:rPr sz="3600" b="1" spc="90" dirty="0">
                <a:solidFill>
                  <a:srgbClr val="FF3131"/>
                </a:solidFill>
                <a:latin typeface="Times New Roman"/>
                <a:cs typeface="Times New Roman"/>
              </a:rPr>
              <a:t>‘env</a:t>
            </a:r>
            <a:r>
              <a:rPr sz="3600" b="1" spc="-50" dirty="0">
                <a:solidFill>
                  <a:srgbClr val="FF3131"/>
                </a:solidFill>
                <a:latin typeface="Times New Roman"/>
                <a:cs typeface="Times New Roman"/>
              </a:rPr>
              <a:t> </a:t>
            </a:r>
            <a:r>
              <a:rPr sz="3600" b="1" spc="190" dirty="0">
                <a:solidFill>
                  <a:srgbClr val="FF3131"/>
                </a:solidFill>
                <a:latin typeface="Times New Roman"/>
                <a:cs typeface="Times New Roman"/>
              </a:rPr>
              <a:t>in</a:t>
            </a:r>
            <a:r>
              <a:rPr sz="3600" b="1" spc="-50" dirty="0">
                <a:solidFill>
                  <a:srgbClr val="FF3131"/>
                </a:solidFill>
                <a:latin typeface="Times New Roman"/>
                <a:cs typeface="Times New Roman"/>
              </a:rPr>
              <a:t> </a:t>
            </a:r>
            <a:r>
              <a:rPr sz="3600" b="1" spc="55" dirty="0">
                <a:solidFill>
                  <a:srgbClr val="FF3131"/>
                </a:solidFill>
                <a:latin typeface="Times New Roman"/>
                <a:cs typeface="Times New Roman"/>
              </a:rPr>
              <a:t>(testing,</a:t>
            </a:r>
            <a:r>
              <a:rPr sz="3600" b="1" spc="-50" dirty="0">
                <a:solidFill>
                  <a:srgbClr val="FF3131"/>
                </a:solidFill>
                <a:latin typeface="Times New Roman"/>
                <a:cs typeface="Times New Roman"/>
              </a:rPr>
              <a:t> </a:t>
            </a:r>
            <a:r>
              <a:rPr sz="3600" b="1" spc="125" dirty="0">
                <a:solidFill>
                  <a:srgbClr val="FF3131"/>
                </a:solidFill>
                <a:latin typeface="Times New Roman"/>
                <a:cs typeface="Times New Roman"/>
              </a:rPr>
              <a:t>development)’</a:t>
            </a:r>
            <a:endParaRPr sz="3600">
              <a:latin typeface="Times New Roman"/>
              <a:cs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4573" y="548248"/>
            <a:ext cx="14770735" cy="6407150"/>
          </a:xfrm>
          <a:prstGeom prst="rect">
            <a:avLst/>
          </a:prstGeom>
        </p:spPr>
        <p:txBody>
          <a:bodyPr vert="horz" wrap="square" lIns="0" tIns="12700" rIns="0" bIns="0" rtlCol="0">
            <a:spAutoFit/>
          </a:bodyPr>
          <a:lstStyle/>
          <a:p>
            <a:pPr marL="12700" marR="5080">
              <a:lnSpc>
                <a:spcPct val="116300"/>
              </a:lnSpc>
              <a:spcBef>
                <a:spcPts val="100"/>
              </a:spcBef>
            </a:pPr>
            <a:r>
              <a:rPr sz="3600" b="1" spc="360" dirty="0">
                <a:latin typeface="Times New Roman"/>
                <a:cs typeface="Times New Roman"/>
              </a:rPr>
              <a:t>we</a:t>
            </a:r>
            <a:r>
              <a:rPr sz="3600" b="1" spc="-55" dirty="0">
                <a:latin typeface="Times New Roman"/>
                <a:cs typeface="Times New Roman"/>
              </a:rPr>
              <a:t> </a:t>
            </a:r>
            <a:r>
              <a:rPr sz="3600" b="1" spc="75" dirty="0">
                <a:latin typeface="Times New Roman"/>
                <a:cs typeface="Times New Roman"/>
              </a:rPr>
              <a:t>are</a:t>
            </a:r>
            <a:r>
              <a:rPr sz="3600" b="1" spc="-50" dirty="0">
                <a:latin typeface="Times New Roman"/>
                <a:cs typeface="Times New Roman"/>
              </a:rPr>
              <a:t> </a:t>
            </a:r>
            <a:r>
              <a:rPr sz="3600" b="1" spc="85" dirty="0">
                <a:latin typeface="Times New Roman"/>
                <a:cs typeface="Times New Roman"/>
              </a:rPr>
              <a:t>trying</a:t>
            </a:r>
            <a:r>
              <a:rPr sz="3600" b="1" spc="-50" dirty="0">
                <a:latin typeface="Times New Roman"/>
                <a:cs typeface="Times New Roman"/>
              </a:rPr>
              <a:t> </a:t>
            </a:r>
            <a:r>
              <a:rPr sz="3600" b="1" spc="105" dirty="0">
                <a:latin typeface="Times New Roman"/>
                <a:cs typeface="Times New Roman"/>
              </a:rPr>
              <a:t>to</a:t>
            </a:r>
            <a:r>
              <a:rPr sz="3600" b="1" spc="-50" dirty="0">
                <a:latin typeface="Times New Roman"/>
                <a:cs typeface="Times New Roman"/>
              </a:rPr>
              <a:t> </a:t>
            </a:r>
            <a:r>
              <a:rPr sz="3600" b="1" spc="65" dirty="0">
                <a:latin typeface="Times New Roman"/>
                <a:cs typeface="Times New Roman"/>
              </a:rPr>
              <a:t>list</a:t>
            </a:r>
            <a:r>
              <a:rPr sz="3600" b="1" spc="-50" dirty="0">
                <a:latin typeface="Times New Roman"/>
                <a:cs typeface="Times New Roman"/>
              </a:rPr>
              <a:t> </a:t>
            </a:r>
            <a:r>
              <a:rPr sz="3600" b="1" spc="50" dirty="0">
                <a:latin typeface="Times New Roman"/>
                <a:cs typeface="Times New Roman"/>
              </a:rPr>
              <a:t>all</a:t>
            </a:r>
            <a:r>
              <a:rPr sz="3600" b="1" spc="-50" dirty="0">
                <a:latin typeface="Times New Roman"/>
                <a:cs typeface="Times New Roman"/>
              </a:rPr>
              <a:t> </a:t>
            </a:r>
            <a:r>
              <a:rPr sz="3600" b="1" spc="150" dirty="0">
                <a:latin typeface="Times New Roman"/>
                <a:cs typeface="Times New Roman"/>
              </a:rPr>
              <a:t>those</a:t>
            </a:r>
            <a:r>
              <a:rPr sz="3600" b="1" spc="-50" dirty="0">
                <a:latin typeface="Times New Roman"/>
                <a:cs typeface="Times New Roman"/>
              </a:rPr>
              <a:t> </a:t>
            </a:r>
            <a:r>
              <a:rPr sz="3600" b="1" spc="190" dirty="0">
                <a:latin typeface="Times New Roman"/>
                <a:cs typeface="Times New Roman"/>
              </a:rPr>
              <a:t>pods</a:t>
            </a:r>
            <a:r>
              <a:rPr sz="3600" b="1" spc="-50" dirty="0">
                <a:latin typeface="Times New Roman"/>
                <a:cs typeface="Times New Roman"/>
              </a:rPr>
              <a:t> </a:t>
            </a:r>
            <a:r>
              <a:rPr sz="3600" b="1" spc="65" dirty="0">
                <a:latin typeface="Times New Roman"/>
                <a:cs typeface="Times New Roman"/>
              </a:rPr>
              <a:t>that</a:t>
            </a:r>
            <a:r>
              <a:rPr sz="3600" b="1" spc="-50" dirty="0">
                <a:latin typeface="Times New Roman"/>
                <a:cs typeface="Times New Roman"/>
              </a:rPr>
              <a:t> </a:t>
            </a:r>
            <a:r>
              <a:rPr sz="3600" b="1" spc="55" dirty="0">
                <a:latin typeface="Times New Roman"/>
                <a:cs typeface="Times New Roman"/>
              </a:rPr>
              <a:t>don’t</a:t>
            </a:r>
            <a:r>
              <a:rPr sz="3600" b="1" spc="-50" dirty="0">
                <a:latin typeface="Times New Roman"/>
                <a:cs typeface="Times New Roman"/>
              </a:rPr>
              <a:t> </a:t>
            </a:r>
            <a:r>
              <a:rPr sz="3600" b="1" spc="180" dirty="0">
                <a:latin typeface="Times New Roman"/>
                <a:cs typeface="Times New Roman"/>
              </a:rPr>
              <a:t>have</a:t>
            </a:r>
            <a:r>
              <a:rPr sz="3600" b="1" spc="-50" dirty="0">
                <a:latin typeface="Times New Roman"/>
                <a:cs typeface="Times New Roman"/>
              </a:rPr>
              <a:t> </a:t>
            </a:r>
            <a:r>
              <a:rPr sz="3600" b="1" spc="145" dirty="0">
                <a:latin typeface="Times New Roman"/>
                <a:cs typeface="Times New Roman"/>
              </a:rPr>
              <a:t>the</a:t>
            </a:r>
            <a:r>
              <a:rPr sz="3600" b="1" spc="-50" dirty="0">
                <a:latin typeface="Times New Roman"/>
                <a:cs typeface="Times New Roman"/>
              </a:rPr>
              <a:t> </a:t>
            </a:r>
            <a:r>
              <a:rPr sz="3600" b="1" spc="110" dirty="0">
                <a:latin typeface="Times New Roman"/>
                <a:cs typeface="Times New Roman"/>
              </a:rPr>
              <a:t>India</a:t>
            </a:r>
            <a:r>
              <a:rPr sz="3600" b="1" spc="-50" dirty="0">
                <a:latin typeface="Times New Roman"/>
                <a:cs typeface="Times New Roman"/>
              </a:rPr>
              <a:t> </a:t>
            </a:r>
            <a:r>
              <a:rPr sz="3600" b="1" spc="90" dirty="0">
                <a:latin typeface="Times New Roman"/>
                <a:cs typeface="Times New Roman"/>
              </a:rPr>
              <a:t>or</a:t>
            </a:r>
            <a:r>
              <a:rPr sz="3600" b="1" spc="-50" dirty="0">
                <a:latin typeface="Times New Roman"/>
                <a:cs typeface="Times New Roman"/>
              </a:rPr>
              <a:t> </a:t>
            </a:r>
            <a:r>
              <a:rPr sz="3600" b="1" dirty="0">
                <a:latin typeface="Times New Roman"/>
                <a:cs typeface="Times New Roman"/>
              </a:rPr>
              <a:t>US</a:t>
            </a:r>
            <a:r>
              <a:rPr sz="3600" b="1" spc="-50" dirty="0">
                <a:latin typeface="Times New Roman"/>
                <a:cs typeface="Times New Roman"/>
              </a:rPr>
              <a:t> </a:t>
            </a:r>
            <a:r>
              <a:rPr sz="3600" b="1" spc="135" dirty="0">
                <a:latin typeface="Times New Roman"/>
                <a:cs typeface="Times New Roman"/>
              </a:rPr>
              <a:t>value </a:t>
            </a:r>
            <a:r>
              <a:rPr sz="3600" b="1" spc="55" dirty="0">
                <a:latin typeface="Times New Roman"/>
                <a:cs typeface="Times New Roman"/>
              </a:rPr>
              <a:t>for</a:t>
            </a:r>
            <a:r>
              <a:rPr sz="3600" b="1" spc="-50" dirty="0">
                <a:latin typeface="Times New Roman"/>
                <a:cs typeface="Times New Roman"/>
              </a:rPr>
              <a:t> </a:t>
            </a:r>
            <a:r>
              <a:rPr sz="3600" b="1" spc="145" dirty="0">
                <a:latin typeface="Times New Roman"/>
                <a:cs typeface="Times New Roman"/>
              </a:rPr>
              <a:t>the</a:t>
            </a:r>
            <a:r>
              <a:rPr sz="3600" b="1" spc="-50" dirty="0">
                <a:latin typeface="Times New Roman"/>
                <a:cs typeface="Times New Roman"/>
              </a:rPr>
              <a:t> </a:t>
            </a:r>
            <a:r>
              <a:rPr sz="3600" b="1" spc="55" dirty="0">
                <a:latin typeface="Times New Roman"/>
                <a:cs typeface="Times New Roman"/>
              </a:rPr>
              <a:t>Location</a:t>
            </a:r>
            <a:r>
              <a:rPr sz="3600" b="1" spc="-50" dirty="0">
                <a:latin typeface="Times New Roman"/>
                <a:cs typeface="Times New Roman"/>
              </a:rPr>
              <a:t> </a:t>
            </a:r>
            <a:r>
              <a:rPr sz="3600" b="1" spc="125" dirty="0">
                <a:latin typeface="Times New Roman"/>
                <a:cs typeface="Times New Roman"/>
              </a:rPr>
              <a:t>key</a:t>
            </a:r>
            <a:r>
              <a:rPr sz="3600" b="1" spc="-45" dirty="0">
                <a:latin typeface="Times New Roman"/>
                <a:cs typeface="Times New Roman"/>
              </a:rPr>
              <a:t> </a:t>
            </a:r>
            <a:r>
              <a:rPr sz="3600" b="1" spc="190" dirty="0">
                <a:latin typeface="Times New Roman"/>
                <a:cs typeface="Times New Roman"/>
              </a:rPr>
              <a:t>in</a:t>
            </a:r>
            <a:r>
              <a:rPr sz="3600" b="1" spc="-50" dirty="0">
                <a:latin typeface="Times New Roman"/>
                <a:cs typeface="Times New Roman"/>
              </a:rPr>
              <a:t> </a:t>
            </a:r>
            <a:r>
              <a:rPr sz="3600" b="1" spc="145" dirty="0">
                <a:latin typeface="Times New Roman"/>
                <a:cs typeface="Times New Roman"/>
              </a:rPr>
              <a:t>the</a:t>
            </a:r>
            <a:r>
              <a:rPr sz="3600" b="1" spc="-50" dirty="0">
                <a:latin typeface="Times New Roman"/>
                <a:cs typeface="Times New Roman"/>
              </a:rPr>
              <a:t> </a:t>
            </a:r>
            <a:r>
              <a:rPr sz="3600" b="1" spc="-10" dirty="0">
                <a:latin typeface="Times New Roman"/>
                <a:cs typeface="Times New Roman"/>
              </a:rPr>
              <a:t>Label.</a:t>
            </a:r>
            <a:endParaRPr sz="3600">
              <a:latin typeface="Times New Roman"/>
              <a:cs typeface="Times New Roman"/>
            </a:endParaRPr>
          </a:p>
          <a:p>
            <a:pPr marL="12700" marR="5130800">
              <a:lnSpc>
                <a:spcPct val="232600"/>
              </a:lnSpc>
            </a:pPr>
            <a:r>
              <a:rPr sz="3600" b="1" spc="110" dirty="0">
                <a:solidFill>
                  <a:srgbClr val="FF3131"/>
                </a:solidFill>
                <a:latin typeface="Times New Roman"/>
                <a:cs typeface="Times New Roman"/>
              </a:rPr>
              <a:t>kubectl</a:t>
            </a:r>
            <a:r>
              <a:rPr sz="3600" b="1" spc="-45" dirty="0">
                <a:solidFill>
                  <a:srgbClr val="FF3131"/>
                </a:solidFill>
                <a:latin typeface="Times New Roman"/>
                <a:cs typeface="Times New Roman"/>
              </a:rPr>
              <a:t> </a:t>
            </a:r>
            <a:r>
              <a:rPr sz="3600" b="1" spc="55" dirty="0">
                <a:solidFill>
                  <a:srgbClr val="FF3131"/>
                </a:solidFill>
                <a:latin typeface="Times New Roman"/>
                <a:cs typeface="Times New Roman"/>
              </a:rPr>
              <a:t>get</a:t>
            </a:r>
            <a:r>
              <a:rPr sz="3600" b="1" spc="-40" dirty="0">
                <a:solidFill>
                  <a:srgbClr val="FF3131"/>
                </a:solidFill>
                <a:latin typeface="Times New Roman"/>
                <a:cs typeface="Times New Roman"/>
              </a:rPr>
              <a:t> </a:t>
            </a:r>
            <a:r>
              <a:rPr sz="3600" b="1" spc="190" dirty="0">
                <a:solidFill>
                  <a:srgbClr val="FF3131"/>
                </a:solidFill>
                <a:latin typeface="Times New Roman"/>
                <a:cs typeface="Times New Roman"/>
              </a:rPr>
              <a:t>pods</a:t>
            </a:r>
            <a:r>
              <a:rPr sz="3600" b="1" spc="-40" dirty="0">
                <a:solidFill>
                  <a:srgbClr val="FF3131"/>
                </a:solidFill>
                <a:latin typeface="Times New Roman"/>
                <a:cs typeface="Times New Roman"/>
              </a:rPr>
              <a:t> </a:t>
            </a:r>
            <a:r>
              <a:rPr sz="3600" b="1" spc="465" dirty="0">
                <a:solidFill>
                  <a:srgbClr val="FF3131"/>
                </a:solidFill>
                <a:latin typeface="Times New Roman"/>
                <a:cs typeface="Times New Roman"/>
              </a:rPr>
              <a:t>-</a:t>
            </a:r>
            <a:r>
              <a:rPr sz="3600" b="1" spc="70" dirty="0">
                <a:solidFill>
                  <a:srgbClr val="FF3131"/>
                </a:solidFill>
                <a:latin typeface="Times New Roman"/>
                <a:cs typeface="Times New Roman"/>
              </a:rPr>
              <a:t>l</a:t>
            </a:r>
            <a:r>
              <a:rPr sz="3600" b="1" spc="-40" dirty="0">
                <a:solidFill>
                  <a:srgbClr val="FF3131"/>
                </a:solidFill>
                <a:latin typeface="Times New Roman"/>
                <a:cs typeface="Times New Roman"/>
              </a:rPr>
              <a:t> </a:t>
            </a:r>
            <a:r>
              <a:rPr sz="3600" b="1" dirty="0">
                <a:solidFill>
                  <a:srgbClr val="FF3131"/>
                </a:solidFill>
                <a:latin typeface="Times New Roman"/>
                <a:cs typeface="Times New Roman"/>
              </a:rPr>
              <a:t>‘Location</a:t>
            </a:r>
            <a:r>
              <a:rPr sz="3600" b="1" spc="-40" dirty="0">
                <a:solidFill>
                  <a:srgbClr val="FF3131"/>
                </a:solidFill>
                <a:latin typeface="Times New Roman"/>
                <a:cs typeface="Times New Roman"/>
              </a:rPr>
              <a:t> </a:t>
            </a:r>
            <a:r>
              <a:rPr sz="3600" b="1" spc="165" dirty="0">
                <a:solidFill>
                  <a:srgbClr val="FF3131"/>
                </a:solidFill>
                <a:latin typeface="Times New Roman"/>
                <a:cs typeface="Times New Roman"/>
              </a:rPr>
              <a:t>not</a:t>
            </a:r>
            <a:r>
              <a:rPr sz="3600" b="1" spc="-40" dirty="0">
                <a:solidFill>
                  <a:srgbClr val="FF3131"/>
                </a:solidFill>
                <a:latin typeface="Times New Roman"/>
                <a:cs typeface="Times New Roman"/>
              </a:rPr>
              <a:t> </a:t>
            </a:r>
            <a:r>
              <a:rPr sz="3600" b="1" spc="190" dirty="0">
                <a:solidFill>
                  <a:srgbClr val="FF3131"/>
                </a:solidFill>
                <a:latin typeface="Times New Roman"/>
                <a:cs typeface="Times New Roman"/>
              </a:rPr>
              <a:t>in</a:t>
            </a:r>
            <a:r>
              <a:rPr sz="3600" b="1" spc="-45" dirty="0">
                <a:solidFill>
                  <a:srgbClr val="FF3131"/>
                </a:solidFill>
                <a:latin typeface="Times New Roman"/>
                <a:cs typeface="Times New Roman"/>
              </a:rPr>
              <a:t> </a:t>
            </a:r>
            <a:r>
              <a:rPr sz="3600" b="1" spc="55" dirty="0">
                <a:solidFill>
                  <a:srgbClr val="FF3131"/>
                </a:solidFill>
                <a:latin typeface="Times New Roman"/>
                <a:cs typeface="Times New Roman"/>
              </a:rPr>
              <a:t>(India,</a:t>
            </a:r>
            <a:r>
              <a:rPr sz="3600" b="1" spc="-40" dirty="0">
                <a:solidFill>
                  <a:srgbClr val="FF3131"/>
                </a:solidFill>
                <a:latin typeface="Times New Roman"/>
                <a:cs typeface="Times New Roman"/>
              </a:rPr>
              <a:t> </a:t>
            </a:r>
            <a:r>
              <a:rPr sz="3600" b="1" spc="-45" dirty="0">
                <a:solidFill>
                  <a:srgbClr val="FF3131"/>
                </a:solidFill>
                <a:latin typeface="Times New Roman"/>
                <a:cs typeface="Times New Roman"/>
              </a:rPr>
              <a:t>US)’ </a:t>
            </a:r>
            <a:r>
              <a:rPr sz="3600" b="1" spc="335" dirty="0">
                <a:latin typeface="Times New Roman"/>
                <a:cs typeface="Times New Roman"/>
              </a:rPr>
              <a:t>We</a:t>
            </a:r>
            <a:r>
              <a:rPr sz="3600" b="1" spc="-55" dirty="0">
                <a:latin typeface="Times New Roman"/>
                <a:cs typeface="Times New Roman"/>
              </a:rPr>
              <a:t> </a:t>
            </a:r>
            <a:r>
              <a:rPr sz="3600" b="1" spc="165" dirty="0">
                <a:latin typeface="Times New Roman"/>
                <a:cs typeface="Times New Roman"/>
              </a:rPr>
              <a:t>can</a:t>
            </a:r>
            <a:r>
              <a:rPr sz="3600" b="1" spc="-50" dirty="0">
                <a:latin typeface="Times New Roman"/>
                <a:cs typeface="Times New Roman"/>
              </a:rPr>
              <a:t> </a:t>
            </a:r>
            <a:r>
              <a:rPr sz="3600" b="1" spc="105" dirty="0">
                <a:latin typeface="Times New Roman"/>
                <a:cs typeface="Times New Roman"/>
              </a:rPr>
              <a:t>also</a:t>
            </a:r>
            <a:r>
              <a:rPr sz="3600" b="1" spc="-50" dirty="0">
                <a:latin typeface="Times New Roman"/>
                <a:cs typeface="Times New Roman"/>
              </a:rPr>
              <a:t> </a:t>
            </a:r>
            <a:r>
              <a:rPr sz="3600" b="1" spc="150" dirty="0">
                <a:latin typeface="Times New Roman"/>
                <a:cs typeface="Times New Roman"/>
              </a:rPr>
              <a:t>delete</a:t>
            </a:r>
            <a:r>
              <a:rPr sz="3600" b="1" spc="-50" dirty="0">
                <a:latin typeface="Times New Roman"/>
                <a:cs typeface="Times New Roman"/>
              </a:rPr>
              <a:t> </a:t>
            </a:r>
            <a:r>
              <a:rPr sz="3600" b="1" spc="145" dirty="0">
                <a:latin typeface="Times New Roman"/>
                <a:cs typeface="Times New Roman"/>
              </a:rPr>
              <a:t>the</a:t>
            </a:r>
            <a:r>
              <a:rPr sz="3600" b="1" spc="-50" dirty="0">
                <a:latin typeface="Times New Roman"/>
                <a:cs typeface="Times New Roman"/>
              </a:rPr>
              <a:t> </a:t>
            </a:r>
            <a:r>
              <a:rPr sz="3600" b="1" spc="190" dirty="0">
                <a:latin typeface="Times New Roman"/>
                <a:cs typeface="Times New Roman"/>
              </a:rPr>
              <a:t>pods</a:t>
            </a:r>
            <a:r>
              <a:rPr sz="3600" b="1" spc="-50" dirty="0">
                <a:latin typeface="Times New Roman"/>
                <a:cs typeface="Times New Roman"/>
              </a:rPr>
              <a:t> </a:t>
            </a:r>
            <a:r>
              <a:rPr sz="3600" b="1" spc="80" dirty="0">
                <a:latin typeface="Times New Roman"/>
                <a:cs typeface="Times New Roman"/>
              </a:rPr>
              <a:t>as</a:t>
            </a:r>
            <a:r>
              <a:rPr sz="3600" b="1" spc="-50" dirty="0">
                <a:latin typeface="Times New Roman"/>
                <a:cs typeface="Times New Roman"/>
              </a:rPr>
              <a:t> </a:t>
            </a:r>
            <a:r>
              <a:rPr sz="3600" b="1" spc="135" dirty="0">
                <a:latin typeface="Times New Roman"/>
                <a:cs typeface="Times New Roman"/>
              </a:rPr>
              <a:t>per</a:t>
            </a:r>
            <a:r>
              <a:rPr sz="3600" b="1" spc="-50" dirty="0">
                <a:latin typeface="Times New Roman"/>
                <a:cs typeface="Times New Roman"/>
              </a:rPr>
              <a:t> </a:t>
            </a:r>
            <a:r>
              <a:rPr sz="3600" b="1" spc="145" dirty="0">
                <a:latin typeface="Times New Roman"/>
                <a:cs typeface="Times New Roman"/>
              </a:rPr>
              <a:t>the</a:t>
            </a:r>
            <a:r>
              <a:rPr sz="3600" b="1" spc="-50" dirty="0">
                <a:latin typeface="Times New Roman"/>
                <a:cs typeface="Times New Roman"/>
              </a:rPr>
              <a:t> </a:t>
            </a:r>
            <a:r>
              <a:rPr sz="3600" b="1" spc="75" dirty="0">
                <a:latin typeface="Times New Roman"/>
                <a:cs typeface="Times New Roman"/>
              </a:rPr>
              <a:t>label.</a:t>
            </a:r>
            <a:endParaRPr sz="3600">
              <a:latin typeface="Times New Roman"/>
              <a:cs typeface="Times New Roman"/>
            </a:endParaRPr>
          </a:p>
          <a:p>
            <a:pPr marL="12700" marR="806450">
              <a:lnSpc>
                <a:spcPct val="116300"/>
              </a:lnSpc>
            </a:pPr>
            <a:r>
              <a:rPr sz="3600" b="1" spc="-114" dirty="0">
                <a:latin typeface="Times New Roman"/>
                <a:cs typeface="Times New Roman"/>
              </a:rPr>
              <a:t>Let’s</a:t>
            </a:r>
            <a:r>
              <a:rPr sz="3600" b="1" spc="-55" dirty="0">
                <a:latin typeface="Times New Roman"/>
                <a:cs typeface="Times New Roman"/>
              </a:rPr>
              <a:t> </a:t>
            </a:r>
            <a:r>
              <a:rPr sz="3600" b="1" spc="160" dirty="0">
                <a:latin typeface="Times New Roman"/>
                <a:cs typeface="Times New Roman"/>
              </a:rPr>
              <a:t>deleted</a:t>
            </a:r>
            <a:r>
              <a:rPr sz="3600" b="1" spc="-50" dirty="0">
                <a:latin typeface="Times New Roman"/>
                <a:cs typeface="Times New Roman"/>
              </a:rPr>
              <a:t> </a:t>
            </a:r>
            <a:r>
              <a:rPr sz="3600" b="1" spc="50" dirty="0">
                <a:latin typeface="Times New Roman"/>
                <a:cs typeface="Times New Roman"/>
              </a:rPr>
              <a:t>all</a:t>
            </a:r>
            <a:r>
              <a:rPr sz="3600" b="1" spc="-55" dirty="0">
                <a:latin typeface="Times New Roman"/>
                <a:cs typeface="Times New Roman"/>
              </a:rPr>
              <a:t> </a:t>
            </a:r>
            <a:r>
              <a:rPr sz="3600" b="1" spc="150" dirty="0">
                <a:latin typeface="Times New Roman"/>
                <a:cs typeface="Times New Roman"/>
              </a:rPr>
              <a:t>those</a:t>
            </a:r>
            <a:r>
              <a:rPr sz="3600" b="1" spc="-50" dirty="0">
                <a:latin typeface="Times New Roman"/>
                <a:cs typeface="Times New Roman"/>
              </a:rPr>
              <a:t> </a:t>
            </a:r>
            <a:r>
              <a:rPr sz="3600" b="1" spc="190" dirty="0">
                <a:latin typeface="Times New Roman"/>
                <a:cs typeface="Times New Roman"/>
              </a:rPr>
              <a:t>pods</a:t>
            </a:r>
            <a:r>
              <a:rPr sz="3600" b="1" spc="-50" dirty="0">
                <a:latin typeface="Times New Roman"/>
                <a:cs typeface="Times New Roman"/>
              </a:rPr>
              <a:t> </a:t>
            </a:r>
            <a:r>
              <a:rPr sz="3600" b="1" spc="65" dirty="0">
                <a:latin typeface="Times New Roman"/>
                <a:cs typeface="Times New Roman"/>
              </a:rPr>
              <a:t>that</a:t>
            </a:r>
            <a:r>
              <a:rPr sz="3600" b="1" spc="-55" dirty="0">
                <a:latin typeface="Times New Roman"/>
                <a:cs typeface="Times New Roman"/>
              </a:rPr>
              <a:t> </a:t>
            </a:r>
            <a:r>
              <a:rPr sz="3600" b="1" spc="55" dirty="0">
                <a:latin typeface="Times New Roman"/>
                <a:cs typeface="Times New Roman"/>
              </a:rPr>
              <a:t>don’t</a:t>
            </a:r>
            <a:r>
              <a:rPr sz="3600" b="1" spc="-50" dirty="0">
                <a:latin typeface="Times New Roman"/>
                <a:cs typeface="Times New Roman"/>
              </a:rPr>
              <a:t> </a:t>
            </a:r>
            <a:r>
              <a:rPr sz="3600" b="1" spc="180" dirty="0">
                <a:latin typeface="Times New Roman"/>
                <a:cs typeface="Times New Roman"/>
              </a:rPr>
              <a:t>have</a:t>
            </a:r>
            <a:r>
              <a:rPr sz="3600" b="1" spc="-55" dirty="0">
                <a:latin typeface="Times New Roman"/>
                <a:cs typeface="Times New Roman"/>
              </a:rPr>
              <a:t> </a:t>
            </a:r>
            <a:r>
              <a:rPr sz="3600" b="1" spc="145" dirty="0">
                <a:latin typeface="Times New Roman"/>
                <a:cs typeface="Times New Roman"/>
              </a:rPr>
              <a:t>the</a:t>
            </a:r>
            <a:r>
              <a:rPr sz="3600" b="1" spc="-50" dirty="0">
                <a:latin typeface="Times New Roman"/>
                <a:cs typeface="Times New Roman"/>
              </a:rPr>
              <a:t> </a:t>
            </a:r>
            <a:r>
              <a:rPr sz="3600" b="1" spc="95" dirty="0">
                <a:latin typeface="Times New Roman"/>
                <a:cs typeface="Times New Roman"/>
              </a:rPr>
              <a:t>Chinda</a:t>
            </a:r>
            <a:r>
              <a:rPr sz="3600" b="1" spc="-50" dirty="0">
                <a:latin typeface="Times New Roman"/>
                <a:cs typeface="Times New Roman"/>
              </a:rPr>
              <a:t> </a:t>
            </a:r>
            <a:r>
              <a:rPr sz="3600" b="1" spc="155" dirty="0">
                <a:latin typeface="Times New Roman"/>
                <a:cs typeface="Times New Roman"/>
              </a:rPr>
              <a:t>value</a:t>
            </a:r>
            <a:r>
              <a:rPr sz="3600" b="1" spc="-55" dirty="0">
                <a:latin typeface="Times New Roman"/>
                <a:cs typeface="Times New Roman"/>
              </a:rPr>
              <a:t> </a:t>
            </a:r>
            <a:r>
              <a:rPr sz="3600" b="1" spc="55" dirty="0">
                <a:latin typeface="Times New Roman"/>
                <a:cs typeface="Times New Roman"/>
              </a:rPr>
              <a:t>for</a:t>
            </a:r>
            <a:r>
              <a:rPr sz="3600" b="1" spc="-50" dirty="0">
                <a:latin typeface="Times New Roman"/>
                <a:cs typeface="Times New Roman"/>
              </a:rPr>
              <a:t> </a:t>
            </a:r>
            <a:r>
              <a:rPr sz="3600" b="1" spc="120" dirty="0">
                <a:latin typeface="Times New Roman"/>
                <a:cs typeface="Times New Roman"/>
              </a:rPr>
              <a:t>the </a:t>
            </a:r>
            <a:r>
              <a:rPr sz="3600" b="1" spc="125" dirty="0">
                <a:latin typeface="Times New Roman"/>
                <a:cs typeface="Times New Roman"/>
              </a:rPr>
              <a:t>location</a:t>
            </a:r>
            <a:r>
              <a:rPr sz="3600" b="1" spc="-45" dirty="0">
                <a:latin typeface="Times New Roman"/>
                <a:cs typeface="Times New Roman"/>
              </a:rPr>
              <a:t> </a:t>
            </a:r>
            <a:r>
              <a:rPr sz="3600" b="1" spc="125" dirty="0">
                <a:latin typeface="Times New Roman"/>
                <a:cs typeface="Times New Roman"/>
              </a:rPr>
              <a:t>key</a:t>
            </a:r>
            <a:r>
              <a:rPr sz="3600" b="1" spc="-45" dirty="0">
                <a:latin typeface="Times New Roman"/>
                <a:cs typeface="Times New Roman"/>
              </a:rPr>
              <a:t> </a:t>
            </a:r>
            <a:r>
              <a:rPr sz="3600" b="1" spc="190" dirty="0">
                <a:latin typeface="Times New Roman"/>
                <a:cs typeface="Times New Roman"/>
              </a:rPr>
              <a:t>in</a:t>
            </a:r>
            <a:r>
              <a:rPr sz="3600" b="1" spc="-45" dirty="0">
                <a:latin typeface="Times New Roman"/>
                <a:cs typeface="Times New Roman"/>
              </a:rPr>
              <a:t> </a:t>
            </a:r>
            <a:r>
              <a:rPr sz="3600" b="1" spc="145" dirty="0">
                <a:latin typeface="Times New Roman"/>
                <a:cs typeface="Times New Roman"/>
              </a:rPr>
              <a:t>the</a:t>
            </a:r>
            <a:r>
              <a:rPr sz="3600" b="1" spc="-40" dirty="0">
                <a:latin typeface="Times New Roman"/>
                <a:cs typeface="Times New Roman"/>
              </a:rPr>
              <a:t> </a:t>
            </a:r>
            <a:r>
              <a:rPr sz="3600" b="1" spc="-10" dirty="0">
                <a:latin typeface="Times New Roman"/>
                <a:cs typeface="Times New Roman"/>
              </a:rPr>
              <a:t>Label.</a:t>
            </a:r>
            <a:endParaRPr sz="3600">
              <a:latin typeface="Times New Roman"/>
              <a:cs typeface="Times New Roman"/>
            </a:endParaRPr>
          </a:p>
          <a:p>
            <a:pPr>
              <a:lnSpc>
                <a:spcPct val="100000"/>
              </a:lnSpc>
              <a:spcBef>
                <a:spcPts val="1590"/>
              </a:spcBef>
            </a:pPr>
            <a:endParaRPr sz="3600">
              <a:latin typeface="Times New Roman"/>
              <a:cs typeface="Times New Roman"/>
            </a:endParaRPr>
          </a:p>
          <a:p>
            <a:pPr marL="12700">
              <a:lnSpc>
                <a:spcPct val="100000"/>
              </a:lnSpc>
            </a:pPr>
            <a:r>
              <a:rPr sz="3600" b="1" spc="110" dirty="0">
                <a:solidFill>
                  <a:srgbClr val="FF3131"/>
                </a:solidFill>
                <a:latin typeface="Times New Roman"/>
                <a:cs typeface="Times New Roman"/>
              </a:rPr>
              <a:t>kubectl</a:t>
            </a:r>
            <a:r>
              <a:rPr sz="3600" b="1" spc="-50" dirty="0">
                <a:solidFill>
                  <a:srgbClr val="FF3131"/>
                </a:solidFill>
                <a:latin typeface="Times New Roman"/>
                <a:cs typeface="Times New Roman"/>
              </a:rPr>
              <a:t> </a:t>
            </a:r>
            <a:r>
              <a:rPr sz="3600" b="1" spc="150" dirty="0">
                <a:solidFill>
                  <a:srgbClr val="FF3131"/>
                </a:solidFill>
                <a:latin typeface="Times New Roman"/>
                <a:cs typeface="Times New Roman"/>
              </a:rPr>
              <a:t>delete</a:t>
            </a:r>
            <a:r>
              <a:rPr sz="3600" b="1" spc="-50" dirty="0">
                <a:solidFill>
                  <a:srgbClr val="FF3131"/>
                </a:solidFill>
                <a:latin typeface="Times New Roman"/>
                <a:cs typeface="Times New Roman"/>
              </a:rPr>
              <a:t> </a:t>
            </a:r>
            <a:r>
              <a:rPr sz="3600" b="1" spc="220" dirty="0">
                <a:solidFill>
                  <a:srgbClr val="FF3131"/>
                </a:solidFill>
                <a:latin typeface="Times New Roman"/>
                <a:cs typeface="Times New Roman"/>
              </a:rPr>
              <a:t>pod</a:t>
            </a:r>
            <a:r>
              <a:rPr sz="3600" b="1" spc="-45" dirty="0">
                <a:solidFill>
                  <a:srgbClr val="FF3131"/>
                </a:solidFill>
                <a:latin typeface="Times New Roman"/>
                <a:cs typeface="Times New Roman"/>
              </a:rPr>
              <a:t> </a:t>
            </a:r>
            <a:r>
              <a:rPr sz="3600" b="1" spc="465" dirty="0">
                <a:solidFill>
                  <a:srgbClr val="FF3131"/>
                </a:solidFill>
                <a:latin typeface="Times New Roman"/>
                <a:cs typeface="Times New Roman"/>
              </a:rPr>
              <a:t>-</a:t>
            </a:r>
            <a:r>
              <a:rPr sz="3600" b="1" spc="70" dirty="0">
                <a:solidFill>
                  <a:srgbClr val="FF3131"/>
                </a:solidFill>
                <a:latin typeface="Times New Roman"/>
                <a:cs typeface="Times New Roman"/>
              </a:rPr>
              <a:t>l</a:t>
            </a:r>
            <a:r>
              <a:rPr sz="3600" b="1" spc="-50" dirty="0">
                <a:solidFill>
                  <a:srgbClr val="FF3131"/>
                </a:solidFill>
                <a:latin typeface="Times New Roman"/>
                <a:cs typeface="Times New Roman"/>
              </a:rPr>
              <a:t> </a:t>
            </a:r>
            <a:r>
              <a:rPr sz="3600" b="1" spc="-10" dirty="0">
                <a:solidFill>
                  <a:srgbClr val="FF3131"/>
                </a:solidFill>
                <a:latin typeface="Times New Roman"/>
                <a:cs typeface="Times New Roman"/>
              </a:rPr>
              <a:t>Location!=China</a:t>
            </a:r>
            <a:endParaRPr sz="3600">
              <a:latin typeface="Times New Roman"/>
              <a:cs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716278" y="1756654"/>
            <a:ext cx="11858625" cy="6772275"/>
            <a:chOff x="2716278" y="1756654"/>
            <a:chExt cx="11858625" cy="6772275"/>
          </a:xfrm>
        </p:grpSpPr>
        <p:pic>
          <p:nvPicPr>
            <p:cNvPr id="3" name="object 3"/>
            <p:cNvPicPr/>
            <p:nvPr/>
          </p:nvPicPr>
          <p:blipFill>
            <a:blip r:embed="rId2" cstate="print"/>
            <a:stretch>
              <a:fillRect/>
            </a:stretch>
          </p:blipFill>
          <p:spPr>
            <a:xfrm>
              <a:off x="2716278" y="1756654"/>
              <a:ext cx="11858624" cy="6772274"/>
            </a:xfrm>
            <a:prstGeom prst="rect">
              <a:avLst/>
            </a:prstGeom>
          </p:spPr>
        </p:pic>
        <p:pic>
          <p:nvPicPr>
            <p:cNvPr id="4" name="object 4"/>
            <p:cNvPicPr/>
            <p:nvPr/>
          </p:nvPicPr>
          <p:blipFill>
            <a:blip r:embed="rId3" cstate="print"/>
            <a:stretch>
              <a:fillRect/>
            </a:stretch>
          </p:blipFill>
          <p:spPr>
            <a:xfrm>
              <a:off x="6191117" y="3384450"/>
              <a:ext cx="4505324" cy="4505324"/>
            </a:xfrm>
            <a:prstGeom prst="rect">
              <a:avLst/>
            </a:prstGeom>
          </p:spPr>
        </p:pic>
      </p:grpSp>
      <p:sp>
        <p:nvSpPr>
          <p:cNvPr id="5" name="object 5"/>
          <p:cNvSpPr txBox="1">
            <a:spLocks noGrp="1"/>
          </p:cNvSpPr>
          <p:nvPr>
            <p:ph type="title"/>
          </p:nvPr>
        </p:nvSpPr>
        <p:spPr>
          <a:prstGeom prst="rect">
            <a:avLst/>
          </a:prstGeom>
        </p:spPr>
        <p:txBody>
          <a:bodyPr vert="horz" wrap="square" lIns="0" tIns="375906" rIns="0" bIns="0" rtlCol="0">
            <a:spAutoFit/>
          </a:bodyPr>
          <a:lstStyle/>
          <a:p>
            <a:pPr marL="3781425">
              <a:lnSpc>
                <a:spcPct val="100000"/>
              </a:lnSpc>
              <a:spcBef>
                <a:spcPts val="100"/>
              </a:spcBef>
            </a:pPr>
            <a:r>
              <a:rPr spc="85" dirty="0">
                <a:solidFill>
                  <a:srgbClr val="FF3131"/>
                </a:solidFill>
              </a:rPr>
              <a:t>WE</a:t>
            </a:r>
            <a:r>
              <a:rPr spc="-40" dirty="0">
                <a:solidFill>
                  <a:srgbClr val="FF3131"/>
                </a:solidFill>
              </a:rPr>
              <a:t> </a:t>
            </a:r>
            <a:r>
              <a:rPr spc="-270" dirty="0">
                <a:solidFill>
                  <a:srgbClr val="FF3131"/>
                </a:solidFill>
              </a:rPr>
              <a:t>DEPLOYED</a:t>
            </a:r>
            <a:r>
              <a:rPr spc="-40" dirty="0">
                <a:solidFill>
                  <a:srgbClr val="FF3131"/>
                </a:solidFill>
              </a:rPr>
              <a:t> </a:t>
            </a:r>
            <a:r>
              <a:rPr spc="-320" dirty="0">
                <a:solidFill>
                  <a:srgbClr val="FF3131"/>
                </a:solidFill>
              </a:rPr>
              <a:t>THE</a:t>
            </a:r>
            <a:r>
              <a:rPr spc="-40" dirty="0">
                <a:solidFill>
                  <a:srgbClr val="FF3131"/>
                </a:solidFill>
              </a:rPr>
              <a:t> </a:t>
            </a:r>
            <a:r>
              <a:rPr spc="-25" dirty="0">
                <a:solidFill>
                  <a:srgbClr val="FF3131"/>
                </a:solidFill>
              </a:rPr>
              <a:t>POD</a:t>
            </a:r>
          </a:p>
        </p:txBody>
      </p:sp>
      <p:sp>
        <p:nvSpPr>
          <p:cNvPr id="6" name="object 6"/>
          <p:cNvSpPr txBox="1"/>
          <p:nvPr/>
        </p:nvSpPr>
        <p:spPr>
          <a:xfrm>
            <a:off x="4151304" y="9166292"/>
            <a:ext cx="9787255" cy="787400"/>
          </a:xfrm>
          <a:prstGeom prst="rect">
            <a:avLst/>
          </a:prstGeom>
        </p:spPr>
        <p:txBody>
          <a:bodyPr vert="horz" wrap="square" lIns="0" tIns="12700" rIns="0" bIns="0" rtlCol="0">
            <a:spAutoFit/>
          </a:bodyPr>
          <a:lstStyle/>
          <a:p>
            <a:pPr marL="12700">
              <a:lnSpc>
                <a:spcPct val="100000"/>
              </a:lnSpc>
              <a:spcBef>
                <a:spcPts val="100"/>
              </a:spcBef>
            </a:pPr>
            <a:r>
              <a:rPr sz="5000" b="1" spc="-405" dirty="0">
                <a:solidFill>
                  <a:srgbClr val="FF3131"/>
                </a:solidFill>
                <a:latin typeface="Times New Roman"/>
                <a:cs typeface="Times New Roman"/>
              </a:rPr>
              <a:t>LETS</a:t>
            </a:r>
            <a:r>
              <a:rPr sz="5000" b="1" spc="-55" dirty="0">
                <a:solidFill>
                  <a:srgbClr val="FF3131"/>
                </a:solidFill>
                <a:latin typeface="Times New Roman"/>
                <a:cs typeface="Times New Roman"/>
              </a:rPr>
              <a:t> </a:t>
            </a:r>
            <a:r>
              <a:rPr sz="5000" b="1" spc="-235" dirty="0">
                <a:solidFill>
                  <a:srgbClr val="FF3131"/>
                </a:solidFill>
                <a:latin typeface="Times New Roman"/>
                <a:cs typeface="Times New Roman"/>
              </a:rPr>
              <a:t>ACCESS</a:t>
            </a:r>
            <a:r>
              <a:rPr sz="5000" b="1" spc="-80" dirty="0">
                <a:solidFill>
                  <a:srgbClr val="FF3131"/>
                </a:solidFill>
                <a:latin typeface="Times New Roman"/>
                <a:cs typeface="Times New Roman"/>
              </a:rPr>
              <a:t> </a:t>
            </a:r>
            <a:r>
              <a:rPr sz="5000" b="1" spc="-140" dirty="0">
                <a:solidFill>
                  <a:srgbClr val="FF3131"/>
                </a:solidFill>
                <a:latin typeface="Times New Roman"/>
                <a:cs typeface="Times New Roman"/>
              </a:rPr>
              <a:t>OUR</a:t>
            </a:r>
            <a:r>
              <a:rPr sz="5000" b="1" spc="-165" dirty="0">
                <a:solidFill>
                  <a:srgbClr val="FF3131"/>
                </a:solidFill>
                <a:latin typeface="Times New Roman"/>
                <a:cs typeface="Times New Roman"/>
              </a:rPr>
              <a:t> APPLICATION</a:t>
            </a:r>
            <a:endParaRPr sz="5000">
              <a:latin typeface="Times New Roman"/>
              <a:cs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51916" y="531332"/>
            <a:ext cx="5549209" cy="5579533"/>
          </a:xfrm>
          <a:prstGeom prst="rect">
            <a:avLst/>
          </a:prstGeom>
        </p:spPr>
      </p:pic>
      <p:sp>
        <p:nvSpPr>
          <p:cNvPr id="3" name="object 3"/>
          <p:cNvSpPr txBox="1"/>
          <p:nvPr/>
        </p:nvSpPr>
        <p:spPr>
          <a:xfrm>
            <a:off x="1016000" y="6858503"/>
            <a:ext cx="16927195" cy="2869565"/>
          </a:xfrm>
          <a:prstGeom prst="rect">
            <a:avLst/>
          </a:prstGeom>
        </p:spPr>
        <p:txBody>
          <a:bodyPr vert="horz" wrap="square" lIns="0" tIns="15875" rIns="0" bIns="0" rtlCol="0">
            <a:spAutoFit/>
          </a:bodyPr>
          <a:lstStyle/>
          <a:p>
            <a:pPr marR="779145" algn="ctr">
              <a:lnSpc>
                <a:spcPct val="100000"/>
              </a:lnSpc>
              <a:spcBef>
                <a:spcPts val="125"/>
              </a:spcBef>
            </a:pPr>
            <a:r>
              <a:rPr sz="3250" b="1" dirty="0">
                <a:solidFill>
                  <a:srgbClr val="FF3131"/>
                </a:solidFill>
                <a:latin typeface="Times New Roman"/>
                <a:cs typeface="Times New Roman"/>
              </a:rPr>
              <a:t>I</a:t>
            </a:r>
            <a:r>
              <a:rPr sz="3250" b="1" spc="-180" dirty="0">
                <a:solidFill>
                  <a:srgbClr val="FF3131"/>
                </a:solidFill>
                <a:latin typeface="Times New Roman"/>
                <a:cs typeface="Times New Roman"/>
              </a:rPr>
              <a:t> </a:t>
            </a:r>
            <a:r>
              <a:rPr sz="3250" b="1" spc="-75" dirty="0">
                <a:solidFill>
                  <a:srgbClr val="FF3131"/>
                </a:solidFill>
                <a:latin typeface="Times New Roman"/>
                <a:cs typeface="Times New Roman"/>
              </a:rPr>
              <a:t>CANT</a:t>
            </a:r>
            <a:r>
              <a:rPr sz="3250" b="1" spc="-70" dirty="0">
                <a:solidFill>
                  <a:srgbClr val="FF3131"/>
                </a:solidFill>
                <a:latin typeface="Times New Roman"/>
                <a:cs typeface="Times New Roman"/>
              </a:rPr>
              <a:t> </a:t>
            </a:r>
            <a:r>
              <a:rPr sz="3250" b="1" spc="-245" dirty="0">
                <a:solidFill>
                  <a:srgbClr val="FF3131"/>
                </a:solidFill>
                <a:latin typeface="Times New Roman"/>
                <a:cs typeface="Times New Roman"/>
              </a:rPr>
              <a:t>ABLE</a:t>
            </a:r>
            <a:r>
              <a:rPr sz="3250" b="1" spc="-30" dirty="0">
                <a:solidFill>
                  <a:srgbClr val="FF3131"/>
                </a:solidFill>
                <a:latin typeface="Times New Roman"/>
                <a:cs typeface="Times New Roman"/>
              </a:rPr>
              <a:t> </a:t>
            </a:r>
            <a:r>
              <a:rPr sz="3250" b="1" spc="-204" dirty="0">
                <a:solidFill>
                  <a:srgbClr val="FF3131"/>
                </a:solidFill>
                <a:latin typeface="Times New Roman"/>
                <a:cs typeface="Times New Roman"/>
              </a:rPr>
              <a:t>TO</a:t>
            </a:r>
            <a:r>
              <a:rPr sz="3250" b="1" spc="-30" dirty="0">
                <a:solidFill>
                  <a:srgbClr val="FF3131"/>
                </a:solidFill>
                <a:latin typeface="Times New Roman"/>
                <a:cs typeface="Times New Roman"/>
              </a:rPr>
              <a:t> </a:t>
            </a:r>
            <a:r>
              <a:rPr sz="3250" b="1" spc="-130" dirty="0">
                <a:solidFill>
                  <a:srgbClr val="FF3131"/>
                </a:solidFill>
                <a:latin typeface="Times New Roman"/>
                <a:cs typeface="Times New Roman"/>
              </a:rPr>
              <a:t>ACCESS</a:t>
            </a:r>
            <a:r>
              <a:rPr sz="3250" b="1" spc="-80" dirty="0">
                <a:solidFill>
                  <a:srgbClr val="FF3131"/>
                </a:solidFill>
                <a:latin typeface="Times New Roman"/>
                <a:cs typeface="Times New Roman"/>
              </a:rPr>
              <a:t> </a:t>
            </a:r>
            <a:r>
              <a:rPr sz="3250" b="1" spc="-20" dirty="0">
                <a:solidFill>
                  <a:srgbClr val="FF3131"/>
                </a:solidFill>
                <a:latin typeface="Times New Roman"/>
                <a:cs typeface="Times New Roman"/>
              </a:rPr>
              <a:t>MY</a:t>
            </a:r>
            <a:r>
              <a:rPr sz="3250" b="1" spc="-75" dirty="0">
                <a:solidFill>
                  <a:srgbClr val="FF3131"/>
                </a:solidFill>
                <a:latin typeface="Times New Roman"/>
                <a:cs typeface="Times New Roman"/>
              </a:rPr>
              <a:t> </a:t>
            </a:r>
            <a:r>
              <a:rPr sz="3250" b="1" spc="-20" dirty="0">
                <a:solidFill>
                  <a:srgbClr val="FF3131"/>
                </a:solidFill>
                <a:latin typeface="Times New Roman"/>
                <a:cs typeface="Times New Roman"/>
              </a:rPr>
              <a:t>APPLICATION</a:t>
            </a:r>
            <a:endParaRPr sz="3250">
              <a:latin typeface="Times New Roman"/>
              <a:cs typeface="Times New Roman"/>
            </a:endParaRPr>
          </a:p>
          <a:p>
            <a:pPr marL="12700" marR="5080" algn="just">
              <a:lnSpc>
                <a:spcPct val="116300"/>
              </a:lnSpc>
              <a:spcBef>
                <a:spcPts val="3390"/>
              </a:spcBef>
            </a:pPr>
            <a:r>
              <a:rPr sz="3600" dirty="0">
                <a:solidFill>
                  <a:srgbClr val="2E377E"/>
                </a:solidFill>
                <a:latin typeface="Georgia"/>
                <a:cs typeface="Georgia"/>
              </a:rPr>
              <a:t>The</a:t>
            </a:r>
            <a:r>
              <a:rPr sz="3600" spc="465" dirty="0">
                <a:solidFill>
                  <a:srgbClr val="2E377E"/>
                </a:solidFill>
                <a:latin typeface="Georgia"/>
                <a:cs typeface="Georgia"/>
              </a:rPr>
              <a:t> </a:t>
            </a:r>
            <a:r>
              <a:rPr sz="3600" dirty="0">
                <a:solidFill>
                  <a:srgbClr val="2E377E"/>
                </a:solidFill>
                <a:latin typeface="Georgia"/>
                <a:cs typeface="Georgia"/>
              </a:rPr>
              <a:t>reason</a:t>
            </a:r>
            <a:r>
              <a:rPr sz="3600" spc="470" dirty="0">
                <a:solidFill>
                  <a:srgbClr val="2E377E"/>
                </a:solidFill>
                <a:latin typeface="Georgia"/>
                <a:cs typeface="Georgia"/>
              </a:rPr>
              <a:t> </a:t>
            </a:r>
            <a:r>
              <a:rPr sz="3600" spc="135" dirty="0">
                <a:solidFill>
                  <a:srgbClr val="2E377E"/>
                </a:solidFill>
                <a:latin typeface="Georgia"/>
                <a:cs typeface="Georgia"/>
              </a:rPr>
              <a:t>why</a:t>
            </a:r>
            <a:r>
              <a:rPr sz="3600" spc="470" dirty="0">
                <a:solidFill>
                  <a:srgbClr val="2E377E"/>
                </a:solidFill>
                <a:latin typeface="Georgia"/>
                <a:cs typeface="Georgia"/>
              </a:rPr>
              <a:t> </a:t>
            </a:r>
            <a:r>
              <a:rPr sz="3600" spc="140" dirty="0">
                <a:solidFill>
                  <a:srgbClr val="2E377E"/>
                </a:solidFill>
                <a:latin typeface="Georgia"/>
                <a:cs typeface="Georgia"/>
              </a:rPr>
              <a:t>we</a:t>
            </a:r>
            <a:r>
              <a:rPr sz="3600" spc="470" dirty="0">
                <a:solidFill>
                  <a:srgbClr val="2E377E"/>
                </a:solidFill>
                <a:latin typeface="Georgia"/>
                <a:cs typeface="Georgia"/>
              </a:rPr>
              <a:t> </a:t>
            </a:r>
            <a:r>
              <a:rPr sz="3600" dirty="0">
                <a:solidFill>
                  <a:srgbClr val="2E377E"/>
                </a:solidFill>
                <a:latin typeface="Georgia"/>
                <a:cs typeface="Georgia"/>
              </a:rPr>
              <a:t>are</a:t>
            </a:r>
            <a:r>
              <a:rPr sz="3600" spc="470" dirty="0">
                <a:solidFill>
                  <a:srgbClr val="2E377E"/>
                </a:solidFill>
                <a:latin typeface="Georgia"/>
                <a:cs typeface="Georgia"/>
              </a:rPr>
              <a:t> </a:t>
            </a:r>
            <a:r>
              <a:rPr sz="3600" spc="50" dirty="0">
                <a:solidFill>
                  <a:srgbClr val="2E377E"/>
                </a:solidFill>
                <a:latin typeface="Georgia"/>
                <a:cs typeface="Georgia"/>
              </a:rPr>
              <a:t>not</a:t>
            </a:r>
            <a:r>
              <a:rPr sz="3600" spc="470" dirty="0">
                <a:solidFill>
                  <a:srgbClr val="2E377E"/>
                </a:solidFill>
                <a:latin typeface="Georgia"/>
                <a:cs typeface="Georgia"/>
              </a:rPr>
              <a:t> </a:t>
            </a:r>
            <a:r>
              <a:rPr sz="3600" dirty="0">
                <a:solidFill>
                  <a:srgbClr val="2E377E"/>
                </a:solidFill>
                <a:latin typeface="Georgia"/>
                <a:cs typeface="Georgia"/>
              </a:rPr>
              <a:t>able</a:t>
            </a:r>
            <a:r>
              <a:rPr sz="3600" spc="470" dirty="0">
                <a:solidFill>
                  <a:srgbClr val="2E377E"/>
                </a:solidFill>
                <a:latin typeface="Georgia"/>
                <a:cs typeface="Georgia"/>
              </a:rPr>
              <a:t> </a:t>
            </a:r>
            <a:r>
              <a:rPr sz="3600" spc="70" dirty="0">
                <a:solidFill>
                  <a:srgbClr val="2E377E"/>
                </a:solidFill>
                <a:latin typeface="Georgia"/>
                <a:cs typeface="Georgia"/>
              </a:rPr>
              <a:t>to</a:t>
            </a:r>
            <a:r>
              <a:rPr sz="3600" spc="470" dirty="0">
                <a:solidFill>
                  <a:srgbClr val="2E377E"/>
                </a:solidFill>
                <a:latin typeface="Georgia"/>
                <a:cs typeface="Georgia"/>
              </a:rPr>
              <a:t> </a:t>
            </a:r>
            <a:r>
              <a:rPr sz="3600" dirty="0">
                <a:solidFill>
                  <a:srgbClr val="2E377E"/>
                </a:solidFill>
                <a:latin typeface="Georgia"/>
                <a:cs typeface="Georgia"/>
              </a:rPr>
              <a:t>access</a:t>
            </a:r>
            <a:r>
              <a:rPr sz="3600" spc="470" dirty="0">
                <a:solidFill>
                  <a:srgbClr val="2E377E"/>
                </a:solidFill>
                <a:latin typeface="Georgia"/>
                <a:cs typeface="Georgia"/>
              </a:rPr>
              <a:t> </a:t>
            </a:r>
            <a:r>
              <a:rPr sz="3600" spc="60" dirty="0">
                <a:solidFill>
                  <a:srgbClr val="2E377E"/>
                </a:solidFill>
                <a:latin typeface="Georgia"/>
                <a:cs typeface="Georgia"/>
              </a:rPr>
              <a:t>the</a:t>
            </a:r>
            <a:r>
              <a:rPr sz="3600" spc="465" dirty="0">
                <a:solidFill>
                  <a:srgbClr val="2E377E"/>
                </a:solidFill>
                <a:latin typeface="Georgia"/>
                <a:cs typeface="Georgia"/>
              </a:rPr>
              <a:t> </a:t>
            </a:r>
            <a:r>
              <a:rPr sz="3600" dirty="0">
                <a:solidFill>
                  <a:srgbClr val="2E377E"/>
                </a:solidFill>
                <a:latin typeface="Georgia"/>
                <a:cs typeface="Georgia"/>
              </a:rPr>
              <a:t>application:</a:t>
            </a:r>
            <a:r>
              <a:rPr sz="3600" spc="470" dirty="0">
                <a:solidFill>
                  <a:srgbClr val="2E377E"/>
                </a:solidFill>
                <a:latin typeface="Georgia"/>
                <a:cs typeface="Georgia"/>
              </a:rPr>
              <a:t> </a:t>
            </a:r>
            <a:r>
              <a:rPr sz="3600" dirty="0">
                <a:solidFill>
                  <a:srgbClr val="2E377E"/>
                </a:solidFill>
                <a:latin typeface="Georgia"/>
                <a:cs typeface="Georgia"/>
              </a:rPr>
              <a:t>In</a:t>
            </a:r>
            <a:r>
              <a:rPr sz="3600" spc="470" dirty="0">
                <a:solidFill>
                  <a:srgbClr val="2E377E"/>
                </a:solidFill>
                <a:latin typeface="Georgia"/>
                <a:cs typeface="Georgia"/>
              </a:rPr>
              <a:t> </a:t>
            </a:r>
            <a:r>
              <a:rPr sz="3600" dirty="0">
                <a:solidFill>
                  <a:srgbClr val="2E377E"/>
                </a:solidFill>
                <a:latin typeface="Georgia"/>
                <a:cs typeface="Georgia"/>
              </a:rPr>
              <a:t>Kubernetes,</a:t>
            </a:r>
            <a:r>
              <a:rPr sz="3600" spc="470" dirty="0">
                <a:solidFill>
                  <a:srgbClr val="2E377E"/>
                </a:solidFill>
                <a:latin typeface="Georgia"/>
                <a:cs typeface="Georgia"/>
              </a:rPr>
              <a:t> </a:t>
            </a:r>
            <a:r>
              <a:rPr sz="3600" dirty="0">
                <a:solidFill>
                  <a:srgbClr val="2E377E"/>
                </a:solidFill>
                <a:latin typeface="Georgia"/>
                <a:cs typeface="Georgia"/>
              </a:rPr>
              <a:t>if</a:t>
            </a:r>
            <a:r>
              <a:rPr sz="3600" spc="470" dirty="0">
                <a:solidFill>
                  <a:srgbClr val="2E377E"/>
                </a:solidFill>
                <a:latin typeface="Georgia"/>
                <a:cs typeface="Georgia"/>
              </a:rPr>
              <a:t> </a:t>
            </a:r>
            <a:r>
              <a:rPr sz="3600" spc="65" dirty="0">
                <a:solidFill>
                  <a:srgbClr val="2E377E"/>
                </a:solidFill>
                <a:latin typeface="Georgia"/>
                <a:cs typeface="Georgia"/>
              </a:rPr>
              <a:t>you </a:t>
            </a:r>
            <a:r>
              <a:rPr sz="3600" spc="80" dirty="0">
                <a:solidFill>
                  <a:srgbClr val="2E377E"/>
                </a:solidFill>
                <a:latin typeface="Georgia"/>
                <a:cs typeface="Georgia"/>
              </a:rPr>
              <a:t>want</a:t>
            </a:r>
            <a:r>
              <a:rPr sz="3600" spc="320" dirty="0">
                <a:solidFill>
                  <a:srgbClr val="2E377E"/>
                </a:solidFill>
                <a:latin typeface="Georgia"/>
                <a:cs typeface="Georgia"/>
              </a:rPr>
              <a:t> </a:t>
            </a:r>
            <a:r>
              <a:rPr sz="3600" spc="70" dirty="0">
                <a:solidFill>
                  <a:srgbClr val="2E377E"/>
                </a:solidFill>
                <a:latin typeface="Georgia"/>
                <a:cs typeface="Georgia"/>
              </a:rPr>
              <a:t>to</a:t>
            </a:r>
            <a:r>
              <a:rPr sz="3600" spc="320" dirty="0">
                <a:solidFill>
                  <a:srgbClr val="2E377E"/>
                </a:solidFill>
                <a:latin typeface="Georgia"/>
                <a:cs typeface="Georgia"/>
              </a:rPr>
              <a:t> </a:t>
            </a:r>
            <a:r>
              <a:rPr sz="3600" dirty="0">
                <a:solidFill>
                  <a:srgbClr val="2E377E"/>
                </a:solidFill>
                <a:latin typeface="Georgia"/>
                <a:cs typeface="Georgia"/>
              </a:rPr>
              <a:t>access</a:t>
            </a:r>
            <a:r>
              <a:rPr sz="3600" spc="320" dirty="0">
                <a:solidFill>
                  <a:srgbClr val="2E377E"/>
                </a:solidFill>
                <a:latin typeface="Georgia"/>
                <a:cs typeface="Georgia"/>
              </a:rPr>
              <a:t> </a:t>
            </a:r>
            <a:r>
              <a:rPr sz="3600" spc="60" dirty="0">
                <a:solidFill>
                  <a:srgbClr val="2E377E"/>
                </a:solidFill>
                <a:latin typeface="Georgia"/>
                <a:cs typeface="Georgia"/>
              </a:rPr>
              <a:t>the</a:t>
            </a:r>
            <a:r>
              <a:rPr sz="3600" spc="320" dirty="0">
                <a:solidFill>
                  <a:srgbClr val="2E377E"/>
                </a:solidFill>
                <a:latin typeface="Georgia"/>
                <a:cs typeface="Georgia"/>
              </a:rPr>
              <a:t> </a:t>
            </a:r>
            <a:r>
              <a:rPr sz="3600" dirty="0">
                <a:solidFill>
                  <a:srgbClr val="2E377E"/>
                </a:solidFill>
                <a:latin typeface="Georgia"/>
                <a:cs typeface="Georgia"/>
              </a:rPr>
              <a:t>application</a:t>
            </a:r>
            <a:r>
              <a:rPr sz="3600" spc="320" dirty="0">
                <a:solidFill>
                  <a:srgbClr val="2E377E"/>
                </a:solidFill>
                <a:latin typeface="Georgia"/>
                <a:cs typeface="Georgia"/>
              </a:rPr>
              <a:t> </a:t>
            </a:r>
            <a:r>
              <a:rPr sz="3600" spc="140" dirty="0">
                <a:solidFill>
                  <a:srgbClr val="2E377E"/>
                </a:solidFill>
                <a:latin typeface="Georgia"/>
                <a:cs typeface="Georgia"/>
              </a:rPr>
              <a:t>we</a:t>
            </a:r>
            <a:r>
              <a:rPr sz="3600" spc="320" dirty="0">
                <a:solidFill>
                  <a:srgbClr val="2E377E"/>
                </a:solidFill>
                <a:latin typeface="Georgia"/>
                <a:cs typeface="Georgia"/>
              </a:rPr>
              <a:t> </a:t>
            </a:r>
            <a:r>
              <a:rPr sz="3600" spc="55" dirty="0">
                <a:solidFill>
                  <a:srgbClr val="2E377E"/>
                </a:solidFill>
                <a:latin typeface="Georgia"/>
                <a:cs typeface="Georgia"/>
              </a:rPr>
              <a:t>have</a:t>
            </a:r>
            <a:r>
              <a:rPr sz="3600" spc="320" dirty="0">
                <a:solidFill>
                  <a:srgbClr val="2E377E"/>
                </a:solidFill>
                <a:latin typeface="Georgia"/>
                <a:cs typeface="Georgia"/>
              </a:rPr>
              <a:t> </a:t>
            </a:r>
            <a:r>
              <a:rPr sz="3600" spc="70" dirty="0">
                <a:solidFill>
                  <a:srgbClr val="2E377E"/>
                </a:solidFill>
                <a:latin typeface="Georgia"/>
                <a:cs typeface="Georgia"/>
              </a:rPr>
              <a:t>to</a:t>
            </a:r>
            <a:r>
              <a:rPr sz="3600" spc="320" dirty="0">
                <a:solidFill>
                  <a:srgbClr val="2E377E"/>
                </a:solidFill>
                <a:latin typeface="Georgia"/>
                <a:cs typeface="Georgia"/>
              </a:rPr>
              <a:t> </a:t>
            </a:r>
            <a:r>
              <a:rPr sz="3600" spc="55" dirty="0">
                <a:solidFill>
                  <a:srgbClr val="2E377E"/>
                </a:solidFill>
                <a:latin typeface="Georgia"/>
                <a:cs typeface="Georgia"/>
              </a:rPr>
              <a:t>expose</a:t>
            </a:r>
            <a:r>
              <a:rPr sz="3600" spc="320" dirty="0">
                <a:solidFill>
                  <a:srgbClr val="2E377E"/>
                </a:solidFill>
                <a:latin typeface="Georgia"/>
                <a:cs typeface="Georgia"/>
              </a:rPr>
              <a:t> </a:t>
            </a:r>
            <a:r>
              <a:rPr sz="3600" dirty="0">
                <a:solidFill>
                  <a:srgbClr val="2E377E"/>
                </a:solidFill>
                <a:latin typeface="Georgia"/>
                <a:cs typeface="Georgia"/>
              </a:rPr>
              <a:t>our</a:t>
            </a:r>
            <a:r>
              <a:rPr sz="3600" spc="320" dirty="0">
                <a:solidFill>
                  <a:srgbClr val="2E377E"/>
                </a:solidFill>
                <a:latin typeface="Georgia"/>
                <a:cs typeface="Georgia"/>
              </a:rPr>
              <a:t> </a:t>
            </a:r>
            <a:r>
              <a:rPr sz="3600" dirty="0">
                <a:solidFill>
                  <a:srgbClr val="2E377E"/>
                </a:solidFill>
                <a:latin typeface="Georgia"/>
                <a:cs typeface="Georgia"/>
              </a:rPr>
              <a:t>pod.</a:t>
            </a:r>
            <a:r>
              <a:rPr sz="3600" spc="320" dirty="0">
                <a:solidFill>
                  <a:srgbClr val="2E377E"/>
                </a:solidFill>
                <a:latin typeface="Georgia"/>
                <a:cs typeface="Georgia"/>
              </a:rPr>
              <a:t> </a:t>
            </a:r>
            <a:r>
              <a:rPr sz="3600" dirty="0">
                <a:solidFill>
                  <a:srgbClr val="2E377E"/>
                </a:solidFill>
                <a:latin typeface="Georgia"/>
                <a:cs typeface="Georgia"/>
              </a:rPr>
              <a:t>To</a:t>
            </a:r>
            <a:r>
              <a:rPr sz="3600" spc="320" dirty="0">
                <a:solidFill>
                  <a:srgbClr val="2E377E"/>
                </a:solidFill>
                <a:latin typeface="Georgia"/>
                <a:cs typeface="Georgia"/>
              </a:rPr>
              <a:t> </a:t>
            </a:r>
            <a:r>
              <a:rPr sz="3600" dirty="0">
                <a:solidFill>
                  <a:srgbClr val="2E377E"/>
                </a:solidFill>
                <a:latin typeface="Georgia"/>
                <a:cs typeface="Georgia"/>
              </a:rPr>
              <a:t>Expose</a:t>
            </a:r>
            <a:r>
              <a:rPr sz="3600" spc="320" dirty="0">
                <a:solidFill>
                  <a:srgbClr val="2E377E"/>
                </a:solidFill>
                <a:latin typeface="Georgia"/>
                <a:cs typeface="Georgia"/>
              </a:rPr>
              <a:t> </a:t>
            </a:r>
            <a:r>
              <a:rPr sz="3600" spc="55" dirty="0">
                <a:solidFill>
                  <a:srgbClr val="2E377E"/>
                </a:solidFill>
                <a:latin typeface="Georgia"/>
                <a:cs typeface="Georgia"/>
              </a:rPr>
              <a:t>these</a:t>
            </a:r>
            <a:r>
              <a:rPr sz="3600" spc="320" dirty="0">
                <a:solidFill>
                  <a:srgbClr val="2E377E"/>
                </a:solidFill>
                <a:latin typeface="Georgia"/>
                <a:cs typeface="Georgia"/>
              </a:rPr>
              <a:t> </a:t>
            </a:r>
            <a:r>
              <a:rPr sz="3600" spc="-20" dirty="0">
                <a:solidFill>
                  <a:srgbClr val="2E377E"/>
                </a:solidFill>
                <a:latin typeface="Georgia"/>
                <a:cs typeface="Georgia"/>
              </a:rPr>
              <a:t>pods </a:t>
            </a:r>
            <a:r>
              <a:rPr sz="3600" spc="140" dirty="0">
                <a:solidFill>
                  <a:srgbClr val="2E377E"/>
                </a:solidFill>
                <a:latin typeface="Georgia"/>
                <a:cs typeface="Georgia"/>
              </a:rPr>
              <a:t>we</a:t>
            </a:r>
            <a:r>
              <a:rPr sz="3600" spc="-55" dirty="0">
                <a:solidFill>
                  <a:srgbClr val="2E377E"/>
                </a:solidFill>
                <a:latin typeface="Georgia"/>
                <a:cs typeface="Georgia"/>
              </a:rPr>
              <a:t> </a:t>
            </a:r>
            <a:r>
              <a:rPr sz="3600" spc="50" dirty="0">
                <a:solidFill>
                  <a:srgbClr val="2E377E"/>
                </a:solidFill>
                <a:latin typeface="Georgia"/>
                <a:cs typeface="Georgia"/>
              </a:rPr>
              <a:t>use</a:t>
            </a:r>
            <a:r>
              <a:rPr sz="3600" spc="-50" dirty="0">
                <a:solidFill>
                  <a:srgbClr val="2E377E"/>
                </a:solidFill>
                <a:latin typeface="Georgia"/>
                <a:cs typeface="Georgia"/>
              </a:rPr>
              <a:t> </a:t>
            </a:r>
            <a:r>
              <a:rPr sz="3600" spc="45" dirty="0">
                <a:solidFill>
                  <a:srgbClr val="2E377E"/>
                </a:solidFill>
                <a:latin typeface="Georgia"/>
                <a:cs typeface="Georgia"/>
              </a:rPr>
              <a:t>Kubernetes</a:t>
            </a:r>
            <a:r>
              <a:rPr sz="3600" spc="-50" dirty="0">
                <a:solidFill>
                  <a:srgbClr val="2E377E"/>
                </a:solidFill>
                <a:latin typeface="Georgia"/>
                <a:cs typeface="Georgia"/>
              </a:rPr>
              <a:t> </a:t>
            </a:r>
            <a:r>
              <a:rPr sz="3600" spc="-10" dirty="0">
                <a:solidFill>
                  <a:srgbClr val="2E377E"/>
                </a:solidFill>
                <a:latin typeface="Georgia"/>
                <a:cs typeface="Georgia"/>
              </a:rPr>
              <a:t>services.</a:t>
            </a:r>
            <a:endParaRPr sz="3600">
              <a:latin typeface="Georgia"/>
              <a:cs typeface="Georg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32061" y="2132770"/>
            <a:ext cx="133350" cy="133350"/>
          </a:xfrm>
          <a:prstGeom prst="rect">
            <a:avLst/>
          </a:prstGeom>
        </p:spPr>
      </p:pic>
      <p:pic>
        <p:nvPicPr>
          <p:cNvPr id="3" name="object 3"/>
          <p:cNvPicPr/>
          <p:nvPr/>
        </p:nvPicPr>
        <p:blipFill>
          <a:blip r:embed="rId3" cstate="print"/>
          <a:stretch>
            <a:fillRect/>
          </a:stretch>
        </p:blipFill>
        <p:spPr>
          <a:xfrm>
            <a:off x="1332061" y="2770945"/>
            <a:ext cx="133350" cy="133350"/>
          </a:xfrm>
          <a:prstGeom prst="rect">
            <a:avLst/>
          </a:prstGeom>
        </p:spPr>
      </p:pic>
      <p:pic>
        <p:nvPicPr>
          <p:cNvPr id="4" name="object 4"/>
          <p:cNvPicPr/>
          <p:nvPr/>
        </p:nvPicPr>
        <p:blipFill>
          <a:blip r:embed="rId3" cstate="print"/>
          <a:stretch>
            <a:fillRect/>
          </a:stretch>
        </p:blipFill>
        <p:spPr>
          <a:xfrm>
            <a:off x="1332061" y="3409120"/>
            <a:ext cx="133350" cy="133350"/>
          </a:xfrm>
          <a:prstGeom prst="rect">
            <a:avLst/>
          </a:prstGeom>
        </p:spPr>
      </p:pic>
      <p:pic>
        <p:nvPicPr>
          <p:cNvPr id="5" name="object 5"/>
          <p:cNvPicPr/>
          <p:nvPr/>
        </p:nvPicPr>
        <p:blipFill>
          <a:blip r:embed="rId4" cstate="print"/>
          <a:stretch>
            <a:fillRect/>
          </a:stretch>
        </p:blipFill>
        <p:spPr>
          <a:xfrm>
            <a:off x="1332061" y="4047295"/>
            <a:ext cx="133350" cy="133350"/>
          </a:xfrm>
          <a:prstGeom prst="rect">
            <a:avLst/>
          </a:prstGeom>
        </p:spPr>
      </p:pic>
      <p:pic>
        <p:nvPicPr>
          <p:cNvPr id="6" name="object 6"/>
          <p:cNvPicPr/>
          <p:nvPr/>
        </p:nvPicPr>
        <p:blipFill>
          <a:blip r:embed="rId3" cstate="print"/>
          <a:stretch>
            <a:fillRect/>
          </a:stretch>
        </p:blipFill>
        <p:spPr>
          <a:xfrm>
            <a:off x="1332061" y="5323647"/>
            <a:ext cx="133350" cy="133350"/>
          </a:xfrm>
          <a:prstGeom prst="rect">
            <a:avLst/>
          </a:prstGeom>
        </p:spPr>
      </p:pic>
      <p:pic>
        <p:nvPicPr>
          <p:cNvPr id="7" name="object 7"/>
          <p:cNvPicPr/>
          <p:nvPr/>
        </p:nvPicPr>
        <p:blipFill>
          <a:blip r:embed="rId5" cstate="print"/>
          <a:stretch>
            <a:fillRect/>
          </a:stretch>
        </p:blipFill>
        <p:spPr>
          <a:xfrm>
            <a:off x="1523999" y="7695362"/>
            <a:ext cx="142875" cy="143002"/>
          </a:xfrm>
          <a:prstGeom prst="rect">
            <a:avLst/>
          </a:prstGeom>
        </p:spPr>
      </p:pic>
      <p:pic>
        <p:nvPicPr>
          <p:cNvPr id="8" name="object 8"/>
          <p:cNvPicPr/>
          <p:nvPr/>
        </p:nvPicPr>
        <p:blipFill>
          <a:blip r:embed="rId6" cstate="print"/>
          <a:stretch>
            <a:fillRect/>
          </a:stretch>
        </p:blipFill>
        <p:spPr>
          <a:xfrm>
            <a:off x="1523999" y="8285912"/>
            <a:ext cx="142875" cy="142875"/>
          </a:xfrm>
          <a:prstGeom prst="rect">
            <a:avLst/>
          </a:prstGeom>
        </p:spPr>
      </p:pic>
      <p:pic>
        <p:nvPicPr>
          <p:cNvPr id="9" name="object 9"/>
          <p:cNvPicPr/>
          <p:nvPr/>
        </p:nvPicPr>
        <p:blipFill>
          <a:blip r:embed="rId6" cstate="print"/>
          <a:stretch>
            <a:fillRect/>
          </a:stretch>
        </p:blipFill>
        <p:spPr>
          <a:xfrm>
            <a:off x="1523999" y="8876462"/>
            <a:ext cx="142875" cy="142875"/>
          </a:xfrm>
          <a:prstGeom prst="rect">
            <a:avLst/>
          </a:prstGeom>
        </p:spPr>
      </p:pic>
      <p:sp>
        <p:nvSpPr>
          <p:cNvPr id="10" name="object 10"/>
          <p:cNvSpPr txBox="1"/>
          <p:nvPr/>
        </p:nvSpPr>
        <p:spPr>
          <a:xfrm>
            <a:off x="1016000" y="1809690"/>
            <a:ext cx="16405225" cy="7362825"/>
          </a:xfrm>
          <a:prstGeom prst="rect">
            <a:avLst/>
          </a:prstGeom>
        </p:spPr>
        <p:txBody>
          <a:bodyPr vert="horz" wrap="square" lIns="0" tIns="102235" rIns="0" bIns="0" rtlCol="0">
            <a:spAutoFit/>
          </a:bodyPr>
          <a:lstStyle/>
          <a:p>
            <a:pPr marL="645160">
              <a:lnSpc>
                <a:spcPct val="100000"/>
              </a:lnSpc>
              <a:spcBef>
                <a:spcPts val="805"/>
              </a:spcBef>
            </a:pPr>
            <a:r>
              <a:rPr sz="3600" spc="50" dirty="0">
                <a:solidFill>
                  <a:srgbClr val="2E377E"/>
                </a:solidFill>
                <a:latin typeface="Georgia"/>
                <a:cs typeface="Georgia"/>
              </a:rPr>
              <a:t>Service</a:t>
            </a:r>
            <a:r>
              <a:rPr sz="3600" spc="20"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method</a:t>
            </a:r>
            <a:r>
              <a:rPr sz="3600" spc="20" dirty="0">
                <a:solidFill>
                  <a:srgbClr val="2E377E"/>
                </a:solidFill>
                <a:latin typeface="Georgia"/>
                <a:cs typeface="Georgia"/>
              </a:rPr>
              <a:t> </a:t>
            </a:r>
            <a:r>
              <a:rPr sz="3600" dirty="0">
                <a:solidFill>
                  <a:srgbClr val="2E377E"/>
                </a:solidFill>
                <a:latin typeface="Georgia"/>
                <a:cs typeface="Georgia"/>
              </a:rPr>
              <a:t>for</a:t>
            </a:r>
            <a:r>
              <a:rPr sz="3600" spc="20" dirty="0">
                <a:solidFill>
                  <a:srgbClr val="2E377E"/>
                </a:solidFill>
                <a:latin typeface="Georgia"/>
                <a:cs typeface="Georgia"/>
              </a:rPr>
              <a:t> </a:t>
            </a:r>
            <a:r>
              <a:rPr sz="3600" dirty="0">
                <a:solidFill>
                  <a:srgbClr val="2E377E"/>
                </a:solidFill>
                <a:latin typeface="Georgia"/>
                <a:cs typeface="Georgia"/>
              </a:rPr>
              <a:t>exposing</a:t>
            </a:r>
            <a:r>
              <a:rPr sz="3600" spc="20" dirty="0">
                <a:solidFill>
                  <a:srgbClr val="2E377E"/>
                </a:solidFill>
                <a:latin typeface="Georgia"/>
                <a:cs typeface="Georgia"/>
              </a:rPr>
              <a:t> </a:t>
            </a:r>
            <a:r>
              <a:rPr sz="3600" dirty="0">
                <a:solidFill>
                  <a:srgbClr val="2E377E"/>
                </a:solidFill>
                <a:latin typeface="Georgia"/>
                <a:cs typeface="Georgia"/>
                <a:hlinkClick r:id="rId7"/>
              </a:rPr>
              <a:t>Pods</a:t>
            </a:r>
            <a:r>
              <a:rPr sz="3600" spc="20" dirty="0">
                <a:solidFill>
                  <a:srgbClr val="2E377E"/>
                </a:solidFill>
                <a:latin typeface="Georgia"/>
                <a:cs typeface="Georgia"/>
              </a:rPr>
              <a:t> </a:t>
            </a:r>
            <a:r>
              <a:rPr sz="3600" dirty="0">
                <a:solidFill>
                  <a:srgbClr val="2E377E"/>
                </a:solidFill>
                <a:latin typeface="Georgia"/>
                <a:cs typeface="Georgia"/>
              </a:rPr>
              <a:t>in</a:t>
            </a:r>
            <a:r>
              <a:rPr sz="3600" spc="20" dirty="0">
                <a:solidFill>
                  <a:srgbClr val="2E377E"/>
                </a:solidFill>
                <a:latin typeface="Georgia"/>
                <a:cs typeface="Georgia"/>
              </a:rPr>
              <a:t> </a:t>
            </a:r>
            <a:r>
              <a:rPr sz="3600" spc="80" dirty="0">
                <a:solidFill>
                  <a:srgbClr val="2E377E"/>
                </a:solidFill>
                <a:latin typeface="Georgia"/>
                <a:cs typeface="Georgia"/>
              </a:rPr>
              <a:t>your</a:t>
            </a:r>
            <a:r>
              <a:rPr sz="3600" spc="20" dirty="0">
                <a:solidFill>
                  <a:srgbClr val="2E377E"/>
                </a:solidFill>
                <a:latin typeface="Georgia"/>
                <a:cs typeface="Georgia"/>
              </a:rPr>
              <a:t> </a:t>
            </a:r>
            <a:r>
              <a:rPr sz="3600" spc="-10" dirty="0">
                <a:solidFill>
                  <a:srgbClr val="2E377E"/>
                </a:solidFill>
                <a:latin typeface="Georgia"/>
                <a:cs typeface="Georgia"/>
              </a:rPr>
              <a:t>cluster.</a:t>
            </a:r>
            <a:endParaRPr sz="3600">
              <a:latin typeface="Georgia"/>
              <a:cs typeface="Georgia"/>
            </a:endParaRPr>
          </a:p>
          <a:p>
            <a:pPr marL="645160" marR="5080">
              <a:lnSpc>
                <a:spcPct val="116300"/>
              </a:lnSpc>
            </a:pPr>
            <a:r>
              <a:rPr sz="3600" dirty="0">
                <a:solidFill>
                  <a:srgbClr val="2E377E"/>
                </a:solidFill>
                <a:latin typeface="Georgia"/>
                <a:cs typeface="Georgia"/>
              </a:rPr>
              <a:t>Each</a:t>
            </a:r>
            <a:r>
              <a:rPr sz="3600" spc="60" dirty="0">
                <a:solidFill>
                  <a:srgbClr val="2E377E"/>
                </a:solidFill>
                <a:latin typeface="Georgia"/>
                <a:cs typeface="Georgia"/>
              </a:rPr>
              <a:t> </a:t>
            </a:r>
            <a:r>
              <a:rPr sz="3600" dirty="0">
                <a:solidFill>
                  <a:srgbClr val="2E377E"/>
                </a:solidFill>
                <a:latin typeface="Georgia"/>
                <a:cs typeface="Georgia"/>
              </a:rPr>
              <a:t>Pod</a:t>
            </a:r>
            <a:r>
              <a:rPr sz="3600" spc="60" dirty="0">
                <a:solidFill>
                  <a:srgbClr val="2E377E"/>
                </a:solidFill>
                <a:latin typeface="Georgia"/>
                <a:cs typeface="Georgia"/>
              </a:rPr>
              <a:t> </a:t>
            </a:r>
            <a:r>
              <a:rPr sz="3600" spc="65" dirty="0">
                <a:solidFill>
                  <a:srgbClr val="2E377E"/>
                </a:solidFill>
                <a:latin typeface="Georgia"/>
                <a:cs typeface="Georgia"/>
              </a:rPr>
              <a:t>gets</a:t>
            </a:r>
            <a:r>
              <a:rPr sz="3600" spc="60" dirty="0">
                <a:solidFill>
                  <a:srgbClr val="2E377E"/>
                </a:solidFill>
                <a:latin typeface="Georgia"/>
                <a:cs typeface="Georgia"/>
              </a:rPr>
              <a:t> </a:t>
            </a:r>
            <a:r>
              <a:rPr sz="3600" spc="55" dirty="0">
                <a:solidFill>
                  <a:srgbClr val="2E377E"/>
                </a:solidFill>
                <a:latin typeface="Georgia"/>
                <a:cs typeface="Georgia"/>
              </a:rPr>
              <a:t>its</a:t>
            </a:r>
            <a:r>
              <a:rPr sz="3600" spc="60" dirty="0">
                <a:solidFill>
                  <a:srgbClr val="2E377E"/>
                </a:solidFill>
                <a:latin typeface="Georgia"/>
                <a:cs typeface="Georgia"/>
              </a:rPr>
              <a:t> </a:t>
            </a:r>
            <a:r>
              <a:rPr sz="3600" spc="80" dirty="0">
                <a:solidFill>
                  <a:srgbClr val="2E377E"/>
                </a:solidFill>
                <a:latin typeface="Georgia"/>
                <a:cs typeface="Georgia"/>
              </a:rPr>
              <a:t>own</a:t>
            </a:r>
            <a:r>
              <a:rPr sz="3600" spc="60" dirty="0">
                <a:solidFill>
                  <a:srgbClr val="2E377E"/>
                </a:solidFill>
                <a:latin typeface="Georgia"/>
                <a:cs typeface="Georgia"/>
              </a:rPr>
              <a:t> </a:t>
            </a:r>
            <a:r>
              <a:rPr sz="3600" dirty="0">
                <a:solidFill>
                  <a:srgbClr val="2E377E"/>
                </a:solidFill>
                <a:latin typeface="Georgia"/>
                <a:cs typeface="Georgia"/>
              </a:rPr>
              <a:t>IP</a:t>
            </a:r>
            <a:r>
              <a:rPr sz="3600" spc="60" dirty="0">
                <a:solidFill>
                  <a:srgbClr val="2E377E"/>
                </a:solidFill>
                <a:latin typeface="Georgia"/>
                <a:cs typeface="Georgia"/>
              </a:rPr>
              <a:t> </a:t>
            </a:r>
            <a:r>
              <a:rPr sz="3600" dirty="0">
                <a:solidFill>
                  <a:srgbClr val="2E377E"/>
                </a:solidFill>
                <a:latin typeface="Georgia"/>
                <a:cs typeface="Georgia"/>
              </a:rPr>
              <a:t>address</a:t>
            </a:r>
            <a:r>
              <a:rPr sz="3600" spc="60" dirty="0">
                <a:solidFill>
                  <a:srgbClr val="2E377E"/>
                </a:solidFill>
                <a:latin typeface="Georgia"/>
                <a:cs typeface="Georgia"/>
              </a:rPr>
              <a:t> </a:t>
            </a:r>
            <a:r>
              <a:rPr sz="3600" dirty="0">
                <a:solidFill>
                  <a:srgbClr val="2E377E"/>
                </a:solidFill>
                <a:latin typeface="Georgia"/>
                <a:cs typeface="Georgia"/>
              </a:rPr>
              <a:t>But</a:t>
            </a:r>
            <a:r>
              <a:rPr sz="3600" spc="60" dirty="0">
                <a:solidFill>
                  <a:srgbClr val="2E377E"/>
                </a:solidFill>
                <a:latin typeface="Georgia"/>
                <a:cs typeface="Georgia"/>
              </a:rPr>
              <a:t> </a:t>
            </a:r>
            <a:r>
              <a:rPr sz="3600" spc="140" dirty="0">
                <a:solidFill>
                  <a:srgbClr val="2E377E"/>
                </a:solidFill>
                <a:latin typeface="Georgia"/>
                <a:cs typeface="Georgia"/>
              </a:rPr>
              <a:t>we</a:t>
            </a:r>
            <a:r>
              <a:rPr sz="3600" spc="60" dirty="0">
                <a:solidFill>
                  <a:srgbClr val="2E377E"/>
                </a:solidFill>
                <a:latin typeface="Georgia"/>
                <a:cs typeface="Georgia"/>
              </a:rPr>
              <a:t> </a:t>
            </a:r>
            <a:r>
              <a:rPr sz="3600" dirty="0">
                <a:solidFill>
                  <a:srgbClr val="2E377E"/>
                </a:solidFill>
                <a:latin typeface="Georgia"/>
                <a:cs typeface="Georgia"/>
              </a:rPr>
              <a:t>need</a:t>
            </a:r>
            <a:r>
              <a:rPr sz="3600" spc="60" dirty="0">
                <a:solidFill>
                  <a:srgbClr val="2E377E"/>
                </a:solidFill>
                <a:latin typeface="Georgia"/>
                <a:cs typeface="Georgia"/>
              </a:rPr>
              <a:t> </a:t>
            </a:r>
            <a:r>
              <a:rPr sz="3600" spc="70" dirty="0">
                <a:solidFill>
                  <a:srgbClr val="2E377E"/>
                </a:solidFill>
                <a:latin typeface="Georgia"/>
                <a:cs typeface="Georgia"/>
              </a:rPr>
              <a:t>to</a:t>
            </a:r>
            <a:r>
              <a:rPr sz="3600" spc="60" dirty="0">
                <a:solidFill>
                  <a:srgbClr val="2E377E"/>
                </a:solidFill>
                <a:latin typeface="Georgia"/>
                <a:cs typeface="Georgia"/>
              </a:rPr>
              <a:t> </a:t>
            </a:r>
            <a:r>
              <a:rPr sz="3600" dirty="0">
                <a:solidFill>
                  <a:srgbClr val="2E377E"/>
                </a:solidFill>
                <a:latin typeface="Georgia"/>
                <a:cs typeface="Georgia"/>
              </a:rPr>
              <a:t>access</a:t>
            </a:r>
            <a:r>
              <a:rPr sz="3600" spc="60" dirty="0">
                <a:solidFill>
                  <a:srgbClr val="2E377E"/>
                </a:solidFill>
                <a:latin typeface="Georgia"/>
                <a:cs typeface="Georgia"/>
              </a:rPr>
              <a:t> </a:t>
            </a:r>
            <a:r>
              <a:rPr sz="3600" dirty="0">
                <a:solidFill>
                  <a:srgbClr val="2E377E"/>
                </a:solidFill>
                <a:latin typeface="Georgia"/>
                <a:cs typeface="Georgia"/>
              </a:rPr>
              <a:t>from</a:t>
            </a:r>
            <a:r>
              <a:rPr sz="3600" spc="60" dirty="0">
                <a:solidFill>
                  <a:srgbClr val="2E377E"/>
                </a:solidFill>
                <a:latin typeface="Georgia"/>
                <a:cs typeface="Georgia"/>
              </a:rPr>
              <a:t> </a:t>
            </a:r>
            <a:r>
              <a:rPr sz="3600" dirty="0">
                <a:solidFill>
                  <a:srgbClr val="2E377E"/>
                </a:solidFill>
                <a:latin typeface="Georgia"/>
                <a:cs typeface="Georgia"/>
              </a:rPr>
              <a:t>IP</a:t>
            </a:r>
            <a:r>
              <a:rPr sz="3600" spc="60" dirty="0">
                <a:solidFill>
                  <a:srgbClr val="2E377E"/>
                </a:solidFill>
                <a:latin typeface="Georgia"/>
                <a:cs typeface="Georgia"/>
              </a:rPr>
              <a:t> </a:t>
            </a:r>
            <a:r>
              <a:rPr sz="3600" dirty="0">
                <a:solidFill>
                  <a:srgbClr val="2E377E"/>
                </a:solidFill>
                <a:latin typeface="Georgia"/>
                <a:cs typeface="Georgia"/>
              </a:rPr>
              <a:t>of</a:t>
            </a:r>
            <a:r>
              <a:rPr sz="3600" spc="60" dirty="0">
                <a:solidFill>
                  <a:srgbClr val="2E377E"/>
                </a:solidFill>
                <a:latin typeface="Georgia"/>
                <a:cs typeface="Georgia"/>
              </a:rPr>
              <a:t> the </a:t>
            </a:r>
            <a:r>
              <a:rPr sz="3600" spc="-10" dirty="0">
                <a:solidFill>
                  <a:srgbClr val="2E377E"/>
                </a:solidFill>
                <a:latin typeface="Georgia"/>
                <a:cs typeface="Georgia"/>
              </a:rPr>
              <a:t>Node.. </a:t>
            </a:r>
            <a:r>
              <a:rPr sz="3600" dirty="0">
                <a:solidFill>
                  <a:srgbClr val="2E377E"/>
                </a:solidFill>
                <a:latin typeface="Georgia"/>
                <a:cs typeface="Georgia"/>
              </a:rPr>
              <a:t>If</a:t>
            </a:r>
            <a:r>
              <a:rPr sz="3600" spc="25" dirty="0">
                <a:solidFill>
                  <a:srgbClr val="2E377E"/>
                </a:solidFill>
                <a:latin typeface="Georgia"/>
                <a:cs typeface="Georgia"/>
              </a:rPr>
              <a:t> </a:t>
            </a:r>
            <a:r>
              <a:rPr sz="3600" spc="90" dirty="0">
                <a:solidFill>
                  <a:srgbClr val="2E377E"/>
                </a:solidFill>
                <a:latin typeface="Georgia"/>
                <a:cs typeface="Georgia"/>
              </a:rPr>
              <a:t>you</a:t>
            </a:r>
            <a:r>
              <a:rPr sz="3600" spc="25" dirty="0">
                <a:solidFill>
                  <a:srgbClr val="2E377E"/>
                </a:solidFill>
                <a:latin typeface="Georgia"/>
                <a:cs typeface="Georgia"/>
              </a:rPr>
              <a:t> </a:t>
            </a:r>
            <a:r>
              <a:rPr sz="3600" spc="80" dirty="0">
                <a:solidFill>
                  <a:srgbClr val="2E377E"/>
                </a:solidFill>
                <a:latin typeface="Georgia"/>
                <a:cs typeface="Georgia"/>
              </a:rPr>
              <a:t>want</a:t>
            </a:r>
            <a:r>
              <a:rPr sz="3600" spc="25" dirty="0">
                <a:solidFill>
                  <a:srgbClr val="2E377E"/>
                </a:solidFill>
                <a:latin typeface="Georgia"/>
                <a:cs typeface="Georgia"/>
              </a:rPr>
              <a:t> </a:t>
            </a:r>
            <a:r>
              <a:rPr sz="3600" spc="7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access</a:t>
            </a:r>
            <a:r>
              <a:rPr sz="3600" spc="30"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dirty="0">
                <a:solidFill>
                  <a:srgbClr val="2E377E"/>
                </a:solidFill>
                <a:latin typeface="Georgia"/>
                <a:cs typeface="Georgia"/>
              </a:rPr>
              <a:t>from</a:t>
            </a:r>
            <a:r>
              <a:rPr sz="3600" spc="25" dirty="0">
                <a:solidFill>
                  <a:srgbClr val="2E377E"/>
                </a:solidFill>
                <a:latin typeface="Georgia"/>
                <a:cs typeface="Georgia"/>
              </a:rPr>
              <a:t> </a:t>
            </a:r>
            <a:r>
              <a:rPr sz="3600" dirty="0">
                <a:solidFill>
                  <a:srgbClr val="2E377E"/>
                </a:solidFill>
                <a:latin typeface="Georgia"/>
                <a:cs typeface="Georgia"/>
              </a:rPr>
              <a:t>inside</a:t>
            </a:r>
            <a:r>
              <a:rPr sz="3600" spc="25" dirty="0">
                <a:solidFill>
                  <a:srgbClr val="2E377E"/>
                </a:solidFill>
                <a:latin typeface="Georgia"/>
                <a:cs typeface="Georgia"/>
              </a:rPr>
              <a:t> </a:t>
            </a:r>
            <a:r>
              <a:rPr sz="3600" spc="140" dirty="0">
                <a:solidFill>
                  <a:srgbClr val="2E377E"/>
                </a:solidFill>
                <a:latin typeface="Georgia"/>
                <a:cs typeface="Georgia"/>
              </a:rPr>
              <a:t>we</a:t>
            </a:r>
            <a:r>
              <a:rPr sz="3600" spc="25" dirty="0">
                <a:solidFill>
                  <a:srgbClr val="2E377E"/>
                </a:solidFill>
                <a:latin typeface="Georgia"/>
                <a:cs typeface="Georgia"/>
              </a:rPr>
              <a:t> </a:t>
            </a:r>
            <a:r>
              <a:rPr sz="3600" spc="50" dirty="0">
                <a:solidFill>
                  <a:srgbClr val="2E377E"/>
                </a:solidFill>
                <a:latin typeface="Georgia"/>
                <a:cs typeface="Georgia"/>
              </a:rPr>
              <a:t>use</a:t>
            </a:r>
            <a:r>
              <a:rPr sz="3600" spc="30" dirty="0">
                <a:solidFill>
                  <a:srgbClr val="2E377E"/>
                </a:solidFill>
                <a:latin typeface="Georgia"/>
                <a:cs typeface="Georgia"/>
              </a:rPr>
              <a:t> </a:t>
            </a:r>
            <a:r>
              <a:rPr sz="3600" dirty="0">
                <a:solidFill>
                  <a:srgbClr val="2E377E"/>
                </a:solidFill>
                <a:latin typeface="Georgia"/>
                <a:cs typeface="Georgia"/>
              </a:rPr>
              <a:t>Cluster-</a:t>
            </a:r>
            <a:r>
              <a:rPr sz="3600" spc="-25" dirty="0">
                <a:solidFill>
                  <a:srgbClr val="2E377E"/>
                </a:solidFill>
                <a:latin typeface="Georgia"/>
                <a:cs typeface="Georgia"/>
              </a:rPr>
              <a:t>IP.</a:t>
            </a:r>
            <a:endParaRPr sz="3600">
              <a:latin typeface="Georgia"/>
              <a:cs typeface="Georgia"/>
            </a:endParaRPr>
          </a:p>
          <a:p>
            <a:pPr marL="645160" marR="758190">
              <a:lnSpc>
                <a:spcPct val="116300"/>
              </a:lnSpc>
            </a:pPr>
            <a:r>
              <a:rPr sz="3600" dirty="0">
                <a:solidFill>
                  <a:srgbClr val="2E377E"/>
                </a:solidFill>
                <a:latin typeface="Georgia"/>
                <a:cs typeface="Georgia"/>
              </a:rPr>
              <a:t>If</a:t>
            </a:r>
            <a:r>
              <a:rPr sz="3600" spc="-40"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spc="65" dirty="0">
                <a:solidFill>
                  <a:srgbClr val="2E377E"/>
                </a:solidFill>
                <a:latin typeface="Georgia"/>
                <a:cs typeface="Georgia"/>
              </a:rPr>
              <a:t>service</a:t>
            </a:r>
            <a:r>
              <a:rPr sz="3600" spc="-35" dirty="0">
                <a:solidFill>
                  <a:srgbClr val="2E377E"/>
                </a:solidFill>
                <a:latin typeface="Georgia"/>
                <a:cs typeface="Georgia"/>
              </a:rPr>
              <a:t> </a:t>
            </a:r>
            <a:r>
              <a:rPr sz="3600" dirty="0">
                <a:solidFill>
                  <a:srgbClr val="2E377E"/>
                </a:solidFill>
                <a:latin typeface="Georgia"/>
                <a:cs typeface="Georgia"/>
              </a:rPr>
              <a:t>is</a:t>
            </a:r>
            <a:r>
              <a:rPr sz="3600" spc="-35" dirty="0">
                <a:solidFill>
                  <a:srgbClr val="2E377E"/>
                </a:solidFill>
                <a:latin typeface="Georgia"/>
                <a:cs typeface="Georgia"/>
              </a:rPr>
              <a:t> </a:t>
            </a:r>
            <a:r>
              <a:rPr sz="3600" dirty="0">
                <a:solidFill>
                  <a:srgbClr val="2E377E"/>
                </a:solidFill>
                <a:latin typeface="Georgia"/>
                <a:cs typeface="Georgia"/>
              </a:rPr>
              <a:t>of</a:t>
            </a:r>
            <a:r>
              <a:rPr sz="3600" spc="-40" dirty="0">
                <a:solidFill>
                  <a:srgbClr val="2E377E"/>
                </a:solidFill>
                <a:latin typeface="Georgia"/>
                <a:cs typeface="Georgia"/>
              </a:rPr>
              <a:t> </a:t>
            </a:r>
            <a:r>
              <a:rPr sz="3600" spc="100" dirty="0">
                <a:solidFill>
                  <a:srgbClr val="2E377E"/>
                </a:solidFill>
                <a:latin typeface="Georgia"/>
                <a:cs typeface="Georgia"/>
              </a:rPr>
              <a:t>type</a:t>
            </a:r>
            <a:r>
              <a:rPr sz="3600" spc="-35" dirty="0">
                <a:solidFill>
                  <a:srgbClr val="2E377E"/>
                </a:solidFill>
                <a:latin typeface="Georgia"/>
                <a:cs typeface="Georgia"/>
              </a:rPr>
              <a:t> </a:t>
            </a:r>
            <a:r>
              <a:rPr sz="3600" dirty="0">
                <a:solidFill>
                  <a:srgbClr val="2E377E"/>
                </a:solidFill>
                <a:latin typeface="Georgia"/>
                <a:cs typeface="Georgia"/>
              </a:rPr>
              <a:t>NodePort</a:t>
            </a:r>
            <a:r>
              <a:rPr sz="3600" spc="-35" dirty="0">
                <a:solidFill>
                  <a:srgbClr val="2E377E"/>
                </a:solidFill>
                <a:latin typeface="Georgia"/>
                <a:cs typeface="Georgia"/>
              </a:rPr>
              <a:t> </a:t>
            </a:r>
            <a:r>
              <a:rPr sz="3600" dirty="0">
                <a:solidFill>
                  <a:srgbClr val="2E377E"/>
                </a:solidFill>
                <a:latin typeface="Georgia"/>
                <a:cs typeface="Georgia"/>
              </a:rPr>
              <a:t>or</a:t>
            </a:r>
            <a:r>
              <a:rPr sz="3600" spc="-35" dirty="0">
                <a:solidFill>
                  <a:srgbClr val="2E377E"/>
                </a:solidFill>
                <a:latin typeface="Georgia"/>
                <a:cs typeface="Georgia"/>
              </a:rPr>
              <a:t> </a:t>
            </a:r>
            <a:r>
              <a:rPr sz="3600" spc="-10" dirty="0">
                <a:solidFill>
                  <a:srgbClr val="2E377E"/>
                </a:solidFill>
                <a:latin typeface="Georgia"/>
                <a:cs typeface="Georgia"/>
              </a:rPr>
              <a:t>LoadBalancer,</a:t>
            </a:r>
            <a:r>
              <a:rPr sz="3600" spc="-40" dirty="0">
                <a:solidFill>
                  <a:srgbClr val="2E377E"/>
                </a:solidFill>
                <a:latin typeface="Georgia"/>
                <a:cs typeface="Georgia"/>
              </a:rPr>
              <a:t> </a:t>
            </a:r>
            <a:r>
              <a:rPr sz="3600" spc="65" dirty="0">
                <a:solidFill>
                  <a:srgbClr val="2E377E"/>
                </a:solidFill>
                <a:latin typeface="Georgia"/>
                <a:cs typeface="Georgia"/>
              </a:rPr>
              <a:t>it</a:t>
            </a:r>
            <a:r>
              <a:rPr sz="3600" spc="-35" dirty="0">
                <a:solidFill>
                  <a:srgbClr val="2E377E"/>
                </a:solidFill>
                <a:latin typeface="Georgia"/>
                <a:cs typeface="Georgia"/>
              </a:rPr>
              <a:t> </a:t>
            </a:r>
            <a:r>
              <a:rPr sz="3600" dirty="0">
                <a:solidFill>
                  <a:srgbClr val="2E377E"/>
                </a:solidFill>
                <a:latin typeface="Georgia"/>
                <a:cs typeface="Georgia"/>
              </a:rPr>
              <a:t>can</a:t>
            </a:r>
            <a:r>
              <a:rPr sz="3600" spc="-35" dirty="0">
                <a:solidFill>
                  <a:srgbClr val="2E377E"/>
                </a:solidFill>
                <a:latin typeface="Georgia"/>
                <a:cs typeface="Georgia"/>
              </a:rPr>
              <a:t> </a:t>
            </a:r>
            <a:r>
              <a:rPr sz="3600" dirty="0">
                <a:solidFill>
                  <a:srgbClr val="2E377E"/>
                </a:solidFill>
                <a:latin typeface="Georgia"/>
                <a:cs typeface="Georgia"/>
              </a:rPr>
              <a:t>also</a:t>
            </a:r>
            <a:r>
              <a:rPr sz="3600" spc="-35" dirty="0">
                <a:solidFill>
                  <a:srgbClr val="2E377E"/>
                </a:solidFill>
                <a:latin typeface="Georgia"/>
                <a:cs typeface="Georgia"/>
              </a:rPr>
              <a:t> </a:t>
            </a:r>
            <a:r>
              <a:rPr sz="3600" dirty="0">
                <a:solidFill>
                  <a:srgbClr val="2E377E"/>
                </a:solidFill>
                <a:latin typeface="Georgia"/>
                <a:cs typeface="Georgia"/>
              </a:rPr>
              <a:t>be</a:t>
            </a:r>
            <a:r>
              <a:rPr sz="3600" spc="-40" dirty="0">
                <a:solidFill>
                  <a:srgbClr val="2E377E"/>
                </a:solidFill>
                <a:latin typeface="Georgia"/>
                <a:cs typeface="Georgia"/>
              </a:rPr>
              <a:t> </a:t>
            </a:r>
            <a:r>
              <a:rPr sz="3600" spc="-10" dirty="0">
                <a:solidFill>
                  <a:srgbClr val="2E377E"/>
                </a:solidFill>
                <a:latin typeface="Georgia"/>
                <a:cs typeface="Georgia"/>
              </a:rPr>
              <a:t>accessed. </a:t>
            </a:r>
            <a:r>
              <a:rPr sz="3600" dirty="0">
                <a:solidFill>
                  <a:srgbClr val="2E377E"/>
                </a:solidFill>
                <a:latin typeface="Georgia"/>
                <a:cs typeface="Georgia"/>
              </a:rPr>
              <a:t>from</a:t>
            </a:r>
            <a:r>
              <a:rPr sz="3600" spc="-10" dirty="0">
                <a:solidFill>
                  <a:srgbClr val="2E377E"/>
                </a:solidFill>
                <a:latin typeface="Georgia"/>
                <a:cs typeface="Georgia"/>
              </a:rPr>
              <a:t> </a:t>
            </a:r>
            <a:r>
              <a:rPr sz="3600" spc="45" dirty="0">
                <a:solidFill>
                  <a:srgbClr val="2E377E"/>
                </a:solidFill>
                <a:latin typeface="Georgia"/>
                <a:cs typeface="Georgia"/>
              </a:rPr>
              <a:t>outside</a:t>
            </a:r>
            <a:r>
              <a:rPr sz="3600" spc="-5"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cluster.</a:t>
            </a:r>
            <a:endParaRPr sz="3600">
              <a:latin typeface="Georgia"/>
              <a:cs typeface="Georgia"/>
            </a:endParaRPr>
          </a:p>
          <a:p>
            <a:pPr marL="645160" marR="5080">
              <a:lnSpc>
                <a:spcPct val="116300"/>
              </a:lnSpc>
            </a:pPr>
            <a:r>
              <a:rPr sz="3600" dirty="0">
                <a:solidFill>
                  <a:srgbClr val="2E377E"/>
                </a:solidFill>
                <a:latin typeface="Georgia"/>
                <a:cs typeface="Georgia"/>
              </a:rPr>
              <a:t>It</a:t>
            </a:r>
            <a:r>
              <a:rPr sz="3600" spc="30" dirty="0">
                <a:solidFill>
                  <a:srgbClr val="2E377E"/>
                </a:solidFill>
                <a:latin typeface="Georgia"/>
                <a:cs typeface="Georgia"/>
              </a:rPr>
              <a:t> </a:t>
            </a:r>
            <a:r>
              <a:rPr sz="3600" dirty="0">
                <a:solidFill>
                  <a:srgbClr val="2E377E"/>
                </a:solidFill>
                <a:latin typeface="Georgia"/>
                <a:cs typeface="Georgia"/>
              </a:rPr>
              <a:t>enables</a:t>
            </a:r>
            <a:r>
              <a:rPr sz="3600" spc="30"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pods</a:t>
            </a:r>
            <a:r>
              <a:rPr sz="3600" spc="30" dirty="0">
                <a:solidFill>
                  <a:srgbClr val="2E377E"/>
                </a:solidFill>
                <a:latin typeface="Georgia"/>
                <a:cs typeface="Georgia"/>
              </a:rPr>
              <a:t> </a:t>
            </a:r>
            <a:r>
              <a:rPr sz="3600" spc="70" dirty="0">
                <a:solidFill>
                  <a:srgbClr val="2E377E"/>
                </a:solidFill>
                <a:latin typeface="Georgia"/>
                <a:cs typeface="Georgia"/>
              </a:rPr>
              <a:t>to</a:t>
            </a:r>
            <a:r>
              <a:rPr sz="3600" spc="30" dirty="0">
                <a:solidFill>
                  <a:srgbClr val="2E377E"/>
                </a:solidFill>
                <a:latin typeface="Georgia"/>
                <a:cs typeface="Georgia"/>
              </a:rPr>
              <a:t> </a:t>
            </a:r>
            <a:r>
              <a:rPr sz="3600" dirty="0">
                <a:solidFill>
                  <a:srgbClr val="2E377E"/>
                </a:solidFill>
                <a:latin typeface="Georgia"/>
                <a:cs typeface="Georgia"/>
              </a:rPr>
              <a:t>be</a:t>
            </a:r>
            <a:r>
              <a:rPr sz="3600" spc="35" dirty="0">
                <a:solidFill>
                  <a:srgbClr val="2E377E"/>
                </a:solidFill>
                <a:latin typeface="Georgia"/>
                <a:cs typeface="Georgia"/>
              </a:rPr>
              <a:t> </a:t>
            </a:r>
            <a:r>
              <a:rPr sz="3600" dirty="0">
                <a:solidFill>
                  <a:srgbClr val="2E377E"/>
                </a:solidFill>
                <a:latin typeface="Georgia"/>
                <a:cs typeface="Georgia"/>
              </a:rPr>
              <a:t>decoupled</a:t>
            </a:r>
            <a:r>
              <a:rPr sz="3600" spc="30" dirty="0">
                <a:solidFill>
                  <a:srgbClr val="2E377E"/>
                </a:solidFill>
                <a:latin typeface="Georgia"/>
                <a:cs typeface="Georgia"/>
              </a:rPr>
              <a:t> </a:t>
            </a:r>
            <a:r>
              <a:rPr sz="3600" dirty="0">
                <a:solidFill>
                  <a:srgbClr val="2E377E"/>
                </a:solidFill>
                <a:latin typeface="Georgia"/>
                <a:cs typeface="Georgia"/>
              </a:rPr>
              <a:t>from</a:t>
            </a:r>
            <a:r>
              <a:rPr sz="3600" spc="3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spc="85" dirty="0">
                <a:solidFill>
                  <a:srgbClr val="2E377E"/>
                </a:solidFill>
                <a:latin typeface="Georgia"/>
                <a:cs typeface="Georgia"/>
              </a:rPr>
              <a:t>network</a:t>
            </a:r>
            <a:r>
              <a:rPr sz="3600" spc="30" dirty="0">
                <a:solidFill>
                  <a:srgbClr val="2E377E"/>
                </a:solidFill>
                <a:latin typeface="Georgia"/>
                <a:cs typeface="Georgia"/>
              </a:rPr>
              <a:t> </a:t>
            </a:r>
            <a:r>
              <a:rPr sz="3600" dirty="0">
                <a:solidFill>
                  <a:srgbClr val="2E377E"/>
                </a:solidFill>
                <a:latin typeface="Georgia"/>
                <a:cs typeface="Georgia"/>
              </a:rPr>
              <a:t>topology,</a:t>
            </a:r>
            <a:r>
              <a:rPr sz="3600" spc="35" dirty="0">
                <a:solidFill>
                  <a:srgbClr val="2E377E"/>
                </a:solidFill>
                <a:latin typeface="Georgia"/>
                <a:cs typeface="Georgia"/>
              </a:rPr>
              <a:t> </a:t>
            </a:r>
            <a:r>
              <a:rPr sz="3600" spc="55" dirty="0">
                <a:solidFill>
                  <a:srgbClr val="2E377E"/>
                </a:solidFill>
                <a:latin typeface="Georgia"/>
                <a:cs typeface="Georgia"/>
              </a:rPr>
              <a:t>which</a:t>
            </a:r>
            <a:r>
              <a:rPr sz="3600" spc="30" dirty="0">
                <a:solidFill>
                  <a:srgbClr val="2E377E"/>
                </a:solidFill>
                <a:latin typeface="Georgia"/>
                <a:cs typeface="Georgia"/>
              </a:rPr>
              <a:t> </a:t>
            </a:r>
            <a:r>
              <a:rPr sz="3600" spc="-20" dirty="0">
                <a:solidFill>
                  <a:srgbClr val="2E377E"/>
                </a:solidFill>
                <a:latin typeface="Georgia"/>
                <a:cs typeface="Georgia"/>
              </a:rPr>
              <a:t>makes </a:t>
            </a:r>
            <a:r>
              <a:rPr sz="3600" spc="65" dirty="0">
                <a:solidFill>
                  <a:srgbClr val="2E377E"/>
                </a:solidFill>
                <a:latin typeface="Georgia"/>
                <a:cs typeface="Georgia"/>
              </a:rPr>
              <a:t>it</a:t>
            </a:r>
            <a:r>
              <a:rPr sz="3600" spc="10" dirty="0">
                <a:solidFill>
                  <a:srgbClr val="2E377E"/>
                </a:solidFill>
                <a:latin typeface="Georgia"/>
                <a:cs typeface="Georgia"/>
              </a:rPr>
              <a:t> </a:t>
            </a:r>
            <a:r>
              <a:rPr sz="3600" dirty="0">
                <a:solidFill>
                  <a:srgbClr val="2E377E"/>
                </a:solidFill>
                <a:latin typeface="Georgia"/>
                <a:cs typeface="Georgia"/>
              </a:rPr>
              <a:t>easier</a:t>
            </a:r>
            <a:r>
              <a:rPr sz="3600" spc="15"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manage</a:t>
            </a:r>
            <a:r>
              <a:rPr sz="3600" spc="15"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dirty="0">
                <a:solidFill>
                  <a:srgbClr val="2E377E"/>
                </a:solidFill>
                <a:latin typeface="Georgia"/>
                <a:cs typeface="Georgia"/>
              </a:rPr>
              <a:t>scale</a:t>
            </a:r>
            <a:r>
              <a:rPr sz="3600" spc="15" dirty="0">
                <a:solidFill>
                  <a:srgbClr val="2E377E"/>
                </a:solidFill>
                <a:latin typeface="Georgia"/>
                <a:cs typeface="Georgia"/>
              </a:rPr>
              <a:t> </a:t>
            </a:r>
            <a:r>
              <a:rPr sz="3600" spc="-10" dirty="0">
                <a:solidFill>
                  <a:srgbClr val="2E377E"/>
                </a:solidFill>
                <a:latin typeface="Georgia"/>
                <a:cs typeface="Georgia"/>
              </a:rPr>
              <a:t>applications</a:t>
            </a:r>
            <a:endParaRPr sz="3600">
              <a:latin typeface="Georgia"/>
              <a:cs typeface="Georgia"/>
            </a:endParaRPr>
          </a:p>
          <a:p>
            <a:pPr marL="12700">
              <a:lnSpc>
                <a:spcPct val="100000"/>
              </a:lnSpc>
              <a:spcBef>
                <a:spcPts val="2660"/>
              </a:spcBef>
            </a:pPr>
            <a:r>
              <a:rPr sz="5000" b="1" spc="-320" dirty="0">
                <a:solidFill>
                  <a:srgbClr val="FF3131"/>
                </a:solidFill>
                <a:latin typeface="Times New Roman"/>
                <a:cs typeface="Times New Roman"/>
              </a:rPr>
              <a:t>TYPES:</a:t>
            </a:r>
            <a:endParaRPr sz="5000">
              <a:latin typeface="Times New Roman"/>
              <a:cs typeface="Times New Roman"/>
            </a:endParaRPr>
          </a:p>
          <a:p>
            <a:pPr marL="854075" marR="11496040">
              <a:lnSpc>
                <a:spcPts val="4580"/>
              </a:lnSpc>
              <a:spcBef>
                <a:spcPts val="300"/>
              </a:spcBef>
            </a:pPr>
            <a:r>
              <a:rPr sz="3900" b="1" spc="-155" dirty="0">
                <a:latin typeface="Times New Roman"/>
                <a:cs typeface="Times New Roman"/>
              </a:rPr>
              <a:t>CLUSTER-</a:t>
            </a:r>
            <a:r>
              <a:rPr sz="3900" b="1" spc="-25" dirty="0">
                <a:latin typeface="Times New Roman"/>
                <a:cs typeface="Times New Roman"/>
              </a:rPr>
              <a:t>IP </a:t>
            </a:r>
            <a:r>
              <a:rPr sz="3900" b="1" spc="-10" dirty="0">
                <a:latin typeface="Times New Roman"/>
                <a:cs typeface="Times New Roman"/>
              </a:rPr>
              <a:t>NODE</a:t>
            </a:r>
            <a:r>
              <a:rPr sz="3900" b="1" spc="-210" dirty="0">
                <a:latin typeface="Times New Roman"/>
                <a:cs typeface="Times New Roman"/>
              </a:rPr>
              <a:t> </a:t>
            </a:r>
            <a:r>
              <a:rPr sz="3900" b="1" spc="-20" dirty="0">
                <a:latin typeface="Times New Roman"/>
                <a:cs typeface="Times New Roman"/>
              </a:rPr>
              <a:t>PORT </a:t>
            </a:r>
            <a:r>
              <a:rPr sz="3900" b="1" spc="-180" dirty="0">
                <a:latin typeface="Times New Roman"/>
                <a:cs typeface="Times New Roman"/>
              </a:rPr>
              <a:t>LOAD</a:t>
            </a:r>
            <a:r>
              <a:rPr sz="3900" b="1" spc="-50" dirty="0">
                <a:latin typeface="Times New Roman"/>
                <a:cs typeface="Times New Roman"/>
              </a:rPr>
              <a:t> </a:t>
            </a:r>
            <a:r>
              <a:rPr sz="3900" b="1" spc="-195" dirty="0">
                <a:latin typeface="Times New Roman"/>
                <a:cs typeface="Times New Roman"/>
              </a:rPr>
              <a:t>BALANCER</a:t>
            </a:r>
            <a:endParaRPr sz="3900">
              <a:latin typeface="Times New Roman"/>
              <a:cs typeface="Times New Roman"/>
            </a:endParaRPr>
          </a:p>
        </p:txBody>
      </p:sp>
      <p:sp>
        <p:nvSpPr>
          <p:cNvPr id="11" name="object 11"/>
          <p:cNvSpPr txBox="1">
            <a:spLocks noGrp="1"/>
          </p:cNvSpPr>
          <p:nvPr>
            <p:ph type="title"/>
          </p:nvPr>
        </p:nvSpPr>
        <p:spPr>
          <a:prstGeom prst="rect">
            <a:avLst/>
          </a:prstGeom>
        </p:spPr>
        <p:txBody>
          <a:bodyPr vert="horz" wrap="square" lIns="0" tIns="517853" rIns="0" bIns="0" rtlCol="0">
            <a:spAutoFit/>
          </a:bodyPr>
          <a:lstStyle/>
          <a:p>
            <a:pPr marL="299085">
              <a:lnSpc>
                <a:spcPct val="100000"/>
              </a:lnSpc>
              <a:spcBef>
                <a:spcPts val="100"/>
              </a:spcBef>
            </a:pPr>
            <a:r>
              <a:rPr spc="-260" dirty="0">
                <a:solidFill>
                  <a:srgbClr val="FF3131"/>
                </a:solidFill>
              </a:rPr>
              <a:t>KUBERNETES</a:t>
            </a:r>
            <a:r>
              <a:rPr spc="-35" dirty="0">
                <a:solidFill>
                  <a:srgbClr val="FF3131"/>
                </a:solidFill>
              </a:rPr>
              <a:t> </a:t>
            </a:r>
            <a:r>
              <a:rPr spc="-185" dirty="0">
                <a:solidFill>
                  <a:srgbClr val="FF3131"/>
                </a:solidFill>
              </a:rPr>
              <a:t>SERVICES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407" y="176342"/>
            <a:ext cx="5981700" cy="787400"/>
          </a:xfrm>
          <a:prstGeom prst="rect">
            <a:avLst/>
          </a:prstGeom>
        </p:spPr>
        <p:txBody>
          <a:bodyPr vert="horz" wrap="square" lIns="0" tIns="12700" rIns="0" bIns="0" rtlCol="0">
            <a:spAutoFit/>
          </a:bodyPr>
          <a:lstStyle/>
          <a:p>
            <a:pPr marL="12700">
              <a:lnSpc>
                <a:spcPct val="100000"/>
              </a:lnSpc>
              <a:spcBef>
                <a:spcPts val="100"/>
              </a:spcBef>
            </a:pPr>
            <a:r>
              <a:rPr spc="-290" dirty="0">
                <a:solidFill>
                  <a:srgbClr val="FF3131"/>
                </a:solidFill>
              </a:rPr>
              <a:t>TYPES</a:t>
            </a:r>
            <a:r>
              <a:rPr spc="-45" dirty="0">
                <a:solidFill>
                  <a:srgbClr val="FF3131"/>
                </a:solidFill>
              </a:rPr>
              <a:t> </a:t>
            </a:r>
            <a:r>
              <a:rPr spc="-320" dirty="0">
                <a:solidFill>
                  <a:srgbClr val="FF3131"/>
                </a:solidFill>
              </a:rPr>
              <a:t>OF</a:t>
            </a:r>
            <a:r>
              <a:rPr spc="-45" dirty="0">
                <a:solidFill>
                  <a:srgbClr val="FF3131"/>
                </a:solidFill>
              </a:rPr>
              <a:t> </a:t>
            </a:r>
            <a:r>
              <a:rPr spc="-185" dirty="0">
                <a:solidFill>
                  <a:srgbClr val="FF3131"/>
                </a:solidFill>
              </a:rPr>
              <a:t>SERVICES</a:t>
            </a:r>
          </a:p>
        </p:txBody>
      </p:sp>
      <p:pic>
        <p:nvPicPr>
          <p:cNvPr id="3" name="object 3"/>
          <p:cNvPicPr/>
          <p:nvPr/>
        </p:nvPicPr>
        <p:blipFill>
          <a:blip r:embed="rId2" cstate="print"/>
          <a:stretch>
            <a:fillRect/>
          </a:stretch>
        </p:blipFill>
        <p:spPr>
          <a:xfrm>
            <a:off x="1275154" y="1444269"/>
            <a:ext cx="133350" cy="133349"/>
          </a:xfrm>
          <a:prstGeom prst="rect">
            <a:avLst/>
          </a:prstGeom>
        </p:spPr>
      </p:pic>
      <p:sp>
        <p:nvSpPr>
          <p:cNvPr id="4" name="object 4"/>
          <p:cNvSpPr txBox="1"/>
          <p:nvPr/>
        </p:nvSpPr>
        <p:spPr>
          <a:xfrm>
            <a:off x="1591960" y="1084859"/>
            <a:ext cx="15874365" cy="8959850"/>
          </a:xfrm>
          <a:prstGeom prst="rect">
            <a:avLst/>
          </a:prstGeom>
        </p:spPr>
        <p:txBody>
          <a:bodyPr vert="horz" wrap="square" lIns="0" tIns="12700" rIns="0" bIns="0" rtlCol="0">
            <a:spAutoFit/>
          </a:bodyPr>
          <a:lstStyle/>
          <a:p>
            <a:pPr marL="12700" marR="29209">
              <a:lnSpc>
                <a:spcPct val="116300"/>
              </a:lnSpc>
              <a:spcBef>
                <a:spcPts val="100"/>
              </a:spcBef>
            </a:pPr>
            <a:r>
              <a:rPr sz="3600" spc="130" dirty="0">
                <a:solidFill>
                  <a:srgbClr val="2E377E"/>
                </a:solidFill>
                <a:latin typeface="Times New Roman"/>
                <a:cs typeface="Times New Roman"/>
              </a:rPr>
              <a:t>ClusterIP</a:t>
            </a:r>
            <a:r>
              <a:rPr sz="3600" spc="130" dirty="0">
                <a:solidFill>
                  <a:srgbClr val="2E377E"/>
                </a:solidFill>
                <a:latin typeface="Georgia"/>
                <a:cs typeface="Georgia"/>
              </a:rPr>
              <a:t>:</a:t>
            </a:r>
            <a:r>
              <a:rPr sz="3600" spc="-35" dirty="0">
                <a:solidFill>
                  <a:srgbClr val="2E377E"/>
                </a:solidFill>
                <a:latin typeface="Georgia"/>
                <a:cs typeface="Georgia"/>
              </a:rPr>
              <a:t> </a:t>
            </a:r>
            <a:r>
              <a:rPr sz="3600" dirty="0">
                <a:solidFill>
                  <a:srgbClr val="2E377E"/>
                </a:solidFill>
                <a:latin typeface="Georgia"/>
                <a:cs typeface="Georgia"/>
              </a:rPr>
              <a:t>A</a:t>
            </a:r>
            <a:r>
              <a:rPr sz="3600" spc="-30" dirty="0">
                <a:solidFill>
                  <a:srgbClr val="2E377E"/>
                </a:solidFill>
                <a:latin typeface="Georgia"/>
                <a:cs typeface="Georgia"/>
              </a:rPr>
              <a:t> </a:t>
            </a:r>
            <a:r>
              <a:rPr sz="3600" dirty="0">
                <a:solidFill>
                  <a:srgbClr val="2E377E"/>
                </a:solidFill>
                <a:latin typeface="Georgia"/>
                <a:cs typeface="Georgia"/>
              </a:rPr>
              <a:t>ClusterIP</a:t>
            </a:r>
            <a:r>
              <a:rPr sz="3600" spc="-30" dirty="0">
                <a:solidFill>
                  <a:srgbClr val="2E377E"/>
                </a:solidFill>
                <a:latin typeface="Georgia"/>
                <a:cs typeface="Georgia"/>
              </a:rPr>
              <a:t> </a:t>
            </a:r>
            <a:r>
              <a:rPr sz="3600" spc="65" dirty="0">
                <a:solidFill>
                  <a:srgbClr val="2E377E"/>
                </a:solidFill>
                <a:latin typeface="Georgia"/>
                <a:cs typeface="Georgia"/>
              </a:rPr>
              <a:t>service</a:t>
            </a:r>
            <a:r>
              <a:rPr sz="3600" spc="-30" dirty="0">
                <a:solidFill>
                  <a:srgbClr val="2E377E"/>
                </a:solidFill>
                <a:latin typeface="Georgia"/>
                <a:cs typeface="Georgia"/>
              </a:rPr>
              <a:t> </a:t>
            </a:r>
            <a:r>
              <a:rPr sz="3600" spc="45" dirty="0">
                <a:solidFill>
                  <a:srgbClr val="2E377E"/>
                </a:solidFill>
                <a:latin typeface="Georgia"/>
                <a:cs typeface="Georgia"/>
              </a:rPr>
              <a:t>provides</a:t>
            </a:r>
            <a:r>
              <a:rPr sz="3600" spc="-30" dirty="0">
                <a:solidFill>
                  <a:srgbClr val="2E377E"/>
                </a:solidFill>
                <a:latin typeface="Georgia"/>
                <a:cs typeface="Georgia"/>
              </a:rPr>
              <a:t> </a:t>
            </a:r>
            <a:r>
              <a:rPr sz="3600" dirty="0">
                <a:solidFill>
                  <a:srgbClr val="2E377E"/>
                </a:solidFill>
                <a:latin typeface="Georgia"/>
                <a:cs typeface="Georgia"/>
              </a:rPr>
              <a:t>a</a:t>
            </a:r>
            <a:r>
              <a:rPr sz="3600" spc="-35" dirty="0">
                <a:solidFill>
                  <a:srgbClr val="2E377E"/>
                </a:solidFill>
                <a:latin typeface="Georgia"/>
                <a:cs typeface="Georgia"/>
              </a:rPr>
              <a:t> </a:t>
            </a:r>
            <a:r>
              <a:rPr sz="3600" dirty="0">
                <a:solidFill>
                  <a:srgbClr val="2E377E"/>
                </a:solidFill>
                <a:latin typeface="Georgia"/>
                <a:cs typeface="Georgia"/>
              </a:rPr>
              <a:t>stable</a:t>
            </a:r>
            <a:r>
              <a:rPr sz="3600" spc="-30" dirty="0">
                <a:solidFill>
                  <a:srgbClr val="2E377E"/>
                </a:solidFill>
                <a:latin typeface="Georgia"/>
                <a:cs typeface="Georgia"/>
              </a:rPr>
              <a:t> </a:t>
            </a:r>
            <a:r>
              <a:rPr sz="3600" dirty="0">
                <a:solidFill>
                  <a:srgbClr val="2E377E"/>
                </a:solidFill>
                <a:latin typeface="Georgia"/>
                <a:cs typeface="Georgia"/>
              </a:rPr>
              <a:t>IP</a:t>
            </a:r>
            <a:r>
              <a:rPr sz="3600" spc="-30" dirty="0">
                <a:solidFill>
                  <a:srgbClr val="2E377E"/>
                </a:solidFill>
                <a:latin typeface="Georgia"/>
                <a:cs typeface="Georgia"/>
              </a:rPr>
              <a:t> </a:t>
            </a:r>
            <a:r>
              <a:rPr sz="3600" dirty="0">
                <a:solidFill>
                  <a:srgbClr val="2E377E"/>
                </a:solidFill>
                <a:latin typeface="Georgia"/>
                <a:cs typeface="Georgia"/>
              </a:rPr>
              <a:t>address</a:t>
            </a:r>
            <a:r>
              <a:rPr sz="3600" spc="-30" dirty="0">
                <a:solidFill>
                  <a:srgbClr val="2E377E"/>
                </a:solidFill>
                <a:latin typeface="Georgia"/>
                <a:cs typeface="Georgia"/>
              </a:rPr>
              <a:t> </a:t>
            </a:r>
            <a:r>
              <a:rPr sz="3600" dirty="0">
                <a:solidFill>
                  <a:srgbClr val="2E377E"/>
                </a:solidFill>
                <a:latin typeface="Georgia"/>
                <a:cs typeface="Georgia"/>
              </a:rPr>
              <a:t>and</a:t>
            </a:r>
            <a:r>
              <a:rPr sz="3600" spc="-30" dirty="0">
                <a:solidFill>
                  <a:srgbClr val="2E377E"/>
                </a:solidFill>
                <a:latin typeface="Georgia"/>
                <a:cs typeface="Georgia"/>
              </a:rPr>
              <a:t> </a:t>
            </a:r>
            <a:r>
              <a:rPr sz="3600" spc="-65" dirty="0">
                <a:solidFill>
                  <a:srgbClr val="2E377E"/>
                </a:solidFill>
                <a:latin typeface="Georgia"/>
                <a:cs typeface="Georgia"/>
              </a:rPr>
              <a:t>DNS</a:t>
            </a:r>
            <a:r>
              <a:rPr sz="3600" spc="-30" dirty="0">
                <a:solidFill>
                  <a:srgbClr val="2E377E"/>
                </a:solidFill>
                <a:latin typeface="Georgia"/>
                <a:cs typeface="Georgia"/>
              </a:rPr>
              <a:t> </a:t>
            </a:r>
            <a:r>
              <a:rPr sz="3600" dirty="0">
                <a:solidFill>
                  <a:srgbClr val="2E377E"/>
                </a:solidFill>
                <a:latin typeface="Georgia"/>
                <a:cs typeface="Georgia"/>
              </a:rPr>
              <a:t>name</a:t>
            </a:r>
            <a:r>
              <a:rPr sz="3600" spc="-35" dirty="0">
                <a:solidFill>
                  <a:srgbClr val="2E377E"/>
                </a:solidFill>
                <a:latin typeface="Georgia"/>
                <a:cs typeface="Georgia"/>
              </a:rPr>
              <a:t> </a:t>
            </a:r>
            <a:r>
              <a:rPr sz="3600" spc="-25" dirty="0">
                <a:solidFill>
                  <a:srgbClr val="2E377E"/>
                </a:solidFill>
                <a:latin typeface="Georgia"/>
                <a:cs typeface="Georgia"/>
              </a:rPr>
              <a:t>for </a:t>
            </a:r>
            <a:r>
              <a:rPr sz="3600" dirty="0">
                <a:solidFill>
                  <a:srgbClr val="2E377E"/>
                </a:solidFill>
                <a:latin typeface="Georgia"/>
                <a:cs typeface="Georgia"/>
              </a:rPr>
              <a:t>pods</a:t>
            </a:r>
            <a:r>
              <a:rPr sz="3600" spc="-10" dirty="0">
                <a:solidFill>
                  <a:srgbClr val="2E377E"/>
                </a:solidFill>
                <a:latin typeface="Georgia"/>
                <a:cs typeface="Georgia"/>
              </a:rPr>
              <a:t> </a:t>
            </a:r>
            <a:r>
              <a:rPr sz="3600" spc="60" dirty="0">
                <a:solidFill>
                  <a:srgbClr val="2E377E"/>
                </a:solidFill>
                <a:latin typeface="Georgia"/>
                <a:cs typeface="Georgia"/>
              </a:rPr>
              <a:t>within</a:t>
            </a:r>
            <a:r>
              <a:rPr sz="3600" spc="-10" dirty="0">
                <a:solidFill>
                  <a:srgbClr val="2E377E"/>
                </a:solidFill>
                <a:latin typeface="Georgia"/>
                <a:cs typeface="Georgia"/>
              </a:rPr>
              <a:t> </a:t>
            </a:r>
            <a:r>
              <a:rPr sz="3600" dirty="0">
                <a:solidFill>
                  <a:srgbClr val="2E377E"/>
                </a:solidFill>
                <a:latin typeface="Georgia"/>
                <a:cs typeface="Georgia"/>
              </a:rPr>
              <a:t>a</a:t>
            </a:r>
            <a:r>
              <a:rPr sz="3600" spc="-10" dirty="0">
                <a:solidFill>
                  <a:srgbClr val="2E377E"/>
                </a:solidFill>
                <a:latin typeface="Georgia"/>
                <a:cs typeface="Georgia"/>
              </a:rPr>
              <a:t> </a:t>
            </a:r>
            <a:r>
              <a:rPr sz="3600" dirty="0">
                <a:solidFill>
                  <a:srgbClr val="2E377E"/>
                </a:solidFill>
                <a:latin typeface="Georgia"/>
                <a:cs typeface="Georgia"/>
              </a:rPr>
              <a:t>cluster.</a:t>
            </a:r>
            <a:r>
              <a:rPr sz="3600" spc="-10"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a:t>
            </a:r>
            <a:r>
              <a:rPr sz="3600" spc="100" dirty="0">
                <a:solidFill>
                  <a:srgbClr val="2E377E"/>
                </a:solidFill>
                <a:latin typeface="Georgia"/>
                <a:cs typeface="Georgia"/>
              </a:rPr>
              <a:t>type</a:t>
            </a:r>
            <a:r>
              <a:rPr sz="3600" spc="-5" dirty="0">
                <a:solidFill>
                  <a:srgbClr val="2E377E"/>
                </a:solidFill>
                <a:latin typeface="Georgia"/>
                <a:cs typeface="Georgia"/>
              </a:rPr>
              <a:t> </a:t>
            </a:r>
            <a:r>
              <a:rPr sz="3600" dirty="0">
                <a:solidFill>
                  <a:srgbClr val="2E377E"/>
                </a:solidFill>
                <a:latin typeface="Georgia"/>
                <a:cs typeface="Georgia"/>
              </a:rPr>
              <a:t>of</a:t>
            </a:r>
            <a:r>
              <a:rPr sz="3600" spc="-10" dirty="0">
                <a:solidFill>
                  <a:srgbClr val="2E377E"/>
                </a:solidFill>
                <a:latin typeface="Georgia"/>
                <a:cs typeface="Georgia"/>
              </a:rPr>
              <a:t> </a:t>
            </a:r>
            <a:r>
              <a:rPr sz="3600" spc="65" dirty="0">
                <a:solidFill>
                  <a:srgbClr val="2E377E"/>
                </a:solidFill>
                <a:latin typeface="Georgia"/>
                <a:cs typeface="Georgia"/>
              </a:rPr>
              <a:t>service</a:t>
            </a:r>
            <a:r>
              <a:rPr sz="3600" spc="-10" dirty="0">
                <a:solidFill>
                  <a:srgbClr val="2E377E"/>
                </a:solidFill>
                <a:latin typeface="Georgia"/>
                <a:cs typeface="Georgia"/>
              </a:rPr>
              <a:t> </a:t>
            </a:r>
            <a:r>
              <a:rPr sz="3600" dirty="0">
                <a:solidFill>
                  <a:srgbClr val="2E377E"/>
                </a:solidFill>
                <a:latin typeface="Georgia"/>
                <a:cs typeface="Georgia"/>
              </a:rPr>
              <a:t>is</a:t>
            </a:r>
            <a:r>
              <a:rPr sz="3600" spc="-10" dirty="0">
                <a:solidFill>
                  <a:srgbClr val="2E377E"/>
                </a:solidFill>
                <a:latin typeface="Georgia"/>
                <a:cs typeface="Georgia"/>
              </a:rPr>
              <a:t> </a:t>
            </a:r>
            <a:r>
              <a:rPr sz="3600" spc="55" dirty="0">
                <a:solidFill>
                  <a:srgbClr val="2E377E"/>
                </a:solidFill>
                <a:latin typeface="Georgia"/>
                <a:cs typeface="Georgia"/>
              </a:rPr>
              <a:t>only</a:t>
            </a:r>
            <a:r>
              <a:rPr sz="3600" spc="-10" dirty="0">
                <a:solidFill>
                  <a:srgbClr val="2E377E"/>
                </a:solidFill>
                <a:latin typeface="Georgia"/>
                <a:cs typeface="Georgia"/>
              </a:rPr>
              <a:t> </a:t>
            </a:r>
            <a:r>
              <a:rPr sz="3600" dirty="0">
                <a:solidFill>
                  <a:srgbClr val="2E377E"/>
                </a:solidFill>
                <a:latin typeface="Georgia"/>
                <a:cs typeface="Georgia"/>
              </a:rPr>
              <a:t>accessible</a:t>
            </a:r>
            <a:r>
              <a:rPr sz="3600" spc="-10" dirty="0">
                <a:solidFill>
                  <a:srgbClr val="2E377E"/>
                </a:solidFill>
                <a:latin typeface="Georgia"/>
                <a:cs typeface="Georgia"/>
              </a:rPr>
              <a:t> </a:t>
            </a:r>
            <a:r>
              <a:rPr sz="3600" spc="60" dirty="0">
                <a:solidFill>
                  <a:srgbClr val="2E377E"/>
                </a:solidFill>
                <a:latin typeface="Georgia"/>
                <a:cs typeface="Georgia"/>
              </a:rPr>
              <a:t>within</a:t>
            </a:r>
            <a:r>
              <a:rPr sz="3600" spc="-5"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spc="45" dirty="0">
                <a:solidFill>
                  <a:srgbClr val="2E377E"/>
                </a:solidFill>
                <a:latin typeface="Georgia"/>
                <a:cs typeface="Georgia"/>
              </a:rPr>
              <a:t>cluster </a:t>
            </a:r>
            <a:r>
              <a:rPr sz="3600" dirty="0">
                <a:solidFill>
                  <a:srgbClr val="2E377E"/>
                </a:solidFill>
                <a:latin typeface="Georgia"/>
                <a:cs typeface="Georgia"/>
              </a:rPr>
              <a:t>and</a:t>
            </a:r>
            <a:r>
              <a:rPr sz="3600" spc="-50" dirty="0">
                <a:solidFill>
                  <a:srgbClr val="2E377E"/>
                </a:solidFill>
                <a:latin typeface="Georgia"/>
                <a:cs typeface="Georgia"/>
              </a:rPr>
              <a:t> </a:t>
            </a:r>
            <a:r>
              <a:rPr sz="3600" dirty="0">
                <a:solidFill>
                  <a:srgbClr val="2E377E"/>
                </a:solidFill>
                <a:latin typeface="Georgia"/>
                <a:cs typeface="Georgia"/>
              </a:rPr>
              <a:t>is</a:t>
            </a:r>
            <a:r>
              <a:rPr sz="3600" spc="-50" dirty="0">
                <a:solidFill>
                  <a:srgbClr val="2E377E"/>
                </a:solidFill>
                <a:latin typeface="Georgia"/>
                <a:cs typeface="Georgia"/>
              </a:rPr>
              <a:t> </a:t>
            </a:r>
            <a:r>
              <a:rPr sz="3600" spc="50" dirty="0">
                <a:solidFill>
                  <a:srgbClr val="2E377E"/>
                </a:solidFill>
                <a:latin typeface="Georgia"/>
                <a:cs typeface="Georgia"/>
              </a:rPr>
              <a:t>not</a:t>
            </a:r>
            <a:r>
              <a:rPr sz="3600" spc="-45" dirty="0">
                <a:solidFill>
                  <a:srgbClr val="2E377E"/>
                </a:solidFill>
                <a:latin typeface="Georgia"/>
                <a:cs typeface="Georgia"/>
              </a:rPr>
              <a:t> </a:t>
            </a:r>
            <a:r>
              <a:rPr sz="3600" spc="50" dirty="0">
                <a:solidFill>
                  <a:srgbClr val="2E377E"/>
                </a:solidFill>
                <a:latin typeface="Georgia"/>
                <a:cs typeface="Georgia"/>
              </a:rPr>
              <a:t>exposed</a:t>
            </a:r>
            <a:r>
              <a:rPr sz="3600" spc="-50" dirty="0">
                <a:solidFill>
                  <a:srgbClr val="2E377E"/>
                </a:solidFill>
                <a:latin typeface="Georgia"/>
                <a:cs typeface="Georgia"/>
              </a:rPr>
              <a:t> </a:t>
            </a:r>
            <a:r>
              <a:rPr sz="3600" spc="-10" dirty="0">
                <a:solidFill>
                  <a:srgbClr val="2E377E"/>
                </a:solidFill>
                <a:latin typeface="Georgia"/>
                <a:cs typeface="Georgia"/>
              </a:rPr>
              <a:t>externally.</a:t>
            </a:r>
            <a:endParaRPr sz="3600">
              <a:latin typeface="Georgia"/>
              <a:cs typeface="Georgia"/>
            </a:endParaRPr>
          </a:p>
          <a:p>
            <a:pPr marL="12700" marR="88265">
              <a:lnSpc>
                <a:spcPct val="116300"/>
              </a:lnSpc>
            </a:pPr>
            <a:r>
              <a:rPr sz="3600" spc="160" dirty="0">
                <a:solidFill>
                  <a:srgbClr val="2E377E"/>
                </a:solidFill>
                <a:latin typeface="Times New Roman"/>
                <a:cs typeface="Times New Roman"/>
              </a:rPr>
              <a:t>NodePort</a:t>
            </a:r>
            <a:r>
              <a:rPr sz="3600" spc="160" dirty="0">
                <a:solidFill>
                  <a:srgbClr val="2E377E"/>
                </a:solidFill>
                <a:latin typeface="Georgia"/>
                <a:cs typeface="Georgia"/>
              </a:rPr>
              <a:t>:</a:t>
            </a:r>
            <a:r>
              <a:rPr sz="3600" spc="-60" dirty="0">
                <a:solidFill>
                  <a:srgbClr val="2E377E"/>
                </a:solidFill>
                <a:latin typeface="Georgia"/>
                <a:cs typeface="Georgia"/>
              </a:rPr>
              <a:t> </a:t>
            </a:r>
            <a:r>
              <a:rPr sz="3600" dirty="0">
                <a:solidFill>
                  <a:srgbClr val="2E377E"/>
                </a:solidFill>
                <a:latin typeface="Georgia"/>
                <a:cs typeface="Georgia"/>
              </a:rPr>
              <a:t>A</a:t>
            </a:r>
            <a:r>
              <a:rPr sz="3600" spc="-55" dirty="0">
                <a:solidFill>
                  <a:srgbClr val="2E377E"/>
                </a:solidFill>
                <a:latin typeface="Georgia"/>
                <a:cs typeface="Georgia"/>
              </a:rPr>
              <a:t> </a:t>
            </a:r>
            <a:r>
              <a:rPr sz="3600" dirty="0">
                <a:solidFill>
                  <a:srgbClr val="2E377E"/>
                </a:solidFill>
                <a:latin typeface="Georgia"/>
                <a:cs typeface="Georgia"/>
              </a:rPr>
              <a:t>NodePort</a:t>
            </a:r>
            <a:r>
              <a:rPr sz="3600" spc="-60" dirty="0">
                <a:solidFill>
                  <a:srgbClr val="2E377E"/>
                </a:solidFill>
                <a:latin typeface="Georgia"/>
                <a:cs typeface="Georgia"/>
              </a:rPr>
              <a:t> </a:t>
            </a:r>
            <a:r>
              <a:rPr sz="3600" spc="65" dirty="0">
                <a:solidFill>
                  <a:srgbClr val="2E377E"/>
                </a:solidFill>
                <a:latin typeface="Georgia"/>
                <a:cs typeface="Georgia"/>
              </a:rPr>
              <a:t>service</a:t>
            </a:r>
            <a:r>
              <a:rPr sz="3600" spc="-55" dirty="0">
                <a:solidFill>
                  <a:srgbClr val="2E377E"/>
                </a:solidFill>
                <a:latin typeface="Georgia"/>
                <a:cs typeface="Georgia"/>
              </a:rPr>
              <a:t> </a:t>
            </a:r>
            <a:r>
              <a:rPr sz="3600" spc="45" dirty="0">
                <a:solidFill>
                  <a:srgbClr val="2E377E"/>
                </a:solidFill>
                <a:latin typeface="Georgia"/>
                <a:cs typeface="Georgia"/>
              </a:rPr>
              <a:t>provides</a:t>
            </a:r>
            <a:r>
              <a:rPr sz="3600" spc="-60" dirty="0">
                <a:solidFill>
                  <a:srgbClr val="2E377E"/>
                </a:solidFill>
                <a:latin typeface="Georgia"/>
                <a:cs typeface="Georgia"/>
              </a:rPr>
              <a:t> </a:t>
            </a:r>
            <a:r>
              <a:rPr sz="3600" dirty="0">
                <a:solidFill>
                  <a:srgbClr val="2E377E"/>
                </a:solidFill>
                <a:latin typeface="Georgia"/>
                <a:cs typeface="Georgia"/>
              </a:rPr>
              <a:t>a</a:t>
            </a:r>
            <a:r>
              <a:rPr sz="3600" spc="-55" dirty="0">
                <a:solidFill>
                  <a:srgbClr val="2E377E"/>
                </a:solidFill>
                <a:latin typeface="Georgia"/>
                <a:cs typeface="Georgia"/>
              </a:rPr>
              <a:t> </a:t>
            </a:r>
            <a:r>
              <a:rPr sz="3600" spc="125" dirty="0">
                <a:solidFill>
                  <a:srgbClr val="2E377E"/>
                </a:solidFill>
                <a:latin typeface="Georgia"/>
                <a:cs typeface="Georgia"/>
              </a:rPr>
              <a:t>way</a:t>
            </a:r>
            <a:r>
              <a:rPr sz="3600" spc="-60" dirty="0">
                <a:solidFill>
                  <a:srgbClr val="2E377E"/>
                </a:solidFill>
                <a:latin typeface="Georgia"/>
                <a:cs typeface="Georgia"/>
              </a:rPr>
              <a:t> </a:t>
            </a:r>
            <a:r>
              <a:rPr sz="3600" spc="70" dirty="0">
                <a:solidFill>
                  <a:srgbClr val="2E377E"/>
                </a:solidFill>
                <a:latin typeface="Georgia"/>
                <a:cs typeface="Georgia"/>
              </a:rPr>
              <a:t>to</a:t>
            </a:r>
            <a:r>
              <a:rPr sz="3600" spc="-55" dirty="0">
                <a:solidFill>
                  <a:srgbClr val="2E377E"/>
                </a:solidFill>
                <a:latin typeface="Georgia"/>
                <a:cs typeface="Georgia"/>
              </a:rPr>
              <a:t> </a:t>
            </a:r>
            <a:r>
              <a:rPr sz="3600" spc="55" dirty="0">
                <a:solidFill>
                  <a:srgbClr val="2E377E"/>
                </a:solidFill>
                <a:latin typeface="Georgia"/>
                <a:cs typeface="Georgia"/>
              </a:rPr>
              <a:t>expose</a:t>
            </a:r>
            <a:r>
              <a:rPr sz="3600" spc="-55" dirty="0">
                <a:solidFill>
                  <a:srgbClr val="2E377E"/>
                </a:solidFill>
                <a:latin typeface="Georgia"/>
                <a:cs typeface="Georgia"/>
              </a:rPr>
              <a:t> </a:t>
            </a:r>
            <a:r>
              <a:rPr sz="3600" dirty="0">
                <a:solidFill>
                  <a:srgbClr val="2E377E"/>
                </a:solidFill>
                <a:latin typeface="Georgia"/>
                <a:cs typeface="Georgia"/>
              </a:rPr>
              <a:t>a</a:t>
            </a:r>
            <a:r>
              <a:rPr sz="3600" spc="-60" dirty="0">
                <a:solidFill>
                  <a:srgbClr val="2E377E"/>
                </a:solidFill>
                <a:latin typeface="Georgia"/>
                <a:cs typeface="Georgia"/>
              </a:rPr>
              <a:t> </a:t>
            </a:r>
            <a:r>
              <a:rPr sz="3600" spc="65" dirty="0">
                <a:solidFill>
                  <a:srgbClr val="2E377E"/>
                </a:solidFill>
                <a:latin typeface="Georgia"/>
                <a:cs typeface="Georgia"/>
              </a:rPr>
              <a:t>service</a:t>
            </a:r>
            <a:r>
              <a:rPr sz="3600" spc="-55" dirty="0">
                <a:solidFill>
                  <a:srgbClr val="2E377E"/>
                </a:solidFill>
                <a:latin typeface="Georgia"/>
                <a:cs typeface="Georgia"/>
              </a:rPr>
              <a:t> </a:t>
            </a:r>
            <a:r>
              <a:rPr sz="3600" dirty="0">
                <a:solidFill>
                  <a:srgbClr val="2E377E"/>
                </a:solidFill>
                <a:latin typeface="Georgia"/>
                <a:cs typeface="Georgia"/>
              </a:rPr>
              <a:t>on</a:t>
            </a:r>
            <a:r>
              <a:rPr sz="3600" spc="-60" dirty="0">
                <a:solidFill>
                  <a:srgbClr val="2E377E"/>
                </a:solidFill>
                <a:latin typeface="Georgia"/>
                <a:cs typeface="Georgia"/>
              </a:rPr>
              <a:t> </a:t>
            </a:r>
            <a:r>
              <a:rPr sz="3600" dirty="0">
                <a:solidFill>
                  <a:srgbClr val="2E377E"/>
                </a:solidFill>
                <a:latin typeface="Georgia"/>
                <a:cs typeface="Georgia"/>
              </a:rPr>
              <a:t>a</a:t>
            </a:r>
            <a:r>
              <a:rPr sz="3600" spc="-55" dirty="0">
                <a:solidFill>
                  <a:srgbClr val="2E377E"/>
                </a:solidFill>
                <a:latin typeface="Georgia"/>
                <a:cs typeface="Georgia"/>
              </a:rPr>
              <a:t> </a:t>
            </a:r>
            <a:r>
              <a:rPr sz="3600" spc="45" dirty="0">
                <a:solidFill>
                  <a:srgbClr val="2E377E"/>
                </a:solidFill>
                <a:latin typeface="Georgia"/>
                <a:cs typeface="Georgia"/>
              </a:rPr>
              <a:t>static </a:t>
            </a:r>
            <a:r>
              <a:rPr sz="3600" spc="50" dirty="0">
                <a:solidFill>
                  <a:srgbClr val="2E377E"/>
                </a:solidFill>
                <a:latin typeface="Georgia"/>
                <a:cs typeface="Georgia"/>
              </a:rPr>
              <a:t>port</a:t>
            </a:r>
            <a:r>
              <a:rPr sz="3600" spc="10" dirty="0">
                <a:solidFill>
                  <a:srgbClr val="2E377E"/>
                </a:solidFill>
                <a:latin typeface="Georgia"/>
                <a:cs typeface="Georgia"/>
              </a:rPr>
              <a:t> </a:t>
            </a:r>
            <a:r>
              <a:rPr sz="3600" dirty="0">
                <a:solidFill>
                  <a:srgbClr val="2E377E"/>
                </a:solidFill>
                <a:latin typeface="Georgia"/>
                <a:cs typeface="Georgia"/>
              </a:rPr>
              <a:t>on</a:t>
            </a:r>
            <a:r>
              <a:rPr sz="3600" spc="10" dirty="0">
                <a:solidFill>
                  <a:srgbClr val="2E377E"/>
                </a:solidFill>
                <a:latin typeface="Georgia"/>
                <a:cs typeface="Georgia"/>
              </a:rPr>
              <a:t> </a:t>
            </a:r>
            <a:r>
              <a:rPr sz="3600" dirty="0">
                <a:solidFill>
                  <a:srgbClr val="2E377E"/>
                </a:solidFill>
                <a:latin typeface="Georgia"/>
                <a:cs typeface="Georgia"/>
              </a:rPr>
              <a:t>each</a:t>
            </a:r>
            <a:r>
              <a:rPr sz="3600" spc="10" dirty="0">
                <a:solidFill>
                  <a:srgbClr val="2E377E"/>
                </a:solidFill>
                <a:latin typeface="Georgia"/>
                <a:cs typeface="Georgia"/>
              </a:rPr>
              <a:t> </a:t>
            </a:r>
            <a:r>
              <a:rPr sz="3600" dirty="0">
                <a:solidFill>
                  <a:srgbClr val="2E377E"/>
                </a:solidFill>
                <a:latin typeface="Georgia"/>
                <a:cs typeface="Georgia"/>
              </a:rPr>
              <a:t>node</a:t>
            </a:r>
            <a:r>
              <a:rPr sz="3600" spc="10"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cluster.</a:t>
            </a:r>
            <a:r>
              <a:rPr sz="3600" spc="10"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a:t>
            </a:r>
            <a:r>
              <a:rPr sz="3600" spc="100" dirty="0">
                <a:solidFill>
                  <a:srgbClr val="2E377E"/>
                </a:solidFill>
                <a:latin typeface="Georgia"/>
                <a:cs typeface="Georgia"/>
              </a:rPr>
              <a:t>type</a:t>
            </a:r>
            <a:r>
              <a:rPr sz="3600" spc="15" dirty="0">
                <a:solidFill>
                  <a:srgbClr val="2E377E"/>
                </a:solidFill>
                <a:latin typeface="Georgia"/>
                <a:cs typeface="Georgia"/>
              </a:rPr>
              <a:t> </a:t>
            </a:r>
            <a:r>
              <a:rPr sz="3600" dirty="0">
                <a:solidFill>
                  <a:srgbClr val="2E377E"/>
                </a:solidFill>
                <a:latin typeface="Georgia"/>
                <a:cs typeface="Georgia"/>
              </a:rPr>
              <a:t>of</a:t>
            </a:r>
            <a:r>
              <a:rPr sz="3600" spc="10" dirty="0">
                <a:solidFill>
                  <a:srgbClr val="2E377E"/>
                </a:solidFill>
                <a:latin typeface="Georgia"/>
                <a:cs typeface="Georgia"/>
              </a:rPr>
              <a:t> </a:t>
            </a:r>
            <a:r>
              <a:rPr sz="3600" spc="65" dirty="0">
                <a:solidFill>
                  <a:srgbClr val="2E377E"/>
                </a:solidFill>
                <a:latin typeface="Georgia"/>
                <a:cs typeface="Georgia"/>
              </a:rPr>
              <a:t>service</a:t>
            </a:r>
            <a:r>
              <a:rPr sz="3600" spc="10" dirty="0">
                <a:solidFill>
                  <a:srgbClr val="2E377E"/>
                </a:solidFill>
                <a:latin typeface="Georgia"/>
                <a:cs typeface="Georgia"/>
              </a:rPr>
              <a:t> </a:t>
            </a:r>
            <a:r>
              <a:rPr sz="3600" dirty="0">
                <a:solidFill>
                  <a:srgbClr val="2E377E"/>
                </a:solidFill>
                <a:latin typeface="Georgia"/>
                <a:cs typeface="Georgia"/>
              </a:rPr>
              <a:t>is</a:t>
            </a:r>
            <a:r>
              <a:rPr sz="3600" spc="10" dirty="0">
                <a:solidFill>
                  <a:srgbClr val="2E377E"/>
                </a:solidFill>
                <a:latin typeface="Georgia"/>
                <a:cs typeface="Georgia"/>
              </a:rPr>
              <a:t> </a:t>
            </a:r>
            <a:r>
              <a:rPr sz="3600" dirty="0">
                <a:solidFill>
                  <a:srgbClr val="2E377E"/>
                </a:solidFill>
                <a:latin typeface="Georgia"/>
                <a:cs typeface="Georgia"/>
              </a:rPr>
              <a:t>accessible</a:t>
            </a:r>
            <a:r>
              <a:rPr sz="3600" spc="15" dirty="0">
                <a:solidFill>
                  <a:srgbClr val="2E377E"/>
                </a:solidFill>
                <a:latin typeface="Georgia"/>
                <a:cs typeface="Georgia"/>
              </a:rPr>
              <a:t> </a:t>
            </a:r>
            <a:r>
              <a:rPr sz="3600" dirty="0">
                <a:solidFill>
                  <a:srgbClr val="2E377E"/>
                </a:solidFill>
                <a:latin typeface="Georgia"/>
                <a:cs typeface="Georgia"/>
              </a:rPr>
              <a:t>both</a:t>
            </a:r>
            <a:r>
              <a:rPr sz="3600" spc="10" dirty="0">
                <a:solidFill>
                  <a:srgbClr val="2E377E"/>
                </a:solidFill>
                <a:latin typeface="Georgia"/>
                <a:cs typeface="Georgia"/>
              </a:rPr>
              <a:t> </a:t>
            </a:r>
            <a:r>
              <a:rPr sz="3600" spc="50" dirty="0">
                <a:solidFill>
                  <a:srgbClr val="2E377E"/>
                </a:solidFill>
                <a:latin typeface="Georgia"/>
                <a:cs typeface="Georgia"/>
              </a:rPr>
              <a:t>within </a:t>
            </a:r>
            <a:r>
              <a:rPr sz="3600" spc="60" dirty="0">
                <a:solidFill>
                  <a:srgbClr val="2E377E"/>
                </a:solidFill>
                <a:latin typeface="Georgia"/>
                <a:cs typeface="Georgia"/>
              </a:rPr>
              <a:t>the</a:t>
            </a:r>
            <a:r>
              <a:rPr sz="3600" spc="-40" dirty="0">
                <a:solidFill>
                  <a:srgbClr val="2E377E"/>
                </a:solidFill>
                <a:latin typeface="Georgia"/>
                <a:cs typeface="Georgia"/>
              </a:rPr>
              <a:t> </a:t>
            </a:r>
            <a:r>
              <a:rPr sz="3600" spc="55" dirty="0">
                <a:solidFill>
                  <a:srgbClr val="2E377E"/>
                </a:solidFill>
                <a:latin typeface="Georgia"/>
                <a:cs typeface="Georgia"/>
              </a:rPr>
              <a:t>cluster</a:t>
            </a:r>
            <a:r>
              <a:rPr sz="3600" spc="-35" dirty="0">
                <a:solidFill>
                  <a:srgbClr val="2E377E"/>
                </a:solidFill>
                <a:latin typeface="Georgia"/>
                <a:cs typeface="Georgia"/>
              </a:rPr>
              <a:t> </a:t>
            </a:r>
            <a:r>
              <a:rPr sz="3600" dirty="0">
                <a:solidFill>
                  <a:srgbClr val="2E377E"/>
                </a:solidFill>
                <a:latin typeface="Georgia"/>
                <a:cs typeface="Georgia"/>
              </a:rPr>
              <a:t>and</a:t>
            </a:r>
            <a:r>
              <a:rPr sz="3600" spc="-35" dirty="0">
                <a:solidFill>
                  <a:srgbClr val="2E377E"/>
                </a:solidFill>
                <a:latin typeface="Georgia"/>
                <a:cs typeface="Georgia"/>
              </a:rPr>
              <a:t> </a:t>
            </a:r>
            <a:r>
              <a:rPr sz="3600" spc="45" dirty="0">
                <a:solidFill>
                  <a:srgbClr val="2E377E"/>
                </a:solidFill>
                <a:latin typeface="Georgia"/>
                <a:cs typeface="Georgia"/>
              </a:rPr>
              <a:t>externally,</a:t>
            </a:r>
            <a:r>
              <a:rPr sz="3600" spc="-35" dirty="0">
                <a:solidFill>
                  <a:srgbClr val="2E377E"/>
                </a:solidFill>
                <a:latin typeface="Georgia"/>
                <a:cs typeface="Georgia"/>
              </a:rPr>
              <a:t> </a:t>
            </a:r>
            <a:r>
              <a:rPr sz="3600" dirty="0">
                <a:solidFill>
                  <a:srgbClr val="2E377E"/>
                </a:solidFill>
                <a:latin typeface="Georgia"/>
                <a:cs typeface="Georgia"/>
              </a:rPr>
              <a:t>using</a:t>
            </a:r>
            <a:r>
              <a:rPr sz="3600" spc="-35"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node's</a:t>
            </a:r>
            <a:r>
              <a:rPr sz="3600" spc="-35" dirty="0">
                <a:solidFill>
                  <a:srgbClr val="2E377E"/>
                </a:solidFill>
                <a:latin typeface="Georgia"/>
                <a:cs typeface="Georgia"/>
              </a:rPr>
              <a:t> </a:t>
            </a:r>
            <a:r>
              <a:rPr sz="3600" dirty="0">
                <a:solidFill>
                  <a:srgbClr val="2E377E"/>
                </a:solidFill>
                <a:latin typeface="Georgia"/>
                <a:cs typeface="Georgia"/>
              </a:rPr>
              <a:t>IP</a:t>
            </a:r>
            <a:r>
              <a:rPr sz="3600" spc="-35" dirty="0">
                <a:solidFill>
                  <a:srgbClr val="2E377E"/>
                </a:solidFill>
                <a:latin typeface="Georgia"/>
                <a:cs typeface="Georgia"/>
              </a:rPr>
              <a:t> </a:t>
            </a:r>
            <a:r>
              <a:rPr sz="3600" dirty="0">
                <a:solidFill>
                  <a:srgbClr val="2E377E"/>
                </a:solidFill>
                <a:latin typeface="Georgia"/>
                <a:cs typeface="Georgia"/>
              </a:rPr>
              <a:t>address</a:t>
            </a:r>
            <a:r>
              <a:rPr sz="3600" spc="-35" dirty="0">
                <a:solidFill>
                  <a:srgbClr val="2E377E"/>
                </a:solidFill>
                <a:latin typeface="Georgia"/>
                <a:cs typeface="Georgia"/>
              </a:rPr>
              <a:t> </a:t>
            </a:r>
            <a:r>
              <a:rPr sz="3600" dirty="0">
                <a:solidFill>
                  <a:srgbClr val="2E377E"/>
                </a:solidFill>
                <a:latin typeface="Georgia"/>
                <a:cs typeface="Georgia"/>
              </a:rPr>
              <a:t>and</a:t>
            </a:r>
            <a:r>
              <a:rPr sz="3600" spc="-35"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spc="-10" dirty="0">
                <a:solidFill>
                  <a:srgbClr val="2E377E"/>
                </a:solidFill>
                <a:latin typeface="Georgia"/>
                <a:cs typeface="Georgia"/>
              </a:rPr>
              <a:t>NodePort.</a:t>
            </a:r>
            <a:endParaRPr sz="3600">
              <a:latin typeface="Georgia"/>
              <a:cs typeface="Georgia"/>
            </a:endParaRPr>
          </a:p>
          <a:p>
            <a:pPr marL="12700" marR="963294">
              <a:lnSpc>
                <a:spcPct val="116300"/>
              </a:lnSpc>
            </a:pPr>
            <a:r>
              <a:rPr sz="3600" spc="110" dirty="0">
                <a:solidFill>
                  <a:srgbClr val="2E377E"/>
                </a:solidFill>
                <a:latin typeface="Times New Roman"/>
                <a:cs typeface="Times New Roman"/>
              </a:rPr>
              <a:t>LoadBalancer</a:t>
            </a:r>
            <a:r>
              <a:rPr sz="3600" spc="110" dirty="0">
                <a:solidFill>
                  <a:srgbClr val="2E377E"/>
                </a:solidFill>
                <a:latin typeface="Georgia"/>
                <a:cs typeface="Georgia"/>
              </a:rPr>
              <a:t>:</a:t>
            </a:r>
            <a:r>
              <a:rPr sz="3600" spc="-80" dirty="0">
                <a:solidFill>
                  <a:srgbClr val="2E377E"/>
                </a:solidFill>
                <a:latin typeface="Georgia"/>
                <a:cs typeface="Georgia"/>
              </a:rPr>
              <a:t> </a:t>
            </a:r>
            <a:r>
              <a:rPr sz="3600" dirty="0">
                <a:solidFill>
                  <a:srgbClr val="2E377E"/>
                </a:solidFill>
                <a:latin typeface="Georgia"/>
                <a:cs typeface="Georgia"/>
              </a:rPr>
              <a:t>A</a:t>
            </a:r>
            <a:r>
              <a:rPr sz="3600" spc="-80" dirty="0">
                <a:solidFill>
                  <a:srgbClr val="2E377E"/>
                </a:solidFill>
                <a:latin typeface="Georgia"/>
                <a:cs typeface="Georgia"/>
              </a:rPr>
              <a:t> </a:t>
            </a:r>
            <a:r>
              <a:rPr sz="3600" dirty="0">
                <a:solidFill>
                  <a:srgbClr val="2E377E"/>
                </a:solidFill>
                <a:latin typeface="Georgia"/>
                <a:cs typeface="Georgia"/>
              </a:rPr>
              <a:t>LoadBalancer</a:t>
            </a:r>
            <a:r>
              <a:rPr sz="3600" spc="-80" dirty="0">
                <a:solidFill>
                  <a:srgbClr val="2E377E"/>
                </a:solidFill>
                <a:latin typeface="Georgia"/>
                <a:cs typeface="Georgia"/>
              </a:rPr>
              <a:t> </a:t>
            </a:r>
            <a:r>
              <a:rPr sz="3600" spc="65" dirty="0">
                <a:solidFill>
                  <a:srgbClr val="2E377E"/>
                </a:solidFill>
                <a:latin typeface="Georgia"/>
                <a:cs typeface="Georgia"/>
              </a:rPr>
              <a:t>service</a:t>
            </a:r>
            <a:r>
              <a:rPr sz="3600" spc="-75" dirty="0">
                <a:solidFill>
                  <a:srgbClr val="2E377E"/>
                </a:solidFill>
                <a:latin typeface="Georgia"/>
                <a:cs typeface="Georgia"/>
              </a:rPr>
              <a:t> </a:t>
            </a:r>
            <a:r>
              <a:rPr sz="3600" spc="45" dirty="0">
                <a:solidFill>
                  <a:srgbClr val="2E377E"/>
                </a:solidFill>
                <a:latin typeface="Georgia"/>
                <a:cs typeface="Georgia"/>
              </a:rPr>
              <a:t>provides</a:t>
            </a:r>
            <a:r>
              <a:rPr sz="3600" spc="-80" dirty="0">
                <a:solidFill>
                  <a:srgbClr val="2E377E"/>
                </a:solidFill>
                <a:latin typeface="Georgia"/>
                <a:cs typeface="Georgia"/>
              </a:rPr>
              <a:t> </a:t>
            </a:r>
            <a:r>
              <a:rPr sz="3600" dirty="0">
                <a:solidFill>
                  <a:srgbClr val="2E377E"/>
                </a:solidFill>
                <a:latin typeface="Georgia"/>
                <a:cs typeface="Georgia"/>
              </a:rPr>
              <a:t>a</a:t>
            </a:r>
            <a:r>
              <a:rPr sz="3600" spc="-80" dirty="0">
                <a:solidFill>
                  <a:srgbClr val="2E377E"/>
                </a:solidFill>
                <a:latin typeface="Georgia"/>
                <a:cs typeface="Georgia"/>
              </a:rPr>
              <a:t> </a:t>
            </a:r>
            <a:r>
              <a:rPr sz="3600" spc="125" dirty="0">
                <a:solidFill>
                  <a:srgbClr val="2E377E"/>
                </a:solidFill>
                <a:latin typeface="Georgia"/>
                <a:cs typeface="Georgia"/>
              </a:rPr>
              <a:t>way</a:t>
            </a:r>
            <a:r>
              <a:rPr sz="3600" spc="-80" dirty="0">
                <a:solidFill>
                  <a:srgbClr val="2E377E"/>
                </a:solidFill>
                <a:latin typeface="Georgia"/>
                <a:cs typeface="Georgia"/>
              </a:rPr>
              <a:t> </a:t>
            </a:r>
            <a:r>
              <a:rPr sz="3600" spc="70" dirty="0">
                <a:solidFill>
                  <a:srgbClr val="2E377E"/>
                </a:solidFill>
                <a:latin typeface="Georgia"/>
                <a:cs typeface="Georgia"/>
              </a:rPr>
              <a:t>to</a:t>
            </a:r>
            <a:r>
              <a:rPr sz="3600" spc="-75" dirty="0">
                <a:solidFill>
                  <a:srgbClr val="2E377E"/>
                </a:solidFill>
                <a:latin typeface="Georgia"/>
                <a:cs typeface="Georgia"/>
              </a:rPr>
              <a:t> </a:t>
            </a:r>
            <a:r>
              <a:rPr sz="3600" spc="55" dirty="0">
                <a:solidFill>
                  <a:srgbClr val="2E377E"/>
                </a:solidFill>
                <a:latin typeface="Georgia"/>
                <a:cs typeface="Georgia"/>
              </a:rPr>
              <a:t>expose</a:t>
            </a:r>
            <a:r>
              <a:rPr sz="3600" spc="-80" dirty="0">
                <a:solidFill>
                  <a:srgbClr val="2E377E"/>
                </a:solidFill>
                <a:latin typeface="Georgia"/>
                <a:cs typeface="Georgia"/>
              </a:rPr>
              <a:t> </a:t>
            </a:r>
            <a:r>
              <a:rPr sz="3600" dirty="0">
                <a:solidFill>
                  <a:srgbClr val="2E377E"/>
                </a:solidFill>
                <a:latin typeface="Georgia"/>
                <a:cs typeface="Georgia"/>
              </a:rPr>
              <a:t>a</a:t>
            </a:r>
            <a:r>
              <a:rPr sz="3600" spc="-80" dirty="0">
                <a:solidFill>
                  <a:srgbClr val="2E377E"/>
                </a:solidFill>
                <a:latin typeface="Georgia"/>
                <a:cs typeface="Georgia"/>
              </a:rPr>
              <a:t> </a:t>
            </a:r>
            <a:r>
              <a:rPr sz="3600" spc="55" dirty="0">
                <a:solidFill>
                  <a:srgbClr val="2E377E"/>
                </a:solidFill>
                <a:latin typeface="Georgia"/>
                <a:cs typeface="Georgia"/>
              </a:rPr>
              <a:t>service </a:t>
            </a:r>
            <a:r>
              <a:rPr sz="3600" spc="45" dirty="0">
                <a:solidFill>
                  <a:srgbClr val="2E377E"/>
                </a:solidFill>
                <a:latin typeface="Georgia"/>
                <a:cs typeface="Georgia"/>
              </a:rPr>
              <a:t>externally,</a:t>
            </a:r>
            <a:r>
              <a:rPr sz="3600" spc="-5" dirty="0">
                <a:solidFill>
                  <a:srgbClr val="2E377E"/>
                </a:solidFill>
                <a:latin typeface="Georgia"/>
                <a:cs typeface="Georgia"/>
              </a:rPr>
              <a:t> </a:t>
            </a:r>
            <a:r>
              <a:rPr sz="3600" dirty="0">
                <a:solidFill>
                  <a:srgbClr val="2E377E"/>
                </a:solidFill>
                <a:latin typeface="Georgia"/>
                <a:cs typeface="Georgia"/>
              </a:rPr>
              <a:t>using</a:t>
            </a:r>
            <a:r>
              <a:rPr sz="3600" spc="-5" dirty="0">
                <a:solidFill>
                  <a:srgbClr val="2E377E"/>
                </a:solidFill>
                <a:latin typeface="Georgia"/>
                <a:cs typeface="Georgia"/>
              </a:rPr>
              <a:t> </a:t>
            </a:r>
            <a:r>
              <a:rPr sz="3600" dirty="0">
                <a:solidFill>
                  <a:srgbClr val="2E377E"/>
                </a:solidFill>
                <a:latin typeface="Georgia"/>
                <a:cs typeface="Georgia"/>
              </a:rPr>
              <a:t>a</a:t>
            </a:r>
            <a:r>
              <a:rPr sz="3600" spc="-5" dirty="0">
                <a:solidFill>
                  <a:srgbClr val="2E377E"/>
                </a:solidFill>
                <a:latin typeface="Georgia"/>
                <a:cs typeface="Georgia"/>
              </a:rPr>
              <a:t> </a:t>
            </a:r>
            <a:r>
              <a:rPr sz="3600" dirty="0">
                <a:solidFill>
                  <a:srgbClr val="2E377E"/>
                </a:solidFill>
                <a:latin typeface="Georgia"/>
                <a:cs typeface="Georgia"/>
              </a:rPr>
              <a:t>cloud provider's</a:t>
            </a:r>
            <a:r>
              <a:rPr sz="3600" spc="-5" dirty="0">
                <a:solidFill>
                  <a:srgbClr val="2E377E"/>
                </a:solidFill>
                <a:latin typeface="Georgia"/>
                <a:cs typeface="Georgia"/>
              </a:rPr>
              <a:t> </a:t>
            </a:r>
            <a:r>
              <a:rPr sz="3600" dirty="0">
                <a:solidFill>
                  <a:srgbClr val="2E377E"/>
                </a:solidFill>
                <a:latin typeface="Georgia"/>
                <a:cs typeface="Georgia"/>
              </a:rPr>
              <a:t>load</a:t>
            </a:r>
            <a:r>
              <a:rPr sz="3600" spc="-5" dirty="0">
                <a:solidFill>
                  <a:srgbClr val="2E377E"/>
                </a:solidFill>
                <a:latin typeface="Georgia"/>
                <a:cs typeface="Georgia"/>
              </a:rPr>
              <a:t> </a:t>
            </a:r>
            <a:r>
              <a:rPr sz="3600" dirty="0">
                <a:solidFill>
                  <a:srgbClr val="2E377E"/>
                </a:solidFill>
                <a:latin typeface="Georgia"/>
                <a:cs typeface="Georgia"/>
              </a:rPr>
              <a:t>balancer.</a:t>
            </a:r>
            <a:r>
              <a:rPr sz="3600" spc="-5" dirty="0">
                <a:solidFill>
                  <a:srgbClr val="2E377E"/>
                </a:solidFill>
                <a:latin typeface="Georgia"/>
                <a:cs typeface="Georgia"/>
              </a:rPr>
              <a:t> </a:t>
            </a:r>
            <a:r>
              <a:rPr sz="3600" dirty="0">
                <a:solidFill>
                  <a:srgbClr val="2E377E"/>
                </a:solidFill>
                <a:latin typeface="Georgia"/>
                <a:cs typeface="Georgia"/>
              </a:rPr>
              <a:t>This </a:t>
            </a:r>
            <a:r>
              <a:rPr sz="3600" spc="100" dirty="0">
                <a:solidFill>
                  <a:srgbClr val="2E377E"/>
                </a:solidFill>
                <a:latin typeface="Georgia"/>
                <a:cs typeface="Georgia"/>
              </a:rPr>
              <a:t>type</a:t>
            </a:r>
            <a:r>
              <a:rPr sz="3600" spc="-5" dirty="0">
                <a:solidFill>
                  <a:srgbClr val="2E377E"/>
                </a:solidFill>
                <a:latin typeface="Georgia"/>
                <a:cs typeface="Georgia"/>
              </a:rPr>
              <a:t> </a:t>
            </a:r>
            <a:r>
              <a:rPr sz="3600" dirty="0">
                <a:solidFill>
                  <a:srgbClr val="2E377E"/>
                </a:solidFill>
                <a:latin typeface="Georgia"/>
                <a:cs typeface="Georgia"/>
              </a:rPr>
              <a:t>of</a:t>
            </a:r>
            <a:r>
              <a:rPr sz="3600" spc="-5" dirty="0">
                <a:solidFill>
                  <a:srgbClr val="2E377E"/>
                </a:solidFill>
                <a:latin typeface="Georgia"/>
                <a:cs typeface="Georgia"/>
              </a:rPr>
              <a:t> </a:t>
            </a:r>
            <a:r>
              <a:rPr sz="3600" spc="65" dirty="0">
                <a:solidFill>
                  <a:srgbClr val="2E377E"/>
                </a:solidFill>
                <a:latin typeface="Georgia"/>
                <a:cs typeface="Georgia"/>
              </a:rPr>
              <a:t>service</a:t>
            </a:r>
            <a:r>
              <a:rPr sz="3600" spc="-5" dirty="0">
                <a:solidFill>
                  <a:srgbClr val="2E377E"/>
                </a:solidFill>
                <a:latin typeface="Georgia"/>
                <a:cs typeface="Georgia"/>
              </a:rPr>
              <a:t> </a:t>
            </a:r>
            <a:r>
              <a:rPr sz="3600" spc="-25" dirty="0">
                <a:solidFill>
                  <a:srgbClr val="2E377E"/>
                </a:solidFill>
                <a:latin typeface="Georgia"/>
                <a:cs typeface="Georgia"/>
              </a:rPr>
              <a:t>is </a:t>
            </a:r>
            <a:r>
              <a:rPr sz="3600" spc="65" dirty="0">
                <a:solidFill>
                  <a:srgbClr val="2E377E"/>
                </a:solidFill>
                <a:latin typeface="Georgia"/>
                <a:cs typeface="Georgia"/>
              </a:rPr>
              <a:t>typically</a:t>
            </a:r>
            <a:r>
              <a:rPr sz="3600" spc="10" dirty="0">
                <a:solidFill>
                  <a:srgbClr val="2E377E"/>
                </a:solidFill>
                <a:latin typeface="Georgia"/>
                <a:cs typeface="Georgia"/>
              </a:rPr>
              <a:t> </a:t>
            </a:r>
            <a:r>
              <a:rPr sz="3600" dirty="0">
                <a:solidFill>
                  <a:srgbClr val="2E377E"/>
                </a:solidFill>
                <a:latin typeface="Georgia"/>
                <a:cs typeface="Georgia"/>
              </a:rPr>
              <a:t>used</a:t>
            </a:r>
            <a:r>
              <a:rPr sz="3600" spc="10" dirty="0">
                <a:solidFill>
                  <a:srgbClr val="2E377E"/>
                </a:solidFill>
                <a:latin typeface="Georgia"/>
                <a:cs typeface="Georgia"/>
              </a:rPr>
              <a:t> </a:t>
            </a:r>
            <a:r>
              <a:rPr sz="3600" spc="75" dirty="0">
                <a:solidFill>
                  <a:srgbClr val="2E377E"/>
                </a:solidFill>
                <a:latin typeface="Georgia"/>
                <a:cs typeface="Georgia"/>
              </a:rPr>
              <a:t>when</a:t>
            </a:r>
            <a:r>
              <a:rPr sz="3600" spc="10" dirty="0">
                <a:solidFill>
                  <a:srgbClr val="2E377E"/>
                </a:solidFill>
                <a:latin typeface="Georgia"/>
                <a:cs typeface="Georgia"/>
              </a:rPr>
              <a:t> </a:t>
            </a:r>
            <a:r>
              <a:rPr sz="3600" dirty="0">
                <a:solidFill>
                  <a:srgbClr val="2E377E"/>
                </a:solidFill>
                <a:latin typeface="Georgia"/>
                <a:cs typeface="Georgia"/>
              </a:rPr>
              <a:t>an</a:t>
            </a:r>
            <a:r>
              <a:rPr sz="3600" spc="10" dirty="0">
                <a:solidFill>
                  <a:srgbClr val="2E377E"/>
                </a:solidFill>
                <a:latin typeface="Georgia"/>
                <a:cs typeface="Georgia"/>
              </a:rPr>
              <a:t> </a:t>
            </a:r>
            <a:r>
              <a:rPr sz="3600" dirty="0">
                <a:solidFill>
                  <a:srgbClr val="2E377E"/>
                </a:solidFill>
                <a:latin typeface="Georgia"/>
                <a:cs typeface="Georgia"/>
              </a:rPr>
              <a:t>application</a:t>
            </a:r>
            <a:r>
              <a:rPr sz="3600" spc="10" dirty="0">
                <a:solidFill>
                  <a:srgbClr val="2E377E"/>
                </a:solidFill>
                <a:latin typeface="Georgia"/>
                <a:cs typeface="Georgia"/>
              </a:rPr>
              <a:t> </a:t>
            </a:r>
            <a:r>
              <a:rPr sz="3600" dirty="0">
                <a:solidFill>
                  <a:srgbClr val="2E377E"/>
                </a:solidFill>
                <a:latin typeface="Georgia"/>
                <a:cs typeface="Georgia"/>
              </a:rPr>
              <a:t>needs</a:t>
            </a:r>
            <a:r>
              <a:rPr sz="3600" spc="15"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handle</a:t>
            </a:r>
            <a:r>
              <a:rPr sz="3600" spc="10" dirty="0">
                <a:solidFill>
                  <a:srgbClr val="2E377E"/>
                </a:solidFill>
                <a:latin typeface="Georgia"/>
                <a:cs typeface="Georgia"/>
              </a:rPr>
              <a:t> </a:t>
            </a:r>
            <a:r>
              <a:rPr sz="3600" dirty="0">
                <a:solidFill>
                  <a:srgbClr val="2E377E"/>
                </a:solidFill>
                <a:latin typeface="Georgia"/>
                <a:cs typeface="Georgia"/>
              </a:rPr>
              <a:t>high</a:t>
            </a:r>
            <a:r>
              <a:rPr sz="3600" spc="10" dirty="0">
                <a:solidFill>
                  <a:srgbClr val="2E377E"/>
                </a:solidFill>
                <a:latin typeface="Georgia"/>
                <a:cs typeface="Georgia"/>
              </a:rPr>
              <a:t> </a:t>
            </a:r>
            <a:r>
              <a:rPr sz="3600" spc="45" dirty="0">
                <a:solidFill>
                  <a:srgbClr val="2E377E"/>
                </a:solidFill>
                <a:latin typeface="Georgia"/>
                <a:cs typeface="Georgia"/>
              </a:rPr>
              <a:t>traffic</a:t>
            </a:r>
            <a:r>
              <a:rPr sz="3600" spc="10" dirty="0">
                <a:solidFill>
                  <a:srgbClr val="2E377E"/>
                </a:solidFill>
                <a:latin typeface="Georgia"/>
                <a:cs typeface="Georgia"/>
              </a:rPr>
              <a:t> </a:t>
            </a:r>
            <a:r>
              <a:rPr sz="3600" dirty="0">
                <a:solidFill>
                  <a:srgbClr val="2E377E"/>
                </a:solidFill>
                <a:latin typeface="Georgia"/>
                <a:cs typeface="Georgia"/>
              </a:rPr>
              <a:t>loads</a:t>
            </a:r>
            <a:r>
              <a:rPr sz="3600" spc="10" dirty="0">
                <a:solidFill>
                  <a:srgbClr val="2E377E"/>
                </a:solidFill>
                <a:latin typeface="Georgia"/>
                <a:cs typeface="Georgia"/>
              </a:rPr>
              <a:t> </a:t>
            </a:r>
            <a:r>
              <a:rPr sz="3600" spc="-25" dirty="0">
                <a:solidFill>
                  <a:srgbClr val="2E377E"/>
                </a:solidFill>
                <a:latin typeface="Georgia"/>
                <a:cs typeface="Georgia"/>
              </a:rPr>
              <a:t>and </a:t>
            </a:r>
            <a:r>
              <a:rPr sz="3600" dirty="0">
                <a:solidFill>
                  <a:srgbClr val="2E377E"/>
                </a:solidFill>
                <a:latin typeface="Georgia"/>
                <a:cs typeface="Georgia"/>
              </a:rPr>
              <a:t>requires</a:t>
            </a:r>
            <a:r>
              <a:rPr sz="3600" spc="100" dirty="0">
                <a:solidFill>
                  <a:srgbClr val="2E377E"/>
                </a:solidFill>
                <a:latin typeface="Georgia"/>
                <a:cs typeface="Georgia"/>
              </a:rPr>
              <a:t> </a:t>
            </a:r>
            <a:r>
              <a:rPr sz="3600" dirty="0">
                <a:solidFill>
                  <a:srgbClr val="2E377E"/>
                </a:solidFill>
                <a:latin typeface="Georgia"/>
                <a:cs typeface="Georgia"/>
              </a:rPr>
              <a:t>automatic</a:t>
            </a:r>
            <a:r>
              <a:rPr sz="3600" spc="100" dirty="0">
                <a:solidFill>
                  <a:srgbClr val="2E377E"/>
                </a:solidFill>
                <a:latin typeface="Georgia"/>
                <a:cs typeface="Georgia"/>
              </a:rPr>
              <a:t> </a:t>
            </a:r>
            <a:r>
              <a:rPr sz="3600" dirty="0">
                <a:solidFill>
                  <a:srgbClr val="2E377E"/>
                </a:solidFill>
                <a:latin typeface="Georgia"/>
                <a:cs typeface="Georgia"/>
              </a:rPr>
              <a:t>scaling</a:t>
            </a:r>
            <a:r>
              <a:rPr sz="3600" spc="100" dirty="0">
                <a:solidFill>
                  <a:srgbClr val="2E377E"/>
                </a:solidFill>
                <a:latin typeface="Georgia"/>
                <a:cs typeface="Georgia"/>
              </a:rPr>
              <a:t> </a:t>
            </a:r>
            <a:r>
              <a:rPr sz="3600" dirty="0">
                <a:solidFill>
                  <a:srgbClr val="2E377E"/>
                </a:solidFill>
                <a:latin typeface="Georgia"/>
                <a:cs typeface="Georgia"/>
              </a:rPr>
              <a:t>and</a:t>
            </a:r>
            <a:r>
              <a:rPr sz="3600" spc="100" dirty="0">
                <a:solidFill>
                  <a:srgbClr val="2E377E"/>
                </a:solidFill>
                <a:latin typeface="Georgia"/>
                <a:cs typeface="Georgia"/>
              </a:rPr>
              <a:t> </a:t>
            </a:r>
            <a:r>
              <a:rPr sz="3600" dirty="0">
                <a:solidFill>
                  <a:srgbClr val="2E377E"/>
                </a:solidFill>
                <a:latin typeface="Georgia"/>
                <a:cs typeface="Georgia"/>
              </a:rPr>
              <a:t>load</a:t>
            </a:r>
            <a:r>
              <a:rPr sz="3600" spc="100" dirty="0">
                <a:solidFill>
                  <a:srgbClr val="2E377E"/>
                </a:solidFill>
                <a:latin typeface="Georgia"/>
                <a:cs typeface="Georgia"/>
              </a:rPr>
              <a:t> </a:t>
            </a:r>
            <a:r>
              <a:rPr sz="3600" dirty="0">
                <a:solidFill>
                  <a:srgbClr val="2E377E"/>
                </a:solidFill>
                <a:latin typeface="Georgia"/>
                <a:cs typeface="Georgia"/>
              </a:rPr>
              <a:t>balancing</a:t>
            </a:r>
            <a:r>
              <a:rPr sz="3600" spc="100" dirty="0">
                <a:solidFill>
                  <a:srgbClr val="2E377E"/>
                </a:solidFill>
                <a:latin typeface="Georgia"/>
                <a:cs typeface="Georgia"/>
              </a:rPr>
              <a:t> </a:t>
            </a:r>
            <a:r>
              <a:rPr sz="3600" spc="-10" dirty="0">
                <a:solidFill>
                  <a:srgbClr val="2E377E"/>
                </a:solidFill>
                <a:latin typeface="Georgia"/>
                <a:cs typeface="Georgia"/>
              </a:rPr>
              <a:t>capabilities.</a:t>
            </a:r>
            <a:endParaRPr sz="3600">
              <a:latin typeface="Georgia"/>
              <a:cs typeface="Georgia"/>
            </a:endParaRPr>
          </a:p>
          <a:p>
            <a:pPr marL="12700" marR="5080">
              <a:lnSpc>
                <a:spcPct val="116300"/>
              </a:lnSpc>
            </a:pPr>
            <a:r>
              <a:rPr sz="3600" spc="160" dirty="0">
                <a:solidFill>
                  <a:srgbClr val="2E377E"/>
                </a:solidFill>
                <a:latin typeface="Times New Roman"/>
                <a:cs typeface="Times New Roman"/>
              </a:rPr>
              <a:t>ExternalName</a:t>
            </a:r>
            <a:r>
              <a:rPr sz="3600" spc="160" dirty="0">
                <a:solidFill>
                  <a:srgbClr val="2E377E"/>
                </a:solidFill>
                <a:latin typeface="Georgia"/>
                <a:cs typeface="Georgia"/>
              </a:rPr>
              <a:t>:</a:t>
            </a:r>
            <a:r>
              <a:rPr sz="3600" spc="-5" dirty="0">
                <a:solidFill>
                  <a:srgbClr val="2E377E"/>
                </a:solidFill>
                <a:latin typeface="Georgia"/>
                <a:cs typeface="Georgia"/>
              </a:rPr>
              <a:t> </a:t>
            </a:r>
            <a:r>
              <a:rPr sz="3600" dirty="0">
                <a:solidFill>
                  <a:srgbClr val="2E377E"/>
                </a:solidFill>
                <a:latin typeface="Georgia"/>
                <a:cs typeface="Georgia"/>
              </a:rPr>
              <a:t>This</a:t>
            </a:r>
            <a:r>
              <a:rPr sz="3600" spc="-5" dirty="0">
                <a:solidFill>
                  <a:srgbClr val="2E377E"/>
                </a:solidFill>
                <a:latin typeface="Georgia"/>
                <a:cs typeface="Georgia"/>
              </a:rPr>
              <a:t> </a:t>
            </a:r>
            <a:r>
              <a:rPr sz="3600" dirty="0">
                <a:solidFill>
                  <a:srgbClr val="2E377E"/>
                </a:solidFill>
                <a:latin typeface="Georgia"/>
                <a:cs typeface="Georgia"/>
              </a:rPr>
              <a:t>is</a:t>
            </a:r>
            <a:r>
              <a:rPr sz="3600" spc="-5" dirty="0">
                <a:solidFill>
                  <a:srgbClr val="2E377E"/>
                </a:solidFill>
                <a:latin typeface="Georgia"/>
                <a:cs typeface="Georgia"/>
              </a:rPr>
              <a:t> </a:t>
            </a:r>
            <a:r>
              <a:rPr sz="3600" dirty="0">
                <a:solidFill>
                  <a:srgbClr val="2E377E"/>
                </a:solidFill>
                <a:latin typeface="Georgia"/>
                <a:cs typeface="Georgia"/>
              </a:rPr>
              <a:t>a</a:t>
            </a:r>
            <a:r>
              <a:rPr sz="3600" spc="-5" dirty="0">
                <a:solidFill>
                  <a:srgbClr val="2E377E"/>
                </a:solidFill>
                <a:latin typeface="Georgia"/>
                <a:cs typeface="Georgia"/>
              </a:rPr>
              <a:t> </a:t>
            </a:r>
            <a:r>
              <a:rPr sz="3600" dirty="0">
                <a:solidFill>
                  <a:srgbClr val="2E377E"/>
                </a:solidFill>
                <a:latin typeface="Georgia"/>
                <a:cs typeface="Georgia"/>
              </a:rPr>
              <a:t>similar</a:t>
            </a:r>
            <a:r>
              <a:rPr sz="3600" spc="-5" dirty="0">
                <a:solidFill>
                  <a:srgbClr val="2E377E"/>
                </a:solidFill>
                <a:latin typeface="Georgia"/>
                <a:cs typeface="Georgia"/>
              </a:rPr>
              <a:t> </a:t>
            </a:r>
            <a:r>
              <a:rPr sz="3600" dirty="0">
                <a:solidFill>
                  <a:srgbClr val="2E377E"/>
                </a:solidFill>
                <a:latin typeface="Georgia"/>
                <a:cs typeface="Georgia"/>
              </a:rPr>
              <a:t>object</a:t>
            </a:r>
            <a:r>
              <a:rPr sz="3600" spc="-5" dirty="0">
                <a:solidFill>
                  <a:srgbClr val="2E377E"/>
                </a:solidFill>
                <a:latin typeface="Georgia"/>
                <a:cs typeface="Georgia"/>
              </a:rPr>
              <a:t> </a:t>
            </a:r>
            <a:r>
              <a:rPr sz="3600" spc="65" dirty="0">
                <a:solidFill>
                  <a:srgbClr val="2E377E"/>
                </a:solidFill>
                <a:latin typeface="Georgia"/>
                <a:cs typeface="Georgia"/>
              </a:rPr>
              <a:t>service</a:t>
            </a:r>
            <a:r>
              <a:rPr sz="3600" spc="-5" dirty="0">
                <a:solidFill>
                  <a:srgbClr val="2E377E"/>
                </a:solidFill>
                <a:latin typeface="Georgia"/>
                <a:cs typeface="Georgia"/>
              </a:rPr>
              <a:t> </a:t>
            </a:r>
            <a:r>
              <a:rPr sz="3600" spc="70" dirty="0">
                <a:solidFill>
                  <a:srgbClr val="2E377E"/>
                </a:solidFill>
                <a:latin typeface="Georgia"/>
                <a:cs typeface="Georgia"/>
              </a:rPr>
              <a:t>to</a:t>
            </a:r>
            <a:r>
              <a:rPr sz="3600" dirty="0">
                <a:solidFill>
                  <a:srgbClr val="2E377E"/>
                </a:solidFill>
                <a:latin typeface="Georgia"/>
                <a:cs typeface="Georgia"/>
              </a:rPr>
              <a:t> ClusterIP</a:t>
            </a:r>
            <a:r>
              <a:rPr sz="3600" spc="-5" dirty="0">
                <a:solidFill>
                  <a:srgbClr val="2E377E"/>
                </a:solidFill>
                <a:latin typeface="Georgia"/>
                <a:cs typeface="Georgia"/>
              </a:rPr>
              <a:t> </a:t>
            </a:r>
            <a:r>
              <a:rPr sz="3600" spc="60" dirty="0">
                <a:solidFill>
                  <a:srgbClr val="2E377E"/>
                </a:solidFill>
                <a:latin typeface="Georgia"/>
                <a:cs typeface="Georgia"/>
              </a:rPr>
              <a:t>but</a:t>
            </a:r>
            <a:r>
              <a:rPr sz="3600" spc="-5" dirty="0">
                <a:solidFill>
                  <a:srgbClr val="2E377E"/>
                </a:solidFill>
                <a:latin typeface="Georgia"/>
                <a:cs typeface="Georgia"/>
              </a:rPr>
              <a:t> </a:t>
            </a:r>
            <a:r>
              <a:rPr sz="3600" spc="65" dirty="0">
                <a:solidFill>
                  <a:srgbClr val="2E377E"/>
                </a:solidFill>
                <a:latin typeface="Georgia"/>
                <a:cs typeface="Georgia"/>
              </a:rPr>
              <a:t>it</a:t>
            </a:r>
            <a:r>
              <a:rPr sz="3600" spc="-5" dirty="0">
                <a:solidFill>
                  <a:srgbClr val="2E377E"/>
                </a:solidFill>
                <a:latin typeface="Georgia"/>
                <a:cs typeface="Georgia"/>
              </a:rPr>
              <a:t> </a:t>
            </a:r>
            <a:r>
              <a:rPr sz="3600" dirty="0">
                <a:solidFill>
                  <a:srgbClr val="2E377E"/>
                </a:solidFill>
                <a:latin typeface="Georgia"/>
                <a:cs typeface="Georgia"/>
              </a:rPr>
              <a:t>does</a:t>
            </a:r>
            <a:r>
              <a:rPr sz="3600" spc="-5" dirty="0">
                <a:solidFill>
                  <a:srgbClr val="2E377E"/>
                </a:solidFill>
                <a:latin typeface="Georgia"/>
                <a:cs typeface="Georgia"/>
              </a:rPr>
              <a:t> </a:t>
            </a:r>
            <a:r>
              <a:rPr sz="3600" spc="35" dirty="0">
                <a:solidFill>
                  <a:srgbClr val="2E377E"/>
                </a:solidFill>
                <a:latin typeface="Georgia"/>
                <a:cs typeface="Georgia"/>
              </a:rPr>
              <a:t>have </a:t>
            </a:r>
            <a:r>
              <a:rPr sz="3600" spc="-65" dirty="0">
                <a:solidFill>
                  <a:srgbClr val="2E377E"/>
                </a:solidFill>
                <a:latin typeface="Georgia"/>
                <a:cs typeface="Georgia"/>
              </a:rPr>
              <a:t>DNS</a:t>
            </a:r>
            <a:r>
              <a:rPr sz="3600" spc="-20" dirty="0">
                <a:solidFill>
                  <a:srgbClr val="2E377E"/>
                </a:solidFill>
                <a:latin typeface="Georgia"/>
                <a:cs typeface="Georgia"/>
              </a:rPr>
              <a:t> </a:t>
            </a:r>
            <a:r>
              <a:rPr sz="3600" dirty="0">
                <a:solidFill>
                  <a:srgbClr val="2E377E"/>
                </a:solidFill>
                <a:latin typeface="Georgia"/>
                <a:cs typeface="Georgia"/>
              </a:rPr>
              <a:t>CName</a:t>
            </a:r>
            <a:r>
              <a:rPr sz="3600" spc="-20" dirty="0">
                <a:solidFill>
                  <a:srgbClr val="2E377E"/>
                </a:solidFill>
                <a:latin typeface="Georgia"/>
                <a:cs typeface="Georgia"/>
              </a:rPr>
              <a:t> </a:t>
            </a:r>
            <a:r>
              <a:rPr sz="3600" dirty="0">
                <a:solidFill>
                  <a:srgbClr val="2E377E"/>
                </a:solidFill>
                <a:latin typeface="Georgia"/>
                <a:cs typeface="Georgia"/>
              </a:rPr>
              <a:t>instead</a:t>
            </a:r>
            <a:r>
              <a:rPr sz="3600" spc="-15"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dirty="0">
                <a:solidFill>
                  <a:srgbClr val="2E377E"/>
                </a:solidFill>
                <a:latin typeface="Georgia"/>
                <a:cs typeface="Georgia"/>
              </a:rPr>
              <a:t>Selectors</a:t>
            </a:r>
            <a:r>
              <a:rPr sz="3600" spc="-15"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dirty="0">
                <a:solidFill>
                  <a:srgbClr val="2E377E"/>
                </a:solidFill>
                <a:latin typeface="Georgia"/>
                <a:cs typeface="Georgia"/>
              </a:rPr>
              <a:t>labels.</a:t>
            </a:r>
            <a:r>
              <a:rPr sz="3600" spc="-20"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spc="50" dirty="0">
                <a:solidFill>
                  <a:srgbClr val="2E377E"/>
                </a:solidFill>
                <a:latin typeface="Georgia"/>
                <a:cs typeface="Georgia"/>
              </a:rPr>
              <a:t>other</a:t>
            </a:r>
            <a:r>
              <a:rPr sz="3600" spc="-20" dirty="0">
                <a:solidFill>
                  <a:srgbClr val="2E377E"/>
                </a:solidFill>
                <a:latin typeface="Georgia"/>
                <a:cs typeface="Georgia"/>
              </a:rPr>
              <a:t> </a:t>
            </a:r>
            <a:r>
              <a:rPr sz="3600" dirty="0">
                <a:solidFill>
                  <a:srgbClr val="2E377E"/>
                </a:solidFill>
                <a:latin typeface="Georgia"/>
                <a:cs typeface="Georgia"/>
              </a:rPr>
              <a:t>words,</a:t>
            </a:r>
            <a:r>
              <a:rPr sz="3600" spc="-15" dirty="0">
                <a:solidFill>
                  <a:srgbClr val="2E377E"/>
                </a:solidFill>
                <a:latin typeface="Georgia"/>
                <a:cs typeface="Georgia"/>
              </a:rPr>
              <a:t> </a:t>
            </a:r>
            <a:r>
              <a:rPr sz="3600" spc="60" dirty="0">
                <a:solidFill>
                  <a:srgbClr val="2E377E"/>
                </a:solidFill>
                <a:latin typeface="Georgia"/>
                <a:cs typeface="Georgia"/>
              </a:rPr>
              <a:t>services</a:t>
            </a:r>
            <a:r>
              <a:rPr sz="3600" spc="-20" dirty="0">
                <a:solidFill>
                  <a:srgbClr val="2E377E"/>
                </a:solidFill>
                <a:latin typeface="Georgia"/>
                <a:cs typeface="Georgia"/>
              </a:rPr>
              <a:t> </a:t>
            </a:r>
            <a:r>
              <a:rPr sz="3600" spc="55" dirty="0">
                <a:solidFill>
                  <a:srgbClr val="2E377E"/>
                </a:solidFill>
                <a:latin typeface="Georgia"/>
                <a:cs typeface="Georgia"/>
              </a:rPr>
              <a:t>will</a:t>
            </a:r>
            <a:r>
              <a:rPr sz="3600" spc="-20" dirty="0">
                <a:solidFill>
                  <a:srgbClr val="2E377E"/>
                </a:solidFill>
                <a:latin typeface="Georgia"/>
                <a:cs typeface="Georgia"/>
              </a:rPr>
              <a:t> </a:t>
            </a:r>
            <a:r>
              <a:rPr sz="3600" spc="-25" dirty="0">
                <a:solidFill>
                  <a:srgbClr val="2E377E"/>
                </a:solidFill>
                <a:latin typeface="Georgia"/>
                <a:cs typeface="Georgia"/>
              </a:rPr>
              <a:t>be </a:t>
            </a:r>
            <a:r>
              <a:rPr sz="3600" dirty="0">
                <a:solidFill>
                  <a:srgbClr val="2E377E"/>
                </a:solidFill>
                <a:latin typeface="Georgia"/>
                <a:cs typeface="Georgia"/>
              </a:rPr>
              <a:t>mapped</a:t>
            </a:r>
            <a:r>
              <a:rPr sz="3600" spc="-55" dirty="0">
                <a:solidFill>
                  <a:srgbClr val="2E377E"/>
                </a:solidFill>
                <a:latin typeface="Georgia"/>
                <a:cs typeface="Georgia"/>
              </a:rPr>
              <a:t> </a:t>
            </a:r>
            <a:r>
              <a:rPr sz="3600" spc="70" dirty="0">
                <a:solidFill>
                  <a:srgbClr val="2E377E"/>
                </a:solidFill>
                <a:latin typeface="Georgia"/>
                <a:cs typeface="Georgia"/>
              </a:rPr>
              <a:t>to</a:t>
            </a:r>
            <a:r>
              <a:rPr sz="3600" spc="-55" dirty="0">
                <a:solidFill>
                  <a:srgbClr val="2E377E"/>
                </a:solidFill>
                <a:latin typeface="Georgia"/>
                <a:cs typeface="Georgia"/>
              </a:rPr>
              <a:t> </a:t>
            </a:r>
            <a:r>
              <a:rPr sz="3600" dirty="0">
                <a:solidFill>
                  <a:srgbClr val="2E377E"/>
                </a:solidFill>
                <a:latin typeface="Georgia"/>
                <a:cs typeface="Georgia"/>
              </a:rPr>
              <a:t>a</a:t>
            </a:r>
            <a:r>
              <a:rPr sz="3600" spc="-50" dirty="0">
                <a:solidFill>
                  <a:srgbClr val="2E377E"/>
                </a:solidFill>
                <a:latin typeface="Georgia"/>
                <a:cs typeface="Georgia"/>
              </a:rPr>
              <a:t> </a:t>
            </a:r>
            <a:r>
              <a:rPr sz="3600" spc="-65" dirty="0">
                <a:solidFill>
                  <a:srgbClr val="2E377E"/>
                </a:solidFill>
                <a:latin typeface="Georgia"/>
                <a:cs typeface="Georgia"/>
              </a:rPr>
              <a:t>DNS</a:t>
            </a:r>
            <a:r>
              <a:rPr sz="3600" spc="-55" dirty="0">
                <a:solidFill>
                  <a:srgbClr val="2E377E"/>
                </a:solidFill>
                <a:latin typeface="Georgia"/>
                <a:cs typeface="Georgia"/>
              </a:rPr>
              <a:t> </a:t>
            </a:r>
            <a:r>
              <a:rPr sz="3600" dirty="0">
                <a:solidFill>
                  <a:srgbClr val="2E377E"/>
                </a:solidFill>
                <a:latin typeface="Georgia"/>
                <a:cs typeface="Georgia"/>
              </a:rPr>
              <a:t>name.</a:t>
            </a:r>
            <a:r>
              <a:rPr sz="3600" spc="-55" dirty="0">
                <a:solidFill>
                  <a:srgbClr val="2E377E"/>
                </a:solidFill>
                <a:latin typeface="Georgia"/>
                <a:cs typeface="Georgia"/>
              </a:rPr>
              <a:t> </a:t>
            </a:r>
            <a:r>
              <a:rPr sz="3600" dirty="0">
                <a:solidFill>
                  <a:srgbClr val="2E377E"/>
                </a:solidFill>
                <a:latin typeface="Georgia"/>
                <a:cs typeface="Georgia"/>
              </a:rPr>
              <a:t>You</a:t>
            </a:r>
            <a:r>
              <a:rPr sz="3600" spc="-50" dirty="0">
                <a:solidFill>
                  <a:srgbClr val="2E377E"/>
                </a:solidFill>
                <a:latin typeface="Georgia"/>
                <a:cs typeface="Georgia"/>
              </a:rPr>
              <a:t> </a:t>
            </a:r>
            <a:r>
              <a:rPr sz="3600" dirty="0">
                <a:solidFill>
                  <a:srgbClr val="2E377E"/>
                </a:solidFill>
                <a:latin typeface="Georgia"/>
                <a:cs typeface="Georgia"/>
              </a:rPr>
              <a:t>can</a:t>
            </a:r>
            <a:r>
              <a:rPr sz="3600" spc="-55" dirty="0">
                <a:solidFill>
                  <a:srgbClr val="2E377E"/>
                </a:solidFill>
                <a:latin typeface="Georgia"/>
                <a:cs typeface="Georgia"/>
              </a:rPr>
              <a:t> </a:t>
            </a:r>
            <a:r>
              <a:rPr sz="3600" spc="114" dirty="0">
                <a:solidFill>
                  <a:srgbClr val="2E377E"/>
                </a:solidFill>
                <a:latin typeface="Georgia"/>
                <a:cs typeface="Georgia"/>
              </a:rPr>
              <a:t>view</a:t>
            </a:r>
            <a:r>
              <a:rPr sz="3600" spc="-50" dirty="0">
                <a:solidFill>
                  <a:srgbClr val="2E377E"/>
                </a:solidFill>
                <a:latin typeface="Georgia"/>
                <a:cs typeface="Georgia"/>
              </a:rPr>
              <a:t> </a:t>
            </a:r>
            <a:r>
              <a:rPr sz="3600" spc="60" dirty="0">
                <a:solidFill>
                  <a:srgbClr val="2E377E"/>
                </a:solidFill>
                <a:latin typeface="Georgia"/>
                <a:cs typeface="Georgia"/>
              </a:rPr>
              <a:t>the</a:t>
            </a:r>
            <a:r>
              <a:rPr sz="3600" spc="-55" dirty="0">
                <a:solidFill>
                  <a:srgbClr val="2E377E"/>
                </a:solidFill>
                <a:latin typeface="Georgia"/>
                <a:cs typeface="Georgia"/>
              </a:rPr>
              <a:t> </a:t>
            </a:r>
            <a:r>
              <a:rPr sz="3600" spc="50" dirty="0">
                <a:solidFill>
                  <a:srgbClr val="2E377E"/>
                </a:solidFill>
                <a:latin typeface="Georgia"/>
                <a:cs typeface="Georgia"/>
              </a:rPr>
              <a:t>Service</a:t>
            </a:r>
            <a:r>
              <a:rPr sz="3600" spc="-55" dirty="0">
                <a:solidFill>
                  <a:srgbClr val="2E377E"/>
                </a:solidFill>
                <a:latin typeface="Georgia"/>
                <a:cs typeface="Georgia"/>
              </a:rPr>
              <a:t> </a:t>
            </a:r>
            <a:r>
              <a:rPr sz="3600" spc="-65" dirty="0">
                <a:solidFill>
                  <a:srgbClr val="2E377E"/>
                </a:solidFill>
                <a:latin typeface="Georgia"/>
                <a:cs typeface="Georgia"/>
              </a:rPr>
              <a:t>YML</a:t>
            </a:r>
            <a:r>
              <a:rPr sz="3600" spc="-50" dirty="0">
                <a:solidFill>
                  <a:srgbClr val="2E377E"/>
                </a:solidFill>
                <a:latin typeface="Georgia"/>
                <a:cs typeface="Georgia"/>
              </a:rPr>
              <a:t> </a:t>
            </a:r>
            <a:r>
              <a:rPr sz="3600" dirty="0">
                <a:solidFill>
                  <a:srgbClr val="2E377E"/>
                </a:solidFill>
                <a:latin typeface="Georgia"/>
                <a:cs typeface="Georgia"/>
              </a:rPr>
              <a:t>file</a:t>
            </a:r>
            <a:r>
              <a:rPr sz="3600" spc="-55" dirty="0">
                <a:solidFill>
                  <a:srgbClr val="2E377E"/>
                </a:solidFill>
                <a:latin typeface="Georgia"/>
                <a:cs typeface="Georgia"/>
              </a:rPr>
              <a:t> </a:t>
            </a:r>
            <a:r>
              <a:rPr sz="3600" dirty="0">
                <a:solidFill>
                  <a:srgbClr val="2E377E"/>
                </a:solidFill>
                <a:latin typeface="Georgia"/>
                <a:cs typeface="Georgia"/>
              </a:rPr>
              <a:t>and</a:t>
            </a:r>
            <a:r>
              <a:rPr sz="3600" spc="-50" dirty="0">
                <a:solidFill>
                  <a:srgbClr val="2E377E"/>
                </a:solidFill>
                <a:latin typeface="Georgia"/>
                <a:cs typeface="Georgia"/>
              </a:rPr>
              <a:t> </a:t>
            </a:r>
            <a:r>
              <a:rPr sz="3600" spc="55" dirty="0">
                <a:solidFill>
                  <a:srgbClr val="2E377E"/>
                </a:solidFill>
                <a:latin typeface="Georgia"/>
                <a:cs typeface="Georgia"/>
              </a:rPr>
              <a:t>see</a:t>
            </a:r>
            <a:r>
              <a:rPr sz="3600" spc="-55" dirty="0">
                <a:solidFill>
                  <a:srgbClr val="2E377E"/>
                </a:solidFill>
                <a:latin typeface="Georgia"/>
                <a:cs typeface="Georgia"/>
              </a:rPr>
              <a:t> </a:t>
            </a:r>
            <a:r>
              <a:rPr sz="3600" spc="75" dirty="0">
                <a:solidFill>
                  <a:srgbClr val="2E377E"/>
                </a:solidFill>
                <a:latin typeface="Georgia"/>
                <a:cs typeface="Georgia"/>
              </a:rPr>
              <a:t>how</a:t>
            </a:r>
            <a:r>
              <a:rPr sz="3600" spc="-55" dirty="0">
                <a:solidFill>
                  <a:srgbClr val="2E377E"/>
                </a:solidFill>
                <a:latin typeface="Georgia"/>
                <a:cs typeface="Georgia"/>
              </a:rPr>
              <a:t> </a:t>
            </a:r>
            <a:r>
              <a:rPr sz="3600" spc="70" dirty="0">
                <a:solidFill>
                  <a:srgbClr val="2E377E"/>
                </a:solidFill>
                <a:latin typeface="Georgia"/>
                <a:cs typeface="Georgia"/>
              </a:rPr>
              <a:t>to</a:t>
            </a:r>
            <a:r>
              <a:rPr sz="3600" spc="-50" dirty="0">
                <a:solidFill>
                  <a:srgbClr val="2E377E"/>
                </a:solidFill>
                <a:latin typeface="Georgia"/>
                <a:cs typeface="Georgia"/>
              </a:rPr>
              <a:t> </a:t>
            </a:r>
            <a:r>
              <a:rPr sz="3600" spc="25" dirty="0">
                <a:solidFill>
                  <a:srgbClr val="2E377E"/>
                </a:solidFill>
                <a:latin typeface="Georgia"/>
                <a:cs typeface="Georgia"/>
              </a:rPr>
              <a:t>use </a:t>
            </a:r>
            <a:r>
              <a:rPr sz="3600" dirty="0">
                <a:solidFill>
                  <a:srgbClr val="2E377E"/>
                </a:solidFill>
                <a:latin typeface="Georgia"/>
                <a:cs typeface="Georgia"/>
              </a:rPr>
              <a:t>this</a:t>
            </a:r>
            <a:r>
              <a:rPr sz="3600" spc="95" dirty="0">
                <a:solidFill>
                  <a:srgbClr val="2E377E"/>
                </a:solidFill>
                <a:latin typeface="Georgia"/>
                <a:cs typeface="Georgia"/>
              </a:rPr>
              <a:t> </a:t>
            </a:r>
            <a:r>
              <a:rPr sz="3600" spc="-10" dirty="0">
                <a:solidFill>
                  <a:srgbClr val="2E377E"/>
                </a:solidFill>
                <a:latin typeface="Georgia"/>
                <a:cs typeface="Georgia"/>
              </a:rPr>
              <a:t>service.</a:t>
            </a:r>
            <a:endParaRPr sz="3600">
              <a:latin typeface="Georgia"/>
              <a:cs typeface="Georgia"/>
            </a:endParaRPr>
          </a:p>
        </p:txBody>
      </p:sp>
      <p:pic>
        <p:nvPicPr>
          <p:cNvPr id="5" name="object 5"/>
          <p:cNvPicPr/>
          <p:nvPr/>
        </p:nvPicPr>
        <p:blipFill>
          <a:blip r:embed="rId3" cstate="print"/>
          <a:stretch>
            <a:fillRect/>
          </a:stretch>
        </p:blipFill>
        <p:spPr>
          <a:xfrm>
            <a:off x="1275154" y="3358794"/>
            <a:ext cx="133350" cy="133349"/>
          </a:xfrm>
          <a:prstGeom prst="rect">
            <a:avLst/>
          </a:prstGeom>
        </p:spPr>
      </p:pic>
      <p:pic>
        <p:nvPicPr>
          <p:cNvPr id="6" name="object 6"/>
          <p:cNvPicPr/>
          <p:nvPr/>
        </p:nvPicPr>
        <p:blipFill>
          <a:blip r:embed="rId4" cstate="print"/>
          <a:stretch>
            <a:fillRect/>
          </a:stretch>
        </p:blipFill>
        <p:spPr>
          <a:xfrm>
            <a:off x="1275154" y="5273319"/>
            <a:ext cx="133350" cy="133349"/>
          </a:xfrm>
          <a:prstGeom prst="rect">
            <a:avLst/>
          </a:prstGeom>
        </p:spPr>
      </p:pic>
      <p:pic>
        <p:nvPicPr>
          <p:cNvPr id="7" name="object 7"/>
          <p:cNvPicPr/>
          <p:nvPr/>
        </p:nvPicPr>
        <p:blipFill>
          <a:blip r:embed="rId5" cstate="print"/>
          <a:stretch>
            <a:fillRect/>
          </a:stretch>
        </p:blipFill>
        <p:spPr>
          <a:xfrm>
            <a:off x="1275154" y="7826019"/>
            <a:ext cx="133350" cy="13334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76374" y="4437125"/>
            <a:ext cx="133350" cy="133350"/>
          </a:xfrm>
          <a:prstGeom prst="rect">
            <a:avLst/>
          </a:prstGeom>
        </p:spPr>
      </p:pic>
      <p:pic>
        <p:nvPicPr>
          <p:cNvPr id="3" name="object 3"/>
          <p:cNvPicPr/>
          <p:nvPr/>
        </p:nvPicPr>
        <p:blipFill>
          <a:blip r:embed="rId3" cstate="print"/>
          <a:stretch>
            <a:fillRect/>
          </a:stretch>
        </p:blipFill>
        <p:spPr>
          <a:xfrm>
            <a:off x="1476374" y="5713475"/>
            <a:ext cx="133350" cy="133350"/>
          </a:xfrm>
          <a:prstGeom prst="rect">
            <a:avLst/>
          </a:prstGeom>
        </p:spPr>
      </p:pic>
      <p:pic>
        <p:nvPicPr>
          <p:cNvPr id="4" name="object 4"/>
          <p:cNvPicPr/>
          <p:nvPr/>
        </p:nvPicPr>
        <p:blipFill>
          <a:blip r:embed="rId3" cstate="print"/>
          <a:stretch>
            <a:fillRect/>
          </a:stretch>
        </p:blipFill>
        <p:spPr>
          <a:xfrm>
            <a:off x="1476374" y="6351650"/>
            <a:ext cx="133350" cy="133350"/>
          </a:xfrm>
          <a:prstGeom prst="rect">
            <a:avLst/>
          </a:prstGeom>
        </p:spPr>
      </p:pic>
      <p:pic>
        <p:nvPicPr>
          <p:cNvPr id="5" name="object 5"/>
          <p:cNvPicPr/>
          <p:nvPr/>
        </p:nvPicPr>
        <p:blipFill>
          <a:blip r:embed="rId3" cstate="print"/>
          <a:stretch>
            <a:fillRect/>
          </a:stretch>
        </p:blipFill>
        <p:spPr>
          <a:xfrm>
            <a:off x="1476374" y="6989826"/>
            <a:ext cx="133350" cy="133350"/>
          </a:xfrm>
          <a:prstGeom prst="rect">
            <a:avLst/>
          </a:prstGeom>
        </p:spPr>
      </p:pic>
      <p:sp>
        <p:nvSpPr>
          <p:cNvPr id="6" name="object 6"/>
          <p:cNvSpPr txBox="1"/>
          <p:nvPr/>
        </p:nvSpPr>
        <p:spPr>
          <a:xfrm>
            <a:off x="1016000" y="2199516"/>
            <a:ext cx="16529685" cy="5768975"/>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A</a:t>
            </a:r>
            <a:r>
              <a:rPr sz="3600" spc="30" dirty="0">
                <a:solidFill>
                  <a:srgbClr val="2E377E"/>
                </a:solidFill>
                <a:latin typeface="Georgia"/>
                <a:cs typeface="Georgia"/>
              </a:rPr>
              <a:t> </a:t>
            </a:r>
            <a:r>
              <a:rPr sz="3600" spc="65" dirty="0">
                <a:solidFill>
                  <a:srgbClr val="2E377E"/>
                </a:solidFill>
                <a:latin typeface="Georgia"/>
                <a:cs typeface="Georgia"/>
              </a:rPr>
              <a:t>service</a:t>
            </a:r>
            <a:r>
              <a:rPr sz="3600" spc="35" dirty="0">
                <a:solidFill>
                  <a:srgbClr val="2E377E"/>
                </a:solidFill>
                <a:latin typeface="Georgia"/>
                <a:cs typeface="Georgia"/>
              </a:rPr>
              <a:t> </a:t>
            </a:r>
            <a:r>
              <a:rPr sz="3600" dirty="0">
                <a:solidFill>
                  <a:srgbClr val="2E377E"/>
                </a:solidFill>
                <a:latin typeface="Georgia"/>
                <a:cs typeface="Georgia"/>
              </a:rPr>
              <a:t>is</a:t>
            </a:r>
            <a:r>
              <a:rPr sz="3600" spc="35" dirty="0">
                <a:solidFill>
                  <a:srgbClr val="2E377E"/>
                </a:solidFill>
                <a:latin typeface="Georgia"/>
                <a:cs typeface="Georgia"/>
              </a:rPr>
              <a:t> </a:t>
            </a:r>
            <a:r>
              <a:rPr sz="3600" dirty="0">
                <a:solidFill>
                  <a:srgbClr val="2E377E"/>
                </a:solidFill>
                <a:latin typeface="Georgia"/>
                <a:cs typeface="Georgia"/>
              </a:rPr>
              <a:t>defined</a:t>
            </a:r>
            <a:r>
              <a:rPr sz="3600" spc="35" dirty="0">
                <a:solidFill>
                  <a:srgbClr val="2E377E"/>
                </a:solidFill>
                <a:latin typeface="Georgia"/>
                <a:cs typeface="Georgia"/>
              </a:rPr>
              <a:t> </a:t>
            </a:r>
            <a:r>
              <a:rPr sz="3600" dirty="0">
                <a:solidFill>
                  <a:srgbClr val="2E377E"/>
                </a:solidFill>
                <a:latin typeface="Georgia"/>
                <a:cs typeface="Georgia"/>
              </a:rPr>
              <a:t>using</a:t>
            </a:r>
            <a:r>
              <a:rPr sz="3600" spc="35" dirty="0">
                <a:solidFill>
                  <a:srgbClr val="2E377E"/>
                </a:solidFill>
                <a:latin typeface="Georgia"/>
                <a:cs typeface="Georgia"/>
              </a:rPr>
              <a:t> </a:t>
            </a:r>
            <a:r>
              <a:rPr sz="3600" dirty="0">
                <a:solidFill>
                  <a:srgbClr val="2E377E"/>
                </a:solidFill>
                <a:latin typeface="Georgia"/>
                <a:cs typeface="Georgia"/>
              </a:rPr>
              <a:t>a</a:t>
            </a:r>
            <a:r>
              <a:rPr sz="3600" spc="35" dirty="0">
                <a:solidFill>
                  <a:srgbClr val="2E377E"/>
                </a:solidFill>
                <a:latin typeface="Georgia"/>
                <a:cs typeface="Georgia"/>
              </a:rPr>
              <a:t> </a:t>
            </a:r>
            <a:r>
              <a:rPr sz="3600" spc="45" dirty="0">
                <a:solidFill>
                  <a:srgbClr val="2E377E"/>
                </a:solidFill>
                <a:latin typeface="Georgia"/>
                <a:cs typeface="Georgia"/>
              </a:rPr>
              <a:t>Kubernetes</a:t>
            </a:r>
            <a:r>
              <a:rPr sz="3600" spc="35" dirty="0">
                <a:solidFill>
                  <a:srgbClr val="2E377E"/>
                </a:solidFill>
                <a:latin typeface="Georgia"/>
                <a:cs typeface="Georgia"/>
              </a:rPr>
              <a:t> </a:t>
            </a:r>
            <a:r>
              <a:rPr sz="3600" dirty="0">
                <a:solidFill>
                  <a:srgbClr val="2E377E"/>
                </a:solidFill>
                <a:latin typeface="Georgia"/>
                <a:cs typeface="Georgia"/>
              </a:rPr>
              <a:t>manifest</a:t>
            </a:r>
            <a:r>
              <a:rPr sz="3600" spc="35" dirty="0">
                <a:solidFill>
                  <a:srgbClr val="2E377E"/>
                </a:solidFill>
                <a:latin typeface="Georgia"/>
                <a:cs typeface="Georgia"/>
              </a:rPr>
              <a:t> </a:t>
            </a:r>
            <a:r>
              <a:rPr sz="3600" dirty="0">
                <a:solidFill>
                  <a:srgbClr val="2E377E"/>
                </a:solidFill>
                <a:latin typeface="Georgia"/>
                <a:cs typeface="Georgia"/>
              </a:rPr>
              <a:t>file</a:t>
            </a:r>
            <a:r>
              <a:rPr sz="3600" spc="35" dirty="0">
                <a:solidFill>
                  <a:srgbClr val="2E377E"/>
                </a:solidFill>
                <a:latin typeface="Georgia"/>
                <a:cs typeface="Georgia"/>
              </a:rPr>
              <a:t> </a:t>
            </a:r>
            <a:r>
              <a:rPr sz="3600" spc="55" dirty="0">
                <a:solidFill>
                  <a:srgbClr val="2E377E"/>
                </a:solidFill>
                <a:latin typeface="Georgia"/>
                <a:cs typeface="Georgia"/>
              </a:rPr>
              <a:t>that</a:t>
            </a:r>
            <a:r>
              <a:rPr sz="3600" spc="35" dirty="0">
                <a:solidFill>
                  <a:srgbClr val="2E377E"/>
                </a:solidFill>
                <a:latin typeface="Georgia"/>
                <a:cs typeface="Georgia"/>
              </a:rPr>
              <a:t> </a:t>
            </a:r>
            <a:r>
              <a:rPr sz="3600" dirty="0">
                <a:solidFill>
                  <a:srgbClr val="2E377E"/>
                </a:solidFill>
                <a:latin typeface="Georgia"/>
                <a:cs typeface="Georgia"/>
              </a:rPr>
              <a:t>describes</a:t>
            </a:r>
            <a:r>
              <a:rPr sz="3600" spc="35" dirty="0">
                <a:solidFill>
                  <a:srgbClr val="2E377E"/>
                </a:solidFill>
                <a:latin typeface="Georgia"/>
                <a:cs typeface="Georgia"/>
              </a:rPr>
              <a:t> </a:t>
            </a:r>
            <a:r>
              <a:rPr sz="3600" spc="55" dirty="0">
                <a:solidFill>
                  <a:srgbClr val="2E377E"/>
                </a:solidFill>
                <a:latin typeface="Georgia"/>
                <a:cs typeface="Georgia"/>
              </a:rPr>
              <a:t>its</a:t>
            </a:r>
            <a:r>
              <a:rPr sz="3600" spc="35" dirty="0">
                <a:solidFill>
                  <a:srgbClr val="2E377E"/>
                </a:solidFill>
                <a:latin typeface="Georgia"/>
                <a:cs typeface="Georgia"/>
              </a:rPr>
              <a:t> properties </a:t>
            </a:r>
            <a:r>
              <a:rPr sz="3600" dirty="0">
                <a:solidFill>
                  <a:srgbClr val="2E377E"/>
                </a:solidFill>
                <a:latin typeface="Georgia"/>
                <a:cs typeface="Georgia"/>
              </a:rPr>
              <a:t>and</a:t>
            </a:r>
            <a:r>
              <a:rPr sz="3600" spc="-15" dirty="0">
                <a:solidFill>
                  <a:srgbClr val="2E377E"/>
                </a:solidFill>
                <a:latin typeface="Georgia"/>
                <a:cs typeface="Georgia"/>
              </a:rPr>
              <a:t> </a:t>
            </a:r>
            <a:r>
              <a:rPr sz="3600" dirty="0">
                <a:solidFill>
                  <a:srgbClr val="2E377E"/>
                </a:solidFill>
                <a:latin typeface="Georgia"/>
                <a:cs typeface="Georgia"/>
              </a:rPr>
              <a:t>specifications.</a:t>
            </a:r>
            <a:r>
              <a:rPr sz="3600" spc="-15" dirty="0">
                <a:solidFill>
                  <a:srgbClr val="2E377E"/>
                </a:solidFill>
                <a:latin typeface="Georgia"/>
                <a:cs typeface="Georgia"/>
              </a:rPr>
              <a:t> </a:t>
            </a:r>
            <a:r>
              <a:rPr sz="3600" dirty="0">
                <a:solidFill>
                  <a:srgbClr val="2E377E"/>
                </a:solidFill>
                <a:latin typeface="Georgia"/>
                <a:cs typeface="Georgia"/>
              </a:rPr>
              <a:t>Some</a:t>
            </a:r>
            <a:r>
              <a:rPr sz="3600" spc="-10"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spc="125" dirty="0">
                <a:solidFill>
                  <a:srgbClr val="2E377E"/>
                </a:solidFill>
                <a:latin typeface="Georgia"/>
                <a:cs typeface="Georgia"/>
              </a:rPr>
              <a:t>key</a:t>
            </a:r>
            <a:r>
              <a:rPr sz="3600" spc="-15" dirty="0">
                <a:solidFill>
                  <a:srgbClr val="2E377E"/>
                </a:solidFill>
                <a:latin typeface="Georgia"/>
                <a:cs typeface="Georgia"/>
              </a:rPr>
              <a:t> </a:t>
            </a:r>
            <a:r>
              <a:rPr sz="3600" spc="45" dirty="0">
                <a:solidFill>
                  <a:srgbClr val="2E377E"/>
                </a:solidFill>
                <a:latin typeface="Georgia"/>
                <a:cs typeface="Georgia"/>
              </a:rPr>
              <a:t>properties</a:t>
            </a:r>
            <a:r>
              <a:rPr sz="3600" spc="-10"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dirty="0">
                <a:solidFill>
                  <a:srgbClr val="2E377E"/>
                </a:solidFill>
                <a:latin typeface="Georgia"/>
                <a:cs typeface="Georgia"/>
              </a:rPr>
              <a:t>a</a:t>
            </a:r>
            <a:r>
              <a:rPr sz="3600" spc="-15" dirty="0">
                <a:solidFill>
                  <a:srgbClr val="2E377E"/>
                </a:solidFill>
                <a:latin typeface="Georgia"/>
                <a:cs typeface="Georgia"/>
              </a:rPr>
              <a:t> </a:t>
            </a:r>
            <a:r>
              <a:rPr sz="3600" spc="65" dirty="0">
                <a:solidFill>
                  <a:srgbClr val="2E377E"/>
                </a:solidFill>
                <a:latin typeface="Georgia"/>
                <a:cs typeface="Georgia"/>
              </a:rPr>
              <a:t>service</a:t>
            </a:r>
            <a:r>
              <a:rPr sz="3600" spc="-10" dirty="0">
                <a:solidFill>
                  <a:srgbClr val="2E377E"/>
                </a:solidFill>
                <a:latin typeface="Georgia"/>
                <a:cs typeface="Georgia"/>
              </a:rPr>
              <a:t> include:</a:t>
            </a:r>
            <a:endParaRPr sz="3600">
              <a:latin typeface="Georgia"/>
              <a:cs typeface="Georgia"/>
            </a:endParaRPr>
          </a:p>
          <a:p>
            <a:pPr>
              <a:lnSpc>
                <a:spcPct val="100000"/>
              </a:lnSpc>
              <a:spcBef>
                <a:spcPts val="935"/>
              </a:spcBef>
            </a:pPr>
            <a:endParaRPr sz="3600">
              <a:latin typeface="Georgia"/>
              <a:cs typeface="Georgia"/>
            </a:endParaRPr>
          </a:p>
          <a:p>
            <a:pPr marL="789305" marR="969010">
              <a:lnSpc>
                <a:spcPct val="116300"/>
              </a:lnSpc>
            </a:pPr>
            <a:r>
              <a:rPr sz="3600" dirty="0">
                <a:solidFill>
                  <a:srgbClr val="2E377E"/>
                </a:solidFill>
                <a:latin typeface="Georgia"/>
                <a:cs typeface="Georgia"/>
              </a:rPr>
              <a:t>Selector:</a:t>
            </a:r>
            <a:r>
              <a:rPr sz="3600" spc="-25"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dirty="0">
                <a:solidFill>
                  <a:srgbClr val="2E377E"/>
                </a:solidFill>
                <a:latin typeface="Georgia"/>
                <a:cs typeface="Georgia"/>
              </a:rPr>
              <a:t>label</a:t>
            </a:r>
            <a:r>
              <a:rPr sz="3600" spc="-25" dirty="0">
                <a:solidFill>
                  <a:srgbClr val="2E377E"/>
                </a:solidFill>
                <a:latin typeface="Georgia"/>
                <a:cs typeface="Georgia"/>
              </a:rPr>
              <a:t> </a:t>
            </a:r>
            <a:r>
              <a:rPr sz="3600" spc="50" dirty="0">
                <a:solidFill>
                  <a:srgbClr val="2E377E"/>
                </a:solidFill>
                <a:latin typeface="Georgia"/>
                <a:cs typeface="Georgia"/>
              </a:rPr>
              <a:t>selector</a:t>
            </a:r>
            <a:r>
              <a:rPr sz="3600" spc="-25" dirty="0">
                <a:solidFill>
                  <a:srgbClr val="2E377E"/>
                </a:solidFill>
                <a:latin typeface="Georgia"/>
                <a:cs typeface="Georgia"/>
              </a:rPr>
              <a:t> </a:t>
            </a:r>
            <a:r>
              <a:rPr sz="3600" spc="55" dirty="0">
                <a:solidFill>
                  <a:srgbClr val="2E377E"/>
                </a:solidFill>
                <a:latin typeface="Georgia"/>
                <a:cs typeface="Georgia"/>
              </a:rPr>
              <a:t>that</a:t>
            </a:r>
            <a:r>
              <a:rPr sz="3600" spc="-20" dirty="0">
                <a:solidFill>
                  <a:srgbClr val="2E377E"/>
                </a:solidFill>
                <a:latin typeface="Georgia"/>
                <a:cs typeface="Georgia"/>
              </a:rPr>
              <a:t> </a:t>
            </a:r>
            <a:r>
              <a:rPr sz="3600" dirty="0">
                <a:solidFill>
                  <a:srgbClr val="2E377E"/>
                </a:solidFill>
                <a:latin typeface="Georgia"/>
                <a:cs typeface="Georgia"/>
              </a:rPr>
              <a:t>defines</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spc="70" dirty="0">
                <a:solidFill>
                  <a:srgbClr val="2E377E"/>
                </a:solidFill>
                <a:latin typeface="Georgia"/>
                <a:cs typeface="Georgia"/>
              </a:rPr>
              <a:t>set</a:t>
            </a:r>
            <a:r>
              <a:rPr sz="3600" spc="-25"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dirty="0">
                <a:solidFill>
                  <a:srgbClr val="2E377E"/>
                </a:solidFill>
                <a:latin typeface="Georgia"/>
                <a:cs typeface="Georgia"/>
              </a:rPr>
              <a:t>pods</a:t>
            </a:r>
            <a:r>
              <a:rPr sz="3600" spc="-25" dirty="0">
                <a:solidFill>
                  <a:srgbClr val="2E377E"/>
                </a:solidFill>
                <a:latin typeface="Georgia"/>
                <a:cs typeface="Georgia"/>
              </a:rPr>
              <a:t> </a:t>
            </a:r>
            <a:r>
              <a:rPr sz="3600" spc="55" dirty="0">
                <a:solidFill>
                  <a:srgbClr val="2E377E"/>
                </a:solidFill>
                <a:latin typeface="Georgia"/>
                <a:cs typeface="Georgia"/>
              </a:rPr>
              <a:t>that</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spc="65" dirty="0">
                <a:solidFill>
                  <a:srgbClr val="2E377E"/>
                </a:solidFill>
                <a:latin typeface="Georgia"/>
                <a:cs typeface="Georgia"/>
              </a:rPr>
              <a:t>service</a:t>
            </a:r>
            <a:r>
              <a:rPr sz="3600" spc="-20" dirty="0">
                <a:solidFill>
                  <a:srgbClr val="2E377E"/>
                </a:solidFill>
                <a:latin typeface="Georgia"/>
                <a:cs typeface="Georgia"/>
              </a:rPr>
              <a:t> </a:t>
            </a:r>
            <a:r>
              <a:rPr sz="3600" spc="35" dirty="0">
                <a:solidFill>
                  <a:srgbClr val="2E377E"/>
                </a:solidFill>
                <a:latin typeface="Georgia"/>
                <a:cs typeface="Georgia"/>
              </a:rPr>
              <a:t>will </a:t>
            </a:r>
            <a:r>
              <a:rPr sz="3600" spc="60" dirty="0">
                <a:solidFill>
                  <a:srgbClr val="2E377E"/>
                </a:solidFill>
                <a:latin typeface="Georgia"/>
                <a:cs typeface="Georgia"/>
              </a:rPr>
              <a:t>route</a:t>
            </a:r>
            <a:r>
              <a:rPr sz="3600" spc="-50" dirty="0">
                <a:solidFill>
                  <a:srgbClr val="2E377E"/>
                </a:solidFill>
                <a:latin typeface="Georgia"/>
                <a:cs typeface="Georgia"/>
              </a:rPr>
              <a:t> </a:t>
            </a:r>
            <a:r>
              <a:rPr sz="3600" spc="45" dirty="0">
                <a:solidFill>
                  <a:srgbClr val="2E377E"/>
                </a:solidFill>
                <a:latin typeface="Georgia"/>
                <a:cs typeface="Georgia"/>
              </a:rPr>
              <a:t>traffic</a:t>
            </a:r>
            <a:r>
              <a:rPr sz="3600" spc="-45" dirty="0">
                <a:solidFill>
                  <a:srgbClr val="2E377E"/>
                </a:solidFill>
                <a:latin typeface="Georgia"/>
                <a:cs typeface="Georgia"/>
              </a:rPr>
              <a:t> </a:t>
            </a:r>
            <a:r>
              <a:rPr sz="3600" spc="-25" dirty="0">
                <a:solidFill>
                  <a:srgbClr val="2E377E"/>
                </a:solidFill>
                <a:latin typeface="Georgia"/>
                <a:cs typeface="Georgia"/>
              </a:rPr>
              <a:t>to.</a:t>
            </a:r>
            <a:endParaRPr sz="3600">
              <a:latin typeface="Georgia"/>
              <a:cs typeface="Georgia"/>
            </a:endParaRPr>
          </a:p>
          <a:p>
            <a:pPr marL="789305" marR="485140">
              <a:lnSpc>
                <a:spcPct val="116300"/>
              </a:lnSpc>
            </a:pPr>
            <a:r>
              <a:rPr sz="3600" dirty="0">
                <a:solidFill>
                  <a:srgbClr val="2E377E"/>
                </a:solidFill>
                <a:latin typeface="Georgia"/>
                <a:cs typeface="Georgia"/>
              </a:rPr>
              <a:t>Port:</a:t>
            </a:r>
            <a:r>
              <a:rPr sz="3600" spc="-5" dirty="0">
                <a:solidFill>
                  <a:srgbClr val="2E377E"/>
                </a:solidFill>
                <a:latin typeface="Georgia"/>
                <a:cs typeface="Georgia"/>
              </a:rPr>
              <a:t> </a:t>
            </a:r>
            <a:r>
              <a:rPr sz="3600" dirty="0">
                <a:solidFill>
                  <a:srgbClr val="2E377E"/>
                </a:solidFill>
                <a:latin typeface="Georgia"/>
                <a:cs typeface="Georgia"/>
              </a:rPr>
              <a:t>The </a:t>
            </a:r>
            <a:r>
              <a:rPr sz="3600" spc="50" dirty="0">
                <a:solidFill>
                  <a:srgbClr val="2E377E"/>
                </a:solidFill>
                <a:latin typeface="Georgia"/>
                <a:cs typeface="Georgia"/>
              </a:rPr>
              <a:t>port</a:t>
            </a:r>
            <a:r>
              <a:rPr sz="3600" dirty="0">
                <a:solidFill>
                  <a:srgbClr val="2E377E"/>
                </a:solidFill>
                <a:latin typeface="Georgia"/>
                <a:cs typeface="Georgia"/>
              </a:rPr>
              <a:t> number on</a:t>
            </a:r>
            <a:r>
              <a:rPr sz="3600" spc="-5" dirty="0">
                <a:solidFill>
                  <a:srgbClr val="2E377E"/>
                </a:solidFill>
                <a:latin typeface="Georgia"/>
                <a:cs typeface="Georgia"/>
              </a:rPr>
              <a:t> </a:t>
            </a:r>
            <a:r>
              <a:rPr sz="3600" spc="55" dirty="0">
                <a:solidFill>
                  <a:srgbClr val="2E377E"/>
                </a:solidFill>
                <a:latin typeface="Georgia"/>
                <a:cs typeface="Georgia"/>
              </a:rPr>
              <a:t>which</a:t>
            </a:r>
            <a:r>
              <a:rPr sz="3600" dirty="0">
                <a:solidFill>
                  <a:srgbClr val="2E377E"/>
                </a:solidFill>
                <a:latin typeface="Georgia"/>
                <a:cs typeface="Georgia"/>
              </a:rPr>
              <a:t> </a:t>
            </a:r>
            <a:r>
              <a:rPr sz="3600" spc="60" dirty="0">
                <a:solidFill>
                  <a:srgbClr val="2E377E"/>
                </a:solidFill>
                <a:latin typeface="Georgia"/>
                <a:cs typeface="Georgia"/>
              </a:rPr>
              <a:t>the</a:t>
            </a:r>
            <a:r>
              <a:rPr sz="3600" dirty="0">
                <a:solidFill>
                  <a:srgbClr val="2E377E"/>
                </a:solidFill>
                <a:latin typeface="Georgia"/>
                <a:cs typeface="Georgia"/>
              </a:rPr>
              <a:t> </a:t>
            </a:r>
            <a:r>
              <a:rPr sz="3600" spc="65" dirty="0">
                <a:solidFill>
                  <a:srgbClr val="2E377E"/>
                </a:solidFill>
                <a:latin typeface="Georgia"/>
                <a:cs typeface="Georgia"/>
              </a:rPr>
              <a:t>service</a:t>
            </a:r>
            <a:r>
              <a:rPr sz="3600" dirty="0">
                <a:solidFill>
                  <a:srgbClr val="2E377E"/>
                </a:solidFill>
                <a:latin typeface="Georgia"/>
                <a:cs typeface="Georgia"/>
              </a:rPr>
              <a:t> </a:t>
            </a:r>
            <a:r>
              <a:rPr sz="3600" spc="55" dirty="0">
                <a:solidFill>
                  <a:srgbClr val="2E377E"/>
                </a:solidFill>
                <a:latin typeface="Georgia"/>
                <a:cs typeface="Georgia"/>
              </a:rPr>
              <a:t>will</a:t>
            </a:r>
            <a:r>
              <a:rPr sz="3600" spc="-5" dirty="0">
                <a:solidFill>
                  <a:srgbClr val="2E377E"/>
                </a:solidFill>
                <a:latin typeface="Georgia"/>
                <a:cs typeface="Georgia"/>
              </a:rPr>
              <a:t> </a:t>
            </a:r>
            <a:r>
              <a:rPr sz="3600" dirty="0">
                <a:solidFill>
                  <a:srgbClr val="2E377E"/>
                </a:solidFill>
                <a:latin typeface="Georgia"/>
                <a:cs typeface="Georgia"/>
              </a:rPr>
              <a:t>listen for incoming </a:t>
            </a:r>
            <a:r>
              <a:rPr sz="3600" spc="-10" dirty="0">
                <a:solidFill>
                  <a:srgbClr val="2E377E"/>
                </a:solidFill>
                <a:latin typeface="Georgia"/>
                <a:cs typeface="Georgia"/>
              </a:rPr>
              <a:t>traffic. </a:t>
            </a:r>
            <a:r>
              <a:rPr sz="3600" dirty="0">
                <a:solidFill>
                  <a:srgbClr val="2E377E"/>
                </a:solidFill>
                <a:latin typeface="Georgia"/>
                <a:cs typeface="Georgia"/>
              </a:rPr>
              <a:t>TargetPort:</a:t>
            </a:r>
            <a:r>
              <a:rPr sz="3600" spc="20" dirty="0">
                <a:solidFill>
                  <a:srgbClr val="2E377E"/>
                </a:solidFill>
                <a:latin typeface="Georgia"/>
                <a:cs typeface="Georgia"/>
              </a:rPr>
              <a:t> </a:t>
            </a:r>
            <a:r>
              <a:rPr sz="3600" dirty="0">
                <a:solidFill>
                  <a:srgbClr val="2E377E"/>
                </a:solidFill>
                <a:latin typeface="Georgia"/>
                <a:cs typeface="Georgia"/>
              </a:rPr>
              <a:t>The</a:t>
            </a:r>
            <a:r>
              <a:rPr sz="3600" spc="25" dirty="0">
                <a:solidFill>
                  <a:srgbClr val="2E377E"/>
                </a:solidFill>
                <a:latin typeface="Georgia"/>
                <a:cs typeface="Georgia"/>
              </a:rPr>
              <a:t> </a:t>
            </a:r>
            <a:r>
              <a:rPr sz="3600" spc="50" dirty="0">
                <a:solidFill>
                  <a:srgbClr val="2E377E"/>
                </a:solidFill>
                <a:latin typeface="Georgia"/>
                <a:cs typeface="Georgia"/>
              </a:rPr>
              <a:t>port</a:t>
            </a:r>
            <a:r>
              <a:rPr sz="3600" spc="25" dirty="0">
                <a:solidFill>
                  <a:srgbClr val="2E377E"/>
                </a:solidFill>
                <a:latin typeface="Georgia"/>
                <a:cs typeface="Georgia"/>
              </a:rPr>
              <a:t> </a:t>
            </a:r>
            <a:r>
              <a:rPr sz="3600" dirty="0">
                <a:solidFill>
                  <a:srgbClr val="2E377E"/>
                </a:solidFill>
                <a:latin typeface="Georgia"/>
                <a:cs typeface="Georgia"/>
              </a:rPr>
              <a:t>number</a:t>
            </a:r>
            <a:r>
              <a:rPr sz="3600" spc="25" dirty="0">
                <a:solidFill>
                  <a:srgbClr val="2E377E"/>
                </a:solidFill>
                <a:latin typeface="Georgia"/>
                <a:cs typeface="Georgia"/>
              </a:rPr>
              <a:t> </a:t>
            </a:r>
            <a:r>
              <a:rPr sz="3600" dirty="0">
                <a:solidFill>
                  <a:srgbClr val="2E377E"/>
                </a:solidFill>
                <a:latin typeface="Georgia"/>
                <a:cs typeface="Georgia"/>
              </a:rPr>
              <a:t>on</a:t>
            </a:r>
            <a:r>
              <a:rPr sz="3600" spc="25" dirty="0">
                <a:solidFill>
                  <a:srgbClr val="2E377E"/>
                </a:solidFill>
                <a:latin typeface="Georgia"/>
                <a:cs typeface="Georgia"/>
              </a:rPr>
              <a:t> </a:t>
            </a:r>
            <a:r>
              <a:rPr sz="3600" spc="55" dirty="0">
                <a:solidFill>
                  <a:srgbClr val="2E377E"/>
                </a:solidFill>
                <a:latin typeface="Georgia"/>
                <a:cs typeface="Georgia"/>
              </a:rPr>
              <a:t>which</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pods</a:t>
            </a:r>
            <a:r>
              <a:rPr sz="3600" spc="20" dirty="0">
                <a:solidFill>
                  <a:srgbClr val="2E377E"/>
                </a:solidFill>
                <a:latin typeface="Georgia"/>
                <a:cs typeface="Georgia"/>
              </a:rPr>
              <a:t> </a:t>
            </a:r>
            <a:r>
              <a:rPr sz="3600" dirty="0">
                <a:solidFill>
                  <a:srgbClr val="2E377E"/>
                </a:solidFill>
                <a:latin typeface="Georgia"/>
                <a:cs typeface="Georgia"/>
              </a:rPr>
              <a:t>are</a:t>
            </a:r>
            <a:r>
              <a:rPr sz="3600" spc="25" dirty="0">
                <a:solidFill>
                  <a:srgbClr val="2E377E"/>
                </a:solidFill>
                <a:latin typeface="Georgia"/>
                <a:cs typeface="Georgia"/>
              </a:rPr>
              <a:t> </a:t>
            </a:r>
            <a:r>
              <a:rPr sz="3600" dirty="0">
                <a:solidFill>
                  <a:srgbClr val="2E377E"/>
                </a:solidFill>
                <a:latin typeface="Georgia"/>
                <a:cs typeface="Georgia"/>
              </a:rPr>
              <a:t>listening</a:t>
            </a:r>
            <a:r>
              <a:rPr sz="3600" spc="25" dirty="0">
                <a:solidFill>
                  <a:srgbClr val="2E377E"/>
                </a:solidFill>
                <a:latin typeface="Georgia"/>
                <a:cs typeface="Georgia"/>
              </a:rPr>
              <a:t> </a:t>
            </a:r>
            <a:r>
              <a:rPr sz="3600" dirty="0">
                <a:solidFill>
                  <a:srgbClr val="2E377E"/>
                </a:solidFill>
                <a:latin typeface="Georgia"/>
                <a:cs typeface="Georgia"/>
              </a:rPr>
              <a:t>for</a:t>
            </a:r>
            <a:r>
              <a:rPr sz="3600" spc="25" dirty="0">
                <a:solidFill>
                  <a:srgbClr val="2E377E"/>
                </a:solidFill>
                <a:latin typeface="Georgia"/>
                <a:cs typeface="Georgia"/>
              </a:rPr>
              <a:t> </a:t>
            </a:r>
            <a:r>
              <a:rPr sz="3600" spc="-10" dirty="0">
                <a:solidFill>
                  <a:srgbClr val="2E377E"/>
                </a:solidFill>
                <a:latin typeface="Georgia"/>
                <a:cs typeface="Georgia"/>
              </a:rPr>
              <a:t>traffic.</a:t>
            </a:r>
            <a:endParaRPr sz="3600">
              <a:latin typeface="Georgia"/>
              <a:cs typeface="Georgia"/>
            </a:endParaRPr>
          </a:p>
          <a:p>
            <a:pPr marL="789305" marR="259715">
              <a:lnSpc>
                <a:spcPct val="116300"/>
              </a:lnSpc>
            </a:pPr>
            <a:r>
              <a:rPr sz="3600" dirty="0">
                <a:solidFill>
                  <a:srgbClr val="2E377E"/>
                </a:solidFill>
                <a:latin typeface="Georgia"/>
                <a:cs typeface="Georgia"/>
              </a:rPr>
              <a:t>Type:</a:t>
            </a:r>
            <a:r>
              <a:rPr sz="3600" spc="-20" dirty="0">
                <a:solidFill>
                  <a:srgbClr val="2E377E"/>
                </a:solidFill>
                <a:latin typeface="Georgia"/>
                <a:cs typeface="Georgia"/>
              </a:rPr>
              <a:t> </a:t>
            </a:r>
            <a:r>
              <a:rPr sz="3600" dirty="0">
                <a:solidFill>
                  <a:srgbClr val="2E377E"/>
                </a:solidFill>
                <a:latin typeface="Georgia"/>
                <a:cs typeface="Georgia"/>
              </a:rPr>
              <a:t>The</a:t>
            </a:r>
            <a:r>
              <a:rPr sz="3600" spc="-15" dirty="0">
                <a:solidFill>
                  <a:srgbClr val="2E377E"/>
                </a:solidFill>
                <a:latin typeface="Georgia"/>
                <a:cs typeface="Georgia"/>
              </a:rPr>
              <a:t> </a:t>
            </a:r>
            <a:r>
              <a:rPr sz="3600" spc="100" dirty="0">
                <a:solidFill>
                  <a:srgbClr val="2E377E"/>
                </a:solidFill>
                <a:latin typeface="Georgia"/>
                <a:cs typeface="Georgia"/>
              </a:rPr>
              <a:t>type</a:t>
            </a:r>
            <a:r>
              <a:rPr sz="3600" spc="-15"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service,</a:t>
            </a:r>
            <a:r>
              <a:rPr sz="3600" spc="-20" dirty="0">
                <a:solidFill>
                  <a:srgbClr val="2E377E"/>
                </a:solidFill>
                <a:latin typeface="Georgia"/>
                <a:cs typeface="Georgia"/>
              </a:rPr>
              <a:t> </a:t>
            </a:r>
            <a:r>
              <a:rPr sz="3600" dirty="0">
                <a:solidFill>
                  <a:srgbClr val="2E377E"/>
                </a:solidFill>
                <a:latin typeface="Georgia"/>
                <a:cs typeface="Georgia"/>
              </a:rPr>
              <a:t>such</a:t>
            </a:r>
            <a:r>
              <a:rPr sz="3600" spc="-15" dirty="0">
                <a:solidFill>
                  <a:srgbClr val="2E377E"/>
                </a:solidFill>
                <a:latin typeface="Georgia"/>
                <a:cs typeface="Georgia"/>
              </a:rPr>
              <a:t> </a:t>
            </a:r>
            <a:r>
              <a:rPr sz="3600" dirty="0">
                <a:solidFill>
                  <a:srgbClr val="2E377E"/>
                </a:solidFill>
                <a:latin typeface="Georgia"/>
                <a:cs typeface="Georgia"/>
              </a:rPr>
              <a:t>as</a:t>
            </a:r>
            <a:r>
              <a:rPr sz="3600" spc="-15" dirty="0">
                <a:solidFill>
                  <a:srgbClr val="2E377E"/>
                </a:solidFill>
                <a:latin typeface="Georgia"/>
                <a:cs typeface="Georgia"/>
              </a:rPr>
              <a:t> </a:t>
            </a:r>
            <a:r>
              <a:rPr sz="3600" dirty="0">
                <a:solidFill>
                  <a:srgbClr val="2E377E"/>
                </a:solidFill>
                <a:latin typeface="Georgia"/>
                <a:cs typeface="Georgia"/>
              </a:rPr>
              <a:t>ClusterIP,</a:t>
            </a:r>
            <a:r>
              <a:rPr sz="3600" spc="-15" dirty="0">
                <a:solidFill>
                  <a:srgbClr val="2E377E"/>
                </a:solidFill>
                <a:latin typeface="Georgia"/>
                <a:cs typeface="Georgia"/>
              </a:rPr>
              <a:t> </a:t>
            </a:r>
            <a:r>
              <a:rPr sz="3600" dirty="0">
                <a:solidFill>
                  <a:srgbClr val="2E377E"/>
                </a:solidFill>
                <a:latin typeface="Georgia"/>
                <a:cs typeface="Georgia"/>
              </a:rPr>
              <a:t>NodePort,</a:t>
            </a:r>
            <a:r>
              <a:rPr sz="3600" spc="-15" dirty="0">
                <a:solidFill>
                  <a:srgbClr val="2E377E"/>
                </a:solidFill>
                <a:latin typeface="Georgia"/>
                <a:cs typeface="Georgia"/>
              </a:rPr>
              <a:t> </a:t>
            </a:r>
            <a:r>
              <a:rPr sz="3600" spc="-10" dirty="0">
                <a:solidFill>
                  <a:srgbClr val="2E377E"/>
                </a:solidFill>
                <a:latin typeface="Georgia"/>
                <a:cs typeface="Georgia"/>
              </a:rPr>
              <a:t>LoadBalancer,</a:t>
            </a:r>
            <a:r>
              <a:rPr sz="3600" spc="-15" dirty="0">
                <a:solidFill>
                  <a:srgbClr val="2E377E"/>
                </a:solidFill>
                <a:latin typeface="Georgia"/>
                <a:cs typeface="Georgia"/>
              </a:rPr>
              <a:t> </a:t>
            </a:r>
            <a:r>
              <a:rPr sz="3600" spc="-25" dirty="0">
                <a:solidFill>
                  <a:srgbClr val="2E377E"/>
                </a:solidFill>
                <a:latin typeface="Georgia"/>
                <a:cs typeface="Georgia"/>
              </a:rPr>
              <a:t>or </a:t>
            </a:r>
            <a:r>
              <a:rPr sz="3600" spc="-10" dirty="0">
                <a:solidFill>
                  <a:srgbClr val="2E377E"/>
                </a:solidFill>
                <a:latin typeface="Georgia"/>
                <a:cs typeface="Georgia"/>
              </a:rPr>
              <a:t>ExternalName.</a:t>
            </a:r>
            <a:endParaRPr sz="3600">
              <a:latin typeface="Georgia"/>
              <a:cs typeface="Georgia"/>
            </a:endParaRPr>
          </a:p>
        </p:txBody>
      </p:sp>
      <p:sp>
        <p:nvSpPr>
          <p:cNvPr id="7" name="object 7"/>
          <p:cNvSpPr txBox="1">
            <a:spLocks noGrp="1"/>
          </p:cNvSpPr>
          <p:nvPr>
            <p:ph type="title"/>
          </p:nvPr>
        </p:nvSpPr>
        <p:spPr>
          <a:prstGeom prst="rect">
            <a:avLst/>
          </a:prstGeom>
        </p:spPr>
        <p:txBody>
          <a:bodyPr vert="horz" wrap="square" lIns="0" tIns="517855" rIns="0" bIns="0" rtlCol="0">
            <a:spAutoFit/>
          </a:bodyPr>
          <a:lstStyle/>
          <a:p>
            <a:pPr marL="299085">
              <a:lnSpc>
                <a:spcPct val="100000"/>
              </a:lnSpc>
              <a:spcBef>
                <a:spcPts val="100"/>
              </a:spcBef>
            </a:pPr>
            <a:r>
              <a:rPr spc="-130" dirty="0">
                <a:solidFill>
                  <a:srgbClr val="FF3131"/>
                </a:solidFill>
              </a:rPr>
              <a:t>COMPONENTS</a:t>
            </a:r>
            <a:r>
              <a:rPr spc="-135" dirty="0">
                <a:solidFill>
                  <a:srgbClr val="FF3131"/>
                </a:solidFill>
              </a:rPr>
              <a:t> </a:t>
            </a:r>
            <a:r>
              <a:rPr spc="-320" dirty="0">
                <a:solidFill>
                  <a:srgbClr val="FF3131"/>
                </a:solidFill>
              </a:rPr>
              <a:t>OF</a:t>
            </a:r>
            <a:r>
              <a:rPr spc="-55" dirty="0">
                <a:solidFill>
                  <a:srgbClr val="FF3131"/>
                </a:solidFill>
              </a:rPr>
              <a:t> </a:t>
            </a:r>
            <a:r>
              <a:rPr spc="-175" dirty="0">
                <a:solidFill>
                  <a:srgbClr val="FF3131"/>
                </a:solidFill>
              </a:rPr>
              <a:t>SERVICES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25625" y="1546458"/>
            <a:ext cx="8496299" cy="4724399"/>
          </a:xfrm>
          <a:prstGeom prst="rect">
            <a:avLst/>
          </a:prstGeom>
        </p:spPr>
      </p:pic>
      <p:pic>
        <p:nvPicPr>
          <p:cNvPr id="3" name="object 3"/>
          <p:cNvPicPr/>
          <p:nvPr/>
        </p:nvPicPr>
        <p:blipFill>
          <a:blip r:embed="rId3" cstate="print"/>
          <a:stretch>
            <a:fillRect/>
          </a:stretch>
        </p:blipFill>
        <p:spPr>
          <a:xfrm>
            <a:off x="482107" y="7006035"/>
            <a:ext cx="133350" cy="133350"/>
          </a:xfrm>
          <a:prstGeom prst="rect">
            <a:avLst/>
          </a:prstGeom>
        </p:spPr>
      </p:pic>
      <p:pic>
        <p:nvPicPr>
          <p:cNvPr id="4" name="object 4"/>
          <p:cNvPicPr/>
          <p:nvPr/>
        </p:nvPicPr>
        <p:blipFill>
          <a:blip r:embed="rId4" cstate="print"/>
          <a:stretch>
            <a:fillRect/>
          </a:stretch>
        </p:blipFill>
        <p:spPr>
          <a:xfrm>
            <a:off x="482107" y="7644210"/>
            <a:ext cx="133350" cy="133350"/>
          </a:xfrm>
          <a:prstGeom prst="rect">
            <a:avLst/>
          </a:prstGeom>
        </p:spPr>
      </p:pic>
      <p:pic>
        <p:nvPicPr>
          <p:cNvPr id="5" name="object 5"/>
          <p:cNvPicPr/>
          <p:nvPr/>
        </p:nvPicPr>
        <p:blipFill>
          <a:blip r:embed="rId4" cstate="print"/>
          <a:stretch>
            <a:fillRect/>
          </a:stretch>
        </p:blipFill>
        <p:spPr>
          <a:xfrm>
            <a:off x="482107" y="8282385"/>
            <a:ext cx="133350" cy="133350"/>
          </a:xfrm>
          <a:prstGeom prst="rect">
            <a:avLst/>
          </a:prstGeom>
        </p:spPr>
      </p:pic>
      <p:pic>
        <p:nvPicPr>
          <p:cNvPr id="6" name="object 6"/>
          <p:cNvPicPr/>
          <p:nvPr/>
        </p:nvPicPr>
        <p:blipFill>
          <a:blip r:embed="rId4" cstate="print"/>
          <a:stretch>
            <a:fillRect/>
          </a:stretch>
        </p:blipFill>
        <p:spPr>
          <a:xfrm>
            <a:off x="482107" y="8920560"/>
            <a:ext cx="133350" cy="133350"/>
          </a:xfrm>
          <a:prstGeom prst="rect">
            <a:avLst/>
          </a:prstGeom>
        </p:spPr>
      </p:pic>
      <p:sp>
        <p:nvSpPr>
          <p:cNvPr id="7" name="object 7"/>
          <p:cNvSpPr txBox="1">
            <a:spLocks noGrp="1"/>
          </p:cNvSpPr>
          <p:nvPr>
            <p:ph type="title"/>
          </p:nvPr>
        </p:nvSpPr>
        <p:spPr>
          <a:xfrm>
            <a:off x="469407" y="176341"/>
            <a:ext cx="3814445" cy="787400"/>
          </a:xfrm>
          <a:prstGeom prst="rect">
            <a:avLst/>
          </a:prstGeom>
        </p:spPr>
        <p:txBody>
          <a:bodyPr vert="horz" wrap="square" lIns="0" tIns="12700" rIns="0" bIns="0" rtlCol="0">
            <a:spAutoFit/>
          </a:bodyPr>
          <a:lstStyle/>
          <a:p>
            <a:pPr marL="12700">
              <a:lnSpc>
                <a:spcPct val="100000"/>
              </a:lnSpc>
              <a:spcBef>
                <a:spcPts val="100"/>
              </a:spcBef>
            </a:pPr>
            <a:r>
              <a:rPr spc="-215" dirty="0">
                <a:solidFill>
                  <a:srgbClr val="FF3131"/>
                </a:solidFill>
              </a:rPr>
              <a:t>CLUSTER-</a:t>
            </a:r>
            <a:r>
              <a:rPr spc="-140" dirty="0">
                <a:solidFill>
                  <a:srgbClr val="FF3131"/>
                </a:solidFill>
              </a:rPr>
              <a:t>IP:</a:t>
            </a:r>
          </a:p>
        </p:txBody>
      </p:sp>
      <p:sp>
        <p:nvSpPr>
          <p:cNvPr id="8" name="object 8"/>
          <p:cNvSpPr txBox="1"/>
          <p:nvPr/>
        </p:nvSpPr>
        <p:spPr>
          <a:xfrm>
            <a:off x="764482" y="6664134"/>
            <a:ext cx="15638144" cy="257810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To</a:t>
            </a:r>
            <a:r>
              <a:rPr sz="3600" spc="-15" dirty="0">
                <a:solidFill>
                  <a:srgbClr val="2E377E"/>
                </a:solidFill>
                <a:latin typeface="Georgia"/>
                <a:cs typeface="Georgia"/>
              </a:rPr>
              <a:t> </a:t>
            </a:r>
            <a:r>
              <a:rPr sz="3600" spc="50" dirty="0">
                <a:solidFill>
                  <a:srgbClr val="2E377E"/>
                </a:solidFill>
                <a:latin typeface="Georgia"/>
                <a:cs typeface="Georgia"/>
              </a:rPr>
              <a:t>deploy</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application</a:t>
            </a:r>
            <a:r>
              <a:rPr sz="3600" spc="-10"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spc="55" dirty="0">
                <a:solidFill>
                  <a:srgbClr val="2E377E"/>
                </a:solidFill>
                <a:latin typeface="Georgia"/>
                <a:cs typeface="Georgia"/>
              </a:rPr>
              <a:t>create</a:t>
            </a:r>
            <a:r>
              <a:rPr sz="3600" spc="-10" dirty="0">
                <a:solidFill>
                  <a:srgbClr val="2E377E"/>
                </a:solidFill>
                <a:latin typeface="Georgia"/>
                <a:cs typeface="Georgia"/>
              </a:rPr>
              <a:t> </a:t>
            </a:r>
            <a:r>
              <a:rPr sz="3600" dirty="0">
                <a:solidFill>
                  <a:srgbClr val="2E377E"/>
                </a:solidFill>
                <a:latin typeface="Georgia"/>
                <a:cs typeface="Georgia"/>
              </a:rPr>
              <a:t>a</a:t>
            </a:r>
            <a:r>
              <a:rPr sz="3600" spc="-15" dirty="0">
                <a:solidFill>
                  <a:srgbClr val="2E377E"/>
                </a:solidFill>
                <a:latin typeface="Georgia"/>
                <a:cs typeface="Georgia"/>
              </a:rPr>
              <a:t> </a:t>
            </a:r>
            <a:r>
              <a:rPr sz="3600" dirty="0">
                <a:solidFill>
                  <a:srgbClr val="2E377E"/>
                </a:solidFill>
                <a:latin typeface="Georgia"/>
                <a:cs typeface="Georgia"/>
              </a:rPr>
              <a:t>container,</a:t>
            </a:r>
            <a:r>
              <a:rPr sz="3600" spc="-10" dirty="0">
                <a:solidFill>
                  <a:srgbClr val="2E377E"/>
                </a:solidFill>
                <a:latin typeface="Georgia"/>
                <a:cs typeface="Georgia"/>
              </a:rPr>
              <a:t> </a:t>
            </a:r>
            <a:r>
              <a:rPr sz="3600" spc="55" dirty="0">
                <a:solidFill>
                  <a:srgbClr val="2E377E"/>
                </a:solidFill>
                <a:latin typeface="Georgia"/>
                <a:cs typeface="Georgia"/>
              </a:rPr>
              <a:t>which</a:t>
            </a:r>
            <a:r>
              <a:rPr sz="3600" spc="-10" dirty="0">
                <a:solidFill>
                  <a:srgbClr val="2E377E"/>
                </a:solidFill>
                <a:latin typeface="Georgia"/>
                <a:cs typeface="Georgia"/>
              </a:rPr>
              <a:t> </a:t>
            </a:r>
            <a:r>
              <a:rPr sz="3600" spc="50" dirty="0">
                <a:solidFill>
                  <a:srgbClr val="2E377E"/>
                </a:solidFill>
                <a:latin typeface="Georgia"/>
                <a:cs typeface="Georgia"/>
              </a:rPr>
              <a:t>stores</a:t>
            </a:r>
            <a:r>
              <a:rPr sz="3600" spc="-15" dirty="0">
                <a:solidFill>
                  <a:srgbClr val="2E377E"/>
                </a:solidFill>
                <a:latin typeface="Georgia"/>
                <a:cs typeface="Georgia"/>
              </a:rPr>
              <a:t> </a:t>
            </a:r>
            <a:r>
              <a:rPr sz="3600" dirty="0">
                <a:solidFill>
                  <a:srgbClr val="2E377E"/>
                </a:solidFill>
                <a:latin typeface="Georgia"/>
                <a:cs typeface="Georgia"/>
              </a:rPr>
              <a:t>inside</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spc="-20" dirty="0">
                <a:solidFill>
                  <a:srgbClr val="2E377E"/>
                </a:solidFill>
                <a:latin typeface="Georgia"/>
                <a:cs typeface="Georgia"/>
              </a:rPr>
              <a:t>pod. </a:t>
            </a:r>
            <a:r>
              <a:rPr sz="3600" dirty="0">
                <a:solidFill>
                  <a:srgbClr val="2E377E"/>
                </a:solidFill>
                <a:latin typeface="Georgia"/>
                <a:cs typeface="Georgia"/>
              </a:rPr>
              <a:t>After</a:t>
            </a:r>
            <a:r>
              <a:rPr sz="3600" spc="15" dirty="0">
                <a:solidFill>
                  <a:srgbClr val="2E377E"/>
                </a:solidFill>
                <a:latin typeface="Georgia"/>
                <a:cs typeface="Georgia"/>
              </a:rPr>
              <a:t> </a:t>
            </a:r>
            <a:r>
              <a:rPr sz="3600" dirty="0">
                <a:solidFill>
                  <a:srgbClr val="2E377E"/>
                </a:solidFill>
                <a:latin typeface="Georgia"/>
                <a:cs typeface="Georgia"/>
              </a:rPr>
              <a:t>container</a:t>
            </a:r>
            <a:r>
              <a:rPr sz="3600" spc="15"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spc="50" dirty="0">
                <a:solidFill>
                  <a:srgbClr val="2E377E"/>
                </a:solidFill>
                <a:latin typeface="Georgia"/>
                <a:cs typeface="Georgia"/>
              </a:rPr>
              <a:t>created</a:t>
            </a:r>
            <a:r>
              <a:rPr sz="3600" spc="15" dirty="0">
                <a:solidFill>
                  <a:srgbClr val="2E377E"/>
                </a:solidFill>
                <a:latin typeface="Georgia"/>
                <a:cs typeface="Georgia"/>
              </a:rPr>
              <a:t> </a:t>
            </a:r>
            <a:r>
              <a:rPr sz="3600" spc="140" dirty="0">
                <a:solidFill>
                  <a:srgbClr val="2E377E"/>
                </a:solidFill>
                <a:latin typeface="Georgia"/>
                <a:cs typeface="Georgia"/>
              </a:rPr>
              <a:t>we</a:t>
            </a:r>
            <a:r>
              <a:rPr sz="3600" spc="20"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dirty="0">
                <a:solidFill>
                  <a:srgbClr val="2E377E"/>
                </a:solidFill>
                <a:latin typeface="Georgia"/>
                <a:cs typeface="Georgia"/>
              </a:rPr>
              <a:t>be</a:t>
            </a:r>
            <a:r>
              <a:rPr sz="3600" spc="20" dirty="0">
                <a:solidFill>
                  <a:srgbClr val="2E377E"/>
                </a:solidFill>
                <a:latin typeface="Georgia"/>
                <a:cs typeface="Georgia"/>
              </a:rPr>
              <a:t> </a:t>
            </a:r>
            <a:r>
              <a:rPr sz="3600" spc="50" dirty="0">
                <a:solidFill>
                  <a:srgbClr val="2E377E"/>
                </a:solidFill>
                <a:latin typeface="Georgia"/>
                <a:cs typeface="Georgia"/>
              </a:rPr>
              <a:t>not</a:t>
            </a:r>
            <a:r>
              <a:rPr sz="3600" spc="15" dirty="0">
                <a:solidFill>
                  <a:srgbClr val="2E377E"/>
                </a:solidFill>
                <a:latin typeface="Georgia"/>
                <a:cs typeface="Georgia"/>
              </a:rPr>
              <a:t> </a:t>
            </a:r>
            <a:r>
              <a:rPr sz="3600" dirty="0">
                <a:solidFill>
                  <a:srgbClr val="2E377E"/>
                </a:solidFill>
                <a:latin typeface="Georgia"/>
                <a:cs typeface="Georgia"/>
              </a:rPr>
              <a:t>able</a:t>
            </a:r>
            <a:r>
              <a:rPr sz="3600" spc="20"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access</a:t>
            </a:r>
            <a:r>
              <a:rPr sz="3600" spc="2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spc="-10" dirty="0">
                <a:solidFill>
                  <a:srgbClr val="2E377E"/>
                </a:solidFill>
                <a:latin typeface="Georgia"/>
                <a:cs typeface="Georgia"/>
              </a:rPr>
              <a:t>application.</a:t>
            </a:r>
            <a:endParaRPr sz="3600">
              <a:latin typeface="Georgia"/>
              <a:cs typeface="Georgia"/>
            </a:endParaRPr>
          </a:p>
          <a:p>
            <a:pPr marL="12700" marR="2905125">
              <a:lnSpc>
                <a:spcPct val="116300"/>
              </a:lnSpc>
            </a:pPr>
            <a:r>
              <a:rPr sz="3600" dirty="0">
                <a:solidFill>
                  <a:srgbClr val="2E377E"/>
                </a:solidFill>
                <a:latin typeface="Georgia"/>
                <a:cs typeface="Georgia"/>
              </a:rPr>
              <a:t>Because</a:t>
            </a:r>
            <a:r>
              <a:rPr sz="3600" spc="45" dirty="0">
                <a:solidFill>
                  <a:srgbClr val="2E377E"/>
                </a:solidFill>
                <a:latin typeface="Georgia"/>
                <a:cs typeface="Georgia"/>
              </a:rPr>
              <a:t> </a:t>
            </a:r>
            <a:r>
              <a:rPr sz="3600" spc="140" dirty="0">
                <a:solidFill>
                  <a:srgbClr val="2E377E"/>
                </a:solidFill>
                <a:latin typeface="Georgia"/>
                <a:cs typeface="Georgia"/>
              </a:rPr>
              <a:t>we</a:t>
            </a:r>
            <a:r>
              <a:rPr sz="3600" spc="50" dirty="0">
                <a:solidFill>
                  <a:srgbClr val="2E377E"/>
                </a:solidFill>
                <a:latin typeface="Georgia"/>
                <a:cs typeface="Georgia"/>
              </a:rPr>
              <a:t> </a:t>
            </a:r>
            <a:r>
              <a:rPr sz="3600" dirty="0">
                <a:solidFill>
                  <a:srgbClr val="2E377E"/>
                </a:solidFill>
                <a:latin typeface="Georgia"/>
                <a:cs typeface="Georgia"/>
              </a:rPr>
              <a:t>cannot</a:t>
            </a:r>
            <a:r>
              <a:rPr sz="3600" spc="45" dirty="0">
                <a:solidFill>
                  <a:srgbClr val="2E377E"/>
                </a:solidFill>
                <a:latin typeface="Georgia"/>
                <a:cs typeface="Georgia"/>
              </a:rPr>
              <a:t> </a:t>
            </a:r>
            <a:r>
              <a:rPr sz="3600" dirty="0">
                <a:solidFill>
                  <a:srgbClr val="2E377E"/>
                </a:solidFill>
                <a:latin typeface="Georgia"/>
                <a:cs typeface="Georgia"/>
              </a:rPr>
              <a:t>access</a:t>
            </a:r>
            <a:r>
              <a:rPr sz="3600" spc="50"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pods</a:t>
            </a:r>
            <a:r>
              <a:rPr sz="3600" spc="50" dirty="0">
                <a:solidFill>
                  <a:srgbClr val="2E377E"/>
                </a:solidFill>
                <a:latin typeface="Georgia"/>
                <a:cs typeface="Georgia"/>
              </a:rPr>
              <a:t> </a:t>
            </a:r>
            <a:r>
              <a:rPr sz="3600" dirty="0">
                <a:solidFill>
                  <a:srgbClr val="2E377E"/>
                </a:solidFill>
                <a:latin typeface="Georgia"/>
                <a:cs typeface="Georgia"/>
              </a:rPr>
              <a:t>and</a:t>
            </a:r>
            <a:r>
              <a:rPr sz="3600" spc="45" dirty="0">
                <a:solidFill>
                  <a:srgbClr val="2E377E"/>
                </a:solidFill>
                <a:latin typeface="Georgia"/>
                <a:cs typeface="Georgia"/>
              </a:rPr>
              <a:t> </a:t>
            </a:r>
            <a:r>
              <a:rPr sz="3600" dirty="0">
                <a:solidFill>
                  <a:srgbClr val="2E377E"/>
                </a:solidFill>
                <a:latin typeface="Georgia"/>
                <a:cs typeface="Georgia"/>
              </a:rPr>
              <a:t>ports</a:t>
            </a:r>
            <a:r>
              <a:rPr sz="3600" spc="50" dirty="0">
                <a:solidFill>
                  <a:srgbClr val="2E377E"/>
                </a:solidFill>
                <a:latin typeface="Georgia"/>
                <a:cs typeface="Georgia"/>
              </a:rPr>
              <a:t> </a:t>
            </a:r>
            <a:r>
              <a:rPr sz="3600" dirty="0">
                <a:solidFill>
                  <a:srgbClr val="2E377E"/>
                </a:solidFill>
                <a:latin typeface="Georgia"/>
                <a:cs typeface="Georgia"/>
              </a:rPr>
              <a:t>from</a:t>
            </a:r>
            <a:r>
              <a:rPr sz="3600" spc="45" dirty="0">
                <a:solidFill>
                  <a:srgbClr val="2E377E"/>
                </a:solidFill>
                <a:latin typeface="Georgia"/>
                <a:cs typeface="Georgia"/>
              </a:rPr>
              <a:t> </a:t>
            </a:r>
            <a:r>
              <a:rPr sz="3600" spc="60" dirty="0">
                <a:solidFill>
                  <a:srgbClr val="2E377E"/>
                </a:solidFill>
                <a:latin typeface="Georgia"/>
                <a:cs typeface="Georgia"/>
              </a:rPr>
              <a:t>the</a:t>
            </a:r>
            <a:r>
              <a:rPr sz="3600" spc="50" dirty="0">
                <a:solidFill>
                  <a:srgbClr val="2E377E"/>
                </a:solidFill>
                <a:latin typeface="Georgia"/>
                <a:cs typeface="Georgia"/>
              </a:rPr>
              <a:t> </a:t>
            </a:r>
            <a:r>
              <a:rPr sz="3600" spc="-10" dirty="0">
                <a:solidFill>
                  <a:srgbClr val="2E377E"/>
                </a:solidFill>
                <a:latin typeface="Georgia"/>
                <a:cs typeface="Georgia"/>
              </a:rPr>
              <a:t>cluster. </a:t>
            </a:r>
            <a:r>
              <a:rPr sz="3600" dirty="0">
                <a:solidFill>
                  <a:srgbClr val="2E377E"/>
                </a:solidFill>
                <a:latin typeface="Georgia"/>
                <a:cs typeface="Georgia"/>
              </a:rPr>
              <a:t>To</a:t>
            </a:r>
            <a:r>
              <a:rPr sz="3600" spc="35" dirty="0">
                <a:solidFill>
                  <a:srgbClr val="2E377E"/>
                </a:solidFill>
                <a:latin typeface="Georgia"/>
                <a:cs typeface="Georgia"/>
              </a:rPr>
              <a:t> </a:t>
            </a:r>
            <a:r>
              <a:rPr sz="3600" dirty="0">
                <a:solidFill>
                  <a:srgbClr val="2E377E"/>
                </a:solidFill>
                <a:latin typeface="Georgia"/>
                <a:cs typeface="Georgia"/>
              </a:rPr>
              <a:t>Avoid</a:t>
            </a:r>
            <a:r>
              <a:rPr sz="3600" spc="35" dirty="0">
                <a:solidFill>
                  <a:srgbClr val="2E377E"/>
                </a:solidFill>
                <a:latin typeface="Georgia"/>
                <a:cs typeface="Georgia"/>
              </a:rPr>
              <a:t> </a:t>
            </a:r>
            <a:r>
              <a:rPr sz="3600" dirty="0">
                <a:solidFill>
                  <a:srgbClr val="2E377E"/>
                </a:solidFill>
                <a:latin typeface="Georgia"/>
                <a:cs typeface="Georgia"/>
              </a:rPr>
              <a:t>this</a:t>
            </a:r>
            <a:r>
              <a:rPr sz="3600" spc="35" dirty="0">
                <a:solidFill>
                  <a:srgbClr val="2E377E"/>
                </a:solidFill>
                <a:latin typeface="Georgia"/>
                <a:cs typeface="Georgia"/>
              </a:rPr>
              <a:t> </a:t>
            </a:r>
            <a:r>
              <a:rPr sz="3600" spc="140" dirty="0">
                <a:solidFill>
                  <a:srgbClr val="2E377E"/>
                </a:solidFill>
                <a:latin typeface="Georgia"/>
                <a:cs typeface="Georgia"/>
              </a:rPr>
              <a:t>we</a:t>
            </a:r>
            <a:r>
              <a:rPr sz="3600" spc="35" dirty="0">
                <a:solidFill>
                  <a:srgbClr val="2E377E"/>
                </a:solidFill>
                <a:latin typeface="Georgia"/>
                <a:cs typeface="Georgia"/>
              </a:rPr>
              <a:t> </a:t>
            </a:r>
            <a:r>
              <a:rPr sz="3600" dirty="0">
                <a:solidFill>
                  <a:srgbClr val="2E377E"/>
                </a:solidFill>
                <a:latin typeface="Georgia"/>
                <a:cs typeface="Georgia"/>
              </a:rPr>
              <a:t>are</a:t>
            </a:r>
            <a:r>
              <a:rPr sz="3600" spc="35" dirty="0">
                <a:solidFill>
                  <a:srgbClr val="2E377E"/>
                </a:solidFill>
                <a:latin typeface="Georgia"/>
                <a:cs typeface="Georgia"/>
              </a:rPr>
              <a:t> </a:t>
            </a:r>
            <a:r>
              <a:rPr sz="3600" dirty="0">
                <a:solidFill>
                  <a:srgbClr val="2E377E"/>
                </a:solidFill>
                <a:latin typeface="Georgia"/>
                <a:cs typeface="Georgia"/>
              </a:rPr>
              <a:t>creating</a:t>
            </a:r>
            <a:r>
              <a:rPr sz="3600" spc="35"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spc="-10" dirty="0">
                <a:solidFill>
                  <a:srgbClr val="2E377E"/>
                </a:solidFill>
                <a:latin typeface="Georgia"/>
                <a:cs typeface="Georgia"/>
              </a:rPr>
              <a:t>Services.</a:t>
            </a:r>
            <a:endParaRPr sz="3600">
              <a:latin typeface="Georgia"/>
              <a:cs typeface="Georgi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2468" y="1028700"/>
            <a:ext cx="6229349" cy="6610349"/>
          </a:xfrm>
          <a:prstGeom prst="rect">
            <a:avLst/>
          </a:prstGeom>
        </p:spPr>
      </p:pic>
      <p:pic>
        <p:nvPicPr>
          <p:cNvPr id="3" name="object 3"/>
          <p:cNvPicPr/>
          <p:nvPr/>
        </p:nvPicPr>
        <p:blipFill>
          <a:blip r:embed="rId3" cstate="print"/>
          <a:stretch>
            <a:fillRect/>
          </a:stretch>
        </p:blipFill>
        <p:spPr>
          <a:xfrm>
            <a:off x="7896428" y="1250594"/>
            <a:ext cx="133350" cy="133349"/>
          </a:xfrm>
          <a:prstGeom prst="rect">
            <a:avLst/>
          </a:prstGeom>
        </p:spPr>
      </p:pic>
      <p:sp>
        <p:nvSpPr>
          <p:cNvPr id="4" name="object 4"/>
          <p:cNvSpPr txBox="1"/>
          <p:nvPr/>
        </p:nvSpPr>
        <p:spPr>
          <a:xfrm>
            <a:off x="8213234" y="891184"/>
            <a:ext cx="9508490" cy="6407150"/>
          </a:xfrm>
          <a:prstGeom prst="rect">
            <a:avLst/>
          </a:prstGeom>
        </p:spPr>
        <p:txBody>
          <a:bodyPr vert="horz" wrap="square" lIns="0" tIns="12700" rIns="0" bIns="0" rtlCol="0">
            <a:spAutoFit/>
          </a:bodyPr>
          <a:lstStyle/>
          <a:p>
            <a:pPr marL="12700" marR="5080">
              <a:lnSpc>
                <a:spcPct val="116300"/>
              </a:lnSpc>
              <a:spcBef>
                <a:spcPts val="100"/>
              </a:spcBef>
              <a:tabLst>
                <a:tab pos="632460" algn="l"/>
                <a:tab pos="1593215" algn="l"/>
                <a:tab pos="2735580" algn="l"/>
                <a:tab pos="3510279" algn="l"/>
                <a:tab pos="4343400" algn="l"/>
                <a:tab pos="6368415" algn="l"/>
                <a:tab pos="7220584" algn="l"/>
              </a:tabLst>
            </a:pPr>
            <a:r>
              <a:rPr sz="3600" spc="-25" dirty="0">
                <a:solidFill>
                  <a:srgbClr val="2E377E"/>
                </a:solidFill>
                <a:latin typeface="Georgia"/>
                <a:cs typeface="Georgia"/>
              </a:rPr>
              <a:t>In</a:t>
            </a:r>
            <a:r>
              <a:rPr sz="3600" dirty="0">
                <a:solidFill>
                  <a:srgbClr val="2E377E"/>
                </a:solidFill>
                <a:latin typeface="Georgia"/>
                <a:cs typeface="Georgia"/>
              </a:rPr>
              <a:t>	</a:t>
            </a:r>
            <a:r>
              <a:rPr sz="3600" spc="-20" dirty="0">
                <a:solidFill>
                  <a:srgbClr val="2E377E"/>
                </a:solidFill>
                <a:latin typeface="Georgia"/>
                <a:cs typeface="Georgia"/>
              </a:rPr>
              <a:t>this</a:t>
            </a:r>
            <a:r>
              <a:rPr sz="3600" dirty="0">
                <a:solidFill>
                  <a:srgbClr val="2E377E"/>
                </a:solidFill>
                <a:latin typeface="Georgia"/>
                <a:cs typeface="Georgia"/>
              </a:rPr>
              <a:t>	</a:t>
            </a:r>
            <a:r>
              <a:rPr sz="3600" spc="-20" dirty="0">
                <a:solidFill>
                  <a:srgbClr val="2E377E"/>
                </a:solidFill>
                <a:latin typeface="Georgia"/>
                <a:cs typeface="Georgia"/>
              </a:rPr>
              <a:t>code</a:t>
            </a:r>
            <a:r>
              <a:rPr sz="3600" dirty="0">
                <a:solidFill>
                  <a:srgbClr val="2E377E"/>
                </a:solidFill>
                <a:latin typeface="Georgia"/>
                <a:cs typeface="Georgia"/>
              </a:rPr>
              <a:t>	</a:t>
            </a:r>
            <a:r>
              <a:rPr sz="3600" spc="114" dirty="0">
                <a:solidFill>
                  <a:srgbClr val="2E377E"/>
                </a:solidFill>
                <a:latin typeface="Georgia"/>
                <a:cs typeface="Georgia"/>
              </a:rPr>
              <a:t>we</a:t>
            </a:r>
            <a:r>
              <a:rPr sz="3600" dirty="0">
                <a:solidFill>
                  <a:srgbClr val="2E377E"/>
                </a:solidFill>
                <a:latin typeface="Georgia"/>
                <a:cs typeface="Georgia"/>
              </a:rPr>
              <a:t>	</a:t>
            </a:r>
            <a:r>
              <a:rPr sz="3600" spc="-25" dirty="0">
                <a:solidFill>
                  <a:srgbClr val="2E377E"/>
                </a:solidFill>
                <a:latin typeface="Georgia"/>
                <a:cs typeface="Georgia"/>
              </a:rPr>
              <a:t>are</a:t>
            </a:r>
            <a:r>
              <a:rPr sz="3600" dirty="0">
                <a:solidFill>
                  <a:srgbClr val="2E377E"/>
                </a:solidFill>
                <a:latin typeface="Georgia"/>
                <a:cs typeface="Georgia"/>
              </a:rPr>
              <a:t>	</a:t>
            </a:r>
            <a:r>
              <a:rPr sz="3600" spc="-10" dirty="0">
                <a:solidFill>
                  <a:srgbClr val="2E377E"/>
                </a:solidFill>
                <a:latin typeface="Georgia"/>
                <a:cs typeface="Georgia"/>
              </a:rPr>
              <a:t>exposing</a:t>
            </a:r>
            <a:r>
              <a:rPr sz="3600" dirty="0">
                <a:solidFill>
                  <a:srgbClr val="2E377E"/>
                </a:solidFill>
                <a:latin typeface="Georgia"/>
                <a:cs typeface="Georgia"/>
              </a:rPr>
              <a:t>	</a:t>
            </a:r>
            <a:r>
              <a:rPr sz="3600" spc="35" dirty="0">
                <a:solidFill>
                  <a:srgbClr val="2E377E"/>
                </a:solidFill>
                <a:latin typeface="Georgia"/>
                <a:cs typeface="Georgia"/>
              </a:rPr>
              <a:t>the</a:t>
            </a:r>
            <a:r>
              <a:rPr sz="3600" dirty="0">
                <a:solidFill>
                  <a:srgbClr val="2E377E"/>
                </a:solidFill>
                <a:latin typeface="Georgia"/>
                <a:cs typeface="Georgia"/>
              </a:rPr>
              <a:t>	</a:t>
            </a:r>
            <a:r>
              <a:rPr sz="3600" spc="-10" dirty="0">
                <a:solidFill>
                  <a:srgbClr val="2E377E"/>
                </a:solidFill>
                <a:latin typeface="Georgia"/>
                <a:cs typeface="Georgia"/>
              </a:rPr>
              <a:t>applcation. </a:t>
            </a:r>
            <a:r>
              <a:rPr sz="3600" dirty="0">
                <a:solidFill>
                  <a:srgbClr val="2E377E"/>
                </a:solidFill>
                <a:latin typeface="Georgia"/>
                <a:cs typeface="Georgia"/>
              </a:rPr>
              <a:t>here</a:t>
            </a:r>
            <a:r>
              <a:rPr sz="3600" spc="-15" dirty="0">
                <a:solidFill>
                  <a:srgbClr val="2E377E"/>
                </a:solidFill>
                <a:latin typeface="Georgia"/>
                <a:cs typeface="Georgia"/>
              </a:rPr>
              <a:t> </a:t>
            </a:r>
            <a:r>
              <a:rPr sz="3600" spc="140" dirty="0">
                <a:solidFill>
                  <a:srgbClr val="2E377E"/>
                </a:solidFill>
                <a:latin typeface="Georgia"/>
                <a:cs typeface="Georgia"/>
              </a:rPr>
              <a:t>we</a:t>
            </a:r>
            <a:r>
              <a:rPr sz="3600" spc="-20" dirty="0">
                <a:solidFill>
                  <a:srgbClr val="2E377E"/>
                </a:solidFill>
                <a:latin typeface="Georgia"/>
                <a:cs typeface="Georgia"/>
              </a:rPr>
              <a:t> </a:t>
            </a:r>
            <a:r>
              <a:rPr sz="3600" spc="50" dirty="0">
                <a:solidFill>
                  <a:srgbClr val="2E377E"/>
                </a:solidFill>
                <a:latin typeface="Georgia"/>
                <a:cs typeface="Georgia"/>
              </a:rPr>
              <a:t>use</a:t>
            </a:r>
            <a:r>
              <a:rPr sz="3600" spc="-15" dirty="0">
                <a:solidFill>
                  <a:srgbClr val="2E377E"/>
                </a:solidFill>
                <a:latin typeface="Georgia"/>
                <a:cs typeface="Georgia"/>
              </a:rPr>
              <a:t> </a:t>
            </a:r>
            <a:r>
              <a:rPr sz="3600" spc="45" dirty="0">
                <a:solidFill>
                  <a:srgbClr val="2E377E"/>
                </a:solidFill>
                <a:latin typeface="Georgia"/>
                <a:cs typeface="Georgia"/>
              </a:rPr>
              <a:t>clusterip</a:t>
            </a:r>
            <a:r>
              <a:rPr sz="3600" spc="-15" dirty="0">
                <a:solidFill>
                  <a:srgbClr val="2E377E"/>
                </a:solidFill>
                <a:latin typeface="Georgia"/>
                <a:cs typeface="Georgia"/>
              </a:rPr>
              <a:t> </a:t>
            </a:r>
            <a:r>
              <a:rPr sz="3600" spc="55" dirty="0">
                <a:solidFill>
                  <a:srgbClr val="2E377E"/>
                </a:solidFill>
                <a:latin typeface="Georgia"/>
                <a:cs typeface="Georgia"/>
              </a:rPr>
              <a:t>service</a:t>
            </a:r>
            <a:endParaRPr sz="3600">
              <a:latin typeface="Georgia"/>
              <a:cs typeface="Georgia"/>
            </a:endParaRPr>
          </a:p>
          <a:p>
            <a:pPr marL="12700" marR="5080">
              <a:lnSpc>
                <a:spcPct val="116300"/>
              </a:lnSpc>
            </a:pPr>
            <a:r>
              <a:rPr sz="3600" dirty="0">
                <a:solidFill>
                  <a:srgbClr val="2E377E"/>
                </a:solidFill>
                <a:latin typeface="Georgia"/>
                <a:cs typeface="Georgia"/>
              </a:rPr>
              <a:t>By</a:t>
            </a:r>
            <a:r>
              <a:rPr sz="3600" spc="254" dirty="0">
                <a:solidFill>
                  <a:srgbClr val="2E377E"/>
                </a:solidFill>
                <a:latin typeface="Georgia"/>
                <a:cs typeface="Georgia"/>
              </a:rPr>
              <a:t> </a:t>
            </a:r>
            <a:r>
              <a:rPr sz="3600" dirty="0">
                <a:solidFill>
                  <a:srgbClr val="2E377E"/>
                </a:solidFill>
                <a:latin typeface="Georgia"/>
                <a:cs typeface="Georgia"/>
              </a:rPr>
              <a:t>using</a:t>
            </a:r>
            <a:r>
              <a:rPr sz="3600" spc="260" dirty="0">
                <a:solidFill>
                  <a:srgbClr val="2E377E"/>
                </a:solidFill>
                <a:latin typeface="Georgia"/>
                <a:cs typeface="Georgia"/>
              </a:rPr>
              <a:t> </a:t>
            </a:r>
            <a:r>
              <a:rPr sz="3600" dirty="0">
                <a:solidFill>
                  <a:srgbClr val="2E377E"/>
                </a:solidFill>
                <a:latin typeface="Georgia"/>
                <a:cs typeface="Georgia"/>
              </a:rPr>
              <a:t>this</a:t>
            </a:r>
            <a:r>
              <a:rPr sz="3600" spc="260" dirty="0">
                <a:solidFill>
                  <a:srgbClr val="2E377E"/>
                </a:solidFill>
                <a:latin typeface="Georgia"/>
                <a:cs typeface="Georgia"/>
              </a:rPr>
              <a:t> </a:t>
            </a:r>
            <a:r>
              <a:rPr sz="3600" spc="140" dirty="0">
                <a:solidFill>
                  <a:srgbClr val="2E377E"/>
                </a:solidFill>
                <a:latin typeface="Georgia"/>
                <a:cs typeface="Georgia"/>
              </a:rPr>
              <a:t>we</a:t>
            </a:r>
            <a:r>
              <a:rPr sz="3600" spc="260" dirty="0">
                <a:solidFill>
                  <a:srgbClr val="2E377E"/>
                </a:solidFill>
                <a:latin typeface="Georgia"/>
                <a:cs typeface="Georgia"/>
              </a:rPr>
              <a:t> </a:t>
            </a:r>
            <a:r>
              <a:rPr sz="3600" dirty="0">
                <a:solidFill>
                  <a:srgbClr val="2E377E"/>
                </a:solidFill>
                <a:latin typeface="Georgia"/>
                <a:cs typeface="Georgia"/>
              </a:rPr>
              <a:t>can</a:t>
            </a:r>
            <a:r>
              <a:rPr sz="3600" spc="260" dirty="0">
                <a:solidFill>
                  <a:srgbClr val="2E377E"/>
                </a:solidFill>
                <a:latin typeface="Georgia"/>
                <a:cs typeface="Georgia"/>
              </a:rPr>
              <a:t> </a:t>
            </a:r>
            <a:r>
              <a:rPr sz="3600" dirty="0">
                <a:solidFill>
                  <a:srgbClr val="2E377E"/>
                </a:solidFill>
                <a:latin typeface="Georgia"/>
                <a:cs typeface="Georgia"/>
              </a:rPr>
              <a:t>access</a:t>
            </a:r>
            <a:r>
              <a:rPr sz="3600" spc="260" dirty="0">
                <a:solidFill>
                  <a:srgbClr val="2E377E"/>
                </a:solidFill>
                <a:latin typeface="Georgia"/>
                <a:cs typeface="Georgia"/>
              </a:rPr>
              <a:t> </a:t>
            </a:r>
            <a:r>
              <a:rPr sz="3600" dirty="0">
                <a:solidFill>
                  <a:srgbClr val="2E377E"/>
                </a:solidFill>
                <a:latin typeface="Georgia"/>
                <a:cs typeface="Georgia"/>
              </a:rPr>
              <a:t>application</a:t>
            </a:r>
            <a:r>
              <a:rPr sz="3600" spc="260" dirty="0">
                <a:solidFill>
                  <a:srgbClr val="2E377E"/>
                </a:solidFill>
                <a:latin typeface="Georgia"/>
                <a:cs typeface="Georgia"/>
              </a:rPr>
              <a:t> </a:t>
            </a:r>
            <a:r>
              <a:rPr sz="3600" spc="-10" dirty="0">
                <a:solidFill>
                  <a:srgbClr val="2E377E"/>
                </a:solidFill>
                <a:latin typeface="Georgia"/>
                <a:cs typeface="Georgia"/>
              </a:rPr>
              <a:t>inside </a:t>
            </a:r>
            <a:r>
              <a:rPr sz="3600" spc="60" dirty="0">
                <a:solidFill>
                  <a:srgbClr val="2E377E"/>
                </a:solidFill>
                <a:latin typeface="Georgia"/>
                <a:cs typeface="Georgia"/>
              </a:rPr>
              <a:t>the</a:t>
            </a:r>
            <a:r>
              <a:rPr sz="3600" spc="-60" dirty="0">
                <a:solidFill>
                  <a:srgbClr val="2E377E"/>
                </a:solidFill>
                <a:latin typeface="Georgia"/>
                <a:cs typeface="Georgia"/>
              </a:rPr>
              <a:t> </a:t>
            </a:r>
            <a:r>
              <a:rPr sz="3600" spc="55" dirty="0">
                <a:solidFill>
                  <a:srgbClr val="2E377E"/>
                </a:solidFill>
                <a:latin typeface="Georgia"/>
                <a:cs typeface="Georgia"/>
              </a:rPr>
              <a:t>cluster</a:t>
            </a:r>
            <a:r>
              <a:rPr sz="3600" spc="-60" dirty="0">
                <a:solidFill>
                  <a:srgbClr val="2E377E"/>
                </a:solidFill>
                <a:latin typeface="Georgia"/>
                <a:cs typeface="Georgia"/>
              </a:rPr>
              <a:t> </a:t>
            </a:r>
            <a:r>
              <a:rPr sz="3600" spc="-10" dirty="0">
                <a:solidFill>
                  <a:srgbClr val="2E377E"/>
                </a:solidFill>
                <a:latin typeface="Georgia"/>
                <a:cs typeface="Georgia"/>
              </a:rPr>
              <a:t>only.</a:t>
            </a:r>
            <a:endParaRPr sz="3600">
              <a:latin typeface="Georgia"/>
              <a:cs typeface="Georgia"/>
            </a:endParaRPr>
          </a:p>
          <a:p>
            <a:pPr marL="12700" marR="5080">
              <a:lnSpc>
                <a:spcPct val="116300"/>
              </a:lnSpc>
            </a:pPr>
            <a:r>
              <a:rPr sz="3600" dirty="0">
                <a:solidFill>
                  <a:srgbClr val="2E377E"/>
                </a:solidFill>
                <a:latin typeface="Georgia"/>
                <a:cs typeface="Georgia"/>
              </a:rPr>
              <a:t>But</a:t>
            </a:r>
            <a:r>
              <a:rPr sz="3600" spc="305" dirty="0">
                <a:solidFill>
                  <a:srgbClr val="2E377E"/>
                </a:solidFill>
                <a:latin typeface="Georgia"/>
                <a:cs typeface="Georgia"/>
              </a:rPr>
              <a:t> </a:t>
            </a:r>
            <a:r>
              <a:rPr sz="3600" dirty="0">
                <a:solidFill>
                  <a:srgbClr val="2E377E"/>
                </a:solidFill>
                <a:latin typeface="Georgia"/>
                <a:cs typeface="Georgia"/>
              </a:rPr>
              <a:t>if</a:t>
            </a:r>
            <a:r>
              <a:rPr sz="3600" spc="310" dirty="0">
                <a:solidFill>
                  <a:srgbClr val="2E377E"/>
                </a:solidFill>
                <a:latin typeface="Georgia"/>
                <a:cs typeface="Georgia"/>
              </a:rPr>
              <a:t> </a:t>
            </a:r>
            <a:r>
              <a:rPr sz="3600" spc="140" dirty="0">
                <a:solidFill>
                  <a:srgbClr val="2E377E"/>
                </a:solidFill>
                <a:latin typeface="Georgia"/>
                <a:cs typeface="Georgia"/>
              </a:rPr>
              <a:t>we</a:t>
            </a:r>
            <a:r>
              <a:rPr sz="3600" spc="310" dirty="0">
                <a:solidFill>
                  <a:srgbClr val="2E377E"/>
                </a:solidFill>
                <a:latin typeface="Georgia"/>
                <a:cs typeface="Georgia"/>
              </a:rPr>
              <a:t> </a:t>
            </a:r>
            <a:r>
              <a:rPr sz="3600" spc="80" dirty="0">
                <a:solidFill>
                  <a:srgbClr val="2E377E"/>
                </a:solidFill>
                <a:latin typeface="Georgia"/>
                <a:cs typeface="Georgia"/>
              </a:rPr>
              <a:t>want</a:t>
            </a:r>
            <a:r>
              <a:rPr sz="3600" spc="310" dirty="0">
                <a:solidFill>
                  <a:srgbClr val="2E377E"/>
                </a:solidFill>
                <a:latin typeface="Georgia"/>
                <a:cs typeface="Georgia"/>
              </a:rPr>
              <a:t> </a:t>
            </a:r>
            <a:r>
              <a:rPr sz="3600" spc="70" dirty="0">
                <a:solidFill>
                  <a:srgbClr val="2E377E"/>
                </a:solidFill>
                <a:latin typeface="Georgia"/>
                <a:cs typeface="Georgia"/>
              </a:rPr>
              <a:t>to</a:t>
            </a:r>
            <a:r>
              <a:rPr sz="3600" spc="310" dirty="0">
                <a:solidFill>
                  <a:srgbClr val="2E377E"/>
                </a:solidFill>
                <a:latin typeface="Georgia"/>
                <a:cs typeface="Georgia"/>
              </a:rPr>
              <a:t> </a:t>
            </a:r>
            <a:r>
              <a:rPr sz="3600" dirty="0">
                <a:solidFill>
                  <a:srgbClr val="2E377E"/>
                </a:solidFill>
                <a:latin typeface="Georgia"/>
                <a:cs typeface="Georgia"/>
              </a:rPr>
              <a:t>access</a:t>
            </a:r>
            <a:r>
              <a:rPr sz="3600" spc="310" dirty="0">
                <a:solidFill>
                  <a:srgbClr val="2E377E"/>
                </a:solidFill>
                <a:latin typeface="Georgia"/>
                <a:cs typeface="Georgia"/>
              </a:rPr>
              <a:t> </a:t>
            </a:r>
            <a:r>
              <a:rPr sz="3600" spc="60" dirty="0">
                <a:solidFill>
                  <a:srgbClr val="2E377E"/>
                </a:solidFill>
                <a:latin typeface="Georgia"/>
                <a:cs typeface="Georgia"/>
              </a:rPr>
              <a:t>the</a:t>
            </a:r>
            <a:r>
              <a:rPr sz="3600" spc="310" dirty="0">
                <a:solidFill>
                  <a:srgbClr val="2E377E"/>
                </a:solidFill>
                <a:latin typeface="Georgia"/>
                <a:cs typeface="Georgia"/>
              </a:rPr>
              <a:t> </a:t>
            </a:r>
            <a:r>
              <a:rPr sz="3600" dirty="0">
                <a:solidFill>
                  <a:srgbClr val="2E377E"/>
                </a:solidFill>
                <a:latin typeface="Georgia"/>
                <a:cs typeface="Georgia"/>
              </a:rPr>
              <a:t>application</a:t>
            </a:r>
            <a:r>
              <a:rPr sz="3600" spc="305" dirty="0">
                <a:solidFill>
                  <a:srgbClr val="2E377E"/>
                </a:solidFill>
                <a:latin typeface="Georgia"/>
                <a:cs typeface="Georgia"/>
              </a:rPr>
              <a:t> </a:t>
            </a:r>
            <a:r>
              <a:rPr sz="3600" spc="-20" dirty="0">
                <a:solidFill>
                  <a:srgbClr val="2E377E"/>
                </a:solidFill>
                <a:latin typeface="Georgia"/>
                <a:cs typeface="Georgia"/>
              </a:rPr>
              <a:t>from </a:t>
            </a:r>
            <a:r>
              <a:rPr sz="3600" spc="45" dirty="0">
                <a:solidFill>
                  <a:srgbClr val="2E377E"/>
                </a:solidFill>
                <a:latin typeface="Georgia"/>
                <a:cs typeface="Georgia"/>
              </a:rPr>
              <a:t>outside</a:t>
            </a:r>
            <a:r>
              <a:rPr sz="3600" spc="-30" dirty="0">
                <a:solidFill>
                  <a:srgbClr val="2E377E"/>
                </a:solidFill>
                <a:latin typeface="Georgia"/>
                <a:cs typeface="Georgia"/>
              </a:rPr>
              <a:t> </a:t>
            </a:r>
            <a:r>
              <a:rPr sz="3600" spc="140" dirty="0">
                <a:solidFill>
                  <a:srgbClr val="2E377E"/>
                </a:solidFill>
                <a:latin typeface="Georgia"/>
                <a:cs typeface="Georgia"/>
              </a:rPr>
              <a:t>we</a:t>
            </a:r>
            <a:r>
              <a:rPr sz="3600" spc="-25" dirty="0">
                <a:solidFill>
                  <a:srgbClr val="2E377E"/>
                </a:solidFill>
                <a:latin typeface="Georgia"/>
                <a:cs typeface="Georgia"/>
              </a:rPr>
              <a:t> </a:t>
            </a:r>
            <a:r>
              <a:rPr sz="3600" dirty="0">
                <a:solidFill>
                  <a:srgbClr val="2E377E"/>
                </a:solidFill>
                <a:latin typeface="Georgia"/>
                <a:cs typeface="Georgia"/>
              </a:rPr>
              <a:t>need</a:t>
            </a:r>
            <a:r>
              <a:rPr sz="3600" spc="-25" dirty="0">
                <a:solidFill>
                  <a:srgbClr val="2E377E"/>
                </a:solidFill>
                <a:latin typeface="Georgia"/>
                <a:cs typeface="Georgia"/>
              </a:rPr>
              <a:t> </a:t>
            </a:r>
            <a:r>
              <a:rPr sz="3600" spc="70" dirty="0">
                <a:solidFill>
                  <a:srgbClr val="2E377E"/>
                </a:solidFill>
                <a:latin typeface="Georgia"/>
                <a:cs typeface="Georgia"/>
              </a:rPr>
              <a:t>to</a:t>
            </a:r>
            <a:r>
              <a:rPr sz="3600" spc="-25" dirty="0">
                <a:solidFill>
                  <a:srgbClr val="2E377E"/>
                </a:solidFill>
                <a:latin typeface="Georgia"/>
                <a:cs typeface="Georgia"/>
              </a:rPr>
              <a:t> </a:t>
            </a:r>
            <a:r>
              <a:rPr sz="3600" spc="50" dirty="0">
                <a:solidFill>
                  <a:srgbClr val="2E377E"/>
                </a:solidFill>
                <a:latin typeface="Georgia"/>
                <a:cs typeface="Georgia"/>
              </a:rPr>
              <a:t>use</a:t>
            </a:r>
            <a:r>
              <a:rPr sz="3600" spc="-25" dirty="0">
                <a:solidFill>
                  <a:srgbClr val="2E377E"/>
                </a:solidFill>
                <a:latin typeface="Georgia"/>
                <a:cs typeface="Georgia"/>
              </a:rPr>
              <a:t> </a:t>
            </a:r>
            <a:r>
              <a:rPr sz="3600" spc="-10" dirty="0">
                <a:solidFill>
                  <a:srgbClr val="2E377E"/>
                </a:solidFill>
                <a:latin typeface="Georgia"/>
                <a:cs typeface="Georgia"/>
              </a:rPr>
              <a:t>nodeport.</a:t>
            </a:r>
            <a:endParaRPr sz="3600">
              <a:latin typeface="Georgia"/>
              <a:cs typeface="Georgia"/>
            </a:endParaRPr>
          </a:p>
          <a:p>
            <a:pPr marL="12700" marR="5080">
              <a:lnSpc>
                <a:spcPct val="116300"/>
              </a:lnSpc>
              <a:tabLst>
                <a:tab pos="2215515" algn="l"/>
                <a:tab pos="3242945" algn="l"/>
                <a:tab pos="4791075" algn="l"/>
                <a:tab pos="5810250" algn="l"/>
                <a:tab pos="6478270" algn="l"/>
                <a:tab pos="7345680" algn="l"/>
                <a:tab pos="9071610" algn="l"/>
              </a:tabLst>
            </a:pPr>
            <a:r>
              <a:rPr sz="3600" spc="-10" dirty="0">
                <a:solidFill>
                  <a:srgbClr val="2E377E"/>
                </a:solidFill>
                <a:latin typeface="Georgia"/>
                <a:cs typeface="Georgia"/>
              </a:rPr>
              <a:t>ClusterIP</a:t>
            </a:r>
            <a:r>
              <a:rPr sz="3600" dirty="0">
                <a:solidFill>
                  <a:srgbClr val="2E377E"/>
                </a:solidFill>
                <a:latin typeface="Georgia"/>
                <a:cs typeface="Georgia"/>
              </a:rPr>
              <a:t>	</a:t>
            </a:r>
            <a:r>
              <a:rPr sz="3600" spc="35" dirty="0">
                <a:solidFill>
                  <a:srgbClr val="2E377E"/>
                </a:solidFill>
                <a:latin typeface="Georgia"/>
                <a:cs typeface="Georgia"/>
              </a:rPr>
              <a:t>will</a:t>
            </a:r>
            <a:r>
              <a:rPr sz="3600" dirty="0">
                <a:solidFill>
                  <a:srgbClr val="2E377E"/>
                </a:solidFill>
                <a:latin typeface="Georgia"/>
                <a:cs typeface="Georgia"/>
              </a:rPr>
              <a:t>	</a:t>
            </a:r>
            <a:r>
              <a:rPr sz="3600" spc="-10" dirty="0">
                <a:solidFill>
                  <a:srgbClr val="2E377E"/>
                </a:solidFill>
                <a:latin typeface="Georgia"/>
                <a:cs typeface="Georgia"/>
              </a:rPr>
              <a:t>assign</a:t>
            </a:r>
            <a:r>
              <a:rPr sz="3600" dirty="0">
                <a:solidFill>
                  <a:srgbClr val="2E377E"/>
                </a:solidFill>
                <a:latin typeface="Georgia"/>
                <a:cs typeface="Georgia"/>
              </a:rPr>
              <a:t>	</a:t>
            </a:r>
            <a:r>
              <a:rPr sz="3600" spc="-25" dirty="0">
                <a:solidFill>
                  <a:srgbClr val="2E377E"/>
                </a:solidFill>
                <a:latin typeface="Georgia"/>
                <a:cs typeface="Georgia"/>
              </a:rPr>
              <a:t>one</a:t>
            </a:r>
            <a:r>
              <a:rPr sz="3600" dirty="0">
                <a:solidFill>
                  <a:srgbClr val="2E377E"/>
                </a:solidFill>
                <a:latin typeface="Georgia"/>
                <a:cs typeface="Georgia"/>
              </a:rPr>
              <a:t>	</a:t>
            </a:r>
            <a:r>
              <a:rPr sz="3600" spc="-25" dirty="0">
                <a:solidFill>
                  <a:srgbClr val="2E377E"/>
                </a:solidFill>
                <a:latin typeface="Georgia"/>
                <a:cs typeface="Georgia"/>
              </a:rPr>
              <a:t>ip</a:t>
            </a:r>
            <a:r>
              <a:rPr sz="3600" dirty="0">
                <a:solidFill>
                  <a:srgbClr val="2E377E"/>
                </a:solidFill>
                <a:latin typeface="Georgia"/>
                <a:cs typeface="Georgia"/>
              </a:rPr>
              <a:t>	</a:t>
            </a:r>
            <a:r>
              <a:rPr sz="3600" spc="-25" dirty="0">
                <a:solidFill>
                  <a:srgbClr val="2E377E"/>
                </a:solidFill>
                <a:latin typeface="Georgia"/>
                <a:cs typeface="Georgia"/>
              </a:rPr>
              <a:t>for</a:t>
            </a:r>
            <a:r>
              <a:rPr sz="3600" dirty="0">
                <a:solidFill>
                  <a:srgbClr val="2E377E"/>
                </a:solidFill>
                <a:latin typeface="Georgia"/>
                <a:cs typeface="Georgia"/>
              </a:rPr>
              <a:t>	</a:t>
            </a:r>
            <a:r>
              <a:rPr sz="3600" spc="55" dirty="0">
                <a:solidFill>
                  <a:srgbClr val="2E377E"/>
                </a:solidFill>
                <a:latin typeface="Georgia"/>
                <a:cs typeface="Georgia"/>
              </a:rPr>
              <a:t>service</a:t>
            </a:r>
            <a:r>
              <a:rPr sz="3600" dirty="0">
                <a:solidFill>
                  <a:srgbClr val="2E377E"/>
                </a:solidFill>
                <a:latin typeface="Georgia"/>
                <a:cs typeface="Georgia"/>
              </a:rPr>
              <a:t>	</a:t>
            </a:r>
            <a:r>
              <a:rPr sz="3600" spc="45" dirty="0">
                <a:solidFill>
                  <a:srgbClr val="2E377E"/>
                </a:solidFill>
                <a:latin typeface="Georgia"/>
                <a:cs typeface="Georgia"/>
              </a:rPr>
              <a:t>to </a:t>
            </a:r>
            <a:r>
              <a:rPr sz="3600" dirty="0">
                <a:solidFill>
                  <a:srgbClr val="2E377E"/>
                </a:solidFill>
                <a:latin typeface="Georgia"/>
                <a:cs typeface="Georgia"/>
              </a:rPr>
              <a:t>access</a:t>
            </a:r>
            <a:r>
              <a:rPr sz="3600" spc="55" dirty="0">
                <a:solidFill>
                  <a:srgbClr val="2E377E"/>
                </a:solidFill>
                <a:latin typeface="Georgia"/>
                <a:cs typeface="Georgia"/>
              </a:rPr>
              <a:t> </a:t>
            </a:r>
            <a:r>
              <a:rPr sz="3600" spc="60" dirty="0">
                <a:solidFill>
                  <a:srgbClr val="2E377E"/>
                </a:solidFill>
                <a:latin typeface="Georgia"/>
                <a:cs typeface="Georgia"/>
              </a:rPr>
              <a:t>the </a:t>
            </a:r>
            <a:r>
              <a:rPr sz="3600" spc="-20" dirty="0">
                <a:solidFill>
                  <a:srgbClr val="2E377E"/>
                </a:solidFill>
                <a:latin typeface="Georgia"/>
                <a:cs typeface="Georgia"/>
              </a:rPr>
              <a:t>pod.</a:t>
            </a:r>
            <a:endParaRPr sz="3600">
              <a:latin typeface="Georgia"/>
              <a:cs typeface="Georgia"/>
            </a:endParaRPr>
          </a:p>
          <a:p>
            <a:pPr marL="12700">
              <a:lnSpc>
                <a:spcPct val="100000"/>
              </a:lnSpc>
              <a:spcBef>
                <a:spcPts val="480"/>
              </a:spcBef>
            </a:pPr>
            <a:r>
              <a:rPr sz="3600" spc="-10" dirty="0">
                <a:solidFill>
                  <a:srgbClr val="2E377E"/>
                </a:solidFill>
                <a:latin typeface="Trebuchet MS"/>
                <a:cs typeface="Trebuchet MS"/>
              </a:rPr>
              <a:t>Just</a:t>
            </a:r>
            <a:r>
              <a:rPr sz="3600" spc="-260" dirty="0">
                <a:solidFill>
                  <a:srgbClr val="2E377E"/>
                </a:solidFill>
                <a:latin typeface="Trebuchet MS"/>
                <a:cs typeface="Trebuchet MS"/>
              </a:rPr>
              <a:t> </a:t>
            </a:r>
            <a:r>
              <a:rPr sz="3600" spc="-40" dirty="0">
                <a:solidFill>
                  <a:srgbClr val="2E377E"/>
                </a:solidFill>
                <a:latin typeface="Trebuchet MS"/>
                <a:cs typeface="Trebuchet MS"/>
              </a:rPr>
              <a:t>Replace</a:t>
            </a:r>
            <a:r>
              <a:rPr sz="3600" spc="-260" dirty="0">
                <a:solidFill>
                  <a:srgbClr val="2E377E"/>
                </a:solidFill>
                <a:latin typeface="Trebuchet MS"/>
                <a:cs typeface="Trebuchet MS"/>
              </a:rPr>
              <a:t> </a:t>
            </a:r>
            <a:r>
              <a:rPr sz="3600" b="1" i="1" spc="65" dirty="0">
                <a:solidFill>
                  <a:srgbClr val="2E377E"/>
                </a:solidFill>
                <a:latin typeface="Times New Roman"/>
                <a:cs typeface="Times New Roman"/>
              </a:rPr>
              <a:t>ClusterIP=NodePort</a:t>
            </a:r>
            <a:endParaRPr sz="3600">
              <a:latin typeface="Times New Roman"/>
              <a:cs typeface="Times New Roman"/>
            </a:endParaRPr>
          </a:p>
          <a:p>
            <a:pPr marL="12700">
              <a:lnSpc>
                <a:spcPct val="100000"/>
              </a:lnSpc>
              <a:spcBef>
                <a:spcPts val="930"/>
              </a:spcBef>
            </a:pPr>
            <a:r>
              <a:rPr sz="3600" spc="60" dirty="0">
                <a:solidFill>
                  <a:srgbClr val="2E377E"/>
                </a:solidFill>
                <a:latin typeface="Georgia"/>
                <a:cs typeface="Georgia"/>
              </a:rPr>
              <a:t>kubectl</a:t>
            </a:r>
            <a:r>
              <a:rPr sz="3600" spc="15" dirty="0">
                <a:solidFill>
                  <a:srgbClr val="2E377E"/>
                </a:solidFill>
                <a:latin typeface="Georgia"/>
                <a:cs typeface="Georgia"/>
              </a:rPr>
              <a:t> </a:t>
            </a:r>
            <a:r>
              <a:rPr sz="3600" dirty="0">
                <a:solidFill>
                  <a:srgbClr val="2E377E"/>
                </a:solidFill>
                <a:latin typeface="Georgia"/>
                <a:cs typeface="Georgia"/>
              </a:rPr>
              <a:t>apply</a:t>
            </a:r>
            <a:r>
              <a:rPr sz="3600" spc="20" dirty="0">
                <a:solidFill>
                  <a:srgbClr val="2E377E"/>
                </a:solidFill>
                <a:latin typeface="Georgia"/>
                <a:cs typeface="Georgia"/>
              </a:rPr>
              <a:t> </a:t>
            </a:r>
            <a:r>
              <a:rPr sz="3600" dirty="0">
                <a:solidFill>
                  <a:srgbClr val="2E377E"/>
                </a:solidFill>
                <a:latin typeface="Georgia"/>
                <a:cs typeface="Georgia"/>
              </a:rPr>
              <a:t>-</a:t>
            </a:r>
            <a:r>
              <a:rPr sz="3600" spc="55" dirty="0">
                <a:solidFill>
                  <a:srgbClr val="2E377E"/>
                </a:solidFill>
                <a:latin typeface="Georgia"/>
                <a:cs typeface="Georgia"/>
              </a:rPr>
              <a:t>f</a:t>
            </a:r>
            <a:r>
              <a:rPr sz="3600" spc="20" dirty="0">
                <a:solidFill>
                  <a:srgbClr val="2E377E"/>
                </a:solidFill>
                <a:latin typeface="Georgia"/>
                <a:cs typeface="Georgia"/>
              </a:rPr>
              <a:t> </a:t>
            </a:r>
            <a:r>
              <a:rPr sz="3600" spc="-10" dirty="0">
                <a:solidFill>
                  <a:srgbClr val="2E377E"/>
                </a:solidFill>
                <a:latin typeface="Georgia"/>
                <a:cs typeface="Georgia"/>
              </a:rPr>
              <a:t>filename.yml</a:t>
            </a:r>
            <a:endParaRPr sz="3600">
              <a:latin typeface="Georgia"/>
              <a:cs typeface="Georgia"/>
            </a:endParaRPr>
          </a:p>
        </p:txBody>
      </p:sp>
      <p:pic>
        <p:nvPicPr>
          <p:cNvPr id="5" name="object 5"/>
          <p:cNvPicPr/>
          <p:nvPr/>
        </p:nvPicPr>
        <p:blipFill>
          <a:blip r:embed="rId3" cstate="print"/>
          <a:stretch>
            <a:fillRect/>
          </a:stretch>
        </p:blipFill>
        <p:spPr>
          <a:xfrm>
            <a:off x="7896428" y="2526944"/>
            <a:ext cx="133350" cy="133349"/>
          </a:xfrm>
          <a:prstGeom prst="rect">
            <a:avLst/>
          </a:prstGeom>
        </p:spPr>
      </p:pic>
      <p:pic>
        <p:nvPicPr>
          <p:cNvPr id="6" name="object 6"/>
          <p:cNvPicPr/>
          <p:nvPr/>
        </p:nvPicPr>
        <p:blipFill>
          <a:blip r:embed="rId3" cstate="print"/>
          <a:stretch>
            <a:fillRect/>
          </a:stretch>
        </p:blipFill>
        <p:spPr>
          <a:xfrm>
            <a:off x="7896428" y="3803294"/>
            <a:ext cx="133350" cy="133349"/>
          </a:xfrm>
          <a:prstGeom prst="rect">
            <a:avLst/>
          </a:prstGeom>
        </p:spPr>
      </p:pic>
      <p:pic>
        <p:nvPicPr>
          <p:cNvPr id="7" name="object 7"/>
          <p:cNvPicPr/>
          <p:nvPr/>
        </p:nvPicPr>
        <p:blipFill>
          <a:blip r:embed="rId3" cstate="print"/>
          <a:stretch>
            <a:fillRect/>
          </a:stretch>
        </p:blipFill>
        <p:spPr>
          <a:xfrm>
            <a:off x="7896428" y="5079644"/>
            <a:ext cx="133350" cy="133349"/>
          </a:xfrm>
          <a:prstGeom prst="rect">
            <a:avLst/>
          </a:prstGeom>
        </p:spPr>
      </p:pic>
      <p:pic>
        <p:nvPicPr>
          <p:cNvPr id="8" name="object 8"/>
          <p:cNvPicPr/>
          <p:nvPr/>
        </p:nvPicPr>
        <p:blipFill>
          <a:blip r:embed="rId4" cstate="print"/>
          <a:stretch>
            <a:fillRect/>
          </a:stretch>
        </p:blipFill>
        <p:spPr>
          <a:xfrm>
            <a:off x="7839278" y="6289318"/>
            <a:ext cx="161925" cy="161924"/>
          </a:xfrm>
          <a:prstGeom prst="rect">
            <a:avLst/>
          </a:prstGeom>
        </p:spPr>
      </p:pic>
      <p:pic>
        <p:nvPicPr>
          <p:cNvPr id="9" name="object 9"/>
          <p:cNvPicPr/>
          <p:nvPr/>
        </p:nvPicPr>
        <p:blipFill>
          <a:blip r:embed="rId5" cstate="print"/>
          <a:stretch>
            <a:fillRect/>
          </a:stretch>
        </p:blipFill>
        <p:spPr>
          <a:xfrm>
            <a:off x="7896428" y="6994169"/>
            <a:ext cx="133350" cy="133349"/>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27602" y="493453"/>
            <a:ext cx="14325599" cy="907589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4095" y="1194138"/>
            <a:ext cx="5876924" cy="7067549"/>
          </a:xfrm>
          <a:prstGeom prst="rect">
            <a:avLst/>
          </a:prstGeom>
        </p:spPr>
      </p:pic>
      <p:pic>
        <p:nvPicPr>
          <p:cNvPr id="3" name="object 3"/>
          <p:cNvPicPr/>
          <p:nvPr/>
        </p:nvPicPr>
        <p:blipFill>
          <a:blip r:embed="rId3" cstate="print"/>
          <a:stretch>
            <a:fillRect/>
          </a:stretch>
        </p:blipFill>
        <p:spPr>
          <a:xfrm>
            <a:off x="6478819" y="1415120"/>
            <a:ext cx="133350" cy="133350"/>
          </a:xfrm>
          <a:prstGeom prst="rect">
            <a:avLst/>
          </a:prstGeom>
        </p:spPr>
      </p:pic>
      <p:pic>
        <p:nvPicPr>
          <p:cNvPr id="4" name="object 4"/>
          <p:cNvPicPr/>
          <p:nvPr/>
        </p:nvPicPr>
        <p:blipFill>
          <a:blip r:embed="rId3" cstate="print"/>
          <a:stretch>
            <a:fillRect/>
          </a:stretch>
        </p:blipFill>
        <p:spPr>
          <a:xfrm>
            <a:off x="6478819" y="2691470"/>
            <a:ext cx="133350" cy="133350"/>
          </a:xfrm>
          <a:prstGeom prst="rect">
            <a:avLst/>
          </a:prstGeom>
        </p:spPr>
      </p:pic>
      <p:pic>
        <p:nvPicPr>
          <p:cNvPr id="5" name="object 5"/>
          <p:cNvPicPr/>
          <p:nvPr/>
        </p:nvPicPr>
        <p:blipFill>
          <a:blip r:embed="rId4" cstate="print"/>
          <a:stretch>
            <a:fillRect/>
          </a:stretch>
        </p:blipFill>
        <p:spPr>
          <a:xfrm>
            <a:off x="6478819" y="3329645"/>
            <a:ext cx="133350" cy="133350"/>
          </a:xfrm>
          <a:prstGeom prst="rect">
            <a:avLst/>
          </a:prstGeom>
        </p:spPr>
      </p:pic>
      <p:pic>
        <p:nvPicPr>
          <p:cNvPr id="6" name="object 6"/>
          <p:cNvPicPr/>
          <p:nvPr/>
        </p:nvPicPr>
        <p:blipFill>
          <a:blip r:embed="rId5" cstate="print"/>
          <a:stretch>
            <a:fillRect/>
          </a:stretch>
        </p:blipFill>
        <p:spPr>
          <a:xfrm>
            <a:off x="6478819" y="3967820"/>
            <a:ext cx="133350" cy="133350"/>
          </a:xfrm>
          <a:prstGeom prst="rect">
            <a:avLst/>
          </a:prstGeom>
        </p:spPr>
      </p:pic>
      <p:pic>
        <p:nvPicPr>
          <p:cNvPr id="7" name="object 7"/>
          <p:cNvPicPr/>
          <p:nvPr/>
        </p:nvPicPr>
        <p:blipFill>
          <a:blip r:embed="rId5" cstate="print"/>
          <a:stretch>
            <a:fillRect/>
          </a:stretch>
        </p:blipFill>
        <p:spPr>
          <a:xfrm>
            <a:off x="6478819" y="4605995"/>
            <a:ext cx="133350" cy="133350"/>
          </a:xfrm>
          <a:prstGeom prst="rect">
            <a:avLst/>
          </a:prstGeom>
        </p:spPr>
      </p:pic>
      <p:pic>
        <p:nvPicPr>
          <p:cNvPr id="8" name="object 8"/>
          <p:cNvPicPr/>
          <p:nvPr/>
        </p:nvPicPr>
        <p:blipFill>
          <a:blip r:embed="rId5" cstate="print"/>
          <a:stretch>
            <a:fillRect/>
          </a:stretch>
        </p:blipFill>
        <p:spPr>
          <a:xfrm>
            <a:off x="6478819" y="5244167"/>
            <a:ext cx="133350" cy="133350"/>
          </a:xfrm>
          <a:prstGeom prst="rect">
            <a:avLst/>
          </a:prstGeom>
        </p:spPr>
      </p:pic>
      <p:pic>
        <p:nvPicPr>
          <p:cNvPr id="9" name="object 9"/>
          <p:cNvPicPr/>
          <p:nvPr/>
        </p:nvPicPr>
        <p:blipFill>
          <a:blip r:embed="rId5" cstate="print"/>
          <a:stretch>
            <a:fillRect/>
          </a:stretch>
        </p:blipFill>
        <p:spPr>
          <a:xfrm>
            <a:off x="6478819" y="5882342"/>
            <a:ext cx="133350" cy="133350"/>
          </a:xfrm>
          <a:prstGeom prst="rect">
            <a:avLst/>
          </a:prstGeom>
        </p:spPr>
      </p:pic>
      <p:pic>
        <p:nvPicPr>
          <p:cNvPr id="10" name="object 10"/>
          <p:cNvPicPr/>
          <p:nvPr/>
        </p:nvPicPr>
        <p:blipFill>
          <a:blip r:embed="rId5" cstate="print"/>
          <a:stretch>
            <a:fillRect/>
          </a:stretch>
        </p:blipFill>
        <p:spPr>
          <a:xfrm>
            <a:off x="6478819" y="6520516"/>
            <a:ext cx="133350" cy="133350"/>
          </a:xfrm>
          <a:prstGeom prst="rect">
            <a:avLst/>
          </a:prstGeom>
        </p:spPr>
      </p:pic>
      <p:pic>
        <p:nvPicPr>
          <p:cNvPr id="11" name="object 11"/>
          <p:cNvPicPr/>
          <p:nvPr/>
        </p:nvPicPr>
        <p:blipFill>
          <a:blip r:embed="rId5" cstate="print"/>
          <a:stretch>
            <a:fillRect/>
          </a:stretch>
        </p:blipFill>
        <p:spPr>
          <a:xfrm>
            <a:off x="6478819" y="7796866"/>
            <a:ext cx="133350" cy="133350"/>
          </a:xfrm>
          <a:prstGeom prst="rect">
            <a:avLst/>
          </a:prstGeom>
        </p:spPr>
      </p:pic>
      <p:pic>
        <p:nvPicPr>
          <p:cNvPr id="12" name="object 12"/>
          <p:cNvPicPr/>
          <p:nvPr/>
        </p:nvPicPr>
        <p:blipFill>
          <a:blip r:embed="rId5" cstate="print"/>
          <a:stretch>
            <a:fillRect/>
          </a:stretch>
        </p:blipFill>
        <p:spPr>
          <a:xfrm>
            <a:off x="6478819" y="8435041"/>
            <a:ext cx="133350" cy="133350"/>
          </a:xfrm>
          <a:prstGeom prst="rect">
            <a:avLst/>
          </a:prstGeom>
        </p:spPr>
      </p:pic>
      <p:sp>
        <p:nvSpPr>
          <p:cNvPr id="13" name="object 13"/>
          <p:cNvSpPr txBox="1"/>
          <p:nvPr/>
        </p:nvSpPr>
        <p:spPr>
          <a:xfrm>
            <a:off x="6795616" y="1092036"/>
            <a:ext cx="11439525" cy="7654925"/>
          </a:xfrm>
          <a:prstGeom prst="rect">
            <a:avLst/>
          </a:prstGeom>
        </p:spPr>
        <p:txBody>
          <a:bodyPr vert="horz" wrap="square" lIns="0" tIns="12700" rIns="0" bIns="0" rtlCol="0">
            <a:spAutoFit/>
          </a:bodyPr>
          <a:lstStyle/>
          <a:p>
            <a:pPr marL="12700" marR="1489075">
              <a:lnSpc>
                <a:spcPct val="116300"/>
              </a:lnSpc>
              <a:spcBef>
                <a:spcPts val="100"/>
              </a:spcBef>
            </a:pPr>
            <a:r>
              <a:rPr sz="3600" dirty="0">
                <a:solidFill>
                  <a:srgbClr val="2E377E"/>
                </a:solidFill>
                <a:latin typeface="Georgia"/>
                <a:cs typeface="Georgia"/>
              </a:rPr>
              <a:t>In</a:t>
            </a:r>
            <a:r>
              <a:rPr sz="3600" spc="5"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a:t>
            </a:r>
            <a:r>
              <a:rPr sz="3600" dirty="0">
                <a:solidFill>
                  <a:srgbClr val="2E377E"/>
                </a:solidFill>
                <a:latin typeface="Georgia"/>
                <a:cs typeface="Georgia"/>
              </a:rPr>
              <a:t>code</a:t>
            </a:r>
            <a:r>
              <a:rPr sz="3600" spc="10" dirty="0">
                <a:solidFill>
                  <a:srgbClr val="2E377E"/>
                </a:solidFill>
                <a:latin typeface="Georgia"/>
                <a:cs typeface="Georgia"/>
              </a:rPr>
              <a:t> </a:t>
            </a:r>
            <a:r>
              <a:rPr sz="3600" spc="140" dirty="0">
                <a:solidFill>
                  <a:srgbClr val="2E377E"/>
                </a:solidFill>
                <a:latin typeface="Georgia"/>
                <a:cs typeface="Georgia"/>
              </a:rPr>
              <a:t>we</a:t>
            </a:r>
            <a:r>
              <a:rPr sz="3600" spc="10" dirty="0">
                <a:solidFill>
                  <a:srgbClr val="2E377E"/>
                </a:solidFill>
                <a:latin typeface="Georgia"/>
                <a:cs typeface="Georgia"/>
              </a:rPr>
              <a:t> </a:t>
            </a:r>
            <a:r>
              <a:rPr sz="3600" dirty="0">
                <a:solidFill>
                  <a:srgbClr val="2E377E"/>
                </a:solidFill>
                <a:latin typeface="Georgia"/>
                <a:cs typeface="Georgia"/>
              </a:rPr>
              <a:t>are</a:t>
            </a:r>
            <a:r>
              <a:rPr sz="3600" spc="10" dirty="0">
                <a:solidFill>
                  <a:srgbClr val="2E377E"/>
                </a:solidFill>
                <a:latin typeface="Georgia"/>
                <a:cs typeface="Georgia"/>
              </a:rPr>
              <a:t> </a:t>
            </a:r>
            <a:r>
              <a:rPr sz="3600" spc="50" dirty="0">
                <a:solidFill>
                  <a:srgbClr val="2E377E"/>
                </a:solidFill>
                <a:latin typeface="Georgia"/>
                <a:cs typeface="Georgia"/>
              </a:rPr>
              <a:t>exposed</a:t>
            </a:r>
            <a:r>
              <a:rPr sz="3600" spc="10"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application</a:t>
            </a:r>
            <a:r>
              <a:rPr sz="3600" spc="10" dirty="0">
                <a:solidFill>
                  <a:srgbClr val="2E377E"/>
                </a:solidFill>
                <a:latin typeface="Georgia"/>
                <a:cs typeface="Georgia"/>
              </a:rPr>
              <a:t> </a:t>
            </a:r>
            <a:r>
              <a:rPr sz="3600" spc="-20" dirty="0">
                <a:solidFill>
                  <a:srgbClr val="2E377E"/>
                </a:solidFill>
                <a:latin typeface="Georgia"/>
                <a:cs typeface="Georgia"/>
              </a:rPr>
              <a:t>from </a:t>
            </a:r>
            <a:r>
              <a:rPr sz="3600" spc="70" dirty="0">
                <a:solidFill>
                  <a:srgbClr val="2E377E"/>
                </a:solidFill>
                <a:latin typeface="Georgia"/>
                <a:cs typeface="Georgia"/>
              </a:rPr>
              <a:t>anywhere</a:t>
            </a:r>
            <a:r>
              <a:rPr sz="3600" spc="-105" dirty="0">
                <a:solidFill>
                  <a:srgbClr val="2E377E"/>
                </a:solidFill>
                <a:latin typeface="Georgia"/>
                <a:cs typeface="Georgia"/>
              </a:rPr>
              <a:t> </a:t>
            </a:r>
            <a:r>
              <a:rPr sz="3600" dirty="0">
                <a:solidFill>
                  <a:srgbClr val="2E377E"/>
                </a:solidFill>
                <a:latin typeface="Georgia"/>
                <a:cs typeface="Georgia"/>
              </a:rPr>
              <a:t>(inside</a:t>
            </a:r>
            <a:r>
              <a:rPr sz="3600" spc="-105" dirty="0">
                <a:solidFill>
                  <a:srgbClr val="2E377E"/>
                </a:solidFill>
                <a:latin typeface="Georgia"/>
                <a:cs typeface="Georgia"/>
              </a:rPr>
              <a:t> </a:t>
            </a:r>
            <a:r>
              <a:rPr sz="3600" spc="690" dirty="0">
                <a:solidFill>
                  <a:srgbClr val="2E377E"/>
                </a:solidFill>
                <a:latin typeface="Georgia"/>
                <a:cs typeface="Georgia"/>
              </a:rPr>
              <a:t>&amp;</a:t>
            </a:r>
            <a:r>
              <a:rPr sz="3600" spc="-100" dirty="0">
                <a:solidFill>
                  <a:srgbClr val="2E377E"/>
                </a:solidFill>
                <a:latin typeface="Georgia"/>
                <a:cs typeface="Georgia"/>
              </a:rPr>
              <a:t> </a:t>
            </a:r>
            <a:r>
              <a:rPr sz="3600" spc="-10" dirty="0">
                <a:solidFill>
                  <a:srgbClr val="2E377E"/>
                </a:solidFill>
                <a:latin typeface="Georgia"/>
                <a:cs typeface="Georgia"/>
              </a:rPr>
              <a:t>outside)</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need</a:t>
            </a:r>
            <a:r>
              <a:rPr sz="3600" spc="-5" dirty="0">
                <a:solidFill>
                  <a:srgbClr val="2E377E"/>
                </a:solidFill>
                <a:latin typeface="Georgia"/>
                <a:cs typeface="Georgia"/>
              </a:rPr>
              <a:t> </a:t>
            </a:r>
            <a:r>
              <a:rPr sz="3600" spc="7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Give</a:t>
            </a:r>
            <a:r>
              <a:rPr sz="3600" spc="-5" dirty="0">
                <a:solidFill>
                  <a:srgbClr val="2E377E"/>
                </a:solidFill>
                <a:latin typeface="Georgia"/>
                <a:cs typeface="Georgia"/>
              </a:rPr>
              <a:t> </a:t>
            </a:r>
            <a:r>
              <a:rPr sz="3600" dirty="0">
                <a:solidFill>
                  <a:srgbClr val="2E377E"/>
                </a:solidFill>
                <a:latin typeface="Georgia"/>
                <a:cs typeface="Georgia"/>
              </a:rPr>
              <a:t>public ip</a:t>
            </a:r>
            <a:r>
              <a:rPr sz="3600" spc="-5" dirty="0">
                <a:solidFill>
                  <a:srgbClr val="2E377E"/>
                </a:solidFill>
                <a:latin typeface="Georgia"/>
                <a:cs typeface="Georgia"/>
              </a:rPr>
              <a:t> </a:t>
            </a:r>
            <a:r>
              <a:rPr sz="3600" dirty="0">
                <a:solidFill>
                  <a:srgbClr val="2E377E"/>
                </a:solidFill>
                <a:latin typeface="Georgia"/>
                <a:cs typeface="Georgia"/>
              </a:rPr>
              <a:t>of</a:t>
            </a:r>
            <a:r>
              <a:rPr sz="3600" spc="-5" dirty="0">
                <a:solidFill>
                  <a:srgbClr val="2E377E"/>
                </a:solidFill>
                <a:latin typeface="Georgia"/>
                <a:cs typeface="Georgia"/>
              </a:rPr>
              <a:t> </a:t>
            </a:r>
            <a:r>
              <a:rPr sz="3600" dirty="0">
                <a:solidFill>
                  <a:srgbClr val="2E377E"/>
                </a:solidFill>
                <a:latin typeface="Georgia"/>
                <a:cs typeface="Georgia"/>
              </a:rPr>
              <a:t>node</a:t>
            </a:r>
            <a:r>
              <a:rPr sz="3600" spc="-5" dirty="0">
                <a:solidFill>
                  <a:srgbClr val="2E377E"/>
                </a:solidFill>
                <a:latin typeface="Georgia"/>
                <a:cs typeface="Georgia"/>
              </a:rPr>
              <a:t> </a:t>
            </a:r>
            <a:r>
              <a:rPr sz="3600" spc="75" dirty="0">
                <a:solidFill>
                  <a:srgbClr val="2E377E"/>
                </a:solidFill>
                <a:latin typeface="Georgia"/>
                <a:cs typeface="Georgia"/>
              </a:rPr>
              <a:t>where</a:t>
            </a:r>
            <a:r>
              <a:rPr sz="3600" dirty="0">
                <a:solidFill>
                  <a:srgbClr val="2E377E"/>
                </a:solidFill>
                <a:latin typeface="Georgia"/>
                <a:cs typeface="Georgia"/>
              </a:rPr>
              <a:t> pod</a:t>
            </a:r>
            <a:r>
              <a:rPr sz="3600" spc="-5" dirty="0">
                <a:solidFill>
                  <a:srgbClr val="2E377E"/>
                </a:solidFill>
                <a:latin typeface="Georgia"/>
                <a:cs typeface="Georgia"/>
              </a:rPr>
              <a:t> </a:t>
            </a:r>
            <a:r>
              <a:rPr sz="3600" dirty="0">
                <a:solidFill>
                  <a:srgbClr val="2E377E"/>
                </a:solidFill>
                <a:latin typeface="Georgia"/>
                <a:cs typeface="Georgia"/>
              </a:rPr>
              <a:t>is</a:t>
            </a:r>
            <a:r>
              <a:rPr sz="3600" spc="-5" dirty="0">
                <a:solidFill>
                  <a:srgbClr val="2E377E"/>
                </a:solidFill>
                <a:latin typeface="Georgia"/>
                <a:cs typeface="Georgia"/>
              </a:rPr>
              <a:t> </a:t>
            </a:r>
            <a:r>
              <a:rPr sz="3600" spc="-10" dirty="0">
                <a:solidFill>
                  <a:srgbClr val="2E377E"/>
                </a:solidFill>
                <a:latin typeface="Georgia"/>
                <a:cs typeface="Georgia"/>
              </a:rPr>
              <a:t>running.</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Node</a:t>
            </a:r>
            <a:r>
              <a:rPr sz="3600" spc="-60" dirty="0">
                <a:solidFill>
                  <a:srgbClr val="2E377E"/>
                </a:solidFill>
                <a:latin typeface="Georgia"/>
                <a:cs typeface="Georgia"/>
              </a:rPr>
              <a:t> </a:t>
            </a:r>
            <a:r>
              <a:rPr sz="3600" dirty="0">
                <a:solidFill>
                  <a:srgbClr val="2E377E"/>
                </a:solidFill>
                <a:latin typeface="Georgia"/>
                <a:cs typeface="Georgia"/>
              </a:rPr>
              <a:t>Port</a:t>
            </a:r>
            <a:r>
              <a:rPr sz="3600" spc="-55" dirty="0">
                <a:solidFill>
                  <a:srgbClr val="2E377E"/>
                </a:solidFill>
                <a:latin typeface="Georgia"/>
                <a:cs typeface="Georgia"/>
              </a:rPr>
              <a:t> </a:t>
            </a:r>
            <a:r>
              <a:rPr sz="3600" spc="-45" dirty="0">
                <a:solidFill>
                  <a:srgbClr val="2E377E"/>
                </a:solidFill>
                <a:latin typeface="Georgia"/>
                <a:cs typeface="Georgia"/>
              </a:rPr>
              <a:t>Range=</a:t>
            </a:r>
            <a:r>
              <a:rPr sz="3600" spc="-55" dirty="0">
                <a:solidFill>
                  <a:srgbClr val="2E377E"/>
                </a:solidFill>
                <a:latin typeface="Georgia"/>
                <a:cs typeface="Georgia"/>
              </a:rPr>
              <a:t> </a:t>
            </a:r>
            <a:r>
              <a:rPr sz="3600" spc="-135" dirty="0">
                <a:solidFill>
                  <a:srgbClr val="2E377E"/>
                </a:solidFill>
                <a:latin typeface="Georgia"/>
                <a:cs typeface="Georgia"/>
              </a:rPr>
              <a:t>30000</a:t>
            </a:r>
            <a:r>
              <a:rPr sz="3600" spc="-55" dirty="0">
                <a:solidFill>
                  <a:srgbClr val="2E377E"/>
                </a:solidFill>
                <a:latin typeface="Georgia"/>
                <a:cs typeface="Georgia"/>
              </a:rPr>
              <a:t> </a:t>
            </a:r>
            <a:r>
              <a:rPr sz="3600" dirty="0">
                <a:solidFill>
                  <a:srgbClr val="2E377E"/>
                </a:solidFill>
                <a:latin typeface="Georgia"/>
                <a:cs typeface="Georgia"/>
              </a:rPr>
              <a:t>-</a:t>
            </a:r>
            <a:r>
              <a:rPr sz="3600" spc="-60" dirty="0">
                <a:solidFill>
                  <a:srgbClr val="2E377E"/>
                </a:solidFill>
                <a:latin typeface="Georgia"/>
                <a:cs typeface="Georgia"/>
              </a:rPr>
              <a:t> </a:t>
            </a:r>
            <a:r>
              <a:rPr sz="3600" spc="-275" dirty="0">
                <a:solidFill>
                  <a:srgbClr val="2E377E"/>
                </a:solidFill>
                <a:latin typeface="Georgia"/>
                <a:cs typeface="Georgia"/>
              </a:rPr>
              <a:t>32767</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here</a:t>
            </a:r>
            <a:r>
              <a:rPr sz="3600" spc="35" dirty="0">
                <a:solidFill>
                  <a:srgbClr val="2E377E"/>
                </a:solidFill>
                <a:latin typeface="Georgia"/>
                <a:cs typeface="Georgia"/>
              </a:rPr>
              <a:t> </a:t>
            </a:r>
            <a:r>
              <a:rPr sz="3600" dirty="0">
                <a:solidFill>
                  <a:srgbClr val="2E377E"/>
                </a:solidFill>
                <a:latin typeface="Georgia"/>
                <a:cs typeface="Georgia"/>
              </a:rPr>
              <a:t>i</a:t>
            </a:r>
            <a:r>
              <a:rPr sz="3600" spc="40" dirty="0">
                <a:solidFill>
                  <a:srgbClr val="2E377E"/>
                </a:solidFill>
                <a:latin typeface="Georgia"/>
                <a:cs typeface="Georgia"/>
              </a:rPr>
              <a:t> </a:t>
            </a:r>
            <a:r>
              <a:rPr sz="3600" dirty="0">
                <a:solidFill>
                  <a:srgbClr val="2E377E"/>
                </a:solidFill>
                <a:latin typeface="Georgia"/>
                <a:cs typeface="Georgia"/>
              </a:rPr>
              <a:t>hae</a:t>
            </a:r>
            <a:r>
              <a:rPr sz="3600" spc="40" dirty="0">
                <a:solidFill>
                  <a:srgbClr val="2E377E"/>
                </a:solidFill>
                <a:latin typeface="Georgia"/>
                <a:cs typeface="Georgia"/>
              </a:rPr>
              <a:t> </a:t>
            </a:r>
            <a:r>
              <a:rPr sz="3600" dirty="0">
                <a:solidFill>
                  <a:srgbClr val="2E377E"/>
                </a:solidFill>
                <a:latin typeface="Georgia"/>
                <a:cs typeface="Georgia"/>
              </a:rPr>
              <a:t>defined</a:t>
            </a:r>
            <a:r>
              <a:rPr sz="3600" spc="40" dirty="0">
                <a:solidFill>
                  <a:srgbClr val="2E377E"/>
                </a:solidFill>
                <a:latin typeface="Georgia"/>
                <a:cs typeface="Georgia"/>
              </a:rPr>
              <a:t> </a:t>
            </a:r>
            <a:r>
              <a:rPr sz="3600" spc="50" dirty="0">
                <a:solidFill>
                  <a:srgbClr val="2E377E"/>
                </a:solidFill>
                <a:latin typeface="Georgia"/>
                <a:cs typeface="Georgia"/>
              </a:rPr>
              <a:t>port</a:t>
            </a:r>
            <a:r>
              <a:rPr sz="3600" spc="40" dirty="0">
                <a:solidFill>
                  <a:srgbClr val="2E377E"/>
                </a:solidFill>
                <a:latin typeface="Georgia"/>
                <a:cs typeface="Georgia"/>
              </a:rPr>
              <a:t> </a:t>
            </a:r>
            <a:r>
              <a:rPr sz="3600" dirty="0">
                <a:solidFill>
                  <a:srgbClr val="2E377E"/>
                </a:solidFill>
                <a:latin typeface="Georgia"/>
                <a:cs typeface="Georgia"/>
              </a:rPr>
              <a:t>number</a:t>
            </a:r>
            <a:r>
              <a:rPr sz="3600" spc="40" dirty="0">
                <a:solidFill>
                  <a:srgbClr val="2E377E"/>
                </a:solidFill>
                <a:latin typeface="Georgia"/>
                <a:cs typeface="Georgia"/>
              </a:rPr>
              <a:t> </a:t>
            </a:r>
            <a:r>
              <a:rPr sz="3600" dirty="0">
                <a:solidFill>
                  <a:srgbClr val="2E377E"/>
                </a:solidFill>
                <a:latin typeface="Georgia"/>
                <a:cs typeface="Georgia"/>
              </a:rPr>
              <a:t>as</a:t>
            </a:r>
            <a:r>
              <a:rPr sz="3600" spc="40" dirty="0">
                <a:solidFill>
                  <a:srgbClr val="2E377E"/>
                </a:solidFill>
                <a:latin typeface="Georgia"/>
                <a:cs typeface="Georgia"/>
              </a:rPr>
              <a:t> </a:t>
            </a:r>
            <a:r>
              <a:rPr sz="3600" spc="-10" dirty="0">
                <a:solidFill>
                  <a:srgbClr val="2E377E"/>
                </a:solidFill>
                <a:latin typeface="Georgia"/>
                <a:cs typeface="Georgia"/>
              </a:rPr>
              <a:t>30001</a:t>
            </a:r>
            <a:endParaRPr sz="3600">
              <a:latin typeface="Georgia"/>
              <a:cs typeface="Georgia"/>
            </a:endParaRPr>
          </a:p>
          <a:p>
            <a:pPr marL="12700" marR="346075">
              <a:lnSpc>
                <a:spcPct val="116300"/>
              </a:lnSpc>
            </a:pPr>
            <a:r>
              <a:rPr sz="3600" dirty="0">
                <a:solidFill>
                  <a:srgbClr val="2E377E"/>
                </a:solidFill>
                <a:latin typeface="Georgia"/>
                <a:cs typeface="Georgia"/>
              </a:rPr>
              <a:t>if</a:t>
            </a:r>
            <a:r>
              <a:rPr sz="3600" spc="-25" dirty="0">
                <a:solidFill>
                  <a:srgbClr val="2E377E"/>
                </a:solidFill>
                <a:latin typeface="Georgia"/>
                <a:cs typeface="Georgia"/>
              </a:rPr>
              <a:t> </a:t>
            </a:r>
            <a:r>
              <a:rPr sz="3600" spc="140" dirty="0">
                <a:solidFill>
                  <a:srgbClr val="2E377E"/>
                </a:solidFill>
                <a:latin typeface="Georgia"/>
                <a:cs typeface="Georgia"/>
              </a:rPr>
              <a:t>we</a:t>
            </a:r>
            <a:r>
              <a:rPr sz="3600" spc="-25" dirty="0">
                <a:solidFill>
                  <a:srgbClr val="2E377E"/>
                </a:solidFill>
                <a:latin typeface="Georgia"/>
                <a:cs typeface="Georgia"/>
              </a:rPr>
              <a:t> </a:t>
            </a:r>
            <a:r>
              <a:rPr sz="3600" dirty="0">
                <a:solidFill>
                  <a:srgbClr val="2E377E"/>
                </a:solidFill>
                <a:latin typeface="Georgia"/>
                <a:cs typeface="Georgia"/>
              </a:rPr>
              <a:t>dont</a:t>
            </a:r>
            <a:r>
              <a:rPr sz="3600" spc="-20" dirty="0">
                <a:solidFill>
                  <a:srgbClr val="2E377E"/>
                </a:solidFill>
                <a:latin typeface="Georgia"/>
                <a:cs typeface="Georgia"/>
              </a:rPr>
              <a:t> </a:t>
            </a:r>
            <a:r>
              <a:rPr sz="3600" spc="60" dirty="0">
                <a:solidFill>
                  <a:srgbClr val="2E377E"/>
                </a:solidFill>
                <a:latin typeface="Georgia"/>
                <a:cs typeface="Georgia"/>
              </a:rPr>
              <a:t>specify</a:t>
            </a:r>
            <a:r>
              <a:rPr sz="3600" spc="-2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spc="50" dirty="0">
                <a:solidFill>
                  <a:srgbClr val="2E377E"/>
                </a:solidFill>
                <a:latin typeface="Georgia"/>
                <a:cs typeface="Georgia"/>
              </a:rPr>
              <a:t>port</a:t>
            </a:r>
            <a:r>
              <a:rPr sz="3600" spc="-25" dirty="0">
                <a:solidFill>
                  <a:srgbClr val="2E377E"/>
                </a:solidFill>
                <a:latin typeface="Georgia"/>
                <a:cs typeface="Georgia"/>
              </a:rPr>
              <a:t> </a:t>
            </a:r>
            <a:r>
              <a:rPr sz="3600" spc="65" dirty="0">
                <a:solidFill>
                  <a:srgbClr val="2E377E"/>
                </a:solidFill>
                <a:latin typeface="Georgia"/>
                <a:cs typeface="Georgia"/>
              </a:rPr>
              <a:t>it</a:t>
            </a:r>
            <a:r>
              <a:rPr sz="3600" spc="-20" dirty="0">
                <a:solidFill>
                  <a:srgbClr val="2E377E"/>
                </a:solidFill>
                <a:latin typeface="Georgia"/>
                <a:cs typeface="Georgia"/>
              </a:rPr>
              <a:t> </a:t>
            </a:r>
            <a:r>
              <a:rPr sz="3600" spc="55" dirty="0">
                <a:solidFill>
                  <a:srgbClr val="2E377E"/>
                </a:solidFill>
                <a:latin typeface="Georgia"/>
                <a:cs typeface="Georgia"/>
              </a:rPr>
              <a:t>will</a:t>
            </a:r>
            <a:r>
              <a:rPr sz="3600" spc="-25" dirty="0">
                <a:solidFill>
                  <a:srgbClr val="2E377E"/>
                </a:solidFill>
                <a:latin typeface="Georgia"/>
                <a:cs typeface="Georgia"/>
              </a:rPr>
              <a:t> </a:t>
            </a:r>
            <a:r>
              <a:rPr sz="3600" dirty="0">
                <a:solidFill>
                  <a:srgbClr val="2E377E"/>
                </a:solidFill>
                <a:latin typeface="Georgia"/>
                <a:cs typeface="Georgia"/>
              </a:rPr>
              <a:t>assign</a:t>
            </a:r>
            <a:r>
              <a:rPr sz="3600" spc="-20" dirty="0">
                <a:solidFill>
                  <a:srgbClr val="2E377E"/>
                </a:solidFill>
                <a:latin typeface="Georgia"/>
                <a:cs typeface="Georgia"/>
              </a:rPr>
              <a:t> </a:t>
            </a:r>
            <a:r>
              <a:rPr sz="3600" spc="-10" dirty="0">
                <a:solidFill>
                  <a:srgbClr val="2E377E"/>
                </a:solidFill>
                <a:latin typeface="Georgia"/>
                <a:cs typeface="Georgia"/>
              </a:rPr>
              <a:t>automatically. </a:t>
            </a:r>
            <a:r>
              <a:rPr sz="3600" spc="60" dirty="0">
                <a:solidFill>
                  <a:srgbClr val="2E377E"/>
                </a:solidFill>
                <a:latin typeface="Georgia"/>
                <a:cs typeface="Georgia"/>
              </a:rPr>
              <a:t>kubectl</a:t>
            </a:r>
            <a:r>
              <a:rPr sz="3600" spc="15" dirty="0">
                <a:solidFill>
                  <a:srgbClr val="2E377E"/>
                </a:solidFill>
                <a:latin typeface="Georgia"/>
                <a:cs typeface="Georgia"/>
              </a:rPr>
              <a:t> </a:t>
            </a:r>
            <a:r>
              <a:rPr sz="3600" dirty="0">
                <a:solidFill>
                  <a:srgbClr val="2E377E"/>
                </a:solidFill>
                <a:latin typeface="Georgia"/>
                <a:cs typeface="Georgia"/>
              </a:rPr>
              <a:t>apply</a:t>
            </a:r>
            <a:r>
              <a:rPr sz="3600" spc="20" dirty="0">
                <a:solidFill>
                  <a:srgbClr val="2E377E"/>
                </a:solidFill>
                <a:latin typeface="Georgia"/>
                <a:cs typeface="Georgia"/>
              </a:rPr>
              <a:t> </a:t>
            </a:r>
            <a:r>
              <a:rPr sz="3600" dirty="0">
                <a:solidFill>
                  <a:srgbClr val="2E377E"/>
                </a:solidFill>
                <a:latin typeface="Georgia"/>
                <a:cs typeface="Georgia"/>
              </a:rPr>
              <a:t>-</a:t>
            </a:r>
            <a:r>
              <a:rPr sz="3600" spc="55" dirty="0">
                <a:solidFill>
                  <a:srgbClr val="2E377E"/>
                </a:solidFill>
                <a:latin typeface="Georgia"/>
                <a:cs typeface="Georgia"/>
              </a:rPr>
              <a:t>f</a:t>
            </a:r>
            <a:r>
              <a:rPr sz="3600" spc="20" dirty="0">
                <a:solidFill>
                  <a:srgbClr val="2E377E"/>
                </a:solidFill>
                <a:latin typeface="Georgia"/>
                <a:cs typeface="Georgia"/>
              </a:rPr>
              <a:t> </a:t>
            </a:r>
            <a:r>
              <a:rPr sz="3600" spc="-10" dirty="0">
                <a:solidFill>
                  <a:srgbClr val="2E377E"/>
                </a:solidFill>
                <a:latin typeface="Georgia"/>
                <a:cs typeface="Georgia"/>
              </a:rPr>
              <a:t>filename.yml.</a:t>
            </a:r>
            <a:endParaRPr sz="3600">
              <a:latin typeface="Georgia"/>
              <a:cs typeface="Georgia"/>
            </a:endParaRPr>
          </a:p>
          <a:p>
            <a:pPr marL="12700" marR="278130">
              <a:lnSpc>
                <a:spcPct val="116300"/>
              </a:lnSpc>
            </a:pPr>
            <a:r>
              <a:rPr sz="3600" dirty="0">
                <a:solidFill>
                  <a:srgbClr val="2E377E"/>
                </a:solidFill>
                <a:latin typeface="Georgia"/>
                <a:cs typeface="Georgia"/>
              </a:rPr>
              <a:t>NodePort</a:t>
            </a:r>
            <a:r>
              <a:rPr sz="3600" spc="-35" dirty="0">
                <a:solidFill>
                  <a:srgbClr val="2E377E"/>
                </a:solidFill>
                <a:latin typeface="Georgia"/>
                <a:cs typeface="Georgia"/>
              </a:rPr>
              <a:t> </a:t>
            </a:r>
            <a:r>
              <a:rPr sz="3600" spc="55" dirty="0">
                <a:solidFill>
                  <a:srgbClr val="2E377E"/>
                </a:solidFill>
                <a:latin typeface="Georgia"/>
                <a:cs typeface="Georgia"/>
              </a:rPr>
              <a:t>expose</a:t>
            </a:r>
            <a:r>
              <a:rPr sz="3600" spc="-30" dirty="0">
                <a:solidFill>
                  <a:srgbClr val="2E377E"/>
                </a:solidFill>
                <a:latin typeface="Georgia"/>
                <a:cs typeface="Georgia"/>
              </a:rPr>
              <a:t> </a:t>
            </a:r>
            <a:r>
              <a:rPr sz="3600" spc="65" dirty="0">
                <a:solidFill>
                  <a:srgbClr val="2E377E"/>
                </a:solidFill>
                <a:latin typeface="Georgia"/>
                <a:cs typeface="Georgia"/>
              </a:rPr>
              <a:t>service</a:t>
            </a:r>
            <a:r>
              <a:rPr sz="3600" spc="-30" dirty="0">
                <a:solidFill>
                  <a:srgbClr val="2E377E"/>
                </a:solidFill>
                <a:latin typeface="Georgia"/>
                <a:cs typeface="Georgia"/>
              </a:rPr>
              <a:t> </a:t>
            </a:r>
            <a:r>
              <a:rPr sz="3600" dirty="0">
                <a:solidFill>
                  <a:srgbClr val="2E377E"/>
                </a:solidFill>
                <a:latin typeface="Georgia"/>
                <a:cs typeface="Georgia"/>
              </a:rPr>
              <a:t>on</a:t>
            </a:r>
            <a:r>
              <a:rPr sz="3600" spc="-30" dirty="0">
                <a:solidFill>
                  <a:srgbClr val="2E377E"/>
                </a:solidFill>
                <a:latin typeface="Georgia"/>
                <a:cs typeface="Georgia"/>
              </a:rPr>
              <a:t> </a:t>
            </a:r>
            <a:r>
              <a:rPr sz="3600" dirty="0">
                <a:solidFill>
                  <a:srgbClr val="2E377E"/>
                </a:solidFill>
                <a:latin typeface="Georgia"/>
                <a:cs typeface="Georgia"/>
              </a:rPr>
              <a:t>a</a:t>
            </a:r>
            <a:r>
              <a:rPr sz="3600" spc="-30" dirty="0">
                <a:solidFill>
                  <a:srgbClr val="2E377E"/>
                </a:solidFill>
                <a:latin typeface="Georgia"/>
                <a:cs typeface="Georgia"/>
              </a:rPr>
              <a:t> </a:t>
            </a:r>
            <a:r>
              <a:rPr sz="3600" spc="55" dirty="0">
                <a:solidFill>
                  <a:srgbClr val="2E377E"/>
                </a:solidFill>
                <a:latin typeface="Georgia"/>
                <a:cs typeface="Georgia"/>
              </a:rPr>
              <a:t>static</a:t>
            </a:r>
            <a:r>
              <a:rPr sz="3600" spc="-30" dirty="0">
                <a:solidFill>
                  <a:srgbClr val="2E377E"/>
                </a:solidFill>
                <a:latin typeface="Georgia"/>
                <a:cs typeface="Georgia"/>
              </a:rPr>
              <a:t> </a:t>
            </a:r>
            <a:r>
              <a:rPr sz="3600" spc="50" dirty="0">
                <a:solidFill>
                  <a:srgbClr val="2E377E"/>
                </a:solidFill>
                <a:latin typeface="Georgia"/>
                <a:cs typeface="Georgia"/>
              </a:rPr>
              <a:t>port</a:t>
            </a:r>
            <a:r>
              <a:rPr sz="3600" spc="-30" dirty="0">
                <a:solidFill>
                  <a:srgbClr val="2E377E"/>
                </a:solidFill>
                <a:latin typeface="Georgia"/>
                <a:cs typeface="Georgia"/>
              </a:rPr>
              <a:t> </a:t>
            </a:r>
            <a:r>
              <a:rPr sz="3600" dirty="0">
                <a:solidFill>
                  <a:srgbClr val="2E377E"/>
                </a:solidFill>
                <a:latin typeface="Georgia"/>
                <a:cs typeface="Georgia"/>
              </a:rPr>
              <a:t>on</a:t>
            </a:r>
            <a:r>
              <a:rPr sz="3600" spc="-30" dirty="0">
                <a:solidFill>
                  <a:srgbClr val="2E377E"/>
                </a:solidFill>
                <a:latin typeface="Georgia"/>
                <a:cs typeface="Georgia"/>
              </a:rPr>
              <a:t> </a:t>
            </a:r>
            <a:r>
              <a:rPr sz="3600" dirty="0">
                <a:solidFill>
                  <a:srgbClr val="2E377E"/>
                </a:solidFill>
                <a:latin typeface="Georgia"/>
                <a:cs typeface="Georgia"/>
              </a:rPr>
              <a:t>each</a:t>
            </a:r>
            <a:r>
              <a:rPr sz="3600" spc="-30" dirty="0">
                <a:solidFill>
                  <a:srgbClr val="2E377E"/>
                </a:solidFill>
                <a:latin typeface="Georgia"/>
                <a:cs typeface="Georgia"/>
              </a:rPr>
              <a:t> </a:t>
            </a:r>
            <a:r>
              <a:rPr sz="3600" spc="-10" dirty="0">
                <a:solidFill>
                  <a:srgbClr val="2E377E"/>
                </a:solidFill>
                <a:latin typeface="Georgia"/>
                <a:cs typeface="Georgia"/>
              </a:rPr>
              <a:t>node. </a:t>
            </a:r>
            <a:r>
              <a:rPr sz="3600" dirty="0">
                <a:solidFill>
                  <a:srgbClr val="2E377E"/>
                </a:solidFill>
                <a:latin typeface="Georgia"/>
                <a:cs typeface="Georgia"/>
              </a:rPr>
              <a:t>NodePort</a:t>
            </a:r>
            <a:r>
              <a:rPr sz="3600" spc="25" dirty="0">
                <a:solidFill>
                  <a:srgbClr val="2E377E"/>
                </a:solidFill>
                <a:latin typeface="Georgia"/>
                <a:cs typeface="Georgia"/>
              </a:rPr>
              <a:t> </a:t>
            </a:r>
            <a:r>
              <a:rPr sz="3600" spc="60" dirty="0">
                <a:solidFill>
                  <a:srgbClr val="2E377E"/>
                </a:solidFill>
                <a:latin typeface="Georgia"/>
                <a:cs typeface="Georgia"/>
              </a:rPr>
              <a:t>services</a:t>
            </a:r>
            <a:r>
              <a:rPr sz="3600" spc="25" dirty="0">
                <a:solidFill>
                  <a:srgbClr val="2E377E"/>
                </a:solidFill>
                <a:latin typeface="Georgia"/>
                <a:cs typeface="Georgia"/>
              </a:rPr>
              <a:t> </a:t>
            </a:r>
            <a:r>
              <a:rPr sz="3600" dirty="0">
                <a:solidFill>
                  <a:srgbClr val="2E377E"/>
                </a:solidFill>
                <a:latin typeface="Georgia"/>
                <a:cs typeface="Georgia"/>
              </a:rPr>
              <a:t>are</a:t>
            </a:r>
            <a:r>
              <a:rPr sz="3600" spc="25" dirty="0">
                <a:solidFill>
                  <a:srgbClr val="2E377E"/>
                </a:solidFill>
                <a:latin typeface="Georgia"/>
                <a:cs typeface="Georgia"/>
              </a:rPr>
              <a:t> </a:t>
            </a:r>
            <a:r>
              <a:rPr sz="3600" spc="65" dirty="0">
                <a:solidFill>
                  <a:srgbClr val="2E377E"/>
                </a:solidFill>
                <a:latin typeface="Georgia"/>
                <a:cs typeface="Georgia"/>
              </a:rPr>
              <a:t>typically</a:t>
            </a:r>
            <a:r>
              <a:rPr sz="3600" spc="25" dirty="0">
                <a:solidFill>
                  <a:srgbClr val="2E377E"/>
                </a:solidFill>
                <a:latin typeface="Georgia"/>
                <a:cs typeface="Georgia"/>
              </a:rPr>
              <a:t> </a:t>
            </a:r>
            <a:r>
              <a:rPr sz="3600" dirty="0">
                <a:solidFill>
                  <a:srgbClr val="2E377E"/>
                </a:solidFill>
                <a:latin typeface="Georgia"/>
                <a:cs typeface="Georgia"/>
              </a:rPr>
              <a:t>used</a:t>
            </a:r>
            <a:r>
              <a:rPr sz="3600" spc="25" dirty="0">
                <a:solidFill>
                  <a:srgbClr val="2E377E"/>
                </a:solidFill>
                <a:latin typeface="Georgia"/>
                <a:cs typeface="Georgia"/>
              </a:rPr>
              <a:t> </a:t>
            </a:r>
            <a:r>
              <a:rPr sz="3600" dirty="0">
                <a:solidFill>
                  <a:srgbClr val="2E377E"/>
                </a:solidFill>
                <a:latin typeface="Georgia"/>
                <a:cs typeface="Georgia"/>
              </a:rPr>
              <a:t>for</a:t>
            </a:r>
            <a:r>
              <a:rPr sz="3600" spc="25" dirty="0">
                <a:solidFill>
                  <a:srgbClr val="2E377E"/>
                </a:solidFill>
                <a:latin typeface="Georgia"/>
                <a:cs typeface="Georgia"/>
              </a:rPr>
              <a:t> </a:t>
            </a:r>
            <a:r>
              <a:rPr sz="3600" spc="-10" dirty="0">
                <a:solidFill>
                  <a:srgbClr val="2E377E"/>
                </a:solidFill>
                <a:latin typeface="Georgia"/>
                <a:cs typeface="Georgia"/>
              </a:rPr>
              <a:t>smaller </a:t>
            </a:r>
            <a:r>
              <a:rPr sz="3600" dirty="0">
                <a:solidFill>
                  <a:srgbClr val="2E377E"/>
                </a:solidFill>
                <a:latin typeface="Georgia"/>
                <a:cs typeface="Georgia"/>
              </a:rPr>
              <a:t>applications</a:t>
            </a:r>
            <a:r>
              <a:rPr sz="3600" spc="-10" dirty="0">
                <a:solidFill>
                  <a:srgbClr val="2E377E"/>
                </a:solidFill>
                <a:latin typeface="Georgia"/>
                <a:cs typeface="Georgia"/>
              </a:rPr>
              <a:t> </a:t>
            </a:r>
            <a:r>
              <a:rPr sz="3600" spc="85" dirty="0">
                <a:solidFill>
                  <a:srgbClr val="2E377E"/>
                </a:solidFill>
                <a:latin typeface="Georgia"/>
                <a:cs typeface="Georgia"/>
              </a:rPr>
              <a:t>with</a:t>
            </a:r>
            <a:r>
              <a:rPr sz="3600" spc="-5" dirty="0">
                <a:solidFill>
                  <a:srgbClr val="2E377E"/>
                </a:solidFill>
                <a:latin typeface="Georgia"/>
                <a:cs typeface="Georgia"/>
              </a:rPr>
              <a:t> </a:t>
            </a:r>
            <a:r>
              <a:rPr sz="3600" dirty="0">
                <a:solidFill>
                  <a:srgbClr val="2E377E"/>
                </a:solidFill>
                <a:latin typeface="Georgia"/>
                <a:cs typeface="Georgia"/>
              </a:rPr>
              <a:t>a</a:t>
            </a:r>
            <a:r>
              <a:rPr sz="3600" spc="-5" dirty="0">
                <a:solidFill>
                  <a:srgbClr val="2E377E"/>
                </a:solidFill>
                <a:latin typeface="Georgia"/>
                <a:cs typeface="Georgia"/>
              </a:rPr>
              <a:t> </a:t>
            </a:r>
            <a:r>
              <a:rPr sz="3600" spc="65" dirty="0">
                <a:solidFill>
                  <a:srgbClr val="2E377E"/>
                </a:solidFill>
                <a:latin typeface="Georgia"/>
                <a:cs typeface="Georgia"/>
              </a:rPr>
              <a:t>lower</a:t>
            </a:r>
            <a:r>
              <a:rPr sz="3600" spc="-5" dirty="0">
                <a:solidFill>
                  <a:srgbClr val="2E377E"/>
                </a:solidFill>
                <a:latin typeface="Georgia"/>
                <a:cs typeface="Georgia"/>
              </a:rPr>
              <a:t> </a:t>
            </a:r>
            <a:r>
              <a:rPr sz="3600" spc="45" dirty="0">
                <a:solidFill>
                  <a:srgbClr val="2E377E"/>
                </a:solidFill>
                <a:latin typeface="Georgia"/>
                <a:cs typeface="Georgia"/>
              </a:rPr>
              <a:t>traffic</a:t>
            </a:r>
            <a:r>
              <a:rPr sz="3600" spc="-5" dirty="0">
                <a:solidFill>
                  <a:srgbClr val="2E377E"/>
                </a:solidFill>
                <a:latin typeface="Georgia"/>
                <a:cs typeface="Georgia"/>
              </a:rPr>
              <a:t> </a:t>
            </a:r>
            <a:r>
              <a:rPr sz="3600" spc="-10" dirty="0">
                <a:solidFill>
                  <a:srgbClr val="2E377E"/>
                </a:solidFill>
                <a:latin typeface="Georgia"/>
                <a:cs typeface="Georgia"/>
              </a:rPr>
              <a:t>volume.</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avoid</a:t>
            </a:r>
            <a:r>
              <a:rPr sz="3600" spc="-5" dirty="0">
                <a:solidFill>
                  <a:srgbClr val="2E377E"/>
                </a:solidFill>
                <a:latin typeface="Georgia"/>
                <a:cs typeface="Georgia"/>
              </a:rPr>
              <a:t> </a:t>
            </a:r>
            <a:r>
              <a:rPr sz="3600" dirty="0">
                <a:solidFill>
                  <a:srgbClr val="2E377E"/>
                </a:solidFill>
                <a:latin typeface="Georgia"/>
                <a:cs typeface="Georgia"/>
              </a:rPr>
              <a:t>this </a:t>
            </a:r>
            <a:r>
              <a:rPr sz="3600" spc="14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are using</a:t>
            </a:r>
            <a:r>
              <a:rPr sz="3600" spc="-5" dirty="0">
                <a:solidFill>
                  <a:srgbClr val="2E377E"/>
                </a:solidFill>
                <a:latin typeface="Georgia"/>
                <a:cs typeface="Georgia"/>
              </a:rPr>
              <a:t> </a:t>
            </a:r>
            <a:r>
              <a:rPr sz="3600" spc="60" dirty="0">
                <a:solidFill>
                  <a:srgbClr val="2E377E"/>
                </a:solidFill>
                <a:latin typeface="Georgia"/>
                <a:cs typeface="Georgia"/>
              </a:rPr>
              <a:t>the</a:t>
            </a:r>
            <a:r>
              <a:rPr sz="3600" dirty="0">
                <a:solidFill>
                  <a:srgbClr val="2E377E"/>
                </a:solidFill>
                <a:latin typeface="Georgia"/>
                <a:cs typeface="Georgia"/>
              </a:rPr>
              <a:t> LoadBalancer</a:t>
            </a:r>
            <a:r>
              <a:rPr sz="3600" spc="-5" dirty="0">
                <a:solidFill>
                  <a:srgbClr val="2E377E"/>
                </a:solidFill>
                <a:latin typeface="Georgia"/>
                <a:cs typeface="Georgia"/>
              </a:rPr>
              <a:t> </a:t>
            </a:r>
            <a:r>
              <a:rPr sz="3600" spc="-10" dirty="0">
                <a:solidFill>
                  <a:srgbClr val="2E377E"/>
                </a:solidFill>
                <a:latin typeface="Georgia"/>
                <a:cs typeface="Georgia"/>
              </a:rPr>
              <a:t>service.</a:t>
            </a:r>
            <a:endParaRPr sz="3600">
              <a:latin typeface="Georgia"/>
              <a:cs typeface="Georgia"/>
            </a:endParaRPr>
          </a:p>
          <a:p>
            <a:pPr marL="12700">
              <a:lnSpc>
                <a:spcPct val="100000"/>
              </a:lnSpc>
              <a:spcBef>
                <a:spcPts val="480"/>
              </a:spcBef>
            </a:pPr>
            <a:r>
              <a:rPr sz="3600" spc="-10" dirty="0">
                <a:solidFill>
                  <a:srgbClr val="2E377E"/>
                </a:solidFill>
                <a:latin typeface="Trebuchet MS"/>
                <a:cs typeface="Trebuchet MS"/>
              </a:rPr>
              <a:t>Just</a:t>
            </a:r>
            <a:r>
              <a:rPr sz="3600" spc="-260" dirty="0">
                <a:solidFill>
                  <a:srgbClr val="2E377E"/>
                </a:solidFill>
                <a:latin typeface="Trebuchet MS"/>
                <a:cs typeface="Trebuchet MS"/>
              </a:rPr>
              <a:t> </a:t>
            </a:r>
            <a:r>
              <a:rPr sz="3600" spc="-40" dirty="0">
                <a:solidFill>
                  <a:srgbClr val="2E377E"/>
                </a:solidFill>
                <a:latin typeface="Trebuchet MS"/>
                <a:cs typeface="Trebuchet MS"/>
              </a:rPr>
              <a:t>Replace</a:t>
            </a:r>
            <a:r>
              <a:rPr sz="3600" spc="-260" dirty="0">
                <a:solidFill>
                  <a:srgbClr val="2E377E"/>
                </a:solidFill>
                <a:latin typeface="Trebuchet MS"/>
                <a:cs typeface="Trebuchet MS"/>
              </a:rPr>
              <a:t> </a:t>
            </a:r>
            <a:r>
              <a:rPr sz="3600" b="1" i="1" spc="90" dirty="0">
                <a:solidFill>
                  <a:srgbClr val="2E377E"/>
                </a:solidFill>
                <a:latin typeface="Times New Roman"/>
                <a:cs typeface="Times New Roman"/>
              </a:rPr>
              <a:t>NodePort=LoadBalancer</a:t>
            </a:r>
            <a:endParaRPr sz="3600">
              <a:latin typeface="Times New Roman"/>
              <a:cs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53803" y="258770"/>
            <a:ext cx="14725649" cy="971264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705" y="1494451"/>
            <a:ext cx="5695949" cy="6219824"/>
          </a:xfrm>
          <a:prstGeom prst="rect">
            <a:avLst/>
          </a:prstGeom>
        </p:spPr>
      </p:pic>
      <p:pic>
        <p:nvPicPr>
          <p:cNvPr id="3" name="object 3"/>
          <p:cNvPicPr/>
          <p:nvPr/>
        </p:nvPicPr>
        <p:blipFill>
          <a:blip r:embed="rId3" cstate="print"/>
          <a:stretch>
            <a:fillRect/>
          </a:stretch>
        </p:blipFill>
        <p:spPr>
          <a:xfrm>
            <a:off x="6632516" y="1433378"/>
            <a:ext cx="104775" cy="104774"/>
          </a:xfrm>
          <a:prstGeom prst="rect">
            <a:avLst/>
          </a:prstGeom>
        </p:spPr>
      </p:pic>
      <p:sp>
        <p:nvSpPr>
          <p:cNvPr id="4" name="object 4"/>
          <p:cNvSpPr txBox="1"/>
          <p:nvPr/>
        </p:nvSpPr>
        <p:spPr>
          <a:xfrm>
            <a:off x="6897678" y="1158093"/>
            <a:ext cx="10018395" cy="7312025"/>
          </a:xfrm>
          <a:prstGeom prst="rect">
            <a:avLst/>
          </a:prstGeom>
        </p:spPr>
        <p:txBody>
          <a:bodyPr vert="horz" wrap="square" lIns="0" tIns="11430" rIns="0" bIns="0" rtlCol="0">
            <a:spAutoFit/>
          </a:bodyPr>
          <a:lstStyle/>
          <a:p>
            <a:pPr marL="12700" marR="5080" algn="just">
              <a:lnSpc>
                <a:spcPct val="115900"/>
              </a:lnSpc>
              <a:spcBef>
                <a:spcPts val="90"/>
              </a:spcBef>
            </a:pPr>
            <a:r>
              <a:rPr sz="2750" dirty="0">
                <a:solidFill>
                  <a:srgbClr val="2E377E"/>
                </a:solidFill>
                <a:latin typeface="Georgia"/>
                <a:cs typeface="Georgia"/>
              </a:rPr>
              <a:t>In</a:t>
            </a:r>
            <a:r>
              <a:rPr sz="2750" spc="254" dirty="0">
                <a:solidFill>
                  <a:srgbClr val="2E377E"/>
                </a:solidFill>
                <a:latin typeface="Georgia"/>
                <a:cs typeface="Georgia"/>
              </a:rPr>
              <a:t> </a:t>
            </a:r>
            <a:r>
              <a:rPr sz="2750" dirty="0">
                <a:solidFill>
                  <a:srgbClr val="2E377E"/>
                </a:solidFill>
                <a:latin typeface="Georgia"/>
                <a:cs typeface="Georgia"/>
              </a:rPr>
              <a:t>LoadBalaner</a:t>
            </a:r>
            <a:r>
              <a:rPr sz="2750" spc="254" dirty="0">
                <a:solidFill>
                  <a:srgbClr val="2E377E"/>
                </a:solidFill>
                <a:latin typeface="Georgia"/>
                <a:cs typeface="Georgia"/>
              </a:rPr>
              <a:t> </a:t>
            </a:r>
            <a:r>
              <a:rPr sz="2750" spc="120" dirty="0">
                <a:solidFill>
                  <a:srgbClr val="2E377E"/>
                </a:solidFill>
                <a:latin typeface="Georgia"/>
                <a:cs typeface="Georgia"/>
              </a:rPr>
              <a:t>we</a:t>
            </a:r>
            <a:r>
              <a:rPr sz="2750" spc="254" dirty="0">
                <a:solidFill>
                  <a:srgbClr val="2E377E"/>
                </a:solidFill>
                <a:latin typeface="Georgia"/>
                <a:cs typeface="Georgia"/>
              </a:rPr>
              <a:t> </a:t>
            </a:r>
            <a:r>
              <a:rPr sz="2750" dirty="0">
                <a:solidFill>
                  <a:srgbClr val="2E377E"/>
                </a:solidFill>
                <a:latin typeface="Georgia"/>
                <a:cs typeface="Georgia"/>
              </a:rPr>
              <a:t>can</a:t>
            </a:r>
            <a:r>
              <a:rPr sz="2750" spc="254" dirty="0">
                <a:solidFill>
                  <a:srgbClr val="2E377E"/>
                </a:solidFill>
                <a:latin typeface="Georgia"/>
                <a:cs typeface="Georgia"/>
              </a:rPr>
              <a:t> </a:t>
            </a:r>
            <a:r>
              <a:rPr sz="2750" spc="55" dirty="0">
                <a:solidFill>
                  <a:srgbClr val="2E377E"/>
                </a:solidFill>
                <a:latin typeface="Georgia"/>
                <a:cs typeface="Georgia"/>
              </a:rPr>
              <a:t>expose</a:t>
            </a:r>
            <a:r>
              <a:rPr sz="2750" spc="254" dirty="0">
                <a:solidFill>
                  <a:srgbClr val="2E377E"/>
                </a:solidFill>
                <a:latin typeface="Georgia"/>
                <a:cs typeface="Georgia"/>
              </a:rPr>
              <a:t> </a:t>
            </a:r>
            <a:r>
              <a:rPr sz="2750" dirty="0">
                <a:solidFill>
                  <a:srgbClr val="2E377E"/>
                </a:solidFill>
                <a:latin typeface="Georgia"/>
                <a:cs typeface="Georgia"/>
              </a:rPr>
              <a:t>application</a:t>
            </a:r>
            <a:r>
              <a:rPr sz="2750" spc="254" dirty="0">
                <a:solidFill>
                  <a:srgbClr val="2E377E"/>
                </a:solidFill>
                <a:latin typeface="Georgia"/>
                <a:cs typeface="Georgia"/>
              </a:rPr>
              <a:t> </a:t>
            </a:r>
            <a:r>
              <a:rPr sz="2750" spc="55" dirty="0">
                <a:solidFill>
                  <a:srgbClr val="2E377E"/>
                </a:solidFill>
                <a:latin typeface="Georgia"/>
                <a:cs typeface="Georgia"/>
              </a:rPr>
              <a:t>externally</a:t>
            </a:r>
            <a:r>
              <a:rPr sz="2750" spc="254" dirty="0">
                <a:solidFill>
                  <a:srgbClr val="2E377E"/>
                </a:solidFill>
                <a:latin typeface="Georgia"/>
                <a:cs typeface="Georgia"/>
              </a:rPr>
              <a:t> </a:t>
            </a:r>
            <a:r>
              <a:rPr sz="2750" spc="80" dirty="0">
                <a:solidFill>
                  <a:srgbClr val="2E377E"/>
                </a:solidFill>
                <a:latin typeface="Georgia"/>
                <a:cs typeface="Georgia"/>
              </a:rPr>
              <a:t>with</a:t>
            </a:r>
            <a:r>
              <a:rPr sz="2750" spc="254" dirty="0">
                <a:solidFill>
                  <a:srgbClr val="2E377E"/>
                </a:solidFill>
                <a:latin typeface="Georgia"/>
                <a:cs typeface="Georgia"/>
              </a:rPr>
              <a:t> </a:t>
            </a:r>
            <a:r>
              <a:rPr sz="2750" spc="35" dirty="0">
                <a:solidFill>
                  <a:srgbClr val="2E377E"/>
                </a:solidFill>
                <a:latin typeface="Georgia"/>
                <a:cs typeface="Georgia"/>
              </a:rPr>
              <a:t>the </a:t>
            </a:r>
            <a:r>
              <a:rPr sz="2750" dirty="0">
                <a:solidFill>
                  <a:srgbClr val="2E377E"/>
                </a:solidFill>
                <a:latin typeface="Georgia"/>
                <a:cs typeface="Georgia"/>
              </a:rPr>
              <a:t>help</a:t>
            </a:r>
            <a:r>
              <a:rPr sz="2750" spc="40" dirty="0">
                <a:solidFill>
                  <a:srgbClr val="2E377E"/>
                </a:solidFill>
                <a:latin typeface="Georgia"/>
                <a:cs typeface="Georgia"/>
              </a:rPr>
              <a:t> </a:t>
            </a:r>
            <a:r>
              <a:rPr sz="2750" dirty="0">
                <a:solidFill>
                  <a:srgbClr val="2E377E"/>
                </a:solidFill>
                <a:latin typeface="Georgia"/>
                <a:cs typeface="Georgia"/>
              </a:rPr>
              <a:t>of</a:t>
            </a:r>
            <a:r>
              <a:rPr sz="2750" spc="50" dirty="0">
                <a:solidFill>
                  <a:srgbClr val="2E377E"/>
                </a:solidFill>
                <a:latin typeface="Georgia"/>
                <a:cs typeface="Georgia"/>
              </a:rPr>
              <a:t> </a:t>
            </a:r>
            <a:r>
              <a:rPr sz="2750" dirty="0">
                <a:solidFill>
                  <a:srgbClr val="2E377E"/>
                </a:solidFill>
                <a:latin typeface="Georgia"/>
                <a:cs typeface="Georgia"/>
              </a:rPr>
              <a:t>Cloud</a:t>
            </a:r>
            <a:r>
              <a:rPr sz="2750" spc="50" dirty="0">
                <a:solidFill>
                  <a:srgbClr val="2E377E"/>
                </a:solidFill>
                <a:latin typeface="Georgia"/>
                <a:cs typeface="Georgia"/>
              </a:rPr>
              <a:t> </a:t>
            </a:r>
            <a:r>
              <a:rPr sz="2750" spc="45" dirty="0">
                <a:solidFill>
                  <a:srgbClr val="2E377E"/>
                </a:solidFill>
                <a:latin typeface="Georgia"/>
                <a:cs typeface="Georgia"/>
              </a:rPr>
              <a:t>Provider</a:t>
            </a:r>
            <a:r>
              <a:rPr sz="2750" spc="50" dirty="0">
                <a:solidFill>
                  <a:srgbClr val="2E377E"/>
                </a:solidFill>
                <a:latin typeface="Georgia"/>
                <a:cs typeface="Georgia"/>
              </a:rPr>
              <a:t> </a:t>
            </a:r>
            <a:r>
              <a:rPr sz="2750" spc="-10" dirty="0">
                <a:solidFill>
                  <a:srgbClr val="2E377E"/>
                </a:solidFill>
                <a:latin typeface="Georgia"/>
                <a:cs typeface="Georgia"/>
              </a:rPr>
              <a:t>LoadBalancer.</a:t>
            </a:r>
            <a:endParaRPr sz="2750">
              <a:latin typeface="Georgia"/>
              <a:cs typeface="Georgia"/>
            </a:endParaRPr>
          </a:p>
          <a:p>
            <a:pPr marL="12700" marR="5080" indent="150495" algn="just">
              <a:lnSpc>
                <a:spcPct val="115900"/>
              </a:lnSpc>
            </a:pPr>
            <a:r>
              <a:rPr sz="2750" spc="60" dirty="0">
                <a:solidFill>
                  <a:srgbClr val="2E377E"/>
                </a:solidFill>
                <a:latin typeface="Georgia"/>
                <a:cs typeface="Georgia"/>
              </a:rPr>
              <a:t>it</a:t>
            </a:r>
            <a:r>
              <a:rPr sz="2750" spc="630" dirty="0">
                <a:solidFill>
                  <a:srgbClr val="2E377E"/>
                </a:solidFill>
                <a:latin typeface="Georgia"/>
                <a:cs typeface="Georgia"/>
              </a:rPr>
              <a:t> </a:t>
            </a:r>
            <a:r>
              <a:rPr sz="2750" dirty="0">
                <a:solidFill>
                  <a:srgbClr val="2E377E"/>
                </a:solidFill>
                <a:latin typeface="Georgia"/>
                <a:cs typeface="Georgia"/>
              </a:rPr>
              <a:t>is</a:t>
            </a:r>
            <a:r>
              <a:rPr sz="2750" spc="630" dirty="0">
                <a:solidFill>
                  <a:srgbClr val="2E377E"/>
                </a:solidFill>
                <a:latin typeface="Georgia"/>
                <a:cs typeface="Georgia"/>
              </a:rPr>
              <a:t> </a:t>
            </a:r>
            <a:r>
              <a:rPr sz="2750" dirty="0">
                <a:solidFill>
                  <a:srgbClr val="2E377E"/>
                </a:solidFill>
                <a:latin typeface="Georgia"/>
                <a:cs typeface="Georgia"/>
              </a:rPr>
              <a:t>used</a:t>
            </a:r>
            <a:r>
              <a:rPr sz="2750" spc="635" dirty="0">
                <a:solidFill>
                  <a:srgbClr val="2E377E"/>
                </a:solidFill>
                <a:latin typeface="Georgia"/>
                <a:cs typeface="Georgia"/>
              </a:rPr>
              <a:t> </a:t>
            </a:r>
            <a:r>
              <a:rPr sz="2750" spc="70" dirty="0">
                <a:solidFill>
                  <a:srgbClr val="2E377E"/>
                </a:solidFill>
                <a:latin typeface="Georgia"/>
                <a:cs typeface="Georgia"/>
              </a:rPr>
              <a:t>when</a:t>
            </a:r>
            <a:r>
              <a:rPr sz="2750" spc="630" dirty="0">
                <a:solidFill>
                  <a:srgbClr val="2E377E"/>
                </a:solidFill>
                <a:latin typeface="Georgia"/>
                <a:cs typeface="Georgia"/>
              </a:rPr>
              <a:t> </a:t>
            </a:r>
            <a:r>
              <a:rPr sz="2750" dirty="0">
                <a:solidFill>
                  <a:srgbClr val="2E377E"/>
                </a:solidFill>
                <a:latin typeface="Georgia"/>
                <a:cs typeface="Georgia"/>
              </a:rPr>
              <a:t>an</a:t>
            </a:r>
            <a:r>
              <a:rPr sz="2750" spc="630" dirty="0">
                <a:solidFill>
                  <a:srgbClr val="2E377E"/>
                </a:solidFill>
                <a:latin typeface="Georgia"/>
                <a:cs typeface="Georgia"/>
              </a:rPr>
              <a:t> </a:t>
            </a:r>
            <a:r>
              <a:rPr sz="2750" dirty="0">
                <a:solidFill>
                  <a:srgbClr val="2E377E"/>
                </a:solidFill>
                <a:latin typeface="Georgia"/>
                <a:cs typeface="Georgia"/>
              </a:rPr>
              <a:t>application</a:t>
            </a:r>
            <a:r>
              <a:rPr sz="2750" spc="630" dirty="0">
                <a:solidFill>
                  <a:srgbClr val="2E377E"/>
                </a:solidFill>
                <a:latin typeface="Georgia"/>
                <a:cs typeface="Georgia"/>
              </a:rPr>
              <a:t> </a:t>
            </a:r>
            <a:r>
              <a:rPr sz="2750" dirty="0">
                <a:solidFill>
                  <a:srgbClr val="2E377E"/>
                </a:solidFill>
                <a:latin typeface="Georgia"/>
                <a:cs typeface="Georgia"/>
              </a:rPr>
              <a:t>needs</a:t>
            </a:r>
            <a:r>
              <a:rPr sz="2750" spc="630" dirty="0">
                <a:solidFill>
                  <a:srgbClr val="2E377E"/>
                </a:solidFill>
                <a:latin typeface="Georgia"/>
                <a:cs typeface="Georgia"/>
              </a:rPr>
              <a:t> </a:t>
            </a:r>
            <a:r>
              <a:rPr sz="2750" spc="60" dirty="0">
                <a:solidFill>
                  <a:srgbClr val="2E377E"/>
                </a:solidFill>
                <a:latin typeface="Georgia"/>
                <a:cs typeface="Georgia"/>
              </a:rPr>
              <a:t>to</a:t>
            </a:r>
            <a:r>
              <a:rPr sz="2750" spc="635" dirty="0">
                <a:solidFill>
                  <a:srgbClr val="2E377E"/>
                </a:solidFill>
                <a:latin typeface="Georgia"/>
                <a:cs typeface="Georgia"/>
              </a:rPr>
              <a:t> </a:t>
            </a:r>
            <a:r>
              <a:rPr sz="2750" dirty="0">
                <a:solidFill>
                  <a:srgbClr val="2E377E"/>
                </a:solidFill>
                <a:latin typeface="Georgia"/>
                <a:cs typeface="Georgia"/>
              </a:rPr>
              <a:t>handle</a:t>
            </a:r>
            <a:r>
              <a:rPr sz="2750" spc="630" dirty="0">
                <a:solidFill>
                  <a:srgbClr val="2E377E"/>
                </a:solidFill>
                <a:latin typeface="Georgia"/>
                <a:cs typeface="Georgia"/>
              </a:rPr>
              <a:t> </a:t>
            </a:r>
            <a:r>
              <a:rPr sz="2750" dirty="0">
                <a:solidFill>
                  <a:srgbClr val="2E377E"/>
                </a:solidFill>
                <a:latin typeface="Georgia"/>
                <a:cs typeface="Georgia"/>
              </a:rPr>
              <a:t>high</a:t>
            </a:r>
            <a:r>
              <a:rPr sz="2750" spc="630" dirty="0">
                <a:solidFill>
                  <a:srgbClr val="2E377E"/>
                </a:solidFill>
                <a:latin typeface="Georgia"/>
                <a:cs typeface="Georgia"/>
              </a:rPr>
              <a:t> </a:t>
            </a:r>
            <a:r>
              <a:rPr sz="2750" spc="35" dirty="0">
                <a:solidFill>
                  <a:srgbClr val="2E377E"/>
                </a:solidFill>
                <a:latin typeface="Georgia"/>
                <a:cs typeface="Georgia"/>
              </a:rPr>
              <a:t>traffic </a:t>
            </a:r>
            <a:r>
              <a:rPr sz="2750" dirty="0">
                <a:solidFill>
                  <a:srgbClr val="2E377E"/>
                </a:solidFill>
                <a:latin typeface="Georgia"/>
                <a:cs typeface="Georgia"/>
              </a:rPr>
              <a:t>loads</a:t>
            </a:r>
            <a:r>
              <a:rPr sz="2750" spc="380" dirty="0">
                <a:solidFill>
                  <a:srgbClr val="2E377E"/>
                </a:solidFill>
                <a:latin typeface="Georgia"/>
                <a:cs typeface="Georgia"/>
              </a:rPr>
              <a:t>  </a:t>
            </a:r>
            <a:r>
              <a:rPr sz="2750" dirty="0">
                <a:solidFill>
                  <a:srgbClr val="2E377E"/>
                </a:solidFill>
                <a:latin typeface="Georgia"/>
                <a:cs typeface="Georgia"/>
              </a:rPr>
              <a:t>and</a:t>
            </a:r>
            <a:r>
              <a:rPr sz="2750" spc="375" dirty="0">
                <a:solidFill>
                  <a:srgbClr val="2E377E"/>
                </a:solidFill>
                <a:latin typeface="Georgia"/>
                <a:cs typeface="Georgia"/>
              </a:rPr>
              <a:t>  </a:t>
            </a:r>
            <a:r>
              <a:rPr sz="2750" dirty="0">
                <a:solidFill>
                  <a:srgbClr val="2E377E"/>
                </a:solidFill>
                <a:latin typeface="Georgia"/>
                <a:cs typeface="Georgia"/>
              </a:rPr>
              <a:t>requires</a:t>
            </a:r>
            <a:r>
              <a:rPr sz="2750" spc="380" dirty="0">
                <a:solidFill>
                  <a:srgbClr val="2E377E"/>
                </a:solidFill>
                <a:latin typeface="Georgia"/>
                <a:cs typeface="Georgia"/>
              </a:rPr>
              <a:t>  </a:t>
            </a:r>
            <a:r>
              <a:rPr sz="2750" dirty="0">
                <a:solidFill>
                  <a:srgbClr val="2E377E"/>
                </a:solidFill>
                <a:latin typeface="Georgia"/>
                <a:cs typeface="Georgia"/>
              </a:rPr>
              <a:t>automatic</a:t>
            </a:r>
            <a:r>
              <a:rPr sz="2750" spc="380" dirty="0">
                <a:solidFill>
                  <a:srgbClr val="2E377E"/>
                </a:solidFill>
                <a:latin typeface="Georgia"/>
                <a:cs typeface="Georgia"/>
              </a:rPr>
              <a:t>  </a:t>
            </a:r>
            <a:r>
              <a:rPr sz="2750" dirty="0">
                <a:solidFill>
                  <a:srgbClr val="2E377E"/>
                </a:solidFill>
                <a:latin typeface="Georgia"/>
                <a:cs typeface="Georgia"/>
              </a:rPr>
              <a:t>scaling</a:t>
            </a:r>
            <a:r>
              <a:rPr sz="2750" spc="375" dirty="0">
                <a:solidFill>
                  <a:srgbClr val="2E377E"/>
                </a:solidFill>
                <a:latin typeface="Georgia"/>
                <a:cs typeface="Georgia"/>
              </a:rPr>
              <a:t>  </a:t>
            </a:r>
            <a:r>
              <a:rPr sz="2750" dirty="0">
                <a:solidFill>
                  <a:srgbClr val="2E377E"/>
                </a:solidFill>
                <a:latin typeface="Georgia"/>
                <a:cs typeface="Georgia"/>
              </a:rPr>
              <a:t>and</a:t>
            </a:r>
            <a:r>
              <a:rPr sz="2750" spc="380" dirty="0">
                <a:solidFill>
                  <a:srgbClr val="2E377E"/>
                </a:solidFill>
                <a:latin typeface="Georgia"/>
                <a:cs typeface="Georgia"/>
              </a:rPr>
              <a:t>  </a:t>
            </a:r>
            <a:r>
              <a:rPr sz="2750" dirty="0">
                <a:solidFill>
                  <a:srgbClr val="2E377E"/>
                </a:solidFill>
                <a:latin typeface="Georgia"/>
                <a:cs typeface="Georgia"/>
              </a:rPr>
              <a:t>load</a:t>
            </a:r>
            <a:r>
              <a:rPr sz="2750" spc="375" dirty="0">
                <a:solidFill>
                  <a:srgbClr val="2E377E"/>
                </a:solidFill>
                <a:latin typeface="Georgia"/>
                <a:cs typeface="Georgia"/>
              </a:rPr>
              <a:t>  </a:t>
            </a:r>
            <a:r>
              <a:rPr sz="2750" spc="-10" dirty="0">
                <a:solidFill>
                  <a:srgbClr val="2E377E"/>
                </a:solidFill>
                <a:latin typeface="Georgia"/>
                <a:cs typeface="Georgia"/>
              </a:rPr>
              <a:t>balancing capabilities.</a:t>
            </a:r>
            <a:endParaRPr sz="2750">
              <a:latin typeface="Georgia"/>
              <a:cs typeface="Georgia"/>
            </a:endParaRPr>
          </a:p>
          <a:p>
            <a:pPr marL="12700" marR="5080" algn="just">
              <a:lnSpc>
                <a:spcPct val="115900"/>
              </a:lnSpc>
            </a:pPr>
            <a:r>
              <a:rPr sz="2750" dirty="0">
                <a:solidFill>
                  <a:srgbClr val="2E377E"/>
                </a:solidFill>
                <a:latin typeface="Georgia"/>
                <a:cs typeface="Georgia"/>
              </a:rPr>
              <a:t>After</a:t>
            </a:r>
            <a:r>
              <a:rPr sz="2750" spc="465" dirty="0">
                <a:solidFill>
                  <a:srgbClr val="2E377E"/>
                </a:solidFill>
                <a:latin typeface="Georgia"/>
                <a:cs typeface="Georgia"/>
              </a:rPr>
              <a:t> </a:t>
            </a:r>
            <a:r>
              <a:rPr sz="2750" spc="60" dirty="0">
                <a:solidFill>
                  <a:srgbClr val="2E377E"/>
                </a:solidFill>
                <a:latin typeface="Georgia"/>
                <a:cs typeface="Georgia"/>
              </a:rPr>
              <a:t>the</a:t>
            </a:r>
            <a:r>
              <a:rPr sz="2750" spc="470" dirty="0">
                <a:solidFill>
                  <a:srgbClr val="2E377E"/>
                </a:solidFill>
                <a:latin typeface="Georgia"/>
                <a:cs typeface="Georgia"/>
              </a:rPr>
              <a:t> </a:t>
            </a:r>
            <a:r>
              <a:rPr sz="2750" dirty="0">
                <a:solidFill>
                  <a:srgbClr val="2E377E"/>
                </a:solidFill>
                <a:latin typeface="Georgia"/>
                <a:cs typeface="Georgia"/>
              </a:rPr>
              <a:t>LoadBalancer</a:t>
            </a:r>
            <a:r>
              <a:rPr sz="2750" spc="465" dirty="0">
                <a:solidFill>
                  <a:srgbClr val="2E377E"/>
                </a:solidFill>
                <a:latin typeface="Georgia"/>
                <a:cs typeface="Georgia"/>
              </a:rPr>
              <a:t> </a:t>
            </a:r>
            <a:r>
              <a:rPr sz="2750" spc="60" dirty="0">
                <a:solidFill>
                  <a:srgbClr val="2E377E"/>
                </a:solidFill>
                <a:latin typeface="Georgia"/>
                <a:cs typeface="Georgia"/>
              </a:rPr>
              <a:t>service</a:t>
            </a:r>
            <a:r>
              <a:rPr sz="2750" spc="465" dirty="0">
                <a:solidFill>
                  <a:srgbClr val="2E377E"/>
                </a:solidFill>
                <a:latin typeface="Georgia"/>
                <a:cs typeface="Georgia"/>
              </a:rPr>
              <a:t> </a:t>
            </a:r>
            <a:r>
              <a:rPr sz="2750" dirty="0">
                <a:solidFill>
                  <a:srgbClr val="2E377E"/>
                </a:solidFill>
                <a:latin typeface="Georgia"/>
                <a:cs typeface="Georgia"/>
              </a:rPr>
              <a:t>is</a:t>
            </a:r>
            <a:r>
              <a:rPr sz="2750" spc="465" dirty="0">
                <a:solidFill>
                  <a:srgbClr val="2E377E"/>
                </a:solidFill>
                <a:latin typeface="Georgia"/>
                <a:cs typeface="Georgia"/>
              </a:rPr>
              <a:t> </a:t>
            </a:r>
            <a:r>
              <a:rPr sz="2750" dirty="0">
                <a:solidFill>
                  <a:srgbClr val="2E377E"/>
                </a:solidFill>
                <a:latin typeface="Georgia"/>
                <a:cs typeface="Georgia"/>
              </a:rPr>
              <a:t>created,</a:t>
            </a:r>
            <a:r>
              <a:rPr sz="2750" spc="470" dirty="0">
                <a:solidFill>
                  <a:srgbClr val="2E377E"/>
                </a:solidFill>
                <a:latin typeface="Georgia"/>
                <a:cs typeface="Georgia"/>
              </a:rPr>
              <a:t> </a:t>
            </a:r>
            <a:r>
              <a:rPr sz="2750" spc="60" dirty="0">
                <a:solidFill>
                  <a:srgbClr val="2E377E"/>
                </a:solidFill>
                <a:latin typeface="Georgia"/>
                <a:cs typeface="Georgia"/>
              </a:rPr>
              <a:t>the</a:t>
            </a:r>
            <a:r>
              <a:rPr sz="2750" spc="465" dirty="0">
                <a:solidFill>
                  <a:srgbClr val="2E377E"/>
                </a:solidFill>
                <a:latin typeface="Georgia"/>
                <a:cs typeface="Georgia"/>
              </a:rPr>
              <a:t> </a:t>
            </a:r>
            <a:r>
              <a:rPr sz="2750" dirty="0">
                <a:solidFill>
                  <a:srgbClr val="2E377E"/>
                </a:solidFill>
                <a:latin typeface="Georgia"/>
                <a:cs typeface="Georgia"/>
              </a:rPr>
              <a:t>cloud</a:t>
            </a:r>
            <a:r>
              <a:rPr sz="2750" spc="465" dirty="0">
                <a:solidFill>
                  <a:srgbClr val="2E377E"/>
                </a:solidFill>
                <a:latin typeface="Georgia"/>
                <a:cs typeface="Georgia"/>
              </a:rPr>
              <a:t> </a:t>
            </a:r>
            <a:r>
              <a:rPr sz="2750" spc="45" dirty="0">
                <a:solidFill>
                  <a:srgbClr val="2E377E"/>
                </a:solidFill>
                <a:latin typeface="Georgia"/>
                <a:cs typeface="Georgia"/>
              </a:rPr>
              <a:t>provider </a:t>
            </a:r>
            <a:r>
              <a:rPr sz="2750" spc="50" dirty="0">
                <a:solidFill>
                  <a:srgbClr val="2E377E"/>
                </a:solidFill>
                <a:latin typeface="Georgia"/>
                <a:cs typeface="Georgia"/>
              </a:rPr>
              <a:t>will</a:t>
            </a:r>
            <a:r>
              <a:rPr sz="2750" spc="-50" dirty="0">
                <a:solidFill>
                  <a:srgbClr val="2E377E"/>
                </a:solidFill>
                <a:latin typeface="Georgia"/>
                <a:cs typeface="Georgia"/>
              </a:rPr>
              <a:t> </a:t>
            </a:r>
            <a:r>
              <a:rPr sz="2750" spc="50" dirty="0">
                <a:solidFill>
                  <a:srgbClr val="2E377E"/>
                </a:solidFill>
                <a:latin typeface="Georgia"/>
                <a:cs typeface="Georgia"/>
              </a:rPr>
              <a:t>created</a:t>
            </a:r>
            <a:r>
              <a:rPr sz="2750" spc="-45" dirty="0">
                <a:solidFill>
                  <a:srgbClr val="2E377E"/>
                </a:solidFill>
                <a:latin typeface="Georgia"/>
                <a:cs typeface="Georgia"/>
              </a:rPr>
              <a:t> </a:t>
            </a:r>
            <a:r>
              <a:rPr sz="2750" spc="60" dirty="0">
                <a:solidFill>
                  <a:srgbClr val="2E377E"/>
                </a:solidFill>
                <a:latin typeface="Georgia"/>
                <a:cs typeface="Georgia"/>
              </a:rPr>
              <a:t>the</a:t>
            </a:r>
            <a:r>
              <a:rPr sz="2750" spc="-50" dirty="0">
                <a:solidFill>
                  <a:srgbClr val="2E377E"/>
                </a:solidFill>
                <a:latin typeface="Georgia"/>
                <a:cs typeface="Georgia"/>
              </a:rPr>
              <a:t> </a:t>
            </a:r>
            <a:r>
              <a:rPr sz="2750" dirty="0">
                <a:solidFill>
                  <a:srgbClr val="2E377E"/>
                </a:solidFill>
                <a:latin typeface="Georgia"/>
                <a:cs typeface="Georgia"/>
              </a:rPr>
              <a:t>Load</a:t>
            </a:r>
            <a:r>
              <a:rPr sz="2750" spc="-45" dirty="0">
                <a:solidFill>
                  <a:srgbClr val="2E377E"/>
                </a:solidFill>
                <a:latin typeface="Georgia"/>
                <a:cs typeface="Georgia"/>
              </a:rPr>
              <a:t> </a:t>
            </a:r>
            <a:r>
              <a:rPr sz="2750" spc="-10" dirty="0">
                <a:solidFill>
                  <a:srgbClr val="2E377E"/>
                </a:solidFill>
                <a:latin typeface="Georgia"/>
                <a:cs typeface="Georgia"/>
              </a:rPr>
              <a:t>Balancer.</a:t>
            </a:r>
            <a:endParaRPr sz="2750">
              <a:latin typeface="Georgia"/>
              <a:cs typeface="Georgia"/>
            </a:endParaRPr>
          </a:p>
          <a:p>
            <a:pPr marL="12700" marR="5080" algn="just">
              <a:lnSpc>
                <a:spcPct val="115900"/>
              </a:lnSpc>
            </a:pPr>
            <a:r>
              <a:rPr sz="2750" dirty="0">
                <a:solidFill>
                  <a:srgbClr val="2E377E"/>
                </a:solidFill>
                <a:latin typeface="Georgia"/>
                <a:cs typeface="Georgia"/>
              </a:rPr>
              <a:t>This</a:t>
            </a:r>
            <a:r>
              <a:rPr sz="2750" spc="465" dirty="0">
                <a:solidFill>
                  <a:srgbClr val="2E377E"/>
                </a:solidFill>
                <a:latin typeface="Georgia"/>
                <a:cs typeface="Georgia"/>
              </a:rPr>
              <a:t> </a:t>
            </a:r>
            <a:r>
              <a:rPr sz="2750" dirty="0">
                <a:solidFill>
                  <a:srgbClr val="2E377E"/>
                </a:solidFill>
                <a:latin typeface="Georgia"/>
                <a:cs typeface="Georgia"/>
              </a:rPr>
              <a:t>IP</a:t>
            </a:r>
            <a:r>
              <a:rPr sz="2750" spc="465" dirty="0">
                <a:solidFill>
                  <a:srgbClr val="2E377E"/>
                </a:solidFill>
                <a:latin typeface="Georgia"/>
                <a:cs typeface="Georgia"/>
              </a:rPr>
              <a:t> </a:t>
            </a:r>
            <a:r>
              <a:rPr sz="2750" dirty="0">
                <a:solidFill>
                  <a:srgbClr val="2E377E"/>
                </a:solidFill>
                <a:latin typeface="Georgia"/>
                <a:cs typeface="Georgia"/>
              </a:rPr>
              <a:t>address</a:t>
            </a:r>
            <a:r>
              <a:rPr sz="2750" spc="470" dirty="0">
                <a:solidFill>
                  <a:srgbClr val="2E377E"/>
                </a:solidFill>
                <a:latin typeface="Georgia"/>
                <a:cs typeface="Georgia"/>
              </a:rPr>
              <a:t> </a:t>
            </a:r>
            <a:r>
              <a:rPr sz="2750" dirty="0">
                <a:solidFill>
                  <a:srgbClr val="2E377E"/>
                </a:solidFill>
                <a:latin typeface="Georgia"/>
                <a:cs typeface="Georgia"/>
              </a:rPr>
              <a:t>can</a:t>
            </a:r>
            <a:r>
              <a:rPr sz="2750" spc="465" dirty="0">
                <a:solidFill>
                  <a:srgbClr val="2E377E"/>
                </a:solidFill>
                <a:latin typeface="Georgia"/>
                <a:cs typeface="Georgia"/>
              </a:rPr>
              <a:t> </a:t>
            </a:r>
            <a:r>
              <a:rPr sz="2750" dirty="0">
                <a:solidFill>
                  <a:srgbClr val="2E377E"/>
                </a:solidFill>
                <a:latin typeface="Georgia"/>
                <a:cs typeface="Georgia"/>
              </a:rPr>
              <a:t>be</a:t>
            </a:r>
            <a:r>
              <a:rPr sz="2750" spc="465" dirty="0">
                <a:solidFill>
                  <a:srgbClr val="2E377E"/>
                </a:solidFill>
                <a:latin typeface="Georgia"/>
                <a:cs typeface="Georgia"/>
              </a:rPr>
              <a:t> </a:t>
            </a:r>
            <a:r>
              <a:rPr sz="2750" dirty="0">
                <a:solidFill>
                  <a:srgbClr val="2E377E"/>
                </a:solidFill>
                <a:latin typeface="Georgia"/>
                <a:cs typeface="Georgia"/>
              </a:rPr>
              <a:t>used</a:t>
            </a:r>
            <a:r>
              <a:rPr sz="2750" spc="465" dirty="0">
                <a:solidFill>
                  <a:srgbClr val="2E377E"/>
                </a:solidFill>
                <a:latin typeface="Georgia"/>
                <a:cs typeface="Georgia"/>
              </a:rPr>
              <a:t> </a:t>
            </a:r>
            <a:r>
              <a:rPr sz="2750" spc="90" dirty="0">
                <a:solidFill>
                  <a:srgbClr val="2E377E"/>
                </a:solidFill>
                <a:latin typeface="Georgia"/>
                <a:cs typeface="Georgia"/>
              </a:rPr>
              <a:t>by</a:t>
            </a:r>
            <a:r>
              <a:rPr sz="2750" spc="470" dirty="0">
                <a:solidFill>
                  <a:srgbClr val="2E377E"/>
                </a:solidFill>
                <a:latin typeface="Georgia"/>
                <a:cs typeface="Georgia"/>
              </a:rPr>
              <a:t> </a:t>
            </a:r>
            <a:r>
              <a:rPr sz="2750" dirty="0">
                <a:solidFill>
                  <a:srgbClr val="2E377E"/>
                </a:solidFill>
                <a:latin typeface="Georgia"/>
                <a:cs typeface="Georgia"/>
              </a:rPr>
              <a:t>clients</a:t>
            </a:r>
            <a:r>
              <a:rPr sz="2750" spc="465" dirty="0">
                <a:solidFill>
                  <a:srgbClr val="2E377E"/>
                </a:solidFill>
                <a:latin typeface="Georgia"/>
                <a:cs typeface="Georgia"/>
              </a:rPr>
              <a:t> </a:t>
            </a:r>
            <a:r>
              <a:rPr sz="2750" spc="45" dirty="0">
                <a:solidFill>
                  <a:srgbClr val="2E377E"/>
                </a:solidFill>
                <a:latin typeface="Georgia"/>
                <a:cs typeface="Georgia"/>
              </a:rPr>
              <a:t>outside</a:t>
            </a:r>
            <a:r>
              <a:rPr sz="2750" spc="465" dirty="0">
                <a:solidFill>
                  <a:srgbClr val="2E377E"/>
                </a:solidFill>
                <a:latin typeface="Georgia"/>
                <a:cs typeface="Georgia"/>
              </a:rPr>
              <a:t> </a:t>
            </a:r>
            <a:r>
              <a:rPr sz="2750" spc="60" dirty="0">
                <a:solidFill>
                  <a:srgbClr val="2E377E"/>
                </a:solidFill>
                <a:latin typeface="Georgia"/>
                <a:cs typeface="Georgia"/>
              </a:rPr>
              <a:t>the</a:t>
            </a:r>
            <a:r>
              <a:rPr sz="2750" spc="465" dirty="0">
                <a:solidFill>
                  <a:srgbClr val="2E377E"/>
                </a:solidFill>
                <a:latin typeface="Georgia"/>
                <a:cs typeface="Georgia"/>
              </a:rPr>
              <a:t> </a:t>
            </a:r>
            <a:r>
              <a:rPr sz="2750" spc="50" dirty="0">
                <a:solidFill>
                  <a:srgbClr val="2E377E"/>
                </a:solidFill>
                <a:latin typeface="Georgia"/>
                <a:cs typeface="Georgia"/>
              </a:rPr>
              <a:t>cluster</a:t>
            </a:r>
            <a:r>
              <a:rPr sz="2750" spc="465" dirty="0">
                <a:solidFill>
                  <a:srgbClr val="2E377E"/>
                </a:solidFill>
                <a:latin typeface="Georgia"/>
                <a:cs typeface="Georgia"/>
              </a:rPr>
              <a:t> </a:t>
            </a:r>
            <a:r>
              <a:rPr sz="2750" spc="35" dirty="0">
                <a:solidFill>
                  <a:srgbClr val="2E377E"/>
                </a:solidFill>
                <a:latin typeface="Georgia"/>
                <a:cs typeface="Georgia"/>
              </a:rPr>
              <a:t>to </a:t>
            </a:r>
            <a:r>
              <a:rPr sz="2750" dirty="0">
                <a:solidFill>
                  <a:srgbClr val="2E377E"/>
                </a:solidFill>
                <a:latin typeface="Georgia"/>
                <a:cs typeface="Georgia"/>
              </a:rPr>
              <a:t>access</a:t>
            </a:r>
            <a:r>
              <a:rPr sz="2750" spc="80" dirty="0">
                <a:solidFill>
                  <a:srgbClr val="2E377E"/>
                </a:solidFill>
                <a:latin typeface="Georgia"/>
                <a:cs typeface="Georgia"/>
              </a:rPr>
              <a:t> </a:t>
            </a:r>
            <a:r>
              <a:rPr sz="2750" spc="60" dirty="0">
                <a:solidFill>
                  <a:srgbClr val="2E377E"/>
                </a:solidFill>
                <a:latin typeface="Georgia"/>
                <a:cs typeface="Georgia"/>
              </a:rPr>
              <a:t>the</a:t>
            </a:r>
            <a:r>
              <a:rPr sz="2750" spc="80" dirty="0">
                <a:solidFill>
                  <a:srgbClr val="2E377E"/>
                </a:solidFill>
                <a:latin typeface="Georgia"/>
                <a:cs typeface="Georgia"/>
              </a:rPr>
              <a:t> </a:t>
            </a:r>
            <a:r>
              <a:rPr sz="2750" spc="-10" dirty="0">
                <a:solidFill>
                  <a:srgbClr val="2E377E"/>
                </a:solidFill>
                <a:latin typeface="Georgia"/>
                <a:cs typeface="Georgia"/>
              </a:rPr>
              <a:t>service.</a:t>
            </a:r>
            <a:endParaRPr sz="2750">
              <a:latin typeface="Georgia"/>
              <a:cs typeface="Georgia"/>
            </a:endParaRPr>
          </a:p>
          <a:p>
            <a:pPr marL="12700" marR="5080" algn="just">
              <a:lnSpc>
                <a:spcPct val="115900"/>
              </a:lnSpc>
              <a:spcBef>
                <a:spcPts val="5"/>
              </a:spcBef>
            </a:pPr>
            <a:r>
              <a:rPr sz="2750" dirty="0">
                <a:solidFill>
                  <a:srgbClr val="2E377E"/>
                </a:solidFill>
                <a:latin typeface="Georgia"/>
                <a:cs typeface="Georgia"/>
              </a:rPr>
              <a:t>The</a:t>
            </a:r>
            <a:r>
              <a:rPr sz="2750" spc="615" dirty="0">
                <a:solidFill>
                  <a:srgbClr val="2E377E"/>
                </a:solidFill>
                <a:latin typeface="Georgia"/>
                <a:cs typeface="Georgia"/>
              </a:rPr>
              <a:t>  </a:t>
            </a:r>
            <a:r>
              <a:rPr sz="2750" dirty="0">
                <a:solidFill>
                  <a:srgbClr val="2E377E"/>
                </a:solidFill>
                <a:latin typeface="Georgia"/>
                <a:cs typeface="Georgia"/>
              </a:rPr>
              <a:t>LoadBalancer</a:t>
            </a:r>
            <a:r>
              <a:rPr sz="2750" spc="630" dirty="0">
                <a:solidFill>
                  <a:srgbClr val="2E377E"/>
                </a:solidFill>
                <a:latin typeface="Georgia"/>
                <a:cs typeface="Georgia"/>
              </a:rPr>
              <a:t>  </a:t>
            </a:r>
            <a:r>
              <a:rPr sz="2750" spc="60" dirty="0">
                <a:solidFill>
                  <a:srgbClr val="2E377E"/>
                </a:solidFill>
                <a:latin typeface="Georgia"/>
                <a:cs typeface="Georgia"/>
              </a:rPr>
              <a:t>service</a:t>
            </a:r>
            <a:r>
              <a:rPr sz="2750" spc="625" dirty="0">
                <a:solidFill>
                  <a:srgbClr val="2E377E"/>
                </a:solidFill>
                <a:latin typeface="Georgia"/>
                <a:cs typeface="Georgia"/>
              </a:rPr>
              <a:t>  </a:t>
            </a:r>
            <a:r>
              <a:rPr sz="2750" dirty="0">
                <a:solidFill>
                  <a:srgbClr val="2E377E"/>
                </a:solidFill>
                <a:latin typeface="Georgia"/>
                <a:cs typeface="Georgia"/>
              </a:rPr>
              <a:t>also</a:t>
            </a:r>
            <a:r>
              <a:rPr sz="2750" spc="630" dirty="0">
                <a:solidFill>
                  <a:srgbClr val="2E377E"/>
                </a:solidFill>
                <a:latin typeface="Georgia"/>
                <a:cs typeface="Georgia"/>
              </a:rPr>
              <a:t>  </a:t>
            </a:r>
            <a:r>
              <a:rPr sz="2750" dirty="0">
                <a:solidFill>
                  <a:srgbClr val="2E377E"/>
                </a:solidFill>
                <a:latin typeface="Georgia"/>
                <a:cs typeface="Georgia"/>
              </a:rPr>
              <a:t>automatically</a:t>
            </a:r>
            <a:r>
              <a:rPr sz="2750" spc="625" dirty="0">
                <a:solidFill>
                  <a:srgbClr val="2E377E"/>
                </a:solidFill>
                <a:latin typeface="Georgia"/>
                <a:cs typeface="Georgia"/>
              </a:rPr>
              <a:t>  </a:t>
            </a:r>
            <a:r>
              <a:rPr sz="2750" spc="35" dirty="0">
                <a:solidFill>
                  <a:srgbClr val="2E377E"/>
                </a:solidFill>
                <a:latin typeface="Georgia"/>
                <a:cs typeface="Georgia"/>
              </a:rPr>
              <a:t>distributes </a:t>
            </a:r>
            <a:r>
              <a:rPr sz="2750" dirty="0">
                <a:solidFill>
                  <a:srgbClr val="2E377E"/>
                </a:solidFill>
                <a:latin typeface="Georgia"/>
                <a:cs typeface="Georgia"/>
              </a:rPr>
              <a:t>incoming</a:t>
            </a:r>
            <a:r>
              <a:rPr sz="2750" spc="260" dirty="0">
                <a:solidFill>
                  <a:srgbClr val="2E377E"/>
                </a:solidFill>
                <a:latin typeface="Georgia"/>
                <a:cs typeface="Georgia"/>
              </a:rPr>
              <a:t>  </a:t>
            </a:r>
            <a:r>
              <a:rPr sz="2750" spc="45" dirty="0">
                <a:solidFill>
                  <a:srgbClr val="2E377E"/>
                </a:solidFill>
                <a:latin typeface="Georgia"/>
                <a:cs typeface="Georgia"/>
              </a:rPr>
              <a:t>traffic</a:t>
            </a:r>
            <a:r>
              <a:rPr sz="2750" spc="270" dirty="0">
                <a:solidFill>
                  <a:srgbClr val="2E377E"/>
                </a:solidFill>
                <a:latin typeface="Georgia"/>
                <a:cs typeface="Georgia"/>
              </a:rPr>
              <a:t>  </a:t>
            </a:r>
            <a:r>
              <a:rPr sz="2750" dirty="0">
                <a:solidFill>
                  <a:srgbClr val="2E377E"/>
                </a:solidFill>
                <a:latin typeface="Georgia"/>
                <a:cs typeface="Georgia"/>
              </a:rPr>
              <a:t>across</a:t>
            </a:r>
            <a:r>
              <a:rPr sz="2750" spc="270" dirty="0">
                <a:solidFill>
                  <a:srgbClr val="2E377E"/>
                </a:solidFill>
                <a:latin typeface="Georgia"/>
                <a:cs typeface="Georgia"/>
              </a:rPr>
              <a:t>  </a:t>
            </a:r>
            <a:r>
              <a:rPr sz="2750" spc="60" dirty="0">
                <a:solidFill>
                  <a:srgbClr val="2E377E"/>
                </a:solidFill>
                <a:latin typeface="Georgia"/>
                <a:cs typeface="Georgia"/>
              </a:rPr>
              <a:t>the</a:t>
            </a:r>
            <a:r>
              <a:rPr sz="2750" spc="270" dirty="0">
                <a:solidFill>
                  <a:srgbClr val="2E377E"/>
                </a:solidFill>
                <a:latin typeface="Georgia"/>
                <a:cs typeface="Georgia"/>
              </a:rPr>
              <a:t>  </a:t>
            </a:r>
            <a:r>
              <a:rPr sz="2750" dirty="0">
                <a:solidFill>
                  <a:srgbClr val="2E377E"/>
                </a:solidFill>
                <a:latin typeface="Georgia"/>
                <a:cs typeface="Georgia"/>
              </a:rPr>
              <a:t>pods</a:t>
            </a:r>
            <a:r>
              <a:rPr sz="2750" spc="275" dirty="0">
                <a:solidFill>
                  <a:srgbClr val="2E377E"/>
                </a:solidFill>
                <a:latin typeface="Georgia"/>
                <a:cs typeface="Georgia"/>
              </a:rPr>
              <a:t>  </a:t>
            </a:r>
            <a:r>
              <a:rPr sz="2750" spc="55" dirty="0">
                <a:solidFill>
                  <a:srgbClr val="2E377E"/>
                </a:solidFill>
                <a:latin typeface="Georgia"/>
                <a:cs typeface="Georgia"/>
              </a:rPr>
              <a:t>that</a:t>
            </a:r>
            <a:r>
              <a:rPr sz="2750" spc="270" dirty="0">
                <a:solidFill>
                  <a:srgbClr val="2E377E"/>
                </a:solidFill>
                <a:latin typeface="Georgia"/>
                <a:cs typeface="Georgia"/>
              </a:rPr>
              <a:t>  </a:t>
            </a:r>
            <a:r>
              <a:rPr sz="2750" dirty="0">
                <a:solidFill>
                  <a:srgbClr val="2E377E"/>
                </a:solidFill>
                <a:latin typeface="Georgia"/>
                <a:cs typeface="Georgia"/>
              </a:rPr>
              <a:t>match</a:t>
            </a:r>
            <a:r>
              <a:rPr sz="2750" spc="270" dirty="0">
                <a:solidFill>
                  <a:srgbClr val="2E377E"/>
                </a:solidFill>
                <a:latin typeface="Georgia"/>
                <a:cs typeface="Georgia"/>
              </a:rPr>
              <a:t>  </a:t>
            </a:r>
            <a:r>
              <a:rPr sz="2750" spc="60" dirty="0">
                <a:solidFill>
                  <a:srgbClr val="2E377E"/>
                </a:solidFill>
                <a:latin typeface="Georgia"/>
                <a:cs typeface="Georgia"/>
              </a:rPr>
              <a:t>the</a:t>
            </a:r>
            <a:r>
              <a:rPr sz="2750" spc="270" dirty="0">
                <a:solidFill>
                  <a:srgbClr val="2E377E"/>
                </a:solidFill>
                <a:latin typeface="Georgia"/>
                <a:cs typeface="Georgia"/>
              </a:rPr>
              <a:t>  </a:t>
            </a:r>
            <a:r>
              <a:rPr sz="2750" spc="35" dirty="0">
                <a:solidFill>
                  <a:srgbClr val="2E377E"/>
                </a:solidFill>
                <a:latin typeface="Georgia"/>
                <a:cs typeface="Georgia"/>
              </a:rPr>
              <a:t>selector </a:t>
            </a:r>
            <a:r>
              <a:rPr sz="2750" dirty="0">
                <a:solidFill>
                  <a:srgbClr val="2E377E"/>
                </a:solidFill>
                <a:latin typeface="Georgia"/>
                <a:cs typeface="Georgia"/>
              </a:rPr>
              <a:t>defined</a:t>
            </a:r>
            <a:r>
              <a:rPr sz="2750" spc="15" dirty="0">
                <a:solidFill>
                  <a:srgbClr val="2E377E"/>
                </a:solidFill>
                <a:latin typeface="Georgia"/>
                <a:cs typeface="Georgia"/>
              </a:rPr>
              <a:t> </a:t>
            </a:r>
            <a:r>
              <a:rPr sz="2750" dirty="0">
                <a:solidFill>
                  <a:srgbClr val="2E377E"/>
                </a:solidFill>
                <a:latin typeface="Georgia"/>
                <a:cs typeface="Georgia"/>
              </a:rPr>
              <a:t>in</a:t>
            </a:r>
            <a:r>
              <a:rPr sz="2750" spc="15" dirty="0">
                <a:solidFill>
                  <a:srgbClr val="2E377E"/>
                </a:solidFill>
                <a:latin typeface="Georgia"/>
                <a:cs typeface="Georgia"/>
              </a:rPr>
              <a:t> </a:t>
            </a:r>
            <a:r>
              <a:rPr sz="2750" spc="60" dirty="0">
                <a:solidFill>
                  <a:srgbClr val="2E377E"/>
                </a:solidFill>
                <a:latin typeface="Georgia"/>
                <a:cs typeface="Georgia"/>
              </a:rPr>
              <a:t>the</a:t>
            </a:r>
            <a:r>
              <a:rPr sz="2750" spc="15" dirty="0">
                <a:solidFill>
                  <a:srgbClr val="2E377E"/>
                </a:solidFill>
                <a:latin typeface="Georgia"/>
                <a:cs typeface="Georgia"/>
              </a:rPr>
              <a:t> </a:t>
            </a:r>
            <a:r>
              <a:rPr sz="2750" spc="-20" dirty="0">
                <a:solidFill>
                  <a:srgbClr val="2E377E"/>
                </a:solidFill>
                <a:latin typeface="Georgia"/>
                <a:cs typeface="Georgia"/>
              </a:rPr>
              <a:t>YAML</a:t>
            </a:r>
            <a:r>
              <a:rPr sz="2750" spc="15" dirty="0">
                <a:solidFill>
                  <a:srgbClr val="2E377E"/>
                </a:solidFill>
                <a:latin typeface="Georgia"/>
                <a:cs typeface="Georgia"/>
              </a:rPr>
              <a:t> </a:t>
            </a:r>
            <a:r>
              <a:rPr sz="2750" spc="-10" dirty="0">
                <a:solidFill>
                  <a:srgbClr val="2E377E"/>
                </a:solidFill>
                <a:latin typeface="Georgia"/>
                <a:cs typeface="Georgia"/>
              </a:rPr>
              <a:t>manifest.</a:t>
            </a:r>
            <a:endParaRPr sz="2750">
              <a:latin typeface="Georgia"/>
              <a:cs typeface="Georgia"/>
            </a:endParaRPr>
          </a:p>
          <a:p>
            <a:pPr marL="12700" marR="5080">
              <a:lnSpc>
                <a:spcPct val="115900"/>
              </a:lnSpc>
              <a:tabLst>
                <a:tab pos="9222740" algn="l"/>
              </a:tabLst>
            </a:pPr>
            <a:r>
              <a:rPr sz="2750" dirty="0">
                <a:solidFill>
                  <a:srgbClr val="2E377E"/>
                </a:solidFill>
                <a:latin typeface="Georgia"/>
                <a:cs typeface="Georgia"/>
              </a:rPr>
              <a:t>access</a:t>
            </a:r>
            <a:r>
              <a:rPr sz="2750" spc="60" dirty="0">
                <a:solidFill>
                  <a:srgbClr val="2E377E"/>
                </a:solidFill>
                <a:latin typeface="Georgia"/>
                <a:cs typeface="Georgia"/>
              </a:rPr>
              <a:t> </a:t>
            </a:r>
            <a:r>
              <a:rPr sz="2750" spc="-180" dirty="0">
                <a:solidFill>
                  <a:srgbClr val="2E377E"/>
                </a:solidFill>
                <a:latin typeface="Georgia"/>
                <a:cs typeface="Georgia"/>
              </a:rPr>
              <a:t>:</a:t>
            </a:r>
            <a:r>
              <a:rPr sz="2750" spc="60" dirty="0">
                <a:solidFill>
                  <a:srgbClr val="2E377E"/>
                </a:solidFill>
                <a:latin typeface="Georgia"/>
                <a:cs typeface="Georgia"/>
              </a:rPr>
              <a:t> </a:t>
            </a:r>
            <a:r>
              <a:rPr sz="2750" dirty="0">
                <a:solidFill>
                  <a:srgbClr val="2E377E"/>
                </a:solidFill>
                <a:latin typeface="Georgia"/>
                <a:cs typeface="Georgia"/>
              </a:rPr>
              <a:t>publicip:port</a:t>
            </a:r>
            <a:r>
              <a:rPr sz="2750" spc="60" dirty="0">
                <a:solidFill>
                  <a:srgbClr val="2E377E"/>
                </a:solidFill>
                <a:latin typeface="Georgia"/>
                <a:cs typeface="Georgia"/>
              </a:rPr>
              <a:t> </a:t>
            </a:r>
            <a:r>
              <a:rPr sz="2750" dirty="0">
                <a:solidFill>
                  <a:srgbClr val="2E377E"/>
                </a:solidFill>
                <a:latin typeface="Georgia"/>
                <a:cs typeface="Georgia"/>
              </a:rPr>
              <a:t>and</a:t>
            </a:r>
            <a:r>
              <a:rPr sz="2750" spc="60" dirty="0">
                <a:solidFill>
                  <a:srgbClr val="2E377E"/>
                </a:solidFill>
                <a:latin typeface="Georgia"/>
                <a:cs typeface="Georgia"/>
              </a:rPr>
              <a:t> </a:t>
            </a:r>
            <a:r>
              <a:rPr sz="2750" spc="-45" dirty="0">
                <a:solidFill>
                  <a:srgbClr val="2E377E"/>
                </a:solidFill>
                <a:latin typeface="Georgia"/>
                <a:cs typeface="Georgia"/>
              </a:rPr>
              <a:t>LB</a:t>
            </a:r>
            <a:r>
              <a:rPr sz="2750" spc="60" dirty="0">
                <a:solidFill>
                  <a:srgbClr val="2E377E"/>
                </a:solidFill>
                <a:latin typeface="Georgia"/>
                <a:cs typeface="Georgia"/>
              </a:rPr>
              <a:t> </a:t>
            </a:r>
            <a:r>
              <a:rPr sz="2750" spc="-25" dirty="0">
                <a:solidFill>
                  <a:srgbClr val="2E377E"/>
                </a:solidFill>
                <a:latin typeface="Georgia"/>
                <a:cs typeface="Georgia"/>
              </a:rPr>
              <a:t>url </a:t>
            </a:r>
            <a:r>
              <a:rPr sz="2750" spc="-65" dirty="0">
                <a:solidFill>
                  <a:srgbClr val="2E377E"/>
                </a:solidFill>
                <a:latin typeface="Georgia"/>
                <a:cs typeface="Georgia"/>
                <a:hlinkClick r:id="rId4"/>
              </a:rPr>
              <a:t>http://a0dce056441c04035918de4bfb5bff97-</a:t>
            </a:r>
            <a:r>
              <a:rPr sz="2750" spc="-10" dirty="0">
                <a:solidFill>
                  <a:srgbClr val="2E377E"/>
                </a:solidFill>
                <a:latin typeface="Georgia"/>
                <a:cs typeface="Georgia"/>
                <a:hlinkClick r:id="rId4"/>
              </a:rPr>
              <a:t>40528368.us-</a:t>
            </a:r>
            <a:r>
              <a:rPr sz="2750" dirty="0">
                <a:solidFill>
                  <a:srgbClr val="2E377E"/>
                </a:solidFill>
                <a:latin typeface="Georgia"/>
                <a:cs typeface="Georgia"/>
              </a:rPr>
              <a:t>	</a:t>
            </a:r>
            <a:r>
              <a:rPr sz="2750" spc="-10" dirty="0">
                <a:solidFill>
                  <a:srgbClr val="2E377E"/>
                </a:solidFill>
                <a:latin typeface="Georgia"/>
                <a:cs typeface="Georgia"/>
              </a:rPr>
              <a:t>east- 1.elb.amazonaws.com/</a:t>
            </a:r>
            <a:endParaRPr sz="2750">
              <a:latin typeface="Georgia"/>
              <a:cs typeface="Georgia"/>
            </a:endParaRPr>
          </a:p>
        </p:txBody>
      </p:sp>
      <p:pic>
        <p:nvPicPr>
          <p:cNvPr id="5" name="object 5"/>
          <p:cNvPicPr/>
          <p:nvPr/>
        </p:nvPicPr>
        <p:blipFill>
          <a:blip r:embed="rId3" cstate="print"/>
          <a:stretch>
            <a:fillRect/>
          </a:stretch>
        </p:blipFill>
        <p:spPr>
          <a:xfrm>
            <a:off x="6632516" y="2404928"/>
            <a:ext cx="104775" cy="104774"/>
          </a:xfrm>
          <a:prstGeom prst="rect">
            <a:avLst/>
          </a:prstGeom>
        </p:spPr>
      </p:pic>
      <p:pic>
        <p:nvPicPr>
          <p:cNvPr id="6" name="object 6"/>
          <p:cNvPicPr/>
          <p:nvPr/>
        </p:nvPicPr>
        <p:blipFill>
          <a:blip r:embed="rId3" cstate="print"/>
          <a:stretch>
            <a:fillRect/>
          </a:stretch>
        </p:blipFill>
        <p:spPr>
          <a:xfrm>
            <a:off x="6632516" y="3862253"/>
            <a:ext cx="104775" cy="104774"/>
          </a:xfrm>
          <a:prstGeom prst="rect">
            <a:avLst/>
          </a:prstGeom>
        </p:spPr>
      </p:pic>
      <p:pic>
        <p:nvPicPr>
          <p:cNvPr id="7" name="object 7"/>
          <p:cNvPicPr/>
          <p:nvPr/>
        </p:nvPicPr>
        <p:blipFill>
          <a:blip r:embed="rId3" cstate="print"/>
          <a:stretch>
            <a:fillRect/>
          </a:stretch>
        </p:blipFill>
        <p:spPr>
          <a:xfrm>
            <a:off x="6632516" y="4833803"/>
            <a:ext cx="104775" cy="104774"/>
          </a:xfrm>
          <a:prstGeom prst="rect">
            <a:avLst/>
          </a:prstGeom>
        </p:spPr>
      </p:pic>
      <p:pic>
        <p:nvPicPr>
          <p:cNvPr id="8" name="object 8"/>
          <p:cNvPicPr/>
          <p:nvPr/>
        </p:nvPicPr>
        <p:blipFill>
          <a:blip r:embed="rId5" cstate="print"/>
          <a:stretch>
            <a:fillRect/>
          </a:stretch>
        </p:blipFill>
        <p:spPr>
          <a:xfrm>
            <a:off x="6632516" y="5805353"/>
            <a:ext cx="104775" cy="104774"/>
          </a:xfrm>
          <a:prstGeom prst="rect">
            <a:avLst/>
          </a:prstGeom>
        </p:spPr>
      </p:pic>
      <p:pic>
        <p:nvPicPr>
          <p:cNvPr id="9" name="object 9"/>
          <p:cNvPicPr/>
          <p:nvPr/>
        </p:nvPicPr>
        <p:blipFill>
          <a:blip r:embed="rId5" cstate="print"/>
          <a:stretch>
            <a:fillRect/>
          </a:stretch>
        </p:blipFill>
        <p:spPr>
          <a:xfrm>
            <a:off x="6632516" y="7262678"/>
            <a:ext cx="104775" cy="104774"/>
          </a:xfrm>
          <a:prstGeom prst="rect">
            <a:avLst/>
          </a:prstGeom>
        </p:spPr>
      </p:pic>
      <p:pic>
        <p:nvPicPr>
          <p:cNvPr id="10" name="object 10"/>
          <p:cNvPicPr/>
          <p:nvPr/>
        </p:nvPicPr>
        <p:blipFill>
          <a:blip r:embed="rId5" cstate="print"/>
          <a:stretch>
            <a:fillRect/>
          </a:stretch>
        </p:blipFill>
        <p:spPr>
          <a:xfrm>
            <a:off x="6632516" y="7748452"/>
            <a:ext cx="104775" cy="10477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34246" y="239212"/>
            <a:ext cx="15068549" cy="9712861"/>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2377647"/>
            <a:ext cx="5912485" cy="4445000"/>
          </a:xfrm>
          <a:prstGeom prst="rect">
            <a:avLst/>
          </a:prstGeom>
        </p:spPr>
        <p:txBody>
          <a:bodyPr vert="horz" wrap="square" lIns="0" tIns="11430" rIns="0" bIns="0" rtlCol="0">
            <a:spAutoFit/>
          </a:bodyPr>
          <a:lstStyle/>
          <a:p>
            <a:pPr marL="12700" marR="3295650">
              <a:lnSpc>
                <a:spcPct val="116900"/>
              </a:lnSpc>
              <a:spcBef>
                <a:spcPts val="90"/>
              </a:spcBef>
            </a:pPr>
            <a:r>
              <a:rPr sz="3100" b="1" spc="90" dirty="0">
                <a:latin typeface="Times New Roman"/>
                <a:cs typeface="Times New Roman"/>
              </a:rPr>
              <a:t>apiVersion:</a:t>
            </a:r>
            <a:r>
              <a:rPr sz="3100" b="1" spc="15" dirty="0">
                <a:latin typeface="Times New Roman"/>
                <a:cs typeface="Times New Roman"/>
              </a:rPr>
              <a:t> </a:t>
            </a:r>
            <a:r>
              <a:rPr sz="3100" b="1" spc="-25" dirty="0">
                <a:latin typeface="Times New Roman"/>
                <a:cs typeface="Times New Roman"/>
              </a:rPr>
              <a:t>v1 </a:t>
            </a:r>
            <a:r>
              <a:rPr sz="3100" b="1" spc="60" dirty="0">
                <a:latin typeface="Times New Roman"/>
                <a:cs typeface="Times New Roman"/>
              </a:rPr>
              <a:t>kind:</a:t>
            </a:r>
            <a:r>
              <a:rPr sz="3100" b="1" spc="-25" dirty="0">
                <a:latin typeface="Times New Roman"/>
                <a:cs typeface="Times New Roman"/>
              </a:rPr>
              <a:t> </a:t>
            </a:r>
            <a:r>
              <a:rPr sz="3100" b="1" spc="114" dirty="0">
                <a:latin typeface="Times New Roman"/>
                <a:cs typeface="Times New Roman"/>
              </a:rPr>
              <a:t>Service </a:t>
            </a:r>
            <a:r>
              <a:rPr sz="3100" b="1" spc="75" dirty="0">
                <a:latin typeface="Times New Roman"/>
                <a:cs typeface="Times New Roman"/>
              </a:rPr>
              <a:t>metadata:</a:t>
            </a:r>
            <a:endParaRPr sz="3100">
              <a:latin typeface="Times New Roman"/>
              <a:cs typeface="Times New Roman"/>
            </a:endParaRPr>
          </a:p>
          <a:p>
            <a:pPr marL="12700" marR="2625090" indent="95250">
              <a:lnSpc>
                <a:spcPct val="116900"/>
              </a:lnSpc>
              <a:spcBef>
                <a:spcPts val="5"/>
              </a:spcBef>
            </a:pPr>
            <a:r>
              <a:rPr sz="3100" b="1" spc="135" dirty="0">
                <a:latin typeface="Times New Roman"/>
                <a:cs typeface="Times New Roman"/>
              </a:rPr>
              <a:t>name:</a:t>
            </a:r>
            <a:r>
              <a:rPr sz="3100" b="1" spc="5" dirty="0">
                <a:latin typeface="Times New Roman"/>
                <a:cs typeface="Times New Roman"/>
              </a:rPr>
              <a:t> </a:t>
            </a:r>
            <a:r>
              <a:rPr sz="3100" b="1" spc="200" dirty="0">
                <a:latin typeface="Times New Roman"/>
                <a:cs typeface="Times New Roman"/>
              </a:rPr>
              <a:t>k8-</a:t>
            </a:r>
            <a:r>
              <a:rPr sz="3100" b="1" spc="130" dirty="0">
                <a:latin typeface="Times New Roman"/>
                <a:cs typeface="Times New Roman"/>
              </a:rPr>
              <a:t>service </a:t>
            </a:r>
            <a:r>
              <a:rPr sz="3100" b="1" spc="145" dirty="0">
                <a:latin typeface="Times New Roman"/>
                <a:cs typeface="Times New Roman"/>
              </a:rPr>
              <a:t>namespace:</a:t>
            </a:r>
            <a:r>
              <a:rPr sz="3100" b="1" spc="-10" dirty="0">
                <a:latin typeface="Times New Roman"/>
                <a:cs typeface="Times New Roman"/>
              </a:rPr>
              <a:t> </a:t>
            </a:r>
            <a:r>
              <a:rPr sz="3100" b="1" spc="190" dirty="0">
                <a:latin typeface="Times New Roman"/>
                <a:cs typeface="Times New Roman"/>
              </a:rPr>
              <a:t>dev </a:t>
            </a:r>
            <a:r>
              <a:rPr sz="3100" b="1" spc="80" dirty="0">
                <a:latin typeface="Times New Roman"/>
                <a:cs typeface="Times New Roman"/>
              </a:rPr>
              <a:t>spec:</a:t>
            </a:r>
            <a:endParaRPr sz="3100">
              <a:latin typeface="Times New Roman"/>
              <a:cs typeface="Times New Roman"/>
            </a:endParaRPr>
          </a:p>
          <a:p>
            <a:pPr marL="107950" marR="5080">
              <a:lnSpc>
                <a:spcPct val="116900"/>
              </a:lnSpc>
            </a:pPr>
            <a:r>
              <a:rPr sz="3100" b="1" spc="80" dirty="0">
                <a:latin typeface="Times New Roman"/>
                <a:cs typeface="Times New Roman"/>
              </a:rPr>
              <a:t>type:</a:t>
            </a:r>
            <a:r>
              <a:rPr sz="3100" b="1" spc="-15" dirty="0">
                <a:latin typeface="Times New Roman"/>
                <a:cs typeface="Times New Roman"/>
              </a:rPr>
              <a:t> </a:t>
            </a:r>
            <a:r>
              <a:rPr sz="3100" b="1" spc="105" dirty="0">
                <a:latin typeface="Times New Roman"/>
                <a:cs typeface="Times New Roman"/>
              </a:rPr>
              <a:t>ExternalName </a:t>
            </a:r>
            <a:r>
              <a:rPr sz="3100" b="1" spc="120" dirty="0">
                <a:latin typeface="Times New Roman"/>
                <a:cs typeface="Times New Roman"/>
              </a:rPr>
              <a:t>externalName:</a:t>
            </a:r>
            <a:r>
              <a:rPr sz="3100" b="1" spc="30" dirty="0">
                <a:latin typeface="Times New Roman"/>
                <a:cs typeface="Times New Roman"/>
              </a:rPr>
              <a:t> </a:t>
            </a:r>
            <a:r>
              <a:rPr sz="3100" b="1" spc="114" dirty="0">
                <a:latin typeface="Times New Roman"/>
                <a:cs typeface="Times New Roman"/>
              </a:rPr>
              <a:t>k8.learning.com</a:t>
            </a:r>
            <a:endParaRPr sz="3100">
              <a:latin typeface="Times New Roman"/>
              <a:cs typeface="Times New Roman"/>
            </a:endParaRPr>
          </a:p>
        </p:txBody>
      </p:sp>
      <p:sp>
        <p:nvSpPr>
          <p:cNvPr id="3" name="object 3"/>
          <p:cNvSpPr txBox="1">
            <a:spLocks noGrp="1"/>
          </p:cNvSpPr>
          <p:nvPr>
            <p:ph type="title"/>
          </p:nvPr>
        </p:nvSpPr>
        <p:spPr>
          <a:xfrm>
            <a:off x="1016148" y="936694"/>
            <a:ext cx="4404995" cy="787400"/>
          </a:xfrm>
          <a:prstGeom prst="rect">
            <a:avLst/>
          </a:prstGeom>
        </p:spPr>
        <p:txBody>
          <a:bodyPr vert="horz" wrap="square" lIns="0" tIns="12700" rIns="0" bIns="0" rtlCol="0">
            <a:spAutoFit/>
          </a:bodyPr>
          <a:lstStyle/>
          <a:p>
            <a:pPr marL="12700">
              <a:lnSpc>
                <a:spcPct val="100000"/>
              </a:lnSpc>
              <a:spcBef>
                <a:spcPts val="100"/>
              </a:spcBef>
            </a:pPr>
            <a:r>
              <a:rPr spc="105" dirty="0">
                <a:solidFill>
                  <a:srgbClr val="000000"/>
                </a:solidFill>
              </a:rPr>
              <a:t>ExternalName: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8497" y="552580"/>
            <a:ext cx="8542020" cy="787400"/>
          </a:xfrm>
          <a:prstGeom prst="rect">
            <a:avLst/>
          </a:prstGeom>
        </p:spPr>
        <p:txBody>
          <a:bodyPr vert="horz" wrap="square" lIns="0" tIns="12700" rIns="0" bIns="0" rtlCol="0">
            <a:spAutoFit/>
          </a:bodyPr>
          <a:lstStyle/>
          <a:p>
            <a:pPr marL="12700">
              <a:lnSpc>
                <a:spcPct val="100000"/>
              </a:lnSpc>
              <a:spcBef>
                <a:spcPts val="100"/>
              </a:spcBef>
            </a:pPr>
            <a:r>
              <a:rPr spc="-20" dirty="0">
                <a:solidFill>
                  <a:srgbClr val="FF3131"/>
                </a:solidFill>
              </a:rPr>
              <a:t>COMMANDS</a:t>
            </a:r>
            <a:r>
              <a:rPr spc="-265" dirty="0">
                <a:solidFill>
                  <a:srgbClr val="FF3131"/>
                </a:solidFill>
              </a:rPr>
              <a:t> </a:t>
            </a:r>
            <a:r>
              <a:rPr spc="-325" dirty="0">
                <a:solidFill>
                  <a:srgbClr val="FF3131"/>
                </a:solidFill>
              </a:rPr>
              <a:t>FOR</a:t>
            </a:r>
            <a:r>
              <a:rPr spc="-55" dirty="0">
                <a:solidFill>
                  <a:srgbClr val="FF3131"/>
                </a:solidFill>
              </a:rPr>
              <a:t> </a:t>
            </a:r>
            <a:r>
              <a:rPr spc="-200" dirty="0">
                <a:solidFill>
                  <a:srgbClr val="FF3131"/>
                </a:solidFill>
              </a:rPr>
              <a:t>SERVICES:</a:t>
            </a:r>
          </a:p>
        </p:txBody>
      </p:sp>
      <p:sp>
        <p:nvSpPr>
          <p:cNvPr id="3" name="object 3"/>
          <p:cNvSpPr txBox="1"/>
          <p:nvPr/>
        </p:nvSpPr>
        <p:spPr>
          <a:xfrm>
            <a:off x="691597" y="1868206"/>
            <a:ext cx="14489430" cy="6883400"/>
          </a:xfrm>
          <a:prstGeom prst="rect">
            <a:avLst/>
          </a:prstGeom>
        </p:spPr>
        <p:txBody>
          <a:bodyPr vert="horz" wrap="square" lIns="0" tIns="88265" rIns="0" bIns="0" rtlCol="0">
            <a:spAutoFit/>
          </a:bodyPr>
          <a:lstStyle/>
          <a:p>
            <a:pPr marL="459105" indent="-355600">
              <a:lnSpc>
                <a:spcPct val="100000"/>
              </a:lnSpc>
              <a:spcBef>
                <a:spcPts val="695"/>
              </a:spcBef>
              <a:buAutoNum type="arabicPeriod"/>
              <a:tabLst>
                <a:tab pos="459105" algn="l"/>
              </a:tabLst>
            </a:pPr>
            <a:r>
              <a:rPr sz="3250" spc="165" dirty="0">
                <a:solidFill>
                  <a:srgbClr val="2E377E"/>
                </a:solidFill>
                <a:latin typeface="Times New Roman"/>
                <a:cs typeface="Times New Roman"/>
              </a:rPr>
              <a:t>Creates</a:t>
            </a:r>
            <a:r>
              <a:rPr sz="3250" spc="-95"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95" dirty="0">
                <a:solidFill>
                  <a:srgbClr val="2E377E"/>
                </a:solidFill>
                <a:latin typeface="Times New Roman"/>
                <a:cs typeface="Times New Roman"/>
              </a:rPr>
              <a:t> </a:t>
            </a:r>
            <a:r>
              <a:rPr sz="3250" spc="235" dirty="0">
                <a:solidFill>
                  <a:srgbClr val="2E377E"/>
                </a:solidFill>
                <a:latin typeface="Times New Roman"/>
                <a:cs typeface="Times New Roman"/>
              </a:rPr>
              <a:t>new</a:t>
            </a:r>
            <a:r>
              <a:rPr sz="3250" spc="-90" dirty="0">
                <a:solidFill>
                  <a:srgbClr val="2E377E"/>
                </a:solidFill>
                <a:latin typeface="Times New Roman"/>
                <a:cs typeface="Times New Roman"/>
              </a:rPr>
              <a:t> </a:t>
            </a:r>
            <a:r>
              <a:rPr sz="3250" spc="150" dirty="0">
                <a:solidFill>
                  <a:srgbClr val="2E377E"/>
                </a:solidFill>
                <a:latin typeface="Times New Roman"/>
                <a:cs typeface="Times New Roman"/>
              </a:rPr>
              <a:t>service</a:t>
            </a:r>
            <a:r>
              <a:rPr sz="3250" spc="-95" dirty="0">
                <a:solidFill>
                  <a:srgbClr val="2E377E"/>
                </a:solidFill>
                <a:latin typeface="Times New Roman"/>
                <a:cs typeface="Times New Roman"/>
              </a:rPr>
              <a:t> </a:t>
            </a:r>
            <a:r>
              <a:rPr sz="3250" spc="185" dirty="0">
                <a:solidFill>
                  <a:srgbClr val="2E377E"/>
                </a:solidFill>
                <a:latin typeface="Times New Roman"/>
                <a:cs typeface="Times New Roman"/>
              </a:rPr>
              <a:t>based</a:t>
            </a:r>
            <a:r>
              <a:rPr sz="3250" spc="-90" dirty="0">
                <a:solidFill>
                  <a:srgbClr val="2E377E"/>
                </a:solidFill>
                <a:latin typeface="Times New Roman"/>
                <a:cs typeface="Times New Roman"/>
              </a:rPr>
              <a:t> </a:t>
            </a:r>
            <a:r>
              <a:rPr sz="3250" spc="225" dirty="0">
                <a:solidFill>
                  <a:srgbClr val="2E377E"/>
                </a:solidFill>
                <a:latin typeface="Times New Roman"/>
                <a:cs typeface="Times New Roman"/>
              </a:rPr>
              <a:t>on</a:t>
            </a:r>
            <a:r>
              <a:rPr sz="3250" spc="-95" dirty="0">
                <a:solidFill>
                  <a:srgbClr val="2E377E"/>
                </a:solidFill>
                <a:latin typeface="Times New Roman"/>
                <a:cs typeface="Times New Roman"/>
              </a:rPr>
              <a:t> </a:t>
            </a:r>
            <a:r>
              <a:rPr sz="3250" spc="260" dirty="0">
                <a:solidFill>
                  <a:srgbClr val="2E377E"/>
                </a:solidFill>
                <a:latin typeface="Times New Roman"/>
                <a:cs typeface="Times New Roman"/>
              </a:rPr>
              <a:t>the</a:t>
            </a:r>
            <a:r>
              <a:rPr sz="3250" spc="-90" dirty="0">
                <a:solidFill>
                  <a:srgbClr val="2E377E"/>
                </a:solidFill>
                <a:latin typeface="Times New Roman"/>
                <a:cs typeface="Times New Roman"/>
              </a:rPr>
              <a:t> </a:t>
            </a:r>
            <a:r>
              <a:rPr sz="3250" spc="-195" dirty="0">
                <a:solidFill>
                  <a:srgbClr val="2E377E"/>
                </a:solidFill>
                <a:latin typeface="Times New Roman"/>
                <a:cs typeface="Times New Roman"/>
              </a:rPr>
              <a:t>YAML</a:t>
            </a:r>
            <a:r>
              <a:rPr sz="3250" spc="-95" dirty="0">
                <a:solidFill>
                  <a:srgbClr val="2E377E"/>
                </a:solidFill>
                <a:latin typeface="Times New Roman"/>
                <a:cs typeface="Times New Roman"/>
              </a:rPr>
              <a:t> </a:t>
            </a:r>
            <a:r>
              <a:rPr sz="3250" spc="40" dirty="0">
                <a:solidFill>
                  <a:srgbClr val="2E377E"/>
                </a:solidFill>
                <a:latin typeface="Times New Roman"/>
                <a:cs typeface="Times New Roman"/>
              </a:rPr>
              <a:t>file</a:t>
            </a:r>
            <a:endParaRPr sz="3250">
              <a:latin typeface="Times New Roman"/>
              <a:cs typeface="Times New Roman"/>
            </a:endParaRPr>
          </a:p>
          <a:p>
            <a:pPr marL="12700">
              <a:lnSpc>
                <a:spcPct val="100000"/>
              </a:lnSpc>
              <a:spcBef>
                <a:spcPts val="600"/>
              </a:spcBef>
            </a:pPr>
            <a:r>
              <a:rPr sz="3250" dirty="0">
                <a:solidFill>
                  <a:srgbClr val="FF3131"/>
                </a:solidFill>
                <a:latin typeface="Georgia"/>
                <a:cs typeface="Georgia"/>
              </a:rPr>
              <a:t>kubectl</a:t>
            </a:r>
            <a:r>
              <a:rPr sz="3250" spc="90" dirty="0">
                <a:solidFill>
                  <a:srgbClr val="FF3131"/>
                </a:solidFill>
                <a:latin typeface="Georgia"/>
                <a:cs typeface="Georgia"/>
              </a:rPr>
              <a:t> </a:t>
            </a:r>
            <a:r>
              <a:rPr sz="3250" dirty="0">
                <a:solidFill>
                  <a:srgbClr val="FF3131"/>
                </a:solidFill>
                <a:latin typeface="Georgia"/>
                <a:cs typeface="Georgia"/>
              </a:rPr>
              <a:t>create</a:t>
            </a:r>
            <a:r>
              <a:rPr sz="3250" spc="85" dirty="0">
                <a:solidFill>
                  <a:srgbClr val="FF3131"/>
                </a:solidFill>
                <a:latin typeface="Georgia"/>
                <a:cs typeface="Georgia"/>
              </a:rPr>
              <a:t> </a:t>
            </a:r>
            <a:r>
              <a:rPr sz="3250" dirty="0">
                <a:solidFill>
                  <a:srgbClr val="FF3131"/>
                </a:solidFill>
                <a:latin typeface="Georgia"/>
                <a:cs typeface="Georgia"/>
              </a:rPr>
              <a:t>-</a:t>
            </a:r>
            <a:r>
              <a:rPr sz="3250" spc="50" dirty="0">
                <a:solidFill>
                  <a:srgbClr val="FF3131"/>
                </a:solidFill>
                <a:latin typeface="Georgia"/>
                <a:cs typeface="Georgia"/>
              </a:rPr>
              <a:t>f</a:t>
            </a:r>
            <a:r>
              <a:rPr sz="3250" spc="90" dirty="0">
                <a:solidFill>
                  <a:srgbClr val="FF3131"/>
                </a:solidFill>
                <a:latin typeface="Georgia"/>
                <a:cs typeface="Georgia"/>
              </a:rPr>
              <a:t> </a:t>
            </a:r>
            <a:r>
              <a:rPr sz="3250" spc="-10" dirty="0">
                <a:solidFill>
                  <a:srgbClr val="FF3131"/>
                </a:solidFill>
                <a:latin typeface="Georgia"/>
                <a:cs typeface="Georgia"/>
              </a:rPr>
              <a:t>filename</a:t>
            </a:r>
            <a:endParaRPr sz="3250">
              <a:latin typeface="Georgia"/>
              <a:cs typeface="Georgia"/>
            </a:endParaRPr>
          </a:p>
          <a:p>
            <a:pPr>
              <a:lnSpc>
                <a:spcPct val="100000"/>
              </a:lnSpc>
              <a:spcBef>
                <a:spcPts val="1410"/>
              </a:spcBef>
            </a:pPr>
            <a:endParaRPr sz="3250">
              <a:latin typeface="Georgia"/>
              <a:cs typeface="Georgia"/>
            </a:endParaRPr>
          </a:p>
          <a:p>
            <a:pPr marL="394335" indent="-381635">
              <a:lnSpc>
                <a:spcPct val="100000"/>
              </a:lnSpc>
              <a:buAutoNum type="arabicPeriod" startAt="2"/>
              <a:tabLst>
                <a:tab pos="394335" algn="l"/>
              </a:tabLst>
            </a:pPr>
            <a:r>
              <a:rPr sz="3250" spc="170" dirty="0">
                <a:solidFill>
                  <a:srgbClr val="2E377E"/>
                </a:solidFill>
                <a:latin typeface="Times New Roman"/>
                <a:cs typeface="Times New Roman"/>
              </a:rPr>
              <a:t>Create</a:t>
            </a:r>
            <a:r>
              <a:rPr sz="3250" spc="-110"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105" dirty="0">
                <a:solidFill>
                  <a:srgbClr val="2E377E"/>
                </a:solidFill>
                <a:latin typeface="Times New Roman"/>
                <a:cs typeface="Times New Roman"/>
              </a:rPr>
              <a:t> </a:t>
            </a:r>
            <a:r>
              <a:rPr sz="3250" spc="150" dirty="0">
                <a:solidFill>
                  <a:srgbClr val="2E377E"/>
                </a:solidFill>
                <a:latin typeface="Times New Roman"/>
                <a:cs typeface="Times New Roman"/>
              </a:rPr>
              <a:t>ClusterIP</a:t>
            </a:r>
            <a:r>
              <a:rPr sz="3250" spc="-110" dirty="0">
                <a:solidFill>
                  <a:srgbClr val="2E377E"/>
                </a:solidFill>
                <a:latin typeface="Times New Roman"/>
                <a:cs typeface="Times New Roman"/>
              </a:rPr>
              <a:t> </a:t>
            </a:r>
            <a:r>
              <a:rPr sz="3250" spc="140" dirty="0">
                <a:solidFill>
                  <a:srgbClr val="2E377E"/>
                </a:solidFill>
                <a:latin typeface="Times New Roman"/>
                <a:cs typeface="Times New Roman"/>
              </a:rPr>
              <a:t>service</a:t>
            </a:r>
            <a:endParaRPr sz="3250">
              <a:latin typeface="Times New Roman"/>
              <a:cs typeface="Times New Roman"/>
            </a:endParaRPr>
          </a:p>
          <a:p>
            <a:pPr marL="12700">
              <a:lnSpc>
                <a:spcPct val="100000"/>
              </a:lnSpc>
              <a:spcBef>
                <a:spcPts val="600"/>
              </a:spcBef>
            </a:pPr>
            <a:r>
              <a:rPr sz="3250" dirty="0">
                <a:solidFill>
                  <a:srgbClr val="FF3131"/>
                </a:solidFill>
                <a:latin typeface="Georgia"/>
                <a:cs typeface="Georgia"/>
              </a:rPr>
              <a:t>kubectl</a:t>
            </a:r>
            <a:r>
              <a:rPr sz="3250" spc="70" dirty="0">
                <a:solidFill>
                  <a:srgbClr val="FF3131"/>
                </a:solidFill>
                <a:latin typeface="Georgia"/>
                <a:cs typeface="Georgia"/>
              </a:rPr>
              <a:t> </a:t>
            </a:r>
            <a:r>
              <a:rPr sz="3250" dirty="0">
                <a:solidFill>
                  <a:srgbClr val="FF3131"/>
                </a:solidFill>
                <a:latin typeface="Georgia"/>
                <a:cs typeface="Georgia"/>
              </a:rPr>
              <a:t>create</a:t>
            </a:r>
            <a:r>
              <a:rPr sz="3250" spc="70" dirty="0">
                <a:solidFill>
                  <a:srgbClr val="FF3131"/>
                </a:solidFill>
                <a:latin typeface="Georgia"/>
                <a:cs typeface="Georgia"/>
              </a:rPr>
              <a:t> </a:t>
            </a:r>
            <a:r>
              <a:rPr sz="3250" spc="45" dirty="0">
                <a:solidFill>
                  <a:srgbClr val="FF3131"/>
                </a:solidFill>
                <a:latin typeface="Georgia"/>
                <a:cs typeface="Georgia"/>
              </a:rPr>
              <a:t>service</a:t>
            </a:r>
            <a:r>
              <a:rPr sz="3250" spc="75" dirty="0">
                <a:solidFill>
                  <a:srgbClr val="FF3131"/>
                </a:solidFill>
                <a:latin typeface="Georgia"/>
                <a:cs typeface="Georgia"/>
              </a:rPr>
              <a:t> </a:t>
            </a:r>
            <a:r>
              <a:rPr sz="3250" dirty="0">
                <a:solidFill>
                  <a:srgbClr val="FF3131"/>
                </a:solidFill>
                <a:latin typeface="Georgia"/>
                <a:cs typeface="Georgia"/>
              </a:rPr>
              <a:t>clusterip</a:t>
            </a:r>
            <a:r>
              <a:rPr sz="3250" spc="70" dirty="0">
                <a:solidFill>
                  <a:srgbClr val="FF3131"/>
                </a:solidFill>
                <a:latin typeface="Georgia"/>
                <a:cs typeface="Georgia"/>
              </a:rPr>
              <a:t> </a:t>
            </a:r>
            <a:r>
              <a:rPr sz="3250" dirty="0">
                <a:solidFill>
                  <a:srgbClr val="FF3131"/>
                </a:solidFill>
                <a:latin typeface="Georgia"/>
                <a:cs typeface="Georgia"/>
              </a:rPr>
              <a:t>&lt;service-</a:t>
            </a:r>
            <a:r>
              <a:rPr sz="3250" spc="-45" dirty="0">
                <a:solidFill>
                  <a:srgbClr val="FF3131"/>
                </a:solidFill>
                <a:latin typeface="Georgia"/>
                <a:cs typeface="Georgia"/>
              </a:rPr>
              <a:t>name&gt;</a:t>
            </a:r>
            <a:r>
              <a:rPr sz="3250" spc="70" dirty="0">
                <a:solidFill>
                  <a:srgbClr val="FF3131"/>
                </a:solidFill>
                <a:latin typeface="Georgia"/>
                <a:cs typeface="Georgia"/>
              </a:rPr>
              <a:t> </a:t>
            </a:r>
            <a:r>
              <a:rPr sz="3250" dirty="0">
                <a:solidFill>
                  <a:srgbClr val="FF3131"/>
                </a:solidFill>
                <a:latin typeface="Georgia"/>
                <a:cs typeface="Georgia"/>
              </a:rPr>
              <a:t>--</a:t>
            </a:r>
            <a:r>
              <a:rPr sz="3250" spc="-10" dirty="0">
                <a:solidFill>
                  <a:srgbClr val="FF3131"/>
                </a:solidFill>
                <a:latin typeface="Georgia"/>
                <a:cs typeface="Georgia"/>
              </a:rPr>
              <a:t>tcp=&lt;port&gt;:&lt;targetPort&gt;</a:t>
            </a:r>
            <a:endParaRPr sz="3250">
              <a:latin typeface="Georgia"/>
              <a:cs typeface="Georgia"/>
            </a:endParaRPr>
          </a:p>
          <a:p>
            <a:pPr>
              <a:lnSpc>
                <a:spcPct val="100000"/>
              </a:lnSpc>
              <a:spcBef>
                <a:spcPts val="1405"/>
              </a:spcBef>
            </a:pPr>
            <a:endParaRPr sz="3250">
              <a:latin typeface="Georgia"/>
              <a:cs typeface="Georgia"/>
            </a:endParaRPr>
          </a:p>
          <a:p>
            <a:pPr marL="393065" indent="-380365">
              <a:lnSpc>
                <a:spcPct val="100000"/>
              </a:lnSpc>
              <a:buAutoNum type="arabicPeriod" startAt="3"/>
              <a:tabLst>
                <a:tab pos="393065" algn="l"/>
              </a:tabLst>
            </a:pPr>
            <a:r>
              <a:rPr sz="3250" spc="170" dirty="0">
                <a:solidFill>
                  <a:srgbClr val="2E377E"/>
                </a:solidFill>
                <a:latin typeface="Times New Roman"/>
                <a:cs typeface="Times New Roman"/>
              </a:rPr>
              <a:t>Create</a:t>
            </a:r>
            <a:r>
              <a:rPr sz="3250" spc="-105"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105" dirty="0">
                <a:solidFill>
                  <a:srgbClr val="2E377E"/>
                </a:solidFill>
                <a:latin typeface="Times New Roman"/>
                <a:cs typeface="Times New Roman"/>
              </a:rPr>
              <a:t> </a:t>
            </a:r>
            <a:r>
              <a:rPr sz="3250" spc="180" dirty="0">
                <a:solidFill>
                  <a:srgbClr val="2E377E"/>
                </a:solidFill>
                <a:latin typeface="Times New Roman"/>
                <a:cs typeface="Times New Roman"/>
              </a:rPr>
              <a:t>NodePort</a:t>
            </a:r>
            <a:r>
              <a:rPr sz="3250" spc="-100" dirty="0">
                <a:solidFill>
                  <a:srgbClr val="2E377E"/>
                </a:solidFill>
                <a:latin typeface="Times New Roman"/>
                <a:cs typeface="Times New Roman"/>
              </a:rPr>
              <a:t> </a:t>
            </a:r>
            <a:r>
              <a:rPr sz="3250" spc="140" dirty="0">
                <a:solidFill>
                  <a:srgbClr val="2E377E"/>
                </a:solidFill>
                <a:latin typeface="Times New Roman"/>
                <a:cs typeface="Times New Roman"/>
              </a:rPr>
              <a:t>service</a:t>
            </a:r>
            <a:endParaRPr sz="3250">
              <a:latin typeface="Times New Roman"/>
              <a:cs typeface="Times New Roman"/>
            </a:endParaRPr>
          </a:p>
          <a:p>
            <a:pPr marL="12700">
              <a:lnSpc>
                <a:spcPct val="100000"/>
              </a:lnSpc>
              <a:spcBef>
                <a:spcPts val="600"/>
              </a:spcBef>
            </a:pPr>
            <a:r>
              <a:rPr sz="3250" dirty="0">
                <a:solidFill>
                  <a:srgbClr val="FF3131"/>
                </a:solidFill>
                <a:latin typeface="Georgia"/>
                <a:cs typeface="Georgia"/>
              </a:rPr>
              <a:t>kubectl</a:t>
            </a:r>
            <a:r>
              <a:rPr sz="3250" spc="55" dirty="0">
                <a:solidFill>
                  <a:srgbClr val="FF3131"/>
                </a:solidFill>
                <a:latin typeface="Georgia"/>
                <a:cs typeface="Georgia"/>
              </a:rPr>
              <a:t> </a:t>
            </a:r>
            <a:r>
              <a:rPr sz="3250" dirty="0">
                <a:solidFill>
                  <a:srgbClr val="FF3131"/>
                </a:solidFill>
                <a:latin typeface="Georgia"/>
                <a:cs typeface="Georgia"/>
              </a:rPr>
              <a:t>create</a:t>
            </a:r>
            <a:r>
              <a:rPr sz="3250" spc="55" dirty="0">
                <a:solidFill>
                  <a:srgbClr val="FF3131"/>
                </a:solidFill>
                <a:latin typeface="Georgia"/>
                <a:cs typeface="Georgia"/>
              </a:rPr>
              <a:t> </a:t>
            </a:r>
            <a:r>
              <a:rPr sz="3250" spc="45" dirty="0">
                <a:solidFill>
                  <a:srgbClr val="FF3131"/>
                </a:solidFill>
                <a:latin typeface="Georgia"/>
                <a:cs typeface="Georgia"/>
              </a:rPr>
              <a:t>service</a:t>
            </a:r>
            <a:r>
              <a:rPr sz="3250" spc="55" dirty="0">
                <a:solidFill>
                  <a:srgbClr val="FF3131"/>
                </a:solidFill>
                <a:latin typeface="Georgia"/>
                <a:cs typeface="Georgia"/>
              </a:rPr>
              <a:t> </a:t>
            </a:r>
            <a:r>
              <a:rPr sz="3250" dirty="0">
                <a:solidFill>
                  <a:srgbClr val="FF3131"/>
                </a:solidFill>
                <a:latin typeface="Georgia"/>
                <a:cs typeface="Georgia"/>
              </a:rPr>
              <a:t>nodeport</a:t>
            </a:r>
            <a:r>
              <a:rPr sz="3250" spc="55" dirty="0">
                <a:solidFill>
                  <a:srgbClr val="FF3131"/>
                </a:solidFill>
                <a:latin typeface="Georgia"/>
                <a:cs typeface="Georgia"/>
              </a:rPr>
              <a:t> </a:t>
            </a:r>
            <a:r>
              <a:rPr sz="3250" dirty="0">
                <a:solidFill>
                  <a:srgbClr val="FF3131"/>
                </a:solidFill>
                <a:latin typeface="Georgia"/>
                <a:cs typeface="Georgia"/>
              </a:rPr>
              <a:t>&lt;service-</a:t>
            </a:r>
            <a:r>
              <a:rPr sz="3250" spc="-45" dirty="0">
                <a:solidFill>
                  <a:srgbClr val="FF3131"/>
                </a:solidFill>
                <a:latin typeface="Georgia"/>
                <a:cs typeface="Georgia"/>
              </a:rPr>
              <a:t>name&gt;</a:t>
            </a:r>
            <a:r>
              <a:rPr sz="3250" spc="55" dirty="0">
                <a:solidFill>
                  <a:srgbClr val="FF3131"/>
                </a:solidFill>
                <a:latin typeface="Georgia"/>
                <a:cs typeface="Georgia"/>
              </a:rPr>
              <a:t> </a:t>
            </a:r>
            <a:r>
              <a:rPr sz="3250" dirty="0">
                <a:solidFill>
                  <a:srgbClr val="FF3131"/>
                </a:solidFill>
                <a:latin typeface="Georgia"/>
                <a:cs typeface="Georgia"/>
              </a:rPr>
              <a:t>--</a:t>
            </a:r>
            <a:r>
              <a:rPr sz="3250" spc="-10" dirty="0">
                <a:solidFill>
                  <a:srgbClr val="FF3131"/>
                </a:solidFill>
                <a:latin typeface="Georgia"/>
                <a:cs typeface="Georgia"/>
              </a:rPr>
              <a:t>tcp=&lt;port&gt;:&lt;targetPort&gt;</a:t>
            </a:r>
            <a:endParaRPr sz="3250">
              <a:latin typeface="Georgia"/>
              <a:cs typeface="Georgia"/>
            </a:endParaRPr>
          </a:p>
          <a:p>
            <a:pPr marL="103505">
              <a:lnSpc>
                <a:spcPct val="100000"/>
              </a:lnSpc>
              <a:spcBef>
                <a:spcPts val="600"/>
              </a:spcBef>
            </a:pPr>
            <a:r>
              <a:rPr sz="3250" dirty="0">
                <a:solidFill>
                  <a:srgbClr val="FF3131"/>
                </a:solidFill>
                <a:latin typeface="Georgia"/>
                <a:cs typeface="Georgia"/>
              </a:rPr>
              <a:t>--node-</a:t>
            </a:r>
            <a:r>
              <a:rPr sz="3250" spc="-10" dirty="0">
                <a:solidFill>
                  <a:srgbClr val="FF3131"/>
                </a:solidFill>
                <a:latin typeface="Georgia"/>
                <a:cs typeface="Georgia"/>
              </a:rPr>
              <a:t>port=&lt;nodePort&gt;</a:t>
            </a:r>
            <a:endParaRPr sz="3250">
              <a:latin typeface="Georgia"/>
              <a:cs typeface="Georgia"/>
            </a:endParaRPr>
          </a:p>
          <a:p>
            <a:pPr>
              <a:lnSpc>
                <a:spcPct val="100000"/>
              </a:lnSpc>
              <a:spcBef>
                <a:spcPts val="1410"/>
              </a:spcBef>
            </a:pPr>
            <a:endParaRPr sz="3250">
              <a:latin typeface="Georgia"/>
              <a:cs typeface="Georgia"/>
            </a:endParaRPr>
          </a:p>
          <a:p>
            <a:pPr marL="396875" indent="-384175">
              <a:lnSpc>
                <a:spcPct val="100000"/>
              </a:lnSpc>
              <a:buAutoNum type="arabicPeriod" startAt="4"/>
              <a:tabLst>
                <a:tab pos="396875" algn="l"/>
              </a:tabLst>
            </a:pPr>
            <a:r>
              <a:rPr sz="3250" spc="170" dirty="0">
                <a:solidFill>
                  <a:srgbClr val="2E377E"/>
                </a:solidFill>
                <a:latin typeface="Times New Roman"/>
                <a:cs typeface="Times New Roman"/>
              </a:rPr>
              <a:t>Create</a:t>
            </a:r>
            <a:r>
              <a:rPr sz="3250" spc="-110"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105" dirty="0">
                <a:solidFill>
                  <a:srgbClr val="2E377E"/>
                </a:solidFill>
                <a:latin typeface="Times New Roman"/>
                <a:cs typeface="Times New Roman"/>
              </a:rPr>
              <a:t> </a:t>
            </a:r>
            <a:r>
              <a:rPr sz="3250" spc="120" dirty="0">
                <a:solidFill>
                  <a:srgbClr val="2E377E"/>
                </a:solidFill>
                <a:latin typeface="Times New Roman"/>
                <a:cs typeface="Times New Roman"/>
              </a:rPr>
              <a:t>LoadBalancer</a:t>
            </a:r>
            <a:r>
              <a:rPr sz="3250" spc="-105" dirty="0">
                <a:solidFill>
                  <a:srgbClr val="2E377E"/>
                </a:solidFill>
                <a:latin typeface="Times New Roman"/>
                <a:cs typeface="Times New Roman"/>
              </a:rPr>
              <a:t> </a:t>
            </a:r>
            <a:r>
              <a:rPr sz="3250" spc="140" dirty="0">
                <a:solidFill>
                  <a:srgbClr val="2E377E"/>
                </a:solidFill>
                <a:latin typeface="Times New Roman"/>
                <a:cs typeface="Times New Roman"/>
              </a:rPr>
              <a:t>service</a:t>
            </a:r>
            <a:endParaRPr sz="3250">
              <a:latin typeface="Times New Roman"/>
              <a:cs typeface="Times New Roman"/>
            </a:endParaRPr>
          </a:p>
          <a:p>
            <a:pPr marL="12700">
              <a:lnSpc>
                <a:spcPct val="100000"/>
              </a:lnSpc>
              <a:spcBef>
                <a:spcPts val="600"/>
              </a:spcBef>
            </a:pPr>
            <a:r>
              <a:rPr sz="3250" dirty="0">
                <a:solidFill>
                  <a:srgbClr val="FF3131"/>
                </a:solidFill>
                <a:latin typeface="Georgia"/>
                <a:cs typeface="Georgia"/>
              </a:rPr>
              <a:t>kubectl</a:t>
            </a:r>
            <a:r>
              <a:rPr sz="3250" spc="25" dirty="0">
                <a:solidFill>
                  <a:srgbClr val="FF3131"/>
                </a:solidFill>
                <a:latin typeface="Georgia"/>
                <a:cs typeface="Georgia"/>
              </a:rPr>
              <a:t> </a:t>
            </a:r>
            <a:r>
              <a:rPr sz="3250" dirty="0">
                <a:solidFill>
                  <a:srgbClr val="FF3131"/>
                </a:solidFill>
                <a:latin typeface="Georgia"/>
                <a:cs typeface="Georgia"/>
              </a:rPr>
              <a:t>create</a:t>
            </a:r>
            <a:r>
              <a:rPr sz="3250" spc="20" dirty="0">
                <a:solidFill>
                  <a:srgbClr val="FF3131"/>
                </a:solidFill>
                <a:latin typeface="Georgia"/>
                <a:cs typeface="Georgia"/>
              </a:rPr>
              <a:t> </a:t>
            </a:r>
            <a:r>
              <a:rPr sz="3250" spc="45" dirty="0">
                <a:solidFill>
                  <a:srgbClr val="FF3131"/>
                </a:solidFill>
                <a:latin typeface="Georgia"/>
                <a:cs typeface="Georgia"/>
              </a:rPr>
              <a:t>service</a:t>
            </a:r>
            <a:r>
              <a:rPr sz="3250" spc="25" dirty="0">
                <a:solidFill>
                  <a:srgbClr val="FF3131"/>
                </a:solidFill>
                <a:latin typeface="Georgia"/>
                <a:cs typeface="Georgia"/>
              </a:rPr>
              <a:t> </a:t>
            </a:r>
            <a:r>
              <a:rPr sz="3250" spc="160" dirty="0">
                <a:solidFill>
                  <a:srgbClr val="FF3131"/>
                </a:solidFill>
                <a:latin typeface="Times New Roman"/>
                <a:cs typeface="Times New Roman"/>
              </a:rPr>
              <a:t>loadbalancer</a:t>
            </a:r>
            <a:r>
              <a:rPr sz="3250" spc="-5" dirty="0">
                <a:solidFill>
                  <a:srgbClr val="FF3131"/>
                </a:solidFill>
                <a:latin typeface="Times New Roman"/>
                <a:cs typeface="Times New Roman"/>
              </a:rPr>
              <a:t> </a:t>
            </a:r>
            <a:r>
              <a:rPr sz="3250" dirty="0">
                <a:solidFill>
                  <a:srgbClr val="FF3131"/>
                </a:solidFill>
                <a:latin typeface="Georgia"/>
                <a:cs typeface="Georgia"/>
              </a:rPr>
              <a:t>&lt;service-</a:t>
            </a:r>
            <a:r>
              <a:rPr sz="3250" spc="-45" dirty="0">
                <a:solidFill>
                  <a:srgbClr val="FF3131"/>
                </a:solidFill>
                <a:latin typeface="Georgia"/>
                <a:cs typeface="Georgia"/>
              </a:rPr>
              <a:t>name&gt;</a:t>
            </a:r>
            <a:r>
              <a:rPr sz="3250" spc="25" dirty="0">
                <a:solidFill>
                  <a:srgbClr val="FF3131"/>
                </a:solidFill>
                <a:latin typeface="Georgia"/>
                <a:cs typeface="Georgia"/>
              </a:rPr>
              <a:t> </a:t>
            </a:r>
            <a:r>
              <a:rPr sz="3250" dirty="0">
                <a:solidFill>
                  <a:srgbClr val="FF3131"/>
                </a:solidFill>
                <a:latin typeface="Georgia"/>
                <a:cs typeface="Georgia"/>
              </a:rPr>
              <a:t>--</a:t>
            </a:r>
            <a:r>
              <a:rPr sz="3250" spc="-20" dirty="0">
                <a:solidFill>
                  <a:srgbClr val="FF3131"/>
                </a:solidFill>
                <a:latin typeface="Georgia"/>
                <a:cs typeface="Georgia"/>
              </a:rPr>
              <a:t>tcp=&lt;port&gt;:&lt;targetPort&gt;</a:t>
            </a:r>
            <a:endParaRPr sz="3250">
              <a:latin typeface="Georgia"/>
              <a:cs typeface="Georgi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50268" y="1105480"/>
            <a:ext cx="13929994" cy="7454900"/>
          </a:xfrm>
          <a:prstGeom prst="rect">
            <a:avLst/>
          </a:prstGeom>
        </p:spPr>
        <p:txBody>
          <a:bodyPr vert="horz" wrap="square" lIns="0" tIns="88265" rIns="0" bIns="0" rtlCol="0">
            <a:spAutoFit/>
          </a:bodyPr>
          <a:lstStyle/>
          <a:p>
            <a:pPr marL="391795" indent="-379095">
              <a:lnSpc>
                <a:spcPct val="100000"/>
              </a:lnSpc>
              <a:spcBef>
                <a:spcPts val="695"/>
              </a:spcBef>
              <a:buAutoNum type="arabicPeriod" startAt="5"/>
              <a:tabLst>
                <a:tab pos="391795" algn="l"/>
              </a:tabLst>
            </a:pPr>
            <a:r>
              <a:rPr sz="3250" spc="170" dirty="0">
                <a:solidFill>
                  <a:srgbClr val="2E377E"/>
                </a:solidFill>
                <a:latin typeface="Times New Roman"/>
                <a:cs typeface="Times New Roman"/>
              </a:rPr>
              <a:t>Create</a:t>
            </a:r>
            <a:r>
              <a:rPr sz="3250" spc="-100"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100" dirty="0">
                <a:solidFill>
                  <a:srgbClr val="2E377E"/>
                </a:solidFill>
                <a:latin typeface="Times New Roman"/>
                <a:cs typeface="Times New Roman"/>
              </a:rPr>
              <a:t> </a:t>
            </a:r>
            <a:r>
              <a:rPr sz="3250" spc="150" dirty="0">
                <a:solidFill>
                  <a:srgbClr val="2E377E"/>
                </a:solidFill>
                <a:latin typeface="Times New Roman"/>
                <a:cs typeface="Times New Roman"/>
              </a:rPr>
              <a:t>service</a:t>
            </a:r>
            <a:r>
              <a:rPr sz="3250" spc="-100" dirty="0">
                <a:solidFill>
                  <a:srgbClr val="2E377E"/>
                </a:solidFill>
                <a:latin typeface="Times New Roman"/>
                <a:cs typeface="Times New Roman"/>
              </a:rPr>
              <a:t> </a:t>
            </a:r>
            <a:r>
              <a:rPr sz="3250" spc="140" dirty="0">
                <a:solidFill>
                  <a:srgbClr val="2E377E"/>
                </a:solidFill>
                <a:latin typeface="Times New Roman"/>
                <a:cs typeface="Times New Roman"/>
              </a:rPr>
              <a:t>for</a:t>
            </a:r>
            <a:r>
              <a:rPr sz="3250" spc="-100"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100" dirty="0">
                <a:solidFill>
                  <a:srgbClr val="2E377E"/>
                </a:solidFill>
                <a:latin typeface="Times New Roman"/>
                <a:cs typeface="Times New Roman"/>
              </a:rPr>
              <a:t> </a:t>
            </a:r>
            <a:r>
              <a:rPr sz="3250" spc="190" dirty="0">
                <a:solidFill>
                  <a:srgbClr val="2E377E"/>
                </a:solidFill>
                <a:latin typeface="Times New Roman"/>
                <a:cs typeface="Times New Roman"/>
              </a:rPr>
              <a:t>pod</a:t>
            </a:r>
            <a:endParaRPr sz="3250">
              <a:latin typeface="Times New Roman"/>
              <a:cs typeface="Times New Roman"/>
            </a:endParaRPr>
          </a:p>
          <a:p>
            <a:pPr marL="12700">
              <a:lnSpc>
                <a:spcPct val="100000"/>
              </a:lnSpc>
              <a:spcBef>
                <a:spcPts val="600"/>
              </a:spcBef>
            </a:pPr>
            <a:r>
              <a:rPr sz="3250" dirty="0">
                <a:solidFill>
                  <a:srgbClr val="FF3131"/>
                </a:solidFill>
                <a:latin typeface="Georgia"/>
                <a:cs typeface="Georgia"/>
              </a:rPr>
              <a:t>kubectl</a:t>
            </a:r>
            <a:r>
              <a:rPr sz="3250" spc="35" dirty="0">
                <a:solidFill>
                  <a:srgbClr val="FF3131"/>
                </a:solidFill>
                <a:latin typeface="Georgia"/>
                <a:cs typeface="Georgia"/>
              </a:rPr>
              <a:t> </a:t>
            </a:r>
            <a:r>
              <a:rPr sz="3250" dirty="0">
                <a:solidFill>
                  <a:srgbClr val="FF3131"/>
                </a:solidFill>
                <a:latin typeface="Georgia"/>
                <a:cs typeface="Georgia"/>
              </a:rPr>
              <a:t>expose</a:t>
            </a:r>
            <a:r>
              <a:rPr sz="3250" spc="45" dirty="0">
                <a:solidFill>
                  <a:srgbClr val="FF3131"/>
                </a:solidFill>
                <a:latin typeface="Georgia"/>
                <a:cs typeface="Georgia"/>
              </a:rPr>
              <a:t> </a:t>
            </a:r>
            <a:r>
              <a:rPr sz="3250" dirty="0">
                <a:solidFill>
                  <a:srgbClr val="FF3131"/>
                </a:solidFill>
                <a:latin typeface="Georgia"/>
                <a:cs typeface="Georgia"/>
              </a:rPr>
              <a:t>pod</a:t>
            </a:r>
            <a:r>
              <a:rPr sz="3250" spc="45" dirty="0">
                <a:solidFill>
                  <a:srgbClr val="FF3131"/>
                </a:solidFill>
                <a:latin typeface="Georgia"/>
                <a:cs typeface="Georgia"/>
              </a:rPr>
              <a:t> </a:t>
            </a:r>
            <a:r>
              <a:rPr sz="3250" spc="-65" dirty="0">
                <a:solidFill>
                  <a:srgbClr val="FF3131"/>
                </a:solidFill>
                <a:latin typeface="Georgia"/>
                <a:cs typeface="Georgia"/>
              </a:rPr>
              <a:t>&lt;pod-</a:t>
            </a:r>
            <a:r>
              <a:rPr sz="3250" spc="-45" dirty="0">
                <a:solidFill>
                  <a:srgbClr val="FF3131"/>
                </a:solidFill>
                <a:latin typeface="Georgia"/>
                <a:cs typeface="Georgia"/>
              </a:rPr>
              <a:t>name&gt;</a:t>
            </a:r>
            <a:r>
              <a:rPr sz="3250" spc="45" dirty="0">
                <a:solidFill>
                  <a:srgbClr val="FF3131"/>
                </a:solidFill>
                <a:latin typeface="Georgia"/>
                <a:cs typeface="Georgia"/>
              </a:rPr>
              <a:t> </a:t>
            </a:r>
            <a:r>
              <a:rPr sz="3250" dirty="0">
                <a:solidFill>
                  <a:srgbClr val="FF3131"/>
                </a:solidFill>
                <a:latin typeface="Georgia"/>
                <a:cs typeface="Georgia"/>
              </a:rPr>
              <a:t>--</a:t>
            </a:r>
            <a:r>
              <a:rPr sz="3250" spc="-30" dirty="0">
                <a:solidFill>
                  <a:srgbClr val="FF3131"/>
                </a:solidFill>
                <a:latin typeface="Georgia"/>
                <a:cs typeface="Georgia"/>
              </a:rPr>
              <a:t>name=&lt;service-</a:t>
            </a:r>
            <a:r>
              <a:rPr sz="3250" spc="-45" dirty="0">
                <a:solidFill>
                  <a:srgbClr val="FF3131"/>
                </a:solidFill>
                <a:latin typeface="Georgia"/>
                <a:cs typeface="Georgia"/>
              </a:rPr>
              <a:t>name&gt;</a:t>
            </a:r>
            <a:r>
              <a:rPr sz="3250" spc="45" dirty="0">
                <a:solidFill>
                  <a:srgbClr val="FF3131"/>
                </a:solidFill>
                <a:latin typeface="Georgia"/>
                <a:cs typeface="Georgia"/>
              </a:rPr>
              <a:t> </a:t>
            </a:r>
            <a:r>
              <a:rPr sz="3250" spc="-50" dirty="0">
                <a:solidFill>
                  <a:srgbClr val="FF3131"/>
                </a:solidFill>
                <a:latin typeface="Georgia"/>
                <a:cs typeface="Georgia"/>
              </a:rPr>
              <a:t>\</a:t>
            </a:r>
            <a:endParaRPr sz="3250">
              <a:latin typeface="Georgia"/>
              <a:cs typeface="Georgia"/>
            </a:endParaRPr>
          </a:p>
          <a:p>
            <a:pPr marL="103505">
              <a:lnSpc>
                <a:spcPct val="100000"/>
              </a:lnSpc>
              <a:spcBef>
                <a:spcPts val="600"/>
              </a:spcBef>
            </a:pPr>
            <a:r>
              <a:rPr sz="3250" dirty="0">
                <a:solidFill>
                  <a:srgbClr val="FF3131"/>
                </a:solidFill>
                <a:latin typeface="Georgia"/>
                <a:cs typeface="Georgia"/>
              </a:rPr>
              <a:t>--</a:t>
            </a:r>
            <a:r>
              <a:rPr sz="3250" spc="-60" dirty="0">
                <a:solidFill>
                  <a:srgbClr val="FF3131"/>
                </a:solidFill>
                <a:latin typeface="Georgia"/>
                <a:cs typeface="Georgia"/>
              </a:rPr>
              <a:t>port=&lt;port&gt;</a:t>
            </a:r>
            <a:r>
              <a:rPr sz="3250" spc="110" dirty="0">
                <a:solidFill>
                  <a:srgbClr val="FF3131"/>
                </a:solidFill>
                <a:latin typeface="Georgia"/>
                <a:cs typeface="Georgia"/>
              </a:rPr>
              <a:t> </a:t>
            </a:r>
            <a:r>
              <a:rPr sz="3250" dirty="0">
                <a:solidFill>
                  <a:srgbClr val="FF3131"/>
                </a:solidFill>
                <a:latin typeface="Georgia"/>
                <a:cs typeface="Georgia"/>
              </a:rPr>
              <a:t>--target-</a:t>
            </a:r>
            <a:r>
              <a:rPr sz="3250" spc="-35" dirty="0">
                <a:solidFill>
                  <a:srgbClr val="FF3131"/>
                </a:solidFill>
                <a:latin typeface="Georgia"/>
                <a:cs typeface="Georgia"/>
              </a:rPr>
              <a:t>port=&lt;targetPort&gt;</a:t>
            </a:r>
            <a:r>
              <a:rPr sz="3250" spc="120" dirty="0">
                <a:solidFill>
                  <a:srgbClr val="FF3131"/>
                </a:solidFill>
                <a:latin typeface="Georgia"/>
                <a:cs typeface="Georgia"/>
              </a:rPr>
              <a:t> </a:t>
            </a:r>
            <a:r>
              <a:rPr sz="3250" dirty="0">
                <a:solidFill>
                  <a:srgbClr val="FF3131"/>
                </a:solidFill>
                <a:latin typeface="Georgia"/>
                <a:cs typeface="Georgia"/>
              </a:rPr>
              <a:t>--type=&lt;service-</a:t>
            </a:r>
            <a:r>
              <a:rPr sz="3250" spc="-10" dirty="0">
                <a:solidFill>
                  <a:srgbClr val="FF3131"/>
                </a:solidFill>
                <a:latin typeface="Georgia"/>
                <a:cs typeface="Georgia"/>
              </a:rPr>
              <a:t>type&gt;</a:t>
            </a:r>
            <a:endParaRPr sz="3250">
              <a:latin typeface="Georgia"/>
              <a:cs typeface="Georgia"/>
            </a:endParaRPr>
          </a:p>
          <a:p>
            <a:pPr>
              <a:lnSpc>
                <a:spcPct val="100000"/>
              </a:lnSpc>
              <a:spcBef>
                <a:spcPts val="1410"/>
              </a:spcBef>
            </a:pPr>
            <a:endParaRPr sz="3250">
              <a:latin typeface="Georgia"/>
              <a:cs typeface="Georgia"/>
            </a:endParaRPr>
          </a:p>
          <a:p>
            <a:pPr marL="401955" indent="-389255">
              <a:lnSpc>
                <a:spcPct val="100000"/>
              </a:lnSpc>
              <a:buAutoNum type="arabicPeriod" startAt="6"/>
              <a:tabLst>
                <a:tab pos="401955" algn="l"/>
              </a:tabLst>
            </a:pPr>
            <a:r>
              <a:rPr sz="3250" spc="170" dirty="0">
                <a:solidFill>
                  <a:srgbClr val="2E377E"/>
                </a:solidFill>
                <a:latin typeface="Times New Roman"/>
                <a:cs typeface="Times New Roman"/>
              </a:rPr>
              <a:t>Create</a:t>
            </a:r>
            <a:r>
              <a:rPr sz="3250" spc="-100"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100" dirty="0">
                <a:solidFill>
                  <a:srgbClr val="2E377E"/>
                </a:solidFill>
                <a:latin typeface="Times New Roman"/>
                <a:cs typeface="Times New Roman"/>
              </a:rPr>
              <a:t> </a:t>
            </a:r>
            <a:r>
              <a:rPr sz="3250" spc="150" dirty="0">
                <a:solidFill>
                  <a:srgbClr val="2E377E"/>
                </a:solidFill>
                <a:latin typeface="Times New Roman"/>
                <a:cs typeface="Times New Roman"/>
              </a:rPr>
              <a:t>service</a:t>
            </a:r>
            <a:r>
              <a:rPr sz="3250" spc="-100" dirty="0">
                <a:solidFill>
                  <a:srgbClr val="2E377E"/>
                </a:solidFill>
                <a:latin typeface="Times New Roman"/>
                <a:cs typeface="Times New Roman"/>
              </a:rPr>
              <a:t> </a:t>
            </a:r>
            <a:r>
              <a:rPr sz="3250" spc="140" dirty="0">
                <a:solidFill>
                  <a:srgbClr val="2E377E"/>
                </a:solidFill>
                <a:latin typeface="Times New Roman"/>
                <a:cs typeface="Times New Roman"/>
              </a:rPr>
              <a:t>for</a:t>
            </a:r>
            <a:r>
              <a:rPr sz="3250" spc="-100"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100" dirty="0">
                <a:solidFill>
                  <a:srgbClr val="2E377E"/>
                </a:solidFill>
                <a:latin typeface="Times New Roman"/>
                <a:cs typeface="Times New Roman"/>
              </a:rPr>
              <a:t> </a:t>
            </a:r>
            <a:r>
              <a:rPr sz="3250" spc="200" dirty="0">
                <a:solidFill>
                  <a:srgbClr val="2E377E"/>
                </a:solidFill>
                <a:latin typeface="Times New Roman"/>
                <a:cs typeface="Times New Roman"/>
              </a:rPr>
              <a:t>deployment</a:t>
            </a:r>
            <a:endParaRPr sz="3250">
              <a:latin typeface="Times New Roman"/>
              <a:cs typeface="Times New Roman"/>
            </a:endParaRPr>
          </a:p>
          <a:p>
            <a:pPr marL="12700">
              <a:lnSpc>
                <a:spcPct val="100000"/>
              </a:lnSpc>
              <a:spcBef>
                <a:spcPts val="600"/>
              </a:spcBef>
            </a:pPr>
            <a:r>
              <a:rPr sz="3250" dirty="0">
                <a:solidFill>
                  <a:srgbClr val="FF3131"/>
                </a:solidFill>
                <a:latin typeface="Georgia"/>
                <a:cs typeface="Georgia"/>
              </a:rPr>
              <a:t>kubectl</a:t>
            </a:r>
            <a:r>
              <a:rPr sz="3250" spc="110" dirty="0">
                <a:solidFill>
                  <a:srgbClr val="FF3131"/>
                </a:solidFill>
                <a:latin typeface="Georgia"/>
                <a:cs typeface="Georgia"/>
              </a:rPr>
              <a:t> </a:t>
            </a:r>
            <a:r>
              <a:rPr sz="3250" dirty="0">
                <a:solidFill>
                  <a:srgbClr val="FF3131"/>
                </a:solidFill>
                <a:latin typeface="Georgia"/>
                <a:cs typeface="Georgia"/>
              </a:rPr>
              <a:t>expose</a:t>
            </a:r>
            <a:r>
              <a:rPr sz="3250" spc="114" dirty="0">
                <a:solidFill>
                  <a:srgbClr val="FF3131"/>
                </a:solidFill>
                <a:latin typeface="Georgia"/>
                <a:cs typeface="Georgia"/>
              </a:rPr>
              <a:t> </a:t>
            </a:r>
            <a:r>
              <a:rPr sz="3250" dirty="0">
                <a:solidFill>
                  <a:srgbClr val="FF3131"/>
                </a:solidFill>
                <a:latin typeface="Georgia"/>
                <a:cs typeface="Georgia"/>
              </a:rPr>
              <a:t>deployment</a:t>
            </a:r>
            <a:r>
              <a:rPr sz="3250" spc="110" dirty="0">
                <a:solidFill>
                  <a:srgbClr val="FF3131"/>
                </a:solidFill>
                <a:latin typeface="Georgia"/>
                <a:cs typeface="Georgia"/>
              </a:rPr>
              <a:t> </a:t>
            </a:r>
            <a:r>
              <a:rPr sz="3250" dirty="0">
                <a:solidFill>
                  <a:srgbClr val="FF3131"/>
                </a:solidFill>
                <a:latin typeface="Georgia"/>
                <a:cs typeface="Georgia"/>
              </a:rPr>
              <a:t>&lt;deployment-</a:t>
            </a:r>
            <a:r>
              <a:rPr sz="3250" spc="-45" dirty="0">
                <a:solidFill>
                  <a:srgbClr val="FF3131"/>
                </a:solidFill>
                <a:latin typeface="Georgia"/>
                <a:cs typeface="Georgia"/>
              </a:rPr>
              <a:t>name&gt;</a:t>
            </a:r>
            <a:r>
              <a:rPr sz="3250" spc="114" dirty="0">
                <a:solidFill>
                  <a:srgbClr val="FF3131"/>
                </a:solidFill>
                <a:latin typeface="Georgia"/>
                <a:cs typeface="Georgia"/>
              </a:rPr>
              <a:t> </a:t>
            </a:r>
            <a:r>
              <a:rPr sz="3250" dirty="0">
                <a:solidFill>
                  <a:srgbClr val="FF3131"/>
                </a:solidFill>
                <a:latin typeface="Georgia"/>
                <a:cs typeface="Georgia"/>
              </a:rPr>
              <a:t>--</a:t>
            </a:r>
            <a:r>
              <a:rPr sz="3250" spc="-30" dirty="0">
                <a:solidFill>
                  <a:srgbClr val="FF3131"/>
                </a:solidFill>
                <a:latin typeface="Georgia"/>
                <a:cs typeface="Georgia"/>
              </a:rPr>
              <a:t>name=&lt;service-</a:t>
            </a:r>
            <a:r>
              <a:rPr sz="3250" spc="-45" dirty="0">
                <a:solidFill>
                  <a:srgbClr val="FF3131"/>
                </a:solidFill>
                <a:latin typeface="Georgia"/>
                <a:cs typeface="Georgia"/>
              </a:rPr>
              <a:t>name&gt;</a:t>
            </a:r>
            <a:r>
              <a:rPr sz="3250" spc="110" dirty="0">
                <a:solidFill>
                  <a:srgbClr val="FF3131"/>
                </a:solidFill>
                <a:latin typeface="Georgia"/>
                <a:cs typeface="Georgia"/>
              </a:rPr>
              <a:t> </a:t>
            </a:r>
            <a:r>
              <a:rPr sz="3250" spc="-50" dirty="0">
                <a:solidFill>
                  <a:srgbClr val="FF3131"/>
                </a:solidFill>
                <a:latin typeface="Georgia"/>
                <a:cs typeface="Georgia"/>
              </a:rPr>
              <a:t>\</a:t>
            </a:r>
            <a:endParaRPr sz="3250">
              <a:latin typeface="Georgia"/>
              <a:cs typeface="Georgia"/>
            </a:endParaRPr>
          </a:p>
          <a:p>
            <a:pPr marL="103505">
              <a:lnSpc>
                <a:spcPct val="100000"/>
              </a:lnSpc>
              <a:spcBef>
                <a:spcPts val="600"/>
              </a:spcBef>
            </a:pPr>
            <a:r>
              <a:rPr sz="3250" dirty="0">
                <a:solidFill>
                  <a:srgbClr val="FF3131"/>
                </a:solidFill>
                <a:latin typeface="Georgia"/>
                <a:cs typeface="Georgia"/>
              </a:rPr>
              <a:t>--</a:t>
            </a:r>
            <a:r>
              <a:rPr sz="3250" spc="-60" dirty="0">
                <a:solidFill>
                  <a:srgbClr val="FF3131"/>
                </a:solidFill>
                <a:latin typeface="Georgia"/>
                <a:cs typeface="Georgia"/>
              </a:rPr>
              <a:t>port=&lt;port&gt;</a:t>
            </a:r>
            <a:r>
              <a:rPr sz="3250" spc="110" dirty="0">
                <a:solidFill>
                  <a:srgbClr val="FF3131"/>
                </a:solidFill>
                <a:latin typeface="Georgia"/>
                <a:cs typeface="Georgia"/>
              </a:rPr>
              <a:t> </a:t>
            </a:r>
            <a:r>
              <a:rPr sz="3250" dirty="0">
                <a:solidFill>
                  <a:srgbClr val="FF3131"/>
                </a:solidFill>
                <a:latin typeface="Georgia"/>
                <a:cs typeface="Georgia"/>
              </a:rPr>
              <a:t>--target-</a:t>
            </a:r>
            <a:r>
              <a:rPr sz="3250" spc="-35" dirty="0">
                <a:solidFill>
                  <a:srgbClr val="FF3131"/>
                </a:solidFill>
                <a:latin typeface="Georgia"/>
                <a:cs typeface="Georgia"/>
              </a:rPr>
              <a:t>port=&lt;targetPort&gt;</a:t>
            </a:r>
            <a:r>
              <a:rPr sz="3250" spc="120" dirty="0">
                <a:solidFill>
                  <a:srgbClr val="FF3131"/>
                </a:solidFill>
                <a:latin typeface="Georgia"/>
                <a:cs typeface="Georgia"/>
              </a:rPr>
              <a:t> </a:t>
            </a:r>
            <a:r>
              <a:rPr sz="3250" dirty="0">
                <a:solidFill>
                  <a:srgbClr val="FF3131"/>
                </a:solidFill>
                <a:latin typeface="Georgia"/>
                <a:cs typeface="Georgia"/>
              </a:rPr>
              <a:t>--type=&lt;service-</a:t>
            </a:r>
            <a:r>
              <a:rPr sz="3250" spc="-10" dirty="0">
                <a:solidFill>
                  <a:srgbClr val="FF3131"/>
                </a:solidFill>
                <a:latin typeface="Georgia"/>
                <a:cs typeface="Georgia"/>
              </a:rPr>
              <a:t>type&gt;</a:t>
            </a:r>
            <a:endParaRPr sz="3250">
              <a:latin typeface="Georgia"/>
              <a:cs typeface="Georgia"/>
            </a:endParaRPr>
          </a:p>
          <a:p>
            <a:pPr>
              <a:lnSpc>
                <a:spcPct val="100000"/>
              </a:lnSpc>
              <a:spcBef>
                <a:spcPts val="1405"/>
              </a:spcBef>
            </a:pPr>
            <a:endParaRPr sz="3250">
              <a:latin typeface="Georgia"/>
              <a:cs typeface="Georgia"/>
            </a:endParaRPr>
          </a:p>
          <a:p>
            <a:pPr marL="367665" indent="-354965">
              <a:lnSpc>
                <a:spcPct val="100000"/>
              </a:lnSpc>
              <a:buAutoNum type="arabicPeriod" startAt="7"/>
              <a:tabLst>
                <a:tab pos="367665" algn="l"/>
              </a:tabLst>
            </a:pPr>
            <a:r>
              <a:rPr sz="3250" spc="165" dirty="0">
                <a:solidFill>
                  <a:srgbClr val="2E377E"/>
                </a:solidFill>
                <a:latin typeface="Times New Roman"/>
                <a:cs typeface="Times New Roman"/>
              </a:rPr>
              <a:t>Retrieve</a:t>
            </a:r>
            <a:r>
              <a:rPr sz="3250" spc="-105"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105" dirty="0">
                <a:solidFill>
                  <a:srgbClr val="2E377E"/>
                </a:solidFill>
                <a:latin typeface="Times New Roman"/>
                <a:cs typeface="Times New Roman"/>
              </a:rPr>
              <a:t> </a:t>
            </a:r>
            <a:r>
              <a:rPr sz="3250" spc="135" dirty="0">
                <a:solidFill>
                  <a:srgbClr val="2E377E"/>
                </a:solidFill>
                <a:latin typeface="Times New Roman"/>
                <a:cs typeface="Times New Roman"/>
              </a:rPr>
              <a:t>list</a:t>
            </a:r>
            <a:r>
              <a:rPr sz="3250" spc="-105" dirty="0">
                <a:solidFill>
                  <a:srgbClr val="2E377E"/>
                </a:solidFill>
                <a:latin typeface="Times New Roman"/>
                <a:cs typeface="Times New Roman"/>
              </a:rPr>
              <a:t> </a:t>
            </a:r>
            <a:r>
              <a:rPr sz="3250" spc="75" dirty="0">
                <a:solidFill>
                  <a:srgbClr val="2E377E"/>
                </a:solidFill>
                <a:latin typeface="Times New Roman"/>
                <a:cs typeface="Times New Roman"/>
              </a:rPr>
              <a:t>of</a:t>
            </a:r>
            <a:r>
              <a:rPr sz="3250" spc="-105" dirty="0">
                <a:solidFill>
                  <a:srgbClr val="2E377E"/>
                </a:solidFill>
                <a:latin typeface="Times New Roman"/>
                <a:cs typeface="Times New Roman"/>
              </a:rPr>
              <a:t> </a:t>
            </a:r>
            <a:r>
              <a:rPr sz="3250" spc="155" dirty="0">
                <a:solidFill>
                  <a:srgbClr val="2E377E"/>
                </a:solidFill>
                <a:latin typeface="Times New Roman"/>
                <a:cs typeface="Times New Roman"/>
              </a:rPr>
              <a:t>services</a:t>
            </a:r>
            <a:r>
              <a:rPr sz="3250" spc="-105" dirty="0">
                <a:solidFill>
                  <a:srgbClr val="2E377E"/>
                </a:solidFill>
                <a:latin typeface="Times New Roman"/>
                <a:cs typeface="Times New Roman"/>
              </a:rPr>
              <a:t> </a:t>
            </a:r>
            <a:r>
              <a:rPr sz="3250" spc="275" dirty="0">
                <a:solidFill>
                  <a:srgbClr val="2E377E"/>
                </a:solidFill>
                <a:latin typeface="Times New Roman"/>
                <a:cs typeface="Times New Roman"/>
              </a:rPr>
              <a:t>that</a:t>
            </a:r>
            <a:r>
              <a:rPr sz="3250" spc="-105" dirty="0">
                <a:solidFill>
                  <a:srgbClr val="2E377E"/>
                </a:solidFill>
                <a:latin typeface="Times New Roman"/>
                <a:cs typeface="Times New Roman"/>
              </a:rPr>
              <a:t> </a:t>
            </a:r>
            <a:r>
              <a:rPr sz="3250" spc="195" dirty="0">
                <a:solidFill>
                  <a:srgbClr val="2E377E"/>
                </a:solidFill>
                <a:latin typeface="Times New Roman"/>
                <a:cs typeface="Times New Roman"/>
              </a:rPr>
              <a:t>have</a:t>
            </a:r>
            <a:r>
              <a:rPr sz="3250" spc="-105" dirty="0">
                <a:solidFill>
                  <a:srgbClr val="2E377E"/>
                </a:solidFill>
                <a:latin typeface="Times New Roman"/>
                <a:cs typeface="Times New Roman"/>
              </a:rPr>
              <a:t> </a:t>
            </a:r>
            <a:r>
              <a:rPr sz="3250" spc="210" dirty="0">
                <a:solidFill>
                  <a:srgbClr val="2E377E"/>
                </a:solidFill>
                <a:latin typeface="Times New Roman"/>
                <a:cs typeface="Times New Roman"/>
              </a:rPr>
              <a:t>been</a:t>
            </a:r>
            <a:r>
              <a:rPr sz="3250" spc="-105" dirty="0">
                <a:solidFill>
                  <a:srgbClr val="2E377E"/>
                </a:solidFill>
                <a:latin typeface="Times New Roman"/>
                <a:cs typeface="Times New Roman"/>
              </a:rPr>
              <a:t> </a:t>
            </a:r>
            <a:r>
              <a:rPr sz="3250" spc="195" dirty="0">
                <a:solidFill>
                  <a:srgbClr val="2E377E"/>
                </a:solidFill>
                <a:latin typeface="Times New Roman"/>
                <a:cs typeface="Times New Roman"/>
              </a:rPr>
              <a:t>created</a:t>
            </a:r>
            <a:endParaRPr sz="3250">
              <a:latin typeface="Times New Roman"/>
              <a:cs typeface="Times New Roman"/>
            </a:endParaRPr>
          </a:p>
          <a:p>
            <a:pPr marL="12700">
              <a:lnSpc>
                <a:spcPct val="100000"/>
              </a:lnSpc>
              <a:spcBef>
                <a:spcPts val="600"/>
              </a:spcBef>
            </a:pPr>
            <a:r>
              <a:rPr sz="3250" dirty="0">
                <a:solidFill>
                  <a:srgbClr val="FF3131"/>
                </a:solidFill>
                <a:latin typeface="Georgia"/>
                <a:cs typeface="Georgia"/>
              </a:rPr>
              <a:t>kubectl</a:t>
            </a:r>
            <a:r>
              <a:rPr sz="3250" spc="60" dirty="0">
                <a:solidFill>
                  <a:srgbClr val="FF3131"/>
                </a:solidFill>
                <a:latin typeface="Georgia"/>
                <a:cs typeface="Georgia"/>
              </a:rPr>
              <a:t> </a:t>
            </a:r>
            <a:r>
              <a:rPr sz="3250" spc="55" dirty="0">
                <a:solidFill>
                  <a:srgbClr val="FF3131"/>
                </a:solidFill>
                <a:latin typeface="Georgia"/>
                <a:cs typeface="Georgia"/>
              </a:rPr>
              <a:t>get</a:t>
            </a:r>
            <a:r>
              <a:rPr sz="3250" spc="60" dirty="0">
                <a:solidFill>
                  <a:srgbClr val="FF3131"/>
                </a:solidFill>
                <a:latin typeface="Georgia"/>
                <a:cs typeface="Georgia"/>
              </a:rPr>
              <a:t> </a:t>
            </a:r>
            <a:r>
              <a:rPr sz="3250" spc="-10" dirty="0">
                <a:solidFill>
                  <a:srgbClr val="FF3131"/>
                </a:solidFill>
                <a:latin typeface="Georgia"/>
                <a:cs typeface="Georgia"/>
              </a:rPr>
              <a:t>services</a:t>
            </a:r>
            <a:endParaRPr sz="3250">
              <a:latin typeface="Georgia"/>
              <a:cs typeface="Georgia"/>
            </a:endParaRPr>
          </a:p>
          <a:p>
            <a:pPr>
              <a:lnSpc>
                <a:spcPct val="100000"/>
              </a:lnSpc>
              <a:spcBef>
                <a:spcPts val="1410"/>
              </a:spcBef>
            </a:pPr>
            <a:endParaRPr sz="3250">
              <a:latin typeface="Georgia"/>
              <a:cs typeface="Georgia"/>
            </a:endParaRPr>
          </a:p>
          <a:p>
            <a:pPr marL="403860" indent="-391160">
              <a:lnSpc>
                <a:spcPct val="100000"/>
              </a:lnSpc>
              <a:buAutoNum type="arabicPeriod" startAt="8"/>
              <a:tabLst>
                <a:tab pos="403860" algn="l"/>
              </a:tabLst>
            </a:pPr>
            <a:r>
              <a:rPr sz="3250" spc="165" dirty="0">
                <a:solidFill>
                  <a:srgbClr val="2E377E"/>
                </a:solidFill>
                <a:latin typeface="Times New Roman"/>
                <a:cs typeface="Times New Roman"/>
              </a:rPr>
              <a:t>Retrieve</a:t>
            </a:r>
            <a:r>
              <a:rPr sz="3250" spc="-95" dirty="0">
                <a:solidFill>
                  <a:srgbClr val="2E377E"/>
                </a:solidFill>
                <a:latin typeface="Times New Roman"/>
                <a:cs typeface="Times New Roman"/>
              </a:rPr>
              <a:t> </a:t>
            </a:r>
            <a:r>
              <a:rPr sz="3250" spc="170" dirty="0">
                <a:solidFill>
                  <a:srgbClr val="2E377E"/>
                </a:solidFill>
                <a:latin typeface="Times New Roman"/>
                <a:cs typeface="Times New Roman"/>
              </a:rPr>
              <a:t>detailed</a:t>
            </a:r>
            <a:r>
              <a:rPr sz="3250" spc="-90" dirty="0">
                <a:solidFill>
                  <a:srgbClr val="2E377E"/>
                </a:solidFill>
                <a:latin typeface="Times New Roman"/>
                <a:cs typeface="Times New Roman"/>
              </a:rPr>
              <a:t> </a:t>
            </a:r>
            <a:r>
              <a:rPr sz="3250" spc="190" dirty="0">
                <a:solidFill>
                  <a:srgbClr val="2E377E"/>
                </a:solidFill>
                <a:latin typeface="Times New Roman"/>
                <a:cs typeface="Times New Roman"/>
              </a:rPr>
              <a:t>information</a:t>
            </a:r>
            <a:r>
              <a:rPr sz="3250" spc="-95" dirty="0">
                <a:solidFill>
                  <a:srgbClr val="2E377E"/>
                </a:solidFill>
                <a:latin typeface="Times New Roman"/>
                <a:cs typeface="Times New Roman"/>
              </a:rPr>
              <a:t> </a:t>
            </a:r>
            <a:r>
              <a:rPr sz="3250" spc="220" dirty="0">
                <a:solidFill>
                  <a:srgbClr val="2E377E"/>
                </a:solidFill>
                <a:latin typeface="Times New Roman"/>
                <a:cs typeface="Times New Roman"/>
              </a:rPr>
              <a:t>about</a:t>
            </a:r>
            <a:r>
              <a:rPr sz="3250" spc="-90" dirty="0">
                <a:solidFill>
                  <a:srgbClr val="2E377E"/>
                </a:solidFill>
                <a:latin typeface="Times New Roman"/>
                <a:cs typeface="Times New Roman"/>
              </a:rPr>
              <a:t> </a:t>
            </a:r>
            <a:r>
              <a:rPr sz="3250" spc="185" dirty="0">
                <a:solidFill>
                  <a:srgbClr val="2E377E"/>
                </a:solidFill>
                <a:latin typeface="Times New Roman"/>
                <a:cs typeface="Times New Roman"/>
              </a:rPr>
              <a:t>a</a:t>
            </a:r>
            <a:r>
              <a:rPr sz="3250" spc="-95" dirty="0">
                <a:solidFill>
                  <a:srgbClr val="2E377E"/>
                </a:solidFill>
                <a:latin typeface="Times New Roman"/>
                <a:cs typeface="Times New Roman"/>
              </a:rPr>
              <a:t> </a:t>
            </a:r>
            <a:r>
              <a:rPr sz="3250" spc="110" dirty="0">
                <a:solidFill>
                  <a:srgbClr val="2E377E"/>
                </a:solidFill>
                <a:latin typeface="Times New Roman"/>
                <a:cs typeface="Times New Roman"/>
              </a:rPr>
              <a:t>specific</a:t>
            </a:r>
            <a:r>
              <a:rPr sz="3250" spc="-90" dirty="0">
                <a:solidFill>
                  <a:srgbClr val="2E377E"/>
                </a:solidFill>
                <a:latin typeface="Times New Roman"/>
                <a:cs typeface="Times New Roman"/>
              </a:rPr>
              <a:t> </a:t>
            </a:r>
            <a:r>
              <a:rPr sz="3250" spc="140" dirty="0">
                <a:solidFill>
                  <a:srgbClr val="2E377E"/>
                </a:solidFill>
                <a:latin typeface="Times New Roman"/>
                <a:cs typeface="Times New Roman"/>
              </a:rPr>
              <a:t>service</a:t>
            </a:r>
            <a:endParaRPr sz="3250">
              <a:latin typeface="Times New Roman"/>
              <a:cs typeface="Times New Roman"/>
            </a:endParaRPr>
          </a:p>
          <a:p>
            <a:pPr marL="12700">
              <a:lnSpc>
                <a:spcPct val="100000"/>
              </a:lnSpc>
              <a:spcBef>
                <a:spcPts val="600"/>
              </a:spcBef>
            </a:pPr>
            <a:r>
              <a:rPr sz="3250" dirty="0">
                <a:solidFill>
                  <a:srgbClr val="FF3131"/>
                </a:solidFill>
                <a:latin typeface="Georgia"/>
                <a:cs typeface="Georgia"/>
              </a:rPr>
              <a:t>kubectl</a:t>
            </a:r>
            <a:r>
              <a:rPr sz="3250" spc="190" dirty="0">
                <a:solidFill>
                  <a:srgbClr val="FF3131"/>
                </a:solidFill>
                <a:latin typeface="Georgia"/>
                <a:cs typeface="Georgia"/>
              </a:rPr>
              <a:t> </a:t>
            </a:r>
            <a:r>
              <a:rPr sz="3250" dirty="0">
                <a:solidFill>
                  <a:srgbClr val="FF3131"/>
                </a:solidFill>
                <a:latin typeface="Georgia"/>
                <a:cs typeface="Georgia"/>
              </a:rPr>
              <a:t>describe</a:t>
            </a:r>
            <a:r>
              <a:rPr sz="3250" spc="190" dirty="0">
                <a:solidFill>
                  <a:srgbClr val="FF3131"/>
                </a:solidFill>
                <a:latin typeface="Georgia"/>
                <a:cs typeface="Georgia"/>
              </a:rPr>
              <a:t> </a:t>
            </a:r>
            <a:r>
              <a:rPr sz="3250" dirty="0">
                <a:solidFill>
                  <a:srgbClr val="FF3131"/>
                </a:solidFill>
                <a:latin typeface="Georgia"/>
                <a:cs typeface="Georgia"/>
              </a:rPr>
              <a:t>services</a:t>
            </a:r>
            <a:r>
              <a:rPr sz="3250" spc="185" dirty="0">
                <a:solidFill>
                  <a:srgbClr val="FF3131"/>
                </a:solidFill>
                <a:latin typeface="Georgia"/>
                <a:cs typeface="Georgia"/>
              </a:rPr>
              <a:t> </a:t>
            </a:r>
            <a:r>
              <a:rPr sz="3250" dirty="0">
                <a:solidFill>
                  <a:srgbClr val="FF3131"/>
                </a:solidFill>
                <a:latin typeface="Georgia"/>
                <a:cs typeface="Georgia"/>
              </a:rPr>
              <a:t>&lt;service-</a:t>
            </a:r>
            <a:r>
              <a:rPr sz="3250" spc="-10" dirty="0">
                <a:solidFill>
                  <a:srgbClr val="FF3131"/>
                </a:solidFill>
                <a:latin typeface="Georgia"/>
                <a:cs typeface="Georgia"/>
              </a:rPr>
              <a:t>name&gt;</a:t>
            </a:r>
            <a:endParaRPr sz="3250">
              <a:latin typeface="Georgia"/>
              <a:cs typeface="Georgi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3381" y="830884"/>
            <a:ext cx="11890375" cy="1786889"/>
          </a:xfrm>
          <a:prstGeom prst="rect">
            <a:avLst/>
          </a:prstGeom>
        </p:spPr>
        <p:txBody>
          <a:bodyPr vert="horz" wrap="square" lIns="0" tIns="13335" rIns="0" bIns="0" rtlCol="0">
            <a:spAutoFit/>
          </a:bodyPr>
          <a:lstStyle/>
          <a:p>
            <a:pPr marL="12700">
              <a:lnSpc>
                <a:spcPct val="100000"/>
              </a:lnSpc>
              <a:spcBef>
                <a:spcPts val="105"/>
              </a:spcBef>
            </a:pPr>
            <a:r>
              <a:rPr sz="11550" spc="-700" dirty="0">
                <a:solidFill>
                  <a:srgbClr val="FF3131"/>
                </a:solidFill>
              </a:rPr>
              <a:t>THE</a:t>
            </a:r>
            <a:r>
              <a:rPr sz="11550" spc="-114" dirty="0">
                <a:solidFill>
                  <a:srgbClr val="FF3131"/>
                </a:solidFill>
              </a:rPr>
              <a:t> </a:t>
            </a:r>
            <a:r>
              <a:rPr sz="11550" spc="-195" dirty="0">
                <a:solidFill>
                  <a:srgbClr val="FF3131"/>
                </a:solidFill>
              </a:rPr>
              <a:t>DRAWBACK</a:t>
            </a:r>
            <a:endParaRPr sz="11550"/>
          </a:p>
        </p:txBody>
      </p:sp>
      <p:sp>
        <p:nvSpPr>
          <p:cNvPr id="3" name="object 3"/>
          <p:cNvSpPr txBox="1"/>
          <p:nvPr/>
        </p:nvSpPr>
        <p:spPr>
          <a:xfrm>
            <a:off x="1016000" y="3256411"/>
            <a:ext cx="14904719" cy="6407150"/>
          </a:xfrm>
          <a:prstGeom prst="rect">
            <a:avLst/>
          </a:prstGeom>
        </p:spPr>
        <p:txBody>
          <a:bodyPr vert="horz" wrap="square" lIns="0" tIns="12700" rIns="0" bIns="0" rtlCol="0">
            <a:spAutoFit/>
          </a:bodyPr>
          <a:lstStyle/>
          <a:p>
            <a:pPr marL="12700" marR="3226435">
              <a:lnSpc>
                <a:spcPct val="116300"/>
              </a:lnSpc>
              <a:spcBef>
                <a:spcPts val="100"/>
              </a:spcBef>
            </a:pPr>
            <a:r>
              <a:rPr sz="3600" dirty="0">
                <a:solidFill>
                  <a:srgbClr val="2E377E"/>
                </a:solidFill>
                <a:latin typeface="Georgia"/>
                <a:cs typeface="Georgia"/>
              </a:rPr>
              <a:t>In</a:t>
            </a:r>
            <a:r>
              <a:rPr sz="3600" spc="-5" dirty="0">
                <a:solidFill>
                  <a:srgbClr val="2E377E"/>
                </a:solidFill>
                <a:latin typeface="Georgia"/>
                <a:cs typeface="Georgia"/>
              </a:rPr>
              <a:t> </a:t>
            </a:r>
            <a:r>
              <a:rPr sz="3600" spc="60" dirty="0">
                <a:solidFill>
                  <a:srgbClr val="2E377E"/>
                </a:solidFill>
                <a:latin typeface="Georgia"/>
                <a:cs typeface="Georgia"/>
              </a:rPr>
              <a:t>the</a:t>
            </a:r>
            <a:r>
              <a:rPr sz="3600" dirty="0">
                <a:solidFill>
                  <a:srgbClr val="2E377E"/>
                </a:solidFill>
                <a:latin typeface="Georgia"/>
                <a:cs typeface="Georgia"/>
              </a:rPr>
              <a:t> above both methods</a:t>
            </a:r>
            <a:r>
              <a:rPr sz="3600" spc="-5" dirty="0">
                <a:solidFill>
                  <a:srgbClr val="2E377E"/>
                </a:solidFill>
                <a:latin typeface="Georgia"/>
                <a:cs typeface="Georgia"/>
              </a:rPr>
              <a:t> </a:t>
            </a:r>
            <a:r>
              <a:rPr sz="3600" spc="140" dirty="0">
                <a:solidFill>
                  <a:srgbClr val="2E377E"/>
                </a:solidFill>
                <a:latin typeface="Georgia"/>
                <a:cs typeface="Georgia"/>
              </a:rPr>
              <a:t>we</a:t>
            </a:r>
            <a:r>
              <a:rPr sz="3600" dirty="0">
                <a:solidFill>
                  <a:srgbClr val="2E377E"/>
                </a:solidFill>
                <a:latin typeface="Georgia"/>
                <a:cs typeface="Georgia"/>
              </a:rPr>
              <a:t> can be able</a:t>
            </a:r>
            <a:r>
              <a:rPr sz="3600" spc="-5" dirty="0">
                <a:solidFill>
                  <a:srgbClr val="2E377E"/>
                </a:solidFill>
                <a:latin typeface="Georgia"/>
                <a:cs typeface="Georgia"/>
              </a:rPr>
              <a:t> </a:t>
            </a:r>
            <a:r>
              <a:rPr sz="3600" spc="70" dirty="0">
                <a:solidFill>
                  <a:srgbClr val="2E377E"/>
                </a:solidFill>
                <a:latin typeface="Georgia"/>
                <a:cs typeface="Georgia"/>
              </a:rPr>
              <a:t>to</a:t>
            </a:r>
            <a:r>
              <a:rPr sz="3600" dirty="0">
                <a:solidFill>
                  <a:srgbClr val="2E377E"/>
                </a:solidFill>
                <a:latin typeface="Georgia"/>
                <a:cs typeface="Georgia"/>
              </a:rPr>
              <a:t> </a:t>
            </a:r>
            <a:r>
              <a:rPr sz="3600" spc="55" dirty="0">
                <a:solidFill>
                  <a:srgbClr val="2E377E"/>
                </a:solidFill>
                <a:latin typeface="Georgia"/>
                <a:cs typeface="Georgia"/>
              </a:rPr>
              <a:t>create</a:t>
            </a:r>
            <a:r>
              <a:rPr sz="3600" dirty="0">
                <a:solidFill>
                  <a:srgbClr val="2E377E"/>
                </a:solidFill>
                <a:latin typeface="Georgia"/>
                <a:cs typeface="Georgia"/>
              </a:rPr>
              <a:t> a </a:t>
            </a:r>
            <a:r>
              <a:rPr sz="3600" spc="-25" dirty="0">
                <a:solidFill>
                  <a:srgbClr val="2E377E"/>
                </a:solidFill>
                <a:latin typeface="Georgia"/>
                <a:cs typeface="Georgia"/>
              </a:rPr>
              <a:t>pod </a:t>
            </a:r>
            <a:r>
              <a:rPr sz="3600" spc="60" dirty="0">
                <a:solidFill>
                  <a:srgbClr val="2E377E"/>
                </a:solidFill>
                <a:latin typeface="Georgia"/>
                <a:cs typeface="Georgia"/>
              </a:rPr>
              <a:t>but</a:t>
            </a:r>
            <a:r>
              <a:rPr sz="3600" spc="-45" dirty="0">
                <a:solidFill>
                  <a:srgbClr val="2E377E"/>
                </a:solidFill>
                <a:latin typeface="Georgia"/>
                <a:cs typeface="Georgia"/>
              </a:rPr>
              <a:t> </a:t>
            </a:r>
            <a:r>
              <a:rPr sz="3600" spc="75" dirty="0">
                <a:solidFill>
                  <a:srgbClr val="2E377E"/>
                </a:solidFill>
                <a:latin typeface="Georgia"/>
                <a:cs typeface="Georgia"/>
              </a:rPr>
              <a:t>what</a:t>
            </a:r>
            <a:r>
              <a:rPr sz="3600" spc="-45" dirty="0">
                <a:solidFill>
                  <a:srgbClr val="2E377E"/>
                </a:solidFill>
                <a:latin typeface="Georgia"/>
                <a:cs typeface="Georgia"/>
              </a:rPr>
              <a:t> </a:t>
            </a:r>
            <a:r>
              <a:rPr sz="3600" dirty="0">
                <a:solidFill>
                  <a:srgbClr val="2E377E"/>
                </a:solidFill>
                <a:latin typeface="Georgia"/>
                <a:cs typeface="Georgia"/>
              </a:rPr>
              <a:t>if</a:t>
            </a:r>
            <a:r>
              <a:rPr sz="3600" spc="-40" dirty="0">
                <a:solidFill>
                  <a:srgbClr val="2E377E"/>
                </a:solidFill>
                <a:latin typeface="Georgia"/>
                <a:cs typeface="Georgia"/>
              </a:rPr>
              <a:t> </a:t>
            </a:r>
            <a:r>
              <a:rPr sz="3600" spc="140" dirty="0">
                <a:solidFill>
                  <a:srgbClr val="2E377E"/>
                </a:solidFill>
                <a:latin typeface="Georgia"/>
                <a:cs typeface="Georgia"/>
              </a:rPr>
              <a:t>we</a:t>
            </a:r>
            <a:r>
              <a:rPr sz="3600" spc="-45" dirty="0">
                <a:solidFill>
                  <a:srgbClr val="2E377E"/>
                </a:solidFill>
                <a:latin typeface="Georgia"/>
                <a:cs typeface="Georgia"/>
              </a:rPr>
              <a:t> </a:t>
            </a:r>
            <a:r>
              <a:rPr sz="3600" spc="55" dirty="0">
                <a:solidFill>
                  <a:srgbClr val="2E377E"/>
                </a:solidFill>
                <a:latin typeface="Georgia"/>
                <a:cs typeface="Georgia"/>
              </a:rPr>
              <a:t>delete</a:t>
            </a:r>
            <a:r>
              <a:rPr sz="3600" spc="-40"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pod</a:t>
            </a:r>
            <a:r>
              <a:rPr sz="3600" spc="-40" dirty="0">
                <a:solidFill>
                  <a:srgbClr val="2E377E"/>
                </a:solidFill>
                <a:latin typeface="Georgia"/>
                <a:cs typeface="Georgia"/>
              </a:rPr>
              <a:t> </a:t>
            </a:r>
            <a:r>
              <a:rPr sz="3600" spc="-50" dirty="0">
                <a:solidFill>
                  <a:srgbClr val="2E377E"/>
                </a:solidFill>
                <a:latin typeface="Georgia"/>
                <a:cs typeface="Georgia"/>
              </a:rPr>
              <a:t>?</a:t>
            </a:r>
            <a:endParaRPr sz="3600">
              <a:latin typeface="Georgia"/>
              <a:cs typeface="Georgia"/>
            </a:endParaRPr>
          </a:p>
          <a:p>
            <a:pPr>
              <a:lnSpc>
                <a:spcPct val="100000"/>
              </a:lnSpc>
              <a:spcBef>
                <a:spcPts val="935"/>
              </a:spcBef>
            </a:pPr>
            <a:endParaRPr sz="3600">
              <a:latin typeface="Georgia"/>
              <a:cs typeface="Georgia"/>
            </a:endParaRPr>
          </a:p>
          <a:p>
            <a:pPr marL="12700" marR="3058795">
              <a:lnSpc>
                <a:spcPct val="116300"/>
              </a:lnSpc>
            </a:pPr>
            <a:r>
              <a:rPr sz="3600" dirty="0">
                <a:solidFill>
                  <a:srgbClr val="2E377E"/>
                </a:solidFill>
                <a:latin typeface="Georgia"/>
                <a:cs typeface="Georgia"/>
              </a:rPr>
              <a:t>once</a:t>
            </a:r>
            <a:r>
              <a:rPr sz="3600" spc="80" dirty="0">
                <a:solidFill>
                  <a:srgbClr val="2E377E"/>
                </a:solidFill>
                <a:latin typeface="Georgia"/>
                <a:cs typeface="Georgia"/>
              </a:rPr>
              <a:t> </a:t>
            </a:r>
            <a:r>
              <a:rPr sz="3600" spc="90" dirty="0">
                <a:solidFill>
                  <a:srgbClr val="2E377E"/>
                </a:solidFill>
                <a:latin typeface="Georgia"/>
                <a:cs typeface="Georgia"/>
              </a:rPr>
              <a:t>you</a:t>
            </a:r>
            <a:r>
              <a:rPr sz="3600" spc="80" dirty="0">
                <a:solidFill>
                  <a:srgbClr val="2E377E"/>
                </a:solidFill>
                <a:latin typeface="Georgia"/>
                <a:cs typeface="Georgia"/>
              </a:rPr>
              <a:t> </a:t>
            </a:r>
            <a:r>
              <a:rPr sz="3600" spc="55" dirty="0">
                <a:solidFill>
                  <a:srgbClr val="2E377E"/>
                </a:solidFill>
                <a:latin typeface="Georgia"/>
                <a:cs typeface="Georgia"/>
              </a:rPr>
              <a:t>delete</a:t>
            </a:r>
            <a:r>
              <a:rPr sz="3600" spc="80" dirty="0">
                <a:solidFill>
                  <a:srgbClr val="2E377E"/>
                </a:solidFill>
                <a:latin typeface="Georgia"/>
                <a:cs typeface="Georgia"/>
              </a:rPr>
              <a:t> </a:t>
            </a:r>
            <a:r>
              <a:rPr sz="3600" spc="60" dirty="0">
                <a:solidFill>
                  <a:srgbClr val="2E377E"/>
                </a:solidFill>
                <a:latin typeface="Georgia"/>
                <a:cs typeface="Georgia"/>
              </a:rPr>
              <a:t>the</a:t>
            </a:r>
            <a:r>
              <a:rPr sz="3600" spc="80" dirty="0">
                <a:solidFill>
                  <a:srgbClr val="2E377E"/>
                </a:solidFill>
                <a:latin typeface="Georgia"/>
                <a:cs typeface="Georgia"/>
              </a:rPr>
              <a:t> </a:t>
            </a:r>
            <a:r>
              <a:rPr sz="3600" dirty="0">
                <a:solidFill>
                  <a:srgbClr val="2E377E"/>
                </a:solidFill>
                <a:latin typeface="Georgia"/>
                <a:cs typeface="Georgia"/>
              </a:rPr>
              <a:t>pod</a:t>
            </a:r>
            <a:r>
              <a:rPr sz="3600" spc="80" dirty="0">
                <a:solidFill>
                  <a:srgbClr val="2E377E"/>
                </a:solidFill>
                <a:latin typeface="Georgia"/>
                <a:cs typeface="Georgia"/>
              </a:rPr>
              <a:t> </a:t>
            </a:r>
            <a:r>
              <a:rPr sz="3600" spc="140" dirty="0">
                <a:solidFill>
                  <a:srgbClr val="2E377E"/>
                </a:solidFill>
                <a:latin typeface="Georgia"/>
                <a:cs typeface="Georgia"/>
              </a:rPr>
              <a:t>we</a:t>
            </a:r>
            <a:r>
              <a:rPr sz="3600" spc="80" dirty="0">
                <a:solidFill>
                  <a:srgbClr val="2E377E"/>
                </a:solidFill>
                <a:latin typeface="Georgia"/>
                <a:cs typeface="Georgia"/>
              </a:rPr>
              <a:t> </a:t>
            </a:r>
            <a:r>
              <a:rPr sz="3600" dirty="0">
                <a:solidFill>
                  <a:srgbClr val="2E377E"/>
                </a:solidFill>
                <a:latin typeface="Georgia"/>
                <a:cs typeface="Georgia"/>
              </a:rPr>
              <a:t>cannot</a:t>
            </a:r>
            <a:r>
              <a:rPr sz="3600" spc="80" dirty="0">
                <a:solidFill>
                  <a:srgbClr val="2E377E"/>
                </a:solidFill>
                <a:latin typeface="Georgia"/>
                <a:cs typeface="Georgia"/>
              </a:rPr>
              <a:t> </a:t>
            </a:r>
            <a:r>
              <a:rPr sz="3600" dirty="0">
                <a:solidFill>
                  <a:srgbClr val="2E377E"/>
                </a:solidFill>
                <a:latin typeface="Georgia"/>
                <a:cs typeface="Georgia"/>
              </a:rPr>
              <a:t>able</a:t>
            </a:r>
            <a:r>
              <a:rPr sz="3600" spc="80" dirty="0">
                <a:solidFill>
                  <a:srgbClr val="2E377E"/>
                </a:solidFill>
                <a:latin typeface="Georgia"/>
                <a:cs typeface="Georgia"/>
              </a:rPr>
              <a:t> </a:t>
            </a:r>
            <a:r>
              <a:rPr sz="3600" spc="70" dirty="0">
                <a:solidFill>
                  <a:srgbClr val="2E377E"/>
                </a:solidFill>
                <a:latin typeface="Georgia"/>
                <a:cs typeface="Georgia"/>
              </a:rPr>
              <a:t>to</a:t>
            </a:r>
            <a:r>
              <a:rPr sz="3600" spc="80" dirty="0">
                <a:solidFill>
                  <a:srgbClr val="2E377E"/>
                </a:solidFill>
                <a:latin typeface="Georgia"/>
                <a:cs typeface="Georgia"/>
              </a:rPr>
              <a:t> </a:t>
            </a:r>
            <a:r>
              <a:rPr sz="3600" dirty="0">
                <a:solidFill>
                  <a:srgbClr val="2E377E"/>
                </a:solidFill>
                <a:latin typeface="Georgia"/>
                <a:cs typeface="Georgia"/>
              </a:rPr>
              <a:t>access</a:t>
            </a:r>
            <a:r>
              <a:rPr sz="3600" spc="80" dirty="0">
                <a:solidFill>
                  <a:srgbClr val="2E377E"/>
                </a:solidFill>
                <a:latin typeface="Georgia"/>
                <a:cs typeface="Georgia"/>
              </a:rPr>
              <a:t> </a:t>
            </a:r>
            <a:r>
              <a:rPr sz="3600" spc="60" dirty="0">
                <a:solidFill>
                  <a:srgbClr val="2E377E"/>
                </a:solidFill>
                <a:latin typeface="Georgia"/>
                <a:cs typeface="Georgia"/>
              </a:rPr>
              <a:t>the</a:t>
            </a:r>
            <a:r>
              <a:rPr sz="3600" spc="80" dirty="0">
                <a:solidFill>
                  <a:srgbClr val="2E377E"/>
                </a:solidFill>
                <a:latin typeface="Georgia"/>
                <a:cs typeface="Georgia"/>
              </a:rPr>
              <a:t> </a:t>
            </a:r>
            <a:r>
              <a:rPr sz="3600" spc="-20" dirty="0">
                <a:solidFill>
                  <a:srgbClr val="2E377E"/>
                </a:solidFill>
                <a:latin typeface="Georgia"/>
                <a:cs typeface="Georgia"/>
              </a:rPr>
              <a:t>pod, </a:t>
            </a:r>
            <a:r>
              <a:rPr sz="3600" dirty="0">
                <a:solidFill>
                  <a:srgbClr val="2E377E"/>
                </a:solidFill>
                <a:latin typeface="Georgia"/>
                <a:cs typeface="Georgia"/>
              </a:rPr>
              <a:t>so</a:t>
            </a:r>
            <a:r>
              <a:rPr sz="3600" spc="-50" dirty="0">
                <a:solidFill>
                  <a:srgbClr val="2E377E"/>
                </a:solidFill>
                <a:latin typeface="Georgia"/>
                <a:cs typeface="Georgia"/>
              </a:rPr>
              <a:t> </a:t>
            </a:r>
            <a:r>
              <a:rPr sz="3600" spc="65" dirty="0">
                <a:solidFill>
                  <a:srgbClr val="2E377E"/>
                </a:solidFill>
                <a:latin typeface="Georgia"/>
                <a:cs typeface="Georgia"/>
              </a:rPr>
              <a:t>it</a:t>
            </a:r>
            <a:r>
              <a:rPr sz="3600" spc="-45" dirty="0">
                <a:solidFill>
                  <a:srgbClr val="2E377E"/>
                </a:solidFill>
                <a:latin typeface="Georgia"/>
                <a:cs typeface="Georgia"/>
              </a:rPr>
              <a:t> </a:t>
            </a:r>
            <a:r>
              <a:rPr sz="3600" spc="55" dirty="0">
                <a:solidFill>
                  <a:srgbClr val="2E377E"/>
                </a:solidFill>
                <a:latin typeface="Georgia"/>
                <a:cs typeface="Georgia"/>
              </a:rPr>
              <a:t>will</a:t>
            </a:r>
            <a:r>
              <a:rPr sz="3600" spc="-45" dirty="0">
                <a:solidFill>
                  <a:srgbClr val="2E377E"/>
                </a:solidFill>
                <a:latin typeface="Georgia"/>
                <a:cs typeface="Georgia"/>
              </a:rPr>
              <a:t> </a:t>
            </a:r>
            <a:r>
              <a:rPr sz="3600" spc="55" dirty="0">
                <a:solidFill>
                  <a:srgbClr val="2E377E"/>
                </a:solidFill>
                <a:latin typeface="Georgia"/>
                <a:cs typeface="Georgia"/>
              </a:rPr>
              <a:t>create</a:t>
            </a:r>
            <a:r>
              <a:rPr sz="3600" spc="-45" dirty="0">
                <a:solidFill>
                  <a:srgbClr val="2E377E"/>
                </a:solidFill>
                <a:latin typeface="Georgia"/>
                <a:cs typeface="Georgia"/>
              </a:rPr>
              <a:t> </a:t>
            </a:r>
            <a:r>
              <a:rPr sz="3600" dirty="0">
                <a:solidFill>
                  <a:srgbClr val="2E377E"/>
                </a:solidFill>
                <a:latin typeface="Georgia"/>
                <a:cs typeface="Georgia"/>
              </a:rPr>
              <a:t>a</a:t>
            </a:r>
            <a:r>
              <a:rPr sz="3600" spc="-45" dirty="0">
                <a:solidFill>
                  <a:srgbClr val="2E377E"/>
                </a:solidFill>
                <a:latin typeface="Georgia"/>
                <a:cs typeface="Georgia"/>
              </a:rPr>
              <a:t> </a:t>
            </a:r>
            <a:r>
              <a:rPr sz="3600" dirty="0">
                <a:solidFill>
                  <a:srgbClr val="2E377E"/>
                </a:solidFill>
                <a:latin typeface="Georgia"/>
                <a:cs typeface="Georgia"/>
              </a:rPr>
              <a:t>lot</a:t>
            </a:r>
            <a:r>
              <a:rPr sz="3600" spc="-45" dirty="0">
                <a:solidFill>
                  <a:srgbClr val="2E377E"/>
                </a:solidFill>
                <a:latin typeface="Georgia"/>
                <a:cs typeface="Georgia"/>
              </a:rPr>
              <a:t> </a:t>
            </a:r>
            <a:r>
              <a:rPr sz="3600" dirty="0">
                <a:solidFill>
                  <a:srgbClr val="2E377E"/>
                </a:solidFill>
                <a:latin typeface="Georgia"/>
                <a:cs typeface="Georgia"/>
              </a:rPr>
              <a:t>of</a:t>
            </a:r>
            <a:r>
              <a:rPr sz="3600" spc="-45" dirty="0">
                <a:solidFill>
                  <a:srgbClr val="2E377E"/>
                </a:solidFill>
                <a:latin typeface="Georgia"/>
                <a:cs typeface="Georgia"/>
              </a:rPr>
              <a:t> </a:t>
            </a:r>
            <a:r>
              <a:rPr sz="3600" spc="60" dirty="0">
                <a:solidFill>
                  <a:srgbClr val="2E377E"/>
                </a:solidFill>
                <a:latin typeface="Georgia"/>
                <a:cs typeface="Georgia"/>
              </a:rPr>
              <a:t>difficulty</a:t>
            </a:r>
            <a:r>
              <a:rPr sz="3600" spc="-45" dirty="0">
                <a:solidFill>
                  <a:srgbClr val="2E377E"/>
                </a:solidFill>
                <a:latin typeface="Georgia"/>
                <a:cs typeface="Georgia"/>
              </a:rPr>
              <a:t> </a:t>
            </a:r>
            <a:r>
              <a:rPr sz="3600" dirty="0">
                <a:solidFill>
                  <a:srgbClr val="2E377E"/>
                </a:solidFill>
                <a:latin typeface="Georgia"/>
                <a:cs typeface="Georgia"/>
              </a:rPr>
              <a:t>in</a:t>
            </a:r>
            <a:r>
              <a:rPr sz="3600" spc="-45" dirty="0">
                <a:solidFill>
                  <a:srgbClr val="2E377E"/>
                </a:solidFill>
                <a:latin typeface="Georgia"/>
                <a:cs typeface="Georgia"/>
              </a:rPr>
              <a:t> </a:t>
            </a:r>
            <a:r>
              <a:rPr sz="3600" dirty="0">
                <a:solidFill>
                  <a:srgbClr val="2E377E"/>
                </a:solidFill>
                <a:latin typeface="Georgia"/>
                <a:cs typeface="Georgia"/>
              </a:rPr>
              <a:t>Real</a:t>
            </a:r>
            <a:r>
              <a:rPr sz="3600" spc="-45" dirty="0">
                <a:solidFill>
                  <a:srgbClr val="2E377E"/>
                </a:solidFill>
                <a:latin typeface="Georgia"/>
                <a:cs typeface="Georgia"/>
              </a:rPr>
              <a:t> </a:t>
            </a:r>
            <a:r>
              <a:rPr sz="3600" spc="35" dirty="0">
                <a:solidFill>
                  <a:srgbClr val="2E377E"/>
                </a:solidFill>
                <a:latin typeface="Georgia"/>
                <a:cs typeface="Georgia"/>
              </a:rPr>
              <a:t>time</a:t>
            </a:r>
            <a:endParaRPr sz="3600">
              <a:latin typeface="Georgia"/>
              <a:cs typeface="Georgia"/>
            </a:endParaRPr>
          </a:p>
          <a:p>
            <a:pPr>
              <a:lnSpc>
                <a:spcPct val="100000"/>
              </a:lnSpc>
              <a:spcBef>
                <a:spcPts val="1415"/>
              </a:spcBef>
            </a:pPr>
            <a:endParaRPr sz="3600">
              <a:latin typeface="Georgia"/>
              <a:cs typeface="Georgia"/>
            </a:endParaRPr>
          </a:p>
          <a:p>
            <a:pPr marL="12700">
              <a:lnSpc>
                <a:spcPct val="100000"/>
              </a:lnSpc>
              <a:spcBef>
                <a:spcPts val="5"/>
              </a:spcBef>
            </a:pPr>
            <a:r>
              <a:rPr sz="3600" b="1" i="1" spc="-260" dirty="0">
                <a:solidFill>
                  <a:srgbClr val="FF3131"/>
                </a:solidFill>
                <a:latin typeface="Times New Roman"/>
                <a:cs typeface="Times New Roman"/>
              </a:rPr>
              <a:t>NOTE:</a:t>
            </a:r>
            <a:r>
              <a:rPr sz="3600" b="1" i="1" spc="-120" dirty="0">
                <a:solidFill>
                  <a:srgbClr val="FF3131"/>
                </a:solidFill>
                <a:latin typeface="Times New Roman"/>
                <a:cs typeface="Times New Roman"/>
              </a:rPr>
              <a:t> </a:t>
            </a:r>
            <a:r>
              <a:rPr sz="3600" b="1" i="1" spc="120" dirty="0">
                <a:solidFill>
                  <a:srgbClr val="FF3131"/>
                </a:solidFill>
                <a:latin typeface="Times New Roman"/>
                <a:cs typeface="Times New Roman"/>
              </a:rPr>
              <a:t>Self</a:t>
            </a:r>
            <a:r>
              <a:rPr sz="3600" b="1" i="1" spc="-114" dirty="0">
                <a:solidFill>
                  <a:srgbClr val="FF3131"/>
                </a:solidFill>
                <a:latin typeface="Times New Roman"/>
                <a:cs typeface="Times New Roman"/>
              </a:rPr>
              <a:t> </a:t>
            </a:r>
            <a:r>
              <a:rPr sz="3600" b="1" i="1" spc="95" dirty="0">
                <a:solidFill>
                  <a:srgbClr val="FF3131"/>
                </a:solidFill>
                <a:latin typeface="Times New Roman"/>
                <a:cs typeface="Times New Roman"/>
              </a:rPr>
              <a:t>healing</a:t>
            </a:r>
            <a:r>
              <a:rPr sz="3600" b="1" i="1" spc="-114" dirty="0">
                <a:solidFill>
                  <a:srgbClr val="FF3131"/>
                </a:solidFill>
                <a:latin typeface="Times New Roman"/>
                <a:cs typeface="Times New Roman"/>
              </a:rPr>
              <a:t> </a:t>
            </a:r>
            <a:r>
              <a:rPr sz="3600" b="1" i="1" spc="125" dirty="0">
                <a:solidFill>
                  <a:srgbClr val="FF3131"/>
                </a:solidFill>
                <a:latin typeface="Times New Roman"/>
                <a:cs typeface="Times New Roman"/>
              </a:rPr>
              <a:t>is</a:t>
            </a:r>
            <a:r>
              <a:rPr sz="3600" b="1" i="1" spc="-114" dirty="0">
                <a:solidFill>
                  <a:srgbClr val="FF3131"/>
                </a:solidFill>
                <a:latin typeface="Times New Roman"/>
                <a:cs typeface="Times New Roman"/>
              </a:rPr>
              <a:t> </a:t>
            </a:r>
            <a:r>
              <a:rPr sz="3600" b="1" i="1" spc="170" dirty="0">
                <a:solidFill>
                  <a:srgbClr val="FF3131"/>
                </a:solidFill>
                <a:latin typeface="Times New Roman"/>
                <a:cs typeface="Times New Roman"/>
              </a:rPr>
              <a:t>not</a:t>
            </a:r>
            <a:r>
              <a:rPr sz="3600" b="1" i="1" spc="-114" dirty="0">
                <a:solidFill>
                  <a:srgbClr val="FF3131"/>
                </a:solidFill>
                <a:latin typeface="Times New Roman"/>
                <a:cs typeface="Times New Roman"/>
              </a:rPr>
              <a:t> </a:t>
            </a:r>
            <a:r>
              <a:rPr sz="3600" b="1" i="1" spc="85" dirty="0">
                <a:solidFill>
                  <a:srgbClr val="FF3131"/>
                </a:solidFill>
                <a:latin typeface="Times New Roman"/>
                <a:cs typeface="Times New Roman"/>
              </a:rPr>
              <a:t>Avaliable</a:t>
            </a:r>
            <a:r>
              <a:rPr sz="3600" b="1" i="1" spc="-114" dirty="0">
                <a:solidFill>
                  <a:srgbClr val="FF3131"/>
                </a:solidFill>
                <a:latin typeface="Times New Roman"/>
                <a:cs typeface="Times New Roman"/>
              </a:rPr>
              <a:t> </a:t>
            </a:r>
            <a:r>
              <a:rPr sz="3600" b="1" i="1" spc="175" dirty="0">
                <a:solidFill>
                  <a:srgbClr val="FF3131"/>
                </a:solidFill>
                <a:latin typeface="Times New Roman"/>
                <a:cs typeface="Times New Roman"/>
              </a:rPr>
              <a:t>here.</a:t>
            </a:r>
            <a:endParaRPr sz="3600">
              <a:latin typeface="Times New Roman"/>
              <a:cs typeface="Times New Roman"/>
            </a:endParaRPr>
          </a:p>
          <a:p>
            <a:pPr>
              <a:lnSpc>
                <a:spcPct val="100000"/>
              </a:lnSpc>
              <a:spcBef>
                <a:spcPts val="1105"/>
              </a:spcBef>
            </a:pPr>
            <a:endParaRPr sz="3600">
              <a:latin typeface="Times New Roman"/>
              <a:cs typeface="Times New Roman"/>
            </a:endParaRPr>
          </a:p>
          <a:p>
            <a:pPr marL="12700" marR="5080">
              <a:lnSpc>
                <a:spcPct val="116300"/>
              </a:lnSpc>
            </a:pPr>
            <a:r>
              <a:rPr sz="3600" dirty="0">
                <a:solidFill>
                  <a:srgbClr val="2E377E"/>
                </a:solidFill>
                <a:latin typeface="Georgia"/>
                <a:cs typeface="Georgia"/>
              </a:rPr>
              <a:t>To</a:t>
            </a:r>
            <a:r>
              <a:rPr sz="3600" spc="10" dirty="0">
                <a:solidFill>
                  <a:srgbClr val="2E377E"/>
                </a:solidFill>
                <a:latin typeface="Georgia"/>
                <a:cs typeface="Georgia"/>
              </a:rPr>
              <a:t> </a:t>
            </a:r>
            <a:r>
              <a:rPr sz="3600" spc="60" dirty="0">
                <a:solidFill>
                  <a:srgbClr val="2E377E"/>
                </a:solidFill>
                <a:latin typeface="Georgia"/>
                <a:cs typeface="Georgia"/>
              </a:rPr>
              <a:t>overcome</a:t>
            </a:r>
            <a:r>
              <a:rPr sz="3600" spc="10"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a:t>
            </a:r>
            <a:r>
              <a:rPr sz="3600" dirty="0">
                <a:solidFill>
                  <a:srgbClr val="2E377E"/>
                </a:solidFill>
                <a:latin typeface="Georgia"/>
                <a:cs typeface="Georgia"/>
              </a:rPr>
              <a:t>on</a:t>
            </a:r>
            <a:r>
              <a:rPr sz="3600" spc="10"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spc="50" dirty="0">
                <a:solidFill>
                  <a:srgbClr val="2E377E"/>
                </a:solidFill>
                <a:latin typeface="Georgia"/>
                <a:cs typeface="Georgia"/>
              </a:rPr>
              <a:t>use</a:t>
            </a:r>
            <a:r>
              <a:rPr sz="3600" spc="10" dirty="0">
                <a:solidFill>
                  <a:srgbClr val="2E377E"/>
                </a:solidFill>
                <a:latin typeface="Georgia"/>
                <a:cs typeface="Georgia"/>
              </a:rPr>
              <a:t> </a:t>
            </a:r>
            <a:r>
              <a:rPr sz="3600" dirty="0">
                <a:solidFill>
                  <a:srgbClr val="2E377E"/>
                </a:solidFill>
                <a:latin typeface="Georgia"/>
                <a:cs typeface="Georgia"/>
              </a:rPr>
              <a:t>some</a:t>
            </a:r>
            <a:r>
              <a:rPr sz="3600" spc="10" dirty="0">
                <a:solidFill>
                  <a:srgbClr val="2E377E"/>
                </a:solidFill>
                <a:latin typeface="Georgia"/>
                <a:cs typeface="Georgia"/>
              </a:rPr>
              <a:t> </a:t>
            </a:r>
            <a:r>
              <a:rPr sz="3600" spc="45" dirty="0">
                <a:solidFill>
                  <a:srgbClr val="2E377E"/>
                </a:solidFill>
                <a:latin typeface="Georgia"/>
                <a:cs typeface="Georgia"/>
              </a:rPr>
              <a:t>Kubernetes</a:t>
            </a:r>
            <a:r>
              <a:rPr sz="3600" spc="10" dirty="0">
                <a:solidFill>
                  <a:srgbClr val="2E377E"/>
                </a:solidFill>
                <a:latin typeface="Georgia"/>
                <a:cs typeface="Georgia"/>
              </a:rPr>
              <a:t> </a:t>
            </a:r>
            <a:r>
              <a:rPr sz="3600" dirty="0">
                <a:solidFill>
                  <a:srgbClr val="2E377E"/>
                </a:solidFill>
                <a:latin typeface="Georgia"/>
                <a:cs typeface="Georgia"/>
              </a:rPr>
              <a:t>components</a:t>
            </a:r>
            <a:r>
              <a:rPr sz="3600" spc="15" dirty="0">
                <a:solidFill>
                  <a:srgbClr val="2E377E"/>
                </a:solidFill>
                <a:latin typeface="Georgia"/>
                <a:cs typeface="Georgia"/>
              </a:rPr>
              <a:t> </a:t>
            </a:r>
            <a:r>
              <a:rPr sz="3600" dirty="0">
                <a:solidFill>
                  <a:srgbClr val="2E377E"/>
                </a:solidFill>
                <a:latin typeface="Georgia"/>
                <a:cs typeface="Georgia"/>
              </a:rPr>
              <a:t>called</a:t>
            </a:r>
            <a:r>
              <a:rPr sz="3600" spc="10" dirty="0">
                <a:solidFill>
                  <a:srgbClr val="2E377E"/>
                </a:solidFill>
                <a:latin typeface="Georgia"/>
                <a:cs typeface="Georgia"/>
              </a:rPr>
              <a:t> </a:t>
            </a:r>
            <a:r>
              <a:rPr sz="3600" spc="-75" dirty="0">
                <a:solidFill>
                  <a:srgbClr val="2E377E"/>
                </a:solidFill>
                <a:latin typeface="Georgia"/>
                <a:cs typeface="Georgia"/>
              </a:rPr>
              <a:t>RC,</a:t>
            </a:r>
            <a:r>
              <a:rPr sz="3600" spc="10" dirty="0">
                <a:solidFill>
                  <a:srgbClr val="2E377E"/>
                </a:solidFill>
                <a:latin typeface="Georgia"/>
                <a:cs typeface="Georgia"/>
              </a:rPr>
              <a:t> </a:t>
            </a:r>
            <a:r>
              <a:rPr sz="3600" spc="-25" dirty="0">
                <a:solidFill>
                  <a:srgbClr val="2E377E"/>
                </a:solidFill>
                <a:latin typeface="Georgia"/>
                <a:cs typeface="Georgia"/>
              </a:rPr>
              <a:t>RS, </a:t>
            </a:r>
            <a:r>
              <a:rPr sz="3600" spc="-114" dirty="0">
                <a:solidFill>
                  <a:srgbClr val="2E377E"/>
                </a:solidFill>
                <a:latin typeface="Georgia"/>
                <a:cs typeface="Georgia"/>
              </a:rPr>
              <a:t>DEPLOYMENTS,</a:t>
            </a:r>
            <a:r>
              <a:rPr sz="3600" spc="-55" dirty="0">
                <a:solidFill>
                  <a:srgbClr val="2E377E"/>
                </a:solidFill>
                <a:latin typeface="Georgia"/>
                <a:cs typeface="Georgia"/>
              </a:rPr>
              <a:t> </a:t>
            </a:r>
            <a:r>
              <a:rPr sz="3600" spc="-120" dirty="0">
                <a:solidFill>
                  <a:srgbClr val="2E377E"/>
                </a:solidFill>
                <a:latin typeface="Georgia"/>
                <a:cs typeface="Georgia"/>
              </a:rPr>
              <a:t>DAEMON</a:t>
            </a:r>
            <a:r>
              <a:rPr sz="3600" spc="-55" dirty="0">
                <a:solidFill>
                  <a:srgbClr val="2E377E"/>
                </a:solidFill>
                <a:latin typeface="Georgia"/>
                <a:cs typeface="Georgia"/>
              </a:rPr>
              <a:t> </a:t>
            </a:r>
            <a:r>
              <a:rPr sz="3600" spc="-114" dirty="0">
                <a:solidFill>
                  <a:srgbClr val="2E377E"/>
                </a:solidFill>
                <a:latin typeface="Georgia"/>
                <a:cs typeface="Georgia"/>
              </a:rPr>
              <a:t>SETS,</a:t>
            </a:r>
            <a:r>
              <a:rPr sz="3600" spc="-55" dirty="0">
                <a:solidFill>
                  <a:srgbClr val="2E377E"/>
                </a:solidFill>
                <a:latin typeface="Georgia"/>
                <a:cs typeface="Georgia"/>
              </a:rPr>
              <a:t> </a:t>
            </a:r>
            <a:r>
              <a:rPr sz="3600" spc="85" dirty="0">
                <a:solidFill>
                  <a:srgbClr val="2E377E"/>
                </a:solidFill>
                <a:latin typeface="Georgia"/>
                <a:cs typeface="Georgia"/>
              </a:rPr>
              <a:t>etc</a:t>
            </a:r>
            <a:r>
              <a:rPr sz="3600" spc="-55" dirty="0">
                <a:solidFill>
                  <a:srgbClr val="2E377E"/>
                </a:solidFill>
                <a:latin typeface="Georgia"/>
                <a:cs typeface="Georgia"/>
              </a:rPr>
              <a:t> </a:t>
            </a:r>
            <a:r>
              <a:rPr sz="3600" spc="-25" dirty="0">
                <a:solidFill>
                  <a:srgbClr val="2E377E"/>
                </a:solidFill>
                <a:latin typeface="Georgia"/>
                <a:cs typeface="Georgia"/>
              </a:rPr>
              <a:t>...</a:t>
            </a:r>
            <a:endParaRPr sz="3600">
              <a:latin typeface="Georgia"/>
              <a:cs typeface="Georgi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17853" rIns="0" bIns="0" rtlCol="0">
            <a:spAutoFit/>
          </a:bodyPr>
          <a:lstStyle/>
          <a:p>
            <a:pPr marL="78105">
              <a:lnSpc>
                <a:spcPct val="100000"/>
              </a:lnSpc>
              <a:spcBef>
                <a:spcPts val="100"/>
              </a:spcBef>
            </a:pPr>
            <a:r>
              <a:rPr spc="-295" dirty="0">
                <a:solidFill>
                  <a:srgbClr val="FF3131"/>
                </a:solidFill>
              </a:rPr>
              <a:t>REPLICAS</a:t>
            </a:r>
            <a:r>
              <a:rPr spc="-45" dirty="0">
                <a:solidFill>
                  <a:srgbClr val="FF3131"/>
                </a:solidFill>
              </a:rPr>
              <a:t> </a:t>
            </a:r>
            <a:r>
              <a:rPr spc="80" dirty="0">
                <a:solidFill>
                  <a:srgbClr val="FF3131"/>
                </a:solidFill>
              </a:rPr>
              <a:t>IN</a:t>
            </a:r>
            <a:r>
              <a:rPr spc="-40" dirty="0">
                <a:solidFill>
                  <a:srgbClr val="FF3131"/>
                </a:solidFill>
              </a:rPr>
              <a:t> </a:t>
            </a:r>
            <a:r>
              <a:rPr spc="-285" dirty="0">
                <a:solidFill>
                  <a:srgbClr val="FF3131"/>
                </a:solidFill>
              </a:rPr>
              <a:t>KUBERNETES:</a:t>
            </a:r>
          </a:p>
        </p:txBody>
      </p:sp>
      <p:pic>
        <p:nvPicPr>
          <p:cNvPr id="3" name="object 3"/>
          <p:cNvPicPr/>
          <p:nvPr/>
        </p:nvPicPr>
        <p:blipFill>
          <a:blip r:embed="rId2" cstate="print"/>
          <a:stretch>
            <a:fillRect/>
          </a:stretch>
        </p:blipFill>
        <p:spPr>
          <a:xfrm>
            <a:off x="1304372" y="2612338"/>
            <a:ext cx="133350" cy="133349"/>
          </a:xfrm>
          <a:prstGeom prst="rect">
            <a:avLst/>
          </a:prstGeom>
        </p:spPr>
      </p:pic>
      <p:sp>
        <p:nvSpPr>
          <p:cNvPr id="4" name="object 4"/>
          <p:cNvSpPr txBox="1"/>
          <p:nvPr/>
        </p:nvSpPr>
        <p:spPr>
          <a:xfrm>
            <a:off x="1621177" y="2252928"/>
            <a:ext cx="16028035" cy="6407150"/>
          </a:xfrm>
          <a:prstGeom prst="rect">
            <a:avLst/>
          </a:prstGeom>
        </p:spPr>
        <p:txBody>
          <a:bodyPr vert="horz" wrap="square" lIns="0" tIns="12700" rIns="0" bIns="0" rtlCol="0">
            <a:spAutoFit/>
          </a:bodyPr>
          <a:lstStyle/>
          <a:p>
            <a:pPr marL="12700" marR="1009015">
              <a:lnSpc>
                <a:spcPct val="116300"/>
              </a:lnSpc>
              <a:spcBef>
                <a:spcPts val="100"/>
              </a:spcBef>
            </a:pPr>
            <a:r>
              <a:rPr sz="3600" dirty="0">
                <a:solidFill>
                  <a:srgbClr val="2E377E"/>
                </a:solidFill>
                <a:latin typeface="Georgia"/>
                <a:cs typeface="Georgia"/>
              </a:rPr>
              <a:t>Before</a:t>
            </a:r>
            <a:r>
              <a:rPr sz="3600" spc="50" dirty="0">
                <a:solidFill>
                  <a:srgbClr val="2E377E"/>
                </a:solidFill>
                <a:latin typeface="Georgia"/>
                <a:cs typeface="Georgia"/>
              </a:rPr>
              <a:t> </a:t>
            </a:r>
            <a:r>
              <a:rPr sz="3600" dirty="0">
                <a:solidFill>
                  <a:srgbClr val="2E377E"/>
                </a:solidFill>
                <a:latin typeface="Georgia"/>
                <a:cs typeface="Georgia"/>
              </a:rPr>
              <a:t>Kubernetes,</a:t>
            </a:r>
            <a:r>
              <a:rPr sz="3600" spc="55" dirty="0">
                <a:solidFill>
                  <a:srgbClr val="2E377E"/>
                </a:solidFill>
                <a:latin typeface="Georgia"/>
                <a:cs typeface="Georgia"/>
              </a:rPr>
              <a:t> </a:t>
            </a:r>
            <a:r>
              <a:rPr sz="3600" dirty="0">
                <a:solidFill>
                  <a:srgbClr val="2E377E"/>
                </a:solidFill>
                <a:latin typeface="Georgia"/>
                <a:cs typeface="Georgia"/>
              </a:rPr>
              <a:t>other</a:t>
            </a:r>
            <a:r>
              <a:rPr sz="3600" spc="55" dirty="0">
                <a:solidFill>
                  <a:srgbClr val="2E377E"/>
                </a:solidFill>
                <a:latin typeface="Georgia"/>
                <a:cs typeface="Georgia"/>
              </a:rPr>
              <a:t> </a:t>
            </a:r>
            <a:r>
              <a:rPr sz="3600" dirty="0">
                <a:solidFill>
                  <a:srgbClr val="2E377E"/>
                </a:solidFill>
                <a:latin typeface="Georgia"/>
                <a:cs typeface="Georgia"/>
              </a:rPr>
              <a:t>tools</a:t>
            </a:r>
            <a:r>
              <a:rPr sz="3600" spc="55" dirty="0">
                <a:solidFill>
                  <a:srgbClr val="2E377E"/>
                </a:solidFill>
                <a:latin typeface="Georgia"/>
                <a:cs typeface="Georgia"/>
              </a:rPr>
              <a:t> </a:t>
            </a:r>
            <a:r>
              <a:rPr sz="3600" dirty="0">
                <a:solidFill>
                  <a:srgbClr val="2E377E"/>
                </a:solidFill>
                <a:latin typeface="Georgia"/>
                <a:cs typeface="Georgia"/>
              </a:rPr>
              <a:t>did</a:t>
            </a:r>
            <a:r>
              <a:rPr sz="3600" spc="50" dirty="0">
                <a:solidFill>
                  <a:srgbClr val="2E377E"/>
                </a:solidFill>
                <a:latin typeface="Georgia"/>
                <a:cs typeface="Georgia"/>
              </a:rPr>
              <a:t> </a:t>
            </a:r>
            <a:r>
              <a:rPr sz="3600" dirty="0">
                <a:solidFill>
                  <a:srgbClr val="2E377E"/>
                </a:solidFill>
                <a:latin typeface="Georgia"/>
                <a:cs typeface="Georgia"/>
              </a:rPr>
              <a:t>not</a:t>
            </a:r>
            <a:r>
              <a:rPr sz="3600" spc="55" dirty="0">
                <a:solidFill>
                  <a:srgbClr val="2E377E"/>
                </a:solidFill>
                <a:latin typeface="Georgia"/>
                <a:cs typeface="Georgia"/>
              </a:rPr>
              <a:t> </a:t>
            </a:r>
            <a:r>
              <a:rPr sz="3600" dirty="0">
                <a:solidFill>
                  <a:srgbClr val="2E377E"/>
                </a:solidFill>
                <a:latin typeface="Georgia"/>
                <a:cs typeface="Georgia"/>
              </a:rPr>
              <a:t>provide</a:t>
            </a:r>
            <a:r>
              <a:rPr sz="3600" spc="55" dirty="0">
                <a:solidFill>
                  <a:srgbClr val="2E377E"/>
                </a:solidFill>
                <a:latin typeface="Georgia"/>
                <a:cs typeface="Georgia"/>
              </a:rPr>
              <a:t> </a:t>
            </a:r>
            <a:r>
              <a:rPr sz="3600" dirty="0">
                <a:solidFill>
                  <a:srgbClr val="2E377E"/>
                </a:solidFill>
                <a:latin typeface="Georgia"/>
                <a:cs typeface="Georgia"/>
              </a:rPr>
              <a:t>important</a:t>
            </a:r>
            <a:r>
              <a:rPr sz="3600" spc="55" dirty="0">
                <a:solidFill>
                  <a:srgbClr val="2E377E"/>
                </a:solidFill>
                <a:latin typeface="Georgia"/>
                <a:cs typeface="Georgia"/>
              </a:rPr>
              <a:t> </a:t>
            </a:r>
            <a:r>
              <a:rPr sz="3600" dirty="0">
                <a:solidFill>
                  <a:srgbClr val="2E377E"/>
                </a:solidFill>
                <a:latin typeface="Georgia"/>
                <a:cs typeface="Georgia"/>
              </a:rPr>
              <a:t>and</a:t>
            </a:r>
            <a:r>
              <a:rPr sz="3600" spc="50" dirty="0">
                <a:solidFill>
                  <a:srgbClr val="2E377E"/>
                </a:solidFill>
                <a:latin typeface="Georgia"/>
                <a:cs typeface="Georgia"/>
              </a:rPr>
              <a:t> </a:t>
            </a:r>
            <a:r>
              <a:rPr sz="3600" spc="35" dirty="0">
                <a:solidFill>
                  <a:srgbClr val="2E377E"/>
                </a:solidFill>
                <a:latin typeface="Georgia"/>
                <a:cs typeface="Georgia"/>
              </a:rPr>
              <a:t>customized </a:t>
            </a:r>
            <a:r>
              <a:rPr sz="3600" dirty="0">
                <a:solidFill>
                  <a:srgbClr val="2E377E"/>
                </a:solidFill>
                <a:latin typeface="Georgia"/>
                <a:cs typeface="Georgia"/>
              </a:rPr>
              <a:t>features</a:t>
            </a:r>
            <a:r>
              <a:rPr sz="3600" spc="40" dirty="0">
                <a:solidFill>
                  <a:srgbClr val="2E377E"/>
                </a:solidFill>
                <a:latin typeface="Georgia"/>
                <a:cs typeface="Georgia"/>
              </a:rPr>
              <a:t> </a:t>
            </a:r>
            <a:r>
              <a:rPr sz="3600" dirty="0">
                <a:solidFill>
                  <a:srgbClr val="2E377E"/>
                </a:solidFill>
                <a:latin typeface="Georgia"/>
                <a:cs typeface="Georgia"/>
              </a:rPr>
              <a:t>like</a:t>
            </a:r>
            <a:r>
              <a:rPr sz="3600" spc="45" dirty="0">
                <a:solidFill>
                  <a:srgbClr val="2E377E"/>
                </a:solidFill>
                <a:latin typeface="Georgia"/>
                <a:cs typeface="Georgia"/>
              </a:rPr>
              <a:t> </a:t>
            </a:r>
            <a:r>
              <a:rPr sz="3600" dirty="0">
                <a:solidFill>
                  <a:srgbClr val="2E377E"/>
                </a:solidFill>
                <a:latin typeface="Georgia"/>
                <a:cs typeface="Georgia"/>
              </a:rPr>
              <a:t>scaling</a:t>
            </a:r>
            <a:r>
              <a:rPr sz="3600" spc="45" dirty="0">
                <a:solidFill>
                  <a:srgbClr val="2E377E"/>
                </a:solidFill>
                <a:latin typeface="Georgia"/>
                <a:cs typeface="Georgia"/>
              </a:rPr>
              <a:t> </a:t>
            </a:r>
            <a:r>
              <a:rPr sz="3600" dirty="0">
                <a:solidFill>
                  <a:srgbClr val="2E377E"/>
                </a:solidFill>
                <a:latin typeface="Georgia"/>
                <a:cs typeface="Georgia"/>
              </a:rPr>
              <a:t>and</a:t>
            </a:r>
            <a:r>
              <a:rPr sz="3600" spc="45" dirty="0">
                <a:solidFill>
                  <a:srgbClr val="2E377E"/>
                </a:solidFill>
                <a:latin typeface="Georgia"/>
                <a:cs typeface="Georgia"/>
              </a:rPr>
              <a:t> </a:t>
            </a:r>
            <a:r>
              <a:rPr sz="3600" spc="-10" dirty="0">
                <a:solidFill>
                  <a:srgbClr val="2E377E"/>
                </a:solidFill>
                <a:latin typeface="Georgia"/>
                <a:cs typeface="Georgia"/>
              </a:rPr>
              <a:t>replication.</a:t>
            </a:r>
            <a:endParaRPr sz="3600">
              <a:latin typeface="Georgia"/>
              <a:cs typeface="Georgia"/>
            </a:endParaRPr>
          </a:p>
          <a:p>
            <a:pPr marL="12700" marR="285750">
              <a:lnSpc>
                <a:spcPct val="116300"/>
              </a:lnSpc>
            </a:pPr>
            <a:r>
              <a:rPr sz="3600" dirty="0">
                <a:solidFill>
                  <a:srgbClr val="2E377E"/>
                </a:solidFill>
                <a:latin typeface="Georgia"/>
                <a:cs typeface="Georgia"/>
              </a:rPr>
              <a:t>When</a:t>
            </a:r>
            <a:r>
              <a:rPr sz="3600" spc="20" dirty="0">
                <a:solidFill>
                  <a:srgbClr val="2E377E"/>
                </a:solidFill>
                <a:latin typeface="Georgia"/>
                <a:cs typeface="Georgia"/>
              </a:rPr>
              <a:t> </a:t>
            </a:r>
            <a:r>
              <a:rPr sz="3600" spc="45" dirty="0">
                <a:solidFill>
                  <a:srgbClr val="2E377E"/>
                </a:solidFill>
                <a:latin typeface="Georgia"/>
                <a:cs typeface="Georgia"/>
              </a:rPr>
              <a:t>Kubernetes</a:t>
            </a:r>
            <a:r>
              <a:rPr sz="3600" spc="25" dirty="0">
                <a:solidFill>
                  <a:srgbClr val="2E377E"/>
                </a:solidFill>
                <a:latin typeface="Georgia"/>
                <a:cs typeface="Georgia"/>
              </a:rPr>
              <a:t> </a:t>
            </a:r>
            <a:r>
              <a:rPr sz="3600" spc="75" dirty="0">
                <a:solidFill>
                  <a:srgbClr val="2E377E"/>
                </a:solidFill>
                <a:latin typeface="Georgia"/>
                <a:cs typeface="Georgia"/>
              </a:rPr>
              <a:t>was</a:t>
            </a:r>
            <a:r>
              <a:rPr sz="3600" spc="25" dirty="0">
                <a:solidFill>
                  <a:srgbClr val="2E377E"/>
                </a:solidFill>
                <a:latin typeface="Georgia"/>
                <a:cs typeface="Georgia"/>
              </a:rPr>
              <a:t> </a:t>
            </a:r>
            <a:r>
              <a:rPr sz="3600" dirty="0">
                <a:solidFill>
                  <a:srgbClr val="2E377E"/>
                </a:solidFill>
                <a:latin typeface="Georgia"/>
                <a:cs typeface="Georgia"/>
              </a:rPr>
              <a:t>introduced,</a:t>
            </a:r>
            <a:r>
              <a:rPr sz="3600" spc="25" dirty="0">
                <a:solidFill>
                  <a:srgbClr val="2E377E"/>
                </a:solidFill>
                <a:latin typeface="Georgia"/>
                <a:cs typeface="Georgia"/>
              </a:rPr>
              <a:t> </a:t>
            </a:r>
            <a:r>
              <a:rPr sz="3600" dirty="0">
                <a:solidFill>
                  <a:srgbClr val="2E377E"/>
                </a:solidFill>
                <a:latin typeface="Georgia"/>
                <a:cs typeface="Georgia"/>
              </a:rPr>
              <a:t>replication</a:t>
            </a:r>
            <a:r>
              <a:rPr sz="3600" spc="25" dirty="0">
                <a:solidFill>
                  <a:srgbClr val="2E377E"/>
                </a:solidFill>
                <a:latin typeface="Georgia"/>
                <a:cs typeface="Georgia"/>
              </a:rPr>
              <a:t> </a:t>
            </a:r>
            <a:r>
              <a:rPr sz="3600" dirty="0">
                <a:solidFill>
                  <a:srgbClr val="2E377E"/>
                </a:solidFill>
                <a:latin typeface="Georgia"/>
                <a:cs typeface="Georgia"/>
              </a:rPr>
              <a:t>and</a:t>
            </a:r>
            <a:r>
              <a:rPr sz="3600" spc="25" dirty="0">
                <a:solidFill>
                  <a:srgbClr val="2E377E"/>
                </a:solidFill>
                <a:latin typeface="Georgia"/>
                <a:cs typeface="Georgia"/>
              </a:rPr>
              <a:t> </a:t>
            </a:r>
            <a:r>
              <a:rPr sz="3600" dirty="0">
                <a:solidFill>
                  <a:srgbClr val="2E377E"/>
                </a:solidFill>
                <a:latin typeface="Georgia"/>
                <a:cs typeface="Georgia"/>
              </a:rPr>
              <a:t>scaling</a:t>
            </a:r>
            <a:r>
              <a:rPr sz="3600" spc="25" dirty="0">
                <a:solidFill>
                  <a:srgbClr val="2E377E"/>
                </a:solidFill>
                <a:latin typeface="Georgia"/>
                <a:cs typeface="Georgia"/>
              </a:rPr>
              <a:t> </a:t>
            </a:r>
            <a:r>
              <a:rPr sz="3600" spc="95" dirty="0">
                <a:solidFill>
                  <a:srgbClr val="2E377E"/>
                </a:solidFill>
                <a:latin typeface="Georgia"/>
                <a:cs typeface="Georgia"/>
              </a:rPr>
              <a:t>were</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spc="-10" dirty="0">
                <a:solidFill>
                  <a:srgbClr val="2E377E"/>
                </a:solidFill>
                <a:latin typeface="Georgia"/>
                <a:cs typeface="Georgia"/>
              </a:rPr>
              <a:t>premium </a:t>
            </a:r>
            <a:r>
              <a:rPr sz="3600" spc="55" dirty="0">
                <a:solidFill>
                  <a:srgbClr val="2E377E"/>
                </a:solidFill>
                <a:latin typeface="Georgia"/>
                <a:cs typeface="Georgia"/>
              </a:rPr>
              <a:t>features</a:t>
            </a:r>
            <a:r>
              <a:rPr sz="3600" spc="95" dirty="0">
                <a:solidFill>
                  <a:srgbClr val="2E377E"/>
                </a:solidFill>
                <a:latin typeface="Georgia"/>
                <a:cs typeface="Georgia"/>
              </a:rPr>
              <a:t> </a:t>
            </a:r>
            <a:r>
              <a:rPr sz="3600" spc="55" dirty="0">
                <a:solidFill>
                  <a:srgbClr val="2E377E"/>
                </a:solidFill>
                <a:latin typeface="Georgia"/>
                <a:cs typeface="Georgia"/>
              </a:rPr>
              <a:t>that</a:t>
            </a:r>
            <a:r>
              <a:rPr sz="3600" spc="100" dirty="0">
                <a:solidFill>
                  <a:srgbClr val="2E377E"/>
                </a:solidFill>
                <a:latin typeface="Georgia"/>
                <a:cs typeface="Georgia"/>
              </a:rPr>
              <a:t> </a:t>
            </a:r>
            <a:r>
              <a:rPr sz="3600" dirty="0">
                <a:solidFill>
                  <a:srgbClr val="2E377E"/>
                </a:solidFill>
                <a:latin typeface="Georgia"/>
                <a:cs typeface="Georgia"/>
              </a:rPr>
              <a:t>increased</a:t>
            </a:r>
            <a:r>
              <a:rPr sz="3600" spc="100" dirty="0">
                <a:solidFill>
                  <a:srgbClr val="2E377E"/>
                </a:solidFill>
                <a:latin typeface="Georgia"/>
                <a:cs typeface="Georgia"/>
              </a:rPr>
              <a:t> </a:t>
            </a:r>
            <a:r>
              <a:rPr sz="3600" spc="60" dirty="0">
                <a:solidFill>
                  <a:srgbClr val="2E377E"/>
                </a:solidFill>
                <a:latin typeface="Georgia"/>
                <a:cs typeface="Georgia"/>
              </a:rPr>
              <a:t>the</a:t>
            </a:r>
            <a:r>
              <a:rPr sz="3600" spc="100" dirty="0">
                <a:solidFill>
                  <a:srgbClr val="2E377E"/>
                </a:solidFill>
                <a:latin typeface="Georgia"/>
                <a:cs typeface="Georgia"/>
              </a:rPr>
              <a:t> </a:t>
            </a:r>
            <a:r>
              <a:rPr sz="3600" spc="45" dirty="0">
                <a:solidFill>
                  <a:srgbClr val="2E377E"/>
                </a:solidFill>
                <a:latin typeface="Georgia"/>
                <a:cs typeface="Georgia"/>
              </a:rPr>
              <a:t>popularity</a:t>
            </a:r>
            <a:r>
              <a:rPr sz="3600" spc="100" dirty="0">
                <a:solidFill>
                  <a:srgbClr val="2E377E"/>
                </a:solidFill>
                <a:latin typeface="Georgia"/>
                <a:cs typeface="Georgia"/>
              </a:rPr>
              <a:t> </a:t>
            </a:r>
            <a:r>
              <a:rPr sz="3600" dirty="0">
                <a:solidFill>
                  <a:srgbClr val="2E377E"/>
                </a:solidFill>
                <a:latin typeface="Georgia"/>
                <a:cs typeface="Georgia"/>
              </a:rPr>
              <a:t>of</a:t>
            </a:r>
            <a:r>
              <a:rPr sz="3600" spc="95" dirty="0">
                <a:solidFill>
                  <a:srgbClr val="2E377E"/>
                </a:solidFill>
                <a:latin typeface="Georgia"/>
                <a:cs typeface="Georgia"/>
              </a:rPr>
              <a:t> </a:t>
            </a:r>
            <a:r>
              <a:rPr sz="3600" dirty="0">
                <a:solidFill>
                  <a:srgbClr val="2E377E"/>
                </a:solidFill>
                <a:latin typeface="Georgia"/>
                <a:cs typeface="Georgia"/>
              </a:rPr>
              <a:t>this</a:t>
            </a:r>
            <a:r>
              <a:rPr sz="3600" spc="100" dirty="0">
                <a:solidFill>
                  <a:srgbClr val="2E377E"/>
                </a:solidFill>
                <a:latin typeface="Georgia"/>
                <a:cs typeface="Georgia"/>
              </a:rPr>
              <a:t> </a:t>
            </a:r>
            <a:r>
              <a:rPr sz="3600" dirty="0">
                <a:solidFill>
                  <a:srgbClr val="2E377E"/>
                </a:solidFill>
                <a:latin typeface="Georgia"/>
                <a:cs typeface="Georgia"/>
              </a:rPr>
              <a:t>container</a:t>
            </a:r>
            <a:r>
              <a:rPr sz="3600" spc="100" dirty="0">
                <a:solidFill>
                  <a:srgbClr val="2E377E"/>
                </a:solidFill>
                <a:latin typeface="Georgia"/>
                <a:cs typeface="Georgia"/>
              </a:rPr>
              <a:t> </a:t>
            </a:r>
            <a:r>
              <a:rPr sz="3600" dirty="0">
                <a:solidFill>
                  <a:srgbClr val="2E377E"/>
                </a:solidFill>
                <a:latin typeface="Georgia"/>
                <a:cs typeface="Georgia"/>
              </a:rPr>
              <a:t>orchestration</a:t>
            </a:r>
            <a:r>
              <a:rPr sz="3600" spc="100" dirty="0">
                <a:solidFill>
                  <a:srgbClr val="2E377E"/>
                </a:solidFill>
                <a:latin typeface="Georgia"/>
                <a:cs typeface="Georgia"/>
              </a:rPr>
              <a:t> </a:t>
            </a:r>
            <a:r>
              <a:rPr sz="3600" spc="-20" dirty="0">
                <a:solidFill>
                  <a:srgbClr val="2E377E"/>
                </a:solidFill>
                <a:latin typeface="Georgia"/>
                <a:cs typeface="Georgia"/>
              </a:rPr>
              <a:t>tool.</a:t>
            </a:r>
            <a:endParaRPr sz="3600">
              <a:latin typeface="Georgia"/>
              <a:cs typeface="Georgia"/>
            </a:endParaRPr>
          </a:p>
          <a:p>
            <a:pPr marL="12700" marR="5080">
              <a:lnSpc>
                <a:spcPct val="116300"/>
              </a:lnSpc>
            </a:pPr>
            <a:r>
              <a:rPr sz="3600" dirty="0">
                <a:solidFill>
                  <a:srgbClr val="2E377E"/>
                </a:solidFill>
                <a:latin typeface="Georgia"/>
                <a:cs typeface="Georgia"/>
              </a:rPr>
              <a:t>Replication</a:t>
            </a:r>
            <a:r>
              <a:rPr sz="3600" spc="-15" dirty="0">
                <a:solidFill>
                  <a:srgbClr val="2E377E"/>
                </a:solidFill>
                <a:latin typeface="Georgia"/>
                <a:cs typeface="Georgia"/>
              </a:rPr>
              <a:t> </a:t>
            </a:r>
            <a:r>
              <a:rPr sz="3600" dirty="0">
                <a:solidFill>
                  <a:srgbClr val="2E377E"/>
                </a:solidFill>
                <a:latin typeface="Georgia"/>
                <a:cs typeface="Georgia"/>
              </a:rPr>
              <a:t>means</a:t>
            </a:r>
            <a:r>
              <a:rPr sz="3600" spc="-15" dirty="0">
                <a:solidFill>
                  <a:srgbClr val="2E377E"/>
                </a:solidFill>
                <a:latin typeface="Georgia"/>
                <a:cs typeface="Georgia"/>
              </a:rPr>
              <a:t> </a:t>
            </a:r>
            <a:r>
              <a:rPr sz="3600" spc="55" dirty="0">
                <a:solidFill>
                  <a:srgbClr val="2E377E"/>
                </a:solidFill>
                <a:latin typeface="Georgia"/>
                <a:cs typeface="Georgia"/>
              </a:rPr>
              <a:t>that</a:t>
            </a:r>
            <a:r>
              <a:rPr sz="3600" spc="-15" dirty="0">
                <a:solidFill>
                  <a:srgbClr val="2E377E"/>
                </a:solidFill>
                <a:latin typeface="Georgia"/>
                <a:cs typeface="Georgia"/>
              </a:rPr>
              <a:t> </a:t>
            </a:r>
            <a:r>
              <a:rPr sz="3600" dirty="0">
                <a:solidFill>
                  <a:srgbClr val="2E377E"/>
                </a:solidFill>
                <a:latin typeface="Georgia"/>
                <a:cs typeface="Georgia"/>
              </a:rPr>
              <a:t>if</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pod's</a:t>
            </a:r>
            <a:r>
              <a:rPr sz="3600" spc="-15" dirty="0">
                <a:solidFill>
                  <a:srgbClr val="2E377E"/>
                </a:solidFill>
                <a:latin typeface="Georgia"/>
                <a:cs typeface="Georgia"/>
              </a:rPr>
              <a:t> </a:t>
            </a:r>
            <a:r>
              <a:rPr sz="3600" dirty="0">
                <a:solidFill>
                  <a:srgbClr val="2E377E"/>
                </a:solidFill>
                <a:latin typeface="Georgia"/>
                <a:cs typeface="Georgia"/>
              </a:rPr>
              <a:t>desired</a:t>
            </a:r>
            <a:r>
              <a:rPr sz="3600" spc="-10" dirty="0">
                <a:solidFill>
                  <a:srgbClr val="2E377E"/>
                </a:solidFill>
                <a:latin typeface="Georgia"/>
                <a:cs typeface="Georgia"/>
              </a:rPr>
              <a:t> </a:t>
            </a:r>
            <a:r>
              <a:rPr sz="3600" spc="65" dirty="0">
                <a:solidFill>
                  <a:srgbClr val="2E377E"/>
                </a:solidFill>
                <a:latin typeface="Georgia"/>
                <a:cs typeface="Georgia"/>
              </a:rPr>
              <a:t>state</a:t>
            </a:r>
            <a:r>
              <a:rPr sz="3600" spc="-15" dirty="0">
                <a:solidFill>
                  <a:srgbClr val="2E377E"/>
                </a:solidFill>
                <a:latin typeface="Georgia"/>
                <a:cs typeface="Georgia"/>
              </a:rPr>
              <a:t> </a:t>
            </a:r>
            <a:r>
              <a:rPr sz="3600" dirty="0">
                <a:solidFill>
                  <a:srgbClr val="2E377E"/>
                </a:solidFill>
                <a:latin typeface="Georgia"/>
                <a:cs typeface="Georgia"/>
              </a:rPr>
              <a:t>is</a:t>
            </a:r>
            <a:r>
              <a:rPr sz="3600" spc="-15" dirty="0">
                <a:solidFill>
                  <a:srgbClr val="2E377E"/>
                </a:solidFill>
                <a:latin typeface="Georgia"/>
                <a:cs typeface="Georgia"/>
              </a:rPr>
              <a:t> </a:t>
            </a:r>
            <a:r>
              <a:rPr sz="3600" spc="70" dirty="0">
                <a:solidFill>
                  <a:srgbClr val="2E377E"/>
                </a:solidFill>
                <a:latin typeface="Georgia"/>
                <a:cs typeface="Georgia"/>
              </a:rPr>
              <a:t>set</a:t>
            </a:r>
            <a:r>
              <a:rPr sz="3600" spc="-10"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spc="-245" dirty="0">
                <a:solidFill>
                  <a:srgbClr val="2E377E"/>
                </a:solidFill>
                <a:latin typeface="Georgia"/>
                <a:cs typeface="Georgia"/>
              </a:rPr>
              <a:t>3</a:t>
            </a:r>
            <a:r>
              <a:rPr sz="3600" spc="-15" dirty="0">
                <a:solidFill>
                  <a:srgbClr val="2E377E"/>
                </a:solidFill>
                <a:latin typeface="Georgia"/>
                <a:cs typeface="Georgia"/>
              </a:rPr>
              <a:t> </a:t>
            </a:r>
            <a:r>
              <a:rPr sz="3600" dirty="0">
                <a:solidFill>
                  <a:srgbClr val="2E377E"/>
                </a:solidFill>
                <a:latin typeface="Georgia"/>
                <a:cs typeface="Georgia"/>
              </a:rPr>
              <a:t>and</a:t>
            </a:r>
            <a:r>
              <a:rPr sz="3600" spc="-10" dirty="0">
                <a:solidFill>
                  <a:srgbClr val="2E377E"/>
                </a:solidFill>
                <a:latin typeface="Georgia"/>
                <a:cs typeface="Georgia"/>
              </a:rPr>
              <a:t> </a:t>
            </a:r>
            <a:r>
              <a:rPr sz="3600" spc="80" dirty="0">
                <a:solidFill>
                  <a:srgbClr val="2E377E"/>
                </a:solidFill>
                <a:latin typeface="Georgia"/>
                <a:cs typeface="Georgia"/>
              </a:rPr>
              <a:t>whenever</a:t>
            </a:r>
            <a:r>
              <a:rPr sz="3600" spc="-15" dirty="0">
                <a:solidFill>
                  <a:srgbClr val="2E377E"/>
                </a:solidFill>
                <a:latin typeface="Georgia"/>
                <a:cs typeface="Georgia"/>
              </a:rPr>
              <a:t> </a:t>
            </a:r>
            <a:r>
              <a:rPr sz="3600" spc="40" dirty="0">
                <a:solidFill>
                  <a:srgbClr val="2E377E"/>
                </a:solidFill>
                <a:latin typeface="Georgia"/>
                <a:cs typeface="Georgia"/>
              </a:rPr>
              <a:t>any </a:t>
            </a:r>
            <a:r>
              <a:rPr sz="3600" dirty="0">
                <a:solidFill>
                  <a:srgbClr val="2E377E"/>
                </a:solidFill>
                <a:latin typeface="Georgia"/>
                <a:cs typeface="Georgia"/>
              </a:rPr>
              <a:t>pod</a:t>
            </a:r>
            <a:r>
              <a:rPr sz="3600" spc="-30" dirty="0">
                <a:solidFill>
                  <a:srgbClr val="2E377E"/>
                </a:solidFill>
                <a:latin typeface="Georgia"/>
                <a:cs typeface="Georgia"/>
              </a:rPr>
              <a:t> </a:t>
            </a:r>
            <a:r>
              <a:rPr sz="3600" dirty="0">
                <a:solidFill>
                  <a:srgbClr val="2E377E"/>
                </a:solidFill>
                <a:latin typeface="Georgia"/>
                <a:cs typeface="Georgia"/>
              </a:rPr>
              <a:t>fails,</a:t>
            </a:r>
            <a:r>
              <a:rPr sz="3600" spc="-25" dirty="0">
                <a:solidFill>
                  <a:srgbClr val="2E377E"/>
                </a:solidFill>
                <a:latin typeface="Georgia"/>
                <a:cs typeface="Georgia"/>
              </a:rPr>
              <a:t> </a:t>
            </a:r>
            <a:r>
              <a:rPr sz="3600" spc="50" dirty="0">
                <a:solidFill>
                  <a:srgbClr val="2E377E"/>
                </a:solidFill>
                <a:latin typeface="Georgia"/>
                <a:cs typeface="Georgia"/>
              </a:rPr>
              <a:t>then</a:t>
            </a:r>
            <a:r>
              <a:rPr sz="3600" spc="-30" dirty="0">
                <a:solidFill>
                  <a:srgbClr val="2E377E"/>
                </a:solidFill>
                <a:latin typeface="Georgia"/>
                <a:cs typeface="Georgia"/>
              </a:rPr>
              <a:t> </a:t>
            </a:r>
            <a:r>
              <a:rPr sz="3600" spc="85" dirty="0">
                <a:solidFill>
                  <a:srgbClr val="2E377E"/>
                </a:solidFill>
                <a:latin typeface="Georgia"/>
                <a:cs typeface="Georgia"/>
              </a:rPr>
              <a:t>with</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help</a:t>
            </a:r>
            <a:r>
              <a:rPr sz="3600" spc="-30"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dirty="0">
                <a:solidFill>
                  <a:srgbClr val="2E377E"/>
                </a:solidFill>
                <a:latin typeface="Georgia"/>
                <a:cs typeface="Georgia"/>
              </a:rPr>
              <a:t>replication,</a:t>
            </a:r>
            <a:r>
              <a:rPr sz="3600" spc="-30"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spc="100" dirty="0">
                <a:solidFill>
                  <a:srgbClr val="2E377E"/>
                </a:solidFill>
                <a:latin typeface="Georgia"/>
                <a:cs typeface="Georgia"/>
              </a:rPr>
              <a:t>new</a:t>
            </a:r>
            <a:r>
              <a:rPr sz="3600" spc="-25" dirty="0">
                <a:solidFill>
                  <a:srgbClr val="2E377E"/>
                </a:solidFill>
                <a:latin typeface="Georgia"/>
                <a:cs typeface="Georgia"/>
              </a:rPr>
              <a:t> </a:t>
            </a:r>
            <a:r>
              <a:rPr sz="3600" dirty="0">
                <a:solidFill>
                  <a:srgbClr val="2E377E"/>
                </a:solidFill>
                <a:latin typeface="Georgia"/>
                <a:cs typeface="Georgia"/>
              </a:rPr>
              <a:t>pod</a:t>
            </a:r>
            <a:r>
              <a:rPr sz="3600" spc="-30" dirty="0">
                <a:solidFill>
                  <a:srgbClr val="2E377E"/>
                </a:solidFill>
                <a:latin typeface="Georgia"/>
                <a:cs typeface="Georgia"/>
              </a:rPr>
              <a:t> </a:t>
            </a:r>
            <a:r>
              <a:rPr sz="3600" spc="55" dirty="0">
                <a:solidFill>
                  <a:srgbClr val="2E377E"/>
                </a:solidFill>
                <a:latin typeface="Georgia"/>
                <a:cs typeface="Georgia"/>
              </a:rPr>
              <a:t>will</a:t>
            </a:r>
            <a:r>
              <a:rPr sz="3600" spc="-25" dirty="0">
                <a:solidFill>
                  <a:srgbClr val="2E377E"/>
                </a:solidFill>
                <a:latin typeface="Georgia"/>
                <a:cs typeface="Georgia"/>
              </a:rPr>
              <a:t> </a:t>
            </a:r>
            <a:r>
              <a:rPr sz="3600" dirty="0">
                <a:solidFill>
                  <a:srgbClr val="2E377E"/>
                </a:solidFill>
                <a:latin typeface="Georgia"/>
                <a:cs typeface="Georgia"/>
              </a:rPr>
              <a:t>be</a:t>
            </a:r>
            <a:r>
              <a:rPr sz="3600" spc="-30" dirty="0">
                <a:solidFill>
                  <a:srgbClr val="2E377E"/>
                </a:solidFill>
                <a:latin typeface="Georgia"/>
                <a:cs typeface="Georgia"/>
              </a:rPr>
              <a:t> </a:t>
            </a:r>
            <a:r>
              <a:rPr sz="3600" spc="50" dirty="0">
                <a:solidFill>
                  <a:srgbClr val="2E377E"/>
                </a:solidFill>
                <a:latin typeface="Georgia"/>
                <a:cs typeface="Georgia"/>
              </a:rPr>
              <a:t>created</a:t>
            </a:r>
            <a:r>
              <a:rPr sz="3600" spc="-25" dirty="0">
                <a:solidFill>
                  <a:srgbClr val="2E377E"/>
                </a:solidFill>
                <a:latin typeface="Georgia"/>
                <a:cs typeface="Georgia"/>
              </a:rPr>
              <a:t> </a:t>
            </a:r>
            <a:r>
              <a:rPr sz="3600" dirty="0">
                <a:solidFill>
                  <a:srgbClr val="2E377E"/>
                </a:solidFill>
                <a:latin typeface="Georgia"/>
                <a:cs typeface="Georgia"/>
              </a:rPr>
              <a:t>as</a:t>
            </a:r>
            <a:r>
              <a:rPr sz="3600" spc="-25" dirty="0">
                <a:solidFill>
                  <a:srgbClr val="2E377E"/>
                </a:solidFill>
                <a:latin typeface="Georgia"/>
                <a:cs typeface="Georgia"/>
              </a:rPr>
              <a:t> </a:t>
            </a:r>
            <a:r>
              <a:rPr sz="3600" spc="-20" dirty="0">
                <a:solidFill>
                  <a:srgbClr val="2E377E"/>
                </a:solidFill>
                <a:latin typeface="Georgia"/>
                <a:cs typeface="Georgia"/>
              </a:rPr>
              <a:t>soon </a:t>
            </a:r>
            <a:r>
              <a:rPr sz="3600" dirty="0">
                <a:solidFill>
                  <a:srgbClr val="2E377E"/>
                </a:solidFill>
                <a:latin typeface="Georgia"/>
                <a:cs typeface="Georgia"/>
              </a:rPr>
              <a:t>as</a:t>
            </a:r>
            <a:r>
              <a:rPr sz="3600" spc="-55" dirty="0">
                <a:solidFill>
                  <a:srgbClr val="2E377E"/>
                </a:solidFill>
                <a:latin typeface="Georgia"/>
                <a:cs typeface="Georgia"/>
              </a:rPr>
              <a:t> </a:t>
            </a:r>
            <a:r>
              <a:rPr sz="3600" dirty="0">
                <a:solidFill>
                  <a:srgbClr val="2E377E"/>
                </a:solidFill>
                <a:latin typeface="Georgia"/>
                <a:cs typeface="Georgia"/>
              </a:rPr>
              <a:t>possible.</a:t>
            </a:r>
            <a:r>
              <a:rPr sz="3600" spc="-50" dirty="0">
                <a:solidFill>
                  <a:srgbClr val="2E377E"/>
                </a:solidFill>
                <a:latin typeface="Georgia"/>
                <a:cs typeface="Georgia"/>
              </a:rPr>
              <a:t> </a:t>
            </a:r>
            <a:r>
              <a:rPr sz="3600" dirty="0">
                <a:solidFill>
                  <a:srgbClr val="2E377E"/>
                </a:solidFill>
                <a:latin typeface="Georgia"/>
                <a:cs typeface="Georgia"/>
              </a:rPr>
              <a:t>This</a:t>
            </a:r>
            <a:r>
              <a:rPr sz="3600" spc="-50" dirty="0">
                <a:solidFill>
                  <a:srgbClr val="2E377E"/>
                </a:solidFill>
                <a:latin typeface="Georgia"/>
                <a:cs typeface="Georgia"/>
              </a:rPr>
              <a:t> </a:t>
            </a:r>
            <a:r>
              <a:rPr sz="3600" spc="55" dirty="0">
                <a:solidFill>
                  <a:srgbClr val="2E377E"/>
                </a:solidFill>
                <a:latin typeface="Georgia"/>
                <a:cs typeface="Georgia"/>
              </a:rPr>
              <a:t>will</a:t>
            </a:r>
            <a:r>
              <a:rPr sz="3600" spc="-55" dirty="0">
                <a:solidFill>
                  <a:srgbClr val="2E377E"/>
                </a:solidFill>
                <a:latin typeface="Georgia"/>
                <a:cs typeface="Georgia"/>
              </a:rPr>
              <a:t> </a:t>
            </a:r>
            <a:r>
              <a:rPr sz="3600" dirty="0">
                <a:solidFill>
                  <a:srgbClr val="2E377E"/>
                </a:solidFill>
                <a:latin typeface="Georgia"/>
                <a:cs typeface="Georgia"/>
              </a:rPr>
              <a:t>lead</a:t>
            </a:r>
            <a:r>
              <a:rPr sz="3600" spc="-50" dirty="0">
                <a:solidFill>
                  <a:srgbClr val="2E377E"/>
                </a:solidFill>
                <a:latin typeface="Georgia"/>
                <a:cs typeface="Georgia"/>
              </a:rPr>
              <a:t> </a:t>
            </a:r>
            <a:r>
              <a:rPr sz="3600" spc="70" dirty="0">
                <a:solidFill>
                  <a:srgbClr val="2E377E"/>
                </a:solidFill>
                <a:latin typeface="Georgia"/>
                <a:cs typeface="Georgia"/>
              </a:rPr>
              <a:t>to</a:t>
            </a:r>
            <a:r>
              <a:rPr sz="3600" spc="-50" dirty="0">
                <a:solidFill>
                  <a:srgbClr val="2E377E"/>
                </a:solidFill>
                <a:latin typeface="Georgia"/>
                <a:cs typeface="Georgia"/>
              </a:rPr>
              <a:t> </a:t>
            </a:r>
            <a:r>
              <a:rPr sz="3600" dirty="0">
                <a:solidFill>
                  <a:srgbClr val="2E377E"/>
                </a:solidFill>
                <a:latin typeface="Georgia"/>
                <a:cs typeface="Georgia"/>
              </a:rPr>
              <a:t>a</a:t>
            </a:r>
            <a:r>
              <a:rPr sz="3600" spc="-55" dirty="0">
                <a:solidFill>
                  <a:srgbClr val="2E377E"/>
                </a:solidFill>
                <a:latin typeface="Georgia"/>
                <a:cs typeface="Georgia"/>
              </a:rPr>
              <a:t> </a:t>
            </a:r>
            <a:r>
              <a:rPr sz="3600" spc="45" dirty="0">
                <a:solidFill>
                  <a:srgbClr val="2E377E"/>
                </a:solidFill>
                <a:latin typeface="Georgia"/>
                <a:cs typeface="Georgia"/>
              </a:rPr>
              <a:t>reduction</a:t>
            </a:r>
            <a:r>
              <a:rPr sz="3600" spc="-50" dirty="0">
                <a:solidFill>
                  <a:srgbClr val="2E377E"/>
                </a:solidFill>
                <a:latin typeface="Georgia"/>
                <a:cs typeface="Georgia"/>
              </a:rPr>
              <a:t> </a:t>
            </a:r>
            <a:r>
              <a:rPr sz="3600" dirty="0">
                <a:solidFill>
                  <a:srgbClr val="2E377E"/>
                </a:solidFill>
                <a:latin typeface="Georgia"/>
                <a:cs typeface="Georgia"/>
              </a:rPr>
              <a:t>in</a:t>
            </a:r>
            <a:r>
              <a:rPr sz="3600" spc="-50" dirty="0">
                <a:solidFill>
                  <a:srgbClr val="2E377E"/>
                </a:solidFill>
                <a:latin typeface="Georgia"/>
                <a:cs typeface="Georgia"/>
              </a:rPr>
              <a:t> </a:t>
            </a:r>
            <a:r>
              <a:rPr sz="3600" spc="60" dirty="0">
                <a:solidFill>
                  <a:srgbClr val="2E377E"/>
                </a:solidFill>
                <a:latin typeface="Georgia"/>
                <a:cs typeface="Georgia"/>
              </a:rPr>
              <a:t>the</a:t>
            </a:r>
            <a:r>
              <a:rPr sz="3600" spc="-50" dirty="0">
                <a:solidFill>
                  <a:srgbClr val="2E377E"/>
                </a:solidFill>
                <a:latin typeface="Georgia"/>
                <a:cs typeface="Georgia"/>
              </a:rPr>
              <a:t> </a:t>
            </a:r>
            <a:r>
              <a:rPr sz="3600" spc="60" dirty="0">
                <a:solidFill>
                  <a:srgbClr val="2E377E"/>
                </a:solidFill>
                <a:latin typeface="Georgia"/>
                <a:cs typeface="Georgia"/>
              </a:rPr>
              <a:t>downtime</a:t>
            </a:r>
            <a:r>
              <a:rPr sz="3600" spc="-55" dirty="0">
                <a:solidFill>
                  <a:srgbClr val="2E377E"/>
                </a:solidFill>
                <a:latin typeface="Georgia"/>
                <a:cs typeface="Georgia"/>
              </a:rPr>
              <a:t> </a:t>
            </a:r>
            <a:r>
              <a:rPr sz="3600" dirty="0">
                <a:solidFill>
                  <a:srgbClr val="2E377E"/>
                </a:solidFill>
                <a:latin typeface="Georgia"/>
                <a:cs typeface="Georgia"/>
              </a:rPr>
              <a:t>of</a:t>
            </a:r>
            <a:r>
              <a:rPr sz="3600" spc="-50" dirty="0">
                <a:solidFill>
                  <a:srgbClr val="2E377E"/>
                </a:solidFill>
                <a:latin typeface="Georgia"/>
                <a:cs typeface="Georgia"/>
              </a:rPr>
              <a:t> </a:t>
            </a:r>
            <a:r>
              <a:rPr sz="3600" spc="60" dirty="0">
                <a:solidFill>
                  <a:srgbClr val="2E377E"/>
                </a:solidFill>
                <a:latin typeface="Georgia"/>
                <a:cs typeface="Georgia"/>
              </a:rPr>
              <a:t>the</a:t>
            </a:r>
            <a:r>
              <a:rPr sz="3600" spc="-50" dirty="0">
                <a:solidFill>
                  <a:srgbClr val="2E377E"/>
                </a:solidFill>
                <a:latin typeface="Georgia"/>
                <a:cs typeface="Georgia"/>
              </a:rPr>
              <a:t> </a:t>
            </a:r>
            <a:r>
              <a:rPr sz="3600" spc="-10" dirty="0">
                <a:solidFill>
                  <a:srgbClr val="2E377E"/>
                </a:solidFill>
                <a:latin typeface="Georgia"/>
                <a:cs typeface="Georgia"/>
              </a:rPr>
              <a:t>application.</a:t>
            </a:r>
            <a:endParaRPr sz="3600">
              <a:latin typeface="Georgia"/>
              <a:cs typeface="Georgia"/>
            </a:endParaRPr>
          </a:p>
          <a:p>
            <a:pPr marL="12700" marR="1791335">
              <a:lnSpc>
                <a:spcPct val="116300"/>
              </a:lnSpc>
            </a:pPr>
            <a:r>
              <a:rPr sz="3600" dirty="0">
                <a:solidFill>
                  <a:srgbClr val="2E377E"/>
                </a:solidFill>
                <a:latin typeface="Georgia"/>
                <a:cs typeface="Georgia"/>
              </a:rPr>
              <a:t>Scaling</a:t>
            </a:r>
            <a:r>
              <a:rPr sz="3600" spc="-45" dirty="0">
                <a:solidFill>
                  <a:srgbClr val="2E377E"/>
                </a:solidFill>
                <a:latin typeface="Georgia"/>
                <a:cs typeface="Georgia"/>
              </a:rPr>
              <a:t> </a:t>
            </a:r>
            <a:r>
              <a:rPr sz="3600" dirty="0">
                <a:solidFill>
                  <a:srgbClr val="2E377E"/>
                </a:solidFill>
                <a:latin typeface="Georgia"/>
                <a:cs typeface="Georgia"/>
              </a:rPr>
              <a:t>means</a:t>
            </a:r>
            <a:r>
              <a:rPr sz="3600" spc="-45" dirty="0">
                <a:solidFill>
                  <a:srgbClr val="2E377E"/>
                </a:solidFill>
                <a:latin typeface="Georgia"/>
                <a:cs typeface="Georgia"/>
              </a:rPr>
              <a:t> </a:t>
            </a:r>
            <a:r>
              <a:rPr sz="3600" dirty="0">
                <a:solidFill>
                  <a:srgbClr val="2E377E"/>
                </a:solidFill>
                <a:latin typeface="Georgia"/>
                <a:cs typeface="Georgia"/>
              </a:rPr>
              <a:t>if</a:t>
            </a:r>
            <a:r>
              <a:rPr sz="3600" spc="-40" dirty="0">
                <a:solidFill>
                  <a:srgbClr val="2E377E"/>
                </a:solidFill>
                <a:latin typeface="Georgia"/>
                <a:cs typeface="Georgia"/>
              </a:rPr>
              <a:t> </a:t>
            </a:r>
            <a:r>
              <a:rPr sz="3600" spc="5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load</a:t>
            </a:r>
            <a:r>
              <a:rPr sz="3600" spc="-45" dirty="0">
                <a:solidFill>
                  <a:srgbClr val="2E377E"/>
                </a:solidFill>
                <a:latin typeface="Georgia"/>
                <a:cs typeface="Georgia"/>
              </a:rPr>
              <a:t> </a:t>
            </a:r>
            <a:r>
              <a:rPr sz="3600" dirty="0">
                <a:solidFill>
                  <a:srgbClr val="2E377E"/>
                </a:solidFill>
                <a:latin typeface="Georgia"/>
                <a:cs typeface="Georgia"/>
              </a:rPr>
              <a:t>becomes</a:t>
            </a:r>
            <a:r>
              <a:rPr sz="3600" spc="-40" dirty="0">
                <a:solidFill>
                  <a:srgbClr val="2E377E"/>
                </a:solidFill>
                <a:latin typeface="Georgia"/>
                <a:cs typeface="Georgia"/>
              </a:rPr>
              <a:t> </a:t>
            </a:r>
            <a:r>
              <a:rPr sz="3600" dirty="0">
                <a:solidFill>
                  <a:srgbClr val="2E377E"/>
                </a:solidFill>
                <a:latin typeface="Georgia"/>
                <a:cs typeface="Georgia"/>
              </a:rPr>
              <a:t>increases</a:t>
            </a:r>
            <a:r>
              <a:rPr sz="3600" spc="-45" dirty="0">
                <a:solidFill>
                  <a:srgbClr val="2E377E"/>
                </a:solidFill>
                <a:latin typeface="Georgia"/>
                <a:cs typeface="Georgia"/>
              </a:rPr>
              <a:t> </a:t>
            </a:r>
            <a:r>
              <a:rPr sz="3600" dirty="0">
                <a:solidFill>
                  <a:srgbClr val="2E377E"/>
                </a:solidFill>
                <a:latin typeface="Georgia"/>
                <a:cs typeface="Georgia"/>
              </a:rPr>
              <a:t>on</a:t>
            </a:r>
            <a:r>
              <a:rPr sz="3600" spc="-45" dirty="0">
                <a:solidFill>
                  <a:srgbClr val="2E377E"/>
                </a:solidFill>
                <a:latin typeface="Georgia"/>
                <a:cs typeface="Georgia"/>
              </a:rPr>
              <a:t> </a:t>
            </a:r>
            <a:r>
              <a:rPr sz="3600" spc="5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application,</a:t>
            </a:r>
            <a:r>
              <a:rPr sz="3600" spc="-45" dirty="0">
                <a:solidFill>
                  <a:srgbClr val="2E377E"/>
                </a:solidFill>
                <a:latin typeface="Georgia"/>
                <a:cs typeface="Georgia"/>
              </a:rPr>
              <a:t> </a:t>
            </a:r>
            <a:r>
              <a:rPr sz="3600" spc="-20" dirty="0">
                <a:solidFill>
                  <a:srgbClr val="2E377E"/>
                </a:solidFill>
                <a:latin typeface="Georgia"/>
                <a:cs typeface="Georgia"/>
              </a:rPr>
              <a:t>then </a:t>
            </a:r>
            <a:r>
              <a:rPr sz="3600" dirty="0">
                <a:solidFill>
                  <a:srgbClr val="2E377E"/>
                </a:solidFill>
                <a:latin typeface="Georgia"/>
                <a:cs typeface="Georgia"/>
              </a:rPr>
              <a:t>Kubernetes increases </a:t>
            </a:r>
            <a:r>
              <a:rPr sz="3600" spc="50" dirty="0">
                <a:solidFill>
                  <a:srgbClr val="2E377E"/>
                </a:solidFill>
                <a:latin typeface="Georgia"/>
                <a:cs typeface="Georgia"/>
              </a:rPr>
              <a:t>the</a:t>
            </a:r>
            <a:r>
              <a:rPr sz="3600" dirty="0">
                <a:solidFill>
                  <a:srgbClr val="2E377E"/>
                </a:solidFill>
                <a:latin typeface="Georgia"/>
                <a:cs typeface="Georgia"/>
              </a:rPr>
              <a:t> number</a:t>
            </a:r>
            <a:r>
              <a:rPr sz="3600" spc="5" dirty="0">
                <a:solidFill>
                  <a:srgbClr val="2E377E"/>
                </a:solidFill>
                <a:latin typeface="Georgia"/>
                <a:cs typeface="Georgia"/>
              </a:rPr>
              <a:t> </a:t>
            </a:r>
            <a:r>
              <a:rPr sz="3600" dirty="0">
                <a:solidFill>
                  <a:srgbClr val="2E377E"/>
                </a:solidFill>
                <a:latin typeface="Georgia"/>
                <a:cs typeface="Georgia"/>
              </a:rPr>
              <a:t>of pods according</a:t>
            </a:r>
            <a:r>
              <a:rPr sz="3600" spc="5" dirty="0">
                <a:solidFill>
                  <a:srgbClr val="2E377E"/>
                </a:solidFill>
                <a:latin typeface="Georgia"/>
                <a:cs typeface="Georgia"/>
              </a:rPr>
              <a:t> </a:t>
            </a:r>
            <a:r>
              <a:rPr sz="3600" spc="60" dirty="0">
                <a:solidFill>
                  <a:srgbClr val="2E377E"/>
                </a:solidFill>
                <a:latin typeface="Georgia"/>
                <a:cs typeface="Georgia"/>
              </a:rPr>
              <a:t>to</a:t>
            </a:r>
            <a:r>
              <a:rPr sz="3600" dirty="0">
                <a:solidFill>
                  <a:srgbClr val="2E377E"/>
                </a:solidFill>
                <a:latin typeface="Georgia"/>
                <a:cs typeface="Georgia"/>
              </a:rPr>
              <a:t> </a:t>
            </a:r>
            <a:r>
              <a:rPr sz="3600" spc="50" dirty="0">
                <a:solidFill>
                  <a:srgbClr val="2E377E"/>
                </a:solidFill>
                <a:latin typeface="Georgia"/>
                <a:cs typeface="Georgia"/>
              </a:rPr>
              <a:t>the</a:t>
            </a:r>
            <a:r>
              <a:rPr sz="3600" dirty="0">
                <a:solidFill>
                  <a:srgbClr val="2E377E"/>
                </a:solidFill>
                <a:latin typeface="Georgia"/>
                <a:cs typeface="Georgia"/>
              </a:rPr>
              <a:t> load</a:t>
            </a:r>
            <a:r>
              <a:rPr sz="3600" spc="5" dirty="0">
                <a:solidFill>
                  <a:srgbClr val="2E377E"/>
                </a:solidFill>
                <a:latin typeface="Georgia"/>
                <a:cs typeface="Georgia"/>
              </a:rPr>
              <a:t> </a:t>
            </a:r>
            <a:r>
              <a:rPr sz="3600" dirty="0">
                <a:solidFill>
                  <a:srgbClr val="2E377E"/>
                </a:solidFill>
                <a:latin typeface="Georgia"/>
                <a:cs typeface="Georgia"/>
              </a:rPr>
              <a:t>on </a:t>
            </a:r>
            <a:r>
              <a:rPr sz="3600" spc="25" dirty="0">
                <a:solidFill>
                  <a:srgbClr val="2E377E"/>
                </a:solidFill>
                <a:latin typeface="Georgia"/>
                <a:cs typeface="Georgia"/>
              </a:rPr>
              <a:t>the </a:t>
            </a:r>
            <a:r>
              <a:rPr sz="3600" spc="-10" dirty="0">
                <a:solidFill>
                  <a:srgbClr val="2E377E"/>
                </a:solidFill>
                <a:latin typeface="Georgia"/>
                <a:cs typeface="Georgia"/>
              </a:rPr>
              <a:t>application.</a:t>
            </a:r>
            <a:endParaRPr sz="3600">
              <a:latin typeface="Georgia"/>
              <a:cs typeface="Georgia"/>
            </a:endParaRPr>
          </a:p>
        </p:txBody>
      </p:sp>
      <p:pic>
        <p:nvPicPr>
          <p:cNvPr id="5" name="object 5"/>
          <p:cNvPicPr/>
          <p:nvPr/>
        </p:nvPicPr>
        <p:blipFill>
          <a:blip r:embed="rId2" cstate="print"/>
          <a:stretch>
            <a:fillRect/>
          </a:stretch>
        </p:blipFill>
        <p:spPr>
          <a:xfrm>
            <a:off x="1304372" y="3888688"/>
            <a:ext cx="133350" cy="133349"/>
          </a:xfrm>
          <a:prstGeom prst="rect">
            <a:avLst/>
          </a:prstGeom>
        </p:spPr>
      </p:pic>
      <p:pic>
        <p:nvPicPr>
          <p:cNvPr id="6" name="object 6"/>
          <p:cNvPicPr/>
          <p:nvPr/>
        </p:nvPicPr>
        <p:blipFill>
          <a:blip r:embed="rId2" cstate="print"/>
          <a:stretch>
            <a:fillRect/>
          </a:stretch>
        </p:blipFill>
        <p:spPr>
          <a:xfrm>
            <a:off x="1304372" y="5165038"/>
            <a:ext cx="133350" cy="133349"/>
          </a:xfrm>
          <a:prstGeom prst="rect">
            <a:avLst/>
          </a:prstGeom>
        </p:spPr>
      </p:pic>
      <p:pic>
        <p:nvPicPr>
          <p:cNvPr id="7" name="object 7"/>
          <p:cNvPicPr/>
          <p:nvPr/>
        </p:nvPicPr>
        <p:blipFill>
          <a:blip r:embed="rId2" cstate="print"/>
          <a:stretch>
            <a:fillRect/>
          </a:stretch>
        </p:blipFill>
        <p:spPr>
          <a:xfrm>
            <a:off x="1304372" y="7079563"/>
            <a:ext cx="133350" cy="13334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56772" y="2764739"/>
            <a:ext cx="133350" cy="133349"/>
          </a:xfrm>
          <a:prstGeom prst="rect">
            <a:avLst/>
          </a:prstGeom>
        </p:spPr>
      </p:pic>
      <p:sp>
        <p:nvSpPr>
          <p:cNvPr id="3" name="object 3"/>
          <p:cNvSpPr txBox="1"/>
          <p:nvPr/>
        </p:nvSpPr>
        <p:spPr>
          <a:xfrm>
            <a:off x="1773577" y="2405329"/>
            <a:ext cx="15589885" cy="508508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ReplicationController</a:t>
            </a:r>
            <a:r>
              <a:rPr sz="3600" spc="30" dirty="0">
                <a:solidFill>
                  <a:srgbClr val="2E377E"/>
                </a:solidFill>
                <a:latin typeface="Georgia"/>
                <a:cs typeface="Georgia"/>
              </a:rPr>
              <a:t> </a:t>
            </a:r>
            <a:r>
              <a:rPr sz="3600" dirty="0">
                <a:solidFill>
                  <a:srgbClr val="2E377E"/>
                </a:solidFill>
                <a:latin typeface="Georgia"/>
                <a:cs typeface="Georgia"/>
              </a:rPr>
              <a:t>is</a:t>
            </a:r>
            <a:r>
              <a:rPr sz="3600" spc="35" dirty="0">
                <a:solidFill>
                  <a:srgbClr val="2E377E"/>
                </a:solidFill>
                <a:latin typeface="Georgia"/>
                <a:cs typeface="Georgia"/>
              </a:rPr>
              <a:t> </a:t>
            </a:r>
            <a:r>
              <a:rPr sz="3600" dirty="0">
                <a:solidFill>
                  <a:srgbClr val="2E377E"/>
                </a:solidFill>
                <a:latin typeface="Georgia"/>
                <a:cs typeface="Georgia"/>
              </a:rPr>
              <a:t>an</a:t>
            </a:r>
            <a:r>
              <a:rPr sz="3600" spc="35" dirty="0">
                <a:solidFill>
                  <a:srgbClr val="2E377E"/>
                </a:solidFill>
                <a:latin typeface="Georgia"/>
                <a:cs typeface="Georgia"/>
              </a:rPr>
              <a:t> </a:t>
            </a:r>
            <a:r>
              <a:rPr sz="3600" dirty="0">
                <a:solidFill>
                  <a:srgbClr val="2E377E"/>
                </a:solidFill>
                <a:latin typeface="Georgia"/>
                <a:cs typeface="Georgia"/>
              </a:rPr>
              <a:t>object</a:t>
            </a:r>
            <a:r>
              <a:rPr sz="3600" spc="30" dirty="0">
                <a:solidFill>
                  <a:srgbClr val="2E377E"/>
                </a:solidFill>
                <a:latin typeface="Georgia"/>
                <a:cs typeface="Georgia"/>
              </a:rPr>
              <a:t> </a:t>
            </a:r>
            <a:r>
              <a:rPr sz="3600" dirty="0">
                <a:solidFill>
                  <a:srgbClr val="2E377E"/>
                </a:solidFill>
                <a:latin typeface="Georgia"/>
                <a:cs typeface="Georgia"/>
              </a:rPr>
              <a:t>in</a:t>
            </a:r>
            <a:r>
              <a:rPr sz="3600" spc="35" dirty="0">
                <a:solidFill>
                  <a:srgbClr val="2E377E"/>
                </a:solidFill>
                <a:latin typeface="Georgia"/>
                <a:cs typeface="Georgia"/>
              </a:rPr>
              <a:t> </a:t>
            </a:r>
            <a:r>
              <a:rPr sz="3600" dirty="0">
                <a:solidFill>
                  <a:srgbClr val="2E377E"/>
                </a:solidFill>
                <a:latin typeface="Georgia"/>
                <a:cs typeface="Georgia"/>
              </a:rPr>
              <a:t>Kubernetes</a:t>
            </a:r>
            <a:r>
              <a:rPr sz="3600" spc="35" dirty="0">
                <a:solidFill>
                  <a:srgbClr val="2E377E"/>
                </a:solidFill>
                <a:latin typeface="Georgia"/>
                <a:cs typeface="Georgia"/>
              </a:rPr>
              <a:t> </a:t>
            </a:r>
            <a:r>
              <a:rPr sz="3600" dirty="0">
                <a:solidFill>
                  <a:srgbClr val="2E377E"/>
                </a:solidFill>
                <a:latin typeface="Georgia"/>
                <a:cs typeface="Georgia"/>
              </a:rPr>
              <a:t>that</a:t>
            </a:r>
            <a:r>
              <a:rPr sz="3600" spc="30" dirty="0">
                <a:solidFill>
                  <a:srgbClr val="2E377E"/>
                </a:solidFill>
                <a:latin typeface="Georgia"/>
                <a:cs typeface="Georgia"/>
              </a:rPr>
              <a:t> </a:t>
            </a:r>
            <a:r>
              <a:rPr sz="3600" spc="65" dirty="0">
                <a:solidFill>
                  <a:srgbClr val="2E377E"/>
                </a:solidFill>
                <a:latin typeface="Georgia"/>
                <a:cs typeface="Georgia"/>
              </a:rPr>
              <a:t>was</a:t>
            </a:r>
            <a:r>
              <a:rPr sz="3600" spc="35" dirty="0">
                <a:solidFill>
                  <a:srgbClr val="2E377E"/>
                </a:solidFill>
                <a:latin typeface="Georgia"/>
                <a:cs typeface="Georgia"/>
              </a:rPr>
              <a:t> </a:t>
            </a:r>
            <a:r>
              <a:rPr sz="3600" dirty="0">
                <a:solidFill>
                  <a:srgbClr val="2E377E"/>
                </a:solidFill>
                <a:latin typeface="Georgia"/>
                <a:cs typeface="Georgia"/>
              </a:rPr>
              <a:t>introduced</a:t>
            </a:r>
            <a:r>
              <a:rPr sz="3600" spc="35" dirty="0">
                <a:solidFill>
                  <a:srgbClr val="2E377E"/>
                </a:solidFill>
                <a:latin typeface="Georgia"/>
                <a:cs typeface="Georgia"/>
              </a:rPr>
              <a:t> </a:t>
            </a:r>
            <a:r>
              <a:rPr sz="3600" dirty="0">
                <a:solidFill>
                  <a:srgbClr val="2E377E"/>
                </a:solidFill>
                <a:latin typeface="Georgia"/>
                <a:cs typeface="Georgia"/>
              </a:rPr>
              <a:t>in</a:t>
            </a:r>
            <a:r>
              <a:rPr sz="3600" spc="35" dirty="0">
                <a:solidFill>
                  <a:srgbClr val="2E377E"/>
                </a:solidFill>
                <a:latin typeface="Georgia"/>
                <a:cs typeface="Georgia"/>
              </a:rPr>
              <a:t> </a:t>
            </a:r>
            <a:r>
              <a:rPr sz="3600" spc="70" dirty="0">
                <a:solidFill>
                  <a:srgbClr val="2E377E"/>
                </a:solidFill>
                <a:latin typeface="Georgia"/>
                <a:cs typeface="Georgia"/>
              </a:rPr>
              <a:t>v1</a:t>
            </a:r>
            <a:r>
              <a:rPr sz="3600" spc="30" dirty="0">
                <a:solidFill>
                  <a:srgbClr val="2E377E"/>
                </a:solidFill>
                <a:latin typeface="Georgia"/>
                <a:cs typeface="Georgia"/>
              </a:rPr>
              <a:t> </a:t>
            </a:r>
            <a:r>
              <a:rPr sz="3600" spc="-25" dirty="0">
                <a:solidFill>
                  <a:srgbClr val="2E377E"/>
                </a:solidFill>
                <a:latin typeface="Georgia"/>
                <a:cs typeface="Georgia"/>
              </a:rPr>
              <a:t>of </a:t>
            </a:r>
            <a:r>
              <a:rPr sz="3600" dirty="0">
                <a:solidFill>
                  <a:srgbClr val="2E377E"/>
                </a:solidFill>
                <a:latin typeface="Georgia"/>
                <a:cs typeface="Georgia"/>
              </a:rPr>
              <a:t>Kubernetes</a:t>
            </a:r>
            <a:r>
              <a:rPr sz="3600" spc="25" dirty="0">
                <a:solidFill>
                  <a:srgbClr val="2E377E"/>
                </a:solidFill>
                <a:latin typeface="Georgia"/>
                <a:cs typeface="Georgia"/>
              </a:rPr>
              <a:t> </a:t>
            </a:r>
            <a:r>
              <a:rPr sz="3600" dirty="0">
                <a:solidFill>
                  <a:srgbClr val="2E377E"/>
                </a:solidFill>
                <a:latin typeface="Georgia"/>
                <a:cs typeface="Georgia"/>
              </a:rPr>
              <a:t>which</a:t>
            </a:r>
            <a:r>
              <a:rPr sz="3600" spc="30" dirty="0">
                <a:solidFill>
                  <a:srgbClr val="2E377E"/>
                </a:solidFill>
                <a:latin typeface="Georgia"/>
                <a:cs typeface="Georgia"/>
              </a:rPr>
              <a:t> </a:t>
            </a:r>
            <a:r>
              <a:rPr sz="3600" dirty="0">
                <a:solidFill>
                  <a:srgbClr val="2E377E"/>
                </a:solidFill>
                <a:latin typeface="Georgia"/>
                <a:cs typeface="Georgia"/>
              </a:rPr>
              <a:t>helps</a:t>
            </a:r>
            <a:r>
              <a:rPr sz="3600" spc="30" dirty="0">
                <a:solidFill>
                  <a:srgbClr val="2E377E"/>
                </a:solidFill>
                <a:latin typeface="Georgia"/>
                <a:cs typeface="Georgia"/>
              </a:rPr>
              <a:t> </a:t>
            </a:r>
            <a:r>
              <a:rPr sz="3600" spc="60" dirty="0">
                <a:solidFill>
                  <a:srgbClr val="2E377E"/>
                </a:solidFill>
                <a:latin typeface="Georgia"/>
                <a:cs typeface="Georgia"/>
              </a:rPr>
              <a:t>to</a:t>
            </a:r>
            <a:r>
              <a:rPr sz="3600" spc="25" dirty="0">
                <a:solidFill>
                  <a:srgbClr val="2E377E"/>
                </a:solidFill>
                <a:latin typeface="Georgia"/>
                <a:cs typeface="Georgia"/>
              </a:rPr>
              <a:t> </a:t>
            </a:r>
            <a:r>
              <a:rPr sz="3600" spc="60" dirty="0">
                <a:solidFill>
                  <a:srgbClr val="2E377E"/>
                </a:solidFill>
                <a:latin typeface="Georgia"/>
                <a:cs typeface="Georgia"/>
              </a:rPr>
              <a:t>meet</a:t>
            </a:r>
            <a:r>
              <a:rPr sz="3600" spc="30"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desired</a:t>
            </a:r>
            <a:r>
              <a:rPr sz="3600" spc="30" dirty="0">
                <a:solidFill>
                  <a:srgbClr val="2E377E"/>
                </a:solidFill>
                <a:latin typeface="Georgia"/>
                <a:cs typeface="Georgia"/>
              </a:rPr>
              <a:t> </a:t>
            </a:r>
            <a:r>
              <a:rPr sz="3600" spc="50" dirty="0">
                <a:solidFill>
                  <a:srgbClr val="2E377E"/>
                </a:solidFill>
                <a:latin typeface="Georgia"/>
                <a:cs typeface="Georgia"/>
              </a:rPr>
              <a:t>state</a:t>
            </a:r>
            <a:r>
              <a:rPr sz="3600" spc="25" dirty="0">
                <a:solidFill>
                  <a:srgbClr val="2E377E"/>
                </a:solidFill>
                <a:latin typeface="Georgia"/>
                <a:cs typeface="Georgia"/>
              </a:rPr>
              <a:t> </a:t>
            </a:r>
            <a:r>
              <a:rPr sz="3600" dirty="0">
                <a:solidFill>
                  <a:srgbClr val="2E377E"/>
                </a:solidFill>
                <a:latin typeface="Georgia"/>
                <a:cs typeface="Georgia"/>
              </a:rPr>
              <a:t>of</a:t>
            </a:r>
            <a:r>
              <a:rPr sz="3600" spc="30"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Kubernetes</a:t>
            </a:r>
            <a:r>
              <a:rPr sz="3600" spc="25" dirty="0">
                <a:solidFill>
                  <a:srgbClr val="2E377E"/>
                </a:solidFill>
                <a:latin typeface="Georgia"/>
                <a:cs typeface="Georgia"/>
              </a:rPr>
              <a:t> </a:t>
            </a:r>
            <a:r>
              <a:rPr sz="3600" spc="-10" dirty="0">
                <a:solidFill>
                  <a:srgbClr val="2E377E"/>
                </a:solidFill>
                <a:latin typeface="Georgia"/>
                <a:cs typeface="Georgia"/>
              </a:rPr>
              <a:t>cluster </a:t>
            </a:r>
            <a:r>
              <a:rPr sz="3600" dirty="0">
                <a:solidFill>
                  <a:srgbClr val="2E377E"/>
                </a:solidFill>
                <a:latin typeface="Georgia"/>
                <a:cs typeface="Georgia"/>
              </a:rPr>
              <a:t>from</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spc="45" dirty="0">
                <a:solidFill>
                  <a:srgbClr val="2E377E"/>
                </a:solidFill>
                <a:latin typeface="Georgia"/>
                <a:cs typeface="Georgia"/>
              </a:rPr>
              <a:t>current</a:t>
            </a:r>
            <a:r>
              <a:rPr sz="3600" spc="25" dirty="0">
                <a:solidFill>
                  <a:srgbClr val="2E377E"/>
                </a:solidFill>
                <a:latin typeface="Georgia"/>
                <a:cs typeface="Georgia"/>
              </a:rPr>
              <a:t> </a:t>
            </a:r>
            <a:r>
              <a:rPr sz="3600" dirty="0">
                <a:solidFill>
                  <a:srgbClr val="2E377E"/>
                </a:solidFill>
                <a:latin typeface="Georgia"/>
                <a:cs typeface="Georgia"/>
              </a:rPr>
              <a:t>state.</a:t>
            </a:r>
            <a:r>
              <a:rPr sz="3600" spc="20" dirty="0">
                <a:solidFill>
                  <a:srgbClr val="2E377E"/>
                </a:solidFill>
                <a:latin typeface="Georgia"/>
                <a:cs typeface="Georgia"/>
              </a:rPr>
              <a:t> </a:t>
            </a:r>
            <a:r>
              <a:rPr sz="3600" dirty="0">
                <a:solidFill>
                  <a:srgbClr val="2E377E"/>
                </a:solidFill>
                <a:latin typeface="Georgia"/>
                <a:cs typeface="Georgia"/>
              </a:rPr>
              <a:t>ReplicationController</a:t>
            </a:r>
            <a:r>
              <a:rPr sz="3600" spc="25" dirty="0">
                <a:solidFill>
                  <a:srgbClr val="2E377E"/>
                </a:solidFill>
                <a:latin typeface="Georgia"/>
                <a:cs typeface="Georgia"/>
              </a:rPr>
              <a:t> </a:t>
            </a:r>
            <a:r>
              <a:rPr sz="3600" spc="70" dirty="0">
                <a:solidFill>
                  <a:srgbClr val="2E377E"/>
                </a:solidFill>
                <a:latin typeface="Georgia"/>
                <a:cs typeface="Georgia"/>
              </a:rPr>
              <a:t>works</a:t>
            </a:r>
            <a:r>
              <a:rPr sz="3600" spc="20" dirty="0">
                <a:solidFill>
                  <a:srgbClr val="2E377E"/>
                </a:solidFill>
                <a:latin typeface="Georgia"/>
                <a:cs typeface="Georgia"/>
              </a:rPr>
              <a:t> </a:t>
            </a:r>
            <a:r>
              <a:rPr sz="3600" dirty="0">
                <a:solidFill>
                  <a:srgbClr val="2E377E"/>
                </a:solidFill>
                <a:latin typeface="Georgia"/>
                <a:cs typeface="Georgia"/>
              </a:rPr>
              <a:t>on</a:t>
            </a:r>
            <a:r>
              <a:rPr sz="3600" spc="25" dirty="0">
                <a:solidFill>
                  <a:srgbClr val="2E377E"/>
                </a:solidFill>
                <a:latin typeface="Georgia"/>
                <a:cs typeface="Georgia"/>
              </a:rPr>
              <a:t> </a:t>
            </a:r>
            <a:r>
              <a:rPr sz="3600" dirty="0">
                <a:solidFill>
                  <a:srgbClr val="2E377E"/>
                </a:solidFill>
                <a:latin typeface="Georgia"/>
                <a:cs typeface="Georgia"/>
              </a:rPr>
              <a:t>equality-</a:t>
            </a:r>
            <a:r>
              <a:rPr sz="3600" spc="-20" dirty="0">
                <a:solidFill>
                  <a:srgbClr val="2E377E"/>
                </a:solidFill>
                <a:latin typeface="Georgia"/>
                <a:cs typeface="Georgia"/>
              </a:rPr>
              <a:t>based </a:t>
            </a:r>
            <a:r>
              <a:rPr sz="3600" dirty="0">
                <a:solidFill>
                  <a:srgbClr val="2E377E"/>
                </a:solidFill>
                <a:latin typeface="Georgia"/>
                <a:cs typeface="Georgia"/>
              </a:rPr>
              <a:t>controllers</a:t>
            </a:r>
            <a:r>
              <a:rPr sz="3600" spc="195" dirty="0">
                <a:solidFill>
                  <a:srgbClr val="2E377E"/>
                </a:solidFill>
                <a:latin typeface="Georgia"/>
                <a:cs typeface="Georgia"/>
              </a:rPr>
              <a:t> </a:t>
            </a:r>
            <a:r>
              <a:rPr sz="3600" spc="-20" dirty="0">
                <a:solidFill>
                  <a:srgbClr val="2E377E"/>
                </a:solidFill>
                <a:latin typeface="Georgia"/>
                <a:cs typeface="Georgia"/>
              </a:rPr>
              <a:t>only.</a:t>
            </a:r>
            <a:endParaRPr sz="3600">
              <a:latin typeface="Georgia"/>
              <a:cs typeface="Georgia"/>
            </a:endParaRPr>
          </a:p>
          <a:p>
            <a:pPr>
              <a:lnSpc>
                <a:spcPct val="100000"/>
              </a:lnSpc>
              <a:spcBef>
                <a:spcPts val="575"/>
              </a:spcBef>
            </a:pPr>
            <a:endParaRPr sz="3600">
              <a:latin typeface="Georgia"/>
              <a:cs typeface="Georgia"/>
            </a:endParaRPr>
          </a:p>
          <a:p>
            <a:pPr marL="31750" marR="169545">
              <a:lnSpc>
                <a:spcPct val="116300"/>
              </a:lnSpc>
            </a:pPr>
            <a:r>
              <a:rPr sz="3600" dirty="0">
                <a:solidFill>
                  <a:srgbClr val="2E377E"/>
                </a:solidFill>
                <a:latin typeface="Georgia"/>
                <a:cs typeface="Georgia"/>
              </a:rPr>
              <a:t>ReplicaSet</a:t>
            </a:r>
            <a:r>
              <a:rPr sz="3600" spc="10" dirty="0">
                <a:solidFill>
                  <a:srgbClr val="2E377E"/>
                </a:solidFill>
                <a:latin typeface="Georgia"/>
                <a:cs typeface="Georgia"/>
              </a:rPr>
              <a:t> </a:t>
            </a:r>
            <a:r>
              <a:rPr sz="3600" dirty="0">
                <a:solidFill>
                  <a:srgbClr val="2E377E"/>
                </a:solidFill>
                <a:latin typeface="Georgia"/>
                <a:cs typeface="Georgia"/>
              </a:rPr>
              <a:t>is</a:t>
            </a:r>
            <a:r>
              <a:rPr sz="3600" spc="10" dirty="0">
                <a:solidFill>
                  <a:srgbClr val="2E377E"/>
                </a:solidFill>
                <a:latin typeface="Georgia"/>
                <a:cs typeface="Georgia"/>
              </a:rPr>
              <a:t> </a:t>
            </a:r>
            <a:r>
              <a:rPr sz="3600" dirty="0">
                <a:solidFill>
                  <a:srgbClr val="2E377E"/>
                </a:solidFill>
                <a:latin typeface="Georgia"/>
                <a:cs typeface="Georgia"/>
              </a:rPr>
              <a:t>an</a:t>
            </a:r>
            <a:r>
              <a:rPr sz="3600" spc="15" dirty="0">
                <a:solidFill>
                  <a:srgbClr val="2E377E"/>
                </a:solidFill>
                <a:latin typeface="Georgia"/>
                <a:cs typeface="Georgia"/>
              </a:rPr>
              <a:t> </a:t>
            </a:r>
            <a:r>
              <a:rPr sz="3600" dirty="0">
                <a:solidFill>
                  <a:srgbClr val="2E377E"/>
                </a:solidFill>
                <a:latin typeface="Georgia"/>
                <a:cs typeface="Georgia"/>
              </a:rPr>
              <a:t>object</a:t>
            </a:r>
            <a:r>
              <a:rPr sz="3600" spc="10"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spc="45" dirty="0">
                <a:solidFill>
                  <a:srgbClr val="2E377E"/>
                </a:solidFill>
                <a:latin typeface="Georgia"/>
                <a:cs typeface="Georgia"/>
              </a:rPr>
              <a:t>Kubernetes</a:t>
            </a:r>
            <a:r>
              <a:rPr sz="3600" spc="10"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spc="65" dirty="0">
                <a:solidFill>
                  <a:srgbClr val="2E377E"/>
                </a:solidFill>
                <a:latin typeface="Georgia"/>
                <a:cs typeface="Georgia"/>
              </a:rPr>
              <a:t>it</a:t>
            </a:r>
            <a:r>
              <a:rPr sz="3600" spc="10" dirty="0">
                <a:solidFill>
                  <a:srgbClr val="2E377E"/>
                </a:solidFill>
                <a:latin typeface="Georgia"/>
                <a:cs typeface="Georgia"/>
              </a:rPr>
              <a:t> </a:t>
            </a:r>
            <a:r>
              <a:rPr sz="3600" dirty="0">
                <a:solidFill>
                  <a:srgbClr val="2E377E"/>
                </a:solidFill>
                <a:latin typeface="Georgia"/>
                <a:cs typeface="Georgia"/>
              </a:rPr>
              <a:t>is</a:t>
            </a:r>
            <a:r>
              <a:rPr sz="3600" spc="15" dirty="0">
                <a:solidFill>
                  <a:srgbClr val="2E377E"/>
                </a:solidFill>
                <a:latin typeface="Georgia"/>
                <a:cs typeface="Georgia"/>
              </a:rPr>
              <a:t> </a:t>
            </a:r>
            <a:r>
              <a:rPr sz="3600" dirty="0">
                <a:solidFill>
                  <a:srgbClr val="2E377E"/>
                </a:solidFill>
                <a:latin typeface="Georgia"/>
                <a:cs typeface="Georgia"/>
              </a:rPr>
              <a:t>an</a:t>
            </a:r>
            <a:r>
              <a:rPr sz="3600" spc="10" dirty="0">
                <a:solidFill>
                  <a:srgbClr val="2E377E"/>
                </a:solidFill>
                <a:latin typeface="Georgia"/>
                <a:cs typeface="Georgia"/>
              </a:rPr>
              <a:t> </a:t>
            </a:r>
            <a:r>
              <a:rPr sz="3600" dirty="0">
                <a:solidFill>
                  <a:srgbClr val="2E377E"/>
                </a:solidFill>
                <a:latin typeface="Georgia"/>
                <a:cs typeface="Georgia"/>
              </a:rPr>
              <a:t>advanced</a:t>
            </a:r>
            <a:r>
              <a:rPr sz="3600" spc="15" dirty="0">
                <a:solidFill>
                  <a:srgbClr val="2E377E"/>
                </a:solidFill>
                <a:latin typeface="Georgia"/>
                <a:cs typeface="Georgia"/>
              </a:rPr>
              <a:t> </a:t>
            </a:r>
            <a:r>
              <a:rPr sz="3600" spc="50" dirty="0">
                <a:solidFill>
                  <a:srgbClr val="2E377E"/>
                </a:solidFill>
                <a:latin typeface="Georgia"/>
                <a:cs typeface="Georgia"/>
              </a:rPr>
              <a:t>version</a:t>
            </a:r>
            <a:r>
              <a:rPr sz="3600" spc="10" dirty="0">
                <a:solidFill>
                  <a:srgbClr val="2E377E"/>
                </a:solidFill>
                <a:latin typeface="Georgia"/>
                <a:cs typeface="Georgia"/>
              </a:rPr>
              <a:t> </a:t>
            </a:r>
            <a:r>
              <a:rPr sz="3600" spc="-25" dirty="0">
                <a:solidFill>
                  <a:srgbClr val="2E377E"/>
                </a:solidFill>
                <a:latin typeface="Georgia"/>
                <a:cs typeface="Georgia"/>
              </a:rPr>
              <a:t>of </a:t>
            </a:r>
            <a:r>
              <a:rPr sz="3600" dirty="0">
                <a:solidFill>
                  <a:srgbClr val="2E377E"/>
                </a:solidFill>
                <a:latin typeface="Georgia"/>
                <a:cs typeface="Georgia"/>
              </a:rPr>
              <a:t>ReplicationController.</a:t>
            </a:r>
            <a:r>
              <a:rPr sz="3600" spc="55" dirty="0">
                <a:solidFill>
                  <a:srgbClr val="2E377E"/>
                </a:solidFill>
                <a:latin typeface="Georgia"/>
                <a:cs typeface="Georgia"/>
              </a:rPr>
              <a:t> </a:t>
            </a:r>
            <a:r>
              <a:rPr sz="3600" dirty="0">
                <a:solidFill>
                  <a:srgbClr val="2E377E"/>
                </a:solidFill>
                <a:latin typeface="Georgia"/>
                <a:cs typeface="Georgia"/>
              </a:rPr>
              <a:t>ReplicaSet</a:t>
            </a:r>
            <a:r>
              <a:rPr sz="3600" spc="60" dirty="0">
                <a:solidFill>
                  <a:srgbClr val="2E377E"/>
                </a:solidFill>
                <a:latin typeface="Georgia"/>
                <a:cs typeface="Georgia"/>
              </a:rPr>
              <a:t> </a:t>
            </a:r>
            <a:r>
              <a:rPr sz="3600" spc="80" dirty="0">
                <a:solidFill>
                  <a:srgbClr val="2E377E"/>
                </a:solidFill>
                <a:latin typeface="Georgia"/>
                <a:cs typeface="Georgia"/>
              </a:rPr>
              <a:t>works</a:t>
            </a:r>
            <a:r>
              <a:rPr sz="3600" spc="60" dirty="0">
                <a:solidFill>
                  <a:srgbClr val="2E377E"/>
                </a:solidFill>
                <a:latin typeface="Georgia"/>
                <a:cs typeface="Georgia"/>
              </a:rPr>
              <a:t> </a:t>
            </a:r>
            <a:r>
              <a:rPr sz="3600" dirty="0">
                <a:solidFill>
                  <a:srgbClr val="2E377E"/>
                </a:solidFill>
                <a:latin typeface="Georgia"/>
                <a:cs typeface="Georgia"/>
              </a:rPr>
              <a:t>on</a:t>
            </a:r>
            <a:r>
              <a:rPr sz="3600" spc="60" dirty="0">
                <a:solidFill>
                  <a:srgbClr val="2E377E"/>
                </a:solidFill>
                <a:latin typeface="Georgia"/>
                <a:cs typeface="Georgia"/>
              </a:rPr>
              <a:t> </a:t>
            </a:r>
            <a:r>
              <a:rPr sz="3600" dirty="0">
                <a:solidFill>
                  <a:srgbClr val="2E377E"/>
                </a:solidFill>
                <a:latin typeface="Georgia"/>
                <a:cs typeface="Georgia"/>
              </a:rPr>
              <a:t>both</a:t>
            </a:r>
            <a:r>
              <a:rPr sz="3600" spc="55" dirty="0">
                <a:solidFill>
                  <a:srgbClr val="2E377E"/>
                </a:solidFill>
                <a:latin typeface="Georgia"/>
                <a:cs typeface="Georgia"/>
              </a:rPr>
              <a:t> </a:t>
            </a:r>
            <a:r>
              <a:rPr sz="3600" spc="50" dirty="0">
                <a:solidFill>
                  <a:srgbClr val="2E377E"/>
                </a:solidFill>
                <a:latin typeface="Georgia"/>
                <a:cs typeface="Georgia"/>
              </a:rPr>
              <a:t>equality-</a:t>
            </a:r>
            <a:r>
              <a:rPr sz="3600" dirty="0">
                <a:solidFill>
                  <a:srgbClr val="2E377E"/>
                </a:solidFill>
                <a:latin typeface="Georgia"/>
                <a:cs typeface="Georgia"/>
              </a:rPr>
              <a:t>based</a:t>
            </a:r>
            <a:r>
              <a:rPr sz="3600" spc="60" dirty="0">
                <a:solidFill>
                  <a:srgbClr val="2E377E"/>
                </a:solidFill>
                <a:latin typeface="Georgia"/>
                <a:cs typeface="Georgia"/>
              </a:rPr>
              <a:t> </a:t>
            </a:r>
            <a:r>
              <a:rPr sz="3600" spc="-10" dirty="0">
                <a:solidFill>
                  <a:srgbClr val="2E377E"/>
                </a:solidFill>
                <a:latin typeface="Georgia"/>
                <a:cs typeface="Georgia"/>
              </a:rPr>
              <a:t>controllers </a:t>
            </a:r>
            <a:r>
              <a:rPr sz="3600" dirty="0">
                <a:solidFill>
                  <a:srgbClr val="2E377E"/>
                </a:solidFill>
                <a:latin typeface="Georgia"/>
                <a:cs typeface="Georgia"/>
              </a:rPr>
              <a:t>and</a:t>
            </a:r>
            <a:r>
              <a:rPr sz="3600" spc="-5" dirty="0">
                <a:solidFill>
                  <a:srgbClr val="2E377E"/>
                </a:solidFill>
                <a:latin typeface="Georgia"/>
                <a:cs typeface="Georgia"/>
              </a:rPr>
              <a:t> </a:t>
            </a:r>
            <a:r>
              <a:rPr sz="3600" spc="60" dirty="0">
                <a:solidFill>
                  <a:srgbClr val="2E377E"/>
                </a:solidFill>
                <a:latin typeface="Georgia"/>
                <a:cs typeface="Georgia"/>
              </a:rPr>
              <a:t>set-</a:t>
            </a:r>
            <a:r>
              <a:rPr sz="3600" dirty="0">
                <a:solidFill>
                  <a:srgbClr val="2E377E"/>
                </a:solidFill>
                <a:latin typeface="Georgia"/>
                <a:cs typeface="Georgia"/>
              </a:rPr>
              <a:t>based </a:t>
            </a:r>
            <a:r>
              <a:rPr sz="3600" spc="-10" dirty="0">
                <a:solidFill>
                  <a:srgbClr val="2E377E"/>
                </a:solidFill>
                <a:latin typeface="Georgia"/>
                <a:cs typeface="Georgia"/>
              </a:rPr>
              <a:t>controllers.</a:t>
            </a:r>
            <a:endParaRPr sz="3600">
              <a:latin typeface="Georgia"/>
              <a:cs typeface="Georgia"/>
            </a:endParaRPr>
          </a:p>
        </p:txBody>
      </p:sp>
      <p:pic>
        <p:nvPicPr>
          <p:cNvPr id="4" name="object 4"/>
          <p:cNvPicPr/>
          <p:nvPr/>
        </p:nvPicPr>
        <p:blipFill>
          <a:blip r:embed="rId3" cstate="print"/>
          <a:stretch>
            <a:fillRect/>
          </a:stretch>
        </p:blipFill>
        <p:spPr>
          <a:xfrm>
            <a:off x="1476374" y="5909775"/>
            <a:ext cx="133350" cy="133349"/>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8497" y="552580"/>
            <a:ext cx="8587105" cy="787400"/>
          </a:xfrm>
          <a:prstGeom prst="rect">
            <a:avLst/>
          </a:prstGeom>
        </p:spPr>
        <p:txBody>
          <a:bodyPr vert="horz" wrap="square" lIns="0" tIns="12700" rIns="0" bIns="0" rtlCol="0">
            <a:spAutoFit/>
          </a:bodyPr>
          <a:lstStyle/>
          <a:p>
            <a:pPr marL="12700">
              <a:lnSpc>
                <a:spcPct val="100000"/>
              </a:lnSpc>
              <a:spcBef>
                <a:spcPts val="100"/>
              </a:spcBef>
            </a:pPr>
            <a:r>
              <a:rPr spc="-260" dirty="0">
                <a:solidFill>
                  <a:srgbClr val="FF3131"/>
                </a:solidFill>
              </a:rPr>
              <a:t>REPLICATION</a:t>
            </a:r>
            <a:r>
              <a:rPr spc="-45" dirty="0">
                <a:solidFill>
                  <a:srgbClr val="FF3131"/>
                </a:solidFill>
              </a:rPr>
              <a:t> </a:t>
            </a:r>
            <a:r>
              <a:rPr spc="-375" dirty="0">
                <a:solidFill>
                  <a:srgbClr val="FF3131"/>
                </a:solidFill>
              </a:rPr>
              <a:t>CONTROLLER:</a:t>
            </a:r>
          </a:p>
        </p:txBody>
      </p:sp>
      <p:pic>
        <p:nvPicPr>
          <p:cNvPr id="3" name="object 3"/>
          <p:cNvPicPr/>
          <p:nvPr/>
        </p:nvPicPr>
        <p:blipFill>
          <a:blip r:embed="rId2" cstate="print"/>
          <a:stretch>
            <a:fillRect/>
          </a:stretch>
        </p:blipFill>
        <p:spPr>
          <a:xfrm>
            <a:off x="1151972" y="2222542"/>
            <a:ext cx="133350" cy="133349"/>
          </a:xfrm>
          <a:prstGeom prst="rect">
            <a:avLst/>
          </a:prstGeom>
        </p:spPr>
      </p:pic>
      <p:sp>
        <p:nvSpPr>
          <p:cNvPr id="4" name="object 4"/>
          <p:cNvSpPr txBox="1"/>
          <p:nvPr/>
        </p:nvSpPr>
        <p:spPr>
          <a:xfrm>
            <a:off x="1468777" y="1863132"/>
            <a:ext cx="16127730" cy="7683500"/>
          </a:xfrm>
          <a:prstGeom prst="rect">
            <a:avLst/>
          </a:prstGeom>
        </p:spPr>
        <p:txBody>
          <a:bodyPr vert="horz" wrap="square" lIns="0" tIns="12700" rIns="0" bIns="0" rtlCol="0">
            <a:spAutoFit/>
          </a:bodyPr>
          <a:lstStyle/>
          <a:p>
            <a:pPr marL="12700" marR="2803525">
              <a:lnSpc>
                <a:spcPct val="116300"/>
              </a:lnSpc>
              <a:spcBef>
                <a:spcPts val="100"/>
              </a:spcBef>
            </a:pPr>
            <a:r>
              <a:rPr sz="3600" dirty="0">
                <a:solidFill>
                  <a:srgbClr val="2E377E"/>
                </a:solidFill>
                <a:latin typeface="Georgia"/>
                <a:cs typeface="Georgia"/>
              </a:rPr>
              <a:t>Replication</a:t>
            </a:r>
            <a:r>
              <a:rPr sz="3600" spc="95" dirty="0">
                <a:solidFill>
                  <a:srgbClr val="2E377E"/>
                </a:solidFill>
                <a:latin typeface="Georgia"/>
                <a:cs typeface="Georgia"/>
              </a:rPr>
              <a:t> </a:t>
            </a:r>
            <a:r>
              <a:rPr sz="3600" dirty="0">
                <a:solidFill>
                  <a:srgbClr val="2E377E"/>
                </a:solidFill>
                <a:latin typeface="Georgia"/>
                <a:cs typeface="Georgia"/>
              </a:rPr>
              <a:t>controller</a:t>
            </a:r>
            <a:r>
              <a:rPr sz="3600" spc="100" dirty="0">
                <a:solidFill>
                  <a:srgbClr val="2E377E"/>
                </a:solidFill>
                <a:latin typeface="Georgia"/>
                <a:cs typeface="Georgia"/>
              </a:rPr>
              <a:t> </a:t>
            </a:r>
            <a:r>
              <a:rPr sz="3600" dirty="0">
                <a:solidFill>
                  <a:srgbClr val="2E377E"/>
                </a:solidFill>
                <a:latin typeface="Georgia"/>
                <a:cs typeface="Georgia"/>
              </a:rPr>
              <a:t>can</a:t>
            </a:r>
            <a:r>
              <a:rPr sz="3600" spc="95" dirty="0">
                <a:solidFill>
                  <a:srgbClr val="2E377E"/>
                </a:solidFill>
                <a:latin typeface="Georgia"/>
                <a:cs typeface="Georgia"/>
              </a:rPr>
              <a:t> </a:t>
            </a:r>
            <a:r>
              <a:rPr sz="3600" dirty="0">
                <a:solidFill>
                  <a:srgbClr val="2E377E"/>
                </a:solidFill>
                <a:latin typeface="Georgia"/>
                <a:cs typeface="Georgia"/>
              </a:rPr>
              <a:t>run</a:t>
            </a:r>
            <a:r>
              <a:rPr sz="3600" spc="100" dirty="0">
                <a:solidFill>
                  <a:srgbClr val="2E377E"/>
                </a:solidFill>
                <a:latin typeface="Georgia"/>
                <a:cs typeface="Georgia"/>
              </a:rPr>
              <a:t> </a:t>
            </a:r>
            <a:r>
              <a:rPr sz="3600" dirty="0">
                <a:solidFill>
                  <a:srgbClr val="2E377E"/>
                </a:solidFill>
                <a:latin typeface="Georgia"/>
                <a:cs typeface="Georgia"/>
              </a:rPr>
              <a:t>specific</a:t>
            </a:r>
            <a:r>
              <a:rPr sz="3600" spc="95" dirty="0">
                <a:solidFill>
                  <a:srgbClr val="2E377E"/>
                </a:solidFill>
                <a:latin typeface="Georgia"/>
                <a:cs typeface="Georgia"/>
              </a:rPr>
              <a:t> </a:t>
            </a:r>
            <a:r>
              <a:rPr sz="3600" dirty="0">
                <a:solidFill>
                  <a:srgbClr val="2E377E"/>
                </a:solidFill>
                <a:latin typeface="Georgia"/>
                <a:cs typeface="Georgia"/>
              </a:rPr>
              <a:t>number</a:t>
            </a:r>
            <a:r>
              <a:rPr sz="3600" spc="100" dirty="0">
                <a:solidFill>
                  <a:srgbClr val="2E377E"/>
                </a:solidFill>
                <a:latin typeface="Georgia"/>
                <a:cs typeface="Georgia"/>
              </a:rPr>
              <a:t> </a:t>
            </a:r>
            <a:r>
              <a:rPr sz="3600" dirty="0">
                <a:solidFill>
                  <a:srgbClr val="2E377E"/>
                </a:solidFill>
                <a:latin typeface="Georgia"/>
                <a:cs typeface="Georgia"/>
              </a:rPr>
              <a:t>of</a:t>
            </a:r>
            <a:r>
              <a:rPr sz="3600" spc="95" dirty="0">
                <a:solidFill>
                  <a:srgbClr val="2E377E"/>
                </a:solidFill>
                <a:latin typeface="Georgia"/>
                <a:cs typeface="Georgia"/>
              </a:rPr>
              <a:t> </a:t>
            </a:r>
            <a:r>
              <a:rPr sz="3600" dirty="0">
                <a:solidFill>
                  <a:srgbClr val="2E377E"/>
                </a:solidFill>
                <a:latin typeface="Georgia"/>
                <a:cs typeface="Georgia"/>
              </a:rPr>
              <a:t>pods</a:t>
            </a:r>
            <a:r>
              <a:rPr sz="3600" spc="100" dirty="0">
                <a:solidFill>
                  <a:srgbClr val="2E377E"/>
                </a:solidFill>
                <a:latin typeface="Georgia"/>
                <a:cs typeface="Georgia"/>
              </a:rPr>
              <a:t> </a:t>
            </a:r>
            <a:r>
              <a:rPr sz="3600" dirty="0">
                <a:solidFill>
                  <a:srgbClr val="2E377E"/>
                </a:solidFill>
                <a:latin typeface="Georgia"/>
                <a:cs typeface="Georgia"/>
              </a:rPr>
              <a:t>as</a:t>
            </a:r>
            <a:r>
              <a:rPr sz="3600" spc="100" dirty="0">
                <a:solidFill>
                  <a:srgbClr val="2E377E"/>
                </a:solidFill>
                <a:latin typeface="Georgia"/>
                <a:cs typeface="Georgia"/>
              </a:rPr>
              <a:t> </a:t>
            </a:r>
            <a:r>
              <a:rPr sz="3600" dirty="0">
                <a:solidFill>
                  <a:srgbClr val="2E377E"/>
                </a:solidFill>
                <a:latin typeface="Georgia"/>
                <a:cs typeface="Georgia"/>
              </a:rPr>
              <a:t>per</a:t>
            </a:r>
            <a:r>
              <a:rPr sz="3600" spc="95" dirty="0">
                <a:solidFill>
                  <a:srgbClr val="2E377E"/>
                </a:solidFill>
                <a:latin typeface="Georgia"/>
                <a:cs typeface="Georgia"/>
              </a:rPr>
              <a:t> </a:t>
            </a:r>
            <a:r>
              <a:rPr sz="3600" spc="-25" dirty="0">
                <a:solidFill>
                  <a:srgbClr val="2E377E"/>
                </a:solidFill>
                <a:latin typeface="Georgia"/>
                <a:cs typeface="Georgia"/>
              </a:rPr>
              <a:t>our </a:t>
            </a:r>
            <a:r>
              <a:rPr sz="3600" spc="-10" dirty="0">
                <a:solidFill>
                  <a:srgbClr val="2E377E"/>
                </a:solidFill>
                <a:latin typeface="Georgia"/>
                <a:cs typeface="Georgia"/>
              </a:rPr>
              <a:t>requirement.</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It</a:t>
            </a:r>
            <a:r>
              <a:rPr sz="3600" spc="15"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responsible</a:t>
            </a:r>
            <a:r>
              <a:rPr sz="3600" spc="20" dirty="0">
                <a:solidFill>
                  <a:srgbClr val="2E377E"/>
                </a:solidFill>
                <a:latin typeface="Georgia"/>
                <a:cs typeface="Georgia"/>
              </a:rPr>
              <a:t> </a:t>
            </a:r>
            <a:r>
              <a:rPr sz="3600" dirty="0">
                <a:solidFill>
                  <a:srgbClr val="2E377E"/>
                </a:solidFill>
                <a:latin typeface="Georgia"/>
                <a:cs typeface="Georgia"/>
              </a:rPr>
              <a:t>for</a:t>
            </a:r>
            <a:r>
              <a:rPr sz="3600" spc="20" dirty="0">
                <a:solidFill>
                  <a:srgbClr val="2E377E"/>
                </a:solidFill>
                <a:latin typeface="Georgia"/>
                <a:cs typeface="Georgia"/>
              </a:rPr>
              <a:t> </a:t>
            </a:r>
            <a:r>
              <a:rPr sz="3600" dirty="0">
                <a:solidFill>
                  <a:srgbClr val="2E377E"/>
                </a:solidFill>
                <a:latin typeface="Georgia"/>
                <a:cs typeface="Georgia"/>
              </a:rPr>
              <a:t>managing</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spc="45" dirty="0">
                <a:solidFill>
                  <a:srgbClr val="2E377E"/>
                </a:solidFill>
                <a:latin typeface="Georgia"/>
                <a:cs typeface="Georgia"/>
              </a:rPr>
              <a:t>lifecycle</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It</a:t>
            </a:r>
            <a:r>
              <a:rPr sz="3600" spc="-20"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dirty="0">
                <a:solidFill>
                  <a:srgbClr val="2E377E"/>
                </a:solidFill>
                <a:latin typeface="Georgia"/>
                <a:cs typeface="Georgia"/>
              </a:rPr>
              <a:t>make</a:t>
            </a:r>
            <a:r>
              <a:rPr sz="3600" spc="-15" dirty="0">
                <a:solidFill>
                  <a:srgbClr val="2E377E"/>
                </a:solidFill>
                <a:latin typeface="Georgia"/>
                <a:cs typeface="Georgia"/>
              </a:rPr>
              <a:t> </a:t>
            </a:r>
            <a:r>
              <a:rPr sz="3600" spc="50" dirty="0">
                <a:solidFill>
                  <a:srgbClr val="2E377E"/>
                </a:solidFill>
                <a:latin typeface="Georgia"/>
                <a:cs typeface="Georgia"/>
              </a:rPr>
              <a:t>sure</a:t>
            </a:r>
            <a:r>
              <a:rPr sz="3600" spc="-15" dirty="0">
                <a:solidFill>
                  <a:srgbClr val="2E377E"/>
                </a:solidFill>
                <a:latin typeface="Georgia"/>
                <a:cs typeface="Georgia"/>
              </a:rPr>
              <a:t> </a:t>
            </a:r>
            <a:r>
              <a:rPr sz="3600" spc="55" dirty="0">
                <a:solidFill>
                  <a:srgbClr val="2E377E"/>
                </a:solidFill>
                <a:latin typeface="Georgia"/>
                <a:cs typeface="Georgia"/>
              </a:rPr>
              <a:t>that</a:t>
            </a:r>
            <a:r>
              <a:rPr sz="3600" spc="-15" dirty="0">
                <a:solidFill>
                  <a:srgbClr val="2E377E"/>
                </a:solidFill>
                <a:latin typeface="Georgia"/>
                <a:cs typeface="Georgia"/>
              </a:rPr>
              <a:t> </a:t>
            </a:r>
            <a:r>
              <a:rPr sz="3600" spc="65" dirty="0">
                <a:solidFill>
                  <a:srgbClr val="2E377E"/>
                </a:solidFill>
                <a:latin typeface="Georgia"/>
                <a:cs typeface="Georgia"/>
              </a:rPr>
              <a:t>always</a:t>
            </a:r>
            <a:r>
              <a:rPr sz="3600" spc="-15" dirty="0">
                <a:solidFill>
                  <a:srgbClr val="2E377E"/>
                </a:solidFill>
                <a:latin typeface="Georgia"/>
                <a:cs typeface="Georgia"/>
              </a:rPr>
              <a:t> </a:t>
            </a:r>
            <a:r>
              <a:rPr sz="3600" dirty="0">
                <a:solidFill>
                  <a:srgbClr val="2E377E"/>
                </a:solidFill>
                <a:latin typeface="Georgia"/>
                <a:cs typeface="Georgia"/>
              </a:rPr>
              <a:t>pods</a:t>
            </a:r>
            <a:r>
              <a:rPr sz="3600" spc="-15" dirty="0">
                <a:solidFill>
                  <a:srgbClr val="2E377E"/>
                </a:solidFill>
                <a:latin typeface="Georgia"/>
                <a:cs typeface="Georgia"/>
              </a:rPr>
              <a:t> </a:t>
            </a:r>
            <a:r>
              <a:rPr sz="3600" dirty="0">
                <a:solidFill>
                  <a:srgbClr val="2E377E"/>
                </a:solidFill>
                <a:latin typeface="Georgia"/>
                <a:cs typeface="Georgia"/>
              </a:rPr>
              <a:t>are</a:t>
            </a:r>
            <a:r>
              <a:rPr sz="3600" spc="-15" dirty="0">
                <a:solidFill>
                  <a:srgbClr val="2E377E"/>
                </a:solidFill>
                <a:latin typeface="Georgia"/>
                <a:cs typeface="Georgia"/>
              </a:rPr>
              <a:t> </a:t>
            </a:r>
            <a:r>
              <a:rPr sz="3600" dirty="0">
                <a:solidFill>
                  <a:srgbClr val="2E377E"/>
                </a:solidFill>
                <a:latin typeface="Georgia"/>
                <a:cs typeface="Georgia"/>
              </a:rPr>
              <a:t>up</a:t>
            </a:r>
            <a:r>
              <a:rPr sz="3600" spc="-15"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spc="-10" dirty="0">
                <a:solidFill>
                  <a:srgbClr val="2E377E"/>
                </a:solidFill>
                <a:latin typeface="Georgia"/>
                <a:cs typeface="Georgia"/>
              </a:rPr>
              <a:t>running.</a:t>
            </a:r>
            <a:endParaRPr sz="3600">
              <a:latin typeface="Georgia"/>
              <a:cs typeface="Georgia"/>
            </a:endParaRPr>
          </a:p>
          <a:p>
            <a:pPr marL="12700" marR="3536950">
              <a:lnSpc>
                <a:spcPct val="116300"/>
              </a:lnSpc>
            </a:pPr>
            <a:r>
              <a:rPr sz="3600" dirty="0">
                <a:solidFill>
                  <a:srgbClr val="2E377E"/>
                </a:solidFill>
                <a:latin typeface="Georgia"/>
                <a:cs typeface="Georgia"/>
              </a:rPr>
              <a:t>If</a:t>
            </a:r>
            <a:r>
              <a:rPr sz="3600" spc="-75" dirty="0">
                <a:solidFill>
                  <a:srgbClr val="2E377E"/>
                </a:solidFill>
                <a:latin typeface="Georgia"/>
                <a:cs typeface="Georgia"/>
              </a:rPr>
              <a:t> </a:t>
            </a:r>
            <a:r>
              <a:rPr sz="3600" spc="60" dirty="0">
                <a:solidFill>
                  <a:srgbClr val="2E377E"/>
                </a:solidFill>
                <a:latin typeface="Georgia"/>
                <a:cs typeface="Georgia"/>
              </a:rPr>
              <a:t>there</a:t>
            </a:r>
            <a:r>
              <a:rPr sz="3600" spc="-75" dirty="0">
                <a:solidFill>
                  <a:srgbClr val="2E377E"/>
                </a:solidFill>
                <a:latin typeface="Georgia"/>
                <a:cs typeface="Georgia"/>
              </a:rPr>
              <a:t> </a:t>
            </a:r>
            <a:r>
              <a:rPr sz="3600" dirty="0">
                <a:solidFill>
                  <a:srgbClr val="2E377E"/>
                </a:solidFill>
                <a:latin typeface="Georgia"/>
                <a:cs typeface="Georgia"/>
              </a:rPr>
              <a:t>are</a:t>
            </a:r>
            <a:r>
              <a:rPr sz="3600" spc="-70" dirty="0">
                <a:solidFill>
                  <a:srgbClr val="2E377E"/>
                </a:solidFill>
                <a:latin typeface="Georgia"/>
                <a:cs typeface="Georgia"/>
              </a:rPr>
              <a:t> </a:t>
            </a:r>
            <a:r>
              <a:rPr sz="3600" spc="50" dirty="0">
                <a:solidFill>
                  <a:srgbClr val="2E377E"/>
                </a:solidFill>
                <a:latin typeface="Georgia"/>
                <a:cs typeface="Georgia"/>
              </a:rPr>
              <a:t>too</a:t>
            </a:r>
            <a:r>
              <a:rPr sz="3600" spc="-75" dirty="0">
                <a:solidFill>
                  <a:srgbClr val="2E377E"/>
                </a:solidFill>
                <a:latin typeface="Georgia"/>
                <a:cs typeface="Georgia"/>
              </a:rPr>
              <a:t> </a:t>
            </a:r>
            <a:r>
              <a:rPr sz="3600" spc="55" dirty="0">
                <a:solidFill>
                  <a:srgbClr val="2E377E"/>
                </a:solidFill>
                <a:latin typeface="Georgia"/>
                <a:cs typeface="Georgia"/>
              </a:rPr>
              <a:t>many</a:t>
            </a:r>
            <a:r>
              <a:rPr sz="3600" spc="-75" dirty="0">
                <a:solidFill>
                  <a:srgbClr val="2E377E"/>
                </a:solidFill>
                <a:latin typeface="Georgia"/>
                <a:cs typeface="Georgia"/>
              </a:rPr>
              <a:t> </a:t>
            </a:r>
            <a:r>
              <a:rPr sz="3600" dirty="0">
                <a:solidFill>
                  <a:srgbClr val="2E377E"/>
                </a:solidFill>
                <a:latin typeface="Georgia"/>
                <a:cs typeface="Georgia"/>
              </a:rPr>
              <a:t>pods,</a:t>
            </a:r>
            <a:r>
              <a:rPr sz="3600" spc="-70" dirty="0">
                <a:solidFill>
                  <a:srgbClr val="2E377E"/>
                </a:solidFill>
                <a:latin typeface="Georgia"/>
                <a:cs typeface="Georgia"/>
              </a:rPr>
              <a:t> </a:t>
            </a:r>
            <a:r>
              <a:rPr sz="3600" spc="-10" dirty="0">
                <a:solidFill>
                  <a:srgbClr val="2E377E"/>
                </a:solidFill>
                <a:latin typeface="Georgia"/>
                <a:cs typeface="Georgia"/>
              </a:rPr>
              <a:t>RC</a:t>
            </a:r>
            <a:r>
              <a:rPr sz="3600" spc="-75" dirty="0">
                <a:solidFill>
                  <a:srgbClr val="2E377E"/>
                </a:solidFill>
                <a:latin typeface="Georgia"/>
                <a:cs typeface="Georgia"/>
              </a:rPr>
              <a:t> </a:t>
            </a:r>
            <a:r>
              <a:rPr sz="3600" spc="55" dirty="0">
                <a:solidFill>
                  <a:srgbClr val="2E377E"/>
                </a:solidFill>
                <a:latin typeface="Georgia"/>
                <a:cs typeface="Georgia"/>
              </a:rPr>
              <a:t>will</a:t>
            </a:r>
            <a:r>
              <a:rPr sz="3600" spc="-70" dirty="0">
                <a:solidFill>
                  <a:srgbClr val="2E377E"/>
                </a:solidFill>
                <a:latin typeface="Georgia"/>
                <a:cs typeface="Georgia"/>
              </a:rPr>
              <a:t> </a:t>
            </a:r>
            <a:r>
              <a:rPr sz="3600" spc="50" dirty="0">
                <a:solidFill>
                  <a:srgbClr val="2E377E"/>
                </a:solidFill>
                <a:latin typeface="Georgia"/>
                <a:cs typeface="Georgia"/>
              </a:rPr>
              <a:t>terminates</a:t>
            </a:r>
            <a:r>
              <a:rPr sz="3600" spc="-75" dirty="0">
                <a:solidFill>
                  <a:srgbClr val="2E377E"/>
                </a:solidFill>
                <a:latin typeface="Georgia"/>
                <a:cs typeface="Georgia"/>
              </a:rPr>
              <a:t> </a:t>
            </a:r>
            <a:r>
              <a:rPr sz="3600" spc="60" dirty="0">
                <a:solidFill>
                  <a:srgbClr val="2E377E"/>
                </a:solidFill>
                <a:latin typeface="Georgia"/>
                <a:cs typeface="Georgia"/>
              </a:rPr>
              <a:t>the</a:t>
            </a:r>
            <a:r>
              <a:rPr sz="3600" spc="-75" dirty="0">
                <a:solidFill>
                  <a:srgbClr val="2E377E"/>
                </a:solidFill>
                <a:latin typeface="Georgia"/>
                <a:cs typeface="Georgia"/>
              </a:rPr>
              <a:t> </a:t>
            </a:r>
            <a:r>
              <a:rPr sz="3600" spc="65" dirty="0">
                <a:solidFill>
                  <a:srgbClr val="2E377E"/>
                </a:solidFill>
                <a:latin typeface="Georgia"/>
                <a:cs typeface="Georgia"/>
              </a:rPr>
              <a:t>extra</a:t>
            </a:r>
            <a:r>
              <a:rPr sz="3600" spc="-70" dirty="0">
                <a:solidFill>
                  <a:srgbClr val="2E377E"/>
                </a:solidFill>
                <a:latin typeface="Georgia"/>
                <a:cs typeface="Georgia"/>
              </a:rPr>
              <a:t> </a:t>
            </a:r>
            <a:r>
              <a:rPr sz="3600" spc="-10" dirty="0">
                <a:solidFill>
                  <a:srgbClr val="2E377E"/>
                </a:solidFill>
                <a:latin typeface="Georgia"/>
                <a:cs typeface="Georgia"/>
              </a:rPr>
              <a:t>pods. </a:t>
            </a:r>
            <a:r>
              <a:rPr sz="3600" dirty="0">
                <a:solidFill>
                  <a:srgbClr val="2E377E"/>
                </a:solidFill>
                <a:latin typeface="Georgia"/>
                <a:cs typeface="Georgia"/>
              </a:rPr>
              <a:t>If</a:t>
            </a:r>
            <a:r>
              <a:rPr sz="3600" spc="-60" dirty="0">
                <a:solidFill>
                  <a:srgbClr val="2E377E"/>
                </a:solidFill>
                <a:latin typeface="Georgia"/>
                <a:cs typeface="Georgia"/>
              </a:rPr>
              <a:t> </a:t>
            </a:r>
            <a:r>
              <a:rPr sz="3600" spc="60" dirty="0">
                <a:solidFill>
                  <a:srgbClr val="2E377E"/>
                </a:solidFill>
                <a:latin typeface="Georgia"/>
                <a:cs typeface="Georgia"/>
              </a:rPr>
              <a:t>there</a:t>
            </a:r>
            <a:r>
              <a:rPr sz="3600" spc="-60" dirty="0">
                <a:solidFill>
                  <a:srgbClr val="2E377E"/>
                </a:solidFill>
                <a:latin typeface="Georgia"/>
                <a:cs typeface="Georgia"/>
              </a:rPr>
              <a:t> </a:t>
            </a:r>
            <a:r>
              <a:rPr sz="3600" dirty="0">
                <a:solidFill>
                  <a:srgbClr val="2E377E"/>
                </a:solidFill>
                <a:latin typeface="Georgia"/>
                <a:cs typeface="Georgia"/>
              </a:rPr>
              <a:t>are</a:t>
            </a:r>
            <a:r>
              <a:rPr sz="3600" spc="-55" dirty="0">
                <a:solidFill>
                  <a:srgbClr val="2E377E"/>
                </a:solidFill>
                <a:latin typeface="Georgia"/>
                <a:cs typeface="Georgia"/>
              </a:rPr>
              <a:t> </a:t>
            </a:r>
            <a:r>
              <a:rPr sz="3600" spc="50" dirty="0">
                <a:solidFill>
                  <a:srgbClr val="2E377E"/>
                </a:solidFill>
                <a:latin typeface="Georgia"/>
                <a:cs typeface="Georgia"/>
              </a:rPr>
              <a:t>too</a:t>
            </a:r>
            <a:r>
              <a:rPr sz="3600" spc="-60" dirty="0">
                <a:solidFill>
                  <a:srgbClr val="2E377E"/>
                </a:solidFill>
                <a:latin typeface="Georgia"/>
                <a:cs typeface="Georgia"/>
              </a:rPr>
              <a:t> </a:t>
            </a:r>
            <a:r>
              <a:rPr sz="3600" dirty="0">
                <a:solidFill>
                  <a:srgbClr val="2E377E"/>
                </a:solidFill>
                <a:latin typeface="Georgia"/>
                <a:cs typeface="Georgia"/>
              </a:rPr>
              <a:t>less</a:t>
            </a:r>
            <a:r>
              <a:rPr sz="3600" spc="-60" dirty="0">
                <a:solidFill>
                  <a:srgbClr val="2E377E"/>
                </a:solidFill>
                <a:latin typeface="Georgia"/>
                <a:cs typeface="Georgia"/>
              </a:rPr>
              <a:t> </a:t>
            </a:r>
            <a:r>
              <a:rPr sz="3600" spc="-10" dirty="0">
                <a:solidFill>
                  <a:srgbClr val="2E377E"/>
                </a:solidFill>
                <a:latin typeface="Georgia"/>
                <a:cs typeface="Georgia"/>
              </a:rPr>
              <a:t>RC</a:t>
            </a:r>
            <a:r>
              <a:rPr sz="3600" spc="-55" dirty="0">
                <a:solidFill>
                  <a:srgbClr val="2E377E"/>
                </a:solidFill>
                <a:latin typeface="Georgia"/>
                <a:cs typeface="Georgia"/>
              </a:rPr>
              <a:t> </a:t>
            </a:r>
            <a:r>
              <a:rPr sz="3600" spc="55" dirty="0">
                <a:solidFill>
                  <a:srgbClr val="2E377E"/>
                </a:solidFill>
                <a:latin typeface="Georgia"/>
                <a:cs typeface="Georgia"/>
              </a:rPr>
              <a:t>will</a:t>
            </a:r>
            <a:r>
              <a:rPr sz="3600" spc="-60" dirty="0">
                <a:solidFill>
                  <a:srgbClr val="2E377E"/>
                </a:solidFill>
                <a:latin typeface="Georgia"/>
                <a:cs typeface="Georgia"/>
              </a:rPr>
              <a:t> </a:t>
            </a:r>
            <a:r>
              <a:rPr sz="3600" spc="55" dirty="0">
                <a:solidFill>
                  <a:srgbClr val="2E377E"/>
                </a:solidFill>
                <a:latin typeface="Georgia"/>
                <a:cs typeface="Georgia"/>
              </a:rPr>
              <a:t>create</a:t>
            </a:r>
            <a:r>
              <a:rPr sz="3600" spc="-55" dirty="0">
                <a:solidFill>
                  <a:srgbClr val="2E377E"/>
                </a:solidFill>
                <a:latin typeface="Georgia"/>
                <a:cs typeface="Georgia"/>
              </a:rPr>
              <a:t> </a:t>
            </a:r>
            <a:r>
              <a:rPr sz="3600" spc="100" dirty="0">
                <a:solidFill>
                  <a:srgbClr val="2E377E"/>
                </a:solidFill>
                <a:latin typeface="Georgia"/>
                <a:cs typeface="Georgia"/>
              </a:rPr>
              <a:t>new</a:t>
            </a:r>
            <a:r>
              <a:rPr sz="3600" spc="-60" dirty="0">
                <a:solidFill>
                  <a:srgbClr val="2E377E"/>
                </a:solidFill>
                <a:latin typeface="Georgia"/>
                <a:cs typeface="Georgia"/>
              </a:rPr>
              <a:t> </a:t>
            </a:r>
            <a:r>
              <a:rPr sz="3600" spc="-10" dirty="0">
                <a:solidFill>
                  <a:srgbClr val="2E377E"/>
                </a:solidFill>
                <a:latin typeface="Georgia"/>
                <a:cs typeface="Georgia"/>
              </a:rPr>
              <a:t>pods.</a:t>
            </a:r>
            <a:endParaRPr sz="3600">
              <a:latin typeface="Georgia"/>
              <a:cs typeface="Georgia"/>
            </a:endParaRPr>
          </a:p>
          <a:p>
            <a:pPr marL="12700" marR="1548130">
              <a:lnSpc>
                <a:spcPct val="116300"/>
              </a:lnSpc>
            </a:pPr>
            <a:r>
              <a:rPr sz="3600" dirty="0">
                <a:solidFill>
                  <a:srgbClr val="2E377E"/>
                </a:solidFill>
                <a:latin typeface="Georgia"/>
                <a:cs typeface="Georgia"/>
              </a:rPr>
              <a:t>This</a:t>
            </a:r>
            <a:r>
              <a:rPr sz="3600" spc="75" dirty="0">
                <a:solidFill>
                  <a:srgbClr val="2E377E"/>
                </a:solidFill>
                <a:latin typeface="Georgia"/>
                <a:cs typeface="Georgia"/>
              </a:rPr>
              <a:t> </a:t>
            </a:r>
            <a:r>
              <a:rPr sz="3600" dirty="0">
                <a:solidFill>
                  <a:srgbClr val="2E377E"/>
                </a:solidFill>
                <a:latin typeface="Georgia"/>
                <a:cs typeface="Georgia"/>
              </a:rPr>
              <a:t>Replication</a:t>
            </a:r>
            <a:r>
              <a:rPr sz="3600" spc="75" dirty="0">
                <a:solidFill>
                  <a:srgbClr val="2E377E"/>
                </a:solidFill>
                <a:latin typeface="Georgia"/>
                <a:cs typeface="Georgia"/>
              </a:rPr>
              <a:t> </a:t>
            </a:r>
            <a:r>
              <a:rPr sz="3600" dirty="0">
                <a:solidFill>
                  <a:srgbClr val="2E377E"/>
                </a:solidFill>
                <a:latin typeface="Georgia"/>
                <a:cs typeface="Georgia"/>
              </a:rPr>
              <a:t>controller</a:t>
            </a:r>
            <a:r>
              <a:rPr sz="3600" spc="75" dirty="0">
                <a:solidFill>
                  <a:srgbClr val="2E377E"/>
                </a:solidFill>
                <a:latin typeface="Georgia"/>
                <a:cs typeface="Georgia"/>
              </a:rPr>
              <a:t> </a:t>
            </a:r>
            <a:r>
              <a:rPr sz="3600" spc="55" dirty="0">
                <a:solidFill>
                  <a:srgbClr val="2E377E"/>
                </a:solidFill>
                <a:latin typeface="Georgia"/>
                <a:cs typeface="Georgia"/>
              </a:rPr>
              <a:t>will</a:t>
            </a:r>
            <a:r>
              <a:rPr sz="3600" spc="75" dirty="0">
                <a:solidFill>
                  <a:srgbClr val="2E377E"/>
                </a:solidFill>
                <a:latin typeface="Georgia"/>
                <a:cs typeface="Georgia"/>
              </a:rPr>
              <a:t> </a:t>
            </a:r>
            <a:r>
              <a:rPr sz="3600" spc="55" dirty="0">
                <a:solidFill>
                  <a:srgbClr val="2E377E"/>
                </a:solidFill>
                <a:latin typeface="Georgia"/>
                <a:cs typeface="Georgia"/>
              </a:rPr>
              <a:t>have</a:t>
            </a:r>
            <a:r>
              <a:rPr sz="3600" spc="80" dirty="0">
                <a:solidFill>
                  <a:srgbClr val="2E377E"/>
                </a:solidFill>
                <a:latin typeface="Georgia"/>
                <a:cs typeface="Georgia"/>
              </a:rPr>
              <a:t> </a:t>
            </a:r>
            <a:r>
              <a:rPr sz="3600" dirty="0">
                <a:solidFill>
                  <a:srgbClr val="2E377E"/>
                </a:solidFill>
                <a:latin typeface="Georgia"/>
                <a:cs typeface="Georgia"/>
              </a:rPr>
              <a:t>slef-healing</a:t>
            </a:r>
            <a:r>
              <a:rPr sz="3600" spc="75" dirty="0">
                <a:solidFill>
                  <a:srgbClr val="2E377E"/>
                </a:solidFill>
                <a:latin typeface="Georgia"/>
                <a:cs typeface="Georgia"/>
              </a:rPr>
              <a:t> </a:t>
            </a:r>
            <a:r>
              <a:rPr sz="3600" dirty="0">
                <a:solidFill>
                  <a:srgbClr val="2E377E"/>
                </a:solidFill>
                <a:latin typeface="Georgia"/>
                <a:cs typeface="Georgia"/>
              </a:rPr>
              <a:t>capability,</a:t>
            </a:r>
            <a:r>
              <a:rPr sz="3600" spc="75" dirty="0">
                <a:solidFill>
                  <a:srgbClr val="2E377E"/>
                </a:solidFill>
                <a:latin typeface="Georgia"/>
                <a:cs typeface="Georgia"/>
              </a:rPr>
              <a:t> </a:t>
            </a:r>
            <a:r>
              <a:rPr sz="3600" spc="55" dirty="0">
                <a:solidFill>
                  <a:srgbClr val="2E377E"/>
                </a:solidFill>
                <a:latin typeface="Georgia"/>
                <a:cs typeface="Georgia"/>
              </a:rPr>
              <a:t>that</a:t>
            </a:r>
            <a:r>
              <a:rPr sz="3600" spc="75" dirty="0">
                <a:solidFill>
                  <a:srgbClr val="2E377E"/>
                </a:solidFill>
                <a:latin typeface="Georgia"/>
                <a:cs typeface="Georgia"/>
              </a:rPr>
              <a:t> </a:t>
            </a:r>
            <a:r>
              <a:rPr sz="3600" spc="-20" dirty="0">
                <a:solidFill>
                  <a:srgbClr val="2E377E"/>
                </a:solidFill>
                <a:latin typeface="Georgia"/>
                <a:cs typeface="Georgia"/>
              </a:rPr>
              <a:t>means </a:t>
            </a:r>
            <a:r>
              <a:rPr sz="3600" dirty="0">
                <a:solidFill>
                  <a:srgbClr val="2E377E"/>
                </a:solidFill>
                <a:latin typeface="Georgia"/>
                <a:cs typeface="Georgia"/>
              </a:rPr>
              <a:t>automatically</a:t>
            </a:r>
            <a:r>
              <a:rPr sz="3600" spc="120" dirty="0">
                <a:solidFill>
                  <a:srgbClr val="2E377E"/>
                </a:solidFill>
                <a:latin typeface="Georgia"/>
                <a:cs typeface="Georgia"/>
              </a:rPr>
              <a:t> </a:t>
            </a:r>
            <a:r>
              <a:rPr sz="3600" spc="65" dirty="0">
                <a:solidFill>
                  <a:srgbClr val="2E377E"/>
                </a:solidFill>
                <a:latin typeface="Georgia"/>
                <a:cs typeface="Georgia"/>
              </a:rPr>
              <a:t>it</a:t>
            </a:r>
            <a:r>
              <a:rPr sz="3600" spc="125" dirty="0">
                <a:solidFill>
                  <a:srgbClr val="2E377E"/>
                </a:solidFill>
                <a:latin typeface="Georgia"/>
                <a:cs typeface="Georgia"/>
              </a:rPr>
              <a:t> </a:t>
            </a:r>
            <a:r>
              <a:rPr sz="3600" spc="55" dirty="0">
                <a:solidFill>
                  <a:srgbClr val="2E377E"/>
                </a:solidFill>
                <a:latin typeface="Georgia"/>
                <a:cs typeface="Georgia"/>
              </a:rPr>
              <a:t>will</a:t>
            </a:r>
            <a:r>
              <a:rPr sz="3600" spc="125" dirty="0">
                <a:solidFill>
                  <a:srgbClr val="2E377E"/>
                </a:solidFill>
                <a:latin typeface="Georgia"/>
                <a:cs typeface="Georgia"/>
              </a:rPr>
              <a:t> </a:t>
            </a:r>
            <a:r>
              <a:rPr sz="3600" spc="-10" dirty="0">
                <a:solidFill>
                  <a:srgbClr val="2E377E"/>
                </a:solidFill>
                <a:latin typeface="Georgia"/>
                <a:cs typeface="Georgia"/>
              </a:rPr>
              <a:t>creates.</a:t>
            </a:r>
            <a:endParaRPr sz="3600">
              <a:latin typeface="Georgia"/>
              <a:cs typeface="Georgia"/>
            </a:endParaRPr>
          </a:p>
          <a:p>
            <a:pPr marL="12700" marR="5080" algn="just">
              <a:lnSpc>
                <a:spcPct val="116300"/>
              </a:lnSpc>
            </a:pPr>
            <a:r>
              <a:rPr sz="3600" dirty="0">
                <a:solidFill>
                  <a:srgbClr val="2E377E"/>
                </a:solidFill>
                <a:latin typeface="Georgia"/>
                <a:cs typeface="Georgia"/>
              </a:rPr>
              <a:t>If</a:t>
            </a:r>
            <a:r>
              <a:rPr sz="3600" spc="155" dirty="0">
                <a:solidFill>
                  <a:srgbClr val="2E377E"/>
                </a:solidFill>
                <a:latin typeface="Georgia"/>
                <a:cs typeface="Georgia"/>
              </a:rPr>
              <a:t>  </a:t>
            </a:r>
            <a:r>
              <a:rPr sz="3600" dirty="0">
                <a:solidFill>
                  <a:srgbClr val="2E377E"/>
                </a:solidFill>
                <a:latin typeface="Georgia"/>
                <a:cs typeface="Georgia"/>
              </a:rPr>
              <a:t>a</a:t>
            </a:r>
            <a:r>
              <a:rPr sz="3600" spc="155" dirty="0">
                <a:solidFill>
                  <a:srgbClr val="2E377E"/>
                </a:solidFill>
                <a:latin typeface="Georgia"/>
                <a:cs typeface="Georgia"/>
              </a:rPr>
              <a:t>  </a:t>
            </a:r>
            <a:r>
              <a:rPr sz="3600" dirty="0">
                <a:solidFill>
                  <a:srgbClr val="2E377E"/>
                </a:solidFill>
                <a:latin typeface="Georgia"/>
                <a:cs typeface="Georgia"/>
              </a:rPr>
              <a:t>pod</a:t>
            </a:r>
            <a:r>
              <a:rPr sz="3600" spc="160" dirty="0">
                <a:solidFill>
                  <a:srgbClr val="2E377E"/>
                </a:solidFill>
                <a:latin typeface="Georgia"/>
                <a:cs typeface="Georgia"/>
              </a:rPr>
              <a:t>  </a:t>
            </a:r>
            <a:r>
              <a:rPr sz="3600" dirty="0">
                <a:solidFill>
                  <a:srgbClr val="2E377E"/>
                </a:solidFill>
                <a:latin typeface="Georgia"/>
                <a:cs typeface="Georgia"/>
              </a:rPr>
              <a:t>is</a:t>
            </a:r>
            <a:r>
              <a:rPr sz="3600" spc="155" dirty="0">
                <a:solidFill>
                  <a:srgbClr val="2E377E"/>
                </a:solidFill>
                <a:latin typeface="Georgia"/>
                <a:cs typeface="Georgia"/>
              </a:rPr>
              <a:t>  </a:t>
            </a:r>
            <a:r>
              <a:rPr sz="3600" dirty="0">
                <a:solidFill>
                  <a:srgbClr val="2E377E"/>
                </a:solidFill>
                <a:latin typeface="Georgia"/>
                <a:cs typeface="Georgia"/>
              </a:rPr>
              <a:t>failed,</a:t>
            </a:r>
            <a:r>
              <a:rPr sz="3600" spc="155" dirty="0">
                <a:solidFill>
                  <a:srgbClr val="2E377E"/>
                </a:solidFill>
                <a:latin typeface="Georgia"/>
                <a:cs typeface="Georgia"/>
              </a:rPr>
              <a:t>  </a:t>
            </a:r>
            <a:r>
              <a:rPr sz="3600" spc="45" dirty="0">
                <a:solidFill>
                  <a:srgbClr val="2E377E"/>
                </a:solidFill>
                <a:latin typeface="Georgia"/>
                <a:cs typeface="Georgia"/>
              </a:rPr>
              <a:t>terminated</a:t>
            </a:r>
            <a:r>
              <a:rPr sz="3600" spc="160" dirty="0">
                <a:solidFill>
                  <a:srgbClr val="2E377E"/>
                </a:solidFill>
                <a:latin typeface="Georgia"/>
                <a:cs typeface="Georgia"/>
              </a:rPr>
              <a:t>  </a:t>
            </a:r>
            <a:r>
              <a:rPr sz="3600" dirty="0">
                <a:solidFill>
                  <a:srgbClr val="2E377E"/>
                </a:solidFill>
                <a:latin typeface="Georgia"/>
                <a:cs typeface="Georgia"/>
              </a:rPr>
              <a:t>or</a:t>
            </a:r>
            <a:r>
              <a:rPr sz="3600" spc="155" dirty="0">
                <a:solidFill>
                  <a:srgbClr val="2E377E"/>
                </a:solidFill>
                <a:latin typeface="Georgia"/>
                <a:cs typeface="Georgia"/>
              </a:rPr>
              <a:t>  </a:t>
            </a:r>
            <a:r>
              <a:rPr sz="3600" spc="50" dirty="0">
                <a:solidFill>
                  <a:srgbClr val="2E377E"/>
                </a:solidFill>
                <a:latin typeface="Georgia"/>
                <a:cs typeface="Georgia"/>
              </a:rPr>
              <a:t>deleted</a:t>
            </a:r>
            <a:r>
              <a:rPr sz="3600" spc="160" dirty="0">
                <a:solidFill>
                  <a:srgbClr val="2E377E"/>
                </a:solidFill>
                <a:latin typeface="Georgia"/>
                <a:cs typeface="Georgia"/>
              </a:rPr>
              <a:t>  </a:t>
            </a:r>
            <a:r>
              <a:rPr sz="3600" spc="50" dirty="0">
                <a:solidFill>
                  <a:srgbClr val="2E377E"/>
                </a:solidFill>
                <a:latin typeface="Georgia"/>
                <a:cs typeface="Georgia"/>
              </a:rPr>
              <a:t>then</a:t>
            </a:r>
            <a:r>
              <a:rPr sz="3600" spc="155" dirty="0">
                <a:solidFill>
                  <a:srgbClr val="2E377E"/>
                </a:solidFill>
                <a:latin typeface="Georgia"/>
                <a:cs typeface="Georgia"/>
              </a:rPr>
              <a:t>  </a:t>
            </a:r>
            <a:r>
              <a:rPr sz="3600" spc="100" dirty="0">
                <a:solidFill>
                  <a:srgbClr val="2E377E"/>
                </a:solidFill>
                <a:latin typeface="Georgia"/>
                <a:cs typeface="Georgia"/>
              </a:rPr>
              <a:t>new</a:t>
            </a:r>
            <a:r>
              <a:rPr sz="3600" spc="155" dirty="0">
                <a:solidFill>
                  <a:srgbClr val="2E377E"/>
                </a:solidFill>
                <a:latin typeface="Georgia"/>
                <a:cs typeface="Georgia"/>
              </a:rPr>
              <a:t>  </a:t>
            </a:r>
            <a:r>
              <a:rPr sz="3600" dirty="0">
                <a:solidFill>
                  <a:srgbClr val="2E377E"/>
                </a:solidFill>
                <a:latin typeface="Georgia"/>
                <a:cs typeface="Georgia"/>
              </a:rPr>
              <a:t>pod</a:t>
            </a:r>
            <a:r>
              <a:rPr sz="3600" spc="160" dirty="0">
                <a:solidFill>
                  <a:srgbClr val="2E377E"/>
                </a:solidFill>
                <a:latin typeface="Georgia"/>
                <a:cs typeface="Georgia"/>
              </a:rPr>
              <a:t>  </a:t>
            </a:r>
            <a:r>
              <a:rPr sz="3600" spc="55" dirty="0">
                <a:solidFill>
                  <a:srgbClr val="2E377E"/>
                </a:solidFill>
                <a:latin typeface="Georgia"/>
                <a:cs typeface="Georgia"/>
              </a:rPr>
              <a:t>will</a:t>
            </a:r>
            <a:r>
              <a:rPr sz="3600" spc="155" dirty="0">
                <a:solidFill>
                  <a:srgbClr val="2E377E"/>
                </a:solidFill>
                <a:latin typeface="Georgia"/>
                <a:cs typeface="Georgia"/>
              </a:rPr>
              <a:t>  </a:t>
            </a:r>
            <a:r>
              <a:rPr sz="3600" spc="75" dirty="0">
                <a:solidFill>
                  <a:srgbClr val="2E377E"/>
                </a:solidFill>
                <a:latin typeface="Georgia"/>
                <a:cs typeface="Georgia"/>
              </a:rPr>
              <a:t>get</a:t>
            </a:r>
            <a:r>
              <a:rPr sz="3600" spc="160" dirty="0">
                <a:solidFill>
                  <a:srgbClr val="2E377E"/>
                </a:solidFill>
                <a:latin typeface="Georgia"/>
                <a:cs typeface="Georgia"/>
              </a:rPr>
              <a:t>  </a:t>
            </a:r>
            <a:r>
              <a:rPr sz="3600" spc="40" dirty="0">
                <a:solidFill>
                  <a:srgbClr val="2E377E"/>
                </a:solidFill>
                <a:latin typeface="Georgia"/>
                <a:cs typeface="Georgia"/>
              </a:rPr>
              <a:t>created </a:t>
            </a:r>
            <a:r>
              <a:rPr sz="3600" dirty="0">
                <a:solidFill>
                  <a:srgbClr val="2E377E"/>
                </a:solidFill>
                <a:latin typeface="Georgia"/>
                <a:cs typeface="Georgia"/>
              </a:rPr>
              <a:t>automatically.</a:t>
            </a:r>
            <a:r>
              <a:rPr sz="3600" spc="140" dirty="0">
                <a:solidFill>
                  <a:srgbClr val="2E377E"/>
                </a:solidFill>
                <a:latin typeface="Georgia"/>
                <a:cs typeface="Georgia"/>
              </a:rPr>
              <a:t> </a:t>
            </a:r>
            <a:r>
              <a:rPr sz="3600" dirty="0">
                <a:solidFill>
                  <a:srgbClr val="2E377E"/>
                </a:solidFill>
                <a:latin typeface="Georgia"/>
                <a:cs typeface="Georgia"/>
              </a:rPr>
              <a:t>Replication</a:t>
            </a:r>
            <a:r>
              <a:rPr sz="3600" spc="145" dirty="0">
                <a:solidFill>
                  <a:srgbClr val="2E377E"/>
                </a:solidFill>
                <a:latin typeface="Georgia"/>
                <a:cs typeface="Georgia"/>
              </a:rPr>
              <a:t> </a:t>
            </a:r>
            <a:r>
              <a:rPr sz="3600" dirty="0">
                <a:solidFill>
                  <a:srgbClr val="2E377E"/>
                </a:solidFill>
                <a:latin typeface="Georgia"/>
                <a:cs typeface="Georgia"/>
              </a:rPr>
              <a:t>Controllers</a:t>
            </a:r>
            <a:r>
              <a:rPr sz="3600" spc="140" dirty="0">
                <a:solidFill>
                  <a:srgbClr val="2E377E"/>
                </a:solidFill>
                <a:latin typeface="Georgia"/>
                <a:cs typeface="Georgia"/>
              </a:rPr>
              <a:t> </a:t>
            </a:r>
            <a:r>
              <a:rPr sz="3600" spc="50" dirty="0">
                <a:solidFill>
                  <a:srgbClr val="2E377E"/>
                </a:solidFill>
                <a:latin typeface="Georgia"/>
                <a:cs typeface="Georgia"/>
              </a:rPr>
              <a:t>use</a:t>
            </a:r>
            <a:r>
              <a:rPr sz="3600" spc="145" dirty="0">
                <a:solidFill>
                  <a:srgbClr val="2E377E"/>
                </a:solidFill>
                <a:latin typeface="Georgia"/>
                <a:cs typeface="Georgia"/>
              </a:rPr>
              <a:t> </a:t>
            </a:r>
            <a:r>
              <a:rPr sz="3600" dirty="0">
                <a:solidFill>
                  <a:srgbClr val="2E377E"/>
                </a:solidFill>
                <a:latin typeface="Georgia"/>
                <a:cs typeface="Georgia"/>
              </a:rPr>
              <a:t>labels</a:t>
            </a:r>
            <a:r>
              <a:rPr sz="3600" spc="145" dirty="0">
                <a:solidFill>
                  <a:srgbClr val="2E377E"/>
                </a:solidFill>
                <a:latin typeface="Georgia"/>
                <a:cs typeface="Georgia"/>
              </a:rPr>
              <a:t> </a:t>
            </a:r>
            <a:r>
              <a:rPr sz="3600" spc="70" dirty="0">
                <a:solidFill>
                  <a:srgbClr val="2E377E"/>
                </a:solidFill>
                <a:latin typeface="Georgia"/>
                <a:cs typeface="Georgia"/>
              </a:rPr>
              <a:t>to</a:t>
            </a:r>
            <a:r>
              <a:rPr sz="3600" spc="140" dirty="0">
                <a:solidFill>
                  <a:srgbClr val="2E377E"/>
                </a:solidFill>
                <a:latin typeface="Georgia"/>
                <a:cs typeface="Georgia"/>
              </a:rPr>
              <a:t> </a:t>
            </a:r>
            <a:r>
              <a:rPr sz="3600" spc="60" dirty="0">
                <a:solidFill>
                  <a:srgbClr val="2E377E"/>
                </a:solidFill>
                <a:latin typeface="Georgia"/>
                <a:cs typeface="Georgia"/>
              </a:rPr>
              <a:t>identify</a:t>
            </a:r>
            <a:r>
              <a:rPr sz="3600" spc="145" dirty="0">
                <a:solidFill>
                  <a:srgbClr val="2E377E"/>
                </a:solidFill>
                <a:latin typeface="Georgia"/>
                <a:cs typeface="Georgia"/>
              </a:rPr>
              <a:t> </a:t>
            </a:r>
            <a:r>
              <a:rPr sz="3600" spc="60" dirty="0">
                <a:solidFill>
                  <a:srgbClr val="2E377E"/>
                </a:solidFill>
                <a:latin typeface="Georgia"/>
                <a:cs typeface="Georgia"/>
              </a:rPr>
              <a:t>the</a:t>
            </a:r>
            <a:r>
              <a:rPr sz="3600" spc="145" dirty="0">
                <a:solidFill>
                  <a:srgbClr val="2E377E"/>
                </a:solidFill>
                <a:latin typeface="Georgia"/>
                <a:cs typeface="Georgia"/>
              </a:rPr>
              <a:t> </a:t>
            </a:r>
            <a:r>
              <a:rPr sz="3600" dirty="0">
                <a:solidFill>
                  <a:srgbClr val="2E377E"/>
                </a:solidFill>
                <a:latin typeface="Georgia"/>
                <a:cs typeface="Georgia"/>
              </a:rPr>
              <a:t>pods</a:t>
            </a:r>
            <a:r>
              <a:rPr sz="3600" spc="140" dirty="0">
                <a:solidFill>
                  <a:srgbClr val="2E377E"/>
                </a:solidFill>
                <a:latin typeface="Georgia"/>
                <a:cs typeface="Georgia"/>
              </a:rPr>
              <a:t> </a:t>
            </a:r>
            <a:r>
              <a:rPr sz="3600" spc="55" dirty="0">
                <a:solidFill>
                  <a:srgbClr val="2E377E"/>
                </a:solidFill>
                <a:latin typeface="Georgia"/>
                <a:cs typeface="Georgia"/>
              </a:rPr>
              <a:t>that</a:t>
            </a:r>
            <a:r>
              <a:rPr sz="3600" spc="145" dirty="0">
                <a:solidFill>
                  <a:srgbClr val="2E377E"/>
                </a:solidFill>
                <a:latin typeface="Georgia"/>
                <a:cs typeface="Georgia"/>
              </a:rPr>
              <a:t> </a:t>
            </a:r>
            <a:r>
              <a:rPr sz="3600" spc="75" dirty="0">
                <a:solidFill>
                  <a:srgbClr val="2E377E"/>
                </a:solidFill>
                <a:latin typeface="Georgia"/>
                <a:cs typeface="Georgia"/>
              </a:rPr>
              <a:t>they </a:t>
            </a:r>
            <a:r>
              <a:rPr sz="3600" dirty="0">
                <a:solidFill>
                  <a:srgbClr val="2E377E"/>
                </a:solidFill>
                <a:latin typeface="Georgia"/>
                <a:cs typeface="Georgia"/>
              </a:rPr>
              <a:t>are</a:t>
            </a:r>
            <a:r>
              <a:rPr sz="3600" spc="25" dirty="0">
                <a:solidFill>
                  <a:srgbClr val="2E377E"/>
                </a:solidFill>
                <a:latin typeface="Georgia"/>
                <a:cs typeface="Georgia"/>
              </a:rPr>
              <a:t> </a:t>
            </a:r>
            <a:r>
              <a:rPr sz="3600" spc="-10" dirty="0">
                <a:solidFill>
                  <a:srgbClr val="2E377E"/>
                </a:solidFill>
                <a:latin typeface="Georgia"/>
                <a:cs typeface="Georgia"/>
              </a:rPr>
              <a:t>managing.</a:t>
            </a:r>
            <a:endParaRPr sz="3600">
              <a:latin typeface="Georgia"/>
              <a:cs typeface="Georgia"/>
            </a:endParaRPr>
          </a:p>
          <a:p>
            <a:pPr marL="12700" algn="just">
              <a:lnSpc>
                <a:spcPct val="100000"/>
              </a:lnSpc>
              <a:spcBef>
                <a:spcPts val="705"/>
              </a:spcBef>
            </a:pPr>
            <a:r>
              <a:rPr sz="3600" dirty="0">
                <a:solidFill>
                  <a:srgbClr val="2E377E"/>
                </a:solidFill>
                <a:latin typeface="Georgia"/>
                <a:cs typeface="Georgia"/>
              </a:rPr>
              <a:t>We</a:t>
            </a:r>
            <a:r>
              <a:rPr sz="3600" spc="40" dirty="0">
                <a:solidFill>
                  <a:srgbClr val="2E377E"/>
                </a:solidFill>
                <a:latin typeface="Georgia"/>
                <a:cs typeface="Georgia"/>
              </a:rPr>
              <a:t> </a:t>
            </a:r>
            <a:r>
              <a:rPr sz="3600" dirty="0">
                <a:solidFill>
                  <a:srgbClr val="2E377E"/>
                </a:solidFill>
                <a:latin typeface="Georgia"/>
                <a:cs typeface="Georgia"/>
              </a:rPr>
              <a:t>need</a:t>
            </a:r>
            <a:r>
              <a:rPr sz="3600" spc="40" dirty="0">
                <a:solidFill>
                  <a:srgbClr val="2E377E"/>
                </a:solidFill>
                <a:latin typeface="Georgia"/>
                <a:cs typeface="Georgia"/>
              </a:rPr>
              <a:t> </a:t>
            </a:r>
            <a:r>
              <a:rPr sz="3600" spc="70" dirty="0">
                <a:solidFill>
                  <a:srgbClr val="2E377E"/>
                </a:solidFill>
                <a:latin typeface="Georgia"/>
                <a:cs typeface="Georgia"/>
              </a:rPr>
              <a:t>to</a:t>
            </a:r>
            <a:r>
              <a:rPr sz="3600" spc="40" dirty="0">
                <a:solidFill>
                  <a:srgbClr val="2E377E"/>
                </a:solidFill>
                <a:latin typeface="Georgia"/>
                <a:cs typeface="Georgia"/>
              </a:rPr>
              <a:t> </a:t>
            </a:r>
            <a:r>
              <a:rPr sz="3600" dirty="0">
                <a:solidFill>
                  <a:srgbClr val="2E377E"/>
                </a:solidFill>
                <a:latin typeface="Georgia"/>
                <a:cs typeface="Georgia"/>
              </a:rPr>
              <a:t>specifies</a:t>
            </a:r>
            <a:r>
              <a:rPr sz="3600" spc="40" dirty="0">
                <a:solidFill>
                  <a:srgbClr val="2E377E"/>
                </a:solidFill>
                <a:latin typeface="Georgia"/>
                <a:cs typeface="Georgia"/>
              </a:rPr>
              <a:t> </a:t>
            </a:r>
            <a:r>
              <a:rPr sz="3600" spc="6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desired</a:t>
            </a:r>
            <a:r>
              <a:rPr sz="3600" spc="40" dirty="0">
                <a:solidFill>
                  <a:srgbClr val="2E377E"/>
                </a:solidFill>
                <a:latin typeface="Georgia"/>
                <a:cs typeface="Georgia"/>
              </a:rPr>
              <a:t> </a:t>
            </a:r>
            <a:r>
              <a:rPr sz="3600" dirty="0">
                <a:solidFill>
                  <a:srgbClr val="2E377E"/>
                </a:solidFill>
                <a:latin typeface="Georgia"/>
                <a:cs typeface="Georgia"/>
              </a:rPr>
              <a:t>number</a:t>
            </a:r>
            <a:r>
              <a:rPr sz="3600" spc="45" dirty="0">
                <a:solidFill>
                  <a:srgbClr val="2E377E"/>
                </a:solidFill>
                <a:latin typeface="Georgia"/>
                <a:cs typeface="Georgia"/>
              </a:rPr>
              <a:t> </a:t>
            </a:r>
            <a:r>
              <a:rPr sz="3600" dirty="0">
                <a:solidFill>
                  <a:srgbClr val="2E377E"/>
                </a:solidFill>
                <a:latin typeface="Georgia"/>
                <a:cs typeface="Georgia"/>
              </a:rPr>
              <a:t>of</a:t>
            </a:r>
            <a:r>
              <a:rPr sz="3600" spc="40" dirty="0">
                <a:solidFill>
                  <a:srgbClr val="2E377E"/>
                </a:solidFill>
                <a:latin typeface="Georgia"/>
                <a:cs typeface="Georgia"/>
              </a:rPr>
              <a:t> </a:t>
            </a:r>
            <a:r>
              <a:rPr sz="3600" dirty="0">
                <a:solidFill>
                  <a:srgbClr val="2E377E"/>
                </a:solidFill>
                <a:latin typeface="Georgia"/>
                <a:cs typeface="Georgia"/>
              </a:rPr>
              <a:t>replicas</a:t>
            </a:r>
            <a:r>
              <a:rPr sz="3600" spc="40" dirty="0">
                <a:solidFill>
                  <a:srgbClr val="2E377E"/>
                </a:solidFill>
                <a:latin typeface="Georgia"/>
                <a:cs typeface="Georgia"/>
              </a:rPr>
              <a:t> </a:t>
            </a:r>
            <a:r>
              <a:rPr sz="3600" dirty="0">
                <a:solidFill>
                  <a:srgbClr val="2E377E"/>
                </a:solidFill>
                <a:latin typeface="Georgia"/>
                <a:cs typeface="Georgia"/>
              </a:rPr>
              <a:t>in</a:t>
            </a:r>
            <a:r>
              <a:rPr sz="3600" spc="40" dirty="0">
                <a:solidFill>
                  <a:srgbClr val="2E377E"/>
                </a:solidFill>
                <a:latin typeface="Georgia"/>
                <a:cs typeface="Georgia"/>
              </a:rPr>
              <a:t> </a:t>
            </a:r>
            <a:r>
              <a:rPr sz="3600" spc="-70" dirty="0">
                <a:solidFill>
                  <a:srgbClr val="2E377E"/>
                </a:solidFill>
                <a:latin typeface="Georgia"/>
                <a:cs typeface="Georgia"/>
              </a:rPr>
              <a:t>YAML</a:t>
            </a:r>
            <a:r>
              <a:rPr sz="3600" spc="40" dirty="0">
                <a:solidFill>
                  <a:srgbClr val="2E377E"/>
                </a:solidFill>
                <a:latin typeface="Georgia"/>
                <a:cs typeface="Georgia"/>
              </a:rPr>
              <a:t> </a:t>
            </a:r>
            <a:r>
              <a:rPr sz="3600" spc="-10" dirty="0">
                <a:solidFill>
                  <a:srgbClr val="2E377E"/>
                </a:solidFill>
                <a:latin typeface="Georgia"/>
                <a:cs typeface="Georgia"/>
              </a:rPr>
              <a:t>file.</a:t>
            </a:r>
            <a:endParaRPr sz="3600">
              <a:latin typeface="Georgia"/>
              <a:cs typeface="Georgia"/>
            </a:endParaRPr>
          </a:p>
        </p:txBody>
      </p:sp>
      <p:pic>
        <p:nvPicPr>
          <p:cNvPr id="5" name="object 5"/>
          <p:cNvPicPr/>
          <p:nvPr/>
        </p:nvPicPr>
        <p:blipFill>
          <a:blip r:embed="rId3" cstate="print"/>
          <a:stretch>
            <a:fillRect/>
          </a:stretch>
        </p:blipFill>
        <p:spPr>
          <a:xfrm>
            <a:off x="1151972" y="3498892"/>
            <a:ext cx="133350" cy="133349"/>
          </a:xfrm>
          <a:prstGeom prst="rect">
            <a:avLst/>
          </a:prstGeom>
        </p:spPr>
      </p:pic>
      <p:pic>
        <p:nvPicPr>
          <p:cNvPr id="6" name="object 6"/>
          <p:cNvPicPr/>
          <p:nvPr/>
        </p:nvPicPr>
        <p:blipFill>
          <a:blip r:embed="rId4" cstate="print"/>
          <a:stretch>
            <a:fillRect/>
          </a:stretch>
        </p:blipFill>
        <p:spPr>
          <a:xfrm>
            <a:off x="1151972" y="4137067"/>
            <a:ext cx="133350" cy="133349"/>
          </a:xfrm>
          <a:prstGeom prst="rect">
            <a:avLst/>
          </a:prstGeom>
        </p:spPr>
      </p:pic>
      <p:pic>
        <p:nvPicPr>
          <p:cNvPr id="7" name="object 7"/>
          <p:cNvPicPr/>
          <p:nvPr/>
        </p:nvPicPr>
        <p:blipFill>
          <a:blip r:embed="rId4" cstate="print"/>
          <a:stretch>
            <a:fillRect/>
          </a:stretch>
        </p:blipFill>
        <p:spPr>
          <a:xfrm>
            <a:off x="1151972" y="4775242"/>
            <a:ext cx="133350" cy="133349"/>
          </a:xfrm>
          <a:prstGeom prst="rect">
            <a:avLst/>
          </a:prstGeom>
        </p:spPr>
      </p:pic>
      <p:pic>
        <p:nvPicPr>
          <p:cNvPr id="8" name="object 8"/>
          <p:cNvPicPr/>
          <p:nvPr/>
        </p:nvPicPr>
        <p:blipFill>
          <a:blip r:embed="rId4" cstate="print"/>
          <a:stretch>
            <a:fillRect/>
          </a:stretch>
        </p:blipFill>
        <p:spPr>
          <a:xfrm>
            <a:off x="1151972" y="5413417"/>
            <a:ext cx="133350" cy="133349"/>
          </a:xfrm>
          <a:prstGeom prst="rect">
            <a:avLst/>
          </a:prstGeom>
        </p:spPr>
      </p:pic>
      <p:pic>
        <p:nvPicPr>
          <p:cNvPr id="9" name="object 9"/>
          <p:cNvPicPr/>
          <p:nvPr/>
        </p:nvPicPr>
        <p:blipFill>
          <a:blip r:embed="rId4" cstate="print"/>
          <a:stretch>
            <a:fillRect/>
          </a:stretch>
        </p:blipFill>
        <p:spPr>
          <a:xfrm>
            <a:off x="1151972" y="6051592"/>
            <a:ext cx="133350" cy="133349"/>
          </a:xfrm>
          <a:prstGeom prst="rect">
            <a:avLst/>
          </a:prstGeom>
        </p:spPr>
      </p:pic>
      <p:pic>
        <p:nvPicPr>
          <p:cNvPr id="10" name="object 10"/>
          <p:cNvPicPr/>
          <p:nvPr/>
        </p:nvPicPr>
        <p:blipFill>
          <a:blip r:embed="rId4" cstate="print"/>
          <a:stretch>
            <a:fillRect/>
          </a:stretch>
        </p:blipFill>
        <p:spPr>
          <a:xfrm>
            <a:off x="1151972" y="7327941"/>
            <a:ext cx="133350" cy="133349"/>
          </a:xfrm>
          <a:prstGeom prst="rect">
            <a:avLst/>
          </a:prstGeom>
        </p:spPr>
      </p:pic>
      <p:pic>
        <p:nvPicPr>
          <p:cNvPr id="11" name="object 11"/>
          <p:cNvPicPr/>
          <p:nvPr/>
        </p:nvPicPr>
        <p:blipFill>
          <a:blip r:embed="rId4" cstate="print"/>
          <a:stretch>
            <a:fillRect/>
          </a:stretch>
        </p:blipFill>
        <p:spPr>
          <a:xfrm>
            <a:off x="1151972" y="9242466"/>
            <a:ext cx="133350" cy="13334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03015" y="2404708"/>
            <a:ext cx="11293864" cy="6841269"/>
          </a:xfrm>
          <a:prstGeom prst="rect">
            <a:avLst/>
          </a:prstGeom>
        </p:spPr>
      </p:pic>
      <p:sp>
        <p:nvSpPr>
          <p:cNvPr id="3" name="object 3"/>
          <p:cNvSpPr txBox="1">
            <a:spLocks noGrp="1"/>
          </p:cNvSpPr>
          <p:nvPr>
            <p:ph type="title"/>
          </p:nvPr>
        </p:nvSpPr>
        <p:spPr>
          <a:xfrm>
            <a:off x="498497" y="552581"/>
            <a:ext cx="8587105" cy="787400"/>
          </a:xfrm>
          <a:prstGeom prst="rect">
            <a:avLst/>
          </a:prstGeom>
        </p:spPr>
        <p:txBody>
          <a:bodyPr vert="horz" wrap="square" lIns="0" tIns="12700" rIns="0" bIns="0" rtlCol="0">
            <a:spAutoFit/>
          </a:bodyPr>
          <a:lstStyle/>
          <a:p>
            <a:pPr marL="12700">
              <a:lnSpc>
                <a:spcPct val="100000"/>
              </a:lnSpc>
              <a:spcBef>
                <a:spcPts val="100"/>
              </a:spcBef>
            </a:pPr>
            <a:r>
              <a:rPr spc="-260" dirty="0">
                <a:solidFill>
                  <a:srgbClr val="FF3131"/>
                </a:solidFill>
              </a:rPr>
              <a:t>REPLICATION</a:t>
            </a:r>
            <a:r>
              <a:rPr spc="-45" dirty="0">
                <a:solidFill>
                  <a:srgbClr val="FF3131"/>
                </a:solidFill>
              </a:rPr>
              <a:t> </a:t>
            </a:r>
            <a:r>
              <a:rPr spc="-375" dirty="0">
                <a:solidFill>
                  <a:srgbClr val="FF3131"/>
                </a:solidFill>
              </a:rPr>
              <a:t>CONTROLLER: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65509" y="2841129"/>
            <a:ext cx="10420350" cy="130175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This</a:t>
            </a:r>
            <a:r>
              <a:rPr sz="3600" spc="-30" dirty="0">
                <a:solidFill>
                  <a:srgbClr val="2E377E"/>
                </a:solidFill>
                <a:latin typeface="Georgia"/>
                <a:cs typeface="Georgia"/>
              </a:rPr>
              <a:t> </a:t>
            </a:r>
            <a:r>
              <a:rPr sz="3600" spc="55" dirty="0">
                <a:solidFill>
                  <a:srgbClr val="2E377E"/>
                </a:solidFill>
                <a:latin typeface="Georgia"/>
                <a:cs typeface="Georgia"/>
              </a:rPr>
              <a:t>will</a:t>
            </a:r>
            <a:r>
              <a:rPr sz="3600" spc="-25" dirty="0">
                <a:solidFill>
                  <a:srgbClr val="2E377E"/>
                </a:solidFill>
                <a:latin typeface="Georgia"/>
                <a:cs typeface="Georgia"/>
              </a:rPr>
              <a:t> </a:t>
            </a:r>
            <a:r>
              <a:rPr sz="3600" dirty="0">
                <a:solidFill>
                  <a:srgbClr val="2E377E"/>
                </a:solidFill>
                <a:latin typeface="Georgia"/>
                <a:cs typeface="Georgia"/>
              </a:rPr>
              <a:t>helps</a:t>
            </a:r>
            <a:r>
              <a:rPr sz="3600" spc="-30" dirty="0">
                <a:solidFill>
                  <a:srgbClr val="2E377E"/>
                </a:solidFill>
                <a:latin typeface="Georgia"/>
                <a:cs typeface="Georgia"/>
              </a:rPr>
              <a:t> </a:t>
            </a:r>
            <a:r>
              <a:rPr sz="3600" spc="7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pass</a:t>
            </a:r>
            <a:r>
              <a:rPr sz="3600" spc="-30"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dirty="0">
                <a:solidFill>
                  <a:srgbClr val="2E377E"/>
                </a:solidFill>
                <a:latin typeface="Georgia"/>
                <a:cs typeface="Georgia"/>
              </a:rPr>
              <a:t>command</a:t>
            </a:r>
            <a:r>
              <a:rPr sz="3600" spc="-30" dirty="0">
                <a:solidFill>
                  <a:srgbClr val="2E377E"/>
                </a:solidFill>
                <a:latin typeface="Georgia"/>
                <a:cs typeface="Georgia"/>
              </a:rPr>
              <a:t> </a:t>
            </a:r>
            <a:r>
              <a:rPr sz="3600" spc="70" dirty="0">
                <a:solidFill>
                  <a:srgbClr val="2E377E"/>
                </a:solidFill>
                <a:latin typeface="Georgia"/>
                <a:cs typeface="Georgia"/>
              </a:rPr>
              <a:t>to</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pods</a:t>
            </a:r>
            <a:r>
              <a:rPr sz="3600" spc="-30" dirty="0">
                <a:solidFill>
                  <a:srgbClr val="2E377E"/>
                </a:solidFill>
                <a:latin typeface="Georgia"/>
                <a:cs typeface="Georgia"/>
              </a:rPr>
              <a:t> </a:t>
            </a:r>
            <a:r>
              <a:rPr sz="3600" spc="65" dirty="0">
                <a:solidFill>
                  <a:srgbClr val="2E377E"/>
                </a:solidFill>
                <a:latin typeface="Georgia"/>
                <a:cs typeface="Georgia"/>
              </a:rPr>
              <a:t>with </a:t>
            </a:r>
            <a:r>
              <a:rPr sz="3600" dirty="0">
                <a:solidFill>
                  <a:srgbClr val="2E377E"/>
                </a:solidFill>
                <a:latin typeface="Georgia"/>
                <a:cs typeface="Georgia"/>
              </a:rPr>
              <a:t>lable</a:t>
            </a:r>
            <a:r>
              <a:rPr sz="3600" spc="-20" dirty="0">
                <a:solidFill>
                  <a:srgbClr val="2E377E"/>
                </a:solidFill>
                <a:latin typeface="Georgia"/>
                <a:cs typeface="Georgia"/>
              </a:rPr>
              <a:t> </a:t>
            </a:r>
            <a:r>
              <a:rPr sz="3600" spc="-10" dirty="0">
                <a:solidFill>
                  <a:srgbClr val="2E377E"/>
                </a:solidFill>
                <a:latin typeface="Georgia"/>
                <a:cs typeface="Georgia"/>
              </a:rPr>
              <a:t>app=nginx</a:t>
            </a:r>
            <a:endParaRPr sz="3600">
              <a:latin typeface="Georgia"/>
              <a:cs typeface="Georgia"/>
            </a:endParaRPr>
          </a:p>
        </p:txBody>
      </p:sp>
      <p:sp>
        <p:nvSpPr>
          <p:cNvPr id="3" name="object 3"/>
          <p:cNvSpPr txBox="1">
            <a:spLocks noGrp="1"/>
          </p:cNvSpPr>
          <p:nvPr>
            <p:ph type="ctrTitle"/>
          </p:nvPr>
        </p:nvSpPr>
        <p:spPr>
          <a:prstGeom prst="rect">
            <a:avLst/>
          </a:prstGeom>
        </p:spPr>
        <p:txBody>
          <a:bodyPr vert="horz" wrap="square" lIns="0" tIns="12700" rIns="0" bIns="0" rtlCol="0">
            <a:spAutoFit/>
          </a:bodyPr>
          <a:lstStyle/>
          <a:p>
            <a:pPr marL="12700" marR="5080">
              <a:lnSpc>
                <a:spcPct val="116300"/>
              </a:lnSpc>
              <a:spcBef>
                <a:spcPts val="100"/>
              </a:spcBef>
              <a:tabLst>
                <a:tab pos="2720975" algn="l"/>
                <a:tab pos="3392804" algn="l"/>
                <a:tab pos="4907915" algn="l"/>
                <a:tab pos="5912485" algn="l"/>
                <a:tab pos="8237855" algn="l"/>
                <a:tab pos="9752965" algn="l"/>
              </a:tabLst>
            </a:pPr>
            <a:r>
              <a:rPr sz="3600" b="0" i="1" spc="-10" dirty="0">
                <a:solidFill>
                  <a:srgbClr val="2E377E"/>
                </a:solidFill>
                <a:latin typeface="Times New Roman"/>
                <a:cs typeface="Times New Roman"/>
              </a:rPr>
              <a:t>SELECTOR:</a:t>
            </a:r>
            <a:r>
              <a:rPr sz="3600" b="0" i="1" dirty="0">
                <a:solidFill>
                  <a:srgbClr val="2E377E"/>
                </a:solidFill>
                <a:latin typeface="Times New Roman"/>
                <a:cs typeface="Times New Roman"/>
              </a:rPr>
              <a:t>	</a:t>
            </a:r>
            <a:r>
              <a:rPr sz="3600" b="0" spc="-25" dirty="0">
                <a:solidFill>
                  <a:srgbClr val="2E377E"/>
                </a:solidFill>
                <a:latin typeface="Georgia"/>
                <a:cs typeface="Georgia"/>
              </a:rPr>
              <a:t>It</a:t>
            </a:r>
            <a:r>
              <a:rPr sz="3600" b="0" dirty="0">
                <a:solidFill>
                  <a:srgbClr val="2E377E"/>
                </a:solidFill>
                <a:latin typeface="Georgia"/>
                <a:cs typeface="Georgia"/>
              </a:rPr>
              <a:t>	</a:t>
            </a:r>
            <a:r>
              <a:rPr sz="3600" b="0" spc="45" dirty="0">
                <a:solidFill>
                  <a:srgbClr val="2E377E"/>
                </a:solidFill>
                <a:latin typeface="Georgia"/>
                <a:cs typeface="Georgia"/>
              </a:rPr>
              <a:t>select</a:t>
            </a:r>
            <a:r>
              <a:rPr sz="3600" b="0" dirty="0">
                <a:solidFill>
                  <a:srgbClr val="2E377E"/>
                </a:solidFill>
                <a:latin typeface="Georgia"/>
                <a:cs typeface="Georgia"/>
              </a:rPr>
              <a:t>	</a:t>
            </a:r>
            <a:r>
              <a:rPr sz="3600" b="0" spc="35" dirty="0">
                <a:solidFill>
                  <a:srgbClr val="2E377E"/>
                </a:solidFill>
                <a:latin typeface="Georgia"/>
                <a:cs typeface="Georgia"/>
              </a:rPr>
              <a:t>the</a:t>
            </a:r>
            <a:r>
              <a:rPr sz="3600" b="0" dirty="0">
                <a:solidFill>
                  <a:srgbClr val="2E377E"/>
                </a:solidFill>
                <a:latin typeface="Georgia"/>
                <a:cs typeface="Georgia"/>
              </a:rPr>
              <a:t>	</a:t>
            </a:r>
            <a:r>
              <a:rPr sz="3600" b="0" spc="35" dirty="0">
                <a:solidFill>
                  <a:srgbClr val="2E377E"/>
                </a:solidFill>
                <a:latin typeface="Georgia"/>
                <a:cs typeface="Georgia"/>
              </a:rPr>
              <a:t>resources</a:t>
            </a:r>
            <a:r>
              <a:rPr sz="3600" b="0" dirty="0">
                <a:solidFill>
                  <a:srgbClr val="2E377E"/>
                </a:solidFill>
                <a:latin typeface="Georgia"/>
                <a:cs typeface="Georgia"/>
              </a:rPr>
              <a:t>	</a:t>
            </a:r>
            <a:r>
              <a:rPr sz="3600" b="0" spc="-10" dirty="0">
                <a:solidFill>
                  <a:srgbClr val="2E377E"/>
                </a:solidFill>
                <a:latin typeface="Georgia"/>
                <a:cs typeface="Georgia"/>
              </a:rPr>
              <a:t>based</a:t>
            </a:r>
            <a:r>
              <a:rPr sz="3600" b="0" dirty="0">
                <a:solidFill>
                  <a:srgbClr val="2E377E"/>
                </a:solidFill>
                <a:latin typeface="Georgia"/>
                <a:cs typeface="Georgia"/>
              </a:rPr>
              <a:t>	</a:t>
            </a:r>
            <a:r>
              <a:rPr sz="3600" b="0" spc="-25" dirty="0">
                <a:solidFill>
                  <a:srgbClr val="2E377E"/>
                </a:solidFill>
                <a:latin typeface="Georgia"/>
                <a:cs typeface="Georgia"/>
              </a:rPr>
              <a:t>on </a:t>
            </a:r>
            <a:r>
              <a:rPr sz="3600" b="0" dirty="0">
                <a:solidFill>
                  <a:srgbClr val="2E377E"/>
                </a:solidFill>
                <a:latin typeface="Georgia"/>
                <a:cs typeface="Georgia"/>
              </a:rPr>
              <a:t>labels.</a:t>
            </a:r>
            <a:r>
              <a:rPr sz="3600" b="0" spc="-80" dirty="0">
                <a:solidFill>
                  <a:srgbClr val="2E377E"/>
                </a:solidFill>
                <a:latin typeface="Georgia"/>
                <a:cs typeface="Georgia"/>
              </a:rPr>
              <a:t> </a:t>
            </a:r>
            <a:r>
              <a:rPr sz="3600" b="0" dirty="0">
                <a:solidFill>
                  <a:srgbClr val="2E377E"/>
                </a:solidFill>
                <a:latin typeface="Georgia"/>
                <a:cs typeface="Georgia"/>
              </a:rPr>
              <a:t>Labels</a:t>
            </a:r>
            <a:r>
              <a:rPr sz="3600" b="0" spc="-75" dirty="0">
                <a:solidFill>
                  <a:srgbClr val="2E377E"/>
                </a:solidFill>
                <a:latin typeface="Georgia"/>
                <a:cs typeface="Georgia"/>
              </a:rPr>
              <a:t> </a:t>
            </a:r>
            <a:r>
              <a:rPr sz="3600" b="0" dirty="0">
                <a:solidFill>
                  <a:srgbClr val="2E377E"/>
                </a:solidFill>
                <a:latin typeface="Georgia"/>
                <a:cs typeface="Georgia"/>
              </a:rPr>
              <a:t>are</a:t>
            </a:r>
            <a:r>
              <a:rPr sz="3600" b="0" spc="-75" dirty="0">
                <a:solidFill>
                  <a:srgbClr val="2E377E"/>
                </a:solidFill>
                <a:latin typeface="Georgia"/>
                <a:cs typeface="Georgia"/>
              </a:rPr>
              <a:t> </a:t>
            </a:r>
            <a:r>
              <a:rPr sz="3600" b="0" spc="125" dirty="0">
                <a:solidFill>
                  <a:srgbClr val="2E377E"/>
                </a:solidFill>
                <a:latin typeface="Georgia"/>
                <a:cs typeface="Georgia"/>
              </a:rPr>
              <a:t>key</a:t>
            </a:r>
            <a:r>
              <a:rPr sz="3600" b="0" spc="-80" dirty="0">
                <a:solidFill>
                  <a:srgbClr val="2E377E"/>
                </a:solidFill>
                <a:latin typeface="Georgia"/>
                <a:cs typeface="Georgia"/>
              </a:rPr>
              <a:t> </a:t>
            </a:r>
            <a:r>
              <a:rPr sz="3600" b="0" spc="55" dirty="0">
                <a:solidFill>
                  <a:srgbClr val="2E377E"/>
                </a:solidFill>
                <a:latin typeface="Georgia"/>
                <a:cs typeface="Georgia"/>
              </a:rPr>
              <a:t>value</a:t>
            </a:r>
            <a:r>
              <a:rPr sz="3600" b="0" spc="-75" dirty="0">
                <a:solidFill>
                  <a:srgbClr val="2E377E"/>
                </a:solidFill>
                <a:latin typeface="Georgia"/>
                <a:cs typeface="Georgia"/>
              </a:rPr>
              <a:t> </a:t>
            </a:r>
            <a:r>
              <a:rPr sz="3600" b="0" spc="-10" dirty="0">
                <a:solidFill>
                  <a:srgbClr val="2E377E"/>
                </a:solidFill>
                <a:latin typeface="Georgia"/>
                <a:cs typeface="Georgia"/>
              </a:rPr>
              <a:t>pairs.</a:t>
            </a:r>
            <a:endParaRPr sz="3600">
              <a:latin typeface="Georgia"/>
              <a:cs typeface="Georgi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930016"/>
            <a:ext cx="14060805" cy="7881620"/>
          </a:xfrm>
          <a:prstGeom prst="rect">
            <a:avLst/>
          </a:prstGeom>
        </p:spPr>
        <p:txBody>
          <a:bodyPr vert="horz" wrap="square" lIns="0" tIns="75565" rIns="0" bIns="0" rtlCol="0">
            <a:spAutoFit/>
          </a:bodyPr>
          <a:lstStyle/>
          <a:p>
            <a:pPr marL="12700">
              <a:lnSpc>
                <a:spcPct val="100000"/>
              </a:lnSpc>
              <a:spcBef>
                <a:spcPts val="595"/>
              </a:spcBef>
            </a:pPr>
            <a:r>
              <a:rPr sz="2450" dirty="0">
                <a:latin typeface="Georgia"/>
                <a:cs typeface="Georgia"/>
              </a:rPr>
              <a:t>apiVersion:</a:t>
            </a:r>
            <a:r>
              <a:rPr sz="2450" spc="-70" dirty="0">
                <a:latin typeface="Georgia"/>
                <a:cs typeface="Georgia"/>
              </a:rPr>
              <a:t> </a:t>
            </a:r>
            <a:r>
              <a:rPr sz="2450" spc="40" dirty="0">
                <a:latin typeface="Georgia"/>
                <a:cs typeface="Georgia"/>
              </a:rPr>
              <a:t>v1</a:t>
            </a:r>
            <a:endParaRPr sz="2450">
              <a:latin typeface="Georgia"/>
              <a:cs typeface="Georgia"/>
            </a:endParaRPr>
          </a:p>
          <a:p>
            <a:pPr marL="12700" marR="10198100">
              <a:lnSpc>
                <a:spcPct val="116900"/>
              </a:lnSpc>
            </a:pPr>
            <a:r>
              <a:rPr sz="2450" dirty="0">
                <a:latin typeface="Georgia"/>
                <a:cs typeface="Georgia"/>
              </a:rPr>
              <a:t>kind:</a:t>
            </a:r>
            <a:r>
              <a:rPr sz="2450" spc="-80" dirty="0">
                <a:latin typeface="Georgia"/>
                <a:cs typeface="Georgia"/>
              </a:rPr>
              <a:t> </a:t>
            </a:r>
            <a:r>
              <a:rPr sz="2450" spc="-10" dirty="0">
                <a:latin typeface="Georgia"/>
                <a:cs typeface="Georgia"/>
              </a:rPr>
              <a:t>ReplicationController metadata:</a:t>
            </a:r>
            <a:endParaRPr sz="2450">
              <a:latin typeface="Georgia"/>
              <a:cs typeface="Georgia"/>
            </a:endParaRPr>
          </a:p>
          <a:p>
            <a:pPr marL="12700" marR="11560175" indent="139065">
              <a:lnSpc>
                <a:spcPct val="116900"/>
              </a:lnSpc>
            </a:pPr>
            <a:r>
              <a:rPr sz="2450" dirty="0">
                <a:latin typeface="Georgia"/>
                <a:cs typeface="Georgia"/>
              </a:rPr>
              <a:t>name:</a:t>
            </a:r>
            <a:r>
              <a:rPr sz="2450" spc="-105" dirty="0">
                <a:latin typeface="Georgia"/>
                <a:cs typeface="Georgia"/>
              </a:rPr>
              <a:t> </a:t>
            </a:r>
            <a:r>
              <a:rPr sz="2450" spc="-10" dirty="0">
                <a:latin typeface="Georgia"/>
                <a:cs typeface="Georgia"/>
              </a:rPr>
              <a:t>myreplica spec:</a:t>
            </a:r>
            <a:endParaRPr sz="2450">
              <a:latin typeface="Georgia"/>
              <a:cs typeface="Georgia"/>
            </a:endParaRPr>
          </a:p>
          <a:p>
            <a:pPr marL="151765" marR="11657330">
              <a:lnSpc>
                <a:spcPct val="116900"/>
              </a:lnSpc>
            </a:pPr>
            <a:r>
              <a:rPr sz="2450" dirty="0">
                <a:latin typeface="Georgia"/>
                <a:cs typeface="Georgia"/>
              </a:rPr>
              <a:t>replicas:</a:t>
            </a:r>
            <a:r>
              <a:rPr sz="2450" spc="-5" dirty="0">
                <a:latin typeface="Georgia"/>
                <a:cs typeface="Georgia"/>
              </a:rPr>
              <a:t> </a:t>
            </a:r>
            <a:r>
              <a:rPr sz="2450" spc="-50" dirty="0">
                <a:latin typeface="Georgia"/>
                <a:cs typeface="Georgia"/>
              </a:rPr>
              <a:t>2 </a:t>
            </a:r>
            <a:r>
              <a:rPr sz="2450" spc="-10" dirty="0">
                <a:latin typeface="Georgia"/>
                <a:cs typeface="Georgia"/>
              </a:rPr>
              <a:t>selector: </a:t>
            </a:r>
            <a:r>
              <a:rPr sz="2450" dirty="0">
                <a:latin typeface="Georgia"/>
                <a:cs typeface="Georgia"/>
              </a:rPr>
              <a:t>Location:</a:t>
            </a:r>
            <a:r>
              <a:rPr sz="2450" spc="-100" dirty="0">
                <a:latin typeface="Georgia"/>
                <a:cs typeface="Georgia"/>
              </a:rPr>
              <a:t> </a:t>
            </a:r>
            <a:r>
              <a:rPr sz="2450" spc="-20" dirty="0">
                <a:latin typeface="Georgia"/>
                <a:cs typeface="Georgia"/>
              </a:rPr>
              <a:t>India </a:t>
            </a:r>
            <a:r>
              <a:rPr sz="2450" spc="-10" dirty="0">
                <a:latin typeface="Georgia"/>
                <a:cs typeface="Georgia"/>
              </a:rPr>
              <a:t>template: metadata:</a:t>
            </a:r>
            <a:endParaRPr sz="2450">
              <a:latin typeface="Georgia"/>
              <a:cs typeface="Georgia"/>
            </a:endParaRPr>
          </a:p>
          <a:p>
            <a:pPr marL="430530" marR="11378565">
              <a:lnSpc>
                <a:spcPct val="116900"/>
              </a:lnSpc>
            </a:pPr>
            <a:r>
              <a:rPr sz="2450" dirty="0">
                <a:latin typeface="Georgia"/>
                <a:cs typeface="Georgia"/>
              </a:rPr>
              <a:t>name:</a:t>
            </a:r>
            <a:r>
              <a:rPr sz="2450" spc="-105" dirty="0">
                <a:latin typeface="Georgia"/>
                <a:cs typeface="Georgia"/>
              </a:rPr>
              <a:t> </a:t>
            </a:r>
            <a:r>
              <a:rPr sz="2450" spc="-10" dirty="0">
                <a:latin typeface="Georgia"/>
                <a:cs typeface="Georgia"/>
              </a:rPr>
              <a:t>testpod6 labels:</a:t>
            </a:r>
            <a:endParaRPr sz="2450">
              <a:latin typeface="Georgia"/>
              <a:cs typeface="Georgia"/>
            </a:endParaRPr>
          </a:p>
          <a:p>
            <a:pPr marL="291465" marR="11378565" indent="278765">
              <a:lnSpc>
                <a:spcPct val="116900"/>
              </a:lnSpc>
            </a:pPr>
            <a:r>
              <a:rPr sz="2450" dirty="0">
                <a:latin typeface="Georgia"/>
                <a:cs typeface="Georgia"/>
              </a:rPr>
              <a:t>Location:</a:t>
            </a:r>
            <a:r>
              <a:rPr sz="2450" spc="-100" dirty="0">
                <a:latin typeface="Georgia"/>
                <a:cs typeface="Georgia"/>
              </a:rPr>
              <a:t> </a:t>
            </a:r>
            <a:r>
              <a:rPr sz="2450" spc="-20" dirty="0">
                <a:latin typeface="Georgia"/>
                <a:cs typeface="Georgia"/>
              </a:rPr>
              <a:t>India </a:t>
            </a:r>
            <a:r>
              <a:rPr sz="2450" spc="-10" dirty="0">
                <a:latin typeface="Georgia"/>
                <a:cs typeface="Georgia"/>
              </a:rPr>
              <a:t>spec:</a:t>
            </a:r>
            <a:endParaRPr sz="2450">
              <a:latin typeface="Georgia"/>
              <a:cs typeface="Georgia"/>
            </a:endParaRPr>
          </a:p>
          <a:p>
            <a:pPr marL="361315">
              <a:lnSpc>
                <a:spcPct val="100000"/>
              </a:lnSpc>
              <a:spcBef>
                <a:spcPts val="490"/>
              </a:spcBef>
            </a:pPr>
            <a:r>
              <a:rPr sz="2450" spc="-10" dirty="0">
                <a:latin typeface="Georgia"/>
                <a:cs typeface="Georgia"/>
              </a:rPr>
              <a:t>containers:</a:t>
            </a:r>
            <a:endParaRPr sz="2450">
              <a:latin typeface="Georgia"/>
              <a:cs typeface="Georgia"/>
            </a:endParaRPr>
          </a:p>
          <a:p>
            <a:pPr marL="640080" marR="11375390" indent="-139700">
              <a:lnSpc>
                <a:spcPct val="116900"/>
              </a:lnSpc>
            </a:pPr>
            <a:r>
              <a:rPr sz="2450" dirty="0">
                <a:latin typeface="Georgia"/>
                <a:cs typeface="Georgia"/>
              </a:rPr>
              <a:t>-</a:t>
            </a:r>
            <a:r>
              <a:rPr sz="2450" spc="-65" dirty="0">
                <a:latin typeface="Georgia"/>
                <a:cs typeface="Georgia"/>
              </a:rPr>
              <a:t> </a:t>
            </a:r>
            <a:r>
              <a:rPr sz="2450" dirty="0">
                <a:latin typeface="Georgia"/>
                <a:cs typeface="Georgia"/>
              </a:rPr>
              <a:t>name:</a:t>
            </a:r>
            <a:r>
              <a:rPr sz="2450" spc="-60" dirty="0">
                <a:latin typeface="Georgia"/>
                <a:cs typeface="Georgia"/>
              </a:rPr>
              <a:t> </a:t>
            </a:r>
            <a:r>
              <a:rPr sz="2450" spc="-25" dirty="0">
                <a:latin typeface="Georgia"/>
                <a:cs typeface="Georgia"/>
              </a:rPr>
              <a:t>c00 </a:t>
            </a:r>
            <a:r>
              <a:rPr sz="2450" dirty="0">
                <a:latin typeface="Georgia"/>
                <a:cs typeface="Georgia"/>
              </a:rPr>
              <a:t>image:</a:t>
            </a:r>
            <a:r>
              <a:rPr sz="2450" spc="-70" dirty="0">
                <a:latin typeface="Georgia"/>
                <a:cs typeface="Georgia"/>
              </a:rPr>
              <a:t> </a:t>
            </a:r>
            <a:r>
              <a:rPr sz="2450" spc="-10" dirty="0">
                <a:latin typeface="Georgia"/>
                <a:cs typeface="Georgia"/>
              </a:rPr>
              <a:t>ubuntu</a:t>
            </a:r>
            <a:endParaRPr sz="2450">
              <a:latin typeface="Georgia"/>
              <a:cs typeface="Georgia"/>
            </a:endParaRPr>
          </a:p>
          <a:p>
            <a:pPr marL="640080">
              <a:lnSpc>
                <a:spcPct val="100000"/>
              </a:lnSpc>
              <a:spcBef>
                <a:spcPts val="500"/>
              </a:spcBef>
            </a:pPr>
            <a:r>
              <a:rPr sz="2450" dirty="0">
                <a:latin typeface="Georgia"/>
                <a:cs typeface="Georgia"/>
              </a:rPr>
              <a:t>command:</a:t>
            </a:r>
            <a:r>
              <a:rPr sz="2450" spc="10" dirty="0">
                <a:latin typeface="Georgia"/>
                <a:cs typeface="Georgia"/>
              </a:rPr>
              <a:t> </a:t>
            </a:r>
            <a:r>
              <a:rPr sz="2450" spc="-70" dirty="0">
                <a:latin typeface="Georgia"/>
                <a:cs typeface="Georgia"/>
              </a:rPr>
              <a:t>["/bin/bash",</a:t>
            </a:r>
            <a:r>
              <a:rPr sz="2450" spc="15" dirty="0">
                <a:latin typeface="Georgia"/>
                <a:cs typeface="Georgia"/>
              </a:rPr>
              <a:t> </a:t>
            </a:r>
            <a:r>
              <a:rPr sz="2450" spc="-85" dirty="0">
                <a:latin typeface="Georgia"/>
                <a:cs typeface="Georgia"/>
              </a:rPr>
              <a:t>"-</a:t>
            </a:r>
            <a:r>
              <a:rPr sz="2450" spc="-60" dirty="0">
                <a:latin typeface="Georgia"/>
                <a:cs typeface="Georgia"/>
              </a:rPr>
              <a:t>c",</a:t>
            </a:r>
            <a:r>
              <a:rPr sz="2450" spc="20" dirty="0">
                <a:latin typeface="Georgia"/>
                <a:cs typeface="Georgia"/>
              </a:rPr>
              <a:t> </a:t>
            </a:r>
            <a:r>
              <a:rPr sz="2450" dirty="0">
                <a:latin typeface="Georgia"/>
                <a:cs typeface="Georgia"/>
              </a:rPr>
              <a:t>"while</a:t>
            </a:r>
            <a:r>
              <a:rPr sz="2450" spc="15" dirty="0">
                <a:latin typeface="Georgia"/>
                <a:cs typeface="Georgia"/>
              </a:rPr>
              <a:t> </a:t>
            </a:r>
            <a:r>
              <a:rPr sz="2450" dirty="0">
                <a:latin typeface="Georgia"/>
                <a:cs typeface="Georgia"/>
              </a:rPr>
              <a:t>true;</a:t>
            </a:r>
            <a:r>
              <a:rPr sz="2450" spc="20" dirty="0">
                <a:latin typeface="Georgia"/>
                <a:cs typeface="Georgia"/>
              </a:rPr>
              <a:t> </a:t>
            </a:r>
            <a:r>
              <a:rPr sz="2450" dirty="0">
                <a:latin typeface="Georgia"/>
                <a:cs typeface="Georgia"/>
              </a:rPr>
              <a:t>do</a:t>
            </a:r>
            <a:r>
              <a:rPr sz="2450" spc="15" dirty="0">
                <a:latin typeface="Georgia"/>
                <a:cs typeface="Georgia"/>
              </a:rPr>
              <a:t> </a:t>
            </a:r>
            <a:r>
              <a:rPr sz="2450" dirty="0">
                <a:latin typeface="Georgia"/>
                <a:cs typeface="Georgia"/>
              </a:rPr>
              <a:t>echo</a:t>
            </a:r>
            <a:r>
              <a:rPr sz="2450" spc="20" dirty="0">
                <a:latin typeface="Georgia"/>
                <a:cs typeface="Georgia"/>
              </a:rPr>
              <a:t> </a:t>
            </a:r>
            <a:r>
              <a:rPr sz="2450" dirty="0">
                <a:latin typeface="Georgia"/>
                <a:cs typeface="Georgia"/>
              </a:rPr>
              <a:t>ReplicationController</a:t>
            </a:r>
            <a:r>
              <a:rPr sz="2450" spc="20" dirty="0">
                <a:latin typeface="Georgia"/>
                <a:cs typeface="Georgia"/>
              </a:rPr>
              <a:t> </a:t>
            </a:r>
            <a:r>
              <a:rPr sz="2450" dirty="0">
                <a:latin typeface="Georgia"/>
                <a:cs typeface="Georgia"/>
              </a:rPr>
              <a:t>Example;</a:t>
            </a:r>
            <a:r>
              <a:rPr sz="2450" spc="15" dirty="0">
                <a:latin typeface="Georgia"/>
                <a:cs typeface="Georgia"/>
              </a:rPr>
              <a:t> </a:t>
            </a:r>
            <a:r>
              <a:rPr sz="2450" dirty="0">
                <a:latin typeface="Georgia"/>
                <a:cs typeface="Georgia"/>
              </a:rPr>
              <a:t>sleep</a:t>
            </a:r>
            <a:r>
              <a:rPr sz="2450" spc="20" dirty="0">
                <a:latin typeface="Georgia"/>
                <a:cs typeface="Georgia"/>
              </a:rPr>
              <a:t> </a:t>
            </a:r>
            <a:r>
              <a:rPr sz="2450" spc="-125" dirty="0">
                <a:latin typeface="Georgia"/>
                <a:cs typeface="Georgia"/>
              </a:rPr>
              <a:t>5</a:t>
            </a:r>
            <a:r>
              <a:rPr sz="2450" spc="15" dirty="0">
                <a:latin typeface="Georgia"/>
                <a:cs typeface="Georgia"/>
              </a:rPr>
              <a:t> </a:t>
            </a:r>
            <a:r>
              <a:rPr sz="2450" spc="-130" dirty="0">
                <a:latin typeface="Georgia"/>
                <a:cs typeface="Georgia"/>
              </a:rPr>
              <a:t>;</a:t>
            </a:r>
            <a:r>
              <a:rPr sz="2450" spc="20" dirty="0">
                <a:latin typeface="Georgia"/>
                <a:cs typeface="Georgia"/>
              </a:rPr>
              <a:t> </a:t>
            </a:r>
            <a:r>
              <a:rPr sz="2450" spc="-10" dirty="0">
                <a:latin typeface="Georgia"/>
                <a:cs typeface="Georgia"/>
              </a:rPr>
              <a:t>done"]</a:t>
            </a:r>
            <a:endParaRPr sz="2450">
              <a:latin typeface="Georgia"/>
              <a:cs typeface="Georgi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1320" y="273575"/>
            <a:ext cx="3420745" cy="3168650"/>
          </a:xfrm>
          <a:prstGeom prst="rect">
            <a:avLst/>
          </a:prstGeom>
        </p:spPr>
        <p:txBody>
          <a:bodyPr vert="horz" wrap="square" lIns="0" tIns="12065" rIns="0" bIns="0" rtlCol="0">
            <a:spAutoFit/>
          </a:bodyPr>
          <a:lstStyle/>
          <a:p>
            <a:pPr marL="12700" marR="876300">
              <a:lnSpc>
                <a:spcPct val="114599"/>
              </a:lnSpc>
              <a:spcBef>
                <a:spcPts val="95"/>
              </a:spcBef>
            </a:pPr>
            <a:r>
              <a:rPr sz="3600" b="1" i="1" spc="-250" dirty="0">
                <a:solidFill>
                  <a:srgbClr val="2E377E"/>
                </a:solidFill>
                <a:latin typeface="Times New Roman"/>
                <a:cs typeface="Times New Roman"/>
              </a:rPr>
              <a:t>TO</a:t>
            </a:r>
            <a:r>
              <a:rPr sz="3600" b="1" i="1" spc="-105" dirty="0">
                <a:solidFill>
                  <a:srgbClr val="2E377E"/>
                </a:solidFill>
                <a:latin typeface="Times New Roman"/>
                <a:cs typeface="Times New Roman"/>
              </a:rPr>
              <a:t> </a:t>
            </a:r>
            <a:r>
              <a:rPr sz="3600" b="1" i="1" spc="-320" dirty="0">
                <a:solidFill>
                  <a:srgbClr val="2E377E"/>
                </a:solidFill>
                <a:latin typeface="Times New Roman"/>
                <a:cs typeface="Times New Roman"/>
              </a:rPr>
              <a:t>EXECUTE </a:t>
            </a:r>
            <a:r>
              <a:rPr sz="3600" b="1" i="1" spc="-250" dirty="0">
                <a:solidFill>
                  <a:srgbClr val="2E377E"/>
                </a:solidFill>
                <a:latin typeface="Times New Roman"/>
                <a:cs typeface="Times New Roman"/>
              </a:rPr>
              <a:t>TO</a:t>
            </a:r>
            <a:r>
              <a:rPr sz="3600" b="1" i="1" spc="-105" dirty="0">
                <a:solidFill>
                  <a:srgbClr val="2E377E"/>
                </a:solidFill>
                <a:latin typeface="Times New Roman"/>
                <a:cs typeface="Times New Roman"/>
              </a:rPr>
              <a:t> </a:t>
            </a:r>
            <a:r>
              <a:rPr sz="3600" b="1" i="1" spc="-350" dirty="0">
                <a:solidFill>
                  <a:srgbClr val="2E377E"/>
                </a:solidFill>
                <a:latin typeface="Times New Roman"/>
                <a:cs typeface="Times New Roman"/>
              </a:rPr>
              <a:t>GET</a:t>
            </a:r>
            <a:endParaRPr sz="3600">
              <a:latin typeface="Times New Roman"/>
              <a:cs typeface="Times New Roman"/>
            </a:endParaRPr>
          </a:p>
          <a:p>
            <a:pPr marL="12700" marR="727075">
              <a:lnSpc>
                <a:spcPct val="114599"/>
              </a:lnSpc>
            </a:pPr>
            <a:r>
              <a:rPr sz="3600" b="1" i="1" spc="-250" dirty="0">
                <a:solidFill>
                  <a:srgbClr val="2E377E"/>
                </a:solidFill>
                <a:latin typeface="Times New Roman"/>
                <a:cs typeface="Times New Roman"/>
              </a:rPr>
              <a:t>TO</a:t>
            </a:r>
            <a:r>
              <a:rPr sz="3600" b="1" i="1" spc="-105" dirty="0">
                <a:solidFill>
                  <a:srgbClr val="2E377E"/>
                </a:solidFill>
                <a:latin typeface="Times New Roman"/>
                <a:cs typeface="Times New Roman"/>
              </a:rPr>
              <a:t> </a:t>
            </a:r>
            <a:r>
              <a:rPr sz="3600" b="1" i="1" spc="-290" dirty="0">
                <a:solidFill>
                  <a:srgbClr val="2E377E"/>
                </a:solidFill>
                <a:latin typeface="Times New Roman"/>
                <a:cs typeface="Times New Roman"/>
              </a:rPr>
              <a:t>DESCRIBE </a:t>
            </a:r>
            <a:r>
              <a:rPr sz="3600" b="1" i="1" spc="-250" dirty="0">
                <a:solidFill>
                  <a:srgbClr val="2E377E"/>
                </a:solidFill>
                <a:latin typeface="Times New Roman"/>
                <a:cs typeface="Times New Roman"/>
              </a:rPr>
              <a:t>TO</a:t>
            </a:r>
            <a:r>
              <a:rPr sz="3600" b="1" i="1" spc="-105" dirty="0">
                <a:solidFill>
                  <a:srgbClr val="2E377E"/>
                </a:solidFill>
                <a:latin typeface="Times New Roman"/>
                <a:cs typeface="Times New Roman"/>
              </a:rPr>
              <a:t> </a:t>
            </a:r>
            <a:r>
              <a:rPr sz="3600" b="1" i="1" spc="-254" dirty="0">
                <a:solidFill>
                  <a:srgbClr val="2E377E"/>
                </a:solidFill>
                <a:latin typeface="Times New Roman"/>
                <a:cs typeface="Times New Roman"/>
              </a:rPr>
              <a:t>SCALE</a:t>
            </a:r>
            <a:r>
              <a:rPr sz="3600" b="1" i="1" spc="-100" dirty="0">
                <a:solidFill>
                  <a:srgbClr val="2E377E"/>
                </a:solidFill>
                <a:latin typeface="Times New Roman"/>
                <a:cs typeface="Times New Roman"/>
              </a:rPr>
              <a:t> </a:t>
            </a:r>
            <a:r>
              <a:rPr sz="3600" b="1" i="1" spc="-25" dirty="0">
                <a:solidFill>
                  <a:srgbClr val="2E377E"/>
                </a:solidFill>
                <a:latin typeface="Times New Roman"/>
                <a:cs typeface="Times New Roman"/>
              </a:rPr>
              <a:t>UP</a:t>
            </a:r>
            <a:endParaRPr sz="3600">
              <a:latin typeface="Times New Roman"/>
              <a:cs typeface="Times New Roman"/>
            </a:endParaRPr>
          </a:p>
          <a:p>
            <a:pPr marL="12700">
              <a:lnSpc>
                <a:spcPct val="100000"/>
              </a:lnSpc>
              <a:spcBef>
                <a:spcPts val="630"/>
              </a:spcBef>
            </a:pPr>
            <a:r>
              <a:rPr sz="3600" b="1" i="1" spc="-250" dirty="0">
                <a:solidFill>
                  <a:srgbClr val="2E377E"/>
                </a:solidFill>
                <a:latin typeface="Times New Roman"/>
                <a:cs typeface="Times New Roman"/>
              </a:rPr>
              <a:t>TO</a:t>
            </a:r>
            <a:r>
              <a:rPr sz="3600" b="1" i="1" spc="-105" dirty="0">
                <a:solidFill>
                  <a:srgbClr val="2E377E"/>
                </a:solidFill>
                <a:latin typeface="Times New Roman"/>
                <a:cs typeface="Times New Roman"/>
              </a:rPr>
              <a:t> </a:t>
            </a:r>
            <a:r>
              <a:rPr sz="3600" b="1" i="1" spc="-254" dirty="0">
                <a:solidFill>
                  <a:srgbClr val="2E377E"/>
                </a:solidFill>
                <a:latin typeface="Times New Roman"/>
                <a:cs typeface="Times New Roman"/>
              </a:rPr>
              <a:t>SCALE</a:t>
            </a:r>
            <a:r>
              <a:rPr sz="3600" b="1" i="1" spc="-100" dirty="0">
                <a:solidFill>
                  <a:srgbClr val="2E377E"/>
                </a:solidFill>
                <a:latin typeface="Times New Roman"/>
                <a:cs typeface="Times New Roman"/>
              </a:rPr>
              <a:t> </a:t>
            </a:r>
            <a:r>
              <a:rPr sz="3600" b="1" i="1" spc="-65" dirty="0">
                <a:solidFill>
                  <a:srgbClr val="2E377E"/>
                </a:solidFill>
                <a:latin typeface="Times New Roman"/>
                <a:cs typeface="Times New Roman"/>
              </a:rPr>
              <a:t>DOWN</a:t>
            </a:r>
            <a:endParaRPr sz="3600">
              <a:latin typeface="Times New Roman"/>
              <a:cs typeface="Times New Roman"/>
            </a:endParaRPr>
          </a:p>
        </p:txBody>
      </p:sp>
      <p:sp>
        <p:nvSpPr>
          <p:cNvPr id="3" name="object 3"/>
          <p:cNvSpPr txBox="1"/>
          <p:nvPr/>
        </p:nvSpPr>
        <p:spPr>
          <a:xfrm>
            <a:off x="681320" y="4123197"/>
            <a:ext cx="6835140" cy="576580"/>
          </a:xfrm>
          <a:prstGeom prst="rect">
            <a:avLst/>
          </a:prstGeom>
        </p:spPr>
        <p:txBody>
          <a:bodyPr vert="horz" wrap="square" lIns="0" tIns="14605" rIns="0" bIns="0" rtlCol="0">
            <a:spAutoFit/>
          </a:bodyPr>
          <a:lstStyle/>
          <a:p>
            <a:pPr marL="12700">
              <a:lnSpc>
                <a:spcPct val="100000"/>
              </a:lnSpc>
              <a:spcBef>
                <a:spcPts val="115"/>
              </a:spcBef>
            </a:pPr>
            <a:r>
              <a:rPr sz="3600" b="1" i="1" spc="-250" dirty="0">
                <a:solidFill>
                  <a:srgbClr val="2E377E"/>
                </a:solidFill>
                <a:latin typeface="Times New Roman"/>
                <a:cs typeface="Times New Roman"/>
              </a:rPr>
              <a:t>TO</a:t>
            </a:r>
            <a:r>
              <a:rPr sz="3600" b="1" i="1" spc="-105" dirty="0">
                <a:solidFill>
                  <a:srgbClr val="2E377E"/>
                </a:solidFill>
                <a:latin typeface="Times New Roman"/>
                <a:cs typeface="Times New Roman"/>
              </a:rPr>
              <a:t> </a:t>
            </a:r>
            <a:r>
              <a:rPr sz="3600" b="1" i="1" spc="-380" dirty="0">
                <a:solidFill>
                  <a:srgbClr val="2E377E"/>
                </a:solidFill>
                <a:latin typeface="Times New Roman"/>
                <a:cs typeface="Times New Roman"/>
              </a:rPr>
              <a:t>DELETE</a:t>
            </a:r>
            <a:r>
              <a:rPr sz="3600" b="1" i="1" spc="-105" dirty="0">
                <a:solidFill>
                  <a:srgbClr val="2E377E"/>
                </a:solidFill>
                <a:latin typeface="Times New Roman"/>
                <a:cs typeface="Times New Roman"/>
              </a:rPr>
              <a:t> </a:t>
            </a:r>
            <a:r>
              <a:rPr sz="3600" b="1" i="1" spc="-285" dirty="0">
                <a:solidFill>
                  <a:srgbClr val="2E377E"/>
                </a:solidFill>
                <a:latin typeface="Times New Roman"/>
                <a:cs typeface="Times New Roman"/>
              </a:rPr>
              <a:t>REPLICA</a:t>
            </a:r>
            <a:r>
              <a:rPr sz="3600" b="1" i="1" spc="-100" dirty="0">
                <a:solidFill>
                  <a:srgbClr val="2E377E"/>
                </a:solidFill>
                <a:latin typeface="Times New Roman"/>
                <a:cs typeface="Times New Roman"/>
              </a:rPr>
              <a:t> </a:t>
            </a:r>
            <a:r>
              <a:rPr sz="3600" b="1" i="1" spc="-285" dirty="0">
                <a:solidFill>
                  <a:srgbClr val="2E377E"/>
                </a:solidFill>
                <a:latin typeface="Times New Roman"/>
                <a:cs typeface="Times New Roman"/>
              </a:rPr>
              <a:t>CONTROLLER</a:t>
            </a:r>
            <a:endParaRPr sz="3600">
              <a:latin typeface="Times New Roman"/>
              <a:cs typeface="Times New Roman"/>
            </a:endParaRPr>
          </a:p>
        </p:txBody>
      </p:sp>
      <p:sp>
        <p:nvSpPr>
          <p:cNvPr id="4" name="object 4"/>
          <p:cNvSpPr txBox="1"/>
          <p:nvPr/>
        </p:nvSpPr>
        <p:spPr>
          <a:xfrm>
            <a:off x="8165159" y="144311"/>
            <a:ext cx="9295765" cy="4425950"/>
          </a:xfrm>
          <a:prstGeom prst="rect">
            <a:avLst/>
          </a:prstGeom>
        </p:spPr>
        <p:txBody>
          <a:bodyPr vert="horz" wrap="square" lIns="0" tIns="92075" rIns="0" bIns="0" rtlCol="0">
            <a:spAutoFit/>
          </a:bodyPr>
          <a:lstStyle/>
          <a:p>
            <a:pPr marL="114935">
              <a:lnSpc>
                <a:spcPct val="100000"/>
              </a:lnSpc>
              <a:spcBef>
                <a:spcPts val="725"/>
              </a:spcBef>
            </a:pPr>
            <a:r>
              <a:rPr sz="3600" spc="-245" dirty="0">
                <a:solidFill>
                  <a:srgbClr val="2E377E"/>
                </a:solidFill>
                <a:latin typeface="Georgia"/>
                <a:cs typeface="Georgia"/>
              </a:rPr>
              <a:t>:</a:t>
            </a:r>
            <a:r>
              <a:rPr sz="3600" spc="-45" dirty="0">
                <a:solidFill>
                  <a:srgbClr val="2E377E"/>
                </a:solidFill>
                <a:latin typeface="Georgia"/>
                <a:cs typeface="Georgia"/>
              </a:rPr>
              <a:t> </a:t>
            </a:r>
            <a:r>
              <a:rPr sz="3600" spc="55" dirty="0">
                <a:solidFill>
                  <a:srgbClr val="FF3131"/>
                </a:solidFill>
                <a:latin typeface="Georgia"/>
                <a:cs typeface="Georgia"/>
              </a:rPr>
              <a:t>kubectl</a:t>
            </a:r>
            <a:r>
              <a:rPr sz="3600" spc="-45" dirty="0">
                <a:solidFill>
                  <a:srgbClr val="FF3131"/>
                </a:solidFill>
                <a:latin typeface="Georgia"/>
                <a:cs typeface="Georgia"/>
              </a:rPr>
              <a:t> </a:t>
            </a:r>
            <a:r>
              <a:rPr sz="3600" spc="55" dirty="0">
                <a:solidFill>
                  <a:srgbClr val="FF3131"/>
                </a:solidFill>
                <a:latin typeface="Georgia"/>
                <a:cs typeface="Georgia"/>
              </a:rPr>
              <a:t>create</a:t>
            </a:r>
            <a:r>
              <a:rPr sz="3600" spc="-45" dirty="0">
                <a:solidFill>
                  <a:srgbClr val="FF3131"/>
                </a:solidFill>
                <a:latin typeface="Georgia"/>
                <a:cs typeface="Georgia"/>
              </a:rPr>
              <a:t> </a:t>
            </a:r>
            <a:r>
              <a:rPr sz="3600" dirty="0">
                <a:solidFill>
                  <a:srgbClr val="FF3131"/>
                </a:solidFill>
                <a:latin typeface="Georgia"/>
                <a:cs typeface="Georgia"/>
              </a:rPr>
              <a:t>-</a:t>
            </a:r>
            <a:r>
              <a:rPr sz="3600" spc="55" dirty="0">
                <a:solidFill>
                  <a:srgbClr val="FF3131"/>
                </a:solidFill>
                <a:latin typeface="Georgia"/>
                <a:cs typeface="Georgia"/>
              </a:rPr>
              <a:t>f</a:t>
            </a:r>
            <a:r>
              <a:rPr sz="3600" spc="-45" dirty="0">
                <a:solidFill>
                  <a:srgbClr val="FF3131"/>
                </a:solidFill>
                <a:latin typeface="Georgia"/>
                <a:cs typeface="Georgia"/>
              </a:rPr>
              <a:t> </a:t>
            </a:r>
            <a:r>
              <a:rPr sz="3600" spc="-10" dirty="0">
                <a:solidFill>
                  <a:srgbClr val="FF3131"/>
                </a:solidFill>
                <a:latin typeface="Georgia"/>
                <a:cs typeface="Georgia"/>
              </a:rPr>
              <a:t>file_name.yml</a:t>
            </a:r>
            <a:endParaRPr sz="3600">
              <a:latin typeface="Georgia"/>
              <a:cs typeface="Georgia"/>
            </a:endParaRPr>
          </a:p>
          <a:p>
            <a:pPr marL="114935">
              <a:lnSpc>
                <a:spcPct val="100000"/>
              </a:lnSpc>
              <a:spcBef>
                <a:spcPts val="630"/>
              </a:spcBef>
            </a:pPr>
            <a:r>
              <a:rPr sz="3600" spc="-245" dirty="0">
                <a:solidFill>
                  <a:srgbClr val="2E377E"/>
                </a:solidFill>
                <a:latin typeface="Georgia"/>
                <a:cs typeface="Georgia"/>
              </a:rPr>
              <a:t>:</a:t>
            </a:r>
            <a:r>
              <a:rPr sz="3600" spc="-55" dirty="0">
                <a:solidFill>
                  <a:srgbClr val="2E377E"/>
                </a:solidFill>
                <a:latin typeface="Georgia"/>
                <a:cs typeface="Georgia"/>
              </a:rPr>
              <a:t> </a:t>
            </a:r>
            <a:r>
              <a:rPr sz="3600" spc="55" dirty="0">
                <a:solidFill>
                  <a:srgbClr val="FF3131"/>
                </a:solidFill>
                <a:latin typeface="Georgia"/>
                <a:cs typeface="Georgia"/>
              </a:rPr>
              <a:t>kubectl</a:t>
            </a:r>
            <a:r>
              <a:rPr sz="3600" spc="-50" dirty="0">
                <a:solidFill>
                  <a:srgbClr val="FF3131"/>
                </a:solidFill>
                <a:latin typeface="Georgia"/>
                <a:cs typeface="Georgia"/>
              </a:rPr>
              <a:t> </a:t>
            </a:r>
            <a:r>
              <a:rPr sz="3600" spc="70" dirty="0">
                <a:solidFill>
                  <a:srgbClr val="FF3131"/>
                </a:solidFill>
                <a:latin typeface="Georgia"/>
                <a:cs typeface="Georgia"/>
              </a:rPr>
              <a:t>get</a:t>
            </a:r>
            <a:r>
              <a:rPr sz="3600" spc="-50" dirty="0">
                <a:solidFill>
                  <a:srgbClr val="FF3131"/>
                </a:solidFill>
                <a:latin typeface="Georgia"/>
                <a:cs typeface="Georgia"/>
              </a:rPr>
              <a:t> </a:t>
            </a:r>
            <a:r>
              <a:rPr sz="3600" spc="30" dirty="0">
                <a:solidFill>
                  <a:srgbClr val="FF3131"/>
                </a:solidFill>
                <a:latin typeface="Georgia"/>
                <a:cs typeface="Georgia"/>
              </a:rPr>
              <a:t>rc</a:t>
            </a:r>
            <a:endParaRPr sz="3600">
              <a:latin typeface="Georgia"/>
              <a:cs typeface="Georgia"/>
            </a:endParaRPr>
          </a:p>
          <a:p>
            <a:pPr marL="12700">
              <a:lnSpc>
                <a:spcPct val="100000"/>
              </a:lnSpc>
              <a:spcBef>
                <a:spcPts val="630"/>
              </a:spcBef>
            </a:pPr>
            <a:r>
              <a:rPr sz="3600" spc="-245" dirty="0">
                <a:solidFill>
                  <a:srgbClr val="2E377E"/>
                </a:solidFill>
                <a:latin typeface="Georgia"/>
                <a:cs typeface="Georgia"/>
              </a:rPr>
              <a:t>:</a:t>
            </a:r>
            <a:r>
              <a:rPr sz="3600" spc="45" dirty="0">
                <a:solidFill>
                  <a:srgbClr val="2E377E"/>
                </a:solidFill>
                <a:latin typeface="Georgia"/>
                <a:cs typeface="Georgia"/>
              </a:rPr>
              <a:t> </a:t>
            </a:r>
            <a:r>
              <a:rPr sz="3600" spc="55" dirty="0">
                <a:solidFill>
                  <a:srgbClr val="FF3131"/>
                </a:solidFill>
                <a:latin typeface="Georgia"/>
                <a:cs typeface="Georgia"/>
              </a:rPr>
              <a:t>kubectl</a:t>
            </a:r>
            <a:r>
              <a:rPr sz="3600" spc="45" dirty="0">
                <a:solidFill>
                  <a:srgbClr val="FF3131"/>
                </a:solidFill>
                <a:latin typeface="Georgia"/>
                <a:cs typeface="Georgia"/>
              </a:rPr>
              <a:t> </a:t>
            </a:r>
            <a:r>
              <a:rPr sz="3600" dirty="0">
                <a:solidFill>
                  <a:srgbClr val="FF3131"/>
                </a:solidFill>
                <a:latin typeface="Georgia"/>
                <a:cs typeface="Georgia"/>
              </a:rPr>
              <a:t>describe</a:t>
            </a:r>
            <a:r>
              <a:rPr sz="3600" spc="50" dirty="0">
                <a:solidFill>
                  <a:srgbClr val="FF3131"/>
                </a:solidFill>
                <a:latin typeface="Georgia"/>
                <a:cs typeface="Georgia"/>
              </a:rPr>
              <a:t> </a:t>
            </a:r>
            <a:r>
              <a:rPr sz="3600" spc="-10" dirty="0">
                <a:solidFill>
                  <a:srgbClr val="FF3131"/>
                </a:solidFill>
                <a:latin typeface="Georgia"/>
                <a:cs typeface="Georgia"/>
              </a:rPr>
              <a:t>rc/nginx</a:t>
            </a:r>
            <a:endParaRPr sz="3600">
              <a:latin typeface="Georgia"/>
              <a:cs typeface="Georgia"/>
            </a:endParaRPr>
          </a:p>
          <a:p>
            <a:pPr marL="12700">
              <a:lnSpc>
                <a:spcPct val="100000"/>
              </a:lnSpc>
              <a:spcBef>
                <a:spcPts val="630"/>
              </a:spcBef>
            </a:pPr>
            <a:r>
              <a:rPr sz="3600" spc="-245" dirty="0">
                <a:solidFill>
                  <a:srgbClr val="FF3131"/>
                </a:solidFill>
                <a:latin typeface="Georgia"/>
                <a:cs typeface="Georgia"/>
              </a:rPr>
              <a:t>:</a:t>
            </a:r>
            <a:r>
              <a:rPr sz="3600" spc="15" dirty="0">
                <a:solidFill>
                  <a:srgbClr val="FF3131"/>
                </a:solidFill>
                <a:latin typeface="Georgia"/>
                <a:cs typeface="Georgia"/>
              </a:rPr>
              <a:t> </a:t>
            </a:r>
            <a:r>
              <a:rPr sz="3600" spc="55" dirty="0">
                <a:solidFill>
                  <a:srgbClr val="FF3131"/>
                </a:solidFill>
                <a:latin typeface="Georgia"/>
                <a:cs typeface="Georgia"/>
              </a:rPr>
              <a:t>kubectl</a:t>
            </a:r>
            <a:r>
              <a:rPr sz="3600" spc="20" dirty="0">
                <a:solidFill>
                  <a:srgbClr val="FF3131"/>
                </a:solidFill>
                <a:latin typeface="Georgia"/>
                <a:cs typeface="Georgia"/>
              </a:rPr>
              <a:t> </a:t>
            </a:r>
            <a:r>
              <a:rPr sz="3600" dirty="0">
                <a:solidFill>
                  <a:srgbClr val="FF3131"/>
                </a:solidFill>
                <a:latin typeface="Georgia"/>
                <a:cs typeface="Georgia"/>
              </a:rPr>
              <a:t>scale</a:t>
            </a:r>
            <a:r>
              <a:rPr sz="3600" spc="20" dirty="0">
                <a:solidFill>
                  <a:srgbClr val="FF3131"/>
                </a:solidFill>
                <a:latin typeface="Georgia"/>
                <a:cs typeface="Georgia"/>
              </a:rPr>
              <a:t> </a:t>
            </a:r>
            <a:r>
              <a:rPr sz="3600" spc="55" dirty="0">
                <a:solidFill>
                  <a:srgbClr val="FF3131"/>
                </a:solidFill>
                <a:latin typeface="Georgia"/>
                <a:cs typeface="Georgia"/>
              </a:rPr>
              <a:t>rc</a:t>
            </a:r>
            <a:r>
              <a:rPr sz="3600" spc="15" dirty="0">
                <a:solidFill>
                  <a:srgbClr val="FF3131"/>
                </a:solidFill>
                <a:latin typeface="Georgia"/>
                <a:cs typeface="Georgia"/>
              </a:rPr>
              <a:t> </a:t>
            </a:r>
            <a:r>
              <a:rPr sz="3600" spc="45" dirty="0">
                <a:solidFill>
                  <a:srgbClr val="FF3131"/>
                </a:solidFill>
                <a:latin typeface="Georgia"/>
                <a:cs typeface="Georgia"/>
              </a:rPr>
              <a:t>rc_name</a:t>
            </a:r>
            <a:r>
              <a:rPr sz="3600" spc="20" dirty="0">
                <a:solidFill>
                  <a:srgbClr val="FF3131"/>
                </a:solidFill>
                <a:latin typeface="Georgia"/>
                <a:cs typeface="Georgia"/>
              </a:rPr>
              <a:t> </a:t>
            </a:r>
            <a:r>
              <a:rPr sz="3600" dirty="0">
                <a:solidFill>
                  <a:srgbClr val="FF3131"/>
                </a:solidFill>
                <a:latin typeface="Georgia"/>
                <a:cs typeface="Georgia"/>
              </a:rPr>
              <a:t>--replicas</a:t>
            </a:r>
            <a:r>
              <a:rPr sz="3600" spc="20" dirty="0">
                <a:solidFill>
                  <a:srgbClr val="FF3131"/>
                </a:solidFill>
                <a:latin typeface="Georgia"/>
                <a:cs typeface="Georgia"/>
              </a:rPr>
              <a:t> </a:t>
            </a:r>
            <a:r>
              <a:rPr sz="3600" spc="-50" dirty="0">
                <a:solidFill>
                  <a:srgbClr val="FF3131"/>
                </a:solidFill>
                <a:latin typeface="Georgia"/>
                <a:cs typeface="Georgia"/>
              </a:rPr>
              <a:t>5</a:t>
            </a:r>
            <a:endParaRPr sz="3600">
              <a:latin typeface="Georgia"/>
              <a:cs typeface="Georgia"/>
            </a:endParaRPr>
          </a:p>
          <a:p>
            <a:pPr marL="105410">
              <a:lnSpc>
                <a:spcPct val="100000"/>
              </a:lnSpc>
              <a:spcBef>
                <a:spcPts val="630"/>
              </a:spcBef>
            </a:pPr>
            <a:r>
              <a:rPr sz="3600" spc="-245" dirty="0">
                <a:solidFill>
                  <a:srgbClr val="FF3131"/>
                </a:solidFill>
                <a:latin typeface="Georgia"/>
                <a:cs typeface="Georgia"/>
              </a:rPr>
              <a:t>:</a:t>
            </a:r>
            <a:r>
              <a:rPr sz="3600" spc="5" dirty="0">
                <a:solidFill>
                  <a:srgbClr val="FF3131"/>
                </a:solidFill>
                <a:latin typeface="Georgia"/>
                <a:cs typeface="Georgia"/>
              </a:rPr>
              <a:t> </a:t>
            </a:r>
            <a:r>
              <a:rPr sz="3600" spc="55" dirty="0">
                <a:solidFill>
                  <a:srgbClr val="FF3131"/>
                </a:solidFill>
                <a:latin typeface="Georgia"/>
                <a:cs typeface="Georgia"/>
              </a:rPr>
              <a:t>kubectl</a:t>
            </a:r>
            <a:r>
              <a:rPr sz="3600" spc="10" dirty="0">
                <a:solidFill>
                  <a:srgbClr val="FF3131"/>
                </a:solidFill>
                <a:latin typeface="Georgia"/>
                <a:cs typeface="Georgia"/>
              </a:rPr>
              <a:t> </a:t>
            </a:r>
            <a:r>
              <a:rPr sz="3600" dirty="0">
                <a:solidFill>
                  <a:srgbClr val="FF3131"/>
                </a:solidFill>
                <a:latin typeface="Georgia"/>
                <a:cs typeface="Georgia"/>
              </a:rPr>
              <a:t>scale</a:t>
            </a:r>
            <a:r>
              <a:rPr sz="3600" spc="5" dirty="0">
                <a:solidFill>
                  <a:srgbClr val="FF3131"/>
                </a:solidFill>
                <a:latin typeface="Georgia"/>
                <a:cs typeface="Georgia"/>
              </a:rPr>
              <a:t> </a:t>
            </a:r>
            <a:r>
              <a:rPr sz="3600" spc="55" dirty="0">
                <a:solidFill>
                  <a:srgbClr val="FF3131"/>
                </a:solidFill>
                <a:latin typeface="Georgia"/>
                <a:cs typeface="Georgia"/>
              </a:rPr>
              <a:t>rc</a:t>
            </a:r>
            <a:r>
              <a:rPr sz="3600" spc="10" dirty="0">
                <a:solidFill>
                  <a:srgbClr val="FF3131"/>
                </a:solidFill>
                <a:latin typeface="Georgia"/>
                <a:cs typeface="Georgia"/>
              </a:rPr>
              <a:t> </a:t>
            </a:r>
            <a:r>
              <a:rPr sz="3600" spc="45" dirty="0">
                <a:solidFill>
                  <a:srgbClr val="FF3131"/>
                </a:solidFill>
                <a:latin typeface="Georgia"/>
                <a:cs typeface="Georgia"/>
              </a:rPr>
              <a:t>rc_name</a:t>
            </a:r>
            <a:r>
              <a:rPr sz="3600" spc="5" dirty="0">
                <a:solidFill>
                  <a:srgbClr val="FF3131"/>
                </a:solidFill>
                <a:latin typeface="Georgia"/>
                <a:cs typeface="Georgia"/>
              </a:rPr>
              <a:t> </a:t>
            </a:r>
            <a:r>
              <a:rPr sz="3600" dirty="0">
                <a:solidFill>
                  <a:srgbClr val="FF3131"/>
                </a:solidFill>
                <a:latin typeface="Georgia"/>
                <a:cs typeface="Georgia"/>
              </a:rPr>
              <a:t>--replicas</a:t>
            </a:r>
            <a:r>
              <a:rPr sz="3600" spc="10" dirty="0">
                <a:solidFill>
                  <a:srgbClr val="FF3131"/>
                </a:solidFill>
                <a:latin typeface="Georgia"/>
                <a:cs typeface="Georgia"/>
              </a:rPr>
              <a:t> </a:t>
            </a:r>
            <a:r>
              <a:rPr sz="3600" spc="-250" dirty="0">
                <a:solidFill>
                  <a:srgbClr val="FF3131"/>
                </a:solidFill>
                <a:latin typeface="Georgia"/>
                <a:cs typeface="Georgia"/>
              </a:rPr>
              <a:t>2</a:t>
            </a:r>
            <a:r>
              <a:rPr sz="3600" spc="5" dirty="0">
                <a:solidFill>
                  <a:srgbClr val="FF3131"/>
                </a:solidFill>
                <a:latin typeface="Georgia"/>
                <a:cs typeface="Georgia"/>
              </a:rPr>
              <a:t> </a:t>
            </a:r>
            <a:r>
              <a:rPr sz="3600" spc="-10" dirty="0">
                <a:solidFill>
                  <a:srgbClr val="FF3131"/>
                </a:solidFill>
                <a:latin typeface="Georgia"/>
                <a:cs typeface="Georgia"/>
              </a:rPr>
              <a:t>(</a:t>
            </a:r>
            <a:r>
              <a:rPr sz="3600" spc="-10" dirty="0">
                <a:solidFill>
                  <a:srgbClr val="2E377E"/>
                </a:solidFill>
                <a:latin typeface="Georgia"/>
                <a:cs typeface="Georgia"/>
              </a:rPr>
              <a:t>drops</a:t>
            </a:r>
            <a:endParaRPr sz="3600">
              <a:latin typeface="Georgia"/>
              <a:cs typeface="Georgia"/>
            </a:endParaRPr>
          </a:p>
          <a:p>
            <a:pPr marL="6951980">
              <a:lnSpc>
                <a:spcPct val="100000"/>
              </a:lnSpc>
              <a:spcBef>
                <a:spcPts val="630"/>
              </a:spcBef>
            </a:pPr>
            <a:r>
              <a:rPr sz="3600" spc="50" dirty="0">
                <a:solidFill>
                  <a:srgbClr val="2E377E"/>
                </a:solidFill>
                <a:latin typeface="Georgia"/>
                <a:cs typeface="Georgia"/>
              </a:rPr>
              <a:t>from</a:t>
            </a:r>
            <a:r>
              <a:rPr sz="3600" spc="-60" dirty="0">
                <a:solidFill>
                  <a:srgbClr val="2E377E"/>
                </a:solidFill>
                <a:latin typeface="Georgia"/>
                <a:cs typeface="Georgia"/>
              </a:rPr>
              <a:t> </a:t>
            </a:r>
            <a:r>
              <a:rPr sz="3600" spc="-160" dirty="0">
                <a:solidFill>
                  <a:srgbClr val="2E377E"/>
                </a:solidFill>
                <a:latin typeface="Georgia"/>
                <a:cs typeface="Georgia"/>
              </a:rPr>
              <a:t>5</a:t>
            </a:r>
            <a:r>
              <a:rPr sz="3600" spc="-60" dirty="0">
                <a:solidFill>
                  <a:srgbClr val="2E377E"/>
                </a:solidFill>
                <a:latin typeface="Georgia"/>
                <a:cs typeface="Georgia"/>
              </a:rPr>
              <a:t> </a:t>
            </a:r>
            <a:r>
              <a:rPr sz="3600" spc="75" dirty="0">
                <a:solidFill>
                  <a:srgbClr val="2E377E"/>
                </a:solidFill>
                <a:latin typeface="Georgia"/>
                <a:cs typeface="Georgia"/>
              </a:rPr>
              <a:t>to</a:t>
            </a:r>
            <a:r>
              <a:rPr sz="3600" spc="-55" dirty="0">
                <a:solidFill>
                  <a:srgbClr val="2E377E"/>
                </a:solidFill>
                <a:latin typeface="Georgia"/>
                <a:cs typeface="Georgia"/>
              </a:rPr>
              <a:t> </a:t>
            </a:r>
            <a:r>
              <a:rPr sz="3600" spc="-300" dirty="0">
                <a:solidFill>
                  <a:srgbClr val="2E377E"/>
                </a:solidFill>
                <a:latin typeface="Georgia"/>
                <a:cs typeface="Georgia"/>
              </a:rPr>
              <a:t>2</a:t>
            </a:r>
            <a:r>
              <a:rPr sz="3600" spc="-300" dirty="0">
                <a:solidFill>
                  <a:srgbClr val="FF3131"/>
                </a:solidFill>
                <a:latin typeface="Georgia"/>
                <a:cs typeface="Georgia"/>
              </a:rPr>
              <a:t>)</a:t>
            </a:r>
            <a:endParaRPr sz="3600">
              <a:latin typeface="Georgia"/>
              <a:cs typeface="Georgia"/>
            </a:endParaRPr>
          </a:p>
          <a:p>
            <a:pPr marL="114935">
              <a:lnSpc>
                <a:spcPct val="100000"/>
              </a:lnSpc>
              <a:spcBef>
                <a:spcPts val="630"/>
              </a:spcBef>
            </a:pPr>
            <a:r>
              <a:rPr sz="3600" spc="-245" dirty="0">
                <a:solidFill>
                  <a:srgbClr val="2E377E"/>
                </a:solidFill>
                <a:latin typeface="Georgia"/>
                <a:cs typeface="Georgia"/>
              </a:rPr>
              <a:t>:</a:t>
            </a:r>
            <a:r>
              <a:rPr sz="3600" spc="-50" dirty="0">
                <a:solidFill>
                  <a:srgbClr val="2E377E"/>
                </a:solidFill>
                <a:latin typeface="Georgia"/>
                <a:cs typeface="Georgia"/>
              </a:rPr>
              <a:t> </a:t>
            </a:r>
            <a:r>
              <a:rPr sz="3600" spc="55" dirty="0">
                <a:solidFill>
                  <a:srgbClr val="FF3131"/>
                </a:solidFill>
                <a:latin typeface="Georgia"/>
                <a:cs typeface="Georgia"/>
              </a:rPr>
              <a:t>kubectl</a:t>
            </a:r>
            <a:r>
              <a:rPr sz="3600" spc="-50" dirty="0">
                <a:solidFill>
                  <a:srgbClr val="FF3131"/>
                </a:solidFill>
                <a:latin typeface="Georgia"/>
                <a:cs typeface="Georgia"/>
              </a:rPr>
              <a:t> </a:t>
            </a:r>
            <a:r>
              <a:rPr sz="3600" spc="50" dirty="0">
                <a:solidFill>
                  <a:srgbClr val="FF3131"/>
                </a:solidFill>
                <a:latin typeface="Georgia"/>
                <a:cs typeface="Georgia"/>
              </a:rPr>
              <a:t>delete</a:t>
            </a:r>
            <a:r>
              <a:rPr sz="3600" spc="-45" dirty="0">
                <a:solidFill>
                  <a:srgbClr val="FF3131"/>
                </a:solidFill>
                <a:latin typeface="Georgia"/>
                <a:cs typeface="Georgia"/>
              </a:rPr>
              <a:t> </a:t>
            </a:r>
            <a:r>
              <a:rPr sz="3600" spc="55" dirty="0">
                <a:solidFill>
                  <a:srgbClr val="FF3131"/>
                </a:solidFill>
                <a:latin typeface="Georgia"/>
                <a:cs typeface="Georgia"/>
              </a:rPr>
              <a:t>rc</a:t>
            </a:r>
            <a:r>
              <a:rPr sz="3600" spc="-50" dirty="0">
                <a:solidFill>
                  <a:srgbClr val="FF3131"/>
                </a:solidFill>
                <a:latin typeface="Georgia"/>
                <a:cs typeface="Georgia"/>
              </a:rPr>
              <a:t> </a:t>
            </a:r>
            <a:r>
              <a:rPr sz="3600" spc="35" dirty="0">
                <a:solidFill>
                  <a:srgbClr val="FF3131"/>
                </a:solidFill>
                <a:latin typeface="Georgia"/>
                <a:cs typeface="Georgia"/>
              </a:rPr>
              <a:t>rc_name</a:t>
            </a:r>
            <a:endParaRPr sz="3600">
              <a:latin typeface="Georgia"/>
              <a:cs typeface="Georgia"/>
            </a:endParaRPr>
          </a:p>
        </p:txBody>
      </p:sp>
      <p:sp>
        <p:nvSpPr>
          <p:cNvPr id="5" name="object 5"/>
          <p:cNvSpPr txBox="1"/>
          <p:nvPr/>
        </p:nvSpPr>
        <p:spPr>
          <a:xfrm>
            <a:off x="681320" y="5217806"/>
            <a:ext cx="16794480" cy="4633595"/>
          </a:xfrm>
          <a:prstGeom prst="rect">
            <a:avLst/>
          </a:prstGeom>
        </p:spPr>
        <p:txBody>
          <a:bodyPr vert="horz" wrap="square" lIns="0" tIns="12065" rIns="0" bIns="0" rtlCol="0">
            <a:spAutoFit/>
          </a:bodyPr>
          <a:lstStyle/>
          <a:p>
            <a:pPr marL="12700" marR="5080">
              <a:lnSpc>
                <a:spcPct val="114599"/>
              </a:lnSpc>
              <a:spcBef>
                <a:spcPts val="95"/>
              </a:spcBef>
            </a:pPr>
            <a:r>
              <a:rPr sz="3600" spc="-200" dirty="0">
                <a:solidFill>
                  <a:srgbClr val="2E377E"/>
                </a:solidFill>
                <a:latin typeface="Georgia"/>
                <a:cs typeface="Georgia"/>
              </a:rPr>
              <a:t>IF</a:t>
            </a:r>
            <a:r>
              <a:rPr sz="3600" spc="-65" dirty="0">
                <a:solidFill>
                  <a:srgbClr val="2E377E"/>
                </a:solidFill>
                <a:latin typeface="Georgia"/>
                <a:cs typeface="Georgia"/>
              </a:rPr>
              <a:t> </a:t>
            </a:r>
            <a:r>
              <a:rPr sz="3600" spc="-185" dirty="0">
                <a:solidFill>
                  <a:srgbClr val="2E377E"/>
                </a:solidFill>
                <a:latin typeface="Georgia"/>
                <a:cs typeface="Georgia"/>
              </a:rPr>
              <a:t>WE</a:t>
            </a:r>
            <a:r>
              <a:rPr sz="3600" spc="-65" dirty="0">
                <a:solidFill>
                  <a:srgbClr val="2E377E"/>
                </a:solidFill>
                <a:latin typeface="Georgia"/>
                <a:cs typeface="Georgia"/>
              </a:rPr>
              <a:t> </a:t>
            </a:r>
            <a:r>
              <a:rPr sz="3600" spc="-160" dirty="0">
                <a:solidFill>
                  <a:srgbClr val="2E377E"/>
                </a:solidFill>
                <a:latin typeface="Georgia"/>
                <a:cs typeface="Georgia"/>
              </a:rPr>
              <a:t>DELETE</a:t>
            </a:r>
            <a:r>
              <a:rPr sz="3600" spc="-65" dirty="0">
                <a:solidFill>
                  <a:srgbClr val="2E377E"/>
                </a:solidFill>
                <a:latin typeface="Georgia"/>
                <a:cs typeface="Georgia"/>
              </a:rPr>
              <a:t> RC,</a:t>
            </a:r>
            <a:r>
              <a:rPr sz="3600" spc="-155" dirty="0">
                <a:solidFill>
                  <a:srgbClr val="2E377E"/>
                </a:solidFill>
                <a:latin typeface="Georgia"/>
                <a:cs typeface="Georgia"/>
              </a:rPr>
              <a:t> </a:t>
            </a:r>
            <a:r>
              <a:rPr sz="3600" spc="-20" dirty="0">
                <a:solidFill>
                  <a:srgbClr val="2E377E"/>
                </a:solidFill>
                <a:latin typeface="Georgia"/>
                <a:cs typeface="Georgia"/>
              </a:rPr>
              <a:t>PODS</a:t>
            </a:r>
            <a:r>
              <a:rPr sz="3600" spc="-195" dirty="0">
                <a:solidFill>
                  <a:srgbClr val="2E377E"/>
                </a:solidFill>
                <a:latin typeface="Georgia"/>
                <a:cs typeface="Georgia"/>
              </a:rPr>
              <a:t> </a:t>
            </a:r>
            <a:r>
              <a:rPr sz="3600" spc="-125" dirty="0">
                <a:solidFill>
                  <a:srgbClr val="2E377E"/>
                </a:solidFill>
                <a:latin typeface="Georgia"/>
                <a:cs typeface="Georgia"/>
              </a:rPr>
              <a:t>ARE</a:t>
            </a:r>
            <a:r>
              <a:rPr sz="3600" spc="-90" dirty="0">
                <a:solidFill>
                  <a:srgbClr val="2E377E"/>
                </a:solidFill>
                <a:latin typeface="Georgia"/>
                <a:cs typeface="Georgia"/>
              </a:rPr>
              <a:t> </a:t>
            </a:r>
            <a:r>
              <a:rPr sz="3600" spc="-55" dirty="0">
                <a:solidFill>
                  <a:srgbClr val="2E377E"/>
                </a:solidFill>
                <a:latin typeface="Georgia"/>
                <a:cs typeface="Georgia"/>
              </a:rPr>
              <a:t>ALSO</a:t>
            </a:r>
            <a:r>
              <a:rPr sz="3600" spc="-114" dirty="0">
                <a:solidFill>
                  <a:srgbClr val="2E377E"/>
                </a:solidFill>
                <a:latin typeface="Georgia"/>
                <a:cs typeface="Georgia"/>
              </a:rPr>
              <a:t> </a:t>
            </a:r>
            <a:r>
              <a:rPr sz="3600" spc="-120" dirty="0">
                <a:solidFill>
                  <a:srgbClr val="2E377E"/>
                </a:solidFill>
                <a:latin typeface="Georgia"/>
                <a:cs typeface="Georgia"/>
              </a:rPr>
              <a:t>GETS</a:t>
            </a:r>
            <a:r>
              <a:rPr sz="3600" spc="-95" dirty="0">
                <a:solidFill>
                  <a:srgbClr val="2E377E"/>
                </a:solidFill>
                <a:latin typeface="Georgia"/>
                <a:cs typeface="Georgia"/>
              </a:rPr>
              <a:t> </a:t>
            </a:r>
            <a:r>
              <a:rPr sz="3600" spc="-150" dirty="0">
                <a:solidFill>
                  <a:srgbClr val="2E377E"/>
                </a:solidFill>
                <a:latin typeface="Georgia"/>
                <a:cs typeface="Georgia"/>
              </a:rPr>
              <a:t>DELETED,</a:t>
            </a:r>
            <a:r>
              <a:rPr sz="3600" spc="-65" dirty="0">
                <a:solidFill>
                  <a:srgbClr val="2E377E"/>
                </a:solidFill>
                <a:latin typeface="Georgia"/>
                <a:cs typeface="Georgia"/>
              </a:rPr>
              <a:t> </a:t>
            </a:r>
            <a:r>
              <a:rPr sz="3600" spc="-90" dirty="0">
                <a:solidFill>
                  <a:srgbClr val="2E377E"/>
                </a:solidFill>
                <a:latin typeface="Georgia"/>
                <a:cs typeface="Georgia"/>
              </a:rPr>
              <a:t>BUT</a:t>
            </a:r>
            <a:r>
              <a:rPr sz="3600" spc="-95" dirty="0">
                <a:solidFill>
                  <a:srgbClr val="2E377E"/>
                </a:solidFill>
                <a:latin typeface="Georgia"/>
                <a:cs typeface="Georgia"/>
              </a:rPr>
              <a:t> </a:t>
            </a:r>
            <a:r>
              <a:rPr sz="3600" spc="-200" dirty="0">
                <a:solidFill>
                  <a:srgbClr val="2E377E"/>
                </a:solidFill>
                <a:latin typeface="Georgia"/>
                <a:cs typeface="Georgia"/>
              </a:rPr>
              <a:t>IF</a:t>
            </a:r>
            <a:r>
              <a:rPr sz="3600" spc="-65" dirty="0">
                <a:solidFill>
                  <a:srgbClr val="2E377E"/>
                </a:solidFill>
                <a:latin typeface="Georgia"/>
                <a:cs typeface="Georgia"/>
              </a:rPr>
              <a:t> </a:t>
            </a:r>
            <a:r>
              <a:rPr sz="3600" spc="-185" dirty="0">
                <a:solidFill>
                  <a:srgbClr val="2E377E"/>
                </a:solidFill>
                <a:latin typeface="Georgia"/>
                <a:cs typeface="Georgia"/>
              </a:rPr>
              <a:t>WE</a:t>
            </a:r>
            <a:r>
              <a:rPr sz="3600" spc="-65" dirty="0">
                <a:solidFill>
                  <a:srgbClr val="2E377E"/>
                </a:solidFill>
                <a:latin typeface="Georgia"/>
                <a:cs typeface="Georgia"/>
              </a:rPr>
              <a:t> </a:t>
            </a:r>
            <a:r>
              <a:rPr sz="3600" spc="-30" dirty="0">
                <a:solidFill>
                  <a:srgbClr val="2E377E"/>
                </a:solidFill>
                <a:latin typeface="Georgia"/>
                <a:cs typeface="Georgia"/>
              </a:rPr>
              <a:t>DON’T</a:t>
            </a:r>
            <a:r>
              <a:rPr sz="3600" spc="-90" dirty="0">
                <a:solidFill>
                  <a:srgbClr val="2E377E"/>
                </a:solidFill>
                <a:latin typeface="Georgia"/>
                <a:cs typeface="Georgia"/>
              </a:rPr>
              <a:t> </a:t>
            </a:r>
            <a:r>
              <a:rPr sz="3600" spc="-85" dirty="0">
                <a:solidFill>
                  <a:srgbClr val="2E377E"/>
                </a:solidFill>
                <a:latin typeface="Georgia"/>
                <a:cs typeface="Georgia"/>
              </a:rPr>
              <a:t>WANT</a:t>
            </a:r>
            <a:r>
              <a:rPr sz="3600" spc="-95" dirty="0">
                <a:solidFill>
                  <a:srgbClr val="2E377E"/>
                </a:solidFill>
                <a:latin typeface="Georgia"/>
                <a:cs typeface="Georgia"/>
              </a:rPr>
              <a:t> </a:t>
            </a:r>
            <a:r>
              <a:rPr sz="3600" spc="-25" dirty="0">
                <a:solidFill>
                  <a:srgbClr val="2E377E"/>
                </a:solidFill>
                <a:latin typeface="Georgia"/>
                <a:cs typeface="Georgia"/>
              </a:rPr>
              <a:t>TO </a:t>
            </a:r>
            <a:r>
              <a:rPr sz="3600" spc="-160" dirty="0">
                <a:solidFill>
                  <a:srgbClr val="2E377E"/>
                </a:solidFill>
                <a:latin typeface="Georgia"/>
                <a:cs typeface="Georgia"/>
              </a:rPr>
              <a:t>DELETE</a:t>
            </a:r>
            <a:r>
              <a:rPr sz="3600" spc="-65" dirty="0">
                <a:solidFill>
                  <a:srgbClr val="2E377E"/>
                </a:solidFill>
                <a:latin typeface="Georgia"/>
                <a:cs typeface="Georgia"/>
              </a:rPr>
              <a:t> </a:t>
            </a:r>
            <a:r>
              <a:rPr sz="3600" spc="-55" dirty="0">
                <a:solidFill>
                  <a:srgbClr val="2E377E"/>
                </a:solidFill>
                <a:latin typeface="Georgia"/>
                <a:cs typeface="Georgia"/>
              </a:rPr>
              <a:t>PODS,</a:t>
            </a:r>
            <a:r>
              <a:rPr sz="3600" spc="-165" dirty="0">
                <a:solidFill>
                  <a:srgbClr val="2E377E"/>
                </a:solidFill>
                <a:latin typeface="Georgia"/>
                <a:cs typeface="Georgia"/>
              </a:rPr>
              <a:t> </a:t>
            </a:r>
            <a:r>
              <a:rPr sz="3600" spc="-185" dirty="0">
                <a:solidFill>
                  <a:srgbClr val="2E377E"/>
                </a:solidFill>
                <a:latin typeface="Georgia"/>
                <a:cs typeface="Georgia"/>
              </a:rPr>
              <a:t>WE</a:t>
            </a:r>
            <a:r>
              <a:rPr sz="3600" spc="-65" dirty="0">
                <a:solidFill>
                  <a:srgbClr val="2E377E"/>
                </a:solidFill>
                <a:latin typeface="Georgia"/>
                <a:cs typeface="Georgia"/>
              </a:rPr>
              <a:t> </a:t>
            </a:r>
            <a:r>
              <a:rPr sz="3600" spc="-85" dirty="0">
                <a:solidFill>
                  <a:srgbClr val="2E377E"/>
                </a:solidFill>
                <a:latin typeface="Georgia"/>
                <a:cs typeface="Georgia"/>
              </a:rPr>
              <a:t>WANT</a:t>
            </a:r>
            <a:r>
              <a:rPr sz="3600" spc="-130" dirty="0">
                <a:solidFill>
                  <a:srgbClr val="2E377E"/>
                </a:solidFill>
                <a:latin typeface="Georgia"/>
                <a:cs typeface="Georgia"/>
              </a:rPr>
              <a:t> </a:t>
            </a:r>
            <a:r>
              <a:rPr sz="3600" dirty="0">
                <a:solidFill>
                  <a:srgbClr val="2E377E"/>
                </a:solidFill>
                <a:latin typeface="Georgia"/>
                <a:cs typeface="Georgia"/>
              </a:rPr>
              <a:t>TO</a:t>
            </a:r>
            <a:r>
              <a:rPr sz="3600" spc="-120" dirty="0">
                <a:solidFill>
                  <a:srgbClr val="2E377E"/>
                </a:solidFill>
                <a:latin typeface="Georgia"/>
                <a:cs typeface="Georgia"/>
              </a:rPr>
              <a:t> </a:t>
            </a:r>
            <a:r>
              <a:rPr sz="3600" spc="-160" dirty="0">
                <a:solidFill>
                  <a:srgbClr val="2E377E"/>
                </a:solidFill>
                <a:latin typeface="Georgia"/>
                <a:cs typeface="Georgia"/>
              </a:rPr>
              <a:t>DELETE</a:t>
            </a:r>
            <a:r>
              <a:rPr sz="3600" spc="-65" dirty="0">
                <a:solidFill>
                  <a:srgbClr val="2E377E"/>
                </a:solidFill>
                <a:latin typeface="Georgia"/>
                <a:cs typeface="Georgia"/>
              </a:rPr>
              <a:t> </a:t>
            </a:r>
            <a:r>
              <a:rPr sz="3600" spc="-45" dirty="0">
                <a:solidFill>
                  <a:srgbClr val="2E377E"/>
                </a:solidFill>
                <a:latin typeface="Georgia"/>
                <a:cs typeface="Georgia"/>
              </a:rPr>
              <a:t>ONLY</a:t>
            </a:r>
            <a:r>
              <a:rPr sz="3600" spc="-100" dirty="0">
                <a:solidFill>
                  <a:srgbClr val="2E377E"/>
                </a:solidFill>
                <a:latin typeface="Georgia"/>
                <a:cs typeface="Georgia"/>
              </a:rPr>
              <a:t> </a:t>
            </a:r>
            <a:r>
              <a:rPr sz="3600" spc="-95" dirty="0">
                <a:solidFill>
                  <a:srgbClr val="2E377E"/>
                </a:solidFill>
                <a:latin typeface="Georgia"/>
                <a:cs typeface="Georgia"/>
              </a:rPr>
              <a:t>REPLICA</a:t>
            </a:r>
            <a:r>
              <a:rPr sz="3600" spc="-105" dirty="0">
                <a:solidFill>
                  <a:srgbClr val="2E377E"/>
                </a:solidFill>
                <a:latin typeface="Georgia"/>
                <a:cs typeface="Georgia"/>
              </a:rPr>
              <a:t> </a:t>
            </a:r>
            <a:r>
              <a:rPr sz="3600" spc="-90" dirty="0">
                <a:solidFill>
                  <a:srgbClr val="2E377E"/>
                </a:solidFill>
                <a:latin typeface="Georgia"/>
                <a:cs typeface="Georgia"/>
              </a:rPr>
              <a:t>SETS</a:t>
            </a:r>
            <a:r>
              <a:rPr sz="3600" spc="-100" dirty="0">
                <a:solidFill>
                  <a:srgbClr val="2E377E"/>
                </a:solidFill>
                <a:latin typeface="Georgia"/>
                <a:cs typeface="Georgia"/>
              </a:rPr>
              <a:t> </a:t>
            </a:r>
            <a:r>
              <a:rPr sz="3600" spc="-20" dirty="0">
                <a:solidFill>
                  <a:srgbClr val="2E377E"/>
                </a:solidFill>
                <a:latin typeface="Georgia"/>
                <a:cs typeface="Georgia"/>
              </a:rPr>
              <a:t>THEN</a:t>
            </a:r>
            <a:endParaRPr sz="3600">
              <a:latin typeface="Georgia"/>
              <a:cs typeface="Georgia"/>
            </a:endParaRPr>
          </a:p>
          <a:p>
            <a:pPr marL="12700" marR="7586345">
              <a:lnSpc>
                <a:spcPct val="114599"/>
              </a:lnSpc>
              <a:spcBef>
                <a:spcPts val="1630"/>
              </a:spcBef>
            </a:pPr>
            <a:r>
              <a:rPr sz="3600" spc="55" dirty="0">
                <a:solidFill>
                  <a:srgbClr val="FF3131"/>
                </a:solidFill>
                <a:latin typeface="Georgia"/>
                <a:cs typeface="Georgia"/>
              </a:rPr>
              <a:t>kubectl</a:t>
            </a:r>
            <a:r>
              <a:rPr sz="3600" spc="-35" dirty="0">
                <a:solidFill>
                  <a:srgbClr val="FF3131"/>
                </a:solidFill>
                <a:latin typeface="Georgia"/>
                <a:cs typeface="Georgia"/>
              </a:rPr>
              <a:t> </a:t>
            </a:r>
            <a:r>
              <a:rPr sz="3600" spc="50" dirty="0">
                <a:solidFill>
                  <a:srgbClr val="FF3131"/>
                </a:solidFill>
                <a:latin typeface="Georgia"/>
                <a:cs typeface="Georgia"/>
              </a:rPr>
              <a:t>delete</a:t>
            </a:r>
            <a:r>
              <a:rPr sz="3600" spc="-30" dirty="0">
                <a:solidFill>
                  <a:srgbClr val="FF3131"/>
                </a:solidFill>
                <a:latin typeface="Georgia"/>
                <a:cs typeface="Georgia"/>
              </a:rPr>
              <a:t> </a:t>
            </a:r>
            <a:r>
              <a:rPr sz="3600" spc="55" dirty="0">
                <a:solidFill>
                  <a:srgbClr val="FF3131"/>
                </a:solidFill>
                <a:latin typeface="Georgia"/>
                <a:cs typeface="Georgia"/>
              </a:rPr>
              <a:t>rc</a:t>
            </a:r>
            <a:r>
              <a:rPr sz="3600" spc="-30" dirty="0">
                <a:solidFill>
                  <a:srgbClr val="FF3131"/>
                </a:solidFill>
                <a:latin typeface="Georgia"/>
                <a:cs typeface="Georgia"/>
              </a:rPr>
              <a:t> </a:t>
            </a:r>
            <a:r>
              <a:rPr sz="3600" spc="45" dirty="0">
                <a:solidFill>
                  <a:srgbClr val="FF3131"/>
                </a:solidFill>
                <a:latin typeface="Georgia"/>
                <a:cs typeface="Georgia"/>
              </a:rPr>
              <a:t>rc_name</a:t>
            </a:r>
            <a:r>
              <a:rPr sz="3600" spc="-30" dirty="0">
                <a:solidFill>
                  <a:srgbClr val="FF3131"/>
                </a:solidFill>
                <a:latin typeface="Georgia"/>
                <a:cs typeface="Georgia"/>
              </a:rPr>
              <a:t> </a:t>
            </a:r>
            <a:r>
              <a:rPr sz="3600" dirty="0">
                <a:solidFill>
                  <a:srgbClr val="FF3131"/>
                </a:solidFill>
                <a:latin typeface="Georgia"/>
                <a:cs typeface="Georgia"/>
              </a:rPr>
              <a:t>--</a:t>
            </a:r>
            <a:r>
              <a:rPr sz="3600" spc="-10" dirty="0">
                <a:solidFill>
                  <a:srgbClr val="FF3131"/>
                </a:solidFill>
                <a:latin typeface="Georgia"/>
                <a:cs typeface="Georgia"/>
              </a:rPr>
              <a:t>cascade=orphan </a:t>
            </a:r>
            <a:r>
              <a:rPr sz="3600" spc="55" dirty="0">
                <a:solidFill>
                  <a:srgbClr val="FF3131"/>
                </a:solidFill>
                <a:latin typeface="Georgia"/>
                <a:cs typeface="Georgia"/>
              </a:rPr>
              <a:t>kubectl</a:t>
            </a:r>
            <a:r>
              <a:rPr sz="3600" spc="-55" dirty="0">
                <a:solidFill>
                  <a:srgbClr val="FF3131"/>
                </a:solidFill>
                <a:latin typeface="Georgia"/>
                <a:cs typeface="Georgia"/>
              </a:rPr>
              <a:t> </a:t>
            </a:r>
            <a:r>
              <a:rPr sz="3600" spc="70" dirty="0">
                <a:solidFill>
                  <a:srgbClr val="FF3131"/>
                </a:solidFill>
                <a:latin typeface="Georgia"/>
                <a:cs typeface="Georgia"/>
              </a:rPr>
              <a:t>get</a:t>
            </a:r>
            <a:r>
              <a:rPr sz="3600" spc="-50" dirty="0">
                <a:solidFill>
                  <a:srgbClr val="FF3131"/>
                </a:solidFill>
                <a:latin typeface="Georgia"/>
                <a:cs typeface="Georgia"/>
              </a:rPr>
              <a:t> </a:t>
            </a:r>
            <a:r>
              <a:rPr sz="3600" spc="55" dirty="0">
                <a:solidFill>
                  <a:srgbClr val="FF3131"/>
                </a:solidFill>
                <a:latin typeface="Georgia"/>
                <a:cs typeface="Georgia"/>
              </a:rPr>
              <a:t>rc</a:t>
            </a:r>
            <a:r>
              <a:rPr sz="3600" spc="-50" dirty="0">
                <a:solidFill>
                  <a:srgbClr val="FF3131"/>
                </a:solidFill>
                <a:latin typeface="Georgia"/>
                <a:cs typeface="Georgia"/>
              </a:rPr>
              <a:t> </a:t>
            </a:r>
            <a:r>
              <a:rPr sz="3600" spc="35" dirty="0">
                <a:solidFill>
                  <a:srgbClr val="FF3131"/>
                </a:solidFill>
                <a:latin typeface="Georgia"/>
                <a:cs typeface="Georgia"/>
              </a:rPr>
              <a:t>rc_name</a:t>
            </a:r>
            <a:endParaRPr sz="3600">
              <a:latin typeface="Georgia"/>
              <a:cs typeface="Georgia"/>
            </a:endParaRPr>
          </a:p>
          <a:p>
            <a:pPr marL="12700">
              <a:lnSpc>
                <a:spcPct val="100000"/>
              </a:lnSpc>
              <a:spcBef>
                <a:spcPts val="630"/>
              </a:spcBef>
            </a:pPr>
            <a:r>
              <a:rPr sz="3600" spc="55" dirty="0">
                <a:solidFill>
                  <a:srgbClr val="FF3131"/>
                </a:solidFill>
                <a:latin typeface="Georgia"/>
                <a:cs typeface="Georgia"/>
              </a:rPr>
              <a:t>kubectl</a:t>
            </a:r>
            <a:r>
              <a:rPr sz="3600" spc="-50" dirty="0">
                <a:solidFill>
                  <a:srgbClr val="FF3131"/>
                </a:solidFill>
                <a:latin typeface="Georgia"/>
                <a:cs typeface="Georgia"/>
              </a:rPr>
              <a:t> </a:t>
            </a:r>
            <a:r>
              <a:rPr sz="3600" spc="70" dirty="0">
                <a:solidFill>
                  <a:srgbClr val="FF3131"/>
                </a:solidFill>
                <a:latin typeface="Georgia"/>
                <a:cs typeface="Georgia"/>
              </a:rPr>
              <a:t>get</a:t>
            </a:r>
            <a:r>
              <a:rPr sz="3600" spc="-50" dirty="0">
                <a:solidFill>
                  <a:srgbClr val="FF3131"/>
                </a:solidFill>
                <a:latin typeface="Georgia"/>
                <a:cs typeface="Georgia"/>
              </a:rPr>
              <a:t> </a:t>
            </a:r>
            <a:r>
              <a:rPr sz="3600" spc="-25" dirty="0">
                <a:solidFill>
                  <a:srgbClr val="FF3131"/>
                </a:solidFill>
                <a:latin typeface="Georgia"/>
                <a:cs typeface="Georgia"/>
              </a:rPr>
              <a:t>pod</a:t>
            </a:r>
            <a:endParaRPr sz="3600">
              <a:latin typeface="Georgia"/>
              <a:cs typeface="Georgia"/>
            </a:endParaRPr>
          </a:p>
          <a:p>
            <a:pPr marL="12700" marR="19685">
              <a:lnSpc>
                <a:spcPct val="114599"/>
              </a:lnSpc>
            </a:pPr>
            <a:r>
              <a:rPr sz="3600" dirty="0">
                <a:solidFill>
                  <a:srgbClr val="2E377E"/>
                </a:solidFill>
                <a:latin typeface="Georgia"/>
                <a:cs typeface="Georgia"/>
              </a:rPr>
              <a:t>Now</a:t>
            </a:r>
            <a:r>
              <a:rPr sz="3600" spc="5" dirty="0">
                <a:solidFill>
                  <a:srgbClr val="2E377E"/>
                </a:solidFill>
                <a:latin typeface="Georgia"/>
                <a:cs typeface="Georgia"/>
              </a:rPr>
              <a:t> </a:t>
            </a:r>
            <a:r>
              <a:rPr sz="3600" spc="135" dirty="0">
                <a:solidFill>
                  <a:srgbClr val="2E377E"/>
                </a:solidFill>
                <a:latin typeface="Georgia"/>
                <a:cs typeface="Georgia"/>
              </a:rPr>
              <a:t>we</a:t>
            </a:r>
            <a:r>
              <a:rPr sz="3600" spc="10" dirty="0">
                <a:solidFill>
                  <a:srgbClr val="2E377E"/>
                </a:solidFill>
                <a:latin typeface="Georgia"/>
                <a:cs typeface="Georgia"/>
              </a:rPr>
              <a:t> </a:t>
            </a:r>
            <a:r>
              <a:rPr sz="3600" spc="45" dirty="0">
                <a:solidFill>
                  <a:srgbClr val="2E377E"/>
                </a:solidFill>
                <a:latin typeface="Georgia"/>
                <a:cs typeface="Georgia"/>
              </a:rPr>
              <a:t>deleted</a:t>
            </a:r>
            <a:r>
              <a:rPr sz="3600" spc="5" dirty="0">
                <a:solidFill>
                  <a:srgbClr val="2E377E"/>
                </a:solidFill>
                <a:latin typeface="Georgia"/>
                <a:cs typeface="Georgia"/>
              </a:rPr>
              <a:t> </a:t>
            </a:r>
            <a:r>
              <a:rPr sz="3600" spc="65"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RC</a:t>
            </a:r>
            <a:r>
              <a:rPr sz="3600" spc="5" dirty="0">
                <a:solidFill>
                  <a:srgbClr val="2E377E"/>
                </a:solidFill>
                <a:latin typeface="Georgia"/>
                <a:cs typeface="Georgia"/>
              </a:rPr>
              <a:t> </a:t>
            </a:r>
            <a:r>
              <a:rPr sz="3600" spc="55" dirty="0">
                <a:solidFill>
                  <a:srgbClr val="2E377E"/>
                </a:solidFill>
                <a:latin typeface="Georgia"/>
                <a:cs typeface="Georgia"/>
              </a:rPr>
              <a:t>but</a:t>
            </a:r>
            <a:r>
              <a:rPr sz="3600" spc="10" dirty="0">
                <a:solidFill>
                  <a:srgbClr val="2E377E"/>
                </a:solidFill>
                <a:latin typeface="Georgia"/>
                <a:cs typeface="Georgia"/>
              </a:rPr>
              <a:t> </a:t>
            </a:r>
            <a:r>
              <a:rPr sz="3600" dirty="0">
                <a:solidFill>
                  <a:srgbClr val="2E377E"/>
                </a:solidFill>
                <a:latin typeface="Georgia"/>
                <a:cs typeface="Georgia"/>
              </a:rPr>
              <a:t>still</a:t>
            </a:r>
            <a:r>
              <a:rPr sz="3600" spc="5" dirty="0">
                <a:solidFill>
                  <a:srgbClr val="2E377E"/>
                </a:solidFill>
                <a:latin typeface="Georgia"/>
                <a:cs typeface="Georgia"/>
              </a:rPr>
              <a:t> </a:t>
            </a:r>
            <a:r>
              <a:rPr sz="3600" dirty="0">
                <a:solidFill>
                  <a:srgbClr val="2E377E"/>
                </a:solidFill>
                <a:latin typeface="Georgia"/>
                <a:cs typeface="Georgia"/>
              </a:rPr>
              <a:t>pods</a:t>
            </a:r>
            <a:r>
              <a:rPr sz="3600" spc="10" dirty="0">
                <a:solidFill>
                  <a:srgbClr val="2E377E"/>
                </a:solidFill>
                <a:latin typeface="Georgia"/>
                <a:cs typeface="Georgia"/>
              </a:rPr>
              <a:t> </a:t>
            </a:r>
            <a:r>
              <a:rPr sz="3600" dirty="0">
                <a:solidFill>
                  <a:srgbClr val="2E377E"/>
                </a:solidFill>
                <a:latin typeface="Georgia"/>
                <a:cs typeface="Georgia"/>
              </a:rPr>
              <a:t>are</a:t>
            </a:r>
            <a:r>
              <a:rPr sz="3600" spc="10" dirty="0">
                <a:solidFill>
                  <a:srgbClr val="2E377E"/>
                </a:solidFill>
                <a:latin typeface="Georgia"/>
                <a:cs typeface="Georgia"/>
              </a:rPr>
              <a:t> </a:t>
            </a:r>
            <a:r>
              <a:rPr sz="3600" dirty="0">
                <a:solidFill>
                  <a:srgbClr val="2E377E"/>
                </a:solidFill>
                <a:latin typeface="Georgia"/>
                <a:cs typeface="Georgia"/>
              </a:rPr>
              <a:t>present,</a:t>
            </a:r>
            <a:r>
              <a:rPr sz="3600" spc="5" dirty="0">
                <a:solidFill>
                  <a:srgbClr val="2E377E"/>
                </a:solidFill>
                <a:latin typeface="Georgia"/>
                <a:cs typeface="Georgia"/>
              </a:rPr>
              <a:t> </a:t>
            </a:r>
            <a:r>
              <a:rPr sz="3600" dirty="0">
                <a:solidFill>
                  <a:srgbClr val="2E377E"/>
                </a:solidFill>
                <a:latin typeface="Georgia"/>
                <a:cs typeface="Georgia"/>
              </a:rPr>
              <a:t>if</a:t>
            </a:r>
            <a:r>
              <a:rPr sz="3600" spc="10" dirty="0">
                <a:solidFill>
                  <a:srgbClr val="2E377E"/>
                </a:solidFill>
                <a:latin typeface="Georgia"/>
                <a:cs typeface="Georgia"/>
              </a:rPr>
              <a:t> </a:t>
            </a:r>
            <a:r>
              <a:rPr sz="3600" spc="135" dirty="0">
                <a:solidFill>
                  <a:srgbClr val="2E377E"/>
                </a:solidFill>
                <a:latin typeface="Georgia"/>
                <a:cs typeface="Georgia"/>
              </a:rPr>
              <a:t>we</a:t>
            </a:r>
            <a:r>
              <a:rPr sz="3600" spc="5" dirty="0">
                <a:solidFill>
                  <a:srgbClr val="2E377E"/>
                </a:solidFill>
                <a:latin typeface="Georgia"/>
                <a:cs typeface="Georgia"/>
              </a:rPr>
              <a:t> </a:t>
            </a:r>
            <a:r>
              <a:rPr sz="3600" spc="80" dirty="0">
                <a:solidFill>
                  <a:srgbClr val="2E377E"/>
                </a:solidFill>
                <a:latin typeface="Georgia"/>
                <a:cs typeface="Georgia"/>
              </a:rPr>
              <a:t>want</a:t>
            </a:r>
            <a:r>
              <a:rPr sz="3600" spc="10" dirty="0">
                <a:solidFill>
                  <a:srgbClr val="2E377E"/>
                </a:solidFill>
                <a:latin typeface="Georgia"/>
                <a:cs typeface="Georgia"/>
              </a:rPr>
              <a:t> </a:t>
            </a:r>
            <a:r>
              <a:rPr sz="3600" spc="75"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assign</a:t>
            </a:r>
            <a:r>
              <a:rPr sz="3600" spc="10"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a:t>
            </a:r>
            <a:r>
              <a:rPr sz="3600" dirty="0">
                <a:solidFill>
                  <a:srgbClr val="2E377E"/>
                </a:solidFill>
                <a:latin typeface="Georgia"/>
                <a:cs typeface="Georgia"/>
              </a:rPr>
              <a:t>pods</a:t>
            </a:r>
            <a:r>
              <a:rPr sz="3600" spc="5" dirty="0">
                <a:solidFill>
                  <a:srgbClr val="2E377E"/>
                </a:solidFill>
                <a:latin typeface="Georgia"/>
                <a:cs typeface="Georgia"/>
              </a:rPr>
              <a:t> </a:t>
            </a:r>
            <a:r>
              <a:rPr sz="3600" spc="50" dirty="0">
                <a:solidFill>
                  <a:srgbClr val="2E377E"/>
                </a:solidFill>
                <a:latin typeface="Georgia"/>
                <a:cs typeface="Georgia"/>
              </a:rPr>
              <a:t>to </a:t>
            </a:r>
            <a:r>
              <a:rPr sz="3600" dirty="0">
                <a:solidFill>
                  <a:srgbClr val="2E377E"/>
                </a:solidFill>
                <a:latin typeface="Georgia"/>
                <a:cs typeface="Georgia"/>
              </a:rPr>
              <a:t>another</a:t>
            </a:r>
            <a:r>
              <a:rPr sz="3600" spc="-20" dirty="0">
                <a:solidFill>
                  <a:srgbClr val="2E377E"/>
                </a:solidFill>
                <a:latin typeface="Georgia"/>
                <a:cs typeface="Georgia"/>
              </a:rPr>
              <a:t> </a:t>
            </a:r>
            <a:r>
              <a:rPr sz="3600" dirty="0">
                <a:solidFill>
                  <a:srgbClr val="2E377E"/>
                </a:solidFill>
                <a:latin typeface="Georgia"/>
                <a:cs typeface="Georgia"/>
              </a:rPr>
              <a:t>RC</a:t>
            </a:r>
            <a:r>
              <a:rPr sz="3600" spc="-15" dirty="0">
                <a:solidFill>
                  <a:srgbClr val="2E377E"/>
                </a:solidFill>
                <a:latin typeface="Georgia"/>
                <a:cs typeface="Georgia"/>
              </a:rPr>
              <a:t> </a:t>
            </a:r>
            <a:r>
              <a:rPr sz="3600" spc="55" dirty="0">
                <a:solidFill>
                  <a:srgbClr val="2E377E"/>
                </a:solidFill>
                <a:latin typeface="Georgia"/>
                <a:cs typeface="Georgia"/>
              </a:rPr>
              <a:t>use</a:t>
            </a:r>
            <a:r>
              <a:rPr sz="3600" spc="-20" dirty="0">
                <a:solidFill>
                  <a:srgbClr val="2E377E"/>
                </a:solidFill>
                <a:latin typeface="Georgia"/>
                <a:cs typeface="Georgia"/>
              </a:rPr>
              <a:t> </a:t>
            </a:r>
            <a:r>
              <a:rPr sz="3600" spc="65"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same</a:t>
            </a:r>
            <a:r>
              <a:rPr sz="3600" spc="-15" dirty="0">
                <a:solidFill>
                  <a:srgbClr val="2E377E"/>
                </a:solidFill>
                <a:latin typeface="Georgia"/>
                <a:cs typeface="Georgia"/>
              </a:rPr>
              <a:t> </a:t>
            </a:r>
            <a:r>
              <a:rPr sz="3600" spc="50" dirty="0">
                <a:solidFill>
                  <a:srgbClr val="2E377E"/>
                </a:solidFill>
                <a:latin typeface="Georgia"/>
                <a:cs typeface="Georgia"/>
              </a:rPr>
              <a:t>selector</a:t>
            </a:r>
            <a:r>
              <a:rPr sz="3600" spc="-20" dirty="0">
                <a:solidFill>
                  <a:srgbClr val="2E377E"/>
                </a:solidFill>
                <a:latin typeface="Georgia"/>
                <a:cs typeface="Georgia"/>
              </a:rPr>
              <a:t> </a:t>
            </a:r>
            <a:r>
              <a:rPr sz="3600" spc="60" dirty="0">
                <a:solidFill>
                  <a:srgbClr val="2E377E"/>
                </a:solidFill>
                <a:latin typeface="Georgia"/>
                <a:cs typeface="Georgia"/>
              </a:rPr>
              <a:t>which</a:t>
            </a:r>
            <a:r>
              <a:rPr sz="3600" spc="-15" dirty="0">
                <a:solidFill>
                  <a:srgbClr val="2E377E"/>
                </a:solidFill>
                <a:latin typeface="Georgia"/>
                <a:cs typeface="Georgia"/>
              </a:rPr>
              <a:t> </a:t>
            </a:r>
            <a:r>
              <a:rPr sz="3600" spc="135" dirty="0">
                <a:solidFill>
                  <a:srgbClr val="2E377E"/>
                </a:solidFill>
                <a:latin typeface="Georgia"/>
                <a:cs typeface="Georgia"/>
              </a:rPr>
              <a:t>we</a:t>
            </a:r>
            <a:r>
              <a:rPr sz="3600" spc="-20" dirty="0">
                <a:solidFill>
                  <a:srgbClr val="2E377E"/>
                </a:solidFill>
                <a:latin typeface="Georgia"/>
                <a:cs typeface="Georgia"/>
              </a:rPr>
              <a:t> </a:t>
            </a:r>
            <a:r>
              <a:rPr sz="3600" dirty="0">
                <a:solidFill>
                  <a:srgbClr val="2E377E"/>
                </a:solidFill>
                <a:latin typeface="Georgia"/>
                <a:cs typeface="Georgia"/>
              </a:rPr>
              <a:t>used</a:t>
            </a:r>
            <a:r>
              <a:rPr sz="3600" spc="-15" dirty="0">
                <a:solidFill>
                  <a:srgbClr val="2E377E"/>
                </a:solidFill>
                <a:latin typeface="Georgia"/>
                <a:cs typeface="Georgia"/>
              </a:rPr>
              <a:t> </a:t>
            </a:r>
            <a:r>
              <a:rPr sz="3600" dirty="0">
                <a:solidFill>
                  <a:srgbClr val="2E377E"/>
                </a:solidFill>
                <a:latin typeface="Georgia"/>
                <a:cs typeface="Georgia"/>
              </a:rPr>
              <a:t>on</a:t>
            </a:r>
            <a:r>
              <a:rPr sz="3600" spc="-15" dirty="0">
                <a:solidFill>
                  <a:srgbClr val="2E377E"/>
                </a:solidFill>
                <a:latin typeface="Georgia"/>
                <a:cs typeface="Georgia"/>
              </a:rPr>
              <a:t> </a:t>
            </a:r>
            <a:r>
              <a:rPr sz="3600" spc="65"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RC</a:t>
            </a:r>
            <a:r>
              <a:rPr sz="3600" spc="-15" dirty="0">
                <a:solidFill>
                  <a:srgbClr val="2E377E"/>
                </a:solidFill>
                <a:latin typeface="Georgia"/>
                <a:cs typeface="Georgia"/>
              </a:rPr>
              <a:t> </a:t>
            </a:r>
            <a:r>
              <a:rPr sz="3600" dirty="0">
                <a:solidFill>
                  <a:srgbClr val="2E377E"/>
                </a:solidFill>
                <a:latin typeface="Georgia"/>
                <a:cs typeface="Georgia"/>
              </a:rPr>
              <a:t>last</a:t>
            </a:r>
            <a:r>
              <a:rPr sz="3600" spc="-15" dirty="0">
                <a:solidFill>
                  <a:srgbClr val="2E377E"/>
                </a:solidFill>
                <a:latin typeface="Georgia"/>
                <a:cs typeface="Georgia"/>
              </a:rPr>
              <a:t> </a:t>
            </a:r>
            <a:r>
              <a:rPr sz="3600" spc="-20" dirty="0">
                <a:solidFill>
                  <a:srgbClr val="2E377E"/>
                </a:solidFill>
                <a:latin typeface="Georgia"/>
                <a:cs typeface="Georgia"/>
              </a:rPr>
              <a:t>file.</a:t>
            </a:r>
            <a:endParaRPr sz="3600">
              <a:latin typeface="Georgia"/>
              <a:cs typeface="Georgi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3381" y="830881"/>
            <a:ext cx="11890375" cy="1786889"/>
          </a:xfrm>
          <a:prstGeom prst="rect">
            <a:avLst/>
          </a:prstGeom>
        </p:spPr>
        <p:txBody>
          <a:bodyPr vert="horz" wrap="square" lIns="0" tIns="13335" rIns="0" bIns="0" rtlCol="0">
            <a:spAutoFit/>
          </a:bodyPr>
          <a:lstStyle/>
          <a:p>
            <a:pPr marL="12700">
              <a:lnSpc>
                <a:spcPct val="100000"/>
              </a:lnSpc>
              <a:spcBef>
                <a:spcPts val="105"/>
              </a:spcBef>
            </a:pPr>
            <a:r>
              <a:rPr sz="11550" spc="-700" dirty="0">
                <a:solidFill>
                  <a:srgbClr val="FF3131"/>
                </a:solidFill>
              </a:rPr>
              <a:t>THE</a:t>
            </a:r>
            <a:r>
              <a:rPr sz="11550" spc="-114" dirty="0">
                <a:solidFill>
                  <a:srgbClr val="FF3131"/>
                </a:solidFill>
              </a:rPr>
              <a:t> </a:t>
            </a:r>
            <a:r>
              <a:rPr sz="11550" spc="-195" dirty="0">
                <a:solidFill>
                  <a:srgbClr val="FF3131"/>
                </a:solidFill>
              </a:rPr>
              <a:t>DRAWBACK</a:t>
            </a:r>
            <a:endParaRPr sz="11550"/>
          </a:p>
        </p:txBody>
      </p:sp>
      <p:sp>
        <p:nvSpPr>
          <p:cNvPr id="3" name="object 3"/>
          <p:cNvSpPr txBox="1"/>
          <p:nvPr/>
        </p:nvSpPr>
        <p:spPr>
          <a:xfrm>
            <a:off x="757739" y="3256411"/>
            <a:ext cx="16322675" cy="4492625"/>
          </a:xfrm>
          <a:prstGeom prst="rect">
            <a:avLst/>
          </a:prstGeom>
        </p:spPr>
        <p:txBody>
          <a:bodyPr vert="horz" wrap="square" lIns="0" tIns="12700" rIns="0" bIns="0" rtlCol="0">
            <a:spAutoFit/>
          </a:bodyPr>
          <a:lstStyle/>
          <a:p>
            <a:pPr marL="12700" marR="8827135">
              <a:lnSpc>
                <a:spcPct val="116300"/>
              </a:lnSpc>
              <a:spcBef>
                <a:spcPts val="100"/>
              </a:spcBef>
            </a:pPr>
            <a:r>
              <a:rPr sz="3600" spc="-10" dirty="0">
                <a:solidFill>
                  <a:srgbClr val="2E377E"/>
                </a:solidFill>
                <a:latin typeface="Georgia"/>
                <a:cs typeface="Georgia"/>
              </a:rPr>
              <a:t>RC</a:t>
            </a:r>
            <a:r>
              <a:rPr sz="3600" spc="-35" dirty="0">
                <a:solidFill>
                  <a:srgbClr val="2E377E"/>
                </a:solidFill>
                <a:latin typeface="Georgia"/>
                <a:cs typeface="Georgia"/>
              </a:rPr>
              <a:t> </a:t>
            </a:r>
            <a:r>
              <a:rPr sz="3600" dirty="0">
                <a:solidFill>
                  <a:srgbClr val="2E377E"/>
                </a:solidFill>
                <a:latin typeface="Georgia"/>
                <a:cs typeface="Georgia"/>
              </a:rPr>
              <a:t>used</a:t>
            </a:r>
            <a:r>
              <a:rPr sz="3600" spc="-30" dirty="0">
                <a:solidFill>
                  <a:srgbClr val="2E377E"/>
                </a:solidFill>
                <a:latin typeface="Georgia"/>
                <a:cs typeface="Georgia"/>
              </a:rPr>
              <a:t> </a:t>
            </a:r>
            <a:r>
              <a:rPr sz="3600" spc="55" dirty="0">
                <a:solidFill>
                  <a:srgbClr val="2E377E"/>
                </a:solidFill>
                <a:latin typeface="Georgia"/>
                <a:cs typeface="Georgia"/>
              </a:rPr>
              <a:t>only</a:t>
            </a:r>
            <a:r>
              <a:rPr sz="3600" spc="-30" dirty="0">
                <a:solidFill>
                  <a:srgbClr val="2E377E"/>
                </a:solidFill>
                <a:latin typeface="Georgia"/>
                <a:cs typeface="Georgia"/>
              </a:rPr>
              <a:t> </a:t>
            </a:r>
            <a:r>
              <a:rPr sz="3600" spc="50" dirty="0">
                <a:solidFill>
                  <a:srgbClr val="2E377E"/>
                </a:solidFill>
                <a:latin typeface="Georgia"/>
                <a:cs typeface="Georgia"/>
              </a:rPr>
              <a:t>equality</a:t>
            </a:r>
            <a:r>
              <a:rPr sz="3600" spc="-30" dirty="0">
                <a:solidFill>
                  <a:srgbClr val="2E377E"/>
                </a:solidFill>
                <a:latin typeface="Georgia"/>
                <a:cs typeface="Georgia"/>
              </a:rPr>
              <a:t> </a:t>
            </a:r>
            <a:r>
              <a:rPr sz="3600" dirty="0">
                <a:solidFill>
                  <a:srgbClr val="2E377E"/>
                </a:solidFill>
                <a:latin typeface="Georgia"/>
                <a:cs typeface="Georgia"/>
              </a:rPr>
              <a:t>based</a:t>
            </a:r>
            <a:r>
              <a:rPr sz="3600" spc="-30" dirty="0">
                <a:solidFill>
                  <a:srgbClr val="2E377E"/>
                </a:solidFill>
                <a:latin typeface="Georgia"/>
                <a:cs typeface="Georgia"/>
              </a:rPr>
              <a:t> </a:t>
            </a:r>
            <a:r>
              <a:rPr sz="3600" spc="40" dirty="0">
                <a:solidFill>
                  <a:srgbClr val="2E377E"/>
                </a:solidFill>
                <a:latin typeface="Georgia"/>
                <a:cs typeface="Georgia"/>
              </a:rPr>
              <a:t>selector </a:t>
            </a:r>
            <a:r>
              <a:rPr sz="3600" dirty="0">
                <a:solidFill>
                  <a:srgbClr val="2E377E"/>
                </a:solidFill>
                <a:latin typeface="Georgia"/>
                <a:cs typeface="Georgia"/>
              </a:rPr>
              <a:t>ex:</a:t>
            </a:r>
            <a:r>
              <a:rPr sz="3600" spc="-110" dirty="0">
                <a:solidFill>
                  <a:srgbClr val="2E377E"/>
                </a:solidFill>
                <a:latin typeface="Georgia"/>
                <a:cs typeface="Georgia"/>
              </a:rPr>
              <a:t> </a:t>
            </a:r>
            <a:r>
              <a:rPr sz="3600" spc="-10" dirty="0">
                <a:solidFill>
                  <a:srgbClr val="2E377E"/>
                </a:solidFill>
                <a:latin typeface="Georgia"/>
                <a:cs typeface="Georgia"/>
              </a:rPr>
              <a:t>env=prod</a:t>
            </a:r>
            <a:endParaRPr sz="3600">
              <a:latin typeface="Georgia"/>
              <a:cs typeface="Georgia"/>
            </a:endParaRPr>
          </a:p>
          <a:p>
            <a:pPr>
              <a:lnSpc>
                <a:spcPct val="100000"/>
              </a:lnSpc>
              <a:spcBef>
                <a:spcPts val="1639"/>
              </a:spcBef>
            </a:pPr>
            <a:endParaRPr sz="3600">
              <a:latin typeface="Georgia"/>
              <a:cs typeface="Georgia"/>
            </a:endParaRPr>
          </a:p>
          <a:p>
            <a:pPr marL="12700">
              <a:lnSpc>
                <a:spcPct val="100000"/>
              </a:lnSpc>
            </a:pPr>
            <a:r>
              <a:rPr sz="3600" dirty="0">
                <a:solidFill>
                  <a:srgbClr val="2E377E"/>
                </a:solidFill>
                <a:latin typeface="Georgia"/>
                <a:cs typeface="Georgia"/>
              </a:rPr>
              <a:t>here</a:t>
            </a:r>
            <a:r>
              <a:rPr sz="3600" spc="10" dirty="0">
                <a:solidFill>
                  <a:srgbClr val="2E377E"/>
                </a:solidFill>
                <a:latin typeface="Georgia"/>
                <a:cs typeface="Georgia"/>
              </a:rPr>
              <a:t> </a:t>
            </a:r>
            <a:r>
              <a:rPr sz="3600" spc="140" dirty="0">
                <a:solidFill>
                  <a:srgbClr val="2E377E"/>
                </a:solidFill>
                <a:latin typeface="Georgia"/>
                <a:cs typeface="Georgia"/>
              </a:rPr>
              <a:t>we</a:t>
            </a:r>
            <a:r>
              <a:rPr sz="3600" spc="10" dirty="0">
                <a:solidFill>
                  <a:srgbClr val="2E377E"/>
                </a:solidFill>
                <a:latin typeface="Georgia"/>
                <a:cs typeface="Georgia"/>
              </a:rPr>
              <a:t> </a:t>
            </a:r>
            <a:r>
              <a:rPr sz="3600" dirty="0">
                <a:solidFill>
                  <a:srgbClr val="2E377E"/>
                </a:solidFill>
                <a:latin typeface="Georgia"/>
                <a:cs typeface="Georgia"/>
              </a:rPr>
              <a:t>can</a:t>
            </a:r>
            <a:r>
              <a:rPr sz="3600" spc="15" dirty="0">
                <a:solidFill>
                  <a:srgbClr val="2E377E"/>
                </a:solidFill>
                <a:latin typeface="Georgia"/>
                <a:cs typeface="Georgia"/>
              </a:rPr>
              <a:t> </a:t>
            </a:r>
            <a:r>
              <a:rPr sz="3600" dirty="0">
                <a:solidFill>
                  <a:srgbClr val="2E377E"/>
                </a:solidFill>
                <a:latin typeface="Georgia"/>
                <a:cs typeface="Georgia"/>
              </a:rPr>
              <a:t>assign</a:t>
            </a:r>
            <a:r>
              <a:rPr sz="3600" spc="10" dirty="0">
                <a:solidFill>
                  <a:srgbClr val="2E377E"/>
                </a:solidFill>
                <a:latin typeface="Georgia"/>
                <a:cs typeface="Georgia"/>
              </a:rPr>
              <a:t> </a:t>
            </a:r>
            <a:r>
              <a:rPr sz="3600" spc="55" dirty="0">
                <a:solidFill>
                  <a:srgbClr val="2E377E"/>
                </a:solidFill>
                <a:latin typeface="Georgia"/>
                <a:cs typeface="Georgia"/>
              </a:rPr>
              <a:t>only</a:t>
            </a:r>
            <a:r>
              <a:rPr sz="3600" spc="15" dirty="0">
                <a:solidFill>
                  <a:srgbClr val="2E377E"/>
                </a:solidFill>
                <a:latin typeface="Georgia"/>
                <a:cs typeface="Georgia"/>
              </a:rPr>
              <a:t> </a:t>
            </a:r>
            <a:r>
              <a:rPr sz="3600" dirty="0">
                <a:solidFill>
                  <a:srgbClr val="2E377E"/>
                </a:solidFill>
                <a:latin typeface="Georgia"/>
                <a:cs typeface="Georgia"/>
              </a:rPr>
              <a:t>one</a:t>
            </a:r>
            <a:r>
              <a:rPr sz="3600" spc="10" dirty="0">
                <a:solidFill>
                  <a:srgbClr val="2E377E"/>
                </a:solidFill>
                <a:latin typeface="Georgia"/>
                <a:cs typeface="Georgia"/>
              </a:rPr>
              <a:t> </a:t>
            </a:r>
            <a:r>
              <a:rPr sz="3600" spc="55" dirty="0">
                <a:solidFill>
                  <a:srgbClr val="2E377E"/>
                </a:solidFill>
                <a:latin typeface="Georgia"/>
                <a:cs typeface="Georgia"/>
              </a:rPr>
              <a:t>value</a:t>
            </a:r>
            <a:r>
              <a:rPr sz="3600" spc="10" dirty="0">
                <a:solidFill>
                  <a:srgbClr val="2E377E"/>
                </a:solidFill>
                <a:latin typeface="Georgia"/>
                <a:cs typeface="Georgia"/>
              </a:rPr>
              <a:t> </a:t>
            </a:r>
            <a:r>
              <a:rPr sz="3600" dirty="0">
                <a:solidFill>
                  <a:srgbClr val="2E377E"/>
                </a:solidFill>
                <a:latin typeface="Georgia"/>
                <a:cs typeface="Georgia"/>
              </a:rPr>
              <a:t>(equality</a:t>
            </a:r>
            <a:r>
              <a:rPr sz="3600" spc="15" dirty="0">
                <a:solidFill>
                  <a:srgbClr val="2E377E"/>
                </a:solidFill>
                <a:latin typeface="Georgia"/>
                <a:cs typeface="Georgia"/>
              </a:rPr>
              <a:t> </a:t>
            </a:r>
            <a:r>
              <a:rPr sz="3600" dirty="0">
                <a:solidFill>
                  <a:srgbClr val="2E377E"/>
                </a:solidFill>
                <a:latin typeface="Georgia"/>
                <a:cs typeface="Georgia"/>
              </a:rPr>
              <a:t>based</a:t>
            </a:r>
            <a:r>
              <a:rPr sz="3600" spc="10" dirty="0">
                <a:solidFill>
                  <a:srgbClr val="2E377E"/>
                </a:solidFill>
                <a:latin typeface="Georgia"/>
                <a:cs typeface="Georgia"/>
              </a:rPr>
              <a:t> </a:t>
            </a:r>
            <a:r>
              <a:rPr sz="3600" spc="-10" dirty="0">
                <a:solidFill>
                  <a:srgbClr val="2E377E"/>
                </a:solidFill>
                <a:latin typeface="Georgia"/>
                <a:cs typeface="Georgia"/>
              </a:rPr>
              <a:t>selector)</a:t>
            </a:r>
            <a:endParaRPr sz="3600">
              <a:latin typeface="Georgia"/>
              <a:cs typeface="Georgia"/>
            </a:endParaRPr>
          </a:p>
          <a:p>
            <a:pPr>
              <a:lnSpc>
                <a:spcPct val="100000"/>
              </a:lnSpc>
              <a:spcBef>
                <a:spcPts val="935"/>
              </a:spcBef>
            </a:pPr>
            <a:endParaRPr sz="3600">
              <a:latin typeface="Georgia"/>
              <a:cs typeface="Georgia"/>
            </a:endParaRPr>
          </a:p>
          <a:p>
            <a:pPr marL="12700" marR="5080">
              <a:lnSpc>
                <a:spcPct val="116300"/>
              </a:lnSpc>
            </a:pPr>
            <a:r>
              <a:rPr sz="3600" dirty="0">
                <a:solidFill>
                  <a:srgbClr val="2E377E"/>
                </a:solidFill>
                <a:latin typeface="Georgia"/>
                <a:cs typeface="Georgia"/>
              </a:rPr>
              <a:t>We</a:t>
            </a:r>
            <a:r>
              <a:rPr sz="3600" spc="-25" dirty="0">
                <a:solidFill>
                  <a:srgbClr val="2E377E"/>
                </a:solidFill>
                <a:latin typeface="Georgia"/>
                <a:cs typeface="Georgia"/>
              </a:rPr>
              <a:t> </a:t>
            </a:r>
            <a:r>
              <a:rPr sz="3600" dirty="0">
                <a:solidFill>
                  <a:srgbClr val="2E377E"/>
                </a:solidFill>
                <a:latin typeface="Georgia"/>
                <a:cs typeface="Georgia"/>
              </a:rPr>
              <a:t>are</a:t>
            </a:r>
            <a:r>
              <a:rPr sz="3600" spc="-20" dirty="0">
                <a:solidFill>
                  <a:srgbClr val="2E377E"/>
                </a:solidFill>
                <a:latin typeface="Georgia"/>
                <a:cs typeface="Georgia"/>
              </a:rPr>
              <a:t> </a:t>
            </a:r>
            <a:r>
              <a:rPr sz="3600" spc="50" dirty="0">
                <a:solidFill>
                  <a:srgbClr val="2E377E"/>
                </a:solidFill>
                <a:latin typeface="Georgia"/>
                <a:cs typeface="Georgia"/>
              </a:rPr>
              <a:t>not</a:t>
            </a:r>
            <a:r>
              <a:rPr sz="3600" spc="-20" dirty="0">
                <a:solidFill>
                  <a:srgbClr val="2E377E"/>
                </a:solidFill>
                <a:latin typeface="Georgia"/>
                <a:cs typeface="Georgia"/>
              </a:rPr>
              <a:t> </a:t>
            </a:r>
            <a:r>
              <a:rPr sz="3600" dirty="0">
                <a:solidFill>
                  <a:srgbClr val="2E377E"/>
                </a:solidFill>
                <a:latin typeface="Georgia"/>
                <a:cs typeface="Georgia"/>
              </a:rPr>
              <a:t>using</a:t>
            </a:r>
            <a:r>
              <a:rPr sz="3600" spc="-20" dirty="0">
                <a:solidFill>
                  <a:srgbClr val="2E377E"/>
                </a:solidFill>
                <a:latin typeface="Georgia"/>
                <a:cs typeface="Georgia"/>
              </a:rPr>
              <a:t> </a:t>
            </a:r>
            <a:r>
              <a:rPr sz="3600" spc="55" dirty="0">
                <a:solidFill>
                  <a:srgbClr val="2E377E"/>
                </a:solidFill>
                <a:latin typeface="Georgia"/>
                <a:cs typeface="Georgia"/>
              </a:rPr>
              <a:t>these</a:t>
            </a:r>
            <a:r>
              <a:rPr sz="3600" spc="-20" dirty="0">
                <a:solidFill>
                  <a:srgbClr val="2E377E"/>
                </a:solidFill>
                <a:latin typeface="Georgia"/>
                <a:cs typeface="Georgia"/>
              </a:rPr>
              <a:t> </a:t>
            </a:r>
            <a:r>
              <a:rPr sz="3600" spc="-10" dirty="0">
                <a:solidFill>
                  <a:srgbClr val="2E377E"/>
                </a:solidFill>
                <a:latin typeface="Georgia"/>
                <a:cs typeface="Georgia"/>
              </a:rPr>
              <a:t>RC</a:t>
            </a:r>
            <a:r>
              <a:rPr sz="3600" spc="-20" dirty="0">
                <a:solidFill>
                  <a:srgbClr val="2E377E"/>
                </a:solidFill>
                <a:latin typeface="Georgia"/>
                <a:cs typeface="Georgia"/>
              </a:rPr>
              <a:t> </a:t>
            </a:r>
            <a:r>
              <a:rPr sz="3600" dirty="0">
                <a:solidFill>
                  <a:srgbClr val="2E377E"/>
                </a:solidFill>
                <a:latin typeface="Georgia"/>
                <a:cs typeface="Georgia"/>
              </a:rPr>
              <a:t>in</a:t>
            </a:r>
            <a:r>
              <a:rPr sz="3600" spc="-20" dirty="0">
                <a:solidFill>
                  <a:srgbClr val="2E377E"/>
                </a:solidFill>
                <a:latin typeface="Georgia"/>
                <a:cs typeface="Georgia"/>
              </a:rPr>
              <a:t> </a:t>
            </a:r>
            <a:r>
              <a:rPr sz="3600" spc="65" dirty="0">
                <a:solidFill>
                  <a:srgbClr val="2E377E"/>
                </a:solidFill>
                <a:latin typeface="Georgia"/>
                <a:cs typeface="Georgia"/>
              </a:rPr>
              <a:t>recent</a:t>
            </a:r>
            <a:r>
              <a:rPr sz="3600" spc="-20" dirty="0">
                <a:solidFill>
                  <a:srgbClr val="2E377E"/>
                </a:solidFill>
                <a:latin typeface="Georgia"/>
                <a:cs typeface="Georgia"/>
              </a:rPr>
              <a:t> </a:t>
            </a:r>
            <a:r>
              <a:rPr sz="3600" dirty="0">
                <a:solidFill>
                  <a:srgbClr val="2E377E"/>
                </a:solidFill>
                <a:latin typeface="Georgia"/>
                <a:cs typeface="Georgia"/>
              </a:rPr>
              <a:t>times,</a:t>
            </a:r>
            <a:r>
              <a:rPr sz="3600" spc="-20" dirty="0">
                <a:solidFill>
                  <a:srgbClr val="2E377E"/>
                </a:solidFill>
                <a:latin typeface="Georgia"/>
                <a:cs typeface="Georgia"/>
              </a:rPr>
              <a:t> </a:t>
            </a:r>
            <a:r>
              <a:rPr sz="3600" dirty="0">
                <a:solidFill>
                  <a:srgbClr val="2E377E"/>
                </a:solidFill>
                <a:latin typeface="Georgia"/>
                <a:cs typeface="Georgia"/>
              </a:rPr>
              <a:t>because</a:t>
            </a:r>
            <a:r>
              <a:rPr sz="3600" spc="-20" dirty="0">
                <a:solidFill>
                  <a:srgbClr val="2E377E"/>
                </a:solidFill>
                <a:latin typeface="Georgia"/>
                <a:cs typeface="Georgia"/>
              </a:rPr>
              <a:t> </a:t>
            </a:r>
            <a:r>
              <a:rPr sz="3600" spc="-10" dirty="0">
                <a:solidFill>
                  <a:srgbClr val="2E377E"/>
                </a:solidFill>
                <a:latin typeface="Georgia"/>
                <a:cs typeface="Georgia"/>
              </a:rPr>
              <a:t>RC</a:t>
            </a:r>
            <a:r>
              <a:rPr sz="3600" spc="-20"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replaced</a:t>
            </a:r>
            <a:r>
              <a:rPr sz="3600" spc="-20" dirty="0">
                <a:solidFill>
                  <a:srgbClr val="2E377E"/>
                </a:solidFill>
                <a:latin typeface="Georgia"/>
                <a:cs typeface="Georgia"/>
              </a:rPr>
              <a:t> </a:t>
            </a:r>
            <a:r>
              <a:rPr sz="3600" spc="95" dirty="0">
                <a:solidFill>
                  <a:srgbClr val="2E377E"/>
                </a:solidFill>
                <a:latin typeface="Georgia"/>
                <a:cs typeface="Georgia"/>
              </a:rPr>
              <a:t>by</a:t>
            </a:r>
            <a:r>
              <a:rPr sz="3600" spc="-20" dirty="0">
                <a:solidFill>
                  <a:srgbClr val="2E377E"/>
                </a:solidFill>
                <a:latin typeface="Georgia"/>
                <a:cs typeface="Georgia"/>
              </a:rPr>
              <a:t> </a:t>
            </a:r>
            <a:r>
              <a:rPr sz="3600" spc="-10" dirty="0">
                <a:solidFill>
                  <a:srgbClr val="2E377E"/>
                </a:solidFill>
                <a:latin typeface="Georgia"/>
                <a:cs typeface="Georgia"/>
              </a:rPr>
              <a:t>RS(Replica </a:t>
            </a:r>
            <a:r>
              <a:rPr sz="3600" spc="-20" dirty="0">
                <a:solidFill>
                  <a:srgbClr val="2E377E"/>
                </a:solidFill>
                <a:latin typeface="Georgia"/>
                <a:cs typeface="Georgia"/>
              </a:rPr>
              <a:t>Set)</a:t>
            </a:r>
            <a:endParaRPr sz="3600">
              <a:latin typeface="Georgia"/>
              <a:cs typeface="Georgi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18114" y="1950919"/>
            <a:ext cx="133350" cy="133350"/>
          </a:xfrm>
          <a:prstGeom prst="rect">
            <a:avLst/>
          </a:prstGeom>
        </p:spPr>
      </p:pic>
      <p:pic>
        <p:nvPicPr>
          <p:cNvPr id="3" name="object 3"/>
          <p:cNvPicPr/>
          <p:nvPr/>
        </p:nvPicPr>
        <p:blipFill>
          <a:blip r:embed="rId2" cstate="print"/>
          <a:stretch>
            <a:fillRect/>
          </a:stretch>
        </p:blipFill>
        <p:spPr>
          <a:xfrm>
            <a:off x="1218114" y="3227269"/>
            <a:ext cx="133350" cy="133350"/>
          </a:xfrm>
          <a:prstGeom prst="rect">
            <a:avLst/>
          </a:prstGeom>
        </p:spPr>
      </p:pic>
      <p:pic>
        <p:nvPicPr>
          <p:cNvPr id="4" name="object 4"/>
          <p:cNvPicPr/>
          <p:nvPr/>
        </p:nvPicPr>
        <p:blipFill>
          <a:blip r:embed="rId3" cstate="print"/>
          <a:stretch>
            <a:fillRect/>
          </a:stretch>
        </p:blipFill>
        <p:spPr>
          <a:xfrm>
            <a:off x="1218114" y="3865444"/>
            <a:ext cx="133350" cy="133350"/>
          </a:xfrm>
          <a:prstGeom prst="rect">
            <a:avLst/>
          </a:prstGeom>
        </p:spPr>
      </p:pic>
      <p:pic>
        <p:nvPicPr>
          <p:cNvPr id="5" name="object 5"/>
          <p:cNvPicPr/>
          <p:nvPr/>
        </p:nvPicPr>
        <p:blipFill>
          <a:blip r:embed="rId4" cstate="print"/>
          <a:stretch>
            <a:fillRect/>
          </a:stretch>
        </p:blipFill>
        <p:spPr>
          <a:xfrm>
            <a:off x="1218114" y="5141794"/>
            <a:ext cx="133350" cy="133350"/>
          </a:xfrm>
          <a:prstGeom prst="rect">
            <a:avLst/>
          </a:prstGeom>
        </p:spPr>
      </p:pic>
      <p:pic>
        <p:nvPicPr>
          <p:cNvPr id="6" name="object 6"/>
          <p:cNvPicPr/>
          <p:nvPr/>
        </p:nvPicPr>
        <p:blipFill>
          <a:blip r:embed="rId4" cstate="print"/>
          <a:stretch>
            <a:fillRect/>
          </a:stretch>
        </p:blipFill>
        <p:spPr>
          <a:xfrm>
            <a:off x="1218114" y="6418144"/>
            <a:ext cx="133350" cy="133350"/>
          </a:xfrm>
          <a:prstGeom prst="rect">
            <a:avLst/>
          </a:prstGeom>
        </p:spPr>
      </p:pic>
      <p:pic>
        <p:nvPicPr>
          <p:cNvPr id="7" name="object 7"/>
          <p:cNvPicPr/>
          <p:nvPr/>
        </p:nvPicPr>
        <p:blipFill>
          <a:blip r:embed="rId4" cstate="print"/>
          <a:stretch>
            <a:fillRect/>
          </a:stretch>
        </p:blipFill>
        <p:spPr>
          <a:xfrm>
            <a:off x="1218114" y="7694493"/>
            <a:ext cx="133350" cy="133350"/>
          </a:xfrm>
          <a:prstGeom prst="rect">
            <a:avLst/>
          </a:prstGeom>
        </p:spPr>
      </p:pic>
      <p:pic>
        <p:nvPicPr>
          <p:cNvPr id="8" name="object 8"/>
          <p:cNvPicPr/>
          <p:nvPr/>
        </p:nvPicPr>
        <p:blipFill>
          <a:blip r:embed="rId4" cstate="print"/>
          <a:stretch>
            <a:fillRect/>
          </a:stretch>
        </p:blipFill>
        <p:spPr>
          <a:xfrm>
            <a:off x="1218114" y="8332668"/>
            <a:ext cx="133350" cy="133350"/>
          </a:xfrm>
          <a:prstGeom prst="rect">
            <a:avLst/>
          </a:prstGeom>
        </p:spPr>
      </p:pic>
      <p:pic>
        <p:nvPicPr>
          <p:cNvPr id="9" name="object 9"/>
          <p:cNvPicPr/>
          <p:nvPr/>
        </p:nvPicPr>
        <p:blipFill>
          <a:blip r:embed="rId4" cstate="print"/>
          <a:stretch>
            <a:fillRect/>
          </a:stretch>
        </p:blipFill>
        <p:spPr>
          <a:xfrm>
            <a:off x="1218114" y="8970843"/>
            <a:ext cx="133350" cy="133350"/>
          </a:xfrm>
          <a:prstGeom prst="rect">
            <a:avLst/>
          </a:prstGeom>
        </p:spPr>
      </p:pic>
      <p:pic>
        <p:nvPicPr>
          <p:cNvPr id="10" name="object 10"/>
          <p:cNvPicPr/>
          <p:nvPr/>
        </p:nvPicPr>
        <p:blipFill>
          <a:blip r:embed="rId4" cstate="print"/>
          <a:stretch>
            <a:fillRect/>
          </a:stretch>
        </p:blipFill>
        <p:spPr>
          <a:xfrm>
            <a:off x="1218114" y="9609018"/>
            <a:ext cx="133350" cy="133350"/>
          </a:xfrm>
          <a:prstGeom prst="rect">
            <a:avLst/>
          </a:prstGeom>
        </p:spPr>
      </p:pic>
      <p:sp>
        <p:nvSpPr>
          <p:cNvPr id="11" name="object 11"/>
          <p:cNvSpPr txBox="1">
            <a:spLocks noGrp="1"/>
          </p:cNvSpPr>
          <p:nvPr>
            <p:ph type="title"/>
          </p:nvPr>
        </p:nvSpPr>
        <p:spPr>
          <a:prstGeom prst="rect">
            <a:avLst/>
          </a:prstGeom>
        </p:spPr>
        <p:txBody>
          <a:bodyPr vert="horz" wrap="square" lIns="0" tIns="365455" rIns="0" bIns="0" rtlCol="0">
            <a:spAutoFit/>
          </a:bodyPr>
          <a:lstStyle/>
          <a:p>
            <a:pPr marL="158115">
              <a:lnSpc>
                <a:spcPct val="100000"/>
              </a:lnSpc>
              <a:spcBef>
                <a:spcPts val="100"/>
              </a:spcBef>
            </a:pPr>
            <a:r>
              <a:rPr spc="-345" dirty="0">
                <a:solidFill>
                  <a:srgbClr val="FF3131"/>
                </a:solidFill>
              </a:rPr>
              <a:t>REPLICASET:</a:t>
            </a:r>
          </a:p>
        </p:txBody>
      </p:sp>
      <p:sp>
        <p:nvSpPr>
          <p:cNvPr id="12" name="object 12"/>
          <p:cNvSpPr txBox="1"/>
          <p:nvPr/>
        </p:nvSpPr>
        <p:spPr>
          <a:xfrm>
            <a:off x="1534921" y="1627838"/>
            <a:ext cx="15375255" cy="8321675"/>
          </a:xfrm>
          <a:prstGeom prst="rect">
            <a:avLst/>
          </a:prstGeom>
        </p:spPr>
        <p:txBody>
          <a:bodyPr vert="horz" wrap="square" lIns="0" tIns="12700" rIns="0" bIns="0" rtlCol="0">
            <a:spAutoFit/>
          </a:bodyPr>
          <a:lstStyle/>
          <a:p>
            <a:pPr marL="12700" marR="422275">
              <a:lnSpc>
                <a:spcPct val="116300"/>
              </a:lnSpc>
              <a:spcBef>
                <a:spcPts val="100"/>
              </a:spcBef>
            </a:pPr>
            <a:r>
              <a:rPr sz="3600" spc="65" dirty="0">
                <a:solidFill>
                  <a:srgbClr val="2E377E"/>
                </a:solidFill>
                <a:latin typeface="Georgia"/>
                <a:cs typeface="Georgia"/>
              </a:rPr>
              <a:t>it</a:t>
            </a:r>
            <a:r>
              <a:rPr sz="3600" spc="20" dirty="0">
                <a:solidFill>
                  <a:srgbClr val="2E377E"/>
                </a:solidFill>
                <a:latin typeface="Georgia"/>
                <a:cs typeface="Georgia"/>
              </a:rPr>
              <a:t> </a:t>
            </a:r>
            <a:r>
              <a:rPr sz="3600" dirty="0">
                <a:solidFill>
                  <a:srgbClr val="2E377E"/>
                </a:solidFill>
                <a:latin typeface="Georgia"/>
                <a:cs typeface="Georgia"/>
              </a:rPr>
              <a:t>is</a:t>
            </a:r>
            <a:r>
              <a:rPr sz="3600" spc="25" dirty="0">
                <a:solidFill>
                  <a:srgbClr val="2E377E"/>
                </a:solidFill>
                <a:latin typeface="Georgia"/>
                <a:cs typeface="Georgia"/>
              </a:rPr>
              <a:t> </a:t>
            </a:r>
            <a:r>
              <a:rPr sz="3600" dirty="0">
                <a:solidFill>
                  <a:srgbClr val="2E377E"/>
                </a:solidFill>
                <a:latin typeface="Georgia"/>
                <a:cs typeface="Georgia"/>
              </a:rPr>
              <a:t>nothing</a:t>
            </a:r>
            <a:r>
              <a:rPr sz="3600" spc="20" dirty="0">
                <a:solidFill>
                  <a:srgbClr val="2E377E"/>
                </a:solidFill>
                <a:latin typeface="Georgia"/>
                <a:cs typeface="Georgia"/>
              </a:rPr>
              <a:t> </a:t>
            </a:r>
            <a:r>
              <a:rPr sz="3600" spc="60" dirty="0">
                <a:solidFill>
                  <a:srgbClr val="2E377E"/>
                </a:solidFill>
                <a:latin typeface="Georgia"/>
                <a:cs typeface="Georgia"/>
              </a:rPr>
              <a:t>but</a:t>
            </a:r>
            <a:r>
              <a:rPr sz="3600" spc="25" dirty="0">
                <a:solidFill>
                  <a:srgbClr val="2E377E"/>
                </a:solidFill>
                <a:latin typeface="Georgia"/>
                <a:cs typeface="Georgia"/>
              </a:rPr>
              <a:t> </a:t>
            </a:r>
            <a:r>
              <a:rPr sz="3600" dirty="0">
                <a:solidFill>
                  <a:srgbClr val="2E377E"/>
                </a:solidFill>
                <a:latin typeface="Georgia"/>
                <a:cs typeface="Georgia"/>
              </a:rPr>
              <a:t>group</a:t>
            </a:r>
            <a:r>
              <a:rPr sz="3600" spc="20"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dirty="0">
                <a:solidFill>
                  <a:srgbClr val="2E377E"/>
                </a:solidFill>
                <a:latin typeface="Georgia"/>
                <a:cs typeface="Georgia"/>
              </a:rPr>
              <a:t>identical</a:t>
            </a:r>
            <a:r>
              <a:rPr sz="3600" spc="20" dirty="0">
                <a:solidFill>
                  <a:srgbClr val="2E377E"/>
                </a:solidFill>
                <a:latin typeface="Georgia"/>
                <a:cs typeface="Georgia"/>
              </a:rPr>
              <a:t> </a:t>
            </a:r>
            <a:r>
              <a:rPr sz="3600" dirty="0">
                <a:solidFill>
                  <a:srgbClr val="2E377E"/>
                </a:solidFill>
                <a:latin typeface="Georgia"/>
                <a:cs typeface="Georgia"/>
              </a:rPr>
              <a:t>pods.</a:t>
            </a:r>
            <a:r>
              <a:rPr sz="3600" spc="25" dirty="0">
                <a:solidFill>
                  <a:srgbClr val="2E377E"/>
                </a:solidFill>
                <a:latin typeface="Georgia"/>
                <a:cs typeface="Georgia"/>
              </a:rPr>
              <a:t> </a:t>
            </a:r>
            <a:r>
              <a:rPr sz="3600" dirty="0">
                <a:solidFill>
                  <a:srgbClr val="2E377E"/>
                </a:solidFill>
                <a:latin typeface="Georgia"/>
                <a:cs typeface="Georgia"/>
              </a:rPr>
              <a:t>If</a:t>
            </a:r>
            <a:r>
              <a:rPr sz="3600" spc="20" dirty="0">
                <a:solidFill>
                  <a:srgbClr val="2E377E"/>
                </a:solidFill>
                <a:latin typeface="Georgia"/>
                <a:cs typeface="Georgia"/>
              </a:rPr>
              <a:t> </a:t>
            </a:r>
            <a:r>
              <a:rPr sz="3600" dirty="0">
                <a:solidFill>
                  <a:srgbClr val="2E377E"/>
                </a:solidFill>
                <a:latin typeface="Georgia"/>
                <a:cs typeface="Georgia"/>
              </a:rPr>
              <a:t>one</a:t>
            </a:r>
            <a:r>
              <a:rPr sz="3600" spc="25"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dirty="0">
                <a:solidFill>
                  <a:srgbClr val="2E377E"/>
                </a:solidFill>
                <a:latin typeface="Georgia"/>
                <a:cs typeface="Georgia"/>
              </a:rPr>
              <a:t>crashes</a:t>
            </a:r>
            <a:r>
              <a:rPr sz="3600" spc="25" dirty="0">
                <a:solidFill>
                  <a:srgbClr val="2E377E"/>
                </a:solidFill>
                <a:latin typeface="Georgia"/>
                <a:cs typeface="Georgia"/>
              </a:rPr>
              <a:t> </a:t>
            </a:r>
            <a:r>
              <a:rPr sz="3600" spc="-10" dirty="0">
                <a:solidFill>
                  <a:srgbClr val="2E377E"/>
                </a:solidFill>
                <a:latin typeface="Georgia"/>
                <a:cs typeface="Georgia"/>
              </a:rPr>
              <a:t>automatically </a:t>
            </a:r>
            <a:r>
              <a:rPr sz="3600" dirty="0">
                <a:solidFill>
                  <a:srgbClr val="2E377E"/>
                </a:solidFill>
                <a:latin typeface="Georgia"/>
                <a:cs typeface="Georgia"/>
              </a:rPr>
              <a:t>replica</a:t>
            </a:r>
            <a:r>
              <a:rPr sz="3600" spc="20" dirty="0">
                <a:solidFill>
                  <a:srgbClr val="2E377E"/>
                </a:solidFill>
                <a:latin typeface="Georgia"/>
                <a:cs typeface="Georgia"/>
              </a:rPr>
              <a:t> </a:t>
            </a:r>
            <a:r>
              <a:rPr sz="3600" spc="60" dirty="0">
                <a:solidFill>
                  <a:srgbClr val="2E377E"/>
                </a:solidFill>
                <a:latin typeface="Georgia"/>
                <a:cs typeface="Georgia"/>
              </a:rPr>
              <a:t>sets</a:t>
            </a:r>
            <a:r>
              <a:rPr sz="3600" spc="20" dirty="0">
                <a:solidFill>
                  <a:srgbClr val="2E377E"/>
                </a:solidFill>
                <a:latin typeface="Georgia"/>
                <a:cs typeface="Georgia"/>
              </a:rPr>
              <a:t> </a:t>
            </a:r>
            <a:r>
              <a:rPr sz="3600" spc="65" dirty="0">
                <a:solidFill>
                  <a:srgbClr val="2E377E"/>
                </a:solidFill>
                <a:latin typeface="Georgia"/>
                <a:cs typeface="Georgia"/>
              </a:rPr>
              <a:t>gives</a:t>
            </a:r>
            <a:r>
              <a:rPr sz="3600" spc="20" dirty="0">
                <a:solidFill>
                  <a:srgbClr val="2E377E"/>
                </a:solidFill>
                <a:latin typeface="Georgia"/>
                <a:cs typeface="Georgia"/>
              </a:rPr>
              <a:t> </a:t>
            </a:r>
            <a:r>
              <a:rPr sz="3600" dirty="0">
                <a:solidFill>
                  <a:srgbClr val="2E377E"/>
                </a:solidFill>
                <a:latin typeface="Georgia"/>
                <a:cs typeface="Georgia"/>
              </a:rPr>
              <a:t>one</a:t>
            </a:r>
            <a:r>
              <a:rPr sz="3600" spc="20" dirty="0">
                <a:solidFill>
                  <a:srgbClr val="2E377E"/>
                </a:solidFill>
                <a:latin typeface="Georgia"/>
                <a:cs typeface="Georgia"/>
              </a:rPr>
              <a:t> </a:t>
            </a:r>
            <a:r>
              <a:rPr sz="3600" dirty="0">
                <a:solidFill>
                  <a:srgbClr val="2E377E"/>
                </a:solidFill>
                <a:latin typeface="Georgia"/>
                <a:cs typeface="Georgia"/>
              </a:rPr>
              <a:t>more</a:t>
            </a:r>
            <a:r>
              <a:rPr sz="3600" spc="20"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spc="-10" dirty="0">
                <a:solidFill>
                  <a:srgbClr val="2E377E"/>
                </a:solidFill>
                <a:latin typeface="Georgia"/>
                <a:cs typeface="Georgia"/>
              </a:rPr>
              <a:t>immediately.</a:t>
            </a:r>
            <a:endParaRPr sz="3600">
              <a:latin typeface="Georgia"/>
              <a:cs typeface="Georgia"/>
            </a:endParaRPr>
          </a:p>
          <a:p>
            <a:pPr marL="12700">
              <a:lnSpc>
                <a:spcPct val="100000"/>
              </a:lnSpc>
              <a:spcBef>
                <a:spcPts val="705"/>
              </a:spcBef>
            </a:pPr>
            <a:r>
              <a:rPr sz="3600" spc="65" dirty="0">
                <a:solidFill>
                  <a:srgbClr val="2E377E"/>
                </a:solidFill>
                <a:latin typeface="Georgia"/>
                <a:cs typeface="Georgia"/>
              </a:rPr>
              <a:t>it</a:t>
            </a:r>
            <a:r>
              <a:rPr sz="3600" spc="-20" dirty="0">
                <a:solidFill>
                  <a:srgbClr val="2E377E"/>
                </a:solidFill>
                <a:latin typeface="Georgia"/>
                <a:cs typeface="Georgia"/>
              </a:rPr>
              <a:t> </a:t>
            </a:r>
            <a:r>
              <a:rPr sz="3600" dirty="0">
                <a:solidFill>
                  <a:srgbClr val="2E377E"/>
                </a:solidFill>
                <a:latin typeface="Georgia"/>
                <a:cs typeface="Georgia"/>
              </a:rPr>
              <a:t>uses</a:t>
            </a:r>
            <a:r>
              <a:rPr sz="3600" spc="-15" dirty="0">
                <a:solidFill>
                  <a:srgbClr val="2E377E"/>
                </a:solidFill>
                <a:latin typeface="Georgia"/>
                <a:cs typeface="Georgia"/>
              </a:rPr>
              <a:t> </a:t>
            </a:r>
            <a:r>
              <a:rPr sz="3600" dirty="0">
                <a:solidFill>
                  <a:srgbClr val="2E377E"/>
                </a:solidFill>
                <a:latin typeface="Georgia"/>
                <a:cs typeface="Georgia"/>
              </a:rPr>
              <a:t>labels</a:t>
            </a:r>
            <a:r>
              <a:rPr sz="3600" spc="-15"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spc="60" dirty="0">
                <a:solidFill>
                  <a:srgbClr val="2E377E"/>
                </a:solidFill>
                <a:latin typeface="Georgia"/>
                <a:cs typeface="Georgia"/>
              </a:rPr>
              <a:t>identify</a:t>
            </a:r>
            <a:r>
              <a:rPr sz="3600" spc="-15"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spc="-20" dirty="0">
                <a:solidFill>
                  <a:srgbClr val="2E377E"/>
                </a:solidFill>
                <a:latin typeface="Georgia"/>
                <a:cs typeface="Georgia"/>
              </a:rPr>
              <a:t>pods</a:t>
            </a:r>
            <a:endParaRPr sz="3600">
              <a:latin typeface="Georgia"/>
              <a:cs typeface="Georgia"/>
            </a:endParaRPr>
          </a:p>
          <a:p>
            <a:pPr marL="12700" marR="1119505">
              <a:lnSpc>
                <a:spcPct val="116300"/>
              </a:lnSpc>
            </a:pPr>
            <a:r>
              <a:rPr sz="3600" dirty="0">
                <a:solidFill>
                  <a:srgbClr val="2E377E"/>
                </a:solidFill>
                <a:latin typeface="Georgia"/>
                <a:cs typeface="Georgia"/>
              </a:rPr>
              <a:t>Difference</a:t>
            </a:r>
            <a:r>
              <a:rPr sz="3600" spc="-5" dirty="0">
                <a:solidFill>
                  <a:srgbClr val="2E377E"/>
                </a:solidFill>
                <a:latin typeface="Georgia"/>
                <a:cs typeface="Georgia"/>
              </a:rPr>
              <a:t> </a:t>
            </a:r>
            <a:r>
              <a:rPr sz="3600" spc="80" dirty="0">
                <a:solidFill>
                  <a:srgbClr val="2E377E"/>
                </a:solidFill>
                <a:latin typeface="Georgia"/>
                <a:cs typeface="Georgia"/>
              </a:rPr>
              <a:t>between</a:t>
            </a:r>
            <a:r>
              <a:rPr sz="3600" dirty="0">
                <a:solidFill>
                  <a:srgbClr val="2E377E"/>
                </a:solidFill>
                <a:latin typeface="Georgia"/>
                <a:cs typeface="Georgia"/>
              </a:rPr>
              <a:t> </a:t>
            </a:r>
            <a:r>
              <a:rPr sz="3600" spc="-10" dirty="0">
                <a:solidFill>
                  <a:srgbClr val="2E377E"/>
                </a:solidFill>
                <a:latin typeface="Georgia"/>
                <a:cs typeface="Georgia"/>
              </a:rPr>
              <a:t>RC</a:t>
            </a:r>
            <a:r>
              <a:rPr sz="3600" spc="-5" dirty="0">
                <a:solidFill>
                  <a:srgbClr val="2E377E"/>
                </a:solidFill>
                <a:latin typeface="Georgia"/>
                <a:cs typeface="Georgia"/>
              </a:rPr>
              <a:t> </a:t>
            </a:r>
            <a:r>
              <a:rPr sz="3600" dirty="0">
                <a:solidFill>
                  <a:srgbClr val="2E377E"/>
                </a:solidFill>
                <a:latin typeface="Georgia"/>
                <a:cs typeface="Georgia"/>
              </a:rPr>
              <a:t>and </a:t>
            </a:r>
            <a:r>
              <a:rPr sz="3600" spc="-65" dirty="0">
                <a:solidFill>
                  <a:srgbClr val="2E377E"/>
                </a:solidFill>
                <a:latin typeface="Georgia"/>
                <a:cs typeface="Georgia"/>
              </a:rPr>
              <a:t>RS</a:t>
            </a:r>
            <a:r>
              <a:rPr sz="3600" dirty="0">
                <a:solidFill>
                  <a:srgbClr val="2E377E"/>
                </a:solidFill>
                <a:latin typeface="Georgia"/>
                <a:cs typeface="Georgia"/>
              </a:rPr>
              <a:t> is</a:t>
            </a:r>
            <a:r>
              <a:rPr sz="3600" spc="-5" dirty="0">
                <a:solidFill>
                  <a:srgbClr val="2E377E"/>
                </a:solidFill>
                <a:latin typeface="Georgia"/>
                <a:cs typeface="Georgia"/>
              </a:rPr>
              <a:t> </a:t>
            </a:r>
            <a:r>
              <a:rPr sz="3600" spc="50" dirty="0">
                <a:solidFill>
                  <a:srgbClr val="2E377E"/>
                </a:solidFill>
                <a:latin typeface="Georgia"/>
                <a:cs typeface="Georgia"/>
              </a:rPr>
              <a:t>selector</a:t>
            </a:r>
            <a:r>
              <a:rPr sz="3600" dirty="0">
                <a:solidFill>
                  <a:srgbClr val="2E377E"/>
                </a:solidFill>
                <a:latin typeface="Georgia"/>
                <a:cs typeface="Georgia"/>
              </a:rPr>
              <a:t> and</a:t>
            </a:r>
            <a:r>
              <a:rPr sz="3600" spc="-5" dirty="0">
                <a:solidFill>
                  <a:srgbClr val="2E377E"/>
                </a:solidFill>
                <a:latin typeface="Georgia"/>
                <a:cs typeface="Georgia"/>
              </a:rPr>
              <a:t> </a:t>
            </a:r>
            <a:r>
              <a:rPr sz="3600" spc="65" dirty="0">
                <a:solidFill>
                  <a:srgbClr val="2E377E"/>
                </a:solidFill>
                <a:latin typeface="Georgia"/>
                <a:cs typeface="Georgia"/>
              </a:rPr>
              <a:t>it</a:t>
            </a:r>
            <a:r>
              <a:rPr sz="3600" dirty="0">
                <a:solidFill>
                  <a:srgbClr val="2E377E"/>
                </a:solidFill>
                <a:latin typeface="Georgia"/>
                <a:cs typeface="Georgia"/>
              </a:rPr>
              <a:t> offers more</a:t>
            </a:r>
            <a:r>
              <a:rPr sz="3600" spc="-5" dirty="0">
                <a:solidFill>
                  <a:srgbClr val="2E377E"/>
                </a:solidFill>
                <a:latin typeface="Georgia"/>
                <a:cs typeface="Georgia"/>
              </a:rPr>
              <a:t> </a:t>
            </a:r>
            <a:r>
              <a:rPr sz="3600" spc="-10" dirty="0">
                <a:solidFill>
                  <a:srgbClr val="2E377E"/>
                </a:solidFill>
                <a:latin typeface="Georgia"/>
                <a:cs typeface="Georgia"/>
              </a:rPr>
              <a:t>advanced functionality.</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The</a:t>
            </a:r>
            <a:r>
              <a:rPr sz="3600" spc="50" dirty="0">
                <a:solidFill>
                  <a:srgbClr val="2E377E"/>
                </a:solidFill>
                <a:latin typeface="Georgia"/>
                <a:cs typeface="Georgia"/>
              </a:rPr>
              <a:t> </a:t>
            </a:r>
            <a:r>
              <a:rPr sz="3600" spc="125" dirty="0">
                <a:solidFill>
                  <a:srgbClr val="2E377E"/>
                </a:solidFill>
                <a:latin typeface="Georgia"/>
                <a:cs typeface="Georgia"/>
              </a:rPr>
              <a:t>key</a:t>
            </a:r>
            <a:r>
              <a:rPr sz="3600" spc="55" dirty="0">
                <a:solidFill>
                  <a:srgbClr val="2E377E"/>
                </a:solidFill>
                <a:latin typeface="Georgia"/>
                <a:cs typeface="Georgia"/>
              </a:rPr>
              <a:t> </a:t>
            </a:r>
            <a:r>
              <a:rPr sz="3600" spc="45" dirty="0">
                <a:solidFill>
                  <a:srgbClr val="2E377E"/>
                </a:solidFill>
                <a:latin typeface="Georgia"/>
                <a:cs typeface="Georgia"/>
              </a:rPr>
              <a:t>difference</a:t>
            </a:r>
            <a:r>
              <a:rPr sz="3600" spc="55" dirty="0">
                <a:solidFill>
                  <a:srgbClr val="2E377E"/>
                </a:solidFill>
                <a:latin typeface="Georgia"/>
                <a:cs typeface="Georgia"/>
              </a:rPr>
              <a:t> </a:t>
            </a:r>
            <a:r>
              <a:rPr sz="3600" dirty="0">
                <a:solidFill>
                  <a:srgbClr val="2E377E"/>
                </a:solidFill>
                <a:latin typeface="Georgia"/>
                <a:cs typeface="Georgia"/>
              </a:rPr>
              <a:t>is</a:t>
            </a:r>
            <a:r>
              <a:rPr sz="3600" spc="55" dirty="0">
                <a:solidFill>
                  <a:srgbClr val="2E377E"/>
                </a:solidFill>
                <a:latin typeface="Georgia"/>
                <a:cs typeface="Georgia"/>
              </a:rPr>
              <a:t> that </a:t>
            </a:r>
            <a:r>
              <a:rPr sz="3600" spc="60" dirty="0">
                <a:solidFill>
                  <a:srgbClr val="2E377E"/>
                </a:solidFill>
                <a:latin typeface="Georgia"/>
                <a:cs typeface="Georgia"/>
              </a:rPr>
              <a:t>the</a:t>
            </a:r>
            <a:r>
              <a:rPr sz="3600" spc="55" dirty="0">
                <a:solidFill>
                  <a:srgbClr val="2E377E"/>
                </a:solidFill>
                <a:latin typeface="Georgia"/>
                <a:cs typeface="Georgia"/>
              </a:rPr>
              <a:t> </a:t>
            </a:r>
            <a:r>
              <a:rPr sz="3600" dirty="0">
                <a:solidFill>
                  <a:srgbClr val="2E377E"/>
                </a:solidFill>
                <a:latin typeface="Georgia"/>
                <a:cs typeface="Georgia"/>
              </a:rPr>
              <a:t>replication</a:t>
            </a:r>
            <a:r>
              <a:rPr sz="3600" spc="55" dirty="0">
                <a:solidFill>
                  <a:srgbClr val="2E377E"/>
                </a:solidFill>
                <a:latin typeface="Georgia"/>
                <a:cs typeface="Georgia"/>
              </a:rPr>
              <a:t> </a:t>
            </a:r>
            <a:r>
              <a:rPr sz="3600" dirty="0">
                <a:solidFill>
                  <a:srgbClr val="2E377E"/>
                </a:solidFill>
                <a:latin typeface="Georgia"/>
                <a:cs typeface="Georgia"/>
              </a:rPr>
              <a:t>controller</a:t>
            </a:r>
            <a:r>
              <a:rPr sz="3600" spc="55" dirty="0">
                <a:solidFill>
                  <a:srgbClr val="2E377E"/>
                </a:solidFill>
                <a:latin typeface="Georgia"/>
                <a:cs typeface="Georgia"/>
              </a:rPr>
              <a:t> only </a:t>
            </a:r>
            <a:r>
              <a:rPr sz="3600" dirty="0">
                <a:solidFill>
                  <a:srgbClr val="2E377E"/>
                </a:solidFill>
                <a:latin typeface="Georgia"/>
                <a:cs typeface="Georgia"/>
              </a:rPr>
              <a:t>supports</a:t>
            </a:r>
            <a:r>
              <a:rPr sz="3600" spc="95" dirty="0">
                <a:solidFill>
                  <a:srgbClr val="2E377E"/>
                </a:solidFill>
                <a:latin typeface="Georgia"/>
                <a:cs typeface="Georgia"/>
              </a:rPr>
              <a:t> </a:t>
            </a:r>
            <a:r>
              <a:rPr sz="5400" b="1" i="1" spc="232" baseline="3086" dirty="0">
                <a:solidFill>
                  <a:srgbClr val="2E377E"/>
                </a:solidFill>
                <a:latin typeface="Times New Roman"/>
                <a:cs typeface="Times New Roman"/>
              </a:rPr>
              <a:t>equality-</a:t>
            </a:r>
            <a:endParaRPr sz="5400" baseline="3086">
              <a:latin typeface="Times New Roman"/>
              <a:cs typeface="Times New Roman"/>
            </a:endParaRPr>
          </a:p>
          <a:p>
            <a:pPr marL="12700" marR="1154430" algn="just">
              <a:lnSpc>
                <a:spcPct val="116300"/>
              </a:lnSpc>
            </a:pPr>
            <a:r>
              <a:rPr sz="3600" i="1" spc="175" dirty="0">
                <a:solidFill>
                  <a:srgbClr val="2E377E"/>
                </a:solidFill>
                <a:latin typeface="Times New Roman"/>
                <a:cs typeface="Times New Roman"/>
              </a:rPr>
              <a:t>based</a:t>
            </a:r>
            <a:r>
              <a:rPr sz="3600" i="1" spc="-20" dirty="0">
                <a:solidFill>
                  <a:srgbClr val="2E377E"/>
                </a:solidFill>
                <a:latin typeface="Times New Roman"/>
                <a:cs typeface="Times New Roman"/>
              </a:rPr>
              <a:t> </a:t>
            </a:r>
            <a:r>
              <a:rPr sz="3600" i="1" spc="165" dirty="0">
                <a:solidFill>
                  <a:srgbClr val="2E377E"/>
                </a:solidFill>
                <a:latin typeface="Times New Roman"/>
                <a:cs typeface="Times New Roman"/>
              </a:rPr>
              <a:t>selectors</a:t>
            </a:r>
            <a:r>
              <a:rPr sz="3600" i="1" spc="-20" dirty="0">
                <a:solidFill>
                  <a:srgbClr val="2E377E"/>
                </a:solidFill>
                <a:latin typeface="Times New Roman"/>
                <a:cs typeface="Times New Roman"/>
              </a:rPr>
              <a:t> </a:t>
            </a:r>
            <a:r>
              <a:rPr sz="3600" spc="55" dirty="0">
                <a:solidFill>
                  <a:srgbClr val="2E377E"/>
                </a:solidFill>
                <a:latin typeface="Georgia"/>
                <a:cs typeface="Georgia"/>
              </a:rPr>
              <a:t>whereas</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replica</a:t>
            </a:r>
            <a:r>
              <a:rPr sz="3600" spc="10" dirty="0">
                <a:solidFill>
                  <a:srgbClr val="2E377E"/>
                </a:solidFill>
                <a:latin typeface="Georgia"/>
                <a:cs typeface="Georgia"/>
              </a:rPr>
              <a:t> </a:t>
            </a:r>
            <a:r>
              <a:rPr sz="3600" spc="70" dirty="0">
                <a:solidFill>
                  <a:srgbClr val="2E377E"/>
                </a:solidFill>
                <a:latin typeface="Georgia"/>
                <a:cs typeface="Georgia"/>
              </a:rPr>
              <a:t>set</a:t>
            </a:r>
            <a:r>
              <a:rPr sz="3600" spc="10" dirty="0">
                <a:solidFill>
                  <a:srgbClr val="2E377E"/>
                </a:solidFill>
                <a:latin typeface="Georgia"/>
                <a:cs typeface="Georgia"/>
              </a:rPr>
              <a:t> </a:t>
            </a:r>
            <a:r>
              <a:rPr sz="3600" dirty="0">
                <a:solidFill>
                  <a:srgbClr val="2E377E"/>
                </a:solidFill>
                <a:latin typeface="Georgia"/>
                <a:cs typeface="Georgia"/>
              </a:rPr>
              <a:t>supports</a:t>
            </a:r>
            <a:r>
              <a:rPr sz="3600" spc="10" dirty="0">
                <a:solidFill>
                  <a:srgbClr val="2E377E"/>
                </a:solidFill>
                <a:latin typeface="Georgia"/>
                <a:cs typeface="Georgia"/>
              </a:rPr>
              <a:t> </a:t>
            </a:r>
            <a:r>
              <a:rPr sz="5400" b="1" i="1" spc="375" baseline="3086" dirty="0">
                <a:solidFill>
                  <a:srgbClr val="2E377E"/>
                </a:solidFill>
                <a:latin typeface="Times New Roman"/>
                <a:cs typeface="Times New Roman"/>
              </a:rPr>
              <a:t>set-</a:t>
            </a:r>
            <a:r>
              <a:rPr sz="5400" b="1" i="1" spc="352" baseline="3086" dirty="0">
                <a:solidFill>
                  <a:srgbClr val="2E377E"/>
                </a:solidFill>
                <a:latin typeface="Times New Roman"/>
                <a:cs typeface="Times New Roman"/>
              </a:rPr>
              <a:t>based</a:t>
            </a:r>
            <a:r>
              <a:rPr sz="5400" b="1" i="1" spc="-67" baseline="3086" dirty="0">
                <a:solidFill>
                  <a:srgbClr val="2E377E"/>
                </a:solidFill>
                <a:latin typeface="Times New Roman"/>
                <a:cs typeface="Times New Roman"/>
              </a:rPr>
              <a:t> </a:t>
            </a:r>
            <a:r>
              <a:rPr sz="5400" b="1" i="1" spc="307" baseline="3086" dirty="0">
                <a:solidFill>
                  <a:srgbClr val="2E377E"/>
                </a:solidFill>
                <a:latin typeface="Times New Roman"/>
                <a:cs typeface="Times New Roman"/>
              </a:rPr>
              <a:t>selectors. </a:t>
            </a:r>
            <a:r>
              <a:rPr sz="3600" spc="65" dirty="0">
                <a:solidFill>
                  <a:srgbClr val="2E377E"/>
                </a:solidFill>
                <a:latin typeface="Georgia"/>
                <a:cs typeface="Georgia"/>
              </a:rPr>
              <a:t>it</a:t>
            </a:r>
            <a:r>
              <a:rPr sz="3600" spc="25" dirty="0">
                <a:solidFill>
                  <a:srgbClr val="2E377E"/>
                </a:solidFill>
                <a:latin typeface="Georgia"/>
                <a:cs typeface="Georgia"/>
              </a:rPr>
              <a:t> </a:t>
            </a:r>
            <a:r>
              <a:rPr sz="3600" dirty="0">
                <a:solidFill>
                  <a:srgbClr val="2E377E"/>
                </a:solidFill>
                <a:latin typeface="Georgia"/>
                <a:cs typeface="Georgia"/>
              </a:rPr>
              <a:t>monitoring</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number</a:t>
            </a:r>
            <a:r>
              <a:rPr sz="3600" spc="25" dirty="0">
                <a:solidFill>
                  <a:srgbClr val="2E377E"/>
                </a:solidFill>
                <a:latin typeface="Georgia"/>
                <a:cs typeface="Georgia"/>
              </a:rPr>
              <a:t> </a:t>
            </a:r>
            <a:r>
              <a:rPr sz="3600" dirty="0">
                <a:solidFill>
                  <a:srgbClr val="2E377E"/>
                </a:solidFill>
                <a:latin typeface="Georgia"/>
                <a:cs typeface="Georgia"/>
              </a:rPr>
              <a:t>of</a:t>
            </a:r>
            <a:r>
              <a:rPr sz="3600" spc="30" dirty="0">
                <a:solidFill>
                  <a:srgbClr val="2E377E"/>
                </a:solidFill>
                <a:latin typeface="Georgia"/>
                <a:cs typeface="Georgia"/>
              </a:rPr>
              <a:t> </a:t>
            </a:r>
            <a:r>
              <a:rPr sz="3600" dirty="0">
                <a:solidFill>
                  <a:srgbClr val="2E377E"/>
                </a:solidFill>
                <a:latin typeface="Georgia"/>
                <a:cs typeface="Georgia"/>
              </a:rPr>
              <a:t>replicas</a:t>
            </a:r>
            <a:r>
              <a:rPr sz="3600" spc="25"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dirty="0">
                <a:solidFill>
                  <a:srgbClr val="2E377E"/>
                </a:solidFill>
                <a:latin typeface="Georgia"/>
                <a:cs typeface="Georgia"/>
              </a:rPr>
              <a:t>pod</a:t>
            </a:r>
            <a:r>
              <a:rPr sz="3600" spc="30" dirty="0">
                <a:solidFill>
                  <a:srgbClr val="2E377E"/>
                </a:solidFill>
                <a:latin typeface="Georgia"/>
                <a:cs typeface="Georgia"/>
              </a:rPr>
              <a:t> </a:t>
            </a:r>
            <a:r>
              <a:rPr sz="3600" dirty="0">
                <a:solidFill>
                  <a:srgbClr val="2E377E"/>
                </a:solidFill>
                <a:latin typeface="Georgia"/>
                <a:cs typeface="Georgia"/>
              </a:rPr>
              <a:t>running</a:t>
            </a:r>
            <a:r>
              <a:rPr sz="3600" spc="25" dirty="0">
                <a:solidFill>
                  <a:srgbClr val="2E377E"/>
                </a:solidFill>
                <a:latin typeface="Georgia"/>
                <a:cs typeface="Georgia"/>
              </a:rPr>
              <a:t> </a:t>
            </a:r>
            <a:r>
              <a:rPr sz="3600" dirty="0">
                <a:solidFill>
                  <a:srgbClr val="2E377E"/>
                </a:solidFill>
                <a:latin typeface="Georgia"/>
                <a:cs typeface="Georgia"/>
              </a:rPr>
              <a:t>in</a:t>
            </a:r>
            <a:r>
              <a:rPr sz="3600" spc="25"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spc="55" dirty="0">
                <a:solidFill>
                  <a:srgbClr val="2E377E"/>
                </a:solidFill>
                <a:latin typeface="Georgia"/>
                <a:cs typeface="Georgia"/>
              </a:rPr>
              <a:t>cluster</a:t>
            </a:r>
            <a:r>
              <a:rPr sz="3600" spc="25" dirty="0">
                <a:solidFill>
                  <a:srgbClr val="2E377E"/>
                </a:solidFill>
                <a:latin typeface="Georgia"/>
                <a:cs typeface="Georgia"/>
              </a:rPr>
              <a:t> </a:t>
            </a:r>
            <a:r>
              <a:rPr sz="3600" spc="-25" dirty="0">
                <a:solidFill>
                  <a:srgbClr val="2E377E"/>
                </a:solidFill>
                <a:latin typeface="Georgia"/>
                <a:cs typeface="Georgia"/>
              </a:rPr>
              <a:t>and </a:t>
            </a:r>
            <a:r>
              <a:rPr sz="3600" dirty="0">
                <a:solidFill>
                  <a:srgbClr val="2E377E"/>
                </a:solidFill>
                <a:latin typeface="Georgia"/>
                <a:cs typeface="Georgia"/>
              </a:rPr>
              <a:t>creating</a:t>
            </a:r>
            <a:r>
              <a:rPr sz="3600" spc="120" dirty="0">
                <a:solidFill>
                  <a:srgbClr val="2E377E"/>
                </a:solidFill>
                <a:latin typeface="Georgia"/>
                <a:cs typeface="Georgia"/>
              </a:rPr>
              <a:t> </a:t>
            </a:r>
            <a:r>
              <a:rPr sz="3600" dirty="0">
                <a:solidFill>
                  <a:srgbClr val="2E377E"/>
                </a:solidFill>
                <a:latin typeface="Georgia"/>
                <a:cs typeface="Georgia"/>
              </a:rPr>
              <a:t>or</a:t>
            </a:r>
            <a:r>
              <a:rPr sz="3600" spc="125" dirty="0">
                <a:solidFill>
                  <a:srgbClr val="2E377E"/>
                </a:solidFill>
                <a:latin typeface="Georgia"/>
                <a:cs typeface="Georgia"/>
              </a:rPr>
              <a:t> </a:t>
            </a:r>
            <a:r>
              <a:rPr sz="3600" dirty="0">
                <a:solidFill>
                  <a:srgbClr val="2E377E"/>
                </a:solidFill>
                <a:latin typeface="Georgia"/>
                <a:cs typeface="Georgia"/>
              </a:rPr>
              <a:t>deleting</a:t>
            </a:r>
            <a:r>
              <a:rPr sz="3600" spc="120" dirty="0">
                <a:solidFill>
                  <a:srgbClr val="2E377E"/>
                </a:solidFill>
                <a:latin typeface="Georgia"/>
                <a:cs typeface="Georgia"/>
              </a:rPr>
              <a:t> </a:t>
            </a:r>
            <a:r>
              <a:rPr sz="3600" spc="100" dirty="0">
                <a:solidFill>
                  <a:srgbClr val="2E377E"/>
                </a:solidFill>
                <a:latin typeface="Georgia"/>
                <a:cs typeface="Georgia"/>
              </a:rPr>
              <a:t>new</a:t>
            </a:r>
            <a:r>
              <a:rPr sz="3600" spc="125" dirty="0">
                <a:solidFill>
                  <a:srgbClr val="2E377E"/>
                </a:solidFill>
                <a:latin typeface="Georgia"/>
                <a:cs typeface="Georgia"/>
              </a:rPr>
              <a:t> </a:t>
            </a:r>
            <a:r>
              <a:rPr sz="3600" spc="-10" dirty="0">
                <a:solidFill>
                  <a:srgbClr val="2E377E"/>
                </a:solidFill>
                <a:latin typeface="Georgia"/>
                <a:cs typeface="Georgia"/>
              </a:rPr>
              <a:t>pods.</a:t>
            </a:r>
            <a:endParaRPr sz="3600">
              <a:latin typeface="Georgia"/>
              <a:cs typeface="Georgia"/>
            </a:endParaRPr>
          </a:p>
          <a:p>
            <a:pPr marL="12700" algn="just">
              <a:lnSpc>
                <a:spcPct val="100000"/>
              </a:lnSpc>
              <a:spcBef>
                <a:spcPts val="705"/>
              </a:spcBef>
            </a:pPr>
            <a:r>
              <a:rPr sz="3600" dirty="0">
                <a:solidFill>
                  <a:srgbClr val="2E377E"/>
                </a:solidFill>
                <a:latin typeface="Georgia"/>
                <a:cs typeface="Georgia"/>
              </a:rPr>
              <a:t>It</a:t>
            </a:r>
            <a:r>
              <a:rPr sz="3600" spc="-5" dirty="0">
                <a:solidFill>
                  <a:srgbClr val="2E377E"/>
                </a:solidFill>
                <a:latin typeface="Georgia"/>
                <a:cs typeface="Georgia"/>
              </a:rPr>
              <a:t> </a:t>
            </a:r>
            <a:r>
              <a:rPr sz="3600" dirty="0">
                <a:solidFill>
                  <a:srgbClr val="2E377E"/>
                </a:solidFill>
                <a:latin typeface="Georgia"/>
                <a:cs typeface="Georgia"/>
              </a:rPr>
              <a:t>also</a:t>
            </a:r>
            <a:r>
              <a:rPr sz="3600" spc="-5" dirty="0">
                <a:solidFill>
                  <a:srgbClr val="2E377E"/>
                </a:solidFill>
                <a:latin typeface="Georgia"/>
                <a:cs typeface="Georgia"/>
              </a:rPr>
              <a:t> </a:t>
            </a:r>
            <a:r>
              <a:rPr sz="3600" spc="45" dirty="0">
                <a:solidFill>
                  <a:srgbClr val="2E377E"/>
                </a:solidFill>
                <a:latin typeface="Georgia"/>
                <a:cs typeface="Georgia"/>
              </a:rPr>
              <a:t>provides</a:t>
            </a:r>
            <a:r>
              <a:rPr sz="3600" spc="-5" dirty="0">
                <a:solidFill>
                  <a:srgbClr val="2E377E"/>
                </a:solidFill>
                <a:latin typeface="Georgia"/>
                <a:cs typeface="Georgia"/>
              </a:rPr>
              <a:t> </a:t>
            </a:r>
            <a:r>
              <a:rPr sz="3600" spc="70" dirty="0">
                <a:solidFill>
                  <a:srgbClr val="2E377E"/>
                </a:solidFill>
                <a:latin typeface="Georgia"/>
                <a:cs typeface="Georgia"/>
              </a:rPr>
              <a:t>better</a:t>
            </a:r>
            <a:r>
              <a:rPr sz="3600" spc="-5" dirty="0">
                <a:solidFill>
                  <a:srgbClr val="2E377E"/>
                </a:solidFill>
                <a:latin typeface="Georgia"/>
                <a:cs typeface="Georgia"/>
              </a:rPr>
              <a:t> </a:t>
            </a:r>
            <a:r>
              <a:rPr sz="3600" dirty="0">
                <a:solidFill>
                  <a:srgbClr val="2E377E"/>
                </a:solidFill>
                <a:latin typeface="Georgia"/>
                <a:cs typeface="Georgia"/>
              </a:rPr>
              <a:t>control </a:t>
            </a:r>
            <a:r>
              <a:rPr sz="3600" spc="75" dirty="0">
                <a:solidFill>
                  <a:srgbClr val="2E377E"/>
                </a:solidFill>
                <a:latin typeface="Georgia"/>
                <a:cs typeface="Georgia"/>
              </a:rPr>
              <a:t>over</a:t>
            </a:r>
            <a:r>
              <a:rPr sz="3600" spc="-5" dirty="0">
                <a:solidFill>
                  <a:srgbClr val="2E377E"/>
                </a:solidFill>
                <a:latin typeface="Georgia"/>
                <a:cs typeface="Georgia"/>
              </a:rPr>
              <a:t> </a:t>
            </a:r>
            <a:r>
              <a:rPr sz="3600" spc="6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scaling</a:t>
            </a:r>
            <a:r>
              <a:rPr sz="3600" spc="-5" dirty="0">
                <a:solidFill>
                  <a:srgbClr val="2E377E"/>
                </a:solidFill>
                <a:latin typeface="Georgia"/>
                <a:cs typeface="Georgia"/>
              </a:rPr>
              <a:t> </a:t>
            </a:r>
            <a:r>
              <a:rPr sz="3600" dirty="0">
                <a:solidFill>
                  <a:srgbClr val="2E377E"/>
                </a:solidFill>
                <a:latin typeface="Georgia"/>
                <a:cs typeface="Georgia"/>
              </a:rPr>
              <a:t>of</a:t>
            </a:r>
            <a:r>
              <a:rPr sz="3600" spc="-5" dirty="0">
                <a:solidFill>
                  <a:srgbClr val="2E377E"/>
                </a:solidFill>
                <a:latin typeface="Georgia"/>
                <a:cs typeface="Georgia"/>
              </a:rPr>
              <a:t> </a:t>
            </a:r>
            <a:r>
              <a:rPr sz="3600" spc="60" dirty="0">
                <a:solidFill>
                  <a:srgbClr val="2E377E"/>
                </a:solidFill>
                <a:latin typeface="Georgia"/>
                <a:cs typeface="Georgia"/>
              </a:rPr>
              <a:t>the</a:t>
            </a:r>
            <a:r>
              <a:rPr sz="3600" dirty="0">
                <a:solidFill>
                  <a:srgbClr val="2E377E"/>
                </a:solidFill>
                <a:latin typeface="Georgia"/>
                <a:cs typeface="Georgia"/>
              </a:rPr>
              <a:t> </a:t>
            </a:r>
            <a:r>
              <a:rPr sz="3600" spc="-20" dirty="0">
                <a:solidFill>
                  <a:srgbClr val="2E377E"/>
                </a:solidFill>
                <a:latin typeface="Georgia"/>
                <a:cs typeface="Georgia"/>
              </a:rPr>
              <a:t>pod.</a:t>
            </a:r>
            <a:endParaRPr sz="3600">
              <a:latin typeface="Georgia"/>
              <a:cs typeface="Georgia"/>
            </a:endParaRPr>
          </a:p>
          <a:p>
            <a:pPr marL="12700" marR="2239645" algn="just">
              <a:lnSpc>
                <a:spcPct val="116300"/>
              </a:lnSpc>
            </a:pP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ReplicaSet</a:t>
            </a:r>
            <a:r>
              <a:rPr sz="3600" spc="20" dirty="0">
                <a:solidFill>
                  <a:srgbClr val="2E377E"/>
                </a:solidFill>
                <a:latin typeface="Georgia"/>
                <a:cs typeface="Georgia"/>
              </a:rPr>
              <a:t> </a:t>
            </a:r>
            <a:r>
              <a:rPr sz="3600" dirty="0">
                <a:solidFill>
                  <a:srgbClr val="2E377E"/>
                </a:solidFill>
                <a:latin typeface="Georgia"/>
                <a:cs typeface="Georgia"/>
              </a:rPr>
              <a:t>identifies</a:t>
            </a:r>
            <a:r>
              <a:rPr sz="3600" spc="20" dirty="0">
                <a:solidFill>
                  <a:srgbClr val="2E377E"/>
                </a:solidFill>
                <a:latin typeface="Georgia"/>
                <a:cs typeface="Georgia"/>
              </a:rPr>
              <a:t> </a:t>
            </a:r>
            <a:r>
              <a:rPr sz="3600" spc="100" dirty="0">
                <a:solidFill>
                  <a:srgbClr val="2E377E"/>
                </a:solidFill>
                <a:latin typeface="Georgia"/>
                <a:cs typeface="Georgia"/>
              </a:rPr>
              <a:t>new</a:t>
            </a:r>
            <a:r>
              <a:rPr sz="3600" spc="20" dirty="0">
                <a:solidFill>
                  <a:srgbClr val="2E377E"/>
                </a:solidFill>
                <a:latin typeface="Georgia"/>
                <a:cs typeface="Georgia"/>
              </a:rPr>
              <a:t> </a:t>
            </a:r>
            <a:r>
              <a:rPr sz="3600" dirty="0">
                <a:solidFill>
                  <a:srgbClr val="2E377E"/>
                </a:solidFill>
                <a:latin typeface="Georgia"/>
                <a:cs typeface="Georgia"/>
              </a:rPr>
              <a:t>Pods</a:t>
            </a:r>
            <a:r>
              <a:rPr sz="3600" spc="20" dirty="0">
                <a:solidFill>
                  <a:srgbClr val="2E377E"/>
                </a:solidFill>
                <a:latin typeface="Georgia"/>
                <a:cs typeface="Georgia"/>
              </a:rPr>
              <a:t> </a:t>
            </a:r>
            <a:r>
              <a:rPr sz="3600" spc="70" dirty="0">
                <a:solidFill>
                  <a:srgbClr val="2E377E"/>
                </a:solidFill>
                <a:latin typeface="Georgia"/>
                <a:cs typeface="Georgia"/>
              </a:rPr>
              <a:t>to</a:t>
            </a:r>
            <a:r>
              <a:rPr sz="3600" spc="20" dirty="0">
                <a:solidFill>
                  <a:srgbClr val="2E377E"/>
                </a:solidFill>
                <a:latin typeface="Georgia"/>
                <a:cs typeface="Georgia"/>
              </a:rPr>
              <a:t> </a:t>
            </a:r>
            <a:r>
              <a:rPr sz="3600" dirty="0">
                <a:solidFill>
                  <a:srgbClr val="2E377E"/>
                </a:solidFill>
                <a:latin typeface="Georgia"/>
                <a:cs typeface="Georgia"/>
              </a:rPr>
              <a:t>acquire</a:t>
            </a:r>
            <a:r>
              <a:rPr sz="3600" spc="20" dirty="0">
                <a:solidFill>
                  <a:srgbClr val="2E377E"/>
                </a:solidFill>
                <a:latin typeface="Georgia"/>
                <a:cs typeface="Georgia"/>
              </a:rPr>
              <a:t> </a:t>
            </a:r>
            <a:r>
              <a:rPr sz="3600" spc="95" dirty="0">
                <a:solidFill>
                  <a:srgbClr val="2E377E"/>
                </a:solidFill>
                <a:latin typeface="Georgia"/>
                <a:cs typeface="Georgia"/>
              </a:rPr>
              <a:t>by</a:t>
            </a:r>
            <a:r>
              <a:rPr sz="3600" spc="20" dirty="0">
                <a:solidFill>
                  <a:srgbClr val="2E377E"/>
                </a:solidFill>
                <a:latin typeface="Georgia"/>
                <a:cs typeface="Georgia"/>
              </a:rPr>
              <a:t> </a:t>
            </a:r>
            <a:r>
              <a:rPr sz="3600" dirty="0">
                <a:solidFill>
                  <a:srgbClr val="2E377E"/>
                </a:solidFill>
                <a:latin typeface="Georgia"/>
                <a:cs typeface="Georgia"/>
              </a:rPr>
              <a:t>using</a:t>
            </a:r>
            <a:r>
              <a:rPr sz="3600" spc="20" dirty="0">
                <a:solidFill>
                  <a:srgbClr val="2E377E"/>
                </a:solidFill>
                <a:latin typeface="Georgia"/>
                <a:cs typeface="Georgia"/>
              </a:rPr>
              <a:t> </a:t>
            </a:r>
            <a:r>
              <a:rPr sz="3600" spc="55" dirty="0">
                <a:solidFill>
                  <a:srgbClr val="2E377E"/>
                </a:solidFill>
                <a:latin typeface="Georgia"/>
                <a:cs typeface="Georgia"/>
              </a:rPr>
              <a:t>its</a:t>
            </a:r>
            <a:r>
              <a:rPr sz="3600" spc="20" dirty="0">
                <a:solidFill>
                  <a:srgbClr val="2E377E"/>
                </a:solidFill>
                <a:latin typeface="Georgia"/>
                <a:cs typeface="Georgia"/>
              </a:rPr>
              <a:t> </a:t>
            </a:r>
            <a:r>
              <a:rPr sz="3600" spc="-10" dirty="0">
                <a:solidFill>
                  <a:srgbClr val="2E377E"/>
                </a:solidFill>
                <a:latin typeface="Georgia"/>
                <a:cs typeface="Georgia"/>
              </a:rPr>
              <a:t>selector. </a:t>
            </a:r>
            <a:r>
              <a:rPr sz="3600" spc="14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can</a:t>
            </a:r>
            <a:r>
              <a:rPr sz="3600" spc="10" dirty="0">
                <a:solidFill>
                  <a:srgbClr val="2E377E"/>
                </a:solidFill>
                <a:latin typeface="Georgia"/>
                <a:cs typeface="Georgia"/>
              </a:rPr>
              <a:t> </a:t>
            </a:r>
            <a:r>
              <a:rPr sz="3600" spc="50" dirty="0">
                <a:solidFill>
                  <a:srgbClr val="2E377E"/>
                </a:solidFill>
                <a:latin typeface="Georgia"/>
                <a:cs typeface="Georgia"/>
              </a:rPr>
              <a:t>provide</a:t>
            </a:r>
            <a:r>
              <a:rPr sz="3600" spc="5" dirty="0">
                <a:solidFill>
                  <a:srgbClr val="2E377E"/>
                </a:solidFill>
                <a:latin typeface="Georgia"/>
                <a:cs typeface="Georgia"/>
              </a:rPr>
              <a:t> </a:t>
            </a:r>
            <a:r>
              <a:rPr sz="3600" dirty="0">
                <a:solidFill>
                  <a:srgbClr val="2E377E"/>
                </a:solidFill>
                <a:latin typeface="Georgia"/>
                <a:cs typeface="Georgia"/>
              </a:rPr>
              <a:t>multiple</a:t>
            </a:r>
            <a:r>
              <a:rPr sz="3600" spc="10" dirty="0">
                <a:solidFill>
                  <a:srgbClr val="2E377E"/>
                </a:solidFill>
                <a:latin typeface="Georgia"/>
                <a:cs typeface="Georgia"/>
              </a:rPr>
              <a:t> </a:t>
            </a:r>
            <a:r>
              <a:rPr sz="3600" spc="50" dirty="0">
                <a:solidFill>
                  <a:srgbClr val="2E377E"/>
                </a:solidFill>
                <a:latin typeface="Georgia"/>
                <a:cs typeface="Georgia"/>
              </a:rPr>
              <a:t>values</a:t>
            </a:r>
            <a:r>
              <a:rPr sz="3600" spc="5"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same</a:t>
            </a:r>
            <a:r>
              <a:rPr sz="3600" spc="5" dirty="0">
                <a:solidFill>
                  <a:srgbClr val="2E377E"/>
                </a:solidFill>
                <a:latin typeface="Georgia"/>
                <a:cs typeface="Georgia"/>
              </a:rPr>
              <a:t> </a:t>
            </a:r>
            <a:r>
              <a:rPr sz="3600" spc="-20" dirty="0">
                <a:solidFill>
                  <a:srgbClr val="2E377E"/>
                </a:solidFill>
                <a:latin typeface="Georgia"/>
                <a:cs typeface="Georgia"/>
              </a:rPr>
              <a:t>key.</a:t>
            </a:r>
            <a:endParaRPr sz="3600">
              <a:latin typeface="Georgia"/>
              <a:cs typeface="Georgia"/>
            </a:endParaRPr>
          </a:p>
          <a:p>
            <a:pPr marL="12700" algn="just">
              <a:lnSpc>
                <a:spcPct val="100000"/>
              </a:lnSpc>
              <a:spcBef>
                <a:spcPts val="705"/>
              </a:spcBef>
            </a:pPr>
            <a:r>
              <a:rPr sz="3600" dirty="0">
                <a:solidFill>
                  <a:srgbClr val="2E377E"/>
                </a:solidFill>
                <a:latin typeface="Georgia"/>
                <a:cs typeface="Georgia"/>
              </a:rPr>
              <a:t>ex:</a:t>
            </a:r>
            <a:r>
              <a:rPr sz="3600" spc="-70" dirty="0">
                <a:solidFill>
                  <a:srgbClr val="2E377E"/>
                </a:solidFill>
                <a:latin typeface="Georgia"/>
                <a:cs typeface="Georgia"/>
              </a:rPr>
              <a:t> </a:t>
            </a:r>
            <a:r>
              <a:rPr sz="3600" spc="85" dirty="0">
                <a:solidFill>
                  <a:srgbClr val="2E377E"/>
                </a:solidFill>
                <a:latin typeface="Georgia"/>
                <a:cs typeface="Georgia"/>
              </a:rPr>
              <a:t>env</a:t>
            </a:r>
            <a:r>
              <a:rPr sz="3600" spc="-70" dirty="0">
                <a:solidFill>
                  <a:srgbClr val="2E377E"/>
                </a:solidFill>
                <a:latin typeface="Georgia"/>
                <a:cs typeface="Georgia"/>
              </a:rPr>
              <a:t> </a:t>
            </a:r>
            <a:r>
              <a:rPr sz="3600" dirty="0">
                <a:solidFill>
                  <a:srgbClr val="2E377E"/>
                </a:solidFill>
                <a:latin typeface="Georgia"/>
                <a:cs typeface="Georgia"/>
              </a:rPr>
              <a:t>in</a:t>
            </a:r>
            <a:r>
              <a:rPr sz="3600" spc="-65" dirty="0">
                <a:solidFill>
                  <a:srgbClr val="2E377E"/>
                </a:solidFill>
                <a:latin typeface="Georgia"/>
                <a:cs typeface="Georgia"/>
              </a:rPr>
              <a:t> </a:t>
            </a:r>
            <a:r>
              <a:rPr sz="3600" spc="-10" dirty="0">
                <a:solidFill>
                  <a:srgbClr val="2E377E"/>
                </a:solidFill>
                <a:latin typeface="Georgia"/>
                <a:cs typeface="Georgia"/>
              </a:rPr>
              <a:t>(prod,test)</a:t>
            </a:r>
            <a:endParaRPr sz="3600">
              <a:latin typeface="Georgia"/>
              <a:cs typeface="Georgi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609845" y="1249682"/>
            <a:ext cx="133350" cy="133350"/>
          </a:xfrm>
          <a:prstGeom prst="rect">
            <a:avLst/>
          </a:prstGeom>
        </p:spPr>
      </p:pic>
      <p:pic>
        <p:nvPicPr>
          <p:cNvPr id="3" name="object 3"/>
          <p:cNvPicPr/>
          <p:nvPr/>
        </p:nvPicPr>
        <p:blipFill>
          <a:blip r:embed="rId2" cstate="print"/>
          <a:stretch>
            <a:fillRect/>
          </a:stretch>
        </p:blipFill>
        <p:spPr>
          <a:xfrm>
            <a:off x="7609845" y="1887858"/>
            <a:ext cx="133350" cy="133350"/>
          </a:xfrm>
          <a:prstGeom prst="rect">
            <a:avLst/>
          </a:prstGeom>
        </p:spPr>
      </p:pic>
      <p:pic>
        <p:nvPicPr>
          <p:cNvPr id="4" name="object 4"/>
          <p:cNvPicPr/>
          <p:nvPr/>
        </p:nvPicPr>
        <p:blipFill>
          <a:blip r:embed="rId2" cstate="print"/>
          <a:stretch>
            <a:fillRect/>
          </a:stretch>
        </p:blipFill>
        <p:spPr>
          <a:xfrm>
            <a:off x="7609845" y="2526032"/>
            <a:ext cx="133350" cy="133350"/>
          </a:xfrm>
          <a:prstGeom prst="rect">
            <a:avLst/>
          </a:prstGeom>
        </p:spPr>
      </p:pic>
      <p:pic>
        <p:nvPicPr>
          <p:cNvPr id="5" name="object 5"/>
          <p:cNvPicPr/>
          <p:nvPr/>
        </p:nvPicPr>
        <p:blipFill>
          <a:blip r:embed="rId2" cstate="print"/>
          <a:stretch>
            <a:fillRect/>
          </a:stretch>
        </p:blipFill>
        <p:spPr>
          <a:xfrm>
            <a:off x="7609845" y="3164207"/>
            <a:ext cx="133350" cy="133350"/>
          </a:xfrm>
          <a:prstGeom prst="rect">
            <a:avLst/>
          </a:prstGeom>
        </p:spPr>
      </p:pic>
      <p:pic>
        <p:nvPicPr>
          <p:cNvPr id="6" name="object 6"/>
          <p:cNvPicPr/>
          <p:nvPr/>
        </p:nvPicPr>
        <p:blipFill>
          <a:blip r:embed="rId2" cstate="print"/>
          <a:stretch>
            <a:fillRect/>
          </a:stretch>
        </p:blipFill>
        <p:spPr>
          <a:xfrm>
            <a:off x="7609845" y="4440557"/>
            <a:ext cx="133350" cy="133350"/>
          </a:xfrm>
          <a:prstGeom prst="rect">
            <a:avLst/>
          </a:prstGeom>
        </p:spPr>
      </p:pic>
      <p:pic>
        <p:nvPicPr>
          <p:cNvPr id="7" name="object 7"/>
          <p:cNvPicPr/>
          <p:nvPr/>
        </p:nvPicPr>
        <p:blipFill>
          <a:blip r:embed="rId3" cstate="print"/>
          <a:stretch>
            <a:fillRect/>
          </a:stretch>
        </p:blipFill>
        <p:spPr>
          <a:xfrm>
            <a:off x="651710" y="1166961"/>
            <a:ext cx="6553199" cy="7724774"/>
          </a:xfrm>
          <a:prstGeom prst="rect">
            <a:avLst/>
          </a:prstGeom>
        </p:spPr>
      </p:pic>
      <p:sp>
        <p:nvSpPr>
          <p:cNvPr id="8" name="object 8"/>
          <p:cNvSpPr txBox="1"/>
          <p:nvPr/>
        </p:nvSpPr>
        <p:spPr>
          <a:xfrm>
            <a:off x="7926654" y="926595"/>
            <a:ext cx="10301605" cy="6407150"/>
          </a:xfrm>
          <a:prstGeom prst="rect">
            <a:avLst/>
          </a:prstGeom>
        </p:spPr>
        <p:txBody>
          <a:bodyPr vert="horz" wrap="square" lIns="0" tIns="12700" rIns="0" bIns="0" rtlCol="0">
            <a:spAutoFit/>
          </a:bodyPr>
          <a:lstStyle/>
          <a:p>
            <a:pPr marL="12700" marR="153035">
              <a:lnSpc>
                <a:spcPct val="116300"/>
              </a:lnSpc>
              <a:spcBef>
                <a:spcPts val="100"/>
              </a:spcBef>
            </a:pPr>
            <a:r>
              <a:rPr sz="3600" spc="-10" dirty="0">
                <a:solidFill>
                  <a:srgbClr val="2E377E"/>
                </a:solidFill>
                <a:latin typeface="Georgia"/>
                <a:cs typeface="Georgia"/>
              </a:rPr>
              <a:t>Replicas:</a:t>
            </a:r>
            <a:r>
              <a:rPr sz="3600" spc="-5" dirty="0">
                <a:solidFill>
                  <a:srgbClr val="2E377E"/>
                </a:solidFill>
                <a:latin typeface="Georgia"/>
                <a:cs typeface="Georgia"/>
              </a:rPr>
              <a:t> </a:t>
            </a:r>
            <a:r>
              <a:rPr sz="3600" dirty="0">
                <a:solidFill>
                  <a:srgbClr val="2E377E"/>
                </a:solidFill>
                <a:latin typeface="Georgia"/>
                <a:cs typeface="Georgia"/>
              </a:rPr>
              <a:t>Number of</a:t>
            </a:r>
            <a:r>
              <a:rPr sz="3600" spc="-5" dirty="0">
                <a:solidFill>
                  <a:srgbClr val="2E377E"/>
                </a:solidFill>
                <a:latin typeface="Georgia"/>
                <a:cs typeface="Georgia"/>
              </a:rPr>
              <a:t> </a:t>
            </a:r>
            <a:r>
              <a:rPr sz="3600" dirty="0">
                <a:solidFill>
                  <a:srgbClr val="2E377E"/>
                </a:solidFill>
                <a:latin typeface="Georgia"/>
                <a:cs typeface="Georgia"/>
              </a:rPr>
              <a:t>pod copies </a:t>
            </a:r>
            <a:r>
              <a:rPr sz="3600" spc="14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need </a:t>
            </a:r>
            <a:r>
              <a:rPr sz="3600" spc="70" dirty="0">
                <a:solidFill>
                  <a:srgbClr val="2E377E"/>
                </a:solidFill>
                <a:latin typeface="Georgia"/>
                <a:cs typeface="Georgia"/>
              </a:rPr>
              <a:t>to</a:t>
            </a:r>
            <a:r>
              <a:rPr sz="3600" spc="-5" dirty="0">
                <a:solidFill>
                  <a:srgbClr val="2E377E"/>
                </a:solidFill>
                <a:latin typeface="Georgia"/>
                <a:cs typeface="Georgia"/>
              </a:rPr>
              <a:t> </a:t>
            </a:r>
            <a:r>
              <a:rPr sz="3600" spc="45" dirty="0">
                <a:solidFill>
                  <a:srgbClr val="2E377E"/>
                </a:solidFill>
                <a:latin typeface="Georgia"/>
                <a:cs typeface="Georgia"/>
              </a:rPr>
              <a:t>create </a:t>
            </a:r>
            <a:r>
              <a:rPr sz="3600" dirty="0">
                <a:solidFill>
                  <a:srgbClr val="2E377E"/>
                </a:solidFill>
                <a:latin typeface="Georgia"/>
                <a:cs typeface="Georgia"/>
              </a:rPr>
              <a:t>Matchelabel:</a:t>
            </a:r>
            <a:r>
              <a:rPr sz="3600" spc="-50" dirty="0">
                <a:solidFill>
                  <a:srgbClr val="2E377E"/>
                </a:solidFill>
                <a:latin typeface="Georgia"/>
                <a:cs typeface="Georgia"/>
              </a:rPr>
              <a:t> </a:t>
            </a:r>
            <a:r>
              <a:rPr sz="3600" dirty="0">
                <a:solidFill>
                  <a:srgbClr val="2E377E"/>
                </a:solidFill>
                <a:latin typeface="Georgia"/>
                <a:cs typeface="Georgia"/>
              </a:rPr>
              <a:t>label</a:t>
            </a:r>
            <a:r>
              <a:rPr sz="3600" spc="-45" dirty="0">
                <a:solidFill>
                  <a:srgbClr val="2E377E"/>
                </a:solidFill>
                <a:latin typeface="Georgia"/>
                <a:cs typeface="Georgia"/>
              </a:rPr>
              <a:t> </a:t>
            </a:r>
            <a:r>
              <a:rPr sz="3600" spc="140" dirty="0">
                <a:solidFill>
                  <a:srgbClr val="2E377E"/>
                </a:solidFill>
                <a:latin typeface="Georgia"/>
                <a:cs typeface="Georgia"/>
              </a:rPr>
              <a:t>we</a:t>
            </a:r>
            <a:r>
              <a:rPr sz="3600" spc="-45" dirty="0">
                <a:solidFill>
                  <a:srgbClr val="2E377E"/>
                </a:solidFill>
                <a:latin typeface="Georgia"/>
                <a:cs typeface="Georgia"/>
              </a:rPr>
              <a:t> </a:t>
            </a:r>
            <a:r>
              <a:rPr sz="3600" spc="80" dirty="0">
                <a:solidFill>
                  <a:srgbClr val="2E377E"/>
                </a:solidFill>
                <a:latin typeface="Georgia"/>
                <a:cs typeface="Georgia"/>
              </a:rPr>
              <a:t>want</a:t>
            </a:r>
            <a:r>
              <a:rPr sz="3600" spc="-45" dirty="0">
                <a:solidFill>
                  <a:srgbClr val="2E377E"/>
                </a:solidFill>
                <a:latin typeface="Georgia"/>
                <a:cs typeface="Georgia"/>
              </a:rPr>
              <a:t> </a:t>
            </a:r>
            <a:r>
              <a:rPr sz="3600" spc="70" dirty="0">
                <a:solidFill>
                  <a:srgbClr val="2E377E"/>
                </a:solidFill>
                <a:latin typeface="Georgia"/>
                <a:cs typeface="Georgia"/>
              </a:rPr>
              <a:t>to</a:t>
            </a:r>
            <a:r>
              <a:rPr sz="3600" spc="-45" dirty="0">
                <a:solidFill>
                  <a:srgbClr val="2E377E"/>
                </a:solidFill>
                <a:latin typeface="Georgia"/>
                <a:cs typeface="Georgia"/>
              </a:rPr>
              <a:t> </a:t>
            </a:r>
            <a:r>
              <a:rPr sz="3600" dirty="0">
                <a:solidFill>
                  <a:srgbClr val="2E377E"/>
                </a:solidFill>
                <a:latin typeface="Georgia"/>
                <a:cs typeface="Georgia"/>
              </a:rPr>
              <a:t>match</a:t>
            </a:r>
            <a:r>
              <a:rPr sz="3600" spc="-45" dirty="0">
                <a:solidFill>
                  <a:srgbClr val="2E377E"/>
                </a:solidFill>
                <a:latin typeface="Georgia"/>
                <a:cs typeface="Georgia"/>
              </a:rPr>
              <a:t> </a:t>
            </a:r>
            <a:r>
              <a:rPr sz="3600" spc="85" dirty="0">
                <a:solidFill>
                  <a:srgbClr val="2E377E"/>
                </a:solidFill>
                <a:latin typeface="Georgia"/>
                <a:cs typeface="Georgia"/>
              </a:rPr>
              <a:t>with</a:t>
            </a:r>
            <a:r>
              <a:rPr sz="3600" spc="-45" dirty="0">
                <a:solidFill>
                  <a:srgbClr val="2E377E"/>
                </a:solidFill>
                <a:latin typeface="Georgia"/>
                <a:cs typeface="Georgia"/>
              </a:rPr>
              <a:t> </a:t>
            </a:r>
            <a:r>
              <a:rPr sz="3600" spc="-20" dirty="0">
                <a:solidFill>
                  <a:srgbClr val="2E377E"/>
                </a:solidFill>
                <a:latin typeface="Georgia"/>
                <a:cs typeface="Georgia"/>
              </a:rPr>
              <a:t>pods </a:t>
            </a:r>
            <a:r>
              <a:rPr sz="3600" dirty="0">
                <a:solidFill>
                  <a:srgbClr val="2E377E"/>
                </a:solidFill>
                <a:latin typeface="Georgia"/>
                <a:cs typeface="Georgia"/>
              </a:rPr>
              <a:t>Template:</a:t>
            </a:r>
            <a:r>
              <a:rPr sz="3600" spc="-50" dirty="0">
                <a:solidFill>
                  <a:srgbClr val="2E377E"/>
                </a:solidFill>
                <a:latin typeface="Georgia"/>
                <a:cs typeface="Georgia"/>
              </a:rPr>
              <a:t> </a:t>
            </a:r>
            <a:r>
              <a:rPr sz="3600" dirty="0">
                <a:solidFill>
                  <a:srgbClr val="2E377E"/>
                </a:solidFill>
                <a:latin typeface="Georgia"/>
                <a:cs typeface="Georgia"/>
              </a:rPr>
              <a:t>This</a:t>
            </a:r>
            <a:r>
              <a:rPr sz="3600" spc="-50" dirty="0">
                <a:solidFill>
                  <a:srgbClr val="2E377E"/>
                </a:solidFill>
                <a:latin typeface="Georgia"/>
                <a:cs typeface="Georgia"/>
              </a:rPr>
              <a:t> </a:t>
            </a:r>
            <a:r>
              <a:rPr sz="3600" dirty="0">
                <a:solidFill>
                  <a:srgbClr val="2E377E"/>
                </a:solidFill>
                <a:latin typeface="Georgia"/>
                <a:cs typeface="Georgia"/>
              </a:rPr>
              <a:t>is</a:t>
            </a:r>
            <a:r>
              <a:rPr sz="3600" spc="-50" dirty="0">
                <a:solidFill>
                  <a:srgbClr val="2E377E"/>
                </a:solidFill>
                <a:latin typeface="Georgia"/>
                <a:cs typeface="Georgia"/>
              </a:rPr>
              <a:t> </a:t>
            </a:r>
            <a:r>
              <a:rPr sz="3600" spc="60" dirty="0">
                <a:solidFill>
                  <a:srgbClr val="2E377E"/>
                </a:solidFill>
                <a:latin typeface="Georgia"/>
                <a:cs typeface="Georgia"/>
              </a:rPr>
              <a:t>the</a:t>
            </a:r>
            <a:r>
              <a:rPr sz="3600" spc="-50" dirty="0">
                <a:solidFill>
                  <a:srgbClr val="2E377E"/>
                </a:solidFill>
                <a:latin typeface="Georgia"/>
                <a:cs typeface="Georgia"/>
              </a:rPr>
              <a:t> </a:t>
            </a:r>
            <a:r>
              <a:rPr sz="3600" spc="50" dirty="0">
                <a:solidFill>
                  <a:srgbClr val="2E377E"/>
                </a:solidFill>
                <a:latin typeface="Georgia"/>
                <a:cs typeface="Georgia"/>
              </a:rPr>
              <a:t>template</a:t>
            </a:r>
            <a:r>
              <a:rPr sz="3600" spc="-50" dirty="0">
                <a:solidFill>
                  <a:srgbClr val="2E377E"/>
                </a:solidFill>
                <a:latin typeface="Georgia"/>
                <a:cs typeface="Georgia"/>
              </a:rPr>
              <a:t> </a:t>
            </a:r>
            <a:r>
              <a:rPr sz="3600" dirty="0">
                <a:solidFill>
                  <a:srgbClr val="2E377E"/>
                </a:solidFill>
                <a:latin typeface="Georgia"/>
                <a:cs typeface="Georgia"/>
              </a:rPr>
              <a:t>of</a:t>
            </a:r>
            <a:r>
              <a:rPr sz="3600" spc="-50" dirty="0">
                <a:solidFill>
                  <a:srgbClr val="2E377E"/>
                </a:solidFill>
                <a:latin typeface="Georgia"/>
                <a:cs typeface="Georgia"/>
              </a:rPr>
              <a:t> </a:t>
            </a:r>
            <a:r>
              <a:rPr sz="3600" spc="-20" dirty="0">
                <a:solidFill>
                  <a:srgbClr val="2E377E"/>
                </a:solidFill>
                <a:latin typeface="Georgia"/>
                <a:cs typeface="Georgia"/>
              </a:rPr>
              <a:t>pod.</a:t>
            </a:r>
            <a:endParaRPr sz="3600" dirty="0">
              <a:latin typeface="Georgia"/>
              <a:cs typeface="Georgia"/>
            </a:endParaRPr>
          </a:p>
          <a:p>
            <a:pPr marL="12700">
              <a:lnSpc>
                <a:spcPct val="100000"/>
              </a:lnSpc>
              <a:spcBef>
                <a:spcPts val="705"/>
              </a:spcBef>
            </a:pPr>
            <a:r>
              <a:rPr sz="3600" dirty="0">
                <a:solidFill>
                  <a:srgbClr val="2E377E"/>
                </a:solidFill>
                <a:latin typeface="Georgia"/>
                <a:cs typeface="Georgia"/>
              </a:rPr>
              <a:t>Note:</a:t>
            </a:r>
            <a:r>
              <a:rPr sz="3600" spc="-120" dirty="0">
                <a:solidFill>
                  <a:srgbClr val="2E377E"/>
                </a:solidFill>
                <a:latin typeface="Georgia"/>
                <a:cs typeface="Georgia"/>
              </a:rPr>
              <a:t> </a:t>
            </a:r>
            <a:r>
              <a:rPr sz="3600" spc="70" dirty="0">
                <a:solidFill>
                  <a:srgbClr val="2E377E"/>
                </a:solidFill>
                <a:latin typeface="Georgia"/>
                <a:cs typeface="Georgia"/>
              </a:rPr>
              <a:t>give</a:t>
            </a:r>
            <a:r>
              <a:rPr sz="3600" spc="-114" dirty="0">
                <a:solidFill>
                  <a:srgbClr val="2E377E"/>
                </a:solidFill>
                <a:latin typeface="Georgia"/>
                <a:cs typeface="Georgia"/>
              </a:rPr>
              <a:t> </a:t>
            </a:r>
            <a:r>
              <a:rPr sz="3600" dirty="0">
                <a:solidFill>
                  <a:srgbClr val="2E377E"/>
                </a:solidFill>
                <a:latin typeface="Georgia"/>
                <a:cs typeface="Georgia"/>
              </a:rPr>
              <a:t>apiVersion:</a:t>
            </a:r>
            <a:r>
              <a:rPr sz="3600" spc="-114" dirty="0">
                <a:solidFill>
                  <a:srgbClr val="2E377E"/>
                </a:solidFill>
                <a:latin typeface="Georgia"/>
                <a:cs typeface="Georgia"/>
              </a:rPr>
              <a:t> </a:t>
            </a:r>
            <a:r>
              <a:rPr sz="3600" dirty="0">
                <a:solidFill>
                  <a:srgbClr val="2E377E"/>
                </a:solidFill>
                <a:latin typeface="Georgia"/>
                <a:cs typeface="Georgia"/>
              </a:rPr>
              <a:t>apps/v1</a:t>
            </a:r>
            <a:r>
              <a:rPr sz="3600" spc="-114" dirty="0">
                <a:solidFill>
                  <a:srgbClr val="2E377E"/>
                </a:solidFill>
                <a:latin typeface="Georgia"/>
                <a:cs typeface="Georgia"/>
              </a:rPr>
              <a:t> </a:t>
            </a:r>
            <a:r>
              <a:rPr sz="3600" dirty="0">
                <a:solidFill>
                  <a:srgbClr val="2E377E"/>
                </a:solidFill>
                <a:latin typeface="Georgia"/>
                <a:cs typeface="Georgia"/>
              </a:rPr>
              <a:t>on</a:t>
            </a:r>
            <a:r>
              <a:rPr sz="3600" spc="-114" dirty="0">
                <a:solidFill>
                  <a:srgbClr val="2E377E"/>
                </a:solidFill>
                <a:latin typeface="Georgia"/>
                <a:cs typeface="Georgia"/>
              </a:rPr>
              <a:t> </a:t>
            </a:r>
            <a:r>
              <a:rPr sz="3600" spc="25" dirty="0">
                <a:solidFill>
                  <a:srgbClr val="2E377E"/>
                </a:solidFill>
                <a:latin typeface="Georgia"/>
                <a:cs typeface="Georgia"/>
              </a:rPr>
              <a:t>top</a:t>
            </a:r>
            <a:endParaRPr sz="3600" dirty="0">
              <a:latin typeface="Georgia"/>
              <a:cs typeface="Georgia"/>
            </a:endParaRPr>
          </a:p>
          <a:p>
            <a:pPr>
              <a:lnSpc>
                <a:spcPct val="100000"/>
              </a:lnSpc>
              <a:spcBef>
                <a:spcPts val="935"/>
              </a:spcBef>
            </a:pPr>
            <a:endParaRPr sz="3600" dirty="0">
              <a:latin typeface="Georgia"/>
              <a:cs typeface="Georgia"/>
            </a:endParaRPr>
          </a:p>
          <a:p>
            <a:pPr marL="12700" marR="5080">
              <a:lnSpc>
                <a:spcPct val="116300"/>
              </a:lnSpc>
            </a:pPr>
            <a:r>
              <a:rPr sz="3600" dirty="0">
                <a:solidFill>
                  <a:srgbClr val="2E377E"/>
                </a:solidFill>
                <a:latin typeface="Georgia"/>
                <a:cs typeface="Georgia"/>
              </a:rPr>
              <a:t>Labels</a:t>
            </a:r>
            <a:r>
              <a:rPr sz="3600" spc="-105" dirty="0">
                <a:solidFill>
                  <a:srgbClr val="2E377E"/>
                </a:solidFill>
                <a:latin typeface="Georgia"/>
                <a:cs typeface="Georgia"/>
              </a:rPr>
              <a:t> </a:t>
            </a:r>
            <a:r>
              <a:rPr sz="3600" spc="-245" dirty="0">
                <a:solidFill>
                  <a:srgbClr val="2E377E"/>
                </a:solidFill>
                <a:latin typeface="Georgia"/>
                <a:cs typeface="Georgia"/>
              </a:rPr>
              <a:t>:</a:t>
            </a:r>
            <a:r>
              <a:rPr sz="3600" spc="-70" dirty="0">
                <a:solidFill>
                  <a:srgbClr val="2E377E"/>
                </a:solidFill>
                <a:latin typeface="Georgia"/>
                <a:cs typeface="Georgia"/>
              </a:rPr>
              <a:t> </a:t>
            </a:r>
            <a:r>
              <a:rPr sz="3600" spc="45" dirty="0">
                <a:solidFill>
                  <a:srgbClr val="2E377E"/>
                </a:solidFill>
                <a:latin typeface="Georgia"/>
                <a:cs typeface="Georgia"/>
              </a:rPr>
              <a:t>mandatory</a:t>
            </a:r>
            <a:r>
              <a:rPr sz="3600" spc="-90" dirty="0">
                <a:solidFill>
                  <a:srgbClr val="2E377E"/>
                </a:solidFill>
                <a:latin typeface="Georgia"/>
                <a:cs typeface="Georgia"/>
              </a:rPr>
              <a:t> </a:t>
            </a:r>
            <a:r>
              <a:rPr sz="3600" spc="70" dirty="0">
                <a:solidFill>
                  <a:srgbClr val="2E377E"/>
                </a:solidFill>
                <a:latin typeface="Georgia"/>
                <a:cs typeface="Georgia"/>
              </a:rPr>
              <a:t>to</a:t>
            </a:r>
            <a:r>
              <a:rPr sz="3600" spc="-85" dirty="0">
                <a:solidFill>
                  <a:srgbClr val="2E377E"/>
                </a:solidFill>
                <a:latin typeface="Georgia"/>
                <a:cs typeface="Georgia"/>
              </a:rPr>
              <a:t> </a:t>
            </a:r>
            <a:r>
              <a:rPr sz="3600" spc="55" dirty="0">
                <a:solidFill>
                  <a:srgbClr val="2E377E"/>
                </a:solidFill>
                <a:latin typeface="Georgia"/>
                <a:cs typeface="Georgia"/>
              </a:rPr>
              <a:t>create</a:t>
            </a:r>
            <a:r>
              <a:rPr sz="3600" spc="-90" dirty="0">
                <a:solidFill>
                  <a:srgbClr val="2E377E"/>
                </a:solidFill>
                <a:latin typeface="Georgia"/>
                <a:cs typeface="Georgia"/>
              </a:rPr>
              <a:t> </a:t>
            </a:r>
            <a:r>
              <a:rPr sz="3600" spc="-65" dirty="0">
                <a:solidFill>
                  <a:srgbClr val="2E377E"/>
                </a:solidFill>
                <a:latin typeface="Georgia"/>
                <a:cs typeface="Georgia"/>
              </a:rPr>
              <a:t>RS</a:t>
            </a:r>
            <a:r>
              <a:rPr sz="3600" spc="-85" dirty="0">
                <a:solidFill>
                  <a:srgbClr val="2E377E"/>
                </a:solidFill>
                <a:latin typeface="Georgia"/>
                <a:cs typeface="Georgia"/>
              </a:rPr>
              <a:t> </a:t>
            </a:r>
            <a:r>
              <a:rPr sz="3600" spc="-45" dirty="0">
                <a:solidFill>
                  <a:srgbClr val="2E377E"/>
                </a:solidFill>
                <a:latin typeface="Georgia"/>
                <a:cs typeface="Georgia"/>
              </a:rPr>
              <a:t>(if</a:t>
            </a:r>
            <a:r>
              <a:rPr sz="3600" spc="-90" dirty="0">
                <a:solidFill>
                  <a:srgbClr val="2E377E"/>
                </a:solidFill>
                <a:latin typeface="Georgia"/>
                <a:cs typeface="Georgia"/>
              </a:rPr>
              <a:t> </a:t>
            </a:r>
            <a:r>
              <a:rPr sz="3600" spc="60" dirty="0">
                <a:solidFill>
                  <a:srgbClr val="2E377E"/>
                </a:solidFill>
                <a:latin typeface="Georgia"/>
                <a:cs typeface="Georgia"/>
              </a:rPr>
              <a:t>u</a:t>
            </a:r>
            <a:r>
              <a:rPr sz="3600" spc="-85" dirty="0">
                <a:solidFill>
                  <a:srgbClr val="2E377E"/>
                </a:solidFill>
                <a:latin typeface="Georgia"/>
                <a:cs typeface="Georgia"/>
              </a:rPr>
              <a:t> </a:t>
            </a:r>
            <a:r>
              <a:rPr sz="3600" spc="55" dirty="0">
                <a:solidFill>
                  <a:srgbClr val="2E377E"/>
                </a:solidFill>
                <a:latin typeface="Georgia"/>
                <a:cs typeface="Georgia"/>
              </a:rPr>
              <a:t>have</a:t>
            </a:r>
            <a:r>
              <a:rPr sz="3600" spc="-85" dirty="0">
                <a:solidFill>
                  <a:srgbClr val="2E377E"/>
                </a:solidFill>
                <a:latin typeface="Georgia"/>
                <a:cs typeface="Georgia"/>
              </a:rPr>
              <a:t> </a:t>
            </a:r>
            <a:r>
              <a:rPr sz="3600" spc="-25" dirty="0">
                <a:solidFill>
                  <a:srgbClr val="2E377E"/>
                </a:solidFill>
                <a:latin typeface="Georgia"/>
                <a:cs typeface="Georgia"/>
              </a:rPr>
              <a:t>100 </a:t>
            </a:r>
            <a:r>
              <a:rPr sz="3600" dirty="0">
                <a:solidFill>
                  <a:srgbClr val="2E377E"/>
                </a:solidFill>
                <a:latin typeface="Georgia"/>
                <a:cs typeface="Georgia"/>
              </a:rPr>
              <a:t>pods</a:t>
            </a:r>
            <a:r>
              <a:rPr sz="3600" spc="-20"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spc="55" dirty="0">
                <a:solidFill>
                  <a:srgbClr val="2E377E"/>
                </a:solidFill>
                <a:latin typeface="Georgia"/>
                <a:cs typeface="Georgia"/>
              </a:rPr>
              <a:t>cluster</a:t>
            </a:r>
            <a:r>
              <a:rPr sz="3600" spc="-15"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dirty="0">
                <a:solidFill>
                  <a:srgbClr val="2E377E"/>
                </a:solidFill>
                <a:latin typeface="Georgia"/>
                <a:cs typeface="Georgia"/>
              </a:rPr>
              <a:t>can</a:t>
            </a:r>
            <a:r>
              <a:rPr sz="3600" spc="-20" dirty="0">
                <a:solidFill>
                  <a:srgbClr val="2E377E"/>
                </a:solidFill>
                <a:latin typeface="Georgia"/>
                <a:cs typeface="Georgia"/>
              </a:rPr>
              <a:t> </a:t>
            </a:r>
            <a:r>
              <a:rPr sz="3600" dirty="0">
                <a:solidFill>
                  <a:srgbClr val="2E377E"/>
                </a:solidFill>
                <a:latin typeface="Georgia"/>
                <a:cs typeface="Georgia"/>
              </a:rPr>
              <a:t>inform</a:t>
            </a:r>
            <a:r>
              <a:rPr sz="3600" spc="-15" dirty="0">
                <a:solidFill>
                  <a:srgbClr val="2E377E"/>
                </a:solidFill>
                <a:latin typeface="Georgia"/>
                <a:cs typeface="Georgia"/>
              </a:rPr>
              <a:t> </a:t>
            </a:r>
            <a:r>
              <a:rPr sz="3600" spc="55" dirty="0">
                <a:solidFill>
                  <a:srgbClr val="2E377E"/>
                </a:solidFill>
                <a:latin typeface="Georgia"/>
                <a:cs typeface="Georgia"/>
              </a:rPr>
              <a:t>which</a:t>
            </a:r>
            <a:r>
              <a:rPr sz="3600" spc="-20" dirty="0">
                <a:solidFill>
                  <a:srgbClr val="2E377E"/>
                </a:solidFill>
                <a:latin typeface="Georgia"/>
                <a:cs typeface="Georgia"/>
              </a:rPr>
              <a:t> </a:t>
            </a:r>
            <a:r>
              <a:rPr sz="3600" dirty="0">
                <a:solidFill>
                  <a:srgbClr val="2E377E"/>
                </a:solidFill>
                <a:latin typeface="Georgia"/>
                <a:cs typeface="Georgia"/>
              </a:rPr>
              <a:t>pods</a:t>
            </a:r>
            <a:r>
              <a:rPr sz="3600" spc="-15" dirty="0">
                <a:solidFill>
                  <a:srgbClr val="2E377E"/>
                </a:solidFill>
                <a:latin typeface="Georgia"/>
                <a:cs typeface="Georgia"/>
              </a:rPr>
              <a:t> </a:t>
            </a:r>
            <a:r>
              <a:rPr sz="3600" spc="114" dirty="0">
                <a:solidFill>
                  <a:srgbClr val="2E377E"/>
                </a:solidFill>
                <a:latin typeface="Georgia"/>
                <a:cs typeface="Georgia"/>
              </a:rPr>
              <a:t>we </a:t>
            </a:r>
            <a:r>
              <a:rPr sz="3600" dirty="0">
                <a:solidFill>
                  <a:srgbClr val="2E377E"/>
                </a:solidFill>
                <a:latin typeface="Georgia"/>
                <a:cs typeface="Georgia"/>
              </a:rPr>
              <a:t>need</a:t>
            </a:r>
            <a:r>
              <a:rPr sz="3600" spc="-5" dirty="0">
                <a:solidFill>
                  <a:srgbClr val="2E377E"/>
                </a:solidFill>
                <a:latin typeface="Georgia"/>
                <a:cs typeface="Georgia"/>
              </a:rPr>
              <a:t> </a:t>
            </a:r>
            <a:r>
              <a:rPr sz="3600" spc="70" dirty="0">
                <a:solidFill>
                  <a:srgbClr val="2E377E"/>
                </a:solidFill>
                <a:latin typeface="Georgia"/>
                <a:cs typeface="Georgia"/>
              </a:rPr>
              <a:t>to</a:t>
            </a:r>
            <a:r>
              <a:rPr sz="3600" spc="-5" dirty="0">
                <a:solidFill>
                  <a:srgbClr val="2E377E"/>
                </a:solidFill>
                <a:latin typeface="Georgia"/>
                <a:cs typeface="Georgia"/>
              </a:rPr>
              <a:t> </a:t>
            </a:r>
            <a:r>
              <a:rPr sz="3600" spc="70" dirty="0">
                <a:solidFill>
                  <a:srgbClr val="2E377E"/>
                </a:solidFill>
                <a:latin typeface="Georgia"/>
                <a:cs typeface="Georgia"/>
              </a:rPr>
              <a:t>take</a:t>
            </a:r>
            <a:r>
              <a:rPr sz="3600" spc="-5" dirty="0">
                <a:solidFill>
                  <a:srgbClr val="2E377E"/>
                </a:solidFill>
                <a:latin typeface="Georgia"/>
                <a:cs typeface="Georgia"/>
              </a:rPr>
              <a:t> </a:t>
            </a:r>
            <a:r>
              <a:rPr sz="3600" dirty="0">
                <a:solidFill>
                  <a:srgbClr val="2E377E"/>
                </a:solidFill>
                <a:latin typeface="Georgia"/>
                <a:cs typeface="Georgia"/>
              </a:rPr>
              <a:t>care</a:t>
            </a:r>
            <a:r>
              <a:rPr sz="3600" spc="-5" dirty="0">
                <a:solidFill>
                  <a:srgbClr val="2E377E"/>
                </a:solidFill>
                <a:latin typeface="Georgia"/>
                <a:cs typeface="Georgia"/>
              </a:rPr>
              <a:t> </a:t>
            </a:r>
            <a:r>
              <a:rPr sz="3600" spc="95" dirty="0">
                <a:solidFill>
                  <a:srgbClr val="2E377E"/>
                </a:solidFill>
                <a:latin typeface="Georgia"/>
                <a:cs typeface="Georgia"/>
              </a:rPr>
              <a:t>by</a:t>
            </a:r>
            <a:r>
              <a:rPr sz="3600" dirty="0">
                <a:solidFill>
                  <a:srgbClr val="2E377E"/>
                </a:solidFill>
                <a:latin typeface="Georgia"/>
                <a:cs typeface="Georgia"/>
              </a:rPr>
              <a:t> using</a:t>
            </a:r>
            <a:r>
              <a:rPr sz="3600" spc="-5" dirty="0">
                <a:solidFill>
                  <a:srgbClr val="2E377E"/>
                </a:solidFill>
                <a:latin typeface="Georgia"/>
                <a:cs typeface="Georgia"/>
              </a:rPr>
              <a:t> </a:t>
            </a:r>
            <a:r>
              <a:rPr sz="3600" spc="-20" dirty="0">
                <a:solidFill>
                  <a:srgbClr val="2E377E"/>
                </a:solidFill>
                <a:latin typeface="Georgia"/>
                <a:cs typeface="Georgia"/>
              </a:rPr>
              <a:t>labels)</a:t>
            </a:r>
            <a:r>
              <a:rPr sz="3600" spc="-5" dirty="0">
                <a:solidFill>
                  <a:srgbClr val="2E377E"/>
                </a:solidFill>
                <a:latin typeface="Georgia"/>
                <a:cs typeface="Georgia"/>
              </a:rPr>
              <a:t> </a:t>
            </a:r>
            <a:r>
              <a:rPr sz="3600" dirty="0">
                <a:solidFill>
                  <a:srgbClr val="2E377E"/>
                </a:solidFill>
                <a:latin typeface="Georgia"/>
                <a:cs typeface="Georgia"/>
              </a:rPr>
              <a:t>if</a:t>
            </a:r>
            <a:r>
              <a:rPr sz="3600" spc="-5" dirty="0">
                <a:solidFill>
                  <a:srgbClr val="2E377E"/>
                </a:solidFill>
                <a:latin typeface="Georgia"/>
                <a:cs typeface="Georgia"/>
              </a:rPr>
              <a:t> </a:t>
            </a:r>
            <a:r>
              <a:rPr sz="3600" spc="60" dirty="0">
                <a:solidFill>
                  <a:srgbClr val="2E377E"/>
                </a:solidFill>
                <a:latin typeface="Georgia"/>
                <a:cs typeface="Georgia"/>
              </a:rPr>
              <a:t>u</a:t>
            </a:r>
            <a:r>
              <a:rPr sz="3600" dirty="0">
                <a:solidFill>
                  <a:srgbClr val="2E377E"/>
                </a:solidFill>
                <a:latin typeface="Georgia"/>
                <a:cs typeface="Georgia"/>
              </a:rPr>
              <a:t> labeled</a:t>
            </a:r>
            <a:r>
              <a:rPr sz="3600" spc="-5" dirty="0">
                <a:solidFill>
                  <a:srgbClr val="2E377E"/>
                </a:solidFill>
                <a:latin typeface="Georgia"/>
                <a:cs typeface="Georgia"/>
              </a:rPr>
              <a:t> </a:t>
            </a:r>
            <a:r>
              <a:rPr sz="3600" spc="-20" dirty="0">
                <a:solidFill>
                  <a:srgbClr val="2E377E"/>
                </a:solidFill>
                <a:latin typeface="Georgia"/>
                <a:cs typeface="Georgia"/>
              </a:rPr>
              <a:t>some </a:t>
            </a:r>
            <a:r>
              <a:rPr sz="3600" dirty="0">
                <a:solidFill>
                  <a:srgbClr val="2E377E"/>
                </a:solidFill>
                <a:latin typeface="Georgia"/>
                <a:cs typeface="Georgia"/>
              </a:rPr>
              <a:t>pods</a:t>
            </a:r>
            <a:r>
              <a:rPr sz="3600" spc="-40" dirty="0">
                <a:solidFill>
                  <a:srgbClr val="2E377E"/>
                </a:solidFill>
                <a:latin typeface="Georgia"/>
                <a:cs typeface="Georgia"/>
              </a:rPr>
              <a:t> </a:t>
            </a:r>
            <a:r>
              <a:rPr sz="3600" dirty="0">
                <a:solidFill>
                  <a:srgbClr val="2E377E"/>
                </a:solidFill>
                <a:latin typeface="Georgia"/>
                <a:cs typeface="Georgia"/>
              </a:rPr>
              <a:t>a</a:t>
            </a:r>
            <a:r>
              <a:rPr sz="3600" spc="-40" dirty="0">
                <a:solidFill>
                  <a:srgbClr val="2E377E"/>
                </a:solidFill>
                <a:latin typeface="Georgia"/>
                <a:cs typeface="Georgia"/>
              </a:rPr>
              <a:t> </a:t>
            </a:r>
            <a:r>
              <a:rPr lang="en-IN" sz="3600" dirty="0">
                <a:solidFill>
                  <a:srgbClr val="2E377E"/>
                </a:solidFill>
                <a:latin typeface="Georgia"/>
                <a:cs typeface="Georgia"/>
              </a:rPr>
              <a:t>rajco</a:t>
            </a:r>
            <a:r>
              <a:rPr sz="3600" spc="-40" dirty="0">
                <a:solidFill>
                  <a:srgbClr val="2E377E"/>
                </a:solidFill>
                <a:latin typeface="Georgia"/>
                <a:cs typeface="Georgia"/>
              </a:rPr>
              <a:t> </a:t>
            </a:r>
            <a:r>
              <a:rPr sz="3600" spc="50" dirty="0">
                <a:solidFill>
                  <a:srgbClr val="2E377E"/>
                </a:solidFill>
                <a:latin typeface="Georgia"/>
                <a:cs typeface="Georgia"/>
              </a:rPr>
              <a:t>then</a:t>
            </a:r>
            <a:r>
              <a:rPr sz="3600" spc="-40" dirty="0">
                <a:solidFill>
                  <a:srgbClr val="2E377E"/>
                </a:solidFill>
                <a:latin typeface="Georgia"/>
                <a:cs typeface="Georgia"/>
              </a:rPr>
              <a:t> </a:t>
            </a:r>
            <a:r>
              <a:rPr sz="3600" dirty="0">
                <a:solidFill>
                  <a:srgbClr val="2E377E"/>
                </a:solidFill>
                <a:latin typeface="Georgia"/>
                <a:cs typeface="Georgia"/>
              </a:rPr>
              <a:t>all</a:t>
            </a:r>
            <a:r>
              <a:rPr sz="3600" spc="-40" dirty="0">
                <a:solidFill>
                  <a:srgbClr val="2E377E"/>
                </a:solidFill>
                <a:latin typeface="Georgia"/>
                <a:cs typeface="Georgia"/>
              </a:rPr>
              <a:t> </a:t>
            </a:r>
            <a:r>
              <a:rPr sz="3600" spc="6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pods</a:t>
            </a:r>
            <a:r>
              <a:rPr sz="3600" spc="-40" dirty="0">
                <a:solidFill>
                  <a:srgbClr val="2E377E"/>
                </a:solidFill>
                <a:latin typeface="Georgia"/>
                <a:cs typeface="Georgia"/>
              </a:rPr>
              <a:t> </a:t>
            </a:r>
            <a:r>
              <a:rPr sz="3600" spc="85" dirty="0">
                <a:solidFill>
                  <a:srgbClr val="2E377E"/>
                </a:solidFill>
                <a:latin typeface="Georgia"/>
                <a:cs typeface="Georgia"/>
              </a:rPr>
              <a:t>with</a:t>
            </a:r>
            <a:r>
              <a:rPr sz="3600" spc="-40" dirty="0">
                <a:solidFill>
                  <a:srgbClr val="2E377E"/>
                </a:solidFill>
                <a:latin typeface="Georgia"/>
                <a:cs typeface="Georgia"/>
              </a:rPr>
              <a:t> </a:t>
            </a:r>
            <a:r>
              <a:rPr sz="3600" dirty="0">
                <a:solidFill>
                  <a:srgbClr val="2E377E"/>
                </a:solidFill>
                <a:latin typeface="Georgia"/>
                <a:cs typeface="Georgia"/>
              </a:rPr>
              <a:t>label</a:t>
            </a:r>
            <a:r>
              <a:rPr sz="3600" spc="-40" dirty="0">
                <a:solidFill>
                  <a:srgbClr val="2E377E"/>
                </a:solidFill>
                <a:latin typeface="Georgia"/>
                <a:cs typeface="Georgia"/>
              </a:rPr>
              <a:t> </a:t>
            </a:r>
            <a:r>
              <a:rPr lang="en-IN" sz="3600" spc="-10" dirty="0">
                <a:solidFill>
                  <a:srgbClr val="2E377E"/>
                </a:solidFill>
                <a:latin typeface="Georgia"/>
                <a:cs typeface="Georgia"/>
              </a:rPr>
              <a:t>rajco</a:t>
            </a:r>
            <a:r>
              <a:rPr sz="3600" spc="-10" dirty="0">
                <a:solidFill>
                  <a:srgbClr val="2E377E"/>
                </a:solidFill>
                <a:latin typeface="Georgia"/>
                <a:cs typeface="Georgia"/>
              </a:rPr>
              <a:t> </a:t>
            </a:r>
            <a:r>
              <a:rPr sz="3600" spc="55" dirty="0">
                <a:solidFill>
                  <a:srgbClr val="2E377E"/>
                </a:solidFill>
                <a:latin typeface="Georgia"/>
                <a:cs typeface="Georgia"/>
              </a:rPr>
              <a:t>will</a:t>
            </a:r>
            <a:r>
              <a:rPr sz="3600" spc="-35" dirty="0">
                <a:solidFill>
                  <a:srgbClr val="2E377E"/>
                </a:solidFill>
                <a:latin typeface="Georgia"/>
                <a:cs typeface="Georgia"/>
              </a:rPr>
              <a:t> </a:t>
            </a:r>
            <a:r>
              <a:rPr sz="3600" dirty="0">
                <a:solidFill>
                  <a:srgbClr val="2E377E"/>
                </a:solidFill>
                <a:latin typeface="Georgia"/>
                <a:cs typeface="Georgia"/>
              </a:rPr>
              <a:t>be</a:t>
            </a:r>
            <a:r>
              <a:rPr sz="3600" spc="-35" dirty="0">
                <a:solidFill>
                  <a:srgbClr val="2E377E"/>
                </a:solidFill>
                <a:latin typeface="Georgia"/>
                <a:cs typeface="Georgia"/>
              </a:rPr>
              <a:t> </a:t>
            </a:r>
            <a:r>
              <a:rPr sz="3600" spc="-10" dirty="0">
                <a:solidFill>
                  <a:srgbClr val="2E377E"/>
                </a:solidFill>
                <a:latin typeface="Georgia"/>
                <a:cs typeface="Georgia"/>
              </a:rPr>
              <a:t>managed.</a:t>
            </a:r>
            <a:endParaRPr sz="3600" dirty="0">
              <a:latin typeface="Georgia"/>
              <a:cs typeface="Georgi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528766"/>
            <a:ext cx="12661265" cy="8876030"/>
          </a:xfrm>
          <a:prstGeom prst="rect">
            <a:avLst/>
          </a:prstGeom>
        </p:spPr>
        <p:txBody>
          <a:bodyPr vert="horz" wrap="square" lIns="0" tIns="12700" rIns="0" bIns="0" rtlCol="0">
            <a:spAutoFit/>
          </a:bodyPr>
          <a:lstStyle/>
          <a:p>
            <a:pPr marL="12700" marR="9850755">
              <a:lnSpc>
                <a:spcPct val="116100"/>
              </a:lnSpc>
              <a:spcBef>
                <a:spcPts val="100"/>
              </a:spcBef>
            </a:pPr>
            <a:r>
              <a:rPr sz="2500" dirty="0">
                <a:latin typeface="Georgia"/>
                <a:cs typeface="Georgia"/>
              </a:rPr>
              <a:t>apiVersion:</a:t>
            </a:r>
            <a:r>
              <a:rPr sz="2500" spc="-145" dirty="0">
                <a:latin typeface="Georgia"/>
                <a:cs typeface="Georgia"/>
              </a:rPr>
              <a:t> </a:t>
            </a:r>
            <a:r>
              <a:rPr sz="2500" spc="-10" dirty="0">
                <a:latin typeface="Georgia"/>
                <a:cs typeface="Georgia"/>
              </a:rPr>
              <a:t>apps/v1 </a:t>
            </a:r>
            <a:r>
              <a:rPr sz="2500" dirty="0">
                <a:latin typeface="Georgia"/>
                <a:cs typeface="Georgia"/>
              </a:rPr>
              <a:t>kind:</a:t>
            </a:r>
            <a:r>
              <a:rPr sz="2500" spc="-145" dirty="0">
                <a:latin typeface="Georgia"/>
                <a:cs typeface="Georgia"/>
              </a:rPr>
              <a:t> </a:t>
            </a:r>
            <a:r>
              <a:rPr sz="2500" spc="-10" dirty="0">
                <a:latin typeface="Georgia"/>
                <a:cs typeface="Georgia"/>
              </a:rPr>
              <a:t>ReplicaSet metadata:</a:t>
            </a:r>
            <a:endParaRPr sz="2500">
              <a:latin typeface="Georgia"/>
              <a:cs typeface="Georgia"/>
            </a:endParaRPr>
          </a:p>
          <a:p>
            <a:pPr marL="12700" marR="10822940" indent="140970">
              <a:lnSpc>
                <a:spcPct val="116100"/>
              </a:lnSpc>
            </a:pPr>
            <a:r>
              <a:rPr sz="2500" spc="-10" dirty="0">
                <a:latin typeface="Georgia"/>
                <a:cs typeface="Georgia"/>
              </a:rPr>
              <a:t>name:</a:t>
            </a:r>
            <a:r>
              <a:rPr sz="2500" spc="-114" dirty="0">
                <a:latin typeface="Georgia"/>
                <a:cs typeface="Georgia"/>
              </a:rPr>
              <a:t> </a:t>
            </a:r>
            <a:r>
              <a:rPr sz="2500" spc="35" dirty="0">
                <a:latin typeface="Georgia"/>
                <a:cs typeface="Georgia"/>
              </a:rPr>
              <a:t>myrs </a:t>
            </a:r>
            <a:r>
              <a:rPr sz="2500" spc="-10" dirty="0">
                <a:latin typeface="Georgia"/>
                <a:cs typeface="Georgia"/>
              </a:rPr>
              <a:t>spec: </a:t>
            </a:r>
            <a:r>
              <a:rPr sz="2500" dirty="0">
                <a:latin typeface="Georgia"/>
                <a:cs typeface="Georgia"/>
              </a:rPr>
              <a:t>replicas:</a:t>
            </a:r>
            <a:r>
              <a:rPr sz="2500" spc="-75" dirty="0">
                <a:latin typeface="Georgia"/>
                <a:cs typeface="Georgia"/>
              </a:rPr>
              <a:t> </a:t>
            </a:r>
            <a:r>
              <a:rPr sz="2500" spc="-50" dirty="0">
                <a:latin typeface="Georgia"/>
                <a:cs typeface="Georgia"/>
              </a:rPr>
              <a:t>2 </a:t>
            </a:r>
            <a:r>
              <a:rPr sz="2500" spc="-10" dirty="0">
                <a:latin typeface="Georgia"/>
                <a:cs typeface="Georgia"/>
              </a:rPr>
              <a:t>selector:</a:t>
            </a:r>
            <a:endParaRPr sz="2500">
              <a:latin typeface="Georgia"/>
              <a:cs typeface="Georgia"/>
            </a:endParaRPr>
          </a:p>
          <a:p>
            <a:pPr marL="295275">
              <a:lnSpc>
                <a:spcPct val="100000"/>
              </a:lnSpc>
              <a:spcBef>
                <a:spcPts val="484"/>
              </a:spcBef>
            </a:pPr>
            <a:r>
              <a:rPr sz="2500" spc="-10" dirty="0">
                <a:latin typeface="Georgia"/>
                <a:cs typeface="Georgia"/>
              </a:rPr>
              <a:t>matchExpressions:</a:t>
            </a:r>
            <a:endParaRPr sz="2500">
              <a:latin typeface="Georgia"/>
              <a:cs typeface="Georgia"/>
            </a:endParaRPr>
          </a:p>
          <a:p>
            <a:pPr marL="628650" indent="-191770">
              <a:lnSpc>
                <a:spcPct val="100000"/>
              </a:lnSpc>
              <a:spcBef>
                <a:spcPts val="484"/>
              </a:spcBef>
              <a:buChar char="-"/>
              <a:tabLst>
                <a:tab pos="628650" algn="l"/>
              </a:tabLst>
            </a:pPr>
            <a:r>
              <a:rPr sz="2500" spc="-55" dirty="0">
                <a:latin typeface="Georgia"/>
                <a:cs typeface="Georgia"/>
              </a:rPr>
              <a:t>{key:</a:t>
            </a:r>
            <a:r>
              <a:rPr sz="2500" spc="-60" dirty="0">
                <a:latin typeface="Georgia"/>
                <a:cs typeface="Georgia"/>
              </a:rPr>
              <a:t> </a:t>
            </a:r>
            <a:r>
              <a:rPr sz="2500" dirty="0">
                <a:latin typeface="Georgia"/>
                <a:cs typeface="Georgia"/>
              </a:rPr>
              <a:t>Location,</a:t>
            </a:r>
            <a:r>
              <a:rPr sz="2500" spc="-55" dirty="0">
                <a:latin typeface="Georgia"/>
                <a:cs typeface="Georgia"/>
              </a:rPr>
              <a:t> </a:t>
            </a:r>
            <a:r>
              <a:rPr sz="2500" dirty="0">
                <a:latin typeface="Georgia"/>
                <a:cs typeface="Georgia"/>
              </a:rPr>
              <a:t>operator:</a:t>
            </a:r>
            <a:r>
              <a:rPr sz="2500" spc="-60" dirty="0">
                <a:latin typeface="Georgia"/>
                <a:cs typeface="Georgia"/>
              </a:rPr>
              <a:t> </a:t>
            </a:r>
            <a:r>
              <a:rPr sz="2500" spc="-30" dirty="0">
                <a:latin typeface="Georgia"/>
                <a:cs typeface="Georgia"/>
              </a:rPr>
              <a:t>In,</a:t>
            </a:r>
            <a:r>
              <a:rPr sz="2500" spc="-55" dirty="0">
                <a:latin typeface="Georgia"/>
                <a:cs typeface="Georgia"/>
              </a:rPr>
              <a:t> </a:t>
            </a:r>
            <a:r>
              <a:rPr sz="2500" dirty="0">
                <a:latin typeface="Georgia"/>
                <a:cs typeface="Georgia"/>
              </a:rPr>
              <a:t>values:</a:t>
            </a:r>
            <a:r>
              <a:rPr sz="2500" spc="-60" dirty="0">
                <a:latin typeface="Georgia"/>
                <a:cs typeface="Georgia"/>
              </a:rPr>
              <a:t> </a:t>
            </a:r>
            <a:r>
              <a:rPr sz="2500" spc="-40" dirty="0">
                <a:latin typeface="Georgia"/>
                <a:cs typeface="Georgia"/>
              </a:rPr>
              <a:t>[India,</a:t>
            </a:r>
            <a:r>
              <a:rPr sz="2500" spc="-55" dirty="0">
                <a:latin typeface="Georgia"/>
                <a:cs typeface="Georgia"/>
              </a:rPr>
              <a:t> </a:t>
            </a:r>
            <a:r>
              <a:rPr sz="2500" spc="-70" dirty="0">
                <a:latin typeface="Georgia"/>
                <a:cs typeface="Georgia"/>
              </a:rPr>
              <a:t>US,</a:t>
            </a:r>
            <a:r>
              <a:rPr sz="2500" spc="-60" dirty="0">
                <a:latin typeface="Georgia"/>
                <a:cs typeface="Georgia"/>
              </a:rPr>
              <a:t> </a:t>
            </a:r>
            <a:r>
              <a:rPr sz="2500" spc="-10" dirty="0">
                <a:latin typeface="Georgia"/>
                <a:cs typeface="Georgia"/>
              </a:rPr>
              <a:t>Russia]}</a:t>
            </a:r>
            <a:endParaRPr sz="2500">
              <a:latin typeface="Georgia"/>
              <a:cs typeface="Georgia"/>
            </a:endParaRPr>
          </a:p>
          <a:p>
            <a:pPr marL="153670" marR="5883275" indent="474345">
              <a:lnSpc>
                <a:spcPct val="116100"/>
              </a:lnSpc>
              <a:buChar char="-"/>
              <a:tabLst>
                <a:tab pos="628015" algn="l"/>
              </a:tabLst>
            </a:pPr>
            <a:r>
              <a:rPr sz="2500" spc="-55" dirty="0">
                <a:latin typeface="Georgia"/>
                <a:cs typeface="Georgia"/>
              </a:rPr>
              <a:t>{key:</a:t>
            </a:r>
            <a:r>
              <a:rPr sz="2500" spc="-30" dirty="0">
                <a:latin typeface="Georgia"/>
                <a:cs typeface="Georgia"/>
              </a:rPr>
              <a:t> </a:t>
            </a:r>
            <a:r>
              <a:rPr sz="2500" dirty="0">
                <a:latin typeface="Georgia"/>
                <a:cs typeface="Georgia"/>
              </a:rPr>
              <a:t>env,</a:t>
            </a:r>
            <a:r>
              <a:rPr sz="2500" spc="-25" dirty="0">
                <a:latin typeface="Georgia"/>
                <a:cs typeface="Georgia"/>
              </a:rPr>
              <a:t> </a:t>
            </a:r>
            <a:r>
              <a:rPr sz="2500" dirty="0">
                <a:latin typeface="Georgia"/>
                <a:cs typeface="Georgia"/>
              </a:rPr>
              <a:t>operator:</a:t>
            </a:r>
            <a:r>
              <a:rPr sz="2500" spc="-30" dirty="0">
                <a:latin typeface="Georgia"/>
                <a:cs typeface="Georgia"/>
              </a:rPr>
              <a:t> </a:t>
            </a:r>
            <a:r>
              <a:rPr sz="2500" spc="-10" dirty="0">
                <a:latin typeface="Georgia"/>
                <a:cs typeface="Georgia"/>
              </a:rPr>
              <a:t>NotIn,</a:t>
            </a:r>
            <a:r>
              <a:rPr sz="2500" spc="-25" dirty="0">
                <a:latin typeface="Georgia"/>
                <a:cs typeface="Georgia"/>
              </a:rPr>
              <a:t> </a:t>
            </a:r>
            <a:r>
              <a:rPr sz="2500" dirty="0">
                <a:latin typeface="Georgia"/>
                <a:cs typeface="Georgia"/>
              </a:rPr>
              <a:t>values:</a:t>
            </a:r>
            <a:r>
              <a:rPr sz="2500" spc="-25" dirty="0">
                <a:latin typeface="Georgia"/>
                <a:cs typeface="Georgia"/>
              </a:rPr>
              <a:t> [testing]} </a:t>
            </a:r>
            <a:r>
              <a:rPr sz="2500" spc="-10" dirty="0">
                <a:latin typeface="Georgia"/>
                <a:cs typeface="Georgia"/>
              </a:rPr>
              <a:t>template:</a:t>
            </a:r>
            <a:endParaRPr sz="2500">
              <a:latin typeface="Georgia"/>
              <a:cs typeface="Georgia"/>
            </a:endParaRPr>
          </a:p>
          <a:p>
            <a:pPr marL="436880" marR="10057130" indent="-141605">
              <a:lnSpc>
                <a:spcPct val="116100"/>
              </a:lnSpc>
              <a:spcBef>
                <a:spcPts val="5"/>
              </a:spcBef>
            </a:pPr>
            <a:r>
              <a:rPr sz="2500" spc="-10" dirty="0">
                <a:latin typeface="Georgia"/>
                <a:cs typeface="Georgia"/>
              </a:rPr>
              <a:t>metadata: name:</a:t>
            </a:r>
            <a:r>
              <a:rPr sz="2500" spc="-114" dirty="0">
                <a:latin typeface="Georgia"/>
                <a:cs typeface="Georgia"/>
              </a:rPr>
              <a:t> </a:t>
            </a:r>
            <a:r>
              <a:rPr sz="2500" spc="-10" dirty="0">
                <a:latin typeface="Georgia"/>
                <a:cs typeface="Georgia"/>
              </a:rPr>
              <a:t>testpod7 labels:</a:t>
            </a:r>
            <a:endParaRPr sz="2500">
              <a:latin typeface="Georgia"/>
              <a:cs typeface="Georgia"/>
            </a:endParaRPr>
          </a:p>
          <a:p>
            <a:pPr marL="295275" marR="9747885" indent="282575">
              <a:lnSpc>
                <a:spcPct val="116100"/>
              </a:lnSpc>
            </a:pPr>
            <a:r>
              <a:rPr sz="2500" spc="-10" dirty="0">
                <a:latin typeface="Georgia"/>
                <a:cs typeface="Georgia"/>
              </a:rPr>
              <a:t>Location:</a:t>
            </a:r>
            <a:r>
              <a:rPr sz="2500" spc="-75" dirty="0">
                <a:latin typeface="Georgia"/>
                <a:cs typeface="Georgia"/>
              </a:rPr>
              <a:t> </a:t>
            </a:r>
            <a:r>
              <a:rPr sz="2500" spc="-10" dirty="0">
                <a:latin typeface="Georgia"/>
                <a:cs typeface="Georgia"/>
              </a:rPr>
              <a:t>Russia spec:</a:t>
            </a:r>
            <a:endParaRPr sz="2500">
              <a:latin typeface="Georgia"/>
              <a:cs typeface="Georgia"/>
            </a:endParaRPr>
          </a:p>
          <a:p>
            <a:pPr marL="365760">
              <a:lnSpc>
                <a:spcPct val="100000"/>
              </a:lnSpc>
              <a:spcBef>
                <a:spcPts val="484"/>
              </a:spcBef>
            </a:pPr>
            <a:r>
              <a:rPr sz="2500" spc="-10" dirty="0">
                <a:latin typeface="Georgia"/>
                <a:cs typeface="Georgia"/>
              </a:rPr>
              <a:t>containers:</a:t>
            </a:r>
            <a:endParaRPr sz="2500">
              <a:latin typeface="Georgia"/>
              <a:cs typeface="Georgia"/>
            </a:endParaRPr>
          </a:p>
          <a:p>
            <a:pPr marL="648970" marR="9504680" indent="-141605">
              <a:lnSpc>
                <a:spcPct val="116100"/>
              </a:lnSpc>
            </a:pPr>
            <a:r>
              <a:rPr sz="2500" dirty="0">
                <a:latin typeface="Georgia"/>
                <a:cs typeface="Georgia"/>
              </a:rPr>
              <a:t>-</a:t>
            </a:r>
            <a:r>
              <a:rPr sz="2500" spc="-75" dirty="0">
                <a:latin typeface="Georgia"/>
                <a:cs typeface="Georgia"/>
              </a:rPr>
              <a:t> </a:t>
            </a:r>
            <a:r>
              <a:rPr sz="2500" spc="-10" dirty="0">
                <a:latin typeface="Georgia"/>
                <a:cs typeface="Georgia"/>
              </a:rPr>
              <a:t>name:</a:t>
            </a:r>
            <a:r>
              <a:rPr sz="2500" spc="-70" dirty="0">
                <a:latin typeface="Georgia"/>
                <a:cs typeface="Georgia"/>
              </a:rPr>
              <a:t> </a:t>
            </a:r>
            <a:r>
              <a:rPr sz="2500" spc="-10" dirty="0">
                <a:latin typeface="Georgia"/>
                <a:cs typeface="Georgia"/>
              </a:rPr>
              <a:t>container1 image:</a:t>
            </a:r>
            <a:r>
              <a:rPr sz="2500" spc="-95" dirty="0">
                <a:latin typeface="Georgia"/>
                <a:cs typeface="Georgia"/>
              </a:rPr>
              <a:t> </a:t>
            </a:r>
            <a:r>
              <a:rPr sz="2500" spc="-10" dirty="0">
                <a:latin typeface="Georgia"/>
                <a:cs typeface="Georgia"/>
              </a:rPr>
              <a:t>ubuntu</a:t>
            </a:r>
            <a:endParaRPr sz="2500">
              <a:latin typeface="Georgia"/>
              <a:cs typeface="Georgia"/>
            </a:endParaRPr>
          </a:p>
          <a:p>
            <a:pPr marL="648970">
              <a:lnSpc>
                <a:spcPct val="100000"/>
              </a:lnSpc>
              <a:spcBef>
                <a:spcPts val="484"/>
              </a:spcBef>
            </a:pPr>
            <a:r>
              <a:rPr sz="2500" dirty="0">
                <a:latin typeface="Georgia"/>
                <a:cs typeface="Georgia"/>
              </a:rPr>
              <a:t>command:</a:t>
            </a:r>
            <a:r>
              <a:rPr sz="2500" spc="-35" dirty="0">
                <a:latin typeface="Georgia"/>
                <a:cs typeface="Georgia"/>
              </a:rPr>
              <a:t> </a:t>
            </a:r>
            <a:r>
              <a:rPr sz="2500" spc="-75" dirty="0">
                <a:latin typeface="Georgia"/>
                <a:cs typeface="Georgia"/>
              </a:rPr>
              <a:t>["/bin/bash",</a:t>
            </a:r>
            <a:r>
              <a:rPr sz="2500" spc="-30" dirty="0">
                <a:latin typeface="Georgia"/>
                <a:cs typeface="Georgia"/>
              </a:rPr>
              <a:t> </a:t>
            </a:r>
            <a:r>
              <a:rPr sz="2500" spc="-90" dirty="0">
                <a:latin typeface="Georgia"/>
                <a:cs typeface="Georgia"/>
              </a:rPr>
              <a:t>"-</a:t>
            </a:r>
            <a:r>
              <a:rPr sz="2500" spc="-65" dirty="0">
                <a:latin typeface="Georgia"/>
                <a:cs typeface="Georgia"/>
              </a:rPr>
              <a:t>c",</a:t>
            </a:r>
            <a:r>
              <a:rPr sz="2500" spc="-30" dirty="0">
                <a:latin typeface="Georgia"/>
                <a:cs typeface="Georgia"/>
              </a:rPr>
              <a:t> </a:t>
            </a:r>
            <a:r>
              <a:rPr sz="2500" dirty="0">
                <a:latin typeface="Georgia"/>
                <a:cs typeface="Georgia"/>
              </a:rPr>
              <a:t>"while</a:t>
            </a:r>
            <a:r>
              <a:rPr sz="2500" spc="-30" dirty="0">
                <a:latin typeface="Georgia"/>
                <a:cs typeface="Georgia"/>
              </a:rPr>
              <a:t> </a:t>
            </a:r>
            <a:r>
              <a:rPr sz="2500" dirty="0">
                <a:latin typeface="Georgia"/>
                <a:cs typeface="Georgia"/>
              </a:rPr>
              <a:t>true;</a:t>
            </a:r>
            <a:r>
              <a:rPr sz="2500" spc="-30" dirty="0">
                <a:latin typeface="Georgia"/>
                <a:cs typeface="Georgia"/>
              </a:rPr>
              <a:t> </a:t>
            </a:r>
            <a:r>
              <a:rPr sz="2500" dirty="0">
                <a:latin typeface="Georgia"/>
                <a:cs typeface="Georgia"/>
              </a:rPr>
              <a:t>do</a:t>
            </a:r>
            <a:r>
              <a:rPr sz="2500" spc="-35" dirty="0">
                <a:latin typeface="Georgia"/>
                <a:cs typeface="Georgia"/>
              </a:rPr>
              <a:t> </a:t>
            </a:r>
            <a:r>
              <a:rPr sz="2500" dirty="0">
                <a:latin typeface="Georgia"/>
                <a:cs typeface="Georgia"/>
              </a:rPr>
              <a:t>echo</a:t>
            </a:r>
            <a:r>
              <a:rPr sz="2500" spc="-30" dirty="0">
                <a:latin typeface="Georgia"/>
                <a:cs typeface="Georgia"/>
              </a:rPr>
              <a:t> </a:t>
            </a:r>
            <a:r>
              <a:rPr sz="2500" dirty="0">
                <a:latin typeface="Georgia"/>
                <a:cs typeface="Georgia"/>
              </a:rPr>
              <a:t>ReplicaSet</a:t>
            </a:r>
            <a:r>
              <a:rPr sz="2500" spc="-30" dirty="0">
                <a:latin typeface="Georgia"/>
                <a:cs typeface="Georgia"/>
              </a:rPr>
              <a:t> </a:t>
            </a:r>
            <a:r>
              <a:rPr sz="2500" spc="-10" dirty="0">
                <a:latin typeface="Georgia"/>
                <a:cs typeface="Georgia"/>
              </a:rPr>
              <a:t>Example;</a:t>
            </a:r>
            <a:r>
              <a:rPr sz="2500" spc="-30" dirty="0">
                <a:latin typeface="Georgia"/>
                <a:cs typeface="Georgia"/>
              </a:rPr>
              <a:t> </a:t>
            </a:r>
            <a:r>
              <a:rPr sz="2500" dirty="0">
                <a:latin typeface="Georgia"/>
                <a:cs typeface="Georgia"/>
              </a:rPr>
              <a:t>sleep</a:t>
            </a:r>
            <a:r>
              <a:rPr sz="2500" spc="-30" dirty="0">
                <a:latin typeface="Georgia"/>
                <a:cs typeface="Georgia"/>
              </a:rPr>
              <a:t> </a:t>
            </a:r>
            <a:r>
              <a:rPr sz="2500" spc="-125" dirty="0">
                <a:latin typeface="Georgia"/>
                <a:cs typeface="Georgia"/>
              </a:rPr>
              <a:t>5</a:t>
            </a:r>
            <a:r>
              <a:rPr sz="2500" spc="-35" dirty="0">
                <a:latin typeface="Georgia"/>
                <a:cs typeface="Georgia"/>
              </a:rPr>
              <a:t> </a:t>
            </a:r>
            <a:r>
              <a:rPr sz="2500" spc="-150" dirty="0">
                <a:latin typeface="Georgia"/>
                <a:cs typeface="Georgia"/>
              </a:rPr>
              <a:t>;</a:t>
            </a:r>
            <a:r>
              <a:rPr sz="2500" spc="-30" dirty="0">
                <a:latin typeface="Georgia"/>
                <a:cs typeface="Georgia"/>
              </a:rPr>
              <a:t> </a:t>
            </a:r>
            <a:r>
              <a:rPr sz="2500" spc="-10" dirty="0">
                <a:latin typeface="Georgia"/>
                <a:cs typeface="Georgia"/>
              </a:rPr>
              <a:t>done"]</a:t>
            </a:r>
            <a:endParaRPr sz="2500">
              <a:latin typeface="Georgia"/>
              <a:cs typeface="Georgi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286" y="552579"/>
            <a:ext cx="4041775" cy="787400"/>
          </a:xfrm>
          <a:prstGeom prst="rect">
            <a:avLst/>
          </a:prstGeom>
        </p:spPr>
        <p:txBody>
          <a:bodyPr vert="horz" wrap="square" lIns="0" tIns="12700" rIns="0" bIns="0" rtlCol="0">
            <a:spAutoFit/>
          </a:bodyPr>
          <a:lstStyle/>
          <a:p>
            <a:pPr marL="12700">
              <a:lnSpc>
                <a:spcPct val="100000"/>
              </a:lnSpc>
              <a:spcBef>
                <a:spcPts val="100"/>
              </a:spcBef>
            </a:pPr>
            <a:r>
              <a:rPr spc="-70" dirty="0">
                <a:solidFill>
                  <a:srgbClr val="FF3131"/>
                </a:solidFill>
              </a:rPr>
              <a:t>COMMANDS:</a:t>
            </a:r>
          </a:p>
        </p:txBody>
      </p:sp>
      <p:sp>
        <p:nvSpPr>
          <p:cNvPr id="3" name="object 3"/>
          <p:cNvSpPr txBox="1"/>
          <p:nvPr/>
        </p:nvSpPr>
        <p:spPr>
          <a:xfrm>
            <a:off x="1386270" y="1346278"/>
            <a:ext cx="3270250" cy="2578100"/>
          </a:xfrm>
          <a:prstGeom prst="rect">
            <a:avLst/>
          </a:prstGeom>
        </p:spPr>
        <p:txBody>
          <a:bodyPr vert="horz" wrap="square" lIns="0" tIns="12700" rIns="0" bIns="0" rtlCol="0">
            <a:spAutoFit/>
          </a:bodyPr>
          <a:lstStyle/>
          <a:p>
            <a:pPr marL="12700" marR="736600">
              <a:lnSpc>
                <a:spcPct val="116300"/>
              </a:lnSpc>
              <a:spcBef>
                <a:spcPts val="100"/>
              </a:spcBef>
            </a:pPr>
            <a:r>
              <a:rPr sz="3600" b="1" i="1" spc="-254" dirty="0">
                <a:solidFill>
                  <a:srgbClr val="2E377E"/>
                </a:solidFill>
                <a:latin typeface="Times New Roman"/>
                <a:cs typeface="Times New Roman"/>
              </a:rPr>
              <a:t>TO</a:t>
            </a:r>
            <a:r>
              <a:rPr sz="3600" b="1" i="1" spc="-114" dirty="0">
                <a:solidFill>
                  <a:srgbClr val="2E377E"/>
                </a:solidFill>
                <a:latin typeface="Times New Roman"/>
                <a:cs typeface="Times New Roman"/>
              </a:rPr>
              <a:t> </a:t>
            </a:r>
            <a:r>
              <a:rPr sz="3600" b="1" i="1" spc="-330" dirty="0">
                <a:solidFill>
                  <a:srgbClr val="2E377E"/>
                </a:solidFill>
                <a:latin typeface="Times New Roman"/>
                <a:cs typeface="Times New Roman"/>
              </a:rPr>
              <a:t>EXECUTE </a:t>
            </a:r>
            <a:r>
              <a:rPr sz="3600" b="1" i="1" spc="-254" dirty="0">
                <a:solidFill>
                  <a:srgbClr val="2E377E"/>
                </a:solidFill>
                <a:latin typeface="Times New Roman"/>
                <a:cs typeface="Times New Roman"/>
              </a:rPr>
              <a:t>TO</a:t>
            </a:r>
            <a:r>
              <a:rPr sz="3600" b="1" i="1" spc="-114" dirty="0">
                <a:solidFill>
                  <a:srgbClr val="2E377E"/>
                </a:solidFill>
                <a:latin typeface="Times New Roman"/>
                <a:cs typeface="Times New Roman"/>
              </a:rPr>
              <a:t> </a:t>
            </a:r>
            <a:r>
              <a:rPr sz="3600" b="1" i="1" spc="-290" dirty="0">
                <a:solidFill>
                  <a:srgbClr val="2E377E"/>
                </a:solidFill>
                <a:latin typeface="Times New Roman"/>
                <a:cs typeface="Times New Roman"/>
              </a:rPr>
              <a:t>LIST</a:t>
            </a:r>
            <a:endParaRPr sz="3600">
              <a:latin typeface="Times New Roman"/>
              <a:cs typeface="Times New Roman"/>
            </a:endParaRPr>
          </a:p>
          <a:p>
            <a:pPr marL="12700">
              <a:lnSpc>
                <a:spcPct val="100000"/>
              </a:lnSpc>
              <a:spcBef>
                <a:spcPts val="705"/>
              </a:spcBef>
            </a:pPr>
            <a:r>
              <a:rPr sz="3600" b="1" i="1" spc="-254" dirty="0">
                <a:solidFill>
                  <a:srgbClr val="2E377E"/>
                </a:solidFill>
                <a:latin typeface="Times New Roman"/>
                <a:cs typeface="Times New Roman"/>
              </a:rPr>
              <a:t>TO</a:t>
            </a:r>
            <a:r>
              <a:rPr sz="3600" b="1" i="1" spc="-130" dirty="0">
                <a:solidFill>
                  <a:srgbClr val="2E377E"/>
                </a:solidFill>
                <a:latin typeface="Times New Roman"/>
                <a:cs typeface="Times New Roman"/>
              </a:rPr>
              <a:t> </a:t>
            </a:r>
            <a:r>
              <a:rPr sz="3600" b="1" i="1" spc="-345" dirty="0">
                <a:solidFill>
                  <a:srgbClr val="2E377E"/>
                </a:solidFill>
                <a:latin typeface="Times New Roman"/>
                <a:cs typeface="Times New Roman"/>
              </a:rPr>
              <a:t>GET</a:t>
            </a:r>
            <a:r>
              <a:rPr sz="3600" b="1" i="1" spc="-114" dirty="0">
                <a:solidFill>
                  <a:srgbClr val="2E377E"/>
                </a:solidFill>
                <a:latin typeface="Times New Roman"/>
                <a:cs typeface="Times New Roman"/>
              </a:rPr>
              <a:t> </a:t>
            </a:r>
            <a:r>
              <a:rPr sz="3600" b="1" i="1" spc="-330" dirty="0">
                <a:solidFill>
                  <a:srgbClr val="2E377E"/>
                </a:solidFill>
                <a:latin typeface="Times New Roman"/>
                <a:cs typeface="Times New Roman"/>
              </a:rPr>
              <a:t>INFO</a:t>
            </a:r>
            <a:endParaRPr sz="3600">
              <a:latin typeface="Times New Roman"/>
              <a:cs typeface="Times New Roman"/>
            </a:endParaRPr>
          </a:p>
          <a:p>
            <a:pPr marL="12700">
              <a:lnSpc>
                <a:spcPct val="100000"/>
              </a:lnSpc>
              <a:spcBef>
                <a:spcPts val="705"/>
              </a:spcBef>
            </a:pPr>
            <a:r>
              <a:rPr sz="3600" b="1" i="1" spc="-254" dirty="0">
                <a:solidFill>
                  <a:srgbClr val="2E377E"/>
                </a:solidFill>
                <a:latin typeface="Times New Roman"/>
                <a:cs typeface="Times New Roman"/>
              </a:rPr>
              <a:t>TO</a:t>
            </a:r>
            <a:r>
              <a:rPr sz="3600" b="1" i="1" spc="-120" dirty="0">
                <a:solidFill>
                  <a:srgbClr val="2E377E"/>
                </a:solidFill>
                <a:latin typeface="Times New Roman"/>
                <a:cs typeface="Times New Roman"/>
              </a:rPr>
              <a:t> </a:t>
            </a:r>
            <a:r>
              <a:rPr sz="3600" b="1" i="1" spc="-345" dirty="0">
                <a:solidFill>
                  <a:srgbClr val="2E377E"/>
                </a:solidFill>
                <a:latin typeface="Times New Roman"/>
                <a:cs typeface="Times New Roman"/>
              </a:rPr>
              <a:t>GET</a:t>
            </a:r>
            <a:r>
              <a:rPr sz="3600" b="1" i="1" spc="-114" dirty="0">
                <a:solidFill>
                  <a:srgbClr val="2E377E"/>
                </a:solidFill>
                <a:latin typeface="Times New Roman"/>
                <a:cs typeface="Times New Roman"/>
              </a:rPr>
              <a:t> </a:t>
            </a:r>
            <a:r>
              <a:rPr sz="3600" b="1" i="1" spc="-240" dirty="0">
                <a:solidFill>
                  <a:srgbClr val="2E377E"/>
                </a:solidFill>
                <a:latin typeface="Times New Roman"/>
                <a:cs typeface="Times New Roman"/>
              </a:rPr>
              <a:t>IN</a:t>
            </a:r>
            <a:r>
              <a:rPr sz="3600" b="1" i="1" spc="-114" dirty="0">
                <a:solidFill>
                  <a:srgbClr val="2E377E"/>
                </a:solidFill>
                <a:latin typeface="Times New Roman"/>
                <a:cs typeface="Times New Roman"/>
              </a:rPr>
              <a:t> </a:t>
            </a:r>
            <a:r>
              <a:rPr sz="3600" b="1" i="1" spc="-190" dirty="0">
                <a:solidFill>
                  <a:srgbClr val="2E377E"/>
                </a:solidFill>
                <a:latin typeface="Times New Roman"/>
                <a:cs typeface="Times New Roman"/>
              </a:rPr>
              <a:t>YAML</a:t>
            </a:r>
            <a:endParaRPr sz="3600">
              <a:latin typeface="Times New Roman"/>
              <a:cs typeface="Times New Roman"/>
            </a:endParaRPr>
          </a:p>
        </p:txBody>
      </p:sp>
      <p:sp>
        <p:nvSpPr>
          <p:cNvPr id="4" name="object 4"/>
          <p:cNvSpPr txBox="1"/>
          <p:nvPr/>
        </p:nvSpPr>
        <p:spPr>
          <a:xfrm>
            <a:off x="6187465" y="1346278"/>
            <a:ext cx="230504" cy="2578100"/>
          </a:xfrm>
          <a:prstGeom prst="rect">
            <a:avLst/>
          </a:prstGeom>
        </p:spPr>
        <p:txBody>
          <a:bodyPr vert="horz" wrap="square" lIns="0" tIns="102235" rIns="0" bIns="0" rtlCol="0">
            <a:spAutoFit/>
          </a:bodyPr>
          <a:lstStyle/>
          <a:p>
            <a:pPr marL="94615">
              <a:lnSpc>
                <a:spcPct val="100000"/>
              </a:lnSpc>
              <a:spcBef>
                <a:spcPts val="805"/>
              </a:spcBef>
            </a:pPr>
            <a:r>
              <a:rPr sz="3600" b="1" i="1" spc="-180" dirty="0">
                <a:solidFill>
                  <a:srgbClr val="2E377E"/>
                </a:solidFill>
                <a:latin typeface="Times New Roman"/>
                <a:cs typeface="Times New Roman"/>
              </a:rPr>
              <a:t>:</a:t>
            </a:r>
            <a:endParaRPr sz="3600">
              <a:latin typeface="Times New Roman"/>
              <a:cs typeface="Times New Roman"/>
            </a:endParaRPr>
          </a:p>
          <a:p>
            <a:pPr marL="80645">
              <a:lnSpc>
                <a:spcPct val="100000"/>
              </a:lnSpc>
              <a:spcBef>
                <a:spcPts val="705"/>
              </a:spcBef>
            </a:pPr>
            <a:r>
              <a:rPr sz="3600" b="1" i="1" spc="-80" dirty="0">
                <a:solidFill>
                  <a:srgbClr val="2E377E"/>
                </a:solidFill>
                <a:latin typeface="Times New Roman"/>
                <a:cs typeface="Times New Roman"/>
              </a:rPr>
              <a:t>:</a:t>
            </a:r>
            <a:endParaRPr sz="3600">
              <a:latin typeface="Times New Roman"/>
              <a:cs typeface="Times New Roman"/>
            </a:endParaRPr>
          </a:p>
          <a:p>
            <a:pPr marL="12700">
              <a:lnSpc>
                <a:spcPct val="100000"/>
              </a:lnSpc>
              <a:spcBef>
                <a:spcPts val="705"/>
              </a:spcBef>
            </a:pPr>
            <a:r>
              <a:rPr sz="3600" b="1" i="1" spc="-50" dirty="0">
                <a:solidFill>
                  <a:srgbClr val="2E377E"/>
                </a:solidFill>
                <a:latin typeface="Times New Roman"/>
                <a:cs typeface="Times New Roman"/>
              </a:rPr>
              <a:t>:</a:t>
            </a:r>
            <a:endParaRPr sz="3600">
              <a:latin typeface="Times New Roman"/>
              <a:cs typeface="Times New Roman"/>
            </a:endParaRPr>
          </a:p>
          <a:p>
            <a:pPr marL="36195">
              <a:lnSpc>
                <a:spcPct val="100000"/>
              </a:lnSpc>
              <a:spcBef>
                <a:spcPts val="705"/>
              </a:spcBef>
            </a:pPr>
            <a:r>
              <a:rPr sz="3600" b="1" i="1" spc="-50" dirty="0">
                <a:solidFill>
                  <a:srgbClr val="2E377E"/>
                </a:solidFill>
                <a:latin typeface="Times New Roman"/>
                <a:cs typeface="Times New Roman"/>
              </a:rPr>
              <a:t>:</a:t>
            </a:r>
            <a:endParaRPr sz="3600">
              <a:latin typeface="Times New Roman"/>
              <a:cs typeface="Times New Roman"/>
            </a:endParaRPr>
          </a:p>
        </p:txBody>
      </p:sp>
      <p:sp>
        <p:nvSpPr>
          <p:cNvPr id="5" name="object 5"/>
          <p:cNvSpPr txBox="1"/>
          <p:nvPr/>
        </p:nvSpPr>
        <p:spPr>
          <a:xfrm>
            <a:off x="1386270" y="3988512"/>
            <a:ext cx="5073650" cy="574040"/>
          </a:xfrm>
          <a:prstGeom prst="rect">
            <a:avLst/>
          </a:prstGeom>
        </p:spPr>
        <p:txBody>
          <a:bodyPr vert="horz" wrap="square" lIns="0" tIns="12700" rIns="0" bIns="0" rtlCol="0">
            <a:spAutoFit/>
          </a:bodyPr>
          <a:lstStyle/>
          <a:p>
            <a:pPr marL="12700">
              <a:lnSpc>
                <a:spcPct val="100000"/>
              </a:lnSpc>
              <a:spcBef>
                <a:spcPts val="100"/>
              </a:spcBef>
            </a:pPr>
            <a:r>
              <a:rPr sz="3600" b="1" i="1" spc="-254" dirty="0">
                <a:solidFill>
                  <a:srgbClr val="2E377E"/>
                </a:solidFill>
                <a:latin typeface="Times New Roman"/>
                <a:cs typeface="Times New Roman"/>
              </a:rPr>
              <a:t>TO</a:t>
            </a:r>
            <a:r>
              <a:rPr sz="3600" b="1" i="1" spc="-110" dirty="0">
                <a:solidFill>
                  <a:srgbClr val="2E377E"/>
                </a:solidFill>
                <a:latin typeface="Times New Roman"/>
                <a:cs typeface="Times New Roman"/>
              </a:rPr>
              <a:t> </a:t>
            </a:r>
            <a:r>
              <a:rPr sz="3600" b="1" i="1" spc="-345" dirty="0">
                <a:solidFill>
                  <a:srgbClr val="2E377E"/>
                </a:solidFill>
                <a:latin typeface="Times New Roman"/>
                <a:cs typeface="Times New Roman"/>
              </a:rPr>
              <a:t>GET</a:t>
            </a:r>
            <a:r>
              <a:rPr sz="3600" b="1" i="1" spc="-100" dirty="0">
                <a:solidFill>
                  <a:srgbClr val="2E377E"/>
                </a:solidFill>
                <a:latin typeface="Times New Roman"/>
                <a:cs typeface="Times New Roman"/>
              </a:rPr>
              <a:t> </a:t>
            </a:r>
            <a:r>
              <a:rPr sz="3600" b="1" i="1" spc="-370" dirty="0">
                <a:solidFill>
                  <a:srgbClr val="2E377E"/>
                </a:solidFill>
                <a:latin typeface="Times New Roman"/>
                <a:cs typeface="Times New Roman"/>
              </a:rPr>
              <a:t>ALL</a:t>
            </a:r>
            <a:r>
              <a:rPr sz="3600" b="1" i="1" spc="-100" dirty="0">
                <a:solidFill>
                  <a:srgbClr val="2E377E"/>
                </a:solidFill>
                <a:latin typeface="Times New Roman"/>
                <a:cs typeface="Times New Roman"/>
              </a:rPr>
              <a:t> </a:t>
            </a:r>
            <a:r>
              <a:rPr sz="3600" b="1" i="1" spc="-225" dirty="0">
                <a:solidFill>
                  <a:srgbClr val="2E377E"/>
                </a:solidFill>
                <a:latin typeface="Times New Roman"/>
                <a:cs typeface="Times New Roman"/>
              </a:rPr>
              <a:t>RESOURCES</a:t>
            </a:r>
            <a:r>
              <a:rPr sz="3600" b="1" i="1" spc="-100" dirty="0">
                <a:solidFill>
                  <a:srgbClr val="2E377E"/>
                </a:solidFill>
                <a:latin typeface="Times New Roman"/>
                <a:cs typeface="Times New Roman"/>
              </a:rPr>
              <a:t> </a:t>
            </a:r>
            <a:r>
              <a:rPr sz="3600" b="1" i="1" spc="-50" dirty="0">
                <a:solidFill>
                  <a:srgbClr val="2E377E"/>
                </a:solidFill>
                <a:latin typeface="Times New Roman"/>
                <a:cs typeface="Times New Roman"/>
              </a:rPr>
              <a:t>:</a:t>
            </a:r>
            <a:endParaRPr sz="3600">
              <a:latin typeface="Times New Roman"/>
              <a:cs typeface="Times New Roman"/>
            </a:endParaRPr>
          </a:p>
        </p:txBody>
      </p:sp>
      <p:sp>
        <p:nvSpPr>
          <p:cNvPr id="6" name="object 6"/>
          <p:cNvSpPr txBox="1"/>
          <p:nvPr/>
        </p:nvSpPr>
        <p:spPr>
          <a:xfrm>
            <a:off x="1016000" y="6805076"/>
            <a:ext cx="5527675" cy="2578100"/>
          </a:xfrm>
          <a:prstGeom prst="rect">
            <a:avLst/>
          </a:prstGeom>
        </p:spPr>
        <p:txBody>
          <a:bodyPr vert="horz" wrap="square" lIns="0" tIns="102235" rIns="0" bIns="0" rtlCol="0">
            <a:spAutoFit/>
          </a:bodyPr>
          <a:lstStyle/>
          <a:p>
            <a:pPr marL="12700" algn="just">
              <a:lnSpc>
                <a:spcPct val="100000"/>
              </a:lnSpc>
              <a:spcBef>
                <a:spcPts val="805"/>
              </a:spcBef>
              <a:tabLst>
                <a:tab pos="5391785" algn="l"/>
              </a:tabLst>
            </a:pPr>
            <a:r>
              <a:rPr sz="3600" b="1" i="1" spc="-254" dirty="0">
                <a:solidFill>
                  <a:srgbClr val="2E377E"/>
                </a:solidFill>
                <a:latin typeface="Times New Roman"/>
                <a:cs typeface="Times New Roman"/>
              </a:rPr>
              <a:t>TO</a:t>
            </a:r>
            <a:r>
              <a:rPr sz="3600" b="1" i="1" spc="-114" dirty="0">
                <a:solidFill>
                  <a:srgbClr val="2E377E"/>
                </a:solidFill>
                <a:latin typeface="Times New Roman"/>
                <a:cs typeface="Times New Roman"/>
              </a:rPr>
              <a:t> </a:t>
            </a:r>
            <a:r>
              <a:rPr sz="3600" b="1" i="1" spc="-395" dirty="0">
                <a:solidFill>
                  <a:srgbClr val="2E377E"/>
                </a:solidFill>
                <a:latin typeface="Times New Roman"/>
                <a:cs typeface="Times New Roman"/>
              </a:rPr>
              <a:t>DELETE</a:t>
            </a:r>
            <a:r>
              <a:rPr sz="3600" b="1" i="1" spc="-114" dirty="0">
                <a:solidFill>
                  <a:srgbClr val="2E377E"/>
                </a:solidFill>
                <a:latin typeface="Times New Roman"/>
                <a:cs typeface="Times New Roman"/>
              </a:rPr>
              <a:t> </a:t>
            </a:r>
            <a:r>
              <a:rPr sz="3600" b="1" i="1" spc="-225" dirty="0">
                <a:solidFill>
                  <a:srgbClr val="2E377E"/>
                </a:solidFill>
                <a:latin typeface="Times New Roman"/>
                <a:cs typeface="Times New Roman"/>
              </a:rPr>
              <a:t>A</a:t>
            </a:r>
            <a:r>
              <a:rPr sz="3600" b="1" i="1" spc="-114" dirty="0">
                <a:solidFill>
                  <a:srgbClr val="2E377E"/>
                </a:solidFill>
                <a:latin typeface="Times New Roman"/>
                <a:cs typeface="Times New Roman"/>
              </a:rPr>
              <a:t> </a:t>
            </a:r>
            <a:r>
              <a:rPr sz="3600" b="1" i="1" spc="-25" dirty="0">
                <a:solidFill>
                  <a:srgbClr val="2E377E"/>
                </a:solidFill>
                <a:latin typeface="Times New Roman"/>
                <a:cs typeface="Times New Roman"/>
              </a:rPr>
              <a:t>POD</a:t>
            </a:r>
            <a:r>
              <a:rPr sz="3600" b="1" i="1" dirty="0">
                <a:solidFill>
                  <a:srgbClr val="2E377E"/>
                </a:solidFill>
                <a:latin typeface="Times New Roman"/>
                <a:cs typeface="Times New Roman"/>
              </a:rPr>
              <a:t>	</a:t>
            </a:r>
            <a:r>
              <a:rPr sz="3600" b="1" i="1" spc="-180" dirty="0">
                <a:solidFill>
                  <a:srgbClr val="2E377E"/>
                </a:solidFill>
                <a:latin typeface="Times New Roman"/>
                <a:cs typeface="Times New Roman"/>
              </a:rPr>
              <a:t>:</a:t>
            </a:r>
            <a:endParaRPr sz="3600">
              <a:latin typeface="Times New Roman"/>
              <a:cs typeface="Times New Roman"/>
            </a:endParaRPr>
          </a:p>
          <a:p>
            <a:pPr marL="12700" marR="111760" algn="just">
              <a:lnSpc>
                <a:spcPct val="116300"/>
              </a:lnSpc>
              <a:tabLst>
                <a:tab pos="5285105" algn="l"/>
              </a:tabLst>
            </a:pPr>
            <a:r>
              <a:rPr sz="3600" b="1" i="1" spc="-254" dirty="0">
                <a:solidFill>
                  <a:srgbClr val="2E377E"/>
                </a:solidFill>
                <a:latin typeface="Times New Roman"/>
                <a:cs typeface="Times New Roman"/>
              </a:rPr>
              <a:t>TO</a:t>
            </a:r>
            <a:r>
              <a:rPr sz="3600" b="1" i="1" spc="-114" dirty="0">
                <a:solidFill>
                  <a:srgbClr val="2E377E"/>
                </a:solidFill>
                <a:latin typeface="Times New Roman"/>
                <a:cs typeface="Times New Roman"/>
              </a:rPr>
              <a:t> </a:t>
            </a:r>
            <a:r>
              <a:rPr sz="3600" b="1" i="1" spc="-395" dirty="0">
                <a:solidFill>
                  <a:srgbClr val="2E377E"/>
                </a:solidFill>
                <a:latin typeface="Times New Roman"/>
                <a:cs typeface="Times New Roman"/>
              </a:rPr>
              <a:t>DELETE</a:t>
            </a:r>
            <a:r>
              <a:rPr sz="3600" b="1" i="1" spc="-114" dirty="0">
                <a:solidFill>
                  <a:srgbClr val="2E377E"/>
                </a:solidFill>
                <a:latin typeface="Times New Roman"/>
                <a:cs typeface="Times New Roman"/>
              </a:rPr>
              <a:t> </a:t>
            </a:r>
            <a:r>
              <a:rPr sz="3600" b="1" i="1" spc="-25" dirty="0">
                <a:solidFill>
                  <a:srgbClr val="2E377E"/>
                </a:solidFill>
                <a:latin typeface="Times New Roman"/>
                <a:cs typeface="Times New Roman"/>
              </a:rPr>
              <a:t>RS</a:t>
            </a:r>
            <a:r>
              <a:rPr sz="3600" b="1" i="1" dirty="0">
                <a:solidFill>
                  <a:srgbClr val="2E377E"/>
                </a:solidFill>
                <a:latin typeface="Times New Roman"/>
                <a:cs typeface="Times New Roman"/>
              </a:rPr>
              <a:t>	</a:t>
            </a:r>
            <a:r>
              <a:rPr sz="3600" b="1" i="1" spc="-270" dirty="0">
                <a:solidFill>
                  <a:srgbClr val="2E377E"/>
                </a:solidFill>
                <a:latin typeface="Times New Roman"/>
                <a:cs typeface="Times New Roman"/>
              </a:rPr>
              <a:t>: </a:t>
            </a:r>
            <a:r>
              <a:rPr sz="3600" b="1" i="1" spc="-400" dirty="0">
                <a:solidFill>
                  <a:srgbClr val="2E377E"/>
                </a:solidFill>
                <a:latin typeface="Times New Roman"/>
                <a:cs typeface="Times New Roman"/>
              </a:rPr>
              <a:t>TO</a:t>
            </a:r>
            <a:r>
              <a:rPr sz="3600" b="1" i="1" spc="175" dirty="0">
                <a:solidFill>
                  <a:srgbClr val="2E377E"/>
                </a:solidFill>
                <a:latin typeface="Times New Roman"/>
                <a:cs typeface="Times New Roman"/>
              </a:rPr>
              <a:t> </a:t>
            </a:r>
            <a:r>
              <a:rPr sz="3600" b="1" i="1" spc="-105" dirty="0">
                <a:solidFill>
                  <a:srgbClr val="2E377E"/>
                </a:solidFill>
                <a:latin typeface="Times New Roman"/>
                <a:cs typeface="Times New Roman"/>
              </a:rPr>
              <a:t>SHOW</a:t>
            </a:r>
            <a:r>
              <a:rPr sz="3600" b="1" i="1" spc="-120" dirty="0">
                <a:solidFill>
                  <a:srgbClr val="2E377E"/>
                </a:solidFill>
                <a:latin typeface="Times New Roman"/>
                <a:cs typeface="Times New Roman"/>
              </a:rPr>
              <a:t> </a:t>
            </a:r>
            <a:r>
              <a:rPr sz="3600" b="1" i="1" spc="-350" dirty="0">
                <a:solidFill>
                  <a:srgbClr val="2E377E"/>
                </a:solidFill>
                <a:latin typeface="Times New Roman"/>
                <a:cs typeface="Times New Roman"/>
              </a:rPr>
              <a:t>LABLES</a:t>
            </a:r>
            <a:r>
              <a:rPr sz="3600" b="1" i="1" spc="125" dirty="0">
                <a:solidFill>
                  <a:srgbClr val="2E377E"/>
                </a:solidFill>
                <a:latin typeface="Times New Roman"/>
                <a:cs typeface="Times New Roman"/>
              </a:rPr>
              <a:t> </a:t>
            </a:r>
            <a:r>
              <a:rPr sz="3600" b="1" i="1" spc="-670" dirty="0">
                <a:solidFill>
                  <a:srgbClr val="2E377E"/>
                </a:solidFill>
                <a:latin typeface="Times New Roman"/>
                <a:cs typeface="Times New Roman"/>
              </a:rPr>
              <a:t>OF</a:t>
            </a:r>
            <a:r>
              <a:rPr sz="3600" b="1" i="1" spc="445" dirty="0">
                <a:solidFill>
                  <a:srgbClr val="2E377E"/>
                </a:solidFill>
                <a:latin typeface="Times New Roman"/>
                <a:cs typeface="Times New Roman"/>
              </a:rPr>
              <a:t> </a:t>
            </a:r>
            <a:r>
              <a:rPr sz="3600" b="1" i="1" dirty="0">
                <a:solidFill>
                  <a:srgbClr val="2E377E"/>
                </a:solidFill>
                <a:latin typeface="Times New Roman"/>
                <a:cs typeface="Times New Roman"/>
              </a:rPr>
              <a:t>RS</a:t>
            </a:r>
            <a:r>
              <a:rPr sz="3600" b="1" i="1" spc="570" dirty="0">
                <a:solidFill>
                  <a:srgbClr val="2E377E"/>
                </a:solidFill>
                <a:latin typeface="Times New Roman"/>
                <a:cs typeface="Times New Roman"/>
              </a:rPr>
              <a:t>  </a:t>
            </a:r>
            <a:r>
              <a:rPr sz="3600" b="1" i="1" spc="-50" dirty="0">
                <a:solidFill>
                  <a:srgbClr val="2E377E"/>
                </a:solidFill>
                <a:latin typeface="Times New Roman"/>
                <a:cs typeface="Times New Roman"/>
              </a:rPr>
              <a:t>: </a:t>
            </a:r>
            <a:r>
              <a:rPr sz="3600" b="1" i="1" spc="-254" dirty="0">
                <a:solidFill>
                  <a:srgbClr val="2E377E"/>
                </a:solidFill>
                <a:latin typeface="Times New Roman"/>
                <a:cs typeface="Times New Roman"/>
              </a:rPr>
              <a:t>TO</a:t>
            </a:r>
            <a:r>
              <a:rPr sz="3600" b="1" i="1" spc="-125" dirty="0">
                <a:solidFill>
                  <a:srgbClr val="2E377E"/>
                </a:solidFill>
                <a:latin typeface="Times New Roman"/>
                <a:cs typeface="Times New Roman"/>
              </a:rPr>
              <a:t> </a:t>
            </a:r>
            <a:r>
              <a:rPr sz="3600" b="1" i="1" spc="-105" dirty="0">
                <a:solidFill>
                  <a:srgbClr val="2E377E"/>
                </a:solidFill>
                <a:latin typeface="Times New Roman"/>
                <a:cs typeface="Times New Roman"/>
              </a:rPr>
              <a:t>SHOW</a:t>
            </a:r>
            <a:r>
              <a:rPr sz="3600" b="1" i="1" spc="-125" dirty="0">
                <a:solidFill>
                  <a:srgbClr val="2E377E"/>
                </a:solidFill>
                <a:latin typeface="Times New Roman"/>
                <a:cs typeface="Times New Roman"/>
              </a:rPr>
              <a:t> </a:t>
            </a:r>
            <a:r>
              <a:rPr sz="3600" b="1" i="1" spc="-229" dirty="0">
                <a:solidFill>
                  <a:srgbClr val="2E377E"/>
                </a:solidFill>
                <a:latin typeface="Times New Roman"/>
                <a:cs typeface="Times New Roman"/>
              </a:rPr>
              <a:t>POD</a:t>
            </a:r>
            <a:r>
              <a:rPr sz="3600" b="1" i="1" spc="-125" dirty="0">
                <a:solidFill>
                  <a:srgbClr val="2E377E"/>
                </a:solidFill>
                <a:latin typeface="Times New Roman"/>
                <a:cs typeface="Times New Roman"/>
              </a:rPr>
              <a:t> </a:t>
            </a:r>
            <a:r>
              <a:rPr sz="3600" b="1" i="1" spc="-240" dirty="0">
                <a:solidFill>
                  <a:srgbClr val="2E377E"/>
                </a:solidFill>
                <a:latin typeface="Times New Roman"/>
                <a:cs typeface="Times New Roman"/>
              </a:rPr>
              <a:t>IN</a:t>
            </a:r>
            <a:r>
              <a:rPr sz="3600" b="1" i="1" spc="-125" dirty="0">
                <a:solidFill>
                  <a:srgbClr val="2E377E"/>
                </a:solidFill>
                <a:latin typeface="Times New Roman"/>
                <a:cs typeface="Times New Roman"/>
              </a:rPr>
              <a:t> </a:t>
            </a:r>
            <a:r>
              <a:rPr sz="3600" b="1" i="1" dirty="0">
                <a:solidFill>
                  <a:srgbClr val="2E377E"/>
                </a:solidFill>
                <a:latin typeface="Times New Roman"/>
                <a:cs typeface="Times New Roman"/>
              </a:rPr>
              <a:t>YAML</a:t>
            </a:r>
            <a:r>
              <a:rPr sz="3600" b="1" i="1" spc="590" dirty="0">
                <a:solidFill>
                  <a:srgbClr val="2E377E"/>
                </a:solidFill>
                <a:latin typeface="Times New Roman"/>
                <a:cs typeface="Times New Roman"/>
              </a:rPr>
              <a:t>  </a:t>
            </a:r>
            <a:r>
              <a:rPr sz="3600" b="1" i="1" spc="-50" dirty="0">
                <a:solidFill>
                  <a:srgbClr val="2E377E"/>
                </a:solidFill>
                <a:latin typeface="Times New Roman"/>
                <a:cs typeface="Times New Roman"/>
              </a:rPr>
              <a:t>:</a:t>
            </a:r>
            <a:endParaRPr sz="3600">
              <a:latin typeface="Times New Roman"/>
              <a:cs typeface="Times New Roman"/>
            </a:endParaRPr>
          </a:p>
        </p:txBody>
      </p:sp>
      <p:sp>
        <p:nvSpPr>
          <p:cNvPr id="7" name="object 7"/>
          <p:cNvSpPr txBox="1"/>
          <p:nvPr/>
        </p:nvSpPr>
        <p:spPr>
          <a:xfrm>
            <a:off x="1016000" y="5617345"/>
            <a:ext cx="13250544" cy="574040"/>
          </a:xfrm>
          <a:prstGeom prst="rect">
            <a:avLst/>
          </a:prstGeom>
        </p:spPr>
        <p:txBody>
          <a:bodyPr vert="horz" wrap="square" lIns="0" tIns="12700" rIns="0" bIns="0" rtlCol="0">
            <a:spAutoFit/>
          </a:bodyPr>
          <a:lstStyle/>
          <a:p>
            <a:pPr marL="12700">
              <a:lnSpc>
                <a:spcPct val="100000"/>
              </a:lnSpc>
              <a:spcBef>
                <a:spcPts val="100"/>
              </a:spcBef>
            </a:pPr>
            <a:r>
              <a:rPr sz="3600" b="1" i="1" spc="195" dirty="0">
                <a:solidFill>
                  <a:srgbClr val="2E377E"/>
                </a:solidFill>
                <a:latin typeface="Times New Roman"/>
                <a:cs typeface="Times New Roman"/>
              </a:rPr>
              <a:t>Now</a:t>
            </a:r>
            <a:r>
              <a:rPr sz="3600" b="1" i="1" spc="-120" dirty="0">
                <a:solidFill>
                  <a:srgbClr val="2E377E"/>
                </a:solidFill>
                <a:latin typeface="Times New Roman"/>
                <a:cs typeface="Times New Roman"/>
              </a:rPr>
              <a:t> </a:t>
            </a:r>
            <a:r>
              <a:rPr sz="3600" b="1" i="1" spc="210" dirty="0">
                <a:solidFill>
                  <a:srgbClr val="2E377E"/>
                </a:solidFill>
                <a:latin typeface="Times New Roman"/>
                <a:cs typeface="Times New Roman"/>
              </a:rPr>
              <a:t>delete</a:t>
            </a:r>
            <a:r>
              <a:rPr sz="3600" b="1" i="1" spc="-120" dirty="0">
                <a:solidFill>
                  <a:srgbClr val="2E377E"/>
                </a:solidFill>
                <a:latin typeface="Times New Roman"/>
                <a:cs typeface="Times New Roman"/>
              </a:rPr>
              <a:t> </a:t>
            </a:r>
            <a:r>
              <a:rPr sz="3600" b="1" i="1" spc="195" dirty="0">
                <a:solidFill>
                  <a:srgbClr val="2E377E"/>
                </a:solidFill>
                <a:latin typeface="Times New Roman"/>
                <a:cs typeface="Times New Roman"/>
              </a:rPr>
              <a:t>a</a:t>
            </a:r>
            <a:r>
              <a:rPr sz="3600" b="1" i="1" spc="-114" dirty="0">
                <a:solidFill>
                  <a:srgbClr val="2E377E"/>
                </a:solidFill>
                <a:latin typeface="Times New Roman"/>
                <a:cs typeface="Times New Roman"/>
              </a:rPr>
              <a:t> </a:t>
            </a:r>
            <a:r>
              <a:rPr sz="3600" b="1" i="1" spc="240" dirty="0">
                <a:solidFill>
                  <a:srgbClr val="2E377E"/>
                </a:solidFill>
                <a:latin typeface="Times New Roman"/>
                <a:cs typeface="Times New Roman"/>
              </a:rPr>
              <a:t>pod</a:t>
            </a:r>
            <a:r>
              <a:rPr sz="3600" b="1" i="1" spc="-120" dirty="0">
                <a:solidFill>
                  <a:srgbClr val="2E377E"/>
                </a:solidFill>
                <a:latin typeface="Times New Roman"/>
                <a:cs typeface="Times New Roman"/>
              </a:rPr>
              <a:t> </a:t>
            </a:r>
            <a:r>
              <a:rPr sz="3600" b="1" i="1" spc="180" dirty="0">
                <a:solidFill>
                  <a:srgbClr val="2E377E"/>
                </a:solidFill>
                <a:latin typeface="Times New Roman"/>
                <a:cs typeface="Times New Roman"/>
              </a:rPr>
              <a:t>and</a:t>
            </a:r>
            <a:r>
              <a:rPr sz="3600" b="1" i="1" spc="-120" dirty="0">
                <a:solidFill>
                  <a:srgbClr val="2E377E"/>
                </a:solidFill>
                <a:latin typeface="Times New Roman"/>
                <a:cs typeface="Times New Roman"/>
              </a:rPr>
              <a:t> </a:t>
            </a:r>
            <a:r>
              <a:rPr sz="3600" b="1" i="1" spc="229" dirty="0">
                <a:solidFill>
                  <a:srgbClr val="2E377E"/>
                </a:solidFill>
                <a:latin typeface="Times New Roman"/>
                <a:cs typeface="Times New Roman"/>
              </a:rPr>
              <a:t>do</a:t>
            </a:r>
            <a:r>
              <a:rPr sz="3600" b="1" i="1" spc="-114" dirty="0">
                <a:solidFill>
                  <a:srgbClr val="2E377E"/>
                </a:solidFill>
                <a:latin typeface="Times New Roman"/>
                <a:cs typeface="Times New Roman"/>
              </a:rPr>
              <a:t> </a:t>
            </a:r>
            <a:r>
              <a:rPr sz="3600" b="1" i="1" spc="125" dirty="0">
                <a:solidFill>
                  <a:srgbClr val="2E377E"/>
                </a:solidFill>
                <a:latin typeface="Times New Roman"/>
                <a:cs typeface="Times New Roman"/>
              </a:rPr>
              <a:t>list</a:t>
            </a:r>
            <a:r>
              <a:rPr sz="3600" b="1" i="1" spc="-120" dirty="0">
                <a:solidFill>
                  <a:srgbClr val="2E377E"/>
                </a:solidFill>
                <a:latin typeface="Times New Roman"/>
                <a:cs typeface="Times New Roman"/>
              </a:rPr>
              <a:t> </a:t>
            </a:r>
            <a:r>
              <a:rPr sz="3600" b="1" i="1" spc="260" dirty="0">
                <a:solidFill>
                  <a:srgbClr val="2E377E"/>
                </a:solidFill>
                <a:latin typeface="Times New Roman"/>
                <a:cs typeface="Times New Roman"/>
              </a:rPr>
              <a:t>now</a:t>
            </a:r>
            <a:r>
              <a:rPr sz="3600" b="1" i="1" spc="-120" dirty="0">
                <a:solidFill>
                  <a:srgbClr val="2E377E"/>
                </a:solidFill>
                <a:latin typeface="Times New Roman"/>
                <a:cs typeface="Times New Roman"/>
              </a:rPr>
              <a:t> </a:t>
            </a:r>
            <a:r>
              <a:rPr sz="3600" b="1" i="1" spc="100" dirty="0">
                <a:solidFill>
                  <a:srgbClr val="2E377E"/>
                </a:solidFill>
                <a:latin typeface="Times New Roman"/>
                <a:cs typeface="Times New Roman"/>
              </a:rPr>
              <a:t>it</a:t>
            </a:r>
            <a:r>
              <a:rPr sz="3600" b="1" i="1" spc="-114" dirty="0">
                <a:solidFill>
                  <a:srgbClr val="2E377E"/>
                </a:solidFill>
                <a:latin typeface="Times New Roman"/>
                <a:cs typeface="Times New Roman"/>
              </a:rPr>
              <a:t> </a:t>
            </a:r>
            <a:r>
              <a:rPr sz="3600" b="1" i="1" spc="120" dirty="0">
                <a:solidFill>
                  <a:srgbClr val="2E377E"/>
                </a:solidFill>
                <a:latin typeface="Times New Roman"/>
                <a:cs typeface="Times New Roman"/>
              </a:rPr>
              <a:t>will</a:t>
            </a:r>
            <a:r>
              <a:rPr sz="3600" b="1" i="1" spc="-120" dirty="0">
                <a:solidFill>
                  <a:srgbClr val="2E377E"/>
                </a:solidFill>
                <a:latin typeface="Times New Roman"/>
                <a:cs typeface="Times New Roman"/>
              </a:rPr>
              <a:t> </a:t>
            </a:r>
            <a:r>
              <a:rPr sz="3600" b="1" i="1" spc="204" dirty="0">
                <a:solidFill>
                  <a:srgbClr val="2E377E"/>
                </a:solidFill>
                <a:latin typeface="Times New Roman"/>
                <a:cs typeface="Times New Roman"/>
              </a:rPr>
              <a:t>be</a:t>
            </a:r>
            <a:r>
              <a:rPr sz="3600" b="1" i="1" spc="-120" dirty="0">
                <a:solidFill>
                  <a:srgbClr val="2E377E"/>
                </a:solidFill>
                <a:latin typeface="Times New Roman"/>
                <a:cs typeface="Times New Roman"/>
              </a:rPr>
              <a:t> </a:t>
            </a:r>
            <a:r>
              <a:rPr sz="3600" b="1" i="1" spc="240" dirty="0">
                <a:solidFill>
                  <a:srgbClr val="2E377E"/>
                </a:solidFill>
                <a:latin typeface="Times New Roman"/>
                <a:cs typeface="Times New Roman"/>
              </a:rPr>
              <a:t>created</a:t>
            </a:r>
            <a:r>
              <a:rPr sz="3600" b="1" i="1" spc="-114" dirty="0">
                <a:solidFill>
                  <a:srgbClr val="2E377E"/>
                </a:solidFill>
                <a:latin typeface="Times New Roman"/>
                <a:cs typeface="Times New Roman"/>
              </a:rPr>
              <a:t> </a:t>
            </a:r>
            <a:r>
              <a:rPr sz="3600" b="1" i="1" spc="160" dirty="0">
                <a:solidFill>
                  <a:srgbClr val="2E377E"/>
                </a:solidFill>
                <a:latin typeface="Times New Roman"/>
                <a:cs typeface="Times New Roman"/>
              </a:rPr>
              <a:t>automatically</a:t>
            </a:r>
            <a:endParaRPr sz="3600">
              <a:latin typeface="Times New Roman"/>
              <a:cs typeface="Times New Roman"/>
            </a:endParaRPr>
          </a:p>
        </p:txBody>
      </p:sp>
      <p:sp>
        <p:nvSpPr>
          <p:cNvPr id="8" name="object 8"/>
          <p:cNvSpPr txBox="1"/>
          <p:nvPr/>
        </p:nvSpPr>
        <p:spPr>
          <a:xfrm>
            <a:off x="7252251" y="6664134"/>
            <a:ext cx="5967095" cy="2578100"/>
          </a:xfrm>
          <a:prstGeom prst="rect">
            <a:avLst/>
          </a:prstGeom>
        </p:spPr>
        <p:txBody>
          <a:bodyPr vert="horz" wrap="square" lIns="0" tIns="12700" rIns="0" bIns="0" rtlCol="0">
            <a:spAutoFit/>
          </a:bodyPr>
          <a:lstStyle/>
          <a:p>
            <a:pPr marL="12700" marR="5080">
              <a:lnSpc>
                <a:spcPct val="116300"/>
              </a:lnSpc>
              <a:spcBef>
                <a:spcPts val="100"/>
              </a:spcBef>
            </a:pPr>
            <a:r>
              <a:rPr sz="3600" spc="45" dirty="0">
                <a:solidFill>
                  <a:srgbClr val="FF3131"/>
                </a:solidFill>
                <a:latin typeface="Georgia"/>
                <a:cs typeface="Georgia"/>
              </a:rPr>
              <a:t>Kubectl</a:t>
            </a:r>
            <a:r>
              <a:rPr sz="3600" spc="30" dirty="0">
                <a:solidFill>
                  <a:srgbClr val="FF3131"/>
                </a:solidFill>
                <a:latin typeface="Georgia"/>
                <a:cs typeface="Georgia"/>
              </a:rPr>
              <a:t> </a:t>
            </a:r>
            <a:r>
              <a:rPr sz="3600" spc="55" dirty="0">
                <a:solidFill>
                  <a:srgbClr val="FF3131"/>
                </a:solidFill>
                <a:latin typeface="Georgia"/>
                <a:cs typeface="Georgia"/>
              </a:rPr>
              <a:t>delete</a:t>
            </a:r>
            <a:r>
              <a:rPr sz="3600" spc="35" dirty="0">
                <a:solidFill>
                  <a:srgbClr val="FF3131"/>
                </a:solidFill>
                <a:latin typeface="Georgia"/>
                <a:cs typeface="Georgia"/>
              </a:rPr>
              <a:t> </a:t>
            </a:r>
            <a:r>
              <a:rPr sz="3600" dirty="0">
                <a:solidFill>
                  <a:srgbClr val="FF3131"/>
                </a:solidFill>
                <a:latin typeface="Georgia"/>
                <a:cs typeface="Georgia"/>
              </a:rPr>
              <a:t>po</a:t>
            </a:r>
            <a:r>
              <a:rPr sz="3600" spc="30" dirty="0">
                <a:solidFill>
                  <a:srgbClr val="FF3131"/>
                </a:solidFill>
                <a:latin typeface="Georgia"/>
                <a:cs typeface="Georgia"/>
              </a:rPr>
              <a:t> </a:t>
            </a:r>
            <a:r>
              <a:rPr sz="3600" spc="-10" dirty="0">
                <a:solidFill>
                  <a:srgbClr val="FF3131"/>
                </a:solidFill>
                <a:latin typeface="Georgia"/>
                <a:cs typeface="Georgia"/>
              </a:rPr>
              <a:t>pod_name </a:t>
            </a:r>
            <a:r>
              <a:rPr sz="3600" spc="60" dirty="0">
                <a:solidFill>
                  <a:srgbClr val="FF3131"/>
                </a:solidFill>
                <a:latin typeface="Georgia"/>
                <a:cs typeface="Georgia"/>
              </a:rPr>
              <a:t>kubectl</a:t>
            </a:r>
            <a:r>
              <a:rPr sz="3600" spc="-55" dirty="0">
                <a:solidFill>
                  <a:srgbClr val="FF3131"/>
                </a:solidFill>
                <a:latin typeface="Georgia"/>
                <a:cs typeface="Georgia"/>
              </a:rPr>
              <a:t> </a:t>
            </a:r>
            <a:r>
              <a:rPr sz="3600" spc="55" dirty="0">
                <a:solidFill>
                  <a:srgbClr val="FF3131"/>
                </a:solidFill>
                <a:latin typeface="Georgia"/>
                <a:cs typeface="Georgia"/>
              </a:rPr>
              <a:t>delete</a:t>
            </a:r>
            <a:r>
              <a:rPr sz="3600" spc="-50" dirty="0">
                <a:solidFill>
                  <a:srgbClr val="FF3131"/>
                </a:solidFill>
                <a:latin typeface="Georgia"/>
                <a:cs typeface="Georgia"/>
              </a:rPr>
              <a:t> </a:t>
            </a:r>
            <a:r>
              <a:rPr sz="3600" spc="-25" dirty="0">
                <a:solidFill>
                  <a:srgbClr val="FF3131"/>
                </a:solidFill>
                <a:latin typeface="Georgia"/>
                <a:cs typeface="Georgia"/>
              </a:rPr>
              <a:t>rs</a:t>
            </a:r>
            <a:endParaRPr sz="3600">
              <a:latin typeface="Georgia"/>
              <a:cs typeface="Georgia"/>
            </a:endParaRPr>
          </a:p>
          <a:p>
            <a:pPr marL="12700" marR="5080">
              <a:lnSpc>
                <a:spcPct val="116300"/>
              </a:lnSpc>
            </a:pPr>
            <a:r>
              <a:rPr sz="3600" spc="45" dirty="0">
                <a:solidFill>
                  <a:srgbClr val="FF3131"/>
                </a:solidFill>
                <a:latin typeface="Georgia"/>
                <a:cs typeface="Georgia"/>
              </a:rPr>
              <a:t>Kubectl</a:t>
            </a:r>
            <a:r>
              <a:rPr sz="3600" spc="425" dirty="0">
                <a:solidFill>
                  <a:srgbClr val="FF3131"/>
                </a:solidFill>
                <a:latin typeface="Georgia"/>
                <a:cs typeface="Georgia"/>
              </a:rPr>
              <a:t> </a:t>
            </a:r>
            <a:r>
              <a:rPr sz="3600" spc="75" dirty="0">
                <a:solidFill>
                  <a:srgbClr val="FF3131"/>
                </a:solidFill>
                <a:latin typeface="Georgia"/>
                <a:cs typeface="Georgia"/>
              </a:rPr>
              <a:t>get</a:t>
            </a:r>
            <a:r>
              <a:rPr sz="3600" spc="425" dirty="0">
                <a:solidFill>
                  <a:srgbClr val="FF3131"/>
                </a:solidFill>
                <a:latin typeface="Georgia"/>
                <a:cs typeface="Georgia"/>
              </a:rPr>
              <a:t> </a:t>
            </a:r>
            <a:r>
              <a:rPr sz="3600" dirty="0">
                <a:solidFill>
                  <a:srgbClr val="FF3131"/>
                </a:solidFill>
                <a:latin typeface="Georgia"/>
                <a:cs typeface="Georgia"/>
              </a:rPr>
              <a:t>po</a:t>
            </a:r>
            <a:r>
              <a:rPr sz="3600" spc="425" dirty="0">
                <a:solidFill>
                  <a:srgbClr val="FF3131"/>
                </a:solidFill>
                <a:latin typeface="Georgia"/>
                <a:cs typeface="Georgia"/>
              </a:rPr>
              <a:t> </a:t>
            </a:r>
            <a:r>
              <a:rPr sz="3600" spc="-10" dirty="0">
                <a:solidFill>
                  <a:srgbClr val="FF3131"/>
                </a:solidFill>
                <a:latin typeface="Georgia"/>
                <a:cs typeface="Georgia"/>
              </a:rPr>
              <a:t>–show-labels </a:t>
            </a:r>
            <a:r>
              <a:rPr sz="3600" spc="45" dirty="0">
                <a:solidFill>
                  <a:srgbClr val="FF3131"/>
                </a:solidFill>
                <a:latin typeface="Georgia"/>
                <a:cs typeface="Georgia"/>
              </a:rPr>
              <a:t>Kubectl</a:t>
            </a:r>
            <a:r>
              <a:rPr sz="3600" spc="-45" dirty="0">
                <a:solidFill>
                  <a:srgbClr val="FF3131"/>
                </a:solidFill>
                <a:latin typeface="Georgia"/>
                <a:cs typeface="Georgia"/>
              </a:rPr>
              <a:t> </a:t>
            </a:r>
            <a:r>
              <a:rPr sz="3600" spc="75" dirty="0">
                <a:solidFill>
                  <a:srgbClr val="FF3131"/>
                </a:solidFill>
                <a:latin typeface="Georgia"/>
                <a:cs typeface="Georgia"/>
              </a:rPr>
              <a:t>get</a:t>
            </a:r>
            <a:r>
              <a:rPr sz="3600" spc="-40" dirty="0">
                <a:solidFill>
                  <a:srgbClr val="FF3131"/>
                </a:solidFill>
                <a:latin typeface="Georgia"/>
                <a:cs typeface="Georgia"/>
              </a:rPr>
              <a:t> </a:t>
            </a:r>
            <a:r>
              <a:rPr sz="3600" dirty="0">
                <a:solidFill>
                  <a:srgbClr val="FF3131"/>
                </a:solidFill>
                <a:latin typeface="Georgia"/>
                <a:cs typeface="Georgia"/>
              </a:rPr>
              <a:t>pod</a:t>
            </a:r>
            <a:r>
              <a:rPr sz="3600" spc="-40" dirty="0">
                <a:solidFill>
                  <a:srgbClr val="FF3131"/>
                </a:solidFill>
                <a:latin typeface="Georgia"/>
                <a:cs typeface="Georgia"/>
              </a:rPr>
              <a:t> </a:t>
            </a:r>
            <a:r>
              <a:rPr sz="3600" dirty="0">
                <a:solidFill>
                  <a:srgbClr val="FF3131"/>
                </a:solidFill>
                <a:latin typeface="Georgia"/>
                <a:cs typeface="Georgia"/>
              </a:rPr>
              <a:t>-o</a:t>
            </a:r>
            <a:r>
              <a:rPr sz="3600" spc="-40" dirty="0">
                <a:solidFill>
                  <a:srgbClr val="FF3131"/>
                </a:solidFill>
                <a:latin typeface="Georgia"/>
                <a:cs typeface="Georgia"/>
              </a:rPr>
              <a:t> </a:t>
            </a:r>
            <a:r>
              <a:rPr sz="3600" spc="30" dirty="0">
                <a:solidFill>
                  <a:srgbClr val="FF3131"/>
                </a:solidFill>
                <a:latin typeface="Georgia"/>
                <a:cs typeface="Georgia"/>
              </a:rPr>
              <a:t>yaml</a:t>
            </a:r>
            <a:endParaRPr sz="3600">
              <a:latin typeface="Georgia"/>
              <a:cs typeface="Georgia"/>
            </a:endParaRPr>
          </a:p>
        </p:txBody>
      </p:sp>
      <p:sp>
        <p:nvSpPr>
          <p:cNvPr id="9" name="object 9"/>
          <p:cNvSpPr txBox="1"/>
          <p:nvPr/>
        </p:nvSpPr>
        <p:spPr>
          <a:xfrm>
            <a:off x="6782034" y="1374853"/>
            <a:ext cx="8060055" cy="3216275"/>
          </a:xfrm>
          <a:prstGeom prst="rect">
            <a:avLst/>
          </a:prstGeom>
        </p:spPr>
        <p:txBody>
          <a:bodyPr vert="horz" wrap="square" lIns="0" tIns="12700" rIns="0" bIns="0" rtlCol="0">
            <a:spAutoFit/>
          </a:bodyPr>
          <a:lstStyle/>
          <a:p>
            <a:pPr marL="12700" marR="5080" algn="just">
              <a:lnSpc>
                <a:spcPct val="116300"/>
              </a:lnSpc>
              <a:spcBef>
                <a:spcPts val="100"/>
              </a:spcBef>
            </a:pPr>
            <a:r>
              <a:rPr sz="3600" spc="60" dirty="0">
                <a:solidFill>
                  <a:srgbClr val="FF3131"/>
                </a:solidFill>
                <a:latin typeface="Georgia"/>
                <a:cs typeface="Georgia"/>
              </a:rPr>
              <a:t>kubectl</a:t>
            </a:r>
            <a:r>
              <a:rPr sz="3600" spc="380" dirty="0">
                <a:solidFill>
                  <a:srgbClr val="FF3131"/>
                </a:solidFill>
                <a:latin typeface="Georgia"/>
                <a:cs typeface="Georgia"/>
              </a:rPr>
              <a:t> </a:t>
            </a:r>
            <a:r>
              <a:rPr sz="3600" spc="55" dirty="0">
                <a:solidFill>
                  <a:srgbClr val="FF3131"/>
                </a:solidFill>
                <a:latin typeface="Georgia"/>
                <a:cs typeface="Georgia"/>
              </a:rPr>
              <a:t>create</a:t>
            </a:r>
            <a:r>
              <a:rPr sz="3600" spc="380" dirty="0">
                <a:solidFill>
                  <a:srgbClr val="FF3131"/>
                </a:solidFill>
                <a:latin typeface="Georgia"/>
                <a:cs typeface="Georgia"/>
              </a:rPr>
              <a:t> </a:t>
            </a:r>
            <a:r>
              <a:rPr sz="3600" dirty="0">
                <a:solidFill>
                  <a:srgbClr val="FF3131"/>
                </a:solidFill>
                <a:latin typeface="Georgia"/>
                <a:cs typeface="Georgia"/>
              </a:rPr>
              <a:t>-</a:t>
            </a:r>
            <a:r>
              <a:rPr sz="3600" spc="55" dirty="0">
                <a:solidFill>
                  <a:srgbClr val="FF3131"/>
                </a:solidFill>
                <a:latin typeface="Georgia"/>
                <a:cs typeface="Georgia"/>
              </a:rPr>
              <a:t>f</a:t>
            </a:r>
            <a:r>
              <a:rPr sz="3600" spc="385" dirty="0">
                <a:solidFill>
                  <a:srgbClr val="FF3131"/>
                </a:solidFill>
                <a:latin typeface="Georgia"/>
                <a:cs typeface="Georgia"/>
              </a:rPr>
              <a:t> </a:t>
            </a:r>
            <a:r>
              <a:rPr sz="3600" dirty="0">
                <a:solidFill>
                  <a:srgbClr val="FF3131"/>
                </a:solidFill>
                <a:latin typeface="Georgia"/>
                <a:cs typeface="Georgia"/>
              </a:rPr>
              <a:t>replicaset-</a:t>
            </a:r>
            <a:r>
              <a:rPr sz="3600" spc="-10" dirty="0">
                <a:solidFill>
                  <a:srgbClr val="FF3131"/>
                </a:solidFill>
                <a:latin typeface="Georgia"/>
                <a:cs typeface="Georgia"/>
              </a:rPr>
              <a:t>nginx.yaml </a:t>
            </a:r>
            <a:r>
              <a:rPr sz="3600" spc="60" dirty="0">
                <a:solidFill>
                  <a:srgbClr val="FF3131"/>
                </a:solidFill>
                <a:latin typeface="Georgia"/>
                <a:cs typeface="Georgia"/>
              </a:rPr>
              <a:t>kubectl</a:t>
            </a:r>
            <a:r>
              <a:rPr sz="3600" spc="-60" dirty="0">
                <a:solidFill>
                  <a:srgbClr val="FF3131"/>
                </a:solidFill>
                <a:latin typeface="Georgia"/>
                <a:cs typeface="Georgia"/>
              </a:rPr>
              <a:t> </a:t>
            </a:r>
            <a:r>
              <a:rPr sz="3600" spc="75" dirty="0">
                <a:solidFill>
                  <a:srgbClr val="FF3131"/>
                </a:solidFill>
                <a:latin typeface="Georgia"/>
                <a:cs typeface="Georgia"/>
              </a:rPr>
              <a:t>get</a:t>
            </a:r>
            <a:r>
              <a:rPr sz="3600" spc="-60" dirty="0">
                <a:solidFill>
                  <a:srgbClr val="FF3131"/>
                </a:solidFill>
                <a:latin typeface="Georgia"/>
                <a:cs typeface="Georgia"/>
              </a:rPr>
              <a:t> </a:t>
            </a:r>
            <a:r>
              <a:rPr sz="3600" spc="-10" dirty="0">
                <a:solidFill>
                  <a:srgbClr val="FF3131"/>
                </a:solidFill>
                <a:latin typeface="Georgia"/>
                <a:cs typeface="Georgia"/>
              </a:rPr>
              <a:t>replicaset/rs</a:t>
            </a:r>
            <a:endParaRPr sz="3600">
              <a:latin typeface="Georgia"/>
              <a:cs typeface="Georgia"/>
            </a:endParaRPr>
          </a:p>
          <a:p>
            <a:pPr marL="12700" marR="3605529" algn="just">
              <a:lnSpc>
                <a:spcPct val="116300"/>
              </a:lnSpc>
            </a:pPr>
            <a:r>
              <a:rPr sz="3600" spc="60" dirty="0">
                <a:solidFill>
                  <a:srgbClr val="FF3131"/>
                </a:solidFill>
                <a:latin typeface="Georgia"/>
                <a:cs typeface="Georgia"/>
              </a:rPr>
              <a:t>kubectl</a:t>
            </a:r>
            <a:r>
              <a:rPr sz="3600" spc="-35" dirty="0">
                <a:solidFill>
                  <a:srgbClr val="FF3131"/>
                </a:solidFill>
                <a:latin typeface="Georgia"/>
                <a:cs typeface="Georgia"/>
              </a:rPr>
              <a:t> </a:t>
            </a:r>
            <a:r>
              <a:rPr sz="3600" spc="75" dirty="0">
                <a:solidFill>
                  <a:srgbClr val="FF3131"/>
                </a:solidFill>
                <a:latin typeface="Georgia"/>
                <a:cs typeface="Georgia"/>
              </a:rPr>
              <a:t>get</a:t>
            </a:r>
            <a:r>
              <a:rPr sz="3600" spc="-35" dirty="0">
                <a:solidFill>
                  <a:srgbClr val="FF3131"/>
                </a:solidFill>
                <a:latin typeface="Georgia"/>
                <a:cs typeface="Georgia"/>
              </a:rPr>
              <a:t> </a:t>
            </a:r>
            <a:r>
              <a:rPr sz="3600" dirty="0">
                <a:solidFill>
                  <a:srgbClr val="FF3131"/>
                </a:solidFill>
                <a:latin typeface="Georgia"/>
                <a:cs typeface="Georgia"/>
              </a:rPr>
              <a:t>rs</a:t>
            </a:r>
            <a:r>
              <a:rPr sz="3600" spc="-35" dirty="0">
                <a:solidFill>
                  <a:srgbClr val="FF3131"/>
                </a:solidFill>
                <a:latin typeface="Georgia"/>
                <a:cs typeface="Georgia"/>
              </a:rPr>
              <a:t> </a:t>
            </a:r>
            <a:r>
              <a:rPr sz="3600" dirty="0">
                <a:solidFill>
                  <a:srgbClr val="FF3131"/>
                </a:solidFill>
                <a:latin typeface="Georgia"/>
                <a:cs typeface="Georgia"/>
              </a:rPr>
              <a:t>-o</a:t>
            </a:r>
            <a:r>
              <a:rPr sz="3600" spc="-35" dirty="0">
                <a:solidFill>
                  <a:srgbClr val="FF3131"/>
                </a:solidFill>
                <a:latin typeface="Georgia"/>
                <a:cs typeface="Georgia"/>
              </a:rPr>
              <a:t> </a:t>
            </a:r>
            <a:r>
              <a:rPr sz="3600" spc="55" dirty="0">
                <a:solidFill>
                  <a:srgbClr val="FF3131"/>
                </a:solidFill>
                <a:latin typeface="Georgia"/>
                <a:cs typeface="Georgia"/>
              </a:rPr>
              <a:t>wide </a:t>
            </a:r>
            <a:r>
              <a:rPr sz="3600" spc="60" dirty="0">
                <a:solidFill>
                  <a:srgbClr val="FF3131"/>
                </a:solidFill>
                <a:latin typeface="Georgia"/>
                <a:cs typeface="Georgia"/>
              </a:rPr>
              <a:t>kubectl</a:t>
            </a:r>
            <a:r>
              <a:rPr sz="3600" spc="-35" dirty="0">
                <a:solidFill>
                  <a:srgbClr val="FF3131"/>
                </a:solidFill>
                <a:latin typeface="Georgia"/>
                <a:cs typeface="Georgia"/>
              </a:rPr>
              <a:t> </a:t>
            </a:r>
            <a:r>
              <a:rPr sz="3600" spc="75" dirty="0">
                <a:solidFill>
                  <a:srgbClr val="FF3131"/>
                </a:solidFill>
                <a:latin typeface="Georgia"/>
                <a:cs typeface="Georgia"/>
              </a:rPr>
              <a:t>get</a:t>
            </a:r>
            <a:r>
              <a:rPr sz="3600" spc="-35" dirty="0">
                <a:solidFill>
                  <a:srgbClr val="FF3131"/>
                </a:solidFill>
                <a:latin typeface="Georgia"/>
                <a:cs typeface="Georgia"/>
              </a:rPr>
              <a:t> </a:t>
            </a:r>
            <a:r>
              <a:rPr sz="3600" dirty="0">
                <a:solidFill>
                  <a:srgbClr val="FF3131"/>
                </a:solidFill>
                <a:latin typeface="Georgia"/>
                <a:cs typeface="Georgia"/>
              </a:rPr>
              <a:t>rs</a:t>
            </a:r>
            <a:r>
              <a:rPr sz="3600" spc="-35" dirty="0">
                <a:solidFill>
                  <a:srgbClr val="FF3131"/>
                </a:solidFill>
                <a:latin typeface="Georgia"/>
                <a:cs typeface="Georgia"/>
              </a:rPr>
              <a:t> </a:t>
            </a:r>
            <a:r>
              <a:rPr sz="3600" dirty="0">
                <a:solidFill>
                  <a:srgbClr val="FF3131"/>
                </a:solidFill>
                <a:latin typeface="Georgia"/>
                <a:cs typeface="Georgia"/>
              </a:rPr>
              <a:t>-o</a:t>
            </a:r>
            <a:r>
              <a:rPr sz="3600" spc="-35" dirty="0">
                <a:solidFill>
                  <a:srgbClr val="FF3131"/>
                </a:solidFill>
                <a:latin typeface="Georgia"/>
                <a:cs typeface="Georgia"/>
              </a:rPr>
              <a:t> </a:t>
            </a:r>
            <a:r>
              <a:rPr sz="3600" spc="30" dirty="0">
                <a:solidFill>
                  <a:srgbClr val="FF3131"/>
                </a:solidFill>
                <a:latin typeface="Georgia"/>
                <a:cs typeface="Georgia"/>
              </a:rPr>
              <a:t>yaml </a:t>
            </a:r>
            <a:r>
              <a:rPr sz="3600" spc="60" dirty="0">
                <a:solidFill>
                  <a:srgbClr val="FF3131"/>
                </a:solidFill>
                <a:latin typeface="Georgia"/>
                <a:cs typeface="Georgia"/>
              </a:rPr>
              <a:t>kubectl</a:t>
            </a:r>
            <a:r>
              <a:rPr sz="3600" spc="-60" dirty="0">
                <a:solidFill>
                  <a:srgbClr val="FF3131"/>
                </a:solidFill>
                <a:latin typeface="Georgia"/>
                <a:cs typeface="Georgia"/>
              </a:rPr>
              <a:t> </a:t>
            </a:r>
            <a:r>
              <a:rPr sz="3600" spc="75" dirty="0">
                <a:solidFill>
                  <a:srgbClr val="FF3131"/>
                </a:solidFill>
                <a:latin typeface="Georgia"/>
                <a:cs typeface="Georgia"/>
              </a:rPr>
              <a:t>get</a:t>
            </a:r>
            <a:r>
              <a:rPr sz="3600" spc="-60" dirty="0">
                <a:solidFill>
                  <a:srgbClr val="FF3131"/>
                </a:solidFill>
                <a:latin typeface="Georgia"/>
                <a:cs typeface="Georgia"/>
              </a:rPr>
              <a:t> </a:t>
            </a:r>
            <a:r>
              <a:rPr sz="3600" spc="-25" dirty="0">
                <a:solidFill>
                  <a:srgbClr val="FF3131"/>
                </a:solidFill>
                <a:latin typeface="Georgia"/>
                <a:cs typeface="Georgia"/>
              </a:rPr>
              <a:t>all</a:t>
            </a:r>
            <a:endParaRPr sz="3600">
              <a:latin typeface="Georgia"/>
              <a:cs typeface="Georgi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3381" y="830881"/>
            <a:ext cx="11890375" cy="1786889"/>
          </a:xfrm>
          <a:prstGeom prst="rect">
            <a:avLst/>
          </a:prstGeom>
        </p:spPr>
        <p:txBody>
          <a:bodyPr vert="horz" wrap="square" lIns="0" tIns="13335" rIns="0" bIns="0" rtlCol="0">
            <a:spAutoFit/>
          </a:bodyPr>
          <a:lstStyle/>
          <a:p>
            <a:pPr marL="12700">
              <a:lnSpc>
                <a:spcPct val="100000"/>
              </a:lnSpc>
              <a:spcBef>
                <a:spcPts val="105"/>
              </a:spcBef>
            </a:pPr>
            <a:r>
              <a:rPr sz="11550" spc="-700" dirty="0">
                <a:solidFill>
                  <a:srgbClr val="FF3131"/>
                </a:solidFill>
              </a:rPr>
              <a:t>THE</a:t>
            </a:r>
            <a:r>
              <a:rPr sz="11550" spc="-114" dirty="0">
                <a:solidFill>
                  <a:srgbClr val="FF3131"/>
                </a:solidFill>
              </a:rPr>
              <a:t> </a:t>
            </a:r>
            <a:r>
              <a:rPr sz="11550" spc="-195" dirty="0">
                <a:solidFill>
                  <a:srgbClr val="FF3131"/>
                </a:solidFill>
              </a:rPr>
              <a:t>DRAWBACK</a:t>
            </a:r>
            <a:endParaRPr sz="11550"/>
          </a:p>
        </p:txBody>
      </p:sp>
      <p:sp>
        <p:nvSpPr>
          <p:cNvPr id="3" name="object 3"/>
          <p:cNvSpPr txBox="1"/>
          <p:nvPr/>
        </p:nvSpPr>
        <p:spPr>
          <a:xfrm>
            <a:off x="962393" y="3261271"/>
            <a:ext cx="16683990" cy="5131435"/>
          </a:xfrm>
          <a:prstGeom prst="rect">
            <a:avLst/>
          </a:prstGeom>
        </p:spPr>
        <p:txBody>
          <a:bodyPr vert="horz" wrap="square" lIns="0" tIns="12700" rIns="0" bIns="0" rtlCol="0">
            <a:spAutoFit/>
          </a:bodyPr>
          <a:lstStyle/>
          <a:p>
            <a:pPr marL="12700" marR="1153795">
              <a:lnSpc>
                <a:spcPct val="116300"/>
              </a:lnSpc>
              <a:spcBef>
                <a:spcPts val="100"/>
              </a:spcBef>
            </a:pPr>
            <a:r>
              <a:rPr sz="3600" dirty="0">
                <a:solidFill>
                  <a:srgbClr val="2E377E"/>
                </a:solidFill>
                <a:latin typeface="Georgia"/>
                <a:cs typeface="Georgia"/>
              </a:rPr>
              <a:t>Here</a:t>
            </a:r>
            <a:r>
              <a:rPr sz="3600" spc="10" dirty="0">
                <a:solidFill>
                  <a:srgbClr val="2E377E"/>
                </a:solidFill>
                <a:latin typeface="Georgia"/>
                <a:cs typeface="Georgia"/>
              </a:rPr>
              <a:t> </a:t>
            </a:r>
            <a:r>
              <a:rPr sz="3600" dirty="0">
                <a:solidFill>
                  <a:srgbClr val="2E377E"/>
                </a:solidFill>
                <a:latin typeface="Georgia"/>
                <a:cs typeface="Georgia"/>
              </a:rPr>
              <a:t>Replica</a:t>
            </a:r>
            <a:r>
              <a:rPr sz="3600" spc="15" dirty="0">
                <a:solidFill>
                  <a:srgbClr val="2E377E"/>
                </a:solidFill>
                <a:latin typeface="Georgia"/>
                <a:cs typeface="Georgia"/>
              </a:rPr>
              <a:t> </a:t>
            </a:r>
            <a:r>
              <a:rPr sz="3600" spc="70" dirty="0">
                <a:solidFill>
                  <a:srgbClr val="2E377E"/>
                </a:solidFill>
                <a:latin typeface="Georgia"/>
                <a:cs typeface="Georgia"/>
              </a:rPr>
              <a:t>set</a:t>
            </a:r>
            <a:r>
              <a:rPr sz="3600" spc="10" dirty="0">
                <a:solidFill>
                  <a:srgbClr val="2E377E"/>
                </a:solidFill>
                <a:latin typeface="Georgia"/>
                <a:cs typeface="Georgia"/>
              </a:rPr>
              <a:t> </a:t>
            </a:r>
            <a:r>
              <a:rPr sz="3600" dirty="0">
                <a:solidFill>
                  <a:srgbClr val="2E377E"/>
                </a:solidFill>
                <a:latin typeface="Georgia"/>
                <a:cs typeface="Georgia"/>
              </a:rPr>
              <a:t>is</a:t>
            </a:r>
            <a:r>
              <a:rPr sz="3600" spc="15" dirty="0">
                <a:solidFill>
                  <a:srgbClr val="2E377E"/>
                </a:solidFill>
                <a:latin typeface="Georgia"/>
                <a:cs typeface="Georgia"/>
              </a:rPr>
              <a:t> </a:t>
            </a:r>
            <a:r>
              <a:rPr sz="3600" dirty="0">
                <a:solidFill>
                  <a:srgbClr val="2E377E"/>
                </a:solidFill>
                <a:latin typeface="Georgia"/>
                <a:cs typeface="Georgia"/>
              </a:rPr>
              <a:t>an</a:t>
            </a:r>
            <a:r>
              <a:rPr sz="3600" spc="10" dirty="0">
                <a:solidFill>
                  <a:srgbClr val="2E377E"/>
                </a:solidFill>
                <a:latin typeface="Georgia"/>
                <a:cs typeface="Georgia"/>
              </a:rPr>
              <a:t> </a:t>
            </a:r>
            <a:r>
              <a:rPr sz="3600" spc="65" dirty="0">
                <a:solidFill>
                  <a:srgbClr val="2E377E"/>
                </a:solidFill>
                <a:latin typeface="Georgia"/>
                <a:cs typeface="Georgia"/>
              </a:rPr>
              <a:t>lower</a:t>
            </a:r>
            <a:r>
              <a:rPr sz="3600" spc="15" dirty="0">
                <a:solidFill>
                  <a:srgbClr val="2E377E"/>
                </a:solidFill>
                <a:latin typeface="Georgia"/>
                <a:cs typeface="Georgia"/>
              </a:rPr>
              <a:t> </a:t>
            </a:r>
            <a:r>
              <a:rPr sz="3600" spc="60" dirty="0">
                <a:solidFill>
                  <a:srgbClr val="2E377E"/>
                </a:solidFill>
                <a:latin typeface="Georgia"/>
                <a:cs typeface="Georgia"/>
              </a:rPr>
              <a:t>level</a:t>
            </a:r>
            <a:r>
              <a:rPr sz="3600" spc="15" dirty="0">
                <a:solidFill>
                  <a:srgbClr val="2E377E"/>
                </a:solidFill>
                <a:latin typeface="Georgia"/>
                <a:cs typeface="Georgia"/>
              </a:rPr>
              <a:t> </a:t>
            </a:r>
            <a:r>
              <a:rPr sz="3600" dirty="0">
                <a:solidFill>
                  <a:srgbClr val="2E377E"/>
                </a:solidFill>
                <a:latin typeface="Georgia"/>
                <a:cs typeface="Georgia"/>
              </a:rPr>
              <a:t>object</a:t>
            </a:r>
            <a:r>
              <a:rPr sz="3600" spc="10" dirty="0">
                <a:solidFill>
                  <a:srgbClr val="2E377E"/>
                </a:solidFill>
                <a:latin typeface="Georgia"/>
                <a:cs typeface="Georgia"/>
              </a:rPr>
              <a:t> </a:t>
            </a:r>
            <a:r>
              <a:rPr sz="3600" spc="55" dirty="0">
                <a:solidFill>
                  <a:srgbClr val="2E377E"/>
                </a:solidFill>
                <a:latin typeface="Georgia"/>
                <a:cs typeface="Georgia"/>
              </a:rPr>
              <a:t>which</a:t>
            </a:r>
            <a:r>
              <a:rPr sz="3600" spc="15" dirty="0">
                <a:solidFill>
                  <a:srgbClr val="2E377E"/>
                </a:solidFill>
                <a:latin typeface="Georgia"/>
                <a:cs typeface="Georgia"/>
              </a:rPr>
              <a:t> </a:t>
            </a:r>
            <a:r>
              <a:rPr sz="3600" dirty="0">
                <a:solidFill>
                  <a:srgbClr val="2E377E"/>
                </a:solidFill>
                <a:latin typeface="Georgia"/>
                <a:cs typeface="Georgia"/>
              </a:rPr>
              <a:t>focus</a:t>
            </a:r>
            <a:r>
              <a:rPr sz="3600" spc="10" dirty="0">
                <a:solidFill>
                  <a:srgbClr val="2E377E"/>
                </a:solidFill>
                <a:latin typeface="Georgia"/>
                <a:cs typeface="Georgia"/>
              </a:rPr>
              <a:t> </a:t>
            </a:r>
            <a:r>
              <a:rPr sz="3600" dirty="0">
                <a:solidFill>
                  <a:srgbClr val="2E377E"/>
                </a:solidFill>
                <a:latin typeface="Georgia"/>
                <a:cs typeface="Georgia"/>
              </a:rPr>
              <a:t>on</a:t>
            </a:r>
            <a:r>
              <a:rPr sz="3600" spc="15" dirty="0">
                <a:solidFill>
                  <a:srgbClr val="2E377E"/>
                </a:solidFill>
                <a:latin typeface="Georgia"/>
                <a:cs typeface="Georgia"/>
              </a:rPr>
              <a:t> </a:t>
            </a:r>
            <a:r>
              <a:rPr sz="3600" dirty="0">
                <a:solidFill>
                  <a:srgbClr val="2E377E"/>
                </a:solidFill>
                <a:latin typeface="Georgia"/>
                <a:cs typeface="Georgia"/>
              </a:rPr>
              <a:t>maintaining</a:t>
            </a:r>
            <a:r>
              <a:rPr sz="3600" spc="15" dirty="0">
                <a:solidFill>
                  <a:srgbClr val="2E377E"/>
                </a:solidFill>
                <a:latin typeface="Georgia"/>
                <a:cs typeface="Georgia"/>
              </a:rPr>
              <a:t> </a:t>
            </a:r>
            <a:r>
              <a:rPr sz="3600" spc="-10" dirty="0">
                <a:solidFill>
                  <a:srgbClr val="2E377E"/>
                </a:solidFill>
                <a:latin typeface="Georgia"/>
                <a:cs typeface="Georgia"/>
              </a:rPr>
              <a:t>desired </a:t>
            </a:r>
            <a:r>
              <a:rPr sz="3600" dirty="0">
                <a:solidFill>
                  <a:srgbClr val="2E377E"/>
                </a:solidFill>
                <a:latin typeface="Georgia"/>
                <a:cs typeface="Georgia"/>
              </a:rPr>
              <a:t>number</a:t>
            </a:r>
            <a:r>
              <a:rPr sz="3600" spc="95" dirty="0">
                <a:solidFill>
                  <a:srgbClr val="2E377E"/>
                </a:solidFill>
                <a:latin typeface="Georgia"/>
                <a:cs typeface="Georgia"/>
              </a:rPr>
              <a:t> </a:t>
            </a:r>
            <a:r>
              <a:rPr sz="3600" dirty="0">
                <a:solidFill>
                  <a:srgbClr val="2E377E"/>
                </a:solidFill>
                <a:latin typeface="Georgia"/>
                <a:cs typeface="Georgia"/>
              </a:rPr>
              <a:t>of</a:t>
            </a:r>
            <a:r>
              <a:rPr sz="3600" spc="95" dirty="0">
                <a:solidFill>
                  <a:srgbClr val="2E377E"/>
                </a:solidFill>
                <a:latin typeface="Georgia"/>
                <a:cs typeface="Georgia"/>
              </a:rPr>
              <a:t> </a:t>
            </a:r>
            <a:r>
              <a:rPr sz="3600" dirty="0">
                <a:solidFill>
                  <a:srgbClr val="2E377E"/>
                </a:solidFill>
                <a:latin typeface="Georgia"/>
                <a:cs typeface="Georgia"/>
              </a:rPr>
              <a:t>replica</a:t>
            </a:r>
            <a:r>
              <a:rPr sz="3600" spc="95" dirty="0">
                <a:solidFill>
                  <a:srgbClr val="2E377E"/>
                </a:solidFill>
                <a:latin typeface="Georgia"/>
                <a:cs typeface="Georgia"/>
              </a:rPr>
              <a:t> </a:t>
            </a:r>
            <a:r>
              <a:rPr sz="3600" spc="-10" dirty="0">
                <a:solidFill>
                  <a:srgbClr val="2E377E"/>
                </a:solidFill>
                <a:latin typeface="Georgia"/>
                <a:cs typeface="Georgia"/>
              </a:rPr>
              <a:t>pods.</a:t>
            </a:r>
            <a:endParaRPr sz="3600">
              <a:latin typeface="Georgia"/>
              <a:cs typeface="Georgia"/>
            </a:endParaRPr>
          </a:p>
          <a:p>
            <a:pPr>
              <a:lnSpc>
                <a:spcPct val="100000"/>
              </a:lnSpc>
              <a:spcBef>
                <a:spcPts val="935"/>
              </a:spcBef>
            </a:pPr>
            <a:endParaRPr sz="3600">
              <a:latin typeface="Georgia"/>
              <a:cs typeface="Georgia"/>
            </a:endParaRPr>
          </a:p>
          <a:p>
            <a:pPr marL="12700" marR="5080">
              <a:lnSpc>
                <a:spcPct val="116300"/>
              </a:lnSpc>
            </a:pPr>
            <a:r>
              <a:rPr sz="3600" dirty="0">
                <a:solidFill>
                  <a:srgbClr val="2E377E"/>
                </a:solidFill>
                <a:latin typeface="Georgia"/>
                <a:cs typeface="Georgia"/>
              </a:rPr>
              <a:t>To</a:t>
            </a:r>
            <a:r>
              <a:rPr sz="3600" spc="35" dirty="0">
                <a:solidFill>
                  <a:srgbClr val="2E377E"/>
                </a:solidFill>
                <a:latin typeface="Georgia"/>
                <a:cs typeface="Georgia"/>
              </a:rPr>
              <a:t> </a:t>
            </a:r>
            <a:r>
              <a:rPr sz="3600" dirty="0">
                <a:solidFill>
                  <a:srgbClr val="2E377E"/>
                </a:solidFill>
                <a:latin typeface="Georgia"/>
                <a:cs typeface="Georgia"/>
              </a:rPr>
              <a:t>manage</a:t>
            </a:r>
            <a:r>
              <a:rPr sz="3600" spc="35" dirty="0">
                <a:solidFill>
                  <a:srgbClr val="2E377E"/>
                </a:solidFill>
                <a:latin typeface="Georgia"/>
                <a:cs typeface="Georgia"/>
              </a:rPr>
              <a:t> </a:t>
            </a:r>
            <a:r>
              <a:rPr sz="3600" dirty="0">
                <a:solidFill>
                  <a:srgbClr val="2E377E"/>
                </a:solidFill>
                <a:latin typeface="Georgia"/>
                <a:cs typeface="Georgia"/>
              </a:rPr>
              <a:t>this</a:t>
            </a:r>
            <a:r>
              <a:rPr sz="3600" spc="35" dirty="0">
                <a:solidFill>
                  <a:srgbClr val="2E377E"/>
                </a:solidFill>
                <a:latin typeface="Georgia"/>
                <a:cs typeface="Georgia"/>
              </a:rPr>
              <a:t> </a:t>
            </a:r>
            <a:r>
              <a:rPr sz="3600" dirty="0">
                <a:solidFill>
                  <a:srgbClr val="2E377E"/>
                </a:solidFill>
                <a:latin typeface="Georgia"/>
                <a:cs typeface="Georgia"/>
              </a:rPr>
              <a:t>replica</a:t>
            </a:r>
            <a:r>
              <a:rPr sz="3600" spc="40" dirty="0">
                <a:solidFill>
                  <a:srgbClr val="2E377E"/>
                </a:solidFill>
                <a:latin typeface="Georgia"/>
                <a:cs typeface="Georgia"/>
              </a:rPr>
              <a:t> </a:t>
            </a:r>
            <a:r>
              <a:rPr sz="3600" spc="70" dirty="0">
                <a:solidFill>
                  <a:srgbClr val="2E377E"/>
                </a:solidFill>
                <a:latin typeface="Georgia"/>
                <a:cs typeface="Georgia"/>
              </a:rPr>
              <a:t>set</a:t>
            </a:r>
            <a:r>
              <a:rPr sz="3600" spc="35" dirty="0">
                <a:solidFill>
                  <a:srgbClr val="2E377E"/>
                </a:solidFill>
                <a:latin typeface="Georgia"/>
                <a:cs typeface="Georgia"/>
              </a:rPr>
              <a:t> </a:t>
            </a:r>
            <a:r>
              <a:rPr sz="3600" spc="140" dirty="0">
                <a:solidFill>
                  <a:srgbClr val="2E377E"/>
                </a:solidFill>
                <a:latin typeface="Georgia"/>
                <a:cs typeface="Georgia"/>
              </a:rPr>
              <a:t>we</a:t>
            </a:r>
            <a:r>
              <a:rPr sz="3600" spc="35" dirty="0">
                <a:solidFill>
                  <a:srgbClr val="2E377E"/>
                </a:solidFill>
                <a:latin typeface="Georgia"/>
                <a:cs typeface="Georgia"/>
              </a:rPr>
              <a:t> </a:t>
            </a:r>
            <a:r>
              <a:rPr sz="3600" dirty="0">
                <a:solidFill>
                  <a:srgbClr val="2E377E"/>
                </a:solidFill>
                <a:latin typeface="Georgia"/>
                <a:cs typeface="Georgia"/>
              </a:rPr>
              <a:t>need</a:t>
            </a:r>
            <a:r>
              <a:rPr sz="3600" spc="35" dirty="0">
                <a:solidFill>
                  <a:srgbClr val="2E377E"/>
                </a:solidFill>
                <a:latin typeface="Georgia"/>
                <a:cs typeface="Georgia"/>
              </a:rPr>
              <a:t> </a:t>
            </a:r>
            <a:r>
              <a:rPr sz="3600" dirty="0">
                <a:solidFill>
                  <a:srgbClr val="2E377E"/>
                </a:solidFill>
                <a:latin typeface="Georgia"/>
                <a:cs typeface="Georgia"/>
              </a:rPr>
              <a:t>a</a:t>
            </a:r>
            <a:r>
              <a:rPr sz="3600" spc="40" dirty="0">
                <a:solidFill>
                  <a:srgbClr val="2E377E"/>
                </a:solidFill>
                <a:latin typeface="Georgia"/>
                <a:cs typeface="Georgia"/>
              </a:rPr>
              <a:t> </a:t>
            </a:r>
            <a:r>
              <a:rPr sz="3600" dirty="0">
                <a:solidFill>
                  <a:srgbClr val="2E377E"/>
                </a:solidFill>
                <a:latin typeface="Georgia"/>
                <a:cs typeface="Georgia"/>
              </a:rPr>
              <a:t>higher-</a:t>
            </a:r>
            <a:r>
              <a:rPr sz="3600" spc="60" dirty="0">
                <a:solidFill>
                  <a:srgbClr val="2E377E"/>
                </a:solidFill>
                <a:latin typeface="Georgia"/>
                <a:cs typeface="Georgia"/>
              </a:rPr>
              <a:t>level</a:t>
            </a:r>
            <a:r>
              <a:rPr sz="3600" spc="35" dirty="0">
                <a:solidFill>
                  <a:srgbClr val="2E377E"/>
                </a:solidFill>
                <a:latin typeface="Georgia"/>
                <a:cs typeface="Georgia"/>
              </a:rPr>
              <a:t> </a:t>
            </a:r>
            <a:r>
              <a:rPr sz="3600" dirty="0">
                <a:solidFill>
                  <a:srgbClr val="2E377E"/>
                </a:solidFill>
                <a:latin typeface="Georgia"/>
                <a:cs typeface="Georgia"/>
              </a:rPr>
              <a:t>object</a:t>
            </a:r>
            <a:r>
              <a:rPr sz="3600" spc="35" dirty="0">
                <a:solidFill>
                  <a:srgbClr val="2E377E"/>
                </a:solidFill>
                <a:latin typeface="Georgia"/>
                <a:cs typeface="Georgia"/>
              </a:rPr>
              <a:t> </a:t>
            </a:r>
            <a:r>
              <a:rPr sz="3600" dirty="0">
                <a:solidFill>
                  <a:srgbClr val="2E377E"/>
                </a:solidFill>
                <a:latin typeface="Georgia"/>
                <a:cs typeface="Georgia"/>
              </a:rPr>
              <a:t>called</a:t>
            </a:r>
            <a:r>
              <a:rPr sz="3600" spc="35" dirty="0">
                <a:solidFill>
                  <a:srgbClr val="2E377E"/>
                </a:solidFill>
                <a:latin typeface="Georgia"/>
                <a:cs typeface="Georgia"/>
              </a:rPr>
              <a:t> </a:t>
            </a:r>
            <a:r>
              <a:rPr sz="3600" spc="55" dirty="0">
                <a:solidFill>
                  <a:srgbClr val="2E377E"/>
                </a:solidFill>
                <a:latin typeface="Georgia"/>
                <a:cs typeface="Georgia"/>
              </a:rPr>
              <a:t>deployment</a:t>
            </a:r>
            <a:r>
              <a:rPr sz="3600" spc="40" dirty="0">
                <a:solidFill>
                  <a:srgbClr val="2E377E"/>
                </a:solidFill>
                <a:latin typeface="Georgia"/>
                <a:cs typeface="Georgia"/>
              </a:rPr>
              <a:t> </a:t>
            </a:r>
            <a:r>
              <a:rPr sz="3600" spc="35" dirty="0">
                <a:solidFill>
                  <a:srgbClr val="2E377E"/>
                </a:solidFill>
                <a:latin typeface="Georgia"/>
                <a:cs typeface="Georgia"/>
              </a:rPr>
              <a:t>which </a:t>
            </a:r>
            <a:r>
              <a:rPr sz="3600" spc="50" dirty="0">
                <a:solidFill>
                  <a:srgbClr val="2E377E"/>
                </a:solidFill>
                <a:latin typeface="Georgia"/>
                <a:cs typeface="Georgia"/>
              </a:rPr>
              <a:t>provide </a:t>
            </a:r>
            <a:r>
              <a:rPr sz="3600" dirty="0">
                <a:solidFill>
                  <a:srgbClr val="2E377E"/>
                </a:solidFill>
                <a:latin typeface="Georgia"/>
                <a:cs typeface="Georgia"/>
              </a:rPr>
              <a:t>additional</a:t>
            </a:r>
            <a:r>
              <a:rPr sz="3600" spc="50" dirty="0">
                <a:solidFill>
                  <a:srgbClr val="2E377E"/>
                </a:solidFill>
                <a:latin typeface="Georgia"/>
                <a:cs typeface="Georgia"/>
              </a:rPr>
              <a:t> functionality </a:t>
            </a:r>
            <a:r>
              <a:rPr sz="3600" dirty="0">
                <a:solidFill>
                  <a:srgbClr val="2E377E"/>
                </a:solidFill>
                <a:latin typeface="Georgia"/>
                <a:cs typeface="Georgia"/>
              </a:rPr>
              <a:t>like</a:t>
            </a:r>
            <a:r>
              <a:rPr sz="3600" spc="55" dirty="0">
                <a:solidFill>
                  <a:srgbClr val="2E377E"/>
                </a:solidFill>
                <a:latin typeface="Georgia"/>
                <a:cs typeface="Georgia"/>
              </a:rPr>
              <a:t> </a:t>
            </a:r>
            <a:r>
              <a:rPr sz="3600" dirty="0">
                <a:solidFill>
                  <a:srgbClr val="2E377E"/>
                </a:solidFill>
                <a:latin typeface="Georgia"/>
                <a:cs typeface="Georgia"/>
              </a:rPr>
              <a:t>rolling</a:t>
            </a:r>
            <a:r>
              <a:rPr sz="3600" spc="50" dirty="0">
                <a:solidFill>
                  <a:srgbClr val="2E377E"/>
                </a:solidFill>
                <a:latin typeface="Georgia"/>
                <a:cs typeface="Georgia"/>
              </a:rPr>
              <a:t> </a:t>
            </a:r>
            <a:r>
              <a:rPr sz="3600" dirty="0">
                <a:solidFill>
                  <a:srgbClr val="2E377E"/>
                </a:solidFill>
                <a:latin typeface="Georgia"/>
                <a:cs typeface="Georgia"/>
              </a:rPr>
              <a:t>updates</a:t>
            </a:r>
            <a:r>
              <a:rPr sz="3600" spc="50" dirty="0">
                <a:solidFill>
                  <a:srgbClr val="2E377E"/>
                </a:solidFill>
                <a:latin typeface="Georgia"/>
                <a:cs typeface="Georgia"/>
              </a:rPr>
              <a:t> </a:t>
            </a:r>
            <a:r>
              <a:rPr sz="3600" dirty="0">
                <a:solidFill>
                  <a:srgbClr val="2E377E"/>
                </a:solidFill>
                <a:latin typeface="Georgia"/>
                <a:cs typeface="Georgia"/>
              </a:rPr>
              <a:t>and</a:t>
            </a:r>
            <a:r>
              <a:rPr sz="3600" spc="55" dirty="0">
                <a:solidFill>
                  <a:srgbClr val="2E377E"/>
                </a:solidFill>
                <a:latin typeface="Georgia"/>
                <a:cs typeface="Georgia"/>
              </a:rPr>
              <a:t> </a:t>
            </a:r>
            <a:r>
              <a:rPr sz="3600" dirty="0">
                <a:solidFill>
                  <a:srgbClr val="2E377E"/>
                </a:solidFill>
                <a:latin typeface="Georgia"/>
                <a:cs typeface="Georgia"/>
              </a:rPr>
              <a:t>roll</a:t>
            </a:r>
            <a:r>
              <a:rPr sz="3600" spc="50" dirty="0">
                <a:solidFill>
                  <a:srgbClr val="2E377E"/>
                </a:solidFill>
                <a:latin typeface="Georgia"/>
                <a:cs typeface="Georgia"/>
              </a:rPr>
              <a:t> </a:t>
            </a:r>
            <a:r>
              <a:rPr sz="3600" spc="-10" dirty="0">
                <a:solidFill>
                  <a:srgbClr val="2E377E"/>
                </a:solidFill>
                <a:latin typeface="Georgia"/>
                <a:cs typeface="Georgia"/>
              </a:rPr>
              <a:t>backs.</a:t>
            </a:r>
            <a:endParaRPr sz="3600">
              <a:latin typeface="Georgia"/>
              <a:cs typeface="Georgia"/>
            </a:endParaRPr>
          </a:p>
          <a:p>
            <a:pPr>
              <a:lnSpc>
                <a:spcPct val="100000"/>
              </a:lnSpc>
              <a:spcBef>
                <a:spcPts val="935"/>
              </a:spcBef>
            </a:pPr>
            <a:endParaRPr sz="3600">
              <a:latin typeface="Georgia"/>
              <a:cs typeface="Georgia"/>
            </a:endParaRPr>
          </a:p>
          <a:p>
            <a:pPr marL="12700" marR="141605">
              <a:lnSpc>
                <a:spcPct val="116300"/>
              </a:lnSpc>
            </a:pPr>
            <a:r>
              <a:rPr sz="3600" spc="45" dirty="0">
                <a:solidFill>
                  <a:srgbClr val="2E377E"/>
                </a:solidFill>
                <a:latin typeface="Georgia"/>
                <a:cs typeface="Georgia"/>
              </a:rPr>
              <a:t>Deployments</a:t>
            </a:r>
            <a:r>
              <a:rPr sz="3600" spc="5" dirty="0">
                <a:solidFill>
                  <a:srgbClr val="2E377E"/>
                </a:solidFill>
                <a:latin typeface="Georgia"/>
                <a:cs typeface="Georgia"/>
              </a:rPr>
              <a:t> </a:t>
            </a:r>
            <a:r>
              <a:rPr sz="3600" spc="50" dirty="0">
                <a:solidFill>
                  <a:srgbClr val="2E377E"/>
                </a:solidFill>
                <a:latin typeface="Georgia"/>
                <a:cs typeface="Georgia"/>
              </a:rPr>
              <a:t>use</a:t>
            </a:r>
            <a:r>
              <a:rPr sz="3600" spc="10" dirty="0">
                <a:solidFill>
                  <a:srgbClr val="2E377E"/>
                </a:solidFill>
                <a:latin typeface="Georgia"/>
                <a:cs typeface="Georgia"/>
              </a:rPr>
              <a:t> </a:t>
            </a:r>
            <a:r>
              <a:rPr sz="3600" dirty="0">
                <a:solidFill>
                  <a:srgbClr val="2E377E"/>
                </a:solidFill>
                <a:latin typeface="Georgia"/>
                <a:cs typeface="Georgia"/>
              </a:rPr>
              <a:t>ReplicaSets</a:t>
            </a:r>
            <a:r>
              <a:rPr sz="3600" spc="5" dirty="0">
                <a:solidFill>
                  <a:srgbClr val="2E377E"/>
                </a:solidFill>
                <a:latin typeface="Georgia"/>
                <a:cs typeface="Georgia"/>
              </a:rPr>
              <a:t> </a:t>
            </a:r>
            <a:r>
              <a:rPr sz="3600" dirty="0">
                <a:solidFill>
                  <a:srgbClr val="2E377E"/>
                </a:solidFill>
                <a:latin typeface="Georgia"/>
                <a:cs typeface="Georgia"/>
              </a:rPr>
              <a:t>under</a:t>
            </a:r>
            <a:r>
              <a:rPr sz="3600" spc="10" dirty="0">
                <a:solidFill>
                  <a:srgbClr val="2E377E"/>
                </a:solidFill>
                <a:latin typeface="Georgia"/>
                <a:cs typeface="Georgia"/>
              </a:rPr>
              <a:t> </a:t>
            </a:r>
            <a:r>
              <a:rPr sz="3600" spc="6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hood</a:t>
            </a:r>
            <a:r>
              <a:rPr sz="3600" spc="5"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manage</a:t>
            </a:r>
            <a:r>
              <a:rPr sz="3600" spc="5"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actual</a:t>
            </a:r>
            <a:r>
              <a:rPr sz="3600" spc="5" dirty="0">
                <a:solidFill>
                  <a:srgbClr val="2E377E"/>
                </a:solidFill>
                <a:latin typeface="Georgia"/>
                <a:cs typeface="Georgia"/>
              </a:rPr>
              <a:t> </a:t>
            </a:r>
            <a:r>
              <a:rPr sz="3600" dirty="0">
                <a:solidFill>
                  <a:srgbClr val="2E377E"/>
                </a:solidFill>
                <a:latin typeface="Georgia"/>
                <a:cs typeface="Georgia"/>
              </a:rPr>
              <a:t>pods</a:t>
            </a:r>
            <a:r>
              <a:rPr sz="3600" spc="10" dirty="0">
                <a:solidFill>
                  <a:srgbClr val="2E377E"/>
                </a:solidFill>
                <a:latin typeface="Georgia"/>
                <a:cs typeface="Georgia"/>
              </a:rPr>
              <a:t> </a:t>
            </a:r>
            <a:r>
              <a:rPr sz="3600" spc="55" dirty="0">
                <a:solidFill>
                  <a:srgbClr val="2E377E"/>
                </a:solidFill>
                <a:latin typeface="Georgia"/>
                <a:cs typeface="Georgia"/>
              </a:rPr>
              <a:t>that</a:t>
            </a:r>
            <a:r>
              <a:rPr sz="3600" spc="5" dirty="0">
                <a:solidFill>
                  <a:srgbClr val="2E377E"/>
                </a:solidFill>
                <a:latin typeface="Georgia"/>
                <a:cs typeface="Georgia"/>
              </a:rPr>
              <a:t> </a:t>
            </a:r>
            <a:r>
              <a:rPr sz="3600" spc="-25" dirty="0">
                <a:solidFill>
                  <a:srgbClr val="2E377E"/>
                </a:solidFill>
                <a:latin typeface="Georgia"/>
                <a:cs typeface="Georgia"/>
              </a:rPr>
              <a:t>run </a:t>
            </a:r>
            <a:r>
              <a:rPr sz="3600" spc="60" dirty="0">
                <a:solidFill>
                  <a:srgbClr val="2E377E"/>
                </a:solidFill>
                <a:latin typeface="Georgia"/>
                <a:cs typeface="Georgia"/>
              </a:rPr>
              <a:t>the</a:t>
            </a:r>
            <a:r>
              <a:rPr sz="3600" spc="-60" dirty="0">
                <a:solidFill>
                  <a:srgbClr val="2E377E"/>
                </a:solidFill>
                <a:latin typeface="Georgia"/>
                <a:cs typeface="Georgia"/>
              </a:rPr>
              <a:t> </a:t>
            </a:r>
            <a:r>
              <a:rPr sz="3600" spc="-10" dirty="0">
                <a:solidFill>
                  <a:srgbClr val="2E377E"/>
                </a:solidFill>
                <a:latin typeface="Georgia"/>
                <a:cs typeface="Georgia"/>
              </a:rPr>
              <a:t>application.</a:t>
            </a:r>
            <a:endParaRPr sz="3600">
              <a:latin typeface="Georgia"/>
              <a:cs typeface="Georgi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18114" y="1959551"/>
            <a:ext cx="133350" cy="133350"/>
          </a:xfrm>
          <a:prstGeom prst="rect">
            <a:avLst/>
          </a:prstGeom>
        </p:spPr>
      </p:pic>
      <p:pic>
        <p:nvPicPr>
          <p:cNvPr id="3" name="object 3"/>
          <p:cNvPicPr/>
          <p:nvPr/>
        </p:nvPicPr>
        <p:blipFill>
          <a:blip r:embed="rId2" cstate="print"/>
          <a:stretch>
            <a:fillRect/>
          </a:stretch>
        </p:blipFill>
        <p:spPr>
          <a:xfrm>
            <a:off x="1218114" y="3235901"/>
            <a:ext cx="133350" cy="133350"/>
          </a:xfrm>
          <a:prstGeom prst="rect">
            <a:avLst/>
          </a:prstGeom>
        </p:spPr>
      </p:pic>
      <p:pic>
        <p:nvPicPr>
          <p:cNvPr id="4" name="object 4"/>
          <p:cNvPicPr/>
          <p:nvPr/>
        </p:nvPicPr>
        <p:blipFill>
          <a:blip r:embed="rId3" cstate="print"/>
          <a:stretch>
            <a:fillRect/>
          </a:stretch>
        </p:blipFill>
        <p:spPr>
          <a:xfrm>
            <a:off x="1218114" y="3874076"/>
            <a:ext cx="133350" cy="133350"/>
          </a:xfrm>
          <a:prstGeom prst="rect">
            <a:avLst/>
          </a:prstGeom>
        </p:spPr>
      </p:pic>
      <p:pic>
        <p:nvPicPr>
          <p:cNvPr id="5" name="object 5"/>
          <p:cNvPicPr/>
          <p:nvPr/>
        </p:nvPicPr>
        <p:blipFill>
          <a:blip r:embed="rId4" cstate="print"/>
          <a:stretch>
            <a:fillRect/>
          </a:stretch>
        </p:blipFill>
        <p:spPr>
          <a:xfrm>
            <a:off x="1218114" y="4512251"/>
            <a:ext cx="133350" cy="133350"/>
          </a:xfrm>
          <a:prstGeom prst="rect">
            <a:avLst/>
          </a:prstGeom>
        </p:spPr>
      </p:pic>
      <p:pic>
        <p:nvPicPr>
          <p:cNvPr id="6" name="object 6"/>
          <p:cNvPicPr/>
          <p:nvPr/>
        </p:nvPicPr>
        <p:blipFill>
          <a:blip r:embed="rId4" cstate="print"/>
          <a:stretch>
            <a:fillRect/>
          </a:stretch>
        </p:blipFill>
        <p:spPr>
          <a:xfrm>
            <a:off x="1218114" y="5788601"/>
            <a:ext cx="133350" cy="133350"/>
          </a:xfrm>
          <a:prstGeom prst="rect">
            <a:avLst/>
          </a:prstGeom>
        </p:spPr>
      </p:pic>
      <p:pic>
        <p:nvPicPr>
          <p:cNvPr id="7" name="object 7"/>
          <p:cNvPicPr/>
          <p:nvPr/>
        </p:nvPicPr>
        <p:blipFill>
          <a:blip r:embed="rId4" cstate="print"/>
          <a:stretch>
            <a:fillRect/>
          </a:stretch>
        </p:blipFill>
        <p:spPr>
          <a:xfrm>
            <a:off x="1218114" y="7064950"/>
            <a:ext cx="133350" cy="133350"/>
          </a:xfrm>
          <a:prstGeom prst="rect">
            <a:avLst/>
          </a:prstGeom>
        </p:spPr>
      </p:pic>
      <p:pic>
        <p:nvPicPr>
          <p:cNvPr id="8" name="object 8"/>
          <p:cNvPicPr/>
          <p:nvPr/>
        </p:nvPicPr>
        <p:blipFill>
          <a:blip r:embed="rId4" cstate="print"/>
          <a:stretch>
            <a:fillRect/>
          </a:stretch>
        </p:blipFill>
        <p:spPr>
          <a:xfrm>
            <a:off x="1218114" y="8341300"/>
            <a:ext cx="133350" cy="133350"/>
          </a:xfrm>
          <a:prstGeom prst="rect">
            <a:avLst/>
          </a:prstGeom>
        </p:spPr>
      </p:pic>
      <p:pic>
        <p:nvPicPr>
          <p:cNvPr id="9" name="object 9"/>
          <p:cNvPicPr/>
          <p:nvPr/>
        </p:nvPicPr>
        <p:blipFill>
          <a:blip r:embed="rId4" cstate="print"/>
          <a:stretch>
            <a:fillRect/>
          </a:stretch>
        </p:blipFill>
        <p:spPr>
          <a:xfrm>
            <a:off x="1218114" y="8979475"/>
            <a:ext cx="133350" cy="133350"/>
          </a:xfrm>
          <a:prstGeom prst="rect">
            <a:avLst/>
          </a:prstGeom>
        </p:spPr>
      </p:pic>
      <p:sp>
        <p:nvSpPr>
          <p:cNvPr id="10" name="object 10"/>
          <p:cNvSpPr txBox="1">
            <a:spLocks noGrp="1"/>
          </p:cNvSpPr>
          <p:nvPr>
            <p:ph type="title"/>
          </p:nvPr>
        </p:nvSpPr>
        <p:spPr>
          <a:prstGeom prst="rect">
            <a:avLst/>
          </a:prstGeom>
        </p:spPr>
        <p:txBody>
          <a:bodyPr vert="horz" wrap="square" lIns="0" tIns="365455" rIns="0" bIns="0" rtlCol="0">
            <a:spAutoFit/>
          </a:bodyPr>
          <a:lstStyle/>
          <a:p>
            <a:pPr marL="158115">
              <a:lnSpc>
                <a:spcPct val="100000"/>
              </a:lnSpc>
              <a:spcBef>
                <a:spcPts val="100"/>
              </a:spcBef>
            </a:pPr>
            <a:r>
              <a:rPr spc="-270" dirty="0">
                <a:solidFill>
                  <a:srgbClr val="FF3131"/>
                </a:solidFill>
              </a:rPr>
              <a:t>DEPLOYMENT:</a:t>
            </a:r>
          </a:p>
        </p:txBody>
      </p:sp>
      <p:sp>
        <p:nvSpPr>
          <p:cNvPr id="11" name="object 11"/>
          <p:cNvSpPr txBox="1"/>
          <p:nvPr/>
        </p:nvSpPr>
        <p:spPr>
          <a:xfrm>
            <a:off x="1534921" y="1636467"/>
            <a:ext cx="15714344" cy="8321675"/>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It</a:t>
            </a:r>
            <a:r>
              <a:rPr sz="3600" spc="75" dirty="0">
                <a:solidFill>
                  <a:srgbClr val="2E377E"/>
                </a:solidFill>
                <a:latin typeface="Georgia"/>
                <a:cs typeface="Georgia"/>
              </a:rPr>
              <a:t> </a:t>
            </a:r>
            <a:r>
              <a:rPr sz="3600" dirty="0">
                <a:solidFill>
                  <a:srgbClr val="2E377E"/>
                </a:solidFill>
                <a:latin typeface="Georgia"/>
                <a:cs typeface="Georgia"/>
              </a:rPr>
              <a:t>has</a:t>
            </a:r>
            <a:r>
              <a:rPr sz="3600" spc="75" dirty="0">
                <a:solidFill>
                  <a:srgbClr val="2E377E"/>
                </a:solidFill>
                <a:latin typeface="Georgia"/>
                <a:cs typeface="Georgia"/>
              </a:rPr>
              <a:t> </a:t>
            </a:r>
            <a:r>
              <a:rPr sz="3600" spc="55" dirty="0">
                <a:solidFill>
                  <a:srgbClr val="2E377E"/>
                </a:solidFill>
                <a:latin typeface="Georgia"/>
                <a:cs typeface="Georgia"/>
              </a:rPr>
              <a:t>features</a:t>
            </a:r>
            <a:r>
              <a:rPr sz="3600" spc="80" dirty="0">
                <a:solidFill>
                  <a:srgbClr val="2E377E"/>
                </a:solidFill>
                <a:latin typeface="Georgia"/>
                <a:cs typeface="Georgia"/>
              </a:rPr>
              <a:t> </a:t>
            </a:r>
            <a:r>
              <a:rPr sz="3600" dirty="0">
                <a:solidFill>
                  <a:srgbClr val="2E377E"/>
                </a:solidFill>
                <a:latin typeface="Georgia"/>
                <a:cs typeface="Georgia"/>
              </a:rPr>
              <a:t>of</a:t>
            </a:r>
            <a:r>
              <a:rPr sz="3600" spc="75" dirty="0">
                <a:solidFill>
                  <a:srgbClr val="2E377E"/>
                </a:solidFill>
                <a:latin typeface="Georgia"/>
                <a:cs typeface="Georgia"/>
              </a:rPr>
              <a:t> </a:t>
            </a:r>
            <a:r>
              <a:rPr sz="3600" dirty="0">
                <a:solidFill>
                  <a:srgbClr val="2E377E"/>
                </a:solidFill>
                <a:latin typeface="Georgia"/>
                <a:cs typeface="Georgia"/>
              </a:rPr>
              <a:t>Replicaset</a:t>
            </a:r>
            <a:r>
              <a:rPr sz="3600" spc="75" dirty="0">
                <a:solidFill>
                  <a:srgbClr val="2E377E"/>
                </a:solidFill>
                <a:latin typeface="Georgia"/>
                <a:cs typeface="Georgia"/>
              </a:rPr>
              <a:t> </a:t>
            </a:r>
            <a:r>
              <a:rPr sz="3600" dirty="0">
                <a:solidFill>
                  <a:srgbClr val="2E377E"/>
                </a:solidFill>
                <a:latin typeface="Georgia"/>
                <a:cs typeface="Georgia"/>
              </a:rPr>
              <a:t>and</a:t>
            </a:r>
            <a:r>
              <a:rPr sz="3600" spc="80" dirty="0">
                <a:solidFill>
                  <a:srgbClr val="2E377E"/>
                </a:solidFill>
                <a:latin typeface="Georgia"/>
                <a:cs typeface="Georgia"/>
              </a:rPr>
              <a:t> </a:t>
            </a:r>
            <a:r>
              <a:rPr sz="3600" dirty="0">
                <a:solidFill>
                  <a:srgbClr val="2E377E"/>
                </a:solidFill>
                <a:latin typeface="Georgia"/>
                <a:cs typeface="Georgia"/>
              </a:rPr>
              <a:t>some</a:t>
            </a:r>
            <a:r>
              <a:rPr sz="3600" spc="75" dirty="0">
                <a:solidFill>
                  <a:srgbClr val="2E377E"/>
                </a:solidFill>
                <a:latin typeface="Georgia"/>
                <a:cs typeface="Georgia"/>
              </a:rPr>
              <a:t> </a:t>
            </a:r>
            <a:r>
              <a:rPr sz="3600" spc="50" dirty="0">
                <a:solidFill>
                  <a:srgbClr val="2E377E"/>
                </a:solidFill>
                <a:latin typeface="Georgia"/>
                <a:cs typeface="Georgia"/>
              </a:rPr>
              <a:t>other</a:t>
            </a:r>
            <a:r>
              <a:rPr sz="3600" spc="75" dirty="0">
                <a:solidFill>
                  <a:srgbClr val="2E377E"/>
                </a:solidFill>
                <a:latin typeface="Georgia"/>
                <a:cs typeface="Georgia"/>
              </a:rPr>
              <a:t> </a:t>
            </a:r>
            <a:r>
              <a:rPr sz="3600" spc="65" dirty="0">
                <a:solidFill>
                  <a:srgbClr val="2E377E"/>
                </a:solidFill>
                <a:latin typeface="Georgia"/>
                <a:cs typeface="Georgia"/>
              </a:rPr>
              <a:t>extra</a:t>
            </a:r>
            <a:r>
              <a:rPr sz="3600" spc="80" dirty="0">
                <a:solidFill>
                  <a:srgbClr val="2E377E"/>
                </a:solidFill>
                <a:latin typeface="Georgia"/>
                <a:cs typeface="Georgia"/>
              </a:rPr>
              <a:t> </a:t>
            </a:r>
            <a:r>
              <a:rPr sz="3600" spc="55" dirty="0">
                <a:solidFill>
                  <a:srgbClr val="2E377E"/>
                </a:solidFill>
                <a:latin typeface="Georgia"/>
                <a:cs typeface="Georgia"/>
              </a:rPr>
              <a:t>features</a:t>
            </a:r>
            <a:r>
              <a:rPr sz="3600" spc="75" dirty="0">
                <a:solidFill>
                  <a:srgbClr val="2E377E"/>
                </a:solidFill>
                <a:latin typeface="Georgia"/>
                <a:cs typeface="Georgia"/>
              </a:rPr>
              <a:t> </a:t>
            </a:r>
            <a:r>
              <a:rPr sz="3600" dirty="0">
                <a:solidFill>
                  <a:srgbClr val="2E377E"/>
                </a:solidFill>
                <a:latin typeface="Georgia"/>
                <a:cs typeface="Georgia"/>
              </a:rPr>
              <a:t>like</a:t>
            </a:r>
            <a:r>
              <a:rPr sz="3600" spc="75" dirty="0">
                <a:solidFill>
                  <a:srgbClr val="2E377E"/>
                </a:solidFill>
                <a:latin typeface="Georgia"/>
                <a:cs typeface="Georgia"/>
              </a:rPr>
              <a:t> </a:t>
            </a:r>
            <a:r>
              <a:rPr sz="3600" dirty="0">
                <a:solidFill>
                  <a:srgbClr val="2E377E"/>
                </a:solidFill>
                <a:latin typeface="Georgia"/>
                <a:cs typeface="Georgia"/>
              </a:rPr>
              <a:t>updating</a:t>
            </a:r>
            <a:r>
              <a:rPr sz="3600" spc="80" dirty="0">
                <a:solidFill>
                  <a:srgbClr val="2E377E"/>
                </a:solidFill>
                <a:latin typeface="Georgia"/>
                <a:cs typeface="Georgia"/>
              </a:rPr>
              <a:t> </a:t>
            </a:r>
            <a:r>
              <a:rPr sz="3600" spc="-25" dirty="0">
                <a:solidFill>
                  <a:srgbClr val="2E377E"/>
                </a:solidFill>
                <a:latin typeface="Georgia"/>
                <a:cs typeface="Georgia"/>
              </a:rPr>
              <a:t>and </a:t>
            </a:r>
            <a:r>
              <a:rPr sz="3600" dirty="0">
                <a:solidFill>
                  <a:srgbClr val="2E377E"/>
                </a:solidFill>
                <a:latin typeface="Georgia"/>
                <a:cs typeface="Georgia"/>
              </a:rPr>
              <a:t>rollbacking</a:t>
            </a:r>
            <a:r>
              <a:rPr sz="3600" spc="80" dirty="0">
                <a:solidFill>
                  <a:srgbClr val="2E377E"/>
                </a:solidFill>
                <a:latin typeface="Georgia"/>
                <a:cs typeface="Georgia"/>
              </a:rPr>
              <a:t> </a:t>
            </a:r>
            <a:r>
              <a:rPr sz="3600" spc="70" dirty="0">
                <a:solidFill>
                  <a:srgbClr val="2E377E"/>
                </a:solidFill>
                <a:latin typeface="Georgia"/>
                <a:cs typeface="Georgia"/>
              </a:rPr>
              <a:t>to</a:t>
            </a:r>
            <a:r>
              <a:rPr sz="3600" spc="85" dirty="0">
                <a:solidFill>
                  <a:srgbClr val="2E377E"/>
                </a:solidFill>
                <a:latin typeface="Georgia"/>
                <a:cs typeface="Georgia"/>
              </a:rPr>
              <a:t> </a:t>
            </a:r>
            <a:r>
              <a:rPr sz="3600" dirty="0">
                <a:solidFill>
                  <a:srgbClr val="2E377E"/>
                </a:solidFill>
                <a:latin typeface="Georgia"/>
                <a:cs typeface="Georgia"/>
              </a:rPr>
              <a:t>a</a:t>
            </a:r>
            <a:r>
              <a:rPr sz="3600" spc="85" dirty="0">
                <a:solidFill>
                  <a:srgbClr val="2E377E"/>
                </a:solidFill>
                <a:latin typeface="Georgia"/>
                <a:cs typeface="Georgia"/>
              </a:rPr>
              <a:t> </a:t>
            </a:r>
            <a:r>
              <a:rPr sz="3600" dirty="0">
                <a:solidFill>
                  <a:srgbClr val="2E377E"/>
                </a:solidFill>
                <a:latin typeface="Georgia"/>
                <a:cs typeface="Georgia"/>
              </a:rPr>
              <a:t>particular</a:t>
            </a:r>
            <a:r>
              <a:rPr sz="3600" spc="80" dirty="0">
                <a:solidFill>
                  <a:srgbClr val="2E377E"/>
                </a:solidFill>
                <a:latin typeface="Georgia"/>
                <a:cs typeface="Georgia"/>
              </a:rPr>
              <a:t> </a:t>
            </a:r>
            <a:r>
              <a:rPr sz="3600" spc="-10" dirty="0">
                <a:solidFill>
                  <a:srgbClr val="2E377E"/>
                </a:solidFill>
                <a:latin typeface="Georgia"/>
                <a:cs typeface="Georgia"/>
              </a:rPr>
              <a:t>version.</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The</a:t>
            </a:r>
            <a:r>
              <a:rPr sz="3600" spc="-30" dirty="0">
                <a:solidFill>
                  <a:srgbClr val="2E377E"/>
                </a:solidFill>
                <a:latin typeface="Georgia"/>
                <a:cs typeface="Georgia"/>
              </a:rPr>
              <a:t> </a:t>
            </a:r>
            <a:r>
              <a:rPr sz="3600" spc="55" dirty="0">
                <a:solidFill>
                  <a:srgbClr val="2E377E"/>
                </a:solidFill>
                <a:latin typeface="Georgia"/>
                <a:cs typeface="Georgia"/>
              </a:rPr>
              <a:t>best</a:t>
            </a:r>
            <a:r>
              <a:rPr sz="3600" spc="-30" dirty="0">
                <a:solidFill>
                  <a:srgbClr val="2E377E"/>
                </a:solidFill>
                <a:latin typeface="Georgia"/>
                <a:cs typeface="Georgia"/>
              </a:rPr>
              <a:t> </a:t>
            </a:r>
            <a:r>
              <a:rPr sz="3600" dirty="0">
                <a:solidFill>
                  <a:srgbClr val="2E377E"/>
                </a:solidFill>
                <a:latin typeface="Georgia"/>
                <a:cs typeface="Georgia"/>
              </a:rPr>
              <a:t>part</a:t>
            </a:r>
            <a:r>
              <a:rPr sz="3600" spc="-30"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spc="45" dirty="0">
                <a:solidFill>
                  <a:srgbClr val="2E377E"/>
                </a:solidFill>
                <a:latin typeface="Georgia"/>
                <a:cs typeface="Georgia"/>
              </a:rPr>
              <a:t>Deployment</a:t>
            </a:r>
            <a:r>
              <a:rPr sz="3600" spc="-30" dirty="0">
                <a:solidFill>
                  <a:srgbClr val="2E377E"/>
                </a:solidFill>
                <a:latin typeface="Georgia"/>
                <a:cs typeface="Georgia"/>
              </a:rPr>
              <a:t> </a:t>
            </a:r>
            <a:r>
              <a:rPr sz="3600" dirty="0">
                <a:solidFill>
                  <a:srgbClr val="2E377E"/>
                </a:solidFill>
                <a:latin typeface="Georgia"/>
                <a:cs typeface="Georgia"/>
              </a:rPr>
              <a:t>is</a:t>
            </a:r>
            <a:r>
              <a:rPr sz="3600" spc="-30" dirty="0">
                <a:solidFill>
                  <a:srgbClr val="2E377E"/>
                </a:solidFill>
                <a:latin typeface="Georgia"/>
                <a:cs typeface="Georgia"/>
              </a:rPr>
              <a:t> </a:t>
            </a:r>
            <a:r>
              <a:rPr sz="3600" spc="140" dirty="0">
                <a:solidFill>
                  <a:srgbClr val="2E377E"/>
                </a:solidFill>
                <a:latin typeface="Georgia"/>
                <a:cs typeface="Georgia"/>
              </a:rPr>
              <a:t>we</a:t>
            </a:r>
            <a:r>
              <a:rPr sz="3600" spc="-25" dirty="0">
                <a:solidFill>
                  <a:srgbClr val="2E377E"/>
                </a:solidFill>
                <a:latin typeface="Georgia"/>
                <a:cs typeface="Georgia"/>
              </a:rPr>
              <a:t> </a:t>
            </a:r>
            <a:r>
              <a:rPr sz="3600" dirty="0">
                <a:solidFill>
                  <a:srgbClr val="2E377E"/>
                </a:solidFill>
                <a:latin typeface="Georgia"/>
                <a:cs typeface="Georgia"/>
              </a:rPr>
              <a:t>can</a:t>
            </a:r>
            <a:r>
              <a:rPr sz="3600" spc="-30" dirty="0">
                <a:solidFill>
                  <a:srgbClr val="2E377E"/>
                </a:solidFill>
                <a:latin typeface="Georgia"/>
                <a:cs typeface="Georgia"/>
              </a:rPr>
              <a:t> </a:t>
            </a:r>
            <a:r>
              <a:rPr sz="3600" dirty="0">
                <a:solidFill>
                  <a:srgbClr val="2E377E"/>
                </a:solidFill>
                <a:latin typeface="Georgia"/>
                <a:cs typeface="Georgia"/>
              </a:rPr>
              <a:t>do</a:t>
            </a:r>
            <a:r>
              <a:rPr sz="3600" spc="-30" dirty="0">
                <a:solidFill>
                  <a:srgbClr val="2E377E"/>
                </a:solidFill>
                <a:latin typeface="Georgia"/>
                <a:cs typeface="Georgia"/>
              </a:rPr>
              <a:t> </a:t>
            </a:r>
            <a:r>
              <a:rPr sz="3600" spc="65" dirty="0">
                <a:solidFill>
                  <a:srgbClr val="2E377E"/>
                </a:solidFill>
                <a:latin typeface="Georgia"/>
                <a:cs typeface="Georgia"/>
              </a:rPr>
              <a:t>it</a:t>
            </a:r>
            <a:r>
              <a:rPr sz="3600" spc="-25" dirty="0">
                <a:solidFill>
                  <a:srgbClr val="2E377E"/>
                </a:solidFill>
                <a:latin typeface="Georgia"/>
                <a:cs typeface="Georgia"/>
              </a:rPr>
              <a:t> </a:t>
            </a:r>
            <a:r>
              <a:rPr sz="3600" spc="75" dirty="0">
                <a:solidFill>
                  <a:srgbClr val="2E377E"/>
                </a:solidFill>
                <a:latin typeface="Georgia"/>
                <a:cs typeface="Georgia"/>
              </a:rPr>
              <a:t>without</a:t>
            </a:r>
            <a:r>
              <a:rPr sz="3600" spc="-30" dirty="0">
                <a:solidFill>
                  <a:srgbClr val="2E377E"/>
                </a:solidFill>
                <a:latin typeface="Georgia"/>
                <a:cs typeface="Georgia"/>
              </a:rPr>
              <a:t> </a:t>
            </a:r>
            <a:r>
              <a:rPr sz="3600" spc="-10" dirty="0">
                <a:solidFill>
                  <a:srgbClr val="2E377E"/>
                </a:solidFill>
                <a:latin typeface="Georgia"/>
                <a:cs typeface="Georgia"/>
              </a:rPr>
              <a:t>downtime.</a:t>
            </a:r>
            <a:endParaRPr sz="3600">
              <a:latin typeface="Georgia"/>
              <a:cs typeface="Georgia"/>
            </a:endParaRPr>
          </a:p>
          <a:p>
            <a:pPr marL="12700" marR="375920">
              <a:lnSpc>
                <a:spcPct val="116300"/>
              </a:lnSpc>
            </a:pPr>
            <a:r>
              <a:rPr sz="3600" spc="90" dirty="0">
                <a:solidFill>
                  <a:srgbClr val="2E377E"/>
                </a:solidFill>
                <a:latin typeface="Georgia"/>
                <a:cs typeface="Georgia"/>
              </a:rPr>
              <a:t>you</a:t>
            </a:r>
            <a:r>
              <a:rPr sz="3600" spc="75" dirty="0">
                <a:solidFill>
                  <a:srgbClr val="2E377E"/>
                </a:solidFill>
                <a:latin typeface="Georgia"/>
                <a:cs typeface="Georgia"/>
              </a:rPr>
              <a:t> </a:t>
            </a:r>
            <a:r>
              <a:rPr sz="3600" dirty="0">
                <a:solidFill>
                  <a:srgbClr val="2E377E"/>
                </a:solidFill>
                <a:latin typeface="Georgia"/>
                <a:cs typeface="Georgia"/>
              </a:rPr>
              <a:t>can</a:t>
            </a:r>
            <a:r>
              <a:rPr sz="3600" spc="80" dirty="0">
                <a:solidFill>
                  <a:srgbClr val="2E377E"/>
                </a:solidFill>
                <a:latin typeface="Georgia"/>
                <a:cs typeface="Georgia"/>
              </a:rPr>
              <a:t> </a:t>
            </a:r>
            <a:r>
              <a:rPr sz="3600" dirty="0">
                <a:solidFill>
                  <a:srgbClr val="2E377E"/>
                </a:solidFill>
                <a:latin typeface="Georgia"/>
                <a:cs typeface="Georgia"/>
              </a:rPr>
              <a:t>update</a:t>
            </a:r>
            <a:r>
              <a:rPr sz="3600" spc="80" dirty="0">
                <a:solidFill>
                  <a:srgbClr val="2E377E"/>
                </a:solidFill>
                <a:latin typeface="Georgia"/>
                <a:cs typeface="Georgia"/>
              </a:rPr>
              <a:t> </a:t>
            </a:r>
            <a:r>
              <a:rPr sz="3600" spc="60" dirty="0">
                <a:solidFill>
                  <a:srgbClr val="2E377E"/>
                </a:solidFill>
                <a:latin typeface="Georgia"/>
                <a:cs typeface="Georgia"/>
              </a:rPr>
              <a:t>the</a:t>
            </a:r>
            <a:r>
              <a:rPr sz="3600" spc="75" dirty="0">
                <a:solidFill>
                  <a:srgbClr val="2E377E"/>
                </a:solidFill>
                <a:latin typeface="Georgia"/>
                <a:cs typeface="Georgia"/>
              </a:rPr>
              <a:t> </a:t>
            </a:r>
            <a:r>
              <a:rPr sz="3600" dirty="0">
                <a:solidFill>
                  <a:srgbClr val="2E377E"/>
                </a:solidFill>
                <a:latin typeface="Georgia"/>
                <a:cs typeface="Georgia"/>
              </a:rPr>
              <a:t>container</a:t>
            </a:r>
            <a:r>
              <a:rPr sz="3600" spc="80" dirty="0">
                <a:solidFill>
                  <a:srgbClr val="2E377E"/>
                </a:solidFill>
                <a:latin typeface="Georgia"/>
                <a:cs typeface="Georgia"/>
              </a:rPr>
              <a:t> </a:t>
            </a:r>
            <a:r>
              <a:rPr sz="3600" dirty="0">
                <a:solidFill>
                  <a:srgbClr val="2E377E"/>
                </a:solidFill>
                <a:latin typeface="Georgia"/>
                <a:cs typeface="Georgia"/>
              </a:rPr>
              <a:t>image</a:t>
            </a:r>
            <a:r>
              <a:rPr sz="3600" spc="80" dirty="0">
                <a:solidFill>
                  <a:srgbClr val="2E377E"/>
                </a:solidFill>
                <a:latin typeface="Georgia"/>
                <a:cs typeface="Georgia"/>
              </a:rPr>
              <a:t> </a:t>
            </a:r>
            <a:r>
              <a:rPr sz="3600" dirty="0">
                <a:solidFill>
                  <a:srgbClr val="2E377E"/>
                </a:solidFill>
                <a:latin typeface="Georgia"/>
                <a:cs typeface="Georgia"/>
              </a:rPr>
              <a:t>or</a:t>
            </a:r>
            <a:r>
              <a:rPr sz="3600" spc="75" dirty="0">
                <a:solidFill>
                  <a:srgbClr val="2E377E"/>
                </a:solidFill>
                <a:latin typeface="Georgia"/>
                <a:cs typeface="Georgia"/>
              </a:rPr>
              <a:t> </a:t>
            </a:r>
            <a:r>
              <a:rPr sz="3600" dirty="0">
                <a:solidFill>
                  <a:srgbClr val="2E377E"/>
                </a:solidFill>
                <a:latin typeface="Georgia"/>
                <a:cs typeface="Georgia"/>
              </a:rPr>
              <a:t>configuration</a:t>
            </a:r>
            <a:r>
              <a:rPr sz="3600" spc="80" dirty="0">
                <a:solidFill>
                  <a:srgbClr val="2E377E"/>
                </a:solidFill>
                <a:latin typeface="Georgia"/>
                <a:cs typeface="Georgia"/>
              </a:rPr>
              <a:t> </a:t>
            </a:r>
            <a:r>
              <a:rPr sz="3600" dirty="0">
                <a:solidFill>
                  <a:srgbClr val="2E377E"/>
                </a:solidFill>
                <a:latin typeface="Georgia"/>
                <a:cs typeface="Georgia"/>
              </a:rPr>
              <a:t>of</a:t>
            </a:r>
            <a:r>
              <a:rPr sz="3600" spc="80" dirty="0">
                <a:solidFill>
                  <a:srgbClr val="2E377E"/>
                </a:solidFill>
                <a:latin typeface="Georgia"/>
                <a:cs typeface="Georgia"/>
              </a:rPr>
              <a:t> </a:t>
            </a:r>
            <a:r>
              <a:rPr sz="3600" spc="60" dirty="0">
                <a:solidFill>
                  <a:srgbClr val="2E377E"/>
                </a:solidFill>
                <a:latin typeface="Georgia"/>
                <a:cs typeface="Georgia"/>
              </a:rPr>
              <a:t>the</a:t>
            </a:r>
            <a:r>
              <a:rPr sz="3600" spc="80" dirty="0">
                <a:solidFill>
                  <a:srgbClr val="2E377E"/>
                </a:solidFill>
                <a:latin typeface="Georgia"/>
                <a:cs typeface="Georgia"/>
              </a:rPr>
              <a:t> </a:t>
            </a:r>
            <a:r>
              <a:rPr sz="3600" spc="-10" dirty="0">
                <a:solidFill>
                  <a:srgbClr val="2E377E"/>
                </a:solidFill>
                <a:latin typeface="Georgia"/>
                <a:cs typeface="Georgia"/>
              </a:rPr>
              <a:t>application. </a:t>
            </a:r>
            <a:r>
              <a:rPr sz="3600" spc="45" dirty="0">
                <a:solidFill>
                  <a:srgbClr val="2E377E"/>
                </a:solidFill>
                <a:latin typeface="Georgia"/>
                <a:cs typeface="Georgia"/>
              </a:rPr>
              <a:t>Deployments</a:t>
            </a:r>
            <a:r>
              <a:rPr sz="3600" spc="10" dirty="0">
                <a:solidFill>
                  <a:srgbClr val="2E377E"/>
                </a:solidFill>
                <a:latin typeface="Georgia"/>
                <a:cs typeface="Georgia"/>
              </a:rPr>
              <a:t> </a:t>
            </a:r>
            <a:r>
              <a:rPr sz="3600" dirty="0">
                <a:solidFill>
                  <a:srgbClr val="2E377E"/>
                </a:solidFill>
                <a:latin typeface="Georgia"/>
                <a:cs typeface="Georgia"/>
              </a:rPr>
              <a:t>also</a:t>
            </a:r>
            <a:r>
              <a:rPr sz="3600" spc="10" dirty="0">
                <a:solidFill>
                  <a:srgbClr val="2E377E"/>
                </a:solidFill>
                <a:latin typeface="Georgia"/>
                <a:cs typeface="Georgia"/>
              </a:rPr>
              <a:t> </a:t>
            </a:r>
            <a:r>
              <a:rPr sz="3600" spc="50" dirty="0">
                <a:solidFill>
                  <a:srgbClr val="2E377E"/>
                </a:solidFill>
                <a:latin typeface="Georgia"/>
                <a:cs typeface="Georgia"/>
              </a:rPr>
              <a:t>provide</a:t>
            </a:r>
            <a:r>
              <a:rPr sz="3600" spc="10" dirty="0">
                <a:solidFill>
                  <a:srgbClr val="2E377E"/>
                </a:solidFill>
                <a:latin typeface="Georgia"/>
                <a:cs typeface="Georgia"/>
              </a:rPr>
              <a:t> </a:t>
            </a:r>
            <a:r>
              <a:rPr sz="3600" spc="55" dirty="0">
                <a:solidFill>
                  <a:srgbClr val="2E377E"/>
                </a:solidFill>
                <a:latin typeface="Georgia"/>
                <a:cs typeface="Georgia"/>
              </a:rPr>
              <a:t>features</a:t>
            </a:r>
            <a:r>
              <a:rPr sz="3600" spc="10" dirty="0">
                <a:solidFill>
                  <a:srgbClr val="2E377E"/>
                </a:solidFill>
                <a:latin typeface="Georgia"/>
                <a:cs typeface="Georgia"/>
              </a:rPr>
              <a:t> </a:t>
            </a:r>
            <a:r>
              <a:rPr sz="3600" dirty="0">
                <a:solidFill>
                  <a:srgbClr val="2E377E"/>
                </a:solidFill>
                <a:latin typeface="Georgia"/>
                <a:cs typeface="Georgia"/>
              </a:rPr>
              <a:t>such</a:t>
            </a:r>
            <a:r>
              <a:rPr sz="3600" spc="10" dirty="0">
                <a:solidFill>
                  <a:srgbClr val="2E377E"/>
                </a:solidFill>
                <a:latin typeface="Georgia"/>
                <a:cs typeface="Georgia"/>
              </a:rPr>
              <a:t> </a:t>
            </a:r>
            <a:r>
              <a:rPr sz="3600" dirty="0">
                <a:solidFill>
                  <a:srgbClr val="2E377E"/>
                </a:solidFill>
                <a:latin typeface="Georgia"/>
                <a:cs typeface="Georgia"/>
              </a:rPr>
              <a:t>as</a:t>
            </a:r>
            <a:r>
              <a:rPr sz="3600" spc="10" dirty="0">
                <a:solidFill>
                  <a:srgbClr val="2E377E"/>
                </a:solidFill>
                <a:latin typeface="Georgia"/>
                <a:cs typeface="Georgia"/>
              </a:rPr>
              <a:t> </a:t>
            </a:r>
            <a:r>
              <a:rPr sz="3600" dirty="0">
                <a:solidFill>
                  <a:srgbClr val="2E377E"/>
                </a:solidFill>
                <a:latin typeface="Georgia"/>
                <a:cs typeface="Georgia"/>
              </a:rPr>
              <a:t>versioning,</a:t>
            </a:r>
            <a:r>
              <a:rPr sz="3600" spc="10" dirty="0">
                <a:solidFill>
                  <a:srgbClr val="2E377E"/>
                </a:solidFill>
                <a:latin typeface="Georgia"/>
                <a:cs typeface="Georgia"/>
              </a:rPr>
              <a:t> </a:t>
            </a:r>
            <a:r>
              <a:rPr sz="3600" spc="55" dirty="0">
                <a:solidFill>
                  <a:srgbClr val="2E377E"/>
                </a:solidFill>
                <a:latin typeface="Georgia"/>
                <a:cs typeface="Georgia"/>
              </a:rPr>
              <a:t>which</a:t>
            </a:r>
            <a:r>
              <a:rPr sz="3600" spc="10" dirty="0">
                <a:solidFill>
                  <a:srgbClr val="2E377E"/>
                </a:solidFill>
                <a:latin typeface="Georgia"/>
                <a:cs typeface="Georgia"/>
              </a:rPr>
              <a:t> </a:t>
            </a:r>
            <a:r>
              <a:rPr sz="3600" dirty="0">
                <a:solidFill>
                  <a:srgbClr val="2E377E"/>
                </a:solidFill>
                <a:latin typeface="Georgia"/>
                <a:cs typeface="Georgia"/>
              </a:rPr>
              <a:t>allows</a:t>
            </a:r>
            <a:r>
              <a:rPr sz="3600" spc="10"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spc="45" dirty="0">
                <a:solidFill>
                  <a:srgbClr val="2E377E"/>
                </a:solidFill>
                <a:latin typeface="Georgia"/>
                <a:cs typeface="Georgia"/>
              </a:rPr>
              <a:t>to </a:t>
            </a:r>
            <a:r>
              <a:rPr sz="3600" spc="65" dirty="0">
                <a:solidFill>
                  <a:srgbClr val="2E377E"/>
                </a:solidFill>
                <a:latin typeface="Georgia"/>
                <a:cs typeface="Georgia"/>
              </a:rPr>
              <a:t>track</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spc="60" dirty="0">
                <a:solidFill>
                  <a:srgbClr val="2E377E"/>
                </a:solidFill>
                <a:latin typeface="Georgia"/>
                <a:cs typeface="Georgia"/>
              </a:rPr>
              <a:t>history</a:t>
            </a:r>
            <a:r>
              <a:rPr sz="3600" spc="-25"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dirty="0">
                <a:solidFill>
                  <a:srgbClr val="2E377E"/>
                </a:solidFill>
                <a:latin typeface="Georgia"/>
                <a:cs typeface="Georgia"/>
              </a:rPr>
              <a:t>changes</a:t>
            </a:r>
            <a:r>
              <a:rPr sz="3600" spc="-20" dirty="0">
                <a:solidFill>
                  <a:srgbClr val="2E377E"/>
                </a:solidFill>
                <a:latin typeface="Georgia"/>
                <a:cs typeface="Georgia"/>
              </a:rPr>
              <a:t> </a:t>
            </a:r>
            <a:r>
              <a:rPr sz="3600" spc="70" dirty="0">
                <a:solidFill>
                  <a:srgbClr val="2E377E"/>
                </a:solidFill>
                <a:latin typeface="Georgia"/>
                <a:cs typeface="Georgia"/>
              </a:rPr>
              <a:t>to</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spc="-10" dirty="0">
                <a:solidFill>
                  <a:srgbClr val="2E377E"/>
                </a:solidFill>
                <a:latin typeface="Georgia"/>
                <a:cs typeface="Georgia"/>
              </a:rPr>
              <a:t>application.</a:t>
            </a:r>
            <a:endParaRPr sz="3600">
              <a:latin typeface="Georgia"/>
              <a:cs typeface="Georgia"/>
            </a:endParaRPr>
          </a:p>
          <a:p>
            <a:pPr marL="12700" marR="400050">
              <a:lnSpc>
                <a:spcPct val="116300"/>
              </a:lnSpc>
            </a:pPr>
            <a:r>
              <a:rPr sz="3600" dirty="0">
                <a:solidFill>
                  <a:srgbClr val="2E377E"/>
                </a:solidFill>
                <a:latin typeface="Georgia"/>
                <a:cs typeface="Georgia"/>
              </a:rPr>
              <a:t>It</a:t>
            </a:r>
            <a:r>
              <a:rPr sz="3600" spc="40" dirty="0">
                <a:solidFill>
                  <a:srgbClr val="2E377E"/>
                </a:solidFill>
                <a:latin typeface="Georgia"/>
                <a:cs typeface="Georgia"/>
              </a:rPr>
              <a:t> </a:t>
            </a:r>
            <a:r>
              <a:rPr sz="3600" dirty="0">
                <a:solidFill>
                  <a:srgbClr val="2E377E"/>
                </a:solidFill>
                <a:latin typeface="Georgia"/>
                <a:cs typeface="Georgia"/>
              </a:rPr>
              <a:t>has</a:t>
            </a:r>
            <a:r>
              <a:rPr sz="3600" spc="40" dirty="0">
                <a:solidFill>
                  <a:srgbClr val="2E377E"/>
                </a:solidFill>
                <a:latin typeface="Georgia"/>
                <a:cs typeface="Georgia"/>
              </a:rPr>
              <a:t> </a:t>
            </a:r>
            <a:r>
              <a:rPr sz="3600" dirty="0">
                <a:solidFill>
                  <a:srgbClr val="2E377E"/>
                </a:solidFill>
                <a:latin typeface="Georgia"/>
                <a:cs typeface="Georgia"/>
              </a:rPr>
              <a:t>a</a:t>
            </a:r>
            <a:r>
              <a:rPr sz="3600" spc="45" dirty="0">
                <a:solidFill>
                  <a:srgbClr val="2E377E"/>
                </a:solidFill>
                <a:latin typeface="Georgia"/>
                <a:cs typeface="Georgia"/>
              </a:rPr>
              <a:t> </a:t>
            </a:r>
            <a:r>
              <a:rPr sz="3600" dirty="0">
                <a:solidFill>
                  <a:srgbClr val="2E377E"/>
                </a:solidFill>
                <a:latin typeface="Georgia"/>
                <a:cs typeface="Georgia"/>
              </a:rPr>
              <a:t>pause</a:t>
            </a:r>
            <a:r>
              <a:rPr sz="3600" spc="40" dirty="0">
                <a:solidFill>
                  <a:srgbClr val="2E377E"/>
                </a:solidFill>
                <a:latin typeface="Georgia"/>
                <a:cs typeface="Georgia"/>
              </a:rPr>
              <a:t> </a:t>
            </a:r>
            <a:r>
              <a:rPr sz="3600" dirty="0">
                <a:solidFill>
                  <a:srgbClr val="2E377E"/>
                </a:solidFill>
                <a:latin typeface="Georgia"/>
                <a:cs typeface="Georgia"/>
              </a:rPr>
              <a:t>feature,</a:t>
            </a:r>
            <a:r>
              <a:rPr sz="3600" spc="45" dirty="0">
                <a:solidFill>
                  <a:srgbClr val="2E377E"/>
                </a:solidFill>
                <a:latin typeface="Georgia"/>
                <a:cs typeface="Georgia"/>
              </a:rPr>
              <a:t> </a:t>
            </a:r>
            <a:r>
              <a:rPr sz="3600" spc="55" dirty="0">
                <a:solidFill>
                  <a:srgbClr val="2E377E"/>
                </a:solidFill>
                <a:latin typeface="Georgia"/>
                <a:cs typeface="Georgia"/>
              </a:rPr>
              <a:t>which</a:t>
            </a:r>
            <a:r>
              <a:rPr sz="3600" spc="40" dirty="0">
                <a:solidFill>
                  <a:srgbClr val="2E377E"/>
                </a:solidFill>
                <a:latin typeface="Georgia"/>
                <a:cs typeface="Georgia"/>
              </a:rPr>
              <a:t> </a:t>
            </a:r>
            <a:r>
              <a:rPr sz="3600" dirty="0">
                <a:solidFill>
                  <a:srgbClr val="2E377E"/>
                </a:solidFill>
                <a:latin typeface="Georgia"/>
                <a:cs typeface="Georgia"/>
              </a:rPr>
              <a:t>allows</a:t>
            </a:r>
            <a:r>
              <a:rPr sz="3600" spc="45" dirty="0">
                <a:solidFill>
                  <a:srgbClr val="2E377E"/>
                </a:solidFill>
                <a:latin typeface="Georgia"/>
                <a:cs typeface="Georgia"/>
              </a:rPr>
              <a:t> </a:t>
            </a:r>
            <a:r>
              <a:rPr sz="3600" spc="90" dirty="0">
                <a:solidFill>
                  <a:srgbClr val="2E377E"/>
                </a:solidFill>
                <a:latin typeface="Georgia"/>
                <a:cs typeface="Georgia"/>
              </a:rPr>
              <a:t>you</a:t>
            </a:r>
            <a:r>
              <a:rPr sz="3600" spc="40" dirty="0">
                <a:solidFill>
                  <a:srgbClr val="2E377E"/>
                </a:solidFill>
                <a:latin typeface="Georgia"/>
                <a:cs typeface="Georgia"/>
              </a:rPr>
              <a:t> </a:t>
            </a:r>
            <a:r>
              <a:rPr sz="3600" spc="70" dirty="0">
                <a:solidFill>
                  <a:srgbClr val="2E377E"/>
                </a:solidFill>
                <a:latin typeface="Georgia"/>
                <a:cs typeface="Georgia"/>
              </a:rPr>
              <a:t>to</a:t>
            </a:r>
            <a:r>
              <a:rPr sz="3600" spc="45" dirty="0">
                <a:solidFill>
                  <a:srgbClr val="2E377E"/>
                </a:solidFill>
                <a:latin typeface="Georgia"/>
                <a:cs typeface="Georgia"/>
              </a:rPr>
              <a:t> temporarily</a:t>
            </a:r>
            <a:r>
              <a:rPr sz="3600" spc="40" dirty="0">
                <a:solidFill>
                  <a:srgbClr val="2E377E"/>
                </a:solidFill>
                <a:latin typeface="Georgia"/>
                <a:cs typeface="Georgia"/>
              </a:rPr>
              <a:t> </a:t>
            </a:r>
            <a:r>
              <a:rPr sz="3600" dirty="0">
                <a:solidFill>
                  <a:srgbClr val="2E377E"/>
                </a:solidFill>
                <a:latin typeface="Georgia"/>
                <a:cs typeface="Georgia"/>
              </a:rPr>
              <a:t>suspend</a:t>
            </a:r>
            <a:r>
              <a:rPr sz="3600" spc="45" dirty="0">
                <a:solidFill>
                  <a:srgbClr val="2E377E"/>
                </a:solidFill>
                <a:latin typeface="Georgia"/>
                <a:cs typeface="Georgia"/>
              </a:rPr>
              <a:t> </a:t>
            </a:r>
            <a:r>
              <a:rPr sz="3600" dirty="0">
                <a:solidFill>
                  <a:srgbClr val="2E377E"/>
                </a:solidFill>
                <a:latin typeface="Georgia"/>
                <a:cs typeface="Georgia"/>
              </a:rPr>
              <a:t>updates</a:t>
            </a:r>
            <a:r>
              <a:rPr sz="3600" spc="40" dirty="0">
                <a:solidFill>
                  <a:srgbClr val="2E377E"/>
                </a:solidFill>
                <a:latin typeface="Georgia"/>
                <a:cs typeface="Georgia"/>
              </a:rPr>
              <a:t> </a:t>
            </a:r>
            <a:r>
              <a:rPr sz="3600" spc="45" dirty="0">
                <a:solidFill>
                  <a:srgbClr val="2E377E"/>
                </a:solidFill>
                <a:latin typeface="Georgia"/>
                <a:cs typeface="Georgia"/>
              </a:rPr>
              <a:t>to </a:t>
            </a:r>
            <a:r>
              <a:rPr sz="3600" spc="60" dirty="0">
                <a:solidFill>
                  <a:srgbClr val="2E377E"/>
                </a:solidFill>
                <a:latin typeface="Georgia"/>
                <a:cs typeface="Georgia"/>
              </a:rPr>
              <a:t>the</a:t>
            </a:r>
            <a:r>
              <a:rPr sz="3600" spc="-60" dirty="0">
                <a:solidFill>
                  <a:srgbClr val="2E377E"/>
                </a:solidFill>
                <a:latin typeface="Georgia"/>
                <a:cs typeface="Georgia"/>
              </a:rPr>
              <a:t> </a:t>
            </a:r>
            <a:r>
              <a:rPr sz="3600" spc="-10" dirty="0">
                <a:solidFill>
                  <a:srgbClr val="2E377E"/>
                </a:solidFill>
                <a:latin typeface="Georgia"/>
                <a:cs typeface="Georgia"/>
              </a:rPr>
              <a:t>application</a:t>
            </a:r>
            <a:endParaRPr sz="3600">
              <a:latin typeface="Georgia"/>
              <a:cs typeface="Georgia"/>
            </a:endParaRPr>
          </a:p>
          <a:p>
            <a:pPr marL="12700" marR="5080">
              <a:lnSpc>
                <a:spcPct val="116300"/>
              </a:lnSpc>
            </a:pPr>
            <a:r>
              <a:rPr sz="3600" dirty="0">
                <a:solidFill>
                  <a:srgbClr val="2E377E"/>
                </a:solidFill>
                <a:latin typeface="Georgia"/>
                <a:cs typeface="Georgia"/>
              </a:rPr>
              <a:t>Scaling</a:t>
            </a:r>
            <a:r>
              <a:rPr sz="3600" spc="60" dirty="0">
                <a:solidFill>
                  <a:srgbClr val="2E377E"/>
                </a:solidFill>
                <a:latin typeface="Georgia"/>
                <a:cs typeface="Georgia"/>
              </a:rPr>
              <a:t> </a:t>
            </a:r>
            <a:r>
              <a:rPr sz="3600" dirty="0">
                <a:solidFill>
                  <a:srgbClr val="2E377E"/>
                </a:solidFill>
                <a:latin typeface="Georgia"/>
                <a:cs typeface="Georgia"/>
              </a:rPr>
              <a:t>can</a:t>
            </a:r>
            <a:r>
              <a:rPr sz="3600" spc="60" dirty="0">
                <a:solidFill>
                  <a:srgbClr val="2E377E"/>
                </a:solidFill>
                <a:latin typeface="Georgia"/>
                <a:cs typeface="Georgia"/>
              </a:rPr>
              <a:t> </a:t>
            </a:r>
            <a:r>
              <a:rPr sz="3600" dirty="0">
                <a:solidFill>
                  <a:srgbClr val="2E377E"/>
                </a:solidFill>
                <a:latin typeface="Georgia"/>
                <a:cs typeface="Georgia"/>
              </a:rPr>
              <a:t>be</a:t>
            </a:r>
            <a:r>
              <a:rPr sz="3600" spc="60" dirty="0">
                <a:solidFill>
                  <a:srgbClr val="2E377E"/>
                </a:solidFill>
                <a:latin typeface="Georgia"/>
                <a:cs typeface="Georgia"/>
              </a:rPr>
              <a:t> </a:t>
            </a:r>
            <a:r>
              <a:rPr sz="3600" dirty="0">
                <a:solidFill>
                  <a:srgbClr val="2E377E"/>
                </a:solidFill>
                <a:latin typeface="Georgia"/>
                <a:cs typeface="Georgia"/>
              </a:rPr>
              <a:t>done</a:t>
            </a:r>
            <a:r>
              <a:rPr sz="3600" spc="60" dirty="0">
                <a:solidFill>
                  <a:srgbClr val="2E377E"/>
                </a:solidFill>
                <a:latin typeface="Georgia"/>
                <a:cs typeface="Georgia"/>
              </a:rPr>
              <a:t> </a:t>
            </a:r>
            <a:r>
              <a:rPr sz="3600" dirty="0">
                <a:solidFill>
                  <a:srgbClr val="2E377E"/>
                </a:solidFill>
                <a:latin typeface="Georgia"/>
                <a:cs typeface="Georgia"/>
              </a:rPr>
              <a:t>manually</a:t>
            </a:r>
            <a:r>
              <a:rPr sz="3600" spc="60" dirty="0">
                <a:solidFill>
                  <a:srgbClr val="2E377E"/>
                </a:solidFill>
                <a:latin typeface="Georgia"/>
                <a:cs typeface="Georgia"/>
              </a:rPr>
              <a:t> </a:t>
            </a:r>
            <a:r>
              <a:rPr sz="3600" dirty="0">
                <a:solidFill>
                  <a:srgbClr val="2E377E"/>
                </a:solidFill>
                <a:latin typeface="Georgia"/>
                <a:cs typeface="Georgia"/>
              </a:rPr>
              <a:t>or</a:t>
            </a:r>
            <a:r>
              <a:rPr sz="3600" spc="60" dirty="0">
                <a:solidFill>
                  <a:srgbClr val="2E377E"/>
                </a:solidFill>
                <a:latin typeface="Georgia"/>
                <a:cs typeface="Georgia"/>
              </a:rPr>
              <a:t> </a:t>
            </a:r>
            <a:r>
              <a:rPr sz="3600" dirty="0">
                <a:solidFill>
                  <a:srgbClr val="2E377E"/>
                </a:solidFill>
                <a:latin typeface="Georgia"/>
                <a:cs typeface="Georgia"/>
              </a:rPr>
              <a:t>automatically</a:t>
            </a:r>
            <a:r>
              <a:rPr sz="3600" spc="60" dirty="0">
                <a:solidFill>
                  <a:srgbClr val="2E377E"/>
                </a:solidFill>
                <a:latin typeface="Georgia"/>
                <a:cs typeface="Georgia"/>
              </a:rPr>
              <a:t> </a:t>
            </a:r>
            <a:r>
              <a:rPr sz="3600" dirty="0">
                <a:solidFill>
                  <a:srgbClr val="2E377E"/>
                </a:solidFill>
                <a:latin typeface="Georgia"/>
                <a:cs typeface="Georgia"/>
              </a:rPr>
              <a:t>based</a:t>
            </a:r>
            <a:r>
              <a:rPr sz="3600" spc="60" dirty="0">
                <a:solidFill>
                  <a:srgbClr val="2E377E"/>
                </a:solidFill>
                <a:latin typeface="Georgia"/>
                <a:cs typeface="Georgia"/>
              </a:rPr>
              <a:t> </a:t>
            </a:r>
            <a:r>
              <a:rPr sz="3600" dirty="0">
                <a:solidFill>
                  <a:srgbClr val="2E377E"/>
                </a:solidFill>
                <a:latin typeface="Georgia"/>
                <a:cs typeface="Georgia"/>
              </a:rPr>
              <a:t>on</a:t>
            </a:r>
            <a:r>
              <a:rPr sz="3600" spc="60" dirty="0">
                <a:solidFill>
                  <a:srgbClr val="2E377E"/>
                </a:solidFill>
                <a:latin typeface="Georgia"/>
                <a:cs typeface="Georgia"/>
              </a:rPr>
              <a:t> </a:t>
            </a:r>
            <a:r>
              <a:rPr sz="3600" spc="50" dirty="0">
                <a:solidFill>
                  <a:srgbClr val="2E377E"/>
                </a:solidFill>
                <a:latin typeface="Georgia"/>
                <a:cs typeface="Georgia"/>
              </a:rPr>
              <a:t>metrics</a:t>
            </a:r>
            <a:r>
              <a:rPr sz="3600" spc="60" dirty="0">
                <a:solidFill>
                  <a:srgbClr val="2E377E"/>
                </a:solidFill>
                <a:latin typeface="Georgia"/>
                <a:cs typeface="Georgia"/>
              </a:rPr>
              <a:t> </a:t>
            </a:r>
            <a:r>
              <a:rPr sz="3600" dirty="0">
                <a:solidFill>
                  <a:srgbClr val="2E377E"/>
                </a:solidFill>
                <a:latin typeface="Georgia"/>
                <a:cs typeface="Georgia"/>
              </a:rPr>
              <a:t>such</a:t>
            </a:r>
            <a:r>
              <a:rPr sz="3600" spc="60" dirty="0">
                <a:solidFill>
                  <a:srgbClr val="2E377E"/>
                </a:solidFill>
                <a:latin typeface="Georgia"/>
                <a:cs typeface="Georgia"/>
              </a:rPr>
              <a:t> </a:t>
            </a:r>
            <a:r>
              <a:rPr sz="3600" dirty="0">
                <a:solidFill>
                  <a:srgbClr val="2E377E"/>
                </a:solidFill>
                <a:latin typeface="Georgia"/>
                <a:cs typeface="Georgia"/>
              </a:rPr>
              <a:t>as</a:t>
            </a:r>
            <a:r>
              <a:rPr sz="3600" spc="60" dirty="0">
                <a:solidFill>
                  <a:srgbClr val="2E377E"/>
                </a:solidFill>
                <a:latin typeface="Georgia"/>
                <a:cs typeface="Georgia"/>
              </a:rPr>
              <a:t> </a:t>
            </a:r>
            <a:r>
              <a:rPr sz="3600" spc="-25" dirty="0">
                <a:solidFill>
                  <a:srgbClr val="2E377E"/>
                </a:solidFill>
                <a:latin typeface="Georgia"/>
                <a:cs typeface="Georgia"/>
              </a:rPr>
              <a:t>CPU </a:t>
            </a:r>
            <a:r>
              <a:rPr sz="3600" spc="50" dirty="0">
                <a:solidFill>
                  <a:srgbClr val="2E377E"/>
                </a:solidFill>
                <a:latin typeface="Georgia"/>
                <a:cs typeface="Georgia"/>
              </a:rPr>
              <a:t>utilization</a:t>
            </a:r>
            <a:r>
              <a:rPr sz="3600" spc="-20" dirty="0">
                <a:solidFill>
                  <a:srgbClr val="2E377E"/>
                </a:solidFill>
                <a:latin typeface="Georgia"/>
                <a:cs typeface="Georgia"/>
              </a:rPr>
              <a:t> </a:t>
            </a:r>
            <a:r>
              <a:rPr sz="3600" dirty="0">
                <a:solidFill>
                  <a:srgbClr val="2E377E"/>
                </a:solidFill>
                <a:latin typeface="Georgia"/>
                <a:cs typeface="Georgia"/>
              </a:rPr>
              <a:t>or</a:t>
            </a:r>
            <a:r>
              <a:rPr sz="3600" spc="-15" dirty="0">
                <a:solidFill>
                  <a:srgbClr val="2E377E"/>
                </a:solidFill>
                <a:latin typeface="Georgia"/>
                <a:cs typeface="Georgia"/>
              </a:rPr>
              <a:t> </a:t>
            </a:r>
            <a:r>
              <a:rPr sz="3600" spc="50" dirty="0">
                <a:solidFill>
                  <a:srgbClr val="2E377E"/>
                </a:solidFill>
                <a:latin typeface="Georgia"/>
                <a:cs typeface="Georgia"/>
              </a:rPr>
              <a:t>requests</a:t>
            </a:r>
            <a:r>
              <a:rPr sz="3600" spc="-15" dirty="0">
                <a:solidFill>
                  <a:srgbClr val="2E377E"/>
                </a:solidFill>
                <a:latin typeface="Georgia"/>
                <a:cs typeface="Georgia"/>
              </a:rPr>
              <a:t> </a:t>
            </a:r>
            <a:r>
              <a:rPr sz="3600" dirty="0">
                <a:solidFill>
                  <a:srgbClr val="2E377E"/>
                </a:solidFill>
                <a:latin typeface="Georgia"/>
                <a:cs typeface="Georgia"/>
              </a:rPr>
              <a:t>per</a:t>
            </a:r>
            <a:r>
              <a:rPr sz="3600" spc="-20" dirty="0">
                <a:solidFill>
                  <a:srgbClr val="2E377E"/>
                </a:solidFill>
                <a:latin typeface="Georgia"/>
                <a:cs typeface="Georgia"/>
              </a:rPr>
              <a:t> </a:t>
            </a:r>
            <a:r>
              <a:rPr sz="3600" spc="-10" dirty="0">
                <a:solidFill>
                  <a:srgbClr val="2E377E"/>
                </a:solidFill>
                <a:latin typeface="Georgia"/>
                <a:cs typeface="Georgia"/>
              </a:rPr>
              <a:t>second.</a:t>
            </a:r>
            <a:endParaRPr sz="3600">
              <a:latin typeface="Georgia"/>
              <a:cs typeface="Georgia"/>
            </a:endParaRPr>
          </a:p>
          <a:p>
            <a:pPr marL="12700">
              <a:lnSpc>
                <a:spcPct val="100000"/>
              </a:lnSpc>
              <a:spcBef>
                <a:spcPts val="705"/>
              </a:spcBef>
            </a:pPr>
            <a:r>
              <a:rPr sz="3600" spc="45" dirty="0">
                <a:solidFill>
                  <a:srgbClr val="2E377E"/>
                </a:solidFill>
                <a:latin typeface="Georgia"/>
                <a:cs typeface="Georgia"/>
              </a:rPr>
              <a:t>Deployment</a:t>
            </a:r>
            <a:r>
              <a:rPr sz="3600" spc="-40" dirty="0">
                <a:solidFill>
                  <a:srgbClr val="2E377E"/>
                </a:solidFill>
                <a:latin typeface="Georgia"/>
                <a:cs typeface="Georgia"/>
              </a:rPr>
              <a:t> </a:t>
            </a:r>
            <a:r>
              <a:rPr sz="3600" spc="55" dirty="0">
                <a:solidFill>
                  <a:srgbClr val="2E377E"/>
                </a:solidFill>
                <a:latin typeface="Georgia"/>
                <a:cs typeface="Georgia"/>
              </a:rPr>
              <a:t>will</a:t>
            </a:r>
            <a:r>
              <a:rPr sz="3600" spc="-40" dirty="0">
                <a:solidFill>
                  <a:srgbClr val="2E377E"/>
                </a:solidFill>
                <a:latin typeface="Georgia"/>
                <a:cs typeface="Georgia"/>
              </a:rPr>
              <a:t> </a:t>
            </a:r>
            <a:r>
              <a:rPr sz="3600" spc="55" dirty="0">
                <a:solidFill>
                  <a:srgbClr val="2E377E"/>
                </a:solidFill>
                <a:latin typeface="Georgia"/>
                <a:cs typeface="Georgia"/>
              </a:rPr>
              <a:t>create</a:t>
            </a:r>
            <a:r>
              <a:rPr sz="3600" spc="-40" dirty="0">
                <a:solidFill>
                  <a:srgbClr val="2E377E"/>
                </a:solidFill>
                <a:latin typeface="Georgia"/>
                <a:cs typeface="Georgia"/>
              </a:rPr>
              <a:t> </a:t>
            </a:r>
            <a:r>
              <a:rPr sz="3600" dirty="0">
                <a:solidFill>
                  <a:srgbClr val="2E377E"/>
                </a:solidFill>
                <a:latin typeface="Georgia"/>
                <a:cs typeface="Georgia"/>
              </a:rPr>
              <a:t>ReplicaSet,</a:t>
            </a:r>
            <a:r>
              <a:rPr sz="3600" spc="-40" dirty="0">
                <a:solidFill>
                  <a:srgbClr val="2E377E"/>
                </a:solidFill>
                <a:latin typeface="Georgia"/>
                <a:cs typeface="Georgia"/>
              </a:rPr>
              <a:t> </a:t>
            </a:r>
            <a:r>
              <a:rPr sz="3600" dirty="0">
                <a:solidFill>
                  <a:srgbClr val="2E377E"/>
                </a:solidFill>
                <a:latin typeface="Georgia"/>
                <a:cs typeface="Georgia"/>
              </a:rPr>
              <a:t>ReplicaSet</a:t>
            </a:r>
            <a:r>
              <a:rPr sz="3600" spc="-40" dirty="0">
                <a:solidFill>
                  <a:srgbClr val="2E377E"/>
                </a:solidFill>
                <a:latin typeface="Georgia"/>
                <a:cs typeface="Georgia"/>
              </a:rPr>
              <a:t> </a:t>
            </a:r>
            <a:r>
              <a:rPr sz="3600" spc="55" dirty="0">
                <a:solidFill>
                  <a:srgbClr val="2E377E"/>
                </a:solidFill>
                <a:latin typeface="Georgia"/>
                <a:cs typeface="Georgia"/>
              </a:rPr>
              <a:t>will</a:t>
            </a:r>
            <a:r>
              <a:rPr sz="3600" spc="-40" dirty="0">
                <a:solidFill>
                  <a:srgbClr val="2E377E"/>
                </a:solidFill>
                <a:latin typeface="Georgia"/>
                <a:cs typeface="Georgia"/>
              </a:rPr>
              <a:t> </a:t>
            </a:r>
            <a:r>
              <a:rPr sz="3600" spc="50" dirty="0">
                <a:solidFill>
                  <a:srgbClr val="2E377E"/>
                </a:solidFill>
                <a:latin typeface="Georgia"/>
                <a:cs typeface="Georgia"/>
              </a:rPr>
              <a:t>created</a:t>
            </a:r>
            <a:r>
              <a:rPr sz="3600" spc="-35" dirty="0">
                <a:solidFill>
                  <a:srgbClr val="2E377E"/>
                </a:solidFill>
                <a:latin typeface="Georgia"/>
                <a:cs typeface="Georgia"/>
              </a:rPr>
              <a:t> </a:t>
            </a:r>
            <a:r>
              <a:rPr sz="3600" spc="-10" dirty="0">
                <a:solidFill>
                  <a:srgbClr val="2E377E"/>
                </a:solidFill>
                <a:latin typeface="Georgia"/>
                <a:cs typeface="Georgia"/>
              </a:rPr>
              <a:t>Pods.</a:t>
            </a:r>
            <a:endParaRPr sz="3600">
              <a:latin typeface="Georgia"/>
              <a:cs typeface="Georgia"/>
            </a:endParaRPr>
          </a:p>
          <a:p>
            <a:pPr marL="12700" marR="418465">
              <a:lnSpc>
                <a:spcPct val="116300"/>
              </a:lnSpc>
              <a:spcBef>
                <a:spcPts val="5"/>
              </a:spcBef>
            </a:pPr>
            <a:r>
              <a:rPr sz="3600" dirty="0">
                <a:solidFill>
                  <a:srgbClr val="2E377E"/>
                </a:solidFill>
                <a:latin typeface="Georgia"/>
                <a:cs typeface="Georgia"/>
              </a:rPr>
              <a:t>If</a:t>
            </a:r>
            <a:r>
              <a:rPr sz="3600" spc="-10"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spc="55" dirty="0">
                <a:solidFill>
                  <a:srgbClr val="2E377E"/>
                </a:solidFill>
                <a:latin typeface="Georgia"/>
                <a:cs typeface="Georgia"/>
              </a:rPr>
              <a:t>delete</a:t>
            </a:r>
            <a:r>
              <a:rPr sz="3600" spc="-10" dirty="0">
                <a:solidFill>
                  <a:srgbClr val="2E377E"/>
                </a:solidFill>
                <a:latin typeface="Georgia"/>
                <a:cs typeface="Georgia"/>
              </a:rPr>
              <a:t> </a:t>
            </a:r>
            <a:r>
              <a:rPr sz="3600" dirty="0">
                <a:solidFill>
                  <a:srgbClr val="2E377E"/>
                </a:solidFill>
                <a:latin typeface="Georgia"/>
                <a:cs typeface="Georgia"/>
              </a:rPr>
              <a:t>Deployment,</a:t>
            </a:r>
            <a:r>
              <a:rPr sz="3600" spc="-10" dirty="0">
                <a:solidFill>
                  <a:srgbClr val="2E377E"/>
                </a:solidFill>
                <a:latin typeface="Georgia"/>
                <a:cs typeface="Georgia"/>
              </a:rPr>
              <a:t> </a:t>
            </a:r>
            <a:r>
              <a:rPr sz="3600" spc="65" dirty="0">
                <a:solidFill>
                  <a:srgbClr val="2E377E"/>
                </a:solidFill>
                <a:latin typeface="Georgia"/>
                <a:cs typeface="Georgia"/>
              </a:rPr>
              <a:t>it</a:t>
            </a:r>
            <a:r>
              <a:rPr sz="3600" spc="-10" dirty="0">
                <a:solidFill>
                  <a:srgbClr val="2E377E"/>
                </a:solidFill>
                <a:latin typeface="Georgia"/>
                <a:cs typeface="Georgia"/>
              </a:rPr>
              <a:t> </a:t>
            </a:r>
            <a:r>
              <a:rPr sz="3600" spc="55" dirty="0">
                <a:solidFill>
                  <a:srgbClr val="2E377E"/>
                </a:solidFill>
                <a:latin typeface="Georgia"/>
                <a:cs typeface="Georgia"/>
              </a:rPr>
              <a:t>will</a:t>
            </a:r>
            <a:r>
              <a:rPr sz="3600" spc="-5" dirty="0">
                <a:solidFill>
                  <a:srgbClr val="2E377E"/>
                </a:solidFill>
                <a:latin typeface="Georgia"/>
                <a:cs typeface="Georgia"/>
              </a:rPr>
              <a:t> </a:t>
            </a:r>
            <a:r>
              <a:rPr sz="3600" spc="55" dirty="0">
                <a:solidFill>
                  <a:srgbClr val="2E377E"/>
                </a:solidFill>
                <a:latin typeface="Georgia"/>
                <a:cs typeface="Georgia"/>
              </a:rPr>
              <a:t>delete</a:t>
            </a:r>
            <a:r>
              <a:rPr sz="3600" spc="-10" dirty="0">
                <a:solidFill>
                  <a:srgbClr val="2E377E"/>
                </a:solidFill>
                <a:latin typeface="Georgia"/>
                <a:cs typeface="Georgia"/>
              </a:rPr>
              <a:t> </a:t>
            </a:r>
            <a:r>
              <a:rPr sz="3600" dirty="0">
                <a:solidFill>
                  <a:srgbClr val="2E377E"/>
                </a:solidFill>
                <a:latin typeface="Georgia"/>
                <a:cs typeface="Georgia"/>
              </a:rPr>
              <a:t>ReplicaSet</a:t>
            </a:r>
            <a:r>
              <a:rPr sz="3600" spc="-10" dirty="0">
                <a:solidFill>
                  <a:srgbClr val="2E377E"/>
                </a:solidFill>
                <a:latin typeface="Georgia"/>
                <a:cs typeface="Georgia"/>
              </a:rPr>
              <a:t> </a:t>
            </a:r>
            <a:r>
              <a:rPr sz="3600" dirty="0">
                <a:solidFill>
                  <a:srgbClr val="2E377E"/>
                </a:solidFill>
                <a:latin typeface="Georgia"/>
                <a:cs typeface="Georgia"/>
              </a:rPr>
              <a:t>and</a:t>
            </a:r>
            <a:r>
              <a:rPr sz="3600" spc="-10" dirty="0">
                <a:solidFill>
                  <a:srgbClr val="2E377E"/>
                </a:solidFill>
                <a:latin typeface="Georgia"/>
                <a:cs typeface="Georgia"/>
              </a:rPr>
              <a:t> </a:t>
            </a:r>
            <a:r>
              <a:rPr sz="3600" spc="50" dirty="0">
                <a:solidFill>
                  <a:srgbClr val="2E377E"/>
                </a:solidFill>
                <a:latin typeface="Georgia"/>
                <a:cs typeface="Georgia"/>
              </a:rPr>
              <a:t>then</a:t>
            </a:r>
            <a:r>
              <a:rPr sz="3600" spc="-10" dirty="0">
                <a:solidFill>
                  <a:srgbClr val="2E377E"/>
                </a:solidFill>
                <a:latin typeface="Georgia"/>
                <a:cs typeface="Georgia"/>
              </a:rPr>
              <a:t> </a:t>
            </a:r>
            <a:r>
              <a:rPr sz="3600" dirty="0">
                <a:solidFill>
                  <a:srgbClr val="2E377E"/>
                </a:solidFill>
                <a:latin typeface="Georgia"/>
                <a:cs typeface="Georgia"/>
              </a:rPr>
              <a:t>ReplicaSet</a:t>
            </a:r>
            <a:r>
              <a:rPr sz="3600" spc="-10" dirty="0">
                <a:solidFill>
                  <a:srgbClr val="2E377E"/>
                </a:solidFill>
                <a:latin typeface="Georgia"/>
                <a:cs typeface="Georgia"/>
              </a:rPr>
              <a:t> </a:t>
            </a:r>
            <a:r>
              <a:rPr sz="3600" spc="35" dirty="0">
                <a:solidFill>
                  <a:srgbClr val="2E377E"/>
                </a:solidFill>
                <a:latin typeface="Georgia"/>
                <a:cs typeface="Georgia"/>
              </a:rPr>
              <a:t>will </a:t>
            </a:r>
            <a:r>
              <a:rPr sz="3600" spc="55" dirty="0">
                <a:solidFill>
                  <a:srgbClr val="2E377E"/>
                </a:solidFill>
                <a:latin typeface="Georgia"/>
                <a:cs typeface="Georgia"/>
              </a:rPr>
              <a:t>delete</a:t>
            </a:r>
            <a:r>
              <a:rPr sz="3600" spc="-50" dirty="0">
                <a:solidFill>
                  <a:srgbClr val="2E377E"/>
                </a:solidFill>
                <a:latin typeface="Georgia"/>
                <a:cs typeface="Georgia"/>
              </a:rPr>
              <a:t> </a:t>
            </a:r>
            <a:r>
              <a:rPr sz="3600" spc="-20" dirty="0">
                <a:solidFill>
                  <a:srgbClr val="2E377E"/>
                </a:solidFill>
                <a:latin typeface="Georgia"/>
                <a:cs typeface="Georgia"/>
              </a:rPr>
              <a:t>Pods.</a:t>
            </a:r>
            <a:endParaRPr sz="3600">
              <a:latin typeface="Georgia"/>
              <a:cs typeface="Georgi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8226" y="516576"/>
            <a:ext cx="5695949" cy="9467849"/>
          </a:xfrm>
          <a:prstGeom prst="rect">
            <a:avLst/>
          </a:prstGeom>
        </p:spPr>
      </p:pic>
      <p:pic>
        <p:nvPicPr>
          <p:cNvPr id="3" name="object 3"/>
          <p:cNvPicPr/>
          <p:nvPr/>
        </p:nvPicPr>
        <p:blipFill>
          <a:blip r:embed="rId3" cstate="print"/>
          <a:stretch>
            <a:fillRect/>
          </a:stretch>
        </p:blipFill>
        <p:spPr>
          <a:xfrm>
            <a:off x="7090000" y="1249682"/>
            <a:ext cx="133350" cy="133350"/>
          </a:xfrm>
          <a:prstGeom prst="rect">
            <a:avLst/>
          </a:prstGeom>
        </p:spPr>
      </p:pic>
      <p:pic>
        <p:nvPicPr>
          <p:cNvPr id="4" name="object 4"/>
          <p:cNvPicPr/>
          <p:nvPr/>
        </p:nvPicPr>
        <p:blipFill>
          <a:blip r:embed="rId3" cstate="print"/>
          <a:stretch>
            <a:fillRect/>
          </a:stretch>
        </p:blipFill>
        <p:spPr>
          <a:xfrm>
            <a:off x="7090000" y="1887858"/>
            <a:ext cx="133350" cy="133350"/>
          </a:xfrm>
          <a:prstGeom prst="rect">
            <a:avLst/>
          </a:prstGeom>
        </p:spPr>
      </p:pic>
      <p:pic>
        <p:nvPicPr>
          <p:cNvPr id="5" name="object 5"/>
          <p:cNvPicPr/>
          <p:nvPr/>
        </p:nvPicPr>
        <p:blipFill>
          <a:blip r:embed="rId3" cstate="print"/>
          <a:stretch>
            <a:fillRect/>
          </a:stretch>
        </p:blipFill>
        <p:spPr>
          <a:xfrm>
            <a:off x="7090000" y="2526032"/>
            <a:ext cx="133350" cy="133350"/>
          </a:xfrm>
          <a:prstGeom prst="rect">
            <a:avLst/>
          </a:prstGeom>
        </p:spPr>
      </p:pic>
      <p:pic>
        <p:nvPicPr>
          <p:cNvPr id="6" name="object 6"/>
          <p:cNvPicPr/>
          <p:nvPr/>
        </p:nvPicPr>
        <p:blipFill>
          <a:blip r:embed="rId3" cstate="print"/>
          <a:stretch>
            <a:fillRect/>
          </a:stretch>
        </p:blipFill>
        <p:spPr>
          <a:xfrm>
            <a:off x="7090000" y="3802383"/>
            <a:ext cx="133350" cy="133350"/>
          </a:xfrm>
          <a:prstGeom prst="rect">
            <a:avLst/>
          </a:prstGeom>
        </p:spPr>
      </p:pic>
      <p:sp>
        <p:nvSpPr>
          <p:cNvPr id="7" name="object 7"/>
          <p:cNvSpPr txBox="1"/>
          <p:nvPr/>
        </p:nvSpPr>
        <p:spPr>
          <a:xfrm>
            <a:off x="7406808" y="926595"/>
            <a:ext cx="10301605" cy="5768975"/>
          </a:xfrm>
          <a:prstGeom prst="rect">
            <a:avLst/>
          </a:prstGeom>
        </p:spPr>
        <p:txBody>
          <a:bodyPr vert="horz" wrap="square" lIns="0" tIns="12700" rIns="0" bIns="0" rtlCol="0">
            <a:spAutoFit/>
          </a:bodyPr>
          <a:lstStyle/>
          <a:p>
            <a:pPr marL="12700" marR="153035">
              <a:lnSpc>
                <a:spcPct val="116300"/>
              </a:lnSpc>
              <a:spcBef>
                <a:spcPts val="100"/>
              </a:spcBef>
            </a:pPr>
            <a:r>
              <a:rPr sz="3600" spc="-10" dirty="0">
                <a:solidFill>
                  <a:srgbClr val="2E377E"/>
                </a:solidFill>
                <a:latin typeface="Georgia"/>
                <a:cs typeface="Georgia"/>
              </a:rPr>
              <a:t>Replicas:</a:t>
            </a:r>
            <a:r>
              <a:rPr sz="3600" spc="-5" dirty="0">
                <a:solidFill>
                  <a:srgbClr val="2E377E"/>
                </a:solidFill>
                <a:latin typeface="Georgia"/>
                <a:cs typeface="Georgia"/>
              </a:rPr>
              <a:t> </a:t>
            </a:r>
            <a:r>
              <a:rPr sz="3600" dirty="0">
                <a:solidFill>
                  <a:srgbClr val="2E377E"/>
                </a:solidFill>
                <a:latin typeface="Georgia"/>
                <a:cs typeface="Georgia"/>
              </a:rPr>
              <a:t>Number of</a:t>
            </a:r>
            <a:r>
              <a:rPr sz="3600" spc="-5" dirty="0">
                <a:solidFill>
                  <a:srgbClr val="2E377E"/>
                </a:solidFill>
                <a:latin typeface="Georgia"/>
                <a:cs typeface="Georgia"/>
              </a:rPr>
              <a:t> </a:t>
            </a:r>
            <a:r>
              <a:rPr sz="3600" dirty="0">
                <a:solidFill>
                  <a:srgbClr val="2E377E"/>
                </a:solidFill>
                <a:latin typeface="Georgia"/>
                <a:cs typeface="Georgia"/>
              </a:rPr>
              <a:t>pod copies </a:t>
            </a:r>
            <a:r>
              <a:rPr sz="3600" spc="14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need </a:t>
            </a:r>
            <a:r>
              <a:rPr sz="3600" spc="70" dirty="0">
                <a:solidFill>
                  <a:srgbClr val="2E377E"/>
                </a:solidFill>
                <a:latin typeface="Georgia"/>
                <a:cs typeface="Georgia"/>
              </a:rPr>
              <a:t>to</a:t>
            </a:r>
            <a:r>
              <a:rPr sz="3600" spc="-5" dirty="0">
                <a:solidFill>
                  <a:srgbClr val="2E377E"/>
                </a:solidFill>
                <a:latin typeface="Georgia"/>
                <a:cs typeface="Georgia"/>
              </a:rPr>
              <a:t> </a:t>
            </a:r>
            <a:r>
              <a:rPr sz="3600" spc="45" dirty="0">
                <a:solidFill>
                  <a:srgbClr val="2E377E"/>
                </a:solidFill>
                <a:latin typeface="Georgia"/>
                <a:cs typeface="Georgia"/>
              </a:rPr>
              <a:t>create </a:t>
            </a:r>
            <a:r>
              <a:rPr sz="3600" dirty="0">
                <a:solidFill>
                  <a:srgbClr val="2E377E"/>
                </a:solidFill>
                <a:latin typeface="Georgia"/>
                <a:cs typeface="Georgia"/>
              </a:rPr>
              <a:t>Matchelabel:</a:t>
            </a:r>
            <a:r>
              <a:rPr sz="3600" spc="-50" dirty="0">
                <a:solidFill>
                  <a:srgbClr val="2E377E"/>
                </a:solidFill>
                <a:latin typeface="Georgia"/>
                <a:cs typeface="Georgia"/>
              </a:rPr>
              <a:t> </a:t>
            </a:r>
            <a:r>
              <a:rPr sz="3600" dirty="0">
                <a:solidFill>
                  <a:srgbClr val="2E377E"/>
                </a:solidFill>
                <a:latin typeface="Georgia"/>
                <a:cs typeface="Georgia"/>
              </a:rPr>
              <a:t>label</a:t>
            </a:r>
            <a:r>
              <a:rPr sz="3600" spc="-45" dirty="0">
                <a:solidFill>
                  <a:srgbClr val="2E377E"/>
                </a:solidFill>
                <a:latin typeface="Georgia"/>
                <a:cs typeface="Georgia"/>
              </a:rPr>
              <a:t> </a:t>
            </a:r>
            <a:r>
              <a:rPr sz="3600" spc="140" dirty="0">
                <a:solidFill>
                  <a:srgbClr val="2E377E"/>
                </a:solidFill>
                <a:latin typeface="Georgia"/>
                <a:cs typeface="Georgia"/>
              </a:rPr>
              <a:t>we</a:t>
            </a:r>
            <a:r>
              <a:rPr sz="3600" spc="-45" dirty="0">
                <a:solidFill>
                  <a:srgbClr val="2E377E"/>
                </a:solidFill>
                <a:latin typeface="Georgia"/>
                <a:cs typeface="Georgia"/>
              </a:rPr>
              <a:t> </a:t>
            </a:r>
            <a:r>
              <a:rPr sz="3600" spc="80" dirty="0">
                <a:solidFill>
                  <a:srgbClr val="2E377E"/>
                </a:solidFill>
                <a:latin typeface="Georgia"/>
                <a:cs typeface="Georgia"/>
              </a:rPr>
              <a:t>want</a:t>
            </a:r>
            <a:r>
              <a:rPr sz="3600" spc="-45" dirty="0">
                <a:solidFill>
                  <a:srgbClr val="2E377E"/>
                </a:solidFill>
                <a:latin typeface="Georgia"/>
                <a:cs typeface="Georgia"/>
              </a:rPr>
              <a:t> </a:t>
            </a:r>
            <a:r>
              <a:rPr sz="3600" spc="70" dirty="0">
                <a:solidFill>
                  <a:srgbClr val="2E377E"/>
                </a:solidFill>
                <a:latin typeface="Georgia"/>
                <a:cs typeface="Georgia"/>
              </a:rPr>
              <a:t>to</a:t>
            </a:r>
            <a:r>
              <a:rPr sz="3600" spc="-45" dirty="0">
                <a:solidFill>
                  <a:srgbClr val="2E377E"/>
                </a:solidFill>
                <a:latin typeface="Georgia"/>
                <a:cs typeface="Georgia"/>
              </a:rPr>
              <a:t> </a:t>
            </a:r>
            <a:r>
              <a:rPr sz="3600" dirty="0">
                <a:solidFill>
                  <a:srgbClr val="2E377E"/>
                </a:solidFill>
                <a:latin typeface="Georgia"/>
                <a:cs typeface="Georgia"/>
              </a:rPr>
              <a:t>match</a:t>
            </a:r>
            <a:r>
              <a:rPr sz="3600" spc="-45" dirty="0">
                <a:solidFill>
                  <a:srgbClr val="2E377E"/>
                </a:solidFill>
                <a:latin typeface="Georgia"/>
                <a:cs typeface="Georgia"/>
              </a:rPr>
              <a:t> </a:t>
            </a:r>
            <a:r>
              <a:rPr sz="3600" spc="85" dirty="0">
                <a:solidFill>
                  <a:srgbClr val="2E377E"/>
                </a:solidFill>
                <a:latin typeface="Georgia"/>
                <a:cs typeface="Georgia"/>
              </a:rPr>
              <a:t>with</a:t>
            </a:r>
            <a:r>
              <a:rPr sz="3600" spc="-45" dirty="0">
                <a:solidFill>
                  <a:srgbClr val="2E377E"/>
                </a:solidFill>
                <a:latin typeface="Georgia"/>
                <a:cs typeface="Georgia"/>
              </a:rPr>
              <a:t> </a:t>
            </a:r>
            <a:r>
              <a:rPr sz="3600" spc="-20" dirty="0">
                <a:solidFill>
                  <a:srgbClr val="2E377E"/>
                </a:solidFill>
                <a:latin typeface="Georgia"/>
                <a:cs typeface="Georgia"/>
              </a:rPr>
              <a:t>pods </a:t>
            </a:r>
            <a:r>
              <a:rPr sz="3600" dirty="0">
                <a:solidFill>
                  <a:srgbClr val="2E377E"/>
                </a:solidFill>
                <a:latin typeface="Georgia"/>
                <a:cs typeface="Georgia"/>
              </a:rPr>
              <a:t>Template:</a:t>
            </a:r>
            <a:r>
              <a:rPr sz="3600" spc="-50" dirty="0">
                <a:solidFill>
                  <a:srgbClr val="2E377E"/>
                </a:solidFill>
                <a:latin typeface="Georgia"/>
                <a:cs typeface="Georgia"/>
              </a:rPr>
              <a:t> </a:t>
            </a:r>
            <a:r>
              <a:rPr sz="3600" dirty="0">
                <a:solidFill>
                  <a:srgbClr val="2E377E"/>
                </a:solidFill>
                <a:latin typeface="Georgia"/>
                <a:cs typeface="Georgia"/>
              </a:rPr>
              <a:t>This</a:t>
            </a:r>
            <a:r>
              <a:rPr sz="3600" spc="-50" dirty="0">
                <a:solidFill>
                  <a:srgbClr val="2E377E"/>
                </a:solidFill>
                <a:latin typeface="Georgia"/>
                <a:cs typeface="Georgia"/>
              </a:rPr>
              <a:t> </a:t>
            </a:r>
            <a:r>
              <a:rPr sz="3600" dirty="0">
                <a:solidFill>
                  <a:srgbClr val="2E377E"/>
                </a:solidFill>
                <a:latin typeface="Georgia"/>
                <a:cs typeface="Georgia"/>
              </a:rPr>
              <a:t>is</a:t>
            </a:r>
            <a:r>
              <a:rPr sz="3600" spc="-50" dirty="0">
                <a:solidFill>
                  <a:srgbClr val="2E377E"/>
                </a:solidFill>
                <a:latin typeface="Georgia"/>
                <a:cs typeface="Georgia"/>
              </a:rPr>
              <a:t> </a:t>
            </a:r>
            <a:r>
              <a:rPr sz="3600" spc="60" dirty="0">
                <a:solidFill>
                  <a:srgbClr val="2E377E"/>
                </a:solidFill>
                <a:latin typeface="Georgia"/>
                <a:cs typeface="Georgia"/>
              </a:rPr>
              <a:t>the</a:t>
            </a:r>
            <a:r>
              <a:rPr sz="3600" spc="-50" dirty="0">
                <a:solidFill>
                  <a:srgbClr val="2E377E"/>
                </a:solidFill>
                <a:latin typeface="Georgia"/>
                <a:cs typeface="Georgia"/>
              </a:rPr>
              <a:t> </a:t>
            </a:r>
            <a:r>
              <a:rPr sz="3600" spc="50" dirty="0">
                <a:solidFill>
                  <a:srgbClr val="2E377E"/>
                </a:solidFill>
                <a:latin typeface="Georgia"/>
                <a:cs typeface="Georgia"/>
              </a:rPr>
              <a:t>template</a:t>
            </a:r>
            <a:r>
              <a:rPr sz="3600" spc="-50" dirty="0">
                <a:solidFill>
                  <a:srgbClr val="2E377E"/>
                </a:solidFill>
                <a:latin typeface="Georgia"/>
                <a:cs typeface="Georgia"/>
              </a:rPr>
              <a:t> </a:t>
            </a:r>
            <a:r>
              <a:rPr sz="3600" dirty="0">
                <a:solidFill>
                  <a:srgbClr val="2E377E"/>
                </a:solidFill>
                <a:latin typeface="Georgia"/>
                <a:cs typeface="Georgia"/>
              </a:rPr>
              <a:t>of</a:t>
            </a:r>
            <a:r>
              <a:rPr sz="3600" spc="-50" dirty="0">
                <a:solidFill>
                  <a:srgbClr val="2E377E"/>
                </a:solidFill>
                <a:latin typeface="Georgia"/>
                <a:cs typeface="Georgia"/>
              </a:rPr>
              <a:t> </a:t>
            </a:r>
            <a:r>
              <a:rPr sz="3600" spc="-20" dirty="0">
                <a:solidFill>
                  <a:srgbClr val="2E377E"/>
                </a:solidFill>
                <a:latin typeface="Georgia"/>
                <a:cs typeface="Georgia"/>
              </a:rPr>
              <a:t>pod.</a:t>
            </a:r>
            <a:endParaRPr sz="3600" dirty="0">
              <a:latin typeface="Georgia"/>
              <a:cs typeface="Georgia"/>
            </a:endParaRPr>
          </a:p>
          <a:p>
            <a:pPr>
              <a:lnSpc>
                <a:spcPct val="100000"/>
              </a:lnSpc>
              <a:spcBef>
                <a:spcPts val="935"/>
              </a:spcBef>
            </a:pPr>
            <a:endParaRPr sz="3600" dirty="0">
              <a:latin typeface="Georgia"/>
              <a:cs typeface="Georgia"/>
            </a:endParaRPr>
          </a:p>
          <a:p>
            <a:pPr marL="12700" marR="5080">
              <a:lnSpc>
                <a:spcPct val="116300"/>
              </a:lnSpc>
            </a:pPr>
            <a:r>
              <a:rPr sz="3600" dirty="0">
                <a:solidFill>
                  <a:srgbClr val="2E377E"/>
                </a:solidFill>
                <a:latin typeface="Georgia"/>
                <a:cs typeface="Georgia"/>
              </a:rPr>
              <a:t>Labels</a:t>
            </a:r>
            <a:r>
              <a:rPr sz="3600" spc="-105" dirty="0">
                <a:solidFill>
                  <a:srgbClr val="2E377E"/>
                </a:solidFill>
                <a:latin typeface="Georgia"/>
                <a:cs typeface="Georgia"/>
              </a:rPr>
              <a:t> </a:t>
            </a:r>
            <a:r>
              <a:rPr sz="3600" spc="-245" dirty="0">
                <a:solidFill>
                  <a:srgbClr val="2E377E"/>
                </a:solidFill>
                <a:latin typeface="Georgia"/>
                <a:cs typeface="Georgia"/>
              </a:rPr>
              <a:t>:</a:t>
            </a:r>
            <a:r>
              <a:rPr sz="3600" spc="-70" dirty="0">
                <a:solidFill>
                  <a:srgbClr val="2E377E"/>
                </a:solidFill>
                <a:latin typeface="Georgia"/>
                <a:cs typeface="Georgia"/>
              </a:rPr>
              <a:t> </a:t>
            </a:r>
            <a:r>
              <a:rPr sz="3600" spc="45" dirty="0">
                <a:solidFill>
                  <a:srgbClr val="2E377E"/>
                </a:solidFill>
                <a:latin typeface="Georgia"/>
                <a:cs typeface="Georgia"/>
              </a:rPr>
              <a:t>mandatory</a:t>
            </a:r>
            <a:r>
              <a:rPr sz="3600" spc="-90" dirty="0">
                <a:solidFill>
                  <a:srgbClr val="2E377E"/>
                </a:solidFill>
                <a:latin typeface="Georgia"/>
                <a:cs typeface="Georgia"/>
              </a:rPr>
              <a:t> </a:t>
            </a:r>
            <a:r>
              <a:rPr sz="3600" spc="70" dirty="0">
                <a:solidFill>
                  <a:srgbClr val="2E377E"/>
                </a:solidFill>
                <a:latin typeface="Georgia"/>
                <a:cs typeface="Georgia"/>
              </a:rPr>
              <a:t>to</a:t>
            </a:r>
            <a:r>
              <a:rPr sz="3600" spc="-85" dirty="0">
                <a:solidFill>
                  <a:srgbClr val="2E377E"/>
                </a:solidFill>
                <a:latin typeface="Georgia"/>
                <a:cs typeface="Georgia"/>
              </a:rPr>
              <a:t> </a:t>
            </a:r>
            <a:r>
              <a:rPr sz="3600" spc="55" dirty="0">
                <a:solidFill>
                  <a:srgbClr val="2E377E"/>
                </a:solidFill>
                <a:latin typeface="Georgia"/>
                <a:cs typeface="Georgia"/>
              </a:rPr>
              <a:t>create</a:t>
            </a:r>
            <a:r>
              <a:rPr sz="3600" spc="-90" dirty="0">
                <a:solidFill>
                  <a:srgbClr val="2E377E"/>
                </a:solidFill>
                <a:latin typeface="Georgia"/>
                <a:cs typeface="Georgia"/>
              </a:rPr>
              <a:t> </a:t>
            </a:r>
            <a:r>
              <a:rPr sz="3600" spc="-65" dirty="0">
                <a:solidFill>
                  <a:srgbClr val="2E377E"/>
                </a:solidFill>
                <a:latin typeface="Georgia"/>
                <a:cs typeface="Georgia"/>
              </a:rPr>
              <a:t>RS</a:t>
            </a:r>
            <a:r>
              <a:rPr sz="3600" spc="-85" dirty="0">
                <a:solidFill>
                  <a:srgbClr val="2E377E"/>
                </a:solidFill>
                <a:latin typeface="Georgia"/>
                <a:cs typeface="Georgia"/>
              </a:rPr>
              <a:t> </a:t>
            </a:r>
            <a:r>
              <a:rPr sz="3600" spc="-45" dirty="0">
                <a:solidFill>
                  <a:srgbClr val="2E377E"/>
                </a:solidFill>
                <a:latin typeface="Georgia"/>
                <a:cs typeface="Georgia"/>
              </a:rPr>
              <a:t>(if</a:t>
            </a:r>
            <a:r>
              <a:rPr sz="3600" spc="-90" dirty="0">
                <a:solidFill>
                  <a:srgbClr val="2E377E"/>
                </a:solidFill>
                <a:latin typeface="Georgia"/>
                <a:cs typeface="Georgia"/>
              </a:rPr>
              <a:t> </a:t>
            </a:r>
            <a:r>
              <a:rPr sz="3600" spc="60" dirty="0">
                <a:solidFill>
                  <a:srgbClr val="2E377E"/>
                </a:solidFill>
                <a:latin typeface="Georgia"/>
                <a:cs typeface="Georgia"/>
              </a:rPr>
              <a:t>u</a:t>
            </a:r>
            <a:r>
              <a:rPr sz="3600" spc="-85" dirty="0">
                <a:solidFill>
                  <a:srgbClr val="2E377E"/>
                </a:solidFill>
                <a:latin typeface="Georgia"/>
                <a:cs typeface="Georgia"/>
              </a:rPr>
              <a:t> </a:t>
            </a:r>
            <a:r>
              <a:rPr sz="3600" spc="55" dirty="0">
                <a:solidFill>
                  <a:srgbClr val="2E377E"/>
                </a:solidFill>
                <a:latin typeface="Georgia"/>
                <a:cs typeface="Georgia"/>
              </a:rPr>
              <a:t>have</a:t>
            </a:r>
            <a:r>
              <a:rPr sz="3600" spc="-85" dirty="0">
                <a:solidFill>
                  <a:srgbClr val="2E377E"/>
                </a:solidFill>
                <a:latin typeface="Georgia"/>
                <a:cs typeface="Georgia"/>
              </a:rPr>
              <a:t> </a:t>
            </a:r>
            <a:r>
              <a:rPr sz="3600" spc="-25" dirty="0">
                <a:solidFill>
                  <a:srgbClr val="2E377E"/>
                </a:solidFill>
                <a:latin typeface="Georgia"/>
                <a:cs typeface="Georgia"/>
              </a:rPr>
              <a:t>100 </a:t>
            </a:r>
            <a:r>
              <a:rPr sz="3600" dirty="0">
                <a:solidFill>
                  <a:srgbClr val="2E377E"/>
                </a:solidFill>
                <a:latin typeface="Georgia"/>
                <a:cs typeface="Georgia"/>
              </a:rPr>
              <a:t>pods</a:t>
            </a:r>
            <a:r>
              <a:rPr sz="3600" spc="-20"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spc="55" dirty="0">
                <a:solidFill>
                  <a:srgbClr val="2E377E"/>
                </a:solidFill>
                <a:latin typeface="Georgia"/>
                <a:cs typeface="Georgia"/>
              </a:rPr>
              <a:t>cluster</a:t>
            </a:r>
            <a:r>
              <a:rPr sz="3600" spc="-15"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dirty="0">
                <a:solidFill>
                  <a:srgbClr val="2E377E"/>
                </a:solidFill>
                <a:latin typeface="Georgia"/>
                <a:cs typeface="Georgia"/>
              </a:rPr>
              <a:t>can</a:t>
            </a:r>
            <a:r>
              <a:rPr sz="3600" spc="-20" dirty="0">
                <a:solidFill>
                  <a:srgbClr val="2E377E"/>
                </a:solidFill>
                <a:latin typeface="Georgia"/>
                <a:cs typeface="Georgia"/>
              </a:rPr>
              <a:t> </a:t>
            </a:r>
            <a:r>
              <a:rPr sz="3600" dirty="0">
                <a:solidFill>
                  <a:srgbClr val="2E377E"/>
                </a:solidFill>
                <a:latin typeface="Georgia"/>
                <a:cs typeface="Georgia"/>
              </a:rPr>
              <a:t>inform</a:t>
            </a:r>
            <a:r>
              <a:rPr sz="3600" spc="-15" dirty="0">
                <a:solidFill>
                  <a:srgbClr val="2E377E"/>
                </a:solidFill>
                <a:latin typeface="Georgia"/>
                <a:cs typeface="Georgia"/>
              </a:rPr>
              <a:t> </a:t>
            </a:r>
            <a:r>
              <a:rPr sz="3600" spc="55" dirty="0">
                <a:solidFill>
                  <a:srgbClr val="2E377E"/>
                </a:solidFill>
                <a:latin typeface="Georgia"/>
                <a:cs typeface="Georgia"/>
              </a:rPr>
              <a:t>which</a:t>
            </a:r>
            <a:r>
              <a:rPr sz="3600" spc="-20" dirty="0">
                <a:solidFill>
                  <a:srgbClr val="2E377E"/>
                </a:solidFill>
                <a:latin typeface="Georgia"/>
                <a:cs typeface="Georgia"/>
              </a:rPr>
              <a:t> </a:t>
            </a:r>
            <a:r>
              <a:rPr sz="3600" dirty="0">
                <a:solidFill>
                  <a:srgbClr val="2E377E"/>
                </a:solidFill>
                <a:latin typeface="Georgia"/>
                <a:cs typeface="Georgia"/>
              </a:rPr>
              <a:t>pods</a:t>
            </a:r>
            <a:r>
              <a:rPr sz="3600" spc="-15" dirty="0">
                <a:solidFill>
                  <a:srgbClr val="2E377E"/>
                </a:solidFill>
                <a:latin typeface="Georgia"/>
                <a:cs typeface="Georgia"/>
              </a:rPr>
              <a:t> </a:t>
            </a:r>
            <a:r>
              <a:rPr sz="3600" spc="114" dirty="0">
                <a:solidFill>
                  <a:srgbClr val="2E377E"/>
                </a:solidFill>
                <a:latin typeface="Georgia"/>
                <a:cs typeface="Georgia"/>
              </a:rPr>
              <a:t>we </a:t>
            </a:r>
            <a:r>
              <a:rPr sz="3600" dirty="0">
                <a:solidFill>
                  <a:srgbClr val="2E377E"/>
                </a:solidFill>
                <a:latin typeface="Georgia"/>
                <a:cs typeface="Georgia"/>
              </a:rPr>
              <a:t>need</a:t>
            </a:r>
            <a:r>
              <a:rPr sz="3600" spc="-5" dirty="0">
                <a:solidFill>
                  <a:srgbClr val="2E377E"/>
                </a:solidFill>
                <a:latin typeface="Georgia"/>
                <a:cs typeface="Georgia"/>
              </a:rPr>
              <a:t> </a:t>
            </a:r>
            <a:r>
              <a:rPr sz="3600" spc="70" dirty="0">
                <a:solidFill>
                  <a:srgbClr val="2E377E"/>
                </a:solidFill>
                <a:latin typeface="Georgia"/>
                <a:cs typeface="Georgia"/>
              </a:rPr>
              <a:t>to</a:t>
            </a:r>
            <a:r>
              <a:rPr sz="3600" spc="-5" dirty="0">
                <a:solidFill>
                  <a:srgbClr val="2E377E"/>
                </a:solidFill>
                <a:latin typeface="Georgia"/>
                <a:cs typeface="Georgia"/>
              </a:rPr>
              <a:t> </a:t>
            </a:r>
            <a:r>
              <a:rPr sz="3600" spc="70" dirty="0">
                <a:solidFill>
                  <a:srgbClr val="2E377E"/>
                </a:solidFill>
                <a:latin typeface="Georgia"/>
                <a:cs typeface="Georgia"/>
              </a:rPr>
              <a:t>take</a:t>
            </a:r>
            <a:r>
              <a:rPr sz="3600" spc="-5" dirty="0">
                <a:solidFill>
                  <a:srgbClr val="2E377E"/>
                </a:solidFill>
                <a:latin typeface="Georgia"/>
                <a:cs typeface="Georgia"/>
              </a:rPr>
              <a:t> </a:t>
            </a:r>
            <a:r>
              <a:rPr sz="3600" dirty="0">
                <a:solidFill>
                  <a:srgbClr val="2E377E"/>
                </a:solidFill>
                <a:latin typeface="Georgia"/>
                <a:cs typeface="Georgia"/>
              </a:rPr>
              <a:t>care</a:t>
            </a:r>
            <a:r>
              <a:rPr sz="3600" spc="-5" dirty="0">
                <a:solidFill>
                  <a:srgbClr val="2E377E"/>
                </a:solidFill>
                <a:latin typeface="Georgia"/>
                <a:cs typeface="Georgia"/>
              </a:rPr>
              <a:t> </a:t>
            </a:r>
            <a:r>
              <a:rPr sz="3600" spc="95" dirty="0">
                <a:solidFill>
                  <a:srgbClr val="2E377E"/>
                </a:solidFill>
                <a:latin typeface="Georgia"/>
                <a:cs typeface="Georgia"/>
              </a:rPr>
              <a:t>by</a:t>
            </a:r>
            <a:r>
              <a:rPr sz="3600" dirty="0">
                <a:solidFill>
                  <a:srgbClr val="2E377E"/>
                </a:solidFill>
                <a:latin typeface="Georgia"/>
                <a:cs typeface="Georgia"/>
              </a:rPr>
              <a:t> using</a:t>
            </a:r>
            <a:r>
              <a:rPr sz="3600" spc="-5" dirty="0">
                <a:solidFill>
                  <a:srgbClr val="2E377E"/>
                </a:solidFill>
                <a:latin typeface="Georgia"/>
                <a:cs typeface="Georgia"/>
              </a:rPr>
              <a:t> </a:t>
            </a:r>
            <a:r>
              <a:rPr sz="3600" spc="-20" dirty="0">
                <a:solidFill>
                  <a:srgbClr val="2E377E"/>
                </a:solidFill>
                <a:latin typeface="Georgia"/>
                <a:cs typeface="Georgia"/>
              </a:rPr>
              <a:t>labels)</a:t>
            </a:r>
            <a:r>
              <a:rPr sz="3600" spc="-5" dirty="0">
                <a:solidFill>
                  <a:srgbClr val="2E377E"/>
                </a:solidFill>
                <a:latin typeface="Georgia"/>
                <a:cs typeface="Georgia"/>
              </a:rPr>
              <a:t> </a:t>
            </a:r>
            <a:r>
              <a:rPr sz="3600" dirty="0">
                <a:solidFill>
                  <a:srgbClr val="2E377E"/>
                </a:solidFill>
                <a:latin typeface="Georgia"/>
                <a:cs typeface="Georgia"/>
              </a:rPr>
              <a:t>if</a:t>
            </a:r>
            <a:r>
              <a:rPr sz="3600" spc="-5" dirty="0">
                <a:solidFill>
                  <a:srgbClr val="2E377E"/>
                </a:solidFill>
                <a:latin typeface="Georgia"/>
                <a:cs typeface="Georgia"/>
              </a:rPr>
              <a:t> </a:t>
            </a:r>
            <a:r>
              <a:rPr sz="3600" spc="60" dirty="0">
                <a:solidFill>
                  <a:srgbClr val="2E377E"/>
                </a:solidFill>
                <a:latin typeface="Georgia"/>
                <a:cs typeface="Georgia"/>
              </a:rPr>
              <a:t>u</a:t>
            </a:r>
            <a:r>
              <a:rPr sz="3600" dirty="0">
                <a:solidFill>
                  <a:srgbClr val="2E377E"/>
                </a:solidFill>
                <a:latin typeface="Georgia"/>
                <a:cs typeface="Georgia"/>
              </a:rPr>
              <a:t> labeled</a:t>
            </a:r>
            <a:r>
              <a:rPr sz="3600" spc="-5" dirty="0">
                <a:solidFill>
                  <a:srgbClr val="2E377E"/>
                </a:solidFill>
                <a:latin typeface="Georgia"/>
                <a:cs typeface="Georgia"/>
              </a:rPr>
              <a:t> </a:t>
            </a:r>
            <a:r>
              <a:rPr sz="3600" spc="-20" dirty="0">
                <a:solidFill>
                  <a:srgbClr val="2E377E"/>
                </a:solidFill>
                <a:latin typeface="Georgia"/>
                <a:cs typeface="Georgia"/>
              </a:rPr>
              <a:t>some </a:t>
            </a:r>
            <a:r>
              <a:rPr sz="3600" dirty="0">
                <a:solidFill>
                  <a:srgbClr val="2E377E"/>
                </a:solidFill>
                <a:latin typeface="Georgia"/>
                <a:cs typeface="Georgia"/>
              </a:rPr>
              <a:t>pods</a:t>
            </a:r>
            <a:r>
              <a:rPr sz="3600" spc="-40" dirty="0">
                <a:solidFill>
                  <a:srgbClr val="2E377E"/>
                </a:solidFill>
                <a:latin typeface="Georgia"/>
                <a:cs typeface="Georgia"/>
              </a:rPr>
              <a:t> </a:t>
            </a:r>
            <a:r>
              <a:rPr sz="3600" dirty="0">
                <a:solidFill>
                  <a:srgbClr val="2E377E"/>
                </a:solidFill>
                <a:latin typeface="Georgia"/>
                <a:cs typeface="Georgia"/>
              </a:rPr>
              <a:t>a</a:t>
            </a:r>
            <a:r>
              <a:rPr sz="3600" spc="-40" dirty="0">
                <a:solidFill>
                  <a:srgbClr val="2E377E"/>
                </a:solidFill>
                <a:latin typeface="Georgia"/>
                <a:cs typeface="Georgia"/>
              </a:rPr>
              <a:t> </a:t>
            </a:r>
            <a:r>
              <a:rPr lang="en-IN" sz="3600" dirty="0">
                <a:solidFill>
                  <a:srgbClr val="2E377E"/>
                </a:solidFill>
                <a:latin typeface="Georgia"/>
                <a:cs typeface="Georgia"/>
              </a:rPr>
              <a:t>rajco</a:t>
            </a:r>
            <a:r>
              <a:rPr sz="3600" spc="-40" dirty="0">
                <a:solidFill>
                  <a:srgbClr val="2E377E"/>
                </a:solidFill>
                <a:latin typeface="Georgia"/>
                <a:cs typeface="Georgia"/>
              </a:rPr>
              <a:t> </a:t>
            </a:r>
            <a:r>
              <a:rPr sz="3600" spc="50" dirty="0">
                <a:solidFill>
                  <a:srgbClr val="2E377E"/>
                </a:solidFill>
                <a:latin typeface="Georgia"/>
                <a:cs typeface="Georgia"/>
              </a:rPr>
              <a:t>then</a:t>
            </a:r>
            <a:r>
              <a:rPr sz="3600" spc="-40" dirty="0">
                <a:solidFill>
                  <a:srgbClr val="2E377E"/>
                </a:solidFill>
                <a:latin typeface="Georgia"/>
                <a:cs typeface="Georgia"/>
              </a:rPr>
              <a:t> </a:t>
            </a:r>
            <a:r>
              <a:rPr sz="3600" dirty="0">
                <a:solidFill>
                  <a:srgbClr val="2E377E"/>
                </a:solidFill>
                <a:latin typeface="Georgia"/>
                <a:cs typeface="Georgia"/>
              </a:rPr>
              <a:t>all</a:t>
            </a:r>
            <a:r>
              <a:rPr sz="3600" spc="-40" dirty="0">
                <a:solidFill>
                  <a:srgbClr val="2E377E"/>
                </a:solidFill>
                <a:latin typeface="Georgia"/>
                <a:cs typeface="Georgia"/>
              </a:rPr>
              <a:t> </a:t>
            </a:r>
            <a:r>
              <a:rPr sz="3600" spc="6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pods</a:t>
            </a:r>
            <a:r>
              <a:rPr sz="3600" spc="-40" dirty="0">
                <a:solidFill>
                  <a:srgbClr val="2E377E"/>
                </a:solidFill>
                <a:latin typeface="Georgia"/>
                <a:cs typeface="Georgia"/>
              </a:rPr>
              <a:t> </a:t>
            </a:r>
            <a:r>
              <a:rPr sz="3600" spc="85" dirty="0">
                <a:solidFill>
                  <a:srgbClr val="2E377E"/>
                </a:solidFill>
                <a:latin typeface="Georgia"/>
                <a:cs typeface="Georgia"/>
              </a:rPr>
              <a:t>with</a:t>
            </a:r>
            <a:r>
              <a:rPr sz="3600" spc="-40" dirty="0">
                <a:solidFill>
                  <a:srgbClr val="2E377E"/>
                </a:solidFill>
                <a:latin typeface="Georgia"/>
                <a:cs typeface="Georgia"/>
              </a:rPr>
              <a:t> </a:t>
            </a:r>
            <a:r>
              <a:rPr sz="3600" dirty="0">
                <a:solidFill>
                  <a:srgbClr val="2E377E"/>
                </a:solidFill>
                <a:latin typeface="Georgia"/>
                <a:cs typeface="Georgia"/>
              </a:rPr>
              <a:t>label</a:t>
            </a:r>
            <a:r>
              <a:rPr sz="3600" spc="-40" dirty="0">
                <a:solidFill>
                  <a:srgbClr val="2E377E"/>
                </a:solidFill>
                <a:latin typeface="Georgia"/>
                <a:cs typeface="Georgia"/>
              </a:rPr>
              <a:t> </a:t>
            </a:r>
            <a:r>
              <a:rPr lang="en-IN" sz="3600" spc="-10" dirty="0">
                <a:solidFill>
                  <a:srgbClr val="2E377E"/>
                </a:solidFill>
                <a:latin typeface="Georgia"/>
                <a:cs typeface="Georgia"/>
              </a:rPr>
              <a:t>rajco</a:t>
            </a:r>
            <a:r>
              <a:rPr sz="3600" spc="-10" dirty="0">
                <a:solidFill>
                  <a:srgbClr val="2E377E"/>
                </a:solidFill>
                <a:latin typeface="Georgia"/>
                <a:cs typeface="Georgia"/>
              </a:rPr>
              <a:t> </a:t>
            </a:r>
            <a:r>
              <a:rPr sz="3600" spc="55" dirty="0">
                <a:solidFill>
                  <a:srgbClr val="2E377E"/>
                </a:solidFill>
                <a:latin typeface="Georgia"/>
                <a:cs typeface="Georgia"/>
              </a:rPr>
              <a:t>will</a:t>
            </a:r>
            <a:r>
              <a:rPr sz="3600" spc="-35" dirty="0">
                <a:solidFill>
                  <a:srgbClr val="2E377E"/>
                </a:solidFill>
                <a:latin typeface="Georgia"/>
                <a:cs typeface="Georgia"/>
              </a:rPr>
              <a:t> </a:t>
            </a:r>
            <a:r>
              <a:rPr sz="3600" dirty="0">
                <a:solidFill>
                  <a:srgbClr val="2E377E"/>
                </a:solidFill>
                <a:latin typeface="Georgia"/>
                <a:cs typeface="Georgia"/>
              </a:rPr>
              <a:t>be</a:t>
            </a:r>
            <a:r>
              <a:rPr sz="3600" spc="-35" dirty="0">
                <a:solidFill>
                  <a:srgbClr val="2E377E"/>
                </a:solidFill>
                <a:latin typeface="Georgia"/>
                <a:cs typeface="Georgia"/>
              </a:rPr>
              <a:t> </a:t>
            </a:r>
            <a:r>
              <a:rPr sz="3600" spc="-10" dirty="0">
                <a:solidFill>
                  <a:srgbClr val="2E377E"/>
                </a:solidFill>
                <a:latin typeface="Georgia"/>
                <a:cs typeface="Georgia"/>
              </a:rPr>
              <a:t>managed.</a:t>
            </a:r>
            <a:endParaRPr sz="3600" dirty="0">
              <a:latin typeface="Georgia"/>
              <a:cs typeface="Georgi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286" y="552580"/>
            <a:ext cx="4816475" cy="787400"/>
          </a:xfrm>
          <a:prstGeom prst="rect">
            <a:avLst/>
          </a:prstGeom>
        </p:spPr>
        <p:txBody>
          <a:bodyPr vert="horz" wrap="square" lIns="0" tIns="12700" rIns="0" bIns="0" rtlCol="0">
            <a:spAutoFit/>
          </a:bodyPr>
          <a:lstStyle/>
          <a:p>
            <a:pPr marL="12700">
              <a:lnSpc>
                <a:spcPct val="100000"/>
              </a:lnSpc>
              <a:spcBef>
                <a:spcPts val="100"/>
              </a:spcBef>
            </a:pPr>
            <a:r>
              <a:rPr spc="-155" dirty="0">
                <a:solidFill>
                  <a:srgbClr val="FF3131"/>
                </a:solidFill>
              </a:rPr>
              <a:t>MANIFEST</a:t>
            </a:r>
            <a:r>
              <a:rPr spc="-125" dirty="0">
                <a:solidFill>
                  <a:srgbClr val="FF3131"/>
                </a:solidFill>
              </a:rPr>
              <a:t> </a:t>
            </a:r>
            <a:r>
              <a:rPr spc="-434" dirty="0">
                <a:solidFill>
                  <a:srgbClr val="FF3131"/>
                </a:solidFill>
              </a:rPr>
              <a:t>FILE:</a:t>
            </a:r>
          </a:p>
        </p:txBody>
      </p:sp>
      <p:sp>
        <p:nvSpPr>
          <p:cNvPr id="3" name="object 3"/>
          <p:cNvSpPr txBox="1"/>
          <p:nvPr/>
        </p:nvSpPr>
        <p:spPr>
          <a:xfrm>
            <a:off x="719286" y="1454452"/>
            <a:ext cx="16963390" cy="8380095"/>
          </a:xfrm>
          <a:prstGeom prst="rect">
            <a:avLst/>
          </a:prstGeom>
        </p:spPr>
        <p:txBody>
          <a:bodyPr vert="horz" wrap="square" lIns="0" tIns="12700" rIns="0" bIns="0" rtlCol="0">
            <a:spAutoFit/>
          </a:bodyPr>
          <a:lstStyle/>
          <a:p>
            <a:pPr marL="789305" marR="3476625">
              <a:lnSpc>
                <a:spcPct val="116300"/>
              </a:lnSpc>
              <a:spcBef>
                <a:spcPts val="100"/>
              </a:spcBef>
            </a:pPr>
            <a:r>
              <a:rPr sz="3600" dirty="0">
                <a:solidFill>
                  <a:srgbClr val="2E377E"/>
                </a:solidFill>
                <a:latin typeface="Georgia"/>
                <a:cs typeface="Georgia"/>
              </a:rPr>
              <a:t>To</a:t>
            </a:r>
            <a:r>
              <a:rPr sz="3600" spc="5" dirty="0">
                <a:solidFill>
                  <a:srgbClr val="2E377E"/>
                </a:solidFill>
                <a:latin typeface="Georgia"/>
                <a:cs typeface="Georgia"/>
              </a:rPr>
              <a:t> </a:t>
            </a:r>
            <a:r>
              <a:rPr sz="3600" spc="55" dirty="0">
                <a:solidFill>
                  <a:srgbClr val="2E377E"/>
                </a:solidFill>
                <a:latin typeface="Georgia"/>
                <a:cs typeface="Georgia"/>
              </a:rPr>
              <a:t>create</a:t>
            </a:r>
            <a:r>
              <a:rPr sz="3600" spc="5" dirty="0">
                <a:solidFill>
                  <a:srgbClr val="2E377E"/>
                </a:solidFill>
                <a:latin typeface="Georgia"/>
                <a:cs typeface="Georgia"/>
              </a:rPr>
              <a:t> </a:t>
            </a:r>
            <a:r>
              <a:rPr sz="3600" dirty="0">
                <a:solidFill>
                  <a:srgbClr val="2E377E"/>
                </a:solidFill>
                <a:latin typeface="Georgia"/>
                <a:cs typeface="Georgia"/>
              </a:rPr>
              <a:t>a</a:t>
            </a:r>
            <a:r>
              <a:rPr sz="3600" spc="5" dirty="0">
                <a:solidFill>
                  <a:srgbClr val="2E377E"/>
                </a:solidFill>
                <a:latin typeface="Georgia"/>
                <a:cs typeface="Georgia"/>
              </a:rPr>
              <a:t> </a:t>
            </a:r>
            <a:r>
              <a:rPr sz="3600" dirty="0">
                <a:solidFill>
                  <a:srgbClr val="2E377E"/>
                </a:solidFill>
                <a:latin typeface="Georgia"/>
                <a:cs typeface="Georgia"/>
              </a:rPr>
              <a:t>replica</a:t>
            </a:r>
            <a:r>
              <a:rPr sz="3600" spc="10" dirty="0">
                <a:solidFill>
                  <a:srgbClr val="2E377E"/>
                </a:solidFill>
                <a:latin typeface="Georgia"/>
                <a:cs typeface="Georgia"/>
              </a:rPr>
              <a:t> </a:t>
            </a:r>
            <a:r>
              <a:rPr sz="3600" spc="70" dirty="0">
                <a:solidFill>
                  <a:srgbClr val="2E377E"/>
                </a:solidFill>
                <a:latin typeface="Georgia"/>
                <a:cs typeface="Georgia"/>
              </a:rPr>
              <a:t>set</a:t>
            </a:r>
            <a:r>
              <a:rPr sz="3600" spc="5" dirty="0">
                <a:solidFill>
                  <a:srgbClr val="2E377E"/>
                </a:solidFill>
                <a:latin typeface="Georgia"/>
                <a:cs typeface="Georgia"/>
              </a:rPr>
              <a:t> </a:t>
            </a:r>
            <a:r>
              <a:rPr sz="3600" spc="-245" dirty="0">
                <a:solidFill>
                  <a:srgbClr val="FF3131"/>
                </a:solidFill>
                <a:latin typeface="Georgia"/>
                <a:cs typeface="Georgia"/>
              </a:rPr>
              <a:t>:</a:t>
            </a:r>
            <a:r>
              <a:rPr sz="3600" spc="5" dirty="0">
                <a:solidFill>
                  <a:srgbClr val="FF3131"/>
                </a:solidFill>
                <a:latin typeface="Georgia"/>
                <a:cs typeface="Georgia"/>
              </a:rPr>
              <a:t> </a:t>
            </a:r>
            <a:r>
              <a:rPr sz="3600" spc="60" dirty="0">
                <a:solidFill>
                  <a:srgbClr val="FF3131"/>
                </a:solidFill>
                <a:latin typeface="Georgia"/>
                <a:cs typeface="Georgia"/>
              </a:rPr>
              <a:t>kubectl</a:t>
            </a:r>
            <a:r>
              <a:rPr sz="3600" spc="10" dirty="0">
                <a:solidFill>
                  <a:srgbClr val="FF3131"/>
                </a:solidFill>
                <a:latin typeface="Georgia"/>
                <a:cs typeface="Georgia"/>
              </a:rPr>
              <a:t> </a:t>
            </a:r>
            <a:r>
              <a:rPr sz="3600" spc="55" dirty="0">
                <a:solidFill>
                  <a:srgbClr val="FF3131"/>
                </a:solidFill>
                <a:latin typeface="Georgia"/>
                <a:cs typeface="Georgia"/>
              </a:rPr>
              <a:t>create</a:t>
            </a:r>
            <a:r>
              <a:rPr sz="3600" spc="5" dirty="0">
                <a:solidFill>
                  <a:srgbClr val="FF3131"/>
                </a:solidFill>
                <a:latin typeface="Georgia"/>
                <a:cs typeface="Georgia"/>
              </a:rPr>
              <a:t> </a:t>
            </a:r>
            <a:r>
              <a:rPr sz="3600" dirty="0">
                <a:solidFill>
                  <a:srgbClr val="FF3131"/>
                </a:solidFill>
                <a:latin typeface="Georgia"/>
                <a:cs typeface="Georgia"/>
              </a:rPr>
              <a:t>-</a:t>
            </a:r>
            <a:r>
              <a:rPr sz="3600" spc="55" dirty="0">
                <a:solidFill>
                  <a:srgbClr val="FF3131"/>
                </a:solidFill>
                <a:latin typeface="Georgia"/>
                <a:cs typeface="Georgia"/>
              </a:rPr>
              <a:t>f</a:t>
            </a:r>
            <a:r>
              <a:rPr sz="3600" spc="5" dirty="0">
                <a:solidFill>
                  <a:srgbClr val="FF3131"/>
                </a:solidFill>
                <a:latin typeface="Georgia"/>
                <a:cs typeface="Georgia"/>
              </a:rPr>
              <a:t> </a:t>
            </a:r>
            <a:r>
              <a:rPr sz="3600" dirty="0">
                <a:solidFill>
                  <a:srgbClr val="FF3131"/>
                </a:solidFill>
                <a:latin typeface="Georgia"/>
                <a:cs typeface="Georgia"/>
              </a:rPr>
              <a:t>replicaset-</a:t>
            </a:r>
            <a:r>
              <a:rPr sz="3600" spc="-10" dirty="0">
                <a:solidFill>
                  <a:srgbClr val="FF3131"/>
                </a:solidFill>
                <a:latin typeface="Georgia"/>
                <a:cs typeface="Georgia"/>
              </a:rPr>
              <a:t>nginx.yaml </a:t>
            </a:r>
            <a:r>
              <a:rPr sz="3600" dirty="0">
                <a:solidFill>
                  <a:srgbClr val="2E377E"/>
                </a:solidFill>
                <a:latin typeface="Georgia"/>
                <a:cs typeface="Georgia"/>
              </a:rPr>
              <a:t>To</a:t>
            </a:r>
            <a:r>
              <a:rPr sz="3600" spc="-55" dirty="0">
                <a:solidFill>
                  <a:srgbClr val="2E377E"/>
                </a:solidFill>
                <a:latin typeface="Georgia"/>
                <a:cs typeface="Georgia"/>
              </a:rPr>
              <a:t> </a:t>
            </a:r>
            <a:r>
              <a:rPr sz="3600" spc="55" dirty="0">
                <a:solidFill>
                  <a:srgbClr val="2E377E"/>
                </a:solidFill>
                <a:latin typeface="Georgia"/>
                <a:cs typeface="Georgia"/>
              </a:rPr>
              <a:t>see</a:t>
            </a:r>
            <a:r>
              <a:rPr sz="3600" spc="-50" dirty="0">
                <a:solidFill>
                  <a:srgbClr val="2E377E"/>
                </a:solidFill>
                <a:latin typeface="Georgia"/>
                <a:cs typeface="Georgia"/>
              </a:rPr>
              <a:t> </a:t>
            </a:r>
            <a:r>
              <a:rPr sz="3600" dirty="0">
                <a:solidFill>
                  <a:srgbClr val="2E377E"/>
                </a:solidFill>
                <a:latin typeface="Georgia"/>
                <a:cs typeface="Georgia"/>
              </a:rPr>
              <a:t>a</a:t>
            </a:r>
            <a:r>
              <a:rPr sz="3600" spc="-55" dirty="0">
                <a:solidFill>
                  <a:srgbClr val="2E377E"/>
                </a:solidFill>
                <a:latin typeface="Georgia"/>
                <a:cs typeface="Georgia"/>
              </a:rPr>
              <a:t> </a:t>
            </a:r>
            <a:r>
              <a:rPr sz="3600" spc="55" dirty="0">
                <a:solidFill>
                  <a:srgbClr val="2E377E"/>
                </a:solidFill>
                <a:latin typeface="Georgia"/>
                <a:cs typeface="Georgia"/>
              </a:rPr>
              <a:t>deployment</a:t>
            </a:r>
            <a:r>
              <a:rPr sz="3600" spc="-50" dirty="0">
                <a:solidFill>
                  <a:srgbClr val="2E377E"/>
                </a:solidFill>
                <a:latin typeface="Georgia"/>
                <a:cs typeface="Georgia"/>
              </a:rPr>
              <a:t> </a:t>
            </a:r>
            <a:r>
              <a:rPr sz="3600" spc="-245" dirty="0">
                <a:solidFill>
                  <a:srgbClr val="FF3131"/>
                </a:solidFill>
                <a:latin typeface="Georgia"/>
                <a:cs typeface="Georgia"/>
              </a:rPr>
              <a:t>:</a:t>
            </a:r>
            <a:r>
              <a:rPr sz="3600" spc="-50" dirty="0">
                <a:solidFill>
                  <a:srgbClr val="FF3131"/>
                </a:solidFill>
                <a:latin typeface="Georgia"/>
                <a:cs typeface="Georgia"/>
              </a:rPr>
              <a:t> </a:t>
            </a:r>
            <a:r>
              <a:rPr sz="3600" spc="60" dirty="0">
                <a:solidFill>
                  <a:srgbClr val="FF3131"/>
                </a:solidFill>
                <a:latin typeface="Georgia"/>
                <a:cs typeface="Georgia"/>
              </a:rPr>
              <a:t>kubectl</a:t>
            </a:r>
            <a:r>
              <a:rPr sz="3600" spc="-55" dirty="0">
                <a:solidFill>
                  <a:srgbClr val="FF3131"/>
                </a:solidFill>
                <a:latin typeface="Georgia"/>
                <a:cs typeface="Georgia"/>
              </a:rPr>
              <a:t> </a:t>
            </a:r>
            <a:r>
              <a:rPr sz="3600" spc="75" dirty="0">
                <a:solidFill>
                  <a:srgbClr val="FF3131"/>
                </a:solidFill>
                <a:latin typeface="Georgia"/>
                <a:cs typeface="Georgia"/>
              </a:rPr>
              <a:t>get</a:t>
            </a:r>
            <a:r>
              <a:rPr sz="3600" spc="-50" dirty="0">
                <a:solidFill>
                  <a:srgbClr val="FF3131"/>
                </a:solidFill>
                <a:latin typeface="Georgia"/>
                <a:cs typeface="Georgia"/>
              </a:rPr>
              <a:t> </a:t>
            </a:r>
            <a:r>
              <a:rPr sz="3600" spc="-10" dirty="0">
                <a:solidFill>
                  <a:srgbClr val="FF3131"/>
                </a:solidFill>
                <a:latin typeface="Georgia"/>
                <a:cs typeface="Georgia"/>
              </a:rPr>
              <a:t>deployment/deploy</a:t>
            </a:r>
            <a:endParaRPr sz="3600">
              <a:latin typeface="Georgia"/>
              <a:cs typeface="Georgia"/>
            </a:endParaRPr>
          </a:p>
          <a:p>
            <a:pPr marL="789305" marR="3800475">
              <a:lnSpc>
                <a:spcPct val="116300"/>
              </a:lnSpc>
            </a:pPr>
            <a:r>
              <a:rPr sz="3600" dirty="0">
                <a:solidFill>
                  <a:srgbClr val="2E377E"/>
                </a:solidFill>
                <a:latin typeface="Georgia"/>
                <a:cs typeface="Georgia"/>
              </a:rPr>
              <a:t>To</a:t>
            </a:r>
            <a:r>
              <a:rPr sz="3600" spc="-25" dirty="0">
                <a:solidFill>
                  <a:srgbClr val="2E377E"/>
                </a:solidFill>
                <a:latin typeface="Georgia"/>
                <a:cs typeface="Georgia"/>
              </a:rPr>
              <a:t> </a:t>
            </a:r>
            <a:r>
              <a:rPr sz="3600" spc="55" dirty="0">
                <a:solidFill>
                  <a:srgbClr val="2E377E"/>
                </a:solidFill>
                <a:latin typeface="Georgia"/>
                <a:cs typeface="Georgia"/>
              </a:rPr>
              <a:t>see</a:t>
            </a:r>
            <a:r>
              <a:rPr sz="3600" spc="-25" dirty="0">
                <a:solidFill>
                  <a:srgbClr val="2E377E"/>
                </a:solidFill>
                <a:latin typeface="Georgia"/>
                <a:cs typeface="Georgia"/>
              </a:rPr>
              <a:t> </a:t>
            </a:r>
            <a:r>
              <a:rPr sz="3600" dirty="0">
                <a:solidFill>
                  <a:srgbClr val="2E377E"/>
                </a:solidFill>
                <a:latin typeface="Georgia"/>
                <a:cs typeface="Georgia"/>
              </a:rPr>
              <a:t>full</a:t>
            </a:r>
            <a:r>
              <a:rPr sz="3600" spc="-20" dirty="0">
                <a:solidFill>
                  <a:srgbClr val="2E377E"/>
                </a:solidFill>
                <a:latin typeface="Georgia"/>
                <a:cs typeface="Georgia"/>
              </a:rPr>
              <a:t> </a:t>
            </a:r>
            <a:r>
              <a:rPr sz="3600" dirty="0">
                <a:solidFill>
                  <a:srgbClr val="2E377E"/>
                </a:solidFill>
                <a:latin typeface="Georgia"/>
                <a:cs typeface="Georgia"/>
              </a:rPr>
              <a:t>details</a:t>
            </a:r>
            <a:r>
              <a:rPr sz="3600" spc="-25"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spc="55" dirty="0">
                <a:solidFill>
                  <a:srgbClr val="2E377E"/>
                </a:solidFill>
                <a:latin typeface="Georgia"/>
                <a:cs typeface="Georgia"/>
              </a:rPr>
              <a:t>deployment</a:t>
            </a:r>
            <a:r>
              <a:rPr sz="3600" spc="-20" dirty="0">
                <a:solidFill>
                  <a:srgbClr val="2E377E"/>
                </a:solidFill>
                <a:latin typeface="Georgia"/>
                <a:cs typeface="Georgia"/>
              </a:rPr>
              <a:t> </a:t>
            </a:r>
            <a:r>
              <a:rPr sz="3600" spc="-245" dirty="0">
                <a:solidFill>
                  <a:srgbClr val="FF3131"/>
                </a:solidFill>
                <a:latin typeface="Georgia"/>
                <a:cs typeface="Georgia"/>
              </a:rPr>
              <a:t>:</a:t>
            </a:r>
            <a:r>
              <a:rPr sz="3600" spc="-25" dirty="0">
                <a:solidFill>
                  <a:srgbClr val="FF3131"/>
                </a:solidFill>
                <a:latin typeface="Georgia"/>
                <a:cs typeface="Georgia"/>
              </a:rPr>
              <a:t> </a:t>
            </a:r>
            <a:r>
              <a:rPr sz="3600" spc="60" dirty="0">
                <a:solidFill>
                  <a:srgbClr val="FF3131"/>
                </a:solidFill>
                <a:latin typeface="Georgia"/>
                <a:cs typeface="Georgia"/>
              </a:rPr>
              <a:t>kubectl</a:t>
            </a:r>
            <a:r>
              <a:rPr sz="3600" spc="-20" dirty="0">
                <a:solidFill>
                  <a:srgbClr val="FF3131"/>
                </a:solidFill>
                <a:latin typeface="Georgia"/>
                <a:cs typeface="Georgia"/>
              </a:rPr>
              <a:t> </a:t>
            </a:r>
            <a:r>
              <a:rPr sz="3600" spc="75" dirty="0">
                <a:solidFill>
                  <a:srgbClr val="FF3131"/>
                </a:solidFill>
                <a:latin typeface="Georgia"/>
                <a:cs typeface="Georgia"/>
              </a:rPr>
              <a:t>get</a:t>
            </a:r>
            <a:r>
              <a:rPr sz="3600" spc="-25" dirty="0">
                <a:solidFill>
                  <a:srgbClr val="FF3131"/>
                </a:solidFill>
                <a:latin typeface="Georgia"/>
                <a:cs typeface="Georgia"/>
              </a:rPr>
              <a:t> </a:t>
            </a:r>
            <a:r>
              <a:rPr sz="3600" spc="50" dirty="0">
                <a:solidFill>
                  <a:srgbClr val="FF3131"/>
                </a:solidFill>
                <a:latin typeface="Georgia"/>
                <a:cs typeface="Georgia"/>
              </a:rPr>
              <a:t>deploy</a:t>
            </a:r>
            <a:r>
              <a:rPr sz="3600" spc="-20" dirty="0">
                <a:solidFill>
                  <a:srgbClr val="FF3131"/>
                </a:solidFill>
                <a:latin typeface="Georgia"/>
                <a:cs typeface="Georgia"/>
              </a:rPr>
              <a:t> </a:t>
            </a:r>
            <a:r>
              <a:rPr sz="3600" dirty="0">
                <a:solidFill>
                  <a:srgbClr val="FF3131"/>
                </a:solidFill>
                <a:latin typeface="Georgia"/>
                <a:cs typeface="Georgia"/>
              </a:rPr>
              <a:t>-o</a:t>
            </a:r>
            <a:r>
              <a:rPr sz="3600" spc="-25" dirty="0">
                <a:solidFill>
                  <a:srgbClr val="FF3131"/>
                </a:solidFill>
                <a:latin typeface="Georgia"/>
                <a:cs typeface="Georgia"/>
              </a:rPr>
              <a:t> </a:t>
            </a:r>
            <a:r>
              <a:rPr sz="3600" spc="55" dirty="0">
                <a:solidFill>
                  <a:srgbClr val="FF3131"/>
                </a:solidFill>
                <a:latin typeface="Georgia"/>
                <a:cs typeface="Georgia"/>
              </a:rPr>
              <a:t>wide </a:t>
            </a:r>
            <a:r>
              <a:rPr sz="3600" dirty="0">
                <a:solidFill>
                  <a:srgbClr val="2E377E"/>
                </a:solidFill>
                <a:latin typeface="Georgia"/>
                <a:cs typeface="Georgia"/>
              </a:rPr>
              <a:t>To</a:t>
            </a:r>
            <a:r>
              <a:rPr sz="3600" spc="-45" dirty="0">
                <a:solidFill>
                  <a:srgbClr val="2E377E"/>
                </a:solidFill>
                <a:latin typeface="Georgia"/>
                <a:cs typeface="Georgia"/>
              </a:rPr>
              <a:t> </a:t>
            </a:r>
            <a:r>
              <a:rPr sz="3600" spc="114" dirty="0">
                <a:solidFill>
                  <a:srgbClr val="2E377E"/>
                </a:solidFill>
                <a:latin typeface="Georgia"/>
                <a:cs typeface="Georgia"/>
              </a:rPr>
              <a:t>view</a:t>
            </a:r>
            <a:r>
              <a:rPr sz="3600" spc="-40" dirty="0">
                <a:solidFill>
                  <a:srgbClr val="2E377E"/>
                </a:solidFill>
                <a:latin typeface="Georgia"/>
                <a:cs typeface="Georgia"/>
              </a:rPr>
              <a:t> </a:t>
            </a:r>
            <a:r>
              <a:rPr sz="3600" dirty="0">
                <a:solidFill>
                  <a:srgbClr val="2E377E"/>
                </a:solidFill>
                <a:latin typeface="Georgia"/>
                <a:cs typeface="Georgia"/>
              </a:rPr>
              <a:t>in</a:t>
            </a:r>
            <a:r>
              <a:rPr sz="3600" spc="-40" dirty="0">
                <a:solidFill>
                  <a:srgbClr val="2E377E"/>
                </a:solidFill>
                <a:latin typeface="Georgia"/>
                <a:cs typeface="Georgia"/>
              </a:rPr>
              <a:t> </a:t>
            </a:r>
            <a:r>
              <a:rPr sz="3600" spc="-70" dirty="0">
                <a:solidFill>
                  <a:srgbClr val="2E377E"/>
                </a:solidFill>
                <a:latin typeface="Georgia"/>
                <a:cs typeface="Georgia"/>
              </a:rPr>
              <a:t>YAML</a:t>
            </a:r>
            <a:r>
              <a:rPr sz="3600" spc="-40" dirty="0">
                <a:solidFill>
                  <a:srgbClr val="2E377E"/>
                </a:solidFill>
                <a:latin typeface="Georgia"/>
                <a:cs typeface="Georgia"/>
              </a:rPr>
              <a:t> </a:t>
            </a:r>
            <a:r>
              <a:rPr sz="3600" dirty="0">
                <a:solidFill>
                  <a:srgbClr val="2E377E"/>
                </a:solidFill>
                <a:latin typeface="Georgia"/>
                <a:cs typeface="Georgia"/>
              </a:rPr>
              <a:t>format</a:t>
            </a:r>
            <a:r>
              <a:rPr sz="3600" spc="-40" dirty="0">
                <a:solidFill>
                  <a:srgbClr val="2E377E"/>
                </a:solidFill>
                <a:latin typeface="Georgia"/>
                <a:cs typeface="Georgia"/>
              </a:rPr>
              <a:t> </a:t>
            </a:r>
            <a:r>
              <a:rPr sz="3600" spc="-245" dirty="0">
                <a:solidFill>
                  <a:srgbClr val="FF3131"/>
                </a:solidFill>
                <a:latin typeface="Georgia"/>
                <a:cs typeface="Georgia"/>
              </a:rPr>
              <a:t>:</a:t>
            </a:r>
            <a:r>
              <a:rPr sz="3600" spc="-40" dirty="0">
                <a:solidFill>
                  <a:srgbClr val="FF3131"/>
                </a:solidFill>
                <a:latin typeface="Georgia"/>
                <a:cs typeface="Georgia"/>
              </a:rPr>
              <a:t> </a:t>
            </a:r>
            <a:r>
              <a:rPr sz="3600" spc="60" dirty="0">
                <a:solidFill>
                  <a:srgbClr val="FF3131"/>
                </a:solidFill>
                <a:latin typeface="Georgia"/>
                <a:cs typeface="Georgia"/>
              </a:rPr>
              <a:t>kubectl</a:t>
            </a:r>
            <a:r>
              <a:rPr sz="3600" spc="-40" dirty="0">
                <a:solidFill>
                  <a:srgbClr val="FF3131"/>
                </a:solidFill>
                <a:latin typeface="Georgia"/>
                <a:cs typeface="Georgia"/>
              </a:rPr>
              <a:t> </a:t>
            </a:r>
            <a:r>
              <a:rPr sz="3600" spc="75" dirty="0">
                <a:solidFill>
                  <a:srgbClr val="FF3131"/>
                </a:solidFill>
                <a:latin typeface="Georgia"/>
                <a:cs typeface="Georgia"/>
              </a:rPr>
              <a:t>get</a:t>
            </a:r>
            <a:r>
              <a:rPr sz="3600" spc="-40" dirty="0">
                <a:solidFill>
                  <a:srgbClr val="FF3131"/>
                </a:solidFill>
                <a:latin typeface="Georgia"/>
                <a:cs typeface="Georgia"/>
              </a:rPr>
              <a:t> </a:t>
            </a:r>
            <a:r>
              <a:rPr sz="3600" spc="50" dirty="0">
                <a:solidFill>
                  <a:srgbClr val="FF3131"/>
                </a:solidFill>
                <a:latin typeface="Georgia"/>
                <a:cs typeface="Georgia"/>
              </a:rPr>
              <a:t>deploy</a:t>
            </a:r>
            <a:r>
              <a:rPr sz="3600" spc="-40" dirty="0">
                <a:solidFill>
                  <a:srgbClr val="FF3131"/>
                </a:solidFill>
                <a:latin typeface="Georgia"/>
                <a:cs typeface="Georgia"/>
              </a:rPr>
              <a:t> </a:t>
            </a:r>
            <a:r>
              <a:rPr sz="3600" dirty="0">
                <a:solidFill>
                  <a:srgbClr val="FF3131"/>
                </a:solidFill>
                <a:latin typeface="Georgia"/>
                <a:cs typeface="Georgia"/>
              </a:rPr>
              <a:t>-o</a:t>
            </a:r>
            <a:r>
              <a:rPr sz="3600" spc="-45" dirty="0">
                <a:solidFill>
                  <a:srgbClr val="FF3131"/>
                </a:solidFill>
                <a:latin typeface="Georgia"/>
                <a:cs typeface="Georgia"/>
              </a:rPr>
              <a:t> </a:t>
            </a:r>
            <a:r>
              <a:rPr sz="3600" spc="30" dirty="0">
                <a:solidFill>
                  <a:srgbClr val="FF3131"/>
                </a:solidFill>
                <a:latin typeface="Georgia"/>
                <a:cs typeface="Georgia"/>
              </a:rPr>
              <a:t>yaml</a:t>
            </a:r>
            <a:endParaRPr sz="3600">
              <a:latin typeface="Georgia"/>
              <a:cs typeface="Georgia"/>
            </a:endParaRPr>
          </a:p>
          <a:p>
            <a:pPr marL="789305">
              <a:lnSpc>
                <a:spcPct val="100000"/>
              </a:lnSpc>
              <a:spcBef>
                <a:spcPts val="705"/>
              </a:spcBef>
            </a:pPr>
            <a:r>
              <a:rPr sz="3600" dirty="0">
                <a:solidFill>
                  <a:srgbClr val="2E377E"/>
                </a:solidFill>
                <a:latin typeface="Georgia"/>
                <a:cs typeface="Georgia"/>
              </a:rPr>
              <a:t>To</a:t>
            </a:r>
            <a:r>
              <a:rPr sz="3600" spc="-15" dirty="0">
                <a:solidFill>
                  <a:srgbClr val="2E377E"/>
                </a:solidFill>
                <a:latin typeface="Georgia"/>
                <a:cs typeface="Georgia"/>
              </a:rPr>
              <a:t> </a:t>
            </a:r>
            <a:r>
              <a:rPr sz="3600" spc="75" dirty="0">
                <a:solidFill>
                  <a:srgbClr val="2E377E"/>
                </a:solidFill>
                <a:latin typeface="Georgia"/>
                <a:cs typeface="Georgia"/>
              </a:rPr>
              <a:t>get</a:t>
            </a:r>
            <a:r>
              <a:rPr sz="3600" spc="-15" dirty="0">
                <a:solidFill>
                  <a:srgbClr val="2E377E"/>
                </a:solidFill>
                <a:latin typeface="Georgia"/>
                <a:cs typeface="Georgia"/>
              </a:rPr>
              <a:t> </a:t>
            </a:r>
            <a:r>
              <a:rPr sz="3600" dirty="0">
                <a:solidFill>
                  <a:srgbClr val="2E377E"/>
                </a:solidFill>
                <a:latin typeface="Georgia"/>
                <a:cs typeface="Georgia"/>
              </a:rPr>
              <a:t>all</a:t>
            </a:r>
            <a:r>
              <a:rPr sz="3600" spc="-15" dirty="0">
                <a:solidFill>
                  <a:srgbClr val="2E377E"/>
                </a:solidFill>
                <a:latin typeface="Georgia"/>
                <a:cs typeface="Georgia"/>
              </a:rPr>
              <a:t> </a:t>
            </a:r>
            <a:r>
              <a:rPr sz="3600" dirty="0">
                <a:solidFill>
                  <a:srgbClr val="2E377E"/>
                </a:solidFill>
                <a:latin typeface="Georgia"/>
                <a:cs typeface="Georgia"/>
              </a:rPr>
              <a:t>info</a:t>
            </a:r>
            <a:r>
              <a:rPr sz="3600" spc="-15" dirty="0">
                <a:solidFill>
                  <a:srgbClr val="2E377E"/>
                </a:solidFill>
                <a:latin typeface="Georgia"/>
                <a:cs typeface="Georgia"/>
              </a:rPr>
              <a:t> </a:t>
            </a:r>
            <a:r>
              <a:rPr sz="3600" spc="-245" dirty="0">
                <a:solidFill>
                  <a:srgbClr val="FF3131"/>
                </a:solidFill>
                <a:latin typeface="Georgia"/>
                <a:cs typeface="Georgia"/>
              </a:rPr>
              <a:t>:</a:t>
            </a:r>
            <a:r>
              <a:rPr sz="3600" spc="-15" dirty="0">
                <a:solidFill>
                  <a:srgbClr val="FF3131"/>
                </a:solidFill>
                <a:latin typeface="Georgia"/>
                <a:cs typeface="Georgia"/>
              </a:rPr>
              <a:t> </a:t>
            </a:r>
            <a:r>
              <a:rPr sz="3600" spc="60" dirty="0">
                <a:solidFill>
                  <a:srgbClr val="FF3131"/>
                </a:solidFill>
                <a:latin typeface="Georgia"/>
                <a:cs typeface="Georgia"/>
              </a:rPr>
              <a:t>kubectl</a:t>
            </a:r>
            <a:r>
              <a:rPr sz="3600" spc="-15" dirty="0">
                <a:solidFill>
                  <a:srgbClr val="FF3131"/>
                </a:solidFill>
                <a:latin typeface="Georgia"/>
                <a:cs typeface="Georgia"/>
              </a:rPr>
              <a:t> </a:t>
            </a:r>
            <a:r>
              <a:rPr sz="3600" dirty="0">
                <a:solidFill>
                  <a:srgbClr val="FF3131"/>
                </a:solidFill>
                <a:latin typeface="Georgia"/>
                <a:cs typeface="Georgia"/>
              </a:rPr>
              <a:t>describe</a:t>
            </a:r>
            <a:r>
              <a:rPr sz="3600" spc="-15" dirty="0">
                <a:solidFill>
                  <a:srgbClr val="FF3131"/>
                </a:solidFill>
                <a:latin typeface="Georgia"/>
                <a:cs typeface="Georgia"/>
              </a:rPr>
              <a:t> </a:t>
            </a:r>
            <a:r>
              <a:rPr sz="3600" spc="40" dirty="0">
                <a:solidFill>
                  <a:srgbClr val="FF3131"/>
                </a:solidFill>
                <a:latin typeface="Georgia"/>
                <a:cs typeface="Georgia"/>
              </a:rPr>
              <a:t>deploy</a:t>
            </a:r>
            <a:endParaRPr sz="3600">
              <a:latin typeface="Georgia"/>
              <a:cs typeface="Georgia"/>
            </a:endParaRPr>
          </a:p>
          <a:p>
            <a:pPr marL="12700">
              <a:lnSpc>
                <a:spcPct val="100000"/>
              </a:lnSpc>
              <a:spcBef>
                <a:spcPts val="3200"/>
              </a:spcBef>
            </a:pPr>
            <a:r>
              <a:rPr sz="5000" b="1" spc="-25" dirty="0">
                <a:solidFill>
                  <a:srgbClr val="FF3131"/>
                </a:solidFill>
                <a:latin typeface="Times New Roman"/>
                <a:cs typeface="Times New Roman"/>
              </a:rPr>
              <a:t>COMMAND</a:t>
            </a:r>
            <a:r>
              <a:rPr sz="5000" b="1" spc="-225" dirty="0">
                <a:solidFill>
                  <a:srgbClr val="FF3131"/>
                </a:solidFill>
                <a:latin typeface="Times New Roman"/>
                <a:cs typeface="Times New Roman"/>
              </a:rPr>
              <a:t> </a:t>
            </a:r>
            <a:r>
              <a:rPr sz="5000" b="1" spc="-340" dirty="0">
                <a:solidFill>
                  <a:srgbClr val="FF3131"/>
                </a:solidFill>
                <a:latin typeface="Times New Roman"/>
                <a:cs typeface="Times New Roman"/>
              </a:rPr>
              <a:t>TO</a:t>
            </a:r>
            <a:r>
              <a:rPr sz="5000" b="1" spc="-55" dirty="0">
                <a:solidFill>
                  <a:srgbClr val="FF3131"/>
                </a:solidFill>
                <a:latin typeface="Times New Roman"/>
                <a:cs typeface="Times New Roman"/>
              </a:rPr>
              <a:t> </a:t>
            </a:r>
            <a:r>
              <a:rPr sz="5000" b="1" spc="-380" dirty="0">
                <a:solidFill>
                  <a:srgbClr val="FF3131"/>
                </a:solidFill>
                <a:latin typeface="Times New Roman"/>
                <a:cs typeface="Times New Roman"/>
              </a:rPr>
              <a:t>CREATE</a:t>
            </a:r>
            <a:r>
              <a:rPr sz="5000" b="1" spc="-55" dirty="0">
                <a:solidFill>
                  <a:srgbClr val="FF3131"/>
                </a:solidFill>
                <a:latin typeface="Times New Roman"/>
                <a:cs typeface="Times New Roman"/>
              </a:rPr>
              <a:t> </a:t>
            </a:r>
            <a:r>
              <a:rPr sz="5000" b="1" spc="-270" dirty="0">
                <a:solidFill>
                  <a:srgbClr val="FF3131"/>
                </a:solidFill>
                <a:latin typeface="Times New Roman"/>
                <a:cs typeface="Times New Roman"/>
              </a:rPr>
              <a:t>DEPLOYMENT:</a:t>
            </a:r>
            <a:endParaRPr sz="5000">
              <a:latin typeface="Times New Roman"/>
              <a:cs typeface="Times New Roman"/>
            </a:endParaRPr>
          </a:p>
          <a:p>
            <a:pPr marL="12700" marR="5080" indent="296545">
              <a:lnSpc>
                <a:spcPct val="169100"/>
              </a:lnSpc>
              <a:spcBef>
                <a:spcPts val="140"/>
              </a:spcBef>
            </a:pPr>
            <a:r>
              <a:rPr sz="3600" b="1" i="1" spc="155" dirty="0">
                <a:solidFill>
                  <a:srgbClr val="FF3131"/>
                </a:solidFill>
                <a:latin typeface="Times New Roman"/>
                <a:cs typeface="Times New Roman"/>
              </a:rPr>
              <a:t>kubectl</a:t>
            </a:r>
            <a:r>
              <a:rPr sz="3600" b="1" i="1" spc="-90" dirty="0">
                <a:solidFill>
                  <a:srgbClr val="FF3131"/>
                </a:solidFill>
                <a:latin typeface="Times New Roman"/>
                <a:cs typeface="Times New Roman"/>
              </a:rPr>
              <a:t> </a:t>
            </a:r>
            <a:r>
              <a:rPr sz="3600" b="1" i="1" spc="235" dirty="0">
                <a:solidFill>
                  <a:srgbClr val="FF3131"/>
                </a:solidFill>
                <a:latin typeface="Times New Roman"/>
                <a:cs typeface="Times New Roman"/>
              </a:rPr>
              <a:t>create</a:t>
            </a:r>
            <a:r>
              <a:rPr sz="3600" b="1" i="1" spc="-90" dirty="0">
                <a:solidFill>
                  <a:srgbClr val="FF3131"/>
                </a:solidFill>
                <a:latin typeface="Times New Roman"/>
                <a:cs typeface="Times New Roman"/>
              </a:rPr>
              <a:t> </a:t>
            </a:r>
            <a:r>
              <a:rPr sz="3600" b="1" i="1" spc="225" dirty="0">
                <a:solidFill>
                  <a:srgbClr val="FF3131"/>
                </a:solidFill>
                <a:latin typeface="Times New Roman"/>
                <a:cs typeface="Times New Roman"/>
              </a:rPr>
              <a:t>deployment</a:t>
            </a:r>
            <a:r>
              <a:rPr sz="3600" b="1" i="1" spc="-85" dirty="0">
                <a:solidFill>
                  <a:srgbClr val="FF3131"/>
                </a:solidFill>
                <a:latin typeface="Times New Roman"/>
                <a:cs typeface="Times New Roman"/>
              </a:rPr>
              <a:t> </a:t>
            </a:r>
            <a:r>
              <a:rPr sz="3600" b="1" i="1" spc="225" dirty="0">
                <a:solidFill>
                  <a:srgbClr val="FF3131"/>
                </a:solidFill>
                <a:latin typeface="Times New Roman"/>
                <a:cs typeface="Times New Roman"/>
              </a:rPr>
              <a:t>deployment-</a:t>
            </a:r>
            <a:r>
              <a:rPr sz="3600" b="1" i="1" spc="215" dirty="0">
                <a:solidFill>
                  <a:srgbClr val="FF3131"/>
                </a:solidFill>
                <a:latin typeface="Times New Roman"/>
                <a:cs typeface="Times New Roman"/>
              </a:rPr>
              <a:t>name</a:t>
            </a:r>
            <a:r>
              <a:rPr sz="3600" b="1" i="1" spc="-90" dirty="0">
                <a:solidFill>
                  <a:srgbClr val="FF3131"/>
                </a:solidFill>
                <a:latin typeface="Times New Roman"/>
                <a:cs typeface="Times New Roman"/>
              </a:rPr>
              <a:t> </a:t>
            </a:r>
            <a:r>
              <a:rPr sz="3600" b="1" i="1" spc="225" dirty="0">
                <a:solidFill>
                  <a:srgbClr val="FF3131"/>
                </a:solidFill>
                <a:latin typeface="Times New Roman"/>
                <a:cs typeface="Times New Roman"/>
              </a:rPr>
              <a:t>--</a:t>
            </a:r>
            <a:r>
              <a:rPr sz="3600" b="1" i="1" spc="155" dirty="0">
                <a:solidFill>
                  <a:srgbClr val="FF3131"/>
                </a:solidFill>
                <a:latin typeface="Times New Roman"/>
                <a:cs typeface="Times New Roman"/>
              </a:rPr>
              <a:t>image=image-</a:t>
            </a:r>
            <a:r>
              <a:rPr sz="3600" b="1" i="1" spc="215" dirty="0">
                <a:solidFill>
                  <a:srgbClr val="FF3131"/>
                </a:solidFill>
                <a:latin typeface="Times New Roman"/>
                <a:cs typeface="Times New Roman"/>
              </a:rPr>
              <a:t>name</a:t>
            </a:r>
            <a:r>
              <a:rPr sz="3600" b="1" i="1" spc="-90" dirty="0">
                <a:solidFill>
                  <a:srgbClr val="FF3131"/>
                </a:solidFill>
                <a:latin typeface="Times New Roman"/>
                <a:cs typeface="Times New Roman"/>
              </a:rPr>
              <a:t> </a:t>
            </a:r>
            <a:r>
              <a:rPr sz="3600" b="1" i="1" spc="225" dirty="0">
                <a:solidFill>
                  <a:srgbClr val="FF3131"/>
                </a:solidFill>
                <a:latin typeface="Times New Roman"/>
                <a:cs typeface="Times New Roman"/>
              </a:rPr>
              <a:t>--</a:t>
            </a:r>
            <a:r>
              <a:rPr sz="3600" b="1" i="1" spc="160" dirty="0">
                <a:solidFill>
                  <a:srgbClr val="FF3131"/>
                </a:solidFill>
                <a:latin typeface="Times New Roman"/>
                <a:cs typeface="Times New Roman"/>
              </a:rPr>
              <a:t>replicas=4 </a:t>
            </a:r>
            <a:r>
              <a:rPr sz="3600" b="1" i="1" spc="195" dirty="0">
                <a:solidFill>
                  <a:srgbClr val="2E377E"/>
                </a:solidFill>
                <a:latin typeface="Times New Roman"/>
                <a:cs typeface="Times New Roman"/>
              </a:rPr>
              <a:t>Now</a:t>
            </a:r>
            <a:r>
              <a:rPr sz="3600" b="1" i="1" spc="-120" dirty="0">
                <a:solidFill>
                  <a:srgbClr val="2E377E"/>
                </a:solidFill>
                <a:latin typeface="Times New Roman"/>
                <a:cs typeface="Times New Roman"/>
              </a:rPr>
              <a:t> </a:t>
            </a:r>
            <a:r>
              <a:rPr sz="3600" b="1" i="1" spc="210" dirty="0">
                <a:solidFill>
                  <a:srgbClr val="2E377E"/>
                </a:solidFill>
                <a:latin typeface="Times New Roman"/>
                <a:cs typeface="Times New Roman"/>
              </a:rPr>
              <a:t>delete</a:t>
            </a:r>
            <a:r>
              <a:rPr sz="3600" b="1" i="1" spc="-120" dirty="0">
                <a:solidFill>
                  <a:srgbClr val="2E377E"/>
                </a:solidFill>
                <a:latin typeface="Times New Roman"/>
                <a:cs typeface="Times New Roman"/>
              </a:rPr>
              <a:t> </a:t>
            </a:r>
            <a:r>
              <a:rPr sz="3600" b="1" i="1" spc="195" dirty="0">
                <a:solidFill>
                  <a:srgbClr val="2E377E"/>
                </a:solidFill>
                <a:latin typeface="Times New Roman"/>
                <a:cs typeface="Times New Roman"/>
              </a:rPr>
              <a:t>a</a:t>
            </a:r>
            <a:r>
              <a:rPr sz="3600" b="1" i="1" spc="-114" dirty="0">
                <a:solidFill>
                  <a:srgbClr val="2E377E"/>
                </a:solidFill>
                <a:latin typeface="Times New Roman"/>
                <a:cs typeface="Times New Roman"/>
              </a:rPr>
              <a:t> </a:t>
            </a:r>
            <a:r>
              <a:rPr sz="3600" b="1" i="1" spc="240" dirty="0">
                <a:solidFill>
                  <a:srgbClr val="2E377E"/>
                </a:solidFill>
                <a:latin typeface="Times New Roman"/>
                <a:cs typeface="Times New Roman"/>
              </a:rPr>
              <a:t>pod</a:t>
            </a:r>
            <a:r>
              <a:rPr sz="3600" b="1" i="1" spc="-120" dirty="0">
                <a:solidFill>
                  <a:srgbClr val="2E377E"/>
                </a:solidFill>
                <a:latin typeface="Times New Roman"/>
                <a:cs typeface="Times New Roman"/>
              </a:rPr>
              <a:t> </a:t>
            </a:r>
            <a:r>
              <a:rPr sz="3600" b="1" i="1" spc="180" dirty="0">
                <a:solidFill>
                  <a:srgbClr val="2E377E"/>
                </a:solidFill>
                <a:latin typeface="Times New Roman"/>
                <a:cs typeface="Times New Roman"/>
              </a:rPr>
              <a:t>and</a:t>
            </a:r>
            <a:r>
              <a:rPr sz="3600" b="1" i="1" spc="-120" dirty="0">
                <a:solidFill>
                  <a:srgbClr val="2E377E"/>
                </a:solidFill>
                <a:latin typeface="Times New Roman"/>
                <a:cs typeface="Times New Roman"/>
              </a:rPr>
              <a:t> </a:t>
            </a:r>
            <a:r>
              <a:rPr sz="3600" b="1" i="1" spc="229" dirty="0">
                <a:solidFill>
                  <a:srgbClr val="2E377E"/>
                </a:solidFill>
                <a:latin typeface="Times New Roman"/>
                <a:cs typeface="Times New Roman"/>
              </a:rPr>
              <a:t>do</a:t>
            </a:r>
            <a:r>
              <a:rPr sz="3600" b="1" i="1" spc="-114" dirty="0">
                <a:solidFill>
                  <a:srgbClr val="2E377E"/>
                </a:solidFill>
                <a:latin typeface="Times New Roman"/>
                <a:cs typeface="Times New Roman"/>
              </a:rPr>
              <a:t> </a:t>
            </a:r>
            <a:r>
              <a:rPr sz="3600" b="1" i="1" spc="125" dirty="0">
                <a:solidFill>
                  <a:srgbClr val="2E377E"/>
                </a:solidFill>
                <a:latin typeface="Times New Roman"/>
                <a:cs typeface="Times New Roman"/>
              </a:rPr>
              <a:t>list</a:t>
            </a:r>
            <a:r>
              <a:rPr sz="3600" b="1" i="1" spc="-120" dirty="0">
                <a:solidFill>
                  <a:srgbClr val="2E377E"/>
                </a:solidFill>
                <a:latin typeface="Times New Roman"/>
                <a:cs typeface="Times New Roman"/>
              </a:rPr>
              <a:t> </a:t>
            </a:r>
            <a:r>
              <a:rPr sz="3600" b="1" i="1" spc="260" dirty="0">
                <a:solidFill>
                  <a:srgbClr val="2E377E"/>
                </a:solidFill>
                <a:latin typeface="Times New Roman"/>
                <a:cs typeface="Times New Roman"/>
              </a:rPr>
              <a:t>now</a:t>
            </a:r>
            <a:r>
              <a:rPr sz="3600" b="1" i="1" spc="-120" dirty="0">
                <a:solidFill>
                  <a:srgbClr val="2E377E"/>
                </a:solidFill>
                <a:latin typeface="Times New Roman"/>
                <a:cs typeface="Times New Roman"/>
              </a:rPr>
              <a:t> </a:t>
            </a:r>
            <a:r>
              <a:rPr sz="3600" b="1" i="1" spc="100" dirty="0">
                <a:solidFill>
                  <a:srgbClr val="2E377E"/>
                </a:solidFill>
                <a:latin typeface="Times New Roman"/>
                <a:cs typeface="Times New Roman"/>
              </a:rPr>
              <a:t>it</a:t>
            </a:r>
            <a:r>
              <a:rPr sz="3600" b="1" i="1" spc="-114" dirty="0">
                <a:solidFill>
                  <a:srgbClr val="2E377E"/>
                </a:solidFill>
                <a:latin typeface="Times New Roman"/>
                <a:cs typeface="Times New Roman"/>
              </a:rPr>
              <a:t> </a:t>
            </a:r>
            <a:r>
              <a:rPr sz="3600" b="1" i="1" spc="120" dirty="0">
                <a:solidFill>
                  <a:srgbClr val="2E377E"/>
                </a:solidFill>
                <a:latin typeface="Times New Roman"/>
                <a:cs typeface="Times New Roman"/>
              </a:rPr>
              <a:t>will</a:t>
            </a:r>
            <a:r>
              <a:rPr sz="3600" b="1" i="1" spc="-120" dirty="0">
                <a:solidFill>
                  <a:srgbClr val="2E377E"/>
                </a:solidFill>
                <a:latin typeface="Times New Roman"/>
                <a:cs typeface="Times New Roman"/>
              </a:rPr>
              <a:t> </a:t>
            </a:r>
            <a:r>
              <a:rPr sz="3600" b="1" i="1" spc="204" dirty="0">
                <a:solidFill>
                  <a:srgbClr val="2E377E"/>
                </a:solidFill>
                <a:latin typeface="Times New Roman"/>
                <a:cs typeface="Times New Roman"/>
              </a:rPr>
              <a:t>be</a:t>
            </a:r>
            <a:r>
              <a:rPr sz="3600" b="1" i="1" spc="-120" dirty="0">
                <a:solidFill>
                  <a:srgbClr val="2E377E"/>
                </a:solidFill>
                <a:latin typeface="Times New Roman"/>
                <a:cs typeface="Times New Roman"/>
              </a:rPr>
              <a:t> </a:t>
            </a:r>
            <a:r>
              <a:rPr sz="3600" b="1" i="1" spc="240" dirty="0">
                <a:solidFill>
                  <a:srgbClr val="2E377E"/>
                </a:solidFill>
                <a:latin typeface="Times New Roman"/>
                <a:cs typeface="Times New Roman"/>
              </a:rPr>
              <a:t>created</a:t>
            </a:r>
            <a:r>
              <a:rPr sz="3600" b="1" i="1" spc="-114" dirty="0">
                <a:solidFill>
                  <a:srgbClr val="2E377E"/>
                </a:solidFill>
                <a:latin typeface="Times New Roman"/>
                <a:cs typeface="Times New Roman"/>
              </a:rPr>
              <a:t> </a:t>
            </a:r>
            <a:r>
              <a:rPr sz="3600" b="1" i="1" spc="160" dirty="0">
                <a:solidFill>
                  <a:srgbClr val="2E377E"/>
                </a:solidFill>
                <a:latin typeface="Times New Roman"/>
                <a:cs typeface="Times New Roman"/>
              </a:rPr>
              <a:t>automatically</a:t>
            </a:r>
            <a:endParaRPr sz="3600">
              <a:latin typeface="Times New Roman"/>
              <a:cs typeface="Times New Roman"/>
            </a:endParaRPr>
          </a:p>
          <a:p>
            <a:pPr marL="492759" marR="7235190">
              <a:lnSpc>
                <a:spcPct val="116300"/>
              </a:lnSpc>
              <a:spcBef>
                <a:spcPts val="1635"/>
              </a:spcBef>
            </a:pPr>
            <a:r>
              <a:rPr sz="3600" dirty="0">
                <a:solidFill>
                  <a:srgbClr val="2E377E"/>
                </a:solidFill>
                <a:latin typeface="Georgia"/>
                <a:cs typeface="Georgia"/>
              </a:rPr>
              <a:t>To</a:t>
            </a:r>
            <a:r>
              <a:rPr sz="3600" spc="-90" dirty="0">
                <a:solidFill>
                  <a:srgbClr val="2E377E"/>
                </a:solidFill>
                <a:latin typeface="Georgia"/>
                <a:cs typeface="Georgia"/>
              </a:rPr>
              <a:t> </a:t>
            </a:r>
            <a:r>
              <a:rPr sz="3600" spc="55" dirty="0">
                <a:solidFill>
                  <a:srgbClr val="2E377E"/>
                </a:solidFill>
                <a:latin typeface="Georgia"/>
                <a:cs typeface="Georgia"/>
              </a:rPr>
              <a:t>delete</a:t>
            </a:r>
            <a:r>
              <a:rPr sz="3600" spc="-85" dirty="0">
                <a:solidFill>
                  <a:srgbClr val="2E377E"/>
                </a:solidFill>
                <a:latin typeface="Georgia"/>
                <a:cs typeface="Georgia"/>
              </a:rPr>
              <a:t> </a:t>
            </a:r>
            <a:r>
              <a:rPr sz="3600" dirty="0">
                <a:solidFill>
                  <a:srgbClr val="2E377E"/>
                </a:solidFill>
                <a:latin typeface="Georgia"/>
                <a:cs typeface="Georgia"/>
              </a:rPr>
              <a:t>a</a:t>
            </a:r>
            <a:r>
              <a:rPr sz="3600" spc="-85" dirty="0">
                <a:solidFill>
                  <a:srgbClr val="2E377E"/>
                </a:solidFill>
                <a:latin typeface="Georgia"/>
                <a:cs typeface="Georgia"/>
              </a:rPr>
              <a:t> </a:t>
            </a:r>
            <a:r>
              <a:rPr sz="3600" spc="-10" dirty="0">
                <a:solidFill>
                  <a:srgbClr val="2E377E"/>
                </a:solidFill>
                <a:latin typeface="Georgia"/>
                <a:cs typeface="Georgia"/>
              </a:rPr>
              <a:t>pod</a:t>
            </a:r>
            <a:r>
              <a:rPr sz="3600" spc="-10" dirty="0">
                <a:solidFill>
                  <a:srgbClr val="FF3131"/>
                </a:solidFill>
                <a:latin typeface="Georgia"/>
                <a:cs typeface="Georgia"/>
              </a:rPr>
              <a:t>:</a:t>
            </a:r>
            <a:r>
              <a:rPr sz="3600" spc="-85" dirty="0">
                <a:solidFill>
                  <a:srgbClr val="FF3131"/>
                </a:solidFill>
                <a:latin typeface="Georgia"/>
                <a:cs typeface="Georgia"/>
              </a:rPr>
              <a:t> </a:t>
            </a:r>
            <a:r>
              <a:rPr sz="3600" spc="45" dirty="0">
                <a:solidFill>
                  <a:srgbClr val="FF3131"/>
                </a:solidFill>
                <a:latin typeface="Georgia"/>
                <a:cs typeface="Georgia"/>
              </a:rPr>
              <a:t>Kubectl</a:t>
            </a:r>
            <a:r>
              <a:rPr sz="3600" spc="-85" dirty="0">
                <a:solidFill>
                  <a:srgbClr val="FF3131"/>
                </a:solidFill>
                <a:latin typeface="Georgia"/>
                <a:cs typeface="Georgia"/>
              </a:rPr>
              <a:t> </a:t>
            </a:r>
            <a:r>
              <a:rPr sz="3600" spc="55" dirty="0">
                <a:solidFill>
                  <a:srgbClr val="FF3131"/>
                </a:solidFill>
                <a:latin typeface="Georgia"/>
                <a:cs typeface="Georgia"/>
              </a:rPr>
              <a:t>delete</a:t>
            </a:r>
            <a:r>
              <a:rPr sz="3600" spc="-85" dirty="0">
                <a:solidFill>
                  <a:srgbClr val="FF3131"/>
                </a:solidFill>
                <a:latin typeface="Georgia"/>
                <a:cs typeface="Georgia"/>
              </a:rPr>
              <a:t> </a:t>
            </a:r>
            <a:r>
              <a:rPr sz="3600" dirty="0">
                <a:solidFill>
                  <a:srgbClr val="FF3131"/>
                </a:solidFill>
                <a:latin typeface="Georgia"/>
                <a:cs typeface="Georgia"/>
              </a:rPr>
              <a:t>po</a:t>
            </a:r>
            <a:r>
              <a:rPr sz="3600" spc="-85" dirty="0">
                <a:solidFill>
                  <a:srgbClr val="FF3131"/>
                </a:solidFill>
                <a:latin typeface="Georgia"/>
                <a:cs typeface="Georgia"/>
              </a:rPr>
              <a:t> </a:t>
            </a:r>
            <a:r>
              <a:rPr sz="3600" spc="-10" dirty="0">
                <a:solidFill>
                  <a:srgbClr val="FF3131"/>
                </a:solidFill>
                <a:latin typeface="Georgia"/>
                <a:cs typeface="Georgia"/>
              </a:rPr>
              <a:t>pod_name </a:t>
            </a:r>
            <a:r>
              <a:rPr sz="3600" dirty="0">
                <a:solidFill>
                  <a:srgbClr val="2E377E"/>
                </a:solidFill>
                <a:latin typeface="Georgia"/>
                <a:cs typeface="Georgia"/>
              </a:rPr>
              <a:t>To</a:t>
            </a:r>
            <a:r>
              <a:rPr sz="3600" spc="-45" dirty="0">
                <a:solidFill>
                  <a:srgbClr val="2E377E"/>
                </a:solidFill>
                <a:latin typeface="Georgia"/>
                <a:cs typeface="Georgia"/>
              </a:rPr>
              <a:t> </a:t>
            </a:r>
            <a:r>
              <a:rPr sz="3600" spc="60" dirty="0">
                <a:solidFill>
                  <a:srgbClr val="2E377E"/>
                </a:solidFill>
                <a:latin typeface="Georgia"/>
                <a:cs typeface="Georgia"/>
              </a:rPr>
              <a:t>check</a:t>
            </a:r>
            <a:r>
              <a:rPr sz="3600" spc="-40" dirty="0">
                <a:solidFill>
                  <a:srgbClr val="2E377E"/>
                </a:solidFill>
                <a:latin typeface="Georgia"/>
                <a:cs typeface="Georgia"/>
              </a:rPr>
              <a:t> </a:t>
            </a:r>
            <a:r>
              <a:rPr sz="3600" dirty="0">
                <a:solidFill>
                  <a:srgbClr val="2E377E"/>
                </a:solidFill>
                <a:latin typeface="Georgia"/>
                <a:cs typeface="Georgia"/>
              </a:rPr>
              <a:t>logs</a:t>
            </a:r>
            <a:r>
              <a:rPr sz="3600" spc="-40" dirty="0">
                <a:solidFill>
                  <a:srgbClr val="2E377E"/>
                </a:solidFill>
                <a:latin typeface="Georgia"/>
                <a:cs typeface="Georgia"/>
              </a:rPr>
              <a:t> </a:t>
            </a:r>
            <a:r>
              <a:rPr sz="3600" spc="-245" dirty="0">
                <a:solidFill>
                  <a:srgbClr val="FF3131"/>
                </a:solidFill>
                <a:latin typeface="Georgia"/>
                <a:cs typeface="Georgia"/>
              </a:rPr>
              <a:t>:</a:t>
            </a:r>
            <a:r>
              <a:rPr sz="3600" spc="-40" dirty="0">
                <a:solidFill>
                  <a:srgbClr val="FF3131"/>
                </a:solidFill>
                <a:latin typeface="Georgia"/>
                <a:cs typeface="Georgia"/>
              </a:rPr>
              <a:t> </a:t>
            </a:r>
            <a:r>
              <a:rPr sz="3600" spc="60" dirty="0">
                <a:solidFill>
                  <a:srgbClr val="FF3131"/>
                </a:solidFill>
                <a:latin typeface="Georgia"/>
                <a:cs typeface="Georgia"/>
              </a:rPr>
              <a:t>kubectl</a:t>
            </a:r>
            <a:r>
              <a:rPr sz="3600" spc="-40" dirty="0">
                <a:solidFill>
                  <a:srgbClr val="FF3131"/>
                </a:solidFill>
                <a:latin typeface="Georgia"/>
                <a:cs typeface="Georgia"/>
              </a:rPr>
              <a:t> </a:t>
            </a:r>
            <a:r>
              <a:rPr sz="3600" dirty="0">
                <a:solidFill>
                  <a:srgbClr val="FF3131"/>
                </a:solidFill>
                <a:latin typeface="Georgia"/>
                <a:cs typeface="Georgia"/>
              </a:rPr>
              <a:t>logs</a:t>
            </a:r>
            <a:r>
              <a:rPr sz="3600" spc="-45" dirty="0">
                <a:solidFill>
                  <a:srgbClr val="FF3131"/>
                </a:solidFill>
                <a:latin typeface="Georgia"/>
                <a:cs typeface="Georgia"/>
              </a:rPr>
              <a:t> </a:t>
            </a:r>
            <a:r>
              <a:rPr sz="3600" spc="-10" dirty="0">
                <a:solidFill>
                  <a:srgbClr val="FF3131"/>
                </a:solidFill>
                <a:latin typeface="Georgia"/>
                <a:cs typeface="Georgia"/>
              </a:rPr>
              <a:t>pod_name</a:t>
            </a:r>
            <a:endParaRPr sz="3600">
              <a:latin typeface="Georgia"/>
              <a:cs typeface="Georgia"/>
            </a:endParaRPr>
          </a:p>
          <a:p>
            <a:pPr marL="492759">
              <a:lnSpc>
                <a:spcPct val="100000"/>
              </a:lnSpc>
              <a:spcBef>
                <a:spcPts val="705"/>
              </a:spcBef>
            </a:pPr>
            <a:r>
              <a:rPr sz="3600" dirty="0">
                <a:solidFill>
                  <a:srgbClr val="2E377E"/>
                </a:solidFill>
                <a:latin typeface="Georgia"/>
                <a:cs typeface="Georgia"/>
              </a:rPr>
              <a:t>To</a:t>
            </a:r>
            <a:r>
              <a:rPr sz="3600" spc="-65" dirty="0">
                <a:solidFill>
                  <a:srgbClr val="2E377E"/>
                </a:solidFill>
                <a:latin typeface="Georgia"/>
                <a:cs typeface="Georgia"/>
              </a:rPr>
              <a:t> </a:t>
            </a:r>
            <a:r>
              <a:rPr sz="3600" spc="55" dirty="0">
                <a:solidFill>
                  <a:srgbClr val="2E377E"/>
                </a:solidFill>
                <a:latin typeface="Georgia"/>
                <a:cs typeface="Georgia"/>
              </a:rPr>
              <a:t>delete</a:t>
            </a:r>
            <a:r>
              <a:rPr sz="3600" spc="-65" dirty="0">
                <a:solidFill>
                  <a:srgbClr val="2E377E"/>
                </a:solidFill>
                <a:latin typeface="Georgia"/>
                <a:cs typeface="Georgia"/>
              </a:rPr>
              <a:t> </a:t>
            </a:r>
            <a:r>
              <a:rPr sz="3600" dirty="0">
                <a:solidFill>
                  <a:srgbClr val="2E377E"/>
                </a:solidFill>
                <a:latin typeface="Georgia"/>
                <a:cs typeface="Georgia"/>
              </a:rPr>
              <a:t>a</a:t>
            </a:r>
            <a:r>
              <a:rPr sz="3600" spc="-65" dirty="0">
                <a:solidFill>
                  <a:srgbClr val="2E377E"/>
                </a:solidFill>
                <a:latin typeface="Georgia"/>
                <a:cs typeface="Georgia"/>
              </a:rPr>
              <a:t> </a:t>
            </a:r>
            <a:r>
              <a:rPr sz="3600" spc="55" dirty="0">
                <a:solidFill>
                  <a:srgbClr val="2E377E"/>
                </a:solidFill>
                <a:latin typeface="Georgia"/>
                <a:cs typeface="Georgia"/>
              </a:rPr>
              <a:t>deployment</a:t>
            </a:r>
            <a:r>
              <a:rPr sz="3600" spc="-60" dirty="0">
                <a:solidFill>
                  <a:srgbClr val="2E377E"/>
                </a:solidFill>
                <a:latin typeface="Georgia"/>
                <a:cs typeface="Georgia"/>
              </a:rPr>
              <a:t> </a:t>
            </a:r>
            <a:r>
              <a:rPr sz="3600" spc="-245" dirty="0">
                <a:solidFill>
                  <a:srgbClr val="FF3131"/>
                </a:solidFill>
                <a:latin typeface="Georgia"/>
                <a:cs typeface="Georgia"/>
              </a:rPr>
              <a:t>:</a:t>
            </a:r>
            <a:r>
              <a:rPr sz="3600" spc="-65" dirty="0">
                <a:solidFill>
                  <a:srgbClr val="FF3131"/>
                </a:solidFill>
                <a:latin typeface="Georgia"/>
                <a:cs typeface="Georgia"/>
              </a:rPr>
              <a:t> </a:t>
            </a:r>
            <a:r>
              <a:rPr sz="3600" spc="60" dirty="0">
                <a:solidFill>
                  <a:srgbClr val="FF3131"/>
                </a:solidFill>
                <a:latin typeface="Georgia"/>
                <a:cs typeface="Georgia"/>
              </a:rPr>
              <a:t>kubectl</a:t>
            </a:r>
            <a:r>
              <a:rPr sz="3600" spc="-65" dirty="0">
                <a:solidFill>
                  <a:srgbClr val="FF3131"/>
                </a:solidFill>
                <a:latin typeface="Georgia"/>
                <a:cs typeface="Georgia"/>
              </a:rPr>
              <a:t> </a:t>
            </a:r>
            <a:r>
              <a:rPr sz="3600" spc="55" dirty="0">
                <a:solidFill>
                  <a:srgbClr val="FF3131"/>
                </a:solidFill>
                <a:latin typeface="Georgia"/>
                <a:cs typeface="Georgia"/>
              </a:rPr>
              <a:t>delete</a:t>
            </a:r>
            <a:r>
              <a:rPr sz="3600" spc="-60" dirty="0">
                <a:solidFill>
                  <a:srgbClr val="FF3131"/>
                </a:solidFill>
                <a:latin typeface="Georgia"/>
                <a:cs typeface="Georgia"/>
              </a:rPr>
              <a:t> </a:t>
            </a:r>
            <a:r>
              <a:rPr sz="3600" spc="50" dirty="0">
                <a:solidFill>
                  <a:srgbClr val="FF3131"/>
                </a:solidFill>
                <a:latin typeface="Georgia"/>
                <a:cs typeface="Georgia"/>
              </a:rPr>
              <a:t>deploy</a:t>
            </a:r>
            <a:r>
              <a:rPr sz="3600" spc="-65" dirty="0">
                <a:solidFill>
                  <a:srgbClr val="FF3131"/>
                </a:solidFill>
                <a:latin typeface="Georgia"/>
                <a:cs typeface="Georgia"/>
              </a:rPr>
              <a:t> </a:t>
            </a:r>
            <a:r>
              <a:rPr sz="3600" spc="35" dirty="0">
                <a:solidFill>
                  <a:srgbClr val="FF3131"/>
                </a:solidFill>
                <a:latin typeface="Georgia"/>
                <a:cs typeface="Georgia"/>
              </a:rPr>
              <a:t>deploy_name</a:t>
            </a:r>
            <a:endParaRPr sz="3600">
              <a:latin typeface="Georgia"/>
              <a:cs typeface="Georgi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18114" y="4040666"/>
            <a:ext cx="133350" cy="133350"/>
          </a:xfrm>
          <a:prstGeom prst="rect">
            <a:avLst/>
          </a:prstGeom>
        </p:spPr>
      </p:pic>
      <p:pic>
        <p:nvPicPr>
          <p:cNvPr id="3" name="object 3"/>
          <p:cNvPicPr/>
          <p:nvPr/>
        </p:nvPicPr>
        <p:blipFill>
          <a:blip r:embed="rId2" cstate="print"/>
          <a:stretch>
            <a:fillRect/>
          </a:stretch>
        </p:blipFill>
        <p:spPr>
          <a:xfrm>
            <a:off x="1218114" y="4678841"/>
            <a:ext cx="133350" cy="133350"/>
          </a:xfrm>
          <a:prstGeom prst="rect">
            <a:avLst/>
          </a:prstGeom>
        </p:spPr>
      </p:pic>
      <p:pic>
        <p:nvPicPr>
          <p:cNvPr id="4" name="object 4"/>
          <p:cNvPicPr/>
          <p:nvPr/>
        </p:nvPicPr>
        <p:blipFill>
          <a:blip r:embed="rId3" cstate="print"/>
          <a:stretch>
            <a:fillRect/>
          </a:stretch>
        </p:blipFill>
        <p:spPr>
          <a:xfrm>
            <a:off x="1218114" y="5955191"/>
            <a:ext cx="133350" cy="133350"/>
          </a:xfrm>
          <a:prstGeom prst="rect">
            <a:avLst/>
          </a:prstGeom>
        </p:spPr>
      </p:pic>
      <p:pic>
        <p:nvPicPr>
          <p:cNvPr id="5" name="object 5"/>
          <p:cNvPicPr/>
          <p:nvPr/>
        </p:nvPicPr>
        <p:blipFill>
          <a:blip r:embed="rId3" cstate="print"/>
          <a:stretch>
            <a:fillRect/>
          </a:stretch>
        </p:blipFill>
        <p:spPr>
          <a:xfrm>
            <a:off x="1218114" y="7231542"/>
            <a:ext cx="133350" cy="133350"/>
          </a:xfrm>
          <a:prstGeom prst="rect">
            <a:avLst/>
          </a:prstGeom>
        </p:spPr>
      </p:pic>
      <p:pic>
        <p:nvPicPr>
          <p:cNvPr id="6" name="object 6"/>
          <p:cNvPicPr/>
          <p:nvPr/>
        </p:nvPicPr>
        <p:blipFill>
          <a:blip r:embed="rId3" cstate="print"/>
          <a:stretch>
            <a:fillRect/>
          </a:stretch>
        </p:blipFill>
        <p:spPr>
          <a:xfrm>
            <a:off x="1218114" y="8507891"/>
            <a:ext cx="133350" cy="133350"/>
          </a:xfrm>
          <a:prstGeom prst="rect">
            <a:avLst/>
          </a:prstGeom>
        </p:spPr>
      </p:pic>
      <p:sp>
        <p:nvSpPr>
          <p:cNvPr id="7" name="object 7"/>
          <p:cNvSpPr txBox="1"/>
          <p:nvPr/>
        </p:nvSpPr>
        <p:spPr>
          <a:xfrm>
            <a:off x="757739" y="1803060"/>
            <a:ext cx="16014065" cy="7045325"/>
          </a:xfrm>
          <a:prstGeom prst="rect">
            <a:avLst/>
          </a:prstGeom>
        </p:spPr>
        <p:txBody>
          <a:bodyPr vert="horz" wrap="square" lIns="0" tIns="12700" rIns="0" bIns="0" rtlCol="0">
            <a:spAutoFit/>
          </a:bodyPr>
          <a:lstStyle/>
          <a:p>
            <a:pPr marL="12700" marR="688975">
              <a:lnSpc>
                <a:spcPct val="116300"/>
              </a:lnSpc>
              <a:spcBef>
                <a:spcPts val="100"/>
              </a:spcBef>
            </a:pPr>
            <a:r>
              <a:rPr sz="3600" dirty="0">
                <a:solidFill>
                  <a:srgbClr val="2E377E"/>
                </a:solidFill>
                <a:latin typeface="Georgia"/>
                <a:cs typeface="Georgia"/>
              </a:rPr>
              <a:t>When</a:t>
            </a:r>
            <a:r>
              <a:rPr sz="3600" spc="5"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spc="45" dirty="0">
                <a:solidFill>
                  <a:srgbClr val="2E377E"/>
                </a:solidFill>
                <a:latin typeface="Georgia"/>
                <a:cs typeface="Georgia"/>
              </a:rPr>
              <a:t>inspect</a:t>
            </a:r>
            <a:r>
              <a:rPr sz="3600" spc="5"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spc="45" dirty="0">
                <a:solidFill>
                  <a:srgbClr val="2E377E"/>
                </a:solidFill>
                <a:latin typeface="Georgia"/>
                <a:cs typeface="Georgia"/>
              </a:rPr>
              <a:t>Deployments</a:t>
            </a:r>
            <a:r>
              <a:rPr sz="3600" spc="5" dirty="0">
                <a:solidFill>
                  <a:srgbClr val="2E377E"/>
                </a:solidFill>
                <a:latin typeface="Georgia"/>
                <a:cs typeface="Georgia"/>
              </a:rPr>
              <a:t> </a:t>
            </a:r>
            <a:r>
              <a:rPr sz="3600" dirty="0">
                <a:solidFill>
                  <a:srgbClr val="2E377E"/>
                </a:solidFill>
                <a:latin typeface="Georgia"/>
                <a:cs typeface="Georgia"/>
              </a:rPr>
              <a:t>in</a:t>
            </a:r>
            <a:r>
              <a:rPr sz="3600" spc="5" dirty="0">
                <a:solidFill>
                  <a:srgbClr val="2E377E"/>
                </a:solidFill>
                <a:latin typeface="Georgia"/>
                <a:cs typeface="Georgia"/>
              </a:rPr>
              <a:t> </a:t>
            </a:r>
            <a:r>
              <a:rPr sz="3600" spc="80" dirty="0">
                <a:solidFill>
                  <a:srgbClr val="2E377E"/>
                </a:solidFill>
                <a:latin typeface="Georgia"/>
                <a:cs typeface="Georgia"/>
              </a:rPr>
              <a:t>your</a:t>
            </a:r>
            <a:r>
              <a:rPr sz="3600" spc="10" dirty="0">
                <a:solidFill>
                  <a:srgbClr val="2E377E"/>
                </a:solidFill>
                <a:latin typeface="Georgia"/>
                <a:cs typeface="Georgia"/>
              </a:rPr>
              <a:t> </a:t>
            </a:r>
            <a:r>
              <a:rPr sz="3600" dirty="0">
                <a:solidFill>
                  <a:srgbClr val="2E377E"/>
                </a:solidFill>
                <a:latin typeface="Georgia"/>
                <a:cs typeface="Georgia"/>
              </a:rPr>
              <a:t>cluster,</a:t>
            </a:r>
            <a:r>
              <a:rPr sz="3600" spc="5"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following</a:t>
            </a:r>
            <a:r>
              <a:rPr sz="3600" spc="5" dirty="0">
                <a:solidFill>
                  <a:srgbClr val="2E377E"/>
                </a:solidFill>
                <a:latin typeface="Georgia"/>
                <a:cs typeface="Georgia"/>
              </a:rPr>
              <a:t> </a:t>
            </a:r>
            <a:r>
              <a:rPr sz="3600" dirty="0">
                <a:solidFill>
                  <a:srgbClr val="2E377E"/>
                </a:solidFill>
                <a:latin typeface="Georgia"/>
                <a:cs typeface="Georgia"/>
              </a:rPr>
              <a:t>fields</a:t>
            </a:r>
            <a:r>
              <a:rPr sz="3600" spc="10" dirty="0">
                <a:solidFill>
                  <a:srgbClr val="2E377E"/>
                </a:solidFill>
                <a:latin typeface="Georgia"/>
                <a:cs typeface="Georgia"/>
              </a:rPr>
              <a:t> </a:t>
            </a:r>
            <a:r>
              <a:rPr sz="3600" spc="-25" dirty="0">
                <a:solidFill>
                  <a:srgbClr val="2E377E"/>
                </a:solidFill>
                <a:latin typeface="Georgia"/>
                <a:cs typeface="Georgia"/>
              </a:rPr>
              <a:t>are </a:t>
            </a:r>
            <a:r>
              <a:rPr sz="3600" spc="-10" dirty="0">
                <a:solidFill>
                  <a:srgbClr val="2E377E"/>
                </a:solidFill>
                <a:latin typeface="Georgia"/>
                <a:cs typeface="Georgia"/>
              </a:rPr>
              <a:t>displayed:</a:t>
            </a:r>
            <a:endParaRPr sz="3600">
              <a:latin typeface="Georgia"/>
              <a:cs typeface="Georgia"/>
            </a:endParaRPr>
          </a:p>
          <a:p>
            <a:pPr>
              <a:lnSpc>
                <a:spcPct val="100000"/>
              </a:lnSpc>
              <a:spcBef>
                <a:spcPts val="1639"/>
              </a:spcBef>
            </a:pPr>
            <a:endParaRPr sz="3600">
              <a:latin typeface="Georgia"/>
              <a:cs typeface="Georgia"/>
            </a:endParaRPr>
          </a:p>
          <a:p>
            <a:pPr marL="789305">
              <a:lnSpc>
                <a:spcPct val="100000"/>
              </a:lnSpc>
            </a:pPr>
            <a:r>
              <a:rPr sz="3600" i="1" spc="120" dirty="0">
                <a:solidFill>
                  <a:srgbClr val="2E377E"/>
                </a:solidFill>
                <a:latin typeface="Times New Roman"/>
                <a:cs typeface="Times New Roman"/>
              </a:rPr>
              <a:t>NAME</a:t>
            </a:r>
            <a:r>
              <a:rPr sz="3600" i="1" spc="-45" dirty="0">
                <a:solidFill>
                  <a:srgbClr val="2E377E"/>
                </a:solidFill>
                <a:latin typeface="Times New Roman"/>
                <a:cs typeface="Times New Roman"/>
              </a:rPr>
              <a:t> </a:t>
            </a:r>
            <a:r>
              <a:rPr sz="3600" dirty="0">
                <a:solidFill>
                  <a:srgbClr val="2E377E"/>
                </a:solidFill>
                <a:latin typeface="Georgia"/>
                <a:cs typeface="Georgia"/>
              </a:rPr>
              <a:t>lists</a:t>
            </a:r>
            <a:r>
              <a:rPr sz="3600" spc="-1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names</a:t>
            </a:r>
            <a:r>
              <a:rPr sz="3600" spc="-15"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spc="45" dirty="0">
                <a:solidFill>
                  <a:srgbClr val="2E377E"/>
                </a:solidFill>
                <a:latin typeface="Georgia"/>
                <a:cs typeface="Georgia"/>
              </a:rPr>
              <a:t>Deployments</a:t>
            </a:r>
            <a:r>
              <a:rPr sz="3600" spc="-15"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spc="-10" dirty="0">
                <a:solidFill>
                  <a:srgbClr val="2E377E"/>
                </a:solidFill>
                <a:latin typeface="Georgia"/>
                <a:cs typeface="Georgia"/>
              </a:rPr>
              <a:t>namespace.</a:t>
            </a:r>
            <a:endParaRPr sz="3600">
              <a:latin typeface="Georgia"/>
              <a:cs typeface="Georgia"/>
            </a:endParaRPr>
          </a:p>
          <a:p>
            <a:pPr marL="789305" marR="5080">
              <a:lnSpc>
                <a:spcPct val="116300"/>
              </a:lnSpc>
              <a:tabLst>
                <a:tab pos="2492375" algn="l"/>
                <a:tab pos="4386580" algn="l"/>
                <a:tab pos="5480050" algn="l"/>
                <a:tab pos="6854190" algn="l"/>
                <a:tab pos="8669020" algn="l"/>
                <a:tab pos="9285605" algn="l"/>
                <a:tab pos="10166350" algn="l"/>
                <a:tab pos="12684125" algn="l"/>
                <a:tab pos="13545819" algn="l"/>
                <a:tab pos="15577185" algn="l"/>
              </a:tabLst>
            </a:pPr>
            <a:r>
              <a:rPr sz="3600" i="1" spc="85" dirty="0">
                <a:solidFill>
                  <a:srgbClr val="2E377E"/>
                </a:solidFill>
                <a:latin typeface="Times New Roman"/>
                <a:cs typeface="Times New Roman"/>
              </a:rPr>
              <a:t>READY</a:t>
            </a:r>
            <a:r>
              <a:rPr sz="3600" i="1" dirty="0">
                <a:solidFill>
                  <a:srgbClr val="2E377E"/>
                </a:solidFill>
                <a:latin typeface="Times New Roman"/>
                <a:cs typeface="Times New Roman"/>
              </a:rPr>
              <a:t>	</a:t>
            </a:r>
            <a:r>
              <a:rPr sz="3600" spc="-10" dirty="0">
                <a:solidFill>
                  <a:srgbClr val="2E377E"/>
                </a:solidFill>
                <a:latin typeface="Georgia"/>
                <a:cs typeface="Georgia"/>
              </a:rPr>
              <a:t>displays</a:t>
            </a:r>
            <a:r>
              <a:rPr sz="3600" dirty="0">
                <a:solidFill>
                  <a:srgbClr val="2E377E"/>
                </a:solidFill>
                <a:latin typeface="Georgia"/>
                <a:cs typeface="Georgia"/>
              </a:rPr>
              <a:t>	</a:t>
            </a:r>
            <a:r>
              <a:rPr sz="3600" spc="50" dirty="0">
                <a:solidFill>
                  <a:srgbClr val="2E377E"/>
                </a:solidFill>
                <a:latin typeface="Georgia"/>
                <a:cs typeface="Georgia"/>
              </a:rPr>
              <a:t>how</a:t>
            </a:r>
            <a:r>
              <a:rPr sz="3600" dirty="0">
                <a:solidFill>
                  <a:srgbClr val="2E377E"/>
                </a:solidFill>
                <a:latin typeface="Georgia"/>
                <a:cs typeface="Georgia"/>
              </a:rPr>
              <a:t>	</a:t>
            </a:r>
            <a:r>
              <a:rPr sz="3600" spc="35" dirty="0">
                <a:solidFill>
                  <a:srgbClr val="2E377E"/>
                </a:solidFill>
                <a:latin typeface="Georgia"/>
                <a:cs typeface="Georgia"/>
              </a:rPr>
              <a:t>many</a:t>
            </a:r>
            <a:r>
              <a:rPr sz="3600" dirty="0">
                <a:solidFill>
                  <a:srgbClr val="2E377E"/>
                </a:solidFill>
                <a:latin typeface="Georgia"/>
                <a:cs typeface="Georgia"/>
              </a:rPr>
              <a:t>	</a:t>
            </a:r>
            <a:r>
              <a:rPr sz="3600" spc="-10" dirty="0">
                <a:solidFill>
                  <a:srgbClr val="2E377E"/>
                </a:solidFill>
                <a:latin typeface="Georgia"/>
                <a:cs typeface="Georgia"/>
              </a:rPr>
              <a:t>replicas</a:t>
            </a:r>
            <a:r>
              <a:rPr sz="3600" dirty="0">
                <a:solidFill>
                  <a:srgbClr val="2E377E"/>
                </a:solidFill>
                <a:latin typeface="Georgia"/>
                <a:cs typeface="Georgia"/>
              </a:rPr>
              <a:t>	</a:t>
            </a:r>
            <a:r>
              <a:rPr sz="3600" spc="-25" dirty="0">
                <a:solidFill>
                  <a:srgbClr val="2E377E"/>
                </a:solidFill>
                <a:latin typeface="Georgia"/>
                <a:cs typeface="Georgia"/>
              </a:rPr>
              <a:t>of</a:t>
            </a:r>
            <a:r>
              <a:rPr sz="3600" dirty="0">
                <a:solidFill>
                  <a:srgbClr val="2E377E"/>
                </a:solidFill>
                <a:latin typeface="Georgia"/>
                <a:cs typeface="Georgia"/>
              </a:rPr>
              <a:t>	</a:t>
            </a:r>
            <a:r>
              <a:rPr sz="3600" spc="35" dirty="0">
                <a:solidFill>
                  <a:srgbClr val="2E377E"/>
                </a:solidFill>
                <a:latin typeface="Georgia"/>
                <a:cs typeface="Georgia"/>
              </a:rPr>
              <a:t>the</a:t>
            </a:r>
            <a:r>
              <a:rPr sz="3600" dirty="0">
                <a:solidFill>
                  <a:srgbClr val="2E377E"/>
                </a:solidFill>
                <a:latin typeface="Georgia"/>
                <a:cs typeface="Georgia"/>
              </a:rPr>
              <a:t>	</a:t>
            </a:r>
            <a:r>
              <a:rPr sz="3600" spc="-10" dirty="0">
                <a:solidFill>
                  <a:srgbClr val="2E377E"/>
                </a:solidFill>
                <a:latin typeface="Georgia"/>
                <a:cs typeface="Georgia"/>
              </a:rPr>
              <a:t>application</a:t>
            </a:r>
            <a:r>
              <a:rPr sz="3600" dirty="0">
                <a:solidFill>
                  <a:srgbClr val="2E377E"/>
                </a:solidFill>
                <a:latin typeface="Georgia"/>
                <a:cs typeface="Georgia"/>
              </a:rPr>
              <a:t>	</a:t>
            </a:r>
            <a:r>
              <a:rPr sz="3600" spc="-25" dirty="0">
                <a:solidFill>
                  <a:srgbClr val="2E377E"/>
                </a:solidFill>
                <a:latin typeface="Georgia"/>
                <a:cs typeface="Georgia"/>
              </a:rPr>
              <a:t>are</a:t>
            </a:r>
            <a:r>
              <a:rPr sz="3600" dirty="0">
                <a:solidFill>
                  <a:srgbClr val="2E377E"/>
                </a:solidFill>
                <a:latin typeface="Georgia"/>
                <a:cs typeface="Georgia"/>
              </a:rPr>
              <a:t>	</a:t>
            </a:r>
            <a:r>
              <a:rPr sz="3600" spc="-10" dirty="0">
                <a:solidFill>
                  <a:srgbClr val="2E377E"/>
                </a:solidFill>
                <a:latin typeface="Georgia"/>
                <a:cs typeface="Georgia"/>
              </a:rPr>
              <a:t>available</a:t>
            </a:r>
            <a:r>
              <a:rPr sz="3600" dirty="0">
                <a:solidFill>
                  <a:srgbClr val="2E377E"/>
                </a:solidFill>
                <a:latin typeface="Georgia"/>
                <a:cs typeface="Georgia"/>
              </a:rPr>
              <a:t>	</a:t>
            </a:r>
            <a:r>
              <a:rPr sz="3600" spc="45" dirty="0">
                <a:solidFill>
                  <a:srgbClr val="2E377E"/>
                </a:solidFill>
                <a:latin typeface="Georgia"/>
                <a:cs typeface="Georgia"/>
              </a:rPr>
              <a:t>to </a:t>
            </a:r>
            <a:r>
              <a:rPr sz="3600" spc="80" dirty="0">
                <a:solidFill>
                  <a:srgbClr val="2E377E"/>
                </a:solidFill>
                <a:latin typeface="Georgia"/>
                <a:cs typeface="Georgia"/>
              </a:rPr>
              <a:t>your</a:t>
            </a:r>
            <a:r>
              <a:rPr sz="3600" spc="-55" dirty="0">
                <a:solidFill>
                  <a:srgbClr val="2E377E"/>
                </a:solidFill>
                <a:latin typeface="Georgia"/>
                <a:cs typeface="Georgia"/>
              </a:rPr>
              <a:t> </a:t>
            </a:r>
            <a:r>
              <a:rPr sz="3600" dirty="0">
                <a:solidFill>
                  <a:srgbClr val="2E377E"/>
                </a:solidFill>
                <a:latin typeface="Georgia"/>
                <a:cs typeface="Georgia"/>
              </a:rPr>
              <a:t>users.</a:t>
            </a:r>
            <a:r>
              <a:rPr sz="3600" spc="-50" dirty="0">
                <a:solidFill>
                  <a:srgbClr val="2E377E"/>
                </a:solidFill>
                <a:latin typeface="Georgia"/>
                <a:cs typeface="Georgia"/>
              </a:rPr>
              <a:t> </a:t>
            </a:r>
            <a:r>
              <a:rPr sz="3600" dirty="0">
                <a:solidFill>
                  <a:srgbClr val="2E377E"/>
                </a:solidFill>
                <a:latin typeface="Georgia"/>
                <a:cs typeface="Georgia"/>
              </a:rPr>
              <a:t>It</a:t>
            </a:r>
            <a:r>
              <a:rPr sz="3600" spc="-50" dirty="0">
                <a:solidFill>
                  <a:srgbClr val="2E377E"/>
                </a:solidFill>
                <a:latin typeface="Georgia"/>
                <a:cs typeface="Georgia"/>
              </a:rPr>
              <a:t> </a:t>
            </a:r>
            <a:r>
              <a:rPr sz="3600" spc="45" dirty="0">
                <a:solidFill>
                  <a:srgbClr val="2E377E"/>
                </a:solidFill>
                <a:latin typeface="Georgia"/>
                <a:cs typeface="Georgia"/>
              </a:rPr>
              <a:t>follows</a:t>
            </a:r>
            <a:r>
              <a:rPr sz="3600" spc="-50" dirty="0">
                <a:solidFill>
                  <a:srgbClr val="2E377E"/>
                </a:solidFill>
                <a:latin typeface="Georgia"/>
                <a:cs typeface="Georgia"/>
              </a:rPr>
              <a:t> </a:t>
            </a:r>
            <a:r>
              <a:rPr sz="3600" spc="60" dirty="0">
                <a:solidFill>
                  <a:srgbClr val="2E377E"/>
                </a:solidFill>
                <a:latin typeface="Georgia"/>
                <a:cs typeface="Georgia"/>
              </a:rPr>
              <a:t>the</a:t>
            </a:r>
            <a:r>
              <a:rPr sz="3600" spc="-50" dirty="0">
                <a:solidFill>
                  <a:srgbClr val="2E377E"/>
                </a:solidFill>
                <a:latin typeface="Georgia"/>
                <a:cs typeface="Georgia"/>
              </a:rPr>
              <a:t> </a:t>
            </a:r>
            <a:r>
              <a:rPr sz="3600" spc="55" dirty="0">
                <a:solidFill>
                  <a:srgbClr val="2E377E"/>
                </a:solidFill>
                <a:latin typeface="Georgia"/>
                <a:cs typeface="Georgia"/>
              </a:rPr>
              <a:t>pattern</a:t>
            </a:r>
            <a:r>
              <a:rPr sz="3600" spc="-50" dirty="0">
                <a:solidFill>
                  <a:srgbClr val="2E377E"/>
                </a:solidFill>
                <a:latin typeface="Georgia"/>
                <a:cs typeface="Georgia"/>
              </a:rPr>
              <a:t> </a:t>
            </a:r>
            <a:r>
              <a:rPr sz="3600" spc="-10" dirty="0">
                <a:solidFill>
                  <a:srgbClr val="2E377E"/>
                </a:solidFill>
                <a:latin typeface="Georgia"/>
                <a:cs typeface="Georgia"/>
              </a:rPr>
              <a:t>ready/desired.</a:t>
            </a:r>
            <a:endParaRPr sz="3600">
              <a:latin typeface="Georgia"/>
              <a:cs typeface="Georgia"/>
            </a:endParaRPr>
          </a:p>
          <a:p>
            <a:pPr marL="789305" marR="505459">
              <a:lnSpc>
                <a:spcPct val="116300"/>
              </a:lnSpc>
            </a:pPr>
            <a:r>
              <a:rPr sz="3600" i="1" spc="-20" dirty="0">
                <a:solidFill>
                  <a:srgbClr val="2E377E"/>
                </a:solidFill>
                <a:latin typeface="Times New Roman"/>
                <a:cs typeface="Times New Roman"/>
              </a:rPr>
              <a:t>UP</a:t>
            </a:r>
            <a:r>
              <a:rPr sz="3600" spc="-20" dirty="0">
                <a:solidFill>
                  <a:srgbClr val="2E377E"/>
                </a:solidFill>
                <a:latin typeface="Georgia"/>
                <a:cs typeface="Georgia"/>
              </a:rPr>
              <a:t>-</a:t>
            </a:r>
            <a:r>
              <a:rPr sz="3600" spc="-40" dirty="0">
                <a:solidFill>
                  <a:srgbClr val="2E377E"/>
                </a:solidFill>
                <a:latin typeface="Georgia"/>
                <a:cs typeface="Georgia"/>
              </a:rPr>
              <a:t>TO-</a:t>
            </a:r>
            <a:r>
              <a:rPr sz="3600" spc="-105" dirty="0">
                <a:solidFill>
                  <a:srgbClr val="2E377E"/>
                </a:solidFill>
                <a:latin typeface="Georgia"/>
                <a:cs typeface="Georgia"/>
              </a:rPr>
              <a:t>DATE</a:t>
            </a:r>
            <a:r>
              <a:rPr sz="3600" spc="60" dirty="0">
                <a:solidFill>
                  <a:srgbClr val="2E377E"/>
                </a:solidFill>
                <a:latin typeface="Georgia"/>
                <a:cs typeface="Georgia"/>
              </a:rPr>
              <a:t> </a:t>
            </a:r>
            <a:r>
              <a:rPr sz="3600" dirty="0">
                <a:solidFill>
                  <a:srgbClr val="2E377E"/>
                </a:solidFill>
                <a:latin typeface="Georgia"/>
                <a:cs typeface="Georgia"/>
              </a:rPr>
              <a:t>displays</a:t>
            </a:r>
            <a:r>
              <a:rPr sz="3600" spc="60" dirty="0">
                <a:solidFill>
                  <a:srgbClr val="2E377E"/>
                </a:solidFill>
                <a:latin typeface="Georgia"/>
                <a:cs typeface="Georgia"/>
              </a:rPr>
              <a:t> the</a:t>
            </a:r>
            <a:r>
              <a:rPr sz="3600" spc="65" dirty="0">
                <a:solidFill>
                  <a:srgbClr val="2E377E"/>
                </a:solidFill>
                <a:latin typeface="Georgia"/>
                <a:cs typeface="Georgia"/>
              </a:rPr>
              <a:t> </a:t>
            </a:r>
            <a:r>
              <a:rPr sz="3600" dirty="0">
                <a:solidFill>
                  <a:srgbClr val="2E377E"/>
                </a:solidFill>
                <a:latin typeface="Georgia"/>
                <a:cs typeface="Georgia"/>
              </a:rPr>
              <a:t>number</a:t>
            </a:r>
            <a:r>
              <a:rPr sz="3600" spc="60" dirty="0">
                <a:solidFill>
                  <a:srgbClr val="2E377E"/>
                </a:solidFill>
                <a:latin typeface="Georgia"/>
                <a:cs typeface="Georgia"/>
              </a:rPr>
              <a:t> </a:t>
            </a:r>
            <a:r>
              <a:rPr sz="3600" dirty="0">
                <a:solidFill>
                  <a:srgbClr val="2E377E"/>
                </a:solidFill>
                <a:latin typeface="Georgia"/>
                <a:cs typeface="Georgia"/>
              </a:rPr>
              <a:t>of</a:t>
            </a:r>
            <a:r>
              <a:rPr sz="3600" spc="65" dirty="0">
                <a:solidFill>
                  <a:srgbClr val="2E377E"/>
                </a:solidFill>
                <a:latin typeface="Georgia"/>
                <a:cs typeface="Georgia"/>
              </a:rPr>
              <a:t> </a:t>
            </a:r>
            <a:r>
              <a:rPr sz="3600" dirty="0">
                <a:solidFill>
                  <a:srgbClr val="2E377E"/>
                </a:solidFill>
                <a:latin typeface="Georgia"/>
                <a:cs typeface="Georgia"/>
              </a:rPr>
              <a:t>replicas</a:t>
            </a:r>
            <a:r>
              <a:rPr sz="3600" spc="60" dirty="0">
                <a:solidFill>
                  <a:srgbClr val="2E377E"/>
                </a:solidFill>
                <a:latin typeface="Georgia"/>
                <a:cs typeface="Georgia"/>
              </a:rPr>
              <a:t> </a:t>
            </a:r>
            <a:r>
              <a:rPr sz="3600" spc="55" dirty="0">
                <a:solidFill>
                  <a:srgbClr val="2E377E"/>
                </a:solidFill>
                <a:latin typeface="Georgia"/>
                <a:cs typeface="Georgia"/>
              </a:rPr>
              <a:t>that</a:t>
            </a:r>
            <a:r>
              <a:rPr sz="3600" spc="65" dirty="0">
                <a:solidFill>
                  <a:srgbClr val="2E377E"/>
                </a:solidFill>
                <a:latin typeface="Georgia"/>
                <a:cs typeface="Georgia"/>
              </a:rPr>
              <a:t> </a:t>
            </a:r>
            <a:r>
              <a:rPr sz="3600" spc="55" dirty="0">
                <a:solidFill>
                  <a:srgbClr val="2E377E"/>
                </a:solidFill>
                <a:latin typeface="Georgia"/>
                <a:cs typeface="Georgia"/>
              </a:rPr>
              <a:t>have</a:t>
            </a:r>
            <a:r>
              <a:rPr sz="3600" spc="60" dirty="0">
                <a:solidFill>
                  <a:srgbClr val="2E377E"/>
                </a:solidFill>
                <a:latin typeface="Georgia"/>
                <a:cs typeface="Georgia"/>
              </a:rPr>
              <a:t> </a:t>
            </a:r>
            <a:r>
              <a:rPr sz="3600" dirty="0">
                <a:solidFill>
                  <a:srgbClr val="2E377E"/>
                </a:solidFill>
                <a:latin typeface="Georgia"/>
                <a:cs typeface="Georgia"/>
              </a:rPr>
              <a:t>been</a:t>
            </a:r>
            <a:r>
              <a:rPr sz="3600" spc="60" dirty="0">
                <a:solidFill>
                  <a:srgbClr val="2E377E"/>
                </a:solidFill>
                <a:latin typeface="Georgia"/>
                <a:cs typeface="Georgia"/>
              </a:rPr>
              <a:t> </a:t>
            </a:r>
            <a:r>
              <a:rPr sz="3600" dirty="0">
                <a:solidFill>
                  <a:srgbClr val="2E377E"/>
                </a:solidFill>
                <a:latin typeface="Georgia"/>
                <a:cs typeface="Georgia"/>
              </a:rPr>
              <a:t>updated</a:t>
            </a:r>
            <a:r>
              <a:rPr sz="3600" spc="65" dirty="0">
                <a:solidFill>
                  <a:srgbClr val="2E377E"/>
                </a:solidFill>
                <a:latin typeface="Georgia"/>
                <a:cs typeface="Georgia"/>
              </a:rPr>
              <a:t> </a:t>
            </a:r>
            <a:r>
              <a:rPr sz="3600" spc="45" dirty="0">
                <a:solidFill>
                  <a:srgbClr val="2E377E"/>
                </a:solidFill>
                <a:latin typeface="Georgia"/>
                <a:cs typeface="Georgia"/>
              </a:rPr>
              <a:t>to </a:t>
            </a:r>
            <a:r>
              <a:rPr sz="3600" spc="50" dirty="0">
                <a:solidFill>
                  <a:srgbClr val="2E377E"/>
                </a:solidFill>
                <a:latin typeface="Georgia"/>
                <a:cs typeface="Georgia"/>
              </a:rPr>
              <a:t>achieve</a:t>
            </a:r>
            <a:r>
              <a:rPr sz="3600" spc="30"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desired</a:t>
            </a:r>
            <a:r>
              <a:rPr sz="3600" spc="30" dirty="0">
                <a:solidFill>
                  <a:srgbClr val="2E377E"/>
                </a:solidFill>
                <a:latin typeface="Georgia"/>
                <a:cs typeface="Georgia"/>
              </a:rPr>
              <a:t> </a:t>
            </a:r>
            <a:r>
              <a:rPr sz="3600" spc="-10" dirty="0">
                <a:solidFill>
                  <a:srgbClr val="2E377E"/>
                </a:solidFill>
                <a:latin typeface="Georgia"/>
                <a:cs typeface="Georgia"/>
              </a:rPr>
              <a:t>state.</a:t>
            </a:r>
            <a:endParaRPr sz="3600">
              <a:latin typeface="Georgia"/>
              <a:cs typeface="Georgia"/>
            </a:endParaRPr>
          </a:p>
          <a:p>
            <a:pPr marL="789305" marR="5080">
              <a:lnSpc>
                <a:spcPct val="116300"/>
              </a:lnSpc>
            </a:pPr>
            <a:r>
              <a:rPr sz="3600" i="1" spc="70" dirty="0">
                <a:solidFill>
                  <a:srgbClr val="2E377E"/>
                </a:solidFill>
                <a:latin typeface="Times New Roman"/>
                <a:cs typeface="Times New Roman"/>
              </a:rPr>
              <a:t>AVAILABLE</a:t>
            </a:r>
            <a:r>
              <a:rPr sz="3600" i="1" spc="120" dirty="0">
                <a:solidFill>
                  <a:srgbClr val="2E377E"/>
                </a:solidFill>
                <a:latin typeface="Times New Roman"/>
                <a:cs typeface="Times New Roman"/>
              </a:rPr>
              <a:t> </a:t>
            </a:r>
            <a:r>
              <a:rPr sz="3600" dirty="0">
                <a:solidFill>
                  <a:srgbClr val="2E377E"/>
                </a:solidFill>
                <a:latin typeface="Georgia"/>
                <a:cs typeface="Georgia"/>
              </a:rPr>
              <a:t>displays</a:t>
            </a:r>
            <a:r>
              <a:rPr sz="3600" spc="155" dirty="0">
                <a:solidFill>
                  <a:srgbClr val="2E377E"/>
                </a:solidFill>
                <a:latin typeface="Georgia"/>
                <a:cs typeface="Georgia"/>
              </a:rPr>
              <a:t> </a:t>
            </a:r>
            <a:r>
              <a:rPr sz="3600" spc="75" dirty="0">
                <a:solidFill>
                  <a:srgbClr val="2E377E"/>
                </a:solidFill>
                <a:latin typeface="Georgia"/>
                <a:cs typeface="Georgia"/>
              </a:rPr>
              <a:t>how</a:t>
            </a:r>
            <a:r>
              <a:rPr sz="3600" spc="160" dirty="0">
                <a:solidFill>
                  <a:srgbClr val="2E377E"/>
                </a:solidFill>
                <a:latin typeface="Georgia"/>
                <a:cs typeface="Georgia"/>
              </a:rPr>
              <a:t> </a:t>
            </a:r>
            <a:r>
              <a:rPr sz="3600" spc="55" dirty="0">
                <a:solidFill>
                  <a:srgbClr val="2E377E"/>
                </a:solidFill>
                <a:latin typeface="Georgia"/>
                <a:cs typeface="Georgia"/>
              </a:rPr>
              <a:t>many</a:t>
            </a:r>
            <a:r>
              <a:rPr sz="3600" spc="155" dirty="0">
                <a:solidFill>
                  <a:srgbClr val="2E377E"/>
                </a:solidFill>
                <a:latin typeface="Georgia"/>
                <a:cs typeface="Georgia"/>
              </a:rPr>
              <a:t> </a:t>
            </a:r>
            <a:r>
              <a:rPr sz="3600" dirty="0">
                <a:solidFill>
                  <a:srgbClr val="2E377E"/>
                </a:solidFill>
                <a:latin typeface="Georgia"/>
                <a:cs typeface="Georgia"/>
              </a:rPr>
              <a:t>replicas</a:t>
            </a:r>
            <a:r>
              <a:rPr sz="3600" spc="160" dirty="0">
                <a:solidFill>
                  <a:srgbClr val="2E377E"/>
                </a:solidFill>
                <a:latin typeface="Georgia"/>
                <a:cs typeface="Georgia"/>
              </a:rPr>
              <a:t> </a:t>
            </a:r>
            <a:r>
              <a:rPr sz="3600" dirty="0">
                <a:solidFill>
                  <a:srgbClr val="2E377E"/>
                </a:solidFill>
                <a:latin typeface="Georgia"/>
                <a:cs typeface="Georgia"/>
              </a:rPr>
              <a:t>of</a:t>
            </a:r>
            <a:r>
              <a:rPr sz="3600" spc="155" dirty="0">
                <a:solidFill>
                  <a:srgbClr val="2E377E"/>
                </a:solidFill>
                <a:latin typeface="Georgia"/>
                <a:cs typeface="Georgia"/>
              </a:rPr>
              <a:t> </a:t>
            </a:r>
            <a:r>
              <a:rPr sz="3600" spc="60" dirty="0">
                <a:solidFill>
                  <a:srgbClr val="2E377E"/>
                </a:solidFill>
                <a:latin typeface="Georgia"/>
                <a:cs typeface="Georgia"/>
              </a:rPr>
              <a:t>the</a:t>
            </a:r>
            <a:r>
              <a:rPr sz="3600" spc="155" dirty="0">
                <a:solidFill>
                  <a:srgbClr val="2E377E"/>
                </a:solidFill>
                <a:latin typeface="Georgia"/>
                <a:cs typeface="Georgia"/>
              </a:rPr>
              <a:t> </a:t>
            </a:r>
            <a:r>
              <a:rPr sz="3600" dirty="0">
                <a:solidFill>
                  <a:srgbClr val="2E377E"/>
                </a:solidFill>
                <a:latin typeface="Georgia"/>
                <a:cs typeface="Georgia"/>
              </a:rPr>
              <a:t>application</a:t>
            </a:r>
            <a:r>
              <a:rPr sz="3600" spc="160" dirty="0">
                <a:solidFill>
                  <a:srgbClr val="2E377E"/>
                </a:solidFill>
                <a:latin typeface="Georgia"/>
                <a:cs typeface="Georgia"/>
              </a:rPr>
              <a:t> </a:t>
            </a:r>
            <a:r>
              <a:rPr sz="3600" dirty="0">
                <a:solidFill>
                  <a:srgbClr val="2E377E"/>
                </a:solidFill>
                <a:latin typeface="Georgia"/>
                <a:cs typeface="Georgia"/>
              </a:rPr>
              <a:t>are</a:t>
            </a:r>
            <a:r>
              <a:rPr sz="3600" spc="155" dirty="0">
                <a:solidFill>
                  <a:srgbClr val="2E377E"/>
                </a:solidFill>
                <a:latin typeface="Georgia"/>
                <a:cs typeface="Georgia"/>
              </a:rPr>
              <a:t> </a:t>
            </a:r>
            <a:r>
              <a:rPr sz="3600" dirty="0">
                <a:solidFill>
                  <a:srgbClr val="2E377E"/>
                </a:solidFill>
                <a:latin typeface="Georgia"/>
                <a:cs typeface="Georgia"/>
              </a:rPr>
              <a:t>available</a:t>
            </a:r>
            <a:r>
              <a:rPr sz="3600" spc="155" dirty="0">
                <a:solidFill>
                  <a:srgbClr val="2E377E"/>
                </a:solidFill>
                <a:latin typeface="Georgia"/>
                <a:cs typeface="Georgia"/>
              </a:rPr>
              <a:t> </a:t>
            </a:r>
            <a:r>
              <a:rPr sz="3600" spc="45" dirty="0">
                <a:solidFill>
                  <a:srgbClr val="2E377E"/>
                </a:solidFill>
                <a:latin typeface="Georgia"/>
                <a:cs typeface="Georgia"/>
              </a:rPr>
              <a:t>to </a:t>
            </a:r>
            <a:r>
              <a:rPr sz="3600" spc="80" dirty="0">
                <a:solidFill>
                  <a:srgbClr val="2E377E"/>
                </a:solidFill>
                <a:latin typeface="Georgia"/>
                <a:cs typeface="Georgia"/>
              </a:rPr>
              <a:t>your</a:t>
            </a:r>
            <a:r>
              <a:rPr sz="3600" spc="-70" dirty="0">
                <a:solidFill>
                  <a:srgbClr val="2E377E"/>
                </a:solidFill>
                <a:latin typeface="Georgia"/>
                <a:cs typeface="Georgia"/>
              </a:rPr>
              <a:t> </a:t>
            </a:r>
            <a:r>
              <a:rPr sz="3600" spc="-10" dirty="0">
                <a:solidFill>
                  <a:srgbClr val="2E377E"/>
                </a:solidFill>
                <a:latin typeface="Georgia"/>
                <a:cs typeface="Georgia"/>
              </a:rPr>
              <a:t>users.</a:t>
            </a:r>
            <a:endParaRPr sz="3600">
              <a:latin typeface="Georgia"/>
              <a:cs typeface="Georgia"/>
            </a:endParaRPr>
          </a:p>
          <a:p>
            <a:pPr marL="789305">
              <a:lnSpc>
                <a:spcPct val="100000"/>
              </a:lnSpc>
              <a:spcBef>
                <a:spcPts val="705"/>
              </a:spcBef>
            </a:pPr>
            <a:r>
              <a:rPr sz="3600" i="1" dirty="0">
                <a:solidFill>
                  <a:srgbClr val="2E377E"/>
                </a:solidFill>
                <a:latin typeface="Times New Roman"/>
                <a:cs typeface="Times New Roman"/>
              </a:rPr>
              <a:t>AGE</a:t>
            </a:r>
            <a:r>
              <a:rPr sz="3600" i="1" spc="-10" dirty="0">
                <a:solidFill>
                  <a:srgbClr val="2E377E"/>
                </a:solidFill>
                <a:latin typeface="Times New Roman"/>
                <a:cs typeface="Times New Roman"/>
              </a:rPr>
              <a:t> </a:t>
            </a:r>
            <a:r>
              <a:rPr sz="3600" dirty="0">
                <a:solidFill>
                  <a:srgbClr val="2E377E"/>
                </a:solidFill>
                <a:latin typeface="Georgia"/>
                <a:cs typeface="Georgia"/>
              </a:rPr>
              <a:t>displays</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amount</a:t>
            </a:r>
            <a:r>
              <a:rPr sz="3600" spc="20"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spc="55" dirty="0">
                <a:solidFill>
                  <a:srgbClr val="2E377E"/>
                </a:solidFill>
                <a:latin typeface="Georgia"/>
                <a:cs typeface="Georgia"/>
              </a:rPr>
              <a:t>time</a:t>
            </a:r>
            <a:r>
              <a:rPr sz="3600" spc="20" dirty="0">
                <a:solidFill>
                  <a:srgbClr val="2E377E"/>
                </a:solidFill>
                <a:latin typeface="Georgia"/>
                <a:cs typeface="Georgia"/>
              </a:rPr>
              <a:t> </a:t>
            </a:r>
            <a:r>
              <a:rPr sz="3600" spc="55" dirty="0">
                <a:solidFill>
                  <a:srgbClr val="2E377E"/>
                </a:solidFill>
                <a:latin typeface="Georgia"/>
                <a:cs typeface="Georgia"/>
              </a:rPr>
              <a:t>that</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application</a:t>
            </a:r>
            <a:r>
              <a:rPr sz="3600" spc="20" dirty="0">
                <a:solidFill>
                  <a:srgbClr val="2E377E"/>
                </a:solidFill>
                <a:latin typeface="Georgia"/>
                <a:cs typeface="Georgia"/>
              </a:rPr>
              <a:t> </a:t>
            </a:r>
            <a:r>
              <a:rPr sz="3600" dirty="0">
                <a:solidFill>
                  <a:srgbClr val="2E377E"/>
                </a:solidFill>
                <a:latin typeface="Georgia"/>
                <a:cs typeface="Georgia"/>
              </a:rPr>
              <a:t>has</a:t>
            </a:r>
            <a:r>
              <a:rPr sz="3600" spc="25" dirty="0">
                <a:solidFill>
                  <a:srgbClr val="2E377E"/>
                </a:solidFill>
                <a:latin typeface="Georgia"/>
                <a:cs typeface="Georgia"/>
              </a:rPr>
              <a:t> </a:t>
            </a:r>
            <a:r>
              <a:rPr sz="3600" dirty="0">
                <a:solidFill>
                  <a:srgbClr val="2E377E"/>
                </a:solidFill>
                <a:latin typeface="Georgia"/>
                <a:cs typeface="Georgia"/>
              </a:rPr>
              <a:t>been</a:t>
            </a:r>
            <a:r>
              <a:rPr sz="3600" spc="25" dirty="0">
                <a:solidFill>
                  <a:srgbClr val="2E377E"/>
                </a:solidFill>
                <a:latin typeface="Georgia"/>
                <a:cs typeface="Georgia"/>
              </a:rPr>
              <a:t> </a:t>
            </a:r>
            <a:r>
              <a:rPr sz="3600" spc="-10" dirty="0">
                <a:solidFill>
                  <a:srgbClr val="2E377E"/>
                </a:solidFill>
                <a:latin typeface="Georgia"/>
                <a:cs typeface="Georgia"/>
              </a:rPr>
              <a:t>running.</a:t>
            </a:r>
            <a:endParaRPr sz="3600">
              <a:latin typeface="Georgia"/>
              <a:cs typeface="Georgi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286" y="204347"/>
            <a:ext cx="8502015" cy="787400"/>
          </a:xfrm>
          <a:prstGeom prst="rect">
            <a:avLst/>
          </a:prstGeom>
        </p:spPr>
        <p:txBody>
          <a:bodyPr vert="horz" wrap="square" lIns="0" tIns="12700" rIns="0" bIns="0" rtlCol="0">
            <a:spAutoFit/>
          </a:bodyPr>
          <a:lstStyle/>
          <a:p>
            <a:pPr marL="12700">
              <a:lnSpc>
                <a:spcPct val="100000"/>
              </a:lnSpc>
              <a:spcBef>
                <a:spcPts val="100"/>
              </a:spcBef>
            </a:pPr>
            <a:r>
              <a:rPr spc="-85" dirty="0">
                <a:solidFill>
                  <a:srgbClr val="FF3131"/>
                </a:solidFill>
              </a:rPr>
              <a:t>UPDATING</a:t>
            </a:r>
            <a:r>
              <a:rPr spc="-190" dirty="0">
                <a:solidFill>
                  <a:srgbClr val="FF3131"/>
                </a:solidFill>
              </a:rPr>
              <a:t> </a:t>
            </a:r>
            <a:r>
              <a:rPr dirty="0">
                <a:solidFill>
                  <a:srgbClr val="FF3131"/>
                </a:solidFill>
              </a:rPr>
              <a:t>A</a:t>
            </a:r>
            <a:r>
              <a:rPr spc="-190" dirty="0">
                <a:solidFill>
                  <a:srgbClr val="FF3131"/>
                </a:solidFill>
              </a:rPr>
              <a:t> </a:t>
            </a:r>
            <a:r>
              <a:rPr spc="-270" dirty="0">
                <a:solidFill>
                  <a:srgbClr val="FF3131"/>
                </a:solidFill>
              </a:rPr>
              <a:t>DEPLOYMENT:</a:t>
            </a:r>
          </a:p>
        </p:txBody>
      </p:sp>
      <p:sp>
        <p:nvSpPr>
          <p:cNvPr id="3" name="object 3"/>
          <p:cNvSpPr txBox="1"/>
          <p:nvPr/>
        </p:nvSpPr>
        <p:spPr>
          <a:xfrm>
            <a:off x="719286" y="928521"/>
            <a:ext cx="15412085" cy="8988425"/>
          </a:xfrm>
          <a:prstGeom prst="rect">
            <a:avLst/>
          </a:prstGeom>
        </p:spPr>
        <p:txBody>
          <a:bodyPr vert="horz" wrap="square" lIns="0" tIns="240665" rIns="0" bIns="0" rtlCol="0">
            <a:spAutoFit/>
          </a:bodyPr>
          <a:lstStyle/>
          <a:p>
            <a:pPr marL="50800">
              <a:lnSpc>
                <a:spcPct val="100000"/>
              </a:lnSpc>
              <a:spcBef>
                <a:spcPts val="1895"/>
              </a:spcBef>
            </a:pPr>
            <a:r>
              <a:rPr sz="3600" b="1" i="1" spc="210" dirty="0">
                <a:solidFill>
                  <a:srgbClr val="2E377E"/>
                </a:solidFill>
                <a:latin typeface="Times New Roman"/>
                <a:cs typeface="Times New Roman"/>
              </a:rPr>
              <a:t>update</a:t>
            </a:r>
            <a:r>
              <a:rPr sz="3600" b="1" i="1" spc="-105" dirty="0">
                <a:solidFill>
                  <a:srgbClr val="2E377E"/>
                </a:solidFill>
                <a:latin typeface="Times New Roman"/>
                <a:cs typeface="Times New Roman"/>
              </a:rPr>
              <a:t> </a:t>
            </a:r>
            <a:r>
              <a:rPr sz="3600" b="1" i="1" spc="175" dirty="0">
                <a:solidFill>
                  <a:srgbClr val="2E377E"/>
                </a:solidFill>
                <a:latin typeface="Times New Roman"/>
                <a:cs typeface="Times New Roman"/>
              </a:rPr>
              <a:t>the</a:t>
            </a:r>
            <a:r>
              <a:rPr sz="3600" b="1" i="1" spc="-105" dirty="0">
                <a:solidFill>
                  <a:srgbClr val="2E377E"/>
                </a:solidFill>
                <a:latin typeface="Times New Roman"/>
                <a:cs typeface="Times New Roman"/>
              </a:rPr>
              <a:t> </a:t>
            </a:r>
            <a:r>
              <a:rPr sz="3600" b="1" i="1" spc="160" dirty="0">
                <a:solidFill>
                  <a:srgbClr val="2E377E"/>
                </a:solidFill>
                <a:latin typeface="Times New Roman"/>
                <a:cs typeface="Times New Roman"/>
              </a:rPr>
              <a:t>container</a:t>
            </a:r>
            <a:r>
              <a:rPr sz="3600" b="1" i="1" spc="-105" dirty="0">
                <a:solidFill>
                  <a:srgbClr val="2E377E"/>
                </a:solidFill>
                <a:latin typeface="Times New Roman"/>
                <a:cs typeface="Times New Roman"/>
              </a:rPr>
              <a:t> </a:t>
            </a:r>
            <a:r>
              <a:rPr sz="3600" b="1" i="1" spc="95" dirty="0">
                <a:solidFill>
                  <a:srgbClr val="2E377E"/>
                </a:solidFill>
                <a:latin typeface="Times New Roman"/>
                <a:cs typeface="Times New Roman"/>
              </a:rPr>
              <a:t>image:</a:t>
            </a:r>
            <a:endParaRPr sz="3600">
              <a:latin typeface="Times New Roman"/>
              <a:cs typeface="Times New Roman"/>
            </a:endParaRPr>
          </a:p>
          <a:p>
            <a:pPr marL="50800" marR="78105">
              <a:lnSpc>
                <a:spcPct val="116700"/>
              </a:lnSpc>
              <a:spcBef>
                <a:spcPts val="1050"/>
              </a:spcBef>
            </a:pPr>
            <a:r>
              <a:rPr sz="3450" spc="60" dirty="0">
                <a:solidFill>
                  <a:srgbClr val="FF3131"/>
                </a:solidFill>
                <a:latin typeface="Georgia"/>
                <a:cs typeface="Georgia"/>
              </a:rPr>
              <a:t>kubectl</a:t>
            </a:r>
            <a:r>
              <a:rPr sz="3450" spc="320" dirty="0">
                <a:solidFill>
                  <a:srgbClr val="FF3131"/>
                </a:solidFill>
                <a:latin typeface="Georgia"/>
                <a:cs typeface="Georgia"/>
              </a:rPr>
              <a:t> </a:t>
            </a:r>
            <a:r>
              <a:rPr sz="3450" spc="75" dirty="0">
                <a:solidFill>
                  <a:srgbClr val="FF3131"/>
                </a:solidFill>
                <a:latin typeface="Georgia"/>
                <a:cs typeface="Georgia"/>
              </a:rPr>
              <a:t>set</a:t>
            </a:r>
            <a:r>
              <a:rPr sz="3450" spc="325" dirty="0">
                <a:solidFill>
                  <a:srgbClr val="FF3131"/>
                </a:solidFill>
                <a:latin typeface="Georgia"/>
                <a:cs typeface="Georgia"/>
              </a:rPr>
              <a:t> </a:t>
            </a:r>
            <a:r>
              <a:rPr sz="3450" dirty="0">
                <a:solidFill>
                  <a:srgbClr val="FF3131"/>
                </a:solidFill>
                <a:latin typeface="Georgia"/>
                <a:cs typeface="Georgia"/>
              </a:rPr>
              <a:t>image</a:t>
            </a:r>
            <a:r>
              <a:rPr sz="3450" spc="330" dirty="0">
                <a:solidFill>
                  <a:srgbClr val="FF3131"/>
                </a:solidFill>
                <a:latin typeface="Georgia"/>
                <a:cs typeface="Georgia"/>
              </a:rPr>
              <a:t> </a:t>
            </a:r>
            <a:r>
              <a:rPr sz="3450" dirty="0">
                <a:solidFill>
                  <a:srgbClr val="FF3131"/>
                </a:solidFill>
                <a:latin typeface="Georgia"/>
                <a:cs typeface="Georgia"/>
              </a:rPr>
              <a:t>deployment/deployment-name</a:t>
            </a:r>
            <a:r>
              <a:rPr sz="3450" spc="330" dirty="0">
                <a:solidFill>
                  <a:srgbClr val="FF3131"/>
                </a:solidFill>
                <a:latin typeface="Georgia"/>
                <a:cs typeface="Georgia"/>
              </a:rPr>
              <a:t> </a:t>
            </a:r>
            <a:r>
              <a:rPr sz="3450" spc="100" dirty="0">
                <a:solidFill>
                  <a:srgbClr val="FF3131"/>
                </a:solidFill>
                <a:latin typeface="Georgia"/>
                <a:cs typeface="Georgia"/>
              </a:rPr>
              <a:t>my-</a:t>
            </a:r>
            <a:r>
              <a:rPr sz="3450" dirty="0">
                <a:solidFill>
                  <a:srgbClr val="FF3131"/>
                </a:solidFill>
                <a:latin typeface="Georgia"/>
                <a:cs typeface="Georgia"/>
              </a:rPr>
              <a:t>container=image-</a:t>
            </a:r>
            <a:r>
              <a:rPr sz="3450" spc="-20" dirty="0">
                <a:solidFill>
                  <a:srgbClr val="FF3131"/>
                </a:solidFill>
                <a:latin typeface="Georgia"/>
                <a:cs typeface="Georgia"/>
              </a:rPr>
              <a:t>name </a:t>
            </a:r>
            <a:r>
              <a:rPr sz="3450" spc="-25" dirty="0">
                <a:solidFill>
                  <a:srgbClr val="2E377E"/>
                </a:solidFill>
                <a:latin typeface="Georgia"/>
                <a:cs typeface="Georgia"/>
              </a:rPr>
              <a:t>or</a:t>
            </a:r>
            <a:endParaRPr sz="3450">
              <a:latin typeface="Georgia"/>
              <a:cs typeface="Georgia"/>
            </a:endParaRPr>
          </a:p>
          <a:p>
            <a:pPr marL="50800">
              <a:lnSpc>
                <a:spcPct val="100000"/>
              </a:lnSpc>
              <a:spcBef>
                <a:spcPts val="690"/>
              </a:spcBef>
            </a:pPr>
            <a:r>
              <a:rPr sz="3450" spc="60" dirty="0">
                <a:solidFill>
                  <a:srgbClr val="FF3131"/>
                </a:solidFill>
                <a:latin typeface="Georgia"/>
                <a:cs typeface="Georgia"/>
              </a:rPr>
              <a:t>kubectl</a:t>
            </a:r>
            <a:r>
              <a:rPr sz="3450" spc="445" dirty="0">
                <a:solidFill>
                  <a:srgbClr val="FF3131"/>
                </a:solidFill>
                <a:latin typeface="Georgia"/>
                <a:cs typeface="Georgia"/>
              </a:rPr>
              <a:t> </a:t>
            </a:r>
            <a:r>
              <a:rPr sz="3450" spc="50" dirty="0">
                <a:solidFill>
                  <a:srgbClr val="FF3131"/>
                </a:solidFill>
                <a:latin typeface="Georgia"/>
                <a:cs typeface="Georgia"/>
              </a:rPr>
              <a:t>edit</a:t>
            </a:r>
            <a:r>
              <a:rPr sz="3450" spc="455" dirty="0">
                <a:solidFill>
                  <a:srgbClr val="FF3131"/>
                </a:solidFill>
                <a:latin typeface="Georgia"/>
                <a:cs typeface="Georgia"/>
              </a:rPr>
              <a:t> </a:t>
            </a:r>
            <a:r>
              <a:rPr sz="3450" dirty="0">
                <a:solidFill>
                  <a:srgbClr val="FF3131"/>
                </a:solidFill>
                <a:latin typeface="Georgia"/>
                <a:cs typeface="Georgia"/>
              </a:rPr>
              <a:t>deployment/deployment-</a:t>
            </a:r>
            <a:r>
              <a:rPr sz="3450" spc="-20" dirty="0">
                <a:solidFill>
                  <a:srgbClr val="FF3131"/>
                </a:solidFill>
                <a:latin typeface="Georgia"/>
                <a:cs typeface="Georgia"/>
              </a:rPr>
              <a:t>name</a:t>
            </a:r>
            <a:endParaRPr sz="3450">
              <a:latin typeface="Georgia"/>
              <a:cs typeface="Georgia"/>
            </a:endParaRPr>
          </a:p>
          <a:p>
            <a:pPr marL="12700">
              <a:lnSpc>
                <a:spcPct val="100000"/>
              </a:lnSpc>
              <a:spcBef>
                <a:spcPts val="2205"/>
              </a:spcBef>
            </a:pPr>
            <a:r>
              <a:rPr sz="3600" b="1" i="1" dirty="0">
                <a:solidFill>
                  <a:srgbClr val="2E377E"/>
                </a:solidFill>
                <a:latin typeface="Times New Roman"/>
                <a:cs typeface="Times New Roman"/>
              </a:rPr>
              <a:t>To</a:t>
            </a:r>
            <a:r>
              <a:rPr sz="3600" b="1" i="1" spc="-150" dirty="0">
                <a:solidFill>
                  <a:srgbClr val="2E377E"/>
                </a:solidFill>
                <a:latin typeface="Times New Roman"/>
                <a:cs typeface="Times New Roman"/>
              </a:rPr>
              <a:t> </a:t>
            </a:r>
            <a:r>
              <a:rPr sz="3600" b="1" i="1" spc="110" dirty="0">
                <a:solidFill>
                  <a:srgbClr val="2E377E"/>
                </a:solidFill>
                <a:latin typeface="Times New Roman"/>
                <a:cs typeface="Times New Roman"/>
              </a:rPr>
              <a:t>roll</a:t>
            </a:r>
            <a:r>
              <a:rPr sz="3600" b="1" i="1" spc="-150" dirty="0">
                <a:solidFill>
                  <a:srgbClr val="2E377E"/>
                </a:solidFill>
                <a:latin typeface="Times New Roman"/>
                <a:cs typeface="Times New Roman"/>
              </a:rPr>
              <a:t> </a:t>
            </a:r>
            <a:r>
              <a:rPr sz="3600" b="1" i="1" spc="90" dirty="0">
                <a:solidFill>
                  <a:srgbClr val="2E377E"/>
                </a:solidFill>
                <a:latin typeface="Times New Roman"/>
                <a:cs typeface="Times New Roman"/>
              </a:rPr>
              <a:t>back:</a:t>
            </a:r>
            <a:endParaRPr sz="3600">
              <a:latin typeface="Times New Roman"/>
              <a:cs typeface="Times New Roman"/>
            </a:endParaRPr>
          </a:p>
          <a:p>
            <a:pPr marL="110489">
              <a:lnSpc>
                <a:spcPct val="100000"/>
              </a:lnSpc>
              <a:spcBef>
                <a:spcPts val="520"/>
              </a:spcBef>
            </a:pPr>
            <a:r>
              <a:rPr sz="3450" spc="55" dirty="0">
                <a:solidFill>
                  <a:srgbClr val="FF3131"/>
                </a:solidFill>
                <a:latin typeface="Georgia"/>
                <a:cs typeface="Georgia"/>
              </a:rPr>
              <a:t>kubectl</a:t>
            </a:r>
            <a:r>
              <a:rPr sz="3450" spc="325" dirty="0">
                <a:solidFill>
                  <a:srgbClr val="FF3131"/>
                </a:solidFill>
                <a:latin typeface="Georgia"/>
                <a:cs typeface="Georgia"/>
              </a:rPr>
              <a:t> </a:t>
            </a:r>
            <a:r>
              <a:rPr sz="3450" dirty="0">
                <a:solidFill>
                  <a:srgbClr val="FF3131"/>
                </a:solidFill>
                <a:latin typeface="Georgia"/>
                <a:cs typeface="Georgia"/>
              </a:rPr>
              <a:t>rollout</a:t>
            </a:r>
            <a:r>
              <a:rPr sz="3450" spc="330" dirty="0">
                <a:solidFill>
                  <a:srgbClr val="FF3131"/>
                </a:solidFill>
                <a:latin typeface="Georgia"/>
                <a:cs typeface="Georgia"/>
              </a:rPr>
              <a:t> </a:t>
            </a:r>
            <a:r>
              <a:rPr sz="3450" spc="55" dirty="0">
                <a:solidFill>
                  <a:srgbClr val="FF3131"/>
                </a:solidFill>
                <a:latin typeface="Georgia"/>
                <a:cs typeface="Georgia"/>
              </a:rPr>
              <a:t>status</a:t>
            </a:r>
            <a:r>
              <a:rPr sz="3450" spc="325" dirty="0">
                <a:solidFill>
                  <a:srgbClr val="FF3131"/>
                </a:solidFill>
                <a:latin typeface="Georgia"/>
                <a:cs typeface="Georgia"/>
              </a:rPr>
              <a:t> </a:t>
            </a:r>
            <a:r>
              <a:rPr sz="3450" dirty="0">
                <a:solidFill>
                  <a:srgbClr val="FF3131"/>
                </a:solidFill>
                <a:latin typeface="Georgia"/>
                <a:cs typeface="Georgia"/>
              </a:rPr>
              <a:t>deployment/deployment-</a:t>
            </a:r>
            <a:r>
              <a:rPr sz="3450" spc="-20" dirty="0">
                <a:solidFill>
                  <a:srgbClr val="FF3131"/>
                </a:solidFill>
                <a:latin typeface="Georgia"/>
                <a:cs typeface="Georgia"/>
              </a:rPr>
              <a:t>name</a:t>
            </a:r>
            <a:endParaRPr sz="3450">
              <a:latin typeface="Georgia"/>
              <a:cs typeface="Georgia"/>
            </a:endParaRPr>
          </a:p>
          <a:p>
            <a:pPr marL="12700">
              <a:lnSpc>
                <a:spcPct val="100000"/>
              </a:lnSpc>
              <a:spcBef>
                <a:spcPts val="1235"/>
              </a:spcBef>
            </a:pPr>
            <a:r>
              <a:rPr sz="3600" b="1" i="1" dirty="0">
                <a:solidFill>
                  <a:srgbClr val="2E377E"/>
                </a:solidFill>
                <a:latin typeface="Times New Roman"/>
                <a:cs typeface="Times New Roman"/>
              </a:rPr>
              <a:t>To</a:t>
            </a:r>
            <a:r>
              <a:rPr sz="3600" b="1" i="1" spc="-145" dirty="0">
                <a:solidFill>
                  <a:srgbClr val="2E377E"/>
                </a:solidFill>
                <a:latin typeface="Times New Roman"/>
                <a:cs typeface="Times New Roman"/>
              </a:rPr>
              <a:t> </a:t>
            </a:r>
            <a:r>
              <a:rPr sz="3600" b="1" i="1" spc="180" dirty="0">
                <a:solidFill>
                  <a:srgbClr val="2E377E"/>
                </a:solidFill>
                <a:latin typeface="Times New Roman"/>
                <a:cs typeface="Times New Roman"/>
              </a:rPr>
              <a:t>check</a:t>
            </a:r>
            <a:r>
              <a:rPr sz="3600" b="1" i="1" spc="-140" dirty="0">
                <a:solidFill>
                  <a:srgbClr val="2E377E"/>
                </a:solidFill>
                <a:latin typeface="Times New Roman"/>
                <a:cs typeface="Times New Roman"/>
              </a:rPr>
              <a:t> </a:t>
            </a:r>
            <a:r>
              <a:rPr sz="3600" b="1" i="1" spc="175" dirty="0">
                <a:solidFill>
                  <a:srgbClr val="2E377E"/>
                </a:solidFill>
                <a:latin typeface="Times New Roman"/>
                <a:cs typeface="Times New Roman"/>
              </a:rPr>
              <a:t>the</a:t>
            </a:r>
            <a:r>
              <a:rPr sz="3600" b="1" i="1" spc="-140" dirty="0">
                <a:solidFill>
                  <a:srgbClr val="2E377E"/>
                </a:solidFill>
                <a:latin typeface="Times New Roman"/>
                <a:cs typeface="Times New Roman"/>
              </a:rPr>
              <a:t> </a:t>
            </a:r>
            <a:r>
              <a:rPr sz="3600" b="1" i="1" spc="145" dirty="0">
                <a:solidFill>
                  <a:srgbClr val="2E377E"/>
                </a:solidFill>
                <a:latin typeface="Times New Roman"/>
                <a:cs typeface="Times New Roman"/>
              </a:rPr>
              <a:t>status:</a:t>
            </a:r>
            <a:endParaRPr sz="3600">
              <a:latin typeface="Times New Roman"/>
              <a:cs typeface="Times New Roman"/>
            </a:endParaRPr>
          </a:p>
          <a:p>
            <a:pPr marL="50800">
              <a:lnSpc>
                <a:spcPct val="100000"/>
              </a:lnSpc>
              <a:spcBef>
                <a:spcPts val="2685"/>
              </a:spcBef>
            </a:pPr>
            <a:r>
              <a:rPr sz="3600" spc="60" dirty="0">
                <a:solidFill>
                  <a:srgbClr val="FF3131"/>
                </a:solidFill>
                <a:latin typeface="Georgia"/>
                <a:cs typeface="Georgia"/>
              </a:rPr>
              <a:t>kubectl</a:t>
            </a:r>
            <a:r>
              <a:rPr sz="3600" spc="330" dirty="0">
                <a:solidFill>
                  <a:srgbClr val="FF3131"/>
                </a:solidFill>
                <a:latin typeface="Georgia"/>
                <a:cs typeface="Georgia"/>
              </a:rPr>
              <a:t> </a:t>
            </a:r>
            <a:r>
              <a:rPr sz="3600" dirty="0">
                <a:solidFill>
                  <a:srgbClr val="FF3131"/>
                </a:solidFill>
                <a:latin typeface="Georgia"/>
                <a:cs typeface="Georgia"/>
              </a:rPr>
              <a:t>rollout</a:t>
            </a:r>
            <a:r>
              <a:rPr sz="3600" spc="335" dirty="0">
                <a:solidFill>
                  <a:srgbClr val="FF3131"/>
                </a:solidFill>
                <a:latin typeface="Georgia"/>
                <a:cs typeface="Georgia"/>
              </a:rPr>
              <a:t> </a:t>
            </a:r>
            <a:r>
              <a:rPr sz="3600" spc="55" dirty="0">
                <a:solidFill>
                  <a:srgbClr val="FF3131"/>
                </a:solidFill>
                <a:latin typeface="Georgia"/>
                <a:cs typeface="Georgia"/>
              </a:rPr>
              <a:t>status</a:t>
            </a:r>
            <a:r>
              <a:rPr sz="3600" spc="330" dirty="0">
                <a:solidFill>
                  <a:srgbClr val="FF3131"/>
                </a:solidFill>
                <a:latin typeface="Georgia"/>
                <a:cs typeface="Georgia"/>
              </a:rPr>
              <a:t> </a:t>
            </a:r>
            <a:r>
              <a:rPr sz="3600" dirty="0">
                <a:solidFill>
                  <a:srgbClr val="FF3131"/>
                </a:solidFill>
                <a:latin typeface="Georgia"/>
                <a:cs typeface="Georgia"/>
              </a:rPr>
              <a:t>deployment/deployment-</a:t>
            </a:r>
            <a:r>
              <a:rPr sz="3600" spc="-20" dirty="0">
                <a:solidFill>
                  <a:srgbClr val="FF3131"/>
                </a:solidFill>
                <a:latin typeface="Georgia"/>
                <a:cs typeface="Georgia"/>
              </a:rPr>
              <a:t>name</a:t>
            </a:r>
            <a:endParaRPr sz="3600">
              <a:latin typeface="Georgia"/>
              <a:cs typeface="Georgia"/>
            </a:endParaRPr>
          </a:p>
          <a:p>
            <a:pPr marL="12700">
              <a:lnSpc>
                <a:spcPct val="100000"/>
              </a:lnSpc>
              <a:spcBef>
                <a:spcPts val="2235"/>
              </a:spcBef>
            </a:pPr>
            <a:r>
              <a:rPr sz="3600" b="1" i="1" dirty="0">
                <a:solidFill>
                  <a:srgbClr val="2E377E"/>
                </a:solidFill>
                <a:latin typeface="Times New Roman"/>
                <a:cs typeface="Times New Roman"/>
              </a:rPr>
              <a:t>To</a:t>
            </a:r>
            <a:r>
              <a:rPr sz="3600" b="1" i="1" spc="-140" dirty="0">
                <a:solidFill>
                  <a:srgbClr val="2E377E"/>
                </a:solidFill>
                <a:latin typeface="Times New Roman"/>
                <a:cs typeface="Times New Roman"/>
              </a:rPr>
              <a:t> </a:t>
            </a:r>
            <a:r>
              <a:rPr sz="3600" b="1" i="1" spc="210" dirty="0">
                <a:solidFill>
                  <a:srgbClr val="2E377E"/>
                </a:solidFill>
                <a:latin typeface="Times New Roman"/>
                <a:cs typeface="Times New Roman"/>
              </a:rPr>
              <a:t>get</a:t>
            </a:r>
            <a:r>
              <a:rPr sz="3600" b="1" i="1" spc="-140" dirty="0">
                <a:solidFill>
                  <a:srgbClr val="2E377E"/>
                </a:solidFill>
                <a:latin typeface="Times New Roman"/>
                <a:cs typeface="Times New Roman"/>
              </a:rPr>
              <a:t> </a:t>
            </a:r>
            <a:r>
              <a:rPr sz="3600" b="1" i="1" spc="175" dirty="0">
                <a:solidFill>
                  <a:srgbClr val="2E377E"/>
                </a:solidFill>
                <a:latin typeface="Times New Roman"/>
                <a:cs typeface="Times New Roman"/>
              </a:rPr>
              <a:t>the</a:t>
            </a:r>
            <a:r>
              <a:rPr sz="3600" b="1" i="1" spc="-140" dirty="0">
                <a:solidFill>
                  <a:srgbClr val="2E377E"/>
                </a:solidFill>
                <a:latin typeface="Times New Roman"/>
                <a:cs typeface="Times New Roman"/>
              </a:rPr>
              <a:t> </a:t>
            </a:r>
            <a:r>
              <a:rPr sz="3600" b="1" i="1" spc="125" dirty="0">
                <a:solidFill>
                  <a:srgbClr val="2E377E"/>
                </a:solidFill>
                <a:latin typeface="Times New Roman"/>
                <a:cs typeface="Times New Roman"/>
              </a:rPr>
              <a:t>history:</a:t>
            </a:r>
            <a:endParaRPr sz="3600">
              <a:latin typeface="Times New Roman"/>
              <a:cs typeface="Times New Roman"/>
            </a:endParaRPr>
          </a:p>
          <a:p>
            <a:pPr marL="12700">
              <a:lnSpc>
                <a:spcPct val="100000"/>
              </a:lnSpc>
              <a:spcBef>
                <a:spcPts val="1710"/>
              </a:spcBef>
            </a:pPr>
            <a:r>
              <a:rPr sz="3600" spc="60" dirty="0">
                <a:solidFill>
                  <a:srgbClr val="FF3131"/>
                </a:solidFill>
                <a:latin typeface="Georgia"/>
                <a:cs typeface="Georgia"/>
              </a:rPr>
              <a:t>kubectl</a:t>
            </a:r>
            <a:r>
              <a:rPr sz="3600" spc="325" dirty="0">
                <a:solidFill>
                  <a:srgbClr val="FF3131"/>
                </a:solidFill>
                <a:latin typeface="Georgia"/>
                <a:cs typeface="Georgia"/>
              </a:rPr>
              <a:t> </a:t>
            </a:r>
            <a:r>
              <a:rPr sz="3600" dirty="0">
                <a:solidFill>
                  <a:srgbClr val="FF3131"/>
                </a:solidFill>
                <a:latin typeface="Georgia"/>
                <a:cs typeface="Georgia"/>
              </a:rPr>
              <a:t>rollout</a:t>
            </a:r>
            <a:r>
              <a:rPr sz="3600" spc="325" dirty="0">
                <a:solidFill>
                  <a:srgbClr val="FF3131"/>
                </a:solidFill>
                <a:latin typeface="Georgia"/>
                <a:cs typeface="Georgia"/>
              </a:rPr>
              <a:t> </a:t>
            </a:r>
            <a:r>
              <a:rPr sz="3600" spc="60" dirty="0">
                <a:solidFill>
                  <a:srgbClr val="FF3131"/>
                </a:solidFill>
                <a:latin typeface="Georgia"/>
                <a:cs typeface="Georgia"/>
              </a:rPr>
              <a:t>history</a:t>
            </a:r>
            <a:r>
              <a:rPr sz="3600" spc="325" dirty="0">
                <a:solidFill>
                  <a:srgbClr val="FF3131"/>
                </a:solidFill>
                <a:latin typeface="Georgia"/>
                <a:cs typeface="Georgia"/>
              </a:rPr>
              <a:t> </a:t>
            </a:r>
            <a:r>
              <a:rPr sz="3600" dirty="0">
                <a:solidFill>
                  <a:srgbClr val="FF3131"/>
                </a:solidFill>
                <a:latin typeface="Georgia"/>
                <a:cs typeface="Georgia"/>
              </a:rPr>
              <a:t>deployment/deployment-</a:t>
            </a:r>
            <a:r>
              <a:rPr sz="3600" spc="-20" dirty="0">
                <a:solidFill>
                  <a:srgbClr val="FF3131"/>
                </a:solidFill>
                <a:latin typeface="Georgia"/>
                <a:cs typeface="Georgia"/>
              </a:rPr>
              <a:t>name</a:t>
            </a:r>
            <a:endParaRPr sz="3600">
              <a:latin typeface="Georgia"/>
              <a:cs typeface="Georgia"/>
            </a:endParaRPr>
          </a:p>
          <a:p>
            <a:pPr marL="12700">
              <a:lnSpc>
                <a:spcPct val="100000"/>
              </a:lnSpc>
              <a:spcBef>
                <a:spcPts val="2235"/>
              </a:spcBef>
            </a:pPr>
            <a:r>
              <a:rPr sz="3600" b="1" i="1" dirty="0">
                <a:solidFill>
                  <a:srgbClr val="2E377E"/>
                </a:solidFill>
                <a:latin typeface="Times New Roman"/>
                <a:cs typeface="Times New Roman"/>
              </a:rPr>
              <a:t>To</a:t>
            </a:r>
            <a:r>
              <a:rPr sz="3600" b="1" i="1" spc="-135" dirty="0">
                <a:solidFill>
                  <a:srgbClr val="2E377E"/>
                </a:solidFill>
                <a:latin typeface="Times New Roman"/>
                <a:cs typeface="Times New Roman"/>
              </a:rPr>
              <a:t> </a:t>
            </a:r>
            <a:r>
              <a:rPr sz="3600" b="1" i="1" spc="150" dirty="0">
                <a:solidFill>
                  <a:srgbClr val="2E377E"/>
                </a:solidFill>
                <a:latin typeface="Times New Roman"/>
                <a:cs typeface="Times New Roman"/>
              </a:rPr>
              <a:t>rollback</a:t>
            </a:r>
            <a:r>
              <a:rPr sz="3600" b="1" i="1" spc="-135" dirty="0">
                <a:solidFill>
                  <a:srgbClr val="2E377E"/>
                </a:solidFill>
                <a:latin typeface="Times New Roman"/>
                <a:cs typeface="Times New Roman"/>
              </a:rPr>
              <a:t> </a:t>
            </a:r>
            <a:r>
              <a:rPr sz="3600" b="1" i="1" spc="170" dirty="0">
                <a:solidFill>
                  <a:srgbClr val="2E377E"/>
                </a:solidFill>
                <a:latin typeface="Times New Roman"/>
                <a:cs typeface="Times New Roman"/>
              </a:rPr>
              <a:t>specific</a:t>
            </a:r>
            <a:r>
              <a:rPr sz="3600" b="1" i="1" spc="-135" dirty="0">
                <a:solidFill>
                  <a:srgbClr val="2E377E"/>
                </a:solidFill>
                <a:latin typeface="Times New Roman"/>
                <a:cs typeface="Times New Roman"/>
              </a:rPr>
              <a:t> </a:t>
            </a:r>
            <a:r>
              <a:rPr sz="3600" b="1" i="1" spc="110" dirty="0">
                <a:solidFill>
                  <a:srgbClr val="2E377E"/>
                </a:solidFill>
                <a:latin typeface="Times New Roman"/>
                <a:cs typeface="Times New Roman"/>
              </a:rPr>
              <a:t>version:</a:t>
            </a:r>
            <a:endParaRPr sz="3600">
              <a:latin typeface="Times New Roman"/>
              <a:cs typeface="Times New Roman"/>
            </a:endParaRPr>
          </a:p>
          <a:p>
            <a:pPr marL="12700">
              <a:lnSpc>
                <a:spcPct val="100000"/>
              </a:lnSpc>
              <a:spcBef>
                <a:spcPts val="1710"/>
              </a:spcBef>
            </a:pPr>
            <a:r>
              <a:rPr sz="3600" spc="60" dirty="0">
                <a:solidFill>
                  <a:srgbClr val="FF3131"/>
                </a:solidFill>
                <a:latin typeface="Georgia"/>
                <a:cs typeface="Georgia"/>
              </a:rPr>
              <a:t>kubectl</a:t>
            </a:r>
            <a:r>
              <a:rPr sz="3600" spc="295" dirty="0">
                <a:solidFill>
                  <a:srgbClr val="FF3131"/>
                </a:solidFill>
                <a:latin typeface="Georgia"/>
                <a:cs typeface="Georgia"/>
              </a:rPr>
              <a:t> </a:t>
            </a:r>
            <a:r>
              <a:rPr sz="3600" dirty="0">
                <a:solidFill>
                  <a:srgbClr val="FF3131"/>
                </a:solidFill>
                <a:latin typeface="Georgia"/>
                <a:cs typeface="Georgia"/>
              </a:rPr>
              <a:t>rollout</a:t>
            </a:r>
            <a:r>
              <a:rPr sz="3600" spc="300" dirty="0">
                <a:solidFill>
                  <a:srgbClr val="FF3131"/>
                </a:solidFill>
                <a:latin typeface="Georgia"/>
                <a:cs typeface="Georgia"/>
              </a:rPr>
              <a:t> </a:t>
            </a:r>
            <a:r>
              <a:rPr sz="3600" dirty="0">
                <a:solidFill>
                  <a:srgbClr val="FF3131"/>
                </a:solidFill>
                <a:latin typeface="Georgia"/>
                <a:cs typeface="Georgia"/>
              </a:rPr>
              <a:t>undo</a:t>
            </a:r>
            <a:r>
              <a:rPr sz="3600" spc="295" dirty="0">
                <a:solidFill>
                  <a:srgbClr val="FF3131"/>
                </a:solidFill>
                <a:latin typeface="Georgia"/>
                <a:cs typeface="Georgia"/>
              </a:rPr>
              <a:t> </a:t>
            </a:r>
            <a:r>
              <a:rPr sz="3600" dirty="0">
                <a:solidFill>
                  <a:srgbClr val="FF3131"/>
                </a:solidFill>
                <a:latin typeface="Georgia"/>
                <a:cs typeface="Georgia"/>
              </a:rPr>
              <a:t>deployment/deployment-name</a:t>
            </a:r>
            <a:r>
              <a:rPr sz="3600" spc="300" dirty="0">
                <a:solidFill>
                  <a:srgbClr val="FF3131"/>
                </a:solidFill>
                <a:latin typeface="Georgia"/>
                <a:cs typeface="Georgia"/>
              </a:rPr>
              <a:t> </a:t>
            </a:r>
            <a:r>
              <a:rPr sz="3600" dirty="0">
                <a:solidFill>
                  <a:srgbClr val="FF3131"/>
                </a:solidFill>
                <a:latin typeface="Georgia"/>
                <a:cs typeface="Georgia"/>
              </a:rPr>
              <a:t>--</a:t>
            </a:r>
            <a:r>
              <a:rPr sz="3600" spc="55" dirty="0">
                <a:solidFill>
                  <a:srgbClr val="FF3131"/>
                </a:solidFill>
                <a:latin typeface="Georgia"/>
                <a:cs typeface="Georgia"/>
              </a:rPr>
              <a:t>to-</a:t>
            </a:r>
            <a:r>
              <a:rPr sz="3600" spc="-10" dirty="0">
                <a:solidFill>
                  <a:srgbClr val="FF3131"/>
                </a:solidFill>
                <a:latin typeface="Georgia"/>
                <a:cs typeface="Georgia"/>
              </a:rPr>
              <a:t>revision=number</a:t>
            </a:r>
            <a:endParaRPr sz="3600">
              <a:latin typeface="Georgia"/>
              <a:cs typeface="Georgi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32443" y="1555406"/>
            <a:ext cx="16881475" cy="7774305"/>
          </a:xfrm>
          <a:prstGeom prst="rect">
            <a:avLst/>
          </a:prstGeom>
        </p:spPr>
        <p:txBody>
          <a:bodyPr vert="horz" wrap="square" lIns="0" tIns="239395" rIns="0" bIns="0" rtlCol="0">
            <a:spAutoFit/>
          </a:bodyPr>
          <a:lstStyle/>
          <a:p>
            <a:pPr marL="50800">
              <a:lnSpc>
                <a:spcPct val="100000"/>
              </a:lnSpc>
              <a:spcBef>
                <a:spcPts val="1885"/>
              </a:spcBef>
            </a:pPr>
            <a:r>
              <a:rPr sz="3600" b="1" i="1" dirty="0">
                <a:solidFill>
                  <a:srgbClr val="2E377E"/>
                </a:solidFill>
                <a:latin typeface="Times New Roman"/>
                <a:cs typeface="Times New Roman"/>
              </a:rPr>
              <a:t>To</a:t>
            </a:r>
            <a:r>
              <a:rPr sz="3600" b="1" i="1" spc="-130" dirty="0">
                <a:solidFill>
                  <a:srgbClr val="2E377E"/>
                </a:solidFill>
                <a:latin typeface="Times New Roman"/>
                <a:cs typeface="Times New Roman"/>
              </a:rPr>
              <a:t> </a:t>
            </a:r>
            <a:r>
              <a:rPr sz="3600" b="1" i="1" spc="210" dirty="0">
                <a:solidFill>
                  <a:srgbClr val="2E377E"/>
                </a:solidFill>
                <a:latin typeface="Times New Roman"/>
                <a:cs typeface="Times New Roman"/>
              </a:rPr>
              <a:t>pause</a:t>
            </a:r>
            <a:r>
              <a:rPr sz="3600" b="1" i="1" spc="-130" dirty="0">
                <a:solidFill>
                  <a:srgbClr val="2E377E"/>
                </a:solidFill>
                <a:latin typeface="Times New Roman"/>
                <a:cs typeface="Times New Roman"/>
              </a:rPr>
              <a:t> </a:t>
            </a:r>
            <a:r>
              <a:rPr sz="3600" b="1" i="1" spc="195" dirty="0">
                <a:solidFill>
                  <a:srgbClr val="2E377E"/>
                </a:solidFill>
                <a:latin typeface="Times New Roman"/>
                <a:cs typeface="Times New Roman"/>
              </a:rPr>
              <a:t>a</a:t>
            </a:r>
            <a:r>
              <a:rPr sz="3600" b="1" i="1" spc="-125" dirty="0">
                <a:solidFill>
                  <a:srgbClr val="2E377E"/>
                </a:solidFill>
                <a:latin typeface="Times New Roman"/>
                <a:cs typeface="Times New Roman"/>
              </a:rPr>
              <a:t> </a:t>
            </a:r>
            <a:r>
              <a:rPr sz="3600" b="1" i="1" spc="240" dirty="0">
                <a:solidFill>
                  <a:srgbClr val="2E377E"/>
                </a:solidFill>
                <a:latin typeface="Times New Roman"/>
                <a:cs typeface="Times New Roman"/>
              </a:rPr>
              <a:t>pod</a:t>
            </a:r>
            <a:r>
              <a:rPr sz="3600" b="1" i="1" spc="-130" dirty="0">
                <a:solidFill>
                  <a:srgbClr val="2E377E"/>
                </a:solidFill>
                <a:latin typeface="Times New Roman"/>
                <a:cs typeface="Times New Roman"/>
              </a:rPr>
              <a:t> </a:t>
            </a:r>
            <a:r>
              <a:rPr sz="3600" b="1" i="1" dirty="0">
                <a:solidFill>
                  <a:srgbClr val="2E377E"/>
                </a:solidFill>
                <a:latin typeface="Times New Roman"/>
                <a:cs typeface="Times New Roman"/>
              </a:rPr>
              <a:t>in</a:t>
            </a:r>
            <a:r>
              <a:rPr sz="3600" b="1" i="1" spc="-125" dirty="0">
                <a:solidFill>
                  <a:srgbClr val="2E377E"/>
                </a:solidFill>
                <a:latin typeface="Times New Roman"/>
                <a:cs typeface="Times New Roman"/>
              </a:rPr>
              <a:t> </a:t>
            </a:r>
            <a:r>
              <a:rPr sz="3600" b="1" i="1" spc="175" dirty="0">
                <a:solidFill>
                  <a:srgbClr val="2E377E"/>
                </a:solidFill>
                <a:latin typeface="Times New Roman"/>
                <a:cs typeface="Times New Roman"/>
              </a:rPr>
              <a:t>deployment:</a:t>
            </a:r>
            <a:endParaRPr sz="3600">
              <a:latin typeface="Times New Roman"/>
              <a:cs typeface="Times New Roman"/>
            </a:endParaRPr>
          </a:p>
          <a:p>
            <a:pPr marL="50800">
              <a:lnSpc>
                <a:spcPct val="100000"/>
              </a:lnSpc>
              <a:spcBef>
                <a:spcPts val="1735"/>
              </a:spcBef>
            </a:pPr>
            <a:r>
              <a:rPr sz="3450" spc="55" dirty="0">
                <a:solidFill>
                  <a:srgbClr val="FF3131"/>
                </a:solidFill>
                <a:latin typeface="Georgia"/>
                <a:cs typeface="Georgia"/>
              </a:rPr>
              <a:t>kubectl</a:t>
            </a:r>
            <a:r>
              <a:rPr sz="3450" spc="370" dirty="0">
                <a:solidFill>
                  <a:srgbClr val="FF3131"/>
                </a:solidFill>
                <a:latin typeface="Georgia"/>
                <a:cs typeface="Georgia"/>
              </a:rPr>
              <a:t> </a:t>
            </a:r>
            <a:r>
              <a:rPr sz="3450" dirty="0">
                <a:solidFill>
                  <a:srgbClr val="FF3131"/>
                </a:solidFill>
                <a:latin typeface="Georgia"/>
                <a:cs typeface="Georgia"/>
              </a:rPr>
              <a:t>rollout</a:t>
            </a:r>
            <a:r>
              <a:rPr sz="3450" spc="380" dirty="0">
                <a:solidFill>
                  <a:srgbClr val="FF3131"/>
                </a:solidFill>
                <a:latin typeface="Georgia"/>
                <a:cs typeface="Georgia"/>
              </a:rPr>
              <a:t> </a:t>
            </a:r>
            <a:r>
              <a:rPr sz="3450" dirty="0">
                <a:solidFill>
                  <a:srgbClr val="FF3131"/>
                </a:solidFill>
                <a:latin typeface="Georgia"/>
                <a:cs typeface="Georgia"/>
              </a:rPr>
              <a:t>pause</a:t>
            </a:r>
            <a:r>
              <a:rPr sz="3450" spc="380" dirty="0">
                <a:solidFill>
                  <a:srgbClr val="FF3131"/>
                </a:solidFill>
                <a:latin typeface="Georgia"/>
                <a:cs typeface="Georgia"/>
              </a:rPr>
              <a:t> </a:t>
            </a:r>
            <a:r>
              <a:rPr sz="3450" dirty="0">
                <a:solidFill>
                  <a:srgbClr val="FF3131"/>
                </a:solidFill>
                <a:latin typeface="Georgia"/>
                <a:cs typeface="Georgia"/>
              </a:rPr>
              <a:t>deployment/deployment-</a:t>
            </a:r>
            <a:r>
              <a:rPr sz="3450" spc="-20" dirty="0">
                <a:solidFill>
                  <a:srgbClr val="FF3131"/>
                </a:solidFill>
                <a:latin typeface="Georgia"/>
                <a:cs typeface="Georgia"/>
              </a:rPr>
              <a:t>name</a:t>
            </a:r>
            <a:endParaRPr sz="3450">
              <a:latin typeface="Georgia"/>
              <a:cs typeface="Georgia"/>
            </a:endParaRPr>
          </a:p>
          <a:p>
            <a:pPr marL="12700">
              <a:lnSpc>
                <a:spcPct val="100000"/>
              </a:lnSpc>
              <a:spcBef>
                <a:spcPts val="1645"/>
              </a:spcBef>
            </a:pPr>
            <a:r>
              <a:rPr sz="3600" b="1" i="1" dirty="0">
                <a:solidFill>
                  <a:srgbClr val="2E377E"/>
                </a:solidFill>
                <a:latin typeface="Times New Roman"/>
                <a:cs typeface="Times New Roman"/>
              </a:rPr>
              <a:t>To</a:t>
            </a:r>
            <a:r>
              <a:rPr sz="3600" b="1" i="1" spc="-130" dirty="0">
                <a:solidFill>
                  <a:srgbClr val="2E377E"/>
                </a:solidFill>
                <a:latin typeface="Times New Roman"/>
                <a:cs typeface="Times New Roman"/>
              </a:rPr>
              <a:t> </a:t>
            </a:r>
            <a:r>
              <a:rPr sz="3600" b="1" i="1" spc="120" dirty="0">
                <a:solidFill>
                  <a:srgbClr val="2E377E"/>
                </a:solidFill>
                <a:latin typeface="Times New Roman"/>
                <a:cs typeface="Times New Roman"/>
              </a:rPr>
              <a:t>un-</a:t>
            </a:r>
            <a:r>
              <a:rPr sz="3600" b="1" i="1" spc="210" dirty="0">
                <a:solidFill>
                  <a:srgbClr val="2E377E"/>
                </a:solidFill>
                <a:latin typeface="Times New Roman"/>
                <a:cs typeface="Times New Roman"/>
              </a:rPr>
              <a:t>pause</a:t>
            </a:r>
            <a:r>
              <a:rPr sz="3600" b="1" i="1" spc="-125" dirty="0">
                <a:solidFill>
                  <a:srgbClr val="2E377E"/>
                </a:solidFill>
                <a:latin typeface="Times New Roman"/>
                <a:cs typeface="Times New Roman"/>
              </a:rPr>
              <a:t> </a:t>
            </a:r>
            <a:r>
              <a:rPr sz="3600" b="1" i="1" spc="195" dirty="0">
                <a:solidFill>
                  <a:srgbClr val="2E377E"/>
                </a:solidFill>
                <a:latin typeface="Times New Roman"/>
                <a:cs typeface="Times New Roman"/>
              </a:rPr>
              <a:t>a</a:t>
            </a:r>
            <a:r>
              <a:rPr sz="3600" b="1" i="1" spc="-125" dirty="0">
                <a:solidFill>
                  <a:srgbClr val="2E377E"/>
                </a:solidFill>
                <a:latin typeface="Times New Roman"/>
                <a:cs typeface="Times New Roman"/>
              </a:rPr>
              <a:t> </a:t>
            </a:r>
            <a:r>
              <a:rPr sz="3600" b="1" i="1" spc="240" dirty="0">
                <a:solidFill>
                  <a:srgbClr val="2E377E"/>
                </a:solidFill>
                <a:latin typeface="Times New Roman"/>
                <a:cs typeface="Times New Roman"/>
              </a:rPr>
              <a:t>pod</a:t>
            </a:r>
            <a:r>
              <a:rPr sz="3600" b="1" i="1" spc="-125" dirty="0">
                <a:solidFill>
                  <a:srgbClr val="2E377E"/>
                </a:solidFill>
                <a:latin typeface="Times New Roman"/>
                <a:cs typeface="Times New Roman"/>
              </a:rPr>
              <a:t> </a:t>
            </a:r>
            <a:r>
              <a:rPr sz="3600" b="1" i="1" dirty="0">
                <a:solidFill>
                  <a:srgbClr val="2E377E"/>
                </a:solidFill>
                <a:latin typeface="Times New Roman"/>
                <a:cs typeface="Times New Roman"/>
              </a:rPr>
              <a:t>in</a:t>
            </a:r>
            <a:r>
              <a:rPr sz="3600" b="1" i="1" spc="-125" dirty="0">
                <a:solidFill>
                  <a:srgbClr val="2E377E"/>
                </a:solidFill>
                <a:latin typeface="Times New Roman"/>
                <a:cs typeface="Times New Roman"/>
              </a:rPr>
              <a:t> </a:t>
            </a:r>
            <a:r>
              <a:rPr sz="3600" b="1" i="1" spc="175" dirty="0">
                <a:solidFill>
                  <a:srgbClr val="2E377E"/>
                </a:solidFill>
                <a:latin typeface="Times New Roman"/>
                <a:cs typeface="Times New Roman"/>
              </a:rPr>
              <a:t>deployment:</a:t>
            </a:r>
            <a:endParaRPr sz="3600">
              <a:latin typeface="Times New Roman"/>
              <a:cs typeface="Times New Roman"/>
            </a:endParaRPr>
          </a:p>
          <a:p>
            <a:pPr marL="50800">
              <a:lnSpc>
                <a:spcPct val="100000"/>
              </a:lnSpc>
              <a:spcBef>
                <a:spcPts val="2180"/>
              </a:spcBef>
            </a:pPr>
            <a:r>
              <a:rPr sz="3450" spc="55" dirty="0">
                <a:solidFill>
                  <a:srgbClr val="FF3131"/>
                </a:solidFill>
                <a:latin typeface="Georgia"/>
                <a:cs typeface="Georgia"/>
              </a:rPr>
              <a:t>kubectl</a:t>
            </a:r>
            <a:r>
              <a:rPr sz="3450" spc="330" dirty="0">
                <a:solidFill>
                  <a:srgbClr val="FF3131"/>
                </a:solidFill>
                <a:latin typeface="Georgia"/>
                <a:cs typeface="Georgia"/>
              </a:rPr>
              <a:t> </a:t>
            </a:r>
            <a:r>
              <a:rPr sz="3450" dirty="0">
                <a:solidFill>
                  <a:srgbClr val="FF3131"/>
                </a:solidFill>
                <a:latin typeface="Georgia"/>
                <a:cs typeface="Georgia"/>
              </a:rPr>
              <a:t>rollout</a:t>
            </a:r>
            <a:r>
              <a:rPr sz="3450" spc="335" dirty="0">
                <a:solidFill>
                  <a:srgbClr val="FF3131"/>
                </a:solidFill>
                <a:latin typeface="Georgia"/>
                <a:cs typeface="Georgia"/>
              </a:rPr>
              <a:t> </a:t>
            </a:r>
            <a:r>
              <a:rPr sz="3450" spc="50" dirty="0">
                <a:solidFill>
                  <a:srgbClr val="FF3131"/>
                </a:solidFill>
                <a:latin typeface="Georgia"/>
                <a:cs typeface="Georgia"/>
              </a:rPr>
              <a:t>resume</a:t>
            </a:r>
            <a:r>
              <a:rPr sz="3450" spc="330" dirty="0">
                <a:solidFill>
                  <a:srgbClr val="FF3131"/>
                </a:solidFill>
                <a:latin typeface="Georgia"/>
                <a:cs typeface="Georgia"/>
              </a:rPr>
              <a:t> </a:t>
            </a:r>
            <a:r>
              <a:rPr sz="3450" dirty="0">
                <a:solidFill>
                  <a:srgbClr val="FF3131"/>
                </a:solidFill>
                <a:latin typeface="Georgia"/>
                <a:cs typeface="Georgia"/>
              </a:rPr>
              <a:t>deployment/deployment-</a:t>
            </a:r>
            <a:r>
              <a:rPr sz="3450" spc="-20" dirty="0">
                <a:solidFill>
                  <a:srgbClr val="FF3131"/>
                </a:solidFill>
                <a:latin typeface="Georgia"/>
                <a:cs typeface="Georgia"/>
              </a:rPr>
              <a:t>name</a:t>
            </a:r>
            <a:endParaRPr sz="3450">
              <a:latin typeface="Georgia"/>
              <a:cs typeface="Georgia"/>
            </a:endParaRPr>
          </a:p>
          <a:p>
            <a:pPr>
              <a:lnSpc>
                <a:spcPct val="100000"/>
              </a:lnSpc>
              <a:spcBef>
                <a:spcPts val="365"/>
              </a:spcBef>
            </a:pPr>
            <a:endParaRPr sz="3450">
              <a:latin typeface="Georgia"/>
              <a:cs typeface="Georgia"/>
            </a:endParaRPr>
          </a:p>
          <a:p>
            <a:pPr marL="50800">
              <a:lnSpc>
                <a:spcPct val="100000"/>
              </a:lnSpc>
            </a:pPr>
            <a:r>
              <a:rPr sz="5000" b="1" spc="-245" dirty="0">
                <a:solidFill>
                  <a:srgbClr val="FF3131"/>
                </a:solidFill>
                <a:latin typeface="Times New Roman"/>
                <a:cs typeface="Times New Roman"/>
              </a:rPr>
              <a:t>DEPLOYMENT</a:t>
            </a:r>
            <a:r>
              <a:rPr sz="5000" b="1" spc="-35" dirty="0">
                <a:solidFill>
                  <a:srgbClr val="FF3131"/>
                </a:solidFill>
                <a:latin typeface="Times New Roman"/>
                <a:cs typeface="Times New Roman"/>
              </a:rPr>
              <a:t> </a:t>
            </a:r>
            <a:r>
              <a:rPr sz="5000" b="1" spc="-95" dirty="0">
                <a:solidFill>
                  <a:srgbClr val="FF3131"/>
                </a:solidFill>
                <a:latin typeface="Times New Roman"/>
                <a:cs typeface="Times New Roman"/>
              </a:rPr>
              <a:t>SCALING:</a:t>
            </a:r>
            <a:endParaRPr sz="5000">
              <a:latin typeface="Times New Roman"/>
              <a:cs typeface="Times New Roman"/>
            </a:endParaRPr>
          </a:p>
          <a:p>
            <a:pPr marL="50800" marR="636905">
              <a:lnSpc>
                <a:spcPct val="116300"/>
              </a:lnSpc>
              <a:spcBef>
                <a:spcPts val="1340"/>
              </a:spcBef>
            </a:pPr>
            <a:r>
              <a:rPr sz="3600" b="1" i="1" spc="85" dirty="0">
                <a:solidFill>
                  <a:srgbClr val="2E377E"/>
                </a:solidFill>
                <a:latin typeface="Times New Roman"/>
                <a:cs typeface="Times New Roman"/>
              </a:rPr>
              <a:t>Lets</a:t>
            </a:r>
            <a:r>
              <a:rPr sz="3600" b="1" i="1" spc="-125" dirty="0">
                <a:solidFill>
                  <a:srgbClr val="2E377E"/>
                </a:solidFill>
                <a:latin typeface="Times New Roman"/>
                <a:cs typeface="Times New Roman"/>
              </a:rPr>
              <a:t> </a:t>
            </a:r>
            <a:r>
              <a:rPr sz="3600" b="1" i="1" spc="235" dirty="0">
                <a:solidFill>
                  <a:srgbClr val="2E377E"/>
                </a:solidFill>
                <a:latin typeface="Times New Roman"/>
                <a:cs typeface="Times New Roman"/>
              </a:rPr>
              <a:t>assume</a:t>
            </a:r>
            <a:r>
              <a:rPr sz="3600" b="1" i="1" spc="-120" dirty="0">
                <a:solidFill>
                  <a:srgbClr val="2E377E"/>
                </a:solidFill>
                <a:latin typeface="Times New Roman"/>
                <a:cs typeface="Times New Roman"/>
              </a:rPr>
              <a:t> </a:t>
            </a:r>
            <a:r>
              <a:rPr sz="3600" b="1" i="1" spc="380" dirty="0">
                <a:solidFill>
                  <a:srgbClr val="2E377E"/>
                </a:solidFill>
                <a:latin typeface="Times New Roman"/>
                <a:cs typeface="Times New Roman"/>
              </a:rPr>
              <a:t>we</a:t>
            </a:r>
            <a:r>
              <a:rPr sz="3600" b="1" i="1" spc="-120" dirty="0">
                <a:solidFill>
                  <a:srgbClr val="2E377E"/>
                </a:solidFill>
                <a:latin typeface="Times New Roman"/>
                <a:cs typeface="Times New Roman"/>
              </a:rPr>
              <a:t> </a:t>
            </a:r>
            <a:r>
              <a:rPr sz="3600" b="1" i="1" spc="170" dirty="0">
                <a:solidFill>
                  <a:srgbClr val="2E377E"/>
                </a:solidFill>
                <a:latin typeface="Times New Roman"/>
                <a:cs typeface="Times New Roman"/>
              </a:rPr>
              <a:t>have</a:t>
            </a:r>
            <a:r>
              <a:rPr sz="3600" b="1" i="1" spc="-120" dirty="0">
                <a:solidFill>
                  <a:srgbClr val="2E377E"/>
                </a:solidFill>
                <a:latin typeface="Times New Roman"/>
                <a:cs typeface="Times New Roman"/>
              </a:rPr>
              <a:t> </a:t>
            </a:r>
            <a:r>
              <a:rPr sz="3600" b="1" i="1" spc="195" dirty="0">
                <a:solidFill>
                  <a:srgbClr val="2E377E"/>
                </a:solidFill>
                <a:latin typeface="Times New Roman"/>
                <a:cs typeface="Times New Roman"/>
              </a:rPr>
              <a:t>3</a:t>
            </a:r>
            <a:r>
              <a:rPr sz="3600" b="1" i="1" spc="-125" dirty="0">
                <a:solidFill>
                  <a:srgbClr val="2E377E"/>
                </a:solidFill>
                <a:latin typeface="Times New Roman"/>
                <a:cs typeface="Times New Roman"/>
              </a:rPr>
              <a:t> </a:t>
            </a:r>
            <a:r>
              <a:rPr sz="3600" b="1" i="1" spc="235" dirty="0">
                <a:solidFill>
                  <a:srgbClr val="2E377E"/>
                </a:solidFill>
                <a:latin typeface="Times New Roman"/>
                <a:cs typeface="Times New Roman"/>
              </a:rPr>
              <a:t>pods,</a:t>
            </a:r>
            <a:r>
              <a:rPr sz="3600" b="1" i="1" spc="-120" dirty="0">
                <a:solidFill>
                  <a:srgbClr val="2E377E"/>
                </a:solidFill>
                <a:latin typeface="Times New Roman"/>
                <a:cs typeface="Times New Roman"/>
              </a:rPr>
              <a:t> </a:t>
            </a:r>
            <a:r>
              <a:rPr sz="3600" b="1" i="1" spc="90" dirty="0">
                <a:solidFill>
                  <a:srgbClr val="2E377E"/>
                </a:solidFill>
                <a:latin typeface="Times New Roman"/>
                <a:cs typeface="Times New Roman"/>
              </a:rPr>
              <a:t>if</a:t>
            </a:r>
            <a:r>
              <a:rPr sz="3600" b="1" i="1" spc="-120" dirty="0">
                <a:solidFill>
                  <a:srgbClr val="2E377E"/>
                </a:solidFill>
                <a:latin typeface="Times New Roman"/>
                <a:cs typeface="Times New Roman"/>
              </a:rPr>
              <a:t> </a:t>
            </a:r>
            <a:r>
              <a:rPr sz="3600" b="1" i="1" dirty="0">
                <a:solidFill>
                  <a:srgbClr val="2E377E"/>
                </a:solidFill>
                <a:latin typeface="Times New Roman"/>
                <a:cs typeface="Times New Roman"/>
              </a:rPr>
              <a:t>i</a:t>
            </a:r>
            <a:r>
              <a:rPr sz="3600" b="1" i="1" spc="-120" dirty="0">
                <a:solidFill>
                  <a:srgbClr val="2E377E"/>
                </a:solidFill>
                <a:latin typeface="Times New Roman"/>
                <a:cs typeface="Times New Roman"/>
              </a:rPr>
              <a:t> </a:t>
            </a:r>
            <a:r>
              <a:rPr sz="3600" b="1" i="1" spc="254" dirty="0">
                <a:solidFill>
                  <a:srgbClr val="2E377E"/>
                </a:solidFill>
                <a:latin typeface="Times New Roman"/>
                <a:cs typeface="Times New Roman"/>
              </a:rPr>
              <a:t>want</a:t>
            </a:r>
            <a:r>
              <a:rPr sz="3600" b="1" i="1" spc="-125" dirty="0">
                <a:solidFill>
                  <a:srgbClr val="2E377E"/>
                </a:solidFill>
                <a:latin typeface="Times New Roman"/>
                <a:cs typeface="Times New Roman"/>
              </a:rPr>
              <a:t> </a:t>
            </a:r>
            <a:r>
              <a:rPr sz="3600" b="1" i="1" spc="215" dirty="0">
                <a:solidFill>
                  <a:srgbClr val="2E377E"/>
                </a:solidFill>
                <a:latin typeface="Times New Roman"/>
                <a:cs typeface="Times New Roman"/>
              </a:rPr>
              <a:t>to</a:t>
            </a:r>
            <a:r>
              <a:rPr sz="3600" b="1" i="1" spc="-120" dirty="0">
                <a:solidFill>
                  <a:srgbClr val="2E377E"/>
                </a:solidFill>
                <a:latin typeface="Times New Roman"/>
                <a:cs typeface="Times New Roman"/>
              </a:rPr>
              <a:t> </a:t>
            </a:r>
            <a:r>
              <a:rPr sz="3600" b="1" i="1" spc="195" dirty="0">
                <a:solidFill>
                  <a:srgbClr val="2E377E"/>
                </a:solidFill>
                <a:latin typeface="Times New Roman"/>
                <a:cs typeface="Times New Roman"/>
              </a:rPr>
              <a:t>scale</a:t>
            </a:r>
            <a:r>
              <a:rPr sz="3600" b="1" i="1" spc="-120" dirty="0">
                <a:solidFill>
                  <a:srgbClr val="2E377E"/>
                </a:solidFill>
                <a:latin typeface="Times New Roman"/>
                <a:cs typeface="Times New Roman"/>
              </a:rPr>
              <a:t> </a:t>
            </a:r>
            <a:r>
              <a:rPr sz="3600" b="1" i="1" spc="155" dirty="0">
                <a:solidFill>
                  <a:srgbClr val="2E377E"/>
                </a:solidFill>
                <a:latin typeface="Times New Roman"/>
                <a:cs typeface="Times New Roman"/>
              </a:rPr>
              <a:t>up</a:t>
            </a:r>
            <a:r>
              <a:rPr sz="3600" b="1" i="1" spc="-120" dirty="0">
                <a:solidFill>
                  <a:srgbClr val="2E377E"/>
                </a:solidFill>
                <a:latin typeface="Times New Roman"/>
                <a:cs typeface="Times New Roman"/>
              </a:rPr>
              <a:t> </a:t>
            </a:r>
            <a:r>
              <a:rPr sz="3600" b="1" i="1" spc="100" dirty="0">
                <a:solidFill>
                  <a:srgbClr val="2E377E"/>
                </a:solidFill>
                <a:latin typeface="Times New Roman"/>
                <a:cs typeface="Times New Roman"/>
              </a:rPr>
              <a:t>it</a:t>
            </a:r>
            <a:r>
              <a:rPr sz="3600" b="1" i="1" spc="-125" dirty="0">
                <a:solidFill>
                  <a:srgbClr val="2E377E"/>
                </a:solidFill>
                <a:latin typeface="Times New Roman"/>
                <a:cs typeface="Times New Roman"/>
              </a:rPr>
              <a:t> </a:t>
            </a:r>
            <a:r>
              <a:rPr sz="3600" b="1" i="1" spc="215" dirty="0">
                <a:solidFill>
                  <a:srgbClr val="2E377E"/>
                </a:solidFill>
                <a:latin typeface="Times New Roman"/>
                <a:cs typeface="Times New Roman"/>
              </a:rPr>
              <a:t>to</a:t>
            </a:r>
            <a:r>
              <a:rPr sz="3600" b="1" i="1" spc="-120" dirty="0">
                <a:solidFill>
                  <a:srgbClr val="2E377E"/>
                </a:solidFill>
                <a:latin typeface="Times New Roman"/>
                <a:cs typeface="Times New Roman"/>
              </a:rPr>
              <a:t> </a:t>
            </a:r>
            <a:r>
              <a:rPr sz="3600" b="1" i="1" spc="125" dirty="0">
                <a:solidFill>
                  <a:srgbClr val="2E377E"/>
                </a:solidFill>
                <a:latin typeface="Times New Roman"/>
                <a:cs typeface="Times New Roman"/>
              </a:rPr>
              <a:t>10</a:t>
            </a:r>
            <a:r>
              <a:rPr sz="3600" b="1" i="1" spc="-120" dirty="0">
                <a:solidFill>
                  <a:srgbClr val="2E377E"/>
                </a:solidFill>
                <a:latin typeface="Times New Roman"/>
                <a:cs typeface="Times New Roman"/>
              </a:rPr>
              <a:t> </a:t>
            </a:r>
            <a:r>
              <a:rPr sz="3600" b="1" i="1" spc="250" dirty="0">
                <a:solidFill>
                  <a:srgbClr val="2E377E"/>
                </a:solidFill>
                <a:latin typeface="Times New Roman"/>
                <a:cs typeface="Times New Roman"/>
              </a:rPr>
              <a:t>pods</a:t>
            </a:r>
            <a:r>
              <a:rPr sz="3600" b="1" i="1" spc="-120" dirty="0">
                <a:solidFill>
                  <a:srgbClr val="2E377E"/>
                </a:solidFill>
                <a:latin typeface="Times New Roman"/>
                <a:cs typeface="Times New Roman"/>
              </a:rPr>
              <a:t> </a:t>
            </a:r>
            <a:r>
              <a:rPr sz="3600" b="1" i="1" spc="180" dirty="0">
                <a:solidFill>
                  <a:srgbClr val="2E377E"/>
                </a:solidFill>
                <a:latin typeface="Times New Roman"/>
                <a:cs typeface="Times New Roman"/>
              </a:rPr>
              <a:t>(manual</a:t>
            </a:r>
            <a:r>
              <a:rPr sz="3600" b="1" i="1" spc="-120" dirty="0">
                <a:solidFill>
                  <a:srgbClr val="2E377E"/>
                </a:solidFill>
                <a:latin typeface="Times New Roman"/>
                <a:cs typeface="Times New Roman"/>
              </a:rPr>
              <a:t> </a:t>
            </a:r>
            <a:r>
              <a:rPr sz="3600" b="1" i="1" spc="150" dirty="0">
                <a:solidFill>
                  <a:srgbClr val="2E377E"/>
                </a:solidFill>
                <a:latin typeface="Times New Roman"/>
                <a:cs typeface="Times New Roman"/>
              </a:rPr>
              <a:t>scaling) </a:t>
            </a:r>
            <a:r>
              <a:rPr sz="3600" b="1" i="1" spc="155" dirty="0">
                <a:solidFill>
                  <a:srgbClr val="E7181F"/>
                </a:solidFill>
                <a:latin typeface="Times New Roman"/>
                <a:cs typeface="Times New Roman"/>
              </a:rPr>
              <a:t>kubectl</a:t>
            </a:r>
            <a:r>
              <a:rPr sz="3600" b="1" i="1" spc="-90" dirty="0">
                <a:solidFill>
                  <a:srgbClr val="E7181F"/>
                </a:solidFill>
                <a:latin typeface="Times New Roman"/>
                <a:cs typeface="Times New Roman"/>
              </a:rPr>
              <a:t> </a:t>
            </a:r>
            <a:r>
              <a:rPr sz="3600" b="1" i="1" spc="195" dirty="0">
                <a:solidFill>
                  <a:srgbClr val="E7181F"/>
                </a:solidFill>
                <a:latin typeface="Times New Roman"/>
                <a:cs typeface="Times New Roman"/>
              </a:rPr>
              <a:t>scale</a:t>
            </a:r>
            <a:r>
              <a:rPr sz="3600" b="1" i="1" spc="-90" dirty="0">
                <a:solidFill>
                  <a:srgbClr val="E7181F"/>
                </a:solidFill>
                <a:latin typeface="Times New Roman"/>
                <a:cs typeface="Times New Roman"/>
              </a:rPr>
              <a:t> </a:t>
            </a:r>
            <a:r>
              <a:rPr sz="3600" b="1" i="1" spc="204" dirty="0">
                <a:solidFill>
                  <a:srgbClr val="E7181F"/>
                </a:solidFill>
                <a:latin typeface="Times New Roman"/>
                <a:cs typeface="Times New Roman"/>
              </a:rPr>
              <a:t>deployment/nginx-</a:t>
            </a:r>
            <a:r>
              <a:rPr sz="3600" b="1" i="1" spc="225" dirty="0">
                <a:solidFill>
                  <a:srgbClr val="E7181F"/>
                </a:solidFill>
                <a:latin typeface="Times New Roman"/>
                <a:cs typeface="Times New Roman"/>
              </a:rPr>
              <a:t>deployment</a:t>
            </a:r>
            <a:r>
              <a:rPr sz="3600" b="1" i="1" spc="-90" dirty="0">
                <a:solidFill>
                  <a:srgbClr val="E7181F"/>
                </a:solidFill>
                <a:latin typeface="Times New Roman"/>
                <a:cs typeface="Times New Roman"/>
              </a:rPr>
              <a:t> </a:t>
            </a:r>
            <a:r>
              <a:rPr sz="3600" b="1" i="1" spc="225" dirty="0">
                <a:solidFill>
                  <a:srgbClr val="E7181F"/>
                </a:solidFill>
                <a:latin typeface="Times New Roman"/>
                <a:cs typeface="Times New Roman"/>
              </a:rPr>
              <a:t>--</a:t>
            </a:r>
            <a:r>
              <a:rPr sz="3600" b="1" i="1" spc="130" dirty="0">
                <a:solidFill>
                  <a:srgbClr val="E7181F"/>
                </a:solidFill>
                <a:latin typeface="Times New Roman"/>
                <a:cs typeface="Times New Roman"/>
              </a:rPr>
              <a:t>replicas=10</a:t>
            </a:r>
            <a:endParaRPr sz="3600">
              <a:latin typeface="Times New Roman"/>
              <a:cs typeface="Times New Roman"/>
            </a:endParaRPr>
          </a:p>
          <a:p>
            <a:pPr>
              <a:lnSpc>
                <a:spcPct val="100000"/>
              </a:lnSpc>
              <a:spcBef>
                <a:spcPts val="885"/>
              </a:spcBef>
            </a:pPr>
            <a:endParaRPr sz="3600">
              <a:latin typeface="Times New Roman"/>
              <a:cs typeface="Times New Roman"/>
            </a:endParaRPr>
          </a:p>
          <a:p>
            <a:pPr marL="50800" marR="5080">
              <a:lnSpc>
                <a:spcPct val="116300"/>
              </a:lnSpc>
            </a:pPr>
            <a:r>
              <a:rPr sz="3600" b="1" i="1" spc="85" dirty="0">
                <a:solidFill>
                  <a:srgbClr val="2E377E"/>
                </a:solidFill>
                <a:latin typeface="Times New Roman"/>
                <a:cs typeface="Times New Roman"/>
              </a:rPr>
              <a:t>Lets</a:t>
            </a:r>
            <a:r>
              <a:rPr sz="3600" b="1" i="1" spc="-125" dirty="0">
                <a:solidFill>
                  <a:srgbClr val="2E377E"/>
                </a:solidFill>
                <a:latin typeface="Times New Roman"/>
                <a:cs typeface="Times New Roman"/>
              </a:rPr>
              <a:t> </a:t>
            </a:r>
            <a:r>
              <a:rPr sz="3600" b="1" i="1" spc="235" dirty="0">
                <a:solidFill>
                  <a:srgbClr val="2E377E"/>
                </a:solidFill>
                <a:latin typeface="Times New Roman"/>
                <a:cs typeface="Times New Roman"/>
              </a:rPr>
              <a:t>assume</a:t>
            </a:r>
            <a:r>
              <a:rPr sz="3600" b="1" i="1" spc="-120" dirty="0">
                <a:solidFill>
                  <a:srgbClr val="2E377E"/>
                </a:solidFill>
                <a:latin typeface="Times New Roman"/>
                <a:cs typeface="Times New Roman"/>
              </a:rPr>
              <a:t> </a:t>
            </a:r>
            <a:r>
              <a:rPr sz="3600" b="1" i="1" spc="380" dirty="0">
                <a:solidFill>
                  <a:srgbClr val="2E377E"/>
                </a:solidFill>
                <a:latin typeface="Times New Roman"/>
                <a:cs typeface="Times New Roman"/>
              </a:rPr>
              <a:t>we</a:t>
            </a:r>
            <a:r>
              <a:rPr sz="3600" b="1" i="1" spc="-120" dirty="0">
                <a:solidFill>
                  <a:srgbClr val="2E377E"/>
                </a:solidFill>
                <a:latin typeface="Times New Roman"/>
                <a:cs typeface="Times New Roman"/>
              </a:rPr>
              <a:t> </a:t>
            </a:r>
            <a:r>
              <a:rPr sz="3600" b="1" i="1" spc="170" dirty="0">
                <a:solidFill>
                  <a:srgbClr val="2E377E"/>
                </a:solidFill>
                <a:latin typeface="Times New Roman"/>
                <a:cs typeface="Times New Roman"/>
              </a:rPr>
              <a:t>have</a:t>
            </a:r>
            <a:r>
              <a:rPr sz="3600" b="1" i="1" spc="-120" dirty="0">
                <a:solidFill>
                  <a:srgbClr val="2E377E"/>
                </a:solidFill>
                <a:latin typeface="Times New Roman"/>
                <a:cs typeface="Times New Roman"/>
              </a:rPr>
              <a:t> </a:t>
            </a:r>
            <a:r>
              <a:rPr sz="3600" b="1" i="1" spc="125" dirty="0">
                <a:solidFill>
                  <a:srgbClr val="2E377E"/>
                </a:solidFill>
                <a:latin typeface="Times New Roman"/>
                <a:cs typeface="Times New Roman"/>
              </a:rPr>
              <a:t>10</a:t>
            </a:r>
            <a:r>
              <a:rPr sz="3600" b="1" i="1" spc="-120" dirty="0">
                <a:solidFill>
                  <a:srgbClr val="2E377E"/>
                </a:solidFill>
                <a:latin typeface="Times New Roman"/>
                <a:cs typeface="Times New Roman"/>
              </a:rPr>
              <a:t> </a:t>
            </a:r>
            <a:r>
              <a:rPr sz="3600" b="1" i="1" spc="235" dirty="0">
                <a:solidFill>
                  <a:srgbClr val="2E377E"/>
                </a:solidFill>
                <a:latin typeface="Times New Roman"/>
                <a:cs typeface="Times New Roman"/>
              </a:rPr>
              <a:t>pods,</a:t>
            </a:r>
            <a:r>
              <a:rPr sz="3600" b="1" i="1" spc="-120" dirty="0">
                <a:solidFill>
                  <a:srgbClr val="2E377E"/>
                </a:solidFill>
                <a:latin typeface="Times New Roman"/>
                <a:cs typeface="Times New Roman"/>
              </a:rPr>
              <a:t> </a:t>
            </a:r>
            <a:r>
              <a:rPr sz="3600" b="1" i="1" spc="90" dirty="0">
                <a:solidFill>
                  <a:srgbClr val="2E377E"/>
                </a:solidFill>
                <a:latin typeface="Times New Roman"/>
                <a:cs typeface="Times New Roman"/>
              </a:rPr>
              <a:t>if</a:t>
            </a:r>
            <a:r>
              <a:rPr sz="3600" b="1" i="1" spc="-120" dirty="0">
                <a:solidFill>
                  <a:srgbClr val="2E377E"/>
                </a:solidFill>
                <a:latin typeface="Times New Roman"/>
                <a:cs typeface="Times New Roman"/>
              </a:rPr>
              <a:t> </a:t>
            </a:r>
            <a:r>
              <a:rPr sz="3600" b="1" i="1" dirty="0">
                <a:solidFill>
                  <a:srgbClr val="2E377E"/>
                </a:solidFill>
                <a:latin typeface="Times New Roman"/>
                <a:cs typeface="Times New Roman"/>
              </a:rPr>
              <a:t>i</a:t>
            </a:r>
            <a:r>
              <a:rPr sz="3600" b="1" i="1" spc="-120" dirty="0">
                <a:solidFill>
                  <a:srgbClr val="2E377E"/>
                </a:solidFill>
                <a:latin typeface="Times New Roman"/>
                <a:cs typeface="Times New Roman"/>
              </a:rPr>
              <a:t> </a:t>
            </a:r>
            <a:r>
              <a:rPr sz="3600" b="1" i="1" spc="254" dirty="0">
                <a:solidFill>
                  <a:srgbClr val="2E377E"/>
                </a:solidFill>
                <a:latin typeface="Times New Roman"/>
                <a:cs typeface="Times New Roman"/>
              </a:rPr>
              <a:t>want</a:t>
            </a:r>
            <a:r>
              <a:rPr sz="3600" b="1" i="1" spc="-120" dirty="0">
                <a:solidFill>
                  <a:srgbClr val="2E377E"/>
                </a:solidFill>
                <a:latin typeface="Times New Roman"/>
                <a:cs typeface="Times New Roman"/>
              </a:rPr>
              <a:t> </a:t>
            </a:r>
            <a:r>
              <a:rPr sz="3600" b="1" i="1" spc="215" dirty="0">
                <a:solidFill>
                  <a:srgbClr val="2E377E"/>
                </a:solidFill>
                <a:latin typeface="Times New Roman"/>
                <a:cs typeface="Times New Roman"/>
              </a:rPr>
              <a:t>to</a:t>
            </a:r>
            <a:r>
              <a:rPr sz="3600" b="1" i="1" spc="-125" dirty="0">
                <a:solidFill>
                  <a:srgbClr val="2E377E"/>
                </a:solidFill>
                <a:latin typeface="Times New Roman"/>
                <a:cs typeface="Times New Roman"/>
              </a:rPr>
              <a:t> </a:t>
            </a:r>
            <a:r>
              <a:rPr sz="3600" b="1" i="1" spc="195" dirty="0">
                <a:solidFill>
                  <a:srgbClr val="2E377E"/>
                </a:solidFill>
                <a:latin typeface="Times New Roman"/>
                <a:cs typeface="Times New Roman"/>
              </a:rPr>
              <a:t>scale</a:t>
            </a:r>
            <a:r>
              <a:rPr sz="3600" b="1" i="1" spc="-120" dirty="0">
                <a:solidFill>
                  <a:srgbClr val="2E377E"/>
                </a:solidFill>
                <a:latin typeface="Times New Roman"/>
                <a:cs typeface="Times New Roman"/>
              </a:rPr>
              <a:t> </a:t>
            </a:r>
            <a:r>
              <a:rPr sz="3600" b="1" i="1" spc="260" dirty="0">
                <a:solidFill>
                  <a:srgbClr val="2E377E"/>
                </a:solidFill>
                <a:latin typeface="Times New Roman"/>
                <a:cs typeface="Times New Roman"/>
              </a:rPr>
              <a:t>down</a:t>
            </a:r>
            <a:r>
              <a:rPr sz="3600" b="1" i="1" spc="-120" dirty="0">
                <a:solidFill>
                  <a:srgbClr val="2E377E"/>
                </a:solidFill>
                <a:latin typeface="Times New Roman"/>
                <a:cs typeface="Times New Roman"/>
              </a:rPr>
              <a:t> </a:t>
            </a:r>
            <a:r>
              <a:rPr sz="3600" b="1" i="1" spc="100" dirty="0">
                <a:solidFill>
                  <a:srgbClr val="2E377E"/>
                </a:solidFill>
                <a:latin typeface="Times New Roman"/>
                <a:cs typeface="Times New Roman"/>
              </a:rPr>
              <a:t>it</a:t>
            </a:r>
            <a:r>
              <a:rPr sz="3600" b="1" i="1" spc="-120" dirty="0">
                <a:solidFill>
                  <a:srgbClr val="2E377E"/>
                </a:solidFill>
                <a:latin typeface="Times New Roman"/>
                <a:cs typeface="Times New Roman"/>
              </a:rPr>
              <a:t> </a:t>
            </a:r>
            <a:r>
              <a:rPr sz="3600" b="1" i="1" spc="215" dirty="0">
                <a:solidFill>
                  <a:srgbClr val="2E377E"/>
                </a:solidFill>
                <a:latin typeface="Times New Roman"/>
                <a:cs typeface="Times New Roman"/>
              </a:rPr>
              <a:t>to</a:t>
            </a:r>
            <a:r>
              <a:rPr sz="3600" b="1" i="1" spc="-120" dirty="0">
                <a:solidFill>
                  <a:srgbClr val="2E377E"/>
                </a:solidFill>
                <a:latin typeface="Times New Roman"/>
                <a:cs typeface="Times New Roman"/>
              </a:rPr>
              <a:t> </a:t>
            </a:r>
            <a:r>
              <a:rPr sz="3600" b="1" i="1" spc="229" dirty="0">
                <a:solidFill>
                  <a:srgbClr val="2E377E"/>
                </a:solidFill>
                <a:latin typeface="Times New Roman"/>
                <a:cs typeface="Times New Roman"/>
              </a:rPr>
              <a:t>5</a:t>
            </a:r>
            <a:r>
              <a:rPr sz="3600" b="1" i="1" spc="-120" dirty="0">
                <a:solidFill>
                  <a:srgbClr val="2E377E"/>
                </a:solidFill>
                <a:latin typeface="Times New Roman"/>
                <a:cs typeface="Times New Roman"/>
              </a:rPr>
              <a:t> </a:t>
            </a:r>
            <a:r>
              <a:rPr sz="3600" b="1" i="1" spc="250" dirty="0">
                <a:solidFill>
                  <a:srgbClr val="2E377E"/>
                </a:solidFill>
                <a:latin typeface="Times New Roman"/>
                <a:cs typeface="Times New Roman"/>
              </a:rPr>
              <a:t>pods</a:t>
            </a:r>
            <a:r>
              <a:rPr sz="3600" b="1" i="1" spc="-120" dirty="0">
                <a:solidFill>
                  <a:srgbClr val="2E377E"/>
                </a:solidFill>
                <a:latin typeface="Times New Roman"/>
                <a:cs typeface="Times New Roman"/>
              </a:rPr>
              <a:t> </a:t>
            </a:r>
            <a:r>
              <a:rPr sz="3600" b="1" i="1" spc="180" dirty="0">
                <a:solidFill>
                  <a:srgbClr val="2E377E"/>
                </a:solidFill>
                <a:latin typeface="Times New Roman"/>
                <a:cs typeface="Times New Roman"/>
              </a:rPr>
              <a:t>(manual</a:t>
            </a:r>
            <a:r>
              <a:rPr sz="3600" b="1" i="1" spc="-120" dirty="0">
                <a:solidFill>
                  <a:srgbClr val="2E377E"/>
                </a:solidFill>
                <a:latin typeface="Times New Roman"/>
                <a:cs typeface="Times New Roman"/>
              </a:rPr>
              <a:t> </a:t>
            </a:r>
            <a:r>
              <a:rPr sz="3600" b="1" i="1" spc="150" dirty="0">
                <a:solidFill>
                  <a:srgbClr val="2E377E"/>
                </a:solidFill>
                <a:latin typeface="Times New Roman"/>
                <a:cs typeface="Times New Roman"/>
              </a:rPr>
              <a:t>scaling) </a:t>
            </a:r>
            <a:r>
              <a:rPr sz="3600" b="1" i="1" spc="155" dirty="0">
                <a:solidFill>
                  <a:srgbClr val="E7181F"/>
                </a:solidFill>
                <a:latin typeface="Times New Roman"/>
                <a:cs typeface="Times New Roman"/>
              </a:rPr>
              <a:t>kubectl</a:t>
            </a:r>
            <a:r>
              <a:rPr sz="3600" b="1" i="1" spc="-90" dirty="0">
                <a:solidFill>
                  <a:srgbClr val="E7181F"/>
                </a:solidFill>
                <a:latin typeface="Times New Roman"/>
                <a:cs typeface="Times New Roman"/>
              </a:rPr>
              <a:t> </a:t>
            </a:r>
            <a:r>
              <a:rPr sz="3600" b="1" i="1" spc="195" dirty="0">
                <a:solidFill>
                  <a:srgbClr val="E7181F"/>
                </a:solidFill>
                <a:latin typeface="Times New Roman"/>
                <a:cs typeface="Times New Roman"/>
              </a:rPr>
              <a:t>scale</a:t>
            </a:r>
            <a:r>
              <a:rPr sz="3600" b="1" i="1" spc="-90" dirty="0">
                <a:solidFill>
                  <a:srgbClr val="E7181F"/>
                </a:solidFill>
                <a:latin typeface="Times New Roman"/>
                <a:cs typeface="Times New Roman"/>
              </a:rPr>
              <a:t> </a:t>
            </a:r>
            <a:r>
              <a:rPr sz="3600" b="1" i="1" spc="204" dirty="0">
                <a:solidFill>
                  <a:srgbClr val="E7181F"/>
                </a:solidFill>
                <a:latin typeface="Times New Roman"/>
                <a:cs typeface="Times New Roman"/>
              </a:rPr>
              <a:t>deployment/nginx-</a:t>
            </a:r>
            <a:r>
              <a:rPr sz="3600" b="1" i="1" spc="225" dirty="0">
                <a:solidFill>
                  <a:srgbClr val="E7181F"/>
                </a:solidFill>
                <a:latin typeface="Times New Roman"/>
                <a:cs typeface="Times New Roman"/>
              </a:rPr>
              <a:t>deployment</a:t>
            </a:r>
            <a:r>
              <a:rPr sz="3600" b="1" i="1" spc="-90" dirty="0">
                <a:solidFill>
                  <a:srgbClr val="E7181F"/>
                </a:solidFill>
                <a:latin typeface="Times New Roman"/>
                <a:cs typeface="Times New Roman"/>
              </a:rPr>
              <a:t> </a:t>
            </a:r>
            <a:r>
              <a:rPr sz="3600" b="1" i="1" spc="225" dirty="0">
                <a:solidFill>
                  <a:srgbClr val="E7181F"/>
                </a:solidFill>
                <a:latin typeface="Times New Roman"/>
                <a:cs typeface="Times New Roman"/>
              </a:rPr>
              <a:t>--</a:t>
            </a:r>
            <a:r>
              <a:rPr sz="3600" b="1" i="1" spc="145" dirty="0">
                <a:solidFill>
                  <a:srgbClr val="E7181F"/>
                </a:solidFill>
                <a:latin typeface="Times New Roman"/>
                <a:cs typeface="Times New Roman"/>
              </a:rPr>
              <a:t>replicas=5</a:t>
            </a:r>
            <a:endParaRPr sz="360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12700" rIns="0" bIns="0" rtlCol="0">
            <a:spAutoFit/>
          </a:bodyPr>
          <a:lstStyle/>
          <a:p>
            <a:pPr marL="146685">
              <a:lnSpc>
                <a:spcPct val="100000"/>
              </a:lnSpc>
              <a:spcBef>
                <a:spcPts val="100"/>
              </a:spcBef>
            </a:pPr>
            <a:r>
              <a:rPr spc="-10" dirty="0">
                <a:solidFill>
                  <a:srgbClr val="FF3131"/>
                </a:solidFill>
              </a:rPr>
              <a:t>PAUSE/UNPAUSE</a:t>
            </a:r>
            <a:r>
              <a:rPr spc="-200" dirty="0">
                <a:solidFill>
                  <a:srgbClr val="FF3131"/>
                </a:solidFill>
              </a:rPr>
              <a:t> </a:t>
            </a:r>
            <a:r>
              <a:rPr dirty="0">
                <a:solidFill>
                  <a:srgbClr val="FF3131"/>
                </a:solidFill>
              </a:rPr>
              <a:t>A</a:t>
            </a:r>
            <a:r>
              <a:rPr spc="-195" dirty="0">
                <a:solidFill>
                  <a:srgbClr val="FF3131"/>
                </a:solidFill>
              </a:rPr>
              <a:t> </a:t>
            </a:r>
            <a:r>
              <a:rPr spc="-270" dirty="0">
                <a:solidFill>
                  <a:srgbClr val="FF3131"/>
                </a:solidFill>
              </a:rPr>
              <a:t>DEPLOYMENT: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286" y="570269"/>
            <a:ext cx="16330930" cy="4336415"/>
          </a:xfrm>
          <a:prstGeom prst="rect">
            <a:avLst/>
          </a:prstGeom>
        </p:spPr>
        <p:txBody>
          <a:bodyPr vert="horz" wrap="square" lIns="0" tIns="329565" rIns="0" bIns="0" rtlCol="0">
            <a:spAutoFit/>
          </a:bodyPr>
          <a:lstStyle/>
          <a:p>
            <a:pPr marL="12700">
              <a:lnSpc>
                <a:spcPct val="100000"/>
              </a:lnSpc>
              <a:spcBef>
                <a:spcPts val="2595"/>
              </a:spcBef>
            </a:pPr>
            <a:r>
              <a:rPr spc="-260" dirty="0">
                <a:solidFill>
                  <a:srgbClr val="FF3131"/>
                </a:solidFill>
              </a:rPr>
              <a:t>KUBERNETES</a:t>
            </a:r>
            <a:r>
              <a:rPr spc="5" dirty="0">
                <a:solidFill>
                  <a:srgbClr val="FF3131"/>
                </a:solidFill>
              </a:rPr>
              <a:t> </a:t>
            </a:r>
            <a:r>
              <a:rPr spc="-35" dirty="0">
                <a:solidFill>
                  <a:srgbClr val="FF3131"/>
                </a:solidFill>
              </a:rPr>
              <a:t>AUTO-</a:t>
            </a:r>
            <a:r>
              <a:rPr spc="-80" dirty="0">
                <a:solidFill>
                  <a:srgbClr val="FF3131"/>
                </a:solidFill>
              </a:rPr>
              <a:t>SCALING:</a:t>
            </a:r>
          </a:p>
          <a:p>
            <a:pPr marL="309245" marR="5080">
              <a:lnSpc>
                <a:spcPct val="116100"/>
              </a:lnSpc>
              <a:spcBef>
                <a:spcPts val="1070"/>
              </a:spcBef>
            </a:pPr>
            <a:r>
              <a:rPr sz="3500" b="0" dirty="0">
                <a:solidFill>
                  <a:srgbClr val="2E377E"/>
                </a:solidFill>
                <a:latin typeface="Georgia"/>
                <a:cs typeface="Georgia"/>
              </a:rPr>
              <a:t>As</a:t>
            </a:r>
            <a:r>
              <a:rPr sz="3500" b="0" spc="-5" dirty="0">
                <a:solidFill>
                  <a:srgbClr val="2E377E"/>
                </a:solidFill>
                <a:latin typeface="Georgia"/>
                <a:cs typeface="Georgia"/>
              </a:rPr>
              <a:t> </a:t>
            </a:r>
            <a:r>
              <a:rPr sz="3500" b="0" spc="90" dirty="0">
                <a:solidFill>
                  <a:srgbClr val="2E377E"/>
                </a:solidFill>
                <a:latin typeface="Georgia"/>
                <a:cs typeface="Georgia"/>
              </a:rPr>
              <a:t>you</a:t>
            </a:r>
            <a:r>
              <a:rPr sz="3500" b="0" dirty="0">
                <a:solidFill>
                  <a:srgbClr val="2E377E"/>
                </a:solidFill>
                <a:latin typeface="Georgia"/>
                <a:cs typeface="Georgia"/>
              </a:rPr>
              <a:t> know, </a:t>
            </a:r>
            <a:r>
              <a:rPr sz="3500" b="0" spc="60" dirty="0">
                <a:solidFill>
                  <a:srgbClr val="2E377E"/>
                </a:solidFill>
                <a:latin typeface="Georgia"/>
                <a:cs typeface="Georgia"/>
              </a:rPr>
              <a:t>to</a:t>
            </a:r>
            <a:r>
              <a:rPr sz="3500" b="0" dirty="0">
                <a:solidFill>
                  <a:srgbClr val="2E377E"/>
                </a:solidFill>
                <a:latin typeface="Georgia"/>
                <a:cs typeface="Georgia"/>
              </a:rPr>
              <a:t> run </a:t>
            </a:r>
            <a:r>
              <a:rPr sz="3500" b="0" spc="60" dirty="0">
                <a:solidFill>
                  <a:srgbClr val="2E377E"/>
                </a:solidFill>
                <a:latin typeface="Georgia"/>
                <a:cs typeface="Georgia"/>
              </a:rPr>
              <a:t>the</a:t>
            </a:r>
            <a:r>
              <a:rPr sz="3500" b="0" dirty="0">
                <a:solidFill>
                  <a:srgbClr val="2E377E"/>
                </a:solidFill>
                <a:latin typeface="Georgia"/>
                <a:cs typeface="Georgia"/>
              </a:rPr>
              <a:t> application </a:t>
            </a:r>
            <a:r>
              <a:rPr sz="3500" b="0" spc="130" dirty="0">
                <a:solidFill>
                  <a:srgbClr val="2E377E"/>
                </a:solidFill>
                <a:latin typeface="Georgia"/>
                <a:cs typeface="Georgia"/>
              </a:rPr>
              <a:t>we</a:t>
            </a:r>
            <a:r>
              <a:rPr sz="3500" b="0" dirty="0">
                <a:solidFill>
                  <a:srgbClr val="2E377E"/>
                </a:solidFill>
                <a:latin typeface="Georgia"/>
                <a:cs typeface="Georgia"/>
              </a:rPr>
              <a:t> need</a:t>
            </a:r>
            <a:r>
              <a:rPr sz="3500" b="0" spc="-5" dirty="0">
                <a:solidFill>
                  <a:srgbClr val="2E377E"/>
                </a:solidFill>
                <a:latin typeface="Georgia"/>
                <a:cs typeface="Georgia"/>
              </a:rPr>
              <a:t> </a:t>
            </a:r>
            <a:r>
              <a:rPr sz="3500" b="0" spc="-40" dirty="0">
                <a:solidFill>
                  <a:srgbClr val="2E377E"/>
                </a:solidFill>
                <a:latin typeface="Georgia"/>
                <a:cs typeface="Georgia"/>
              </a:rPr>
              <a:t>CPU</a:t>
            </a:r>
            <a:r>
              <a:rPr sz="3500" b="0" dirty="0">
                <a:solidFill>
                  <a:srgbClr val="2E377E"/>
                </a:solidFill>
                <a:latin typeface="Georgia"/>
                <a:cs typeface="Georgia"/>
              </a:rPr>
              <a:t> and memory. </a:t>
            </a:r>
            <a:r>
              <a:rPr sz="3500" b="0" spc="-10" dirty="0">
                <a:solidFill>
                  <a:srgbClr val="2E377E"/>
                </a:solidFill>
                <a:latin typeface="Georgia"/>
                <a:cs typeface="Georgia"/>
              </a:rPr>
              <a:t>Sometimes,</a:t>
            </a:r>
            <a:r>
              <a:rPr sz="3500" b="0" spc="55" dirty="0">
                <a:solidFill>
                  <a:srgbClr val="2E377E"/>
                </a:solidFill>
                <a:latin typeface="Georgia"/>
                <a:cs typeface="Georgia"/>
              </a:rPr>
              <a:t> there</a:t>
            </a:r>
            <a:r>
              <a:rPr sz="3500" b="0" spc="-35" dirty="0">
                <a:solidFill>
                  <a:srgbClr val="2E377E"/>
                </a:solidFill>
                <a:latin typeface="Georgia"/>
                <a:cs typeface="Georgia"/>
              </a:rPr>
              <a:t> </a:t>
            </a:r>
            <a:r>
              <a:rPr sz="3500" b="0" spc="50" dirty="0">
                <a:solidFill>
                  <a:srgbClr val="2E377E"/>
                </a:solidFill>
                <a:latin typeface="Georgia"/>
                <a:cs typeface="Georgia"/>
              </a:rPr>
              <a:t>will</a:t>
            </a:r>
            <a:r>
              <a:rPr sz="3500" b="0" spc="-30" dirty="0">
                <a:solidFill>
                  <a:srgbClr val="2E377E"/>
                </a:solidFill>
                <a:latin typeface="Georgia"/>
                <a:cs typeface="Georgia"/>
              </a:rPr>
              <a:t> </a:t>
            </a:r>
            <a:r>
              <a:rPr sz="3500" b="0" dirty="0">
                <a:solidFill>
                  <a:srgbClr val="2E377E"/>
                </a:solidFill>
                <a:latin typeface="Georgia"/>
                <a:cs typeface="Georgia"/>
              </a:rPr>
              <a:t>be</a:t>
            </a:r>
            <a:r>
              <a:rPr sz="3500" b="0" spc="-35" dirty="0">
                <a:solidFill>
                  <a:srgbClr val="2E377E"/>
                </a:solidFill>
                <a:latin typeface="Georgia"/>
                <a:cs typeface="Georgia"/>
              </a:rPr>
              <a:t> </a:t>
            </a:r>
            <a:r>
              <a:rPr sz="3500" b="0" dirty="0">
                <a:solidFill>
                  <a:srgbClr val="2E377E"/>
                </a:solidFill>
                <a:latin typeface="Georgia"/>
                <a:cs typeface="Georgia"/>
              </a:rPr>
              <a:t>a</a:t>
            </a:r>
            <a:r>
              <a:rPr sz="3500" b="0" spc="-30" dirty="0">
                <a:solidFill>
                  <a:srgbClr val="2E377E"/>
                </a:solidFill>
                <a:latin typeface="Georgia"/>
                <a:cs typeface="Georgia"/>
              </a:rPr>
              <a:t> </a:t>
            </a:r>
            <a:r>
              <a:rPr sz="3500" b="0" dirty="0">
                <a:solidFill>
                  <a:srgbClr val="2E377E"/>
                </a:solidFill>
                <a:latin typeface="Georgia"/>
                <a:cs typeface="Georgia"/>
              </a:rPr>
              <a:t>chance</a:t>
            </a:r>
            <a:r>
              <a:rPr sz="3500" b="0" spc="-35" dirty="0">
                <a:solidFill>
                  <a:srgbClr val="2E377E"/>
                </a:solidFill>
                <a:latin typeface="Georgia"/>
                <a:cs typeface="Georgia"/>
              </a:rPr>
              <a:t> </a:t>
            </a:r>
            <a:r>
              <a:rPr sz="3500" b="0" spc="75" dirty="0">
                <a:solidFill>
                  <a:srgbClr val="2E377E"/>
                </a:solidFill>
                <a:latin typeface="Georgia"/>
                <a:cs typeface="Georgia"/>
              </a:rPr>
              <a:t>where</a:t>
            </a:r>
            <a:r>
              <a:rPr sz="3500" b="0" spc="-30" dirty="0">
                <a:solidFill>
                  <a:srgbClr val="2E377E"/>
                </a:solidFill>
                <a:latin typeface="Georgia"/>
                <a:cs typeface="Georgia"/>
              </a:rPr>
              <a:t> </a:t>
            </a:r>
            <a:r>
              <a:rPr sz="3500" b="0" spc="60" dirty="0">
                <a:solidFill>
                  <a:srgbClr val="2E377E"/>
                </a:solidFill>
                <a:latin typeface="Georgia"/>
                <a:cs typeface="Georgia"/>
              </a:rPr>
              <a:t>the</a:t>
            </a:r>
            <a:r>
              <a:rPr sz="3500" b="0" spc="-35" dirty="0">
                <a:solidFill>
                  <a:srgbClr val="2E377E"/>
                </a:solidFill>
                <a:latin typeface="Georgia"/>
                <a:cs typeface="Georgia"/>
              </a:rPr>
              <a:t> </a:t>
            </a:r>
            <a:r>
              <a:rPr sz="3500" b="0" spc="-40" dirty="0">
                <a:solidFill>
                  <a:srgbClr val="2E377E"/>
                </a:solidFill>
                <a:latin typeface="Georgia"/>
                <a:cs typeface="Georgia"/>
              </a:rPr>
              <a:t>CPU</a:t>
            </a:r>
            <a:r>
              <a:rPr sz="3500" b="0" spc="-30" dirty="0">
                <a:solidFill>
                  <a:srgbClr val="2E377E"/>
                </a:solidFill>
                <a:latin typeface="Georgia"/>
                <a:cs typeface="Georgia"/>
              </a:rPr>
              <a:t> </a:t>
            </a:r>
            <a:r>
              <a:rPr sz="3500" b="0" spc="55" dirty="0">
                <a:solidFill>
                  <a:srgbClr val="2E377E"/>
                </a:solidFill>
                <a:latin typeface="Georgia"/>
                <a:cs typeface="Georgia"/>
              </a:rPr>
              <a:t>gets</a:t>
            </a:r>
            <a:r>
              <a:rPr sz="3500" b="0" spc="-35" dirty="0">
                <a:solidFill>
                  <a:srgbClr val="2E377E"/>
                </a:solidFill>
                <a:latin typeface="Georgia"/>
                <a:cs typeface="Georgia"/>
              </a:rPr>
              <a:t> </a:t>
            </a:r>
            <a:r>
              <a:rPr sz="3500" b="0" dirty="0">
                <a:solidFill>
                  <a:srgbClr val="2E377E"/>
                </a:solidFill>
                <a:latin typeface="Georgia"/>
                <a:cs typeface="Georgia"/>
              </a:rPr>
              <a:t>loaded,</a:t>
            </a:r>
            <a:r>
              <a:rPr sz="3500" b="0" spc="-30" dirty="0">
                <a:solidFill>
                  <a:srgbClr val="2E377E"/>
                </a:solidFill>
                <a:latin typeface="Georgia"/>
                <a:cs typeface="Georgia"/>
              </a:rPr>
              <a:t> </a:t>
            </a:r>
            <a:r>
              <a:rPr sz="3500" b="0" dirty="0">
                <a:solidFill>
                  <a:srgbClr val="2E377E"/>
                </a:solidFill>
                <a:latin typeface="Georgia"/>
                <a:cs typeface="Georgia"/>
              </a:rPr>
              <a:t>and</a:t>
            </a:r>
            <a:r>
              <a:rPr sz="3500" b="0" spc="-35" dirty="0">
                <a:solidFill>
                  <a:srgbClr val="2E377E"/>
                </a:solidFill>
                <a:latin typeface="Georgia"/>
                <a:cs typeface="Georgia"/>
              </a:rPr>
              <a:t> </a:t>
            </a:r>
            <a:r>
              <a:rPr sz="3500" b="0" dirty="0">
                <a:solidFill>
                  <a:srgbClr val="2E377E"/>
                </a:solidFill>
                <a:latin typeface="Georgia"/>
                <a:cs typeface="Georgia"/>
              </a:rPr>
              <a:t>this</a:t>
            </a:r>
            <a:r>
              <a:rPr sz="3500" b="0" spc="-30" dirty="0">
                <a:solidFill>
                  <a:srgbClr val="2E377E"/>
                </a:solidFill>
                <a:latin typeface="Georgia"/>
                <a:cs typeface="Georgia"/>
              </a:rPr>
              <a:t> </a:t>
            </a:r>
            <a:r>
              <a:rPr sz="3500" b="0" dirty="0">
                <a:solidFill>
                  <a:srgbClr val="2E377E"/>
                </a:solidFill>
                <a:latin typeface="Georgia"/>
                <a:cs typeface="Georgia"/>
              </a:rPr>
              <a:t>might</a:t>
            </a:r>
            <a:r>
              <a:rPr sz="3500" b="0" spc="-35" dirty="0">
                <a:solidFill>
                  <a:srgbClr val="2E377E"/>
                </a:solidFill>
                <a:latin typeface="Georgia"/>
                <a:cs typeface="Georgia"/>
              </a:rPr>
              <a:t> </a:t>
            </a:r>
            <a:r>
              <a:rPr sz="3500" b="0" dirty="0">
                <a:solidFill>
                  <a:srgbClr val="2E377E"/>
                </a:solidFill>
                <a:latin typeface="Georgia"/>
                <a:cs typeface="Georgia"/>
              </a:rPr>
              <a:t>fail</a:t>
            </a:r>
            <a:r>
              <a:rPr sz="3500" b="0" spc="-30" dirty="0">
                <a:solidFill>
                  <a:srgbClr val="2E377E"/>
                </a:solidFill>
                <a:latin typeface="Georgia"/>
                <a:cs typeface="Georgia"/>
              </a:rPr>
              <a:t> </a:t>
            </a:r>
            <a:r>
              <a:rPr sz="3500" b="0" spc="60" dirty="0">
                <a:solidFill>
                  <a:srgbClr val="2E377E"/>
                </a:solidFill>
                <a:latin typeface="Georgia"/>
                <a:cs typeface="Georgia"/>
              </a:rPr>
              <a:t>the</a:t>
            </a:r>
            <a:r>
              <a:rPr sz="3500" b="0" spc="-30" dirty="0">
                <a:solidFill>
                  <a:srgbClr val="2E377E"/>
                </a:solidFill>
                <a:latin typeface="Georgia"/>
                <a:cs typeface="Georgia"/>
              </a:rPr>
              <a:t> </a:t>
            </a:r>
            <a:r>
              <a:rPr sz="3500" b="0" spc="55" dirty="0">
                <a:solidFill>
                  <a:srgbClr val="2E377E"/>
                </a:solidFill>
                <a:latin typeface="Georgia"/>
                <a:cs typeface="Georgia"/>
              </a:rPr>
              <a:t>server </a:t>
            </a:r>
            <a:r>
              <a:rPr sz="3500" b="0" dirty="0">
                <a:solidFill>
                  <a:srgbClr val="2E377E"/>
                </a:solidFill>
                <a:latin typeface="Georgia"/>
                <a:cs typeface="Georgia"/>
              </a:rPr>
              <a:t>or</a:t>
            </a:r>
            <a:r>
              <a:rPr sz="3500" b="0" spc="-20" dirty="0">
                <a:solidFill>
                  <a:srgbClr val="2E377E"/>
                </a:solidFill>
                <a:latin typeface="Georgia"/>
                <a:cs typeface="Georgia"/>
              </a:rPr>
              <a:t> </a:t>
            </a:r>
            <a:r>
              <a:rPr sz="3500" b="0" spc="50" dirty="0">
                <a:solidFill>
                  <a:srgbClr val="2E377E"/>
                </a:solidFill>
                <a:latin typeface="Georgia"/>
                <a:cs typeface="Georgia"/>
              </a:rPr>
              <a:t>affect</a:t>
            </a:r>
            <a:r>
              <a:rPr sz="3500" b="0" spc="-20" dirty="0">
                <a:solidFill>
                  <a:srgbClr val="2E377E"/>
                </a:solidFill>
                <a:latin typeface="Georgia"/>
                <a:cs typeface="Georgia"/>
              </a:rPr>
              <a:t> </a:t>
            </a:r>
            <a:r>
              <a:rPr sz="3500" b="0" spc="60" dirty="0">
                <a:solidFill>
                  <a:srgbClr val="2E377E"/>
                </a:solidFill>
                <a:latin typeface="Georgia"/>
                <a:cs typeface="Georgia"/>
              </a:rPr>
              <a:t>the</a:t>
            </a:r>
            <a:r>
              <a:rPr sz="3500" b="0" spc="-20" dirty="0">
                <a:solidFill>
                  <a:srgbClr val="2E377E"/>
                </a:solidFill>
                <a:latin typeface="Georgia"/>
                <a:cs typeface="Georgia"/>
              </a:rPr>
              <a:t> </a:t>
            </a:r>
            <a:r>
              <a:rPr sz="3500" b="0" dirty="0">
                <a:solidFill>
                  <a:srgbClr val="2E377E"/>
                </a:solidFill>
                <a:latin typeface="Georgia"/>
                <a:cs typeface="Georgia"/>
              </a:rPr>
              <a:t>application.</a:t>
            </a:r>
            <a:r>
              <a:rPr sz="3500" b="0" spc="-20" dirty="0">
                <a:solidFill>
                  <a:srgbClr val="2E377E"/>
                </a:solidFill>
                <a:latin typeface="Georgia"/>
                <a:cs typeface="Georgia"/>
              </a:rPr>
              <a:t> </a:t>
            </a:r>
            <a:r>
              <a:rPr sz="3500" b="0" dirty="0">
                <a:solidFill>
                  <a:srgbClr val="2E377E"/>
                </a:solidFill>
                <a:latin typeface="Georgia"/>
                <a:cs typeface="Georgia"/>
              </a:rPr>
              <a:t>Now,</a:t>
            </a:r>
            <a:r>
              <a:rPr sz="3500" b="0" spc="-20" dirty="0">
                <a:solidFill>
                  <a:srgbClr val="2E377E"/>
                </a:solidFill>
                <a:latin typeface="Georgia"/>
                <a:cs typeface="Georgia"/>
              </a:rPr>
              <a:t> </a:t>
            </a:r>
            <a:r>
              <a:rPr sz="3500" b="0" spc="130" dirty="0">
                <a:solidFill>
                  <a:srgbClr val="2E377E"/>
                </a:solidFill>
                <a:latin typeface="Georgia"/>
                <a:cs typeface="Georgia"/>
              </a:rPr>
              <a:t>we</a:t>
            </a:r>
            <a:r>
              <a:rPr sz="3500" b="0" spc="-20" dirty="0">
                <a:solidFill>
                  <a:srgbClr val="2E377E"/>
                </a:solidFill>
                <a:latin typeface="Georgia"/>
                <a:cs typeface="Georgia"/>
              </a:rPr>
              <a:t> </a:t>
            </a:r>
            <a:r>
              <a:rPr sz="3500" b="0" dirty="0">
                <a:solidFill>
                  <a:srgbClr val="2E377E"/>
                </a:solidFill>
                <a:latin typeface="Georgia"/>
                <a:cs typeface="Georgia"/>
              </a:rPr>
              <a:t>can’t</a:t>
            </a:r>
            <a:r>
              <a:rPr sz="3500" b="0" spc="-15" dirty="0">
                <a:solidFill>
                  <a:srgbClr val="2E377E"/>
                </a:solidFill>
                <a:latin typeface="Georgia"/>
                <a:cs typeface="Georgia"/>
              </a:rPr>
              <a:t> </a:t>
            </a:r>
            <a:r>
              <a:rPr sz="3500" b="0" dirty="0">
                <a:solidFill>
                  <a:srgbClr val="2E377E"/>
                </a:solidFill>
                <a:latin typeface="Georgia"/>
                <a:cs typeface="Georgia"/>
              </a:rPr>
              <a:t>afford</a:t>
            </a:r>
            <a:r>
              <a:rPr sz="3500" b="0" spc="-20" dirty="0">
                <a:solidFill>
                  <a:srgbClr val="2E377E"/>
                </a:solidFill>
                <a:latin typeface="Georgia"/>
                <a:cs typeface="Georgia"/>
              </a:rPr>
              <a:t> </a:t>
            </a:r>
            <a:r>
              <a:rPr sz="3500" b="0" spc="60" dirty="0">
                <a:solidFill>
                  <a:srgbClr val="2E377E"/>
                </a:solidFill>
                <a:latin typeface="Georgia"/>
                <a:cs typeface="Georgia"/>
              </a:rPr>
              <a:t>the</a:t>
            </a:r>
            <a:r>
              <a:rPr sz="3500" b="0" spc="-20" dirty="0">
                <a:solidFill>
                  <a:srgbClr val="2E377E"/>
                </a:solidFill>
                <a:latin typeface="Georgia"/>
                <a:cs typeface="Georgia"/>
              </a:rPr>
              <a:t> </a:t>
            </a:r>
            <a:r>
              <a:rPr sz="3500" b="0" spc="50" dirty="0">
                <a:solidFill>
                  <a:srgbClr val="2E377E"/>
                </a:solidFill>
                <a:latin typeface="Georgia"/>
                <a:cs typeface="Georgia"/>
              </a:rPr>
              <a:t>downtime</a:t>
            </a:r>
            <a:r>
              <a:rPr sz="3500" b="0" spc="-20" dirty="0">
                <a:solidFill>
                  <a:srgbClr val="2E377E"/>
                </a:solidFill>
                <a:latin typeface="Georgia"/>
                <a:cs typeface="Georgia"/>
              </a:rPr>
              <a:t> </a:t>
            </a:r>
            <a:r>
              <a:rPr sz="3500" b="0" dirty="0">
                <a:solidFill>
                  <a:srgbClr val="2E377E"/>
                </a:solidFill>
                <a:latin typeface="Georgia"/>
                <a:cs typeface="Georgia"/>
              </a:rPr>
              <a:t>of</a:t>
            </a:r>
            <a:r>
              <a:rPr sz="3500" b="0" spc="-20" dirty="0">
                <a:solidFill>
                  <a:srgbClr val="2E377E"/>
                </a:solidFill>
                <a:latin typeface="Georgia"/>
                <a:cs typeface="Georgia"/>
              </a:rPr>
              <a:t> </a:t>
            </a:r>
            <a:r>
              <a:rPr sz="3500" b="0" spc="60" dirty="0">
                <a:solidFill>
                  <a:srgbClr val="2E377E"/>
                </a:solidFill>
                <a:latin typeface="Georgia"/>
                <a:cs typeface="Georgia"/>
              </a:rPr>
              <a:t>the</a:t>
            </a:r>
            <a:r>
              <a:rPr sz="3500" b="0" spc="-20" dirty="0">
                <a:solidFill>
                  <a:srgbClr val="2E377E"/>
                </a:solidFill>
                <a:latin typeface="Georgia"/>
                <a:cs typeface="Georgia"/>
              </a:rPr>
              <a:t> </a:t>
            </a:r>
            <a:r>
              <a:rPr sz="3500" b="0" spc="-10" dirty="0">
                <a:solidFill>
                  <a:srgbClr val="2E377E"/>
                </a:solidFill>
                <a:latin typeface="Georgia"/>
                <a:cs typeface="Georgia"/>
              </a:rPr>
              <a:t>applications. </a:t>
            </a:r>
            <a:r>
              <a:rPr sz="3500" b="0" dirty="0">
                <a:solidFill>
                  <a:srgbClr val="2E377E"/>
                </a:solidFill>
                <a:latin typeface="Georgia"/>
                <a:cs typeface="Georgia"/>
              </a:rPr>
              <a:t>To</a:t>
            </a:r>
            <a:r>
              <a:rPr sz="3500" b="0" spc="15" dirty="0">
                <a:solidFill>
                  <a:srgbClr val="2E377E"/>
                </a:solidFill>
                <a:latin typeface="Georgia"/>
                <a:cs typeface="Georgia"/>
              </a:rPr>
              <a:t> </a:t>
            </a:r>
            <a:r>
              <a:rPr sz="3500" b="0" dirty="0">
                <a:solidFill>
                  <a:srgbClr val="2E377E"/>
                </a:solidFill>
                <a:latin typeface="Georgia"/>
                <a:cs typeface="Georgia"/>
              </a:rPr>
              <a:t>avoid</a:t>
            </a:r>
            <a:r>
              <a:rPr sz="3500" b="0" spc="15" dirty="0">
                <a:solidFill>
                  <a:srgbClr val="2E377E"/>
                </a:solidFill>
                <a:latin typeface="Georgia"/>
                <a:cs typeface="Georgia"/>
              </a:rPr>
              <a:t> </a:t>
            </a:r>
            <a:r>
              <a:rPr sz="3500" b="0" dirty="0">
                <a:solidFill>
                  <a:srgbClr val="2E377E"/>
                </a:solidFill>
                <a:latin typeface="Georgia"/>
                <a:cs typeface="Georgia"/>
              </a:rPr>
              <a:t>this,</a:t>
            </a:r>
            <a:r>
              <a:rPr sz="3500" b="0" spc="20" dirty="0">
                <a:solidFill>
                  <a:srgbClr val="2E377E"/>
                </a:solidFill>
                <a:latin typeface="Georgia"/>
                <a:cs typeface="Georgia"/>
              </a:rPr>
              <a:t> </a:t>
            </a:r>
            <a:r>
              <a:rPr sz="3500" b="0" spc="130" dirty="0">
                <a:solidFill>
                  <a:srgbClr val="2E377E"/>
                </a:solidFill>
                <a:latin typeface="Georgia"/>
                <a:cs typeface="Georgia"/>
              </a:rPr>
              <a:t>we</a:t>
            </a:r>
            <a:r>
              <a:rPr sz="3500" b="0" spc="15" dirty="0">
                <a:solidFill>
                  <a:srgbClr val="2E377E"/>
                </a:solidFill>
                <a:latin typeface="Georgia"/>
                <a:cs typeface="Georgia"/>
              </a:rPr>
              <a:t> </a:t>
            </a:r>
            <a:r>
              <a:rPr sz="3500" b="0" dirty="0">
                <a:solidFill>
                  <a:srgbClr val="2E377E"/>
                </a:solidFill>
                <a:latin typeface="Georgia"/>
                <a:cs typeface="Georgia"/>
              </a:rPr>
              <a:t>need</a:t>
            </a:r>
            <a:r>
              <a:rPr sz="3500" b="0" spc="20" dirty="0">
                <a:solidFill>
                  <a:srgbClr val="2E377E"/>
                </a:solidFill>
                <a:latin typeface="Georgia"/>
                <a:cs typeface="Georgia"/>
              </a:rPr>
              <a:t> </a:t>
            </a:r>
            <a:r>
              <a:rPr sz="3500" b="0" spc="60" dirty="0">
                <a:solidFill>
                  <a:srgbClr val="2E377E"/>
                </a:solidFill>
                <a:latin typeface="Georgia"/>
                <a:cs typeface="Georgia"/>
              </a:rPr>
              <a:t>to</a:t>
            </a:r>
            <a:r>
              <a:rPr sz="3500" b="0" spc="15" dirty="0">
                <a:solidFill>
                  <a:srgbClr val="2E377E"/>
                </a:solidFill>
                <a:latin typeface="Georgia"/>
                <a:cs typeface="Georgia"/>
              </a:rPr>
              <a:t> </a:t>
            </a:r>
            <a:r>
              <a:rPr sz="3500" b="0" dirty="0">
                <a:solidFill>
                  <a:srgbClr val="2E377E"/>
                </a:solidFill>
                <a:latin typeface="Georgia"/>
                <a:cs typeface="Georgia"/>
              </a:rPr>
              <a:t>increase</a:t>
            </a:r>
            <a:r>
              <a:rPr sz="3500" b="0" spc="15" dirty="0">
                <a:solidFill>
                  <a:srgbClr val="2E377E"/>
                </a:solidFill>
                <a:latin typeface="Georgia"/>
                <a:cs typeface="Georgia"/>
              </a:rPr>
              <a:t> </a:t>
            </a:r>
            <a:r>
              <a:rPr sz="3500" b="0" spc="60" dirty="0">
                <a:solidFill>
                  <a:srgbClr val="2E377E"/>
                </a:solidFill>
                <a:latin typeface="Georgia"/>
                <a:cs typeface="Georgia"/>
              </a:rPr>
              <a:t>the</a:t>
            </a:r>
            <a:r>
              <a:rPr sz="3500" b="0" spc="20" dirty="0">
                <a:solidFill>
                  <a:srgbClr val="2E377E"/>
                </a:solidFill>
                <a:latin typeface="Georgia"/>
                <a:cs typeface="Georgia"/>
              </a:rPr>
              <a:t> </a:t>
            </a:r>
            <a:r>
              <a:rPr sz="3500" b="0" dirty="0">
                <a:solidFill>
                  <a:srgbClr val="2E377E"/>
                </a:solidFill>
                <a:latin typeface="Georgia"/>
                <a:cs typeface="Georgia"/>
              </a:rPr>
              <a:t>number</a:t>
            </a:r>
            <a:r>
              <a:rPr sz="3500" b="0" spc="15" dirty="0">
                <a:solidFill>
                  <a:srgbClr val="2E377E"/>
                </a:solidFill>
                <a:latin typeface="Georgia"/>
                <a:cs typeface="Georgia"/>
              </a:rPr>
              <a:t> </a:t>
            </a:r>
            <a:r>
              <a:rPr sz="3500" b="0" dirty="0">
                <a:solidFill>
                  <a:srgbClr val="2E377E"/>
                </a:solidFill>
                <a:latin typeface="Georgia"/>
                <a:cs typeface="Georgia"/>
              </a:rPr>
              <a:t>of</a:t>
            </a:r>
            <a:r>
              <a:rPr sz="3500" b="0" spc="20" dirty="0">
                <a:solidFill>
                  <a:srgbClr val="2E377E"/>
                </a:solidFill>
                <a:latin typeface="Georgia"/>
                <a:cs typeface="Georgia"/>
              </a:rPr>
              <a:t> </a:t>
            </a:r>
            <a:r>
              <a:rPr sz="3500" b="0" spc="60" dirty="0">
                <a:solidFill>
                  <a:srgbClr val="2E377E"/>
                </a:solidFill>
                <a:latin typeface="Georgia"/>
                <a:cs typeface="Georgia"/>
              </a:rPr>
              <a:t>servers</a:t>
            </a:r>
            <a:r>
              <a:rPr sz="3500" b="0" spc="15" dirty="0">
                <a:solidFill>
                  <a:srgbClr val="2E377E"/>
                </a:solidFill>
                <a:latin typeface="Georgia"/>
                <a:cs typeface="Georgia"/>
              </a:rPr>
              <a:t> </a:t>
            </a:r>
            <a:r>
              <a:rPr sz="3500" b="0" dirty="0">
                <a:solidFill>
                  <a:srgbClr val="2E377E"/>
                </a:solidFill>
                <a:latin typeface="Georgia"/>
                <a:cs typeface="Georgia"/>
              </a:rPr>
              <a:t>or</a:t>
            </a:r>
            <a:r>
              <a:rPr sz="3500" b="0" spc="15" dirty="0">
                <a:solidFill>
                  <a:srgbClr val="2E377E"/>
                </a:solidFill>
                <a:latin typeface="Georgia"/>
                <a:cs typeface="Georgia"/>
              </a:rPr>
              <a:t> </a:t>
            </a:r>
            <a:r>
              <a:rPr sz="3500" b="0" dirty="0">
                <a:solidFill>
                  <a:srgbClr val="2E377E"/>
                </a:solidFill>
                <a:latin typeface="Georgia"/>
                <a:cs typeface="Georgia"/>
              </a:rPr>
              <a:t>increase</a:t>
            </a:r>
            <a:r>
              <a:rPr sz="3500" b="0" spc="20" dirty="0">
                <a:solidFill>
                  <a:srgbClr val="2E377E"/>
                </a:solidFill>
                <a:latin typeface="Georgia"/>
                <a:cs typeface="Georgia"/>
              </a:rPr>
              <a:t> </a:t>
            </a:r>
            <a:r>
              <a:rPr sz="3500" b="0" spc="60" dirty="0">
                <a:solidFill>
                  <a:srgbClr val="2E377E"/>
                </a:solidFill>
                <a:latin typeface="Georgia"/>
                <a:cs typeface="Georgia"/>
              </a:rPr>
              <a:t>the</a:t>
            </a:r>
            <a:r>
              <a:rPr sz="3500" b="0" spc="15" dirty="0">
                <a:solidFill>
                  <a:srgbClr val="2E377E"/>
                </a:solidFill>
                <a:latin typeface="Georgia"/>
                <a:cs typeface="Georgia"/>
              </a:rPr>
              <a:t> </a:t>
            </a:r>
            <a:r>
              <a:rPr sz="3500" b="0" spc="40" dirty="0">
                <a:solidFill>
                  <a:srgbClr val="2E377E"/>
                </a:solidFill>
                <a:latin typeface="Georgia"/>
                <a:cs typeface="Georgia"/>
              </a:rPr>
              <a:t>capacity </a:t>
            </a:r>
            <a:r>
              <a:rPr sz="3500" b="0" dirty="0">
                <a:solidFill>
                  <a:srgbClr val="2E377E"/>
                </a:solidFill>
                <a:latin typeface="Georgia"/>
                <a:cs typeface="Georgia"/>
              </a:rPr>
              <a:t>of</a:t>
            </a:r>
            <a:r>
              <a:rPr sz="3500" b="0" spc="5" dirty="0">
                <a:solidFill>
                  <a:srgbClr val="2E377E"/>
                </a:solidFill>
                <a:latin typeface="Georgia"/>
                <a:cs typeface="Georgia"/>
              </a:rPr>
              <a:t> </a:t>
            </a:r>
            <a:r>
              <a:rPr sz="3500" b="0" spc="-10" dirty="0">
                <a:solidFill>
                  <a:srgbClr val="2E377E"/>
                </a:solidFill>
                <a:latin typeface="Georgia"/>
                <a:cs typeface="Georgia"/>
              </a:rPr>
              <a:t>servers.</a:t>
            </a:r>
            <a:endParaRPr sz="3500">
              <a:latin typeface="Georgia"/>
              <a:cs typeface="Georgia"/>
            </a:endParaRPr>
          </a:p>
        </p:txBody>
      </p:sp>
      <p:sp>
        <p:nvSpPr>
          <p:cNvPr id="3" name="object 3"/>
          <p:cNvSpPr txBox="1"/>
          <p:nvPr/>
        </p:nvSpPr>
        <p:spPr>
          <a:xfrm>
            <a:off x="719286" y="5601292"/>
            <a:ext cx="16394430" cy="3833495"/>
          </a:xfrm>
          <a:prstGeom prst="rect">
            <a:avLst/>
          </a:prstGeom>
        </p:spPr>
        <p:txBody>
          <a:bodyPr vert="horz" wrap="square" lIns="0" tIns="12700" rIns="0" bIns="0" rtlCol="0">
            <a:spAutoFit/>
          </a:bodyPr>
          <a:lstStyle/>
          <a:p>
            <a:pPr marL="12700">
              <a:lnSpc>
                <a:spcPct val="100000"/>
              </a:lnSpc>
              <a:spcBef>
                <a:spcPts val="100"/>
              </a:spcBef>
            </a:pPr>
            <a:r>
              <a:rPr sz="3000" dirty="0">
                <a:solidFill>
                  <a:srgbClr val="2E377E"/>
                </a:solidFill>
                <a:latin typeface="Times New Roman"/>
                <a:cs typeface="Times New Roman"/>
              </a:rPr>
              <a:t>Let’s</a:t>
            </a:r>
            <a:r>
              <a:rPr sz="3000" spc="-30" dirty="0">
                <a:solidFill>
                  <a:srgbClr val="2E377E"/>
                </a:solidFill>
                <a:latin typeface="Times New Roman"/>
                <a:cs typeface="Times New Roman"/>
              </a:rPr>
              <a:t> </a:t>
            </a:r>
            <a:r>
              <a:rPr sz="3000" spc="235" dirty="0">
                <a:solidFill>
                  <a:srgbClr val="2E377E"/>
                </a:solidFill>
                <a:latin typeface="Times New Roman"/>
                <a:cs typeface="Times New Roman"/>
              </a:rPr>
              <a:t>understand</a:t>
            </a:r>
            <a:r>
              <a:rPr sz="3000" spc="-30" dirty="0">
                <a:solidFill>
                  <a:srgbClr val="2E377E"/>
                </a:solidFill>
                <a:latin typeface="Times New Roman"/>
                <a:cs typeface="Times New Roman"/>
              </a:rPr>
              <a:t> </a:t>
            </a:r>
            <a:r>
              <a:rPr sz="3000" spc="200" dirty="0">
                <a:solidFill>
                  <a:srgbClr val="2E377E"/>
                </a:solidFill>
                <a:latin typeface="Times New Roman"/>
                <a:cs typeface="Times New Roman"/>
              </a:rPr>
              <a:t>with</a:t>
            </a:r>
            <a:r>
              <a:rPr sz="3000" spc="-30" dirty="0">
                <a:solidFill>
                  <a:srgbClr val="2E377E"/>
                </a:solidFill>
                <a:latin typeface="Times New Roman"/>
                <a:cs typeface="Times New Roman"/>
              </a:rPr>
              <a:t> </a:t>
            </a:r>
            <a:r>
              <a:rPr sz="3000" spc="160" dirty="0">
                <a:solidFill>
                  <a:srgbClr val="2E377E"/>
                </a:solidFill>
                <a:latin typeface="Times New Roman"/>
                <a:cs typeface="Times New Roman"/>
              </a:rPr>
              <a:t>a</a:t>
            </a:r>
            <a:r>
              <a:rPr sz="3000" spc="-30" dirty="0">
                <a:solidFill>
                  <a:srgbClr val="2E377E"/>
                </a:solidFill>
                <a:latin typeface="Times New Roman"/>
                <a:cs typeface="Times New Roman"/>
              </a:rPr>
              <a:t> </a:t>
            </a:r>
            <a:r>
              <a:rPr sz="3000" spc="145" dirty="0">
                <a:solidFill>
                  <a:srgbClr val="2E377E"/>
                </a:solidFill>
                <a:latin typeface="Times New Roman"/>
                <a:cs typeface="Times New Roman"/>
              </a:rPr>
              <a:t>real-</a:t>
            </a:r>
            <a:r>
              <a:rPr sz="3000" spc="204" dirty="0">
                <a:solidFill>
                  <a:srgbClr val="2E377E"/>
                </a:solidFill>
                <a:latin typeface="Times New Roman"/>
                <a:cs typeface="Times New Roman"/>
              </a:rPr>
              <a:t>time</a:t>
            </a:r>
            <a:r>
              <a:rPr sz="3000" spc="-30" dirty="0">
                <a:solidFill>
                  <a:srgbClr val="2E377E"/>
                </a:solidFill>
                <a:latin typeface="Times New Roman"/>
                <a:cs typeface="Times New Roman"/>
              </a:rPr>
              <a:t> </a:t>
            </a:r>
            <a:r>
              <a:rPr sz="3000" spc="125" dirty="0">
                <a:solidFill>
                  <a:srgbClr val="2E377E"/>
                </a:solidFill>
                <a:latin typeface="Times New Roman"/>
                <a:cs typeface="Times New Roman"/>
              </a:rPr>
              <a:t>example:</a:t>
            </a:r>
            <a:endParaRPr sz="3000">
              <a:latin typeface="Times New Roman"/>
              <a:cs typeface="Times New Roman"/>
            </a:endParaRPr>
          </a:p>
          <a:p>
            <a:pPr marL="309245" marR="5080">
              <a:lnSpc>
                <a:spcPct val="116100"/>
              </a:lnSpc>
              <a:spcBef>
                <a:spcPts val="2005"/>
              </a:spcBef>
            </a:pPr>
            <a:r>
              <a:rPr sz="3500" spc="-80" dirty="0">
                <a:solidFill>
                  <a:srgbClr val="2E377E"/>
                </a:solidFill>
                <a:latin typeface="Georgia"/>
                <a:cs typeface="Georgia"/>
              </a:rPr>
              <a:t>Just</a:t>
            </a:r>
            <a:r>
              <a:rPr sz="3500" spc="-15" dirty="0">
                <a:solidFill>
                  <a:srgbClr val="2E377E"/>
                </a:solidFill>
                <a:latin typeface="Georgia"/>
                <a:cs typeface="Georgia"/>
              </a:rPr>
              <a:t> </a:t>
            </a:r>
            <a:r>
              <a:rPr sz="3500" spc="55" dirty="0">
                <a:solidFill>
                  <a:srgbClr val="2E377E"/>
                </a:solidFill>
                <a:latin typeface="Georgia"/>
                <a:cs typeface="Georgia"/>
              </a:rPr>
              <a:t>take</a:t>
            </a:r>
            <a:r>
              <a:rPr sz="3500" spc="-10" dirty="0">
                <a:solidFill>
                  <a:srgbClr val="2E377E"/>
                </a:solidFill>
                <a:latin typeface="Georgia"/>
                <a:cs typeface="Georgia"/>
              </a:rPr>
              <a:t> </a:t>
            </a:r>
            <a:r>
              <a:rPr sz="3500" dirty="0">
                <a:solidFill>
                  <a:srgbClr val="2E377E"/>
                </a:solidFill>
                <a:latin typeface="Georgia"/>
                <a:cs typeface="Georgia"/>
              </a:rPr>
              <a:t>an</a:t>
            </a:r>
            <a:r>
              <a:rPr sz="3500" spc="-10" dirty="0">
                <a:solidFill>
                  <a:srgbClr val="2E377E"/>
                </a:solidFill>
                <a:latin typeface="Georgia"/>
                <a:cs typeface="Georgia"/>
              </a:rPr>
              <a:t> </a:t>
            </a:r>
            <a:r>
              <a:rPr sz="3500" dirty="0">
                <a:solidFill>
                  <a:srgbClr val="2E377E"/>
                </a:solidFill>
                <a:latin typeface="Georgia"/>
                <a:cs typeface="Georgia"/>
              </a:rPr>
              <a:t>example</a:t>
            </a:r>
            <a:r>
              <a:rPr sz="3500" spc="-15" dirty="0">
                <a:solidFill>
                  <a:srgbClr val="2E377E"/>
                </a:solidFill>
                <a:latin typeface="Georgia"/>
                <a:cs typeface="Georgia"/>
              </a:rPr>
              <a:t> </a:t>
            </a:r>
            <a:r>
              <a:rPr sz="3500" spc="130" dirty="0">
                <a:solidFill>
                  <a:srgbClr val="2E377E"/>
                </a:solidFill>
                <a:latin typeface="Georgia"/>
                <a:cs typeface="Georgia"/>
              </a:rPr>
              <a:t>we</a:t>
            </a:r>
            <a:r>
              <a:rPr sz="3500" spc="-10" dirty="0">
                <a:solidFill>
                  <a:srgbClr val="2E377E"/>
                </a:solidFill>
                <a:latin typeface="Georgia"/>
                <a:cs typeface="Georgia"/>
              </a:rPr>
              <a:t> </a:t>
            </a:r>
            <a:r>
              <a:rPr sz="3500" spc="55" dirty="0">
                <a:solidFill>
                  <a:srgbClr val="2E377E"/>
                </a:solidFill>
                <a:latin typeface="Georgia"/>
                <a:cs typeface="Georgia"/>
              </a:rPr>
              <a:t>have</a:t>
            </a:r>
            <a:r>
              <a:rPr sz="3500" spc="-10" dirty="0">
                <a:solidFill>
                  <a:srgbClr val="2E377E"/>
                </a:solidFill>
                <a:latin typeface="Georgia"/>
                <a:cs typeface="Georgia"/>
              </a:rPr>
              <a:t> </a:t>
            </a:r>
            <a:r>
              <a:rPr sz="3500" dirty="0">
                <a:solidFill>
                  <a:srgbClr val="2E377E"/>
                </a:solidFill>
                <a:latin typeface="Georgia"/>
                <a:cs typeface="Georgia"/>
              </a:rPr>
              <a:t>some</a:t>
            </a:r>
            <a:r>
              <a:rPr sz="3500" spc="-15" dirty="0">
                <a:solidFill>
                  <a:srgbClr val="2E377E"/>
                </a:solidFill>
                <a:latin typeface="Georgia"/>
                <a:cs typeface="Georgia"/>
              </a:rPr>
              <a:t> </a:t>
            </a:r>
            <a:r>
              <a:rPr sz="3500" spc="-30" dirty="0">
                <a:solidFill>
                  <a:srgbClr val="2E377E"/>
                </a:solidFill>
                <a:latin typeface="Georgia"/>
                <a:cs typeface="Georgia"/>
              </a:rPr>
              <a:t>OTT</a:t>
            </a:r>
            <a:r>
              <a:rPr sz="3500" spc="-10" dirty="0">
                <a:solidFill>
                  <a:srgbClr val="2E377E"/>
                </a:solidFill>
                <a:latin typeface="Georgia"/>
                <a:cs typeface="Georgia"/>
              </a:rPr>
              <a:t> </a:t>
            </a:r>
            <a:r>
              <a:rPr sz="3500" dirty="0">
                <a:solidFill>
                  <a:srgbClr val="2E377E"/>
                </a:solidFill>
                <a:latin typeface="Georgia"/>
                <a:cs typeface="Georgia"/>
              </a:rPr>
              <a:t>platforms</a:t>
            </a:r>
            <a:r>
              <a:rPr sz="3500" spc="-10" dirty="0">
                <a:solidFill>
                  <a:srgbClr val="2E377E"/>
                </a:solidFill>
                <a:latin typeface="Georgia"/>
                <a:cs typeface="Georgia"/>
              </a:rPr>
              <a:t> </a:t>
            </a:r>
            <a:r>
              <a:rPr sz="3500" dirty="0">
                <a:solidFill>
                  <a:srgbClr val="2E377E"/>
                </a:solidFill>
                <a:latin typeface="Georgia"/>
                <a:cs typeface="Georgia"/>
              </a:rPr>
              <a:t>like</a:t>
            </a:r>
            <a:r>
              <a:rPr sz="3500" spc="-10" dirty="0">
                <a:solidFill>
                  <a:srgbClr val="2E377E"/>
                </a:solidFill>
                <a:latin typeface="Georgia"/>
                <a:cs typeface="Georgia"/>
              </a:rPr>
              <a:t> </a:t>
            </a:r>
            <a:r>
              <a:rPr sz="3500" dirty="0">
                <a:solidFill>
                  <a:srgbClr val="2E377E"/>
                </a:solidFill>
                <a:latin typeface="Georgia"/>
                <a:cs typeface="Georgia"/>
              </a:rPr>
              <a:t>Netflix,</a:t>
            </a:r>
            <a:r>
              <a:rPr sz="3500" spc="-15" dirty="0">
                <a:solidFill>
                  <a:srgbClr val="2E377E"/>
                </a:solidFill>
                <a:latin typeface="Georgia"/>
                <a:cs typeface="Georgia"/>
              </a:rPr>
              <a:t> </a:t>
            </a:r>
            <a:r>
              <a:rPr sz="3500" dirty="0">
                <a:solidFill>
                  <a:srgbClr val="2E377E"/>
                </a:solidFill>
                <a:latin typeface="Georgia"/>
                <a:cs typeface="Georgia"/>
              </a:rPr>
              <a:t>Prime,</a:t>
            </a:r>
            <a:r>
              <a:rPr sz="3500" spc="-10" dirty="0">
                <a:solidFill>
                  <a:srgbClr val="2E377E"/>
                </a:solidFill>
                <a:latin typeface="Georgia"/>
                <a:cs typeface="Georgia"/>
              </a:rPr>
              <a:t> </a:t>
            </a:r>
            <a:r>
              <a:rPr sz="3500" dirty="0">
                <a:solidFill>
                  <a:srgbClr val="2E377E"/>
                </a:solidFill>
                <a:latin typeface="Georgia"/>
                <a:cs typeface="Georgia"/>
              </a:rPr>
              <a:t>Aha</a:t>
            </a:r>
            <a:r>
              <a:rPr sz="3500" spc="-10" dirty="0">
                <a:solidFill>
                  <a:srgbClr val="2E377E"/>
                </a:solidFill>
                <a:latin typeface="Georgia"/>
                <a:cs typeface="Georgia"/>
              </a:rPr>
              <a:t> </a:t>
            </a:r>
            <a:r>
              <a:rPr sz="3500" spc="620" dirty="0">
                <a:solidFill>
                  <a:srgbClr val="2E377E"/>
                </a:solidFill>
                <a:latin typeface="Georgia"/>
                <a:cs typeface="Georgia"/>
              </a:rPr>
              <a:t>&amp; </a:t>
            </a:r>
            <a:r>
              <a:rPr sz="3500" dirty="0">
                <a:solidFill>
                  <a:srgbClr val="2E377E"/>
                </a:solidFill>
                <a:latin typeface="Georgia"/>
                <a:cs typeface="Georgia"/>
              </a:rPr>
              <a:t>Hotstar.</a:t>
            </a:r>
            <a:r>
              <a:rPr sz="3500" spc="-15" dirty="0">
                <a:solidFill>
                  <a:srgbClr val="2E377E"/>
                </a:solidFill>
                <a:latin typeface="Georgia"/>
                <a:cs typeface="Georgia"/>
              </a:rPr>
              <a:t> </a:t>
            </a:r>
            <a:r>
              <a:rPr sz="3500" dirty="0">
                <a:solidFill>
                  <a:srgbClr val="2E377E"/>
                </a:solidFill>
                <a:latin typeface="Georgia"/>
                <a:cs typeface="Georgia"/>
              </a:rPr>
              <a:t>If</a:t>
            </a:r>
            <a:r>
              <a:rPr sz="3500" spc="-15" dirty="0">
                <a:solidFill>
                  <a:srgbClr val="2E377E"/>
                </a:solidFill>
                <a:latin typeface="Georgia"/>
                <a:cs typeface="Georgia"/>
              </a:rPr>
              <a:t> </a:t>
            </a:r>
            <a:r>
              <a:rPr sz="3500" spc="65" dirty="0">
                <a:solidFill>
                  <a:srgbClr val="2E377E"/>
                </a:solidFill>
                <a:latin typeface="Georgia"/>
                <a:cs typeface="Georgia"/>
              </a:rPr>
              <a:t>any</a:t>
            </a:r>
            <a:r>
              <a:rPr sz="3500" spc="-15" dirty="0">
                <a:solidFill>
                  <a:srgbClr val="2E377E"/>
                </a:solidFill>
                <a:latin typeface="Georgia"/>
                <a:cs typeface="Georgia"/>
              </a:rPr>
              <a:t> </a:t>
            </a:r>
            <a:r>
              <a:rPr sz="3500" spc="85" dirty="0">
                <a:solidFill>
                  <a:srgbClr val="2E377E"/>
                </a:solidFill>
                <a:latin typeface="Georgia"/>
                <a:cs typeface="Georgia"/>
              </a:rPr>
              <a:t>web</a:t>
            </a:r>
            <a:r>
              <a:rPr sz="3500" spc="-15" dirty="0">
                <a:solidFill>
                  <a:srgbClr val="2E377E"/>
                </a:solidFill>
                <a:latin typeface="Georgia"/>
                <a:cs typeface="Georgia"/>
              </a:rPr>
              <a:t> </a:t>
            </a:r>
            <a:r>
              <a:rPr sz="3500" spc="65" dirty="0">
                <a:solidFill>
                  <a:srgbClr val="2E377E"/>
                </a:solidFill>
                <a:latin typeface="Georgia"/>
                <a:cs typeface="Georgia"/>
              </a:rPr>
              <a:t>show</a:t>
            </a:r>
            <a:r>
              <a:rPr sz="3500" spc="-15" dirty="0">
                <a:solidFill>
                  <a:srgbClr val="2E377E"/>
                </a:solidFill>
                <a:latin typeface="Georgia"/>
                <a:cs typeface="Georgia"/>
              </a:rPr>
              <a:t> </a:t>
            </a:r>
            <a:r>
              <a:rPr sz="3500" dirty="0">
                <a:solidFill>
                  <a:srgbClr val="2E377E"/>
                </a:solidFill>
                <a:latin typeface="Georgia"/>
                <a:cs typeface="Georgia"/>
              </a:rPr>
              <a:t>or</a:t>
            </a:r>
            <a:r>
              <a:rPr sz="3500" spc="-15" dirty="0">
                <a:solidFill>
                  <a:srgbClr val="2E377E"/>
                </a:solidFill>
                <a:latin typeface="Georgia"/>
                <a:cs typeface="Georgia"/>
              </a:rPr>
              <a:t> </a:t>
            </a:r>
            <a:r>
              <a:rPr sz="3500" spc="55" dirty="0">
                <a:solidFill>
                  <a:srgbClr val="2E377E"/>
                </a:solidFill>
                <a:latin typeface="Georgia"/>
                <a:cs typeface="Georgia"/>
              </a:rPr>
              <a:t>movie</a:t>
            </a:r>
            <a:r>
              <a:rPr sz="3500" spc="-15" dirty="0">
                <a:solidFill>
                  <a:srgbClr val="2E377E"/>
                </a:solidFill>
                <a:latin typeface="Georgia"/>
                <a:cs typeface="Georgia"/>
              </a:rPr>
              <a:t> </a:t>
            </a:r>
            <a:r>
              <a:rPr sz="3500" dirty="0">
                <a:solidFill>
                  <a:srgbClr val="2E377E"/>
                </a:solidFill>
                <a:latin typeface="Georgia"/>
                <a:cs typeface="Georgia"/>
              </a:rPr>
              <a:t>is</a:t>
            </a:r>
            <a:r>
              <a:rPr sz="3500" spc="-15" dirty="0">
                <a:solidFill>
                  <a:srgbClr val="2E377E"/>
                </a:solidFill>
                <a:latin typeface="Georgia"/>
                <a:cs typeface="Georgia"/>
              </a:rPr>
              <a:t> </a:t>
            </a:r>
            <a:r>
              <a:rPr sz="3500" dirty="0">
                <a:solidFill>
                  <a:srgbClr val="2E377E"/>
                </a:solidFill>
                <a:latin typeface="Georgia"/>
                <a:cs typeface="Georgia"/>
              </a:rPr>
              <a:t>coming</a:t>
            </a:r>
            <a:r>
              <a:rPr sz="3500" spc="-15" dirty="0">
                <a:solidFill>
                  <a:srgbClr val="2E377E"/>
                </a:solidFill>
                <a:latin typeface="Georgia"/>
                <a:cs typeface="Georgia"/>
              </a:rPr>
              <a:t> </a:t>
            </a:r>
            <a:r>
              <a:rPr sz="3500" dirty="0">
                <a:solidFill>
                  <a:srgbClr val="2E377E"/>
                </a:solidFill>
                <a:latin typeface="Georgia"/>
                <a:cs typeface="Georgia"/>
              </a:rPr>
              <a:t>on</a:t>
            </a:r>
            <a:r>
              <a:rPr sz="3500" spc="-15" dirty="0">
                <a:solidFill>
                  <a:srgbClr val="2E377E"/>
                </a:solidFill>
                <a:latin typeface="Georgia"/>
                <a:cs typeface="Georgia"/>
              </a:rPr>
              <a:t> </a:t>
            </a:r>
            <a:r>
              <a:rPr sz="3500" spc="60" dirty="0">
                <a:solidFill>
                  <a:srgbClr val="2E377E"/>
                </a:solidFill>
                <a:latin typeface="Georgia"/>
                <a:cs typeface="Georgia"/>
              </a:rPr>
              <a:t>the</a:t>
            </a:r>
            <a:r>
              <a:rPr sz="3500" spc="-15" dirty="0">
                <a:solidFill>
                  <a:srgbClr val="2E377E"/>
                </a:solidFill>
                <a:latin typeface="Georgia"/>
                <a:cs typeface="Georgia"/>
              </a:rPr>
              <a:t> </a:t>
            </a:r>
            <a:r>
              <a:rPr sz="3500" dirty="0">
                <a:solidFill>
                  <a:srgbClr val="2E377E"/>
                </a:solidFill>
                <a:latin typeface="Georgia"/>
                <a:cs typeface="Georgia"/>
              </a:rPr>
              <a:t>platform</a:t>
            </a:r>
            <a:r>
              <a:rPr sz="3500" spc="-15" dirty="0">
                <a:solidFill>
                  <a:srgbClr val="2E377E"/>
                </a:solidFill>
                <a:latin typeface="Georgia"/>
                <a:cs typeface="Georgia"/>
              </a:rPr>
              <a:t> </a:t>
            </a:r>
            <a:r>
              <a:rPr sz="3500" spc="60" dirty="0">
                <a:solidFill>
                  <a:srgbClr val="2E377E"/>
                </a:solidFill>
                <a:latin typeface="Georgia"/>
                <a:cs typeface="Georgia"/>
              </a:rPr>
              <a:t>the</a:t>
            </a:r>
            <a:r>
              <a:rPr sz="3500" spc="-15" dirty="0">
                <a:solidFill>
                  <a:srgbClr val="2E377E"/>
                </a:solidFill>
                <a:latin typeface="Georgia"/>
                <a:cs typeface="Georgia"/>
              </a:rPr>
              <a:t> </a:t>
            </a:r>
            <a:r>
              <a:rPr sz="3500" dirty="0">
                <a:solidFill>
                  <a:srgbClr val="2E377E"/>
                </a:solidFill>
                <a:latin typeface="Georgia"/>
                <a:cs typeface="Georgia"/>
              </a:rPr>
              <a:t>audience</a:t>
            </a:r>
            <a:r>
              <a:rPr sz="3500" spc="-15" dirty="0">
                <a:solidFill>
                  <a:srgbClr val="2E377E"/>
                </a:solidFill>
                <a:latin typeface="Georgia"/>
                <a:cs typeface="Georgia"/>
              </a:rPr>
              <a:t> </a:t>
            </a:r>
            <a:r>
              <a:rPr sz="3500" spc="-25" dirty="0">
                <a:solidFill>
                  <a:srgbClr val="2E377E"/>
                </a:solidFill>
                <a:latin typeface="Georgia"/>
                <a:cs typeface="Georgia"/>
              </a:rPr>
              <a:t>is </a:t>
            </a:r>
            <a:r>
              <a:rPr sz="3500" spc="50" dirty="0">
                <a:solidFill>
                  <a:srgbClr val="2E377E"/>
                </a:solidFill>
                <a:latin typeface="Georgia"/>
                <a:cs typeface="Georgia"/>
              </a:rPr>
              <a:t>eagerly</a:t>
            </a:r>
            <a:r>
              <a:rPr sz="3500" dirty="0">
                <a:solidFill>
                  <a:srgbClr val="2E377E"/>
                </a:solidFill>
                <a:latin typeface="Georgia"/>
                <a:cs typeface="Georgia"/>
              </a:rPr>
              <a:t> </a:t>
            </a:r>
            <a:r>
              <a:rPr sz="3500" spc="45" dirty="0">
                <a:solidFill>
                  <a:srgbClr val="2E377E"/>
                </a:solidFill>
                <a:latin typeface="Georgia"/>
                <a:cs typeface="Georgia"/>
              </a:rPr>
              <a:t>waiting</a:t>
            </a:r>
            <a:r>
              <a:rPr sz="3500" dirty="0">
                <a:solidFill>
                  <a:srgbClr val="2E377E"/>
                </a:solidFill>
                <a:latin typeface="Georgia"/>
                <a:cs typeface="Georgia"/>
              </a:rPr>
              <a:t> for that.</a:t>
            </a:r>
            <a:r>
              <a:rPr sz="3500" spc="5" dirty="0">
                <a:solidFill>
                  <a:srgbClr val="2E377E"/>
                </a:solidFill>
                <a:latin typeface="Georgia"/>
                <a:cs typeface="Georgia"/>
              </a:rPr>
              <a:t> </a:t>
            </a:r>
            <a:r>
              <a:rPr sz="3500" dirty="0">
                <a:solidFill>
                  <a:srgbClr val="2E377E"/>
                </a:solidFill>
                <a:latin typeface="Georgia"/>
                <a:cs typeface="Georgia"/>
              </a:rPr>
              <a:t>Then, </a:t>
            </a:r>
            <a:r>
              <a:rPr sz="3500" spc="60" dirty="0">
                <a:solidFill>
                  <a:srgbClr val="2E377E"/>
                </a:solidFill>
                <a:latin typeface="Georgia"/>
                <a:cs typeface="Georgia"/>
              </a:rPr>
              <a:t>the</a:t>
            </a:r>
            <a:r>
              <a:rPr sz="3500" dirty="0">
                <a:solidFill>
                  <a:srgbClr val="2E377E"/>
                </a:solidFill>
                <a:latin typeface="Georgia"/>
                <a:cs typeface="Georgia"/>
              </a:rPr>
              <a:t> </a:t>
            </a:r>
            <a:r>
              <a:rPr sz="3500" spc="-30" dirty="0">
                <a:solidFill>
                  <a:srgbClr val="2E377E"/>
                </a:solidFill>
                <a:latin typeface="Georgia"/>
                <a:cs typeface="Georgia"/>
              </a:rPr>
              <a:t>OTT</a:t>
            </a:r>
            <a:r>
              <a:rPr sz="3500" spc="5" dirty="0">
                <a:solidFill>
                  <a:srgbClr val="2E377E"/>
                </a:solidFill>
                <a:latin typeface="Georgia"/>
                <a:cs typeface="Georgia"/>
              </a:rPr>
              <a:t> </a:t>
            </a:r>
            <a:r>
              <a:rPr sz="3500" dirty="0">
                <a:solidFill>
                  <a:srgbClr val="2E377E"/>
                </a:solidFill>
                <a:latin typeface="Georgia"/>
                <a:cs typeface="Georgia"/>
              </a:rPr>
              <a:t>platform can’t handle</a:t>
            </a:r>
            <a:r>
              <a:rPr sz="3500" spc="5" dirty="0">
                <a:solidFill>
                  <a:srgbClr val="2E377E"/>
                </a:solidFill>
                <a:latin typeface="Georgia"/>
                <a:cs typeface="Georgia"/>
              </a:rPr>
              <a:t> </a:t>
            </a:r>
            <a:r>
              <a:rPr sz="3500" spc="60" dirty="0">
                <a:solidFill>
                  <a:srgbClr val="2E377E"/>
                </a:solidFill>
                <a:latin typeface="Georgia"/>
                <a:cs typeface="Georgia"/>
              </a:rPr>
              <a:t>the</a:t>
            </a:r>
            <a:r>
              <a:rPr sz="3500" dirty="0">
                <a:solidFill>
                  <a:srgbClr val="2E377E"/>
                </a:solidFill>
                <a:latin typeface="Georgia"/>
                <a:cs typeface="Georgia"/>
              </a:rPr>
              <a:t> lot of</a:t>
            </a:r>
            <a:r>
              <a:rPr sz="3500" spc="5" dirty="0">
                <a:solidFill>
                  <a:srgbClr val="2E377E"/>
                </a:solidFill>
                <a:latin typeface="Georgia"/>
                <a:cs typeface="Georgia"/>
              </a:rPr>
              <a:t> </a:t>
            </a:r>
            <a:r>
              <a:rPr sz="3500" dirty="0">
                <a:solidFill>
                  <a:srgbClr val="2E377E"/>
                </a:solidFill>
                <a:latin typeface="Georgia"/>
                <a:cs typeface="Georgia"/>
              </a:rPr>
              <a:t>users </a:t>
            </a:r>
            <a:r>
              <a:rPr sz="3500" spc="30" dirty="0">
                <a:solidFill>
                  <a:srgbClr val="2E377E"/>
                </a:solidFill>
                <a:latin typeface="Georgia"/>
                <a:cs typeface="Georgia"/>
              </a:rPr>
              <a:t>that </a:t>
            </a:r>
            <a:r>
              <a:rPr sz="3500" dirty="0">
                <a:solidFill>
                  <a:srgbClr val="2E377E"/>
                </a:solidFill>
                <a:latin typeface="Georgia"/>
                <a:cs typeface="Georgia"/>
              </a:rPr>
              <a:t>might</a:t>
            </a:r>
            <a:r>
              <a:rPr sz="3500" spc="-15" dirty="0">
                <a:solidFill>
                  <a:srgbClr val="2E377E"/>
                </a:solidFill>
                <a:latin typeface="Georgia"/>
                <a:cs typeface="Georgia"/>
              </a:rPr>
              <a:t> </a:t>
            </a:r>
            <a:r>
              <a:rPr sz="3500" dirty="0">
                <a:solidFill>
                  <a:srgbClr val="2E377E"/>
                </a:solidFill>
                <a:latin typeface="Georgia"/>
                <a:cs typeface="Georgia"/>
              </a:rPr>
              <a:t>crash</a:t>
            </a:r>
            <a:r>
              <a:rPr sz="3500" spc="-15" dirty="0">
                <a:solidFill>
                  <a:srgbClr val="2E377E"/>
                </a:solidFill>
                <a:latin typeface="Georgia"/>
                <a:cs typeface="Georgia"/>
              </a:rPr>
              <a:t> </a:t>
            </a:r>
            <a:r>
              <a:rPr sz="3500" spc="60" dirty="0">
                <a:solidFill>
                  <a:srgbClr val="2E377E"/>
                </a:solidFill>
                <a:latin typeface="Georgia"/>
                <a:cs typeface="Georgia"/>
              </a:rPr>
              <a:t>the</a:t>
            </a:r>
            <a:r>
              <a:rPr sz="3500" spc="-15" dirty="0">
                <a:solidFill>
                  <a:srgbClr val="2E377E"/>
                </a:solidFill>
                <a:latin typeface="Georgia"/>
                <a:cs typeface="Georgia"/>
              </a:rPr>
              <a:t> </a:t>
            </a:r>
            <a:r>
              <a:rPr sz="3500" dirty="0">
                <a:solidFill>
                  <a:srgbClr val="2E377E"/>
                </a:solidFill>
                <a:latin typeface="Georgia"/>
                <a:cs typeface="Georgia"/>
              </a:rPr>
              <a:t>application.</a:t>
            </a:r>
            <a:r>
              <a:rPr sz="3500" spc="-10" dirty="0">
                <a:solidFill>
                  <a:srgbClr val="2E377E"/>
                </a:solidFill>
                <a:latin typeface="Georgia"/>
                <a:cs typeface="Georgia"/>
              </a:rPr>
              <a:t> </a:t>
            </a:r>
            <a:r>
              <a:rPr sz="3500" dirty="0">
                <a:solidFill>
                  <a:srgbClr val="2E377E"/>
                </a:solidFill>
                <a:latin typeface="Georgia"/>
                <a:cs typeface="Georgia"/>
              </a:rPr>
              <a:t>This</a:t>
            </a:r>
            <a:r>
              <a:rPr sz="3500" spc="-15" dirty="0">
                <a:solidFill>
                  <a:srgbClr val="2E377E"/>
                </a:solidFill>
                <a:latin typeface="Georgia"/>
                <a:cs typeface="Georgia"/>
              </a:rPr>
              <a:t> </a:t>
            </a:r>
            <a:r>
              <a:rPr sz="3500" spc="50" dirty="0">
                <a:solidFill>
                  <a:srgbClr val="2E377E"/>
                </a:solidFill>
                <a:latin typeface="Georgia"/>
                <a:cs typeface="Georgia"/>
              </a:rPr>
              <a:t>will</a:t>
            </a:r>
            <a:r>
              <a:rPr sz="3500" spc="-15" dirty="0">
                <a:solidFill>
                  <a:srgbClr val="2E377E"/>
                </a:solidFill>
                <a:latin typeface="Georgia"/>
                <a:cs typeface="Georgia"/>
              </a:rPr>
              <a:t> </a:t>
            </a:r>
            <a:r>
              <a:rPr sz="3500" dirty="0">
                <a:solidFill>
                  <a:srgbClr val="2E377E"/>
                </a:solidFill>
                <a:latin typeface="Georgia"/>
                <a:cs typeface="Georgia"/>
              </a:rPr>
              <a:t>lead</a:t>
            </a:r>
            <a:r>
              <a:rPr sz="3500" spc="-15" dirty="0">
                <a:solidFill>
                  <a:srgbClr val="2E377E"/>
                </a:solidFill>
                <a:latin typeface="Georgia"/>
                <a:cs typeface="Georgia"/>
              </a:rPr>
              <a:t> </a:t>
            </a:r>
            <a:r>
              <a:rPr sz="3500" spc="60" dirty="0">
                <a:solidFill>
                  <a:srgbClr val="2E377E"/>
                </a:solidFill>
                <a:latin typeface="Georgia"/>
                <a:cs typeface="Georgia"/>
              </a:rPr>
              <a:t>to</a:t>
            </a:r>
            <a:r>
              <a:rPr sz="3500" spc="-10" dirty="0">
                <a:solidFill>
                  <a:srgbClr val="2E377E"/>
                </a:solidFill>
                <a:latin typeface="Georgia"/>
                <a:cs typeface="Georgia"/>
              </a:rPr>
              <a:t> </a:t>
            </a:r>
            <a:r>
              <a:rPr sz="3500" dirty="0">
                <a:solidFill>
                  <a:srgbClr val="2E377E"/>
                </a:solidFill>
                <a:latin typeface="Georgia"/>
                <a:cs typeface="Georgia"/>
              </a:rPr>
              <a:t>a</a:t>
            </a:r>
            <a:r>
              <a:rPr sz="3500" spc="-15" dirty="0">
                <a:solidFill>
                  <a:srgbClr val="2E377E"/>
                </a:solidFill>
                <a:latin typeface="Georgia"/>
                <a:cs typeface="Georgia"/>
              </a:rPr>
              <a:t> </a:t>
            </a:r>
            <a:r>
              <a:rPr sz="3500" dirty="0">
                <a:solidFill>
                  <a:srgbClr val="2E377E"/>
                </a:solidFill>
                <a:latin typeface="Georgia"/>
                <a:cs typeface="Georgia"/>
              </a:rPr>
              <a:t>loss</a:t>
            </a:r>
            <a:r>
              <a:rPr sz="3500" spc="-15" dirty="0">
                <a:solidFill>
                  <a:srgbClr val="2E377E"/>
                </a:solidFill>
                <a:latin typeface="Georgia"/>
                <a:cs typeface="Georgia"/>
              </a:rPr>
              <a:t> </a:t>
            </a:r>
            <a:r>
              <a:rPr sz="3500" dirty="0">
                <a:solidFill>
                  <a:srgbClr val="2E377E"/>
                </a:solidFill>
                <a:latin typeface="Georgia"/>
                <a:cs typeface="Georgia"/>
              </a:rPr>
              <a:t>of</a:t>
            </a:r>
            <a:r>
              <a:rPr sz="3500" spc="-15" dirty="0">
                <a:solidFill>
                  <a:srgbClr val="2E377E"/>
                </a:solidFill>
                <a:latin typeface="Georgia"/>
                <a:cs typeface="Georgia"/>
              </a:rPr>
              <a:t> </a:t>
            </a:r>
            <a:r>
              <a:rPr sz="3500" dirty="0">
                <a:solidFill>
                  <a:srgbClr val="2E377E"/>
                </a:solidFill>
                <a:latin typeface="Georgia"/>
                <a:cs typeface="Georgia"/>
              </a:rPr>
              <a:t>business</a:t>
            </a:r>
            <a:r>
              <a:rPr sz="3500" spc="-10" dirty="0">
                <a:solidFill>
                  <a:srgbClr val="2E377E"/>
                </a:solidFill>
                <a:latin typeface="Georgia"/>
                <a:cs typeface="Georgia"/>
              </a:rPr>
              <a:t> </a:t>
            </a:r>
            <a:r>
              <a:rPr sz="3500" dirty="0">
                <a:solidFill>
                  <a:srgbClr val="2E377E"/>
                </a:solidFill>
                <a:latin typeface="Georgia"/>
                <a:cs typeface="Georgia"/>
              </a:rPr>
              <a:t>and</a:t>
            </a:r>
            <a:r>
              <a:rPr sz="3500" spc="-15" dirty="0">
                <a:solidFill>
                  <a:srgbClr val="2E377E"/>
                </a:solidFill>
                <a:latin typeface="Georgia"/>
                <a:cs typeface="Georgia"/>
              </a:rPr>
              <a:t> </a:t>
            </a:r>
            <a:r>
              <a:rPr sz="3500" spc="60" dirty="0">
                <a:solidFill>
                  <a:srgbClr val="2E377E"/>
                </a:solidFill>
                <a:latin typeface="Georgia"/>
                <a:cs typeface="Georgia"/>
              </a:rPr>
              <a:t>the</a:t>
            </a:r>
            <a:r>
              <a:rPr sz="3500" spc="-15" dirty="0">
                <a:solidFill>
                  <a:srgbClr val="2E377E"/>
                </a:solidFill>
                <a:latin typeface="Georgia"/>
                <a:cs typeface="Georgia"/>
              </a:rPr>
              <a:t> </a:t>
            </a:r>
            <a:r>
              <a:rPr sz="3500" spc="-25" dirty="0">
                <a:solidFill>
                  <a:srgbClr val="2E377E"/>
                </a:solidFill>
                <a:latin typeface="Georgia"/>
                <a:cs typeface="Georgia"/>
              </a:rPr>
              <a:t>OTT </a:t>
            </a:r>
            <a:r>
              <a:rPr sz="3500" dirty="0">
                <a:solidFill>
                  <a:srgbClr val="2E377E"/>
                </a:solidFill>
                <a:latin typeface="Georgia"/>
                <a:cs typeface="Georgia"/>
              </a:rPr>
              <a:t>platform</a:t>
            </a:r>
            <a:r>
              <a:rPr sz="3500" spc="15" dirty="0">
                <a:solidFill>
                  <a:srgbClr val="2E377E"/>
                </a:solidFill>
                <a:latin typeface="Georgia"/>
                <a:cs typeface="Georgia"/>
              </a:rPr>
              <a:t> </a:t>
            </a:r>
            <a:r>
              <a:rPr sz="3500" dirty="0">
                <a:solidFill>
                  <a:srgbClr val="2E377E"/>
                </a:solidFill>
                <a:latin typeface="Georgia"/>
                <a:cs typeface="Georgia"/>
              </a:rPr>
              <a:t>can’t</a:t>
            </a:r>
            <a:r>
              <a:rPr sz="3500" spc="20" dirty="0">
                <a:solidFill>
                  <a:srgbClr val="2E377E"/>
                </a:solidFill>
                <a:latin typeface="Georgia"/>
                <a:cs typeface="Georgia"/>
              </a:rPr>
              <a:t> </a:t>
            </a:r>
            <a:r>
              <a:rPr sz="3500" dirty="0">
                <a:solidFill>
                  <a:srgbClr val="2E377E"/>
                </a:solidFill>
                <a:latin typeface="Georgia"/>
                <a:cs typeface="Georgia"/>
              </a:rPr>
              <a:t>afford</a:t>
            </a:r>
            <a:r>
              <a:rPr sz="3500" spc="15" dirty="0">
                <a:solidFill>
                  <a:srgbClr val="2E377E"/>
                </a:solidFill>
                <a:latin typeface="Georgia"/>
                <a:cs typeface="Georgia"/>
              </a:rPr>
              <a:t> </a:t>
            </a:r>
            <a:r>
              <a:rPr sz="3500" dirty="0">
                <a:solidFill>
                  <a:srgbClr val="2E377E"/>
                </a:solidFill>
                <a:latin typeface="Georgia"/>
                <a:cs typeface="Georgia"/>
              </a:rPr>
              <a:t>this</a:t>
            </a:r>
            <a:r>
              <a:rPr sz="3500" spc="20" dirty="0">
                <a:solidFill>
                  <a:srgbClr val="2E377E"/>
                </a:solidFill>
                <a:latin typeface="Georgia"/>
                <a:cs typeface="Georgia"/>
              </a:rPr>
              <a:t> </a:t>
            </a:r>
            <a:r>
              <a:rPr sz="3500" dirty="0">
                <a:solidFill>
                  <a:srgbClr val="2E377E"/>
                </a:solidFill>
                <a:latin typeface="Georgia"/>
                <a:cs typeface="Georgia"/>
              </a:rPr>
              <a:t>business</a:t>
            </a:r>
            <a:r>
              <a:rPr sz="3500" spc="15" dirty="0">
                <a:solidFill>
                  <a:srgbClr val="2E377E"/>
                </a:solidFill>
                <a:latin typeface="Georgia"/>
                <a:cs typeface="Georgia"/>
              </a:rPr>
              <a:t> </a:t>
            </a:r>
            <a:r>
              <a:rPr sz="3500" dirty="0">
                <a:solidFill>
                  <a:srgbClr val="2E377E"/>
                </a:solidFill>
                <a:latin typeface="Georgia"/>
                <a:cs typeface="Georgia"/>
              </a:rPr>
              <a:t>loss.</a:t>
            </a:r>
            <a:r>
              <a:rPr sz="3500" spc="20" dirty="0">
                <a:solidFill>
                  <a:srgbClr val="2E377E"/>
                </a:solidFill>
                <a:latin typeface="Georgia"/>
                <a:cs typeface="Georgia"/>
              </a:rPr>
              <a:t> </a:t>
            </a:r>
            <a:r>
              <a:rPr sz="3500" dirty="0">
                <a:solidFill>
                  <a:srgbClr val="2E377E"/>
                </a:solidFill>
                <a:latin typeface="Georgia"/>
                <a:cs typeface="Georgia"/>
              </a:rPr>
              <a:t>Now,</a:t>
            </a:r>
            <a:r>
              <a:rPr sz="3500" spc="15" dirty="0">
                <a:solidFill>
                  <a:srgbClr val="2E377E"/>
                </a:solidFill>
                <a:latin typeface="Georgia"/>
                <a:cs typeface="Georgia"/>
              </a:rPr>
              <a:t> </a:t>
            </a:r>
            <a:r>
              <a:rPr sz="3500" spc="95" dirty="0">
                <a:solidFill>
                  <a:srgbClr val="2E377E"/>
                </a:solidFill>
                <a:latin typeface="Georgia"/>
                <a:cs typeface="Georgia"/>
              </a:rPr>
              <a:t>they</a:t>
            </a:r>
            <a:r>
              <a:rPr sz="3500" spc="20" dirty="0">
                <a:solidFill>
                  <a:srgbClr val="2E377E"/>
                </a:solidFill>
                <a:latin typeface="Georgia"/>
                <a:cs typeface="Georgia"/>
              </a:rPr>
              <a:t> </a:t>
            </a:r>
            <a:r>
              <a:rPr sz="3500" spc="55" dirty="0">
                <a:solidFill>
                  <a:srgbClr val="2E377E"/>
                </a:solidFill>
                <a:latin typeface="Georgia"/>
                <a:cs typeface="Georgia"/>
              </a:rPr>
              <a:t>have</a:t>
            </a:r>
            <a:r>
              <a:rPr sz="3500" spc="15" dirty="0">
                <a:solidFill>
                  <a:srgbClr val="2E377E"/>
                </a:solidFill>
                <a:latin typeface="Georgia"/>
                <a:cs typeface="Georgia"/>
              </a:rPr>
              <a:t> </a:t>
            </a:r>
            <a:r>
              <a:rPr sz="3500" spc="105" dirty="0">
                <a:solidFill>
                  <a:srgbClr val="2E377E"/>
                </a:solidFill>
                <a:latin typeface="Georgia"/>
                <a:cs typeface="Georgia"/>
              </a:rPr>
              <a:t>two</a:t>
            </a:r>
            <a:r>
              <a:rPr sz="3500" spc="20" dirty="0">
                <a:solidFill>
                  <a:srgbClr val="2E377E"/>
                </a:solidFill>
                <a:latin typeface="Georgia"/>
                <a:cs typeface="Georgia"/>
              </a:rPr>
              <a:t> </a:t>
            </a:r>
            <a:r>
              <a:rPr sz="3500" dirty="0">
                <a:solidFill>
                  <a:srgbClr val="2E377E"/>
                </a:solidFill>
                <a:latin typeface="Georgia"/>
                <a:cs typeface="Georgia"/>
              </a:rPr>
              <a:t>options</a:t>
            </a:r>
            <a:r>
              <a:rPr sz="3500" spc="15" dirty="0">
                <a:solidFill>
                  <a:srgbClr val="2E377E"/>
                </a:solidFill>
                <a:latin typeface="Georgia"/>
                <a:cs typeface="Georgia"/>
              </a:rPr>
              <a:t> </a:t>
            </a:r>
            <a:r>
              <a:rPr sz="3500" spc="60" dirty="0">
                <a:solidFill>
                  <a:srgbClr val="2E377E"/>
                </a:solidFill>
                <a:latin typeface="Georgia"/>
                <a:cs typeface="Georgia"/>
              </a:rPr>
              <a:t>to</a:t>
            </a:r>
            <a:r>
              <a:rPr sz="3500" spc="20" dirty="0">
                <a:solidFill>
                  <a:srgbClr val="2E377E"/>
                </a:solidFill>
                <a:latin typeface="Georgia"/>
                <a:cs typeface="Georgia"/>
              </a:rPr>
              <a:t> </a:t>
            </a:r>
            <a:r>
              <a:rPr sz="3500" spc="50" dirty="0">
                <a:solidFill>
                  <a:srgbClr val="2E377E"/>
                </a:solidFill>
                <a:latin typeface="Georgia"/>
                <a:cs typeface="Georgia"/>
              </a:rPr>
              <a:t>solve</a:t>
            </a:r>
            <a:r>
              <a:rPr sz="3500" spc="15" dirty="0">
                <a:solidFill>
                  <a:srgbClr val="2E377E"/>
                </a:solidFill>
                <a:latin typeface="Georgia"/>
                <a:cs typeface="Georgia"/>
              </a:rPr>
              <a:t> </a:t>
            </a:r>
            <a:r>
              <a:rPr sz="3500" spc="-20" dirty="0">
                <a:solidFill>
                  <a:srgbClr val="2E377E"/>
                </a:solidFill>
                <a:latin typeface="Georgia"/>
                <a:cs typeface="Georgia"/>
              </a:rPr>
              <a:t>this.</a:t>
            </a:r>
            <a:endParaRPr sz="3500">
              <a:latin typeface="Georgia"/>
              <a:cs typeface="Georgi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85193" y="2072304"/>
            <a:ext cx="133350" cy="133349"/>
          </a:xfrm>
          <a:prstGeom prst="rect">
            <a:avLst/>
          </a:prstGeom>
        </p:spPr>
      </p:pic>
      <p:sp>
        <p:nvSpPr>
          <p:cNvPr id="3" name="object 3"/>
          <p:cNvSpPr txBox="1"/>
          <p:nvPr/>
        </p:nvSpPr>
        <p:spPr>
          <a:xfrm>
            <a:off x="2008994" y="1729391"/>
            <a:ext cx="15318105" cy="6216650"/>
          </a:xfrm>
          <a:prstGeom prst="rect">
            <a:avLst/>
          </a:prstGeom>
        </p:spPr>
        <p:txBody>
          <a:bodyPr vert="horz" wrap="square" lIns="0" tIns="12065" rIns="0" bIns="0" rtlCol="0">
            <a:spAutoFit/>
          </a:bodyPr>
          <a:lstStyle/>
          <a:p>
            <a:pPr marL="12700" marR="93980">
              <a:lnSpc>
                <a:spcPct val="116100"/>
              </a:lnSpc>
              <a:spcBef>
                <a:spcPts val="95"/>
              </a:spcBef>
            </a:pPr>
            <a:r>
              <a:rPr sz="3500" spc="-30" dirty="0">
                <a:solidFill>
                  <a:srgbClr val="2E377E"/>
                </a:solidFill>
                <a:latin typeface="Georgia"/>
                <a:cs typeface="Georgia"/>
              </a:rPr>
              <a:t>First,</a:t>
            </a:r>
            <a:r>
              <a:rPr sz="3500" spc="-25" dirty="0">
                <a:solidFill>
                  <a:srgbClr val="2E377E"/>
                </a:solidFill>
                <a:latin typeface="Georgia"/>
                <a:cs typeface="Georgia"/>
              </a:rPr>
              <a:t> </a:t>
            </a:r>
            <a:r>
              <a:rPr sz="3500" dirty="0">
                <a:solidFill>
                  <a:srgbClr val="2E377E"/>
                </a:solidFill>
                <a:latin typeface="Georgia"/>
                <a:cs typeface="Georgia"/>
              </a:rPr>
              <a:t>The</a:t>
            </a:r>
            <a:r>
              <a:rPr sz="3500" spc="-35" dirty="0">
                <a:solidFill>
                  <a:srgbClr val="2E377E"/>
                </a:solidFill>
                <a:latin typeface="Georgia"/>
                <a:cs typeface="Georgia"/>
              </a:rPr>
              <a:t> </a:t>
            </a:r>
            <a:r>
              <a:rPr sz="3500" dirty="0">
                <a:solidFill>
                  <a:srgbClr val="2E377E"/>
                </a:solidFill>
                <a:latin typeface="Georgia"/>
                <a:cs typeface="Georgia"/>
              </a:rPr>
              <a:t>Platform</a:t>
            </a:r>
            <a:r>
              <a:rPr sz="3500" spc="-30" dirty="0">
                <a:solidFill>
                  <a:srgbClr val="2E377E"/>
                </a:solidFill>
                <a:latin typeface="Georgia"/>
                <a:cs typeface="Georgia"/>
              </a:rPr>
              <a:t> </a:t>
            </a:r>
            <a:r>
              <a:rPr sz="3500" spc="60" dirty="0">
                <a:solidFill>
                  <a:srgbClr val="2E377E"/>
                </a:solidFill>
                <a:latin typeface="Georgia"/>
                <a:cs typeface="Georgia"/>
              </a:rPr>
              <a:t>knows</a:t>
            </a:r>
            <a:r>
              <a:rPr sz="3500" spc="-25" dirty="0">
                <a:solidFill>
                  <a:srgbClr val="2E377E"/>
                </a:solidFill>
                <a:latin typeface="Georgia"/>
                <a:cs typeface="Georgia"/>
              </a:rPr>
              <a:t> </a:t>
            </a:r>
            <a:r>
              <a:rPr sz="3500" dirty="0">
                <a:solidFill>
                  <a:srgbClr val="2E377E"/>
                </a:solidFill>
                <a:latin typeface="Georgia"/>
                <a:cs typeface="Georgia"/>
              </a:rPr>
              <a:t>that</a:t>
            </a:r>
            <a:r>
              <a:rPr sz="3500" spc="-25" dirty="0">
                <a:solidFill>
                  <a:srgbClr val="2E377E"/>
                </a:solidFill>
                <a:latin typeface="Georgia"/>
                <a:cs typeface="Georgia"/>
              </a:rPr>
              <a:t> </a:t>
            </a:r>
            <a:r>
              <a:rPr sz="3500" spc="85" dirty="0">
                <a:solidFill>
                  <a:srgbClr val="2E377E"/>
                </a:solidFill>
                <a:latin typeface="Georgia"/>
                <a:cs typeface="Georgia"/>
              </a:rPr>
              <a:t>they</a:t>
            </a:r>
            <a:r>
              <a:rPr sz="3500" spc="-30" dirty="0">
                <a:solidFill>
                  <a:srgbClr val="2E377E"/>
                </a:solidFill>
                <a:latin typeface="Georgia"/>
                <a:cs typeface="Georgia"/>
              </a:rPr>
              <a:t> </a:t>
            </a:r>
            <a:r>
              <a:rPr sz="3500" dirty="0">
                <a:solidFill>
                  <a:srgbClr val="2E377E"/>
                </a:solidFill>
                <a:latin typeface="Georgia"/>
                <a:cs typeface="Georgia"/>
              </a:rPr>
              <a:t>need</a:t>
            </a:r>
            <a:r>
              <a:rPr sz="3500" spc="-30" dirty="0">
                <a:solidFill>
                  <a:srgbClr val="2E377E"/>
                </a:solidFill>
                <a:latin typeface="Georgia"/>
                <a:cs typeface="Georgia"/>
              </a:rPr>
              <a:t> </a:t>
            </a:r>
            <a:r>
              <a:rPr sz="3500" dirty="0">
                <a:solidFill>
                  <a:srgbClr val="2E377E"/>
                </a:solidFill>
                <a:latin typeface="Georgia"/>
                <a:cs typeface="Georgia"/>
              </a:rPr>
              <a:t>a</a:t>
            </a:r>
            <a:r>
              <a:rPr sz="3500" spc="-30" dirty="0">
                <a:solidFill>
                  <a:srgbClr val="2E377E"/>
                </a:solidFill>
                <a:latin typeface="Georgia"/>
                <a:cs typeface="Georgia"/>
              </a:rPr>
              <a:t> </a:t>
            </a:r>
            <a:r>
              <a:rPr sz="3500" dirty="0">
                <a:solidFill>
                  <a:srgbClr val="2E377E"/>
                </a:solidFill>
                <a:latin typeface="Georgia"/>
                <a:cs typeface="Georgia"/>
              </a:rPr>
              <a:t>particular</a:t>
            </a:r>
            <a:r>
              <a:rPr sz="3500" spc="-25" dirty="0">
                <a:solidFill>
                  <a:srgbClr val="2E377E"/>
                </a:solidFill>
                <a:latin typeface="Georgia"/>
                <a:cs typeface="Georgia"/>
              </a:rPr>
              <a:t> </a:t>
            </a:r>
            <a:r>
              <a:rPr sz="3500" dirty="0">
                <a:solidFill>
                  <a:srgbClr val="2E377E"/>
                </a:solidFill>
                <a:latin typeface="Georgia"/>
                <a:cs typeface="Georgia"/>
              </a:rPr>
              <a:t>amount</a:t>
            </a:r>
            <a:r>
              <a:rPr sz="3500" spc="-25" dirty="0">
                <a:solidFill>
                  <a:srgbClr val="2E377E"/>
                </a:solidFill>
                <a:latin typeface="Georgia"/>
                <a:cs typeface="Georgia"/>
              </a:rPr>
              <a:t> </a:t>
            </a:r>
            <a:r>
              <a:rPr sz="3500" dirty="0">
                <a:solidFill>
                  <a:srgbClr val="2E377E"/>
                </a:solidFill>
                <a:latin typeface="Georgia"/>
                <a:cs typeface="Georgia"/>
              </a:rPr>
              <a:t>of</a:t>
            </a:r>
            <a:r>
              <a:rPr sz="3500" spc="-25" dirty="0">
                <a:solidFill>
                  <a:srgbClr val="2E377E"/>
                </a:solidFill>
                <a:latin typeface="Georgia"/>
                <a:cs typeface="Georgia"/>
              </a:rPr>
              <a:t> </a:t>
            </a:r>
            <a:r>
              <a:rPr sz="3500" spc="50" dirty="0">
                <a:solidFill>
                  <a:srgbClr val="2E377E"/>
                </a:solidFill>
                <a:latin typeface="Georgia"/>
                <a:cs typeface="Georgia"/>
              </a:rPr>
              <a:t>servers</a:t>
            </a:r>
            <a:r>
              <a:rPr sz="3500" spc="-25" dirty="0">
                <a:solidFill>
                  <a:srgbClr val="2E377E"/>
                </a:solidFill>
                <a:latin typeface="Georgia"/>
                <a:cs typeface="Georgia"/>
              </a:rPr>
              <a:t> </a:t>
            </a:r>
            <a:r>
              <a:rPr sz="3500" spc="-20" dirty="0">
                <a:solidFill>
                  <a:srgbClr val="2E377E"/>
                </a:solidFill>
                <a:latin typeface="Georgia"/>
                <a:cs typeface="Georgia"/>
              </a:rPr>
              <a:t>such </a:t>
            </a:r>
            <a:r>
              <a:rPr sz="3500" dirty="0">
                <a:solidFill>
                  <a:srgbClr val="2E377E"/>
                </a:solidFill>
                <a:latin typeface="Georgia"/>
                <a:cs typeface="Georgia"/>
              </a:rPr>
              <a:t>as</a:t>
            </a:r>
            <a:r>
              <a:rPr sz="3500" spc="-40" dirty="0">
                <a:solidFill>
                  <a:srgbClr val="2E377E"/>
                </a:solidFill>
                <a:latin typeface="Georgia"/>
                <a:cs typeface="Georgia"/>
              </a:rPr>
              <a:t> </a:t>
            </a:r>
            <a:r>
              <a:rPr sz="3500" spc="-114" dirty="0">
                <a:solidFill>
                  <a:srgbClr val="2E377E"/>
                </a:solidFill>
                <a:latin typeface="Georgia"/>
                <a:cs typeface="Georgia"/>
              </a:rPr>
              <a:t>100.</a:t>
            </a:r>
            <a:r>
              <a:rPr sz="3500" spc="-40" dirty="0">
                <a:solidFill>
                  <a:srgbClr val="2E377E"/>
                </a:solidFill>
                <a:latin typeface="Georgia"/>
                <a:cs typeface="Georgia"/>
              </a:rPr>
              <a:t> </a:t>
            </a:r>
            <a:r>
              <a:rPr sz="3500" spc="-35" dirty="0">
                <a:solidFill>
                  <a:srgbClr val="2E377E"/>
                </a:solidFill>
                <a:latin typeface="Georgia"/>
                <a:cs typeface="Georgia"/>
              </a:rPr>
              <a:t>So,</a:t>
            </a:r>
            <a:r>
              <a:rPr sz="3500" spc="-40" dirty="0">
                <a:solidFill>
                  <a:srgbClr val="2E377E"/>
                </a:solidFill>
                <a:latin typeface="Georgia"/>
                <a:cs typeface="Georgia"/>
              </a:rPr>
              <a:t> </a:t>
            </a:r>
            <a:r>
              <a:rPr sz="3500" spc="85" dirty="0">
                <a:solidFill>
                  <a:srgbClr val="2E377E"/>
                </a:solidFill>
                <a:latin typeface="Georgia"/>
                <a:cs typeface="Georgia"/>
              </a:rPr>
              <a:t>they</a:t>
            </a:r>
            <a:r>
              <a:rPr sz="3500" spc="-45" dirty="0">
                <a:solidFill>
                  <a:srgbClr val="2E377E"/>
                </a:solidFill>
                <a:latin typeface="Georgia"/>
                <a:cs typeface="Georgia"/>
              </a:rPr>
              <a:t> </a:t>
            </a:r>
            <a:r>
              <a:rPr sz="3500" dirty="0">
                <a:solidFill>
                  <a:srgbClr val="2E377E"/>
                </a:solidFill>
                <a:latin typeface="Georgia"/>
                <a:cs typeface="Georgia"/>
              </a:rPr>
              <a:t>can</a:t>
            </a:r>
            <a:r>
              <a:rPr sz="3500" spc="-45" dirty="0">
                <a:solidFill>
                  <a:srgbClr val="2E377E"/>
                </a:solidFill>
                <a:latin typeface="Georgia"/>
                <a:cs typeface="Georgia"/>
              </a:rPr>
              <a:t> </a:t>
            </a:r>
            <a:r>
              <a:rPr sz="3500" spc="75" dirty="0">
                <a:solidFill>
                  <a:srgbClr val="2E377E"/>
                </a:solidFill>
                <a:latin typeface="Georgia"/>
                <a:cs typeface="Georgia"/>
              </a:rPr>
              <a:t>buy</a:t>
            </a:r>
            <a:r>
              <a:rPr sz="3500" spc="-45" dirty="0">
                <a:solidFill>
                  <a:srgbClr val="2E377E"/>
                </a:solidFill>
                <a:latin typeface="Georgia"/>
                <a:cs typeface="Georgia"/>
              </a:rPr>
              <a:t> </a:t>
            </a:r>
            <a:r>
              <a:rPr sz="3500" dirty="0">
                <a:solidFill>
                  <a:srgbClr val="2E377E"/>
                </a:solidFill>
                <a:latin typeface="Georgia"/>
                <a:cs typeface="Georgia"/>
              </a:rPr>
              <a:t>those</a:t>
            </a:r>
            <a:r>
              <a:rPr sz="3500" spc="-50" dirty="0">
                <a:solidFill>
                  <a:srgbClr val="2E377E"/>
                </a:solidFill>
                <a:latin typeface="Georgia"/>
                <a:cs typeface="Georgia"/>
              </a:rPr>
              <a:t> </a:t>
            </a:r>
            <a:r>
              <a:rPr sz="3500" spc="50" dirty="0">
                <a:solidFill>
                  <a:srgbClr val="2E377E"/>
                </a:solidFill>
                <a:latin typeface="Georgia"/>
                <a:cs typeface="Georgia"/>
              </a:rPr>
              <a:t>servers</a:t>
            </a:r>
            <a:r>
              <a:rPr sz="3500" spc="-35" dirty="0">
                <a:solidFill>
                  <a:srgbClr val="2E377E"/>
                </a:solidFill>
                <a:latin typeface="Georgia"/>
                <a:cs typeface="Georgia"/>
              </a:rPr>
              <a:t> </a:t>
            </a:r>
            <a:r>
              <a:rPr sz="3500" spc="50" dirty="0">
                <a:solidFill>
                  <a:srgbClr val="2E377E"/>
                </a:solidFill>
                <a:latin typeface="Georgia"/>
                <a:cs typeface="Georgia"/>
              </a:rPr>
              <a:t>forever</a:t>
            </a:r>
            <a:r>
              <a:rPr sz="3500" spc="-40" dirty="0">
                <a:solidFill>
                  <a:srgbClr val="2E377E"/>
                </a:solidFill>
                <a:latin typeface="Georgia"/>
                <a:cs typeface="Georgia"/>
              </a:rPr>
              <a:t> </a:t>
            </a:r>
            <a:r>
              <a:rPr sz="3500" dirty="0">
                <a:solidFill>
                  <a:srgbClr val="2E377E"/>
                </a:solidFill>
                <a:latin typeface="Georgia"/>
                <a:cs typeface="Georgia"/>
              </a:rPr>
              <a:t>but</a:t>
            </a:r>
            <a:r>
              <a:rPr sz="3500" spc="-40" dirty="0">
                <a:solidFill>
                  <a:srgbClr val="2E377E"/>
                </a:solidFill>
                <a:latin typeface="Georgia"/>
                <a:cs typeface="Georgia"/>
              </a:rPr>
              <a:t> </a:t>
            </a:r>
            <a:r>
              <a:rPr sz="3500" dirty="0">
                <a:solidFill>
                  <a:srgbClr val="2E377E"/>
                </a:solidFill>
                <a:latin typeface="Georgia"/>
                <a:cs typeface="Georgia"/>
              </a:rPr>
              <a:t>in</a:t>
            </a:r>
            <a:r>
              <a:rPr sz="3500" spc="-45" dirty="0">
                <a:solidFill>
                  <a:srgbClr val="2E377E"/>
                </a:solidFill>
                <a:latin typeface="Georgia"/>
                <a:cs typeface="Georgia"/>
              </a:rPr>
              <a:t> </a:t>
            </a:r>
            <a:r>
              <a:rPr sz="3500" dirty="0">
                <a:solidFill>
                  <a:srgbClr val="2E377E"/>
                </a:solidFill>
                <a:latin typeface="Georgia"/>
                <a:cs typeface="Georgia"/>
              </a:rPr>
              <a:t>this</a:t>
            </a:r>
            <a:r>
              <a:rPr sz="3500" spc="-40" dirty="0">
                <a:solidFill>
                  <a:srgbClr val="2E377E"/>
                </a:solidFill>
                <a:latin typeface="Georgia"/>
                <a:cs typeface="Georgia"/>
              </a:rPr>
              <a:t> </a:t>
            </a:r>
            <a:r>
              <a:rPr sz="3500" dirty="0">
                <a:solidFill>
                  <a:srgbClr val="2E377E"/>
                </a:solidFill>
                <a:latin typeface="Georgia"/>
                <a:cs typeface="Georgia"/>
              </a:rPr>
              <a:t>situation,</a:t>
            </a:r>
            <a:r>
              <a:rPr sz="3500" spc="-40" dirty="0">
                <a:solidFill>
                  <a:srgbClr val="2E377E"/>
                </a:solidFill>
                <a:latin typeface="Georgia"/>
                <a:cs typeface="Georgia"/>
              </a:rPr>
              <a:t> </a:t>
            </a:r>
            <a:r>
              <a:rPr sz="3500" spc="65" dirty="0">
                <a:solidFill>
                  <a:srgbClr val="2E377E"/>
                </a:solidFill>
                <a:latin typeface="Georgia"/>
                <a:cs typeface="Georgia"/>
              </a:rPr>
              <a:t>when</a:t>
            </a:r>
            <a:r>
              <a:rPr sz="3500" spc="-45" dirty="0">
                <a:solidFill>
                  <a:srgbClr val="2E377E"/>
                </a:solidFill>
                <a:latin typeface="Georgia"/>
                <a:cs typeface="Georgia"/>
              </a:rPr>
              <a:t> </a:t>
            </a:r>
            <a:r>
              <a:rPr sz="3500" spc="30" dirty="0">
                <a:solidFill>
                  <a:srgbClr val="2E377E"/>
                </a:solidFill>
                <a:latin typeface="Georgia"/>
                <a:cs typeface="Georgia"/>
              </a:rPr>
              <a:t>the </a:t>
            </a:r>
            <a:r>
              <a:rPr sz="3500" dirty="0">
                <a:solidFill>
                  <a:srgbClr val="2E377E"/>
                </a:solidFill>
                <a:latin typeface="Georgia"/>
                <a:cs typeface="Georgia"/>
              </a:rPr>
              <a:t>load</a:t>
            </a:r>
            <a:r>
              <a:rPr sz="3500" spc="-20" dirty="0">
                <a:solidFill>
                  <a:srgbClr val="2E377E"/>
                </a:solidFill>
                <a:latin typeface="Georgia"/>
                <a:cs typeface="Georgia"/>
              </a:rPr>
              <a:t> </a:t>
            </a:r>
            <a:r>
              <a:rPr sz="3500" dirty="0">
                <a:solidFill>
                  <a:srgbClr val="2E377E"/>
                </a:solidFill>
                <a:latin typeface="Georgia"/>
                <a:cs typeface="Georgia"/>
              </a:rPr>
              <a:t>decreases</a:t>
            </a:r>
            <a:r>
              <a:rPr sz="3500" spc="-10" dirty="0">
                <a:solidFill>
                  <a:srgbClr val="2E377E"/>
                </a:solidFill>
                <a:latin typeface="Georgia"/>
                <a:cs typeface="Georgia"/>
              </a:rPr>
              <a:t> </a:t>
            </a:r>
            <a:r>
              <a:rPr sz="3500" dirty="0">
                <a:solidFill>
                  <a:srgbClr val="2E377E"/>
                </a:solidFill>
                <a:latin typeface="Georgia"/>
                <a:cs typeface="Georgia"/>
              </a:rPr>
              <a:t>then</a:t>
            </a:r>
            <a:r>
              <a:rPr sz="3500" spc="-15" dirty="0">
                <a:solidFill>
                  <a:srgbClr val="2E377E"/>
                </a:solidFill>
                <a:latin typeface="Georgia"/>
                <a:cs typeface="Georgia"/>
              </a:rPr>
              <a:t> </a:t>
            </a:r>
            <a:r>
              <a:rPr sz="3500" spc="55" dirty="0">
                <a:solidFill>
                  <a:srgbClr val="2E377E"/>
                </a:solidFill>
                <a:latin typeface="Georgia"/>
                <a:cs typeface="Georgia"/>
              </a:rPr>
              <a:t>the</a:t>
            </a:r>
            <a:r>
              <a:rPr sz="3500" spc="-15" dirty="0">
                <a:solidFill>
                  <a:srgbClr val="2E377E"/>
                </a:solidFill>
                <a:latin typeface="Georgia"/>
                <a:cs typeface="Georgia"/>
              </a:rPr>
              <a:t> </a:t>
            </a:r>
            <a:r>
              <a:rPr sz="3500" dirty="0">
                <a:solidFill>
                  <a:srgbClr val="2E377E"/>
                </a:solidFill>
                <a:latin typeface="Georgia"/>
                <a:cs typeface="Georgia"/>
              </a:rPr>
              <a:t>other</a:t>
            </a:r>
            <a:r>
              <a:rPr sz="3500" spc="-10" dirty="0">
                <a:solidFill>
                  <a:srgbClr val="2E377E"/>
                </a:solidFill>
                <a:latin typeface="Georgia"/>
                <a:cs typeface="Georgia"/>
              </a:rPr>
              <a:t> </a:t>
            </a:r>
            <a:r>
              <a:rPr sz="3500" spc="50" dirty="0">
                <a:solidFill>
                  <a:srgbClr val="2E377E"/>
                </a:solidFill>
                <a:latin typeface="Georgia"/>
                <a:cs typeface="Georgia"/>
              </a:rPr>
              <a:t>servers</a:t>
            </a:r>
            <a:r>
              <a:rPr sz="3500" spc="-15" dirty="0">
                <a:solidFill>
                  <a:srgbClr val="2E377E"/>
                </a:solidFill>
                <a:latin typeface="Georgia"/>
                <a:cs typeface="Georgia"/>
              </a:rPr>
              <a:t> </a:t>
            </a:r>
            <a:r>
              <a:rPr sz="3500" dirty="0">
                <a:solidFill>
                  <a:srgbClr val="2E377E"/>
                </a:solidFill>
                <a:latin typeface="Georgia"/>
                <a:cs typeface="Georgia"/>
              </a:rPr>
              <a:t>will</a:t>
            </a:r>
            <a:r>
              <a:rPr sz="3500" spc="-10" dirty="0">
                <a:solidFill>
                  <a:srgbClr val="2E377E"/>
                </a:solidFill>
                <a:latin typeface="Georgia"/>
                <a:cs typeface="Georgia"/>
              </a:rPr>
              <a:t> </a:t>
            </a:r>
            <a:r>
              <a:rPr sz="3500" dirty="0">
                <a:solidFill>
                  <a:srgbClr val="2E377E"/>
                </a:solidFill>
                <a:latin typeface="Georgia"/>
                <a:cs typeface="Georgia"/>
              </a:rPr>
              <a:t>become</a:t>
            </a:r>
            <a:r>
              <a:rPr sz="3500" spc="-15" dirty="0">
                <a:solidFill>
                  <a:srgbClr val="2E377E"/>
                </a:solidFill>
                <a:latin typeface="Georgia"/>
                <a:cs typeface="Georgia"/>
              </a:rPr>
              <a:t> </a:t>
            </a:r>
            <a:r>
              <a:rPr sz="3500" dirty="0">
                <a:solidFill>
                  <a:srgbClr val="2E377E"/>
                </a:solidFill>
                <a:latin typeface="Georgia"/>
                <a:cs typeface="Georgia"/>
              </a:rPr>
              <a:t>unused.</a:t>
            </a:r>
            <a:r>
              <a:rPr sz="3500" spc="-10" dirty="0">
                <a:solidFill>
                  <a:srgbClr val="2E377E"/>
                </a:solidFill>
                <a:latin typeface="Georgia"/>
                <a:cs typeface="Georgia"/>
              </a:rPr>
              <a:t> </a:t>
            </a:r>
            <a:r>
              <a:rPr sz="3500" dirty="0">
                <a:solidFill>
                  <a:srgbClr val="2E377E"/>
                </a:solidFill>
                <a:latin typeface="Georgia"/>
                <a:cs typeface="Georgia"/>
              </a:rPr>
              <a:t>Now,</a:t>
            </a:r>
            <a:r>
              <a:rPr sz="3500" spc="-10" dirty="0">
                <a:solidFill>
                  <a:srgbClr val="2E377E"/>
                </a:solidFill>
                <a:latin typeface="Georgia"/>
                <a:cs typeface="Georgia"/>
              </a:rPr>
              <a:t> </a:t>
            </a:r>
            <a:r>
              <a:rPr sz="3500" dirty="0">
                <a:solidFill>
                  <a:srgbClr val="2E377E"/>
                </a:solidFill>
                <a:latin typeface="Georgia"/>
                <a:cs typeface="Georgia"/>
              </a:rPr>
              <a:t>if</a:t>
            </a:r>
            <a:r>
              <a:rPr sz="3500" spc="-10" dirty="0">
                <a:solidFill>
                  <a:srgbClr val="2E377E"/>
                </a:solidFill>
                <a:latin typeface="Georgia"/>
                <a:cs typeface="Georgia"/>
              </a:rPr>
              <a:t> </a:t>
            </a:r>
            <a:r>
              <a:rPr sz="3500" spc="55" dirty="0">
                <a:solidFill>
                  <a:srgbClr val="2E377E"/>
                </a:solidFill>
                <a:latin typeface="Georgia"/>
                <a:cs typeface="Georgia"/>
              </a:rPr>
              <a:t>the</a:t>
            </a:r>
            <a:r>
              <a:rPr sz="3500" spc="-20" dirty="0">
                <a:solidFill>
                  <a:srgbClr val="2E377E"/>
                </a:solidFill>
                <a:latin typeface="Georgia"/>
                <a:cs typeface="Georgia"/>
              </a:rPr>
              <a:t> </a:t>
            </a:r>
            <a:r>
              <a:rPr sz="3500" spc="45" dirty="0">
                <a:solidFill>
                  <a:srgbClr val="2E377E"/>
                </a:solidFill>
                <a:latin typeface="Georgia"/>
                <a:cs typeface="Georgia"/>
              </a:rPr>
              <a:t>server </a:t>
            </a:r>
            <a:r>
              <a:rPr sz="3500" dirty="0">
                <a:solidFill>
                  <a:srgbClr val="2E377E"/>
                </a:solidFill>
                <a:latin typeface="Georgia"/>
                <a:cs typeface="Georgia"/>
              </a:rPr>
              <a:t>is</a:t>
            </a:r>
            <a:r>
              <a:rPr sz="3500" spc="-15" dirty="0">
                <a:solidFill>
                  <a:srgbClr val="2E377E"/>
                </a:solidFill>
                <a:latin typeface="Georgia"/>
                <a:cs typeface="Georgia"/>
              </a:rPr>
              <a:t> </a:t>
            </a:r>
            <a:r>
              <a:rPr sz="3500" dirty="0">
                <a:solidFill>
                  <a:srgbClr val="2E377E"/>
                </a:solidFill>
                <a:latin typeface="Georgia"/>
                <a:cs typeface="Georgia"/>
              </a:rPr>
              <a:t>unused,</a:t>
            </a:r>
            <a:r>
              <a:rPr sz="3500" spc="-10" dirty="0">
                <a:solidFill>
                  <a:srgbClr val="2E377E"/>
                </a:solidFill>
                <a:latin typeface="Georgia"/>
                <a:cs typeface="Georgia"/>
              </a:rPr>
              <a:t> </a:t>
            </a:r>
            <a:r>
              <a:rPr sz="3500" dirty="0">
                <a:solidFill>
                  <a:srgbClr val="2E377E"/>
                </a:solidFill>
                <a:latin typeface="Georgia"/>
                <a:cs typeface="Georgia"/>
              </a:rPr>
              <a:t>still</a:t>
            </a:r>
            <a:r>
              <a:rPr sz="3500" spc="-10" dirty="0">
                <a:solidFill>
                  <a:srgbClr val="2E377E"/>
                </a:solidFill>
                <a:latin typeface="Georgia"/>
                <a:cs typeface="Georgia"/>
              </a:rPr>
              <a:t> </a:t>
            </a:r>
            <a:r>
              <a:rPr sz="3500" spc="85" dirty="0">
                <a:solidFill>
                  <a:srgbClr val="2E377E"/>
                </a:solidFill>
                <a:latin typeface="Georgia"/>
                <a:cs typeface="Georgia"/>
              </a:rPr>
              <a:t>they</a:t>
            </a:r>
            <a:r>
              <a:rPr sz="3500" spc="-15" dirty="0">
                <a:solidFill>
                  <a:srgbClr val="2E377E"/>
                </a:solidFill>
                <a:latin typeface="Georgia"/>
                <a:cs typeface="Georgia"/>
              </a:rPr>
              <a:t> </a:t>
            </a:r>
            <a:r>
              <a:rPr sz="3500" dirty="0">
                <a:solidFill>
                  <a:srgbClr val="2E377E"/>
                </a:solidFill>
                <a:latin typeface="Georgia"/>
                <a:cs typeface="Georgia"/>
              </a:rPr>
              <a:t>have</a:t>
            </a:r>
            <a:r>
              <a:rPr sz="3500" spc="-20" dirty="0">
                <a:solidFill>
                  <a:srgbClr val="2E377E"/>
                </a:solidFill>
                <a:latin typeface="Georgia"/>
                <a:cs typeface="Georgia"/>
              </a:rPr>
              <a:t> </a:t>
            </a:r>
            <a:r>
              <a:rPr sz="3500" dirty="0">
                <a:solidFill>
                  <a:srgbClr val="2E377E"/>
                </a:solidFill>
                <a:latin typeface="Georgia"/>
                <a:cs typeface="Georgia"/>
              </a:rPr>
              <a:t>paid</a:t>
            </a:r>
            <a:r>
              <a:rPr sz="3500" spc="-15" dirty="0">
                <a:solidFill>
                  <a:srgbClr val="2E377E"/>
                </a:solidFill>
                <a:latin typeface="Georgia"/>
                <a:cs typeface="Georgia"/>
              </a:rPr>
              <a:t> </a:t>
            </a:r>
            <a:r>
              <a:rPr sz="3500" dirty="0">
                <a:solidFill>
                  <a:srgbClr val="2E377E"/>
                </a:solidFill>
                <a:latin typeface="Georgia"/>
                <a:cs typeface="Georgia"/>
              </a:rPr>
              <a:t>for</a:t>
            </a:r>
            <a:r>
              <a:rPr sz="3500" spc="-10" dirty="0">
                <a:solidFill>
                  <a:srgbClr val="2E377E"/>
                </a:solidFill>
                <a:latin typeface="Georgia"/>
                <a:cs typeface="Georgia"/>
              </a:rPr>
              <a:t> </a:t>
            </a:r>
            <a:r>
              <a:rPr sz="3500" dirty="0">
                <a:solidFill>
                  <a:srgbClr val="2E377E"/>
                </a:solidFill>
                <a:latin typeface="Georgia"/>
                <a:cs typeface="Georgia"/>
              </a:rPr>
              <a:t>those</a:t>
            </a:r>
            <a:r>
              <a:rPr sz="3500" spc="-20" dirty="0">
                <a:solidFill>
                  <a:srgbClr val="2E377E"/>
                </a:solidFill>
                <a:latin typeface="Georgia"/>
                <a:cs typeface="Georgia"/>
              </a:rPr>
              <a:t> </a:t>
            </a:r>
            <a:r>
              <a:rPr sz="3500" spc="50" dirty="0">
                <a:solidFill>
                  <a:srgbClr val="2E377E"/>
                </a:solidFill>
                <a:latin typeface="Georgia"/>
                <a:cs typeface="Georgia"/>
              </a:rPr>
              <a:t>servers</a:t>
            </a:r>
            <a:r>
              <a:rPr sz="3500" spc="-10" dirty="0">
                <a:solidFill>
                  <a:srgbClr val="2E377E"/>
                </a:solidFill>
                <a:latin typeface="Georgia"/>
                <a:cs typeface="Georgia"/>
              </a:rPr>
              <a:t> </a:t>
            </a:r>
            <a:r>
              <a:rPr sz="3500" spc="50" dirty="0">
                <a:solidFill>
                  <a:srgbClr val="2E377E"/>
                </a:solidFill>
                <a:latin typeface="Georgia"/>
                <a:cs typeface="Georgia"/>
              </a:rPr>
              <a:t>which</a:t>
            </a:r>
            <a:r>
              <a:rPr sz="3500" spc="-15" dirty="0">
                <a:solidFill>
                  <a:srgbClr val="2E377E"/>
                </a:solidFill>
                <a:latin typeface="Georgia"/>
                <a:cs typeface="Georgia"/>
              </a:rPr>
              <a:t> </a:t>
            </a:r>
            <a:r>
              <a:rPr sz="3500" dirty="0">
                <a:solidFill>
                  <a:srgbClr val="2E377E"/>
                </a:solidFill>
                <a:latin typeface="Georgia"/>
                <a:cs typeface="Georgia"/>
              </a:rPr>
              <a:t>is</a:t>
            </a:r>
            <a:r>
              <a:rPr sz="3500" spc="-10" dirty="0">
                <a:solidFill>
                  <a:srgbClr val="2E377E"/>
                </a:solidFill>
                <a:latin typeface="Georgia"/>
                <a:cs typeface="Georgia"/>
              </a:rPr>
              <a:t> </a:t>
            </a:r>
            <a:r>
              <a:rPr sz="3500" dirty="0">
                <a:solidFill>
                  <a:srgbClr val="2E377E"/>
                </a:solidFill>
                <a:latin typeface="Georgia"/>
                <a:cs typeface="Georgia"/>
              </a:rPr>
              <a:t>not</a:t>
            </a:r>
            <a:r>
              <a:rPr sz="3500" spc="-15" dirty="0">
                <a:solidFill>
                  <a:srgbClr val="2E377E"/>
                </a:solidFill>
                <a:latin typeface="Georgia"/>
                <a:cs typeface="Georgia"/>
              </a:rPr>
              <a:t> </a:t>
            </a:r>
            <a:r>
              <a:rPr sz="3500" dirty="0">
                <a:solidFill>
                  <a:srgbClr val="2E377E"/>
                </a:solidFill>
                <a:latin typeface="Georgia"/>
                <a:cs typeface="Georgia"/>
              </a:rPr>
              <a:t>a</a:t>
            </a:r>
            <a:r>
              <a:rPr sz="3500" spc="-15" dirty="0">
                <a:solidFill>
                  <a:srgbClr val="2E377E"/>
                </a:solidFill>
                <a:latin typeface="Georgia"/>
                <a:cs typeface="Georgia"/>
              </a:rPr>
              <a:t> </a:t>
            </a:r>
            <a:r>
              <a:rPr sz="3500" dirty="0">
                <a:solidFill>
                  <a:srgbClr val="2E377E"/>
                </a:solidFill>
                <a:latin typeface="Georgia"/>
                <a:cs typeface="Georgia"/>
              </a:rPr>
              <a:t>cost-</a:t>
            </a:r>
            <a:r>
              <a:rPr sz="3500" spc="50" dirty="0">
                <a:solidFill>
                  <a:srgbClr val="2E377E"/>
                </a:solidFill>
                <a:latin typeface="Georgia"/>
                <a:cs typeface="Georgia"/>
              </a:rPr>
              <a:t>effective </a:t>
            </a:r>
            <a:r>
              <a:rPr sz="3500" spc="-10" dirty="0">
                <a:solidFill>
                  <a:srgbClr val="2E377E"/>
                </a:solidFill>
                <a:latin typeface="Georgia"/>
                <a:cs typeface="Georgia"/>
              </a:rPr>
              <a:t>method.</a:t>
            </a:r>
            <a:endParaRPr sz="3500">
              <a:latin typeface="Georgia"/>
              <a:cs typeface="Georgia"/>
            </a:endParaRPr>
          </a:p>
          <a:p>
            <a:pPr>
              <a:lnSpc>
                <a:spcPct val="100000"/>
              </a:lnSpc>
              <a:spcBef>
                <a:spcPts val="900"/>
              </a:spcBef>
            </a:pPr>
            <a:endParaRPr sz="3500">
              <a:latin typeface="Georgia"/>
              <a:cs typeface="Georgia"/>
            </a:endParaRPr>
          </a:p>
          <a:p>
            <a:pPr marL="12700" marR="5080">
              <a:lnSpc>
                <a:spcPct val="116100"/>
              </a:lnSpc>
            </a:pPr>
            <a:r>
              <a:rPr sz="3500" dirty="0">
                <a:solidFill>
                  <a:srgbClr val="2E377E"/>
                </a:solidFill>
                <a:latin typeface="Georgia"/>
                <a:cs typeface="Georgia"/>
              </a:rPr>
              <a:t>Second,</a:t>
            </a:r>
            <a:r>
              <a:rPr sz="3500" spc="-65" dirty="0">
                <a:solidFill>
                  <a:srgbClr val="2E377E"/>
                </a:solidFill>
                <a:latin typeface="Georgia"/>
                <a:cs typeface="Georgia"/>
              </a:rPr>
              <a:t> </a:t>
            </a:r>
            <a:r>
              <a:rPr sz="3500" dirty="0">
                <a:solidFill>
                  <a:srgbClr val="2E377E"/>
                </a:solidFill>
                <a:latin typeface="Georgia"/>
                <a:cs typeface="Georgia"/>
              </a:rPr>
              <a:t>The</a:t>
            </a:r>
            <a:r>
              <a:rPr sz="3500" spc="-65" dirty="0">
                <a:solidFill>
                  <a:srgbClr val="2E377E"/>
                </a:solidFill>
                <a:latin typeface="Georgia"/>
                <a:cs typeface="Georgia"/>
              </a:rPr>
              <a:t> </a:t>
            </a:r>
            <a:r>
              <a:rPr sz="3500" dirty="0">
                <a:solidFill>
                  <a:srgbClr val="2E377E"/>
                </a:solidFill>
                <a:latin typeface="Georgia"/>
                <a:cs typeface="Georgia"/>
              </a:rPr>
              <a:t>Platform</a:t>
            </a:r>
            <a:r>
              <a:rPr sz="3500" spc="-65" dirty="0">
                <a:solidFill>
                  <a:srgbClr val="2E377E"/>
                </a:solidFill>
                <a:latin typeface="Georgia"/>
                <a:cs typeface="Georgia"/>
              </a:rPr>
              <a:t> </a:t>
            </a:r>
            <a:r>
              <a:rPr sz="3500" dirty="0">
                <a:solidFill>
                  <a:srgbClr val="2E377E"/>
                </a:solidFill>
                <a:latin typeface="Georgia"/>
                <a:cs typeface="Georgia"/>
              </a:rPr>
              <a:t>doesn’t</a:t>
            </a:r>
            <a:r>
              <a:rPr sz="3500" spc="-60" dirty="0">
                <a:solidFill>
                  <a:srgbClr val="2E377E"/>
                </a:solidFill>
                <a:latin typeface="Georgia"/>
                <a:cs typeface="Georgia"/>
              </a:rPr>
              <a:t> </a:t>
            </a:r>
            <a:r>
              <a:rPr sz="3500" spc="70" dirty="0">
                <a:solidFill>
                  <a:srgbClr val="2E377E"/>
                </a:solidFill>
                <a:latin typeface="Georgia"/>
                <a:cs typeface="Georgia"/>
              </a:rPr>
              <a:t>know</a:t>
            </a:r>
            <a:r>
              <a:rPr sz="3500" spc="-65" dirty="0">
                <a:solidFill>
                  <a:srgbClr val="2E377E"/>
                </a:solidFill>
                <a:latin typeface="Georgia"/>
                <a:cs typeface="Georgia"/>
              </a:rPr>
              <a:t> </a:t>
            </a:r>
            <a:r>
              <a:rPr sz="3500" spc="65" dirty="0">
                <a:solidFill>
                  <a:srgbClr val="2E377E"/>
                </a:solidFill>
                <a:latin typeface="Georgia"/>
                <a:cs typeface="Georgia"/>
              </a:rPr>
              <a:t>when</a:t>
            </a:r>
            <a:r>
              <a:rPr sz="3500" spc="-65" dirty="0">
                <a:solidFill>
                  <a:srgbClr val="2E377E"/>
                </a:solidFill>
                <a:latin typeface="Georgia"/>
                <a:cs typeface="Georgia"/>
              </a:rPr>
              <a:t> </a:t>
            </a:r>
            <a:r>
              <a:rPr sz="3500" spc="55" dirty="0">
                <a:solidFill>
                  <a:srgbClr val="2E377E"/>
                </a:solidFill>
                <a:latin typeface="Georgia"/>
                <a:cs typeface="Georgia"/>
              </a:rPr>
              <a:t>the</a:t>
            </a:r>
            <a:r>
              <a:rPr sz="3500" spc="-70" dirty="0">
                <a:solidFill>
                  <a:srgbClr val="2E377E"/>
                </a:solidFill>
                <a:latin typeface="Georgia"/>
                <a:cs typeface="Georgia"/>
              </a:rPr>
              <a:t> </a:t>
            </a:r>
            <a:r>
              <a:rPr sz="3500" dirty="0">
                <a:solidFill>
                  <a:srgbClr val="2E377E"/>
                </a:solidFill>
                <a:latin typeface="Georgia"/>
                <a:cs typeface="Georgia"/>
              </a:rPr>
              <a:t>load</a:t>
            </a:r>
            <a:r>
              <a:rPr sz="3500" spc="-65" dirty="0">
                <a:solidFill>
                  <a:srgbClr val="2E377E"/>
                </a:solidFill>
                <a:latin typeface="Georgia"/>
                <a:cs typeface="Georgia"/>
              </a:rPr>
              <a:t> </a:t>
            </a:r>
            <a:r>
              <a:rPr sz="3500" dirty="0">
                <a:solidFill>
                  <a:srgbClr val="2E377E"/>
                </a:solidFill>
                <a:latin typeface="Georgia"/>
                <a:cs typeface="Georgia"/>
              </a:rPr>
              <a:t>will</a:t>
            </a:r>
            <a:r>
              <a:rPr sz="3500" spc="-60" dirty="0">
                <a:solidFill>
                  <a:srgbClr val="2E377E"/>
                </a:solidFill>
                <a:latin typeface="Georgia"/>
                <a:cs typeface="Georgia"/>
              </a:rPr>
              <a:t> </a:t>
            </a:r>
            <a:r>
              <a:rPr sz="3500" dirty="0">
                <a:solidFill>
                  <a:srgbClr val="2E377E"/>
                </a:solidFill>
                <a:latin typeface="Georgia"/>
                <a:cs typeface="Georgia"/>
              </a:rPr>
              <a:t>increase.</a:t>
            </a:r>
            <a:r>
              <a:rPr sz="3500" spc="-60" dirty="0">
                <a:solidFill>
                  <a:srgbClr val="2E377E"/>
                </a:solidFill>
                <a:latin typeface="Georgia"/>
                <a:cs typeface="Georgia"/>
              </a:rPr>
              <a:t> </a:t>
            </a:r>
            <a:r>
              <a:rPr sz="3500" spc="-35" dirty="0">
                <a:solidFill>
                  <a:srgbClr val="2E377E"/>
                </a:solidFill>
                <a:latin typeface="Georgia"/>
                <a:cs typeface="Georgia"/>
              </a:rPr>
              <a:t>So,</a:t>
            </a:r>
            <a:r>
              <a:rPr sz="3500" spc="-60" dirty="0">
                <a:solidFill>
                  <a:srgbClr val="2E377E"/>
                </a:solidFill>
                <a:latin typeface="Georgia"/>
                <a:cs typeface="Georgia"/>
              </a:rPr>
              <a:t> </a:t>
            </a:r>
            <a:r>
              <a:rPr sz="3500" spc="85" dirty="0">
                <a:solidFill>
                  <a:srgbClr val="2E377E"/>
                </a:solidFill>
                <a:latin typeface="Georgia"/>
                <a:cs typeface="Georgia"/>
              </a:rPr>
              <a:t>they</a:t>
            </a:r>
            <a:r>
              <a:rPr sz="3500" spc="-65" dirty="0">
                <a:solidFill>
                  <a:srgbClr val="2E377E"/>
                </a:solidFill>
                <a:latin typeface="Georgia"/>
                <a:cs typeface="Georgia"/>
              </a:rPr>
              <a:t> </a:t>
            </a:r>
            <a:r>
              <a:rPr sz="3500" spc="-20" dirty="0">
                <a:solidFill>
                  <a:srgbClr val="2E377E"/>
                </a:solidFill>
                <a:latin typeface="Georgia"/>
                <a:cs typeface="Georgia"/>
              </a:rPr>
              <a:t>have </a:t>
            </a:r>
            <a:r>
              <a:rPr sz="3500" dirty="0">
                <a:solidFill>
                  <a:srgbClr val="2E377E"/>
                </a:solidFill>
                <a:latin typeface="Georgia"/>
                <a:cs typeface="Georgia"/>
              </a:rPr>
              <a:t>one</a:t>
            </a:r>
            <a:r>
              <a:rPr sz="3500" spc="-10" dirty="0">
                <a:solidFill>
                  <a:srgbClr val="2E377E"/>
                </a:solidFill>
                <a:latin typeface="Georgia"/>
                <a:cs typeface="Georgia"/>
              </a:rPr>
              <a:t> </a:t>
            </a:r>
            <a:r>
              <a:rPr sz="3500" dirty="0">
                <a:solidFill>
                  <a:srgbClr val="2E377E"/>
                </a:solidFill>
                <a:latin typeface="Georgia"/>
                <a:cs typeface="Georgia"/>
              </a:rPr>
              <a:t>option</a:t>
            </a:r>
            <a:r>
              <a:rPr sz="3500" spc="-10" dirty="0">
                <a:solidFill>
                  <a:srgbClr val="2E377E"/>
                </a:solidFill>
                <a:latin typeface="Georgia"/>
                <a:cs typeface="Georgia"/>
              </a:rPr>
              <a:t> </a:t>
            </a:r>
            <a:r>
              <a:rPr sz="3500" spc="50" dirty="0">
                <a:solidFill>
                  <a:srgbClr val="2E377E"/>
                </a:solidFill>
                <a:latin typeface="Georgia"/>
                <a:cs typeface="Georgia"/>
              </a:rPr>
              <a:t>which</a:t>
            </a:r>
            <a:r>
              <a:rPr sz="3500" spc="-10" dirty="0">
                <a:solidFill>
                  <a:srgbClr val="2E377E"/>
                </a:solidFill>
                <a:latin typeface="Georgia"/>
                <a:cs typeface="Georgia"/>
              </a:rPr>
              <a:t> </a:t>
            </a:r>
            <a:r>
              <a:rPr sz="3500" dirty="0">
                <a:solidFill>
                  <a:srgbClr val="2E377E"/>
                </a:solidFill>
                <a:latin typeface="Georgia"/>
                <a:cs typeface="Georgia"/>
              </a:rPr>
              <a:t>is</a:t>
            </a:r>
            <a:r>
              <a:rPr sz="3500" spc="-5" dirty="0">
                <a:solidFill>
                  <a:srgbClr val="2E377E"/>
                </a:solidFill>
                <a:latin typeface="Georgia"/>
                <a:cs typeface="Georgia"/>
              </a:rPr>
              <a:t> </a:t>
            </a:r>
            <a:r>
              <a:rPr sz="3500" dirty="0">
                <a:solidFill>
                  <a:srgbClr val="2E377E"/>
                </a:solidFill>
                <a:latin typeface="Georgia"/>
                <a:cs typeface="Georgia"/>
              </a:rPr>
              <a:t>autoscaling</a:t>
            </a:r>
            <a:r>
              <a:rPr sz="3500" spc="-10" dirty="0">
                <a:solidFill>
                  <a:srgbClr val="2E377E"/>
                </a:solidFill>
                <a:latin typeface="Georgia"/>
                <a:cs typeface="Georgia"/>
              </a:rPr>
              <a:t> </a:t>
            </a:r>
            <a:r>
              <a:rPr sz="3500" dirty="0">
                <a:solidFill>
                  <a:srgbClr val="2E377E"/>
                </a:solidFill>
                <a:latin typeface="Georgia"/>
                <a:cs typeface="Georgia"/>
              </a:rPr>
              <a:t>in</a:t>
            </a:r>
            <a:r>
              <a:rPr sz="3500" spc="-5" dirty="0">
                <a:solidFill>
                  <a:srgbClr val="2E377E"/>
                </a:solidFill>
                <a:latin typeface="Georgia"/>
                <a:cs typeface="Georgia"/>
              </a:rPr>
              <a:t> </a:t>
            </a:r>
            <a:r>
              <a:rPr sz="3500" spc="50" dirty="0">
                <a:solidFill>
                  <a:srgbClr val="2E377E"/>
                </a:solidFill>
                <a:latin typeface="Georgia"/>
                <a:cs typeface="Georgia"/>
              </a:rPr>
              <a:t>which</a:t>
            </a:r>
            <a:r>
              <a:rPr sz="3500" spc="-10" dirty="0">
                <a:solidFill>
                  <a:srgbClr val="2E377E"/>
                </a:solidFill>
                <a:latin typeface="Georgia"/>
                <a:cs typeface="Georgia"/>
              </a:rPr>
              <a:t> </a:t>
            </a:r>
            <a:r>
              <a:rPr sz="3500" spc="65" dirty="0">
                <a:solidFill>
                  <a:srgbClr val="2E377E"/>
                </a:solidFill>
                <a:latin typeface="Georgia"/>
                <a:cs typeface="Georgia"/>
              </a:rPr>
              <a:t>when</a:t>
            </a:r>
            <a:r>
              <a:rPr sz="3500" spc="-10" dirty="0">
                <a:solidFill>
                  <a:srgbClr val="2E377E"/>
                </a:solidFill>
                <a:latin typeface="Georgia"/>
                <a:cs typeface="Georgia"/>
              </a:rPr>
              <a:t> </a:t>
            </a:r>
            <a:r>
              <a:rPr sz="3500" spc="55" dirty="0">
                <a:solidFill>
                  <a:srgbClr val="2E377E"/>
                </a:solidFill>
                <a:latin typeface="Georgia"/>
                <a:cs typeface="Georgia"/>
              </a:rPr>
              <a:t>the</a:t>
            </a:r>
            <a:r>
              <a:rPr sz="3500" spc="-10" dirty="0">
                <a:solidFill>
                  <a:srgbClr val="2E377E"/>
                </a:solidFill>
                <a:latin typeface="Georgia"/>
                <a:cs typeface="Georgia"/>
              </a:rPr>
              <a:t> </a:t>
            </a:r>
            <a:r>
              <a:rPr sz="3500" spc="-55" dirty="0">
                <a:solidFill>
                  <a:srgbClr val="2E377E"/>
                </a:solidFill>
                <a:latin typeface="Georgia"/>
                <a:cs typeface="Georgia"/>
              </a:rPr>
              <a:t>CPU</a:t>
            </a:r>
            <a:r>
              <a:rPr sz="3500" spc="-10" dirty="0">
                <a:solidFill>
                  <a:srgbClr val="2E377E"/>
                </a:solidFill>
                <a:latin typeface="Georgia"/>
                <a:cs typeface="Georgia"/>
              </a:rPr>
              <a:t> </a:t>
            </a:r>
            <a:r>
              <a:rPr sz="3500" dirty="0">
                <a:solidFill>
                  <a:srgbClr val="2E377E"/>
                </a:solidFill>
                <a:latin typeface="Georgia"/>
                <a:cs typeface="Georgia"/>
              </a:rPr>
              <a:t>utilization</a:t>
            </a:r>
            <a:r>
              <a:rPr sz="3500" spc="-10" dirty="0">
                <a:solidFill>
                  <a:srgbClr val="2E377E"/>
                </a:solidFill>
                <a:latin typeface="Georgia"/>
                <a:cs typeface="Georgia"/>
              </a:rPr>
              <a:t> </a:t>
            </a:r>
            <a:r>
              <a:rPr sz="3500" dirty="0">
                <a:solidFill>
                  <a:srgbClr val="2E377E"/>
                </a:solidFill>
                <a:latin typeface="Georgia"/>
                <a:cs typeface="Georgia"/>
              </a:rPr>
              <a:t>crosses </a:t>
            </a:r>
            <a:r>
              <a:rPr sz="3500" spc="-50" dirty="0">
                <a:solidFill>
                  <a:srgbClr val="2E377E"/>
                </a:solidFill>
                <a:latin typeface="Georgia"/>
                <a:cs typeface="Georgia"/>
              </a:rPr>
              <a:t>a </a:t>
            </a:r>
            <a:r>
              <a:rPr sz="3500" dirty="0">
                <a:solidFill>
                  <a:srgbClr val="2E377E"/>
                </a:solidFill>
                <a:latin typeface="Georgia"/>
                <a:cs typeface="Georgia"/>
              </a:rPr>
              <a:t>particular</a:t>
            </a:r>
            <a:r>
              <a:rPr sz="3500" spc="-10" dirty="0">
                <a:solidFill>
                  <a:srgbClr val="2E377E"/>
                </a:solidFill>
                <a:latin typeface="Georgia"/>
                <a:cs typeface="Georgia"/>
              </a:rPr>
              <a:t> </a:t>
            </a:r>
            <a:r>
              <a:rPr sz="3500" dirty="0">
                <a:solidFill>
                  <a:srgbClr val="2E377E"/>
                </a:solidFill>
                <a:latin typeface="Georgia"/>
                <a:cs typeface="Georgia"/>
              </a:rPr>
              <a:t>number,</a:t>
            </a:r>
            <a:r>
              <a:rPr sz="3500" spc="-10" dirty="0">
                <a:solidFill>
                  <a:srgbClr val="2E377E"/>
                </a:solidFill>
                <a:latin typeface="Georgia"/>
                <a:cs typeface="Georgia"/>
              </a:rPr>
              <a:t> </a:t>
            </a:r>
            <a:r>
              <a:rPr sz="3500" spc="50" dirty="0">
                <a:solidFill>
                  <a:srgbClr val="2E377E"/>
                </a:solidFill>
                <a:latin typeface="Georgia"/>
                <a:cs typeface="Georgia"/>
              </a:rPr>
              <a:t>it</a:t>
            </a:r>
            <a:r>
              <a:rPr sz="3500" spc="-5" dirty="0">
                <a:solidFill>
                  <a:srgbClr val="2E377E"/>
                </a:solidFill>
                <a:latin typeface="Georgia"/>
                <a:cs typeface="Georgia"/>
              </a:rPr>
              <a:t> </a:t>
            </a:r>
            <a:r>
              <a:rPr sz="3500" dirty="0">
                <a:solidFill>
                  <a:srgbClr val="2E377E"/>
                </a:solidFill>
                <a:latin typeface="Georgia"/>
                <a:cs typeface="Georgia"/>
              </a:rPr>
              <a:t>creates</a:t>
            </a:r>
            <a:r>
              <a:rPr sz="3500" spc="-10" dirty="0">
                <a:solidFill>
                  <a:srgbClr val="2E377E"/>
                </a:solidFill>
                <a:latin typeface="Georgia"/>
                <a:cs typeface="Georgia"/>
              </a:rPr>
              <a:t> </a:t>
            </a:r>
            <a:r>
              <a:rPr sz="3500" spc="85" dirty="0">
                <a:solidFill>
                  <a:srgbClr val="2E377E"/>
                </a:solidFill>
                <a:latin typeface="Georgia"/>
                <a:cs typeface="Georgia"/>
              </a:rPr>
              <a:t>new</a:t>
            </a:r>
            <a:r>
              <a:rPr sz="3500" spc="-15" dirty="0">
                <a:solidFill>
                  <a:srgbClr val="2E377E"/>
                </a:solidFill>
                <a:latin typeface="Georgia"/>
                <a:cs typeface="Georgia"/>
              </a:rPr>
              <a:t> </a:t>
            </a:r>
            <a:r>
              <a:rPr sz="3500" dirty="0">
                <a:solidFill>
                  <a:srgbClr val="2E377E"/>
                </a:solidFill>
                <a:latin typeface="Georgia"/>
                <a:cs typeface="Georgia"/>
              </a:rPr>
              <a:t>servers.</a:t>
            </a:r>
            <a:r>
              <a:rPr sz="3500" spc="-10" dirty="0">
                <a:solidFill>
                  <a:srgbClr val="2E377E"/>
                </a:solidFill>
                <a:latin typeface="Georgia"/>
                <a:cs typeface="Georgia"/>
              </a:rPr>
              <a:t> </a:t>
            </a:r>
            <a:r>
              <a:rPr sz="3500" spc="-35" dirty="0">
                <a:solidFill>
                  <a:srgbClr val="2E377E"/>
                </a:solidFill>
                <a:latin typeface="Georgia"/>
                <a:cs typeface="Georgia"/>
              </a:rPr>
              <a:t>So,</a:t>
            </a:r>
            <a:r>
              <a:rPr sz="3500" spc="-5" dirty="0">
                <a:solidFill>
                  <a:srgbClr val="2E377E"/>
                </a:solidFill>
                <a:latin typeface="Georgia"/>
                <a:cs typeface="Georgia"/>
              </a:rPr>
              <a:t> </a:t>
            </a:r>
            <a:r>
              <a:rPr sz="3500" spc="55" dirty="0">
                <a:solidFill>
                  <a:srgbClr val="2E377E"/>
                </a:solidFill>
                <a:latin typeface="Georgia"/>
                <a:cs typeface="Georgia"/>
              </a:rPr>
              <a:t>the</a:t>
            </a:r>
            <a:r>
              <a:rPr sz="3500" spc="-15" dirty="0">
                <a:solidFill>
                  <a:srgbClr val="2E377E"/>
                </a:solidFill>
                <a:latin typeface="Georgia"/>
                <a:cs typeface="Georgia"/>
              </a:rPr>
              <a:t> </a:t>
            </a:r>
            <a:r>
              <a:rPr sz="3500" dirty="0">
                <a:solidFill>
                  <a:srgbClr val="2E377E"/>
                </a:solidFill>
                <a:latin typeface="Georgia"/>
                <a:cs typeface="Georgia"/>
              </a:rPr>
              <a:t>platform</a:t>
            </a:r>
            <a:r>
              <a:rPr sz="3500" spc="-15" dirty="0">
                <a:solidFill>
                  <a:srgbClr val="2E377E"/>
                </a:solidFill>
                <a:latin typeface="Georgia"/>
                <a:cs typeface="Georgia"/>
              </a:rPr>
              <a:t> </a:t>
            </a:r>
            <a:r>
              <a:rPr sz="3500" dirty="0">
                <a:solidFill>
                  <a:srgbClr val="2E377E"/>
                </a:solidFill>
                <a:latin typeface="Georgia"/>
                <a:cs typeface="Georgia"/>
              </a:rPr>
              <a:t>can</a:t>
            </a:r>
            <a:r>
              <a:rPr sz="3500" spc="-15" dirty="0">
                <a:solidFill>
                  <a:srgbClr val="2E377E"/>
                </a:solidFill>
                <a:latin typeface="Georgia"/>
                <a:cs typeface="Georgia"/>
              </a:rPr>
              <a:t> </a:t>
            </a:r>
            <a:r>
              <a:rPr sz="3500" dirty="0">
                <a:solidFill>
                  <a:srgbClr val="2E377E"/>
                </a:solidFill>
                <a:latin typeface="Georgia"/>
                <a:cs typeface="Georgia"/>
              </a:rPr>
              <a:t>handle</a:t>
            </a:r>
            <a:r>
              <a:rPr sz="3500" spc="-10" dirty="0">
                <a:solidFill>
                  <a:srgbClr val="2E377E"/>
                </a:solidFill>
                <a:latin typeface="Georgia"/>
                <a:cs typeface="Georgia"/>
              </a:rPr>
              <a:t> </a:t>
            </a:r>
            <a:r>
              <a:rPr sz="3500" spc="-20" dirty="0">
                <a:solidFill>
                  <a:srgbClr val="2E377E"/>
                </a:solidFill>
                <a:latin typeface="Georgia"/>
                <a:cs typeface="Georgia"/>
              </a:rPr>
              <a:t>loads </a:t>
            </a:r>
            <a:r>
              <a:rPr sz="3500" dirty="0">
                <a:solidFill>
                  <a:srgbClr val="2E377E"/>
                </a:solidFill>
                <a:latin typeface="Georgia"/>
                <a:cs typeface="Georgia"/>
              </a:rPr>
              <a:t>easily</a:t>
            </a:r>
            <a:r>
              <a:rPr sz="3500" spc="-30" dirty="0">
                <a:solidFill>
                  <a:srgbClr val="2E377E"/>
                </a:solidFill>
                <a:latin typeface="Georgia"/>
                <a:cs typeface="Georgia"/>
              </a:rPr>
              <a:t> </a:t>
            </a:r>
            <a:r>
              <a:rPr sz="3500" spc="50" dirty="0">
                <a:solidFill>
                  <a:srgbClr val="2E377E"/>
                </a:solidFill>
                <a:latin typeface="Georgia"/>
                <a:cs typeface="Georgia"/>
              </a:rPr>
              <a:t>which</a:t>
            </a:r>
            <a:r>
              <a:rPr sz="3500" spc="-25" dirty="0">
                <a:solidFill>
                  <a:srgbClr val="2E377E"/>
                </a:solidFill>
                <a:latin typeface="Georgia"/>
                <a:cs typeface="Georgia"/>
              </a:rPr>
              <a:t> </a:t>
            </a:r>
            <a:r>
              <a:rPr sz="3500" dirty="0">
                <a:solidFill>
                  <a:srgbClr val="2E377E"/>
                </a:solidFill>
                <a:latin typeface="Georgia"/>
                <a:cs typeface="Georgia"/>
              </a:rPr>
              <a:t>is</a:t>
            </a:r>
            <a:r>
              <a:rPr sz="3500" spc="-20" dirty="0">
                <a:solidFill>
                  <a:srgbClr val="2E377E"/>
                </a:solidFill>
                <a:latin typeface="Georgia"/>
                <a:cs typeface="Georgia"/>
              </a:rPr>
              <a:t> </a:t>
            </a:r>
            <a:r>
              <a:rPr sz="3500" spc="110" dirty="0">
                <a:solidFill>
                  <a:srgbClr val="2E377E"/>
                </a:solidFill>
                <a:latin typeface="Georgia"/>
                <a:cs typeface="Georgia"/>
              </a:rPr>
              <a:t>very</a:t>
            </a:r>
            <a:r>
              <a:rPr sz="3500" spc="-25" dirty="0">
                <a:solidFill>
                  <a:srgbClr val="2E377E"/>
                </a:solidFill>
                <a:latin typeface="Georgia"/>
                <a:cs typeface="Georgia"/>
              </a:rPr>
              <a:t> </a:t>
            </a:r>
            <a:r>
              <a:rPr sz="3500" dirty="0">
                <a:solidFill>
                  <a:srgbClr val="2E377E"/>
                </a:solidFill>
                <a:latin typeface="Georgia"/>
                <a:cs typeface="Georgia"/>
              </a:rPr>
              <a:t>cost</a:t>
            </a:r>
            <a:r>
              <a:rPr sz="3500" spc="-20" dirty="0">
                <a:solidFill>
                  <a:srgbClr val="2E377E"/>
                </a:solidFill>
                <a:latin typeface="Georgia"/>
                <a:cs typeface="Georgia"/>
              </a:rPr>
              <a:t> </a:t>
            </a:r>
            <a:r>
              <a:rPr sz="3500" spc="60" dirty="0">
                <a:solidFill>
                  <a:srgbClr val="2E377E"/>
                </a:solidFill>
                <a:latin typeface="Georgia"/>
                <a:cs typeface="Georgia"/>
              </a:rPr>
              <a:t>effective</a:t>
            </a:r>
            <a:r>
              <a:rPr sz="3500" spc="-25" dirty="0">
                <a:solidFill>
                  <a:srgbClr val="2E377E"/>
                </a:solidFill>
                <a:latin typeface="Georgia"/>
                <a:cs typeface="Georgia"/>
              </a:rPr>
              <a:t> </a:t>
            </a:r>
            <a:r>
              <a:rPr sz="3500" dirty="0">
                <a:solidFill>
                  <a:srgbClr val="2E377E"/>
                </a:solidFill>
                <a:latin typeface="Georgia"/>
                <a:cs typeface="Georgia"/>
              </a:rPr>
              <a:t>as</a:t>
            </a:r>
            <a:r>
              <a:rPr sz="3500" spc="-20" dirty="0">
                <a:solidFill>
                  <a:srgbClr val="2E377E"/>
                </a:solidFill>
                <a:latin typeface="Georgia"/>
                <a:cs typeface="Georgia"/>
              </a:rPr>
              <a:t> </a:t>
            </a:r>
            <a:r>
              <a:rPr sz="3500" spc="-10" dirty="0">
                <a:solidFill>
                  <a:srgbClr val="2E377E"/>
                </a:solidFill>
                <a:latin typeface="Georgia"/>
                <a:cs typeface="Georgia"/>
              </a:rPr>
              <a:t>well.</a:t>
            </a:r>
            <a:endParaRPr sz="3500">
              <a:latin typeface="Georgia"/>
              <a:cs typeface="Georgia"/>
            </a:endParaRPr>
          </a:p>
        </p:txBody>
      </p:sp>
      <p:pic>
        <p:nvPicPr>
          <p:cNvPr id="4" name="object 4"/>
          <p:cNvPicPr/>
          <p:nvPr/>
        </p:nvPicPr>
        <p:blipFill>
          <a:blip r:embed="rId3" cstate="print"/>
          <a:stretch>
            <a:fillRect/>
          </a:stretch>
        </p:blipFill>
        <p:spPr>
          <a:xfrm>
            <a:off x="1685193" y="5787054"/>
            <a:ext cx="133350" cy="133349"/>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4697" y="971582"/>
            <a:ext cx="4729480" cy="635000"/>
          </a:xfrm>
          <a:prstGeom prst="rect">
            <a:avLst/>
          </a:prstGeom>
        </p:spPr>
        <p:txBody>
          <a:bodyPr vert="horz" wrap="square" lIns="0" tIns="12700" rIns="0" bIns="0" rtlCol="0">
            <a:spAutoFit/>
          </a:bodyPr>
          <a:lstStyle/>
          <a:p>
            <a:pPr marL="12700">
              <a:lnSpc>
                <a:spcPct val="100000"/>
              </a:lnSpc>
              <a:spcBef>
                <a:spcPts val="100"/>
              </a:spcBef>
            </a:pPr>
            <a:r>
              <a:rPr sz="4000" b="0" spc="165" dirty="0">
                <a:solidFill>
                  <a:srgbClr val="2E377E"/>
                </a:solidFill>
                <a:latin typeface="Times New Roman"/>
                <a:cs typeface="Times New Roman"/>
              </a:rPr>
              <a:t>Types</a:t>
            </a:r>
            <a:r>
              <a:rPr sz="4000" b="0" spc="-125" dirty="0">
                <a:solidFill>
                  <a:srgbClr val="2E377E"/>
                </a:solidFill>
                <a:latin typeface="Times New Roman"/>
                <a:cs typeface="Times New Roman"/>
              </a:rPr>
              <a:t> </a:t>
            </a:r>
            <a:r>
              <a:rPr sz="4000" b="0" spc="95" dirty="0">
                <a:solidFill>
                  <a:srgbClr val="2E377E"/>
                </a:solidFill>
                <a:latin typeface="Times New Roman"/>
                <a:cs typeface="Times New Roman"/>
              </a:rPr>
              <a:t>of</a:t>
            </a:r>
            <a:r>
              <a:rPr sz="4000" b="0" spc="-125" dirty="0">
                <a:solidFill>
                  <a:srgbClr val="2E377E"/>
                </a:solidFill>
                <a:latin typeface="Times New Roman"/>
                <a:cs typeface="Times New Roman"/>
              </a:rPr>
              <a:t> </a:t>
            </a:r>
            <a:r>
              <a:rPr sz="4000" b="0" spc="135" dirty="0">
                <a:solidFill>
                  <a:srgbClr val="2E377E"/>
                </a:solidFill>
                <a:latin typeface="Times New Roman"/>
                <a:cs typeface="Times New Roman"/>
              </a:rPr>
              <a:t>Autoscaling</a:t>
            </a:r>
            <a:endParaRPr sz="4000">
              <a:latin typeface="Times New Roman"/>
              <a:cs typeface="Times New Roman"/>
            </a:endParaRPr>
          </a:p>
        </p:txBody>
      </p:sp>
      <p:pic>
        <p:nvPicPr>
          <p:cNvPr id="3" name="object 3"/>
          <p:cNvPicPr/>
          <p:nvPr/>
        </p:nvPicPr>
        <p:blipFill>
          <a:blip r:embed="rId2" cstate="print"/>
          <a:stretch>
            <a:fillRect/>
          </a:stretch>
        </p:blipFill>
        <p:spPr>
          <a:xfrm>
            <a:off x="1566496" y="2559050"/>
            <a:ext cx="133350" cy="133349"/>
          </a:xfrm>
          <a:prstGeom prst="rect">
            <a:avLst/>
          </a:prstGeom>
        </p:spPr>
      </p:pic>
      <p:sp>
        <p:nvSpPr>
          <p:cNvPr id="4" name="object 4"/>
          <p:cNvSpPr txBox="1"/>
          <p:nvPr/>
        </p:nvSpPr>
        <p:spPr>
          <a:xfrm>
            <a:off x="1890297" y="2216137"/>
            <a:ext cx="15365730" cy="6835775"/>
          </a:xfrm>
          <a:prstGeom prst="rect">
            <a:avLst/>
          </a:prstGeom>
        </p:spPr>
        <p:txBody>
          <a:bodyPr vert="horz" wrap="square" lIns="0" tIns="12065" rIns="0" bIns="0" rtlCol="0">
            <a:spAutoFit/>
          </a:bodyPr>
          <a:lstStyle/>
          <a:p>
            <a:pPr marL="12700" marR="5080">
              <a:lnSpc>
                <a:spcPct val="116100"/>
              </a:lnSpc>
              <a:spcBef>
                <a:spcPts val="95"/>
              </a:spcBef>
            </a:pPr>
            <a:r>
              <a:rPr sz="3500" dirty="0">
                <a:solidFill>
                  <a:srgbClr val="2E377E"/>
                </a:solidFill>
                <a:latin typeface="Georgia"/>
                <a:cs typeface="Georgia"/>
              </a:rPr>
              <a:t>Horizontal</a:t>
            </a:r>
            <a:r>
              <a:rPr sz="3500" spc="-70" dirty="0">
                <a:solidFill>
                  <a:srgbClr val="2E377E"/>
                </a:solidFill>
                <a:latin typeface="Georgia"/>
                <a:cs typeface="Georgia"/>
              </a:rPr>
              <a:t> </a:t>
            </a:r>
            <a:r>
              <a:rPr sz="3500" dirty="0">
                <a:solidFill>
                  <a:srgbClr val="2E377E"/>
                </a:solidFill>
                <a:latin typeface="Georgia"/>
                <a:cs typeface="Georgia"/>
              </a:rPr>
              <a:t>Pod</a:t>
            </a:r>
            <a:r>
              <a:rPr sz="3500" spc="-70" dirty="0">
                <a:solidFill>
                  <a:srgbClr val="2E377E"/>
                </a:solidFill>
                <a:latin typeface="Georgia"/>
                <a:cs typeface="Georgia"/>
              </a:rPr>
              <a:t> </a:t>
            </a:r>
            <a:r>
              <a:rPr sz="3500" spc="-10" dirty="0">
                <a:solidFill>
                  <a:srgbClr val="2E377E"/>
                </a:solidFill>
                <a:latin typeface="Georgia"/>
                <a:cs typeface="Georgia"/>
              </a:rPr>
              <a:t>AutoScaling:</a:t>
            </a:r>
            <a:r>
              <a:rPr sz="3500" spc="-65" dirty="0">
                <a:solidFill>
                  <a:srgbClr val="2E377E"/>
                </a:solidFill>
                <a:latin typeface="Georgia"/>
                <a:cs typeface="Georgia"/>
              </a:rPr>
              <a:t> </a:t>
            </a:r>
            <a:r>
              <a:rPr sz="3500" dirty="0">
                <a:solidFill>
                  <a:srgbClr val="2E377E"/>
                </a:solidFill>
                <a:latin typeface="Georgia"/>
                <a:cs typeface="Georgia"/>
              </a:rPr>
              <a:t>In</a:t>
            </a:r>
            <a:r>
              <a:rPr sz="3500" spc="-75" dirty="0">
                <a:solidFill>
                  <a:srgbClr val="2E377E"/>
                </a:solidFill>
                <a:latin typeface="Georgia"/>
                <a:cs typeface="Georgia"/>
              </a:rPr>
              <a:t> </a:t>
            </a:r>
            <a:r>
              <a:rPr sz="3500" dirty="0">
                <a:solidFill>
                  <a:srgbClr val="2E377E"/>
                </a:solidFill>
                <a:latin typeface="Georgia"/>
                <a:cs typeface="Georgia"/>
              </a:rPr>
              <a:t>this</a:t>
            </a:r>
            <a:r>
              <a:rPr sz="3500" spc="-65" dirty="0">
                <a:solidFill>
                  <a:srgbClr val="2E377E"/>
                </a:solidFill>
                <a:latin typeface="Georgia"/>
                <a:cs typeface="Georgia"/>
              </a:rPr>
              <a:t> </a:t>
            </a:r>
            <a:r>
              <a:rPr sz="3500" spc="90" dirty="0">
                <a:solidFill>
                  <a:srgbClr val="2E377E"/>
                </a:solidFill>
                <a:latin typeface="Georgia"/>
                <a:cs typeface="Georgia"/>
              </a:rPr>
              <a:t>type</a:t>
            </a:r>
            <a:r>
              <a:rPr sz="3500" spc="-70" dirty="0">
                <a:solidFill>
                  <a:srgbClr val="2E377E"/>
                </a:solidFill>
                <a:latin typeface="Georgia"/>
                <a:cs typeface="Georgia"/>
              </a:rPr>
              <a:t> </a:t>
            </a:r>
            <a:r>
              <a:rPr sz="3500" dirty="0">
                <a:solidFill>
                  <a:srgbClr val="2E377E"/>
                </a:solidFill>
                <a:latin typeface="Georgia"/>
                <a:cs typeface="Georgia"/>
              </a:rPr>
              <a:t>of</a:t>
            </a:r>
            <a:r>
              <a:rPr sz="3500" spc="-65" dirty="0">
                <a:solidFill>
                  <a:srgbClr val="2E377E"/>
                </a:solidFill>
                <a:latin typeface="Georgia"/>
                <a:cs typeface="Georgia"/>
              </a:rPr>
              <a:t> </a:t>
            </a:r>
            <a:r>
              <a:rPr sz="3500" dirty="0">
                <a:solidFill>
                  <a:srgbClr val="2E377E"/>
                </a:solidFill>
                <a:latin typeface="Georgia"/>
                <a:cs typeface="Georgia"/>
              </a:rPr>
              <a:t>scaling,</a:t>
            </a:r>
            <a:r>
              <a:rPr sz="3500" spc="-70" dirty="0">
                <a:solidFill>
                  <a:srgbClr val="2E377E"/>
                </a:solidFill>
                <a:latin typeface="Georgia"/>
                <a:cs typeface="Georgia"/>
              </a:rPr>
              <a:t> </a:t>
            </a:r>
            <a:r>
              <a:rPr sz="3500" spc="55" dirty="0">
                <a:solidFill>
                  <a:srgbClr val="2E377E"/>
                </a:solidFill>
                <a:latin typeface="Georgia"/>
                <a:cs typeface="Georgia"/>
              </a:rPr>
              <a:t>the</a:t>
            </a:r>
            <a:r>
              <a:rPr sz="3500" spc="-70" dirty="0">
                <a:solidFill>
                  <a:srgbClr val="2E377E"/>
                </a:solidFill>
                <a:latin typeface="Georgia"/>
                <a:cs typeface="Georgia"/>
              </a:rPr>
              <a:t> </a:t>
            </a:r>
            <a:r>
              <a:rPr sz="3500" dirty="0">
                <a:solidFill>
                  <a:srgbClr val="2E377E"/>
                </a:solidFill>
                <a:latin typeface="Georgia"/>
                <a:cs typeface="Georgia"/>
              </a:rPr>
              <a:t>number</a:t>
            </a:r>
            <a:r>
              <a:rPr sz="3500" spc="-65" dirty="0">
                <a:solidFill>
                  <a:srgbClr val="2E377E"/>
                </a:solidFill>
                <a:latin typeface="Georgia"/>
                <a:cs typeface="Georgia"/>
              </a:rPr>
              <a:t> </a:t>
            </a:r>
            <a:r>
              <a:rPr sz="3500" dirty="0">
                <a:solidFill>
                  <a:srgbClr val="2E377E"/>
                </a:solidFill>
                <a:latin typeface="Georgia"/>
                <a:cs typeface="Georgia"/>
              </a:rPr>
              <a:t>of</a:t>
            </a:r>
            <a:r>
              <a:rPr sz="3500" spc="-70" dirty="0">
                <a:solidFill>
                  <a:srgbClr val="2E377E"/>
                </a:solidFill>
                <a:latin typeface="Georgia"/>
                <a:cs typeface="Georgia"/>
              </a:rPr>
              <a:t> </a:t>
            </a:r>
            <a:r>
              <a:rPr sz="3500" spc="50" dirty="0">
                <a:solidFill>
                  <a:srgbClr val="2E377E"/>
                </a:solidFill>
                <a:latin typeface="Georgia"/>
                <a:cs typeface="Georgia"/>
              </a:rPr>
              <a:t>servers</a:t>
            </a:r>
            <a:r>
              <a:rPr sz="3500" spc="-65" dirty="0">
                <a:solidFill>
                  <a:srgbClr val="2E377E"/>
                </a:solidFill>
                <a:latin typeface="Georgia"/>
                <a:cs typeface="Georgia"/>
              </a:rPr>
              <a:t> </a:t>
            </a:r>
            <a:r>
              <a:rPr sz="3500" spc="-20" dirty="0">
                <a:solidFill>
                  <a:srgbClr val="2E377E"/>
                </a:solidFill>
                <a:latin typeface="Georgia"/>
                <a:cs typeface="Georgia"/>
              </a:rPr>
              <a:t>will </a:t>
            </a:r>
            <a:r>
              <a:rPr sz="3500" dirty="0">
                <a:solidFill>
                  <a:srgbClr val="2E377E"/>
                </a:solidFill>
                <a:latin typeface="Georgia"/>
                <a:cs typeface="Georgia"/>
              </a:rPr>
              <a:t>increase</a:t>
            </a:r>
            <a:r>
              <a:rPr sz="3500" spc="-45" dirty="0">
                <a:solidFill>
                  <a:srgbClr val="2E377E"/>
                </a:solidFill>
                <a:latin typeface="Georgia"/>
                <a:cs typeface="Georgia"/>
              </a:rPr>
              <a:t> </a:t>
            </a:r>
            <a:r>
              <a:rPr sz="3500" dirty="0">
                <a:solidFill>
                  <a:srgbClr val="2E377E"/>
                </a:solidFill>
                <a:latin typeface="Georgia"/>
                <a:cs typeface="Georgia"/>
              </a:rPr>
              <a:t>according</a:t>
            </a:r>
            <a:r>
              <a:rPr sz="3500" spc="-40" dirty="0">
                <a:solidFill>
                  <a:srgbClr val="2E377E"/>
                </a:solidFill>
                <a:latin typeface="Georgia"/>
                <a:cs typeface="Georgia"/>
              </a:rPr>
              <a:t> </a:t>
            </a:r>
            <a:r>
              <a:rPr sz="3500" spc="55" dirty="0">
                <a:solidFill>
                  <a:srgbClr val="2E377E"/>
                </a:solidFill>
                <a:latin typeface="Georgia"/>
                <a:cs typeface="Georgia"/>
              </a:rPr>
              <a:t>to</a:t>
            </a:r>
            <a:r>
              <a:rPr sz="3500" spc="-40" dirty="0">
                <a:solidFill>
                  <a:srgbClr val="2E377E"/>
                </a:solidFill>
                <a:latin typeface="Georgia"/>
                <a:cs typeface="Georgia"/>
              </a:rPr>
              <a:t> </a:t>
            </a:r>
            <a:r>
              <a:rPr sz="3500" spc="-55" dirty="0">
                <a:solidFill>
                  <a:srgbClr val="2E377E"/>
                </a:solidFill>
                <a:latin typeface="Georgia"/>
                <a:cs typeface="Georgia"/>
              </a:rPr>
              <a:t>CPU</a:t>
            </a:r>
            <a:r>
              <a:rPr sz="3500" spc="-40" dirty="0">
                <a:solidFill>
                  <a:srgbClr val="2E377E"/>
                </a:solidFill>
                <a:latin typeface="Georgia"/>
                <a:cs typeface="Georgia"/>
              </a:rPr>
              <a:t> </a:t>
            </a:r>
            <a:r>
              <a:rPr sz="3500" dirty="0">
                <a:solidFill>
                  <a:srgbClr val="2E377E"/>
                </a:solidFill>
                <a:latin typeface="Georgia"/>
                <a:cs typeface="Georgia"/>
              </a:rPr>
              <a:t>utilization.</a:t>
            </a:r>
            <a:r>
              <a:rPr sz="3500" spc="-35" dirty="0">
                <a:solidFill>
                  <a:srgbClr val="2E377E"/>
                </a:solidFill>
                <a:latin typeface="Georgia"/>
                <a:cs typeface="Georgia"/>
              </a:rPr>
              <a:t> </a:t>
            </a:r>
            <a:r>
              <a:rPr sz="3500" dirty="0">
                <a:solidFill>
                  <a:srgbClr val="2E377E"/>
                </a:solidFill>
                <a:latin typeface="Georgia"/>
                <a:cs typeface="Georgia"/>
              </a:rPr>
              <a:t>In</a:t>
            </a:r>
            <a:r>
              <a:rPr sz="3500" spc="-40" dirty="0">
                <a:solidFill>
                  <a:srgbClr val="2E377E"/>
                </a:solidFill>
                <a:latin typeface="Georgia"/>
                <a:cs typeface="Georgia"/>
              </a:rPr>
              <a:t> </a:t>
            </a:r>
            <a:r>
              <a:rPr sz="3500" dirty="0">
                <a:solidFill>
                  <a:srgbClr val="2E377E"/>
                </a:solidFill>
                <a:latin typeface="Georgia"/>
                <a:cs typeface="Georgia"/>
              </a:rPr>
              <a:t>this,</a:t>
            </a:r>
            <a:r>
              <a:rPr sz="3500" spc="-35" dirty="0">
                <a:solidFill>
                  <a:srgbClr val="2E377E"/>
                </a:solidFill>
                <a:latin typeface="Georgia"/>
                <a:cs typeface="Georgia"/>
              </a:rPr>
              <a:t> </a:t>
            </a:r>
            <a:r>
              <a:rPr sz="3500" spc="85" dirty="0">
                <a:solidFill>
                  <a:srgbClr val="2E377E"/>
                </a:solidFill>
                <a:latin typeface="Georgia"/>
                <a:cs typeface="Georgia"/>
              </a:rPr>
              <a:t>you</a:t>
            </a:r>
            <a:r>
              <a:rPr sz="3500" spc="-40" dirty="0">
                <a:solidFill>
                  <a:srgbClr val="2E377E"/>
                </a:solidFill>
                <a:latin typeface="Georgia"/>
                <a:cs typeface="Georgia"/>
              </a:rPr>
              <a:t> </a:t>
            </a:r>
            <a:r>
              <a:rPr sz="3500" dirty="0">
                <a:solidFill>
                  <a:srgbClr val="2E377E"/>
                </a:solidFill>
                <a:latin typeface="Georgia"/>
                <a:cs typeface="Georgia"/>
              </a:rPr>
              <a:t>define</a:t>
            </a:r>
            <a:r>
              <a:rPr sz="3500" spc="-40" dirty="0">
                <a:solidFill>
                  <a:srgbClr val="2E377E"/>
                </a:solidFill>
                <a:latin typeface="Georgia"/>
                <a:cs typeface="Georgia"/>
              </a:rPr>
              <a:t> </a:t>
            </a:r>
            <a:r>
              <a:rPr sz="3500" spc="55" dirty="0">
                <a:solidFill>
                  <a:srgbClr val="2E377E"/>
                </a:solidFill>
                <a:latin typeface="Georgia"/>
                <a:cs typeface="Georgia"/>
              </a:rPr>
              <a:t>the</a:t>
            </a:r>
            <a:r>
              <a:rPr sz="3500" spc="-40" dirty="0">
                <a:solidFill>
                  <a:srgbClr val="2E377E"/>
                </a:solidFill>
                <a:latin typeface="Georgia"/>
                <a:cs typeface="Georgia"/>
              </a:rPr>
              <a:t> </a:t>
            </a:r>
            <a:r>
              <a:rPr sz="3500" spc="-10" dirty="0">
                <a:solidFill>
                  <a:srgbClr val="2E377E"/>
                </a:solidFill>
                <a:latin typeface="Georgia"/>
                <a:cs typeface="Georgia"/>
              </a:rPr>
              <a:t>minimum </a:t>
            </a:r>
            <a:r>
              <a:rPr sz="3500" dirty="0">
                <a:solidFill>
                  <a:srgbClr val="2E377E"/>
                </a:solidFill>
                <a:latin typeface="Georgia"/>
                <a:cs typeface="Georgia"/>
              </a:rPr>
              <a:t>number</a:t>
            </a:r>
            <a:r>
              <a:rPr sz="3500" spc="15" dirty="0">
                <a:solidFill>
                  <a:srgbClr val="2E377E"/>
                </a:solidFill>
                <a:latin typeface="Georgia"/>
                <a:cs typeface="Georgia"/>
              </a:rPr>
              <a:t> </a:t>
            </a:r>
            <a:r>
              <a:rPr sz="3500" dirty="0">
                <a:solidFill>
                  <a:srgbClr val="2E377E"/>
                </a:solidFill>
                <a:latin typeface="Georgia"/>
                <a:cs typeface="Georgia"/>
              </a:rPr>
              <a:t>of</a:t>
            </a:r>
            <a:r>
              <a:rPr sz="3500" spc="20" dirty="0">
                <a:solidFill>
                  <a:srgbClr val="2E377E"/>
                </a:solidFill>
                <a:latin typeface="Georgia"/>
                <a:cs typeface="Georgia"/>
              </a:rPr>
              <a:t> </a:t>
            </a:r>
            <a:r>
              <a:rPr sz="3500" dirty="0">
                <a:solidFill>
                  <a:srgbClr val="2E377E"/>
                </a:solidFill>
                <a:latin typeface="Georgia"/>
                <a:cs typeface="Georgia"/>
              </a:rPr>
              <a:t>servers,</a:t>
            </a:r>
            <a:r>
              <a:rPr sz="3500" spc="15" dirty="0">
                <a:solidFill>
                  <a:srgbClr val="2E377E"/>
                </a:solidFill>
                <a:latin typeface="Georgia"/>
                <a:cs typeface="Georgia"/>
              </a:rPr>
              <a:t> </a:t>
            </a:r>
            <a:r>
              <a:rPr sz="3500" dirty="0">
                <a:solidFill>
                  <a:srgbClr val="2E377E"/>
                </a:solidFill>
                <a:latin typeface="Georgia"/>
                <a:cs typeface="Georgia"/>
              </a:rPr>
              <a:t>maximum</a:t>
            </a:r>
            <a:r>
              <a:rPr sz="3500" spc="15" dirty="0">
                <a:solidFill>
                  <a:srgbClr val="2E377E"/>
                </a:solidFill>
                <a:latin typeface="Georgia"/>
                <a:cs typeface="Georgia"/>
              </a:rPr>
              <a:t> </a:t>
            </a:r>
            <a:r>
              <a:rPr sz="3500" dirty="0">
                <a:solidFill>
                  <a:srgbClr val="2E377E"/>
                </a:solidFill>
                <a:latin typeface="Georgia"/>
                <a:cs typeface="Georgia"/>
              </a:rPr>
              <a:t>number</a:t>
            </a:r>
            <a:r>
              <a:rPr sz="3500" spc="15" dirty="0">
                <a:solidFill>
                  <a:srgbClr val="2E377E"/>
                </a:solidFill>
                <a:latin typeface="Georgia"/>
                <a:cs typeface="Georgia"/>
              </a:rPr>
              <a:t> </a:t>
            </a:r>
            <a:r>
              <a:rPr sz="3500" dirty="0">
                <a:solidFill>
                  <a:srgbClr val="2E377E"/>
                </a:solidFill>
                <a:latin typeface="Georgia"/>
                <a:cs typeface="Georgia"/>
              </a:rPr>
              <a:t>of</a:t>
            </a:r>
            <a:r>
              <a:rPr sz="3500" spc="20" dirty="0">
                <a:solidFill>
                  <a:srgbClr val="2E377E"/>
                </a:solidFill>
                <a:latin typeface="Georgia"/>
                <a:cs typeface="Georgia"/>
              </a:rPr>
              <a:t> </a:t>
            </a:r>
            <a:r>
              <a:rPr sz="3500" dirty="0">
                <a:solidFill>
                  <a:srgbClr val="2E377E"/>
                </a:solidFill>
                <a:latin typeface="Georgia"/>
                <a:cs typeface="Georgia"/>
              </a:rPr>
              <a:t>servers,</a:t>
            </a:r>
            <a:r>
              <a:rPr sz="3500" spc="15" dirty="0">
                <a:solidFill>
                  <a:srgbClr val="2E377E"/>
                </a:solidFill>
                <a:latin typeface="Georgia"/>
                <a:cs typeface="Georgia"/>
              </a:rPr>
              <a:t> </a:t>
            </a:r>
            <a:r>
              <a:rPr sz="3500" dirty="0">
                <a:solidFill>
                  <a:srgbClr val="2E377E"/>
                </a:solidFill>
                <a:latin typeface="Georgia"/>
                <a:cs typeface="Georgia"/>
              </a:rPr>
              <a:t>and</a:t>
            </a:r>
            <a:r>
              <a:rPr sz="3500" spc="10" dirty="0">
                <a:solidFill>
                  <a:srgbClr val="2E377E"/>
                </a:solidFill>
                <a:latin typeface="Georgia"/>
                <a:cs typeface="Georgia"/>
              </a:rPr>
              <a:t> </a:t>
            </a:r>
            <a:r>
              <a:rPr sz="3500" spc="-55" dirty="0">
                <a:solidFill>
                  <a:srgbClr val="2E377E"/>
                </a:solidFill>
                <a:latin typeface="Georgia"/>
                <a:cs typeface="Georgia"/>
              </a:rPr>
              <a:t>CPU</a:t>
            </a:r>
            <a:r>
              <a:rPr sz="3500" spc="15" dirty="0">
                <a:solidFill>
                  <a:srgbClr val="2E377E"/>
                </a:solidFill>
                <a:latin typeface="Georgia"/>
                <a:cs typeface="Georgia"/>
              </a:rPr>
              <a:t> </a:t>
            </a:r>
            <a:r>
              <a:rPr sz="3500" dirty="0">
                <a:solidFill>
                  <a:srgbClr val="2E377E"/>
                </a:solidFill>
                <a:latin typeface="Georgia"/>
                <a:cs typeface="Georgia"/>
              </a:rPr>
              <a:t>utilization.</a:t>
            </a:r>
            <a:r>
              <a:rPr sz="3500" spc="15" dirty="0">
                <a:solidFill>
                  <a:srgbClr val="2E377E"/>
                </a:solidFill>
                <a:latin typeface="Georgia"/>
                <a:cs typeface="Georgia"/>
              </a:rPr>
              <a:t> </a:t>
            </a:r>
            <a:r>
              <a:rPr sz="3500" dirty="0">
                <a:solidFill>
                  <a:srgbClr val="2E377E"/>
                </a:solidFill>
                <a:latin typeface="Georgia"/>
                <a:cs typeface="Georgia"/>
              </a:rPr>
              <a:t>If</a:t>
            </a:r>
            <a:r>
              <a:rPr sz="3500" spc="20" dirty="0">
                <a:solidFill>
                  <a:srgbClr val="2E377E"/>
                </a:solidFill>
                <a:latin typeface="Georgia"/>
                <a:cs typeface="Georgia"/>
              </a:rPr>
              <a:t> </a:t>
            </a:r>
            <a:r>
              <a:rPr sz="3500" spc="30" dirty="0">
                <a:solidFill>
                  <a:srgbClr val="2E377E"/>
                </a:solidFill>
                <a:latin typeface="Georgia"/>
                <a:cs typeface="Georgia"/>
              </a:rPr>
              <a:t>the </a:t>
            </a:r>
            <a:r>
              <a:rPr sz="3500" spc="-55" dirty="0">
                <a:solidFill>
                  <a:srgbClr val="2E377E"/>
                </a:solidFill>
                <a:latin typeface="Georgia"/>
                <a:cs typeface="Georgia"/>
              </a:rPr>
              <a:t>CPU</a:t>
            </a:r>
            <a:r>
              <a:rPr sz="3500" spc="-10" dirty="0">
                <a:solidFill>
                  <a:srgbClr val="2E377E"/>
                </a:solidFill>
                <a:latin typeface="Georgia"/>
                <a:cs typeface="Georgia"/>
              </a:rPr>
              <a:t> </a:t>
            </a:r>
            <a:r>
              <a:rPr sz="3500" dirty="0">
                <a:solidFill>
                  <a:srgbClr val="2E377E"/>
                </a:solidFill>
                <a:latin typeface="Georgia"/>
                <a:cs typeface="Georgia"/>
              </a:rPr>
              <a:t>utilization</a:t>
            </a:r>
            <a:r>
              <a:rPr sz="3500" spc="-10" dirty="0">
                <a:solidFill>
                  <a:srgbClr val="2E377E"/>
                </a:solidFill>
                <a:latin typeface="Georgia"/>
                <a:cs typeface="Georgia"/>
              </a:rPr>
              <a:t> </a:t>
            </a:r>
            <a:r>
              <a:rPr sz="3500" dirty="0">
                <a:solidFill>
                  <a:srgbClr val="2E377E"/>
                </a:solidFill>
                <a:latin typeface="Georgia"/>
                <a:cs typeface="Georgia"/>
              </a:rPr>
              <a:t>crosses</a:t>
            </a:r>
            <a:r>
              <a:rPr sz="3500" spc="-5" dirty="0">
                <a:solidFill>
                  <a:srgbClr val="2E377E"/>
                </a:solidFill>
                <a:latin typeface="Georgia"/>
                <a:cs typeface="Georgia"/>
              </a:rPr>
              <a:t> </a:t>
            </a:r>
            <a:r>
              <a:rPr sz="3500" dirty="0">
                <a:solidFill>
                  <a:srgbClr val="2E377E"/>
                </a:solidFill>
                <a:latin typeface="Georgia"/>
                <a:cs typeface="Georgia"/>
              </a:rPr>
              <a:t>more</a:t>
            </a:r>
            <a:r>
              <a:rPr sz="3500" spc="-10" dirty="0">
                <a:solidFill>
                  <a:srgbClr val="2E377E"/>
                </a:solidFill>
                <a:latin typeface="Georgia"/>
                <a:cs typeface="Georgia"/>
              </a:rPr>
              <a:t> </a:t>
            </a:r>
            <a:r>
              <a:rPr sz="3500" dirty="0">
                <a:solidFill>
                  <a:srgbClr val="2E377E"/>
                </a:solidFill>
                <a:latin typeface="Georgia"/>
                <a:cs typeface="Georgia"/>
              </a:rPr>
              <a:t>than</a:t>
            </a:r>
            <a:r>
              <a:rPr sz="3500" spc="-10" dirty="0">
                <a:solidFill>
                  <a:srgbClr val="2E377E"/>
                </a:solidFill>
                <a:latin typeface="Georgia"/>
                <a:cs typeface="Georgia"/>
              </a:rPr>
              <a:t> </a:t>
            </a:r>
            <a:r>
              <a:rPr sz="3500" spc="-120" dirty="0">
                <a:solidFill>
                  <a:srgbClr val="2E377E"/>
                </a:solidFill>
                <a:latin typeface="Georgia"/>
                <a:cs typeface="Georgia"/>
              </a:rPr>
              <a:t>50%</a:t>
            </a:r>
            <a:r>
              <a:rPr sz="3500" spc="-10" dirty="0">
                <a:solidFill>
                  <a:srgbClr val="2E377E"/>
                </a:solidFill>
                <a:latin typeface="Georgia"/>
                <a:cs typeface="Georgia"/>
              </a:rPr>
              <a:t> </a:t>
            </a:r>
            <a:r>
              <a:rPr sz="3500" dirty="0">
                <a:solidFill>
                  <a:srgbClr val="2E377E"/>
                </a:solidFill>
                <a:latin typeface="Georgia"/>
                <a:cs typeface="Georgia"/>
              </a:rPr>
              <a:t>then,</a:t>
            </a:r>
            <a:r>
              <a:rPr sz="3500" spc="-5" dirty="0">
                <a:solidFill>
                  <a:srgbClr val="2E377E"/>
                </a:solidFill>
                <a:latin typeface="Georgia"/>
                <a:cs typeface="Georgia"/>
              </a:rPr>
              <a:t> </a:t>
            </a:r>
            <a:r>
              <a:rPr sz="3500" spc="50" dirty="0">
                <a:solidFill>
                  <a:srgbClr val="2E377E"/>
                </a:solidFill>
                <a:latin typeface="Georgia"/>
                <a:cs typeface="Georgia"/>
              </a:rPr>
              <a:t>it</a:t>
            </a:r>
            <a:r>
              <a:rPr sz="3500" dirty="0">
                <a:solidFill>
                  <a:srgbClr val="2E377E"/>
                </a:solidFill>
                <a:latin typeface="Georgia"/>
                <a:cs typeface="Georgia"/>
              </a:rPr>
              <a:t> will</a:t>
            </a:r>
            <a:r>
              <a:rPr sz="3500" spc="-5" dirty="0">
                <a:solidFill>
                  <a:srgbClr val="2E377E"/>
                </a:solidFill>
                <a:latin typeface="Georgia"/>
                <a:cs typeface="Georgia"/>
              </a:rPr>
              <a:t> </a:t>
            </a:r>
            <a:r>
              <a:rPr sz="3500" dirty="0">
                <a:solidFill>
                  <a:srgbClr val="2E377E"/>
                </a:solidFill>
                <a:latin typeface="Georgia"/>
                <a:cs typeface="Georgia"/>
              </a:rPr>
              <a:t>add</a:t>
            </a:r>
            <a:r>
              <a:rPr sz="3500" spc="-10" dirty="0">
                <a:solidFill>
                  <a:srgbClr val="2E377E"/>
                </a:solidFill>
                <a:latin typeface="Georgia"/>
                <a:cs typeface="Georgia"/>
              </a:rPr>
              <a:t> </a:t>
            </a:r>
            <a:r>
              <a:rPr sz="3500" spc="55" dirty="0">
                <a:solidFill>
                  <a:srgbClr val="2E377E"/>
                </a:solidFill>
                <a:latin typeface="Georgia"/>
                <a:cs typeface="Georgia"/>
              </a:rPr>
              <a:t>the</a:t>
            </a:r>
            <a:r>
              <a:rPr sz="3500" spc="-10" dirty="0">
                <a:solidFill>
                  <a:srgbClr val="2E377E"/>
                </a:solidFill>
                <a:latin typeface="Georgia"/>
                <a:cs typeface="Georgia"/>
              </a:rPr>
              <a:t> </a:t>
            </a:r>
            <a:r>
              <a:rPr sz="3500" dirty="0">
                <a:solidFill>
                  <a:srgbClr val="2E377E"/>
                </a:solidFill>
                <a:latin typeface="Georgia"/>
                <a:cs typeface="Georgia"/>
              </a:rPr>
              <a:t>one</a:t>
            </a:r>
            <a:r>
              <a:rPr sz="3500" spc="-10" dirty="0">
                <a:solidFill>
                  <a:srgbClr val="2E377E"/>
                </a:solidFill>
                <a:latin typeface="Georgia"/>
                <a:cs typeface="Georgia"/>
              </a:rPr>
              <a:t> </a:t>
            </a:r>
            <a:r>
              <a:rPr sz="3500" spc="45" dirty="0">
                <a:solidFill>
                  <a:srgbClr val="2E377E"/>
                </a:solidFill>
                <a:latin typeface="Georgia"/>
                <a:cs typeface="Georgia"/>
              </a:rPr>
              <a:t>server </a:t>
            </a:r>
            <a:r>
              <a:rPr sz="3500" spc="-10" dirty="0">
                <a:solidFill>
                  <a:srgbClr val="2E377E"/>
                </a:solidFill>
                <a:latin typeface="Georgia"/>
                <a:cs typeface="Georgia"/>
              </a:rPr>
              <a:t>automatically.</a:t>
            </a:r>
            <a:endParaRPr sz="3500">
              <a:latin typeface="Georgia"/>
              <a:cs typeface="Georgia"/>
            </a:endParaRPr>
          </a:p>
          <a:p>
            <a:pPr>
              <a:lnSpc>
                <a:spcPct val="100000"/>
              </a:lnSpc>
              <a:spcBef>
                <a:spcPts val="900"/>
              </a:spcBef>
            </a:pPr>
            <a:endParaRPr sz="3500">
              <a:latin typeface="Georgia"/>
              <a:cs typeface="Georgia"/>
            </a:endParaRPr>
          </a:p>
          <a:p>
            <a:pPr marL="12700" marR="349885">
              <a:lnSpc>
                <a:spcPct val="116100"/>
              </a:lnSpc>
            </a:pPr>
            <a:r>
              <a:rPr sz="3500" dirty="0">
                <a:solidFill>
                  <a:srgbClr val="2E377E"/>
                </a:solidFill>
                <a:latin typeface="Georgia"/>
                <a:cs typeface="Georgia"/>
              </a:rPr>
              <a:t>Vertical</a:t>
            </a:r>
            <a:r>
              <a:rPr sz="3500" spc="-65" dirty="0">
                <a:solidFill>
                  <a:srgbClr val="2E377E"/>
                </a:solidFill>
                <a:latin typeface="Georgia"/>
                <a:cs typeface="Georgia"/>
              </a:rPr>
              <a:t> </a:t>
            </a:r>
            <a:r>
              <a:rPr sz="3500" dirty="0">
                <a:solidFill>
                  <a:srgbClr val="2E377E"/>
                </a:solidFill>
                <a:latin typeface="Georgia"/>
                <a:cs typeface="Georgia"/>
              </a:rPr>
              <a:t>Pod</a:t>
            </a:r>
            <a:r>
              <a:rPr sz="3500" spc="-70" dirty="0">
                <a:solidFill>
                  <a:srgbClr val="2E377E"/>
                </a:solidFill>
                <a:latin typeface="Georgia"/>
                <a:cs typeface="Georgia"/>
              </a:rPr>
              <a:t> </a:t>
            </a:r>
            <a:r>
              <a:rPr sz="3500" spc="-10" dirty="0">
                <a:solidFill>
                  <a:srgbClr val="2E377E"/>
                </a:solidFill>
                <a:latin typeface="Georgia"/>
                <a:cs typeface="Georgia"/>
              </a:rPr>
              <a:t>AutoScaling:</a:t>
            </a:r>
            <a:r>
              <a:rPr sz="3500" spc="-65" dirty="0">
                <a:solidFill>
                  <a:srgbClr val="2E377E"/>
                </a:solidFill>
                <a:latin typeface="Georgia"/>
                <a:cs typeface="Georgia"/>
              </a:rPr>
              <a:t> </a:t>
            </a:r>
            <a:r>
              <a:rPr sz="3500" dirty="0">
                <a:solidFill>
                  <a:srgbClr val="2E377E"/>
                </a:solidFill>
                <a:latin typeface="Georgia"/>
                <a:cs typeface="Georgia"/>
              </a:rPr>
              <a:t>In</a:t>
            </a:r>
            <a:r>
              <a:rPr sz="3500" spc="-70" dirty="0">
                <a:solidFill>
                  <a:srgbClr val="2E377E"/>
                </a:solidFill>
                <a:latin typeface="Georgia"/>
                <a:cs typeface="Georgia"/>
              </a:rPr>
              <a:t> </a:t>
            </a:r>
            <a:r>
              <a:rPr sz="3500" dirty="0">
                <a:solidFill>
                  <a:srgbClr val="2E377E"/>
                </a:solidFill>
                <a:latin typeface="Georgia"/>
                <a:cs typeface="Georgia"/>
              </a:rPr>
              <a:t>this</a:t>
            </a:r>
            <a:r>
              <a:rPr sz="3500" spc="-65" dirty="0">
                <a:solidFill>
                  <a:srgbClr val="2E377E"/>
                </a:solidFill>
                <a:latin typeface="Georgia"/>
                <a:cs typeface="Georgia"/>
              </a:rPr>
              <a:t> </a:t>
            </a:r>
            <a:r>
              <a:rPr sz="3500" spc="90" dirty="0">
                <a:solidFill>
                  <a:srgbClr val="2E377E"/>
                </a:solidFill>
                <a:latin typeface="Georgia"/>
                <a:cs typeface="Georgia"/>
              </a:rPr>
              <a:t>type</a:t>
            </a:r>
            <a:r>
              <a:rPr sz="3500" spc="-70" dirty="0">
                <a:solidFill>
                  <a:srgbClr val="2E377E"/>
                </a:solidFill>
                <a:latin typeface="Georgia"/>
                <a:cs typeface="Georgia"/>
              </a:rPr>
              <a:t> </a:t>
            </a:r>
            <a:r>
              <a:rPr sz="3500" dirty="0">
                <a:solidFill>
                  <a:srgbClr val="2E377E"/>
                </a:solidFill>
                <a:latin typeface="Georgia"/>
                <a:cs typeface="Georgia"/>
              </a:rPr>
              <a:t>of</a:t>
            </a:r>
            <a:r>
              <a:rPr sz="3500" spc="-65" dirty="0">
                <a:solidFill>
                  <a:srgbClr val="2E377E"/>
                </a:solidFill>
                <a:latin typeface="Georgia"/>
                <a:cs typeface="Georgia"/>
              </a:rPr>
              <a:t> </a:t>
            </a:r>
            <a:r>
              <a:rPr sz="3500" dirty="0">
                <a:solidFill>
                  <a:srgbClr val="2E377E"/>
                </a:solidFill>
                <a:latin typeface="Georgia"/>
                <a:cs typeface="Georgia"/>
              </a:rPr>
              <a:t>scaling,</a:t>
            </a:r>
            <a:r>
              <a:rPr sz="3500" spc="-65" dirty="0">
                <a:solidFill>
                  <a:srgbClr val="2E377E"/>
                </a:solidFill>
                <a:latin typeface="Georgia"/>
                <a:cs typeface="Georgia"/>
              </a:rPr>
              <a:t> </a:t>
            </a:r>
            <a:r>
              <a:rPr sz="3500" spc="55" dirty="0">
                <a:solidFill>
                  <a:srgbClr val="2E377E"/>
                </a:solidFill>
                <a:latin typeface="Georgia"/>
                <a:cs typeface="Georgia"/>
              </a:rPr>
              <a:t>the</a:t>
            </a:r>
            <a:r>
              <a:rPr sz="3500" spc="-70" dirty="0">
                <a:solidFill>
                  <a:srgbClr val="2E377E"/>
                </a:solidFill>
                <a:latin typeface="Georgia"/>
                <a:cs typeface="Georgia"/>
              </a:rPr>
              <a:t> </a:t>
            </a:r>
            <a:r>
              <a:rPr sz="3500" spc="55" dirty="0">
                <a:solidFill>
                  <a:srgbClr val="2E377E"/>
                </a:solidFill>
                <a:latin typeface="Georgia"/>
                <a:cs typeface="Georgia"/>
              </a:rPr>
              <a:t>server</a:t>
            </a:r>
            <a:r>
              <a:rPr sz="3500" spc="-65" dirty="0">
                <a:solidFill>
                  <a:srgbClr val="2E377E"/>
                </a:solidFill>
                <a:latin typeface="Georgia"/>
                <a:cs typeface="Georgia"/>
              </a:rPr>
              <a:t> </a:t>
            </a:r>
            <a:r>
              <a:rPr sz="3500" dirty="0">
                <a:solidFill>
                  <a:srgbClr val="2E377E"/>
                </a:solidFill>
                <a:latin typeface="Georgia"/>
                <a:cs typeface="Georgia"/>
              </a:rPr>
              <a:t>will</a:t>
            </a:r>
            <a:r>
              <a:rPr sz="3500" spc="-65" dirty="0">
                <a:solidFill>
                  <a:srgbClr val="2E377E"/>
                </a:solidFill>
                <a:latin typeface="Georgia"/>
                <a:cs typeface="Georgia"/>
              </a:rPr>
              <a:t> </a:t>
            </a:r>
            <a:r>
              <a:rPr sz="3500" dirty="0">
                <a:solidFill>
                  <a:srgbClr val="2E377E"/>
                </a:solidFill>
                <a:latin typeface="Georgia"/>
                <a:cs typeface="Georgia"/>
              </a:rPr>
              <a:t>remain</a:t>
            </a:r>
            <a:r>
              <a:rPr sz="3500" spc="-70" dirty="0">
                <a:solidFill>
                  <a:srgbClr val="2E377E"/>
                </a:solidFill>
                <a:latin typeface="Georgia"/>
                <a:cs typeface="Georgia"/>
              </a:rPr>
              <a:t> </a:t>
            </a:r>
            <a:r>
              <a:rPr sz="3500" spc="30" dirty="0">
                <a:solidFill>
                  <a:srgbClr val="2E377E"/>
                </a:solidFill>
                <a:latin typeface="Georgia"/>
                <a:cs typeface="Georgia"/>
              </a:rPr>
              <a:t>the </a:t>
            </a:r>
            <a:r>
              <a:rPr sz="3500" dirty="0">
                <a:solidFill>
                  <a:srgbClr val="2E377E"/>
                </a:solidFill>
                <a:latin typeface="Georgia"/>
                <a:cs typeface="Georgia"/>
              </a:rPr>
              <a:t>same</a:t>
            </a:r>
            <a:r>
              <a:rPr sz="3500" spc="15" dirty="0">
                <a:solidFill>
                  <a:srgbClr val="2E377E"/>
                </a:solidFill>
                <a:latin typeface="Georgia"/>
                <a:cs typeface="Georgia"/>
              </a:rPr>
              <a:t> </a:t>
            </a:r>
            <a:r>
              <a:rPr sz="3500" dirty="0">
                <a:solidFill>
                  <a:srgbClr val="2E377E"/>
                </a:solidFill>
                <a:latin typeface="Georgia"/>
                <a:cs typeface="Georgia"/>
              </a:rPr>
              <a:t>in</a:t>
            </a:r>
            <a:r>
              <a:rPr sz="3500" spc="15" dirty="0">
                <a:solidFill>
                  <a:srgbClr val="2E377E"/>
                </a:solidFill>
                <a:latin typeface="Georgia"/>
                <a:cs typeface="Georgia"/>
              </a:rPr>
              <a:t> </a:t>
            </a:r>
            <a:r>
              <a:rPr sz="3500" dirty="0">
                <a:solidFill>
                  <a:srgbClr val="2E377E"/>
                </a:solidFill>
                <a:latin typeface="Georgia"/>
                <a:cs typeface="Georgia"/>
              </a:rPr>
              <a:t>numbers</a:t>
            </a:r>
            <a:r>
              <a:rPr sz="3500" spc="20" dirty="0">
                <a:solidFill>
                  <a:srgbClr val="2E377E"/>
                </a:solidFill>
                <a:latin typeface="Georgia"/>
                <a:cs typeface="Georgia"/>
              </a:rPr>
              <a:t> </a:t>
            </a:r>
            <a:r>
              <a:rPr sz="3500" dirty="0">
                <a:solidFill>
                  <a:srgbClr val="2E377E"/>
                </a:solidFill>
                <a:latin typeface="Georgia"/>
                <a:cs typeface="Georgia"/>
              </a:rPr>
              <a:t>but</a:t>
            </a:r>
            <a:r>
              <a:rPr sz="3500" spc="25" dirty="0">
                <a:solidFill>
                  <a:srgbClr val="2E377E"/>
                </a:solidFill>
                <a:latin typeface="Georgia"/>
                <a:cs typeface="Georgia"/>
              </a:rPr>
              <a:t> </a:t>
            </a:r>
            <a:r>
              <a:rPr sz="3500" spc="55" dirty="0">
                <a:solidFill>
                  <a:srgbClr val="2E377E"/>
                </a:solidFill>
                <a:latin typeface="Georgia"/>
                <a:cs typeface="Georgia"/>
              </a:rPr>
              <a:t>the</a:t>
            </a:r>
            <a:r>
              <a:rPr sz="3500" spc="15" dirty="0">
                <a:solidFill>
                  <a:srgbClr val="2E377E"/>
                </a:solidFill>
                <a:latin typeface="Georgia"/>
                <a:cs typeface="Georgia"/>
              </a:rPr>
              <a:t> </a:t>
            </a:r>
            <a:r>
              <a:rPr sz="3500" spc="45" dirty="0">
                <a:solidFill>
                  <a:srgbClr val="2E377E"/>
                </a:solidFill>
                <a:latin typeface="Georgia"/>
                <a:cs typeface="Georgia"/>
              </a:rPr>
              <a:t>server’s</a:t>
            </a:r>
            <a:r>
              <a:rPr sz="3500" spc="25" dirty="0">
                <a:solidFill>
                  <a:srgbClr val="2E377E"/>
                </a:solidFill>
                <a:latin typeface="Georgia"/>
                <a:cs typeface="Georgia"/>
              </a:rPr>
              <a:t> </a:t>
            </a:r>
            <a:r>
              <a:rPr sz="3500" dirty="0">
                <a:solidFill>
                  <a:srgbClr val="2E377E"/>
                </a:solidFill>
                <a:latin typeface="Georgia"/>
                <a:cs typeface="Georgia"/>
              </a:rPr>
              <a:t>configuration</a:t>
            </a:r>
            <a:r>
              <a:rPr sz="3500" spc="15" dirty="0">
                <a:solidFill>
                  <a:srgbClr val="2E377E"/>
                </a:solidFill>
                <a:latin typeface="Georgia"/>
                <a:cs typeface="Georgia"/>
              </a:rPr>
              <a:t> </a:t>
            </a:r>
            <a:r>
              <a:rPr sz="3500" dirty="0">
                <a:solidFill>
                  <a:srgbClr val="2E377E"/>
                </a:solidFill>
                <a:latin typeface="Georgia"/>
                <a:cs typeface="Georgia"/>
              </a:rPr>
              <a:t>will</a:t>
            </a:r>
            <a:r>
              <a:rPr sz="3500" spc="20" dirty="0">
                <a:solidFill>
                  <a:srgbClr val="2E377E"/>
                </a:solidFill>
                <a:latin typeface="Georgia"/>
                <a:cs typeface="Georgia"/>
              </a:rPr>
              <a:t> </a:t>
            </a:r>
            <a:r>
              <a:rPr sz="3500" dirty="0">
                <a:solidFill>
                  <a:srgbClr val="2E377E"/>
                </a:solidFill>
                <a:latin typeface="Georgia"/>
                <a:cs typeface="Georgia"/>
              </a:rPr>
              <a:t>increase</a:t>
            </a:r>
            <a:r>
              <a:rPr sz="3500" spc="15" dirty="0">
                <a:solidFill>
                  <a:srgbClr val="2E377E"/>
                </a:solidFill>
                <a:latin typeface="Georgia"/>
                <a:cs typeface="Georgia"/>
              </a:rPr>
              <a:t> </a:t>
            </a:r>
            <a:r>
              <a:rPr sz="3500" dirty="0">
                <a:solidFill>
                  <a:srgbClr val="2E377E"/>
                </a:solidFill>
                <a:latin typeface="Georgia"/>
                <a:cs typeface="Georgia"/>
              </a:rPr>
              <a:t>such</a:t>
            </a:r>
            <a:r>
              <a:rPr sz="3500" spc="20" dirty="0">
                <a:solidFill>
                  <a:srgbClr val="2E377E"/>
                </a:solidFill>
                <a:latin typeface="Georgia"/>
                <a:cs typeface="Georgia"/>
              </a:rPr>
              <a:t> </a:t>
            </a:r>
            <a:r>
              <a:rPr sz="3500" dirty="0">
                <a:solidFill>
                  <a:srgbClr val="2E377E"/>
                </a:solidFill>
                <a:latin typeface="Georgia"/>
                <a:cs typeface="Georgia"/>
              </a:rPr>
              <a:t>as</a:t>
            </a:r>
            <a:r>
              <a:rPr sz="3500" spc="20" dirty="0">
                <a:solidFill>
                  <a:srgbClr val="2E377E"/>
                </a:solidFill>
                <a:latin typeface="Georgia"/>
                <a:cs typeface="Georgia"/>
              </a:rPr>
              <a:t> </a:t>
            </a:r>
            <a:r>
              <a:rPr sz="3500" spc="-20" dirty="0">
                <a:solidFill>
                  <a:srgbClr val="2E377E"/>
                </a:solidFill>
                <a:latin typeface="Georgia"/>
                <a:cs typeface="Georgia"/>
              </a:rPr>
              <a:t>from </a:t>
            </a:r>
            <a:r>
              <a:rPr sz="3500" spc="-185" dirty="0">
                <a:solidFill>
                  <a:srgbClr val="2E377E"/>
                </a:solidFill>
                <a:latin typeface="Georgia"/>
                <a:cs typeface="Georgia"/>
              </a:rPr>
              <a:t>4GB</a:t>
            </a:r>
            <a:r>
              <a:rPr sz="3500" spc="-60" dirty="0">
                <a:solidFill>
                  <a:srgbClr val="2E377E"/>
                </a:solidFill>
                <a:latin typeface="Georgia"/>
                <a:cs typeface="Georgia"/>
              </a:rPr>
              <a:t> </a:t>
            </a:r>
            <a:r>
              <a:rPr sz="3500" spc="-135" dirty="0">
                <a:solidFill>
                  <a:srgbClr val="2E377E"/>
                </a:solidFill>
                <a:latin typeface="Georgia"/>
                <a:cs typeface="Georgia"/>
              </a:rPr>
              <a:t>RAM</a:t>
            </a:r>
            <a:r>
              <a:rPr sz="3500" spc="-55" dirty="0">
                <a:solidFill>
                  <a:srgbClr val="2E377E"/>
                </a:solidFill>
                <a:latin typeface="Georgia"/>
                <a:cs typeface="Georgia"/>
              </a:rPr>
              <a:t> </a:t>
            </a:r>
            <a:r>
              <a:rPr sz="3500" spc="55" dirty="0">
                <a:solidFill>
                  <a:srgbClr val="2E377E"/>
                </a:solidFill>
                <a:latin typeface="Georgia"/>
                <a:cs typeface="Georgia"/>
              </a:rPr>
              <a:t>to</a:t>
            </a:r>
            <a:r>
              <a:rPr sz="3500" spc="-55" dirty="0">
                <a:solidFill>
                  <a:srgbClr val="2E377E"/>
                </a:solidFill>
                <a:latin typeface="Georgia"/>
                <a:cs typeface="Georgia"/>
              </a:rPr>
              <a:t> </a:t>
            </a:r>
            <a:r>
              <a:rPr sz="3500" spc="-210" dirty="0">
                <a:solidFill>
                  <a:srgbClr val="2E377E"/>
                </a:solidFill>
                <a:latin typeface="Georgia"/>
                <a:cs typeface="Georgia"/>
              </a:rPr>
              <a:t>8GM</a:t>
            </a:r>
            <a:r>
              <a:rPr sz="3500" spc="-55" dirty="0">
                <a:solidFill>
                  <a:srgbClr val="2E377E"/>
                </a:solidFill>
                <a:latin typeface="Georgia"/>
                <a:cs typeface="Georgia"/>
              </a:rPr>
              <a:t> </a:t>
            </a:r>
            <a:r>
              <a:rPr sz="3500" spc="-130" dirty="0">
                <a:solidFill>
                  <a:srgbClr val="2E377E"/>
                </a:solidFill>
                <a:latin typeface="Georgia"/>
                <a:cs typeface="Georgia"/>
              </a:rPr>
              <a:t>RAM,</a:t>
            </a:r>
            <a:r>
              <a:rPr sz="3500" spc="-50" dirty="0">
                <a:solidFill>
                  <a:srgbClr val="2E377E"/>
                </a:solidFill>
                <a:latin typeface="Georgia"/>
                <a:cs typeface="Georgia"/>
              </a:rPr>
              <a:t> </a:t>
            </a:r>
            <a:r>
              <a:rPr sz="3500" dirty="0">
                <a:solidFill>
                  <a:srgbClr val="2E377E"/>
                </a:solidFill>
                <a:latin typeface="Georgia"/>
                <a:cs typeface="Georgia"/>
              </a:rPr>
              <a:t>and</a:t>
            </a:r>
            <a:r>
              <a:rPr sz="3500" spc="-55" dirty="0">
                <a:solidFill>
                  <a:srgbClr val="2E377E"/>
                </a:solidFill>
                <a:latin typeface="Georgia"/>
                <a:cs typeface="Georgia"/>
              </a:rPr>
              <a:t> </a:t>
            </a:r>
            <a:r>
              <a:rPr sz="3500" spc="55" dirty="0">
                <a:solidFill>
                  <a:srgbClr val="2E377E"/>
                </a:solidFill>
                <a:latin typeface="Georgia"/>
                <a:cs typeface="Georgia"/>
              </a:rPr>
              <a:t>the</a:t>
            </a:r>
            <a:r>
              <a:rPr sz="3500" spc="-60" dirty="0">
                <a:solidFill>
                  <a:srgbClr val="2E377E"/>
                </a:solidFill>
                <a:latin typeface="Georgia"/>
                <a:cs typeface="Georgia"/>
              </a:rPr>
              <a:t> </a:t>
            </a:r>
            <a:r>
              <a:rPr sz="3500" dirty="0">
                <a:solidFill>
                  <a:srgbClr val="2E377E"/>
                </a:solidFill>
                <a:latin typeface="Georgia"/>
                <a:cs typeface="Georgia"/>
              </a:rPr>
              <a:t>same</a:t>
            </a:r>
            <a:r>
              <a:rPr sz="3500" spc="-55" dirty="0">
                <a:solidFill>
                  <a:srgbClr val="2E377E"/>
                </a:solidFill>
                <a:latin typeface="Georgia"/>
                <a:cs typeface="Georgia"/>
              </a:rPr>
              <a:t> </a:t>
            </a:r>
            <a:r>
              <a:rPr sz="3500" spc="75" dirty="0">
                <a:solidFill>
                  <a:srgbClr val="2E377E"/>
                </a:solidFill>
                <a:latin typeface="Georgia"/>
                <a:cs typeface="Georgia"/>
              </a:rPr>
              <a:t>with</a:t>
            </a:r>
            <a:r>
              <a:rPr sz="3500" spc="-55" dirty="0">
                <a:solidFill>
                  <a:srgbClr val="2E377E"/>
                </a:solidFill>
                <a:latin typeface="Georgia"/>
                <a:cs typeface="Georgia"/>
              </a:rPr>
              <a:t> </a:t>
            </a:r>
            <a:r>
              <a:rPr sz="3500" spc="55" dirty="0">
                <a:solidFill>
                  <a:srgbClr val="2E377E"/>
                </a:solidFill>
                <a:latin typeface="Georgia"/>
                <a:cs typeface="Georgia"/>
              </a:rPr>
              <a:t>the</a:t>
            </a:r>
            <a:r>
              <a:rPr sz="3500" spc="-55" dirty="0">
                <a:solidFill>
                  <a:srgbClr val="2E377E"/>
                </a:solidFill>
                <a:latin typeface="Georgia"/>
                <a:cs typeface="Georgia"/>
              </a:rPr>
              <a:t> </a:t>
            </a:r>
            <a:r>
              <a:rPr sz="3500" dirty="0">
                <a:solidFill>
                  <a:srgbClr val="2E377E"/>
                </a:solidFill>
                <a:latin typeface="Georgia"/>
                <a:cs typeface="Georgia"/>
              </a:rPr>
              <a:t>other</a:t>
            </a:r>
            <a:r>
              <a:rPr sz="3500" spc="-50" dirty="0">
                <a:solidFill>
                  <a:srgbClr val="2E377E"/>
                </a:solidFill>
                <a:latin typeface="Georgia"/>
                <a:cs typeface="Georgia"/>
              </a:rPr>
              <a:t> </a:t>
            </a:r>
            <a:r>
              <a:rPr sz="3500" dirty="0">
                <a:solidFill>
                  <a:srgbClr val="2E377E"/>
                </a:solidFill>
                <a:latin typeface="Georgia"/>
                <a:cs typeface="Georgia"/>
              </a:rPr>
              <a:t>configurations.</a:t>
            </a:r>
            <a:r>
              <a:rPr sz="3500" spc="-50" dirty="0">
                <a:solidFill>
                  <a:srgbClr val="2E377E"/>
                </a:solidFill>
                <a:latin typeface="Georgia"/>
                <a:cs typeface="Georgia"/>
              </a:rPr>
              <a:t> </a:t>
            </a:r>
            <a:r>
              <a:rPr sz="3500" dirty="0">
                <a:solidFill>
                  <a:srgbClr val="2E377E"/>
                </a:solidFill>
                <a:latin typeface="Georgia"/>
                <a:cs typeface="Georgia"/>
              </a:rPr>
              <a:t>But</a:t>
            </a:r>
            <a:r>
              <a:rPr sz="3500" spc="-55" dirty="0">
                <a:solidFill>
                  <a:srgbClr val="2E377E"/>
                </a:solidFill>
                <a:latin typeface="Georgia"/>
                <a:cs typeface="Georgia"/>
              </a:rPr>
              <a:t> </a:t>
            </a:r>
            <a:r>
              <a:rPr sz="3500" spc="-20" dirty="0">
                <a:solidFill>
                  <a:srgbClr val="2E377E"/>
                </a:solidFill>
                <a:latin typeface="Georgia"/>
                <a:cs typeface="Georgia"/>
              </a:rPr>
              <a:t>this </a:t>
            </a:r>
            <a:r>
              <a:rPr sz="3500" dirty="0">
                <a:solidFill>
                  <a:srgbClr val="2E377E"/>
                </a:solidFill>
                <a:latin typeface="Georgia"/>
                <a:cs typeface="Georgia"/>
              </a:rPr>
              <a:t>is</a:t>
            </a:r>
            <a:r>
              <a:rPr sz="3500" spc="25" dirty="0">
                <a:solidFill>
                  <a:srgbClr val="2E377E"/>
                </a:solidFill>
                <a:latin typeface="Georgia"/>
                <a:cs typeface="Georgia"/>
              </a:rPr>
              <a:t> </a:t>
            </a:r>
            <a:r>
              <a:rPr sz="3500" dirty="0">
                <a:solidFill>
                  <a:srgbClr val="2E377E"/>
                </a:solidFill>
                <a:latin typeface="Georgia"/>
                <a:cs typeface="Georgia"/>
              </a:rPr>
              <a:t>not</a:t>
            </a:r>
            <a:r>
              <a:rPr sz="3500" spc="25" dirty="0">
                <a:solidFill>
                  <a:srgbClr val="2E377E"/>
                </a:solidFill>
                <a:latin typeface="Georgia"/>
                <a:cs typeface="Georgia"/>
              </a:rPr>
              <a:t> </a:t>
            </a:r>
            <a:r>
              <a:rPr sz="3500" dirty="0">
                <a:solidFill>
                  <a:srgbClr val="2E377E"/>
                </a:solidFill>
                <a:latin typeface="Georgia"/>
                <a:cs typeface="Georgia"/>
              </a:rPr>
              <a:t>cost-</a:t>
            </a:r>
            <a:r>
              <a:rPr sz="3500" spc="60" dirty="0">
                <a:solidFill>
                  <a:srgbClr val="2E377E"/>
                </a:solidFill>
                <a:latin typeface="Georgia"/>
                <a:cs typeface="Georgia"/>
              </a:rPr>
              <a:t>effective</a:t>
            </a:r>
            <a:r>
              <a:rPr sz="3500" spc="20" dirty="0">
                <a:solidFill>
                  <a:srgbClr val="2E377E"/>
                </a:solidFill>
                <a:latin typeface="Georgia"/>
                <a:cs typeface="Georgia"/>
              </a:rPr>
              <a:t> </a:t>
            </a:r>
            <a:r>
              <a:rPr sz="3500" dirty="0">
                <a:solidFill>
                  <a:srgbClr val="2E377E"/>
                </a:solidFill>
                <a:latin typeface="Georgia"/>
                <a:cs typeface="Georgia"/>
              </a:rPr>
              <a:t>and</a:t>
            </a:r>
            <a:r>
              <a:rPr sz="3500" spc="20" dirty="0">
                <a:solidFill>
                  <a:srgbClr val="2E377E"/>
                </a:solidFill>
                <a:latin typeface="Georgia"/>
                <a:cs typeface="Georgia"/>
              </a:rPr>
              <a:t> </a:t>
            </a:r>
            <a:r>
              <a:rPr sz="3500" dirty="0">
                <a:solidFill>
                  <a:srgbClr val="2E377E"/>
                </a:solidFill>
                <a:latin typeface="Georgia"/>
                <a:cs typeface="Georgia"/>
              </a:rPr>
              <a:t>business-effective.</a:t>
            </a:r>
            <a:r>
              <a:rPr sz="3500" spc="30" dirty="0">
                <a:solidFill>
                  <a:srgbClr val="2E377E"/>
                </a:solidFill>
                <a:latin typeface="Georgia"/>
                <a:cs typeface="Georgia"/>
              </a:rPr>
              <a:t> </a:t>
            </a:r>
            <a:r>
              <a:rPr sz="3500" spc="-35" dirty="0">
                <a:solidFill>
                  <a:srgbClr val="2E377E"/>
                </a:solidFill>
                <a:latin typeface="Georgia"/>
                <a:cs typeface="Georgia"/>
              </a:rPr>
              <a:t>So,</a:t>
            </a:r>
            <a:r>
              <a:rPr sz="3500" spc="25" dirty="0">
                <a:solidFill>
                  <a:srgbClr val="2E377E"/>
                </a:solidFill>
                <a:latin typeface="Georgia"/>
                <a:cs typeface="Georgia"/>
              </a:rPr>
              <a:t> </a:t>
            </a:r>
            <a:r>
              <a:rPr sz="3500" spc="125" dirty="0">
                <a:solidFill>
                  <a:srgbClr val="2E377E"/>
                </a:solidFill>
                <a:latin typeface="Georgia"/>
                <a:cs typeface="Georgia"/>
              </a:rPr>
              <a:t>we</a:t>
            </a:r>
            <a:r>
              <a:rPr sz="3500" spc="20" dirty="0">
                <a:solidFill>
                  <a:srgbClr val="2E377E"/>
                </a:solidFill>
                <a:latin typeface="Georgia"/>
                <a:cs typeface="Georgia"/>
              </a:rPr>
              <a:t> </a:t>
            </a:r>
            <a:r>
              <a:rPr sz="3500" dirty="0">
                <a:solidFill>
                  <a:srgbClr val="2E377E"/>
                </a:solidFill>
                <a:latin typeface="Georgia"/>
                <a:cs typeface="Georgia"/>
              </a:rPr>
              <a:t>use</a:t>
            </a:r>
            <a:r>
              <a:rPr sz="3500" spc="20" dirty="0">
                <a:solidFill>
                  <a:srgbClr val="2E377E"/>
                </a:solidFill>
                <a:latin typeface="Georgia"/>
                <a:cs typeface="Georgia"/>
              </a:rPr>
              <a:t> </a:t>
            </a:r>
            <a:r>
              <a:rPr sz="3500" dirty="0">
                <a:solidFill>
                  <a:srgbClr val="2E377E"/>
                </a:solidFill>
                <a:latin typeface="Georgia"/>
                <a:cs typeface="Georgia"/>
              </a:rPr>
              <a:t>Horizontal</a:t>
            </a:r>
            <a:r>
              <a:rPr sz="3500" spc="25" dirty="0">
                <a:solidFill>
                  <a:srgbClr val="2E377E"/>
                </a:solidFill>
                <a:latin typeface="Georgia"/>
                <a:cs typeface="Georgia"/>
              </a:rPr>
              <a:t> </a:t>
            </a:r>
            <a:r>
              <a:rPr sz="3500" spc="-25" dirty="0">
                <a:solidFill>
                  <a:srgbClr val="2E377E"/>
                </a:solidFill>
                <a:latin typeface="Georgia"/>
                <a:cs typeface="Georgia"/>
              </a:rPr>
              <a:t>Pod </a:t>
            </a:r>
            <a:r>
              <a:rPr sz="3500" spc="-10" dirty="0">
                <a:solidFill>
                  <a:srgbClr val="2E377E"/>
                </a:solidFill>
                <a:latin typeface="Georgia"/>
                <a:cs typeface="Georgia"/>
              </a:rPr>
              <a:t>AutoScaling.</a:t>
            </a:r>
            <a:endParaRPr sz="3500">
              <a:latin typeface="Georgia"/>
              <a:cs typeface="Georgia"/>
            </a:endParaRPr>
          </a:p>
        </p:txBody>
      </p:sp>
      <p:pic>
        <p:nvPicPr>
          <p:cNvPr id="5" name="object 5"/>
          <p:cNvPicPr/>
          <p:nvPr/>
        </p:nvPicPr>
        <p:blipFill>
          <a:blip r:embed="rId3" cstate="print"/>
          <a:stretch>
            <a:fillRect/>
          </a:stretch>
        </p:blipFill>
        <p:spPr>
          <a:xfrm>
            <a:off x="1566496" y="6273800"/>
            <a:ext cx="133350" cy="133349"/>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83705" y="903133"/>
            <a:ext cx="14635757" cy="8782049"/>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55832" rIns="0" bIns="0" rtlCol="0">
            <a:spAutoFit/>
          </a:bodyPr>
          <a:lstStyle/>
          <a:p>
            <a:pPr marL="443230">
              <a:lnSpc>
                <a:spcPct val="100000"/>
              </a:lnSpc>
              <a:spcBef>
                <a:spcPts val="100"/>
              </a:spcBef>
            </a:pPr>
            <a:r>
              <a:rPr sz="4000" b="0" spc="95" dirty="0">
                <a:solidFill>
                  <a:srgbClr val="2E377E"/>
                </a:solidFill>
                <a:latin typeface="Times New Roman"/>
                <a:cs typeface="Times New Roman"/>
              </a:rPr>
              <a:t>Key</a:t>
            </a:r>
            <a:r>
              <a:rPr sz="4000" b="0" spc="-130" dirty="0">
                <a:solidFill>
                  <a:srgbClr val="2E377E"/>
                </a:solidFill>
                <a:latin typeface="Times New Roman"/>
                <a:cs typeface="Times New Roman"/>
              </a:rPr>
              <a:t> </a:t>
            </a:r>
            <a:r>
              <a:rPr sz="4000" b="0" spc="220" dirty="0">
                <a:solidFill>
                  <a:srgbClr val="2E377E"/>
                </a:solidFill>
                <a:latin typeface="Times New Roman"/>
                <a:cs typeface="Times New Roman"/>
              </a:rPr>
              <a:t>Features</a:t>
            </a:r>
            <a:r>
              <a:rPr sz="4000" b="0" spc="-130" dirty="0">
                <a:solidFill>
                  <a:srgbClr val="2E377E"/>
                </a:solidFill>
                <a:latin typeface="Times New Roman"/>
                <a:cs typeface="Times New Roman"/>
              </a:rPr>
              <a:t> </a:t>
            </a:r>
            <a:r>
              <a:rPr sz="4000" b="0" spc="95" dirty="0">
                <a:solidFill>
                  <a:srgbClr val="2E377E"/>
                </a:solidFill>
                <a:latin typeface="Times New Roman"/>
                <a:cs typeface="Times New Roman"/>
              </a:rPr>
              <a:t>of</a:t>
            </a:r>
            <a:r>
              <a:rPr sz="4000" b="0" spc="-130" dirty="0">
                <a:solidFill>
                  <a:srgbClr val="2E377E"/>
                </a:solidFill>
                <a:latin typeface="Times New Roman"/>
                <a:cs typeface="Times New Roman"/>
              </a:rPr>
              <a:t> </a:t>
            </a:r>
            <a:r>
              <a:rPr sz="4000" b="0" spc="210" dirty="0">
                <a:solidFill>
                  <a:srgbClr val="2E377E"/>
                </a:solidFill>
                <a:latin typeface="Times New Roman"/>
                <a:cs typeface="Times New Roman"/>
              </a:rPr>
              <a:t>Horizontal</a:t>
            </a:r>
            <a:r>
              <a:rPr sz="4000" b="0" spc="-130" dirty="0">
                <a:solidFill>
                  <a:srgbClr val="2E377E"/>
                </a:solidFill>
                <a:latin typeface="Times New Roman"/>
                <a:cs typeface="Times New Roman"/>
              </a:rPr>
              <a:t> </a:t>
            </a:r>
            <a:r>
              <a:rPr sz="4000" b="0" spc="215" dirty="0">
                <a:solidFill>
                  <a:srgbClr val="2E377E"/>
                </a:solidFill>
                <a:latin typeface="Times New Roman"/>
                <a:cs typeface="Times New Roman"/>
              </a:rPr>
              <a:t>Pod</a:t>
            </a:r>
            <a:r>
              <a:rPr sz="4000" b="0" spc="-130" dirty="0">
                <a:solidFill>
                  <a:srgbClr val="2E377E"/>
                </a:solidFill>
                <a:latin typeface="Times New Roman"/>
                <a:cs typeface="Times New Roman"/>
              </a:rPr>
              <a:t> </a:t>
            </a:r>
            <a:r>
              <a:rPr sz="4000" b="0" spc="105" dirty="0">
                <a:solidFill>
                  <a:srgbClr val="2E377E"/>
                </a:solidFill>
                <a:latin typeface="Times New Roman"/>
                <a:cs typeface="Times New Roman"/>
              </a:rPr>
              <a:t>AutoScaler:</a:t>
            </a:r>
            <a:endParaRPr sz="4000">
              <a:latin typeface="Times New Roman"/>
              <a:cs typeface="Times New Roman"/>
            </a:endParaRPr>
          </a:p>
        </p:txBody>
      </p:sp>
      <p:pic>
        <p:nvPicPr>
          <p:cNvPr id="3" name="object 3"/>
          <p:cNvPicPr/>
          <p:nvPr/>
        </p:nvPicPr>
        <p:blipFill>
          <a:blip r:embed="rId2" cstate="print"/>
          <a:stretch>
            <a:fillRect/>
          </a:stretch>
        </p:blipFill>
        <p:spPr>
          <a:xfrm>
            <a:off x="1447799" y="2216152"/>
            <a:ext cx="133350" cy="133349"/>
          </a:xfrm>
          <a:prstGeom prst="rect">
            <a:avLst/>
          </a:prstGeom>
        </p:spPr>
      </p:pic>
      <p:sp>
        <p:nvSpPr>
          <p:cNvPr id="4" name="object 4"/>
          <p:cNvSpPr txBox="1"/>
          <p:nvPr/>
        </p:nvSpPr>
        <p:spPr>
          <a:xfrm>
            <a:off x="1771600" y="1873238"/>
            <a:ext cx="14828519" cy="6835775"/>
          </a:xfrm>
          <a:prstGeom prst="rect">
            <a:avLst/>
          </a:prstGeom>
        </p:spPr>
        <p:txBody>
          <a:bodyPr vert="horz" wrap="square" lIns="0" tIns="12065" rIns="0" bIns="0" rtlCol="0">
            <a:spAutoFit/>
          </a:bodyPr>
          <a:lstStyle/>
          <a:p>
            <a:pPr marL="12700" marR="149225">
              <a:lnSpc>
                <a:spcPct val="116100"/>
              </a:lnSpc>
              <a:spcBef>
                <a:spcPts val="95"/>
              </a:spcBef>
            </a:pPr>
            <a:r>
              <a:rPr sz="3500" dirty="0">
                <a:solidFill>
                  <a:srgbClr val="2E377E"/>
                </a:solidFill>
                <a:latin typeface="Georgia"/>
                <a:cs typeface="Georgia"/>
              </a:rPr>
              <a:t>By default,</a:t>
            </a:r>
            <a:r>
              <a:rPr sz="3500" spc="10" dirty="0">
                <a:solidFill>
                  <a:srgbClr val="2E377E"/>
                </a:solidFill>
                <a:latin typeface="Georgia"/>
                <a:cs typeface="Georgia"/>
              </a:rPr>
              <a:t> </a:t>
            </a:r>
            <a:r>
              <a:rPr sz="3500" dirty="0">
                <a:solidFill>
                  <a:srgbClr val="2E377E"/>
                </a:solidFill>
                <a:latin typeface="Georgia"/>
                <a:cs typeface="Georgia"/>
              </a:rPr>
              <a:t>Kubernetes</a:t>
            </a:r>
            <a:r>
              <a:rPr sz="3500" spc="10" dirty="0">
                <a:solidFill>
                  <a:srgbClr val="2E377E"/>
                </a:solidFill>
                <a:latin typeface="Georgia"/>
                <a:cs typeface="Georgia"/>
              </a:rPr>
              <a:t> </a:t>
            </a:r>
            <a:r>
              <a:rPr sz="3500" dirty="0">
                <a:solidFill>
                  <a:srgbClr val="2E377E"/>
                </a:solidFill>
                <a:latin typeface="Georgia"/>
                <a:cs typeface="Georgia"/>
              </a:rPr>
              <a:t>does</a:t>
            </a:r>
            <a:r>
              <a:rPr sz="3500" spc="10" dirty="0">
                <a:solidFill>
                  <a:srgbClr val="2E377E"/>
                </a:solidFill>
                <a:latin typeface="Georgia"/>
                <a:cs typeface="Georgia"/>
              </a:rPr>
              <a:t> </a:t>
            </a:r>
            <a:r>
              <a:rPr sz="3500" dirty="0">
                <a:solidFill>
                  <a:srgbClr val="2E377E"/>
                </a:solidFill>
                <a:latin typeface="Georgia"/>
                <a:cs typeface="Georgia"/>
              </a:rPr>
              <a:t>not</a:t>
            </a:r>
            <a:r>
              <a:rPr sz="3500" spc="10" dirty="0">
                <a:solidFill>
                  <a:srgbClr val="2E377E"/>
                </a:solidFill>
                <a:latin typeface="Georgia"/>
                <a:cs typeface="Georgia"/>
              </a:rPr>
              <a:t> </a:t>
            </a:r>
            <a:r>
              <a:rPr sz="3500" dirty="0">
                <a:solidFill>
                  <a:srgbClr val="2E377E"/>
                </a:solidFill>
                <a:latin typeface="Georgia"/>
                <a:cs typeface="Georgia"/>
              </a:rPr>
              <a:t>provide</a:t>
            </a:r>
            <a:r>
              <a:rPr sz="3500" spc="5" dirty="0">
                <a:solidFill>
                  <a:srgbClr val="2E377E"/>
                </a:solidFill>
                <a:latin typeface="Georgia"/>
                <a:cs typeface="Georgia"/>
              </a:rPr>
              <a:t> </a:t>
            </a:r>
            <a:r>
              <a:rPr sz="3500" spc="-10" dirty="0">
                <a:solidFill>
                  <a:srgbClr val="2E377E"/>
                </a:solidFill>
                <a:latin typeface="Georgia"/>
                <a:cs typeface="Georgia"/>
              </a:rPr>
              <a:t>AutoScaling.</a:t>
            </a:r>
            <a:r>
              <a:rPr sz="3500" spc="10" dirty="0">
                <a:solidFill>
                  <a:srgbClr val="2E377E"/>
                </a:solidFill>
                <a:latin typeface="Georgia"/>
                <a:cs typeface="Georgia"/>
              </a:rPr>
              <a:t> </a:t>
            </a:r>
            <a:r>
              <a:rPr sz="3500" dirty="0">
                <a:solidFill>
                  <a:srgbClr val="2E377E"/>
                </a:solidFill>
                <a:latin typeface="Georgia"/>
                <a:cs typeface="Georgia"/>
              </a:rPr>
              <a:t>If</a:t>
            </a:r>
            <a:r>
              <a:rPr sz="3500" spc="10" dirty="0">
                <a:solidFill>
                  <a:srgbClr val="2E377E"/>
                </a:solidFill>
                <a:latin typeface="Georgia"/>
                <a:cs typeface="Georgia"/>
              </a:rPr>
              <a:t> </a:t>
            </a:r>
            <a:r>
              <a:rPr sz="3500" spc="85" dirty="0">
                <a:solidFill>
                  <a:srgbClr val="2E377E"/>
                </a:solidFill>
                <a:latin typeface="Georgia"/>
                <a:cs typeface="Georgia"/>
              </a:rPr>
              <a:t>you</a:t>
            </a:r>
            <a:r>
              <a:rPr sz="3500" spc="5" dirty="0">
                <a:solidFill>
                  <a:srgbClr val="2E377E"/>
                </a:solidFill>
                <a:latin typeface="Georgia"/>
                <a:cs typeface="Georgia"/>
              </a:rPr>
              <a:t> </a:t>
            </a:r>
            <a:r>
              <a:rPr sz="3500" spc="-20" dirty="0">
                <a:solidFill>
                  <a:srgbClr val="2E377E"/>
                </a:solidFill>
                <a:latin typeface="Georgia"/>
                <a:cs typeface="Georgia"/>
              </a:rPr>
              <a:t>need </a:t>
            </a:r>
            <a:r>
              <a:rPr sz="3500" dirty="0">
                <a:solidFill>
                  <a:srgbClr val="2E377E"/>
                </a:solidFill>
                <a:latin typeface="Georgia"/>
                <a:cs typeface="Georgia"/>
              </a:rPr>
              <a:t>AutoScaling,</a:t>
            </a:r>
            <a:r>
              <a:rPr sz="3500" spc="-45" dirty="0">
                <a:solidFill>
                  <a:srgbClr val="2E377E"/>
                </a:solidFill>
                <a:latin typeface="Georgia"/>
                <a:cs typeface="Georgia"/>
              </a:rPr>
              <a:t> </a:t>
            </a:r>
            <a:r>
              <a:rPr sz="3500" dirty="0">
                <a:solidFill>
                  <a:srgbClr val="2E377E"/>
                </a:solidFill>
                <a:latin typeface="Georgia"/>
                <a:cs typeface="Georgia"/>
              </a:rPr>
              <a:t>then</a:t>
            </a:r>
            <a:r>
              <a:rPr sz="3500" spc="-45" dirty="0">
                <a:solidFill>
                  <a:srgbClr val="2E377E"/>
                </a:solidFill>
                <a:latin typeface="Georgia"/>
                <a:cs typeface="Georgia"/>
              </a:rPr>
              <a:t> </a:t>
            </a:r>
            <a:r>
              <a:rPr sz="3500" spc="85" dirty="0">
                <a:solidFill>
                  <a:srgbClr val="2E377E"/>
                </a:solidFill>
                <a:latin typeface="Georgia"/>
                <a:cs typeface="Georgia"/>
              </a:rPr>
              <a:t>you</a:t>
            </a:r>
            <a:r>
              <a:rPr sz="3500" spc="-45" dirty="0">
                <a:solidFill>
                  <a:srgbClr val="2E377E"/>
                </a:solidFill>
                <a:latin typeface="Georgia"/>
                <a:cs typeface="Georgia"/>
              </a:rPr>
              <a:t> </a:t>
            </a:r>
            <a:r>
              <a:rPr sz="3500" dirty="0">
                <a:solidFill>
                  <a:srgbClr val="2E377E"/>
                </a:solidFill>
                <a:latin typeface="Georgia"/>
                <a:cs typeface="Georgia"/>
              </a:rPr>
              <a:t>have</a:t>
            </a:r>
            <a:r>
              <a:rPr sz="3500" spc="-50" dirty="0">
                <a:solidFill>
                  <a:srgbClr val="2E377E"/>
                </a:solidFill>
                <a:latin typeface="Georgia"/>
                <a:cs typeface="Georgia"/>
              </a:rPr>
              <a:t> </a:t>
            </a:r>
            <a:r>
              <a:rPr sz="3500" spc="55" dirty="0">
                <a:solidFill>
                  <a:srgbClr val="2E377E"/>
                </a:solidFill>
                <a:latin typeface="Georgia"/>
                <a:cs typeface="Georgia"/>
              </a:rPr>
              <a:t>to</a:t>
            </a:r>
            <a:r>
              <a:rPr sz="3500" spc="-45" dirty="0">
                <a:solidFill>
                  <a:srgbClr val="2E377E"/>
                </a:solidFill>
                <a:latin typeface="Georgia"/>
                <a:cs typeface="Georgia"/>
              </a:rPr>
              <a:t> </a:t>
            </a:r>
            <a:r>
              <a:rPr sz="3500" dirty="0">
                <a:solidFill>
                  <a:srgbClr val="2E377E"/>
                </a:solidFill>
                <a:latin typeface="Georgia"/>
                <a:cs typeface="Georgia"/>
              </a:rPr>
              <a:t>create</a:t>
            </a:r>
            <a:r>
              <a:rPr sz="3500" spc="-45" dirty="0">
                <a:solidFill>
                  <a:srgbClr val="2E377E"/>
                </a:solidFill>
                <a:latin typeface="Georgia"/>
                <a:cs typeface="Georgia"/>
              </a:rPr>
              <a:t> </a:t>
            </a:r>
            <a:r>
              <a:rPr sz="3500" spc="-10" dirty="0">
                <a:solidFill>
                  <a:srgbClr val="2E377E"/>
                </a:solidFill>
                <a:latin typeface="Georgia"/>
                <a:cs typeface="Georgia"/>
              </a:rPr>
              <a:t>hpa(Horizontal</a:t>
            </a:r>
            <a:r>
              <a:rPr sz="3500" spc="-40" dirty="0">
                <a:solidFill>
                  <a:srgbClr val="2E377E"/>
                </a:solidFill>
                <a:latin typeface="Georgia"/>
                <a:cs typeface="Georgia"/>
              </a:rPr>
              <a:t> </a:t>
            </a:r>
            <a:r>
              <a:rPr sz="3500" dirty="0">
                <a:solidFill>
                  <a:srgbClr val="2E377E"/>
                </a:solidFill>
                <a:latin typeface="Georgia"/>
                <a:cs typeface="Georgia"/>
              </a:rPr>
              <a:t>Pod</a:t>
            </a:r>
            <a:r>
              <a:rPr sz="3500" spc="-50" dirty="0">
                <a:solidFill>
                  <a:srgbClr val="2E377E"/>
                </a:solidFill>
                <a:latin typeface="Georgia"/>
                <a:cs typeface="Georgia"/>
              </a:rPr>
              <a:t> </a:t>
            </a:r>
            <a:r>
              <a:rPr sz="3500" spc="-20" dirty="0">
                <a:solidFill>
                  <a:srgbClr val="2E377E"/>
                </a:solidFill>
                <a:latin typeface="Georgia"/>
                <a:cs typeface="Georgia"/>
              </a:rPr>
              <a:t>AutoScaling)</a:t>
            </a:r>
            <a:r>
              <a:rPr sz="3500" spc="-40" dirty="0">
                <a:solidFill>
                  <a:srgbClr val="2E377E"/>
                </a:solidFill>
                <a:latin typeface="Georgia"/>
                <a:cs typeface="Georgia"/>
              </a:rPr>
              <a:t> </a:t>
            </a:r>
            <a:r>
              <a:rPr sz="3500" spc="-25" dirty="0">
                <a:solidFill>
                  <a:srgbClr val="2E377E"/>
                </a:solidFill>
                <a:latin typeface="Georgia"/>
                <a:cs typeface="Georgia"/>
              </a:rPr>
              <a:t>and </a:t>
            </a:r>
            <a:r>
              <a:rPr sz="3500" dirty="0">
                <a:solidFill>
                  <a:srgbClr val="2E377E"/>
                </a:solidFill>
                <a:latin typeface="Georgia"/>
                <a:cs typeface="Georgia"/>
              </a:rPr>
              <a:t>vpa(Vertical</a:t>
            </a:r>
            <a:r>
              <a:rPr sz="3500" spc="-135" dirty="0">
                <a:solidFill>
                  <a:srgbClr val="2E377E"/>
                </a:solidFill>
                <a:latin typeface="Georgia"/>
                <a:cs typeface="Georgia"/>
              </a:rPr>
              <a:t> </a:t>
            </a:r>
            <a:r>
              <a:rPr sz="3500" dirty="0">
                <a:solidFill>
                  <a:srgbClr val="2E377E"/>
                </a:solidFill>
                <a:latin typeface="Georgia"/>
                <a:cs typeface="Georgia"/>
              </a:rPr>
              <a:t>Pod</a:t>
            </a:r>
            <a:r>
              <a:rPr sz="3500" spc="-140" dirty="0">
                <a:solidFill>
                  <a:srgbClr val="2E377E"/>
                </a:solidFill>
                <a:latin typeface="Georgia"/>
                <a:cs typeface="Georgia"/>
              </a:rPr>
              <a:t> </a:t>
            </a:r>
            <a:r>
              <a:rPr sz="3500" spc="-20" dirty="0">
                <a:solidFill>
                  <a:srgbClr val="2E377E"/>
                </a:solidFill>
                <a:latin typeface="Georgia"/>
                <a:cs typeface="Georgia"/>
              </a:rPr>
              <a:t>AutoScaling)</a:t>
            </a:r>
            <a:r>
              <a:rPr sz="3500" spc="-135" dirty="0">
                <a:solidFill>
                  <a:srgbClr val="2E377E"/>
                </a:solidFill>
                <a:latin typeface="Georgia"/>
                <a:cs typeface="Georgia"/>
              </a:rPr>
              <a:t> </a:t>
            </a:r>
            <a:r>
              <a:rPr sz="3500" spc="-10" dirty="0">
                <a:solidFill>
                  <a:srgbClr val="2E377E"/>
                </a:solidFill>
                <a:latin typeface="Georgia"/>
                <a:cs typeface="Georgia"/>
              </a:rPr>
              <a:t>objects.</a:t>
            </a:r>
            <a:endParaRPr sz="3500">
              <a:latin typeface="Georgia"/>
              <a:cs typeface="Georgia"/>
            </a:endParaRPr>
          </a:p>
          <a:p>
            <a:pPr marL="12700" marR="424180">
              <a:lnSpc>
                <a:spcPts val="4880"/>
              </a:lnSpc>
              <a:spcBef>
                <a:spcPts val="275"/>
              </a:spcBef>
            </a:pPr>
            <a:r>
              <a:rPr sz="3500" dirty="0">
                <a:solidFill>
                  <a:srgbClr val="2E377E"/>
                </a:solidFill>
                <a:latin typeface="Georgia"/>
                <a:cs typeface="Georgia"/>
              </a:rPr>
              <a:t>Kubernetes</a:t>
            </a:r>
            <a:r>
              <a:rPr sz="3500" spc="30" dirty="0">
                <a:solidFill>
                  <a:srgbClr val="2E377E"/>
                </a:solidFill>
                <a:latin typeface="Georgia"/>
                <a:cs typeface="Georgia"/>
              </a:rPr>
              <a:t> </a:t>
            </a:r>
            <a:r>
              <a:rPr sz="3500" dirty="0">
                <a:solidFill>
                  <a:srgbClr val="2E377E"/>
                </a:solidFill>
                <a:latin typeface="Georgia"/>
                <a:cs typeface="Georgia"/>
              </a:rPr>
              <a:t>supports</a:t>
            </a:r>
            <a:r>
              <a:rPr sz="3500" spc="30" dirty="0">
                <a:solidFill>
                  <a:srgbClr val="2E377E"/>
                </a:solidFill>
                <a:latin typeface="Georgia"/>
                <a:cs typeface="Georgia"/>
              </a:rPr>
              <a:t> </a:t>
            </a:r>
            <a:r>
              <a:rPr sz="3500" spc="55" dirty="0">
                <a:solidFill>
                  <a:srgbClr val="2E377E"/>
                </a:solidFill>
                <a:latin typeface="Georgia"/>
                <a:cs typeface="Georgia"/>
              </a:rPr>
              <a:t>the</a:t>
            </a:r>
            <a:r>
              <a:rPr sz="3500" spc="25" dirty="0">
                <a:solidFill>
                  <a:srgbClr val="2E377E"/>
                </a:solidFill>
                <a:latin typeface="Georgia"/>
                <a:cs typeface="Georgia"/>
              </a:rPr>
              <a:t> </a:t>
            </a:r>
            <a:r>
              <a:rPr sz="3500" dirty="0">
                <a:solidFill>
                  <a:srgbClr val="2E377E"/>
                </a:solidFill>
                <a:latin typeface="Georgia"/>
                <a:cs typeface="Georgia"/>
              </a:rPr>
              <a:t>autoscaling</a:t>
            </a:r>
            <a:r>
              <a:rPr sz="3500" spc="30" dirty="0">
                <a:solidFill>
                  <a:srgbClr val="2E377E"/>
                </a:solidFill>
                <a:latin typeface="Georgia"/>
                <a:cs typeface="Georgia"/>
              </a:rPr>
              <a:t> </a:t>
            </a:r>
            <a:r>
              <a:rPr sz="3500" dirty="0">
                <a:solidFill>
                  <a:srgbClr val="2E377E"/>
                </a:solidFill>
                <a:latin typeface="Georgia"/>
                <a:cs typeface="Georgia"/>
              </a:rPr>
              <a:t>of</a:t>
            </a:r>
            <a:r>
              <a:rPr sz="3500" spc="30" dirty="0">
                <a:solidFill>
                  <a:srgbClr val="2E377E"/>
                </a:solidFill>
                <a:latin typeface="Georgia"/>
                <a:cs typeface="Georgia"/>
              </a:rPr>
              <a:t> </a:t>
            </a:r>
            <a:r>
              <a:rPr sz="3500" spc="55" dirty="0">
                <a:solidFill>
                  <a:srgbClr val="2E377E"/>
                </a:solidFill>
                <a:latin typeface="Georgia"/>
                <a:cs typeface="Georgia"/>
              </a:rPr>
              <a:t>the</a:t>
            </a:r>
            <a:r>
              <a:rPr sz="3500" spc="25" dirty="0">
                <a:solidFill>
                  <a:srgbClr val="2E377E"/>
                </a:solidFill>
                <a:latin typeface="Georgia"/>
                <a:cs typeface="Georgia"/>
              </a:rPr>
              <a:t> </a:t>
            </a:r>
            <a:r>
              <a:rPr sz="3500" dirty="0">
                <a:solidFill>
                  <a:srgbClr val="2E377E"/>
                </a:solidFill>
                <a:latin typeface="Georgia"/>
                <a:cs typeface="Georgia"/>
              </a:rPr>
              <a:t>pods</a:t>
            </a:r>
            <a:r>
              <a:rPr sz="3500" spc="35" dirty="0">
                <a:solidFill>
                  <a:srgbClr val="2E377E"/>
                </a:solidFill>
                <a:latin typeface="Georgia"/>
                <a:cs typeface="Georgia"/>
              </a:rPr>
              <a:t> </a:t>
            </a:r>
            <a:r>
              <a:rPr sz="3500" dirty="0">
                <a:solidFill>
                  <a:srgbClr val="2E377E"/>
                </a:solidFill>
                <a:latin typeface="Georgia"/>
                <a:cs typeface="Georgia"/>
              </a:rPr>
              <a:t>based</a:t>
            </a:r>
            <a:r>
              <a:rPr sz="3500" spc="25" dirty="0">
                <a:solidFill>
                  <a:srgbClr val="2E377E"/>
                </a:solidFill>
                <a:latin typeface="Georgia"/>
                <a:cs typeface="Georgia"/>
              </a:rPr>
              <a:t> </a:t>
            </a:r>
            <a:r>
              <a:rPr sz="3500" dirty="0">
                <a:solidFill>
                  <a:srgbClr val="2E377E"/>
                </a:solidFill>
                <a:latin typeface="Georgia"/>
                <a:cs typeface="Georgia"/>
              </a:rPr>
              <a:t>on</a:t>
            </a:r>
            <a:r>
              <a:rPr sz="3500" spc="25" dirty="0">
                <a:solidFill>
                  <a:srgbClr val="2E377E"/>
                </a:solidFill>
                <a:latin typeface="Georgia"/>
                <a:cs typeface="Georgia"/>
              </a:rPr>
              <a:t> </a:t>
            </a:r>
            <a:r>
              <a:rPr sz="3500" dirty="0">
                <a:solidFill>
                  <a:srgbClr val="2E377E"/>
                </a:solidFill>
                <a:latin typeface="Georgia"/>
                <a:cs typeface="Georgia"/>
              </a:rPr>
              <a:t>Observed</a:t>
            </a:r>
            <a:r>
              <a:rPr sz="3500" spc="25" dirty="0">
                <a:solidFill>
                  <a:srgbClr val="2E377E"/>
                </a:solidFill>
                <a:latin typeface="Georgia"/>
                <a:cs typeface="Georgia"/>
              </a:rPr>
              <a:t> </a:t>
            </a:r>
            <a:r>
              <a:rPr sz="3500" spc="-25" dirty="0">
                <a:solidFill>
                  <a:srgbClr val="2E377E"/>
                </a:solidFill>
                <a:latin typeface="Georgia"/>
                <a:cs typeface="Georgia"/>
              </a:rPr>
              <a:t>CPU </a:t>
            </a:r>
            <a:r>
              <a:rPr sz="3500" spc="-10" dirty="0">
                <a:solidFill>
                  <a:srgbClr val="2E377E"/>
                </a:solidFill>
                <a:latin typeface="Georgia"/>
                <a:cs typeface="Georgia"/>
              </a:rPr>
              <a:t>Utilization.</a:t>
            </a:r>
            <a:endParaRPr sz="3500">
              <a:latin typeface="Georgia"/>
              <a:cs typeface="Georgia"/>
            </a:endParaRPr>
          </a:p>
          <a:p>
            <a:pPr marL="12700">
              <a:lnSpc>
                <a:spcPct val="100000"/>
              </a:lnSpc>
              <a:spcBef>
                <a:spcPts val="390"/>
              </a:spcBef>
            </a:pPr>
            <a:r>
              <a:rPr sz="3500" dirty="0">
                <a:solidFill>
                  <a:srgbClr val="2E377E"/>
                </a:solidFill>
                <a:latin typeface="Georgia"/>
                <a:cs typeface="Georgia"/>
              </a:rPr>
              <a:t>Scaling</a:t>
            </a:r>
            <a:r>
              <a:rPr sz="3500" spc="15" dirty="0">
                <a:solidFill>
                  <a:srgbClr val="2E377E"/>
                </a:solidFill>
                <a:latin typeface="Georgia"/>
                <a:cs typeface="Georgia"/>
              </a:rPr>
              <a:t> </a:t>
            </a:r>
            <a:r>
              <a:rPr sz="3500" spc="50" dirty="0">
                <a:solidFill>
                  <a:srgbClr val="2E377E"/>
                </a:solidFill>
                <a:latin typeface="Georgia"/>
                <a:cs typeface="Georgia"/>
              </a:rPr>
              <a:t>only</a:t>
            </a:r>
            <a:r>
              <a:rPr sz="3500" spc="15" dirty="0">
                <a:solidFill>
                  <a:srgbClr val="2E377E"/>
                </a:solidFill>
                <a:latin typeface="Georgia"/>
                <a:cs typeface="Georgia"/>
              </a:rPr>
              <a:t> </a:t>
            </a:r>
            <a:r>
              <a:rPr sz="3500" dirty="0">
                <a:solidFill>
                  <a:srgbClr val="2E377E"/>
                </a:solidFill>
                <a:latin typeface="Georgia"/>
                <a:cs typeface="Georgia"/>
              </a:rPr>
              <a:t>supports</a:t>
            </a:r>
            <a:r>
              <a:rPr sz="3500" spc="20" dirty="0">
                <a:solidFill>
                  <a:srgbClr val="2E377E"/>
                </a:solidFill>
                <a:latin typeface="Georgia"/>
                <a:cs typeface="Georgia"/>
              </a:rPr>
              <a:t> </a:t>
            </a:r>
            <a:r>
              <a:rPr sz="3500" dirty="0">
                <a:solidFill>
                  <a:srgbClr val="2E377E"/>
                </a:solidFill>
                <a:latin typeface="Georgia"/>
                <a:cs typeface="Georgia"/>
              </a:rPr>
              <a:t>Scalable</a:t>
            </a:r>
            <a:r>
              <a:rPr sz="3500" spc="15" dirty="0">
                <a:solidFill>
                  <a:srgbClr val="2E377E"/>
                </a:solidFill>
                <a:latin typeface="Georgia"/>
                <a:cs typeface="Georgia"/>
              </a:rPr>
              <a:t> </a:t>
            </a:r>
            <a:r>
              <a:rPr sz="3500" dirty="0">
                <a:solidFill>
                  <a:srgbClr val="2E377E"/>
                </a:solidFill>
                <a:latin typeface="Georgia"/>
                <a:cs typeface="Georgia"/>
              </a:rPr>
              <a:t>objects</a:t>
            </a:r>
            <a:r>
              <a:rPr sz="3500" spc="20" dirty="0">
                <a:solidFill>
                  <a:srgbClr val="2E377E"/>
                </a:solidFill>
                <a:latin typeface="Georgia"/>
                <a:cs typeface="Georgia"/>
              </a:rPr>
              <a:t> </a:t>
            </a:r>
            <a:r>
              <a:rPr sz="3500" dirty="0">
                <a:solidFill>
                  <a:srgbClr val="2E377E"/>
                </a:solidFill>
                <a:latin typeface="Georgia"/>
                <a:cs typeface="Georgia"/>
              </a:rPr>
              <a:t>like</a:t>
            </a:r>
            <a:r>
              <a:rPr sz="3500" spc="15" dirty="0">
                <a:solidFill>
                  <a:srgbClr val="2E377E"/>
                </a:solidFill>
                <a:latin typeface="Georgia"/>
                <a:cs typeface="Georgia"/>
              </a:rPr>
              <a:t> </a:t>
            </a:r>
            <a:r>
              <a:rPr sz="3500" dirty="0">
                <a:solidFill>
                  <a:srgbClr val="2E377E"/>
                </a:solidFill>
                <a:latin typeface="Georgia"/>
                <a:cs typeface="Georgia"/>
              </a:rPr>
              <a:t>Controller,</a:t>
            </a:r>
            <a:r>
              <a:rPr sz="3500" spc="20" dirty="0">
                <a:solidFill>
                  <a:srgbClr val="2E377E"/>
                </a:solidFill>
                <a:latin typeface="Georgia"/>
                <a:cs typeface="Georgia"/>
              </a:rPr>
              <a:t> </a:t>
            </a:r>
            <a:r>
              <a:rPr sz="3500" dirty="0">
                <a:solidFill>
                  <a:srgbClr val="2E377E"/>
                </a:solidFill>
                <a:latin typeface="Georgia"/>
                <a:cs typeface="Georgia"/>
              </a:rPr>
              <a:t>deployment,</a:t>
            </a:r>
            <a:r>
              <a:rPr sz="3500" spc="25" dirty="0">
                <a:solidFill>
                  <a:srgbClr val="2E377E"/>
                </a:solidFill>
                <a:latin typeface="Georgia"/>
                <a:cs typeface="Georgia"/>
              </a:rPr>
              <a:t> </a:t>
            </a:r>
            <a:r>
              <a:rPr sz="3500" spc="-25" dirty="0">
                <a:solidFill>
                  <a:srgbClr val="2E377E"/>
                </a:solidFill>
                <a:latin typeface="Georgia"/>
                <a:cs typeface="Georgia"/>
              </a:rPr>
              <a:t>or</a:t>
            </a:r>
            <a:endParaRPr sz="3500">
              <a:latin typeface="Georgia"/>
              <a:cs typeface="Georgia"/>
            </a:endParaRPr>
          </a:p>
          <a:p>
            <a:pPr marL="12700">
              <a:lnSpc>
                <a:spcPct val="100000"/>
              </a:lnSpc>
              <a:spcBef>
                <a:spcPts val="675"/>
              </a:spcBef>
            </a:pPr>
            <a:r>
              <a:rPr sz="3500" spc="-10" dirty="0">
                <a:solidFill>
                  <a:srgbClr val="2E377E"/>
                </a:solidFill>
                <a:latin typeface="Georgia"/>
                <a:cs typeface="Georgia"/>
              </a:rPr>
              <a:t>ReplicaSet.</a:t>
            </a:r>
            <a:endParaRPr sz="3500">
              <a:latin typeface="Georgia"/>
              <a:cs typeface="Georgia"/>
            </a:endParaRPr>
          </a:p>
          <a:p>
            <a:pPr marL="12700">
              <a:lnSpc>
                <a:spcPct val="100000"/>
              </a:lnSpc>
              <a:spcBef>
                <a:spcPts val="675"/>
              </a:spcBef>
            </a:pPr>
            <a:r>
              <a:rPr sz="3500" spc="-90" dirty="0">
                <a:solidFill>
                  <a:srgbClr val="2E377E"/>
                </a:solidFill>
                <a:latin typeface="Georgia"/>
                <a:cs typeface="Georgia"/>
              </a:rPr>
              <a:t>HPA</a:t>
            </a:r>
            <a:r>
              <a:rPr sz="3500" spc="-10" dirty="0">
                <a:solidFill>
                  <a:srgbClr val="2E377E"/>
                </a:solidFill>
                <a:latin typeface="Georgia"/>
                <a:cs typeface="Georgia"/>
              </a:rPr>
              <a:t> </a:t>
            </a:r>
            <a:r>
              <a:rPr sz="3500" dirty="0">
                <a:solidFill>
                  <a:srgbClr val="2E377E"/>
                </a:solidFill>
                <a:latin typeface="Georgia"/>
                <a:cs typeface="Georgia"/>
              </a:rPr>
              <a:t>is implemented</a:t>
            </a:r>
            <a:r>
              <a:rPr sz="3500" spc="-5" dirty="0">
                <a:solidFill>
                  <a:srgbClr val="2E377E"/>
                </a:solidFill>
                <a:latin typeface="Georgia"/>
                <a:cs typeface="Georgia"/>
              </a:rPr>
              <a:t> </a:t>
            </a:r>
            <a:r>
              <a:rPr sz="3500" dirty="0">
                <a:solidFill>
                  <a:srgbClr val="2E377E"/>
                </a:solidFill>
                <a:latin typeface="Georgia"/>
                <a:cs typeface="Georgia"/>
              </a:rPr>
              <a:t>as a</a:t>
            </a:r>
            <a:r>
              <a:rPr sz="3500" spc="-5" dirty="0">
                <a:solidFill>
                  <a:srgbClr val="2E377E"/>
                </a:solidFill>
                <a:latin typeface="Georgia"/>
                <a:cs typeface="Georgia"/>
              </a:rPr>
              <a:t> </a:t>
            </a:r>
            <a:r>
              <a:rPr sz="3500" dirty="0">
                <a:solidFill>
                  <a:srgbClr val="2E377E"/>
                </a:solidFill>
                <a:latin typeface="Georgia"/>
                <a:cs typeface="Georgia"/>
              </a:rPr>
              <a:t>Kubernetes</a:t>
            </a:r>
            <a:r>
              <a:rPr sz="3500" spc="-5" dirty="0">
                <a:solidFill>
                  <a:srgbClr val="2E377E"/>
                </a:solidFill>
                <a:latin typeface="Georgia"/>
                <a:cs typeface="Georgia"/>
              </a:rPr>
              <a:t> </a:t>
            </a:r>
            <a:r>
              <a:rPr sz="3500" spc="-65" dirty="0">
                <a:solidFill>
                  <a:srgbClr val="2E377E"/>
                </a:solidFill>
                <a:latin typeface="Georgia"/>
                <a:cs typeface="Georgia"/>
              </a:rPr>
              <a:t>API</a:t>
            </a:r>
            <a:r>
              <a:rPr sz="3500" dirty="0">
                <a:solidFill>
                  <a:srgbClr val="2E377E"/>
                </a:solidFill>
                <a:latin typeface="Georgia"/>
                <a:cs typeface="Georgia"/>
              </a:rPr>
              <a:t> resource</a:t>
            </a:r>
            <a:r>
              <a:rPr sz="3500" spc="-5" dirty="0">
                <a:solidFill>
                  <a:srgbClr val="2E377E"/>
                </a:solidFill>
                <a:latin typeface="Georgia"/>
                <a:cs typeface="Georgia"/>
              </a:rPr>
              <a:t> </a:t>
            </a:r>
            <a:r>
              <a:rPr sz="3500" dirty="0">
                <a:solidFill>
                  <a:srgbClr val="2E377E"/>
                </a:solidFill>
                <a:latin typeface="Georgia"/>
                <a:cs typeface="Georgia"/>
              </a:rPr>
              <a:t>and</a:t>
            </a:r>
            <a:r>
              <a:rPr sz="3500" spc="-5" dirty="0">
                <a:solidFill>
                  <a:srgbClr val="2E377E"/>
                </a:solidFill>
                <a:latin typeface="Georgia"/>
                <a:cs typeface="Georgia"/>
              </a:rPr>
              <a:t> </a:t>
            </a:r>
            <a:r>
              <a:rPr sz="3500" dirty="0">
                <a:solidFill>
                  <a:srgbClr val="2E377E"/>
                </a:solidFill>
                <a:latin typeface="Georgia"/>
                <a:cs typeface="Georgia"/>
              </a:rPr>
              <a:t>a</a:t>
            </a:r>
            <a:r>
              <a:rPr sz="3500" spc="-5" dirty="0">
                <a:solidFill>
                  <a:srgbClr val="2E377E"/>
                </a:solidFill>
                <a:latin typeface="Georgia"/>
                <a:cs typeface="Georgia"/>
              </a:rPr>
              <a:t> </a:t>
            </a:r>
            <a:r>
              <a:rPr sz="3500" spc="-10" dirty="0">
                <a:solidFill>
                  <a:srgbClr val="2E377E"/>
                </a:solidFill>
                <a:latin typeface="Georgia"/>
                <a:cs typeface="Georgia"/>
              </a:rPr>
              <a:t>controller.</a:t>
            </a:r>
            <a:endParaRPr sz="3500">
              <a:latin typeface="Georgia"/>
              <a:cs typeface="Georgia"/>
            </a:endParaRPr>
          </a:p>
          <a:p>
            <a:pPr marL="12700" marR="5080">
              <a:lnSpc>
                <a:spcPts val="4880"/>
              </a:lnSpc>
              <a:spcBef>
                <a:spcPts val="85"/>
              </a:spcBef>
            </a:pPr>
            <a:r>
              <a:rPr sz="3500" dirty="0">
                <a:solidFill>
                  <a:srgbClr val="2E377E"/>
                </a:solidFill>
                <a:latin typeface="Georgia"/>
                <a:cs typeface="Georgia"/>
              </a:rPr>
              <a:t>The Controller</a:t>
            </a:r>
            <a:r>
              <a:rPr sz="3500" spc="5" dirty="0">
                <a:solidFill>
                  <a:srgbClr val="2E377E"/>
                </a:solidFill>
                <a:latin typeface="Georgia"/>
                <a:cs typeface="Georgia"/>
              </a:rPr>
              <a:t> </a:t>
            </a:r>
            <a:r>
              <a:rPr sz="3500" dirty="0">
                <a:solidFill>
                  <a:srgbClr val="2E377E"/>
                </a:solidFill>
                <a:latin typeface="Georgia"/>
                <a:cs typeface="Georgia"/>
              </a:rPr>
              <a:t>periodically</a:t>
            </a:r>
            <a:r>
              <a:rPr sz="3500" spc="5" dirty="0">
                <a:solidFill>
                  <a:srgbClr val="2E377E"/>
                </a:solidFill>
                <a:latin typeface="Georgia"/>
                <a:cs typeface="Georgia"/>
              </a:rPr>
              <a:t> </a:t>
            </a:r>
            <a:r>
              <a:rPr sz="3500" dirty="0">
                <a:solidFill>
                  <a:srgbClr val="2E377E"/>
                </a:solidFill>
                <a:latin typeface="Georgia"/>
                <a:cs typeface="Georgia"/>
              </a:rPr>
              <a:t>adjusts</a:t>
            </a:r>
            <a:r>
              <a:rPr sz="3500" spc="5" dirty="0">
                <a:solidFill>
                  <a:srgbClr val="2E377E"/>
                </a:solidFill>
                <a:latin typeface="Georgia"/>
                <a:cs typeface="Georgia"/>
              </a:rPr>
              <a:t> </a:t>
            </a:r>
            <a:r>
              <a:rPr sz="3500" spc="55" dirty="0">
                <a:solidFill>
                  <a:srgbClr val="2E377E"/>
                </a:solidFill>
                <a:latin typeface="Georgia"/>
                <a:cs typeface="Georgia"/>
              </a:rPr>
              <a:t>the</a:t>
            </a:r>
            <a:r>
              <a:rPr sz="3500" dirty="0">
                <a:solidFill>
                  <a:srgbClr val="2E377E"/>
                </a:solidFill>
                <a:latin typeface="Georgia"/>
                <a:cs typeface="Georgia"/>
              </a:rPr>
              <a:t> number</a:t>
            </a:r>
            <a:r>
              <a:rPr sz="3500" spc="10" dirty="0">
                <a:solidFill>
                  <a:srgbClr val="2E377E"/>
                </a:solidFill>
                <a:latin typeface="Georgia"/>
                <a:cs typeface="Georgia"/>
              </a:rPr>
              <a:t> </a:t>
            </a:r>
            <a:r>
              <a:rPr sz="3500" dirty="0">
                <a:solidFill>
                  <a:srgbClr val="2E377E"/>
                </a:solidFill>
                <a:latin typeface="Georgia"/>
                <a:cs typeface="Georgia"/>
              </a:rPr>
              <a:t>of</a:t>
            </a:r>
            <a:r>
              <a:rPr sz="3500" spc="5" dirty="0">
                <a:solidFill>
                  <a:srgbClr val="2E377E"/>
                </a:solidFill>
                <a:latin typeface="Georgia"/>
                <a:cs typeface="Georgia"/>
              </a:rPr>
              <a:t> </a:t>
            </a:r>
            <a:r>
              <a:rPr sz="3500" dirty="0">
                <a:solidFill>
                  <a:srgbClr val="2E377E"/>
                </a:solidFill>
                <a:latin typeface="Georgia"/>
                <a:cs typeface="Georgia"/>
              </a:rPr>
              <a:t>replicas</a:t>
            </a:r>
            <a:r>
              <a:rPr sz="3500" spc="10" dirty="0">
                <a:solidFill>
                  <a:srgbClr val="2E377E"/>
                </a:solidFill>
                <a:latin typeface="Georgia"/>
                <a:cs typeface="Georgia"/>
              </a:rPr>
              <a:t> </a:t>
            </a:r>
            <a:r>
              <a:rPr sz="3500" dirty="0">
                <a:solidFill>
                  <a:srgbClr val="2E377E"/>
                </a:solidFill>
                <a:latin typeface="Georgia"/>
                <a:cs typeface="Georgia"/>
              </a:rPr>
              <a:t>in a </a:t>
            </a:r>
            <a:r>
              <a:rPr sz="3500" spc="-10" dirty="0">
                <a:solidFill>
                  <a:srgbClr val="2E377E"/>
                </a:solidFill>
                <a:latin typeface="Georgia"/>
                <a:cs typeface="Georgia"/>
              </a:rPr>
              <a:t>replication </a:t>
            </a:r>
            <a:r>
              <a:rPr sz="3500" dirty="0">
                <a:solidFill>
                  <a:srgbClr val="2E377E"/>
                </a:solidFill>
                <a:latin typeface="Georgia"/>
                <a:cs typeface="Georgia"/>
              </a:rPr>
              <a:t>controller</a:t>
            </a:r>
            <a:r>
              <a:rPr sz="3500" spc="90" dirty="0">
                <a:solidFill>
                  <a:srgbClr val="2E377E"/>
                </a:solidFill>
                <a:latin typeface="Georgia"/>
                <a:cs typeface="Georgia"/>
              </a:rPr>
              <a:t> </a:t>
            </a:r>
            <a:r>
              <a:rPr sz="3500" dirty="0">
                <a:solidFill>
                  <a:srgbClr val="2E377E"/>
                </a:solidFill>
                <a:latin typeface="Georgia"/>
                <a:cs typeface="Georgia"/>
              </a:rPr>
              <a:t>or</a:t>
            </a:r>
            <a:r>
              <a:rPr sz="3500" spc="90" dirty="0">
                <a:solidFill>
                  <a:srgbClr val="2E377E"/>
                </a:solidFill>
                <a:latin typeface="Georgia"/>
                <a:cs typeface="Georgia"/>
              </a:rPr>
              <a:t> </a:t>
            </a:r>
            <a:r>
              <a:rPr sz="3500" dirty="0">
                <a:solidFill>
                  <a:srgbClr val="2E377E"/>
                </a:solidFill>
                <a:latin typeface="Georgia"/>
                <a:cs typeface="Georgia"/>
              </a:rPr>
              <a:t>deployment</a:t>
            </a:r>
            <a:r>
              <a:rPr sz="3500" spc="90" dirty="0">
                <a:solidFill>
                  <a:srgbClr val="2E377E"/>
                </a:solidFill>
                <a:latin typeface="Georgia"/>
                <a:cs typeface="Georgia"/>
              </a:rPr>
              <a:t> </a:t>
            </a:r>
            <a:r>
              <a:rPr sz="3500" spc="55" dirty="0">
                <a:solidFill>
                  <a:srgbClr val="2E377E"/>
                </a:solidFill>
                <a:latin typeface="Georgia"/>
                <a:cs typeface="Georgia"/>
              </a:rPr>
              <a:t>to</a:t>
            </a:r>
            <a:r>
              <a:rPr sz="3500" spc="85" dirty="0">
                <a:solidFill>
                  <a:srgbClr val="2E377E"/>
                </a:solidFill>
                <a:latin typeface="Georgia"/>
                <a:cs typeface="Georgia"/>
              </a:rPr>
              <a:t> </a:t>
            </a:r>
            <a:r>
              <a:rPr sz="3500" dirty="0">
                <a:solidFill>
                  <a:srgbClr val="2E377E"/>
                </a:solidFill>
                <a:latin typeface="Georgia"/>
                <a:cs typeface="Georgia"/>
              </a:rPr>
              <a:t>match</a:t>
            </a:r>
            <a:r>
              <a:rPr sz="3500" spc="85" dirty="0">
                <a:solidFill>
                  <a:srgbClr val="2E377E"/>
                </a:solidFill>
                <a:latin typeface="Georgia"/>
                <a:cs typeface="Georgia"/>
              </a:rPr>
              <a:t> </a:t>
            </a:r>
            <a:r>
              <a:rPr sz="3500" spc="55" dirty="0">
                <a:solidFill>
                  <a:srgbClr val="2E377E"/>
                </a:solidFill>
                <a:latin typeface="Georgia"/>
                <a:cs typeface="Georgia"/>
              </a:rPr>
              <a:t>the</a:t>
            </a:r>
            <a:r>
              <a:rPr sz="3500" spc="85" dirty="0">
                <a:solidFill>
                  <a:srgbClr val="2E377E"/>
                </a:solidFill>
                <a:latin typeface="Georgia"/>
                <a:cs typeface="Georgia"/>
              </a:rPr>
              <a:t> </a:t>
            </a:r>
            <a:r>
              <a:rPr sz="3500" dirty="0">
                <a:solidFill>
                  <a:srgbClr val="2E377E"/>
                </a:solidFill>
                <a:latin typeface="Georgia"/>
                <a:cs typeface="Georgia"/>
              </a:rPr>
              <a:t>observed</a:t>
            </a:r>
            <a:r>
              <a:rPr sz="3500" spc="85" dirty="0">
                <a:solidFill>
                  <a:srgbClr val="2E377E"/>
                </a:solidFill>
                <a:latin typeface="Georgia"/>
                <a:cs typeface="Georgia"/>
              </a:rPr>
              <a:t> </a:t>
            </a:r>
            <a:r>
              <a:rPr sz="3500" dirty="0">
                <a:solidFill>
                  <a:srgbClr val="2E377E"/>
                </a:solidFill>
                <a:latin typeface="Georgia"/>
                <a:cs typeface="Georgia"/>
              </a:rPr>
              <a:t>average</a:t>
            </a:r>
            <a:r>
              <a:rPr sz="3500" spc="85" dirty="0">
                <a:solidFill>
                  <a:srgbClr val="2E377E"/>
                </a:solidFill>
                <a:latin typeface="Georgia"/>
                <a:cs typeface="Georgia"/>
              </a:rPr>
              <a:t> </a:t>
            </a:r>
            <a:r>
              <a:rPr sz="3500" spc="-55" dirty="0">
                <a:solidFill>
                  <a:srgbClr val="2E377E"/>
                </a:solidFill>
                <a:latin typeface="Georgia"/>
                <a:cs typeface="Georgia"/>
              </a:rPr>
              <a:t>CPU</a:t>
            </a:r>
            <a:r>
              <a:rPr sz="3500" spc="85" dirty="0">
                <a:solidFill>
                  <a:srgbClr val="2E377E"/>
                </a:solidFill>
                <a:latin typeface="Georgia"/>
                <a:cs typeface="Georgia"/>
              </a:rPr>
              <a:t> </a:t>
            </a:r>
            <a:r>
              <a:rPr sz="3500" dirty="0">
                <a:solidFill>
                  <a:srgbClr val="2E377E"/>
                </a:solidFill>
                <a:latin typeface="Georgia"/>
                <a:cs typeface="Georgia"/>
              </a:rPr>
              <a:t>utilization</a:t>
            </a:r>
            <a:r>
              <a:rPr sz="3500" spc="85" dirty="0">
                <a:solidFill>
                  <a:srgbClr val="2E377E"/>
                </a:solidFill>
                <a:latin typeface="Georgia"/>
                <a:cs typeface="Georgia"/>
              </a:rPr>
              <a:t> </a:t>
            </a:r>
            <a:r>
              <a:rPr sz="3500" spc="30" dirty="0">
                <a:solidFill>
                  <a:srgbClr val="2E377E"/>
                </a:solidFill>
                <a:latin typeface="Georgia"/>
                <a:cs typeface="Georgia"/>
              </a:rPr>
              <a:t>to </a:t>
            </a:r>
            <a:r>
              <a:rPr sz="3500" spc="55" dirty="0">
                <a:solidFill>
                  <a:srgbClr val="2E377E"/>
                </a:solidFill>
                <a:latin typeface="Georgia"/>
                <a:cs typeface="Georgia"/>
              </a:rPr>
              <a:t>the</a:t>
            </a:r>
            <a:r>
              <a:rPr sz="3500" spc="15" dirty="0">
                <a:solidFill>
                  <a:srgbClr val="2E377E"/>
                </a:solidFill>
                <a:latin typeface="Georgia"/>
                <a:cs typeface="Georgia"/>
              </a:rPr>
              <a:t> </a:t>
            </a:r>
            <a:r>
              <a:rPr sz="3500" dirty="0">
                <a:solidFill>
                  <a:srgbClr val="2E377E"/>
                </a:solidFill>
                <a:latin typeface="Georgia"/>
                <a:cs typeface="Georgia"/>
              </a:rPr>
              <a:t>target</a:t>
            </a:r>
            <a:r>
              <a:rPr sz="3500" spc="20" dirty="0">
                <a:solidFill>
                  <a:srgbClr val="2E377E"/>
                </a:solidFill>
                <a:latin typeface="Georgia"/>
                <a:cs typeface="Georgia"/>
              </a:rPr>
              <a:t> </a:t>
            </a:r>
            <a:r>
              <a:rPr sz="3500" dirty="0">
                <a:solidFill>
                  <a:srgbClr val="2E377E"/>
                </a:solidFill>
                <a:latin typeface="Georgia"/>
                <a:cs typeface="Georgia"/>
              </a:rPr>
              <a:t>specified</a:t>
            </a:r>
            <a:r>
              <a:rPr sz="3500" spc="20" dirty="0">
                <a:solidFill>
                  <a:srgbClr val="2E377E"/>
                </a:solidFill>
                <a:latin typeface="Georgia"/>
                <a:cs typeface="Georgia"/>
              </a:rPr>
              <a:t> </a:t>
            </a:r>
            <a:r>
              <a:rPr sz="3500" dirty="0">
                <a:solidFill>
                  <a:srgbClr val="2E377E"/>
                </a:solidFill>
                <a:latin typeface="Georgia"/>
                <a:cs typeface="Georgia"/>
              </a:rPr>
              <a:t>in</a:t>
            </a:r>
            <a:r>
              <a:rPr sz="3500" spc="15" dirty="0">
                <a:solidFill>
                  <a:srgbClr val="2E377E"/>
                </a:solidFill>
                <a:latin typeface="Georgia"/>
                <a:cs typeface="Georgia"/>
              </a:rPr>
              <a:t> </a:t>
            </a:r>
            <a:r>
              <a:rPr sz="3500" spc="55" dirty="0">
                <a:solidFill>
                  <a:srgbClr val="2E377E"/>
                </a:solidFill>
                <a:latin typeface="Georgia"/>
                <a:cs typeface="Georgia"/>
              </a:rPr>
              <a:t>the</a:t>
            </a:r>
            <a:r>
              <a:rPr sz="3500" spc="20" dirty="0">
                <a:solidFill>
                  <a:srgbClr val="2E377E"/>
                </a:solidFill>
                <a:latin typeface="Georgia"/>
                <a:cs typeface="Georgia"/>
              </a:rPr>
              <a:t> </a:t>
            </a:r>
            <a:r>
              <a:rPr sz="3500" dirty="0">
                <a:solidFill>
                  <a:srgbClr val="2E377E"/>
                </a:solidFill>
                <a:latin typeface="Georgia"/>
                <a:cs typeface="Georgia"/>
              </a:rPr>
              <a:t>manifest</a:t>
            </a:r>
            <a:r>
              <a:rPr sz="3500" spc="20" dirty="0">
                <a:solidFill>
                  <a:srgbClr val="2E377E"/>
                </a:solidFill>
                <a:latin typeface="Georgia"/>
                <a:cs typeface="Georgia"/>
              </a:rPr>
              <a:t> </a:t>
            </a:r>
            <a:r>
              <a:rPr sz="3500" dirty="0">
                <a:solidFill>
                  <a:srgbClr val="2E377E"/>
                </a:solidFill>
                <a:latin typeface="Georgia"/>
                <a:cs typeface="Georgia"/>
              </a:rPr>
              <a:t>file</a:t>
            </a:r>
            <a:r>
              <a:rPr sz="3500" spc="15" dirty="0">
                <a:solidFill>
                  <a:srgbClr val="2E377E"/>
                </a:solidFill>
                <a:latin typeface="Georgia"/>
                <a:cs typeface="Georgia"/>
              </a:rPr>
              <a:t> </a:t>
            </a:r>
            <a:r>
              <a:rPr sz="3500" dirty="0">
                <a:solidFill>
                  <a:srgbClr val="2E377E"/>
                </a:solidFill>
                <a:latin typeface="Georgia"/>
                <a:cs typeface="Georgia"/>
              </a:rPr>
              <a:t>or</a:t>
            </a:r>
            <a:r>
              <a:rPr sz="3500" spc="25" dirty="0">
                <a:solidFill>
                  <a:srgbClr val="2E377E"/>
                </a:solidFill>
                <a:latin typeface="Georgia"/>
                <a:cs typeface="Georgia"/>
              </a:rPr>
              <a:t> </a:t>
            </a:r>
            <a:r>
              <a:rPr sz="3500" spc="-10" dirty="0">
                <a:solidFill>
                  <a:srgbClr val="2E377E"/>
                </a:solidFill>
                <a:latin typeface="Georgia"/>
                <a:cs typeface="Georgia"/>
              </a:rPr>
              <a:t>command.</a:t>
            </a:r>
            <a:endParaRPr sz="3500">
              <a:latin typeface="Georgia"/>
              <a:cs typeface="Georgia"/>
            </a:endParaRPr>
          </a:p>
        </p:txBody>
      </p:sp>
      <p:pic>
        <p:nvPicPr>
          <p:cNvPr id="5" name="object 5"/>
          <p:cNvPicPr/>
          <p:nvPr/>
        </p:nvPicPr>
        <p:blipFill>
          <a:blip r:embed="rId3" cstate="print"/>
          <a:stretch>
            <a:fillRect/>
          </a:stretch>
        </p:blipFill>
        <p:spPr>
          <a:xfrm>
            <a:off x="1447799" y="4073526"/>
            <a:ext cx="133350" cy="133349"/>
          </a:xfrm>
          <a:prstGeom prst="rect">
            <a:avLst/>
          </a:prstGeom>
        </p:spPr>
      </p:pic>
      <p:pic>
        <p:nvPicPr>
          <p:cNvPr id="6" name="object 6"/>
          <p:cNvPicPr/>
          <p:nvPr/>
        </p:nvPicPr>
        <p:blipFill>
          <a:blip r:embed="rId4" cstate="print"/>
          <a:stretch>
            <a:fillRect/>
          </a:stretch>
        </p:blipFill>
        <p:spPr>
          <a:xfrm>
            <a:off x="1447799" y="5311776"/>
            <a:ext cx="133350" cy="133349"/>
          </a:xfrm>
          <a:prstGeom prst="rect">
            <a:avLst/>
          </a:prstGeom>
        </p:spPr>
      </p:pic>
      <p:pic>
        <p:nvPicPr>
          <p:cNvPr id="7" name="object 7"/>
          <p:cNvPicPr/>
          <p:nvPr/>
        </p:nvPicPr>
        <p:blipFill>
          <a:blip r:embed="rId4" cstate="print"/>
          <a:stretch>
            <a:fillRect/>
          </a:stretch>
        </p:blipFill>
        <p:spPr>
          <a:xfrm>
            <a:off x="1447799" y="6550026"/>
            <a:ext cx="133350" cy="133349"/>
          </a:xfrm>
          <a:prstGeom prst="rect">
            <a:avLst/>
          </a:prstGeom>
        </p:spPr>
      </p:pic>
      <p:pic>
        <p:nvPicPr>
          <p:cNvPr id="8" name="object 8"/>
          <p:cNvPicPr/>
          <p:nvPr/>
        </p:nvPicPr>
        <p:blipFill>
          <a:blip r:embed="rId4" cstate="print"/>
          <a:stretch>
            <a:fillRect/>
          </a:stretch>
        </p:blipFill>
        <p:spPr>
          <a:xfrm>
            <a:off x="1447799" y="7169151"/>
            <a:ext cx="133350" cy="133349"/>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0" y="639632"/>
            <a:ext cx="13900150" cy="2139950"/>
          </a:xfrm>
          <a:prstGeom prst="rect">
            <a:avLst/>
          </a:prstGeom>
        </p:spPr>
        <p:txBody>
          <a:bodyPr vert="horz" wrap="square" lIns="0" tIns="107950" rIns="0" bIns="0" rtlCol="0">
            <a:spAutoFit/>
          </a:bodyPr>
          <a:lstStyle/>
          <a:p>
            <a:pPr marL="12700">
              <a:lnSpc>
                <a:spcPct val="100000"/>
              </a:lnSpc>
              <a:spcBef>
                <a:spcPts val="850"/>
              </a:spcBef>
            </a:pPr>
            <a:r>
              <a:rPr sz="4000" b="0" spc="-20" dirty="0">
                <a:solidFill>
                  <a:srgbClr val="2E377E"/>
                </a:solidFill>
                <a:latin typeface="Georgia"/>
                <a:cs typeface="Georgia"/>
              </a:rPr>
              <a:t>We</a:t>
            </a:r>
            <a:r>
              <a:rPr sz="4000" b="0" spc="-35" dirty="0">
                <a:solidFill>
                  <a:srgbClr val="2E377E"/>
                </a:solidFill>
                <a:latin typeface="Georgia"/>
                <a:cs typeface="Georgia"/>
              </a:rPr>
              <a:t> </a:t>
            </a:r>
            <a:r>
              <a:rPr sz="4000" b="0" dirty="0">
                <a:solidFill>
                  <a:srgbClr val="2E377E"/>
                </a:solidFill>
                <a:latin typeface="Georgia"/>
                <a:cs typeface="Georgia"/>
              </a:rPr>
              <a:t>can</a:t>
            </a:r>
            <a:r>
              <a:rPr sz="4000" b="0" spc="-35" dirty="0">
                <a:solidFill>
                  <a:srgbClr val="2E377E"/>
                </a:solidFill>
                <a:latin typeface="Georgia"/>
                <a:cs typeface="Georgia"/>
              </a:rPr>
              <a:t> </a:t>
            </a:r>
            <a:r>
              <a:rPr sz="4000" b="0" dirty="0">
                <a:solidFill>
                  <a:srgbClr val="2E377E"/>
                </a:solidFill>
                <a:latin typeface="Georgia"/>
                <a:cs typeface="Georgia"/>
              </a:rPr>
              <a:t>perform</a:t>
            </a:r>
            <a:r>
              <a:rPr sz="4000" b="0" spc="-30" dirty="0">
                <a:solidFill>
                  <a:srgbClr val="2E377E"/>
                </a:solidFill>
                <a:latin typeface="Georgia"/>
                <a:cs typeface="Georgia"/>
              </a:rPr>
              <a:t> </a:t>
            </a:r>
            <a:r>
              <a:rPr sz="4000" b="0" spc="-85" dirty="0">
                <a:solidFill>
                  <a:srgbClr val="2E377E"/>
                </a:solidFill>
                <a:latin typeface="Georgia"/>
                <a:cs typeface="Georgia"/>
              </a:rPr>
              <a:t>HPA</a:t>
            </a:r>
            <a:r>
              <a:rPr sz="4000" b="0" spc="-35" dirty="0">
                <a:solidFill>
                  <a:srgbClr val="2E377E"/>
                </a:solidFill>
                <a:latin typeface="Georgia"/>
                <a:cs typeface="Georgia"/>
              </a:rPr>
              <a:t> </a:t>
            </a:r>
            <a:r>
              <a:rPr sz="4000" b="0" dirty="0">
                <a:solidFill>
                  <a:srgbClr val="2E377E"/>
                </a:solidFill>
                <a:latin typeface="Georgia"/>
                <a:cs typeface="Georgia"/>
              </a:rPr>
              <a:t>through</a:t>
            </a:r>
            <a:r>
              <a:rPr sz="4000" b="0" spc="-30" dirty="0">
                <a:solidFill>
                  <a:srgbClr val="2E377E"/>
                </a:solidFill>
                <a:latin typeface="Georgia"/>
                <a:cs typeface="Georgia"/>
              </a:rPr>
              <a:t> </a:t>
            </a:r>
            <a:r>
              <a:rPr sz="4000" b="0" spc="120" dirty="0">
                <a:solidFill>
                  <a:srgbClr val="2E377E"/>
                </a:solidFill>
                <a:latin typeface="Georgia"/>
                <a:cs typeface="Georgia"/>
              </a:rPr>
              <a:t>two</a:t>
            </a:r>
            <a:r>
              <a:rPr sz="4000" b="0" spc="-35" dirty="0">
                <a:solidFill>
                  <a:srgbClr val="2E377E"/>
                </a:solidFill>
                <a:latin typeface="Georgia"/>
                <a:cs typeface="Georgia"/>
              </a:rPr>
              <a:t> </a:t>
            </a:r>
            <a:r>
              <a:rPr sz="4000" b="0" spc="-10" dirty="0">
                <a:solidFill>
                  <a:srgbClr val="2E377E"/>
                </a:solidFill>
                <a:latin typeface="Georgia"/>
                <a:cs typeface="Georgia"/>
              </a:rPr>
              <a:t>types:</a:t>
            </a:r>
            <a:endParaRPr sz="4000">
              <a:latin typeface="Georgia"/>
              <a:cs typeface="Georgia"/>
            </a:endParaRPr>
          </a:p>
          <a:p>
            <a:pPr marL="875665" marR="5080" indent="-378460">
              <a:lnSpc>
                <a:spcPct val="115599"/>
              </a:lnSpc>
            </a:pPr>
            <a:r>
              <a:rPr sz="4000" b="0" spc="-120" dirty="0">
                <a:solidFill>
                  <a:srgbClr val="2E377E"/>
                </a:solidFill>
                <a:latin typeface="Georgia"/>
                <a:cs typeface="Georgia"/>
              </a:rPr>
              <a:t>1.</a:t>
            </a:r>
            <a:r>
              <a:rPr sz="4000" b="0" spc="-545" dirty="0">
                <a:solidFill>
                  <a:srgbClr val="2E377E"/>
                </a:solidFill>
                <a:latin typeface="Georgia"/>
                <a:cs typeface="Georgia"/>
              </a:rPr>
              <a:t> </a:t>
            </a:r>
            <a:r>
              <a:rPr sz="4000" b="0" spc="245" dirty="0">
                <a:solidFill>
                  <a:srgbClr val="2E377E"/>
                </a:solidFill>
                <a:latin typeface="Times New Roman"/>
                <a:cs typeface="Times New Roman"/>
              </a:rPr>
              <a:t>Imperative</a:t>
            </a:r>
            <a:r>
              <a:rPr sz="4000" b="0" spc="-55" dirty="0">
                <a:solidFill>
                  <a:srgbClr val="2E377E"/>
                </a:solidFill>
                <a:latin typeface="Times New Roman"/>
                <a:cs typeface="Times New Roman"/>
              </a:rPr>
              <a:t> </a:t>
            </a:r>
            <a:r>
              <a:rPr sz="4000" b="0" spc="95" dirty="0">
                <a:solidFill>
                  <a:srgbClr val="2E377E"/>
                </a:solidFill>
                <a:latin typeface="Times New Roman"/>
                <a:cs typeface="Times New Roman"/>
              </a:rPr>
              <a:t>way</a:t>
            </a:r>
            <a:r>
              <a:rPr sz="4000" b="0" spc="95" dirty="0">
                <a:solidFill>
                  <a:srgbClr val="2E377E"/>
                </a:solidFill>
                <a:latin typeface="Georgia"/>
                <a:cs typeface="Georgia"/>
              </a:rPr>
              <a:t>:</a:t>
            </a:r>
            <a:r>
              <a:rPr sz="4000" b="0" spc="-20" dirty="0">
                <a:solidFill>
                  <a:srgbClr val="2E377E"/>
                </a:solidFill>
                <a:latin typeface="Georgia"/>
                <a:cs typeface="Georgia"/>
              </a:rPr>
              <a:t> </a:t>
            </a:r>
            <a:r>
              <a:rPr sz="4000" b="0" dirty="0">
                <a:solidFill>
                  <a:srgbClr val="2E377E"/>
                </a:solidFill>
                <a:latin typeface="Georgia"/>
                <a:cs typeface="Georgia"/>
              </a:rPr>
              <a:t>In</a:t>
            </a:r>
            <a:r>
              <a:rPr sz="4000" b="0" spc="-20" dirty="0">
                <a:solidFill>
                  <a:srgbClr val="2E377E"/>
                </a:solidFill>
                <a:latin typeface="Georgia"/>
                <a:cs typeface="Georgia"/>
              </a:rPr>
              <a:t> </a:t>
            </a:r>
            <a:r>
              <a:rPr sz="4000" b="0" dirty="0">
                <a:solidFill>
                  <a:srgbClr val="2E377E"/>
                </a:solidFill>
                <a:latin typeface="Georgia"/>
                <a:cs typeface="Georgia"/>
              </a:rPr>
              <a:t>this</a:t>
            </a:r>
            <a:r>
              <a:rPr sz="4000" b="0" spc="-25" dirty="0">
                <a:solidFill>
                  <a:srgbClr val="2E377E"/>
                </a:solidFill>
                <a:latin typeface="Georgia"/>
                <a:cs typeface="Georgia"/>
              </a:rPr>
              <a:t> </a:t>
            </a:r>
            <a:r>
              <a:rPr sz="4000" b="0" spc="60" dirty="0">
                <a:solidFill>
                  <a:srgbClr val="2E377E"/>
                </a:solidFill>
                <a:latin typeface="Georgia"/>
                <a:cs typeface="Georgia"/>
              </a:rPr>
              <a:t>way,</a:t>
            </a:r>
            <a:r>
              <a:rPr sz="4000" b="0" spc="-20" dirty="0">
                <a:solidFill>
                  <a:srgbClr val="2E377E"/>
                </a:solidFill>
                <a:latin typeface="Georgia"/>
                <a:cs typeface="Georgia"/>
              </a:rPr>
              <a:t> </a:t>
            </a:r>
            <a:r>
              <a:rPr sz="4000" b="0" spc="90" dirty="0">
                <a:solidFill>
                  <a:srgbClr val="2E377E"/>
                </a:solidFill>
                <a:latin typeface="Georgia"/>
                <a:cs typeface="Georgia"/>
              </a:rPr>
              <a:t>you</a:t>
            </a:r>
            <a:r>
              <a:rPr sz="4000" b="0" spc="-20" dirty="0">
                <a:solidFill>
                  <a:srgbClr val="2E377E"/>
                </a:solidFill>
                <a:latin typeface="Georgia"/>
                <a:cs typeface="Georgia"/>
              </a:rPr>
              <a:t> </a:t>
            </a:r>
            <a:r>
              <a:rPr sz="4000" b="0" dirty="0">
                <a:solidFill>
                  <a:srgbClr val="2E377E"/>
                </a:solidFill>
                <a:latin typeface="Georgia"/>
                <a:cs typeface="Georgia"/>
              </a:rPr>
              <a:t>will</a:t>
            </a:r>
            <a:r>
              <a:rPr sz="4000" b="0" spc="-20" dirty="0">
                <a:solidFill>
                  <a:srgbClr val="2E377E"/>
                </a:solidFill>
                <a:latin typeface="Georgia"/>
                <a:cs typeface="Georgia"/>
              </a:rPr>
              <a:t> </a:t>
            </a:r>
            <a:r>
              <a:rPr sz="4000" b="0" dirty="0">
                <a:solidFill>
                  <a:srgbClr val="2E377E"/>
                </a:solidFill>
                <a:latin typeface="Georgia"/>
                <a:cs typeface="Georgia"/>
              </a:rPr>
              <a:t>create</a:t>
            </a:r>
            <a:r>
              <a:rPr sz="4000" b="0" spc="-20" dirty="0">
                <a:solidFill>
                  <a:srgbClr val="2E377E"/>
                </a:solidFill>
                <a:latin typeface="Georgia"/>
                <a:cs typeface="Georgia"/>
              </a:rPr>
              <a:t> </a:t>
            </a:r>
            <a:r>
              <a:rPr sz="4000" b="0" dirty="0">
                <a:solidFill>
                  <a:srgbClr val="2E377E"/>
                </a:solidFill>
                <a:latin typeface="Georgia"/>
                <a:cs typeface="Georgia"/>
              </a:rPr>
              <a:t>hpa</a:t>
            </a:r>
            <a:r>
              <a:rPr sz="4000" b="0" spc="-20" dirty="0">
                <a:solidFill>
                  <a:srgbClr val="2E377E"/>
                </a:solidFill>
                <a:latin typeface="Georgia"/>
                <a:cs typeface="Georgia"/>
              </a:rPr>
              <a:t> </a:t>
            </a:r>
            <a:r>
              <a:rPr sz="4000" b="0" dirty="0">
                <a:solidFill>
                  <a:srgbClr val="2E377E"/>
                </a:solidFill>
                <a:latin typeface="Georgia"/>
                <a:cs typeface="Georgia"/>
              </a:rPr>
              <a:t>object</a:t>
            </a:r>
            <a:r>
              <a:rPr sz="4000" b="0" spc="-20" dirty="0">
                <a:solidFill>
                  <a:srgbClr val="2E377E"/>
                </a:solidFill>
                <a:latin typeface="Georgia"/>
                <a:cs typeface="Georgia"/>
              </a:rPr>
              <a:t> </a:t>
            </a:r>
            <a:r>
              <a:rPr sz="4000" b="0" spc="75" dirty="0">
                <a:solidFill>
                  <a:srgbClr val="2E377E"/>
                </a:solidFill>
                <a:latin typeface="Georgia"/>
                <a:cs typeface="Georgia"/>
              </a:rPr>
              <a:t>by </a:t>
            </a:r>
            <a:r>
              <a:rPr sz="4000" b="0" dirty="0">
                <a:solidFill>
                  <a:srgbClr val="2E377E"/>
                </a:solidFill>
                <a:latin typeface="Georgia"/>
                <a:cs typeface="Georgia"/>
              </a:rPr>
              <a:t>command</a:t>
            </a:r>
            <a:r>
              <a:rPr sz="4000" b="0" spc="-25" dirty="0">
                <a:solidFill>
                  <a:srgbClr val="2E377E"/>
                </a:solidFill>
                <a:latin typeface="Georgia"/>
                <a:cs typeface="Georgia"/>
              </a:rPr>
              <a:t> </a:t>
            </a:r>
            <a:r>
              <a:rPr sz="4000" b="0" spc="-10" dirty="0">
                <a:solidFill>
                  <a:srgbClr val="2E377E"/>
                </a:solidFill>
                <a:latin typeface="Georgia"/>
                <a:cs typeface="Georgia"/>
              </a:rPr>
              <a:t>only.</a:t>
            </a:r>
            <a:endParaRPr sz="4000">
              <a:latin typeface="Georgia"/>
              <a:cs typeface="Georgia"/>
            </a:endParaRPr>
          </a:p>
        </p:txBody>
      </p:sp>
      <p:sp>
        <p:nvSpPr>
          <p:cNvPr id="3" name="object 3"/>
          <p:cNvSpPr txBox="1"/>
          <p:nvPr/>
        </p:nvSpPr>
        <p:spPr>
          <a:xfrm>
            <a:off x="1016000" y="2754182"/>
            <a:ext cx="15800705" cy="6855459"/>
          </a:xfrm>
          <a:prstGeom prst="rect">
            <a:avLst/>
          </a:prstGeom>
        </p:spPr>
        <p:txBody>
          <a:bodyPr vert="horz" wrap="square" lIns="0" tIns="12700" rIns="0" bIns="0" rtlCol="0">
            <a:spAutoFit/>
          </a:bodyPr>
          <a:lstStyle/>
          <a:p>
            <a:pPr marL="875665" marR="5080" indent="-410209">
              <a:lnSpc>
                <a:spcPct val="115599"/>
              </a:lnSpc>
              <a:spcBef>
                <a:spcPts val="100"/>
              </a:spcBef>
            </a:pPr>
            <a:r>
              <a:rPr sz="4000" spc="-254" dirty="0">
                <a:solidFill>
                  <a:srgbClr val="2E377E"/>
                </a:solidFill>
                <a:latin typeface="Georgia"/>
                <a:cs typeface="Georgia"/>
              </a:rPr>
              <a:t>2.</a:t>
            </a:r>
            <a:r>
              <a:rPr sz="4000" spc="-545" dirty="0">
                <a:solidFill>
                  <a:srgbClr val="2E377E"/>
                </a:solidFill>
                <a:latin typeface="Georgia"/>
                <a:cs typeface="Georgia"/>
              </a:rPr>
              <a:t> </a:t>
            </a:r>
            <a:r>
              <a:rPr sz="4000" spc="170" dirty="0">
                <a:solidFill>
                  <a:srgbClr val="2E377E"/>
                </a:solidFill>
                <a:latin typeface="Times New Roman"/>
                <a:cs typeface="Times New Roman"/>
              </a:rPr>
              <a:t>Declarative</a:t>
            </a:r>
            <a:r>
              <a:rPr sz="4000" spc="-45" dirty="0">
                <a:solidFill>
                  <a:srgbClr val="2E377E"/>
                </a:solidFill>
                <a:latin typeface="Times New Roman"/>
                <a:cs typeface="Times New Roman"/>
              </a:rPr>
              <a:t> </a:t>
            </a:r>
            <a:r>
              <a:rPr sz="4000" spc="95" dirty="0">
                <a:solidFill>
                  <a:srgbClr val="2E377E"/>
                </a:solidFill>
                <a:latin typeface="Times New Roman"/>
                <a:cs typeface="Times New Roman"/>
              </a:rPr>
              <a:t>way</a:t>
            </a:r>
            <a:r>
              <a:rPr sz="4000" spc="95" dirty="0">
                <a:solidFill>
                  <a:srgbClr val="2E377E"/>
                </a:solidFill>
                <a:latin typeface="Georgia"/>
                <a:cs typeface="Georgia"/>
              </a:rPr>
              <a:t>:</a:t>
            </a:r>
            <a:r>
              <a:rPr sz="4000" spc="-15" dirty="0">
                <a:solidFill>
                  <a:srgbClr val="2E377E"/>
                </a:solidFill>
                <a:latin typeface="Georgia"/>
                <a:cs typeface="Georgia"/>
              </a:rPr>
              <a:t> </a:t>
            </a:r>
            <a:r>
              <a:rPr sz="4000" dirty="0">
                <a:solidFill>
                  <a:srgbClr val="2E377E"/>
                </a:solidFill>
                <a:latin typeface="Georgia"/>
                <a:cs typeface="Georgia"/>
              </a:rPr>
              <a:t>In</a:t>
            </a:r>
            <a:r>
              <a:rPr sz="4000" spc="-15" dirty="0">
                <a:solidFill>
                  <a:srgbClr val="2E377E"/>
                </a:solidFill>
                <a:latin typeface="Georgia"/>
                <a:cs typeface="Georgia"/>
              </a:rPr>
              <a:t> </a:t>
            </a:r>
            <a:r>
              <a:rPr sz="4000" dirty="0">
                <a:solidFill>
                  <a:srgbClr val="2E377E"/>
                </a:solidFill>
                <a:latin typeface="Georgia"/>
                <a:cs typeface="Georgia"/>
              </a:rPr>
              <a:t>this</a:t>
            </a:r>
            <a:r>
              <a:rPr sz="4000" spc="-10" dirty="0">
                <a:solidFill>
                  <a:srgbClr val="2E377E"/>
                </a:solidFill>
                <a:latin typeface="Georgia"/>
                <a:cs typeface="Georgia"/>
              </a:rPr>
              <a:t> </a:t>
            </a:r>
            <a:r>
              <a:rPr sz="4000" spc="60" dirty="0">
                <a:solidFill>
                  <a:srgbClr val="2E377E"/>
                </a:solidFill>
                <a:latin typeface="Georgia"/>
                <a:cs typeface="Georgia"/>
              </a:rPr>
              <a:t>way,</a:t>
            </a:r>
            <a:r>
              <a:rPr sz="4000" spc="-15" dirty="0">
                <a:solidFill>
                  <a:srgbClr val="2E377E"/>
                </a:solidFill>
                <a:latin typeface="Georgia"/>
                <a:cs typeface="Georgia"/>
              </a:rPr>
              <a:t> </a:t>
            </a:r>
            <a:r>
              <a:rPr sz="4000" spc="90" dirty="0">
                <a:solidFill>
                  <a:srgbClr val="2E377E"/>
                </a:solidFill>
                <a:latin typeface="Georgia"/>
                <a:cs typeface="Georgia"/>
              </a:rPr>
              <a:t>you</a:t>
            </a:r>
            <a:r>
              <a:rPr sz="4000" spc="-10" dirty="0">
                <a:solidFill>
                  <a:srgbClr val="2E377E"/>
                </a:solidFill>
                <a:latin typeface="Georgia"/>
                <a:cs typeface="Georgia"/>
              </a:rPr>
              <a:t> </a:t>
            </a:r>
            <a:r>
              <a:rPr sz="4000" dirty="0">
                <a:solidFill>
                  <a:srgbClr val="2E377E"/>
                </a:solidFill>
                <a:latin typeface="Georgia"/>
                <a:cs typeface="Georgia"/>
              </a:rPr>
              <a:t>will</a:t>
            </a:r>
            <a:r>
              <a:rPr sz="4000" spc="-15" dirty="0">
                <a:solidFill>
                  <a:srgbClr val="2E377E"/>
                </a:solidFill>
                <a:latin typeface="Georgia"/>
                <a:cs typeface="Georgia"/>
              </a:rPr>
              <a:t> </a:t>
            </a:r>
            <a:r>
              <a:rPr sz="4000" dirty="0">
                <a:solidFill>
                  <a:srgbClr val="2E377E"/>
                </a:solidFill>
                <a:latin typeface="Georgia"/>
                <a:cs typeface="Georgia"/>
              </a:rPr>
              <a:t>create</a:t>
            </a:r>
            <a:r>
              <a:rPr sz="4000" spc="-15" dirty="0">
                <a:solidFill>
                  <a:srgbClr val="2E377E"/>
                </a:solidFill>
                <a:latin typeface="Georgia"/>
                <a:cs typeface="Georgia"/>
              </a:rPr>
              <a:t> </a:t>
            </a:r>
            <a:r>
              <a:rPr sz="4000" dirty="0">
                <a:solidFill>
                  <a:srgbClr val="2E377E"/>
                </a:solidFill>
                <a:latin typeface="Georgia"/>
                <a:cs typeface="Georgia"/>
              </a:rPr>
              <a:t>a</a:t>
            </a:r>
            <a:r>
              <a:rPr sz="4000" spc="-10" dirty="0">
                <a:solidFill>
                  <a:srgbClr val="2E377E"/>
                </a:solidFill>
                <a:latin typeface="Georgia"/>
                <a:cs typeface="Georgia"/>
              </a:rPr>
              <a:t> </a:t>
            </a:r>
            <a:r>
              <a:rPr sz="4000" dirty="0">
                <a:solidFill>
                  <a:srgbClr val="2E377E"/>
                </a:solidFill>
                <a:latin typeface="Georgia"/>
                <a:cs typeface="Georgia"/>
              </a:rPr>
              <a:t>proper</a:t>
            </a:r>
            <a:r>
              <a:rPr sz="4000" spc="-15" dirty="0">
                <a:solidFill>
                  <a:srgbClr val="2E377E"/>
                </a:solidFill>
                <a:latin typeface="Georgia"/>
                <a:cs typeface="Georgia"/>
              </a:rPr>
              <a:t> </a:t>
            </a:r>
            <a:r>
              <a:rPr sz="4000" dirty="0">
                <a:solidFill>
                  <a:srgbClr val="2E377E"/>
                </a:solidFill>
                <a:latin typeface="Georgia"/>
                <a:cs typeface="Georgia"/>
              </a:rPr>
              <a:t>manifest</a:t>
            </a:r>
            <a:r>
              <a:rPr sz="4000" spc="-10" dirty="0">
                <a:solidFill>
                  <a:srgbClr val="2E377E"/>
                </a:solidFill>
                <a:latin typeface="Georgia"/>
                <a:cs typeface="Georgia"/>
              </a:rPr>
              <a:t> </a:t>
            </a:r>
            <a:r>
              <a:rPr sz="4000" spc="-20" dirty="0">
                <a:solidFill>
                  <a:srgbClr val="2E377E"/>
                </a:solidFill>
                <a:latin typeface="Georgia"/>
                <a:cs typeface="Georgia"/>
              </a:rPr>
              <a:t>file </a:t>
            </a:r>
            <a:r>
              <a:rPr sz="4000" dirty="0">
                <a:solidFill>
                  <a:srgbClr val="2E377E"/>
                </a:solidFill>
                <a:latin typeface="Georgia"/>
                <a:cs typeface="Georgia"/>
              </a:rPr>
              <a:t>and</a:t>
            </a:r>
            <a:r>
              <a:rPr sz="4000" spc="25" dirty="0">
                <a:solidFill>
                  <a:srgbClr val="2E377E"/>
                </a:solidFill>
                <a:latin typeface="Georgia"/>
                <a:cs typeface="Georgia"/>
              </a:rPr>
              <a:t> </a:t>
            </a:r>
            <a:r>
              <a:rPr sz="4000" dirty="0">
                <a:solidFill>
                  <a:srgbClr val="2E377E"/>
                </a:solidFill>
                <a:latin typeface="Georgia"/>
                <a:cs typeface="Georgia"/>
              </a:rPr>
              <a:t>then</a:t>
            </a:r>
            <a:r>
              <a:rPr sz="4000" spc="30" dirty="0">
                <a:solidFill>
                  <a:srgbClr val="2E377E"/>
                </a:solidFill>
                <a:latin typeface="Georgia"/>
                <a:cs typeface="Georgia"/>
              </a:rPr>
              <a:t> </a:t>
            </a:r>
            <a:r>
              <a:rPr sz="4000" dirty="0">
                <a:solidFill>
                  <a:srgbClr val="2E377E"/>
                </a:solidFill>
                <a:latin typeface="Georgia"/>
                <a:cs typeface="Georgia"/>
              </a:rPr>
              <a:t>create</a:t>
            </a:r>
            <a:r>
              <a:rPr sz="4000" spc="30" dirty="0">
                <a:solidFill>
                  <a:srgbClr val="2E377E"/>
                </a:solidFill>
                <a:latin typeface="Georgia"/>
                <a:cs typeface="Georgia"/>
              </a:rPr>
              <a:t> </a:t>
            </a:r>
            <a:r>
              <a:rPr sz="4000" dirty="0">
                <a:solidFill>
                  <a:srgbClr val="2E377E"/>
                </a:solidFill>
                <a:latin typeface="Georgia"/>
                <a:cs typeface="Georgia"/>
              </a:rPr>
              <a:t>an</a:t>
            </a:r>
            <a:r>
              <a:rPr sz="4000" spc="30" dirty="0">
                <a:solidFill>
                  <a:srgbClr val="2E377E"/>
                </a:solidFill>
                <a:latin typeface="Georgia"/>
                <a:cs typeface="Georgia"/>
              </a:rPr>
              <a:t> </a:t>
            </a:r>
            <a:r>
              <a:rPr sz="4000" dirty="0">
                <a:solidFill>
                  <a:srgbClr val="2E377E"/>
                </a:solidFill>
                <a:latin typeface="Georgia"/>
                <a:cs typeface="Georgia"/>
              </a:rPr>
              <a:t>object</a:t>
            </a:r>
            <a:r>
              <a:rPr sz="4000" spc="30" dirty="0">
                <a:solidFill>
                  <a:srgbClr val="2E377E"/>
                </a:solidFill>
                <a:latin typeface="Georgia"/>
                <a:cs typeface="Georgia"/>
              </a:rPr>
              <a:t> </a:t>
            </a:r>
            <a:r>
              <a:rPr sz="4000" spc="100" dirty="0">
                <a:solidFill>
                  <a:srgbClr val="2E377E"/>
                </a:solidFill>
                <a:latin typeface="Georgia"/>
                <a:cs typeface="Georgia"/>
              </a:rPr>
              <a:t>by</a:t>
            </a:r>
            <a:r>
              <a:rPr sz="4000" spc="30" dirty="0">
                <a:solidFill>
                  <a:srgbClr val="2E377E"/>
                </a:solidFill>
                <a:latin typeface="Georgia"/>
                <a:cs typeface="Georgia"/>
              </a:rPr>
              <a:t> </a:t>
            </a:r>
            <a:r>
              <a:rPr sz="4000" dirty="0">
                <a:solidFill>
                  <a:srgbClr val="2E377E"/>
                </a:solidFill>
                <a:latin typeface="Georgia"/>
                <a:cs typeface="Georgia"/>
              </a:rPr>
              <a:t>applying</a:t>
            </a:r>
            <a:r>
              <a:rPr sz="4000" spc="30" dirty="0">
                <a:solidFill>
                  <a:srgbClr val="2E377E"/>
                </a:solidFill>
                <a:latin typeface="Georgia"/>
                <a:cs typeface="Georgia"/>
              </a:rPr>
              <a:t> </a:t>
            </a:r>
            <a:r>
              <a:rPr sz="4000" spc="60" dirty="0">
                <a:solidFill>
                  <a:srgbClr val="2E377E"/>
                </a:solidFill>
                <a:latin typeface="Georgia"/>
                <a:cs typeface="Georgia"/>
              </a:rPr>
              <a:t>the</a:t>
            </a:r>
            <a:r>
              <a:rPr sz="4000" spc="30" dirty="0">
                <a:solidFill>
                  <a:srgbClr val="2E377E"/>
                </a:solidFill>
                <a:latin typeface="Georgia"/>
                <a:cs typeface="Georgia"/>
              </a:rPr>
              <a:t> </a:t>
            </a:r>
            <a:r>
              <a:rPr sz="4000" dirty="0">
                <a:solidFill>
                  <a:srgbClr val="2E377E"/>
                </a:solidFill>
                <a:latin typeface="Georgia"/>
                <a:cs typeface="Georgia"/>
              </a:rPr>
              <a:t>manifest</a:t>
            </a:r>
            <a:r>
              <a:rPr sz="4000" spc="30" dirty="0">
                <a:solidFill>
                  <a:srgbClr val="2E377E"/>
                </a:solidFill>
                <a:latin typeface="Georgia"/>
                <a:cs typeface="Georgia"/>
              </a:rPr>
              <a:t> </a:t>
            </a:r>
            <a:r>
              <a:rPr sz="4000" spc="-10" dirty="0">
                <a:solidFill>
                  <a:srgbClr val="2E377E"/>
                </a:solidFill>
                <a:latin typeface="Georgia"/>
                <a:cs typeface="Georgia"/>
              </a:rPr>
              <a:t>file.</a:t>
            </a:r>
            <a:endParaRPr sz="4000">
              <a:latin typeface="Georgia"/>
              <a:cs typeface="Georgia"/>
            </a:endParaRPr>
          </a:p>
          <a:p>
            <a:pPr marL="12700" marR="838835">
              <a:lnSpc>
                <a:spcPct val="116100"/>
              </a:lnSpc>
              <a:spcBef>
                <a:spcPts val="3475"/>
              </a:spcBef>
            </a:pPr>
            <a:r>
              <a:rPr sz="3500" b="1" dirty="0">
                <a:solidFill>
                  <a:srgbClr val="2E377E"/>
                </a:solidFill>
                <a:latin typeface="Times New Roman"/>
                <a:cs typeface="Times New Roman"/>
              </a:rPr>
              <a:t>To</a:t>
            </a:r>
            <a:r>
              <a:rPr sz="3500" b="1" spc="-50" dirty="0">
                <a:solidFill>
                  <a:srgbClr val="2E377E"/>
                </a:solidFill>
                <a:latin typeface="Times New Roman"/>
                <a:cs typeface="Times New Roman"/>
              </a:rPr>
              <a:t> </a:t>
            </a:r>
            <a:r>
              <a:rPr sz="3500" b="1" spc="145" dirty="0">
                <a:solidFill>
                  <a:srgbClr val="2E377E"/>
                </a:solidFill>
                <a:latin typeface="Times New Roman"/>
                <a:cs typeface="Times New Roman"/>
              </a:rPr>
              <a:t>perform</a:t>
            </a:r>
            <a:r>
              <a:rPr sz="3500" b="1" spc="-50" dirty="0">
                <a:solidFill>
                  <a:srgbClr val="2E377E"/>
                </a:solidFill>
                <a:latin typeface="Times New Roman"/>
                <a:cs typeface="Times New Roman"/>
              </a:rPr>
              <a:t> </a:t>
            </a:r>
            <a:r>
              <a:rPr sz="3500" b="1" spc="-40" dirty="0">
                <a:solidFill>
                  <a:srgbClr val="2E377E"/>
                </a:solidFill>
                <a:latin typeface="Times New Roman"/>
                <a:cs typeface="Times New Roman"/>
              </a:rPr>
              <a:t>HPA,</a:t>
            </a:r>
            <a:r>
              <a:rPr sz="3500" b="1" spc="-50" dirty="0">
                <a:solidFill>
                  <a:srgbClr val="2E377E"/>
                </a:solidFill>
                <a:latin typeface="Times New Roman"/>
                <a:cs typeface="Times New Roman"/>
              </a:rPr>
              <a:t> </a:t>
            </a:r>
            <a:r>
              <a:rPr sz="3500" b="1" spc="370" dirty="0">
                <a:solidFill>
                  <a:srgbClr val="2E377E"/>
                </a:solidFill>
                <a:latin typeface="Times New Roman"/>
                <a:cs typeface="Times New Roman"/>
              </a:rPr>
              <a:t>we</a:t>
            </a:r>
            <a:r>
              <a:rPr sz="3500" b="1" spc="-50" dirty="0">
                <a:solidFill>
                  <a:srgbClr val="2E377E"/>
                </a:solidFill>
                <a:latin typeface="Times New Roman"/>
                <a:cs typeface="Times New Roman"/>
              </a:rPr>
              <a:t> </a:t>
            </a:r>
            <a:r>
              <a:rPr sz="3500" b="1" spc="225" dirty="0">
                <a:solidFill>
                  <a:srgbClr val="2E377E"/>
                </a:solidFill>
                <a:latin typeface="Times New Roman"/>
                <a:cs typeface="Times New Roman"/>
              </a:rPr>
              <a:t>need</a:t>
            </a:r>
            <a:r>
              <a:rPr sz="3500" b="1" spc="-45" dirty="0">
                <a:solidFill>
                  <a:srgbClr val="2E377E"/>
                </a:solidFill>
                <a:latin typeface="Times New Roman"/>
                <a:cs typeface="Times New Roman"/>
              </a:rPr>
              <a:t> </a:t>
            </a:r>
            <a:r>
              <a:rPr sz="3500" b="1" spc="229" dirty="0">
                <a:solidFill>
                  <a:srgbClr val="2E377E"/>
                </a:solidFill>
                <a:latin typeface="Times New Roman"/>
                <a:cs typeface="Times New Roman"/>
              </a:rPr>
              <a:t>one</a:t>
            </a:r>
            <a:r>
              <a:rPr sz="3500" b="1" spc="-50" dirty="0">
                <a:solidFill>
                  <a:srgbClr val="2E377E"/>
                </a:solidFill>
                <a:latin typeface="Times New Roman"/>
                <a:cs typeface="Times New Roman"/>
              </a:rPr>
              <a:t> </a:t>
            </a:r>
            <a:r>
              <a:rPr sz="3500" b="1" spc="110" dirty="0">
                <a:solidFill>
                  <a:srgbClr val="2E377E"/>
                </a:solidFill>
                <a:latin typeface="Times New Roman"/>
                <a:cs typeface="Times New Roman"/>
              </a:rPr>
              <a:t>Kubernetes</a:t>
            </a:r>
            <a:r>
              <a:rPr sz="3500" b="1" spc="-50" dirty="0">
                <a:solidFill>
                  <a:srgbClr val="2E377E"/>
                </a:solidFill>
                <a:latin typeface="Times New Roman"/>
                <a:cs typeface="Times New Roman"/>
              </a:rPr>
              <a:t> </a:t>
            </a:r>
            <a:r>
              <a:rPr sz="3500" b="1" spc="220" dirty="0">
                <a:solidFill>
                  <a:srgbClr val="2E377E"/>
                </a:solidFill>
                <a:latin typeface="Times New Roman"/>
                <a:cs typeface="Times New Roman"/>
              </a:rPr>
              <a:t>component</a:t>
            </a:r>
            <a:r>
              <a:rPr sz="3500" b="1" spc="-50" dirty="0">
                <a:solidFill>
                  <a:srgbClr val="2E377E"/>
                </a:solidFill>
                <a:latin typeface="Times New Roman"/>
                <a:cs typeface="Times New Roman"/>
              </a:rPr>
              <a:t> </a:t>
            </a:r>
            <a:r>
              <a:rPr sz="3500" b="1" spc="250" dirty="0">
                <a:solidFill>
                  <a:srgbClr val="2E377E"/>
                </a:solidFill>
                <a:latin typeface="Times New Roman"/>
                <a:cs typeface="Times New Roman"/>
              </a:rPr>
              <a:t>which</a:t>
            </a:r>
            <a:r>
              <a:rPr sz="3500" b="1" spc="-45" dirty="0">
                <a:solidFill>
                  <a:srgbClr val="2E377E"/>
                </a:solidFill>
                <a:latin typeface="Times New Roman"/>
                <a:cs typeface="Times New Roman"/>
              </a:rPr>
              <a:t> </a:t>
            </a:r>
            <a:r>
              <a:rPr sz="3500" b="1" spc="100" dirty="0">
                <a:solidFill>
                  <a:srgbClr val="2E377E"/>
                </a:solidFill>
                <a:latin typeface="Times New Roman"/>
                <a:cs typeface="Times New Roman"/>
              </a:rPr>
              <a:t>is</a:t>
            </a:r>
            <a:r>
              <a:rPr sz="3500" b="1" spc="-50" dirty="0">
                <a:solidFill>
                  <a:srgbClr val="2E377E"/>
                </a:solidFill>
                <a:latin typeface="Times New Roman"/>
                <a:cs typeface="Times New Roman"/>
              </a:rPr>
              <a:t> </a:t>
            </a:r>
            <a:r>
              <a:rPr sz="3500" b="1" spc="50" dirty="0">
                <a:solidFill>
                  <a:srgbClr val="2E377E"/>
                </a:solidFill>
                <a:latin typeface="Times New Roman"/>
                <a:cs typeface="Times New Roman"/>
              </a:rPr>
              <a:t>a</a:t>
            </a:r>
            <a:r>
              <a:rPr sz="3500" b="1" spc="-50" dirty="0">
                <a:solidFill>
                  <a:srgbClr val="2E377E"/>
                </a:solidFill>
                <a:latin typeface="Times New Roman"/>
                <a:cs typeface="Times New Roman"/>
              </a:rPr>
              <a:t> </a:t>
            </a:r>
            <a:r>
              <a:rPr sz="3500" b="1" spc="135" dirty="0">
                <a:solidFill>
                  <a:srgbClr val="2E377E"/>
                </a:solidFill>
                <a:latin typeface="Times New Roman"/>
                <a:cs typeface="Times New Roman"/>
              </a:rPr>
              <a:t>metrics </a:t>
            </a:r>
            <a:r>
              <a:rPr sz="3500" b="1" spc="100" dirty="0">
                <a:solidFill>
                  <a:srgbClr val="2E377E"/>
                </a:solidFill>
                <a:latin typeface="Times New Roman"/>
                <a:cs typeface="Times New Roman"/>
              </a:rPr>
              <a:t>server.</a:t>
            </a:r>
            <a:r>
              <a:rPr sz="3500" b="1" spc="-60" dirty="0">
                <a:solidFill>
                  <a:srgbClr val="2E377E"/>
                </a:solidFill>
                <a:latin typeface="Times New Roman"/>
                <a:cs typeface="Times New Roman"/>
              </a:rPr>
              <a:t> </a:t>
            </a:r>
            <a:r>
              <a:rPr sz="3500" b="1" dirty="0">
                <a:solidFill>
                  <a:srgbClr val="2E377E"/>
                </a:solidFill>
                <a:latin typeface="Times New Roman"/>
                <a:cs typeface="Times New Roman"/>
              </a:rPr>
              <a:t>To</a:t>
            </a:r>
            <a:r>
              <a:rPr sz="3500" b="1" spc="-45" dirty="0">
                <a:solidFill>
                  <a:srgbClr val="2E377E"/>
                </a:solidFill>
                <a:latin typeface="Times New Roman"/>
                <a:cs typeface="Times New Roman"/>
              </a:rPr>
              <a:t> </a:t>
            </a:r>
            <a:r>
              <a:rPr sz="3500" b="1" spc="215" dirty="0">
                <a:solidFill>
                  <a:srgbClr val="2E377E"/>
                </a:solidFill>
                <a:latin typeface="Times New Roman"/>
                <a:cs typeface="Times New Roman"/>
              </a:rPr>
              <a:t>download</a:t>
            </a:r>
            <a:r>
              <a:rPr sz="3500" b="1" spc="-45" dirty="0">
                <a:solidFill>
                  <a:srgbClr val="2E377E"/>
                </a:solidFill>
                <a:latin typeface="Times New Roman"/>
                <a:cs typeface="Times New Roman"/>
              </a:rPr>
              <a:t> </a:t>
            </a:r>
            <a:r>
              <a:rPr sz="3500" b="1" spc="80" dirty="0">
                <a:solidFill>
                  <a:srgbClr val="2E377E"/>
                </a:solidFill>
                <a:latin typeface="Times New Roman"/>
                <a:cs typeface="Times New Roman"/>
              </a:rPr>
              <a:t>this,</a:t>
            </a:r>
            <a:r>
              <a:rPr sz="3500" b="1" spc="-50" dirty="0">
                <a:solidFill>
                  <a:srgbClr val="2E377E"/>
                </a:solidFill>
                <a:latin typeface="Times New Roman"/>
                <a:cs typeface="Times New Roman"/>
              </a:rPr>
              <a:t> </a:t>
            </a:r>
            <a:r>
              <a:rPr sz="3500" b="1" spc="185" dirty="0">
                <a:solidFill>
                  <a:srgbClr val="2E377E"/>
                </a:solidFill>
                <a:latin typeface="Times New Roman"/>
                <a:cs typeface="Times New Roman"/>
              </a:rPr>
              <a:t>use</a:t>
            </a:r>
            <a:r>
              <a:rPr sz="3500" b="1" spc="-45" dirty="0">
                <a:solidFill>
                  <a:srgbClr val="2E377E"/>
                </a:solidFill>
                <a:latin typeface="Times New Roman"/>
                <a:cs typeface="Times New Roman"/>
              </a:rPr>
              <a:t> </a:t>
            </a:r>
            <a:r>
              <a:rPr sz="3500" b="1" spc="150" dirty="0">
                <a:solidFill>
                  <a:srgbClr val="2E377E"/>
                </a:solidFill>
                <a:latin typeface="Times New Roman"/>
                <a:cs typeface="Times New Roman"/>
              </a:rPr>
              <a:t>the</a:t>
            </a:r>
            <a:r>
              <a:rPr sz="3500" b="1" spc="-45" dirty="0">
                <a:solidFill>
                  <a:srgbClr val="2E377E"/>
                </a:solidFill>
                <a:latin typeface="Times New Roman"/>
                <a:cs typeface="Times New Roman"/>
              </a:rPr>
              <a:t> </a:t>
            </a:r>
            <a:r>
              <a:rPr sz="3500" b="1" spc="240" dirty="0">
                <a:solidFill>
                  <a:srgbClr val="2E377E"/>
                </a:solidFill>
                <a:latin typeface="Times New Roman"/>
                <a:cs typeface="Times New Roman"/>
              </a:rPr>
              <a:t>below</a:t>
            </a:r>
            <a:r>
              <a:rPr sz="3500" b="1" spc="-45" dirty="0">
                <a:solidFill>
                  <a:srgbClr val="2E377E"/>
                </a:solidFill>
                <a:latin typeface="Times New Roman"/>
                <a:cs typeface="Times New Roman"/>
              </a:rPr>
              <a:t> </a:t>
            </a:r>
            <a:r>
              <a:rPr sz="3500" b="1" spc="204" dirty="0">
                <a:solidFill>
                  <a:srgbClr val="2E377E"/>
                </a:solidFill>
                <a:latin typeface="Times New Roman"/>
                <a:cs typeface="Times New Roman"/>
              </a:rPr>
              <a:t>command.</a:t>
            </a:r>
            <a:endParaRPr sz="3500">
              <a:latin typeface="Times New Roman"/>
              <a:cs typeface="Times New Roman"/>
            </a:endParaRPr>
          </a:p>
          <a:p>
            <a:pPr marL="12700">
              <a:lnSpc>
                <a:spcPct val="100000"/>
              </a:lnSpc>
              <a:spcBef>
                <a:spcPts val="700"/>
              </a:spcBef>
            </a:pPr>
            <a:r>
              <a:rPr sz="2500" b="1" spc="70" dirty="0">
                <a:solidFill>
                  <a:srgbClr val="FF3131"/>
                </a:solidFill>
                <a:latin typeface="Times New Roman"/>
                <a:cs typeface="Times New Roman"/>
              </a:rPr>
              <a:t>curl</a:t>
            </a:r>
            <a:r>
              <a:rPr sz="2500" b="1" spc="165" dirty="0">
                <a:solidFill>
                  <a:srgbClr val="FF3131"/>
                </a:solidFill>
                <a:latin typeface="Times New Roman"/>
                <a:cs typeface="Times New Roman"/>
              </a:rPr>
              <a:t> </a:t>
            </a:r>
            <a:r>
              <a:rPr sz="2500" b="1" spc="320" dirty="0">
                <a:solidFill>
                  <a:srgbClr val="FF3131"/>
                </a:solidFill>
                <a:latin typeface="Times New Roman"/>
                <a:cs typeface="Times New Roman"/>
              </a:rPr>
              <a:t>-</a:t>
            </a:r>
            <a:r>
              <a:rPr sz="2500" b="1" spc="-245" dirty="0">
                <a:solidFill>
                  <a:srgbClr val="FF3131"/>
                </a:solidFill>
                <a:latin typeface="Times New Roman"/>
                <a:cs typeface="Times New Roman"/>
              </a:rPr>
              <a:t>LO</a:t>
            </a:r>
            <a:r>
              <a:rPr sz="2500" b="1" spc="170" dirty="0">
                <a:solidFill>
                  <a:srgbClr val="FF3131"/>
                </a:solidFill>
                <a:latin typeface="Times New Roman"/>
                <a:cs typeface="Times New Roman"/>
              </a:rPr>
              <a:t> </a:t>
            </a:r>
            <a:r>
              <a:rPr sz="2500" b="1" spc="125" dirty="0">
                <a:solidFill>
                  <a:srgbClr val="FF3131"/>
                </a:solidFill>
                <a:latin typeface="Times New Roman"/>
                <a:cs typeface="Times New Roman"/>
              </a:rPr>
              <a:t>https://github.com/kubernetes-sigs/metrics-server/releases/latest/download/components.yaml</a:t>
            </a:r>
            <a:endParaRPr sz="2500">
              <a:latin typeface="Times New Roman"/>
              <a:cs typeface="Times New Roman"/>
            </a:endParaRPr>
          </a:p>
          <a:p>
            <a:pPr>
              <a:lnSpc>
                <a:spcPct val="100000"/>
              </a:lnSpc>
              <a:spcBef>
                <a:spcPts val="1425"/>
              </a:spcBef>
            </a:pPr>
            <a:endParaRPr sz="2500">
              <a:latin typeface="Times New Roman"/>
              <a:cs typeface="Times New Roman"/>
            </a:endParaRPr>
          </a:p>
          <a:p>
            <a:pPr marL="12700">
              <a:lnSpc>
                <a:spcPct val="100000"/>
              </a:lnSpc>
            </a:pPr>
            <a:r>
              <a:rPr sz="4000" dirty="0">
                <a:solidFill>
                  <a:srgbClr val="2E377E"/>
                </a:solidFill>
                <a:latin typeface="Georgia"/>
                <a:cs typeface="Georgia"/>
              </a:rPr>
              <a:t>Now,</a:t>
            </a:r>
            <a:r>
              <a:rPr sz="4000" spc="10" dirty="0">
                <a:solidFill>
                  <a:srgbClr val="2E377E"/>
                </a:solidFill>
                <a:latin typeface="Georgia"/>
                <a:cs typeface="Georgia"/>
              </a:rPr>
              <a:t> </a:t>
            </a:r>
            <a:r>
              <a:rPr sz="4000" dirty="0">
                <a:solidFill>
                  <a:srgbClr val="2E377E"/>
                </a:solidFill>
                <a:latin typeface="Georgia"/>
                <a:cs typeface="Georgia"/>
              </a:rPr>
              <a:t>edit</a:t>
            </a:r>
            <a:r>
              <a:rPr sz="4000" spc="10" dirty="0">
                <a:solidFill>
                  <a:srgbClr val="2E377E"/>
                </a:solidFill>
                <a:latin typeface="Georgia"/>
                <a:cs typeface="Georgia"/>
              </a:rPr>
              <a:t> </a:t>
            </a:r>
            <a:r>
              <a:rPr sz="4000" spc="60" dirty="0">
                <a:solidFill>
                  <a:srgbClr val="2E377E"/>
                </a:solidFill>
                <a:latin typeface="Georgia"/>
                <a:cs typeface="Georgia"/>
              </a:rPr>
              <a:t>the</a:t>
            </a:r>
            <a:r>
              <a:rPr sz="4000" spc="15" dirty="0">
                <a:solidFill>
                  <a:srgbClr val="2E377E"/>
                </a:solidFill>
                <a:latin typeface="Georgia"/>
                <a:cs typeface="Georgia"/>
              </a:rPr>
              <a:t> </a:t>
            </a:r>
            <a:r>
              <a:rPr sz="4000" dirty="0">
                <a:solidFill>
                  <a:srgbClr val="2E377E"/>
                </a:solidFill>
                <a:latin typeface="Georgia"/>
                <a:cs typeface="Georgia"/>
              </a:rPr>
              <a:t>components.yml</a:t>
            </a:r>
            <a:r>
              <a:rPr sz="4000" spc="10" dirty="0">
                <a:solidFill>
                  <a:srgbClr val="2E377E"/>
                </a:solidFill>
                <a:latin typeface="Georgia"/>
                <a:cs typeface="Georgia"/>
              </a:rPr>
              <a:t> </a:t>
            </a:r>
            <a:r>
              <a:rPr sz="4000" spc="-20" dirty="0">
                <a:solidFill>
                  <a:srgbClr val="2E377E"/>
                </a:solidFill>
                <a:latin typeface="Georgia"/>
                <a:cs typeface="Georgia"/>
              </a:rPr>
              <a:t>file</a:t>
            </a:r>
            <a:endParaRPr sz="4000">
              <a:latin typeface="Georgia"/>
              <a:cs typeface="Georgia"/>
            </a:endParaRPr>
          </a:p>
          <a:p>
            <a:pPr marL="12700">
              <a:lnSpc>
                <a:spcPct val="100000"/>
              </a:lnSpc>
              <a:spcBef>
                <a:spcPts val="750"/>
              </a:spcBef>
            </a:pPr>
            <a:r>
              <a:rPr sz="4000" dirty="0">
                <a:solidFill>
                  <a:srgbClr val="2E377E"/>
                </a:solidFill>
                <a:latin typeface="Georgia"/>
                <a:cs typeface="Georgia"/>
              </a:rPr>
              <a:t>add</a:t>
            </a:r>
            <a:r>
              <a:rPr sz="4000" spc="-95" dirty="0">
                <a:solidFill>
                  <a:srgbClr val="2E377E"/>
                </a:solidFill>
                <a:latin typeface="Georgia"/>
                <a:cs typeface="Georgia"/>
              </a:rPr>
              <a:t> </a:t>
            </a:r>
            <a:r>
              <a:rPr sz="4000" spc="215" dirty="0">
                <a:solidFill>
                  <a:srgbClr val="2E377E"/>
                </a:solidFill>
                <a:latin typeface="Times New Roman"/>
                <a:cs typeface="Times New Roman"/>
              </a:rPr>
              <a:t>hostNetwork:</a:t>
            </a:r>
            <a:r>
              <a:rPr sz="4000" spc="-125" dirty="0">
                <a:solidFill>
                  <a:srgbClr val="2E377E"/>
                </a:solidFill>
                <a:latin typeface="Times New Roman"/>
                <a:cs typeface="Times New Roman"/>
              </a:rPr>
              <a:t> </a:t>
            </a:r>
            <a:r>
              <a:rPr sz="4000" spc="330" dirty="0">
                <a:solidFill>
                  <a:srgbClr val="2E377E"/>
                </a:solidFill>
                <a:latin typeface="Times New Roman"/>
                <a:cs typeface="Times New Roman"/>
              </a:rPr>
              <a:t>true</a:t>
            </a:r>
            <a:r>
              <a:rPr sz="4000" spc="-130" dirty="0">
                <a:solidFill>
                  <a:srgbClr val="2E377E"/>
                </a:solidFill>
                <a:latin typeface="Times New Roman"/>
                <a:cs typeface="Times New Roman"/>
              </a:rPr>
              <a:t> </a:t>
            </a:r>
            <a:r>
              <a:rPr sz="4000" dirty="0">
                <a:solidFill>
                  <a:srgbClr val="2E377E"/>
                </a:solidFill>
                <a:latin typeface="Georgia"/>
                <a:cs typeface="Georgia"/>
              </a:rPr>
              <a:t>under</a:t>
            </a:r>
            <a:r>
              <a:rPr sz="4000" spc="-90" dirty="0">
                <a:solidFill>
                  <a:srgbClr val="2E377E"/>
                </a:solidFill>
                <a:latin typeface="Georgia"/>
                <a:cs typeface="Georgia"/>
              </a:rPr>
              <a:t> </a:t>
            </a:r>
            <a:r>
              <a:rPr sz="4000" dirty="0">
                <a:solidFill>
                  <a:srgbClr val="2E377E"/>
                </a:solidFill>
                <a:latin typeface="Georgia"/>
                <a:cs typeface="Georgia"/>
              </a:rPr>
              <a:t>spec:</a:t>
            </a:r>
            <a:r>
              <a:rPr sz="4000" spc="-95" dirty="0">
                <a:solidFill>
                  <a:srgbClr val="2E377E"/>
                </a:solidFill>
                <a:latin typeface="Georgia"/>
                <a:cs typeface="Georgia"/>
              </a:rPr>
              <a:t> </a:t>
            </a:r>
            <a:r>
              <a:rPr sz="4000" dirty="0">
                <a:solidFill>
                  <a:srgbClr val="2E377E"/>
                </a:solidFill>
                <a:latin typeface="Georgia"/>
                <a:cs typeface="Georgia"/>
              </a:rPr>
              <a:t>line</a:t>
            </a:r>
            <a:r>
              <a:rPr sz="4000" spc="-90" dirty="0">
                <a:solidFill>
                  <a:srgbClr val="2E377E"/>
                </a:solidFill>
                <a:latin typeface="Georgia"/>
                <a:cs typeface="Georgia"/>
              </a:rPr>
              <a:t> </a:t>
            </a:r>
            <a:r>
              <a:rPr sz="4000" spc="-20" dirty="0">
                <a:solidFill>
                  <a:srgbClr val="2E377E"/>
                </a:solidFill>
                <a:latin typeface="Georgia"/>
                <a:cs typeface="Georgia"/>
              </a:rPr>
              <a:t>and,</a:t>
            </a:r>
            <a:endParaRPr sz="4000">
              <a:latin typeface="Georgia"/>
              <a:cs typeface="Georgia"/>
            </a:endParaRPr>
          </a:p>
          <a:p>
            <a:pPr marL="12700" marR="1764030">
              <a:lnSpc>
                <a:spcPct val="115599"/>
              </a:lnSpc>
            </a:pPr>
            <a:r>
              <a:rPr sz="4000" dirty="0">
                <a:solidFill>
                  <a:srgbClr val="2E377E"/>
                </a:solidFill>
                <a:latin typeface="Georgia"/>
                <a:cs typeface="Georgia"/>
              </a:rPr>
              <a:t>add</a:t>
            </a:r>
            <a:r>
              <a:rPr sz="4000" spc="15" dirty="0">
                <a:solidFill>
                  <a:srgbClr val="2E377E"/>
                </a:solidFill>
                <a:latin typeface="Georgia"/>
                <a:cs typeface="Georgia"/>
              </a:rPr>
              <a:t> </a:t>
            </a:r>
            <a:r>
              <a:rPr sz="4000" spc="200" dirty="0">
                <a:solidFill>
                  <a:srgbClr val="2E377E"/>
                </a:solidFill>
                <a:latin typeface="Times New Roman"/>
                <a:cs typeface="Times New Roman"/>
              </a:rPr>
              <a:t>-</a:t>
            </a:r>
            <a:r>
              <a:rPr sz="4000" spc="-20" dirty="0">
                <a:solidFill>
                  <a:srgbClr val="2E377E"/>
                </a:solidFill>
                <a:latin typeface="Times New Roman"/>
                <a:cs typeface="Times New Roman"/>
              </a:rPr>
              <a:t> </a:t>
            </a:r>
            <a:r>
              <a:rPr sz="4000" spc="185" dirty="0">
                <a:solidFill>
                  <a:srgbClr val="2E377E"/>
                </a:solidFill>
                <a:latin typeface="Times New Roman"/>
                <a:cs typeface="Times New Roman"/>
              </a:rPr>
              <a:t>--</a:t>
            </a:r>
            <a:r>
              <a:rPr sz="4000" spc="229" dirty="0">
                <a:solidFill>
                  <a:srgbClr val="2E377E"/>
                </a:solidFill>
                <a:latin typeface="Times New Roman"/>
                <a:cs typeface="Times New Roman"/>
              </a:rPr>
              <a:t>kubelet-</a:t>
            </a:r>
            <a:r>
              <a:rPr sz="4000" spc="225" dirty="0">
                <a:solidFill>
                  <a:srgbClr val="2E377E"/>
                </a:solidFill>
                <a:latin typeface="Times New Roman"/>
                <a:cs typeface="Times New Roman"/>
              </a:rPr>
              <a:t>insecure-</a:t>
            </a:r>
            <a:r>
              <a:rPr sz="4000" spc="195" dirty="0">
                <a:solidFill>
                  <a:srgbClr val="2E377E"/>
                </a:solidFill>
                <a:latin typeface="Times New Roman"/>
                <a:cs typeface="Times New Roman"/>
              </a:rPr>
              <a:t>tls</a:t>
            </a:r>
            <a:r>
              <a:rPr sz="4000" spc="-15" dirty="0">
                <a:solidFill>
                  <a:srgbClr val="2E377E"/>
                </a:solidFill>
                <a:latin typeface="Times New Roman"/>
                <a:cs typeface="Times New Roman"/>
              </a:rPr>
              <a:t> </a:t>
            </a:r>
            <a:r>
              <a:rPr sz="4000" dirty="0">
                <a:solidFill>
                  <a:srgbClr val="2E377E"/>
                </a:solidFill>
                <a:latin typeface="Georgia"/>
                <a:cs typeface="Georgia"/>
              </a:rPr>
              <a:t>under</a:t>
            </a:r>
            <a:r>
              <a:rPr sz="4000" spc="15" dirty="0">
                <a:solidFill>
                  <a:srgbClr val="2E377E"/>
                </a:solidFill>
                <a:latin typeface="Georgia"/>
                <a:cs typeface="Georgia"/>
              </a:rPr>
              <a:t> </a:t>
            </a:r>
            <a:r>
              <a:rPr sz="4000" spc="60" dirty="0">
                <a:solidFill>
                  <a:srgbClr val="2E377E"/>
                </a:solidFill>
                <a:latin typeface="Georgia"/>
                <a:cs typeface="Georgia"/>
              </a:rPr>
              <a:t>the</a:t>
            </a:r>
            <a:r>
              <a:rPr sz="4000" spc="15" dirty="0">
                <a:solidFill>
                  <a:srgbClr val="2E377E"/>
                </a:solidFill>
                <a:latin typeface="Georgia"/>
                <a:cs typeface="Georgia"/>
              </a:rPr>
              <a:t> </a:t>
            </a:r>
            <a:r>
              <a:rPr sz="4000" dirty="0">
                <a:solidFill>
                  <a:srgbClr val="2E377E"/>
                </a:solidFill>
                <a:latin typeface="Georgia"/>
                <a:cs typeface="Georgia"/>
              </a:rPr>
              <a:t>metric-resolutions</a:t>
            </a:r>
            <a:r>
              <a:rPr sz="4000" spc="15" dirty="0">
                <a:solidFill>
                  <a:srgbClr val="2E377E"/>
                </a:solidFill>
                <a:latin typeface="Georgia"/>
                <a:cs typeface="Georgia"/>
              </a:rPr>
              <a:t> </a:t>
            </a:r>
            <a:r>
              <a:rPr sz="4000" spc="-20" dirty="0">
                <a:solidFill>
                  <a:srgbClr val="2E377E"/>
                </a:solidFill>
                <a:latin typeface="Georgia"/>
                <a:cs typeface="Georgia"/>
              </a:rPr>
              <a:t>line, </a:t>
            </a:r>
            <a:r>
              <a:rPr sz="4000" dirty="0">
                <a:solidFill>
                  <a:srgbClr val="2E377E"/>
                </a:solidFill>
                <a:latin typeface="Georgia"/>
                <a:cs typeface="Georgia"/>
              </a:rPr>
              <a:t>then</a:t>
            </a:r>
            <a:r>
              <a:rPr sz="4000" spc="-30" dirty="0">
                <a:solidFill>
                  <a:srgbClr val="2E377E"/>
                </a:solidFill>
                <a:latin typeface="Georgia"/>
                <a:cs typeface="Georgia"/>
              </a:rPr>
              <a:t> </a:t>
            </a:r>
            <a:r>
              <a:rPr sz="4000" spc="55" dirty="0">
                <a:solidFill>
                  <a:srgbClr val="2E377E"/>
                </a:solidFill>
                <a:latin typeface="Georgia"/>
                <a:cs typeface="Georgia"/>
              </a:rPr>
              <a:t>save</a:t>
            </a:r>
            <a:r>
              <a:rPr sz="4000" spc="-30" dirty="0">
                <a:solidFill>
                  <a:srgbClr val="2E377E"/>
                </a:solidFill>
                <a:latin typeface="Georgia"/>
                <a:cs typeface="Georgia"/>
              </a:rPr>
              <a:t> </a:t>
            </a:r>
            <a:r>
              <a:rPr sz="4000" spc="60" dirty="0">
                <a:solidFill>
                  <a:srgbClr val="2E377E"/>
                </a:solidFill>
                <a:latin typeface="Georgia"/>
                <a:cs typeface="Georgia"/>
              </a:rPr>
              <a:t>the</a:t>
            </a:r>
            <a:r>
              <a:rPr sz="4000" spc="-30" dirty="0">
                <a:solidFill>
                  <a:srgbClr val="2E377E"/>
                </a:solidFill>
                <a:latin typeface="Georgia"/>
                <a:cs typeface="Georgia"/>
              </a:rPr>
              <a:t> </a:t>
            </a:r>
            <a:r>
              <a:rPr sz="4000" spc="-10" dirty="0">
                <a:solidFill>
                  <a:srgbClr val="2E377E"/>
                </a:solidFill>
                <a:latin typeface="Georgia"/>
                <a:cs typeface="Georgia"/>
              </a:rPr>
              <a:t>file.</a:t>
            </a:r>
            <a:endParaRPr sz="4000">
              <a:latin typeface="Georgia"/>
              <a:cs typeface="Georgi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35783" y="4738409"/>
            <a:ext cx="10029824" cy="2781299"/>
          </a:xfrm>
          <a:prstGeom prst="rect">
            <a:avLst/>
          </a:prstGeom>
        </p:spPr>
      </p:pic>
      <p:pic>
        <p:nvPicPr>
          <p:cNvPr id="3" name="object 3"/>
          <p:cNvPicPr/>
          <p:nvPr/>
        </p:nvPicPr>
        <p:blipFill>
          <a:blip r:embed="rId3" cstate="print"/>
          <a:stretch>
            <a:fillRect/>
          </a:stretch>
        </p:blipFill>
        <p:spPr>
          <a:xfrm>
            <a:off x="1652221" y="1002879"/>
            <a:ext cx="152400" cy="152399"/>
          </a:xfrm>
          <a:prstGeom prst="rect">
            <a:avLst/>
          </a:prstGeom>
        </p:spPr>
      </p:pic>
      <p:sp>
        <p:nvSpPr>
          <p:cNvPr id="4" name="object 4"/>
          <p:cNvSpPr txBox="1"/>
          <p:nvPr/>
        </p:nvSpPr>
        <p:spPr>
          <a:xfrm>
            <a:off x="1998197" y="605998"/>
            <a:ext cx="14511655" cy="3549650"/>
          </a:xfrm>
          <a:prstGeom prst="rect">
            <a:avLst/>
          </a:prstGeom>
        </p:spPr>
        <p:txBody>
          <a:bodyPr vert="horz" wrap="square" lIns="0" tIns="12700" rIns="0" bIns="0" rtlCol="0">
            <a:spAutoFit/>
          </a:bodyPr>
          <a:lstStyle/>
          <a:p>
            <a:pPr marL="12700" marR="2838450">
              <a:lnSpc>
                <a:spcPct val="115599"/>
              </a:lnSpc>
              <a:spcBef>
                <a:spcPts val="100"/>
              </a:spcBef>
            </a:pPr>
            <a:r>
              <a:rPr sz="4000" dirty="0">
                <a:solidFill>
                  <a:srgbClr val="2E377E"/>
                </a:solidFill>
                <a:latin typeface="Georgia"/>
                <a:cs typeface="Georgia"/>
              </a:rPr>
              <a:t>Now,</a:t>
            </a:r>
            <a:r>
              <a:rPr sz="4000" spc="-35" dirty="0">
                <a:solidFill>
                  <a:srgbClr val="2E377E"/>
                </a:solidFill>
                <a:latin typeface="Georgia"/>
                <a:cs typeface="Georgia"/>
              </a:rPr>
              <a:t> </a:t>
            </a:r>
            <a:r>
              <a:rPr sz="4000" spc="90" dirty="0">
                <a:solidFill>
                  <a:srgbClr val="2E377E"/>
                </a:solidFill>
                <a:latin typeface="Georgia"/>
                <a:cs typeface="Georgia"/>
              </a:rPr>
              <a:t>you</a:t>
            </a:r>
            <a:r>
              <a:rPr sz="4000" spc="-30" dirty="0">
                <a:solidFill>
                  <a:srgbClr val="2E377E"/>
                </a:solidFill>
                <a:latin typeface="Georgia"/>
                <a:cs typeface="Georgia"/>
              </a:rPr>
              <a:t> </a:t>
            </a:r>
            <a:r>
              <a:rPr sz="4000" spc="50" dirty="0">
                <a:solidFill>
                  <a:srgbClr val="2E377E"/>
                </a:solidFill>
                <a:latin typeface="Georgia"/>
                <a:cs typeface="Georgia"/>
              </a:rPr>
              <a:t>have</a:t>
            </a:r>
            <a:r>
              <a:rPr sz="4000" spc="-35" dirty="0">
                <a:solidFill>
                  <a:srgbClr val="2E377E"/>
                </a:solidFill>
                <a:latin typeface="Georgia"/>
                <a:cs typeface="Georgia"/>
              </a:rPr>
              <a:t> </a:t>
            </a:r>
            <a:r>
              <a:rPr sz="4000" spc="70" dirty="0">
                <a:solidFill>
                  <a:srgbClr val="2E377E"/>
                </a:solidFill>
                <a:latin typeface="Georgia"/>
                <a:cs typeface="Georgia"/>
              </a:rPr>
              <a:t>to</a:t>
            </a:r>
            <a:r>
              <a:rPr sz="4000" spc="-30" dirty="0">
                <a:solidFill>
                  <a:srgbClr val="2E377E"/>
                </a:solidFill>
                <a:latin typeface="Georgia"/>
                <a:cs typeface="Georgia"/>
              </a:rPr>
              <a:t> </a:t>
            </a:r>
            <a:r>
              <a:rPr sz="4000" dirty="0">
                <a:solidFill>
                  <a:srgbClr val="2E377E"/>
                </a:solidFill>
                <a:latin typeface="Georgia"/>
                <a:cs typeface="Georgia"/>
              </a:rPr>
              <a:t>apply</a:t>
            </a:r>
            <a:r>
              <a:rPr sz="4000" spc="-35" dirty="0">
                <a:solidFill>
                  <a:srgbClr val="2E377E"/>
                </a:solidFill>
                <a:latin typeface="Georgia"/>
                <a:cs typeface="Georgia"/>
              </a:rPr>
              <a:t> </a:t>
            </a:r>
            <a:r>
              <a:rPr sz="4000" dirty="0">
                <a:solidFill>
                  <a:srgbClr val="2E377E"/>
                </a:solidFill>
                <a:latin typeface="Georgia"/>
                <a:cs typeface="Georgia"/>
              </a:rPr>
              <a:t>this</a:t>
            </a:r>
            <a:r>
              <a:rPr sz="4000" spc="-30" dirty="0">
                <a:solidFill>
                  <a:srgbClr val="2E377E"/>
                </a:solidFill>
                <a:latin typeface="Georgia"/>
                <a:cs typeface="Georgia"/>
              </a:rPr>
              <a:t> </a:t>
            </a:r>
            <a:r>
              <a:rPr sz="4000" spc="100" dirty="0">
                <a:solidFill>
                  <a:srgbClr val="2E377E"/>
                </a:solidFill>
                <a:latin typeface="Georgia"/>
                <a:cs typeface="Georgia"/>
              </a:rPr>
              <a:t>by</a:t>
            </a:r>
            <a:r>
              <a:rPr sz="4000" spc="-30" dirty="0">
                <a:solidFill>
                  <a:srgbClr val="2E377E"/>
                </a:solidFill>
                <a:latin typeface="Georgia"/>
                <a:cs typeface="Georgia"/>
              </a:rPr>
              <a:t> </a:t>
            </a:r>
            <a:r>
              <a:rPr sz="4000" spc="60" dirty="0">
                <a:solidFill>
                  <a:srgbClr val="2E377E"/>
                </a:solidFill>
                <a:latin typeface="Georgia"/>
                <a:cs typeface="Georgia"/>
              </a:rPr>
              <a:t>the</a:t>
            </a:r>
            <a:r>
              <a:rPr sz="4000" spc="-35" dirty="0">
                <a:solidFill>
                  <a:srgbClr val="2E377E"/>
                </a:solidFill>
                <a:latin typeface="Georgia"/>
                <a:cs typeface="Georgia"/>
              </a:rPr>
              <a:t> </a:t>
            </a:r>
            <a:r>
              <a:rPr sz="4000" dirty="0">
                <a:solidFill>
                  <a:srgbClr val="2E377E"/>
                </a:solidFill>
                <a:latin typeface="Georgia"/>
                <a:cs typeface="Georgia"/>
              </a:rPr>
              <a:t>below</a:t>
            </a:r>
            <a:r>
              <a:rPr sz="4000" spc="-30" dirty="0">
                <a:solidFill>
                  <a:srgbClr val="2E377E"/>
                </a:solidFill>
                <a:latin typeface="Georgia"/>
                <a:cs typeface="Georgia"/>
              </a:rPr>
              <a:t> </a:t>
            </a:r>
            <a:r>
              <a:rPr sz="4000" spc="-10" dirty="0">
                <a:solidFill>
                  <a:srgbClr val="2E377E"/>
                </a:solidFill>
                <a:latin typeface="Georgia"/>
                <a:cs typeface="Georgia"/>
              </a:rPr>
              <a:t>command </a:t>
            </a:r>
            <a:r>
              <a:rPr sz="4000" spc="50" dirty="0">
                <a:solidFill>
                  <a:srgbClr val="E7181F"/>
                </a:solidFill>
                <a:latin typeface="Georgia"/>
                <a:cs typeface="Georgia"/>
              </a:rPr>
              <a:t>kubectl</a:t>
            </a:r>
            <a:r>
              <a:rPr sz="4000" spc="-20" dirty="0">
                <a:solidFill>
                  <a:srgbClr val="E7181F"/>
                </a:solidFill>
                <a:latin typeface="Georgia"/>
                <a:cs typeface="Georgia"/>
              </a:rPr>
              <a:t> </a:t>
            </a:r>
            <a:r>
              <a:rPr sz="4000" dirty="0">
                <a:solidFill>
                  <a:srgbClr val="E7181F"/>
                </a:solidFill>
                <a:latin typeface="Georgia"/>
                <a:cs typeface="Georgia"/>
              </a:rPr>
              <a:t>apply</a:t>
            </a:r>
            <a:r>
              <a:rPr sz="4000" spc="-20" dirty="0">
                <a:solidFill>
                  <a:srgbClr val="E7181F"/>
                </a:solidFill>
                <a:latin typeface="Georgia"/>
                <a:cs typeface="Georgia"/>
              </a:rPr>
              <a:t> </a:t>
            </a:r>
            <a:r>
              <a:rPr sz="4000" dirty="0">
                <a:solidFill>
                  <a:srgbClr val="E7181F"/>
                </a:solidFill>
                <a:latin typeface="Georgia"/>
                <a:cs typeface="Georgia"/>
              </a:rPr>
              <a:t>-</a:t>
            </a:r>
            <a:r>
              <a:rPr sz="4000" spc="65" dirty="0">
                <a:solidFill>
                  <a:srgbClr val="E7181F"/>
                </a:solidFill>
                <a:latin typeface="Georgia"/>
                <a:cs typeface="Georgia"/>
              </a:rPr>
              <a:t>f</a:t>
            </a:r>
            <a:r>
              <a:rPr sz="4000" spc="-15" dirty="0">
                <a:solidFill>
                  <a:srgbClr val="E7181F"/>
                </a:solidFill>
                <a:latin typeface="Georgia"/>
                <a:cs typeface="Georgia"/>
              </a:rPr>
              <a:t> </a:t>
            </a:r>
            <a:r>
              <a:rPr sz="4000" spc="-10" dirty="0">
                <a:solidFill>
                  <a:srgbClr val="E7181F"/>
                </a:solidFill>
                <a:latin typeface="Georgia"/>
                <a:cs typeface="Georgia"/>
              </a:rPr>
              <a:t>components.yml</a:t>
            </a:r>
            <a:endParaRPr sz="4000">
              <a:latin typeface="Georgia"/>
              <a:cs typeface="Georgia"/>
            </a:endParaRPr>
          </a:p>
          <a:p>
            <a:pPr marL="12700" marR="6222365">
              <a:lnSpc>
                <a:spcPct val="115599"/>
              </a:lnSpc>
            </a:pPr>
            <a:r>
              <a:rPr sz="4000" dirty="0">
                <a:solidFill>
                  <a:srgbClr val="2E377E"/>
                </a:solidFill>
                <a:latin typeface="Georgia"/>
                <a:cs typeface="Georgia"/>
              </a:rPr>
              <a:t>To</a:t>
            </a:r>
            <a:r>
              <a:rPr sz="4000" spc="-60" dirty="0">
                <a:solidFill>
                  <a:srgbClr val="2E377E"/>
                </a:solidFill>
                <a:latin typeface="Georgia"/>
                <a:cs typeface="Georgia"/>
              </a:rPr>
              <a:t> </a:t>
            </a:r>
            <a:r>
              <a:rPr sz="4000" dirty="0">
                <a:solidFill>
                  <a:srgbClr val="2E377E"/>
                </a:solidFill>
                <a:latin typeface="Georgia"/>
                <a:cs typeface="Georgia"/>
              </a:rPr>
              <a:t>validate,</a:t>
            </a:r>
            <a:r>
              <a:rPr sz="4000" spc="-60" dirty="0">
                <a:solidFill>
                  <a:srgbClr val="2E377E"/>
                </a:solidFill>
                <a:latin typeface="Georgia"/>
                <a:cs typeface="Georgia"/>
              </a:rPr>
              <a:t> </a:t>
            </a:r>
            <a:r>
              <a:rPr sz="4000" dirty="0">
                <a:solidFill>
                  <a:srgbClr val="2E377E"/>
                </a:solidFill>
                <a:latin typeface="Georgia"/>
                <a:cs typeface="Georgia"/>
              </a:rPr>
              <a:t>run</a:t>
            </a:r>
            <a:r>
              <a:rPr sz="4000" spc="-60" dirty="0">
                <a:solidFill>
                  <a:srgbClr val="2E377E"/>
                </a:solidFill>
                <a:latin typeface="Georgia"/>
                <a:cs typeface="Georgia"/>
              </a:rPr>
              <a:t> </a:t>
            </a:r>
            <a:r>
              <a:rPr sz="4000" spc="60" dirty="0">
                <a:solidFill>
                  <a:srgbClr val="2E377E"/>
                </a:solidFill>
                <a:latin typeface="Georgia"/>
                <a:cs typeface="Georgia"/>
              </a:rPr>
              <a:t>the</a:t>
            </a:r>
            <a:r>
              <a:rPr sz="4000" spc="-60" dirty="0">
                <a:solidFill>
                  <a:srgbClr val="2E377E"/>
                </a:solidFill>
                <a:latin typeface="Georgia"/>
                <a:cs typeface="Georgia"/>
              </a:rPr>
              <a:t> </a:t>
            </a:r>
            <a:r>
              <a:rPr sz="4000" dirty="0">
                <a:solidFill>
                  <a:srgbClr val="2E377E"/>
                </a:solidFill>
                <a:latin typeface="Georgia"/>
                <a:cs typeface="Georgia"/>
              </a:rPr>
              <a:t>command</a:t>
            </a:r>
            <a:r>
              <a:rPr sz="4000" spc="-60" dirty="0">
                <a:solidFill>
                  <a:srgbClr val="2E377E"/>
                </a:solidFill>
                <a:latin typeface="Georgia"/>
                <a:cs typeface="Georgia"/>
              </a:rPr>
              <a:t> </a:t>
            </a:r>
            <a:r>
              <a:rPr sz="4000" spc="-10" dirty="0">
                <a:solidFill>
                  <a:srgbClr val="2E377E"/>
                </a:solidFill>
                <a:latin typeface="Georgia"/>
                <a:cs typeface="Georgia"/>
              </a:rPr>
              <a:t>below </a:t>
            </a:r>
            <a:r>
              <a:rPr sz="4000" spc="50" dirty="0">
                <a:solidFill>
                  <a:srgbClr val="E7181F"/>
                </a:solidFill>
                <a:latin typeface="Georgia"/>
                <a:cs typeface="Georgia"/>
              </a:rPr>
              <a:t>kubectl</a:t>
            </a:r>
            <a:r>
              <a:rPr sz="4000" spc="-20" dirty="0">
                <a:solidFill>
                  <a:srgbClr val="E7181F"/>
                </a:solidFill>
                <a:latin typeface="Georgia"/>
                <a:cs typeface="Georgia"/>
              </a:rPr>
              <a:t> </a:t>
            </a:r>
            <a:r>
              <a:rPr sz="4000" spc="65" dirty="0">
                <a:solidFill>
                  <a:srgbClr val="E7181F"/>
                </a:solidFill>
                <a:latin typeface="Georgia"/>
                <a:cs typeface="Georgia"/>
              </a:rPr>
              <a:t>get</a:t>
            </a:r>
            <a:r>
              <a:rPr sz="4000" spc="-15" dirty="0">
                <a:solidFill>
                  <a:srgbClr val="E7181F"/>
                </a:solidFill>
                <a:latin typeface="Georgia"/>
                <a:cs typeface="Georgia"/>
              </a:rPr>
              <a:t> </a:t>
            </a:r>
            <a:r>
              <a:rPr sz="4000" dirty="0">
                <a:solidFill>
                  <a:srgbClr val="E7181F"/>
                </a:solidFill>
                <a:latin typeface="Georgia"/>
                <a:cs typeface="Georgia"/>
              </a:rPr>
              <a:t>pods</a:t>
            </a:r>
            <a:r>
              <a:rPr sz="4000" spc="-20" dirty="0">
                <a:solidFill>
                  <a:srgbClr val="E7181F"/>
                </a:solidFill>
                <a:latin typeface="Georgia"/>
                <a:cs typeface="Georgia"/>
              </a:rPr>
              <a:t> </a:t>
            </a:r>
            <a:r>
              <a:rPr sz="4000" dirty="0">
                <a:solidFill>
                  <a:srgbClr val="E7181F"/>
                </a:solidFill>
                <a:latin typeface="Georgia"/>
                <a:cs typeface="Georgia"/>
              </a:rPr>
              <a:t>-n</a:t>
            </a:r>
            <a:r>
              <a:rPr sz="4000" spc="-15" dirty="0">
                <a:solidFill>
                  <a:srgbClr val="E7181F"/>
                </a:solidFill>
                <a:latin typeface="Georgia"/>
                <a:cs typeface="Georgia"/>
              </a:rPr>
              <a:t> </a:t>
            </a:r>
            <a:r>
              <a:rPr sz="4000" dirty="0">
                <a:solidFill>
                  <a:srgbClr val="E7181F"/>
                </a:solidFill>
                <a:latin typeface="Georgia"/>
                <a:cs typeface="Georgia"/>
              </a:rPr>
              <a:t>kube-</a:t>
            </a:r>
            <a:r>
              <a:rPr sz="4000" spc="60" dirty="0">
                <a:solidFill>
                  <a:srgbClr val="E7181F"/>
                </a:solidFill>
                <a:latin typeface="Georgia"/>
                <a:cs typeface="Georgia"/>
              </a:rPr>
              <a:t>system</a:t>
            </a:r>
            <a:endParaRPr sz="4000">
              <a:latin typeface="Georgia"/>
              <a:cs typeface="Georgia"/>
            </a:endParaRPr>
          </a:p>
          <a:p>
            <a:pPr marL="12700">
              <a:lnSpc>
                <a:spcPct val="100000"/>
              </a:lnSpc>
              <a:spcBef>
                <a:spcPts val="750"/>
              </a:spcBef>
            </a:pPr>
            <a:r>
              <a:rPr sz="4000" dirty="0">
                <a:solidFill>
                  <a:srgbClr val="2E377E"/>
                </a:solidFill>
                <a:latin typeface="Georgia"/>
                <a:cs typeface="Georgia"/>
              </a:rPr>
              <a:t>If</a:t>
            </a:r>
            <a:r>
              <a:rPr sz="4000" spc="-30" dirty="0">
                <a:solidFill>
                  <a:srgbClr val="2E377E"/>
                </a:solidFill>
                <a:latin typeface="Georgia"/>
                <a:cs typeface="Georgia"/>
              </a:rPr>
              <a:t> </a:t>
            </a:r>
            <a:r>
              <a:rPr sz="4000" spc="60" dirty="0">
                <a:solidFill>
                  <a:srgbClr val="2E377E"/>
                </a:solidFill>
                <a:latin typeface="Georgia"/>
                <a:cs typeface="Georgia"/>
              </a:rPr>
              <a:t>the</a:t>
            </a:r>
            <a:r>
              <a:rPr sz="4000" spc="-25" dirty="0">
                <a:solidFill>
                  <a:srgbClr val="2E377E"/>
                </a:solidFill>
                <a:latin typeface="Georgia"/>
                <a:cs typeface="Georgia"/>
              </a:rPr>
              <a:t> </a:t>
            </a:r>
            <a:r>
              <a:rPr sz="4000" dirty="0">
                <a:solidFill>
                  <a:srgbClr val="2E377E"/>
                </a:solidFill>
                <a:latin typeface="Georgia"/>
                <a:cs typeface="Georgia"/>
              </a:rPr>
              <a:t>metrics-</a:t>
            </a:r>
            <a:r>
              <a:rPr sz="4000" spc="60" dirty="0">
                <a:solidFill>
                  <a:srgbClr val="2E377E"/>
                </a:solidFill>
                <a:latin typeface="Georgia"/>
                <a:cs typeface="Georgia"/>
              </a:rPr>
              <a:t>server</a:t>
            </a:r>
            <a:r>
              <a:rPr sz="4000" spc="-25" dirty="0">
                <a:solidFill>
                  <a:srgbClr val="2E377E"/>
                </a:solidFill>
                <a:latin typeface="Georgia"/>
                <a:cs typeface="Georgia"/>
              </a:rPr>
              <a:t> </a:t>
            </a:r>
            <a:r>
              <a:rPr sz="4000" dirty="0">
                <a:solidFill>
                  <a:srgbClr val="2E377E"/>
                </a:solidFill>
                <a:latin typeface="Georgia"/>
                <a:cs typeface="Georgia"/>
              </a:rPr>
              <a:t>pod</a:t>
            </a:r>
            <a:r>
              <a:rPr sz="4000" spc="-25" dirty="0">
                <a:solidFill>
                  <a:srgbClr val="2E377E"/>
                </a:solidFill>
                <a:latin typeface="Georgia"/>
                <a:cs typeface="Georgia"/>
              </a:rPr>
              <a:t> </a:t>
            </a:r>
            <a:r>
              <a:rPr sz="4000" dirty="0">
                <a:solidFill>
                  <a:srgbClr val="2E377E"/>
                </a:solidFill>
                <a:latin typeface="Georgia"/>
                <a:cs typeface="Georgia"/>
              </a:rPr>
              <a:t>is</a:t>
            </a:r>
            <a:r>
              <a:rPr sz="4000" spc="-25" dirty="0">
                <a:solidFill>
                  <a:srgbClr val="2E377E"/>
                </a:solidFill>
                <a:latin typeface="Georgia"/>
                <a:cs typeface="Georgia"/>
              </a:rPr>
              <a:t> </a:t>
            </a:r>
            <a:r>
              <a:rPr sz="4000" dirty="0">
                <a:solidFill>
                  <a:srgbClr val="2E377E"/>
                </a:solidFill>
                <a:latin typeface="Georgia"/>
                <a:cs typeface="Georgia"/>
              </a:rPr>
              <a:t>running</a:t>
            </a:r>
            <a:r>
              <a:rPr sz="4000" spc="-25" dirty="0">
                <a:solidFill>
                  <a:srgbClr val="2E377E"/>
                </a:solidFill>
                <a:latin typeface="Georgia"/>
                <a:cs typeface="Georgia"/>
              </a:rPr>
              <a:t> </a:t>
            </a:r>
            <a:r>
              <a:rPr sz="4000" dirty="0">
                <a:solidFill>
                  <a:srgbClr val="2E377E"/>
                </a:solidFill>
                <a:latin typeface="Georgia"/>
                <a:cs typeface="Georgia"/>
              </a:rPr>
              <a:t>then,</a:t>
            </a:r>
            <a:r>
              <a:rPr sz="4000" spc="-25" dirty="0">
                <a:solidFill>
                  <a:srgbClr val="2E377E"/>
                </a:solidFill>
                <a:latin typeface="Georgia"/>
                <a:cs typeface="Georgia"/>
              </a:rPr>
              <a:t> </a:t>
            </a:r>
            <a:r>
              <a:rPr sz="4000" spc="90" dirty="0">
                <a:solidFill>
                  <a:srgbClr val="2E377E"/>
                </a:solidFill>
                <a:latin typeface="Georgia"/>
                <a:cs typeface="Georgia"/>
              </a:rPr>
              <a:t>you</a:t>
            </a:r>
            <a:r>
              <a:rPr sz="4000" spc="-25" dirty="0">
                <a:solidFill>
                  <a:srgbClr val="2E377E"/>
                </a:solidFill>
                <a:latin typeface="Georgia"/>
                <a:cs typeface="Georgia"/>
              </a:rPr>
              <a:t> </a:t>
            </a:r>
            <a:r>
              <a:rPr sz="4000" dirty="0">
                <a:solidFill>
                  <a:srgbClr val="2E377E"/>
                </a:solidFill>
                <a:latin typeface="Georgia"/>
                <a:cs typeface="Georgia"/>
              </a:rPr>
              <a:t>are</a:t>
            </a:r>
            <a:r>
              <a:rPr sz="4000" spc="-25" dirty="0">
                <a:solidFill>
                  <a:srgbClr val="2E377E"/>
                </a:solidFill>
                <a:latin typeface="Georgia"/>
                <a:cs typeface="Georgia"/>
              </a:rPr>
              <a:t> </a:t>
            </a:r>
            <a:r>
              <a:rPr sz="4000" dirty="0">
                <a:solidFill>
                  <a:srgbClr val="2E377E"/>
                </a:solidFill>
                <a:latin typeface="Georgia"/>
                <a:cs typeface="Georgia"/>
              </a:rPr>
              <a:t>ready</a:t>
            </a:r>
            <a:r>
              <a:rPr sz="4000" spc="-25" dirty="0">
                <a:solidFill>
                  <a:srgbClr val="2E377E"/>
                </a:solidFill>
                <a:latin typeface="Georgia"/>
                <a:cs typeface="Georgia"/>
              </a:rPr>
              <a:t> </a:t>
            </a:r>
            <a:r>
              <a:rPr sz="4000" spc="70" dirty="0">
                <a:solidFill>
                  <a:srgbClr val="2E377E"/>
                </a:solidFill>
                <a:latin typeface="Georgia"/>
                <a:cs typeface="Georgia"/>
              </a:rPr>
              <a:t>to</a:t>
            </a:r>
            <a:r>
              <a:rPr sz="4000" spc="-25" dirty="0">
                <a:solidFill>
                  <a:srgbClr val="2E377E"/>
                </a:solidFill>
                <a:latin typeface="Georgia"/>
                <a:cs typeface="Georgia"/>
              </a:rPr>
              <a:t> </a:t>
            </a:r>
            <a:r>
              <a:rPr sz="4000" spc="-10" dirty="0">
                <a:solidFill>
                  <a:srgbClr val="2E377E"/>
                </a:solidFill>
                <a:latin typeface="Georgia"/>
                <a:cs typeface="Georgia"/>
              </a:rPr>
              <a:t>scale.</a:t>
            </a:r>
            <a:endParaRPr sz="4000">
              <a:latin typeface="Georgia"/>
              <a:cs typeface="Georgia"/>
            </a:endParaRPr>
          </a:p>
        </p:txBody>
      </p:sp>
      <p:pic>
        <p:nvPicPr>
          <p:cNvPr id="5" name="object 5"/>
          <p:cNvPicPr/>
          <p:nvPr/>
        </p:nvPicPr>
        <p:blipFill>
          <a:blip r:embed="rId4" cstate="print"/>
          <a:stretch>
            <a:fillRect/>
          </a:stretch>
        </p:blipFill>
        <p:spPr>
          <a:xfrm>
            <a:off x="1652221" y="1707729"/>
            <a:ext cx="152400" cy="152399"/>
          </a:xfrm>
          <a:prstGeom prst="rect">
            <a:avLst/>
          </a:prstGeom>
        </p:spPr>
      </p:pic>
      <p:pic>
        <p:nvPicPr>
          <p:cNvPr id="6" name="object 6"/>
          <p:cNvPicPr/>
          <p:nvPr/>
        </p:nvPicPr>
        <p:blipFill>
          <a:blip r:embed="rId3" cstate="print"/>
          <a:stretch>
            <a:fillRect/>
          </a:stretch>
        </p:blipFill>
        <p:spPr>
          <a:xfrm>
            <a:off x="1652221" y="2412579"/>
            <a:ext cx="152400" cy="152399"/>
          </a:xfrm>
          <a:prstGeom prst="rect">
            <a:avLst/>
          </a:prstGeom>
        </p:spPr>
      </p:pic>
      <p:pic>
        <p:nvPicPr>
          <p:cNvPr id="7" name="object 7"/>
          <p:cNvPicPr/>
          <p:nvPr/>
        </p:nvPicPr>
        <p:blipFill>
          <a:blip r:embed="rId4" cstate="print"/>
          <a:stretch>
            <a:fillRect/>
          </a:stretch>
        </p:blipFill>
        <p:spPr>
          <a:xfrm>
            <a:off x="1652221" y="3117429"/>
            <a:ext cx="152400" cy="152399"/>
          </a:xfrm>
          <a:prstGeom prst="rect">
            <a:avLst/>
          </a:prstGeom>
        </p:spPr>
      </p:pic>
      <p:pic>
        <p:nvPicPr>
          <p:cNvPr id="8" name="object 8"/>
          <p:cNvPicPr/>
          <p:nvPr/>
        </p:nvPicPr>
        <p:blipFill>
          <a:blip r:embed="rId3" cstate="print"/>
          <a:stretch>
            <a:fillRect/>
          </a:stretch>
        </p:blipFill>
        <p:spPr>
          <a:xfrm>
            <a:off x="1652221" y="3822279"/>
            <a:ext cx="152400" cy="152399"/>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5455" rIns="0" bIns="0" rtlCol="0">
            <a:spAutoFit/>
          </a:bodyPr>
          <a:lstStyle/>
          <a:p>
            <a:pPr marL="146685">
              <a:lnSpc>
                <a:spcPct val="100000"/>
              </a:lnSpc>
              <a:spcBef>
                <a:spcPts val="100"/>
              </a:spcBef>
            </a:pPr>
            <a:r>
              <a:rPr spc="-245" dirty="0">
                <a:solidFill>
                  <a:srgbClr val="FF3131"/>
                </a:solidFill>
              </a:rPr>
              <a:t>DEPLOYMENT</a:t>
            </a:r>
            <a:r>
              <a:rPr spc="-35" dirty="0">
                <a:solidFill>
                  <a:srgbClr val="FF3131"/>
                </a:solidFill>
              </a:rPr>
              <a:t> </a:t>
            </a:r>
            <a:r>
              <a:rPr spc="-200" dirty="0">
                <a:solidFill>
                  <a:srgbClr val="FF3131"/>
                </a:solidFill>
              </a:rPr>
              <a:t>SCALING:</a:t>
            </a:r>
          </a:p>
        </p:txBody>
      </p:sp>
      <p:sp>
        <p:nvSpPr>
          <p:cNvPr id="3" name="object 3"/>
          <p:cNvSpPr txBox="1"/>
          <p:nvPr/>
        </p:nvSpPr>
        <p:spPr>
          <a:xfrm>
            <a:off x="886525" y="1933900"/>
            <a:ext cx="16385540" cy="6993890"/>
          </a:xfrm>
          <a:prstGeom prst="rect">
            <a:avLst/>
          </a:prstGeom>
        </p:spPr>
        <p:txBody>
          <a:bodyPr vert="horz" wrap="square" lIns="0" tIns="12700" rIns="0" bIns="0" rtlCol="0">
            <a:spAutoFit/>
          </a:bodyPr>
          <a:lstStyle/>
          <a:p>
            <a:pPr marL="270510" marR="849630">
              <a:lnSpc>
                <a:spcPct val="116300"/>
              </a:lnSpc>
              <a:spcBef>
                <a:spcPts val="100"/>
              </a:spcBef>
            </a:pPr>
            <a:r>
              <a:rPr sz="3600" dirty="0">
                <a:solidFill>
                  <a:srgbClr val="2E377E"/>
                </a:solidFill>
                <a:latin typeface="Georgia"/>
                <a:cs typeface="Georgia"/>
              </a:rPr>
              <a:t>Lets</a:t>
            </a:r>
            <a:r>
              <a:rPr sz="3600" spc="-40" dirty="0">
                <a:solidFill>
                  <a:srgbClr val="2E377E"/>
                </a:solidFill>
                <a:latin typeface="Georgia"/>
                <a:cs typeface="Georgia"/>
              </a:rPr>
              <a:t> </a:t>
            </a:r>
            <a:r>
              <a:rPr sz="3600" dirty="0">
                <a:solidFill>
                  <a:srgbClr val="2E377E"/>
                </a:solidFill>
                <a:latin typeface="Georgia"/>
                <a:cs typeface="Georgia"/>
              </a:rPr>
              <a:t>assume</a:t>
            </a:r>
            <a:r>
              <a:rPr sz="3600" spc="-35" dirty="0">
                <a:solidFill>
                  <a:srgbClr val="2E377E"/>
                </a:solidFill>
                <a:latin typeface="Georgia"/>
                <a:cs typeface="Georgia"/>
              </a:rPr>
              <a:t> </a:t>
            </a:r>
            <a:r>
              <a:rPr sz="3600" spc="140" dirty="0">
                <a:solidFill>
                  <a:srgbClr val="2E377E"/>
                </a:solidFill>
                <a:latin typeface="Georgia"/>
                <a:cs typeface="Georgia"/>
              </a:rPr>
              <a:t>we</a:t>
            </a:r>
            <a:r>
              <a:rPr sz="3600" spc="-40" dirty="0">
                <a:solidFill>
                  <a:srgbClr val="2E377E"/>
                </a:solidFill>
                <a:latin typeface="Georgia"/>
                <a:cs typeface="Georgia"/>
              </a:rPr>
              <a:t> </a:t>
            </a:r>
            <a:r>
              <a:rPr sz="3600" spc="55" dirty="0">
                <a:solidFill>
                  <a:srgbClr val="2E377E"/>
                </a:solidFill>
                <a:latin typeface="Georgia"/>
                <a:cs typeface="Georgia"/>
              </a:rPr>
              <a:t>have</a:t>
            </a:r>
            <a:r>
              <a:rPr sz="3600" spc="-35" dirty="0">
                <a:solidFill>
                  <a:srgbClr val="2E377E"/>
                </a:solidFill>
                <a:latin typeface="Georgia"/>
                <a:cs typeface="Georgia"/>
              </a:rPr>
              <a:t> </a:t>
            </a:r>
            <a:r>
              <a:rPr sz="3600" spc="-245" dirty="0">
                <a:solidFill>
                  <a:srgbClr val="2E377E"/>
                </a:solidFill>
                <a:latin typeface="Georgia"/>
                <a:cs typeface="Georgia"/>
              </a:rPr>
              <a:t>3</a:t>
            </a:r>
            <a:r>
              <a:rPr sz="3600" spc="-40" dirty="0">
                <a:solidFill>
                  <a:srgbClr val="2E377E"/>
                </a:solidFill>
                <a:latin typeface="Georgia"/>
                <a:cs typeface="Georgia"/>
              </a:rPr>
              <a:t> </a:t>
            </a:r>
            <a:r>
              <a:rPr sz="3600" dirty="0">
                <a:solidFill>
                  <a:srgbClr val="2E377E"/>
                </a:solidFill>
                <a:latin typeface="Georgia"/>
                <a:cs typeface="Georgia"/>
              </a:rPr>
              <a:t>pods,</a:t>
            </a:r>
            <a:r>
              <a:rPr sz="3600" spc="-35" dirty="0">
                <a:solidFill>
                  <a:srgbClr val="2E377E"/>
                </a:solidFill>
                <a:latin typeface="Georgia"/>
                <a:cs typeface="Georgia"/>
              </a:rPr>
              <a:t> </a:t>
            </a:r>
            <a:r>
              <a:rPr sz="3600" dirty="0">
                <a:solidFill>
                  <a:srgbClr val="2E377E"/>
                </a:solidFill>
                <a:latin typeface="Georgia"/>
                <a:cs typeface="Georgia"/>
              </a:rPr>
              <a:t>if</a:t>
            </a:r>
            <a:r>
              <a:rPr sz="3600" spc="-35" dirty="0">
                <a:solidFill>
                  <a:srgbClr val="2E377E"/>
                </a:solidFill>
                <a:latin typeface="Georgia"/>
                <a:cs typeface="Georgia"/>
              </a:rPr>
              <a:t> </a:t>
            </a:r>
            <a:r>
              <a:rPr sz="3600" dirty="0">
                <a:solidFill>
                  <a:srgbClr val="2E377E"/>
                </a:solidFill>
                <a:latin typeface="Georgia"/>
                <a:cs typeface="Georgia"/>
              </a:rPr>
              <a:t>i</a:t>
            </a:r>
            <a:r>
              <a:rPr sz="3600" spc="-40" dirty="0">
                <a:solidFill>
                  <a:srgbClr val="2E377E"/>
                </a:solidFill>
                <a:latin typeface="Georgia"/>
                <a:cs typeface="Georgia"/>
              </a:rPr>
              <a:t> </a:t>
            </a:r>
            <a:r>
              <a:rPr sz="3600" spc="80" dirty="0">
                <a:solidFill>
                  <a:srgbClr val="2E377E"/>
                </a:solidFill>
                <a:latin typeface="Georgia"/>
                <a:cs typeface="Georgia"/>
              </a:rPr>
              <a:t>want</a:t>
            </a:r>
            <a:r>
              <a:rPr sz="3600" spc="-35" dirty="0">
                <a:solidFill>
                  <a:srgbClr val="2E377E"/>
                </a:solidFill>
                <a:latin typeface="Georgia"/>
                <a:cs typeface="Georgia"/>
              </a:rPr>
              <a:t> </a:t>
            </a:r>
            <a:r>
              <a:rPr sz="3600" spc="70" dirty="0">
                <a:solidFill>
                  <a:srgbClr val="2E377E"/>
                </a:solidFill>
                <a:latin typeface="Georgia"/>
                <a:cs typeface="Georgia"/>
              </a:rPr>
              <a:t>to</a:t>
            </a:r>
            <a:r>
              <a:rPr sz="3600" spc="-40" dirty="0">
                <a:solidFill>
                  <a:srgbClr val="2E377E"/>
                </a:solidFill>
                <a:latin typeface="Georgia"/>
                <a:cs typeface="Georgia"/>
              </a:rPr>
              <a:t> </a:t>
            </a:r>
            <a:r>
              <a:rPr sz="3600" dirty="0">
                <a:solidFill>
                  <a:srgbClr val="2E377E"/>
                </a:solidFill>
                <a:latin typeface="Georgia"/>
                <a:cs typeface="Georgia"/>
              </a:rPr>
              <a:t>scale</a:t>
            </a:r>
            <a:r>
              <a:rPr sz="3600" spc="-35" dirty="0">
                <a:solidFill>
                  <a:srgbClr val="2E377E"/>
                </a:solidFill>
                <a:latin typeface="Georgia"/>
                <a:cs typeface="Georgia"/>
              </a:rPr>
              <a:t> </a:t>
            </a:r>
            <a:r>
              <a:rPr sz="3600" spc="65" dirty="0">
                <a:solidFill>
                  <a:srgbClr val="2E377E"/>
                </a:solidFill>
                <a:latin typeface="Georgia"/>
                <a:cs typeface="Georgia"/>
              </a:rPr>
              <a:t>it</a:t>
            </a:r>
            <a:r>
              <a:rPr sz="3600" spc="-35" dirty="0">
                <a:solidFill>
                  <a:srgbClr val="2E377E"/>
                </a:solidFill>
                <a:latin typeface="Georgia"/>
                <a:cs typeface="Georgia"/>
              </a:rPr>
              <a:t> </a:t>
            </a:r>
            <a:r>
              <a:rPr sz="3600" spc="70" dirty="0">
                <a:solidFill>
                  <a:srgbClr val="2E377E"/>
                </a:solidFill>
                <a:latin typeface="Georgia"/>
                <a:cs typeface="Georgia"/>
              </a:rPr>
              <a:t>to</a:t>
            </a:r>
            <a:r>
              <a:rPr sz="3600" spc="-40" dirty="0">
                <a:solidFill>
                  <a:srgbClr val="2E377E"/>
                </a:solidFill>
                <a:latin typeface="Georgia"/>
                <a:cs typeface="Georgia"/>
              </a:rPr>
              <a:t> </a:t>
            </a:r>
            <a:r>
              <a:rPr sz="3600" dirty="0">
                <a:solidFill>
                  <a:srgbClr val="2E377E"/>
                </a:solidFill>
                <a:latin typeface="Georgia"/>
                <a:cs typeface="Georgia"/>
              </a:rPr>
              <a:t>10</a:t>
            </a:r>
            <a:r>
              <a:rPr sz="3600" spc="-35" dirty="0">
                <a:solidFill>
                  <a:srgbClr val="2E377E"/>
                </a:solidFill>
                <a:latin typeface="Georgia"/>
                <a:cs typeface="Georgia"/>
              </a:rPr>
              <a:t> </a:t>
            </a:r>
            <a:r>
              <a:rPr sz="3600" dirty="0">
                <a:solidFill>
                  <a:srgbClr val="2E377E"/>
                </a:solidFill>
                <a:latin typeface="Georgia"/>
                <a:cs typeface="Georgia"/>
              </a:rPr>
              <a:t>pods</a:t>
            </a:r>
            <a:r>
              <a:rPr sz="3600" spc="-40" dirty="0">
                <a:solidFill>
                  <a:srgbClr val="2E377E"/>
                </a:solidFill>
                <a:latin typeface="Georgia"/>
                <a:cs typeface="Georgia"/>
              </a:rPr>
              <a:t> </a:t>
            </a:r>
            <a:r>
              <a:rPr sz="3600" spc="170" dirty="0">
                <a:solidFill>
                  <a:srgbClr val="2E377E"/>
                </a:solidFill>
                <a:latin typeface="Georgia"/>
                <a:cs typeface="Georgia"/>
              </a:rPr>
              <a:t>(</a:t>
            </a:r>
            <a:r>
              <a:rPr sz="3600" spc="170" dirty="0">
                <a:solidFill>
                  <a:srgbClr val="2E377E"/>
                </a:solidFill>
                <a:latin typeface="Times New Roman"/>
                <a:cs typeface="Times New Roman"/>
              </a:rPr>
              <a:t>manual</a:t>
            </a:r>
            <a:r>
              <a:rPr sz="3600" spc="-65" dirty="0">
                <a:solidFill>
                  <a:srgbClr val="2E377E"/>
                </a:solidFill>
                <a:latin typeface="Times New Roman"/>
                <a:cs typeface="Times New Roman"/>
              </a:rPr>
              <a:t> </a:t>
            </a:r>
            <a:r>
              <a:rPr sz="3600" spc="70" dirty="0">
                <a:solidFill>
                  <a:srgbClr val="2E377E"/>
                </a:solidFill>
                <a:latin typeface="Times New Roman"/>
                <a:cs typeface="Times New Roman"/>
              </a:rPr>
              <a:t>scaling</a:t>
            </a:r>
            <a:r>
              <a:rPr sz="3600" spc="70" dirty="0">
                <a:solidFill>
                  <a:srgbClr val="2E377E"/>
                </a:solidFill>
                <a:latin typeface="Georgia"/>
                <a:cs typeface="Georgia"/>
              </a:rPr>
              <a:t>) </a:t>
            </a:r>
            <a:r>
              <a:rPr sz="3600" spc="60" dirty="0">
                <a:solidFill>
                  <a:srgbClr val="FF3131"/>
                </a:solidFill>
                <a:latin typeface="Georgia"/>
                <a:cs typeface="Georgia"/>
              </a:rPr>
              <a:t>kubectl</a:t>
            </a:r>
            <a:r>
              <a:rPr sz="3600" spc="190" dirty="0">
                <a:solidFill>
                  <a:srgbClr val="FF3131"/>
                </a:solidFill>
                <a:latin typeface="Georgia"/>
                <a:cs typeface="Georgia"/>
              </a:rPr>
              <a:t> </a:t>
            </a:r>
            <a:r>
              <a:rPr sz="3600" dirty="0">
                <a:solidFill>
                  <a:srgbClr val="FF3131"/>
                </a:solidFill>
                <a:latin typeface="Georgia"/>
                <a:cs typeface="Georgia"/>
              </a:rPr>
              <a:t>scale</a:t>
            </a:r>
            <a:r>
              <a:rPr sz="3600" spc="190" dirty="0">
                <a:solidFill>
                  <a:srgbClr val="FF3131"/>
                </a:solidFill>
                <a:latin typeface="Georgia"/>
                <a:cs typeface="Georgia"/>
              </a:rPr>
              <a:t> </a:t>
            </a:r>
            <a:r>
              <a:rPr sz="3600" dirty="0">
                <a:solidFill>
                  <a:srgbClr val="FF3131"/>
                </a:solidFill>
                <a:latin typeface="Georgia"/>
                <a:cs typeface="Georgia"/>
              </a:rPr>
              <a:t>deployment/nginx-</a:t>
            </a:r>
            <a:r>
              <a:rPr sz="3600" spc="55" dirty="0">
                <a:solidFill>
                  <a:srgbClr val="FF3131"/>
                </a:solidFill>
                <a:latin typeface="Georgia"/>
                <a:cs typeface="Georgia"/>
              </a:rPr>
              <a:t>deployment</a:t>
            </a:r>
            <a:r>
              <a:rPr sz="3600" spc="195" dirty="0">
                <a:solidFill>
                  <a:srgbClr val="FF3131"/>
                </a:solidFill>
                <a:latin typeface="Georgia"/>
                <a:cs typeface="Georgia"/>
              </a:rPr>
              <a:t> </a:t>
            </a:r>
            <a:r>
              <a:rPr sz="3600" dirty="0">
                <a:solidFill>
                  <a:srgbClr val="FF3131"/>
                </a:solidFill>
                <a:latin typeface="Georgia"/>
                <a:cs typeface="Georgia"/>
              </a:rPr>
              <a:t>--</a:t>
            </a:r>
            <a:r>
              <a:rPr sz="3600" spc="-10" dirty="0">
                <a:solidFill>
                  <a:srgbClr val="FF3131"/>
                </a:solidFill>
                <a:latin typeface="Georgia"/>
                <a:cs typeface="Georgia"/>
              </a:rPr>
              <a:t>replicas=10</a:t>
            </a:r>
            <a:endParaRPr sz="3600">
              <a:latin typeface="Georgia"/>
              <a:cs typeface="Georgia"/>
            </a:endParaRPr>
          </a:p>
          <a:p>
            <a:pPr marL="270510">
              <a:lnSpc>
                <a:spcPct val="100000"/>
              </a:lnSpc>
              <a:spcBef>
                <a:spcPts val="705"/>
              </a:spcBef>
            </a:pPr>
            <a:r>
              <a:rPr sz="3600" dirty="0">
                <a:solidFill>
                  <a:srgbClr val="2E377E"/>
                </a:solidFill>
                <a:latin typeface="Georgia"/>
                <a:cs typeface="Georgia"/>
              </a:rPr>
              <a:t>Assume</a:t>
            </a:r>
            <a:r>
              <a:rPr sz="3600" spc="-20"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spc="55" dirty="0">
                <a:solidFill>
                  <a:srgbClr val="2E377E"/>
                </a:solidFill>
                <a:latin typeface="Georgia"/>
                <a:cs typeface="Georgia"/>
              </a:rPr>
              <a:t>have</a:t>
            </a:r>
            <a:r>
              <a:rPr sz="3600" spc="-15" dirty="0">
                <a:solidFill>
                  <a:srgbClr val="2E377E"/>
                </a:solidFill>
                <a:latin typeface="Georgia"/>
                <a:cs typeface="Georgia"/>
              </a:rPr>
              <a:t> </a:t>
            </a:r>
            <a:r>
              <a:rPr sz="3600" spc="100" dirty="0">
                <a:solidFill>
                  <a:srgbClr val="2E377E"/>
                </a:solidFill>
                <a:latin typeface="Georgia"/>
                <a:cs typeface="Georgia"/>
              </a:rPr>
              <a:t>HPA(</a:t>
            </a:r>
            <a:r>
              <a:rPr sz="3600" spc="100" dirty="0">
                <a:solidFill>
                  <a:srgbClr val="2E377E"/>
                </a:solidFill>
                <a:latin typeface="Times New Roman"/>
                <a:cs typeface="Times New Roman"/>
              </a:rPr>
              <a:t>Horizontal</a:t>
            </a:r>
            <a:r>
              <a:rPr sz="3600" spc="-45" dirty="0">
                <a:solidFill>
                  <a:srgbClr val="2E377E"/>
                </a:solidFill>
                <a:latin typeface="Times New Roman"/>
                <a:cs typeface="Times New Roman"/>
              </a:rPr>
              <a:t> </a:t>
            </a:r>
            <a:r>
              <a:rPr sz="3600" spc="60" dirty="0">
                <a:solidFill>
                  <a:srgbClr val="2E377E"/>
                </a:solidFill>
                <a:latin typeface="Times New Roman"/>
                <a:cs typeface="Times New Roman"/>
              </a:rPr>
              <a:t>POD</a:t>
            </a:r>
            <a:r>
              <a:rPr sz="3600" spc="-45" dirty="0">
                <a:solidFill>
                  <a:srgbClr val="2E377E"/>
                </a:solidFill>
                <a:latin typeface="Times New Roman"/>
                <a:cs typeface="Times New Roman"/>
              </a:rPr>
              <a:t> </a:t>
            </a:r>
            <a:r>
              <a:rPr sz="3600" spc="155" dirty="0">
                <a:solidFill>
                  <a:srgbClr val="2E377E"/>
                </a:solidFill>
                <a:latin typeface="Times New Roman"/>
                <a:cs typeface="Times New Roman"/>
              </a:rPr>
              <a:t>Auto-</a:t>
            </a:r>
            <a:r>
              <a:rPr sz="3600" spc="80" dirty="0">
                <a:solidFill>
                  <a:srgbClr val="2E377E"/>
                </a:solidFill>
                <a:latin typeface="Times New Roman"/>
                <a:cs typeface="Times New Roman"/>
              </a:rPr>
              <a:t>scaling</a:t>
            </a:r>
            <a:r>
              <a:rPr sz="3600" spc="80" dirty="0">
                <a:solidFill>
                  <a:srgbClr val="2E377E"/>
                </a:solidFill>
                <a:latin typeface="Georgia"/>
                <a:cs typeface="Georgia"/>
              </a:rPr>
              <a:t>)</a:t>
            </a:r>
            <a:r>
              <a:rPr sz="3600" spc="-15" dirty="0">
                <a:solidFill>
                  <a:srgbClr val="2E377E"/>
                </a:solidFill>
                <a:latin typeface="Georgia"/>
                <a:cs typeface="Georgia"/>
              </a:rPr>
              <a:t> </a:t>
            </a:r>
            <a:r>
              <a:rPr sz="3600" dirty="0">
                <a:solidFill>
                  <a:srgbClr val="2E377E"/>
                </a:solidFill>
                <a:latin typeface="Georgia"/>
                <a:cs typeface="Georgia"/>
              </a:rPr>
              <a:t>enabled</a:t>
            </a:r>
            <a:r>
              <a:rPr sz="3600" spc="-15"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spc="-10" dirty="0">
                <a:solidFill>
                  <a:srgbClr val="2E377E"/>
                </a:solidFill>
                <a:latin typeface="Georgia"/>
                <a:cs typeface="Georgia"/>
              </a:rPr>
              <a:t>cluster.</a:t>
            </a:r>
            <a:endParaRPr sz="3600">
              <a:latin typeface="Georgia"/>
              <a:cs typeface="Georgia"/>
            </a:endParaRPr>
          </a:p>
          <a:p>
            <a:pPr marL="270510">
              <a:lnSpc>
                <a:spcPct val="100000"/>
              </a:lnSpc>
              <a:spcBef>
                <a:spcPts val="705"/>
              </a:spcBef>
            </a:pPr>
            <a:r>
              <a:rPr sz="3600" dirty="0">
                <a:solidFill>
                  <a:srgbClr val="2E377E"/>
                </a:solidFill>
                <a:latin typeface="Georgia"/>
                <a:cs typeface="Georgia"/>
              </a:rPr>
              <a:t>So</a:t>
            </a:r>
            <a:r>
              <a:rPr sz="3600" spc="-40" dirty="0">
                <a:solidFill>
                  <a:srgbClr val="2E377E"/>
                </a:solidFill>
                <a:latin typeface="Georgia"/>
                <a:cs typeface="Georgia"/>
              </a:rPr>
              <a:t> </a:t>
            </a:r>
            <a:r>
              <a:rPr sz="3600" dirty="0">
                <a:solidFill>
                  <a:srgbClr val="2E377E"/>
                </a:solidFill>
                <a:latin typeface="Georgia"/>
                <a:cs typeface="Georgia"/>
              </a:rPr>
              <a:t>if</a:t>
            </a:r>
            <a:r>
              <a:rPr sz="3600" spc="-40" dirty="0">
                <a:solidFill>
                  <a:srgbClr val="2E377E"/>
                </a:solidFill>
                <a:latin typeface="Georgia"/>
                <a:cs typeface="Georgia"/>
              </a:rPr>
              <a:t> </a:t>
            </a:r>
            <a:r>
              <a:rPr sz="3600" spc="140" dirty="0">
                <a:solidFill>
                  <a:srgbClr val="2E377E"/>
                </a:solidFill>
                <a:latin typeface="Georgia"/>
                <a:cs typeface="Georgia"/>
              </a:rPr>
              <a:t>we</a:t>
            </a:r>
            <a:r>
              <a:rPr sz="3600" spc="-35" dirty="0">
                <a:solidFill>
                  <a:srgbClr val="2E377E"/>
                </a:solidFill>
                <a:latin typeface="Georgia"/>
                <a:cs typeface="Georgia"/>
              </a:rPr>
              <a:t> </a:t>
            </a:r>
            <a:r>
              <a:rPr sz="3600" spc="80" dirty="0">
                <a:solidFill>
                  <a:srgbClr val="2E377E"/>
                </a:solidFill>
                <a:latin typeface="Georgia"/>
                <a:cs typeface="Georgia"/>
              </a:rPr>
              <a:t>want</a:t>
            </a:r>
            <a:r>
              <a:rPr sz="3600" spc="-40" dirty="0">
                <a:solidFill>
                  <a:srgbClr val="2E377E"/>
                </a:solidFill>
                <a:latin typeface="Georgia"/>
                <a:cs typeface="Georgia"/>
              </a:rPr>
              <a:t> </a:t>
            </a:r>
            <a:r>
              <a:rPr sz="3600" spc="70" dirty="0">
                <a:solidFill>
                  <a:srgbClr val="2E377E"/>
                </a:solidFill>
                <a:latin typeface="Georgia"/>
                <a:cs typeface="Georgia"/>
              </a:rPr>
              <a:t>to</a:t>
            </a:r>
            <a:r>
              <a:rPr sz="3600" spc="-40" dirty="0">
                <a:solidFill>
                  <a:srgbClr val="2E377E"/>
                </a:solidFill>
                <a:latin typeface="Georgia"/>
                <a:cs typeface="Georgia"/>
              </a:rPr>
              <a:t> </a:t>
            </a:r>
            <a:r>
              <a:rPr sz="3600" spc="70" dirty="0">
                <a:solidFill>
                  <a:srgbClr val="2E377E"/>
                </a:solidFill>
                <a:latin typeface="Georgia"/>
                <a:cs typeface="Georgia"/>
              </a:rPr>
              <a:t>give</a:t>
            </a:r>
            <a:r>
              <a:rPr sz="3600" spc="-35" dirty="0">
                <a:solidFill>
                  <a:srgbClr val="2E377E"/>
                </a:solidFill>
                <a:latin typeface="Georgia"/>
                <a:cs typeface="Georgia"/>
              </a:rPr>
              <a:t> </a:t>
            </a:r>
            <a:r>
              <a:rPr sz="3600" spc="6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min</a:t>
            </a:r>
            <a:r>
              <a:rPr sz="3600" spc="-35" dirty="0">
                <a:solidFill>
                  <a:srgbClr val="2E377E"/>
                </a:solidFill>
                <a:latin typeface="Georgia"/>
                <a:cs typeface="Georgia"/>
              </a:rPr>
              <a:t> </a:t>
            </a:r>
            <a:r>
              <a:rPr sz="3600" dirty="0">
                <a:solidFill>
                  <a:srgbClr val="2E377E"/>
                </a:solidFill>
                <a:latin typeface="Georgia"/>
                <a:cs typeface="Georgia"/>
              </a:rPr>
              <a:t>and</a:t>
            </a:r>
            <a:r>
              <a:rPr sz="3600" spc="-40" dirty="0">
                <a:solidFill>
                  <a:srgbClr val="2E377E"/>
                </a:solidFill>
                <a:latin typeface="Georgia"/>
                <a:cs typeface="Georgia"/>
              </a:rPr>
              <a:t> </a:t>
            </a:r>
            <a:r>
              <a:rPr sz="3600" dirty="0">
                <a:solidFill>
                  <a:srgbClr val="2E377E"/>
                </a:solidFill>
                <a:latin typeface="Georgia"/>
                <a:cs typeface="Georgia"/>
              </a:rPr>
              <a:t>max</a:t>
            </a:r>
            <a:r>
              <a:rPr sz="3600" spc="-40" dirty="0">
                <a:solidFill>
                  <a:srgbClr val="2E377E"/>
                </a:solidFill>
                <a:latin typeface="Georgia"/>
                <a:cs typeface="Georgia"/>
              </a:rPr>
              <a:t> </a:t>
            </a:r>
            <a:r>
              <a:rPr sz="3600" spc="55" dirty="0">
                <a:solidFill>
                  <a:srgbClr val="2E377E"/>
                </a:solidFill>
                <a:latin typeface="Georgia"/>
                <a:cs typeface="Georgia"/>
              </a:rPr>
              <a:t>count</a:t>
            </a:r>
            <a:r>
              <a:rPr sz="3600" spc="-35" dirty="0">
                <a:solidFill>
                  <a:srgbClr val="2E377E"/>
                </a:solidFill>
                <a:latin typeface="Georgia"/>
                <a:cs typeface="Georgia"/>
              </a:rPr>
              <a:t> </a:t>
            </a:r>
            <a:r>
              <a:rPr sz="3600" dirty="0">
                <a:solidFill>
                  <a:srgbClr val="2E377E"/>
                </a:solidFill>
                <a:latin typeface="Georgia"/>
                <a:cs typeface="Georgia"/>
              </a:rPr>
              <a:t>of</a:t>
            </a:r>
            <a:r>
              <a:rPr sz="3600" spc="-40" dirty="0">
                <a:solidFill>
                  <a:srgbClr val="2E377E"/>
                </a:solidFill>
                <a:latin typeface="Georgia"/>
                <a:cs typeface="Georgia"/>
              </a:rPr>
              <a:t> </a:t>
            </a:r>
            <a:r>
              <a:rPr sz="3600" spc="-10" dirty="0">
                <a:solidFill>
                  <a:srgbClr val="2E377E"/>
                </a:solidFill>
                <a:latin typeface="Georgia"/>
                <a:cs typeface="Georgia"/>
              </a:rPr>
              <a:t>replicas</a:t>
            </a:r>
            <a:endParaRPr sz="3600">
              <a:latin typeface="Georgia"/>
              <a:cs typeface="Georgia"/>
            </a:endParaRPr>
          </a:p>
          <a:p>
            <a:pPr marL="270510" marR="1943735">
              <a:lnSpc>
                <a:spcPct val="116300"/>
              </a:lnSpc>
            </a:pPr>
            <a:r>
              <a:rPr sz="3600" spc="60" dirty="0">
                <a:solidFill>
                  <a:srgbClr val="FF3131"/>
                </a:solidFill>
                <a:latin typeface="Georgia"/>
                <a:cs typeface="Georgia"/>
              </a:rPr>
              <a:t>kubectl</a:t>
            </a:r>
            <a:r>
              <a:rPr sz="3600" spc="170" dirty="0">
                <a:solidFill>
                  <a:srgbClr val="FF3131"/>
                </a:solidFill>
                <a:latin typeface="Georgia"/>
                <a:cs typeface="Georgia"/>
              </a:rPr>
              <a:t> </a:t>
            </a:r>
            <a:r>
              <a:rPr sz="3600" dirty="0">
                <a:solidFill>
                  <a:srgbClr val="FF3131"/>
                </a:solidFill>
                <a:latin typeface="Georgia"/>
                <a:cs typeface="Georgia"/>
              </a:rPr>
              <a:t>autoscale</a:t>
            </a:r>
            <a:r>
              <a:rPr sz="3600" spc="175" dirty="0">
                <a:solidFill>
                  <a:srgbClr val="FF3131"/>
                </a:solidFill>
                <a:latin typeface="Georgia"/>
                <a:cs typeface="Georgia"/>
              </a:rPr>
              <a:t> </a:t>
            </a:r>
            <a:r>
              <a:rPr sz="3600" dirty="0">
                <a:solidFill>
                  <a:srgbClr val="FF3131"/>
                </a:solidFill>
                <a:latin typeface="Georgia"/>
                <a:cs typeface="Georgia"/>
              </a:rPr>
              <a:t>deployment/nginx-</a:t>
            </a:r>
            <a:r>
              <a:rPr sz="3600" spc="55" dirty="0">
                <a:solidFill>
                  <a:srgbClr val="FF3131"/>
                </a:solidFill>
                <a:latin typeface="Georgia"/>
                <a:cs typeface="Georgia"/>
              </a:rPr>
              <a:t>deployment</a:t>
            </a:r>
            <a:r>
              <a:rPr sz="3600" spc="175" dirty="0">
                <a:solidFill>
                  <a:srgbClr val="FF3131"/>
                </a:solidFill>
                <a:latin typeface="Georgia"/>
                <a:cs typeface="Georgia"/>
              </a:rPr>
              <a:t> </a:t>
            </a:r>
            <a:r>
              <a:rPr sz="3600" dirty="0">
                <a:solidFill>
                  <a:srgbClr val="FF3131"/>
                </a:solidFill>
                <a:latin typeface="Georgia"/>
                <a:cs typeface="Georgia"/>
              </a:rPr>
              <a:t>--</a:t>
            </a:r>
            <a:r>
              <a:rPr sz="3600" spc="-60" dirty="0">
                <a:solidFill>
                  <a:srgbClr val="FF3131"/>
                </a:solidFill>
                <a:latin typeface="Georgia"/>
                <a:cs typeface="Georgia"/>
              </a:rPr>
              <a:t>min=10</a:t>
            </a:r>
            <a:r>
              <a:rPr sz="3600" spc="175" dirty="0">
                <a:solidFill>
                  <a:srgbClr val="FF3131"/>
                </a:solidFill>
                <a:latin typeface="Georgia"/>
                <a:cs typeface="Georgia"/>
              </a:rPr>
              <a:t> </a:t>
            </a:r>
            <a:r>
              <a:rPr sz="3600" dirty="0">
                <a:solidFill>
                  <a:srgbClr val="FF3131"/>
                </a:solidFill>
                <a:latin typeface="Georgia"/>
                <a:cs typeface="Georgia"/>
              </a:rPr>
              <a:t>--</a:t>
            </a:r>
            <a:r>
              <a:rPr sz="3600" spc="-10" dirty="0">
                <a:solidFill>
                  <a:srgbClr val="FF3131"/>
                </a:solidFill>
                <a:latin typeface="Georgia"/>
                <a:cs typeface="Georgia"/>
              </a:rPr>
              <a:t>max=15 </a:t>
            </a:r>
            <a:r>
              <a:rPr sz="3600" dirty="0">
                <a:solidFill>
                  <a:srgbClr val="2E377E"/>
                </a:solidFill>
                <a:latin typeface="Georgia"/>
                <a:cs typeface="Georgia"/>
              </a:rPr>
              <a:t>Now</a:t>
            </a:r>
            <a:r>
              <a:rPr sz="3600" spc="15" dirty="0">
                <a:solidFill>
                  <a:srgbClr val="2E377E"/>
                </a:solidFill>
                <a:latin typeface="Georgia"/>
                <a:cs typeface="Georgia"/>
              </a:rPr>
              <a:t> </a:t>
            </a:r>
            <a:r>
              <a:rPr sz="3600" dirty="0">
                <a:solidFill>
                  <a:srgbClr val="2E377E"/>
                </a:solidFill>
                <a:latin typeface="Georgia"/>
                <a:cs typeface="Georgia"/>
              </a:rPr>
              <a:t>if</a:t>
            </a:r>
            <a:r>
              <a:rPr sz="3600" spc="15"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spc="80" dirty="0">
                <a:solidFill>
                  <a:srgbClr val="2E377E"/>
                </a:solidFill>
                <a:latin typeface="Georgia"/>
                <a:cs typeface="Georgia"/>
              </a:rPr>
              <a:t>want</a:t>
            </a:r>
            <a:r>
              <a:rPr sz="3600" spc="15"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assign</a:t>
            </a:r>
            <a:r>
              <a:rPr sz="3600" spc="20" dirty="0">
                <a:solidFill>
                  <a:srgbClr val="2E377E"/>
                </a:solidFill>
                <a:latin typeface="Georgia"/>
                <a:cs typeface="Georgia"/>
              </a:rPr>
              <a:t> </a:t>
            </a:r>
            <a:r>
              <a:rPr sz="3600" dirty="0">
                <a:solidFill>
                  <a:srgbClr val="2E377E"/>
                </a:solidFill>
                <a:latin typeface="Georgia"/>
                <a:cs typeface="Georgia"/>
              </a:rPr>
              <a:t>cpu</a:t>
            </a:r>
            <a:r>
              <a:rPr sz="3600" spc="15" dirty="0">
                <a:solidFill>
                  <a:srgbClr val="2E377E"/>
                </a:solidFill>
                <a:latin typeface="Georgia"/>
                <a:cs typeface="Georgia"/>
              </a:rPr>
              <a:t> </a:t>
            </a:r>
            <a:r>
              <a:rPr sz="3600" dirty="0">
                <a:solidFill>
                  <a:srgbClr val="2E377E"/>
                </a:solidFill>
                <a:latin typeface="Georgia"/>
                <a:cs typeface="Georgia"/>
              </a:rPr>
              <a:t>limit</a:t>
            </a:r>
            <a:r>
              <a:rPr sz="3600" spc="15" dirty="0">
                <a:solidFill>
                  <a:srgbClr val="2E377E"/>
                </a:solidFill>
                <a:latin typeface="Georgia"/>
                <a:cs typeface="Georgia"/>
              </a:rPr>
              <a:t> </a:t>
            </a:r>
            <a:r>
              <a:rPr sz="3600" dirty="0">
                <a:solidFill>
                  <a:srgbClr val="2E377E"/>
                </a:solidFill>
                <a:latin typeface="Georgia"/>
                <a:cs typeface="Georgia"/>
              </a:rPr>
              <a:t>for</a:t>
            </a:r>
            <a:r>
              <a:rPr sz="3600" spc="15" dirty="0">
                <a:solidFill>
                  <a:srgbClr val="2E377E"/>
                </a:solidFill>
                <a:latin typeface="Georgia"/>
                <a:cs typeface="Georgia"/>
              </a:rPr>
              <a:t> </a:t>
            </a:r>
            <a:r>
              <a:rPr sz="3600" spc="40" dirty="0">
                <a:solidFill>
                  <a:srgbClr val="2E377E"/>
                </a:solidFill>
                <a:latin typeface="Georgia"/>
                <a:cs typeface="Georgia"/>
              </a:rPr>
              <a:t>it</a:t>
            </a:r>
            <a:endParaRPr sz="3600">
              <a:latin typeface="Georgia"/>
              <a:cs typeface="Georgia"/>
            </a:endParaRPr>
          </a:p>
          <a:p>
            <a:pPr marL="270510" marR="5080">
              <a:lnSpc>
                <a:spcPct val="116300"/>
              </a:lnSpc>
              <a:tabLst>
                <a:tab pos="2021839" algn="l"/>
                <a:tab pos="4168775" algn="l"/>
                <a:tab pos="10870565" algn="l"/>
                <a:tab pos="12967970" algn="l"/>
                <a:tab pos="15087600" algn="l"/>
              </a:tabLst>
            </a:pPr>
            <a:r>
              <a:rPr sz="3600" spc="50" dirty="0">
                <a:solidFill>
                  <a:srgbClr val="FF3131"/>
                </a:solidFill>
                <a:latin typeface="Georgia"/>
                <a:cs typeface="Georgia"/>
              </a:rPr>
              <a:t>kubectl</a:t>
            </a:r>
            <a:r>
              <a:rPr sz="3600" dirty="0">
                <a:solidFill>
                  <a:srgbClr val="FF3131"/>
                </a:solidFill>
                <a:latin typeface="Georgia"/>
                <a:cs typeface="Georgia"/>
              </a:rPr>
              <a:t>	</a:t>
            </a:r>
            <a:r>
              <a:rPr sz="3600" spc="-10" dirty="0">
                <a:solidFill>
                  <a:srgbClr val="FF3131"/>
                </a:solidFill>
                <a:latin typeface="Georgia"/>
                <a:cs typeface="Georgia"/>
              </a:rPr>
              <a:t>autoscale</a:t>
            </a:r>
            <a:r>
              <a:rPr sz="3600" dirty="0">
                <a:solidFill>
                  <a:srgbClr val="FF3131"/>
                </a:solidFill>
                <a:latin typeface="Georgia"/>
                <a:cs typeface="Georgia"/>
              </a:rPr>
              <a:t>	deployment/nginx-</a:t>
            </a:r>
            <a:r>
              <a:rPr sz="3600" spc="45" dirty="0">
                <a:solidFill>
                  <a:srgbClr val="FF3131"/>
                </a:solidFill>
                <a:latin typeface="Georgia"/>
                <a:cs typeface="Georgia"/>
              </a:rPr>
              <a:t>deployment</a:t>
            </a:r>
            <a:r>
              <a:rPr sz="3600" dirty="0">
                <a:solidFill>
                  <a:srgbClr val="FF3131"/>
                </a:solidFill>
                <a:latin typeface="Georgia"/>
                <a:cs typeface="Georgia"/>
              </a:rPr>
              <a:t>	--</a:t>
            </a:r>
            <a:r>
              <a:rPr sz="3600" spc="-10" dirty="0">
                <a:solidFill>
                  <a:srgbClr val="FF3131"/>
                </a:solidFill>
                <a:latin typeface="Georgia"/>
                <a:cs typeface="Georgia"/>
              </a:rPr>
              <a:t>min=10</a:t>
            </a:r>
            <a:r>
              <a:rPr sz="3600" dirty="0">
                <a:solidFill>
                  <a:srgbClr val="FF3131"/>
                </a:solidFill>
                <a:latin typeface="Georgia"/>
                <a:cs typeface="Georgia"/>
              </a:rPr>
              <a:t>	--</a:t>
            </a:r>
            <a:r>
              <a:rPr sz="3600" spc="-10" dirty="0">
                <a:solidFill>
                  <a:srgbClr val="FF3131"/>
                </a:solidFill>
                <a:latin typeface="Georgia"/>
                <a:cs typeface="Georgia"/>
              </a:rPr>
              <a:t>max=15</a:t>
            </a:r>
            <a:r>
              <a:rPr sz="3600" dirty="0">
                <a:solidFill>
                  <a:srgbClr val="FF3131"/>
                </a:solidFill>
                <a:latin typeface="Georgia"/>
                <a:cs typeface="Georgia"/>
              </a:rPr>
              <a:t>	--</a:t>
            </a:r>
            <a:r>
              <a:rPr sz="3600" spc="-20" dirty="0">
                <a:solidFill>
                  <a:srgbClr val="FF3131"/>
                </a:solidFill>
                <a:latin typeface="Georgia"/>
                <a:cs typeface="Georgia"/>
              </a:rPr>
              <a:t>cpu- </a:t>
            </a:r>
            <a:r>
              <a:rPr sz="3600" spc="-10" dirty="0">
                <a:solidFill>
                  <a:srgbClr val="FF3131"/>
                </a:solidFill>
                <a:latin typeface="Georgia"/>
                <a:cs typeface="Georgia"/>
              </a:rPr>
              <a:t>percent=80</a:t>
            </a:r>
            <a:endParaRPr sz="3600">
              <a:latin typeface="Georgia"/>
              <a:cs typeface="Georgia"/>
            </a:endParaRPr>
          </a:p>
          <a:p>
            <a:pPr>
              <a:lnSpc>
                <a:spcPct val="100000"/>
              </a:lnSpc>
              <a:spcBef>
                <a:spcPts val="530"/>
              </a:spcBef>
            </a:pPr>
            <a:endParaRPr sz="3600">
              <a:latin typeface="Georgia"/>
              <a:cs typeface="Georgia"/>
            </a:endParaRPr>
          </a:p>
          <a:p>
            <a:pPr marL="12700" marR="3784600">
              <a:lnSpc>
                <a:spcPct val="116300"/>
              </a:lnSpc>
            </a:pPr>
            <a:r>
              <a:rPr sz="3600" dirty="0">
                <a:solidFill>
                  <a:srgbClr val="2E377E"/>
                </a:solidFill>
                <a:latin typeface="Georgia"/>
                <a:cs typeface="Georgia"/>
              </a:rPr>
              <a:t>Manual</a:t>
            </a:r>
            <a:r>
              <a:rPr sz="3600" spc="20" dirty="0">
                <a:solidFill>
                  <a:srgbClr val="2E377E"/>
                </a:solidFill>
                <a:latin typeface="Georgia"/>
                <a:cs typeface="Georgia"/>
              </a:rPr>
              <a:t> </a:t>
            </a:r>
            <a:r>
              <a:rPr sz="3600" dirty="0">
                <a:solidFill>
                  <a:srgbClr val="2E377E"/>
                </a:solidFill>
                <a:latin typeface="Georgia"/>
                <a:cs typeface="Georgia"/>
              </a:rPr>
              <a:t>scaling</a:t>
            </a:r>
            <a:r>
              <a:rPr sz="3600" spc="25" dirty="0">
                <a:solidFill>
                  <a:srgbClr val="2E377E"/>
                </a:solidFill>
                <a:latin typeface="Georgia"/>
                <a:cs typeface="Georgia"/>
              </a:rPr>
              <a:t> </a:t>
            </a:r>
            <a:r>
              <a:rPr sz="3600" dirty="0">
                <a:solidFill>
                  <a:srgbClr val="2E377E"/>
                </a:solidFill>
                <a:latin typeface="Georgia"/>
                <a:cs typeface="Georgia"/>
              </a:rPr>
              <a:t>means</a:t>
            </a:r>
            <a:r>
              <a:rPr sz="3600" spc="20" dirty="0">
                <a:solidFill>
                  <a:srgbClr val="2E377E"/>
                </a:solidFill>
                <a:latin typeface="Georgia"/>
                <a:cs typeface="Georgia"/>
              </a:rPr>
              <a:t> </a:t>
            </a:r>
            <a:r>
              <a:rPr sz="3600" spc="140" dirty="0">
                <a:solidFill>
                  <a:srgbClr val="2E377E"/>
                </a:solidFill>
                <a:latin typeface="Georgia"/>
                <a:cs typeface="Georgia"/>
              </a:rPr>
              <a:t>we</a:t>
            </a:r>
            <a:r>
              <a:rPr sz="3600" spc="25" dirty="0">
                <a:solidFill>
                  <a:srgbClr val="2E377E"/>
                </a:solidFill>
                <a:latin typeface="Georgia"/>
                <a:cs typeface="Georgia"/>
              </a:rPr>
              <a:t> </a:t>
            </a:r>
            <a:r>
              <a:rPr sz="3600" dirty="0">
                <a:solidFill>
                  <a:srgbClr val="2E377E"/>
                </a:solidFill>
                <a:latin typeface="Georgia"/>
                <a:cs typeface="Georgia"/>
              </a:rPr>
              <a:t>can</a:t>
            </a:r>
            <a:r>
              <a:rPr sz="3600" spc="25" dirty="0">
                <a:solidFill>
                  <a:srgbClr val="2E377E"/>
                </a:solidFill>
                <a:latin typeface="Georgia"/>
                <a:cs typeface="Georgia"/>
              </a:rPr>
              <a:t> </a:t>
            </a:r>
            <a:r>
              <a:rPr sz="3600" dirty="0">
                <a:solidFill>
                  <a:srgbClr val="2E377E"/>
                </a:solidFill>
                <a:latin typeface="Georgia"/>
                <a:cs typeface="Georgia"/>
              </a:rPr>
              <a:t>define</a:t>
            </a:r>
            <a:r>
              <a:rPr sz="3600" spc="20"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replicas</a:t>
            </a:r>
            <a:r>
              <a:rPr sz="3600" spc="25" dirty="0">
                <a:solidFill>
                  <a:srgbClr val="2E377E"/>
                </a:solidFill>
                <a:latin typeface="Georgia"/>
                <a:cs typeface="Georgia"/>
              </a:rPr>
              <a:t> </a:t>
            </a:r>
            <a:r>
              <a:rPr sz="3600" spc="-135" dirty="0">
                <a:solidFill>
                  <a:srgbClr val="2E377E"/>
                </a:solidFill>
                <a:latin typeface="Georgia"/>
                <a:cs typeface="Georgia"/>
              </a:rPr>
              <a:t>(-</a:t>
            </a:r>
            <a:r>
              <a:rPr sz="3600" dirty="0">
                <a:solidFill>
                  <a:srgbClr val="2E377E"/>
                </a:solidFill>
                <a:latin typeface="Georgia"/>
                <a:cs typeface="Georgia"/>
              </a:rPr>
              <a:t>-</a:t>
            </a:r>
            <a:r>
              <a:rPr sz="3600" spc="-10" dirty="0">
                <a:solidFill>
                  <a:srgbClr val="2E377E"/>
                </a:solidFill>
                <a:latin typeface="Georgia"/>
                <a:cs typeface="Georgia"/>
              </a:rPr>
              <a:t>repicas=5) </a:t>
            </a:r>
            <a:r>
              <a:rPr sz="3600" spc="-60" dirty="0">
                <a:solidFill>
                  <a:srgbClr val="2E377E"/>
                </a:solidFill>
                <a:latin typeface="Georgia"/>
                <a:cs typeface="Georgia"/>
              </a:rPr>
              <a:t>HPA</a:t>
            </a:r>
            <a:r>
              <a:rPr sz="3600" spc="75" dirty="0">
                <a:solidFill>
                  <a:srgbClr val="2E377E"/>
                </a:solidFill>
                <a:latin typeface="Georgia"/>
                <a:cs typeface="Georgia"/>
              </a:rPr>
              <a:t> </a:t>
            </a:r>
            <a:r>
              <a:rPr sz="3600" dirty="0">
                <a:solidFill>
                  <a:srgbClr val="2E377E"/>
                </a:solidFill>
                <a:latin typeface="Georgia"/>
                <a:cs typeface="Georgia"/>
              </a:rPr>
              <a:t>automatically</a:t>
            </a:r>
            <a:r>
              <a:rPr sz="3600" spc="75" dirty="0">
                <a:solidFill>
                  <a:srgbClr val="2E377E"/>
                </a:solidFill>
                <a:latin typeface="Georgia"/>
                <a:cs typeface="Georgia"/>
              </a:rPr>
              <a:t> </a:t>
            </a:r>
            <a:r>
              <a:rPr sz="3600" dirty="0">
                <a:solidFill>
                  <a:srgbClr val="2E377E"/>
                </a:solidFill>
                <a:latin typeface="Georgia"/>
                <a:cs typeface="Georgia"/>
              </a:rPr>
              <a:t>scale</a:t>
            </a:r>
            <a:r>
              <a:rPr sz="3600" spc="75" dirty="0">
                <a:solidFill>
                  <a:srgbClr val="2E377E"/>
                </a:solidFill>
                <a:latin typeface="Georgia"/>
                <a:cs typeface="Georgia"/>
              </a:rPr>
              <a:t> </a:t>
            </a:r>
            <a:r>
              <a:rPr sz="3600" spc="60" dirty="0">
                <a:solidFill>
                  <a:srgbClr val="2E377E"/>
                </a:solidFill>
                <a:latin typeface="Georgia"/>
                <a:cs typeface="Georgia"/>
              </a:rPr>
              <a:t>the</a:t>
            </a:r>
            <a:r>
              <a:rPr sz="3600" spc="80" dirty="0">
                <a:solidFill>
                  <a:srgbClr val="2E377E"/>
                </a:solidFill>
                <a:latin typeface="Georgia"/>
                <a:cs typeface="Georgia"/>
              </a:rPr>
              <a:t> </a:t>
            </a:r>
            <a:r>
              <a:rPr sz="3600" dirty="0">
                <a:solidFill>
                  <a:srgbClr val="2E377E"/>
                </a:solidFill>
                <a:latin typeface="Georgia"/>
                <a:cs typeface="Georgia"/>
              </a:rPr>
              <a:t>replicas</a:t>
            </a:r>
            <a:r>
              <a:rPr sz="3600" spc="75" dirty="0">
                <a:solidFill>
                  <a:srgbClr val="2E377E"/>
                </a:solidFill>
                <a:latin typeface="Georgia"/>
                <a:cs typeface="Georgia"/>
              </a:rPr>
              <a:t> </a:t>
            </a:r>
            <a:r>
              <a:rPr sz="3600" dirty="0">
                <a:solidFill>
                  <a:srgbClr val="2E377E"/>
                </a:solidFill>
                <a:latin typeface="Georgia"/>
                <a:cs typeface="Georgia"/>
              </a:rPr>
              <a:t>based</a:t>
            </a:r>
            <a:r>
              <a:rPr sz="3600" spc="75" dirty="0">
                <a:solidFill>
                  <a:srgbClr val="2E377E"/>
                </a:solidFill>
                <a:latin typeface="Georgia"/>
                <a:cs typeface="Georgia"/>
              </a:rPr>
              <a:t> </a:t>
            </a:r>
            <a:r>
              <a:rPr sz="3600" dirty="0">
                <a:solidFill>
                  <a:srgbClr val="2E377E"/>
                </a:solidFill>
                <a:latin typeface="Georgia"/>
                <a:cs typeface="Georgia"/>
              </a:rPr>
              <a:t>on</a:t>
            </a:r>
            <a:r>
              <a:rPr sz="3600" spc="75" dirty="0">
                <a:solidFill>
                  <a:srgbClr val="2E377E"/>
                </a:solidFill>
                <a:latin typeface="Georgia"/>
                <a:cs typeface="Georgia"/>
              </a:rPr>
              <a:t> </a:t>
            </a:r>
            <a:r>
              <a:rPr sz="3600" dirty="0">
                <a:solidFill>
                  <a:srgbClr val="2E377E"/>
                </a:solidFill>
                <a:latin typeface="Georgia"/>
                <a:cs typeface="Georgia"/>
              </a:rPr>
              <a:t>cpu</a:t>
            </a:r>
            <a:r>
              <a:rPr sz="3600" spc="80" dirty="0">
                <a:solidFill>
                  <a:srgbClr val="2E377E"/>
                </a:solidFill>
                <a:latin typeface="Georgia"/>
                <a:cs typeface="Georgia"/>
              </a:rPr>
              <a:t> </a:t>
            </a:r>
            <a:r>
              <a:rPr sz="3600" spc="40" dirty="0">
                <a:solidFill>
                  <a:srgbClr val="2E377E"/>
                </a:solidFill>
                <a:latin typeface="Georgia"/>
                <a:cs typeface="Georgia"/>
              </a:rPr>
              <a:t>metrics</a:t>
            </a:r>
            <a:endParaRPr sz="3600">
              <a:latin typeface="Georgia"/>
              <a:cs typeface="Georgi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5452" rIns="0" bIns="0" rtlCol="0">
            <a:spAutoFit/>
          </a:bodyPr>
          <a:lstStyle/>
          <a:p>
            <a:pPr marL="146685">
              <a:lnSpc>
                <a:spcPct val="100000"/>
              </a:lnSpc>
              <a:spcBef>
                <a:spcPts val="100"/>
              </a:spcBef>
            </a:pPr>
            <a:r>
              <a:rPr spc="-245" dirty="0">
                <a:solidFill>
                  <a:srgbClr val="FF3131"/>
                </a:solidFill>
              </a:rPr>
              <a:t>DEPLOYMENT</a:t>
            </a:r>
            <a:r>
              <a:rPr spc="-35" dirty="0">
                <a:solidFill>
                  <a:srgbClr val="FF3131"/>
                </a:solidFill>
              </a:rPr>
              <a:t> </a:t>
            </a:r>
            <a:r>
              <a:rPr spc="-200" dirty="0">
                <a:solidFill>
                  <a:srgbClr val="FF3131"/>
                </a:solidFill>
              </a:rPr>
              <a:t>SCALING:</a:t>
            </a:r>
          </a:p>
        </p:txBody>
      </p:sp>
      <p:sp>
        <p:nvSpPr>
          <p:cNvPr id="3" name="object 3"/>
          <p:cNvSpPr txBox="1"/>
          <p:nvPr/>
        </p:nvSpPr>
        <p:spPr>
          <a:xfrm>
            <a:off x="1534921" y="1803068"/>
            <a:ext cx="15823565" cy="6407150"/>
          </a:xfrm>
          <a:prstGeom prst="rect">
            <a:avLst/>
          </a:prstGeom>
        </p:spPr>
        <p:txBody>
          <a:bodyPr vert="horz" wrap="square" lIns="0" tIns="12700" rIns="0" bIns="0" rtlCol="0">
            <a:spAutoFit/>
          </a:bodyPr>
          <a:lstStyle/>
          <a:p>
            <a:pPr marL="12700" marR="3994785">
              <a:lnSpc>
                <a:spcPct val="116300"/>
              </a:lnSpc>
              <a:spcBef>
                <a:spcPts val="100"/>
              </a:spcBef>
            </a:pPr>
            <a:r>
              <a:rPr sz="3600" dirty="0">
                <a:solidFill>
                  <a:srgbClr val="2E377E"/>
                </a:solidFill>
                <a:latin typeface="Georgia"/>
                <a:cs typeface="Georgia"/>
              </a:rPr>
              <a:t>Now</a:t>
            </a:r>
            <a:r>
              <a:rPr sz="3600" spc="-35" dirty="0">
                <a:solidFill>
                  <a:srgbClr val="2E377E"/>
                </a:solidFill>
                <a:latin typeface="Georgia"/>
                <a:cs typeface="Georgia"/>
              </a:rPr>
              <a:t> </a:t>
            </a:r>
            <a:r>
              <a:rPr sz="3600" dirty="0">
                <a:solidFill>
                  <a:srgbClr val="2E377E"/>
                </a:solidFill>
                <a:latin typeface="Georgia"/>
                <a:cs typeface="Georgia"/>
              </a:rPr>
              <a:t>run</a:t>
            </a:r>
            <a:r>
              <a:rPr sz="3600" spc="-40" dirty="0">
                <a:solidFill>
                  <a:srgbClr val="2E377E"/>
                </a:solidFill>
                <a:latin typeface="Georgia"/>
                <a:cs typeface="Georgia"/>
              </a:rPr>
              <a:t> </a:t>
            </a:r>
            <a:r>
              <a:rPr sz="3600" spc="60" dirty="0">
                <a:solidFill>
                  <a:srgbClr val="2E377E"/>
                </a:solidFill>
                <a:latin typeface="Georgia"/>
                <a:cs typeface="Georgia"/>
              </a:rPr>
              <a:t>kubectl</a:t>
            </a:r>
            <a:r>
              <a:rPr sz="3600" spc="-35" dirty="0">
                <a:solidFill>
                  <a:srgbClr val="2E377E"/>
                </a:solidFill>
                <a:latin typeface="Georgia"/>
                <a:cs typeface="Georgia"/>
              </a:rPr>
              <a:t> </a:t>
            </a:r>
            <a:r>
              <a:rPr sz="3600" spc="75" dirty="0">
                <a:solidFill>
                  <a:srgbClr val="2E377E"/>
                </a:solidFill>
                <a:latin typeface="Georgia"/>
                <a:cs typeface="Georgia"/>
              </a:rPr>
              <a:t>get</a:t>
            </a:r>
            <a:r>
              <a:rPr sz="3600" spc="-35" dirty="0">
                <a:solidFill>
                  <a:srgbClr val="2E377E"/>
                </a:solidFill>
                <a:latin typeface="Georgia"/>
                <a:cs typeface="Georgia"/>
              </a:rPr>
              <a:t> </a:t>
            </a:r>
            <a:r>
              <a:rPr sz="3600" dirty="0">
                <a:solidFill>
                  <a:srgbClr val="2E377E"/>
                </a:solidFill>
                <a:latin typeface="Georgia"/>
                <a:cs typeface="Georgia"/>
              </a:rPr>
              <a:t>rs</a:t>
            </a:r>
            <a:r>
              <a:rPr sz="3600" spc="-35" dirty="0">
                <a:solidFill>
                  <a:srgbClr val="2E377E"/>
                </a:solidFill>
                <a:latin typeface="Georgia"/>
                <a:cs typeface="Georgia"/>
              </a:rPr>
              <a:t> </a:t>
            </a:r>
            <a:r>
              <a:rPr sz="3600" spc="-245" dirty="0">
                <a:solidFill>
                  <a:srgbClr val="2E377E"/>
                </a:solidFill>
                <a:latin typeface="Georgia"/>
                <a:cs typeface="Georgia"/>
              </a:rPr>
              <a:t>:</a:t>
            </a:r>
            <a:r>
              <a:rPr sz="3600" spc="-35" dirty="0">
                <a:solidFill>
                  <a:srgbClr val="2E377E"/>
                </a:solidFill>
                <a:latin typeface="Georgia"/>
                <a:cs typeface="Georgia"/>
              </a:rPr>
              <a:t> </a:t>
            </a:r>
            <a:r>
              <a:rPr sz="3600" spc="90" dirty="0">
                <a:solidFill>
                  <a:srgbClr val="2E377E"/>
                </a:solidFill>
                <a:latin typeface="Georgia"/>
                <a:cs typeface="Georgia"/>
              </a:rPr>
              <a:t>you</a:t>
            </a:r>
            <a:r>
              <a:rPr sz="3600" spc="-35" dirty="0">
                <a:solidFill>
                  <a:srgbClr val="2E377E"/>
                </a:solidFill>
                <a:latin typeface="Georgia"/>
                <a:cs typeface="Georgia"/>
              </a:rPr>
              <a:t> </a:t>
            </a:r>
            <a:r>
              <a:rPr sz="3600" spc="55" dirty="0">
                <a:solidFill>
                  <a:srgbClr val="2E377E"/>
                </a:solidFill>
                <a:latin typeface="Georgia"/>
                <a:cs typeface="Georgia"/>
              </a:rPr>
              <a:t>will</a:t>
            </a:r>
            <a:r>
              <a:rPr sz="3600" spc="-35" dirty="0">
                <a:solidFill>
                  <a:srgbClr val="2E377E"/>
                </a:solidFill>
                <a:latin typeface="Georgia"/>
                <a:cs typeface="Georgia"/>
              </a:rPr>
              <a:t> </a:t>
            </a:r>
            <a:r>
              <a:rPr sz="3600" spc="75" dirty="0">
                <a:solidFill>
                  <a:srgbClr val="2E377E"/>
                </a:solidFill>
                <a:latin typeface="Georgia"/>
                <a:cs typeface="Georgia"/>
              </a:rPr>
              <a:t>get</a:t>
            </a:r>
            <a:r>
              <a:rPr sz="3600" spc="-35"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spc="100" dirty="0">
                <a:solidFill>
                  <a:srgbClr val="2E377E"/>
                </a:solidFill>
                <a:latin typeface="Georgia"/>
                <a:cs typeface="Georgia"/>
              </a:rPr>
              <a:t>new</a:t>
            </a:r>
            <a:r>
              <a:rPr sz="3600" spc="-35" dirty="0">
                <a:solidFill>
                  <a:srgbClr val="2E377E"/>
                </a:solidFill>
                <a:latin typeface="Georgia"/>
                <a:cs typeface="Georgia"/>
              </a:rPr>
              <a:t> </a:t>
            </a:r>
            <a:r>
              <a:rPr sz="3600" spc="-10" dirty="0">
                <a:solidFill>
                  <a:srgbClr val="2E377E"/>
                </a:solidFill>
                <a:latin typeface="Georgia"/>
                <a:cs typeface="Georgia"/>
              </a:rPr>
              <a:t>deployment. </a:t>
            </a:r>
            <a:r>
              <a:rPr sz="3600" spc="60" dirty="0">
                <a:solidFill>
                  <a:srgbClr val="2E377E"/>
                </a:solidFill>
                <a:latin typeface="Georgia"/>
                <a:cs typeface="Georgia"/>
              </a:rPr>
              <a:t>kubectl</a:t>
            </a:r>
            <a:r>
              <a:rPr sz="3600" spc="-60" dirty="0">
                <a:solidFill>
                  <a:srgbClr val="2E377E"/>
                </a:solidFill>
                <a:latin typeface="Georgia"/>
                <a:cs typeface="Georgia"/>
              </a:rPr>
              <a:t> </a:t>
            </a:r>
            <a:r>
              <a:rPr sz="3600" spc="75" dirty="0">
                <a:solidFill>
                  <a:srgbClr val="2E377E"/>
                </a:solidFill>
                <a:latin typeface="Georgia"/>
                <a:cs typeface="Georgia"/>
              </a:rPr>
              <a:t>get</a:t>
            </a:r>
            <a:r>
              <a:rPr sz="3600" spc="-60" dirty="0">
                <a:solidFill>
                  <a:srgbClr val="2E377E"/>
                </a:solidFill>
                <a:latin typeface="Georgia"/>
                <a:cs typeface="Georgia"/>
              </a:rPr>
              <a:t> </a:t>
            </a:r>
            <a:r>
              <a:rPr sz="3600" spc="-25" dirty="0">
                <a:solidFill>
                  <a:srgbClr val="2E377E"/>
                </a:solidFill>
                <a:latin typeface="Georgia"/>
                <a:cs typeface="Georgia"/>
              </a:rPr>
              <a:t>pod</a:t>
            </a:r>
            <a:endParaRPr sz="3600">
              <a:latin typeface="Georgia"/>
              <a:cs typeface="Georgia"/>
            </a:endParaRPr>
          </a:p>
          <a:p>
            <a:pPr marL="12700" marR="1445260">
              <a:lnSpc>
                <a:spcPct val="116300"/>
              </a:lnSpc>
            </a:pPr>
            <a:r>
              <a:rPr sz="3600" dirty="0">
                <a:solidFill>
                  <a:srgbClr val="2E377E"/>
                </a:solidFill>
                <a:latin typeface="Georgia"/>
                <a:cs typeface="Georgia"/>
              </a:rPr>
              <a:t>You </a:t>
            </a:r>
            <a:r>
              <a:rPr sz="3600" spc="55" dirty="0">
                <a:solidFill>
                  <a:srgbClr val="2E377E"/>
                </a:solidFill>
                <a:latin typeface="Georgia"/>
                <a:cs typeface="Georgia"/>
              </a:rPr>
              <a:t>see</a:t>
            </a:r>
            <a:r>
              <a:rPr sz="3600" spc="5" dirty="0">
                <a:solidFill>
                  <a:srgbClr val="2E377E"/>
                </a:solidFill>
                <a:latin typeface="Georgia"/>
                <a:cs typeface="Georgia"/>
              </a:rPr>
              <a:t> </a:t>
            </a:r>
            <a:r>
              <a:rPr sz="3600" spc="55" dirty="0">
                <a:solidFill>
                  <a:srgbClr val="2E377E"/>
                </a:solidFill>
                <a:latin typeface="Georgia"/>
                <a:cs typeface="Georgia"/>
              </a:rPr>
              <a:t>that</a:t>
            </a:r>
            <a:r>
              <a:rPr sz="3600" spc="5" dirty="0">
                <a:solidFill>
                  <a:srgbClr val="2E377E"/>
                </a:solidFill>
                <a:latin typeface="Georgia"/>
                <a:cs typeface="Georgia"/>
              </a:rPr>
              <a:t> </a:t>
            </a:r>
            <a:r>
              <a:rPr sz="3600" spc="6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number</a:t>
            </a:r>
            <a:r>
              <a:rPr sz="3600" spc="5" dirty="0">
                <a:solidFill>
                  <a:srgbClr val="2E377E"/>
                </a:solidFill>
                <a:latin typeface="Georgia"/>
                <a:cs typeface="Georgia"/>
              </a:rPr>
              <a:t> </a:t>
            </a:r>
            <a:r>
              <a:rPr sz="3600" dirty="0">
                <a:solidFill>
                  <a:srgbClr val="2E377E"/>
                </a:solidFill>
                <a:latin typeface="Georgia"/>
                <a:cs typeface="Georgia"/>
              </a:rPr>
              <a:t>of</a:t>
            </a:r>
            <a:r>
              <a:rPr sz="3600" spc="5" dirty="0">
                <a:solidFill>
                  <a:srgbClr val="2E377E"/>
                </a:solidFill>
                <a:latin typeface="Georgia"/>
                <a:cs typeface="Georgia"/>
              </a:rPr>
              <a:t> </a:t>
            </a:r>
            <a:r>
              <a:rPr sz="3600" dirty="0">
                <a:solidFill>
                  <a:srgbClr val="2E377E"/>
                </a:solidFill>
                <a:latin typeface="Georgia"/>
                <a:cs typeface="Georgia"/>
              </a:rPr>
              <a:t>old</a:t>
            </a:r>
            <a:r>
              <a:rPr sz="3600" spc="5" dirty="0">
                <a:solidFill>
                  <a:srgbClr val="2E377E"/>
                </a:solidFill>
                <a:latin typeface="Georgia"/>
                <a:cs typeface="Georgia"/>
              </a:rPr>
              <a:t> </a:t>
            </a:r>
            <a:r>
              <a:rPr sz="3600" dirty="0">
                <a:solidFill>
                  <a:srgbClr val="2E377E"/>
                </a:solidFill>
                <a:latin typeface="Georgia"/>
                <a:cs typeface="Georgia"/>
              </a:rPr>
              <a:t>replicas</a:t>
            </a:r>
            <a:r>
              <a:rPr sz="3600" spc="5" dirty="0">
                <a:solidFill>
                  <a:srgbClr val="2E377E"/>
                </a:solidFill>
                <a:latin typeface="Georgia"/>
                <a:cs typeface="Georgia"/>
              </a:rPr>
              <a:t> </a:t>
            </a:r>
            <a:r>
              <a:rPr sz="3600" dirty="0">
                <a:solidFill>
                  <a:srgbClr val="2E377E"/>
                </a:solidFill>
                <a:latin typeface="Georgia"/>
                <a:cs typeface="Georgia"/>
              </a:rPr>
              <a:t>is</a:t>
            </a:r>
            <a:r>
              <a:rPr sz="3600" spc="5" dirty="0">
                <a:solidFill>
                  <a:srgbClr val="2E377E"/>
                </a:solidFill>
                <a:latin typeface="Georgia"/>
                <a:cs typeface="Georgia"/>
              </a:rPr>
              <a:t> </a:t>
            </a:r>
            <a:r>
              <a:rPr sz="3600" spc="-190" dirty="0">
                <a:solidFill>
                  <a:srgbClr val="2E377E"/>
                </a:solidFill>
                <a:latin typeface="Georgia"/>
                <a:cs typeface="Georgia"/>
              </a:rPr>
              <a:t>3,</a:t>
            </a:r>
            <a:r>
              <a:rPr sz="3600" spc="5" dirty="0">
                <a:solidFill>
                  <a:srgbClr val="2E377E"/>
                </a:solidFill>
                <a:latin typeface="Georgia"/>
                <a:cs typeface="Georgia"/>
              </a:rPr>
              <a:t> </a:t>
            </a:r>
            <a:r>
              <a:rPr sz="3600" dirty="0">
                <a:solidFill>
                  <a:srgbClr val="2E377E"/>
                </a:solidFill>
                <a:latin typeface="Georgia"/>
                <a:cs typeface="Georgia"/>
              </a:rPr>
              <a:t>and</a:t>
            </a:r>
            <a:r>
              <a:rPr sz="3600" spc="5" dirty="0">
                <a:solidFill>
                  <a:srgbClr val="2E377E"/>
                </a:solidFill>
                <a:latin typeface="Georgia"/>
                <a:cs typeface="Georgia"/>
              </a:rPr>
              <a:t> </a:t>
            </a:r>
            <a:r>
              <a:rPr sz="3600" spc="100" dirty="0">
                <a:solidFill>
                  <a:srgbClr val="2E377E"/>
                </a:solidFill>
                <a:latin typeface="Georgia"/>
                <a:cs typeface="Georgia"/>
              </a:rPr>
              <a:t>new</a:t>
            </a:r>
            <a:r>
              <a:rPr sz="3600" spc="5" dirty="0">
                <a:solidFill>
                  <a:srgbClr val="2E377E"/>
                </a:solidFill>
                <a:latin typeface="Georgia"/>
                <a:cs typeface="Georgia"/>
              </a:rPr>
              <a:t> </a:t>
            </a:r>
            <a:r>
              <a:rPr sz="3600" dirty="0">
                <a:solidFill>
                  <a:srgbClr val="2E377E"/>
                </a:solidFill>
                <a:latin typeface="Georgia"/>
                <a:cs typeface="Georgia"/>
              </a:rPr>
              <a:t>replicas</a:t>
            </a:r>
            <a:r>
              <a:rPr sz="3600" spc="5" dirty="0">
                <a:solidFill>
                  <a:srgbClr val="2E377E"/>
                </a:solidFill>
                <a:latin typeface="Georgia"/>
                <a:cs typeface="Georgia"/>
              </a:rPr>
              <a:t> </a:t>
            </a:r>
            <a:r>
              <a:rPr sz="3600" dirty="0">
                <a:solidFill>
                  <a:srgbClr val="2E377E"/>
                </a:solidFill>
                <a:latin typeface="Georgia"/>
                <a:cs typeface="Georgia"/>
              </a:rPr>
              <a:t>is</a:t>
            </a:r>
            <a:r>
              <a:rPr sz="3600" spc="5" dirty="0">
                <a:solidFill>
                  <a:srgbClr val="2E377E"/>
                </a:solidFill>
                <a:latin typeface="Georgia"/>
                <a:cs typeface="Georgia"/>
              </a:rPr>
              <a:t> </a:t>
            </a:r>
            <a:r>
              <a:rPr sz="3600" spc="-25" dirty="0">
                <a:solidFill>
                  <a:srgbClr val="2E377E"/>
                </a:solidFill>
                <a:latin typeface="Georgia"/>
                <a:cs typeface="Georgia"/>
              </a:rPr>
              <a:t>0.</a:t>
            </a:r>
            <a:r>
              <a:rPr sz="3600" spc="900" dirty="0">
                <a:solidFill>
                  <a:srgbClr val="2E377E"/>
                </a:solidFill>
                <a:latin typeface="Georgia"/>
                <a:cs typeface="Georgia"/>
              </a:rPr>
              <a:t> </a:t>
            </a:r>
            <a:r>
              <a:rPr sz="3600" spc="50" dirty="0">
                <a:solidFill>
                  <a:srgbClr val="2E377E"/>
                </a:solidFill>
                <a:latin typeface="Georgia"/>
                <a:cs typeface="Georgia"/>
              </a:rPr>
              <a:t>Next</a:t>
            </a:r>
            <a:r>
              <a:rPr sz="3600" spc="-15" dirty="0">
                <a:solidFill>
                  <a:srgbClr val="2E377E"/>
                </a:solidFill>
                <a:latin typeface="Georgia"/>
                <a:cs typeface="Georgia"/>
              </a:rPr>
              <a:t> </a:t>
            </a:r>
            <a:r>
              <a:rPr sz="3600" spc="55" dirty="0">
                <a:solidFill>
                  <a:srgbClr val="2E377E"/>
                </a:solidFill>
                <a:latin typeface="Georgia"/>
                <a:cs typeface="Georgia"/>
              </a:rPr>
              <a:t>time</a:t>
            </a:r>
            <a:r>
              <a:rPr sz="3600" spc="-15"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spc="80" dirty="0">
                <a:solidFill>
                  <a:srgbClr val="2E377E"/>
                </a:solidFill>
                <a:latin typeface="Georgia"/>
                <a:cs typeface="Georgia"/>
              </a:rPr>
              <a:t>want</a:t>
            </a:r>
            <a:r>
              <a:rPr sz="3600" spc="-15"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update</a:t>
            </a:r>
            <a:r>
              <a:rPr sz="3600" spc="-10" dirty="0">
                <a:solidFill>
                  <a:srgbClr val="2E377E"/>
                </a:solidFill>
                <a:latin typeface="Georgia"/>
                <a:cs typeface="Georgia"/>
              </a:rPr>
              <a:t> </a:t>
            </a:r>
            <a:r>
              <a:rPr sz="3600" spc="55" dirty="0">
                <a:solidFill>
                  <a:srgbClr val="2E377E"/>
                </a:solidFill>
                <a:latin typeface="Georgia"/>
                <a:cs typeface="Georgia"/>
              </a:rPr>
              <a:t>these</a:t>
            </a:r>
            <a:r>
              <a:rPr sz="3600" spc="-15" dirty="0">
                <a:solidFill>
                  <a:srgbClr val="2E377E"/>
                </a:solidFill>
                <a:latin typeface="Georgia"/>
                <a:cs typeface="Georgia"/>
              </a:rPr>
              <a:t> </a:t>
            </a:r>
            <a:r>
              <a:rPr sz="3600" dirty="0">
                <a:solidFill>
                  <a:srgbClr val="2E377E"/>
                </a:solidFill>
                <a:latin typeface="Georgia"/>
                <a:cs typeface="Georgia"/>
              </a:rPr>
              <a:t>Pods,</a:t>
            </a:r>
            <a:r>
              <a:rPr sz="3600" spc="-15"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spc="55" dirty="0">
                <a:solidFill>
                  <a:srgbClr val="2E377E"/>
                </a:solidFill>
                <a:latin typeface="Georgia"/>
                <a:cs typeface="Georgia"/>
              </a:rPr>
              <a:t>only</a:t>
            </a:r>
            <a:r>
              <a:rPr sz="3600" spc="-15" dirty="0">
                <a:solidFill>
                  <a:srgbClr val="2E377E"/>
                </a:solidFill>
                <a:latin typeface="Georgia"/>
                <a:cs typeface="Georgia"/>
              </a:rPr>
              <a:t> </a:t>
            </a:r>
            <a:r>
              <a:rPr sz="3600" dirty="0">
                <a:solidFill>
                  <a:srgbClr val="2E377E"/>
                </a:solidFill>
                <a:latin typeface="Georgia"/>
                <a:cs typeface="Georgia"/>
              </a:rPr>
              <a:t>need</a:t>
            </a:r>
            <a:r>
              <a:rPr sz="3600" spc="-15"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update</a:t>
            </a:r>
            <a:r>
              <a:rPr sz="3600" spc="-15" dirty="0">
                <a:solidFill>
                  <a:srgbClr val="2E377E"/>
                </a:solidFill>
                <a:latin typeface="Georgia"/>
                <a:cs typeface="Georgia"/>
              </a:rPr>
              <a:t> </a:t>
            </a:r>
            <a:r>
              <a:rPr sz="3600" spc="35" dirty="0">
                <a:solidFill>
                  <a:srgbClr val="2E377E"/>
                </a:solidFill>
                <a:latin typeface="Georgia"/>
                <a:cs typeface="Georgia"/>
              </a:rPr>
              <a:t>the </a:t>
            </a:r>
            <a:r>
              <a:rPr sz="3600" dirty="0">
                <a:solidFill>
                  <a:srgbClr val="2E377E"/>
                </a:solidFill>
                <a:latin typeface="Georgia"/>
                <a:cs typeface="Georgia"/>
              </a:rPr>
              <a:t>Deployment's</a:t>
            </a:r>
            <a:r>
              <a:rPr sz="3600" spc="65" dirty="0">
                <a:solidFill>
                  <a:srgbClr val="2E377E"/>
                </a:solidFill>
                <a:latin typeface="Georgia"/>
                <a:cs typeface="Georgia"/>
              </a:rPr>
              <a:t> </a:t>
            </a:r>
            <a:r>
              <a:rPr sz="3600" dirty="0">
                <a:solidFill>
                  <a:srgbClr val="2E377E"/>
                </a:solidFill>
                <a:latin typeface="Georgia"/>
                <a:cs typeface="Georgia"/>
              </a:rPr>
              <a:t>Pod</a:t>
            </a:r>
            <a:r>
              <a:rPr sz="3600" spc="65" dirty="0">
                <a:solidFill>
                  <a:srgbClr val="2E377E"/>
                </a:solidFill>
                <a:latin typeface="Georgia"/>
                <a:cs typeface="Georgia"/>
              </a:rPr>
              <a:t> </a:t>
            </a:r>
            <a:r>
              <a:rPr sz="3600" spc="50" dirty="0">
                <a:solidFill>
                  <a:srgbClr val="2E377E"/>
                </a:solidFill>
                <a:latin typeface="Georgia"/>
                <a:cs typeface="Georgia"/>
              </a:rPr>
              <a:t>template</a:t>
            </a:r>
            <a:r>
              <a:rPr sz="3600" spc="65" dirty="0">
                <a:solidFill>
                  <a:srgbClr val="2E377E"/>
                </a:solidFill>
                <a:latin typeface="Georgia"/>
                <a:cs typeface="Georgia"/>
              </a:rPr>
              <a:t> </a:t>
            </a:r>
            <a:r>
              <a:rPr sz="3600" spc="-10" dirty="0">
                <a:solidFill>
                  <a:srgbClr val="2E377E"/>
                </a:solidFill>
                <a:latin typeface="Georgia"/>
                <a:cs typeface="Georgia"/>
              </a:rPr>
              <a:t>again.</a:t>
            </a:r>
            <a:endParaRPr sz="3600">
              <a:latin typeface="Georgia"/>
              <a:cs typeface="Georgia"/>
            </a:endParaRPr>
          </a:p>
          <a:p>
            <a:pPr marL="12700" marR="5080">
              <a:lnSpc>
                <a:spcPct val="116300"/>
              </a:lnSpc>
            </a:pPr>
            <a:r>
              <a:rPr sz="3600" dirty="0">
                <a:solidFill>
                  <a:srgbClr val="2E377E"/>
                </a:solidFill>
                <a:latin typeface="Georgia"/>
                <a:cs typeface="Georgia"/>
              </a:rPr>
              <a:t>While updating pods, </a:t>
            </a:r>
            <a:r>
              <a:rPr sz="3600" spc="-180" dirty="0">
                <a:solidFill>
                  <a:srgbClr val="2E377E"/>
                </a:solidFill>
                <a:latin typeface="Georgia"/>
                <a:cs typeface="Georgia"/>
              </a:rPr>
              <a:t>75%</a:t>
            </a:r>
            <a:r>
              <a:rPr sz="3600" dirty="0">
                <a:solidFill>
                  <a:srgbClr val="2E377E"/>
                </a:solidFill>
                <a:latin typeface="Georgia"/>
                <a:cs typeface="Georgia"/>
              </a:rPr>
              <a:t> </a:t>
            </a:r>
            <a:r>
              <a:rPr sz="3600" spc="55" dirty="0">
                <a:solidFill>
                  <a:srgbClr val="2E377E"/>
                </a:solidFill>
                <a:latin typeface="Georgia"/>
                <a:cs typeface="Georgia"/>
              </a:rPr>
              <a:t>will</a:t>
            </a:r>
            <a:r>
              <a:rPr sz="3600" dirty="0">
                <a:solidFill>
                  <a:srgbClr val="2E377E"/>
                </a:solidFill>
                <a:latin typeface="Georgia"/>
                <a:cs typeface="Georgia"/>
              </a:rPr>
              <a:t> be available and </a:t>
            </a:r>
            <a:r>
              <a:rPr sz="3600" spc="-170" dirty="0">
                <a:solidFill>
                  <a:srgbClr val="2E377E"/>
                </a:solidFill>
                <a:latin typeface="Georgia"/>
                <a:cs typeface="Georgia"/>
              </a:rPr>
              <a:t>25%</a:t>
            </a:r>
            <a:r>
              <a:rPr sz="3600" dirty="0">
                <a:solidFill>
                  <a:srgbClr val="2E377E"/>
                </a:solidFill>
                <a:latin typeface="Georgia"/>
                <a:cs typeface="Georgia"/>
              </a:rPr>
              <a:t> </a:t>
            </a:r>
            <a:r>
              <a:rPr sz="3600" spc="55" dirty="0">
                <a:solidFill>
                  <a:srgbClr val="2E377E"/>
                </a:solidFill>
                <a:latin typeface="Georgia"/>
                <a:cs typeface="Georgia"/>
              </a:rPr>
              <a:t>will</a:t>
            </a:r>
            <a:r>
              <a:rPr sz="3600" dirty="0">
                <a:solidFill>
                  <a:srgbClr val="2E377E"/>
                </a:solidFill>
                <a:latin typeface="Georgia"/>
                <a:cs typeface="Georgia"/>
              </a:rPr>
              <a:t> be</a:t>
            </a:r>
            <a:r>
              <a:rPr sz="3600" spc="5" dirty="0">
                <a:solidFill>
                  <a:srgbClr val="2E377E"/>
                </a:solidFill>
                <a:latin typeface="Georgia"/>
                <a:cs typeface="Georgia"/>
              </a:rPr>
              <a:t> </a:t>
            </a:r>
            <a:r>
              <a:rPr sz="3600" dirty="0">
                <a:solidFill>
                  <a:srgbClr val="2E377E"/>
                </a:solidFill>
                <a:latin typeface="Georgia"/>
                <a:cs typeface="Georgia"/>
              </a:rPr>
              <a:t>unavailable </a:t>
            </a:r>
            <a:r>
              <a:rPr sz="3600" spc="-10" dirty="0">
                <a:solidFill>
                  <a:srgbClr val="2E377E"/>
                </a:solidFill>
                <a:latin typeface="Georgia"/>
                <a:cs typeface="Georgia"/>
              </a:rPr>
              <a:t>during updates</a:t>
            </a:r>
            <a:endParaRPr sz="3600">
              <a:latin typeface="Georgia"/>
              <a:cs typeface="Georgia"/>
            </a:endParaRPr>
          </a:p>
          <a:p>
            <a:pPr>
              <a:lnSpc>
                <a:spcPct val="100000"/>
              </a:lnSpc>
              <a:spcBef>
                <a:spcPts val="935"/>
              </a:spcBef>
            </a:pPr>
            <a:endParaRPr sz="3600">
              <a:latin typeface="Georgia"/>
              <a:cs typeface="Georgia"/>
            </a:endParaRPr>
          </a:p>
          <a:p>
            <a:pPr marL="12700" marR="5080">
              <a:lnSpc>
                <a:spcPct val="116300"/>
              </a:lnSpc>
            </a:pPr>
            <a:r>
              <a:rPr sz="3600" dirty="0">
                <a:solidFill>
                  <a:srgbClr val="2E377E"/>
                </a:solidFill>
                <a:latin typeface="Georgia"/>
                <a:cs typeface="Georgia"/>
              </a:rPr>
              <a:t>Lets</a:t>
            </a:r>
            <a:r>
              <a:rPr sz="3600" spc="65" dirty="0">
                <a:solidFill>
                  <a:srgbClr val="2E377E"/>
                </a:solidFill>
                <a:latin typeface="Georgia"/>
                <a:cs typeface="Georgia"/>
              </a:rPr>
              <a:t> </a:t>
            </a:r>
            <a:r>
              <a:rPr sz="3600" dirty="0">
                <a:solidFill>
                  <a:srgbClr val="2E377E"/>
                </a:solidFill>
                <a:latin typeface="Georgia"/>
                <a:cs typeface="Georgia"/>
              </a:rPr>
              <a:t>assume,</a:t>
            </a:r>
            <a:r>
              <a:rPr sz="3600" spc="65" dirty="0">
                <a:solidFill>
                  <a:srgbClr val="2E377E"/>
                </a:solidFill>
                <a:latin typeface="Georgia"/>
                <a:cs typeface="Georgia"/>
              </a:rPr>
              <a:t> </a:t>
            </a:r>
            <a:r>
              <a:rPr sz="3600" dirty="0">
                <a:solidFill>
                  <a:srgbClr val="2E377E"/>
                </a:solidFill>
                <a:latin typeface="Georgia"/>
                <a:cs typeface="Georgia"/>
              </a:rPr>
              <a:t>if</a:t>
            </a:r>
            <a:r>
              <a:rPr sz="3600" spc="70" dirty="0">
                <a:solidFill>
                  <a:srgbClr val="2E377E"/>
                </a:solidFill>
                <a:latin typeface="Georgia"/>
                <a:cs typeface="Georgia"/>
              </a:rPr>
              <a:t> </a:t>
            </a:r>
            <a:r>
              <a:rPr sz="3600" spc="140" dirty="0">
                <a:solidFill>
                  <a:srgbClr val="2E377E"/>
                </a:solidFill>
                <a:latin typeface="Georgia"/>
                <a:cs typeface="Georgia"/>
              </a:rPr>
              <a:t>we</a:t>
            </a:r>
            <a:r>
              <a:rPr sz="3600" spc="65" dirty="0">
                <a:solidFill>
                  <a:srgbClr val="2E377E"/>
                </a:solidFill>
                <a:latin typeface="Georgia"/>
                <a:cs typeface="Georgia"/>
              </a:rPr>
              <a:t> </a:t>
            </a:r>
            <a:r>
              <a:rPr sz="3600" spc="55" dirty="0">
                <a:solidFill>
                  <a:srgbClr val="2E377E"/>
                </a:solidFill>
                <a:latin typeface="Georgia"/>
                <a:cs typeface="Georgia"/>
              </a:rPr>
              <a:t>have</a:t>
            </a:r>
            <a:r>
              <a:rPr sz="3600" spc="70" dirty="0">
                <a:solidFill>
                  <a:srgbClr val="2E377E"/>
                </a:solidFill>
                <a:latin typeface="Georgia"/>
                <a:cs typeface="Georgia"/>
              </a:rPr>
              <a:t> </a:t>
            </a:r>
            <a:r>
              <a:rPr sz="3600" spc="-265" dirty="0">
                <a:solidFill>
                  <a:srgbClr val="2E377E"/>
                </a:solidFill>
                <a:latin typeface="Georgia"/>
                <a:cs typeface="Georgia"/>
              </a:rPr>
              <a:t>4</a:t>
            </a:r>
            <a:r>
              <a:rPr sz="3600" spc="65" dirty="0">
                <a:solidFill>
                  <a:srgbClr val="2E377E"/>
                </a:solidFill>
                <a:latin typeface="Georgia"/>
                <a:cs typeface="Georgia"/>
              </a:rPr>
              <a:t> </a:t>
            </a:r>
            <a:r>
              <a:rPr sz="3600" dirty="0">
                <a:solidFill>
                  <a:srgbClr val="2E377E"/>
                </a:solidFill>
                <a:latin typeface="Georgia"/>
                <a:cs typeface="Georgia"/>
              </a:rPr>
              <a:t>pods,</a:t>
            </a:r>
            <a:r>
              <a:rPr sz="3600" spc="70" dirty="0">
                <a:solidFill>
                  <a:srgbClr val="2E377E"/>
                </a:solidFill>
                <a:latin typeface="Georgia"/>
                <a:cs typeface="Georgia"/>
              </a:rPr>
              <a:t> </a:t>
            </a:r>
            <a:r>
              <a:rPr sz="3600" spc="55" dirty="0">
                <a:solidFill>
                  <a:srgbClr val="2E377E"/>
                </a:solidFill>
                <a:latin typeface="Georgia"/>
                <a:cs typeface="Georgia"/>
              </a:rPr>
              <a:t>while</a:t>
            </a:r>
            <a:r>
              <a:rPr sz="3600" spc="65" dirty="0">
                <a:solidFill>
                  <a:srgbClr val="2E377E"/>
                </a:solidFill>
                <a:latin typeface="Georgia"/>
                <a:cs typeface="Georgia"/>
              </a:rPr>
              <a:t> </a:t>
            </a:r>
            <a:r>
              <a:rPr sz="3600" spc="70" dirty="0">
                <a:solidFill>
                  <a:srgbClr val="2E377E"/>
                </a:solidFill>
                <a:latin typeface="Georgia"/>
                <a:cs typeface="Georgia"/>
              </a:rPr>
              <a:t>trying</a:t>
            </a:r>
            <a:r>
              <a:rPr sz="3600" spc="65" dirty="0">
                <a:solidFill>
                  <a:srgbClr val="2E377E"/>
                </a:solidFill>
                <a:latin typeface="Georgia"/>
                <a:cs typeface="Georgia"/>
              </a:rPr>
              <a:t> </a:t>
            </a:r>
            <a:r>
              <a:rPr sz="3600" spc="70" dirty="0">
                <a:solidFill>
                  <a:srgbClr val="2E377E"/>
                </a:solidFill>
                <a:latin typeface="Georgia"/>
                <a:cs typeface="Georgia"/>
              </a:rPr>
              <a:t>to </a:t>
            </a:r>
            <a:r>
              <a:rPr sz="3600" dirty="0">
                <a:solidFill>
                  <a:srgbClr val="2E377E"/>
                </a:solidFill>
                <a:latin typeface="Georgia"/>
                <a:cs typeface="Georgia"/>
              </a:rPr>
              <a:t>update</a:t>
            </a:r>
            <a:r>
              <a:rPr sz="3600" spc="65" dirty="0">
                <a:solidFill>
                  <a:srgbClr val="2E377E"/>
                </a:solidFill>
                <a:latin typeface="Georgia"/>
                <a:cs typeface="Georgia"/>
              </a:rPr>
              <a:t> </a:t>
            </a:r>
            <a:r>
              <a:rPr sz="3600" spc="55" dirty="0">
                <a:solidFill>
                  <a:srgbClr val="2E377E"/>
                </a:solidFill>
                <a:latin typeface="Georgia"/>
                <a:cs typeface="Georgia"/>
              </a:rPr>
              <a:t>them</a:t>
            </a:r>
            <a:r>
              <a:rPr sz="3600" spc="70" dirty="0">
                <a:solidFill>
                  <a:srgbClr val="2E377E"/>
                </a:solidFill>
                <a:latin typeface="Georgia"/>
                <a:cs typeface="Georgia"/>
              </a:rPr>
              <a:t> </a:t>
            </a:r>
            <a:r>
              <a:rPr sz="3600" dirty="0">
                <a:solidFill>
                  <a:srgbClr val="2E377E"/>
                </a:solidFill>
                <a:latin typeface="Georgia"/>
                <a:cs typeface="Georgia"/>
              </a:rPr>
              <a:t>atleast</a:t>
            </a:r>
            <a:r>
              <a:rPr sz="3600" spc="65" dirty="0">
                <a:solidFill>
                  <a:srgbClr val="2E377E"/>
                </a:solidFill>
                <a:latin typeface="Georgia"/>
                <a:cs typeface="Georgia"/>
              </a:rPr>
              <a:t> </a:t>
            </a:r>
            <a:r>
              <a:rPr sz="3600" spc="-245" dirty="0">
                <a:solidFill>
                  <a:srgbClr val="2E377E"/>
                </a:solidFill>
                <a:latin typeface="Georgia"/>
                <a:cs typeface="Georgia"/>
              </a:rPr>
              <a:t>3</a:t>
            </a:r>
            <a:r>
              <a:rPr sz="3600" spc="70" dirty="0">
                <a:solidFill>
                  <a:srgbClr val="2E377E"/>
                </a:solidFill>
                <a:latin typeface="Georgia"/>
                <a:cs typeface="Georgia"/>
              </a:rPr>
              <a:t> </a:t>
            </a:r>
            <a:r>
              <a:rPr sz="3600" dirty="0">
                <a:solidFill>
                  <a:srgbClr val="2E377E"/>
                </a:solidFill>
                <a:latin typeface="Georgia"/>
                <a:cs typeface="Georgia"/>
              </a:rPr>
              <a:t>of</a:t>
            </a:r>
            <a:r>
              <a:rPr sz="3600" spc="65" dirty="0">
                <a:solidFill>
                  <a:srgbClr val="2E377E"/>
                </a:solidFill>
                <a:latin typeface="Georgia"/>
                <a:cs typeface="Georgia"/>
              </a:rPr>
              <a:t> </a:t>
            </a:r>
            <a:r>
              <a:rPr sz="3600" spc="35" dirty="0">
                <a:solidFill>
                  <a:srgbClr val="2E377E"/>
                </a:solidFill>
                <a:latin typeface="Georgia"/>
                <a:cs typeface="Georgia"/>
              </a:rPr>
              <a:t>them </a:t>
            </a:r>
            <a:r>
              <a:rPr sz="3600" dirty="0">
                <a:solidFill>
                  <a:srgbClr val="2E377E"/>
                </a:solidFill>
                <a:latin typeface="Georgia"/>
                <a:cs typeface="Georgia"/>
              </a:rPr>
              <a:t>are</a:t>
            </a:r>
            <a:r>
              <a:rPr sz="3600" spc="25" dirty="0">
                <a:solidFill>
                  <a:srgbClr val="2E377E"/>
                </a:solidFill>
                <a:latin typeface="Georgia"/>
                <a:cs typeface="Georgia"/>
              </a:rPr>
              <a:t> </a:t>
            </a:r>
            <a:r>
              <a:rPr sz="3600" dirty="0">
                <a:solidFill>
                  <a:srgbClr val="2E377E"/>
                </a:solidFill>
                <a:latin typeface="Georgia"/>
                <a:cs typeface="Georgia"/>
              </a:rPr>
              <a:t>available</a:t>
            </a:r>
            <a:r>
              <a:rPr sz="3600" spc="25" dirty="0">
                <a:solidFill>
                  <a:srgbClr val="2E377E"/>
                </a:solidFill>
                <a:latin typeface="Georgia"/>
                <a:cs typeface="Georgia"/>
              </a:rPr>
              <a:t> </a:t>
            </a:r>
            <a:r>
              <a:rPr sz="3600" dirty="0">
                <a:solidFill>
                  <a:srgbClr val="2E377E"/>
                </a:solidFill>
                <a:latin typeface="Georgia"/>
                <a:cs typeface="Georgia"/>
              </a:rPr>
              <a:t>and</a:t>
            </a:r>
            <a:r>
              <a:rPr sz="3600" spc="25" dirty="0">
                <a:solidFill>
                  <a:srgbClr val="2E377E"/>
                </a:solidFill>
                <a:latin typeface="Georgia"/>
                <a:cs typeface="Georgia"/>
              </a:rPr>
              <a:t> </a:t>
            </a:r>
            <a:r>
              <a:rPr sz="3600" dirty="0">
                <a:solidFill>
                  <a:srgbClr val="2E377E"/>
                </a:solidFill>
                <a:latin typeface="Georgia"/>
                <a:cs typeface="Georgia"/>
              </a:rPr>
              <a:t>1</a:t>
            </a:r>
            <a:r>
              <a:rPr sz="3600" spc="25" dirty="0">
                <a:solidFill>
                  <a:srgbClr val="2E377E"/>
                </a:solidFill>
                <a:latin typeface="Georgia"/>
                <a:cs typeface="Georgia"/>
              </a:rPr>
              <a:t> </a:t>
            </a:r>
            <a:r>
              <a:rPr sz="3600" dirty="0">
                <a:solidFill>
                  <a:srgbClr val="2E377E"/>
                </a:solidFill>
                <a:latin typeface="Georgia"/>
                <a:cs typeface="Georgia"/>
              </a:rPr>
              <a:t>should</a:t>
            </a:r>
            <a:r>
              <a:rPr sz="3600" spc="25" dirty="0">
                <a:solidFill>
                  <a:srgbClr val="2E377E"/>
                </a:solidFill>
                <a:latin typeface="Georgia"/>
                <a:cs typeface="Georgia"/>
              </a:rPr>
              <a:t> </a:t>
            </a:r>
            <a:r>
              <a:rPr sz="3600" dirty="0">
                <a:solidFill>
                  <a:srgbClr val="2E377E"/>
                </a:solidFill>
                <a:latin typeface="Georgia"/>
                <a:cs typeface="Georgia"/>
              </a:rPr>
              <a:t>be</a:t>
            </a:r>
            <a:r>
              <a:rPr sz="3600" spc="30" dirty="0">
                <a:solidFill>
                  <a:srgbClr val="2E377E"/>
                </a:solidFill>
                <a:latin typeface="Georgia"/>
                <a:cs typeface="Georgia"/>
              </a:rPr>
              <a:t> </a:t>
            </a:r>
            <a:r>
              <a:rPr sz="3600" dirty="0">
                <a:solidFill>
                  <a:srgbClr val="2E377E"/>
                </a:solidFill>
                <a:latin typeface="Georgia"/>
                <a:cs typeface="Georgia"/>
              </a:rPr>
              <a:t>updated</a:t>
            </a:r>
            <a:r>
              <a:rPr sz="3600" spc="25" dirty="0">
                <a:solidFill>
                  <a:srgbClr val="2E377E"/>
                </a:solidFill>
                <a:latin typeface="Georgia"/>
                <a:cs typeface="Georgia"/>
              </a:rPr>
              <a:t> </a:t>
            </a:r>
            <a:r>
              <a:rPr sz="3600" dirty="0">
                <a:solidFill>
                  <a:srgbClr val="2E377E"/>
                </a:solidFill>
                <a:latin typeface="Georgia"/>
                <a:cs typeface="Georgia"/>
              </a:rPr>
              <a:t>in</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mean</a:t>
            </a:r>
            <a:r>
              <a:rPr sz="3600" spc="25" dirty="0">
                <a:solidFill>
                  <a:srgbClr val="2E377E"/>
                </a:solidFill>
                <a:latin typeface="Georgia"/>
                <a:cs typeface="Georgia"/>
              </a:rPr>
              <a:t> </a:t>
            </a:r>
            <a:r>
              <a:rPr sz="3600" spc="-10" dirty="0">
                <a:solidFill>
                  <a:srgbClr val="2E377E"/>
                </a:solidFill>
                <a:latin typeface="Georgia"/>
                <a:cs typeface="Georgia"/>
              </a:rPr>
              <a:t>time.</a:t>
            </a:r>
            <a:endParaRPr sz="3600">
              <a:latin typeface="Georgia"/>
              <a:cs typeface="Georgi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8494" y="557275"/>
            <a:ext cx="4428490" cy="787400"/>
          </a:xfrm>
          <a:prstGeom prst="rect">
            <a:avLst/>
          </a:prstGeom>
        </p:spPr>
        <p:txBody>
          <a:bodyPr vert="horz" wrap="square" lIns="0" tIns="12700" rIns="0" bIns="0" rtlCol="0">
            <a:spAutoFit/>
          </a:bodyPr>
          <a:lstStyle/>
          <a:p>
            <a:pPr marL="12700">
              <a:lnSpc>
                <a:spcPct val="100000"/>
              </a:lnSpc>
              <a:spcBef>
                <a:spcPts val="100"/>
              </a:spcBef>
            </a:pPr>
            <a:r>
              <a:rPr dirty="0">
                <a:solidFill>
                  <a:srgbClr val="FF3131"/>
                </a:solidFill>
              </a:rPr>
              <a:t>DAEMON-</a:t>
            </a:r>
            <a:r>
              <a:rPr spc="-350" dirty="0">
                <a:solidFill>
                  <a:srgbClr val="FF3131"/>
                </a:solidFill>
              </a:rPr>
              <a:t>SET:</a:t>
            </a:r>
          </a:p>
        </p:txBody>
      </p:sp>
      <p:pic>
        <p:nvPicPr>
          <p:cNvPr id="3" name="object 3"/>
          <p:cNvPicPr/>
          <p:nvPr/>
        </p:nvPicPr>
        <p:blipFill>
          <a:blip r:embed="rId2" cstate="print"/>
          <a:stretch>
            <a:fillRect/>
          </a:stretch>
        </p:blipFill>
        <p:spPr>
          <a:xfrm>
            <a:off x="1246687" y="1853669"/>
            <a:ext cx="133350" cy="133349"/>
          </a:xfrm>
          <a:prstGeom prst="rect">
            <a:avLst/>
          </a:prstGeom>
        </p:spPr>
      </p:pic>
      <p:sp>
        <p:nvSpPr>
          <p:cNvPr id="4" name="object 4"/>
          <p:cNvSpPr txBox="1"/>
          <p:nvPr/>
        </p:nvSpPr>
        <p:spPr>
          <a:xfrm>
            <a:off x="1563493" y="1494259"/>
            <a:ext cx="15934055" cy="768350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It</a:t>
            </a:r>
            <a:r>
              <a:rPr sz="3600" spc="-25" dirty="0">
                <a:solidFill>
                  <a:srgbClr val="2E377E"/>
                </a:solidFill>
                <a:latin typeface="Georgia"/>
                <a:cs typeface="Georgia"/>
              </a:rPr>
              <a:t> </a:t>
            </a:r>
            <a:r>
              <a:rPr sz="3600" dirty="0">
                <a:solidFill>
                  <a:srgbClr val="2E377E"/>
                </a:solidFill>
                <a:latin typeface="Georgia"/>
                <a:cs typeface="Georgia"/>
              </a:rPr>
              <a:t>is</a:t>
            </a:r>
            <a:r>
              <a:rPr sz="3600" spc="-25" dirty="0">
                <a:solidFill>
                  <a:srgbClr val="2E377E"/>
                </a:solidFill>
                <a:latin typeface="Georgia"/>
                <a:cs typeface="Georgia"/>
              </a:rPr>
              <a:t> </a:t>
            </a:r>
            <a:r>
              <a:rPr sz="3600" dirty="0">
                <a:solidFill>
                  <a:srgbClr val="2E377E"/>
                </a:solidFill>
                <a:latin typeface="Georgia"/>
                <a:cs typeface="Georgia"/>
              </a:rPr>
              <a:t>used</a:t>
            </a:r>
            <a:r>
              <a:rPr sz="3600" spc="-25" dirty="0">
                <a:solidFill>
                  <a:srgbClr val="2E377E"/>
                </a:solidFill>
                <a:latin typeface="Georgia"/>
                <a:cs typeface="Georgia"/>
              </a:rPr>
              <a:t> </a:t>
            </a:r>
            <a:r>
              <a:rPr sz="3600" spc="7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run</a:t>
            </a:r>
            <a:r>
              <a:rPr sz="3600" spc="-2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spc="75" dirty="0">
                <a:solidFill>
                  <a:srgbClr val="2E377E"/>
                </a:solidFill>
                <a:latin typeface="Georgia"/>
                <a:cs typeface="Georgia"/>
              </a:rPr>
              <a:t>copy</a:t>
            </a:r>
            <a:r>
              <a:rPr sz="3600" spc="-25"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spc="7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each</a:t>
            </a:r>
            <a:r>
              <a:rPr sz="3600" spc="-20" dirty="0">
                <a:solidFill>
                  <a:srgbClr val="2E377E"/>
                </a:solidFill>
                <a:latin typeface="Georgia"/>
                <a:cs typeface="Georgia"/>
              </a:rPr>
              <a:t> </a:t>
            </a:r>
            <a:r>
              <a:rPr sz="3600" spc="80" dirty="0">
                <a:solidFill>
                  <a:srgbClr val="2E377E"/>
                </a:solidFill>
                <a:latin typeface="Georgia"/>
                <a:cs typeface="Georgia"/>
              </a:rPr>
              <a:t>worker</a:t>
            </a:r>
            <a:r>
              <a:rPr sz="3600" spc="-25" dirty="0">
                <a:solidFill>
                  <a:srgbClr val="2E377E"/>
                </a:solidFill>
                <a:latin typeface="Georgia"/>
                <a:cs typeface="Georgia"/>
              </a:rPr>
              <a:t> </a:t>
            </a:r>
            <a:r>
              <a:rPr sz="3600" spc="-10" dirty="0">
                <a:solidFill>
                  <a:srgbClr val="2E377E"/>
                </a:solidFill>
                <a:latin typeface="Georgia"/>
                <a:cs typeface="Georgia"/>
              </a:rPr>
              <a:t>node.</a:t>
            </a:r>
            <a:endParaRPr sz="3600">
              <a:latin typeface="Georgia"/>
              <a:cs typeface="Georgia"/>
            </a:endParaRPr>
          </a:p>
          <a:p>
            <a:pPr marL="12700" marR="31115">
              <a:lnSpc>
                <a:spcPct val="116300"/>
              </a:lnSpc>
            </a:pPr>
            <a:r>
              <a:rPr sz="3600" dirty="0">
                <a:solidFill>
                  <a:srgbClr val="2E377E"/>
                </a:solidFill>
                <a:latin typeface="Georgia"/>
                <a:cs typeface="Georgia"/>
              </a:rPr>
              <a:t>It</a:t>
            </a:r>
            <a:r>
              <a:rPr sz="3600" spc="30" dirty="0">
                <a:solidFill>
                  <a:srgbClr val="2E377E"/>
                </a:solidFill>
                <a:latin typeface="Georgia"/>
                <a:cs typeface="Georgia"/>
              </a:rPr>
              <a:t> </a:t>
            </a:r>
            <a:r>
              <a:rPr sz="3600" dirty="0">
                <a:solidFill>
                  <a:srgbClr val="2E377E"/>
                </a:solidFill>
                <a:latin typeface="Georgia"/>
                <a:cs typeface="Georgia"/>
              </a:rPr>
              <a:t>is</a:t>
            </a:r>
            <a:r>
              <a:rPr sz="3600" spc="30" dirty="0">
                <a:solidFill>
                  <a:srgbClr val="2E377E"/>
                </a:solidFill>
                <a:latin typeface="Georgia"/>
                <a:cs typeface="Georgia"/>
              </a:rPr>
              <a:t> </a:t>
            </a:r>
            <a:r>
              <a:rPr sz="3600" dirty="0">
                <a:solidFill>
                  <a:srgbClr val="2E377E"/>
                </a:solidFill>
                <a:latin typeface="Georgia"/>
                <a:cs typeface="Georgia"/>
              </a:rPr>
              <a:t>used</a:t>
            </a:r>
            <a:r>
              <a:rPr sz="3600" spc="35" dirty="0">
                <a:solidFill>
                  <a:srgbClr val="2E377E"/>
                </a:solidFill>
                <a:latin typeface="Georgia"/>
                <a:cs typeface="Georgia"/>
              </a:rPr>
              <a:t> </a:t>
            </a:r>
            <a:r>
              <a:rPr sz="3600" spc="70" dirty="0">
                <a:solidFill>
                  <a:srgbClr val="2E377E"/>
                </a:solidFill>
                <a:latin typeface="Georgia"/>
                <a:cs typeface="Georgia"/>
              </a:rPr>
              <a:t>to</a:t>
            </a:r>
            <a:r>
              <a:rPr sz="3600" spc="30" dirty="0">
                <a:solidFill>
                  <a:srgbClr val="2E377E"/>
                </a:solidFill>
                <a:latin typeface="Georgia"/>
                <a:cs typeface="Georgia"/>
              </a:rPr>
              <a:t> </a:t>
            </a:r>
            <a:r>
              <a:rPr sz="3600" dirty="0">
                <a:solidFill>
                  <a:srgbClr val="2E377E"/>
                </a:solidFill>
                <a:latin typeface="Georgia"/>
                <a:cs typeface="Georgia"/>
              </a:rPr>
              <a:t>perform</a:t>
            </a:r>
            <a:r>
              <a:rPr sz="3600" spc="35" dirty="0">
                <a:solidFill>
                  <a:srgbClr val="2E377E"/>
                </a:solidFill>
                <a:latin typeface="Georgia"/>
                <a:cs typeface="Georgia"/>
              </a:rPr>
              <a:t> </a:t>
            </a:r>
            <a:r>
              <a:rPr sz="3600" dirty="0">
                <a:solidFill>
                  <a:srgbClr val="2E377E"/>
                </a:solidFill>
                <a:latin typeface="Georgia"/>
                <a:cs typeface="Georgia"/>
              </a:rPr>
              <a:t>some</a:t>
            </a:r>
            <a:r>
              <a:rPr sz="3600" spc="30" dirty="0">
                <a:solidFill>
                  <a:srgbClr val="2E377E"/>
                </a:solidFill>
                <a:latin typeface="Georgia"/>
                <a:cs typeface="Georgia"/>
              </a:rPr>
              <a:t> </a:t>
            </a:r>
            <a:r>
              <a:rPr sz="3600" spc="55" dirty="0">
                <a:solidFill>
                  <a:srgbClr val="2E377E"/>
                </a:solidFill>
                <a:latin typeface="Georgia"/>
                <a:cs typeface="Georgia"/>
              </a:rPr>
              <a:t>tasks</a:t>
            </a:r>
            <a:r>
              <a:rPr sz="3600" spc="30" dirty="0">
                <a:solidFill>
                  <a:srgbClr val="2E377E"/>
                </a:solidFill>
                <a:latin typeface="Georgia"/>
                <a:cs typeface="Georgia"/>
              </a:rPr>
              <a:t> </a:t>
            </a:r>
            <a:r>
              <a:rPr sz="3600" dirty="0">
                <a:solidFill>
                  <a:srgbClr val="2E377E"/>
                </a:solidFill>
                <a:latin typeface="Georgia"/>
                <a:cs typeface="Georgia"/>
              </a:rPr>
              <a:t>like</a:t>
            </a:r>
            <a:r>
              <a:rPr sz="3600" spc="35" dirty="0">
                <a:solidFill>
                  <a:srgbClr val="2E377E"/>
                </a:solidFill>
                <a:latin typeface="Georgia"/>
                <a:cs typeface="Georgia"/>
              </a:rPr>
              <a:t> </a:t>
            </a:r>
            <a:r>
              <a:rPr sz="3600" dirty="0">
                <a:solidFill>
                  <a:srgbClr val="2E377E"/>
                </a:solidFill>
                <a:latin typeface="Georgia"/>
                <a:cs typeface="Georgia"/>
              </a:rPr>
              <a:t>monitoring,</a:t>
            </a:r>
            <a:r>
              <a:rPr sz="3600" spc="30" dirty="0">
                <a:solidFill>
                  <a:srgbClr val="2E377E"/>
                </a:solidFill>
                <a:latin typeface="Georgia"/>
                <a:cs typeface="Georgia"/>
              </a:rPr>
              <a:t> </a:t>
            </a:r>
            <a:r>
              <a:rPr sz="3600" dirty="0">
                <a:solidFill>
                  <a:srgbClr val="2E377E"/>
                </a:solidFill>
                <a:latin typeface="Georgia"/>
                <a:cs typeface="Georgia"/>
              </a:rPr>
              <a:t>Log</a:t>
            </a:r>
            <a:r>
              <a:rPr sz="3600" spc="35" dirty="0">
                <a:solidFill>
                  <a:srgbClr val="2E377E"/>
                </a:solidFill>
                <a:latin typeface="Georgia"/>
                <a:cs typeface="Georgia"/>
              </a:rPr>
              <a:t> </a:t>
            </a:r>
            <a:r>
              <a:rPr sz="3600" dirty="0">
                <a:solidFill>
                  <a:srgbClr val="2E377E"/>
                </a:solidFill>
                <a:latin typeface="Georgia"/>
                <a:cs typeface="Georgia"/>
              </a:rPr>
              <a:t>collection</a:t>
            </a:r>
            <a:r>
              <a:rPr sz="3600" spc="30" dirty="0">
                <a:solidFill>
                  <a:srgbClr val="2E377E"/>
                </a:solidFill>
                <a:latin typeface="Georgia"/>
                <a:cs typeface="Georgia"/>
              </a:rPr>
              <a:t> </a:t>
            </a:r>
            <a:r>
              <a:rPr sz="3600" dirty="0">
                <a:solidFill>
                  <a:srgbClr val="2E377E"/>
                </a:solidFill>
                <a:latin typeface="Georgia"/>
                <a:cs typeface="Georgia"/>
              </a:rPr>
              <a:t>etc..</a:t>
            </a:r>
            <a:r>
              <a:rPr sz="3600" spc="35" dirty="0">
                <a:solidFill>
                  <a:srgbClr val="2E377E"/>
                </a:solidFill>
                <a:latin typeface="Georgia"/>
                <a:cs typeface="Georgia"/>
              </a:rPr>
              <a:t> </a:t>
            </a:r>
            <a:r>
              <a:rPr sz="3600" spc="55" dirty="0">
                <a:solidFill>
                  <a:srgbClr val="2E377E"/>
                </a:solidFill>
                <a:latin typeface="Georgia"/>
                <a:cs typeface="Georgia"/>
              </a:rPr>
              <a:t>that</a:t>
            </a:r>
            <a:r>
              <a:rPr sz="3600" spc="30" dirty="0">
                <a:solidFill>
                  <a:srgbClr val="2E377E"/>
                </a:solidFill>
                <a:latin typeface="Georgia"/>
                <a:cs typeface="Georgia"/>
              </a:rPr>
              <a:t> </a:t>
            </a:r>
            <a:r>
              <a:rPr sz="3600" spc="-20" dirty="0">
                <a:solidFill>
                  <a:srgbClr val="2E377E"/>
                </a:solidFill>
                <a:latin typeface="Georgia"/>
                <a:cs typeface="Georgia"/>
              </a:rPr>
              <a:t>need </a:t>
            </a:r>
            <a:r>
              <a:rPr sz="3600" spc="7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run</a:t>
            </a:r>
            <a:r>
              <a:rPr sz="3600" spc="-15" dirty="0">
                <a:solidFill>
                  <a:srgbClr val="2E377E"/>
                </a:solidFill>
                <a:latin typeface="Georgia"/>
                <a:cs typeface="Georgia"/>
              </a:rPr>
              <a:t> </a:t>
            </a:r>
            <a:r>
              <a:rPr sz="3600" dirty="0">
                <a:solidFill>
                  <a:srgbClr val="2E377E"/>
                </a:solidFill>
                <a:latin typeface="Georgia"/>
                <a:cs typeface="Georgia"/>
              </a:rPr>
              <a:t>on</a:t>
            </a:r>
            <a:r>
              <a:rPr sz="3600" spc="-10" dirty="0">
                <a:solidFill>
                  <a:srgbClr val="2E377E"/>
                </a:solidFill>
                <a:latin typeface="Georgia"/>
                <a:cs typeface="Georgia"/>
              </a:rPr>
              <a:t> </a:t>
            </a:r>
            <a:r>
              <a:rPr sz="3600" spc="110" dirty="0">
                <a:solidFill>
                  <a:srgbClr val="2E377E"/>
                </a:solidFill>
                <a:latin typeface="Georgia"/>
                <a:cs typeface="Georgia"/>
              </a:rPr>
              <a:t>every</a:t>
            </a:r>
            <a:r>
              <a:rPr sz="3600" spc="-15" dirty="0">
                <a:solidFill>
                  <a:srgbClr val="2E377E"/>
                </a:solidFill>
                <a:latin typeface="Georgia"/>
                <a:cs typeface="Georgia"/>
              </a:rPr>
              <a:t> </a:t>
            </a:r>
            <a:r>
              <a:rPr sz="3600" dirty="0">
                <a:solidFill>
                  <a:srgbClr val="2E377E"/>
                </a:solidFill>
                <a:latin typeface="Georgia"/>
                <a:cs typeface="Georgia"/>
              </a:rPr>
              <a:t>node</a:t>
            </a:r>
            <a:r>
              <a:rPr sz="3600" spc="-10"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cluster.</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DaemonSet</a:t>
            </a:r>
            <a:r>
              <a:rPr sz="3600" spc="-20" dirty="0">
                <a:solidFill>
                  <a:srgbClr val="2E377E"/>
                </a:solidFill>
                <a:latin typeface="Georgia"/>
                <a:cs typeface="Georgia"/>
              </a:rPr>
              <a:t> </a:t>
            </a:r>
            <a:r>
              <a:rPr sz="3600" spc="45" dirty="0">
                <a:solidFill>
                  <a:srgbClr val="2E377E"/>
                </a:solidFill>
                <a:latin typeface="Georgia"/>
                <a:cs typeface="Georgia"/>
              </a:rPr>
              <a:t>ensures</a:t>
            </a:r>
            <a:r>
              <a:rPr sz="3600" spc="-20" dirty="0">
                <a:solidFill>
                  <a:srgbClr val="2E377E"/>
                </a:solidFill>
                <a:latin typeface="Georgia"/>
                <a:cs typeface="Georgia"/>
              </a:rPr>
              <a:t> </a:t>
            </a:r>
            <a:r>
              <a:rPr sz="3600" spc="55" dirty="0">
                <a:solidFill>
                  <a:srgbClr val="2E377E"/>
                </a:solidFill>
                <a:latin typeface="Georgia"/>
                <a:cs typeface="Georgia"/>
              </a:rPr>
              <a:t>that</a:t>
            </a:r>
            <a:r>
              <a:rPr sz="3600" spc="-15" dirty="0">
                <a:solidFill>
                  <a:srgbClr val="2E377E"/>
                </a:solidFill>
                <a:latin typeface="Georgia"/>
                <a:cs typeface="Georgia"/>
              </a:rPr>
              <a:t> </a:t>
            </a:r>
            <a:r>
              <a:rPr sz="3600" dirty="0">
                <a:solidFill>
                  <a:srgbClr val="2E377E"/>
                </a:solidFill>
                <a:latin typeface="Georgia"/>
                <a:cs typeface="Georgia"/>
              </a:rPr>
              <a:t>all</a:t>
            </a:r>
            <a:r>
              <a:rPr sz="3600" spc="-20" dirty="0">
                <a:solidFill>
                  <a:srgbClr val="2E377E"/>
                </a:solidFill>
                <a:latin typeface="Georgia"/>
                <a:cs typeface="Georgia"/>
              </a:rPr>
              <a:t> </a:t>
            </a:r>
            <a:r>
              <a:rPr sz="3600" dirty="0">
                <a:solidFill>
                  <a:srgbClr val="2E377E"/>
                </a:solidFill>
                <a:latin typeface="Georgia"/>
                <a:cs typeface="Georgia"/>
              </a:rPr>
              <a:t>eligible</a:t>
            </a:r>
            <a:r>
              <a:rPr sz="3600" spc="-20" dirty="0">
                <a:solidFill>
                  <a:srgbClr val="2E377E"/>
                </a:solidFill>
                <a:latin typeface="Georgia"/>
                <a:cs typeface="Georgia"/>
              </a:rPr>
              <a:t> </a:t>
            </a:r>
            <a:r>
              <a:rPr sz="3600" dirty="0">
                <a:solidFill>
                  <a:srgbClr val="2E377E"/>
                </a:solidFill>
                <a:latin typeface="Georgia"/>
                <a:cs typeface="Georgia"/>
              </a:rPr>
              <a:t>nodes</a:t>
            </a:r>
            <a:r>
              <a:rPr sz="3600" spc="-20" dirty="0">
                <a:solidFill>
                  <a:srgbClr val="2E377E"/>
                </a:solidFill>
                <a:latin typeface="Georgia"/>
                <a:cs typeface="Georgia"/>
              </a:rPr>
              <a:t> </a:t>
            </a:r>
            <a:r>
              <a:rPr sz="3600" dirty="0">
                <a:solidFill>
                  <a:srgbClr val="2E377E"/>
                </a:solidFill>
                <a:latin typeface="Georgia"/>
                <a:cs typeface="Georgia"/>
              </a:rPr>
              <a:t>run</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spc="75" dirty="0">
                <a:solidFill>
                  <a:srgbClr val="2E377E"/>
                </a:solidFill>
                <a:latin typeface="Georgia"/>
                <a:cs typeface="Georgia"/>
              </a:rPr>
              <a:t>copy</a:t>
            </a:r>
            <a:r>
              <a:rPr sz="3600" spc="-20"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spc="-25" dirty="0">
                <a:solidFill>
                  <a:srgbClr val="2E377E"/>
                </a:solidFill>
                <a:latin typeface="Georgia"/>
                <a:cs typeface="Georgia"/>
              </a:rPr>
              <a:t>Pod</a:t>
            </a:r>
            <a:endParaRPr sz="3600">
              <a:latin typeface="Georgia"/>
              <a:cs typeface="Georgia"/>
            </a:endParaRPr>
          </a:p>
          <a:p>
            <a:pPr marL="12700" marR="955040">
              <a:lnSpc>
                <a:spcPct val="116300"/>
              </a:lnSpc>
            </a:pPr>
            <a:r>
              <a:rPr sz="3600" dirty="0">
                <a:solidFill>
                  <a:srgbClr val="2E377E"/>
                </a:solidFill>
                <a:latin typeface="Georgia"/>
                <a:cs typeface="Georgia"/>
              </a:rPr>
              <a:t>When</a:t>
            </a:r>
            <a:r>
              <a:rPr sz="3600" spc="-15" dirty="0">
                <a:solidFill>
                  <a:srgbClr val="2E377E"/>
                </a:solidFill>
                <a:latin typeface="Georgia"/>
                <a:cs typeface="Georgia"/>
              </a:rPr>
              <a:t> </a:t>
            </a:r>
            <a:r>
              <a:rPr sz="3600" spc="90" dirty="0">
                <a:solidFill>
                  <a:srgbClr val="2E377E"/>
                </a:solidFill>
                <a:latin typeface="Georgia"/>
                <a:cs typeface="Georgia"/>
              </a:rPr>
              <a:t>you</a:t>
            </a:r>
            <a:r>
              <a:rPr sz="3600" spc="-15" dirty="0">
                <a:solidFill>
                  <a:srgbClr val="2E377E"/>
                </a:solidFill>
                <a:latin typeface="Georgia"/>
                <a:cs typeface="Georgia"/>
              </a:rPr>
              <a:t> </a:t>
            </a:r>
            <a:r>
              <a:rPr sz="3600" spc="55" dirty="0">
                <a:solidFill>
                  <a:srgbClr val="2E377E"/>
                </a:solidFill>
                <a:latin typeface="Georgia"/>
                <a:cs typeface="Georgia"/>
              </a:rPr>
              <a:t>create</a:t>
            </a:r>
            <a:r>
              <a:rPr sz="3600" spc="-10" dirty="0">
                <a:solidFill>
                  <a:srgbClr val="2E377E"/>
                </a:solidFill>
                <a:latin typeface="Georgia"/>
                <a:cs typeface="Georgia"/>
              </a:rPr>
              <a:t> </a:t>
            </a:r>
            <a:r>
              <a:rPr sz="3600" dirty="0">
                <a:solidFill>
                  <a:srgbClr val="2E377E"/>
                </a:solidFill>
                <a:latin typeface="Georgia"/>
                <a:cs typeface="Georgia"/>
              </a:rPr>
              <a:t>daemon</a:t>
            </a:r>
            <a:r>
              <a:rPr sz="3600" spc="-15" dirty="0">
                <a:solidFill>
                  <a:srgbClr val="2E377E"/>
                </a:solidFill>
                <a:latin typeface="Georgia"/>
                <a:cs typeface="Georgia"/>
              </a:rPr>
              <a:t> </a:t>
            </a:r>
            <a:r>
              <a:rPr sz="3600" spc="70" dirty="0">
                <a:solidFill>
                  <a:srgbClr val="2E377E"/>
                </a:solidFill>
                <a:latin typeface="Georgia"/>
                <a:cs typeface="Georgia"/>
              </a:rPr>
              <a:t>set</a:t>
            </a:r>
            <a:r>
              <a:rPr sz="3600" spc="-15" dirty="0">
                <a:solidFill>
                  <a:srgbClr val="2E377E"/>
                </a:solidFill>
                <a:latin typeface="Georgia"/>
                <a:cs typeface="Georgia"/>
              </a:rPr>
              <a:t> </a:t>
            </a:r>
            <a:r>
              <a:rPr sz="3600" spc="-20" dirty="0">
                <a:solidFill>
                  <a:srgbClr val="2E377E"/>
                </a:solidFill>
                <a:latin typeface="Georgia"/>
                <a:cs typeface="Georgia"/>
              </a:rPr>
              <a:t>k8s</a:t>
            </a:r>
            <a:r>
              <a:rPr sz="3600" spc="-10" dirty="0">
                <a:solidFill>
                  <a:srgbClr val="2E377E"/>
                </a:solidFill>
                <a:latin typeface="Georgia"/>
                <a:cs typeface="Georgia"/>
              </a:rPr>
              <a:t> </a:t>
            </a:r>
            <a:r>
              <a:rPr sz="3600" dirty="0">
                <a:solidFill>
                  <a:srgbClr val="2E377E"/>
                </a:solidFill>
                <a:latin typeface="Georgia"/>
                <a:cs typeface="Georgia"/>
              </a:rPr>
              <a:t>schedules</a:t>
            </a:r>
            <a:r>
              <a:rPr sz="3600" spc="-15" dirty="0">
                <a:solidFill>
                  <a:srgbClr val="2E377E"/>
                </a:solidFill>
                <a:latin typeface="Georgia"/>
                <a:cs typeface="Georgia"/>
              </a:rPr>
              <a:t> </a:t>
            </a:r>
            <a:r>
              <a:rPr sz="3600" dirty="0">
                <a:solidFill>
                  <a:srgbClr val="2E377E"/>
                </a:solidFill>
                <a:latin typeface="Georgia"/>
                <a:cs typeface="Georgia"/>
              </a:rPr>
              <a:t>one</a:t>
            </a:r>
            <a:r>
              <a:rPr sz="3600" spc="-15" dirty="0">
                <a:solidFill>
                  <a:srgbClr val="2E377E"/>
                </a:solidFill>
                <a:latin typeface="Georgia"/>
                <a:cs typeface="Georgia"/>
              </a:rPr>
              <a:t> </a:t>
            </a:r>
            <a:r>
              <a:rPr sz="3600" spc="75" dirty="0">
                <a:solidFill>
                  <a:srgbClr val="2E377E"/>
                </a:solidFill>
                <a:latin typeface="Georgia"/>
                <a:cs typeface="Georgia"/>
              </a:rPr>
              <a:t>copy</a:t>
            </a:r>
            <a:r>
              <a:rPr sz="3600" spc="-10"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dirty="0">
                <a:solidFill>
                  <a:srgbClr val="2E377E"/>
                </a:solidFill>
                <a:latin typeface="Georgia"/>
                <a:cs typeface="Georgia"/>
              </a:rPr>
              <a:t>pod</a:t>
            </a:r>
            <a:r>
              <a:rPr sz="3600" spc="-15" dirty="0">
                <a:solidFill>
                  <a:srgbClr val="2E377E"/>
                </a:solidFill>
                <a:latin typeface="Georgia"/>
                <a:cs typeface="Georgia"/>
              </a:rPr>
              <a:t> </a:t>
            </a:r>
            <a:r>
              <a:rPr sz="3600" dirty="0">
                <a:solidFill>
                  <a:srgbClr val="2E377E"/>
                </a:solidFill>
                <a:latin typeface="Georgia"/>
                <a:cs typeface="Georgia"/>
              </a:rPr>
              <a:t>in</a:t>
            </a:r>
            <a:r>
              <a:rPr sz="3600" spc="-10" dirty="0">
                <a:solidFill>
                  <a:srgbClr val="2E377E"/>
                </a:solidFill>
                <a:latin typeface="Georgia"/>
                <a:cs typeface="Georgia"/>
              </a:rPr>
              <a:t> </a:t>
            </a:r>
            <a:r>
              <a:rPr sz="3600" dirty="0">
                <a:solidFill>
                  <a:srgbClr val="2E377E"/>
                </a:solidFill>
                <a:latin typeface="Georgia"/>
                <a:cs typeface="Georgia"/>
              </a:rPr>
              <a:t>each</a:t>
            </a:r>
            <a:r>
              <a:rPr sz="3600" spc="-15" dirty="0">
                <a:solidFill>
                  <a:srgbClr val="2E377E"/>
                </a:solidFill>
                <a:latin typeface="Georgia"/>
                <a:cs typeface="Georgia"/>
              </a:rPr>
              <a:t> </a:t>
            </a:r>
            <a:r>
              <a:rPr sz="3600" spc="-20" dirty="0">
                <a:solidFill>
                  <a:srgbClr val="2E377E"/>
                </a:solidFill>
                <a:latin typeface="Georgia"/>
                <a:cs typeface="Georgia"/>
              </a:rPr>
              <a:t>node. </a:t>
            </a:r>
            <a:r>
              <a:rPr sz="3600" dirty="0">
                <a:solidFill>
                  <a:srgbClr val="2E377E"/>
                </a:solidFill>
                <a:latin typeface="Georgia"/>
                <a:cs typeface="Georgia"/>
              </a:rPr>
              <a:t>If</a:t>
            </a:r>
            <a:r>
              <a:rPr sz="3600" spc="-5" dirty="0">
                <a:solidFill>
                  <a:srgbClr val="2E377E"/>
                </a:solidFill>
                <a:latin typeface="Georgia"/>
                <a:cs typeface="Georgia"/>
              </a:rPr>
              <a:t> </a:t>
            </a:r>
            <a:r>
              <a:rPr sz="3600" spc="14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added </a:t>
            </a:r>
            <a:r>
              <a:rPr sz="3600" spc="100" dirty="0">
                <a:solidFill>
                  <a:srgbClr val="2E377E"/>
                </a:solidFill>
                <a:latin typeface="Georgia"/>
                <a:cs typeface="Georgia"/>
              </a:rPr>
              <a:t>new</a:t>
            </a:r>
            <a:r>
              <a:rPr sz="3600" spc="-5" dirty="0">
                <a:solidFill>
                  <a:srgbClr val="2E377E"/>
                </a:solidFill>
                <a:latin typeface="Georgia"/>
                <a:cs typeface="Georgia"/>
              </a:rPr>
              <a:t> </a:t>
            </a:r>
            <a:r>
              <a:rPr sz="3600" dirty="0">
                <a:solidFill>
                  <a:srgbClr val="2E377E"/>
                </a:solidFill>
                <a:latin typeface="Georgia"/>
                <a:cs typeface="Georgia"/>
              </a:rPr>
              <a:t>node </a:t>
            </a:r>
            <a:r>
              <a:rPr sz="3600" spc="65" dirty="0">
                <a:solidFill>
                  <a:srgbClr val="2E377E"/>
                </a:solidFill>
                <a:latin typeface="Georgia"/>
                <a:cs typeface="Georgia"/>
              </a:rPr>
              <a:t>it</a:t>
            </a:r>
            <a:r>
              <a:rPr sz="3600" spc="-5" dirty="0">
                <a:solidFill>
                  <a:srgbClr val="2E377E"/>
                </a:solidFill>
                <a:latin typeface="Georgia"/>
                <a:cs typeface="Georgia"/>
              </a:rPr>
              <a:t> </a:t>
            </a:r>
            <a:r>
              <a:rPr sz="3600" spc="55" dirty="0">
                <a:solidFill>
                  <a:srgbClr val="2E377E"/>
                </a:solidFill>
                <a:latin typeface="Georgia"/>
                <a:cs typeface="Georgia"/>
              </a:rPr>
              <a:t>will</a:t>
            </a:r>
            <a:r>
              <a:rPr sz="3600" dirty="0">
                <a:solidFill>
                  <a:srgbClr val="2E377E"/>
                </a:solidFill>
                <a:latin typeface="Georgia"/>
                <a:cs typeface="Georgia"/>
              </a:rPr>
              <a:t> </a:t>
            </a:r>
            <a:r>
              <a:rPr sz="3600" spc="75" dirty="0">
                <a:solidFill>
                  <a:srgbClr val="2E377E"/>
                </a:solidFill>
                <a:latin typeface="Georgia"/>
                <a:cs typeface="Georgia"/>
              </a:rPr>
              <a:t>copy</a:t>
            </a:r>
            <a:r>
              <a:rPr sz="3600" spc="-5" dirty="0">
                <a:solidFill>
                  <a:srgbClr val="2E377E"/>
                </a:solidFill>
                <a:latin typeface="Georgia"/>
                <a:cs typeface="Georgia"/>
              </a:rPr>
              <a:t> </a:t>
            </a:r>
            <a:r>
              <a:rPr sz="3600" spc="60" dirty="0">
                <a:solidFill>
                  <a:srgbClr val="2E377E"/>
                </a:solidFill>
                <a:latin typeface="Georgia"/>
                <a:cs typeface="Georgia"/>
              </a:rPr>
              <a:t>the</a:t>
            </a:r>
            <a:r>
              <a:rPr sz="3600" dirty="0">
                <a:solidFill>
                  <a:srgbClr val="2E377E"/>
                </a:solidFill>
                <a:latin typeface="Georgia"/>
                <a:cs typeface="Georgia"/>
              </a:rPr>
              <a:t> pod</a:t>
            </a:r>
            <a:r>
              <a:rPr sz="3600" spc="-5" dirty="0">
                <a:solidFill>
                  <a:srgbClr val="2E377E"/>
                </a:solidFill>
                <a:latin typeface="Georgia"/>
                <a:cs typeface="Georgia"/>
              </a:rPr>
              <a:t> </a:t>
            </a:r>
            <a:r>
              <a:rPr sz="3600" dirty="0">
                <a:solidFill>
                  <a:srgbClr val="2E377E"/>
                </a:solidFill>
                <a:latin typeface="Georgia"/>
                <a:cs typeface="Georgia"/>
              </a:rPr>
              <a:t>automatically</a:t>
            </a:r>
            <a:r>
              <a:rPr sz="3600" spc="-5" dirty="0">
                <a:solidFill>
                  <a:srgbClr val="2E377E"/>
                </a:solidFill>
                <a:latin typeface="Georgia"/>
                <a:cs typeface="Georgia"/>
              </a:rPr>
              <a:t> </a:t>
            </a:r>
            <a:r>
              <a:rPr sz="3600" spc="70" dirty="0">
                <a:solidFill>
                  <a:srgbClr val="2E377E"/>
                </a:solidFill>
                <a:latin typeface="Georgia"/>
                <a:cs typeface="Georgia"/>
              </a:rPr>
              <a:t>to</a:t>
            </a:r>
            <a:r>
              <a:rPr sz="3600" dirty="0">
                <a:solidFill>
                  <a:srgbClr val="2E377E"/>
                </a:solidFill>
                <a:latin typeface="Georgia"/>
                <a:cs typeface="Georgia"/>
              </a:rPr>
              <a:t> </a:t>
            </a:r>
            <a:r>
              <a:rPr sz="3600" spc="100" dirty="0">
                <a:solidFill>
                  <a:srgbClr val="2E377E"/>
                </a:solidFill>
                <a:latin typeface="Georgia"/>
                <a:cs typeface="Georgia"/>
              </a:rPr>
              <a:t>new</a:t>
            </a:r>
            <a:r>
              <a:rPr sz="3600" spc="-5" dirty="0">
                <a:solidFill>
                  <a:srgbClr val="2E377E"/>
                </a:solidFill>
                <a:latin typeface="Georgia"/>
                <a:cs typeface="Georgia"/>
              </a:rPr>
              <a:t> </a:t>
            </a:r>
            <a:r>
              <a:rPr sz="3600" spc="-20" dirty="0">
                <a:solidFill>
                  <a:srgbClr val="2E377E"/>
                </a:solidFill>
                <a:latin typeface="Georgia"/>
                <a:cs typeface="Georgia"/>
              </a:rPr>
              <a:t>node.</a:t>
            </a:r>
            <a:endParaRPr sz="3600">
              <a:latin typeface="Georgia"/>
              <a:cs typeface="Georgia"/>
            </a:endParaRPr>
          </a:p>
          <a:p>
            <a:pPr marL="12700" marR="2084705">
              <a:lnSpc>
                <a:spcPct val="116300"/>
              </a:lnSpc>
            </a:pPr>
            <a:r>
              <a:rPr sz="3600" dirty="0">
                <a:solidFill>
                  <a:srgbClr val="2E377E"/>
                </a:solidFill>
                <a:latin typeface="Georgia"/>
                <a:cs typeface="Georgia"/>
              </a:rPr>
              <a:t>If</a:t>
            </a:r>
            <a:r>
              <a:rPr sz="3600" spc="-35" dirty="0">
                <a:solidFill>
                  <a:srgbClr val="2E377E"/>
                </a:solidFill>
                <a:latin typeface="Georgia"/>
                <a:cs typeface="Georgia"/>
              </a:rPr>
              <a:t> </a:t>
            </a:r>
            <a:r>
              <a:rPr sz="3600" dirty="0">
                <a:solidFill>
                  <a:srgbClr val="2E377E"/>
                </a:solidFill>
                <a:latin typeface="Georgia"/>
                <a:cs typeface="Georgia"/>
              </a:rPr>
              <a:t>I</a:t>
            </a:r>
            <a:r>
              <a:rPr sz="3600" spc="-30" dirty="0">
                <a:solidFill>
                  <a:srgbClr val="2E377E"/>
                </a:solidFill>
                <a:latin typeface="Georgia"/>
                <a:cs typeface="Georgia"/>
              </a:rPr>
              <a:t> </a:t>
            </a:r>
            <a:r>
              <a:rPr sz="3600" spc="65" dirty="0">
                <a:solidFill>
                  <a:srgbClr val="2E377E"/>
                </a:solidFill>
                <a:latin typeface="Georgia"/>
                <a:cs typeface="Georgia"/>
              </a:rPr>
              <a:t>remove</a:t>
            </a:r>
            <a:r>
              <a:rPr sz="3600" spc="-30" dirty="0">
                <a:solidFill>
                  <a:srgbClr val="2E377E"/>
                </a:solidFill>
                <a:latin typeface="Georgia"/>
                <a:cs typeface="Georgia"/>
              </a:rPr>
              <a:t> </a:t>
            </a:r>
            <a:r>
              <a:rPr sz="3600" dirty="0">
                <a:solidFill>
                  <a:srgbClr val="2E377E"/>
                </a:solidFill>
                <a:latin typeface="Georgia"/>
                <a:cs typeface="Georgia"/>
              </a:rPr>
              <a:t>on</a:t>
            </a:r>
            <a:r>
              <a:rPr sz="3600" spc="-35" dirty="0">
                <a:solidFill>
                  <a:srgbClr val="2E377E"/>
                </a:solidFill>
                <a:latin typeface="Georgia"/>
                <a:cs typeface="Georgia"/>
              </a:rPr>
              <a:t> </a:t>
            </a:r>
            <a:r>
              <a:rPr sz="3600" dirty="0">
                <a:solidFill>
                  <a:srgbClr val="2E377E"/>
                </a:solidFill>
                <a:latin typeface="Georgia"/>
                <a:cs typeface="Georgia"/>
              </a:rPr>
              <a:t>node</a:t>
            </a:r>
            <a:r>
              <a:rPr sz="3600" spc="-30" dirty="0">
                <a:solidFill>
                  <a:srgbClr val="2E377E"/>
                </a:solidFill>
                <a:latin typeface="Georgia"/>
                <a:cs typeface="Georgia"/>
              </a:rPr>
              <a:t> </a:t>
            </a:r>
            <a:r>
              <a:rPr sz="3600" dirty="0">
                <a:solidFill>
                  <a:srgbClr val="2E377E"/>
                </a:solidFill>
                <a:latin typeface="Georgia"/>
                <a:cs typeface="Georgia"/>
              </a:rPr>
              <a:t>from</a:t>
            </a:r>
            <a:r>
              <a:rPr sz="3600" spc="-30" dirty="0">
                <a:solidFill>
                  <a:srgbClr val="2E377E"/>
                </a:solidFill>
                <a:latin typeface="Georgia"/>
                <a:cs typeface="Georgia"/>
              </a:rPr>
              <a:t> </a:t>
            </a:r>
            <a:r>
              <a:rPr sz="3600" spc="55" dirty="0">
                <a:solidFill>
                  <a:srgbClr val="2E377E"/>
                </a:solidFill>
                <a:latin typeface="Georgia"/>
                <a:cs typeface="Georgia"/>
              </a:rPr>
              <a:t>cluster</a:t>
            </a:r>
            <a:r>
              <a:rPr sz="3600" spc="-3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pod</a:t>
            </a:r>
            <a:r>
              <a:rPr sz="3600" spc="-30" dirty="0">
                <a:solidFill>
                  <a:srgbClr val="2E377E"/>
                </a:solidFill>
                <a:latin typeface="Georgia"/>
                <a:cs typeface="Georgia"/>
              </a:rPr>
              <a:t> </a:t>
            </a:r>
            <a:r>
              <a:rPr sz="3600" dirty="0">
                <a:solidFill>
                  <a:srgbClr val="2E377E"/>
                </a:solidFill>
                <a:latin typeface="Georgia"/>
                <a:cs typeface="Georgia"/>
              </a:rPr>
              <a:t>in</a:t>
            </a:r>
            <a:r>
              <a:rPr sz="3600" spc="-30" dirty="0">
                <a:solidFill>
                  <a:srgbClr val="2E377E"/>
                </a:solidFill>
                <a:latin typeface="Georgia"/>
                <a:cs typeface="Georgia"/>
              </a:rPr>
              <a:t> </a:t>
            </a:r>
            <a:r>
              <a:rPr sz="3600" spc="55" dirty="0">
                <a:solidFill>
                  <a:srgbClr val="2E377E"/>
                </a:solidFill>
                <a:latin typeface="Georgia"/>
                <a:cs typeface="Georgia"/>
              </a:rPr>
              <a:t>that</a:t>
            </a:r>
            <a:r>
              <a:rPr sz="3600" spc="-35" dirty="0">
                <a:solidFill>
                  <a:srgbClr val="2E377E"/>
                </a:solidFill>
                <a:latin typeface="Georgia"/>
                <a:cs typeface="Georgia"/>
              </a:rPr>
              <a:t> </a:t>
            </a:r>
            <a:r>
              <a:rPr sz="3600" dirty="0">
                <a:solidFill>
                  <a:srgbClr val="2E377E"/>
                </a:solidFill>
                <a:latin typeface="Georgia"/>
                <a:cs typeface="Georgia"/>
              </a:rPr>
              <a:t>node</a:t>
            </a:r>
            <a:r>
              <a:rPr sz="3600" spc="-30" dirty="0">
                <a:solidFill>
                  <a:srgbClr val="2E377E"/>
                </a:solidFill>
                <a:latin typeface="Georgia"/>
                <a:cs typeface="Georgia"/>
              </a:rPr>
              <a:t> </a:t>
            </a:r>
            <a:r>
              <a:rPr sz="3600" dirty="0">
                <a:solidFill>
                  <a:srgbClr val="2E377E"/>
                </a:solidFill>
                <a:latin typeface="Georgia"/>
                <a:cs typeface="Georgia"/>
              </a:rPr>
              <a:t>also</a:t>
            </a:r>
            <a:r>
              <a:rPr sz="3600" spc="-30" dirty="0">
                <a:solidFill>
                  <a:srgbClr val="2E377E"/>
                </a:solidFill>
                <a:latin typeface="Georgia"/>
                <a:cs typeface="Georgia"/>
              </a:rPr>
              <a:t> </a:t>
            </a:r>
            <a:r>
              <a:rPr sz="3600" spc="-10" dirty="0">
                <a:solidFill>
                  <a:srgbClr val="2E377E"/>
                </a:solidFill>
                <a:latin typeface="Georgia"/>
                <a:cs typeface="Georgia"/>
              </a:rPr>
              <a:t>removed. </a:t>
            </a:r>
            <a:r>
              <a:rPr sz="3600" dirty="0">
                <a:solidFill>
                  <a:srgbClr val="2E377E"/>
                </a:solidFill>
                <a:latin typeface="Georgia"/>
                <a:cs typeface="Georgia"/>
              </a:rPr>
              <a:t>Deleting a</a:t>
            </a:r>
            <a:r>
              <a:rPr sz="3600" spc="5" dirty="0">
                <a:solidFill>
                  <a:srgbClr val="2E377E"/>
                </a:solidFill>
                <a:latin typeface="Georgia"/>
                <a:cs typeface="Georgia"/>
              </a:rPr>
              <a:t> </a:t>
            </a:r>
            <a:r>
              <a:rPr sz="3600" dirty="0">
                <a:solidFill>
                  <a:srgbClr val="2E377E"/>
                </a:solidFill>
                <a:latin typeface="Georgia"/>
                <a:cs typeface="Georgia"/>
              </a:rPr>
              <a:t>DaemonSet </a:t>
            </a:r>
            <a:r>
              <a:rPr sz="3600" spc="55" dirty="0">
                <a:solidFill>
                  <a:srgbClr val="2E377E"/>
                </a:solidFill>
                <a:latin typeface="Georgia"/>
                <a:cs typeface="Georgia"/>
              </a:rPr>
              <a:t>will</a:t>
            </a:r>
            <a:r>
              <a:rPr sz="3600" spc="5" dirty="0">
                <a:solidFill>
                  <a:srgbClr val="2E377E"/>
                </a:solidFill>
                <a:latin typeface="Georgia"/>
                <a:cs typeface="Georgia"/>
              </a:rPr>
              <a:t> </a:t>
            </a:r>
            <a:r>
              <a:rPr sz="3600" dirty="0">
                <a:solidFill>
                  <a:srgbClr val="2E377E"/>
                </a:solidFill>
                <a:latin typeface="Georgia"/>
                <a:cs typeface="Georgia"/>
              </a:rPr>
              <a:t>clean up</a:t>
            </a:r>
            <a:r>
              <a:rPr sz="3600" spc="5" dirty="0">
                <a:solidFill>
                  <a:srgbClr val="2E377E"/>
                </a:solidFill>
                <a:latin typeface="Georgia"/>
                <a:cs typeface="Georgia"/>
              </a:rPr>
              <a:t> </a:t>
            </a:r>
            <a:r>
              <a:rPr sz="3600" spc="60" dirty="0">
                <a:solidFill>
                  <a:srgbClr val="2E377E"/>
                </a:solidFill>
                <a:latin typeface="Georgia"/>
                <a:cs typeface="Georgia"/>
              </a:rPr>
              <a:t>the</a:t>
            </a:r>
            <a:r>
              <a:rPr sz="3600" dirty="0">
                <a:solidFill>
                  <a:srgbClr val="2E377E"/>
                </a:solidFill>
                <a:latin typeface="Georgia"/>
                <a:cs typeface="Georgia"/>
              </a:rPr>
              <a:t> Pods</a:t>
            </a:r>
            <a:r>
              <a:rPr sz="3600" spc="5" dirty="0">
                <a:solidFill>
                  <a:srgbClr val="2E377E"/>
                </a:solidFill>
                <a:latin typeface="Georgia"/>
                <a:cs typeface="Georgia"/>
              </a:rPr>
              <a:t> </a:t>
            </a:r>
            <a:r>
              <a:rPr sz="3600" spc="65" dirty="0">
                <a:solidFill>
                  <a:srgbClr val="2E377E"/>
                </a:solidFill>
                <a:latin typeface="Georgia"/>
                <a:cs typeface="Georgia"/>
              </a:rPr>
              <a:t>it</a:t>
            </a:r>
            <a:r>
              <a:rPr sz="3600" spc="5" dirty="0">
                <a:solidFill>
                  <a:srgbClr val="2E377E"/>
                </a:solidFill>
                <a:latin typeface="Georgia"/>
                <a:cs typeface="Georgia"/>
              </a:rPr>
              <a:t> </a:t>
            </a:r>
            <a:r>
              <a:rPr sz="3600" spc="-10" dirty="0">
                <a:solidFill>
                  <a:srgbClr val="2E377E"/>
                </a:solidFill>
                <a:latin typeface="Georgia"/>
                <a:cs typeface="Georgia"/>
              </a:rPr>
              <a:t>created.</a:t>
            </a:r>
            <a:endParaRPr sz="3600">
              <a:latin typeface="Georgia"/>
              <a:cs typeface="Georgia"/>
            </a:endParaRPr>
          </a:p>
          <a:p>
            <a:pPr marL="12700" marR="120650">
              <a:lnSpc>
                <a:spcPct val="116300"/>
              </a:lnSpc>
            </a:pPr>
            <a:r>
              <a:rPr sz="3600" dirty="0">
                <a:solidFill>
                  <a:srgbClr val="2E377E"/>
                </a:solidFill>
                <a:latin typeface="Georgia"/>
                <a:cs typeface="Georgia"/>
              </a:rPr>
              <a:t>Daemon-</a:t>
            </a:r>
            <a:r>
              <a:rPr sz="3600" spc="70" dirty="0">
                <a:solidFill>
                  <a:srgbClr val="2E377E"/>
                </a:solidFill>
                <a:latin typeface="Georgia"/>
                <a:cs typeface="Georgia"/>
              </a:rPr>
              <a:t>set</a:t>
            </a:r>
            <a:r>
              <a:rPr sz="3600" spc="15" dirty="0">
                <a:solidFill>
                  <a:srgbClr val="2E377E"/>
                </a:solidFill>
                <a:latin typeface="Georgia"/>
                <a:cs typeface="Georgia"/>
              </a:rPr>
              <a:t> </a:t>
            </a:r>
            <a:r>
              <a:rPr sz="3600" dirty="0">
                <a:solidFill>
                  <a:srgbClr val="2E377E"/>
                </a:solidFill>
                <a:latin typeface="Georgia"/>
                <a:cs typeface="Georgia"/>
              </a:rPr>
              <a:t>does</a:t>
            </a:r>
            <a:r>
              <a:rPr sz="3600" spc="15" dirty="0">
                <a:solidFill>
                  <a:srgbClr val="2E377E"/>
                </a:solidFill>
                <a:latin typeface="Georgia"/>
                <a:cs typeface="Georgia"/>
              </a:rPr>
              <a:t> </a:t>
            </a:r>
            <a:r>
              <a:rPr sz="3600" spc="50" dirty="0">
                <a:solidFill>
                  <a:srgbClr val="2E377E"/>
                </a:solidFill>
                <a:latin typeface="Georgia"/>
                <a:cs typeface="Georgia"/>
              </a:rPr>
              <a:t>not</a:t>
            </a:r>
            <a:r>
              <a:rPr sz="3600" spc="20" dirty="0">
                <a:solidFill>
                  <a:srgbClr val="2E377E"/>
                </a:solidFill>
                <a:latin typeface="Georgia"/>
                <a:cs typeface="Georgia"/>
              </a:rPr>
              <a:t> </a:t>
            </a:r>
            <a:r>
              <a:rPr sz="3600" dirty="0">
                <a:solidFill>
                  <a:srgbClr val="2E377E"/>
                </a:solidFill>
                <a:latin typeface="Georgia"/>
                <a:cs typeface="Georgia"/>
              </a:rPr>
              <a:t>contains</a:t>
            </a:r>
            <a:r>
              <a:rPr sz="3600" spc="15" dirty="0">
                <a:solidFill>
                  <a:srgbClr val="2E377E"/>
                </a:solidFill>
                <a:latin typeface="Georgia"/>
                <a:cs typeface="Georgia"/>
              </a:rPr>
              <a:t> </a:t>
            </a:r>
            <a:r>
              <a:rPr sz="3600" dirty="0">
                <a:solidFill>
                  <a:srgbClr val="2E377E"/>
                </a:solidFill>
                <a:latin typeface="Georgia"/>
                <a:cs typeface="Georgia"/>
              </a:rPr>
              <a:t>replicas,</a:t>
            </a:r>
            <a:r>
              <a:rPr sz="3600" spc="15" dirty="0">
                <a:solidFill>
                  <a:srgbClr val="2E377E"/>
                </a:solidFill>
                <a:latin typeface="Georgia"/>
                <a:cs typeface="Georgia"/>
              </a:rPr>
              <a:t> </a:t>
            </a:r>
            <a:r>
              <a:rPr sz="3600" dirty="0">
                <a:solidFill>
                  <a:srgbClr val="2E377E"/>
                </a:solidFill>
                <a:latin typeface="Georgia"/>
                <a:cs typeface="Georgia"/>
              </a:rPr>
              <a:t>because</a:t>
            </a:r>
            <a:r>
              <a:rPr sz="3600" spc="20" dirty="0">
                <a:solidFill>
                  <a:srgbClr val="2E377E"/>
                </a:solidFill>
                <a:latin typeface="Georgia"/>
                <a:cs typeface="Georgia"/>
              </a:rPr>
              <a:t> </a:t>
            </a:r>
            <a:r>
              <a:rPr sz="3600" spc="55" dirty="0">
                <a:solidFill>
                  <a:srgbClr val="2E377E"/>
                </a:solidFill>
                <a:latin typeface="Georgia"/>
                <a:cs typeface="Georgia"/>
              </a:rPr>
              <a:t>bydefault</a:t>
            </a:r>
            <a:r>
              <a:rPr sz="3600" spc="15" dirty="0">
                <a:solidFill>
                  <a:srgbClr val="2E377E"/>
                </a:solidFill>
                <a:latin typeface="Georgia"/>
                <a:cs typeface="Georgia"/>
              </a:rPr>
              <a:t> </a:t>
            </a:r>
            <a:r>
              <a:rPr sz="3600" spc="65" dirty="0">
                <a:solidFill>
                  <a:srgbClr val="2E377E"/>
                </a:solidFill>
                <a:latin typeface="Georgia"/>
                <a:cs typeface="Georgia"/>
              </a:rPr>
              <a:t>it</a:t>
            </a:r>
            <a:r>
              <a:rPr sz="3600" spc="15" dirty="0">
                <a:solidFill>
                  <a:srgbClr val="2E377E"/>
                </a:solidFill>
                <a:latin typeface="Georgia"/>
                <a:cs typeface="Georgia"/>
              </a:rPr>
              <a:t> </a:t>
            </a:r>
            <a:r>
              <a:rPr sz="3600" spc="55" dirty="0">
                <a:solidFill>
                  <a:srgbClr val="2E377E"/>
                </a:solidFill>
                <a:latin typeface="Georgia"/>
                <a:cs typeface="Georgia"/>
              </a:rPr>
              <a:t>will</a:t>
            </a:r>
            <a:r>
              <a:rPr sz="3600" spc="20" dirty="0">
                <a:solidFill>
                  <a:srgbClr val="2E377E"/>
                </a:solidFill>
                <a:latin typeface="Georgia"/>
                <a:cs typeface="Georgia"/>
              </a:rPr>
              <a:t> </a:t>
            </a:r>
            <a:r>
              <a:rPr sz="3600" spc="55" dirty="0">
                <a:solidFill>
                  <a:srgbClr val="2E377E"/>
                </a:solidFill>
                <a:latin typeface="Georgia"/>
                <a:cs typeface="Georgia"/>
              </a:rPr>
              <a:t>create</a:t>
            </a:r>
            <a:r>
              <a:rPr sz="3600" spc="15" dirty="0">
                <a:solidFill>
                  <a:srgbClr val="2E377E"/>
                </a:solidFill>
                <a:latin typeface="Georgia"/>
                <a:cs typeface="Georgia"/>
              </a:rPr>
              <a:t> </a:t>
            </a:r>
            <a:r>
              <a:rPr sz="3600" spc="55" dirty="0">
                <a:solidFill>
                  <a:srgbClr val="2E377E"/>
                </a:solidFill>
                <a:latin typeface="Georgia"/>
                <a:cs typeface="Georgia"/>
              </a:rPr>
              <a:t>only</a:t>
            </a:r>
            <a:r>
              <a:rPr sz="3600" spc="15" dirty="0">
                <a:solidFill>
                  <a:srgbClr val="2E377E"/>
                </a:solidFill>
                <a:latin typeface="Georgia"/>
                <a:cs typeface="Georgia"/>
              </a:rPr>
              <a:t> </a:t>
            </a:r>
            <a:r>
              <a:rPr sz="3600" spc="-50" dirty="0">
                <a:solidFill>
                  <a:srgbClr val="2E377E"/>
                </a:solidFill>
                <a:latin typeface="Georgia"/>
                <a:cs typeface="Georgia"/>
              </a:rPr>
              <a:t>1 </a:t>
            </a:r>
            <a:r>
              <a:rPr sz="3600" dirty="0">
                <a:solidFill>
                  <a:srgbClr val="2E377E"/>
                </a:solidFill>
                <a:latin typeface="Georgia"/>
                <a:cs typeface="Georgia"/>
              </a:rPr>
              <a:t>pod</a:t>
            </a:r>
            <a:r>
              <a:rPr sz="3600" spc="-5" dirty="0">
                <a:solidFill>
                  <a:srgbClr val="2E377E"/>
                </a:solidFill>
                <a:latin typeface="Georgia"/>
                <a:cs typeface="Georgia"/>
              </a:rPr>
              <a:t> </a:t>
            </a:r>
            <a:r>
              <a:rPr sz="3600" dirty="0">
                <a:solidFill>
                  <a:srgbClr val="2E377E"/>
                </a:solidFill>
                <a:latin typeface="Georgia"/>
                <a:cs typeface="Georgia"/>
              </a:rPr>
              <a:t>in each </a:t>
            </a:r>
            <a:r>
              <a:rPr sz="3600" spc="-20" dirty="0">
                <a:solidFill>
                  <a:srgbClr val="2E377E"/>
                </a:solidFill>
                <a:latin typeface="Georgia"/>
                <a:cs typeface="Georgia"/>
              </a:rPr>
              <a:t>node.</a:t>
            </a:r>
            <a:endParaRPr sz="3600">
              <a:latin typeface="Georgia"/>
              <a:cs typeface="Georgia"/>
            </a:endParaRPr>
          </a:p>
          <a:p>
            <a:pPr marL="12700" marR="5080">
              <a:lnSpc>
                <a:spcPct val="116300"/>
              </a:lnSpc>
              <a:spcBef>
                <a:spcPts val="5"/>
              </a:spcBef>
            </a:pPr>
            <a:r>
              <a:rPr sz="3600" dirty="0">
                <a:solidFill>
                  <a:srgbClr val="2E377E"/>
                </a:solidFill>
                <a:latin typeface="Georgia"/>
                <a:cs typeface="Georgia"/>
              </a:rPr>
              <a:t>Daemon</a:t>
            </a:r>
            <a:r>
              <a:rPr sz="3600" spc="-15" dirty="0">
                <a:solidFill>
                  <a:srgbClr val="2E377E"/>
                </a:solidFill>
                <a:latin typeface="Georgia"/>
                <a:cs typeface="Georgia"/>
              </a:rPr>
              <a:t> </a:t>
            </a:r>
            <a:r>
              <a:rPr sz="3600" spc="60" dirty="0">
                <a:solidFill>
                  <a:srgbClr val="2E377E"/>
                </a:solidFill>
                <a:latin typeface="Georgia"/>
                <a:cs typeface="Georgia"/>
              </a:rPr>
              <a:t>sets</a:t>
            </a:r>
            <a:r>
              <a:rPr sz="3600" spc="-10" dirty="0">
                <a:solidFill>
                  <a:srgbClr val="2E377E"/>
                </a:solidFill>
                <a:latin typeface="Georgia"/>
                <a:cs typeface="Georgia"/>
              </a:rPr>
              <a:t> </a:t>
            </a:r>
            <a:r>
              <a:rPr sz="3600" spc="55" dirty="0">
                <a:solidFill>
                  <a:srgbClr val="2E377E"/>
                </a:solidFill>
                <a:latin typeface="Georgia"/>
                <a:cs typeface="Georgia"/>
              </a:rPr>
              <a:t>will</a:t>
            </a:r>
            <a:r>
              <a:rPr sz="3600" spc="-10" dirty="0">
                <a:solidFill>
                  <a:srgbClr val="2E377E"/>
                </a:solidFill>
                <a:latin typeface="Georgia"/>
                <a:cs typeface="Georgia"/>
              </a:rPr>
              <a:t> </a:t>
            </a:r>
            <a:r>
              <a:rPr sz="3600" spc="50" dirty="0">
                <a:solidFill>
                  <a:srgbClr val="2E377E"/>
                </a:solidFill>
                <a:latin typeface="Georgia"/>
                <a:cs typeface="Georgia"/>
              </a:rPr>
              <a:t>not</a:t>
            </a:r>
            <a:r>
              <a:rPr sz="3600" spc="-10" dirty="0">
                <a:solidFill>
                  <a:srgbClr val="2E377E"/>
                </a:solidFill>
                <a:latin typeface="Georgia"/>
                <a:cs typeface="Georgia"/>
              </a:rPr>
              <a:t> </a:t>
            </a:r>
            <a:r>
              <a:rPr sz="3600" dirty="0">
                <a:solidFill>
                  <a:srgbClr val="2E377E"/>
                </a:solidFill>
                <a:latin typeface="Georgia"/>
                <a:cs typeface="Georgia"/>
              </a:rPr>
              <a:t>used</a:t>
            </a:r>
            <a:r>
              <a:rPr sz="3600" spc="-10" dirty="0">
                <a:solidFill>
                  <a:srgbClr val="2E377E"/>
                </a:solidFill>
                <a:latin typeface="Georgia"/>
                <a:cs typeface="Georgia"/>
              </a:rPr>
              <a:t> </a:t>
            </a:r>
            <a:r>
              <a:rPr sz="3600" dirty="0">
                <a:solidFill>
                  <a:srgbClr val="2E377E"/>
                </a:solidFill>
                <a:latin typeface="Georgia"/>
                <a:cs typeface="Georgia"/>
              </a:rPr>
              <a:t>for</a:t>
            </a:r>
            <a:r>
              <a:rPr sz="3600" spc="-10" dirty="0">
                <a:solidFill>
                  <a:srgbClr val="2E377E"/>
                </a:solidFill>
                <a:latin typeface="Georgia"/>
                <a:cs typeface="Georgia"/>
              </a:rPr>
              <a:t> </a:t>
            </a:r>
            <a:r>
              <a:rPr sz="3600" spc="50" dirty="0">
                <a:solidFill>
                  <a:srgbClr val="2E377E"/>
                </a:solidFill>
                <a:latin typeface="Georgia"/>
                <a:cs typeface="Georgia"/>
              </a:rPr>
              <a:t>deployments</a:t>
            </a:r>
            <a:r>
              <a:rPr sz="3600" spc="-15" dirty="0">
                <a:solidFill>
                  <a:srgbClr val="2E377E"/>
                </a:solidFill>
                <a:latin typeface="Georgia"/>
                <a:cs typeface="Georgia"/>
              </a:rPr>
              <a:t> </a:t>
            </a:r>
            <a:r>
              <a:rPr sz="3600" dirty="0">
                <a:solidFill>
                  <a:srgbClr val="2E377E"/>
                </a:solidFill>
                <a:latin typeface="Georgia"/>
                <a:cs typeface="Georgia"/>
              </a:rPr>
              <a:t>on</a:t>
            </a:r>
            <a:r>
              <a:rPr sz="3600" spc="-10" dirty="0">
                <a:solidFill>
                  <a:srgbClr val="2E377E"/>
                </a:solidFill>
                <a:latin typeface="Georgia"/>
                <a:cs typeface="Georgia"/>
              </a:rPr>
              <a:t> </a:t>
            </a:r>
            <a:r>
              <a:rPr sz="3600" dirty="0">
                <a:solidFill>
                  <a:srgbClr val="2E377E"/>
                </a:solidFill>
                <a:latin typeface="Georgia"/>
                <a:cs typeface="Georgia"/>
              </a:rPr>
              <a:t>real-time,</a:t>
            </a:r>
            <a:r>
              <a:rPr sz="3600" spc="-10" dirty="0">
                <a:solidFill>
                  <a:srgbClr val="2E377E"/>
                </a:solidFill>
                <a:latin typeface="Georgia"/>
                <a:cs typeface="Georgia"/>
              </a:rPr>
              <a:t> </a:t>
            </a:r>
            <a:r>
              <a:rPr sz="3600" spc="65" dirty="0">
                <a:solidFill>
                  <a:srgbClr val="2E377E"/>
                </a:solidFill>
                <a:latin typeface="Georgia"/>
                <a:cs typeface="Georgia"/>
              </a:rPr>
              <a:t>it</a:t>
            </a:r>
            <a:r>
              <a:rPr sz="3600" spc="-10" dirty="0">
                <a:solidFill>
                  <a:srgbClr val="2E377E"/>
                </a:solidFill>
                <a:latin typeface="Georgia"/>
                <a:cs typeface="Georgia"/>
              </a:rPr>
              <a:t> </a:t>
            </a:r>
            <a:r>
              <a:rPr sz="3600" dirty="0">
                <a:solidFill>
                  <a:srgbClr val="2E377E"/>
                </a:solidFill>
                <a:latin typeface="Georgia"/>
                <a:cs typeface="Georgia"/>
              </a:rPr>
              <a:t>is</a:t>
            </a:r>
            <a:r>
              <a:rPr sz="3600" spc="-10" dirty="0">
                <a:solidFill>
                  <a:srgbClr val="2E377E"/>
                </a:solidFill>
                <a:latin typeface="Georgia"/>
                <a:cs typeface="Georgia"/>
              </a:rPr>
              <a:t> </a:t>
            </a:r>
            <a:r>
              <a:rPr sz="3600" spc="55" dirty="0">
                <a:solidFill>
                  <a:srgbClr val="2E377E"/>
                </a:solidFill>
                <a:latin typeface="Georgia"/>
                <a:cs typeface="Georgia"/>
              </a:rPr>
              <a:t>only</a:t>
            </a:r>
            <a:r>
              <a:rPr sz="3600" spc="-10"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schedule pods.</a:t>
            </a:r>
            <a:endParaRPr sz="3600">
              <a:latin typeface="Georgia"/>
              <a:cs typeface="Georgia"/>
            </a:endParaRPr>
          </a:p>
        </p:txBody>
      </p:sp>
      <p:pic>
        <p:nvPicPr>
          <p:cNvPr id="5" name="object 5"/>
          <p:cNvPicPr/>
          <p:nvPr/>
        </p:nvPicPr>
        <p:blipFill>
          <a:blip r:embed="rId2" cstate="print"/>
          <a:stretch>
            <a:fillRect/>
          </a:stretch>
        </p:blipFill>
        <p:spPr>
          <a:xfrm>
            <a:off x="1246687" y="2491844"/>
            <a:ext cx="133350" cy="133349"/>
          </a:xfrm>
          <a:prstGeom prst="rect">
            <a:avLst/>
          </a:prstGeom>
        </p:spPr>
      </p:pic>
      <p:pic>
        <p:nvPicPr>
          <p:cNvPr id="6" name="object 6"/>
          <p:cNvPicPr/>
          <p:nvPr/>
        </p:nvPicPr>
        <p:blipFill>
          <a:blip r:embed="rId3" cstate="print"/>
          <a:stretch>
            <a:fillRect/>
          </a:stretch>
        </p:blipFill>
        <p:spPr>
          <a:xfrm>
            <a:off x="1246687" y="3768194"/>
            <a:ext cx="133350" cy="133349"/>
          </a:xfrm>
          <a:prstGeom prst="rect">
            <a:avLst/>
          </a:prstGeom>
        </p:spPr>
      </p:pic>
      <p:pic>
        <p:nvPicPr>
          <p:cNvPr id="7" name="object 7"/>
          <p:cNvPicPr/>
          <p:nvPr/>
        </p:nvPicPr>
        <p:blipFill>
          <a:blip r:embed="rId3" cstate="print"/>
          <a:stretch>
            <a:fillRect/>
          </a:stretch>
        </p:blipFill>
        <p:spPr>
          <a:xfrm>
            <a:off x="1246687" y="4406369"/>
            <a:ext cx="133350" cy="133349"/>
          </a:xfrm>
          <a:prstGeom prst="rect">
            <a:avLst/>
          </a:prstGeom>
        </p:spPr>
      </p:pic>
      <p:pic>
        <p:nvPicPr>
          <p:cNvPr id="8" name="object 8"/>
          <p:cNvPicPr/>
          <p:nvPr/>
        </p:nvPicPr>
        <p:blipFill>
          <a:blip r:embed="rId3" cstate="print"/>
          <a:stretch>
            <a:fillRect/>
          </a:stretch>
        </p:blipFill>
        <p:spPr>
          <a:xfrm>
            <a:off x="1246687" y="5044544"/>
            <a:ext cx="133350" cy="133349"/>
          </a:xfrm>
          <a:prstGeom prst="rect">
            <a:avLst/>
          </a:prstGeom>
        </p:spPr>
      </p:pic>
      <p:pic>
        <p:nvPicPr>
          <p:cNvPr id="9" name="object 9"/>
          <p:cNvPicPr/>
          <p:nvPr/>
        </p:nvPicPr>
        <p:blipFill>
          <a:blip r:embed="rId3" cstate="print"/>
          <a:stretch>
            <a:fillRect/>
          </a:stretch>
        </p:blipFill>
        <p:spPr>
          <a:xfrm>
            <a:off x="1246687" y="5682719"/>
            <a:ext cx="133350" cy="133349"/>
          </a:xfrm>
          <a:prstGeom prst="rect">
            <a:avLst/>
          </a:prstGeom>
        </p:spPr>
      </p:pic>
      <p:pic>
        <p:nvPicPr>
          <p:cNvPr id="10" name="object 10"/>
          <p:cNvPicPr/>
          <p:nvPr/>
        </p:nvPicPr>
        <p:blipFill>
          <a:blip r:embed="rId3" cstate="print"/>
          <a:stretch>
            <a:fillRect/>
          </a:stretch>
        </p:blipFill>
        <p:spPr>
          <a:xfrm>
            <a:off x="1246687" y="6320894"/>
            <a:ext cx="133350" cy="133349"/>
          </a:xfrm>
          <a:prstGeom prst="rect">
            <a:avLst/>
          </a:prstGeom>
        </p:spPr>
      </p:pic>
      <p:pic>
        <p:nvPicPr>
          <p:cNvPr id="11" name="object 11"/>
          <p:cNvPicPr/>
          <p:nvPr/>
        </p:nvPicPr>
        <p:blipFill>
          <a:blip r:embed="rId3" cstate="print"/>
          <a:stretch>
            <a:fillRect/>
          </a:stretch>
        </p:blipFill>
        <p:spPr>
          <a:xfrm>
            <a:off x="1246687" y="6959069"/>
            <a:ext cx="133350" cy="133349"/>
          </a:xfrm>
          <a:prstGeom prst="rect">
            <a:avLst/>
          </a:prstGeom>
        </p:spPr>
      </p:pic>
      <p:pic>
        <p:nvPicPr>
          <p:cNvPr id="12" name="object 12"/>
          <p:cNvPicPr/>
          <p:nvPr/>
        </p:nvPicPr>
        <p:blipFill>
          <a:blip r:embed="rId4" cstate="print"/>
          <a:stretch>
            <a:fillRect/>
          </a:stretch>
        </p:blipFill>
        <p:spPr>
          <a:xfrm>
            <a:off x="1246687" y="8235419"/>
            <a:ext cx="133350" cy="133349"/>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72844" y="298537"/>
            <a:ext cx="9750209" cy="9686924"/>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12124" y="1143287"/>
            <a:ext cx="15785951" cy="815862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76374" y="2162469"/>
            <a:ext cx="133350" cy="133349"/>
          </a:xfrm>
          <a:prstGeom prst="rect">
            <a:avLst/>
          </a:prstGeom>
        </p:spPr>
      </p:pic>
      <p:sp>
        <p:nvSpPr>
          <p:cNvPr id="3" name="object 3"/>
          <p:cNvSpPr txBox="1"/>
          <p:nvPr/>
        </p:nvSpPr>
        <p:spPr>
          <a:xfrm>
            <a:off x="1793180" y="1803059"/>
            <a:ext cx="15213965" cy="7045325"/>
          </a:xfrm>
          <a:prstGeom prst="rect">
            <a:avLst/>
          </a:prstGeom>
        </p:spPr>
        <p:txBody>
          <a:bodyPr vert="horz" wrap="square" lIns="0" tIns="12700" rIns="0" bIns="0" rtlCol="0">
            <a:spAutoFit/>
          </a:bodyPr>
          <a:lstStyle/>
          <a:p>
            <a:pPr marL="12700" marR="742950">
              <a:lnSpc>
                <a:spcPct val="116300"/>
              </a:lnSpc>
              <a:spcBef>
                <a:spcPts val="100"/>
              </a:spcBef>
            </a:pPr>
            <a:r>
              <a:rPr sz="3600" dirty="0">
                <a:solidFill>
                  <a:srgbClr val="2E377E"/>
                </a:solidFill>
                <a:latin typeface="Georgia"/>
                <a:cs typeface="Georgia"/>
              </a:rPr>
              <a:t>Namespaces</a:t>
            </a:r>
            <a:r>
              <a:rPr sz="3600" spc="90" dirty="0">
                <a:solidFill>
                  <a:srgbClr val="2E377E"/>
                </a:solidFill>
                <a:latin typeface="Georgia"/>
                <a:cs typeface="Georgia"/>
              </a:rPr>
              <a:t> </a:t>
            </a:r>
            <a:r>
              <a:rPr sz="3600" dirty="0">
                <a:solidFill>
                  <a:srgbClr val="2E377E"/>
                </a:solidFill>
                <a:latin typeface="Georgia"/>
                <a:cs typeface="Georgia"/>
              </a:rPr>
              <a:t>are</a:t>
            </a:r>
            <a:r>
              <a:rPr sz="3600" spc="90" dirty="0">
                <a:solidFill>
                  <a:srgbClr val="2E377E"/>
                </a:solidFill>
                <a:latin typeface="Georgia"/>
                <a:cs typeface="Georgia"/>
              </a:rPr>
              <a:t> </a:t>
            </a:r>
            <a:r>
              <a:rPr sz="3600" dirty="0">
                <a:solidFill>
                  <a:srgbClr val="2E377E"/>
                </a:solidFill>
                <a:latin typeface="Georgia"/>
                <a:cs typeface="Georgia"/>
              </a:rPr>
              <a:t>used</a:t>
            </a:r>
            <a:r>
              <a:rPr sz="3600" spc="90" dirty="0">
                <a:solidFill>
                  <a:srgbClr val="2E377E"/>
                </a:solidFill>
                <a:latin typeface="Georgia"/>
                <a:cs typeface="Georgia"/>
              </a:rPr>
              <a:t> </a:t>
            </a:r>
            <a:r>
              <a:rPr sz="3600" spc="70" dirty="0">
                <a:solidFill>
                  <a:srgbClr val="2E377E"/>
                </a:solidFill>
                <a:latin typeface="Georgia"/>
                <a:cs typeface="Georgia"/>
              </a:rPr>
              <a:t>to</a:t>
            </a:r>
            <a:r>
              <a:rPr sz="3600" spc="90" dirty="0">
                <a:solidFill>
                  <a:srgbClr val="2E377E"/>
                </a:solidFill>
                <a:latin typeface="Georgia"/>
                <a:cs typeface="Georgia"/>
              </a:rPr>
              <a:t> </a:t>
            </a:r>
            <a:r>
              <a:rPr sz="3600" dirty="0">
                <a:solidFill>
                  <a:srgbClr val="2E377E"/>
                </a:solidFill>
                <a:latin typeface="Georgia"/>
                <a:cs typeface="Georgia"/>
              </a:rPr>
              <a:t>group</a:t>
            </a:r>
            <a:r>
              <a:rPr sz="3600" spc="90" dirty="0">
                <a:solidFill>
                  <a:srgbClr val="2E377E"/>
                </a:solidFill>
                <a:latin typeface="Georgia"/>
                <a:cs typeface="Georgia"/>
              </a:rPr>
              <a:t> </a:t>
            </a:r>
            <a:r>
              <a:rPr sz="3600" spc="60" dirty="0">
                <a:solidFill>
                  <a:srgbClr val="2E377E"/>
                </a:solidFill>
                <a:latin typeface="Georgia"/>
                <a:cs typeface="Georgia"/>
              </a:rPr>
              <a:t>the</a:t>
            </a:r>
            <a:r>
              <a:rPr sz="3600" spc="90" dirty="0">
                <a:solidFill>
                  <a:srgbClr val="2E377E"/>
                </a:solidFill>
                <a:latin typeface="Georgia"/>
                <a:cs typeface="Georgia"/>
              </a:rPr>
              <a:t> </a:t>
            </a:r>
            <a:r>
              <a:rPr sz="3600" dirty="0">
                <a:solidFill>
                  <a:srgbClr val="2E377E"/>
                </a:solidFill>
                <a:latin typeface="Georgia"/>
                <a:cs typeface="Georgia"/>
              </a:rPr>
              <a:t>components</a:t>
            </a:r>
            <a:r>
              <a:rPr sz="3600" spc="95" dirty="0">
                <a:solidFill>
                  <a:srgbClr val="2E377E"/>
                </a:solidFill>
                <a:latin typeface="Georgia"/>
                <a:cs typeface="Georgia"/>
              </a:rPr>
              <a:t> </a:t>
            </a:r>
            <a:r>
              <a:rPr sz="3600" dirty="0">
                <a:solidFill>
                  <a:srgbClr val="2E377E"/>
                </a:solidFill>
                <a:latin typeface="Georgia"/>
                <a:cs typeface="Georgia"/>
              </a:rPr>
              <a:t>like</a:t>
            </a:r>
            <a:r>
              <a:rPr sz="3600" spc="90" dirty="0">
                <a:solidFill>
                  <a:srgbClr val="2E377E"/>
                </a:solidFill>
                <a:latin typeface="Georgia"/>
                <a:cs typeface="Georgia"/>
              </a:rPr>
              <a:t> </a:t>
            </a:r>
            <a:r>
              <a:rPr sz="3600" dirty="0">
                <a:solidFill>
                  <a:srgbClr val="2E377E"/>
                </a:solidFill>
                <a:latin typeface="Georgia"/>
                <a:cs typeface="Georgia"/>
              </a:rPr>
              <a:t>pods,</a:t>
            </a:r>
            <a:r>
              <a:rPr sz="3600" spc="90" dirty="0">
                <a:solidFill>
                  <a:srgbClr val="2E377E"/>
                </a:solidFill>
                <a:latin typeface="Georgia"/>
                <a:cs typeface="Georgia"/>
              </a:rPr>
              <a:t> </a:t>
            </a:r>
            <a:r>
              <a:rPr sz="3600" dirty="0">
                <a:solidFill>
                  <a:srgbClr val="2E377E"/>
                </a:solidFill>
                <a:latin typeface="Georgia"/>
                <a:cs typeface="Georgia"/>
              </a:rPr>
              <a:t>services,</a:t>
            </a:r>
            <a:r>
              <a:rPr sz="3600" spc="90" dirty="0">
                <a:solidFill>
                  <a:srgbClr val="2E377E"/>
                </a:solidFill>
                <a:latin typeface="Georgia"/>
                <a:cs typeface="Georgia"/>
              </a:rPr>
              <a:t> </a:t>
            </a:r>
            <a:r>
              <a:rPr sz="3600" spc="-25" dirty="0">
                <a:solidFill>
                  <a:srgbClr val="2E377E"/>
                </a:solidFill>
                <a:latin typeface="Georgia"/>
                <a:cs typeface="Georgia"/>
              </a:rPr>
              <a:t>and </a:t>
            </a:r>
            <a:r>
              <a:rPr sz="3600" spc="-10" dirty="0">
                <a:solidFill>
                  <a:srgbClr val="2E377E"/>
                </a:solidFill>
                <a:latin typeface="Georgia"/>
                <a:cs typeface="Georgia"/>
              </a:rPr>
              <a:t>deployments.</a:t>
            </a:r>
            <a:endParaRPr sz="3600">
              <a:latin typeface="Georgia"/>
              <a:cs typeface="Georgia"/>
            </a:endParaRPr>
          </a:p>
          <a:p>
            <a:pPr marL="12700" marR="5080">
              <a:lnSpc>
                <a:spcPct val="116300"/>
              </a:lnSpc>
              <a:tabLst>
                <a:tab pos="1098550" algn="l"/>
                <a:tab pos="2023110" algn="l"/>
                <a:tab pos="2713990" algn="l"/>
                <a:tab pos="4183379" algn="l"/>
                <a:tab pos="4989830" algn="l"/>
                <a:tab pos="7367905" algn="l"/>
                <a:tab pos="10579100" algn="l"/>
                <a:tab pos="11745595" algn="l"/>
                <a:tab pos="12381865" algn="l"/>
              </a:tabLst>
            </a:pPr>
            <a:r>
              <a:rPr sz="3600" spc="-20" dirty="0">
                <a:solidFill>
                  <a:srgbClr val="2E377E"/>
                </a:solidFill>
                <a:latin typeface="Georgia"/>
                <a:cs typeface="Georgia"/>
              </a:rPr>
              <a:t>This</a:t>
            </a:r>
            <a:r>
              <a:rPr sz="3600" dirty="0">
                <a:solidFill>
                  <a:srgbClr val="2E377E"/>
                </a:solidFill>
                <a:latin typeface="Georgia"/>
                <a:cs typeface="Georgia"/>
              </a:rPr>
              <a:t>	</a:t>
            </a:r>
            <a:r>
              <a:rPr sz="3600" spc="-25" dirty="0">
                <a:solidFill>
                  <a:srgbClr val="2E377E"/>
                </a:solidFill>
                <a:latin typeface="Georgia"/>
                <a:cs typeface="Georgia"/>
              </a:rPr>
              <a:t>can</a:t>
            </a:r>
            <a:r>
              <a:rPr sz="3600" dirty="0">
                <a:solidFill>
                  <a:srgbClr val="2E377E"/>
                </a:solidFill>
                <a:latin typeface="Georgia"/>
                <a:cs typeface="Georgia"/>
              </a:rPr>
              <a:t>	</a:t>
            </a:r>
            <a:r>
              <a:rPr sz="3600" spc="-25" dirty="0">
                <a:solidFill>
                  <a:srgbClr val="2E377E"/>
                </a:solidFill>
                <a:latin typeface="Georgia"/>
                <a:cs typeface="Georgia"/>
              </a:rPr>
              <a:t>be</a:t>
            </a:r>
            <a:r>
              <a:rPr sz="3600" dirty="0">
                <a:solidFill>
                  <a:srgbClr val="2E377E"/>
                </a:solidFill>
                <a:latin typeface="Georgia"/>
                <a:cs typeface="Georgia"/>
              </a:rPr>
              <a:t>	</a:t>
            </a:r>
            <a:r>
              <a:rPr sz="3600" spc="-10" dirty="0">
                <a:solidFill>
                  <a:srgbClr val="2E377E"/>
                </a:solidFill>
                <a:latin typeface="Georgia"/>
                <a:cs typeface="Georgia"/>
              </a:rPr>
              <a:t>useful</a:t>
            </a:r>
            <a:r>
              <a:rPr sz="3600" dirty="0">
                <a:solidFill>
                  <a:srgbClr val="2E377E"/>
                </a:solidFill>
                <a:latin typeface="Georgia"/>
                <a:cs typeface="Georgia"/>
              </a:rPr>
              <a:t>	</a:t>
            </a:r>
            <a:r>
              <a:rPr sz="3600" spc="-25" dirty="0">
                <a:solidFill>
                  <a:srgbClr val="2E377E"/>
                </a:solidFill>
                <a:latin typeface="Georgia"/>
                <a:cs typeface="Georgia"/>
              </a:rPr>
              <a:t>for</a:t>
            </a:r>
            <a:r>
              <a:rPr sz="3600" dirty="0">
                <a:solidFill>
                  <a:srgbClr val="2E377E"/>
                </a:solidFill>
                <a:latin typeface="Georgia"/>
                <a:cs typeface="Georgia"/>
              </a:rPr>
              <a:t>	</a:t>
            </a:r>
            <a:r>
              <a:rPr sz="3600" spc="-10" dirty="0">
                <a:solidFill>
                  <a:srgbClr val="2E377E"/>
                </a:solidFill>
                <a:latin typeface="Georgia"/>
                <a:cs typeface="Georgia"/>
              </a:rPr>
              <a:t>separating</a:t>
            </a:r>
            <a:r>
              <a:rPr sz="3600" dirty="0">
                <a:solidFill>
                  <a:srgbClr val="2E377E"/>
                </a:solidFill>
                <a:latin typeface="Georgia"/>
                <a:cs typeface="Georgia"/>
              </a:rPr>
              <a:t>	</a:t>
            </a:r>
            <a:r>
              <a:rPr sz="3600" spc="-10" dirty="0">
                <a:solidFill>
                  <a:srgbClr val="2E377E"/>
                </a:solidFill>
                <a:latin typeface="Georgia"/>
                <a:cs typeface="Georgia"/>
              </a:rPr>
              <a:t>environments,</a:t>
            </a:r>
            <a:r>
              <a:rPr sz="3600" dirty="0">
                <a:solidFill>
                  <a:srgbClr val="2E377E"/>
                </a:solidFill>
                <a:latin typeface="Georgia"/>
                <a:cs typeface="Georgia"/>
              </a:rPr>
              <a:t>	</a:t>
            </a:r>
            <a:r>
              <a:rPr sz="3600" spc="-20" dirty="0">
                <a:solidFill>
                  <a:srgbClr val="2E377E"/>
                </a:solidFill>
                <a:latin typeface="Georgia"/>
                <a:cs typeface="Georgia"/>
              </a:rPr>
              <a:t>such</a:t>
            </a:r>
            <a:r>
              <a:rPr sz="3600" dirty="0">
                <a:solidFill>
                  <a:srgbClr val="2E377E"/>
                </a:solidFill>
                <a:latin typeface="Georgia"/>
                <a:cs typeface="Georgia"/>
              </a:rPr>
              <a:t>	</a:t>
            </a:r>
            <a:r>
              <a:rPr sz="3600" spc="-25" dirty="0">
                <a:solidFill>
                  <a:srgbClr val="2E377E"/>
                </a:solidFill>
                <a:latin typeface="Georgia"/>
                <a:cs typeface="Georgia"/>
              </a:rPr>
              <a:t>as</a:t>
            </a:r>
            <a:r>
              <a:rPr sz="3600" dirty="0">
                <a:solidFill>
                  <a:srgbClr val="2E377E"/>
                </a:solidFill>
                <a:latin typeface="Georgia"/>
                <a:cs typeface="Georgia"/>
              </a:rPr>
              <a:t>	</a:t>
            </a:r>
            <a:r>
              <a:rPr sz="3600" spc="-10" dirty="0">
                <a:solidFill>
                  <a:srgbClr val="2E377E"/>
                </a:solidFill>
                <a:latin typeface="Georgia"/>
                <a:cs typeface="Georgia"/>
              </a:rPr>
              <a:t>development, </a:t>
            </a:r>
            <a:r>
              <a:rPr sz="3600" dirty="0">
                <a:solidFill>
                  <a:srgbClr val="2E377E"/>
                </a:solidFill>
                <a:latin typeface="Georgia"/>
                <a:cs typeface="Georgia"/>
              </a:rPr>
              <a:t>staging,</a:t>
            </a:r>
            <a:r>
              <a:rPr sz="3600" spc="65" dirty="0">
                <a:solidFill>
                  <a:srgbClr val="2E377E"/>
                </a:solidFill>
                <a:latin typeface="Georgia"/>
                <a:cs typeface="Georgia"/>
              </a:rPr>
              <a:t> </a:t>
            </a:r>
            <a:r>
              <a:rPr sz="3600" dirty="0">
                <a:solidFill>
                  <a:srgbClr val="2E377E"/>
                </a:solidFill>
                <a:latin typeface="Georgia"/>
                <a:cs typeface="Georgia"/>
              </a:rPr>
              <a:t>and</a:t>
            </a:r>
            <a:r>
              <a:rPr sz="3600" spc="70" dirty="0">
                <a:solidFill>
                  <a:srgbClr val="2E377E"/>
                </a:solidFill>
                <a:latin typeface="Georgia"/>
                <a:cs typeface="Georgia"/>
              </a:rPr>
              <a:t> </a:t>
            </a:r>
            <a:r>
              <a:rPr sz="3600" dirty="0">
                <a:solidFill>
                  <a:srgbClr val="2E377E"/>
                </a:solidFill>
                <a:latin typeface="Georgia"/>
                <a:cs typeface="Georgia"/>
              </a:rPr>
              <a:t>production,</a:t>
            </a:r>
            <a:r>
              <a:rPr sz="3600" spc="70" dirty="0">
                <a:solidFill>
                  <a:srgbClr val="2E377E"/>
                </a:solidFill>
                <a:latin typeface="Georgia"/>
                <a:cs typeface="Georgia"/>
              </a:rPr>
              <a:t> </a:t>
            </a:r>
            <a:r>
              <a:rPr sz="3600" dirty="0">
                <a:solidFill>
                  <a:srgbClr val="2E377E"/>
                </a:solidFill>
                <a:latin typeface="Georgia"/>
                <a:cs typeface="Georgia"/>
              </a:rPr>
              <a:t>or</a:t>
            </a:r>
            <a:r>
              <a:rPr sz="3600" spc="70" dirty="0">
                <a:solidFill>
                  <a:srgbClr val="2E377E"/>
                </a:solidFill>
                <a:latin typeface="Georgia"/>
                <a:cs typeface="Georgia"/>
              </a:rPr>
              <a:t> </a:t>
            </a:r>
            <a:r>
              <a:rPr sz="3600" dirty="0">
                <a:solidFill>
                  <a:srgbClr val="2E377E"/>
                </a:solidFill>
                <a:latin typeface="Georgia"/>
                <a:cs typeface="Georgia"/>
              </a:rPr>
              <a:t>for</a:t>
            </a:r>
            <a:r>
              <a:rPr sz="3600" spc="70" dirty="0">
                <a:solidFill>
                  <a:srgbClr val="2E377E"/>
                </a:solidFill>
                <a:latin typeface="Georgia"/>
                <a:cs typeface="Georgia"/>
              </a:rPr>
              <a:t> </a:t>
            </a:r>
            <a:r>
              <a:rPr sz="3600" dirty="0">
                <a:solidFill>
                  <a:srgbClr val="2E377E"/>
                </a:solidFill>
                <a:latin typeface="Georgia"/>
                <a:cs typeface="Georgia"/>
              </a:rPr>
              <a:t>separating</a:t>
            </a:r>
            <a:r>
              <a:rPr sz="3600" spc="70" dirty="0">
                <a:solidFill>
                  <a:srgbClr val="2E377E"/>
                </a:solidFill>
                <a:latin typeface="Georgia"/>
                <a:cs typeface="Georgia"/>
              </a:rPr>
              <a:t> </a:t>
            </a:r>
            <a:r>
              <a:rPr sz="3600" spc="50" dirty="0">
                <a:solidFill>
                  <a:srgbClr val="2E377E"/>
                </a:solidFill>
                <a:latin typeface="Georgia"/>
                <a:cs typeface="Georgia"/>
              </a:rPr>
              <a:t>different</a:t>
            </a:r>
            <a:r>
              <a:rPr sz="3600" spc="70" dirty="0">
                <a:solidFill>
                  <a:srgbClr val="2E377E"/>
                </a:solidFill>
                <a:latin typeface="Georgia"/>
                <a:cs typeface="Georgia"/>
              </a:rPr>
              <a:t> </a:t>
            </a:r>
            <a:r>
              <a:rPr sz="3600" dirty="0">
                <a:solidFill>
                  <a:srgbClr val="2E377E"/>
                </a:solidFill>
                <a:latin typeface="Georgia"/>
                <a:cs typeface="Georgia"/>
              </a:rPr>
              <a:t>teams</a:t>
            </a:r>
            <a:r>
              <a:rPr sz="3600" spc="70" dirty="0">
                <a:solidFill>
                  <a:srgbClr val="2E377E"/>
                </a:solidFill>
                <a:latin typeface="Georgia"/>
                <a:cs typeface="Georgia"/>
              </a:rPr>
              <a:t> </a:t>
            </a:r>
            <a:r>
              <a:rPr sz="3600" dirty="0">
                <a:solidFill>
                  <a:srgbClr val="2E377E"/>
                </a:solidFill>
                <a:latin typeface="Georgia"/>
                <a:cs typeface="Georgia"/>
              </a:rPr>
              <a:t>or</a:t>
            </a:r>
            <a:r>
              <a:rPr sz="3600" spc="70" dirty="0">
                <a:solidFill>
                  <a:srgbClr val="2E377E"/>
                </a:solidFill>
                <a:latin typeface="Georgia"/>
                <a:cs typeface="Georgia"/>
              </a:rPr>
              <a:t> </a:t>
            </a:r>
            <a:r>
              <a:rPr sz="3600" spc="-10" dirty="0">
                <a:solidFill>
                  <a:srgbClr val="2E377E"/>
                </a:solidFill>
                <a:latin typeface="Georgia"/>
                <a:cs typeface="Georgia"/>
              </a:rPr>
              <a:t>applications.</a:t>
            </a:r>
            <a:endParaRPr sz="3600">
              <a:latin typeface="Georgia"/>
              <a:cs typeface="Georgia"/>
            </a:endParaRPr>
          </a:p>
          <a:p>
            <a:pPr marL="12700" marR="5080">
              <a:lnSpc>
                <a:spcPct val="116300"/>
              </a:lnSpc>
              <a:tabLst>
                <a:tab pos="663575" algn="l"/>
                <a:tab pos="2781935" algn="l"/>
                <a:tab pos="3483610" algn="l"/>
                <a:tab pos="4366895" algn="l"/>
                <a:tab pos="6395720" algn="l"/>
                <a:tab pos="7592059" algn="l"/>
                <a:tab pos="8455660" algn="l"/>
                <a:tab pos="10334625" algn="l"/>
                <a:tab pos="10968990" algn="l"/>
                <a:tab pos="11934190" algn="l"/>
                <a:tab pos="14432915" algn="l"/>
              </a:tabLst>
            </a:pPr>
            <a:r>
              <a:rPr sz="3600" spc="-25" dirty="0">
                <a:solidFill>
                  <a:srgbClr val="2E377E"/>
                </a:solidFill>
                <a:latin typeface="Georgia"/>
                <a:cs typeface="Georgia"/>
              </a:rPr>
              <a:t>In</a:t>
            </a:r>
            <a:r>
              <a:rPr sz="3600" dirty="0">
                <a:solidFill>
                  <a:srgbClr val="2E377E"/>
                </a:solidFill>
                <a:latin typeface="Georgia"/>
                <a:cs typeface="Georgia"/>
              </a:rPr>
              <a:t>	real-</a:t>
            </a:r>
            <a:r>
              <a:rPr sz="3600" spc="35" dirty="0">
                <a:solidFill>
                  <a:srgbClr val="2E377E"/>
                </a:solidFill>
                <a:latin typeface="Georgia"/>
                <a:cs typeface="Georgia"/>
              </a:rPr>
              <a:t>time</a:t>
            </a:r>
            <a:r>
              <a:rPr sz="3600" dirty="0">
                <a:solidFill>
                  <a:srgbClr val="2E377E"/>
                </a:solidFill>
                <a:latin typeface="Georgia"/>
                <a:cs typeface="Georgia"/>
              </a:rPr>
              <a:t>	</a:t>
            </a:r>
            <a:r>
              <a:rPr sz="3600" spc="-25" dirty="0">
                <a:solidFill>
                  <a:srgbClr val="2E377E"/>
                </a:solidFill>
                <a:latin typeface="Georgia"/>
                <a:cs typeface="Georgia"/>
              </a:rPr>
              <a:t>all</a:t>
            </a:r>
            <a:r>
              <a:rPr sz="3600" dirty="0">
                <a:solidFill>
                  <a:srgbClr val="2E377E"/>
                </a:solidFill>
                <a:latin typeface="Georgia"/>
                <a:cs typeface="Georgia"/>
              </a:rPr>
              <a:t>	</a:t>
            </a:r>
            <a:r>
              <a:rPr sz="3600" spc="35" dirty="0">
                <a:solidFill>
                  <a:srgbClr val="2E377E"/>
                </a:solidFill>
                <a:latin typeface="Georgia"/>
                <a:cs typeface="Georgia"/>
              </a:rPr>
              <a:t>the</a:t>
            </a:r>
            <a:r>
              <a:rPr sz="3600" dirty="0">
                <a:solidFill>
                  <a:srgbClr val="2E377E"/>
                </a:solidFill>
                <a:latin typeface="Georgia"/>
                <a:cs typeface="Georgia"/>
              </a:rPr>
              <a:t>	</a:t>
            </a:r>
            <a:r>
              <a:rPr sz="3600" spc="35" dirty="0">
                <a:solidFill>
                  <a:srgbClr val="2E377E"/>
                </a:solidFill>
                <a:latin typeface="Georgia"/>
                <a:cs typeface="Georgia"/>
              </a:rPr>
              <a:t>frontend</a:t>
            </a:r>
            <a:r>
              <a:rPr sz="3600" dirty="0">
                <a:solidFill>
                  <a:srgbClr val="2E377E"/>
                </a:solidFill>
                <a:latin typeface="Georgia"/>
                <a:cs typeface="Georgia"/>
              </a:rPr>
              <a:t>	</a:t>
            </a:r>
            <a:r>
              <a:rPr sz="3600" spc="-20" dirty="0">
                <a:solidFill>
                  <a:srgbClr val="2E377E"/>
                </a:solidFill>
                <a:latin typeface="Georgia"/>
                <a:cs typeface="Georgia"/>
              </a:rPr>
              <a:t>pods</a:t>
            </a:r>
            <a:r>
              <a:rPr sz="3600" dirty="0">
                <a:solidFill>
                  <a:srgbClr val="2E377E"/>
                </a:solidFill>
                <a:latin typeface="Georgia"/>
                <a:cs typeface="Georgia"/>
              </a:rPr>
              <a:t>	</a:t>
            </a:r>
            <a:r>
              <a:rPr sz="3600" spc="-25" dirty="0">
                <a:solidFill>
                  <a:srgbClr val="2E377E"/>
                </a:solidFill>
                <a:latin typeface="Georgia"/>
                <a:cs typeface="Georgia"/>
              </a:rPr>
              <a:t>are</a:t>
            </a:r>
            <a:r>
              <a:rPr sz="3600" dirty="0">
                <a:solidFill>
                  <a:srgbClr val="2E377E"/>
                </a:solidFill>
                <a:latin typeface="Georgia"/>
                <a:cs typeface="Georgia"/>
              </a:rPr>
              <a:t>	</a:t>
            </a:r>
            <a:r>
              <a:rPr sz="3600" spc="-10" dirty="0">
                <a:solidFill>
                  <a:srgbClr val="2E377E"/>
                </a:solidFill>
                <a:latin typeface="Georgia"/>
                <a:cs typeface="Georgia"/>
              </a:rPr>
              <a:t>mapped</a:t>
            </a:r>
            <a:r>
              <a:rPr sz="3600" dirty="0">
                <a:solidFill>
                  <a:srgbClr val="2E377E"/>
                </a:solidFill>
                <a:latin typeface="Georgia"/>
                <a:cs typeface="Georgia"/>
              </a:rPr>
              <a:t>	</a:t>
            </a:r>
            <a:r>
              <a:rPr sz="3600" spc="45" dirty="0">
                <a:solidFill>
                  <a:srgbClr val="2E377E"/>
                </a:solidFill>
                <a:latin typeface="Georgia"/>
                <a:cs typeface="Georgia"/>
              </a:rPr>
              <a:t>to</a:t>
            </a:r>
            <a:r>
              <a:rPr sz="3600" dirty="0">
                <a:solidFill>
                  <a:srgbClr val="2E377E"/>
                </a:solidFill>
                <a:latin typeface="Georgia"/>
                <a:cs typeface="Georgia"/>
              </a:rPr>
              <a:t>	</a:t>
            </a:r>
            <a:r>
              <a:rPr sz="3600" spc="-25" dirty="0">
                <a:solidFill>
                  <a:srgbClr val="2E377E"/>
                </a:solidFill>
                <a:latin typeface="Georgia"/>
                <a:cs typeface="Georgia"/>
              </a:rPr>
              <a:t>one</a:t>
            </a:r>
            <a:r>
              <a:rPr sz="3600" dirty="0">
                <a:solidFill>
                  <a:srgbClr val="2E377E"/>
                </a:solidFill>
                <a:latin typeface="Georgia"/>
                <a:cs typeface="Georgia"/>
              </a:rPr>
              <a:t>	</a:t>
            </a:r>
            <a:r>
              <a:rPr sz="3600" spc="-10" dirty="0">
                <a:solidFill>
                  <a:srgbClr val="2E377E"/>
                </a:solidFill>
                <a:latin typeface="Georgia"/>
                <a:cs typeface="Georgia"/>
              </a:rPr>
              <a:t>namespace</a:t>
            </a:r>
            <a:r>
              <a:rPr sz="3600" dirty="0">
                <a:solidFill>
                  <a:srgbClr val="2E377E"/>
                </a:solidFill>
                <a:latin typeface="Georgia"/>
                <a:cs typeface="Georgia"/>
              </a:rPr>
              <a:t>	</a:t>
            </a:r>
            <a:r>
              <a:rPr sz="3600" spc="-25" dirty="0">
                <a:solidFill>
                  <a:srgbClr val="2E377E"/>
                </a:solidFill>
                <a:latin typeface="Georgia"/>
                <a:cs typeface="Georgia"/>
              </a:rPr>
              <a:t>and </a:t>
            </a:r>
            <a:r>
              <a:rPr sz="3600" dirty="0">
                <a:solidFill>
                  <a:srgbClr val="2E377E"/>
                </a:solidFill>
                <a:latin typeface="Georgia"/>
                <a:cs typeface="Georgia"/>
              </a:rPr>
              <a:t>backend</a:t>
            </a:r>
            <a:r>
              <a:rPr sz="3600" spc="70" dirty="0">
                <a:solidFill>
                  <a:srgbClr val="2E377E"/>
                </a:solidFill>
                <a:latin typeface="Georgia"/>
                <a:cs typeface="Georgia"/>
              </a:rPr>
              <a:t> </a:t>
            </a:r>
            <a:r>
              <a:rPr sz="3600" dirty="0">
                <a:solidFill>
                  <a:srgbClr val="2E377E"/>
                </a:solidFill>
                <a:latin typeface="Georgia"/>
                <a:cs typeface="Georgia"/>
              </a:rPr>
              <a:t>pods</a:t>
            </a:r>
            <a:r>
              <a:rPr sz="3600" spc="75" dirty="0">
                <a:solidFill>
                  <a:srgbClr val="2E377E"/>
                </a:solidFill>
                <a:latin typeface="Georgia"/>
                <a:cs typeface="Georgia"/>
              </a:rPr>
              <a:t> </a:t>
            </a:r>
            <a:r>
              <a:rPr sz="3600" dirty="0">
                <a:solidFill>
                  <a:srgbClr val="2E377E"/>
                </a:solidFill>
                <a:latin typeface="Georgia"/>
                <a:cs typeface="Georgia"/>
              </a:rPr>
              <a:t>are</a:t>
            </a:r>
            <a:r>
              <a:rPr sz="3600" spc="75" dirty="0">
                <a:solidFill>
                  <a:srgbClr val="2E377E"/>
                </a:solidFill>
                <a:latin typeface="Georgia"/>
                <a:cs typeface="Georgia"/>
              </a:rPr>
              <a:t> </a:t>
            </a:r>
            <a:r>
              <a:rPr sz="3600" dirty="0">
                <a:solidFill>
                  <a:srgbClr val="2E377E"/>
                </a:solidFill>
                <a:latin typeface="Georgia"/>
                <a:cs typeface="Georgia"/>
              </a:rPr>
              <a:t>mapped</a:t>
            </a:r>
            <a:r>
              <a:rPr sz="3600" spc="75" dirty="0">
                <a:solidFill>
                  <a:srgbClr val="2E377E"/>
                </a:solidFill>
                <a:latin typeface="Georgia"/>
                <a:cs typeface="Georgia"/>
              </a:rPr>
              <a:t> </a:t>
            </a:r>
            <a:r>
              <a:rPr sz="3600" spc="70" dirty="0">
                <a:solidFill>
                  <a:srgbClr val="2E377E"/>
                </a:solidFill>
                <a:latin typeface="Georgia"/>
                <a:cs typeface="Georgia"/>
              </a:rPr>
              <a:t>to</a:t>
            </a:r>
            <a:r>
              <a:rPr sz="3600" spc="75" dirty="0">
                <a:solidFill>
                  <a:srgbClr val="2E377E"/>
                </a:solidFill>
                <a:latin typeface="Georgia"/>
                <a:cs typeface="Georgia"/>
              </a:rPr>
              <a:t> </a:t>
            </a:r>
            <a:r>
              <a:rPr sz="3600" dirty="0">
                <a:solidFill>
                  <a:srgbClr val="2E377E"/>
                </a:solidFill>
                <a:latin typeface="Georgia"/>
                <a:cs typeface="Georgia"/>
              </a:rPr>
              <a:t>another</a:t>
            </a:r>
            <a:r>
              <a:rPr sz="3600" spc="75" dirty="0">
                <a:solidFill>
                  <a:srgbClr val="2E377E"/>
                </a:solidFill>
                <a:latin typeface="Georgia"/>
                <a:cs typeface="Georgia"/>
              </a:rPr>
              <a:t> </a:t>
            </a:r>
            <a:r>
              <a:rPr sz="3600" spc="-10" dirty="0">
                <a:solidFill>
                  <a:srgbClr val="2E377E"/>
                </a:solidFill>
                <a:latin typeface="Georgia"/>
                <a:cs typeface="Georgia"/>
              </a:rPr>
              <a:t>namespace.</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It</a:t>
            </a:r>
            <a:r>
              <a:rPr sz="3600" spc="-30" dirty="0">
                <a:solidFill>
                  <a:srgbClr val="2E377E"/>
                </a:solidFill>
                <a:latin typeface="Georgia"/>
                <a:cs typeface="Georgia"/>
              </a:rPr>
              <a:t> </a:t>
            </a:r>
            <a:r>
              <a:rPr sz="3600" spc="50" dirty="0">
                <a:solidFill>
                  <a:srgbClr val="2E377E"/>
                </a:solidFill>
                <a:latin typeface="Georgia"/>
                <a:cs typeface="Georgia"/>
              </a:rPr>
              <a:t>represents</a:t>
            </a:r>
            <a:r>
              <a:rPr sz="3600" spc="-30"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spc="55" dirty="0">
                <a:solidFill>
                  <a:srgbClr val="2E377E"/>
                </a:solidFill>
                <a:latin typeface="Georgia"/>
                <a:cs typeface="Georgia"/>
              </a:rPr>
              <a:t>cluster</a:t>
            </a:r>
            <a:r>
              <a:rPr sz="3600" spc="-30" dirty="0">
                <a:solidFill>
                  <a:srgbClr val="2E377E"/>
                </a:solidFill>
                <a:latin typeface="Georgia"/>
                <a:cs typeface="Georgia"/>
              </a:rPr>
              <a:t> </a:t>
            </a:r>
            <a:r>
              <a:rPr sz="3600" dirty="0">
                <a:solidFill>
                  <a:srgbClr val="2E377E"/>
                </a:solidFill>
                <a:latin typeface="Georgia"/>
                <a:cs typeface="Georgia"/>
              </a:rPr>
              <a:t>inside</a:t>
            </a:r>
            <a:r>
              <a:rPr sz="3600" spc="-30"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spc="-10" dirty="0">
                <a:solidFill>
                  <a:srgbClr val="2E377E"/>
                </a:solidFill>
                <a:latin typeface="Georgia"/>
                <a:cs typeface="Georgia"/>
              </a:rPr>
              <a:t>cluster.</a:t>
            </a:r>
            <a:endParaRPr sz="3600">
              <a:latin typeface="Georgia"/>
              <a:cs typeface="Georgia"/>
            </a:endParaRPr>
          </a:p>
          <a:p>
            <a:pPr marL="12700" marR="746125">
              <a:lnSpc>
                <a:spcPct val="116300"/>
              </a:lnSpc>
            </a:pPr>
            <a:r>
              <a:rPr sz="3600" dirty="0">
                <a:solidFill>
                  <a:srgbClr val="2E377E"/>
                </a:solidFill>
                <a:latin typeface="Georgia"/>
                <a:cs typeface="Georgia"/>
              </a:rPr>
              <a:t>You</a:t>
            </a:r>
            <a:r>
              <a:rPr sz="3600" spc="65" dirty="0">
                <a:solidFill>
                  <a:srgbClr val="2E377E"/>
                </a:solidFill>
                <a:latin typeface="Georgia"/>
                <a:cs typeface="Georgia"/>
              </a:rPr>
              <a:t> </a:t>
            </a:r>
            <a:r>
              <a:rPr sz="3600" dirty="0">
                <a:solidFill>
                  <a:srgbClr val="2E377E"/>
                </a:solidFill>
                <a:latin typeface="Georgia"/>
                <a:cs typeface="Georgia"/>
              </a:rPr>
              <a:t>can</a:t>
            </a:r>
            <a:r>
              <a:rPr sz="3600" spc="70" dirty="0">
                <a:solidFill>
                  <a:srgbClr val="2E377E"/>
                </a:solidFill>
                <a:latin typeface="Georgia"/>
                <a:cs typeface="Georgia"/>
              </a:rPr>
              <a:t> </a:t>
            </a:r>
            <a:r>
              <a:rPr sz="3600" spc="55" dirty="0">
                <a:solidFill>
                  <a:srgbClr val="2E377E"/>
                </a:solidFill>
                <a:latin typeface="Georgia"/>
                <a:cs typeface="Georgia"/>
              </a:rPr>
              <a:t>have</a:t>
            </a:r>
            <a:r>
              <a:rPr sz="3600" spc="65" dirty="0">
                <a:solidFill>
                  <a:srgbClr val="2E377E"/>
                </a:solidFill>
                <a:latin typeface="Georgia"/>
                <a:cs typeface="Georgia"/>
              </a:rPr>
              <a:t> </a:t>
            </a:r>
            <a:r>
              <a:rPr sz="3600" dirty="0">
                <a:solidFill>
                  <a:srgbClr val="2E377E"/>
                </a:solidFill>
                <a:latin typeface="Georgia"/>
                <a:cs typeface="Georgia"/>
              </a:rPr>
              <a:t>multiple</a:t>
            </a:r>
            <a:r>
              <a:rPr sz="3600" spc="70" dirty="0">
                <a:solidFill>
                  <a:srgbClr val="2E377E"/>
                </a:solidFill>
                <a:latin typeface="Georgia"/>
                <a:cs typeface="Georgia"/>
              </a:rPr>
              <a:t> </a:t>
            </a:r>
            <a:r>
              <a:rPr sz="3600" dirty="0">
                <a:solidFill>
                  <a:srgbClr val="2E377E"/>
                </a:solidFill>
                <a:latin typeface="Georgia"/>
                <a:cs typeface="Georgia"/>
              </a:rPr>
              <a:t>namespaces</a:t>
            </a:r>
            <a:r>
              <a:rPr sz="3600" spc="70" dirty="0">
                <a:solidFill>
                  <a:srgbClr val="2E377E"/>
                </a:solidFill>
                <a:latin typeface="Georgia"/>
                <a:cs typeface="Georgia"/>
              </a:rPr>
              <a:t> </a:t>
            </a:r>
            <a:r>
              <a:rPr sz="3600" spc="60" dirty="0">
                <a:solidFill>
                  <a:srgbClr val="2E377E"/>
                </a:solidFill>
                <a:latin typeface="Georgia"/>
                <a:cs typeface="Georgia"/>
              </a:rPr>
              <a:t>within</a:t>
            </a:r>
            <a:r>
              <a:rPr sz="3600" spc="65" dirty="0">
                <a:solidFill>
                  <a:srgbClr val="2E377E"/>
                </a:solidFill>
                <a:latin typeface="Georgia"/>
                <a:cs typeface="Georgia"/>
              </a:rPr>
              <a:t> </a:t>
            </a:r>
            <a:r>
              <a:rPr sz="3600" dirty="0">
                <a:solidFill>
                  <a:srgbClr val="2E377E"/>
                </a:solidFill>
                <a:latin typeface="Georgia"/>
                <a:cs typeface="Georgia"/>
              </a:rPr>
              <a:t>one</a:t>
            </a:r>
            <a:r>
              <a:rPr sz="3600" spc="70" dirty="0">
                <a:solidFill>
                  <a:srgbClr val="2E377E"/>
                </a:solidFill>
                <a:latin typeface="Georgia"/>
                <a:cs typeface="Georgia"/>
              </a:rPr>
              <a:t> </a:t>
            </a:r>
            <a:r>
              <a:rPr sz="3600" spc="45" dirty="0">
                <a:solidFill>
                  <a:srgbClr val="2E377E"/>
                </a:solidFill>
                <a:latin typeface="Georgia"/>
                <a:cs typeface="Georgia"/>
              </a:rPr>
              <a:t>Kubernetes</a:t>
            </a:r>
            <a:r>
              <a:rPr sz="3600" spc="70" dirty="0">
                <a:solidFill>
                  <a:srgbClr val="2E377E"/>
                </a:solidFill>
                <a:latin typeface="Georgia"/>
                <a:cs typeface="Georgia"/>
              </a:rPr>
              <a:t> </a:t>
            </a:r>
            <a:r>
              <a:rPr sz="3600" dirty="0">
                <a:solidFill>
                  <a:srgbClr val="2E377E"/>
                </a:solidFill>
                <a:latin typeface="Georgia"/>
                <a:cs typeface="Georgia"/>
              </a:rPr>
              <a:t>cluster,</a:t>
            </a:r>
            <a:r>
              <a:rPr sz="3600" spc="65" dirty="0">
                <a:solidFill>
                  <a:srgbClr val="2E377E"/>
                </a:solidFill>
                <a:latin typeface="Georgia"/>
                <a:cs typeface="Georgia"/>
              </a:rPr>
              <a:t> </a:t>
            </a:r>
            <a:r>
              <a:rPr sz="3600" spc="-25" dirty="0">
                <a:solidFill>
                  <a:srgbClr val="2E377E"/>
                </a:solidFill>
                <a:latin typeface="Georgia"/>
                <a:cs typeface="Georgia"/>
              </a:rPr>
              <a:t>and </a:t>
            </a:r>
            <a:r>
              <a:rPr sz="3600" spc="95" dirty="0">
                <a:solidFill>
                  <a:srgbClr val="2E377E"/>
                </a:solidFill>
                <a:latin typeface="Georgia"/>
                <a:cs typeface="Georgia"/>
              </a:rPr>
              <a:t>they</a:t>
            </a:r>
            <a:r>
              <a:rPr sz="3600" spc="60" dirty="0">
                <a:solidFill>
                  <a:srgbClr val="2E377E"/>
                </a:solidFill>
                <a:latin typeface="Georgia"/>
                <a:cs typeface="Georgia"/>
              </a:rPr>
              <a:t> </a:t>
            </a:r>
            <a:r>
              <a:rPr sz="3600" dirty="0">
                <a:solidFill>
                  <a:srgbClr val="2E377E"/>
                </a:solidFill>
                <a:latin typeface="Georgia"/>
                <a:cs typeface="Georgia"/>
              </a:rPr>
              <a:t>are</a:t>
            </a:r>
            <a:r>
              <a:rPr sz="3600" spc="60" dirty="0">
                <a:solidFill>
                  <a:srgbClr val="2E377E"/>
                </a:solidFill>
                <a:latin typeface="Georgia"/>
                <a:cs typeface="Georgia"/>
              </a:rPr>
              <a:t> </a:t>
            </a:r>
            <a:r>
              <a:rPr sz="3600" dirty="0">
                <a:solidFill>
                  <a:srgbClr val="2E377E"/>
                </a:solidFill>
                <a:latin typeface="Georgia"/>
                <a:cs typeface="Georgia"/>
              </a:rPr>
              <a:t>all</a:t>
            </a:r>
            <a:r>
              <a:rPr sz="3600" spc="60" dirty="0">
                <a:solidFill>
                  <a:srgbClr val="2E377E"/>
                </a:solidFill>
                <a:latin typeface="Georgia"/>
                <a:cs typeface="Georgia"/>
              </a:rPr>
              <a:t> </a:t>
            </a:r>
            <a:r>
              <a:rPr sz="3600" dirty="0">
                <a:solidFill>
                  <a:srgbClr val="2E377E"/>
                </a:solidFill>
                <a:latin typeface="Georgia"/>
                <a:cs typeface="Georgia"/>
              </a:rPr>
              <a:t>logically</a:t>
            </a:r>
            <a:r>
              <a:rPr sz="3600" spc="60" dirty="0">
                <a:solidFill>
                  <a:srgbClr val="2E377E"/>
                </a:solidFill>
                <a:latin typeface="Georgia"/>
                <a:cs typeface="Georgia"/>
              </a:rPr>
              <a:t> </a:t>
            </a:r>
            <a:r>
              <a:rPr sz="3600" dirty="0">
                <a:solidFill>
                  <a:srgbClr val="2E377E"/>
                </a:solidFill>
                <a:latin typeface="Georgia"/>
                <a:cs typeface="Georgia"/>
              </a:rPr>
              <a:t>isolated</a:t>
            </a:r>
            <a:r>
              <a:rPr sz="3600" spc="60" dirty="0">
                <a:solidFill>
                  <a:srgbClr val="2E377E"/>
                </a:solidFill>
                <a:latin typeface="Georgia"/>
                <a:cs typeface="Georgia"/>
              </a:rPr>
              <a:t> </a:t>
            </a:r>
            <a:r>
              <a:rPr sz="3600" dirty="0">
                <a:solidFill>
                  <a:srgbClr val="2E377E"/>
                </a:solidFill>
                <a:latin typeface="Georgia"/>
                <a:cs typeface="Georgia"/>
              </a:rPr>
              <a:t>from</a:t>
            </a:r>
            <a:r>
              <a:rPr sz="3600" spc="65" dirty="0">
                <a:solidFill>
                  <a:srgbClr val="2E377E"/>
                </a:solidFill>
                <a:latin typeface="Georgia"/>
                <a:cs typeface="Georgia"/>
              </a:rPr>
              <a:t> </a:t>
            </a:r>
            <a:r>
              <a:rPr sz="3600" dirty="0">
                <a:solidFill>
                  <a:srgbClr val="2E377E"/>
                </a:solidFill>
                <a:latin typeface="Georgia"/>
                <a:cs typeface="Georgia"/>
              </a:rPr>
              <a:t>one</a:t>
            </a:r>
            <a:r>
              <a:rPr sz="3600" spc="60" dirty="0">
                <a:solidFill>
                  <a:srgbClr val="2E377E"/>
                </a:solidFill>
                <a:latin typeface="Georgia"/>
                <a:cs typeface="Georgia"/>
              </a:rPr>
              <a:t> </a:t>
            </a:r>
            <a:r>
              <a:rPr sz="3600" spc="-10" dirty="0">
                <a:solidFill>
                  <a:srgbClr val="2E377E"/>
                </a:solidFill>
                <a:latin typeface="Georgia"/>
                <a:cs typeface="Georgia"/>
              </a:rPr>
              <a:t>another.</a:t>
            </a:r>
            <a:endParaRPr sz="3600">
              <a:latin typeface="Georgia"/>
              <a:cs typeface="Georgia"/>
            </a:endParaRPr>
          </a:p>
          <a:p>
            <a:pPr marL="12700" marR="907415">
              <a:lnSpc>
                <a:spcPct val="116300"/>
              </a:lnSpc>
              <a:spcBef>
                <a:spcPts val="5"/>
              </a:spcBef>
            </a:pPr>
            <a:r>
              <a:rPr sz="3600" dirty="0">
                <a:solidFill>
                  <a:srgbClr val="2E377E"/>
                </a:solidFill>
                <a:latin typeface="Georgia"/>
                <a:cs typeface="Georgia"/>
              </a:rPr>
              <a:t>Namespaces</a:t>
            </a:r>
            <a:r>
              <a:rPr sz="3600" spc="15" dirty="0">
                <a:solidFill>
                  <a:srgbClr val="2E377E"/>
                </a:solidFill>
                <a:latin typeface="Georgia"/>
                <a:cs typeface="Georgia"/>
              </a:rPr>
              <a:t> </a:t>
            </a:r>
            <a:r>
              <a:rPr sz="3600" spc="50" dirty="0">
                <a:solidFill>
                  <a:srgbClr val="2E377E"/>
                </a:solidFill>
                <a:latin typeface="Georgia"/>
                <a:cs typeface="Georgia"/>
              </a:rPr>
              <a:t>provide</a:t>
            </a:r>
            <a:r>
              <a:rPr sz="3600" spc="20"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logical</a:t>
            </a:r>
            <a:r>
              <a:rPr sz="3600" spc="15" dirty="0">
                <a:solidFill>
                  <a:srgbClr val="2E377E"/>
                </a:solidFill>
                <a:latin typeface="Georgia"/>
                <a:cs typeface="Georgia"/>
              </a:rPr>
              <a:t> </a:t>
            </a:r>
            <a:r>
              <a:rPr sz="3600" dirty="0">
                <a:solidFill>
                  <a:srgbClr val="2E377E"/>
                </a:solidFill>
                <a:latin typeface="Georgia"/>
                <a:cs typeface="Georgia"/>
              </a:rPr>
              <a:t>separation</a:t>
            </a:r>
            <a:r>
              <a:rPr sz="3600" spc="20"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spc="55" dirty="0">
                <a:solidFill>
                  <a:srgbClr val="2E377E"/>
                </a:solidFill>
                <a:latin typeface="Georgia"/>
                <a:cs typeface="Georgia"/>
              </a:rPr>
              <a:t>cluster</a:t>
            </a:r>
            <a:r>
              <a:rPr sz="3600" spc="15" dirty="0">
                <a:solidFill>
                  <a:srgbClr val="2E377E"/>
                </a:solidFill>
                <a:latin typeface="Georgia"/>
                <a:cs typeface="Georgia"/>
              </a:rPr>
              <a:t> </a:t>
            </a:r>
            <a:r>
              <a:rPr sz="3600" spc="45" dirty="0">
                <a:solidFill>
                  <a:srgbClr val="2E377E"/>
                </a:solidFill>
                <a:latin typeface="Georgia"/>
                <a:cs typeface="Georgia"/>
              </a:rPr>
              <a:t>resources</a:t>
            </a:r>
            <a:r>
              <a:rPr sz="3600" spc="20" dirty="0">
                <a:solidFill>
                  <a:srgbClr val="2E377E"/>
                </a:solidFill>
                <a:latin typeface="Georgia"/>
                <a:cs typeface="Georgia"/>
              </a:rPr>
              <a:t> </a:t>
            </a:r>
            <a:r>
              <a:rPr sz="3600" spc="70" dirty="0">
                <a:solidFill>
                  <a:srgbClr val="2E377E"/>
                </a:solidFill>
                <a:latin typeface="Georgia"/>
                <a:cs typeface="Georgia"/>
              </a:rPr>
              <a:t>between </a:t>
            </a:r>
            <a:r>
              <a:rPr sz="3600" dirty="0">
                <a:solidFill>
                  <a:srgbClr val="2E377E"/>
                </a:solidFill>
                <a:latin typeface="Georgia"/>
                <a:cs typeface="Georgia"/>
              </a:rPr>
              <a:t>multiple</a:t>
            </a:r>
            <a:r>
              <a:rPr sz="3600" spc="70" dirty="0">
                <a:solidFill>
                  <a:srgbClr val="2E377E"/>
                </a:solidFill>
                <a:latin typeface="Georgia"/>
                <a:cs typeface="Georgia"/>
              </a:rPr>
              <a:t> </a:t>
            </a:r>
            <a:r>
              <a:rPr sz="3600" dirty="0">
                <a:solidFill>
                  <a:srgbClr val="2E377E"/>
                </a:solidFill>
                <a:latin typeface="Georgia"/>
                <a:cs typeface="Georgia"/>
              </a:rPr>
              <a:t>users,</a:t>
            </a:r>
            <a:r>
              <a:rPr sz="3600" spc="70" dirty="0">
                <a:solidFill>
                  <a:srgbClr val="2E377E"/>
                </a:solidFill>
                <a:latin typeface="Georgia"/>
                <a:cs typeface="Georgia"/>
              </a:rPr>
              <a:t> </a:t>
            </a:r>
            <a:r>
              <a:rPr sz="3600" dirty="0">
                <a:solidFill>
                  <a:srgbClr val="2E377E"/>
                </a:solidFill>
                <a:latin typeface="Georgia"/>
                <a:cs typeface="Georgia"/>
              </a:rPr>
              <a:t>teams,</a:t>
            </a:r>
            <a:r>
              <a:rPr sz="3600" spc="75" dirty="0">
                <a:solidFill>
                  <a:srgbClr val="2E377E"/>
                </a:solidFill>
                <a:latin typeface="Georgia"/>
                <a:cs typeface="Georgia"/>
              </a:rPr>
              <a:t> </a:t>
            </a:r>
            <a:r>
              <a:rPr sz="3600" dirty="0">
                <a:solidFill>
                  <a:srgbClr val="2E377E"/>
                </a:solidFill>
                <a:latin typeface="Georgia"/>
                <a:cs typeface="Georgia"/>
              </a:rPr>
              <a:t>projects,</a:t>
            </a:r>
            <a:r>
              <a:rPr sz="3600" spc="70" dirty="0">
                <a:solidFill>
                  <a:srgbClr val="2E377E"/>
                </a:solidFill>
                <a:latin typeface="Georgia"/>
                <a:cs typeface="Georgia"/>
              </a:rPr>
              <a:t> </a:t>
            </a:r>
            <a:r>
              <a:rPr sz="3600" dirty="0">
                <a:solidFill>
                  <a:srgbClr val="2E377E"/>
                </a:solidFill>
                <a:latin typeface="Georgia"/>
                <a:cs typeface="Georgia"/>
              </a:rPr>
              <a:t>and</a:t>
            </a:r>
            <a:r>
              <a:rPr sz="3600" spc="70" dirty="0">
                <a:solidFill>
                  <a:srgbClr val="2E377E"/>
                </a:solidFill>
                <a:latin typeface="Georgia"/>
                <a:cs typeface="Georgia"/>
              </a:rPr>
              <a:t> </a:t>
            </a:r>
            <a:r>
              <a:rPr sz="3600" spc="80" dirty="0">
                <a:solidFill>
                  <a:srgbClr val="2E377E"/>
                </a:solidFill>
                <a:latin typeface="Georgia"/>
                <a:cs typeface="Georgia"/>
              </a:rPr>
              <a:t>even</a:t>
            </a:r>
            <a:r>
              <a:rPr sz="3600" spc="75" dirty="0">
                <a:solidFill>
                  <a:srgbClr val="2E377E"/>
                </a:solidFill>
                <a:latin typeface="Georgia"/>
                <a:cs typeface="Georgia"/>
              </a:rPr>
              <a:t> </a:t>
            </a:r>
            <a:r>
              <a:rPr sz="3600" spc="-10" dirty="0">
                <a:solidFill>
                  <a:srgbClr val="2E377E"/>
                </a:solidFill>
                <a:latin typeface="Georgia"/>
                <a:cs typeface="Georgia"/>
              </a:rPr>
              <a:t>customers.</a:t>
            </a:r>
            <a:endParaRPr sz="3600">
              <a:latin typeface="Georgia"/>
              <a:cs typeface="Georgia"/>
            </a:endParaRPr>
          </a:p>
        </p:txBody>
      </p:sp>
      <p:pic>
        <p:nvPicPr>
          <p:cNvPr id="4" name="object 4"/>
          <p:cNvPicPr/>
          <p:nvPr/>
        </p:nvPicPr>
        <p:blipFill>
          <a:blip r:embed="rId2" cstate="print"/>
          <a:stretch>
            <a:fillRect/>
          </a:stretch>
        </p:blipFill>
        <p:spPr>
          <a:xfrm>
            <a:off x="1476374" y="3438819"/>
            <a:ext cx="133350" cy="133349"/>
          </a:xfrm>
          <a:prstGeom prst="rect">
            <a:avLst/>
          </a:prstGeom>
        </p:spPr>
      </p:pic>
      <p:pic>
        <p:nvPicPr>
          <p:cNvPr id="5" name="object 5"/>
          <p:cNvPicPr/>
          <p:nvPr/>
        </p:nvPicPr>
        <p:blipFill>
          <a:blip r:embed="rId2" cstate="print"/>
          <a:stretch>
            <a:fillRect/>
          </a:stretch>
        </p:blipFill>
        <p:spPr>
          <a:xfrm>
            <a:off x="1476374" y="4715169"/>
            <a:ext cx="133350" cy="133349"/>
          </a:xfrm>
          <a:prstGeom prst="rect">
            <a:avLst/>
          </a:prstGeom>
        </p:spPr>
      </p:pic>
      <p:pic>
        <p:nvPicPr>
          <p:cNvPr id="6" name="object 6"/>
          <p:cNvPicPr/>
          <p:nvPr/>
        </p:nvPicPr>
        <p:blipFill>
          <a:blip r:embed="rId2" cstate="print"/>
          <a:stretch>
            <a:fillRect/>
          </a:stretch>
        </p:blipFill>
        <p:spPr>
          <a:xfrm>
            <a:off x="1476374" y="5991519"/>
            <a:ext cx="133350" cy="133349"/>
          </a:xfrm>
          <a:prstGeom prst="rect">
            <a:avLst/>
          </a:prstGeom>
        </p:spPr>
      </p:pic>
      <p:pic>
        <p:nvPicPr>
          <p:cNvPr id="7" name="object 7"/>
          <p:cNvPicPr/>
          <p:nvPr/>
        </p:nvPicPr>
        <p:blipFill>
          <a:blip r:embed="rId2" cstate="print"/>
          <a:stretch>
            <a:fillRect/>
          </a:stretch>
        </p:blipFill>
        <p:spPr>
          <a:xfrm>
            <a:off x="1476374" y="6629694"/>
            <a:ext cx="133350" cy="133349"/>
          </a:xfrm>
          <a:prstGeom prst="rect">
            <a:avLst/>
          </a:prstGeom>
        </p:spPr>
      </p:pic>
      <p:pic>
        <p:nvPicPr>
          <p:cNvPr id="8" name="object 8"/>
          <p:cNvPicPr/>
          <p:nvPr/>
        </p:nvPicPr>
        <p:blipFill>
          <a:blip r:embed="rId3" cstate="print"/>
          <a:stretch>
            <a:fillRect/>
          </a:stretch>
        </p:blipFill>
        <p:spPr>
          <a:xfrm>
            <a:off x="1476374" y="7906043"/>
            <a:ext cx="133350" cy="133349"/>
          </a:xfrm>
          <a:prstGeom prst="rect">
            <a:avLst/>
          </a:prstGeom>
        </p:spPr>
      </p:pic>
      <p:sp>
        <p:nvSpPr>
          <p:cNvPr id="9" name="object 9"/>
          <p:cNvSpPr txBox="1">
            <a:spLocks noGrp="1"/>
          </p:cNvSpPr>
          <p:nvPr>
            <p:ph type="title"/>
          </p:nvPr>
        </p:nvSpPr>
        <p:spPr>
          <a:xfrm>
            <a:off x="541235" y="552581"/>
            <a:ext cx="4038600" cy="787400"/>
          </a:xfrm>
          <a:prstGeom prst="rect">
            <a:avLst/>
          </a:prstGeom>
        </p:spPr>
        <p:txBody>
          <a:bodyPr vert="horz" wrap="square" lIns="0" tIns="12700" rIns="0" bIns="0" rtlCol="0">
            <a:spAutoFit/>
          </a:bodyPr>
          <a:lstStyle/>
          <a:p>
            <a:pPr marL="12700">
              <a:lnSpc>
                <a:spcPct val="100000"/>
              </a:lnSpc>
              <a:spcBef>
                <a:spcPts val="100"/>
              </a:spcBef>
            </a:pPr>
            <a:r>
              <a:rPr spc="-175" dirty="0">
                <a:solidFill>
                  <a:srgbClr val="FF3131"/>
                </a:solidFill>
              </a:rPr>
              <a:t>NAMESPACE:</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78987" y="1000687"/>
            <a:ext cx="133350" cy="133349"/>
          </a:xfrm>
          <a:prstGeom prst="rect">
            <a:avLst/>
          </a:prstGeom>
        </p:spPr>
      </p:pic>
      <p:sp>
        <p:nvSpPr>
          <p:cNvPr id="3" name="object 3"/>
          <p:cNvSpPr txBox="1"/>
          <p:nvPr/>
        </p:nvSpPr>
        <p:spPr>
          <a:xfrm>
            <a:off x="1495793" y="641277"/>
            <a:ext cx="16035019" cy="895985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Within</a:t>
            </a:r>
            <a:r>
              <a:rPr sz="3600" spc="-55" dirty="0">
                <a:solidFill>
                  <a:srgbClr val="2E377E"/>
                </a:solidFill>
                <a:latin typeface="Georgia"/>
                <a:cs typeface="Georgia"/>
              </a:rPr>
              <a:t> </a:t>
            </a:r>
            <a:r>
              <a:rPr sz="3600" spc="60" dirty="0">
                <a:solidFill>
                  <a:srgbClr val="2E377E"/>
                </a:solidFill>
                <a:latin typeface="Georgia"/>
                <a:cs typeface="Georgia"/>
              </a:rPr>
              <a:t>the</a:t>
            </a:r>
            <a:r>
              <a:rPr sz="3600" spc="-50" dirty="0">
                <a:solidFill>
                  <a:srgbClr val="2E377E"/>
                </a:solidFill>
                <a:latin typeface="Georgia"/>
                <a:cs typeface="Georgia"/>
              </a:rPr>
              <a:t> </a:t>
            </a:r>
            <a:r>
              <a:rPr sz="3600" dirty="0">
                <a:solidFill>
                  <a:srgbClr val="2E377E"/>
                </a:solidFill>
                <a:latin typeface="Georgia"/>
                <a:cs typeface="Georgia"/>
              </a:rPr>
              <a:t>same</a:t>
            </a:r>
            <a:r>
              <a:rPr sz="3600" spc="-55" dirty="0">
                <a:solidFill>
                  <a:srgbClr val="2E377E"/>
                </a:solidFill>
                <a:latin typeface="Georgia"/>
                <a:cs typeface="Georgia"/>
              </a:rPr>
              <a:t> </a:t>
            </a:r>
            <a:r>
              <a:rPr sz="3600" dirty="0">
                <a:solidFill>
                  <a:srgbClr val="2E377E"/>
                </a:solidFill>
                <a:latin typeface="Georgia"/>
                <a:cs typeface="Georgia"/>
              </a:rPr>
              <a:t>Namespace,</a:t>
            </a:r>
            <a:r>
              <a:rPr sz="3600" spc="-50" dirty="0">
                <a:solidFill>
                  <a:srgbClr val="2E377E"/>
                </a:solidFill>
                <a:latin typeface="Georgia"/>
                <a:cs typeface="Georgia"/>
              </a:rPr>
              <a:t> </a:t>
            </a:r>
            <a:r>
              <a:rPr sz="3600" dirty="0">
                <a:solidFill>
                  <a:srgbClr val="2E377E"/>
                </a:solidFill>
                <a:latin typeface="Georgia"/>
                <a:cs typeface="Georgia"/>
              </a:rPr>
              <a:t>Pod</a:t>
            </a:r>
            <a:r>
              <a:rPr sz="3600" spc="-50" dirty="0">
                <a:solidFill>
                  <a:srgbClr val="2E377E"/>
                </a:solidFill>
                <a:latin typeface="Georgia"/>
                <a:cs typeface="Georgia"/>
              </a:rPr>
              <a:t> </a:t>
            </a:r>
            <a:r>
              <a:rPr sz="3600" spc="70" dirty="0">
                <a:solidFill>
                  <a:srgbClr val="2E377E"/>
                </a:solidFill>
                <a:latin typeface="Georgia"/>
                <a:cs typeface="Georgia"/>
              </a:rPr>
              <a:t>to</a:t>
            </a:r>
            <a:r>
              <a:rPr sz="3600" spc="-55" dirty="0">
                <a:solidFill>
                  <a:srgbClr val="2E377E"/>
                </a:solidFill>
                <a:latin typeface="Georgia"/>
                <a:cs typeface="Georgia"/>
              </a:rPr>
              <a:t> </a:t>
            </a:r>
            <a:r>
              <a:rPr sz="3600" dirty="0">
                <a:solidFill>
                  <a:srgbClr val="2E377E"/>
                </a:solidFill>
                <a:latin typeface="Georgia"/>
                <a:cs typeface="Georgia"/>
              </a:rPr>
              <a:t>Pod</a:t>
            </a:r>
            <a:r>
              <a:rPr sz="3600" spc="-50" dirty="0">
                <a:solidFill>
                  <a:srgbClr val="2E377E"/>
                </a:solidFill>
                <a:latin typeface="Georgia"/>
                <a:cs typeface="Georgia"/>
              </a:rPr>
              <a:t> </a:t>
            </a:r>
            <a:r>
              <a:rPr sz="3600" spc="-10" dirty="0">
                <a:solidFill>
                  <a:srgbClr val="2E377E"/>
                </a:solidFill>
                <a:latin typeface="Georgia"/>
                <a:cs typeface="Georgia"/>
              </a:rPr>
              <a:t>communication.</a:t>
            </a:r>
            <a:endParaRPr sz="3600">
              <a:latin typeface="Georgia"/>
              <a:cs typeface="Georgia"/>
            </a:endParaRPr>
          </a:p>
          <a:p>
            <a:pPr marL="12700" marR="542290">
              <a:lnSpc>
                <a:spcPct val="116300"/>
              </a:lnSpc>
            </a:pPr>
            <a:r>
              <a:rPr sz="3600" dirty="0">
                <a:solidFill>
                  <a:srgbClr val="2E377E"/>
                </a:solidFill>
                <a:latin typeface="Georgia"/>
                <a:cs typeface="Georgia"/>
              </a:rPr>
              <a:t>Namespaces</a:t>
            </a:r>
            <a:r>
              <a:rPr sz="3600" spc="20" dirty="0">
                <a:solidFill>
                  <a:srgbClr val="2E377E"/>
                </a:solidFill>
                <a:latin typeface="Georgia"/>
                <a:cs typeface="Georgia"/>
              </a:rPr>
              <a:t> </a:t>
            </a:r>
            <a:r>
              <a:rPr sz="3600" dirty="0">
                <a:solidFill>
                  <a:srgbClr val="2E377E"/>
                </a:solidFill>
                <a:latin typeface="Georgia"/>
                <a:cs typeface="Georgia"/>
              </a:rPr>
              <a:t>are</a:t>
            </a:r>
            <a:r>
              <a:rPr sz="3600" spc="20" dirty="0">
                <a:solidFill>
                  <a:srgbClr val="2E377E"/>
                </a:solidFill>
                <a:latin typeface="Georgia"/>
                <a:cs typeface="Georgia"/>
              </a:rPr>
              <a:t> </a:t>
            </a:r>
            <a:r>
              <a:rPr sz="3600" spc="55" dirty="0">
                <a:solidFill>
                  <a:srgbClr val="2E377E"/>
                </a:solidFill>
                <a:latin typeface="Georgia"/>
                <a:cs typeface="Georgia"/>
              </a:rPr>
              <a:t>only</a:t>
            </a:r>
            <a:r>
              <a:rPr sz="3600" spc="20" dirty="0">
                <a:solidFill>
                  <a:srgbClr val="2E377E"/>
                </a:solidFill>
                <a:latin typeface="Georgia"/>
                <a:cs typeface="Georgia"/>
              </a:rPr>
              <a:t> </a:t>
            </a:r>
            <a:r>
              <a:rPr sz="3600" dirty="0">
                <a:solidFill>
                  <a:srgbClr val="2E377E"/>
                </a:solidFill>
                <a:latin typeface="Georgia"/>
                <a:cs typeface="Georgia"/>
              </a:rPr>
              <a:t>hidden</a:t>
            </a:r>
            <a:r>
              <a:rPr sz="3600" spc="20" dirty="0">
                <a:solidFill>
                  <a:srgbClr val="2E377E"/>
                </a:solidFill>
                <a:latin typeface="Georgia"/>
                <a:cs typeface="Georgia"/>
              </a:rPr>
              <a:t> </a:t>
            </a:r>
            <a:r>
              <a:rPr sz="3600" dirty="0">
                <a:solidFill>
                  <a:srgbClr val="2E377E"/>
                </a:solidFill>
                <a:latin typeface="Georgia"/>
                <a:cs typeface="Georgia"/>
              </a:rPr>
              <a:t>from</a:t>
            </a:r>
            <a:r>
              <a:rPr sz="3600" spc="25" dirty="0">
                <a:solidFill>
                  <a:srgbClr val="2E377E"/>
                </a:solidFill>
                <a:latin typeface="Georgia"/>
                <a:cs typeface="Georgia"/>
              </a:rPr>
              <a:t> </a:t>
            </a:r>
            <a:r>
              <a:rPr sz="3600" dirty="0">
                <a:solidFill>
                  <a:srgbClr val="2E377E"/>
                </a:solidFill>
                <a:latin typeface="Georgia"/>
                <a:cs typeface="Georgia"/>
              </a:rPr>
              <a:t>each</a:t>
            </a:r>
            <a:r>
              <a:rPr sz="3600" spc="20" dirty="0">
                <a:solidFill>
                  <a:srgbClr val="2E377E"/>
                </a:solidFill>
                <a:latin typeface="Georgia"/>
                <a:cs typeface="Georgia"/>
              </a:rPr>
              <a:t> </a:t>
            </a:r>
            <a:r>
              <a:rPr sz="3600" spc="50" dirty="0">
                <a:solidFill>
                  <a:srgbClr val="2E377E"/>
                </a:solidFill>
                <a:latin typeface="Georgia"/>
                <a:cs typeface="Georgia"/>
              </a:rPr>
              <a:t>other</a:t>
            </a:r>
            <a:r>
              <a:rPr sz="3600" spc="20" dirty="0">
                <a:solidFill>
                  <a:srgbClr val="2E377E"/>
                </a:solidFill>
                <a:latin typeface="Georgia"/>
                <a:cs typeface="Georgia"/>
              </a:rPr>
              <a:t> </a:t>
            </a:r>
            <a:r>
              <a:rPr sz="3600" spc="60" dirty="0">
                <a:solidFill>
                  <a:srgbClr val="2E377E"/>
                </a:solidFill>
                <a:latin typeface="Georgia"/>
                <a:cs typeface="Georgia"/>
              </a:rPr>
              <a:t>but</a:t>
            </a:r>
            <a:r>
              <a:rPr sz="3600" spc="20" dirty="0">
                <a:solidFill>
                  <a:srgbClr val="2E377E"/>
                </a:solidFill>
                <a:latin typeface="Georgia"/>
                <a:cs typeface="Georgia"/>
              </a:rPr>
              <a:t> </a:t>
            </a:r>
            <a:r>
              <a:rPr sz="3600" dirty="0">
                <a:solidFill>
                  <a:srgbClr val="2E377E"/>
                </a:solidFill>
                <a:latin typeface="Georgia"/>
                <a:cs typeface="Georgia"/>
              </a:rPr>
              <a:t>are</a:t>
            </a:r>
            <a:r>
              <a:rPr sz="3600" spc="20" dirty="0">
                <a:solidFill>
                  <a:srgbClr val="2E377E"/>
                </a:solidFill>
                <a:latin typeface="Georgia"/>
                <a:cs typeface="Georgia"/>
              </a:rPr>
              <a:t> </a:t>
            </a:r>
            <a:r>
              <a:rPr sz="3600" spc="50" dirty="0">
                <a:solidFill>
                  <a:srgbClr val="2E377E"/>
                </a:solidFill>
                <a:latin typeface="Georgia"/>
                <a:cs typeface="Georgia"/>
              </a:rPr>
              <a:t>not</a:t>
            </a:r>
            <a:r>
              <a:rPr sz="3600" spc="25" dirty="0">
                <a:solidFill>
                  <a:srgbClr val="2E377E"/>
                </a:solidFill>
                <a:latin typeface="Georgia"/>
                <a:cs typeface="Georgia"/>
              </a:rPr>
              <a:t> </a:t>
            </a:r>
            <a:r>
              <a:rPr sz="3600" spc="60" dirty="0">
                <a:solidFill>
                  <a:srgbClr val="2E377E"/>
                </a:solidFill>
                <a:latin typeface="Georgia"/>
                <a:cs typeface="Georgia"/>
              </a:rPr>
              <a:t>fully</a:t>
            </a:r>
            <a:r>
              <a:rPr sz="3600" spc="20" dirty="0">
                <a:solidFill>
                  <a:srgbClr val="2E377E"/>
                </a:solidFill>
                <a:latin typeface="Georgia"/>
                <a:cs typeface="Georgia"/>
              </a:rPr>
              <a:t> </a:t>
            </a:r>
            <a:r>
              <a:rPr sz="3600" dirty="0">
                <a:solidFill>
                  <a:srgbClr val="2E377E"/>
                </a:solidFill>
                <a:latin typeface="Georgia"/>
                <a:cs typeface="Georgia"/>
              </a:rPr>
              <a:t>isolated</a:t>
            </a:r>
            <a:r>
              <a:rPr sz="3600" spc="20" dirty="0">
                <a:solidFill>
                  <a:srgbClr val="2E377E"/>
                </a:solidFill>
                <a:latin typeface="Georgia"/>
                <a:cs typeface="Georgia"/>
              </a:rPr>
              <a:t> </a:t>
            </a:r>
            <a:r>
              <a:rPr sz="3600" spc="-20" dirty="0">
                <a:solidFill>
                  <a:srgbClr val="2E377E"/>
                </a:solidFill>
                <a:latin typeface="Georgia"/>
                <a:cs typeface="Georgia"/>
              </a:rPr>
              <a:t>from </a:t>
            </a:r>
            <a:r>
              <a:rPr sz="3600" dirty="0">
                <a:solidFill>
                  <a:srgbClr val="2E377E"/>
                </a:solidFill>
                <a:latin typeface="Georgia"/>
                <a:cs typeface="Georgia"/>
              </a:rPr>
              <a:t>each</a:t>
            </a:r>
            <a:r>
              <a:rPr sz="3600" spc="45" dirty="0">
                <a:solidFill>
                  <a:srgbClr val="2E377E"/>
                </a:solidFill>
                <a:latin typeface="Georgia"/>
                <a:cs typeface="Georgia"/>
              </a:rPr>
              <a:t> </a:t>
            </a:r>
            <a:r>
              <a:rPr sz="3600" spc="-10" dirty="0">
                <a:solidFill>
                  <a:srgbClr val="2E377E"/>
                </a:solidFill>
                <a:latin typeface="Georgia"/>
                <a:cs typeface="Georgia"/>
              </a:rPr>
              <a:t>other.</a:t>
            </a:r>
            <a:endParaRPr sz="3600">
              <a:latin typeface="Georgia"/>
              <a:cs typeface="Georgia"/>
            </a:endParaRPr>
          </a:p>
          <a:p>
            <a:pPr marL="12700" marR="621030">
              <a:lnSpc>
                <a:spcPct val="116300"/>
              </a:lnSpc>
            </a:pPr>
            <a:r>
              <a:rPr sz="3600" dirty="0">
                <a:solidFill>
                  <a:srgbClr val="2E377E"/>
                </a:solidFill>
                <a:latin typeface="Georgia"/>
                <a:cs typeface="Georgia"/>
              </a:rPr>
              <a:t>Nodes and Kubernetes Volumes</a:t>
            </a:r>
            <a:r>
              <a:rPr sz="3600" spc="5" dirty="0">
                <a:solidFill>
                  <a:srgbClr val="2E377E"/>
                </a:solidFill>
                <a:latin typeface="Georgia"/>
                <a:cs typeface="Georgia"/>
              </a:rPr>
              <a:t> </a:t>
            </a:r>
            <a:r>
              <a:rPr sz="3600" dirty="0">
                <a:solidFill>
                  <a:srgbClr val="2E377E"/>
                </a:solidFill>
                <a:latin typeface="Georgia"/>
                <a:cs typeface="Georgia"/>
              </a:rPr>
              <a:t>do not come</a:t>
            </a:r>
            <a:r>
              <a:rPr sz="3600" spc="5" dirty="0">
                <a:solidFill>
                  <a:srgbClr val="2E377E"/>
                </a:solidFill>
                <a:latin typeface="Georgia"/>
                <a:cs typeface="Georgia"/>
              </a:rPr>
              <a:t> </a:t>
            </a:r>
            <a:r>
              <a:rPr sz="3600" dirty="0">
                <a:solidFill>
                  <a:srgbClr val="2E377E"/>
                </a:solidFill>
                <a:latin typeface="Georgia"/>
                <a:cs typeface="Georgia"/>
              </a:rPr>
              <a:t>under </a:t>
            </a:r>
            <a:r>
              <a:rPr sz="3600" spc="50" dirty="0">
                <a:solidFill>
                  <a:srgbClr val="2E377E"/>
                </a:solidFill>
                <a:latin typeface="Georgia"/>
                <a:cs typeface="Georgia"/>
              </a:rPr>
              <a:t>the</a:t>
            </a:r>
            <a:r>
              <a:rPr sz="3600" dirty="0">
                <a:solidFill>
                  <a:srgbClr val="2E377E"/>
                </a:solidFill>
                <a:latin typeface="Georgia"/>
                <a:cs typeface="Georgia"/>
              </a:rPr>
              <a:t> namespaces and</a:t>
            </a:r>
            <a:r>
              <a:rPr sz="3600" spc="5" dirty="0">
                <a:solidFill>
                  <a:srgbClr val="2E377E"/>
                </a:solidFill>
                <a:latin typeface="Georgia"/>
                <a:cs typeface="Georgia"/>
              </a:rPr>
              <a:t> </a:t>
            </a:r>
            <a:r>
              <a:rPr sz="3600" spc="-25" dirty="0">
                <a:solidFill>
                  <a:srgbClr val="2E377E"/>
                </a:solidFill>
                <a:latin typeface="Georgia"/>
                <a:cs typeface="Georgia"/>
              </a:rPr>
              <a:t>are </a:t>
            </a:r>
            <a:r>
              <a:rPr sz="3600" dirty="0">
                <a:solidFill>
                  <a:srgbClr val="2E377E"/>
                </a:solidFill>
                <a:latin typeface="Georgia"/>
                <a:cs typeface="Georgia"/>
              </a:rPr>
              <a:t>visible</a:t>
            </a:r>
            <a:r>
              <a:rPr sz="3600" spc="-10" dirty="0">
                <a:solidFill>
                  <a:srgbClr val="2E377E"/>
                </a:solidFill>
                <a:latin typeface="Georgia"/>
                <a:cs typeface="Georgia"/>
              </a:rPr>
              <a:t> </a:t>
            </a:r>
            <a:r>
              <a:rPr sz="3600" spc="60" dirty="0">
                <a:solidFill>
                  <a:srgbClr val="2E377E"/>
                </a:solidFill>
                <a:latin typeface="Georgia"/>
                <a:cs typeface="Georgia"/>
              </a:rPr>
              <a:t>to</a:t>
            </a:r>
            <a:r>
              <a:rPr sz="3600" spc="-10" dirty="0">
                <a:solidFill>
                  <a:srgbClr val="2E377E"/>
                </a:solidFill>
                <a:latin typeface="Georgia"/>
                <a:cs typeface="Georgia"/>
              </a:rPr>
              <a:t> </a:t>
            </a:r>
            <a:r>
              <a:rPr sz="3600" spc="95" dirty="0">
                <a:solidFill>
                  <a:srgbClr val="2E377E"/>
                </a:solidFill>
                <a:latin typeface="Georgia"/>
                <a:cs typeface="Georgia"/>
              </a:rPr>
              <a:t>every</a:t>
            </a:r>
            <a:r>
              <a:rPr sz="3600" spc="-10" dirty="0">
                <a:solidFill>
                  <a:srgbClr val="2E377E"/>
                </a:solidFill>
                <a:latin typeface="Georgia"/>
                <a:cs typeface="Georgia"/>
              </a:rPr>
              <a:t> namespace.</a:t>
            </a:r>
            <a:endParaRPr sz="3600">
              <a:latin typeface="Georgia"/>
              <a:cs typeface="Georgia"/>
            </a:endParaRPr>
          </a:p>
          <a:p>
            <a:pPr marL="12700" marR="5080">
              <a:lnSpc>
                <a:spcPct val="116300"/>
              </a:lnSpc>
            </a:pPr>
            <a:r>
              <a:rPr sz="3600" dirty="0">
                <a:solidFill>
                  <a:srgbClr val="2E377E"/>
                </a:solidFill>
                <a:latin typeface="Georgia"/>
                <a:cs typeface="Georgia"/>
              </a:rPr>
              <a:t>One </a:t>
            </a:r>
            <a:r>
              <a:rPr sz="3600" spc="65" dirty="0">
                <a:solidFill>
                  <a:srgbClr val="2E377E"/>
                </a:solidFill>
                <a:latin typeface="Georgia"/>
                <a:cs typeface="Georgia"/>
              </a:rPr>
              <a:t>service</a:t>
            </a:r>
            <a:r>
              <a:rPr sz="3600" dirty="0">
                <a:solidFill>
                  <a:srgbClr val="2E377E"/>
                </a:solidFill>
                <a:latin typeface="Georgia"/>
                <a:cs typeface="Georgia"/>
              </a:rPr>
              <a:t> in a Namespace can </a:t>
            </a:r>
            <a:r>
              <a:rPr sz="3600" spc="55" dirty="0">
                <a:solidFill>
                  <a:srgbClr val="2E377E"/>
                </a:solidFill>
                <a:latin typeface="Georgia"/>
                <a:cs typeface="Georgia"/>
              </a:rPr>
              <a:t>talk</a:t>
            </a:r>
            <a:r>
              <a:rPr sz="3600" dirty="0">
                <a:solidFill>
                  <a:srgbClr val="2E377E"/>
                </a:solidFill>
                <a:latin typeface="Georgia"/>
                <a:cs typeface="Georgia"/>
              </a:rPr>
              <a:t> </a:t>
            </a:r>
            <a:r>
              <a:rPr sz="3600" spc="70" dirty="0">
                <a:solidFill>
                  <a:srgbClr val="2E377E"/>
                </a:solidFill>
                <a:latin typeface="Georgia"/>
                <a:cs typeface="Georgia"/>
              </a:rPr>
              <a:t>to</a:t>
            </a:r>
            <a:r>
              <a:rPr sz="3600" dirty="0">
                <a:solidFill>
                  <a:srgbClr val="2E377E"/>
                </a:solidFill>
                <a:latin typeface="Georgia"/>
                <a:cs typeface="Georgia"/>
              </a:rPr>
              <a:t> another </a:t>
            </a:r>
            <a:r>
              <a:rPr sz="3600" spc="65" dirty="0">
                <a:solidFill>
                  <a:srgbClr val="2E377E"/>
                </a:solidFill>
                <a:latin typeface="Georgia"/>
                <a:cs typeface="Georgia"/>
              </a:rPr>
              <a:t>service</a:t>
            </a:r>
            <a:r>
              <a:rPr sz="3600" dirty="0">
                <a:solidFill>
                  <a:srgbClr val="2E377E"/>
                </a:solidFill>
                <a:latin typeface="Georgia"/>
                <a:cs typeface="Georgia"/>
              </a:rPr>
              <a:t> in another </a:t>
            </a:r>
            <a:r>
              <a:rPr sz="3600" spc="-10" dirty="0">
                <a:solidFill>
                  <a:srgbClr val="2E377E"/>
                </a:solidFill>
                <a:latin typeface="Georgia"/>
                <a:cs typeface="Georgia"/>
              </a:rPr>
              <a:t>Namespace. </a:t>
            </a:r>
            <a:r>
              <a:rPr sz="360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name</a:t>
            </a:r>
            <a:r>
              <a:rPr sz="3600" spc="5" dirty="0">
                <a:solidFill>
                  <a:srgbClr val="2E377E"/>
                </a:solidFill>
                <a:latin typeface="Georgia"/>
                <a:cs typeface="Georgia"/>
              </a:rPr>
              <a:t> </a:t>
            </a:r>
            <a:r>
              <a:rPr sz="3600" dirty="0">
                <a:solidFill>
                  <a:srgbClr val="2E377E"/>
                </a:solidFill>
                <a:latin typeface="Georgia"/>
                <a:cs typeface="Georgia"/>
              </a:rPr>
              <a:t>of</a:t>
            </a:r>
            <a:r>
              <a:rPr sz="3600" spc="10" dirty="0">
                <a:solidFill>
                  <a:srgbClr val="2E377E"/>
                </a:solidFill>
                <a:latin typeface="Georgia"/>
                <a:cs typeface="Georgia"/>
              </a:rPr>
              <a:t> </a:t>
            </a:r>
            <a:r>
              <a:rPr sz="3600" spc="45" dirty="0">
                <a:solidFill>
                  <a:srgbClr val="2E377E"/>
                </a:solidFill>
                <a:latin typeface="Georgia"/>
                <a:cs typeface="Georgia"/>
              </a:rPr>
              <a:t>resources</a:t>
            </a:r>
            <a:r>
              <a:rPr sz="3600" spc="5" dirty="0">
                <a:solidFill>
                  <a:srgbClr val="2E377E"/>
                </a:solidFill>
                <a:latin typeface="Georgia"/>
                <a:cs typeface="Georgia"/>
              </a:rPr>
              <a:t> </a:t>
            </a:r>
            <a:r>
              <a:rPr sz="3600" spc="60" dirty="0">
                <a:solidFill>
                  <a:srgbClr val="2E377E"/>
                </a:solidFill>
                <a:latin typeface="Georgia"/>
                <a:cs typeface="Georgia"/>
              </a:rPr>
              <a:t>within</a:t>
            </a:r>
            <a:r>
              <a:rPr sz="3600" spc="10" dirty="0">
                <a:solidFill>
                  <a:srgbClr val="2E377E"/>
                </a:solidFill>
                <a:latin typeface="Georgia"/>
                <a:cs typeface="Georgia"/>
              </a:rPr>
              <a:t> </a:t>
            </a:r>
            <a:r>
              <a:rPr sz="3600" dirty="0">
                <a:solidFill>
                  <a:srgbClr val="2E377E"/>
                </a:solidFill>
                <a:latin typeface="Georgia"/>
                <a:cs typeface="Georgia"/>
              </a:rPr>
              <a:t>one</a:t>
            </a:r>
            <a:r>
              <a:rPr sz="3600" spc="5" dirty="0">
                <a:solidFill>
                  <a:srgbClr val="2E377E"/>
                </a:solidFill>
                <a:latin typeface="Georgia"/>
                <a:cs typeface="Georgia"/>
              </a:rPr>
              <a:t> </a:t>
            </a:r>
            <a:r>
              <a:rPr sz="3600" dirty="0">
                <a:solidFill>
                  <a:srgbClr val="2E377E"/>
                </a:solidFill>
                <a:latin typeface="Georgia"/>
                <a:cs typeface="Georgia"/>
              </a:rPr>
              <a:t>namespace</a:t>
            </a:r>
            <a:r>
              <a:rPr sz="3600" spc="10" dirty="0">
                <a:solidFill>
                  <a:srgbClr val="2E377E"/>
                </a:solidFill>
                <a:latin typeface="Georgia"/>
                <a:cs typeface="Georgia"/>
              </a:rPr>
              <a:t> </a:t>
            </a:r>
            <a:r>
              <a:rPr sz="3600" spc="60" dirty="0">
                <a:solidFill>
                  <a:srgbClr val="2E377E"/>
                </a:solidFill>
                <a:latin typeface="Georgia"/>
                <a:cs typeface="Georgia"/>
              </a:rPr>
              <a:t>must</a:t>
            </a:r>
            <a:r>
              <a:rPr sz="3600" spc="5" dirty="0">
                <a:solidFill>
                  <a:srgbClr val="2E377E"/>
                </a:solidFill>
                <a:latin typeface="Georgia"/>
                <a:cs typeface="Georgia"/>
              </a:rPr>
              <a:t> </a:t>
            </a:r>
            <a:r>
              <a:rPr sz="3600" dirty="0">
                <a:solidFill>
                  <a:srgbClr val="2E377E"/>
                </a:solidFill>
                <a:latin typeface="Georgia"/>
                <a:cs typeface="Georgia"/>
              </a:rPr>
              <a:t>be</a:t>
            </a:r>
            <a:r>
              <a:rPr sz="3600" spc="10" dirty="0">
                <a:solidFill>
                  <a:srgbClr val="2E377E"/>
                </a:solidFill>
                <a:latin typeface="Georgia"/>
                <a:cs typeface="Georgia"/>
              </a:rPr>
              <a:t> </a:t>
            </a:r>
            <a:r>
              <a:rPr sz="3600" spc="-10" dirty="0">
                <a:solidFill>
                  <a:srgbClr val="2E377E"/>
                </a:solidFill>
                <a:latin typeface="Georgia"/>
                <a:cs typeface="Georgia"/>
              </a:rPr>
              <a:t>unique.</a:t>
            </a:r>
            <a:endParaRPr sz="3600">
              <a:latin typeface="Georgia"/>
              <a:cs typeface="Georgia"/>
            </a:endParaRPr>
          </a:p>
          <a:p>
            <a:pPr marL="12700" marR="1583690">
              <a:lnSpc>
                <a:spcPct val="116300"/>
              </a:lnSpc>
            </a:pPr>
            <a:r>
              <a:rPr sz="3600" dirty="0">
                <a:solidFill>
                  <a:srgbClr val="2E377E"/>
                </a:solidFill>
                <a:latin typeface="Georgia"/>
                <a:cs typeface="Georgia"/>
              </a:rPr>
              <a:t>When</a:t>
            </a:r>
            <a:r>
              <a:rPr sz="3600" spc="-50" dirty="0">
                <a:solidFill>
                  <a:srgbClr val="2E377E"/>
                </a:solidFill>
                <a:latin typeface="Georgia"/>
                <a:cs typeface="Georgia"/>
              </a:rPr>
              <a:t> </a:t>
            </a:r>
            <a:r>
              <a:rPr sz="3600" spc="90" dirty="0">
                <a:solidFill>
                  <a:srgbClr val="2E377E"/>
                </a:solidFill>
                <a:latin typeface="Georgia"/>
                <a:cs typeface="Georgia"/>
              </a:rPr>
              <a:t>you</a:t>
            </a:r>
            <a:r>
              <a:rPr sz="3600" spc="-45" dirty="0">
                <a:solidFill>
                  <a:srgbClr val="2E377E"/>
                </a:solidFill>
                <a:latin typeface="Georgia"/>
                <a:cs typeface="Georgia"/>
              </a:rPr>
              <a:t> </a:t>
            </a:r>
            <a:r>
              <a:rPr sz="3600" spc="55" dirty="0">
                <a:solidFill>
                  <a:srgbClr val="2E377E"/>
                </a:solidFill>
                <a:latin typeface="Georgia"/>
                <a:cs typeface="Georgia"/>
              </a:rPr>
              <a:t>delete</a:t>
            </a:r>
            <a:r>
              <a:rPr sz="3600" spc="-50" dirty="0">
                <a:solidFill>
                  <a:srgbClr val="2E377E"/>
                </a:solidFill>
                <a:latin typeface="Georgia"/>
                <a:cs typeface="Georgia"/>
              </a:rPr>
              <a:t> </a:t>
            </a:r>
            <a:r>
              <a:rPr sz="3600" dirty="0">
                <a:solidFill>
                  <a:srgbClr val="2E377E"/>
                </a:solidFill>
                <a:latin typeface="Georgia"/>
                <a:cs typeface="Georgia"/>
              </a:rPr>
              <a:t>a</a:t>
            </a:r>
            <a:r>
              <a:rPr sz="3600" spc="-45" dirty="0">
                <a:solidFill>
                  <a:srgbClr val="2E377E"/>
                </a:solidFill>
                <a:latin typeface="Georgia"/>
                <a:cs typeface="Georgia"/>
              </a:rPr>
              <a:t> </a:t>
            </a:r>
            <a:r>
              <a:rPr sz="3600" dirty="0">
                <a:solidFill>
                  <a:srgbClr val="2E377E"/>
                </a:solidFill>
                <a:latin typeface="Georgia"/>
                <a:cs typeface="Georgia"/>
              </a:rPr>
              <a:t>namespace</a:t>
            </a:r>
            <a:r>
              <a:rPr sz="3600" spc="-50" dirty="0">
                <a:solidFill>
                  <a:srgbClr val="2E377E"/>
                </a:solidFill>
                <a:latin typeface="Georgia"/>
                <a:cs typeface="Georgia"/>
              </a:rPr>
              <a:t> </a:t>
            </a:r>
            <a:r>
              <a:rPr sz="3600" dirty="0">
                <a:solidFill>
                  <a:srgbClr val="2E377E"/>
                </a:solidFill>
                <a:latin typeface="Georgia"/>
                <a:cs typeface="Georgia"/>
              </a:rPr>
              <a:t>all</a:t>
            </a:r>
            <a:r>
              <a:rPr sz="3600" spc="-45"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spc="45" dirty="0">
                <a:solidFill>
                  <a:srgbClr val="2E377E"/>
                </a:solidFill>
                <a:latin typeface="Georgia"/>
                <a:cs typeface="Georgia"/>
              </a:rPr>
              <a:t>resources</a:t>
            </a:r>
            <a:r>
              <a:rPr sz="3600" spc="-50" dirty="0">
                <a:solidFill>
                  <a:srgbClr val="2E377E"/>
                </a:solidFill>
                <a:latin typeface="Georgia"/>
                <a:cs typeface="Georgia"/>
              </a:rPr>
              <a:t> </a:t>
            </a:r>
            <a:r>
              <a:rPr sz="3600" spc="55" dirty="0">
                <a:solidFill>
                  <a:srgbClr val="2E377E"/>
                </a:solidFill>
                <a:latin typeface="Georgia"/>
                <a:cs typeface="Georgia"/>
              </a:rPr>
              <a:t>will</a:t>
            </a:r>
            <a:r>
              <a:rPr sz="3600" spc="-45" dirty="0">
                <a:solidFill>
                  <a:srgbClr val="2E377E"/>
                </a:solidFill>
                <a:latin typeface="Georgia"/>
                <a:cs typeface="Georgia"/>
              </a:rPr>
              <a:t> </a:t>
            </a:r>
            <a:r>
              <a:rPr sz="3600" spc="65" dirty="0">
                <a:solidFill>
                  <a:srgbClr val="2E377E"/>
                </a:solidFill>
                <a:latin typeface="Georgia"/>
                <a:cs typeface="Georgia"/>
              </a:rPr>
              <a:t>gets</a:t>
            </a:r>
            <a:r>
              <a:rPr sz="3600" spc="-50" dirty="0">
                <a:solidFill>
                  <a:srgbClr val="2E377E"/>
                </a:solidFill>
                <a:latin typeface="Georgia"/>
                <a:cs typeface="Georgia"/>
              </a:rPr>
              <a:t> </a:t>
            </a:r>
            <a:r>
              <a:rPr sz="3600" spc="-10" dirty="0">
                <a:solidFill>
                  <a:srgbClr val="2E377E"/>
                </a:solidFill>
                <a:latin typeface="Georgia"/>
                <a:cs typeface="Georgia"/>
              </a:rPr>
              <a:t>deleted.</a:t>
            </a:r>
            <a:r>
              <a:rPr sz="3600" spc="900" dirty="0">
                <a:solidFill>
                  <a:srgbClr val="2E377E"/>
                </a:solidFill>
                <a:latin typeface="Georgia"/>
                <a:cs typeface="Georgia"/>
              </a:rPr>
              <a:t>  </a:t>
            </a:r>
            <a:r>
              <a:rPr sz="3600" dirty="0">
                <a:solidFill>
                  <a:srgbClr val="2E377E"/>
                </a:solidFill>
                <a:latin typeface="Georgia"/>
                <a:cs typeface="Georgia"/>
              </a:rPr>
              <a:t>There</a:t>
            </a:r>
            <a:r>
              <a:rPr sz="3600" spc="45" dirty="0">
                <a:solidFill>
                  <a:srgbClr val="2E377E"/>
                </a:solidFill>
                <a:latin typeface="Georgia"/>
                <a:cs typeface="Georgia"/>
              </a:rPr>
              <a:t> </a:t>
            </a:r>
            <a:r>
              <a:rPr sz="3600" dirty="0">
                <a:solidFill>
                  <a:srgbClr val="2E377E"/>
                </a:solidFill>
                <a:latin typeface="Georgia"/>
                <a:cs typeface="Georgia"/>
              </a:rPr>
              <a:t>are</a:t>
            </a:r>
            <a:r>
              <a:rPr sz="3600" spc="50" dirty="0">
                <a:solidFill>
                  <a:srgbClr val="2E377E"/>
                </a:solidFill>
                <a:latin typeface="Georgia"/>
                <a:cs typeface="Georgia"/>
              </a:rPr>
              <a:t> </a:t>
            </a:r>
            <a:r>
              <a:rPr sz="3600" dirty="0">
                <a:solidFill>
                  <a:srgbClr val="2E377E"/>
                </a:solidFill>
                <a:latin typeface="Georgia"/>
                <a:cs typeface="Georgia"/>
              </a:rPr>
              <a:t>some</a:t>
            </a:r>
            <a:r>
              <a:rPr sz="3600" spc="45" dirty="0">
                <a:solidFill>
                  <a:srgbClr val="2E377E"/>
                </a:solidFill>
                <a:latin typeface="Georgia"/>
                <a:cs typeface="Georgia"/>
              </a:rPr>
              <a:t> </a:t>
            </a:r>
            <a:r>
              <a:rPr sz="3600" dirty="0">
                <a:solidFill>
                  <a:srgbClr val="2E377E"/>
                </a:solidFill>
                <a:latin typeface="Georgia"/>
                <a:cs typeface="Georgia"/>
              </a:rPr>
              <a:t>pre-</a:t>
            </a:r>
            <a:r>
              <a:rPr sz="3600" spc="60" dirty="0">
                <a:solidFill>
                  <a:srgbClr val="2E377E"/>
                </a:solidFill>
                <a:latin typeface="Georgia"/>
                <a:cs typeface="Georgia"/>
              </a:rPr>
              <a:t>existed</a:t>
            </a:r>
            <a:r>
              <a:rPr sz="3600" spc="50" dirty="0">
                <a:solidFill>
                  <a:srgbClr val="2E377E"/>
                </a:solidFill>
                <a:latin typeface="Georgia"/>
                <a:cs typeface="Georgia"/>
              </a:rPr>
              <a:t> </a:t>
            </a:r>
            <a:r>
              <a:rPr sz="3600" spc="45" dirty="0">
                <a:solidFill>
                  <a:srgbClr val="2E377E"/>
                </a:solidFill>
                <a:latin typeface="Georgia"/>
                <a:cs typeface="Georgia"/>
              </a:rPr>
              <a:t>Kubernetes </a:t>
            </a:r>
            <a:r>
              <a:rPr sz="3600" dirty="0">
                <a:solidFill>
                  <a:srgbClr val="2E377E"/>
                </a:solidFill>
                <a:latin typeface="Georgia"/>
                <a:cs typeface="Georgia"/>
              </a:rPr>
              <a:t>namespaces</a:t>
            </a:r>
            <a:r>
              <a:rPr sz="3600" spc="50" dirty="0">
                <a:solidFill>
                  <a:srgbClr val="2E377E"/>
                </a:solidFill>
                <a:latin typeface="Georgia"/>
                <a:cs typeface="Georgia"/>
              </a:rPr>
              <a:t> </a:t>
            </a:r>
            <a:r>
              <a:rPr sz="3600" dirty="0">
                <a:solidFill>
                  <a:srgbClr val="2E377E"/>
                </a:solidFill>
                <a:latin typeface="Georgia"/>
                <a:cs typeface="Georgia"/>
              </a:rPr>
              <a:t>are</a:t>
            </a:r>
            <a:r>
              <a:rPr sz="3600" spc="45" dirty="0">
                <a:solidFill>
                  <a:srgbClr val="2E377E"/>
                </a:solidFill>
                <a:latin typeface="Georgia"/>
                <a:cs typeface="Georgia"/>
              </a:rPr>
              <a:t> </a:t>
            </a:r>
            <a:r>
              <a:rPr sz="3600" spc="50" dirty="0">
                <a:solidFill>
                  <a:srgbClr val="2E377E"/>
                </a:solidFill>
                <a:latin typeface="Georgia"/>
                <a:cs typeface="Georgia"/>
              </a:rPr>
              <a:t>present </a:t>
            </a:r>
            <a:r>
              <a:rPr sz="3600" dirty="0">
                <a:solidFill>
                  <a:srgbClr val="2E377E"/>
                </a:solidFill>
                <a:latin typeface="Georgia"/>
                <a:cs typeface="Georgia"/>
              </a:rPr>
              <a:t>in</a:t>
            </a:r>
            <a:r>
              <a:rPr sz="3600" spc="45" dirty="0">
                <a:solidFill>
                  <a:srgbClr val="2E377E"/>
                </a:solidFill>
                <a:latin typeface="Georgia"/>
                <a:cs typeface="Georgia"/>
              </a:rPr>
              <a:t> </a:t>
            </a:r>
            <a:r>
              <a:rPr sz="3600" spc="-25" dirty="0">
                <a:solidFill>
                  <a:srgbClr val="2E377E"/>
                </a:solidFill>
                <a:latin typeface="Georgia"/>
                <a:cs typeface="Georgia"/>
              </a:rPr>
              <a:t>our </a:t>
            </a:r>
            <a:r>
              <a:rPr sz="3600" spc="-10" dirty="0">
                <a:solidFill>
                  <a:srgbClr val="2E377E"/>
                </a:solidFill>
                <a:latin typeface="Georgia"/>
                <a:cs typeface="Georgia"/>
              </a:rPr>
              <a:t>cluster.</a:t>
            </a:r>
            <a:endParaRPr sz="3600">
              <a:latin typeface="Georgia"/>
              <a:cs typeface="Georgia"/>
            </a:endParaRPr>
          </a:p>
          <a:p>
            <a:pPr marL="413384" marR="6623684" indent="-401320">
              <a:lnSpc>
                <a:spcPct val="116300"/>
              </a:lnSpc>
              <a:spcBef>
                <a:spcPts val="5"/>
              </a:spcBef>
            </a:pPr>
            <a:r>
              <a:rPr sz="3600" dirty="0">
                <a:solidFill>
                  <a:srgbClr val="2E377E"/>
                </a:solidFill>
                <a:latin typeface="Georgia"/>
                <a:cs typeface="Georgia"/>
              </a:rPr>
              <a:t>To</a:t>
            </a:r>
            <a:r>
              <a:rPr sz="3600" spc="-15" dirty="0">
                <a:solidFill>
                  <a:srgbClr val="2E377E"/>
                </a:solidFill>
                <a:latin typeface="Georgia"/>
                <a:cs typeface="Georgia"/>
              </a:rPr>
              <a:t> </a:t>
            </a:r>
            <a:r>
              <a:rPr sz="3600" spc="55" dirty="0">
                <a:solidFill>
                  <a:srgbClr val="2E377E"/>
                </a:solidFill>
                <a:latin typeface="Georgia"/>
                <a:cs typeface="Georgia"/>
              </a:rPr>
              <a:t>see</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list</a:t>
            </a:r>
            <a:r>
              <a:rPr sz="3600" spc="-10"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dirty="0">
                <a:solidFill>
                  <a:srgbClr val="2E377E"/>
                </a:solidFill>
                <a:latin typeface="Georgia"/>
                <a:cs typeface="Georgia"/>
              </a:rPr>
              <a:t>names</a:t>
            </a:r>
            <a:r>
              <a:rPr sz="3600" spc="-10" dirty="0">
                <a:solidFill>
                  <a:srgbClr val="2E377E"/>
                </a:solidFill>
                <a:latin typeface="Georgia"/>
                <a:cs typeface="Georgia"/>
              </a:rPr>
              <a:t> </a:t>
            </a:r>
            <a:r>
              <a:rPr sz="3600" dirty="0">
                <a:solidFill>
                  <a:srgbClr val="2E377E"/>
                </a:solidFill>
                <a:latin typeface="Georgia"/>
                <a:cs typeface="Georgia"/>
              </a:rPr>
              <a:t>spaces</a:t>
            </a:r>
            <a:r>
              <a:rPr sz="3600" spc="-10" dirty="0">
                <a:solidFill>
                  <a:srgbClr val="2E377E"/>
                </a:solidFill>
                <a:latin typeface="Georgia"/>
                <a:cs typeface="Georgia"/>
              </a:rPr>
              <a:t> </a:t>
            </a:r>
            <a:r>
              <a:rPr sz="3600" spc="-245" dirty="0">
                <a:solidFill>
                  <a:srgbClr val="2E377E"/>
                </a:solidFill>
                <a:latin typeface="Georgia"/>
                <a:cs typeface="Georgia"/>
              </a:rPr>
              <a:t>:</a:t>
            </a:r>
            <a:r>
              <a:rPr sz="3600" spc="-10" dirty="0">
                <a:solidFill>
                  <a:srgbClr val="2E377E"/>
                </a:solidFill>
                <a:latin typeface="Georgia"/>
                <a:cs typeface="Georgia"/>
              </a:rPr>
              <a:t> </a:t>
            </a:r>
            <a:r>
              <a:rPr sz="3600" spc="60" dirty="0">
                <a:solidFill>
                  <a:srgbClr val="E7181F"/>
                </a:solidFill>
                <a:latin typeface="Georgia"/>
                <a:cs typeface="Georgia"/>
              </a:rPr>
              <a:t>kubectl</a:t>
            </a:r>
            <a:r>
              <a:rPr sz="3600" spc="-10" dirty="0">
                <a:solidFill>
                  <a:srgbClr val="E7181F"/>
                </a:solidFill>
                <a:latin typeface="Georgia"/>
                <a:cs typeface="Georgia"/>
              </a:rPr>
              <a:t> </a:t>
            </a:r>
            <a:r>
              <a:rPr sz="3600" spc="75" dirty="0">
                <a:solidFill>
                  <a:srgbClr val="E7181F"/>
                </a:solidFill>
                <a:latin typeface="Georgia"/>
                <a:cs typeface="Georgia"/>
              </a:rPr>
              <a:t>get</a:t>
            </a:r>
            <a:r>
              <a:rPr sz="3600" spc="-15" dirty="0">
                <a:solidFill>
                  <a:srgbClr val="E7181F"/>
                </a:solidFill>
                <a:latin typeface="Georgia"/>
                <a:cs typeface="Georgia"/>
              </a:rPr>
              <a:t> </a:t>
            </a:r>
            <a:r>
              <a:rPr sz="3600" spc="-25" dirty="0">
                <a:solidFill>
                  <a:srgbClr val="E7181F"/>
                </a:solidFill>
                <a:latin typeface="Georgia"/>
                <a:cs typeface="Georgia"/>
              </a:rPr>
              <a:t>ns </a:t>
            </a:r>
            <a:r>
              <a:rPr sz="3600" spc="-110" dirty="0">
                <a:solidFill>
                  <a:srgbClr val="2E377E"/>
                </a:solidFill>
                <a:latin typeface="Georgia"/>
                <a:cs typeface="Georgia"/>
              </a:rPr>
              <a:t>a.</a:t>
            </a:r>
            <a:r>
              <a:rPr sz="3600" spc="-495" dirty="0">
                <a:solidFill>
                  <a:srgbClr val="2E377E"/>
                </a:solidFill>
                <a:latin typeface="Georgia"/>
                <a:cs typeface="Georgia"/>
              </a:rPr>
              <a:t> </a:t>
            </a:r>
            <a:r>
              <a:rPr sz="3600" spc="35" dirty="0">
                <a:solidFill>
                  <a:srgbClr val="2E377E"/>
                </a:solidFill>
                <a:latin typeface="Georgia"/>
                <a:cs typeface="Georgia"/>
              </a:rPr>
              <a:t>default</a:t>
            </a:r>
            <a:endParaRPr sz="3600">
              <a:latin typeface="Georgia"/>
              <a:cs typeface="Georgia"/>
            </a:endParaRPr>
          </a:p>
          <a:p>
            <a:pPr marL="424815" marR="12573000" indent="-39370">
              <a:lnSpc>
                <a:spcPct val="116300"/>
              </a:lnSpc>
            </a:pPr>
            <a:r>
              <a:rPr sz="3600" spc="-100" dirty="0">
                <a:solidFill>
                  <a:srgbClr val="2E377E"/>
                </a:solidFill>
                <a:latin typeface="Georgia"/>
                <a:cs typeface="Georgia"/>
              </a:rPr>
              <a:t>b.</a:t>
            </a:r>
            <a:r>
              <a:rPr sz="3600" spc="-475" dirty="0">
                <a:solidFill>
                  <a:srgbClr val="2E377E"/>
                </a:solidFill>
                <a:latin typeface="Georgia"/>
                <a:cs typeface="Georgia"/>
              </a:rPr>
              <a:t> </a:t>
            </a:r>
            <a:r>
              <a:rPr sz="3600" spc="50" dirty="0">
                <a:solidFill>
                  <a:srgbClr val="2E377E"/>
                </a:solidFill>
                <a:latin typeface="Georgia"/>
                <a:cs typeface="Georgia"/>
              </a:rPr>
              <a:t>kube-</a:t>
            </a:r>
            <a:r>
              <a:rPr sz="3600" spc="70" dirty="0">
                <a:solidFill>
                  <a:srgbClr val="2E377E"/>
                </a:solidFill>
                <a:latin typeface="Georgia"/>
                <a:cs typeface="Georgia"/>
              </a:rPr>
              <a:t>system </a:t>
            </a:r>
            <a:r>
              <a:rPr sz="3600" spc="-65" dirty="0">
                <a:solidFill>
                  <a:srgbClr val="2E377E"/>
                </a:solidFill>
                <a:latin typeface="Georgia"/>
                <a:cs typeface="Georgia"/>
              </a:rPr>
              <a:t>c.</a:t>
            </a:r>
            <a:r>
              <a:rPr sz="3600" spc="-480" dirty="0">
                <a:solidFill>
                  <a:srgbClr val="2E377E"/>
                </a:solidFill>
                <a:latin typeface="Georgia"/>
                <a:cs typeface="Georgia"/>
              </a:rPr>
              <a:t> </a:t>
            </a:r>
            <a:r>
              <a:rPr sz="3600" spc="50" dirty="0">
                <a:solidFill>
                  <a:srgbClr val="2E377E"/>
                </a:solidFill>
                <a:latin typeface="Georgia"/>
                <a:cs typeface="Georgia"/>
              </a:rPr>
              <a:t>kube-</a:t>
            </a:r>
            <a:r>
              <a:rPr sz="3600" spc="-10" dirty="0">
                <a:solidFill>
                  <a:srgbClr val="2E377E"/>
                </a:solidFill>
                <a:latin typeface="Georgia"/>
                <a:cs typeface="Georgia"/>
              </a:rPr>
              <a:t>public</a:t>
            </a:r>
            <a:endParaRPr sz="3600">
              <a:latin typeface="Georgia"/>
              <a:cs typeface="Georgia"/>
            </a:endParaRPr>
          </a:p>
        </p:txBody>
      </p:sp>
      <p:pic>
        <p:nvPicPr>
          <p:cNvPr id="4" name="object 4"/>
          <p:cNvPicPr/>
          <p:nvPr/>
        </p:nvPicPr>
        <p:blipFill>
          <a:blip r:embed="rId3" cstate="print"/>
          <a:stretch>
            <a:fillRect/>
          </a:stretch>
        </p:blipFill>
        <p:spPr>
          <a:xfrm>
            <a:off x="1178987" y="1638862"/>
            <a:ext cx="133350" cy="133349"/>
          </a:xfrm>
          <a:prstGeom prst="rect">
            <a:avLst/>
          </a:prstGeom>
        </p:spPr>
      </p:pic>
      <p:pic>
        <p:nvPicPr>
          <p:cNvPr id="5" name="object 5"/>
          <p:cNvPicPr/>
          <p:nvPr/>
        </p:nvPicPr>
        <p:blipFill>
          <a:blip r:embed="rId4" cstate="print"/>
          <a:stretch>
            <a:fillRect/>
          </a:stretch>
        </p:blipFill>
        <p:spPr>
          <a:xfrm>
            <a:off x="1178987" y="2915212"/>
            <a:ext cx="133350" cy="133349"/>
          </a:xfrm>
          <a:prstGeom prst="rect">
            <a:avLst/>
          </a:prstGeom>
        </p:spPr>
      </p:pic>
      <p:pic>
        <p:nvPicPr>
          <p:cNvPr id="6" name="object 6"/>
          <p:cNvPicPr/>
          <p:nvPr/>
        </p:nvPicPr>
        <p:blipFill>
          <a:blip r:embed="rId5" cstate="print"/>
          <a:stretch>
            <a:fillRect/>
          </a:stretch>
        </p:blipFill>
        <p:spPr>
          <a:xfrm>
            <a:off x="1178987" y="4191562"/>
            <a:ext cx="133350" cy="133349"/>
          </a:xfrm>
          <a:prstGeom prst="rect">
            <a:avLst/>
          </a:prstGeom>
        </p:spPr>
      </p:pic>
      <p:pic>
        <p:nvPicPr>
          <p:cNvPr id="7" name="object 7"/>
          <p:cNvPicPr/>
          <p:nvPr/>
        </p:nvPicPr>
        <p:blipFill>
          <a:blip r:embed="rId5" cstate="print"/>
          <a:stretch>
            <a:fillRect/>
          </a:stretch>
        </p:blipFill>
        <p:spPr>
          <a:xfrm>
            <a:off x="1178987" y="4829737"/>
            <a:ext cx="133350" cy="133349"/>
          </a:xfrm>
          <a:prstGeom prst="rect">
            <a:avLst/>
          </a:prstGeom>
        </p:spPr>
      </p:pic>
      <p:pic>
        <p:nvPicPr>
          <p:cNvPr id="8" name="object 8"/>
          <p:cNvPicPr/>
          <p:nvPr/>
        </p:nvPicPr>
        <p:blipFill>
          <a:blip r:embed="rId5" cstate="print"/>
          <a:stretch>
            <a:fillRect/>
          </a:stretch>
        </p:blipFill>
        <p:spPr>
          <a:xfrm>
            <a:off x="1178987" y="5467912"/>
            <a:ext cx="133350" cy="133349"/>
          </a:xfrm>
          <a:prstGeom prst="rect">
            <a:avLst/>
          </a:prstGeom>
        </p:spPr>
      </p:pic>
      <p:pic>
        <p:nvPicPr>
          <p:cNvPr id="9" name="object 9"/>
          <p:cNvPicPr/>
          <p:nvPr/>
        </p:nvPicPr>
        <p:blipFill>
          <a:blip r:embed="rId5" cstate="print"/>
          <a:stretch>
            <a:fillRect/>
          </a:stretch>
        </p:blipFill>
        <p:spPr>
          <a:xfrm>
            <a:off x="1178987" y="6106086"/>
            <a:ext cx="133350" cy="133349"/>
          </a:xfrm>
          <a:prstGeom prst="rect">
            <a:avLst/>
          </a:prstGeom>
        </p:spPr>
      </p:pic>
      <p:pic>
        <p:nvPicPr>
          <p:cNvPr id="10" name="object 10"/>
          <p:cNvPicPr/>
          <p:nvPr/>
        </p:nvPicPr>
        <p:blipFill>
          <a:blip r:embed="rId6" cstate="print"/>
          <a:stretch>
            <a:fillRect/>
          </a:stretch>
        </p:blipFill>
        <p:spPr>
          <a:xfrm>
            <a:off x="1178987" y="7382436"/>
            <a:ext cx="133350" cy="133349"/>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76374" y="1946260"/>
            <a:ext cx="133350" cy="133349"/>
          </a:xfrm>
          <a:prstGeom prst="rect">
            <a:avLst/>
          </a:prstGeom>
        </p:spPr>
      </p:pic>
      <p:sp>
        <p:nvSpPr>
          <p:cNvPr id="3" name="object 3"/>
          <p:cNvSpPr txBox="1">
            <a:spLocks noGrp="1"/>
          </p:cNvSpPr>
          <p:nvPr>
            <p:ph type="title"/>
          </p:nvPr>
        </p:nvSpPr>
        <p:spPr>
          <a:xfrm>
            <a:off x="1176865" y="773644"/>
            <a:ext cx="15652115" cy="2115185"/>
          </a:xfrm>
          <a:prstGeom prst="rect">
            <a:avLst/>
          </a:prstGeom>
        </p:spPr>
        <p:txBody>
          <a:bodyPr vert="horz" wrap="square" lIns="0" tIns="194310" rIns="0" bIns="0" rtlCol="0">
            <a:spAutoFit/>
          </a:bodyPr>
          <a:lstStyle/>
          <a:p>
            <a:pPr marL="12700">
              <a:lnSpc>
                <a:spcPct val="100000"/>
              </a:lnSpc>
              <a:spcBef>
                <a:spcPts val="1530"/>
              </a:spcBef>
            </a:pPr>
            <a:r>
              <a:rPr sz="3500" spc="35" dirty="0">
                <a:solidFill>
                  <a:srgbClr val="FF3131"/>
                </a:solidFill>
              </a:rPr>
              <a:t>Default:</a:t>
            </a:r>
            <a:endParaRPr sz="3500"/>
          </a:p>
          <a:p>
            <a:pPr marL="628650" marR="5080">
              <a:lnSpc>
                <a:spcPct val="116300"/>
              </a:lnSpc>
              <a:spcBef>
                <a:spcPts val="775"/>
              </a:spcBef>
            </a:pPr>
            <a:r>
              <a:rPr sz="3600" b="0" dirty="0">
                <a:solidFill>
                  <a:srgbClr val="2E377E"/>
                </a:solidFill>
                <a:latin typeface="Georgia"/>
                <a:cs typeface="Georgia"/>
              </a:rPr>
              <a:t>As</a:t>
            </a:r>
            <a:r>
              <a:rPr sz="3600" b="0" spc="10" dirty="0">
                <a:solidFill>
                  <a:srgbClr val="2E377E"/>
                </a:solidFill>
                <a:latin typeface="Georgia"/>
                <a:cs typeface="Georgia"/>
              </a:rPr>
              <a:t> </a:t>
            </a:r>
            <a:r>
              <a:rPr sz="3600" b="0" spc="60" dirty="0">
                <a:solidFill>
                  <a:srgbClr val="2E377E"/>
                </a:solidFill>
                <a:latin typeface="Georgia"/>
                <a:cs typeface="Georgia"/>
              </a:rPr>
              <a:t>the</a:t>
            </a:r>
            <a:r>
              <a:rPr sz="3600" b="0" spc="15" dirty="0">
                <a:solidFill>
                  <a:srgbClr val="2E377E"/>
                </a:solidFill>
                <a:latin typeface="Georgia"/>
                <a:cs typeface="Georgia"/>
              </a:rPr>
              <a:t> </a:t>
            </a:r>
            <a:r>
              <a:rPr sz="3600" b="0" dirty="0">
                <a:solidFill>
                  <a:srgbClr val="2E377E"/>
                </a:solidFill>
                <a:latin typeface="Georgia"/>
                <a:cs typeface="Georgia"/>
              </a:rPr>
              <a:t>name</a:t>
            </a:r>
            <a:r>
              <a:rPr sz="3600" b="0" spc="15" dirty="0">
                <a:solidFill>
                  <a:srgbClr val="2E377E"/>
                </a:solidFill>
                <a:latin typeface="Georgia"/>
                <a:cs typeface="Georgia"/>
              </a:rPr>
              <a:t> </a:t>
            </a:r>
            <a:r>
              <a:rPr sz="3600" b="0" dirty="0">
                <a:solidFill>
                  <a:srgbClr val="2E377E"/>
                </a:solidFill>
                <a:latin typeface="Georgia"/>
                <a:cs typeface="Georgia"/>
              </a:rPr>
              <a:t>suggests,</a:t>
            </a:r>
            <a:r>
              <a:rPr sz="3600" b="0" spc="15" dirty="0">
                <a:solidFill>
                  <a:srgbClr val="2E377E"/>
                </a:solidFill>
                <a:latin typeface="Georgia"/>
                <a:cs typeface="Georgia"/>
              </a:rPr>
              <a:t> </a:t>
            </a:r>
            <a:r>
              <a:rPr sz="3600" b="0" spc="80" dirty="0">
                <a:solidFill>
                  <a:srgbClr val="2E377E"/>
                </a:solidFill>
                <a:latin typeface="Georgia"/>
                <a:cs typeface="Georgia"/>
              </a:rPr>
              <a:t>whenever</a:t>
            </a:r>
            <a:r>
              <a:rPr sz="3600" b="0" spc="15" dirty="0">
                <a:solidFill>
                  <a:srgbClr val="2E377E"/>
                </a:solidFill>
                <a:latin typeface="Georgia"/>
                <a:cs typeface="Georgia"/>
              </a:rPr>
              <a:t> </a:t>
            </a:r>
            <a:r>
              <a:rPr sz="3600" b="0" spc="140" dirty="0">
                <a:solidFill>
                  <a:srgbClr val="2E377E"/>
                </a:solidFill>
                <a:latin typeface="Georgia"/>
                <a:cs typeface="Georgia"/>
              </a:rPr>
              <a:t>we</a:t>
            </a:r>
            <a:r>
              <a:rPr sz="3600" b="0" spc="10" dirty="0">
                <a:solidFill>
                  <a:srgbClr val="2E377E"/>
                </a:solidFill>
                <a:latin typeface="Georgia"/>
                <a:cs typeface="Georgia"/>
              </a:rPr>
              <a:t> </a:t>
            </a:r>
            <a:r>
              <a:rPr sz="3600" b="0" spc="55" dirty="0">
                <a:solidFill>
                  <a:srgbClr val="2E377E"/>
                </a:solidFill>
                <a:latin typeface="Georgia"/>
                <a:cs typeface="Georgia"/>
              </a:rPr>
              <a:t>create</a:t>
            </a:r>
            <a:r>
              <a:rPr sz="3600" b="0" spc="15" dirty="0">
                <a:solidFill>
                  <a:srgbClr val="2E377E"/>
                </a:solidFill>
                <a:latin typeface="Georgia"/>
                <a:cs typeface="Georgia"/>
              </a:rPr>
              <a:t> </a:t>
            </a:r>
            <a:r>
              <a:rPr sz="3600" b="0" spc="65" dirty="0">
                <a:solidFill>
                  <a:srgbClr val="2E377E"/>
                </a:solidFill>
                <a:latin typeface="Georgia"/>
                <a:cs typeface="Georgia"/>
              </a:rPr>
              <a:t>any</a:t>
            </a:r>
            <a:r>
              <a:rPr sz="3600" b="0" spc="15" dirty="0">
                <a:solidFill>
                  <a:srgbClr val="2E377E"/>
                </a:solidFill>
                <a:latin typeface="Georgia"/>
                <a:cs typeface="Georgia"/>
              </a:rPr>
              <a:t> </a:t>
            </a:r>
            <a:r>
              <a:rPr sz="3600" b="0" spc="45" dirty="0">
                <a:solidFill>
                  <a:srgbClr val="2E377E"/>
                </a:solidFill>
                <a:latin typeface="Georgia"/>
                <a:cs typeface="Georgia"/>
              </a:rPr>
              <a:t>Kubernetes</a:t>
            </a:r>
            <a:r>
              <a:rPr sz="3600" b="0" spc="15" dirty="0">
                <a:solidFill>
                  <a:srgbClr val="2E377E"/>
                </a:solidFill>
                <a:latin typeface="Georgia"/>
                <a:cs typeface="Georgia"/>
              </a:rPr>
              <a:t> </a:t>
            </a:r>
            <a:r>
              <a:rPr sz="3600" b="0" dirty="0">
                <a:solidFill>
                  <a:srgbClr val="2E377E"/>
                </a:solidFill>
                <a:latin typeface="Georgia"/>
                <a:cs typeface="Georgia"/>
              </a:rPr>
              <a:t>object</a:t>
            </a:r>
            <a:r>
              <a:rPr sz="3600" b="0" spc="15" dirty="0">
                <a:solidFill>
                  <a:srgbClr val="2E377E"/>
                </a:solidFill>
                <a:latin typeface="Georgia"/>
                <a:cs typeface="Georgia"/>
              </a:rPr>
              <a:t> </a:t>
            </a:r>
            <a:r>
              <a:rPr sz="3600" b="0" dirty="0">
                <a:solidFill>
                  <a:srgbClr val="2E377E"/>
                </a:solidFill>
                <a:latin typeface="Georgia"/>
                <a:cs typeface="Georgia"/>
              </a:rPr>
              <a:t>such</a:t>
            </a:r>
            <a:r>
              <a:rPr sz="3600" b="0" spc="10" dirty="0">
                <a:solidFill>
                  <a:srgbClr val="2E377E"/>
                </a:solidFill>
                <a:latin typeface="Georgia"/>
                <a:cs typeface="Georgia"/>
              </a:rPr>
              <a:t> </a:t>
            </a:r>
            <a:r>
              <a:rPr sz="3600" b="0" spc="-25" dirty="0">
                <a:solidFill>
                  <a:srgbClr val="2E377E"/>
                </a:solidFill>
                <a:latin typeface="Georgia"/>
                <a:cs typeface="Georgia"/>
              </a:rPr>
              <a:t>as </a:t>
            </a:r>
            <a:r>
              <a:rPr sz="3600" b="0" dirty="0">
                <a:solidFill>
                  <a:srgbClr val="2E377E"/>
                </a:solidFill>
                <a:latin typeface="Georgia"/>
                <a:cs typeface="Georgia"/>
              </a:rPr>
              <a:t>pod,</a:t>
            </a:r>
            <a:r>
              <a:rPr sz="3600" b="0" spc="-60" dirty="0">
                <a:solidFill>
                  <a:srgbClr val="2E377E"/>
                </a:solidFill>
                <a:latin typeface="Georgia"/>
                <a:cs typeface="Georgia"/>
              </a:rPr>
              <a:t> </a:t>
            </a:r>
            <a:r>
              <a:rPr sz="3600" b="0" dirty="0">
                <a:solidFill>
                  <a:srgbClr val="2E377E"/>
                </a:solidFill>
                <a:latin typeface="Georgia"/>
                <a:cs typeface="Georgia"/>
              </a:rPr>
              <a:t>replicas,</a:t>
            </a:r>
            <a:r>
              <a:rPr sz="3600" b="0" spc="-60" dirty="0">
                <a:solidFill>
                  <a:srgbClr val="2E377E"/>
                </a:solidFill>
                <a:latin typeface="Georgia"/>
                <a:cs typeface="Georgia"/>
              </a:rPr>
              <a:t> </a:t>
            </a:r>
            <a:r>
              <a:rPr sz="3600" b="0" spc="85" dirty="0">
                <a:solidFill>
                  <a:srgbClr val="2E377E"/>
                </a:solidFill>
                <a:latin typeface="Georgia"/>
                <a:cs typeface="Georgia"/>
              </a:rPr>
              <a:t>etc</a:t>
            </a:r>
            <a:r>
              <a:rPr sz="3600" b="0" spc="-55" dirty="0">
                <a:solidFill>
                  <a:srgbClr val="2E377E"/>
                </a:solidFill>
                <a:latin typeface="Georgia"/>
                <a:cs typeface="Georgia"/>
              </a:rPr>
              <a:t> </a:t>
            </a:r>
            <a:r>
              <a:rPr sz="3600" b="0" spc="65" dirty="0">
                <a:solidFill>
                  <a:srgbClr val="2E377E"/>
                </a:solidFill>
                <a:latin typeface="Georgia"/>
                <a:cs typeface="Georgia"/>
              </a:rPr>
              <a:t>it</a:t>
            </a:r>
            <a:r>
              <a:rPr sz="3600" b="0" spc="-60" dirty="0">
                <a:solidFill>
                  <a:srgbClr val="2E377E"/>
                </a:solidFill>
                <a:latin typeface="Georgia"/>
                <a:cs typeface="Georgia"/>
              </a:rPr>
              <a:t> </a:t>
            </a:r>
            <a:r>
              <a:rPr sz="3600" b="0" spc="55" dirty="0">
                <a:solidFill>
                  <a:srgbClr val="2E377E"/>
                </a:solidFill>
                <a:latin typeface="Georgia"/>
                <a:cs typeface="Georgia"/>
              </a:rPr>
              <a:t>will</a:t>
            </a:r>
            <a:r>
              <a:rPr sz="3600" b="0" spc="-55" dirty="0">
                <a:solidFill>
                  <a:srgbClr val="2E377E"/>
                </a:solidFill>
                <a:latin typeface="Georgia"/>
                <a:cs typeface="Georgia"/>
              </a:rPr>
              <a:t> </a:t>
            </a:r>
            <a:r>
              <a:rPr sz="3600" b="0" spc="55" dirty="0">
                <a:solidFill>
                  <a:srgbClr val="2E377E"/>
                </a:solidFill>
                <a:latin typeface="Georgia"/>
                <a:cs typeface="Georgia"/>
              </a:rPr>
              <a:t>create</a:t>
            </a:r>
            <a:r>
              <a:rPr sz="3600" b="0" spc="-60" dirty="0">
                <a:solidFill>
                  <a:srgbClr val="2E377E"/>
                </a:solidFill>
                <a:latin typeface="Georgia"/>
                <a:cs typeface="Georgia"/>
              </a:rPr>
              <a:t> </a:t>
            </a:r>
            <a:r>
              <a:rPr sz="3600" b="0" dirty="0">
                <a:solidFill>
                  <a:srgbClr val="2E377E"/>
                </a:solidFill>
                <a:latin typeface="Georgia"/>
                <a:cs typeface="Georgia"/>
              </a:rPr>
              <a:t>in</a:t>
            </a:r>
            <a:r>
              <a:rPr sz="3600" b="0" spc="-55" dirty="0">
                <a:solidFill>
                  <a:srgbClr val="2E377E"/>
                </a:solidFill>
                <a:latin typeface="Georgia"/>
                <a:cs typeface="Georgia"/>
              </a:rPr>
              <a:t> </a:t>
            </a:r>
            <a:r>
              <a:rPr sz="3600" b="0" spc="60" dirty="0">
                <a:solidFill>
                  <a:srgbClr val="2E377E"/>
                </a:solidFill>
                <a:latin typeface="Georgia"/>
                <a:cs typeface="Georgia"/>
              </a:rPr>
              <a:t>the</a:t>
            </a:r>
            <a:r>
              <a:rPr sz="3600" b="0" spc="-60" dirty="0">
                <a:solidFill>
                  <a:srgbClr val="2E377E"/>
                </a:solidFill>
                <a:latin typeface="Georgia"/>
                <a:cs typeface="Georgia"/>
              </a:rPr>
              <a:t> </a:t>
            </a:r>
            <a:r>
              <a:rPr sz="3600" b="0" spc="45" dirty="0">
                <a:solidFill>
                  <a:srgbClr val="2E377E"/>
                </a:solidFill>
                <a:latin typeface="Georgia"/>
                <a:cs typeface="Georgia"/>
              </a:rPr>
              <a:t>default</a:t>
            </a:r>
            <a:r>
              <a:rPr sz="3600" b="0" spc="-55" dirty="0">
                <a:solidFill>
                  <a:srgbClr val="2E377E"/>
                </a:solidFill>
                <a:latin typeface="Georgia"/>
                <a:cs typeface="Georgia"/>
              </a:rPr>
              <a:t> </a:t>
            </a:r>
            <a:r>
              <a:rPr sz="3600" b="0" spc="-10" dirty="0">
                <a:solidFill>
                  <a:srgbClr val="2E377E"/>
                </a:solidFill>
                <a:latin typeface="Georgia"/>
                <a:cs typeface="Georgia"/>
              </a:rPr>
              <a:t>namespace.</a:t>
            </a:r>
            <a:endParaRPr sz="3600">
              <a:latin typeface="Georgia"/>
              <a:cs typeface="Georgia"/>
            </a:endParaRPr>
          </a:p>
        </p:txBody>
      </p:sp>
      <p:pic>
        <p:nvPicPr>
          <p:cNvPr id="4" name="object 4"/>
          <p:cNvPicPr/>
          <p:nvPr/>
        </p:nvPicPr>
        <p:blipFill>
          <a:blip r:embed="rId3" cstate="print"/>
          <a:stretch>
            <a:fillRect/>
          </a:stretch>
        </p:blipFill>
        <p:spPr>
          <a:xfrm>
            <a:off x="1608715" y="4844141"/>
            <a:ext cx="133350" cy="133349"/>
          </a:xfrm>
          <a:prstGeom prst="rect">
            <a:avLst/>
          </a:prstGeom>
        </p:spPr>
      </p:pic>
      <p:pic>
        <p:nvPicPr>
          <p:cNvPr id="5" name="object 5"/>
          <p:cNvPicPr/>
          <p:nvPr/>
        </p:nvPicPr>
        <p:blipFill>
          <a:blip r:embed="rId4" cstate="print"/>
          <a:stretch>
            <a:fillRect/>
          </a:stretch>
        </p:blipFill>
        <p:spPr>
          <a:xfrm>
            <a:off x="1637240" y="7742205"/>
            <a:ext cx="133350" cy="133349"/>
          </a:xfrm>
          <a:prstGeom prst="rect">
            <a:avLst/>
          </a:prstGeom>
        </p:spPr>
      </p:pic>
      <p:sp>
        <p:nvSpPr>
          <p:cNvPr id="6" name="object 6"/>
          <p:cNvSpPr txBox="1"/>
          <p:nvPr/>
        </p:nvSpPr>
        <p:spPr>
          <a:xfrm>
            <a:off x="1177014" y="3605669"/>
            <a:ext cx="15189200" cy="5079365"/>
          </a:xfrm>
          <a:prstGeom prst="rect">
            <a:avLst/>
          </a:prstGeom>
        </p:spPr>
        <p:txBody>
          <a:bodyPr vert="horz" wrap="square" lIns="0" tIns="226695" rIns="0" bIns="0" rtlCol="0">
            <a:spAutoFit/>
          </a:bodyPr>
          <a:lstStyle/>
          <a:p>
            <a:pPr marL="12700">
              <a:lnSpc>
                <a:spcPct val="100000"/>
              </a:lnSpc>
              <a:spcBef>
                <a:spcPts val="1785"/>
              </a:spcBef>
            </a:pPr>
            <a:r>
              <a:rPr sz="3500" b="1" spc="204" dirty="0">
                <a:solidFill>
                  <a:srgbClr val="FF3131"/>
                </a:solidFill>
                <a:latin typeface="Times New Roman"/>
                <a:cs typeface="Times New Roman"/>
              </a:rPr>
              <a:t>kube-</a:t>
            </a:r>
            <a:r>
              <a:rPr sz="3500" b="1" spc="175" dirty="0">
                <a:solidFill>
                  <a:srgbClr val="FF3131"/>
                </a:solidFill>
                <a:latin typeface="Times New Roman"/>
                <a:cs typeface="Times New Roman"/>
              </a:rPr>
              <a:t>system</a:t>
            </a:r>
            <a:endParaRPr sz="3500">
              <a:latin typeface="Times New Roman"/>
              <a:cs typeface="Times New Roman"/>
            </a:endParaRPr>
          </a:p>
          <a:p>
            <a:pPr marL="760730" marR="490855">
              <a:lnSpc>
                <a:spcPct val="116300"/>
              </a:lnSpc>
              <a:spcBef>
                <a:spcPts val="1035"/>
              </a:spcBef>
            </a:pPr>
            <a:r>
              <a:rPr sz="3600" dirty="0">
                <a:solidFill>
                  <a:srgbClr val="2E377E"/>
                </a:solidFill>
                <a:latin typeface="Georgia"/>
                <a:cs typeface="Georgia"/>
              </a:rPr>
              <a:t>This</a:t>
            </a:r>
            <a:r>
              <a:rPr sz="3600" spc="75" dirty="0">
                <a:solidFill>
                  <a:srgbClr val="2E377E"/>
                </a:solidFill>
                <a:latin typeface="Georgia"/>
                <a:cs typeface="Georgia"/>
              </a:rPr>
              <a:t> </a:t>
            </a:r>
            <a:r>
              <a:rPr sz="3600" dirty="0">
                <a:solidFill>
                  <a:srgbClr val="2E377E"/>
                </a:solidFill>
                <a:latin typeface="Georgia"/>
                <a:cs typeface="Georgia"/>
              </a:rPr>
              <a:t>namespace</a:t>
            </a:r>
            <a:r>
              <a:rPr sz="3600" spc="75" dirty="0">
                <a:solidFill>
                  <a:srgbClr val="2E377E"/>
                </a:solidFill>
                <a:latin typeface="Georgia"/>
                <a:cs typeface="Georgia"/>
              </a:rPr>
              <a:t> </a:t>
            </a:r>
            <a:r>
              <a:rPr sz="3600" dirty="0">
                <a:solidFill>
                  <a:srgbClr val="2E377E"/>
                </a:solidFill>
                <a:latin typeface="Georgia"/>
                <a:cs typeface="Georgia"/>
              </a:rPr>
              <a:t>contains</a:t>
            </a:r>
            <a:r>
              <a:rPr sz="3600" spc="75" dirty="0">
                <a:solidFill>
                  <a:srgbClr val="2E377E"/>
                </a:solidFill>
                <a:latin typeface="Georgia"/>
                <a:cs typeface="Georgia"/>
              </a:rPr>
              <a:t> </a:t>
            </a:r>
            <a:r>
              <a:rPr sz="3600" spc="60" dirty="0">
                <a:solidFill>
                  <a:srgbClr val="2E377E"/>
                </a:solidFill>
                <a:latin typeface="Georgia"/>
                <a:cs typeface="Georgia"/>
              </a:rPr>
              <a:t>the</a:t>
            </a:r>
            <a:r>
              <a:rPr sz="3600" spc="80" dirty="0">
                <a:solidFill>
                  <a:srgbClr val="2E377E"/>
                </a:solidFill>
                <a:latin typeface="Georgia"/>
                <a:cs typeface="Georgia"/>
              </a:rPr>
              <a:t> </a:t>
            </a:r>
            <a:r>
              <a:rPr sz="3600" spc="45" dirty="0">
                <a:solidFill>
                  <a:srgbClr val="2E377E"/>
                </a:solidFill>
                <a:latin typeface="Georgia"/>
                <a:cs typeface="Georgia"/>
              </a:rPr>
              <a:t>Kubernetes</a:t>
            </a:r>
            <a:r>
              <a:rPr sz="3600" spc="75" dirty="0">
                <a:solidFill>
                  <a:srgbClr val="2E377E"/>
                </a:solidFill>
                <a:latin typeface="Georgia"/>
                <a:cs typeface="Georgia"/>
              </a:rPr>
              <a:t> </a:t>
            </a:r>
            <a:r>
              <a:rPr sz="3600" dirty="0">
                <a:solidFill>
                  <a:srgbClr val="2E377E"/>
                </a:solidFill>
                <a:latin typeface="Georgia"/>
                <a:cs typeface="Georgia"/>
              </a:rPr>
              <a:t>components</a:t>
            </a:r>
            <a:r>
              <a:rPr sz="3600" spc="75" dirty="0">
                <a:solidFill>
                  <a:srgbClr val="2E377E"/>
                </a:solidFill>
                <a:latin typeface="Georgia"/>
                <a:cs typeface="Georgia"/>
              </a:rPr>
              <a:t> </a:t>
            </a:r>
            <a:r>
              <a:rPr sz="3600" dirty="0">
                <a:solidFill>
                  <a:srgbClr val="2E377E"/>
                </a:solidFill>
                <a:latin typeface="Georgia"/>
                <a:cs typeface="Georgia"/>
              </a:rPr>
              <a:t>such</a:t>
            </a:r>
            <a:r>
              <a:rPr sz="3600" spc="80" dirty="0">
                <a:solidFill>
                  <a:srgbClr val="2E377E"/>
                </a:solidFill>
                <a:latin typeface="Georgia"/>
                <a:cs typeface="Georgia"/>
              </a:rPr>
              <a:t> </a:t>
            </a:r>
            <a:r>
              <a:rPr sz="3600" dirty="0">
                <a:solidFill>
                  <a:srgbClr val="2E377E"/>
                </a:solidFill>
                <a:latin typeface="Georgia"/>
                <a:cs typeface="Georgia"/>
              </a:rPr>
              <a:t>as</a:t>
            </a:r>
            <a:r>
              <a:rPr sz="3600" spc="75" dirty="0">
                <a:solidFill>
                  <a:srgbClr val="2E377E"/>
                </a:solidFill>
                <a:latin typeface="Georgia"/>
                <a:cs typeface="Georgia"/>
              </a:rPr>
              <a:t> </a:t>
            </a:r>
            <a:r>
              <a:rPr sz="3600" spc="30" dirty="0">
                <a:solidFill>
                  <a:srgbClr val="2E377E"/>
                </a:solidFill>
                <a:latin typeface="Georgia"/>
                <a:cs typeface="Georgia"/>
              </a:rPr>
              <a:t>kube- </a:t>
            </a:r>
            <a:r>
              <a:rPr sz="3600" dirty="0">
                <a:solidFill>
                  <a:srgbClr val="2E377E"/>
                </a:solidFill>
                <a:latin typeface="Georgia"/>
                <a:cs typeface="Georgia"/>
              </a:rPr>
              <a:t>controller-manager,</a:t>
            </a:r>
            <a:r>
              <a:rPr sz="3600" spc="110" dirty="0">
                <a:solidFill>
                  <a:srgbClr val="2E377E"/>
                </a:solidFill>
                <a:latin typeface="Georgia"/>
                <a:cs typeface="Georgia"/>
              </a:rPr>
              <a:t> </a:t>
            </a:r>
            <a:r>
              <a:rPr sz="3600" spc="50" dirty="0">
                <a:solidFill>
                  <a:srgbClr val="2E377E"/>
                </a:solidFill>
                <a:latin typeface="Georgia"/>
                <a:cs typeface="Georgia"/>
              </a:rPr>
              <a:t>kube-</a:t>
            </a:r>
            <a:r>
              <a:rPr sz="3600" dirty="0">
                <a:solidFill>
                  <a:srgbClr val="2E377E"/>
                </a:solidFill>
                <a:latin typeface="Georgia"/>
                <a:cs typeface="Georgia"/>
              </a:rPr>
              <a:t>scheduler,</a:t>
            </a:r>
            <a:r>
              <a:rPr sz="3600" spc="110" dirty="0">
                <a:solidFill>
                  <a:srgbClr val="2E377E"/>
                </a:solidFill>
                <a:latin typeface="Georgia"/>
                <a:cs typeface="Georgia"/>
              </a:rPr>
              <a:t> </a:t>
            </a:r>
            <a:r>
              <a:rPr sz="3600" spc="50" dirty="0">
                <a:solidFill>
                  <a:srgbClr val="2E377E"/>
                </a:solidFill>
                <a:latin typeface="Georgia"/>
                <a:cs typeface="Georgia"/>
              </a:rPr>
              <a:t>kube-</a:t>
            </a:r>
            <a:r>
              <a:rPr sz="3600" dirty="0">
                <a:solidFill>
                  <a:srgbClr val="2E377E"/>
                </a:solidFill>
                <a:latin typeface="Georgia"/>
                <a:cs typeface="Georgia"/>
              </a:rPr>
              <a:t>dns</a:t>
            </a:r>
            <a:r>
              <a:rPr sz="3600" spc="110" dirty="0">
                <a:solidFill>
                  <a:srgbClr val="2E377E"/>
                </a:solidFill>
                <a:latin typeface="Georgia"/>
                <a:cs typeface="Georgia"/>
              </a:rPr>
              <a:t> </a:t>
            </a:r>
            <a:r>
              <a:rPr sz="3600" dirty="0">
                <a:solidFill>
                  <a:srgbClr val="2E377E"/>
                </a:solidFill>
                <a:latin typeface="Georgia"/>
                <a:cs typeface="Georgia"/>
              </a:rPr>
              <a:t>or</a:t>
            </a:r>
            <a:r>
              <a:rPr sz="3600" spc="110" dirty="0">
                <a:solidFill>
                  <a:srgbClr val="2E377E"/>
                </a:solidFill>
                <a:latin typeface="Georgia"/>
                <a:cs typeface="Georgia"/>
              </a:rPr>
              <a:t> </a:t>
            </a:r>
            <a:r>
              <a:rPr sz="3600" spc="50" dirty="0">
                <a:solidFill>
                  <a:srgbClr val="2E377E"/>
                </a:solidFill>
                <a:latin typeface="Georgia"/>
                <a:cs typeface="Georgia"/>
              </a:rPr>
              <a:t>other</a:t>
            </a:r>
            <a:r>
              <a:rPr sz="3600" spc="110" dirty="0">
                <a:solidFill>
                  <a:srgbClr val="2E377E"/>
                </a:solidFill>
                <a:latin typeface="Georgia"/>
                <a:cs typeface="Georgia"/>
              </a:rPr>
              <a:t> </a:t>
            </a:r>
            <a:r>
              <a:rPr sz="3600" spc="-10" dirty="0">
                <a:solidFill>
                  <a:srgbClr val="2E377E"/>
                </a:solidFill>
                <a:latin typeface="Georgia"/>
                <a:cs typeface="Georgia"/>
              </a:rPr>
              <a:t>controllers.</a:t>
            </a:r>
            <a:endParaRPr sz="3600">
              <a:latin typeface="Georgia"/>
              <a:cs typeface="Georgia"/>
            </a:endParaRPr>
          </a:p>
          <a:p>
            <a:pPr>
              <a:lnSpc>
                <a:spcPct val="100000"/>
              </a:lnSpc>
              <a:spcBef>
                <a:spcPts val="3435"/>
              </a:spcBef>
            </a:pPr>
            <a:endParaRPr sz="3600">
              <a:latin typeface="Georgia"/>
              <a:cs typeface="Georgia"/>
            </a:endParaRPr>
          </a:p>
          <a:p>
            <a:pPr marL="12700">
              <a:lnSpc>
                <a:spcPct val="100000"/>
              </a:lnSpc>
              <a:spcBef>
                <a:spcPts val="5"/>
              </a:spcBef>
            </a:pPr>
            <a:r>
              <a:rPr sz="3500" b="1" spc="204" dirty="0">
                <a:solidFill>
                  <a:srgbClr val="FF3131"/>
                </a:solidFill>
                <a:latin typeface="Times New Roman"/>
                <a:cs typeface="Times New Roman"/>
              </a:rPr>
              <a:t>kube-</a:t>
            </a:r>
            <a:r>
              <a:rPr sz="3500" b="1" spc="155" dirty="0">
                <a:solidFill>
                  <a:srgbClr val="FF3131"/>
                </a:solidFill>
                <a:latin typeface="Times New Roman"/>
                <a:cs typeface="Times New Roman"/>
              </a:rPr>
              <a:t>public</a:t>
            </a:r>
            <a:endParaRPr sz="3500">
              <a:latin typeface="Times New Roman"/>
              <a:cs typeface="Times New Roman"/>
            </a:endParaRPr>
          </a:p>
          <a:p>
            <a:pPr marL="789305" marR="5080">
              <a:lnSpc>
                <a:spcPct val="116300"/>
              </a:lnSpc>
              <a:spcBef>
                <a:spcPts val="1040"/>
              </a:spcBef>
            </a:pPr>
            <a:r>
              <a:rPr sz="3600" dirty="0">
                <a:solidFill>
                  <a:srgbClr val="2E377E"/>
                </a:solidFill>
                <a:latin typeface="Georgia"/>
                <a:cs typeface="Georgia"/>
              </a:rPr>
              <a:t>This</a:t>
            </a:r>
            <a:r>
              <a:rPr sz="3600" spc="40" dirty="0">
                <a:solidFill>
                  <a:srgbClr val="2E377E"/>
                </a:solidFill>
                <a:latin typeface="Georgia"/>
                <a:cs typeface="Georgia"/>
              </a:rPr>
              <a:t> </a:t>
            </a:r>
            <a:r>
              <a:rPr sz="3600" dirty="0">
                <a:solidFill>
                  <a:srgbClr val="2E377E"/>
                </a:solidFill>
                <a:latin typeface="Georgia"/>
                <a:cs typeface="Georgia"/>
              </a:rPr>
              <a:t>namespace</a:t>
            </a:r>
            <a:r>
              <a:rPr sz="3600" spc="40" dirty="0">
                <a:solidFill>
                  <a:srgbClr val="2E377E"/>
                </a:solidFill>
                <a:latin typeface="Georgia"/>
                <a:cs typeface="Georgia"/>
              </a:rPr>
              <a:t> </a:t>
            </a:r>
            <a:r>
              <a:rPr sz="3600" dirty="0">
                <a:solidFill>
                  <a:srgbClr val="2E377E"/>
                </a:solidFill>
                <a:latin typeface="Georgia"/>
                <a:cs typeface="Georgia"/>
              </a:rPr>
              <a:t>is</a:t>
            </a:r>
            <a:r>
              <a:rPr sz="3600" spc="45" dirty="0">
                <a:solidFill>
                  <a:srgbClr val="2E377E"/>
                </a:solidFill>
                <a:latin typeface="Georgia"/>
                <a:cs typeface="Georgia"/>
              </a:rPr>
              <a:t> </a:t>
            </a:r>
            <a:r>
              <a:rPr sz="3600" dirty="0">
                <a:solidFill>
                  <a:srgbClr val="2E377E"/>
                </a:solidFill>
                <a:latin typeface="Georgia"/>
                <a:cs typeface="Georgia"/>
              </a:rPr>
              <a:t>used</a:t>
            </a:r>
            <a:r>
              <a:rPr sz="3600" spc="40" dirty="0">
                <a:solidFill>
                  <a:srgbClr val="2E377E"/>
                </a:solidFill>
                <a:latin typeface="Georgia"/>
                <a:cs typeface="Georgia"/>
              </a:rPr>
              <a:t> </a:t>
            </a:r>
            <a:r>
              <a:rPr sz="3600" spc="70" dirty="0">
                <a:solidFill>
                  <a:srgbClr val="2E377E"/>
                </a:solidFill>
                <a:latin typeface="Georgia"/>
                <a:cs typeface="Georgia"/>
              </a:rPr>
              <a:t>to</a:t>
            </a:r>
            <a:r>
              <a:rPr sz="3600" spc="40" dirty="0">
                <a:solidFill>
                  <a:srgbClr val="2E377E"/>
                </a:solidFill>
                <a:latin typeface="Georgia"/>
                <a:cs typeface="Georgia"/>
              </a:rPr>
              <a:t> </a:t>
            </a:r>
            <a:r>
              <a:rPr sz="3600" dirty="0">
                <a:solidFill>
                  <a:srgbClr val="2E377E"/>
                </a:solidFill>
                <a:latin typeface="Georgia"/>
                <a:cs typeface="Georgia"/>
              </a:rPr>
              <a:t>share</a:t>
            </a:r>
            <a:r>
              <a:rPr sz="3600" spc="45" dirty="0">
                <a:solidFill>
                  <a:srgbClr val="2E377E"/>
                </a:solidFill>
                <a:latin typeface="Georgia"/>
                <a:cs typeface="Georgia"/>
              </a:rPr>
              <a:t> </a:t>
            </a:r>
            <a:r>
              <a:rPr sz="3600" dirty="0">
                <a:solidFill>
                  <a:srgbClr val="2E377E"/>
                </a:solidFill>
                <a:latin typeface="Georgia"/>
                <a:cs typeface="Georgia"/>
              </a:rPr>
              <a:t>non-</a:t>
            </a:r>
            <a:r>
              <a:rPr sz="3600" spc="60" dirty="0">
                <a:solidFill>
                  <a:srgbClr val="2E377E"/>
                </a:solidFill>
                <a:latin typeface="Georgia"/>
                <a:cs typeface="Georgia"/>
              </a:rPr>
              <a:t>sensitive</a:t>
            </a:r>
            <a:r>
              <a:rPr sz="3600" spc="40" dirty="0">
                <a:solidFill>
                  <a:srgbClr val="2E377E"/>
                </a:solidFill>
                <a:latin typeface="Georgia"/>
                <a:cs typeface="Georgia"/>
              </a:rPr>
              <a:t> </a:t>
            </a:r>
            <a:r>
              <a:rPr sz="3600" dirty="0">
                <a:solidFill>
                  <a:srgbClr val="2E377E"/>
                </a:solidFill>
                <a:latin typeface="Georgia"/>
                <a:cs typeface="Georgia"/>
              </a:rPr>
              <a:t>information</a:t>
            </a:r>
            <a:r>
              <a:rPr sz="3600" spc="40" dirty="0">
                <a:solidFill>
                  <a:srgbClr val="2E377E"/>
                </a:solidFill>
                <a:latin typeface="Georgia"/>
                <a:cs typeface="Georgia"/>
              </a:rPr>
              <a:t> </a:t>
            </a:r>
            <a:r>
              <a:rPr sz="3600" spc="55" dirty="0">
                <a:solidFill>
                  <a:srgbClr val="2E377E"/>
                </a:solidFill>
                <a:latin typeface="Georgia"/>
                <a:cs typeface="Georgia"/>
              </a:rPr>
              <a:t>that</a:t>
            </a:r>
            <a:r>
              <a:rPr sz="3600" spc="45" dirty="0">
                <a:solidFill>
                  <a:srgbClr val="2E377E"/>
                </a:solidFill>
                <a:latin typeface="Georgia"/>
                <a:cs typeface="Georgia"/>
              </a:rPr>
              <a:t> </a:t>
            </a:r>
            <a:r>
              <a:rPr sz="3600" dirty="0">
                <a:solidFill>
                  <a:srgbClr val="2E377E"/>
                </a:solidFill>
                <a:latin typeface="Georgia"/>
                <a:cs typeface="Georgia"/>
              </a:rPr>
              <a:t>can</a:t>
            </a:r>
            <a:r>
              <a:rPr sz="3600" spc="40" dirty="0">
                <a:solidFill>
                  <a:srgbClr val="2E377E"/>
                </a:solidFill>
                <a:latin typeface="Georgia"/>
                <a:cs typeface="Georgia"/>
              </a:rPr>
              <a:t> </a:t>
            </a:r>
            <a:r>
              <a:rPr sz="3600" spc="-25" dirty="0">
                <a:solidFill>
                  <a:srgbClr val="2E377E"/>
                </a:solidFill>
                <a:latin typeface="Georgia"/>
                <a:cs typeface="Georgia"/>
              </a:rPr>
              <a:t>be </a:t>
            </a:r>
            <a:r>
              <a:rPr sz="3600" spc="90" dirty="0">
                <a:solidFill>
                  <a:srgbClr val="2E377E"/>
                </a:solidFill>
                <a:latin typeface="Georgia"/>
                <a:cs typeface="Georgia"/>
              </a:rPr>
              <a:t>viewed</a:t>
            </a:r>
            <a:r>
              <a:rPr sz="3600" spc="-5" dirty="0">
                <a:solidFill>
                  <a:srgbClr val="2E377E"/>
                </a:solidFill>
                <a:latin typeface="Georgia"/>
                <a:cs typeface="Georgia"/>
              </a:rPr>
              <a:t> </a:t>
            </a:r>
            <a:r>
              <a:rPr sz="3600" spc="95" dirty="0">
                <a:solidFill>
                  <a:srgbClr val="2E377E"/>
                </a:solidFill>
                <a:latin typeface="Georgia"/>
                <a:cs typeface="Georgia"/>
              </a:rPr>
              <a:t>by</a:t>
            </a:r>
            <a:r>
              <a:rPr sz="3600" spc="-5" dirty="0">
                <a:solidFill>
                  <a:srgbClr val="2E377E"/>
                </a:solidFill>
                <a:latin typeface="Georgia"/>
                <a:cs typeface="Georgia"/>
              </a:rPr>
              <a:t> </a:t>
            </a:r>
            <a:r>
              <a:rPr sz="3600" spc="65" dirty="0">
                <a:solidFill>
                  <a:srgbClr val="2E377E"/>
                </a:solidFill>
                <a:latin typeface="Georgia"/>
                <a:cs typeface="Georgia"/>
              </a:rPr>
              <a:t>any</a:t>
            </a:r>
            <a:r>
              <a:rPr sz="3600" dirty="0">
                <a:solidFill>
                  <a:srgbClr val="2E377E"/>
                </a:solidFill>
                <a:latin typeface="Georgia"/>
                <a:cs typeface="Georgia"/>
              </a:rPr>
              <a:t> of</a:t>
            </a:r>
            <a:r>
              <a:rPr sz="3600" spc="-5" dirty="0">
                <a:solidFill>
                  <a:srgbClr val="2E377E"/>
                </a:solidFill>
                <a:latin typeface="Georgia"/>
                <a:cs typeface="Georgia"/>
              </a:rPr>
              <a:t> </a:t>
            </a:r>
            <a:r>
              <a:rPr sz="3600" spc="6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members </a:t>
            </a:r>
            <a:r>
              <a:rPr sz="3600" spc="75" dirty="0">
                <a:solidFill>
                  <a:srgbClr val="2E377E"/>
                </a:solidFill>
                <a:latin typeface="Georgia"/>
                <a:cs typeface="Georgia"/>
              </a:rPr>
              <a:t>who</a:t>
            </a:r>
            <a:r>
              <a:rPr sz="3600" spc="-5" dirty="0">
                <a:solidFill>
                  <a:srgbClr val="2E377E"/>
                </a:solidFill>
                <a:latin typeface="Georgia"/>
                <a:cs typeface="Georgia"/>
              </a:rPr>
              <a:t> </a:t>
            </a:r>
            <a:r>
              <a:rPr sz="3600" dirty="0">
                <a:solidFill>
                  <a:srgbClr val="2E377E"/>
                </a:solidFill>
                <a:latin typeface="Georgia"/>
                <a:cs typeface="Georgia"/>
              </a:rPr>
              <a:t>are part</a:t>
            </a:r>
            <a:r>
              <a:rPr sz="3600" spc="-5" dirty="0">
                <a:solidFill>
                  <a:srgbClr val="2E377E"/>
                </a:solidFill>
                <a:latin typeface="Georgia"/>
                <a:cs typeface="Georgia"/>
              </a:rPr>
              <a:t> </a:t>
            </a:r>
            <a:r>
              <a:rPr sz="3600" dirty="0">
                <a:solidFill>
                  <a:srgbClr val="2E377E"/>
                </a:solidFill>
                <a:latin typeface="Georgia"/>
                <a:cs typeface="Georgia"/>
              </a:rPr>
              <a:t>of</a:t>
            </a:r>
            <a:r>
              <a:rPr sz="3600" spc="-5" dirty="0">
                <a:solidFill>
                  <a:srgbClr val="2E377E"/>
                </a:solidFill>
                <a:latin typeface="Georgia"/>
                <a:cs typeface="Georgia"/>
              </a:rPr>
              <a:t> </a:t>
            </a:r>
            <a:r>
              <a:rPr sz="3600" spc="60" dirty="0">
                <a:solidFill>
                  <a:srgbClr val="2E377E"/>
                </a:solidFill>
                <a:latin typeface="Georgia"/>
                <a:cs typeface="Georgia"/>
              </a:rPr>
              <a:t>the</a:t>
            </a:r>
            <a:r>
              <a:rPr sz="3600" dirty="0">
                <a:solidFill>
                  <a:srgbClr val="2E377E"/>
                </a:solidFill>
                <a:latin typeface="Georgia"/>
                <a:cs typeface="Georgia"/>
              </a:rPr>
              <a:t> </a:t>
            </a:r>
            <a:r>
              <a:rPr sz="3600" spc="45" dirty="0">
                <a:solidFill>
                  <a:srgbClr val="2E377E"/>
                </a:solidFill>
                <a:latin typeface="Georgia"/>
                <a:cs typeface="Georgia"/>
              </a:rPr>
              <a:t>Kubernetes</a:t>
            </a:r>
            <a:r>
              <a:rPr sz="3600" spc="-5" dirty="0">
                <a:solidFill>
                  <a:srgbClr val="2E377E"/>
                </a:solidFill>
                <a:latin typeface="Georgia"/>
                <a:cs typeface="Georgia"/>
              </a:rPr>
              <a:t> </a:t>
            </a:r>
            <a:r>
              <a:rPr sz="3600" spc="-10" dirty="0">
                <a:solidFill>
                  <a:srgbClr val="2E377E"/>
                </a:solidFill>
                <a:latin typeface="Georgia"/>
                <a:cs typeface="Georgia"/>
              </a:rPr>
              <a:t>cluster.</a:t>
            </a:r>
            <a:endParaRPr sz="3600">
              <a:latin typeface="Georgia"/>
              <a:cs typeface="Georgi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33087" rIns="0" bIns="0" rtlCol="0">
            <a:spAutoFit/>
          </a:bodyPr>
          <a:lstStyle/>
          <a:p>
            <a:pPr marL="120650">
              <a:lnSpc>
                <a:spcPct val="100000"/>
              </a:lnSpc>
              <a:spcBef>
                <a:spcPts val="100"/>
              </a:spcBef>
            </a:pPr>
            <a:r>
              <a:rPr sz="3800" spc="315" dirty="0">
                <a:solidFill>
                  <a:srgbClr val="FF3131"/>
                </a:solidFill>
              </a:rPr>
              <a:t>When</a:t>
            </a:r>
            <a:r>
              <a:rPr sz="3800" spc="-35" dirty="0">
                <a:solidFill>
                  <a:srgbClr val="FF3131"/>
                </a:solidFill>
              </a:rPr>
              <a:t> </a:t>
            </a:r>
            <a:r>
              <a:rPr sz="3800" spc="195" dirty="0">
                <a:solidFill>
                  <a:srgbClr val="FF3131"/>
                </a:solidFill>
              </a:rPr>
              <a:t>should</a:t>
            </a:r>
            <a:r>
              <a:rPr sz="3800" spc="-35" dirty="0">
                <a:solidFill>
                  <a:srgbClr val="FF3131"/>
                </a:solidFill>
              </a:rPr>
              <a:t> </a:t>
            </a:r>
            <a:r>
              <a:rPr sz="3800" spc="390" dirty="0">
                <a:solidFill>
                  <a:srgbClr val="FF3131"/>
                </a:solidFill>
              </a:rPr>
              <a:t>we</a:t>
            </a:r>
            <a:r>
              <a:rPr sz="3800" spc="-30" dirty="0">
                <a:solidFill>
                  <a:srgbClr val="FF3131"/>
                </a:solidFill>
              </a:rPr>
              <a:t> </a:t>
            </a:r>
            <a:r>
              <a:rPr sz="3800" spc="175" dirty="0">
                <a:solidFill>
                  <a:srgbClr val="FF3131"/>
                </a:solidFill>
              </a:rPr>
              <a:t>consider</a:t>
            </a:r>
            <a:r>
              <a:rPr sz="3800" spc="-35" dirty="0">
                <a:solidFill>
                  <a:srgbClr val="FF3131"/>
                </a:solidFill>
              </a:rPr>
              <a:t> </a:t>
            </a:r>
            <a:r>
              <a:rPr sz="3800" spc="125" dirty="0">
                <a:solidFill>
                  <a:srgbClr val="FF3131"/>
                </a:solidFill>
              </a:rPr>
              <a:t>Kubernetes</a:t>
            </a:r>
            <a:r>
              <a:rPr sz="3800" spc="-35" dirty="0">
                <a:solidFill>
                  <a:srgbClr val="FF3131"/>
                </a:solidFill>
              </a:rPr>
              <a:t> </a:t>
            </a:r>
            <a:r>
              <a:rPr sz="3800" spc="135" dirty="0">
                <a:solidFill>
                  <a:srgbClr val="FF3131"/>
                </a:solidFill>
              </a:rPr>
              <a:t>Namespaces?</a:t>
            </a:r>
            <a:endParaRPr sz="3800"/>
          </a:p>
        </p:txBody>
      </p:sp>
      <p:pic>
        <p:nvPicPr>
          <p:cNvPr id="3" name="object 3"/>
          <p:cNvPicPr/>
          <p:nvPr/>
        </p:nvPicPr>
        <p:blipFill>
          <a:blip r:embed="rId2" cstate="print"/>
          <a:stretch>
            <a:fillRect/>
          </a:stretch>
        </p:blipFill>
        <p:spPr>
          <a:xfrm>
            <a:off x="1201439" y="1996946"/>
            <a:ext cx="133350" cy="133349"/>
          </a:xfrm>
          <a:prstGeom prst="rect">
            <a:avLst/>
          </a:prstGeom>
        </p:spPr>
      </p:pic>
      <p:sp>
        <p:nvSpPr>
          <p:cNvPr id="4" name="object 4"/>
          <p:cNvSpPr txBox="1"/>
          <p:nvPr/>
        </p:nvSpPr>
        <p:spPr>
          <a:xfrm>
            <a:off x="1525239" y="1654033"/>
            <a:ext cx="15539719" cy="7454900"/>
          </a:xfrm>
          <a:prstGeom prst="rect">
            <a:avLst/>
          </a:prstGeom>
        </p:spPr>
        <p:txBody>
          <a:bodyPr vert="horz" wrap="square" lIns="0" tIns="12065" rIns="0" bIns="0" rtlCol="0">
            <a:spAutoFit/>
          </a:bodyPr>
          <a:lstStyle/>
          <a:p>
            <a:pPr marL="12700" marR="466725">
              <a:lnSpc>
                <a:spcPct val="116100"/>
              </a:lnSpc>
              <a:spcBef>
                <a:spcPts val="95"/>
              </a:spcBef>
            </a:pPr>
            <a:r>
              <a:rPr sz="3500" spc="114" dirty="0">
                <a:solidFill>
                  <a:srgbClr val="2E377E"/>
                </a:solidFill>
                <a:latin typeface="Times New Roman"/>
                <a:cs typeface="Times New Roman"/>
              </a:rPr>
              <a:t>Isolation</a:t>
            </a:r>
            <a:r>
              <a:rPr sz="3500" spc="114" dirty="0">
                <a:solidFill>
                  <a:srgbClr val="2E377E"/>
                </a:solidFill>
                <a:latin typeface="Georgia"/>
                <a:cs typeface="Georgia"/>
              </a:rPr>
              <a:t>:</a:t>
            </a:r>
            <a:r>
              <a:rPr sz="3500" spc="30" dirty="0">
                <a:solidFill>
                  <a:srgbClr val="2E377E"/>
                </a:solidFill>
                <a:latin typeface="Georgia"/>
                <a:cs typeface="Georgia"/>
              </a:rPr>
              <a:t> </a:t>
            </a:r>
            <a:r>
              <a:rPr sz="3500" dirty="0">
                <a:solidFill>
                  <a:srgbClr val="2E377E"/>
                </a:solidFill>
                <a:latin typeface="Georgia"/>
                <a:cs typeface="Georgia"/>
              </a:rPr>
              <a:t>When</a:t>
            </a:r>
            <a:r>
              <a:rPr sz="3500" spc="20" dirty="0">
                <a:solidFill>
                  <a:srgbClr val="2E377E"/>
                </a:solidFill>
                <a:latin typeface="Georgia"/>
                <a:cs typeface="Georgia"/>
              </a:rPr>
              <a:t> </a:t>
            </a:r>
            <a:r>
              <a:rPr sz="3500" dirty="0">
                <a:solidFill>
                  <a:srgbClr val="2E377E"/>
                </a:solidFill>
                <a:latin typeface="Georgia"/>
                <a:cs typeface="Georgia"/>
              </a:rPr>
              <a:t>there</a:t>
            </a:r>
            <a:r>
              <a:rPr sz="3500" spc="25" dirty="0">
                <a:solidFill>
                  <a:srgbClr val="2E377E"/>
                </a:solidFill>
                <a:latin typeface="Georgia"/>
                <a:cs typeface="Georgia"/>
              </a:rPr>
              <a:t> </a:t>
            </a:r>
            <a:r>
              <a:rPr sz="3500" dirty="0">
                <a:solidFill>
                  <a:srgbClr val="2E377E"/>
                </a:solidFill>
                <a:latin typeface="Georgia"/>
                <a:cs typeface="Georgia"/>
              </a:rPr>
              <a:t>are</a:t>
            </a:r>
            <a:r>
              <a:rPr sz="3500" spc="25" dirty="0">
                <a:solidFill>
                  <a:srgbClr val="2E377E"/>
                </a:solidFill>
                <a:latin typeface="Georgia"/>
                <a:cs typeface="Georgia"/>
              </a:rPr>
              <a:t> </a:t>
            </a:r>
            <a:r>
              <a:rPr sz="3500" dirty="0">
                <a:solidFill>
                  <a:srgbClr val="2E377E"/>
                </a:solidFill>
                <a:latin typeface="Georgia"/>
                <a:cs typeface="Georgia"/>
              </a:rPr>
              <a:t>multiple</a:t>
            </a:r>
            <a:r>
              <a:rPr sz="3500" spc="25" dirty="0">
                <a:solidFill>
                  <a:srgbClr val="2E377E"/>
                </a:solidFill>
                <a:latin typeface="Georgia"/>
                <a:cs typeface="Georgia"/>
              </a:rPr>
              <a:t> </a:t>
            </a:r>
            <a:r>
              <a:rPr sz="3500" dirty="0">
                <a:solidFill>
                  <a:srgbClr val="2E377E"/>
                </a:solidFill>
                <a:latin typeface="Georgia"/>
                <a:cs typeface="Georgia"/>
              </a:rPr>
              <a:t>numbers</a:t>
            </a:r>
            <a:r>
              <a:rPr sz="3500" spc="30" dirty="0">
                <a:solidFill>
                  <a:srgbClr val="2E377E"/>
                </a:solidFill>
                <a:latin typeface="Georgia"/>
                <a:cs typeface="Georgia"/>
              </a:rPr>
              <a:t> </a:t>
            </a:r>
            <a:r>
              <a:rPr sz="3500" dirty="0">
                <a:solidFill>
                  <a:srgbClr val="2E377E"/>
                </a:solidFill>
                <a:latin typeface="Georgia"/>
                <a:cs typeface="Georgia"/>
              </a:rPr>
              <a:t>of</a:t>
            </a:r>
            <a:r>
              <a:rPr sz="3500" spc="30" dirty="0">
                <a:solidFill>
                  <a:srgbClr val="2E377E"/>
                </a:solidFill>
                <a:latin typeface="Georgia"/>
                <a:cs typeface="Georgia"/>
              </a:rPr>
              <a:t> </a:t>
            </a:r>
            <a:r>
              <a:rPr sz="3500" dirty="0">
                <a:solidFill>
                  <a:srgbClr val="2E377E"/>
                </a:solidFill>
                <a:latin typeface="Georgia"/>
                <a:cs typeface="Georgia"/>
              </a:rPr>
              <a:t>projects</a:t>
            </a:r>
            <a:r>
              <a:rPr sz="3500" spc="30" dirty="0">
                <a:solidFill>
                  <a:srgbClr val="2E377E"/>
                </a:solidFill>
                <a:latin typeface="Georgia"/>
                <a:cs typeface="Georgia"/>
              </a:rPr>
              <a:t> </a:t>
            </a:r>
            <a:r>
              <a:rPr sz="3500" dirty="0">
                <a:solidFill>
                  <a:srgbClr val="2E377E"/>
                </a:solidFill>
                <a:latin typeface="Georgia"/>
                <a:cs typeface="Georgia"/>
              </a:rPr>
              <a:t>running</a:t>
            </a:r>
            <a:r>
              <a:rPr sz="3500" spc="25" dirty="0">
                <a:solidFill>
                  <a:srgbClr val="2E377E"/>
                </a:solidFill>
                <a:latin typeface="Georgia"/>
                <a:cs typeface="Georgia"/>
              </a:rPr>
              <a:t> </a:t>
            </a:r>
            <a:r>
              <a:rPr sz="3500" dirty="0">
                <a:solidFill>
                  <a:srgbClr val="2E377E"/>
                </a:solidFill>
                <a:latin typeface="Georgia"/>
                <a:cs typeface="Georgia"/>
              </a:rPr>
              <a:t>then</a:t>
            </a:r>
            <a:r>
              <a:rPr sz="3500" spc="25" dirty="0">
                <a:solidFill>
                  <a:srgbClr val="2E377E"/>
                </a:solidFill>
                <a:latin typeface="Georgia"/>
                <a:cs typeface="Georgia"/>
              </a:rPr>
              <a:t> </a:t>
            </a:r>
            <a:r>
              <a:rPr sz="3500" spc="125" dirty="0">
                <a:solidFill>
                  <a:srgbClr val="2E377E"/>
                </a:solidFill>
                <a:latin typeface="Georgia"/>
                <a:cs typeface="Georgia"/>
              </a:rPr>
              <a:t>we</a:t>
            </a:r>
            <a:r>
              <a:rPr sz="3500" spc="25" dirty="0">
                <a:solidFill>
                  <a:srgbClr val="2E377E"/>
                </a:solidFill>
                <a:latin typeface="Georgia"/>
                <a:cs typeface="Georgia"/>
              </a:rPr>
              <a:t> </a:t>
            </a:r>
            <a:r>
              <a:rPr sz="3500" spc="-25" dirty="0">
                <a:solidFill>
                  <a:srgbClr val="2E377E"/>
                </a:solidFill>
                <a:latin typeface="Georgia"/>
                <a:cs typeface="Georgia"/>
              </a:rPr>
              <a:t>can </a:t>
            </a:r>
            <a:r>
              <a:rPr sz="3500" dirty="0">
                <a:solidFill>
                  <a:srgbClr val="2E377E"/>
                </a:solidFill>
                <a:latin typeface="Georgia"/>
                <a:cs typeface="Georgia"/>
              </a:rPr>
              <a:t>consider</a:t>
            </a:r>
            <a:r>
              <a:rPr sz="3500" spc="25" dirty="0">
                <a:solidFill>
                  <a:srgbClr val="2E377E"/>
                </a:solidFill>
                <a:latin typeface="Georgia"/>
                <a:cs typeface="Georgia"/>
              </a:rPr>
              <a:t> </a:t>
            </a:r>
            <a:r>
              <a:rPr sz="3500" dirty="0">
                <a:solidFill>
                  <a:srgbClr val="2E377E"/>
                </a:solidFill>
                <a:latin typeface="Georgia"/>
                <a:cs typeface="Georgia"/>
              </a:rPr>
              <a:t>making</a:t>
            </a:r>
            <a:r>
              <a:rPr sz="3500" spc="25" dirty="0">
                <a:solidFill>
                  <a:srgbClr val="2E377E"/>
                </a:solidFill>
                <a:latin typeface="Georgia"/>
                <a:cs typeface="Georgia"/>
              </a:rPr>
              <a:t> </a:t>
            </a:r>
            <a:r>
              <a:rPr sz="3500" dirty="0">
                <a:solidFill>
                  <a:srgbClr val="2E377E"/>
                </a:solidFill>
                <a:latin typeface="Georgia"/>
                <a:cs typeface="Georgia"/>
              </a:rPr>
              <a:t>namespaces</a:t>
            </a:r>
            <a:r>
              <a:rPr sz="3500" spc="25" dirty="0">
                <a:solidFill>
                  <a:srgbClr val="2E377E"/>
                </a:solidFill>
                <a:latin typeface="Georgia"/>
                <a:cs typeface="Georgia"/>
              </a:rPr>
              <a:t> </a:t>
            </a:r>
            <a:r>
              <a:rPr sz="3500" dirty="0">
                <a:solidFill>
                  <a:srgbClr val="2E377E"/>
                </a:solidFill>
                <a:latin typeface="Georgia"/>
                <a:cs typeface="Georgia"/>
              </a:rPr>
              <a:t>and</a:t>
            </a:r>
            <a:r>
              <a:rPr sz="3500" spc="25" dirty="0">
                <a:solidFill>
                  <a:srgbClr val="2E377E"/>
                </a:solidFill>
                <a:latin typeface="Georgia"/>
                <a:cs typeface="Georgia"/>
              </a:rPr>
              <a:t> </a:t>
            </a:r>
            <a:r>
              <a:rPr sz="3500" spc="55" dirty="0">
                <a:solidFill>
                  <a:srgbClr val="2E377E"/>
                </a:solidFill>
                <a:latin typeface="Georgia"/>
                <a:cs typeface="Georgia"/>
              </a:rPr>
              <a:t>put</a:t>
            </a:r>
            <a:r>
              <a:rPr sz="3500" spc="30" dirty="0">
                <a:solidFill>
                  <a:srgbClr val="2E377E"/>
                </a:solidFill>
                <a:latin typeface="Georgia"/>
                <a:cs typeface="Georgia"/>
              </a:rPr>
              <a:t> </a:t>
            </a:r>
            <a:r>
              <a:rPr sz="3500" spc="55" dirty="0">
                <a:solidFill>
                  <a:srgbClr val="2E377E"/>
                </a:solidFill>
                <a:latin typeface="Georgia"/>
                <a:cs typeface="Georgia"/>
              </a:rPr>
              <a:t>the</a:t>
            </a:r>
            <a:r>
              <a:rPr sz="3500" spc="20" dirty="0">
                <a:solidFill>
                  <a:srgbClr val="2E377E"/>
                </a:solidFill>
                <a:latin typeface="Georgia"/>
                <a:cs typeface="Georgia"/>
              </a:rPr>
              <a:t> </a:t>
            </a:r>
            <a:r>
              <a:rPr sz="3500" dirty="0">
                <a:solidFill>
                  <a:srgbClr val="2E377E"/>
                </a:solidFill>
                <a:latin typeface="Georgia"/>
                <a:cs typeface="Georgia"/>
              </a:rPr>
              <a:t>projects</a:t>
            </a:r>
            <a:r>
              <a:rPr sz="3500" spc="30" dirty="0">
                <a:solidFill>
                  <a:srgbClr val="2E377E"/>
                </a:solidFill>
                <a:latin typeface="Georgia"/>
                <a:cs typeface="Georgia"/>
              </a:rPr>
              <a:t> </a:t>
            </a:r>
            <a:r>
              <a:rPr sz="3500" dirty="0">
                <a:solidFill>
                  <a:srgbClr val="2E377E"/>
                </a:solidFill>
                <a:latin typeface="Georgia"/>
                <a:cs typeface="Georgia"/>
              </a:rPr>
              <a:t>accordingly</a:t>
            </a:r>
            <a:r>
              <a:rPr sz="3500" spc="20" dirty="0">
                <a:solidFill>
                  <a:srgbClr val="2E377E"/>
                </a:solidFill>
                <a:latin typeface="Georgia"/>
                <a:cs typeface="Georgia"/>
              </a:rPr>
              <a:t> </a:t>
            </a:r>
            <a:r>
              <a:rPr sz="3500" dirty="0">
                <a:solidFill>
                  <a:srgbClr val="2E377E"/>
                </a:solidFill>
                <a:latin typeface="Georgia"/>
                <a:cs typeface="Georgia"/>
              </a:rPr>
              <a:t>in</a:t>
            </a:r>
            <a:r>
              <a:rPr sz="3500" spc="25" dirty="0">
                <a:solidFill>
                  <a:srgbClr val="2E377E"/>
                </a:solidFill>
                <a:latin typeface="Georgia"/>
                <a:cs typeface="Georgia"/>
              </a:rPr>
              <a:t> </a:t>
            </a:r>
            <a:r>
              <a:rPr sz="3500" spc="30" dirty="0">
                <a:solidFill>
                  <a:srgbClr val="2E377E"/>
                </a:solidFill>
                <a:latin typeface="Georgia"/>
                <a:cs typeface="Georgia"/>
              </a:rPr>
              <a:t>the </a:t>
            </a:r>
            <a:r>
              <a:rPr sz="3500" spc="-10" dirty="0">
                <a:solidFill>
                  <a:srgbClr val="2E377E"/>
                </a:solidFill>
                <a:latin typeface="Georgia"/>
                <a:cs typeface="Georgia"/>
              </a:rPr>
              <a:t>namespaces.</a:t>
            </a:r>
            <a:endParaRPr sz="3500">
              <a:latin typeface="Georgia"/>
              <a:cs typeface="Georgia"/>
            </a:endParaRPr>
          </a:p>
          <a:p>
            <a:pPr>
              <a:lnSpc>
                <a:spcPct val="100000"/>
              </a:lnSpc>
              <a:spcBef>
                <a:spcPts val="900"/>
              </a:spcBef>
            </a:pPr>
            <a:endParaRPr sz="3500">
              <a:latin typeface="Georgia"/>
              <a:cs typeface="Georgia"/>
            </a:endParaRPr>
          </a:p>
          <a:p>
            <a:pPr marL="12700" marR="1132840">
              <a:lnSpc>
                <a:spcPct val="116100"/>
              </a:lnSpc>
            </a:pPr>
            <a:r>
              <a:rPr sz="3500" spc="140" dirty="0">
                <a:solidFill>
                  <a:srgbClr val="2E377E"/>
                </a:solidFill>
                <a:latin typeface="Times New Roman"/>
                <a:cs typeface="Times New Roman"/>
              </a:rPr>
              <a:t>Organization</a:t>
            </a:r>
            <a:r>
              <a:rPr sz="3500" spc="140" dirty="0">
                <a:solidFill>
                  <a:srgbClr val="2E377E"/>
                </a:solidFill>
                <a:latin typeface="Georgia"/>
                <a:cs typeface="Georgia"/>
              </a:rPr>
              <a:t>:</a:t>
            </a:r>
            <a:r>
              <a:rPr sz="3500" spc="5" dirty="0">
                <a:solidFill>
                  <a:srgbClr val="2E377E"/>
                </a:solidFill>
                <a:latin typeface="Georgia"/>
                <a:cs typeface="Georgia"/>
              </a:rPr>
              <a:t> </a:t>
            </a:r>
            <a:r>
              <a:rPr sz="3500" dirty="0">
                <a:solidFill>
                  <a:srgbClr val="2E377E"/>
                </a:solidFill>
                <a:latin typeface="Georgia"/>
                <a:cs typeface="Georgia"/>
              </a:rPr>
              <a:t>If</a:t>
            </a:r>
            <a:r>
              <a:rPr sz="3500" spc="10" dirty="0">
                <a:solidFill>
                  <a:srgbClr val="2E377E"/>
                </a:solidFill>
                <a:latin typeface="Georgia"/>
                <a:cs typeface="Georgia"/>
              </a:rPr>
              <a:t> </a:t>
            </a:r>
            <a:r>
              <a:rPr sz="3500" dirty="0">
                <a:solidFill>
                  <a:srgbClr val="2E377E"/>
                </a:solidFill>
                <a:latin typeface="Georgia"/>
                <a:cs typeface="Georgia"/>
              </a:rPr>
              <a:t>there is</a:t>
            </a:r>
            <a:r>
              <a:rPr sz="3500" spc="10" dirty="0">
                <a:solidFill>
                  <a:srgbClr val="2E377E"/>
                </a:solidFill>
                <a:latin typeface="Georgia"/>
                <a:cs typeface="Georgia"/>
              </a:rPr>
              <a:t> </a:t>
            </a:r>
            <a:r>
              <a:rPr sz="3500" spc="50" dirty="0">
                <a:solidFill>
                  <a:srgbClr val="2E377E"/>
                </a:solidFill>
                <a:latin typeface="Georgia"/>
                <a:cs typeface="Georgia"/>
              </a:rPr>
              <a:t>only</a:t>
            </a:r>
            <a:r>
              <a:rPr sz="3500" dirty="0">
                <a:solidFill>
                  <a:srgbClr val="2E377E"/>
                </a:solidFill>
                <a:latin typeface="Georgia"/>
                <a:cs typeface="Georgia"/>
              </a:rPr>
              <a:t> one</a:t>
            </a:r>
            <a:r>
              <a:rPr sz="3500" spc="5" dirty="0">
                <a:solidFill>
                  <a:srgbClr val="2E377E"/>
                </a:solidFill>
                <a:latin typeface="Georgia"/>
                <a:cs typeface="Georgia"/>
              </a:rPr>
              <a:t> </a:t>
            </a:r>
            <a:r>
              <a:rPr sz="3500" dirty="0">
                <a:solidFill>
                  <a:srgbClr val="2E377E"/>
                </a:solidFill>
                <a:latin typeface="Georgia"/>
                <a:cs typeface="Georgia"/>
              </a:rPr>
              <a:t>Kubernetes</a:t>
            </a:r>
            <a:r>
              <a:rPr sz="3500" spc="5" dirty="0">
                <a:solidFill>
                  <a:srgbClr val="2E377E"/>
                </a:solidFill>
                <a:latin typeface="Georgia"/>
                <a:cs typeface="Georgia"/>
              </a:rPr>
              <a:t> </a:t>
            </a:r>
            <a:r>
              <a:rPr sz="3500" dirty="0">
                <a:solidFill>
                  <a:srgbClr val="2E377E"/>
                </a:solidFill>
                <a:latin typeface="Georgia"/>
                <a:cs typeface="Georgia"/>
              </a:rPr>
              <a:t>Cluster</a:t>
            </a:r>
            <a:r>
              <a:rPr sz="3500" spc="10" dirty="0">
                <a:solidFill>
                  <a:srgbClr val="2E377E"/>
                </a:solidFill>
                <a:latin typeface="Georgia"/>
                <a:cs typeface="Georgia"/>
              </a:rPr>
              <a:t> </a:t>
            </a:r>
            <a:r>
              <a:rPr sz="3500" spc="50" dirty="0">
                <a:solidFill>
                  <a:srgbClr val="2E377E"/>
                </a:solidFill>
                <a:latin typeface="Georgia"/>
                <a:cs typeface="Georgia"/>
              </a:rPr>
              <a:t>which</a:t>
            </a:r>
            <a:r>
              <a:rPr sz="3500" dirty="0">
                <a:solidFill>
                  <a:srgbClr val="2E377E"/>
                </a:solidFill>
                <a:latin typeface="Georgia"/>
                <a:cs typeface="Georgia"/>
              </a:rPr>
              <a:t> has</a:t>
            </a:r>
            <a:r>
              <a:rPr sz="3500" spc="10" dirty="0">
                <a:solidFill>
                  <a:srgbClr val="2E377E"/>
                </a:solidFill>
                <a:latin typeface="Georgia"/>
                <a:cs typeface="Georgia"/>
              </a:rPr>
              <a:t> </a:t>
            </a:r>
            <a:r>
              <a:rPr sz="3500" spc="-10" dirty="0">
                <a:solidFill>
                  <a:srgbClr val="2E377E"/>
                </a:solidFill>
                <a:latin typeface="Georgia"/>
                <a:cs typeface="Georgia"/>
              </a:rPr>
              <a:t>different </a:t>
            </a:r>
            <a:r>
              <a:rPr sz="3500" dirty="0">
                <a:solidFill>
                  <a:srgbClr val="2E377E"/>
                </a:solidFill>
                <a:latin typeface="Georgia"/>
                <a:cs typeface="Georgia"/>
              </a:rPr>
              <a:t>environments</a:t>
            </a:r>
            <a:r>
              <a:rPr sz="3500" spc="-15" dirty="0">
                <a:solidFill>
                  <a:srgbClr val="2E377E"/>
                </a:solidFill>
                <a:latin typeface="Georgia"/>
                <a:cs typeface="Georgia"/>
              </a:rPr>
              <a:t> </a:t>
            </a:r>
            <a:r>
              <a:rPr sz="3500" spc="55" dirty="0">
                <a:solidFill>
                  <a:srgbClr val="2E377E"/>
                </a:solidFill>
                <a:latin typeface="Georgia"/>
                <a:cs typeface="Georgia"/>
              </a:rPr>
              <a:t>to</a:t>
            </a:r>
            <a:r>
              <a:rPr sz="3500" spc="-15" dirty="0">
                <a:solidFill>
                  <a:srgbClr val="2E377E"/>
                </a:solidFill>
                <a:latin typeface="Georgia"/>
                <a:cs typeface="Georgia"/>
              </a:rPr>
              <a:t> </a:t>
            </a:r>
            <a:r>
              <a:rPr sz="3500" spc="55" dirty="0">
                <a:solidFill>
                  <a:srgbClr val="2E377E"/>
                </a:solidFill>
                <a:latin typeface="Georgia"/>
                <a:cs typeface="Georgia"/>
              </a:rPr>
              <a:t>keep</a:t>
            </a:r>
            <a:r>
              <a:rPr sz="3500" spc="-15" dirty="0">
                <a:solidFill>
                  <a:srgbClr val="2E377E"/>
                </a:solidFill>
                <a:latin typeface="Georgia"/>
                <a:cs typeface="Georgia"/>
              </a:rPr>
              <a:t> </a:t>
            </a:r>
            <a:r>
              <a:rPr sz="3500" dirty="0">
                <a:solidFill>
                  <a:srgbClr val="2E377E"/>
                </a:solidFill>
                <a:latin typeface="Georgia"/>
                <a:cs typeface="Georgia"/>
              </a:rPr>
              <a:t>isolated.</a:t>
            </a:r>
            <a:r>
              <a:rPr sz="3500" spc="-10" dirty="0">
                <a:solidFill>
                  <a:srgbClr val="2E377E"/>
                </a:solidFill>
                <a:latin typeface="Georgia"/>
                <a:cs typeface="Georgia"/>
              </a:rPr>
              <a:t> </a:t>
            </a:r>
            <a:r>
              <a:rPr sz="3500" dirty="0">
                <a:solidFill>
                  <a:srgbClr val="2E377E"/>
                </a:solidFill>
                <a:latin typeface="Georgia"/>
                <a:cs typeface="Georgia"/>
              </a:rPr>
              <a:t>If</a:t>
            </a:r>
            <a:r>
              <a:rPr sz="3500" spc="-10" dirty="0">
                <a:solidFill>
                  <a:srgbClr val="2E377E"/>
                </a:solidFill>
                <a:latin typeface="Georgia"/>
                <a:cs typeface="Georgia"/>
              </a:rPr>
              <a:t> </a:t>
            </a:r>
            <a:r>
              <a:rPr sz="3500" dirty="0">
                <a:solidFill>
                  <a:srgbClr val="2E377E"/>
                </a:solidFill>
                <a:latin typeface="Georgia"/>
                <a:cs typeface="Georgia"/>
              </a:rPr>
              <a:t>something</a:t>
            </a:r>
            <a:r>
              <a:rPr sz="3500" spc="-15" dirty="0">
                <a:solidFill>
                  <a:srgbClr val="2E377E"/>
                </a:solidFill>
                <a:latin typeface="Georgia"/>
                <a:cs typeface="Georgia"/>
              </a:rPr>
              <a:t> </a:t>
            </a:r>
            <a:r>
              <a:rPr sz="3500" dirty="0">
                <a:solidFill>
                  <a:srgbClr val="2E377E"/>
                </a:solidFill>
                <a:latin typeface="Georgia"/>
                <a:cs typeface="Georgia"/>
              </a:rPr>
              <a:t>happens</a:t>
            </a:r>
            <a:r>
              <a:rPr sz="3500" spc="-10" dirty="0">
                <a:solidFill>
                  <a:srgbClr val="2E377E"/>
                </a:solidFill>
                <a:latin typeface="Georgia"/>
                <a:cs typeface="Georgia"/>
              </a:rPr>
              <a:t> </a:t>
            </a:r>
            <a:r>
              <a:rPr sz="3500" spc="55" dirty="0">
                <a:solidFill>
                  <a:srgbClr val="2E377E"/>
                </a:solidFill>
                <a:latin typeface="Georgia"/>
                <a:cs typeface="Georgia"/>
              </a:rPr>
              <a:t>to</a:t>
            </a:r>
            <a:r>
              <a:rPr sz="3500" spc="-15" dirty="0">
                <a:solidFill>
                  <a:srgbClr val="2E377E"/>
                </a:solidFill>
                <a:latin typeface="Georgia"/>
                <a:cs typeface="Georgia"/>
              </a:rPr>
              <a:t> </a:t>
            </a:r>
            <a:r>
              <a:rPr sz="3500" spc="55" dirty="0">
                <a:solidFill>
                  <a:srgbClr val="2E377E"/>
                </a:solidFill>
                <a:latin typeface="Georgia"/>
                <a:cs typeface="Georgia"/>
              </a:rPr>
              <a:t>the</a:t>
            </a:r>
            <a:r>
              <a:rPr sz="3500" spc="-15" dirty="0">
                <a:solidFill>
                  <a:srgbClr val="2E377E"/>
                </a:solidFill>
                <a:latin typeface="Georgia"/>
                <a:cs typeface="Georgia"/>
              </a:rPr>
              <a:t> </a:t>
            </a:r>
            <a:r>
              <a:rPr sz="3500" spc="-10" dirty="0">
                <a:solidFill>
                  <a:srgbClr val="2E377E"/>
                </a:solidFill>
                <a:latin typeface="Georgia"/>
                <a:cs typeface="Georgia"/>
              </a:rPr>
              <a:t>particular </a:t>
            </a:r>
            <a:r>
              <a:rPr sz="3500" dirty="0">
                <a:solidFill>
                  <a:srgbClr val="2E377E"/>
                </a:solidFill>
                <a:latin typeface="Georgia"/>
                <a:cs typeface="Georgia"/>
              </a:rPr>
              <a:t>environment</a:t>
            </a:r>
            <a:r>
              <a:rPr sz="3500" spc="70" dirty="0">
                <a:solidFill>
                  <a:srgbClr val="2E377E"/>
                </a:solidFill>
                <a:latin typeface="Georgia"/>
                <a:cs typeface="Georgia"/>
              </a:rPr>
              <a:t> </a:t>
            </a:r>
            <a:r>
              <a:rPr sz="3500" dirty="0">
                <a:solidFill>
                  <a:srgbClr val="2E377E"/>
                </a:solidFill>
                <a:latin typeface="Georgia"/>
                <a:cs typeface="Georgia"/>
              </a:rPr>
              <a:t>then</a:t>
            </a:r>
            <a:r>
              <a:rPr sz="3500" spc="65" dirty="0">
                <a:solidFill>
                  <a:srgbClr val="2E377E"/>
                </a:solidFill>
                <a:latin typeface="Georgia"/>
                <a:cs typeface="Georgia"/>
              </a:rPr>
              <a:t> </a:t>
            </a:r>
            <a:r>
              <a:rPr sz="3500" spc="50" dirty="0">
                <a:solidFill>
                  <a:srgbClr val="2E377E"/>
                </a:solidFill>
                <a:latin typeface="Georgia"/>
                <a:cs typeface="Georgia"/>
              </a:rPr>
              <a:t>it</a:t>
            </a:r>
            <a:r>
              <a:rPr sz="3500" spc="70" dirty="0">
                <a:solidFill>
                  <a:srgbClr val="2E377E"/>
                </a:solidFill>
                <a:latin typeface="Georgia"/>
                <a:cs typeface="Georgia"/>
              </a:rPr>
              <a:t> </a:t>
            </a:r>
            <a:r>
              <a:rPr sz="3500" spc="65" dirty="0">
                <a:solidFill>
                  <a:srgbClr val="2E377E"/>
                </a:solidFill>
                <a:latin typeface="Georgia"/>
                <a:cs typeface="Georgia"/>
              </a:rPr>
              <a:t>won’t</a:t>
            </a:r>
            <a:r>
              <a:rPr sz="3500" spc="70" dirty="0">
                <a:solidFill>
                  <a:srgbClr val="2E377E"/>
                </a:solidFill>
                <a:latin typeface="Georgia"/>
                <a:cs typeface="Georgia"/>
              </a:rPr>
              <a:t> </a:t>
            </a:r>
            <a:r>
              <a:rPr sz="3500" dirty="0">
                <a:solidFill>
                  <a:srgbClr val="2E377E"/>
                </a:solidFill>
                <a:latin typeface="Georgia"/>
                <a:cs typeface="Georgia"/>
              </a:rPr>
              <a:t>affect</a:t>
            </a:r>
            <a:r>
              <a:rPr sz="3500" spc="70" dirty="0">
                <a:solidFill>
                  <a:srgbClr val="2E377E"/>
                </a:solidFill>
                <a:latin typeface="Georgia"/>
                <a:cs typeface="Georgia"/>
              </a:rPr>
              <a:t> </a:t>
            </a:r>
            <a:r>
              <a:rPr sz="3500" spc="55" dirty="0">
                <a:solidFill>
                  <a:srgbClr val="2E377E"/>
                </a:solidFill>
                <a:latin typeface="Georgia"/>
                <a:cs typeface="Georgia"/>
              </a:rPr>
              <a:t>the</a:t>
            </a:r>
            <a:r>
              <a:rPr sz="3500" spc="65" dirty="0">
                <a:solidFill>
                  <a:srgbClr val="2E377E"/>
                </a:solidFill>
                <a:latin typeface="Georgia"/>
                <a:cs typeface="Georgia"/>
              </a:rPr>
              <a:t> </a:t>
            </a:r>
            <a:r>
              <a:rPr sz="3500" dirty="0">
                <a:solidFill>
                  <a:srgbClr val="2E377E"/>
                </a:solidFill>
                <a:latin typeface="Georgia"/>
                <a:cs typeface="Georgia"/>
              </a:rPr>
              <a:t>other</a:t>
            </a:r>
            <a:r>
              <a:rPr sz="3500" spc="70" dirty="0">
                <a:solidFill>
                  <a:srgbClr val="2E377E"/>
                </a:solidFill>
                <a:latin typeface="Georgia"/>
                <a:cs typeface="Georgia"/>
              </a:rPr>
              <a:t> </a:t>
            </a:r>
            <a:r>
              <a:rPr sz="3500" spc="-10" dirty="0">
                <a:solidFill>
                  <a:srgbClr val="2E377E"/>
                </a:solidFill>
                <a:latin typeface="Georgia"/>
                <a:cs typeface="Georgia"/>
              </a:rPr>
              <a:t>environments.</a:t>
            </a:r>
            <a:endParaRPr sz="3500">
              <a:latin typeface="Georgia"/>
              <a:cs typeface="Georgia"/>
            </a:endParaRPr>
          </a:p>
          <a:p>
            <a:pPr>
              <a:lnSpc>
                <a:spcPct val="100000"/>
              </a:lnSpc>
              <a:spcBef>
                <a:spcPts val="894"/>
              </a:spcBef>
            </a:pPr>
            <a:endParaRPr sz="3500">
              <a:latin typeface="Georgia"/>
              <a:cs typeface="Georgia"/>
            </a:endParaRPr>
          </a:p>
          <a:p>
            <a:pPr marL="12700" marR="5080">
              <a:lnSpc>
                <a:spcPct val="116100"/>
              </a:lnSpc>
            </a:pPr>
            <a:r>
              <a:rPr sz="3500" spc="145" dirty="0">
                <a:solidFill>
                  <a:srgbClr val="2E377E"/>
                </a:solidFill>
                <a:latin typeface="Times New Roman"/>
                <a:cs typeface="Times New Roman"/>
              </a:rPr>
              <a:t>Permission</a:t>
            </a:r>
            <a:r>
              <a:rPr sz="3500" spc="145" dirty="0">
                <a:solidFill>
                  <a:srgbClr val="2E377E"/>
                </a:solidFill>
                <a:latin typeface="Georgia"/>
                <a:cs typeface="Georgia"/>
              </a:rPr>
              <a:t>:</a:t>
            </a:r>
            <a:r>
              <a:rPr sz="3500" spc="5" dirty="0">
                <a:solidFill>
                  <a:srgbClr val="2E377E"/>
                </a:solidFill>
                <a:latin typeface="Georgia"/>
                <a:cs typeface="Georgia"/>
              </a:rPr>
              <a:t> </a:t>
            </a:r>
            <a:r>
              <a:rPr sz="3500" dirty="0">
                <a:solidFill>
                  <a:srgbClr val="2E377E"/>
                </a:solidFill>
                <a:latin typeface="Georgia"/>
                <a:cs typeface="Georgia"/>
              </a:rPr>
              <a:t>If</a:t>
            </a:r>
            <a:r>
              <a:rPr sz="3500" spc="10" dirty="0">
                <a:solidFill>
                  <a:srgbClr val="2E377E"/>
                </a:solidFill>
                <a:latin typeface="Georgia"/>
                <a:cs typeface="Georgia"/>
              </a:rPr>
              <a:t> </a:t>
            </a:r>
            <a:r>
              <a:rPr sz="3500" dirty="0">
                <a:solidFill>
                  <a:srgbClr val="2E377E"/>
                </a:solidFill>
                <a:latin typeface="Georgia"/>
                <a:cs typeface="Georgia"/>
              </a:rPr>
              <a:t>some objects</a:t>
            </a:r>
            <a:r>
              <a:rPr sz="3500" spc="5" dirty="0">
                <a:solidFill>
                  <a:srgbClr val="2E377E"/>
                </a:solidFill>
                <a:latin typeface="Georgia"/>
                <a:cs typeface="Georgia"/>
              </a:rPr>
              <a:t> </a:t>
            </a:r>
            <a:r>
              <a:rPr sz="3500" dirty="0">
                <a:solidFill>
                  <a:srgbClr val="2E377E"/>
                </a:solidFill>
                <a:latin typeface="Georgia"/>
                <a:cs typeface="Georgia"/>
              </a:rPr>
              <a:t>are</a:t>
            </a:r>
            <a:r>
              <a:rPr sz="3500" spc="5" dirty="0">
                <a:solidFill>
                  <a:srgbClr val="2E377E"/>
                </a:solidFill>
                <a:latin typeface="Georgia"/>
                <a:cs typeface="Georgia"/>
              </a:rPr>
              <a:t> </a:t>
            </a:r>
            <a:r>
              <a:rPr sz="3500" dirty="0">
                <a:solidFill>
                  <a:srgbClr val="2E377E"/>
                </a:solidFill>
                <a:latin typeface="Georgia"/>
                <a:cs typeface="Georgia"/>
              </a:rPr>
              <a:t>confidential</a:t>
            </a:r>
            <a:r>
              <a:rPr sz="3500" spc="5" dirty="0">
                <a:solidFill>
                  <a:srgbClr val="2E377E"/>
                </a:solidFill>
                <a:latin typeface="Georgia"/>
                <a:cs typeface="Georgia"/>
              </a:rPr>
              <a:t> </a:t>
            </a:r>
            <a:r>
              <a:rPr sz="3500" dirty="0">
                <a:solidFill>
                  <a:srgbClr val="2E377E"/>
                </a:solidFill>
                <a:latin typeface="Georgia"/>
                <a:cs typeface="Georgia"/>
              </a:rPr>
              <a:t>and</a:t>
            </a:r>
            <a:r>
              <a:rPr sz="3500" spc="5" dirty="0">
                <a:solidFill>
                  <a:srgbClr val="2E377E"/>
                </a:solidFill>
                <a:latin typeface="Georgia"/>
                <a:cs typeface="Georgia"/>
              </a:rPr>
              <a:t> </a:t>
            </a:r>
            <a:r>
              <a:rPr sz="3500" dirty="0">
                <a:solidFill>
                  <a:srgbClr val="2E377E"/>
                </a:solidFill>
                <a:latin typeface="Georgia"/>
                <a:cs typeface="Georgia"/>
              </a:rPr>
              <a:t>must</a:t>
            </a:r>
            <a:r>
              <a:rPr sz="3500" spc="5" dirty="0">
                <a:solidFill>
                  <a:srgbClr val="2E377E"/>
                </a:solidFill>
                <a:latin typeface="Georgia"/>
                <a:cs typeface="Georgia"/>
              </a:rPr>
              <a:t> </a:t>
            </a:r>
            <a:r>
              <a:rPr sz="3500" dirty="0">
                <a:solidFill>
                  <a:srgbClr val="2E377E"/>
                </a:solidFill>
                <a:latin typeface="Georgia"/>
                <a:cs typeface="Georgia"/>
              </a:rPr>
              <a:t>need</a:t>
            </a:r>
            <a:r>
              <a:rPr sz="3500" spc="5" dirty="0">
                <a:solidFill>
                  <a:srgbClr val="2E377E"/>
                </a:solidFill>
                <a:latin typeface="Georgia"/>
                <a:cs typeface="Georgia"/>
              </a:rPr>
              <a:t> </a:t>
            </a:r>
            <a:r>
              <a:rPr sz="3500" dirty="0">
                <a:solidFill>
                  <a:srgbClr val="2E377E"/>
                </a:solidFill>
                <a:latin typeface="Georgia"/>
                <a:cs typeface="Georgia"/>
              </a:rPr>
              <a:t>access</a:t>
            </a:r>
            <a:r>
              <a:rPr sz="3500" spc="5" dirty="0">
                <a:solidFill>
                  <a:srgbClr val="2E377E"/>
                </a:solidFill>
                <a:latin typeface="Georgia"/>
                <a:cs typeface="Georgia"/>
              </a:rPr>
              <a:t> </a:t>
            </a:r>
            <a:r>
              <a:rPr sz="3500" spc="55" dirty="0">
                <a:solidFill>
                  <a:srgbClr val="2E377E"/>
                </a:solidFill>
                <a:latin typeface="Georgia"/>
                <a:cs typeface="Georgia"/>
              </a:rPr>
              <a:t>to</a:t>
            </a:r>
            <a:r>
              <a:rPr sz="3500" spc="5" dirty="0">
                <a:solidFill>
                  <a:srgbClr val="2E377E"/>
                </a:solidFill>
                <a:latin typeface="Georgia"/>
                <a:cs typeface="Georgia"/>
              </a:rPr>
              <a:t> </a:t>
            </a:r>
            <a:r>
              <a:rPr sz="3500" spc="30" dirty="0">
                <a:solidFill>
                  <a:srgbClr val="2E377E"/>
                </a:solidFill>
                <a:latin typeface="Georgia"/>
                <a:cs typeface="Georgia"/>
              </a:rPr>
              <a:t>the </a:t>
            </a:r>
            <a:r>
              <a:rPr sz="3500" dirty="0">
                <a:solidFill>
                  <a:srgbClr val="2E377E"/>
                </a:solidFill>
                <a:latin typeface="Georgia"/>
                <a:cs typeface="Georgia"/>
              </a:rPr>
              <a:t>particular</a:t>
            </a:r>
            <a:r>
              <a:rPr sz="3500" spc="15" dirty="0">
                <a:solidFill>
                  <a:srgbClr val="2E377E"/>
                </a:solidFill>
                <a:latin typeface="Georgia"/>
                <a:cs typeface="Georgia"/>
              </a:rPr>
              <a:t> </a:t>
            </a:r>
            <a:r>
              <a:rPr sz="3500" dirty="0">
                <a:solidFill>
                  <a:srgbClr val="2E377E"/>
                </a:solidFill>
                <a:latin typeface="Georgia"/>
                <a:cs typeface="Georgia"/>
              </a:rPr>
              <a:t>persons</a:t>
            </a:r>
            <a:r>
              <a:rPr sz="3500" spc="20" dirty="0">
                <a:solidFill>
                  <a:srgbClr val="2E377E"/>
                </a:solidFill>
                <a:latin typeface="Georgia"/>
                <a:cs typeface="Georgia"/>
              </a:rPr>
              <a:t> </a:t>
            </a:r>
            <a:r>
              <a:rPr sz="3500" dirty="0">
                <a:solidFill>
                  <a:srgbClr val="2E377E"/>
                </a:solidFill>
                <a:latin typeface="Georgia"/>
                <a:cs typeface="Georgia"/>
              </a:rPr>
              <a:t>then,</a:t>
            </a:r>
            <a:r>
              <a:rPr sz="3500" spc="15" dirty="0">
                <a:solidFill>
                  <a:srgbClr val="2E377E"/>
                </a:solidFill>
                <a:latin typeface="Georgia"/>
                <a:cs typeface="Georgia"/>
              </a:rPr>
              <a:t> </a:t>
            </a:r>
            <a:r>
              <a:rPr sz="3500" dirty="0">
                <a:solidFill>
                  <a:srgbClr val="2E377E"/>
                </a:solidFill>
                <a:latin typeface="Georgia"/>
                <a:cs typeface="Georgia"/>
              </a:rPr>
              <a:t>Kubernetes</a:t>
            </a:r>
            <a:r>
              <a:rPr sz="3500" spc="20" dirty="0">
                <a:solidFill>
                  <a:srgbClr val="2E377E"/>
                </a:solidFill>
                <a:latin typeface="Georgia"/>
                <a:cs typeface="Georgia"/>
              </a:rPr>
              <a:t> </a:t>
            </a:r>
            <a:r>
              <a:rPr sz="3500" dirty="0">
                <a:solidFill>
                  <a:srgbClr val="2E377E"/>
                </a:solidFill>
                <a:latin typeface="Georgia"/>
                <a:cs typeface="Georgia"/>
              </a:rPr>
              <a:t>provides</a:t>
            </a:r>
            <a:r>
              <a:rPr sz="3500" spc="15" dirty="0">
                <a:solidFill>
                  <a:srgbClr val="2E377E"/>
                </a:solidFill>
                <a:latin typeface="Georgia"/>
                <a:cs typeface="Georgia"/>
              </a:rPr>
              <a:t> </a:t>
            </a:r>
            <a:r>
              <a:rPr sz="3500" spc="-85" dirty="0">
                <a:solidFill>
                  <a:srgbClr val="2E377E"/>
                </a:solidFill>
                <a:latin typeface="Georgia"/>
                <a:cs typeface="Georgia"/>
              </a:rPr>
              <a:t>RBAC</a:t>
            </a:r>
            <a:r>
              <a:rPr sz="3500" spc="15" dirty="0">
                <a:solidFill>
                  <a:srgbClr val="2E377E"/>
                </a:solidFill>
                <a:latin typeface="Georgia"/>
                <a:cs typeface="Georgia"/>
              </a:rPr>
              <a:t> </a:t>
            </a:r>
            <a:r>
              <a:rPr sz="3500" dirty="0">
                <a:solidFill>
                  <a:srgbClr val="2E377E"/>
                </a:solidFill>
                <a:latin typeface="Georgia"/>
                <a:cs typeface="Georgia"/>
              </a:rPr>
              <a:t>roles</a:t>
            </a:r>
            <a:r>
              <a:rPr sz="3500" spc="15" dirty="0">
                <a:solidFill>
                  <a:srgbClr val="2E377E"/>
                </a:solidFill>
                <a:latin typeface="Georgia"/>
                <a:cs typeface="Georgia"/>
              </a:rPr>
              <a:t> </a:t>
            </a:r>
            <a:r>
              <a:rPr sz="3500" dirty="0">
                <a:solidFill>
                  <a:srgbClr val="2E377E"/>
                </a:solidFill>
                <a:latin typeface="Georgia"/>
                <a:cs typeface="Georgia"/>
              </a:rPr>
              <a:t>as</a:t>
            </a:r>
            <a:r>
              <a:rPr sz="3500" spc="20" dirty="0">
                <a:solidFill>
                  <a:srgbClr val="2E377E"/>
                </a:solidFill>
                <a:latin typeface="Georgia"/>
                <a:cs typeface="Georgia"/>
              </a:rPr>
              <a:t> </a:t>
            </a:r>
            <a:r>
              <a:rPr sz="3500" spc="55" dirty="0">
                <a:solidFill>
                  <a:srgbClr val="2E377E"/>
                </a:solidFill>
                <a:latin typeface="Georgia"/>
                <a:cs typeface="Georgia"/>
              </a:rPr>
              <a:t>well</a:t>
            </a:r>
            <a:r>
              <a:rPr sz="3500" spc="15" dirty="0">
                <a:solidFill>
                  <a:srgbClr val="2E377E"/>
                </a:solidFill>
                <a:latin typeface="Georgia"/>
                <a:cs typeface="Georgia"/>
              </a:rPr>
              <a:t> </a:t>
            </a:r>
            <a:r>
              <a:rPr sz="3500" spc="50" dirty="0">
                <a:solidFill>
                  <a:srgbClr val="2E377E"/>
                </a:solidFill>
                <a:latin typeface="Georgia"/>
                <a:cs typeface="Georgia"/>
              </a:rPr>
              <a:t>which</a:t>
            </a:r>
            <a:r>
              <a:rPr sz="3500" spc="15" dirty="0">
                <a:solidFill>
                  <a:srgbClr val="2E377E"/>
                </a:solidFill>
                <a:latin typeface="Georgia"/>
                <a:cs typeface="Georgia"/>
              </a:rPr>
              <a:t> </a:t>
            </a:r>
            <a:r>
              <a:rPr sz="3500" spc="125" dirty="0">
                <a:solidFill>
                  <a:srgbClr val="2E377E"/>
                </a:solidFill>
                <a:latin typeface="Georgia"/>
                <a:cs typeface="Georgia"/>
              </a:rPr>
              <a:t>we</a:t>
            </a:r>
            <a:r>
              <a:rPr sz="3500" spc="10" dirty="0">
                <a:solidFill>
                  <a:srgbClr val="2E377E"/>
                </a:solidFill>
                <a:latin typeface="Georgia"/>
                <a:cs typeface="Georgia"/>
              </a:rPr>
              <a:t> </a:t>
            </a:r>
            <a:r>
              <a:rPr sz="3500" spc="-25" dirty="0">
                <a:solidFill>
                  <a:srgbClr val="2E377E"/>
                </a:solidFill>
                <a:latin typeface="Georgia"/>
                <a:cs typeface="Georgia"/>
              </a:rPr>
              <a:t>can </a:t>
            </a:r>
            <a:r>
              <a:rPr sz="3500" dirty="0">
                <a:solidFill>
                  <a:srgbClr val="2E377E"/>
                </a:solidFill>
                <a:latin typeface="Georgia"/>
                <a:cs typeface="Georgia"/>
              </a:rPr>
              <a:t>use in</a:t>
            </a:r>
            <a:r>
              <a:rPr sz="3500" spc="5" dirty="0">
                <a:solidFill>
                  <a:srgbClr val="2E377E"/>
                </a:solidFill>
                <a:latin typeface="Georgia"/>
                <a:cs typeface="Georgia"/>
              </a:rPr>
              <a:t> </a:t>
            </a:r>
            <a:r>
              <a:rPr sz="3500" spc="55" dirty="0">
                <a:solidFill>
                  <a:srgbClr val="2E377E"/>
                </a:solidFill>
                <a:latin typeface="Georgia"/>
                <a:cs typeface="Georgia"/>
              </a:rPr>
              <a:t>the</a:t>
            </a:r>
            <a:r>
              <a:rPr sz="3500" spc="5" dirty="0">
                <a:solidFill>
                  <a:srgbClr val="2E377E"/>
                </a:solidFill>
                <a:latin typeface="Georgia"/>
                <a:cs typeface="Georgia"/>
              </a:rPr>
              <a:t> </a:t>
            </a:r>
            <a:r>
              <a:rPr sz="3500" dirty="0">
                <a:solidFill>
                  <a:srgbClr val="2E377E"/>
                </a:solidFill>
                <a:latin typeface="Georgia"/>
                <a:cs typeface="Georgia"/>
              </a:rPr>
              <a:t>namespace.</a:t>
            </a:r>
            <a:r>
              <a:rPr sz="3500" spc="5" dirty="0">
                <a:solidFill>
                  <a:srgbClr val="2E377E"/>
                </a:solidFill>
                <a:latin typeface="Georgia"/>
                <a:cs typeface="Georgia"/>
              </a:rPr>
              <a:t> </a:t>
            </a:r>
            <a:r>
              <a:rPr sz="3500" dirty="0">
                <a:solidFill>
                  <a:srgbClr val="2E377E"/>
                </a:solidFill>
                <a:latin typeface="Georgia"/>
                <a:cs typeface="Georgia"/>
              </a:rPr>
              <a:t>It</a:t>
            </a:r>
            <a:r>
              <a:rPr sz="3500" spc="10" dirty="0">
                <a:solidFill>
                  <a:srgbClr val="2E377E"/>
                </a:solidFill>
                <a:latin typeface="Georgia"/>
                <a:cs typeface="Georgia"/>
              </a:rPr>
              <a:t> </a:t>
            </a:r>
            <a:r>
              <a:rPr sz="3500" dirty="0">
                <a:solidFill>
                  <a:srgbClr val="2E377E"/>
                </a:solidFill>
                <a:latin typeface="Georgia"/>
                <a:cs typeface="Georgia"/>
              </a:rPr>
              <a:t>means</a:t>
            </a:r>
            <a:r>
              <a:rPr sz="3500" spc="10" dirty="0">
                <a:solidFill>
                  <a:srgbClr val="2E377E"/>
                </a:solidFill>
                <a:latin typeface="Georgia"/>
                <a:cs typeface="Georgia"/>
              </a:rPr>
              <a:t> </a:t>
            </a:r>
            <a:r>
              <a:rPr sz="3500" dirty="0">
                <a:solidFill>
                  <a:srgbClr val="2E377E"/>
                </a:solidFill>
                <a:latin typeface="Georgia"/>
                <a:cs typeface="Georgia"/>
              </a:rPr>
              <a:t>that</a:t>
            </a:r>
            <a:r>
              <a:rPr sz="3500" spc="10" dirty="0">
                <a:solidFill>
                  <a:srgbClr val="2E377E"/>
                </a:solidFill>
                <a:latin typeface="Georgia"/>
                <a:cs typeface="Georgia"/>
              </a:rPr>
              <a:t> </a:t>
            </a:r>
            <a:r>
              <a:rPr sz="3500" spc="50" dirty="0">
                <a:solidFill>
                  <a:srgbClr val="2E377E"/>
                </a:solidFill>
                <a:latin typeface="Georgia"/>
                <a:cs typeface="Georgia"/>
              </a:rPr>
              <a:t>only</a:t>
            </a:r>
            <a:r>
              <a:rPr sz="3500" dirty="0">
                <a:solidFill>
                  <a:srgbClr val="2E377E"/>
                </a:solidFill>
                <a:latin typeface="Georgia"/>
                <a:cs typeface="Georgia"/>
              </a:rPr>
              <a:t> authorized</a:t>
            </a:r>
            <a:r>
              <a:rPr sz="3500" spc="5" dirty="0">
                <a:solidFill>
                  <a:srgbClr val="2E377E"/>
                </a:solidFill>
                <a:latin typeface="Georgia"/>
                <a:cs typeface="Georgia"/>
              </a:rPr>
              <a:t> </a:t>
            </a:r>
            <a:r>
              <a:rPr sz="3500" dirty="0">
                <a:solidFill>
                  <a:srgbClr val="2E377E"/>
                </a:solidFill>
                <a:latin typeface="Georgia"/>
                <a:cs typeface="Georgia"/>
              </a:rPr>
              <a:t>users</a:t>
            </a:r>
            <a:r>
              <a:rPr sz="3500" spc="10" dirty="0">
                <a:solidFill>
                  <a:srgbClr val="2E377E"/>
                </a:solidFill>
                <a:latin typeface="Georgia"/>
                <a:cs typeface="Georgia"/>
              </a:rPr>
              <a:t> </a:t>
            </a:r>
            <a:r>
              <a:rPr sz="3500" dirty="0">
                <a:solidFill>
                  <a:srgbClr val="2E377E"/>
                </a:solidFill>
                <a:latin typeface="Georgia"/>
                <a:cs typeface="Georgia"/>
              </a:rPr>
              <a:t>can</a:t>
            </a:r>
            <a:r>
              <a:rPr sz="3500" spc="5" dirty="0">
                <a:solidFill>
                  <a:srgbClr val="2E377E"/>
                </a:solidFill>
                <a:latin typeface="Georgia"/>
                <a:cs typeface="Georgia"/>
              </a:rPr>
              <a:t> </a:t>
            </a:r>
            <a:r>
              <a:rPr sz="3500" dirty="0">
                <a:solidFill>
                  <a:srgbClr val="2E377E"/>
                </a:solidFill>
                <a:latin typeface="Georgia"/>
                <a:cs typeface="Georgia"/>
              </a:rPr>
              <a:t>access</a:t>
            </a:r>
            <a:r>
              <a:rPr sz="3500" spc="5" dirty="0">
                <a:solidFill>
                  <a:srgbClr val="2E377E"/>
                </a:solidFill>
                <a:latin typeface="Georgia"/>
                <a:cs typeface="Georgia"/>
              </a:rPr>
              <a:t> </a:t>
            </a:r>
            <a:r>
              <a:rPr sz="3500" spc="30" dirty="0">
                <a:solidFill>
                  <a:srgbClr val="2E377E"/>
                </a:solidFill>
                <a:latin typeface="Georgia"/>
                <a:cs typeface="Georgia"/>
              </a:rPr>
              <a:t>the </a:t>
            </a:r>
            <a:r>
              <a:rPr sz="3500" dirty="0">
                <a:solidFill>
                  <a:srgbClr val="2E377E"/>
                </a:solidFill>
                <a:latin typeface="Georgia"/>
                <a:cs typeface="Georgia"/>
              </a:rPr>
              <a:t>objects</a:t>
            </a:r>
            <a:r>
              <a:rPr sz="3500" spc="-15" dirty="0">
                <a:solidFill>
                  <a:srgbClr val="2E377E"/>
                </a:solidFill>
                <a:latin typeface="Georgia"/>
                <a:cs typeface="Georgia"/>
              </a:rPr>
              <a:t> </a:t>
            </a:r>
            <a:r>
              <a:rPr sz="3500" spc="50" dirty="0">
                <a:solidFill>
                  <a:srgbClr val="2E377E"/>
                </a:solidFill>
                <a:latin typeface="Georgia"/>
                <a:cs typeface="Georgia"/>
              </a:rPr>
              <a:t>within</a:t>
            </a:r>
            <a:r>
              <a:rPr sz="3500" spc="-15" dirty="0">
                <a:solidFill>
                  <a:srgbClr val="2E377E"/>
                </a:solidFill>
                <a:latin typeface="Georgia"/>
                <a:cs typeface="Georgia"/>
              </a:rPr>
              <a:t> </a:t>
            </a:r>
            <a:r>
              <a:rPr sz="3500" spc="55" dirty="0">
                <a:solidFill>
                  <a:srgbClr val="2E377E"/>
                </a:solidFill>
                <a:latin typeface="Georgia"/>
                <a:cs typeface="Georgia"/>
              </a:rPr>
              <a:t>the</a:t>
            </a:r>
            <a:r>
              <a:rPr sz="3500" spc="-15" dirty="0">
                <a:solidFill>
                  <a:srgbClr val="2E377E"/>
                </a:solidFill>
                <a:latin typeface="Georgia"/>
                <a:cs typeface="Georgia"/>
              </a:rPr>
              <a:t> </a:t>
            </a:r>
            <a:r>
              <a:rPr sz="3500" spc="-10" dirty="0">
                <a:solidFill>
                  <a:srgbClr val="2E377E"/>
                </a:solidFill>
                <a:latin typeface="Georgia"/>
                <a:cs typeface="Georgia"/>
              </a:rPr>
              <a:t>namespaces.</a:t>
            </a:r>
            <a:endParaRPr sz="3500">
              <a:latin typeface="Georgia"/>
              <a:cs typeface="Georgia"/>
            </a:endParaRPr>
          </a:p>
        </p:txBody>
      </p:sp>
      <p:pic>
        <p:nvPicPr>
          <p:cNvPr id="5" name="object 5"/>
          <p:cNvPicPr/>
          <p:nvPr/>
        </p:nvPicPr>
        <p:blipFill>
          <a:blip r:embed="rId3" cstate="print"/>
          <a:stretch>
            <a:fillRect/>
          </a:stretch>
        </p:blipFill>
        <p:spPr>
          <a:xfrm>
            <a:off x="1201439" y="4473446"/>
            <a:ext cx="133350" cy="133349"/>
          </a:xfrm>
          <a:prstGeom prst="rect">
            <a:avLst/>
          </a:prstGeom>
        </p:spPr>
      </p:pic>
      <p:pic>
        <p:nvPicPr>
          <p:cNvPr id="6" name="object 6"/>
          <p:cNvPicPr/>
          <p:nvPr/>
        </p:nvPicPr>
        <p:blipFill>
          <a:blip r:embed="rId4" cstate="print"/>
          <a:stretch>
            <a:fillRect/>
          </a:stretch>
        </p:blipFill>
        <p:spPr>
          <a:xfrm>
            <a:off x="1201439" y="6949946"/>
            <a:ext cx="133350" cy="133349"/>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9528" y="1584894"/>
            <a:ext cx="133350" cy="133350"/>
          </a:xfrm>
          <a:prstGeom prst="rect">
            <a:avLst/>
          </a:prstGeom>
        </p:spPr>
      </p:pic>
      <p:pic>
        <p:nvPicPr>
          <p:cNvPr id="3" name="object 3"/>
          <p:cNvPicPr/>
          <p:nvPr/>
        </p:nvPicPr>
        <p:blipFill>
          <a:blip r:embed="rId2" cstate="print"/>
          <a:stretch>
            <a:fillRect/>
          </a:stretch>
        </p:blipFill>
        <p:spPr>
          <a:xfrm>
            <a:off x="719528" y="2223069"/>
            <a:ext cx="133350" cy="133350"/>
          </a:xfrm>
          <a:prstGeom prst="rect">
            <a:avLst/>
          </a:prstGeom>
        </p:spPr>
      </p:pic>
      <p:pic>
        <p:nvPicPr>
          <p:cNvPr id="4" name="object 4"/>
          <p:cNvPicPr/>
          <p:nvPr/>
        </p:nvPicPr>
        <p:blipFill>
          <a:blip r:embed="rId2" cstate="print"/>
          <a:stretch>
            <a:fillRect/>
          </a:stretch>
        </p:blipFill>
        <p:spPr>
          <a:xfrm>
            <a:off x="719528" y="2861244"/>
            <a:ext cx="133350" cy="133350"/>
          </a:xfrm>
          <a:prstGeom prst="rect">
            <a:avLst/>
          </a:prstGeom>
        </p:spPr>
      </p:pic>
      <p:pic>
        <p:nvPicPr>
          <p:cNvPr id="5" name="object 5"/>
          <p:cNvPicPr/>
          <p:nvPr/>
        </p:nvPicPr>
        <p:blipFill>
          <a:blip r:embed="rId2" cstate="print"/>
          <a:stretch>
            <a:fillRect/>
          </a:stretch>
        </p:blipFill>
        <p:spPr>
          <a:xfrm>
            <a:off x="719528" y="3499419"/>
            <a:ext cx="133350" cy="133350"/>
          </a:xfrm>
          <a:prstGeom prst="rect">
            <a:avLst/>
          </a:prstGeom>
        </p:spPr>
      </p:pic>
      <p:sp>
        <p:nvSpPr>
          <p:cNvPr id="6" name="object 6"/>
          <p:cNvSpPr txBox="1"/>
          <p:nvPr/>
        </p:nvSpPr>
        <p:spPr>
          <a:xfrm>
            <a:off x="469407" y="1233233"/>
            <a:ext cx="17677130" cy="8685583"/>
          </a:xfrm>
          <a:prstGeom prst="rect">
            <a:avLst/>
          </a:prstGeom>
        </p:spPr>
        <p:txBody>
          <a:bodyPr vert="horz" wrap="square" lIns="0" tIns="102235" rIns="0" bIns="0" rtlCol="0">
            <a:spAutoFit/>
          </a:bodyPr>
          <a:lstStyle/>
          <a:p>
            <a:pPr marL="579120">
              <a:lnSpc>
                <a:spcPct val="100000"/>
              </a:lnSpc>
              <a:spcBef>
                <a:spcPts val="805"/>
              </a:spcBef>
            </a:pPr>
            <a:r>
              <a:rPr sz="3600" spc="-50" dirty="0">
                <a:solidFill>
                  <a:srgbClr val="FF3131"/>
                </a:solidFill>
                <a:latin typeface="Trebuchet MS"/>
                <a:cs typeface="Trebuchet MS"/>
              </a:rPr>
              <a:t>kubectl</a:t>
            </a:r>
            <a:r>
              <a:rPr sz="3600" spc="-285" dirty="0">
                <a:solidFill>
                  <a:srgbClr val="FF3131"/>
                </a:solidFill>
                <a:latin typeface="Trebuchet MS"/>
                <a:cs typeface="Trebuchet MS"/>
              </a:rPr>
              <a:t> </a:t>
            </a:r>
            <a:r>
              <a:rPr sz="3600" spc="-90" dirty="0">
                <a:solidFill>
                  <a:srgbClr val="FF3131"/>
                </a:solidFill>
                <a:latin typeface="Trebuchet MS"/>
                <a:cs typeface="Trebuchet MS"/>
              </a:rPr>
              <a:t>get</a:t>
            </a:r>
            <a:r>
              <a:rPr sz="3600" spc="-285" dirty="0">
                <a:solidFill>
                  <a:srgbClr val="FF3131"/>
                </a:solidFill>
                <a:latin typeface="Trebuchet MS"/>
                <a:cs typeface="Trebuchet MS"/>
              </a:rPr>
              <a:t> </a:t>
            </a:r>
            <a:r>
              <a:rPr sz="3600" spc="155" dirty="0">
                <a:solidFill>
                  <a:srgbClr val="FF3131"/>
                </a:solidFill>
                <a:latin typeface="Trebuchet MS"/>
                <a:cs typeface="Trebuchet MS"/>
              </a:rPr>
              <a:t>ns</a:t>
            </a:r>
            <a:r>
              <a:rPr sz="3600" spc="-280" dirty="0">
                <a:solidFill>
                  <a:srgbClr val="FF3131"/>
                </a:solidFill>
                <a:latin typeface="Trebuchet MS"/>
                <a:cs typeface="Trebuchet MS"/>
              </a:rPr>
              <a:t> </a:t>
            </a:r>
            <a:r>
              <a:rPr sz="3600" spc="-425" dirty="0">
                <a:solidFill>
                  <a:srgbClr val="2E377E"/>
                </a:solidFill>
                <a:latin typeface="Trebuchet MS"/>
                <a:cs typeface="Trebuchet MS"/>
              </a:rPr>
              <a:t>:</a:t>
            </a:r>
            <a:r>
              <a:rPr sz="3600" spc="-285" dirty="0">
                <a:solidFill>
                  <a:srgbClr val="2E377E"/>
                </a:solidFill>
                <a:latin typeface="Trebuchet MS"/>
                <a:cs typeface="Trebuchet MS"/>
              </a:rPr>
              <a:t> </a:t>
            </a:r>
            <a:r>
              <a:rPr sz="3600" b="1" i="1" spc="220" dirty="0">
                <a:solidFill>
                  <a:srgbClr val="2E377E"/>
                </a:solidFill>
                <a:latin typeface="Times New Roman"/>
                <a:cs typeface="Times New Roman"/>
              </a:rPr>
              <a:t>used</a:t>
            </a:r>
            <a:r>
              <a:rPr sz="3600" b="1" i="1" spc="-105" dirty="0">
                <a:solidFill>
                  <a:srgbClr val="2E377E"/>
                </a:solidFill>
                <a:latin typeface="Times New Roman"/>
                <a:cs typeface="Times New Roman"/>
              </a:rPr>
              <a:t> </a:t>
            </a:r>
            <a:r>
              <a:rPr sz="3600" b="1" i="1" spc="215" dirty="0">
                <a:solidFill>
                  <a:srgbClr val="2E377E"/>
                </a:solidFill>
                <a:latin typeface="Times New Roman"/>
                <a:cs typeface="Times New Roman"/>
              </a:rPr>
              <a:t>to</a:t>
            </a:r>
            <a:r>
              <a:rPr sz="3600" b="1" i="1" spc="-110" dirty="0">
                <a:solidFill>
                  <a:srgbClr val="2E377E"/>
                </a:solidFill>
                <a:latin typeface="Times New Roman"/>
                <a:cs typeface="Times New Roman"/>
              </a:rPr>
              <a:t> </a:t>
            </a:r>
            <a:r>
              <a:rPr sz="3600" b="1" i="1" spc="210" dirty="0">
                <a:solidFill>
                  <a:srgbClr val="2E377E"/>
                </a:solidFill>
                <a:latin typeface="Times New Roman"/>
                <a:cs typeface="Times New Roman"/>
              </a:rPr>
              <a:t>get</a:t>
            </a:r>
            <a:r>
              <a:rPr sz="3600" b="1" i="1" spc="-110" dirty="0">
                <a:solidFill>
                  <a:srgbClr val="2E377E"/>
                </a:solidFill>
                <a:latin typeface="Times New Roman"/>
                <a:cs typeface="Times New Roman"/>
              </a:rPr>
              <a:t> </a:t>
            </a:r>
            <a:r>
              <a:rPr sz="3600" b="1" i="1" spc="225" dirty="0">
                <a:solidFill>
                  <a:srgbClr val="2E377E"/>
                </a:solidFill>
                <a:latin typeface="Times New Roman"/>
                <a:cs typeface="Times New Roman"/>
              </a:rPr>
              <a:t>namespaces</a:t>
            </a:r>
            <a:endParaRPr sz="3600" dirty="0">
              <a:latin typeface="Times New Roman"/>
              <a:cs typeface="Times New Roman"/>
            </a:endParaRPr>
          </a:p>
          <a:p>
            <a:pPr marL="579120">
              <a:lnSpc>
                <a:spcPct val="100000"/>
              </a:lnSpc>
              <a:spcBef>
                <a:spcPts val="705"/>
              </a:spcBef>
            </a:pPr>
            <a:r>
              <a:rPr sz="3600" spc="-50" dirty="0">
                <a:solidFill>
                  <a:srgbClr val="FF3131"/>
                </a:solidFill>
                <a:latin typeface="Trebuchet MS"/>
                <a:cs typeface="Trebuchet MS"/>
              </a:rPr>
              <a:t>kubectl</a:t>
            </a:r>
            <a:r>
              <a:rPr sz="3600" spc="-285" dirty="0">
                <a:solidFill>
                  <a:srgbClr val="FF3131"/>
                </a:solidFill>
                <a:latin typeface="Trebuchet MS"/>
                <a:cs typeface="Trebuchet MS"/>
              </a:rPr>
              <a:t> </a:t>
            </a:r>
            <a:r>
              <a:rPr sz="3600" spc="-45" dirty="0">
                <a:solidFill>
                  <a:srgbClr val="FF3131"/>
                </a:solidFill>
                <a:latin typeface="Trebuchet MS"/>
                <a:cs typeface="Trebuchet MS"/>
              </a:rPr>
              <a:t>create</a:t>
            </a:r>
            <a:r>
              <a:rPr sz="3600" spc="-285" dirty="0">
                <a:solidFill>
                  <a:srgbClr val="FF3131"/>
                </a:solidFill>
                <a:latin typeface="Trebuchet MS"/>
                <a:cs typeface="Trebuchet MS"/>
              </a:rPr>
              <a:t> </a:t>
            </a:r>
            <a:r>
              <a:rPr sz="3600" spc="155" dirty="0">
                <a:solidFill>
                  <a:srgbClr val="FF3131"/>
                </a:solidFill>
                <a:latin typeface="Trebuchet MS"/>
                <a:cs typeface="Trebuchet MS"/>
              </a:rPr>
              <a:t>ns</a:t>
            </a:r>
            <a:r>
              <a:rPr sz="3600" spc="-280" dirty="0">
                <a:solidFill>
                  <a:srgbClr val="FF3131"/>
                </a:solidFill>
                <a:latin typeface="Trebuchet MS"/>
                <a:cs typeface="Trebuchet MS"/>
              </a:rPr>
              <a:t> </a:t>
            </a:r>
            <a:r>
              <a:rPr lang="en-IN" sz="3600" spc="60" dirty="0">
                <a:solidFill>
                  <a:srgbClr val="FF3131"/>
                </a:solidFill>
                <a:latin typeface="Trebuchet MS"/>
                <a:cs typeface="Trebuchet MS"/>
              </a:rPr>
              <a:t>rajco</a:t>
            </a:r>
            <a:r>
              <a:rPr sz="3600" spc="-285" dirty="0">
                <a:solidFill>
                  <a:srgbClr val="FF3131"/>
                </a:solidFill>
                <a:latin typeface="Trebuchet MS"/>
                <a:cs typeface="Trebuchet MS"/>
              </a:rPr>
              <a:t> </a:t>
            </a:r>
            <a:r>
              <a:rPr sz="3600" spc="-425" dirty="0">
                <a:solidFill>
                  <a:srgbClr val="2E377E"/>
                </a:solidFill>
                <a:latin typeface="Trebuchet MS"/>
                <a:cs typeface="Trebuchet MS"/>
              </a:rPr>
              <a:t>:</a:t>
            </a:r>
            <a:r>
              <a:rPr sz="3600" spc="-285" dirty="0">
                <a:solidFill>
                  <a:srgbClr val="2E377E"/>
                </a:solidFill>
                <a:latin typeface="Trebuchet MS"/>
                <a:cs typeface="Trebuchet MS"/>
              </a:rPr>
              <a:t> </a:t>
            </a:r>
            <a:r>
              <a:rPr sz="3600" b="1" i="1" spc="220" dirty="0">
                <a:solidFill>
                  <a:srgbClr val="2E377E"/>
                </a:solidFill>
                <a:latin typeface="Times New Roman"/>
                <a:cs typeface="Times New Roman"/>
              </a:rPr>
              <a:t>used</a:t>
            </a:r>
            <a:r>
              <a:rPr sz="3600" b="1" i="1" spc="-105" dirty="0">
                <a:solidFill>
                  <a:srgbClr val="2E377E"/>
                </a:solidFill>
                <a:latin typeface="Times New Roman"/>
                <a:cs typeface="Times New Roman"/>
              </a:rPr>
              <a:t> </a:t>
            </a:r>
            <a:r>
              <a:rPr sz="3600" b="1" i="1" spc="215" dirty="0">
                <a:solidFill>
                  <a:srgbClr val="2E377E"/>
                </a:solidFill>
                <a:latin typeface="Times New Roman"/>
                <a:cs typeface="Times New Roman"/>
              </a:rPr>
              <a:t>to</a:t>
            </a:r>
            <a:r>
              <a:rPr sz="3600" b="1" i="1" spc="-110" dirty="0">
                <a:solidFill>
                  <a:srgbClr val="2E377E"/>
                </a:solidFill>
                <a:latin typeface="Times New Roman"/>
                <a:cs typeface="Times New Roman"/>
              </a:rPr>
              <a:t> </a:t>
            </a:r>
            <a:r>
              <a:rPr sz="3600" b="1" i="1" spc="235" dirty="0">
                <a:solidFill>
                  <a:srgbClr val="2E377E"/>
                </a:solidFill>
                <a:latin typeface="Times New Roman"/>
                <a:cs typeface="Times New Roman"/>
              </a:rPr>
              <a:t>create</a:t>
            </a:r>
            <a:r>
              <a:rPr sz="3600" b="1" i="1" spc="-110" dirty="0">
                <a:solidFill>
                  <a:srgbClr val="2E377E"/>
                </a:solidFill>
                <a:latin typeface="Times New Roman"/>
                <a:cs typeface="Times New Roman"/>
              </a:rPr>
              <a:t> </a:t>
            </a:r>
            <a:r>
              <a:rPr sz="3600" b="1" i="1" spc="280" dirty="0">
                <a:solidFill>
                  <a:srgbClr val="2E377E"/>
                </a:solidFill>
                <a:latin typeface="Times New Roman"/>
                <a:cs typeface="Times New Roman"/>
              </a:rPr>
              <a:t>new</a:t>
            </a:r>
            <a:r>
              <a:rPr sz="3600" b="1" i="1" spc="-105" dirty="0">
                <a:solidFill>
                  <a:srgbClr val="2E377E"/>
                </a:solidFill>
                <a:latin typeface="Times New Roman"/>
                <a:cs typeface="Times New Roman"/>
              </a:rPr>
              <a:t> </a:t>
            </a:r>
            <a:r>
              <a:rPr sz="3600" b="1" i="1" spc="220" dirty="0">
                <a:solidFill>
                  <a:srgbClr val="2E377E"/>
                </a:solidFill>
                <a:latin typeface="Times New Roman"/>
                <a:cs typeface="Times New Roman"/>
              </a:rPr>
              <a:t>namespace</a:t>
            </a:r>
            <a:endParaRPr sz="3600" dirty="0">
              <a:latin typeface="Times New Roman"/>
              <a:cs typeface="Times New Roman"/>
            </a:endParaRPr>
          </a:p>
          <a:p>
            <a:pPr marL="579120">
              <a:lnSpc>
                <a:spcPct val="100000"/>
              </a:lnSpc>
              <a:spcBef>
                <a:spcPts val="930"/>
              </a:spcBef>
            </a:pPr>
            <a:r>
              <a:rPr sz="3600" spc="60" dirty="0">
                <a:solidFill>
                  <a:srgbClr val="FF3131"/>
                </a:solidFill>
                <a:latin typeface="Georgia"/>
                <a:cs typeface="Georgia"/>
              </a:rPr>
              <a:t>kubectl</a:t>
            </a:r>
            <a:r>
              <a:rPr sz="3600" spc="170" dirty="0">
                <a:solidFill>
                  <a:srgbClr val="FF3131"/>
                </a:solidFill>
                <a:latin typeface="Georgia"/>
                <a:cs typeface="Georgia"/>
              </a:rPr>
              <a:t> </a:t>
            </a:r>
            <a:r>
              <a:rPr sz="3600" dirty="0">
                <a:solidFill>
                  <a:srgbClr val="FF3131"/>
                </a:solidFill>
                <a:latin typeface="Georgia"/>
                <a:cs typeface="Georgia"/>
              </a:rPr>
              <a:t>config</a:t>
            </a:r>
            <a:r>
              <a:rPr sz="3600" spc="170" dirty="0">
                <a:solidFill>
                  <a:srgbClr val="FF3131"/>
                </a:solidFill>
                <a:latin typeface="Georgia"/>
                <a:cs typeface="Georgia"/>
              </a:rPr>
              <a:t> </a:t>
            </a:r>
            <a:r>
              <a:rPr sz="3600" spc="60" dirty="0">
                <a:solidFill>
                  <a:srgbClr val="FF3131"/>
                </a:solidFill>
                <a:latin typeface="Georgia"/>
                <a:cs typeface="Georgia"/>
              </a:rPr>
              <a:t>set-</a:t>
            </a:r>
            <a:r>
              <a:rPr sz="3600" spc="75" dirty="0">
                <a:solidFill>
                  <a:srgbClr val="FF3131"/>
                </a:solidFill>
                <a:latin typeface="Georgia"/>
                <a:cs typeface="Georgia"/>
              </a:rPr>
              <a:t>context</a:t>
            </a:r>
            <a:r>
              <a:rPr sz="3600" spc="170" dirty="0">
                <a:solidFill>
                  <a:srgbClr val="FF3131"/>
                </a:solidFill>
                <a:latin typeface="Georgia"/>
                <a:cs typeface="Georgia"/>
              </a:rPr>
              <a:t> </a:t>
            </a:r>
            <a:r>
              <a:rPr sz="3600" dirty="0">
                <a:solidFill>
                  <a:srgbClr val="FF3131"/>
                </a:solidFill>
                <a:latin typeface="Georgia"/>
                <a:cs typeface="Georgia"/>
              </a:rPr>
              <a:t>--</a:t>
            </a:r>
            <a:r>
              <a:rPr sz="3600" spc="60" dirty="0">
                <a:solidFill>
                  <a:srgbClr val="FF3131"/>
                </a:solidFill>
                <a:latin typeface="Georgia"/>
                <a:cs typeface="Georgia"/>
              </a:rPr>
              <a:t>current</a:t>
            </a:r>
            <a:r>
              <a:rPr sz="3600" spc="175" dirty="0">
                <a:solidFill>
                  <a:srgbClr val="FF3131"/>
                </a:solidFill>
                <a:latin typeface="Georgia"/>
                <a:cs typeface="Georgia"/>
              </a:rPr>
              <a:t> </a:t>
            </a:r>
            <a:r>
              <a:rPr sz="3600" dirty="0">
                <a:solidFill>
                  <a:srgbClr val="FF3131"/>
                </a:solidFill>
                <a:latin typeface="Georgia"/>
                <a:cs typeface="Georgia"/>
              </a:rPr>
              <a:t>--namespace=</a:t>
            </a:r>
            <a:r>
              <a:rPr lang="en-IN" sz="3600" dirty="0">
                <a:solidFill>
                  <a:srgbClr val="FF3131"/>
                </a:solidFill>
                <a:latin typeface="Georgia"/>
                <a:cs typeface="Georgia"/>
              </a:rPr>
              <a:t>rajco</a:t>
            </a:r>
            <a:r>
              <a:rPr sz="3600" spc="170" dirty="0">
                <a:solidFill>
                  <a:srgbClr val="FF3131"/>
                </a:solidFill>
                <a:latin typeface="Georgia"/>
                <a:cs typeface="Georgia"/>
              </a:rPr>
              <a:t> </a:t>
            </a:r>
            <a:r>
              <a:rPr sz="3600" spc="155" dirty="0">
                <a:solidFill>
                  <a:srgbClr val="2E377E"/>
                </a:solidFill>
                <a:latin typeface="Georgia"/>
                <a:cs typeface="Georgia"/>
              </a:rPr>
              <a:t>:</a:t>
            </a:r>
            <a:r>
              <a:rPr sz="5400" b="1" i="1" spc="232" baseline="3086" dirty="0">
                <a:solidFill>
                  <a:srgbClr val="2E377E"/>
                </a:solidFill>
                <a:latin typeface="Times New Roman"/>
                <a:cs typeface="Times New Roman"/>
              </a:rPr>
              <a:t>to</a:t>
            </a:r>
            <a:r>
              <a:rPr sz="5400" b="1" i="1" spc="-89" baseline="3086" dirty="0">
                <a:solidFill>
                  <a:srgbClr val="2E377E"/>
                </a:solidFill>
                <a:latin typeface="Times New Roman"/>
                <a:cs typeface="Times New Roman"/>
              </a:rPr>
              <a:t> </a:t>
            </a:r>
            <a:r>
              <a:rPr sz="5400" b="1" i="1" spc="270" baseline="3086" dirty="0">
                <a:solidFill>
                  <a:srgbClr val="2E377E"/>
                </a:solidFill>
                <a:latin typeface="Times New Roman"/>
                <a:cs typeface="Times New Roman"/>
              </a:rPr>
              <a:t>check</a:t>
            </a:r>
            <a:r>
              <a:rPr sz="5400" b="1" i="1" spc="-82" baseline="3086" dirty="0">
                <a:solidFill>
                  <a:srgbClr val="2E377E"/>
                </a:solidFill>
                <a:latin typeface="Times New Roman"/>
                <a:cs typeface="Times New Roman"/>
              </a:rPr>
              <a:t> </a:t>
            </a:r>
            <a:r>
              <a:rPr sz="5400" b="1" i="1" spc="322" baseline="3086" dirty="0">
                <a:solidFill>
                  <a:srgbClr val="2E377E"/>
                </a:solidFill>
                <a:latin typeface="Times New Roman"/>
                <a:cs typeface="Times New Roman"/>
              </a:rPr>
              <a:t>to</a:t>
            </a:r>
            <a:r>
              <a:rPr sz="5400" b="1" i="1" spc="-89" baseline="3086" dirty="0">
                <a:solidFill>
                  <a:srgbClr val="2E377E"/>
                </a:solidFill>
                <a:latin typeface="Times New Roman"/>
                <a:cs typeface="Times New Roman"/>
              </a:rPr>
              <a:t> </a:t>
            </a:r>
            <a:r>
              <a:rPr sz="5400" b="1" i="1" spc="330" baseline="3086" dirty="0">
                <a:solidFill>
                  <a:srgbClr val="2E377E"/>
                </a:solidFill>
                <a:latin typeface="Times New Roman"/>
                <a:cs typeface="Times New Roman"/>
              </a:rPr>
              <a:t>namespace</a:t>
            </a:r>
            <a:endParaRPr sz="5400" baseline="3086" dirty="0">
              <a:latin typeface="Times New Roman"/>
              <a:cs typeface="Times New Roman"/>
            </a:endParaRPr>
          </a:p>
          <a:p>
            <a:pPr marL="579120">
              <a:lnSpc>
                <a:spcPct val="100000"/>
              </a:lnSpc>
              <a:spcBef>
                <a:spcPts val="705"/>
              </a:spcBef>
              <a:tabLst>
                <a:tab pos="10685145" algn="l"/>
              </a:tabLst>
            </a:pPr>
            <a:r>
              <a:rPr sz="3600" spc="60" dirty="0">
                <a:solidFill>
                  <a:srgbClr val="FF3131"/>
                </a:solidFill>
                <a:latin typeface="Georgia"/>
                <a:cs typeface="Georgia"/>
              </a:rPr>
              <a:t>kubectl</a:t>
            </a:r>
            <a:r>
              <a:rPr sz="3600" spc="35" dirty="0">
                <a:solidFill>
                  <a:srgbClr val="FF3131"/>
                </a:solidFill>
                <a:latin typeface="Georgia"/>
                <a:cs typeface="Georgia"/>
              </a:rPr>
              <a:t> </a:t>
            </a:r>
            <a:r>
              <a:rPr sz="3600" dirty="0">
                <a:solidFill>
                  <a:srgbClr val="FF3131"/>
                </a:solidFill>
                <a:latin typeface="Georgia"/>
                <a:cs typeface="Georgia"/>
              </a:rPr>
              <a:t>config</a:t>
            </a:r>
            <a:r>
              <a:rPr sz="3600" spc="40" dirty="0">
                <a:solidFill>
                  <a:srgbClr val="FF3131"/>
                </a:solidFill>
                <a:latin typeface="Georgia"/>
                <a:cs typeface="Georgia"/>
              </a:rPr>
              <a:t> </a:t>
            </a:r>
            <a:r>
              <a:rPr sz="3600" spc="114" dirty="0">
                <a:solidFill>
                  <a:srgbClr val="FF3131"/>
                </a:solidFill>
                <a:latin typeface="Georgia"/>
                <a:cs typeface="Georgia"/>
              </a:rPr>
              <a:t>view</a:t>
            </a:r>
            <a:r>
              <a:rPr sz="3600" spc="40" dirty="0">
                <a:solidFill>
                  <a:srgbClr val="FF3131"/>
                </a:solidFill>
                <a:latin typeface="Georgia"/>
                <a:cs typeface="Georgia"/>
              </a:rPr>
              <a:t> </a:t>
            </a:r>
            <a:r>
              <a:rPr sz="3600" dirty="0">
                <a:solidFill>
                  <a:srgbClr val="FF3131"/>
                </a:solidFill>
                <a:latin typeface="Georgia"/>
                <a:cs typeface="Georgia"/>
              </a:rPr>
              <a:t>--</a:t>
            </a:r>
            <a:r>
              <a:rPr sz="3600" spc="50" dirty="0">
                <a:solidFill>
                  <a:srgbClr val="FF3131"/>
                </a:solidFill>
                <a:latin typeface="Georgia"/>
                <a:cs typeface="Georgia"/>
              </a:rPr>
              <a:t>minify</a:t>
            </a:r>
            <a:r>
              <a:rPr sz="3600" spc="40" dirty="0">
                <a:solidFill>
                  <a:srgbClr val="FF3131"/>
                </a:solidFill>
                <a:latin typeface="Georgia"/>
                <a:cs typeface="Georgia"/>
              </a:rPr>
              <a:t> </a:t>
            </a:r>
            <a:r>
              <a:rPr sz="3600" spc="620" dirty="0">
                <a:solidFill>
                  <a:srgbClr val="FF3131"/>
                </a:solidFill>
                <a:latin typeface="Georgia"/>
                <a:cs typeface="Georgia"/>
              </a:rPr>
              <a:t>|</a:t>
            </a:r>
            <a:r>
              <a:rPr sz="3600" spc="40" dirty="0">
                <a:solidFill>
                  <a:srgbClr val="FF3131"/>
                </a:solidFill>
                <a:latin typeface="Georgia"/>
                <a:cs typeface="Georgia"/>
              </a:rPr>
              <a:t> </a:t>
            </a:r>
            <a:r>
              <a:rPr sz="3600" dirty="0">
                <a:solidFill>
                  <a:srgbClr val="FF3131"/>
                </a:solidFill>
                <a:latin typeface="Georgia"/>
                <a:cs typeface="Georgia"/>
              </a:rPr>
              <a:t>grep</a:t>
            </a:r>
            <a:r>
              <a:rPr sz="3600" spc="40" dirty="0">
                <a:solidFill>
                  <a:srgbClr val="FF3131"/>
                </a:solidFill>
                <a:latin typeface="Georgia"/>
                <a:cs typeface="Georgia"/>
              </a:rPr>
              <a:t> </a:t>
            </a:r>
            <a:r>
              <a:rPr sz="3600" dirty="0">
                <a:solidFill>
                  <a:srgbClr val="FF3131"/>
                </a:solidFill>
                <a:latin typeface="Georgia"/>
                <a:cs typeface="Georgia"/>
              </a:rPr>
              <a:t>namespace</a:t>
            </a:r>
            <a:r>
              <a:rPr sz="3600" spc="45" dirty="0">
                <a:solidFill>
                  <a:srgbClr val="FF3131"/>
                </a:solidFill>
                <a:latin typeface="Georgia"/>
                <a:cs typeface="Georgia"/>
              </a:rPr>
              <a:t> </a:t>
            </a:r>
            <a:r>
              <a:rPr sz="3600" spc="-50" dirty="0">
                <a:solidFill>
                  <a:srgbClr val="2E377E"/>
                </a:solidFill>
                <a:latin typeface="Georgia"/>
                <a:cs typeface="Georgia"/>
              </a:rPr>
              <a:t>:</a:t>
            </a:r>
            <a:r>
              <a:rPr sz="3600" dirty="0">
                <a:solidFill>
                  <a:srgbClr val="2E377E"/>
                </a:solidFill>
                <a:latin typeface="Georgia"/>
                <a:cs typeface="Georgia"/>
              </a:rPr>
              <a:t>	</a:t>
            </a:r>
            <a:r>
              <a:rPr sz="5400" b="1" i="1" spc="322" baseline="3086" dirty="0">
                <a:solidFill>
                  <a:srgbClr val="2E377E"/>
                </a:solidFill>
                <a:latin typeface="Times New Roman"/>
                <a:cs typeface="Times New Roman"/>
              </a:rPr>
              <a:t>to</a:t>
            </a:r>
            <a:r>
              <a:rPr sz="5400" b="1" i="1" spc="-172" baseline="3086" dirty="0">
                <a:solidFill>
                  <a:srgbClr val="2E377E"/>
                </a:solidFill>
                <a:latin typeface="Times New Roman"/>
                <a:cs typeface="Times New Roman"/>
              </a:rPr>
              <a:t> </a:t>
            </a:r>
            <a:r>
              <a:rPr sz="5400" b="1" i="1" spc="307" baseline="3086" dirty="0">
                <a:solidFill>
                  <a:srgbClr val="2E377E"/>
                </a:solidFill>
                <a:latin typeface="Times New Roman"/>
                <a:cs typeface="Times New Roman"/>
              </a:rPr>
              <a:t>verify</a:t>
            </a:r>
            <a:r>
              <a:rPr sz="5400" b="1" i="1" spc="-165" baseline="3086" dirty="0">
                <a:solidFill>
                  <a:srgbClr val="2E377E"/>
                </a:solidFill>
                <a:latin typeface="Times New Roman"/>
                <a:cs typeface="Times New Roman"/>
              </a:rPr>
              <a:t> </a:t>
            </a:r>
            <a:r>
              <a:rPr sz="5400" b="1" i="1" spc="262" baseline="3086" dirty="0">
                <a:solidFill>
                  <a:srgbClr val="2E377E"/>
                </a:solidFill>
                <a:latin typeface="Times New Roman"/>
                <a:cs typeface="Times New Roman"/>
              </a:rPr>
              <a:t>the</a:t>
            </a:r>
            <a:r>
              <a:rPr sz="5400" b="1" i="1" spc="-165" baseline="3086" dirty="0">
                <a:solidFill>
                  <a:srgbClr val="2E377E"/>
                </a:solidFill>
                <a:latin typeface="Times New Roman"/>
                <a:cs typeface="Times New Roman"/>
              </a:rPr>
              <a:t> </a:t>
            </a:r>
            <a:r>
              <a:rPr sz="5400" b="1" i="1" spc="322" baseline="3086" dirty="0">
                <a:solidFill>
                  <a:srgbClr val="2E377E"/>
                </a:solidFill>
                <a:latin typeface="Times New Roman"/>
                <a:cs typeface="Times New Roman"/>
              </a:rPr>
              <a:t>name</a:t>
            </a:r>
            <a:r>
              <a:rPr sz="5400" b="1" i="1" spc="-165" baseline="3086" dirty="0">
                <a:solidFill>
                  <a:srgbClr val="2E377E"/>
                </a:solidFill>
                <a:latin typeface="Times New Roman"/>
                <a:cs typeface="Times New Roman"/>
              </a:rPr>
              <a:t> </a:t>
            </a:r>
            <a:r>
              <a:rPr sz="5400" b="1" i="1" spc="322" baseline="3086" dirty="0">
                <a:solidFill>
                  <a:srgbClr val="2E377E"/>
                </a:solidFill>
                <a:latin typeface="Times New Roman"/>
                <a:cs typeface="Times New Roman"/>
              </a:rPr>
              <a:t>space.</a:t>
            </a:r>
            <a:endParaRPr sz="5400" baseline="3086" dirty="0">
              <a:latin typeface="Times New Roman"/>
              <a:cs typeface="Times New Roman"/>
            </a:endParaRPr>
          </a:p>
          <a:p>
            <a:pPr>
              <a:lnSpc>
                <a:spcPct val="100000"/>
              </a:lnSpc>
              <a:spcBef>
                <a:spcPts val="1355"/>
              </a:spcBef>
            </a:pPr>
            <a:endParaRPr sz="3600" dirty="0">
              <a:latin typeface="Times New Roman"/>
              <a:cs typeface="Times New Roman"/>
            </a:endParaRPr>
          </a:p>
          <a:p>
            <a:pPr marL="12700">
              <a:lnSpc>
                <a:spcPct val="100000"/>
              </a:lnSpc>
            </a:pPr>
            <a:r>
              <a:rPr sz="3850" b="1" spc="-275" dirty="0">
                <a:solidFill>
                  <a:srgbClr val="FF3131"/>
                </a:solidFill>
                <a:latin typeface="Times New Roman"/>
                <a:cs typeface="Times New Roman"/>
              </a:rPr>
              <a:t>CREATE</a:t>
            </a:r>
            <a:r>
              <a:rPr sz="3850" b="1" spc="-40" dirty="0">
                <a:solidFill>
                  <a:srgbClr val="FF3131"/>
                </a:solidFill>
                <a:latin typeface="Times New Roman"/>
                <a:cs typeface="Times New Roman"/>
              </a:rPr>
              <a:t> </a:t>
            </a:r>
            <a:r>
              <a:rPr sz="3850" b="1" dirty="0">
                <a:solidFill>
                  <a:srgbClr val="FF3131"/>
                </a:solidFill>
                <a:latin typeface="Times New Roman"/>
                <a:cs typeface="Times New Roman"/>
              </a:rPr>
              <a:t>A</a:t>
            </a:r>
            <a:r>
              <a:rPr sz="3850" b="1" spc="-140" dirty="0">
                <a:solidFill>
                  <a:srgbClr val="FF3131"/>
                </a:solidFill>
                <a:latin typeface="Times New Roman"/>
                <a:cs typeface="Times New Roman"/>
              </a:rPr>
              <a:t> </a:t>
            </a:r>
            <a:r>
              <a:rPr sz="3850" b="1" dirty="0">
                <a:solidFill>
                  <a:srgbClr val="FF3131"/>
                </a:solidFill>
                <a:latin typeface="Times New Roman"/>
                <a:cs typeface="Times New Roman"/>
              </a:rPr>
              <a:t>POD</a:t>
            </a:r>
            <a:r>
              <a:rPr sz="3850" b="1" spc="-90" dirty="0">
                <a:solidFill>
                  <a:srgbClr val="FF3131"/>
                </a:solidFill>
                <a:latin typeface="Times New Roman"/>
                <a:cs typeface="Times New Roman"/>
              </a:rPr>
              <a:t> </a:t>
            </a:r>
            <a:r>
              <a:rPr sz="3850" b="1" spc="60" dirty="0">
                <a:solidFill>
                  <a:srgbClr val="FF3131"/>
                </a:solidFill>
                <a:latin typeface="Times New Roman"/>
                <a:cs typeface="Times New Roman"/>
              </a:rPr>
              <a:t>IN</a:t>
            </a:r>
            <a:r>
              <a:rPr sz="3850" b="1" spc="-90" dirty="0">
                <a:solidFill>
                  <a:srgbClr val="FF3131"/>
                </a:solidFill>
                <a:latin typeface="Times New Roman"/>
                <a:cs typeface="Times New Roman"/>
              </a:rPr>
              <a:t> </a:t>
            </a:r>
            <a:r>
              <a:rPr sz="3850" b="1" spc="114" dirty="0">
                <a:solidFill>
                  <a:srgbClr val="FF3131"/>
                </a:solidFill>
                <a:latin typeface="Times New Roman"/>
                <a:cs typeface="Times New Roman"/>
              </a:rPr>
              <a:t>NS</a:t>
            </a:r>
            <a:r>
              <a:rPr sz="3850" b="1" spc="-90" dirty="0">
                <a:solidFill>
                  <a:srgbClr val="FF3131"/>
                </a:solidFill>
                <a:latin typeface="Times New Roman"/>
                <a:cs typeface="Times New Roman"/>
              </a:rPr>
              <a:t> </a:t>
            </a:r>
            <a:r>
              <a:rPr sz="3850" b="1" spc="-75" dirty="0">
                <a:solidFill>
                  <a:srgbClr val="FF3131"/>
                </a:solidFill>
                <a:latin typeface="Times New Roman"/>
                <a:cs typeface="Times New Roman"/>
              </a:rPr>
              <a:t>(IMPERATIVE):</a:t>
            </a:r>
            <a:endParaRPr sz="3850" dirty="0">
              <a:latin typeface="Times New Roman"/>
              <a:cs typeface="Times New Roman"/>
            </a:endParaRPr>
          </a:p>
          <a:p>
            <a:pPr marL="311150" indent="-309880">
              <a:lnSpc>
                <a:spcPct val="100000"/>
              </a:lnSpc>
              <a:spcBef>
                <a:spcPts val="2610"/>
              </a:spcBef>
              <a:buSzPct val="93055"/>
              <a:buFont typeface="Georgia"/>
              <a:buAutoNum type="arabicPeriod"/>
              <a:tabLst>
                <a:tab pos="311150" algn="l"/>
              </a:tabLst>
            </a:pPr>
            <a:r>
              <a:rPr sz="3600" i="1" spc="125" dirty="0">
                <a:solidFill>
                  <a:srgbClr val="2E377E"/>
                </a:solidFill>
                <a:latin typeface="Times New Roman"/>
                <a:cs typeface="Times New Roman"/>
              </a:rPr>
              <a:t>Create</a:t>
            </a:r>
            <a:r>
              <a:rPr sz="3600" i="1" spc="-30" dirty="0">
                <a:solidFill>
                  <a:srgbClr val="2E377E"/>
                </a:solidFill>
                <a:latin typeface="Times New Roman"/>
                <a:cs typeface="Times New Roman"/>
              </a:rPr>
              <a:t> </a:t>
            </a:r>
            <a:r>
              <a:rPr sz="3600" i="1" dirty="0">
                <a:solidFill>
                  <a:srgbClr val="2E377E"/>
                </a:solidFill>
                <a:latin typeface="Times New Roman"/>
                <a:cs typeface="Times New Roman"/>
              </a:rPr>
              <a:t>a</a:t>
            </a:r>
            <a:r>
              <a:rPr sz="3600" i="1" spc="-30" dirty="0">
                <a:solidFill>
                  <a:srgbClr val="2E377E"/>
                </a:solidFill>
                <a:latin typeface="Times New Roman"/>
                <a:cs typeface="Times New Roman"/>
              </a:rPr>
              <a:t> </a:t>
            </a:r>
            <a:r>
              <a:rPr sz="3600" i="1" spc="215" dirty="0">
                <a:solidFill>
                  <a:srgbClr val="2E377E"/>
                </a:solidFill>
                <a:latin typeface="Times New Roman"/>
                <a:cs typeface="Times New Roman"/>
              </a:rPr>
              <a:t>namespace</a:t>
            </a:r>
            <a:r>
              <a:rPr sz="3600" i="1" spc="-30" dirty="0">
                <a:solidFill>
                  <a:srgbClr val="2E377E"/>
                </a:solidFill>
                <a:latin typeface="Times New Roman"/>
                <a:cs typeface="Times New Roman"/>
              </a:rPr>
              <a:t> </a:t>
            </a:r>
            <a:r>
              <a:rPr sz="3600" i="1" spc="180" dirty="0">
                <a:solidFill>
                  <a:srgbClr val="2E377E"/>
                </a:solidFill>
                <a:latin typeface="Times New Roman"/>
                <a:cs typeface="Times New Roman"/>
              </a:rPr>
              <a:t>-</a:t>
            </a:r>
            <a:r>
              <a:rPr sz="3600" i="1" spc="-30" dirty="0">
                <a:solidFill>
                  <a:srgbClr val="2E377E"/>
                </a:solidFill>
                <a:latin typeface="Times New Roman"/>
                <a:cs typeface="Times New Roman"/>
              </a:rPr>
              <a:t> </a:t>
            </a:r>
            <a:r>
              <a:rPr sz="3600" spc="65" dirty="0">
                <a:solidFill>
                  <a:srgbClr val="FF3131"/>
                </a:solidFill>
                <a:latin typeface="Georgia"/>
                <a:cs typeface="Georgia"/>
              </a:rPr>
              <a:t>kubectl</a:t>
            </a:r>
            <a:r>
              <a:rPr sz="3600" dirty="0">
                <a:solidFill>
                  <a:srgbClr val="FF3131"/>
                </a:solidFill>
                <a:latin typeface="Georgia"/>
                <a:cs typeface="Georgia"/>
              </a:rPr>
              <a:t> </a:t>
            </a:r>
            <a:r>
              <a:rPr sz="3600" spc="60" dirty="0">
                <a:solidFill>
                  <a:srgbClr val="FF3131"/>
                </a:solidFill>
                <a:latin typeface="Georgia"/>
                <a:cs typeface="Georgia"/>
              </a:rPr>
              <a:t>create</a:t>
            </a:r>
            <a:r>
              <a:rPr sz="3600" dirty="0">
                <a:solidFill>
                  <a:srgbClr val="FF3131"/>
                </a:solidFill>
                <a:latin typeface="Georgia"/>
                <a:cs typeface="Georgia"/>
              </a:rPr>
              <a:t> namespace </a:t>
            </a:r>
            <a:r>
              <a:rPr lang="en-IN" sz="3600" spc="-10" dirty="0">
                <a:solidFill>
                  <a:srgbClr val="FF3131"/>
                </a:solidFill>
                <a:latin typeface="Georgia"/>
                <a:cs typeface="Georgia"/>
              </a:rPr>
              <a:t>rajco</a:t>
            </a:r>
            <a:endParaRPr sz="3600" dirty="0">
              <a:latin typeface="Georgia"/>
              <a:cs typeface="Georgia"/>
            </a:endParaRPr>
          </a:p>
          <a:p>
            <a:pPr marL="114300" marR="1635125" indent="640080">
              <a:lnSpc>
                <a:spcPct val="116300"/>
              </a:lnSpc>
              <a:buSzPct val="93055"/>
              <a:buFont typeface="Georgia"/>
              <a:buAutoNum type="arabicPeriod"/>
              <a:tabLst>
                <a:tab pos="754380" algn="l"/>
              </a:tabLst>
            </a:pPr>
            <a:r>
              <a:rPr sz="3600" i="1" spc="160" dirty="0">
                <a:solidFill>
                  <a:srgbClr val="2E377E"/>
                </a:solidFill>
                <a:latin typeface="Times New Roman"/>
                <a:cs typeface="Times New Roman"/>
              </a:rPr>
              <a:t>create</a:t>
            </a:r>
            <a:r>
              <a:rPr sz="3600" i="1" spc="-25" dirty="0">
                <a:solidFill>
                  <a:srgbClr val="2E377E"/>
                </a:solidFill>
                <a:latin typeface="Times New Roman"/>
                <a:cs typeface="Times New Roman"/>
              </a:rPr>
              <a:t> </a:t>
            </a:r>
            <a:r>
              <a:rPr sz="3600" i="1" dirty="0">
                <a:solidFill>
                  <a:srgbClr val="2E377E"/>
                </a:solidFill>
                <a:latin typeface="Times New Roman"/>
                <a:cs typeface="Times New Roman"/>
              </a:rPr>
              <a:t>a</a:t>
            </a:r>
            <a:r>
              <a:rPr sz="3600" i="1" spc="-20" dirty="0">
                <a:solidFill>
                  <a:srgbClr val="2E377E"/>
                </a:solidFill>
                <a:latin typeface="Times New Roman"/>
                <a:cs typeface="Times New Roman"/>
              </a:rPr>
              <a:t> </a:t>
            </a:r>
            <a:r>
              <a:rPr sz="3600" i="1" spc="245" dirty="0">
                <a:solidFill>
                  <a:srgbClr val="2E377E"/>
                </a:solidFill>
                <a:latin typeface="Times New Roman"/>
                <a:cs typeface="Times New Roman"/>
              </a:rPr>
              <a:t>pod</a:t>
            </a:r>
            <a:r>
              <a:rPr sz="3600" i="1" spc="-20" dirty="0">
                <a:solidFill>
                  <a:srgbClr val="2E377E"/>
                </a:solidFill>
                <a:latin typeface="Times New Roman"/>
                <a:cs typeface="Times New Roman"/>
              </a:rPr>
              <a:t> </a:t>
            </a:r>
            <a:r>
              <a:rPr sz="3600" i="1" spc="200" dirty="0">
                <a:solidFill>
                  <a:srgbClr val="2E377E"/>
                </a:solidFill>
                <a:latin typeface="Times New Roman"/>
                <a:cs typeface="Times New Roman"/>
              </a:rPr>
              <a:t>in</a:t>
            </a:r>
            <a:r>
              <a:rPr sz="3600" i="1" spc="-20" dirty="0">
                <a:solidFill>
                  <a:srgbClr val="2E377E"/>
                </a:solidFill>
                <a:latin typeface="Times New Roman"/>
                <a:cs typeface="Times New Roman"/>
              </a:rPr>
              <a:t> </a:t>
            </a:r>
            <a:r>
              <a:rPr sz="3600" i="1" spc="260" dirty="0">
                <a:solidFill>
                  <a:srgbClr val="2E377E"/>
                </a:solidFill>
                <a:latin typeface="Times New Roman"/>
                <a:cs typeface="Times New Roman"/>
              </a:rPr>
              <a:t>ns</a:t>
            </a:r>
            <a:r>
              <a:rPr sz="3600" i="1" spc="-20" dirty="0">
                <a:solidFill>
                  <a:srgbClr val="2E377E"/>
                </a:solidFill>
                <a:latin typeface="Times New Roman"/>
                <a:cs typeface="Times New Roman"/>
              </a:rPr>
              <a:t> </a:t>
            </a:r>
            <a:r>
              <a:rPr sz="3600" i="1" spc="180" dirty="0">
                <a:solidFill>
                  <a:srgbClr val="2E377E"/>
                </a:solidFill>
                <a:latin typeface="Times New Roman"/>
                <a:cs typeface="Times New Roman"/>
              </a:rPr>
              <a:t>-</a:t>
            </a:r>
            <a:r>
              <a:rPr sz="3600" i="1" spc="-25" dirty="0">
                <a:solidFill>
                  <a:srgbClr val="2E377E"/>
                </a:solidFill>
                <a:latin typeface="Times New Roman"/>
                <a:cs typeface="Times New Roman"/>
              </a:rPr>
              <a:t> </a:t>
            </a:r>
            <a:r>
              <a:rPr sz="3600" spc="60" dirty="0">
                <a:solidFill>
                  <a:srgbClr val="FF3131"/>
                </a:solidFill>
                <a:latin typeface="Georgia"/>
                <a:cs typeface="Georgia"/>
              </a:rPr>
              <a:t>kubectl</a:t>
            </a:r>
            <a:r>
              <a:rPr sz="3600" spc="10" dirty="0">
                <a:solidFill>
                  <a:srgbClr val="FF3131"/>
                </a:solidFill>
                <a:latin typeface="Georgia"/>
                <a:cs typeface="Georgia"/>
              </a:rPr>
              <a:t> </a:t>
            </a:r>
            <a:r>
              <a:rPr sz="3600" dirty="0">
                <a:solidFill>
                  <a:srgbClr val="FF3131"/>
                </a:solidFill>
                <a:latin typeface="Georgia"/>
                <a:cs typeface="Georgia"/>
              </a:rPr>
              <a:t>run</a:t>
            </a:r>
            <a:r>
              <a:rPr sz="3600" spc="10" dirty="0">
                <a:solidFill>
                  <a:srgbClr val="FF3131"/>
                </a:solidFill>
                <a:latin typeface="Georgia"/>
                <a:cs typeface="Georgia"/>
              </a:rPr>
              <a:t> </a:t>
            </a:r>
            <a:r>
              <a:rPr sz="3600" dirty="0">
                <a:solidFill>
                  <a:srgbClr val="FF3131"/>
                </a:solidFill>
                <a:latin typeface="Georgia"/>
                <a:cs typeface="Georgia"/>
              </a:rPr>
              <a:t>nginx</a:t>
            </a:r>
            <a:r>
              <a:rPr sz="3600" spc="10" dirty="0">
                <a:solidFill>
                  <a:srgbClr val="FF3131"/>
                </a:solidFill>
                <a:latin typeface="Georgia"/>
                <a:cs typeface="Georgia"/>
              </a:rPr>
              <a:t> </a:t>
            </a:r>
            <a:r>
              <a:rPr sz="3600" dirty="0">
                <a:solidFill>
                  <a:srgbClr val="FF3131"/>
                </a:solidFill>
                <a:latin typeface="Georgia"/>
                <a:cs typeface="Georgia"/>
              </a:rPr>
              <a:t>--image=nginx</a:t>
            </a:r>
            <a:r>
              <a:rPr sz="3600" spc="5" dirty="0">
                <a:solidFill>
                  <a:srgbClr val="FF3131"/>
                </a:solidFill>
                <a:latin typeface="Georgia"/>
                <a:cs typeface="Georgia"/>
              </a:rPr>
              <a:t> </a:t>
            </a:r>
            <a:r>
              <a:rPr sz="3600" dirty="0">
                <a:solidFill>
                  <a:srgbClr val="FF3131"/>
                </a:solidFill>
                <a:latin typeface="Georgia"/>
                <a:cs typeface="Georgia"/>
              </a:rPr>
              <a:t>--namespace</a:t>
            </a:r>
            <a:r>
              <a:rPr sz="3600" spc="10" dirty="0">
                <a:solidFill>
                  <a:srgbClr val="FF3131"/>
                </a:solidFill>
                <a:latin typeface="Georgia"/>
                <a:cs typeface="Georgia"/>
              </a:rPr>
              <a:t> </a:t>
            </a:r>
            <a:r>
              <a:rPr lang="en-IN" sz="3600" spc="-10" dirty="0">
                <a:solidFill>
                  <a:srgbClr val="FF3131"/>
                </a:solidFill>
                <a:latin typeface="Georgia"/>
                <a:cs typeface="Georgia"/>
              </a:rPr>
              <a:t>rajco</a:t>
            </a:r>
            <a:r>
              <a:rPr sz="3600" spc="-10" dirty="0">
                <a:solidFill>
                  <a:srgbClr val="FF3131"/>
                </a:solidFill>
                <a:latin typeface="Georgia"/>
                <a:cs typeface="Georgia"/>
              </a:rPr>
              <a:t> </a:t>
            </a:r>
            <a:r>
              <a:rPr sz="3600" spc="-20" dirty="0">
                <a:solidFill>
                  <a:srgbClr val="2E377E"/>
                </a:solidFill>
                <a:latin typeface="Georgia"/>
                <a:cs typeface="Georgia"/>
              </a:rPr>
              <a:t>(or)</a:t>
            </a:r>
            <a:endParaRPr sz="3600" dirty="0">
              <a:latin typeface="Georgia"/>
              <a:cs typeface="Georgia"/>
            </a:endParaRPr>
          </a:p>
          <a:p>
            <a:pPr marL="114300">
              <a:lnSpc>
                <a:spcPct val="100000"/>
              </a:lnSpc>
              <a:spcBef>
                <a:spcPts val="705"/>
              </a:spcBef>
            </a:pPr>
            <a:r>
              <a:rPr sz="3600" spc="60" dirty="0">
                <a:solidFill>
                  <a:srgbClr val="FF3131"/>
                </a:solidFill>
                <a:latin typeface="Georgia"/>
                <a:cs typeface="Georgia"/>
              </a:rPr>
              <a:t>kubectl</a:t>
            </a:r>
            <a:r>
              <a:rPr sz="3600" spc="20" dirty="0">
                <a:solidFill>
                  <a:srgbClr val="FF3131"/>
                </a:solidFill>
                <a:latin typeface="Georgia"/>
                <a:cs typeface="Georgia"/>
              </a:rPr>
              <a:t> </a:t>
            </a:r>
            <a:r>
              <a:rPr sz="3600" dirty="0">
                <a:solidFill>
                  <a:srgbClr val="FF3131"/>
                </a:solidFill>
                <a:latin typeface="Georgia"/>
                <a:cs typeface="Georgia"/>
              </a:rPr>
              <a:t>run</a:t>
            </a:r>
            <a:r>
              <a:rPr sz="3600" spc="25" dirty="0">
                <a:solidFill>
                  <a:srgbClr val="FF3131"/>
                </a:solidFill>
                <a:latin typeface="Georgia"/>
                <a:cs typeface="Georgia"/>
              </a:rPr>
              <a:t> </a:t>
            </a:r>
            <a:r>
              <a:rPr sz="3600" dirty="0">
                <a:solidFill>
                  <a:srgbClr val="FF3131"/>
                </a:solidFill>
                <a:latin typeface="Georgia"/>
                <a:cs typeface="Georgia"/>
              </a:rPr>
              <a:t>nginx</a:t>
            </a:r>
            <a:r>
              <a:rPr sz="3600" spc="20" dirty="0">
                <a:solidFill>
                  <a:srgbClr val="FF3131"/>
                </a:solidFill>
                <a:latin typeface="Georgia"/>
                <a:cs typeface="Georgia"/>
              </a:rPr>
              <a:t> </a:t>
            </a:r>
            <a:r>
              <a:rPr sz="3600" dirty="0">
                <a:solidFill>
                  <a:srgbClr val="FF3131"/>
                </a:solidFill>
                <a:latin typeface="Georgia"/>
                <a:cs typeface="Georgia"/>
              </a:rPr>
              <a:t>--image=nginx</a:t>
            </a:r>
            <a:r>
              <a:rPr sz="3600" spc="25" dirty="0">
                <a:solidFill>
                  <a:srgbClr val="FF3131"/>
                </a:solidFill>
                <a:latin typeface="Georgia"/>
                <a:cs typeface="Georgia"/>
              </a:rPr>
              <a:t> </a:t>
            </a:r>
            <a:r>
              <a:rPr sz="3600" dirty="0">
                <a:solidFill>
                  <a:srgbClr val="FF3131"/>
                </a:solidFill>
                <a:latin typeface="Georgia"/>
                <a:cs typeface="Georgia"/>
              </a:rPr>
              <a:t>-n</a:t>
            </a:r>
            <a:r>
              <a:rPr sz="3600" spc="20" dirty="0">
                <a:solidFill>
                  <a:srgbClr val="FF3131"/>
                </a:solidFill>
                <a:latin typeface="Georgia"/>
                <a:cs typeface="Georgia"/>
              </a:rPr>
              <a:t> </a:t>
            </a:r>
            <a:r>
              <a:rPr sz="3600" spc="45" dirty="0">
                <a:solidFill>
                  <a:srgbClr val="FF3131"/>
                </a:solidFill>
                <a:latin typeface="Georgia"/>
                <a:cs typeface="Georgia"/>
              </a:rPr>
              <a:t>development</a:t>
            </a:r>
            <a:endParaRPr sz="3600" dirty="0">
              <a:latin typeface="Georgia"/>
              <a:cs typeface="Georgia"/>
            </a:endParaRPr>
          </a:p>
          <a:p>
            <a:pPr marL="114300" marR="7738109" indent="424815">
              <a:lnSpc>
                <a:spcPct val="116300"/>
              </a:lnSpc>
              <a:buSzPct val="93055"/>
              <a:buFont typeface="Georgia"/>
              <a:buAutoNum type="arabicPeriod" startAt="3"/>
              <a:tabLst>
                <a:tab pos="539115" algn="l"/>
              </a:tabLst>
            </a:pPr>
            <a:r>
              <a:rPr sz="3600" i="1" spc="160" dirty="0">
                <a:solidFill>
                  <a:srgbClr val="2E377E"/>
                </a:solidFill>
                <a:latin typeface="Times New Roman"/>
                <a:cs typeface="Times New Roman"/>
              </a:rPr>
              <a:t>To</a:t>
            </a:r>
            <a:r>
              <a:rPr sz="3600" i="1" spc="-80" dirty="0">
                <a:solidFill>
                  <a:srgbClr val="2E377E"/>
                </a:solidFill>
                <a:latin typeface="Times New Roman"/>
                <a:cs typeface="Times New Roman"/>
              </a:rPr>
              <a:t> </a:t>
            </a:r>
            <a:r>
              <a:rPr sz="3600" i="1" spc="220" dirty="0">
                <a:solidFill>
                  <a:srgbClr val="2E377E"/>
                </a:solidFill>
                <a:latin typeface="Times New Roman"/>
                <a:cs typeface="Times New Roman"/>
              </a:rPr>
              <a:t>check</a:t>
            </a:r>
            <a:r>
              <a:rPr sz="3600" i="1" spc="-80" dirty="0">
                <a:solidFill>
                  <a:srgbClr val="2E377E"/>
                </a:solidFill>
                <a:latin typeface="Times New Roman"/>
                <a:cs typeface="Times New Roman"/>
              </a:rPr>
              <a:t> </a:t>
            </a:r>
            <a:r>
              <a:rPr sz="3600" i="1" spc="285" dirty="0">
                <a:solidFill>
                  <a:srgbClr val="2E377E"/>
                </a:solidFill>
                <a:latin typeface="Times New Roman"/>
                <a:cs typeface="Times New Roman"/>
              </a:rPr>
              <a:t>the</a:t>
            </a:r>
            <a:r>
              <a:rPr sz="3600" i="1" spc="-80" dirty="0">
                <a:solidFill>
                  <a:srgbClr val="2E377E"/>
                </a:solidFill>
                <a:latin typeface="Times New Roman"/>
                <a:cs typeface="Times New Roman"/>
              </a:rPr>
              <a:t> </a:t>
            </a:r>
            <a:r>
              <a:rPr sz="3600" i="1" spc="120" dirty="0">
                <a:solidFill>
                  <a:srgbClr val="2E377E"/>
                </a:solidFill>
                <a:latin typeface="Times New Roman"/>
                <a:cs typeface="Times New Roman"/>
              </a:rPr>
              <a:t>pods:</a:t>
            </a:r>
            <a:r>
              <a:rPr sz="3600" i="1" spc="-80" dirty="0">
                <a:solidFill>
                  <a:srgbClr val="2E377E"/>
                </a:solidFill>
                <a:latin typeface="Times New Roman"/>
                <a:cs typeface="Times New Roman"/>
              </a:rPr>
              <a:t> </a:t>
            </a:r>
            <a:r>
              <a:rPr sz="3600" spc="60" dirty="0">
                <a:solidFill>
                  <a:srgbClr val="FF3131"/>
                </a:solidFill>
                <a:latin typeface="Georgia"/>
                <a:cs typeface="Georgia"/>
              </a:rPr>
              <a:t>kubectl</a:t>
            </a:r>
            <a:r>
              <a:rPr sz="3600" spc="-50" dirty="0">
                <a:solidFill>
                  <a:srgbClr val="FF3131"/>
                </a:solidFill>
                <a:latin typeface="Georgia"/>
                <a:cs typeface="Georgia"/>
              </a:rPr>
              <a:t> </a:t>
            </a:r>
            <a:r>
              <a:rPr sz="3600" spc="75" dirty="0">
                <a:solidFill>
                  <a:srgbClr val="FF3131"/>
                </a:solidFill>
                <a:latin typeface="Georgia"/>
                <a:cs typeface="Georgia"/>
              </a:rPr>
              <a:t>get</a:t>
            </a:r>
            <a:r>
              <a:rPr sz="3600" spc="-50" dirty="0">
                <a:solidFill>
                  <a:srgbClr val="FF3131"/>
                </a:solidFill>
                <a:latin typeface="Georgia"/>
                <a:cs typeface="Georgia"/>
              </a:rPr>
              <a:t> </a:t>
            </a:r>
            <a:r>
              <a:rPr sz="3600" dirty="0">
                <a:solidFill>
                  <a:srgbClr val="FF3131"/>
                </a:solidFill>
                <a:latin typeface="Georgia"/>
                <a:cs typeface="Georgia"/>
              </a:rPr>
              <a:t>pod</a:t>
            </a:r>
            <a:r>
              <a:rPr sz="3600" spc="-50" dirty="0">
                <a:solidFill>
                  <a:srgbClr val="FF3131"/>
                </a:solidFill>
                <a:latin typeface="Georgia"/>
                <a:cs typeface="Georgia"/>
              </a:rPr>
              <a:t> </a:t>
            </a:r>
            <a:r>
              <a:rPr sz="3600" dirty="0">
                <a:solidFill>
                  <a:srgbClr val="FF3131"/>
                </a:solidFill>
                <a:latin typeface="Georgia"/>
                <a:cs typeface="Georgia"/>
              </a:rPr>
              <a:t>-n</a:t>
            </a:r>
            <a:r>
              <a:rPr sz="3600" spc="-45" dirty="0">
                <a:solidFill>
                  <a:srgbClr val="FF3131"/>
                </a:solidFill>
                <a:latin typeface="Georgia"/>
                <a:cs typeface="Georgia"/>
              </a:rPr>
              <a:t> </a:t>
            </a:r>
            <a:r>
              <a:rPr lang="en-IN" sz="3600" spc="-10" dirty="0">
                <a:solidFill>
                  <a:srgbClr val="FF3131"/>
                </a:solidFill>
                <a:latin typeface="Georgia"/>
                <a:cs typeface="Georgia"/>
              </a:rPr>
              <a:t>rajco</a:t>
            </a:r>
            <a:r>
              <a:rPr sz="3600" spc="-10" dirty="0">
                <a:solidFill>
                  <a:srgbClr val="FF3131"/>
                </a:solidFill>
                <a:latin typeface="Georgia"/>
                <a:cs typeface="Georgia"/>
              </a:rPr>
              <a:t> </a:t>
            </a:r>
            <a:r>
              <a:rPr sz="3600" spc="-20" dirty="0">
                <a:solidFill>
                  <a:srgbClr val="2E377E"/>
                </a:solidFill>
                <a:latin typeface="Georgia"/>
                <a:cs typeface="Georgia"/>
              </a:rPr>
              <a:t>(0r)</a:t>
            </a:r>
            <a:endParaRPr sz="3600" dirty="0">
              <a:latin typeface="Georgia"/>
              <a:cs typeface="Georgia"/>
            </a:endParaRPr>
          </a:p>
          <a:p>
            <a:pPr marL="114300">
              <a:lnSpc>
                <a:spcPct val="100000"/>
              </a:lnSpc>
              <a:spcBef>
                <a:spcPts val="705"/>
              </a:spcBef>
            </a:pPr>
            <a:r>
              <a:rPr sz="3600" spc="60" dirty="0">
                <a:solidFill>
                  <a:srgbClr val="FF3131"/>
                </a:solidFill>
                <a:latin typeface="Georgia"/>
                <a:cs typeface="Georgia"/>
              </a:rPr>
              <a:t>kubectl</a:t>
            </a:r>
            <a:r>
              <a:rPr sz="3600" spc="30" dirty="0">
                <a:solidFill>
                  <a:srgbClr val="FF3131"/>
                </a:solidFill>
                <a:latin typeface="Georgia"/>
                <a:cs typeface="Georgia"/>
              </a:rPr>
              <a:t> </a:t>
            </a:r>
            <a:r>
              <a:rPr sz="3600" spc="75" dirty="0">
                <a:solidFill>
                  <a:srgbClr val="FF3131"/>
                </a:solidFill>
                <a:latin typeface="Georgia"/>
                <a:cs typeface="Georgia"/>
              </a:rPr>
              <a:t>get</a:t>
            </a:r>
            <a:r>
              <a:rPr sz="3600" spc="30" dirty="0">
                <a:solidFill>
                  <a:srgbClr val="FF3131"/>
                </a:solidFill>
                <a:latin typeface="Georgia"/>
                <a:cs typeface="Georgia"/>
              </a:rPr>
              <a:t> </a:t>
            </a:r>
            <a:r>
              <a:rPr sz="3600" dirty="0">
                <a:solidFill>
                  <a:srgbClr val="FF3131"/>
                </a:solidFill>
                <a:latin typeface="Georgia"/>
                <a:cs typeface="Georgia"/>
              </a:rPr>
              <a:t>pod</a:t>
            </a:r>
            <a:r>
              <a:rPr sz="3600" spc="35" dirty="0">
                <a:solidFill>
                  <a:srgbClr val="FF3131"/>
                </a:solidFill>
                <a:latin typeface="Georgia"/>
                <a:cs typeface="Georgia"/>
              </a:rPr>
              <a:t> </a:t>
            </a:r>
            <a:r>
              <a:rPr sz="3600" dirty="0">
                <a:solidFill>
                  <a:srgbClr val="FF3131"/>
                </a:solidFill>
                <a:latin typeface="Georgia"/>
                <a:cs typeface="Georgia"/>
              </a:rPr>
              <a:t>--namespace</a:t>
            </a:r>
            <a:r>
              <a:rPr sz="3600" spc="30" dirty="0">
                <a:solidFill>
                  <a:srgbClr val="FF3131"/>
                </a:solidFill>
                <a:latin typeface="Georgia"/>
                <a:cs typeface="Georgia"/>
              </a:rPr>
              <a:t> </a:t>
            </a:r>
            <a:r>
              <a:rPr lang="en-IN" sz="3600" spc="-10" dirty="0">
                <a:solidFill>
                  <a:srgbClr val="FF3131"/>
                </a:solidFill>
                <a:latin typeface="Georgia"/>
                <a:cs typeface="Georgia"/>
              </a:rPr>
              <a:t>rajco</a:t>
            </a:r>
            <a:endParaRPr sz="3600" dirty="0">
              <a:latin typeface="Georgia"/>
              <a:cs typeface="Georgia"/>
            </a:endParaRPr>
          </a:p>
        </p:txBody>
      </p:sp>
      <p:sp>
        <p:nvSpPr>
          <p:cNvPr id="7" name="object 7"/>
          <p:cNvSpPr txBox="1">
            <a:spLocks noGrp="1"/>
          </p:cNvSpPr>
          <p:nvPr>
            <p:ph type="title"/>
          </p:nvPr>
        </p:nvSpPr>
        <p:spPr>
          <a:xfrm>
            <a:off x="469407" y="176342"/>
            <a:ext cx="4041775" cy="787400"/>
          </a:xfrm>
          <a:prstGeom prst="rect">
            <a:avLst/>
          </a:prstGeom>
        </p:spPr>
        <p:txBody>
          <a:bodyPr vert="horz" wrap="square" lIns="0" tIns="12700" rIns="0" bIns="0" rtlCol="0">
            <a:spAutoFit/>
          </a:bodyPr>
          <a:lstStyle/>
          <a:p>
            <a:pPr marL="12700">
              <a:lnSpc>
                <a:spcPct val="100000"/>
              </a:lnSpc>
              <a:spcBef>
                <a:spcPts val="100"/>
              </a:spcBef>
            </a:pPr>
            <a:r>
              <a:rPr spc="-70" dirty="0">
                <a:solidFill>
                  <a:srgbClr val="FF3131"/>
                </a:solidFill>
              </a:rPr>
              <a:t>COMMANDS: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2529" y="1530438"/>
            <a:ext cx="7153274" cy="4095749"/>
          </a:xfrm>
          <a:prstGeom prst="rect">
            <a:avLst/>
          </a:prstGeom>
        </p:spPr>
      </p:pic>
      <p:sp>
        <p:nvSpPr>
          <p:cNvPr id="3" name="object 3"/>
          <p:cNvSpPr txBox="1">
            <a:spLocks noGrp="1"/>
          </p:cNvSpPr>
          <p:nvPr>
            <p:ph type="title"/>
          </p:nvPr>
        </p:nvSpPr>
        <p:spPr>
          <a:xfrm>
            <a:off x="421516" y="364451"/>
            <a:ext cx="8811260" cy="614680"/>
          </a:xfrm>
          <a:prstGeom prst="rect">
            <a:avLst/>
          </a:prstGeom>
        </p:spPr>
        <p:txBody>
          <a:bodyPr vert="horz" wrap="square" lIns="0" tIns="14605" rIns="0" bIns="0" rtlCol="0">
            <a:spAutoFit/>
          </a:bodyPr>
          <a:lstStyle/>
          <a:p>
            <a:pPr marL="12700">
              <a:lnSpc>
                <a:spcPct val="100000"/>
              </a:lnSpc>
              <a:spcBef>
                <a:spcPts val="115"/>
              </a:spcBef>
            </a:pPr>
            <a:r>
              <a:rPr sz="3850" spc="-275" dirty="0">
                <a:solidFill>
                  <a:srgbClr val="FF3131"/>
                </a:solidFill>
              </a:rPr>
              <a:t>CREATE</a:t>
            </a:r>
            <a:r>
              <a:rPr sz="3850" spc="-40" dirty="0">
                <a:solidFill>
                  <a:srgbClr val="FF3131"/>
                </a:solidFill>
              </a:rPr>
              <a:t> </a:t>
            </a:r>
            <a:r>
              <a:rPr sz="3850" dirty="0">
                <a:solidFill>
                  <a:srgbClr val="FF3131"/>
                </a:solidFill>
              </a:rPr>
              <a:t>A</a:t>
            </a:r>
            <a:r>
              <a:rPr sz="3850" spc="-140" dirty="0">
                <a:solidFill>
                  <a:srgbClr val="FF3131"/>
                </a:solidFill>
              </a:rPr>
              <a:t> </a:t>
            </a:r>
            <a:r>
              <a:rPr sz="3850" dirty="0">
                <a:solidFill>
                  <a:srgbClr val="FF3131"/>
                </a:solidFill>
              </a:rPr>
              <a:t>POD</a:t>
            </a:r>
            <a:r>
              <a:rPr sz="3850" spc="-90" dirty="0">
                <a:solidFill>
                  <a:srgbClr val="FF3131"/>
                </a:solidFill>
              </a:rPr>
              <a:t> </a:t>
            </a:r>
            <a:r>
              <a:rPr sz="3850" spc="60" dirty="0">
                <a:solidFill>
                  <a:srgbClr val="FF3131"/>
                </a:solidFill>
              </a:rPr>
              <a:t>IN</a:t>
            </a:r>
            <a:r>
              <a:rPr sz="3850" spc="-90" dirty="0">
                <a:solidFill>
                  <a:srgbClr val="FF3131"/>
                </a:solidFill>
              </a:rPr>
              <a:t> </a:t>
            </a:r>
            <a:r>
              <a:rPr sz="3850" spc="114" dirty="0">
                <a:solidFill>
                  <a:srgbClr val="FF3131"/>
                </a:solidFill>
              </a:rPr>
              <a:t>NS</a:t>
            </a:r>
            <a:r>
              <a:rPr sz="3850" spc="-90" dirty="0">
                <a:solidFill>
                  <a:srgbClr val="FF3131"/>
                </a:solidFill>
              </a:rPr>
              <a:t> </a:t>
            </a:r>
            <a:r>
              <a:rPr sz="3850" spc="-165" dirty="0">
                <a:solidFill>
                  <a:srgbClr val="FF3131"/>
                </a:solidFill>
              </a:rPr>
              <a:t>(DECLARATIVE):</a:t>
            </a:r>
            <a:endParaRPr sz="3850"/>
          </a:p>
        </p:txBody>
      </p:sp>
      <p:sp>
        <p:nvSpPr>
          <p:cNvPr id="4" name="object 4"/>
          <p:cNvSpPr txBox="1"/>
          <p:nvPr/>
        </p:nvSpPr>
        <p:spPr>
          <a:xfrm>
            <a:off x="421516" y="6138613"/>
            <a:ext cx="13180694"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2E377E"/>
                </a:solidFill>
                <a:latin typeface="Georgia"/>
                <a:cs typeface="Georgia"/>
              </a:rPr>
              <a:t>When</a:t>
            </a:r>
            <a:r>
              <a:rPr sz="3600" spc="-50" dirty="0">
                <a:solidFill>
                  <a:srgbClr val="2E377E"/>
                </a:solidFill>
                <a:latin typeface="Georgia"/>
                <a:cs typeface="Georgia"/>
              </a:rPr>
              <a:t> </a:t>
            </a:r>
            <a:r>
              <a:rPr sz="3600" spc="90" dirty="0">
                <a:solidFill>
                  <a:srgbClr val="2E377E"/>
                </a:solidFill>
                <a:latin typeface="Georgia"/>
                <a:cs typeface="Georgia"/>
              </a:rPr>
              <a:t>you</a:t>
            </a:r>
            <a:r>
              <a:rPr sz="3600" spc="-45" dirty="0">
                <a:solidFill>
                  <a:srgbClr val="2E377E"/>
                </a:solidFill>
                <a:latin typeface="Georgia"/>
                <a:cs typeface="Georgia"/>
              </a:rPr>
              <a:t> </a:t>
            </a:r>
            <a:r>
              <a:rPr sz="3600" spc="55" dirty="0">
                <a:solidFill>
                  <a:srgbClr val="2E377E"/>
                </a:solidFill>
                <a:latin typeface="Georgia"/>
                <a:cs typeface="Georgia"/>
              </a:rPr>
              <a:t>delete</a:t>
            </a:r>
            <a:r>
              <a:rPr sz="3600" spc="-50" dirty="0">
                <a:solidFill>
                  <a:srgbClr val="2E377E"/>
                </a:solidFill>
                <a:latin typeface="Georgia"/>
                <a:cs typeface="Georgia"/>
              </a:rPr>
              <a:t> </a:t>
            </a:r>
            <a:r>
              <a:rPr sz="3600" dirty="0">
                <a:solidFill>
                  <a:srgbClr val="2E377E"/>
                </a:solidFill>
                <a:latin typeface="Georgia"/>
                <a:cs typeface="Georgia"/>
              </a:rPr>
              <a:t>a</a:t>
            </a:r>
            <a:r>
              <a:rPr sz="3600" spc="-45" dirty="0">
                <a:solidFill>
                  <a:srgbClr val="2E377E"/>
                </a:solidFill>
                <a:latin typeface="Georgia"/>
                <a:cs typeface="Georgia"/>
              </a:rPr>
              <a:t> </a:t>
            </a:r>
            <a:r>
              <a:rPr sz="3600" dirty="0">
                <a:solidFill>
                  <a:srgbClr val="2E377E"/>
                </a:solidFill>
                <a:latin typeface="Georgia"/>
                <a:cs typeface="Georgia"/>
              </a:rPr>
              <a:t>namespace</a:t>
            </a:r>
            <a:r>
              <a:rPr sz="3600" spc="-50" dirty="0">
                <a:solidFill>
                  <a:srgbClr val="2E377E"/>
                </a:solidFill>
                <a:latin typeface="Georgia"/>
                <a:cs typeface="Georgia"/>
              </a:rPr>
              <a:t> </a:t>
            </a:r>
            <a:r>
              <a:rPr sz="3600" dirty="0">
                <a:solidFill>
                  <a:srgbClr val="2E377E"/>
                </a:solidFill>
                <a:latin typeface="Georgia"/>
                <a:cs typeface="Georgia"/>
              </a:rPr>
              <a:t>all</a:t>
            </a:r>
            <a:r>
              <a:rPr sz="3600" spc="-45"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spc="45" dirty="0">
                <a:solidFill>
                  <a:srgbClr val="2E377E"/>
                </a:solidFill>
                <a:latin typeface="Georgia"/>
                <a:cs typeface="Georgia"/>
              </a:rPr>
              <a:t>resources</a:t>
            </a:r>
            <a:r>
              <a:rPr sz="3600" spc="-50" dirty="0">
                <a:solidFill>
                  <a:srgbClr val="2E377E"/>
                </a:solidFill>
                <a:latin typeface="Georgia"/>
                <a:cs typeface="Georgia"/>
              </a:rPr>
              <a:t> </a:t>
            </a:r>
            <a:r>
              <a:rPr sz="3600" spc="55" dirty="0">
                <a:solidFill>
                  <a:srgbClr val="2E377E"/>
                </a:solidFill>
                <a:latin typeface="Georgia"/>
                <a:cs typeface="Georgia"/>
              </a:rPr>
              <a:t>will</a:t>
            </a:r>
            <a:r>
              <a:rPr sz="3600" spc="-45" dirty="0">
                <a:solidFill>
                  <a:srgbClr val="2E377E"/>
                </a:solidFill>
                <a:latin typeface="Georgia"/>
                <a:cs typeface="Georgia"/>
              </a:rPr>
              <a:t> </a:t>
            </a:r>
            <a:r>
              <a:rPr sz="3600" spc="65" dirty="0">
                <a:solidFill>
                  <a:srgbClr val="2E377E"/>
                </a:solidFill>
                <a:latin typeface="Georgia"/>
                <a:cs typeface="Georgia"/>
              </a:rPr>
              <a:t>gets</a:t>
            </a:r>
            <a:r>
              <a:rPr sz="3600" spc="-50" dirty="0">
                <a:solidFill>
                  <a:srgbClr val="2E377E"/>
                </a:solidFill>
                <a:latin typeface="Georgia"/>
                <a:cs typeface="Georgia"/>
              </a:rPr>
              <a:t> </a:t>
            </a:r>
            <a:r>
              <a:rPr sz="3600" spc="-10" dirty="0">
                <a:solidFill>
                  <a:srgbClr val="2E377E"/>
                </a:solidFill>
                <a:latin typeface="Georgia"/>
                <a:cs typeface="Georgia"/>
              </a:rPr>
              <a:t>deleted.</a:t>
            </a:r>
            <a:endParaRPr sz="3600">
              <a:latin typeface="Georgia"/>
              <a:cs typeface="Georgia"/>
            </a:endParaRPr>
          </a:p>
        </p:txBody>
      </p:sp>
      <p:sp>
        <p:nvSpPr>
          <p:cNvPr id="5" name="object 5"/>
          <p:cNvSpPr txBox="1"/>
          <p:nvPr/>
        </p:nvSpPr>
        <p:spPr>
          <a:xfrm>
            <a:off x="421516" y="7033963"/>
            <a:ext cx="5937885" cy="574040"/>
          </a:xfrm>
          <a:prstGeom prst="rect">
            <a:avLst/>
          </a:prstGeom>
        </p:spPr>
        <p:txBody>
          <a:bodyPr vert="horz" wrap="square" lIns="0" tIns="12700" rIns="0" bIns="0" rtlCol="0">
            <a:spAutoFit/>
          </a:bodyPr>
          <a:lstStyle/>
          <a:p>
            <a:pPr marL="12700">
              <a:lnSpc>
                <a:spcPct val="100000"/>
              </a:lnSpc>
              <a:spcBef>
                <a:spcPts val="100"/>
              </a:spcBef>
            </a:pPr>
            <a:r>
              <a:rPr sz="3600" spc="60" dirty="0">
                <a:solidFill>
                  <a:srgbClr val="FF3131"/>
                </a:solidFill>
                <a:latin typeface="Georgia"/>
                <a:cs typeface="Georgia"/>
              </a:rPr>
              <a:t>kubectl</a:t>
            </a:r>
            <a:r>
              <a:rPr sz="3600" spc="15" dirty="0">
                <a:solidFill>
                  <a:srgbClr val="FF3131"/>
                </a:solidFill>
                <a:latin typeface="Georgia"/>
                <a:cs typeface="Georgia"/>
              </a:rPr>
              <a:t> </a:t>
            </a:r>
            <a:r>
              <a:rPr sz="3600" spc="75" dirty="0">
                <a:solidFill>
                  <a:srgbClr val="FF3131"/>
                </a:solidFill>
                <a:latin typeface="Georgia"/>
                <a:cs typeface="Georgia"/>
              </a:rPr>
              <a:t>get</a:t>
            </a:r>
            <a:r>
              <a:rPr sz="3600" spc="15" dirty="0">
                <a:solidFill>
                  <a:srgbClr val="FF3131"/>
                </a:solidFill>
                <a:latin typeface="Georgia"/>
                <a:cs typeface="Georgia"/>
              </a:rPr>
              <a:t> </a:t>
            </a:r>
            <a:r>
              <a:rPr sz="3600" dirty="0">
                <a:solidFill>
                  <a:srgbClr val="FF3131"/>
                </a:solidFill>
                <a:latin typeface="Georgia"/>
                <a:cs typeface="Georgia"/>
              </a:rPr>
              <a:t>pods</a:t>
            </a:r>
            <a:r>
              <a:rPr sz="3600" spc="15" dirty="0">
                <a:solidFill>
                  <a:srgbClr val="FF3131"/>
                </a:solidFill>
                <a:latin typeface="Georgia"/>
                <a:cs typeface="Georgia"/>
              </a:rPr>
              <a:t> </a:t>
            </a:r>
            <a:r>
              <a:rPr sz="3600" dirty="0">
                <a:solidFill>
                  <a:srgbClr val="FF3131"/>
                </a:solidFill>
                <a:latin typeface="Georgia"/>
                <a:cs typeface="Georgia"/>
              </a:rPr>
              <a:t>-n</a:t>
            </a:r>
            <a:r>
              <a:rPr sz="3600" spc="20" dirty="0">
                <a:solidFill>
                  <a:srgbClr val="FF3131"/>
                </a:solidFill>
                <a:latin typeface="Georgia"/>
                <a:cs typeface="Georgia"/>
              </a:rPr>
              <a:t> </a:t>
            </a:r>
            <a:r>
              <a:rPr lang="en-IN" sz="3600" dirty="0">
                <a:solidFill>
                  <a:srgbClr val="FF3131"/>
                </a:solidFill>
                <a:latin typeface="Georgia"/>
                <a:cs typeface="Georgia"/>
              </a:rPr>
              <a:t>rajco</a:t>
            </a:r>
            <a:r>
              <a:rPr sz="3600" spc="20" dirty="0">
                <a:solidFill>
                  <a:srgbClr val="FF3131"/>
                </a:solidFill>
                <a:latin typeface="Georgia"/>
                <a:cs typeface="Georgia"/>
              </a:rPr>
              <a:t> </a:t>
            </a:r>
            <a:r>
              <a:rPr sz="3600" spc="-50" dirty="0">
                <a:solidFill>
                  <a:srgbClr val="2E377E"/>
                </a:solidFill>
                <a:latin typeface="Georgia"/>
                <a:cs typeface="Georgia"/>
              </a:rPr>
              <a:t>:</a:t>
            </a:r>
            <a:endParaRPr sz="3600" dirty="0">
              <a:latin typeface="Georgia"/>
              <a:cs typeface="Georgia"/>
            </a:endParaRPr>
          </a:p>
        </p:txBody>
      </p:sp>
      <p:sp>
        <p:nvSpPr>
          <p:cNvPr id="6" name="object 6"/>
          <p:cNvSpPr txBox="1"/>
          <p:nvPr/>
        </p:nvSpPr>
        <p:spPr>
          <a:xfrm>
            <a:off x="421516" y="7592128"/>
            <a:ext cx="15140940" cy="1282700"/>
          </a:xfrm>
          <a:prstGeom prst="rect">
            <a:avLst/>
          </a:prstGeom>
        </p:spPr>
        <p:txBody>
          <a:bodyPr vert="horz" wrap="square" lIns="0" tIns="92710" rIns="0" bIns="0" rtlCol="0">
            <a:spAutoFit/>
          </a:bodyPr>
          <a:lstStyle/>
          <a:p>
            <a:pPr marL="12700">
              <a:lnSpc>
                <a:spcPct val="100000"/>
              </a:lnSpc>
              <a:spcBef>
                <a:spcPts val="730"/>
              </a:spcBef>
            </a:pPr>
            <a:r>
              <a:rPr sz="3600" spc="60" dirty="0">
                <a:solidFill>
                  <a:srgbClr val="FF3131"/>
                </a:solidFill>
                <a:latin typeface="Georgia"/>
                <a:cs typeface="Georgia"/>
              </a:rPr>
              <a:t>kubectl</a:t>
            </a:r>
            <a:r>
              <a:rPr sz="3600" dirty="0">
                <a:solidFill>
                  <a:srgbClr val="FF3131"/>
                </a:solidFill>
                <a:latin typeface="Georgia"/>
                <a:cs typeface="Georgia"/>
              </a:rPr>
              <a:t> describe pod nginx -n</a:t>
            </a:r>
            <a:r>
              <a:rPr sz="3600" spc="5" dirty="0">
                <a:solidFill>
                  <a:srgbClr val="FF3131"/>
                </a:solidFill>
                <a:latin typeface="Georgia"/>
                <a:cs typeface="Georgia"/>
              </a:rPr>
              <a:t> </a:t>
            </a:r>
            <a:r>
              <a:rPr sz="3600" spc="55" dirty="0">
                <a:solidFill>
                  <a:srgbClr val="FF3131"/>
                </a:solidFill>
                <a:latin typeface="Georgia"/>
                <a:cs typeface="Georgia"/>
              </a:rPr>
              <a:t>development</a:t>
            </a:r>
            <a:r>
              <a:rPr sz="3600" spc="5" dirty="0">
                <a:solidFill>
                  <a:srgbClr val="FF3131"/>
                </a:solidFill>
                <a:latin typeface="Georgia"/>
                <a:cs typeface="Georgia"/>
              </a:rPr>
              <a:t> </a:t>
            </a:r>
            <a:r>
              <a:rPr sz="3600" spc="-245" dirty="0">
                <a:solidFill>
                  <a:srgbClr val="2E377E"/>
                </a:solidFill>
                <a:latin typeface="Georgia"/>
                <a:cs typeface="Georgia"/>
              </a:rPr>
              <a:t>:</a:t>
            </a:r>
            <a:r>
              <a:rPr sz="3600" spc="-380" dirty="0">
                <a:solidFill>
                  <a:srgbClr val="2E377E"/>
                </a:solidFill>
                <a:latin typeface="Georgia"/>
                <a:cs typeface="Georgia"/>
              </a:rPr>
              <a:t> </a:t>
            </a:r>
            <a:r>
              <a:rPr sz="5400" b="1" i="1" spc="307" baseline="2314" dirty="0">
                <a:solidFill>
                  <a:srgbClr val="2E377E"/>
                </a:solidFill>
                <a:latin typeface="Times New Roman"/>
                <a:cs typeface="Times New Roman"/>
              </a:rPr>
              <a:t>describe</a:t>
            </a:r>
            <a:r>
              <a:rPr sz="5400" b="1" i="1" spc="-82" baseline="2314" dirty="0">
                <a:solidFill>
                  <a:srgbClr val="2E377E"/>
                </a:solidFill>
                <a:latin typeface="Times New Roman"/>
                <a:cs typeface="Times New Roman"/>
              </a:rPr>
              <a:t> </a:t>
            </a:r>
            <a:r>
              <a:rPr sz="5400" b="1" i="1" spc="292" baseline="2314" dirty="0">
                <a:solidFill>
                  <a:srgbClr val="2E377E"/>
                </a:solidFill>
                <a:latin typeface="Times New Roman"/>
                <a:cs typeface="Times New Roman"/>
              </a:rPr>
              <a:t>a</a:t>
            </a:r>
            <a:r>
              <a:rPr sz="5400" b="1" i="1" spc="-82" baseline="2314" dirty="0">
                <a:solidFill>
                  <a:srgbClr val="2E377E"/>
                </a:solidFill>
                <a:latin typeface="Times New Roman"/>
                <a:cs typeface="Times New Roman"/>
              </a:rPr>
              <a:t> </a:t>
            </a:r>
            <a:r>
              <a:rPr sz="5400" b="1" i="1" spc="359" baseline="2314" dirty="0">
                <a:solidFill>
                  <a:srgbClr val="2E377E"/>
                </a:solidFill>
                <a:latin typeface="Times New Roman"/>
                <a:cs typeface="Times New Roman"/>
              </a:rPr>
              <a:t>pod</a:t>
            </a:r>
            <a:r>
              <a:rPr sz="5400" b="1" i="1" spc="-89" baseline="2314" dirty="0">
                <a:solidFill>
                  <a:srgbClr val="2E377E"/>
                </a:solidFill>
                <a:latin typeface="Times New Roman"/>
                <a:cs typeface="Times New Roman"/>
              </a:rPr>
              <a:t> </a:t>
            </a:r>
            <a:r>
              <a:rPr sz="5400" b="1" i="1" baseline="2314" dirty="0">
                <a:solidFill>
                  <a:srgbClr val="2E377E"/>
                </a:solidFill>
                <a:latin typeface="Times New Roman"/>
                <a:cs typeface="Times New Roman"/>
              </a:rPr>
              <a:t>in</a:t>
            </a:r>
            <a:r>
              <a:rPr sz="5400" b="1" i="1" spc="-82" baseline="2314" dirty="0">
                <a:solidFill>
                  <a:srgbClr val="2E377E"/>
                </a:solidFill>
                <a:latin typeface="Times New Roman"/>
                <a:cs typeface="Times New Roman"/>
              </a:rPr>
              <a:t> </a:t>
            </a:r>
            <a:r>
              <a:rPr sz="5400" b="1" i="1" spc="330" baseline="2314" dirty="0">
                <a:solidFill>
                  <a:srgbClr val="2E377E"/>
                </a:solidFill>
                <a:latin typeface="Times New Roman"/>
                <a:cs typeface="Times New Roman"/>
              </a:rPr>
              <a:t>namespace</a:t>
            </a:r>
            <a:endParaRPr sz="5400" baseline="2314">
              <a:latin typeface="Times New Roman"/>
              <a:cs typeface="Times New Roman"/>
            </a:endParaRPr>
          </a:p>
          <a:p>
            <a:pPr marL="12700">
              <a:lnSpc>
                <a:spcPct val="100000"/>
              </a:lnSpc>
              <a:spcBef>
                <a:spcPts val="630"/>
              </a:spcBef>
              <a:tabLst>
                <a:tab pos="8979535" algn="l"/>
              </a:tabLst>
            </a:pPr>
            <a:r>
              <a:rPr sz="3600" spc="60" dirty="0">
                <a:solidFill>
                  <a:srgbClr val="FF3131"/>
                </a:solidFill>
                <a:latin typeface="Georgia"/>
                <a:cs typeface="Georgia"/>
              </a:rPr>
              <a:t>kubectl</a:t>
            </a:r>
            <a:r>
              <a:rPr sz="3600" spc="-10" dirty="0">
                <a:solidFill>
                  <a:srgbClr val="FF3131"/>
                </a:solidFill>
                <a:latin typeface="Georgia"/>
                <a:cs typeface="Georgia"/>
              </a:rPr>
              <a:t> </a:t>
            </a:r>
            <a:r>
              <a:rPr sz="3600" spc="55" dirty="0">
                <a:solidFill>
                  <a:srgbClr val="FF3131"/>
                </a:solidFill>
                <a:latin typeface="Georgia"/>
                <a:cs typeface="Georgia"/>
              </a:rPr>
              <a:t>delete</a:t>
            </a:r>
            <a:r>
              <a:rPr sz="3600" spc="-5" dirty="0">
                <a:solidFill>
                  <a:srgbClr val="FF3131"/>
                </a:solidFill>
                <a:latin typeface="Georgia"/>
                <a:cs typeface="Georgia"/>
              </a:rPr>
              <a:t> </a:t>
            </a:r>
            <a:r>
              <a:rPr sz="3600" dirty="0">
                <a:solidFill>
                  <a:srgbClr val="FF3131"/>
                </a:solidFill>
                <a:latin typeface="Georgia"/>
                <a:cs typeface="Georgia"/>
              </a:rPr>
              <a:t>pod</a:t>
            </a:r>
            <a:r>
              <a:rPr sz="3600" spc="-5" dirty="0">
                <a:solidFill>
                  <a:srgbClr val="FF3131"/>
                </a:solidFill>
                <a:latin typeface="Georgia"/>
                <a:cs typeface="Georgia"/>
              </a:rPr>
              <a:t> </a:t>
            </a:r>
            <a:r>
              <a:rPr sz="3600" dirty="0">
                <a:solidFill>
                  <a:srgbClr val="FF3131"/>
                </a:solidFill>
                <a:latin typeface="Georgia"/>
                <a:cs typeface="Georgia"/>
              </a:rPr>
              <a:t>nginx</a:t>
            </a:r>
            <a:r>
              <a:rPr sz="3600" spc="-5" dirty="0">
                <a:solidFill>
                  <a:srgbClr val="FF3131"/>
                </a:solidFill>
                <a:latin typeface="Georgia"/>
                <a:cs typeface="Georgia"/>
              </a:rPr>
              <a:t> </a:t>
            </a:r>
            <a:r>
              <a:rPr sz="3600" dirty="0">
                <a:solidFill>
                  <a:srgbClr val="FF3131"/>
                </a:solidFill>
                <a:latin typeface="Georgia"/>
                <a:cs typeface="Georgia"/>
              </a:rPr>
              <a:t>-n</a:t>
            </a:r>
            <a:r>
              <a:rPr sz="3600" spc="-5" dirty="0">
                <a:solidFill>
                  <a:srgbClr val="FF3131"/>
                </a:solidFill>
                <a:latin typeface="Georgia"/>
                <a:cs typeface="Georgia"/>
              </a:rPr>
              <a:t> </a:t>
            </a:r>
            <a:r>
              <a:rPr sz="3600" spc="55" dirty="0">
                <a:solidFill>
                  <a:srgbClr val="FF3131"/>
                </a:solidFill>
                <a:latin typeface="Georgia"/>
                <a:cs typeface="Georgia"/>
              </a:rPr>
              <a:t>development</a:t>
            </a:r>
            <a:r>
              <a:rPr sz="3600" spc="-5" dirty="0">
                <a:solidFill>
                  <a:srgbClr val="FF3131"/>
                </a:solidFill>
                <a:latin typeface="Georgia"/>
                <a:cs typeface="Georgia"/>
              </a:rPr>
              <a:t> </a:t>
            </a:r>
            <a:r>
              <a:rPr sz="3600" spc="-50" dirty="0">
                <a:solidFill>
                  <a:srgbClr val="2E377E"/>
                </a:solidFill>
                <a:latin typeface="Georgia"/>
                <a:cs typeface="Georgia"/>
              </a:rPr>
              <a:t>:</a:t>
            </a:r>
            <a:r>
              <a:rPr sz="3600" dirty="0">
                <a:solidFill>
                  <a:srgbClr val="2E377E"/>
                </a:solidFill>
                <a:latin typeface="Georgia"/>
                <a:cs typeface="Georgia"/>
              </a:rPr>
              <a:t>	</a:t>
            </a:r>
            <a:r>
              <a:rPr sz="3600" b="1" i="1" spc="210" dirty="0">
                <a:solidFill>
                  <a:srgbClr val="2E377E"/>
                </a:solidFill>
                <a:latin typeface="Times New Roman"/>
                <a:cs typeface="Times New Roman"/>
              </a:rPr>
              <a:t>delete</a:t>
            </a:r>
            <a:r>
              <a:rPr sz="3600" b="1" i="1" spc="-110" dirty="0">
                <a:solidFill>
                  <a:srgbClr val="2E377E"/>
                </a:solidFill>
                <a:latin typeface="Times New Roman"/>
                <a:cs typeface="Times New Roman"/>
              </a:rPr>
              <a:t> </a:t>
            </a:r>
            <a:r>
              <a:rPr sz="3600" b="1" i="1" spc="195" dirty="0">
                <a:solidFill>
                  <a:srgbClr val="2E377E"/>
                </a:solidFill>
                <a:latin typeface="Times New Roman"/>
                <a:cs typeface="Times New Roman"/>
              </a:rPr>
              <a:t>a</a:t>
            </a:r>
            <a:r>
              <a:rPr sz="3600" b="1" i="1" spc="-105" dirty="0">
                <a:solidFill>
                  <a:srgbClr val="2E377E"/>
                </a:solidFill>
                <a:latin typeface="Times New Roman"/>
                <a:cs typeface="Times New Roman"/>
              </a:rPr>
              <a:t> </a:t>
            </a:r>
            <a:r>
              <a:rPr sz="3600" b="1" i="1" spc="240" dirty="0">
                <a:solidFill>
                  <a:srgbClr val="2E377E"/>
                </a:solidFill>
                <a:latin typeface="Times New Roman"/>
                <a:cs typeface="Times New Roman"/>
              </a:rPr>
              <a:t>pod</a:t>
            </a:r>
            <a:r>
              <a:rPr sz="3600" b="1" i="1" spc="-110" dirty="0">
                <a:solidFill>
                  <a:srgbClr val="2E377E"/>
                </a:solidFill>
                <a:latin typeface="Times New Roman"/>
                <a:cs typeface="Times New Roman"/>
              </a:rPr>
              <a:t> </a:t>
            </a:r>
            <a:r>
              <a:rPr sz="3600" b="1" i="1" dirty="0">
                <a:solidFill>
                  <a:srgbClr val="2E377E"/>
                </a:solidFill>
                <a:latin typeface="Times New Roman"/>
                <a:cs typeface="Times New Roman"/>
              </a:rPr>
              <a:t>in</a:t>
            </a:r>
            <a:r>
              <a:rPr sz="3600" b="1" i="1" spc="-105" dirty="0">
                <a:solidFill>
                  <a:srgbClr val="2E377E"/>
                </a:solidFill>
                <a:latin typeface="Times New Roman"/>
                <a:cs typeface="Times New Roman"/>
              </a:rPr>
              <a:t> </a:t>
            </a:r>
            <a:r>
              <a:rPr sz="3600" b="1" i="1" spc="220" dirty="0">
                <a:solidFill>
                  <a:srgbClr val="2E377E"/>
                </a:solidFill>
                <a:latin typeface="Times New Roman"/>
                <a:cs typeface="Times New Roman"/>
              </a:rPr>
              <a:t>namespace</a:t>
            </a:r>
            <a:endParaRPr sz="3600">
              <a:latin typeface="Times New Roman"/>
              <a:cs typeface="Times New Roman"/>
            </a:endParaRPr>
          </a:p>
        </p:txBody>
      </p:sp>
      <p:sp>
        <p:nvSpPr>
          <p:cNvPr id="7" name="object 7"/>
          <p:cNvSpPr txBox="1"/>
          <p:nvPr/>
        </p:nvSpPr>
        <p:spPr>
          <a:xfrm>
            <a:off x="9388480" y="7015901"/>
            <a:ext cx="6958330" cy="574040"/>
          </a:xfrm>
          <a:prstGeom prst="rect">
            <a:avLst/>
          </a:prstGeom>
        </p:spPr>
        <p:txBody>
          <a:bodyPr vert="horz" wrap="square" lIns="0" tIns="12700" rIns="0" bIns="0" rtlCol="0">
            <a:spAutoFit/>
          </a:bodyPr>
          <a:lstStyle/>
          <a:p>
            <a:pPr marL="12700">
              <a:lnSpc>
                <a:spcPct val="100000"/>
              </a:lnSpc>
              <a:spcBef>
                <a:spcPts val="100"/>
              </a:spcBef>
            </a:pPr>
            <a:r>
              <a:rPr sz="3600" b="1" i="1" spc="220" dirty="0">
                <a:solidFill>
                  <a:srgbClr val="2E377E"/>
                </a:solidFill>
                <a:latin typeface="Times New Roman"/>
                <a:cs typeface="Times New Roman"/>
              </a:rPr>
              <a:t>used</a:t>
            </a:r>
            <a:r>
              <a:rPr sz="3600" b="1" i="1" spc="-120" dirty="0">
                <a:solidFill>
                  <a:srgbClr val="2E377E"/>
                </a:solidFill>
                <a:latin typeface="Times New Roman"/>
                <a:cs typeface="Times New Roman"/>
              </a:rPr>
              <a:t> </a:t>
            </a:r>
            <a:r>
              <a:rPr sz="3600" b="1" i="1" spc="215" dirty="0">
                <a:solidFill>
                  <a:srgbClr val="2E377E"/>
                </a:solidFill>
                <a:latin typeface="Times New Roman"/>
                <a:cs typeface="Times New Roman"/>
              </a:rPr>
              <a:t>to</a:t>
            </a:r>
            <a:r>
              <a:rPr sz="3600" b="1" i="1" spc="-120" dirty="0">
                <a:solidFill>
                  <a:srgbClr val="2E377E"/>
                </a:solidFill>
                <a:latin typeface="Times New Roman"/>
                <a:cs typeface="Times New Roman"/>
              </a:rPr>
              <a:t> </a:t>
            </a:r>
            <a:r>
              <a:rPr sz="3600" b="1" i="1" spc="210" dirty="0">
                <a:solidFill>
                  <a:srgbClr val="2E377E"/>
                </a:solidFill>
                <a:latin typeface="Times New Roman"/>
                <a:cs typeface="Times New Roman"/>
              </a:rPr>
              <a:t>get</a:t>
            </a:r>
            <a:r>
              <a:rPr sz="3600" b="1" i="1" spc="-120" dirty="0">
                <a:solidFill>
                  <a:srgbClr val="2E377E"/>
                </a:solidFill>
                <a:latin typeface="Times New Roman"/>
                <a:cs typeface="Times New Roman"/>
              </a:rPr>
              <a:t> </a:t>
            </a:r>
            <a:r>
              <a:rPr sz="3600" b="1" i="1" spc="250" dirty="0">
                <a:solidFill>
                  <a:srgbClr val="2E377E"/>
                </a:solidFill>
                <a:latin typeface="Times New Roman"/>
                <a:cs typeface="Times New Roman"/>
              </a:rPr>
              <a:t>pods</a:t>
            </a:r>
            <a:r>
              <a:rPr sz="3600" b="1" i="1" spc="-114" dirty="0">
                <a:solidFill>
                  <a:srgbClr val="2E377E"/>
                </a:solidFill>
                <a:latin typeface="Times New Roman"/>
                <a:cs typeface="Times New Roman"/>
              </a:rPr>
              <a:t> </a:t>
            </a:r>
            <a:r>
              <a:rPr sz="3600" b="1" i="1" spc="250" dirty="0">
                <a:solidFill>
                  <a:srgbClr val="2E377E"/>
                </a:solidFill>
                <a:latin typeface="Times New Roman"/>
                <a:cs typeface="Times New Roman"/>
              </a:rPr>
              <a:t>from</a:t>
            </a:r>
            <a:r>
              <a:rPr sz="3600" b="1" i="1" spc="-120" dirty="0">
                <a:solidFill>
                  <a:srgbClr val="2E377E"/>
                </a:solidFill>
                <a:latin typeface="Times New Roman"/>
                <a:cs typeface="Times New Roman"/>
              </a:rPr>
              <a:t> </a:t>
            </a:r>
            <a:r>
              <a:rPr sz="3600" b="1" i="1" spc="220" dirty="0">
                <a:solidFill>
                  <a:srgbClr val="2E377E"/>
                </a:solidFill>
                <a:latin typeface="Times New Roman"/>
                <a:cs typeface="Times New Roman"/>
              </a:rPr>
              <a:t>namespace</a:t>
            </a:r>
            <a:endParaRPr sz="3600">
              <a:latin typeface="Times New Roman"/>
              <a:cs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9143" y="1338890"/>
            <a:ext cx="7867649" cy="6219824"/>
          </a:xfrm>
          <a:prstGeom prst="rect">
            <a:avLst/>
          </a:prstGeom>
        </p:spPr>
      </p:pic>
      <p:pic>
        <p:nvPicPr>
          <p:cNvPr id="3" name="object 3"/>
          <p:cNvPicPr/>
          <p:nvPr/>
        </p:nvPicPr>
        <p:blipFill>
          <a:blip r:embed="rId3" cstate="print"/>
          <a:stretch>
            <a:fillRect/>
          </a:stretch>
        </p:blipFill>
        <p:spPr>
          <a:xfrm>
            <a:off x="11634730" y="1338890"/>
            <a:ext cx="5629274" cy="6829424"/>
          </a:xfrm>
          <a:prstGeom prst="rect">
            <a:avLst/>
          </a:prstGeom>
        </p:spPr>
      </p:pic>
      <p:sp>
        <p:nvSpPr>
          <p:cNvPr id="4" name="object 4"/>
          <p:cNvSpPr txBox="1"/>
          <p:nvPr/>
        </p:nvSpPr>
        <p:spPr>
          <a:xfrm>
            <a:off x="606443" y="441282"/>
            <a:ext cx="1831975" cy="574040"/>
          </a:xfrm>
          <a:prstGeom prst="rect">
            <a:avLst/>
          </a:prstGeom>
        </p:spPr>
        <p:txBody>
          <a:bodyPr vert="horz" wrap="square" lIns="0" tIns="12700" rIns="0" bIns="0" rtlCol="0">
            <a:spAutoFit/>
          </a:bodyPr>
          <a:lstStyle/>
          <a:p>
            <a:pPr marL="12700">
              <a:lnSpc>
                <a:spcPct val="100000"/>
              </a:lnSpc>
              <a:spcBef>
                <a:spcPts val="100"/>
              </a:spcBef>
            </a:pPr>
            <a:r>
              <a:rPr sz="3600" b="1" i="1" spc="-229" dirty="0">
                <a:solidFill>
                  <a:srgbClr val="2E377E"/>
                </a:solidFill>
                <a:latin typeface="Times New Roman"/>
                <a:cs typeface="Times New Roman"/>
              </a:rPr>
              <a:t>POD</a:t>
            </a:r>
            <a:r>
              <a:rPr sz="3600" b="1" i="1" spc="-110" dirty="0">
                <a:solidFill>
                  <a:srgbClr val="2E377E"/>
                </a:solidFill>
                <a:latin typeface="Times New Roman"/>
                <a:cs typeface="Times New Roman"/>
              </a:rPr>
              <a:t> </a:t>
            </a:r>
            <a:r>
              <a:rPr sz="3600" b="1" i="1" spc="-470" dirty="0">
                <a:solidFill>
                  <a:srgbClr val="2E377E"/>
                </a:solidFill>
                <a:latin typeface="Times New Roman"/>
                <a:cs typeface="Times New Roman"/>
              </a:rPr>
              <a:t>FILE</a:t>
            </a:r>
            <a:endParaRPr sz="3600">
              <a:latin typeface="Times New Roman"/>
              <a:cs typeface="Times New Roman"/>
            </a:endParaRPr>
          </a:p>
        </p:txBody>
      </p:sp>
      <p:sp>
        <p:nvSpPr>
          <p:cNvPr id="5" name="object 5"/>
          <p:cNvSpPr txBox="1">
            <a:spLocks noGrp="1"/>
          </p:cNvSpPr>
          <p:nvPr>
            <p:ph type="title"/>
          </p:nvPr>
        </p:nvSpPr>
        <p:spPr>
          <a:xfrm>
            <a:off x="11622029" y="441282"/>
            <a:ext cx="3229610" cy="574040"/>
          </a:xfrm>
          <a:prstGeom prst="rect">
            <a:avLst/>
          </a:prstGeom>
        </p:spPr>
        <p:txBody>
          <a:bodyPr vert="horz" wrap="square" lIns="0" tIns="12700" rIns="0" bIns="0" rtlCol="0">
            <a:spAutoFit/>
          </a:bodyPr>
          <a:lstStyle/>
          <a:p>
            <a:pPr marL="12700">
              <a:lnSpc>
                <a:spcPct val="100000"/>
              </a:lnSpc>
              <a:spcBef>
                <a:spcPts val="100"/>
              </a:spcBef>
            </a:pPr>
            <a:r>
              <a:rPr sz="3600" i="1" spc="-250" dirty="0">
                <a:solidFill>
                  <a:srgbClr val="2E377E"/>
                </a:solidFill>
                <a:latin typeface="Times New Roman"/>
                <a:cs typeface="Times New Roman"/>
              </a:rPr>
              <a:t>NODEPORT</a:t>
            </a:r>
            <a:r>
              <a:rPr sz="3600" i="1" spc="-50" dirty="0">
                <a:solidFill>
                  <a:srgbClr val="2E377E"/>
                </a:solidFill>
                <a:latin typeface="Times New Roman"/>
                <a:cs typeface="Times New Roman"/>
              </a:rPr>
              <a:t> </a:t>
            </a:r>
            <a:r>
              <a:rPr sz="3600" i="1" spc="-470" dirty="0">
                <a:solidFill>
                  <a:srgbClr val="2E377E"/>
                </a:solidFill>
                <a:latin typeface="Times New Roman"/>
                <a:cs typeface="Times New Roman"/>
              </a:rPr>
              <a:t>FILE</a:t>
            </a:r>
            <a:endParaRPr sz="3600">
              <a:latin typeface="Times New Roman"/>
              <a:cs typeface="Times New Roman"/>
            </a:endParaRPr>
          </a:p>
        </p:txBody>
      </p:sp>
      <p:sp>
        <p:nvSpPr>
          <p:cNvPr id="6" name="object 6"/>
          <p:cNvSpPr txBox="1"/>
          <p:nvPr/>
        </p:nvSpPr>
        <p:spPr>
          <a:xfrm>
            <a:off x="397570" y="8384700"/>
            <a:ext cx="14232890" cy="124438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Before</a:t>
            </a:r>
            <a:r>
              <a:rPr sz="3600" spc="25" dirty="0">
                <a:solidFill>
                  <a:srgbClr val="2E377E"/>
                </a:solidFill>
                <a:latin typeface="Georgia"/>
                <a:cs typeface="Georgia"/>
              </a:rPr>
              <a:t> </a:t>
            </a:r>
            <a:r>
              <a:rPr sz="3600" dirty="0">
                <a:solidFill>
                  <a:srgbClr val="2E377E"/>
                </a:solidFill>
                <a:latin typeface="Georgia"/>
                <a:cs typeface="Georgia"/>
              </a:rPr>
              <a:t>going</a:t>
            </a:r>
            <a:r>
              <a:rPr sz="3600" spc="30" dirty="0">
                <a:solidFill>
                  <a:srgbClr val="2E377E"/>
                </a:solidFill>
                <a:latin typeface="Georgia"/>
                <a:cs typeface="Georgia"/>
              </a:rPr>
              <a:t> </a:t>
            </a:r>
            <a:r>
              <a:rPr sz="3600" spc="70" dirty="0">
                <a:solidFill>
                  <a:srgbClr val="2E377E"/>
                </a:solidFill>
                <a:latin typeface="Georgia"/>
                <a:cs typeface="Georgia"/>
              </a:rPr>
              <a:t>to</a:t>
            </a:r>
            <a:r>
              <a:rPr sz="3600" spc="30" dirty="0">
                <a:solidFill>
                  <a:srgbClr val="2E377E"/>
                </a:solidFill>
                <a:latin typeface="Georgia"/>
                <a:cs typeface="Georgia"/>
              </a:rPr>
              <a:t> </a:t>
            </a:r>
            <a:r>
              <a:rPr sz="3600" spc="50" dirty="0">
                <a:solidFill>
                  <a:srgbClr val="2E377E"/>
                </a:solidFill>
                <a:latin typeface="Georgia"/>
                <a:cs typeface="Georgia"/>
              </a:rPr>
              <a:t>deploy</a:t>
            </a:r>
            <a:r>
              <a:rPr sz="3600" spc="25" dirty="0">
                <a:solidFill>
                  <a:srgbClr val="2E377E"/>
                </a:solidFill>
                <a:latin typeface="Georgia"/>
                <a:cs typeface="Georgia"/>
              </a:rPr>
              <a:t> </a:t>
            </a:r>
            <a:r>
              <a:rPr sz="3600" dirty="0">
                <a:solidFill>
                  <a:srgbClr val="2E377E"/>
                </a:solidFill>
                <a:latin typeface="Georgia"/>
                <a:cs typeface="Georgia"/>
              </a:rPr>
              <a:t>this</a:t>
            </a:r>
            <a:r>
              <a:rPr sz="3600" spc="30" dirty="0">
                <a:solidFill>
                  <a:srgbClr val="2E377E"/>
                </a:solidFill>
                <a:latin typeface="Georgia"/>
                <a:cs typeface="Georgia"/>
              </a:rPr>
              <a:t> </a:t>
            </a:r>
            <a:r>
              <a:rPr sz="3600" dirty="0">
                <a:solidFill>
                  <a:srgbClr val="2E377E"/>
                </a:solidFill>
                <a:latin typeface="Georgia"/>
                <a:cs typeface="Georgia"/>
              </a:rPr>
              <a:t>file</a:t>
            </a:r>
            <a:r>
              <a:rPr sz="3600" spc="30" dirty="0">
                <a:solidFill>
                  <a:srgbClr val="2E377E"/>
                </a:solidFill>
                <a:latin typeface="Georgia"/>
                <a:cs typeface="Georgia"/>
              </a:rPr>
              <a:t> </a:t>
            </a:r>
            <a:r>
              <a:rPr sz="3600" spc="140" dirty="0">
                <a:solidFill>
                  <a:srgbClr val="2E377E"/>
                </a:solidFill>
                <a:latin typeface="Georgia"/>
                <a:cs typeface="Georgia"/>
              </a:rPr>
              <a:t>we</a:t>
            </a:r>
            <a:r>
              <a:rPr sz="3600" spc="25" dirty="0">
                <a:solidFill>
                  <a:srgbClr val="2E377E"/>
                </a:solidFill>
                <a:latin typeface="Georgia"/>
                <a:cs typeface="Georgia"/>
              </a:rPr>
              <a:t> </a:t>
            </a:r>
            <a:r>
              <a:rPr sz="3600" dirty="0">
                <a:solidFill>
                  <a:srgbClr val="2E377E"/>
                </a:solidFill>
                <a:latin typeface="Georgia"/>
                <a:cs typeface="Georgia"/>
              </a:rPr>
              <a:t>need</a:t>
            </a:r>
            <a:r>
              <a:rPr sz="3600" spc="30" dirty="0">
                <a:solidFill>
                  <a:srgbClr val="2E377E"/>
                </a:solidFill>
                <a:latin typeface="Georgia"/>
                <a:cs typeface="Georgia"/>
              </a:rPr>
              <a:t> </a:t>
            </a:r>
            <a:r>
              <a:rPr sz="3600" spc="70" dirty="0">
                <a:solidFill>
                  <a:srgbClr val="2E377E"/>
                </a:solidFill>
                <a:latin typeface="Georgia"/>
                <a:cs typeface="Georgia"/>
              </a:rPr>
              <a:t>to</a:t>
            </a:r>
            <a:r>
              <a:rPr sz="3600" spc="30" dirty="0">
                <a:solidFill>
                  <a:srgbClr val="2E377E"/>
                </a:solidFill>
                <a:latin typeface="Georgia"/>
                <a:cs typeface="Georgia"/>
              </a:rPr>
              <a:t> </a:t>
            </a:r>
            <a:r>
              <a:rPr sz="3600" spc="55" dirty="0">
                <a:solidFill>
                  <a:srgbClr val="2E377E"/>
                </a:solidFill>
                <a:latin typeface="Georgia"/>
                <a:cs typeface="Georgia"/>
              </a:rPr>
              <a:t>create</a:t>
            </a:r>
            <a:r>
              <a:rPr sz="3600" spc="25" dirty="0">
                <a:solidFill>
                  <a:srgbClr val="2E377E"/>
                </a:solidFill>
                <a:latin typeface="Georgia"/>
                <a:cs typeface="Georgia"/>
              </a:rPr>
              <a:t> </a:t>
            </a:r>
            <a:r>
              <a:rPr lang="en-IN" sz="3600" dirty="0">
                <a:solidFill>
                  <a:srgbClr val="2E377E"/>
                </a:solidFill>
                <a:latin typeface="Georgia"/>
                <a:cs typeface="Georgia"/>
              </a:rPr>
              <a:t>rajco</a:t>
            </a:r>
            <a:r>
              <a:rPr sz="3600" spc="30" dirty="0">
                <a:solidFill>
                  <a:srgbClr val="2E377E"/>
                </a:solidFill>
                <a:latin typeface="Georgia"/>
                <a:cs typeface="Georgia"/>
              </a:rPr>
              <a:t> </a:t>
            </a:r>
            <a:r>
              <a:rPr sz="3600" spc="-10" dirty="0">
                <a:solidFill>
                  <a:srgbClr val="2E377E"/>
                </a:solidFill>
                <a:latin typeface="Georgia"/>
                <a:cs typeface="Georgia"/>
              </a:rPr>
              <a:t>namespace. </a:t>
            </a:r>
            <a:r>
              <a:rPr sz="3600" dirty="0">
                <a:solidFill>
                  <a:srgbClr val="2E377E"/>
                </a:solidFill>
                <a:latin typeface="Georgia"/>
                <a:cs typeface="Georgia"/>
              </a:rPr>
              <a:t>Here</a:t>
            </a:r>
            <a:r>
              <a:rPr sz="3600" spc="75" dirty="0">
                <a:solidFill>
                  <a:srgbClr val="2E377E"/>
                </a:solidFill>
                <a:latin typeface="Georgia"/>
                <a:cs typeface="Georgia"/>
              </a:rPr>
              <a:t> </a:t>
            </a:r>
            <a:r>
              <a:rPr sz="3600" dirty="0">
                <a:solidFill>
                  <a:srgbClr val="2E377E"/>
                </a:solidFill>
                <a:latin typeface="Georgia"/>
                <a:cs typeface="Georgia"/>
              </a:rPr>
              <a:t>i</a:t>
            </a:r>
            <a:r>
              <a:rPr sz="3600" spc="80" dirty="0">
                <a:solidFill>
                  <a:srgbClr val="2E377E"/>
                </a:solidFill>
                <a:latin typeface="Georgia"/>
                <a:cs typeface="Georgia"/>
              </a:rPr>
              <a:t> </a:t>
            </a:r>
            <a:r>
              <a:rPr sz="3600" spc="55" dirty="0">
                <a:solidFill>
                  <a:srgbClr val="2E377E"/>
                </a:solidFill>
                <a:latin typeface="Georgia"/>
                <a:cs typeface="Georgia"/>
              </a:rPr>
              <a:t>just</a:t>
            </a:r>
            <a:r>
              <a:rPr sz="3600" spc="75" dirty="0">
                <a:solidFill>
                  <a:srgbClr val="2E377E"/>
                </a:solidFill>
                <a:latin typeface="Georgia"/>
                <a:cs typeface="Georgia"/>
              </a:rPr>
              <a:t> </a:t>
            </a:r>
            <a:r>
              <a:rPr sz="3600" dirty="0">
                <a:solidFill>
                  <a:srgbClr val="2E377E"/>
                </a:solidFill>
                <a:latin typeface="Georgia"/>
                <a:cs typeface="Georgia"/>
              </a:rPr>
              <a:t>mentioned</a:t>
            </a:r>
            <a:r>
              <a:rPr sz="3600" spc="80" dirty="0">
                <a:solidFill>
                  <a:srgbClr val="2E377E"/>
                </a:solidFill>
                <a:latin typeface="Georgia"/>
                <a:cs typeface="Georgia"/>
              </a:rPr>
              <a:t> </a:t>
            </a:r>
            <a:r>
              <a:rPr sz="3600" dirty="0">
                <a:solidFill>
                  <a:srgbClr val="2E377E"/>
                </a:solidFill>
                <a:latin typeface="Georgia"/>
                <a:cs typeface="Georgia"/>
              </a:rPr>
              <a:t>namespace</a:t>
            </a:r>
            <a:r>
              <a:rPr sz="3600" spc="75" dirty="0">
                <a:solidFill>
                  <a:srgbClr val="2E377E"/>
                </a:solidFill>
                <a:latin typeface="Georgia"/>
                <a:cs typeface="Georgia"/>
              </a:rPr>
              <a:t> </a:t>
            </a:r>
            <a:r>
              <a:rPr sz="3600" dirty="0">
                <a:solidFill>
                  <a:srgbClr val="2E377E"/>
                </a:solidFill>
                <a:latin typeface="Georgia"/>
                <a:cs typeface="Georgia"/>
              </a:rPr>
              <a:t>in</a:t>
            </a:r>
            <a:r>
              <a:rPr sz="3600" spc="80" dirty="0">
                <a:solidFill>
                  <a:srgbClr val="2E377E"/>
                </a:solidFill>
                <a:latin typeface="Georgia"/>
                <a:cs typeface="Georgia"/>
              </a:rPr>
              <a:t> </a:t>
            </a:r>
            <a:r>
              <a:rPr sz="3600" dirty="0">
                <a:solidFill>
                  <a:srgbClr val="2E377E"/>
                </a:solidFill>
                <a:latin typeface="Georgia"/>
                <a:cs typeface="Georgia"/>
              </a:rPr>
              <a:t>normal</a:t>
            </a:r>
            <a:r>
              <a:rPr sz="3600" spc="80" dirty="0">
                <a:solidFill>
                  <a:srgbClr val="2E377E"/>
                </a:solidFill>
                <a:latin typeface="Georgia"/>
                <a:cs typeface="Georgia"/>
              </a:rPr>
              <a:t> </a:t>
            </a:r>
            <a:r>
              <a:rPr sz="3600" dirty="0">
                <a:solidFill>
                  <a:srgbClr val="2E377E"/>
                </a:solidFill>
                <a:latin typeface="Georgia"/>
                <a:cs typeface="Georgia"/>
              </a:rPr>
              <a:t>manifest</a:t>
            </a:r>
            <a:r>
              <a:rPr sz="3600" spc="75" dirty="0">
                <a:solidFill>
                  <a:srgbClr val="2E377E"/>
                </a:solidFill>
                <a:latin typeface="Georgia"/>
                <a:cs typeface="Georgia"/>
              </a:rPr>
              <a:t> </a:t>
            </a:r>
            <a:r>
              <a:rPr sz="3600" spc="-20" dirty="0">
                <a:solidFill>
                  <a:srgbClr val="2E377E"/>
                </a:solidFill>
                <a:latin typeface="Georgia"/>
                <a:cs typeface="Georgia"/>
              </a:rPr>
              <a:t>file</a:t>
            </a:r>
            <a:endParaRPr sz="3600" dirty="0">
              <a:latin typeface="Georgia"/>
              <a:cs typeface="Georgi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38018" y="1752743"/>
            <a:ext cx="14392274" cy="6200774"/>
          </a:xfrm>
          <a:prstGeom prst="rect">
            <a:avLst/>
          </a:prstGeom>
        </p:spPr>
      </p:pic>
      <p:sp>
        <p:nvSpPr>
          <p:cNvPr id="3" name="object 3"/>
          <p:cNvSpPr txBox="1">
            <a:spLocks noGrp="1"/>
          </p:cNvSpPr>
          <p:nvPr>
            <p:ph type="title"/>
          </p:nvPr>
        </p:nvSpPr>
        <p:spPr>
          <a:xfrm>
            <a:off x="541235" y="552580"/>
            <a:ext cx="5829935" cy="787400"/>
          </a:xfrm>
          <a:prstGeom prst="rect">
            <a:avLst/>
          </a:prstGeom>
        </p:spPr>
        <p:txBody>
          <a:bodyPr vert="horz" wrap="square" lIns="0" tIns="12700" rIns="0" bIns="0" rtlCol="0">
            <a:spAutoFit/>
          </a:bodyPr>
          <a:lstStyle/>
          <a:p>
            <a:pPr marL="12700">
              <a:lnSpc>
                <a:spcPct val="100000"/>
              </a:lnSpc>
              <a:spcBef>
                <a:spcPts val="100"/>
              </a:spcBef>
            </a:pPr>
            <a:r>
              <a:rPr spc="-280" dirty="0">
                <a:solidFill>
                  <a:srgbClr val="FF3131"/>
                </a:solidFill>
              </a:rPr>
              <a:t>RESOURCE</a:t>
            </a:r>
            <a:r>
              <a:rPr spc="-30" dirty="0">
                <a:solidFill>
                  <a:srgbClr val="FF3131"/>
                </a:solidFill>
              </a:rPr>
              <a:t> </a:t>
            </a:r>
            <a:r>
              <a:rPr spc="-175" dirty="0">
                <a:solidFill>
                  <a:srgbClr val="FF3131"/>
                </a:solidFill>
              </a:rPr>
              <a:t>QUOTA:</a:t>
            </a:r>
          </a:p>
        </p:txBody>
      </p:sp>
      <p:sp>
        <p:nvSpPr>
          <p:cNvPr id="4" name="object 4"/>
          <p:cNvSpPr txBox="1"/>
          <p:nvPr/>
        </p:nvSpPr>
        <p:spPr>
          <a:xfrm>
            <a:off x="1330282" y="8586050"/>
            <a:ext cx="15253335" cy="1187450"/>
          </a:xfrm>
          <a:prstGeom prst="rect">
            <a:avLst/>
          </a:prstGeom>
        </p:spPr>
        <p:txBody>
          <a:bodyPr vert="horz" wrap="square" lIns="0" tIns="11430" rIns="0" bIns="0" rtlCol="0">
            <a:spAutoFit/>
          </a:bodyPr>
          <a:lstStyle/>
          <a:p>
            <a:pPr marL="12700" marR="5080">
              <a:lnSpc>
                <a:spcPct val="117300"/>
              </a:lnSpc>
              <a:spcBef>
                <a:spcPts val="90"/>
              </a:spcBef>
            </a:pPr>
            <a:r>
              <a:rPr sz="3250" dirty="0">
                <a:solidFill>
                  <a:srgbClr val="2E377E"/>
                </a:solidFill>
                <a:latin typeface="Georgia"/>
                <a:cs typeface="Georgia"/>
              </a:rPr>
              <a:t>ResourceQuota</a:t>
            </a:r>
            <a:r>
              <a:rPr sz="3250" spc="55" dirty="0">
                <a:solidFill>
                  <a:srgbClr val="2E377E"/>
                </a:solidFill>
                <a:latin typeface="Georgia"/>
                <a:cs typeface="Georgia"/>
              </a:rPr>
              <a:t> </a:t>
            </a:r>
            <a:r>
              <a:rPr sz="3250" dirty="0">
                <a:solidFill>
                  <a:srgbClr val="2E377E"/>
                </a:solidFill>
                <a:latin typeface="Georgia"/>
                <a:cs typeface="Georgia"/>
              </a:rPr>
              <a:t>is</a:t>
            </a:r>
            <a:r>
              <a:rPr sz="3250" spc="60" dirty="0">
                <a:solidFill>
                  <a:srgbClr val="2E377E"/>
                </a:solidFill>
                <a:latin typeface="Georgia"/>
                <a:cs typeface="Georgia"/>
              </a:rPr>
              <a:t> </a:t>
            </a:r>
            <a:r>
              <a:rPr sz="3250" dirty="0">
                <a:solidFill>
                  <a:srgbClr val="2E377E"/>
                </a:solidFill>
                <a:latin typeface="Georgia"/>
                <a:cs typeface="Georgia"/>
              </a:rPr>
              <a:t>one</a:t>
            </a:r>
            <a:r>
              <a:rPr sz="3250" spc="55" dirty="0">
                <a:solidFill>
                  <a:srgbClr val="2E377E"/>
                </a:solidFill>
                <a:latin typeface="Georgia"/>
                <a:cs typeface="Georgia"/>
              </a:rPr>
              <a:t> </a:t>
            </a:r>
            <a:r>
              <a:rPr sz="3250" dirty="0">
                <a:solidFill>
                  <a:srgbClr val="2E377E"/>
                </a:solidFill>
                <a:latin typeface="Georgia"/>
                <a:cs typeface="Georgia"/>
              </a:rPr>
              <a:t>of</a:t>
            </a:r>
            <a:r>
              <a:rPr sz="3250" spc="55" dirty="0">
                <a:solidFill>
                  <a:srgbClr val="2E377E"/>
                </a:solidFill>
                <a:latin typeface="Georgia"/>
                <a:cs typeface="Georgia"/>
              </a:rPr>
              <a:t> </a:t>
            </a:r>
            <a:r>
              <a:rPr sz="3250" spc="65" dirty="0">
                <a:solidFill>
                  <a:srgbClr val="2E377E"/>
                </a:solidFill>
                <a:latin typeface="Georgia"/>
                <a:cs typeface="Georgia"/>
              </a:rPr>
              <a:t>the</a:t>
            </a:r>
            <a:r>
              <a:rPr sz="3250" spc="55" dirty="0">
                <a:solidFill>
                  <a:srgbClr val="2E377E"/>
                </a:solidFill>
                <a:latin typeface="Georgia"/>
                <a:cs typeface="Georgia"/>
              </a:rPr>
              <a:t> </a:t>
            </a:r>
            <a:r>
              <a:rPr sz="3250" dirty="0">
                <a:solidFill>
                  <a:srgbClr val="2E377E"/>
                </a:solidFill>
                <a:latin typeface="Georgia"/>
                <a:cs typeface="Georgia"/>
              </a:rPr>
              <a:t>rich</a:t>
            </a:r>
            <a:r>
              <a:rPr sz="3250" spc="60" dirty="0">
                <a:solidFill>
                  <a:srgbClr val="2E377E"/>
                </a:solidFill>
                <a:latin typeface="Georgia"/>
                <a:cs typeface="Georgia"/>
              </a:rPr>
              <a:t> </a:t>
            </a:r>
            <a:r>
              <a:rPr sz="3250" spc="50" dirty="0">
                <a:solidFill>
                  <a:srgbClr val="2E377E"/>
                </a:solidFill>
                <a:latin typeface="Georgia"/>
                <a:cs typeface="Georgia"/>
              </a:rPr>
              <a:t>features</a:t>
            </a:r>
            <a:r>
              <a:rPr sz="3250" spc="55" dirty="0">
                <a:solidFill>
                  <a:srgbClr val="2E377E"/>
                </a:solidFill>
                <a:latin typeface="Georgia"/>
                <a:cs typeface="Georgia"/>
              </a:rPr>
              <a:t> </a:t>
            </a:r>
            <a:r>
              <a:rPr sz="3250" dirty="0">
                <a:solidFill>
                  <a:srgbClr val="2E377E"/>
                </a:solidFill>
                <a:latin typeface="Georgia"/>
                <a:cs typeface="Georgia"/>
              </a:rPr>
              <a:t>of</a:t>
            </a:r>
            <a:r>
              <a:rPr sz="3250" spc="55" dirty="0">
                <a:solidFill>
                  <a:srgbClr val="2E377E"/>
                </a:solidFill>
                <a:latin typeface="Georgia"/>
                <a:cs typeface="Georgia"/>
              </a:rPr>
              <a:t> </a:t>
            </a:r>
            <a:r>
              <a:rPr sz="3250" spc="45" dirty="0">
                <a:solidFill>
                  <a:srgbClr val="2E377E"/>
                </a:solidFill>
                <a:latin typeface="Georgia"/>
                <a:cs typeface="Georgia"/>
              </a:rPr>
              <a:t>Kubernetes</a:t>
            </a:r>
            <a:r>
              <a:rPr sz="3250" spc="55" dirty="0">
                <a:solidFill>
                  <a:srgbClr val="2E377E"/>
                </a:solidFill>
                <a:latin typeface="Georgia"/>
                <a:cs typeface="Georgia"/>
              </a:rPr>
              <a:t> </a:t>
            </a:r>
            <a:r>
              <a:rPr sz="3250" spc="60" dirty="0">
                <a:solidFill>
                  <a:srgbClr val="2E377E"/>
                </a:solidFill>
                <a:latin typeface="Georgia"/>
                <a:cs typeface="Georgia"/>
              </a:rPr>
              <a:t>that</a:t>
            </a:r>
            <a:r>
              <a:rPr sz="3250" spc="55" dirty="0">
                <a:solidFill>
                  <a:srgbClr val="2E377E"/>
                </a:solidFill>
                <a:latin typeface="Georgia"/>
                <a:cs typeface="Georgia"/>
              </a:rPr>
              <a:t> </a:t>
            </a:r>
            <a:r>
              <a:rPr sz="3250" dirty="0">
                <a:solidFill>
                  <a:srgbClr val="2E377E"/>
                </a:solidFill>
                <a:latin typeface="Georgia"/>
                <a:cs typeface="Georgia"/>
              </a:rPr>
              <a:t>helps</a:t>
            </a:r>
            <a:r>
              <a:rPr sz="3250" spc="55" dirty="0">
                <a:solidFill>
                  <a:srgbClr val="2E377E"/>
                </a:solidFill>
                <a:latin typeface="Georgia"/>
                <a:cs typeface="Georgia"/>
              </a:rPr>
              <a:t> </a:t>
            </a:r>
            <a:r>
              <a:rPr sz="3250" spc="70" dirty="0">
                <a:solidFill>
                  <a:srgbClr val="2E377E"/>
                </a:solidFill>
                <a:latin typeface="Georgia"/>
                <a:cs typeface="Georgia"/>
              </a:rPr>
              <a:t>to</a:t>
            </a:r>
            <a:r>
              <a:rPr sz="3250" spc="60" dirty="0">
                <a:solidFill>
                  <a:srgbClr val="2E377E"/>
                </a:solidFill>
                <a:latin typeface="Georgia"/>
                <a:cs typeface="Georgia"/>
              </a:rPr>
              <a:t> </a:t>
            </a:r>
            <a:r>
              <a:rPr sz="3250" dirty="0">
                <a:solidFill>
                  <a:srgbClr val="2E377E"/>
                </a:solidFill>
                <a:latin typeface="Georgia"/>
                <a:cs typeface="Georgia"/>
              </a:rPr>
              <a:t>manage</a:t>
            </a:r>
            <a:r>
              <a:rPr sz="3250" spc="55" dirty="0">
                <a:solidFill>
                  <a:srgbClr val="2E377E"/>
                </a:solidFill>
                <a:latin typeface="Georgia"/>
                <a:cs typeface="Georgia"/>
              </a:rPr>
              <a:t> </a:t>
            </a:r>
            <a:r>
              <a:rPr sz="3250" spc="-25" dirty="0">
                <a:solidFill>
                  <a:srgbClr val="2E377E"/>
                </a:solidFill>
                <a:latin typeface="Georgia"/>
                <a:cs typeface="Georgia"/>
              </a:rPr>
              <a:t>and </a:t>
            </a:r>
            <a:r>
              <a:rPr sz="3250" spc="45" dirty="0">
                <a:solidFill>
                  <a:srgbClr val="2E377E"/>
                </a:solidFill>
                <a:latin typeface="Georgia"/>
                <a:cs typeface="Georgia"/>
              </a:rPr>
              <a:t>distribute</a:t>
            </a:r>
            <a:r>
              <a:rPr sz="3250" spc="25" dirty="0">
                <a:solidFill>
                  <a:srgbClr val="2E377E"/>
                </a:solidFill>
                <a:latin typeface="Georgia"/>
                <a:cs typeface="Georgia"/>
              </a:rPr>
              <a:t> </a:t>
            </a:r>
            <a:r>
              <a:rPr sz="3250" spc="50" dirty="0">
                <a:solidFill>
                  <a:srgbClr val="2E377E"/>
                </a:solidFill>
                <a:latin typeface="Georgia"/>
                <a:cs typeface="Georgia"/>
              </a:rPr>
              <a:t>resources</a:t>
            </a:r>
            <a:r>
              <a:rPr sz="3250" spc="30" dirty="0">
                <a:solidFill>
                  <a:srgbClr val="2E377E"/>
                </a:solidFill>
                <a:latin typeface="Georgia"/>
                <a:cs typeface="Georgia"/>
              </a:rPr>
              <a:t> </a:t>
            </a:r>
            <a:r>
              <a:rPr sz="3250" dirty="0">
                <a:solidFill>
                  <a:srgbClr val="2E377E"/>
                </a:solidFill>
                <a:latin typeface="Georgia"/>
                <a:cs typeface="Georgia"/>
              </a:rPr>
              <a:t>according</a:t>
            </a:r>
            <a:r>
              <a:rPr sz="3250" spc="30" dirty="0">
                <a:solidFill>
                  <a:srgbClr val="2E377E"/>
                </a:solidFill>
                <a:latin typeface="Georgia"/>
                <a:cs typeface="Georgia"/>
              </a:rPr>
              <a:t> </a:t>
            </a:r>
            <a:r>
              <a:rPr sz="3250" spc="70" dirty="0">
                <a:solidFill>
                  <a:srgbClr val="2E377E"/>
                </a:solidFill>
                <a:latin typeface="Georgia"/>
                <a:cs typeface="Georgia"/>
              </a:rPr>
              <a:t>to</a:t>
            </a:r>
            <a:r>
              <a:rPr sz="3250" spc="25" dirty="0">
                <a:solidFill>
                  <a:srgbClr val="2E377E"/>
                </a:solidFill>
                <a:latin typeface="Georgia"/>
                <a:cs typeface="Georgia"/>
              </a:rPr>
              <a:t> </a:t>
            </a:r>
            <a:r>
              <a:rPr sz="3250" spc="65" dirty="0">
                <a:solidFill>
                  <a:srgbClr val="2E377E"/>
                </a:solidFill>
                <a:latin typeface="Georgia"/>
                <a:cs typeface="Georgia"/>
              </a:rPr>
              <a:t>the</a:t>
            </a:r>
            <a:r>
              <a:rPr sz="3250" spc="30" dirty="0">
                <a:solidFill>
                  <a:srgbClr val="2E377E"/>
                </a:solidFill>
                <a:latin typeface="Georgia"/>
                <a:cs typeface="Georgia"/>
              </a:rPr>
              <a:t> </a:t>
            </a:r>
            <a:r>
              <a:rPr sz="3250" spc="-10" dirty="0">
                <a:solidFill>
                  <a:srgbClr val="2E377E"/>
                </a:solidFill>
                <a:latin typeface="Georgia"/>
                <a:cs typeface="Georgia"/>
              </a:rPr>
              <a:t>requirements.</a:t>
            </a:r>
            <a:endParaRPr sz="3250">
              <a:latin typeface="Georgia"/>
              <a:cs typeface="Georgi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8010" y="3008997"/>
            <a:ext cx="7118948" cy="3234607"/>
          </a:xfrm>
          <a:prstGeom prst="rect">
            <a:avLst/>
          </a:prstGeom>
        </p:spPr>
      </p:pic>
      <p:pic>
        <p:nvPicPr>
          <p:cNvPr id="3" name="object 3"/>
          <p:cNvPicPr/>
          <p:nvPr/>
        </p:nvPicPr>
        <p:blipFill>
          <a:blip r:embed="rId3" cstate="print"/>
          <a:stretch>
            <a:fillRect/>
          </a:stretch>
        </p:blipFill>
        <p:spPr>
          <a:xfrm>
            <a:off x="11656222" y="2090425"/>
            <a:ext cx="5600699" cy="4714874"/>
          </a:xfrm>
          <a:prstGeom prst="rect">
            <a:avLst/>
          </a:prstGeom>
        </p:spPr>
      </p:pic>
      <p:pic>
        <p:nvPicPr>
          <p:cNvPr id="4" name="object 4"/>
          <p:cNvPicPr/>
          <p:nvPr/>
        </p:nvPicPr>
        <p:blipFill>
          <a:blip r:embed="rId4" cstate="print"/>
          <a:stretch>
            <a:fillRect/>
          </a:stretch>
        </p:blipFill>
        <p:spPr>
          <a:xfrm>
            <a:off x="1122200" y="7938714"/>
            <a:ext cx="1193929" cy="1200803"/>
          </a:xfrm>
          <a:prstGeom prst="rect">
            <a:avLst/>
          </a:prstGeom>
        </p:spPr>
      </p:pic>
      <p:sp>
        <p:nvSpPr>
          <p:cNvPr id="5" name="object 5"/>
          <p:cNvSpPr txBox="1">
            <a:spLocks noGrp="1"/>
          </p:cNvSpPr>
          <p:nvPr>
            <p:ph type="title"/>
          </p:nvPr>
        </p:nvSpPr>
        <p:spPr>
          <a:xfrm>
            <a:off x="1016000" y="713605"/>
            <a:ext cx="15131415" cy="1187450"/>
          </a:xfrm>
          <a:prstGeom prst="rect">
            <a:avLst/>
          </a:prstGeom>
        </p:spPr>
        <p:txBody>
          <a:bodyPr vert="horz" wrap="square" lIns="0" tIns="11430" rIns="0" bIns="0" rtlCol="0">
            <a:spAutoFit/>
          </a:bodyPr>
          <a:lstStyle/>
          <a:p>
            <a:pPr marL="12700" marR="5080">
              <a:lnSpc>
                <a:spcPct val="117300"/>
              </a:lnSpc>
              <a:spcBef>
                <a:spcPts val="90"/>
              </a:spcBef>
            </a:pPr>
            <a:r>
              <a:rPr sz="3250" b="0" spc="-55" dirty="0">
                <a:solidFill>
                  <a:srgbClr val="2E377E"/>
                </a:solidFill>
                <a:latin typeface="Georgia"/>
                <a:cs typeface="Georgia"/>
              </a:rPr>
              <a:t>Just</a:t>
            </a:r>
            <a:r>
              <a:rPr sz="3250" b="0" spc="-20" dirty="0">
                <a:solidFill>
                  <a:srgbClr val="2E377E"/>
                </a:solidFill>
                <a:latin typeface="Georgia"/>
                <a:cs typeface="Georgia"/>
              </a:rPr>
              <a:t> </a:t>
            </a:r>
            <a:r>
              <a:rPr sz="3250" b="0" dirty="0">
                <a:solidFill>
                  <a:srgbClr val="2E377E"/>
                </a:solidFill>
                <a:latin typeface="Georgia"/>
                <a:cs typeface="Georgia"/>
              </a:rPr>
              <a:t>assume</a:t>
            </a:r>
            <a:r>
              <a:rPr sz="3250" b="0" spc="-15" dirty="0">
                <a:solidFill>
                  <a:srgbClr val="2E377E"/>
                </a:solidFill>
                <a:latin typeface="Georgia"/>
                <a:cs typeface="Georgia"/>
              </a:rPr>
              <a:t> </a:t>
            </a:r>
            <a:r>
              <a:rPr sz="3250" b="0" spc="60" dirty="0">
                <a:solidFill>
                  <a:srgbClr val="2E377E"/>
                </a:solidFill>
                <a:latin typeface="Georgia"/>
                <a:cs typeface="Georgia"/>
              </a:rPr>
              <a:t>that</a:t>
            </a:r>
            <a:r>
              <a:rPr sz="3250" b="0" spc="-15" dirty="0">
                <a:solidFill>
                  <a:srgbClr val="2E377E"/>
                </a:solidFill>
                <a:latin typeface="Georgia"/>
                <a:cs typeface="Georgia"/>
              </a:rPr>
              <a:t> </a:t>
            </a:r>
            <a:r>
              <a:rPr sz="3250" b="0" spc="135" dirty="0">
                <a:solidFill>
                  <a:srgbClr val="2E377E"/>
                </a:solidFill>
                <a:latin typeface="Georgia"/>
                <a:cs typeface="Georgia"/>
              </a:rPr>
              <a:t>we</a:t>
            </a:r>
            <a:r>
              <a:rPr sz="3250" b="0" spc="-15" dirty="0">
                <a:solidFill>
                  <a:srgbClr val="2E377E"/>
                </a:solidFill>
                <a:latin typeface="Georgia"/>
                <a:cs typeface="Georgia"/>
              </a:rPr>
              <a:t> </a:t>
            </a:r>
            <a:r>
              <a:rPr sz="3250" b="0" spc="65" dirty="0">
                <a:solidFill>
                  <a:srgbClr val="2E377E"/>
                </a:solidFill>
                <a:latin typeface="Georgia"/>
                <a:cs typeface="Georgia"/>
              </a:rPr>
              <a:t>have</a:t>
            </a:r>
            <a:r>
              <a:rPr sz="3250" b="0" spc="-15" dirty="0">
                <a:solidFill>
                  <a:srgbClr val="2E377E"/>
                </a:solidFill>
                <a:latin typeface="Georgia"/>
                <a:cs typeface="Georgia"/>
              </a:rPr>
              <a:t> </a:t>
            </a:r>
            <a:r>
              <a:rPr sz="3250" b="0" spc="-225" dirty="0">
                <a:solidFill>
                  <a:srgbClr val="2E377E"/>
                </a:solidFill>
                <a:latin typeface="Georgia"/>
                <a:cs typeface="Georgia"/>
              </a:rPr>
              <a:t>2</a:t>
            </a:r>
            <a:r>
              <a:rPr sz="3250" b="0" spc="-15" dirty="0">
                <a:solidFill>
                  <a:srgbClr val="2E377E"/>
                </a:solidFill>
                <a:latin typeface="Georgia"/>
                <a:cs typeface="Georgia"/>
              </a:rPr>
              <a:t> </a:t>
            </a:r>
            <a:r>
              <a:rPr sz="3250" b="0" spc="50" dirty="0">
                <a:solidFill>
                  <a:srgbClr val="2E377E"/>
                </a:solidFill>
                <a:latin typeface="Georgia"/>
                <a:cs typeface="Georgia"/>
              </a:rPr>
              <a:t>teams</a:t>
            </a:r>
            <a:r>
              <a:rPr sz="3250" b="0" spc="-20" dirty="0">
                <a:solidFill>
                  <a:srgbClr val="2E377E"/>
                </a:solidFill>
                <a:latin typeface="Georgia"/>
                <a:cs typeface="Georgia"/>
              </a:rPr>
              <a:t> </a:t>
            </a:r>
            <a:r>
              <a:rPr sz="3250" b="0" spc="-40" dirty="0">
                <a:solidFill>
                  <a:srgbClr val="2E377E"/>
                </a:solidFill>
                <a:latin typeface="Georgia"/>
                <a:cs typeface="Georgia"/>
              </a:rPr>
              <a:t>(Team-</a:t>
            </a:r>
            <a:r>
              <a:rPr sz="3250" b="0" dirty="0">
                <a:solidFill>
                  <a:srgbClr val="2E377E"/>
                </a:solidFill>
                <a:latin typeface="Georgia"/>
                <a:cs typeface="Georgia"/>
              </a:rPr>
              <a:t>A</a:t>
            </a:r>
            <a:r>
              <a:rPr sz="3250" b="0" spc="-15" dirty="0">
                <a:solidFill>
                  <a:srgbClr val="2E377E"/>
                </a:solidFill>
                <a:latin typeface="Georgia"/>
                <a:cs typeface="Georgia"/>
              </a:rPr>
              <a:t> </a:t>
            </a:r>
            <a:r>
              <a:rPr sz="3250" b="0" spc="645" dirty="0">
                <a:solidFill>
                  <a:srgbClr val="2E377E"/>
                </a:solidFill>
                <a:latin typeface="Georgia"/>
                <a:cs typeface="Georgia"/>
              </a:rPr>
              <a:t>&amp;</a:t>
            </a:r>
            <a:r>
              <a:rPr sz="3250" b="0" spc="-15" dirty="0">
                <a:solidFill>
                  <a:srgbClr val="2E377E"/>
                </a:solidFill>
                <a:latin typeface="Georgia"/>
                <a:cs typeface="Georgia"/>
              </a:rPr>
              <a:t> </a:t>
            </a:r>
            <a:r>
              <a:rPr sz="3250" b="0" dirty="0">
                <a:solidFill>
                  <a:srgbClr val="2E377E"/>
                </a:solidFill>
                <a:latin typeface="Georgia"/>
                <a:cs typeface="Georgia"/>
              </a:rPr>
              <a:t>Team-</a:t>
            </a:r>
            <a:r>
              <a:rPr sz="3250" b="0" spc="-200" dirty="0">
                <a:solidFill>
                  <a:srgbClr val="2E377E"/>
                </a:solidFill>
                <a:latin typeface="Georgia"/>
                <a:cs typeface="Georgia"/>
              </a:rPr>
              <a:t>B)</a:t>
            </a:r>
            <a:r>
              <a:rPr sz="3250" b="0" spc="-15" dirty="0">
                <a:solidFill>
                  <a:srgbClr val="2E377E"/>
                </a:solidFill>
                <a:latin typeface="Georgia"/>
                <a:cs typeface="Georgia"/>
              </a:rPr>
              <a:t> </a:t>
            </a:r>
            <a:r>
              <a:rPr sz="3250" b="0" spc="90" dirty="0">
                <a:solidFill>
                  <a:srgbClr val="2E377E"/>
                </a:solidFill>
                <a:latin typeface="Georgia"/>
                <a:cs typeface="Georgia"/>
              </a:rPr>
              <a:t>who</a:t>
            </a:r>
            <a:r>
              <a:rPr sz="3250" b="0" spc="-15" dirty="0">
                <a:solidFill>
                  <a:srgbClr val="2E377E"/>
                </a:solidFill>
                <a:latin typeface="Georgia"/>
                <a:cs typeface="Georgia"/>
              </a:rPr>
              <a:t> </a:t>
            </a:r>
            <a:r>
              <a:rPr sz="3250" b="0" dirty="0">
                <a:solidFill>
                  <a:srgbClr val="2E377E"/>
                </a:solidFill>
                <a:latin typeface="Georgia"/>
                <a:cs typeface="Georgia"/>
              </a:rPr>
              <a:t>are</a:t>
            </a:r>
            <a:r>
              <a:rPr sz="3250" b="0" spc="-15" dirty="0">
                <a:solidFill>
                  <a:srgbClr val="2E377E"/>
                </a:solidFill>
                <a:latin typeface="Georgia"/>
                <a:cs typeface="Georgia"/>
              </a:rPr>
              <a:t> </a:t>
            </a:r>
            <a:r>
              <a:rPr sz="3250" b="0" spc="70" dirty="0">
                <a:solidFill>
                  <a:srgbClr val="2E377E"/>
                </a:solidFill>
                <a:latin typeface="Georgia"/>
                <a:cs typeface="Georgia"/>
              </a:rPr>
              <a:t>working</a:t>
            </a:r>
            <a:r>
              <a:rPr sz="3250" b="0" spc="-15" dirty="0">
                <a:solidFill>
                  <a:srgbClr val="2E377E"/>
                </a:solidFill>
                <a:latin typeface="Georgia"/>
                <a:cs typeface="Georgia"/>
              </a:rPr>
              <a:t> </a:t>
            </a:r>
            <a:r>
              <a:rPr sz="3250" b="0" dirty="0">
                <a:solidFill>
                  <a:srgbClr val="2E377E"/>
                </a:solidFill>
                <a:latin typeface="Georgia"/>
                <a:cs typeface="Georgia"/>
              </a:rPr>
              <a:t>on</a:t>
            </a:r>
            <a:r>
              <a:rPr sz="3250" b="0" spc="-20" dirty="0">
                <a:solidFill>
                  <a:srgbClr val="2E377E"/>
                </a:solidFill>
                <a:latin typeface="Georgia"/>
                <a:cs typeface="Georgia"/>
              </a:rPr>
              <a:t> </a:t>
            </a:r>
            <a:r>
              <a:rPr sz="3250" b="0" spc="-10" dirty="0">
                <a:solidFill>
                  <a:srgbClr val="2E377E"/>
                </a:solidFill>
                <a:latin typeface="Georgia"/>
                <a:cs typeface="Georgia"/>
              </a:rPr>
              <a:t>single </a:t>
            </a:r>
            <a:r>
              <a:rPr sz="3250" b="0" spc="55" dirty="0">
                <a:solidFill>
                  <a:srgbClr val="2E377E"/>
                </a:solidFill>
                <a:latin typeface="Georgia"/>
                <a:cs typeface="Georgia"/>
              </a:rPr>
              <a:t>kubernetes</a:t>
            </a:r>
            <a:r>
              <a:rPr sz="3250" b="0" spc="-20" dirty="0">
                <a:solidFill>
                  <a:srgbClr val="2E377E"/>
                </a:solidFill>
                <a:latin typeface="Georgia"/>
                <a:cs typeface="Georgia"/>
              </a:rPr>
              <a:t> </a:t>
            </a:r>
            <a:r>
              <a:rPr sz="3250" b="0" spc="-10" dirty="0">
                <a:solidFill>
                  <a:srgbClr val="2E377E"/>
                </a:solidFill>
                <a:latin typeface="Georgia"/>
                <a:cs typeface="Georgia"/>
              </a:rPr>
              <a:t>cluster.</a:t>
            </a:r>
            <a:endParaRPr sz="3250">
              <a:latin typeface="Georgia"/>
              <a:cs typeface="Georgia"/>
            </a:endParaRPr>
          </a:p>
        </p:txBody>
      </p:sp>
      <p:sp>
        <p:nvSpPr>
          <p:cNvPr id="6" name="object 6"/>
          <p:cNvSpPr txBox="1"/>
          <p:nvPr/>
        </p:nvSpPr>
        <p:spPr>
          <a:xfrm>
            <a:off x="3916524" y="6204425"/>
            <a:ext cx="1688464" cy="558800"/>
          </a:xfrm>
          <a:prstGeom prst="rect">
            <a:avLst/>
          </a:prstGeom>
        </p:spPr>
        <p:txBody>
          <a:bodyPr vert="horz" wrap="square" lIns="0" tIns="12700" rIns="0" bIns="0" rtlCol="0">
            <a:spAutoFit/>
          </a:bodyPr>
          <a:lstStyle/>
          <a:p>
            <a:pPr marL="12700">
              <a:lnSpc>
                <a:spcPct val="100000"/>
              </a:lnSpc>
              <a:spcBef>
                <a:spcPts val="100"/>
              </a:spcBef>
            </a:pPr>
            <a:r>
              <a:rPr sz="3500" b="1" spc="165" dirty="0">
                <a:solidFill>
                  <a:srgbClr val="2E377E"/>
                </a:solidFill>
                <a:latin typeface="Times New Roman"/>
                <a:cs typeface="Times New Roman"/>
              </a:rPr>
              <a:t>Team-</a:t>
            </a:r>
            <a:r>
              <a:rPr sz="3500" b="1" spc="-50" dirty="0">
                <a:solidFill>
                  <a:srgbClr val="2E377E"/>
                </a:solidFill>
                <a:latin typeface="Times New Roman"/>
                <a:cs typeface="Times New Roman"/>
              </a:rPr>
              <a:t>A</a:t>
            </a:r>
            <a:endParaRPr sz="3500">
              <a:latin typeface="Times New Roman"/>
              <a:cs typeface="Times New Roman"/>
            </a:endParaRPr>
          </a:p>
        </p:txBody>
      </p:sp>
      <p:sp>
        <p:nvSpPr>
          <p:cNvPr id="7" name="object 7"/>
          <p:cNvSpPr txBox="1"/>
          <p:nvPr/>
        </p:nvSpPr>
        <p:spPr>
          <a:xfrm>
            <a:off x="13632237" y="6899898"/>
            <a:ext cx="1651635" cy="558800"/>
          </a:xfrm>
          <a:prstGeom prst="rect">
            <a:avLst/>
          </a:prstGeom>
        </p:spPr>
        <p:txBody>
          <a:bodyPr vert="horz" wrap="square" lIns="0" tIns="12700" rIns="0" bIns="0" rtlCol="0">
            <a:spAutoFit/>
          </a:bodyPr>
          <a:lstStyle/>
          <a:p>
            <a:pPr marL="12700">
              <a:lnSpc>
                <a:spcPct val="100000"/>
              </a:lnSpc>
              <a:spcBef>
                <a:spcPts val="100"/>
              </a:spcBef>
            </a:pPr>
            <a:r>
              <a:rPr sz="3500" b="1" spc="165" dirty="0">
                <a:solidFill>
                  <a:srgbClr val="2E377E"/>
                </a:solidFill>
                <a:latin typeface="Times New Roman"/>
                <a:cs typeface="Times New Roman"/>
              </a:rPr>
              <a:t>Team-</a:t>
            </a:r>
            <a:r>
              <a:rPr sz="3500" b="1" spc="-50" dirty="0">
                <a:solidFill>
                  <a:srgbClr val="2E377E"/>
                </a:solidFill>
                <a:latin typeface="Times New Roman"/>
                <a:cs typeface="Times New Roman"/>
              </a:rPr>
              <a:t>B</a:t>
            </a:r>
            <a:endParaRPr sz="3500">
              <a:latin typeface="Times New Roman"/>
              <a:cs typeface="Times New Roman"/>
            </a:endParaRPr>
          </a:p>
        </p:txBody>
      </p:sp>
      <p:pic>
        <p:nvPicPr>
          <p:cNvPr id="8" name="object 8"/>
          <p:cNvPicPr/>
          <p:nvPr/>
        </p:nvPicPr>
        <p:blipFill>
          <a:blip r:embed="rId4" cstate="print"/>
          <a:stretch>
            <a:fillRect/>
          </a:stretch>
        </p:blipFill>
        <p:spPr>
          <a:xfrm>
            <a:off x="2615826" y="7938714"/>
            <a:ext cx="1193929" cy="1200803"/>
          </a:xfrm>
          <a:prstGeom prst="rect">
            <a:avLst/>
          </a:prstGeom>
        </p:spPr>
      </p:pic>
      <p:pic>
        <p:nvPicPr>
          <p:cNvPr id="9" name="object 9"/>
          <p:cNvPicPr/>
          <p:nvPr/>
        </p:nvPicPr>
        <p:blipFill>
          <a:blip r:embed="rId4" cstate="print"/>
          <a:stretch>
            <a:fillRect/>
          </a:stretch>
        </p:blipFill>
        <p:spPr>
          <a:xfrm>
            <a:off x="4235691" y="7938714"/>
            <a:ext cx="1193929" cy="1200803"/>
          </a:xfrm>
          <a:prstGeom prst="rect">
            <a:avLst/>
          </a:prstGeom>
        </p:spPr>
      </p:pic>
      <p:pic>
        <p:nvPicPr>
          <p:cNvPr id="10" name="object 10"/>
          <p:cNvPicPr/>
          <p:nvPr/>
        </p:nvPicPr>
        <p:blipFill>
          <a:blip r:embed="rId4" cstate="print"/>
          <a:stretch>
            <a:fillRect/>
          </a:stretch>
        </p:blipFill>
        <p:spPr>
          <a:xfrm>
            <a:off x="5729317" y="7938714"/>
            <a:ext cx="1193929" cy="1200803"/>
          </a:xfrm>
          <a:prstGeom prst="rect">
            <a:avLst/>
          </a:prstGeom>
        </p:spPr>
      </p:pic>
      <p:pic>
        <p:nvPicPr>
          <p:cNvPr id="11" name="object 11"/>
          <p:cNvPicPr/>
          <p:nvPr/>
        </p:nvPicPr>
        <p:blipFill>
          <a:blip r:embed="rId4" cstate="print"/>
          <a:stretch>
            <a:fillRect/>
          </a:stretch>
        </p:blipFill>
        <p:spPr>
          <a:xfrm>
            <a:off x="10994837" y="7938714"/>
            <a:ext cx="1193929" cy="1200803"/>
          </a:xfrm>
          <a:prstGeom prst="rect">
            <a:avLst/>
          </a:prstGeom>
        </p:spPr>
      </p:pic>
      <p:pic>
        <p:nvPicPr>
          <p:cNvPr id="12" name="object 12"/>
          <p:cNvPicPr/>
          <p:nvPr/>
        </p:nvPicPr>
        <p:blipFill>
          <a:blip r:embed="rId4" cstate="print"/>
          <a:stretch>
            <a:fillRect/>
          </a:stretch>
        </p:blipFill>
        <p:spPr>
          <a:xfrm>
            <a:off x="12488463" y="7938714"/>
            <a:ext cx="1193929" cy="1200803"/>
          </a:xfrm>
          <a:prstGeom prst="rect">
            <a:avLst/>
          </a:prstGeom>
        </p:spPr>
      </p:pic>
      <p:pic>
        <p:nvPicPr>
          <p:cNvPr id="13" name="object 13"/>
          <p:cNvPicPr/>
          <p:nvPr/>
        </p:nvPicPr>
        <p:blipFill>
          <a:blip r:embed="rId4" cstate="print"/>
          <a:stretch>
            <a:fillRect/>
          </a:stretch>
        </p:blipFill>
        <p:spPr>
          <a:xfrm>
            <a:off x="14108329" y="7938714"/>
            <a:ext cx="1193929" cy="1200803"/>
          </a:xfrm>
          <a:prstGeom prst="rect">
            <a:avLst/>
          </a:prstGeom>
        </p:spPr>
      </p:pic>
      <p:pic>
        <p:nvPicPr>
          <p:cNvPr id="14" name="object 14"/>
          <p:cNvPicPr/>
          <p:nvPr/>
        </p:nvPicPr>
        <p:blipFill>
          <a:blip r:embed="rId4" cstate="print"/>
          <a:stretch>
            <a:fillRect/>
          </a:stretch>
        </p:blipFill>
        <p:spPr>
          <a:xfrm>
            <a:off x="15601954" y="7938714"/>
            <a:ext cx="1193929" cy="1200803"/>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8010" y="3008997"/>
            <a:ext cx="7118948" cy="3234607"/>
          </a:xfrm>
          <a:prstGeom prst="rect">
            <a:avLst/>
          </a:prstGeom>
        </p:spPr>
      </p:pic>
      <p:pic>
        <p:nvPicPr>
          <p:cNvPr id="3" name="object 3"/>
          <p:cNvPicPr/>
          <p:nvPr/>
        </p:nvPicPr>
        <p:blipFill>
          <a:blip r:embed="rId3" cstate="print"/>
          <a:stretch>
            <a:fillRect/>
          </a:stretch>
        </p:blipFill>
        <p:spPr>
          <a:xfrm>
            <a:off x="11656222" y="2090426"/>
            <a:ext cx="5600699" cy="4714874"/>
          </a:xfrm>
          <a:prstGeom prst="rect">
            <a:avLst/>
          </a:prstGeom>
        </p:spPr>
      </p:pic>
      <p:sp>
        <p:nvSpPr>
          <p:cNvPr id="4" name="object 4"/>
          <p:cNvSpPr txBox="1"/>
          <p:nvPr/>
        </p:nvSpPr>
        <p:spPr>
          <a:xfrm>
            <a:off x="1374084" y="6009598"/>
            <a:ext cx="6355715" cy="2018030"/>
          </a:xfrm>
          <a:prstGeom prst="rect">
            <a:avLst/>
          </a:prstGeom>
        </p:spPr>
        <p:txBody>
          <a:bodyPr vert="horz" wrap="square" lIns="0" tIns="207010" rIns="0" bIns="0" rtlCol="0">
            <a:spAutoFit/>
          </a:bodyPr>
          <a:lstStyle/>
          <a:p>
            <a:pPr marL="417195" algn="ctr">
              <a:lnSpc>
                <a:spcPct val="100000"/>
              </a:lnSpc>
              <a:spcBef>
                <a:spcPts val="1630"/>
              </a:spcBef>
            </a:pPr>
            <a:r>
              <a:rPr sz="3500" b="1" spc="165" dirty="0">
                <a:solidFill>
                  <a:srgbClr val="2E377E"/>
                </a:solidFill>
                <a:latin typeface="Times New Roman"/>
                <a:cs typeface="Times New Roman"/>
              </a:rPr>
              <a:t>Team-</a:t>
            </a:r>
            <a:r>
              <a:rPr sz="3500" b="1" spc="-50" dirty="0">
                <a:solidFill>
                  <a:srgbClr val="2E377E"/>
                </a:solidFill>
                <a:latin typeface="Times New Roman"/>
                <a:cs typeface="Times New Roman"/>
              </a:rPr>
              <a:t>A</a:t>
            </a:r>
            <a:endParaRPr sz="3500">
              <a:latin typeface="Times New Roman"/>
              <a:cs typeface="Times New Roman"/>
            </a:endParaRPr>
          </a:p>
          <a:p>
            <a:pPr marL="12700" marR="5080">
              <a:lnSpc>
                <a:spcPct val="117300"/>
              </a:lnSpc>
              <a:spcBef>
                <a:spcPts val="800"/>
              </a:spcBef>
            </a:pPr>
            <a:r>
              <a:rPr sz="3250" dirty="0">
                <a:solidFill>
                  <a:srgbClr val="E7181F"/>
                </a:solidFill>
                <a:latin typeface="Georgia"/>
                <a:cs typeface="Georgia"/>
              </a:rPr>
              <a:t>We</a:t>
            </a:r>
            <a:r>
              <a:rPr sz="3250" spc="-5" dirty="0">
                <a:solidFill>
                  <a:srgbClr val="E7181F"/>
                </a:solidFill>
                <a:latin typeface="Georgia"/>
                <a:cs typeface="Georgia"/>
              </a:rPr>
              <a:t> </a:t>
            </a:r>
            <a:r>
              <a:rPr sz="3250" dirty="0">
                <a:solidFill>
                  <a:srgbClr val="E7181F"/>
                </a:solidFill>
                <a:latin typeface="Georgia"/>
                <a:cs typeface="Georgia"/>
              </a:rPr>
              <a:t>need</a:t>
            </a:r>
            <a:r>
              <a:rPr sz="3250" spc="-5" dirty="0">
                <a:solidFill>
                  <a:srgbClr val="E7181F"/>
                </a:solidFill>
                <a:latin typeface="Georgia"/>
                <a:cs typeface="Georgia"/>
              </a:rPr>
              <a:t> </a:t>
            </a:r>
            <a:r>
              <a:rPr sz="3250" dirty="0">
                <a:solidFill>
                  <a:srgbClr val="E7181F"/>
                </a:solidFill>
                <a:latin typeface="Georgia"/>
                <a:cs typeface="Georgia"/>
              </a:rPr>
              <a:t>more CPU’s</a:t>
            </a:r>
            <a:r>
              <a:rPr sz="3250" spc="-5" dirty="0">
                <a:solidFill>
                  <a:srgbClr val="E7181F"/>
                </a:solidFill>
                <a:latin typeface="Georgia"/>
                <a:cs typeface="Georgia"/>
              </a:rPr>
              <a:t> </a:t>
            </a:r>
            <a:r>
              <a:rPr sz="3250" spc="645" dirty="0">
                <a:solidFill>
                  <a:srgbClr val="E7181F"/>
                </a:solidFill>
                <a:latin typeface="Georgia"/>
                <a:cs typeface="Georgia"/>
              </a:rPr>
              <a:t>&amp;</a:t>
            </a:r>
            <a:r>
              <a:rPr sz="3250" dirty="0">
                <a:solidFill>
                  <a:srgbClr val="E7181F"/>
                </a:solidFill>
                <a:latin typeface="Georgia"/>
                <a:cs typeface="Georgia"/>
              </a:rPr>
              <a:t> </a:t>
            </a:r>
            <a:r>
              <a:rPr sz="3250" spc="-10" dirty="0">
                <a:solidFill>
                  <a:srgbClr val="E7181F"/>
                </a:solidFill>
                <a:latin typeface="Georgia"/>
                <a:cs typeface="Georgia"/>
              </a:rPr>
              <a:t>Memory, </a:t>
            </a:r>
            <a:r>
              <a:rPr sz="3250" dirty="0">
                <a:solidFill>
                  <a:srgbClr val="E7181F"/>
                </a:solidFill>
                <a:latin typeface="Georgia"/>
                <a:cs typeface="Georgia"/>
              </a:rPr>
              <a:t>Because</a:t>
            </a:r>
            <a:r>
              <a:rPr sz="3250" spc="10" dirty="0">
                <a:solidFill>
                  <a:srgbClr val="E7181F"/>
                </a:solidFill>
                <a:latin typeface="Georgia"/>
                <a:cs typeface="Georgia"/>
              </a:rPr>
              <a:t> </a:t>
            </a:r>
            <a:r>
              <a:rPr sz="3250" spc="135" dirty="0">
                <a:solidFill>
                  <a:srgbClr val="E7181F"/>
                </a:solidFill>
                <a:latin typeface="Georgia"/>
                <a:cs typeface="Georgia"/>
              </a:rPr>
              <a:t>we</a:t>
            </a:r>
            <a:r>
              <a:rPr sz="3250" spc="15" dirty="0">
                <a:solidFill>
                  <a:srgbClr val="E7181F"/>
                </a:solidFill>
                <a:latin typeface="Georgia"/>
                <a:cs typeface="Georgia"/>
              </a:rPr>
              <a:t> </a:t>
            </a:r>
            <a:r>
              <a:rPr sz="3250" spc="65" dirty="0">
                <a:solidFill>
                  <a:srgbClr val="E7181F"/>
                </a:solidFill>
                <a:latin typeface="Georgia"/>
                <a:cs typeface="Georgia"/>
              </a:rPr>
              <a:t>have</a:t>
            </a:r>
            <a:r>
              <a:rPr sz="3250" spc="15" dirty="0">
                <a:solidFill>
                  <a:srgbClr val="E7181F"/>
                </a:solidFill>
                <a:latin typeface="Georgia"/>
                <a:cs typeface="Georgia"/>
              </a:rPr>
              <a:t> </a:t>
            </a:r>
            <a:r>
              <a:rPr sz="3250" dirty="0">
                <a:solidFill>
                  <a:srgbClr val="E7181F"/>
                </a:solidFill>
                <a:latin typeface="Georgia"/>
                <a:cs typeface="Georgia"/>
              </a:rPr>
              <a:t>more</a:t>
            </a:r>
            <a:r>
              <a:rPr sz="3250" spc="10" dirty="0">
                <a:solidFill>
                  <a:srgbClr val="E7181F"/>
                </a:solidFill>
                <a:latin typeface="Georgia"/>
                <a:cs typeface="Georgia"/>
              </a:rPr>
              <a:t> </a:t>
            </a:r>
            <a:r>
              <a:rPr sz="3250" spc="100" dirty="0">
                <a:solidFill>
                  <a:srgbClr val="E7181F"/>
                </a:solidFill>
                <a:latin typeface="Georgia"/>
                <a:cs typeface="Georgia"/>
              </a:rPr>
              <a:t>work</a:t>
            </a:r>
            <a:r>
              <a:rPr sz="3250" spc="15" dirty="0">
                <a:solidFill>
                  <a:srgbClr val="E7181F"/>
                </a:solidFill>
                <a:latin typeface="Georgia"/>
                <a:cs typeface="Georgia"/>
              </a:rPr>
              <a:t> </a:t>
            </a:r>
            <a:r>
              <a:rPr sz="3250" spc="70" dirty="0">
                <a:solidFill>
                  <a:srgbClr val="E7181F"/>
                </a:solidFill>
                <a:latin typeface="Georgia"/>
                <a:cs typeface="Georgia"/>
              </a:rPr>
              <a:t>to</a:t>
            </a:r>
            <a:r>
              <a:rPr sz="3250" spc="15" dirty="0">
                <a:solidFill>
                  <a:srgbClr val="E7181F"/>
                </a:solidFill>
                <a:latin typeface="Georgia"/>
                <a:cs typeface="Georgia"/>
              </a:rPr>
              <a:t> </a:t>
            </a:r>
            <a:r>
              <a:rPr sz="3250" spc="-25" dirty="0">
                <a:solidFill>
                  <a:srgbClr val="E7181F"/>
                </a:solidFill>
                <a:latin typeface="Georgia"/>
                <a:cs typeface="Georgia"/>
              </a:rPr>
              <a:t>do</a:t>
            </a:r>
            <a:endParaRPr sz="3250">
              <a:latin typeface="Georgia"/>
              <a:cs typeface="Georgia"/>
            </a:endParaRPr>
          </a:p>
        </p:txBody>
      </p:sp>
      <p:sp>
        <p:nvSpPr>
          <p:cNvPr id="5" name="object 5"/>
          <p:cNvSpPr txBox="1"/>
          <p:nvPr/>
        </p:nvSpPr>
        <p:spPr>
          <a:xfrm>
            <a:off x="13632237" y="6899898"/>
            <a:ext cx="1651635" cy="558800"/>
          </a:xfrm>
          <a:prstGeom prst="rect">
            <a:avLst/>
          </a:prstGeom>
        </p:spPr>
        <p:txBody>
          <a:bodyPr vert="horz" wrap="square" lIns="0" tIns="12700" rIns="0" bIns="0" rtlCol="0">
            <a:spAutoFit/>
          </a:bodyPr>
          <a:lstStyle/>
          <a:p>
            <a:pPr marL="12700">
              <a:lnSpc>
                <a:spcPct val="100000"/>
              </a:lnSpc>
              <a:spcBef>
                <a:spcPts val="100"/>
              </a:spcBef>
            </a:pPr>
            <a:r>
              <a:rPr sz="3500" b="1" spc="165" dirty="0">
                <a:solidFill>
                  <a:srgbClr val="2E377E"/>
                </a:solidFill>
                <a:latin typeface="Times New Roman"/>
                <a:cs typeface="Times New Roman"/>
              </a:rPr>
              <a:t>Team-</a:t>
            </a:r>
            <a:r>
              <a:rPr sz="3500" b="1" spc="-50" dirty="0">
                <a:solidFill>
                  <a:srgbClr val="2E377E"/>
                </a:solidFill>
                <a:latin typeface="Times New Roman"/>
                <a:cs typeface="Times New Roman"/>
              </a:rPr>
              <a:t>B</a:t>
            </a:r>
            <a:endParaRPr sz="3500">
              <a:latin typeface="Times New Roman"/>
              <a:cs typeface="Times New Roman"/>
            </a:endParaRPr>
          </a:p>
        </p:txBody>
      </p:sp>
      <p:sp>
        <p:nvSpPr>
          <p:cNvPr id="6" name="object 6"/>
          <p:cNvSpPr txBox="1">
            <a:spLocks noGrp="1"/>
          </p:cNvSpPr>
          <p:nvPr>
            <p:ph type="title"/>
          </p:nvPr>
        </p:nvSpPr>
        <p:spPr>
          <a:xfrm>
            <a:off x="1330282" y="878853"/>
            <a:ext cx="15325090" cy="1187450"/>
          </a:xfrm>
          <a:prstGeom prst="rect">
            <a:avLst/>
          </a:prstGeom>
        </p:spPr>
        <p:txBody>
          <a:bodyPr vert="horz" wrap="square" lIns="0" tIns="11430" rIns="0" bIns="0" rtlCol="0">
            <a:spAutoFit/>
          </a:bodyPr>
          <a:lstStyle/>
          <a:p>
            <a:pPr marL="12700" marR="5080">
              <a:lnSpc>
                <a:spcPct val="117300"/>
              </a:lnSpc>
              <a:spcBef>
                <a:spcPts val="90"/>
              </a:spcBef>
            </a:pPr>
            <a:r>
              <a:rPr sz="3250" b="0" dirty="0">
                <a:solidFill>
                  <a:srgbClr val="2E377E"/>
                </a:solidFill>
                <a:latin typeface="Georgia"/>
                <a:cs typeface="Georgia"/>
              </a:rPr>
              <a:t>In</a:t>
            </a:r>
            <a:r>
              <a:rPr sz="3250" b="0" spc="45" dirty="0">
                <a:solidFill>
                  <a:srgbClr val="2E377E"/>
                </a:solidFill>
                <a:latin typeface="Georgia"/>
                <a:cs typeface="Georgia"/>
              </a:rPr>
              <a:t> </a:t>
            </a:r>
            <a:r>
              <a:rPr sz="3250" b="0" dirty="0">
                <a:solidFill>
                  <a:srgbClr val="2E377E"/>
                </a:solidFill>
                <a:latin typeface="Georgia"/>
                <a:cs typeface="Georgia"/>
              </a:rPr>
              <a:t>this</a:t>
            </a:r>
            <a:r>
              <a:rPr sz="3250" b="0" spc="50" dirty="0">
                <a:solidFill>
                  <a:srgbClr val="2E377E"/>
                </a:solidFill>
                <a:latin typeface="Georgia"/>
                <a:cs typeface="Georgia"/>
              </a:rPr>
              <a:t> </a:t>
            </a:r>
            <a:r>
              <a:rPr sz="3250" b="0" spc="45" dirty="0">
                <a:solidFill>
                  <a:srgbClr val="2E377E"/>
                </a:solidFill>
                <a:latin typeface="Georgia"/>
                <a:cs typeface="Georgia"/>
              </a:rPr>
              <a:t>situation</a:t>
            </a:r>
            <a:r>
              <a:rPr sz="3250" b="0" spc="40" dirty="0">
                <a:solidFill>
                  <a:srgbClr val="2E377E"/>
                </a:solidFill>
                <a:latin typeface="Georgia"/>
                <a:cs typeface="Georgia"/>
              </a:rPr>
              <a:t> </a:t>
            </a:r>
            <a:r>
              <a:rPr sz="3250" b="0" dirty="0">
                <a:solidFill>
                  <a:srgbClr val="2E377E"/>
                </a:solidFill>
                <a:latin typeface="Georgia"/>
                <a:cs typeface="Georgia"/>
              </a:rPr>
              <a:t>Team-A</a:t>
            </a:r>
            <a:r>
              <a:rPr sz="3250" b="0" spc="50" dirty="0">
                <a:solidFill>
                  <a:srgbClr val="2E377E"/>
                </a:solidFill>
                <a:latin typeface="Georgia"/>
                <a:cs typeface="Georgia"/>
              </a:rPr>
              <a:t> </a:t>
            </a:r>
            <a:r>
              <a:rPr sz="3250" b="0" dirty="0">
                <a:solidFill>
                  <a:srgbClr val="2E377E"/>
                </a:solidFill>
                <a:latin typeface="Georgia"/>
                <a:cs typeface="Georgia"/>
              </a:rPr>
              <a:t>needs</a:t>
            </a:r>
            <a:r>
              <a:rPr sz="3250" b="0" spc="50" dirty="0">
                <a:solidFill>
                  <a:srgbClr val="2E377E"/>
                </a:solidFill>
                <a:latin typeface="Georgia"/>
                <a:cs typeface="Georgia"/>
              </a:rPr>
              <a:t> </a:t>
            </a:r>
            <a:r>
              <a:rPr sz="3250" b="0" dirty="0">
                <a:solidFill>
                  <a:srgbClr val="2E377E"/>
                </a:solidFill>
                <a:latin typeface="Georgia"/>
                <a:cs typeface="Georgia"/>
              </a:rPr>
              <a:t>more</a:t>
            </a:r>
            <a:r>
              <a:rPr sz="3250" b="0" spc="45" dirty="0">
                <a:solidFill>
                  <a:srgbClr val="2E377E"/>
                </a:solidFill>
                <a:latin typeface="Georgia"/>
                <a:cs typeface="Georgia"/>
              </a:rPr>
              <a:t> </a:t>
            </a:r>
            <a:r>
              <a:rPr sz="3250" b="0" dirty="0">
                <a:solidFill>
                  <a:srgbClr val="2E377E"/>
                </a:solidFill>
                <a:latin typeface="Georgia"/>
                <a:cs typeface="Georgia"/>
              </a:rPr>
              <a:t>CPU’s</a:t>
            </a:r>
            <a:r>
              <a:rPr sz="3250" b="0" spc="45" dirty="0">
                <a:solidFill>
                  <a:srgbClr val="2E377E"/>
                </a:solidFill>
                <a:latin typeface="Georgia"/>
                <a:cs typeface="Georgia"/>
              </a:rPr>
              <a:t> </a:t>
            </a:r>
            <a:r>
              <a:rPr sz="3250" b="0" spc="645" dirty="0">
                <a:solidFill>
                  <a:srgbClr val="2E377E"/>
                </a:solidFill>
                <a:latin typeface="Georgia"/>
                <a:cs typeface="Georgia"/>
              </a:rPr>
              <a:t>&amp;</a:t>
            </a:r>
            <a:r>
              <a:rPr sz="3250" b="0" spc="45" dirty="0">
                <a:solidFill>
                  <a:srgbClr val="2E377E"/>
                </a:solidFill>
                <a:latin typeface="Georgia"/>
                <a:cs typeface="Georgia"/>
              </a:rPr>
              <a:t> </a:t>
            </a:r>
            <a:r>
              <a:rPr sz="3250" b="0" dirty="0">
                <a:solidFill>
                  <a:srgbClr val="2E377E"/>
                </a:solidFill>
                <a:latin typeface="Georgia"/>
                <a:cs typeface="Georgia"/>
              </a:rPr>
              <a:t>Memory</a:t>
            </a:r>
            <a:r>
              <a:rPr sz="3250" b="0" spc="50" dirty="0">
                <a:solidFill>
                  <a:srgbClr val="2E377E"/>
                </a:solidFill>
                <a:latin typeface="Georgia"/>
                <a:cs typeface="Georgia"/>
              </a:rPr>
              <a:t> </a:t>
            </a:r>
            <a:r>
              <a:rPr sz="3250" b="0" dirty="0">
                <a:solidFill>
                  <a:srgbClr val="2E377E"/>
                </a:solidFill>
                <a:latin typeface="Georgia"/>
                <a:cs typeface="Georgia"/>
              </a:rPr>
              <a:t>because</a:t>
            </a:r>
            <a:r>
              <a:rPr sz="3250" b="0" spc="45" dirty="0">
                <a:solidFill>
                  <a:srgbClr val="2E377E"/>
                </a:solidFill>
                <a:latin typeface="Georgia"/>
                <a:cs typeface="Georgia"/>
              </a:rPr>
              <a:t> </a:t>
            </a:r>
            <a:r>
              <a:rPr sz="3250" b="0" dirty="0">
                <a:solidFill>
                  <a:srgbClr val="2E377E"/>
                </a:solidFill>
                <a:latin typeface="Georgia"/>
                <a:cs typeface="Georgia"/>
              </a:rPr>
              <a:t>of</a:t>
            </a:r>
            <a:r>
              <a:rPr sz="3250" b="0" spc="45" dirty="0">
                <a:solidFill>
                  <a:srgbClr val="2E377E"/>
                </a:solidFill>
                <a:latin typeface="Georgia"/>
                <a:cs typeface="Georgia"/>
              </a:rPr>
              <a:t> </a:t>
            </a:r>
            <a:r>
              <a:rPr sz="3250" b="0" spc="95" dirty="0">
                <a:solidFill>
                  <a:srgbClr val="2E377E"/>
                </a:solidFill>
                <a:latin typeface="Georgia"/>
                <a:cs typeface="Georgia"/>
              </a:rPr>
              <a:t>heavy</a:t>
            </a:r>
            <a:r>
              <a:rPr sz="3250" b="0" spc="45" dirty="0">
                <a:solidFill>
                  <a:srgbClr val="2E377E"/>
                </a:solidFill>
                <a:latin typeface="Georgia"/>
                <a:cs typeface="Georgia"/>
              </a:rPr>
              <a:t> workload </a:t>
            </a:r>
            <a:r>
              <a:rPr sz="3250" b="0" spc="-10" dirty="0">
                <a:solidFill>
                  <a:srgbClr val="2E377E"/>
                </a:solidFill>
                <a:latin typeface="Georgia"/>
                <a:cs typeface="Georgia"/>
              </a:rPr>
              <a:t>tasks.</a:t>
            </a:r>
            <a:endParaRPr sz="3250">
              <a:latin typeface="Georgia"/>
              <a:cs typeface="Georgia"/>
            </a:endParaRPr>
          </a:p>
        </p:txBody>
      </p:sp>
      <p:pic>
        <p:nvPicPr>
          <p:cNvPr id="7" name="object 7"/>
          <p:cNvPicPr/>
          <p:nvPr/>
        </p:nvPicPr>
        <p:blipFill>
          <a:blip r:embed="rId4" cstate="print"/>
          <a:stretch>
            <a:fillRect/>
          </a:stretch>
        </p:blipFill>
        <p:spPr>
          <a:xfrm>
            <a:off x="1122200" y="8364427"/>
            <a:ext cx="1193929" cy="1200803"/>
          </a:xfrm>
          <a:prstGeom prst="rect">
            <a:avLst/>
          </a:prstGeom>
        </p:spPr>
      </p:pic>
      <p:pic>
        <p:nvPicPr>
          <p:cNvPr id="8" name="object 8"/>
          <p:cNvPicPr/>
          <p:nvPr/>
        </p:nvPicPr>
        <p:blipFill>
          <a:blip r:embed="rId4" cstate="print"/>
          <a:stretch>
            <a:fillRect/>
          </a:stretch>
        </p:blipFill>
        <p:spPr>
          <a:xfrm>
            <a:off x="2615826" y="8364427"/>
            <a:ext cx="1193929" cy="1200803"/>
          </a:xfrm>
          <a:prstGeom prst="rect">
            <a:avLst/>
          </a:prstGeom>
        </p:spPr>
      </p:pic>
      <p:pic>
        <p:nvPicPr>
          <p:cNvPr id="9" name="object 9"/>
          <p:cNvPicPr/>
          <p:nvPr/>
        </p:nvPicPr>
        <p:blipFill>
          <a:blip r:embed="rId4" cstate="print"/>
          <a:stretch>
            <a:fillRect/>
          </a:stretch>
        </p:blipFill>
        <p:spPr>
          <a:xfrm>
            <a:off x="4235691" y="8364427"/>
            <a:ext cx="1193929" cy="1200803"/>
          </a:xfrm>
          <a:prstGeom prst="rect">
            <a:avLst/>
          </a:prstGeom>
        </p:spPr>
      </p:pic>
      <p:pic>
        <p:nvPicPr>
          <p:cNvPr id="10" name="object 10"/>
          <p:cNvPicPr/>
          <p:nvPr/>
        </p:nvPicPr>
        <p:blipFill>
          <a:blip r:embed="rId4" cstate="print"/>
          <a:stretch>
            <a:fillRect/>
          </a:stretch>
        </p:blipFill>
        <p:spPr>
          <a:xfrm>
            <a:off x="5729317" y="8364427"/>
            <a:ext cx="1193929" cy="1200803"/>
          </a:xfrm>
          <a:prstGeom prst="rect">
            <a:avLst/>
          </a:prstGeom>
        </p:spPr>
      </p:pic>
      <p:pic>
        <p:nvPicPr>
          <p:cNvPr id="11" name="object 11"/>
          <p:cNvPicPr/>
          <p:nvPr/>
        </p:nvPicPr>
        <p:blipFill>
          <a:blip r:embed="rId4" cstate="print"/>
          <a:stretch>
            <a:fillRect/>
          </a:stretch>
        </p:blipFill>
        <p:spPr>
          <a:xfrm>
            <a:off x="11544327" y="8364427"/>
            <a:ext cx="1193928" cy="1200803"/>
          </a:xfrm>
          <a:prstGeom prst="rect">
            <a:avLst/>
          </a:prstGeom>
        </p:spPr>
      </p:pic>
      <p:pic>
        <p:nvPicPr>
          <p:cNvPr id="12" name="object 12"/>
          <p:cNvPicPr/>
          <p:nvPr/>
        </p:nvPicPr>
        <p:blipFill>
          <a:blip r:embed="rId4" cstate="print"/>
          <a:stretch>
            <a:fillRect/>
          </a:stretch>
        </p:blipFill>
        <p:spPr>
          <a:xfrm>
            <a:off x="13037954" y="8364427"/>
            <a:ext cx="1193929" cy="1200803"/>
          </a:xfrm>
          <a:prstGeom prst="rect">
            <a:avLst/>
          </a:prstGeom>
        </p:spPr>
      </p:pic>
      <p:pic>
        <p:nvPicPr>
          <p:cNvPr id="13" name="object 13"/>
          <p:cNvPicPr/>
          <p:nvPr/>
        </p:nvPicPr>
        <p:blipFill>
          <a:blip r:embed="rId4" cstate="print"/>
          <a:stretch>
            <a:fillRect/>
          </a:stretch>
        </p:blipFill>
        <p:spPr>
          <a:xfrm>
            <a:off x="14657818" y="8364427"/>
            <a:ext cx="1193929" cy="1200803"/>
          </a:xfrm>
          <a:prstGeom prst="rect">
            <a:avLst/>
          </a:prstGeom>
        </p:spPr>
      </p:pic>
      <p:pic>
        <p:nvPicPr>
          <p:cNvPr id="14" name="object 14"/>
          <p:cNvPicPr/>
          <p:nvPr/>
        </p:nvPicPr>
        <p:blipFill>
          <a:blip r:embed="rId4" cstate="print"/>
          <a:stretch>
            <a:fillRect/>
          </a:stretch>
        </p:blipFill>
        <p:spPr>
          <a:xfrm>
            <a:off x="16151446" y="8364427"/>
            <a:ext cx="1193929" cy="1200803"/>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37037" y="2090425"/>
            <a:ext cx="6029324" cy="6029324"/>
          </a:xfrm>
          <a:prstGeom prst="rect">
            <a:avLst/>
          </a:prstGeom>
        </p:spPr>
      </p:pic>
      <p:sp>
        <p:nvSpPr>
          <p:cNvPr id="3" name="object 3"/>
          <p:cNvSpPr txBox="1"/>
          <p:nvPr/>
        </p:nvSpPr>
        <p:spPr>
          <a:xfrm>
            <a:off x="6802801" y="3169177"/>
            <a:ext cx="1688464" cy="558800"/>
          </a:xfrm>
          <a:prstGeom prst="rect">
            <a:avLst/>
          </a:prstGeom>
        </p:spPr>
        <p:txBody>
          <a:bodyPr vert="horz" wrap="square" lIns="0" tIns="12700" rIns="0" bIns="0" rtlCol="0">
            <a:spAutoFit/>
          </a:bodyPr>
          <a:lstStyle/>
          <a:p>
            <a:pPr marL="12700">
              <a:lnSpc>
                <a:spcPct val="100000"/>
              </a:lnSpc>
              <a:spcBef>
                <a:spcPts val="100"/>
              </a:spcBef>
            </a:pPr>
            <a:r>
              <a:rPr sz="3500" b="1" spc="165" dirty="0">
                <a:solidFill>
                  <a:srgbClr val="E7181F"/>
                </a:solidFill>
                <a:latin typeface="Times New Roman"/>
                <a:cs typeface="Times New Roman"/>
              </a:rPr>
              <a:t>Team-</a:t>
            </a:r>
            <a:r>
              <a:rPr sz="3500" b="1" spc="-50" dirty="0">
                <a:solidFill>
                  <a:srgbClr val="E7181F"/>
                </a:solidFill>
                <a:latin typeface="Times New Roman"/>
                <a:cs typeface="Times New Roman"/>
              </a:rPr>
              <a:t>A</a:t>
            </a:r>
            <a:endParaRPr sz="3500">
              <a:latin typeface="Times New Roman"/>
              <a:cs typeface="Times New Roman"/>
            </a:endParaRPr>
          </a:p>
        </p:txBody>
      </p:sp>
      <p:sp>
        <p:nvSpPr>
          <p:cNvPr id="4" name="object 4"/>
          <p:cNvSpPr txBox="1">
            <a:spLocks noGrp="1"/>
          </p:cNvSpPr>
          <p:nvPr>
            <p:ph type="title"/>
          </p:nvPr>
        </p:nvSpPr>
        <p:spPr>
          <a:xfrm>
            <a:off x="1330282" y="878852"/>
            <a:ext cx="14468475" cy="1187450"/>
          </a:xfrm>
          <a:prstGeom prst="rect">
            <a:avLst/>
          </a:prstGeom>
        </p:spPr>
        <p:txBody>
          <a:bodyPr vert="horz" wrap="square" lIns="0" tIns="11430" rIns="0" bIns="0" rtlCol="0">
            <a:spAutoFit/>
          </a:bodyPr>
          <a:lstStyle/>
          <a:p>
            <a:pPr marL="12700" marR="5080">
              <a:lnSpc>
                <a:spcPct val="117300"/>
              </a:lnSpc>
              <a:spcBef>
                <a:spcPts val="90"/>
              </a:spcBef>
            </a:pPr>
            <a:r>
              <a:rPr sz="3250" b="0" dirty="0">
                <a:solidFill>
                  <a:srgbClr val="2E377E"/>
                </a:solidFill>
                <a:latin typeface="Georgia"/>
                <a:cs typeface="Georgia"/>
              </a:rPr>
              <a:t>If</a:t>
            </a:r>
            <a:r>
              <a:rPr sz="3250" b="0" spc="-5" dirty="0">
                <a:solidFill>
                  <a:srgbClr val="2E377E"/>
                </a:solidFill>
                <a:latin typeface="Georgia"/>
                <a:cs typeface="Georgia"/>
              </a:rPr>
              <a:t> </a:t>
            </a:r>
            <a:r>
              <a:rPr sz="3250" b="0" spc="65" dirty="0">
                <a:solidFill>
                  <a:srgbClr val="2E377E"/>
                </a:solidFill>
                <a:latin typeface="Georgia"/>
                <a:cs typeface="Georgia"/>
              </a:rPr>
              <a:t>the</a:t>
            </a:r>
            <a:r>
              <a:rPr sz="3250" b="0" dirty="0">
                <a:solidFill>
                  <a:srgbClr val="2E377E"/>
                </a:solidFill>
                <a:latin typeface="Georgia"/>
                <a:cs typeface="Georgia"/>
              </a:rPr>
              <a:t> CPUs</a:t>
            </a:r>
            <a:r>
              <a:rPr sz="3250" b="0" spc="5" dirty="0">
                <a:solidFill>
                  <a:srgbClr val="2E377E"/>
                </a:solidFill>
                <a:latin typeface="Georgia"/>
                <a:cs typeface="Georgia"/>
              </a:rPr>
              <a:t> </a:t>
            </a:r>
            <a:r>
              <a:rPr sz="3250" b="0" dirty="0">
                <a:solidFill>
                  <a:srgbClr val="2E377E"/>
                </a:solidFill>
                <a:latin typeface="Georgia"/>
                <a:cs typeface="Georgia"/>
              </a:rPr>
              <a:t>and</a:t>
            </a:r>
            <a:r>
              <a:rPr sz="3250" b="0" spc="-5" dirty="0">
                <a:solidFill>
                  <a:srgbClr val="2E377E"/>
                </a:solidFill>
                <a:latin typeface="Georgia"/>
                <a:cs typeface="Georgia"/>
              </a:rPr>
              <a:t> </a:t>
            </a:r>
            <a:r>
              <a:rPr sz="3250" b="0" spc="55" dirty="0">
                <a:solidFill>
                  <a:srgbClr val="2E377E"/>
                </a:solidFill>
                <a:latin typeface="Georgia"/>
                <a:cs typeface="Georgia"/>
              </a:rPr>
              <a:t>other</a:t>
            </a:r>
            <a:r>
              <a:rPr sz="3250" b="0" dirty="0">
                <a:solidFill>
                  <a:srgbClr val="2E377E"/>
                </a:solidFill>
                <a:latin typeface="Georgia"/>
                <a:cs typeface="Georgia"/>
              </a:rPr>
              <a:t> </a:t>
            </a:r>
            <a:r>
              <a:rPr sz="3250" b="0" spc="50" dirty="0">
                <a:solidFill>
                  <a:srgbClr val="2E377E"/>
                </a:solidFill>
                <a:latin typeface="Georgia"/>
                <a:cs typeface="Georgia"/>
              </a:rPr>
              <a:t>resources</a:t>
            </a:r>
            <a:r>
              <a:rPr sz="3250" b="0" dirty="0">
                <a:solidFill>
                  <a:srgbClr val="2E377E"/>
                </a:solidFill>
                <a:latin typeface="Georgia"/>
                <a:cs typeface="Georgia"/>
              </a:rPr>
              <a:t> go </a:t>
            </a:r>
            <a:r>
              <a:rPr sz="3250" b="0" spc="70" dirty="0">
                <a:solidFill>
                  <a:srgbClr val="2E377E"/>
                </a:solidFill>
                <a:latin typeface="Georgia"/>
                <a:cs typeface="Georgia"/>
              </a:rPr>
              <a:t>to</a:t>
            </a:r>
            <a:r>
              <a:rPr sz="3250" b="0" dirty="0">
                <a:solidFill>
                  <a:srgbClr val="2E377E"/>
                </a:solidFill>
                <a:latin typeface="Georgia"/>
                <a:cs typeface="Georgia"/>
              </a:rPr>
              <a:t> another </a:t>
            </a:r>
            <a:r>
              <a:rPr sz="3250" b="0" spc="50" dirty="0">
                <a:solidFill>
                  <a:srgbClr val="2E377E"/>
                </a:solidFill>
                <a:latin typeface="Georgia"/>
                <a:cs typeface="Georgia"/>
              </a:rPr>
              <a:t>team</a:t>
            </a:r>
            <a:r>
              <a:rPr sz="3250" b="0" spc="-5" dirty="0">
                <a:solidFill>
                  <a:srgbClr val="2E377E"/>
                </a:solidFill>
                <a:latin typeface="Georgia"/>
                <a:cs typeface="Georgia"/>
              </a:rPr>
              <a:t> </a:t>
            </a:r>
            <a:r>
              <a:rPr sz="3250" b="0" spc="55" dirty="0">
                <a:solidFill>
                  <a:srgbClr val="2E377E"/>
                </a:solidFill>
                <a:latin typeface="Georgia"/>
                <a:cs typeface="Georgia"/>
              </a:rPr>
              <a:t>then</a:t>
            </a:r>
            <a:r>
              <a:rPr sz="3250" b="0" dirty="0">
                <a:solidFill>
                  <a:srgbClr val="2E377E"/>
                </a:solidFill>
                <a:latin typeface="Georgia"/>
                <a:cs typeface="Georgia"/>
              </a:rPr>
              <a:t> </a:t>
            </a:r>
            <a:r>
              <a:rPr sz="3250" b="0" spc="60" dirty="0">
                <a:solidFill>
                  <a:srgbClr val="2E377E"/>
                </a:solidFill>
                <a:latin typeface="Georgia"/>
                <a:cs typeface="Georgia"/>
              </a:rPr>
              <a:t>it</a:t>
            </a:r>
            <a:r>
              <a:rPr sz="3250" b="0" dirty="0">
                <a:solidFill>
                  <a:srgbClr val="2E377E"/>
                </a:solidFill>
                <a:latin typeface="Georgia"/>
                <a:cs typeface="Georgia"/>
              </a:rPr>
              <a:t> </a:t>
            </a:r>
            <a:r>
              <a:rPr sz="3250" b="0" spc="50" dirty="0">
                <a:solidFill>
                  <a:srgbClr val="2E377E"/>
                </a:solidFill>
                <a:latin typeface="Georgia"/>
                <a:cs typeface="Georgia"/>
              </a:rPr>
              <a:t>might</a:t>
            </a:r>
            <a:r>
              <a:rPr sz="3250" b="0" dirty="0">
                <a:solidFill>
                  <a:srgbClr val="2E377E"/>
                </a:solidFill>
                <a:latin typeface="Georgia"/>
                <a:cs typeface="Georgia"/>
              </a:rPr>
              <a:t> increase </a:t>
            </a:r>
            <a:r>
              <a:rPr sz="3250" b="0" spc="40" dirty="0">
                <a:solidFill>
                  <a:srgbClr val="2E377E"/>
                </a:solidFill>
                <a:latin typeface="Georgia"/>
                <a:cs typeface="Georgia"/>
              </a:rPr>
              <a:t>the </a:t>
            </a:r>
            <a:r>
              <a:rPr sz="3250" b="0" dirty="0">
                <a:solidFill>
                  <a:srgbClr val="2E377E"/>
                </a:solidFill>
                <a:latin typeface="Georgia"/>
                <a:cs typeface="Georgia"/>
              </a:rPr>
              <a:t>chance</a:t>
            </a:r>
            <a:r>
              <a:rPr sz="3250" b="0" spc="105" dirty="0">
                <a:solidFill>
                  <a:srgbClr val="2E377E"/>
                </a:solidFill>
                <a:latin typeface="Georgia"/>
                <a:cs typeface="Georgia"/>
              </a:rPr>
              <a:t> </a:t>
            </a:r>
            <a:r>
              <a:rPr sz="3250" b="0" dirty="0">
                <a:solidFill>
                  <a:srgbClr val="2E377E"/>
                </a:solidFill>
                <a:latin typeface="Georgia"/>
                <a:cs typeface="Georgia"/>
              </a:rPr>
              <a:t>of</a:t>
            </a:r>
            <a:r>
              <a:rPr sz="3250" b="0" spc="120" dirty="0">
                <a:solidFill>
                  <a:srgbClr val="2E377E"/>
                </a:solidFill>
                <a:latin typeface="Georgia"/>
                <a:cs typeface="Georgia"/>
              </a:rPr>
              <a:t> </a:t>
            </a:r>
            <a:r>
              <a:rPr sz="3250" b="0" spc="-10" dirty="0">
                <a:solidFill>
                  <a:srgbClr val="2E377E"/>
                </a:solidFill>
                <a:latin typeface="Georgia"/>
                <a:cs typeface="Georgia"/>
              </a:rPr>
              <a:t>failure.</a:t>
            </a:r>
            <a:endParaRPr sz="3250">
              <a:latin typeface="Georgia"/>
              <a:cs typeface="Georgia"/>
            </a:endParaRPr>
          </a:p>
        </p:txBody>
      </p:sp>
      <p:sp>
        <p:nvSpPr>
          <p:cNvPr id="5" name="object 5"/>
          <p:cNvSpPr txBox="1"/>
          <p:nvPr/>
        </p:nvSpPr>
        <p:spPr>
          <a:xfrm>
            <a:off x="9767050" y="6518642"/>
            <a:ext cx="1651635" cy="558800"/>
          </a:xfrm>
          <a:prstGeom prst="rect">
            <a:avLst/>
          </a:prstGeom>
        </p:spPr>
        <p:txBody>
          <a:bodyPr vert="horz" wrap="square" lIns="0" tIns="12700" rIns="0" bIns="0" rtlCol="0">
            <a:spAutoFit/>
          </a:bodyPr>
          <a:lstStyle/>
          <a:p>
            <a:pPr marL="12700">
              <a:lnSpc>
                <a:spcPct val="100000"/>
              </a:lnSpc>
              <a:spcBef>
                <a:spcPts val="100"/>
              </a:spcBef>
            </a:pPr>
            <a:r>
              <a:rPr sz="3500" b="1" spc="165" dirty="0">
                <a:solidFill>
                  <a:srgbClr val="E7181F"/>
                </a:solidFill>
                <a:latin typeface="Times New Roman"/>
                <a:cs typeface="Times New Roman"/>
              </a:rPr>
              <a:t>Team-</a:t>
            </a:r>
            <a:r>
              <a:rPr sz="3500" b="1" spc="-50" dirty="0">
                <a:solidFill>
                  <a:srgbClr val="E7181F"/>
                </a:solidFill>
                <a:latin typeface="Times New Roman"/>
                <a:cs typeface="Times New Roman"/>
              </a:rPr>
              <a:t>B</a:t>
            </a:r>
            <a:endParaRPr sz="3500">
              <a:latin typeface="Times New Roman"/>
              <a:cs typeface="Times New Roman"/>
            </a:endParaRPr>
          </a:p>
        </p:txBody>
      </p:sp>
      <p:sp>
        <p:nvSpPr>
          <p:cNvPr id="6" name="object 6"/>
          <p:cNvSpPr txBox="1"/>
          <p:nvPr/>
        </p:nvSpPr>
        <p:spPr>
          <a:xfrm>
            <a:off x="1644564" y="8455700"/>
            <a:ext cx="14889480" cy="1187450"/>
          </a:xfrm>
          <a:prstGeom prst="rect">
            <a:avLst/>
          </a:prstGeom>
        </p:spPr>
        <p:txBody>
          <a:bodyPr vert="horz" wrap="square" lIns="0" tIns="11430" rIns="0" bIns="0" rtlCol="0">
            <a:spAutoFit/>
          </a:bodyPr>
          <a:lstStyle/>
          <a:p>
            <a:pPr marL="12700" marR="5080">
              <a:lnSpc>
                <a:spcPct val="117300"/>
              </a:lnSpc>
              <a:spcBef>
                <a:spcPts val="90"/>
              </a:spcBef>
            </a:pPr>
            <a:r>
              <a:rPr sz="3250" dirty="0">
                <a:solidFill>
                  <a:srgbClr val="2E377E"/>
                </a:solidFill>
                <a:latin typeface="Georgia"/>
                <a:cs typeface="Georgia"/>
              </a:rPr>
              <a:t>To</a:t>
            </a:r>
            <a:r>
              <a:rPr sz="3250" spc="60" dirty="0">
                <a:solidFill>
                  <a:srgbClr val="2E377E"/>
                </a:solidFill>
                <a:latin typeface="Georgia"/>
                <a:cs typeface="Georgia"/>
              </a:rPr>
              <a:t> resolve </a:t>
            </a:r>
            <a:r>
              <a:rPr sz="3250" dirty="0">
                <a:solidFill>
                  <a:srgbClr val="2E377E"/>
                </a:solidFill>
                <a:latin typeface="Georgia"/>
                <a:cs typeface="Georgia"/>
              </a:rPr>
              <a:t>this</a:t>
            </a:r>
            <a:r>
              <a:rPr sz="3250" spc="65" dirty="0">
                <a:solidFill>
                  <a:srgbClr val="2E377E"/>
                </a:solidFill>
                <a:latin typeface="Georgia"/>
                <a:cs typeface="Georgia"/>
              </a:rPr>
              <a:t> </a:t>
            </a:r>
            <a:r>
              <a:rPr sz="3250" dirty="0">
                <a:solidFill>
                  <a:srgbClr val="2E377E"/>
                </a:solidFill>
                <a:latin typeface="Georgia"/>
                <a:cs typeface="Georgia"/>
              </a:rPr>
              <a:t>issue,</a:t>
            </a:r>
            <a:r>
              <a:rPr sz="3250" spc="55" dirty="0">
                <a:solidFill>
                  <a:srgbClr val="2E377E"/>
                </a:solidFill>
                <a:latin typeface="Georgia"/>
                <a:cs typeface="Georgia"/>
              </a:rPr>
              <a:t> </a:t>
            </a:r>
            <a:r>
              <a:rPr sz="3250" spc="135" dirty="0">
                <a:solidFill>
                  <a:srgbClr val="2E377E"/>
                </a:solidFill>
                <a:latin typeface="Georgia"/>
                <a:cs typeface="Georgia"/>
              </a:rPr>
              <a:t>we</a:t>
            </a:r>
            <a:r>
              <a:rPr sz="3250" spc="60" dirty="0">
                <a:solidFill>
                  <a:srgbClr val="2E377E"/>
                </a:solidFill>
                <a:latin typeface="Georgia"/>
                <a:cs typeface="Georgia"/>
              </a:rPr>
              <a:t> </a:t>
            </a:r>
            <a:r>
              <a:rPr sz="3250" dirty="0">
                <a:solidFill>
                  <a:srgbClr val="2E377E"/>
                </a:solidFill>
                <a:latin typeface="Georgia"/>
                <a:cs typeface="Georgia"/>
              </a:rPr>
              <a:t>can</a:t>
            </a:r>
            <a:r>
              <a:rPr sz="3250" spc="65" dirty="0">
                <a:solidFill>
                  <a:srgbClr val="2E377E"/>
                </a:solidFill>
                <a:latin typeface="Georgia"/>
                <a:cs typeface="Georgia"/>
              </a:rPr>
              <a:t> </a:t>
            </a:r>
            <a:r>
              <a:rPr sz="3250" dirty="0">
                <a:solidFill>
                  <a:srgbClr val="2E377E"/>
                </a:solidFill>
                <a:latin typeface="Georgia"/>
                <a:cs typeface="Georgia"/>
              </a:rPr>
              <a:t>allocate</a:t>
            </a:r>
            <a:r>
              <a:rPr sz="3250" spc="60" dirty="0">
                <a:solidFill>
                  <a:srgbClr val="2E377E"/>
                </a:solidFill>
                <a:latin typeface="Georgia"/>
                <a:cs typeface="Georgia"/>
              </a:rPr>
              <a:t> </a:t>
            </a:r>
            <a:r>
              <a:rPr sz="3250" dirty="0">
                <a:solidFill>
                  <a:srgbClr val="2E377E"/>
                </a:solidFill>
                <a:latin typeface="Georgia"/>
                <a:cs typeface="Georgia"/>
              </a:rPr>
              <a:t>particular</a:t>
            </a:r>
            <a:r>
              <a:rPr sz="3250" spc="65" dirty="0">
                <a:solidFill>
                  <a:srgbClr val="2E377E"/>
                </a:solidFill>
                <a:latin typeface="Georgia"/>
                <a:cs typeface="Georgia"/>
              </a:rPr>
              <a:t> </a:t>
            </a:r>
            <a:r>
              <a:rPr sz="3250" dirty="0">
                <a:solidFill>
                  <a:srgbClr val="2E377E"/>
                </a:solidFill>
                <a:latin typeface="Georgia"/>
                <a:cs typeface="Georgia"/>
              </a:rPr>
              <a:t>CPU</a:t>
            </a:r>
            <a:r>
              <a:rPr sz="3250" spc="60" dirty="0">
                <a:solidFill>
                  <a:srgbClr val="2E377E"/>
                </a:solidFill>
                <a:latin typeface="Georgia"/>
                <a:cs typeface="Georgia"/>
              </a:rPr>
              <a:t> </a:t>
            </a:r>
            <a:r>
              <a:rPr sz="3250" dirty="0">
                <a:solidFill>
                  <a:srgbClr val="2E377E"/>
                </a:solidFill>
                <a:latin typeface="Georgia"/>
                <a:cs typeface="Georgia"/>
              </a:rPr>
              <a:t>cores</a:t>
            </a:r>
            <a:r>
              <a:rPr sz="3250" spc="60" dirty="0">
                <a:solidFill>
                  <a:srgbClr val="2E377E"/>
                </a:solidFill>
                <a:latin typeface="Georgia"/>
                <a:cs typeface="Georgia"/>
              </a:rPr>
              <a:t> </a:t>
            </a:r>
            <a:r>
              <a:rPr sz="3250" dirty="0">
                <a:solidFill>
                  <a:srgbClr val="2E377E"/>
                </a:solidFill>
                <a:latin typeface="Georgia"/>
                <a:cs typeface="Georgia"/>
              </a:rPr>
              <a:t>and</a:t>
            </a:r>
            <a:r>
              <a:rPr sz="3250" spc="60" dirty="0">
                <a:solidFill>
                  <a:srgbClr val="2E377E"/>
                </a:solidFill>
                <a:latin typeface="Georgia"/>
                <a:cs typeface="Georgia"/>
              </a:rPr>
              <a:t> </a:t>
            </a:r>
            <a:r>
              <a:rPr sz="3250" dirty="0">
                <a:solidFill>
                  <a:srgbClr val="2E377E"/>
                </a:solidFill>
                <a:latin typeface="Georgia"/>
                <a:cs typeface="Georgia"/>
              </a:rPr>
              <a:t>Memory</a:t>
            </a:r>
            <a:r>
              <a:rPr sz="3250" spc="60" dirty="0">
                <a:solidFill>
                  <a:srgbClr val="2E377E"/>
                </a:solidFill>
                <a:latin typeface="Georgia"/>
                <a:cs typeface="Georgia"/>
              </a:rPr>
              <a:t> </a:t>
            </a:r>
            <a:r>
              <a:rPr sz="3250" spc="70" dirty="0">
                <a:solidFill>
                  <a:srgbClr val="2E377E"/>
                </a:solidFill>
                <a:latin typeface="Georgia"/>
                <a:cs typeface="Georgia"/>
              </a:rPr>
              <a:t>to</a:t>
            </a:r>
            <a:r>
              <a:rPr sz="3250" spc="60" dirty="0">
                <a:solidFill>
                  <a:srgbClr val="2E377E"/>
                </a:solidFill>
                <a:latin typeface="Georgia"/>
                <a:cs typeface="Georgia"/>
              </a:rPr>
              <a:t> </a:t>
            </a:r>
            <a:r>
              <a:rPr sz="3250" spc="90" dirty="0">
                <a:solidFill>
                  <a:srgbClr val="2E377E"/>
                </a:solidFill>
                <a:latin typeface="Georgia"/>
                <a:cs typeface="Georgia"/>
              </a:rPr>
              <a:t>every </a:t>
            </a:r>
            <a:r>
              <a:rPr sz="3250" spc="-10" dirty="0">
                <a:solidFill>
                  <a:srgbClr val="2E377E"/>
                </a:solidFill>
                <a:latin typeface="Georgia"/>
                <a:cs typeface="Georgia"/>
              </a:rPr>
              <a:t>project.</a:t>
            </a:r>
            <a:endParaRPr sz="3250">
              <a:latin typeface="Georgia"/>
              <a:cs typeface="Georgi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98022" y="3702927"/>
            <a:ext cx="11087098" cy="6031436"/>
          </a:xfrm>
          <a:prstGeom prst="rect">
            <a:avLst/>
          </a:prstGeom>
        </p:spPr>
      </p:pic>
      <p:pic>
        <p:nvPicPr>
          <p:cNvPr id="3" name="object 3"/>
          <p:cNvPicPr/>
          <p:nvPr/>
        </p:nvPicPr>
        <p:blipFill>
          <a:blip r:embed="rId3" cstate="print"/>
          <a:stretch>
            <a:fillRect/>
          </a:stretch>
        </p:blipFill>
        <p:spPr>
          <a:xfrm>
            <a:off x="1247798" y="650592"/>
            <a:ext cx="131940" cy="131940"/>
          </a:xfrm>
          <a:prstGeom prst="rect">
            <a:avLst/>
          </a:prstGeom>
        </p:spPr>
      </p:pic>
      <p:sp>
        <p:nvSpPr>
          <p:cNvPr id="4" name="object 4"/>
          <p:cNvSpPr txBox="1"/>
          <p:nvPr/>
        </p:nvSpPr>
        <p:spPr>
          <a:xfrm>
            <a:off x="1574307" y="310638"/>
            <a:ext cx="15637510" cy="3121025"/>
          </a:xfrm>
          <a:prstGeom prst="rect">
            <a:avLst/>
          </a:prstGeom>
        </p:spPr>
        <p:txBody>
          <a:bodyPr vert="horz" wrap="square" lIns="0" tIns="12065" rIns="0" bIns="0" rtlCol="0">
            <a:spAutoFit/>
          </a:bodyPr>
          <a:lstStyle/>
          <a:p>
            <a:pPr marL="12700" marR="1052830">
              <a:lnSpc>
                <a:spcPct val="116100"/>
              </a:lnSpc>
              <a:spcBef>
                <a:spcPts val="95"/>
              </a:spcBef>
            </a:pPr>
            <a:r>
              <a:rPr sz="3500" dirty="0">
                <a:solidFill>
                  <a:srgbClr val="2E377E"/>
                </a:solidFill>
                <a:latin typeface="Georgia"/>
                <a:cs typeface="Georgia"/>
              </a:rPr>
              <a:t>By</a:t>
            </a:r>
            <a:r>
              <a:rPr sz="3500" spc="-20" dirty="0">
                <a:solidFill>
                  <a:srgbClr val="2E377E"/>
                </a:solidFill>
                <a:latin typeface="Georgia"/>
                <a:cs typeface="Georgia"/>
              </a:rPr>
              <a:t> </a:t>
            </a:r>
            <a:r>
              <a:rPr sz="3500" dirty="0">
                <a:solidFill>
                  <a:srgbClr val="2E377E"/>
                </a:solidFill>
                <a:latin typeface="Georgia"/>
                <a:cs typeface="Georgia"/>
              </a:rPr>
              <a:t>default</a:t>
            </a:r>
            <a:r>
              <a:rPr sz="3500" spc="-20" dirty="0">
                <a:solidFill>
                  <a:srgbClr val="2E377E"/>
                </a:solidFill>
                <a:latin typeface="Georgia"/>
                <a:cs typeface="Georgia"/>
              </a:rPr>
              <a:t> </a:t>
            </a:r>
            <a:r>
              <a:rPr sz="3500" dirty="0">
                <a:solidFill>
                  <a:srgbClr val="2E377E"/>
                </a:solidFill>
                <a:latin typeface="Georgia"/>
                <a:cs typeface="Georgia"/>
              </a:rPr>
              <a:t>pod</a:t>
            </a:r>
            <a:r>
              <a:rPr sz="3500" spc="-15" dirty="0">
                <a:solidFill>
                  <a:srgbClr val="2E377E"/>
                </a:solidFill>
                <a:latin typeface="Georgia"/>
                <a:cs typeface="Georgia"/>
              </a:rPr>
              <a:t> </a:t>
            </a:r>
            <a:r>
              <a:rPr sz="3500" dirty="0">
                <a:solidFill>
                  <a:srgbClr val="2E377E"/>
                </a:solidFill>
                <a:latin typeface="Georgia"/>
                <a:cs typeface="Georgia"/>
              </a:rPr>
              <a:t>in</a:t>
            </a:r>
            <a:r>
              <a:rPr sz="3500" spc="-20" dirty="0">
                <a:solidFill>
                  <a:srgbClr val="2E377E"/>
                </a:solidFill>
                <a:latin typeface="Georgia"/>
                <a:cs typeface="Georgia"/>
              </a:rPr>
              <a:t> </a:t>
            </a:r>
            <a:r>
              <a:rPr sz="3500" dirty="0">
                <a:solidFill>
                  <a:srgbClr val="2E377E"/>
                </a:solidFill>
                <a:latin typeface="Georgia"/>
                <a:cs typeface="Georgia"/>
              </a:rPr>
              <a:t>Kubernetes</a:t>
            </a:r>
            <a:r>
              <a:rPr sz="3500" spc="-15" dirty="0">
                <a:solidFill>
                  <a:srgbClr val="2E377E"/>
                </a:solidFill>
                <a:latin typeface="Georgia"/>
                <a:cs typeface="Georgia"/>
              </a:rPr>
              <a:t> </a:t>
            </a:r>
            <a:r>
              <a:rPr sz="3500" dirty="0">
                <a:solidFill>
                  <a:srgbClr val="2E377E"/>
                </a:solidFill>
                <a:latin typeface="Georgia"/>
                <a:cs typeface="Georgia"/>
              </a:rPr>
              <a:t>will</a:t>
            </a:r>
            <a:r>
              <a:rPr sz="3500" spc="-20" dirty="0">
                <a:solidFill>
                  <a:srgbClr val="2E377E"/>
                </a:solidFill>
                <a:latin typeface="Georgia"/>
                <a:cs typeface="Georgia"/>
              </a:rPr>
              <a:t> </a:t>
            </a:r>
            <a:r>
              <a:rPr sz="3500" dirty="0">
                <a:solidFill>
                  <a:srgbClr val="2E377E"/>
                </a:solidFill>
                <a:latin typeface="Georgia"/>
                <a:cs typeface="Georgia"/>
              </a:rPr>
              <a:t>run</a:t>
            </a:r>
            <a:r>
              <a:rPr sz="3500" spc="-15" dirty="0">
                <a:solidFill>
                  <a:srgbClr val="2E377E"/>
                </a:solidFill>
                <a:latin typeface="Georgia"/>
                <a:cs typeface="Georgia"/>
              </a:rPr>
              <a:t> </a:t>
            </a:r>
            <a:r>
              <a:rPr sz="3500" spc="75" dirty="0">
                <a:solidFill>
                  <a:srgbClr val="2E377E"/>
                </a:solidFill>
                <a:latin typeface="Georgia"/>
                <a:cs typeface="Georgia"/>
              </a:rPr>
              <a:t>with</a:t>
            </a:r>
            <a:r>
              <a:rPr sz="3500" spc="-20" dirty="0">
                <a:solidFill>
                  <a:srgbClr val="2E377E"/>
                </a:solidFill>
                <a:latin typeface="Georgia"/>
                <a:cs typeface="Georgia"/>
              </a:rPr>
              <a:t> </a:t>
            </a:r>
            <a:r>
              <a:rPr sz="3500" dirty="0">
                <a:solidFill>
                  <a:srgbClr val="2E377E"/>
                </a:solidFill>
                <a:latin typeface="Georgia"/>
                <a:cs typeface="Georgia"/>
              </a:rPr>
              <a:t>no</a:t>
            </a:r>
            <a:r>
              <a:rPr sz="3500" spc="-15" dirty="0">
                <a:solidFill>
                  <a:srgbClr val="2E377E"/>
                </a:solidFill>
                <a:latin typeface="Georgia"/>
                <a:cs typeface="Georgia"/>
              </a:rPr>
              <a:t> </a:t>
            </a:r>
            <a:r>
              <a:rPr sz="3500" dirty="0">
                <a:solidFill>
                  <a:srgbClr val="2E377E"/>
                </a:solidFill>
                <a:latin typeface="Georgia"/>
                <a:cs typeface="Georgia"/>
              </a:rPr>
              <a:t>limits</a:t>
            </a:r>
            <a:r>
              <a:rPr sz="3500" spc="-20" dirty="0">
                <a:solidFill>
                  <a:srgbClr val="2E377E"/>
                </a:solidFill>
                <a:latin typeface="Georgia"/>
                <a:cs typeface="Georgia"/>
              </a:rPr>
              <a:t> </a:t>
            </a:r>
            <a:r>
              <a:rPr sz="3500" dirty="0">
                <a:solidFill>
                  <a:srgbClr val="2E377E"/>
                </a:solidFill>
                <a:latin typeface="Georgia"/>
                <a:cs typeface="Georgia"/>
              </a:rPr>
              <a:t>on</a:t>
            </a:r>
            <a:r>
              <a:rPr sz="3500" spc="-15" dirty="0">
                <a:solidFill>
                  <a:srgbClr val="2E377E"/>
                </a:solidFill>
                <a:latin typeface="Georgia"/>
                <a:cs typeface="Georgia"/>
              </a:rPr>
              <a:t> </a:t>
            </a:r>
            <a:r>
              <a:rPr sz="3500" spc="-55" dirty="0">
                <a:solidFill>
                  <a:srgbClr val="2E377E"/>
                </a:solidFill>
                <a:latin typeface="Georgia"/>
                <a:cs typeface="Georgia"/>
              </a:rPr>
              <a:t>CPU</a:t>
            </a:r>
            <a:r>
              <a:rPr sz="3500" spc="-20" dirty="0">
                <a:solidFill>
                  <a:srgbClr val="2E377E"/>
                </a:solidFill>
                <a:latin typeface="Georgia"/>
                <a:cs typeface="Georgia"/>
              </a:rPr>
              <a:t> </a:t>
            </a:r>
            <a:r>
              <a:rPr sz="3500" dirty="0">
                <a:solidFill>
                  <a:srgbClr val="2E377E"/>
                </a:solidFill>
                <a:latin typeface="Georgia"/>
                <a:cs typeface="Georgia"/>
              </a:rPr>
              <a:t>and</a:t>
            </a:r>
            <a:r>
              <a:rPr sz="3500" spc="-15" dirty="0">
                <a:solidFill>
                  <a:srgbClr val="2E377E"/>
                </a:solidFill>
                <a:latin typeface="Georgia"/>
                <a:cs typeface="Georgia"/>
              </a:rPr>
              <a:t> </a:t>
            </a:r>
            <a:r>
              <a:rPr sz="3500" spc="-10" dirty="0">
                <a:solidFill>
                  <a:srgbClr val="2E377E"/>
                </a:solidFill>
                <a:latin typeface="Georgia"/>
                <a:cs typeface="Georgia"/>
              </a:rPr>
              <a:t>memory. </a:t>
            </a:r>
            <a:r>
              <a:rPr sz="3500" dirty="0">
                <a:solidFill>
                  <a:srgbClr val="2E377E"/>
                </a:solidFill>
                <a:latin typeface="Georgia"/>
                <a:cs typeface="Georgia"/>
              </a:rPr>
              <a:t>You</a:t>
            </a:r>
            <a:r>
              <a:rPr sz="3500" spc="-55" dirty="0">
                <a:solidFill>
                  <a:srgbClr val="2E377E"/>
                </a:solidFill>
                <a:latin typeface="Georgia"/>
                <a:cs typeface="Georgia"/>
              </a:rPr>
              <a:t> </a:t>
            </a:r>
            <a:r>
              <a:rPr sz="3500" dirty="0">
                <a:solidFill>
                  <a:srgbClr val="2E377E"/>
                </a:solidFill>
                <a:latin typeface="Georgia"/>
                <a:cs typeface="Georgia"/>
              </a:rPr>
              <a:t>can</a:t>
            </a:r>
            <a:r>
              <a:rPr sz="3500" spc="-55" dirty="0">
                <a:solidFill>
                  <a:srgbClr val="2E377E"/>
                </a:solidFill>
                <a:latin typeface="Georgia"/>
                <a:cs typeface="Georgia"/>
              </a:rPr>
              <a:t> </a:t>
            </a:r>
            <a:r>
              <a:rPr sz="3500" spc="50" dirty="0">
                <a:solidFill>
                  <a:srgbClr val="2E377E"/>
                </a:solidFill>
                <a:latin typeface="Georgia"/>
                <a:cs typeface="Georgia"/>
              </a:rPr>
              <a:t>specify</a:t>
            </a:r>
            <a:r>
              <a:rPr sz="3500" spc="-50" dirty="0">
                <a:solidFill>
                  <a:srgbClr val="2E377E"/>
                </a:solidFill>
                <a:latin typeface="Georgia"/>
                <a:cs typeface="Georgia"/>
              </a:rPr>
              <a:t> </a:t>
            </a:r>
            <a:r>
              <a:rPr sz="3500" spc="55" dirty="0">
                <a:solidFill>
                  <a:srgbClr val="2E377E"/>
                </a:solidFill>
                <a:latin typeface="Georgia"/>
                <a:cs typeface="Georgia"/>
              </a:rPr>
              <a:t>the</a:t>
            </a:r>
            <a:r>
              <a:rPr sz="3500" spc="-55" dirty="0">
                <a:solidFill>
                  <a:srgbClr val="2E377E"/>
                </a:solidFill>
                <a:latin typeface="Georgia"/>
                <a:cs typeface="Georgia"/>
              </a:rPr>
              <a:t> </a:t>
            </a:r>
            <a:r>
              <a:rPr sz="3500" spc="-130" dirty="0">
                <a:solidFill>
                  <a:srgbClr val="2E377E"/>
                </a:solidFill>
                <a:latin typeface="Georgia"/>
                <a:cs typeface="Georgia"/>
              </a:rPr>
              <a:t>RAM,</a:t>
            </a:r>
            <a:r>
              <a:rPr sz="3500" spc="-55" dirty="0">
                <a:solidFill>
                  <a:srgbClr val="2E377E"/>
                </a:solidFill>
                <a:latin typeface="Georgia"/>
                <a:cs typeface="Georgia"/>
              </a:rPr>
              <a:t> </a:t>
            </a:r>
            <a:r>
              <a:rPr sz="3500" dirty="0">
                <a:solidFill>
                  <a:srgbClr val="2E377E"/>
                </a:solidFill>
                <a:latin typeface="Georgia"/>
                <a:cs typeface="Georgia"/>
              </a:rPr>
              <a:t>Memory,</a:t>
            </a:r>
            <a:r>
              <a:rPr sz="3500" spc="-50" dirty="0">
                <a:solidFill>
                  <a:srgbClr val="2E377E"/>
                </a:solidFill>
                <a:latin typeface="Georgia"/>
                <a:cs typeface="Georgia"/>
              </a:rPr>
              <a:t> </a:t>
            </a:r>
            <a:r>
              <a:rPr sz="3500" dirty="0">
                <a:solidFill>
                  <a:srgbClr val="2E377E"/>
                </a:solidFill>
                <a:latin typeface="Georgia"/>
                <a:cs typeface="Georgia"/>
              </a:rPr>
              <a:t>or</a:t>
            </a:r>
            <a:r>
              <a:rPr sz="3500" spc="-55" dirty="0">
                <a:solidFill>
                  <a:srgbClr val="2E377E"/>
                </a:solidFill>
                <a:latin typeface="Georgia"/>
                <a:cs typeface="Georgia"/>
              </a:rPr>
              <a:t> </a:t>
            </a:r>
            <a:r>
              <a:rPr sz="3500" spc="-30" dirty="0">
                <a:solidFill>
                  <a:srgbClr val="2E377E"/>
                </a:solidFill>
                <a:latin typeface="Georgia"/>
                <a:cs typeface="Georgia"/>
              </a:rPr>
              <a:t>CPUs</a:t>
            </a:r>
            <a:r>
              <a:rPr sz="3500" spc="-55" dirty="0">
                <a:solidFill>
                  <a:srgbClr val="2E377E"/>
                </a:solidFill>
                <a:latin typeface="Georgia"/>
                <a:cs typeface="Georgia"/>
              </a:rPr>
              <a:t> </a:t>
            </a:r>
            <a:r>
              <a:rPr sz="3500" dirty="0">
                <a:solidFill>
                  <a:srgbClr val="2E377E"/>
                </a:solidFill>
                <a:latin typeface="Georgia"/>
                <a:cs typeface="Georgia"/>
              </a:rPr>
              <a:t>for</a:t>
            </a:r>
            <a:r>
              <a:rPr sz="3500" spc="-50" dirty="0">
                <a:solidFill>
                  <a:srgbClr val="2E377E"/>
                </a:solidFill>
                <a:latin typeface="Georgia"/>
                <a:cs typeface="Georgia"/>
              </a:rPr>
              <a:t> </a:t>
            </a:r>
            <a:r>
              <a:rPr sz="3500" dirty="0">
                <a:solidFill>
                  <a:srgbClr val="2E377E"/>
                </a:solidFill>
                <a:latin typeface="Georgia"/>
                <a:cs typeface="Georgia"/>
              </a:rPr>
              <a:t>each</a:t>
            </a:r>
            <a:r>
              <a:rPr sz="3500" spc="-55" dirty="0">
                <a:solidFill>
                  <a:srgbClr val="2E377E"/>
                </a:solidFill>
                <a:latin typeface="Georgia"/>
                <a:cs typeface="Georgia"/>
              </a:rPr>
              <a:t> </a:t>
            </a:r>
            <a:r>
              <a:rPr sz="3500" dirty="0">
                <a:solidFill>
                  <a:srgbClr val="2E377E"/>
                </a:solidFill>
                <a:latin typeface="Georgia"/>
                <a:cs typeface="Georgia"/>
              </a:rPr>
              <a:t>container</a:t>
            </a:r>
            <a:r>
              <a:rPr sz="3500" spc="-55" dirty="0">
                <a:solidFill>
                  <a:srgbClr val="2E377E"/>
                </a:solidFill>
                <a:latin typeface="Georgia"/>
                <a:cs typeface="Georgia"/>
              </a:rPr>
              <a:t> </a:t>
            </a:r>
            <a:r>
              <a:rPr sz="3500" dirty="0">
                <a:solidFill>
                  <a:srgbClr val="2E377E"/>
                </a:solidFill>
                <a:latin typeface="Georgia"/>
                <a:cs typeface="Georgia"/>
              </a:rPr>
              <a:t>and</a:t>
            </a:r>
            <a:r>
              <a:rPr sz="3500" spc="-50" dirty="0">
                <a:solidFill>
                  <a:srgbClr val="2E377E"/>
                </a:solidFill>
                <a:latin typeface="Georgia"/>
                <a:cs typeface="Georgia"/>
              </a:rPr>
              <a:t> </a:t>
            </a:r>
            <a:r>
              <a:rPr sz="3500" spc="-20" dirty="0">
                <a:solidFill>
                  <a:srgbClr val="2E377E"/>
                </a:solidFill>
                <a:latin typeface="Georgia"/>
                <a:cs typeface="Georgia"/>
              </a:rPr>
              <a:t>pod.</a:t>
            </a:r>
            <a:endParaRPr sz="3500">
              <a:latin typeface="Georgia"/>
              <a:cs typeface="Georgia"/>
            </a:endParaRPr>
          </a:p>
          <a:p>
            <a:pPr marL="12700" marR="5080">
              <a:lnSpc>
                <a:spcPts val="4870"/>
              </a:lnSpc>
              <a:spcBef>
                <a:spcPts val="280"/>
              </a:spcBef>
            </a:pPr>
            <a:r>
              <a:rPr sz="3500" dirty="0">
                <a:solidFill>
                  <a:srgbClr val="2E377E"/>
                </a:solidFill>
                <a:latin typeface="Georgia"/>
                <a:cs typeface="Georgia"/>
              </a:rPr>
              <a:t>The</a:t>
            </a:r>
            <a:r>
              <a:rPr sz="3500" spc="-10" dirty="0">
                <a:solidFill>
                  <a:srgbClr val="2E377E"/>
                </a:solidFill>
                <a:latin typeface="Georgia"/>
                <a:cs typeface="Georgia"/>
              </a:rPr>
              <a:t> </a:t>
            </a:r>
            <a:r>
              <a:rPr sz="3500" dirty="0">
                <a:solidFill>
                  <a:srgbClr val="2E377E"/>
                </a:solidFill>
                <a:latin typeface="Georgia"/>
                <a:cs typeface="Georgia"/>
              </a:rPr>
              <a:t>scheduler</a:t>
            </a:r>
            <a:r>
              <a:rPr sz="3500" spc="-10" dirty="0">
                <a:solidFill>
                  <a:srgbClr val="2E377E"/>
                </a:solidFill>
                <a:latin typeface="Georgia"/>
                <a:cs typeface="Georgia"/>
              </a:rPr>
              <a:t> </a:t>
            </a:r>
            <a:r>
              <a:rPr sz="3500" dirty="0">
                <a:solidFill>
                  <a:srgbClr val="2E377E"/>
                </a:solidFill>
                <a:latin typeface="Georgia"/>
                <a:cs typeface="Georgia"/>
              </a:rPr>
              <a:t>decides</a:t>
            </a:r>
            <a:r>
              <a:rPr sz="3500" spc="-10" dirty="0">
                <a:solidFill>
                  <a:srgbClr val="2E377E"/>
                </a:solidFill>
                <a:latin typeface="Georgia"/>
                <a:cs typeface="Georgia"/>
              </a:rPr>
              <a:t> </a:t>
            </a:r>
            <a:r>
              <a:rPr sz="3500" spc="50" dirty="0">
                <a:solidFill>
                  <a:srgbClr val="2E377E"/>
                </a:solidFill>
                <a:latin typeface="Georgia"/>
                <a:cs typeface="Georgia"/>
              </a:rPr>
              <a:t>which</a:t>
            </a:r>
            <a:r>
              <a:rPr sz="3500" spc="-5" dirty="0">
                <a:solidFill>
                  <a:srgbClr val="2E377E"/>
                </a:solidFill>
                <a:latin typeface="Georgia"/>
                <a:cs typeface="Georgia"/>
              </a:rPr>
              <a:t> </a:t>
            </a:r>
            <a:r>
              <a:rPr sz="3500" dirty="0">
                <a:solidFill>
                  <a:srgbClr val="2E377E"/>
                </a:solidFill>
                <a:latin typeface="Georgia"/>
                <a:cs typeface="Georgia"/>
              </a:rPr>
              <a:t>node</a:t>
            </a:r>
            <a:r>
              <a:rPr sz="3500" spc="-10" dirty="0">
                <a:solidFill>
                  <a:srgbClr val="2E377E"/>
                </a:solidFill>
                <a:latin typeface="Georgia"/>
                <a:cs typeface="Georgia"/>
              </a:rPr>
              <a:t> </a:t>
            </a:r>
            <a:r>
              <a:rPr sz="3500" dirty="0">
                <a:solidFill>
                  <a:srgbClr val="2E377E"/>
                </a:solidFill>
                <a:latin typeface="Georgia"/>
                <a:cs typeface="Georgia"/>
              </a:rPr>
              <a:t>will</a:t>
            </a:r>
            <a:r>
              <a:rPr sz="3500" spc="-10" dirty="0">
                <a:solidFill>
                  <a:srgbClr val="2E377E"/>
                </a:solidFill>
                <a:latin typeface="Georgia"/>
                <a:cs typeface="Georgia"/>
              </a:rPr>
              <a:t> </a:t>
            </a:r>
            <a:r>
              <a:rPr sz="3500" dirty="0">
                <a:solidFill>
                  <a:srgbClr val="2E377E"/>
                </a:solidFill>
                <a:latin typeface="Georgia"/>
                <a:cs typeface="Georgia"/>
              </a:rPr>
              <a:t>create</a:t>
            </a:r>
            <a:r>
              <a:rPr sz="3500" spc="-5" dirty="0">
                <a:solidFill>
                  <a:srgbClr val="2E377E"/>
                </a:solidFill>
                <a:latin typeface="Georgia"/>
                <a:cs typeface="Georgia"/>
              </a:rPr>
              <a:t> </a:t>
            </a:r>
            <a:r>
              <a:rPr sz="3500" dirty="0">
                <a:solidFill>
                  <a:srgbClr val="2E377E"/>
                </a:solidFill>
                <a:latin typeface="Georgia"/>
                <a:cs typeface="Georgia"/>
              </a:rPr>
              <a:t>pods,</a:t>
            </a:r>
            <a:r>
              <a:rPr sz="3500" spc="-10" dirty="0">
                <a:solidFill>
                  <a:srgbClr val="2E377E"/>
                </a:solidFill>
                <a:latin typeface="Georgia"/>
                <a:cs typeface="Georgia"/>
              </a:rPr>
              <a:t> </a:t>
            </a:r>
            <a:r>
              <a:rPr sz="3500" dirty="0">
                <a:solidFill>
                  <a:srgbClr val="2E377E"/>
                </a:solidFill>
                <a:latin typeface="Georgia"/>
                <a:cs typeface="Georgia"/>
              </a:rPr>
              <a:t>if</a:t>
            </a:r>
            <a:r>
              <a:rPr sz="3500" spc="-10" dirty="0">
                <a:solidFill>
                  <a:srgbClr val="2E377E"/>
                </a:solidFill>
                <a:latin typeface="Georgia"/>
                <a:cs typeface="Georgia"/>
              </a:rPr>
              <a:t> </a:t>
            </a:r>
            <a:r>
              <a:rPr sz="3500" spc="55" dirty="0">
                <a:solidFill>
                  <a:srgbClr val="2E377E"/>
                </a:solidFill>
                <a:latin typeface="Georgia"/>
                <a:cs typeface="Georgia"/>
              </a:rPr>
              <a:t>the</a:t>
            </a:r>
            <a:r>
              <a:rPr sz="3500" spc="-5" dirty="0">
                <a:solidFill>
                  <a:srgbClr val="2E377E"/>
                </a:solidFill>
                <a:latin typeface="Georgia"/>
                <a:cs typeface="Georgia"/>
              </a:rPr>
              <a:t> </a:t>
            </a:r>
            <a:r>
              <a:rPr sz="3500" dirty="0">
                <a:solidFill>
                  <a:srgbClr val="2E377E"/>
                </a:solidFill>
                <a:latin typeface="Georgia"/>
                <a:cs typeface="Georgia"/>
              </a:rPr>
              <a:t>node</a:t>
            </a:r>
            <a:r>
              <a:rPr sz="3500" spc="-10" dirty="0">
                <a:solidFill>
                  <a:srgbClr val="2E377E"/>
                </a:solidFill>
                <a:latin typeface="Georgia"/>
                <a:cs typeface="Georgia"/>
              </a:rPr>
              <a:t> </a:t>
            </a:r>
            <a:r>
              <a:rPr sz="3500" dirty="0">
                <a:solidFill>
                  <a:srgbClr val="2E377E"/>
                </a:solidFill>
                <a:latin typeface="Georgia"/>
                <a:cs typeface="Georgia"/>
              </a:rPr>
              <a:t>has</a:t>
            </a:r>
            <a:r>
              <a:rPr sz="3500" spc="-10" dirty="0">
                <a:solidFill>
                  <a:srgbClr val="2E377E"/>
                </a:solidFill>
                <a:latin typeface="Georgia"/>
                <a:cs typeface="Georgia"/>
              </a:rPr>
              <a:t> </a:t>
            </a:r>
            <a:r>
              <a:rPr sz="3500" dirty="0">
                <a:solidFill>
                  <a:srgbClr val="2E377E"/>
                </a:solidFill>
                <a:latin typeface="Georgia"/>
                <a:cs typeface="Georgia"/>
              </a:rPr>
              <a:t>enough</a:t>
            </a:r>
            <a:r>
              <a:rPr sz="3500" spc="-5" dirty="0">
                <a:solidFill>
                  <a:srgbClr val="2E377E"/>
                </a:solidFill>
                <a:latin typeface="Georgia"/>
                <a:cs typeface="Georgia"/>
              </a:rPr>
              <a:t> </a:t>
            </a:r>
            <a:r>
              <a:rPr sz="3500" spc="-25" dirty="0">
                <a:solidFill>
                  <a:srgbClr val="2E377E"/>
                </a:solidFill>
                <a:latin typeface="Georgia"/>
                <a:cs typeface="Georgia"/>
              </a:rPr>
              <a:t>CPU </a:t>
            </a:r>
            <a:r>
              <a:rPr sz="3500" dirty="0">
                <a:solidFill>
                  <a:srgbClr val="2E377E"/>
                </a:solidFill>
                <a:latin typeface="Georgia"/>
                <a:cs typeface="Georgia"/>
              </a:rPr>
              <a:t>resources available</a:t>
            </a:r>
            <a:r>
              <a:rPr sz="3500" spc="5" dirty="0">
                <a:solidFill>
                  <a:srgbClr val="2E377E"/>
                </a:solidFill>
                <a:latin typeface="Georgia"/>
                <a:cs typeface="Georgia"/>
              </a:rPr>
              <a:t> </a:t>
            </a:r>
            <a:r>
              <a:rPr sz="3500" dirty="0">
                <a:solidFill>
                  <a:srgbClr val="2E377E"/>
                </a:solidFill>
                <a:latin typeface="Georgia"/>
                <a:cs typeface="Georgia"/>
              </a:rPr>
              <a:t>then,</a:t>
            </a:r>
            <a:r>
              <a:rPr sz="3500" spc="5" dirty="0">
                <a:solidFill>
                  <a:srgbClr val="2E377E"/>
                </a:solidFill>
                <a:latin typeface="Georgia"/>
                <a:cs typeface="Georgia"/>
              </a:rPr>
              <a:t> </a:t>
            </a:r>
            <a:r>
              <a:rPr sz="3500" spc="55" dirty="0">
                <a:solidFill>
                  <a:srgbClr val="2E377E"/>
                </a:solidFill>
                <a:latin typeface="Georgia"/>
                <a:cs typeface="Georgia"/>
              </a:rPr>
              <a:t>the</a:t>
            </a:r>
            <a:r>
              <a:rPr sz="3500" spc="5" dirty="0">
                <a:solidFill>
                  <a:srgbClr val="2E377E"/>
                </a:solidFill>
                <a:latin typeface="Georgia"/>
                <a:cs typeface="Georgia"/>
              </a:rPr>
              <a:t> </a:t>
            </a:r>
            <a:r>
              <a:rPr sz="3500" dirty="0">
                <a:solidFill>
                  <a:srgbClr val="2E377E"/>
                </a:solidFill>
                <a:latin typeface="Georgia"/>
                <a:cs typeface="Georgia"/>
              </a:rPr>
              <a:t>node</a:t>
            </a:r>
            <a:r>
              <a:rPr sz="3500" spc="5" dirty="0">
                <a:solidFill>
                  <a:srgbClr val="2E377E"/>
                </a:solidFill>
                <a:latin typeface="Georgia"/>
                <a:cs typeface="Georgia"/>
              </a:rPr>
              <a:t> </a:t>
            </a:r>
            <a:r>
              <a:rPr sz="3500" dirty="0">
                <a:solidFill>
                  <a:srgbClr val="2E377E"/>
                </a:solidFill>
                <a:latin typeface="Georgia"/>
                <a:cs typeface="Georgia"/>
              </a:rPr>
              <a:t>will</a:t>
            </a:r>
            <a:r>
              <a:rPr sz="3500" spc="5" dirty="0">
                <a:solidFill>
                  <a:srgbClr val="2E377E"/>
                </a:solidFill>
                <a:latin typeface="Georgia"/>
                <a:cs typeface="Georgia"/>
              </a:rPr>
              <a:t> </a:t>
            </a:r>
            <a:r>
              <a:rPr sz="3500" dirty="0">
                <a:solidFill>
                  <a:srgbClr val="2E377E"/>
                </a:solidFill>
                <a:latin typeface="Georgia"/>
                <a:cs typeface="Georgia"/>
              </a:rPr>
              <a:t>place</a:t>
            </a:r>
            <a:r>
              <a:rPr sz="3500" spc="5" dirty="0">
                <a:solidFill>
                  <a:srgbClr val="2E377E"/>
                </a:solidFill>
                <a:latin typeface="Georgia"/>
                <a:cs typeface="Georgia"/>
              </a:rPr>
              <a:t> </a:t>
            </a:r>
            <a:r>
              <a:rPr sz="3500" spc="55" dirty="0">
                <a:solidFill>
                  <a:srgbClr val="2E377E"/>
                </a:solidFill>
                <a:latin typeface="Georgia"/>
                <a:cs typeface="Georgia"/>
              </a:rPr>
              <a:t>the</a:t>
            </a:r>
            <a:r>
              <a:rPr sz="3500" spc="5" dirty="0">
                <a:solidFill>
                  <a:srgbClr val="2E377E"/>
                </a:solidFill>
                <a:latin typeface="Georgia"/>
                <a:cs typeface="Georgia"/>
              </a:rPr>
              <a:t> </a:t>
            </a:r>
            <a:r>
              <a:rPr sz="3500" spc="-10" dirty="0">
                <a:solidFill>
                  <a:srgbClr val="2E377E"/>
                </a:solidFill>
                <a:latin typeface="Georgia"/>
                <a:cs typeface="Georgia"/>
              </a:rPr>
              <a:t>pods.</a:t>
            </a:r>
            <a:endParaRPr sz="3500">
              <a:latin typeface="Georgia"/>
              <a:cs typeface="Georgia"/>
            </a:endParaRPr>
          </a:p>
          <a:p>
            <a:pPr marL="12700">
              <a:lnSpc>
                <a:spcPct val="100000"/>
              </a:lnSpc>
              <a:spcBef>
                <a:spcPts val="405"/>
              </a:spcBef>
            </a:pPr>
            <a:r>
              <a:rPr sz="3500" spc="-55" dirty="0">
                <a:solidFill>
                  <a:srgbClr val="2E377E"/>
                </a:solidFill>
                <a:latin typeface="Georgia"/>
                <a:cs typeface="Georgia"/>
              </a:rPr>
              <a:t>CPU</a:t>
            </a:r>
            <a:r>
              <a:rPr sz="3500" spc="-15" dirty="0">
                <a:solidFill>
                  <a:srgbClr val="2E377E"/>
                </a:solidFill>
                <a:latin typeface="Georgia"/>
                <a:cs typeface="Georgia"/>
              </a:rPr>
              <a:t> </a:t>
            </a:r>
            <a:r>
              <a:rPr sz="3500" dirty="0">
                <a:solidFill>
                  <a:srgbClr val="2E377E"/>
                </a:solidFill>
                <a:latin typeface="Georgia"/>
                <a:cs typeface="Georgia"/>
              </a:rPr>
              <a:t>is</a:t>
            </a:r>
            <a:r>
              <a:rPr sz="3500" spc="-15" dirty="0">
                <a:solidFill>
                  <a:srgbClr val="2E377E"/>
                </a:solidFill>
                <a:latin typeface="Georgia"/>
                <a:cs typeface="Georgia"/>
              </a:rPr>
              <a:t> </a:t>
            </a:r>
            <a:r>
              <a:rPr sz="3500" dirty="0">
                <a:solidFill>
                  <a:srgbClr val="2E377E"/>
                </a:solidFill>
                <a:latin typeface="Georgia"/>
                <a:cs typeface="Georgia"/>
              </a:rPr>
              <a:t>specified</a:t>
            </a:r>
            <a:r>
              <a:rPr sz="3500" spc="-10" dirty="0">
                <a:solidFill>
                  <a:srgbClr val="2E377E"/>
                </a:solidFill>
                <a:latin typeface="Georgia"/>
                <a:cs typeface="Georgia"/>
              </a:rPr>
              <a:t> </a:t>
            </a:r>
            <a:r>
              <a:rPr sz="3500" dirty="0">
                <a:solidFill>
                  <a:srgbClr val="2E377E"/>
                </a:solidFill>
                <a:latin typeface="Georgia"/>
                <a:cs typeface="Georgia"/>
              </a:rPr>
              <a:t>in</a:t>
            </a:r>
            <a:r>
              <a:rPr sz="3500" spc="-15" dirty="0">
                <a:solidFill>
                  <a:srgbClr val="2E377E"/>
                </a:solidFill>
                <a:latin typeface="Georgia"/>
                <a:cs typeface="Georgia"/>
              </a:rPr>
              <a:t> </a:t>
            </a:r>
            <a:r>
              <a:rPr sz="3500" dirty="0">
                <a:solidFill>
                  <a:srgbClr val="2E377E"/>
                </a:solidFill>
                <a:latin typeface="Georgia"/>
                <a:cs typeface="Georgia"/>
              </a:rPr>
              <a:t>units</a:t>
            </a:r>
            <a:r>
              <a:rPr sz="3500" spc="-15" dirty="0">
                <a:solidFill>
                  <a:srgbClr val="2E377E"/>
                </a:solidFill>
                <a:latin typeface="Georgia"/>
                <a:cs typeface="Georgia"/>
              </a:rPr>
              <a:t> </a:t>
            </a:r>
            <a:r>
              <a:rPr sz="3500" dirty="0">
                <a:solidFill>
                  <a:srgbClr val="2E377E"/>
                </a:solidFill>
                <a:latin typeface="Georgia"/>
                <a:cs typeface="Georgia"/>
              </a:rPr>
              <a:t>of</a:t>
            </a:r>
            <a:r>
              <a:rPr sz="3500" spc="-10" dirty="0">
                <a:solidFill>
                  <a:srgbClr val="2E377E"/>
                </a:solidFill>
                <a:latin typeface="Georgia"/>
                <a:cs typeface="Georgia"/>
              </a:rPr>
              <a:t> </a:t>
            </a:r>
            <a:r>
              <a:rPr sz="3500" dirty="0">
                <a:solidFill>
                  <a:srgbClr val="2E377E"/>
                </a:solidFill>
                <a:latin typeface="Georgia"/>
                <a:cs typeface="Georgia"/>
              </a:rPr>
              <a:t>cores</a:t>
            </a:r>
            <a:r>
              <a:rPr sz="3500" spc="-15" dirty="0">
                <a:solidFill>
                  <a:srgbClr val="2E377E"/>
                </a:solidFill>
                <a:latin typeface="Georgia"/>
                <a:cs typeface="Georgia"/>
              </a:rPr>
              <a:t> </a:t>
            </a:r>
            <a:r>
              <a:rPr sz="3500" dirty="0">
                <a:solidFill>
                  <a:srgbClr val="2E377E"/>
                </a:solidFill>
                <a:latin typeface="Georgia"/>
                <a:cs typeface="Georgia"/>
              </a:rPr>
              <a:t>and</a:t>
            </a:r>
            <a:r>
              <a:rPr sz="3500" spc="-10" dirty="0">
                <a:solidFill>
                  <a:srgbClr val="2E377E"/>
                </a:solidFill>
                <a:latin typeface="Georgia"/>
                <a:cs typeface="Georgia"/>
              </a:rPr>
              <a:t> </a:t>
            </a:r>
            <a:r>
              <a:rPr sz="3500" spc="50" dirty="0">
                <a:solidFill>
                  <a:srgbClr val="2E377E"/>
                </a:solidFill>
                <a:latin typeface="Georgia"/>
                <a:cs typeface="Georgia"/>
              </a:rPr>
              <a:t>memory</a:t>
            </a:r>
            <a:r>
              <a:rPr sz="3500" spc="-15" dirty="0">
                <a:solidFill>
                  <a:srgbClr val="2E377E"/>
                </a:solidFill>
                <a:latin typeface="Georgia"/>
                <a:cs typeface="Georgia"/>
              </a:rPr>
              <a:t> </a:t>
            </a:r>
            <a:r>
              <a:rPr sz="3500" dirty="0">
                <a:solidFill>
                  <a:srgbClr val="2E377E"/>
                </a:solidFill>
                <a:latin typeface="Georgia"/>
                <a:cs typeface="Georgia"/>
              </a:rPr>
              <a:t>is</a:t>
            </a:r>
            <a:r>
              <a:rPr sz="3500" spc="-15" dirty="0">
                <a:solidFill>
                  <a:srgbClr val="2E377E"/>
                </a:solidFill>
                <a:latin typeface="Georgia"/>
                <a:cs typeface="Georgia"/>
              </a:rPr>
              <a:t> </a:t>
            </a:r>
            <a:r>
              <a:rPr sz="3500" dirty="0">
                <a:solidFill>
                  <a:srgbClr val="2E377E"/>
                </a:solidFill>
                <a:latin typeface="Georgia"/>
                <a:cs typeface="Georgia"/>
              </a:rPr>
              <a:t>specified</a:t>
            </a:r>
            <a:r>
              <a:rPr sz="3500" spc="-10" dirty="0">
                <a:solidFill>
                  <a:srgbClr val="2E377E"/>
                </a:solidFill>
                <a:latin typeface="Georgia"/>
                <a:cs typeface="Georgia"/>
              </a:rPr>
              <a:t> </a:t>
            </a:r>
            <a:r>
              <a:rPr sz="3500" dirty="0">
                <a:solidFill>
                  <a:srgbClr val="2E377E"/>
                </a:solidFill>
                <a:latin typeface="Georgia"/>
                <a:cs typeface="Georgia"/>
              </a:rPr>
              <a:t>in</a:t>
            </a:r>
            <a:r>
              <a:rPr sz="3500" spc="-15" dirty="0">
                <a:solidFill>
                  <a:srgbClr val="2E377E"/>
                </a:solidFill>
                <a:latin typeface="Georgia"/>
                <a:cs typeface="Georgia"/>
              </a:rPr>
              <a:t> </a:t>
            </a:r>
            <a:r>
              <a:rPr sz="3500" dirty="0">
                <a:solidFill>
                  <a:srgbClr val="2E377E"/>
                </a:solidFill>
                <a:latin typeface="Georgia"/>
                <a:cs typeface="Georgia"/>
              </a:rPr>
              <a:t>units</a:t>
            </a:r>
            <a:r>
              <a:rPr sz="3500" spc="-10" dirty="0">
                <a:solidFill>
                  <a:srgbClr val="2E377E"/>
                </a:solidFill>
                <a:latin typeface="Georgia"/>
                <a:cs typeface="Georgia"/>
              </a:rPr>
              <a:t> </a:t>
            </a:r>
            <a:r>
              <a:rPr sz="3500" dirty="0">
                <a:solidFill>
                  <a:srgbClr val="2E377E"/>
                </a:solidFill>
                <a:latin typeface="Georgia"/>
                <a:cs typeface="Georgia"/>
              </a:rPr>
              <a:t>of</a:t>
            </a:r>
            <a:r>
              <a:rPr sz="3500" spc="-15" dirty="0">
                <a:solidFill>
                  <a:srgbClr val="2E377E"/>
                </a:solidFill>
                <a:latin typeface="Georgia"/>
                <a:cs typeface="Georgia"/>
              </a:rPr>
              <a:t> </a:t>
            </a:r>
            <a:r>
              <a:rPr sz="3500" spc="-10" dirty="0">
                <a:solidFill>
                  <a:srgbClr val="2E377E"/>
                </a:solidFill>
                <a:latin typeface="Georgia"/>
                <a:cs typeface="Georgia"/>
              </a:rPr>
              <a:t>bytes.</a:t>
            </a:r>
            <a:endParaRPr sz="3500">
              <a:latin typeface="Georgia"/>
              <a:cs typeface="Georgia"/>
            </a:endParaRPr>
          </a:p>
        </p:txBody>
      </p:sp>
      <p:pic>
        <p:nvPicPr>
          <p:cNvPr id="5" name="object 5"/>
          <p:cNvPicPr/>
          <p:nvPr/>
        </p:nvPicPr>
        <p:blipFill>
          <a:blip r:embed="rId4" cstate="print"/>
          <a:stretch>
            <a:fillRect/>
          </a:stretch>
        </p:blipFill>
        <p:spPr>
          <a:xfrm>
            <a:off x="1247798" y="1269699"/>
            <a:ext cx="131940" cy="131940"/>
          </a:xfrm>
          <a:prstGeom prst="rect">
            <a:avLst/>
          </a:prstGeom>
        </p:spPr>
      </p:pic>
      <p:pic>
        <p:nvPicPr>
          <p:cNvPr id="6" name="object 6"/>
          <p:cNvPicPr/>
          <p:nvPr/>
        </p:nvPicPr>
        <p:blipFill>
          <a:blip r:embed="rId4" cstate="print"/>
          <a:stretch>
            <a:fillRect/>
          </a:stretch>
        </p:blipFill>
        <p:spPr>
          <a:xfrm>
            <a:off x="1247798" y="1888806"/>
            <a:ext cx="131940" cy="131940"/>
          </a:xfrm>
          <a:prstGeom prst="rect">
            <a:avLst/>
          </a:prstGeom>
        </p:spPr>
      </p:pic>
      <p:pic>
        <p:nvPicPr>
          <p:cNvPr id="7" name="object 7"/>
          <p:cNvPicPr/>
          <p:nvPr/>
        </p:nvPicPr>
        <p:blipFill>
          <a:blip r:embed="rId5" cstate="print"/>
          <a:stretch>
            <a:fillRect/>
          </a:stretch>
        </p:blipFill>
        <p:spPr>
          <a:xfrm>
            <a:off x="1247798" y="3127021"/>
            <a:ext cx="131940" cy="13194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47798" y="1227846"/>
            <a:ext cx="131940" cy="131940"/>
          </a:xfrm>
          <a:prstGeom prst="rect">
            <a:avLst/>
          </a:prstGeom>
        </p:spPr>
      </p:pic>
      <p:sp>
        <p:nvSpPr>
          <p:cNvPr id="3" name="object 3"/>
          <p:cNvSpPr txBox="1"/>
          <p:nvPr/>
        </p:nvSpPr>
        <p:spPr>
          <a:xfrm>
            <a:off x="1574307" y="887892"/>
            <a:ext cx="15887700" cy="5597525"/>
          </a:xfrm>
          <a:prstGeom prst="rect">
            <a:avLst/>
          </a:prstGeom>
        </p:spPr>
        <p:txBody>
          <a:bodyPr vert="horz" wrap="square" lIns="0" tIns="12065" rIns="0" bIns="0" rtlCol="0">
            <a:spAutoFit/>
          </a:bodyPr>
          <a:lstStyle/>
          <a:p>
            <a:pPr marL="12700" marR="5080">
              <a:lnSpc>
                <a:spcPct val="116100"/>
              </a:lnSpc>
              <a:spcBef>
                <a:spcPts val="95"/>
              </a:spcBef>
            </a:pPr>
            <a:r>
              <a:rPr sz="3500" dirty="0">
                <a:solidFill>
                  <a:srgbClr val="2E377E"/>
                </a:solidFill>
                <a:latin typeface="Georgia"/>
                <a:cs typeface="Georgia"/>
              </a:rPr>
              <a:t>As</a:t>
            </a:r>
            <a:r>
              <a:rPr sz="3500" spc="10" dirty="0">
                <a:solidFill>
                  <a:srgbClr val="2E377E"/>
                </a:solidFill>
                <a:latin typeface="Georgia"/>
                <a:cs typeface="Georgia"/>
              </a:rPr>
              <a:t> </a:t>
            </a:r>
            <a:r>
              <a:rPr sz="3500" spc="75" dirty="0">
                <a:solidFill>
                  <a:srgbClr val="2E377E"/>
                </a:solidFill>
                <a:latin typeface="Georgia"/>
                <a:cs typeface="Georgia"/>
              </a:rPr>
              <a:t>you</a:t>
            </a:r>
            <a:r>
              <a:rPr sz="3500" spc="10" dirty="0">
                <a:solidFill>
                  <a:srgbClr val="2E377E"/>
                </a:solidFill>
                <a:latin typeface="Georgia"/>
                <a:cs typeface="Georgia"/>
              </a:rPr>
              <a:t> </a:t>
            </a:r>
            <a:r>
              <a:rPr sz="3500" dirty="0">
                <a:solidFill>
                  <a:srgbClr val="2E377E"/>
                </a:solidFill>
                <a:latin typeface="Georgia"/>
                <a:cs typeface="Georgia"/>
              </a:rPr>
              <a:t>know,</a:t>
            </a:r>
            <a:r>
              <a:rPr sz="3500" spc="15" dirty="0">
                <a:solidFill>
                  <a:srgbClr val="2E377E"/>
                </a:solidFill>
                <a:latin typeface="Georgia"/>
                <a:cs typeface="Georgia"/>
              </a:rPr>
              <a:t> </a:t>
            </a:r>
            <a:r>
              <a:rPr sz="3500" spc="55" dirty="0">
                <a:solidFill>
                  <a:srgbClr val="2E377E"/>
                </a:solidFill>
                <a:latin typeface="Georgia"/>
                <a:cs typeface="Georgia"/>
              </a:rPr>
              <a:t>the</a:t>
            </a:r>
            <a:r>
              <a:rPr sz="3500" spc="10" dirty="0">
                <a:solidFill>
                  <a:srgbClr val="2E377E"/>
                </a:solidFill>
                <a:latin typeface="Georgia"/>
                <a:cs typeface="Georgia"/>
              </a:rPr>
              <a:t> </a:t>
            </a:r>
            <a:r>
              <a:rPr sz="3500" dirty="0">
                <a:solidFill>
                  <a:srgbClr val="2E377E"/>
                </a:solidFill>
                <a:latin typeface="Georgia"/>
                <a:cs typeface="Georgia"/>
              </a:rPr>
              <a:t>Kubernetes</a:t>
            </a:r>
            <a:r>
              <a:rPr sz="3500" spc="10" dirty="0">
                <a:solidFill>
                  <a:srgbClr val="2E377E"/>
                </a:solidFill>
                <a:latin typeface="Georgia"/>
                <a:cs typeface="Georgia"/>
              </a:rPr>
              <a:t> </a:t>
            </a:r>
            <a:r>
              <a:rPr sz="3500" dirty="0">
                <a:solidFill>
                  <a:srgbClr val="2E377E"/>
                </a:solidFill>
                <a:latin typeface="Georgia"/>
                <a:cs typeface="Georgia"/>
              </a:rPr>
              <a:t>cluster</a:t>
            </a:r>
            <a:r>
              <a:rPr sz="3500" spc="15" dirty="0">
                <a:solidFill>
                  <a:srgbClr val="2E377E"/>
                </a:solidFill>
                <a:latin typeface="Georgia"/>
                <a:cs typeface="Georgia"/>
              </a:rPr>
              <a:t> </a:t>
            </a:r>
            <a:r>
              <a:rPr sz="3500" dirty="0">
                <a:solidFill>
                  <a:srgbClr val="2E377E"/>
                </a:solidFill>
                <a:latin typeface="Georgia"/>
                <a:cs typeface="Georgia"/>
              </a:rPr>
              <a:t>can</a:t>
            </a:r>
            <a:r>
              <a:rPr sz="3500" spc="10" dirty="0">
                <a:solidFill>
                  <a:srgbClr val="2E377E"/>
                </a:solidFill>
                <a:latin typeface="Georgia"/>
                <a:cs typeface="Georgia"/>
              </a:rPr>
              <a:t> </a:t>
            </a:r>
            <a:r>
              <a:rPr sz="3500" dirty="0">
                <a:solidFill>
                  <a:srgbClr val="2E377E"/>
                </a:solidFill>
                <a:latin typeface="Georgia"/>
                <a:cs typeface="Georgia"/>
              </a:rPr>
              <a:t>be</a:t>
            </a:r>
            <a:r>
              <a:rPr sz="3500" spc="10" dirty="0">
                <a:solidFill>
                  <a:srgbClr val="2E377E"/>
                </a:solidFill>
                <a:latin typeface="Georgia"/>
                <a:cs typeface="Georgia"/>
              </a:rPr>
              <a:t> </a:t>
            </a:r>
            <a:r>
              <a:rPr sz="3500" dirty="0">
                <a:solidFill>
                  <a:srgbClr val="2E377E"/>
                </a:solidFill>
                <a:latin typeface="Georgia"/>
                <a:cs typeface="Georgia"/>
              </a:rPr>
              <a:t>divided</a:t>
            </a:r>
            <a:r>
              <a:rPr sz="3500" spc="15" dirty="0">
                <a:solidFill>
                  <a:srgbClr val="2E377E"/>
                </a:solidFill>
                <a:latin typeface="Georgia"/>
                <a:cs typeface="Georgia"/>
              </a:rPr>
              <a:t> </a:t>
            </a:r>
            <a:r>
              <a:rPr sz="3500" dirty="0">
                <a:solidFill>
                  <a:srgbClr val="2E377E"/>
                </a:solidFill>
                <a:latin typeface="Georgia"/>
                <a:cs typeface="Georgia"/>
              </a:rPr>
              <a:t>into</a:t>
            </a:r>
            <a:r>
              <a:rPr sz="3500" spc="10" dirty="0">
                <a:solidFill>
                  <a:srgbClr val="2E377E"/>
                </a:solidFill>
                <a:latin typeface="Georgia"/>
                <a:cs typeface="Georgia"/>
              </a:rPr>
              <a:t> </a:t>
            </a:r>
            <a:r>
              <a:rPr sz="3500" dirty="0">
                <a:solidFill>
                  <a:srgbClr val="2E377E"/>
                </a:solidFill>
                <a:latin typeface="Georgia"/>
                <a:cs typeface="Georgia"/>
              </a:rPr>
              <a:t>namespaces</a:t>
            </a:r>
            <a:r>
              <a:rPr sz="3500" spc="10" dirty="0">
                <a:solidFill>
                  <a:srgbClr val="2E377E"/>
                </a:solidFill>
                <a:latin typeface="Georgia"/>
                <a:cs typeface="Georgia"/>
              </a:rPr>
              <a:t> </a:t>
            </a:r>
            <a:r>
              <a:rPr sz="3500" dirty="0">
                <a:solidFill>
                  <a:srgbClr val="2E377E"/>
                </a:solidFill>
                <a:latin typeface="Georgia"/>
                <a:cs typeface="Georgia"/>
              </a:rPr>
              <a:t>and</a:t>
            </a:r>
            <a:r>
              <a:rPr sz="3500" spc="15" dirty="0">
                <a:solidFill>
                  <a:srgbClr val="2E377E"/>
                </a:solidFill>
                <a:latin typeface="Georgia"/>
                <a:cs typeface="Georgia"/>
              </a:rPr>
              <a:t> </a:t>
            </a:r>
            <a:r>
              <a:rPr sz="3500" dirty="0">
                <a:solidFill>
                  <a:srgbClr val="2E377E"/>
                </a:solidFill>
                <a:latin typeface="Georgia"/>
                <a:cs typeface="Georgia"/>
              </a:rPr>
              <a:t>if</a:t>
            </a:r>
            <a:r>
              <a:rPr sz="3500" spc="10" dirty="0">
                <a:solidFill>
                  <a:srgbClr val="2E377E"/>
                </a:solidFill>
                <a:latin typeface="Georgia"/>
                <a:cs typeface="Georgia"/>
              </a:rPr>
              <a:t> </a:t>
            </a:r>
            <a:r>
              <a:rPr sz="3500" spc="100" dirty="0">
                <a:solidFill>
                  <a:srgbClr val="2E377E"/>
                </a:solidFill>
                <a:latin typeface="Georgia"/>
                <a:cs typeface="Georgia"/>
              </a:rPr>
              <a:t>we </a:t>
            </a:r>
            <a:r>
              <a:rPr sz="3500" dirty="0">
                <a:solidFill>
                  <a:srgbClr val="2E377E"/>
                </a:solidFill>
                <a:latin typeface="Georgia"/>
                <a:cs typeface="Georgia"/>
              </a:rPr>
              <a:t>create</a:t>
            </a:r>
            <a:r>
              <a:rPr sz="3500" spc="20" dirty="0">
                <a:solidFill>
                  <a:srgbClr val="2E377E"/>
                </a:solidFill>
                <a:latin typeface="Georgia"/>
                <a:cs typeface="Georgia"/>
              </a:rPr>
              <a:t> </a:t>
            </a:r>
            <a:r>
              <a:rPr sz="3500" dirty="0">
                <a:solidFill>
                  <a:srgbClr val="2E377E"/>
                </a:solidFill>
                <a:latin typeface="Georgia"/>
                <a:cs typeface="Georgia"/>
              </a:rPr>
              <a:t>a</a:t>
            </a:r>
            <a:r>
              <a:rPr sz="3500" spc="25" dirty="0">
                <a:solidFill>
                  <a:srgbClr val="2E377E"/>
                </a:solidFill>
                <a:latin typeface="Georgia"/>
                <a:cs typeface="Georgia"/>
              </a:rPr>
              <a:t> </a:t>
            </a:r>
            <a:r>
              <a:rPr sz="3500" dirty="0">
                <a:solidFill>
                  <a:srgbClr val="2E377E"/>
                </a:solidFill>
                <a:latin typeface="Georgia"/>
                <a:cs typeface="Georgia"/>
              </a:rPr>
              <a:t>container</a:t>
            </a:r>
            <a:r>
              <a:rPr sz="3500" spc="25" dirty="0">
                <a:solidFill>
                  <a:srgbClr val="2E377E"/>
                </a:solidFill>
                <a:latin typeface="Georgia"/>
                <a:cs typeface="Georgia"/>
              </a:rPr>
              <a:t> </a:t>
            </a:r>
            <a:r>
              <a:rPr sz="3500" spc="75" dirty="0">
                <a:solidFill>
                  <a:srgbClr val="2E377E"/>
                </a:solidFill>
                <a:latin typeface="Georgia"/>
                <a:cs typeface="Georgia"/>
              </a:rPr>
              <a:t>with</a:t>
            </a:r>
            <a:r>
              <a:rPr sz="3500" spc="25" dirty="0">
                <a:solidFill>
                  <a:srgbClr val="2E377E"/>
                </a:solidFill>
                <a:latin typeface="Georgia"/>
                <a:cs typeface="Georgia"/>
              </a:rPr>
              <a:t> </a:t>
            </a:r>
            <a:r>
              <a:rPr sz="3500" dirty="0">
                <a:solidFill>
                  <a:srgbClr val="2E377E"/>
                </a:solidFill>
                <a:latin typeface="Georgia"/>
                <a:cs typeface="Georgia"/>
              </a:rPr>
              <a:t>no</a:t>
            </a:r>
            <a:r>
              <a:rPr sz="3500" spc="25" dirty="0">
                <a:solidFill>
                  <a:srgbClr val="2E377E"/>
                </a:solidFill>
                <a:latin typeface="Georgia"/>
                <a:cs typeface="Georgia"/>
              </a:rPr>
              <a:t> </a:t>
            </a:r>
            <a:r>
              <a:rPr sz="3500" spc="-55" dirty="0">
                <a:solidFill>
                  <a:srgbClr val="2E377E"/>
                </a:solidFill>
                <a:latin typeface="Georgia"/>
                <a:cs typeface="Georgia"/>
              </a:rPr>
              <a:t>CPU</a:t>
            </a:r>
            <a:r>
              <a:rPr sz="3500" spc="20" dirty="0">
                <a:solidFill>
                  <a:srgbClr val="2E377E"/>
                </a:solidFill>
                <a:latin typeface="Georgia"/>
                <a:cs typeface="Georgia"/>
              </a:rPr>
              <a:t> </a:t>
            </a:r>
            <a:r>
              <a:rPr sz="3500" dirty="0">
                <a:solidFill>
                  <a:srgbClr val="2E377E"/>
                </a:solidFill>
                <a:latin typeface="Georgia"/>
                <a:cs typeface="Georgia"/>
              </a:rPr>
              <a:t>limits</a:t>
            </a:r>
            <a:r>
              <a:rPr sz="3500" spc="25" dirty="0">
                <a:solidFill>
                  <a:srgbClr val="2E377E"/>
                </a:solidFill>
                <a:latin typeface="Georgia"/>
                <a:cs typeface="Georgia"/>
              </a:rPr>
              <a:t> </a:t>
            </a:r>
            <a:r>
              <a:rPr sz="3500" dirty="0">
                <a:solidFill>
                  <a:srgbClr val="2E377E"/>
                </a:solidFill>
                <a:latin typeface="Georgia"/>
                <a:cs typeface="Georgia"/>
              </a:rPr>
              <a:t>then</a:t>
            </a:r>
            <a:r>
              <a:rPr sz="3500" spc="25" dirty="0">
                <a:solidFill>
                  <a:srgbClr val="2E377E"/>
                </a:solidFill>
                <a:latin typeface="Georgia"/>
                <a:cs typeface="Georgia"/>
              </a:rPr>
              <a:t> </a:t>
            </a:r>
            <a:r>
              <a:rPr sz="3500" spc="55" dirty="0">
                <a:solidFill>
                  <a:srgbClr val="2E377E"/>
                </a:solidFill>
                <a:latin typeface="Georgia"/>
                <a:cs typeface="Georgia"/>
              </a:rPr>
              <a:t>the</a:t>
            </a:r>
            <a:r>
              <a:rPr sz="3500" spc="25" dirty="0">
                <a:solidFill>
                  <a:srgbClr val="2E377E"/>
                </a:solidFill>
                <a:latin typeface="Georgia"/>
                <a:cs typeface="Georgia"/>
              </a:rPr>
              <a:t> </a:t>
            </a:r>
            <a:r>
              <a:rPr sz="3500" dirty="0">
                <a:solidFill>
                  <a:srgbClr val="2E377E"/>
                </a:solidFill>
                <a:latin typeface="Georgia"/>
                <a:cs typeface="Georgia"/>
              </a:rPr>
              <a:t>container</a:t>
            </a:r>
            <a:r>
              <a:rPr sz="3500" spc="20" dirty="0">
                <a:solidFill>
                  <a:srgbClr val="2E377E"/>
                </a:solidFill>
                <a:latin typeface="Georgia"/>
                <a:cs typeface="Georgia"/>
              </a:rPr>
              <a:t> </a:t>
            </a:r>
            <a:r>
              <a:rPr sz="3500" dirty="0">
                <a:solidFill>
                  <a:srgbClr val="2E377E"/>
                </a:solidFill>
                <a:latin typeface="Georgia"/>
                <a:cs typeface="Georgia"/>
              </a:rPr>
              <a:t>will</a:t>
            </a:r>
            <a:r>
              <a:rPr sz="3500" spc="25" dirty="0">
                <a:solidFill>
                  <a:srgbClr val="2E377E"/>
                </a:solidFill>
                <a:latin typeface="Georgia"/>
                <a:cs typeface="Georgia"/>
              </a:rPr>
              <a:t> </a:t>
            </a:r>
            <a:r>
              <a:rPr sz="3500" dirty="0">
                <a:solidFill>
                  <a:srgbClr val="2E377E"/>
                </a:solidFill>
                <a:latin typeface="Georgia"/>
                <a:cs typeface="Georgia"/>
              </a:rPr>
              <a:t>have</a:t>
            </a:r>
            <a:r>
              <a:rPr sz="3500" spc="25" dirty="0">
                <a:solidFill>
                  <a:srgbClr val="2E377E"/>
                </a:solidFill>
                <a:latin typeface="Georgia"/>
                <a:cs typeface="Georgia"/>
              </a:rPr>
              <a:t> </a:t>
            </a:r>
            <a:r>
              <a:rPr sz="3500" dirty="0">
                <a:solidFill>
                  <a:srgbClr val="2E377E"/>
                </a:solidFill>
                <a:latin typeface="Georgia"/>
                <a:cs typeface="Georgia"/>
              </a:rPr>
              <a:t>default</a:t>
            </a:r>
            <a:r>
              <a:rPr sz="3500" spc="25" dirty="0">
                <a:solidFill>
                  <a:srgbClr val="2E377E"/>
                </a:solidFill>
                <a:latin typeface="Georgia"/>
                <a:cs typeface="Georgia"/>
              </a:rPr>
              <a:t> </a:t>
            </a:r>
            <a:r>
              <a:rPr sz="3500" spc="-10" dirty="0">
                <a:solidFill>
                  <a:srgbClr val="2E377E"/>
                </a:solidFill>
                <a:latin typeface="Georgia"/>
                <a:cs typeface="Georgia"/>
              </a:rPr>
              <a:t>limits. </a:t>
            </a:r>
            <a:r>
              <a:rPr sz="3500" dirty="0">
                <a:solidFill>
                  <a:srgbClr val="2E377E"/>
                </a:solidFill>
                <a:latin typeface="Georgia"/>
                <a:cs typeface="Georgia"/>
              </a:rPr>
              <a:t>A</a:t>
            </a:r>
            <a:r>
              <a:rPr sz="3500" spc="-15" dirty="0">
                <a:solidFill>
                  <a:srgbClr val="2E377E"/>
                </a:solidFill>
                <a:latin typeface="Georgia"/>
                <a:cs typeface="Georgia"/>
              </a:rPr>
              <a:t> </a:t>
            </a:r>
            <a:r>
              <a:rPr sz="3500" dirty="0">
                <a:solidFill>
                  <a:srgbClr val="2E377E"/>
                </a:solidFill>
                <a:latin typeface="Georgia"/>
                <a:cs typeface="Georgia"/>
              </a:rPr>
              <a:t>namespace</a:t>
            </a:r>
            <a:r>
              <a:rPr sz="3500" spc="-15" dirty="0">
                <a:solidFill>
                  <a:srgbClr val="2E377E"/>
                </a:solidFill>
                <a:latin typeface="Georgia"/>
                <a:cs typeface="Georgia"/>
              </a:rPr>
              <a:t> </a:t>
            </a:r>
            <a:r>
              <a:rPr sz="3500" dirty="0">
                <a:solidFill>
                  <a:srgbClr val="2E377E"/>
                </a:solidFill>
                <a:latin typeface="Georgia"/>
                <a:cs typeface="Georgia"/>
              </a:rPr>
              <a:t>can</a:t>
            </a:r>
            <a:r>
              <a:rPr sz="3500" spc="-10" dirty="0">
                <a:solidFill>
                  <a:srgbClr val="2E377E"/>
                </a:solidFill>
                <a:latin typeface="Georgia"/>
                <a:cs typeface="Georgia"/>
              </a:rPr>
              <a:t> </a:t>
            </a:r>
            <a:r>
              <a:rPr sz="3500" dirty="0">
                <a:solidFill>
                  <a:srgbClr val="2E377E"/>
                </a:solidFill>
                <a:latin typeface="Georgia"/>
                <a:cs typeface="Georgia"/>
              </a:rPr>
              <a:t>be</a:t>
            </a:r>
            <a:r>
              <a:rPr sz="3500" spc="-15" dirty="0">
                <a:solidFill>
                  <a:srgbClr val="2E377E"/>
                </a:solidFill>
                <a:latin typeface="Georgia"/>
                <a:cs typeface="Georgia"/>
              </a:rPr>
              <a:t> </a:t>
            </a:r>
            <a:r>
              <a:rPr sz="3500" dirty="0">
                <a:solidFill>
                  <a:srgbClr val="2E377E"/>
                </a:solidFill>
                <a:latin typeface="Georgia"/>
                <a:cs typeface="Georgia"/>
              </a:rPr>
              <a:t>assigned</a:t>
            </a:r>
            <a:r>
              <a:rPr sz="3500" spc="-10" dirty="0">
                <a:solidFill>
                  <a:srgbClr val="2E377E"/>
                </a:solidFill>
                <a:latin typeface="Georgia"/>
                <a:cs typeface="Georgia"/>
              </a:rPr>
              <a:t> </a:t>
            </a:r>
            <a:r>
              <a:rPr sz="3500" spc="55" dirty="0">
                <a:solidFill>
                  <a:srgbClr val="2E377E"/>
                </a:solidFill>
                <a:latin typeface="Georgia"/>
                <a:cs typeface="Georgia"/>
              </a:rPr>
              <a:t>to</a:t>
            </a:r>
            <a:r>
              <a:rPr sz="3500" spc="-15" dirty="0">
                <a:solidFill>
                  <a:srgbClr val="2E377E"/>
                </a:solidFill>
                <a:latin typeface="Georgia"/>
                <a:cs typeface="Georgia"/>
              </a:rPr>
              <a:t> </a:t>
            </a:r>
            <a:r>
              <a:rPr sz="3500" dirty="0">
                <a:solidFill>
                  <a:srgbClr val="2E377E"/>
                </a:solidFill>
                <a:latin typeface="Georgia"/>
                <a:cs typeface="Georgia"/>
              </a:rPr>
              <a:t>ResourceQuota</a:t>
            </a:r>
            <a:r>
              <a:rPr sz="3500" spc="-10" dirty="0">
                <a:solidFill>
                  <a:srgbClr val="2E377E"/>
                </a:solidFill>
                <a:latin typeface="Georgia"/>
                <a:cs typeface="Georgia"/>
              </a:rPr>
              <a:t> </a:t>
            </a:r>
            <a:r>
              <a:rPr sz="3500" dirty="0">
                <a:solidFill>
                  <a:srgbClr val="2E377E"/>
                </a:solidFill>
                <a:latin typeface="Georgia"/>
                <a:cs typeface="Georgia"/>
              </a:rPr>
              <a:t>objects,</a:t>
            </a:r>
            <a:r>
              <a:rPr sz="3500" spc="-15" dirty="0">
                <a:solidFill>
                  <a:srgbClr val="2E377E"/>
                </a:solidFill>
                <a:latin typeface="Georgia"/>
                <a:cs typeface="Georgia"/>
              </a:rPr>
              <a:t> </a:t>
            </a:r>
            <a:r>
              <a:rPr sz="3500" dirty="0">
                <a:solidFill>
                  <a:srgbClr val="2E377E"/>
                </a:solidFill>
                <a:latin typeface="Georgia"/>
                <a:cs typeface="Georgia"/>
              </a:rPr>
              <a:t>this</a:t>
            </a:r>
            <a:r>
              <a:rPr sz="3500" spc="-15" dirty="0">
                <a:solidFill>
                  <a:srgbClr val="2E377E"/>
                </a:solidFill>
                <a:latin typeface="Georgia"/>
                <a:cs typeface="Georgia"/>
              </a:rPr>
              <a:t> </a:t>
            </a:r>
            <a:r>
              <a:rPr sz="3500" dirty="0">
                <a:solidFill>
                  <a:srgbClr val="2E377E"/>
                </a:solidFill>
                <a:latin typeface="Georgia"/>
                <a:cs typeface="Georgia"/>
              </a:rPr>
              <a:t>will</a:t>
            </a:r>
            <a:r>
              <a:rPr sz="3500" spc="-10" dirty="0">
                <a:solidFill>
                  <a:srgbClr val="2E377E"/>
                </a:solidFill>
                <a:latin typeface="Georgia"/>
                <a:cs typeface="Georgia"/>
              </a:rPr>
              <a:t> </a:t>
            </a:r>
            <a:r>
              <a:rPr sz="3500" dirty="0">
                <a:solidFill>
                  <a:srgbClr val="2E377E"/>
                </a:solidFill>
                <a:latin typeface="Georgia"/>
                <a:cs typeface="Georgia"/>
              </a:rPr>
              <a:t>help</a:t>
            </a:r>
            <a:r>
              <a:rPr sz="3500" spc="-15" dirty="0">
                <a:solidFill>
                  <a:srgbClr val="2E377E"/>
                </a:solidFill>
                <a:latin typeface="Georgia"/>
                <a:cs typeface="Georgia"/>
              </a:rPr>
              <a:t> </a:t>
            </a:r>
            <a:r>
              <a:rPr sz="3500" spc="55" dirty="0">
                <a:solidFill>
                  <a:srgbClr val="2E377E"/>
                </a:solidFill>
                <a:latin typeface="Georgia"/>
                <a:cs typeface="Georgia"/>
              </a:rPr>
              <a:t>to</a:t>
            </a:r>
            <a:r>
              <a:rPr sz="3500" spc="-10" dirty="0">
                <a:solidFill>
                  <a:srgbClr val="2E377E"/>
                </a:solidFill>
                <a:latin typeface="Georgia"/>
                <a:cs typeface="Georgia"/>
              </a:rPr>
              <a:t> </a:t>
            </a:r>
            <a:r>
              <a:rPr sz="3500" spc="-20" dirty="0">
                <a:solidFill>
                  <a:srgbClr val="2E377E"/>
                </a:solidFill>
                <a:latin typeface="Georgia"/>
                <a:cs typeface="Georgia"/>
              </a:rPr>
              <a:t>limit </a:t>
            </a:r>
            <a:r>
              <a:rPr sz="3500" spc="55" dirty="0">
                <a:solidFill>
                  <a:srgbClr val="2E377E"/>
                </a:solidFill>
                <a:latin typeface="Georgia"/>
                <a:cs typeface="Georgia"/>
              </a:rPr>
              <a:t>the</a:t>
            </a:r>
            <a:r>
              <a:rPr sz="3500" spc="-35" dirty="0">
                <a:solidFill>
                  <a:srgbClr val="2E377E"/>
                </a:solidFill>
                <a:latin typeface="Georgia"/>
                <a:cs typeface="Georgia"/>
              </a:rPr>
              <a:t> </a:t>
            </a:r>
            <a:r>
              <a:rPr sz="3500" dirty="0">
                <a:solidFill>
                  <a:srgbClr val="2E377E"/>
                </a:solidFill>
                <a:latin typeface="Georgia"/>
                <a:cs typeface="Georgia"/>
              </a:rPr>
              <a:t>amount</a:t>
            </a:r>
            <a:r>
              <a:rPr sz="3500" spc="-30" dirty="0">
                <a:solidFill>
                  <a:srgbClr val="2E377E"/>
                </a:solidFill>
                <a:latin typeface="Georgia"/>
                <a:cs typeface="Georgia"/>
              </a:rPr>
              <a:t> </a:t>
            </a:r>
            <a:r>
              <a:rPr sz="3500" dirty="0">
                <a:solidFill>
                  <a:srgbClr val="2E377E"/>
                </a:solidFill>
                <a:latin typeface="Georgia"/>
                <a:cs typeface="Georgia"/>
              </a:rPr>
              <a:t>of</a:t>
            </a:r>
            <a:r>
              <a:rPr sz="3500" spc="-30" dirty="0">
                <a:solidFill>
                  <a:srgbClr val="2E377E"/>
                </a:solidFill>
                <a:latin typeface="Georgia"/>
                <a:cs typeface="Georgia"/>
              </a:rPr>
              <a:t> </a:t>
            </a:r>
            <a:r>
              <a:rPr sz="3500" dirty="0">
                <a:solidFill>
                  <a:srgbClr val="2E377E"/>
                </a:solidFill>
                <a:latin typeface="Georgia"/>
                <a:cs typeface="Georgia"/>
              </a:rPr>
              <a:t>usage</a:t>
            </a:r>
            <a:r>
              <a:rPr sz="3500" spc="-35" dirty="0">
                <a:solidFill>
                  <a:srgbClr val="2E377E"/>
                </a:solidFill>
                <a:latin typeface="Georgia"/>
                <a:cs typeface="Georgia"/>
              </a:rPr>
              <a:t> </a:t>
            </a:r>
            <a:r>
              <a:rPr sz="3500" spc="55" dirty="0">
                <a:solidFill>
                  <a:srgbClr val="2E377E"/>
                </a:solidFill>
                <a:latin typeface="Georgia"/>
                <a:cs typeface="Georgia"/>
              </a:rPr>
              <a:t>to</a:t>
            </a:r>
            <a:r>
              <a:rPr sz="3500" spc="-30" dirty="0">
                <a:solidFill>
                  <a:srgbClr val="2E377E"/>
                </a:solidFill>
                <a:latin typeface="Georgia"/>
                <a:cs typeface="Georgia"/>
              </a:rPr>
              <a:t> </a:t>
            </a:r>
            <a:r>
              <a:rPr sz="3500" spc="55" dirty="0">
                <a:solidFill>
                  <a:srgbClr val="2E377E"/>
                </a:solidFill>
                <a:latin typeface="Georgia"/>
                <a:cs typeface="Georgia"/>
              </a:rPr>
              <a:t>the</a:t>
            </a:r>
            <a:r>
              <a:rPr sz="3500" spc="-30" dirty="0">
                <a:solidFill>
                  <a:srgbClr val="2E377E"/>
                </a:solidFill>
                <a:latin typeface="Georgia"/>
                <a:cs typeface="Georgia"/>
              </a:rPr>
              <a:t> </a:t>
            </a:r>
            <a:r>
              <a:rPr sz="3500" dirty="0">
                <a:solidFill>
                  <a:srgbClr val="2E377E"/>
                </a:solidFill>
                <a:latin typeface="Georgia"/>
                <a:cs typeface="Georgia"/>
              </a:rPr>
              <a:t>objects</a:t>
            </a:r>
            <a:r>
              <a:rPr sz="3500" spc="-35" dirty="0">
                <a:solidFill>
                  <a:srgbClr val="2E377E"/>
                </a:solidFill>
                <a:latin typeface="Georgia"/>
                <a:cs typeface="Georgia"/>
              </a:rPr>
              <a:t> </a:t>
            </a:r>
            <a:r>
              <a:rPr sz="3500" spc="50" dirty="0">
                <a:solidFill>
                  <a:srgbClr val="2E377E"/>
                </a:solidFill>
                <a:latin typeface="Georgia"/>
                <a:cs typeface="Georgia"/>
              </a:rPr>
              <a:t>within</a:t>
            </a:r>
            <a:r>
              <a:rPr sz="3500" spc="-30" dirty="0">
                <a:solidFill>
                  <a:srgbClr val="2E377E"/>
                </a:solidFill>
                <a:latin typeface="Georgia"/>
                <a:cs typeface="Georgia"/>
              </a:rPr>
              <a:t> </a:t>
            </a:r>
            <a:r>
              <a:rPr sz="3500" spc="55" dirty="0">
                <a:solidFill>
                  <a:srgbClr val="2E377E"/>
                </a:solidFill>
                <a:latin typeface="Georgia"/>
                <a:cs typeface="Georgia"/>
              </a:rPr>
              <a:t>the</a:t>
            </a:r>
            <a:r>
              <a:rPr sz="3500" spc="-30" dirty="0">
                <a:solidFill>
                  <a:srgbClr val="2E377E"/>
                </a:solidFill>
                <a:latin typeface="Georgia"/>
                <a:cs typeface="Georgia"/>
              </a:rPr>
              <a:t> </a:t>
            </a:r>
            <a:r>
              <a:rPr sz="3500" dirty="0">
                <a:solidFill>
                  <a:srgbClr val="2E377E"/>
                </a:solidFill>
                <a:latin typeface="Georgia"/>
                <a:cs typeface="Georgia"/>
              </a:rPr>
              <a:t>namespaces.</a:t>
            </a:r>
            <a:r>
              <a:rPr sz="3500" spc="-35" dirty="0">
                <a:solidFill>
                  <a:srgbClr val="2E377E"/>
                </a:solidFill>
                <a:latin typeface="Georgia"/>
                <a:cs typeface="Georgia"/>
              </a:rPr>
              <a:t> </a:t>
            </a:r>
            <a:r>
              <a:rPr sz="3500" dirty="0">
                <a:solidFill>
                  <a:srgbClr val="2E377E"/>
                </a:solidFill>
                <a:latin typeface="Georgia"/>
                <a:cs typeface="Georgia"/>
              </a:rPr>
              <a:t>You</a:t>
            </a:r>
            <a:r>
              <a:rPr sz="3500" spc="-30" dirty="0">
                <a:solidFill>
                  <a:srgbClr val="2E377E"/>
                </a:solidFill>
                <a:latin typeface="Georgia"/>
                <a:cs typeface="Georgia"/>
              </a:rPr>
              <a:t> </a:t>
            </a:r>
            <a:r>
              <a:rPr sz="3500" dirty="0">
                <a:solidFill>
                  <a:srgbClr val="2E377E"/>
                </a:solidFill>
                <a:latin typeface="Georgia"/>
                <a:cs typeface="Georgia"/>
              </a:rPr>
              <a:t>can</a:t>
            </a:r>
            <a:r>
              <a:rPr sz="3500" spc="-30" dirty="0">
                <a:solidFill>
                  <a:srgbClr val="2E377E"/>
                </a:solidFill>
                <a:latin typeface="Georgia"/>
                <a:cs typeface="Georgia"/>
              </a:rPr>
              <a:t> </a:t>
            </a:r>
            <a:r>
              <a:rPr sz="3500" dirty="0">
                <a:solidFill>
                  <a:srgbClr val="2E377E"/>
                </a:solidFill>
                <a:latin typeface="Georgia"/>
                <a:cs typeface="Georgia"/>
              </a:rPr>
              <a:t>limit</a:t>
            </a:r>
            <a:r>
              <a:rPr sz="3500" spc="-35" dirty="0">
                <a:solidFill>
                  <a:srgbClr val="2E377E"/>
                </a:solidFill>
                <a:latin typeface="Georgia"/>
                <a:cs typeface="Georgia"/>
              </a:rPr>
              <a:t> </a:t>
            </a:r>
            <a:r>
              <a:rPr sz="3500" spc="30" dirty="0">
                <a:solidFill>
                  <a:srgbClr val="2E377E"/>
                </a:solidFill>
                <a:latin typeface="Georgia"/>
                <a:cs typeface="Georgia"/>
              </a:rPr>
              <a:t>the </a:t>
            </a:r>
            <a:r>
              <a:rPr sz="3500" dirty="0">
                <a:solidFill>
                  <a:srgbClr val="2E377E"/>
                </a:solidFill>
                <a:latin typeface="Georgia"/>
                <a:cs typeface="Georgia"/>
              </a:rPr>
              <a:t>computer</a:t>
            </a:r>
            <a:r>
              <a:rPr sz="3500" spc="-5" dirty="0">
                <a:solidFill>
                  <a:srgbClr val="2E377E"/>
                </a:solidFill>
                <a:latin typeface="Georgia"/>
                <a:cs typeface="Georgia"/>
              </a:rPr>
              <a:t> </a:t>
            </a:r>
            <a:r>
              <a:rPr sz="3500" spc="-170" dirty="0">
                <a:solidFill>
                  <a:srgbClr val="2E377E"/>
                </a:solidFill>
                <a:latin typeface="Georgia"/>
                <a:cs typeface="Georgia"/>
              </a:rPr>
              <a:t>(CPU),</a:t>
            </a:r>
            <a:r>
              <a:rPr sz="3500" spc="-5" dirty="0">
                <a:solidFill>
                  <a:srgbClr val="2E377E"/>
                </a:solidFill>
                <a:latin typeface="Georgia"/>
                <a:cs typeface="Georgia"/>
              </a:rPr>
              <a:t> </a:t>
            </a:r>
            <a:r>
              <a:rPr sz="3500" dirty="0">
                <a:solidFill>
                  <a:srgbClr val="2E377E"/>
                </a:solidFill>
                <a:latin typeface="Georgia"/>
                <a:cs typeface="Georgia"/>
              </a:rPr>
              <a:t>Memory,</a:t>
            </a:r>
            <a:r>
              <a:rPr sz="3500" spc="-5" dirty="0">
                <a:solidFill>
                  <a:srgbClr val="2E377E"/>
                </a:solidFill>
                <a:latin typeface="Georgia"/>
                <a:cs typeface="Georgia"/>
              </a:rPr>
              <a:t> </a:t>
            </a:r>
            <a:r>
              <a:rPr sz="3500" dirty="0">
                <a:solidFill>
                  <a:srgbClr val="2E377E"/>
                </a:solidFill>
                <a:latin typeface="Georgia"/>
                <a:cs typeface="Georgia"/>
              </a:rPr>
              <a:t>and</a:t>
            </a:r>
            <a:r>
              <a:rPr sz="3500" spc="-5" dirty="0">
                <a:solidFill>
                  <a:srgbClr val="2E377E"/>
                </a:solidFill>
                <a:latin typeface="Georgia"/>
                <a:cs typeface="Georgia"/>
              </a:rPr>
              <a:t> </a:t>
            </a:r>
            <a:r>
              <a:rPr sz="3500" spc="-10" dirty="0">
                <a:solidFill>
                  <a:srgbClr val="2E377E"/>
                </a:solidFill>
                <a:latin typeface="Georgia"/>
                <a:cs typeface="Georgia"/>
              </a:rPr>
              <a:t>Storage.</a:t>
            </a:r>
            <a:endParaRPr sz="3500">
              <a:latin typeface="Georgia"/>
              <a:cs typeface="Georgia"/>
            </a:endParaRPr>
          </a:p>
          <a:p>
            <a:pPr marL="12700" algn="just">
              <a:lnSpc>
                <a:spcPct val="100000"/>
              </a:lnSpc>
              <a:spcBef>
                <a:spcPts val="675"/>
              </a:spcBef>
            </a:pPr>
            <a:r>
              <a:rPr sz="3500" dirty="0">
                <a:solidFill>
                  <a:srgbClr val="2E377E"/>
                </a:solidFill>
                <a:latin typeface="Georgia"/>
                <a:cs typeface="Georgia"/>
              </a:rPr>
              <a:t>Restrictions</a:t>
            </a:r>
            <a:r>
              <a:rPr sz="3500" spc="65" dirty="0">
                <a:solidFill>
                  <a:srgbClr val="2E377E"/>
                </a:solidFill>
                <a:latin typeface="Georgia"/>
                <a:cs typeface="Georgia"/>
              </a:rPr>
              <a:t> </a:t>
            </a:r>
            <a:r>
              <a:rPr sz="3500" dirty="0">
                <a:solidFill>
                  <a:srgbClr val="2E377E"/>
                </a:solidFill>
                <a:latin typeface="Georgia"/>
                <a:cs typeface="Georgia"/>
              </a:rPr>
              <a:t>that</a:t>
            </a:r>
            <a:r>
              <a:rPr sz="3500" spc="65" dirty="0">
                <a:solidFill>
                  <a:srgbClr val="2E377E"/>
                </a:solidFill>
                <a:latin typeface="Georgia"/>
                <a:cs typeface="Georgia"/>
              </a:rPr>
              <a:t> </a:t>
            </a:r>
            <a:r>
              <a:rPr sz="3500" dirty="0">
                <a:solidFill>
                  <a:srgbClr val="2E377E"/>
                </a:solidFill>
                <a:latin typeface="Georgia"/>
                <a:cs typeface="Georgia"/>
              </a:rPr>
              <a:t>a</a:t>
            </a:r>
            <a:r>
              <a:rPr sz="3500" spc="65" dirty="0">
                <a:solidFill>
                  <a:srgbClr val="2E377E"/>
                </a:solidFill>
                <a:latin typeface="Georgia"/>
                <a:cs typeface="Georgia"/>
              </a:rPr>
              <a:t> </a:t>
            </a:r>
            <a:r>
              <a:rPr sz="3500" dirty="0">
                <a:solidFill>
                  <a:srgbClr val="2E377E"/>
                </a:solidFill>
                <a:latin typeface="Georgia"/>
                <a:cs typeface="Georgia"/>
              </a:rPr>
              <a:t>resource-quotas</a:t>
            </a:r>
            <a:r>
              <a:rPr sz="3500" spc="70" dirty="0">
                <a:solidFill>
                  <a:srgbClr val="2E377E"/>
                </a:solidFill>
                <a:latin typeface="Georgia"/>
                <a:cs typeface="Georgia"/>
              </a:rPr>
              <a:t> </a:t>
            </a:r>
            <a:r>
              <a:rPr sz="3500" dirty="0">
                <a:solidFill>
                  <a:srgbClr val="2E377E"/>
                </a:solidFill>
                <a:latin typeface="Georgia"/>
                <a:cs typeface="Georgia"/>
              </a:rPr>
              <a:t>imposes</a:t>
            </a:r>
            <a:r>
              <a:rPr sz="3500" spc="65" dirty="0">
                <a:solidFill>
                  <a:srgbClr val="2E377E"/>
                </a:solidFill>
                <a:latin typeface="Georgia"/>
                <a:cs typeface="Georgia"/>
              </a:rPr>
              <a:t> </a:t>
            </a:r>
            <a:r>
              <a:rPr sz="3500" dirty="0">
                <a:solidFill>
                  <a:srgbClr val="2E377E"/>
                </a:solidFill>
                <a:latin typeface="Georgia"/>
                <a:cs typeface="Georgia"/>
              </a:rPr>
              <a:t>on</a:t>
            </a:r>
            <a:r>
              <a:rPr sz="3500" spc="65" dirty="0">
                <a:solidFill>
                  <a:srgbClr val="2E377E"/>
                </a:solidFill>
                <a:latin typeface="Georgia"/>
                <a:cs typeface="Georgia"/>
              </a:rPr>
              <a:t> </a:t>
            </a:r>
            <a:r>
              <a:rPr sz="3500" spc="-10" dirty="0">
                <a:solidFill>
                  <a:srgbClr val="2E377E"/>
                </a:solidFill>
                <a:latin typeface="Georgia"/>
                <a:cs typeface="Georgia"/>
              </a:rPr>
              <a:t>namespaces</a:t>
            </a:r>
            <a:endParaRPr sz="3500">
              <a:latin typeface="Georgia"/>
              <a:cs typeface="Georgia"/>
            </a:endParaRPr>
          </a:p>
          <a:p>
            <a:pPr marL="12700" marR="85725" algn="just">
              <a:lnSpc>
                <a:spcPts val="4870"/>
              </a:lnSpc>
              <a:spcBef>
                <a:spcPts val="114"/>
              </a:spcBef>
            </a:pPr>
            <a:r>
              <a:rPr sz="3500" dirty="0">
                <a:solidFill>
                  <a:srgbClr val="2E377E"/>
                </a:solidFill>
                <a:latin typeface="Georgia"/>
                <a:cs typeface="Georgia"/>
              </a:rPr>
              <a:t>Every</a:t>
            </a:r>
            <a:r>
              <a:rPr sz="3500" spc="10" dirty="0">
                <a:solidFill>
                  <a:srgbClr val="2E377E"/>
                </a:solidFill>
                <a:latin typeface="Georgia"/>
                <a:cs typeface="Georgia"/>
              </a:rPr>
              <a:t> </a:t>
            </a:r>
            <a:r>
              <a:rPr sz="3500" dirty="0">
                <a:solidFill>
                  <a:srgbClr val="2E377E"/>
                </a:solidFill>
                <a:latin typeface="Georgia"/>
                <a:cs typeface="Georgia"/>
              </a:rPr>
              <a:t>container</a:t>
            </a:r>
            <a:r>
              <a:rPr sz="3500" spc="15" dirty="0">
                <a:solidFill>
                  <a:srgbClr val="2E377E"/>
                </a:solidFill>
                <a:latin typeface="Georgia"/>
                <a:cs typeface="Georgia"/>
              </a:rPr>
              <a:t> </a:t>
            </a:r>
            <a:r>
              <a:rPr sz="3500" dirty="0">
                <a:solidFill>
                  <a:srgbClr val="2E377E"/>
                </a:solidFill>
                <a:latin typeface="Georgia"/>
                <a:cs typeface="Georgia"/>
              </a:rPr>
              <a:t>that</a:t>
            </a:r>
            <a:r>
              <a:rPr sz="3500" spc="15" dirty="0">
                <a:solidFill>
                  <a:srgbClr val="2E377E"/>
                </a:solidFill>
                <a:latin typeface="Georgia"/>
                <a:cs typeface="Georgia"/>
              </a:rPr>
              <a:t> </a:t>
            </a:r>
            <a:r>
              <a:rPr sz="3500" dirty="0">
                <a:solidFill>
                  <a:srgbClr val="2E377E"/>
                </a:solidFill>
                <a:latin typeface="Georgia"/>
                <a:cs typeface="Georgia"/>
              </a:rPr>
              <a:t>is</a:t>
            </a:r>
            <a:r>
              <a:rPr sz="3500" spc="15" dirty="0">
                <a:solidFill>
                  <a:srgbClr val="2E377E"/>
                </a:solidFill>
                <a:latin typeface="Georgia"/>
                <a:cs typeface="Georgia"/>
              </a:rPr>
              <a:t> </a:t>
            </a:r>
            <a:r>
              <a:rPr sz="3500" dirty="0">
                <a:solidFill>
                  <a:srgbClr val="2E377E"/>
                </a:solidFill>
                <a:latin typeface="Georgia"/>
                <a:cs typeface="Georgia"/>
              </a:rPr>
              <a:t>running</a:t>
            </a:r>
            <a:r>
              <a:rPr sz="3500" spc="15" dirty="0">
                <a:solidFill>
                  <a:srgbClr val="2E377E"/>
                </a:solidFill>
                <a:latin typeface="Georgia"/>
                <a:cs typeface="Georgia"/>
              </a:rPr>
              <a:t> </a:t>
            </a:r>
            <a:r>
              <a:rPr sz="3500" dirty="0">
                <a:solidFill>
                  <a:srgbClr val="2E377E"/>
                </a:solidFill>
                <a:latin typeface="Georgia"/>
                <a:cs typeface="Georgia"/>
              </a:rPr>
              <a:t>on</a:t>
            </a:r>
            <a:r>
              <a:rPr sz="3500" spc="15" dirty="0">
                <a:solidFill>
                  <a:srgbClr val="2E377E"/>
                </a:solidFill>
                <a:latin typeface="Georgia"/>
                <a:cs typeface="Georgia"/>
              </a:rPr>
              <a:t> </a:t>
            </a:r>
            <a:r>
              <a:rPr sz="3500" spc="55" dirty="0">
                <a:solidFill>
                  <a:srgbClr val="2E377E"/>
                </a:solidFill>
                <a:latin typeface="Georgia"/>
                <a:cs typeface="Georgia"/>
              </a:rPr>
              <a:t>the</a:t>
            </a:r>
            <a:r>
              <a:rPr sz="3500" spc="15" dirty="0">
                <a:solidFill>
                  <a:srgbClr val="2E377E"/>
                </a:solidFill>
                <a:latin typeface="Georgia"/>
                <a:cs typeface="Georgia"/>
              </a:rPr>
              <a:t> </a:t>
            </a:r>
            <a:r>
              <a:rPr sz="3500" dirty="0">
                <a:solidFill>
                  <a:srgbClr val="2E377E"/>
                </a:solidFill>
                <a:latin typeface="Georgia"/>
                <a:cs typeface="Georgia"/>
              </a:rPr>
              <a:t>namespace</a:t>
            </a:r>
            <a:r>
              <a:rPr sz="3500" spc="15" dirty="0">
                <a:solidFill>
                  <a:srgbClr val="2E377E"/>
                </a:solidFill>
                <a:latin typeface="Georgia"/>
                <a:cs typeface="Georgia"/>
              </a:rPr>
              <a:t> </a:t>
            </a:r>
            <a:r>
              <a:rPr sz="3500" dirty="0">
                <a:solidFill>
                  <a:srgbClr val="2E377E"/>
                </a:solidFill>
                <a:latin typeface="Georgia"/>
                <a:cs typeface="Georgia"/>
              </a:rPr>
              <a:t>must</a:t>
            </a:r>
            <a:r>
              <a:rPr sz="3500" spc="15" dirty="0">
                <a:solidFill>
                  <a:srgbClr val="2E377E"/>
                </a:solidFill>
                <a:latin typeface="Georgia"/>
                <a:cs typeface="Georgia"/>
              </a:rPr>
              <a:t> </a:t>
            </a:r>
            <a:r>
              <a:rPr sz="3500" dirty="0">
                <a:solidFill>
                  <a:srgbClr val="2E377E"/>
                </a:solidFill>
                <a:latin typeface="Georgia"/>
                <a:cs typeface="Georgia"/>
              </a:rPr>
              <a:t>have</a:t>
            </a:r>
            <a:r>
              <a:rPr sz="3500" spc="15" dirty="0">
                <a:solidFill>
                  <a:srgbClr val="2E377E"/>
                </a:solidFill>
                <a:latin typeface="Georgia"/>
                <a:cs typeface="Georgia"/>
              </a:rPr>
              <a:t> </a:t>
            </a:r>
            <a:r>
              <a:rPr sz="3500" dirty="0">
                <a:solidFill>
                  <a:srgbClr val="2E377E"/>
                </a:solidFill>
                <a:latin typeface="Georgia"/>
                <a:cs typeface="Georgia"/>
              </a:rPr>
              <a:t>its</a:t>
            </a:r>
            <a:r>
              <a:rPr sz="3500" spc="15" dirty="0">
                <a:solidFill>
                  <a:srgbClr val="2E377E"/>
                </a:solidFill>
                <a:latin typeface="Georgia"/>
                <a:cs typeface="Georgia"/>
              </a:rPr>
              <a:t> </a:t>
            </a:r>
            <a:r>
              <a:rPr sz="3500" spc="70" dirty="0">
                <a:solidFill>
                  <a:srgbClr val="2E377E"/>
                </a:solidFill>
                <a:latin typeface="Georgia"/>
                <a:cs typeface="Georgia"/>
              </a:rPr>
              <a:t>own</a:t>
            </a:r>
            <a:r>
              <a:rPr sz="3500" spc="15" dirty="0">
                <a:solidFill>
                  <a:srgbClr val="2E377E"/>
                </a:solidFill>
                <a:latin typeface="Georgia"/>
                <a:cs typeface="Georgia"/>
              </a:rPr>
              <a:t> </a:t>
            </a:r>
            <a:r>
              <a:rPr sz="3500" spc="-55" dirty="0">
                <a:solidFill>
                  <a:srgbClr val="2E377E"/>
                </a:solidFill>
                <a:latin typeface="Georgia"/>
                <a:cs typeface="Georgia"/>
              </a:rPr>
              <a:t>CPU</a:t>
            </a:r>
            <a:r>
              <a:rPr sz="3500" spc="15" dirty="0">
                <a:solidFill>
                  <a:srgbClr val="2E377E"/>
                </a:solidFill>
                <a:latin typeface="Georgia"/>
                <a:cs typeface="Georgia"/>
              </a:rPr>
              <a:t> </a:t>
            </a:r>
            <a:r>
              <a:rPr sz="3500" spc="-10" dirty="0">
                <a:solidFill>
                  <a:srgbClr val="2E377E"/>
                </a:solidFill>
                <a:latin typeface="Georgia"/>
                <a:cs typeface="Georgia"/>
              </a:rPr>
              <a:t>limit. </a:t>
            </a:r>
            <a:r>
              <a:rPr sz="3500" dirty="0">
                <a:solidFill>
                  <a:srgbClr val="2E377E"/>
                </a:solidFill>
                <a:latin typeface="Georgia"/>
                <a:cs typeface="Georgia"/>
              </a:rPr>
              <a:t>The</a:t>
            </a:r>
            <a:r>
              <a:rPr sz="3500" spc="-35" dirty="0">
                <a:solidFill>
                  <a:srgbClr val="2E377E"/>
                </a:solidFill>
                <a:latin typeface="Georgia"/>
                <a:cs typeface="Georgia"/>
              </a:rPr>
              <a:t> </a:t>
            </a:r>
            <a:r>
              <a:rPr sz="3500" dirty="0">
                <a:solidFill>
                  <a:srgbClr val="2E377E"/>
                </a:solidFill>
                <a:latin typeface="Georgia"/>
                <a:cs typeface="Georgia"/>
              </a:rPr>
              <a:t>total</a:t>
            </a:r>
            <a:r>
              <a:rPr sz="3500" spc="-30" dirty="0">
                <a:solidFill>
                  <a:srgbClr val="2E377E"/>
                </a:solidFill>
                <a:latin typeface="Georgia"/>
                <a:cs typeface="Georgia"/>
              </a:rPr>
              <a:t> </a:t>
            </a:r>
            <a:r>
              <a:rPr sz="3500" dirty="0">
                <a:solidFill>
                  <a:srgbClr val="2E377E"/>
                </a:solidFill>
                <a:latin typeface="Georgia"/>
                <a:cs typeface="Georgia"/>
              </a:rPr>
              <a:t>amount</a:t>
            </a:r>
            <a:r>
              <a:rPr sz="3500" spc="-30" dirty="0">
                <a:solidFill>
                  <a:srgbClr val="2E377E"/>
                </a:solidFill>
                <a:latin typeface="Georgia"/>
                <a:cs typeface="Georgia"/>
              </a:rPr>
              <a:t> </a:t>
            </a:r>
            <a:r>
              <a:rPr sz="3500" dirty="0">
                <a:solidFill>
                  <a:srgbClr val="2E377E"/>
                </a:solidFill>
                <a:latin typeface="Georgia"/>
                <a:cs typeface="Georgia"/>
              </a:rPr>
              <a:t>of</a:t>
            </a:r>
            <a:r>
              <a:rPr sz="3500" spc="-30" dirty="0">
                <a:solidFill>
                  <a:srgbClr val="2E377E"/>
                </a:solidFill>
                <a:latin typeface="Georgia"/>
                <a:cs typeface="Georgia"/>
              </a:rPr>
              <a:t> </a:t>
            </a:r>
            <a:r>
              <a:rPr sz="3500" spc="-55" dirty="0">
                <a:solidFill>
                  <a:srgbClr val="2E377E"/>
                </a:solidFill>
                <a:latin typeface="Georgia"/>
                <a:cs typeface="Georgia"/>
              </a:rPr>
              <a:t>CPU</a:t>
            </a:r>
            <a:r>
              <a:rPr sz="3500" spc="-30" dirty="0">
                <a:solidFill>
                  <a:srgbClr val="2E377E"/>
                </a:solidFill>
                <a:latin typeface="Georgia"/>
                <a:cs typeface="Georgia"/>
              </a:rPr>
              <a:t> </a:t>
            </a:r>
            <a:r>
              <a:rPr sz="3500" dirty="0">
                <a:solidFill>
                  <a:srgbClr val="2E377E"/>
                </a:solidFill>
                <a:latin typeface="Georgia"/>
                <a:cs typeface="Georgia"/>
              </a:rPr>
              <a:t>used</a:t>
            </a:r>
            <a:r>
              <a:rPr sz="3500" spc="-30" dirty="0">
                <a:solidFill>
                  <a:srgbClr val="2E377E"/>
                </a:solidFill>
                <a:latin typeface="Georgia"/>
                <a:cs typeface="Georgia"/>
              </a:rPr>
              <a:t> </a:t>
            </a:r>
            <a:r>
              <a:rPr sz="3500" spc="85" dirty="0">
                <a:solidFill>
                  <a:srgbClr val="2E377E"/>
                </a:solidFill>
                <a:latin typeface="Georgia"/>
                <a:cs typeface="Georgia"/>
              </a:rPr>
              <a:t>by</a:t>
            </a:r>
            <a:r>
              <a:rPr sz="3500" spc="-30" dirty="0">
                <a:solidFill>
                  <a:srgbClr val="2E377E"/>
                </a:solidFill>
                <a:latin typeface="Georgia"/>
                <a:cs typeface="Georgia"/>
              </a:rPr>
              <a:t> </a:t>
            </a:r>
            <a:r>
              <a:rPr sz="3500" dirty="0">
                <a:solidFill>
                  <a:srgbClr val="2E377E"/>
                </a:solidFill>
                <a:latin typeface="Georgia"/>
                <a:cs typeface="Georgia"/>
              </a:rPr>
              <a:t>all</a:t>
            </a:r>
            <a:r>
              <a:rPr sz="3500" spc="-30" dirty="0">
                <a:solidFill>
                  <a:srgbClr val="2E377E"/>
                </a:solidFill>
                <a:latin typeface="Georgia"/>
                <a:cs typeface="Georgia"/>
              </a:rPr>
              <a:t> </a:t>
            </a:r>
            <a:r>
              <a:rPr sz="3500" spc="55" dirty="0">
                <a:solidFill>
                  <a:srgbClr val="2E377E"/>
                </a:solidFill>
                <a:latin typeface="Georgia"/>
                <a:cs typeface="Georgia"/>
              </a:rPr>
              <a:t>the</a:t>
            </a:r>
            <a:r>
              <a:rPr sz="3500" spc="-30" dirty="0">
                <a:solidFill>
                  <a:srgbClr val="2E377E"/>
                </a:solidFill>
                <a:latin typeface="Georgia"/>
                <a:cs typeface="Georgia"/>
              </a:rPr>
              <a:t> </a:t>
            </a:r>
            <a:r>
              <a:rPr sz="3500" dirty="0">
                <a:solidFill>
                  <a:srgbClr val="2E377E"/>
                </a:solidFill>
                <a:latin typeface="Georgia"/>
                <a:cs typeface="Georgia"/>
              </a:rPr>
              <a:t>containers</a:t>
            </a:r>
            <a:r>
              <a:rPr sz="3500" spc="-30" dirty="0">
                <a:solidFill>
                  <a:srgbClr val="2E377E"/>
                </a:solidFill>
                <a:latin typeface="Georgia"/>
                <a:cs typeface="Georgia"/>
              </a:rPr>
              <a:t> </a:t>
            </a:r>
            <a:r>
              <a:rPr sz="3500" dirty="0">
                <a:solidFill>
                  <a:srgbClr val="2E377E"/>
                </a:solidFill>
                <a:latin typeface="Georgia"/>
                <a:cs typeface="Georgia"/>
              </a:rPr>
              <a:t>in</a:t>
            </a:r>
            <a:r>
              <a:rPr sz="3500" spc="-30" dirty="0">
                <a:solidFill>
                  <a:srgbClr val="2E377E"/>
                </a:solidFill>
                <a:latin typeface="Georgia"/>
                <a:cs typeface="Georgia"/>
              </a:rPr>
              <a:t> </a:t>
            </a:r>
            <a:r>
              <a:rPr sz="3500" spc="55" dirty="0">
                <a:solidFill>
                  <a:srgbClr val="2E377E"/>
                </a:solidFill>
                <a:latin typeface="Georgia"/>
                <a:cs typeface="Georgia"/>
              </a:rPr>
              <a:t>the</a:t>
            </a:r>
            <a:r>
              <a:rPr sz="3500" spc="-30" dirty="0">
                <a:solidFill>
                  <a:srgbClr val="2E377E"/>
                </a:solidFill>
                <a:latin typeface="Georgia"/>
                <a:cs typeface="Georgia"/>
              </a:rPr>
              <a:t> </a:t>
            </a:r>
            <a:r>
              <a:rPr sz="3500" dirty="0">
                <a:solidFill>
                  <a:srgbClr val="2E377E"/>
                </a:solidFill>
                <a:latin typeface="Georgia"/>
                <a:cs typeface="Georgia"/>
              </a:rPr>
              <a:t>namespace</a:t>
            </a:r>
            <a:r>
              <a:rPr sz="3500" spc="-30" dirty="0">
                <a:solidFill>
                  <a:srgbClr val="2E377E"/>
                </a:solidFill>
                <a:latin typeface="Georgia"/>
                <a:cs typeface="Georgia"/>
              </a:rPr>
              <a:t> </a:t>
            </a:r>
            <a:r>
              <a:rPr sz="3500" dirty="0">
                <a:solidFill>
                  <a:srgbClr val="2E377E"/>
                </a:solidFill>
                <a:latin typeface="Georgia"/>
                <a:cs typeface="Georgia"/>
              </a:rPr>
              <a:t>should</a:t>
            </a:r>
            <a:r>
              <a:rPr sz="3500" spc="-30" dirty="0">
                <a:solidFill>
                  <a:srgbClr val="2E377E"/>
                </a:solidFill>
                <a:latin typeface="Georgia"/>
                <a:cs typeface="Georgia"/>
              </a:rPr>
              <a:t> </a:t>
            </a:r>
            <a:r>
              <a:rPr sz="3500" spc="-25" dirty="0">
                <a:solidFill>
                  <a:srgbClr val="2E377E"/>
                </a:solidFill>
                <a:latin typeface="Georgia"/>
                <a:cs typeface="Georgia"/>
              </a:rPr>
              <a:t>not </a:t>
            </a:r>
            <a:r>
              <a:rPr sz="3500" spc="50" dirty="0">
                <a:solidFill>
                  <a:srgbClr val="2E377E"/>
                </a:solidFill>
                <a:latin typeface="Georgia"/>
                <a:cs typeface="Georgia"/>
              </a:rPr>
              <a:t>exceed</a:t>
            </a:r>
            <a:r>
              <a:rPr sz="3500" spc="-20" dirty="0">
                <a:solidFill>
                  <a:srgbClr val="2E377E"/>
                </a:solidFill>
                <a:latin typeface="Georgia"/>
                <a:cs typeface="Georgia"/>
              </a:rPr>
              <a:t> </a:t>
            </a:r>
            <a:r>
              <a:rPr sz="3500" dirty="0">
                <a:solidFill>
                  <a:srgbClr val="2E377E"/>
                </a:solidFill>
                <a:latin typeface="Georgia"/>
                <a:cs typeface="Georgia"/>
              </a:rPr>
              <a:t>a</a:t>
            </a:r>
            <a:r>
              <a:rPr sz="3500" spc="-15" dirty="0">
                <a:solidFill>
                  <a:srgbClr val="2E377E"/>
                </a:solidFill>
                <a:latin typeface="Georgia"/>
                <a:cs typeface="Georgia"/>
              </a:rPr>
              <a:t> </a:t>
            </a:r>
            <a:r>
              <a:rPr sz="3500" dirty="0">
                <a:solidFill>
                  <a:srgbClr val="2E377E"/>
                </a:solidFill>
                <a:latin typeface="Georgia"/>
                <a:cs typeface="Georgia"/>
              </a:rPr>
              <a:t>specified</a:t>
            </a:r>
            <a:r>
              <a:rPr sz="3500" spc="-15" dirty="0">
                <a:solidFill>
                  <a:srgbClr val="2E377E"/>
                </a:solidFill>
                <a:latin typeface="Georgia"/>
                <a:cs typeface="Georgia"/>
              </a:rPr>
              <a:t> </a:t>
            </a:r>
            <a:r>
              <a:rPr sz="3500" spc="-10" dirty="0">
                <a:solidFill>
                  <a:srgbClr val="2E377E"/>
                </a:solidFill>
                <a:latin typeface="Georgia"/>
                <a:cs typeface="Georgia"/>
              </a:rPr>
              <a:t>limit.</a:t>
            </a:r>
            <a:endParaRPr sz="3500">
              <a:latin typeface="Georgia"/>
              <a:cs typeface="Georgia"/>
            </a:endParaRPr>
          </a:p>
        </p:txBody>
      </p:sp>
      <p:pic>
        <p:nvPicPr>
          <p:cNvPr id="4" name="object 4"/>
          <p:cNvPicPr/>
          <p:nvPr/>
        </p:nvPicPr>
        <p:blipFill>
          <a:blip r:embed="rId2" cstate="print"/>
          <a:stretch>
            <a:fillRect/>
          </a:stretch>
        </p:blipFill>
        <p:spPr>
          <a:xfrm>
            <a:off x="1247798" y="2466060"/>
            <a:ext cx="131940" cy="131940"/>
          </a:xfrm>
          <a:prstGeom prst="rect">
            <a:avLst/>
          </a:prstGeom>
        </p:spPr>
      </p:pic>
      <p:pic>
        <p:nvPicPr>
          <p:cNvPr id="5" name="object 5"/>
          <p:cNvPicPr/>
          <p:nvPr/>
        </p:nvPicPr>
        <p:blipFill>
          <a:blip r:embed="rId3" cstate="print"/>
          <a:stretch>
            <a:fillRect/>
          </a:stretch>
        </p:blipFill>
        <p:spPr>
          <a:xfrm>
            <a:off x="1247798" y="4323382"/>
            <a:ext cx="131940" cy="131940"/>
          </a:xfrm>
          <a:prstGeom prst="rect">
            <a:avLst/>
          </a:prstGeom>
        </p:spPr>
      </p:pic>
      <p:pic>
        <p:nvPicPr>
          <p:cNvPr id="6" name="object 6"/>
          <p:cNvPicPr/>
          <p:nvPr/>
        </p:nvPicPr>
        <p:blipFill>
          <a:blip r:embed="rId3" cstate="print"/>
          <a:stretch>
            <a:fillRect/>
          </a:stretch>
        </p:blipFill>
        <p:spPr>
          <a:xfrm>
            <a:off x="1247798" y="4942490"/>
            <a:ext cx="131940" cy="131940"/>
          </a:xfrm>
          <a:prstGeom prst="rect">
            <a:avLst/>
          </a:prstGeom>
        </p:spPr>
      </p:pic>
      <p:pic>
        <p:nvPicPr>
          <p:cNvPr id="7" name="object 7"/>
          <p:cNvPicPr/>
          <p:nvPr/>
        </p:nvPicPr>
        <p:blipFill>
          <a:blip r:embed="rId2" cstate="print"/>
          <a:stretch>
            <a:fillRect/>
          </a:stretch>
        </p:blipFill>
        <p:spPr>
          <a:xfrm>
            <a:off x="1247798" y="5561597"/>
            <a:ext cx="131940" cy="13194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414853" y="3390005"/>
            <a:ext cx="6531778" cy="4276724"/>
          </a:xfrm>
          <a:prstGeom prst="rect">
            <a:avLst/>
          </a:prstGeom>
        </p:spPr>
      </p:pic>
      <p:pic>
        <p:nvPicPr>
          <p:cNvPr id="3" name="object 3"/>
          <p:cNvPicPr/>
          <p:nvPr/>
        </p:nvPicPr>
        <p:blipFill>
          <a:blip r:embed="rId3" cstate="print"/>
          <a:stretch>
            <a:fillRect/>
          </a:stretch>
        </p:blipFill>
        <p:spPr>
          <a:xfrm>
            <a:off x="1776014" y="2941673"/>
            <a:ext cx="3484828" cy="5750010"/>
          </a:xfrm>
          <a:prstGeom prst="rect">
            <a:avLst/>
          </a:prstGeom>
        </p:spPr>
      </p:pic>
      <p:pic>
        <p:nvPicPr>
          <p:cNvPr id="4" name="object 4"/>
          <p:cNvPicPr/>
          <p:nvPr/>
        </p:nvPicPr>
        <p:blipFill>
          <a:blip r:embed="rId4" cstate="print"/>
          <a:stretch>
            <a:fillRect/>
          </a:stretch>
        </p:blipFill>
        <p:spPr>
          <a:xfrm>
            <a:off x="13566917" y="3027811"/>
            <a:ext cx="3008760" cy="5961904"/>
          </a:xfrm>
          <a:prstGeom prst="rect">
            <a:avLst/>
          </a:prstGeom>
        </p:spPr>
      </p:pic>
      <p:sp>
        <p:nvSpPr>
          <p:cNvPr id="5" name="object 5"/>
          <p:cNvSpPr txBox="1">
            <a:spLocks noGrp="1"/>
          </p:cNvSpPr>
          <p:nvPr>
            <p:ph type="title"/>
          </p:nvPr>
        </p:nvSpPr>
        <p:spPr>
          <a:xfrm>
            <a:off x="818977" y="898506"/>
            <a:ext cx="15715615" cy="1882775"/>
          </a:xfrm>
          <a:prstGeom prst="rect">
            <a:avLst/>
          </a:prstGeom>
        </p:spPr>
        <p:txBody>
          <a:bodyPr vert="horz" wrap="square" lIns="0" tIns="12700" rIns="0" bIns="0" rtlCol="0">
            <a:spAutoFit/>
          </a:bodyPr>
          <a:lstStyle/>
          <a:p>
            <a:pPr marL="12700" marR="5080">
              <a:lnSpc>
                <a:spcPct val="116100"/>
              </a:lnSpc>
              <a:spcBef>
                <a:spcPts val="100"/>
              </a:spcBef>
            </a:pPr>
            <a:r>
              <a:rPr sz="3500" b="0" dirty="0">
                <a:solidFill>
                  <a:srgbClr val="2E377E"/>
                </a:solidFill>
                <a:latin typeface="Georgia"/>
                <a:cs typeface="Georgia"/>
              </a:rPr>
              <a:t>Lets</a:t>
            </a:r>
            <a:r>
              <a:rPr sz="3500" b="0" spc="-5" dirty="0">
                <a:solidFill>
                  <a:srgbClr val="2E377E"/>
                </a:solidFill>
                <a:latin typeface="Georgia"/>
                <a:cs typeface="Georgia"/>
              </a:rPr>
              <a:t> </a:t>
            </a:r>
            <a:r>
              <a:rPr sz="3500" b="0" dirty="0">
                <a:solidFill>
                  <a:srgbClr val="2E377E"/>
                </a:solidFill>
                <a:latin typeface="Georgia"/>
                <a:cs typeface="Georgia"/>
              </a:rPr>
              <a:t>understand </a:t>
            </a:r>
            <a:r>
              <a:rPr sz="3500" b="0" spc="55" dirty="0">
                <a:solidFill>
                  <a:srgbClr val="2E377E"/>
                </a:solidFill>
                <a:latin typeface="Georgia"/>
                <a:cs typeface="Georgia"/>
              </a:rPr>
              <a:t>the</a:t>
            </a:r>
            <a:r>
              <a:rPr sz="3500" b="0" dirty="0">
                <a:solidFill>
                  <a:srgbClr val="2E377E"/>
                </a:solidFill>
                <a:latin typeface="Georgia"/>
                <a:cs typeface="Georgia"/>
              </a:rPr>
              <a:t> ResourceQuota </a:t>
            </a:r>
            <a:r>
              <a:rPr sz="3500" b="0" spc="75" dirty="0">
                <a:solidFill>
                  <a:srgbClr val="2E377E"/>
                </a:solidFill>
                <a:latin typeface="Georgia"/>
                <a:cs typeface="Georgia"/>
              </a:rPr>
              <a:t>with</a:t>
            </a:r>
            <a:r>
              <a:rPr sz="3500" b="0" spc="-5" dirty="0">
                <a:solidFill>
                  <a:srgbClr val="2E377E"/>
                </a:solidFill>
                <a:latin typeface="Georgia"/>
                <a:cs typeface="Georgia"/>
              </a:rPr>
              <a:t> </a:t>
            </a:r>
            <a:r>
              <a:rPr sz="3500" b="0" spc="55" dirty="0">
                <a:solidFill>
                  <a:srgbClr val="2E377E"/>
                </a:solidFill>
                <a:latin typeface="Georgia"/>
                <a:cs typeface="Georgia"/>
              </a:rPr>
              <a:t>funny</a:t>
            </a:r>
            <a:r>
              <a:rPr sz="3500" b="0" dirty="0">
                <a:solidFill>
                  <a:srgbClr val="2E377E"/>
                </a:solidFill>
                <a:latin typeface="Georgia"/>
                <a:cs typeface="Georgia"/>
              </a:rPr>
              <a:t> scenario. Assume that</a:t>
            </a:r>
            <a:r>
              <a:rPr sz="3500" b="0" spc="-5" dirty="0">
                <a:solidFill>
                  <a:srgbClr val="2E377E"/>
                </a:solidFill>
                <a:latin typeface="Georgia"/>
                <a:cs typeface="Georgia"/>
              </a:rPr>
              <a:t> </a:t>
            </a:r>
            <a:r>
              <a:rPr sz="3500" b="0" dirty="0">
                <a:solidFill>
                  <a:srgbClr val="2E377E"/>
                </a:solidFill>
                <a:latin typeface="Georgia"/>
                <a:cs typeface="Georgia"/>
              </a:rPr>
              <a:t>there </a:t>
            </a:r>
            <a:r>
              <a:rPr sz="3500" b="0" spc="-25" dirty="0">
                <a:solidFill>
                  <a:srgbClr val="2E377E"/>
                </a:solidFill>
                <a:latin typeface="Georgia"/>
                <a:cs typeface="Georgia"/>
              </a:rPr>
              <a:t>is </a:t>
            </a:r>
            <a:r>
              <a:rPr sz="3500" b="0" dirty="0">
                <a:solidFill>
                  <a:srgbClr val="2E377E"/>
                </a:solidFill>
                <a:latin typeface="Georgia"/>
                <a:cs typeface="Georgia"/>
              </a:rPr>
              <a:t>medical</a:t>
            </a:r>
            <a:r>
              <a:rPr sz="3500" b="0" spc="-25" dirty="0">
                <a:solidFill>
                  <a:srgbClr val="2E377E"/>
                </a:solidFill>
                <a:latin typeface="Georgia"/>
                <a:cs typeface="Georgia"/>
              </a:rPr>
              <a:t> </a:t>
            </a:r>
            <a:r>
              <a:rPr sz="3500" b="0" dirty="0">
                <a:solidFill>
                  <a:srgbClr val="2E377E"/>
                </a:solidFill>
                <a:latin typeface="Georgia"/>
                <a:cs typeface="Georgia"/>
              </a:rPr>
              <a:t>college</a:t>
            </a:r>
            <a:r>
              <a:rPr sz="3500" b="0" spc="-20" dirty="0">
                <a:solidFill>
                  <a:srgbClr val="2E377E"/>
                </a:solidFill>
                <a:latin typeface="Georgia"/>
                <a:cs typeface="Georgia"/>
              </a:rPr>
              <a:t> </a:t>
            </a:r>
            <a:r>
              <a:rPr sz="3500" b="0" spc="50" dirty="0">
                <a:solidFill>
                  <a:srgbClr val="2E377E"/>
                </a:solidFill>
                <a:latin typeface="Georgia"/>
                <a:cs typeface="Georgia"/>
              </a:rPr>
              <a:t>which</a:t>
            </a:r>
            <a:r>
              <a:rPr sz="3500" b="0" spc="-25" dirty="0">
                <a:solidFill>
                  <a:srgbClr val="2E377E"/>
                </a:solidFill>
                <a:latin typeface="Georgia"/>
                <a:cs typeface="Georgia"/>
              </a:rPr>
              <a:t> </a:t>
            </a:r>
            <a:r>
              <a:rPr sz="3500" b="0" dirty="0">
                <a:solidFill>
                  <a:srgbClr val="2E377E"/>
                </a:solidFill>
                <a:latin typeface="Georgia"/>
                <a:cs typeface="Georgia"/>
              </a:rPr>
              <a:t>has</a:t>
            </a:r>
            <a:r>
              <a:rPr sz="3500" b="0" spc="-20" dirty="0">
                <a:solidFill>
                  <a:srgbClr val="2E377E"/>
                </a:solidFill>
                <a:latin typeface="Georgia"/>
                <a:cs typeface="Georgia"/>
              </a:rPr>
              <a:t> </a:t>
            </a:r>
            <a:r>
              <a:rPr sz="3500" b="0" spc="-215" dirty="0">
                <a:solidFill>
                  <a:srgbClr val="2E377E"/>
                </a:solidFill>
                <a:latin typeface="Georgia"/>
                <a:cs typeface="Georgia"/>
              </a:rPr>
              <a:t>25</a:t>
            </a:r>
            <a:r>
              <a:rPr sz="3500" b="0" spc="-25" dirty="0">
                <a:solidFill>
                  <a:srgbClr val="2E377E"/>
                </a:solidFill>
                <a:latin typeface="Georgia"/>
                <a:cs typeface="Georgia"/>
              </a:rPr>
              <a:t> </a:t>
            </a:r>
            <a:r>
              <a:rPr sz="3500" b="0" dirty="0">
                <a:solidFill>
                  <a:srgbClr val="2E377E"/>
                </a:solidFill>
                <a:latin typeface="Georgia"/>
                <a:cs typeface="Georgia"/>
              </a:rPr>
              <a:t>seats</a:t>
            </a:r>
            <a:r>
              <a:rPr sz="3500" b="0" spc="-20" dirty="0">
                <a:solidFill>
                  <a:srgbClr val="2E377E"/>
                </a:solidFill>
                <a:latin typeface="Georgia"/>
                <a:cs typeface="Georgia"/>
              </a:rPr>
              <a:t> </a:t>
            </a:r>
            <a:r>
              <a:rPr sz="3500" b="0" dirty="0">
                <a:solidFill>
                  <a:srgbClr val="2E377E"/>
                </a:solidFill>
                <a:latin typeface="Georgia"/>
                <a:cs typeface="Georgia"/>
              </a:rPr>
              <a:t>only.</a:t>
            </a:r>
            <a:r>
              <a:rPr sz="3500" b="0" spc="-25" dirty="0">
                <a:solidFill>
                  <a:srgbClr val="2E377E"/>
                </a:solidFill>
                <a:latin typeface="Georgia"/>
                <a:cs typeface="Georgia"/>
              </a:rPr>
              <a:t> </a:t>
            </a:r>
            <a:r>
              <a:rPr sz="3500" b="0" dirty="0">
                <a:solidFill>
                  <a:srgbClr val="2E377E"/>
                </a:solidFill>
                <a:latin typeface="Georgia"/>
                <a:cs typeface="Georgia"/>
              </a:rPr>
              <a:t>So</a:t>
            </a:r>
            <a:r>
              <a:rPr sz="3500" b="0" spc="-20" dirty="0">
                <a:solidFill>
                  <a:srgbClr val="2E377E"/>
                </a:solidFill>
                <a:latin typeface="Georgia"/>
                <a:cs typeface="Georgia"/>
              </a:rPr>
              <a:t> </a:t>
            </a:r>
            <a:r>
              <a:rPr sz="3500" b="0" spc="55" dirty="0">
                <a:solidFill>
                  <a:srgbClr val="2E377E"/>
                </a:solidFill>
                <a:latin typeface="Georgia"/>
                <a:cs typeface="Georgia"/>
              </a:rPr>
              <a:t>the</a:t>
            </a:r>
            <a:r>
              <a:rPr sz="3500" b="0" spc="-25" dirty="0">
                <a:solidFill>
                  <a:srgbClr val="2E377E"/>
                </a:solidFill>
                <a:latin typeface="Georgia"/>
                <a:cs typeface="Georgia"/>
              </a:rPr>
              <a:t> </a:t>
            </a:r>
            <a:r>
              <a:rPr sz="3500" b="0" dirty="0">
                <a:solidFill>
                  <a:srgbClr val="2E377E"/>
                </a:solidFill>
                <a:latin typeface="Georgia"/>
                <a:cs typeface="Georgia"/>
              </a:rPr>
              <a:t>college</a:t>
            </a:r>
            <a:r>
              <a:rPr sz="3500" b="0" spc="-20" dirty="0">
                <a:solidFill>
                  <a:srgbClr val="2E377E"/>
                </a:solidFill>
                <a:latin typeface="Georgia"/>
                <a:cs typeface="Georgia"/>
              </a:rPr>
              <a:t> </a:t>
            </a:r>
            <a:r>
              <a:rPr sz="3500" b="0" dirty="0">
                <a:solidFill>
                  <a:srgbClr val="2E377E"/>
                </a:solidFill>
                <a:latin typeface="Georgia"/>
                <a:cs typeface="Georgia"/>
              </a:rPr>
              <a:t>management</a:t>
            </a:r>
            <a:r>
              <a:rPr sz="3500" b="0" spc="-25" dirty="0">
                <a:solidFill>
                  <a:srgbClr val="2E377E"/>
                </a:solidFill>
                <a:latin typeface="Georgia"/>
                <a:cs typeface="Georgia"/>
              </a:rPr>
              <a:t> </a:t>
            </a:r>
            <a:r>
              <a:rPr sz="3500" b="0" dirty="0">
                <a:solidFill>
                  <a:srgbClr val="2E377E"/>
                </a:solidFill>
                <a:latin typeface="Georgia"/>
                <a:cs typeface="Georgia"/>
              </a:rPr>
              <a:t>assigned</a:t>
            </a:r>
            <a:r>
              <a:rPr sz="3500" b="0" spc="-20" dirty="0">
                <a:solidFill>
                  <a:srgbClr val="2E377E"/>
                </a:solidFill>
                <a:latin typeface="Georgia"/>
                <a:cs typeface="Georgia"/>
              </a:rPr>
              <a:t> </a:t>
            </a:r>
            <a:r>
              <a:rPr sz="3500" b="0" spc="-25" dirty="0">
                <a:solidFill>
                  <a:srgbClr val="2E377E"/>
                </a:solidFill>
                <a:latin typeface="Georgia"/>
                <a:cs typeface="Georgia"/>
              </a:rPr>
              <a:t>10 </a:t>
            </a:r>
            <a:r>
              <a:rPr sz="3500" b="0" dirty="0">
                <a:solidFill>
                  <a:srgbClr val="2E377E"/>
                </a:solidFill>
                <a:latin typeface="Georgia"/>
                <a:cs typeface="Georgia"/>
              </a:rPr>
              <a:t>seats</a:t>
            </a:r>
            <a:r>
              <a:rPr sz="3500" b="0" spc="-25" dirty="0">
                <a:solidFill>
                  <a:srgbClr val="2E377E"/>
                </a:solidFill>
                <a:latin typeface="Georgia"/>
                <a:cs typeface="Georgia"/>
              </a:rPr>
              <a:t> </a:t>
            </a:r>
            <a:r>
              <a:rPr sz="3500" b="0" dirty="0">
                <a:solidFill>
                  <a:srgbClr val="2E377E"/>
                </a:solidFill>
                <a:latin typeface="Georgia"/>
                <a:cs typeface="Georgia"/>
              </a:rPr>
              <a:t>for</a:t>
            </a:r>
            <a:r>
              <a:rPr sz="3500" b="0" spc="-25" dirty="0">
                <a:solidFill>
                  <a:srgbClr val="2E377E"/>
                </a:solidFill>
                <a:latin typeface="Georgia"/>
                <a:cs typeface="Georgia"/>
              </a:rPr>
              <a:t> </a:t>
            </a:r>
            <a:r>
              <a:rPr sz="3500" b="0" dirty="0">
                <a:solidFill>
                  <a:srgbClr val="2E377E"/>
                </a:solidFill>
                <a:latin typeface="Georgia"/>
                <a:cs typeface="Georgia"/>
              </a:rPr>
              <a:t>girls</a:t>
            </a:r>
            <a:r>
              <a:rPr sz="3500" b="0" spc="-25" dirty="0">
                <a:solidFill>
                  <a:srgbClr val="2E377E"/>
                </a:solidFill>
                <a:latin typeface="Georgia"/>
                <a:cs typeface="Georgia"/>
              </a:rPr>
              <a:t> </a:t>
            </a:r>
            <a:r>
              <a:rPr sz="3500" b="0" dirty="0">
                <a:solidFill>
                  <a:srgbClr val="2E377E"/>
                </a:solidFill>
                <a:latin typeface="Georgia"/>
                <a:cs typeface="Georgia"/>
              </a:rPr>
              <a:t>and</a:t>
            </a:r>
            <a:r>
              <a:rPr sz="3500" b="0" spc="-20" dirty="0">
                <a:solidFill>
                  <a:srgbClr val="2E377E"/>
                </a:solidFill>
                <a:latin typeface="Georgia"/>
                <a:cs typeface="Georgia"/>
              </a:rPr>
              <a:t> </a:t>
            </a:r>
            <a:r>
              <a:rPr sz="3500" b="0" spc="-80" dirty="0">
                <a:solidFill>
                  <a:srgbClr val="2E377E"/>
                </a:solidFill>
                <a:latin typeface="Georgia"/>
                <a:cs typeface="Georgia"/>
              </a:rPr>
              <a:t>15</a:t>
            </a:r>
            <a:r>
              <a:rPr sz="3500" b="0" spc="-25" dirty="0">
                <a:solidFill>
                  <a:srgbClr val="2E377E"/>
                </a:solidFill>
                <a:latin typeface="Georgia"/>
                <a:cs typeface="Georgia"/>
              </a:rPr>
              <a:t> </a:t>
            </a:r>
            <a:r>
              <a:rPr sz="3500" b="0" dirty="0">
                <a:solidFill>
                  <a:srgbClr val="2E377E"/>
                </a:solidFill>
                <a:latin typeface="Georgia"/>
                <a:cs typeface="Georgia"/>
              </a:rPr>
              <a:t>seats</a:t>
            </a:r>
            <a:r>
              <a:rPr sz="3500" b="0" spc="-25" dirty="0">
                <a:solidFill>
                  <a:srgbClr val="2E377E"/>
                </a:solidFill>
                <a:latin typeface="Georgia"/>
                <a:cs typeface="Georgia"/>
              </a:rPr>
              <a:t> </a:t>
            </a:r>
            <a:r>
              <a:rPr sz="3500" b="0" dirty="0">
                <a:solidFill>
                  <a:srgbClr val="2E377E"/>
                </a:solidFill>
                <a:latin typeface="Georgia"/>
                <a:cs typeface="Georgia"/>
              </a:rPr>
              <a:t>for</a:t>
            </a:r>
            <a:r>
              <a:rPr sz="3500" b="0" spc="-20" dirty="0">
                <a:solidFill>
                  <a:srgbClr val="2E377E"/>
                </a:solidFill>
                <a:latin typeface="Georgia"/>
                <a:cs typeface="Georgia"/>
              </a:rPr>
              <a:t> </a:t>
            </a:r>
            <a:r>
              <a:rPr sz="3500" b="0" dirty="0">
                <a:solidFill>
                  <a:srgbClr val="2E377E"/>
                </a:solidFill>
                <a:latin typeface="Georgia"/>
                <a:cs typeface="Georgia"/>
              </a:rPr>
              <a:t>boys</a:t>
            </a:r>
            <a:r>
              <a:rPr sz="3500" b="0" spc="-25" dirty="0">
                <a:solidFill>
                  <a:srgbClr val="2E377E"/>
                </a:solidFill>
                <a:latin typeface="Georgia"/>
                <a:cs typeface="Georgia"/>
              </a:rPr>
              <a:t> </a:t>
            </a:r>
            <a:r>
              <a:rPr sz="3500" b="0" spc="70" dirty="0">
                <a:solidFill>
                  <a:srgbClr val="2E377E"/>
                </a:solidFill>
                <a:latin typeface="Georgia"/>
                <a:cs typeface="Georgia"/>
              </a:rPr>
              <a:t>who</a:t>
            </a:r>
            <a:r>
              <a:rPr sz="3500" b="0" spc="-25" dirty="0">
                <a:solidFill>
                  <a:srgbClr val="2E377E"/>
                </a:solidFill>
                <a:latin typeface="Georgia"/>
                <a:cs typeface="Georgia"/>
              </a:rPr>
              <a:t> </a:t>
            </a:r>
            <a:r>
              <a:rPr sz="3500" b="0" dirty="0">
                <a:solidFill>
                  <a:srgbClr val="2E377E"/>
                </a:solidFill>
                <a:latin typeface="Georgia"/>
                <a:cs typeface="Georgia"/>
              </a:rPr>
              <a:t>has</a:t>
            </a:r>
            <a:r>
              <a:rPr sz="3500" b="0" spc="-25" dirty="0">
                <a:solidFill>
                  <a:srgbClr val="2E377E"/>
                </a:solidFill>
                <a:latin typeface="Georgia"/>
                <a:cs typeface="Georgia"/>
              </a:rPr>
              <a:t> </a:t>
            </a:r>
            <a:r>
              <a:rPr sz="3500" b="0" dirty="0">
                <a:solidFill>
                  <a:srgbClr val="2E377E"/>
                </a:solidFill>
                <a:latin typeface="Georgia"/>
                <a:cs typeface="Georgia"/>
              </a:rPr>
              <a:t>more</a:t>
            </a:r>
            <a:r>
              <a:rPr sz="3500" b="0" spc="-20" dirty="0">
                <a:solidFill>
                  <a:srgbClr val="2E377E"/>
                </a:solidFill>
                <a:latin typeface="Georgia"/>
                <a:cs typeface="Georgia"/>
              </a:rPr>
              <a:t> </a:t>
            </a:r>
            <a:r>
              <a:rPr sz="3500" b="0" dirty="0">
                <a:solidFill>
                  <a:srgbClr val="2E377E"/>
                </a:solidFill>
                <a:latin typeface="Georgia"/>
                <a:cs typeface="Georgia"/>
              </a:rPr>
              <a:t>than</a:t>
            </a:r>
            <a:r>
              <a:rPr sz="3500" b="0" spc="-25" dirty="0">
                <a:solidFill>
                  <a:srgbClr val="2E377E"/>
                </a:solidFill>
                <a:latin typeface="Georgia"/>
                <a:cs typeface="Georgia"/>
              </a:rPr>
              <a:t> </a:t>
            </a:r>
            <a:r>
              <a:rPr sz="3500" b="0" spc="-175" dirty="0">
                <a:solidFill>
                  <a:srgbClr val="2E377E"/>
                </a:solidFill>
                <a:latin typeface="Georgia"/>
                <a:cs typeface="Georgia"/>
              </a:rPr>
              <a:t>80%</a:t>
            </a:r>
            <a:r>
              <a:rPr sz="3500" b="0" spc="-25" dirty="0">
                <a:solidFill>
                  <a:srgbClr val="2E377E"/>
                </a:solidFill>
                <a:latin typeface="Georgia"/>
                <a:cs typeface="Georgia"/>
              </a:rPr>
              <a:t> </a:t>
            </a:r>
            <a:r>
              <a:rPr sz="3500" b="0" dirty="0">
                <a:solidFill>
                  <a:srgbClr val="2E377E"/>
                </a:solidFill>
                <a:latin typeface="Georgia"/>
                <a:cs typeface="Georgia"/>
              </a:rPr>
              <a:t>in</a:t>
            </a:r>
            <a:r>
              <a:rPr sz="3500" b="0" spc="-20" dirty="0">
                <a:solidFill>
                  <a:srgbClr val="2E377E"/>
                </a:solidFill>
                <a:latin typeface="Georgia"/>
                <a:cs typeface="Georgia"/>
              </a:rPr>
              <a:t> </a:t>
            </a:r>
            <a:r>
              <a:rPr sz="3500" b="0" spc="-10" dirty="0">
                <a:solidFill>
                  <a:srgbClr val="2E377E"/>
                </a:solidFill>
                <a:latin typeface="Georgia"/>
                <a:cs typeface="Georgia"/>
              </a:rPr>
              <a:t>Intermediate.</a:t>
            </a:r>
            <a:endParaRPr sz="3500">
              <a:latin typeface="Georgia"/>
              <a:cs typeface="Georgia"/>
            </a:endParaRPr>
          </a:p>
        </p:txBody>
      </p:sp>
      <p:sp>
        <p:nvSpPr>
          <p:cNvPr id="6" name="object 6"/>
          <p:cNvSpPr txBox="1"/>
          <p:nvPr/>
        </p:nvSpPr>
        <p:spPr>
          <a:xfrm>
            <a:off x="3115545" y="8893159"/>
            <a:ext cx="2175510" cy="787400"/>
          </a:xfrm>
          <a:prstGeom prst="rect">
            <a:avLst/>
          </a:prstGeom>
        </p:spPr>
        <p:txBody>
          <a:bodyPr vert="horz" wrap="square" lIns="0" tIns="12700" rIns="0" bIns="0" rtlCol="0">
            <a:spAutoFit/>
          </a:bodyPr>
          <a:lstStyle/>
          <a:p>
            <a:pPr marL="12700">
              <a:lnSpc>
                <a:spcPct val="100000"/>
              </a:lnSpc>
              <a:spcBef>
                <a:spcPts val="100"/>
              </a:spcBef>
            </a:pPr>
            <a:r>
              <a:rPr sz="5000" b="1" spc="-100" dirty="0">
                <a:solidFill>
                  <a:srgbClr val="2E377E"/>
                </a:solidFill>
                <a:latin typeface="Times New Roman"/>
                <a:cs typeface="Times New Roman"/>
              </a:rPr>
              <a:t>15</a:t>
            </a:r>
            <a:r>
              <a:rPr sz="5000" b="1" spc="-210" dirty="0">
                <a:solidFill>
                  <a:srgbClr val="2E377E"/>
                </a:solidFill>
                <a:latin typeface="Times New Roman"/>
                <a:cs typeface="Times New Roman"/>
              </a:rPr>
              <a:t> </a:t>
            </a:r>
            <a:r>
              <a:rPr sz="5000" b="1" spc="130" dirty="0">
                <a:solidFill>
                  <a:srgbClr val="2E377E"/>
                </a:solidFill>
                <a:latin typeface="Times New Roman"/>
                <a:cs typeface="Times New Roman"/>
              </a:rPr>
              <a:t>seats</a:t>
            </a:r>
            <a:endParaRPr sz="5000">
              <a:latin typeface="Times New Roman"/>
              <a:cs typeface="Times New Roman"/>
            </a:endParaRPr>
          </a:p>
        </p:txBody>
      </p:sp>
      <p:sp>
        <p:nvSpPr>
          <p:cNvPr id="7" name="object 7"/>
          <p:cNvSpPr txBox="1"/>
          <p:nvPr/>
        </p:nvSpPr>
        <p:spPr>
          <a:xfrm>
            <a:off x="13948026" y="9055084"/>
            <a:ext cx="2240915" cy="787400"/>
          </a:xfrm>
          <a:prstGeom prst="rect">
            <a:avLst/>
          </a:prstGeom>
        </p:spPr>
        <p:txBody>
          <a:bodyPr vert="horz" wrap="square" lIns="0" tIns="12700" rIns="0" bIns="0" rtlCol="0">
            <a:spAutoFit/>
          </a:bodyPr>
          <a:lstStyle/>
          <a:p>
            <a:pPr marL="12700">
              <a:lnSpc>
                <a:spcPct val="100000"/>
              </a:lnSpc>
              <a:spcBef>
                <a:spcPts val="100"/>
              </a:spcBef>
            </a:pPr>
            <a:r>
              <a:rPr sz="5000" b="1" spc="70" dirty="0">
                <a:solidFill>
                  <a:srgbClr val="2E377E"/>
                </a:solidFill>
                <a:latin typeface="Times New Roman"/>
                <a:cs typeface="Times New Roman"/>
              </a:rPr>
              <a:t>10</a:t>
            </a:r>
            <a:r>
              <a:rPr sz="5000" b="1" spc="-50" dirty="0">
                <a:solidFill>
                  <a:srgbClr val="2E377E"/>
                </a:solidFill>
                <a:latin typeface="Times New Roman"/>
                <a:cs typeface="Times New Roman"/>
              </a:rPr>
              <a:t> </a:t>
            </a:r>
            <a:r>
              <a:rPr sz="5000" b="1" spc="130" dirty="0">
                <a:solidFill>
                  <a:srgbClr val="2E377E"/>
                </a:solidFill>
                <a:latin typeface="Times New Roman"/>
                <a:cs typeface="Times New Roman"/>
              </a:rPr>
              <a:t>seats</a:t>
            </a:r>
            <a:endParaRPr sz="5000">
              <a:latin typeface="Times New Roman"/>
              <a:cs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98344" y="1075952"/>
            <a:ext cx="14986000" cy="0"/>
          </a:xfrm>
          <a:custGeom>
            <a:avLst/>
            <a:gdLst/>
            <a:ahLst/>
            <a:cxnLst/>
            <a:rect l="l" t="t" r="r" b="b"/>
            <a:pathLst>
              <a:path w="14986000">
                <a:moveTo>
                  <a:pt x="0" y="0"/>
                </a:moveTo>
                <a:lnTo>
                  <a:pt x="14985608" y="0"/>
                </a:lnTo>
              </a:path>
            </a:pathLst>
          </a:custGeom>
          <a:ln w="95249">
            <a:solidFill>
              <a:srgbClr val="000000"/>
            </a:solidFill>
          </a:ln>
        </p:spPr>
        <p:txBody>
          <a:bodyPr wrap="square" lIns="0" tIns="0" rIns="0" bIns="0" rtlCol="0"/>
          <a:lstStyle/>
          <a:p>
            <a:endParaRPr/>
          </a:p>
        </p:txBody>
      </p:sp>
      <p:grpSp>
        <p:nvGrpSpPr>
          <p:cNvPr id="3" name="object 3"/>
          <p:cNvGrpSpPr/>
          <p:nvPr/>
        </p:nvGrpSpPr>
        <p:grpSpPr>
          <a:xfrm>
            <a:off x="1273357" y="981197"/>
            <a:ext cx="15011400" cy="6406515"/>
            <a:chOff x="1273357" y="981197"/>
            <a:chExt cx="15011400" cy="6406515"/>
          </a:xfrm>
        </p:grpSpPr>
        <p:sp>
          <p:nvSpPr>
            <p:cNvPr id="4" name="object 4"/>
            <p:cNvSpPr/>
            <p:nvPr/>
          </p:nvSpPr>
          <p:spPr>
            <a:xfrm>
              <a:off x="1321019" y="7291934"/>
              <a:ext cx="14868525" cy="0"/>
            </a:xfrm>
            <a:custGeom>
              <a:avLst/>
              <a:gdLst/>
              <a:ahLst/>
              <a:cxnLst/>
              <a:rect l="l" t="t" r="r" b="b"/>
              <a:pathLst>
                <a:path w="14868525">
                  <a:moveTo>
                    <a:pt x="0" y="0"/>
                  </a:moveTo>
                  <a:lnTo>
                    <a:pt x="14868441" y="0"/>
                  </a:lnTo>
                </a:path>
              </a:pathLst>
            </a:custGeom>
            <a:ln w="95249">
              <a:solidFill>
                <a:srgbClr val="000000"/>
              </a:solidFill>
            </a:ln>
          </p:spPr>
          <p:txBody>
            <a:bodyPr wrap="square" lIns="0" tIns="0" rIns="0" bIns="0" rtlCol="0"/>
            <a:lstStyle/>
            <a:p>
              <a:endParaRPr/>
            </a:p>
          </p:txBody>
        </p:sp>
        <p:sp>
          <p:nvSpPr>
            <p:cNvPr id="5" name="object 5"/>
            <p:cNvSpPr/>
            <p:nvPr/>
          </p:nvSpPr>
          <p:spPr>
            <a:xfrm>
              <a:off x="1320982" y="1075913"/>
              <a:ext cx="24765" cy="6216015"/>
            </a:xfrm>
            <a:custGeom>
              <a:avLst/>
              <a:gdLst/>
              <a:ahLst/>
              <a:cxnLst/>
              <a:rect l="l" t="t" r="r" b="b"/>
              <a:pathLst>
                <a:path w="24765" h="6216015">
                  <a:moveTo>
                    <a:pt x="0" y="6215983"/>
                  </a:moveTo>
                  <a:lnTo>
                    <a:pt x="24191" y="0"/>
                  </a:lnTo>
                </a:path>
              </a:pathLst>
            </a:custGeom>
            <a:ln w="95249">
              <a:solidFill>
                <a:srgbClr val="000000"/>
              </a:solidFill>
            </a:ln>
          </p:spPr>
          <p:txBody>
            <a:bodyPr wrap="square" lIns="0" tIns="0" rIns="0" bIns="0" rtlCol="0"/>
            <a:lstStyle/>
            <a:p>
              <a:endParaRPr/>
            </a:p>
          </p:txBody>
        </p:sp>
        <p:sp>
          <p:nvSpPr>
            <p:cNvPr id="6" name="object 6"/>
            <p:cNvSpPr/>
            <p:nvPr/>
          </p:nvSpPr>
          <p:spPr>
            <a:xfrm>
              <a:off x="16189459" y="1028822"/>
              <a:ext cx="47625" cy="6311265"/>
            </a:xfrm>
            <a:custGeom>
              <a:avLst/>
              <a:gdLst/>
              <a:ahLst/>
              <a:cxnLst/>
              <a:rect l="l" t="t" r="r" b="b"/>
              <a:pathLst>
                <a:path w="47625" h="6311265">
                  <a:moveTo>
                    <a:pt x="0" y="6310733"/>
                  </a:moveTo>
                  <a:lnTo>
                    <a:pt x="47625" y="0"/>
                  </a:lnTo>
                </a:path>
              </a:pathLst>
            </a:custGeom>
            <a:ln w="95250">
              <a:solidFill>
                <a:srgbClr val="000000"/>
              </a:solidFill>
            </a:ln>
          </p:spPr>
          <p:txBody>
            <a:bodyPr wrap="square" lIns="0" tIns="0" rIns="0" bIns="0" rtlCol="0"/>
            <a:lstStyle/>
            <a:p>
              <a:endParaRPr/>
            </a:p>
          </p:txBody>
        </p:sp>
        <p:sp>
          <p:nvSpPr>
            <p:cNvPr id="7" name="object 7"/>
            <p:cNvSpPr/>
            <p:nvPr/>
          </p:nvSpPr>
          <p:spPr>
            <a:xfrm>
              <a:off x="2461261" y="2118267"/>
              <a:ext cx="5322570" cy="0"/>
            </a:xfrm>
            <a:custGeom>
              <a:avLst/>
              <a:gdLst/>
              <a:ahLst/>
              <a:cxnLst/>
              <a:rect l="l" t="t" r="r" b="b"/>
              <a:pathLst>
                <a:path w="5322570">
                  <a:moveTo>
                    <a:pt x="0" y="0"/>
                  </a:moveTo>
                  <a:lnTo>
                    <a:pt x="5322483" y="0"/>
                  </a:lnTo>
                </a:path>
              </a:pathLst>
            </a:custGeom>
            <a:ln w="95249">
              <a:solidFill>
                <a:srgbClr val="000000"/>
              </a:solidFill>
            </a:ln>
          </p:spPr>
          <p:txBody>
            <a:bodyPr wrap="square" lIns="0" tIns="0" rIns="0" bIns="0" rtlCol="0"/>
            <a:lstStyle/>
            <a:p>
              <a:endParaRPr/>
            </a:p>
          </p:txBody>
        </p:sp>
        <p:sp>
          <p:nvSpPr>
            <p:cNvPr id="8" name="object 8"/>
            <p:cNvSpPr/>
            <p:nvPr/>
          </p:nvSpPr>
          <p:spPr>
            <a:xfrm>
              <a:off x="2508886" y="5365813"/>
              <a:ext cx="5322570" cy="0"/>
            </a:xfrm>
            <a:custGeom>
              <a:avLst/>
              <a:gdLst/>
              <a:ahLst/>
              <a:cxnLst/>
              <a:rect l="l" t="t" r="r" b="b"/>
              <a:pathLst>
                <a:path w="5322570">
                  <a:moveTo>
                    <a:pt x="0" y="0"/>
                  </a:moveTo>
                  <a:lnTo>
                    <a:pt x="5322483" y="0"/>
                  </a:lnTo>
                </a:path>
              </a:pathLst>
            </a:custGeom>
            <a:ln w="95249">
              <a:solidFill>
                <a:srgbClr val="000000"/>
              </a:solidFill>
            </a:ln>
          </p:spPr>
          <p:txBody>
            <a:bodyPr wrap="square" lIns="0" tIns="0" rIns="0" bIns="0" rtlCol="0"/>
            <a:lstStyle/>
            <a:p>
              <a:endParaRPr/>
            </a:p>
          </p:txBody>
        </p:sp>
        <p:sp>
          <p:nvSpPr>
            <p:cNvPr id="9" name="object 9"/>
            <p:cNvSpPr/>
            <p:nvPr/>
          </p:nvSpPr>
          <p:spPr>
            <a:xfrm>
              <a:off x="2508828" y="2118210"/>
              <a:ext cx="0" cy="3295650"/>
            </a:xfrm>
            <a:custGeom>
              <a:avLst/>
              <a:gdLst/>
              <a:ahLst/>
              <a:cxnLst/>
              <a:rect l="l" t="t" r="r" b="b"/>
              <a:pathLst>
                <a:path h="3295650">
                  <a:moveTo>
                    <a:pt x="0" y="3295170"/>
                  </a:moveTo>
                  <a:lnTo>
                    <a:pt x="0" y="0"/>
                  </a:lnTo>
                </a:path>
              </a:pathLst>
            </a:custGeom>
            <a:ln w="95249">
              <a:solidFill>
                <a:srgbClr val="000000"/>
              </a:solidFill>
            </a:ln>
          </p:spPr>
          <p:txBody>
            <a:bodyPr wrap="square" lIns="0" tIns="0" rIns="0" bIns="0" rtlCol="0"/>
            <a:lstStyle/>
            <a:p>
              <a:endParaRPr/>
            </a:p>
          </p:txBody>
        </p:sp>
        <p:sp>
          <p:nvSpPr>
            <p:cNvPr id="10" name="object 10"/>
            <p:cNvSpPr/>
            <p:nvPr/>
          </p:nvSpPr>
          <p:spPr>
            <a:xfrm>
              <a:off x="7831311" y="2070585"/>
              <a:ext cx="0" cy="3343275"/>
            </a:xfrm>
            <a:custGeom>
              <a:avLst/>
              <a:gdLst/>
              <a:ahLst/>
              <a:cxnLst/>
              <a:rect l="l" t="t" r="r" b="b"/>
              <a:pathLst>
                <a:path h="3343275">
                  <a:moveTo>
                    <a:pt x="0" y="3342795"/>
                  </a:moveTo>
                  <a:lnTo>
                    <a:pt x="0" y="0"/>
                  </a:lnTo>
                </a:path>
              </a:pathLst>
            </a:custGeom>
            <a:ln w="95249">
              <a:solidFill>
                <a:srgbClr val="000000"/>
              </a:solidFill>
            </a:ln>
          </p:spPr>
          <p:txBody>
            <a:bodyPr wrap="square" lIns="0" tIns="0" rIns="0" bIns="0" rtlCol="0"/>
            <a:lstStyle/>
            <a:p>
              <a:endParaRPr/>
            </a:p>
          </p:txBody>
        </p:sp>
        <p:sp>
          <p:nvSpPr>
            <p:cNvPr id="11" name="object 11"/>
            <p:cNvSpPr/>
            <p:nvPr/>
          </p:nvSpPr>
          <p:spPr>
            <a:xfrm>
              <a:off x="9522096" y="2070642"/>
              <a:ext cx="5322570" cy="0"/>
            </a:xfrm>
            <a:custGeom>
              <a:avLst/>
              <a:gdLst/>
              <a:ahLst/>
              <a:cxnLst/>
              <a:rect l="l" t="t" r="r" b="b"/>
              <a:pathLst>
                <a:path w="5322569">
                  <a:moveTo>
                    <a:pt x="0" y="0"/>
                  </a:moveTo>
                  <a:lnTo>
                    <a:pt x="5322483" y="0"/>
                  </a:lnTo>
                </a:path>
              </a:pathLst>
            </a:custGeom>
            <a:ln w="95249">
              <a:solidFill>
                <a:srgbClr val="000000"/>
              </a:solidFill>
            </a:ln>
          </p:spPr>
          <p:txBody>
            <a:bodyPr wrap="square" lIns="0" tIns="0" rIns="0" bIns="0" rtlCol="0"/>
            <a:lstStyle/>
            <a:p>
              <a:endParaRPr/>
            </a:p>
          </p:txBody>
        </p:sp>
        <p:sp>
          <p:nvSpPr>
            <p:cNvPr id="12" name="object 12"/>
            <p:cNvSpPr/>
            <p:nvPr/>
          </p:nvSpPr>
          <p:spPr>
            <a:xfrm>
              <a:off x="9617346" y="5461063"/>
              <a:ext cx="5322570" cy="0"/>
            </a:xfrm>
            <a:custGeom>
              <a:avLst/>
              <a:gdLst/>
              <a:ahLst/>
              <a:cxnLst/>
              <a:rect l="l" t="t" r="r" b="b"/>
              <a:pathLst>
                <a:path w="5322569">
                  <a:moveTo>
                    <a:pt x="0" y="0"/>
                  </a:moveTo>
                  <a:lnTo>
                    <a:pt x="5322483" y="0"/>
                  </a:lnTo>
                </a:path>
              </a:pathLst>
            </a:custGeom>
            <a:ln w="95249">
              <a:solidFill>
                <a:srgbClr val="000000"/>
              </a:solidFill>
            </a:ln>
          </p:spPr>
          <p:txBody>
            <a:bodyPr wrap="square" lIns="0" tIns="0" rIns="0" bIns="0" rtlCol="0"/>
            <a:lstStyle/>
            <a:p>
              <a:endParaRPr/>
            </a:p>
          </p:txBody>
        </p:sp>
        <p:sp>
          <p:nvSpPr>
            <p:cNvPr id="13" name="object 13"/>
            <p:cNvSpPr/>
            <p:nvPr/>
          </p:nvSpPr>
          <p:spPr>
            <a:xfrm>
              <a:off x="14844507" y="2022947"/>
              <a:ext cx="47625" cy="3486150"/>
            </a:xfrm>
            <a:custGeom>
              <a:avLst/>
              <a:gdLst/>
              <a:ahLst/>
              <a:cxnLst/>
              <a:rect l="l" t="t" r="r" b="b"/>
              <a:pathLst>
                <a:path w="47625" h="3486150">
                  <a:moveTo>
                    <a:pt x="47624" y="3485670"/>
                  </a:moveTo>
                  <a:lnTo>
                    <a:pt x="0" y="0"/>
                  </a:lnTo>
                </a:path>
              </a:pathLst>
            </a:custGeom>
            <a:ln w="95249">
              <a:solidFill>
                <a:srgbClr val="000000"/>
              </a:solidFill>
            </a:ln>
          </p:spPr>
          <p:txBody>
            <a:bodyPr wrap="square" lIns="0" tIns="0" rIns="0" bIns="0" rtlCol="0"/>
            <a:lstStyle/>
            <a:p>
              <a:endParaRPr/>
            </a:p>
          </p:txBody>
        </p:sp>
        <p:sp>
          <p:nvSpPr>
            <p:cNvPr id="14" name="object 14"/>
            <p:cNvSpPr/>
            <p:nvPr/>
          </p:nvSpPr>
          <p:spPr>
            <a:xfrm>
              <a:off x="9569648" y="2046758"/>
              <a:ext cx="47625" cy="3462020"/>
            </a:xfrm>
            <a:custGeom>
              <a:avLst/>
              <a:gdLst/>
              <a:ahLst/>
              <a:cxnLst/>
              <a:rect l="l" t="t" r="r" b="b"/>
              <a:pathLst>
                <a:path w="47625" h="3462020">
                  <a:moveTo>
                    <a:pt x="47624" y="3461858"/>
                  </a:moveTo>
                  <a:lnTo>
                    <a:pt x="0" y="0"/>
                  </a:lnTo>
                </a:path>
              </a:pathLst>
            </a:custGeom>
            <a:ln w="95249">
              <a:solidFill>
                <a:srgbClr val="000000"/>
              </a:solidFill>
            </a:ln>
          </p:spPr>
          <p:txBody>
            <a:bodyPr wrap="square" lIns="0" tIns="0" rIns="0" bIns="0" rtlCol="0"/>
            <a:lstStyle/>
            <a:p>
              <a:endParaRPr/>
            </a:p>
          </p:txBody>
        </p:sp>
      </p:grpSp>
      <p:sp>
        <p:nvSpPr>
          <p:cNvPr id="15" name="object 15"/>
          <p:cNvSpPr txBox="1">
            <a:spLocks noGrp="1"/>
          </p:cNvSpPr>
          <p:nvPr>
            <p:ph type="title"/>
          </p:nvPr>
        </p:nvSpPr>
        <p:spPr>
          <a:xfrm>
            <a:off x="2375681" y="287329"/>
            <a:ext cx="2807335" cy="482600"/>
          </a:xfrm>
          <a:prstGeom prst="rect">
            <a:avLst/>
          </a:prstGeom>
        </p:spPr>
        <p:txBody>
          <a:bodyPr vert="horz" wrap="square" lIns="0" tIns="12700" rIns="0" bIns="0" rtlCol="0">
            <a:spAutoFit/>
          </a:bodyPr>
          <a:lstStyle/>
          <a:p>
            <a:pPr marL="12700">
              <a:lnSpc>
                <a:spcPct val="100000"/>
              </a:lnSpc>
              <a:spcBef>
                <a:spcPts val="100"/>
              </a:spcBef>
            </a:pPr>
            <a:r>
              <a:rPr sz="3000" spc="50" dirty="0"/>
              <a:t>College</a:t>
            </a:r>
            <a:r>
              <a:rPr sz="3000" dirty="0"/>
              <a:t> </a:t>
            </a:r>
            <a:r>
              <a:rPr sz="3000" spc="45" dirty="0"/>
              <a:t>(cluster)</a:t>
            </a:r>
            <a:endParaRPr sz="3000"/>
          </a:p>
        </p:txBody>
      </p:sp>
      <p:sp>
        <p:nvSpPr>
          <p:cNvPr id="16" name="object 16"/>
          <p:cNvSpPr txBox="1"/>
          <p:nvPr/>
        </p:nvSpPr>
        <p:spPr>
          <a:xfrm>
            <a:off x="3343151" y="1368284"/>
            <a:ext cx="3597910" cy="482600"/>
          </a:xfrm>
          <a:prstGeom prst="rect">
            <a:avLst/>
          </a:prstGeom>
        </p:spPr>
        <p:txBody>
          <a:bodyPr vert="horz" wrap="square" lIns="0" tIns="12700" rIns="0" bIns="0" rtlCol="0">
            <a:spAutoFit/>
          </a:bodyPr>
          <a:lstStyle/>
          <a:p>
            <a:pPr marL="12700">
              <a:lnSpc>
                <a:spcPct val="100000"/>
              </a:lnSpc>
              <a:spcBef>
                <a:spcPts val="100"/>
              </a:spcBef>
            </a:pPr>
            <a:r>
              <a:rPr sz="3000" b="1" spc="170" dirty="0">
                <a:solidFill>
                  <a:srgbClr val="326BE4"/>
                </a:solidFill>
                <a:latin typeface="Times New Roman"/>
                <a:cs typeface="Times New Roman"/>
              </a:rPr>
              <a:t>NameSpace-</a:t>
            </a:r>
            <a:r>
              <a:rPr sz="3000" b="1" spc="-315" dirty="0">
                <a:solidFill>
                  <a:srgbClr val="326BE4"/>
                </a:solidFill>
                <a:latin typeface="Times New Roman"/>
                <a:cs typeface="Times New Roman"/>
              </a:rPr>
              <a:t>1</a:t>
            </a:r>
            <a:r>
              <a:rPr sz="3000" b="1" spc="15" dirty="0">
                <a:solidFill>
                  <a:srgbClr val="326BE4"/>
                </a:solidFill>
                <a:latin typeface="Times New Roman"/>
                <a:cs typeface="Times New Roman"/>
              </a:rPr>
              <a:t> </a:t>
            </a:r>
            <a:r>
              <a:rPr sz="3000" b="1" spc="80" dirty="0">
                <a:solidFill>
                  <a:srgbClr val="326BE4"/>
                </a:solidFill>
                <a:latin typeface="Times New Roman"/>
                <a:cs typeface="Times New Roman"/>
              </a:rPr>
              <a:t>(boys)</a:t>
            </a:r>
            <a:endParaRPr sz="3000">
              <a:latin typeface="Times New Roman"/>
              <a:cs typeface="Times New Roman"/>
            </a:endParaRPr>
          </a:p>
        </p:txBody>
      </p:sp>
      <p:sp>
        <p:nvSpPr>
          <p:cNvPr id="17" name="object 17"/>
          <p:cNvSpPr txBox="1"/>
          <p:nvPr/>
        </p:nvSpPr>
        <p:spPr>
          <a:xfrm>
            <a:off x="10228255" y="1368284"/>
            <a:ext cx="3578225" cy="482600"/>
          </a:xfrm>
          <a:prstGeom prst="rect">
            <a:avLst/>
          </a:prstGeom>
        </p:spPr>
        <p:txBody>
          <a:bodyPr vert="horz" wrap="square" lIns="0" tIns="12700" rIns="0" bIns="0" rtlCol="0">
            <a:spAutoFit/>
          </a:bodyPr>
          <a:lstStyle/>
          <a:p>
            <a:pPr marL="12700">
              <a:lnSpc>
                <a:spcPct val="100000"/>
              </a:lnSpc>
              <a:spcBef>
                <a:spcPts val="100"/>
              </a:spcBef>
            </a:pPr>
            <a:r>
              <a:rPr sz="3000" b="1" spc="170" dirty="0">
                <a:solidFill>
                  <a:srgbClr val="326BE4"/>
                </a:solidFill>
                <a:latin typeface="Times New Roman"/>
                <a:cs typeface="Times New Roman"/>
              </a:rPr>
              <a:t>NameSpace-</a:t>
            </a:r>
            <a:r>
              <a:rPr sz="3000" b="1" spc="180" dirty="0">
                <a:solidFill>
                  <a:srgbClr val="326BE4"/>
                </a:solidFill>
                <a:latin typeface="Times New Roman"/>
                <a:cs typeface="Times New Roman"/>
              </a:rPr>
              <a:t>2</a:t>
            </a:r>
            <a:r>
              <a:rPr sz="3000" b="1" spc="15" dirty="0">
                <a:solidFill>
                  <a:srgbClr val="326BE4"/>
                </a:solidFill>
                <a:latin typeface="Times New Roman"/>
                <a:cs typeface="Times New Roman"/>
              </a:rPr>
              <a:t> </a:t>
            </a:r>
            <a:r>
              <a:rPr sz="3000" b="1" spc="-10" dirty="0">
                <a:solidFill>
                  <a:srgbClr val="326BE4"/>
                </a:solidFill>
                <a:latin typeface="Times New Roman"/>
                <a:cs typeface="Times New Roman"/>
              </a:rPr>
              <a:t>(girls)</a:t>
            </a:r>
            <a:endParaRPr sz="3000">
              <a:latin typeface="Times New Roman"/>
              <a:cs typeface="Times New Roman"/>
            </a:endParaRPr>
          </a:p>
        </p:txBody>
      </p:sp>
      <p:sp>
        <p:nvSpPr>
          <p:cNvPr id="18" name="object 18"/>
          <p:cNvSpPr txBox="1"/>
          <p:nvPr/>
        </p:nvSpPr>
        <p:spPr>
          <a:xfrm>
            <a:off x="1284886" y="7695631"/>
            <a:ext cx="15237460" cy="1625600"/>
          </a:xfrm>
          <a:prstGeom prst="rect">
            <a:avLst/>
          </a:prstGeom>
        </p:spPr>
        <p:txBody>
          <a:bodyPr vert="horz" wrap="square" lIns="0" tIns="12065" rIns="0" bIns="0" rtlCol="0">
            <a:spAutoFit/>
          </a:bodyPr>
          <a:lstStyle/>
          <a:p>
            <a:pPr marL="12700" marR="5080">
              <a:lnSpc>
                <a:spcPct val="116700"/>
              </a:lnSpc>
              <a:spcBef>
                <a:spcPts val="95"/>
              </a:spcBef>
            </a:pPr>
            <a:r>
              <a:rPr sz="3000" b="1" spc="65" dirty="0">
                <a:latin typeface="Times New Roman"/>
                <a:cs typeface="Times New Roman"/>
              </a:rPr>
              <a:t>Also</a:t>
            </a:r>
            <a:r>
              <a:rPr sz="3000" b="1" spc="-15" dirty="0">
                <a:latin typeface="Times New Roman"/>
                <a:cs typeface="Times New Roman"/>
              </a:rPr>
              <a:t> </a:t>
            </a:r>
            <a:r>
              <a:rPr sz="3000" b="1" spc="310" dirty="0">
                <a:latin typeface="Times New Roman"/>
                <a:cs typeface="Times New Roman"/>
              </a:rPr>
              <a:t>we</a:t>
            </a:r>
            <a:r>
              <a:rPr sz="3000" b="1" spc="-10" dirty="0">
                <a:latin typeface="Times New Roman"/>
                <a:cs typeface="Times New Roman"/>
              </a:rPr>
              <a:t> </a:t>
            </a:r>
            <a:r>
              <a:rPr sz="3000" b="1" spc="160" dirty="0">
                <a:latin typeface="Times New Roman"/>
                <a:cs typeface="Times New Roman"/>
              </a:rPr>
              <a:t>have</a:t>
            </a:r>
            <a:r>
              <a:rPr sz="3000" b="1" spc="-15" dirty="0">
                <a:latin typeface="Times New Roman"/>
                <a:cs typeface="Times New Roman"/>
              </a:rPr>
              <a:t> </a:t>
            </a:r>
            <a:r>
              <a:rPr sz="3000" b="1" dirty="0">
                <a:latin typeface="Times New Roman"/>
                <a:cs typeface="Times New Roman"/>
              </a:rPr>
              <a:t>a</a:t>
            </a:r>
            <a:r>
              <a:rPr sz="3000" b="1" spc="-10" dirty="0">
                <a:latin typeface="Times New Roman"/>
                <a:cs typeface="Times New Roman"/>
              </a:rPr>
              <a:t> </a:t>
            </a:r>
            <a:r>
              <a:rPr sz="3000" b="1" spc="150" dirty="0">
                <a:latin typeface="Times New Roman"/>
                <a:cs typeface="Times New Roman"/>
              </a:rPr>
              <a:t>condition</a:t>
            </a:r>
            <a:r>
              <a:rPr sz="3000" b="1" spc="-15" dirty="0">
                <a:latin typeface="Times New Roman"/>
                <a:cs typeface="Times New Roman"/>
              </a:rPr>
              <a:t> </a:t>
            </a:r>
            <a:r>
              <a:rPr sz="3000" b="1" spc="70" dirty="0">
                <a:latin typeface="Times New Roman"/>
                <a:cs typeface="Times New Roman"/>
              </a:rPr>
              <a:t>that</a:t>
            </a:r>
            <a:r>
              <a:rPr sz="3000" b="1" spc="-10" dirty="0">
                <a:latin typeface="Times New Roman"/>
                <a:cs typeface="Times New Roman"/>
              </a:rPr>
              <a:t> </a:t>
            </a:r>
            <a:r>
              <a:rPr sz="3000" b="1" spc="130" dirty="0">
                <a:latin typeface="Times New Roman"/>
                <a:cs typeface="Times New Roman"/>
              </a:rPr>
              <a:t>students</a:t>
            </a:r>
            <a:r>
              <a:rPr sz="3000" b="1" spc="-10" dirty="0">
                <a:latin typeface="Times New Roman"/>
                <a:cs typeface="Times New Roman"/>
              </a:rPr>
              <a:t> </a:t>
            </a:r>
            <a:r>
              <a:rPr sz="3000" b="1" spc="170" dirty="0">
                <a:latin typeface="Times New Roman"/>
                <a:cs typeface="Times New Roman"/>
              </a:rPr>
              <a:t>must</a:t>
            </a:r>
            <a:r>
              <a:rPr sz="3000" b="1" spc="-15" dirty="0">
                <a:latin typeface="Times New Roman"/>
                <a:cs typeface="Times New Roman"/>
              </a:rPr>
              <a:t> </a:t>
            </a:r>
            <a:r>
              <a:rPr sz="3000" b="1" spc="125" dirty="0">
                <a:latin typeface="Times New Roman"/>
                <a:cs typeface="Times New Roman"/>
              </a:rPr>
              <a:t>has</a:t>
            </a:r>
            <a:r>
              <a:rPr sz="3000" b="1" spc="-10" dirty="0">
                <a:latin typeface="Times New Roman"/>
                <a:cs typeface="Times New Roman"/>
              </a:rPr>
              <a:t> </a:t>
            </a:r>
            <a:r>
              <a:rPr sz="3000" b="1" spc="229" dirty="0">
                <a:latin typeface="Times New Roman"/>
                <a:cs typeface="Times New Roman"/>
              </a:rPr>
              <a:t>min</a:t>
            </a:r>
            <a:r>
              <a:rPr sz="3000" b="1" spc="-15" dirty="0">
                <a:latin typeface="Times New Roman"/>
                <a:cs typeface="Times New Roman"/>
              </a:rPr>
              <a:t> </a:t>
            </a:r>
            <a:r>
              <a:rPr sz="3000" b="1" dirty="0">
                <a:latin typeface="Times New Roman"/>
                <a:cs typeface="Times New Roman"/>
              </a:rPr>
              <a:t>80%</a:t>
            </a:r>
            <a:r>
              <a:rPr sz="3000" b="1" spc="-10" dirty="0">
                <a:latin typeface="Times New Roman"/>
                <a:cs typeface="Times New Roman"/>
              </a:rPr>
              <a:t> </a:t>
            </a:r>
            <a:r>
              <a:rPr sz="3000" b="1" spc="160" dirty="0">
                <a:latin typeface="Times New Roman"/>
                <a:cs typeface="Times New Roman"/>
              </a:rPr>
              <a:t>in</a:t>
            </a:r>
            <a:r>
              <a:rPr sz="3000" b="1" spc="-10" dirty="0">
                <a:latin typeface="Times New Roman"/>
                <a:cs typeface="Times New Roman"/>
              </a:rPr>
              <a:t> </a:t>
            </a:r>
            <a:r>
              <a:rPr sz="3000" b="1" spc="105" dirty="0">
                <a:latin typeface="Times New Roman"/>
                <a:cs typeface="Times New Roman"/>
              </a:rPr>
              <a:t>Intermediate.</a:t>
            </a:r>
            <a:r>
              <a:rPr sz="3000" b="1" spc="-15" dirty="0">
                <a:latin typeface="Times New Roman"/>
                <a:cs typeface="Times New Roman"/>
              </a:rPr>
              <a:t> </a:t>
            </a:r>
            <a:r>
              <a:rPr sz="3000" b="1" spc="85" dirty="0">
                <a:latin typeface="Times New Roman"/>
                <a:cs typeface="Times New Roman"/>
              </a:rPr>
              <a:t>In</a:t>
            </a:r>
            <a:r>
              <a:rPr sz="3000" b="1" spc="-10" dirty="0">
                <a:latin typeface="Times New Roman"/>
                <a:cs typeface="Times New Roman"/>
              </a:rPr>
              <a:t> </a:t>
            </a:r>
            <a:r>
              <a:rPr sz="3000" b="1" spc="130" dirty="0">
                <a:latin typeface="Times New Roman"/>
                <a:cs typeface="Times New Roman"/>
              </a:rPr>
              <a:t>the</a:t>
            </a:r>
            <a:r>
              <a:rPr sz="3000" b="1" spc="-15" dirty="0">
                <a:latin typeface="Times New Roman"/>
                <a:cs typeface="Times New Roman"/>
              </a:rPr>
              <a:t> </a:t>
            </a:r>
            <a:r>
              <a:rPr sz="3000" b="1" spc="155" dirty="0">
                <a:latin typeface="Times New Roman"/>
                <a:cs typeface="Times New Roman"/>
              </a:rPr>
              <a:t>same </a:t>
            </a:r>
            <a:r>
              <a:rPr sz="3000" b="1" spc="235" dirty="0">
                <a:latin typeface="Times New Roman"/>
                <a:cs typeface="Times New Roman"/>
              </a:rPr>
              <a:t>way</a:t>
            </a:r>
            <a:r>
              <a:rPr sz="3000" b="1" spc="-20" dirty="0">
                <a:latin typeface="Times New Roman"/>
                <a:cs typeface="Times New Roman"/>
              </a:rPr>
              <a:t> </a:t>
            </a:r>
            <a:r>
              <a:rPr sz="3000" b="1" spc="170" dirty="0">
                <a:latin typeface="Times New Roman"/>
                <a:cs typeface="Times New Roman"/>
              </a:rPr>
              <a:t>pod/container</a:t>
            </a:r>
            <a:r>
              <a:rPr sz="3000" b="1" spc="-20" dirty="0">
                <a:latin typeface="Times New Roman"/>
                <a:cs typeface="Times New Roman"/>
              </a:rPr>
              <a:t> </a:t>
            </a:r>
            <a:r>
              <a:rPr sz="3000" b="1" spc="175" dirty="0">
                <a:latin typeface="Times New Roman"/>
                <a:cs typeface="Times New Roman"/>
              </a:rPr>
              <a:t>must</a:t>
            </a:r>
            <a:r>
              <a:rPr sz="3000" b="1" spc="-20" dirty="0">
                <a:latin typeface="Times New Roman"/>
                <a:cs typeface="Times New Roman"/>
              </a:rPr>
              <a:t> </a:t>
            </a:r>
            <a:r>
              <a:rPr sz="3000" b="1" spc="130" dirty="0">
                <a:latin typeface="Times New Roman"/>
                <a:cs typeface="Times New Roman"/>
              </a:rPr>
              <a:t>contains</a:t>
            </a:r>
            <a:r>
              <a:rPr sz="3000" b="1" spc="-20"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80" dirty="0">
                <a:latin typeface="Times New Roman"/>
                <a:cs typeface="Times New Roman"/>
              </a:rPr>
              <a:t>CPU</a:t>
            </a:r>
            <a:r>
              <a:rPr sz="3000" b="1" spc="-20" dirty="0">
                <a:latin typeface="Times New Roman"/>
                <a:cs typeface="Times New Roman"/>
              </a:rPr>
              <a:t> </a:t>
            </a:r>
            <a:r>
              <a:rPr sz="3000" b="1" spc="95" dirty="0">
                <a:latin typeface="Times New Roman"/>
                <a:cs typeface="Times New Roman"/>
              </a:rPr>
              <a:t>limits.</a:t>
            </a:r>
            <a:r>
              <a:rPr sz="3000" b="1" spc="-15" dirty="0">
                <a:latin typeface="Times New Roman"/>
                <a:cs typeface="Times New Roman"/>
              </a:rPr>
              <a:t> </a:t>
            </a:r>
            <a:r>
              <a:rPr sz="3000" b="1" dirty="0">
                <a:latin typeface="Times New Roman"/>
                <a:cs typeface="Times New Roman"/>
              </a:rPr>
              <a:t>All</a:t>
            </a:r>
            <a:r>
              <a:rPr sz="3000" b="1" spc="-20"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160" dirty="0">
                <a:latin typeface="Times New Roman"/>
                <a:cs typeface="Times New Roman"/>
              </a:rPr>
              <a:t>pods/containers</a:t>
            </a:r>
            <a:r>
              <a:rPr sz="3000" b="1" spc="-20" dirty="0">
                <a:latin typeface="Times New Roman"/>
                <a:cs typeface="Times New Roman"/>
              </a:rPr>
              <a:t> </a:t>
            </a:r>
            <a:r>
              <a:rPr sz="3000" b="1" spc="160" dirty="0">
                <a:latin typeface="Times New Roman"/>
                <a:cs typeface="Times New Roman"/>
              </a:rPr>
              <a:t>in</a:t>
            </a:r>
            <a:r>
              <a:rPr sz="3000" b="1" spc="-20" dirty="0">
                <a:latin typeface="Times New Roman"/>
                <a:cs typeface="Times New Roman"/>
              </a:rPr>
              <a:t> </a:t>
            </a:r>
            <a:r>
              <a:rPr sz="3000" b="1" spc="105" dirty="0">
                <a:latin typeface="Times New Roman"/>
                <a:cs typeface="Times New Roman"/>
              </a:rPr>
              <a:t>the </a:t>
            </a:r>
            <a:r>
              <a:rPr sz="3000" b="1" spc="165" dirty="0">
                <a:latin typeface="Times New Roman"/>
                <a:cs typeface="Times New Roman"/>
              </a:rPr>
              <a:t>namespace</a:t>
            </a:r>
            <a:r>
              <a:rPr sz="3000" b="1" spc="-5" dirty="0">
                <a:latin typeface="Times New Roman"/>
                <a:cs typeface="Times New Roman"/>
              </a:rPr>
              <a:t> </a:t>
            </a:r>
            <a:r>
              <a:rPr sz="3000" b="1" spc="160" dirty="0">
                <a:latin typeface="Times New Roman"/>
                <a:cs typeface="Times New Roman"/>
              </a:rPr>
              <a:t>should</a:t>
            </a:r>
            <a:r>
              <a:rPr sz="3000" b="1" spc="-5" dirty="0">
                <a:latin typeface="Times New Roman"/>
                <a:cs typeface="Times New Roman"/>
              </a:rPr>
              <a:t> </a:t>
            </a:r>
            <a:r>
              <a:rPr sz="3000" b="1" spc="145" dirty="0">
                <a:latin typeface="Times New Roman"/>
                <a:cs typeface="Times New Roman"/>
              </a:rPr>
              <a:t>not</a:t>
            </a:r>
            <a:r>
              <a:rPr sz="3000" b="1" spc="-5" dirty="0">
                <a:latin typeface="Times New Roman"/>
                <a:cs typeface="Times New Roman"/>
              </a:rPr>
              <a:t> </a:t>
            </a:r>
            <a:r>
              <a:rPr sz="3000" b="1" spc="170" dirty="0">
                <a:latin typeface="Times New Roman"/>
                <a:cs typeface="Times New Roman"/>
              </a:rPr>
              <a:t>exceed</a:t>
            </a:r>
            <a:r>
              <a:rPr sz="3000" b="1" spc="-5" dirty="0">
                <a:latin typeface="Times New Roman"/>
                <a:cs typeface="Times New Roman"/>
              </a:rPr>
              <a:t> </a:t>
            </a:r>
            <a:r>
              <a:rPr sz="3000" b="1" dirty="0">
                <a:latin typeface="Times New Roman"/>
                <a:cs typeface="Times New Roman"/>
              </a:rPr>
              <a:t>a</a:t>
            </a:r>
            <a:r>
              <a:rPr sz="3000" b="1" spc="-5" dirty="0">
                <a:latin typeface="Times New Roman"/>
                <a:cs typeface="Times New Roman"/>
              </a:rPr>
              <a:t> </a:t>
            </a:r>
            <a:r>
              <a:rPr sz="3000" b="1" spc="125" dirty="0">
                <a:latin typeface="Times New Roman"/>
                <a:cs typeface="Times New Roman"/>
              </a:rPr>
              <a:t>specified</a:t>
            </a:r>
            <a:r>
              <a:rPr sz="3000" b="1" dirty="0">
                <a:latin typeface="Times New Roman"/>
                <a:cs typeface="Times New Roman"/>
              </a:rPr>
              <a:t> </a:t>
            </a:r>
            <a:r>
              <a:rPr sz="3000" b="1" spc="85" dirty="0">
                <a:latin typeface="Times New Roman"/>
                <a:cs typeface="Times New Roman"/>
              </a:rPr>
              <a:t>limit.</a:t>
            </a:r>
            <a:endParaRPr sz="3000">
              <a:latin typeface="Times New Roman"/>
              <a:cs typeface="Times New Roman"/>
            </a:endParaRPr>
          </a:p>
        </p:txBody>
      </p:sp>
      <p:sp>
        <p:nvSpPr>
          <p:cNvPr id="19" name="object 19"/>
          <p:cNvSpPr txBox="1"/>
          <p:nvPr/>
        </p:nvSpPr>
        <p:spPr>
          <a:xfrm>
            <a:off x="3073975" y="5621885"/>
            <a:ext cx="3369945" cy="1092200"/>
          </a:xfrm>
          <a:prstGeom prst="rect">
            <a:avLst/>
          </a:prstGeom>
        </p:spPr>
        <p:txBody>
          <a:bodyPr vert="horz" wrap="square" lIns="0" tIns="12065" rIns="0" bIns="0" rtlCol="0">
            <a:spAutoFit/>
          </a:bodyPr>
          <a:lstStyle/>
          <a:p>
            <a:pPr marL="12700" marR="5080">
              <a:lnSpc>
                <a:spcPct val="116700"/>
              </a:lnSpc>
              <a:spcBef>
                <a:spcPts val="95"/>
              </a:spcBef>
            </a:pPr>
            <a:r>
              <a:rPr sz="3000" b="1" spc="-80" dirty="0">
                <a:solidFill>
                  <a:srgbClr val="326BE4"/>
                </a:solidFill>
                <a:latin typeface="Times New Roman"/>
                <a:cs typeface="Times New Roman"/>
              </a:rPr>
              <a:t>CPU</a:t>
            </a:r>
            <a:r>
              <a:rPr sz="3000" b="1" spc="-60" dirty="0">
                <a:solidFill>
                  <a:srgbClr val="326BE4"/>
                </a:solidFill>
                <a:latin typeface="Times New Roman"/>
                <a:cs typeface="Times New Roman"/>
              </a:rPr>
              <a:t> </a:t>
            </a:r>
            <a:r>
              <a:rPr sz="3000" b="1" spc="114" dirty="0">
                <a:solidFill>
                  <a:srgbClr val="326BE4"/>
                </a:solidFill>
                <a:latin typeface="Times New Roman"/>
                <a:cs typeface="Times New Roman"/>
              </a:rPr>
              <a:t>limit</a:t>
            </a:r>
            <a:r>
              <a:rPr sz="3000" b="1" spc="-40" dirty="0">
                <a:solidFill>
                  <a:srgbClr val="326BE4"/>
                </a:solidFill>
                <a:latin typeface="Times New Roman"/>
                <a:cs typeface="Times New Roman"/>
              </a:rPr>
              <a:t> </a:t>
            </a:r>
            <a:r>
              <a:rPr sz="3000" b="1" spc="-260" dirty="0">
                <a:solidFill>
                  <a:srgbClr val="326BE4"/>
                </a:solidFill>
                <a:latin typeface="Times New Roman"/>
                <a:cs typeface="Times New Roman"/>
              </a:rPr>
              <a:t>=</a:t>
            </a:r>
            <a:r>
              <a:rPr sz="3000" b="1" spc="-30" dirty="0">
                <a:solidFill>
                  <a:srgbClr val="326BE4"/>
                </a:solidFill>
                <a:latin typeface="Times New Roman"/>
                <a:cs typeface="Times New Roman"/>
              </a:rPr>
              <a:t> </a:t>
            </a:r>
            <a:r>
              <a:rPr sz="3000" b="1" spc="210" dirty="0">
                <a:solidFill>
                  <a:srgbClr val="326BE4"/>
                </a:solidFill>
                <a:latin typeface="Times New Roman"/>
                <a:cs typeface="Times New Roman"/>
              </a:rPr>
              <a:t>8</a:t>
            </a:r>
            <a:r>
              <a:rPr sz="3000" b="1" spc="-45" dirty="0">
                <a:solidFill>
                  <a:srgbClr val="326BE4"/>
                </a:solidFill>
                <a:latin typeface="Times New Roman"/>
                <a:cs typeface="Times New Roman"/>
              </a:rPr>
              <a:t> </a:t>
            </a:r>
            <a:r>
              <a:rPr sz="3000" b="1" spc="-20" dirty="0">
                <a:solidFill>
                  <a:srgbClr val="326BE4"/>
                </a:solidFill>
                <a:latin typeface="Times New Roman"/>
                <a:cs typeface="Times New Roman"/>
              </a:rPr>
              <a:t>Cores </a:t>
            </a:r>
            <a:r>
              <a:rPr sz="3000" b="1" spc="145" dirty="0">
                <a:solidFill>
                  <a:srgbClr val="326BE4"/>
                </a:solidFill>
                <a:latin typeface="Times New Roman"/>
                <a:cs typeface="Times New Roman"/>
              </a:rPr>
              <a:t>Memory</a:t>
            </a:r>
            <a:r>
              <a:rPr sz="3000" b="1" spc="-25" dirty="0">
                <a:solidFill>
                  <a:srgbClr val="326BE4"/>
                </a:solidFill>
                <a:latin typeface="Times New Roman"/>
                <a:cs typeface="Times New Roman"/>
              </a:rPr>
              <a:t> </a:t>
            </a:r>
            <a:r>
              <a:rPr sz="3000" b="1" spc="-260" dirty="0">
                <a:solidFill>
                  <a:srgbClr val="326BE4"/>
                </a:solidFill>
                <a:latin typeface="Times New Roman"/>
                <a:cs typeface="Times New Roman"/>
              </a:rPr>
              <a:t>=</a:t>
            </a:r>
            <a:r>
              <a:rPr sz="3000" b="1" spc="-25" dirty="0">
                <a:solidFill>
                  <a:srgbClr val="326BE4"/>
                </a:solidFill>
                <a:latin typeface="Times New Roman"/>
                <a:cs typeface="Times New Roman"/>
              </a:rPr>
              <a:t> </a:t>
            </a:r>
            <a:r>
              <a:rPr sz="3000" b="1" spc="330" dirty="0">
                <a:solidFill>
                  <a:srgbClr val="326BE4"/>
                </a:solidFill>
                <a:latin typeface="Times New Roman"/>
                <a:cs typeface="Times New Roman"/>
              </a:rPr>
              <a:t>200</a:t>
            </a:r>
            <a:r>
              <a:rPr sz="3000" b="1" spc="-25" dirty="0">
                <a:solidFill>
                  <a:srgbClr val="326BE4"/>
                </a:solidFill>
                <a:latin typeface="Times New Roman"/>
                <a:cs typeface="Times New Roman"/>
              </a:rPr>
              <a:t> </a:t>
            </a:r>
            <a:r>
              <a:rPr sz="3000" b="1" spc="-35" dirty="0">
                <a:solidFill>
                  <a:srgbClr val="326BE4"/>
                </a:solidFill>
                <a:latin typeface="Times New Roman"/>
                <a:cs typeface="Times New Roman"/>
              </a:rPr>
              <a:t>MB</a:t>
            </a:r>
            <a:endParaRPr sz="3000">
              <a:latin typeface="Times New Roman"/>
              <a:cs typeface="Times New Roman"/>
            </a:endParaRPr>
          </a:p>
        </p:txBody>
      </p:sp>
      <p:sp>
        <p:nvSpPr>
          <p:cNvPr id="20" name="object 20"/>
          <p:cNvSpPr txBox="1"/>
          <p:nvPr/>
        </p:nvSpPr>
        <p:spPr>
          <a:xfrm>
            <a:off x="10130667" y="5669622"/>
            <a:ext cx="3362325" cy="1092200"/>
          </a:xfrm>
          <a:prstGeom prst="rect">
            <a:avLst/>
          </a:prstGeom>
        </p:spPr>
        <p:txBody>
          <a:bodyPr vert="horz" wrap="square" lIns="0" tIns="12065" rIns="0" bIns="0" rtlCol="0">
            <a:spAutoFit/>
          </a:bodyPr>
          <a:lstStyle/>
          <a:p>
            <a:pPr marL="12700" marR="5080">
              <a:lnSpc>
                <a:spcPct val="116700"/>
              </a:lnSpc>
              <a:spcBef>
                <a:spcPts val="95"/>
              </a:spcBef>
            </a:pPr>
            <a:r>
              <a:rPr sz="3000" b="1" spc="-80" dirty="0">
                <a:solidFill>
                  <a:srgbClr val="326BE4"/>
                </a:solidFill>
                <a:latin typeface="Times New Roman"/>
                <a:cs typeface="Times New Roman"/>
              </a:rPr>
              <a:t>CPU</a:t>
            </a:r>
            <a:r>
              <a:rPr sz="3000" b="1" spc="-60" dirty="0">
                <a:solidFill>
                  <a:srgbClr val="326BE4"/>
                </a:solidFill>
                <a:latin typeface="Times New Roman"/>
                <a:cs typeface="Times New Roman"/>
              </a:rPr>
              <a:t> </a:t>
            </a:r>
            <a:r>
              <a:rPr sz="3000" b="1" spc="114" dirty="0">
                <a:solidFill>
                  <a:srgbClr val="326BE4"/>
                </a:solidFill>
                <a:latin typeface="Times New Roman"/>
                <a:cs typeface="Times New Roman"/>
              </a:rPr>
              <a:t>limit</a:t>
            </a:r>
            <a:r>
              <a:rPr sz="3000" b="1" spc="-40" dirty="0">
                <a:solidFill>
                  <a:srgbClr val="326BE4"/>
                </a:solidFill>
                <a:latin typeface="Times New Roman"/>
                <a:cs typeface="Times New Roman"/>
              </a:rPr>
              <a:t> </a:t>
            </a:r>
            <a:r>
              <a:rPr sz="3000" b="1" spc="-260" dirty="0">
                <a:solidFill>
                  <a:srgbClr val="326BE4"/>
                </a:solidFill>
                <a:latin typeface="Times New Roman"/>
                <a:cs typeface="Times New Roman"/>
              </a:rPr>
              <a:t>=</a:t>
            </a:r>
            <a:r>
              <a:rPr sz="3000" b="1" spc="-30" dirty="0">
                <a:solidFill>
                  <a:srgbClr val="326BE4"/>
                </a:solidFill>
                <a:latin typeface="Times New Roman"/>
                <a:cs typeface="Times New Roman"/>
              </a:rPr>
              <a:t> </a:t>
            </a:r>
            <a:r>
              <a:rPr sz="3000" b="1" spc="150" dirty="0">
                <a:solidFill>
                  <a:srgbClr val="326BE4"/>
                </a:solidFill>
                <a:latin typeface="Times New Roman"/>
                <a:cs typeface="Times New Roman"/>
              </a:rPr>
              <a:t>6</a:t>
            </a:r>
            <a:r>
              <a:rPr sz="3000" b="1" spc="-45" dirty="0">
                <a:solidFill>
                  <a:srgbClr val="326BE4"/>
                </a:solidFill>
                <a:latin typeface="Times New Roman"/>
                <a:cs typeface="Times New Roman"/>
              </a:rPr>
              <a:t> </a:t>
            </a:r>
            <a:r>
              <a:rPr sz="3000" b="1" spc="-20" dirty="0">
                <a:solidFill>
                  <a:srgbClr val="326BE4"/>
                </a:solidFill>
                <a:latin typeface="Times New Roman"/>
                <a:cs typeface="Times New Roman"/>
              </a:rPr>
              <a:t>Cores </a:t>
            </a:r>
            <a:r>
              <a:rPr sz="3000" b="1" spc="145" dirty="0">
                <a:solidFill>
                  <a:srgbClr val="326BE4"/>
                </a:solidFill>
                <a:latin typeface="Times New Roman"/>
                <a:cs typeface="Times New Roman"/>
              </a:rPr>
              <a:t>Memory</a:t>
            </a:r>
            <a:r>
              <a:rPr sz="3000" b="1" spc="-25" dirty="0">
                <a:solidFill>
                  <a:srgbClr val="326BE4"/>
                </a:solidFill>
                <a:latin typeface="Times New Roman"/>
                <a:cs typeface="Times New Roman"/>
              </a:rPr>
              <a:t> </a:t>
            </a:r>
            <a:r>
              <a:rPr sz="3000" b="1" spc="-260" dirty="0">
                <a:solidFill>
                  <a:srgbClr val="326BE4"/>
                </a:solidFill>
                <a:latin typeface="Times New Roman"/>
                <a:cs typeface="Times New Roman"/>
              </a:rPr>
              <a:t>=</a:t>
            </a:r>
            <a:r>
              <a:rPr sz="3000" b="1" spc="-25" dirty="0">
                <a:solidFill>
                  <a:srgbClr val="326BE4"/>
                </a:solidFill>
                <a:latin typeface="Times New Roman"/>
                <a:cs typeface="Times New Roman"/>
              </a:rPr>
              <a:t> </a:t>
            </a:r>
            <a:r>
              <a:rPr sz="3000" b="1" spc="65" dirty="0">
                <a:solidFill>
                  <a:srgbClr val="326BE4"/>
                </a:solidFill>
                <a:latin typeface="Times New Roman"/>
                <a:cs typeface="Times New Roman"/>
              </a:rPr>
              <a:t>150</a:t>
            </a:r>
            <a:r>
              <a:rPr sz="3000" b="1" spc="-25" dirty="0">
                <a:solidFill>
                  <a:srgbClr val="326BE4"/>
                </a:solidFill>
                <a:latin typeface="Times New Roman"/>
                <a:cs typeface="Times New Roman"/>
              </a:rPr>
              <a:t> MB</a:t>
            </a:r>
            <a:endParaRPr sz="3000">
              <a:latin typeface="Times New Roman"/>
              <a:cs typeface="Times New Roman"/>
            </a:endParaRPr>
          </a:p>
        </p:txBody>
      </p:sp>
      <p:sp>
        <p:nvSpPr>
          <p:cNvPr id="21" name="object 21"/>
          <p:cNvSpPr txBox="1"/>
          <p:nvPr/>
        </p:nvSpPr>
        <p:spPr>
          <a:xfrm>
            <a:off x="3086675" y="2450303"/>
            <a:ext cx="1663700" cy="860425"/>
          </a:xfrm>
          <a:prstGeom prst="rect">
            <a:avLst/>
          </a:prstGeom>
          <a:solidFill>
            <a:srgbClr val="33E7D0"/>
          </a:solidFill>
        </p:spPr>
        <p:txBody>
          <a:bodyPr vert="horz" wrap="square" lIns="0" tIns="71120" rIns="0" bIns="0" rtlCol="0">
            <a:spAutoFit/>
          </a:bodyPr>
          <a:lstStyle/>
          <a:p>
            <a:pPr marL="420370">
              <a:lnSpc>
                <a:spcPct val="100000"/>
              </a:lnSpc>
              <a:spcBef>
                <a:spcPts val="560"/>
              </a:spcBef>
            </a:pPr>
            <a:r>
              <a:rPr sz="2000" b="1" spc="120" dirty="0">
                <a:latin typeface="Times New Roman"/>
                <a:cs typeface="Times New Roman"/>
              </a:rPr>
              <a:t>2</a:t>
            </a:r>
            <a:r>
              <a:rPr sz="2000" b="1" spc="-35" dirty="0">
                <a:latin typeface="Times New Roman"/>
                <a:cs typeface="Times New Roman"/>
              </a:rPr>
              <a:t> </a:t>
            </a:r>
            <a:r>
              <a:rPr sz="2000" b="1" spc="65" dirty="0">
                <a:latin typeface="Times New Roman"/>
                <a:cs typeface="Times New Roman"/>
              </a:rPr>
              <a:t>cores</a:t>
            </a:r>
            <a:endParaRPr sz="2000">
              <a:latin typeface="Times New Roman"/>
              <a:cs typeface="Times New Roman"/>
            </a:endParaRPr>
          </a:p>
          <a:p>
            <a:pPr marL="454025">
              <a:lnSpc>
                <a:spcPct val="100000"/>
              </a:lnSpc>
              <a:spcBef>
                <a:spcPts val="375"/>
              </a:spcBef>
            </a:pPr>
            <a:r>
              <a:rPr sz="2000" b="1" spc="165" dirty="0">
                <a:latin typeface="Times New Roman"/>
                <a:cs typeface="Times New Roman"/>
              </a:rPr>
              <a:t>50</a:t>
            </a:r>
            <a:r>
              <a:rPr sz="2000" b="1" spc="-30" dirty="0">
                <a:latin typeface="Times New Roman"/>
                <a:cs typeface="Times New Roman"/>
              </a:rPr>
              <a:t> </a:t>
            </a:r>
            <a:r>
              <a:rPr sz="2000" b="1" spc="-25" dirty="0">
                <a:latin typeface="Times New Roman"/>
                <a:cs typeface="Times New Roman"/>
              </a:rPr>
              <a:t>MB</a:t>
            </a:r>
            <a:endParaRPr sz="2000">
              <a:latin typeface="Times New Roman"/>
              <a:cs typeface="Times New Roman"/>
            </a:endParaRPr>
          </a:p>
        </p:txBody>
      </p:sp>
      <p:sp>
        <p:nvSpPr>
          <p:cNvPr id="22" name="object 22"/>
          <p:cNvSpPr txBox="1"/>
          <p:nvPr/>
        </p:nvSpPr>
        <p:spPr>
          <a:xfrm>
            <a:off x="5482835" y="2470692"/>
            <a:ext cx="1663700" cy="860425"/>
          </a:xfrm>
          <a:prstGeom prst="rect">
            <a:avLst/>
          </a:prstGeom>
          <a:solidFill>
            <a:srgbClr val="33E7D0"/>
          </a:solidFill>
        </p:spPr>
        <p:txBody>
          <a:bodyPr vert="horz" wrap="square" lIns="0" tIns="71120" rIns="0" bIns="0" rtlCol="0">
            <a:spAutoFit/>
          </a:bodyPr>
          <a:lstStyle/>
          <a:p>
            <a:pPr marL="471170">
              <a:lnSpc>
                <a:spcPct val="100000"/>
              </a:lnSpc>
              <a:spcBef>
                <a:spcPts val="560"/>
              </a:spcBef>
            </a:pPr>
            <a:r>
              <a:rPr sz="2000" b="1" spc="120" dirty="0">
                <a:latin typeface="Times New Roman"/>
                <a:cs typeface="Times New Roman"/>
              </a:rPr>
              <a:t>2</a:t>
            </a:r>
            <a:r>
              <a:rPr sz="2000" b="1" spc="-35" dirty="0">
                <a:latin typeface="Times New Roman"/>
                <a:cs typeface="Times New Roman"/>
              </a:rPr>
              <a:t> </a:t>
            </a:r>
            <a:r>
              <a:rPr sz="2000" b="1" spc="65" dirty="0">
                <a:latin typeface="Times New Roman"/>
                <a:cs typeface="Times New Roman"/>
              </a:rPr>
              <a:t>cores</a:t>
            </a:r>
            <a:endParaRPr sz="2000">
              <a:latin typeface="Times New Roman"/>
              <a:cs typeface="Times New Roman"/>
            </a:endParaRPr>
          </a:p>
          <a:p>
            <a:pPr marL="504825">
              <a:lnSpc>
                <a:spcPct val="100000"/>
              </a:lnSpc>
              <a:spcBef>
                <a:spcPts val="375"/>
              </a:spcBef>
            </a:pPr>
            <a:r>
              <a:rPr sz="2000" b="1" spc="165" dirty="0">
                <a:latin typeface="Times New Roman"/>
                <a:cs typeface="Times New Roman"/>
              </a:rPr>
              <a:t>50</a:t>
            </a:r>
            <a:r>
              <a:rPr sz="2000" b="1" spc="-30" dirty="0">
                <a:latin typeface="Times New Roman"/>
                <a:cs typeface="Times New Roman"/>
              </a:rPr>
              <a:t> </a:t>
            </a:r>
            <a:r>
              <a:rPr sz="2000" b="1" spc="-25" dirty="0">
                <a:latin typeface="Times New Roman"/>
                <a:cs typeface="Times New Roman"/>
              </a:rPr>
              <a:t>MB</a:t>
            </a:r>
            <a:endParaRPr sz="2000">
              <a:latin typeface="Times New Roman"/>
              <a:cs typeface="Times New Roman"/>
            </a:endParaRPr>
          </a:p>
        </p:txBody>
      </p:sp>
      <p:sp>
        <p:nvSpPr>
          <p:cNvPr id="23" name="object 23"/>
          <p:cNvSpPr txBox="1"/>
          <p:nvPr/>
        </p:nvSpPr>
        <p:spPr>
          <a:xfrm>
            <a:off x="4290955" y="3962672"/>
            <a:ext cx="1663700" cy="860425"/>
          </a:xfrm>
          <a:prstGeom prst="rect">
            <a:avLst/>
          </a:prstGeom>
          <a:solidFill>
            <a:srgbClr val="33E7D0"/>
          </a:solidFill>
        </p:spPr>
        <p:txBody>
          <a:bodyPr vert="horz" wrap="square" lIns="0" tIns="71120" rIns="0" bIns="0" rtlCol="0">
            <a:spAutoFit/>
          </a:bodyPr>
          <a:lstStyle/>
          <a:p>
            <a:pPr marL="372110">
              <a:lnSpc>
                <a:spcPct val="100000"/>
              </a:lnSpc>
              <a:spcBef>
                <a:spcPts val="560"/>
              </a:spcBef>
            </a:pPr>
            <a:r>
              <a:rPr sz="2000" b="1" spc="80" dirty="0">
                <a:latin typeface="Times New Roman"/>
                <a:cs typeface="Times New Roman"/>
              </a:rPr>
              <a:t>4</a:t>
            </a:r>
            <a:r>
              <a:rPr sz="2000" b="1" spc="-25" dirty="0">
                <a:latin typeface="Times New Roman"/>
                <a:cs typeface="Times New Roman"/>
              </a:rPr>
              <a:t> </a:t>
            </a:r>
            <a:r>
              <a:rPr sz="2000" b="1" spc="65" dirty="0">
                <a:latin typeface="Times New Roman"/>
                <a:cs typeface="Times New Roman"/>
              </a:rPr>
              <a:t>cores</a:t>
            </a:r>
            <a:endParaRPr sz="2000">
              <a:latin typeface="Times New Roman"/>
              <a:cs typeface="Times New Roman"/>
            </a:endParaRPr>
          </a:p>
          <a:p>
            <a:pPr marL="339725">
              <a:lnSpc>
                <a:spcPct val="100000"/>
              </a:lnSpc>
              <a:spcBef>
                <a:spcPts val="375"/>
              </a:spcBef>
            </a:pPr>
            <a:r>
              <a:rPr sz="2000" b="1" spc="105" dirty="0">
                <a:latin typeface="Times New Roman"/>
                <a:cs typeface="Times New Roman"/>
              </a:rPr>
              <a:t>100</a:t>
            </a:r>
            <a:r>
              <a:rPr sz="2000" b="1" spc="-20" dirty="0">
                <a:latin typeface="Times New Roman"/>
                <a:cs typeface="Times New Roman"/>
              </a:rPr>
              <a:t> </a:t>
            </a:r>
            <a:r>
              <a:rPr sz="2000" b="1" spc="-25" dirty="0">
                <a:latin typeface="Times New Roman"/>
                <a:cs typeface="Times New Roman"/>
              </a:rPr>
              <a:t>MB</a:t>
            </a:r>
            <a:endParaRPr sz="2000">
              <a:latin typeface="Times New Roman"/>
              <a:cs typeface="Times New Roman"/>
            </a:endParaRPr>
          </a:p>
        </p:txBody>
      </p:sp>
      <p:sp>
        <p:nvSpPr>
          <p:cNvPr id="24" name="object 24"/>
          <p:cNvSpPr txBox="1"/>
          <p:nvPr/>
        </p:nvSpPr>
        <p:spPr>
          <a:xfrm>
            <a:off x="10020018" y="2470692"/>
            <a:ext cx="1663700" cy="860425"/>
          </a:xfrm>
          <a:prstGeom prst="rect">
            <a:avLst/>
          </a:prstGeom>
          <a:solidFill>
            <a:srgbClr val="33E7D0"/>
          </a:solidFill>
        </p:spPr>
        <p:txBody>
          <a:bodyPr vert="horz" wrap="square" lIns="0" tIns="71120" rIns="0" bIns="0" rtlCol="0">
            <a:spAutoFit/>
          </a:bodyPr>
          <a:lstStyle/>
          <a:p>
            <a:pPr marL="282575">
              <a:lnSpc>
                <a:spcPct val="100000"/>
              </a:lnSpc>
              <a:spcBef>
                <a:spcPts val="560"/>
              </a:spcBef>
            </a:pPr>
            <a:r>
              <a:rPr sz="2000" b="1" spc="120" dirty="0">
                <a:latin typeface="Times New Roman"/>
                <a:cs typeface="Times New Roman"/>
              </a:rPr>
              <a:t>2</a:t>
            </a:r>
            <a:r>
              <a:rPr sz="2000" b="1" spc="-35" dirty="0">
                <a:latin typeface="Times New Roman"/>
                <a:cs typeface="Times New Roman"/>
              </a:rPr>
              <a:t> </a:t>
            </a:r>
            <a:r>
              <a:rPr sz="2000" b="1" spc="65" dirty="0">
                <a:latin typeface="Times New Roman"/>
                <a:cs typeface="Times New Roman"/>
              </a:rPr>
              <a:t>cores</a:t>
            </a:r>
            <a:endParaRPr sz="2000">
              <a:latin typeface="Times New Roman"/>
              <a:cs typeface="Times New Roman"/>
            </a:endParaRPr>
          </a:p>
          <a:p>
            <a:pPr marL="316230">
              <a:lnSpc>
                <a:spcPct val="100000"/>
              </a:lnSpc>
              <a:spcBef>
                <a:spcPts val="375"/>
              </a:spcBef>
            </a:pPr>
            <a:r>
              <a:rPr sz="2000" b="1" spc="165" dirty="0">
                <a:latin typeface="Times New Roman"/>
                <a:cs typeface="Times New Roman"/>
              </a:rPr>
              <a:t>50</a:t>
            </a:r>
            <a:r>
              <a:rPr sz="2000" b="1" spc="-30" dirty="0">
                <a:latin typeface="Times New Roman"/>
                <a:cs typeface="Times New Roman"/>
              </a:rPr>
              <a:t> </a:t>
            </a:r>
            <a:r>
              <a:rPr sz="2000" b="1" spc="-25" dirty="0">
                <a:latin typeface="Times New Roman"/>
                <a:cs typeface="Times New Roman"/>
              </a:rPr>
              <a:t>MB</a:t>
            </a:r>
            <a:endParaRPr sz="2000">
              <a:latin typeface="Times New Roman"/>
              <a:cs typeface="Times New Roman"/>
            </a:endParaRPr>
          </a:p>
        </p:txBody>
      </p:sp>
      <p:sp>
        <p:nvSpPr>
          <p:cNvPr id="25" name="object 25"/>
          <p:cNvSpPr txBox="1"/>
          <p:nvPr/>
        </p:nvSpPr>
        <p:spPr>
          <a:xfrm>
            <a:off x="12898608" y="2470692"/>
            <a:ext cx="1663700" cy="860425"/>
          </a:xfrm>
          <a:prstGeom prst="rect">
            <a:avLst/>
          </a:prstGeom>
          <a:solidFill>
            <a:srgbClr val="33E7D0"/>
          </a:solidFill>
        </p:spPr>
        <p:txBody>
          <a:bodyPr vert="horz" wrap="square" lIns="0" tIns="50800" rIns="0" bIns="0" rtlCol="0">
            <a:spAutoFit/>
          </a:bodyPr>
          <a:lstStyle/>
          <a:p>
            <a:pPr marL="420370">
              <a:lnSpc>
                <a:spcPct val="100000"/>
              </a:lnSpc>
              <a:spcBef>
                <a:spcPts val="400"/>
              </a:spcBef>
            </a:pPr>
            <a:r>
              <a:rPr sz="2000" b="1" spc="120" dirty="0">
                <a:latin typeface="Times New Roman"/>
                <a:cs typeface="Times New Roman"/>
              </a:rPr>
              <a:t>2</a:t>
            </a:r>
            <a:r>
              <a:rPr sz="2000" b="1" spc="-35" dirty="0">
                <a:latin typeface="Times New Roman"/>
                <a:cs typeface="Times New Roman"/>
              </a:rPr>
              <a:t> </a:t>
            </a:r>
            <a:r>
              <a:rPr sz="2000" b="1" spc="65" dirty="0">
                <a:latin typeface="Times New Roman"/>
                <a:cs typeface="Times New Roman"/>
              </a:rPr>
              <a:t>cores</a:t>
            </a:r>
            <a:endParaRPr sz="2000">
              <a:latin typeface="Times New Roman"/>
              <a:cs typeface="Times New Roman"/>
            </a:endParaRPr>
          </a:p>
          <a:p>
            <a:pPr marL="454025">
              <a:lnSpc>
                <a:spcPct val="100000"/>
              </a:lnSpc>
              <a:spcBef>
                <a:spcPts val="375"/>
              </a:spcBef>
            </a:pPr>
            <a:r>
              <a:rPr sz="2000" b="1" spc="165" dirty="0">
                <a:latin typeface="Times New Roman"/>
                <a:cs typeface="Times New Roman"/>
              </a:rPr>
              <a:t>50</a:t>
            </a:r>
            <a:r>
              <a:rPr sz="2000" b="1" spc="-30" dirty="0">
                <a:latin typeface="Times New Roman"/>
                <a:cs typeface="Times New Roman"/>
              </a:rPr>
              <a:t> </a:t>
            </a:r>
            <a:r>
              <a:rPr sz="2000" b="1" spc="-25" dirty="0">
                <a:latin typeface="Times New Roman"/>
                <a:cs typeface="Times New Roman"/>
              </a:rPr>
              <a:t>MB</a:t>
            </a:r>
            <a:endParaRPr sz="2000">
              <a:latin typeface="Times New Roman"/>
              <a:cs typeface="Times New Roman"/>
            </a:endParaRPr>
          </a:p>
        </p:txBody>
      </p:sp>
      <p:sp>
        <p:nvSpPr>
          <p:cNvPr id="26" name="object 26"/>
          <p:cNvSpPr txBox="1"/>
          <p:nvPr/>
        </p:nvSpPr>
        <p:spPr>
          <a:xfrm>
            <a:off x="11683113" y="3911935"/>
            <a:ext cx="1663700" cy="860425"/>
          </a:xfrm>
          <a:prstGeom prst="rect">
            <a:avLst/>
          </a:prstGeom>
          <a:solidFill>
            <a:srgbClr val="33E7D0"/>
          </a:solidFill>
        </p:spPr>
        <p:txBody>
          <a:bodyPr vert="horz" wrap="square" lIns="0" tIns="71120" rIns="0" bIns="0" rtlCol="0">
            <a:spAutoFit/>
          </a:bodyPr>
          <a:lstStyle/>
          <a:p>
            <a:pPr marL="393065">
              <a:lnSpc>
                <a:spcPct val="100000"/>
              </a:lnSpc>
              <a:spcBef>
                <a:spcPts val="560"/>
              </a:spcBef>
            </a:pPr>
            <a:r>
              <a:rPr sz="2000" b="1" spc="120" dirty="0">
                <a:latin typeface="Times New Roman"/>
                <a:cs typeface="Times New Roman"/>
              </a:rPr>
              <a:t>2</a:t>
            </a:r>
            <a:r>
              <a:rPr sz="2000" b="1" spc="-35" dirty="0">
                <a:latin typeface="Times New Roman"/>
                <a:cs typeface="Times New Roman"/>
              </a:rPr>
              <a:t> </a:t>
            </a:r>
            <a:r>
              <a:rPr sz="2000" b="1" spc="65" dirty="0">
                <a:latin typeface="Times New Roman"/>
                <a:cs typeface="Times New Roman"/>
              </a:rPr>
              <a:t>cores</a:t>
            </a:r>
            <a:endParaRPr sz="2000">
              <a:latin typeface="Times New Roman"/>
              <a:cs typeface="Times New Roman"/>
            </a:endParaRPr>
          </a:p>
          <a:p>
            <a:pPr marL="426720">
              <a:lnSpc>
                <a:spcPct val="100000"/>
              </a:lnSpc>
              <a:spcBef>
                <a:spcPts val="375"/>
              </a:spcBef>
            </a:pPr>
            <a:r>
              <a:rPr sz="2000" b="1" spc="165" dirty="0">
                <a:latin typeface="Times New Roman"/>
                <a:cs typeface="Times New Roman"/>
              </a:rPr>
              <a:t>50</a:t>
            </a:r>
            <a:r>
              <a:rPr sz="2000" b="1" spc="-30" dirty="0">
                <a:latin typeface="Times New Roman"/>
                <a:cs typeface="Times New Roman"/>
              </a:rPr>
              <a:t> </a:t>
            </a:r>
            <a:r>
              <a:rPr sz="2000" b="1" spc="-25" dirty="0">
                <a:latin typeface="Times New Roman"/>
                <a:cs typeface="Times New Roman"/>
              </a:rPr>
              <a:t>MB</a:t>
            </a:r>
            <a:endParaRPr sz="2000">
              <a:latin typeface="Times New Roman"/>
              <a:cs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7019" y="1527300"/>
            <a:ext cx="123825" cy="123824"/>
          </a:xfrm>
          <a:prstGeom prst="rect">
            <a:avLst/>
          </a:prstGeom>
        </p:spPr>
      </p:pic>
      <p:pic>
        <p:nvPicPr>
          <p:cNvPr id="3" name="object 3"/>
          <p:cNvPicPr/>
          <p:nvPr/>
        </p:nvPicPr>
        <p:blipFill>
          <a:blip r:embed="rId2" cstate="print"/>
          <a:stretch>
            <a:fillRect/>
          </a:stretch>
        </p:blipFill>
        <p:spPr>
          <a:xfrm>
            <a:off x="857019" y="3270375"/>
            <a:ext cx="123825" cy="123824"/>
          </a:xfrm>
          <a:prstGeom prst="rect">
            <a:avLst/>
          </a:prstGeom>
        </p:spPr>
      </p:pic>
      <p:sp>
        <p:nvSpPr>
          <p:cNvPr id="4" name="object 4"/>
          <p:cNvSpPr txBox="1"/>
          <p:nvPr/>
        </p:nvSpPr>
        <p:spPr>
          <a:xfrm>
            <a:off x="682565" y="478771"/>
            <a:ext cx="17041495" cy="9407525"/>
          </a:xfrm>
          <a:prstGeom prst="rect">
            <a:avLst/>
          </a:prstGeom>
        </p:spPr>
        <p:txBody>
          <a:bodyPr vert="horz" wrap="square" lIns="0" tIns="16510" rIns="0" bIns="0" rtlCol="0">
            <a:spAutoFit/>
          </a:bodyPr>
          <a:lstStyle/>
          <a:p>
            <a:pPr marL="12700">
              <a:lnSpc>
                <a:spcPct val="100000"/>
              </a:lnSpc>
              <a:spcBef>
                <a:spcPts val="130"/>
              </a:spcBef>
            </a:pPr>
            <a:r>
              <a:rPr sz="3250" dirty="0">
                <a:solidFill>
                  <a:srgbClr val="2E377E"/>
                </a:solidFill>
                <a:latin typeface="Georgia"/>
                <a:cs typeface="Georgia"/>
              </a:rPr>
              <a:t>There</a:t>
            </a:r>
            <a:r>
              <a:rPr sz="3250" spc="20" dirty="0">
                <a:solidFill>
                  <a:srgbClr val="2E377E"/>
                </a:solidFill>
                <a:latin typeface="Georgia"/>
                <a:cs typeface="Georgia"/>
              </a:rPr>
              <a:t> </a:t>
            </a:r>
            <a:r>
              <a:rPr sz="3250" dirty="0">
                <a:solidFill>
                  <a:srgbClr val="2E377E"/>
                </a:solidFill>
                <a:latin typeface="Georgia"/>
                <a:cs typeface="Georgia"/>
              </a:rPr>
              <a:t>are</a:t>
            </a:r>
            <a:r>
              <a:rPr sz="3250" spc="30" dirty="0">
                <a:solidFill>
                  <a:srgbClr val="2E377E"/>
                </a:solidFill>
                <a:latin typeface="Georgia"/>
                <a:cs typeface="Georgia"/>
              </a:rPr>
              <a:t> </a:t>
            </a:r>
            <a:r>
              <a:rPr sz="3250" spc="114" dirty="0">
                <a:solidFill>
                  <a:srgbClr val="2E377E"/>
                </a:solidFill>
                <a:latin typeface="Georgia"/>
                <a:cs typeface="Georgia"/>
              </a:rPr>
              <a:t>two</a:t>
            </a:r>
            <a:r>
              <a:rPr sz="3250" spc="30" dirty="0">
                <a:solidFill>
                  <a:srgbClr val="2E377E"/>
                </a:solidFill>
                <a:latin typeface="Georgia"/>
                <a:cs typeface="Georgia"/>
              </a:rPr>
              <a:t> </a:t>
            </a:r>
            <a:r>
              <a:rPr sz="3250" spc="85" dirty="0">
                <a:solidFill>
                  <a:srgbClr val="2E377E"/>
                </a:solidFill>
                <a:latin typeface="Georgia"/>
                <a:cs typeface="Georgia"/>
              </a:rPr>
              <a:t>types</a:t>
            </a:r>
            <a:r>
              <a:rPr sz="3250" spc="30" dirty="0">
                <a:solidFill>
                  <a:srgbClr val="2E377E"/>
                </a:solidFill>
                <a:latin typeface="Georgia"/>
                <a:cs typeface="Georgia"/>
              </a:rPr>
              <a:t> </a:t>
            </a:r>
            <a:r>
              <a:rPr sz="3250" dirty="0">
                <a:solidFill>
                  <a:srgbClr val="2E377E"/>
                </a:solidFill>
                <a:latin typeface="Georgia"/>
                <a:cs typeface="Georgia"/>
              </a:rPr>
              <a:t>of</a:t>
            </a:r>
            <a:r>
              <a:rPr sz="3250" spc="30" dirty="0">
                <a:solidFill>
                  <a:srgbClr val="2E377E"/>
                </a:solidFill>
                <a:latin typeface="Georgia"/>
                <a:cs typeface="Georgia"/>
              </a:rPr>
              <a:t> </a:t>
            </a:r>
            <a:r>
              <a:rPr sz="3250" spc="50" dirty="0">
                <a:solidFill>
                  <a:srgbClr val="2E377E"/>
                </a:solidFill>
                <a:latin typeface="Georgia"/>
                <a:cs typeface="Georgia"/>
              </a:rPr>
              <a:t>restrictions</a:t>
            </a:r>
            <a:r>
              <a:rPr sz="3250" spc="30" dirty="0">
                <a:solidFill>
                  <a:srgbClr val="2E377E"/>
                </a:solidFill>
                <a:latin typeface="Georgia"/>
                <a:cs typeface="Georgia"/>
              </a:rPr>
              <a:t> </a:t>
            </a:r>
            <a:r>
              <a:rPr sz="3250" spc="60" dirty="0">
                <a:solidFill>
                  <a:srgbClr val="2E377E"/>
                </a:solidFill>
                <a:latin typeface="Georgia"/>
                <a:cs typeface="Georgia"/>
              </a:rPr>
              <a:t>that</a:t>
            </a:r>
            <a:r>
              <a:rPr sz="3250" spc="30" dirty="0">
                <a:solidFill>
                  <a:srgbClr val="2E377E"/>
                </a:solidFill>
                <a:latin typeface="Georgia"/>
                <a:cs typeface="Georgia"/>
              </a:rPr>
              <a:t> </a:t>
            </a:r>
            <a:r>
              <a:rPr sz="3250" dirty="0">
                <a:solidFill>
                  <a:srgbClr val="2E377E"/>
                </a:solidFill>
                <a:latin typeface="Georgia"/>
                <a:cs typeface="Georgia"/>
              </a:rPr>
              <a:t>need</a:t>
            </a:r>
            <a:r>
              <a:rPr sz="3250" spc="30" dirty="0">
                <a:solidFill>
                  <a:srgbClr val="2E377E"/>
                </a:solidFill>
                <a:latin typeface="Georgia"/>
                <a:cs typeface="Georgia"/>
              </a:rPr>
              <a:t> </a:t>
            </a:r>
            <a:r>
              <a:rPr sz="3250" spc="70" dirty="0">
                <a:solidFill>
                  <a:srgbClr val="2E377E"/>
                </a:solidFill>
                <a:latin typeface="Georgia"/>
                <a:cs typeface="Georgia"/>
              </a:rPr>
              <a:t>to</a:t>
            </a:r>
            <a:r>
              <a:rPr sz="3250" spc="30" dirty="0">
                <a:solidFill>
                  <a:srgbClr val="2E377E"/>
                </a:solidFill>
                <a:latin typeface="Georgia"/>
                <a:cs typeface="Georgia"/>
              </a:rPr>
              <a:t> </a:t>
            </a:r>
            <a:r>
              <a:rPr sz="3250" dirty="0">
                <a:solidFill>
                  <a:srgbClr val="2E377E"/>
                </a:solidFill>
                <a:latin typeface="Georgia"/>
                <a:cs typeface="Georgia"/>
              </a:rPr>
              <a:t>be</a:t>
            </a:r>
            <a:r>
              <a:rPr sz="3250" spc="30" dirty="0">
                <a:solidFill>
                  <a:srgbClr val="2E377E"/>
                </a:solidFill>
                <a:latin typeface="Georgia"/>
                <a:cs typeface="Georgia"/>
              </a:rPr>
              <a:t> </a:t>
            </a:r>
            <a:r>
              <a:rPr sz="3250" spc="45" dirty="0">
                <a:solidFill>
                  <a:srgbClr val="2E377E"/>
                </a:solidFill>
                <a:latin typeface="Georgia"/>
                <a:cs typeface="Georgia"/>
              </a:rPr>
              <a:t>mentioned</a:t>
            </a:r>
            <a:r>
              <a:rPr sz="3250" spc="30" dirty="0">
                <a:solidFill>
                  <a:srgbClr val="2E377E"/>
                </a:solidFill>
                <a:latin typeface="Georgia"/>
                <a:cs typeface="Georgia"/>
              </a:rPr>
              <a:t> </a:t>
            </a:r>
            <a:r>
              <a:rPr sz="3250" spc="65" dirty="0">
                <a:solidFill>
                  <a:srgbClr val="2E377E"/>
                </a:solidFill>
                <a:latin typeface="Georgia"/>
                <a:cs typeface="Georgia"/>
              </a:rPr>
              <a:t>while</a:t>
            </a:r>
            <a:r>
              <a:rPr sz="3250" spc="30" dirty="0">
                <a:solidFill>
                  <a:srgbClr val="2E377E"/>
                </a:solidFill>
                <a:latin typeface="Georgia"/>
                <a:cs typeface="Georgia"/>
              </a:rPr>
              <a:t> </a:t>
            </a:r>
            <a:r>
              <a:rPr sz="3250" dirty="0">
                <a:solidFill>
                  <a:srgbClr val="2E377E"/>
                </a:solidFill>
                <a:latin typeface="Georgia"/>
                <a:cs typeface="Georgia"/>
              </a:rPr>
              <a:t>using</a:t>
            </a:r>
            <a:r>
              <a:rPr sz="3250" spc="35" dirty="0">
                <a:solidFill>
                  <a:srgbClr val="2E377E"/>
                </a:solidFill>
                <a:latin typeface="Georgia"/>
                <a:cs typeface="Georgia"/>
              </a:rPr>
              <a:t> </a:t>
            </a:r>
            <a:r>
              <a:rPr sz="3250" spc="-10" dirty="0">
                <a:solidFill>
                  <a:srgbClr val="2E377E"/>
                </a:solidFill>
                <a:latin typeface="Georgia"/>
                <a:cs typeface="Georgia"/>
              </a:rPr>
              <a:t>ResourceQuota</a:t>
            </a:r>
            <a:endParaRPr sz="3250">
              <a:latin typeface="Georgia"/>
              <a:cs typeface="Georgia"/>
            </a:endParaRPr>
          </a:p>
          <a:p>
            <a:pPr marL="492759" marR="1680845">
              <a:lnSpc>
                <a:spcPct val="117300"/>
              </a:lnSpc>
              <a:spcBef>
                <a:spcPts val="1800"/>
              </a:spcBef>
            </a:pPr>
            <a:r>
              <a:rPr sz="3250" spc="80" dirty="0">
                <a:solidFill>
                  <a:srgbClr val="2E377E"/>
                </a:solidFill>
                <a:latin typeface="Times New Roman"/>
                <a:cs typeface="Times New Roman"/>
              </a:rPr>
              <a:t>Limit</a:t>
            </a:r>
            <a:r>
              <a:rPr sz="3250" spc="80" dirty="0">
                <a:solidFill>
                  <a:srgbClr val="2E377E"/>
                </a:solidFill>
                <a:latin typeface="Georgia"/>
                <a:cs typeface="Georgia"/>
              </a:rPr>
              <a:t>:</a:t>
            </a:r>
            <a:r>
              <a:rPr sz="3250" spc="-5" dirty="0">
                <a:solidFill>
                  <a:srgbClr val="2E377E"/>
                </a:solidFill>
                <a:latin typeface="Georgia"/>
                <a:cs typeface="Georgia"/>
              </a:rPr>
              <a:t> </a:t>
            </a:r>
            <a:r>
              <a:rPr sz="3250" dirty="0">
                <a:solidFill>
                  <a:srgbClr val="2E377E"/>
                </a:solidFill>
                <a:latin typeface="Georgia"/>
                <a:cs typeface="Georgia"/>
              </a:rPr>
              <a:t>Limit</a:t>
            </a:r>
            <a:r>
              <a:rPr sz="3250" spc="-5" dirty="0">
                <a:solidFill>
                  <a:srgbClr val="2E377E"/>
                </a:solidFill>
                <a:latin typeface="Georgia"/>
                <a:cs typeface="Georgia"/>
              </a:rPr>
              <a:t> </a:t>
            </a:r>
            <a:r>
              <a:rPr sz="3250" dirty="0">
                <a:solidFill>
                  <a:srgbClr val="2E377E"/>
                </a:solidFill>
                <a:latin typeface="Georgia"/>
                <a:cs typeface="Georgia"/>
              </a:rPr>
              <a:t>specifies </a:t>
            </a:r>
            <a:r>
              <a:rPr sz="3250" spc="50" dirty="0">
                <a:solidFill>
                  <a:srgbClr val="2E377E"/>
                </a:solidFill>
                <a:latin typeface="Georgia"/>
                <a:cs typeface="Georgia"/>
              </a:rPr>
              <a:t>that</a:t>
            </a:r>
            <a:r>
              <a:rPr sz="3250" spc="-5" dirty="0">
                <a:solidFill>
                  <a:srgbClr val="2E377E"/>
                </a:solidFill>
                <a:latin typeface="Georgia"/>
                <a:cs typeface="Georgia"/>
              </a:rPr>
              <a:t> </a:t>
            </a:r>
            <a:r>
              <a:rPr sz="3250" spc="60" dirty="0">
                <a:solidFill>
                  <a:srgbClr val="2E377E"/>
                </a:solidFill>
                <a:latin typeface="Georgia"/>
                <a:cs typeface="Georgia"/>
              </a:rPr>
              <a:t>the</a:t>
            </a:r>
            <a:r>
              <a:rPr sz="3250" dirty="0">
                <a:solidFill>
                  <a:srgbClr val="2E377E"/>
                </a:solidFill>
                <a:latin typeface="Georgia"/>
                <a:cs typeface="Georgia"/>
              </a:rPr>
              <a:t> container,</a:t>
            </a:r>
            <a:r>
              <a:rPr sz="3250" spc="-5" dirty="0">
                <a:solidFill>
                  <a:srgbClr val="2E377E"/>
                </a:solidFill>
                <a:latin typeface="Georgia"/>
                <a:cs typeface="Georgia"/>
              </a:rPr>
              <a:t> </a:t>
            </a:r>
            <a:r>
              <a:rPr sz="3250" dirty="0">
                <a:solidFill>
                  <a:srgbClr val="2E377E"/>
                </a:solidFill>
                <a:latin typeface="Georgia"/>
                <a:cs typeface="Georgia"/>
              </a:rPr>
              <a:t>pod,</a:t>
            </a:r>
            <a:r>
              <a:rPr sz="3250" spc="-5" dirty="0">
                <a:solidFill>
                  <a:srgbClr val="2E377E"/>
                </a:solidFill>
                <a:latin typeface="Georgia"/>
                <a:cs typeface="Georgia"/>
              </a:rPr>
              <a:t> </a:t>
            </a:r>
            <a:r>
              <a:rPr sz="3250" dirty="0">
                <a:solidFill>
                  <a:srgbClr val="2E377E"/>
                </a:solidFill>
                <a:latin typeface="Georgia"/>
                <a:cs typeface="Georgia"/>
              </a:rPr>
              <a:t>or namespace</a:t>
            </a:r>
            <a:r>
              <a:rPr sz="3250" spc="-5" dirty="0">
                <a:solidFill>
                  <a:srgbClr val="2E377E"/>
                </a:solidFill>
                <a:latin typeface="Georgia"/>
                <a:cs typeface="Georgia"/>
              </a:rPr>
              <a:t> </a:t>
            </a:r>
            <a:r>
              <a:rPr sz="3250" spc="50" dirty="0">
                <a:solidFill>
                  <a:srgbClr val="2E377E"/>
                </a:solidFill>
                <a:latin typeface="Georgia"/>
                <a:cs typeface="Georgia"/>
              </a:rPr>
              <a:t>will</a:t>
            </a:r>
            <a:r>
              <a:rPr sz="3250" dirty="0">
                <a:solidFill>
                  <a:srgbClr val="2E377E"/>
                </a:solidFill>
                <a:latin typeface="Georgia"/>
                <a:cs typeface="Georgia"/>
              </a:rPr>
              <a:t> </a:t>
            </a:r>
            <a:r>
              <a:rPr sz="3250" spc="60" dirty="0">
                <a:solidFill>
                  <a:srgbClr val="2E377E"/>
                </a:solidFill>
                <a:latin typeface="Georgia"/>
                <a:cs typeface="Georgia"/>
              </a:rPr>
              <a:t>have</a:t>
            </a:r>
            <a:r>
              <a:rPr sz="3250" spc="-5" dirty="0">
                <a:solidFill>
                  <a:srgbClr val="2E377E"/>
                </a:solidFill>
                <a:latin typeface="Georgia"/>
                <a:cs typeface="Georgia"/>
              </a:rPr>
              <a:t> </a:t>
            </a:r>
            <a:r>
              <a:rPr sz="3250" spc="60" dirty="0">
                <a:solidFill>
                  <a:srgbClr val="2E377E"/>
                </a:solidFill>
                <a:latin typeface="Georgia"/>
                <a:cs typeface="Georgia"/>
              </a:rPr>
              <a:t>the</a:t>
            </a:r>
            <a:r>
              <a:rPr sz="3250" dirty="0">
                <a:solidFill>
                  <a:srgbClr val="2E377E"/>
                </a:solidFill>
                <a:latin typeface="Georgia"/>
                <a:cs typeface="Georgia"/>
              </a:rPr>
              <a:t> </a:t>
            </a:r>
            <a:r>
              <a:rPr sz="3250" spc="-20" dirty="0">
                <a:solidFill>
                  <a:srgbClr val="2E377E"/>
                </a:solidFill>
                <a:latin typeface="Georgia"/>
                <a:cs typeface="Georgia"/>
              </a:rPr>
              <a:t>limit </a:t>
            </a:r>
            <a:r>
              <a:rPr sz="3250" dirty="0">
                <a:solidFill>
                  <a:srgbClr val="2E377E"/>
                </a:solidFill>
                <a:latin typeface="Georgia"/>
                <a:cs typeface="Georgia"/>
              </a:rPr>
              <a:t>resources</a:t>
            </a:r>
            <a:r>
              <a:rPr sz="3250" spc="20" dirty="0">
                <a:solidFill>
                  <a:srgbClr val="2E377E"/>
                </a:solidFill>
                <a:latin typeface="Georgia"/>
                <a:cs typeface="Georgia"/>
              </a:rPr>
              <a:t> </a:t>
            </a:r>
            <a:r>
              <a:rPr sz="3250" spc="70" dirty="0">
                <a:solidFill>
                  <a:srgbClr val="2E377E"/>
                </a:solidFill>
                <a:latin typeface="Georgia"/>
                <a:cs typeface="Georgia"/>
              </a:rPr>
              <a:t>where</a:t>
            </a:r>
            <a:r>
              <a:rPr sz="3250" spc="20" dirty="0">
                <a:solidFill>
                  <a:srgbClr val="2E377E"/>
                </a:solidFill>
                <a:latin typeface="Georgia"/>
                <a:cs typeface="Georgia"/>
              </a:rPr>
              <a:t> </a:t>
            </a:r>
            <a:r>
              <a:rPr sz="3250" dirty="0">
                <a:solidFill>
                  <a:srgbClr val="2E377E"/>
                </a:solidFill>
                <a:latin typeface="Georgia"/>
                <a:cs typeface="Georgia"/>
              </a:rPr>
              <a:t>if</a:t>
            </a:r>
            <a:r>
              <a:rPr sz="3250" spc="25" dirty="0">
                <a:solidFill>
                  <a:srgbClr val="2E377E"/>
                </a:solidFill>
                <a:latin typeface="Georgia"/>
                <a:cs typeface="Georgia"/>
              </a:rPr>
              <a:t> </a:t>
            </a:r>
            <a:r>
              <a:rPr sz="3250" spc="60" dirty="0">
                <a:solidFill>
                  <a:srgbClr val="2E377E"/>
                </a:solidFill>
                <a:latin typeface="Georgia"/>
                <a:cs typeface="Georgia"/>
              </a:rPr>
              <a:t>the</a:t>
            </a:r>
            <a:r>
              <a:rPr sz="3250" spc="20" dirty="0">
                <a:solidFill>
                  <a:srgbClr val="2E377E"/>
                </a:solidFill>
                <a:latin typeface="Georgia"/>
                <a:cs typeface="Georgia"/>
              </a:rPr>
              <a:t> </a:t>
            </a:r>
            <a:r>
              <a:rPr sz="3250" dirty="0">
                <a:solidFill>
                  <a:srgbClr val="2E377E"/>
                </a:solidFill>
                <a:latin typeface="Georgia"/>
                <a:cs typeface="Georgia"/>
              </a:rPr>
              <a:t>objects</a:t>
            </a:r>
            <a:r>
              <a:rPr sz="3250" spc="25" dirty="0">
                <a:solidFill>
                  <a:srgbClr val="2E377E"/>
                </a:solidFill>
                <a:latin typeface="Georgia"/>
                <a:cs typeface="Georgia"/>
              </a:rPr>
              <a:t> </a:t>
            </a:r>
            <a:r>
              <a:rPr sz="3250" spc="50" dirty="0">
                <a:solidFill>
                  <a:srgbClr val="2E377E"/>
                </a:solidFill>
                <a:latin typeface="Georgia"/>
                <a:cs typeface="Georgia"/>
              </a:rPr>
              <a:t>will</a:t>
            </a:r>
            <a:r>
              <a:rPr sz="3250" spc="20" dirty="0">
                <a:solidFill>
                  <a:srgbClr val="2E377E"/>
                </a:solidFill>
                <a:latin typeface="Georgia"/>
                <a:cs typeface="Georgia"/>
              </a:rPr>
              <a:t> </a:t>
            </a:r>
            <a:r>
              <a:rPr sz="3250" spc="55" dirty="0">
                <a:solidFill>
                  <a:srgbClr val="2E377E"/>
                </a:solidFill>
                <a:latin typeface="Georgia"/>
                <a:cs typeface="Georgia"/>
              </a:rPr>
              <a:t>exceed</a:t>
            </a:r>
            <a:r>
              <a:rPr sz="3250" spc="25" dirty="0">
                <a:solidFill>
                  <a:srgbClr val="2E377E"/>
                </a:solidFill>
                <a:latin typeface="Georgia"/>
                <a:cs typeface="Georgia"/>
              </a:rPr>
              <a:t> </a:t>
            </a:r>
            <a:r>
              <a:rPr sz="3250" spc="60" dirty="0">
                <a:solidFill>
                  <a:srgbClr val="2E377E"/>
                </a:solidFill>
                <a:latin typeface="Georgia"/>
                <a:cs typeface="Georgia"/>
              </a:rPr>
              <a:t>the</a:t>
            </a:r>
            <a:r>
              <a:rPr sz="3250" spc="20" dirty="0">
                <a:solidFill>
                  <a:srgbClr val="2E377E"/>
                </a:solidFill>
                <a:latin typeface="Georgia"/>
                <a:cs typeface="Georgia"/>
              </a:rPr>
              <a:t> </a:t>
            </a:r>
            <a:r>
              <a:rPr sz="3250" dirty="0">
                <a:solidFill>
                  <a:srgbClr val="2E377E"/>
                </a:solidFill>
                <a:latin typeface="Georgia"/>
                <a:cs typeface="Georgia"/>
              </a:rPr>
              <a:t>limit</a:t>
            </a:r>
            <a:r>
              <a:rPr sz="3250" spc="25" dirty="0">
                <a:solidFill>
                  <a:srgbClr val="2E377E"/>
                </a:solidFill>
                <a:latin typeface="Georgia"/>
                <a:cs typeface="Georgia"/>
              </a:rPr>
              <a:t> </a:t>
            </a:r>
            <a:r>
              <a:rPr sz="3250" dirty="0">
                <a:solidFill>
                  <a:srgbClr val="2E377E"/>
                </a:solidFill>
                <a:latin typeface="Georgia"/>
                <a:cs typeface="Georgia"/>
              </a:rPr>
              <a:t>then,</a:t>
            </a:r>
            <a:r>
              <a:rPr sz="3250" spc="20" dirty="0">
                <a:solidFill>
                  <a:srgbClr val="2E377E"/>
                </a:solidFill>
                <a:latin typeface="Georgia"/>
                <a:cs typeface="Georgia"/>
              </a:rPr>
              <a:t> </a:t>
            </a:r>
            <a:r>
              <a:rPr sz="3250" spc="60" dirty="0">
                <a:solidFill>
                  <a:srgbClr val="2E377E"/>
                </a:solidFill>
                <a:latin typeface="Georgia"/>
                <a:cs typeface="Georgia"/>
              </a:rPr>
              <a:t>the</a:t>
            </a:r>
            <a:r>
              <a:rPr sz="3250" spc="20" dirty="0">
                <a:solidFill>
                  <a:srgbClr val="2E377E"/>
                </a:solidFill>
                <a:latin typeface="Georgia"/>
                <a:cs typeface="Georgia"/>
              </a:rPr>
              <a:t> </a:t>
            </a:r>
            <a:r>
              <a:rPr sz="3250" dirty="0">
                <a:solidFill>
                  <a:srgbClr val="2E377E"/>
                </a:solidFill>
                <a:latin typeface="Georgia"/>
                <a:cs typeface="Georgia"/>
              </a:rPr>
              <a:t>object</a:t>
            </a:r>
            <a:r>
              <a:rPr sz="3250" spc="25" dirty="0">
                <a:solidFill>
                  <a:srgbClr val="2E377E"/>
                </a:solidFill>
                <a:latin typeface="Georgia"/>
                <a:cs typeface="Georgia"/>
              </a:rPr>
              <a:t> </a:t>
            </a:r>
            <a:r>
              <a:rPr sz="3250" spc="75" dirty="0">
                <a:solidFill>
                  <a:srgbClr val="2E377E"/>
                </a:solidFill>
                <a:latin typeface="Georgia"/>
                <a:cs typeface="Georgia"/>
              </a:rPr>
              <a:t>won’t</a:t>
            </a:r>
            <a:r>
              <a:rPr sz="3250" spc="20" dirty="0">
                <a:solidFill>
                  <a:srgbClr val="2E377E"/>
                </a:solidFill>
                <a:latin typeface="Georgia"/>
                <a:cs typeface="Georgia"/>
              </a:rPr>
              <a:t> </a:t>
            </a:r>
            <a:r>
              <a:rPr sz="3250" spc="-10" dirty="0">
                <a:solidFill>
                  <a:srgbClr val="2E377E"/>
                </a:solidFill>
                <a:latin typeface="Georgia"/>
                <a:cs typeface="Georgia"/>
              </a:rPr>
              <a:t>create.</a:t>
            </a:r>
            <a:endParaRPr sz="3250">
              <a:latin typeface="Georgia"/>
              <a:cs typeface="Georgia"/>
            </a:endParaRPr>
          </a:p>
          <a:p>
            <a:pPr>
              <a:lnSpc>
                <a:spcPct val="100000"/>
              </a:lnSpc>
              <a:spcBef>
                <a:spcPts val="880"/>
              </a:spcBef>
            </a:pPr>
            <a:endParaRPr sz="3250">
              <a:latin typeface="Georgia"/>
              <a:cs typeface="Georgia"/>
            </a:endParaRPr>
          </a:p>
          <a:p>
            <a:pPr marL="492759" marR="2162175">
              <a:lnSpc>
                <a:spcPct val="117300"/>
              </a:lnSpc>
            </a:pPr>
            <a:r>
              <a:rPr sz="3250" spc="145" dirty="0">
                <a:solidFill>
                  <a:srgbClr val="2E377E"/>
                </a:solidFill>
                <a:latin typeface="Times New Roman"/>
                <a:cs typeface="Times New Roman"/>
              </a:rPr>
              <a:t>Request</a:t>
            </a:r>
            <a:r>
              <a:rPr sz="3250" spc="145" dirty="0">
                <a:solidFill>
                  <a:srgbClr val="2E377E"/>
                </a:solidFill>
                <a:latin typeface="Georgia"/>
                <a:cs typeface="Georgia"/>
              </a:rPr>
              <a:t>:</a:t>
            </a:r>
            <a:r>
              <a:rPr sz="3250" spc="5" dirty="0">
                <a:solidFill>
                  <a:srgbClr val="2E377E"/>
                </a:solidFill>
                <a:latin typeface="Georgia"/>
                <a:cs typeface="Georgia"/>
              </a:rPr>
              <a:t> </a:t>
            </a:r>
            <a:r>
              <a:rPr sz="3250" dirty="0">
                <a:solidFill>
                  <a:srgbClr val="2E377E"/>
                </a:solidFill>
                <a:latin typeface="Georgia"/>
                <a:cs typeface="Georgia"/>
              </a:rPr>
              <a:t>The</a:t>
            </a:r>
            <a:r>
              <a:rPr sz="3250" spc="20" dirty="0">
                <a:solidFill>
                  <a:srgbClr val="2E377E"/>
                </a:solidFill>
                <a:latin typeface="Georgia"/>
                <a:cs typeface="Georgia"/>
              </a:rPr>
              <a:t> </a:t>
            </a:r>
            <a:r>
              <a:rPr sz="3250" spc="45" dirty="0">
                <a:solidFill>
                  <a:srgbClr val="2E377E"/>
                </a:solidFill>
                <a:latin typeface="Georgia"/>
                <a:cs typeface="Georgia"/>
              </a:rPr>
              <a:t>request</a:t>
            </a:r>
            <a:r>
              <a:rPr sz="3250" spc="15" dirty="0">
                <a:solidFill>
                  <a:srgbClr val="2E377E"/>
                </a:solidFill>
                <a:latin typeface="Georgia"/>
                <a:cs typeface="Georgia"/>
              </a:rPr>
              <a:t> </a:t>
            </a:r>
            <a:r>
              <a:rPr sz="3250" dirty="0">
                <a:solidFill>
                  <a:srgbClr val="2E377E"/>
                </a:solidFill>
                <a:latin typeface="Georgia"/>
                <a:cs typeface="Georgia"/>
              </a:rPr>
              <a:t>specifies</a:t>
            </a:r>
            <a:r>
              <a:rPr sz="3250" spc="20" dirty="0">
                <a:solidFill>
                  <a:srgbClr val="2E377E"/>
                </a:solidFill>
                <a:latin typeface="Georgia"/>
                <a:cs typeface="Georgia"/>
              </a:rPr>
              <a:t> </a:t>
            </a:r>
            <a:r>
              <a:rPr sz="3250" spc="50" dirty="0">
                <a:solidFill>
                  <a:srgbClr val="2E377E"/>
                </a:solidFill>
                <a:latin typeface="Georgia"/>
                <a:cs typeface="Georgia"/>
              </a:rPr>
              <a:t>that</a:t>
            </a:r>
            <a:r>
              <a:rPr sz="3250" spc="20" dirty="0">
                <a:solidFill>
                  <a:srgbClr val="2E377E"/>
                </a:solidFill>
                <a:latin typeface="Georgia"/>
                <a:cs typeface="Georgia"/>
              </a:rPr>
              <a:t> </a:t>
            </a:r>
            <a:r>
              <a:rPr sz="3250" spc="60" dirty="0">
                <a:solidFill>
                  <a:srgbClr val="2E377E"/>
                </a:solidFill>
                <a:latin typeface="Georgia"/>
                <a:cs typeface="Georgia"/>
              </a:rPr>
              <a:t>the</a:t>
            </a:r>
            <a:r>
              <a:rPr sz="3250" spc="15" dirty="0">
                <a:solidFill>
                  <a:srgbClr val="2E377E"/>
                </a:solidFill>
                <a:latin typeface="Georgia"/>
                <a:cs typeface="Georgia"/>
              </a:rPr>
              <a:t> </a:t>
            </a:r>
            <a:r>
              <a:rPr sz="3250" dirty="0">
                <a:solidFill>
                  <a:srgbClr val="2E377E"/>
                </a:solidFill>
                <a:latin typeface="Georgia"/>
                <a:cs typeface="Georgia"/>
              </a:rPr>
              <a:t>container,</a:t>
            </a:r>
            <a:r>
              <a:rPr sz="3250" spc="20" dirty="0">
                <a:solidFill>
                  <a:srgbClr val="2E377E"/>
                </a:solidFill>
                <a:latin typeface="Georgia"/>
                <a:cs typeface="Georgia"/>
              </a:rPr>
              <a:t> </a:t>
            </a:r>
            <a:r>
              <a:rPr sz="3250" dirty="0">
                <a:solidFill>
                  <a:srgbClr val="2E377E"/>
                </a:solidFill>
                <a:latin typeface="Georgia"/>
                <a:cs typeface="Georgia"/>
              </a:rPr>
              <a:t>pod,</a:t>
            </a:r>
            <a:r>
              <a:rPr sz="3250" spc="20" dirty="0">
                <a:solidFill>
                  <a:srgbClr val="2E377E"/>
                </a:solidFill>
                <a:latin typeface="Georgia"/>
                <a:cs typeface="Georgia"/>
              </a:rPr>
              <a:t> </a:t>
            </a:r>
            <a:r>
              <a:rPr sz="3250" dirty="0">
                <a:solidFill>
                  <a:srgbClr val="2E377E"/>
                </a:solidFill>
                <a:latin typeface="Georgia"/>
                <a:cs typeface="Georgia"/>
              </a:rPr>
              <a:t>or</a:t>
            </a:r>
            <a:r>
              <a:rPr sz="3250" spc="20" dirty="0">
                <a:solidFill>
                  <a:srgbClr val="2E377E"/>
                </a:solidFill>
                <a:latin typeface="Georgia"/>
                <a:cs typeface="Georgia"/>
              </a:rPr>
              <a:t> </a:t>
            </a:r>
            <a:r>
              <a:rPr sz="3250" dirty="0">
                <a:solidFill>
                  <a:srgbClr val="2E377E"/>
                </a:solidFill>
                <a:latin typeface="Georgia"/>
                <a:cs typeface="Georgia"/>
              </a:rPr>
              <a:t>namespace</a:t>
            </a:r>
            <a:r>
              <a:rPr sz="3250" spc="15" dirty="0">
                <a:solidFill>
                  <a:srgbClr val="2E377E"/>
                </a:solidFill>
                <a:latin typeface="Georgia"/>
                <a:cs typeface="Georgia"/>
              </a:rPr>
              <a:t> </a:t>
            </a:r>
            <a:r>
              <a:rPr sz="3250" dirty="0">
                <a:solidFill>
                  <a:srgbClr val="2E377E"/>
                </a:solidFill>
                <a:latin typeface="Georgia"/>
                <a:cs typeface="Georgia"/>
              </a:rPr>
              <a:t>needs</a:t>
            </a:r>
            <a:r>
              <a:rPr sz="3250" spc="20" dirty="0">
                <a:solidFill>
                  <a:srgbClr val="2E377E"/>
                </a:solidFill>
                <a:latin typeface="Georgia"/>
                <a:cs typeface="Georgia"/>
              </a:rPr>
              <a:t> </a:t>
            </a:r>
            <a:r>
              <a:rPr sz="3250" spc="-50" dirty="0">
                <a:solidFill>
                  <a:srgbClr val="2E377E"/>
                </a:solidFill>
                <a:latin typeface="Georgia"/>
                <a:cs typeface="Georgia"/>
              </a:rPr>
              <a:t>a </a:t>
            </a:r>
            <a:r>
              <a:rPr sz="3250" dirty="0">
                <a:solidFill>
                  <a:srgbClr val="2E377E"/>
                </a:solidFill>
                <a:latin typeface="Georgia"/>
                <a:cs typeface="Georgia"/>
              </a:rPr>
              <a:t>particular</a:t>
            </a:r>
            <a:r>
              <a:rPr sz="3250" spc="35" dirty="0">
                <a:solidFill>
                  <a:srgbClr val="2E377E"/>
                </a:solidFill>
                <a:latin typeface="Georgia"/>
                <a:cs typeface="Georgia"/>
              </a:rPr>
              <a:t> </a:t>
            </a:r>
            <a:r>
              <a:rPr sz="3250" dirty="0">
                <a:solidFill>
                  <a:srgbClr val="2E377E"/>
                </a:solidFill>
                <a:latin typeface="Georgia"/>
                <a:cs typeface="Georgia"/>
              </a:rPr>
              <a:t>amount</a:t>
            </a:r>
            <a:r>
              <a:rPr sz="3250" spc="40" dirty="0">
                <a:solidFill>
                  <a:srgbClr val="2E377E"/>
                </a:solidFill>
                <a:latin typeface="Georgia"/>
                <a:cs typeface="Georgia"/>
              </a:rPr>
              <a:t> </a:t>
            </a:r>
            <a:r>
              <a:rPr sz="3250" dirty="0">
                <a:solidFill>
                  <a:srgbClr val="2E377E"/>
                </a:solidFill>
                <a:latin typeface="Georgia"/>
                <a:cs typeface="Georgia"/>
              </a:rPr>
              <a:t>of</a:t>
            </a:r>
            <a:r>
              <a:rPr sz="3250" spc="45" dirty="0">
                <a:solidFill>
                  <a:srgbClr val="2E377E"/>
                </a:solidFill>
                <a:latin typeface="Georgia"/>
                <a:cs typeface="Georgia"/>
              </a:rPr>
              <a:t> </a:t>
            </a:r>
            <a:r>
              <a:rPr sz="3250" dirty="0">
                <a:solidFill>
                  <a:srgbClr val="2E377E"/>
                </a:solidFill>
                <a:latin typeface="Georgia"/>
                <a:cs typeface="Georgia"/>
              </a:rPr>
              <a:t>resources</a:t>
            </a:r>
            <a:r>
              <a:rPr sz="3250" spc="40" dirty="0">
                <a:solidFill>
                  <a:srgbClr val="2E377E"/>
                </a:solidFill>
                <a:latin typeface="Georgia"/>
                <a:cs typeface="Georgia"/>
              </a:rPr>
              <a:t> </a:t>
            </a:r>
            <a:r>
              <a:rPr sz="3250" dirty="0">
                <a:solidFill>
                  <a:srgbClr val="2E377E"/>
                </a:solidFill>
                <a:latin typeface="Georgia"/>
                <a:cs typeface="Georgia"/>
              </a:rPr>
              <a:t>such</a:t>
            </a:r>
            <a:r>
              <a:rPr sz="3250" spc="45" dirty="0">
                <a:solidFill>
                  <a:srgbClr val="2E377E"/>
                </a:solidFill>
                <a:latin typeface="Georgia"/>
                <a:cs typeface="Georgia"/>
              </a:rPr>
              <a:t> </a:t>
            </a:r>
            <a:r>
              <a:rPr sz="3250" dirty="0">
                <a:solidFill>
                  <a:srgbClr val="2E377E"/>
                </a:solidFill>
                <a:latin typeface="Georgia"/>
                <a:cs typeface="Georgia"/>
              </a:rPr>
              <a:t>as</a:t>
            </a:r>
            <a:r>
              <a:rPr sz="3250" spc="40" dirty="0">
                <a:solidFill>
                  <a:srgbClr val="2E377E"/>
                </a:solidFill>
                <a:latin typeface="Georgia"/>
                <a:cs typeface="Georgia"/>
              </a:rPr>
              <a:t> </a:t>
            </a:r>
            <a:r>
              <a:rPr sz="3250" spc="-20" dirty="0">
                <a:solidFill>
                  <a:srgbClr val="2E377E"/>
                </a:solidFill>
                <a:latin typeface="Georgia"/>
                <a:cs typeface="Georgia"/>
              </a:rPr>
              <a:t>CPU</a:t>
            </a:r>
            <a:r>
              <a:rPr sz="3250" spc="45" dirty="0">
                <a:solidFill>
                  <a:srgbClr val="2E377E"/>
                </a:solidFill>
                <a:latin typeface="Georgia"/>
                <a:cs typeface="Georgia"/>
              </a:rPr>
              <a:t> </a:t>
            </a:r>
            <a:r>
              <a:rPr sz="3250" dirty="0">
                <a:solidFill>
                  <a:srgbClr val="2E377E"/>
                </a:solidFill>
                <a:latin typeface="Georgia"/>
                <a:cs typeface="Georgia"/>
              </a:rPr>
              <a:t>and</a:t>
            </a:r>
            <a:r>
              <a:rPr sz="3250" spc="45" dirty="0">
                <a:solidFill>
                  <a:srgbClr val="2E377E"/>
                </a:solidFill>
                <a:latin typeface="Georgia"/>
                <a:cs typeface="Georgia"/>
              </a:rPr>
              <a:t> </a:t>
            </a:r>
            <a:r>
              <a:rPr sz="3250" dirty="0">
                <a:solidFill>
                  <a:srgbClr val="2E377E"/>
                </a:solidFill>
                <a:latin typeface="Georgia"/>
                <a:cs typeface="Georgia"/>
              </a:rPr>
              <a:t>memory.</a:t>
            </a:r>
            <a:r>
              <a:rPr sz="3250" spc="40" dirty="0">
                <a:solidFill>
                  <a:srgbClr val="2E377E"/>
                </a:solidFill>
                <a:latin typeface="Georgia"/>
                <a:cs typeface="Georgia"/>
              </a:rPr>
              <a:t> </a:t>
            </a:r>
            <a:r>
              <a:rPr sz="3250" dirty="0">
                <a:solidFill>
                  <a:srgbClr val="2E377E"/>
                </a:solidFill>
                <a:latin typeface="Georgia"/>
                <a:cs typeface="Georgia"/>
              </a:rPr>
              <a:t>But</a:t>
            </a:r>
            <a:r>
              <a:rPr sz="3250" spc="45" dirty="0">
                <a:solidFill>
                  <a:srgbClr val="2E377E"/>
                </a:solidFill>
                <a:latin typeface="Georgia"/>
                <a:cs typeface="Georgia"/>
              </a:rPr>
              <a:t> </a:t>
            </a:r>
            <a:r>
              <a:rPr sz="3250" dirty="0">
                <a:solidFill>
                  <a:srgbClr val="2E377E"/>
                </a:solidFill>
                <a:latin typeface="Georgia"/>
                <a:cs typeface="Georgia"/>
              </a:rPr>
              <a:t>if</a:t>
            </a:r>
            <a:r>
              <a:rPr sz="3250" spc="40" dirty="0">
                <a:solidFill>
                  <a:srgbClr val="2E377E"/>
                </a:solidFill>
                <a:latin typeface="Georgia"/>
                <a:cs typeface="Georgia"/>
              </a:rPr>
              <a:t> </a:t>
            </a:r>
            <a:r>
              <a:rPr sz="3250" spc="60" dirty="0">
                <a:solidFill>
                  <a:srgbClr val="2E377E"/>
                </a:solidFill>
                <a:latin typeface="Georgia"/>
                <a:cs typeface="Georgia"/>
              </a:rPr>
              <a:t>the</a:t>
            </a:r>
            <a:r>
              <a:rPr sz="3250" spc="40" dirty="0">
                <a:solidFill>
                  <a:srgbClr val="2E377E"/>
                </a:solidFill>
                <a:latin typeface="Georgia"/>
                <a:cs typeface="Georgia"/>
              </a:rPr>
              <a:t> </a:t>
            </a:r>
            <a:r>
              <a:rPr sz="3250" spc="45" dirty="0">
                <a:solidFill>
                  <a:srgbClr val="2E377E"/>
                </a:solidFill>
                <a:latin typeface="Georgia"/>
                <a:cs typeface="Georgia"/>
              </a:rPr>
              <a:t>request</a:t>
            </a:r>
            <a:r>
              <a:rPr sz="3250" spc="50" dirty="0">
                <a:solidFill>
                  <a:srgbClr val="2E377E"/>
                </a:solidFill>
                <a:latin typeface="Georgia"/>
                <a:cs typeface="Georgia"/>
              </a:rPr>
              <a:t> </a:t>
            </a:r>
            <a:r>
              <a:rPr sz="3250" spc="-25" dirty="0">
                <a:solidFill>
                  <a:srgbClr val="2E377E"/>
                </a:solidFill>
                <a:latin typeface="Georgia"/>
                <a:cs typeface="Georgia"/>
              </a:rPr>
              <a:t>is </a:t>
            </a:r>
            <a:r>
              <a:rPr sz="3250" spc="45" dirty="0">
                <a:solidFill>
                  <a:srgbClr val="2E377E"/>
                </a:solidFill>
                <a:latin typeface="Georgia"/>
                <a:cs typeface="Georgia"/>
              </a:rPr>
              <a:t>greater</a:t>
            </a:r>
            <a:r>
              <a:rPr sz="3250" spc="40" dirty="0">
                <a:solidFill>
                  <a:srgbClr val="2E377E"/>
                </a:solidFill>
                <a:latin typeface="Georgia"/>
                <a:cs typeface="Georgia"/>
              </a:rPr>
              <a:t> </a:t>
            </a:r>
            <a:r>
              <a:rPr sz="3250" dirty="0">
                <a:solidFill>
                  <a:srgbClr val="2E377E"/>
                </a:solidFill>
                <a:latin typeface="Georgia"/>
                <a:cs typeface="Georgia"/>
              </a:rPr>
              <a:t>than</a:t>
            </a:r>
            <a:r>
              <a:rPr sz="3250" spc="45" dirty="0">
                <a:solidFill>
                  <a:srgbClr val="2E377E"/>
                </a:solidFill>
                <a:latin typeface="Georgia"/>
                <a:cs typeface="Georgia"/>
              </a:rPr>
              <a:t> </a:t>
            </a:r>
            <a:r>
              <a:rPr sz="3250" spc="60" dirty="0">
                <a:solidFill>
                  <a:srgbClr val="2E377E"/>
                </a:solidFill>
                <a:latin typeface="Georgia"/>
                <a:cs typeface="Georgia"/>
              </a:rPr>
              <a:t>the</a:t>
            </a:r>
            <a:r>
              <a:rPr sz="3250" spc="50" dirty="0">
                <a:solidFill>
                  <a:srgbClr val="2E377E"/>
                </a:solidFill>
                <a:latin typeface="Georgia"/>
                <a:cs typeface="Georgia"/>
              </a:rPr>
              <a:t> </a:t>
            </a:r>
            <a:r>
              <a:rPr sz="3250" dirty="0">
                <a:solidFill>
                  <a:srgbClr val="2E377E"/>
                </a:solidFill>
                <a:latin typeface="Georgia"/>
                <a:cs typeface="Georgia"/>
              </a:rPr>
              <a:t>limit</a:t>
            </a:r>
            <a:r>
              <a:rPr sz="3250" spc="50" dirty="0">
                <a:solidFill>
                  <a:srgbClr val="2E377E"/>
                </a:solidFill>
                <a:latin typeface="Georgia"/>
                <a:cs typeface="Georgia"/>
              </a:rPr>
              <a:t> </a:t>
            </a:r>
            <a:r>
              <a:rPr sz="3250" dirty="0">
                <a:solidFill>
                  <a:srgbClr val="2E377E"/>
                </a:solidFill>
                <a:latin typeface="Georgia"/>
                <a:cs typeface="Georgia"/>
              </a:rPr>
              <a:t>then,</a:t>
            </a:r>
            <a:r>
              <a:rPr sz="3250" spc="50" dirty="0">
                <a:solidFill>
                  <a:srgbClr val="2E377E"/>
                </a:solidFill>
                <a:latin typeface="Georgia"/>
                <a:cs typeface="Georgia"/>
              </a:rPr>
              <a:t> </a:t>
            </a:r>
            <a:r>
              <a:rPr sz="3250" dirty="0">
                <a:solidFill>
                  <a:srgbClr val="2E377E"/>
                </a:solidFill>
                <a:latin typeface="Georgia"/>
                <a:cs typeface="Georgia"/>
              </a:rPr>
              <a:t>Kubernetes</a:t>
            </a:r>
            <a:r>
              <a:rPr sz="3250" spc="45" dirty="0">
                <a:solidFill>
                  <a:srgbClr val="2E377E"/>
                </a:solidFill>
                <a:latin typeface="Georgia"/>
                <a:cs typeface="Georgia"/>
              </a:rPr>
              <a:t> </a:t>
            </a:r>
            <a:r>
              <a:rPr sz="3250" spc="75" dirty="0">
                <a:solidFill>
                  <a:srgbClr val="2E377E"/>
                </a:solidFill>
                <a:latin typeface="Georgia"/>
                <a:cs typeface="Georgia"/>
              </a:rPr>
              <a:t>won’t</a:t>
            </a:r>
            <a:r>
              <a:rPr sz="3250" spc="50" dirty="0">
                <a:solidFill>
                  <a:srgbClr val="2E377E"/>
                </a:solidFill>
                <a:latin typeface="Georgia"/>
                <a:cs typeface="Georgia"/>
              </a:rPr>
              <a:t> </a:t>
            </a:r>
            <a:r>
              <a:rPr sz="3250" dirty="0">
                <a:solidFill>
                  <a:srgbClr val="2E377E"/>
                </a:solidFill>
                <a:latin typeface="Georgia"/>
                <a:cs typeface="Georgia"/>
              </a:rPr>
              <a:t>allow</a:t>
            </a:r>
            <a:r>
              <a:rPr sz="3250" spc="50" dirty="0">
                <a:solidFill>
                  <a:srgbClr val="2E377E"/>
                </a:solidFill>
                <a:latin typeface="Georgia"/>
                <a:cs typeface="Georgia"/>
              </a:rPr>
              <a:t> </a:t>
            </a:r>
            <a:r>
              <a:rPr sz="3250" spc="60" dirty="0">
                <a:solidFill>
                  <a:srgbClr val="2E377E"/>
                </a:solidFill>
                <a:latin typeface="Georgia"/>
                <a:cs typeface="Georgia"/>
              </a:rPr>
              <a:t>the</a:t>
            </a:r>
            <a:r>
              <a:rPr sz="3250" spc="50" dirty="0">
                <a:solidFill>
                  <a:srgbClr val="2E377E"/>
                </a:solidFill>
                <a:latin typeface="Georgia"/>
                <a:cs typeface="Georgia"/>
              </a:rPr>
              <a:t> </a:t>
            </a:r>
            <a:r>
              <a:rPr sz="3250" dirty="0">
                <a:solidFill>
                  <a:srgbClr val="2E377E"/>
                </a:solidFill>
                <a:latin typeface="Georgia"/>
                <a:cs typeface="Georgia"/>
              </a:rPr>
              <a:t>creation</a:t>
            </a:r>
            <a:r>
              <a:rPr sz="3250" spc="50" dirty="0">
                <a:solidFill>
                  <a:srgbClr val="2E377E"/>
                </a:solidFill>
                <a:latin typeface="Georgia"/>
                <a:cs typeface="Georgia"/>
              </a:rPr>
              <a:t> </a:t>
            </a:r>
            <a:r>
              <a:rPr sz="3250" dirty="0">
                <a:solidFill>
                  <a:srgbClr val="2E377E"/>
                </a:solidFill>
                <a:latin typeface="Georgia"/>
                <a:cs typeface="Georgia"/>
              </a:rPr>
              <a:t>of</a:t>
            </a:r>
            <a:r>
              <a:rPr sz="3250" spc="50" dirty="0">
                <a:solidFill>
                  <a:srgbClr val="2E377E"/>
                </a:solidFill>
                <a:latin typeface="Georgia"/>
                <a:cs typeface="Georgia"/>
              </a:rPr>
              <a:t> </a:t>
            </a:r>
            <a:r>
              <a:rPr sz="3250" dirty="0">
                <a:solidFill>
                  <a:srgbClr val="2E377E"/>
                </a:solidFill>
                <a:latin typeface="Georgia"/>
                <a:cs typeface="Georgia"/>
              </a:rPr>
              <a:t>pods</a:t>
            </a:r>
            <a:r>
              <a:rPr sz="3250" spc="50" dirty="0">
                <a:solidFill>
                  <a:srgbClr val="2E377E"/>
                </a:solidFill>
                <a:latin typeface="Georgia"/>
                <a:cs typeface="Georgia"/>
              </a:rPr>
              <a:t> </a:t>
            </a:r>
            <a:r>
              <a:rPr sz="3250" spc="-25" dirty="0">
                <a:solidFill>
                  <a:srgbClr val="2E377E"/>
                </a:solidFill>
                <a:latin typeface="Georgia"/>
                <a:cs typeface="Georgia"/>
              </a:rPr>
              <a:t>or </a:t>
            </a:r>
            <a:r>
              <a:rPr sz="3250" spc="-10" dirty="0">
                <a:solidFill>
                  <a:srgbClr val="2E377E"/>
                </a:solidFill>
                <a:latin typeface="Georgia"/>
                <a:cs typeface="Georgia"/>
              </a:rPr>
              <a:t>containers.</a:t>
            </a:r>
            <a:endParaRPr sz="3250">
              <a:latin typeface="Georgia"/>
              <a:cs typeface="Georgia"/>
            </a:endParaRPr>
          </a:p>
          <a:p>
            <a:pPr>
              <a:lnSpc>
                <a:spcPct val="100000"/>
              </a:lnSpc>
              <a:spcBef>
                <a:spcPts val="390"/>
              </a:spcBef>
            </a:pPr>
            <a:endParaRPr sz="3250">
              <a:latin typeface="Georgia"/>
              <a:cs typeface="Georgia"/>
            </a:endParaRPr>
          </a:p>
          <a:p>
            <a:pPr marL="12700" marR="1183640">
              <a:lnSpc>
                <a:spcPct val="117300"/>
              </a:lnSpc>
              <a:spcBef>
                <a:spcPts val="5"/>
              </a:spcBef>
            </a:pPr>
            <a:r>
              <a:rPr sz="3250" dirty="0">
                <a:solidFill>
                  <a:srgbClr val="2E377E"/>
                </a:solidFill>
                <a:latin typeface="Georgia"/>
                <a:cs typeface="Georgia"/>
              </a:rPr>
              <a:t>Now,</a:t>
            </a:r>
            <a:r>
              <a:rPr sz="3250" spc="25" dirty="0">
                <a:solidFill>
                  <a:srgbClr val="2E377E"/>
                </a:solidFill>
                <a:latin typeface="Georgia"/>
                <a:cs typeface="Georgia"/>
              </a:rPr>
              <a:t> </a:t>
            </a:r>
            <a:r>
              <a:rPr sz="3250" spc="50" dirty="0">
                <a:solidFill>
                  <a:srgbClr val="2E377E"/>
                </a:solidFill>
                <a:latin typeface="Georgia"/>
                <a:cs typeface="Georgia"/>
              </a:rPr>
              <a:t>there</a:t>
            </a:r>
            <a:r>
              <a:rPr sz="3250" spc="30" dirty="0">
                <a:solidFill>
                  <a:srgbClr val="2E377E"/>
                </a:solidFill>
                <a:latin typeface="Georgia"/>
                <a:cs typeface="Georgia"/>
              </a:rPr>
              <a:t> </a:t>
            </a:r>
            <a:r>
              <a:rPr sz="3250" dirty="0">
                <a:solidFill>
                  <a:srgbClr val="2E377E"/>
                </a:solidFill>
                <a:latin typeface="Georgia"/>
                <a:cs typeface="Georgia"/>
              </a:rPr>
              <a:t>are</a:t>
            </a:r>
            <a:r>
              <a:rPr sz="3250" spc="35" dirty="0">
                <a:solidFill>
                  <a:srgbClr val="2E377E"/>
                </a:solidFill>
                <a:latin typeface="Georgia"/>
                <a:cs typeface="Georgia"/>
              </a:rPr>
              <a:t> </a:t>
            </a:r>
            <a:r>
              <a:rPr sz="3250" dirty="0">
                <a:solidFill>
                  <a:srgbClr val="2E377E"/>
                </a:solidFill>
                <a:latin typeface="Georgia"/>
                <a:cs typeface="Georgia"/>
              </a:rPr>
              <a:t>some</a:t>
            </a:r>
            <a:r>
              <a:rPr sz="3250" spc="25" dirty="0">
                <a:solidFill>
                  <a:srgbClr val="2E377E"/>
                </a:solidFill>
                <a:latin typeface="Georgia"/>
                <a:cs typeface="Georgia"/>
              </a:rPr>
              <a:t> </a:t>
            </a:r>
            <a:r>
              <a:rPr sz="3250" dirty="0">
                <a:solidFill>
                  <a:srgbClr val="2E377E"/>
                </a:solidFill>
                <a:latin typeface="Georgia"/>
                <a:cs typeface="Georgia"/>
              </a:rPr>
              <a:t>conditions</a:t>
            </a:r>
            <a:r>
              <a:rPr sz="3250" spc="30" dirty="0">
                <a:solidFill>
                  <a:srgbClr val="2E377E"/>
                </a:solidFill>
                <a:latin typeface="Georgia"/>
                <a:cs typeface="Georgia"/>
              </a:rPr>
              <a:t> </a:t>
            </a:r>
            <a:r>
              <a:rPr sz="3250" dirty="0">
                <a:solidFill>
                  <a:srgbClr val="2E377E"/>
                </a:solidFill>
                <a:latin typeface="Georgia"/>
                <a:cs typeface="Georgia"/>
              </a:rPr>
              <a:t>or</a:t>
            </a:r>
            <a:r>
              <a:rPr sz="3250" spc="30" dirty="0">
                <a:solidFill>
                  <a:srgbClr val="2E377E"/>
                </a:solidFill>
                <a:latin typeface="Georgia"/>
                <a:cs typeface="Georgia"/>
              </a:rPr>
              <a:t> </a:t>
            </a:r>
            <a:r>
              <a:rPr sz="3250" dirty="0">
                <a:solidFill>
                  <a:srgbClr val="2E377E"/>
                </a:solidFill>
                <a:latin typeface="Georgia"/>
                <a:cs typeface="Georgia"/>
              </a:rPr>
              <a:t>principles</a:t>
            </a:r>
            <a:r>
              <a:rPr sz="3250" spc="30" dirty="0">
                <a:solidFill>
                  <a:srgbClr val="2E377E"/>
                </a:solidFill>
                <a:latin typeface="Georgia"/>
                <a:cs typeface="Georgia"/>
              </a:rPr>
              <a:t> </a:t>
            </a:r>
            <a:r>
              <a:rPr sz="3250" dirty="0">
                <a:solidFill>
                  <a:srgbClr val="2E377E"/>
                </a:solidFill>
                <a:latin typeface="Georgia"/>
                <a:cs typeface="Georgia"/>
              </a:rPr>
              <a:t>for</a:t>
            </a:r>
            <a:r>
              <a:rPr sz="3250" spc="25" dirty="0">
                <a:solidFill>
                  <a:srgbClr val="2E377E"/>
                </a:solidFill>
                <a:latin typeface="Georgia"/>
                <a:cs typeface="Georgia"/>
              </a:rPr>
              <a:t> </a:t>
            </a:r>
            <a:r>
              <a:rPr sz="3250" spc="45" dirty="0">
                <a:solidFill>
                  <a:srgbClr val="2E377E"/>
                </a:solidFill>
                <a:latin typeface="Georgia"/>
                <a:cs typeface="Georgia"/>
              </a:rPr>
              <a:t>requests</a:t>
            </a:r>
            <a:r>
              <a:rPr sz="3250" spc="30" dirty="0">
                <a:solidFill>
                  <a:srgbClr val="2E377E"/>
                </a:solidFill>
                <a:latin typeface="Georgia"/>
                <a:cs typeface="Georgia"/>
              </a:rPr>
              <a:t> </a:t>
            </a:r>
            <a:r>
              <a:rPr sz="3250" dirty="0">
                <a:solidFill>
                  <a:srgbClr val="2E377E"/>
                </a:solidFill>
                <a:latin typeface="Georgia"/>
                <a:cs typeface="Georgia"/>
              </a:rPr>
              <a:t>and</a:t>
            </a:r>
            <a:r>
              <a:rPr sz="3250" spc="35" dirty="0">
                <a:solidFill>
                  <a:srgbClr val="2E377E"/>
                </a:solidFill>
                <a:latin typeface="Georgia"/>
                <a:cs typeface="Georgia"/>
              </a:rPr>
              <a:t> </a:t>
            </a:r>
            <a:r>
              <a:rPr sz="3250" dirty="0">
                <a:solidFill>
                  <a:srgbClr val="2E377E"/>
                </a:solidFill>
                <a:latin typeface="Georgia"/>
                <a:cs typeface="Georgia"/>
              </a:rPr>
              <a:t>limit</a:t>
            </a:r>
            <a:r>
              <a:rPr sz="3250" spc="25" dirty="0">
                <a:solidFill>
                  <a:srgbClr val="2E377E"/>
                </a:solidFill>
                <a:latin typeface="Georgia"/>
                <a:cs typeface="Georgia"/>
              </a:rPr>
              <a:t> </a:t>
            </a:r>
            <a:r>
              <a:rPr sz="3250" spc="60" dirty="0">
                <a:solidFill>
                  <a:srgbClr val="2E377E"/>
                </a:solidFill>
                <a:latin typeface="Georgia"/>
                <a:cs typeface="Georgia"/>
              </a:rPr>
              <a:t>which</a:t>
            </a:r>
            <a:r>
              <a:rPr sz="3250" spc="30" dirty="0">
                <a:solidFill>
                  <a:srgbClr val="2E377E"/>
                </a:solidFill>
                <a:latin typeface="Georgia"/>
                <a:cs typeface="Georgia"/>
              </a:rPr>
              <a:t> </a:t>
            </a:r>
            <a:r>
              <a:rPr sz="3250" dirty="0">
                <a:solidFill>
                  <a:srgbClr val="2E377E"/>
                </a:solidFill>
                <a:latin typeface="Georgia"/>
                <a:cs typeface="Georgia"/>
              </a:rPr>
              <a:t>needs</a:t>
            </a:r>
            <a:r>
              <a:rPr sz="3250" spc="30" dirty="0">
                <a:solidFill>
                  <a:srgbClr val="2E377E"/>
                </a:solidFill>
                <a:latin typeface="Georgia"/>
                <a:cs typeface="Georgia"/>
              </a:rPr>
              <a:t> </a:t>
            </a:r>
            <a:r>
              <a:rPr sz="3250" spc="65" dirty="0">
                <a:solidFill>
                  <a:srgbClr val="2E377E"/>
                </a:solidFill>
                <a:latin typeface="Georgia"/>
                <a:cs typeface="Georgia"/>
              </a:rPr>
              <a:t>to</a:t>
            </a:r>
            <a:r>
              <a:rPr sz="3250" spc="30" dirty="0">
                <a:solidFill>
                  <a:srgbClr val="2E377E"/>
                </a:solidFill>
                <a:latin typeface="Georgia"/>
                <a:cs typeface="Georgia"/>
              </a:rPr>
              <a:t> </a:t>
            </a:r>
            <a:r>
              <a:rPr sz="3250" spc="-25" dirty="0">
                <a:solidFill>
                  <a:srgbClr val="2E377E"/>
                </a:solidFill>
                <a:latin typeface="Georgia"/>
                <a:cs typeface="Georgia"/>
              </a:rPr>
              <a:t>be </a:t>
            </a:r>
            <a:r>
              <a:rPr sz="3250" spc="-10" dirty="0">
                <a:solidFill>
                  <a:srgbClr val="2E377E"/>
                </a:solidFill>
                <a:latin typeface="Georgia"/>
                <a:cs typeface="Georgia"/>
              </a:rPr>
              <a:t>understood.</a:t>
            </a:r>
            <a:endParaRPr sz="3250">
              <a:latin typeface="Georgia"/>
              <a:cs typeface="Georgia"/>
            </a:endParaRPr>
          </a:p>
          <a:p>
            <a:pPr>
              <a:lnSpc>
                <a:spcPct val="100000"/>
              </a:lnSpc>
              <a:spcBef>
                <a:spcPts val="1555"/>
              </a:spcBef>
            </a:pPr>
            <a:endParaRPr sz="3250">
              <a:latin typeface="Georgia"/>
              <a:cs typeface="Georgia"/>
            </a:endParaRPr>
          </a:p>
          <a:p>
            <a:pPr marL="720725" indent="-309880">
              <a:lnSpc>
                <a:spcPct val="100000"/>
              </a:lnSpc>
              <a:buAutoNum type="arabicPeriod"/>
              <a:tabLst>
                <a:tab pos="720725" algn="l"/>
              </a:tabLst>
            </a:pPr>
            <a:r>
              <a:rPr sz="3250" dirty="0">
                <a:solidFill>
                  <a:srgbClr val="2E377E"/>
                </a:solidFill>
                <a:latin typeface="Georgia"/>
                <a:cs typeface="Georgia"/>
              </a:rPr>
              <a:t>If</a:t>
            </a:r>
            <a:r>
              <a:rPr sz="3250" spc="-30" dirty="0">
                <a:solidFill>
                  <a:srgbClr val="2E377E"/>
                </a:solidFill>
                <a:latin typeface="Georgia"/>
                <a:cs typeface="Georgia"/>
              </a:rPr>
              <a:t> </a:t>
            </a:r>
            <a:r>
              <a:rPr sz="3250" spc="60" dirty="0">
                <a:solidFill>
                  <a:srgbClr val="2E377E"/>
                </a:solidFill>
                <a:latin typeface="Georgia"/>
                <a:cs typeface="Georgia"/>
              </a:rPr>
              <a:t>the</a:t>
            </a:r>
            <a:r>
              <a:rPr sz="3250" spc="-25" dirty="0">
                <a:solidFill>
                  <a:srgbClr val="2E377E"/>
                </a:solidFill>
                <a:latin typeface="Georgia"/>
                <a:cs typeface="Georgia"/>
              </a:rPr>
              <a:t> </a:t>
            </a:r>
            <a:r>
              <a:rPr sz="3250" spc="45" dirty="0">
                <a:solidFill>
                  <a:srgbClr val="2E377E"/>
                </a:solidFill>
                <a:latin typeface="Georgia"/>
                <a:cs typeface="Georgia"/>
              </a:rPr>
              <a:t>requests</a:t>
            </a:r>
            <a:r>
              <a:rPr sz="3250" spc="-30" dirty="0">
                <a:solidFill>
                  <a:srgbClr val="2E377E"/>
                </a:solidFill>
                <a:latin typeface="Georgia"/>
                <a:cs typeface="Georgia"/>
              </a:rPr>
              <a:t> </a:t>
            </a:r>
            <a:r>
              <a:rPr sz="3250" dirty="0">
                <a:solidFill>
                  <a:srgbClr val="2E377E"/>
                </a:solidFill>
                <a:latin typeface="Georgia"/>
                <a:cs typeface="Georgia"/>
              </a:rPr>
              <a:t>and</a:t>
            </a:r>
            <a:r>
              <a:rPr sz="3250" spc="-25" dirty="0">
                <a:solidFill>
                  <a:srgbClr val="2E377E"/>
                </a:solidFill>
                <a:latin typeface="Georgia"/>
                <a:cs typeface="Georgia"/>
              </a:rPr>
              <a:t> </a:t>
            </a:r>
            <a:r>
              <a:rPr sz="3250" dirty="0">
                <a:solidFill>
                  <a:srgbClr val="2E377E"/>
                </a:solidFill>
                <a:latin typeface="Georgia"/>
                <a:cs typeface="Georgia"/>
              </a:rPr>
              <a:t>limits</a:t>
            </a:r>
            <a:r>
              <a:rPr sz="3250" spc="-25" dirty="0">
                <a:solidFill>
                  <a:srgbClr val="2E377E"/>
                </a:solidFill>
                <a:latin typeface="Georgia"/>
                <a:cs typeface="Georgia"/>
              </a:rPr>
              <a:t> </a:t>
            </a:r>
            <a:r>
              <a:rPr sz="3250" dirty="0">
                <a:solidFill>
                  <a:srgbClr val="2E377E"/>
                </a:solidFill>
                <a:latin typeface="Georgia"/>
                <a:cs typeface="Georgia"/>
              </a:rPr>
              <a:t>are</a:t>
            </a:r>
            <a:r>
              <a:rPr sz="3250" spc="-30" dirty="0">
                <a:solidFill>
                  <a:srgbClr val="2E377E"/>
                </a:solidFill>
                <a:latin typeface="Georgia"/>
                <a:cs typeface="Georgia"/>
              </a:rPr>
              <a:t> </a:t>
            </a:r>
            <a:r>
              <a:rPr sz="3250" spc="60" dirty="0">
                <a:solidFill>
                  <a:srgbClr val="2E377E"/>
                </a:solidFill>
                <a:latin typeface="Georgia"/>
                <a:cs typeface="Georgia"/>
              </a:rPr>
              <a:t>given</a:t>
            </a:r>
            <a:r>
              <a:rPr sz="3250" spc="-25" dirty="0">
                <a:solidFill>
                  <a:srgbClr val="2E377E"/>
                </a:solidFill>
                <a:latin typeface="Georgia"/>
                <a:cs typeface="Georgia"/>
              </a:rPr>
              <a:t> </a:t>
            </a:r>
            <a:r>
              <a:rPr sz="3250" dirty="0">
                <a:solidFill>
                  <a:srgbClr val="2E377E"/>
                </a:solidFill>
                <a:latin typeface="Georgia"/>
                <a:cs typeface="Georgia"/>
              </a:rPr>
              <a:t>in</a:t>
            </a:r>
            <a:r>
              <a:rPr sz="3250" spc="-25" dirty="0">
                <a:solidFill>
                  <a:srgbClr val="2E377E"/>
                </a:solidFill>
                <a:latin typeface="Georgia"/>
                <a:cs typeface="Georgia"/>
              </a:rPr>
              <a:t> </a:t>
            </a:r>
            <a:r>
              <a:rPr sz="3250" spc="60" dirty="0">
                <a:solidFill>
                  <a:srgbClr val="2E377E"/>
                </a:solidFill>
                <a:latin typeface="Georgia"/>
                <a:cs typeface="Georgia"/>
              </a:rPr>
              <a:t>the</a:t>
            </a:r>
            <a:r>
              <a:rPr sz="3250" spc="-30" dirty="0">
                <a:solidFill>
                  <a:srgbClr val="2E377E"/>
                </a:solidFill>
                <a:latin typeface="Georgia"/>
                <a:cs typeface="Georgia"/>
              </a:rPr>
              <a:t> </a:t>
            </a:r>
            <a:r>
              <a:rPr sz="3250" dirty="0">
                <a:solidFill>
                  <a:srgbClr val="2E377E"/>
                </a:solidFill>
                <a:latin typeface="Georgia"/>
                <a:cs typeface="Georgia"/>
              </a:rPr>
              <a:t>manifest</a:t>
            </a:r>
            <a:r>
              <a:rPr sz="3250" spc="-25" dirty="0">
                <a:solidFill>
                  <a:srgbClr val="2E377E"/>
                </a:solidFill>
                <a:latin typeface="Georgia"/>
                <a:cs typeface="Georgia"/>
              </a:rPr>
              <a:t> </a:t>
            </a:r>
            <a:r>
              <a:rPr sz="3250" dirty="0">
                <a:solidFill>
                  <a:srgbClr val="2E377E"/>
                </a:solidFill>
                <a:latin typeface="Georgia"/>
                <a:cs typeface="Georgia"/>
              </a:rPr>
              <a:t>file,</a:t>
            </a:r>
            <a:r>
              <a:rPr sz="3250" spc="-30" dirty="0">
                <a:solidFill>
                  <a:srgbClr val="2E377E"/>
                </a:solidFill>
                <a:latin typeface="Georgia"/>
                <a:cs typeface="Georgia"/>
              </a:rPr>
              <a:t> </a:t>
            </a:r>
            <a:r>
              <a:rPr sz="3250" spc="55" dirty="0">
                <a:solidFill>
                  <a:srgbClr val="2E377E"/>
                </a:solidFill>
                <a:latin typeface="Georgia"/>
                <a:cs typeface="Georgia"/>
              </a:rPr>
              <a:t>it</a:t>
            </a:r>
            <a:r>
              <a:rPr sz="3250" spc="-25" dirty="0">
                <a:solidFill>
                  <a:srgbClr val="2E377E"/>
                </a:solidFill>
                <a:latin typeface="Georgia"/>
                <a:cs typeface="Georgia"/>
              </a:rPr>
              <a:t> </a:t>
            </a:r>
            <a:r>
              <a:rPr sz="3250" spc="80" dirty="0">
                <a:solidFill>
                  <a:srgbClr val="2E377E"/>
                </a:solidFill>
                <a:latin typeface="Georgia"/>
                <a:cs typeface="Georgia"/>
              </a:rPr>
              <a:t>works</a:t>
            </a:r>
            <a:r>
              <a:rPr sz="3250" spc="-25" dirty="0">
                <a:solidFill>
                  <a:srgbClr val="2E377E"/>
                </a:solidFill>
                <a:latin typeface="Georgia"/>
                <a:cs typeface="Georgia"/>
              </a:rPr>
              <a:t> </a:t>
            </a:r>
            <a:r>
              <a:rPr sz="3250" spc="-10" dirty="0">
                <a:solidFill>
                  <a:srgbClr val="2E377E"/>
                </a:solidFill>
                <a:latin typeface="Georgia"/>
                <a:cs typeface="Georgia"/>
              </a:rPr>
              <a:t>accordingly.</a:t>
            </a:r>
            <a:endParaRPr sz="3250">
              <a:latin typeface="Georgia"/>
              <a:cs typeface="Georgia"/>
            </a:endParaRPr>
          </a:p>
          <a:p>
            <a:pPr marL="720090" indent="-353695">
              <a:lnSpc>
                <a:spcPct val="100000"/>
              </a:lnSpc>
              <a:spcBef>
                <a:spcPts val="675"/>
              </a:spcBef>
              <a:buAutoNum type="arabicPeriod"/>
              <a:tabLst>
                <a:tab pos="720090" algn="l"/>
              </a:tabLst>
            </a:pPr>
            <a:r>
              <a:rPr sz="3250" dirty="0">
                <a:solidFill>
                  <a:srgbClr val="2E377E"/>
                </a:solidFill>
                <a:latin typeface="Georgia"/>
                <a:cs typeface="Georgia"/>
              </a:rPr>
              <a:t>If</a:t>
            </a:r>
            <a:r>
              <a:rPr sz="3250" spc="-25" dirty="0">
                <a:solidFill>
                  <a:srgbClr val="2E377E"/>
                </a:solidFill>
                <a:latin typeface="Georgia"/>
                <a:cs typeface="Georgia"/>
              </a:rPr>
              <a:t> </a:t>
            </a:r>
            <a:r>
              <a:rPr sz="3250" spc="60" dirty="0">
                <a:solidFill>
                  <a:srgbClr val="2E377E"/>
                </a:solidFill>
                <a:latin typeface="Georgia"/>
                <a:cs typeface="Georgia"/>
              </a:rPr>
              <a:t>the</a:t>
            </a:r>
            <a:r>
              <a:rPr sz="3250" spc="-25" dirty="0">
                <a:solidFill>
                  <a:srgbClr val="2E377E"/>
                </a:solidFill>
                <a:latin typeface="Georgia"/>
                <a:cs typeface="Georgia"/>
              </a:rPr>
              <a:t> </a:t>
            </a:r>
            <a:r>
              <a:rPr sz="3250" spc="45" dirty="0">
                <a:solidFill>
                  <a:srgbClr val="2E377E"/>
                </a:solidFill>
                <a:latin typeface="Georgia"/>
                <a:cs typeface="Georgia"/>
              </a:rPr>
              <a:t>requests</a:t>
            </a:r>
            <a:r>
              <a:rPr sz="3250" spc="-25" dirty="0">
                <a:solidFill>
                  <a:srgbClr val="2E377E"/>
                </a:solidFill>
                <a:latin typeface="Georgia"/>
                <a:cs typeface="Georgia"/>
              </a:rPr>
              <a:t> </a:t>
            </a:r>
            <a:r>
              <a:rPr sz="3250" dirty="0">
                <a:solidFill>
                  <a:srgbClr val="2E377E"/>
                </a:solidFill>
                <a:latin typeface="Georgia"/>
                <a:cs typeface="Georgia"/>
              </a:rPr>
              <a:t>are</a:t>
            </a:r>
            <a:r>
              <a:rPr sz="3250" spc="-25" dirty="0">
                <a:solidFill>
                  <a:srgbClr val="2E377E"/>
                </a:solidFill>
                <a:latin typeface="Georgia"/>
                <a:cs typeface="Georgia"/>
              </a:rPr>
              <a:t> </a:t>
            </a:r>
            <a:r>
              <a:rPr sz="3250" spc="60" dirty="0">
                <a:solidFill>
                  <a:srgbClr val="2E377E"/>
                </a:solidFill>
                <a:latin typeface="Georgia"/>
                <a:cs typeface="Georgia"/>
              </a:rPr>
              <a:t>given</a:t>
            </a:r>
            <a:r>
              <a:rPr sz="3250" spc="-20" dirty="0">
                <a:solidFill>
                  <a:srgbClr val="2E377E"/>
                </a:solidFill>
                <a:latin typeface="Georgia"/>
                <a:cs typeface="Georgia"/>
              </a:rPr>
              <a:t> </a:t>
            </a:r>
            <a:r>
              <a:rPr sz="3250" spc="50" dirty="0">
                <a:solidFill>
                  <a:srgbClr val="2E377E"/>
                </a:solidFill>
                <a:latin typeface="Georgia"/>
                <a:cs typeface="Georgia"/>
              </a:rPr>
              <a:t>but</a:t>
            </a:r>
            <a:r>
              <a:rPr sz="3250" spc="-25" dirty="0">
                <a:solidFill>
                  <a:srgbClr val="2E377E"/>
                </a:solidFill>
                <a:latin typeface="Georgia"/>
                <a:cs typeface="Georgia"/>
              </a:rPr>
              <a:t> </a:t>
            </a:r>
            <a:r>
              <a:rPr sz="3250" spc="60" dirty="0">
                <a:solidFill>
                  <a:srgbClr val="2E377E"/>
                </a:solidFill>
                <a:latin typeface="Georgia"/>
                <a:cs typeface="Georgia"/>
              </a:rPr>
              <a:t>the</a:t>
            </a:r>
            <a:r>
              <a:rPr sz="3250" spc="-25" dirty="0">
                <a:solidFill>
                  <a:srgbClr val="2E377E"/>
                </a:solidFill>
                <a:latin typeface="Georgia"/>
                <a:cs typeface="Georgia"/>
              </a:rPr>
              <a:t> </a:t>
            </a:r>
            <a:r>
              <a:rPr sz="3250" dirty="0">
                <a:solidFill>
                  <a:srgbClr val="2E377E"/>
                </a:solidFill>
                <a:latin typeface="Georgia"/>
                <a:cs typeface="Georgia"/>
              </a:rPr>
              <a:t>limit</a:t>
            </a:r>
            <a:r>
              <a:rPr sz="3250" spc="-25" dirty="0">
                <a:solidFill>
                  <a:srgbClr val="2E377E"/>
                </a:solidFill>
                <a:latin typeface="Georgia"/>
                <a:cs typeface="Georgia"/>
              </a:rPr>
              <a:t> </a:t>
            </a:r>
            <a:r>
              <a:rPr sz="3250" dirty="0">
                <a:solidFill>
                  <a:srgbClr val="2E377E"/>
                </a:solidFill>
                <a:latin typeface="Georgia"/>
                <a:cs typeface="Georgia"/>
              </a:rPr>
              <a:t>is</a:t>
            </a:r>
            <a:r>
              <a:rPr sz="3250" spc="-20" dirty="0">
                <a:solidFill>
                  <a:srgbClr val="2E377E"/>
                </a:solidFill>
                <a:latin typeface="Georgia"/>
                <a:cs typeface="Georgia"/>
              </a:rPr>
              <a:t> </a:t>
            </a:r>
            <a:r>
              <a:rPr sz="3250" spc="50" dirty="0">
                <a:solidFill>
                  <a:srgbClr val="2E377E"/>
                </a:solidFill>
                <a:latin typeface="Georgia"/>
                <a:cs typeface="Georgia"/>
              </a:rPr>
              <a:t>not</a:t>
            </a:r>
            <a:r>
              <a:rPr sz="3250" spc="-25" dirty="0">
                <a:solidFill>
                  <a:srgbClr val="2E377E"/>
                </a:solidFill>
                <a:latin typeface="Georgia"/>
                <a:cs typeface="Georgia"/>
              </a:rPr>
              <a:t> </a:t>
            </a:r>
            <a:r>
              <a:rPr sz="3250" spc="45" dirty="0">
                <a:solidFill>
                  <a:srgbClr val="2E377E"/>
                </a:solidFill>
                <a:latin typeface="Georgia"/>
                <a:cs typeface="Georgia"/>
              </a:rPr>
              <a:t>provided</a:t>
            </a:r>
            <a:r>
              <a:rPr sz="3250" spc="-25" dirty="0">
                <a:solidFill>
                  <a:srgbClr val="2E377E"/>
                </a:solidFill>
                <a:latin typeface="Georgia"/>
                <a:cs typeface="Georgia"/>
              </a:rPr>
              <a:t> </a:t>
            </a:r>
            <a:r>
              <a:rPr sz="3250" dirty="0">
                <a:solidFill>
                  <a:srgbClr val="2E377E"/>
                </a:solidFill>
                <a:latin typeface="Georgia"/>
                <a:cs typeface="Georgia"/>
              </a:rPr>
              <a:t>then,</a:t>
            </a:r>
            <a:r>
              <a:rPr sz="3250" spc="-25" dirty="0">
                <a:solidFill>
                  <a:srgbClr val="2E377E"/>
                </a:solidFill>
                <a:latin typeface="Georgia"/>
                <a:cs typeface="Georgia"/>
              </a:rPr>
              <a:t> </a:t>
            </a:r>
            <a:r>
              <a:rPr sz="3250" spc="60" dirty="0">
                <a:solidFill>
                  <a:srgbClr val="2E377E"/>
                </a:solidFill>
                <a:latin typeface="Georgia"/>
                <a:cs typeface="Georgia"/>
              </a:rPr>
              <a:t>the</a:t>
            </a:r>
            <a:r>
              <a:rPr sz="3250" spc="-20" dirty="0">
                <a:solidFill>
                  <a:srgbClr val="2E377E"/>
                </a:solidFill>
                <a:latin typeface="Georgia"/>
                <a:cs typeface="Georgia"/>
              </a:rPr>
              <a:t> </a:t>
            </a:r>
            <a:r>
              <a:rPr sz="3250" dirty="0">
                <a:solidFill>
                  <a:srgbClr val="2E377E"/>
                </a:solidFill>
                <a:latin typeface="Georgia"/>
                <a:cs typeface="Georgia"/>
              </a:rPr>
              <a:t>default</a:t>
            </a:r>
            <a:r>
              <a:rPr sz="3250" spc="-25" dirty="0">
                <a:solidFill>
                  <a:srgbClr val="2E377E"/>
                </a:solidFill>
                <a:latin typeface="Georgia"/>
                <a:cs typeface="Georgia"/>
              </a:rPr>
              <a:t> </a:t>
            </a:r>
            <a:r>
              <a:rPr sz="3250" dirty="0">
                <a:solidFill>
                  <a:srgbClr val="2E377E"/>
                </a:solidFill>
                <a:latin typeface="Georgia"/>
                <a:cs typeface="Georgia"/>
              </a:rPr>
              <a:t>limit</a:t>
            </a:r>
            <a:r>
              <a:rPr sz="3250" spc="-25" dirty="0">
                <a:solidFill>
                  <a:srgbClr val="2E377E"/>
                </a:solidFill>
                <a:latin typeface="Georgia"/>
                <a:cs typeface="Georgia"/>
              </a:rPr>
              <a:t> </a:t>
            </a:r>
            <a:r>
              <a:rPr sz="3250" spc="50" dirty="0">
                <a:solidFill>
                  <a:srgbClr val="2E377E"/>
                </a:solidFill>
                <a:latin typeface="Georgia"/>
                <a:cs typeface="Georgia"/>
              </a:rPr>
              <a:t>will</a:t>
            </a:r>
            <a:r>
              <a:rPr sz="3250" spc="-25" dirty="0">
                <a:solidFill>
                  <a:srgbClr val="2E377E"/>
                </a:solidFill>
                <a:latin typeface="Georgia"/>
                <a:cs typeface="Georgia"/>
              </a:rPr>
              <a:t> </a:t>
            </a:r>
            <a:r>
              <a:rPr sz="3250" dirty="0">
                <a:solidFill>
                  <a:srgbClr val="2E377E"/>
                </a:solidFill>
                <a:latin typeface="Georgia"/>
                <a:cs typeface="Georgia"/>
              </a:rPr>
              <a:t>be</a:t>
            </a:r>
            <a:r>
              <a:rPr sz="3250" spc="-20" dirty="0">
                <a:solidFill>
                  <a:srgbClr val="2E377E"/>
                </a:solidFill>
                <a:latin typeface="Georgia"/>
                <a:cs typeface="Georgia"/>
              </a:rPr>
              <a:t> used.</a:t>
            </a:r>
            <a:endParaRPr sz="3250">
              <a:latin typeface="Georgia"/>
              <a:cs typeface="Georgia"/>
            </a:endParaRPr>
          </a:p>
          <a:p>
            <a:pPr marL="721360" marR="9525" indent="-351790">
              <a:lnSpc>
                <a:spcPct val="117300"/>
              </a:lnSpc>
              <a:buAutoNum type="arabicPeriod"/>
              <a:tabLst>
                <a:tab pos="721360" algn="l"/>
              </a:tabLst>
            </a:pPr>
            <a:r>
              <a:rPr sz="3250" dirty="0">
                <a:solidFill>
                  <a:srgbClr val="2E377E"/>
                </a:solidFill>
                <a:latin typeface="Georgia"/>
                <a:cs typeface="Georgia"/>
              </a:rPr>
              <a:t>If</a:t>
            </a:r>
            <a:r>
              <a:rPr sz="3250" spc="-50" dirty="0">
                <a:solidFill>
                  <a:srgbClr val="2E377E"/>
                </a:solidFill>
                <a:latin typeface="Georgia"/>
                <a:cs typeface="Georgia"/>
              </a:rPr>
              <a:t> </a:t>
            </a:r>
            <a:r>
              <a:rPr sz="3250" spc="60" dirty="0">
                <a:solidFill>
                  <a:srgbClr val="2E377E"/>
                </a:solidFill>
                <a:latin typeface="Georgia"/>
                <a:cs typeface="Georgia"/>
              </a:rPr>
              <a:t>the</a:t>
            </a:r>
            <a:r>
              <a:rPr sz="3250" spc="-45" dirty="0">
                <a:solidFill>
                  <a:srgbClr val="2E377E"/>
                </a:solidFill>
                <a:latin typeface="Georgia"/>
                <a:cs typeface="Georgia"/>
              </a:rPr>
              <a:t> </a:t>
            </a:r>
            <a:r>
              <a:rPr sz="3250" spc="45" dirty="0">
                <a:solidFill>
                  <a:srgbClr val="2E377E"/>
                </a:solidFill>
                <a:latin typeface="Georgia"/>
                <a:cs typeface="Georgia"/>
              </a:rPr>
              <a:t>requests</a:t>
            </a:r>
            <a:r>
              <a:rPr sz="3250" spc="-50" dirty="0">
                <a:solidFill>
                  <a:srgbClr val="2E377E"/>
                </a:solidFill>
                <a:latin typeface="Georgia"/>
                <a:cs typeface="Georgia"/>
              </a:rPr>
              <a:t> </a:t>
            </a:r>
            <a:r>
              <a:rPr sz="3250" dirty="0">
                <a:solidFill>
                  <a:srgbClr val="2E377E"/>
                </a:solidFill>
                <a:latin typeface="Georgia"/>
                <a:cs typeface="Georgia"/>
              </a:rPr>
              <a:t>are</a:t>
            </a:r>
            <a:r>
              <a:rPr sz="3250" spc="-45" dirty="0">
                <a:solidFill>
                  <a:srgbClr val="2E377E"/>
                </a:solidFill>
                <a:latin typeface="Georgia"/>
                <a:cs typeface="Georgia"/>
              </a:rPr>
              <a:t> </a:t>
            </a:r>
            <a:r>
              <a:rPr sz="3250" spc="50" dirty="0">
                <a:solidFill>
                  <a:srgbClr val="2E377E"/>
                </a:solidFill>
                <a:latin typeface="Georgia"/>
                <a:cs typeface="Georgia"/>
              </a:rPr>
              <a:t>not</a:t>
            </a:r>
            <a:r>
              <a:rPr sz="3250" spc="-45" dirty="0">
                <a:solidFill>
                  <a:srgbClr val="2E377E"/>
                </a:solidFill>
                <a:latin typeface="Georgia"/>
                <a:cs typeface="Georgia"/>
              </a:rPr>
              <a:t> </a:t>
            </a:r>
            <a:r>
              <a:rPr sz="3250" spc="45" dirty="0">
                <a:solidFill>
                  <a:srgbClr val="2E377E"/>
                </a:solidFill>
                <a:latin typeface="Georgia"/>
                <a:cs typeface="Georgia"/>
              </a:rPr>
              <a:t>provided</a:t>
            </a:r>
            <a:r>
              <a:rPr sz="3250" spc="-50" dirty="0">
                <a:solidFill>
                  <a:srgbClr val="2E377E"/>
                </a:solidFill>
                <a:latin typeface="Georgia"/>
                <a:cs typeface="Georgia"/>
              </a:rPr>
              <a:t> </a:t>
            </a:r>
            <a:r>
              <a:rPr sz="3250" spc="50" dirty="0">
                <a:solidFill>
                  <a:srgbClr val="2E377E"/>
                </a:solidFill>
                <a:latin typeface="Georgia"/>
                <a:cs typeface="Georgia"/>
              </a:rPr>
              <a:t>but</a:t>
            </a:r>
            <a:r>
              <a:rPr sz="3250" spc="-45" dirty="0">
                <a:solidFill>
                  <a:srgbClr val="2E377E"/>
                </a:solidFill>
                <a:latin typeface="Georgia"/>
                <a:cs typeface="Georgia"/>
              </a:rPr>
              <a:t> </a:t>
            </a:r>
            <a:r>
              <a:rPr sz="3250" spc="60" dirty="0">
                <a:solidFill>
                  <a:srgbClr val="2E377E"/>
                </a:solidFill>
                <a:latin typeface="Georgia"/>
                <a:cs typeface="Georgia"/>
              </a:rPr>
              <a:t>the</a:t>
            </a:r>
            <a:r>
              <a:rPr sz="3250" spc="-50" dirty="0">
                <a:solidFill>
                  <a:srgbClr val="2E377E"/>
                </a:solidFill>
                <a:latin typeface="Georgia"/>
                <a:cs typeface="Georgia"/>
              </a:rPr>
              <a:t> </a:t>
            </a:r>
            <a:r>
              <a:rPr sz="3250" dirty="0">
                <a:solidFill>
                  <a:srgbClr val="2E377E"/>
                </a:solidFill>
                <a:latin typeface="Georgia"/>
                <a:cs typeface="Georgia"/>
              </a:rPr>
              <a:t>limit</a:t>
            </a:r>
            <a:r>
              <a:rPr sz="3250" spc="-45" dirty="0">
                <a:solidFill>
                  <a:srgbClr val="2E377E"/>
                </a:solidFill>
                <a:latin typeface="Georgia"/>
                <a:cs typeface="Georgia"/>
              </a:rPr>
              <a:t> </a:t>
            </a:r>
            <a:r>
              <a:rPr sz="3250" dirty="0">
                <a:solidFill>
                  <a:srgbClr val="2E377E"/>
                </a:solidFill>
                <a:latin typeface="Georgia"/>
                <a:cs typeface="Georgia"/>
              </a:rPr>
              <a:t>is</a:t>
            </a:r>
            <a:r>
              <a:rPr sz="3250" spc="-45" dirty="0">
                <a:solidFill>
                  <a:srgbClr val="2E377E"/>
                </a:solidFill>
                <a:latin typeface="Georgia"/>
                <a:cs typeface="Georgia"/>
              </a:rPr>
              <a:t> </a:t>
            </a:r>
            <a:r>
              <a:rPr sz="3250" spc="45" dirty="0">
                <a:solidFill>
                  <a:srgbClr val="2E377E"/>
                </a:solidFill>
                <a:latin typeface="Georgia"/>
                <a:cs typeface="Georgia"/>
              </a:rPr>
              <a:t>provided</a:t>
            </a:r>
            <a:r>
              <a:rPr sz="3250" spc="-50" dirty="0">
                <a:solidFill>
                  <a:srgbClr val="2E377E"/>
                </a:solidFill>
                <a:latin typeface="Georgia"/>
                <a:cs typeface="Georgia"/>
              </a:rPr>
              <a:t> </a:t>
            </a:r>
            <a:r>
              <a:rPr sz="3250" dirty="0">
                <a:solidFill>
                  <a:srgbClr val="2E377E"/>
                </a:solidFill>
                <a:latin typeface="Georgia"/>
                <a:cs typeface="Georgia"/>
              </a:rPr>
              <a:t>then,</a:t>
            </a:r>
            <a:r>
              <a:rPr sz="3250" spc="-45" dirty="0">
                <a:solidFill>
                  <a:srgbClr val="2E377E"/>
                </a:solidFill>
                <a:latin typeface="Georgia"/>
                <a:cs typeface="Georgia"/>
              </a:rPr>
              <a:t> </a:t>
            </a:r>
            <a:r>
              <a:rPr sz="3250" spc="60" dirty="0">
                <a:solidFill>
                  <a:srgbClr val="2E377E"/>
                </a:solidFill>
                <a:latin typeface="Georgia"/>
                <a:cs typeface="Georgia"/>
              </a:rPr>
              <a:t>the</a:t>
            </a:r>
            <a:r>
              <a:rPr sz="3250" spc="-50" dirty="0">
                <a:solidFill>
                  <a:srgbClr val="2E377E"/>
                </a:solidFill>
                <a:latin typeface="Georgia"/>
                <a:cs typeface="Georgia"/>
              </a:rPr>
              <a:t> </a:t>
            </a:r>
            <a:r>
              <a:rPr sz="3250" spc="45" dirty="0">
                <a:solidFill>
                  <a:srgbClr val="2E377E"/>
                </a:solidFill>
                <a:latin typeface="Georgia"/>
                <a:cs typeface="Georgia"/>
              </a:rPr>
              <a:t>requests</a:t>
            </a:r>
            <a:r>
              <a:rPr sz="3250" spc="-45" dirty="0">
                <a:solidFill>
                  <a:srgbClr val="2E377E"/>
                </a:solidFill>
                <a:latin typeface="Georgia"/>
                <a:cs typeface="Georgia"/>
              </a:rPr>
              <a:t> </a:t>
            </a:r>
            <a:r>
              <a:rPr sz="3250" spc="50" dirty="0">
                <a:solidFill>
                  <a:srgbClr val="2E377E"/>
                </a:solidFill>
                <a:latin typeface="Georgia"/>
                <a:cs typeface="Georgia"/>
              </a:rPr>
              <a:t>will</a:t>
            </a:r>
            <a:r>
              <a:rPr sz="3250" spc="-45" dirty="0">
                <a:solidFill>
                  <a:srgbClr val="2E377E"/>
                </a:solidFill>
                <a:latin typeface="Georgia"/>
                <a:cs typeface="Georgia"/>
              </a:rPr>
              <a:t> </a:t>
            </a:r>
            <a:r>
              <a:rPr sz="3250" dirty="0">
                <a:solidFill>
                  <a:srgbClr val="2E377E"/>
                </a:solidFill>
                <a:latin typeface="Georgia"/>
                <a:cs typeface="Georgia"/>
              </a:rPr>
              <a:t>be</a:t>
            </a:r>
            <a:r>
              <a:rPr sz="3250" spc="-50" dirty="0">
                <a:solidFill>
                  <a:srgbClr val="2E377E"/>
                </a:solidFill>
                <a:latin typeface="Georgia"/>
                <a:cs typeface="Georgia"/>
              </a:rPr>
              <a:t> </a:t>
            </a:r>
            <a:r>
              <a:rPr sz="3250" spc="-20" dirty="0">
                <a:solidFill>
                  <a:srgbClr val="2E377E"/>
                </a:solidFill>
                <a:latin typeface="Georgia"/>
                <a:cs typeface="Georgia"/>
              </a:rPr>
              <a:t>equal </a:t>
            </a:r>
            <a:r>
              <a:rPr sz="3250" spc="65" dirty="0">
                <a:solidFill>
                  <a:srgbClr val="2E377E"/>
                </a:solidFill>
                <a:latin typeface="Georgia"/>
                <a:cs typeface="Georgia"/>
              </a:rPr>
              <a:t>to</a:t>
            </a:r>
            <a:r>
              <a:rPr sz="3250" spc="-75" dirty="0">
                <a:solidFill>
                  <a:srgbClr val="2E377E"/>
                </a:solidFill>
                <a:latin typeface="Georgia"/>
                <a:cs typeface="Georgia"/>
              </a:rPr>
              <a:t> </a:t>
            </a:r>
            <a:r>
              <a:rPr sz="3250" spc="60" dirty="0">
                <a:solidFill>
                  <a:srgbClr val="2E377E"/>
                </a:solidFill>
                <a:latin typeface="Georgia"/>
                <a:cs typeface="Georgia"/>
              </a:rPr>
              <a:t>the</a:t>
            </a:r>
            <a:r>
              <a:rPr sz="3250" spc="-70" dirty="0">
                <a:solidFill>
                  <a:srgbClr val="2E377E"/>
                </a:solidFill>
                <a:latin typeface="Georgia"/>
                <a:cs typeface="Georgia"/>
              </a:rPr>
              <a:t> </a:t>
            </a:r>
            <a:r>
              <a:rPr sz="3250" spc="-10" dirty="0">
                <a:solidFill>
                  <a:srgbClr val="2E377E"/>
                </a:solidFill>
                <a:latin typeface="Georgia"/>
                <a:cs typeface="Georgia"/>
              </a:rPr>
              <a:t>limit.</a:t>
            </a:r>
            <a:endParaRPr sz="3250">
              <a:latin typeface="Georgia"/>
              <a:cs typeface="Georgia"/>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1251" y="1389822"/>
            <a:ext cx="6905624" cy="7400924"/>
          </a:xfrm>
          <a:prstGeom prst="rect">
            <a:avLst/>
          </a:prstGeom>
        </p:spPr>
      </p:pic>
      <p:sp>
        <p:nvSpPr>
          <p:cNvPr id="3" name="object 3"/>
          <p:cNvSpPr txBox="1">
            <a:spLocks noGrp="1"/>
          </p:cNvSpPr>
          <p:nvPr>
            <p:ph type="title"/>
          </p:nvPr>
        </p:nvSpPr>
        <p:spPr>
          <a:prstGeom prst="rect">
            <a:avLst/>
          </a:prstGeom>
        </p:spPr>
        <p:txBody>
          <a:bodyPr vert="horz" wrap="square" lIns="0" tIns="238389" rIns="0" bIns="0" rtlCol="0">
            <a:spAutoFit/>
          </a:bodyPr>
          <a:lstStyle/>
          <a:p>
            <a:pPr marL="44450">
              <a:lnSpc>
                <a:spcPct val="100000"/>
              </a:lnSpc>
              <a:spcBef>
                <a:spcPts val="100"/>
              </a:spcBef>
            </a:pPr>
            <a:r>
              <a:rPr sz="3500" dirty="0">
                <a:solidFill>
                  <a:srgbClr val="FF3131"/>
                </a:solidFill>
              </a:rPr>
              <a:t>If</a:t>
            </a:r>
            <a:r>
              <a:rPr sz="3500" spc="-35" dirty="0">
                <a:solidFill>
                  <a:srgbClr val="FF3131"/>
                </a:solidFill>
              </a:rPr>
              <a:t> </a:t>
            </a:r>
            <a:r>
              <a:rPr sz="3500" spc="150" dirty="0">
                <a:solidFill>
                  <a:srgbClr val="FF3131"/>
                </a:solidFill>
              </a:rPr>
              <a:t>the</a:t>
            </a:r>
            <a:r>
              <a:rPr sz="3500" spc="-35" dirty="0">
                <a:solidFill>
                  <a:srgbClr val="FF3131"/>
                </a:solidFill>
              </a:rPr>
              <a:t> </a:t>
            </a:r>
            <a:r>
              <a:rPr sz="3500" spc="135" dirty="0">
                <a:solidFill>
                  <a:srgbClr val="FF3131"/>
                </a:solidFill>
              </a:rPr>
              <a:t>requests</a:t>
            </a:r>
            <a:r>
              <a:rPr sz="3500" spc="-30" dirty="0">
                <a:solidFill>
                  <a:srgbClr val="FF3131"/>
                </a:solidFill>
              </a:rPr>
              <a:t> </a:t>
            </a:r>
            <a:r>
              <a:rPr sz="3500" spc="175" dirty="0">
                <a:solidFill>
                  <a:srgbClr val="FF3131"/>
                </a:solidFill>
              </a:rPr>
              <a:t>and</a:t>
            </a:r>
            <a:r>
              <a:rPr sz="3500" spc="-35" dirty="0">
                <a:solidFill>
                  <a:srgbClr val="FF3131"/>
                </a:solidFill>
              </a:rPr>
              <a:t> </a:t>
            </a:r>
            <a:r>
              <a:rPr sz="3500" spc="130" dirty="0">
                <a:solidFill>
                  <a:srgbClr val="FF3131"/>
                </a:solidFill>
              </a:rPr>
              <a:t>limits</a:t>
            </a:r>
            <a:r>
              <a:rPr sz="3500" spc="-30" dirty="0">
                <a:solidFill>
                  <a:srgbClr val="FF3131"/>
                </a:solidFill>
              </a:rPr>
              <a:t> </a:t>
            </a:r>
            <a:r>
              <a:rPr sz="3500" spc="80" dirty="0">
                <a:solidFill>
                  <a:srgbClr val="FF3131"/>
                </a:solidFill>
              </a:rPr>
              <a:t>are</a:t>
            </a:r>
            <a:r>
              <a:rPr sz="3500" spc="-35" dirty="0">
                <a:solidFill>
                  <a:srgbClr val="FF3131"/>
                </a:solidFill>
              </a:rPr>
              <a:t> </a:t>
            </a:r>
            <a:r>
              <a:rPr sz="3500" spc="150" dirty="0">
                <a:solidFill>
                  <a:srgbClr val="FF3131"/>
                </a:solidFill>
              </a:rPr>
              <a:t>given</a:t>
            </a:r>
            <a:r>
              <a:rPr sz="3500" spc="-30" dirty="0">
                <a:solidFill>
                  <a:srgbClr val="FF3131"/>
                </a:solidFill>
              </a:rPr>
              <a:t> </a:t>
            </a:r>
            <a:r>
              <a:rPr sz="3500" spc="175" dirty="0">
                <a:solidFill>
                  <a:srgbClr val="FF3131"/>
                </a:solidFill>
              </a:rPr>
              <a:t>in</a:t>
            </a:r>
            <a:r>
              <a:rPr sz="3500" spc="-35" dirty="0">
                <a:solidFill>
                  <a:srgbClr val="FF3131"/>
                </a:solidFill>
              </a:rPr>
              <a:t> </a:t>
            </a:r>
            <a:r>
              <a:rPr sz="3500" spc="150" dirty="0">
                <a:solidFill>
                  <a:srgbClr val="FF3131"/>
                </a:solidFill>
              </a:rPr>
              <a:t>the</a:t>
            </a:r>
            <a:r>
              <a:rPr sz="3500" spc="-30" dirty="0">
                <a:solidFill>
                  <a:srgbClr val="FF3131"/>
                </a:solidFill>
              </a:rPr>
              <a:t> </a:t>
            </a:r>
            <a:r>
              <a:rPr sz="3500" spc="145" dirty="0">
                <a:solidFill>
                  <a:srgbClr val="FF3131"/>
                </a:solidFill>
              </a:rPr>
              <a:t>manifest</a:t>
            </a:r>
            <a:r>
              <a:rPr sz="3500" spc="-35" dirty="0">
                <a:solidFill>
                  <a:srgbClr val="FF3131"/>
                </a:solidFill>
              </a:rPr>
              <a:t> </a:t>
            </a:r>
            <a:r>
              <a:rPr sz="3500" spc="60" dirty="0">
                <a:solidFill>
                  <a:srgbClr val="FF3131"/>
                </a:solidFill>
              </a:rPr>
              <a:t>file,</a:t>
            </a:r>
            <a:r>
              <a:rPr sz="3500" spc="-30" dirty="0">
                <a:solidFill>
                  <a:srgbClr val="FF3131"/>
                </a:solidFill>
              </a:rPr>
              <a:t> </a:t>
            </a:r>
            <a:r>
              <a:rPr sz="3500" dirty="0">
                <a:solidFill>
                  <a:srgbClr val="FF3131"/>
                </a:solidFill>
              </a:rPr>
              <a:t>it</a:t>
            </a:r>
            <a:r>
              <a:rPr sz="3500" spc="-35" dirty="0">
                <a:solidFill>
                  <a:srgbClr val="FF3131"/>
                </a:solidFill>
              </a:rPr>
              <a:t> </a:t>
            </a:r>
            <a:r>
              <a:rPr sz="3500" spc="150" dirty="0">
                <a:solidFill>
                  <a:srgbClr val="FF3131"/>
                </a:solidFill>
              </a:rPr>
              <a:t>works</a:t>
            </a:r>
            <a:r>
              <a:rPr sz="3500" spc="-30" dirty="0">
                <a:solidFill>
                  <a:srgbClr val="FF3131"/>
                </a:solidFill>
              </a:rPr>
              <a:t> </a:t>
            </a:r>
            <a:r>
              <a:rPr sz="3500" spc="105" dirty="0">
                <a:solidFill>
                  <a:srgbClr val="FF3131"/>
                </a:solidFill>
              </a:rPr>
              <a:t>accordingly.</a:t>
            </a:r>
            <a:endParaRPr sz="3500"/>
          </a:p>
        </p:txBody>
      </p:sp>
      <p:sp>
        <p:nvSpPr>
          <p:cNvPr id="4" name="object 4"/>
          <p:cNvSpPr txBox="1"/>
          <p:nvPr/>
        </p:nvSpPr>
        <p:spPr>
          <a:xfrm>
            <a:off x="1740257" y="9205993"/>
            <a:ext cx="12967970" cy="526415"/>
          </a:xfrm>
          <a:prstGeom prst="rect">
            <a:avLst/>
          </a:prstGeom>
        </p:spPr>
        <p:txBody>
          <a:bodyPr vert="horz" wrap="square" lIns="0" tIns="16510" rIns="0" bIns="0" rtlCol="0">
            <a:spAutoFit/>
          </a:bodyPr>
          <a:lstStyle/>
          <a:p>
            <a:pPr marL="12700">
              <a:lnSpc>
                <a:spcPct val="100000"/>
              </a:lnSpc>
              <a:spcBef>
                <a:spcPts val="130"/>
              </a:spcBef>
            </a:pPr>
            <a:r>
              <a:rPr sz="3250" dirty="0">
                <a:solidFill>
                  <a:srgbClr val="2E377E"/>
                </a:solidFill>
                <a:latin typeface="Georgia"/>
                <a:cs typeface="Georgia"/>
              </a:rPr>
              <a:t>Describe</a:t>
            </a:r>
            <a:r>
              <a:rPr sz="3250" spc="15" dirty="0">
                <a:solidFill>
                  <a:srgbClr val="2E377E"/>
                </a:solidFill>
                <a:latin typeface="Georgia"/>
                <a:cs typeface="Georgia"/>
              </a:rPr>
              <a:t> </a:t>
            </a:r>
            <a:r>
              <a:rPr sz="3250" spc="65" dirty="0">
                <a:solidFill>
                  <a:srgbClr val="2E377E"/>
                </a:solidFill>
                <a:latin typeface="Georgia"/>
                <a:cs typeface="Georgia"/>
              </a:rPr>
              <a:t>the</a:t>
            </a:r>
            <a:r>
              <a:rPr sz="3250" spc="15" dirty="0">
                <a:solidFill>
                  <a:srgbClr val="2E377E"/>
                </a:solidFill>
                <a:latin typeface="Georgia"/>
                <a:cs typeface="Georgia"/>
              </a:rPr>
              <a:t> </a:t>
            </a:r>
            <a:r>
              <a:rPr sz="3250" dirty="0">
                <a:solidFill>
                  <a:srgbClr val="2E377E"/>
                </a:solidFill>
                <a:latin typeface="Georgia"/>
                <a:cs typeface="Georgia"/>
              </a:rPr>
              <a:t>pod</a:t>
            </a:r>
            <a:r>
              <a:rPr sz="3250" spc="20" dirty="0">
                <a:solidFill>
                  <a:srgbClr val="2E377E"/>
                </a:solidFill>
                <a:latin typeface="Georgia"/>
                <a:cs typeface="Georgia"/>
              </a:rPr>
              <a:t> </a:t>
            </a:r>
            <a:r>
              <a:rPr sz="3250" dirty="0">
                <a:solidFill>
                  <a:srgbClr val="2E377E"/>
                </a:solidFill>
                <a:latin typeface="Georgia"/>
                <a:cs typeface="Georgia"/>
              </a:rPr>
              <a:t>and</a:t>
            </a:r>
            <a:r>
              <a:rPr sz="3250" spc="15" dirty="0">
                <a:solidFill>
                  <a:srgbClr val="2E377E"/>
                </a:solidFill>
                <a:latin typeface="Georgia"/>
                <a:cs typeface="Georgia"/>
              </a:rPr>
              <a:t> </a:t>
            </a:r>
            <a:r>
              <a:rPr sz="3250" spc="100" dirty="0">
                <a:solidFill>
                  <a:srgbClr val="2E377E"/>
                </a:solidFill>
                <a:latin typeface="Georgia"/>
                <a:cs typeface="Georgia"/>
              </a:rPr>
              <a:t>you</a:t>
            </a:r>
            <a:r>
              <a:rPr sz="3250" spc="15" dirty="0">
                <a:solidFill>
                  <a:srgbClr val="2E377E"/>
                </a:solidFill>
                <a:latin typeface="Georgia"/>
                <a:cs typeface="Georgia"/>
              </a:rPr>
              <a:t> </a:t>
            </a:r>
            <a:r>
              <a:rPr sz="3250" spc="55" dirty="0">
                <a:solidFill>
                  <a:srgbClr val="2E377E"/>
                </a:solidFill>
                <a:latin typeface="Georgia"/>
                <a:cs typeface="Georgia"/>
              </a:rPr>
              <a:t>will</a:t>
            </a:r>
            <a:r>
              <a:rPr sz="3250" spc="20" dirty="0">
                <a:solidFill>
                  <a:srgbClr val="2E377E"/>
                </a:solidFill>
                <a:latin typeface="Georgia"/>
                <a:cs typeface="Georgia"/>
              </a:rPr>
              <a:t> </a:t>
            </a:r>
            <a:r>
              <a:rPr sz="3250" spc="75" dirty="0">
                <a:solidFill>
                  <a:srgbClr val="2E377E"/>
                </a:solidFill>
                <a:latin typeface="Georgia"/>
                <a:cs typeface="Georgia"/>
              </a:rPr>
              <a:t>get</a:t>
            </a:r>
            <a:r>
              <a:rPr sz="3250" spc="15" dirty="0">
                <a:solidFill>
                  <a:srgbClr val="2E377E"/>
                </a:solidFill>
                <a:latin typeface="Georgia"/>
                <a:cs typeface="Georgia"/>
              </a:rPr>
              <a:t> </a:t>
            </a:r>
            <a:r>
              <a:rPr sz="3250" dirty="0">
                <a:solidFill>
                  <a:srgbClr val="2E377E"/>
                </a:solidFill>
                <a:latin typeface="Georgia"/>
                <a:cs typeface="Georgia"/>
              </a:rPr>
              <a:t>limits</a:t>
            </a:r>
            <a:r>
              <a:rPr sz="3250" spc="20" dirty="0">
                <a:solidFill>
                  <a:srgbClr val="2E377E"/>
                </a:solidFill>
                <a:latin typeface="Georgia"/>
                <a:cs typeface="Georgia"/>
              </a:rPr>
              <a:t> </a:t>
            </a:r>
            <a:r>
              <a:rPr sz="3250" dirty="0">
                <a:solidFill>
                  <a:srgbClr val="2E377E"/>
                </a:solidFill>
                <a:latin typeface="Georgia"/>
                <a:cs typeface="Georgia"/>
              </a:rPr>
              <a:t>and</a:t>
            </a:r>
            <a:r>
              <a:rPr sz="3250" spc="15" dirty="0">
                <a:solidFill>
                  <a:srgbClr val="2E377E"/>
                </a:solidFill>
                <a:latin typeface="Georgia"/>
                <a:cs typeface="Georgia"/>
              </a:rPr>
              <a:t> </a:t>
            </a:r>
            <a:r>
              <a:rPr sz="3250" spc="50" dirty="0">
                <a:solidFill>
                  <a:srgbClr val="2E377E"/>
                </a:solidFill>
                <a:latin typeface="Georgia"/>
                <a:cs typeface="Georgia"/>
              </a:rPr>
              <a:t>requests</a:t>
            </a:r>
            <a:r>
              <a:rPr sz="3250" spc="15" dirty="0">
                <a:solidFill>
                  <a:srgbClr val="2E377E"/>
                </a:solidFill>
                <a:latin typeface="Georgia"/>
                <a:cs typeface="Georgia"/>
              </a:rPr>
              <a:t> </a:t>
            </a:r>
            <a:r>
              <a:rPr sz="3250" dirty="0">
                <a:solidFill>
                  <a:srgbClr val="2E377E"/>
                </a:solidFill>
                <a:latin typeface="Georgia"/>
                <a:cs typeface="Georgia"/>
              </a:rPr>
              <a:t>of</a:t>
            </a:r>
            <a:r>
              <a:rPr sz="3250" spc="20" dirty="0">
                <a:solidFill>
                  <a:srgbClr val="2E377E"/>
                </a:solidFill>
                <a:latin typeface="Georgia"/>
                <a:cs typeface="Georgia"/>
              </a:rPr>
              <a:t> </a:t>
            </a:r>
            <a:r>
              <a:rPr sz="3250" spc="65" dirty="0">
                <a:solidFill>
                  <a:srgbClr val="2E377E"/>
                </a:solidFill>
                <a:latin typeface="Georgia"/>
                <a:cs typeface="Georgia"/>
              </a:rPr>
              <a:t>the</a:t>
            </a:r>
            <a:r>
              <a:rPr sz="3250" spc="15" dirty="0">
                <a:solidFill>
                  <a:srgbClr val="2E377E"/>
                </a:solidFill>
                <a:latin typeface="Georgia"/>
                <a:cs typeface="Georgia"/>
              </a:rPr>
              <a:t> </a:t>
            </a:r>
            <a:r>
              <a:rPr sz="3250" spc="-10" dirty="0">
                <a:solidFill>
                  <a:srgbClr val="2E377E"/>
                </a:solidFill>
                <a:latin typeface="Georgia"/>
                <a:cs typeface="Georgia"/>
              </a:rPr>
              <a:t>container</a:t>
            </a:r>
            <a:endParaRPr sz="3250">
              <a:latin typeface="Georgia"/>
              <a:cs typeface="Georgia"/>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6956" y="1991869"/>
            <a:ext cx="7762874" cy="6810374"/>
          </a:xfrm>
          <a:prstGeom prst="rect">
            <a:avLst/>
          </a:prstGeom>
        </p:spPr>
      </p:pic>
      <p:sp>
        <p:nvSpPr>
          <p:cNvPr id="3" name="object 3"/>
          <p:cNvSpPr txBox="1">
            <a:spLocks noGrp="1"/>
          </p:cNvSpPr>
          <p:nvPr>
            <p:ph type="title"/>
          </p:nvPr>
        </p:nvSpPr>
        <p:spPr>
          <a:xfrm>
            <a:off x="864256" y="473162"/>
            <a:ext cx="15344140" cy="1263650"/>
          </a:xfrm>
          <a:prstGeom prst="rect">
            <a:avLst/>
          </a:prstGeom>
        </p:spPr>
        <p:txBody>
          <a:bodyPr vert="horz" wrap="square" lIns="0" tIns="12065" rIns="0" bIns="0" rtlCol="0">
            <a:spAutoFit/>
          </a:bodyPr>
          <a:lstStyle/>
          <a:p>
            <a:pPr marL="12700" marR="5080">
              <a:lnSpc>
                <a:spcPct val="116100"/>
              </a:lnSpc>
              <a:spcBef>
                <a:spcPts val="95"/>
              </a:spcBef>
            </a:pPr>
            <a:r>
              <a:rPr sz="3500" dirty="0">
                <a:solidFill>
                  <a:srgbClr val="FF3131"/>
                </a:solidFill>
              </a:rPr>
              <a:t>If</a:t>
            </a:r>
            <a:r>
              <a:rPr sz="3500" spc="-40" dirty="0">
                <a:solidFill>
                  <a:srgbClr val="FF3131"/>
                </a:solidFill>
              </a:rPr>
              <a:t> </a:t>
            </a:r>
            <a:r>
              <a:rPr sz="3500" spc="150" dirty="0">
                <a:solidFill>
                  <a:srgbClr val="FF3131"/>
                </a:solidFill>
              </a:rPr>
              <a:t>the</a:t>
            </a:r>
            <a:r>
              <a:rPr sz="3500" spc="-40" dirty="0">
                <a:solidFill>
                  <a:srgbClr val="FF3131"/>
                </a:solidFill>
              </a:rPr>
              <a:t> </a:t>
            </a:r>
            <a:r>
              <a:rPr sz="3500" spc="135" dirty="0">
                <a:solidFill>
                  <a:srgbClr val="FF3131"/>
                </a:solidFill>
              </a:rPr>
              <a:t>requests</a:t>
            </a:r>
            <a:r>
              <a:rPr sz="3500" spc="-35" dirty="0">
                <a:solidFill>
                  <a:srgbClr val="FF3131"/>
                </a:solidFill>
              </a:rPr>
              <a:t> </a:t>
            </a:r>
            <a:r>
              <a:rPr sz="3500" spc="80" dirty="0">
                <a:solidFill>
                  <a:srgbClr val="FF3131"/>
                </a:solidFill>
              </a:rPr>
              <a:t>are</a:t>
            </a:r>
            <a:r>
              <a:rPr sz="3500" spc="-40" dirty="0">
                <a:solidFill>
                  <a:srgbClr val="FF3131"/>
                </a:solidFill>
              </a:rPr>
              <a:t> </a:t>
            </a:r>
            <a:r>
              <a:rPr sz="3500" spc="150" dirty="0">
                <a:solidFill>
                  <a:srgbClr val="FF3131"/>
                </a:solidFill>
              </a:rPr>
              <a:t>given</a:t>
            </a:r>
            <a:r>
              <a:rPr sz="3500" spc="-40" dirty="0">
                <a:solidFill>
                  <a:srgbClr val="FF3131"/>
                </a:solidFill>
              </a:rPr>
              <a:t> </a:t>
            </a:r>
            <a:r>
              <a:rPr sz="3500" spc="150" dirty="0">
                <a:solidFill>
                  <a:srgbClr val="FF3131"/>
                </a:solidFill>
              </a:rPr>
              <a:t>but</a:t>
            </a:r>
            <a:r>
              <a:rPr sz="3500" spc="-35" dirty="0">
                <a:solidFill>
                  <a:srgbClr val="FF3131"/>
                </a:solidFill>
              </a:rPr>
              <a:t> </a:t>
            </a:r>
            <a:r>
              <a:rPr sz="3500" spc="150" dirty="0">
                <a:solidFill>
                  <a:srgbClr val="FF3131"/>
                </a:solidFill>
              </a:rPr>
              <a:t>the</a:t>
            </a:r>
            <a:r>
              <a:rPr sz="3500" spc="-40" dirty="0">
                <a:solidFill>
                  <a:srgbClr val="FF3131"/>
                </a:solidFill>
              </a:rPr>
              <a:t> </a:t>
            </a:r>
            <a:r>
              <a:rPr sz="3500" spc="130" dirty="0">
                <a:solidFill>
                  <a:srgbClr val="FF3131"/>
                </a:solidFill>
              </a:rPr>
              <a:t>limit</a:t>
            </a:r>
            <a:r>
              <a:rPr sz="3500" spc="-40" dirty="0">
                <a:solidFill>
                  <a:srgbClr val="FF3131"/>
                </a:solidFill>
              </a:rPr>
              <a:t> </a:t>
            </a:r>
            <a:r>
              <a:rPr sz="3500" spc="100" dirty="0">
                <a:solidFill>
                  <a:srgbClr val="FF3131"/>
                </a:solidFill>
              </a:rPr>
              <a:t>is</a:t>
            </a:r>
            <a:r>
              <a:rPr sz="3500" spc="-35" dirty="0">
                <a:solidFill>
                  <a:srgbClr val="FF3131"/>
                </a:solidFill>
              </a:rPr>
              <a:t> </a:t>
            </a:r>
            <a:r>
              <a:rPr sz="3500" spc="160" dirty="0">
                <a:solidFill>
                  <a:srgbClr val="FF3131"/>
                </a:solidFill>
              </a:rPr>
              <a:t>not</a:t>
            </a:r>
            <a:r>
              <a:rPr sz="3500" spc="-40" dirty="0">
                <a:solidFill>
                  <a:srgbClr val="FF3131"/>
                </a:solidFill>
              </a:rPr>
              <a:t> </a:t>
            </a:r>
            <a:r>
              <a:rPr sz="3500" spc="170" dirty="0">
                <a:solidFill>
                  <a:srgbClr val="FF3131"/>
                </a:solidFill>
              </a:rPr>
              <a:t>provided</a:t>
            </a:r>
            <a:r>
              <a:rPr sz="3500" spc="-40" dirty="0">
                <a:solidFill>
                  <a:srgbClr val="FF3131"/>
                </a:solidFill>
              </a:rPr>
              <a:t> </a:t>
            </a:r>
            <a:r>
              <a:rPr sz="3500" spc="135" dirty="0">
                <a:solidFill>
                  <a:srgbClr val="FF3131"/>
                </a:solidFill>
              </a:rPr>
              <a:t>then,</a:t>
            </a:r>
            <a:r>
              <a:rPr sz="3500" spc="-35" dirty="0">
                <a:solidFill>
                  <a:srgbClr val="FF3131"/>
                </a:solidFill>
              </a:rPr>
              <a:t> </a:t>
            </a:r>
            <a:r>
              <a:rPr sz="3500" spc="150" dirty="0">
                <a:solidFill>
                  <a:srgbClr val="FF3131"/>
                </a:solidFill>
              </a:rPr>
              <a:t>the</a:t>
            </a:r>
            <a:r>
              <a:rPr sz="3500" spc="-40" dirty="0">
                <a:solidFill>
                  <a:srgbClr val="FF3131"/>
                </a:solidFill>
              </a:rPr>
              <a:t> </a:t>
            </a:r>
            <a:r>
              <a:rPr sz="3500" spc="105" dirty="0">
                <a:solidFill>
                  <a:srgbClr val="FF3131"/>
                </a:solidFill>
              </a:rPr>
              <a:t>default</a:t>
            </a:r>
            <a:r>
              <a:rPr sz="3500" spc="-40" dirty="0">
                <a:solidFill>
                  <a:srgbClr val="FF3131"/>
                </a:solidFill>
              </a:rPr>
              <a:t> </a:t>
            </a:r>
            <a:r>
              <a:rPr sz="3500" spc="110" dirty="0">
                <a:solidFill>
                  <a:srgbClr val="FF3131"/>
                </a:solidFill>
              </a:rPr>
              <a:t>limit </a:t>
            </a:r>
            <a:r>
              <a:rPr sz="3500" spc="180" dirty="0">
                <a:solidFill>
                  <a:srgbClr val="FF3131"/>
                </a:solidFill>
              </a:rPr>
              <a:t>will</a:t>
            </a:r>
            <a:r>
              <a:rPr sz="3500" spc="-40" dirty="0">
                <a:solidFill>
                  <a:srgbClr val="FF3131"/>
                </a:solidFill>
              </a:rPr>
              <a:t> </a:t>
            </a:r>
            <a:r>
              <a:rPr sz="3500" spc="210" dirty="0">
                <a:solidFill>
                  <a:srgbClr val="FF3131"/>
                </a:solidFill>
              </a:rPr>
              <a:t>be</a:t>
            </a:r>
            <a:r>
              <a:rPr sz="3500" spc="-35" dirty="0">
                <a:solidFill>
                  <a:srgbClr val="FF3131"/>
                </a:solidFill>
              </a:rPr>
              <a:t> </a:t>
            </a:r>
            <a:r>
              <a:rPr sz="3500" spc="125" dirty="0">
                <a:solidFill>
                  <a:srgbClr val="FF3131"/>
                </a:solidFill>
              </a:rPr>
              <a:t>used.</a:t>
            </a:r>
            <a:endParaRPr sz="3500"/>
          </a:p>
        </p:txBody>
      </p:sp>
      <p:sp>
        <p:nvSpPr>
          <p:cNvPr id="4" name="object 4"/>
          <p:cNvSpPr txBox="1"/>
          <p:nvPr/>
        </p:nvSpPr>
        <p:spPr>
          <a:xfrm>
            <a:off x="1760668" y="8957182"/>
            <a:ext cx="12012930" cy="526415"/>
          </a:xfrm>
          <a:prstGeom prst="rect">
            <a:avLst/>
          </a:prstGeom>
        </p:spPr>
        <p:txBody>
          <a:bodyPr vert="horz" wrap="square" lIns="0" tIns="16510" rIns="0" bIns="0" rtlCol="0">
            <a:spAutoFit/>
          </a:bodyPr>
          <a:lstStyle/>
          <a:p>
            <a:pPr marL="12700">
              <a:lnSpc>
                <a:spcPct val="100000"/>
              </a:lnSpc>
              <a:spcBef>
                <a:spcPts val="130"/>
              </a:spcBef>
              <a:tabLst>
                <a:tab pos="6409055" algn="l"/>
              </a:tabLst>
            </a:pPr>
            <a:r>
              <a:rPr sz="3250" dirty="0">
                <a:solidFill>
                  <a:srgbClr val="2E377E"/>
                </a:solidFill>
                <a:latin typeface="Georgia"/>
                <a:cs typeface="Georgia"/>
              </a:rPr>
              <a:t>Describe</a:t>
            </a:r>
            <a:r>
              <a:rPr sz="3250" spc="15" dirty="0">
                <a:solidFill>
                  <a:srgbClr val="2E377E"/>
                </a:solidFill>
                <a:latin typeface="Georgia"/>
                <a:cs typeface="Georgia"/>
              </a:rPr>
              <a:t> </a:t>
            </a:r>
            <a:r>
              <a:rPr sz="3250" spc="65" dirty="0">
                <a:solidFill>
                  <a:srgbClr val="2E377E"/>
                </a:solidFill>
                <a:latin typeface="Georgia"/>
                <a:cs typeface="Georgia"/>
              </a:rPr>
              <a:t>the</a:t>
            </a:r>
            <a:r>
              <a:rPr sz="3250" spc="15" dirty="0">
                <a:solidFill>
                  <a:srgbClr val="2E377E"/>
                </a:solidFill>
                <a:latin typeface="Georgia"/>
                <a:cs typeface="Georgia"/>
              </a:rPr>
              <a:t> </a:t>
            </a:r>
            <a:r>
              <a:rPr sz="3250" dirty="0">
                <a:solidFill>
                  <a:srgbClr val="2E377E"/>
                </a:solidFill>
                <a:latin typeface="Georgia"/>
                <a:cs typeface="Georgia"/>
              </a:rPr>
              <a:t>pod</a:t>
            </a:r>
            <a:r>
              <a:rPr sz="3250" spc="20" dirty="0">
                <a:solidFill>
                  <a:srgbClr val="2E377E"/>
                </a:solidFill>
                <a:latin typeface="Georgia"/>
                <a:cs typeface="Georgia"/>
              </a:rPr>
              <a:t> </a:t>
            </a:r>
            <a:r>
              <a:rPr sz="3250" dirty="0">
                <a:solidFill>
                  <a:srgbClr val="2E377E"/>
                </a:solidFill>
                <a:latin typeface="Georgia"/>
                <a:cs typeface="Georgia"/>
              </a:rPr>
              <a:t>and</a:t>
            </a:r>
            <a:r>
              <a:rPr sz="3250" spc="15" dirty="0">
                <a:solidFill>
                  <a:srgbClr val="2E377E"/>
                </a:solidFill>
                <a:latin typeface="Georgia"/>
                <a:cs typeface="Georgia"/>
              </a:rPr>
              <a:t> </a:t>
            </a:r>
            <a:r>
              <a:rPr sz="3250" spc="100" dirty="0">
                <a:solidFill>
                  <a:srgbClr val="2E377E"/>
                </a:solidFill>
                <a:latin typeface="Georgia"/>
                <a:cs typeface="Georgia"/>
              </a:rPr>
              <a:t>you</a:t>
            </a:r>
            <a:r>
              <a:rPr sz="3250" spc="15" dirty="0">
                <a:solidFill>
                  <a:srgbClr val="2E377E"/>
                </a:solidFill>
                <a:latin typeface="Georgia"/>
                <a:cs typeface="Georgia"/>
              </a:rPr>
              <a:t> </a:t>
            </a:r>
            <a:r>
              <a:rPr sz="3250" spc="55" dirty="0">
                <a:solidFill>
                  <a:srgbClr val="2E377E"/>
                </a:solidFill>
                <a:latin typeface="Georgia"/>
                <a:cs typeface="Georgia"/>
              </a:rPr>
              <a:t>will</a:t>
            </a:r>
            <a:r>
              <a:rPr sz="3250" spc="20" dirty="0">
                <a:solidFill>
                  <a:srgbClr val="2E377E"/>
                </a:solidFill>
                <a:latin typeface="Georgia"/>
                <a:cs typeface="Georgia"/>
              </a:rPr>
              <a:t> </a:t>
            </a:r>
            <a:r>
              <a:rPr sz="3250" spc="50" dirty="0">
                <a:solidFill>
                  <a:srgbClr val="2E377E"/>
                </a:solidFill>
                <a:latin typeface="Georgia"/>
                <a:cs typeface="Georgia"/>
              </a:rPr>
              <a:t>get</a:t>
            </a:r>
            <a:r>
              <a:rPr sz="3250" dirty="0">
                <a:solidFill>
                  <a:srgbClr val="2E377E"/>
                </a:solidFill>
                <a:latin typeface="Georgia"/>
                <a:cs typeface="Georgia"/>
              </a:rPr>
              <a:t>	</a:t>
            </a:r>
            <a:r>
              <a:rPr sz="3250" spc="65" dirty="0">
                <a:solidFill>
                  <a:srgbClr val="2E377E"/>
                </a:solidFill>
                <a:latin typeface="Georgia"/>
                <a:cs typeface="Georgia"/>
              </a:rPr>
              <a:t>only</a:t>
            </a:r>
            <a:r>
              <a:rPr sz="3250" spc="-20" dirty="0">
                <a:solidFill>
                  <a:srgbClr val="2E377E"/>
                </a:solidFill>
                <a:latin typeface="Georgia"/>
                <a:cs typeface="Georgia"/>
              </a:rPr>
              <a:t> </a:t>
            </a:r>
            <a:r>
              <a:rPr sz="3250" spc="50" dirty="0">
                <a:solidFill>
                  <a:srgbClr val="2E377E"/>
                </a:solidFill>
                <a:latin typeface="Georgia"/>
                <a:cs typeface="Georgia"/>
              </a:rPr>
              <a:t>requests</a:t>
            </a:r>
            <a:r>
              <a:rPr sz="3250" spc="-20" dirty="0">
                <a:solidFill>
                  <a:srgbClr val="2E377E"/>
                </a:solidFill>
                <a:latin typeface="Georgia"/>
                <a:cs typeface="Georgia"/>
              </a:rPr>
              <a:t> </a:t>
            </a:r>
            <a:r>
              <a:rPr sz="3250" dirty="0">
                <a:solidFill>
                  <a:srgbClr val="2E377E"/>
                </a:solidFill>
                <a:latin typeface="Georgia"/>
                <a:cs typeface="Georgia"/>
              </a:rPr>
              <a:t>of</a:t>
            </a:r>
            <a:r>
              <a:rPr sz="3250" spc="-20" dirty="0">
                <a:solidFill>
                  <a:srgbClr val="2E377E"/>
                </a:solidFill>
                <a:latin typeface="Georgia"/>
                <a:cs typeface="Georgia"/>
              </a:rPr>
              <a:t> </a:t>
            </a:r>
            <a:r>
              <a:rPr sz="3250" spc="65" dirty="0">
                <a:solidFill>
                  <a:srgbClr val="2E377E"/>
                </a:solidFill>
                <a:latin typeface="Georgia"/>
                <a:cs typeface="Georgia"/>
              </a:rPr>
              <a:t>the</a:t>
            </a:r>
            <a:r>
              <a:rPr sz="3250" spc="-20" dirty="0">
                <a:solidFill>
                  <a:srgbClr val="2E377E"/>
                </a:solidFill>
                <a:latin typeface="Georgia"/>
                <a:cs typeface="Georgia"/>
              </a:rPr>
              <a:t> </a:t>
            </a:r>
            <a:r>
              <a:rPr sz="3250" spc="-10" dirty="0">
                <a:solidFill>
                  <a:srgbClr val="2E377E"/>
                </a:solidFill>
                <a:latin typeface="Georgia"/>
                <a:cs typeface="Georgia"/>
              </a:rPr>
              <a:t>container</a:t>
            </a:r>
            <a:endParaRPr sz="3250">
              <a:latin typeface="Georgia"/>
              <a:cs typeface="Georgi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6956" y="1927239"/>
            <a:ext cx="7524749" cy="6705599"/>
          </a:xfrm>
          <a:prstGeom prst="rect">
            <a:avLst/>
          </a:prstGeom>
        </p:spPr>
      </p:pic>
      <p:sp>
        <p:nvSpPr>
          <p:cNvPr id="3" name="object 3"/>
          <p:cNvSpPr txBox="1">
            <a:spLocks noGrp="1"/>
          </p:cNvSpPr>
          <p:nvPr>
            <p:ph type="title"/>
          </p:nvPr>
        </p:nvSpPr>
        <p:spPr>
          <a:xfrm>
            <a:off x="864256" y="473163"/>
            <a:ext cx="15318105" cy="1263650"/>
          </a:xfrm>
          <a:prstGeom prst="rect">
            <a:avLst/>
          </a:prstGeom>
        </p:spPr>
        <p:txBody>
          <a:bodyPr vert="horz" wrap="square" lIns="0" tIns="12065" rIns="0" bIns="0" rtlCol="0">
            <a:spAutoFit/>
          </a:bodyPr>
          <a:lstStyle/>
          <a:p>
            <a:pPr marL="12700" marR="5080">
              <a:lnSpc>
                <a:spcPct val="116100"/>
              </a:lnSpc>
              <a:spcBef>
                <a:spcPts val="95"/>
              </a:spcBef>
            </a:pPr>
            <a:r>
              <a:rPr sz="3500" dirty="0">
                <a:solidFill>
                  <a:srgbClr val="FF3131"/>
                </a:solidFill>
              </a:rPr>
              <a:t>If</a:t>
            </a:r>
            <a:r>
              <a:rPr sz="3500" spc="-45" dirty="0">
                <a:solidFill>
                  <a:srgbClr val="FF3131"/>
                </a:solidFill>
              </a:rPr>
              <a:t> </a:t>
            </a:r>
            <a:r>
              <a:rPr sz="3500" spc="150" dirty="0">
                <a:solidFill>
                  <a:srgbClr val="FF3131"/>
                </a:solidFill>
              </a:rPr>
              <a:t>the</a:t>
            </a:r>
            <a:r>
              <a:rPr sz="3500" spc="-40" dirty="0">
                <a:solidFill>
                  <a:srgbClr val="FF3131"/>
                </a:solidFill>
              </a:rPr>
              <a:t> </a:t>
            </a:r>
            <a:r>
              <a:rPr sz="3500" spc="135" dirty="0">
                <a:solidFill>
                  <a:srgbClr val="FF3131"/>
                </a:solidFill>
              </a:rPr>
              <a:t>requests</a:t>
            </a:r>
            <a:r>
              <a:rPr sz="3500" spc="-40" dirty="0">
                <a:solidFill>
                  <a:srgbClr val="FF3131"/>
                </a:solidFill>
              </a:rPr>
              <a:t> </a:t>
            </a:r>
            <a:r>
              <a:rPr sz="3500" spc="80" dirty="0">
                <a:solidFill>
                  <a:srgbClr val="FF3131"/>
                </a:solidFill>
              </a:rPr>
              <a:t>are</a:t>
            </a:r>
            <a:r>
              <a:rPr sz="3500" spc="-40" dirty="0">
                <a:solidFill>
                  <a:srgbClr val="FF3131"/>
                </a:solidFill>
              </a:rPr>
              <a:t> </a:t>
            </a:r>
            <a:r>
              <a:rPr sz="3500" spc="160" dirty="0">
                <a:solidFill>
                  <a:srgbClr val="FF3131"/>
                </a:solidFill>
              </a:rPr>
              <a:t>not</a:t>
            </a:r>
            <a:r>
              <a:rPr sz="3500" spc="-40" dirty="0">
                <a:solidFill>
                  <a:srgbClr val="FF3131"/>
                </a:solidFill>
              </a:rPr>
              <a:t> </a:t>
            </a:r>
            <a:r>
              <a:rPr sz="3500" spc="170" dirty="0">
                <a:solidFill>
                  <a:srgbClr val="FF3131"/>
                </a:solidFill>
              </a:rPr>
              <a:t>provided</a:t>
            </a:r>
            <a:r>
              <a:rPr sz="3500" spc="-40" dirty="0">
                <a:solidFill>
                  <a:srgbClr val="FF3131"/>
                </a:solidFill>
              </a:rPr>
              <a:t> </a:t>
            </a:r>
            <a:r>
              <a:rPr sz="3500" spc="150" dirty="0">
                <a:solidFill>
                  <a:srgbClr val="FF3131"/>
                </a:solidFill>
              </a:rPr>
              <a:t>but</a:t>
            </a:r>
            <a:r>
              <a:rPr sz="3500" spc="-40" dirty="0">
                <a:solidFill>
                  <a:srgbClr val="FF3131"/>
                </a:solidFill>
              </a:rPr>
              <a:t> </a:t>
            </a:r>
            <a:r>
              <a:rPr sz="3500" spc="150" dirty="0">
                <a:solidFill>
                  <a:srgbClr val="FF3131"/>
                </a:solidFill>
              </a:rPr>
              <a:t>the</a:t>
            </a:r>
            <a:r>
              <a:rPr sz="3500" spc="-40" dirty="0">
                <a:solidFill>
                  <a:srgbClr val="FF3131"/>
                </a:solidFill>
              </a:rPr>
              <a:t> </a:t>
            </a:r>
            <a:r>
              <a:rPr sz="3500" spc="130" dirty="0">
                <a:solidFill>
                  <a:srgbClr val="FF3131"/>
                </a:solidFill>
              </a:rPr>
              <a:t>limit</a:t>
            </a:r>
            <a:r>
              <a:rPr sz="3500" spc="-40" dirty="0">
                <a:solidFill>
                  <a:srgbClr val="FF3131"/>
                </a:solidFill>
              </a:rPr>
              <a:t> </a:t>
            </a:r>
            <a:r>
              <a:rPr sz="3500" spc="100" dirty="0">
                <a:solidFill>
                  <a:srgbClr val="FF3131"/>
                </a:solidFill>
              </a:rPr>
              <a:t>is</a:t>
            </a:r>
            <a:r>
              <a:rPr sz="3500" spc="-40" dirty="0">
                <a:solidFill>
                  <a:srgbClr val="FF3131"/>
                </a:solidFill>
              </a:rPr>
              <a:t> </a:t>
            </a:r>
            <a:r>
              <a:rPr sz="3500" spc="170" dirty="0">
                <a:solidFill>
                  <a:srgbClr val="FF3131"/>
                </a:solidFill>
              </a:rPr>
              <a:t>provided</a:t>
            </a:r>
            <a:r>
              <a:rPr sz="3500" spc="-40" dirty="0">
                <a:solidFill>
                  <a:srgbClr val="FF3131"/>
                </a:solidFill>
              </a:rPr>
              <a:t> </a:t>
            </a:r>
            <a:r>
              <a:rPr sz="3500" spc="135" dirty="0">
                <a:solidFill>
                  <a:srgbClr val="FF3131"/>
                </a:solidFill>
              </a:rPr>
              <a:t>then,</a:t>
            </a:r>
            <a:r>
              <a:rPr sz="3500" spc="-40" dirty="0">
                <a:solidFill>
                  <a:srgbClr val="FF3131"/>
                </a:solidFill>
              </a:rPr>
              <a:t> </a:t>
            </a:r>
            <a:r>
              <a:rPr sz="3500" spc="150" dirty="0">
                <a:solidFill>
                  <a:srgbClr val="FF3131"/>
                </a:solidFill>
              </a:rPr>
              <a:t>the</a:t>
            </a:r>
            <a:r>
              <a:rPr sz="3500" spc="-40" dirty="0">
                <a:solidFill>
                  <a:srgbClr val="FF3131"/>
                </a:solidFill>
              </a:rPr>
              <a:t> </a:t>
            </a:r>
            <a:r>
              <a:rPr sz="3500" spc="125" dirty="0">
                <a:solidFill>
                  <a:srgbClr val="FF3131"/>
                </a:solidFill>
              </a:rPr>
              <a:t>requests </a:t>
            </a:r>
            <a:r>
              <a:rPr sz="3500" spc="180" dirty="0">
                <a:solidFill>
                  <a:srgbClr val="FF3131"/>
                </a:solidFill>
              </a:rPr>
              <a:t>will</a:t>
            </a:r>
            <a:r>
              <a:rPr sz="3500" spc="-40" dirty="0">
                <a:solidFill>
                  <a:srgbClr val="FF3131"/>
                </a:solidFill>
              </a:rPr>
              <a:t> </a:t>
            </a:r>
            <a:r>
              <a:rPr sz="3500" spc="210" dirty="0">
                <a:solidFill>
                  <a:srgbClr val="FF3131"/>
                </a:solidFill>
              </a:rPr>
              <a:t>be</a:t>
            </a:r>
            <a:r>
              <a:rPr sz="3500" spc="-35" dirty="0">
                <a:solidFill>
                  <a:srgbClr val="FF3131"/>
                </a:solidFill>
              </a:rPr>
              <a:t> </a:t>
            </a:r>
            <a:r>
              <a:rPr sz="3500" spc="150" dirty="0">
                <a:solidFill>
                  <a:srgbClr val="FF3131"/>
                </a:solidFill>
              </a:rPr>
              <a:t>equal</a:t>
            </a:r>
            <a:r>
              <a:rPr sz="3500" spc="-35" dirty="0">
                <a:solidFill>
                  <a:srgbClr val="FF3131"/>
                </a:solidFill>
              </a:rPr>
              <a:t> </a:t>
            </a:r>
            <a:r>
              <a:rPr sz="3500" spc="105" dirty="0">
                <a:solidFill>
                  <a:srgbClr val="FF3131"/>
                </a:solidFill>
              </a:rPr>
              <a:t>to</a:t>
            </a:r>
            <a:r>
              <a:rPr sz="3500" spc="-35" dirty="0">
                <a:solidFill>
                  <a:srgbClr val="FF3131"/>
                </a:solidFill>
              </a:rPr>
              <a:t> </a:t>
            </a:r>
            <a:r>
              <a:rPr sz="3500" spc="150" dirty="0">
                <a:solidFill>
                  <a:srgbClr val="FF3131"/>
                </a:solidFill>
              </a:rPr>
              <a:t>the</a:t>
            </a:r>
            <a:r>
              <a:rPr sz="3500" spc="-35" dirty="0">
                <a:solidFill>
                  <a:srgbClr val="FF3131"/>
                </a:solidFill>
              </a:rPr>
              <a:t> </a:t>
            </a:r>
            <a:r>
              <a:rPr sz="3500" spc="95" dirty="0">
                <a:solidFill>
                  <a:srgbClr val="FF3131"/>
                </a:solidFill>
              </a:rPr>
              <a:t>limit.</a:t>
            </a:r>
            <a:endParaRPr sz="3500"/>
          </a:p>
        </p:txBody>
      </p:sp>
      <p:sp>
        <p:nvSpPr>
          <p:cNvPr id="4" name="object 4"/>
          <p:cNvSpPr txBox="1"/>
          <p:nvPr/>
        </p:nvSpPr>
        <p:spPr>
          <a:xfrm>
            <a:off x="864256" y="8957182"/>
            <a:ext cx="11490960" cy="526415"/>
          </a:xfrm>
          <a:prstGeom prst="rect">
            <a:avLst/>
          </a:prstGeom>
        </p:spPr>
        <p:txBody>
          <a:bodyPr vert="horz" wrap="square" lIns="0" tIns="16510" rIns="0" bIns="0" rtlCol="0">
            <a:spAutoFit/>
          </a:bodyPr>
          <a:lstStyle/>
          <a:p>
            <a:pPr marL="12700">
              <a:lnSpc>
                <a:spcPct val="100000"/>
              </a:lnSpc>
              <a:spcBef>
                <a:spcPts val="130"/>
              </a:spcBef>
              <a:tabLst>
                <a:tab pos="6409055" algn="l"/>
              </a:tabLst>
            </a:pPr>
            <a:r>
              <a:rPr sz="3250" dirty="0">
                <a:solidFill>
                  <a:srgbClr val="2E377E"/>
                </a:solidFill>
                <a:latin typeface="Georgia"/>
                <a:cs typeface="Georgia"/>
              </a:rPr>
              <a:t>Describe</a:t>
            </a:r>
            <a:r>
              <a:rPr sz="3250" spc="15" dirty="0">
                <a:solidFill>
                  <a:srgbClr val="2E377E"/>
                </a:solidFill>
                <a:latin typeface="Georgia"/>
                <a:cs typeface="Georgia"/>
              </a:rPr>
              <a:t> </a:t>
            </a:r>
            <a:r>
              <a:rPr sz="3250" spc="65" dirty="0">
                <a:solidFill>
                  <a:srgbClr val="2E377E"/>
                </a:solidFill>
                <a:latin typeface="Georgia"/>
                <a:cs typeface="Georgia"/>
              </a:rPr>
              <a:t>the</a:t>
            </a:r>
            <a:r>
              <a:rPr sz="3250" spc="15" dirty="0">
                <a:solidFill>
                  <a:srgbClr val="2E377E"/>
                </a:solidFill>
                <a:latin typeface="Georgia"/>
                <a:cs typeface="Georgia"/>
              </a:rPr>
              <a:t> </a:t>
            </a:r>
            <a:r>
              <a:rPr sz="3250" dirty="0">
                <a:solidFill>
                  <a:srgbClr val="2E377E"/>
                </a:solidFill>
                <a:latin typeface="Georgia"/>
                <a:cs typeface="Georgia"/>
              </a:rPr>
              <a:t>pod</a:t>
            </a:r>
            <a:r>
              <a:rPr sz="3250" spc="20" dirty="0">
                <a:solidFill>
                  <a:srgbClr val="2E377E"/>
                </a:solidFill>
                <a:latin typeface="Georgia"/>
                <a:cs typeface="Georgia"/>
              </a:rPr>
              <a:t> </a:t>
            </a:r>
            <a:r>
              <a:rPr sz="3250" dirty="0">
                <a:solidFill>
                  <a:srgbClr val="2E377E"/>
                </a:solidFill>
                <a:latin typeface="Georgia"/>
                <a:cs typeface="Georgia"/>
              </a:rPr>
              <a:t>and</a:t>
            </a:r>
            <a:r>
              <a:rPr sz="3250" spc="15" dirty="0">
                <a:solidFill>
                  <a:srgbClr val="2E377E"/>
                </a:solidFill>
                <a:latin typeface="Georgia"/>
                <a:cs typeface="Georgia"/>
              </a:rPr>
              <a:t> </a:t>
            </a:r>
            <a:r>
              <a:rPr sz="3250" spc="100" dirty="0">
                <a:solidFill>
                  <a:srgbClr val="2E377E"/>
                </a:solidFill>
                <a:latin typeface="Georgia"/>
                <a:cs typeface="Georgia"/>
              </a:rPr>
              <a:t>you</a:t>
            </a:r>
            <a:r>
              <a:rPr sz="3250" spc="15" dirty="0">
                <a:solidFill>
                  <a:srgbClr val="2E377E"/>
                </a:solidFill>
                <a:latin typeface="Georgia"/>
                <a:cs typeface="Georgia"/>
              </a:rPr>
              <a:t> </a:t>
            </a:r>
            <a:r>
              <a:rPr sz="3250" spc="55" dirty="0">
                <a:solidFill>
                  <a:srgbClr val="2E377E"/>
                </a:solidFill>
                <a:latin typeface="Georgia"/>
                <a:cs typeface="Georgia"/>
              </a:rPr>
              <a:t>will</a:t>
            </a:r>
            <a:r>
              <a:rPr sz="3250" spc="20" dirty="0">
                <a:solidFill>
                  <a:srgbClr val="2E377E"/>
                </a:solidFill>
                <a:latin typeface="Georgia"/>
                <a:cs typeface="Georgia"/>
              </a:rPr>
              <a:t> </a:t>
            </a:r>
            <a:r>
              <a:rPr sz="3250" spc="50" dirty="0">
                <a:solidFill>
                  <a:srgbClr val="2E377E"/>
                </a:solidFill>
                <a:latin typeface="Georgia"/>
                <a:cs typeface="Georgia"/>
              </a:rPr>
              <a:t>get</a:t>
            </a:r>
            <a:r>
              <a:rPr sz="3250" dirty="0">
                <a:solidFill>
                  <a:srgbClr val="2E377E"/>
                </a:solidFill>
                <a:latin typeface="Georgia"/>
                <a:cs typeface="Georgia"/>
              </a:rPr>
              <a:t>	</a:t>
            </a:r>
            <a:r>
              <a:rPr sz="3250" spc="65" dirty="0">
                <a:solidFill>
                  <a:srgbClr val="2E377E"/>
                </a:solidFill>
                <a:latin typeface="Georgia"/>
                <a:cs typeface="Georgia"/>
              </a:rPr>
              <a:t>only</a:t>
            </a:r>
            <a:r>
              <a:rPr sz="3250" spc="30" dirty="0">
                <a:solidFill>
                  <a:srgbClr val="2E377E"/>
                </a:solidFill>
                <a:latin typeface="Georgia"/>
                <a:cs typeface="Georgia"/>
              </a:rPr>
              <a:t> </a:t>
            </a:r>
            <a:r>
              <a:rPr sz="3250" dirty="0">
                <a:solidFill>
                  <a:srgbClr val="2E377E"/>
                </a:solidFill>
                <a:latin typeface="Georgia"/>
                <a:cs typeface="Georgia"/>
              </a:rPr>
              <a:t>limits</a:t>
            </a:r>
            <a:r>
              <a:rPr sz="3250" spc="30" dirty="0">
                <a:solidFill>
                  <a:srgbClr val="2E377E"/>
                </a:solidFill>
                <a:latin typeface="Georgia"/>
                <a:cs typeface="Georgia"/>
              </a:rPr>
              <a:t> </a:t>
            </a:r>
            <a:r>
              <a:rPr sz="3250" dirty="0">
                <a:solidFill>
                  <a:srgbClr val="2E377E"/>
                </a:solidFill>
                <a:latin typeface="Georgia"/>
                <a:cs typeface="Georgia"/>
              </a:rPr>
              <a:t>of</a:t>
            </a:r>
            <a:r>
              <a:rPr sz="3250" spc="30" dirty="0">
                <a:solidFill>
                  <a:srgbClr val="2E377E"/>
                </a:solidFill>
                <a:latin typeface="Georgia"/>
                <a:cs typeface="Georgia"/>
              </a:rPr>
              <a:t> </a:t>
            </a:r>
            <a:r>
              <a:rPr sz="3250" spc="65" dirty="0">
                <a:solidFill>
                  <a:srgbClr val="2E377E"/>
                </a:solidFill>
                <a:latin typeface="Georgia"/>
                <a:cs typeface="Georgia"/>
              </a:rPr>
              <a:t>the</a:t>
            </a:r>
            <a:r>
              <a:rPr sz="3250" spc="30" dirty="0">
                <a:solidFill>
                  <a:srgbClr val="2E377E"/>
                </a:solidFill>
                <a:latin typeface="Georgia"/>
                <a:cs typeface="Georgia"/>
              </a:rPr>
              <a:t> </a:t>
            </a:r>
            <a:r>
              <a:rPr sz="3250" spc="-10" dirty="0">
                <a:solidFill>
                  <a:srgbClr val="2E377E"/>
                </a:solidFill>
                <a:latin typeface="Georgia"/>
                <a:cs typeface="Georgia"/>
              </a:rPr>
              <a:t>container</a:t>
            </a:r>
            <a:endParaRPr sz="3250">
              <a:latin typeface="Georgia"/>
              <a:cs typeface="Georgi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49732" y="1854443"/>
            <a:ext cx="7896224" cy="5438774"/>
          </a:xfrm>
          <a:prstGeom prst="rect">
            <a:avLst/>
          </a:prstGeom>
        </p:spPr>
      </p:pic>
      <p:pic>
        <p:nvPicPr>
          <p:cNvPr id="3" name="object 3"/>
          <p:cNvPicPr/>
          <p:nvPr/>
        </p:nvPicPr>
        <p:blipFill>
          <a:blip r:embed="rId3" cstate="print"/>
          <a:stretch>
            <a:fillRect/>
          </a:stretch>
        </p:blipFill>
        <p:spPr>
          <a:xfrm>
            <a:off x="404162" y="8887857"/>
            <a:ext cx="17097374" cy="933449"/>
          </a:xfrm>
          <a:prstGeom prst="rect">
            <a:avLst/>
          </a:prstGeom>
        </p:spPr>
      </p:pic>
      <p:sp>
        <p:nvSpPr>
          <p:cNvPr id="4" name="object 4"/>
          <p:cNvSpPr txBox="1">
            <a:spLocks noGrp="1"/>
          </p:cNvSpPr>
          <p:nvPr>
            <p:ph type="title"/>
          </p:nvPr>
        </p:nvSpPr>
        <p:spPr>
          <a:xfrm>
            <a:off x="676069" y="338246"/>
            <a:ext cx="7901940" cy="1380490"/>
          </a:xfrm>
          <a:prstGeom prst="rect">
            <a:avLst/>
          </a:prstGeom>
        </p:spPr>
        <p:txBody>
          <a:bodyPr vert="horz" wrap="square" lIns="0" tIns="67945" rIns="0" bIns="0" rtlCol="0">
            <a:spAutoFit/>
          </a:bodyPr>
          <a:lstStyle/>
          <a:p>
            <a:pPr marL="12700">
              <a:lnSpc>
                <a:spcPct val="100000"/>
              </a:lnSpc>
              <a:spcBef>
                <a:spcPts val="535"/>
              </a:spcBef>
            </a:pPr>
            <a:r>
              <a:rPr spc="185" dirty="0">
                <a:solidFill>
                  <a:srgbClr val="FF3131"/>
                </a:solidFill>
              </a:rPr>
              <a:t>Hands</a:t>
            </a:r>
            <a:r>
              <a:rPr spc="-45" dirty="0">
                <a:solidFill>
                  <a:srgbClr val="FF3131"/>
                </a:solidFill>
              </a:rPr>
              <a:t> </a:t>
            </a:r>
            <a:r>
              <a:rPr spc="355" dirty="0">
                <a:solidFill>
                  <a:srgbClr val="FF3131"/>
                </a:solidFill>
              </a:rPr>
              <a:t>on</a:t>
            </a:r>
            <a:r>
              <a:rPr spc="-45" dirty="0">
                <a:solidFill>
                  <a:srgbClr val="FF3131"/>
                </a:solidFill>
              </a:rPr>
              <a:t> </a:t>
            </a:r>
            <a:r>
              <a:rPr spc="-400" dirty="0">
                <a:solidFill>
                  <a:srgbClr val="FF3131"/>
                </a:solidFill>
              </a:rPr>
              <a:t>:</a:t>
            </a:r>
            <a:r>
              <a:rPr spc="-45" dirty="0">
                <a:solidFill>
                  <a:srgbClr val="FF3131"/>
                </a:solidFill>
              </a:rPr>
              <a:t> </a:t>
            </a:r>
            <a:r>
              <a:rPr spc="150" dirty="0">
                <a:solidFill>
                  <a:srgbClr val="FF3131"/>
                </a:solidFill>
              </a:rPr>
              <a:t>Resource</a:t>
            </a:r>
            <a:r>
              <a:rPr spc="-40" dirty="0">
                <a:solidFill>
                  <a:srgbClr val="FF3131"/>
                </a:solidFill>
              </a:rPr>
              <a:t> </a:t>
            </a:r>
            <a:r>
              <a:rPr spc="80" dirty="0">
                <a:solidFill>
                  <a:srgbClr val="FF3131"/>
                </a:solidFill>
              </a:rPr>
              <a:t>Quota</a:t>
            </a:r>
          </a:p>
          <a:p>
            <a:pPr marL="2818765">
              <a:lnSpc>
                <a:spcPct val="100000"/>
              </a:lnSpc>
              <a:spcBef>
                <a:spcPts val="325"/>
              </a:spcBef>
            </a:pPr>
            <a:r>
              <a:rPr sz="3250" b="0" spc="55" dirty="0">
                <a:solidFill>
                  <a:srgbClr val="2E377E"/>
                </a:solidFill>
                <a:latin typeface="Georgia"/>
                <a:cs typeface="Georgia"/>
              </a:rPr>
              <a:t>create</a:t>
            </a:r>
            <a:r>
              <a:rPr sz="3250" b="0" spc="-50" dirty="0">
                <a:solidFill>
                  <a:srgbClr val="2E377E"/>
                </a:solidFill>
                <a:latin typeface="Georgia"/>
                <a:cs typeface="Georgia"/>
              </a:rPr>
              <a:t> </a:t>
            </a:r>
            <a:r>
              <a:rPr sz="3250" b="0" dirty="0">
                <a:solidFill>
                  <a:srgbClr val="2E377E"/>
                </a:solidFill>
                <a:latin typeface="Georgia"/>
                <a:cs typeface="Georgia"/>
              </a:rPr>
              <a:t>a</a:t>
            </a:r>
            <a:r>
              <a:rPr sz="3250" b="0" spc="-50" dirty="0">
                <a:solidFill>
                  <a:srgbClr val="2E377E"/>
                </a:solidFill>
                <a:latin typeface="Georgia"/>
                <a:cs typeface="Georgia"/>
              </a:rPr>
              <a:t> </a:t>
            </a:r>
            <a:r>
              <a:rPr sz="3250" b="0" spc="-10" dirty="0">
                <a:solidFill>
                  <a:srgbClr val="2E377E"/>
                </a:solidFill>
                <a:latin typeface="Georgia"/>
                <a:cs typeface="Georgia"/>
              </a:rPr>
              <a:t>ResourceQuota:</a:t>
            </a:r>
            <a:endParaRPr sz="3250">
              <a:latin typeface="Georgia"/>
              <a:cs typeface="Georgia"/>
            </a:endParaRPr>
          </a:p>
        </p:txBody>
      </p:sp>
      <p:sp>
        <p:nvSpPr>
          <p:cNvPr id="5" name="object 5"/>
          <p:cNvSpPr txBox="1"/>
          <p:nvPr/>
        </p:nvSpPr>
        <p:spPr>
          <a:xfrm>
            <a:off x="533194" y="7243191"/>
            <a:ext cx="8195945" cy="1249680"/>
          </a:xfrm>
          <a:prstGeom prst="rect">
            <a:avLst/>
          </a:prstGeom>
        </p:spPr>
        <p:txBody>
          <a:bodyPr vert="horz" wrap="square" lIns="0" tIns="128270" rIns="0" bIns="0" rtlCol="0">
            <a:spAutoFit/>
          </a:bodyPr>
          <a:lstStyle/>
          <a:p>
            <a:pPr marR="619760" algn="ctr">
              <a:lnSpc>
                <a:spcPct val="100000"/>
              </a:lnSpc>
              <a:spcBef>
                <a:spcPts val="1010"/>
              </a:spcBef>
            </a:pPr>
            <a:r>
              <a:rPr sz="3250" spc="155" dirty="0">
                <a:solidFill>
                  <a:srgbClr val="2E377E"/>
                </a:solidFill>
                <a:latin typeface="Times New Roman"/>
                <a:cs typeface="Times New Roman"/>
              </a:rPr>
              <a:t>rq.yml</a:t>
            </a:r>
            <a:endParaRPr sz="3250">
              <a:latin typeface="Times New Roman"/>
              <a:cs typeface="Times New Roman"/>
            </a:endParaRPr>
          </a:p>
          <a:p>
            <a:pPr marL="12700">
              <a:lnSpc>
                <a:spcPct val="100000"/>
              </a:lnSpc>
              <a:spcBef>
                <a:spcPts val="920"/>
              </a:spcBef>
            </a:pPr>
            <a:r>
              <a:rPr sz="3250" dirty="0">
                <a:solidFill>
                  <a:srgbClr val="2E377E"/>
                </a:solidFill>
                <a:latin typeface="Georgia"/>
                <a:cs typeface="Georgia"/>
              </a:rPr>
              <a:t>To</a:t>
            </a:r>
            <a:r>
              <a:rPr sz="3250" spc="-40" dirty="0">
                <a:solidFill>
                  <a:srgbClr val="2E377E"/>
                </a:solidFill>
                <a:latin typeface="Georgia"/>
                <a:cs typeface="Georgia"/>
              </a:rPr>
              <a:t> </a:t>
            </a:r>
            <a:r>
              <a:rPr sz="3250" spc="50" dirty="0">
                <a:solidFill>
                  <a:srgbClr val="2E377E"/>
                </a:solidFill>
                <a:latin typeface="Georgia"/>
                <a:cs typeface="Georgia"/>
              </a:rPr>
              <a:t>see</a:t>
            </a:r>
            <a:r>
              <a:rPr sz="3250" spc="-35" dirty="0">
                <a:solidFill>
                  <a:srgbClr val="2E377E"/>
                </a:solidFill>
                <a:latin typeface="Georgia"/>
                <a:cs typeface="Georgia"/>
              </a:rPr>
              <a:t> </a:t>
            </a:r>
            <a:r>
              <a:rPr sz="3250" dirty="0">
                <a:solidFill>
                  <a:srgbClr val="2E377E"/>
                </a:solidFill>
                <a:latin typeface="Georgia"/>
                <a:cs typeface="Georgia"/>
              </a:rPr>
              <a:t>list</a:t>
            </a:r>
            <a:r>
              <a:rPr sz="3250" spc="-35" dirty="0">
                <a:solidFill>
                  <a:srgbClr val="2E377E"/>
                </a:solidFill>
                <a:latin typeface="Georgia"/>
                <a:cs typeface="Georgia"/>
              </a:rPr>
              <a:t> </a:t>
            </a:r>
            <a:r>
              <a:rPr sz="3250" dirty="0">
                <a:solidFill>
                  <a:srgbClr val="2E377E"/>
                </a:solidFill>
                <a:latin typeface="Georgia"/>
                <a:cs typeface="Georgia"/>
              </a:rPr>
              <a:t>of</a:t>
            </a:r>
            <a:r>
              <a:rPr sz="3250" spc="-35" dirty="0">
                <a:solidFill>
                  <a:srgbClr val="2E377E"/>
                </a:solidFill>
                <a:latin typeface="Georgia"/>
                <a:cs typeface="Georgia"/>
              </a:rPr>
              <a:t> </a:t>
            </a:r>
            <a:r>
              <a:rPr sz="3250" dirty="0">
                <a:solidFill>
                  <a:srgbClr val="2E377E"/>
                </a:solidFill>
                <a:latin typeface="Georgia"/>
                <a:cs typeface="Georgia"/>
              </a:rPr>
              <a:t>RQ</a:t>
            </a:r>
            <a:r>
              <a:rPr sz="3250" spc="-40" dirty="0">
                <a:solidFill>
                  <a:srgbClr val="2E377E"/>
                </a:solidFill>
                <a:latin typeface="Georgia"/>
                <a:cs typeface="Georgia"/>
              </a:rPr>
              <a:t> </a:t>
            </a:r>
            <a:r>
              <a:rPr sz="3250" spc="-210" dirty="0">
                <a:solidFill>
                  <a:srgbClr val="2E377E"/>
                </a:solidFill>
                <a:latin typeface="Georgia"/>
                <a:cs typeface="Georgia"/>
              </a:rPr>
              <a:t>:</a:t>
            </a:r>
            <a:r>
              <a:rPr sz="3250" spc="-35" dirty="0">
                <a:solidFill>
                  <a:srgbClr val="2E377E"/>
                </a:solidFill>
                <a:latin typeface="Georgia"/>
                <a:cs typeface="Georgia"/>
              </a:rPr>
              <a:t> </a:t>
            </a:r>
            <a:r>
              <a:rPr sz="3250" spc="60" dirty="0">
                <a:solidFill>
                  <a:srgbClr val="E7181F"/>
                </a:solidFill>
                <a:latin typeface="Georgia"/>
                <a:cs typeface="Georgia"/>
              </a:rPr>
              <a:t>kubectl</a:t>
            </a:r>
            <a:r>
              <a:rPr sz="3250" spc="-35" dirty="0">
                <a:solidFill>
                  <a:srgbClr val="E7181F"/>
                </a:solidFill>
                <a:latin typeface="Georgia"/>
                <a:cs typeface="Georgia"/>
              </a:rPr>
              <a:t> </a:t>
            </a:r>
            <a:r>
              <a:rPr sz="3250" spc="75" dirty="0">
                <a:solidFill>
                  <a:srgbClr val="E7181F"/>
                </a:solidFill>
                <a:latin typeface="Georgia"/>
                <a:cs typeface="Georgia"/>
              </a:rPr>
              <a:t>get</a:t>
            </a:r>
            <a:r>
              <a:rPr sz="3250" spc="-35" dirty="0">
                <a:solidFill>
                  <a:srgbClr val="E7181F"/>
                </a:solidFill>
                <a:latin typeface="Georgia"/>
                <a:cs typeface="Georgia"/>
              </a:rPr>
              <a:t> </a:t>
            </a:r>
            <a:r>
              <a:rPr sz="3250" spc="35" dirty="0">
                <a:solidFill>
                  <a:srgbClr val="E7181F"/>
                </a:solidFill>
                <a:latin typeface="Georgia"/>
                <a:cs typeface="Georgia"/>
              </a:rPr>
              <a:t>resourcequota</a:t>
            </a:r>
            <a:endParaRPr sz="3250">
              <a:latin typeface="Georgia"/>
              <a:cs typeface="Georgia"/>
            </a:endParaRPr>
          </a:p>
        </p:txBody>
      </p:sp>
      <p:sp>
        <p:nvSpPr>
          <p:cNvPr id="6" name="object 6"/>
          <p:cNvSpPr txBox="1"/>
          <p:nvPr/>
        </p:nvSpPr>
        <p:spPr>
          <a:xfrm>
            <a:off x="9946864" y="2803694"/>
            <a:ext cx="6454775" cy="1768475"/>
          </a:xfrm>
          <a:prstGeom prst="rect">
            <a:avLst/>
          </a:prstGeom>
        </p:spPr>
        <p:txBody>
          <a:bodyPr vert="horz" wrap="square" lIns="0" tIns="11430" rIns="0" bIns="0" rtlCol="0">
            <a:spAutoFit/>
          </a:bodyPr>
          <a:lstStyle/>
          <a:p>
            <a:pPr marL="12700" marR="5080" algn="just">
              <a:lnSpc>
                <a:spcPct val="117300"/>
              </a:lnSpc>
              <a:spcBef>
                <a:spcPts val="90"/>
              </a:spcBef>
            </a:pPr>
            <a:r>
              <a:rPr sz="3250" dirty="0">
                <a:solidFill>
                  <a:srgbClr val="2E377E"/>
                </a:solidFill>
                <a:latin typeface="Georgia"/>
                <a:cs typeface="Georgia"/>
              </a:rPr>
              <a:t>That</a:t>
            </a:r>
            <a:r>
              <a:rPr sz="3250" spc="10" dirty="0">
                <a:solidFill>
                  <a:srgbClr val="2E377E"/>
                </a:solidFill>
                <a:latin typeface="Georgia"/>
                <a:cs typeface="Georgia"/>
              </a:rPr>
              <a:t> </a:t>
            </a:r>
            <a:r>
              <a:rPr sz="3250" dirty="0">
                <a:solidFill>
                  <a:srgbClr val="2E377E"/>
                </a:solidFill>
                <a:latin typeface="Georgia"/>
                <a:cs typeface="Georgia"/>
              </a:rPr>
              <a:t>means</a:t>
            </a:r>
            <a:r>
              <a:rPr sz="3250" spc="5" dirty="0">
                <a:solidFill>
                  <a:srgbClr val="2E377E"/>
                </a:solidFill>
                <a:latin typeface="Georgia"/>
                <a:cs typeface="Georgia"/>
              </a:rPr>
              <a:t> </a:t>
            </a:r>
            <a:r>
              <a:rPr sz="3250" spc="90" dirty="0">
                <a:solidFill>
                  <a:srgbClr val="2E377E"/>
                </a:solidFill>
                <a:latin typeface="Georgia"/>
                <a:cs typeface="Georgia"/>
              </a:rPr>
              <a:t>now</a:t>
            </a:r>
            <a:r>
              <a:rPr sz="3250" spc="10" dirty="0">
                <a:solidFill>
                  <a:srgbClr val="2E377E"/>
                </a:solidFill>
                <a:latin typeface="Georgia"/>
                <a:cs typeface="Georgia"/>
              </a:rPr>
              <a:t> </a:t>
            </a:r>
            <a:r>
              <a:rPr sz="3250" spc="135" dirty="0">
                <a:solidFill>
                  <a:srgbClr val="2E377E"/>
                </a:solidFill>
                <a:latin typeface="Georgia"/>
                <a:cs typeface="Georgia"/>
              </a:rPr>
              <a:t>we</a:t>
            </a:r>
            <a:r>
              <a:rPr sz="3250" spc="5" dirty="0">
                <a:solidFill>
                  <a:srgbClr val="2E377E"/>
                </a:solidFill>
                <a:latin typeface="Georgia"/>
                <a:cs typeface="Georgia"/>
              </a:rPr>
              <a:t> </a:t>
            </a:r>
            <a:r>
              <a:rPr sz="3250" dirty="0">
                <a:solidFill>
                  <a:srgbClr val="2E377E"/>
                </a:solidFill>
                <a:latin typeface="Georgia"/>
                <a:cs typeface="Georgia"/>
              </a:rPr>
              <a:t>can</a:t>
            </a:r>
            <a:r>
              <a:rPr sz="3250" spc="10" dirty="0">
                <a:solidFill>
                  <a:srgbClr val="2E377E"/>
                </a:solidFill>
                <a:latin typeface="Georgia"/>
                <a:cs typeface="Georgia"/>
              </a:rPr>
              <a:t> </a:t>
            </a:r>
            <a:r>
              <a:rPr sz="3250" spc="55" dirty="0">
                <a:solidFill>
                  <a:srgbClr val="2E377E"/>
                </a:solidFill>
                <a:latin typeface="Georgia"/>
                <a:cs typeface="Georgia"/>
              </a:rPr>
              <a:t>create</a:t>
            </a:r>
            <a:r>
              <a:rPr sz="3250" spc="10" dirty="0">
                <a:solidFill>
                  <a:srgbClr val="2E377E"/>
                </a:solidFill>
                <a:latin typeface="Georgia"/>
                <a:cs typeface="Georgia"/>
              </a:rPr>
              <a:t> </a:t>
            </a:r>
            <a:r>
              <a:rPr sz="3250" spc="40" dirty="0">
                <a:solidFill>
                  <a:srgbClr val="2E377E"/>
                </a:solidFill>
                <a:latin typeface="Georgia"/>
                <a:cs typeface="Georgia"/>
              </a:rPr>
              <a:t>the </a:t>
            </a:r>
            <a:r>
              <a:rPr sz="3250" dirty="0">
                <a:solidFill>
                  <a:srgbClr val="2E377E"/>
                </a:solidFill>
                <a:latin typeface="Georgia"/>
                <a:cs typeface="Georgia"/>
              </a:rPr>
              <a:t>pods</a:t>
            </a:r>
            <a:r>
              <a:rPr sz="3250" spc="25" dirty="0">
                <a:solidFill>
                  <a:srgbClr val="2E377E"/>
                </a:solidFill>
                <a:latin typeface="Georgia"/>
                <a:cs typeface="Georgia"/>
              </a:rPr>
              <a:t> </a:t>
            </a:r>
            <a:r>
              <a:rPr sz="3250" spc="65" dirty="0">
                <a:solidFill>
                  <a:srgbClr val="2E377E"/>
                </a:solidFill>
                <a:latin typeface="Georgia"/>
                <a:cs typeface="Georgia"/>
              </a:rPr>
              <a:t>within</a:t>
            </a:r>
            <a:r>
              <a:rPr sz="3250" spc="40" dirty="0">
                <a:solidFill>
                  <a:srgbClr val="2E377E"/>
                </a:solidFill>
                <a:latin typeface="Georgia"/>
                <a:cs typeface="Georgia"/>
              </a:rPr>
              <a:t> </a:t>
            </a:r>
            <a:r>
              <a:rPr sz="3250" spc="55" dirty="0">
                <a:solidFill>
                  <a:srgbClr val="2E377E"/>
                </a:solidFill>
                <a:latin typeface="Georgia"/>
                <a:cs typeface="Georgia"/>
              </a:rPr>
              <a:t>these</a:t>
            </a:r>
            <a:r>
              <a:rPr sz="3250" spc="40" dirty="0">
                <a:solidFill>
                  <a:srgbClr val="2E377E"/>
                </a:solidFill>
                <a:latin typeface="Georgia"/>
                <a:cs typeface="Georgia"/>
              </a:rPr>
              <a:t> </a:t>
            </a:r>
            <a:r>
              <a:rPr sz="3250" dirty="0">
                <a:solidFill>
                  <a:srgbClr val="2E377E"/>
                </a:solidFill>
                <a:latin typeface="Georgia"/>
                <a:cs typeface="Georgia"/>
              </a:rPr>
              <a:t>limits</a:t>
            </a:r>
            <a:r>
              <a:rPr sz="3250" spc="45" dirty="0">
                <a:solidFill>
                  <a:srgbClr val="2E377E"/>
                </a:solidFill>
                <a:latin typeface="Georgia"/>
                <a:cs typeface="Georgia"/>
              </a:rPr>
              <a:t> </a:t>
            </a:r>
            <a:r>
              <a:rPr sz="3250" dirty="0">
                <a:solidFill>
                  <a:srgbClr val="2E377E"/>
                </a:solidFill>
                <a:latin typeface="Georgia"/>
                <a:cs typeface="Georgia"/>
              </a:rPr>
              <a:t>in</a:t>
            </a:r>
            <a:r>
              <a:rPr sz="3250" spc="40" dirty="0">
                <a:solidFill>
                  <a:srgbClr val="2E377E"/>
                </a:solidFill>
                <a:latin typeface="Georgia"/>
                <a:cs typeface="Georgia"/>
              </a:rPr>
              <a:t> </a:t>
            </a:r>
            <a:r>
              <a:rPr sz="3250" spc="35" dirty="0">
                <a:solidFill>
                  <a:srgbClr val="2E377E"/>
                </a:solidFill>
                <a:latin typeface="Georgia"/>
                <a:cs typeface="Georgia"/>
              </a:rPr>
              <a:t>default </a:t>
            </a:r>
            <a:r>
              <a:rPr sz="3250" spc="-10" dirty="0">
                <a:solidFill>
                  <a:srgbClr val="2E377E"/>
                </a:solidFill>
                <a:latin typeface="Georgia"/>
                <a:cs typeface="Georgia"/>
              </a:rPr>
              <a:t>namespace</a:t>
            </a:r>
            <a:endParaRPr sz="3250">
              <a:latin typeface="Georgia"/>
              <a:cs typeface="Georgi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28700" y="1289083"/>
            <a:ext cx="4981574" cy="5867399"/>
          </a:xfrm>
          <a:prstGeom prst="rect">
            <a:avLst/>
          </a:prstGeom>
        </p:spPr>
      </p:pic>
      <p:pic>
        <p:nvPicPr>
          <p:cNvPr id="3" name="object 3"/>
          <p:cNvPicPr/>
          <p:nvPr/>
        </p:nvPicPr>
        <p:blipFill>
          <a:blip r:embed="rId3" cstate="print"/>
          <a:stretch>
            <a:fillRect/>
          </a:stretch>
        </p:blipFill>
        <p:spPr>
          <a:xfrm>
            <a:off x="1028700" y="8948522"/>
            <a:ext cx="16668749" cy="933449"/>
          </a:xfrm>
          <a:prstGeom prst="rect">
            <a:avLst/>
          </a:prstGeom>
        </p:spPr>
      </p:pic>
      <p:sp>
        <p:nvSpPr>
          <p:cNvPr id="4" name="object 4"/>
          <p:cNvSpPr txBox="1"/>
          <p:nvPr/>
        </p:nvSpPr>
        <p:spPr>
          <a:xfrm>
            <a:off x="1016000" y="7090616"/>
            <a:ext cx="8195945" cy="1576705"/>
          </a:xfrm>
          <a:prstGeom prst="rect">
            <a:avLst/>
          </a:prstGeom>
        </p:spPr>
        <p:txBody>
          <a:bodyPr vert="horz" wrap="square" lIns="0" tIns="292100" rIns="0" bIns="0" rtlCol="0">
            <a:spAutoFit/>
          </a:bodyPr>
          <a:lstStyle/>
          <a:p>
            <a:pPr marL="12700">
              <a:lnSpc>
                <a:spcPct val="100000"/>
              </a:lnSpc>
              <a:spcBef>
                <a:spcPts val="2300"/>
              </a:spcBef>
            </a:pPr>
            <a:r>
              <a:rPr sz="3250" spc="165" dirty="0">
                <a:solidFill>
                  <a:srgbClr val="2E377E"/>
                </a:solidFill>
                <a:latin typeface="Times New Roman"/>
                <a:cs typeface="Times New Roman"/>
              </a:rPr>
              <a:t>pod.yml</a:t>
            </a:r>
            <a:endParaRPr sz="3250">
              <a:latin typeface="Times New Roman"/>
              <a:cs typeface="Times New Roman"/>
            </a:endParaRPr>
          </a:p>
          <a:p>
            <a:pPr marL="12700">
              <a:lnSpc>
                <a:spcPct val="100000"/>
              </a:lnSpc>
              <a:spcBef>
                <a:spcPts val="2205"/>
              </a:spcBef>
            </a:pPr>
            <a:r>
              <a:rPr sz="3250" dirty="0">
                <a:solidFill>
                  <a:srgbClr val="2E377E"/>
                </a:solidFill>
                <a:latin typeface="Georgia"/>
                <a:cs typeface="Georgia"/>
              </a:rPr>
              <a:t>To</a:t>
            </a:r>
            <a:r>
              <a:rPr sz="3250" spc="-40" dirty="0">
                <a:solidFill>
                  <a:srgbClr val="2E377E"/>
                </a:solidFill>
                <a:latin typeface="Georgia"/>
                <a:cs typeface="Georgia"/>
              </a:rPr>
              <a:t> </a:t>
            </a:r>
            <a:r>
              <a:rPr sz="3250" spc="50" dirty="0">
                <a:solidFill>
                  <a:srgbClr val="2E377E"/>
                </a:solidFill>
                <a:latin typeface="Georgia"/>
                <a:cs typeface="Georgia"/>
              </a:rPr>
              <a:t>see</a:t>
            </a:r>
            <a:r>
              <a:rPr sz="3250" spc="-35" dirty="0">
                <a:solidFill>
                  <a:srgbClr val="2E377E"/>
                </a:solidFill>
                <a:latin typeface="Georgia"/>
                <a:cs typeface="Georgia"/>
              </a:rPr>
              <a:t> </a:t>
            </a:r>
            <a:r>
              <a:rPr sz="3250" dirty="0">
                <a:solidFill>
                  <a:srgbClr val="2E377E"/>
                </a:solidFill>
                <a:latin typeface="Georgia"/>
                <a:cs typeface="Georgia"/>
              </a:rPr>
              <a:t>list</a:t>
            </a:r>
            <a:r>
              <a:rPr sz="3250" spc="-35" dirty="0">
                <a:solidFill>
                  <a:srgbClr val="2E377E"/>
                </a:solidFill>
                <a:latin typeface="Georgia"/>
                <a:cs typeface="Georgia"/>
              </a:rPr>
              <a:t> </a:t>
            </a:r>
            <a:r>
              <a:rPr sz="3250" dirty="0">
                <a:solidFill>
                  <a:srgbClr val="2E377E"/>
                </a:solidFill>
                <a:latin typeface="Georgia"/>
                <a:cs typeface="Georgia"/>
              </a:rPr>
              <a:t>of</a:t>
            </a:r>
            <a:r>
              <a:rPr sz="3250" spc="-35" dirty="0">
                <a:solidFill>
                  <a:srgbClr val="2E377E"/>
                </a:solidFill>
                <a:latin typeface="Georgia"/>
                <a:cs typeface="Georgia"/>
              </a:rPr>
              <a:t> </a:t>
            </a:r>
            <a:r>
              <a:rPr sz="3250" dirty="0">
                <a:solidFill>
                  <a:srgbClr val="2E377E"/>
                </a:solidFill>
                <a:latin typeface="Georgia"/>
                <a:cs typeface="Georgia"/>
              </a:rPr>
              <a:t>RQ</a:t>
            </a:r>
            <a:r>
              <a:rPr sz="3250" spc="-40" dirty="0">
                <a:solidFill>
                  <a:srgbClr val="2E377E"/>
                </a:solidFill>
                <a:latin typeface="Georgia"/>
                <a:cs typeface="Georgia"/>
              </a:rPr>
              <a:t> </a:t>
            </a:r>
            <a:r>
              <a:rPr sz="3250" spc="-210" dirty="0">
                <a:solidFill>
                  <a:srgbClr val="2E377E"/>
                </a:solidFill>
                <a:latin typeface="Georgia"/>
                <a:cs typeface="Georgia"/>
              </a:rPr>
              <a:t>:</a:t>
            </a:r>
            <a:r>
              <a:rPr sz="3250" spc="-35" dirty="0">
                <a:solidFill>
                  <a:srgbClr val="2E377E"/>
                </a:solidFill>
                <a:latin typeface="Georgia"/>
                <a:cs typeface="Georgia"/>
              </a:rPr>
              <a:t> </a:t>
            </a:r>
            <a:r>
              <a:rPr sz="3250" spc="60" dirty="0">
                <a:solidFill>
                  <a:srgbClr val="E7181F"/>
                </a:solidFill>
                <a:latin typeface="Georgia"/>
                <a:cs typeface="Georgia"/>
              </a:rPr>
              <a:t>kubectl</a:t>
            </a:r>
            <a:r>
              <a:rPr sz="3250" spc="-35" dirty="0">
                <a:solidFill>
                  <a:srgbClr val="E7181F"/>
                </a:solidFill>
                <a:latin typeface="Georgia"/>
                <a:cs typeface="Georgia"/>
              </a:rPr>
              <a:t> </a:t>
            </a:r>
            <a:r>
              <a:rPr sz="3250" spc="75" dirty="0">
                <a:solidFill>
                  <a:srgbClr val="E7181F"/>
                </a:solidFill>
                <a:latin typeface="Georgia"/>
                <a:cs typeface="Georgia"/>
              </a:rPr>
              <a:t>get</a:t>
            </a:r>
            <a:r>
              <a:rPr sz="3250" spc="-35" dirty="0">
                <a:solidFill>
                  <a:srgbClr val="E7181F"/>
                </a:solidFill>
                <a:latin typeface="Georgia"/>
                <a:cs typeface="Georgia"/>
              </a:rPr>
              <a:t> </a:t>
            </a:r>
            <a:r>
              <a:rPr sz="3250" spc="35" dirty="0">
                <a:solidFill>
                  <a:srgbClr val="E7181F"/>
                </a:solidFill>
                <a:latin typeface="Georgia"/>
                <a:cs typeface="Georgia"/>
              </a:rPr>
              <a:t>resourcequota</a:t>
            </a:r>
            <a:endParaRPr sz="3250">
              <a:latin typeface="Georgia"/>
              <a:cs typeface="Georgia"/>
            </a:endParaRPr>
          </a:p>
        </p:txBody>
      </p:sp>
      <p:sp>
        <p:nvSpPr>
          <p:cNvPr id="5" name="object 5"/>
          <p:cNvSpPr txBox="1"/>
          <p:nvPr/>
        </p:nvSpPr>
        <p:spPr>
          <a:xfrm>
            <a:off x="1016000" y="478771"/>
            <a:ext cx="14345919" cy="2147570"/>
          </a:xfrm>
          <a:prstGeom prst="rect">
            <a:avLst/>
          </a:prstGeom>
        </p:spPr>
        <p:txBody>
          <a:bodyPr vert="horz" wrap="square" lIns="0" tIns="16510" rIns="0" bIns="0" rtlCol="0">
            <a:spAutoFit/>
          </a:bodyPr>
          <a:lstStyle/>
          <a:p>
            <a:pPr marL="12700">
              <a:lnSpc>
                <a:spcPct val="100000"/>
              </a:lnSpc>
              <a:spcBef>
                <a:spcPts val="130"/>
              </a:spcBef>
            </a:pPr>
            <a:r>
              <a:rPr sz="3250" spc="55" dirty="0">
                <a:solidFill>
                  <a:srgbClr val="2E377E"/>
                </a:solidFill>
                <a:latin typeface="Georgia"/>
                <a:cs typeface="Georgia"/>
              </a:rPr>
              <a:t>Now</a:t>
            </a:r>
            <a:r>
              <a:rPr sz="3250" spc="-10" dirty="0">
                <a:solidFill>
                  <a:srgbClr val="2E377E"/>
                </a:solidFill>
                <a:latin typeface="Georgia"/>
                <a:cs typeface="Georgia"/>
              </a:rPr>
              <a:t> </a:t>
            </a:r>
            <a:r>
              <a:rPr sz="3250" spc="50" dirty="0">
                <a:solidFill>
                  <a:srgbClr val="2E377E"/>
                </a:solidFill>
                <a:latin typeface="Georgia"/>
                <a:cs typeface="Georgia"/>
              </a:rPr>
              <a:t>lets</a:t>
            </a:r>
            <a:r>
              <a:rPr sz="3250" spc="-10" dirty="0">
                <a:solidFill>
                  <a:srgbClr val="2E377E"/>
                </a:solidFill>
                <a:latin typeface="Georgia"/>
                <a:cs typeface="Georgia"/>
              </a:rPr>
              <a:t> </a:t>
            </a:r>
            <a:r>
              <a:rPr sz="3250" spc="120" dirty="0">
                <a:solidFill>
                  <a:srgbClr val="2E377E"/>
                </a:solidFill>
                <a:latin typeface="Georgia"/>
                <a:cs typeface="Georgia"/>
              </a:rPr>
              <a:t>try</a:t>
            </a:r>
            <a:r>
              <a:rPr sz="3250" spc="-10" dirty="0">
                <a:solidFill>
                  <a:srgbClr val="2E377E"/>
                </a:solidFill>
                <a:latin typeface="Georgia"/>
                <a:cs typeface="Georgia"/>
              </a:rPr>
              <a:t> </a:t>
            </a:r>
            <a:r>
              <a:rPr sz="3250" spc="70" dirty="0">
                <a:solidFill>
                  <a:srgbClr val="2E377E"/>
                </a:solidFill>
                <a:latin typeface="Georgia"/>
                <a:cs typeface="Georgia"/>
              </a:rPr>
              <a:t>to</a:t>
            </a:r>
            <a:r>
              <a:rPr sz="3250" spc="-10" dirty="0">
                <a:solidFill>
                  <a:srgbClr val="2E377E"/>
                </a:solidFill>
                <a:latin typeface="Georgia"/>
                <a:cs typeface="Georgia"/>
              </a:rPr>
              <a:t> </a:t>
            </a:r>
            <a:r>
              <a:rPr sz="3250" spc="55" dirty="0">
                <a:solidFill>
                  <a:srgbClr val="2E377E"/>
                </a:solidFill>
                <a:latin typeface="Georgia"/>
                <a:cs typeface="Georgia"/>
              </a:rPr>
              <a:t>create</a:t>
            </a:r>
            <a:r>
              <a:rPr sz="3250" spc="-10" dirty="0">
                <a:solidFill>
                  <a:srgbClr val="2E377E"/>
                </a:solidFill>
                <a:latin typeface="Georgia"/>
                <a:cs typeface="Georgia"/>
              </a:rPr>
              <a:t> </a:t>
            </a:r>
            <a:r>
              <a:rPr sz="3250" dirty="0">
                <a:solidFill>
                  <a:srgbClr val="2E377E"/>
                </a:solidFill>
                <a:latin typeface="Georgia"/>
                <a:cs typeface="Georgia"/>
              </a:rPr>
              <a:t>a</a:t>
            </a:r>
            <a:r>
              <a:rPr sz="3250" spc="-10" dirty="0">
                <a:solidFill>
                  <a:srgbClr val="2E377E"/>
                </a:solidFill>
                <a:latin typeface="Georgia"/>
                <a:cs typeface="Georgia"/>
              </a:rPr>
              <a:t> </a:t>
            </a:r>
            <a:r>
              <a:rPr sz="3250" dirty="0">
                <a:solidFill>
                  <a:srgbClr val="2E377E"/>
                </a:solidFill>
                <a:latin typeface="Georgia"/>
                <a:cs typeface="Georgia"/>
              </a:rPr>
              <a:t>pod</a:t>
            </a:r>
            <a:r>
              <a:rPr sz="3250" spc="-10" dirty="0">
                <a:solidFill>
                  <a:srgbClr val="2E377E"/>
                </a:solidFill>
                <a:latin typeface="Georgia"/>
                <a:cs typeface="Georgia"/>
              </a:rPr>
              <a:t> </a:t>
            </a:r>
            <a:r>
              <a:rPr sz="3250" spc="90" dirty="0">
                <a:solidFill>
                  <a:srgbClr val="2E377E"/>
                </a:solidFill>
                <a:latin typeface="Georgia"/>
                <a:cs typeface="Georgia"/>
              </a:rPr>
              <a:t>with</a:t>
            </a:r>
            <a:r>
              <a:rPr sz="3250" spc="-5" dirty="0">
                <a:solidFill>
                  <a:srgbClr val="2E377E"/>
                </a:solidFill>
                <a:latin typeface="Georgia"/>
                <a:cs typeface="Georgia"/>
              </a:rPr>
              <a:t> </a:t>
            </a:r>
            <a:r>
              <a:rPr sz="3250" spc="55" dirty="0">
                <a:solidFill>
                  <a:srgbClr val="2E377E"/>
                </a:solidFill>
                <a:latin typeface="Georgia"/>
                <a:cs typeface="Georgia"/>
              </a:rPr>
              <a:t>then</a:t>
            </a:r>
            <a:r>
              <a:rPr sz="3250" spc="-10" dirty="0">
                <a:solidFill>
                  <a:srgbClr val="2E377E"/>
                </a:solidFill>
                <a:latin typeface="Georgia"/>
                <a:cs typeface="Georgia"/>
              </a:rPr>
              <a:t> </a:t>
            </a:r>
            <a:r>
              <a:rPr sz="3250" dirty="0">
                <a:solidFill>
                  <a:srgbClr val="2E377E"/>
                </a:solidFill>
                <a:latin typeface="Georgia"/>
                <a:cs typeface="Georgia"/>
              </a:rPr>
              <a:t>limits</a:t>
            </a:r>
            <a:r>
              <a:rPr sz="3250" spc="-10" dirty="0">
                <a:solidFill>
                  <a:srgbClr val="2E377E"/>
                </a:solidFill>
                <a:latin typeface="Georgia"/>
                <a:cs typeface="Georgia"/>
              </a:rPr>
              <a:t> </a:t>
            </a:r>
            <a:r>
              <a:rPr sz="3250" dirty="0">
                <a:solidFill>
                  <a:srgbClr val="2E377E"/>
                </a:solidFill>
                <a:latin typeface="Georgia"/>
                <a:cs typeface="Georgia"/>
              </a:rPr>
              <a:t>an</a:t>
            </a:r>
            <a:r>
              <a:rPr sz="3250" spc="-10" dirty="0">
                <a:solidFill>
                  <a:srgbClr val="2E377E"/>
                </a:solidFill>
                <a:latin typeface="Georgia"/>
                <a:cs typeface="Georgia"/>
              </a:rPr>
              <a:t> </a:t>
            </a:r>
            <a:r>
              <a:rPr sz="3250" spc="50" dirty="0">
                <a:solidFill>
                  <a:srgbClr val="2E377E"/>
                </a:solidFill>
                <a:latin typeface="Georgia"/>
                <a:cs typeface="Georgia"/>
              </a:rPr>
              <a:t>see</a:t>
            </a:r>
            <a:r>
              <a:rPr sz="3250" spc="-10" dirty="0">
                <a:solidFill>
                  <a:srgbClr val="2E377E"/>
                </a:solidFill>
                <a:latin typeface="Georgia"/>
                <a:cs typeface="Georgia"/>
              </a:rPr>
              <a:t> </a:t>
            </a:r>
            <a:r>
              <a:rPr sz="3250" spc="65" dirty="0">
                <a:solidFill>
                  <a:srgbClr val="2E377E"/>
                </a:solidFill>
                <a:latin typeface="Georgia"/>
                <a:cs typeface="Georgia"/>
              </a:rPr>
              <a:t>the</a:t>
            </a:r>
            <a:r>
              <a:rPr sz="3250" spc="-10" dirty="0">
                <a:solidFill>
                  <a:srgbClr val="2E377E"/>
                </a:solidFill>
                <a:latin typeface="Georgia"/>
                <a:cs typeface="Georgia"/>
              </a:rPr>
              <a:t> </a:t>
            </a:r>
            <a:r>
              <a:rPr sz="3250" spc="50" dirty="0">
                <a:solidFill>
                  <a:srgbClr val="2E377E"/>
                </a:solidFill>
                <a:latin typeface="Georgia"/>
                <a:cs typeface="Georgia"/>
              </a:rPr>
              <a:t>resource</a:t>
            </a:r>
            <a:r>
              <a:rPr sz="3250" spc="-10" dirty="0">
                <a:solidFill>
                  <a:srgbClr val="2E377E"/>
                </a:solidFill>
                <a:latin typeface="Georgia"/>
                <a:cs typeface="Georgia"/>
              </a:rPr>
              <a:t> </a:t>
            </a:r>
            <a:r>
              <a:rPr sz="3250" dirty="0">
                <a:solidFill>
                  <a:srgbClr val="2E377E"/>
                </a:solidFill>
                <a:latin typeface="Georgia"/>
                <a:cs typeface="Georgia"/>
              </a:rPr>
              <a:t>quota</a:t>
            </a:r>
            <a:r>
              <a:rPr sz="3250" spc="-5" dirty="0">
                <a:solidFill>
                  <a:srgbClr val="2E377E"/>
                </a:solidFill>
                <a:latin typeface="Georgia"/>
                <a:cs typeface="Georgia"/>
              </a:rPr>
              <a:t> </a:t>
            </a:r>
            <a:r>
              <a:rPr sz="3250" spc="-20" dirty="0">
                <a:solidFill>
                  <a:srgbClr val="2E377E"/>
                </a:solidFill>
                <a:latin typeface="Georgia"/>
                <a:cs typeface="Georgia"/>
              </a:rPr>
              <a:t>again</a:t>
            </a:r>
            <a:endParaRPr sz="3250">
              <a:latin typeface="Georgia"/>
              <a:cs typeface="Georgia"/>
            </a:endParaRPr>
          </a:p>
          <a:p>
            <a:pPr marL="5490845" marR="5080">
              <a:lnSpc>
                <a:spcPct val="117300"/>
              </a:lnSpc>
              <a:spcBef>
                <a:spcPts val="3620"/>
              </a:spcBef>
            </a:pPr>
            <a:r>
              <a:rPr sz="3250" dirty="0">
                <a:solidFill>
                  <a:srgbClr val="2E377E"/>
                </a:solidFill>
                <a:latin typeface="Georgia"/>
                <a:cs typeface="Georgia"/>
              </a:rPr>
              <a:t>We</a:t>
            </a:r>
            <a:r>
              <a:rPr sz="3250" spc="-20" dirty="0">
                <a:solidFill>
                  <a:srgbClr val="2E377E"/>
                </a:solidFill>
                <a:latin typeface="Georgia"/>
                <a:cs typeface="Georgia"/>
              </a:rPr>
              <a:t> </a:t>
            </a:r>
            <a:r>
              <a:rPr sz="3250" dirty="0">
                <a:solidFill>
                  <a:srgbClr val="2E377E"/>
                </a:solidFill>
                <a:latin typeface="Georgia"/>
                <a:cs typeface="Georgia"/>
              </a:rPr>
              <a:t>can</a:t>
            </a:r>
            <a:r>
              <a:rPr sz="3250" spc="-20" dirty="0">
                <a:solidFill>
                  <a:srgbClr val="2E377E"/>
                </a:solidFill>
                <a:latin typeface="Georgia"/>
                <a:cs typeface="Georgia"/>
              </a:rPr>
              <a:t> </a:t>
            </a:r>
            <a:r>
              <a:rPr sz="3250" spc="55" dirty="0">
                <a:solidFill>
                  <a:srgbClr val="2E377E"/>
                </a:solidFill>
                <a:latin typeface="Georgia"/>
                <a:cs typeface="Georgia"/>
              </a:rPr>
              <a:t>observer</a:t>
            </a:r>
            <a:r>
              <a:rPr sz="3250" spc="-20" dirty="0">
                <a:solidFill>
                  <a:srgbClr val="2E377E"/>
                </a:solidFill>
                <a:latin typeface="Georgia"/>
                <a:cs typeface="Georgia"/>
              </a:rPr>
              <a:t> </a:t>
            </a:r>
            <a:r>
              <a:rPr sz="3250" dirty="0">
                <a:solidFill>
                  <a:srgbClr val="2E377E"/>
                </a:solidFill>
                <a:latin typeface="Georgia"/>
                <a:cs typeface="Georgia"/>
              </a:rPr>
              <a:t>here,</a:t>
            </a:r>
            <a:r>
              <a:rPr sz="3250" spc="-20" dirty="0">
                <a:solidFill>
                  <a:srgbClr val="2E377E"/>
                </a:solidFill>
                <a:latin typeface="Georgia"/>
                <a:cs typeface="Georgia"/>
              </a:rPr>
              <a:t> </a:t>
            </a:r>
            <a:r>
              <a:rPr sz="3250" spc="130" dirty="0">
                <a:solidFill>
                  <a:srgbClr val="2E377E"/>
                </a:solidFill>
                <a:latin typeface="Georgia"/>
                <a:cs typeface="Georgia"/>
              </a:rPr>
              <a:t>my</a:t>
            </a:r>
            <a:r>
              <a:rPr sz="3250" spc="-20" dirty="0">
                <a:solidFill>
                  <a:srgbClr val="2E377E"/>
                </a:solidFill>
                <a:latin typeface="Georgia"/>
                <a:cs typeface="Georgia"/>
              </a:rPr>
              <a:t> </a:t>
            </a:r>
            <a:r>
              <a:rPr sz="3250" dirty="0">
                <a:solidFill>
                  <a:srgbClr val="2E377E"/>
                </a:solidFill>
                <a:latin typeface="Georgia"/>
                <a:cs typeface="Georgia"/>
              </a:rPr>
              <a:t>pod</a:t>
            </a:r>
            <a:r>
              <a:rPr sz="3250" spc="-20" dirty="0">
                <a:solidFill>
                  <a:srgbClr val="2E377E"/>
                </a:solidFill>
                <a:latin typeface="Georgia"/>
                <a:cs typeface="Georgia"/>
              </a:rPr>
              <a:t> </a:t>
            </a:r>
            <a:r>
              <a:rPr sz="3250" spc="45" dirty="0">
                <a:solidFill>
                  <a:srgbClr val="2E377E"/>
                </a:solidFill>
                <a:latin typeface="Georgia"/>
                <a:cs typeface="Georgia"/>
              </a:rPr>
              <a:t>occupies</a:t>
            </a:r>
            <a:r>
              <a:rPr sz="3250" spc="-15" dirty="0">
                <a:solidFill>
                  <a:srgbClr val="2E377E"/>
                </a:solidFill>
                <a:latin typeface="Georgia"/>
                <a:cs typeface="Georgia"/>
              </a:rPr>
              <a:t> </a:t>
            </a:r>
            <a:r>
              <a:rPr sz="3250" spc="65" dirty="0">
                <a:solidFill>
                  <a:srgbClr val="2E377E"/>
                </a:solidFill>
                <a:latin typeface="Georgia"/>
                <a:cs typeface="Georgia"/>
              </a:rPr>
              <a:t>the</a:t>
            </a:r>
            <a:r>
              <a:rPr sz="3250" spc="-20" dirty="0">
                <a:solidFill>
                  <a:srgbClr val="2E377E"/>
                </a:solidFill>
                <a:latin typeface="Georgia"/>
                <a:cs typeface="Georgia"/>
              </a:rPr>
              <a:t> </a:t>
            </a:r>
            <a:r>
              <a:rPr sz="3250" spc="30" dirty="0">
                <a:solidFill>
                  <a:srgbClr val="2E377E"/>
                </a:solidFill>
                <a:latin typeface="Georgia"/>
                <a:cs typeface="Georgia"/>
              </a:rPr>
              <a:t>cpu </a:t>
            </a:r>
            <a:r>
              <a:rPr sz="3250" dirty="0">
                <a:solidFill>
                  <a:srgbClr val="2E377E"/>
                </a:solidFill>
                <a:latin typeface="Georgia"/>
                <a:cs typeface="Georgia"/>
              </a:rPr>
              <a:t>and</a:t>
            </a:r>
            <a:r>
              <a:rPr sz="3250" spc="5" dirty="0">
                <a:solidFill>
                  <a:srgbClr val="2E377E"/>
                </a:solidFill>
                <a:latin typeface="Georgia"/>
                <a:cs typeface="Georgia"/>
              </a:rPr>
              <a:t> </a:t>
            </a:r>
            <a:r>
              <a:rPr sz="3250" spc="70" dirty="0">
                <a:solidFill>
                  <a:srgbClr val="2E377E"/>
                </a:solidFill>
                <a:latin typeface="Georgia"/>
                <a:cs typeface="Georgia"/>
              </a:rPr>
              <a:t>memory</a:t>
            </a:r>
            <a:r>
              <a:rPr sz="3250" spc="5" dirty="0">
                <a:solidFill>
                  <a:srgbClr val="2E377E"/>
                </a:solidFill>
                <a:latin typeface="Georgia"/>
                <a:cs typeface="Georgia"/>
              </a:rPr>
              <a:t> </a:t>
            </a:r>
            <a:r>
              <a:rPr sz="3250" dirty="0">
                <a:solidFill>
                  <a:srgbClr val="2E377E"/>
                </a:solidFill>
                <a:latin typeface="Georgia"/>
                <a:cs typeface="Georgia"/>
              </a:rPr>
              <a:t>from</a:t>
            </a:r>
            <a:r>
              <a:rPr sz="3250" spc="10" dirty="0">
                <a:solidFill>
                  <a:srgbClr val="2E377E"/>
                </a:solidFill>
                <a:latin typeface="Georgia"/>
                <a:cs typeface="Georgia"/>
              </a:rPr>
              <a:t> </a:t>
            </a:r>
            <a:r>
              <a:rPr sz="3250" spc="65" dirty="0">
                <a:solidFill>
                  <a:srgbClr val="2E377E"/>
                </a:solidFill>
                <a:latin typeface="Georgia"/>
                <a:cs typeface="Georgia"/>
              </a:rPr>
              <a:t>the</a:t>
            </a:r>
            <a:r>
              <a:rPr sz="3250" spc="5" dirty="0">
                <a:solidFill>
                  <a:srgbClr val="2E377E"/>
                </a:solidFill>
                <a:latin typeface="Georgia"/>
                <a:cs typeface="Georgia"/>
              </a:rPr>
              <a:t> </a:t>
            </a:r>
            <a:r>
              <a:rPr sz="3250" spc="50" dirty="0">
                <a:solidFill>
                  <a:srgbClr val="2E377E"/>
                </a:solidFill>
                <a:latin typeface="Georgia"/>
                <a:cs typeface="Georgia"/>
              </a:rPr>
              <a:t>resource</a:t>
            </a:r>
            <a:r>
              <a:rPr sz="3250" spc="10" dirty="0">
                <a:solidFill>
                  <a:srgbClr val="2E377E"/>
                </a:solidFill>
                <a:latin typeface="Georgia"/>
                <a:cs typeface="Georgia"/>
              </a:rPr>
              <a:t> </a:t>
            </a:r>
            <a:r>
              <a:rPr sz="3250" spc="-10" dirty="0">
                <a:solidFill>
                  <a:srgbClr val="2E377E"/>
                </a:solidFill>
                <a:latin typeface="Georgia"/>
                <a:cs typeface="Georgia"/>
              </a:rPr>
              <a:t>qouta</a:t>
            </a:r>
            <a:endParaRPr sz="3250">
              <a:latin typeface="Georgia"/>
              <a:cs typeface="Georgia"/>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1080" y="651980"/>
            <a:ext cx="8420099" cy="8220074"/>
          </a:xfrm>
          <a:prstGeom prst="rect">
            <a:avLst/>
          </a:prstGeom>
        </p:spPr>
      </p:pic>
      <p:sp>
        <p:nvSpPr>
          <p:cNvPr id="3" name="object 3"/>
          <p:cNvSpPr txBox="1">
            <a:spLocks noGrp="1"/>
          </p:cNvSpPr>
          <p:nvPr>
            <p:ph type="title"/>
          </p:nvPr>
        </p:nvSpPr>
        <p:spPr>
          <a:xfrm>
            <a:off x="9456521" y="1196732"/>
            <a:ext cx="8721725" cy="2501900"/>
          </a:xfrm>
          <a:prstGeom prst="rect">
            <a:avLst/>
          </a:prstGeom>
        </p:spPr>
        <p:txBody>
          <a:bodyPr vert="horz" wrap="square" lIns="0" tIns="12065" rIns="0" bIns="0" rtlCol="0">
            <a:spAutoFit/>
          </a:bodyPr>
          <a:lstStyle/>
          <a:p>
            <a:pPr marL="12700" marR="5080">
              <a:lnSpc>
                <a:spcPct val="116100"/>
              </a:lnSpc>
              <a:spcBef>
                <a:spcPts val="95"/>
              </a:spcBef>
            </a:pPr>
            <a:r>
              <a:rPr sz="3500" dirty="0">
                <a:solidFill>
                  <a:srgbClr val="2E377E"/>
                </a:solidFill>
              </a:rPr>
              <a:t>If</a:t>
            </a:r>
            <a:r>
              <a:rPr sz="3500" spc="-50" dirty="0">
                <a:solidFill>
                  <a:srgbClr val="2E377E"/>
                </a:solidFill>
              </a:rPr>
              <a:t> </a:t>
            </a:r>
            <a:r>
              <a:rPr sz="3500" spc="370" dirty="0">
                <a:solidFill>
                  <a:srgbClr val="2E377E"/>
                </a:solidFill>
              </a:rPr>
              <a:t>we</a:t>
            </a:r>
            <a:r>
              <a:rPr sz="3500" spc="-45" dirty="0">
                <a:solidFill>
                  <a:srgbClr val="2E377E"/>
                </a:solidFill>
              </a:rPr>
              <a:t> </a:t>
            </a:r>
            <a:r>
              <a:rPr sz="3500" spc="180" dirty="0">
                <a:solidFill>
                  <a:srgbClr val="2E377E"/>
                </a:solidFill>
              </a:rPr>
              <a:t>execute</a:t>
            </a:r>
            <a:r>
              <a:rPr sz="3500" spc="-45" dirty="0">
                <a:solidFill>
                  <a:srgbClr val="2E377E"/>
                </a:solidFill>
              </a:rPr>
              <a:t> </a:t>
            </a:r>
            <a:r>
              <a:rPr sz="3500" spc="110" dirty="0">
                <a:solidFill>
                  <a:srgbClr val="2E377E"/>
                </a:solidFill>
              </a:rPr>
              <a:t>this</a:t>
            </a:r>
            <a:r>
              <a:rPr sz="3500" spc="-50" dirty="0">
                <a:solidFill>
                  <a:srgbClr val="2E377E"/>
                </a:solidFill>
              </a:rPr>
              <a:t> </a:t>
            </a:r>
            <a:r>
              <a:rPr sz="3500" spc="150" dirty="0">
                <a:solidFill>
                  <a:srgbClr val="2E377E"/>
                </a:solidFill>
              </a:rPr>
              <a:t>pod,</a:t>
            </a:r>
            <a:r>
              <a:rPr sz="3500" spc="-45" dirty="0">
                <a:solidFill>
                  <a:srgbClr val="2E377E"/>
                </a:solidFill>
              </a:rPr>
              <a:t> </a:t>
            </a:r>
            <a:r>
              <a:rPr sz="3500" spc="370" dirty="0">
                <a:solidFill>
                  <a:srgbClr val="2E377E"/>
                </a:solidFill>
              </a:rPr>
              <a:t>we</a:t>
            </a:r>
            <a:r>
              <a:rPr sz="3500" spc="-45" dirty="0">
                <a:solidFill>
                  <a:srgbClr val="2E377E"/>
                </a:solidFill>
              </a:rPr>
              <a:t> </a:t>
            </a:r>
            <a:r>
              <a:rPr sz="3500" spc="180" dirty="0">
                <a:solidFill>
                  <a:srgbClr val="2E377E"/>
                </a:solidFill>
              </a:rPr>
              <a:t>will</a:t>
            </a:r>
            <a:r>
              <a:rPr sz="3500" spc="-45" dirty="0">
                <a:solidFill>
                  <a:srgbClr val="2E377E"/>
                </a:solidFill>
              </a:rPr>
              <a:t> </a:t>
            </a:r>
            <a:r>
              <a:rPr sz="3500" spc="60" dirty="0">
                <a:solidFill>
                  <a:srgbClr val="2E377E"/>
                </a:solidFill>
              </a:rPr>
              <a:t>get</a:t>
            </a:r>
            <a:r>
              <a:rPr sz="3500" spc="-50" dirty="0">
                <a:solidFill>
                  <a:srgbClr val="2E377E"/>
                </a:solidFill>
              </a:rPr>
              <a:t> </a:t>
            </a:r>
            <a:r>
              <a:rPr sz="3500" spc="160" dirty="0">
                <a:solidFill>
                  <a:srgbClr val="2E377E"/>
                </a:solidFill>
              </a:rPr>
              <a:t>an</a:t>
            </a:r>
            <a:r>
              <a:rPr sz="3500" spc="-45" dirty="0">
                <a:solidFill>
                  <a:srgbClr val="2E377E"/>
                </a:solidFill>
              </a:rPr>
              <a:t> </a:t>
            </a:r>
            <a:r>
              <a:rPr sz="3500" spc="60" dirty="0">
                <a:solidFill>
                  <a:srgbClr val="2E377E"/>
                </a:solidFill>
              </a:rPr>
              <a:t>error </a:t>
            </a:r>
            <a:r>
              <a:rPr sz="3500" spc="170" dirty="0">
                <a:solidFill>
                  <a:srgbClr val="2E377E"/>
                </a:solidFill>
              </a:rPr>
              <a:t>because</a:t>
            </a:r>
            <a:r>
              <a:rPr sz="3500" spc="-35" dirty="0">
                <a:solidFill>
                  <a:srgbClr val="2E377E"/>
                </a:solidFill>
              </a:rPr>
              <a:t> </a:t>
            </a:r>
            <a:r>
              <a:rPr sz="3500" spc="150" dirty="0">
                <a:solidFill>
                  <a:srgbClr val="2E377E"/>
                </a:solidFill>
              </a:rPr>
              <a:t>the</a:t>
            </a:r>
            <a:r>
              <a:rPr sz="3500" spc="-35" dirty="0">
                <a:solidFill>
                  <a:srgbClr val="2E377E"/>
                </a:solidFill>
              </a:rPr>
              <a:t> </a:t>
            </a:r>
            <a:r>
              <a:rPr sz="3500" spc="215" dirty="0">
                <a:solidFill>
                  <a:srgbClr val="2E377E"/>
                </a:solidFill>
              </a:rPr>
              <a:t>pod</a:t>
            </a:r>
            <a:r>
              <a:rPr sz="3500" spc="-30" dirty="0">
                <a:solidFill>
                  <a:srgbClr val="2E377E"/>
                </a:solidFill>
              </a:rPr>
              <a:t> </a:t>
            </a:r>
            <a:r>
              <a:rPr sz="3500" spc="130" dirty="0">
                <a:solidFill>
                  <a:srgbClr val="2E377E"/>
                </a:solidFill>
              </a:rPr>
              <a:t>limits</a:t>
            </a:r>
            <a:r>
              <a:rPr sz="3500" spc="-35" dirty="0">
                <a:solidFill>
                  <a:srgbClr val="2E377E"/>
                </a:solidFill>
              </a:rPr>
              <a:t> </a:t>
            </a:r>
            <a:r>
              <a:rPr sz="3500" spc="175" dirty="0">
                <a:solidFill>
                  <a:srgbClr val="2E377E"/>
                </a:solidFill>
              </a:rPr>
              <a:t>and</a:t>
            </a:r>
            <a:r>
              <a:rPr sz="3500" spc="-30" dirty="0">
                <a:solidFill>
                  <a:srgbClr val="2E377E"/>
                </a:solidFill>
              </a:rPr>
              <a:t> </a:t>
            </a:r>
            <a:r>
              <a:rPr sz="3500" spc="135" dirty="0">
                <a:solidFill>
                  <a:srgbClr val="2E377E"/>
                </a:solidFill>
              </a:rPr>
              <a:t>requests</a:t>
            </a:r>
            <a:r>
              <a:rPr sz="3500" spc="-35" dirty="0">
                <a:solidFill>
                  <a:srgbClr val="2E377E"/>
                </a:solidFill>
              </a:rPr>
              <a:t> </a:t>
            </a:r>
            <a:r>
              <a:rPr sz="3500" spc="55" dirty="0">
                <a:solidFill>
                  <a:srgbClr val="2E377E"/>
                </a:solidFill>
              </a:rPr>
              <a:t>are greater</a:t>
            </a:r>
            <a:r>
              <a:rPr sz="3500" spc="-35" dirty="0">
                <a:solidFill>
                  <a:srgbClr val="2E377E"/>
                </a:solidFill>
              </a:rPr>
              <a:t> </a:t>
            </a:r>
            <a:r>
              <a:rPr sz="3500" spc="135" dirty="0">
                <a:solidFill>
                  <a:srgbClr val="2E377E"/>
                </a:solidFill>
              </a:rPr>
              <a:t>than</a:t>
            </a:r>
            <a:r>
              <a:rPr sz="3500" spc="-35" dirty="0">
                <a:solidFill>
                  <a:srgbClr val="2E377E"/>
                </a:solidFill>
              </a:rPr>
              <a:t> </a:t>
            </a:r>
            <a:r>
              <a:rPr sz="3500" spc="150" dirty="0">
                <a:solidFill>
                  <a:srgbClr val="2E377E"/>
                </a:solidFill>
              </a:rPr>
              <a:t>the</a:t>
            </a:r>
            <a:r>
              <a:rPr sz="3500" spc="-35" dirty="0">
                <a:solidFill>
                  <a:srgbClr val="2E377E"/>
                </a:solidFill>
              </a:rPr>
              <a:t> </a:t>
            </a:r>
            <a:r>
              <a:rPr sz="3500" spc="140" dirty="0">
                <a:solidFill>
                  <a:srgbClr val="2E377E"/>
                </a:solidFill>
              </a:rPr>
              <a:t>resource</a:t>
            </a:r>
            <a:r>
              <a:rPr sz="3500" spc="-30" dirty="0">
                <a:solidFill>
                  <a:srgbClr val="2E377E"/>
                </a:solidFill>
              </a:rPr>
              <a:t> </a:t>
            </a:r>
            <a:r>
              <a:rPr sz="3500" spc="140" dirty="0">
                <a:solidFill>
                  <a:srgbClr val="2E377E"/>
                </a:solidFill>
              </a:rPr>
              <a:t>quota</a:t>
            </a:r>
            <a:r>
              <a:rPr sz="3500" spc="-35" dirty="0">
                <a:solidFill>
                  <a:srgbClr val="2E377E"/>
                </a:solidFill>
              </a:rPr>
              <a:t> </a:t>
            </a:r>
            <a:r>
              <a:rPr sz="3500" spc="130" dirty="0">
                <a:solidFill>
                  <a:srgbClr val="2E377E"/>
                </a:solidFill>
              </a:rPr>
              <a:t>limits</a:t>
            </a:r>
            <a:r>
              <a:rPr sz="3500" spc="-35" dirty="0">
                <a:solidFill>
                  <a:srgbClr val="2E377E"/>
                </a:solidFill>
              </a:rPr>
              <a:t> </a:t>
            </a:r>
            <a:r>
              <a:rPr sz="3500" spc="150" dirty="0">
                <a:solidFill>
                  <a:srgbClr val="2E377E"/>
                </a:solidFill>
              </a:rPr>
              <a:t>and </a:t>
            </a:r>
            <a:r>
              <a:rPr sz="3500" spc="105" dirty="0">
                <a:solidFill>
                  <a:srgbClr val="2E377E"/>
                </a:solidFill>
              </a:rPr>
              <a:t>requests.</a:t>
            </a:r>
            <a:endParaRPr sz="350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403" y="557275"/>
            <a:ext cx="4501515" cy="787400"/>
          </a:xfrm>
          <a:prstGeom prst="rect">
            <a:avLst/>
          </a:prstGeom>
        </p:spPr>
        <p:txBody>
          <a:bodyPr vert="horz" wrap="square" lIns="0" tIns="12700" rIns="0" bIns="0" rtlCol="0">
            <a:spAutoFit/>
          </a:bodyPr>
          <a:lstStyle/>
          <a:p>
            <a:pPr marL="12700">
              <a:lnSpc>
                <a:spcPct val="100000"/>
              </a:lnSpc>
              <a:spcBef>
                <a:spcPts val="100"/>
              </a:spcBef>
            </a:pPr>
            <a:r>
              <a:rPr spc="-204" dirty="0">
                <a:solidFill>
                  <a:srgbClr val="FF3131"/>
                </a:solidFill>
              </a:rPr>
              <a:t>CONFIG</a:t>
            </a:r>
            <a:r>
              <a:rPr spc="-95" dirty="0">
                <a:solidFill>
                  <a:srgbClr val="FF3131"/>
                </a:solidFill>
              </a:rPr>
              <a:t> </a:t>
            </a:r>
            <a:r>
              <a:rPr spc="-100" dirty="0">
                <a:solidFill>
                  <a:srgbClr val="FF3131"/>
                </a:solidFill>
              </a:rPr>
              <a:t>MAPS:</a:t>
            </a:r>
          </a:p>
        </p:txBody>
      </p:sp>
      <p:pic>
        <p:nvPicPr>
          <p:cNvPr id="3" name="object 3"/>
          <p:cNvPicPr/>
          <p:nvPr/>
        </p:nvPicPr>
        <p:blipFill>
          <a:blip r:embed="rId2" cstate="print"/>
          <a:stretch>
            <a:fillRect/>
          </a:stretch>
        </p:blipFill>
        <p:spPr>
          <a:xfrm>
            <a:off x="1179868" y="1975850"/>
            <a:ext cx="121634" cy="121634"/>
          </a:xfrm>
          <a:prstGeom prst="rect">
            <a:avLst/>
          </a:prstGeom>
        </p:spPr>
      </p:pic>
      <p:sp>
        <p:nvSpPr>
          <p:cNvPr id="4" name="object 4"/>
          <p:cNvSpPr txBox="1"/>
          <p:nvPr/>
        </p:nvSpPr>
        <p:spPr>
          <a:xfrm>
            <a:off x="1467725" y="1646899"/>
            <a:ext cx="16379825" cy="7593330"/>
          </a:xfrm>
          <a:prstGeom prst="rect">
            <a:avLst/>
          </a:prstGeom>
        </p:spPr>
        <p:txBody>
          <a:bodyPr vert="horz" wrap="square" lIns="0" tIns="12065" rIns="0" bIns="0" rtlCol="0">
            <a:spAutoFit/>
          </a:bodyPr>
          <a:lstStyle/>
          <a:p>
            <a:pPr marL="12700" marR="5080">
              <a:lnSpc>
                <a:spcPct val="117500"/>
              </a:lnSpc>
              <a:spcBef>
                <a:spcPts val="95"/>
              </a:spcBef>
            </a:pPr>
            <a:r>
              <a:rPr sz="3250" dirty="0">
                <a:solidFill>
                  <a:srgbClr val="2E377E"/>
                </a:solidFill>
                <a:latin typeface="Georgia"/>
                <a:cs typeface="Georgia"/>
              </a:rPr>
              <a:t>ConfigMap is </a:t>
            </a:r>
            <a:r>
              <a:rPr sz="3250" spc="50" dirty="0">
                <a:solidFill>
                  <a:srgbClr val="2E377E"/>
                </a:solidFill>
                <a:latin typeface="Georgia"/>
                <a:cs typeface="Georgia"/>
              </a:rPr>
              <a:t>used</a:t>
            </a:r>
            <a:r>
              <a:rPr sz="3250" dirty="0">
                <a:solidFill>
                  <a:srgbClr val="2E377E"/>
                </a:solidFill>
                <a:latin typeface="Georgia"/>
                <a:cs typeface="Georgia"/>
              </a:rPr>
              <a:t> </a:t>
            </a:r>
            <a:r>
              <a:rPr sz="3250" spc="70" dirty="0">
                <a:solidFill>
                  <a:srgbClr val="2E377E"/>
                </a:solidFill>
                <a:latin typeface="Georgia"/>
                <a:cs typeface="Georgia"/>
              </a:rPr>
              <a:t>to</a:t>
            </a:r>
            <a:r>
              <a:rPr sz="3250" spc="5" dirty="0">
                <a:solidFill>
                  <a:srgbClr val="2E377E"/>
                </a:solidFill>
                <a:latin typeface="Georgia"/>
                <a:cs typeface="Georgia"/>
              </a:rPr>
              <a:t> </a:t>
            </a:r>
            <a:r>
              <a:rPr sz="3250" spc="60" dirty="0">
                <a:solidFill>
                  <a:srgbClr val="2E377E"/>
                </a:solidFill>
                <a:latin typeface="Georgia"/>
                <a:cs typeface="Georgia"/>
              </a:rPr>
              <a:t>store</a:t>
            </a:r>
            <a:r>
              <a:rPr sz="3250" dirty="0">
                <a:solidFill>
                  <a:srgbClr val="2E377E"/>
                </a:solidFill>
                <a:latin typeface="Georgia"/>
                <a:cs typeface="Georgia"/>
              </a:rPr>
              <a:t> </a:t>
            </a:r>
            <a:r>
              <a:rPr sz="3250" spc="70" dirty="0">
                <a:solidFill>
                  <a:srgbClr val="2E377E"/>
                </a:solidFill>
                <a:latin typeface="Georgia"/>
                <a:cs typeface="Georgia"/>
              </a:rPr>
              <a:t>the</a:t>
            </a:r>
            <a:r>
              <a:rPr sz="3250" dirty="0">
                <a:solidFill>
                  <a:srgbClr val="2E377E"/>
                </a:solidFill>
                <a:latin typeface="Georgia"/>
                <a:cs typeface="Georgia"/>
              </a:rPr>
              <a:t> </a:t>
            </a:r>
            <a:r>
              <a:rPr sz="3250" spc="45" dirty="0">
                <a:solidFill>
                  <a:srgbClr val="2E377E"/>
                </a:solidFill>
                <a:latin typeface="Georgia"/>
                <a:cs typeface="Georgia"/>
              </a:rPr>
              <a:t>configuration</a:t>
            </a:r>
            <a:r>
              <a:rPr sz="3250" spc="5" dirty="0">
                <a:solidFill>
                  <a:srgbClr val="2E377E"/>
                </a:solidFill>
                <a:latin typeface="Georgia"/>
                <a:cs typeface="Georgia"/>
              </a:rPr>
              <a:t> </a:t>
            </a:r>
            <a:r>
              <a:rPr sz="3250" dirty="0">
                <a:solidFill>
                  <a:srgbClr val="2E377E"/>
                </a:solidFill>
                <a:latin typeface="Georgia"/>
                <a:cs typeface="Georgia"/>
              </a:rPr>
              <a:t>data in </a:t>
            </a:r>
            <a:r>
              <a:rPr sz="3250" spc="110" dirty="0">
                <a:solidFill>
                  <a:srgbClr val="2E377E"/>
                </a:solidFill>
                <a:latin typeface="Georgia"/>
                <a:cs typeface="Georgia"/>
              </a:rPr>
              <a:t>key-</a:t>
            </a:r>
            <a:r>
              <a:rPr sz="3250" spc="65" dirty="0">
                <a:solidFill>
                  <a:srgbClr val="2E377E"/>
                </a:solidFill>
                <a:latin typeface="Georgia"/>
                <a:cs typeface="Georgia"/>
              </a:rPr>
              <a:t>value</a:t>
            </a:r>
            <a:r>
              <a:rPr sz="3250" dirty="0">
                <a:solidFill>
                  <a:srgbClr val="2E377E"/>
                </a:solidFill>
                <a:latin typeface="Georgia"/>
                <a:cs typeface="Georgia"/>
              </a:rPr>
              <a:t> pairs</a:t>
            </a:r>
            <a:r>
              <a:rPr sz="3250" spc="5" dirty="0">
                <a:solidFill>
                  <a:srgbClr val="2E377E"/>
                </a:solidFill>
                <a:latin typeface="Georgia"/>
                <a:cs typeface="Georgia"/>
              </a:rPr>
              <a:t> </a:t>
            </a:r>
            <a:r>
              <a:rPr sz="3250" spc="70" dirty="0">
                <a:solidFill>
                  <a:srgbClr val="2E377E"/>
                </a:solidFill>
                <a:latin typeface="Georgia"/>
                <a:cs typeface="Georgia"/>
              </a:rPr>
              <a:t>within</a:t>
            </a:r>
            <a:r>
              <a:rPr sz="3250" dirty="0">
                <a:solidFill>
                  <a:srgbClr val="2E377E"/>
                </a:solidFill>
                <a:latin typeface="Georgia"/>
                <a:cs typeface="Georgia"/>
              </a:rPr>
              <a:t> </a:t>
            </a:r>
            <a:r>
              <a:rPr sz="3250" spc="-10" dirty="0">
                <a:solidFill>
                  <a:srgbClr val="2E377E"/>
                </a:solidFill>
                <a:latin typeface="Georgia"/>
                <a:cs typeface="Georgia"/>
              </a:rPr>
              <a:t>Kubernetes. </a:t>
            </a:r>
            <a:r>
              <a:rPr sz="3250" dirty="0">
                <a:solidFill>
                  <a:srgbClr val="2E377E"/>
                </a:solidFill>
                <a:latin typeface="Georgia"/>
                <a:cs typeface="Georgia"/>
              </a:rPr>
              <a:t>But</a:t>
            </a:r>
            <a:r>
              <a:rPr sz="3250" spc="100" dirty="0">
                <a:solidFill>
                  <a:srgbClr val="2E377E"/>
                </a:solidFill>
                <a:latin typeface="Georgia"/>
                <a:cs typeface="Georgia"/>
              </a:rPr>
              <a:t> </a:t>
            </a:r>
            <a:r>
              <a:rPr sz="3250" spc="70" dirty="0">
                <a:solidFill>
                  <a:srgbClr val="2E377E"/>
                </a:solidFill>
                <a:latin typeface="Georgia"/>
                <a:cs typeface="Georgia"/>
              </a:rPr>
              <a:t>the</a:t>
            </a:r>
            <a:r>
              <a:rPr sz="3250" spc="110" dirty="0">
                <a:solidFill>
                  <a:srgbClr val="2E377E"/>
                </a:solidFill>
                <a:latin typeface="Georgia"/>
                <a:cs typeface="Georgia"/>
              </a:rPr>
              <a:t> </a:t>
            </a:r>
            <a:r>
              <a:rPr sz="3250" dirty="0">
                <a:solidFill>
                  <a:srgbClr val="2E377E"/>
                </a:solidFill>
                <a:latin typeface="Georgia"/>
                <a:cs typeface="Georgia"/>
              </a:rPr>
              <a:t>data</a:t>
            </a:r>
            <a:r>
              <a:rPr sz="3250" spc="110" dirty="0">
                <a:solidFill>
                  <a:srgbClr val="2E377E"/>
                </a:solidFill>
                <a:latin typeface="Georgia"/>
                <a:cs typeface="Georgia"/>
              </a:rPr>
              <a:t> </a:t>
            </a:r>
            <a:r>
              <a:rPr sz="3250" dirty="0">
                <a:solidFill>
                  <a:srgbClr val="2E377E"/>
                </a:solidFill>
                <a:latin typeface="Georgia"/>
                <a:cs typeface="Georgia"/>
              </a:rPr>
              <a:t>should</a:t>
            </a:r>
            <a:r>
              <a:rPr sz="3250" spc="110" dirty="0">
                <a:solidFill>
                  <a:srgbClr val="2E377E"/>
                </a:solidFill>
                <a:latin typeface="Georgia"/>
                <a:cs typeface="Georgia"/>
              </a:rPr>
              <a:t> </a:t>
            </a:r>
            <a:r>
              <a:rPr sz="3250" dirty="0">
                <a:solidFill>
                  <a:srgbClr val="2E377E"/>
                </a:solidFill>
                <a:latin typeface="Georgia"/>
                <a:cs typeface="Georgia"/>
              </a:rPr>
              <a:t>be</a:t>
            </a:r>
            <a:r>
              <a:rPr sz="3250" spc="110" dirty="0">
                <a:solidFill>
                  <a:srgbClr val="2E377E"/>
                </a:solidFill>
                <a:latin typeface="Georgia"/>
                <a:cs typeface="Georgia"/>
              </a:rPr>
              <a:t> </a:t>
            </a:r>
            <a:r>
              <a:rPr sz="3250" dirty="0">
                <a:solidFill>
                  <a:srgbClr val="2E377E"/>
                </a:solidFill>
                <a:latin typeface="Georgia"/>
                <a:cs typeface="Georgia"/>
              </a:rPr>
              <a:t>non</a:t>
            </a:r>
            <a:r>
              <a:rPr sz="3250" spc="110" dirty="0">
                <a:solidFill>
                  <a:srgbClr val="2E377E"/>
                </a:solidFill>
                <a:latin typeface="Georgia"/>
                <a:cs typeface="Georgia"/>
              </a:rPr>
              <a:t> </a:t>
            </a:r>
            <a:r>
              <a:rPr sz="3250" dirty="0">
                <a:solidFill>
                  <a:srgbClr val="2E377E"/>
                </a:solidFill>
                <a:latin typeface="Georgia"/>
                <a:cs typeface="Georgia"/>
              </a:rPr>
              <a:t>confidential</a:t>
            </a:r>
            <a:r>
              <a:rPr sz="3250" spc="110" dirty="0">
                <a:solidFill>
                  <a:srgbClr val="2E377E"/>
                </a:solidFill>
                <a:latin typeface="Georgia"/>
                <a:cs typeface="Georgia"/>
              </a:rPr>
              <a:t> </a:t>
            </a:r>
            <a:r>
              <a:rPr sz="3250" spc="-10" dirty="0">
                <a:solidFill>
                  <a:srgbClr val="2E377E"/>
                </a:solidFill>
                <a:latin typeface="Georgia"/>
                <a:cs typeface="Georgia"/>
              </a:rPr>
              <a:t>data.</a:t>
            </a:r>
            <a:endParaRPr sz="3250">
              <a:latin typeface="Georgia"/>
              <a:cs typeface="Georgia"/>
            </a:endParaRPr>
          </a:p>
          <a:p>
            <a:pPr marL="12700" marR="348615">
              <a:lnSpc>
                <a:spcPct val="117500"/>
              </a:lnSpc>
            </a:pPr>
            <a:r>
              <a:rPr sz="3250" dirty="0">
                <a:solidFill>
                  <a:srgbClr val="2E377E"/>
                </a:solidFill>
                <a:latin typeface="Georgia"/>
                <a:cs typeface="Georgia"/>
              </a:rPr>
              <a:t>This</a:t>
            </a:r>
            <a:r>
              <a:rPr sz="3250" spc="5" dirty="0">
                <a:solidFill>
                  <a:srgbClr val="2E377E"/>
                </a:solidFill>
                <a:latin typeface="Georgia"/>
                <a:cs typeface="Georgia"/>
              </a:rPr>
              <a:t> </a:t>
            </a:r>
            <a:r>
              <a:rPr sz="3250" dirty="0">
                <a:solidFill>
                  <a:srgbClr val="2E377E"/>
                </a:solidFill>
                <a:latin typeface="Georgia"/>
                <a:cs typeface="Georgia"/>
              </a:rPr>
              <a:t>is</a:t>
            </a:r>
            <a:r>
              <a:rPr sz="3250" spc="5" dirty="0">
                <a:solidFill>
                  <a:srgbClr val="2E377E"/>
                </a:solidFill>
                <a:latin typeface="Georgia"/>
                <a:cs typeface="Georgia"/>
              </a:rPr>
              <a:t> </a:t>
            </a:r>
            <a:r>
              <a:rPr sz="3250" dirty="0">
                <a:solidFill>
                  <a:srgbClr val="2E377E"/>
                </a:solidFill>
                <a:latin typeface="Georgia"/>
                <a:cs typeface="Georgia"/>
              </a:rPr>
              <a:t>one of</a:t>
            </a:r>
            <a:r>
              <a:rPr sz="3250" spc="5" dirty="0">
                <a:solidFill>
                  <a:srgbClr val="2E377E"/>
                </a:solidFill>
                <a:latin typeface="Georgia"/>
                <a:cs typeface="Georgia"/>
              </a:rPr>
              <a:t> </a:t>
            </a:r>
            <a:r>
              <a:rPr sz="3250" spc="70" dirty="0">
                <a:solidFill>
                  <a:srgbClr val="2E377E"/>
                </a:solidFill>
                <a:latin typeface="Georgia"/>
                <a:cs typeface="Georgia"/>
              </a:rPr>
              <a:t>the</a:t>
            </a:r>
            <a:r>
              <a:rPr sz="3250" spc="5" dirty="0">
                <a:solidFill>
                  <a:srgbClr val="2E377E"/>
                </a:solidFill>
                <a:latin typeface="Georgia"/>
                <a:cs typeface="Georgia"/>
              </a:rPr>
              <a:t> </a:t>
            </a:r>
            <a:r>
              <a:rPr sz="3250" spc="114" dirty="0">
                <a:solidFill>
                  <a:srgbClr val="2E377E"/>
                </a:solidFill>
                <a:latin typeface="Georgia"/>
                <a:cs typeface="Georgia"/>
              </a:rPr>
              <a:t>ways</a:t>
            </a:r>
            <a:r>
              <a:rPr sz="3250" dirty="0">
                <a:solidFill>
                  <a:srgbClr val="2E377E"/>
                </a:solidFill>
                <a:latin typeface="Georgia"/>
                <a:cs typeface="Georgia"/>
              </a:rPr>
              <a:t> </a:t>
            </a:r>
            <a:r>
              <a:rPr sz="3250" spc="70" dirty="0">
                <a:solidFill>
                  <a:srgbClr val="2E377E"/>
                </a:solidFill>
                <a:latin typeface="Georgia"/>
                <a:cs typeface="Georgia"/>
              </a:rPr>
              <a:t>to</a:t>
            </a:r>
            <a:r>
              <a:rPr sz="3250" spc="5" dirty="0">
                <a:solidFill>
                  <a:srgbClr val="2E377E"/>
                </a:solidFill>
                <a:latin typeface="Georgia"/>
                <a:cs typeface="Georgia"/>
              </a:rPr>
              <a:t> </a:t>
            </a:r>
            <a:r>
              <a:rPr sz="3250" spc="45" dirty="0">
                <a:solidFill>
                  <a:srgbClr val="2E377E"/>
                </a:solidFill>
                <a:latin typeface="Georgia"/>
                <a:cs typeface="Georgia"/>
              </a:rPr>
              <a:t>decouple</a:t>
            </a:r>
            <a:r>
              <a:rPr sz="3250" spc="5" dirty="0">
                <a:solidFill>
                  <a:srgbClr val="2E377E"/>
                </a:solidFill>
                <a:latin typeface="Georgia"/>
                <a:cs typeface="Georgia"/>
              </a:rPr>
              <a:t> </a:t>
            </a:r>
            <a:r>
              <a:rPr sz="3250" spc="70" dirty="0">
                <a:solidFill>
                  <a:srgbClr val="2E377E"/>
                </a:solidFill>
                <a:latin typeface="Georgia"/>
                <a:cs typeface="Georgia"/>
              </a:rPr>
              <a:t>the</a:t>
            </a:r>
            <a:r>
              <a:rPr sz="3250" spc="5" dirty="0">
                <a:solidFill>
                  <a:srgbClr val="2E377E"/>
                </a:solidFill>
                <a:latin typeface="Georgia"/>
                <a:cs typeface="Georgia"/>
              </a:rPr>
              <a:t> </a:t>
            </a:r>
            <a:r>
              <a:rPr sz="3250" spc="45" dirty="0">
                <a:solidFill>
                  <a:srgbClr val="2E377E"/>
                </a:solidFill>
                <a:latin typeface="Georgia"/>
                <a:cs typeface="Georgia"/>
              </a:rPr>
              <a:t>configuration</a:t>
            </a:r>
            <a:r>
              <a:rPr sz="3250" spc="5" dirty="0">
                <a:solidFill>
                  <a:srgbClr val="2E377E"/>
                </a:solidFill>
                <a:latin typeface="Georgia"/>
                <a:cs typeface="Georgia"/>
              </a:rPr>
              <a:t> </a:t>
            </a:r>
            <a:r>
              <a:rPr sz="3250" spc="50" dirty="0">
                <a:solidFill>
                  <a:srgbClr val="2E377E"/>
                </a:solidFill>
                <a:latin typeface="Georgia"/>
                <a:cs typeface="Georgia"/>
              </a:rPr>
              <a:t>from</a:t>
            </a:r>
            <a:r>
              <a:rPr sz="3250" spc="5" dirty="0">
                <a:solidFill>
                  <a:srgbClr val="2E377E"/>
                </a:solidFill>
                <a:latin typeface="Georgia"/>
                <a:cs typeface="Georgia"/>
              </a:rPr>
              <a:t> </a:t>
            </a:r>
            <a:r>
              <a:rPr sz="3250" spc="70" dirty="0">
                <a:solidFill>
                  <a:srgbClr val="2E377E"/>
                </a:solidFill>
                <a:latin typeface="Georgia"/>
                <a:cs typeface="Georgia"/>
              </a:rPr>
              <a:t>the</a:t>
            </a:r>
            <a:r>
              <a:rPr sz="3250" dirty="0">
                <a:solidFill>
                  <a:srgbClr val="2E377E"/>
                </a:solidFill>
                <a:latin typeface="Georgia"/>
                <a:cs typeface="Georgia"/>
              </a:rPr>
              <a:t> application</a:t>
            </a:r>
            <a:r>
              <a:rPr sz="3250" spc="5" dirty="0">
                <a:solidFill>
                  <a:srgbClr val="2E377E"/>
                </a:solidFill>
                <a:latin typeface="Georgia"/>
                <a:cs typeface="Georgia"/>
              </a:rPr>
              <a:t> </a:t>
            </a:r>
            <a:r>
              <a:rPr sz="3250" spc="70" dirty="0">
                <a:solidFill>
                  <a:srgbClr val="2E377E"/>
                </a:solidFill>
                <a:latin typeface="Georgia"/>
                <a:cs typeface="Georgia"/>
              </a:rPr>
              <a:t>to</a:t>
            </a:r>
            <a:r>
              <a:rPr sz="3250" spc="5" dirty="0">
                <a:solidFill>
                  <a:srgbClr val="2E377E"/>
                </a:solidFill>
                <a:latin typeface="Georgia"/>
                <a:cs typeface="Georgia"/>
              </a:rPr>
              <a:t> </a:t>
            </a:r>
            <a:r>
              <a:rPr sz="3250" spc="80" dirty="0">
                <a:solidFill>
                  <a:srgbClr val="2E377E"/>
                </a:solidFill>
                <a:latin typeface="Georgia"/>
                <a:cs typeface="Georgia"/>
              </a:rPr>
              <a:t>get</a:t>
            </a:r>
            <a:r>
              <a:rPr sz="3250" spc="5" dirty="0">
                <a:solidFill>
                  <a:srgbClr val="2E377E"/>
                </a:solidFill>
                <a:latin typeface="Georgia"/>
                <a:cs typeface="Georgia"/>
              </a:rPr>
              <a:t> </a:t>
            </a:r>
            <a:r>
              <a:rPr sz="3250" dirty="0">
                <a:solidFill>
                  <a:srgbClr val="2E377E"/>
                </a:solidFill>
                <a:latin typeface="Georgia"/>
                <a:cs typeface="Georgia"/>
              </a:rPr>
              <a:t>rid</a:t>
            </a:r>
            <a:r>
              <a:rPr sz="3250" spc="5" dirty="0">
                <a:solidFill>
                  <a:srgbClr val="2E377E"/>
                </a:solidFill>
                <a:latin typeface="Georgia"/>
                <a:cs typeface="Georgia"/>
              </a:rPr>
              <a:t> </a:t>
            </a:r>
            <a:r>
              <a:rPr sz="3250" spc="-25" dirty="0">
                <a:solidFill>
                  <a:srgbClr val="2E377E"/>
                </a:solidFill>
                <a:latin typeface="Georgia"/>
                <a:cs typeface="Georgia"/>
              </a:rPr>
              <a:t>of </a:t>
            </a:r>
            <a:r>
              <a:rPr sz="3250" dirty="0">
                <a:solidFill>
                  <a:srgbClr val="2E377E"/>
                </a:solidFill>
                <a:latin typeface="Georgia"/>
                <a:cs typeface="Georgia"/>
              </a:rPr>
              <a:t>hardcoded</a:t>
            </a:r>
            <a:r>
              <a:rPr sz="3250" spc="310" dirty="0">
                <a:solidFill>
                  <a:srgbClr val="2E377E"/>
                </a:solidFill>
                <a:latin typeface="Georgia"/>
                <a:cs typeface="Georgia"/>
              </a:rPr>
              <a:t> </a:t>
            </a:r>
            <a:r>
              <a:rPr sz="3250" spc="-10" dirty="0">
                <a:solidFill>
                  <a:srgbClr val="2E377E"/>
                </a:solidFill>
                <a:latin typeface="Georgia"/>
                <a:cs typeface="Georgia"/>
              </a:rPr>
              <a:t>values.</a:t>
            </a:r>
            <a:endParaRPr sz="3250">
              <a:latin typeface="Georgia"/>
              <a:cs typeface="Georgia"/>
            </a:endParaRPr>
          </a:p>
          <a:p>
            <a:pPr marL="12700" marR="41910">
              <a:lnSpc>
                <a:spcPct val="117500"/>
              </a:lnSpc>
            </a:pPr>
            <a:r>
              <a:rPr sz="3250" dirty="0">
                <a:solidFill>
                  <a:srgbClr val="2E377E"/>
                </a:solidFill>
                <a:latin typeface="Georgia"/>
                <a:cs typeface="Georgia"/>
              </a:rPr>
              <a:t>Also,</a:t>
            </a:r>
            <a:r>
              <a:rPr sz="3250" spc="40" dirty="0">
                <a:solidFill>
                  <a:srgbClr val="2E377E"/>
                </a:solidFill>
                <a:latin typeface="Georgia"/>
                <a:cs typeface="Georgia"/>
              </a:rPr>
              <a:t> </a:t>
            </a:r>
            <a:r>
              <a:rPr sz="3250" dirty="0">
                <a:solidFill>
                  <a:srgbClr val="2E377E"/>
                </a:solidFill>
                <a:latin typeface="Georgia"/>
                <a:cs typeface="Georgia"/>
              </a:rPr>
              <a:t>if</a:t>
            </a:r>
            <a:r>
              <a:rPr sz="3250" spc="35" dirty="0">
                <a:solidFill>
                  <a:srgbClr val="2E377E"/>
                </a:solidFill>
                <a:latin typeface="Georgia"/>
                <a:cs typeface="Georgia"/>
              </a:rPr>
              <a:t> </a:t>
            </a:r>
            <a:r>
              <a:rPr sz="3250" spc="105" dirty="0">
                <a:solidFill>
                  <a:srgbClr val="2E377E"/>
                </a:solidFill>
                <a:latin typeface="Georgia"/>
                <a:cs typeface="Georgia"/>
              </a:rPr>
              <a:t>you</a:t>
            </a:r>
            <a:r>
              <a:rPr sz="3250" spc="40" dirty="0">
                <a:solidFill>
                  <a:srgbClr val="2E377E"/>
                </a:solidFill>
                <a:latin typeface="Georgia"/>
                <a:cs typeface="Georgia"/>
              </a:rPr>
              <a:t> </a:t>
            </a:r>
            <a:r>
              <a:rPr sz="3250" spc="60" dirty="0">
                <a:solidFill>
                  <a:srgbClr val="2E377E"/>
                </a:solidFill>
                <a:latin typeface="Georgia"/>
                <a:cs typeface="Georgia"/>
              </a:rPr>
              <a:t>observe</a:t>
            </a:r>
            <a:r>
              <a:rPr sz="3250" spc="40" dirty="0">
                <a:solidFill>
                  <a:srgbClr val="2E377E"/>
                </a:solidFill>
                <a:latin typeface="Georgia"/>
                <a:cs typeface="Georgia"/>
              </a:rPr>
              <a:t> </a:t>
            </a:r>
            <a:r>
              <a:rPr sz="3250" dirty="0">
                <a:solidFill>
                  <a:srgbClr val="2E377E"/>
                </a:solidFill>
                <a:latin typeface="Georgia"/>
                <a:cs typeface="Georgia"/>
              </a:rPr>
              <a:t>some</a:t>
            </a:r>
            <a:r>
              <a:rPr sz="3250" spc="40" dirty="0">
                <a:solidFill>
                  <a:srgbClr val="2E377E"/>
                </a:solidFill>
                <a:latin typeface="Georgia"/>
                <a:cs typeface="Georgia"/>
              </a:rPr>
              <a:t> </a:t>
            </a:r>
            <a:r>
              <a:rPr sz="3250" spc="50" dirty="0">
                <a:solidFill>
                  <a:srgbClr val="2E377E"/>
                </a:solidFill>
                <a:latin typeface="Georgia"/>
                <a:cs typeface="Georgia"/>
              </a:rPr>
              <a:t>important</a:t>
            </a:r>
            <a:r>
              <a:rPr sz="3250" spc="40" dirty="0">
                <a:solidFill>
                  <a:srgbClr val="2E377E"/>
                </a:solidFill>
                <a:latin typeface="Georgia"/>
                <a:cs typeface="Georgia"/>
              </a:rPr>
              <a:t> </a:t>
            </a:r>
            <a:r>
              <a:rPr sz="3250" spc="60" dirty="0">
                <a:solidFill>
                  <a:srgbClr val="2E377E"/>
                </a:solidFill>
                <a:latin typeface="Georgia"/>
                <a:cs typeface="Georgia"/>
              </a:rPr>
              <a:t>values</a:t>
            </a:r>
            <a:r>
              <a:rPr sz="3250" spc="40" dirty="0">
                <a:solidFill>
                  <a:srgbClr val="2E377E"/>
                </a:solidFill>
                <a:latin typeface="Georgia"/>
                <a:cs typeface="Georgia"/>
              </a:rPr>
              <a:t> </a:t>
            </a:r>
            <a:r>
              <a:rPr sz="3250" spc="70" dirty="0">
                <a:solidFill>
                  <a:srgbClr val="2E377E"/>
                </a:solidFill>
                <a:latin typeface="Georgia"/>
                <a:cs typeface="Georgia"/>
              </a:rPr>
              <a:t>keep</a:t>
            </a:r>
            <a:r>
              <a:rPr sz="3250" spc="35" dirty="0">
                <a:solidFill>
                  <a:srgbClr val="2E377E"/>
                </a:solidFill>
                <a:latin typeface="Georgia"/>
                <a:cs typeface="Georgia"/>
              </a:rPr>
              <a:t> </a:t>
            </a:r>
            <a:r>
              <a:rPr sz="3250" dirty="0">
                <a:solidFill>
                  <a:srgbClr val="2E377E"/>
                </a:solidFill>
                <a:latin typeface="Georgia"/>
                <a:cs typeface="Georgia"/>
              </a:rPr>
              <a:t>changing</a:t>
            </a:r>
            <a:r>
              <a:rPr sz="3250" spc="45" dirty="0">
                <a:solidFill>
                  <a:srgbClr val="2E377E"/>
                </a:solidFill>
                <a:latin typeface="Georgia"/>
                <a:cs typeface="Georgia"/>
              </a:rPr>
              <a:t> </a:t>
            </a:r>
            <a:r>
              <a:rPr sz="3250" dirty="0">
                <a:solidFill>
                  <a:srgbClr val="2E377E"/>
                </a:solidFill>
                <a:latin typeface="Georgia"/>
                <a:cs typeface="Georgia"/>
              </a:rPr>
              <a:t>according</a:t>
            </a:r>
            <a:r>
              <a:rPr sz="3250" spc="35" dirty="0">
                <a:solidFill>
                  <a:srgbClr val="2E377E"/>
                </a:solidFill>
                <a:latin typeface="Georgia"/>
                <a:cs typeface="Georgia"/>
              </a:rPr>
              <a:t> </a:t>
            </a:r>
            <a:r>
              <a:rPr sz="3250" spc="70" dirty="0">
                <a:solidFill>
                  <a:srgbClr val="2E377E"/>
                </a:solidFill>
                <a:latin typeface="Georgia"/>
                <a:cs typeface="Georgia"/>
              </a:rPr>
              <a:t>to</a:t>
            </a:r>
            <a:r>
              <a:rPr sz="3250" spc="40" dirty="0">
                <a:solidFill>
                  <a:srgbClr val="2E377E"/>
                </a:solidFill>
                <a:latin typeface="Georgia"/>
                <a:cs typeface="Georgia"/>
              </a:rPr>
              <a:t> </a:t>
            </a:r>
            <a:r>
              <a:rPr sz="3250" spc="45" dirty="0">
                <a:solidFill>
                  <a:srgbClr val="2E377E"/>
                </a:solidFill>
                <a:latin typeface="Georgia"/>
                <a:cs typeface="Georgia"/>
              </a:rPr>
              <a:t>the </a:t>
            </a:r>
            <a:r>
              <a:rPr sz="3250" spc="60" dirty="0">
                <a:solidFill>
                  <a:srgbClr val="2E377E"/>
                </a:solidFill>
                <a:latin typeface="Georgia"/>
                <a:cs typeface="Georgia"/>
              </a:rPr>
              <a:t>environments</a:t>
            </a:r>
            <a:r>
              <a:rPr sz="3250" spc="50" dirty="0">
                <a:solidFill>
                  <a:srgbClr val="2E377E"/>
                </a:solidFill>
                <a:latin typeface="Georgia"/>
                <a:cs typeface="Georgia"/>
              </a:rPr>
              <a:t> </a:t>
            </a:r>
            <a:r>
              <a:rPr sz="3250" spc="55" dirty="0">
                <a:solidFill>
                  <a:srgbClr val="2E377E"/>
                </a:solidFill>
                <a:latin typeface="Georgia"/>
                <a:cs typeface="Georgia"/>
              </a:rPr>
              <a:t>such</a:t>
            </a:r>
            <a:r>
              <a:rPr sz="3250" spc="60" dirty="0">
                <a:solidFill>
                  <a:srgbClr val="2E377E"/>
                </a:solidFill>
                <a:latin typeface="Georgia"/>
                <a:cs typeface="Georgia"/>
              </a:rPr>
              <a:t> </a:t>
            </a:r>
            <a:r>
              <a:rPr sz="3250" dirty="0">
                <a:solidFill>
                  <a:srgbClr val="2E377E"/>
                </a:solidFill>
                <a:latin typeface="Georgia"/>
                <a:cs typeface="Georgia"/>
              </a:rPr>
              <a:t>as</a:t>
            </a:r>
            <a:r>
              <a:rPr sz="3250" spc="50" dirty="0">
                <a:solidFill>
                  <a:srgbClr val="2E377E"/>
                </a:solidFill>
                <a:latin typeface="Georgia"/>
                <a:cs typeface="Georgia"/>
              </a:rPr>
              <a:t> development,</a:t>
            </a:r>
            <a:r>
              <a:rPr sz="3250" spc="55" dirty="0">
                <a:solidFill>
                  <a:srgbClr val="2E377E"/>
                </a:solidFill>
                <a:latin typeface="Georgia"/>
                <a:cs typeface="Georgia"/>
              </a:rPr>
              <a:t> </a:t>
            </a:r>
            <a:r>
              <a:rPr sz="3250" dirty="0">
                <a:solidFill>
                  <a:srgbClr val="2E377E"/>
                </a:solidFill>
                <a:latin typeface="Georgia"/>
                <a:cs typeface="Georgia"/>
              </a:rPr>
              <a:t>testing,</a:t>
            </a:r>
            <a:r>
              <a:rPr sz="3250" spc="55" dirty="0">
                <a:solidFill>
                  <a:srgbClr val="2E377E"/>
                </a:solidFill>
                <a:latin typeface="Georgia"/>
                <a:cs typeface="Georgia"/>
              </a:rPr>
              <a:t> </a:t>
            </a:r>
            <a:r>
              <a:rPr sz="3250" dirty="0">
                <a:solidFill>
                  <a:srgbClr val="2E377E"/>
                </a:solidFill>
                <a:latin typeface="Georgia"/>
                <a:cs typeface="Georgia"/>
              </a:rPr>
              <a:t>production,</a:t>
            </a:r>
            <a:r>
              <a:rPr sz="3250" spc="50" dirty="0">
                <a:solidFill>
                  <a:srgbClr val="2E377E"/>
                </a:solidFill>
                <a:latin typeface="Georgia"/>
                <a:cs typeface="Georgia"/>
              </a:rPr>
              <a:t> </a:t>
            </a:r>
            <a:r>
              <a:rPr sz="3250" spc="80" dirty="0">
                <a:solidFill>
                  <a:srgbClr val="2E377E"/>
                </a:solidFill>
                <a:latin typeface="Georgia"/>
                <a:cs typeface="Georgia"/>
              </a:rPr>
              <a:t>etc</a:t>
            </a:r>
            <a:r>
              <a:rPr sz="3250" spc="55" dirty="0">
                <a:solidFill>
                  <a:srgbClr val="2E377E"/>
                </a:solidFill>
                <a:latin typeface="Georgia"/>
                <a:cs typeface="Georgia"/>
              </a:rPr>
              <a:t> </a:t>
            </a:r>
            <a:r>
              <a:rPr sz="3250" dirty="0">
                <a:solidFill>
                  <a:srgbClr val="2E377E"/>
                </a:solidFill>
                <a:latin typeface="Georgia"/>
                <a:cs typeface="Georgia"/>
              </a:rPr>
              <a:t>ConfigMap</a:t>
            </a:r>
            <a:r>
              <a:rPr sz="3250" spc="55" dirty="0">
                <a:solidFill>
                  <a:srgbClr val="2E377E"/>
                </a:solidFill>
                <a:latin typeface="Georgia"/>
                <a:cs typeface="Georgia"/>
              </a:rPr>
              <a:t> </a:t>
            </a:r>
            <a:r>
              <a:rPr sz="3250" dirty="0">
                <a:solidFill>
                  <a:srgbClr val="2E377E"/>
                </a:solidFill>
                <a:latin typeface="Georgia"/>
                <a:cs typeface="Georgia"/>
              </a:rPr>
              <a:t>helps</a:t>
            </a:r>
            <a:r>
              <a:rPr sz="3250" spc="55" dirty="0">
                <a:solidFill>
                  <a:srgbClr val="2E377E"/>
                </a:solidFill>
                <a:latin typeface="Georgia"/>
                <a:cs typeface="Georgia"/>
              </a:rPr>
              <a:t> </a:t>
            </a:r>
            <a:r>
              <a:rPr sz="3250" spc="70" dirty="0">
                <a:solidFill>
                  <a:srgbClr val="2E377E"/>
                </a:solidFill>
                <a:latin typeface="Georgia"/>
                <a:cs typeface="Georgia"/>
              </a:rPr>
              <a:t>to</a:t>
            </a:r>
            <a:r>
              <a:rPr sz="3250" spc="50" dirty="0">
                <a:solidFill>
                  <a:srgbClr val="2E377E"/>
                </a:solidFill>
                <a:latin typeface="Georgia"/>
                <a:cs typeface="Georgia"/>
              </a:rPr>
              <a:t> </a:t>
            </a:r>
            <a:r>
              <a:rPr sz="3250" spc="70" dirty="0">
                <a:solidFill>
                  <a:srgbClr val="2E377E"/>
                </a:solidFill>
                <a:latin typeface="Georgia"/>
                <a:cs typeface="Georgia"/>
              </a:rPr>
              <a:t>fix</a:t>
            </a:r>
            <a:r>
              <a:rPr sz="3250" spc="55" dirty="0">
                <a:solidFill>
                  <a:srgbClr val="2E377E"/>
                </a:solidFill>
                <a:latin typeface="Georgia"/>
                <a:cs typeface="Georgia"/>
              </a:rPr>
              <a:t> </a:t>
            </a:r>
            <a:r>
              <a:rPr sz="3250" spc="30" dirty="0">
                <a:solidFill>
                  <a:srgbClr val="2E377E"/>
                </a:solidFill>
                <a:latin typeface="Georgia"/>
                <a:cs typeface="Georgia"/>
              </a:rPr>
              <a:t>this </a:t>
            </a:r>
            <a:r>
              <a:rPr sz="3250" dirty="0">
                <a:solidFill>
                  <a:srgbClr val="2E377E"/>
                </a:solidFill>
                <a:latin typeface="Georgia"/>
                <a:cs typeface="Georgia"/>
              </a:rPr>
              <a:t>issue</a:t>
            </a:r>
            <a:r>
              <a:rPr sz="3250" spc="15" dirty="0">
                <a:solidFill>
                  <a:srgbClr val="2E377E"/>
                </a:solidFill>
                <a:latin typeface="Georgia"/>
                <a:cs typeface="Georgia"/>
              </a:rPr>
              <a:t> </a:t>
            </a:r>
            <a:r>
              <a:rPr sz="3250" spc="70" dirty="0">
                <a:solidFill>
                  <a:srgbClr val="2E377E"/>
                </a:solidFill>
                <a:latin typeface="Georgia"/>
                <a:cs typeface="Georgia"/>
              </a:rPr>
              <a:t>to</a:t>
            </a:r>
            <a:r>
              <a:rPr sz="3250" spc="15" dirty="0">
                <a:solidFill>
                  <a:srgbClr val="2E377E"/>
                </a:solidFill>
                <a:latin typeface="Georgia"/>
                <a:cs typeface="Georgia"/>
              </a:rPr>
              <a:t> </a:t>
            </a:r>
            <a:r>
              <a:rPr sz="3250" spc="45" dirty="0">
                <a:solidFill>
                  <a:srgbClr val="2E377E"/>
                </a:solidFill>
                <a:latin typeface="Georgia"/>
                <a:cs typeface="Georgia"/>
              </a:rPr>
              <a:t>decouple</a:t>
            </a:r>
            <a:r>
              <a:rPr sz="3250" spc="15" dirty="0">
                <a:solidFill>
                  <a:srgbClr val="2E377E"/>
                </a:solidFill>
                <a:latin typeface="Georgia"/>
                <a:cs typeface="Georgia"/>
              </a:rPr>
              <a:t> </a:t>
            </a:r>
            <a:r>
              <a:rPr sz="3250" spc="70" dirty="0">
                <a:solidFill>
                  <a:srgbClr val="2E377E"/>
                </a:solidFill>
                <a:latin typeface="Georgia"/>
                <a:cs typeface="Georgia"/>
              </a:rPr>
              <a:t>the</a:t>
            </a:r>
            <a:r>
              <a:rPr sz="3250" spc="20" dirty="0">
                <a:solidFill>
                  <a:srgbClr val="2E377E"/>
                </a:solidFill>
                <a:latin typeface="Georgia"/>
                <a:cs typeface="Georgia"/>
              </a:rPr>
              <a:t> </a:t>
            </a:r>
            <a:r>
              <a:rPr sz="3250" spc="35" dirty="0">
                <a:solidFill>
                  <a:srgbClr val="2E377E"/>
                </a:solidFill>
                <a:latin typeface="Georgia"/>
                <a:cs typeface="Georgia"/>
              </a:rPr>
              <a:t>configurations</a:t>
            </a:r>
            <a:endParaRPr sz="3250">
              <a:latin typeface="Georgia"/>
              <a:cs typeface="Georgia"/>
            </a:endParaRPr>
          </a:p>
          <a:p>
            <a:pPr marL="12700">
              <a:lnSpc>
                <a:spcPct val="100000"/>
              </a:lnSpc>
              <a:spcBef>
                <a:spcPts val="685"/>
              </a:spcBef>
            </a:pPr>
            <a:r>
              <a:rPr sz="3250" dirty="0">
                <a:solidFill>
                  <a:srgbClr val="2E377E"/>
                </a:solidFill>
                <a:latin typeface="Georgia"/>
                <a:cs typeface="Georgia"/>
              </a:rPr>
              <a:t>So</a:t>
            </a:r>
            <a:r>
              <a:rPr sz="3250" spc="35" dirty="0">
                <a:solidFill>
                  <a:srgbClr val="2E377E"/>
                </a:solidFill>
                <a:latin typeface="Georgia"/>
                <a:cs typeface="Georgia"/>
              </a:rPr>
              <a:t> </a:t>
            </a:r>
            <a:r>
              <a:rPr sz="3250" spc="135" dirty="0">
                <a:solidFill>
                  <a:srgbClr val="2E377E"/>
                </a:solidFill>
                <a:latin typeface="Georgia"/>
                <a:cs typeface="Georgia"/>
              </a:rPr>
              <a:t>we</a:t>
            </a:r>
            <a:r>
              <a:rPr sz="3250" spc="35" dirty="0">
                <a:solidFill>
                  <a:srgbClr val="2E377E"/>
                </a:solidFill>
                <a:latin typeface="Georgia"/>
                <a:cs typeface="Georgia"/>
              </a:rPr>
              <a:t> </a:t>
            </a:r>
            <a:r>
              <a:rPr sz="3250" dirty="0">
                <a:solidFill>
                  <a:srgbClr val="2E377E"/>
                </a:solidFill>
                <a:latin typeface="Georgia"/>
                <a:cs typeface="Georgia"/>
              </a:rPr>
              <a:t>can</a:t>
            </a:r>
            <a:r>
              <a:rPr sz="3250" spc="35" dirty="0">
                <a:solidFill>
                  <a:srgbClr val="2E377E"/>
                </a:solidFill>
                <a:latin typeface="Georgia"/>
                <a:cs typeface="Georgia"/>
              </a:rPr>
              <a:t> </a:t>
            </a:r>
            <a:r>
              <a:rPr sz="3250" spc="70" dirty="0">
                <a:solidFill>
                  <a:srgbClr val="2E377E"/>
                </a:solidFill>
                <a:latin typeface="Georgia"/>
                <a:cs typeface="Georgia"/>
              </a:rPr>
              <a:t>set</a:t>
            </a:r>
            <a:r>
              <a:rPr sz="3250" spc="35" dirty="0">
                <a:solidFill>
                  <a:srgbClr val="2E377E"/>
                </a:solidFill>
                <a:latin typeface="Georgia"/>
                <a:cs typeface="Georgia"/>
              </a:rPr>
              <a:t> </a:t>
            </a:r>
            <a:r>
              <a:rPr sz="3250" spc="70" dirty="0">
                <a:solidFill>
                  <a:srgbClr val="2E377E"/>
                </a:solidFill>
                <a:latin typeface="Georgia"/>
                <a:cs typeface="Georgia"/>
              </a:rPr>
              <a:t>the</a:t>
            </a:r>
            <a:r>
              <a:rPr sz="3250" spc="35" dirty="0">
                <a:solidFill>
                  <a:srgbClr val="2E377E"/>
                </a:solidFill>
                <a:latin typeface="Georgia"/>
                <a:cs typeface="Georgia"/>
              </a:rPr>
              <a:t> </a:t>
            </a:r>
            <a:r>
              <a:rPr sz="3250" spc="45" dirty="0">
                <a:solidFill>
                  <a:srgbClr val="2E377E"/>
                </a:solidFill>
                <a:latin typeface="Georgia"/>
                <a:cs typeface="Georgia"/>
              </a:rPr>
              <a:t>configuration</a:t>
            </a:r>
            <a:r>
              <a:rPr sz="3250" spc="35" dirty="0">
                <a:solidFill>
                  <a:srgbClr val="2E377E"/>
                </a:solidFill>
                <a:latin typeface="Georgia"/>
                <a:cs typeface="Georgia"/>
              </a:rPr>
              <a:t> </a:t>
            </a:r>
            <a:r>
              <a:rPr sz="3250" dirty="0">
                <a:solidFill>
                  <a:srgbClr val="2E377E"/>
                </a:solidFill>
                <a:latin typeface="Georgia"/>
                <a:cs typeface="Georgia"/>
              </a:rPr>
              <a:t>of</a:t>
            </a:r>
            <a:r>
              <a:rPr sz="3250" spc="40" dirty="0">
                <a:solidFill>
                  <a:srgbClr val="2E377E"/>
                </a:solidFill>
                <a:latin typeface="Georgia"/>
                <a:cs typeface="Georgia"/>
              </a:rPr>
              <a:t> </a:t>
            </a:r>
            <a:r>
              <a:rPr sz="3250" dirty="0">
                <a:solidFill>
                  <a:srgbClr val="2E377E"/>
                </a:solidFill>
                <a:latin typeface="Georgia"/>
                <a:cs typeface="Georgia"/>
              </a:rPr>
              <a:t>data</a:t>
            </a:r>
            <a:r>
              <a:rPr sz="3250" spc="35" dirty="0">
                <a:solidFill>
                  <a:srgbClr val="2E377E"/>
                </a:solidFill>
                <a:latin typeface="Georgia"/>
                <a:cs typeface="Georgia"/>
              </a:rPr>
              <a:t> </a:t>
            </a:r>
            <a:r>
              <a:rPr sz="3250" dirty="0">
                <a:solidFill>
                  <a:srgbClr val="2E377E"/>
                </a:solidFill>
                <a:latin typeface="Georgia"/>
                <a:cs typeface="Georgia"/>
              </a:rPr>
              <a:t>of</a:t>
            </a:r>
            <a:r>
              <a:rPr sz="3250" spc="35" dirty="0">
                <a:solidFill>
                  <a:srgbClr val="2E377E"/>
                </a:solidFill>
                <a:latin typeface="Georgia"/>
                <a:cs typeface="Georgia"/>
              </a:rPr>
              <a:t> </a:t>
            </a:r>
            <a:r>
              <a:rPr sz="3250" dirty="0">
                <a:solidFill>
                  <a:srgbClr val="2E377E"/>
                </a:solidFill>
                <a:latin typeface="Georgia"/>
                <a:cs typeface="Georgia"/>
              </a:rPr>
              <a:t>application</a:t>
            </a:r>
            <a:r>
              <a:rPr sz="3250" spc="30" dirty="0">
                <a:solidFill>
                  <a:srgbClr val="2E377E"/>
                </a:solidFill>
                <a:latin typeface="Georgia"/>
                <a:cs typeface="Georgia"/>
              </a:rPr>
              <a:t> </a:t>
            </a:r>
            <a:r>
              <a:rPr sz="3250" spc="45" dirty="0">
                <a:solidFill>
                  <a:srgbClr val="2E377E"/>
                </a:solidFill>
                <a:latin typeface="Georgia"/>
                <a:cs typeface="Georgia"/>
              </a:rPr>
              <a:t>separately</a:t>
            </a:r>
            <a:endParaRPr sz="3250">
              <a:latin typeface="Georgia"/>
              <a:cs typeface="Georgia"/>
            </a:endParaRPr>
          </a:p>
          <a:p>
            <a:pPr marL="12700" marR="248920">
              <a:lnSpc>
                <a:spcPct val="117500"/>
              </a:lnSpc>
            </a:pPr>
            <a:r>
              <a:rPr sz="3250" dirty="0">
                <a:solidFill>
                  <a:srgbClr val="2E377E"/>
                </a:solidFill>
                <a:latin typeface="Georgia"/>
                <a:cs typeface="Georgia"/>
              </a:rPr>
              <a:t>But</a:t>
            </a:r>
            <a:r>
              <a:rPr sz="3250" spc="-25" dirty="0">
                <a:solidFill>
                  <a:srgbClr val="2E377E"/>
                </a:solidFill>
                <a:latin typeface="Georgia"/>
                <a:cs typeface="Georgia"/>
              </a:rPr>
              <a:t> </a:t>
            </a:r>
            <a:r>
              <a:rPr sz="3250" spc="65" dirty="0">
                <a:solidFill>
                  <a:srgbClr val="2E377E"/>
                </a:solidFill>
                <a:latin typeface="Georgia"/>
                <a:cs typeface="Georgia"/>
              </a:rPr>
              <a:t>it</a:t>
            </a:r>
            <a:r>
              <a:rPr sz="3250" spc="-20" dirty="0">
                <a:solidFill>
                  <a:srgbClr val="2E377E"/>
                </a:solidFill>
                <a:latin typeface="Georgia"/>
                <a:cs typeface="Georgia"/>
              </a:rPr>
              <a:t> </a:t>
            </a:r>
            <a:r>
              <a:rPr sz="3250" dirty="0">
                <a:solidFill>
                  <a:srgbClr val="2E377E"/>
                </a:solidFill>
                <a:latin typeface="Georgia"/>
                <a:cs typeface="Georgia"/>
              </a:rPr>
              <a:t>does</a:t>
            </a:r>
            <a:r>
              <a:rPr sz="3250" spc="-25" dirty="0">
                <a:solidFill>
                  <a:srgbClr val="2E377E"/>
                </a:solidFill>
                <a:latin typeface="Georgia"/>
                <a:cs typeface="Georgia"/>
              </a:rPr>
              <a:t> </a:t>
            </a:r>
            <a:r>
              <a:rPr sz="3250" spc="60" dirty="0">
                <a:solidFill>
                  <a:srgbClr val="2E377E"/>
                </a:solidFill>
                <a:latin typeface="Georgia"/>
                <a:cs typeface="Georgia"/>
              </a:rPr>
              <a:t>not</a:t>
            </a:r>
            <a:r>
              <a:rPr sz="3250" spc="-25" dirty="0">
                <a:solidFill>
                  <a:srgbClr val="2E377E"/>
                </a:solidFill>
                <a:latin typeface="Georgia"/>
                <a:cs typeface="Georgia"/>
              </a:rPr>
              <a:t> </a:t>
            </a:r>
            <a:r>
              <a:rPr sz="3250" spc="60" dirty="0">
                <a:solidFill>
                  <a:srgbClr val="2E377E"/>
                </a:solidFill>
                <a:latin typeface="Georgia"/>
                <a:cs typeface="Georgia"/>
              </a:rPr>
              <a:t>provider</a:t>
            </a:r>
            <a:r>
              <a:rPr sz="3250" spc="-20" dirty="0">
                <a:solidFill>
                  <a:srgbClr val="2E377E"/>
                </a:solidFill>
                <a:latin typeface="Georgia"/>
                <a:cs typeface="Georgia"/>
              </a:rPr>
              <a:t> </a:t>
            </a:r>
            <a:r>
              <a:rPr sz="3250" spc="80" dirty="0">
                <a:solidFill>
                  <a:srgbClr val="2E377E"/>
                </a:solidFill>
                <a:latin typeface="Georgia"/>
                <a:cs typeface="Georgia"/>
              </a:rPr>
              <a:t>security</a:t>
            </a:r>
            <a:r>
              <a:rPr sz="3250" spc="-25" dirty="0">
                <a:solidFill>
                  <a:srgbClr val="2E377E"/>
                </a:solidFill>
                <a:latin typeface="Georgia"/>
                <a:cs typeface="Georgia"/>
              </a:rPr>
              <a:t> </a:t>
            </a:r>
            <a:r>
              <a:rPr sz="3250" dirty="0">
                <a:solidFill>
                  <a:srgbClr val="2E377E"/>
                </a:solidFill>
                <a:latin typeface="Georgia"/>
                <a:cs typeface="Georgia"/>
              </a:rPr>
              <a:t>and</a:t>
            </a:r>
            <a:r>
              <a:rPr sz="3250" spc="-20" dirty="0">
                <a:solidFill>
                  <a:srgbClr val="2E377E"/>
                </a:solidFill>
                <a:latin typeface="Georgia"/>
                <a:cs typeface="Georgia"/>
              </a:rPr>
              <a:t> </a:t>
            </a:r>
            <a:r>
              <a:rPr sz="3250" spc="45" dirty="0">
                <a:solidFill>
                  <a:srgbClr val="2E377E"/>
                </a:solidFill>
                <a:latin typeface="Georgia"/>
                <a:cs typeface="Georgia"/>
              </a:rPr>
              <a:t>encryption.</a:t>
            </a:r>
            <a:r>
              <a:rPr sz="3250" spc="-25" dirty="0">
                <a:solidFill>
                  <a:srgbClr val="2E377E"/>
                </a:solidFill>
                <a:latin typeface="Georgia"/>
                <a:cs typeface="Georgia"/>
              </a:rPr>
              <a:t> </a:t>
            </a:r>
            <a:r>
              <a:rPr sz="3250" dirty="0">
                <a:solidFill>
                  <a:srgbClr val="2E377E"/>
                </a:solidFill>
                <a:latin typeface="Georgia"/>
                <a:cs typeface="Georgia"/>
              </a:rPr>
              <a:t>If</a:t>
            </a:r>
            <a:r>
              <a:rPr sz="3250" spc="-20" dirty="0">
                <a:solidFill>
                  <a:srgbClr val="2E377E"/>
                </a:solidFill>
                <a:latin typeface="Georgia"/>
                <a:cs typeface="Georgia"/>
              </a:rPr>
              <a:t> </a:t>
            </a:r>
            <a:r>
              <a:rPr sz="3250" spc="135" dirty="0">
                <a:solidFill>
                  <a:srgbClr val="2E377E"/>
                </a:solidFill>
                <a:latin typeface="Georgia"/>
                <a:cs typeface="Georgia"/>
              </a:rPr>
              <a:t>we</a:t>
            </a:r>
            <a:r>
              <a:rPr sz="3250" spc="-25" dirty="0">
                <a:solidFill>
                  <a:srgbClr val="2E377E"/>
                </a:solidFill>
                <a:latin typeface="Georgia"/>
                <a:cs typeface="Georgia"/>
              </a:rPr>
              <a:t> </a:t>
            </a:r>
            <a:r>
              <a:rPr sz="3250" spc="90" dirty="0">
                <a:solidFill>
                  <a:srgbClr val="2E377E"/>
                </a:solidFill>
                <a:latin typeface="Georgia"/>
                <a:cs typeface="Georgia"/>
              </a:rPr>
              <a:t>want</a:t>
            </a:r>
            <a:r>
              <a:rPr sz="3250" spc="-20" dirty="0">
                <a:solidFill>
                  <a:srgbClr val="2E377E"/>
                </a:solidFill>
                <a:latin typeface="Georgia"/>
                <a:cs typeface="Georgia"/>
              </a:rPr>
              <a:t> </a:t>
            </a:r>
            <a:r>
              <a:rPr sz="3250" spc="70" dirty="0">
                <a:solidFill>
                  <a:srgbClr val="2E377E"/>
                </a:solidFill>
                <a:latin typeface="Georgia"/>
                <a:cs typeface="Georgia"/>
              </a:rPr>
              <a:t>to</a:t>
            </a:r>
            <a:r>
              <a:rPr sz="3250" spc="-25" dirty="0">
                <a:solidFill>
                  <a:srgbClr val="2E377E"/>
                </a:solidFill>
                <a:latin typeface="Georgia"/>
                <a:cs typeface="Georgia"/>
              </a:rPr>
              <a:t> </a:t>
            </a:r>
            <a:r>
              <a:rPr sz="3250" spc="60" dirty="0">
                <a:solidFill>
                  <a:srgbClr val="2E377E"/>
                </a:solidFill>
                <a:latin typeface="Georgia"/>
                <a:cs typeface="Georgia"/>
              </a:rPr>
              <a:t>provide</a:t>
            </a:r>
            <a:r>
              <a:rPr sz="3250" spc="-20" dirty="0">
                <a:solidFill>
                  <a:srgbClr val="2E377E"/>
                </a:solidFill>
                <a:latin typeface="Georgia"/>
                <a:cs typeface="Georgia"/>
              </a:rPr>
              <a:t> </a:t>
            </a:r>
            <a:r>
              <a:rPr sz="3250" spc="65" dirty="0">
                <a:solidFill>
                  <a:srgbClr val="2E377E"/>
                </a:solidFill>
                <a:latin typeface="Georgia"/>
                <a:cs typeface="Georgia"/>
              </a:rPr>
              <a:t>encryption</a:t>
            </a:r>
            <a:r>
              <a:rPr sz="3250" spc="-25" dirty="0">
                <a:solidFill>
                  <a:srgbClr val="2E377E"/>
                </a:solidFill>
                <a:latin typeface="Georgia"/>
                <a:cs typeface="Georgia"/>
              </a:rPr>
              <a:t> </a:t>
            </a:r>
            <a:r>
              <a:rPr sz="3250" spc="35" dirty="0">
                <a:solidFill>
                  <a:srgbClr val="2E377E"/>
                </a:solidFill>
                <a:latin typeface="Georgia"/>
                <a:cs typeface="Georgia"/>
              </a:rPr>
              <a:t>use </a:t>
            </a:r>
            <a:r>
              <a:rPr sz="3250" spc="60" dirty="0">
                <a:solidFill>
                  <a:srgbClr val="2E377E"/>
                </a:solidFill>
                <a:latin typeface="Georgia"/>
                <a:cs typeface="Georgia"/>
              </a:rPr>
              <a:t>secrets</a:t>
            </a:r>
            <a:r>
              <a:rPr sz="3250" spc="-15" dirty="0">
                <a:solidFill>
                  <a:srgbClr val="2E377E"/>
                </a:solidFill>
                <a:latin typeface="Georgia"/>
                <a:cs typeface="Georgia"/>
              </a:rPr>
              <a:t> </a:t>
            </a:r>
            <a:r>
              <a:rPr sz="3250" dirty="0">
                <a:solidFill>
                  <a:srgbClr val="2E377E"/>
                </a:solidFill>
                <a:latin typeface="Georgia"/>
                <a:cs typeface="Georgia"/>
              </a:rPr>
              <a:t>in</a:t>
            </a:r>
            <a:r>
              <a:rPr sz="3250" spc="-10" dirty="0">
                <a:solidFill>
                  <a:srgbClr val="2E377E"/>
                </a:solidFill>
                <a:latin typeface="Georgia"/>
                <a:cs typeface="Georgia"/>
              </a:rPr>
              <a:t> Kubernetes.</a:t>
            </a:r>
            <a:endParaRPr sz="3250">
              <a:latin typeface="Georgia"/>
              <a:cs typeface="Georgia"/>
            </a:endParaRPr>
          </a:p>
          <a:p>
            <a:pPr marL="12700">
              <a:lnSpc>
                <a:spcPct val="100000"/>
              </a:lnSpc>
              <a:spcBef>
                <a:spcPts val="685"/>
              </a:spcBef>
            </a:pPr>
            <a:r>
              <a:rPr sz="3250" dirty="0">
                <a:solidFill>
                  <a:srgbClr val="2E377E"/>
                </a:solidFill>
                <a:latin typeface="Georgia"/>
                <a:cs typeface="Georgia"/>
              </a:rPr>
              <a:t>Limit</a:t>
            </a:r>
            <a:r>
              <a:rPr sz="3250" spc="35" dirty="0">
                <a:solidFill>
                  <a:srgbClr val="2E377E"/>
                </a:solidFill>
                <a:latin typeface="Georgia"/>
                <a:cs typeface="Georgia"/>
              </a:rPr>
              <a:t> </a:t>
            </a:r>
            <a:r>
              <a:rPr sz="3250" dirty="0">
                <a:solidFill>
                  <a:srgbClr val="2E377E"/>
                </a:solidFill>
                <a:latin typeface="Georgia"/>
                <a:cs typeface="Georgia"/>
              </a:rPr>
              <a:t>of</a:t>
            </a:r>
            <a:r>
              <a:rPr sz="3250" spc="40" dirty="0">
                <a:solidFill>
                  <a:srgbClr val="2E377E"/>
                </a:solidFill>
                <a:latin typeface="Georgia"/>
                <a:cs typeface="Georgia"/>
              </a:rPr>
              <a:t> </a:t>
            </a:r>
            <a:r>
              <a:rPr sz="3250" dirty="0">
                <a:solidFill>
                  <a:srgbClr val="2E377E"/>
                </a:solidFill>
                <a:latin typeface="Georgia"/>
                <a:cs typeface="Georgia"/>
              </a:rPr>
              <a:t>config</a:t>
            </a:r>
            <a:r>
              <a:rPr sz="3250" spc="35" dirty="0">
                <a:solidFill>
                  <a:srgbClr val="2E377E"/>
                </a:solidFill>
                <a:latin typeface="Georgia"/>
                <a:cs typeface="Georgia"/>
              </a:rPr>
              <a:t> </a:t>
            </a:r>
            <a:r>
              <a:rPr sz="3250" dirty="0">
                <a:solidFill>
                  <a:srgbClr val="2E377E"/>
                </a:solidFill>
                <a:latin typeface="Georgia"/>
                <a:cs typeface="Georgia"/>
              </a:rPr>
              <a:t>map</a:t>
            </a:r>
            <a:r>
              <a:rPr sz="3250" spc="35" dirty="0">
                <a:solidFill>
                  <a:srgbClr val="2E377E"/>
                </a:solidFill>
                <a:latin typeface="Georgia"/>
                <a:cs typeface="Georgia"/>
              </a:rPr>
              <a:t> </a:t>
            </a:r>
            <a:r>
              <a:rPr sz="3250" dirty="0">
                <a:solidFill>
                  <a:srgbClr val="2E377E"/>
                </a:solidFill>
                <a:latin typeface="Georgia"/>
                <a:cs typeface="Georgia"/>
              </a:rPr>
              <a:t>data</a:t>
            </a:r>
            <a:r>
              <a:rPr sz="3250" spc="40" dirty="0">
                <a:solidFill>
                  <a:srgbClr val="2E377E"/>
                </a:solidFill>
                <a:latin typeface="Georgia"/>
                <a:cs typeface="Georgia"/>
              </a:rPr>
              <a:t> </a:t>
            </a:r>
            <a:r>
              <a:rPr sz="3250" dirty="0">
                <a:solidFill>
                  <a:srgbClr val="2E377E"/>
                </a:solidFill>
                <a:latin typeface="Georgia"/>
                <a:cs typeface="Georgia"/>
              </a:rPr>
              <a:t>in</a:t>
            </a:r>
            <a:r>
              <a:rPr sz="3250" spc="30" dirty="0">
                <a:solidFill>
                  <a:srgbClr val="2E377E"/>
                </a:solidFill>
                <a:latin typeface="Georgia"/>
                <a:cs typeface="Georgia"/>
              </a:rPr>
              <a:t> </a:t>
            </a:r>
            <a:r>
              <a:rPr sz="3250" spc="70" dirty="0">
                <a:solidFill>
                  <a:srgbClr val="2E377E"/>
                </a:solidFill>
                <a:latin typeface="Georgia"/>
                <a:cs typeface="Georgia"/>
              </a:rPr>
              <a:t>only</a:t>
            </a:r>
            <a:r>
              <a:rPr sz="3250" spc="40" dirty="0">
                <a:solidFill>
                  <a:srgbClr val="2E377E"/>
                </a:solidFill>
                <a:latin typeface="Georgia"/>
                <a:cs typeface="Georgia"/>
              </a:rPr>
              <a:t> </a:t>
            </a:r>
            <a:r>
              <a:rPr sz="3250" dirty="0">
                <a:solidFill>
                  <a:srgbClr val="2E377E"/>
                </a:solidFill>
                <a:latin typeface="Georgia"/>
                <a:cs typeface="Georgia"/>
              </a:rPr>
              <a:t>1</a:t>
            </a:r>
            <a:r>
              <a:rPr sz="3250" spc="35" dirty="0">
                <a:solidFill>
                  <a:srgbClr val="2E377E"/>
                </a:solidFill>
                <a:latin typeface="Georgia"/>
                <a:cs typeface="Georgia"/>
              </a:rPr>
              <a:t> </a:t>
            </a:r>
            <a:r>
              <a:rPr sz="3250" spc="-90" dirty="0">
                <a:solidFill>
                  <a:srgbClr val="2E377E"/>
                </a:solidFill>
                <a:latin typeface="Georgia"/>
                <a:cs typeface="Georgia"/>
              </a:rPr>
              <a:t>MB</a:t>
            </a:r>
            <a:r>
              <a:rPr sz="3250" spc="40" dirty="0">
                <a:solidFill>
                  <a:srgbClr val="2E377E"/>
                </a:solidFill>
                <a:latin typeface="Georgia"/>
                <a:cs typeface="Georgia"/>
              </a:rPr>
              <a:t> </a:t>
            </a:r>
            <a:r>
              <a:rPr sz="3250" dirty="0">
                <a:solidFill>
                  <a:srgbClr val="2E377E"/>
                </a:solidFill>
                <a:latin typeface="Georgia"/>
                <a:cs typeface="Georgia"/>
              </a:rPr>
              <a:t>(we</a:t>
            </a:r>
            <a:r>
              <a:rPr sz="3250" spc="35" dirty="0">
                <a:solidFill>
                  <a:srgbClr val="2E377E"/>
                </a:solidFill>
                <a:latin typeface="Georgia"/>
                <a:cs typeface="Georgia"/>
              </a:rPr>
              <a:t> </a:t>
            </a:r>
            <a:r>
              <a:rPr sz="3250" dirty="0">
                <a:solidFill>
                  <a:srgbClr val="2E377E"/>
                </a:solidFill>
                <a:latin typeface="Georgia"/>
                <a:cs typeface="Georgia"/>
              </a:rPr>
              <a:t>cannot</a:t>
            </a:r>
            <a:r>
              <a:rPr sz="3250" spc="35" dirty="0">
                <a:solidFill>
                  <a:srgbClr val="2E377E"/>
                </a:solidFill>
                <a:latin typeface="Georgia"/>
                <a:cs typeface="Georgia"/>
              </a:rPr>
              <a:t> </a:t>
            </a:r>
            <a:r>
              <a:rPr sz="3250" spc="60" dirty="0">
                <a:solidFill>
                  <a:srgbClr val="2E377E"/>
                </a:solidFill>
                <a:latin typeface="Georgia"/>
                <a:cs typeface="Georgia"/>
              </a:rPr>
              <a:t>store</a:t>
            </a:r>
            <a:r>
              <a:rPr sz="3250" spc="35" dirty="0">
                <a:solidFill>
                  <a:srgbClr val="2E377E"/>
                </a:solidFill>
                <a:latin typeface="Georgia"/>
                <a:cs typeface="Georgia"/>
              </a:rPr>
              <a:t> </a:t>
            </a:r>
            <a:r>
              <a:rPr sz="3250" spc="50" dirty="0">
                <a:solidFill>
                  <a:srgbClr val="2E377E"/>
                </a:solidFill>
                <a:latin typeface="Georgia"/>
                <a:cs typeface="Georgia"/>
              </a:rPr>
              <a:t>more</a:t>
            </a:r>
            <a:r>
              <a:rPr sz="3250" spc="35" dirty="0">
                <a:solidFill>
                  <a:srgbClr val="2E377E"/>
                </a:solidFill>
                <a:latin typeface="Georgia"/>
                <a:cs typeface="Georgia"/>
              </a:rPr>
              <a:t> </a:t>
            </a:r>
            <a:r>
              <a:rPr sz="3250" dirty="0">
                <a:solidFill>
                  <a:srgbClr val="2E377E"/>
                </a:solidFill>
                <a:latin typeface="Georgia"/>
                <a:cs typeface="Georgia"/>
              </a:rPr>
              <a:t>than</a:t>
            </a:r>
            <a:r>
              <a:rPr sz="3250" spc="40" dirty="0">
                <a:solidFill>
                  <a:srgbClr val="2E377E"/>
                </a:solidFill>
                <a:latin typeface="Georgia"/>
                <a:cs typeface="Georgia"/>
              </a:rPr>
              <a:t> </a:t>
            </a:r>
            <a:r>
              <a:rPr sz="3250" spc="-10" dirty="0">
                <a:solidFill>
                  <a:srgbClr val="2E377E"/>
                </a:solidFill>
                <a:latin typeface="Georgia"/>
                <a:cs typeface="Georgia"/>
              </a:rPr>
              <a:t>that)</a:t>
            </a:r>
            <a:endParaRPr sz="3250">
              <a:latin typeface="Georgia"/>
              <a:cs typeface="Georgia"/>
            </a:endParaRPr>
          </a:p>
          <a:p>
            <a:pPr marL="12700" marR="1282700">
              <a:lnSpc>
                <a:spcPct val="117500"/>
              </a:lnSpc>
            </a:pPr>
            <a:r>
              <a:rPr sz="3250" dirty="0">
                <a:solidFill>
                  <a:srgbClr val="2E377E"/>
                </a:solidFill>
                <a:latin typeface="Georgia"/>
                <a:cs typeface="Georgia"/>
              </a:rPr>
              <a:t>But</a:t>
            </a:r>
            <a:r>
              <a:rPr sz="3250" spc="10" dirty="0">
                <a:solidFill>
                  <a:srgbClr val="2E377E"/>
                </a:solidFill>
                <a:latin typeface="Georgia"/>
                <a:cs typeface="Georgia"/>
              </a:rPr>
              <a:t> </a:t>
            </a:r>
            <a:r>
              <a:rPr sz="3250" dirty="0">
                <a:solidFill>
                  <a:srgbClr val="2E377E"/>
                </a:solidFill>
                <a:latin typeface="Georgia"/>
                <a:cs typeface="Georgia"/>
              </a:rPr>
              <a:t>if</a:t>
            </a:r>
            <a:r>
              <a:rPr sz="3250" spc="10" dirty="0">
                <a:solidFill>
                  <a:srgbClr val="2E377E"/>
                </a:solidFill>
                <a:latin typeface="Georgia"/>
                <a:cs typeface="Georgia"/>
              </a:rPr>
              <a:t> </a:t>
            </a:r>
            <a:r>
              <a:rPr sz="3250" spc="135" dirty="0">
                <a:solidFill>
                  <a:srgbClr val="2E377E"/>
                </a:solidFill>
                <a:latin typeface="Georgia"/>
                <a:cs typeface="Georgia"/>
              </a:rPr>
              <a:t>we</a:t>
            </a:r>
            <a:r>
              <a:rPr sz="3250" spc="10" dirty="0">
                <a:solidFill>
                  <a:srgbClr val="2E377E"/>
                </a:solidFill>
                <a:latin typeface="Georgia"/>
                <a:cs typeface="Georgia"/>
              </a:rPr>
              <a:t> </a:t>
            </a:r>
            <a:r>
              <a:rPr sz="3250" spc="90" dirty="0">
                <a:solidFill>
                  <a:srgbClr val="2E377E"/>
                </a:solidFill>
                <a:latin typeface="Georgia"/>
                <a:cs typeface="Georgia"/>
              </a:rPr>
              <a:t>want</a:t>
            </a:r>
            <a:r>
              <a:rPr sz="3250" spc="10" dirty="0">
                <a:solidFill>
                  <a:srgbClr val="2E377E"/>
                </a:solidFill>
                <a:latin typeface="Georgia"/>
                <a:cs typeface="Georgia"/>
              </a:rPr>
              <a:t> </a:t>
            </a:r>
            <a:r>
              <a:rPr sz="3250" spc="70" dirty="0">
                <a:solidFill>
                  <a:srgbClr val="2E377E"/>
                </a:solidFill>
                <a:latin typeface="Georgia"/>
                <a:cs typeface="Georgia"/>
              </a:rPr>
              <a:t>to</a:t>
            </a:r>
            <a:r>
              <a:rPr sz="3250" spc="15" dirty="0">
                <a:solidFill>
                  <a:srgbClr val="2E377E"/>
                </a:solidFill>
                <a:latin typeface="Georgia"/>
                <a:cs typeface="Georgia"/>
              </a:rPr>
              <a:t> </a:t>
            </a:r>
            <a:r>
              <a:rPr sz="3250" spc="60" dirty="0">
                <a:solidFill>
                  <a:srgbClr val="2E377E"/>
                </a:solidFill>
                <a:latin typeface="Georgia"/>
                <a:cs typeface="Georgia"/>
              </a:rPr>
              <a:t>store</a:t>
            </a:r>
            <a:r>
              <a:rPr sz="3250" spc="10" dirty="0">
                <a:solidFill>
                  <a:srgbClr val="2E377E"/>
                </a:solidFill>
                <a:latin typeface="Georgia"/>
                <a:cs typeface="Georgia"/>
              </a:rPr>
              <a:t> </a:t>
            </a:r>
            <a:r>
              <a:rPr sz="3250" dirty="0">
                <a:solidFill>
                  <a:srgbClr val="2E377E"/>
                </a:solidFill>
                <a:latin typeface="Georgia"/>
                <a:cs typeface="Georgia"/>
              </a:rPr>
              <a:t>a</a:t>
            </a:r>
            <a:r>
              <a:rPr sz="3250" spc="15" dirty="0">
                <a:solidFill>
                  <a:srgbClr val="2E377E"/>
                </a:solidFill>
                <a:latin typeface="Georgia"/>
                <a:cs typeface="Georgia"/>
              </a:rPr>
              <a:t> </a:t>
            </a:r>
            <a:r>
              <a:rPr sz="3250" dirty="0">
                <a:solidFill>
                  <a:srgbClr val="2E377E"/>
                </a:solidFill>
                <a:latin typeface="Georgia"/>
                <a:cs typeface="Georgia"/>
              </a:rPr>
              <a:t>large</a:t>
            </a:r>
            <a:r>
              <a:rPr sz="3250" spc="5" dirty="0">
                <a:solidFill>
                  <a:srgbClr val="2E377E"/>
                </a:solidFill>
                <a:latin typeface="Georgia"/>
                <a:cs typeface="Georgia"/>
              </a:rPr>
              <a:t> </a:t>
            </a:r>
            <a:r>
              <a:rPr sz="3250" spc="50" dirty="0">
                <a:solidFill>
                  <a:srgbClr val="2E377E"/>
                </a:solidFill>
                <a:latin typeface="Georgia"/>
                <a:cs typeface="Georgia"/>
              </a:rPr>
              <a:t>amount</a:t>
            </a:r>
            <a:r>
              <a:rPr sz="3250" spc="15" dirty="0">
                <a:solidFill>
                  <a:srgbClr val="2E377E"/>
                </a:solidFill>
                <a:latin typeface="Georgia"/>
                <a:cs typeface="Georgia"/>
              </a:rPr>
              <a:t> </a:t>
            </a:r>
            <a:r>
              <a:rPr sz="3250" dirty="0">
                <a:solidFill>
                  <a:srgbClr val="2E377E"/>
                </a:solidFill>
                <a:latin typeface="Georgia"/>
                <a:cs typeface="Georgia"/>
              </a:rPr>
              <a:t>of</a:t>
            </a:r>
            <a:r>
              <a:rPr sz="3250" spc="10" dirty="0">
                <a:solidFill>
                  <a:srgbClr val="2E377E"/>
                </a:solidFill>
                <a:latin typeface="Georgia"/>
                <a:cs typeface="Georgia"/>
              </a:rPr>
              <a:t> </a:t>
            </a:r>
            <a:r>
              <a:rPr sz="3250" dirty="0">
                <a:solidFill>
                  <a:srgbClr val="2E377E"/>
                </a:solidFill>
                <a:latin typeface="Georgia"/>
                <a:cs typeface="Georgia"/>
              </a:rPr>
              <a:t>data</a:t>
            </a:r>
            <a:r>
              <a:rPr sz="3250" spc="15" dirty="0">
                <a:solidFill>
                  <a:srgbClr val="2E377E"/>
                </a:solidFill>
                <a:latin typeface="Georgia"/>
                <a:cs typeface="Georgia"/>
              </a:rPr>
              <a:t> </a:t>
            </a:r>
            <a:r>
              <a:rPr sz="3250" dirty="0">
                <a:solidFill>
                  <a:srgbClr val="2E377E"/>
                </a:solidFill>
                <a:latin typeface="Georgia"/>
                <a:cs typeface="Georgia"/>
              </a:rPr>
              <a:t>in</a:t>
            </a:r>
            <a:r>
              <a:rPr sz="3250" spc="10" dirty="0">
                <a:solidFill>
                  <a:srgbClr val="2E377E"/>
                </a:solidFill>
                <a:latin typeface="Georgia"/>
                <a:cs typeface="Georgia"/>
              </a:rPr>
              <a:t> </a:t>
            </a:r>
            <a:r>
              <a:rPr sz="3250" dirty="0">
                <a:solidFill>
                  <a:srgbClr val="2E377E"/>
                </a:solidFill>
                <a:latin typeface="Georgia"/>
                <a:cs typeface="Georgia"/>
              </a:rPr>
              <a:t>config</a:t>
            </a:r>
            <a:r>
              <a:rPr sz="3250" spc="10" dirty="0">
                <a:solidFill>
                  <a:srgbClr val="2E377E"/>
                </a:solidFill>
                <a:latin typeface="Georgia"/>
                <a:cs typeface="Georgia"/>
              </a:rPr>
              <a:t> </a:t>
            </a:r>
            <a:r>
              <a:rPr sz="3250" dirty="0">
                <a:solidFill>
                  <a:srgbClr val="2E377E"/>
                </a:solidFill>
                <a:latin typeface="Georgia"/>
                <a:cs typeface="Georgia"/>
              </a:rPr>
              <a:t>maps</a:t>
            </a:r>
            <a:r>
              <a:rPr sz="3250" spc="10" dirty="0">
                <a:solidFill>
                  <a:srgbClr val="2E377E"/>
                </a:solidFill>
                <a:latin typeface="Georgia"/>
                <a:cs typeface="Georgia"/>
              </a:rPr>
              <a:t> </a:t>
            </a:r>
            <a:r>
              <a:rPr sz="3250" spc="135" dirty="0">
                <a:solidFill>
                  <a:srgbClr val="2E377E"/>
                </a:solidFill>
                <a:latin typeface="Georgia"/>
                <a:cs typeface="Georgia"/>
              </a:rPr>
              <a:t>we</a:t>
            </a:r>
            <a:r>
              <a:rPr sz="3250" spc="10" dirty="0">
                <a:solidFill>
                  <a:srgbClr val="2E377E"/>
                </a:solidFill>
                <a:latin typeface="Georgia"/>
                <a:cs typeface="Georgia"/>
              </a:rPr>
              <a:t> </a:t>
            </a:r>
            <a:r>
              <a:rPr sz="3250" spc="70" dirty="0">
                <a:solidFill>
                  <a:srgbClr val="2E377E"/>
                </a:solidFill>
                <a:latin typeface="Georgia"/>
                <a:cs typeface="Georgia"/>
              </a:rPr>
              <a:t>have</a:t>
            </a:r>
            <a:r>
              <a:rPr sz="3250" spc="10" dirty="0">
                <a:solidFill>
                  <a:srgbClr val="2E377E"/>
                </a:solidFill>
                <a:latin typeface="Georgia"/>
                <a:cs typeface="Georgia"/>
              </a:rPr>
              <a:t> </a:t>
            </a:r>
            <a:r>
              <a:rPr sz="3250" spc="70" dirty="0">
                <a:solidFill>
                  <a:srgbClr val="2E377E"/>
                </a:solidFill>
                <a:latin typeface="Georgia"/>
                <a:cs typeface="Georgia"/>
              </a:rPr>
              <a:t>to</a:t>
            </a:r>
            <a:r>
              <a:rPr sz="3250" spc="10" dirty="0">
                <a:solidFill>
                  <a:srgbClr val="2E377E"/>
                </a:solidFill>
                <a:latin typeface="Georgia"/>
                <a:cs typeface="Georgia"/>
              </a:rPr>
              <a:t> </a:t>
            </a:r>
            <a:r>
              <a:rPr sz="3250" spc="60" dirty="0">
                <a:solidFill>
                  <a:srgbClr val="2E377E"/>
                </a:solidFill>
                <a:latin typeface="Georgia"/>
                <a:cs typeface="Georgia"/>
              </a:rPr>
              <a:t>mount</a:t>
            </a:r>
            <a:r>
              <a:rPr sz="3250" spc="15" dirty="0">
                <a:solidFill>
                  <a:srgbClr val="2E377E"/>
                </a:solidFill>
                <a:latin typeface="Georgia"/>
                <a:cs typeface="Georgia"/>
              </a:rPr>
              <a:t> </a:t>
            </a:r>
            <a:r>
              <a:rPr sz="3250" spc="-50" dirty="0">
                <a:solidFill>
                  <a:srgbClr val="2E377E"/>
                </a:solidFill>
                <a:latin typeface="Georgia"/>
                <a:cs typeface="Georgia"/>
              </a:rPr>
              <a:t>a </a:t>
            </a:r>
            <a:r>
              <a:rPr sz="3250" spc="70" dirty="0">
                <a:solidFill>
                  <a:srgbClr val="2E377E"/>
                </a:solidFill>
                <a:latin typeface="Georgia"/>
                <a:cs typeface="Georgia"/>
              </a:rPr>
              <a:t>volume</a:t>
            </a:r>
            <a:r>
              <a:rPr sz="3250" spc="20" dirty="0">
                <a:solidFill>
                  <a:srgbClr val="2E377E"/>
                </a:solidFill>
                <a:latin typeface="Georgia"/>
                <a:cs typeface="Georgia"/>
              </a:rPr>
              <a:t> </a:t>
            </a:r>
            <a:r>
              <a:rPr sz="3250" dirty="0">
                <a:solidFill>
                  <a:srgbClr val="2E377E"/>
                </a:solidFill>
                <a:latin typeface="Georgia"/>
                <a:cs typeface="Georgia"/>
              </a:rPr>
              <a:t>or</a:t>
            </a:r>
            <a:r>
              <a:rPr sz="3250" spc="20" dirty="0">
                <a:solidFill>
                  <a:srgbClr val="2E377E"/>
                </a:solidFill>
                <a:latin typeface="Georgia"/>
                <a:cs typeface="Georgia"/>
              </a:rPr>
              <a:t> </a:t>
            </a:r>
            <a:r>
              <a:rPr sz="3250" spc="60" dirty="0">
                <a:solidFill>
                  <a:srgbClr val="2E377E"/>
                </a:solidFill>
                <a:latin typeface="Georgia"/>
                <a:cs typeface="Georgia"/>
              </a:rPr>
              <a:t>use</a:t>
            </a:r>
            <a:r>
              <a:rPr sz="3250" spc="20" dirty="0">
                <a:solidFill>
                  <a:srgbClr val="2E377E"/>
                </a:solidFill>
                <a:latin typeface="Georgia"/>
                <a:cs typeface="Georgia"/>
              </a:rPr>
              <a:t> </a:t>
            </a:r>
            <a:r>
              <a:rPr sz="3250" dirty="0">
                <a:solidFill>
                  <a:srgbClr val="2E377E"/>
                </a:solidFill>
                <a:latin typeface="Georgia"/>
                <a:cs typeface="Georgia"/>
              </a:rPr>
              <a:t>a</a:t>
            </a:r>
            <a:r>
              <a:rPr sz="3250" spc="25" dirty="0">
                <a:solidFill>
                  <a:srgbClr val="2E377E"/>
                </a:solidFill>
                <a:latin typeface="Georgia"/>
                <a:cs typeface="Georgia"/>
              </a:rPr>
              <a:t> </a:t>
            </a:r>
            <a:r>
              <a:rPr sz="3250" spc="45" dirty="0">
                <a:solidFill>
                  <a:srgbClr val="2E377E"/>
                </a:solidFill>
                <a:latin typeface="Georgia"/>
                <a:cs typeface="Georgia"/>
              </a:rPr>
              <a:t>separate</a:t>
            </a:r>
            <a:r>
              <a:rPr sz="3250" spc="20" dirty="0">
                <a:solidFill>
                  <a:srgbClr val="2E377E"/>
                </a:solidFill>
                <a:latin typeface="Georgia"/>
                <a:cs typeface="Georgia"/>
              </a:rPr>
              <a:t> </a:t>
            </a:r>
            <a:r>
              <a:rPr sz="3250" dirty="0">
                <a:solidFill>
                  <a:srgbClr val="2E377E"/>
                </a:solidFill>
                <a:latin typeface="Georgia"/>
                <a:cs typeface="Georgia"/>
              </a:rPr>
              <a:t>database</a:t>
            </a:r>
            <a:r>
              <a:rPr sz="3250" spc="25" dirty="0">
                <a:solidFill>
                  <a:srgbClr val="2E377E"/>
                </a:solidFill>
                <a:latin typeface="Georgia"/>
                <a:cs typeface="Georgia"/>
              </a:rPr>
              <a:t> </a:t>
            </a:r>
            <a:r>
              <a:rPr sz="3250" dirty="0">
                <a:solidFill>
                  <a:srgbClr val="2E377E"/>
                </a:solidFill>
                <a:latin typeface="Georgia"/>
                <a:cs typeface="Georgia"/>
              </a:rPr>
              <a:t>or</a:t>
            </a:r>
            <a:r>
              <a:rPr sz="3250" spc="20" dirty="0">
                <a:solidFill>
                  <a:srgbClr val="2E377E"/>
                </a:solidFill>
                <a:latin typeface="Georgia"/>
                <a:cs typeface="Georgia"/>
              </a:rPr>
              <a:t> </a:t>
            </a:r>
            <a:r>
              <a:rPr sz="3250" dirty="0">
                <a:solidFill>
                  <a:srgbClr val="2E377E"/>
                </a:solidFill>
                <a:latin typeface="Georgia"/>
                <a:cs typeface="Georgia"/>
              </a:rPr>
              <a:t>file</a:t>
            </a:r>
            <a:r>
              <a:rPr sz="3250" spc="20" dirty="0">
                <a:solidFill>
                  <a:srgbClr val="2E377E"/>
                </a:solidFill>
                <a:latin typeface="Georgia"/>
                <a:cs typeface="Georgia"/>
              </a:rPr>
              <a:t> </a:t>
            </a:r>
            <a:r>
              <a:rPr sz="3250" spc="-10" dirty="0">
                <a:solidFill>
                  <a:srgbClr val="2E377E"/>
                </a:solidFill>
                <a:latin typeface="Georgia"/>
                <a:cs typeface="Georgia"/>
              </a:rPr>
              <a:t>service.</a:t>
            </a:r>
            <a:endParaRPr sz="3250">
              <a:latin typeface="Georgia"/>
              <a:cs typeface="Georgia"/>
            </a:endParaRPr>
          </a:p>
        </p:txBody>
      </p:sp>
      <p:pic>
        <p:nvPicPr>
          <p:cNvPr id="5" name="object 5"/>
          <p:cNvPicPr/>
          <p:nvPr/>
        </p:nvPicPr>
        <p:blipFill>
          <a:blip r:embed="rId3" cstate="print"/>
          <a:stretch>
            <a:fillRect/>
          </a:stretch>
        </p:blipFill>
        <p:spPr>
          <a:xfrm>
            <a:off x="1179868" y="2557959"/>
            <a:ext cx="121634" cy="121634"/>
          </a:xfrm>
          <a:prstGeom prst="rect">
            <a:avLst/>
          </a:prstGeom>
        </p:spPr>
      </p:pic>
      <p:pic>
        <p:nvPicPr>
          <p:cNvPr id="6" name="object 6"/>
          <p:cNvPicPr/>
          <p:nvPr/>
        </p:nvPicPr>
        <p:blipFill>
          <a:blip r:embed="rId3" cstate="print"/>
          <a:stretch>
            <a:fillRect/>
          </a:stretch>
        </p:blipFill>
        <p:spPr>
          <a:xfrm>
            <a:off x="1179868" y="3140069"/>
            <a:ext cx="121634" cy="121634"/>
          </a:xfrm>
          <a:prstGeom prst="rect">
            <a:avLst/>
          </a:prstGeom>
        </p:spPr>
      </p:pic>
      <p:pic>
        <p:nvPicPr>
          <p:cNvPr id="7" name="object 7"/>
          <p:cNvPicPr/>
          <p:nvPr/>
        </p:nvPicPr>
        <p:blipFill>
          <a:blip r:embed="rId2" cstate="print"/>
          <a:stretch>
            <a:fillRect/>
          </a:stretch>
        </p:blipFill>
        <p:spPr>
          <a:xfrm>
            <a:off x="1179868" y="4304288"/>
            <a:ext cx="121634" cy="121634"/>
          </a:xfrm>
          <a:prstGeom prst="rect">
            <a:avLst/>
          </a:prstGeom>
        </p:spPr>
      </p:pic>
      <p:pic>
        <p:nvPicPr>
          <p:cNvPr id="8" name="object 8"/>
          <p:cNvPicPr/>
          <p:nvPr/>
        </p:nvPicPr>
        <p:blipFill>
          <a:blip r:embed="rId3" cstate="print"/>
          <a:stretch>
            <a:fillRect/>
          </a:stretch>
        </p:blipFill>
        <p:spPr>
          <a:xfrm>
            <a:off x="1179868" y="6050616"/>
            <a:ext cx="121634" cy="121634"/>
          </a:xfrm>
          <a:prstGeom prst="rect">
            <a:avLst/>
          </a:prstGeom>
        </p:spPr>
      </p:pic>
      <p:pic>
        <p:nvPicPr>
          <p:cNvPr id="9" name="object 9"/>
          <p:cNvPicPr/>
          <p:nvPr/>
        </p:nvPicPr>
        <p:blipFill>
          <a:blip r:embed="rId2" cstate="print"/>
          <a:stretch>
            <a:fillRect/>
          </a:stretch>
        </p:blipFill>
        <p:spPr>
          <a:xfrm>
            <a:off x="1179868" y="6632725"/>
            <a:ext cx="121634" cy="121634"/>
          </a:xfrm>
          <a:prstGeom prst="rect">
            <a:avLst/>
          </a:prstGeom>
        </p:spPr>
      </p:pic>
      <p:pic>
        <p:nvPicPr>
          <p:cNvPr id="10" name="object 10"/>
          <p:cNvPicPr/>
          <p:nvPr/>
        </p:nvPicPr>
        <p:blipFill>
          <a:blip r:embed="rId4" cstate="print"/>
          <a:stretch>
            <a:fillRect/>
          </a:stretch>
        </p:blipFill>
        <p:spPr>
          <a:xfrm>
            <a:off x="1179868" y="7796944"/>
            <a:ext cx="121634" cy="121634"/>
          </a:xfrm>
          <a:prstGeom prst="rect">
            <a:avLst/>
          </a:prstGeom>
        </p:spPr>
      </p:pic>
      <p:pic>
        <p:nvPicPr>
          <p:cNvPr id="11" name="object 11"/>
          <p:cNvPicPr/>
          <p:nvPr/>
        </p:nvPicPr>
        <p:blipFill>
          <a:blip r:embed="rId3" cstate="print"/>
          <a:stretch>
            <a:fillRect/>
          </a:stretch>
        </p:blipFill>
        <p:spPr>
          <a:xfrm>
            <a:off x="1179868" y="8379053"/>
            <a:ext cx="121634" cy="121634"/>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403" y="181038"/>
            <a:ext cx="8804910" cy="787400"/>
          </a:xfrm>
          <a:prstGeom prst="rect">
            <a:avLst/>
          </a:prstGeom>
        </p:spPr>
        <p:txBody>
          <a:bodyPr vert="horz" wrap="square" lIns="0" tIns="12700" rIns="0" bIns="0" rtlCol="0">
            <a:spAutoFit/>
          </a:bodyPr>
          <a:lstStyle/>
          <a:p>
            <a:pPr marL="12700">
              <a:lnSpc>
                <a:spcPct val="100000"/>
              </a:lnSpc>
              <a:spcBef>
                <a:spcPts val="100"/>
              </a:spcBef>
            </a:pPr>
            <a:r>
              <a:rPr spc="-100" dirty="0">
                <a:solidFill>
                  <a:srgbClr val="FF3131"/>
                </a:solidFill>
              </a:rPr>
              <a:t>USE</a:t>
            </a:r>
            <a:r>
              <a:rPr spc="-110" dirty="0">
                <a:solidFill>
                  <a:srgbClr val="FF3131"/>
                </a:solidFill>
              </a:rPr>
              <a:t> </a:t>
            </a:r>
            <a:r>
              <a:rPr spc="-200" dirty="0">
                <a:solidFill>
                  <a:srgbClr val="FF3131"/>
                </a:solidFill>
              </a:rPr>
              <a:t>CASES</a:t>
            </a:r>
            <a:r>
              <a:rPr spc="-105" dirty="0">
                <a:solidFill>
                  <a:srgbClr val="FF3131"/>
                </a:solidFill>
              </a:rPr>
              <a:t> </a:t>
            </a:r>
            <a:r>
              <a:rPr spc="80" dirty="0">
                <a:solidFill>
                  <a:srgbClr val="FF3131"/>
                </a:solidFill>
              </a:rPr>
              <a:t>IN</a:t>
            </a:r>
            <a:r>
              <a:rPr spc="-105" dirty="0">
                <a:solidFill>
                  <a:srgbClr val="FF3131"/>
                </a:solidFill>
              </a:rPr>
              <a:t> </a:t>
            </a:r>
            <a:r>
              <a:rPr spc="-204" dirty="0">
                <a:solidFill>
                  <a:srgbClr val="FF3131"/>
                </a:solidFill>
              </a:rPr>
              <a:t>CONFIG</a:t>
            </a:r>
            <a:r>
              <a:rPr spc="-105" dirty="0">
                <a:solidFill>
                  <a:srgbClr val="FF3131"/>
                </a:solidFill>
              </a:rPr>
              <a:t> </a:t>
            </a:r>
            <a:r>
              <a:rPr spc="-60" dirty="0">
                <a:solidFill>
                  <a:srgbClr val="FF3131"/>
                </a:solidFill>
              </a:rPr>
              <a:t>MAPS:</a:t>
            </a:r>
          </a:p>
        </p:txBody>
      </p:sp>
      <p:pic>
        <p:nvPicPr>
          <p:cNvPr id="3" name="object 3"/>
          <p:cNvPicPr/>
          <p:nvPr/>
        </p:nvPicPr>
        <p:blipFill>
          <a:blip r:embed="rId2" cstate="print"/>
          <a:stretch>
            <a:fillRect/>
          </a:stretch>
        </p:blipFill>
        <p:spPr>
          <a:xfrm>
            <a:off x="929778" y="1820415"/>
            <a:ext cx="133350" cy="133349"/>
          </a:xfrm>
          <a:prstGeom prst="rect">
            <a:avLst/>
          </a:prstGeom>
        </p:spPr>
      </p:pic>
      <p:sp>
        <p:nvSpPr>
          <p:cNvPr id="4" name="object 4"/>
          <p:cNvSpPr txBox="1"/>
          <p:nvPr/>
        </p:nvSpPr>
        <p:spPr>
          <a:xfrm>
            <a:off x="1246583" y="1461005"/>
            <a:ext cx="16624935" cy="6407150"/>
          </a:xfrm>
          <a:prstGeom prst="rect">
            <a:avLst/>
          </a:prstGeom>
        </p:spPr>
        <p:txBody>
          <a:bodyPr vert="horz" wrap="square" lIns="0" tIns="12700" rIns="0" bIns="0" rtlCol="0">
            <a:spAutoFit/>
          </a:bodyPr>
          <a:lstStyle/>
          <a:p>
            <a:pPr marL="12700" marR="685165">
              <a:lnSpc>
                <a:spcPct val="116300"/>
              </a:lnSpc>
              <a:spcBef>
                <a:spcPts val="100"/>
              </a:spcBef>
            </a:pPr>
            <a:r>
              <a:rPr sz="3600" spc="155" dirty="0">
                <a:solidFill>
                  <a:srgbClr val="2E377E"/>
                </a:solidFill>
                <a:latin typeface="Times New Roman"/>
                <a:cs typeface="Times New Roman"/>
              </a:rPr>
              <a:t>Configure</a:t>
            </a:r>
            <a:r>
              <a:rPr sz="3600" spc="-40" dirty="0">
                <a:solidFill>
                  <a:srgbClr val="2E377E"/>
                </a:solidFill>
                <a:latin typeface="Times New Roman"/>
                <a:cs typeface="Times New Roman"/>
              </a:rPr>
              <a:t> </a:t>
            </a:r>
            <a:r>
              <a:rPr sz="3600" spc="185" dirty="0">
                <a:solidFill>
                  <a:srgbClr val="2E377E"/>
                </a:solidFill>
                <a:latin typeface="Times New Roman"/>
                <a:cs typeface="Times New Roman"/>
              </a:rPr>
              <a:t>application</a:t>
            </a:r>
            <a:r>
              <a:rPr sz="3600" spc="-35" dirty="0">
                <a:solidFill>
                  <a:srgbClr val="2E377E"/>
                </a:solidFill>
                <a:latin typeface="Times New Roman"/>
                <a:cs typeface="Times New Roman"/>
              </a:rPr>
              <a:t> </a:t>
            </a:r>
            <a:r>
              <a:rPr sz="3600" spc="165" dirty="0">
                <a:solidFill>
                  <a:srgbClr val="2E377E"/>
                </a:solidFill>
                <a:latin typeface="Times New Roman"/>
                <a:cs typeface="Times New Roman"/>
              </a:rPr>
              <a:t>settings</a:t>
            </a:r>
            <a:r>
              <a:rPr sz="3600" spc="165" dirty="0">
                <a:solidFill>
                  <a:srgbClr val="2E377E"/>
                </a:solidFill>
                <a:latin typeface="Georgia"/>
                <a:cs typeface="Georgia"/>
              </a:rPr>
              <a:t>:</a:t>
            </a:r>
            <a:r>
              <a:rPr sz="3600" spc="-5" dirty="0">
                <a:solidFill>
                  <a:srgbClr val="2E377E"/>
                </a:solidFill>
                <a:latin typeface="Georgia"/>
                <a:cs typeface="Georgia"/>
              </a:rPr>
              <a:t> </a:t>
            </a:r>
            <a:r>
              <a:rPr sz="3600" dirty="0">
                <a:solidFill>
                  <a:srgbClr val="2E377E"/>
                </a:solidFill>
                <a:latin typeface="Georgia"/>
                <a:cs typeface="Georgia"/>
              </a:rPr>
              <a:t>By</a:t>
            </a:r>
            <a:r>
              <a:rPr sz="3600" spc="-10" dirty="0">
                <a:solidFill>
                  <a:srgbClr val="2E377E"/>
                </a:solidFill>
                <a:latin typeface="Georgia"/>
                <a:cs typeface="Georgia"/>
              </a:rPr>
              <a:t> </a:t>
            </a:r>
            <a:r>
              <a:rPr sz="3600" dirty="0">
                <a:solidFill>
                  <a:srgbClr val="2E377E"/>
                </a:solidFill>
                <a:latin typeface="Georgia"/>
                <a:cs typeface="Georgia"/>
              </a:rPr>
              <a:t>using</a:t>
            </a:r>
            <a:r>
              <a:rPr sz="3600" spc="-5"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a:t>
            </a:r>
            <a:r>
              <a:rPr sz="3600" dirty="0">
                <a:solidFill>
                  <a:srgbClr val="2E377E"/>
                </a:solidFill>
                <a:latin typeface="Georgia"/>
                <a:cs typeface="Georgia"/>
              </a:rPr>
              <a:t>config</a:t>
            </a:r>
            <a:r>
              <a:rPr sz="3600" spc="-5" dirty="0">
                <a:solidFill>
                  <a:srgbClr val="2E377E"/>
                </a:solidFill>
                <a:latin typeface="Georgia"/>
                <a:cs typeface="Georgia"/>
              </a:rPr>
              <a:t> </a:t>
            </a:r>
            <a:r>
              <a:rPr sz="3600" dirty="0">
                <a:solidFill>
                  <a:srgbClr val="2E377E"/>
                </a:solidFill>
                <a:latin typeface="Georgia"/>
                <a:cs typeface="Georgia"/>
              </a:rPr>
              <a:t>maps,</a:t>
            </a:r>
            <a:r>
              <a:rPr sz="3600" spc="-5" dirty="0">
                <a:solidFill>
                  <a:srgbClr val="2E377E"/>
                </a:solidFill>
                <a:latin typeface="Georgia"/>
                <a:cs typeface="Georgia"/>
              </a:rPr>
              <a:t> </a:t>
            </a:r>
            <a:r>
              <a:rPr sz="3600" spc="140" dirty="0">
                <a:solidFill>
                  <a:srgbClr val="2E377E"/>
                </a:solidFill>
                <a:latin typeface="Georgia"/>
                <a:cs typeface="Georgia"/>
              </a:rPr>
              <a:t>we</a:t>
            </a:r>
            <a:r>
              <a:rPr sz="3600" spc="-10" dirty="0">
                <a:solidFill>
                  <a:srgbClr val="2E377E"/>
                </a:solidFill>
                <a:latin typeface="Georgia"/>
                <a:cs typeface="Georgia"/>
              </a:rPr>
              <a:t> </a:t>
            </a:r>
            <a:r>
              <a:rPr sz="3600" dirty="0">
                <a:solidFill>
                  <a:srgbClr val="2E377E"/>
                </a:solidFill>
                <a:latin typeface="Georgia"/>
                <a:cs typeface="Georgia"/>
              </a:rPr>
              <a:t>can</a:t>
            </a:r>
            <a:r>
              <a:rPr sz="3600" spc="-5" dirty="0">
                <a:solidFill>
                  <a:srgbClr val="2E377E"/>
                </a:solidFill>
                <a:latin typeface="Georgia"/>
                <a:cs typeface="Georgia"/>
              </a:rPr>
              <a:t> </a:t>
            </a:r>
            <a:r>
              <a:rPr sz="3600" spc="55" dirty="0">
                <a:solidFill>
                  <a:srgbClr val="2E377E"/>
                </a:solidFill>
                <a:latin typeface="Georgia"/>
                <a:cs typeface="Georgia"/>
              </a:rPr>
              <a:t>store</a:t>
            </a:r>
            <a:r>
              <a:rPr sz="3600" spc="-5" dirty="0">
                <a:solidFill>
                  <a:srgbClr val="2E377E"/>
                </a:solidFill>
                <a:latin typeface="Georgia"/>
                <a:cs typeface="Georgia"/>
              </a:rPr>
              <a:t> </a:t>
            </a:r>
            <a:r>
              <a:rPr sz="3600" spc="35" dirty="0">
                <a:solidFill>
                  <a:srgbClr val="2E377E"/>
                </a:solidFill>
                <a:latin typeface="Georgia"/>
                <a:cs typeface="Georgia"/>
              </a:rPr>
              <a:t>the </a:t>
            </a:r>
            <a:r>
              <a:rPr sz="3600" dirty="0">
                <a:solidFill>
                  <a:srgbClr val="2E377E"/>
                </a:solidFill>
                <a:latin typeface="Georgia"/>
                <a:cs typeface="Georgia"/>
              </a:rPr>
              <a:t>configuration</a:t>
            </a:r>
            <a:r>
              <a:rPr sz="3600" spc="90" dirty="0">
                <a:solidFill>
                  <a:srgbClr val="2E377E"/>
                </a:solidFill>
                <a:latin typeface="Georgia"/>
                <a:cs typeface="Georgia"/>
              </a:rPr>
              <a:t> </a:t>
            </a:r>
            <a:r>
              <a:rPr sz="3600" dirty="0">
                <a:solidFill>
                  <a:srgbClr val="2E377E"/>
                </a:solidFill>
                <a:latin typeface="Georgia"/>
                <a:cs typeface="Georgia"/>
              </a:rPr>
              <a:t>data</a:t>
            </a:r>
            <a:r>
              <a:rPr sz="3600" spc="90" dirty="0">
                <a:solidFill>
                  <a:srgbClr val="2E377E"/>
                </a:solidFill>
                <a:latin typeface="Georgia"/>
                <a:cs typeface="Georgia"/>
              </a:rPr>
              <a:t> </a:t>
            </a:r>
            <a:r>
              <a:rPr sz="3600" spc="55" dirty="0">
                <a:solidFill>
                  <a:srgbClr val="2E377E"/>
                </a:solidFill>
                <a:latin typeface="Georgia"/>
                <a:cs typeface="Georgia"/>
              </a:rPr>
              <a:t>that</a:t>
            </a:r>
            <a:r>
              <a:rPr sz="3600" spc="90" dirty="0">
                <a:solidFill>
                  <a:srgbClr val="2E377E"/>
                </a:solidFill>
                <a:latin typeface="Georgia"/>
                <a:cs typeface="Georgia"/>
              </a:rPr>
              <a:t> </a:t>
            </a:r>
            <a:r>
              <a:rPr sz="3600" dirty="0">
                <a:solidFill>
                  <a:srgbClr val="2E377E"/>
                </a:solidFill>
                <a:latin typeface="Georgia"/>
                <a:cs typeface="Georgia"/>
              </a:rPr>
              <a:t>helps</a:t>
            </a:r>
            <a:r>
              <a:rPr sz="3600" spc="95" dirty="0">
                <a:solidFill>
                  <a:srgbClr val="2E377E"/>
                </a:solidFill>
                <a:latin typeface="Georgia"/>
                <a:cs typeface="Georgia"/>
              </a:rPr>
              <a:t> </a:t>
            </a:r>
            <a:r>
              <a:rPr sz="3600" spc="70" dirty="0">
                <a:solidFill>
                  <a:srgbClr val="2E377E"/>
                </a:solidFill>
                <a:latin typeface="Georgia"/>
                <a:cs typeface="Georgia"/>
              </a:rPr>
              <a:t>to</a:t>
            </a:r>
            <a:r>
              <a:rPr sz="3600" spc="90" dirty="0">
                <a:solidFill>
                  <a:srgbClr val="2E377E"/>
                </a:solidFill>
                <a:latin typeface="Georgia"/>
                <a:cs typeface="Georgia"/>
              </a:rPr>
              <a:t> </a:t>
            </a:r>
            <a:r>
              <a:rPr sz="3600" dirty="0">
                <a:solidFill>
                  <a:srgbClr val="2E377E"/>
                </a:solidFill>
                <a:latin typeface="Georgia"/>
                <a:cs typeface="Georgia"/>
              </a:rPr>
              <a:t>run</a:t>
            </a:r>
            <a:r>
              <a:rPr sz="3600" spc="90" dirty="0">
                <a:solidFill>
                  <a:srgbClr val="2E377E"/>
                </a:solidFill>
                <a:latin typeface="Georgia"/>
                <a:cs typeface="Georgia"/>
              </a:rPr>
              <a:t> </a:t>
            </a:r>
            <a:r>
              <a:rPr sz="3600" dirty="0">
                <a:solidFill>
                  <a:srgbClr val="2E377E"/>
                </a:solidFill>
                <a:latin typeface="Georgia"/>
                <a:cs typeface="Georgia"/>
              </a:rPr>
              <a:t>our</a:t>
            </a:r>
            <a:r>
              <a:rPr sz="3600" spc="90" dirty="0">
                <a:solidFill>
                  <a:srgbClr val="2E377E"/>
                </a:solidFill>
                <a:latin typeface="Georgia"/>
                <a:cs typeface="Georgia"/>
              </a:rPr>
              <a:t> </a:t>
            </a:r>
            <a:r>
              <a:rPr sz="3600" dirty="0">
                <a:solidFill>
                  <a:srgbClr val="2E377E"/>
                </a:solidFill>
                <a:latin typeface="Georgia"/>
                <a:cs typeface="Georgia"/>
              </a:rPr>
              <a:t>application</a:t>
            </a:r>
            <a:r>
              <a:rPr sz="3600" spc="95" dirty="0">
                <a:solidFill>
                  <a:srgbClr val="2E377E"/>
                </a:solidFill>
                <a:latin typeface="Georgia"/>
                <a:cs typeface="Georgia"/>
              </a:rPr>
              <a:t> </a:t>
            </a:r>
            <a:r>
              <a:rPr sz="3600" dirty="0">
                <a:solidFill>
                  <a:srgbClr val="2E377E"/>
                </a:solidFill>
                <a:latin typeface="Georgia"/>
                <a:cs typeface="Georgia"/>
              </a:rPr>
              <a:t>like</a:t>
            </a:r>
            <a:r>
              <a:rPr sz="3600" spc="90" dirty="0">
                <a:solidFill>
                  <a:srgbClr val="2E377E"/>
                </a:solidFill>
                <a:latin typeface="Georgia"/>
                <a:cs typeface="Georgia"/>
              </a:rPr>
              <a:t> </a:t>
            </a:r>
            <a:r>
              <a:rPr sz="3600" dirty="0">
                <a:solidFill>
                  <a:srgbClr val="2E377E"/>
                </a:solidFill>
                <a:latin typeface="Georgia"/>
                <a:cs typeface="Georgia"/>
              </a:rPr>
              <a:t>database</a:t>
            </a:r>
            <a:r>
              <a:rPr sz="3600" spc="90" dirty="0">
                <a:solidFill>
                  <a:srgbClr val="2E377E"/>
                </a:solidFill>
                <a:latin typeface="Georgia"/>
                <a:cs typeface="Georgia"/>
              </a:rPr>
              <a:t> </a:t>
            </a:r>
            <a:r>
              <a:rPr sz="3600" spc="-10" dirty="0">
                <a:solidFill>
                  <a:srgbClr val="2E377E"/>
                </a:solidFill>
                <a:latin typeface="Georgia"/>
                <a:cs typeface="Georgia"/>
              </a:rPr>
              <a:t>connections </a:t>
            </a:r>
            <a:r>
              <a:rPr sz="3600" dirty="0">
                <a:solidFill>
                  <a:srgbClr val="2E377E"/>
                </a:solidFill>
                <a:latin typeface="Georgia"/>
                <a:cs typeface="Georgia"/>
              </a:rPr>
              <a:t>and</a:t>
            </a:r>
            <a:r>
              <a:rPr sz="3600" spc="-60" dirty="0">
                <a:solidFill>
                  <a:srgbClr val="2E377E"/>
                </a:solidFill>
                <a:latin typeface="Georgia"/>
                <a:cs typeface="Georgia"/>
              </a:rPr>
              <a:t> </a:t>
            </a:r>
            <a:r>
              <a:rPr sz="3600" spc="55" dirty="0">
                <a:solidFill>
                  <a:srgbClr val="2E377E"/>
                </a:solidFill>
                <a:latin typeface="Georgia"/>
                <a:cs typeface="Georgia"/>
              </a:rPr>
              <a:t>environment</a:t>
            </a:r>
            <a:r>
              <a:rPr sz="3600" spc="-55" dirty="0">
                <a:solidFill>
                  <a:srgbClr val="2E377E"/>
                </a:solidFill>
                <a:latin typeface="Georgia"/>
                <a:cs typeface="Georgia"/>
              </a:rPr>
              <a:t> </a:t>
            </a:r>
            <a:r>
              <a:rPr sz="3600" spc="-10" dirty="0">
                <a:solidFill>
                  <a:srgbClr val="2E377E"/>
                </a:solidFill>
                <a:latin typeface="Georgia"/>
                <a:cs typeface="Georgia"/>
              </a:rPr>
              <a:t>variables</a:t>
            </a:r>
            <a:endParaRPr sz="3600">
              <a:latin typeface="Georgia"/>
              <a:cs typeface="Georgia"/>
            </a:endParaRPr>
          </a:p>
          <a:p>
            <a:pPr marL="12700" marR="113030">
              <a:lnSpc>
                <a:spcPct val="116300"/>
              </a:lnSpc>
            </a:pPr>
            <a:r>
              <a:rPr sz="3600" spc="150" dirty="0">
                <a:solidFill>
                  <a:srgbClr val="2E377E"/>
                </a:solidFill>
                <a:latin typeface="Times New Roman"/>
                <a:cs typeface="Times New Roman"/>
              </a:rPr>
              <a:t>Configuring</a:t>
            </a:r>
            <a:r>
              <a:rPr sz="3600" spc="-35" dirty="0">
                <a:solidFill>
                  <a:srgbClr val="2E377E"/>
                </a:solidFill>
                <a:latin typeface="Times New Roman"/>
                <a:cs typeface="Times New Roman"/>
              </a:rPr>
              <a:t> </a:t>
            </a:r>
            <a:r>
              <a:rPr sz="3600" spc="190" dirty="0">
                <a:solidFill>
                  <a:srgbClr val="2E377E"/>
                </a:solidFill>
                <a:latin typeface="Times New Roman"/>
                <a:cs typeface="Times New Roman"/>
              </a:rPr>
              <a:t>a</a:t>
            </a:r>
            <a:r>
              <a:rPr sz="3600" spc="-30" dirty="0">
                <a:solidFill>
                  <a:srgbClr val="2E377E"/>
                </a:solidFill>
                <a:latin typeface="Times New Roman"/>
                <a:cs typeface="Times New Roman"/>
              </a:rPr>
              <a:t> </a:t>
            </a:r>
            <a:r>
              <a:rPr sz="3600" spc="245" dirty="0">
                <a:solidFill>
                  <a:srgbClr val="2E377E"/>
                </a:solidFill>
                <a:latin typeface="Times New Roman"/>
                <a:cs typeface="Times New Roman"/>
              </a:rPr>
              <a:t>pod</a:t>
            </a:r>
            <a:r>
              <a:rPr sz="3600" spc="-35" dirty="0">
                <a:solidFill>
                  <a:srgbClr val="2E377E"/>
                </a:solidFill>
                <a:latin typeface="Times New Roman"/>
                <a:cs typeface="Times New Roman"/>
              </a:rPr>
              <a:t> </a:t>
            </a:r>
            <a:r>
              <a:rPr sz="3600" spc="240" dirty="0">
                <a:solidFill>
                  <a:srgbClr val="2E377E"/>
                </a:solidFill>
                <a:latin typeface="Times New Roman"/>
                <a:cs typeface="Times New Roman"/>
              </a:rPr>
              <a:t>or</a:t>
            </a:r>
            <a:r>
              <a:rPr sz="3600" spc="-30" dirty="0">
                <a:solidFill>
                  <a:srgbClr val="2E377E"/>
                </a:solidFill>
                <a:latin typeface="Times New Roman"/>
                <a:cs typeface="Times New Roman"/>
              </a:rPr>
              <a:t> </a:t>
            </a:r>
            <a:r>
              <a:rPr sz="3600" spc="180" dirty="0">
                <a:solidFill>
                  <a:srgbClr val="2E377E"/>
                </a:solidFill>
                <a:latin typeface="Times New Roman"/>
                <a:cs typeface="Times New Roman"/>
              </a:rPr>
              <a:t>container</a:t>
            </a:r>
            <a:r>
              <a:rPr sz="3600" spc="180" dirty="0">
                <a:solidFill>
                  <a:srgbClr val="2E377E"/>
                </a:solidFill>
                <a:latin typeface="Georgia"/>
                <a:cs typeface="Georgia"/>
              </a:rPr>
              <a:t>:</a:t>
            </a:r>
            <a:r>
              <a:rPr sz="3600" spc="-5" dirty="0">
                <a:solidFill>
                  <a:srgbClr val="2E377E"/>
                </a:solidFill>
                <a:latin typeface="Georgia"/>
                <a:cs typeface="Georgia"/>
              </a:rPr>
              <a:t> </a:t>
            </a:r>
            <a:r>
              <a:rPr sz="3600" dirty="0">
                <a:solidFill>
                  <a:srgbClr val="2E377E"/>
                </a:solidFill>
                <a:latin typeface="Georgia"/>
                <a:cs typeface="Georgia"/>
              </a:rPr>
              <a:t>It is</a:t>
            </a:r>
            <a:r>
              <a:rPr sz="3600" spc="-5" dirty="0">
                <a:solidFill>
                  <a:srgbClr val="2E377E"/>
                </a:solidFill>
                <a:latin typeface="Georgia"/>
                <a:cs typeface="Georgia"/>
              </a:rPr>
              <a:t> </a:t>
            </a:r>
            <a:r>
              <a:rPr sz="3600" dirty="0">
                <a:solidFill>
                  <a:srgbClr val="2E377E"/>
                </a:solidFill>
                <a:latin typeface="Georgia"/>
                <a:cs typeface="Georgia"/>
              </a:rPr>
              <a:t>used </a:t>
            </a:r>
            <a:r>
              <a:rPr sz="3600" spc="7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send a</a:t>
            </a:r>
            <a:r>
              <a:rPr sz="3600" spc="-5" dirty="0">
                <a:solidFill>
                  <a:srgbClr val="2E377E"/>
                </a:solidFill>
                <a:latin typeface="Georgia"/>
                <a:cs typeface="Georgia"/>
              </a:rPr>
              <a:t> </a:t>
            </a:r>
            <a:r>
              <a:rPr sz="3600" dirty="0">
                <a:solidFill>
                  <a:srgbClr val="2E377E"/>
                </a:solidFill>
                <a:latin typeface="Georgia"/>
                <a:cs typeface="Georgia"/>
              </a:rPr>
              <a:t>configuration data</a:t>
            </a:r>
            <a:r>
              <a:rPr sz="3600" spc="-5" dirty="0">
                <a:solidFill>
                  <a:srgbClr val="2E377E"/>
                </a:solidFill>
                <a:latin typeface="Georgia"/>
                <a:cs typeface="Georgia"/>
              </a:rPr>
              <a:t> </a:t>
            </a:r>
            <a:r>
              <a:rPr sz="3600" spc="70" dirty="0">
                <a:solidFill>
                  <a:srgbClr val="2E377E"/>
                </a:solidFill>
                <a:latin typeface="Georgia"/>
                <a:cs typeface="Georgia"/>
              </a:rPr>
              <a:t>to</a:t>
            </a:r>
            <a:r>
              <a:rPr sz="3600" dirty="0">
                <a:solidFill>
                  <a:srgbClr val="2E377E"/>
                </a:solidFill>
                <a:latin typeface="Georgia"/>
                <a:cs typeface="Georgia"/>
              </a:rPr>
              <a:t> a</a:t>
            </a:r>
            <a:r>
              <a:rPr sz="3600" spc="-5" dirty="0">
                <a:solidFill>
                  <a:srgbClr val="2E377E"/>
                </a:solidFill>
                <a:latin typeface="Georgia"/>
                <a:cs typeface="Georgia"/>
              </a:rPr>
              <a:t> </a:t>
            </a:r>
            <a:r>
              <a:rPr sz="3600" dirty="0">
                <a:solidFill>
                  <a:srgbClr val="2E377E"/>
                </a:solidFill>
                <a:latin typeface="Georgia"/>
                <a:cs typeface="Georgia"/>
              </a:rPr>
              <a:t>pod </a:t>
            </a:r>
            <a:r>
              <a:rPr sz="3600" spc="-25" dirty="0">
                <a:solidFill>
                  <a:srgbClr val="2E377E"/>
                </a:solidFill>
                <a:latin typeface="Georgia"/>
                <a:cs typeface="Georgia"/>
              </a:rPr>
              <a:t>or </a:t>
            </a:r>
            <a:r>
              <a:rPr sz="3600" dirty="0">
                <a:solidFill>
                  <a:srgbClr val="2E377E"/>
                </a:solidFill>
                <a:latin typeface="Georgia"/>
                <a:cs typeface="Georgia"/>
              </a:rPr>
              <a:t>container</a:t>
            </a:r>
            <a:r>
              <a:rPr sz="3600" spc="20" dirty="0">
                <a:solidFill>
                  <a:srgbClr val="2E377E"/>
                </a:solidFill>
                <a:latin typeface="Georgia"/>
                <a:cs typeface="Georgia"/>
              </a:rPr>
              <a:t> </a:t>
            </a:r>
            <a:r>
              <a:rPr sz="3600" spc="50" dirty="0">
                <a:solidFill>
                  <a:srgbClr val="2E377E"/>
                </a:solidFill>
                <a:latin typeface="Georgia"/>
                <a:cs typeface="Georgia"/>
              </a:rPr>
              <a:t>at</a:t>
            </a:r>
            <a:r>
              <a:rPr sz="3600" spc="20" dirty="0">
                <a:solidFill>
                  <a:srgbClr val="2E377E"/>
                </a:solidFill>
                <a:latin typeface="Georgia"/>
                <a:cs typeface="Georgia"/>
              </a:rPr>
              <a:t> </a:t>
            </a:r>
            <a:r>
              <a:rPr sz="3600" spc="50" dirty="0">
                <a:solidFill>
                  <a:srgbClr val="2E377E"/>
                </a:solidFill>
                <a:latin typeface="Georgia"/>
                <a:cs typeface="Georgia"/>
              </a:rPr>
              <a:t>runtime</a:t>
            </a:r>
            <a:r>
              <a:rPr sz="3600" spc="20" dirty="0">
                <a:solidFill>
                  <a:srgbClr val="2E377E"/>
                </a:solidFill>
                <a:latin typeface="Georgia"/>
                <a:cs typeface="Georgia"/>
              </a:rPr>
              <a:t> </a:t>
            </a:r>
            <a:r>
              <a:rPr sz="3600" dirty="0">
                <a:solidFill>
                  <a:srgbClr val="2E377E"/>
                </a:solidFill>
                <a:latin typeface="Georgia"/>
                <a:cs typeface="Georgia"/>
              </a:rPr>
              <a:t>like</a:t>
            </a:r>
            <a:r>
              <a:rPr sz="3600" spc="25" dirty="0">
                <a:solidFill>
                  <a:srgbClr val="2E377E"/>
                </a:solidFill>
                <a:latin typeface="Georgia"/>
                <a:cs typeface="Georgia"/>
              </a:rPr>
              <a:t> </a:t>
            </a:r>
            <a:r>
              <a:rPr sz="3600" spc="-55" dirty="0">
                <a:solidFill>
                  <a:srgbClr val="2E377E"/>
                </a:solidFill>
                <a:latin typeface="Georgia"/>
                <a:cs typeface="Georgia"/>
              </a:rPr>
              <a:t>CLI</a:t>
            </a:r>
            <a:r>
              <a:rPr sz="3600" spc="20" dirty="0">
                <a:solidFill>
                  <a:srgbClr val="2E377E"/>
                </a:solidFill>
                <a:latin typeface="Georgia"/>
                <a:cs typeface="Georgia"/>
              </a:rPr>
              <a:t> </a:t>
            </a:r>
            <a:r>
              <a:rPr sz="3600" dirty="0">
                <a:solidFill>
                  <a:srgbClr val="2E377E"/>
                </a:solidFill>
                <a:latin typeface="Georgia"/>
                <a:cs typeface="Georgia"/>
              </a:rPr>
              <a:t>or</a:t>
            </a:r>
            <a:r>
              <a:rPr sz="3600" spc="20" dirty="0">
                <a:solidFill>
                  <a:srgbClr val="2E377E"/>
                </a:solidFill>
                <a:latin typeface="Georgia"/>
                <a:cs typeface="Georgia"/>
              </a:rPr>
              <a:t> </a:t>
            </a:r>
            <a:r>
              <a:rPr sz="3600" spc="-10" dirty="0">
                <a:solidFill>
                  <a:srgbClr val="2E377E"/>
                </a:solidFill>
                <a:latin typeface="Georgia"/>
                <a:cs typeface="Georgia"/>
              </a:rPr>
              <a:t>files.</a:t>
            </a:r>
            <a:endParaRPr sz="3600">
              <a:latin typeface="Georgia"/>
              <a:cs typeface="Georgia"/>
            </a:endParaRPr>
          </a:p>
          <a:p>
            <a:pPr marL="12700" marR="5080">
              <a:lnSpc>
                <a:spcPct val="116300"/>
              </a:lnSpc>
            </a:pPr>
            <a:r>
              <a:rPr sz="3600" spc="175" dirty="0">
                <a:solidFill>
                  <a:srgbClr val="2E377E"/>
                </a:solidFill>
                <a:latin typeface="Times New Roman"/>
                <a:cs typeface="Times New Roman"/>
              </a:rPr>
              <a:t>Sharing</a:t>
            </a:r>
            <a:r>
              <a:rPr sz="3600" spc="-45" dirty="0">
                <a:solidFill>
                  <a:srgbClr val="2E377E"/>
                </a:solidFill>
                <a:latin typeface="Times New Roman"/>
                <a:cs typeface="Times New Roman"/>
              </a:rPr>
              <a:t> </a:t>
            </a:r>
            <a:r>
              <a:rPr sz="3600" spc="195" dirty="0">
                <a:solidFill>
                  <a:srgbClr val="2E377E"/>
                </a:solidFill>
                <a:latin typeface="Times New Roman"/>
                <a:cs typeface="Times New Roman"/>
              </a:rPr>
              <a:t>configuration</a:t>
            </a:r>
            <a:r>
              <a:rPr sz="3600" spc="-40" dirty="0">
                <a:solidFill>
                  <a:srgbClr val="2E377E"/>
                </a:solidFill>
                <a:latin typeface="Times New Roman"/>
                <a:cs typeface="Times New Roman"/>
              </a:rPr>
              <a:t> </a:t>
            </a:r>
            <a:r>
              <a:rPr sz="3600" spc="254" dirty="0">
                <a:solidFill>
                  <a:srgbClr val="2E377E"/>
                </a:solidFill>
                <a:latin typeface="Times New Roman"/>
                <a:cs typeface="Times New Roman"/>
              </a:rPr>
              <a:t>data</a:t>
            </a:r>
            <a:r>
              <a:rPr sz="3600" spc="-40" dirty="0">
                <a:solidFill>
                  <a:srgbClr val="2E377E"/>
                </a:solidFill>
                <a:latin typeface="Times New Roman"/>
                <a:cs typeface="Times New Roman"/>
              </a:rPr>
              <a:t> </a:t>
            </a:r>
            <a:r>
              <a:rPr sz="3600" spc="185" dirty="0">
                <a:solidFill>
                  <a:srgbClr val="2E377E"/>
                </a:solidFill>
                <a:latin typeface="Times New Roman"/>
                <a:cs typeface="Times New Roman"/>
              </a:rPr>
              <a:t>across</a:t>
            </a:r>
            <a:r>
              <a:rPr sz="3600" spc="-40" dirty="0">
                <a:solidFill>
                  <a:srgbClr val="2E377E"/>
                </a:solidFill>
                <a:latin typeface="Times New Roman"/>
                <a:cs typeface="Times New Roman"/>
              </a:rPr>
              <a:t> </a:t>
            </a:r>
            <a:r>
              <a:rPr sz="3600" spc="210" dirty="0">
                <a:solidFill>
                  <a:srgbClr val="2E377E"/>
                </a:solidFill>
                <a:latin typeface="Times New Roman"/>
                <a:cs typeface="Times New Roman"/>
              </a:rPr>
              <a:t>multiple</a:t>
            </a:r>
            <a:r>
              <a:rPr sz="3600" spc="-40" dirty="0">
                <a:solidFill>
                  <a:srgbClr val="2E377E"/>
                </a:solidFill>
                <a:latin typeface="Times New Roman"/>
                <a:cs typeface="Times New Roman"/>
              </a:rPr>
              <a:t> </a:t>
            </a:r>
            <a:r>
              <a:rPr sz="3600" spc="185" dirty="0">
                <a:solidFill>
                  <a:srgbClr val="2E377E"/>
                </a:solidFill>
                <a:latin typeface="Times New Roman"/>
                <a:cs typeface="Times New Roman"/>
              </a:rPr>
              <a:t>resources:</a:t>
            </a:r>
            <a:r>
              <a:rPr sz="3600" spc="-40" dirty="0">
                <a:solidFill>
                  <a:srgbClr val="2E377E"/>
                </a:solidFill>
                <a:latin typeface="Times New Roman"/>
                <a:cs typeface="Times New Roman"/>
              </a:rPr>
              <a:t> </a:t>
            </a:r>
            <a:r>
              <a:rPr sz="3600" dirty="0">
                <a:solidFill>
                  <a:srgbClr val="2E377E"/>
                </a:solidFill>
                <a:latin typeface="Georgia"/>
                <a:cs typeface="Georgia"/>
              </a:rPr>
              <a:t>By</a:t>
            </a:r>
            <a:r>
              <a:rPr sz="3600" spc="-10" dirty="0">
                <a:solidFill>
                  <a:srgbClr val="2E377E"/>
                </a:solidFill>
                <a:latin typeface="Georgia"/>
                <a:cs typeface="Georgia"/>
              </a:rPr>
              <a:t> </a:t>
            </a:r>
            <a:r>
              <a:rPr sz="3600" dirty="0">
                <a:solidFill>
                  <a:srgbClr val="2E377E"/>
                </a:solidFill>
                <a:latin typeface="Georgia"/>
                <a:cs typeface="Georgia"/>
              </a:rPr>
              <a:t>using</a:t>
            </a:r>
            <a:r>
              <a:rPr sz="3600" spc="-10"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configuration </a:t>
            </a:r>
            <a:r>
              <a:rPr sz="3600" dirty="0">
                <a:solidFill>
                  <a:srgbClr val="2E377E"/>
                </a:solidFill>
                <a:latin typeface="Georgia"/>
                <a:cs typeface="Georgia"/>
              </a:rPr>
              <a:t>data</a:t>
            </a:r>
            <a:r>
              <a:rPr sz="3600" spc="75" dirty="0">
                <a:solidFill>
                  <a:srgbClr val="2E377E"/>
                </a:solidFill>
                <a:latin typeface="Georgia"/>
                <a:cs typeface="Georgia"/>
              </a:rPr>
              <a:t> </a:t>
            </a:r>
            <a:r>
              <a:rPr sz="3600" dirty="0">
                <a:solidFill>
                  <a:srgbClr val="2E377E"/>
                </a:solidFill>
                <a:latin typeface="Georgia"/>
                <a:cs typeface="Georgia"/>
              </a:rPr>
              <a:t>multiple</a:t>
            </a:r>
            <a:r>
              <a:rPr sz="3600" spc="75" dirty="0">
                <a:solidFill>
                  <a:srgbClr val="2E377E"/>
                </a:solidFill>
                <a:latin typeface="Georgia"/>
                <a:cs typeface="Georgia"/>
              </a:rPr>
              <a:t> </a:t>
            </a:r>
            <a:r>
              <a:rPr sz="3600" spc="45" dirty="0">
                <a:solidFill>
                  <a:srgbClr val="2E377E"/>
                </a:solidFill>
                <a:latin typeface="Georgia"/>
                <a:cs typeface="Georgia"/>
              </a:rPr>
              <a:t>resources</a:t>
            </a:r>
            <a:r>
              <a:rPr sz="3600" spc="75" dirty="0">
                <a:solidFill>
                  <a:srgbClr val="2E377E"/>
                </a:solidFill>
                <a:latin typeface="Georgia"/>
                <a:cs typeface="Georgia"/>
              </a:rPr>
              <a:t> </a:t>
            </a:r>
            <a:r>
              <a:rPr sz="3600" dirty="0">
                <a:solidFill>
                  <a:srgbClr val="2E377E"/>
                </a:solidFill>
                <a:latin typeface="Georgia"/>
                <a:cs typeface="Georgia"/>
              </a:rPr>
              <a:t>can</a:t>
            </a:r>
            <a:r>
              <a:rPr sz="3600" spc="75" dirty="0">
                <a:solidFill>
                  <a:srgbClr val="2E377E"/>
                </a:solidFill>
                <a:latin typeface="Georgia"/>
                <a:cs typeface="Georgia"/>
              </a:rPr>
              <a:t> </a:t>
            </a:r>
            <a:r>
              <a:rPr sz="3600" dirty="0">
                <a:solidFill>
                  <a:srgbClr val="2E377E"/>
                </a:solidFill>
                <a:latin typeface="Georgia"/>
                <a:cs typeface="Georgia"/>
              </a:rPr>
              <a:t>access,</a:t>
            </a:r>
            <a:r>
              <a:rPr sz="3600" spc="75" dirty="0">
                <a:solidFill>
                  <a:srgbClr val="2E377E"/>
                </a:solidFill>
                <a:latin typeface="Georgia"/>
                <a:cs typeface="Georgia"/>
              </a:rPr>
              <a:t> </a:t>
            </a:r>
            <a:r>
              <a:rPr sz="3600" dirty="0">
                <a:solidFill>
                  <a:srgbClr val="2E377E"/>
                </a:solidFill>
                <a:latin typeface="Georgia"/>
                <a:cs typeface="Georgia"/>
              </a:rPr>
              <a:t>such</a:t>
            </a:r>
            <a:r>
              <a:rPr sz="3600" spc="75" dirty="0">
                <a:solidFill>
                  <a:srgbClr val="2E377E"/>
                </a:solidFill>
                <a:latin typeface="Georgia"/>
                <a:cs typeface="Georgia"/>
              </a:rPr>
              <a:t> </a:t>
            </a:r>
            <a:r>
              <a:rPr sz="3600" dirty="0">
                <a:solidFill>
                  <a:srgbClr val="2E377E"/>
                </a:solidFill>
                <a:latin typeface="Georgia"/>
                <a:cs typeface="Georgia"/>
              </a:rPr>
              <a:t>as</a:t>
            </a:r>
            <a:r>
              <a:rPr sz="3600" spc="75" dirty="0">
                <a:solidFill>
                  <a:srgbClr val="2E377E"/>
                </a:solidFill>
                <a:latin typeface="Georgia"/>
                <a:cs typeface="Georgia"/>
              </a:rPr>
              <a:t> </a:t>
            </a:r>
            <a:r>
              <a:rPr sz="3600" dirty="0">
                <a:solidFill>
                  <a:srgbClr val="2E377E"/>
                </a:solidFill>
                <a:latin typeface="Georgia"/>
                <a:cs typeface="Georgia"/>
              </a:rPr>
              <a:t>a</a:t>
            </a:r>
            <a:r>
              <a:rPr sz="3600" spc="75" dirty="0">
                <a:solidFill>
                  <a:srgbClr val="2E377E"/>
                </a:solidFill>
                <a:latin typeface="Georgia"/>
                <a:cs typeface="Georgia"/>
              </a:rPr>
              <a:t> </a:t>
            </a:r>
            <a:r>
              <a:rPr sz="3600" dirty="0">
                <a:solidFill>
                  <a:srgbClr val="2E377E"/>
                </a:solidFill>
                <a:latin typeface="Georgia"/>
                <a:cs typeface="Georgia"/>
              </a:rPr>
              <a:t>common</a:t>
            </a:r>
            <a:r>
              <a:rPr sz="3600" spc="75" dirty="0">
                <a:solidFill>
                  <a:srgbClr val="2E377E"/>
                </a:solidFill>
                <a:latin typeface="Georgia"/>
                <a:cs typeface="Georgia"/>
              </a:rPr>
              <a:t> </a:t>
            </a:r>
            <a:r>
              <a:rPr sz="3600" dirty="0">
                <a:solidFill>
                  <a:srgbClr val="2E377E"/>
                </a:solidFill>
                <a:latin typeface="Georgia"/>
                <a:cs typeface="Georgia"/>
              </a:rPr>
              <a:t>configuration</a:t>
            </a:r>
            <a:r>
              <a:rPr sz="3600" spc="80" dirty="0">
                <a:solidFill>
                  <a:srgbClr val="2E377E"/>
                </a:solidFill>
                <a:latin typeface="Georgia"/>
                <a:cs typeface="Georgia"/>
              </a:rPr>
              <a:t> </a:t>
            </a:r>
            <a:r>
              <a:rPr sz="3600" dirty="0">
                <a:solidFill>
                  <a:srgbClr val="2E377E"/>
                </a:solidFill>
                <a:latin typeface="Georgia"/>
                <a:cs typeface="Georgia"/>
              </a:rPr>
              <a:t>file</a:t>
            </a:r>
            <a:r>
              <a:rPr sz="3600" spc="75" dirty="0">
                <a:solidFill>
                  <a:srgbClr val="2E377E"/>
                </a:solidFill>
                <a:latin typeface="Georgia"/>
                <a:cs typeface="Georgia"/>
              </a:rPr>
              <a:t> </a:t>
            </a:r>
            <a:r>
              <a:rPr sz="3600" spc="-25" dirty="0">
                <a:solidFill>
                  <a:srgbClr val="2E377E"/>
                </a:solidFill>
                <a:latin typeface="Georgia"/>
                <a:cs typeface="Georgia"/>
              </a:rPr>
              <a:t>for </a:t>
            </a:r>
            <a:r>
              <a:rPr sz="3600" spc="50" dirty="0">
                <a:solidFill>
                  <a:srgbClr val="2E377E"/>
                </a:solidFill>
                <a:latin typeface="Georgia"/>
                <a:cs typeface="Georgia"/>
              </a:rPr>
              <a:t>different</a:t>
            </a:r>
            <a:r>
              <a:rPr sz="3600" spc="-10" dirty="0">
                <a:solidFill>
                  <a:srgbClr val="2E377E"/>
                </a:solidFill>
                <a:latin typeface="Georgia"/>
                <a:cs typeface="Georgia"/>
              </a:rPr>
              <a:t> </a:t>
            </a:r>
            <a:r>
              <a:rPr sz="3600" dirty="0">
                <a:solidFill>
                  <a:srgbClr val="2E377E"/>
                </a:solidFill>
                <a:latin typeface="Georgia"/>
                <a:cs typeface="Georgia"/>
              </a:rPr>
              <a:t>pods</a:t>
            </a:r>
            <a:r>
              <a:rPr sz="3600" spc="-10" dirty="0">
                <a:solidFill>
                  <a:srgbClr val="2E377E"/>
                </a:solidFill>
                <a:latin typeface="Georgia"/>
                <a:cs typeface="Georgia"/>
              </a:rPr>
              <a:t> </a:t>
            </a:r>
            <a:r>
              <a:rPr sz="3600" dirty="0">
                <a:solidFill>
                  <a:srgbClr val="2E377E"/>
                </a:solidFill>
                <a:latin typeface="Georgia"/>
                <a:cs typeface="Georgia"/>
              </a:rPr>
              <a:t>or</a:t>
            </a:r>
            <a:r>
              <a:rPr sz="3600" spc="-10" dirty="0">
                <a:solidFill>
                  <a:srgbClr val="2E377E"/>
                </a:solidFill>
                <a:latin typeface="Georgia"/>
                <a:cs typeface="Georgia"/>
              </a:rPr>
              <a:t> services.</a:t>
            </a:r>
            <a:endParaRPr sz="3600">
              <a:latin typeface="Georgia"/>
              <a:cs typeface="Georgia"/>
            </a:endParaRPr>
          </a:p>
          <a:p>
            <a:pPr marL="12700" marR="803275">
              <a:lnSpc>
                <a:spcPct val="116300"/>
              </a:lnSpc>
            </a:pPr>
            <a:r>
              <a:rPr sz="3600" spc="60" dirty="0">
                <a:solidFill>
                  <a:srgbClr val="2E377E"/>
                </a:solidFill>
                <a:latin typeface="Times New Roman"/>
                <a:cs typeface="Times New Roman"/>
              </a:rPr>
              <a:t>We</a:t>
            </a:r>
            <a:r>
              <a:rPr sz="3600" spc="-40" dirty="0">
                <a:solidFill>
                  <a:srgbClr val="2E377E"/>
                </a:solidFill>
                <a:latin typeface="Times New Roman"/>
                <a:cs typeface="Times New Roman"/>
              </a:rPr>
              <a:t> </a:t>
            </a:r>
            <a:r>
              <a:rPr sz="3600" spc="210" dirty="0">
                <a:solidFill>
                  <a:srgbClr val="2E377E"/>
                </a:solidFill>
                <a:latin typeface="Times New Roman"/>
                <a:cs typeface="Times New Roman"/>
              </a:rPr>
              <a:t>can</a:t>
            </a:r>
            <a:r>
              <a:rPr sz="3600" spc="-35" dirty="0">
                <a:solidFill>
                  <a:srgbClr val="2E377E"/>
                </a:solidFill>
                <a:latin typeface="Times New Roman"/>
                <a:cs typeface="Times New Roman"/>
              </a:rPr>
              <a:t> </a:t>
            </a:r>
            <a:r>
              <a:rPr sz="3600" spc="240" dirty="0">
                <a:solidFill>
                  <a:srgbClr val="2E377E"/>
                </a:solidFill>
                <a:latin typeface="Times New Roman"/>
                <a:cs typeface="Times New Roman"/>
              </a:rPr>
              <a:t>store</a:t>
            </a:r>
            <a:r>
              <a:rPr sz="3600" spc="-40" dirty="0">
                <a:solidFill>
                  <a:srgbClr val="2E377E"/>
                </a:solidFill>
                <a:latin typeface="Times New Roman"/>
                <a:cs typeface="Times New Roman"/>
              </a:rPr>
              <a:t> </a:t>
            </a:r>
            <a:r>
              <a:rPr sz="3600" spc="285" dirty="0">
                <a:solidFill>
                  <a:srgbClr val="2E377E"/>
                </a:solidFill>
                <a:latin typeface="Times New Roman"/>
                <a:cs typeface="Times New Roman"/>
              </a:rPr>
              <a:t>the</a:t>
            </a:r>
            <a:r>
              <a:rPr sz="3600" spc="-35" dirty="0">
                <a:solidFill>
                  <a:srgbClr val="2E377E"/>
                </a:solidFill>
                <a:latin typeface="Times New Roman"/>
                <a:cs typeface="Times New Roman"/>
              </a:rPr>
              <a:t> </a:t>
            </a:r>
            <a:r>
              <a:rPr sz="3600" spc="180" dirty="0">
                <a:solidFill>
                  <a:srgbClr val="2E377E"/>
                </a:solidFill>
                <a:latin typeface="Times New Roman"/>
                <a:cs typeface="Times New Roman"/>
              </a:rPr>
              <a:t>data:</a:t>
            </a:r>
            <a:r>
              <a:rPr sz="3600" spc="-35" dirty="0">
                <a:solidFill>
                  <a:srgbClr val="2E377E"/>
                </a:solidFill>
                <a:latin typeface="Times New Roman"/>
                <a:cs typeface="Times New Roman"/>
              </a:rPr>
              <a:t> </a:t>
            </a:r>
            <a:r>
              <a:rPr sz="3600" dirty="0">
                <a:solidFill>
                  <a:srgbClr val="2E377E"/>
                </a:solidFill>
                <a:latin typeface="Georgia"/>
                <a:cs typeface="Georgia"/>
              </a:rPr>
              <a:t>By</a:t>
            </a:r>
            <a:r>
              <a:rPr sz="3600" spc="-10" dirty="0">
                <a:solidFill>
                  <a:srgbClr val="2E377E"/>
                </a:solidFill>
                <a:latin typeface="Georgia"/>
                <a:cs typeface="Georgia"/>
              </a:rPr>
              <a:t> </a:t>
            </a:r>
            <a:r>
              <a:rPr sz="3600" dirty="0">
                <a:solidFill>
                  <a:srgbClr val="2E377E"/>
                </a:solidFill>
                <a:latin typeface="Georgia"/>
                <a:cs typeface="Georgia"/>
              </a:rPr>
              <a:t>using</a:t>
            </a:r>
            <a:r>
              <a:rPr sz="3600" spc="-5"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a:t>
            </a:r>
            <a:r>
              <a:rPr sz="3600" dirty="0">
                <a:solidFill>
                  <a:srgbClr val="2E377E"/>
                </a:solidFill>
                <a:latin typeface="Georgia"/>
                <a:cs typeface="Georgia"/>
              </a:rPr>
              <a:t>config</a:t>
            </a:r>
            <a:r>
              <a:rPr sz="3600" spc="-5" dirty="0">
                <a:solidFill>
                  <a:srgbClr val="2E377E"/>
                </a:solidFill>
                <a:latin typeface="Georgia"/>
                <a:cs typeface="Georgia"/>
              </a:rPr>
              <a:t> </a:t>
            </a:r>
            <a:r>
              <a:rPr sz="3600" dirty="0">
                <a:solidFill>
                  <a:srgbClr val="2E377E"/>
                </a:solidFill>
                <a:latin typeface="Georgia"/>
                <a:cs typeface="Georgia"/>
              </a:rPr>
              <a:t>maps,</a:t>
            </a:r>
            <a:r>
              <a:rPr sz="3600" spc="-10" dirty="0">
                <a:solidFill>
                  <a:srgbClr val="2E377E"/>
                </a:solidFill>
                <a:latin typeface="Georgia"/>
                <a:cs typeface="Georgia"/>
              </a:rPr>
              <a:t> </a:t>
            </a:r>
            <a:r>
              <a:rPr sz="3600" spc="14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can</a:t>
            </a:r>
            <a:r>
              <a:rPr sz="3600" spc="-10" dirty="0">
                <a:solidFill>
                  <a:srgbClr val="2E377E"/>
                </a:solidFill>
                <a:latin typeface="Georgia"/>
                <a:cs typeface="Georgia"/>
              </a:rPr>
              <a:t> </a:t>
            </a:r>
            <a:r>
              <a:rPr sz="3600" spc="55" dirty="0">
                <a:solidFill>
                  <a:srgbClr val="2E377E"/>
                </a:solidFill>
                <a:latin typeface="Georgia"/>
                <a:cs typeface="Georgia"/>
              </a:rPr>
              <a:t>store</a:t>
            </a:r>
            <a:r>
              <a:rPr sz="3600" spc="-5"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data</a:t>
            </a:r>
            <a:r>
              <a:rPr sz="3600" spc="-5" dirty="0">
                <a:solidFill>
                  <a:srgbClr val="2E377E"/>
                </a:solidFill>
                <a:latin typeface="Georgia"/>
                <a:cs typeface="Georgia"/>
              </a:rPr>
              <a:t> </a:t>
            </a:r>
            <a:r>
              <a:rPr sz="3600" dirty="0">
                <a:solidFill>
                  <a:srgbClr val="2E377E"/>
                </a:solidFill>
                <a:latin typeface="Georgia"/>
                <a:cs typeface="Georgia"/>
              </a:rPr>
              <a:t>like</a:t>
            </a:r>
            <a:r>
              <a:rPr sz="3600" spc="-10" dirty="0">
                <a:solidFill>
                  <a:srgbClr val="2E377E"/>
                </a:solidFill>
                <a:latin typeface="Georgia"/>
                <a:cs typeface="Georgia"/>
              </a:rPr>
              <a:t> </a:t>
            </a:r>
            <a:r>
              <a:rPr sz="3600" spc="-25" dirty="0">
                <a:solidFill>
                  <a:srgbClr val="2E377E"/>
                </a:solidFill>
                <a:latin typeface="Georgia"/>
                <a:cs typeface="Georgia"/>
              </a:rPr>
              <a:t>IP </a:t>
            </a:r>
            <a:r>
              <a:rPr sz="3600" dirty="0">
                <a:solidFill>
                  <a:srgbClr val="2E377E"/>
                </a:solidFill>
                <a:latin typeface="Georgia"/>
                <a:cs typeface="Georgia"/>
              </a:rPr>
              <a:t>address,</a:t>
            </a:r>
            <a:r>
              <a:rPr sz="3600" spc="-80" dirty="0">
                <a:solidFill>
                  <a:srgbClr val="2E377E"/>
                </a:solidFill>
                <a:latin typeface="Georgia"/>
                <a:cs typeface="Georgia"/>
              </a:rPr>
              <a:t> </a:t>
            </a:r>
            <a:r>
              <a:rPr sz="3600" spc="-85" dirty="0">
                <a:solidFill>
                  <a:srgbClr val="2E377E"/>
                </a:solidFill>
                <a:latin typeface="Georgia"/>
                <a:cs typeface="Georgia"/>
              </a:rPr>
              <a:t>URL's</a:t>
            </a:r>
            <a:r>
              <a:rPr sz="3600" spc="-75" dirty="0">
                <a:solidFill>
                  <a:srgbClr val="2E377E"/>
                </a:solidFill>
                <a:latin typeface="Georgia"/>
                <a:cs typeface="Georgia"/>
              </a:rPr>
              <a:t> </a:t>
            </a:r>
            <a:r>
              <a:rPr sz="3600" dirty="0">
                <a:solidFill>
                  <a:srgbClr val="2E377E"/>
                </a:solidFill>
                <a:latin typeface="Georgia"/>
                <a:cs typeface="Georgia"/>
              </a:rPr>
              <a:t>and</a:t>
            </a:r>
            <a:r>
              <a:rPr sz="3600" spc="-80" dirty="0">
                <a:solidFill>
                  <a:srgbClr val="2E377E"/>
                </a:solidFill>
                <a:latin typeface="Georgia"/>
                <a:cs typeface="Georgia"/>
              </a:rPr>
              <a:t> </a:t>
            </a:r>
            <a:r>
              <a:rPr sz="3600" spc="-65" dirty="0">
                <a:solidFill>
                  <a:srgbClr val="2E377E"/>
                </a:solidFill>
                <a:latin typeface="Georgia"/>
                <a:cs typeface="Georgia"/>
              </a:rPr>
              <a:t>DNS</a:t>
            </a:r>
            <a:r>
              <a:rPr sz="3600" spc="-75" dirty="0">
                <a:solidFill>
                  <a:srgbClr val="2E377E"/>
                </a:solidFill>
                <a:latin typeface="Georgia"/>
                <a:cs typeface="Georgia"/>
              </a:rPr>
              <a:t> </a:t>
            </a:r>
            <a:r>
              <a:rPr sz="3600" spc="-10" dirty="0">
                <a:solidFill>
                  <a:srgbClr val="2E377E"/>
                </a:solidFill>
                <a:latin typeface="Georgia"/>
                <a:cs typeface="Georgia"/>
              </a:rPr>
              <a:t>etc...</a:t>
            </a:r>
            <a:endParaRPr sz="3600">
              <a:latin typeface="Georgia"/>
              <a:cs typeface="Georgia"/>
            </a:endParaRPr>
          </a:p>
        </p:txBody>
      </p:sp>
      <p:pic>
        <p:nvPicPr>
          <p:cNvPr id="5" name="object 5"/>
          <p:cNvPicPr/>
          <p:nvPr/>
        </p:nvPicPr>
        <p:blipFill>
          <a:blip r:embed="rId3" cstate="print"/>
          <a:stretch>
            <a:fillRect/>
          </a:stretch>
        </p:blipFill>
        <p:spPr>
          <a:xfrm>
            <a:off x="929778" y="3734940"/>
            <a:ext cx="133350" cy="133349"/>
          </a:xfrm>
          <a:prstGeom prst="rect">
            <a:avLst/>
          </a:prstGeom>
        </p:spPr>
      </p:pic>
      <p:pic>
        <p:nvPicPr>
          <p:cNvPr id="6" name="object 6"/>
          <p:cNvPicPr/>
          <p:nvPr/>
        </p:nvPicPr>
        <p:blipFill>
          <a:blip r:embed="rId4" cstate="print"/>
          <a:stretch>
            <a:fillRect/>
          </a:stretch>
        </p:blipFill>
        <p:spPr>
          <a:xfrm>
            <a:off x="929778" y="5011290"/>
            <a:ext cx="133350" cy="133349"/>
          </a:xfrm>
          <a:prstGeom prst="rect">
            <a:avLst/>
          </a:prstGeom>
        </p:spPr>
      </p:pic>
      <p:pic>
        <p:nvPicPr>
          <p:cNvPr id="7" name="object 7"/>
          <p:cNvPicPr/>
          <p:nvPr/>
        </p:nvPicPr>
        <p:blipFill>
          <a:blip r:embed="rId4" cstate="print"/>
          <a:stretch>
            <a:fillRect/>
          </a:stretch>
        </p:blipFill>
        <p:spPr>
          <a:xfrm>
            <a:off x="929778" y="6925815"/>
            <a:ext cx="133350" cy="133349"/>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46312" rIns="0" bIns="0" rtlCol="0">
            <a:spAutoFit/>
          </a:bodyPr>
          <a:lstStyle/>
          <a:p>
            <a:pPr marL="48895">
              <a:lnSpc>
                <a:spcPct val="100000"/>
              </a:lnSpc>
              <a:spcBef>
                <a:spcPts val="100"/>
              </a:spcBef>
            </a:pPr>
            <a:r>
              <a:rPr spc="-160" dirty="0">
                <a:solidFill>
                  <a:srgbClr val="FF3131"/>
                </a:solidFill>
              </a:rPr>
              <a:t>SOME</a:t>
            </a:r>
            <a:r>
              <a:rPr spc="-155" dirty="0">
                <a:solidFill>
                  <a:srgbClr val="FF3131"/>
                </a:solidFill>
              </a:rPr>
              <a:t> </a:t>
            </a:r>
            <a:r>
              <a:rPr spc="-90" dirty="0">
                <a:solidFill>
                  <a:srgbClr val="FF3131"/>
                </a:solidFill>
              </a:rPr>
              <a:t>POINTS</a:t>
            </a:r>
            <a:r>
              <a:rPr spc="-130" dirty="0">
                <a:solidFill>
                  <a:srgbClr val="FF3131"/>
                </a:solidFill>
              </a:rPr>
              <a:t> </a:t>
            </a:r>
            <a:r>
              <a:rPr spc="-210" dirty="0">
                <a:solidFill>
                  <a:srgbClr val="FF3131"/>
                </a:solidFill>
              </a:rPr>
              <a:t>ABOUT</a:t>
            </a:r>
            <a:r>
              <a:rPr spc="-105" dirty="0">
                <a:solidFill>
                  <a:srgbClr val="FF3131"/>
                </a:solidFill>
              </a:rPr>
              <a:t> </a:t>
            </a:r>
            <a:r>
              <a:rPr spc="-135" dirty="0">
                <a:solidFill>
                  <a:srgbClr val="FF3131"/>
                </a:solidFill>
              </a:rPr>
              <a:t>CONFIGMAPS:</a:t>
            </a:r>
          </a:p>
        </p:txBody>
      </p:sp>
      <p:pic>
        <p:nvPicPr>
          <p:cNvPr id="3" name="object 3"/>
          <p:cNvPicPr/>
          <p:nvPr/>
        </p:nvPicPr>
        <p:blipFill>
          <a:blip r:embed="rId2" cstate="print"/>
          <a:stretch>
            <a:fillRect/>
          </a:stretch>
        </p:blipFill>
        <p:spPr>
          <a:xfrm>
            <a:off x="1071068" y="2142179"/>
            <a:ext cx="130040" cy="130040"/>
          </a:xfrm>
          <a:prstGeom prst="rect">
            <a:avLst/>
          </a:prstGeom>
        </p:spPr>
      </p:pic>
      <p:sp>
        <p:nvSpPr>
          <p:cNvPr id="4" name="object 4"/>
          <p:cNvSpPr txBox="1"/>
          <p:nvPr/>
        </p:nvSpPr>
        <p:spPr>
          <a:xfrm>
            <a:off x="1379697" y="1791373"/>
            <a:ext cx="15466694" cy="4382135"/>
          </a:xfrm>
          <a:prstGeom prst="rect">
            <a:avLst/>
          </a:prstGeom>
        </p:spPr>
        <p:txBody>
          <a:bodyPr vert="horz" wrap="square" lIns="0" tIns="12065" rIns="0" bIns="0" rtlCol="0">
            <a:spAutoFit/>
          </a:bodyPr>
          <a:lstStyle/>
          <a:p>
            <a:pPr marL="12700" marR="406400">
              <a:lnSpc>
                <a:spcPct val="116700"/>
              </a:lnSpc>
              <a:spcBef>
                <a:spcPts val="95"/>
              </a:spcBef>
            </a:pPr>
            <a:r>
              <a:rPr sz="3500" dirty="0">
                <a:solidFill>
                  <a:srgbClr val="2E377E"/>
                </a:solidFill>
                <a:latin typeface="Georgia"/>
                <a:cs typeface="Georgia"/>
              </a:rPr>
              <a:t>Creating</a:t>
            </a:r>
            <a:r>
              <a:rPr sz="3500" spc="-25" dirty="0">
                <a:solidFill>
                  <a:srgbClr val="2E377E"/>
                </a:solidFill>
                <a:latin typeface="Georgia"/>
                <a:cs typeface="Georgia"/>
              </a:rPr>
              <a:t> </a:t>
            </a:r>
            <a:r>
              <a:rPr sz="3500" spc="55" dirty="0">
                <a:solidFill>
                  <a:srgbClr val="2E377E"/>
                </a:solidFill>
                <a:latin typeface="Georgia"/>
                <a:cs typeface="Georgia"/>
              </a:rPr>
              <a:t>the</a:t>
            </a:r>
            <a:r>
              <a:rPr sz="3500" spc="-20" dirty="0">
                <a:solidFill>
                  <a:srgbClr val="2E377E"/>
                </a:solidFill>
                <a:latin typeface="Georgia"/>
                <a:cs typeface="Georgia"/>
              </a:rPr>
              <a:t> </a:t>
            </a:r>
            <a:r>
              <a:rPr sz="3500" dirty="0">
                <a:solidFill>
                  <a:srgbClr val="2E377E"/>
                </a:solidFill>
                <a:latin typeface="Georgia"/>
                <a:cs typeface="Georgia"/>
              </a:rPr>
              <a:t>configMap</a:t>
            </a:r>
            <a:r>
              <a:rPr sz="3500" spc="-20" dirty="0">
                <a:solidFill>
                  <a:srgbClr val="2E377E"/>
                </a:solidFill>
                <a:latin typeface="Georgia"/>
                <a:cs typeface="Georgia"/>
              </a:rPr>
              <a:t> </a:t>
            </a:r>
            <a:r>
              <a:rPr sz="3500" dirty="0">
                <a:solidFill>
                  <a:srgbClr val="2E377E"/>
                </a:solidFill>
                <a:latin typeface="Georgia"/>
                <a:cs typeface="Georgia"/>
              </a:rPr>
              <a:t>is</a:t>
            </a:r>
            <a:r>
              <a:rPr sz="3500" spc="-25" dirty="0">
                <a:solidFill>
                  <a:srgbClr val="2E377E"/>
                </a:solidFill>
                <a:latin typeface="Georgia"/>
                <a:cs typeface="Georgia"/>
              </a:rPr>
              <a:t> </a:t>
            </a:r>
            <a:r>
              <a:rPr sz="3500" spc="55" dirty="0">
                <a:solidFill>
                  <a:srgbClr val="2E377E"/>
                </a:solidFill>
                <a:latin typeface="Georgia"/>
                <a:cs typeface="Georgia"/>
              </a:rPr>
              <a:t>the</a:t>
            </a:r>
            <a:r>
              <a:rPr sz="3500" spc="-20" dirty="0">
                <a:solidFill>
                  <a:srgbClr val="2E377E"/>
                </a:solidFill>
                <a:latin typeface="Georgia"/>
                <a:cs typeface="Georgia"/>
              </a:rPr>
              <a:t> </a:t>
            </a:r>
            <a:r>
              <a:rPr sz="3500" dirty="0">
                <a:solidFill>
                  <a:srgbClr val="2E377E"/>
                </a:solidFill>
                <a:latin typeface="Georgia"/>
                <a:cs typeface="Georgia"/>
              </a:rPr>
              <a:t>first</a:t>
            </a:r>
            <a:r>
              <a:rPr sz="3500" spc="-20" dirty="0">
                <a:solidFill>
                  <a:srgbClr val="2E377E"/>
                </a:solidFill>
                <a:latin typeface="Georgia"/>
                <a:cs typeface="Georgia"/>
              </a:rPr>
              <a:t> </a:t>
            </a:r>
            <a:r>
              <a:rPr sz="3500" dirty="0">
                <a:solidFill>
                  <a:srgbClr val="2E377E"/>
                </a:solidFill>
                <a:latin typeface="Georgia"/>
                <a:cs typeface="Georgia"/>
              </a:rPr>
              <a:t>process</a:t>
            </a:r>
            <a:r>
              <a:rPr sz="3500" spc="-20" dirty="0">
                <a:solidFill>
                  <a:srgbClr val="2E377E"/>
                </a:solidFill>
                <a:latin typeface="Georgia"/>
                <a:cs typeface="Georgia"/>
              </a:rPr>
              <a:t> </a:t>
            </a:r>
            <a:r>
              <a:rPr sz="3500" spc="55" dirty="0">
                <a:solidFill>
                  <a:srgbClr val="2E377E"/>
                </a:solidFill>
                <a:latin typeface="Georgia"/>
                <a:cs typeface="Georgia"/>
              </a:rPr>
              <a:t>which</a:t>
            </a:r>
            <a:r>
              <a:rPr sz="3500" spc="-25" dirty="0">
                <a:solidFill>
                  <a:srgbClr val="2E377E"/>
                </a:solidFill>
                <a:latin typeface="Georgia"/>
                <a:cs typeface="Georgia"/>
              </a:rPr>
              <a:t> </a:t>
            </a:r>
            <a:r>
              <a:rPr sz="3500" dirty="0">
                <a:solidFill>
                  <a:srgbClr val="2E377E"/>
                </a:solidFill>
                <a:latin typeface="Georgia"/>
                <a:cs typeface="Georgia"/>
              </a:rPr>
              <a:t>can</a:t>
            </a:r>
            <a:r>
              <a:rPr sz="3500" spc="-20" dirty="0">
                <a:solidFill>
                  <a:srgbClr val="2E377E"/>
                </a:solidFill>
                <a:latin typeface="Georgia"/>
                <a:cs typeface="Georgia"/>
              </a:rPr>
              <a:t> </a:t>
            </a:r>
            <a:r>
              <a:rPr sz="3500" dirty="0">
                <a:solidFill>
                  <a:srgbClr val="2E377E"/>
                </a:solidFill>
                <a:latin typeface="Georgia"/>
                <a:cs typeface="Georgia"/>
              </a:rPr>
              <a:t>be</a:t>
            </a:r>
            <a:r>
              <a:rPr sz="3500" spc="-20" dirty="0">
                <a:solidFill>
                  <a:srgbClr val="2E377E"/>
                </a:solidFill>
                <a:latin typeface="Georgia"/>
                <a:cs typeface="Georgia"/>
              </a:rPr>
              <a:t> </a:t>
            </a:r>
            <a:r>
              <a:rPr sz="3500" dirty="0">
                <a:solidFill>
                  <a:srgbClr val="2E377E"/>
                </a:solidFill>
                <a:latin typeface="Georgia"/>
                <a:cs typeface="Georgia"/>
              </a:rPr>
              <a:t>done</a:t>
            </a:r>
            <a:r>
              <a:rPr sz="3500" spc="-20" dirty="0">
                <a:solidFill>
                  <a:srgbClr val="2E377E"/>
                </a:solidFill>
                <a:latin typeface="Georgia"/>
                <a:cs typeface="Georgia"/>
              </a:rPr>
              <a:t> </a:t>
            </a:r>
            <a:r>
              <a:rPr sz="3500" spc="95" dirty="0">
                <a:solidFill>
                  <a:srgbClr val="2E377E"/>
                </a:solidFill>
                <a:latin typeface="Georgia"/>
                <a:cs typeface="Georgia"/>
              </a:rPr>
              <a:t>by</a:t>
            </a:r>
            <a:r>
              <a:rPr sz="3500" spc="-25" dirty="0">
                <a:solidFill>
                  <a:srgbClr val="2E377E"/>
                </a:solidFill>
                <a:latin typeface="Georgia"/>
                <a:cs typeface="Georgia"/>
              </a:rPr>
              <a:t> </a:t>
            </a:r>
            <a:r>
              <a:rPr sz="3500" spc="-10" dirty="0">
                <a:solidFill>
                  <a:srgbClr val="2E377E"/>
                </a:solidFill>
                <a:latin typeface="Georgia"/>
                <a:cs typeface="Georgia"/>
              </a:rPr>
              <a:t>commands </a:t>
            </a:r>
            <a:r>
              <a:rPr sz="3500" spc="50" dirty="0">
                <a:solidFill>
                  <a:srgbClr val="2E377E"/>
                </a:solidFill>
                <a:latin typeface="Georgia"/>
                <a:cs typeface="Georgia"/>
              </a:rPr>
              <a:t>only</a:t>
            </a:r>
            <a:r>
              <a:rPr sz="3500" spc="-90" dirty="0">
                <a:solidFill>
                  <a:srgbClr val="2E377E"/>
                </a:solidFill>
                <a:latin typeface="Georgia"/>
                <a:cs typeface="Georgia"/>
              </a:rPr>
              <a:t> </a:t>
            </a:r>
            <a:r>
              <a:rPr sz="3500" dirty="0">
                <a:solidFill>
                  <a:srgbClr val="2E377E"/>
                </a:solidFill>
                <a:latin typeface="Georgia"/>
                <a:cs typeface="Georgia"/>
              </a:rPr>
              <a:t>or</a:t>
            </a:r>
            <a:r>
              <a:rPr sz="3500" spc="-90" dirty="0">
                <a:solidFill>
                  <a:srgbClr val="2E377E"/>
                </a:solidFill>
                <a:latin typeface="Georgia"/>
                <a:cs typeface="Georgia"/>
              </a:rPr>
              <a:t> </a:t>
            </a:r>
            <a:r>
              <a:rPr sz="3500" dirty="0">
                <a:solidFill>
                  <a:srgbClr val="2E377E"/>
                </a:solidFill>
                <a:latin typeface="Georgia"/>
                <a:cs typeface="Georgia"/>
              </a:rPr>
              <a:t>a</a:t>
            </a:r>
            <a:r>
              <a:rPr sz="3500" spc="-90" dirty="0">
                <a:solidFill>
                  <a:srgbClr val="2E377E"/>
                </a:solidFill>
                <a:latin typeface="Georgia"/>
                <a:cs typeface="Georgia"/>
              </a:rPr>
              <a:t> </a:t>
            </a:r>
            <a:r>
              <a:rPr sz="3500" spc="-75" dirty="0">
                <a:solidFill>
                  <a:srgbClr val="2E377E"/>
                </a:solidFill>
                <a:latin typeface="Georgia"/>
                <a:cs typeface="Georgia"/>
              </a:rPr>
              <a:t>YAML</a:t>
            </a:r>
            <a:r>
              <a:rPr sz="3500" spc="-90" dirty="0">
                <a:solidFill>
                  <a:srgbClr val="2E377E"/>
                </a:solidFill>
                <a:latin typeface="Georgia"/>
                <a:cs typeface="Georgia"/>
              </a:rPr>
              <a:t> </a:t>
            </a:r>
            <a:r>
              <a:rPr sz="3500" spc="-10" dirty="0">
                <a:solidFill>
                  <a:srgbClr val="2E377E"/>
                </a:solidFill>
                <a:latin typeface="Georgia"/>
                <a:cs typeface="Georgia"/>
              </a:rPr>
              <a:t>file.</a:t>
            </a:r>
            <a:endParaRPr sz="3500">
              <a:latin typeface="Georgia"/>
              <a:cs typeface="Georgia"/>
            </a:endParaRPr>
          </a:p>
          <a:p>
            <a:pPr>
              <a:lnSpc>
                <a:spcPct val="100000"/>
              </a:lnSpc>
              <a:spcBef>
                <a:spcPts val="1625"/>
              </a:spcBef>
            </a:pPr>
            <a:endParaRPr sz="3500">
              <a:latin typeface="Georgia"/>
              <a:cs typeface="Georgia"/>
            </a:endParaRPr>
          </a:p>
          <a:p>
            <a:pPr marL="12700">
              <a:lnSpc>
                <a:spcPct val="100000"/>
              </a:lnSpc>
            </a:pPr>
            <a:r>
              <a:rPr sz="3500" dirty="0">
                <a:solidFill>
                  <a:srgbClr val="2E377E"/>
                </a:solidFill>
                <a:latin typeface="Georgia"/>
                <a:cs typeface="Georgia"/>
              </a:rPr>
              <a:t>After</a:t>
            </a:r>
            <a:r>
              <a:rPr sz="3500" spc="-25" dirty="0">
                <a:solidFill>
                  <a:srgbClr val="2E377E"/>
                </a:solidFill>
                <a:latin typeface="Georgia"/>
                <a:cs typeface="Georgia"/>
              </a:rPr>
              <a:t> </a:t>
            </a:r>
            <a:r>
              <a:rPr sz="3500" dirty="0">
                <a:solidFill>
                  <a:srgbClr val="2E377E"/>
                </a:solidFill>
                <a:latin typeface="Georgia"/>
                <a:cs typeface="Georgia"/>
              </a:rPr>
              <a:t>creating</a:t>
            </a:r>
            <a:r>
              <a:rPr sz="3500" spc="-25" dirty="0">
                <a:solidFill>
                  <a:srgbClr val="2E377E"/>
                </a:solidFill>
                <a:latin typeface="Georgia"/>
                <a:cs typeface="Georgia"/>
              </a:rPr>
              <a:t> </a:t>
            </a:r>
            <a:r>
              <a:rPr sz="3500" spc="55" dirty="0">
                <a:solidFill>
                  <a:srgbClr val="2E377E"/>
                </a:solidFill>
                <a:latin typeface="Georgia"/>
                <a:cs typeface="Georgia"/>
              </a:rPr>
              <a:t>the</a:t>
            </a:r>
            <a:r>
              <a:rPr sz="3500" spc="-20" dirty="0">
                <a:solidFill>
                  <a:srgbClr val="2E377E"/>
                </a:solidFill>
                <a:latin typeface="Georgia"/>
                <a:cs typeface="Georgia"/>
              </a:rPr>
              <a:t> </a:t>
            </a:r>
            <a:r>
              <a:rPr sz="3500" spc="-10" dirty="0">
                <a:solidFill>
                  <a:srgbClr val="2E377E"/>
                </a:solidFill>
                <a:latin typeface="Georgia"/>
                <a:cs typeface="Georgia"/>
              </a:rPr>
              <a:t>configMap,</a:t>
            </a:r>
            <a:r>
              <a:rPr sz="3500" spc="-25" dirty="0">
                <a:solidFill>
                  <a:srgbClr val="2E377E"/>
                </a:solidFill>
                <a:latin typeface="Georgia"/>
                <a:cs typeface="Georgia"/>
              </a:rPr>
              <a:t> </a:t>
            </a:r>
            <a:r>
              <a:rPr sz="3500" spc="125" dirty="0">
                <a:solidFill>
                  <a:srgbClr val="2E377E"/>
                </a:solidFill>
                <a:latin typeface="Georgia"/>
                <a:cs typeface="Georgia"/>
              </a:rPr>
              <a:t>we</a:t>
            </a:r>
            <a:r>
              <a:rPr sz="3500" spc="-20" dirty="0">
                <a:solidFill>
                  <a:srgbClr val="2E377E"/>
                </a:solidFill>
                <a:latin typeface="Georgia"/>
                <a:cs typeface="Georgia"/>
              </a:rPr>
              <a:t> </a:t>
            </a:r>
            <a:r>
              <a:rPr sz="3500" dirty="0">
                <a:solidFill>
                  <a:srgbClr val="2E377E"/>
                </a:solidFill>
                <a:latin typeface="Georgia"/>
                <a:cs typeface="Georgia"/>
              </a:rPr>
              <a:t>use</a:t>
            </a:r>
            <a:r>
              <a:rPr sz="3500" spc="-25" dirty="0">
                <a:solidFill>
                  <a:srgbClr val="2E377E"/>
                </a:solidFill>
                <a:latin typeface="Georgia"/>
                <a:cs typeface="Georgia"/>
              </a:rPr>
              <a:t> </a:t>
            </a:r>
            <a:r>
              <a:rPr sz="3500" spc="55" dirty="0">
                <a:solidFill>
                  <a:srgbClr val="2E377E"/>
                </a:solidFill>
                <a:latin typeface="Georgia"/>
                <a:cs typeface="Georgia"/>
              </a:rPr>
              <a:t>the</a:t>
            </a:r>
            <a:r>
              <a:rPr sz="3500" spc="-20" dirty="0">
                <a:solidFill>
                  <a:srgbClr val="2E377E"/>
                </a:solidFill>
                <a:latin typeface="Georgia"/>
                <a:cs typeface="Georgia"/>
              </a:rPr>
              <a:t> </a:t>
            </a:r>
            <a:r>
              <a:rPr sz="3500" dirty="0">
                <a:solidFill>
                  <a:srgbClr val="2E377E"/>
                </a:solidFill>
                <a:latin typeface="Georgia"/>
                <a:cs typeface="Georgia"/>
              </a:rPr>
              <a:t>data</a:t>
            </a:r>
            <a:r>
              <a:rPr sz="3500" spc="-25" dirty="0">
                <a:solidFill>
                  <a:srgbClr val="2E377E"/>
                </a:solidFill>
                <a:latin typeface="Georgia"/>
                <a:cs typeface="Georgia"/>
              </a:rPr>
              <a:t> </a:t>
            </a:r>
            <a:r>
              <a:rPr sz="3500" dirty="0">
                <a:solidFill>
                  <a:srgbClr val="2E377E"/>
                </a:solidFill>
                <a:latin typeface="Georgia"/>
                <a:cs typeface="Georgia"/>
              </a:rPr>
              <a:t>in</a:t>
            </a:r>
            <a:r>
              <a:rPr sz="3500" spc="-25" dirty="0">
                <a:solidFill>
                  <a:srgbClr val="2E377E"/>
                </a:solidFill>
                <a:latin typeface="Georgia"/>
                <a:cs typeface="Georgia"/>
              </a:rPr>
              <a:t> </a:t>
            </a:r>
            <a:r>
              <a:rPr sz="3500" spc="55" dirty="0">
                <a:solidFill>
                  <a:srgbClr val="2E377E"/>
                </a:solidFill>
                <a:latin typeface="Georgia"/>
                <a:cs typeface="Georgia"/>
              </a:rPr>
              <a:t>the</a:t>
            </a:r>
            <a:r>
              <a:rPr sz="3500" spc="-20" dirty="0">
                <a:solidFill>
                  <a:srgbClr val="2E377E"/>
                </a:solidFill>
                <a:latin typeface="Georgia"/>
                <a:cs typeface="Georgia"/>
              </a:rPr>
              <a:t> </a:t>
            </a:r>
            <a:r>
              <a:rPr sz="3500" dirty="0">
                <a:solidFill>
                  <a:srgbClr val="2E377E"/>
                </a:solidFill>
                <a:latin typeface="Georgia"/>
                <a:cs typeface="Georgia"/>
              </a:rPr>
              <a:t>pod</a:t>
            </a:r>
            <a:r>
              <a:rPr sz="3500" spc="-25" dirty="0">
                <a:solidFill>
                  <a:srgbClr val="2E377E"/>
                </a:solidFill>
                <a:latin typeface="Georgia"/>
                <a:cs typeface="Georgia"/>
              </a:rPr>
              <a:t> </a:t>
            </a:r>
            <a:r>
              <a:rPr sz="3500" spc="95" dirty="0">
                <a:solidFill>
                  <a:srgbClr val="2E377E"/>
                </a:solidFill>
                <a:latin typeface="Georgia"/>
                <a:cs typeface="Georgia"/>
              </a:rPr>
              <a:t>by</a:t>
            </a:r>
            <a:r>
              <a:rPr sz="3500" spc="-20" dirty="0">
                <a:solidFill>
                  <a:srgbClr val="2E377E"/>
                </a:solidFill>
                <a:latin typeface="Georgia"/>
                <a:cs typeface="Georgia"/>
              </a:rPr>
              <a:t> </a:t>
            </a:r>
            <a:r>
              <a:rPr sz="3500" dirty="0">
                <a:solidFill>
                  <a:srgbClr val="2E377E"/>
                </a:solidFill>
                <a:latin typeface="Georgia"/>
                <a:cs typeface="Georgia"/>
              </a:rPr>
              <a:t>injecting</a:t>
            </a:r>
            <a:r>
              <a:rPr sz="3500" spc="-25" dirty="0">
                <a:solidFill>
                  <a:srgbClr val="2E377E"/>
                </a:solidFill>
                <a:latin typeface="Georgia"/>
                <a:cs typeface="Georgia"/>
              </a:rPr>
              <a:t> </a:t>
            </a:r>
            <a:r>
              <a:rPr sz="3500" spc="55" dirty="0">
                <a:solidFill>
                  <a:srgbClr val="2E377E"/>
                </a:solidFill>
                <a:latin typeface="Georgia"/>
                <a:cs typeface="Georgia"/>
              </a:rPr>
              <a:t>the</a:t>
            </a:r>
            <a:r>
              <a:rPr sz="3500" spc="-20" dirty="0">
                <a:solidFill>
                  <a:srgbClr val="2E377E"/>
                </a:solidFill>
                <a:latin typeface="Georgia"/>
                <a:cs typeface="Georgia"/>
              </a:rPr>
              <a:t> pods.</a:t>
            </a:r>
            <a:endParaRPr sz="3500">
              <a:latin typeface="Georgia"/>
              <a:cs typeface="Georgia"/>
            </a:endParaRPr>
          </a:p>
          <a:p>
            <a:pPr>
              <a:lnSpc>
                <a:spcPct val="100000"/>
              </a:lnSpc>
              <a:spcBef>
                <a:spcPts val="919"/>
              </a:spcBef>
            </a:pPr>
            <a:endParaRPr sz="3500">
              <a:latin typeface="Georgia"/>
              <a:cs typeface="Georgia"/>
            </a:endParaRPr>
          </a:p>
          <a:p>
            <a:pPr marL="12700" marR="479425">
              <a:lnSpc>
                <a:spcPct val="116700"/>
              </a:lnSpc>
            </a:pPr>
            <a:r>
              <a:rPr sz="3500" dirty="0">
                <a:solidFill>
                  <a:srgbClr val="2E377E"/>
                </a:solidFill>
                <a:latin typeface="Georgia"/>
                <a:cs typeface="Georgia"/>
              </a:rPr>
              <a:t>After</a:t>
            </a:r>
            <a:r>
              <a:rPr sz="3500" spc="5" dirty="0">
                <a:solidFill>
                  <a:srgbClr val="2E377E"/>
                </a:solidFill>
                <a:latin typeface="Georgia"/>
                <a:cs typeface="Georgia"/>
              </a:rPr>
              <a:t> </a:t>
            </a:r>
            <a:r>
              <a:rPr sz="3500" dirty="0">
                <a:solidFill>
                  <a:srgbClr val="2E377E"/>
                </a:solidFill>
                <a:latin typeface="Georgia"/>
                <a:cs typeface="Georgia"/>
              </a:rPr>
              <a:t>injecting</a:t>
            </a:r>
            <a:r>
              <a:rPr sz="3500" spc="5" dirty="0">
                <a:solidFill>
                  <a:srgbClr val="2E377E"/>
                </a:solidFill>
                <a:latin typeface="Georgia"/>
                <a:cs typeface="Georgia"/>
              </a:rPr>
              <a:t> </a:t>
            </a:r>
            <a:r>
              <a:rPr sz="3500" spc="55" dirty="0">
                <a:solidFill>
                  <a:srgbClr val="2E377E"/>
                </a:solidFill>
                <a:latin typeface="Georgia"/>
                <a:cs typeface="Georgia"/>
              </a:rPr>
              <a:t>the</a:t>
            </a:r>
            <a:r>
              <a:rPr sz="3500" spc="5" dirty="0">
                <a:solidFill>
                  <a:srgbClr val="2E377E"/>
                </a:solidFill>
                <a:latin typeface="Georgia"/>
                <a:cs typeface="Georgia"/>
              </a:rPr>
              <a:t> </a:t>
            </a:r>
            <a:r>
              <a:rPr sz="3500" dirty="0">
                <a:solidFill>
                  <a:srgbClr val="2E377E"/>
                </a:solidFill>
                <a:latin typeface="Georgia"/>
                <a:cs typeface="Georgia"/>
              </a:rPr>
              <a:t>pods,</a:t>
            </a:r>
            <a:r>
              <a:rPr sz="3500" spc="5" dirty="0">
                <a:solidFill>
                  <a:srgbClr val="2E377E"/>
                </a:solidFill>
                <a:latin typeface="Georgia"/>
                <a:cs typeface="Georgia"/>
              </a:rPr>
              <a:t> </a:t>
            </a:r>
            <a:r>
              <a:rPr sz="3500" dirty="0">
                <a:solidFill>
                  <a:srgbClr val="2E377E"/>
                </a:solidFill>
                <a:latin typeface="Georgia"/>
                <a:cs typeface="Georgia"/>
              </a:rPr>
              <a:t>if</a:t>
            </a:r>
            <a:r>
              <a:rPr sz="3500" spc="5" dirty="0">
                <a:solidFill>
                  <a:srgbClr val="2E377E"/>
                </a:solidFill>
                <a:latin typeface="Georgia"/>
                <a:cs typeface="Georgia"/>
              </a:rPr>
              <a:t> </a:t>
            </a:r>
            <a:r>
              <a:rPr sz="3500" dirty="0">
                <a:solidFill>
                  <a:srgbClr val="2E377E"/>
                </a:solidFill>
                <a:latin typeface="Georgia"/>
                <a:cs typeface="Georgia"/>
              </a:rPr>
              <a:t>there</a:t>
            </a:r>
            <a:r>
              <a:rPr sz="3500" spc="10" dirty="0">
                <a:solidFill>
                  <a:srgbClr val="2E377E"/>
                </a:solidFill>
                <a:latin typeface="Georgia"/>
                <a:cs typeface="Georgia"/>
              </a:rPr>
              <a:t> </a:t>
            </a:r>
            <a:r>
              <a:rPr sz="3500" dirty="0">
                <a:solidFill>
                  <a:srgbClr val="2E377E"/>
                </a:solidFill>
                <a:latin typeface="Georgia"/>
                <a:cs typeface="Georgia"/>
              </a:rPr>
              <a:t>is</a:t>
            </a:r>
            <a:r>
              <a:rPr sz="3500" spc="5" dirty="0">
                <a:solidFill>
                  <a:srgbClr val="2E377E"/>
                </a:solidFill>
                <a:latin typeface="Georgia"/>
                <a:cs typeface="Georgia"/>
              </a:rPr>
              <a:t> </a:t>
            </a:r>
            <a:r>
              <a:rPr sz="3500" spc="60" dirty="0">
                <a:solidFill>
                  <a:srgbClr val="2E377E"/>
                </a:solidFill>
                <a:latin typeface="Georgia"/>
                <a:cs typeface="Georgia"/>
              </a:rPr>
              <a:t>any</a:t>
            </a:r>
            <a:r>
              <a:rPr sz="3500" spc="5" dirty="0">
                <a:solidFill>
                  <a:srgbClr val="2E377E"/>
                </a:solidFill>
                <a:latin typeface="Georgia"/>
                <a:cs typeface="Georgia"/>
              </a:rPr>
              <a:t> </a:t>
            </a:r>
            <a:r>
              <a:rPr sz="3500" dirty="0">
                <a:solidFill>
                  <a:srgbClr val="2E377E"/>
                </a:solidFill>
                <a:latin typeface="Georgia"/>
                <a:cs typeface="Georgia"/>
              </a:rPr>
              <a:t>update</a:t>
            </a:r>
            <a:r>
              <a:rPr sz="3500" spc="5" dirty="0">
                <a:solidFill>
                  <a:srgbClr val="2E377E"/>
                </a:solidFill>
                <a:latin typeface="Georgia"/>
                <a:cs typeface="Georgia"/>
              </a:rPr>
              <a:t> </a:t>
            </a:r>
            <a:r>
              <a:rPr sz="3500" dirty="0">
                <a:solidFill>
                  <a:srgbClr val="2E377E"/>
                </a:solidFill>
                <a:latin typeface="Georgia"/>
                <a:cs typeface="Georgia"/>
              </a:rPr>
              <a:t>in</a:t>
            </a:r>
            <a:r>
              <a:rPr sz="3500" spc="5" dirty="0">
                <a:solidFill>
                  <a:srgbClr val="2E377E"/>
                </a:solidFill>
                <a:latin typeface="Georgia"/>
                <a:cs typeface="Georgia"/>
              </a:rPr>
              <a:t> </a:t>
            </a:r>
            <a:r>
              <a:rPr sz="3500" spc="55" dirty="0">
                <a:solidFill>
                  <a:srgbClr val="2E377E"/>
                </a:solidFill>
                <a:latin typeface="Georgia"/>
                <a:cs typeface="Georgia"/>
              </a:rPr>
              <a:t>the</a:t>
            </a:r>
            <a:r>
              <a:rPr sz="3500" spc="5" dirty="0">
                <a:solidFill>
                  <a:srgbClr val="2E377E"/>
                </a:solidFill>
                <a:latin typeface="Georgia"/>
                <a:cs typeface="Georgia"/>
              </a:rPr>
              <a:t> </a:t>
            </a:r>
            <a:r>
              <a:rPr sz="3500" dirty="0">
                <a:solidFill>
                  <a:srgbClr val="2E377E"/>
                </a:solidFill>
                <a:latin typeface="Georgia"/>
                <a:cs typeface="Georgia"/>
              </a:rPr>
              <a:t>configuration</a:t>
            </a:r>
            <a:r>
              <a:rPr sz="3500" spc="10" dirty="0">
                <a:solidFill>
                  <a:srgbClr val="2E377E"/>
                </a:solidFill>
                <a:latin typeface="Georgia"/>
                <a:cs typeface="Georgia"/>
              </a:rPr>
              <a:t> </a:t>
            </a:r>
            <a:r>
              <a:rPr sz="3500" spc="125" dirty="0">
                <a:solidFill>
                  <a:srgbClr val="2E377E"/>
                </a:solidFill>
                <a:latin typeface="Georgia"/>
                <a:cs typeface="Georgia"/>
              </a:rPr>
              <a:t>we</a:t>
            </a:r>
            <a:r>
              <a:rPr sz="3500" spc="5" dirty="0">
                <a:solidFill>
                  <a:srgbClr val="2E377E"/>
                </a:solidFill>
                <a:latin typeface="Georgia"/>
                <a:cs typeface="Georgia"/>
              </a:rPr>
              <a:t> </a:t>
            </a:r>
            <a:r>
              <a:rPr sz="3500" spc="-25" dirty="0">
                <a:solidFill>
                  <a:srgbClr val="2E377E"/>
                </a:solidFill>
                <a:latin typeface="Georgia"/>
                <a:cs typeface="Georgia"/>
              </a:rPr>
              <a:t>can </a:t>
            </a:r>
            <a:r>
              <a:rPr sz="3500" dirty="0">
                <a:solidFill>
                  <a:srgbClr val="2E377E"/>
                </a:solidFill>
                <a:latin typeface="Georgia"/>
                <a:cs typeface="Georgia"/>
              </a:rPr>
              <a:t>modify</a:t>
            </a:r>
            <a:r>
              <a:rPr sz="3500" spc="20" dirty="0">
                <a:solidFill>
                  <a:srgbClr val="2E377E"/>
                </a:solidFill>
                <a:latin typeface="Georgia"/>
                <a:cs typeface="Georgia"/>
              </a:rPr>
              <a:t> </a:t>
            </a:r>
            <a:r>
              <a:rPr sz="3500" spc="55" dirty="0">
                <a:solidFill>
                  <a:srgbClr val="2E377E"/>
                </a:solidFill>
                <a:latin typeface="Georgia"/>
                <a:cs typeface="Georgia"/>
              </a:rPr>
              <a:t>the</a:t>
            </a:r>
            <a:r>
              <a:rPr sz="3500" spc="25" dirty="0">
                <a:solidFill>
                  <a:srgbClr val="2E377E"/>
                </a:solidFill>
                <a:latin typeface="Georgia"/>
                <a:cs typeface="Georgia"/>
              </a:rPr>
              <a:t> </a:t>
            </a:r>
            <a:r>
              <a:rPr sz="3500" spc="-10" dirty="0">
                <a:solidFill>
                  <a:srgbClr val="2E377E"/>
                </a:solidFill>
                <a:latin typeface="Georgia"/>
                <a:cs typeface="Georgia"/>
              </a:rPr>
              <a:t>configMap,</a:t>
            </a:r>
            <a:r>
              <a:rPr sz="3500" spc="25" dirty="0">
                <a:solidFill>
                  <a:srgbClr val="2E377E"/>
                </a:solidFill>
                <a:latin typeface="Georgia"/>
                <a:cs typeface="Georgia"/>
              </a:rPr>
              <a:t> </a:t>
            </a:r>
            <a:r>
              <a:rPr sz="3500" dirty="0">
                <a:solidFill>
                  <a:srgbClr val="2E377E"/>
                </a:solidFill>
                <a:latin typeface="Georgia"/>
                <a:cs typeface="Georgia"/>
              </a:rPr>
              <a:t>and</a:t>
            </a:r>
            <a:r>
              <a:rPr sz="3500" spc="20" dirty="0">
                <a:solidFill>
                  <a:srgbClr val="2E377E"/>
                </a:solidFill>
                <a:latin typeface="Georgia"/>
                <a:cs typeface="Georgia"/>
              </a:rPr>
              <a:t> </a:t>
            </a:r>
            <a:r>
              <a:rPr sz="3500" spc="55" dirty="0">
                <a:solidFill>
                  <a:srgbClr val="2E377E"/>
                </a:solidFill>
                <a:latin typeface="Georgia"/>
                <a:cs typeface="Georgia"/>
              </a:rPr>
              <a:t>the</a:t>
            </a:r>
            <a:r>
              <a:rPr sz="3500" spc="25" dirty="0">
                <a:solidFill>
                  <a:srgbClr val="2E377E"/>
                </a:solidFill>
                <a:latin typeface="Georgia"/>
                <a:cs typeface="Georgia"/>
              </a:rPr>
              <a:t> </a:t>
            </a:r>
            <a:r>
              <a:rPr sz="3500" dirty="0">
                <a:solidFill>
                  <a:srgbClr val="2E377E"/>
                </a:solidFill>
                <a:latin typeface="Georgia"/>
                <a:cs typeface="Georgia"/>
              </a:rPr>
              <a:t>changes</a:t>
            </a:r>
            <a:r>
              <a:rPr sz="3500" spc="25" dirty="0">
                <a:solidFill>
                  <a:srgbClr val="2E377E"/>
                </a:solidFill>
                <a:latin typeface="Georgia"/>
                <a:cs typeface="Georgia"/>
              </a:rPr>
              <a:t> </a:t>
            </a:r>
            <a:r>
              <a:rPr sz="3500" dirty="0">
                <a:solidFill>
                  <a:srgbClr val="2E377E"/>
                </a:solidFill>
                <a:latin typeface="Georgia"/>
                <a:cs typeface="Georgia"/>
              </a:rPr>
              <a:t>will</a:t>
            </a:r>
            <a:r>
              <a:rPr sz="3500" spc="20" dirty="0">
                <a:solidFill>
                  <a:srgbClr val="2E377E"/>
                </a:solidFill>
                <a:latin typeface="Georgia"/>
                <a:cs typeface="Georgia"/>
              </a:rPr>
              <a:t> </a:t>
            </a:r>
            <a:r>
              <a:rPr sz="3500" dirty="0">
                <a:solidFill>
                  <a:srgbClr val="2E377E"/>
                </a:solidFill>
                <a:latin typeface="Georgia"/>
                <a:cs typeface="Georgia"/>
              </a:rPr>
              <a:t>be</a:t>
            </a:r>
            <a:r>
              <a:rPr sz="3500" spc="25" dirty="0">
                <a:solidFill>
                  <a:srgbClr val="2E377E"/>
                </a:solidFill>
                <a:latin typeface="Georgia"/>
                <a:cs typeface="Georgia"/>
              </a:rPr>
              <a:t> </a:t>
            </a:r>
            <a:r>
              <a:rPr sz="3500" dirty="0">
                <a:solidFill>
                  <a:srgbClr val="2E377E"/>
                </a:solidFill>
                <a:latin typeface="Georgia"/>
                <a:cs typeface="Georgia"/>
              </a:rPr>
              <a:t>reflected</a:t>
            </a:r>
            <a:r>
              <a:rPr sz="3500" spc="25" dirty="0">
                <a:solidFill>
                  <a:srgbClr val="2E377E"/>
                </a:solidFill>
                <a:latin typeface="Georgia"/>
                <a:cs typeface="Georgia"/>
              </a:rPr>
              <a:t> </a:t>
            </a:r>
            <a:r>
              <a:rPr sz="3500" dirty="0">
                <a:solidFill>
                  <a:srgbClr val="2E377E"/>
                </a:solidFill>
                <a:latin typeface="Georgia"/>
                <a:cs typeface="Georgia"/>
              </a:rPr>
              <a:t>in</a:t>
            </a:r>
            <a:r>
              <a:rPr sz="3500" spc="20" dirty="0">
                <a:solidFill>
                  <a:srgbClr val="2E377E"/>
                </a:solidFill>
                <a:latin typeface="Georgia"/>
                <a:cs typeface="Georgia"/>
              </a:rPr>
              <a:t> </a:t>
            </a:r>
            <a:r>
              <a:rPr sz="3500" spc="55" dirty="0">
                <a:solidFill>
                  <a:srgbClr val="2E377E"/>
                </a:solidFill>
                <a:latin typeface="Georgia"/>
                <a:cs typeface="Georgia"/>
              </a:rPr>
              <a:t>the</a:t>
            </a:r>
            <a:r>
              <a:rPr sz="3500" spc="25" dirty="0">
                <a:solidFill>
                  <a:srgbClr val="2E377E"/>
                </a:solidFill>
                <a:latin typeface="Georgia"/>
                <a:cs typeface="Georgia"/>
              </a:rPr>
              <a:t> </a:t>
            </a:r>
            <a:r>
              <a:rPr sz="3500" dirty="0">
                <a:solidFill>
                  <a:srgbClr val="2E377E"/>
                </a:solidFill>
                <a:latin typeface="Georgia"/>
                <a:cs typeface="Georgia"/>
              </a:rPr>
              <a:t>injected</a:t>
            </a:r>
            <a:r>
              <a:rPr sz="3500" spc="25" dirty="0">
                <a:solidFill>
                  <a:srgbClr val="2E377E"/>
                </a:solidFill>
                <a:latin typeface="Georgia"/>
                <a:cs typeface="Georgia"/>
              </a:rPr>
              <a:t> </a:t>
            </a:r>
            <a:r>
              <a:rPr sz="3500" spc="-20" dirty="0">
                <a:solidFill>
                  <a:srgbClr val="2E377E"/>
                </a:solidFill>
                <a:latin typeface="Georgia"/>
                <a:cs typeface="Georgia"/>
              </a:rPr>
              <a:t>pod.</a:t>
            </a:r>
            <a:endParaRPr sz="3500">
              <a:latin typeface="Georgia"/>
              <a:cs typeface="Georgia"/>
            </a:endParaRPr>
          </a:p>
        </p:txBody>
      </p:sp>
      <p:pic>
        <p:nvPicPr>
          <p:cNvPr id="5" name="object 5"/>
          <p:cNvPicPr/>
          <p:nvPr/>
        </p:nvPicPr>
        <p:blipFill>
          <a:blip r:embed="rId3" cstate="print"/>
          <a:stretch>
            <a:fillRect/>
          </a:stretch>
        </p:blipFill>
        <p:spPr>
          <a:xfrm>
            <a:off x="1071068" y="4009194"/>
            <a:ext cx="130040" cy="130040"/>
          </a:xfrm>
          <a:prstGeom prst="rect">
            <a:avLst/>
          </a:prstGeom>
        </p:spPr>
      </p:pic>
      <p:pic>
        <p:nvPicPr>
          <p:cNvPr id="6" name="object 6"/>
          <p:cNvPicPr/>
          <p:nvPr/>
        </p:nvPicPr>
        <p:blipFill>
          <a:blip r:embed="rId4" cstate="print"/>
          <a:stretch>
            <a:fillRect/>
          </a:stretch>
        </p:blipFill>
        <p:spPr>
          <a:xfrm>
            <a:off x="1071068" y="5253870"/>
            <a:ext cx="130040" cy="13004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1609" y="759232"/>
            <a:ext cx="15946119" cy="7045325"/>
          </a:xfrm>
          <a:prstGeom prst="rect">
            <a:avLst/>
          </a:prstGeom>
        </p:spPr>
        <p:txBody>
          <a:bodyPr vert="horz" wrap="square" lIns="0" tIns="102235" rIns="0" bIns="0" rtlCol="0">
            <a:spAutoFit/>
          </a:bodyPr>
          <a:lstStyle/>
          <a:p>
            <a:pPr marL="12700">
              <a:lnSpc>
                <a:spcPct val="100000"/>
              </a:lnSpc>
              <a:spcBef>
                <a:spcPts val="805"/>
              </a:spcBef>
            </a:pPr>
            <a:r>
              <a:rPr sz="3600" spc="175" dirty="0">
                <a:solidFill>
                  <a:srgbClr val="2E377E"/>
                </a:solidFill>
                <a:latin typeface="Times New Roman"/>
                <a:cs typeface="Times New Roman"/>
              </a:rPr>
              <a:t>Creating</a:t>
            </a:r>
            <a:r>
              <a:rPr sz="3600" spc="-80" dirty="0">
                <a:solidFill>
                  <a:srgbClr val="2E377E"/>
                </a:solidFill>
                <a:latin typeface="Times New Roman"/>
                <a:cs typeface="Times New Roman"/>
              </a:rPr>
              <a:t> </a:t>
            </a:r>
            <a:r>
              <a:rPr sz="3600" spc="110" dirty="0">
                <a:solidFill>
                  <a:srgbClr val="2E377E"/>
                </a:solidFill>
                <a:latin typeface="Times New Roman"/>
                <a:cs typeface="Times New Roman"/>
              </a:rPr>
              <a:t>ConfigMap</a:t>
            </a:r>
            <a:r>
              <a:rPr sz="3600" spc="-80" dirty="0">
                <a:solidFill>
                  <a:srgbClr val="2E377E"/>
                </a:solidFill>
                <a:latin typeface="Times New Roman"/>
                <a:cs typeface="Times New Roman"/>
              </a:rPr>
              <a:t> </a:t>
            </a:r>
            <a:r>
              <a:rPr sz="3600" spc="229" dirty="0">
                <a:solidFill>
                  <a:srgbClr val="2E377E"/>
                </a:solidFill>
                <a:latin typeface="Times New Roman"/>
                <a:cs typeface="Times New Roman"/>
              </a:rPr>
              <a:t>from</a:t>
            </a:r>
            <a:r>
              <a:rPr sz="3600" spc="-80" dirty="0">
                <a:solidFill>
                  <a:srgbClr val="2E377E"/>
                </a:solidFill>
                <a:latin typeface="Times New Roman"/>
                <a:cs typeface="Times New Roman"/>
              </a:rPr>
              <a:t> </a:t>
            </a:r>
            <a:r>
              <a:rPr sz="3600" spc="120" dirty="0">
                <a:solidFill>
                  <a:srgbClr val="2E377E"/>
                </a:solidFill>
                <a:latin typeface="Times New Roman"/>
                <a:cs typeface="Times New Roman"/>
              </a:rPr>
              <a:t>literal:</a:t>
            </a:r>
            <a:endParaRPr sz="3600" dirty="0">
              <a:latin typeface="Times New Roman"/>
              <a:cs typeface="Times New Roman"/>
            </a:endParaRPr>
          </a:p>
          <a:p>
            <a:pPr marL="12700" marR="5080">
              <a:lnSpc>
                <a:spcPct val="116300"/>
              </a:lnSpc>
            </a:pPr>
            <a:r>
              <a:rPr sz="3600" spc="140" dirty="0">
                <a:solidFill>
                  <a:srgbClr val="2E377E"/>
                </a:solidFill>
                <a:latin typeface="Georgia"/>
                <a:cs typeface="Georgia"/>
              </a:rPr>
              <a:t>we</a:t>
            </a:r>
            <a:r>
              <a:rPr sz="3600" spc="15" dirty="0">
                <a:solidFill>
                  <a:srgbClr val="2E377E"/>
                </a:solidFill>
                <a:latin typeface="Georgia"/>
                <a:cs typeface="Georgia"/>
              </a:rPr>
              <a:t> </a:t>
            </a:r>
            <a:r>
              <a:rPr sz="3600" spc="55" dirty="0">
                <a:solidFill>
                  <a:srgbClr val="2E377E"/>
                </a:solidFill>
                <a:latin typeface="Georgia"/>
                <a:cs typeface="Georgia"/>
              </a:rPr>
              <a:t>have</a:t>
            </a:r>
            <a:r>
              <a:rPr sz="3600" spc="20" dirty="0">
                <a:solidFill>
                  <a:srgbClr val="2E377E"/>
                </a:solidFill>
                <a:latin typeface="Georgia"/>
                <a:cs typeface="Georgia"/>
              </a:rPr>
              <a:t> </a:t>
            </a:r>
            <a:r>
              <a:rPr sz="3600" spc="50" dirty="0">
                <a:solidFill>
                  <a:srgbClr val="2E377E"/>
                </a:solidFill>
                <a:latin typeface="Georgia"/>
                <a:cs typeface="Georgia"/>
              </a:rPr>
              <a:t>created</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configMap</a:t>
            </a:r>
            <a:r>
              <a:rPr sz="3600" spc="20" dirty="0">
                <a:solidFill>
                  <a:srgbClr val="2E377E"/>
                </a:solidFill>
                <a:latin typeface="Georgia"/>
                <a:cs typeface="Georgia"/>
              </a:rPr>
              <a:t> </a:t>
            </a:r>
            <a:r>
              <a:rPr sz="3600" dirty="0">
                <a:solidFill>
                  <a:srgbClr val="2E377E"/>
                </a:solidFill>
                <a:latin typeface="Georgia"/>
                <a:cs typeface="Georgia"/>
              </a:rPr>
              <a:t>through</a:t>
            </a:r>
            <a:r>
              <a:rPr sz="3600" spc="20" dirty="0">
                <a:solidFill>
                  <a:srgbClr val="2E377E"/>
                </a:solidFill>
                <a:latin typeface="Georgia"/>
                <a:cs typeface="Georgia"/>
              </a:rPr>
              <a:t> </a:t>
            </a:r>
            <a:r>
              <a:rPr sz="3600" dirty="0">
                <a:solidFill>
                  <a:srgbClr val="2E377E"/>
                </a:solidFill>
                <a:latin typeface="Georgia"/>
                <a:cs typeface="Georgia"/>
              </a:rPr>
              <a:t>—</a:t>
            </a:r>
            <a:r>
              <a:rPr sz="3600" spc="15" dirty="0">
                <a:solidFill>
                  <a:srgbClr val="2E377E"/>
                </a:solidFill>
                <a:latin typeface="Georgia"/>
                <a:cs typeface="Georgia"/>
              </a:rPr>
              <a:t> </a:t>
            </a:r>
            <a:r>
              <a:rPr sz="3600" dirty="0">
                <a:solidFill>
                  <a:srgbClr val="2E377E"/>
                </a:solidFill>
                <a:latin typeface="Georgia"/>
                <a:cs typeface="Georgia"/>
              </a:rPr>
              <a:t>from-literal</a:t>
            </a:r>
            <a:r>
              <a:rPr sz="3600" spc="20" dirty="0">
                <a:solidFill>
                  <a:srgbClr val="2E377E"/>
                </a:solidFill>
                <a:latin typeface="Georgia"/>
                <a:cs typeface="Georgia"/>
              </a:rPr>
              <a:t> </a:t>
            </a:r>
            <a:r>
              <a:rPr sz="3600" spc="55" dirty="0">
                <a:solidFill>
                  <a:srgbClr val="2E377E"/>
                </a:solidFill>
                <a:latin typeface="Georgia"/>
                <a:cs typeface="Georgia"/>
              </a:rPr>
              <a:t>which</a:t>
            </a:r>
            <a:r>
              <a:rPr sz="3600" spc="20" dirty="0">
                <a:solidFill>
                  <a:srgbClr val="2E377E"/>
                </a:solidFill>
                <a:latin typeface="Georgia"/>
                <a:cs typeface="Georgia"/>
              </a:rPr>
              <a:t> </a:t>
            </a:r>
            <a:r>
              <a:rPr sz="3600" dirty="0">
                <a:solidFill>
                  <a:srgbClr val="2E377E"/>
                </a:solidFill>
                <a:latin typeface="Georgia"/>
                <a:cs typeface="Georgia"/>
              </a:rPr>
              <a:t>means</a:t>
            </a:r>
            <a:r>
              <a:rPr sz="3600" spc="20" dirty="0">
                <a:solidFill>
                  <a:srgbClr val="2E377E"/>
                </a:solidFill>
                <a:latin typeface="Georgia"/>
                <a:cs typeface="Georgia"/>
              </a:rPr>
              <a:t> </a:t>
            </a:r>
            <a:r>
              <a:rPr sz="3600" spc="90" dirty="0">
                <a:solidFill>
                  <a:srgbClr val="2E377E"/>
                </a:solidFill>
                <a:latin typeface="Georgia"/>
                <a:cs typeface="Georgia"/>
              </a:rPr>
              <a:t>you</a:t>
            </a:r>
            <a:r>
              <a:rPr sz="3600" spc="20" dirty="0">
                <a:solidFill>
                  <a:srgbClr val="2E377E"/>
                </a:solidFill>
                <a:latin typeface="Georgia"/>
                <a:cs typeface="Georgia"/>
              </a:rPr>
              <a:t> </a:t>
            </a:r>
            <a:r>
              <a:rPr sz="3600" spc="35" dirty="0">
                <a:solidFill>
                  <a:srgbClr val="2E377E"/>
                </a:solidFill>
                <a:latin typeface="Georgia"/>
                <a:cs typeface="Georgia"/>
              </a:rPr>
              <a:t>just </a:t>
            </a:r>
            <a:r>
              <a:rPr sz="3600" dirty="0">
                <a:solidFill>
                  <a:srgbClr val="2E377E"/>
                </a:solidFill>
                <a:latin typeface="Georgia"/>
                <a:cs typeface="Georgia"/>
              </a:rPr>
              <a:t>need</a:t>
            </a:r>
            <a:r>
              <a:rPr sz="3600" spc="15"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spc="50" dirty="0">
                <a:solidFill>
                  <a:srgbClr val="2E377E"/>
                </a:solidFill>
                <a:latin typeface="Georgia"/>
                <a:cs typeface="Georgia"/>
              </a:rPr>
              <a:t>provide</a:t>
            </a:r>
            <a:r>
              <a:rPr sz="3600" spc="15"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spc="125" dirty="0">
                <a:solidFill>
                  <a:srgbClr val="2E377E"/>
                </a:solidFill>
                <a:latin typeface="Georgia"/>
                <a:cs typeface="Georgia"/>
              </a:rPr>
              <a:t>key</a:t>
            </a:r>
            <a:r>
              <a:rPr sz="3600" spc="15" dirty="0">
                <a:solidFill>
                  <a:srgbClr val="2E377E"/>
                </a:solidFill>
                <a:latin typeface="Georgia"/>
                <a:cs typeface="Georgia"/>
              </a:rPr>
              <a:t> </a:t>
            </a:r>
            <a:r>
              <a:rPr sz="3600" spc="55" dirty="0">
                <a:solidFill>
                  <a:srgbClr val="2E377E"/>
                </a:solidFill>
                <a:latin typeface="Georgia"/>
                <a:cs typeface="Georgia"/>
              </a:rPr>
              <a:t>value</a:t>
            </a:r>
            <a:r>
              <a:rPr sz="3600" spc="15" dirty="0">
                <a:solidFill>
                  <a:srgbClr val="2E377E"/>
                </a:solidFill>
                <a:latin typeface="Georgia"/>
                <a:cs typeface="Georgia"/>
              </a:rPr>
              <a:t> </a:t>
            </a:r>
            <a:r>
              <a:rPr sz="3600" dirty="0">
                <a:solidFill>
                  <a:srgbClr val="2E377E"/>
                </a:solidFill>
                <a:latin typeface="Georgia"/>
                <a:cs typeface="Georgia"/>
              </a:rPr>
              <a:t>instead</a:t>
            </a:r>
            <a:r>
              <a:rPr sz="3600" spc="20"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dirty="0">
                <a:solidFill>
                  <a:srgbClr val="2E377E"/>
                </a:solidFill>
                <a:latin typeface="Georgia"/>
                <a:cs typeface="Georgia"/>
              </a:rPr>
              <a:t>providing</a:t>
            </a:r>
            <a:r>
              <a:rPr sz="3600" spc="15"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file</a:t>
            </a:r>
            <a:r>
              <a:rPr sz="3600" spc="15" dirty="0">
                <a:solidFill>
                  <a:srgbClr val="2E377E"/>
                </a:solidFill>
                <a:latin typeface="Georgia"/>
                <a:cs typeface="Georgia"/>
              </a:rPr>
              <a:t> </a:t>
            </a:r>
            <a:r>
              <a:rPr sz="3600" spc="85" dirty="0">
                <a:solidFill>
                  <a:srgbClr val="2E377E"/>
                </a:solidFill>
                <a:latin typeface="Georgia"/>
                <a:cs typeface="Georgia"/>
              </a:rPr>
              <a:t>with</a:t>
            </a:r>
            <a:r>
              <a:rPr sz="3600" spc="15" dirty="0">
                <a:solidFill>
                  <a:srgbClr val="2E377E"/>
                </a:solidFill>
                <a:latin typeface="Georgia"/>
                <a:cs typeface="Georgia"/>
              </a:rPr>
              <a:t> </a:t>
            </a:r>
            <a:r>
              <a:rPr sz="3600" spc="100" dirty="0">
                <a:solidFill>
                  <a:srgbClr val="2E377E"/>
                </a:solidFill>
                <a:latin typeface="Georgia"/>
                <a:cs typeface="Georgia"/>
              </a:rPr>
              <a:t>key-</a:t>
            </a:r>
            <a:r>
              <a:rPr sz="3600" spc="55" dirty="0">
                <a:solidFill>
                  <a:srgbClr val="2E377E"/>
                </a:solidFill>
                <a:latin typeface="Georgia"/>
                <a:cs typeface="Georgia"/>
              </a:rPr>
              <a:t>value</a:t>
            </a:r>
            <a:r>
              <a:rPr sz="3600" spc="20" dirty="0">
                <a:solidFill>
                  <a:srgbClr val="2E377E"/>
                </a:solidFill>
                <a:latin typeface="Georgia"/>
                <a:cs typeface="Georgia"/>
              </a:rPr>
              <a:t> </a:t>
            </a:r>
            <a:r>
              <a:rPr sz="3600" spc="-20" dirty="0">
                <a:solidFill>
                  <a:srgbClr val="2E377E"/>
                </a:solidFill>
                <a:latin typeface="Georgia"/>
                <a:cs typeface="Georgia"/>
              </a:rPr>
              <a:t>pair </a:t>
            </a:r>
            <a:r>
              <a:rPr sz="3600" spc="-10" dirty="0">
                <a:solidFill>
                  <a:srgbClr val="2E377E"/>
                </a:solidFill>
                <a:latin typeface="Georgia"/>
                <a:cs typeface="Georgia"/>
              </a:rPr>
              <a:t>data.</a:t>
            </a:r>
            <a:endParaRPr sz="3600" dirty="0">
              <a:latin typeface="Georgia"/>
              <a:cs typeface="Georgia"/>
            </a:endParaRPr>
          </a:p>
          <a:p>
            <a:pPr>
              <a:lnSpc>
                <a:spcPct val="100000"/>
              </a:lnSpc>
              <a:spcBef>
                <a:spcPts val="935"/>
              </a:spcBef>
            </a:pPr>
            <a:endParaRPr sz="3600" dirty="0">
              <a:latin typeface="Georgia"/>
              <a:cs typeface="Georgia"/>
            </a:endParaRPr>
          </a:p>
          <a:p>
            <a:pPr marL="12700" marR="2261235">
              <a:lnSpc>
                <a:spcPct val="116300"/>
              </a:lnSpc>
            </a:pPr>
            <a:r>
              <a:rPr sz="3600" spc="-10" dirty="0">
                <a:solidFill>
                  <a:srgbClr val="E7181F"/>
                </a:solidFill>
                <a:latin typeface="Georgia"/>
                <a:cs typeface="Georgia"/>
              </a:rPr>
              <a:t>kubectl</a:t>
            </a:r>
            <a:r>
              <a:rPr sz="3600" spc="-150" dirty="0">
                <a:solidFill>
                  <a:srgbClr val="E7181F"/>
                </a:solidFill>
                <a:latin typeface="Georgia"/>
                <a:cs typeface="Georgia"/>
              </a:rPr>
              <a:t> </a:t>
            </a:r>
            <a:r>
              <a:rPr sz="3600" spc="-10" dirty="0">
                <a:solidFill>
                  <a:srgbClr val="E7181F"/>
                </a:solidFill>
                <a:latin typeface="Georgia"/>
                <a:cs typeface="Georgia"/>
              </a:rPr>
              <a:t>create</a:t>
            </a:r>
            <a:r>
              <a:rPr sz="3600" spc="-145" dirty="0">
                <a:solidFill>
                  <a:srgbClr val="E7181F"/>
                </a:solidFill>
                <a:latin typeface="Georgia"/>
                <a:cs typeface="Georgia"/>
              </a:rPr>
              <a:t> </a:t>
            </a:r>
            <a:r>
              <a:rPr sz="3600" dirty="0">
                <a:solidFill>
                  <a:srgbClr val="E7181F"/>
                </a:solidFill>
                <a:latin typeface="Georgia"/>
                <a:cs typeface="Georgia"/>
              </a:rPr>
              <a:t>cm</a:t>
            </a:r>
            <a:r>
              <a:rPr sz="3600" spc="-145" dirty="0">
                <a:solidFill>
                  <a:srgbClr val="E7181F"/>
                </a:solidFill>
                <a:latin typeface="Georgia"/>
                <a:cs typeface="Georgia"/>
              </a:rPr>
              <a:t> </a:t>
            </a:r>
            <a:r>
              <a:rPr sz="3600" dirty="0">
                <a:solidFill>
                  <a:srgbClr val="E7181F"/>
                </a:solidFill>
                <a:latin typeface="Georgia"/>
                <a:cs typeface="Georgia"/>
              </a:rPr>
              <a:t>my-</a:t>
            </a:r>
            <a:r>
              <a:rPr sz="3600" spc="-40" dirty="0">
                <a:solidFill>
                  <a:srgbClr val="E7181F"/>
                </a:solidFill>
                <a:latin typeface="Georgia"/>
                <a:cs typeface="Georgia"/>
              </a:rPr>
              <a:t>first-</a:t>
            </a:r>
            <a:r>
              <a:rPr sz="3600" dirty="0">
                <a:solidFill>
                  <a:srgbClr val="E7181F"/>
                </a:solidFill>
                <a:latin typeface="Georgia"/>
                <a:cs typeface="Georgia"/>
              </a:rPr>
              <a:t>cm</a:t>
            </a:r>
            <a:r>
              <a:rPr sz="3600" spc="-145" dirty="0">
                <a:solidFill>
                  <a:srgbClr val="E7181F"/>
                </a:solidFill>
                <a:latin typeface="Georgia"/>
                <a:cs typeface="Georgia"/>
              </a:rPr>
              <a:t> </a:t>
            </a:r>
            <a:r>
              <a:rPr sz="3600" spc="-60" dirty="0">
                <a:solidFill>
                  <a:srgbClr val="E7181F"/>
                </a:solidFill>
                <a:latin typeface="Georgia"/>
                <a:cs typeface="Georgia"/>
              </a:rPr>
              <a:t>--</a:t>
            </a:r>
            <a:r>
              <a:rPr sz="3600" spc="-50" dirty="0">
                <a:solidFill>
                  <a:srgbClr val="E7181F"/>
                </a:solidFill>
                <a:latin typeface="Georgia"/>
                <a:cs typeface="Georgia"/>
              </a:rPr>
              <a:t>from-</a:t>
            </a:r>
            <a:r>
              <a:rPr sz="3600" spc="-90" dirty="0">
                <a:solidFill>
                  <a:srgbClr val="E7181F"/>
                </a:solidFill>
                <a:latin typeface="Georgia"/>
                <a:cs typeface="Georgia"/>
              </a:rPr>
              <a:t>literal=Course=DevOps</a:t>
            </a:r>
            <a:r>
              <a:rPr sz="3600" spc="-145" dirty="0">
                <a:solidFill>
                  <a:srgbClr val="E7181F"/>
                </a:solidFill>
                <a:latin typeface="Georgia"/>
                <a:cs typeface="Georgia"/>
              </a:rPr>
              <a:t> </a:t>
            </a:r>
            <a:r>
              <a:rPr sz="3600" spc="-60" dirty="0">
                <a:solidFill>
                  <a:srgbClr val="E7181F"/>
                </a:solidFill>
                <a:latin typeface="Georgia"/>
                <a:cs typeface="Georgia"/>
              </a:rPr>
              <a:t>--</a:t>
            </a:r>
            <a:r>
              <a:rPr sz="3600" spc="-10" dirty="0">
                <a:solidFill>
                  <a:srgbClr val="E7181F"/>
                </a:solidFill>
                <a:latin typeface="Georgia"/>
                <a:cs typeface="Georgia"/>
              </a:rPr>
              <a:t>from- </a:t>
            </a:r>
            <a:r>
              <a:rPr sz="3600" spc="-125" dirty="0">
                <a:solidFill>
                  <a:srgbClr val="E7181F"/>
                </a:solidFill>
                <a:latin typeface="Georgia"/>
                <a:cs typeface="Georgia"/>
              </a:rPr>
              <a:t>literal=Cloud=AWS</a:t>
            </a:r>
            <a:r>
              <a:rPr sz="3600" spc="-50" dirty="0">
                <a:solidFill>
                  <a:srgbClr val="E7181F"/>
                </a:solidFill>
                <a:latin typeface="Georgia"/>
                <a:cs typeface="Georgia"/>
              </a:rPr>
              <a:t> </a:t>
            </a:r>
            <a:r>
              <a:rPr sz="3600" spc="-60" dirty="0">
                <a:solidFill>
                  <a:srgbClr val="E7181F"/>
                </a:solidFill>
                <a:latin typeface="Georgia"/>
                <a:cs typeface="Georgia"/>
              </a:rPr>
              <a:t>--</a:t>
            </a:r>
            <a:r>
              <a:rPr sz="3600" spc="-50" dirty="0">
                <a:solidFill>
                  <a:srgbClr val="E7181F"/>
                </a:solidFill>
                <a:latin typeface="Georgia"/>
                <a:cs typeface="Georgia"/>
              </a:rPr>
              <a:t>from-</a:t>
            </a:r>
            <a:r>
              <a:rPr sz="3600" spc="-35" dirty="0">
                <a:solidFill>
                  <a:srgbClr val="E7181F"/>
                </a:solidFill>
                <a:latin typeface="Georgia"/>
                <a:cs typeface="Georgia"/>
              </a:rPr>
              <a:t>literal=Trainer=</a:t>
            </a:r>
            <a:r>
              <a:rPr lang="en-IN" sz="3600" spc="-35" dirty="0">
                <a:solidFill>
                  <a:srgbClr val="E7181F"/>
                </a:solidFill>
                <a:latin typeface="Georgia"/>
                <a:cs typeface="Georgia"/>
              </a:rPr>
              <a:t>rajco</a:t>
            </a:r>
            <a:endParaRPr sz="3600" dirty="0">
              <a:latin typeface="Georgia"/>
              <a:cs typeface="Georgia"/>
            </a:endParaRPr>
          </a:p>
          <a:p>
            <a:pPr>
              <a:lnSpc>
                <a:spcPct val="100000"/>
              </a:lnSpc>
              <a:spcBef>
                <a:spcPts val="1639"/>
              </a:spcBef>
            </a:pPr>
            <a:endParaRPr sz="3600" dirty="0">
              <a:latin typeface="Georgia"/>
              <a:cs typeface="Georgia"/>
            </a:endParaRPr>
          </a:p>
          <a:p>
            <a:pPr marL="12700">
              <a:lnSpc>
                <a:spcPct val="100000"/>
              </a:lnSpc>
            </a:pPr>
            <a:r>
              <a:rPr sz="3600" dirty="0">
                <a:solidFill>
                  <a:srgbClr val="2E377E"/>
                </a:solidFill>
                <a:latin typeface="Georgia"/>
                <a:cs typeface="Georgia"/>
              </a:rPr>
              <a:t>To</a:t>
            </a:r>
            <a:r>
              <a:rPr sz="3600" spc="-65" dirty="0">
                <a:solidFill>
                  <a:srgbClr val="2E377E"/>
                </a:solidFill>
                <a:latin typeface="Georgia"/>
                <a:cs typeface="Georgia"/>
              </a:rPr>
              <a:t> </a:t>
            </a:r>
            <a:r>
              <a:rPr sz="3600" spc="75" dirty="0">
                <a:solidFill>
                  <a:srgbClr val="2E377E"/>
                </a:solidFill>
                <a:latin typeface="Georgia"/>
                <a:cs typeface="Georgia"/>
              </a:rPr>
              <a:t>get</a:t>
            </a:r>
            <a:r>
              <a:rPr sz="3600" spc="-65" dirty="0">
                <a:solidFill>
                  <a:srgbClr val="2E377E"/>
                </a:solidFill>
                <a:latin typeface="Georgia"/>
                <a:cs typeface="Georgia"/>
              </a:rPr>
              <a:t> </a:t>
            </a:r>
            <a:r>
              <a:rPr sz="3600" dirty="0">
                <a:solidFill>
                  <a:srgbClr val="2E377E"/>
                </a:solidFill>
                <a:latin typeface="Georgia"/>
                <a:cs typeface="Georgia"/>
              </a:rPr>
              <a:t>Config</a:t>
            </a:r>
            <a:r>
              <a:rPr sz="3600" spc="-65" dirty="0">
                <a:solidFill>
                  <a:srgbClr val="2E377E"/>
                </a:solidFill>
                <a:latin typeface="Georgia"/>
                <a:cs typeface="Georgia"/>
              </a:rPr>
              <a:t> </a:t>
            </a:r>
            <a:r>
              <a:rPr sz="3600" spc="-60" dirty="0">
                <a:solidFill>
                  <a:srgbClr val="2E377E"/>
                </a:solidFill>
                <a:latin typeface="Georgia"/>
                <a:cs typeface="Georgia"/>
              </a:rPr>
              <a:t>Maps: </a:t>
            </a:r>
            <a:r>
              <a:rPr sz="3600" spc="60" dirty="0">
                <a:solidFill>
                  <a:srgbClr val="E7181F"/>
                </a:solidFill>
                <a:latin typeface="Georgia"/>
                <a:cs typeface="Georgia"/>
              </a:rPr>
              <a:t>kubectl</a:t>
            </a:r>
            <a:r>
              <a:rPr sz="3600" spc="-65" dirty="0">
                <a:solidFill>
                  <a:srgbClr val="E7181F"/>
                </a:solidFill>
                <a:latin typeface="Georgia"/>
                <a:cs typeface="Georgia"/>
              </a:rPr>
              <a:t> </a:t>
            </a:r>
            <a:r>
              <a:rPr sz="3600" spc="75" dirty="0">
                <a:solidFill>
                  <a:srgbClr val="E7181F"/>
                </a:solidFill>
                <a:latin typeface="Georgia"/>
                <a:cs typeface="Georgia"/>
              </a:rPr>
              <a:t>get</a:t>
            </a:r>
            <a:r>
              <a:rPr sz="3600" spc="-65" dirty="0">
                <a:solidFill>
                  <a:srgbClr val="E7181F"/>
                </a:solidFill>
                <a:latin typeface="Georgia"/>
                <a:cs typeface="Georgia"/>
              </a:rPr>
              <a:t> </a:t>
            </a:r>
            <a:r>
              <a:rPr sz="3600" spc="-25" dirty="0">
                <a:solidFill>
                  <a:srgbClr val="E7181F"/>
                </a:solidFill>
                <a:latin typeface="Georgia"/>
                <a:cs typeface="Georgia"/>
              </a:rPr>
              <a:t>cm</a:t>
            </a:r>
            <a:endParaRPr sz="3600" dirty="0">
              <a:latin typeface="Georgia"/>
              <a:cs typeface="Georgia"/>
            </a:endParaRPr>
          </a:p>
          <a:p>
            <a:pPr marL="12700" marR="4218940">
              <a:lnSpc>
                <a:spcPct val="116300"/>
              </a:lnSpc>
            </a:pPr>
            <a:r>
              <a:rPr sz="3600" dirty="0">
                <a:solidFill>
                  <a:srgbClr val="2E377E"/>
                </a:solidFill>
                <a:latin typeface="Georgia"/>
                <a:cs typeface="Georgia"/>
              </a:rPr>
              <a:t>To</a:t>
            </a:r>
            <a:r>
              <a:rPr sz="3600" spc="65" dirty="0">
                <a:solidFill>
                  <a:srgbClr val="2E377E"/>
                </a:solidFill>
                <a:latin typeface="Georgia"/>
                <a:cs typeface="Georgia"/>
              </a:rPr>
              <a:t> </a:t>
            </a:r>
            <a:r>
              <a:rPr sz="3600" dirty="0">
                <a:solidFill>
                  <a:srgbClr val="2E377E"/>
                </a:solidFill>
                <a:latin typeface="Georgia"/>
                <a:cs typeface="Georgia"/>
              </a:rPr>
              <a:t>descibe:</a:t>
            </a:r>
            <a:r>
              <a:rPr sz="3600" spc="80" dirty="0">
                <a:solidFill>
                  <a:srgbClr val="2E377E"/>
                </a:solidFill>
                <a:latin typeface="Georgia"/>
                <a:cs typeface="Georgia"/>
              </a:rPr>
              <a:t> </a:t>
            </a:r>
            <a:r>
              <a:rPr sz="3600" spc="60" dirty="0">
                <a:solidFill>
                  <a:srgbClr val="FF3131"/>
                </a:solidFill>
                <a:latin typeface="Georgia"/>
                <a:cs typeface="Georgia"/>
              </a:rPr>
              <a:t>kubectl</a:t>
            </a:r>
            <a:r>
              <a:rPr sz="3600" spc="70" dirty="0">
                <a:solidFill>
                  <a:srgbClr val="FF3131"/>
                </a:solidFill>
                <a:latin typeface="Georgia"/>
                <a:cs typeface="Georgia"/>
              </a:rPr>
              <a:t> </a:t>
            </a:r>
            <a:r>
              <a:rPr sz="3600" dirty="0">
                <a:solidFill>
                  <a:srgbClr val="FF3131"/>
                </a:solidFill>
                <a:latin typeface="Georgia"/>
                <a:cs typeface="Georgia"/>
              </a:rPr>
              <a:t>describe</a:t>
            </a:r>
            <a:r>
              <a:rPr sz="3600" spc="70" dirty="0">
                <a:solidFill>
                  <a:srgbClr val="FF3131"/>
                </a:solidFill>
                <a:latin typeface="Georgia"/>
                <a:cs typeface="Georgia"/>
              </a:rPr>
              <a:t> </a:t>
            </a:r>
            <a:r>
              <a:rPr sz="3600" dirty="0">
                <a:solidFill>
                  <a:srgbClr val="FF3131"/>
                </a:solidFill>
                <a:latin typeface="Georgia"/>
                <a:cs typeface="Georgia"/>
              </a:rPr>
              <a:t>configmap/configmap-</a:t>
            </a:r>
            <a:r>
              <a:rPr sz="3600" spc="-20" dirty="0">
                <a:solidFill>
                  <a:srgbClr val="FF3131"/>
                </a:solidFill>
                <a:latin typeface="Georgia"/>
                <a:cs typeface="Georgia"/>
              </a:rPr>
              <a:t>name </a:t>
            </a:r>
            <a:r>
              <a:rPr sz="3600" dirty="0">
                <a:solidFill>
                  <a:srgbClr val="2E377E"/>
                </a:solidFill>
                <a:latin typeface="Georgia"/>
                <a:cs typeface="Georgia"/>
              </a:rPr>
              <a:t>To</a:t>
            </a:r>
            <a:r>
              <a:rPr sz="3600" spc="-45" dirty="0">
                <a:solidFill>
                  <a:srgbClr val="2E377E"/>
                </a:solidFill>
                <a:latin typeface="Georgia"/>
                <a:cs typeface="Georgia"/>
              </a:rPr>
              <a:t> </a:t>
            </a:r>
            <a:r>
              <a:rPr sz="3600" dirty="0">
                <a:solidFill>
                  <a:srgbClr val="2E377E"/>
                </a:solidFill>
                <a:latin typeface="Georgia"/>
                <a:cs typeface="Georgia"/>
              </a:rPr>
              <a:t>delete:</a:t>
            </a:r>
            <a:r>
              <a:rPr sz="3600" spc="-45" dirty="0">
                <a:solidFill>
                  <a:srgbClr val="2E377E"/>
                </a:solidFill>
                <a:latin typeface="Georgia"/>
                <a:cs typeface="Georgia"/>
              </a:rPr>
              <a:t> </a:t>
            </a:r>
            <a:r>
              <a:rPr sz="3600" spc="60" dirty="0">
                <a:solidFill>
                  <a:srgbClr val="FF3131"/>
                </a:solidFill>
                <a:latin typeface="Georgia"/>
                <a:cs typeface="Georgia"/>
              </a:rPr>
              <a:t>kubectl</a:t>
            </a:r>
            <a:r>
              <a:rPr sz="3600" spc="-40" dirty="0">
                <a:solidFill>
                  <a:srgbClr val="FF3131"/>
                </a:solidFill>
                <a:latin typeface="Georgia"/>
                <a:cs typeface="Georgia"/>
              </a:rPr>
              <a:t> </a:t>
            </a:r>
            <a:r>
              <a:rPr sz="3600" spc="55" dirty="0">
                <a:solidFill>
                  <a:srgbClr val="FF3131"/>
                </a:solidFill>
                <a:latin typeface="Georgia"/>
                <a:cs typeface="Georgia"/>
              </a:rPr>
              <a:t>delete</a:t>
            </a:r>
            <a:r>
              <a:rPr sz="3600" spc="-45" dirty="0">
                <a:solidFill>
                  <a:srgbClr val="FF3131"/>
                </a:solidFill>
                <a:latin typeface="Georgia"/>
                <a:cs typeface="Georgia"/>
              </a:rPr>
              <a:t> </a:t>
            </a:r>
            <a:r>
              <a:rPr sz="3600" spc="-10" dirty="0">
                <a:solidFill>
                  <a:srgbClr val="FF3131"/>
                </a:solidFill>
                <a:latin typeface="Georgia"/>
                <a:cs typeface="Georgia"/>
              </a:rPr>
              <a:t>configmap/configmap</a:t>
            </a:r>
            <a:endParaRPr sz="3600" dirty="0">
              <a:latin typeface="Georgia"/>
              <a:cs typeface="Georgia"/>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1609" y="890272"/>
            <a:ext cx="17001490" cy="7780720"/>
          </a:xfrm>
          <a:prstGeom prst="rect">
            <a:avLst/>
          </a:prstGeom>
        </p:spPr>
        <p:txBody>
          <a:bodyPr vert="horz" wrap="square" lIns="0" tIns="102235" rIns="0" bIns="0" rtlCol="0">
            <a:spAutoFit/>
          </a:bodyPr>
          <a:lstStyle/>
          <a:p>
            <a:pPr marL="12700">
              <a:lnSpc>
                <a:spcPct val="100000"/>
              </a:lnSpc>
              <a:spcBef>
                <a:spcPts val="805"/>
              </a:spcBef>
            </a:pPr>
            <a:r>
              <a:rPr sz="3600" spc="-90" dirty="0">
                <a:solidFill>
                  <a:srgbClr val="2E377E"/>
                </a:solidFill>
                <a:latin typeface="Times New Roman"/>
                <a:cs typeface="Times New Roman"/>
              </a:rPr>
              <a:t>CREATE</a:t>
            </a:r>
            <a:r>
              <a:rPr sz="3600" spc="-135" dirty="0">
                <a:solidFill>
                  <a:srgbClr val="2E377E"/>
                </a:solidFill>
                <a:latin typeface="Times New Roman"/>
                <a:cs typeface="Times New Roman"/>
              </a:rPr>
              <a:t> </a:t>
            </a:r>
            <a:r>
              <a:rPr sz="3600" spc="-260" dirty="0">
                <a:solidFill>
                  <a:srgbClr val="2E377E"/>
                </a:solidFill>
                <a:latin typeface="Times New Roman"/>
                <a:cs typeface="Times New Roman"/>
              </a:rPr>
              <a:t>A</a:t>
            </a:r>
            <a:r>
              <a:rPr sz="3600" spc="-100" dirty="0">
                <a:solidFill>
                  <a:srgbClr val="2E377E"/>
                </a:solidFill>
                <a:latin typeface="Times New Roman"/>
                <a:cs typeface="Times New Roman"/>
              </a:rPr>
              <a:t> </a:t>
            </a:r>
            <a:r>
              <a:rPr sz="3600" spc="-10" dirty="0">
                <a:solidFill>
                  <a:srgbClr val="2E377E"/>
                </a:solidFill>
                <a:latin typeface="Times New Roman"/>
                <a:cs typeface="Times New Roman"/>
              </a:rPr>
              <a:t>CONFIG-MAPS</a:t>
            </a:r>
            <a:r>
              <a:rPr sz="3600" spc="-175" dirty="0">
                <a:solidFill>
                  <a:srgbClr val="2E377E"/>
                </a:solidFill>
                <a:latin typeface="Times New Roman"/>
                <a:cs typeface="Times New Roman"/>
              </a:rPr>
              <a:t> </a:t>
            </a:r>
            <a:r>
              <a:rPr sz="3600" dirty="0">
                <a:solidFill>
                  <a:srgbClr val="2E377E"/>
                </a:solidFill>
                <a:latin typeface="Times New Roman"/>
                <a:cs typeface="Times New Roman"/>
              </a:rPr>
              <a:t>FROM</a:t>
            </a:r>
            <a:r>
              <a:rPr sz="3600" spc="-135" dirty="0">
                <a:solidFill>
                  <a:srgbClr val="2E377E"/>
                </a:solidFill>
                <a:latin typeface="Times New Roman"/>
                <a:cs typeface="Times New Roman"/>
              </a:rPr>
              <a:t> </a:t>
            </a:r>
            <a:r>
              <a:rPr sz="3600" spc="-10" dirty="0">
                <a:solidFill>
                  <a:srgbClr val="2E377E"/>
                </a:solidFill>
                <a:latin typeface="Times New Roman"/>
                <a:cs typeface="Times New Roman"/>
              </a:rPr>
              <a:t>FILE:</a:t>
            </a:r>
            <a:endParaRPr sz="3600" dirty="0">
              <a:latin typeface="Times New Roman"/>
              <a:cs typeface="Times New Roman"/>
            </a:endParaRPr>
          </a:p>
          <a:p>
            <a:pPr marL="12700" marR="5080">
              <a:lnSpc>
                <a:spcPct val="116300"/>
              </a:lnSpc>
            </a:pPr>
            <a:r>
              <a:rPr sz="3600" dirty="0">
                <a:solidFill>
                  <a:srgbClr val="2E377E"/>
                </a:solidFill>
                <a:latin typeface="Georgia"/>
                <a:cs typeface="Georgia"/>
              </a:rPr>
              <a:t>We</a:t>
            </a:r>
            <a:r>
              <a:rPr sz="3600" spc="-25" dirty="0">
                <a:solidFill>
                  <a:srgbClr val="2E377E"/>
                </a:solidFill>
                <a:latin typeface="Georgia"/>
                <a:cs typeface="Georgia"/>
              </a:rPr>
              <a:t> </a:t>
            </a:r>
            <a:r>
              <a:rPr sz="3600" spc="55" dirty="0">
                <a:solidFill>
                  <a:srgbClr val="2E377E"/>
                </a:solidFill>
                <a:latin typeface="Georgia"/>
                <a:cs typeface="Georgia"/>
              </a:rPr>
              <a:t>have</a:t>
            </a:r>
            <a:r>
              <a:rPr sz="3600" spc="-20" dirty="0">
                <a:solidFill>
                  <a:srgbClr val="2E377E"/>
                </a:solidFill>
                <a:latin typeface="Georgia"/>
                <a:cs typeface="Georgia"/>
              </a:rPr>
              <a:t> </a:t>
            </a:r>
            <a:r>
              <a:rPr sz="3600" spc="50" dirty="0">
                <a:solidFill>
                  <a:srgbClr val="2E377E"/>
                </a:solidFill>
                <a:latin typeface="Georgia"/>
                <a:cs typeface="Georgia"/>
              </a:rPr>
              <a:t>created</a:t>
            </a:r>
            <a:r>
              <a:rPr sz="3600" spc="-20" dirty="0">
                <a:solidFill>
                  <a:srgbClr val="2E377E"/>
                </a:solidFill>
                <a:latin typeface="Georgia"/>
                <a:cs typeface="Georgia"/>
              </a:rPr>
              <a:t> </a:t>
            </a:r>
            <a:r>
              <a:rPr sz="3600" dirty="0">
                <a:solidFill>
                  <a:srgbClr val="2E377E"/>
                </a:solidFill>
                <a:latin typeface="Georgia"/>
                <a:cs typeface="Georgia"/>
              </a:rPr>
              <a:t>one</a:t>
            </a:r>
            <a:r>
              <a:rPr sz="3600" spc="-20" dirty="0">
                <a:solidFill>
                  <a:srgbClr val="2E377E"/>
                </a:solidFill>
                <a:latin typeface="Georgia"/>
                <a:cs typeface="Georgia"/>
              </a:rPr>
              <a:t> </a:t>
            </a:r>
            <a:r>
              <a:rPr sz="3600" dirty="0">
                <a:solidFill>
                  <a:srgbClr val="2E377E"/>
                </a:solidFill>
                <a:latin typeface="Georgia"/>
                <a:cs typeface="Georgia"/>
              </a:rPr>
              <a:t>file</a:t>
            </a:r>
            <a:r>
              <a:rPr sz="3600" spc="-20" dirty="0">
                <a:solidFill>
                  <a:srgbClr val="2E377E"/>
                </a:solidFill>
                <a:latin typeface="Georgia"/>
                <a:cs typeface="Georgia"/>
              </a:rPr>
              <a:t> </a:t>
            </a:r>
            <a:r>
              <a:rPr sz="3600" dirty="0">
                <a:solidFill>
                  <a:srgbClr val="2E377E"/>
                </a:solidFill>
                <a:latin typeface="Georgia"/>
                <a:cs typeface="Georgia"/>
              </a:rPr>
              <a:t>first.conf</a:t>
            </a:r>
            <a:r>
              <a:rPr sz="3600" spc="-20" dirty="0">
                <a:solidFill>
                  <a:srgbClr val="2E377E"/>
                </a:solidFill>
                <a:latin typeface="Georgia"/>
                <a:cs typeface="Georgia"/>
              </a:rPr>
              <a:t> </a:t>
            </a:r>
            <a:r>
              <a:rPr sz="3600" spc="55" dirty="0">
                <a:solidFill>
                  <a:srgbClr val="2E377E"/>
                </a:solidFill>
                <a:latin typeface="Georgia"/>
                <a:cs typeface="Georgia"/>
              </a:rPr>
              <a:t>which</a:t>
            </a:r>
            <a:r>
              <a:rPr sz="3600" spc="-20" dirty="0">
                <a:solidFill>
                  <a:srgbClr val="2E377E"/>
                </a:solidFill>
                <a:latin typeface="Georgia"/>
                <a:cs typeface="Georgia"/>
              </a:rPr>
              <a:t> </a:t>
            </a:r>
            <a:r>
              <a:rPr sz="3600" dirty="0">
                <a:solidFill>
                  <a:srgbClr val="2E377E"/>
                </a:solidFill>
                <a:latin typeface="Georgia"/>
                <a:cs typeface="Georgia"/>
              </a:rPr>
              <a:t>has</a:t>
            </a:r>
            <a:r>
              <a:rPr sz="3600" spc="-20" dirty="0">
                <a:solidFill>
                  <a:srgbClr val="2E377E"/>
                </a:solidFill>
                <a:latin typeface="Georgia"/>
                <a:cs typeface="Georgia"/>
              </a:rPr>
              <a:t> </a:t>
            </a:r>
            <a:r>
              <a:rPr sz="3600" dirty="0">
                <a:solidFill>
                  <a:srgbClr val="2E377E"/>
                </a:solidFill>
                <a:latin typeface="Georgia"/>
                <a:cs typeface="Georgia"/>
              </a:rPr>
              <a:t>some</a:t>
            </a:r>
            <a:r>
              <a:rPr sz="3600" spc="-20" dirty="0">
                <a:solidFill>
                  <a:srgbClr val="2E377E"/>
                </a:solidFill>
                <a:latin typeface="Georgia"/>
                <a:cs typeface="Georgia"/>
              </a:rPr>
              <a:t> </a:t>
            </a:r>
            <a:r>
              <a:rPr sz="3600" dirty="0">
                <a:solidFill>
                  <a:srgbClr val="2E377E"/>
                </a:solidFill>
                <a:latin typeface="Georgia"/>
                <a:cs typeface="Georgia"/>
              </a:rPr>
              <a:t>data,</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spc="50" dirty="0">
                <a:solidFill>
                  <a:srgbClr val="2E377E"/>
                </a:solidFill>
                <a:latin typeface="Georgia"/>
                <a:cs typeface="Georgia"/>
              </a:rPr>
              <a:t>created</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spc="-10" dirty="0">
                <a:solidFill>
                  <a:srgbClr val="2E377E"/>
                </a:solidFill>
                <a:latin typeface="Georgia"/>
                <a:cs typeface="Georgia"/>
              </a:rPr>
              <a:t>configMap </a:t>
            </a:r>
            <a:r>
              <a:rPr sz="3600" spc="85" dirty="0">
                <a:solidFill>
                  <a:srgbClr val="2E377E"/>
                </a:solidFill>
                <a:latin typeface="Georgia"/>
                <a:cs typeface="Georgia"/>
              </a:rPr>
              <a:t>with</a:t>
            </a:r>
            <a:r>
              <a:rPr sz="3600" spc="-3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help</a:t>
            </a:r>
            <a:r>
              <a:rPr sz="3600" spc="-30" dirty="0">
                <a:solidFill>
                  <a:srgbClr val="2E377E"/>
                </a:solidFill>
                <a:latin typeface="Georgia"/>
                <a:cs typeface="Georgia"/>
              </a:rPr>
              <a:t> </a:t>
            </a:r>
            <a:r>
              <a:rPr sz="3600" dirty="0">
                <a:solidFill>
                  <a:srgbClr val="2E377E"/>
                </a:solidFill>
                <a:latin typeface="Georgia"/>
                <a:cs typeface="Georgia"/>
              </a:rPr>
              <a:t>of</a:t>
            </a:r>
            <a:r>
              <a:rPr sz="3600" spc="-30" dirty="0">
                <a:solidFill>
                  <a:srgbClr val="2E377E"/>
                </a:solidFill>
                <a:latin typeface="Georgia"/>
                <a:cs typeface="Georgia"/>
              </a:rPr>
              <a:t> </a:t>
            </a:r>
            <a:r>
              <a:rPr sz="3600" spc="55" dirty="0">
                <a:solidFill>
                  <a:srgbClr val="2E377E"/>
                </a:solidFill>
                <a:latin typeface="Georgia"/>
                <a:cs typeface="Georgia"/>
              </a:rPr>
              <a:t>that</a:t>
            </a:r>
            <a:r>
              <a:rPr sz="3600" spc="-30" dirty="0">
                <a:solidFill>
                  <a:srgbClr val="2E377E"/>
                </a:solidFill>
                <a:latin typeface="Georgia"/>
                <a:cs typeface="Georgia"/>
              </a:rPr>
              <a:t> </a:t>
            </a:r>
            <a:r>
              <a:rPr sz="3600" spc="-10" dirty="0">
                <a:solidFill>
                  <a:srgbClr val="2E377E"/>
                </a:solidFill>
                <a:latin typeface="Georgia"/>
                <a:cs typeface="Georgia"/>
              </a:rPr>
              <a:t>file.</a:t>
            </a:r>
            <a:endParaRPr sz="3600" dirty="0">
              <a:latin typeface="Georgia"/>
              <a:cs typeface="Georgia"/>
            </a:endParaRPr>
          </a:p>
          <a:p>
            <a:pPr>
              <a:lnSpc>
                <a:spcPct val="100000"/>
              </a:lnSpc>
              <a:spcBef>
                <a:spcPts val="935"/>
              </a:spcBef>
            </a:pPr>
            <a:endParaRPr sz="3600" dirty="0">
              <a:latin typeface="Georgia"/>
              <a:cs typeface="Georgia"/>
            </a:endParaRPr>
          </a:p>
          <a:p>
            <a:pPr marL="12700" marR="12357735">
              <a:lnSpc>
                <a:spcPct val="116300"/>
              </a:lnSpc>
            </a:pPr>
            <a:r>
              <a:rPr sz="3600" dirty="0">
                <a:solidFill>
                  <a:srgbClr val="2E377E"/>
                </a:solidFill>
                <a:latin typeface="Georgia"/>
                <a:cs typeface="Georgia"/>
              </a:rPr>
              <a:t>cat</a:t>
            </a:r>
            <a:r>
              <a:rPr sz="3600" spc="-130" dirty="0">
                <a:solidFill>
                  <a:srgbClr val="2E377E"/>
                </a:solidFill>
                <a:latin typeface="Georgia"/>
                <a:cs typeface="Georgia"/>
              </a:rPr>
              <a:t> </a:t>
            </a:r>
            <a:r>
              <a:rPr sz="3600" spc="-55" dirty="0">
                <a:solidFill>
                  <a:srgbClr val="2E377E"/>
                </a:solidFill>
                <a:latin typeface="Georgia"/>
                <a:cs typeface="Georgia"/>
              </a:rPr>
              <a:t>config-</a:t>
            </a:r>
            <a:r>
              <a:rPr sz="3600" spc="-70" dirty="0">
                <a:solidFill>
                  <a:srgbClr val="2E377E"/>
                </a:solidFill>
                <a:latin typeface="Georgia"/>
                <a:cs typeface="Georgia"/>
              </a:rPr>
              <a:t>map-</a:t>
            </a:r>
            <a:r>
              <a:rPr sz="3600" spc="-20" dirty="0">
                <a:solidFill>
                  <a:srgbClr val="2E377E"/>
                </a:solidFill>
                <a:latin typeface="Georgia"/>
                <a:cs typeface="Georgia"/>
              </a:rPr>
              <a:t>data.txt </a:t>
            </a:r>
            <a:r>
              <a:rPr sz="3600" spc="-10" dirty="0">
                <a:solidFill>
                  <a:srgbClr val="2E377E"/>
                </a:solidFill>
                <a:latin typeface="Georgia"/>
                <a:cs typeface="Georgia"/>
              </a:rPr>
              <a:t>Name=</a:t>
            </a:r>
            <a:r>
              <a:rPr lang="en-IN" sz="3600" spc="-10" dirty="0">
                <a:solidFill>
                  <a:srgbClr val="2E377E"/>
                </a:solidFill>
                <a:latin typeface="Georgia"/>
                <a:cs typeface="Georgia"/>
              </a:rPr>
              <a:t>rajco</a:t>
            </a:r>
            <a:r>
              <a:rPr sz="3600" spc="-10" dirty="0">
                <a:solidFill>
                  <a:srgbClr val="2E377E"/>
                </a:solidFill>
                <a:latin typeface="Georgia"/>
                <a:cs typeface="Georgia"/>
              </a:rPr>
              <a:t> Course=Python </a:t>
            </a:r>
            <a:r>
              <a:rPr sz="3600" spc="-40" dirty="0">
                <a:solidFill>
                  <a:srgbClr val="2E377E"/>
                </a:solidFill>
                <a:latin typeface="Georgia"/>
                <a:cs typeface="Georgia"/>
              </a:rPr>
              <a:t>Duration=60</a:t>
            </a:r>
            <a:r>
              <a:rPr sz="3600" spc="-130" dirty="0">
                <a:solidFill>
                  <a:srgbClr val="2E377E"/>
                </a:solidFill>
                <a:latin typeface="Georgia"/>
                <a:cs typeface="Georgia"/>
              </a:rPr>
              <a:t> </a:t>
            </a:r>
            <a:r>
              <a:rPr sz="3600" spc="35" dirty="0">
                <a:solidFill>
                  <a:srgbClr val="2E377E"/>
                </a:solidFill>
                <a:latin typeface="Georgia"/>
                <a:cs typeface="Georgia"/>
              </a:rPr>
              <a:t>days</a:t>
            </a:r>
            <a:endParaRPr sz="3600" dirty="0">
              <a:latin typeface="Georgia"/>
              <a:cs typeface="Georgia"/>
            </a:endParaRPr>
          </a:p>
          <a:p>
            <a:pPr>
              <a:lnSpc>
                <a:spcPct val="100000"/>
              </a:lnSpc>
              <a:spcBef>
                <a:spcPts val="935"/>
              </a:spcBef>
            </a:pPr>
            <a:endParaRPr sz="3600" dirty="0">
              <a:latin typeface="Georgia"/>
              <a:cs typeface="Georgia"/>
            </a:endParaRPr>
          </a:p>
          <a:p>
            <a:pPr marL="12700" marR="398145">
              <a:lnSpc>
                <a:spcPct val="116300"/>
              </a:lnSpc>
            </a:pPr>
            <a:r>
              <a:rPr sz="3600" spc="270" dirty="0">
                <a:solidFill>
                  <a:srgbClr val="2E377E"/>
                </a:solidFill>
                <a:latin typeface="Times New Roman"/>
                <a:cs typeface="Times New Roman"/>
              </a:rPr>
              <a:t>command</a:t>
            </a:r>
            <a:r>
              <a:rPr sz="3600" spc="-30" dirty="0">
                <a:solidFill>
                  <a:srgbClr val="2E377E"/>
                </a:solidFill>
                <a:latin typeface="Times New Roman"/>
                <a:cs typeface="Times New Roman"/>
              </a:rPr>
              <a:t> </a:t>
            </a:r>
            <a:r>
              <a:rPr sz="3600" spc="260" dirty="0">
                <a:solidFill>
                  <a:srgbClr val="2E377E"/>
                </a:solidFill>
                <a:latin typeface="Times New Roman"/>
                <a:cs typeface="Times New Roman"/>
              </a:rPr>
              <a:t>to</a:t>
            </a:r>
            <a:r>
              <a:rPr sz="3600" spc="-25" dirty="0">
                <a:solidFill>
                  <a:srgbClr val="2E377E"/>
                </a:solidFill>
                <a:latin typeface="Times New Roman"/>
                <a:cs typeface="Times New Roman"/>
              </a:rPr>
              <a:t> </a:t>
            </a:r>
            <a:r>
              <a:rPr sz="3600" spc="225" dirty="0">
                <a:solidFill>
                  <a:srgbClr val="2E377E"/>
                </a:solidFill>
                <a:latin typeface="Times New Roman"/>
                <a:cs typeface="Times New Roman"/>
              </a:rPr>
              <a:t>create</a:t>
            </a:r>
            <a:r>
              <a:rPr sz="3600" spc="-30" dirty="0">
                <a:solidFill>
                  <a:srgbClr val="2E377E"/>
                </a:solidFill>
                <a:latin typeface="Times New Roman"/>
                <a:cs typeface="Times New Roman"/>
              </a:rPr>
              <a:t> </a:t>
            </a:r>
            <a:r>
              <a:rPr sz="3600" spc="125" dirty="0">
                <a:solidFill>
                  <a:srgbClr val="2E377E"/>
                </a:solidFill>
                <a:latin typeface="Times New Roman"/>
                <a:cs typeface="Times New Roman"/>
              </a:rPr>
              <a:t>config</a:t>
            </a:r>
            <a:r>
              <a:rPr sz="3600" spc="-25" dirty="0">
                <a:solidFill>
                  <a:srgbClr val="2E377E"/>
                </a:solidFill>
                <a:latin typeface="Times New Roman"/>
                <a:cs typeface="Times New Roman"/>
              </a:rPr>
              <a:t> </a:t>
            </a:r>
            <a:r>
              <a:rPr sz="3600" spc="195" dirty="0">
                <a:solidFill>
                  <a:srgbClr val="2E377E"/>
                </a:solidFill>
                <a:latin typeface="Times New Roman"/>
                <a:cs typeface="Times New Roman"/>
              </a:rPr>
              <a:t>map:</a:t>
            </a:r>
            <a:r>
              <a:rPr sz="3600" spc="-25" dirty="0">
                <a:solidFill>
                  <a:srgbClr val="2E377E"/>
                </a:solidFill>
                <a:latin typeface="Times New Roman"/>
                <a:cs typeface="Times New Roman"/>
              </a:rPr>
              <a:t> </a:t>
            </a:r>
            <a:r>
              <a:rPr sz="3600" spc="60" dirty="0">
                <a:solidFill>
                  <a:srgbClr val="FF3131"/>
                </a:solidFill>
                <a:latin typeface="Georgia"/>
                <a:cs typeface="Georgia"/>
              </a:rPr>
              <a:t>kubectl</a:t>
            </a:r>
            <a:r>
              <a:rPr sz="3600" dirty="0">
                <a:solidFill>
                  <a:srgbClr val="FF3131"/>
                </a:solidFill>
                <a:latin typeface="Georgia"/>
                <a:cs typeface="Georgia"/>
              </a:rPr>
              <a:t> </a:t>
            </a:r>
            <a:r>
              <a:rPr sz="3600" spc="55" dirty="0">
                <a:solidFill>
                  <a:srgbClr val="FF3131"/>
                </a:solidFill>
                <a:latin typeface="Georgia"/>
                <a:cs typeface="Georgia"/>
              </a:rPr>
              <a:t>create</a:t>
            </a:r>
            <a:r>
              <a:rPr sz="3600" spc="5" dirty="0">
                <a:solidFill>
                  <a:srgbClr val="FF3131"/>
                </a:solidFill>
                <a:latin typeface="Georgia"/>
                <a:cs typeface="Georgia"/>
              </a:rPr>
              <a:t> </a:t>
            </a:r>
            <a:r>
              <a:rPr sz="3600" dirty="0">
                <a:solidFill>
                  <a:srgbClr val="FF3131"/>
                </a:solidFill>
                <a:latin typeface="Georgia"/>
                <a:cs typeface="Georgia"/>
              </a:rPr>
              <a:t>cm cm-name</a:t>
            </a:r>
            <a:r>
              <a:rPr sz="3600" spc="5" dirty="0">
                <a:solidFill>
                  <a:srgbClr val="FF3131"/>
                </a:solidFill>
                <a:latin typeface="Georgia"/>
                <a:cs typeface="Georgia"/>
              </a:rPr>
              <a:t> </a:t>
            </a:r>
            <a:r>
              <a:rPr sz="3600" dirty="0">
                <a:solidFill>
                  <a:srgbClr val="FF3131"/>
                </a:solidFill>
                <a:latin typeface="Georgia"/>
                <a:cs typeface="Georgia"/>
              </a:rPr>
              <a:t>--from-</a:t>
            </a:r>
            <a:r>
              <a:rPr sz="3600" spc="-10" dirty="0">
                <a:solidFill>
                  <a:srgbClr val="FF3131"/>
                </a:solidFill>
                <a:latin typeface="Georgia"/>
                <a:cs typeface="Georgia"/>
              </a:rPr>
              <a:t>file=filename </a:t>
            </a:r>
            <a:r>
              <a:rPr sz="3600" dirty="0">
                <a:solidFill>
                  <a:srgbClr val="2E377E"/>
                </a:solidFill>
                <a:latin typeface="Georgia"/>
                <a:cs typeface="Georgia"/>
              </a:rPr>
              <a:t>To</a:t>
            </a:r>
            <a:r>
              <a:rPr sz="3600" spc="65" dirty="0">
                <a:solidFill>
                  <a:srgbClr val="2E377E"/>
                </a:solidFill>
                <a:latin typeface="Georgia"/>
                <a:cs typeface="Georgia"/>
              </a:rPr>
              <a:t> </a:t>
            </a:r>
            <a:r>
              <a:rPr sz="3600" dirty="0">
                <a:solidFill>
                  <a:srgbClr val="2E377E"/>
                </a:solidFill>
                <a:latin typeface="Georgia"/>
                <a:cs typeface="Georgia"/>
              </a:rPr>
              <a:t>descibe:</a:t>
            </a:r>
            <a:r>
              <a:rPr sz="3600" spc="80" dirty="0">
                <a:solidFill>
                  <a:srgbClr val="2E377E"/>
                </a:solidFill>
                <a:latin typeface="Georgia"/>
                <a:cs typeface="Georgia"/>
              </a:rPr>
              <a:t> </a:t>
            </a:r>
            <a:r>
              <a:rPr sz="3600" spc="60" dirty="0">
                <a:solidFill>
                  <a:srgbClr val="FF3131"/>
                </a:solidFill>
                <a:latin typeface="Georgia"/>
                <a:cs typeface="Georgia"/>
              </a:rPr>
              <a:t>kubectl</a:t>
            </a:r>
            <a:r>
              <a:rPr sz="3600" spc="70" dirty="0">
                <a:solidFill>
                  <a:srgbClr val="FF3131"/>
                </a:solidFill>
                <a:latin typeface="Georgia"/>
                <a:cs typeface="Georgia"/>
              </a:rPr>
              <a:t> </a:t>
            </a:r>
            <a:r>
              <a:rPr sz="3600" dirty="0">
                <a:solidFill>
                  <a:srgbClr val="FF3131"/>
                </a:solidFill>
                <a:latin typeface="Georgia"/>
                <a:cs typeface="Georgia"/>
              </a:rPr>
              <a:t>describe</a:t>
            </a:r>
            <a:r>
              <a:rPr sz="3600" spc="70" dirty="0">
                <a:solidFill>
                  <a:srgbClr val="FF3131"/>
                </a:solidFill>
                <a:latin typeface="Georgia"/>
                <a:cs typeface="Georgia"/>
              </a:rPr>
              <a:t> </a:t>
            </a:r>
            <a:r>
              <a:rPr sz="3600" dirty="0">
                <a:solidFill>
                  <a:srgbClr val="FF3131"/>
                </a:solidFill>
                <a:latin typeface="Georgia"/>
                <a:cs typeface="Georgia"/>
              </a:rPr>
              <a:t>configmap/configmap-</a:t>
            </a:r>
            <a:r>
              <a:rPr sz="3600" spc="-20" dirty="0">
                <a:solidFill>
                  <a:srgbClr val="FF3131"/>
                </a:solidFill>
                <a:latin typeface="Georgia"/>
                <a:cs typeface="Georgia"/>
              </a:rPr>
              <a:t>name</a:t>
            </a:r>
            <a:endParaRPr sz="3600" dirty="0">
              <a:latin typeface="Georgia"/>
              <a:cs typeface="Georgia"/>
            </a:endParaRPr>
          </a:p>
          <a:p>
            <a:pPr marL="12700">
              <a:lnSpc>
                <a:spcPct val="100000"/>
              </a:lnSpc>
              <a:spcBef>
                <a:spcPts val="705"/>
              </a:spcBef>
            </a:pPr>
            <a:r>
              <a:rPr sz="3600" dirty="0">
                <a:solidFill>
                  <a:srgbClr val="2E377E"/>
                </a:solidFill>
                <a:latin typeface="Georgia"/>
                <a:cs typeface="Georgia"/>
              </a:rPr>
              <a:t>To</a:t>
            </a:r>
            <a:r>
              <a:rPr sz="3600" spc="-45" dirty="0">
                <a:solidFill>
                  <a:srgbClr val="2E377E"/>
                </a:solidFill>
                <a:latin typeface="Georgia"/>
                <a:cs typeface="Georgia"/>
              </a:rPr>
              <a:t> </a:t>
            </a:r>
            <a:r>
              <a:rPr sz="3600" dirty="0">
                <a:solidFill>
                  <a:srgbClr val="2E377E"/>
                </a:solidFill>
                <a:latin typeface="Georgia"/>
                <a:cs typeface="Georgia"/>
              </a:rPr>
              <a:t>delete:</a:t>
            </a:r>
            <a:r>
              <a:rPr sz="3600" spc="-45" dirty="0">
                <a:solidFill>
                  <a:srgbClr val="2E377E"/>
                </a:solidFill>
                <a:latin typeface="Georgia"/>
                <a:cs typeface="Georgia"/>
              </a:rPr>
              <a:t> </a:t>
            </a:r>
            <a:r>
              <a:rPr sz="3600" spc="60" dirty="0">
                <a:solidFill>
                  <a:srgbClr val="FF3131"/>
                </a:solidFill>
                <a:latin typeface="Georgia"/>
                <a:cs typeface="Georgia"/>
              </a:rPr>
              <a:t>kubectl</a:t>
            </a:r>
            <a:r>
              <a:rPr sz="3600" spc="-40" dirty="0">
                <a:solidFill>
                  <a:srgbClr val="FF3131"/>
                </a:solidFill>
                <a:latin typeface="Georgia"/>
                <a:cs typeface="Georgia"/>
              </a:rPr>
              <a:t> </a:t>
            </a:r>
            <a:r>
              <a:rPr sz="3600" spc="55" dirty="0">
                <a:solidFill>
                  <a:srgbClr val="FF3131"/>
                </a:solidFill>
                <a:latin typeface="Georgia"/>
                <a:cs typeface="Georgia"/>
              </a:rPr>
              <a:t>delete</a:t>
            </a:r>
            <a:r>
              <a:rPr sz="3600" spc="-45" dirty="0">
                <a:solidFill>
                  <a:srgbClr val="FF3131"/>
                </a:solidFill>
                <a:latin typeface="Georgia"/>
                <a:cs typeface="Georgia"/>
              </a:rPr>
              <a:t> </a:t>
            </a:r>
            <a:r>
              <a:rPr sz="3600" spc="-10" dirty="0">
                <a:solidFill>
                  <a:srgbClr val="FF3131"/>
                </a:solidFill>
                <a:latin typeface="Georgia"/>
                <a:cs typeface="Georgia"/>
              </a:rPr>
              <a:t>configmap/configmap</a:t>
            </a:r>
            <a:endParaRPr sz="3600" dirty="0">
              <a:latin typeface="Georgia"/>
              <a:cs typeface="Georgia"/>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4530" y="890270"/>
            <a:ext cx="17458055" cy="7683500"/>
          </a:xfrm>
          <a:prstGeom prst="rect">
            <a:avLst/>
          </a:prstGeom>
        </p:spPr>
        <p:txBody>
          <a:bodyPr vert="horz" wrap="square" lIns="0" tIns="102235" rIns="0" bIns="0" rtlCol="0">
            <a:spAutoFit/>
          </a:bodyPr>
          <a:lstStyle/>
          <a:p>
            <a:pPr marL="12700">
              <a:lnSpc>
                <a:spcPct val="100000"/>
              </a:lnSpc>
              <a:spcBef>
                <a:spcPts val="805"/>
              </a:spcBef>
            </a:pPr>
            <a:r>
              <a:rPr sz="3600" spc="-90" dirty="0">
                <a:solidFill>
                  <a:srgbClr val="2E377E"/>
                </a:solidFill>
                <a:latin typeface="Times New Roman"/>
                <a:cs typeface="Times New Roman"/>
              </a:rPr>
              <a:t>CREATE</a:t>
            </a:r>
            <a:r>
              <a:rPr sz="3600" spc="-135" dirty="0">
                <a:solidFill>
                  <a:srgbClr val="2E377E"/>
                </a:solidFill>
                <a:latin typeface="Times New Roman"/>
                <a:cs typeface="Times New Roman"/>
              </a:rPr>
              <a:t> </a:t>
            </a:r>
            <a:r>
              <a:rPr sz="3600" spc="-260" dirty="0">
                <a:solidFill>
                  <a:srgbClr val="2E377E"/>
                </a:solidFill>
                <a:latin typeface="Times New Roman"/>
                <a:cs typeface="Times New Roman"/>
              </a:rPr>
              <a:t>A</a:t>
            </a:r>
            <a:r>
              <a:rPr sz="3600" spc="-100" dirty="0">
                <a:solidFill>
                  <a:srgbClr val="2E377E"/>
                </a:solidFill>
                <a:latin typeface="Times New Roman"/>
                <a:cs typeface="Times New Roman"/>
              </a:rPr>
              <a:t> </a:t>
            </a:r>
            <a:r>
              <a:rPr sz="3600" spc="-10" dirty="0">
                <a:solidFill>
                  <a:srgbClr val="2E377E"/>
                </a:solidFill>
                <a:latin typeface="Times New Roman"/>
                <a:cs typeface="Times New Roman"/>
              </a:rPr>
              <a:t>CONFIG-MAPS</a:t>
            </a:r>
            <a:r>
              <a:rPr sz="3600" spc="-165" dirty="0">
                <a:solidFill>
                  <a:srgbClr val="2E377E"/>
                </a:solidFill>
                <a:latin typeface="Times New Roman"/>
                <a:cs typeface="Times New Roman"/>
              </a:rPr>
              <a:t> </a:t>
            </a:r>
            <a:r>
              <a:rPr sz="3600" dirty="0">
                <a:solidFill>
                  <a:srgbClr val="2E377E"/>
                </a:solidFill>
                <a:latin typeface="Times New Roman"/>
                <a:cs typeface="Times New Roman"/>
              </a:rPr>
              <a:t>FROM</a:t>
            </a:r>
            <a:r>
              <a:rPr sz="3600" spc="-130" dirty="0">
                <a:solidFill>
                  <a:srgbClr val="2E377E"/>
                </a:solidFill>
                <a:latin typeface="Times New Roman"/>
                <a:cs typeface="Times New Roman"/>
              </a:rPr>
              <a:t> </a:t>
            </a:r>
            <a:r>
              <a:rPr sz="3600" spc="-95" dirty="0">
                <a:solidFill>
                  <a:srgbClr val="2E377E"/>
                </a:solidFill>
                <a:latin typeface="Times New Roman"/>
                <a:cs typeface="Times New Roman"/>
              </a:rPr>
              <a:t>ENV</a:t>
            </a:r>
            <a:r>
              <a:rPr sz="3600" spc="-130" dirty="0">
                <a:solidFill>
                  <a:srgbClr val="2E377E"/>
                </a:solidFill>
                <a:latin typeface="Times New Roman"/>
                <a:cs typeface="Times New Roman"/>
              </a:rPr>
              <a:t> </a:t>
            </a:r>
            <a:r>
              <a:rPr sz="3600" spc="-10" dirty="0">
                <a:solidFill>
                  <a:srgbClr val="2E377E"/>
                </a:solidFill>
                <a:latin typeface="Times New Roman"/>
                <a:cs typeface="Times New Roman"/>
              </a:rPr>
              <a:t>FILE:</a:t>
            </a:r>
            <a:endParaRPr sz="3600">
              <a:latin typeface="Times New Roman"/>
              <a:cs typeface="Times New Roman"/>
            </a:endParaRPr>
          </a:p>
          <a:p>
            <a:pPr marL="12700" marR="832485">
              <a:lnSpc>
                <a:spcPct val="116300"/>
              </a:lnSpc>
            </a:pPr>
            <a:r>
              <a:rPr sz="3600" dirty="0">
                <a:solidFill>
                  <a:srgbClr val="2E377E"/>
                </a:solidFill>
                <a:latin typeface="Georgia"/>
                <a:cs typeface="Georgia"/>
              </a:rPr>
              <a:t>We </a:t>
            </a:r>
            <a:r>
              <a:rPr sz="3600" spc="55" dirty="0">
                <a:solidFill>
                  <a:srgbClr val="2E377E"/>
                </a:solidFill>
                <a:latin typeface="Georgia"/>
                <a:cs typeface="Georgia"/>
              </a:rPr>
              <a:t>have</a:t>
            </a:r>
            <a:r>
              <a:rPr sz="3600" dirty="0">
                <a:solidFill>
                  <a:srgbClr val="2E377E"/>
                </a:solidFill>
                <a:latin typeface="Georgia"/>
                <a:cs typeface="Georgia"/>
              </a:rPr>
              <a:t> </a:t>
            </a:r>
            <a:r>
              <a:rPr sz="3600" spc="50" dirty="0">
                <a:solidFill>
                  <a:srgbClr val="2E377E"/>
                </a:solidFill>
                <a:latin typeface="Georgia"/>
                <a:cs typeface="Georgia"/>
              </a:rPr>
              <a:t>created</a:t>
            </a:r>
            <a:r>
              <a:rPr sz="3600" spc="5" dirty="0">
                <a:solidFill>
                  <a:srgbClr val="2E377E"/>
                </a:solidFill>
                <a:latin typeface="Georgia"/>
                <a:cs typeface="Georgia"/>
              </a:rPr>
              <a:t> </a:t>
            </a:r>
            <a:r>
              <a:rPr sz="3600" dirty="0">
                <a:solidFill>
                  <a:srgbClr val="2E377E"/>
                </a:solidFill>
                <a:latin typeface="Georgia"/>
                <a:cs typeface="Georgia"/>
              </a:rPr>
              <a:t>one </a:t>
            </a:r>
            <a:r>
              <a:rPr sz="3600" spc="55" dirty="0">
                <a:solidFill>
                  <a:srgbClr val="2E377E"/>
                </a:solidFill>
                <a:latin typeface="Georgia"/>
                <a:cs typeface="Georgia"/>
              </a:rPr>
              <a:t>environment</a:t>
            </a:r>
            <a:r>
              <a:rPr sz="3600" dirty="0">
                <a:solidFill>
                  <a:srgbClr val="2E377E"/>
                </a:solidFill>
                <a:latin typeface="Georgia"/>
                <a:cs typeface="Georgia"/>
              </a:rPr>
              <a:t> file</a:t>
            </a:r>
            <a:r>
              <a:rPr sz="3600" spc="5" dirty="0">
                <a:solidFill>
                  <a:srgbClr val="2E377E"/>
                </a:solidFill>
                <a:latin typeface="Georgia"/>
                <a:cs typeface="Georgia"/>
              </a:rPr>
              <a:t> </a:t>
            </a:r>
            <a:r>
              <a:rPr sz="3600" dirty="0">
                <a:solidFill>
                  <a:srgbClr val="2E377E"/>
                </a:solidFill>
                <a:latin typeface="Georgia"/>
                <a:cs typeface="Georgia"/>
              </a:rPr>
              <a:t>first.env </a:t>
            </a:r>
            <a:r>
              <a:rPr sz="3600" spc="55" dirty="0">
                <a:solidFill>
                  <a:srgbClr val="2E377E"/>
                </a:solidFill>
                <a:latin typeface="Georgia"/>
                <a:cs typeface="Georgia"/>
              </a:rPr>
              <a:t>which</a:t>
            </a:r>
            <a:r>
              <a:rPr sz="3600" dirty="0">
                <a:solidFill>
                  <a:srgbClr val="2E377E"/>
                </a:solidFill>
                <a:latin typeface="Georgia"/>
                <a:cs typeface="Georgia"/>
              </a:rPr>
              <a:t> has</a:t>
            </a:r>
            <a:r>
              <a:rPr sz="3600" spc="5" dirty="0">
                <a:solidFill>
                  <a:srgbClr val="2E377E"/>
                </a:solidFill>
                <a:latin typeface="Georgia"/>
                <a:cs typeface="Georgia"/>
              </a:rPr>
              <a:t> </a:t>
            </a:r>
            <a:r>
              <a:rPr sz="3600" dirty="0">
                <a:solidFill>
                  <a:srgbClr val="2E377E"/>
                </a:solidFill>
                <a:latin typeface="Georgia"/>
                <a:cs typeface="Georgia"/>
              </a:rPr>
              <a:t>some data in</a:t>
            </a:r>
            <a:r>
              <a:rPr sz="3600" spc="5" dirty="0">
                <a:solidFill>
                  <a:srgbClr val="2E377E"/>
                </a:solidFill>
                <a:latin typeface="Georgia"/>
                <a:cs typeface="Georgia"/>
              </a:rPr>
              <a:t> </a:t>
            </a:r>
            <a:r>
              <a:rPr sz="3600" spc="100" dirty="0">
                <a:solidFill>
                  <a:srgbClr val="2E377E"/>
                </a:solidFill>
                <a:latin typeface="Georgia"/>
                <a:cs typeface="Georgia"/>
              </a:rPr>
              <a:t>key-</a:t>
            </a:r>
            <a:r>
              <a:rPr sz="3600" spc="35" dirty="0">
                <a:solidFill>
                  <a:srgbClr val="2E377E"/>
                </a:solidFill>
                <a:latin typeface="Georgia"/>
                <a:cs typeface="Georgia"/>
              </a:rPr>
              <a:t>value </a:t>
            </a:r>
            <a:r>
              <a:rPr sz="3600" dirty="0">
                <a:solidFill>
                  <a:srgbClr val="2E377E"/>
                </a:solidFill>
                <a:latin typeface="Georgia"/>
                <a:cs typeface="Georgia"/>
              </a:rPr>
              <a:t>pairs,</a:t>
            </a:r>
            <a:r>
              <a:rPr sz="3600" spc="-45" dirty="0">
                <a:solidFill>
                  <a:srgbClr val="2E377E"/>
                </a:solidFill>
                <a:latin typeface="Georgia"/>
                <a:cs typeface="Georgia"/>
              </a:rPr>
              <a:t> </a:t>
            </a:r>
            <a:r>
              <a:rPr sz="3600" dirty="0">
                <a:solidFill>
                  <a:srgbClr val="2E377E"/>
                </a:solidFill>
                <a:latin typeface="Georgia"/>
                <a:cs typeface="Georgia"/>
              </a:rPr>
              <a:t>and</a:t>
            </a:r>
            <a:r>
              <a:rPr sz="3600" spc="-45" dirty="0">
                <a:solidFill>
                  <a:srgbClr val="2E377E"/>
                </a:solidFill>
                <a:latin typeface="Georgia"/>
                <a:cs typeface="Georgia"/>
              </a:rPr>
              <a:t> </a:t>
            </a:r>
            <a:r>
              <a:rPr sz="3600" spc="50" dirty="0">
                <a:solidFill>
                  <a:srgbClr val="2E377E"/>
                </a:solidFill>
                <a:latin typeface="Georgia"/>
                <a:cs typeface="Georgia"/>
              </a:rPr>
              <a:t>created</a:t>
            </a:r>
            <a:r>
              <a:rPr sz="3600" spc="-45"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configMap</a:t>
            </a:r>
            <a:r>
              <a:rPr sz="3600" spc="-45" dirty="0">
                <a:solidFill>
                  <a:srgbClr val="2E377E"/>
                </a:solidFill>
                <a:latin typeface="Georgia"/>
                <a:cs typeface="Georgia"/>
              </a:rPr>
              <a:t> </a:t>
            </a:r>
            <a:r>
              <a:rPr sz="3600" spc="85" dirty="0">
                <a:solidFill>
                  <a:srgbClr val="2E377E"/>
                </a:solidFill>
                <a:latin typeface="Georgia"/>
                <a:cs typeface="Georgia"/>
              </a:rPr>
              <a:t>with</a:t>
            </a:r>
            <a:r>
              <a:rPr sz="3600" spc="-45"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help</a:t>
            </a:r>
            <a:r>
              <a:rPr sz="3600" spc="-45" dirty="0">
                <a:solidFill>
                  <a:srgbClr val="2E377E"/>
                </a:solidFill>
                <a:latin typeface="Georgia"/>
                <a:cs typeface="Georgia"/>
              </a:rPr>
              <a:t> </a:t>
            </a:r>
            <a:r>
              <a:rPr sz="3600" dirty="0">
                <a:solidFill>
                  <a:srgbClr val="2E377E"/>
                </a:solidFill>
                <a:latin typeface="Georgia"/>
                <a:cs typeface="Georgia"/>
              </a:rPr>
              <a:t>of</a:t>
            </a:r>
            <a:r>
              <a:rPr sz="3600" spc="-45"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spc="55" dirty="0">
                <a:solidFill>
                  <a:srgbClr val="2E377E"/>
                </a:solidFill>
                <a:latin typeface="Georgia"/>
                <a:cs typeface="Georgia"/>
              </a:rPr>
              <a:t>environment</a:t>
            </a:r>
            <a:r>
              <a:rPr sz="3600" spc="-45" dirty="0">
                <a:solidFill>
                  <a:srgbClr val="2E377E"/>
                </a:solidFill>
                <a:latin typeface="Georgia"/>
                <a:cs typeface="Georgia"/>
              </a:rPr>
              <a:t> </a:t>
            </a:r>
            <a:r>
              <a:rPr sz="3600" spc="-20" dirty="0">
                <a:solidFill>
                  <a:srgbClr val="2E377E"/>
                </a:solidFill>
                <a:latin typeface="Georgia"/>
                <a:cs typeface="Georgia"/>
              </a:rPr>
              <a:t>file.</a:t>
            </a:r>
            <a:endParaRPr sz="3600">
              <a:latin typeface="Georgia"/>
              <a:cs typeface="Georgia"/>
            </a:endParaRPr>
          </a:p>
          <a:p>
            <a:pPr>
              <a:lnSpc>
                <a:spcPct val="100000"/>
              </a:lnSpc>
              <a:spcBef>
                <a:spcPts val="935"/>
              </a:spcBef>
            </a:pPr>
            <a:endParaRPr sz="3600">
              <a:latin typeface="Georgia"/>
              <a:cs typeface="Georgia"/>
            </a:endParaRPr>
          </a:p>
          <a:p>
            <a:pPr marL="12700" marR="13486130">
              <a:lnSpc>
                <a:spcPct val="116300"/>
              </a:lnSpc>
            </a:pPr>
            <a:r>
              <a:rPr sz="3600" dirty="0">
                <a:solidFill>
                  <a:srgbClr val="2E377E"/>
                </a:solidFill>
                <a:latin typeface="Georgia"/>
                <a:cs typeface="Georgia"/>
              </a:rPr>
              <a:t>cat</a:t>
            </a:r>
            <a:r>
              <a:rPr sz="3600" spc="-215" dirty="0">
                <a:solidFill>
                  <a:srgbClr val="2E377E"/>
                </a:solidFill>
                <a:latin typeface="Georgia"/>
                <a:cs typeface="Georgia"/>
              </a:rPr>
              <a:t> </a:t>
            </a:r>
            <a:r>
              <a:rPr sz="3600" spc="-10" dirty="0">
                <a:solidFill>
                  <a:srgbClr val="2E377E"/>
                </a:solidFill>
                <a:latin typeface="Georgia"/>
                <a:cs typeface="Georgia"/>
              </a:rPr>
              <a:t>one.env Tool=Kubernetes Topic=Config</a:t>
            </a:r>
            <a:r>
              <a:rPr sz="3600" spc="-125" dirty="0">
                <a:solidFill>
                  <a:srgbClr val="2E377E"/>
                </a:solidFill>
                <a:latin typeface="Georgia"/>
                <a:cs typeface="Georgia"/>
              </a:rPr>
              <a:t> </a:t>
            </a:r>
            <a:r>
              <a:rPr sz="3600" spc="-20" dirty="0">
                <a:solidFill>
                  <a:srgbClr val="2E377E"/>
                </a:solidFill>
                <a:latin typeface="Georgia"/>
                <a:cs typeface="Georgia"/>
              </a:rPr>
              <a:t>Maps </a:t>
            </a:r>
            <a:r>
              <a:rPr sz="3600" spc="-10" dirty="0">
                <a:solidFill>
                  <a:srgbClr val="2E377E"/>
                </a:solidFill>
                <a:latin typeface="Georgia"/>
                <a:cs typeface="Georgia"/>
              </a:rPr>
              <a:t>Course=DevOps</a:t>
            </a:r>
            <a:endParaRPr sz="3600">
              <a:latin typeface="Georgia"/>
              <a:cs typeface="Georgia"/>
            </a:endParaRPr>
          </a:p>
          <a:p>
            <a:pPr>
              <a:lnSpc>
                <a:spcPct val="100000"/>
              </a:lnSpc>
              <a:spcBef>
                <a:spcPts val="935"/>
              </a:spcBef>
            </a:pPr>
            <a:endParaRPr sz="3600">
              <a:latin typeface="Georgia"/>
              <a:cs typeface="Georgia"/>
            </a:endParaRPr>
          </a:p>
          <a:p>
            <a:pPr marL="12700" marR="5080">
              <a:lnSpc>
                <a:spcPct val="116300"/>
              </a:lnSpc>
              <a:tabLst>
                <a:tab pos="6668134" algn="l"/>
              </a:tabLst>
            </a:pPr>
            <a:r>
              <a:rPr sz="3600" spc="270" dirty="0">
                <a:solidFill>
                  <a:srgbClr val="2E377E"/>
                </a:solidFill>
                <a:latin typeface="Times New Roman"/>
                <a:cs typeface="Times New Roman"/>
              </a:rPr>
              <a:t>command</a:t>
            </a:r>
            <a:r>
              <a:rPr sz="3600" spc="-90" dirty="0">
                <a:solidFill>
                  <a:srgbClr val="2E377E"/>
                </a:solidFill>
                <a:latin typeface="Times New Roman"/>
                <a:cs typeface="Times New Roman"/>
              </a:rPr>
              <a:t> </a:t>
            </a:r>
            <a:r>
              <a:rPr sz="3600" spc="260" dirty="0">
                <a:solidFill>
                  <a:srgbClr val="2E377E"/>
                </a:solidFill>
                <a:latin typeface="Times New Roman"/>
                <a:cs typeface="Times New Roman"/>
              </a:rPr>
              <a:t>to</a:t>
            </a:r>
            <a:r>
              <a:rPr sz="3600" spc="-90" dirty="0">
                <a:solidFill>
                  <a:srgbClr val="2E377E"/>
                </a:solidFill>
                <a:latin typeface="Times New Roman"/>
                <a:cs typeface="Times New Roman"/>
              </a:rPr>
              <a:t> </a:t>
            </a:r>
            <a:r>
              <a:rPr sz="3600" spc="225" dirty="0">
                <a:solidFill>
                  <a:srgbClr val="2E377E"/>
                </a:solidFill>
                <a:latin typeface="Times New Roman"/>
                <a:cs typeface="Times New Roman"/>
              </a:rPr>
              <a:t>create</a:t>
            </a:r>
            <a:r>
              <a:rPr sz="3600" spc="-90" dirty="0">
                <a:solidFill>
                  <a:srgbClr val="2E377E"/>
                </a:solidFill>
                <a:latin typeface="Times New Roman"/>
                <a:cs typeface="Times New Roman"/>
              </a:rPr>
              <a:t> </a:t>
            </a:r>
            <a:r>
              <a:rPr sz="3600" spc="125" dirty="0">
                <a:solidFill>
                  <a:srgbClr val="2E377E"/>
                </a:solidFill>
                <a:latin typeface="Times New Roman"/>
                <a:cs typeface="Times New Roman"/>
              </a:rPr>
              <a:t>config</a:t>
            </a:r>
            <a:r>
              <a:rPr sz="3600" spc="-90" dirty="0">
                <a:solidFill>
                  <a:srgbClr val="2E377E"/>
                </a:solidFill>
                <a:latin typeface="Times New Roman"/>
                <a:cs typeface="Times New Roman"/>
              </a:rPr>
              <a:t> </a:t>
            </a:r>
            <a:r>
              <a:rPr sz="3600" spc="175" dirty="0">
                <a:solidFill>
                  <a:srgbClr val="2E377E"/>
                </a:solidFill>
                <a:latin typeface="Times New Roman"/>
                <a:cs typeface="Times New Roman"/>
              </a:rPr>
              <a:t>map:</a:t>
            </a:r>
            <a:r>
              <a:rPr sz="3600" dirty="0">
                <a:solidFill>
                  <a:srgbClr val="2E377E"/>
                </a:solidFill>
                <a:latin typeface="Times New Roman"/>
                <a:cs typeface="Times New Roman"/>
              </a:rPr>
              <a:t>	</a:t>
            </a:r>
            <a:r>
              <a:rPr sz="3600" spc="60" dirty="0">
                <a:solidFill>
                  <a:srgbClr val="E7181F"/>
                </a:solidFill>
                <a:latin typeface="Georgia"/>
                <a:cs typeface="Georgia"/>
              </a:rPr>
              <a:t>kubectl</a:t>
            </a:r>
            <a:r>
              <a:rPr sz="3600" spc="80" dirty="0">
                <a:solidFill>
                  <a:srgbClr val="E7181F"/>
                </a:solidFill>
                <a:latin typeface="Georgia"/>
                <a:cs typeface="Georgia"/>
              </a:rPr>
              <a:t> </a:t>
            </a:r>
            <a:r>
              <a:rPr sz="3600" spc="55" dirty="0">
                <a:solidFill>
                  <a:srgbClr val="E7181F"/>
                </a:solidFill>
                <a:latin typeface="Georgia"/>
                <a:cs typeface="Georgia"/>
              </a:rPr>
              <a:t>create</a:t>
            </a:r>
            <a:r>
              <a:rPr sz="3600" spc="85" dirty="0">
                <a:solidFill>
                  <a:srgbClr val="E7181F"/>
                </a:solidFill>
                <a:latin typeface="Georgia"/>
                <a:cs typeface="Georgia"/>
              </a:rPr>
              <a:t> </a:t>
            </a:r>
            <a:r>
              <a:rPr sz="3600" dirty="0">
                <a:solidFill>
                  <a:srgbClr val="E7181F"/>
                </a:solidFill>
                <a:latin typeface="Georgia"/>
                <a:cs typeface="Georgia"/>
              </a:rPr>
              <a:t>cm</a:t>
            </a:r>
            <a:r>
              <a:rPr sz="3600" spc="85" dirty="0">
                <a:solidFill>
                  <a:srgbClr val="E7181F"/>
                </a:solidFill>
                <a:latin typeface="Georgia"/>
                <a:cs typeface="Georgia"/>
              </a:rPr>
              <a:t> </a:t>
            </a:r>
            <a:r>
              <a:rPr sz="3600" dirty="0">
                <a:solidFill>
                  <a:srgbClr val="E7181F"/>
                </a:solidFill>
                <a:latin typeface="Georgia"/>
                <a:cs typeface="Georgia"/>
              </a:rPr>
              <a:t>cm-name</a:t>
            </a:r>
            <a:r>
              <a:rPr sz="3600" spc="85" dirty="0">
                <a:solidFill>
                  <a:srgbClr val="E7181F"/>
                </a:solidFill>
                <a:latin typeface="Georgia"/>
                <a:cs typeface="Georgia"/>
              </a:rPr>
              <a:t> </a:t>
            </a:r>
            <a:r>
              <a:rPr sz="3600" dirty="0">
                <a:solidFill>
                  <a:srgbClr val="E7181F"/>
                </a:solidFill>
                <a:latin typeface="Georgia"/>
                <a:cs typeface="Georgia"/>
              </a:rPr>
              <a:t>--from-</a:t>
            </a:r>
            <a:r>
              <a:rPr sz="3600" spc="70" dirty="0">
                <a:solidFill>
                  <a:srgbClr val="E7181F"/>
                </a:solidFill>
                <a:latin typeface="Georgia"/>
                <a:cs typeface="Georgia"/>
              </a:rPr>
              <a:t>env-</a:t>
            </a:r>
            <a:r>
              <a:rPr sz="3600" spc="-10" dirty="0">
                <a:solidFill>
                  <a:srgbClr val="E7181F"/>
                </a:solidFill>
                <a:latin typeface="Georgia"/>
                <a:cs typeface="Georgia"/>
              </a:rPr>
              <a:t>file=one.env </a:t>
            </a:r>
            <a:r>
              <a:rPr sz="360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descibe:</a:t>
            </a:r>
            <a:r>
              <a:rPr sz="3600" spc="15" dirty="0">
                <a:solidFill>
                  <a:srgbClr val="2E377E"/>
                </a:solidFill>
                <a:latin typeface="Georgia"/>
                <a:cs typeface="Georgia"/>
              </a:rPr>
              <a:t> </a:t>
            </a:r>
            <a:r>
              <a:rPr sz="3600" spc="60" dirty="0">
                <a:solidFill>
                  <a:srgbClr val="FF3131"/>
                </a:solidFill>
                <a:latin typeface="Georgia"/>
                <a:cs typeface="Georgia"/>
              </a:rPr>
              <a:t>kubectl</a:t>
            </a:r>
            <a:r>
              <a:rPr sz="3600" spc="5" dirty="0">
                <a:solidFill>
                  <a:srgbClr val="FF3131"/>
                </a:solidFill>
                <a:latin typeface="Georgia"/>
                <a:cs typeface="Georgia"/>
              </a:rPr>
              <a:t> </a:t>
            </a:r>
            <a:r>
              <a:rPr sz="3600" dirty="0">
                <a:solidFill>
                  <a:srgbClr val="FF3131"/>
                </a:solidFill>
                <a:latin typeface="Georgia"/>
                <a:cs typeface="Georgia"/>
              </a:rPr>
              <a:t>describe</a:t>
            </a:r>
            <a:r>
              <a:rPr sz="3600" spc="10" dirty="0">
                <a:solidFill>
                  <a:srgbClr val="FF3131"/>
                </a:solidFill>
                <a:latin typeface="Georgia"/>
                <a:cs typeface="Georgia"/>
              </a:rPr>
              <a:t> </a:t>
            </a:r>
            <a:r>
              <a:rPr sz="3600" spc="-10" dirty="0">
                <a:solidFill>
                  <a:srgbClr val="FF3131"/>
                </a:solidFill>
                <a:latin typeface="Georgia"/>
                <a:cs typeface="Georgia"/>
              </a:rPr>
              <a:t>configmap/one.env</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To</a:t>
            </a:r>
            <a:r>
              <a:rPr sz="3600" spc="-45" dirty="0">
                <a:solidFill>
                  <a:srgbClr val="2E377E"/>
                </a:solidFill>
                <a:latin typeface="Georgia"/>
                <a:cs typeface="Georgia"/>
              </a:rPr>
              <a:t> </a:t>
            </a:r>
            <a:r>
              <a:rPr sz="3600" dirty="0">
                <a:solidFill>
                  <a:srgbClr val="2E377E"/>
                </a:solidFill>
                <a:latin typeface="Georgia"/>
                <a:cs typeface="Georgia"/>
              </a:rPr>
              <a:t>delete:</a:t>
            </a:r>
            <a:r>
              <a:rPr sz="3600" spc="-45" dirty="0">
                <a:solidFill>
                  <a:srgbClr val="2E377E"/>
                </a:solidFill>
                <a:latin typeface="Georgia"/>
                <a:cs typeface="Georgia"/>
              </a:rPr>
              <a:t> </a:t>
            </a:r>
            <a:r>
              <a:rPr sz="3600" spc="60" dirty="0">
                <a:solidFill>
                  <a:srgbClr val="FF3131"/>
                </a:solidFill>
                <a:latin typeface="Georgia"/>
                <a:cs typeface="Georgia"/>
              </a:rPr>
              <a:t>kubectl</a:t>
            </a:r>
            <a:r>
              <a:rPr sz="3600" spc="-40" dirty="0">
                <a:solidFill>
                  <a:srgbClr val="FF3131"/>
                </a:solidFill>
                <a:latin typeface="Georgia"/>
                <a:cs typeface="Georgia"/>
              </a:rPr>
              <a:t> </a:t>
            </a:r>
            <a:r>
              <a:rPr sz="3600" spc="55" dirty="0">
                <a:solidFill>
                  <a:srgbClr val="FF3131"/>
                </a:solidFill>
                <a:latin typeface="Georgia"/>
                <a:cs typeface="Georgia"/>
              </a:rPr>
              <a:t>delete</a:t>
            </a:r>
            <a:r>
              <a:rPr sz="3600" spc="-45" dirty="0">
                <a:solidFill>
                  <a:srgbClr val="FF3131"/>
                </a:solidFill>
                <a:latin typeface="Georgia"/>
                <a:cs typeface="Georgia"/>
              </a:rPr>
              <a:t> </a:t>
            </a:r>
            <a:r>
              <a:rPr sz="3600" spc="-10" dirty="0">
                <a:solidFill>
                  <a:srgbClr val="FF3131"/>
                </a:solidFill>
                <a:latin typeface="Georgia"/>
                <a:cs typeface="Georgia"/>
              </a:rPr>
              <a:t>configmap/one.env</a:t>
            </a:r>
            <a:endParaRPr sz="3600">
              <a:latin typeface="Georgia"/>
              <a:cs typeface="Georgia"/>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1609" y="389903"/>
            <a:ext cx="17005935" cy="8839835"/>
          </a:xfrm>
          <a:prstGeom prst="rect">
            <a:avLst/>
          </a:prstGeom>
        </p:spPr>
        <p:txBody>
          <a:bodyPr vert="horz" wrap="square" lIns="0" tIns="12065" rIns="0" bIns="0" rtlCol="0">
            <a:spAutoFit/>
          </a:bodyPr>
          <a:lstStyle/>
          <a:p>
            <a:pPr marL="12700">
              <a:lnSpc>
                <a:spcPct val="100000"/>
              </a:lnSpc>
              <a:spcBef>
                <a:spcPts val="95"/>
              </a:spcBef>
            </a:pPr>
            <a:r>
              <a:rPr sz="3350" spc="-100" dirty="0">
                <a:solidFill>
                  <a:srgbClr val="2E377E"/>
                </a:solidFill>
                <a:latin typeface="Times New Roman"/>
                <a:cs typeface="Times New Roman"/>
              </a:rPr>
              <a:t>CREATE</a:t>
            </a:r>
            <a:r>
              <a:rPr sz="3350" spc="-110" dirty="0">
                <a:solidFill>
                  <a:srgbClr val="2E377E"/>
                </a:solidFill>
                <a:latin typeface="Times New Roman"/>
                <a:cs typeface="Times New Roman"/>
              </a:rPr>
              <a:t> </a:t>
            </a:r>
            <a:r>
              <a:rPr sz="3350" spc="-250" dirty="0">
                <a:solidFill>
                  <a:srgbClr val="2E377E"/>
                </a:solidFill>
                <a:latin typeface="Times New Roman"/>
                <a:cs typeface="Times New Roman"/>
              </a:rPr>
              <a:t>A</a:t>
            </a:r>
            <a:r>
              <a:rPr sz="3350" spc="-95" dirty="0">
                <a:solidFill>
                  <a:srgbClr val="2E377E"/>
                </a:solidFill>
                <a:latin typeface="Times New Roman"/>
                <a:cs typeface="Times New Roman"/>
              </a:rPr>
              <a:t> </a:t>
            </a:r>
            <a:r>
              <a:rPr sz="3350" spc="-40" dirty="0">
                <a:solidFill>
                  <a:srgbClr val="2E377E"/>
                </a:solidFill>
                <a:latin typeface="Times New Roman"/>
                <a:cs typeface="Times New Roman"/>
              </a:rPr>
              <a:t>FOLDER</a:t>
            </a:r>
            <a:r>
              <a:rPr sz="3350" spc="-150" dirty="0">
                <a:solidFill>
                  <a:srgbClr val="2E377E"/>
                </a:solidFill>
                <a:latin typeface="Times New Roman"/>
                <a:cs typeface="Times New Roman"/>
              </a:rPr>
              <a:t> </a:t>
            </a:r>
            <a:r>
              <a:rPr sz="3350" dirty="0">
                <a:solidFill>
                  <a:srgbClr val="2E377E"/>
                </a:solidFill>
                <a:latin typeface="Times New Roman"/>
                <a:cs typeface="Times New Roman"/>
              </a:rPr>
              <a:t>FOR</a:t>
            </a:r>
            <a:r>
              <a:rPr sz="3350" spc="-120" dirty="0">
                <a:solidFill>
                  <a:srgbClr val="2E377E"/>
                </a:solidFill>
                <a:latin typeface="Times New Roman"/>
                <a:cs typeface="Times New Roman"/>
              </a:rPr>
              <a:t> </a:t>
            </a:r>
            <a:r>
              <a:rPr sz="3350" spc="-10" dirty="0">
                <a:solidFill>
                  <a:srgbClr val="2E377E"/>
                </a:solidFill>
                <a:latin typeface="Times New Roman"/>
                <a:cs typeface="Times New Roman"/>
              </a:rPr>
              <a:t>CONFIG-MAPS:</a:t>
            </a:r>
            <a:endParaRPr sz="3350">
              <a:latin typeface="Times New Roman"/>
              <a:cs typeface="Times New Roman"/>
            </a:endParaRPr>
          </a:p>
          <a:p>
            <a:pPr>
              <a:lnSpc>
                <a:spcPct val="100000"/>
              </a:lnSpc>
              <a:spcBef>
                <a:spcPts val="815"/>
              </a:spcBef>
            </a:pPr>
            <a:endParaRPr sz="3350">
              <a:latin typeface="Times New Roman"/>
              <a:cs typeface="Times New Roman"/>
            </a:endParaRPr>
          </a:p>
          <a:p>
            <a:pPr marL="12700" marR="5080">
              <a:lnSpc>
                <a:spcPct val="116199"/>
              </a:lnSpc>
            </a:pPr>
            <a:r>
              <a:rPr sz="3350" dirty="0">
                <a:solidFill>
                  <a:srgbClr val="2E377E"/>
                </a:solidFill>
                <a:latin typeface="Georgia"/>
                <a:cs typeface="Georgia"/>
              </a:rPr>
              <a:t>We</a:t>
            </a:r>
            <a:r>
              <a:rPr sz="3350" spc="45" dirty="0">
                <a:solidFill>
                  <a:srgbClr val="2E377E"/>
                </a:solidFill>
                <a:latin typeface="Georgia"/>
                <a:cs typeface="Georgia"/>
              </a:rPr>
              <a:t> </a:t>
            </a:r>
            <a:r>
              <a:rPr sz="3350" spc="50" dirty="0">
                <a:solidFill>
                  <a:srgbClr val="2E377E"/>
                </a:solidFill>
                <a:latin typeface="Georgia"/>
                <a:cs typeface="Georgia"/>
              </a:rPr>
              <a:t>have</a:t>
            </a:r>
            <a:r>
              <a:rPr sz="3350" spc="45" dirty="0">
                <a:solidFill>
                  <a:srgbClr val="2E377E"/>
                </a:solidFill>
                <a:latin typeface="Georgia"/>
                <a:cs typeface="Georgia"/>
              </a:rPr>
              <a:t> </a:t>
            </a:r>
            <a:r>
              <a:rPr sz="3350" dirty="0">
                <a:solidFill>
                  <a:srgbClr val="2E377E"/>
                </a:solidFill>
                <a:latin typeface="Georgia"/>
                <a:cs typeface="Georgia"/>
              </a:rPr>
              <a:t>created</a:t>
            </a:r>
            <a:r>
              <a:rPr sz="3350" spc="45" dirty="0">
                <a:solidFill>
                  <a:srgbClr val="2E377E"/>
                </a:solidFill>
                <a:latin typeface="Georgia"/>
                <a:cs typeface="Georgia"/>
              </a:rPr>
              <a:t> </a:t>
            </a:r>
            <a:r>
              <a:rPr sz="3350" dirty="0">
                <a:solidFill>
                  <a:srgbClr val="2E377E"/>
                </a:solidFill>
                <a:latin typeface="Georgia"/>
                <a:cs typeface="Georgia"/>
              </a:rPr>
              <a:t>multiple</a:t>
            </a:r>
            <a:r>
              <a:rPr sz="3350" spc="45" dirty="0">
                <a:solidFill>
                  <a:srgbClr val="2E377E"/>
                </a:solidFill>
                <a:latin typeface="Georgia"/>
                <a:cs typeface="Georgia"/>
              </a:rPr>
              <a:t> </a:t>
            </a:r>
            <a:r>
              <a:rPr sz="3350" dirty="0">
                <a:solidFill>
                  <a:srgbClr val="2E377E"/>
                </a:solidFill>
                <a:latin typeface="Georgia"/>
                <a:cs typeface="Georgia"/>
              </a:rPr>
              <a:t>files</a:t>
            </a:r>
            <a:r>
              <a:rPr sz="3350" spc="45" dirty="0">
                <a:solidFill>
                  <a:srgbClr val="2E377E"/>
                </a:solidFill>
                <a:latin typeface="Georgia"/>
                <a:cs typeface="Georgia"/>
              </a:rPr>
              <a:t> </a:t>
            </a:r>
            <a:r>
              <a:rPr sz="3350" dirty="0">
                <a:solidFill>
                  <a:srgbClr val="2E377E"/>
                </a:solidFill>
                <a:latin typeface="Georgia"/>
                <a:cs typeface="Georgia"/>
              </a:rPr>
              <a:t>in</a:t>
            </a:r>
            <a:r>
              <a:rPr sz="3350" spc="45" dirty="0">
                <a:solidFill>
                  <a:srgbClr val="2E377E"/>
                </a:solidFill>
                <a:latin typeface="Georgia"/>
                <a:cs typeface="Georgia"/>
              </a:rPr>
              <a:t> </a:t>
            </a:r>
            <a:r>
              <a:rPr sz="3350" dirty="0">
                <a:solidFill>
                  <a:srgbClr val="2E377E"/>
                </a:solidFill>
                <a:latin typeface="Georgia"/>
                <a:cs typeface="Georgia"/>
              </a:rPr>
              <a:t>a</a:t>
            </a:r>
            <a:r>
              <a:rPr sz="3350" spc="45" dirty="0">
                <a:solidFill>
                  <a:srgbClr val="2E377E"/>
                </a:solidFill>
                <a:latin typeface="Georgia"/>
                <a:cs typeface="Georgia"/>
              </a:rPr>
              <a:t> </a:t>
            </a:r>
            <a:r>
              <a:rPr sz="3350" spc="55" dirty="0">
                <a:solidFill>
                  <a:srgbClr val="2E377E"/>
                </a:solidFill>
                <a:latin typeface="Georgia"/>
                <a:cs typeface="Georgia"/>
              </a:rPr>
              <a:t>directory</a:t>
            </a:r>
            <a:r>
              <a:rPr sz="3350" spc="45" dirty="0">
                <a:solidFill>
                  <a:srgbClr val="2E377E"/>
                </a:solidFill>
                <a:latin typeface="Georgia"/>
                <a:cs typeface="Georgia"/>
              </a:rPr>
              <a:t> </a:t>
            </a:r>
            <a:r>
              <a:rPr sz="3350" spc="70" dirty="0">
                <a:solidFill>
                  <a:srgbClr val="2E377E"/>
                </a:solidFill>
                <a:latin typeface="Georgia"/>
                <a:cs typeface="Georgia"/>
              </a:rPr>
              <a:t>with</a:t>
            </a:r>
            <a:r>
              <a:rPr sz="3350" spc="45" dirty="0">
                <a:solidFill>
                  <a:srgbClr val="2E377E"/>
                </a:solidFill>
                <a:latin typeface="Georgia"/>
                <a:cs typeface="Georgia"/>
              </a:rPr>
              <a:t> </a:t>
            </a:r>
            <a:r>
              <a:rPr sz="3350" dirty="0">
                <a:solidFill>
                  <a:srgbClr val="2E377E"/>
                </a:solidFill>
                <a:latin typeface="Georgia"/>
                <a:cs typeface="Georgia"/>
              </a:rPr>
              <a:t>different</a:t>
            </a:r>
            <a:r>
              <a:rPr sz="3350" spc="45" dirty="0">
                <a:solidFill>
                  <a:srgbClr val="2E377E"/>
                </a:solidFill>
                <a:latin typeface="Georgia"/>
                <a:cs typeface="Georgia"/>
              </a:rPr>
              <a:t> </a:t>
            </a:r>
            <a:r>
              <a:rPr sz="3350" dirty="0">
                <a:solidFill>
                  <a:srgbClr val="2E377E"/>
                </a:solidFill>
                <a:latin typeface="Georgia"/>
                <a:cs typeface="Georgia"/>
              </a:rPr>
              <a:t>extensions</a:t>
            </a:r>
            <a:r>
              <a:rPr sz="3350" spc="45" dirty="0">
                <a:solidFill>
                  <a:srgbClr val="2E377E"/>
                </a:solidFill>
                <a:latin typeface="Georgia"/>
                <a:cs typeface="Georgia"/>
              </a:rPr>
              <a:t> </a:t>
            </a:r>
            <a:r>
              <a:rPr sz="3350" spc="50" dirty="0">
                <a:solidFill>
                  <a:srgbClr val="2E377E"/>
                </a:solidFill>
                <a:latin typeface="Georgia"/>
                <a:cs typeface="Georgia"/>
              </a:rPr>
              <a:t>that</a:t>
            </a:r>
            <a:r>
              <a:rPr sz="3350" spc="45" dirty="0">
                <a:solidFill>
                  <a:srgbClr val="2E377E"/>
                </a:solidFill>
                <a:latin typeface="Georgia"/>
                <a:cs typeface="Georgia"/>
              </a:rPr>
              <a:t> </a:t>
            </a:r>
            <a:r>
              <a:rPr sz="3350" spc="50" dirty="0">
                <a:solidFill>
                  <a:srgbClr val="2E377E"/>
                </a:solidFill>
                <a:latin typeface="Georgia"/>
                <a:cs typeface="Georgia"/>
              </a:rPr>
              <a:t>have</a:t>
            </a:r>
            <a:r>
              <a:rPr sz="3350" spc="45" dirty="0">
                <a:solidFill>
                  <a:srgbClr val="2E377E"/>
                </a:solidFill>
                <a:latin typeface="Georgia"/>
                <a:cs typeface="Georgia"/>
              </a:rPr>
              <a:t> </a:t>
            </a:r>
            <a:r>
              <a:rPr sz="3350" spc="-10" dirty="0">
                <a:solidFill>
                  <a:srgbClr val="2E377E"/>
                </a:solidFill>
                <a:latin typeface="Georgia"/>
                <a:cs typeface="Georgia"/>
              </a:rPr>
              <a:t>different </a:t>
            </a:r>
            <a:r>
              <a:rPr sz="3350" spc="80" dirty="0">
                <a:solidFill>
                  <a:srgbClr val="2E377E"/>
                </a:solidFill>
                <a:latin typeface="Georgia"/>
                <a:cs typeface="Georgia"/>
              </a:rPr>
              <a:t>types</a:t>
            </a:r>
            <a:r>
              <a:rPr sz="3350" spc="20" dirty="0">
                <a:solidFill>
                  <a:srgbClr val="2E377E"/>
                </a:solidFill>
                <a:latin typeface="Georgia"/>
                <a:cs typeface="Georgia"/>
              </a:rPr>
              <a:t> </a:t>
            </a:r>
            <a:r>
              <a:rPr sz="3350" dirty="0">
                <a:solidFill>
                  <a:srgbClr val="2E377E"/>
                </a:solidFill>
                <a:latin typeface="Georgia"/>
                <a:cs typeface="Georgia"/>
              </a:rPr>
              <a:t>of</a:t>
            </a:r>
            <a:r>
              <a:rPr sz="3350" spc="25" dirty="0">
                <a:solidFill>
                  <a:srgbClr val="2E377E"/>
                </a:solidFill>
                <a:latin typeface="Georgia"/>
                <a:cs typeface="Georgia"/>
              </a:rPr>
              <a:t> </a:t>
            </a:r>
            <a:r>
              <a:rPr sz="3350" dirty="0">
                <a:solidFill>
                  <a:srgbClr val="2E377E"/>
                </a:solidFill>
                <a:latin typeface="Georgia"/>
                <a:cs typeface="Georgia"/>
              </a:rPr>
              <a:t>data</a:t>
            </a:r>
            <a:r>
              <a:rPr sz="3350" spc="25" dirty="0">
                <a:solidFill>
                  <a:srgbClr val="2E377E"/>
                </a:solidFill>
                <a:latin typeface="Georgia"/>
                <a:cs typeface="Georgia"/>
              </a:rPr>
              <a:t> </a:t>
            </a:r>
            <a:r>
              <a:rPr sz="3350" dirty="0">
                <a:solidFill>
                  <a:srgbClr val="2E377E"/>
                </a:solidFill>
                <a:latin typeface="Georgia"/>
                <a:cs typeface="Georgia"/>
              </a:rPr>
              <a:t>and</a:t>
            </a:r>
            <a:r>
              <a:rPr sz="3350" spc="20" dirty="0">
                <a:solidFill>
                  <a:srgbClr val="2E377E"/>
                </a:solidFill>
                <a:latin typeface="Georgia"/>
                <a:cs typeface="Georgia"/>
              </a:rPr>
              <a:t> </a:t>
            </a:r>
            <a:r>
              <a:rPr sz="3350" dirty="0">
                <a:solidFill>
                  <a:srgbClr val="2E377E"/>
                </a:solidFill>
                <a:latin typeface="Georgia"/>
                <a:cs typeface="Georgia"/>
              </a:rPr>
              <a:t>created</a:t>
            </a:r>
            <a:r>
              <a:rPr sz="3350" spc="25" dirty="0">
                <a:solidFill>
                  <a:srgbClr val="2E377E"/>
                </a:solidFill>
                <a:latin typeface="Georgia"/>
                <a:cs typeface="Georgia"/>
              </a:rPr>
              <a:t> </a:t>
            </a:r>
            <a:r>
              <a:rPr sz="3350" spc="55" dirty="0">
                <a:solidFill>
                  <a:srgbClr val="2E377E"/>
                </a:solidFill>
                <a:latin typeface="Georgia"/>
                <a:cs typeface="Georgia"/>
              </a:rPr>
              <a:t>the</a:t>
            </a:r>
            <a:r>
              <a:rPr sz="3350" spc="20" dirty="0">
                <a:solidFill>
                  <a:srgbClr val="2E377E"/>
                </a:solidFill>
                <a:latin typeface="Georgia"/>
                <a:cs typeface="Georgia"/>
              </a:rPr>
              <a:t> </a:t>
            </a:r>
            <a:r>
              <a:rPr sz="3350" dirty="0">
                <a:solidFill>
                  <a:srgbClr val="2E377E"/>
                </a:solidFill>
                <a:latin typeface="Georgia"/>
                <a:cs typeface="Georgia"/>
              </a:rPr>
              <a:t>configMap</a:t>
            </a:r>
            <a:r>
              <a:rPr sz="3350" spc="25" dirty="0">
                <a:solidFill>
                  <a:srgbClr val="2E377E"/>
                </a:solidFill>
                <a:latin typeface="Georgia"/>
                <a:cs typeface="Georgia"/>
              </a:rPr>
              <a:t> </a:t>
            </a:r>
            <a:r>
              <a:rPr sz="3350" dirty="0">
                <a:solidFill>
                  <a:srgbClr val="2E377E"/>
                </a:solidFill>
                <a:latin typeface="Georgia"/>
                <a:cs typeface="Georgia"/>
              </a:rPr>
              <a:t>for</a:t>
            </a:r>
            <a:r>
              <a:rPr sz="3350" spc="20" dirty="0">
                <a:solidFill>
                  <a:srgbClr val="2E377E"/>
                </a:solidFill>
                <a:latin typeface="Georgia"/>
                <a:cs typeface="Georgia"/>
              </a:rPr>
              <a:t> </a:t>
            </a:r>
            <a:r>
              <a:rPr sz="3350" spc="55" dirty="0">
                <a:solidFill>
                  <a:srgbClr val="2E377E"/>
                </a:solidFill>
                <a:latin typeface="Georgia"/>
                <a:cs typeface="Georgia"/>
              </a:rPr>
              <a:t>the</a:t>
            </a:r>
            <a:r>
              <a:rPr sz="3350" spc="25" dirty="0">
                <a:solidFill>
                  <a:srgbClr val="2E377E"/>
                </a:solidFill>
                <a:latin typeface="Georgia"/>
                <a:cs typeface="Georgia"/>
              </a:rPr>
              <a:t> </a:t>
            </a:r>
            <a:r>
              <a:rPr sz="3350" dirty="0">
                <a:solidFill>
                  <a:srgbClr val="2E377E"/>
                </a:solidFill>
                <a:latin typeface="Georgia"/>
                <a:cs typeface="Georgia"/>
              </a:rPr>
              <a:t>entire</a:t>
            </a:r>
            <a:r>
              <a:rPr sz="3350" spc="25" dirty="0">
                <a:solidFill>
                  <a:srgbClr val="2E377E"/>
                </a:solidFill>
                <a:latin typeface="Georgia"/>
                <a:cs typeface="Georgia"/>
              </a:rPr>
              <a:t> </a:t>
            </a:r>
            <a:r>
              <a:rPr sz="3350" spc="-10" dirty="0">
                <a:solidFill>
                  <a:srgbClr val="2E377E"/>
                </a:solidFill>
                <a:latin typeface="Georgia"/>
                <a:cs typeface="Georgia"/>
              </a:rPr>
              <a:t>directory.</a:t>
            </a:r>
            <a:endParaRPr sz="3350">
              <a:latin typeface="Georgia"/>
              <a:cs typeface="Georgia"/>
            </a:endParaRPr>
          </a:p>
          <a:p>
            <a:pPr>
              <a:lnSpc>
                <a:spcPct val="100000"/>
              </a:lnSpc>
              <a:spcBef>
                <a:spcPts val="1515"/>
              </a:spcBef>
            </a:pPr>
            <a:endParaRPr sz="3350">
              <a:latin typeface="Georgia"/>
              <a:cs typeface="Georgia"/>
            </a:endParaRPr>
          </a:p>
          <a:p>
            <a:pPr marL="12700">
              <a:lnSpc>
                <a:spcPct val="100000"/>
              </a:lnSpc>
            </a:pPr>
            <a:r>
              <a:rPr sz="3350" dirty="0">
                <a:solidFill>
                  <a:srgbClr val="2E377E"/>
                </a:solidFill>
                <a:latin typeface="Georgia"/>
                <a:cs typeface="Georgia"/>
              </a:rPr>
              <a:t>mkdir</a:t>
            </a:r>
            <a:r>
              <a:rPr sz="3350" spc="95" dirty="0">
                <a:solidFill>
                  <a:srgbClr val="2E377E"/>
                </a:solidFill>
                <a:latin typeface="Georgia"/>
                <a:cs typeface="Georgia"/>
              </a:rPr>
              <a:t> </a:t>
            </a:r>
            <a:r>
              <a:rPr sz="3350" spc="-10" dirty="0">
                <a:solidFill>
                  <a:srgbClr val="2E377E"/>
                </a:solidFill>
                <a:latin typeface="Georgia"/>
                <a:cs typeface="Georgia"/>
              </a:rPr>
              <a:t>folder1</a:t>
            </a:r>
            <a:endParaRPr sz="3350">
              <a:latin typeface="Georgia"/>
              <a:cs typeface="Georgia"/>
            </a:endParaRPr>
          </a:p>
          <a:p>
            <a:pPr marL="12700" marR="13576935">
              <a:lnSpc>
                <a:spcPct val="116199"/>
              </a:lnSpc>
            </a:pPr>
            <a:r>
              <a:rPr sz="3350" spc="-10" dirty="0">
                <a:solidFill>
                  <a:srgbClr val="2E377E"/>
                </a:solidFill>
                <a:latin typeface="Georgia"/>
                <a:cs typeface="Georgia"/>
              </a:rPr>
              <a:t>cat</a:t>
            </a:r>
            <a:r>
              <a:rPr sz="3350" spc="-185" dirty="0">
                <a:solidFill>
                  <a:srgbClr val="2E377E"/>
                </a:solidFill>
                <a:latin typeface="Georgia"/>
                <a:cs typeface="Georgia"/>
              </a:rPr>
              <a:t> </a:t>
            </a:r>
            <a:r>
              <a:rPr sz="3350" spc="-65" dirty="0">
                <a:solidFill>
                  <a:srgbClr val="2E377E"/>
                </a:solidFill>
                <a:latin typeface="Georgia"/>
                <a:cs typeface="Georgia"/>
              </a:rPr>
              <a:t>folder1/file1.txt </a:t>
            </a:r>
            <a:r>
              <a:rPr sz="3350" spc="-10" dirty="0">
                <a:solidFill>
                  <a:srgbClr val="2E377E"/>
                </a:solidFill>
                <a:latin typeface="Georgia"/>
                <a:cs typeface="Georgia"/>
              </a:rPr>
              <a:t>key1=value1 key2=23</a:t>
            </a:r>
            <a:endParaRPr sz="3350">
              <a:latin typeface="Georgia"/>
              <a:cs typeface="Georgia"/>
            </a:endParaRPr>
          </a:p>
          <a:p>
            <a:pPr>
              <a:lnSpc>
                <a:spcPct val="100000"/>
              </a:lnSpc>
              <a:spcBef>
                <a:spcPts val="865"/>
              </a:spcBef>
            </a:pPr>
            <a:endParaRPr sz="3350">
              <a:latin typeface="Georgia"/>
              <a:cs typeface="Georgia"/>
            </a:endParaRPr>
          </a:p>
          <a:p>
            <a:pPr marL="12700" marR="13523594">
              <a:lnSpc>
                <a:spcPct val="116199"/>
              </a:lnSpc>
            </a:pPr>
            <a:r>
              <a:rPr sz="3350" spc="-10" dirty="0">
                <a:solidFill>
                  <a:srgbClr val="2E377E"/>
                </a:solidFill>
                <a:latin typeface="Georgia"/>
                <a:cs typeface="Georgia"/>
              </a:rPr>
              <a:t>cat</a:t>
            </a:r>
            <a:r>
              <a:rPr sz="3350" spc="-185" dirty="0">
                <a:solidFill>
                  <a:srgbClr val="2E377E"/>
                </a:solidFill>
                <a:latin typeface="Georgia"/>
                <a:cs typeface="Georgia"/>
              </a:rPr>
              <a:t> </a:t>
            </a:r>
            <a:r>
              <a:rPr sz="3350" spc="-90" dirty="0">
                <a:solidFill>
                  <a:srgbClr val="2E377E"/>
                </a:solidFill>
                <a:latin typeface="Georgia"/>
                <a:cs typeface="Georgia"/>
              </a:rPr>
              <a:t>folder2/file2.txt </a:t>
            </a:r>
            <a:r>
              <a:rPr sz="3350" spc="-10" dirty="0">
                <a:solidFill>
                  <a:srgbClr val="2E377E"/>
                </a:solidFill>
                <a:latin typeface="Georgia"/>
                <a:cs typeface="Georgia"/>
              </a:rPr>
              <a:t>key1=value1 key2=23</a:t>
            </a:r>
            <a:endParaRPr sz="3350">
              <a:latin typeface="Georgia"/>
              <a:cs typeface="Georgia"/>
            </a:endParaRPr>
          </a:p>
          <a:p>
            <a:pPr marL="12700">
              <a:lnSpc>
                <a:spcPct val="100000"/>
              </a:lnSpc>
              <a:spcBef>
                <a:spcPts val="650"/>
              </a:spcBef>
            </a:pPr>
            <a:r>
              <a:rPr sz="3350" spc="250" dirty="0">
                <a:solidFill>
                  <a:srgbClr val="2E377E"/>
                </a:solidFill>
                <a:latin typeface="Times New Roman"/>
                <a:cs typeface="Times New Roman"/>
              </a:rPr>
              <a:t>command</a:t>
            </a:r>
            <a:r>
              <a:rPr sz="3350" spc="-90" dirty="0">
                <a:solidFill>
                  <a:srgbClr val="2E377E"/>
                </a:solidFill>
                <a:latin typeface="Times New Roman"/>
                <a:cs typeface="Times New Roman"/>
              </a:rPr>
              <a:t> </a:t>
            </a:r>
            <a:r>
              <a:rPr sz="3350" spc="245" dirty="0">
                <a:solidFill>
                  <a:srgbClr val="2E377E"/>
                </a:solidFill>
                <a:latin typeface="Times New Roman"/>
                <a:cs typeface="Times New Roman"/>
              </a:rPr>
              <a:t>to</a:t>
            </a:r>
            <a:r>
              <a:rPr sz="3350" spc="-85" dirty="0">
                <a:solidFill>
                  <a:srgbClr val="2E377E"/>
                </a:solidFill>
                <a:latin typeface="Times New Roman"/>
                <a:cs typeface="Times New Roman"/>
              </a:rPr>
              <a:t> </a:t>
            </a:r>
            <a:r>
              <a:rPr sz="3350" spc="210" dirty="0">
                <a:solidFill>
                  <a:srgbClr val="2E377E"/>
                </a:solidFill>
                <a:latin typeface="Times New Roman"/>
                <a:cs typeface="Times New Roman"/>
              </a:rPr>
              <a:t>create</a:t>
            </a:r>
            <a:r>
              <a:rPr sz="3350" spc="-90" dirty="0">
                <a:solidFill>
                  <a:srgbClr val="2E377E"/>
                </a:solidFill>
                <a:latin typeface="Times New Roman"/>
                <a:cs typeface="Times New Roman"/>
              </a:rPr>
              <a:t> </a:t>
            </a:r>
            <a:r>
              <a:rPr sz="3350" spc="120" dirty="0">
                <a:solidFill>
                  <a:srgbClr val="2E377E"/>
                </a:solidFill>
                <a:latin typeface="Times New Roman"/>
                <a:cs typeface="Times New Roman"/>
              </a:rPr>
              <a:t>config</a:t>
            </a:r>
            <a:r>
              <a:rPr sz="3350" spc="-85" dirty="0">
                <a:solidFill>
                  <a:srgbClr val="2E377E"/>
                </a:solidFill>
                <a:latin typeface="Times New Roman"/>
                <a:cs typeface="Times New Roman"/>
              </a:rPr>
              <a:t> </a:t>
            </a:r>
            <a:r>
              <a:rPr sz="3350" spc="160" dirty="0">
                <a:solidFill>
                  <a:srgbClr val="2E377E"/>
                </a:solidFill>
                <a:latin typeface="Times New Roman"/>
                <a:cs typeface="Times New Roman"/>
              </a:rPr>
              <a:t>map:</a:t>
            </a:r>
            <a:endParaRPr sz="3350">
              <a:latin typeface="Times New Roman"/>
              <a:cs typeface="Times New Roman"/>
            </a:endParaRPr>
          </a:p>
          <a:p>
            <a:pPr marL="12700">
              <a:lnSpc>
                <a:spcPct val="100000"/>
              </a:lnSpc>
              <a:spcBef>
                <a:spcPts val="650"/>
              </a:spcBef>
            </a:pPr>
            <a:r>
              <a:rPr sz="3350" spc="50" dirty="0">
                <a:solidFill>
                  <a:srgbClr val="FF3131"/>
                </a:solidFill>
                <a:latin typeface="Georgia"/>
                <a:cs typeface="Georgia"/>
              </a:rPr>
              <a:t>kubectl</a:t>
            </a:r>
            <a:r>
              <a:rPr sz="3350" spc="85" dirty="0">
                <a:solidFill>
                  <a:srgbClr val="FF3131"/>
                </a:solidFill>
                <a:latin typeface="Georgia"/>
                <a:cs typeface="Georgia"/>
              </a:rPr>
              <a:t> </a:t>
            </a:r>
            <a:r>
              <a:rPr sz="3350" dirty="0">
                <a:solidFill>
                  <a:srgbClr val="FF3131"/>
                </a:solidFill>
                <a:latin typeface="Georgia"/>
                <a:cs typeface="Georgia"/>
              </a:rPr>
              <a:t>create</a:t>
            </a:r>
            <a:r>
              <a:rPr sz="3350" spc="95" dirty="0">
                <a:solidFill>
                  <a:srgbClr val="FF3131"/>
                </a:solidFill>
                <a:latin typeface="Georgia"/>
                <a:cs typeface="Georgia"/>
              </a:rPr>
              <a:t> </a:t>
            </a:r>
            <a:r>
              <a:rPr sz="3350" dirty="0">
                <a:solidFill>
                  <a:srgbClr val="FF3131"/>
                </a:solidFill>
                <a:latin typeface="Georgia"/>
                <a:cs typeface="Georgia"/>
              </a:rPr>
              <a:t>cm</a:t>
            </a:r>
            <a:r>
              <a:rPr sz="3350" spc="95" dirty="0">
                <a:solidFill>
                  <a:srgbClr val="FF3131"/>
                </a:solidFill>
                <a:latin typeface="Georgia"/>
                <a:cs typeface="Georgia"/>
              </a:rPr>
              <a:t> </a:t>
            </a:r>
            <a:r>
              <a:rPr sz="3350" spc="65" dirty="0">
                <a:solidFill>
                  <a:srgbClr val="FF3131"/>
                </a:solidFill>
                <a:latin typeface="Georgia"/>
                <a:cs typeface="Georgia"/>
              </a:rPr>
              <a:t>mummy</a:t>
            </a:r>
            <a:r>
              <a:rPr sz="3350" spc="95" dirty="0">
                <a:solidFill>
                  <a:srgbClr val="FF3131"/>
                </a:solidFill>
                <a:latin typeface="Georgia"/>
                <a:cs typeface="Georgia"/>
              </a:rPr>
              <a:t> </a:t>
            </a:r>
            <a:r>
              <a:rPr sz="3350" dirty="0">
                <a:solidFill>
                  <a:srgbClr val="FF3131"/>
                </a:solidFill>
                <a:latin typeface="Georgia"/>
                <a:cs typeface="Georgia"/>
              </a:rPr>
              <a:t>--from-</a:t>
            </a:r>
            <a:r>
              <a:rPr sz="3350" spc="-10" dirty="0">
                <a:solidFill>
                  <a:srgbClr val="FF3131"/>
                </a:solidFill>
                <a:latin typeface="Georgia"/>
                <a:cs typeface="Georgia"/>
              </a:rPr>
              <a:t>file=folder1/</a:t>
            </a:r>
            <a:endParaRPr sz="3350">
              <a:latin typeface="Georgia"/>
              <a:cs typeface="Georgia"/>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1609" y="389903"/>
            <a:ext cx="16887825" cy="3501390"/>
          </a:xfrm>
          <a:prstGeom prst="rect">
            <a:avLst/>
          </a:prstGeom>
        </p:spPr>
        <p:txBody>
          <a:bodyPr vert="horz" wrap="square" lIns="0" tIns="12065" rIns="0" bIns="0" rtlCol="0">
            <a:spAutoFit/>
          </a:bodyPr>
          <a:lstStyle/>
          <a:p>
            <a:pPr marL="12700">
              <a:lnSpc>
                <a:spcPct val="100000"/>
              </a:lnSpc>
              <a:spcBef>
                <a:spcPts val="95"/>
              </a:spcBef>
            </a:pPr>
            <a:r>
              <a:rPr sz="3350" spc="-100" dirty="0">
                <a:solidFill>
                  <a:srgbClr val="2E377E"/>
                </a:solidFill>
                <a:latin typeface="Times New Roman"/>
                <a:cs typeface="Times New Roman"/>
              </a:rPr>
              <a:t>CREATE</a:t>
            </a:r>
            <a:r>
              <a:rPr sz="3350" spc="-95" dirty="0">
                <a:solidFill>
                  <a:srgbClr val="2E377E"/>
                </a:solidFill>
                <a:latin typeface="Times New Roman"/>
                <a:cs typeface="Times New Roman"/>
              </a:rPr>
              <a:t> </a:t>
            </a:r>
            <a:r>
              <a:rPr sz="3350" spc="-250" dirty="0">
                <a:solidFill>
                  <a:srgbClr val="2E377E"/>
                </a:solidFill>
                <a:latin typeface="Times New Roman"/>
                <a:cs typeface="Times New Roman"/>
              </a:rPr>
              <a:t>A</a:t>
            </a:r>
            <a:r>
              <a:rPr sz="3350" spc="-95" dirty="0">
                <a:solidFill>
                  <a:srgbClr val="2E377E"/>
                </a:solidFill>
                <a:latin typeface="Times New Roman"/>
                <a:cs typeface="Times New Roman"/>
              </a:rPr>
              <a:t> </a:t>
            </a:r>
            <a:r>
              <a:rPr sz="3350" spc="-200" dirty="0">
                <a:solidFill>
                  <a:srgbClr val="2E377E"/>
                </a:solidFill>
                <a:latin typeface="Times New Roman"/>
                <a:cs typeface="Times New Roman"/>
              </a:rPr>
              <a:t>YAML</a:t>
            </a:r>
            <a:r>
              <a:rPr sz="3350" spc="-95" dirty="0">
                <a:solidFill>
                  <a:srgbClr val="2E377E"/>
                </a:solidFill>
                <a:latin typeface="Times New Roman"/>
                <a:cs typeface="Times New Roman"/>
              </a:rPr>
              <a:t> </a:t>
            </a:r>
            <a:r>
              <a:rPr sz="3350" dirty="0">
                <a:solidFill>
                  <a:srgbClr val="2E377E"/>
                </a:solidFill>
                <a:latin typeface="Times New Roman"/>
                <a:cs typeface="Times New Roman"/>
              </a:rPr>
              <a:t>FOR</a:t>
            </a:r>
            <a:r>
              <a:rPr sz="3350" spc="-95" dirty="0">
                <a:solidFill>
                  <a:srgbClr val="2E377E"/>
                </a:solidFill>
                <a:latin typeface="Times New Roman"/>
                <a:cs typeface="Times New Roman"/>
              </a:rPr>
              <a:t> </a:t>
            </a:r>
            <a:r>
              <a:rPr sz="3350" spc="-10" dirty="0">
                <a:solidFill>
                  <a:srgbClr val="2E377E"/>
                </a:solidFill>
                <a:latin typeface="Times New Roman"/>
                <a:cs typeface="Times New Roman"/>
              </a:rPr>
              <a:t>CONFIG-MAPS:</a:t>
            </a:r>
            <a:endParaRPr sz="3350">
              <a:latin typeface="Times New Roman"/>
              <a:cs typeface="Times New Roman"/>
            </a:endParaRPr>
          </a:p>
          <a:p>
            <a:pPr>
              <a:lnSpc>
                <a:spcPct val="100000"/>
              </a:lnSpc>
              <a:spcBef>
                <a:spcPts val="815"/>
              </a:spcBef>
            </a:pPr>
            <a:endParaRPr sz="3350">
              <a:latin typeface="Times New Roman"/>
              <a:cs typeface="Times New Roman"/>
            </a:endParaRPr>
          </a:p>
          <a:p>
            <a:pPr marL="12700" marR="5080">
              <a:lnSpc>
                <a:spcPct val="116199"/>
              </a:lnSpc>
            </a:pPr>
            <a:r>
              <a:rPr sz="3350" dirty="0">
                <a:solidFill>
                  <a:srgbClr val="2E377E"/>
                </a:solidFill>
                <a:latin typeface="Georgia"/>
                <a:cs typeface="Georgia"/>
              </a:rPr>
              <a:t>The</a:t>
            </a:r>
            <a:r>
              <a:rPr sz="3350" spc="-15" dirty="0">
                <a:solidFill>
                  <a:srgbClr val="2E377E"/>
                </a:solidFill>
                <a:latin typeface="Georgia"/>
                <a:cs typeface="Georgia"/>
              </a:rPr>
              <a:t> </a:t>
            </a:r>
            <a:r>
              <a:rPr sz="3350" dirty="0">
                <a:solidFill>
                  <a:srgbClr val="2E377E"/>
                </a:solidFill>
                <a:latin typeface="Georgia"/>
                <a:cs typeface="Georgia"/>
              </a:rPr>
              <a:t>imperative</a:t>
            </a:r>
            <a:r>
              <a:rPr sz="3350" spc="-15" dirty="0">
                <a:solidFill>
                  <a:srgbClr val="2E377E"/>
                </a:solidFill>
                <a:latin typeface="Georgia"/>
                <a:cs typeface="Georgia"/>
              </a:rPr>
              <a:t> </a:t>
            </a:r>
            <a:r>
              <a:rPr sz="3350" spc="105" dirty="0">
                <a:solidFill>
                  <a:srgbClr val="2E377E"/>
                </a:solidFill>
                <a:latin typeface="Georgia"/>
                <a:cs typeface="Georgia"/>
              </a:rPr>
              <a:t>way</a:t>
            </a:r>
            <a:r>
              <a:rPr sz="3350" spc="-15" dirty="0">
                <a:solidFill>
                  <a:srgbClr val="2E377E"/>
                </a:solidFill>
                <a:latin typeface="Georgia"/>
                <a:cs typeface="Georgia"/>
              </a:rPr>
              <a:t> </a:t>
            </a:r>
            <a:r>
              <a:rPr sz="3350" dirty="0">
                <a:solidFill>
                  <a:srgbClr val="2E377E"/>
                </a:solidFill>
                <a:latin typeface="Georgia"/>
                <a:cs typeface="Georgia"/>
              </a:rPr>
              <a:t>is</a:t>
            </a:r>
            <a:r>
              <a:rPr sz="3350" spc="-10" dirty="0">
                <a:solidFill>
                  <a:srgbClr val="2E377E"/>
                </a:solidFill>
                <a:latin typeface="Georgia"/>
                <a:cs typeface="Georgia"/>
              </a:rPr>
              <a:t> </a:t>
            </a:r>
            <a:r>
              <a:rPr sz="3350" dirty="0">
                <a:solidFill>
                  <a:srgbClr val="2E377E"/>
                </a:solidFill>
                <a:latin typeface="Georgia"/>
                <a:cs typeface="Georgia"/>
              </a:rPr>
              <a:t>not</a:t>
            </a:r>
            <a:r>
              <a:rPr sz="3350" spc="-15" dirty="0">
                <a:solidFill>
                  <a:srgbClr val="2E377E"/>
                </a:solidFill>
                <a:latin typeface="Georgia"/>
                <a:cs typeface="Georgia"/>
              </a:rPr>
              <a:t> </a:t>
            </a:r>
            <a:r>
              <a:rPr sz="3350" spc="100" dirty="0">
                <a:solidFill>
                  <a:srgbClr val="2E377E"/>
                </a:solidFill>
                <a:latin typeface="Georgia"/>
                <a:cs typeface="Georgia"/>
              </a:rPr>
              <a:t>very</a:t>
            </a:r>
            <a:r>
              <a:rPr sz="3350" spc="-15" dirty="0">
                <a:solidFill>
                  <a:srgbClr val="2E377E"/>
                </a:solidFill>
                <a:latin typeface="Georgia"/>
                <a:cs typeface="Georgia"/>
              </a:rPr>
              <a:t> </a:t>
            </a:r>
            <a:r>
              <a:rPr sz="3350" dirty="0">
                <a:solidFill>
                  <a:srgbClr val="2E377E"/>
                </a:solidFill>
                <a:latin typeface="Georgia"/>
                <a:cs typeface="Georgia"/>
              </a:rPr>
              <a:t>good</a:t>
            </a:r>
            <a:r>
              <a:rPr sz="3350" spc="-15" dirty="0">
                <a:solidFill>
                  <a:srgbClr val="2E377E"/>
                </a:solidFill>
                <a:latin typeface="Georgia"/>
                <a:cs typeface="Georgia"/>
              </a:rPr>
              <a:t> </a:t>
            </a:r>
            <a:r>
              <a:rPr sz="3350" dirty="0">
                <a:solidFill>
                  <a:srgbClr val="2E377E"/>
                </a:solidFill>
                <a:latin typeface="Georgia"/>
                <a:cs typeface="Georgia"/>
              </a:rPr>
              <a:t>if</a:t>
            </a:r>
            <a:r>
              <a:rPr sz="3350" spc="-10" dirty="0">
                <a:solidFill>
                  <a:srgbClr val="2E377E"/>
                </a:solidFill>
                <a:latin typeface="Georgia"/>
                <a:cs typeface="Georgia"/>
              </a:rPr>
              <a:t> </a:t>
            </a:r>
            <a:r>
              <a:rPr sz="3350" spc="75" dirty="0">
                <a:solidFill>
                  <a:srgbClr val="2E377E"/>
                </a:solidFill>
                <a:latin typeface="Georgia"/>
                <a:cs typeface="Georgia"/>
              </a:rPr>
              <a:t>you</a:t>
            </a:r>
            <a:r>
              <a:rPr sz="3350" spc="-15" dirty="0">
                <a:solidFill>
                  <a:srgbClr val="2E377E"/>
                </a:solidFill>
                <a:latin typeface="Georgia"/>
                <a:cs typeface="Georgia"/>
              </a:rPr>
              <a:t> </a:t>
            </a:r>
            <a:r>
              <a:rPr sz="3350" dirty="0">
                <a:solidFill>
                  <a:srgbClr val="2E377E"/>
                </a:solidFill>
                <a:latin typeface="Georgia"/>
                <a:cs typeface="Georgia"/>
              </a:rPr>
              <a:t>have</a:t>
            </a:r>
            <a:r>
              <a:rPr sz="3350" spc="-15" dirty="0">
                <a:solidFill>
                  <a:srgbClr val="2E377E"/>
                </a:solidFill>
                <a:latin typeface="Georgia"/>
                <a:cs typeface="Georgia"/>
              </a:rPr>
              <a:t> </a:t>
            </a:r>
            <a:r>
              <a:rPr sz="3350" spc="55" dirty="0">
                <a:solidFill>
                  <a:srgbClr val="2E377E"/>
                </a:solidFill>
                <a:latin typeface="Georgia"/>
                <a:cs typeface="Georgia"/>
              </a:rPr>
              <a:t>to</a:t>
            </a:r>
            <a:r>
              <a:rPr sz="3350" spc="-15" dirty="0">
                <a:solidFill>
                  <a:srgbClr val="2E377E"/>
                </a:solidFill>
                <a:latin typeface="Georgia"/>
                <a:cs typeface="Georgia"/>
              </a:rPr>
              <a:t> </a:t>
            </a:r>
            <a:r>
              <a:rPr sz="3350" dirty="0">
                <a:solidFill>
                  <a:srgbClr val="2E377E"/>
                </a:solidFill>
                <a:latin typeface="Georgia"/>
                <a:cs typeface="Georgia"/>
              </a:rPr>
              <a:t>repeat</a:t>
            </a:r>
            <a:r>
              <a:rPr sz="3350" spc="-10" dirty="0">
                <a:solidFill>
                  <a:srgbClr val="2E377E"/>
                </a:solidFill>
                <a:latin typeface="Georgia"/>
                <a:cs typeface="Georgia"/>
              </a:rPr>
              <a:t> </a:t>
            </a:r>
            <a:r>
              <a:rPr sz="3350" spc="50" dirty="0">
                <a:solidFill>
                  <a:srgbClr val="2E377E"/>
                </a:solidFill>
                <a:latin typeface="Georgia"/>
                <a:cs typeface="Georgia"/>
              </a:rPr>
              <a:t>the</a:t>
            </a:r>
            <a:r>
              <a:rPr sz="3350" spc="-15" dirty="0">
                <a:solidFill>
                  <a:srgbClr val="2E377E"/>
                </a:solidFill>
                <a:latin typeface="Georgia"/>
                <a:cs typeface="Georgia"/>
              </a:rPr>
              <a:t> </a:t>
            </a:r>
            <a:r>
              <a:rPr sz="3350" dirty="0">
                <a:solidFill>
                  <a:srgbClr val="2E377E"/>
                </a:solidFill>
                <a:latin typeface="Georgia"/>
                <a:cs typeface="Georgia"/>
              </a:rPr>
              <a:t>same</a:t>
            </a:r>
            <a:r>
              <a:rPr sz="3350" spc="-15" dirty="0">
                <a:solidFill>
                  <a:srgbClr val="2E377E"/>
                </a:solidFill>
                <a:latin typeface="Georgia"/>
                <a:cs typeface="Georgia"/>
              </a:rPr>
              <a:t> </a:t>
            </a:r>
            <a:r>
              <a:rPr sz="3350" dirty="0">
                <a:solidFill>
                  <a:srgbClr val="2E377E"/>
                </a:solidFill>
                <a:latin typeface="Georgia"/>
                <a:cs typeface="Georgia"/>
              </a:rPr>
              <a:t>tasks</a:t>
            </a:r>
            <a:r>
              <a:rPr sz="3350" spc="-15" dirty="0">
                <a:solidFill>
                  <a:srgbClr val="2E377E"/>
                </a:solidFill>
                <a:latin typeface="Georgia"/>
                <a:cs typeface="Georgia"/>
              </a:rPr>
              <a:t> </a:t>
            </a:r>
            <a:r>
              <a:rPr sz="3350" dirty="0">
                <a:solidFill>
                  <a:srgbClr val="2E377E"/>
                </a:solidFill>
                <a:latin typeface="Georgia"/>
                <a:cs typeface="Georgia"/>
              </a:rPr>
              <a:t>again</a:t>
            </a:r>
            <a:r>
              <a:rPr sz="3350" spc="-10" dirty="0">
                <a:solidFill>
                  <a:srgbClr val="2E377E"/>
                </a:solidFill>
                <a:latin typeface="Georgia"/>
                <a:cs typeface="Georgia"/>
              </a:rPr>
              <a:t> </a:t>
            </a:r>
            <a:r>
              <a:rPr sz="3350" dirty="0">
                <a:solidFill>
                  <a:srgbClr val="2E377E"/>
                </a:solidFill>
                <a:latin typeface="Georgia"/>
                <a:cs typeface="Georgia"/>
              </a:rPr>
              <a:t>and</a:t>
            </a:r>
            <a:r>
              <a:rPr sz="3350" spc="-15" dirty="0">
                <a:solidFill>
                  <a:srgbClr val="2E377E"/>
                </a:solidFill>
                <a:latin typeface="Georgia"/>
                <a:cs typeface="Georgia"/>
              </a:rPr>
              <a:t> </a:t>
            </a:r>
            <a:r>
              <a:rPr sz="3350" spc="-10" dirty="0">
                <a:solidFill>
                  <a:srgbClr val="2E377E"/>
                </a:solidFill>
                <a:latin typeface="Georgia"/>
                <a:cs typeface="Georgia"/>
              </a:rPr>
              <a:t>again. </a:t>
            </a:r>
            <a:r>
              <a:rPr sz="3350" dirty="0">
                <a:solidFill>
                  <a:srgbClr val="2E377E"/>
                </a:solidFill>
                <a:latin typeface="Georgia"/>
                <a:cs typeface="Georgia"/>
              </a:rPr>
              <a:t>Now,</a:t>
            </a:r>
            <a:r>
              <a:rPr sz="3350" spc="-30" dirty="0">
                <a:solidFill>
                  <a:srgbClr val="2E377E"/>
                </a:solidFill>
                <a:latin typeface="Georgia"/>
                <a:cs typeface="Georgia"/>
              </a:rPr>
              <a:t> </a:t>
            </a:r>
            <a:r>
              <a:rPr sz="3350" spc="105" dirty="0">
                <a:solidFill>
                  <a:srgbClr val="2E377E"/>
                </a:solidFill>
                <a:latin typeface="Georgia"/>
                <a:cs typeface="Georgia"/>
              </a:rPr>
              <a:t>we</a:t>
            </a:r>
            <a:r>
              <a:rPr sz="3350" spc="-30" dirty="0">
                <a:solidFill>
                  <a:srgbClr val="2E377E"/>
                </a:solidFill>
                <a:latin typeface="Georgia"/>
                <a:cs typeface="Georgia"/>
              </a:rPr>
              <a:t> </a:t>
            </a:r>
            <a:r>
              <a:rPr sz="3350" dirty="0">
                <a:solidFill>
                  <a:srgbClr val="2E377E"/>
                </a:solidFill>
                <a:latin typeface="Georgia"/>
                <a:cs typeface="Georgia"/>
              </a:rPr>
              <a:t>will</a:t>
            </a:r>
            <a:r>
              <a:rPr sz="3350" spc="-25" dirty="0">
                <a:solidFill>
                  <a:srgbClr val="2E377E"/>
                </a:solidFill>
                <a:latin typeface="Georgia"/>
                <a:cs typeface="Georgia"/>
              </a:rPr>
              <a:t> </a:t>
            </a:r>
            <a:r>
              <a:rPr sz="3350" dirty="0">
                <a:solidFill>
                  <a:srgbClr val="2E377E"/>
                </a:solidFill>
                <a:latin typeface="Georgia"/>
                <a:cs typeface="Georgia"/>
              </a:rPr>
              <a:t>look</a:t>
            </a:r>
            <a:r>
              <a:rPr sz="3350" spc="-30" dirty="0">
                <a:solidFill>
                  <a:srgbClr val="2E377E"/>
                </a:solidFill>
                <a:latin typeface="Georgia"/>
                <a:cs typeface="Georgia"/>
              </a:rPr>
              <a:t> </a:t>
            </a:r>
            <a:r>
              <a:rPr sz="3350" dirty="0">
                <a:solidFill>
                  <a:srgbClr val="2E377E"/>
                </a:solidFill>
                <a:latin typeface="Georgia"/>
                <a:cs typeface="Georgia"/>
              </a:rPr>
              <a:t>at</a:t>
            </a:r>
            <a:r>
              <a:rPr sz="3350" spc="-30" dirty="0">
                <a:solidFill>
                  <a:srgbClr val="2E377E"/>
                </a:solidFill>
                <a:latin typeface="Georgia"/>
                <a:cs typeface="Georgia"/>
              </a:rPr>
              <a:t> </a:t>
            </a:r>
            <a:r>
              <a:rPr sz="3350" spc="60" dirty="0">
                <a:solidFill>
                  <a:srgbClr val="2E377E"/>
                </a:solidFill>
                <a:latin typeface="Georgia"/>
                <a:cs typeface="Georgia"/>
              </a:rPr>
              <a:t>how</a:t>
            </a:r>
            <a:r>
              <a:rPr sz="3350" spc="-25" dirty="0">
                <a:solidFill>
                  <a:srgbClr val="2E377E"/>
                </a:solidFill>
                <a:latin typeface="Georgia"/>
                <a:cs typeface="Georgia"/>
              </a:rPr>
              <a:t> </a:t>
            </a:r>
            <a:r>
              <a:rPr sz="3350" spc="55" dirty="0">
                <a:solidFill>
                  <a:srgbClr val="2E377E"/>
                </a:solidFill>
                <a:latin typeface="Georgia"/>
                <a:cs typeface="Georgia"/>
              </a:rPr>
              <a:t>to</a:t>
            </a:r>
            <a:r>
              <a:rPr sz="3350" spc="-30" dirty="0">
                <a:solidFill>
                  <a:srgbClr val="2E377E"/>
                </a:solidFill>
                <a:latin typeface="Georgia"/>
                <a:cs typeface="Georgia"/>
              </a:rPr>
              <a:t> </a:t>
            </a:r>
            <a:r>
              <a:rPr sz="3350" dirty="0">
                <a:solidFill>
                  <a:srgbClr val="2E377E"/>
                </a:solidFill>
                <a:latin typeface="Georgia"/>
                <a:cs typeface="Georgia"/>
              </a:rPr>
              <a:t>create</a:t>
            </a:r>
            <a:r>
              <a:rPr sz="3350" spc="-30" dirty="0">
                <a:solidFill>
                  <a:srgbClr val="2E377E"/>
                </a:solidFill>
                <a:latin typeface="Georgia"/>
                <a:cs typeface="Georgia"/>
              </a:rPr>
              <a:t> </a:t>
            </a:r>
            <a:r>
              <a:rPr sz="3350" dirty="0">
                <a:solidFill>
                  <a:srgbClr val="2E377E"/>
                </a:solidFill>
                <a:latin typeface="Georgia"/>
                <a:cs typeface="Georgia"/>
              </a:rPr>
              <a:t>configMap</a:t>
            </a:r>
            <a:r>
              <a:rPr sz="3350" spc="-25" dirty="0">
                <a:solidFill>
                  <a:srgbClr val="2E377E"/>
                </a:solidFill>
                <a:latin typeface="Georgia"/>
                <a:cs typeface="Georgia"/>
              </a:rPr>
              <a:t> </a:t>
            </a:r>
            <a:r>
              <a:rPr sz="3350" dirty="0">
                <a:solidFill>
                  <a:srgbClr val="2E377E"/>
                </a:solidFill>
                <a:latin typeface="Georgia"/>
                <a:cs typeface="Georgia"/>
              </a:rPr>
              <a:t>through</a:t>
            </a:r>
            <a:r>
              <a:rPr sz="3350" spc="-30" dirty="0">
                <a:solidFill>
                  <a:srgbClr val="2E377E"/>
                </a:solidFill>
                <a:latin typeface="Georgia"/>
                <a:cs typeface="Georgia"/>
              </a:rPr>
              <a:t> </a:t>
            </a:r>
            <a:r>
              <a:rPr sz="3350" spc="50" dirty="0">
                <a:solidFill>
                  <a:srgbClr val="2E377E"/>
                </a:solidFill>
                <a:latin typeface="Georgia"/>
                <a:cs typeface="Georgia"/>
              </a:rPr>
              <a:t>the</a:t>
            </a:r>
            <a:r>
              <a:rPr sz="3350" spc="-30" dirty="0">
                <a:solidFill>
                  <a:srgbClr val="2E377E"/>
                </a:solidFill>
                <a:latin typeface="Georgia"/>
                <a:cs typeface="Georgia"/>
              </a:rPr>
              <a:t> </a:t>
            </a:r>
            <a:r>
              <a:rPr sz="3350" spc="-95" dirty="0">
                <a:solidFill>
                  <a:srgbClr val="2E377E"/>
                </a:solidFill>
                <a:latin typeface="Georgia"/>
                <a:cs typeface="Georgia"/>
              </a:rPr>
              <a:t>YAML</a:t>
            </a:r>
            <a:r>
              <a:rPr sz="3350" spc="-25" dirty="0">
                <a:solidFill>
                  <a:srgbClr val="2E377E"/>
                </a:solidFill>
                <a:latin typeface="Georgia"/>
                <a:cs typeface="Georgia"/>
              </a:rPr>
              <a:t> </a:t>
            </a:r>
            <a:r>
              <a:rPr sz="3350" spc="-10" dirty="0">
                <a:solidFill>
                  <a:srgbClr val="2E377E"/>
                </a:solidFill>
                <a:latin typeface="Georgia"/>
                <a:cs typeface="Georgia"/>
              </a:rPr>
              <a:t>file.</a:t>
            </a:r>
            <a:endParaRPr sz="3350">
              <a:latin typeface="Georgia"/>
              <a:cs typeface="Georgia"/>
            </a:endParaRPr>
          </a:p>
          <a:p>
            <a:pPr>
              <a:lnSpc>
                <a:spcPct val="100000"/>
              </a:lnSpc>
              <a:spcBef>
                <a:spcPts val="1515"/>
              </a:spcBef>
            </a:pPr>
            <a:endParaRPr sz="3350">
              <a:latin typeface="Georgia"/>
              <a:cs typeface="Georgia"/>
            </a:endParaRPr>
          </a:p>
          <a:p>
            <a:pPr marL="12700">
              <a:lnSpc>
                <a:spcPct val="100000"/>
              </a:lnSpc>
            </a:pPr>
            <a:r>
              <a:rPr sz="3350" spc="250" dirty="0">
                <a:solidFill>
                  <a:srgbClr val="2E377E"/>
                </a:solidFill>
                <a:latin typeface="Times New Roman"/>
                <a:cs typeface="Times New Roman"/>
              </a:rPr>
              <a:t>command</a:t>
            </a:r>
            <a:r>
              <a:rPr sz="3350" spc="-50" dirty="0">
                <a:solidFill>
                  <a:srgbClr val="2E377E"/>
                </a:solidFill>
                <a:latin typeface="Times New Roman"/>
                <a:cs typeface="Times New Roman"/>
              </a:rPr>
              <a:t> </a:t>
            </a:r>
            <a:r>
              <a:rPr sz="3350" spc="245" dirty="0">
                <a:solidFill>
                  <a:srgbClr val="2E377E"/>
                </a:solidFill>
                <a:latin typeface="Times New Roman"/>
                <a:cs typeface="Times New Roman"/>
              </a:rPr>
              <a:t>to</a:t>
            </a:r>
            <a:r>
              <a:rPr sz="3350" spc="-50" dirty="0">
                <a:solidFill>
                  <a:srgbClr val="2E377E"/>
                </a:solidFill>
                <a:latin typeface="Times New Roman"/>
                <a:cs typeface="Times New Roman"/>
              </a:rPr>
              <a:t> </a:t>
            </a:r>
            <a:r>
              <a:rPr sz="3350" spc="210" dirty="0">
                <a:solidFill>
                  <a:srgbClr val="2E377E"/>
                </a:solidFill>
                <a:latin typeface="Times New Roman"/>
                <a:cs typeface="Times New Roman"/>
              </a:rPr>
              <a:t>create</a:t>
            </a:r>
            <a:r>
              <a:rPr sz="3350" spc="-45" dirty="0">
                <a:solidFill>
                  <a:srgbClr val="2E377E"/>
                </a:solidFill>
                <a:latin typeface="Times New Roman"/>
                <a:cs typeface="Times New Roman"/>
              </a:rPr>
              <a:t> </a:t>
            </a:r>
            <a:r>
              <a:rPr sz="3350" spc="120" dirty="0">
                <a:solidFill>
                  <a:srgbClr val="2E377E"/>
                </a:solidFill>
                <a:latin typeface="Times New Roman"/>
                <a:cs typeface="Times New Roman"/>
              </a:rPr>
              <a:t>config</a:t>
            </a:r>
            <a:r>
              <a:rPr sz="3350" spc="-50" dirty="0">
                <a:solidFill>
                  <a:srgbClr val="2E377E"/>
                </a:solidFill>
                <a:latin typeface="Times New Roman"/>
                <a:cs typeface="Times New Roman"/>
              </a:rPr>
              <a:t> </a:t>
            </a:r>
            <a:r>
              <a:rPr sz="3350" spc="180" dirty="0">
                <a:solidFill>
                  <a:srgbClr val="2E377E"/>
                </a:solidFill>
                <a:latin typeface="Times New Roman"/>
                <a:cs typeface="Times New Roman"/>
              </a:rPr>
              <a:t>map:</a:t>
            </a:r>
            <a:r>
              <a:rPr sz="3350" spc="-40" dirty="0">
                <a:solidFill>
                  <a:srgbClr val="2E377E"/>
                </a:solidFill>
                <a:latin typeface="Times New Roman"/>
                <a:cs typeface="Times New Roman"/>
              </a:rPr>
              <a:t> </a:t>
            </a:r>
            <a:r>
              <a:rPr sz="3350" spc="50" dirty="0">
                <a:solidFill>
                  <a:srgbClr val="FF3131"/>
                </a:solidFill>
                <a:latin typeface="Georgia"/>
                <a:cs typeface="Georgia"/>
              </a:rPr>
              <a:t>kubectl</a:t>
            </a:r>
            <a:r>
              <a:rPr sz="3350" spc="-20" dirty="0">
                <a:solidFill>
                  <a:srgbClr val="FF3131"/>
                </a:solidFill>
                <a:latin typeface="Georgia"/>
                <a:cs typeface="Georgia"/>
              </a:rPr>
              <a:t> </a:t>
            </a:r>
            <a:r>
              <a:rPr sz="3350" dirty="0">
                <a:solidFill>
                  <a:srgbClr val="FF3131"/>
                </a:solidFill>
                <a:latin typeface="Georgia"/>
                <a:cs typeface="Georgia"/>
              </a:rPr>
              <a:t>create</a:t>
            </a:r>
            <a:r>
              <a:rPr sz="3350" spc="-15" dirty="0">
                <a:solidFill>
                  <a:srgbClr val="FF3131"/>
                </a:solidFill>
                <a:latin typeface="Georgia"/>
                <a:cs typeface="Georgia"/>
              </a:rPr>
              <a:t> </a:t>
            </a:r>
            <a:r>
              <a:rPr sz="3350" dirty="0">
                <a:solidFill>
                  <a:srgbClr val="FF3131"/>
                </a:solidFill>
                <a:latin typeface="Georgia"/>
                <a:cs typeface="Georgia"/>
              </a:rPr>
              <a:t>-</a:t>
            </a:r>
            <a:r>
              <a:rPr sz="3350" spc="50" dirty="0">
                <a:solidFill>
                  <a:srgbClr val="FF3131"/>
                </a:solidFill>
                <a:latin typeface="Georgia"/>
                <a:cs typeface="Georgia"/>
              </a:rPr>
              <a:t>f</a:t>
            </a:r>
            <a:r>
              <a:rPr sz="3350" spc="-20" dirty="0">
                <a:solidFill>
                  <a:srgbClr val="FF3131"/>
                </a:solidFill>
                <a:latin typeface="Georgia"/>
                <a:cs typeface="Georgia"/>
              </a:rPr>
              <a:t> </a:t>
            </a:r>
            <a:r>
              <a:rPr sz="3350" spc="-10" dirty="0">
                <a:solidFill>
                  <a:srgbClr val="FF3131"/>
                </a:solidFill>
                <a:latin typeface="Georgia"/>
                <a:cs typeface="Georgia"/>
              </a:rPr>
              <a:t>one.yml</a:t>
            </a:r>
            <a:endParaRPr sz="3350">
              <a:latin typeface="Georgia"/>
              <a:cs typeface="Georgia"/>
            </a:endParaRPr>
          </a:p>
        </p:txBody>
      </p:sp>
      <p:pic>
        <p:nvPicPr>
          <p:cNvPr id="3" name="object 3"/>
          <p:cNvPicPr/>
          <p:nvPr/>
        </p:nvPicPr>
        <p:blipFill>
          <a:blip r:embed="rId2" cstate="print"/>
          <a:stretch>
            <a:fillRect/>
          </a:stretch>
        </p:blipFill>
        <p:spPr>
          <a:xfrm>
            <a:off x="614309" y="4778311"/>
            <a:ext cx="11249024" cy="3638549"/>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062100" y="1620476"/>
            <a:ext cx="6743699" cy="6772274"/>
          </a:xfrm>
          <a:prstGeom prst="rect">
            <a:avLst/>
          </a:prstGeom>
        </p:spPr>
      </p:pic>
      <p:sp>
        <p:nvSpPr>
          <p:cNvPr id="3" name="object 3"/>
          <p:cNvSpPr txBox="1">
            <a:spLocks noGrp="1"/>
          </p:cNvSpPr>
          <p:nvPr>
            <p:ph type="title"/>
          </p:nvPr>
        </p:nvSpPr>
        <p:spPr>
          <a:xfrm>
            <a:off x="469403" y="557275"/>
            <a:ext cx="14328140" cy="787400"/>
          </a:xfrm>
          <a:prstGeom prst="rect">
            <a:avLst/>
          </a:prstGeom>
        </p:spPr>
        <p:txBody>
          <a:bodyPr vert="horz" wrap="square" lIns="0" tIns="12700" rIns="0" bIns="0" rtlCol="0">
            <a:spAutoFit/>
          </a:bodyPr>
          <a:lstStyle/>
          <a:p>
            <a:pPr marL="12700">
              <a:lnSpc>
                <a:spcPct val="100000"/>
              </a:lnSpc>
              <a:spcBef>
                <a:spcPts val="100"/>
              </a:spcBef>
            </a:pPr>
            <a:r>
              <a:rPr spc="110" dirty="0">
                <a:solidFill>
                  <a:srgbClr val="FF3131"/>
                </a:solidFill>
              </a:rPr>
              <a:t>Injecting</a:t>
            </a:r>
            <a:r>
              <a:rPr spc="-55" dirty="0">
                <a:solidFill>
                  <a:srgbClr val="FF3131"/>
                </a:solidFill>
              </a:rPr>
              <a:t> </a:t>
            </a:r>
            <a:r>
              <a:rPr spc="-150" dirty="0">
                <a:solidFill>
                  <a:srgbClr val="FF3131"/>
                </a:solidFill>
              </a:rPr>
              <a:t>CM</a:t>
            </a:r>
            <a:r>
              <a:rPr spc="-55" dirty="0">
                <a:solidFill>
                  <a:srgbClr val="FF3131"/>
                </a:solidFill>
              </a:rPr>
              <a:t> </a:t>
            </a:r>
            <a:r>
              <a:rPr spc="210" dirty="0">
                <a:solidFill>
                  <a:srgbClr val="FF3131"/>
                </a:solidFill>
              </a:rPr>
              <a:t>into</a:t>
            </a:r>
            <a:r>
              <a:rPr spc="-55" dirty="0">
                <a:solidFill>
                  <a:srgbClr val="FF3131"/>
                </a:solidFill>
              </a:rPr>
              <a:t> </a:t>
            </a:r>
            <a:r>
              <a:rPr spc="204" dirty="0">
                <a:solidFill>
                  <a:srgbClr val="FF3131"/>
                </a:solidFill>
              </a:rPr>
              <a:t>the</a:t>
            </a:r>
            <a:r>
              <a:rPr spc="-50" dirty="0">
                <a:solidFill>
                  <a:srgbClr val="FF3131"/>
                </a:solidFill>
              </a:rPr>
              <a:t> </a:t>
            </a:r>
            <a:r>
              <a:rPr spc="315" dirty="0">
                <a:solidFill>
                  <a:srgbClr val="FF3131"/>
                </a:solidFill>
              </a:rPr>
              <a:t>pod</a:t>
            </a:r>
            <a:r>
              <a:rPr spc="-55" dirty="0">
                <a:solidFill>
                  <a:srgbClr val="FF3131"/>
                </a:solidFill>
              </a:rPr>
              <a:t> </a:t>
            </a:r>
            <a:r>
              <a:rPr spc="295" dirty="0">
                <a:solidFill>
                  <a:srgbClr val="FF3131"/>
                </a:solidFill>
              </a:rPr>
              <a:t>with</a:t>
            </a:r>
            <a:r>
              <a:rPr spc="-55" dirty="0">
                <a:solidFill>
                  <a:srgbClr val="FF3131"/>
                </a:solidFill>
              </a:rPr>
              <a:t> </a:t>
            </a:r>
            <a:r>
              <a:rPr spc="190" dirty="0">
                <a:solidFill>
                  <a:srgbClr val="FF3131"/>
                </a:solidFill>
              </a:rPr>
              <a:t>specific</a:t>
            </a:r>
            <a:r>
              <a:rPr spc="-50" dirty="0">
                <a:solidFill>
                  <a:srgbClr val="FF3131"/>
                </a:solidFill>
              </a:rPr>
              <a:t> </a:t>
            </a:r>
            <a:r>
              <a:rPr spc="180" dirty="0">
                <a:solidFill>
                  <a:srgbClr val="FF3131"/>
                </a:solidFill>
              </a:rPr>
              <a:t>key</a:t>
            </a:r>
            <a:r>
              <a:rPr spc="-55" dirty="0">
                <a:solidFill>
                  <a:srgbClr val="FF3131"/>
                </a:solidFill>
              </a:rPr>
              <a:t> </a:t>
            </a:r>
            <a:r>
              <a:rPr spc="-10" dirty="0">
                <a:solidFill>
                  <a:srgbClr val="FF3131"/>
                </a:solidFill>
              </a:rPr>
              <a:t>pairs:</a:t>
            </a:r>
          </a:p>
        </p:txBody>
      </p:sp>
      <p:sp>
        <p:nvSpPr>
          <p:cNvPr id="4" name="object 4"/>
          <p:cNvSpPr txBox="1"/>
          <p:nvPr/>
        </p:nvSpPr>
        <p:spPr>
          <a:xfrm>
            <a:off x="11717859" y="8347191"/>
            <a:ext cx="4828540" cy="1639570"/>
          </a:xfrm>
          <a:prstGeom prst="rect">
            <a:avLst/>
          </a:prstGeom>
        </p:spPr>
        <p:txBody>
          <a:bodyPr vert="horz" wrap="square" lIns="0" tIns="306070" rIns="0" bIns="0" rtlCol="0">
            <a:spAutoFit/>
          </a:bodyPr>
          <a:lstStyle/>
          <a:p>
            <a:pPr marL="1209675">
              <a:lnSpc>
                <a:spcPct val="100000"/>
              </a:lnSpc>
              <a:spcBef>
                <a:spcPts val="2410"/>
              </a:spcBef>
            </a:pPr>
            <a:r>
              <a:rPr sz="3600" spc="-10" dirty="0">
                <a:solidFill>
                  <a:srgbClr val="2E377E"/>
                </a:solidFill>
                <a:latin typeface="Georgia"/>
                <a:cs typeface="Georgia"/>
              </a:rPr>
              <a:t>POD.YML</a:t>
            </a:r>
            <a:endParaRPr sz="3600">
              <a:latin typeface="Georgia"/>
              <a:cs typeface="Georgia"/>
            </a:endParaRPr>
          </a:p>
          <a:p>
            <a:pPr marL="12700">
              <a:lnSpc>
                <a:spcPct val="100000"/>
              </a:lnSpc>
              <a:spcBef>
                <a:spcPts val="2115"/>
              </a:spcBef>
            </a:pPr>
            <a:r>
              <a:rPr sz="3300" b="1" spc="110" dirty="0">
                <a:solidFill>
                  <a:srgbClr val="FF3131"/>
                </a:solidFill>
                <a:latin typeface="Times New Roman"/>
                <a:cs typeface="Times New Roman"/>
              </a:rPr>
              <a:t>kubectl</a:t>
            </a:r>
            <a:r>
              <a:rPr sz="3300" b="1" spc="-25" dirty="0">
                <a:solidFill>
                  <a:srgbClr val="FF3131"/>
                </a:solidFill>
                <a:latin typeface="Times New Roman"/>
                <a:cs typeface="Times New Roman"/>
              </a:rPr>
              <a:t> </a:t>
            </a:r>
            <a:r>
              <a:rPr sz="3300" b="1" spc="145" dirty="0">
                <a:solidFill>
                  <a:srgbClr val="FF3131"/>
                </a:solidFill>
                <a:latin typeface="Times New Roman"/>
                <a:cs typeface="Times New Roman"/>
              </a:rPr>
              <a:t>apply</a:t>
            </a:r>
            <a:r>
              <a:rPr sz="3300" b="1" spc="-25" dirty="0">
                <a:solidFill>
                  <a:srgbClr val="FF3131"/>
                </a:solidFill>
                <a:latin typeface="Times New Roman"/>
                <a:cs typeface="Times New Roman"/>
              </a:rPr>
              <a:t> </a:t>
            </a:r>
            <a:r>
              <a:rPr sz="3300" b="1" spc="434" dirty="0">
                <a:solidFill>
                  <a:srgbClr val="FF3131"/>
                </a:solidFill>
                <a:latin typeface="Times New Roman"/>
                <a:cs typeface="Times New Roman"/>
              </a:rPr>
              <a:t>-</a:t>
            </a:r>
            <a:r>
              <a:rPr sz="3300" b="1" dirty="0">
                <a:solidFill>
                  <a:srgbClr val="FF3131"/>
                </a:solidFill>
                <a:latin typeface="Times New Roman"/>
                <a:cs typeface="Times New Roman"/>
              </a:rPr>
              <a:t>f</a:t>
            </a:r>
            <a:r>
              <a:rPr sz="3300" b="1" spc="-25" dirty="0">
                <a:solidFill>
                  <a:srgbClr val="FF3131"/>
                </a:solidFill>
                <a:latin typeface="Times New Roman"/>
                <a:cs typeface="Times New Roman"/>
              </a:rPr>
              <a:t> </a:t>
            </a:r>
            <a:r>
              <a:rPr sz="3300" b="1" spc="165" dirty="0">
                <a:solidFill>
                  <a:srgbClr val="FF3131"/>
                </a:solidFill>
                <a:latin typeface="Times New Roman"/>
                <a:cs typeface="Times New Roman"/>
              </a:rPr>
              <a:t>pod.yml</a:t>
            </a:r>
            <a:endParaRPr sz="3300">
              <a:latin typeface="Times New Roman"/>
              <a:cs typeface="Times New Roman"/>
            </a:endParaRPr>
          </a:p>
        </p:txBody>
      </p:sp>
      <p:sp>
        <p:nvSpPr>
          <p:cNvPr id="5" name="object 5"/>
          <p:cNvSpPr txBox="1"/>
          <p:nvPr/>
        </p:nvSpPr>
        <p:spPr>
          <a:xfrm>
            <a:off x="469403" y="1749829"/>
            <a:ext cx="9119870" cy="4886960"/>
          </a:xfrm>
          <a:prstGeom prst="rect">
            <a:avLst/>
          </a:prstGeom>
        </p:spPr>
        <p:txBody>
          <a:bodyPr vert="horz" wrap="square" lIns="0" tIns="12700" rIns="0" bIns="0" rtlCol="0">
            <a:spAutoFit/>
          </a:bodyPr>
          <a:lstStyle/>
          <a:p>
            <a:pPr marL="12700" marR="5080">
              <a:lnSpc>
                <a:spcPct val="116300"/>
              </a:lnSpc>
              <a:spcBef>
                <a:spcPts val="100"/>
              </a:spcBef>
            </a:pPr>
            <a:r>
              <a:rPr sz="3600" spc="140" dirty="0">
                <a:solidFill>
                  <a:srgbClr val="2E377E"/>
                </a:solidFill>
                <a:latin typeface="Georgia"/>
                <a:cs typeface="Georgia"/>
              </a:rPr>
              <a:t>we</a:t>
            </a:r>
            <a:r>
              <a:rPr sz="3600" spc="-20" dirty="0">
                <a:solidFill>
                  <a:srgbClr val="2E377E"/>
                </a:solidFill>
                <a:latin typeface="Georgia"/>
                <a:cs typeface="Georgia"/>
              </a:rPr>
              <a:t> </a:t>
            </a:r>
            <a:r>
              <a:rPr sz="3600" spc="55" dirty="0">
                <a:solidFill>
                  <a:srgbClr val="2E377E"/>
                </a:solidFill>
                <a:latin typeface="Georgia"/>
                <a:cs typeface="Georgia"/>
              </a:rPr>
              <a:t>have</a:t>
            </a:r>
            <a:r>
              <a:rPr sz="3600" spc="-20" dirty="0">
                <a:solidFill>
                  <a:srgbClr val="2E377E"/>
                </a:solidFill>
                <a:latin typeface="Georgia"/>
                <a:cs typeface="Georgia"/>
              </a:rPr>
              <a:t> </a:t>
            </a:r>
            <a:r>
              <a:rPr sz="3600" spc="50" dirty="0">
                <a:solidFill>
                  <a:srgbClr val="2E377E"/>
                </a:solidFill>
                <a:latin typeface="Georgia"/>
                <a:cs typeface="Georgia"/>
              </a:rPr>
              <a:t>created</a:t>
            </a:r>
            <a:r>
              <a:rPr sz="3600" spc="-15" dirty="0">
                <a:solidFill>
                  <a:srgbClr val="2E377E"/>
                </a:solidFill>
                <a:latin typeface="Georgia"/>
                <a:cs typeface="Georgia"/>
              </a:rPr>
              <a:t> </a:t>
            </a:r>
            <a:r>
              <a:rPr sz="3600" dirty="0">
                <a:solidFill>
                  <a:srgbClr val="2E377E"/>
                </a:solidFill>
                <a:latin typeface="Georgia"/>
                <a:cs typeface="Georgia"/>
              </a:rPr>
              <a:t>four</a:t>
            </a:r>
            <a:r>
              <a:rPr sz="3600" spc="-20" dirty="0">
                <a:solidFill>
                  <a:srgbClr val="2E377E"/>
                </a:solidFill>
                <a:latin typeface="Georgia"/>
                <a:cs typeface="Georgia"/>
              </a:rPr>
              <a:t> </a:t>
            </a:r>
            <a:r>
              <a:rPr sz="3600" spc="85" dirty="0">
                <a:solidFill>
                  <a:srgbClr val="2E377E"/>
                </a:solidFill>
                <a:latin typeface="Georgia"/>
                <a:cs typeface="Georgia"/>
              </a:rPr>
              <a:t>types</a:t>
            </a:r>
            <a:r>
              <a:rPr sz="3600" spc="-15"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spc="-10" dirty="0">
                <a:solidFill>
                  <a:srgbClr val="2E377E"/>
                </a:solidFill>
                <a:latin typeface="Georgia"/>
                <a:cs typeface="Georgia"/>
              </a:rPr>
              <a:t>configMaps </a:t>
            </a:r>
            <a:r>
              <a:rPr sz="3600" spc="60" dirty="0">
                <a:solidFill>
                  <a:srgbClr val="2E377E"/>
                </a:solidFill>
                <a:latin typeface="Georgia"/>
                <a:cs typeface="Georgia"/>
              </a:rPr>
              <a:t>but</a:t>
            </a:r>
            <a:r>
              <a:rPr sz="3600" spc="-45" dirty="0">
                <a:solidFill>
                  <a:srgbClr val="2E377E"/>
                </a:solidFill>
                <a:latin typeface="Georgia"/>
                <a:cs typeface="Georgia"/>
              </a:rPr>
              <a:t> </a:t>
            </a:r>
            <a:r>
              <a:rPr sz="3600" dirty="0">
                <a:solidFill>
                  <a:srgbClr val="2E377E"/>
                </a:solidFill>
                <a:latin typeface="Georgia"/>
                <a:cs typeface="Georgia"/>
              </a:rPr>
              <a:t>here,</a:t>
            </a:r>
            <a:r>
              <a:rPr sz="3600" spc="-45" dirty="0">
                <a:solidFill>
                  <a:srgbClr val="2E377E"/>
                </a:solidFill>
                <a:latin typeface="Georgia"/>
                <a:cs typeface="Georgia"/>
              </a:rPr>
              <a:t> </a:t>
            </a:r>
            <a:r>
              <a:rPr sz="3600" spc="140" dirty="0">
                <a:solidFill>
                  <a:srgbClr val="2E377E"/>
                </a:solidFill>
                <a:latin typeface="Georgia"/>
                <a:cs typeface="Georgia"/>
              </a:rPr>
              <a:t>we</a:t>
            </a:r>
            <a:r>
              <a:rPr sz="3600" spc="-45" dirty="0">
                <a:solidFill>
                  <a:srgbClr val="2E377E"/>
                </a:solidFill>
                <a:latin typeface="Georgia"/>
                <a:cs typeface="Georgia"/>
              </a:rPr>
              <a:t> </a:t>
            </a:r>
            <a:r>
              <a:rPr sz="3600" spc="55" dirty="0">
                <a:solidFill>
                  <a:srgbClr val="2E377E"/>
                </a:solidFill>
                <a:latin typeface="Georgia"/>
                <a:cs typeface="Georgia"/>
              </a:rPr>
              <a:t>will</a:t>
            </a:r>
            <a:r>
              <a:rPr sz="3600" spc="-45" dirty="0">
                <a:solidFill>
                  <a:srgbClr val="2E377E"/>
                </a:solidFill>
                <a:latin typeface="Georgia"/>
                <a:cs typeface="Georgia"/>
              </a:rPr>
              <a:t> </a:t>
            </a:r>
            <a:r>
              <a:rPr sz="3600" dirty="0">
                <a:solidFill>
                  <a:srgbClr val="2E377E"/>
                </a:solidFill>
                <a:latin typeface="Georgia"/>
                <a:cs typeface="Georgia"/>
              </a:rPr>
              <a:t>learn</a:t>
            </a:r>
            <a:r>
              <a:rPr sz="3600" spc="-45" dirty="0">
                <a:solidFill>
                  <a:srgbClr val="2E377E"/>
                </a:solidFill>
                <a:latin typeface="Georgia"/>
                <a:cs typeface="Georgia"/>
              </a:rPr>
              <a:t> </a:t>
            </a:r>
            <a:r>
              <a:rPr sz="3600" spc="75" dirty="0">
                <a:solidFill>
                  <a:srgbClr val="2E377E"/>
                </a:solidFill>
                <a:latin typeface="Georgia"/>
                <a:cs typeface="Georgia"/>
              </a:rPr>
              <a:t>how</a:t>
            </a:r>
            <a:r>
              <a:rPr sz="3600" spc="-45" dirty="0">
                <a:solidFill>
                  <a:srgbClr val="2E377E"/>
                </a:solidFill>
                <a:latin typeface="Georgia"/>
                <a:cs typeface="Georgia"/>
              </a:rPr>
              <a:t> </a:t>
            </a:r>
            <a:r>
              <a:rPr sz="3600" spc="70" dirty="0">
                <a:solidFill>
                  <a:srgbClr val="2E377E"/>
                </a:solidFill>
                <a:latin typeface="Georgia"/>
                <a:cs typeface="Georgia"/>
              </a:rPr>
              <a:t>to</a:t>
            </a:r>
            <a:r>
              <a:rPr sz="3600" spc="-45" dirty="0">
                <a:solidFill>
                  <a:srgbClr val="2E377E"/>
                </a:solidFill>
                <a:latin typeface="Georgia"/>
                <a:cs typeface="Georgia"/>
              </a:rPr>
              <a:t> </a:t>
            </a:r>
            <a:r>
              <a:rPr sz="3600" spc="50" dirty="0">
                <a:solidFill>
                  <a:srgbClr val="2E377E"/>
                </a:solidFill>
                <a:latin typeface="Georgia"/>
                <a:cs typeface="Georgia"/>
              </a:rPr>
              <a:t>use</a:t>
            </a:r>
            <a:r>
              <a:rPr sz="3600" spc="-40" dirty="0">
                <a:solidFill>
                  <a:srgbClr val="2E377E"/>
                </a:solidFill>
                <a:latin typeface="Georgia"/>
                <a:cs typeface="Georgia"/>
              </a:rPr>
              <a:t> </a:t>
            </a:r>
            <a:r>
              <a:rPr sz="3600" spc="-10" dirty="0">
                <a:solidFill>
                  <a:srgbClr val="2E377E"/>
                </a:solidFill>
                <a:latin typeface="Georgia"/>
                <a:cs typeface="Georgia"/>
              </a:rPr>
              <a:t>those </a:t>
            </a:r>
            <a:r>
              <a:rPr sz="3600" dirty="0">
                <a:solidFill>
                  <a:srgbClr val="2E377E"/>
                </a:solidFill>
                <a:latin typeface="Georgia"/>
                <a:cs typeface="Georgia"/>
              </a:rPr>
              <a:t>configMaps</a:t>
            </a:r>
            <a:r>
              <a:rPr sz="3600" spc="70" dirty="0">
                <a:solidFill>
                  <a:srgbClr val="2E377E"/>
                </a:solidFill>
                <a:latin typeface="Georgia"/>
                <a:cs typeface="Georgia"/>
              </a:rPr>
              <a:t> </a:t>
            </a:r>
            <a:r>
              <a:rPr sz="3600" spc="95" dirty="0">
                <a:solidFill>
                  <a:srgbClr val="2E377E"/>
                </a:solidFill>
                <a:latin typeface="Georgia"/>
                <a:cs typeface="Georgia"/>
              </a:rPr>
              <a:t>by</a:t>
            </a:r>
            <a:r>
              <a:rPr sz="3600" spc="75" dirty="0">
                <a:solidFill>
                  <a:srgbClr val="2E377E"/>
                </a:solidFill>
                <a:latin typeface="Georgia"/>
                <a:cs typeface="Georgia"/>
              </a:rPr>
              <a:t> </a:t>
            </a:r>
            <a:r>
              <a:rPr sz="3600" dirty="0">
                <a:solidFill>
                  <a:srgbClr val="2E377E"/>
                </a:solidFill>
                <a:latin typeface="Georgia"/>
                <a:cs typeface="Georgia"/>
              </a:rPr>
              <a:t>injecting</a:t>
            </a:r>
            <a:r>
              <a:rPr sz="3600" spc="75" dirty="0">
                <a:solidFill>
                  <a:srgbClr val="2E377E"/>
                </a:solidFill>
                <a:latin typeface="Georgia"/>
                <a:cs typeface="Georgia"/>
              </a:rPr>
              <a:t> </a:t>
            </a:r>
            <a:r>
              <a:rPr sz="3600" dirty="0">
                <a:solidFill>
                  <a:srgbClr val="2E377E"/>
                </a:solidFill>
                <a:latin typeface="Georgia"/>
                <a:cs typeface="Georgia"/>
              </a:rPr>
              <a:t>configMaps</a:t>
            </a:r>
            <a:r>
              <a:rPr sz="3600" spc="70" dirty="0">
                <a:solidFill>
                  <a:srgbClr val="2E377E"/>
                </a:solidFill>
                <a:latin typeface="Georgia"/>
                <a:cs typeface="Georgia"/>
              </a:rPr>
              <a:t> </a:t>
            </a:r>
            <a:r>
              <a:rPr sz="3600" dirty="0">
                <a:solidFill>
                  <a:srgbClr val="2E377E"/>
                </a:solidFill>
                <a:latin typeface="Georgia"/>
                <a:cs typeface="Georgia"/>
              </a:rPr>
              <a:t>into</a:t>
            </a:r>
            <a:r>
              <a:rPr sz="3600" spc="75" dirty="0">
                <a:solidFill>
                  <a:srgbClr val="2E377E"/>
                </a:solidFill>
                <a:latin typeface="Georgia"/>
                <a:cs typeface="Georgia"/>
              </a:rPr>
              <a:t> </a:t>
            </a:r>
            <a:r>
              <a:rPr sz="3600" spc="35" dirty="0">
                <a:solidFill>
                  <a:srgbClr val="2E377E"/>
                </a:solidFill>
                <a:latin typeface="Georgia"/>
                <a:cs typeface="Georgia"/>
              </a:rPr>
              <a:t>the </a:t>
            </a:r>
            <a:r>
              <a:rPr sz="3600" spc="-10" dirty="0">
                <a:solidFill>
                  <a:srgbClr val="2E377E"/>
                </a:solidFill>
                <a:latin typeface="Georgia"/>
                <a:cs typeface="Georgia"/>
              </a:rPr>
              <a:t>pods.</a:t>
            </a:r>
            <a:endParaRPr sz="3600">
              <a:latin typeface="Georgia"/>
              <a:cs typeface="Georgia"/>
            </a:endParaRPr>
          </a:p>
          <a:p>
            <a:pPr marL="12700">
              <a:lnSpc>
                <a:spcPct val="100000"/>
              </a:lnSpc>
              <a:spcBef>
                <a:spcPts val="3810"/>
              </a:spcBef>
            </a:pPr>
            <a:r>
              <a:rPr sz="3600" dirty="0">
                <a:solidFill>
                  <a:srgbClr val="2E377E"/>
                </a:solidFill>
                <a:latin typeface="Georgia"/>
                <a:cs typeface="Georgia"/>
              </a:rPr>
              <a:t>Create</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file</a:t>
            </a:r>
            <a:r>
              <a:rPr sz="3600" spc="20" dirty="0">
                <a:solidFill>
                  <a:srgbClr val="2E377E"/>
                </a:solidFill>
                <a:latin typeface="Georgia"/>
                <a:cs typeface="Georgia"/>
              </a:rPr>
              <a:t> </a:t>
            </a:r>
            <a:r>
              <a:rPr sz="3600" dirty="0">
                <a:solidFill>
                  <a:srgbClr val="2E377E"/>
                </a:solidFill>
                <a:latin typeface="Georgia"/>
                <a:cs typeface="Georgia"/>
              </a:rPr>
              <a:t>for</a:t>
            </a:r>
            <a:r>
              <a:rPr sz="3600" spc="15"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spc="80" dirty="0">
                <a:solidFill>
                  <a:srgbClr val="2E377E"/>
                </a:solidFill>
                <a:latin typeface="Georgia"/>
                <a:cs typeface="Georgia"/>
              </a:rPr>
              <a:t>execute</a:t>
            </a:r>
            <a:r>
              <a:rPr sz="3600" spc="20" dirty="0">
                <a:solidFill>
                  <a:srgbClr val="2E377E"/>
                </a:solidFill>
                <a:latin typeface="Georgia"/>
                <a:cs typeface="Georgia"/>
              </a:rPr>
              <a:t> </a:t>
            </a:r>
            <a:r>
              <a:rPr sz="3600" spc="40" dirty="0">
                <a:solidFill>
                  <a:srgbClr val="2E377E"/>
                </a:solidFill>
                <a:latin typeface="Georgia"/>
                <a:cs typeface="Georgia"/>
              </a:rPr>
              <a:t>it</a:t>
            </a:r>
            <a:endParaRPr sz="3600">
              <a:latin typeface="Georgia"/>
              <a:cs typeface="Georgia"/>
            </a:endParaRPr>
          </a:p>
          <a:p>
            <a:pPr marL="12700" marR="514350">
              <a:lnSpc>
                <a:spcPct val="116300"/>
              </a:lnSpc>
            </a:pPr>
            <a:r>
              <a:rPr sz="3600" dirty="0">
                <a:solidFill>
                  <a:srgbClr val="2E377E"/>
                </a:solidFill>
                <a:latin typeface="Georgia"/>
                <a:cs typeface="Georgia"/>
              </a:rPr>
              <a:t>Inside</a:t>
            </a:r>
            <a:r>
              <a:rPr sz="3600" spc="-10"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pod.yml</a:t>
            </a:r>
            <a:r>
              <a:rPr sz="3600" spc="-5" dirty="0">
                <a:solidFill>
                  <a:srgbClr val="2E377E"/>
                </a:solidFill>
                <a:latin typeface="Georgia"/>
                <a:cs typeface="Georgia"/>
              </a:rPr>
              <a:t> </a:t>
            </a:r>
            <a:r>
              <a:rPr sz="3600" spc="140" dirty="0">
                <a:solidFill>
                  <a:srgbClr val="2E377E"/>
                </a:solidFill>
                <a:latin typeface="Georgia"/>
                <a:cs typeface="Georgia"/>
              </a:rPr>
              <a:t>we</a:t>
            </a:r>
            <a:r>
              <a:rPr sz="3600" spc="-10" dirty="0">
                <a:solidFill>
                  <a:srgbClr val="2E377E"/>
                </a:solidFill>
                <a:latin typeface="Georgia"/>
                <a:cs typeface="Georgia"/>
              </a:rPr>
              <a:t> </a:t>
            </a:r>
            <a:r>
              <a:rPr sz="3600" spc="55" dirty="0">
                <a:solidFill>
                  <a:srgbClr val="2E377E"/>
                </a:solidFill>
                <a:latin typeface="Georgia"/>
                <a:cs typeface="Georgia"/>
              </a:rPr>
              <a:t>have</a:t>
            </a:r>
            <a:r>
              <a:rPr sz="3600" spc="-5"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declare</a:t>
            </a:r>
            <a:r>
              <a:rPr sz="3600" spc="-5" dirty="0">
                <a:solidFill>
                  <a:srgbClr val="2E377E"/>
                </a:solidFill>
                <a:latin typeface="Georgia"/>
                <a:cs typeface="Georgia"/>
              </a:rPr>
              <a:t> </a:t>
            </a:r>
            <a:r>
              <a:rPr sz="3600" spc="40" dirty="0">
                <a:solidFill>
                  <a:srgbClr val="2E377E"/>
                </a:solidFill>
                <a:latin typeface="Georgia"/>
                <a:cs typeface="Georgia"/>
              </a:rPr>
              <a:t>any </a:t>
            </a:r>
            <a:r>
              <a:rPr sz="3600" spc="45" dirty="0">
                <a:solidFill>
                  <a:srgbClr val="2E377E"/>
                </a:solidFill>
                <a:latin typeface="Georgia"/>
                <a:cs typeface="Georgia"/>
              </a:rPr>
              <a:t>valuefrom</a:t>
            </a:r>
            <a:r>
              <a:rPr sz="3600" spc="10" dirty="0">
                <a:solidFill>
                  <a:srgbClr val="2E377E"/>
                </a:solidFill>
                <a:latin typeface="Georgia"/>
                <a:cs typeface="Georgia"/>
              </a:rPr>
              <a:t> </a:t>
            </a:r>
            <a:r>
              <a:rPr sz="3600" dirty="0">
                <a:solidFill>
                  <a:srgbClr val="2E377E"/>
                </a:solidFill>
                <a:latin typeface="Georgia"/>
                <a:cs typeface="Georgia"/>
              </a:rPr>
              <a:t>our</a:t>
            </a:r>
            <a:r>
              <a:rPr sz="3600" spc="15" dirty="0">
                <a:solidFill>
                  <a:srgbClr val="2E377E"/>
                </a:solidFill>
                <a:latin typeface="Georgia"/>
                <a:cs typeface="Georgia"/>
              </a:rPr>
              <a:t> </a:t>
            </a:r>
            <a:r>
              <a:rPr sz="3600" spc="-10" dirty="0">
                <a:solidFill>
                  <a:srgbClr val="2E377E"/>
                </a:solidFill>
                <a:latin typeface="Georgia"/>
                <a:cs typeface="Georgia"/>
              </a:rPr>
              <a:t>configmap</a:t>
            </a:r>
            <a:endParaRPr sz="3600">
              <a:latin typeface="Georgia"/>
              <a:cs typeface="Georgia"/>
            </a:endParaRPr>
          </a:p>
        </p:txBody>
      </p:sp>
      <p:sp>
        <p:nvSpPr>
          <p:cNvPr id="6" name="object 6"/>
          <p:cNvSpPr txBox="1"/>
          <p:nvPr/>
        </p:nvSpPr>
        <p:spPr>
          <a:xfrm>
            <a:off x="469403" y="7180595"/>
            <a:ext cx="9779635" cy="257810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After</a:t>
            </a:r>
            <a:r>
              <a:rPr sz="3600" spc="25" dirty="0">
                <a:solidFill>
                  <a:srgbClr val="2E377E"/>
                </a:solidFill>
                <a:latin typeface="Georgia"/>
                <a:cs typeface="Georgia"/>
              </a:rPr>
              <a:t> </a:t>
            </a:r>
            <a:r>
              <a:rPr sz="3600" dirty="0">
                <a:solidFill>
                  <a:srgbClr val="2E377E"/>
                </a:solidFill>
                <a:latin typeface="Georgia"/>
                <a:cs typeface="Georgia"/>
              </a:rPr>
              <a:t>creating</a:t>
            </a:r>
            <a:r>
              <a:rPr sz="3600" spc="2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spc="65" dirty="0">
                <a:solidFill>
                  <a:srgbClr val="2E377E"/>
                </a:solidFill>
                <a:latin typeface="Georgia"/>
                <a:cs typeface="Georgia"/>
              </a:rPr>
              <a:t>enter</a:t>
            </a:r>
            <a:r>
              <a:rPr sz="3600" spc="30" dirty="0">
                <a:solidFill>
                  <a:srgbClr val="2E377E"/>
                </a:solidFill>
                <a:latin typeface="Georgia"/>
                <a:cs typeface="Georgia"/>
              </a:rPr>
              <a:t> </a:t>
            </a:r>
            <a:r>
              <a:rPr sz="3600" dirty="0">
                <a:solidFill>
                  <a:srgbClr val="2E377E"/>
                </a:solidFill>
                <a:latin typeface="Georgia"/>
                <a:cs typeface="Georgia"/>
              </a:rPr>
              <a:t>into</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pod</a:t>
            </a:r>
            <a:r>
              <a:rPr sz="3600" spc="30" dirty="0">
                <a:solidFill>
                  <a:srgbClr val="2E377E"/>
                </a:solidFill>
                <a:latin typeface="Georgia"/>
                <a:cs typeface="Georgia"/>
              </a:rPr>
              <a:t> </a:t>
            </a:r>
            <a:r>
              <a:rPr sz="3600" spc="-10" dirty="0">
                <a:solidFill>
                  <a:srgbClr val="2E377E"/>
                </a:solidFill>
                <a:latin typeface="Georgia"/>
                <a:cs typeface="Georgia"/>
              </a:rPr>
              <a:t>using</a:t>
            </a:r>
            <a:endParaRPr sz="3600">
              <a:latin typeface="Georgia"/>
              <a:cs typeface="Georgia"/>
            </a:endParaRPr>
          </a:p>
          <a:p>
            <a:pPr marL="12700">
              <a:lnSpc>
                <a:spcPct val="100000"/>
              </a:lnSpc>
              <a:spcBef>
                <a:spcPts val="705"/>
              </a:spcBef>
            </a:pPr>
            <a:r>
              <a:rPr sz="3600" spc="204" dirty="0">
                <a:solidFill>
                  <a:srgbClr val="2E377E"/>
                </a:solidFill>
                <a:latin typeface="Times New Roman"/>
                <a:cs typeface="Times New Roman"/>
              </a:rPr>
              <a:t>kubectl</a:t>
            </a:r>
            <a:r>
              <a:rPr sz="3600" spc="-85" dirty="0">
                <a:solidFill>
                  <a:srgbClr val="2E377E"/>
                </a:solidFill>
                <a:latin typeface="Times New Roman"/>
                <a:cs typeface="Times New Roman"/>
              </a:rPr>
              <a:t> </a:t>
            </a:r>
            <a:r>
              <a:rPr sz="3600" spc="155" dirty="0">
                <a:solidFill>
                  <a:srgbClr val="2E377E"/>
                </a:solidFill>
                <a:latin typeface="Times New Roman"/>
                <a:cs typeface="Times New Roman"/>
              </a:rPr>
              <a:t>exec</a:t>
            </a:r>
            <a:r>
              <a:rPr sz="3600" spc="-85"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210" dirty="0">
                <a:solidFill>
                  <a:srgbClr val="2E377E"/>
                </a:solidFill>
                <a:latin typeface="Times New Roman"/>
                <a:cs typeface="Times New Roman"/>
              </a:rPr>
              <a:t>it</a:t>
            </a:r>
            <a:r>
              <a:rPr sz="3600" spc="-80" dirty="0">
                <a:solidFill>
                  <a:srgbClr val="2E377E"/>
                </a:solidFill>
                <a:latin typeface="Times New Roman"/>
                <a:cs typeface="Times New Roman"/>
              </a:rPr>
              <a:t> </a:t>
            </a:r>
            <a:r>
              <a:rPr sz="3600" spc="305" dirty="0">
                <a:solidFill>
                  <a:srgbClr val="2E377E"/>
                </a:solidFill>
                <a:latin typeface="Times New Roman"/>
                <a:cs typeface="Times New Roman"/>
              </a:rPr>
              <a:t>pod_name</a:t>
            </a:r>
            <a:r>
              <a:rPr sz="3600" spc="-85" dirty="0">
                <a:solidFill>
                  <a:srgbClr val="2E377E"/>
                </a:solidFill>
                <a:latin typeface="Times New Roman"/>
                <a:cs typeface="Times New Roman"/>
              </a:rPr>
              <a:t> </a:t>
            </a:r>
            <a:r>
              <a:rPr sz="3600" spc="245" dirty="0">
                <a:solidFill>
                  <a:srgbClr val="2E377E"/>
                </a:solidFill>
                <a:latin typeface="Times New Roman"/>
                <a:cs typeface="Times New Roman"/>
              </a:rPr>
              <a:t>/bin/bash</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Once</a:t>
            </a:r>
            <a:r>
              <a:rPr sz="3600" spc="-5" dirty="0">
                <a:solidFill>
                  <a:srgbClr val="2E377E"/>
                </a:solidFill>
                <a:latin typeface="Georgia"/>
                <a:cs typeface="Georgia"/>
              </a:rPr>
              <a:t> </a:t>
            </a:r>
            <a:r>
              <a:rPr sz="3600" spc="90" dirty="0">
                <a:solidFill>
                  <a:srgbClr val="2E377E"/>
                </a:solidFill>
                <a:latin typeface="Georgia"/>
                <a:cs typeface="Georgia"/>
              </a:rPr>
              <a:t>you</a:t>
            </a:r>
            <a:r>
              <a:rPr sz="3600" dirty="0">
                <a:solidFill>
                  <a:srgbClr val="2E377E"/>
                </a:solidFill>
                <a:latin typeface="Georgia"/>
                <a:cs typeface="Georgia"/>
              </a:rPr>
              <a:t> </a:t>
            </a:r>
            <a:r>
              <a:rPr sz="3600" spc="55" dirty="0">
                <a:solidFill>
                  <a:srgbClr val="2E377E"/>
                </a:solidFill>
                <a:latin typeface="Georgia"/>
                <a:cs typeface="Georgia"/>
              </a:rPr>
              <a:t>entered</a:t>
            </a:r>
            <a:r>
              <a:rPr sz="3600" dirty="0">
                <a:solidFill>
                  <a:srgbClr val="2E377E"/>
                </a:solidFill>
                <a:latin typeface="Georgia"/>
                <a:cs typeface="Georgia"/>
              </a:rPr>
              <a:t> into</a:t>
            </a:r>
            <a:r>
              <a:rPr sz="3600" spc="-5" dirty="0">
                <a:solidFill>
                  <a:srgbClr val="2E377E"/>
                </a:solidFill>
                <a:latin typeface="Georgia"/>
                <a:cs typeface="Georgia"/>
              </a:rPr>
              <a:t> </a:t>
            </a:r>
            <a:r>
              <a:rPr sz="3600" dirty="0">
                <a:solidFill>
                  <a:srgbClr val="2E377E"/>
                </a:solidFill>
                <a:latin typeface="Georgia"/>
                <a:cs typeface="Georgia"/>
              </a:rPr>
              <a:t>pod </a:t>
            </a:r>
            <a:r>
              <a:rPr sz="3600" spc="70" dirty="0">
                <a:solidFill>
                  <a:srgbClr val="2E377E"/>
                </a:solidFill>
                <a:latin typeface="Georgia"/>
                <a:cs typeface="Georgia"/>
              </a:rPr>
              <a:t>give</a:t>
            </a:r>
            <a:r>
              <a:rPr sz="3600" dirty="0">
                <a:solidFill>
                  <a:srgbClr val="2E377E"/>
                </a:solidFill>
                <a:latin typeface="Georgia"/>
                <a:cs typeface="Georgia"/>
              </a:rPr>
              <a:t> a</a:t>
            </a:r>
            <a:r>
              <a:rPr sz="3600" spc="-5" dirty="0">
                <a:solidFill>
                  <a:srgbClr val="2E377E"/>
                </a:solidFill>
                <a:latin typeface="Georgia"/>
                <a:cs typeface="Georgia"/>
              </a:rPr>
              <a:t> </a:t>
            </a:r>
            <a:r>
              <a:rPr sz="3600" dirty="0">
                <a:solidFill>
                  <a:srgbClr val="2E377E"/>
                </a:solidFill>
                <a:latin typeface="Georgia"/>
                <a:cs typeface="Georgia"/>
              </a:rPr>
              <a:t>command</a:t>
            </a:r>
            <a:r>
              <a:rPr sz="3600" spc="5" dirty="0">
                <a:solidFill>
                  <a:srgbClr val="2E377E"/>
                </a:solidFill>
                <a:latin typeface="Georgia"/>
                <a:cs typeface="Georgia"/>
              </a:rPr>
              <a:t> </a:t>
            </a:r>
            <a:r>
              <a:rPr sz="3600" spc="210" dirty="0">
                <a:solidFill>
                  <a:srgbClr val="2E377E"/>
                </a:solidFill>
                <a:latin typeface="Times New Roman"/>
                <a:cs typeface="Times New Roman"/>
              </a:rPr>
              <a:t>env</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That</a:t>
            </a:r>
            <a:r>
              <a:rPr sz="3600" spc="15"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dirty="0">
                <a:solidFill>
                  <a:srgbClr val="2E377E"/>
                </a:solidFill>
                <a:latin typeface="Georgia"/>
                <a:cs typeface="Georgia"/>
              </a:rPr>
              <a:t>print</a:t>
            </a:r>
            <a:r>
              <a:rPr sz="3600" spc="1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list</a:t>
            </a:r>
            <a:r>
              <a:rPr sz="3600" spc="15"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10" dirty="0">
                <a:solidFill>
                  <a:srgbClr val="2E377E"/>
                </a:solidFill>
                <a:latin typeface="Georgia"/>
                <a:cs typeface="Georgia"/>
              </a:rPr>
              <a:t>environments.</a:t>
            </a:r>
            <a:endParaRPr sz="3600">
              <a:latin typeface="Georgia"/>
              <a:cs typeface="Georgia"/>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942894" y="1548794"/>
            <a:ext cx="6162674" cy="8420099"/>
          </a:xfrm>
          <a:prstGeom prst="rect">
            <a:avLst/>
          </a:prstGeom>
        </p:spPr>
      </p:pic>
      <p:sp>
        <p:nvSpPr>
          <p:cNvPr id="3" name="object 3"/>
          <p:cNvSpPr txBox="1">
            <a:spLocks noGrp="1"/>
          </p:cNvSpPr>
          <p:nvPr>
            <p:ph type="title"/>
          </p:nvPr>
        </p:nvSpPr>
        <p:spPr>
          <a:xfrm>
            <a:off x="469403" y="557275"/>
            <a:ext cx="16720819" cy="787400"/>
          </a:xfrm>
          <a:prstGeom prst="rect">
            <a:avLst/>
          </a:prstGeom>
        </p:spPr>
        <p:txBody>
          <a:bodyPr vert="horz" wrap="square" lIns="0" tIns="12700" rIns="0" bIns="0" rtlCol="0">
            <a:spAutoFit/>
          </a:bodyPr>
          <a:lstStyle/>
          <a:p>
            <a:pPr marL="12700">
              <a:lnSpc>
                <a:spcPct val="100000"/>
              </a:lnSpc>
              <a:spcBef>
                <a:spcPts val="100"/>
              </a:spcBef>
            </a:pPr>
            <a:r>
              <a:rPr spc="110" dirty="0">
                <a:solidFill>
                  <a:srgbClr val="FF3131"/>
                </a:solidFill>
              </a:rPr>
              <a:t>Injecting</a:t>
            </a:r>
            <a:r>
              <a:rPr spc="-75" dirty="0">
                <a:solidFill>
                  <a:srgbClr val="FF3131"/>
                </a:solidFill>
              </a:rPr>
              <a:t> </a:t>
            </a:r>
            <a:r>
              <a:rPr spc="235" dirty="0">
                <a:solidFill>
                  <a:srgbClr val="FF3131"/>
                </a:solidFill>
              </a:rPr>
              <a:t>multiple</a:t>
            </a:r>
            <a:r>
              <a:rPr spc="-75" dirty="0">
                <a:solidFill>
                  <a:srgbClr val="FF3131"/>
                </a:solidFill>
              </a:rPr>
              <a:t> </a:t>
            </a:r>
            <a:r>
              <a:rPr dirty="0">
                <a:solidFill>
                  <a:srgbClr val="FF3131"/>
                </a:solidFill>
              </a:rPr>
              <a:t>CMs</a:t>
            </a:r>
            <a:r>
              <a:rPr spc="-75" dirty="0">
                <a:solidFill>
                  <a:srgbClr val="FF3131"/>
                </a:solidFill>
              </a:rPr>
              <a:t> </a:t>
            </a:r>
            <a:r>
              <a:rPr spc="295" dirty="0">
                <a:solidFill>
                  <a:srgbClr val="FF3131"/>
                </a:solidFill>
              </a:rPr>
              <a:t>with</a:t>
            </a:r>
            <a:r>
              <a:rPr spc="-70" dirty="0">
                <a:solidFill>
                  <a:srgbClr val="FF3131"/>
                </a:solidFill>
              </a:rPr>
              <a:t> </a:t>
            </a:r>
            <a:r>
              <a:rPr spc="190" dirty="0">
                <a:solidFill>
                  <a:srgbClr val="FF3131"/>
                </a:solidFill>
              </a:rPr>
              <a:t>specific</a:t>
            </a:r>
            <a:r>
              <a:rPr spc="-75" dirty="0">
                <a:solidFill>
                  <a:srgbClr val="FF3131"/>
                </a:solidFill>
              </a:rPr>
              <a:t> </a:t>
            </a:r>
            <a:r>
              <a:rPr spc="270" dirty="0">
                <a:solidFill>
                  <a:srgbClr val="FF3131"/>
                </a:solidFill>
              </a:rPr>
              <a:t>and</a:t>
            </a:r>
            <a:r>
              <a:rPr spc="-75" dirty="0">
                <a:solidFill>
                  <a:srgbClr val="FF3131"/>
                </a:solidFill>
              </a:rPr>
              <a:t> </a:t>
            </a:r>
            <a:r>
              <a:rPr spc="235" dirty="0">
                <a:solidFill>
                  <a:srgbClr val="FF3131"/>
                </a:solidFill>
              </a:rPr>
              <a:t>multiple</a:t>
            </a:r>
            <a:r>
              <a:rPr spc="-75" dirty="0">
                <a:solidFill>
                  <a:srgbClr val="FF3131"/>
                </a:solidFill>
              </a:rPr>
              <a:t> </a:t>
            </a:r>
            <a:r>
              <a:rPr spc="114" dirty="0">
                <a:solidFill>
                  <a:srgbClr val="FF3131"/>
                </a:solidFill>
              </a:rPr>
              <a:t>values:</a:t>
            </a:r>
          </a:p>
        </p:txBody>
      </p:sp>
      <p:sp>
        <p:nvSpPr>
          <p:cNvPr id="4" name="object 4"/>
          <p:cNvSpPr txBox="1"/>
          <p:nvPr/>
        </p:nvSpPr>
        <p:spPr>
          <a:xfrm>
            <a:off x="469403" y="1749832"/>
            <a:ext cx="9825990" cy="6918325"/>
          </a:xfrm>
          <a:prstGeom prst="rect">
            <a:avLst/>
          </a:prstGeom>
        </p:spPr>
        <p:txBody>
          <a:bodyPr vert="horz" wrap="square" lIns="0" tIns="12700" rIns="0" bIns="0" rtlCol="0">
            <a:spAutoFit/>
          </a:bodyPr>
          <a:lstStyle/>
          <a:p>
            <a:pPr marL="12700" marR="1223010">
              <a:lnSpc>
                <a:spcPct val="116300"/>
              </a:lnSpc>
              <a:spcBef>
                <a:spcPts val="100"/>
              </a:spcBef>
            </a:pPr>
            <a:r>
              <a:rPr sz="3600" dirty="0">
                <a:solidFill>
                  <a:srgbClr val="2E377E"/>
                </a:solidFill>
                <a:latin typeface="Georgia"/>
                <a:cs typeface="Georgia"/>
              </a:rPr>
              <a:t>Lets</a:t>
            </a:r>
            <a:r>
              <a:rPr sz="3600" spc="40" dirty="0">
                <a:solidFill>
                  <a:srgbClr val="2E377E"/>
                </a:solidFill>
                <a:latin typeface="Georgia"/>
                <a:cs typeface="Georgia"/>
              </a:rPr>
              <a:t> </a:t>
            </a:r>
            <a:r>
              <a:rPr sz="3600" dirty="0">
                <a:solidFill>
                  <a:srgbClr val="2E377E"/>
                </a:solidFill>
                <a:latin typeface="Georgia"/>
                <a:cs typeface="Georgia"/>
              </a:rPr>
              <a:t>add</a:t>
            </a:r>
            <a:r>
              <a:rPr sz="3600" spc="45" dirty="0">
                <a:solidFill>
                  <a:srgbClr val="2E377E"/>
                </a:solidFill>
                <a:latin typeface="Georgia"/>
                <a:cs typeface="Georgia"/>
              </a:rPr>
              <a:t> </a:t>
            </a:r>
            <a:r>
              <a:rPr sz="3600" dirty="0">
                <a:solidFill>
                  <a:srgbClr val="2E377E"/>
                </a:solidFill>
                <a:latin typeface="Georgia"/>
                <a:cs typeface="Georgia"/>
              </a:rPr>
              <a:t>multiple</a:t>
            </a:r>
            <a:r>
              <a:rPr sz="3600" spc="45" dirty="0">
                <a:solidFill>
                  <a:srgbClr val="2E377E"/>
                </a:solidFill>
                <a:latin typeface="Georgia"/>
                <a:cs typeface="Georgia"/>
              </a:rPr>
              <a:t> </a:t>
            </a:r>
            <a:r>
              <a:rPr sz="3600" spc="125" dirty="0">
                <a:solidFill>
                  <a:srgbClr val="2E377E"/>
                </a:solidFill>
                <a:latin typeface="Georgia"/>
                <a:cs typeface="Georgia"/>
              </a:rPr>
              <a:t>key</a:t>
            </a:r>
            <a:r>
              <a:rPr sz="3600" spc="45" dirty="0">
                <a:solidFill>
                  <a:srgbClr val="2E377E"/>
                </a:solidFill>
                <a:latin typeface="Georgia"/>
                <a:cs typeface="Georgia"/>
              </a:rPr>
              <a:t> </a:t>
            </a:r>
            <a:r>
              <a:rPr sz="3600" dirty="0">
                <a:solidFill>
                  <a:srgbClr val="2E377E"/>
                </a:solidFill>
                <a:latin typeface="Georgia"/>
                <a:cs typeface="Georgia"/>
              </a:rPr>
              <a:t>pairs</a:t>
            </a:r>
            <a:r>
              <a:rPr sz="3600" spc="40" dirty="0">
                <a:solidFill>
                  <a:srgbClr val="2E377E"/>
                </a:solidFill>
                <a:latin typeface="Georgia"/>
                <a:cs typeface="Georgia"/>
              </a:rPr>
              <a:t> </a:t>
            </a:r>
            <a:r>
              <a:rPr sz="3600" dirty="0">
                <a:solidFill>
                  <a:srgbClr val="2E377E"/>
                </a:solidFill>
                <a:latin typeface="Georgia"/>
                <a:cs typeface="Georgia"/>
              </a:rPr>
              <a:t>from</a:t>
            </a:r>
            <a:r>
              <a:rPr sz="3600" spc="45" dirty="0">
                <a:solidFill>
                  <a:srgbClr val="2E377E"/>
                </a:solidFill>
                <a:latin typeface="Georgia"/>
                <a:cs typeface="Georgia"/>
              </a:rPr>
              <a:t> </a:t>
            </a:r>
            <a:r>
              <a:rPr sz="3600" spc="40" dirty="0">
                <a:solidFill>
                  <a:srgbClr val="2E377E"/>
                </a:solidFill>
                <a:latin typeface="Georgia"/>
                <a:cs typeface="Georgia"/>
              </a:rPr>
              <a:t>different </a:t>
            </a:r>
            <a:r>
              <a:rPr sz="3600" spc="-10" dirty="0">
                <a:solidFill>
                  <a:srgbClr val="2E377E"/>
                </a:solidFill>
                <a:latin typeface="Georgia"/>
                <a:cs typeface="Georgia"/>
              </a:rPr>
              <a:t>files.</a:t>
            </a:r>
            <a:endParaRPr sz="3600">
              <a:latin typeface="Georgia"/>
              <a:cs typeface="Georgia"/>
            </a:endParaRPr>
          </a:p>
          <a:p>
            <a:pPr>
              <a:lnSpc>
                <a:spcPct val="100000"/>
              </a:lnSpc>
              <a:spcBef>
                <a:spcPts val="2690"/>
              </a:spcBef>
            </a:pPr>
            <a:endParaRPr sz="3600">
              <a:latin typeface="Georgia"/>
              <a:cs typeface="Georgia"/>
            </a:endParaRPr>
          </a:p>
          <a:p>
            <a:pPr marL="12700">
              <a:lnSpc>
                <a:spcPct val="100000"/>
              </a:lnSpc>
            </a:pPr>
            <a:r>
              <a:rPr sz="3600" dirty="0">
                <a:solidFill>
                  <a:srgbClr val="2E377E"/>
                </a:solidFill>
                <a:latin typeface="Georgia"/>
                <a:cs typeface="Georgia"/>
              </a:rPr>
              <a:t>Create</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file</a:t>
            </a:r>
            <a:r>
              <a:rPr sz="3600" spc="20" dirty="0">
                <a:solidFill>
                  <a:srgbClr val="2E377E"/>
                </a:solidFill>
                <a:latin typeface="Georgia"/>
                <a:cs typeface="Georgia"/>
              </a:rPr>
              <a:t> </a:t>
            </a:r>
            <a:r>
              <a:rPr sz="3600" dirty="0">
                <a:solidFill>
                  <a:srgbClr val="2E377E"/>
                </a:solidFill>
                <a:latin typeface="Georgia"/>
                <a:cs typeface="Georgia"/>
              </a:rPr>
              <a:t>for</a:t>
            </a:r>
            <a:r>
              <a:rPr sz="3600" spc="15"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spc="80" dirty="0">
                <a:solidFill>
                  <a:srgbClr val="2E377E"/>
                </a:solidFill>
                <a:latin typeface="Georgia"/>
                <a:cs typeface="Georgia"/>
              </a:rPr>
              <a:t>execute</a:t>
            </a:r>
            <a:r>
              <a:rPr sz="3600" spc="20" dirty="0">
                <a:solidFill>
                  <a:srgbClr val="2E377E"/>
                </a:solidFill>
                <a:latin typeface="Georgia"/>
                <a:cs typeface="Georgia"/>
              </a:rPr>
              <a:t> </a:t>
            </a:r>
            <a:r>
              <a:rPr sz="3600" spc="40" dirty="0">
                <a:solidFill>
                  <a:srgbClr val="2E377E"/>
                </a:solidFill>
                <a:latin typeface="Georgia"/>
                <a:cs typeface="Georgia"/>
              </a:rPr>
              <a:t>it</a:t>
            </a:r>
            <a:endParaRPr sz="3600">
              <a:latin typeface="Georgia"/>
              <a:cs typeface="Georgia"/>
            </a:endParaRPr>
          </a:p>
          <a:p>
            <a:pPr marL="12700" marR="5080">
              <a:lnSpc>
                <a:spcPct val="116300"/>
              </a:lnSpc>
              <a:spcBef>
                <a:spcPts val="5"/>
              </a:spcBef>
            </a:pPr>
            <a:r>
              <a:rPr sz="3600" dirty="0">
                <a:solidFill>
                  <a:srgbClr val="2E377E"/>
                </a:solidFill>
                <a:latin typeface="Georgia"/>
                <a:cs typeface="Georgia"/>
              </a:rPr>
              <a:t>Inside</a:t>
            </a:r>
            <a:r>
              <a:rPr sz="3600" spc="-15"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pod.yml</a:t>
            </a:r>
            <a:r>
              <a:rPr sz="3600" spc="-15" dirty="0">
                <a:solidFill>
                  <a:srgbClr val="2E377E"/>
                </a:solidFill>
                <a:latin typeface="Georgia"/>
                <a:cs typeface="Georgia"/>
              </a:rPr>
              <a:t> </a:t>
            </a:r>
            <a:r>
              <a:rPr sz="3600" spc="140" dirty="0">
                <a:solidFill>
                  <a:srgbClr val="2E377E"/>
                </a:solidFill>
                <a:latin typeface="Georgia"/>
                <a:cs typeface="Georgia"/>
              </a:rPr>
              <a:t>we</a:t>
            </a:r>
            <a:r>
              <a:rPr sz="3600" spc="-20" dirty="0">
                <a:solidFill>
                  <a:srgbClr val="2E377E"/>
                </a:solidFill>
                <a:latin typeface="Georgia"/>
                <a:cs typeface="Georgia"/>
              </a:rPr>
              <a:t> </a:t>
            </a:r>
            <a:r>
              <a:rPr sz="3600" spc="55" dirty="0">
                <a:solidFill>
                  <a:srgbClr val="2E377E"/>
                </a:solidFill>
                <a:latin typeface="Georgia"/>
                <a:cs typeface="Georgia"/>
              </a:rPr>
              <a:t>have</a:t>
            </a:r>
            <a:r>
              <a:rPr sz="3600" spc="-15"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declare</a:t>
            </a:r>
            <a:r>
              <a:rPr sz="3600" spc="-15" dirty="0">
                <a:solidFill>
                  <a:srgbClr val="2E377E"/>
                </a:solidFill>
                <a:latin typeface="Georgia"/>
                <a:cs typeface="Georgia"/>
              </a:rPr>
              <a:t> </a:t>
            </a:r>
            <a:r>
              <a:rPr sz="3600" spc="65" dirty="0">
                <a:solidFill>
                  <a:srgbClr val="2E377E"/>
                </a:solidFill>
                <a:latin typeface="Georgia"/>
                <a:cs typeface="Georgia"/>
              </a:rPr>
              <a:t>any</a:t>
            </a:r>
            <a:r>
              <a:rPr sz="3600" spc="-15" dirty="0">
                <a:solidFill>
                  <a:srgbClr val="2E377E"/>
                </a:solidFill>
                <a:latin typeface="Georgia"/>
                <a:cs typeface="Georgia"/>
              </a:rPr>
              <a:t> </a:t>
            </a:r>
            <a:r>
              <a:rPr sz="3600" spc="35" dirty="0">
                <a:solidFill>
                  <a:srgbClr val="2E377E"/>
                </a:solidFill>
                <a:latin typeface="Georgia"/>
                <a:cs typeface="Georgia"/>
              </a:rPr>
              <a:t>value </a:t>
            </a:r>
            <a:r>
              <a:rPr sz="3600" dirty="0">
                <a:solidFill>
                  <a:srgbClr val="2E377E"/>
                </a:solidFill>
                <a:latin typeface="Georgia"/>
                <a:cs typeface="Georgia"/>
              </a:rPr>
              <a:t>from</a:t>
            </a:r>
            <a:r>
              <a:rPr sz="3600" spc="5" dirty="0">
                <a:solidFill>
                  <a:srgbClr val="2E377E"/>
                </a:solidFill>
                <a:latin typeface="Georgia"/>
                <a:cs typeface="Georgia"/>
              </a:rPr>
              <a:t> </a:t>
            </a:r>
            <a:r>
              <a:rPr sz="3600" spc="65" dirty="0">
                <a:solidFill>
                  <a:srgbClr val="2E377E"/>
                </a:solidFill>
                <a:latin typeface="Georgia"/>
                <a:cs typeface="Georgia"/>
              </a:rPr>
              <a:t>any</a:t>
            </a:r>
            <a:r>
              <a:rPr sz="3600" spc="10" dirty="0">
                <a:solidFill>
                  <a:srgbClr val="2E377E"/>
                </a:solidFill>
                <a:latin typeface="Georgia"/>
                <a:cs typeface="Georgia"/>
              </a:rPr>
              <a:t> </a:t>
            </a:r>
            <a:r>
              <a:rPr sz="3600" spc="-10" dirty="0">
                <a:solidFill>
                  <a:srgbClr val="2E377E"/>
                </a:solidFill>
                <a:latin typeface="Georgia"/>
                <a:cs typeface="Georgia"/>
              </a:rPr>
              <a:t>configmaps</a:t>
            </a:r>
            <a:endParaRPr sz="3600">
              <a:latin typeface="Georgia"/>
              <a:cs typeface="Georgia"/>
            </a:endParaRPr>
          </a:p>
          <a:p>
            <a:pPr marL="12700">
              <a:lnSpc>
                <a:spcPct val="100000"/>
              </a:lnSpc>
              <a:spcBef>
                <a:spcPts val="3675"/>
              </a:spcBef>
            </a:pPr>
            <a:r>
              <a:rPr sz="3600" dirty="0">
                <a:solidFill>
                  <a:srgbClr val="2E377E"/>
                </a:solidFill>
                <a:latin typeface="Georgia"/>
                <a:cs typeface="Georgia"/>
              </a:rPr>
              <a:t>After</a:t>
            </a:r>
            <a:r>
              <a:rPr sz="3600" spc="25" dirty="0">
                <a:solidFill>
                  <a:srgbClr val="2E377E"/>
                </a:solidFill>
                <a:latin typeface="Georgia"/>
                <a:cs typeface="Georgia"/>
              </a:rPr>
              <a:t> </a:t>
            </a:r>
            <a:r>
              <a:rPr sz="3600" dirty="0">
                <a:solidFill>
                  <a:srgbClr val="2E377E"/>
                </a:solidFill>
                <a:latin typeface="Georgia"/>
                <a:cs typeface="Georgia"/>
              </a:rPr>
              <a:t>creating</a:t>
            </a:r>
            <a:r>
              <a:rPr sz="3600" spc="2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spc="65" dirty="0">
                <a:solidFill>
                  <a:srgbClr val="2E377E"/>
                </a:solidFill>
                <a:latin typeface="Georgia"/>
                <a:cs typeface="Georgia"/>
              </a:rPr>
              <a:t>enter</a:t>
            </a:r>
            <a:r>
              <a:rPr sz="3600" spc="30" dirty="0">
                <a:solidFill>
                  <a:srgbClr val="2E377E"/>
                </a:solidFill>
                <a:latin typeface="Georgia"/>
                <a:cs typeface="Georgia"/>
              </a:rPr>
              <a:t> </a:t>
            </a:r>
            <a:r>
              <a:rPr sz="3600" dirty="0">
                <a:solidFill>
                  <a:srgbClr val="2E377E"/>
                </a:solidFill>
                <a:latin typeface="Georgia"/>
                <a:cs typeface="Georgia"/>
              </a:rPr>
              <a:t>into</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pod</a:t>
            </a:r>
            <a:r>
              <a:rPr sz="3600" spc="30" dirty="0">
                <a:solidFill>
                  <a:srgbClr val="2E377E"/>
                </a:solidFill>
                <a:latin typeface="Georgia"/>
                <a:cs typeface="Georgia"/>
              </a:rPr>
              <a:t> </a:t>
            </a:r>
            <a:r>
              <a:rPr sz="3600" spc="-10" dirty="0">
                <a:solidFill>
                  <a:srgbClr val="2E377E"/>
                </a:solidFill>
                <a:latin typeface="Georgia"/>
                <a:cs typeface="Georgia"/>
              </a:rPr>
              <a:t>using</a:t>
            </a:r>
            <a:endParaRPr sz="3600">
              <a:latin typeface="Georgia"/>
              <a:cs typeface="Georgia"/>
            </a:endParaRPr>
          </a:p>
          <a:p>
            <a:pPr marL="12700">
              <a:lnSpc>
                <a:spcPct val="100000"/>
              </a:lnSpc>
              <a:spcBef>
                <a:spcPts val="705"/>
              </a:spcBef>
            </a:pPr>
            <a:r>
              <a:rPr sz="3600" spc="204" dirty="0">
                <a:solidFill>
                  <a:srgbClr val="2E377E"/>
                </a:solidFill>
                <a:latin typeface="Times New Roman"/>
                <a:cs typeface="Times New Roman"/>
              </a:rPr>
              <a:t>kubectl</a:t>
            </a:r>
            <a:r>
              <a:rPr sz="3600" spc="-85" dirty="0">
                <a:solidFill>
                  <a:srgbClr val="2E377E"/>
                </a:solidFill>
                <a:latin typeface="Times New Roman"/>
                <a:cs typeface="Times New Roman"/>
              </a:rPr>
              <a:t> </a:t>
            </a:r>
            <a:r>
              <a:rPr sz="3600" spc="155" dirty="0">
                <a:solidFill>
                  <a:srgbClr val="2E377E"/>
                </a:solidFill>
                <a:latin typeface="Times New Roman"/>
                <a:cs typeface="Times New Roman"/>
              </a:rPr>
              <a:t>exec</a:t>
            </a:r>
            <a:r>
              <a:rPr sz="3600" spc="-85"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210" dirty="0">
                <a:solidFill>
                  <a:srgbClr val="2E377E"/>
                </a:solidFill>
                <a:latin typeface="Times New Roman"/>
                <a:cs typeface="Times New Roman"/>
              </a:rPr>
              <a:t>it</a:t>
            </a:r>
            <a:r>
              <a:rPr sz="3600" spc="-80" dirty="0">
                <a:solidFill>
                  <a:srgbClr val="2E377E"/>
                </a:solidFill>
                <a:latin typeface="Times New Roman"/>
                <a:cs typeface="Times New Roman"/>
              </a:rPr>
              <a:t> </a:t>
            </a:r>
            <a:r>
              <a:rPr sz="3600" spc="305" dirty="0">
                <a:solidFill>
                  <a:srgbClr val="2E377E"/>
                </a:solidFill>
                <a:latin typeface="Times New Roman"/>
                <a:cs typeface="Times New Roman"/>
              </a:rPr>
              <a:t>pod_name</a:t>
            </a:r>
            <a:r>
              <a:rPr sz="3600" spc="-85" dirty="0">
                <a:solidFill>
                  <a:srgbClr val="2E377E"/>
                </a:solidFill>
                <a:latin typeface="Times New Roman"/>
                <a:cs typeface="Times New Roman"/>
              </a:rPr>
              <a:t> </a:t>
            </a:r>
            <a:r>
              <a:rPr sz="3600" spc="245" dirty="0">
                <a:solidFill>
                  <a:srgbClr val="2E377E"/>
                </a:solidFill>
                <a:latin typeface="Times New Roman"/>
                <a:cs typeface="Times New Roman"/>
              </a:rPr>
              <a:t>/bin/bash</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Once</a:t>
            </a:r>
            <a:r>
              <a:rPr sz="3600" spc="-5" dirty="0">
                <a:solidFill>
                  <a:srgbClr val="2E377E"/>
                </a:solidFill>
                <a:latin typeface="Georgia"/>
                <a:cs typeface="Georgia"/>
              </a:rPr>
              <a:t> </a:t>
            </a:r>
            <a:r>
              <a:rPr sz="3600" spc="90" dirty="0">
                <a:solidFill>
                  <a:srgbClr val="2E377E"/>
                </a:solidFill>
                <a:latin typeface="Georgia"/>
                <a:cs typeface="Georgia"/>
              </a:rPr>
              <a:t>you</a:t>
            </a:r>
            <a:r>
              <a:rPr sz="3600" dirty="0">
                <a:solidFill>
                  <a:srgbClr val="2E377E"/>
                </a:solidFill>
                <a:latin typeface="Georgia"/>
                <a:cs typeface="Georgia"/>
              </a:rPr>
              <a:t> </a:t>
            </a:r>
            <a:r>
              <a:rPr sz="3600" spc="55" dirty="0">
                <a:solidFill>
                  <a:srgbClr val="2E377E"/>
                </a:solidFill>
                <a:latin typeface="Georgia"/>
                <a:cs typeface="Georgia"/>
              </a:rPr>
              <a:t>entered</a:t>
            </a:r>
            <a:r>
              <a:rPr sz="3600" dirty="0">
                <a:solidFill>
                  <a:srgbClr val="2E377E"/>
                </a:solidFill>
                <a:latin typeface="Georgia"/>
                <a:cs typeface="Georgia"/>
              </a:rPr>
              <a:t> into</a:t>
            </a:r>
            <a:r>
              <a:rPr sz="3600" spc="-5" dirty="0">
                <a:solidFill>
                  <a:srgbClr val="2E377E"/>
                </a:solidFill>
                <a:latin typeface="Georgia"/>
                <a:cs typeface="Georgia"/>
              </a:rPr>
              <a:t> </a:t>
            </a:r>
            <a:r>
              <a:rPr sz="3600" dirty="0">
                <a:solidFill>
                  <a:srgbClr val="2E377E"/>
                </a:solidFill>
                <a:latin typeface="Georgia"/>
                <a:cs typeface="Georgia"/>
              </a:rPr>
              <a:t>pod </a:t>
            </a:r>
            <a:r>
              <a:rPr sz="3600" spc="70" dirty="0">
                <a:solidFill>
                  <a:srgbClr val="2E377E"/>
                </a:solidFill>
                <a:latin typeface="Georgia"/>
                <a:cs typeface="Georgia"/>
              </a:rPr>
              <a:t>give</a:t>
            </a:r>
            <a:r>
              <a:rPr sz="3600" dirty="0">
                <a:solidFill>
                  <a:srgbClr val="2E377E"/>
                </a:solidFill>
                <a:latin typeface="Georgia"/>
                <a:cs typeface="Georgia"/>
              </a:rPr>
              <a:t> a</a:t>
            </a:r>
            <a:r>
              <a:rPr sz="3600" spc="-5" dirty="0">
                <a:solidFill>
                  <a:srgbClr val="2E377E"/>
                </a:solidFill>
                <a:latin typeface="Georgia"/>
                <a:cs typeface="Georgia"/>
              </a:rPr>
              <a:t> </a:t>
            </a:r>
            <a:r>
              <a:rPr sz="3600" dirty="0">
                <a:solidFill>
                  <a:srgbClr val="2E377E"/>
                </a:solidFill>
                <a:latin typeface="Georgia"/>
                <a:cs typeface="Georgia"/>
              </a:rPr>
              <a:t>command</a:t>
            </a:r>
            <a:r>
              <a:rPr sz="3600" spc="5" dirty="0">
                <a:solidFill>
                  <a:srgbClr val="2E377E"/>
                </a:solidFill>
                <a:latin typeface="Georgia"/>
                <a:cs typeface="Georgia"/>
              </a:rPr>
              <a:t> </a:t>
            </a:r>
            <a:r>
              <a:rPr sz="3600" spc="210" dirty="0">
                <a:solidFill>
                  <a:srgbClr val="2E377E"/>
                </a:solidFill>
                <a:latin typeface="Times New Roman"/>
                <a:cs typeface="Times New Roman"/>
              </a:rPr>
              <a:t>env</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That</a:t>
            </a:r>
            <a:r>
              <a:rPr sz="3600" spc="15"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dirty="0">
                <a:solidFill>
                  <a:srgbClr val="2E377E"/>
                </a:solidFill>
                <a:latin typeface="Georgia"/>
                <a:cs typeface="Georgia"/>
              </a:rPr>
              <a:t>print</a:t>
            </a:r>
            <a:r>
              <a:rPr sz="3600" spc="1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list</a:t>
            </a:r>
            <a:r>
              <a:rPr sz="3600" spc="15"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10" dirty="0">
                <a:solidFill>
                  <a:srgbClr val="2E377E"/>
                </a:solidFill>
                <a:latin typeface="Georgia"/>
                <a:cs typeface="Georgia"/>
              </a:rPr>
              <a:t>environments.</a:t>
            </a:r>
            <a:endParaRPr sz="3600">
              <a:latin typeface="Georgia"/>
              <a:cs typeface="Georgia"/>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573987" y="1545294"/>
            <a:ext cx="7391399" cy="5705474"/>
          </a:xfrm>
          <a:prstGeom prst="rect">
            <a:avLst/>
          </a:prstGeom>
        </p:spPr>
      </p:pic>
      <p:sp>
        <p:nvSpPr>
          <p:cNvPr id="3" name="object 3"/>
          <p:cNvSpPr txBox="1">
            <a:spLocks noGrp="1"/>
          </p:cNvSpPr>
          <p:nvPr>
            <p:ph type="title"/>
          </p:nvPr>
        </p:nvSpPr>
        <p:spPr>
          <a:xfrm>
            <a:off x="469403" y="402357"/>
            <a:ext cx="12467590" cy="787400"/>
          </a:xfrm>
          <a:prstGeom prst="rect">
            <a:avLst/>
          </a:prstGeom>
        </p:spPr>
        <p:txBody>
          <a:bodyPr vert="horz" wrap="square" lIns="0" tIns="12700" rIns="0" bIns="0" rtlCol="0">
            <a:spAutoFit/>
          </a:bodyPr>
          <a:lstStyle/>
          <a:p>
            <a:pPr marL="12700">
              <a:lnSpc>
                <a:spcPct val="100000"/>
              </a:lnSpc>
              <a:spcBef>
                <a:spcPts val="100"/>
              </a:spcBef>
            </a:pPr>
            <a:r>
              <a:rPr spc="110" dirty="0">
                <a:solidFill>
                  <a:srgbClr val="FF3131"/>
                </a:solidFill>
              </a:rPr>
              <a:t>Injecting</a:t>
            </a:r>
            <a:r>
              <a:rPr spc="-40" dirty="0">
                <a:solidFill>
                  <a:srgbClr val="FF3131"/>
                </a:solidFill>
              </a:rPr>
              <a:t> </a:t>
            </a:r>
            <a:r>
              <a:rPr spc="204" dirty="0">
                <a:solidFill>
                  <a:srgbClr val="FF3131"/>
                </a:solidFill>
              </a:rPr>
              <a:t>the</a:t>
            </a:r>
            <a:r>
              <a:rPr spc="-40" dirty="0">
                <a:solidFill>
                  <a:srgbClr val="FF3131"/>
                </a:solidFill>
              </a:rPr>
              <a:t> </a:t>
            </a:r>
            <a:r>
              <a:rPr spc="285" dirty="0">
                <a:solidFill>
                  <a:srgbClr val="FF3131"/>
                </a:solidFill>
              </a:rPr>
              <a:t>environment</a:t>
            </a:r>
            <a:r>
              <a:rPr spc="-35" dirty="0">
                <a:solidFill>
                  <a:srgbClr val="FF3131"/>
                </a:solidFill>
              </a:rPr>
              <a:t> </a:t>
            </a:r>
            <a:r>
              <a:rPr spc="125" dirty="0">
                <a:solidFill>
                  <a:srgbClr val="FF3131"/>
                </a:solidFill>
              </a:rPr>
              <a:t>file</a:t>
            </a:r>
            <a:r>
              <a:rPr spc="-40" dirty="0">
                <a:solidFill>
                  <a:srgbClr val="FF3131"/>
                </a:solidFill>
              </a:rPr>
              <a:t> </a:t>
            </a:r>
            <a:r>
              <a:rPr spc="110" dirty="0">
                <a:solidFill>
                  <a:srgbClr val="FF3131"/>
                </a:solidFill>
              </a:rPr>
              <a:t>cm’s</a:t>
            </a:r>
            <a:r>
              <a:rPr spc="-35" dirty="0">
                <a:solidFill>
                  <a:srgbClr val="FF3131"/>
                </a:solidFill>
              </a:rPr>
              <a:t> </a:t>
            </a:r>
            <a:r>
              <a:rPr spc="155" dirty="0">
                <a:solidFill>
                  <a:srgbClr val="FF3131"/>
                </a:solidFill>
              </a:rPr>
              <a:t>to</a:t>
            </a:r>
            <a:r>
              <a:rPr spc="-40" dirty="0">
                <a:solidFill>
                  <a:srgbClr val="FF3131"/>
                </a:solidFill>
              </a:rPr>
              <a:t> </a:t>
            </a:r>
            <a:r>
              <a:rPr spc="114" dirty="0">
                <a:solidFill>
                  <a:srgbClr val="FF3131"/>
                </a:solidFill>
              </a:rPr>
              <a:t>pod:</a:t>
            </a:r>
          </a:p>
        </p:txBody>
      </p:sp>
      <p:sp>
        <p:nvSpPr>
          <p:cNvPr id="4" name="object 4"/>
          <p:cNvSpPr txBox="1"/>
          <p:nvPr/>
        </p:nvSpPr>
        <p:spPr>
          <a:xfrm>
            <a:off x="469403" y="2543811"/>
            <a:ext cx="9246235" cy="2578100"/>
          </a:xfrm>
          <a:prstGeom prst="rect">
            <a:avLst/>
          </a:prstGeom>
        </p:spPr>
        <p:txBody>
          <a:bodyPr vert="horz" wrap="square" lIns="0" tIns="12700" rIns="0" bIns="0" rtlCol="0">
            <a:spAutoFit/>
          </a:bodyPr>
          <a:lstStyle/>
          <a:p>
            <a:pPr marL="12700" marR="1167130">
              <a:lnSpc>
                <a:spcPct val="116300"/>
              </a:lnSpc>
              <a:spcBef>
                <a:spcPts val="100"/>
              </a:spcBef>
            </a:pPr>
            <a:r>
              <a:rPr sz="3600" dirty="0">
                <a:solidFill>
                  <a:srgbClr val="2E377E"/>
                </a:solidFill>
                <a:latin typeface="Georgia"/>
                <a:cs typeface="Georgia"/>
              </a:rPr>
              <a:t>Create</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file</a:t>
            </a:r>
            <a:r>
              <a:rPr sz="3600" spc="20" dirty="0">
                <a:solidFill>
                  <a:srgbClr val="2E377E"/>
                </a:solidFill>
                <a:latin typeface="Georgia"/>
                <a:cs typeface="Georgia"/>
              </a:rPr>
              <a:t> </a:t>
            </a:r>
            <a:r>
              <a:rPr sz="3600" dirty="0">
                <a:solidFill>
                  <a:srgbClr val="2E377E"/>
                </a:solidFill>
                <a:latin typeface="Georgia"/>
                <a:cs typeface="Georgia"/>
              </a:rPr>
              <a:t>for</a:t>
            </a:r>
            <a:r>
              <a:rPr sz="3600" spc="15"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spc="80" dirty="0">
                <a:solidFill>
                  <a:srgbClr val="2E377E"/>
                </a:solidFill>
                <a:latin typeface="Georgia"/>
                <a:cs typeface="Georgia"/>
              </a:rPr>
              <a:t>execute</a:t>
            </a:r>
            <a:r>
              <a:rPr sz="3600" spc="20" dirty="0">
                <a:solidFill>
                  <a:srgbClr val="2E377E"/>
                </a:solidFill>
                <a:latin typeface="Georgia"/>
                <a:cs typeface="Georgia"/>
              </a:rPr>
              <a:t> </a:t>
            </a:r>
            <a:r>
              <a:rPr sz="3600" spc="40" dirty="0">
                <a:solidFill>
                  <a:srgbClr val="2E377E"/>
                </a:solidFill>
                <a:latin typeface="Georgia"/>
                <a:cs typeface="Georgia"/>
              </a:rPr>
              <a:t>it </a:t>
            </a:r>
            <a:r>
              <a:rPr sz="3600" dirty="0">
                <a:solidFill>
                  <a:srgbClr val="2E377E"/>
                </a:solidFill>
                <a:latin typeface="Georgia"/>
                <a:cs typeface="Georgia"/>
              </a:rPr>
              <a:t>Inside</a:t>
            </a:r>
            <a:r>
              <a:rPr sz="3600" spc="-10"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pod.yml</a:t>
            </a:r>
            <a:r>
              <a:rPr sz="3600" spc="-5" dirty="0">
                <a:solidFill>
                  <a:srgbClr val="2E377E"/>
                </a:solidFill>
                <a:latin typeface="Georgia"/>
                <a:cs typeface="Georgia"/>
              </a:rPr>
              <a:t> </a:t>
            </a:r>
            <a:r>
              <a:rPr sz="3600" spc="140" dirty="0">
                <a:solidFill>
                  <a:srgbClr val="2E377E"/>
                </a:solidFill>
                <a:latin typeface="Georgia"/>
                <a:cs typeface="Georgia"/>
              </a:rPr>
              <a:t>we</a:t>
            </a:r>
            <a:r>
              <a:rPr sz="3600" spc="-10" dirty="0">
                <a:solidFill>
                  <a:srgbClr val="2E377E"/>
                </a:solidFill>
                <a:latin typeface="Georgia"/>
                <a:cs typeface="Georgia"/>
              </a:rPr>
              <a:t> </a:t>
            </a:r>
            <a:r>
              <a:rPr sz="3600" spc="55" dirty="0">
                <a:solidFill>
                  <a:srgbClr val="2E377E"/>
                </a:solidFill>
                <a:latin typeface="Georgia"/>
                <a:cs typeface="Georgia"/>
              </a:rPr>
              <a:t>have</a:t>
            </a:r>
            <a:r>
              <a:rPr sz="3600" spc="-5"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declare</a:t>
            </a:r>
            <a:r>
              <a:rPr sz="3600" spc="-5" dirty="0">
                <a:solidFill>
                  <a:srgbClr val="2E377E"/>
                </a:solidFill>
                <a:latin typeface="Georgia"/>
                <a:cs typeface="Georgia"/>
              </a:rPr>
              <a:t> </a:t>
            </a:r>
            <a:r>
              <a:rPr sz="3600" spc="-50" dirty="0">
                <a:solidFill>
                  <a:srgbClr val="2E377E"/>
                </a:solidFill>
                <a:latin typeface="Georgia"/>
                <a:cs typeface="Georgia"/>
              </a:rPr>
              <a:t>a</a:t>
            </a:r>
            <a:endParaRPr sz="3600">
              <a:latin typeface="Georgia"/>
              <a:cs typeface="Georgia"/>
            </a:endParaRPr>
          </a:p>
          <a:p>
            <a:pPr marL="12700" marR="5080">
              <a:lnSpc>
                <a:spcPct val="116300"/>
              </a:lnSpc>
            </a:pPr>
            <a:r>
              <a:rPr sz="3600" dirty="0">
                <a:solidFill>
                  <a:srgbClr val="2E377E"/>
                </a:solidFill>
                <a:latin typeface="Georgia"/>
                <a:cs typeface="Georgia"/>
              </a:rPr>
              <a:t>configmap</a:t>
            </a:r>
            <a:r>
              <a:rPr sz="3600" spc="-5" dirty="0">
                <a:solidFill>
                  <a:srgbClr val="2E377E"/>
                </a:solidFill>
                <a:latin typeface="Georgia"/>
                <a:cs typeface="Georgia"/>
              </a:rPr>
              <a:t> </a:t>
            </a:r>
            <a:r>
              <a:rPr sz="3600" dirty="0">
                <a:solidFill>
                  <a:srgbClr val="2E377E"/>
                </a:solidFill>
                <a:latin typeface="Georgia"/>
                <a:cs typeface="Georgia"/>
              </a:rPr>
              <a:t>name</a:t>
            </a:r>
            <a:r>
              <a:rPr sz="3600" spc="-5" dirty="0">
                <a:solidFill>
                  <a:srgbClr val="2E377E"/>
                </a:solidFill>
                <a:latin typeface="Georgia"/>
                <a:cs typeface="Georgia"/>
              </a:rPr>
              <a:t> </a:t>
            </a:r>
            <a:r>
              <a:rPr sz="3600" spc="55" dirty="0">
                <a:solidFill>
                  <a:srgbClr val="2E377E"/>
                </a:solidFill>
                <a:latin typeface="Georgia"/>
                <a:cs typeface="Georgia"/>
              </a:rPr>
              <a:t>which</a:t>
            </a:r>
            <a:r>
              <a:rPr sz="3600" spc="-5" dirty="0">
                <a:solidFill>
                  <a:srgbClr val="2E377E"/>
                </a:solidFill>
                <a:latin typeface="Georgia"/>
                <a:cs typeface="Georgia"/>
              </a:rPr>
              <a:t> </a:t>
            </a:r>
            <a:r>
              <a:rPr sz="3600" spc="75" dirty="0">
                <a:solidFill>
                  <a:srgbClr val="2E377E"/>
                </a:solidFill>
                <a:latin typeface="Georgia"/>
                <a:cs typeface="Georgia"/>
              </a:rPr>
              <a:t>was</a:t>
            </a:r>
            <a:r>
              <a:rPr sz="3600" spc="-5" dirty="0">
                <a:solidFill>
                  <a:srgbClr val="2E377E"/>
                </a:solidFill>
                <a:latin typeface="Georgia"/>
                <a:cs typeface="Georgia"/>
              </a:rPr>
              <a:t> </a:t>
            </a:r>
            <a:r>
              <a:rPr sz="3600" spc="50" dirty="0">
                <a:solidFill>
                  <a:srgbClr val="2E377E"/>
                </a:solidFill>
                <a:latin typeface="Georgia"/>
                <a:cs typeface="Georgia"/>
              </a:rPr>
              <a:t>created</a:t>
            </a:r>
            <a:r>
              <a:rPr sz="3600" spc="-5" dirty="0">
                <a:solidFill>
                  <a:srgbClr val="2E377E"/>
                </a:solidFill>
                <a:latin typeface="Georgia"/>
                <a:cs typeface="Georgia"/>
              </a:rPr>
              <a:t> </a:t>
            </a:r>
            <a:r>
              <a:rPr sz="3600" spc="85" dirty="0">
                <a:solidFill>
                  <a:srgbClr val="2E377E"/>
                </a:solidFill>
                <a:latin typeface="Georgia"/>
                <a:cs typeface="Georgia"/>
              </a:rPr>
              <a:t>with</a:t>
            </a:r>
            <a:r>
              <a:rPr sz="3600" spc="-5" dirty="0">
                <a:solidFill>
                  <a:srgbClr val="2E377E"/>
                </a:solidFill>
                <a:latin typeface="Georgia"/>
                <a:cs typeface="Georgia"/>
              </a:rPr>
              <a:t> </a:t>
            </a:r>
            <a:r>
              <a:rPr sz="3600" spc="60" dirty="0">
                <a:solidFill>
                  <a:srgbClr val="2E377E"/>
                </a:solidFill>
                <a:latin typeface="Georgia"/>
                <a:cs typeface="Georgia"/>
              </a:rPr>
              <a:t>env </a:t>
            </a:r>
            <a:r>
              <a:rPr sz="3600" spc="-20" dirty="0">
                <a:solidFill>
                  <a:srgbClr val="2E377E"/>
                </a:solidFill>
                <a:latin typeface="Georgia"/>
                <a:cs typeface="Georgia"/>
              </a:rPr>
              <a:t>file</a:t>
            </a:r>
            <a:endParaRPr sz="3600">
              <a:latin typeface="Georgia"/>
              <a:cs typeface="Georgia"/>
            </a:endParaRPr>
          </a:p>
        </p:txBody>
      </p:sp>
      <p:sp>
        <p:nvSpPr>
          <p:cNvPr id="5" name="object 5"/>
          <p:cNvSpPr txBox="1"/>
          <p:nvPr/>
        </p:nvSpPr>
        <p:spPr>
          <a:xfrm>
            <a:off x="469403" y="6089878"/>
            <a:ext cx="9779635" cy="257810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After</a:t>
            </a:r>
            <a:r>
              <a:rPr sz="3600" spc="25" dirty="0">
                <a:solidFill>
                  <a:srgbClr val="2E377E"/>
                </a:solidFill>
                <a:latin typeface="Georgia"/>
                <a:cs typeface="Georgia"/>
              </a:rPr>
              <a:t> </a:t>
            </a:r>
            <a:r>
              <a:rPr sz="3600" dirty="0">
                <a:solidFill>
                  <a:srgbClr val="2E377E"/>
                </a:solidFill>
                <a:latin typeface="Georgia"/>
                <a:cs typeface="Georgia"/>
              </a:rPr>
              <a:t>creating</a:t>
            </a:r>
            <a:r>
              <a:rPr sz="3600" spc="2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spc="65" dirty="0">
                <a:solidFill>
                  <a:srgbClr val="2E377E"/>
                </a:solidFill>
                <a:latin typeface="Georgia"/>
                <a:cs typeface="Georgia"/>
              </a:rPr>
              <a:t>enter</a:t>
            </a:r>
            <a:r>
              <a:rPr sz="3600" spc="30" dirty="0">
                <a:solidFill>
                  <a:srgbClr val="2E377E"/>
                </a:solidFill>
                <a:latin typeface="Georgia"/>
                <a:cs typeface="Georgia"/>
              </a:rPr>
              <a:t> </a:t>
            </a:r>
            <a:r>
              <a:rPr sz="3600" dirty="0">
                <a:solidFill>
                  <a:srgbClr val="2E377E"/>
                </a:solidFill>
                <a:latin typeface="Georgia"/>
                <a:cs typeface="Georgia"/>
              </a:rPr>
              <a:t>into</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pod</a:t>
            </a:r>
            <a:r>
              <a:rPr sz="3600" spc="30" dirty="0">
                <a:solidFill>
                  <a:srgbClr val="2E377E"/>
                </a:solidFill>
                <a:latin typeface="Georgia"/>
                <a:cs typeface="Georgia"/>
              </a:rPr>
              <a:t> </a:t>
            </a:r>
            <a:r>
              <a:rPr sz="3600" spc="-10" dirty="0">
                <a:solidFill>
                  <a:srgbClr val="2E377E"/>
                </a:solidFill>
                <a:latin typeface="Georgia"/>
                <a:cs typeface="Georgia"/>
              </a:rPr>
              <a:t>using</a:t>
            </a:r>
            <a:endParaRPr sz="3600">
              <a:latin typeface="Georgia"/>
              <a:cs typeface="Georgia"/>
            </a:endParaRPr>
          </a:p>
          <a:p>
            <a:pPr marL="12700">
              <a:lnSpc>
                <a:spcPct val="100000"/>
              </a:lnSpc>
              <a:spcBef>
                <a:spcPts val="705"/>
              </a:spcBef>
            </a:pPr>
            <a:r>
              <a:rPr sz="3600" spc="204" dirty="0">
                <a:solidFill>
                  <a:srgbClr val="2E377E"/>
                </a:solidFill>
                <a:latin typeface="Times New Roman"/>
                <a:cs typeface="Times New Roman"/>
              </a:rPr>
              <a:t>kubectl</a:t>
            </a:r>
            <a:r>
              <a:rPr sz="3600" spc="-85" dirty="0">
                <a:solidFill>
                  <a:srgbClr val="2E377E"/>
                </a:solidFill>
                <a:latin typeface="Times New Roman"/>
                <a:cs typeface="Times New Roman"/>
              </a:rPr>
              <a:t> </a:t>
            </a:r>
            <a:r>
              <a:rPr sz="3600" spc="155" dirty="0">
                <a:solidFill>
                  <a:srgbClr val="2E377E"/>
                </a:solidFill>
                <a:latin typeface="Times New Roman"/>
                <a:cs typeface="Times New Roman"/>
              </a:rPr>
              <a:t>exec</a:t>
            </a:r>
            <a:r>
              <a:rPr sz="3600" spc="-85"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210" dirty="0">
                <a:solidFill>
                  <a:srgbClr val="2E377E"/>
                </a:solidFill>
                <a:latin typeface="Times New Roman"/>
                <a:cs typeface="Times New Roman"/>
              </a:rPr>
              <a:t>it</a:t>
            </a:r>
            <a:r>
              <a:rPr sz="3600" spc="-80" dirty="0">
                <a:solidFill>
                  <a:srgbClr val="2E377E"/>
                </a:solidFill>
                <a:latin typeface="Times New Roman"/>
                <a:cs typeface="Times New Roman"/>
              </a:rPr>
              <a:t> </a:t>
            </a:r>
            <a:r>
              <a:rPr sz="3600" spc="305" dirty="0">
                <a:solidFill>
                  <a:srgbClr val="2E377E"/>
                </a:solidFill>
                <a:latin typeface="Times New Roman"/>
                <a:cs typeface="Times New Roman"/>
              </a:rPr>
              <a:t>pod_name</a:t>
            </a:r>
            <a:r>
              <a:rPr sz="3600" spc="-85" dirty="0">
                <a:solidFill>
                  <a:srgbClr val="2E377E"/>
                </a:solidFill>
                <a:latin typeface="Times New Roman"/>
                <a:cs typeface="Times New Roman"/>
              </a:rPr>
              <a:t> </a:t>
            </a:r>
            <a:r>
              <a:rPr sz="3600" spc="245" dirty="0">
                <a:solidFill>
                  <a:srgbClr val="2E377E"/>
                </a:solidFill>
                <a:latin typeface="Times New Roman"/>
                <a:cs typeface="Times New Roman"/>
              </a:rPr>
              <a:t>/bin/bash</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Once</a:t>
            </a:r>
            <a:r>
              <a:rPr sz="3600" spc="-5" dirty="0">
                <a:solidFill>
                  <a:srgbClr val="2E377E"/>
                </a:solidFill>
                <a:latin typeface="Georgia"/>
                <a:cs typeface="Georgia"/>
              </a:rPr>
              <a:t> </a:t>
            </a:r>
            <a:r>
              <a:rPr sz="3600" spc="90" dirty="0">
                <a:solidFill>
                  <a:srgbClr val="2E377E"/>
                </a:solidFill>
                <a:latin typeface="Georgia"/>
                <a:cs typeface="Georgia"/>
              </a:rPr>
              <a:t>you</a:t>
            </a:r>
            <a:r>
              <a:rPr sz="3600" dirty="0">
                <a:solidFill>
                  <a:srgbClr val="2E377E"/>
                </a:solidFill>
                <a:latin typeface="Georgia"/>
                <a:cs typeface="Georgia"/>
              </a:rPr>
              <a:t> </a:t>
            </a:r>
            <a:r>
              <a:rPr sz="3600" spc="55" dirty="0">
                <a:solidFill>
                  <a:srgbClr val="2E377E"/>
                </a:solidFill>
                <a:latin typeface="Georgia"/>
                <a:cs typeface="Georgia"/>
              </a:rPr>
              <a:t>entered</a:t>
            </a:r>
            <a:r>
              <a:rPr sz="3600" dirty="0">
                <a:solidFill>
                  <a:srgbClr val="2E377E"/>
                </a:solidFill>
                <a:latin typeface="Georgia"/>
                <a:cs typeface="Georgia"/>
              </a:rPr>
              <a:t> into</a:t>
            </a:r>
            <a:r>
              <a:rPr sz="3600" spc="-5" dirty="0">
                <a:solidFill>
                  <a:srgbClr val="2E377E"/>
                </a:solidFill>
                <a:latin typeface="Georgia"/>
                <a:cs typeface="Georgia"/>
              </a:rPr>
              <a:t> </a:t>
            </a:r>
            <a:r>
              <a:rPr sz="3600" dirty="0">
                <a:solidFill>
                  <a:srgbClr val="2E377E"/>
                </a:solidFill>
                <a:latin typeface="Georgia"/>
                <a:cs typeface="Georgia"/>
              </a:rPr>
              <a:t>pod </a:t>
            </a:r>
            <a:r>
              <a:rPr sz="3600" spc="70" dirty="0">
                <a:solidFill>
                  <a:srgbClr val="2E377E"/>
                </a:solidFill>
                <a:latin typeface="Georgia"/>
                <a:cs typeface="Georgia"/>
              </a:rPr>
              <a:t>give</a:t>
            </a:r>
            <a:r>
              <a:rPr sz="3600" dirty="0">
                <a:solidFill>
                  <a:srgbClr val="2E377E"/>
                </a:solidFill>
                <a:latin typeface="Georgia"/>
                <a:cs typeface="Georgia"/>
              </a:rPr>
              <a:t> a</a:t>
            </a:r>
            <a:r>
              <a:rPr sz="3600" spc="-5" dirty="0">
                <a:solidFill>
                  <a:srgbClr val="2E377E"/>
                </a:solidFill>
                <a:latin typeface="Georgia"/>
                <a:cs typeface="Georgia"/>
              </a:rPr>
              <a:t> </a:t>
            </a:r>
            <a:r>
              <a:rPr sz="3600" dirty="0">
                <a:solidFill>
                  <a:srgbClr val="2E377E"/>
                </a:solidFill>
                <a:latin typeface="Georgia"/>
                <a:cs typeface="Georgia"/>
              </a:rPr>
              <a:t>command</a:t>
            </a:r>
            <a:r>
              <a:rPr sz="3600" spc="5" dirty="0">
                <a:solidFill>
                  <a:srgbClr val="2E377E"/>
                </a:solidFill>
                <a:latin typeface="Georgia"/>
                <a:cs typeface="Georgia"/>
              </a:rPr>
              <a:t> </a:t>
            </a:r>
            <a:r>
              <a:rPr sz="3600" spc="210" dirty="0">
                <a:solidFill>
                  <a:srgbClr val="2E377E"/>
                </a:solidFill>
                <a:latin typeface="Times New Roman"/>
                <a:cs typeface="Times New Roman"/>
              </a:rPr>
              <a:t>env</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That</a:t>
            </a:r>
            <a:r>
              <a:rPr sz="3600" spc="15"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dirty="0">
                <a:solidFill>
                  <a:srgbClr val="2E377E"/>
                </a:solidFill>
                <a:latin typeface="Georgia"/>
                <a:cs typeface="Georgia"/>
              </a:rPr>
              <a:t>print</a:t>
            </a:r>
            <a:r>
              <a:rPr sz="3600" spc="1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list</a:t>
            </a:r>
            <a:r>
              <a:rPr sz="3600" spc="15"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10" dirty="0">
                <a:solidFill>
                  <a:srgbClr val="2E377E"/>
                </a:solidFill>
                <a:latin typeface="Georgia"/>
                <a:cs typeface="Georgia"/>
              </a:rPr>
              <a:t>environments.</a:t>
            </a:r>
            <a:endParaRPr sz="3600">
              <a:latin typeface="Georgia"/>
              <a:cs typeface="Georgia"/>
            </a:endParaRPr>
          </a:p>
        </p:txBody>
      </p:sp>
      <p:sp>
        <p:nvSpPr>
          <p:cNvPr id="6" name="object 6"/>
          <p:cNvSpPr txBox="1"/>
          <p:nvPr/>
        </p:nvSpPr>
        <p:spPr>
          <a:xfrm>
            <a:off x="11857392" y="7677525"/>
            <a:ext cx="4828540" cy="1639570"/>
          </a:xfrm>
          <a:prstGeom prst="rect">
            <a:avLst/>
          </a:prstGeom>
        </p:spPr>
        <p:txBody>
          <a:bodyPr vert="horz" wrap="square" lIns="0" tIns="306070" rIns="0" bIns="0" rtlCol="0">
            <a:spAutoFit/>
          </a:bodyPr>
          <a:lstStyle/>
          <a:p>
            <a:pPr marL="1209675">
              <a:lnSpc>
                <a:spcPct val="100000"/>
              </a:lnSpc>
              <a:spcBef>
                <a:spcPts val="2410"/>
              </a:spcBef>
            </a:pPr>
            <a:r>
              <a:rPr sz="3600" spc="-10" dirty="0">
                <a:solidFill>
                  <a:srgbClr val="2E377E"/>
                </a:solidFill>
                <a:latin typeface="Georgia"/>
                <a:cs typeface="Georgia"/>
              </a:rPr>
              <a:t>POD.YML</a:t>
            </a:r>
            <a:endParaRPr sz="3600">
              <a:latin typeface="Georgia"/>
              <a:cs typeface="Georgia"/>
            </a:endParaRPr>
          </a:p>
          <a:p>
            <a:pPr marL="12700">
              <a:lnSpc>
                <a:spcPct val="100000"/>
              </a:lnSpc>
              <a:spcBef>
                <a:spcPts val="2115"/>
              </a:spcBef>
            </a:pPr>
            <a:r>
              <a:rPr sz="3300" b="1" spc="110" dirty="0">
                <a:solidFill>
                  <a:srgbClr val="FF3131"/>
                </a:solidFill>
                <a:latin typeface="Times New Roman"/>
                <a:cs typeface="Times New Roman"/>
              </a:rPr>
              <a:t>kubectl</a:t>
            </a:r>
            <a:r>
              <a:rPr sz="3300" b="1" spc="-25" dirty="0">
                <a:solidFill>
                  <a:srgbClr val="FF3131"/>
                </a:solidFill>
                <a:latin typeface="Times New Roman"/>
                <a:cs typeface="Times New Roman"/>
              </a:rPr>
              <a:t> </a:t>
            </a:r>
            <a:r>
              <a:rPr sz="3300" b="1" spc="145" dirty="0">
                <a:solidFill>
                  <a:srgbClr val="FF3131"/>
                </a:solidFill>
                <a:latin typeface="Times New Roman"/>
                <a:cs typeface="Times New Roman"/>
              </a:rPr>
              <a:t>apply</a:t>
            </a:r>
            <a:r>
              <a:rPr sz="3300" b="1" spc="-25" dirty="0">
                <a:solidFill>
                  <a:srgbClr val="FF3131"/>
                </a:solidFill>
                <a:latin typeface="Times New Roman"/>
                <a:cs typeface="Times New Roman"/>
              </a:rPr>
              <a:t> </a:t>
            </a:r>
            <a:r>
              <a:rPr sz="3300" b="1" spc="434" dirty="0">
                <a:solidFill>
                  <a:srgbClr val="FF3131"/>
                </a:solidFill>
                <a:latin typeface="Times New Roman"/>
                <a:cs typeface="Times New Roman"/>
              </a:rPr>
              <a:t>-</a:t>
            </a:r>
            <a:r>
              <a:rPr sz="3300" b="1" dirty="0">
                <a:solidFill>
                  <a:srgbClr val="FF3131"/>
                </a:solidFill>
                <a:latin typeface="Times New Roman"/>
                <a:cs typeface="Times New Roman"/>
              </a:rPr>
              <a:t>f</a:t>
            </a:r>
            <a:r>
              <a:rPr sz="3300" b="1" spc="-25" dirty="0">
                <a:solidFill>
                  <a:srgbClr val="FF3131"/>
                </a:solidFill>
                <a:latin typeface="Times New Roman"/>
                <a:cs typeface="Times New Roman"/>
              </a:rPr>
              <a:t> </a:t>
            </a:r>
            <a:r>
              <a:rPr sz="3300" b="1" spc="165" dirty="0">
                <a:solidFill>
                  <a:srgbClr val="FF3131"/>
                </a:solidFill>
                <a:latin typeface="Times New Roman"/>
                <a:cs typeface="Times New Roman"/>
              </a:rPr>
              <a:t>pod.yml</a:t>
            </a:r>
            <a:endParaRPr sz="3300">
              <a:latin typeface="Times New Roman"/>
              <a:cs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91583" y="1462585"/>
            <a:ext cx="7381874" cy="7000874"/>
          </a:xfrm>
          <a:prstGeom prst="rect">
            <a:avLst/>
          </a:prstGeom>
        </p:spPr>
      </p:pic>
      <p:sp>
        <p:nvSpPr>
          <p:cNvPr id="3" name="object 3"/>
          <p:cNvSpPr txBox="1">
            <a:spLocks noGrp="1"/>
          </p:cNvSpPr>
          <p:nvPr>
            <p:ph type="title"/>
          </p:nvPr>
        </p:nvSpPr>
        <p:spPr>
          <a:xfrm>
            <a:off x="469403" y="402357"/>
            <a:ext cx="14725650" cy="787400"/>
          </a:xfrm>
          <a:prstGeom prst="rect">
            <a:avLst/>
          </a:prstGeom>
        </p:spPr>
        <p:txBody>
          <a:bodyPr vert="horz" wrap="square" lIns="0" tIns="12700" rIns="0" bIns="0" rtlCol="0">
            <a:spAutoFit/>
          </a:bodyPr>
          <a:lstStyle/>
          <a:p>
            <a:pPr marL="12700">
              <a:lnSpc>
                <a:spcPct val="100000"/>
              </a:lnSpc>
              <a:spcBef>
                <a:spcPts val="100"/>
              </a:spcBef>
            </a:pPr>
            <a:r>
              <a:rPr spc="110" dirty="0">
                <a:solidFill>
                  <a:srgbClr val="FF3131"/>
                </a:solidFill>
              </a:rPr>
              <a:t>Injecting</a:t>
            </a:r>
            <a:r>
              <a:rPr spc="-45" dirty="0">
                <a:solidFill>
                  <a:srgbClr val="FF3131"/>
                </a:solidFill>
              </a:rPr>
              <a:t> </a:t>
            </a:r>
            <a:r>
              <a:rPr spc="430" dirty="0">
                <a:solidFill>
                  <a:srgbClr val="FF3131"/>
                </a:solidFill>
              </a:rPr>
              <a:t>cm</a:t>
            </a:r>
            <a:r>
              <a:rPr spc="-45" dirty="0">
                <a:solidFill>
                  <a:srgbClr val="FF3131"/>
                </a:solidFill>
              </a:rPr>
              <a:t> </a:t>
            </a:r>
            <a:r>
              <a:rPr spc="275" dirty="0">
                <a:solidFill>
                  <a:srgbClr val="FF3131"/>
                </a:solidFill>
              </a:rPr>
              <a:t>in</a:t>
            </a:r>
            <a:r>
              <a:rPr spc="-45" dirty="0">
                <a:solidFill>
                  <a:srgbClr val="FF3131"/>
                </a:solidFill>
              </a:rPr>
              <a:t> </a:t>
            </a:r>
            <a:r>
              <a:rPr spc="204" dirty="0">
                <a:solidFill>
                  <a:srgbClr val="FF3131"/>
                </a:solidFill>
              </a:rPr>
              <a:t>the</a:t>
            </a:r>
            <a:r>
              <a:rPr spc="-40" dirty="0">
                <a:solidFill>
                  <a:srgbClr val="FF3131"/>
                </a:solidFill>
              </a:rPr>
              <a:t> </a:t>
            </a:r>
            <a:r>
              <a:rPr spc="315" dirty="0">
                <a:solidFill>
                  <a:srgbClr val="FF3131"/>
                </a:solidFill>
              </a:rPr>
              <a:t>pod</a:t>
            </a:r>
            <a:r>
              <a:rPr spc="-45" dirty="0">
                <a:solidFill>
                  <a:srgbClr val="FF3131"/>
                </a:solidFill>
              </a:rPr>
              <a:t> </a:t>
            </a:r>
            <a:r>
              <a:rPr spc="295" dirty="0">
                <a:solidFill>
                  <a:srgbClr val="FF3131"/>
                </a:solidFill>
              </a:rPr>
              <a:t>with</a:t>
            </a:r>
            <a:r>
              <a:rPr spc="-45" dirty="0">
                <a:solidFill>
                  <a:srgbClr val="FF3131"/>
                </a:solidFill>
              </a:rPr>
              <a:t> </a:t>
            </a:r>
            <a:r>
              <a:rPr spc="204" dirty="0">
                <a:solidFill>
                  <a:srgbClr val="FF3131"/>
                </a:solidFill>
              </a:rPr>
              <a:t>the</a:t>
            </a:r>
            <a:r>
              <a:rPr spc="-40" dirty="0">
                <a:solidFill>
                  <a:srgbClr val="FF3131"/>
                </a:solidFill>
              </a:rPr>
              <a:t> </a:t>
            </a:r>
            <a:r>
              <a:rPr spc="180" dirty="0">
                <a:solidFill>
                  <a:srgbClr val="FF3131"/>
                </a:solidFill>
              </a:rPr>
              <a:t>entire</a:t>
            </a:r>
            <a:r>
              <a:rPr spc="-45" dirty="0">
                <a:solidFill>
                  <a:srgbClr val="FF3131"/>
                </a:solidFill>
              </a:rPr>
              <a:t> </a:t>
            </a:r>
            <a:r>
              <a:rPr spc="190" dirty="0">
                <a:solidFill>
                  <a:srgbClr val="FF3131"/>
                </a:solidFill>
              </a:rPr>
              <a:t>proper</a:t>
            </a:r>
            <a:r>
              <a:rPr spc="-45" dirty="0">
                <a:solidFill>
                  <a:srgbClr val="FF3131"/>
                </a:solidFill>
              </a:rPr>
              <a:t> </a:t>
            </a:r>
            <a:r>
              <a:rPr spc="-20" dirty="0">
                <a:solidFill>
                  <a:srgbClr val="FF3131"/>
                </a:solidFill>
              </a:rPr>
              <a:t>file:</a:t>
            </a:r>
          </a:p>
        </p:txBody>
      </p:sp>
      <p:sp>
        <p:nvSpPr>
          <p:cNvPr id="4" name="object 4"/>
          <p:cNvSpPr txBox="1"/>
          <p:nvPr/>
        </p:nvSpPr>
        <p:spPr>
          <a:xfrm>
            <a:off x="469403" y="1624462"/>
            <a:ext cx="9979660" cy="5697855"/>
          </a:xfrm>
          <a:prstGeom prst="rect">
            <a:avLst/>
          </a:prstGeom>
        </p:spPr>
        <p:txBody>
          <a:bodyPr vert="horz" wrap="square" lIns="0" tIns="12700" rIns="0" bIns="0" rtlCol="0">
            <a:spAutoFit/>
          </a:bodyPr>
          <a:lstStyle/>
          <a:p>
            <a:pPr marL="12700" marR="1900555">
              <a:lnSpc>
                <a:spcPct val="116300"/>
              </a:lnSpc>
              <a:spcBef>
                <a:spcPts val="100"/>
              </a:spcBef>
            </a:pPr>
            <a:r>
              <a:rPr sz="3600" dirty="0">
                <a:solidFill>
                  <a:srgbClr val="2E377E"/>
                </a:solidFill>
                <a:latin typeface="Georgia"/>
                <a:cs typeface="Georgia"/>
              </a:rPr>
              <a:t>Create</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file</a:t>
            </a:r>
            <a:r>
              <a:rPr sz="3600" spc="20" dirty="0">
                <a:solidFill>
                  <a:srgbClr val="2E377E"/>
                </a:solidFill>
                <a:latin typeface="Georgia"/>
                <a:cs typeface="Georgia"/>
              </a:rPr>
              <a:t> </a:t>
            </a:r>
            <a:r>
              <a:rPr sz="3600" dirty="0">
                <a:solidFill>
                  <a:srgbClr val="2E377E"/>
                </a:solidFill>
                <a:latin typeface="Georgia"/>
                <a:cs typeface="Georgia"/>
              </a:rPr>
              <a:t>for</a:t>
            </a:r>
            <a:r>
              <a:rPr sz="3600" spc="15"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spc="80" dirty="0">
                <a:solidFill>
                  <a:srgbClr val="2E377E"/>
                </a:solidFill>
                <a:latin typeface="Georgia"/>
                <a:cs typeface="Georgia"/>
              </a:rPr>
              <a:t>execute</a:t>
            </a:r>
            <a:r>
              <a:rPr sz="3600" spc="20" dirty="0">
                <a:solidFill>
                  <a:srgbClr val="2E377E"/>
                </a:solidFill>
                <a:latin typeface="Georgia"/>
                <a:cs typeface="Georgia"/>
              </a:rPr>
              <a:t> </a:t>
            </a:r>
            <a:r>
              <a:rPr sz="3600" spc="40" dirty="0">
                <a:solidFill>
                  <a:srgbClr val="2E377E"/>
                </a:solidFill>
                <a:latin typeface="Georgia"/>
                <a:cs typeface="Georgia"/>
              </a:rPr>
              <a:t>it </a:t>
            </a:r>
            <a:r>
              <a:rPr sz="3600" dirty="0">
                <a:solidFill>
                  <a:srgbClr val="2E377E"/>
                </a:solidFill>
                <a:latin typeface="Georgia"/>
                <a:cs typeface="Georgia"/>
              </a:rPr>
              <a:t>Inside</a:t>
            </a:r>
            <a:r>
              <a:rPr sz="3600" spc="-10"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pod.yml</a:t>
            </a:r>
            <a:r>
              <a:rPr sz="3600" spc="-5" dirty="0">
                <a:solidFill>
                  <a:srgbClr val="2E377E"/>
                </a:solidFill>
                <a:latin typeface="Georgia"/>
                <a:cs typeface="Georgia"/>
              </a:rPr>
              <a:t> </a:t>
            </a:r>
            <a:r>
              <a:rPr sz="3600" spc="140" dirty="0">
                <a:solidFill>
                  <a:srgbClr val="2E377E"/>
                </a:solidFill>
                <a:latin typeface="Georgia"/>
                <a:cs typeface="Georgia"/>
              </a:rPr>
              <a:t>we</a:t>
            </a:r>
            <a:r>
              <a:rPr sz="3600" spc="-10" dirty="0">
                <a:solidFill>
                  <a:srgbClr val="2E377E"/>
                </a:solidFill>
                <a:latin typeface="Georgia"/>
                <a:cs typeface="Georgia"/>
              </a:rPr>
              <a:t> </a:t>
            </a:r>
            <a:r>
              <a:rPr sz="3600" spc="55" dirty="0">
                <a:solidFill>
                  <a:srgbClr val="2E377E"/>
                </a:solidFill>
                <a:latin typeface="Georgia"/>
                <a:cs typeface="Georgia"/>
              </a:rPr>
              <a:t>have</a:t>
            </a:r>
            <a:r>
              <a:rPr sz="3600" spc="-5"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declare</a:t>
            </a:r>
            <a:r>
              <a:rPr sz="3600" spc="-5" dirty="0">
                <a:solidFill>
                  <a:srgbClr val="2E377E"/>
                </a:solidFill>
                <a:latin typeface="Georgia"/>
                <a:cs typeface="Georgia"/>
              </a:rPr>
              <a:t> </a:t>
            </a:r>
            <a:r>
              <a:rPr sz="3600" spc="-50" dirty="0">
                <a:solidFill>
                  <a:srgbClr val="2E377E"/>
                </a:solidFill>
                <a:latin typeface="Georgia"/>
                <a:cs typeface="Georgia"/>
              </a:rPr>
              <a:t>a</a:t>
            </a:r>
            <a:endParaRPr sz="3600">
              <a:latin typeface="Georgia"/>
              <a:cs typeface="Georgia"/>
            </a:endParaRPr>
          </a:p>
          <a:p>
            <a:pPr marL="12700" marR="5080">
              <a:lnSpc>
                <a:spcPct val="116300"/>
              </a:lnSpc>
            </a:pPr>
            <a:r>
              <a:rPr sz="3600" dirty="0">
                <a:solidFill>
                  <a:srgbClr val="2E377E"/>
                </a:solidFill>
                <a:latin typeface="Georgia"/>
                <a:cs typeface="Georgia"/>
              </a:rPr>
              <a:t>configmap</a:t>
            </a:r>
            <a:r>
              <a:rPr sz="3600" spc="-5" dirty="0">
                <a:solidFill>
                  <a:srgbClr val="2E377E"/>
                </a:solidFill>
                <a:latin typeface="Georgia"/>
                <a:cs typeface="Georgia"/>
              </a:rPr>
              <a:t> </a:t>
            </a:r>
            <a:r>
              <a:rPr sz="3600" dirty="0">
                <a:solidFill>
                  <a:srgbClr val="2E377E"/>
                </a:solidFill>
                <a:latin typeface="Georgia"/>
                <a:cs typeface="Georgia"/>
              </a:rPr>
              <a:t>name</a:t>
            </a:r>
            <a:r>
              <a:rPr sz="3600" spc="-5" dirty="0">
                <a:solidFill>
                  <a:srgbClr val="2E377E"/>
                </a:solidFill>
                <a:latin typeface="Georgia"/>
                <a:cs typeface="Georgia"/>
              </a:rPr>
              <a:t> </a:t>
            </a:r>
            <a:r>
              <a:rPr sz="3600" spc="55" dirty="0">
                <a:solidFill>
                  <a:srgbClr val="2E377E"/>
                </a:solidFill>
                <a:latin typeface="Georgia"/>
                <a:cs typeface="Georgia"/>
              </a:rPr>
              <a:t>which</a:t>
            </a:r>
            <a:r>
              <a:rPr sz="3600" spc="-5" dirty="0">
                <a:solidFill>
                  <a:srgbClr val="2E377E"/>
                </a:solidFill>
                <a:latin typeface="Georgia"/>
                <a:cs typeface="Georgia"/>
              </a:rPr>
              <a:t> </a:t>
            </a:r>
            <a:r>
              <a:rPr sz="3600" spc="75" dirty="0">
                <a:solidFill>
                  <a:srgbClr val="2E377E"/>
                </a:solidFill>
                <a:latin typeface="Georgia"/>
                <a:cs typeface="Georgia"/>
              </a:rPr>
              <a:t>was</a:t>
            </a:r>
            <a:r>
              <a:rPr sz="3600" spc="-5" dirty="0">
                <a:solidFill>
                  <a:srgbClr val="2E377E"/>
                </a:solidFill>
                <a:latin typeface="Georgia"/>
                <a:cs typeface="Georgia"/>
              </a:rPr>
              <a:t> </a:t>
            </a:r>
            <a:r>
              <a:rPr sz="3600" spc="50" dirty="0">
                <a:solidFill>
                  <a:srgbClr val="2E377E"/>
                </a:solidFill>
                <a:latin typeface="Georgia"/>
                <a:cs typeface="Georgia"/>
              </a:rPr>
              <a:t>created</a:t>
            </a:r>
            <a:r>
              <a:rPr sz="3600" spc="-5" dirty="0">
                <a:solidFill>
                  <a:srgbClr val="2E377E"/>
                </a:solidFill>
                <a:latin typeface="Georgia"/>
                <a:cs typeface="Georgia"/>
              </a:rPr>
              <a:t> </a:t>
            </a:r>
            <a:r>
              <a:rPr sz="3600" spc="85" dirty="0">
                <a:solidFill>
                  <a:srgbClr val="2E377E"/>
                </a:solidFill>
                <a:latin typeface="Georgia"/>
                <a:cs typeface="Georgia"/>
              </a:rPr>
              <a:t>with</a:t>
            </a:r>
            <a:r>
              <a:rPr sz="3600" spc="-5" dirty="0">
                <a:solidFill>
                  <a:srgbClr val="2E377E"/>
                </a:solidFill>
                <a:latin typeface="Georgia"/>
                <a:cs typeface="Georgia"/>
              </a:rPr>
              <a:t> </a:t>
            </a:r>
            <a:r>
              <a:rPr sz="3600" spc="-10" dirty="0">
                <a:solidFill>
                  <a:srgbClr val="2E377E"/>
                </a:solidFill>
                <a:latin typeface="Georgia"/>
                <a:cs typeface="Georgia"/>
              </a:rPr>
              <a:t>normal </a:t>
            </a:r>
            <a:r>
              <a:rPr sz="3600" spc="-20" dirty="0">
                <a:solidFill>
                  <a:srgbClr val="2E377E"/>
                </a:solidFill>
                <a:latin typeface="Georgia"/>
                <a:cs typeface="Georgia"/>
              </a:rPr>
              <a:t>file</a:t>
            </a:r>
            <a:endParaRPr sz="3600">
              <a:latin typeface="Georgia"/>
              <a:cs typeface="Georgia"/>
            </a:endParaRPr>
          </a:p>
          <a:p>
            <a:pPr>
              <a:lnSpc>
                <a:spcPct val="100000"/>
              </a:lnSpc>
              <a:spcBef>
                <a:spcPts val="1080"/>
              </a:spcBef>
            </a:pPr>
            <a:endParaRPr sz="3600">
              <a:latin typeface="Georgia"/>
              <a:cs typeface="Georgia"/>
            </a:endParaRPr>
          </a:p>
          <a:p>
            <a:pPr marL="12700">
              <a:lnSpc>
                <a:spcPct val="100000"/>
              </a:lnSpc>
            </a:pPr>
            <a:r>
              <a:rPr sz="3600" dirty="0">
                <a:solidFill>
                  <a:srgbClr val="2E377E"/>
                </a:solidFill>
                <a:latin typeface="Georgia"/>
                <a:cs typeface="Georgia"/>
              </a:rPr>
              <a:t>After</a:t>
            </a:r>
            <a:r>
              <a:rPr sz="3600" spc="25" dirty="0">
                <a:solidFill>
                  <a:srgbClr val="2E377E"/>
                </a:solidFill>
                <a:latin typeface="Georgia"/>
                <a:cs typeface="Georgia"/>
              </a:rPr>
              <a:t> </a:t>
            </a:r>
            <a:r>
              <a:rPr sz="3600" dirty="0">
                <a:solidFill>
                  <a:srgbClr val="2E377E"/>
                </a:solidFill>
                <a:latin typeface="Georgia"/>
                <a:cs typeface="Georgia"/>
              </a:rPr>
              <a:t>creating</a:t>
            </a:r>
            <a:r>
              <a:rPr sz="3600" spc="2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spc="65" dirty="0">
                <a:solidFill>
                  <a:srgbClr val="2E377E"/>
                </a:solidFill>
                <a:latin typeface="Georgia"/>
                <a:cs typeface="Georgia"/>
              </a:rPr>
              <a:t>enter</a:t>
            </a:r>
            <a:r>
              <a:rPr sz="3600" spc="30" dirty="0">
                <a:solidFill>
                  <a:srgbClr val="2E377E"/>
                </a:solidFill>
                <a:latin typeface="Georgia"/>
                <a:cs typeface="Georgia"/>
              </a:rPr>
              <a:t> </a:t>
            </a:r>
            <a:r>
              <a:rPr sz="3600" dirty="0">
                <a:solidFill>
                  <a:srgbClr val="2E377E"/>
                </a:solidFill>
                <a:latin typeface="Georgia"/>
                <a:cs typeface="Georgia"/>
              </a:rPr>
              <a:t>into</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pod</a:t>
            </a:r>
            <a:r>
              <a:rPr sz="3600" spc="30" dirty="0">
                <a:solidFill>
                  <a:srgbClr val="2E377E"/>
                </a:solidFill>
                <a:latin typeface="Georgia"/>
                <a:cs typeface="Georgia"/>
              </a:rPr>
              <a:t> </a:t>
            </a:r>
            <a:r>
              <a:rPr sz="3600" spc="-10" dirty="0">
                <a:solidFill>
                  <a:srgbClr val="2E377E"/>
                </a:solidFill>
                <a:latin typeface="Georgia"/>
                <a:cs typeface="Georgia"/>
              </a:rPr>
              <a:t>using</a:t>
            </a:r>
            <a:endParaRPr sz="3600">
              <a:latin typeface="Georgia"/>
              <a:cs typeface="Georgia"/>
            </a:endParaRPr>
          </a:p>
          <a:p>
            <a:pPr marL="12700">
              <a:lnSpc>
                <a:spcPct val="100000"/>
              </a:lnSpc>
              <a:spcBef>
                <a:spcPts val="705"/>
              </a:spcBef>
            </a:pPr>
            <a:r>
              <a:rPr sz="3600" spc="204" dirty="0">
                <a:solidFill>
                  <a:srgbClr val="2E377E"/>
                </a:solidFill>
                <a:latin typeface="Times New Roman"/>
                <a:cs typeface="Times New Roman"/>
              </a:rPr>
              <a:t>kubectl</a:t>
            </a:r>
            <a:r>
              <a:rPr sz="3600" spc="-85" dirty="0">
                <a:solidFill>
                  <a:srgbClr val="2E377E"/>
                </a:solidFill>
                <a:latin typeface="Times New Roman"/>
                <a:cs typeface="Times New Roman"/>
              </a:rPr>
              <a:t> </a:t>
            </a:r>
            <a:r>
              <a:rPr sz="3600" spc="155" dirty="0">
                <a:solidFill>
                  <a:srgbClr val="2E377E"/>
                </a:solidFill>
                <a:latin typeface="Times New Roman"/>
                <a:cs typeface="Times New Roman"/>
              </a:rPr>
              <a:t>exec</a:t>
            </a:r>
            <a:r>
              <a:rPr sz="3600" spc="-85"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210" dirty="0">
                <a:solidFill>
                  <a:srgbClr val="2E377E"/>
                </a:solidFill>
                <a:latin typeface="Times New Roman"/>
                <a:cs typeface="Times New Roman"/>
              </a:rPr>
              <a:t>it</a:t>
            </a:r>
            <a:r>
              <a:rPr sz="3600" spc="-80" dirty="0">
                <a:solidFill>
                  <a:srgbClr val="2E377E"/>
                </a:solidFill>
                <a:latin typeface="Times New Roman"/>
                <a:cs typeface="Times New Roman"/>
              </a:rPr>
              <a:t> </a:t>
            </a:r>
            <a:r>
              <a:rPr sz="3600" spc="305" dirty="0">
                <a:solidFill>
                  <a:srgbClr val="2E377E"/>
                </a:solidFill>
                <a:latin typeface="Times New Roman"/>
                <a:cs typeface="Times New Roman"/>
              </a:rPr>
              <a:t>pod_name</a:t>
            </a:r>
            <a:r>
              <a:rPr sz="3600" spc="-85" dirty="0">
                <a:solidFill>
                  <a:srgbClr val="2E377E"/>
                </a:solidFill>
                <a:latin typeface="Times New Roman"/>
                <a:cs typeface="Times New Roman"/>
              </a:rPr>
              <a:t> </a:t>
            </a:r>
            <a:r>
              <a:rPr sz="3600" spc="245" dirty="0">
                <a:solidFill>
                  <a:srgbClr val="2E377E"/>
                </a:solidFill>
                <a:latin typeface="Times New Roman"/>
                <a:cs typeface="Times New Roman"/>
              </a:rPr>
              <a:t>/bin/bash</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Once</a:t>
            </a:r>
            <a:r>
              <a:rPr sz="3600" spc="-5" dirty="0">
                <a:solidFill>
                  <a:srgbClr val="2E377E"/>
                </a:solidFill>
                <a:latin typeface="Georgia"/>
                <a:cs typeface="Georgia"/>
              </a:rPr>
              <a:t> </a:t>
            </a:r>
            <a:r>
              <a:rPr sz="3600" spc="90" dirty="0">
                <a:solidFill>
                  <a:srgbClr val="2E377E"/>
                </a:solidFill>
                <a:latin typeface="Georgia"/>
                <a:cs typeface="Georgia"/>
              </a:rPr>
              <a:t>you</a:t>
            </a:r>
            <a:r>
              <a:rPr sz="3600" dirty="0">
                <a:solidFill>
                  <a:srgbClr val="2E377E"/>
                </a:solidFill>
                <a:latin typeface="Georgia"/>
                <a:cs typeface="Georgia"/>
              </a:rPr>
              <a:t> </a:t>
            </a:r>
            <a:r>
              <a:rPr sz="3600" spc="55" dirty="0">
                <a:solidFill>
                  <a:srgbClr val="2E377E"/>
                </a:solidFill>
                <a:latin typeface="Georgia"/>
                <a:cs typeface="Georgia"/>
              </a:rPr>
              <a:t>entered</a:t>
            </a:r>
            <a:r>
              <a:rPr sz="3600" dirty="0">
                <a:solidFill>
                  <a:srgbClr val="2E377E"/>
                </a:solidFill>
                <a:latin typeface="Georgia"/>
                <a:cs typeface="Georgia"/>
              </a:rPr>
              <a:t> into</a:t>
            </a:r>
            <a:r>
              <a:rPr sz="3600" spc="-5" dirty="0">
                <a:solidFill>
                  <a:srgbClr val="2E377E"/>
                </a:solidFill>
                <a:latin typeface="Georgia"/>
                <a:cs typeface="Georgia"/>
              </a:rPr>
              <a:t> </a:t>
            </a:r>
            <a:r>
              <a:rPr sz="3600" dirty="0">
                <a:solidFill>
                  <a:srgbClr val="2E377E"/>
                </a:solidFill>
                <a:latin typeface="Georgia"/>
                <a:cs typeface="Georgia"/>
              </a:rPr>
              <a:t>pod </a:t>
            </a:r>
            <a:r>
              <a:rPr sz="3600" spc="70" dirty="0">
                <a:solidFill>
                  <a:srgbClr val="2E377E"/>
                </a:solidFill>
                <a:latin typeface="Georgia"/>
                <a:cs typeface="Georgia"/>
              </a:rPr>
              <a:t>give</a:t>
            </a:r>
            <a:r>
              <a:rPr sz="3600" dirty="0">
                <a:solidFill>
                  <a:srgbClr val="2E377E"/>
                </a:solidFill>
                <a:latin typeface="Georgia"/>
                <a:cs typeface="Georgia"/>
              </a:rPr>
              <a:t> a</a:t>
            </a:r>
            <a:r>
              <a:rPr sz="3600" spc="-5" dirty="0">
                <a:solidFill>
                  <a:srgbClr val="2E377E"/>
                </a:solidFill>
                <a:latin typeface="Georgia"/>
                <a:cs typeface="Georgia"/>
              </a:rPr>
              <a:t> </a:t>
            </a:r>
            <a:r>
              <a:rPr sz="3600" dirty="0">
                <a:solidFill>
                  <a:srgbClr val="2E377E"/>
                </a:solidFill>
                <a:latin typeface="Georgia"/>
                <a:cs typeface="Georgia"/>
              </a:rPr>
              <a:t>command</a:t>
            </a:r>
            <a:r>
              <a:rPr sz="3600" spc="5" dirty="0">
                <a:solidFill>
                  <a:srgbClr val="2E377E"/>
                </a:solidFill>
                <a:latin typeface="Georgia"/>
                <a:cs typeface="Georgia"/>
              </a:rPr>
              <a:t> </a:t>
            </a:r>
            <a:r>
              <a:rPr sz="3600" spc="75" dirty="0">
                <a:solidFill>
                  <a:srgbClr val="2E377E"/>
                </a:solidFill>
                <a:latin typeface="Times New Roman"/>
                <a:cs typeface="Times New Roman"/>
              </a:rPr>
              <a:t>ls</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You</a:t>
            </a:r>
            <a:r>
              <a:rPr sz="3600" spc="20" dirty="0">
                <a:solidFill>
                  <a:srgbClr val="2E377E"/>
                </a:solidFill>
                <a:latin typeface="Georgia"/>
                <a:cs typeface="Georgia"/>
              </a:rPr>
              <a:t> </a:t>
            </a:r>
            <a:r>
              <a:rPr sz="3600" spc="55" dirty="0">
                <a:solidFill>
                  <a:srgbClr val="2E377E"/>
                </a:solidFill>
                <a:latin typeface="Georgia"/>
                <a:cs typeface="Georgia"/>
              </a:rPr>
              <a:t>will</a:t>
            </a:r>
            <a:r>
              <a:rPr sz="3600" spc="25" dirty="0">
                <a:solidFill>
                  <a:srgbClr val="2E377E"/>
                </a:solidFill>
                <a:latin typeface="Georgia"/>
                <a:cs typeface="Georgia"/>
              </a:rPr>
              <a:t> </a:t>
            </a:r>
            <a:r>
              <a:rPr sz="3600" dirty="0">
                <a:solidFill>
                  <a:srgbClr val="2E377E"/>
                </a:solidFill>
                <a:latin typeface="Georgia"/>
                <a:cs typeface="Georgia"/>
              </a:rPr>
              <a:t>find</a:t>
            </a:r>
            <a:r>
              <a:rPr sz="3600" spc="25"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dirty="0">
                <a:solidFill>
                  <a:srgbClr val="2E377E"/>
                </a:solidFill>
                <a:latin typeface="Georgia"/>
                <a:cs typeface="Georgia"/>
              </a:rPr>
              <a:t>folder</a:t>
            </a:r>
            <a:r>
              <a:rPr sz="3600" spc="25" dirty="0">
                <a:solidFill>
                  <a:srgbClr val="2E377E"/>
                </a:solidFill>
                <a:latin typeface="Georgia"/>
                <a:cs typeface="Georgia"/>
              </a:rPr>
              <a:t> </a:t>
            </a:r>
            <a:r>
              <a:rPr sz="3600" dirty="0">
                <a:solidFill>
                  <a:srgbClr val="2E377E"/>
                </a:solidFill>
                <a:latin typeface="Georgia"/>
                <a:cs typeface="Georgia"/>
              </a:rPr>
              <a:t>called</a:t>
            </a:r>
            <a:r>
              <a:rPr sz="3600" spc="25" dirty="0">
                <a:solidFill>
                  <a:srgbClr val="2E377E"/>
                </a:solidFill>
                <a:latin typeface="Georgia"/>
                <a:cs typeface="Georgia"/>
              </a:rPr>
              <a:t> </a:t>
            </a:r>
            <a:r>
              <a:rPr sz="3600" spc="70" dirty="0">
                <a:solidFill>
                  <a:srgbClr val="2E377E"/>
                </a:solidFill>
                <a:latin typeface="Georgia"/>
                <a:cs typeface="Georgia"/>
              </a:rPr>
              <a:t>env-</a:t>
            </a:r>
            <a:r>
              <a:rPr sz="3600" spc="-10" dirty="0">
                <a:solidFill>
                  <a:srgbClr val="2E377E"/>
                </a:solidFill>
                <a:latin typeface="Georgia"/>
                <a:cs typeface="Georgia"/>
              </a:rPr>
              <a:t>values.</a:t>
            </a:r>
            <a:endParaRPr sz="3600">
              <a:latin typeface="Georgia"/>
              <a:cs typeface="Georgia"/>
            </a:endParaRPr>
          </a:p>
        </p:txBody>
      </p:sp>
      <p:sp>
        <p:nvSpPr>
          <p:cNvPr id="5" name="object 5"/>
          <p:cNvSpPr txBox="1"/>
          <p:nvPr/>
        </p:nvSpPr>
        <p:spPr>
          <a:xfrm>
            <a:off x="469403" y="7934959"/>
            <a:ext cx="9768840" cy="130175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In</a:t>
            </a:r>
            <a:r>
              <a:rPr sz="3600" spc="-15" dirty="0">
                <a:solidFill>
                  <a:srgbClr val="2E377E"/>
                </a:solidFill>
                <a:latin typeface="Georgia"/>
                <a:cs typeface="Georgia"/>
              </a:rPr>
              <a:t> </a:t>
            </a:r>
            <a:r>
              <a:rPr sz="3600" dirty="0">
                <a:solidFill>
                  <a:srgbClr val="2E377E"/>
                </a:solidFill>
                <a:latin typeface="Georgia"/>
                <a:cs typeface="Georgia"/>
              </a:rPr>
              <a:t>side</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folder</a:t>
            </a:r>
            <a:r>
              <a:rPr sz="3600" spc="-10"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spc="75" dirty="0">
                <a:solidFill>
                  <a:srgbClr val="2E377E"/>
                </a:solidFill>
                <a:latin typeface="Georgia"/>
                <a:cs typeface="Georgia"/>
              </a:rPr>
              <a:t>get</a:t>
            </a:r>
            <a:r>
              <a:rPr sz="3600" spc="-10" dirty="0">
                <a:solidFill>
                  <a:srgbClr val="2E377E"/>
                </a:solidFill>
                <a:latin typeface="Georgia"/>
                <a:cs typeface="Georgia"/>
              </a:rPr>
              <a:t> </a:t>
            </a:r>
            <a:r>
              <a:rPr sz="3600" dirty="0">
                <a:solidFill>
                  <a:srgbClr val="2E377E"/>
                </a:solidFill>
                <a:latin typeface="Georgia"/>
                <a:cs typeface="Georgia"/>
              </a:rPr>
              <a:t>file</a:t>
            </a:r>
            <a:r>
              <a:rPr sz="3600" spc="-10" dirty="0">
                <a:solidFill>
                  <a:srgbClr val="2E377E"/>
                </a:solidFill>
                <a:latin typeface="Georgia"/>
                <a:cs typeface="Georgia"/>
              </a:rPr>
              <a:t> </a:t>
            </a:r>
            <a:r>
              <a:rPr sz="3600" dirty="0">
                <a:solidFill>
                  <a:srgbClr val="2E377E"/>
                </a:solidFill>
                <a:latin typeface="Georgia"/>
                <a:cs typeface="Georgia"/>
              </a:rPr>
              <a:t>names</a:t>
            </a:r>
            <a:r>
              <a:rPr sz="3600" spc="-15" dirty="0">
                <a:solidFill>
                  <a:srgbClr val="2E377E"/>
                </a:solidFill>
                <a:latin typeface="Georgia"/>
                <a:cs typeface="Georgia"/>
              </a:rPr>
              <a:t> </a:t>
            </a:r>
            <a:r>
              <a:rPr sz="3600" dirty="0">
                <a:solidFill>
                  <a:srgbClr val="2E377E"/>
                </a:solidFill>
                <a:latin typeface="Georgia"/>
                <a:cs typeface="Georgia"/>
              </a:rPr>
              <a:t>as</a:t>
            </a:r>
            <a:r>
              <a:rPr sz="3600" spc="-10" dirty="0">
                <a:solidFill>
                  <a:srgbClr val="2E377E"/>
                </a:solidFill>
                <a:latin typeface="Georgia"/>
                <a:cs typeface="Georgia"/>
              </a:rPr>
              <a:t> </a:t>
            </a:r>
            <a:r>
              <a:rPr sz="3600" spc="80" dirty="0">
                <a:solidFill>
                  <a:srgbClr val="2E377E"/>
                </a:solidFill>
                <a:latin typeface="Georgia"/>
                <a:cs typeface="Georgia"/>
              </a:rPr>
              <a:t>keys </a:t>
            </a:r>
            <a:r>
              <a:rPr sz="3600" dirty="0">
                <a:solidFill>
                  <a:srgbClr val="2E377E"/>
                </a:solidFill>
                <a:latin typeface="Georgia"/>
                <a:cs typeface="Georgia"/>
              </a:rPr>
              <a:t>open</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file</a:t>
            </a:r>
            <a:r>
              <a:rPr sz="3600" spc="-15" dirty="0">
                <a:solidFill>
                  <a:srgbClr val="2E377E"/>
                </a:solidFill>
                <a:latin typeface="Georgia"/>
                <a:cs typeface="Georgia"/>
              </a:rPr>
              <a:t> </a:t>
            </a:r>
            <a:r>
              <a:rPr sz="3600" dirty="0">
                <a:solidFill>
                  <a:srgbClr val="2E377E"/>
                </a:solidFill>
                <a:latin typeface="Georgia"/>
                <a:cs typeface="Georgia"/>
              </a:rPr>
              <a:t>using</a:t>
            </a:r>
            <a:r>
              <a:rPr sz="3600" spc="-15" dirty="0">
                <a:solidFill>
                  <a:srgbClr val="2E377E"/>
                </a:solidFill>
                <a:latin typeface="Georgia"/>
                <a:cs typeface="Georgia"/>
              </a:rPr>
              <a:t> </a:t>
            </a:r>
            <a:r>
              <a:rPr sz="3600" spc="215" dirty="0">
                <a:solidFill>
                  <a:srgbClr val="2E377E"/>
                </a:solidFill>
                <a:latin typeface="Times New Roman"/>
                <a:cs typeface="Times New Roman"/>
              </a:rPr>
              <a:t>cat</a:t>
            </a:r>
            <a:r>
              <a:rPr sz="3600" spc="-45" dirty="0">
                <a:solidFill>
                  <a:srgbClr val="2E377E"/>
                </a:solidFill>
                <a:latin typeface="Times New Roman"/>
                <a:cs typeface="Times New Roman"/>
              </a:rPr>
              <a:t> </a:t>
            </a:r>
            <a:r>
              <a:rPr sz="3600" spc="50" dirty="0">
                <a:solidFill>
                  <a:srgbClr val="2E377E"/>
                </a:solidFill>
                <a:latin typeface="Georgia"/>
                <a:cs typeface="Georgia"/>
              </a:rPr>
              <a:t>then</a:t>
            </a:r>
            <a:r>
              <a:rPr sz="3600" spc="-20"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spc="55" dirty="0">
                <a:solidFill>
                  <a:srgbClr val="2E377E"/>
                </a:solidFill>
                <a:latin typeface="Georgia"/>
                <a:cs typeface="Georgia"/>
              </a:rPr>
              <a:t>will</a:t>
            </a:r>
            <a:r>
              <a:rPr sz="3600" spc="-20" dirty="0">
                <a:solidFill>
                  <a:srgbClr val="2E377E"/>
                </a:solidFill>
                <a:latin typeface="Georgia"/>
                <a:cs typeface="Georgia"/>
              </a:rPr>
              <a:t> </a:t>
            </a:r>
            <a:r>
              <a:rPr sz="3600" spc="75" dirty="0">
                <a:solidFill>
                  <a:srgbClr val="2E377E"/>
                </a:solidFill>
                <a:latin typeface="Georgia"/>
                <a:cs typeface="Georgia"/>
              </a:rPr>
              <a:t>get</a:t>
            </a:r>
            <a:r>
              <a:rPr sz="3600" spc="-15" dirty="0">
                <a:solidFill>
                  <a:srgbClr val="2E377E"/>
                </a:solidFill>
                <a:latin typeface="Georgia"/>
                <a:cs typeface="Georgia"/>
              </a:rPr>
              <a:t> </a:t>
            </a:r>
            <a:r>
              <a:rPr sz="3600" spc="-10" dirty="0">
                <a:solidFill>
                  <a:srgbClr val="2E377E"/>
                </a:solidFill>
                <a:latin typeface="Georgia"/>
                <a:cs typeface="Georgia"/>
              </a:rPr>
              <a:t>labels</a:t>
            </a:r>
            <a:endParaRPr sz="3600">
              <a:latin typeface="Georgia"/>
              <a:cs typeface="Georgia"/>
            </a:endParaRPr>
          </a:p>
        </p:txBody>
      </p:sp>
      <p:sp>
        <p:nvSpPr>
          <p:cNvPr id="6" name="object 6"/>
          <p:cNvSpPr txBox="1"/>
          <p:nvPr/>
        </p:nvSpPr>
        <p:spPr>
          <a:xfrm>
            <a:off x="11878286" y="8662669"/>
            <a:ext cx="4828540" cy="1050290"/>
          </a:xfrm>
          <a:prstGeom prst="rect">
            <a:avLst/>
          </a:prstGeom>
        </p:spPr>
        <p:txBody>
          <a:bodyPr vert="horz" wrap="square" lIns="0" tIns="12700" rIns="0" bIns="0" rtlCol="0">
            <a:spAutoFit/>
          </a:bodyPr>
          <a:lstStyle/>
          <a:p>
            <a:pPr marL="1138555">
              <a:lnSpc>
                <a:spcPts val="4215"/>
              </a:lnSpc>
              <a:spcBef>
                <a:spcPts val="100"/>
              </a:spcBef>
            </a:pPr>
            <a:r>
              <a:rPr sz="3600" spc="-10" dirty="0">
                <a:solidFill>
                  <a:srgbClr val="2E377E"/>
                </a:solidFill>
                <a:latin typeface="Georgia"/>
                <a:cs typeface="Georgia"/>
              </a:rPr>
              <a:t>POD.YML</a:t>
            </a:r>
            <a:endParaRPr sz="3600">
              <a:latin typeface="Georgia"/>
              <a:cs typeface="Georgia"/>
            </a:endParaRPr>
          </a:p>
          <a:p>
            <a:pPr marL="12700">
              <a:lnSpc>
                <a:spcPts val="3854"/>
              </a:lnSpc>
            </a:pPr>
            <a:r>
              <a:rPr sz="3300" b="1" spc="110" dirty="0">
                <a:solidFill>
                  <a:srgbClr val="FF3131"/>
                </a:solidFill>
                <a:latin typeface="Times New Roman"/>
                <a:cs typeface="Times New Roman"/>
              </a:rPr>
              <a:t>kubectl</a:t>
            </a:r>
            <a:r>
              <a:rPr sz="3300" b="1" spc="-25" dirty="0">
                <a:solidFill>
                  <a:srgbClr val="FF3131"/>
                </a:solidFill>
                <a:latin typeface="Times New Roman"/>
                <a:cs typeface="Times New Roman"/>
              </a:rPr>
              <a:t> </a:t>
            </a:r>
            <a:r>
              <a:rPr sz="3300" b="1" spc="145" dirty="0">
                <a:solidFill>
                  <a:srgbClr val="FF3131"/>
                </a:solidFill>
                <a:latin typeface="Times New Roman"/>
                <a:cs typeface="Times New Roman"/>
              </a:rPr>
              <a:t>apply</a:t>
            </a:r>
            <a:r>
              <a:rPr sz="3300" b="1" spc="-25" dirty="0">
                <a:solidFill>
                  <a:srgbClr val="FF3131"/>
                </a:solidFill>
                <a:latin typeface="Times New Roman"/>
                <a:cs typeface="Times New Roman"/>
              </a:rPr>
              <a:t> </a:t>
            </a:r>
            <a:r>
              <a:rPr sz="3300" b="1" spc="434" dirty="0">
                <a:solidFill>
                  <a:srgbClr val="FF3131"/>
                </a:solidFill>
                <a:latin typeface="Times New Roman"/>
                <a:cs typeface="Times New Roman"/>
              </a:rPr>
              <a:t>-</a:t>
            </a:r>
            <a:r>
              <a:rPr sz="3300" b="1" dirty="0">
                <a:solidFill>
                  <a:srgbClr val="FF3131"/>
                </a:solidFill>
                <a:latin typeface="Times New Roman"/>
                <a:cs typeface="Times New Roman"/>
              </a:rPr>
              <a:t>f</a:t>
            </a:r>
            <a:r>
              <a:rPr sz="3300" b="1" spc="-25" dirty="0">
                <a:solidFill>
                  <a:srgbClr val="FF3131"/>
                </a:solidFill>
                <a:latin typeface="Times New Roman"/>
                <a:cs typeface="Times New Roman"/>
              </a:rPr>
              <a:t> </a:t>
            </a:r>
            <a:r>
              <a:rPr sz="3300" b="1" spc="165" dirty="0">
                <a:solidFill>
                  <a:srgbClr val="FF3131"/>
                </a:solidFill>
                <a:latin typeface="Times New Roman"/>
                <a:cs typeface="Times New Roman"/>
              </a:rPr>
              <a:t>pod.yml</a:t>
            </a:r>
            <a:endParaRPr sz="3300">
              <a:latin typeface="Times New Roman"/>
              <a:cs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335778" y="1331781"/>
            <a:ext cx="5924549" cy="7267574"/>
          </a:xfrm>
          <a:prstGeom prst="rect">
            <a:avLst/>
          </a:prstGeom>
        </p:spPr>
      </p:pic>
      <p:sp>
        <p:nvSpPr>
          <p:cNvPr id="3" name="object 3"/>
          <p:cNvSpPr txBox="1">
            <a:spLocks noGrp="1"/>
          </p:cNvSpPr>
          <p:nvPr>
            <p:ph type="title"/>
          </p:nvPr>
        </p:nvSpPr>
        <p:spPr>
          <a:xfrm>
            <a:off x="469403" y="318639"/>
            <a:ext cx="14678660" cy="1539875"/>
          </a:xfrm>
          <a:prstGeom prst="rect">
            <a:avLst/>
          </a:prstGeom>
        </p:spPr>
        <p:txBody>
          <a:bodyPr vert="horz" wrap="square" lIns="0" tIns="36194" rIns="0" bIns="0" rtlCol="0">
            <a:spAutoFit/>
          </a:bodyPr>
          <a:lstStyle/>
          <a:p>
            <a:pPr marL="12700" marR="5080">
              <a:lnSpc>
                <a:spcPts val="5920"/>
              </a:lnSpc>
              <a:spcBef>
                <a:spcPts val="284"/>
              </a:spcBef>
            </a:pPr>
            <a:r>
              <a:rPr spc="100" dirty="0">
                <a:solidFill>
                  <a:srgbClr val="FF3131"/>
                </a:solidFill>
              </a:rPr>
              <a:t>Injecting</a:t>
            </a:r>
            <a:r>
              <a:rPr spc="-80" dirty="0">
                <a:solidFill>
                  <a:srgbClr val="FF3131"/>
                </a:solidFill>
              </a:rPr>
              <a:t> </a:t>
            </a:r>
            <a:r>
              <a:rPr spc="420" dirty="0">
                <a:solidFill>
                  <a:srgbClr val="FF3131"/>
                </a:solidFill>
              </a:rPr>
              <a:t>cm</a:t>
            </a:r>
            <a:r>
              <a:rPr spc="-75" dirty="0">
                <a:solidFill>
                  <a:srgbClr val="FF3131"/>
                </a:solidFill>
              </a:rPr>
              <a:t> </a:t>
            </a:r>
            <a:r>
              <a:rPr spc="260" dirty="0">
                <a:solidFill>
                  <a:srgbClr val="FF3131"/>
                </a:solidFill>
              </a:rPr>
              <a:t>and</a:t>
            </a:r>
            <a:r>
              <a:rPr spc="-75" dirty="0">
                <a:solidFill>
                  <a:srgbClr val="FF3131"/>
                </a:solidFill>
              </a:rPr>
              <a:t> </a:t>
            </a:r>
            <a:r>
              <a:rPr spc="114" dirty="0">
                <a:solidFill>
                  <a:srgbClr val="FF3131"/>
                </a:solidFill>
              </a:rPr>
              <a:t>creating</a:t>
            </a:r>
            <a:r>
              <a:rPr spc="-75" dirty="0">
                <a:solidFill>
                  <a:srgbClr val="FF3131"/>
                </a:solidFill>
              </a:rPr>
              <a:t> </a:t>
            </a:r>
            <a:r>
              <a:rPr spc="75" dirty="0">
                <a:solidFill>
                  <a:srgbClr val="FF3131"/>
                </a:solidFill>
              </a:rPr>
              <a:t>a</a:t>
            </a:r>
            <a:r>
              <a:rPr spc="-75" dirty="0">
                <a:solidFill>
                  <a:srgbClr val="FF3131"/>
                </a:solidFill>
              </a:rPr>
              <a:t> </a:t>
            </a:r>
            <a:r>
              <a:rPr spc="114" dirty="0">
                <a:solidFill>
                  <a:srgbClr val="FF3131"/>
                </a:solidFill>
              </a:rPr>
              <a:t>file</a:t>
            </a:r>
            <a:r>
              <a:rPr spc="-75" dirty="0">
                <a:solidFill>
                  <a:srgbClr val="FF3131"/>
                </a:solidFill>
              </a:rPr>
              <a:t> </a:t>
            </a:r>
            <a:r>
              <a:rPr spc="265" dirty="0">
                <a:solidFill>
                  <a:srgbClr val="FF3131"/>
                </a:solidFill>
              </a:rPr>
              <a:t>in</a:t>
            </a:r>
            <a:r>
              <a:rPr spc="-75" dirty="0">
                <a:solidFill>
                  <a:srgbClr val="FF3131"/>
                </a:solidFill>
              </a:rPr>
              <a:t> </a:t>
            </a:r>
            <a:r>
              <a:rPr spc="195" dirty="0">
                <a:solidFill>
                  <a:srgbClr val="FF3131"/>
                </a:solidFill>
              </a:rPr>
              <a:t>the</a:t>
            </a:r>
            <a:r>
              <a:rPr spc="-75" dirty="0">
                <a:solidFill>
                  <a:srgbClr val="FF3131"/>
                </a:solidFill>
              </a:rPr>
              <a:t> </a:t>
            </a:r>
            <a:r>
              <a:rPr spc="305" dirty="0">
                <a:solidFill>
                  <a:srgbClr val="FF3131"/>
                </a:solidFill>
              </a:rPr>
              <a:t>pod</a:t>
            </a:r>
            <a:r>
              <a:rPr spc="-75" dirty="0">
                <a:solidFill>
                  <a:srgbClr val="FF3131"/>
                </a:solidFill>
              </a:rPr>
              <a:t> </a:t>
            </a:r>
            <a:r>
              <a:rPr spc="285" dirty="0">
                <a:solidFill>
                  <a:srgbClr val="FF3131"/>
                </a:solidFill>
              </a:rPr>
              <a:t>with</a:t>
            </a:r>
            <a:r>
              <a:rPr spc="-75" dirty="0">
                <a:solidFill>
                  <a:srgbClr val="FF3131"/>
                </a:solidFill>
              </a:rPr>
              <a:t> </a:t>
            </a:r>
            <a:r>
              <a:rPr spc="170" dirty="0">
                <a:solidFill>
                  <a:srgbClr val="FF3131"/>
                </a:solidFill>
              </a:rPr>
              <a:t>the </a:t>
            </a:r>
            <a:r>
              <a:rPr spc="195" dirty="0">
                <a:solidFill>
                  <a:srgbClr val="FF3131"/>
                </a:solidFill>
              </a:rPr>
              <a:t>selected</a:t>
            </a:r>
            <a:r>
              <a:rPr spc="-65" dirty="0">
                <a:solidFill>
                  <a:srgbClr val="FF3131"/>
                </a:solidFill>
              </a:rPr>
              <a:t> </a:t>
            </a:r>
            <a:r>
              <a:rPr spc="170" dirty="0">
                <a:solidFill>
                  <a:srgbClr val="FF3131"/>
                </a:solidFill>
              </a:rPr>
              <a:t>key</a:t>
            </a:r>
            <a:r>
              <a:rPr spc="-65" dirty="0">
                <a:solidFill>
                  <a:srgbClr val="FF3131"/>
                </a:solidFill>
              </a:rPr>
              <a:t> </a:t>
            </a:r>
            <a:r>
              <a:rPr spc="95" dirty="0">
                <a:solidFill>
                  <a:srgbClr val="FF3131"/>
                </a:solidFill>
              </a:rPr>
              <a:t>pairs</a:t>
            </a: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12700" marR="5080">
              <a:lnSpc>
                <a:spcPct val="116300"/>
              </a:lnSpc>
              <a:spcBef>
                <a:spcPts val="100"/>
              </a:spcBef>
            </a:pPr>
            <a:r>
              <a:rPr dirty="0"/>
              <a:t>This</a:t>
            </a:r>
            <a:r>
              <a:rPr spc="-50" dirty="0"/>
              <a:t> </a:t>
            </a:r>
            <a:r>
              <a:rPr spc="55" dirty="0"/>
              <a:t>concept</a:t>
            </a:r>
            <a:r>
              <a:rPr spc="-50" dirty="0"/>
              <a:t> </a:t>
            </a:r>
            <a:r>
              <a:rPr dirty="0"/>
              <a:t>also</a:t>
            </a:r>
            <a:r>
              <a:rPr spc="-50" dirty="0"/>
              <a:t> </a:t>
            </a:r>
            <a:r>
              <a:rPr spc="55" dirty="0"/>
              <a:t>will</a:t>
            </a:r>
            <a:r>
              <a:rPr spc="-45" dirty="0"/>
              <a:t> </a:t>
            </a:r>
            <a:r>
              <a:rPr spc="80" dirty="0"/>
              <a:t>works</a:t>
            </a:r>
            <a:r>
              <a:rPr spc="-50" dirty="0"/>
              <a:t> </a:t>
            </a:r>
            <a:r>
              <a:rPr dirty="0"/>
              <a:t>as</a:t>
            </a:r>
            <a:r>
              <a:rPr spc="-50" dirty="0"/>
              <a:t> </a:t>
            </a:r>
            <a:r>
              <a:rPr dirty="0"/>
              <a:t>same</a:t>
            </a:r>
            <a:r>
              <a:rPr spc="-45" dirty="0"/>
              <a:t> </a:t>
            </a:r>
            <a:r>
              <a:rPr dirty="0"/>
              <a:t>as</a:t>
            </a:r>
            <a:r>
              <a:rPr spc="-50" dirty="0"/>
              <a:t> </a:t>
            </a:r>
            <a:r>
              <a:rPr spc="40" dirty="0"/>
              <a:t>previous </a:t>
            </a:r>
            <a:r>
              <a:rPr dirty="0"/>
              <a:t>topic. But Inside </a:t>
            </a:r>
            <a:r>
              <a:rPr spc="60" dirty="0"/>
              <a:t>the</a:t>
            </a:r>
            <a:r>
              <a:rPr spc="5" dirty="0"/>
              <a:t> </a:t>
            </a:r>
            <a:r>
              <a:rPr dirty="0"/>
              <a:t>pod </a:t>
            </a:r>
            <a:r>
              <a:rPr spc="140" dirty="0"/>
              <a:t>we</a:t>
            </a:r>
            <a:r>
              <a:rPr dirty="0"/>
              <a:t> can</a:t>
            </a:r>
            <a:r>
              <a:rPr spc="5" dirty="0"/>
              <a:t> </a:t>
            </a:r>
            <a:r>
              <a:rPr dirty="0"/>
              <a:t>declare </a:t>
            </a:r>
            <a:r>
              <a:rPr spc="35" dirty="0"/>
              <a:t>the </a:t>
            </a:r>
            <a:r>
              <a:rPr dirty="0"/>
              <a:t>filenames</a:t>
            </a:r>
            <a:r>
              <a:rPr spc="30" dirty="0"/>
              <a:t> </a:t>
            </a:r>
            <a:r>
              <a:rPr spc="95" dirty="0"/>
              <a:t>by</a:t>
            </a:r>
            <a:r>
              <a:rPr spc="30" dirty="0"/>
              <a:t> </a:t>
            </a:r>
            <a:r>
              <a:rPr dirty="0"/>
              <a:t>our</a:t>
            </a:r>
            <a:r>
              <a:rPr spc="35" dirty="0"/>
              <a:t> </a:t>
            </a:r>
            <a:r>
              <a:rPr spc="80" dirty="0"/>
              <a:t>own</a:t>
            </a:r>
            <a:r>
              <a:rPr spc="30" dirty="0"/>
              <a:t> </a:t>
            </a:r>
            <a:r>
              <a:rPr dirty="0"/>
              <a:t>inside</a:t>
            </a:r>
            <a:r>
              <a:rPr spc="30" dirty="0"/>
              <a:t> </a:t>
            </a:r>
            <a:r>
              <a:rPr spc="60" dirty="0"/>
              <a:t>the</a:t>
            </a:r>
            <a:r>
              <a:rPr spc="35" dirty="0"/>
              <a:t> </a:t>
            </a:r>
            <a:r>
              <a:rPr spc="70" dirty="0"/>
              <a:t>env-</a:t>
            </a:r>
            <a:r>
              <a:rPr spc="40" dirty="0"/>
              <a:t>values </a:t>
            </a:r>
            <a:r>
              <a:rPr spc="-10" dirty="0"/>
              <a:t>folder.</a:t>
            </a:r>
          </a:p>
          <a:p>
            <a:pPr marL="12700">
              <a:lnSpc>
                <a:spcPct val="100000"/>
              </a:lnSpc>
              <a:spcBef>
                <a:spcPts val="3265"/>
              </a:spcBef>
            </a:pPr>
            <a:r>
              <a:rPr dirty="0"/>
              <a:t>After</a:t>
            </a:r>
            <a:r>
              <a:rPr spc="25" dirty="0"/>
              <a:t> </a:t>
            </a:r>
            <a:r>
              <a:rPr dirty="0"/>
              <a:t>creating</a:t>
            </a:r>
            <a:r>
              <a:rPr spc="25" dirty="0"/>
              <a:t> </a:t>
            </a:r>
            <a:r>
              <a:rPr spc="60" dirty="0"/>
              <a:t>the</a:t>
            </a:r>
            <a:r>
              <a:rPr spc="30" dirty="0"/>
              <a:t> </a:t>
            </a:r>
            <a:r>
              <a:rPr dirty="0"/>
              <a:t>pod,</a:t>
            </a:r>
            <a:r>
              <a:rPr spc="25" dirty="0"/>
              <a:t> </a:t>
            </a:r>
            <a:r>
              <a:rPr spc="65" dirty="0"/>
              <a:t>enter</a:t>
            </a:r>
            <a:r>
              <a:rPr spc="30" dirty="0"/>
              <a:t> </a:t>
            </a:r>
            <a:r>
              <a:rPr dirty="0"/>
              <a:t>into</a:t>
            </a:r>
            <a:r>
              <a:rPr spc="25" dirty="0"/>
              <a:t> </a:t>
            </a:r>
            <a:r>
              <a:rPr spc="60" dirty="0"/>
              <a:t>the</a:t>
            </a:r>
            <a:r>
              <a:rPr spc="25" dirty="0"/>
              <a:t> </a:t>
            </a:r>
            <a:r>
              <a:rPr dirty="0"/>
              <a:t>pod</a:t>
            </a:r>
            <a:r>
              <a:rPr spc="30" dirty="0"/>
              <a:t> </a:t>
            </a:r>
            <a:r>
              <a:rPr spc="-10" dirty="0"/>
              <a:t>using</a:t>
            </a:r>
          </a:p>
          <a:p>
            <a:pPr marL="12700">
              <a:lnSpc>
                <a:spcPct val="100000"/>
              </a:lnSpc>
              <a:spcBef>
                <a:spcPts val="705"/>
              </a:spcBef>
            </a:pPr>
            <a:r>
              <a:rPr spc="204" dirty="0">
                <a:latin typeface="Times New Roman"/>
                <a:cs typeface="Times New Roman"/>
              </a:rPr>
              <a:t>kubectl</a:t>
            </a:r>
            <a:r>
              <a:rPr spc="-85" dirty="0">
                <a:latin typeface="Times New Roman"/>
                <a:cs typeface="Times New Roman"/>
              </a:rPr>
              <a:t> </a:t>
            </a:r>
            <a:r>
              <a:rPr spc="155" dirty="0">
                <a:latin typeface="Times New Roman"/>
                <a:cs typeface="Times New Roman"/>
              </a:rPr>
              <a:t>exec</a:t>
            </a:r>
            <a:r>
              <a:rPr spc="-85" dirty="0">
                <a:latin typeface="Times New Roman"/>
                <a:cs typeface="Times New Roman"/>
              </a:rPr>
              <a:t> </a:t>
            </a:r>
            <a:r>
              <a:rPr spc="180" dirty="0">
                <a:latin typeface="Times New Roman"/>
                <a:cs typeface="Times New Roman"/>
              </a:rPr>
              <a:t>-</a:t>
            </a:r>
            <a:r>
              <a:rPr spc="210" dirty="0">
                <a:latin typeface="Times New Roman"/>
                <a:cs typeface="Times New Roman"/>
              </a:rPr>
              <a:t>it</a:t>
            </a:r>
            <a:r>
              <a:rPr spc="-80" dirty="0">
                <a:latin typeface="Times New Roman"/>
                <a:cs typeface="Times New Roman"/>
              </a:rPr>
              <a:t> </a:t>
            </a:r>
            <a:r>
              <a:rPr spc="305" dirty="0">
                <a:latin typeface="Times New Roman"/>
                <a:cs typeface="Times New Roman"/>
              </a:rPr>
              <a:t>pod_name</a:t>
            </a:r>
            <a:r>
              <a:rPr spc="-85" dirty="0">
                <a:latin typeface="Times New Roman"/>
                <a:cs typeface="Times New Roman"/>
              </a:rPr>
              <a:t> </a:t>
            </a:r>
            <a:r>
              <a:rPr spc="245" dirty="0">
                <a:latin typeface="Times New Roman"/>
                <a:cs typeface="Times New Roman"/>
              </a:rPr>
              <a:t>/bin/bash</a:t>
            </a:r>
          </a:p>
          <a:p>
            <a:pPr marL="12700">
              <a:lnSpc>
                <a:spcPct val="100000"/>
              </a:lnSpc>
              <a:spcBef>
                <a:spcPts val="705"/>
              </a:spcBef>
            </a:pPr>
            <a:r>
              <a:rPr dirty="0"/>
              <a:t>Once</a:t>
            </a:r>
            <a:r>
              <a:rPr spc="-5" dirty="0"/>
              <a:t> </a:t>
            </a:r>
            <a:r>
              <a:rPr spc="90" dirty="0"/>
              <a:t>you</a:t>
            </a:r>
            <a:r>
              <a:rPr dirty="0"/>
              <a:t> </a:t>
            </a:r>
            <a:r>
              <a:rPr spc="55" dirty="0"/>
              <a:t>entered</a:t>
            </a:r>
            <a:r>
              <a:rPr dirty="0"/>
              <a:t> into</a:t>
            </a:r>
            <a:r>
              <a:rPr spc="-5" dirty="0"/>
              <a:t> </a:t>
            </a:r>
            <a:r>
              <a:rPr dirty="0"/>
              <a:t>pod </a:t>
            </a:r>
            <a:r>
              <a:rPr spc="70" dirty="0"/>
              <a:t>give</a:t>
            </a:r>
            <a:r>
              <a:rPr dirty="0"/>
              <a:t> a</a:t>
            </a:r>
            <a:r>
              <a:rPr spc="-5" dirty="0"/>
              <a:t> </a:t>
            </a:r>
            <a:r>
              <a:rPr dirty="0"/>
              <a:t>command</a:t>
            </a:r>
            <a:r>
              <a:rPr spc="5" dirty="0"/>
              <a:t> </a:t>
            </a:r>
            <a:r>
              <a:rPr spc="75" dirty="0">
                <a:latin typeface="Times New Roman"/>
                <a:cs typeface="Times New Roman"/>
              </a:rPr>
              <a:t>ls</a:t>
            </a:r>
          </a:p>
          <a:p>
            <a:pPr marL="12700">
              <a:lnSpc>
                <a:spcPct val="100000"/>
              </a:lnSpc>
              <a:spcBef>
                <a:spcPts val="705"/>
              </a:spcBef>
            </a:pPr>
            <a:r>
              <a:rPr dirty="0"/>
              <a:t>You</a:t>
            </a:r>
            <a:r>
              <a:rPr spc="20" dirty="0"/>
              <a:t> </a:t>
            </a:r>
            <a:r>
              <a:rPr spc="55" dirty="0"/>
              <a:t>will</a:t>
            </a:r>
            <a:r>
              <a:rPr spc="25" dirty="0"/>
              <a:t> </a:t>
            </a:r>
            <a:r>
              <a:rPr dirty="0"/>
              <a:t>find</a:t>
            </a:r>
            <a:r>
              <a:rPr spc="25" dirty="0"/>
              <a:t> </a:t>
            </a:r>
            <a:r>
              <a:rPr dirty="0"/>
              <a:t>a</a:t>
            </a:r>
            <a:r>
              <a:rPr spc="25" dirty="0"/>
              <a:t> </a:t>
            </a:r>
            <a:r>
              <a:rPr dirty="0"/>
              <a:t>folder</a:t>
            </a:r>
            <a:r>
              <a:rPr spc="25" dirty="0"/>
              <a:t> </a:t>
            </a:r>
            <a:r>
              <a:rPr dirty="0"/>
              <a:t>called</a:t>
            </a:r>
            <a:r>
              <a:rPr spc="25" dirty="0"/>
              <a:t> </a:t>
            </a:r>
            <a:r>
              <a:rPr spc="70" dirty="0"/>
              <a:t>env-</a:t>
            </a:r>
            <a:r>
              <a:rPr spc="-10" dirty="0"/>
              <a:t>values.</a:t>
            </a:r>
          </a:p>
        </p:txBody>
      </p:sp>
      <p:sp>
        <p:nvSpPr>
          <p:cNvPr id="5" name="object 5"/>
          <p:cNvSpPr txBox="1"/>
          <p:nvPr/>
        </p:nvSpPr>
        <p:spPr>
          <a:xfrm>
            <a:off x="469403" y="8432194"/>
            <a:ext cx="9672955" cy="130175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In</a:t>
            </a:r>
            <a:r>
              <a:rPr sz="3600" spc="-15" dirty="0">
                <a:solidFill>
                  <a:srgbClr val="2E377E"/>
                </a:solidFill>
                <a:latin typeface="Georgia"/>
                <a:cs typeface="Georgia"/>
              </a:rPr>
              <a:t> </a:t>
            </a:r>
            <a:r>
              <a:rPr sz="3600" dirty="0">
                <a:solidFill>
                  <a:srgbClr val="2E377E"/>
                </a:solidFill>
                <a:latin typeface="Georgia"/>
                <a:cs typeface="Georgia"/>
              </a:rPr>
              <a:t>side</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folder</a:t>
            </a:r>
            <a:r>
              <a:rPr sz="3600" spc="-10"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spc="75" dirty="0">
                <a:solidFill>
                  <a:srgbClr val="2E377E"/>
                </a:solidFill>
                <a:latin typeface="Georgia"/>
                <a:cs typeface="Georgia"/>
              </a:rPr>
              <a:t>get</a:t>
            </a:r>
            <a:r>
              <a:rPr sz="3600" spc="-10" dirty="0">
                <a:solidFill>
                  <a:srgbClr val="2E377E"/>
                </a:solidFill>
                <a:latin typeface="Georgia"/>
                <a:cs typeface="Georgia"/>
              </a:rPr>
              <a:t> </a:t>
            </a:r>
            <a:r>
              <a:rPr sz="3600" dirty="0">
                <a:solidFill>
                  <a:srgbClr val="2E377E"/>
                </a:solidFill>
                <a:latin typeface="Georgia"/>
                <a:cs typeface="Georgia"/>
              </a:rPr>
              <a:t>file</a:t>
            </a:r>
            <a:r>
              <a:rPr sz="3600" spc="-10" dirty="0">
                <a:solidFill>
                  <a:srgbClr val="2E377E"/>
                </a:solidFill>
                <a:latin typeface="Georgia"/>
                <a:cs typeface="Georgia"/>
              </a:rPr>
              <a:t> </a:t>
            </a:r>
            <a:r>
              <a:rPr sz="3600" dirty="0">
                <a:solidFill>
                  <a:srgbClr val="2E377E"/>
                </a:solidFill>
                <a:latin typeface="Georgia"/>
                <a:cs typeface="Georgia"/>
              </a:rPr>
              <a:t>names</a:t>
            </a:r>
            <a:r>
              <a:rPr sz="3600" spc="-15" dirty="0">
                <a:solidFill>
                  <a:srgbClr val="2E377E"/>
                </a:solidFill>
                <a:latin typeface="Georgia"/>
                <a:cs typeface="Georgia"/>
              </a:rPr>
              <a:t> </a:t>
            </a:r>
            <a:r>
              <a:rPr sz="3600" dirty="0">
                <a:solidFill>
                  <a:srgbClr val="2E377E"/>
                </a:solidFill>
                <a:latin typeface="Georgia"/>
                <a:cs typeface="Georgia"/>
              </a:rPr>
              <a:t>as</a:t>
            </a:r>
            <a:r>
              <a:rPr sz="3600" spc="-10" dirty="0">
                <a:solidFill>
                  <a:srgbClr val="2E377E"/>
                </a:solidFill>
                <a:latin typeface="Georgia"/>
                <a:cs typeface="Georgia"/>
              </a:rPr>
              <a:t> file1 </a:t>
            </a:r>
            <a:r>
              <a:rPr sz="3600" dirty="0">
                <a:solidFill>
                  <a:srgbClr val="2E377E"/>
                </a:solidFill>
                <a:latin typeface="Georgia"/>
                <a:cs typeface="Georgia"/>
              </a:rPr>
              <a:t>and</a:t>
            </a:r>
            <a:r>
              <a:rPr sz="3600" spc="-50" dirty="0">
                <a:solidFill>
                  <a:srgbClr val="2E377E"/>
                </a:solidFill>
                <a:latin typeface="Georgia"/>
                <a:cs typeface="Georgia"/>
              </a:rPr>
              <a:t> </a:t>
            </a:r>
            <a:r>
              <a:rPr sz="3600" spc="-10" dirty="0">
                <a:solidFill>
                  <a:srgbClr val="2E377E"/>
                </a:solidFill>
                <a:latin typeface="Georgia"/>
                <a:cs typeface="Georgia"/>
              </a:rPr>
              <a:t>file2.</a:t>
            </a:r>
            <a:endParaRPr sz="3600">
              <a:latin typeface="Georgia"/>
              <a:cs typeface="Georgia"/>
            </a:endParaRPr>
          </a:p>
        </p:txBody>
      </p:sp>
      <p:sp>
        <p:nvSpPr>
          <p:cNvPr id="6" name="object 6"/>
          <p:cNvSpPr txBox="1"/>
          <p:nvPr/>
        </p:nvSpPr>
        <p:spPr>
          <a:xfrm>
            <a:off x="11878286" y="8662669"/>
            <a:ext cx="4828540" cy="1050290"/>
          </a:xfrm>
          <a:prstGeom prst="rect">
            <a:avLst/>
          </a:prstGeom>
        </p:spPr>
        <p:txBody>
          <a:bodyPr vert="horz" wrap="square" lIns="0" tIns="12700" rIns="0" bIns="0" rtlCol="0">
            <a:spAutoFit/>
          </a:bodyPr>
          <a:lstStyle/>
          <a:p>
            <a:pPr marL="1138555">
              <a:lnSpc>
                <a:spcPts val="4215"/>
              </a:lnSpc>
              <a:spcBef>
                <a:spcPts val="100"/>
              </a:spcBef>
            </a:pPr>
            <a:r>
              <a:rPr sz="3600" spc="-10" dirty="0">
                <a:solidFill>
                  <a:srgbClr val="2E377E"/>
                </a:solidFill>
                <a:latin typeface="Georgia"/>
                <a:cs typeface="Georgia"/>
              </a:rPr>
              <a:t>POD.YML</a:t>
            </a:r>
            <a:endParaRPr sz="3600">
              <a:latin typeface="Georgia"/>
              <a:cs typeface="Georgia"/>
            </a:endParaRPr>
          </a:p>
          <a:p>
            <a:pPr marL="12700">
              <a:lnSpc>
                <a:spcPts val="3854"/>
              </a:lnSpc>
            </a:pPr>
            <a:r>
              <a:rPr sz="3300" b="1" spc="110" dirty="0">
                <a:solidFill>
                  <a:srgbClr val="FF3131"/>
                </a:solidFill>
                <a:latin typeface="Times New Roman"/>
                <a:cs typeface="Times New Roman"/>
              </a:rPr>
              <a:t>kubectl</a:t>
            </a:r>
            <a:r>
              <a:rPr sz="3300" b="1" spc="-25" dirty="0">
                <a:solidFill>
                  <a:srgbClr val="FF3131"/>
                </a:solidFill>
                <a:latin typeface="Times New Roman"/>
                <a:cs typeface="Times New Roman"/>
              </a:rPr>
              <a:t> </a:t>
            </a:r>
            <a:r>
              <a:rPr sz="3300" b="1" spc="145" dirty="0">
                <a:solidFill>
                  <a:srgbClr val="FF3131"/>
                </a:solidFill>
                <a:latin typeface="Times New Roman"/>
                <a:cs typeface="Times New Roman"/>
              </a:rPr>
              <a:t>apply</a:t>
            </a:r>
            <a:r>
              <a:rPr sz="3300" b="1" spc="-25" dirty="0">
                <a:solidFill>
                  <a:srgbClr val="FF3131"/>
                </a:solidFill>
                <a:latin typeface="Times New Roman"/>
                <a:cs typeface="Times New Roman"/>
              </a:rPr>
              <a:t> </a:t>
            </a:r>
            <a:r>
              <a:rPr sz="3300" b="1" spc="434" dirty="0">
                <a:solidFill>
                  <a:srgbClr val="FF3131"/>
                </a:solidFill>
                <a:latin typeface="Times New Roman"/>
                <a:cs typeface="Times New Roman"/>
              </a:rPr>
              <a:t>-</a:t>
            </a:r>
            <a:r>
              <a:rPr sz="3300" b="1" dirty="0">
                <a:solidFill>
                  <a:srgbClr val="FF3131"/>
                </a:solidFill>
                <a:latin typeface="Times New Roman"/>
                <a:cs typeface="Times New Roman"/>
              </a:rPr>
              <a:t>f</a:t>
            </a:r>
            <a:r>
              <a:rPr sz="3300" b="1" spc="-25" dirty="0">
                <a:solidFill>
                  <a:srgbClr val="FF3131"/>
                </a:solidFill>
                <a:latin typeface="Times New Roman"/>
                <a:cs typeface="Times New Roman"/>
              </a:rPr>
              <a:t> </a:t>
            </a:r>
            <a:r>
              <a:rPr sz="3300" b="1" spc="165" dirty="0">
                <a:solidFill>
                  <a:srgbClr val="FF3131"/>
                </a:solidFill>
                <a:latin typeface="Times New Roman"/>
                <a:cs typeface="Times New Roman"/>
              </a:rPr>
              <a:t>pod.yml</a:t>
            </a:r>
            <a:endParaRPr sz="3300">
              <a:latin typeface="Times New Roman"/>
              <a:cs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9403" y="557275"/>
            <a:ext cx="2835910" cy="787400"/>
          </a:xfrm>
          <a:prstGeom prst="rect">
            <a:avLst/>
          </a:prstGeom>
        </p:spPr>
        <p:txBody>
          <a:bodyPr vert="horz" wrap="square" lIns="0" tIns="12700" rIns="0" bIns="0" rtlCol="0">
            <a:spAutoFit/>
          </a:bodyPr>
          <a:lstStyle/>
          <a:p>
            <a:pPr marL="12700">
              <a:lnSpc>
                <a:spcPct val="100000"/>
              </a:lnSpc>
              <a:spcBef>
                <a:spcPts val="100"/>
              </a:spcBef>
            </a:pPr>
            <a:r>
              <a:rPr spc="-330" dirty="0">
                <a:solidFill>
                  <a:srgbClr val="FF3131"/>
                </a:solidFill>
              </a:rPr>
              <a:t>SECRETS:</a:t>
            </a:r>
          </a:p>
        </p:txBody>
      </p:sp>
      <p:pic>
        <p:nvPicPr>
          <p:cNvPr id="3" name="object 3"/>
          <p:cNvPicPr/>
          <p:nvPr/>
        </p:nvPicPr>
        <p:blipFill>
          <a:blip r:embed="rId2" cstate="print"/>
          <a:stretch>
            <a:fillRect/>
          </a:stretch>
        </p:blipFill>
        <p:spPr>
          <a:xfrm>
            <a:off x="1186649" y="1927330"/>
            <a:ext cx="133350" cy="133349"/>
          </a:xfrm>
          <a:prstGeom prst="rect">
            <a:avLst/>
          </a:prstGeom>
        </p:spPr>
      </p:pic>
      <p:sp>
        <p:nvSpPr>
          <p:cNvPr id="4" name="object 4"/>
          <p:cNvSpPr txBox="1"/>
          <p:nvPr/>
        </p:nvSpPr>
        <p:spPr>
          <a:xfrm>
            <a:off x="1503454" y="1567920"/>
            <a:ext cx="15908019" cy="5768975"/>
          </a:xfrm>
          <a:prstGeom prst="rect">
            <a:avLst/>
          </a:prstGeom>
        </p:spPr>
        <p:txBody>
          <a:bodyPr vert="horz" wrap="square" lIns="0" tIns="12700" rIns="0" bIns="0" rtlCol="0">
            <a:spAutoFit/>
          </a:bodyPr>
          <a:lstStyle/>
          <a:p>
            <a:pPr marL="12700" marR="27305">
              <a:lnSpc>
                <a:spcPct val="116300"/>
              </a:lnSpc>
              <a:spcBef>
                <a:spcPts val="100"/>
              </a:spcBef>
            </a:pPr>
            <a:r>
              <a:rPr sz="3600" dirty="0">
                <a:solidFill>
                  <a:srgbClr val="2E377E"/>
                </a:solidFill>
                <a:latin typeface="Georgia"/>
                <a:cs typeface="Georgia"/>
              </a:rPr>
              <a:t>There</a:t>
            </a:r>
            <a:r>
              <a:rPr sz="3600" spc="45" dirty="0">
                <a:solidFill>
                  <a:srgbClr val="2E377E"/>
                </a:solidFill>
                <a:latin typeface="Georgia"/>
                <a:cs typeface="Georgia"/>
              </a:rPr>
              <a:t> </a:t>
            </a:r>
            <a:r>
              <a:rPr sz="3600" dirty="0">
                <a:solidFill>
                  <a:srgbClr val="2E377E"/>
                </a:solidFill>
                <a:latin typeface="Georgia"/>
                <a:cs typeface="Georgia"/>
              </a:rPr>
              <a:t>are</a:t>
            </a:r>
            <a:r>
              <a:rPr sz="3600" spc="50" dirty="0">
                <a:solidFill>
                  <a:srgbClr val="2E377E"/>
                </a:solidFill>
                <a:latin typeface="Georgia"/>
                <a:cs typeface="Georgia"/>
              </a:rPr>
              <a:t> </a:t>
            </a:r>
            <a:r>
              <a:rPr sz="3600" dirty="0">
                <a:solidFill>
                  <a:srgbClr val="2E377E"/>
                </a:solidFill>
                <a:latin typeface="Georgia"/>
                <a:cs typeface="Georgia"/>
              </a:rPr>
              <a:t>lot</a:t>
            </a:r>
            <a:r>
              <a:rPr sz="3600" spc="45" dirty="0">
                <a:solidFill>
                  <a:srgbClr val="2E377E"/>
                </a:solidFill>
                <a:latin typeface="Georgia"/>
                <a:cs typeface="Georgia"/>
              </a:rPr>
              <a:t> </a:t>
            </a:r>
            <a:r>
              <a:rPr sz="3600" dirty="0">
                <a:solidFill>
                  <a:srgbClr val="2E377E"/>
                </a:solidFill>
                <a:latin typeface="Georgia"/>
                <a:cs typeface="Georgia"/>
              </a:rPr>
              <a:t>of</a:t>
            </a:r>
            <a:r>
              <a:rPr sz="3600" spc="50" dirty="0">
                <a:solidFill>
                  <a:srgbClr val="2E377E"/>
                </a:solidFill>
                <a:latin typeface="Georgia"/>
                <a:cs typeface="Georgia"/>
              </a:rPr>
              <a:t> </a:t>
            </a:r>
            <a:r>
              <a:rPr sz="3600" dirty="0">
                <a:solidFill>
                  <a:srgbClr val="2E377E"/>
                </a:solidFill>
                <a:latin typeface="Georgia"/>
                <a:cs typeface="Georgia"/>
              </a:rPr>
              <a:t>confidential</a:t>
            </a:r>
            <a:r>
              <a:rPr sz="3600" spc="50" dirty="0">
                <a:solidFill>
                  <a:srgbClr val="2E377E"/>
                </a:solidFill>
                <a:latin typeface="Georgia"/>
                <a:cs typeface="Georgia"/>
              </a:rPr>
              <a:t> </a:t>
            </a:r>
            <a:r>
              <a:rPr sz="3600" dirty="0">
                <a:solidFill>
                  <a:srgbClr val="2E377E"/>
                </a:solidFill>
                <a:latin typeface="Georgia"/>
                <a:cs typeface="Georgia"/>
              </a:rPr>
              <a:t>information</a:t>
            </a:r>
            <a:r>
              <a:rPr sz="3600" spc="45" dirty="0">
                <a:solidFill>
                  <a:srgbClr val="2E377E"/>
                </a:solidFill>
                <a:latin typeface="Georgia"/>
                <a:cs typeface="Georgia"/>
              </a:rPr>
              <a:t> </a:t>
            </a:r>
            <a:r>
              <a:rPr sz="3600" spc="55" dirty="0">
                <a:solidFill>
                  <a:srgbClr val="2E377E"/>
                </a:solidFill>
                <a:latin typeface="Georgia"/>
                <a:cs typeface="Georgia"/>
              </a:rPr>
              <a:t>that</a:t>
            </a:r>
            <a:r>
              <a:rPr sz="3600" spc="50" dirty="0">
                <a:solidFill>
                  <a:srgbClr val="2E377E"/>
                </a:solidFill>
                <a:latin typeface="Georgia"/>
                <a:cs typeface="Georgia"/>
              </a:rPr>
              <a:t> </a:t>
            </a:r>
            <a:r>
              <a:rPr sz="3600" dirty="0">
                <a:solidFill>
                  <a:srgbClr val="2E377E"/>
                </a:solidFill>
                <a:latin typeface="Georgia"/>
                <a:cs typeface="Georgia"/>
              </a:rPr>
              <a:t>needs</a:t>
            </a:r>
            <a:r>
              <a:rPr sz="3600" spc="45" dirty="0">
                <a:solidFill>
                  <a:srgbClr val="2E377E"/>
                </a:solidFill>
                <a:latin typeface="Georgia"/>
                <a:cs typeface="Georgia"/>
              </a:rPr>
              <a:t> </a:t>
            </a:r>
            <a:r>
              <a:rPr sz="3600" spc="70" dirty="0">
                <a:solidFill>
                  <a:srgbClr val="2E377E"/>
                </a:solidFill>
                <a:latin typeface="Georgia"/>
                <a:cs typeface="Georgia"/>
              </a:rPr>
              <a:t>to</a:t>
            </a:r>
            <a:r>
              <a:rPr sz="3600" spc="50" dirty="0">
                <a:solidFill>
                  <a:srgbClr val="2E377E"/>
                </a:solidFill>
                <a:latin typeface="Georgia"/>
                <a:cs typeface="Georgia"/>
              </a:rPr>
              <a:t> </a:t>
            </a:r>
            <a:r>
              <a:rPr sz="3600" dirty="0">
                <a:solidFill>
                  <a:srgbClr val="2E377E"/>
                </a:solidFill>
                <a:latin typeface="Georgia"/>
                <a:cs typeface="Georgia"/>
              </a:rPr>
              <a:t>be</a:t>
            </a:r>
            <a:r>
              <a:rPr sz="3600" spc="50" dirty="0">
                <a:solidFill>
                  <a:srgbClr val="2E377E"/>
                </a:solidFill>
                <a:latin typeface="Georgia"/>
                <a:cs typeface="Georgia"/>
              </a:rPr>
              <a:t> stored</a:t>
            </a:r>
            <a:r>
              <a:rPr sz="3600" spc="45" dirty="0">
                <a:solidFill>
                  <a:srgbClr val="2E377E"/>
                </a:solidFill>
                <a:latin typeface="Georgia"/>
                <a:cs typeface="Georgia"/>
              </a:rPr>
              <a:t> </a:t>
            </a:r>
            <a:r>
              <a:rPr sz="3600" dirty="0">
                <a:solidFill>
                  <a:srgbClr val="2E377E"/>
                </a:solidFill>
                <a:latin typeface="Georgia"/>
                <a:cs typeface="Georgia"/>
              </a:rPr>
              <a:t>on</a:t>
            </a:r>
            <a:r>
              <a:rPr sz="3600" spc="50" dirty="0">
                <a:solidFill>
                  <a:srgbClr val="2E377E"/>
                </a:solidFill>
                <a:latin typeface="Georgia"/>
                <a:cs typeface="Georgia"/>
              </a:rPr>
              <a:t> </a:t>
            </a:r>
            <a:r>
              <a:rPr sz="3600" spc="60" dirty="0">
                <a:solidFill>
                  <a:srgbClr val="2E377E"/>
                </a:solidFill>
                <a:latin typeface="Georgia"/>
                <a:cs typeface="Georgia"/>
              </a:rPr>
              <a:t>the</a:t>
            </a:r>
            <a:r>
              <a:rPr sz="3600" spc="50" dirty="0">
                <a:solidFill>
                  <a:srgbClr val="2E377E"/>
                </a:solidFill>
                <a:latin typeface="Georgia"/>
                <a:cs typeface="Georgia"/>
              </a:rPr>
              <a:t> </a:t>
            </a:r>
            <a:r>
              <a:rPr sz="3600" spc="60" dirty="0">
                <a:solidFill>
                  <a:srgbClr val="2E377E"/>
                </a:solidFill>
                <a:latin typeface="Georgia"/>
                <a:cs typeface="Georgia"/>
              </a:rPr>
              <a:t>server </a:t>
            </a:r>
            <a:r>
              <a:rPr sz="3600" dirty="0">
                <a:solidFill>
                  <a:srgbClr val="2E377E"/>
                </a:solidFill>
                <a:latin typeface="Georgia"/>
                <a:cs typeface="Georgia"/>
              </a:rPr>
              <a:t>such</a:t>
            </a:r>
            <a:r>
              <a:rPr sz="3600" spc="45" dirty="0">
                <a:solidFill>
                  <a:srgbClr val="2E377E"/>
                </a:solidFill>
                <a:latin typeface="Georgia"/>
                <a:cs typeface="Georgia"/>
              </a:rPr>
              <a:t> </a:t>
            </a:r>
            <a:r>
              <a:rPr sz="3600" dirty="0">
                <a:solidFill>
                  <a:srgbClr val="2E377E"/>
                </a:solidFill>
                <a:latin typeface="Georgia"/>
                <a:cs typeface="Georgia"/>
              </a:rPr>
              <a:t>as</a:t>
            </a:r>
            <a:r>
              <a:rPr sz="3600" spc="45" dirty="0">
                <a:solidFill>
                  <a:srgbClr val="2E377E"/>
                </a:solidFill>
                <a:latin typeface="Georgia"/>
                <a:cs typeface="Georgia"/>
              </a:rPr>
              <a:t> </a:t>
            </a:r>
            <a:r>
              <a:rPr sz="3600" dirty="0">
                <a:solidFill>
                  <a:srgbClr val="2E377E"/>
                </a:solidFill>
                <a:latin typeface="Georgia"/>
                <a:cs typeface="Georgia"/>
              </a:rPr>
              <a:t>database</a:t>
            </a:r>
            <a:r>
              <a:rPr sz="3600" spc="45" dirty="0">
                <a:solidFill>
                  <a:srgbClr val="2E377E"/>
                </a:solidFill>
                <a:latin typeface="Georgia"/>
                <a:cs typeface="Georgia"/>
              </a:rPr>
              <a:t> </a:t>
            </a:r>
            <a:r>
              <a:rPr sz="3600" dirty="0">
                <a:solidFill>
                  <a:srgbClr val="2E377E"/>
                </a:solidFill>
                <a:latin typeface="Georgia"/>
                <a:cs typeface="Georgia"/>
              </a:rPr>
              <a:t>usernames,</a:t>
            </a:r>
            <a:r>
              <a:rPr sz="3600" spc="45" dirty="0">
                <a:solidFill>
                  <a:srgbClr val="2E377E"/>
                </a:solidFill>
                <a:latin typeface="Georgia"/>
                <a:cs typeface="Georgia"/>
              </a:rPr>
              <a:t> </a:t>
            </a:r>
            <a:r>
              <a:rPr sz="3600" dirty="0">
                <a:solidFill>
                  <a:srgbClr val="2E377E"/>
                </a:solidFill>
                <a:latin typeface="Georgia"/>
                <a:cs typeface="Georgia"/>
              </a:rPr>
              <a:t>passwords,</a:t>
            </a:r>
            <a:r>
              <a:rPr sz="3600" spc="50" dirty="0">
                <a:solidFill>
                  <a:srgbClr val="2E377E"/>
                </a:solidFill>
                <a:latin typeface="Georgia"/>
                <a:cs typeface="Georgia"/>
              </a:rPr>
              <a:t> </a:t>
            </a:r>
            <a:r>
              <a:rPr sz="3600" dirty="0">
                <a:solidFill>
                  <a:srgbClr val="2E377E"/>
                </a:solidFill>
                <a:latin typeface="Georgia"/>
                <a:cs typeface="Georgia"/>
              </a:rPr>
              <a:t>or</a:t>
            </a:r>
            <a:r>
              <a:rPr sz="3600" spc="45" dirty="0">
                <a:solidFill>
                  <a:srgbClr val="2E377E"/>
                </a:solidFill>
                <a:latin typeface="Georgia"/>
                <a:cs typeface="Georgia"/>
              </a:rPr>
              <a:t> </a:t>
            </a:r>
            <a:r>
              <a:rPr sz="3600" spc="-40" dirty="0">
                <a:solidFill>
                  <a:srgbClr val="2E377E"/>
                </a:solidFill>
                <a:latin typeface="Georgia"/>
                <a:cs typeface="Georgia"/>
              </a:rPr>
              <a:t>API</a:t>
            </a:r>
            <a:r>
              <a:rPr sz="3600" spc="45" dirty="0">
                <a:solidFill>
                  <a:srgbClr val="2E377E"/>
                </a:solidFill>
                <a:latin typeface="Georgia"/>
                <a:cs typeface="Georgia"/>
              </a:rPr>
              <a:t> </a:t>
            </a:r>
            <a:r>
              <a:rPr sz="3600" spc="-10" dirty="0">
                <a:solidFill>
                  <a:srgbClr val="2E377E"/>
                </a:solidFill>
                <a:latin typeface="Georgia"/>
                <a:cs typeface="Georgia"/>
              </a:rPr>
              <a:t>Keys.</a:t>
            </a:r>
            <a:endParaRPr sz="3600">
              <a:latin typeface="Georgia"/>
              <a:cs typeface="Georgia"/>
            </a:endParaRPr>
          </a:p>
          <a:p>
            <a:pPr marL="12700" marR="396875">
              <a:lnSpc>
                <a:spcPct val="116300"/>
              </a:lnSpc>
            </a:pPr>
            <a:r>
              <a:rPr sz="3600" dirty="0">
                <a:solidFill>
                  <a:srgbClr val="2E377E"/>
                </a:solidFill>
                <a:latin typeface="Georgia"/>
                <a:cs typeface="Georgia"/>
              </a:rPr>
              <a:t>To</a:t>
            </a:r>
            <a:r>
              <a:rPr sz="3600" spc="-10" dirty="0">
                <a:solidFill>
                  <a:srgbClr val="2E377E"/>
                </a:solidFill>
                <a:latin typeface="Georgia"/>
                <a:cs typeface="Georgia"/>
              </a:rPr>
              <a:t> </a:t>
            </a:r>
            <a:r>
              <a:rPr sz="3600" spc="65" dirty="0">
                <a:solidFill>
                  <a:srgbClr val="2E377E"/>
                </a:solidFill>
                <a:latin typeface="Georgia"/>
                <a:cs typeface="Georgia"/>
              </a:rPr>
              <a:t>keep</a:t>
            </a:r>
            <a:r>
              <a:rPr sz="3600" spc="-10" dirty="0">
                <a:solidFill>
                  <a:srgbClr val="2E377E"/>
                </a:solidFill>
                <a:latin typeface="Georgia"/>
                <a:cs typeface="Georgia"/>
              </a:rPr>
              <a:t> </a:t>
            </a:r>
            <a:r>
              <a:rPr sz="3600" dirty="0">
                <a:solidFill>
                  <a:srgbClr val="2E377E"/>
                </a:solidFill>
                <a:latin typeface="Georgia"/>
                <a:cs typeface="Georgia"/>
              </a:rPr>
              <a:t>all</a:t>
            </a:r>
            <a:r>
              <a:rPr sz="3600" spc="-10"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important</a:t>
            </a:r>
            <a:r>
              <a:rPr sz="3600" spc="-10" dirty="0">
                <a:solidFill>
                  <a:srgbClr val="2E377E"/>
                </a:solidFill>
                <a:latin typeface="Georgia"/>
                <a:cs typeface="Georgia"/>
              </a:rPr>
              <a:t> </a:t>
            </a:r>
            <a:r>
              <a:rPr sz="3600" dirty="0">
                <a:solidFill>
                  <a:srgbClr val="2E377E"/>
                </a:solidFill>
                <a:latin typeface="Georgia"/>
                <a:cs typeface="Georgia"/>
              </a:rPr>
              <a:t>data</a:t>
            </a:r>
            <a:r>
              <a:rPr sz="3600" spc="-5" dirty="0">
                <a:solidFill>
                  <a:srgbClr val="2E377E"/>
                </a:solidFill>
                <a:latin typeface="Georgia"/>
                <a:cs typeface="Georgia"/>
              </a:rPr>
              <a:t> </a:t>
            </a:r>
            <a:r>
              <a:rPr sz="3600" dirty="0">
                <a:solidFill>
                  <a:srgbClr val="2E377E"/>
                </a:solidFill>
                <a:latin typeface="Georgia"/>
                <a:cs typeface="Georgia"/>
              </a:rPr>
              <a:t>secure,</a:t>
            </a:r>
            <a:r>
              <a:rPr sz="3600" spc="-10" dirty="0">
                <a:solidFill>
                  <a:srgbClr val="2E377E"/>
                </a:solidFill>
                <a:latin typeface="Georgia"/>
                <a:cs typeface="Georgia"/>
              </a:rPr>
              <a:t> </a:t>
            </a:r>
            <a:r>
              <a:rPr sz="3600" spc="45" dirty="0">
                <a:solidFill>
                  <a:srgbClr val="2E377E"/>
                </a:solidFill>
                <a:latin typeface="Georgia"/>
                <a:cs typeface="Georgia"/>
              </a:rPr>
              <a:t>Kubernetes</a:t>
            </a:r>
            <a:r>
              <a:rPr sz="3600" spc="-10" dirty="0">
                <a:solidFill>
                  <a:srgbClr val="2E377E"/>
                </a:solidFill>
                <a:latin typeface="Georgia"/>
                <a:cs typeface="Georgia"/>
              </a:rPr>
              <a:t> </a:t>
            </a:r>
            <a:r>
              <a:rPr sz="3600" dirty="0">
                <a:solidFill>
                  <a:srgbClr val="2E377E"/>
                </a:solidFill>
                <a:latin typeface="Georgia"/>
                <a:cs typeface="Georgia"/>
              </a:rPr>
              <a:t>has</a:t>
            </a:r>
            <a:r>
              <a:rPr sz="3600" spc="-10" dirty="0">
                <a:solidFill>
                  <a:srgbClr val="2E377E"/>
                </a:solidFill>
                <a:latin typeface="Georgia"/>
                <a:cs typeface="Georgia"/>
              </a:rPr>
              <a:t> </a:t>
            </a:r>
            <a:r>
              <a:rPr sz="3600" dirty="0">
                <a:solidFill>
                  <a:srgbClr val="2E377E"/>
                </a:solidFill>
                <a:latin typeface="Georgia"/>
                <a:cs typeface="Georgia"/>
              </a:rPr>
              <a:t>a</a:t>
            </a:r>
            <a:r>
              <a:rPr sz="3600" spc="-10" dirty="0">
                <a:solidFill>
                  <a:srgbClr val="2E377E"/>
                </a:solidFill>
                <a:latin typeface="Georgia"/>
                <a:cs typeface="Georgia"/>
              </a:rPr>
              <a:t> </a:t>
            </a:r>
            <a:r>
              <a:rPr sz="3600" spc="45" dirty="0">
                <a:solidFill>
                  <a:srgbClr val="2E377E"/>
                </a:solidFill>
                <a:latin typeface="Georgia"/>
                <a:cs typeface="Georgia"/>
              </a:rPr>
              <a:t>Secrets</a:t>
            </a:r>
            <a:r>
              <a:rPr sz="3600" spc="-5" dirty="0">
                <a:solidFill>
                  <a:srgbClr val="2E377E"/>
                </a:solidFill>
                <a:latin typeface="Georgia"/>
                <a:cs typeface="Georgia"/>
              </a:rPr>
              <a:t> </a:t>
            </a:r>
            <a:r>
              <a:rPr sz="3600" spc="55" dirty="0">
                <a:solidFill>
                  <a:srgbClr val="2E377E"/>
                </a:solidFill>
                <a:latin typeface="Georgia"/>
                <a:cs typeface="Georgia"/>
              </a:rPr>
              <a:t>feature</a:t>
            </a:r>
            <a:r>
              <a:rPr sz="3600" spc="-10" dirty="0">
                <a:solidFill>
                  <a:srgbClr val="2E377E"/>
                </a:solidFill>
                <a:latin typeface="Georgia"/>
                <a:cs typeface="Georgia"/>
              </a:rPr>
              <a:t> </a:t>
            </a:r>
            <a:r>
              <a:rPr sz="3600" spc="35" dirty="0">
                <a:solidFill>
                  <a:srgbClr val="2E377E"/>
                </a:solidFill>
                <a:latin typeface="Georgia"/>
                <a:cs typeface="Georgia"/>
              </a:rPr>
              <a:t>that </a:t>
            </a:r>
            <a:r>
              <a:rPr sz="3600" spc="70" dirty="0">
                <a:solidFill>
                  <a:srgbClr val="2E377E"/>
                </a:solidFill>
                <a:latin typeface="Georgia"/>
                <a:cs typeface="Georgia"/>
              </a:rPr>
              <a:t>encrypts</a:t>
            </a:r>
            <a:r>
              <a:rPr sz="3600" spc="-60" dirty="0">
                <a:solidFill>
                  <a:srgbClr val="2E377E"/>
                </a:solidFill>
                <a:latin typeface="Georgia"/>
                <a:cs typeface="Georgia"/>
              </a:rPr>
              <a:t> </a:t>
            </a:r>
            <a:r>
              <a:rPr sz="3600" spc="60" dirty="0">
                <a:solidFill>
                  <a:srgbClr val="2E377E"/>
                </a:solidFill>
                <a:latin typeface="Georgia"/>
                <a:cs typeface="Georgia"/>
              </a:rPr>
              <a:t>the</a:t>
            </a:r>
            <a:r>
              <a:rPr sz="3600" spc="-60" dirty="0">
                <a:solidFill>
                  <a:srgbClr val="2E377E"/>
                </a:solidFill>
                <a:latin typeface="Georgia"/>
                <a:cs typeface="Georgia"/>
              </a:rPr>
              <a:t> </a:t>
            </a:r>
            <a:r>
              <a:rPr sz="3600" spc="-10" dirty="0">
                <a:solidFill>
                  <a:srgbClr val="2E377E"/>
                </a:solidFill>
                <a:latin typeface="Georgia"/>
                <a:cs typeface="Georgia"/>
              </a:rPr>
              <a:t>data.</a:t>
            </a:r>
            <a:endParaRPr sz="3600">
              <a:latin typeface="Georgia"/>
              <a:cs typeface="Georgia"/>
            </a:endParaRPr>
          </a:p>
          <a:p>
            <a:pPr marL="12700" marR="4080510">
              <a:lnSpc>
                <a:spcPct val="116300"/>
              </a:lnSpc>
            </a:pPr>
            <a:r>
              <a:rPr sz="3600" spc="45" dirty="0">
                <a:solidFill>
                  <a:srgbClr val="2E377E"/>
                </a:solidFill>
                <a:latin typeface="Georgia"/>
                <a:cs typeface="Georgia"/>
              </a:rPr>
              <a:t>Secrets</a:t>
            </a:r>
            <a:r>
              <a:rPr sz="3600" spc="-40" dirty="0">
                <a:solidFill>
                  <a:srgbClr val="2E377E"/>
                </a:solidFill>
                <a:latin typeface="Georgia"/>
                <a:cs typeface="Georgia"/>
              </a:rPr>
              <a:t> </a:t>
            </a:r>
            <a:r>
              <a:rPr sz="3600" dirty="0">
                <a:solidFill>
                  <a:srgbClr val="2E377E"/>
                </a:solidFill>
                <a:latin typeface="Georgia"/>
                <a:cs typeface="Georgia"/>
              </a:rPr>
              <a:t>can</a:t>
            </a:r>
            <a:r>
              <a:rPr sz="3600" spc="-35" dirty="0">
                <a:solidFill>
                  <a:srgbClr val="2E377E"/>
                </a:solidFill>
                <a:latin typeface="Georgia"/>
                <a:cs typeface="Georgia"/>
              </a:rPr>
              <a:t> </a:t>
            </a:r>
            <a:r>
              <a:rPr sz="3600" spc="55" dirty="0">
                <a:solidFill>
                  <a:srgbClr val="2E377E"/>
                </a:solidFill>
                <a:latin typeface="Georgia"/>
                <a:cs typeface="Georgia"/>
              </a:rPr>
              <a:t>store</a:t>
            </a:r>
            <a:r>
              <a:rPr sz="3600" spc="-35" dirty="0">
                <a:solidFill>
                  <a:srgbClr val="2E377E"/>
                </a:solidFill>
                <a:latin typeface="Georgia"/>
                <a:cs typeface="Georgia"/>
              </a:rPr>
              <a:t> </a:t>
            </a:r>
            <a:r>
              <a:rPr sz="3600" dirty="0">
                <a:solidFill>
                  <a:srgbClr val="2E377E"/>
                </a:solidFill>
                <a:latin typeface="Georgia"/>
                <a:cs typeface="Georgia"/>
              </a:rPr>
              <a:t>data</a:t>
            </a:r>
            <a:r>
              <a:rPr sz="3600" spc="-40" dirty="0">
                <a:solidFill>
                  <a:srgbClr val="2E377E"/>
                </a:solidFill>
                <a:latin typeface="Georgia"/>
                <a:cs typeface="Georgia"/>
              </a:rPr>
              <a:t> </a:t>
            </a:r>
            <a:r>
              <a:rPr sz="3600" dirty="0">
                <a:solidFill>
                  <a:srgbClr val="2E377E"/>
                </a:solidFill>
                <a:latin typeface="Georgia"/>
                <a:cs typeface="Georgia"/>
              </a:rPr>
              <a:t>up</a:t>
            </a:r>
            <a:r>
              <a:rPr sz="3600" spc="-35" dirty="0">
                <a:solidFill>
                  <a:srgbClr val="2E377E"/>
                </a:solidFill>
                <a:latin typeface="Georgia"/>
                <a:cs typeface="Georgia"/>
              </a:rPr>
              <a:t> </a:t>
            </a:r>
            <a:r>
              <a:rPr sz="3600" spc="70" dirty="0">
                <a:solidFill>
                  <a:srgbClr val="2E377E"/>
                </a:solidFill>
                <a:latin typeface="Georgia"/>
                <a:cs typeface="Georgia"/>
              </a:rPr>
              <a:t>to</a:t>
            </a:r>
            <a:r>
              <a:rPr sz="3600" spc="-35" dirty="0">
                <a:solidFill>
                  <a:srgbClr val="2E377E"/>
                </a:solidFill>
                <a:latin typeface="Georgia"/>
                <a:cs typeface="Georgia"/>
              </a:rPr>
              <a:t> </a:t>
            </a:r>
            <a:r>
              <a:rPr sz="3600" spc="-85" dirty="0">
                <a:solidFill>
                  <a:srgbClr val="2E377E"/>
                </a:solidFill>
                <a:latin typeface="Georgia"/>
                <a:cs typeface="Georgia"/>
              </a:rPr>
              <a:t>1MB</a:t>
            </a:r>
            <a:r>
              <a:rPr sz="3600" spc="-40" dirty="0">
                <a:solidFill>
                  <a:srgbClr val="2E377E"/>
                </a:solidFill>
                <a:latin typeface="Georgia"/>
                <a:cs typeface="Georgia"/>
              </a:rPr>
              <a:t> </a:t>
            </a:r>
            <a:r>
              <a:rPr sz="3600" spc="55" dirty="0">
                <a:solidFill>
                  <a:srgbClr val="2E377E"/>
                </a:solidFill>
                <a:latin typeface="Georgia"/>
                <a:cs typeface="Georgia"/>
              </a:rPr>
              <a:t>which</a:t>
            </a:r>
            <a:r>
              <a:rPr sz="3600" spc="-35" dirty="0">
                <a:solidFill>
                  <a:srgbClr val="2E377E"/>
                </a:solidFill>
                <a:latin typeface="Georgia"/>
                <a:cs typeface="Georgia"/>
              </a:rPr>
              <a:t> </a:t>
            </a:r>
            <a:r>
              <a:rPr sz="3600" spc="60" dirty="0">
                <a:solidFill>
                  <a:srgbClr val="2E377E"/>
                </a:solidFill>
                <a:latin typeface="Georgia"/>
                <a:cs typeface="Georgia"/>
              </a:rPr>
              <a:t>would</a:t>
            </a:r>
            <a:r>
              <a:rPr sz="3600" spc="-35" dirty="0">
                <a:solidFill>
                  <a:srgbClr val="2E377E"/>
                </a:solidFill>
                <a:latin typeface="Georgia"/>
                <a:cs typeface="Georgia"/>
              </a:rPr>
              <a:t> </a:t>
            </a:r>
            <a:r>
              <a:rPr sz="3600" dirty="0">
                <a:solidFill>
                  <a:srgbClr val="2E377E"/>
                </a:solidFill>
                <a:latin typeface="Georgia"/>
                <a:cs typeface="Georgia"/>
              </a:rPr>
              <a:t>be</a:t>
            </a:r>
            <a:r>
              <a:rPr sz="3600" spc="-35" dirty="0">
                <a:solidFill>
                  <a:srgbClr val="2E377E"/>
                </a:solidFill>
                <a:latin typeface="Georgia"/>
                <a:cs typeface="Georgia"/>
              </a:rPr>
              <a:t> </a:t>
            </a:r>
            <a:r>
              <a:rPr sz="3600" spc="-10" dirty="0">
                <a:solidFill>
                  <a:srgbClr val="2E377E"/>
                </a:solidFill>
                <a:latin typeface="Georgia"/>
                <a:cs typeface="Georgia"/>
              </a:rPr>
              <a:t>enough. </a:t>
            </a:r>
            <a:r>
              <a:rPr sz="3600" spc="45" dirty="0">
                <a:solidFill>
                  <a:srgbClr val="2E377E"/>
                </a:solidFill>
                <a:latin typeface="Georgia"/>
                <a:cs typeface="Georgia"/>
              </a:rPr>
              <a:t>Secrets</a:t>
            </a:r>
            <a:r>
              <a:rPr sz="3600" spc="-30" dirty="0">
                <a:solidFill>
                  <a:srgbClr val="2E377E"/>
                </a:solidFill>
                <a:latin typeface="Georgia"/>
                <a:cs typeface="Georgia"/>
              </a:rPr>
              <a:t> </a:t>
            </a:r>
            <a:r>
              <a:rPr sz="3600" dirty="0">
                <a:solidFill>
                  <a:srgbClr val="2E377E"/>
                </a:solidFill>
                <a:latin typeface="Georgia"/>
                <a:cs typeface="Georgia"/>
              </a:rPr>
              <a:t>can</a:t>
            </a:r>
            <a:r>
              <a:rPr sz="3600" spc="-30" dirty="0">
                <a:solidFill>
                  <a:srgbClr val="2E377E"/>
                </a:solidFill>
                <a:latin typeface="Georgia"/>
                <a:cs typeface="Georgia"/>
              </a:rPr>
              <a:t> </a:t>
            </a:r>
            <a:r>
              <a:rPr sz="3600" dirty="0">
                <a:solidFill>
                  <a:srgbClr val="2E377E"/>
                </a:solidFill>
                <a:latin typeface="Georgia"/>
                <a:cs typeface="Georgia"/>
              </a:rPr>
              <a:t>be</a:t>
            </a:r>
            <a:r>
              <a:rPr sz="3600" spc="-30" dirty="0">
                <a:solidFill>
                  <a:srgbClr val="2E377E"/>
                </a:solidFill>
                <a:latin typeface="Georgia"/>
                <a:cs typeface="Georgia"/>
              </a:rPr>
              <a:t> </a:t>
            </a:r>
            <a:r>
              <a:rPr sz="3600" spc="50" dirty="0">
                <a:solidFill>
                  <a:srgbClr val="2E377E"/>
                </a:solidFill>
                <a:latin typeface="Georgia"/>
                <a:cs typeface="Georgia"/>
              </a:rPr>
              <a:t>created</a:t>
            </a:r>
            <a:r>
              <a:rPr sz="3600" spc="-25" dirty="0">
                <a:solidFill>
                  <a:srgbClr val="2E377E"/>
                </a:solidFill>
                <a:latin typeface="Georgia"/>
                <a:cs typeface="Georgia"/>
              </a:rPr>
              <a:t> </a:t>
            </a:r>
            <a:r>
              <a:rPr sz="3600" spc="55" dirty="0">
                <a:solidFill>
                  <a:srgbClr val="2E377E"/>
                </a:solidFill>
                <a:latin typeface="Georgia"/>
                <a:cs typeface="Georgia"/>
              </a:rPr>
              <a:t>via</a:t>
            </a:r>
            <a:r>
              <a:rPr sz="3600" spc="-30" dirty="0">
                <a:solidFill>
                  <a:srgbClr val="2E377E"/>
                </a:solidFill>
                <a:latin typeface="Georgia"/>
                <a:cs typeface="Georgia"/>
              </a:rPr>
              <a:t> </a:t>
            </a:r>
            <a:r>
              <a:rPr sz="3600" spc="50" dirty="0">
                <a:solidFill>
                  <a:srgbClr val="2E377E"/>
                </a:solidFill>
                <a:latin typeface="Georgia"/>
                <a:cs typeface="Georgia"/>
              </a:rPr>
              <a:t>imperative</a:t>
            </a:r>
            <a:r>
              <a:rPr sz="3600" spc="-30" dirty="0">
                <a:solidFill>
                  <a:srgbClr val="2E377E"/>
                </a:solidFill>
                <a:latin typeface="Georgia"/>
                <a:cs typeface="Georgia"/>
              </a:rPr>
              <a:t> </a:t>
            </a:r>
            <a:r>
              <a:rPr sz="3600" dirty="0">
                <a:solidFill>
                  <a:srgbClr val="2E377E"/>
                </a:solidFill>
                <a:latin typeface="Georgia"/>
                <a:cs typeface="Georgia"/>
              </a:rPr>
              <a:t>or</a:t>
            </a:r>
            <a:r>
              <a:rPr sz="3600" spc="-25" dirty="0">
                <a:solidFill>
                  <a:srgbClr val="2E377E"/>
                </a:solidFill>
                <a:latin typeface="Georgia"/>
                <a:cs typeface="Georgia"/>
              </a:rPr>
              <a:t> </a:t>
            </a:r>
            <a:r>
              <a:rPr sz="3600" spc="45" dirty="0">
                <a:solidFill>
                  <a:srgbClr val="2E377E"/>
                </a:solidFill>
                <a:latin typeface="Georgia"/>
                <a:cs typeface="Georgia"/>
              </a:rPr>
              <a:t>declarative</a:t>
            </a:r>
            <a:r>
              <a:rPr sz="3600" spc="-30" dirty="0">
                <a:solidFill>
                  <a:srgbClr val="2E377E"/>
                </a:solidFill>
                <a:latin typeface="Georgia"/>
                <a:cs typeface="Georgia"/>
              </a:rPr>
              <a:t> </a:t>
            </a:r>
            <a:r>
              <a:rPr sz="3600" spc="-10" dirty="0">
                <a:solidFill>
                  <a:srgbClr val="2E377E"/>
                </a:solidFill>
                <a:latin typeface="Georgia"/>
                <a:cs typeface="Georgia"/>
              </a:rPr>
              <a:t>ways.</a:t>
            </a:r>
            <a:endParaRPr sz="3600">
              <a:latin typeface="Georgia"/>
              <a:cs typeface="Georgia"/>
            </a:endParaRPr>
          </a:p>
          <a:p>
            <a:pPr marL="12700" marR="5080">
              <a:lnSpc>
                <a:spcPct val="116300"/>
              </a:lnSpc>
            </a:pPr>
            <a:r>
              <a:rPr sz="3600" spc="45" dirty="0">
                <a:solidFill>
                  <a:srgbClr val="2E377E"/>
                </a:solidFill>
                <a:latin typeface="Georgia"/>
                <a:cs typeface="Georgia"/>
              </a:rPr>
              <a:t>Secrets</a:t>
            </a:r>
            <a:r>
              <a:rPr sz="3600" spc="-20" dirty="0">
                <a:solidFill>
                  <a:srgbClr val="2E377E"/>
                </a:solidFill>
                <a:latin typeface="Georgia"/>
                <a:cs typeface="Georgia"/>
              </a:rPr>
              <a:t> </a:t>
            </a:r>
            <a:r>
              <a:rPr sz="3600" dirty="0">
                <a:solidFill>
                  <a:srgbClr val="2E377E"/>
                </a:solidFill>
                <a:latin typeface="Georgia"/>
                <a:cs typeface="Georgia"/>
              </a:rPr>
              <a:t>are</a:t>
            </a:r>
            <a:r>
              <a:rPr sz="3600" spc="-15" dirty="0">
                <a:solidFill>
                  <a:srgbClr val="2E377E"/>
                </a:solidFill>
                <a:latin typeface="Georgia"/>
                <a:cs typeface="Georgia"/>
              </a:rPr>
              <a:t> </a:t>
            </a:r>
            <a:r>
              <a:rPr sz="3600" spc="50" dirty="0">
                <a:solidFill>
                  <a:srgbClr val="2E377E"/>
                </a:solidFill>
                <a:latin typeface="Georgia"/>
                <a:cs typeface="Georgia"/>
              </a:rPr>
              <a:t>stored</a:t>
            </a:r>
            <a:r>
              <a:rPr sz="3600" spc="-20"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/tmps</a:t>
            </a:r>
            <a:r>
              <a:rPr sz="3600" spc="-15" dirty="0">
                <a:solidFill>
                  <a:srgbClr val="2E377E"/>
                </a:solidFill>
                <a:latin typeface="Georgia"/>
                <a:cs typeface="Georgia"/>
              </a:rPr>
              <a:t> </a:t>
            </a:r>
            <a:r>
              <a:rPr sz="3600" spc="65" dirty="0">
                <a:solidFill>
                  <a:srgbClr val="2E377E"/>
                </a:solidFill>
                <a:latin typeface="Georgia"/>
                <a:cs typeface="Georgia"/>
              </a:rPr>
              <a:t>directory</a:t>
            </a:r>
            <a:r>
              <a:rPr sz="3600" spc="-20"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dirty="0">
                <a:solidFill>
                  <a:srgbClr val="2E377E"/>
                </a:solidFill>
                <a:latin typeface="Georgia"/>
                <a:cs typeface="Georgia"/>
              </a:rPr>
              <a:t>can</a:t>
            </a:r>
            <a:r>
              <a:rPr sz="3600" spc="-20" dirty="0">
                <a:solidFill>
                  <a:srgbClr val="2E377E"/>
                </a:solidFill>
                <a:latin typeface="Georgia"/>
                <a:cs typeface="Georgia"/>
              </a:rPr>
              <a:t> </a:t>
            </a:r>
            <a:r>
              <a:rPr sz="3600" dirty="0">
                <a:solidFill>
                  <a:srgbClr val="2E377E"/>
                </a:solidFill>
                <a:latin typeface="Georgia"/>
                <a:cs typeface="Georgia"/>
              </a:rPr>
              <a:t>be</a:t>
            </a:r>
            <a:r>
              <a:rPr sz="3600" spc="-15" dirty="0">
                <a:solidFill>
                  <a:srgbClr val="2E377E"/>
                </a:solidFill>
                <a:latin typeface="Georgia"/>
                <a:cs typeface="Georgia"/>
              </a:rPr>
              <a:t> </a:t>
            </a:r>
            <a:r>
              <a:rPr sz="3600" dirty="0">
                <a:solidFill>
                  <a:srgbClr val="2E377E"/>
                </a:solidFill>
                <a:latin typeface="Georgia"/>
                <a:cs typeface="Georgia"/>
              </a:rPr>
              <a:t>accessible</a:t>
            </a:r>
            <a:r>
              <a:rPr sz="3600" spc="-20"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pods</a:t>
            </a:r>
            <a:r>
              <a:rPr sz="3600" spc="-20" dirty="0">
                <a:solidFill>
                  <a:srgbClr val="2E377E"/>
                </a:solidFill>
                <a:latin typeface="Georgia"/>
                <a:cs typeface="Georgia"/>
              </a:rPr>
              <a:t> only. </a:t>
            </a:r>
            <a:r>
              <a:rPr sz="3600" dirty="0">
                <a:solidFill>
                  <a:srgbClr val="2E377E"/>
                </a:solidFill>
                <a:latin typeface="Georgia"/>
                <a:cs typeface="Georgia"/>
              </a:rPr>
              <a:t>After</a:t>
            </a:r>
            <a:r>
              <a:rPr sz="3600" spc="25" dirty="0">
                <a:solidFill>
                  <a:srgbClr val="2E377E"/>
                </a:solidFill>
                <a:latin typeface="Georgia"/>
                <a:cs typeface="Georgia"/>
              </a:rPr>
              <a:t> </a:t>
            </a:r>
            <a:r>
              <a:rPr sz="3600" dirty="0">
                <a:solidFill>
                  <a:srgbClr val="2E377E"/>
                </a:solidFill>
                <a:latin typeface="Georgia"/>
                <a:cs typeface="Georgia"/>
              </a:rPr>
              <a:t>creating</a:t>
            </a:r>
            <a:r>
              <a:rPr sz="3600" spc="20"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Secrets,</a:t>
            </a:r>
            <a:r>
              <a:rPr sz="3600" spc="25" dirty="0">
                <a:solidFill>
                  <a:srgbClr val="2E377E"/>
                </a:solidFill>
                <a:latin typeface="Georgia"/>
                <a:cs typeface="Georgia"/>
              </a:rPr>
              <a:t> </a:t>
            </a:r>
            <a:r>
              <a:rPr sz="3600" dirty="0">
                <a:solidFill>
                  <a:srgbClr val="2E377E"/>
                </a:solidFill>
                <a:latin typeface="Georgia"/>
                <a:cs typeface="Georgia"/>
              </a:rPr>
              <a:t>applications</a:t>
            </a:r>
            <a:r>
              <a:rPr sz="3600" spc="25" dirty="0">
                <a:solidFill>
                  <a:srgbClr val="2E377E"/>
                </a:solidFill>
                <a:latin typeface="Georgia"/>
                <a:cs typeface="Georgia"/>
              </a:rPr>
              <a:t> </a:t>
            </a:r>
            <a:r>
              <a:rPr sz="3600" dirty="0">
                <a:solidFill>
                  <a:srgbClr val="2E377E"/>
                </a:solidFill>
                <a:latin typeface="Georgia"/>
                <a:cs typeface="Georgia"/>
              </a:rPr>
              <a:t>need</a:t>
            </a:r>
            <a:r>
              <a:rPr sz="3600" spc="25" dirty="0">
                <a:solidFill>
                  <a:srgbClr val="2E377E"/>
                </a:solidFill>
                <a:latin typeface="Georgia"/>
                <a:cs typeface="Georgia"/>
              </a:rPr>
              <a:t> </a:t>
            </a:r>
            <a:r>
              <a:rPr sz="3600" spc="6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use</a:t>
            </a:r>
            <a:r>
              <a:rPr sz="3600" spc="25"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credentials</a:t>
            </a:r>
            <a:r>
              <a:rPr sz="3600" spc="25" dirty="0">
                <a:solidFill>
                  <a:srgbClr val="2E377E"/>
                </a:solidFill>
                <a:latin typeface="Georgia"/>
                <a:cs typeface="Georgia"/>
              </a:rPr>
              <a:t> </a:t>
            </a:r>
            <a:r>
              <a:rPr sz="3600" dirty="0">
                <a:solidFill>
                  <a:srgbClr val="2E377E"/>
                </a:solidFill>
                <a:latin typeface="Georgia"/>
                <a:cs typeface="Georgia"/>
              </a:rPr>
              <a:t>or</a:t>
            </a:r>
            <a:r>
              <a:rPr sz="3600" spc="25" dirty="0">
                <a:solidFill>
                  <a:srgbClr val="2E377E"/>
                </a:solidFill>
                <a:latin typeface="Georgia"/>
                <a:cs typeface="Georgia"/>
              </a:rPr>
              <a:t> </a:t>
            </a:r>
            <a:r>
              <a:rPr sz="3600" spc="-10" dirty="0">
                <a:solidFill>
                  <a:srgbClr val="2E377E"/>
                </a:solidFill>
                <a:latin typeface="Georgia"/>
                <a:cs typeface="Georgia"/>
              </a:rPr>
              <a:t>database </a:t>
            </a:r>
            <a:r>
              <a:rPr sz="3600" dirty="0">
                <a:solidFill>
                  <a:srgbClr val="2E377E"/>
                </a:solidFill>
                <a:latin typeface="Georgia"/>
                <a:cs typeface="Georgia"/>
              </a:rPr>
              <a:t>credentials</a:t>
            </a:r>
            <a:r>
              <a:rPr sz="3600" spc="30" dirty="0">
                <a:solidFill>
                  <a:srgbClr val="2E377E"/>
                </a:solidFill>
                <a:latin typeface="Georgia"/>
                <a:cs typeface="Georgia"/>
              </a:rPr>
              <a:t> </a:t>
            </a:r>
            <a:r>
              <a:rPr sz="3600" dirty="0">
                <a:solidFill>
                  <a:srgbClr val="2E377E"/>
                </a:solidFill>
                <a:latin typeface="Georgia"/>
                <a:cs typeface="Georgia"/>
              </a:rPr>
              <a:t>which</a:t>
            </a:r>
            <a:r>
              <a:rPr sz="3600" spc="35" dirty="0">
                <a:solidFill>
                  <a:srgbClr val="2E377E"/>
                </a:solidFill>
                <a:latin typeface="Georgia"/>
                <a:cs typeface="Georgia"/>
              </a:rPr>
              <a:t> </a:t>
            </a:r>
            <a:r>
              <a:rPr sz="3600" dirty="0">
                <a:solidFill>
                  <a:srgbClr val="2E377E"/>
                </a:solidFill>
                <a:latin typeface="Georgia"/>
                <a:cs typeface="Georgia"/>
              </a:rPr>
              <a:t>will</a:t>
            </a:r>
            <a:r>
              <a:rPr sz="3600" spc="30" dirty="0">
                <a:solidFill>
                  <a:srgbClr val="2E377E"/>
                </a:solidFill>
                <a:latin typeface="Georgia"/>
                <a:cs typeface="Georgia"/>
              </a:rPr>
              <a:t> </a:t>
            </a:r>
            <a:r>
              <a:rPr sz="3600" dirty="0">
                <a:solidFill>
                  <a:srgbClr val="2E377E"/>
                </a:solidFill>
                <a:latin typeface="Georgia"/>
                <a:cs typeface="Georgia"/>
              </a:rPr>
              <a:t>be</a:t>
            </a:r>
            <a:r>
              <a:rPr sz="3600" spc="35" dirty="0">
                <a:solidFill>
                  <a:srgbClr val="2E377E"/>
                </a:solidFill>
                <a:latin typeface="Georgia"/>
                <a:cs typeface="Georgia"/>
              </a:rPr>
              <a:t> </a:t>
            </a:r>
            <a:r>
              <a:rPr sz="3600" dirty="0">
                <a:solidFill>
                  <a:srgbClr val="2E377E"/>
                </a:solidFill>
                <a:latin typeface="Georgia"/>
                <a:cs typeface="Georgia"/>
              </a:rPr>
              <a:t>done</a:t>
            </a:r>
            <a:r>
              <a:rPr sz="3600" spc="35" dirty="0">
                <a:solidFill>
                  <a:srgbClr val="2E377E"/>
                </a:solidFill>
                <a:latin typeface="Georgia"/>
                <a:cs typeface="Georgia"/>
              </a:rPr>
              <a:t> </a:t>
            </a:r>
            <a:r>
              <a:rPr sz="3600" spc="90" dirty="0">
                <a:solidFill>
                  <a:srgbClr val="2E377E"/>
                </a:solidFill>
                <a:latin typeface="Georgia"/>
                <a:cs typeface="Georgia"/>
              </a:rPr>
              <a:t>by</a:t>
            </a:r>
            <a:r>
              <a:rPr sz="3600" spc="30" dirty="0">
                <a:solidFill>
                  <a:srgbClr val="2E377E"/>
                </a:solidFill>
                <a:latin typeface="Georgia"/>
                <a:cs typeface="Georgia"/>
              </a:rPr>
              <a:t> </a:t>
            </a:r>
            <a:r>
              <a:rPr sz="3600" dirty="0">
                <a:solidFill>
                  <a:srgbClr val="2E377E"/>
                </a:solidFill>
                <a:latin typeface="Georgia"/>
                <a:cs typeface="Georgia"/>
              </a:rPr>
              <a:t>injecting</a:t>
            </a:r>
            <a:r>
              <a:rPr sz="3600" spc="35" dirty="0">
                <a:solidFill>
                  <a:srgbClr val="2E377E"/>
                </a:solidFill>
                <a:latin typeface="Georgia"/>
                <a:cs typeface="Georgia"/>
              </a:rPr>
              <a:t> </a:t>
            </a:r>
            <a:r>
              <a:rPr sz="3600" spc="75" dirty="0">
                <a:solidFill>
                  <a:srgbClr val="2E377E"/>
                </a:solidFill>
                <a:latin typeface="Georgia"/>
                <a:cs typeface="Georgia"/>
              </a:rPr>
              <a:t>with</a:t>
            </a:r>
            <a:r>
              <a:rPr sz="3600" spc="35"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spc="-10" dirty="0">
                <a:solidFill>
                  <a:srgbClr val="2E377E"/>
                </a:solidFill>
                <a:latin typeface="Georgia"/>
                <a:cs typeface="Georgia"/>
              </a:rPr>
              <a:t>pods.</a:t>
            </a:r>
            <a:endParaRPr sz="3600">
              <a:latin typeface="Georgia"/>
              <a:cs typeface="Georgia"/>
            </a:endParaRPr>
          </a:p>
        </p:txBody>
      </p:sp>
      <p:pic>
        <p:nvPicPr>
          <p:cNvPr id="5" name="object 5"/>
          <p:cNvPicPr/>
          <p:nvPr/>
        </p:nvPicPr>
        <p:blipFill>
          <a:blip r:embed="rId2" cstate="print"/>
          <a:stretch>
            <a:fillRect/>
          </a:stretch>
        </p:blipFill>
        <p:spPr>
          <a:xfrm>
            <a:off x="1186649" y="3203680"/>
            <a:ext cx="133350" cy="133349"/>
          </a:xfrm>
          <a:prstGeom prst="rect">
            <a:avLst/>
          </a:prstGeom>
        </p:spPr>
      </p:pic>
      <p:pic>
        <p:nvPicPr>
          <p:cNvPr id="6" name="object 6"/>
          <p:cNvPicPr/>
          <p:nvPr/>
        </p:nvPicPr>
        <p:blipFill>
          <a:blip r:embed="rId3" cstate="print"/>
          <a:stretch>
            <a:fillRect/>
          </a:stretch>
        </p:blipFill>
        <p:spPr>
          <a:xfrm>
            <a:off x="1186649" y="4480030"/>
            <a:ext cx="133350" cy="133349"/>
          </a:xfrm>
          <a:prstGeom prst="rect">
            <a:avLst/>
          </a:prstGeom>
        </p:spPr>
      </p:pic>
      <p:pic>
        <p:nvPicPr>
          <p:cNvPr id="7" name="object 7"/>
          <p:cNvPicPr/>
          <p:nvPr/>
        </p:nvPicPr>
        <p:blipFill>
          <a:blip r:embed="rId4" cstate="print"/>
          <a:stretch>
            <a:fillRect/>
          </a:stretch>
        </p:blipFill>
        <p:spPr>
          <a:xfrm>
            <a:off x="1186649" y="5118205"/>
            <a:ext cx="133350" cy="133349"/>
          </a:xfrm>
          <a:prstGeom prst="rect">
            <a:avLst/>
          </a:prstGeom>
        </p:spPr>
      </p:pic>
      <p:pic>
        <p:nvPicPr>
          <p:cNvPr id="8" name="object 8"/>
          <p:cNvPicPr/>
          <p:nvPr/>
        </p:nvPicPr>
        <p:blipFill>
          <a:blip r:embed="rId5" cstate="print"/>
          <a:stretch>
            <a:fillRect/>
          </a:stretch>
        </p:blipFill>
        <p:spPr>
          <a:xfrm>
            <a:off x="1186649" y="5756379"/>
            <a:ext cx="133350" cy="133349"/>
          </a:xfrm>
          <a:prstGeom prst="rect">
            <a:avLst/>
          </a:prstGeom>
        </p:spPr>
      </p:pic>
      <p:pic>
        <p:nvPicPr>
          <p:cNvPr id="9" name="object 9"/>
          <p:cNvPicPr/>
          <p:nvPr/>
        </p:nvPicPr>
        <p:blipFill>
          <a:blip r:embed="rId4" cstate="print"/>
          <a:stretch>
            <a:fillRect/>
          </a:stretch>
        </p:blipFill>
        <p:spPr>
          <a:xfrm>
            <a:off x="1186649" y="6394554"/>
            <a:ext cx="133350" cy="133349"/>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11134" y="759238"/>
            <a:ext cx="16435705" cy="8321675"/>
          </a:xfrm>
          <a:prstGeom prst="rect">
            <a:avLst/>
          </a:prstGeom>
        </p:spPr>
        <p:txBody>
          <a:bodyPr vert="horz" wrap="square" lIns="0" tIns="102235" rIns="0" bIns="0" rtlCol="0">
            <a:spAutoFit/>
          </a:bodyPr>
          <a:lstStyle/>
          <a:p>
            <a:pPr marL="12700">
              <a:lnSpc>
                <a:spcPct val="100000"/>
              </a:lnSpc>
              <a:spcBef>
                <a:spcPts val="805"/>
              </a:spcBef>
            </a:pPr>
            <a:r>
              <a:rPr sz="3600" spc="175" dirty="0">
                <a:solidFill>
                  <a:srgbClr val="2E377E"/>
                </a:solidFill>
                <a:latin typeface="Times New Roman"/>
                <a:cs typeface="Times New Roman"/>
              </a:rPr>
              <a:t>Creating</a:t>
            </a:r>
            <a:r>
              <a:rPr sz="3600" spc="-85" dirty="0">
                <a:solidFill>
                  <a:srgbClr val="2E377E"/>
                </a:solidFill>
                <a:latin typeface="Times New Roman"/>
                <a:cs typeface="Times New Roman"/>
              </a:rPr>
              <a:t> </a:t>
            </a:r>
            <a:r>
              <a:rPr sz="3600" spc="185" dirty="0">
                <a:solidFill>
                  <a:srgbClr val="2E377E"/>
                </a:solidFill>
                <a:latin typeface="Times New Roman"/>
                <a:cs typeface="Times New Roman"/>
              </a:rPr>
              <a:t>Secret</a:t>
            </a:r>
            <a:r>
              <a:rPr sz="3600" spc="-85" dirty="0">
                <a:solidFill>
                  <a:srgbClr val="2E377E"/>
                </a:solidFill>
                <a:latin typeface="Times New Roman"/>
                <a:cs typeface="Times New Roman"/>
              </a:rPr>
              <a:t> </a:t>
            </a:r>
            <a:r>
              <a:rPr sz="3600" spc="229" dirty="0">
                <a:solidFill>
                  <a:srgbClr val="2E377E"/>
                </a:solidFill>
                <a:latin typeface="Times New Roman"/>
                <a:cs typeface="Times New Roman"/>
              </a:rPr>
              <a:t>from</a:t>
            </a:r>
            <a:r>
              <a:rPr sz="3600" spc="-85" dirty="0">
                <a:solidFill>
                  <a:srgbClr val="2E377E"/>
                </a:solidFill>
                <a:latin typeface="Times New Roman"/>
                <a:cs typeface="Times New Roman"/>
              </a:rPr>
              <a:t> </a:t>
            </a:r>
            <a:r>
              <a:rPr sz="3600" spc="120" dirty="0">
                <a:solidFill>
                  <a:srgbClr val="2E377E"/>
                </a:solidFill>
                <a:latin typeface="Times New Roman"/>
                <a:cs typeface="Times New Roman"/>
              </a:rPr>
              <a:t>literal:</a:t>
            </a:r>
            <a:endParaRPr sz="3600">
              <a:latin typeface="Times New Roman"/>
              <a:cs typeface="Times New Roman"/>
            </a:endParaRPr>
          </a:p>
          <a:p>
            <a:pPr marL="12700" marR="5080">
              <a:lnSpc>
                <a:spcPct val="116300"/>
              </a:lnSpc>
            </a:pPr>
            <a:r>
              <a:rPr sz="3600" spc="130" dirty="0">
                <a:solidFill>
                  <a:srgbClr val="2E377E"/>
                </a:solidFill>
                <a:latin typeface="Georgia"/>
                <a:cs typeface="Georgia"/>
              </a:rPr>
              <a:t>we</a:t>
            </a:r>
            <a:r>
              <a:rPr sz="3600" spc="60" dirty="0">
                <a:solidFill>
                  <a:srgbClr val="2E377E"/>
                </a:solidFill>
                <a:latin typeface="Georgia"/>
                <a:cs typeface="Georgia"/>
              </a:rPr>
              <a:t> </a:t>
            </a:r>
            <a:r>
              <a:rPr sz="3600" dirty="0">
                <a:solidFill>
                  <a:srgbClr val="2E377E"/>
                </a:solidFill>
                <a:latin typeface="Georgia"/>
                <a:cs typeface="Georgia"/>
              </a:rPr>
              <a:t>have</a:t>
            </a:r>
            <a:r>
              <a:rPr sz="3600" spc="60" dirty="0">
                <a:solidFill>
                  <a:srgbClr val="2E377E"/>
                </a:solidFill>
                <a:latin typeface="Georgia"/>
                <a:cs typeface="Georgia"/>
              </a:rPr>
              <a:t> </a:t>
            </a:r>
            <a:r>
              <a:rPr sz="3600" dirty="0">
                <a:solidFill>
                  <a:srgbClr val="2E377E"/>
                </a:solidFill>
                <a:latin typeface="Georgia"/>
                <a:cs typeface="Georgia"/>
              </a:rPr>
              <a:t>created</a:t>
            </a:r>
            <a:r>
              <a:rPr sz="3600" spc="65" dirty="0">
                <a:solidFill>
                  <a:srgbClr val="2E377E"/>
                </a:solidFill>
                <a:latin typeface="Georgia"/>
                <a:cs typeface="Georgia"/>
              </a:rPr>
              <a:t> </a:t>
            </a:r>
            <a:r>
              <a:rPr sz="3600" spc="50" dirty="0">
                <a:solidFill>
                  <a:srgbClr val="2E377E"/>
                </a:solidFill>
                <a:latin typeface="Georgia"/>
                <a:cs typeface="Georgia"/>
              </a:rPr>
              <a:t>the</a:t>
            </a:r>
            <a:r>
              <a:rPr sz="3600" spc="60" dirty="0">
                <a:solidFill>
                  <a:srgbClr val="2E377E"/>
                </a:solidFill>
                <a:latin typeface="Georgia"/>
                <a:cs typeface="Georgia"/>
              </a:rPr>
              <a:t> </a:t>
            </a:r>
            <a:r>
              <a:rPr sz="3600" dirty="0">
                <a:solidFill>
                  <a:srgbClr val="2E377E"/>
                </a:solidFill>
                <a:latin typeface="Georgia"/>
                <a:cs typeface="Georgia"/>
              </a:rPr>
              <a:t>Secrets</a:t>
            </a:r>
            <a:r>
              <a:rPr sz="3600" spc="65" dirty="0">
                <a:solidFill>
                  <a:srgbClr val="2E377E"/>
                </a:solidFill>
                <a:latin typeface="Georgia"/>
                <a:cs typeface="Georgia"/>
              </a:rPr>
              <a:t> </a:t>
            </a:r>
            <a:r>
              <a:rPr sz="3600" dirty="0">
                <a:solidFill>
                  <a:srgbClr val="2E377E"/>
                </a:solidFill>
                <a:latin typeface="Georgia"/>
                <a:cs typeface="Georgia"/>
              </a:rPr>
              <a:t>through</a:t>
            </a:r>
            <a:r>
              <a:rPr sz="3600" spc="60" dirty="0">
                <a:solidFill>
                  <a:srgbClr val="2E377E"/>
                </a:solidFill>
                <a:latin typeface="Georgia"/>
                <a:cs typeface="Georgia"/>
              </a:rPr>
              <a:t> </a:t>
            </a:r>
            <a:r>
              <a:rPr sz="3600" dirty="0">
                <a:solidFill>
                  <a:srgbClr val="2E377E"/>
                </a:solidFill>
                <a:latin typeface="Georgia"/>
                <a:cs typeface="Georgia"/>
              </a:rPr>
              <a:t>--from-literal</a:t>
            </a:r>
            <a:r>
              <a:rPr sz="3600" spc="65" dirty="0">
                <a:solidFill>
                  <a:srgbClr val="2E377E"/>
                </a:solidFill>
                <a:latin typeface="Georgia"/>
                <a:cs typeface="Georgia"/>
              </a:rPr>
              <a:t> </a:t>
            </a:r>
            <a:r>
              <a:rPr sz="3600" dirty="0">
                <a:solidFill>
                  <a:srgbClr val="2E377E"/>
                </a:solidFill>
                <a:latin typeface="Georgia"/>
                <a:cs typeface="Georgia"/>
              </a:rPr>
              <a:t>which</a:t>
            </a:r>
            <a:r>
              <a:rPr sz="3600" spc="60" dirty="0">
                <a:solidFill>
                  <a:srgbClr val="2E377E"/>
                </a:solidFill>
                <a:latin typeface="Georgia"/>
                <a:cs typeface="Georgia"/>
              </a:rPr>
              <a:t> </a:t>
            </a:r>
            <a:r>
              <a:rPr sz="3600" dirty="0">
                <a:solidFill>
                  <a:srgbClr val="2E377E"/>
                </a:solidFill>
                <a:latin typeface="Georgia"/>
                <a:cs typeface="Georgia"/>
              </a:rPr>
              <a:t>means</a:t>
            </a:r>
            <a:r>
              <a:rPr sz="3600" spc="65" dirty="0">
                <a:solidFill>
                  <a:srgbClr val="2E377E"/>
                </a:solidFill>
                <a:latin typeface="Georgia"/>
                <a:cs typeface="Georgia"/>
              </a:rPr>
              <a:t> </a:t>
            </a:r>
            <a:r>
              <a:rPr sz="3600" spc="80" dirty="0">
                <a:solidFill>
                  <a:srgbClr val="2E377E"/>
                </a:solidFill>
                <a:latin typeface="Georgia"/>
                <a:cs typeface="Georgia"/>
              </a:rPr>
              <a:t>you</a:t>
            </a:r>
            <a:r>
              <a:rPr sz="3600" spc="60" dirty="0">
                <a:solidFill>
                  <a:srgbClr val="2E377E"/>
                </a:solidFill>
                <a:latin typeface="Georgia"/>
                <a:cs typeface="Georgia"/>
              </a:rPr>
              <a:t> </a:t>
            </a:r>
            <a:r>
              <a:rPr sz="3600" dirty="0">
                <a:solidFill>
                  <a:srgbClr val="2E377E"/>
                </a:solidFill>
                <a:latin typeface="Georgia"/>
                <a:cs typeface="Georgia"/>
              </a:rPr>
              <a:t>just</a:t>
            </a:r>
            <a:r>
              <a:rPr sz="3600" spc="65" dirty="0">
                <a:solidFill>
                  <a:srgbClr val="2E377E"/>
                </a:solidFill>
                <a:latin typeface="Georgia"/>
                <a:cs typeface="Georgia"/>
              </a:rPr>
              <a:t> </a:t>
            </a:r>
            <a:r>
              <a:rPr sz="3600" dirty="0">
                <a:solidFill>
                  <a:srgbClr val="2E377E"/>
                </a:solidFill>
                <a:latin typeface="Georgia"/>
                <a:cs typeface="Georgia"/>
              </a:rPr>
              <a:t>need</a:t>
            </a:r>
            <a:r>
              <a:rPr sz="3600" spc="60" dirty="0">
                <a:solidFill>
                  <a:srgbClr val="2E377E"/>
                </a:solidFill>
                <a:latin typeface="Georgia"/>
                <a:cs typeface="Georgia"/>
              </a:rPr>
              <a:t> </a:t>
            </a:r>
            <a:r>
              <a:rPr sz="3600" spc="35" dirty="0">
                <a:solidFill>
                  <a:srgbClr val="2E377E"/>
                </a:solidFill>
                <a:latin typeface="Georgia"/>
                <a:cs typeface="Georgia"/>
              </a:rPr>
              <a:t>to </a:t>
            </a:r>
            <a:r>
              <a:rPr sz="3600" dirty="0">
                <a:solidFill>
                  <a:srgbClr val="2E377E"/>
                </a:solidFill>
                <a:latin typeface="Georgia"/>
                <a:cs typeface="Georgia"/>
              </a:rPr>
              <a:t>provide</a:t>
            </a:r>
            <a:r>
              <a:rPr sz="3600" spc="20"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spc="114" dirty="0">
                <a:solidFill>
                  <a:srgbClr val="2E377E"/>
                </a:solidFill>
                <a:latin typeface="Georgia"/>
                <a:cs typeface="Georgia"/>
              </a:rPr>
              <a:t>key</a:t>
            </a:r>
            <a:r>
              <a:rPr sz="3600" spc="20" dirty="0">
                <a:solidFill>
                  <a:srgbClr val="2E377E"/>
                </a:solidFill>
                <a:latin typeface="Georgia"/>
                <a:cs typeface="Georgia"/>
              </a:rPr>
              <a:t> </a:t>
            </a:r>
            <a:r>
              <a:rPr sz="3600" dirty="0">
                <a:solidFill>
                  <a:srgbClr val="2E377E"/>
                </a:solidFill>
                <a:latin typeface="Georgia"/>
                <a:cs typeface="Georgia"/>
              </a:rPr>
              <a:t>value</a:t>
            </a:r>
            <a:r>
              <a:rPr sz="3600" spc="25" dirty="0">
                <a:solidFill>
                  <a:srgbClr val="2E377E"/>
                </a:solidFill>
                <a:latin typeface="Georgia"/>
                <a:cs typeface="Georgia"/>
              </a:rPr>
              <a:t> </a:t>
            </a:r>
            <a:r>
              <a:rPr sz="3600" dirty="0">
                <a:solidFill>
                  <a:srgbClr val="2E377E"/>
                </a:solidFill>
                <a:latin typeface="Georgia"/>
                <a:cs typeface="Georgia"/>
              </a:rPr>
              <a:t>instead</a:t>
            </a:r>
            <a:r>
              <a:rPr sz="3600" spc="25"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dirty="0">
                <a:solidFill>
                  <a:srgbClr val="2E377E"/>
                </a:solidFill>
                <a:latin typeface="Georgia"/>
                <a:cs typeface="Georgia"/>
              </a:rPr>
              <a:t>providing</a:t>
            </a:r>
            <a:r>
              <a:rPr sz="3600" spc="25"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file</a:t>
            </a:r>
            <a:r>
              <a:rPr sz="3600" spc="20" dirty="0">
                <a:solidFill>
                  <a:srgbClr val="2E377E"/>
                </a:solidFill>
                <a:latin typeface="Georgia"/>
                <a:cs typeface="Georgia"/>
              </a:rPr>
              <a:t> </a:t>
            </a:r>
            <a:r>
              <a:rPr sz="3600" spc="75" dirty="0">
                <a:solidFill>
                  <a:srgbClr val="2E377E"/>
                </a:solidFill>
                <a:latin typeface="Georgia"/>
                <a:cs typeface="Georgia"/>
              </a:rPr>
              <a:t>with</a:t>
            </a:r>
            <a:r>
              <a:rPr sz="3600" spc="25" dirty="0">
                <a:solidFill>
                  <a:srgbClr val="2E377E"/>
                </a:solidFill>
                <a:latin typeface="Georgia"/>
                <a:cs typeface="Georgia"/>
              </a:rPr>
              <a:t> </a:t>
            </a:r>
            <a:r>
              <a:rPr sz="3600" spc="85" dirty="0">
                <a:solidFill>
                  <a:srgbClr val="2E377E"/>
                </a:solidFill>
                <a:latin typeface="Georgia"/>
                <a:cs typeface="Georgia"/>
              </a:rPr>
              <a:t>key-</a:t>
            </a:r>
            <a:r>
              <a:rPr sz="3600" dirty="0">
                <a:solidFill>
                  <a:srgbClr val="2E377E"/>
                </a:solidFill>
                <a:latin typeface="Georgia"/>
                <a:cs typeface="Georgia"/>
              </a:rPr>
              <a:t>value</a:t>
            </a:r>
            <a:r>
              <a:rPr sz="3600" spc="25" dirty="0">
                <a:solidFill>
                  <a:srgbClr val="2E377E"/>
                </a:solidFill>
                <a:latin typeface="Georgia"/>
                <a:cs typeface="Georgia"/>
              </a:rPr>
              <a:t> </a:t>
            </a:r>
            <a:r>
              <a:rPr sz="3600" dirty="0">
                <a:solidFill>
                  <a:srgbClr val="2E377E"/>
                </a:solidFill>
                <a:latin typeface="Georgia"/>
                <a:cs typeface="Georgia"/>
              </a:rPr>
              <a:t>pair</a:t>
            </a:r>
            <a:r>
              <a:rPr sz="3600" spc="20" dirty="0">
                <a:solidFill>
                  <a:srgbClr val="2E377E"/>
                </a:solidFill>
                <a:latin typeface="Georgia"/>
                <a:cs typeface="Georgia"/>
              </a:rPr>
              <a:t> </a:t>
            </a:r>
            <a:r>
              <a:rPr sz="3600" spc="-20" dirty="0">
                <a:solidFill>
                  <a:srgbClr val="2E377E"/>
                </a:solidFill>
                <a:latin typeface="Georgia"/>
                <a:cs typeface="Georgia"/>
              </a:rPr>
              <a:t>data.</a:t>
            </a:r>
            <a:endParaRPr sz="3600">
              <a:latin typeface="Georgia"/>
              <a:cs typeface="Georgia"/>
            </a:endParaRPr>
          </a:p>
          <a:p>
            <a:pPr>
              <a:lnSpc>
                <a:spcPct val="100000"/>
              </a:lnSpc>
              <a:spcBef>
                <a:spcPts val="935"/>
              </a:spcBef>
            </a:pPr>
            <a:endParaRPr sz="3600">
              <a:latin typeface="Georgia"/>
              <a:cs typeface="Georgia"/>
            </a:endParaRPr>
          </a:p>
          <a:p>
            <a:pPr marL="12700" marR="1334770">
              <a:lnSpc>
                <a:spcPct val="116300"/>
              </a:lnSpc>
            </a:pPr>
            <a:r>
              <a:rPr sz="3600" spc="80" dirty="0">
                <a:solidFill>
                  <a:srgbClr val="2E377E"/>
                </a:solidFill>
                <a:latin typeface="Georgia"/>
                <a:cs typeface="Georgia"/>
              </a:rPr>
              <a:t>you</a:t>
            </a:r>
            <a:r>
              <a:rPr sz="3600" dirty="0">
                <a:solidFill>
                  <a:srgbClr val="2E377E"/>
                </a:solidFill>
                <a:latin typeface="Georgia"/>
                <a:cs typeface="Georgia"/>
              </a:rPr>
              <a:t> can see</a:t>
            </a:r>
            <a:r>
              <a:rPr sz="3600" spc="5" dirty="0">
                <a:solidFill>
                  <a:srgbClr val="2E377E"/>
                </a:solidFill>
                <a:latin typeface="Georgia"/>
                <a:cs typeface="Georgia"/>
              </a:rPr>
              <a:t> </a:t>
            </a:r>
            <a:r>
              <a:rPr sz="3600" spc="50" dirty="0">
                <a:solidFill>
                  <a:srgbClr val="2E377E"/>
                </a:solidFill>
                <a:latin typeface="Georgia"/>
                <a:cs typeface="Georgia"/>
              </a:rPr>
              <a:t>the</a:t>
            </a:r>
            <a:r>
              <a:rPr sz="3600" dirty="0">
                <a:solidFill>
                  <a:srgbClr val="2E377E"/>
                </a:solidFill>
                <a:latin typeface="Georgia"/>
                <a:cs typeface="Georgia"/>
              </a:rPr>
              <a:t> </a:t>
            </a:r>
            <a:r>
              <a:rPr sz="3600" spc="114" dirty="0">
                <a:solidFill>
                  <a:srgbClr val="2E377E"/>
                </a:solidFill>
                <a:latin typeface="Georgia"/>
                <a:cs typeface="Georgia"/>
              </a:rPr>
              <a:t>key</a:t>
            </a:r>
            <a:r>
              <a:rPr sz="3600" spc="5" dirty="0">
                <a:solidFill>
                  <a:srgbClr val="2E377E"/>
                </a:solidFill>
                <a:latin typeface="Georgia"/>
                <a:cs typeface="Georgia"/>
              </a:rPr>
              <a:t> </a:t>
            </a:r>
            <a:r>
              <a:rPr sz="3600" dirty="0">
                <a:solidFill>
                  <a:srgbClr val="2E377E"/>
                </a:solidFill>
                <a:latin typeface="Georgia"/>
                <a:cs typeface="Georgia"/>
              </a:rPr>
              <a:t>and </a:t>
            </a:r>
            <a:r>
              <a:rPr sz="3600" spc="55" dirty="0">
                <a:solidFill>
                  <a:srgbClr val="2E377E"/>
                </a:solidFill>
                <a:latin typeface="Georgia"/>
                <a:cs typeface="Georgia"/>
              </a:rPr>
              <a:t>encrypted</a:t>
            </a:r>
            <a:r>
              <a:rPr sz="3600" spc="5" dirty="0">
                <a:solidFill>
                  <a:srgbClr val="2E377E"/>
                </a:solidFill>
                <a:latin typeface="Georgia"/>
                <a:cs typeface="Georgia"/>
              </a:rPr>
              <a:t> </a:t>
            </a:r>
            <a:r>
              <a:rPr sz="3600" dirty="0">
                <a:solidFill>
                  <a:srgbClr val="2E377E"/>
                </a:solidFill>
                <a:latin typeface="Georgia"/>
                <a:cs typeface="Georgia"/>
              </a:rPr>
              <a:t>value because</a:t>
            </a:r>
            <a:r>
              <a:rPr sz="3600" spc="5" dirty="0">
                <a:solidFill>
                  <a:srgbClr val="2E377E"/>
                </a:solidFill>
                <a:latin typeface="Georgia"/>
                <a:cs typeface="Georgia"/>
              </a:rPr>
              <a:t> </a:t>
            </a:r>
            <a:r>
              <a:rPr sz="3600" dirty="0">
                <a:solidFill>
                  <a:srgbClr val="2E377E"/>
                </a:solidFill>
                <a:latin typeface="Georgia"/>
                <a:cs typeface="Georgia"/>
              </a:rPr>
              <a:t>Kubernetes </a:t>
            </a:r>
            <a:r>
              <a:rPr sz="3600" spc="55" dirty="0">
                <a:solidFill>
                  <a:srgbClr val="2E377E"/>
                </a:solidFill>
                <a:latin typeface="Georgia"/>
                <a:cs typeface="Georgia"/>
              </a:rPr>
              <a:t>encrypts</a:t>
            </a:r>
            <a:r>
              <a:rPr sz="3600" spc="5" dirty="0">
                <a:solidFill>
                  <a:srgbClr val="2E377E"/>
                </a:solidFill>
                <a:latin typeface="Georgia"/>
                <a:cs typeface="Georgia"/>
              </a:rPr>
              <a:t> </a:t>
            </a:r>
            <a:r>
              <a:rPr sz="3600" spc="25" dirty="0">
                <a:solidFill>
                  <a:srgbClr val="2E377E"/>
                </a:solidFill>
                <a:latin typeface="Georgia"/>
                <a:cs typeface="Georgia"/>
              </a:rPr>
              <a:t>the </a:t>
            </a:r>
            <a:r>
              <a:rPr sz="3600" spc="-10" dirty="0">
                <a:solidFill>
                  <a:srgbClr val="2E377E"/>
                </a:solidFill>
                <a:latin typeface="Georgia"/>
                <a:cs typeface="Georgia"/>
              </a:rPr>
              <a:t>secrets.</a:t>
            </a:r>
            <a:endParaRPr sz="3600">
              <a:latin typeface="Georgia"/>
              <a:cs typeface="Georgia"/>
            </a:endParaRPr>
          </a:p>
          <a:p>
            <a:pPr marL="12700" marR="1354455" indent="101600">
              <a:lnSpc>
                <a:spcPct val="232600"/>
              </a:lnSpc>
            </a:pPr>
            <a:r>
              <a:rPr sz="3600" spc="60" dirty="0">
                <a:solidFill>
                  <a:srgbClr val="E7181F"/>
                </a:solidFill>
                <a:latin typeface="Georgia"/>
                <a:cs typeface="Georgia"/>
              </a:rPr>
              <a:t>kubectl</a:t>
            </a:r>
            <a:r>
              <a:rPr sz="3600" spc="-10" dirty="0">
                <a:solidFill>
                  <a:srgbClr val="E7181F"/>
                </a:solidFill>
                <a:latin typeface="Georgia"/>
                <a:cs typeface="Georgia"/>
              </a:rPr>
              <a:t> </a:t>
            </a:r>
            <a:r>
              <a:rPr sz="3600" spc="55" dirty="0">
                <a:solidFill>
                  <a:srgbClr val="E7181F"/>
                </a:solidFill>
                <a:latin typeface="Georgia"/>
                <a:cs typeface="Georgia"/>
              </a:rPr>
              <a:t>create</a:t>
            </a:r>
            <a:r>
              <a:rPr sz="3600" spc="-5" dirty="0">
                <a:solidFill>
                  <a:srgbClr val="E7181F"/>
                </a:solidFill>
                <a:latin typeface="Georgia"/>
                <a:cs typeface="Georgia"/>
              </a:rPr>
              <a:t> </a:t>
            </a:r>
            <a:r>
              <a:rPr sz="3600" spc="65" dirty="0">
                <a:solidFill>
                  <a:srgbClr val="E7181F"/>
                </a:solidFill>
                <a:latin typeface="Georgia"/>
                <a:cs typeface="Georgia"/>
              </a:rPr>
              <a:t>secret</a:t>
            </a:r>
            <a:r>
              <a:rPr sz="3600" spc="-5" dirty="0">
                <a:solidFill>
                  <a:srgbClr val="E7181F"/>
                </a:solidFill>
                <a:latin typeface="Georgia"/>
                <a:cs typeface="Georgia"/>
              </a:rPr>
              <a:t> </a:t>
            </a:r>
            <a:r>
              <a:rPr sz="3600" spc="45" dirty="0">
                <a:solidFill>
                  <a:srgbClr val="E7181F"/>
                </a:solidFill>
                <a:latin typeface="Georgia"/>
                <a:cs typeface="Georgia"/>
              </a:rPr>
              <a:t>generic</a:t>
            </a:r>
            <a:r>
              <a:rPr sz="3600" spc="-5" dirty="0">
                <a:solidFill>
                  <a:srgbClr val="E7181F"/>
                </a:solidFill>
                <a:latin typeface="Georgia"/>
                <a:cs typeface="Georgia"/>
              </a:rPr>
              <a:t> </a:t>
            </a:r>
            <a:r>
              <a:rPr sz="3600" spc="80" dirty="0">
                <a:solidFill>
                  <a:srgbClr val="E7181F"/>
                </a:solidFill>
                <a:latin typeface="Georgia"/>
                <a:cs typeface="Georgia"/>
              </a:rPr>
              <a:t>my-</a:t>
            </a:r>
            <a:r>
              <a:rPr sz="3600" spc="65" dirty="0">
                <a:solidFill>
                  <a:srgbClr val="E7181F"/>
                </a:solidFill>
                <a:latin typeface="Georgia"/>
                <a:cs typeface="Georgia"/>
              </a:rPr>
              <a:t>secret</a:t>
            </a:r>
            <a:r>
              <a:rPr sz="3600" spc="-10" dirty="0">
                <a:solidFill>
                  <a:srgbClr val="E7181F"/>
                </a:solidFill>
                <a:latin typeface="Georgia"/>
                <a:cs typeface="Georgia"/>
              </a:rPr>
              <a:t> </a:t>
            </a:r>
            <a:r>
              <a:rPr sz="3600" dirty="0">
                <a:solidFill>
                  <a:srgbClr val="E7181F"/>
                </a:solidFill>
                <a:latin typeface="Georgia"/>
                <a:cs typeface="Georgia"/>
              </a:rPr>
              <a:t>--from-</a:t>
            </a:r>
            <a:r>
              <a:rPr sz="3600" spc="-35" dirty="0">
                <a:solidFill>
                  <a:srgbClr val="E7181F"/>
                </a:solidFill>
                <a:latin typeface="Georgia"/>
                <a:cs typeface="Georgia"/>
              </a:rPr>
              <a:t>literal=username=sm7243 </a:t>
            </a:r>
            <a:r>
              <a:rPr sz="3600" dirty="0">
                <a:solidFill>
                  <a:srgbClr val="2E377E"/>
                </a:solidFill>
                <a:latin typeface="Georgia"/>
                <a:cs typeface="Georgia"/>
              </a:rPr>
              <a:t>To</a:t>
            </a:r>
            <a:r>
              <a:rPr sz="3600" spc="-65" dirty="0">
                <a:solidFill>
                  <a:srgbClr val="2E377E"/>
                </a:solidFill>
                <a:latin typeface="Georgia"/>
                <a:cs typeface="Georgia"/>
              </a:rPr>
              <a:t> </a:t>
            </a:r>
            <a:r>
              <a:rPr sz="3600" spc="75" dirty="0">
                <a:solidFill>
                  <a:srgbClr val="2E377E"/>
                </a:solidFill>
                <a:latin typeface="Georgia"/>
                <a:cs typeface="Georgia"/>
              </a:rPr>
              <a:t>get</a:t>
            </a:r>
            <a:r>
              <a:rPr sz="3600" spc="-65" dirty="0">
                <a:solidFill>
                  <a:srgbClr val="2E377E"/>
                </a:solidFill>
                <a:latin typeface="Georgia"/>
                <a:cs typeface="Georgia"/>
              </a:rPr>
              <a:t> </a:t>
            </a:r>
            <a:r>
              <a:rPr sz="3600" dirty="0">
                <a:solidFill>
                  <a:srgbClr val="2E377E"/>
                </a:solidFill>
                <a:latin typeface="Georgia"/>
                <a:cs typeface="Georgia"/>
              </a:rPr>
              <a:t>Config</a:t>
            </a:r>
            <a:r>
              <a:rPr sz="3600" spc="-65" dirty="0">
                <a:solidFill>
                  <a:srgbClr val="2E377E"/>
                </a:solidFill>
                <a:latin typeface="Georgia"/>
                <a:cs typeface="Georgia"/>
              </a:rPr>
              <a:t> </a:t>
            </a:r>
            <a:r>
              <a:rPr sz="3600" spc="-60" dirty="0">
                <a:solidFill>
                  <a:srgbClr val="2E377E"/>
                </a:solidFill>
                <a:latin typeface="Georgia"/>
                <a:cs typeface="Georgia"/>
              </a:rPr>
              <a:t>Maps: </a:t>
            </a:r>
            <a:r>
              <a:rPr sz="3600" spc="60" dirty="0">
                <a:solidFill>
                  <a:srgbClr val="E7181F"/>
                </a:solidFill>
                <a:latin typeface="Georgia"/>
                <a:cs typeface="Georgia"/>
              </a:rPr>
              <a:t>kubectl</a:t>
            </a:r>
            <a:r>
              <a:rPr sz="3600" spc="-65" dirty="0">
                <a:solidFill>
                  <a:srgbClr val="E7181F"/>
                </a:solidFill>
                <a:latin typeface="Georgia"/>
                <a:cs typeface="Georgia"/>
              </a:rPr>
              <a:t> </a:t>
            </a:r>
            <a:r>
              <a:rPr sz="3600" spc="75" dirty="0">
                <a:solidFill>
                  <a:srgbClr val="E7181F"/>
                </a:solidFill>
                <a:latin typeface="Georgia"/>
                <a:cs typeface="Georgia"/>
              </a:rPr>
              <a:t>get</a:t>
            </a:r>
            <a:r>
              <a:rPr sz="3600" spc="-65" dirty="0">
                <a:solidFill>
                  <a:srgbClr val="E7181F"/>
                </a:solidFill>
                <a:latin typeface="Georgia"/>
                <a:cs typeface="Georgia"/>
              </a:rPr>
              <a:t> </a:t>
            </a:r>
            <a:r>
              <a:rPr sz="3600" spc="55" dirty="0">
                <a:solidFill>
                  <a:srgbClr val="E7181F"/>
                </a:solidFill>
                <a:latin typeface="Georgia"/>
                <a:cs typeface="Georgia"/>
              </a:rPr>
              <a:t>secret</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To</a:t>
            </a:r>
            <a:r>
              <a:rPr sz="3600" spc="100" dirty="0">
                <a:solidFill>
                  <a:srgbClr val="2E377E"/>
                </a:solidFill>
                <a:latin typeface="Georgia"/>
                <a:cs typeface="Georgia"/>
              </a:rPr>
              <a:t> </a:t>
            </a:r>
            <a:r>
              <a:rPr sz="3600" dirty="0">
                <a:solidFill>
                  <a:srgbClr val="2E377E"/>
                </a:solidFill>
                <a:latin typeface="Georgia"/>
                <a:cs typeface="Georgia"/>
              </a:rPr>
              <a:t>descibe:</a:t>
            </a:r>
            <a:r>
              <a:rPr sz="3600" spc="110" dirty="0">
                <a:solidFill>
                  <a:srgbClr val="2E377E"/>
                </a:solidFill>
                <a:latin typeface="Georgia"/>
                <a:cs typeface="Georgia"/>
              </a:rPr>
              <a:t> </a:t>
            </a:r>
            <a:r>
              <a:rPr sz="3600" spc="60" dirty="0">
                <a:solidFill>
                  <a:srgbClr val="FF3131"/>
                </a:solidFill>
                <a:latin typeface="Georgia"/>
                <a:cs typeface="Georgia"/>
              </a:rPr>
              <a:t>kubectl</a:t>
            </a:r>
            <a:r>
              <a:rPr sz="3600" spc="105" dirty="0">
                <a:solidFill>
                  <a:srgbClr val="FF3131"/>
                </a:solidFill>
                <a:latin typeface="Georgia"/>
                <a:cs typeface="Georgia"/>
              </a:rPr>
              <a:t> </a:t>
            </a:r>
            <a:r>
              <a:rPr sz="3600" dirty="0">
                <a:solidFill>
                  <a:srgbClr val="FF3131"/>
                </a:solidFill>
                <a:latin typeface="Georgia"/>
                <a:cs typeface="Georgia"/>
              </a:rPr>
              <a:t>describe</a:t>
            </a:r>
            <a:r>
              <a:rPr sz="3600" spc="105" dirty="0">
                <a:solidFill>
                  <a:srgbClr val="FF3131"/>
                </a:solidFill>
                <a:latin typeface="Georgia"/>
                <a:cs typeface="Georgia"/>
              </a:rPr>
              <a:t> </a:t>
            </a:r>
            <a:r>
              <a:rPr sz="3600" dirty="0">
                <a:solidFill>
                  <a:srgbClr val="FF3131"/>
                </a:solidFill>
                <a:latin typeface="Georgia"/>
                <a:cs typeface="Georgia"/>
              </a:rPr>
              <a:t>secret/my-</a:t>
            </a:r>
            <a:r>
              <a:rPr sz="3600" spc="55" dirty="0">
                <a:solidFill>
                  <a:srgbClr val="FF3131"/>
                </a:solidFill>
                <a:latin typeface="Georgia"/>
                <a:cs typeface="Georgia"/>
              </a:rPr>
              <a:t>secret</a:t>
            </a:r>
            <a:endParaRPr sz="3600">
              <a:latin typeface="Georgia"/>
              <a:cs typeface="Georgia"/>
            </a:endParaRPr>
          </a:p>
          <a:p>
            <a:pPr marL="12700" marR="5647055">
              <a:lnSpc>
                <a:spcPct val="116300"/>
              </a:lnSpc>
            </a:pPr>
            <a:r>
              <a:rPr sz="3600" dirty="0">
                <a:solidFill>
                  <a:srgbClr val="2E377E"/>
                </a:solidFill>
                <a:latin typeface="Georgia"/>
                <a:cs typeface="Georgia"/>
              </a:rPr>
              <a:t>To</a:t>
            </a:r>
            <a:r>
              <a:rPr sz="3600" spc="-55" dirty="0">
                <a:solidFill>
                  <a:srgbClr val="2E377E"/>
                </a:solidFill>
                <a:latin typeface="Georgia"/>
                <a:cs typeface="Georgia"/>
              </a:rPr>
              <a:t> </a:t>
            </a:r>
            <a:r>
              <a:rPr sz="3600" dirty="0">
                <a:solidFill>
                  <a:srgbClr val="2E377E"/>
                </a:solidFill>
                <a:latin typeface="Georgia"/>
                <a:cs typeface="Georgia"/>
              </a:rPr>
              <a:t>Get</a:t>
            </a:r>
            <a:r>
              <a:rPr sz="3600" spc="-55" dirty="0">
                <a:solidFill>
                  <a:srgbClr val="2E377E"/>
                </a:solidFill>
                <a:latin typeface="Georgia"/>
                <a:cs typeface="Georgia"/>
              </a:rPr>
              <a:t> </a:t>
            </a:r>
            <a:r>
              <a:rPr sz="3600" dirty="0">
                <a:solidFill>
                  <a:srgbClr val="2E377E"/>
                </a:solidFill>
                <a:latin typeface="Georgia"/>
                <a:cs typeface="Georgia"/>
              </a:rPr>
              <a:t>in</a:t>
            </a:r>
            <a:r>
              <a:rPr sz="3600" spc="-50" dirty="0">
                <a:solidFill>
                  <a:srgbClr val="2E377E"/>
                </a:solidFill>
                <a:latin typeface="Georgia"/>
                <a:cs typeface="Georgia"/>
              </a:rPr>
              <a:t> </a:t>
            </a:r>
            <a:r>
              <a:rPr sz="3600" spc="50" dirty="0">
                <a:solidFill>
                  <a:srgbClr val="2E377E"/>
                </a:solidFill>
                <a:latin typeface="Georgia"/>
                <a:cs typeface="Georgia"/>
              </a:rPr>
              <a:t>yaml</a:t>
            </a:r>
            <a:r>
              <a:rPr sz="3600" spc="-55" dirty="0">
                <a:solidFill>
                  <a:srgbClr val="2E377E"/>
                </a:solidFill>
                <a:latin typeface="Georgia"/>
                <a:cs typeface="Georgia"/>
              </a:rPr>
              <a:t> </a:t>
            </a:r>
            <a:r>
              <a:rPr sz="3600" spc="-245" dirty="0">
                <a:solidFill>
                  <a:srgbClr val="2E377E"/>
                </a:solidFill>
                <a:latin typeface="Georgia"/>
                <a:cs typeface="Georgia"/>
              </a:rPr>
              <a:t>:</a:t>
            </a:r>
            <a:r>
              <a:rPr sz="3600" spc="-45" dirty="0">
                <a:solidFill>
                  <a:srgbClr val="2E377E"/>
                </a:solidFill>
                <a:latin typeface="Georgia"/>
                <a:cs typeface="Georgia"/>
              </a:rPr>
              <a:t> </a:t>
            </a:r>
            <a:r>
              <a:rPr sz="3600" spc="60" dirty="0">
                <a:solidFill>
                  <a:srgbClr val="FF3131"/>
                </a:solidFill>
                <a:latin typeface="Georgia"/>
                <a:cs typeface="Georgia"/>
              </a:rPr>
              <a:t>kubectl</a:t>
            </a:r>
            <a:r>
              <a:rPr sz="3600" spc="-55" dirty="0">
                <a:solidFill>
                  <a:srgbClr val="FF3131"/>
                </a:solidFill>
                <a:latin typeface="Georgia"/>
                <a:cs typeface="Georgia"/>
              </a:rPr>
              <a:t> </a:t>
            </a:r>
            <a:r>
              <a:rPr sz="3600" spc="75" dirty="0">
                <a:solidFill>
                  <a:srgbClr val="FF3131"/>
                </a:solidFill>
                <a:latin typeface="Georgia"/>
                <a:cs typeface="Georgia"/>
              </a:rPr>
              <a:t>get</a:t>
            </a:r>
            <a:r>
              <a:rPr sz="3600" spc="-50" dirty="0">
                <a:solidFill>
                  <a:srgbClr val="FF3131"/>
                </a:solidFill>
                <a:latin typeface="Georgia"/>
                <a:cs typeface="Georgia"/>
              </a:rPr>
              <a:t> </a:t>
            </a:r>
            <a:r>
              <a:rPr sz="3600" spc="65" dirty="0">
                <a:solidFill>
                  <a:srgbClr val="FF3131"/>
                </a:solidFill>
                <a:latin typeface="Georgia"/>
                <a:cs typeface="Georgia"/>
              </a:rPr>
              <a:t>secret</a:t>
            </a:r>
            <a:r>
              <a:rPr sz="3600" spc="-55" dirty="0">
                <a:solidFill>
                  <a:srgbClr val="FF3131"/>
                </a:solidFill>
                <a:latin typeface="Georgia"/>
                <a:cs typeface="Georgia"/>
              </a:rPr>
              <a:t> </a:t>
            </a:r>
            <a:r>
              <a:rPr sz="3600" spc="80" dirty="0">
                <a:solidFill>
                  <a:srgbClr val="FF3131"/>
                </a:solidFill>
                <a:latin typeface="Georgia"/>
                <a:cs typeface="Georgia"/>
              </a:rPr>
              <a:t>my-</a:t>
            </a:r>
            <a:r>
              <a:rPr sz="3600" spc="65" dirty="0">
                <a:solidFill>
                  <a:srgbClr val="FF3131"/>
                </a:solidFill>
                <a:latin typeface="Georgia"/>
                <a:cs typeface="Georgia"/>
              </a:rPr>
              <a:t>secret</a:t>
            </a:r>
            <a:r>
              <a:rPr sz="3600" spc="-50" dirty="0">
                <a:solidFill>
                  <a:srgbClr val="FF3131"/>
                </a:solidFill>
                <a:latin typeface="Georgia"/>
                <a:cs typeface="Georgia"/>
              </a:rPr>
              <a:t> </a:t>
            </a:r>
            <a:r>
              <a:rPr sz="3600" dirty="0">
                <a:solidFill>
                  <a:srgbClr val="FF3131"/>
                </a:solidFill>
                <a:latin typeface="Georgia"/>
                <a:cs typeface="Georgia"/>
              </a:rPr>
              <a:t>-o</a:t>
            </a:r>
            <a:r>
              <a:rPr sz="3600" spc="-55" dirty="0">
                <a:solidFill>
                  <a:srgbClr val="FF3131"/>
                </a:solidFill>
                <a:latin typeface="Georgia"/>
                <a:cs typeface="Georgia"/>
              </a:rPr>
              <a:t> </a:t>
            </a:r>
            <a:r>
              <a:rPr sz="3600" spc="30" dirty="0">
                <a:solidFill>
                  <a:srgbClr val="FF3131"/>
                </a:solidFill>
                <a:latin typeface="Georgia"/>
                <a:cs typeface="Georgia"/>
              </a:rPr>
              <a:t>yaml </a:t>
            </a:r>
            <a:r>
              <a:rPr sz="3600" dirty="0">
                <a:solidFill>
                  <a:srgbClr val="2E377E"/>
                </a:solidFill>
                <a:latin typeface="Georgia"/>
                <a:cs typeface="Georgia"/>
              </a:rPr>
              <a:t>To</a:t>
            </a:r>
            <a:r>
              <a:rPr sz="3600" spc="50" dirty="0">
                <a:solidFill>
                  <a:srgbClr val="2E377E"/>
                </a:solidFill>
                <a:latin typeface="Georgia"/>
                <a:cs typeface="Georgia"/>
              </a:rPr>
              <a:t> </a:t>
            </a:r>
            <a:r>
              <a:rPr sz="3600" dirty="0">
                <a:solidFill>
                  <a:srgbClr val="2E377E"/>
                </a:solidFill>
                <a:latin typeface="Georgia"/>
                <a:cs typeface="Georgia"/>
              </a:rPr>
              <a:t>delete:</a:t>
            </a:r>
            <a:r>
              <a:rPr sz="3600" spc="55" dirty="0">
                <a:solidFill>
                  <a:srgbClr val="2E377E"/>
                </a:solidFill>
                <a:latin typeface="Georgia"/>
                <a:cs typeface="Georgia"/>
              </a:rPr>
              <a:t> </a:t>
            </a:r>
            <a:r>
              <a:rPr sz="3600" spc="60" dirty="0">
                <a:solidFill>
                  <a:srgbClr val="FF3131"/>
                </a:solidFill>
                <a:latin typeface="Georgia"/>
                <a:cs typeface="Georgia"/>
              </a:rPr>
              <a:t>kubectl</a:t>
            </a:r>
            <a:r>
              <a:rPr sz="3600" spc="55" dirty="0">
                <a:solidFill>
                  <a:srgbClr val="FF3131"/>
                </a:solidFill>
                <a:latin typeface="Georgia"/>
                <a:cs typeface="Georgia"/>
              </a:rPr>
              <a:t> delete </a:t>
            </a:r>
            <a:r>
              <a:rPr sz="3600" dirty="0">
                <a:solidFill>
                  <a:srgbClr val="FF3131"/>
                </a:solidFill>
                <a:latin typeface="Georgia"/>
                <a:cs typeface="Georgia"/>
              </a:rPr>
              <a:t>secret/my-</a:t>
            </a:r>
            <a:r>
              <a:rPr sz="3600" spc="55" dirty="0">
                <a:solidFill>
                  <a:srgbClr val="FF3131"/>
                </a:solidFill>
                <a:latin typeface="Georgia"/>
                <a:cs typeface="Georgia"/>
              </a:rPr>
              <a:t>secret</a:t>
            </a:r>
            <a:endParaRPr sz="3600">
              <a:latin typeface="Georgia"/>
              <a:cs typeface="Georgia"/>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1609" y="759234"/>
            <a:ext cx="16213455" cy="8959850"/>
          </a:xfrm>
          <a:prstGeom prst="rect">
            <a:avLst/>
          </a:prstGeom>
        </p:spPr>
        <p:txBody>
          <a:bodyPr vert="horz" wrap="square" lIns="0" tIns="102235" rIns="0" bIns="0" rtlCol="0">
            <a:spAutoFit/>
          </a:bodyPr>
          <a:lstStyle/>
          <a:p>
            <a:pPr marL="12700">
              <a:lnSpc>
                <a:spcPct val="100000"/>
              </a:lnSpc>
              <a:spcBef>
                <a:spcPts val="805"/>
              </a:spcBef>
            </a:pPr>
            <a:r>
              <a:rPr sz="3600" spc="170" dirty="0">
                <a:solidFill>
                  <a:srgbClr val="2E377E"/>
                </a:solidFill>
                <a:latin typeface="Times New Roman"/>
                <a:cs typeface="Times New Roman"/>
              </a:rPr>
              <a:t>Secrets</a:t>
            </a:r>
            <a:r>
              <a:rPr sz="3600" spc="-105" dirty="0">
                <a:solidFill>
                  <a:srgbClr val="2E377E"/>
                </a:solidFill>
                <a:latin typeface="Times New Roman"/>
                <a:cs typeface="Times New Roman"/>
              </a:rPr>
              <a:t> </a:t>
            </a:r>
            <a:r>
              <a:rPr sz="3600" spc="220" dirty="0">
                <a:solidFill>
                  <a:srgbClr val="2E377E"/>
                </a:solidFill>
                <a:latin typeface="Times New Roman"/>
                <a:cs typeface="Times New Roman"/>
              </a:rPr>
              <a:t>from</a:t>
            </a:r>
            <a:r>
              <a:rPr sz="3600" spc="-105" dirty="0">
                <a:solidFill>
                  <a:srgbClr val="2E377E"/>
                </a:solidFill>
                <a:latin typeface="Times New Roman"/>
                <a:cs typeface="Times New Roman"/>
              </a:rPr>
              <a:t> </a:t>
            </a:r>
            <a:r>
              <a:rPr sz="3600" spc="-10" dirty="0">
                <a:solidFill>
                  <a:srgbClr val="2E377E"/>
                </a:solidFill>
                <a:latin typeface="Times New Roman"/>
                <a:cs typeface="Times New Roman"/>
              </a:rPr>
              <a:t>file:</a:t>
            </a:r>
            <a:endParaRPr sz="3600">
              <a:latin typeface="Times New Roman"/>
              <a:cs typeface="Times New Roman"/>
            </a:endParaRPr>
          </a:p>
          <a:p>
            <a:pPr marL="12700" marR="5080">
              <a:lnSpc>
                <a:spcPct val="116300"/>
              </a:lnSpc>
            </a:pPr>
            <a:r>
              <a:rPr sz="360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have created one file first.conf which has some data, and created </a:t>
            </a:r>
            <a:r>
              <a:rPr sz="3600" spc="50" dirty="0">
                <a:solidFill>
                  <a:srgbClr val="2E377E"/>
                </a:solidFill>
                <a:latin typeface="Georgia"/>
                <a:cs typeface="Georgia"/>
              </a:rPr>
              <a:t>the</a:t>
            </a:r>
            <a:r>
              <a:rPr sz="3600" dirty="0">
                <a:solidFill>
                  <a:srgbClr val="2E377E"/>
                </a:solidFill>
                <a:latin typeface="Georgia"/>
                <a:cs typeface="Georgia"/>
              </a:rPr>
              <a:t> </a:t>
            </a:r>
            <a:r>
              <a:rPr sz="3600" spc="-10" dirty="0">
                <a:solidFill>
                  <a:srgbClr val="2E377E"/>
                </a:solidFill>
                <a:latin typeface="Georgia"/>
                <a:cs typeface="Georgia"/>
              </a:rPr>
              <a:t>Secrets </a:t>
            </a:r>
            <a:r>
              <a:rPr sz="3600" spc="75" dirty="0">
                <a:solidFill>
                  <a:srgbClr val="2E377E"/>
                </a:solidFill>
                <a:latin typeface="Georgia"/>
                <a:cs typeface="Georgia"/>
              </a:rPr>
              <a:t>with</a:t>
            </a:r>
            <a:r>
              <a:rPr sz="3600" spc="-30"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help</a:t>
            </a:r>
            <a:r>
              <a:rPr sz="3600" spc="-30"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dirty="0">
                <a:solidFill>
                  <a:srgbClr val="2E377E"/>
                </a:solidFill>
                <a:latin typeface="Georgia"/>
                <a:cs typeface="Georgia"/>
              </a:rPr>
              <a:t>that</a:t>
            </a:r>
            <a:r>
              <a:rPr sz="3600" spc="-30" dirty="0">
                <a:solidFill>
                  <a:srgbClr val="2E377E"/>
                </a:solidFill>
                <a:latin typeface="Georgia"/>
                <a:cs typeface="Georgia"/>
              </a:rPr>
              <a:t> </a:t>
            </a:r>
            <a:r>
              <a:rPr sz="3600" spc="-10" dirty="0">
                <a:solidFill>
                  <a:srgbClr val="2E377E"/>
                </a:solidFill>
                <a:latin typeface="Georgia"/>
                <a:cs typeface="Georgia"/>
              </a:rPr>
              <a:t>file.</a:t>
            </a:r>
            <a:endParaRPr sz="3600">
              <a:latin typeface="Georgia"/>
              <a:cs typeface="Georgia"/>
            </a:endParaRPr>
          </a:p>
          <a:p>
            <a:pPr>
              <a:lnSpc>
                <a:spcPct val="100000"/>
              </a:lnSpc>
              <a:spcBef>
                <a:spcPts val="935"/>
              </a:spcBef>
            </a:pPr>
            <a:endParaRPr sz="3600">
              <a:latin typeface="Georgia"/>
              <a:cs typeface="Georgia"/>
            </a:endParaRPr>
          </a:p>
          <a:p>
            <a:pPr marL="12700" marR="11595100">
              <a:lnSpc>
                <a:spcPct val="116300"/>
              </a:lnSpc>
            </a:pPr>
            <a:r>
              <a:rPr sz="3600" spc="55" dirty="0">
                <a:solidFill>
                  <a:srgbClr val="2E377E"/>
                </a:solidFill>
                <a:latin typeface="Georgia"/>
                <a:cs typeface="Georgia"/>
              </a:rPr>
              <a:t>cat</a:t>
            </a:r>
            <a:r>
              <a:rPr sz="3600" spc="-65" dirty="0">
                <a:solidFill>
                  <a:srgbClr val="2E377E"/>
                </a:solidFill>
                <a:latin typeface="Georgia"/>
                <a:cs typeface="Georgia"/>
              </a:rPr>
              <a:t> </a:t>
            </a:r>
            <a:r>
              <a:rPr sz="3600" spc="-10" dirty="0">
                <a:solidFill>
                  <a:srgbClr val="2E377E"/>
                </a:solidFill>
                <a:latin typeface="Georgia"/>
                <a:cs typeface="Georgia"/>
              </a:rPr>
              <a:t>first.conf username=sm7234 </a:t>
            </a:r>
            <a:r>
              <a:rPr sz="3600" spc="-20" dirty="0">
                <a:solidFill>
                  <a:srgbClr val="2E377E"/>
                </a:solidFill>
                <a:latin typeface="Georgia"/>
                <a:cs typeface="Georgia"/>
              </a:rPr>
              <a:t>password=admin@123</a:t>
            </a:r>
            <a:endParaRPr sz="3600">
              <a:latin typeface="Georgia"/>
              <a:cs typeface="Georgia"/>
            </a:endParaRPr>
          </a:p>
          <a:p>
            <a:pPr marL="12700" marR="2538095">
              <a:lnSpc>
                <a:spcPct val="232600"/>
              </a:lnSpc>
            </a:pPr>
            <a:r>
              <a:rPr sz="3600" spc="60" dirty="0">
                <a:solidFill>
                  <a:srgbClr val="E7181F"/>
                </a:solidFill>
                <a:latin typeface="Georgia"/>
                <a:cs typeface="Georgia"/>
              </a:rPr>
              <a:t>kubectl</a:t>
            </a:r>
            <a:r>
              <a:rPr sz="3600" spc="50" dirty="0">
                <a:solidFill>
                  <a:srgbClr val="E7181F"/>
                </a:solidFill>
                <a:latin typeface="Georgia"/>
                <a:cs typeface="Georgia"/>
              </a:rPr>
              <a:t> </a:t>
            </a:r>
            <a:r>
              <a:rPr sz="3600" spc="55" dirty="0">
                <a:solidFill>
                  <a:srgbClr val="E7181F"/>
                </a:solidFill>
                <a:latin typeface="Georgia"/>
                <a:cs typeface="Georgia"/>
              </a:rPr>
              <a:t>create </a:t>
            </a:r>
            <a:r>
              <a:rPr sz="3600" spc="65" dirty="0">
                <a:solidFill>
                  <a:srgbClr val="E7181F"/>
                </a:solidFill>
                <a:latin typeface="Georgia"/>
                <a:cs typeface="Georgia"/>
              </a:rPr>
              <a:t>secret</a:t>
            </a:r>
            <a:r>
              <a:rPr sz="3600" spc="55" dirty="0">
                <a:solidFill>
                  <a:srgbClr val="E7181F"/>
                </a:solidFill>
                <a:latin typeface="Georgia"/>
                <a:cs typeface="Georgia"/>
              </a:rPr>
              <a:t> </a:t>
            </a:r>
            <a:r>
              <a:rPr sz="3600" spc="45" dirty="0">
                <a:solidFill>
                  <a:srgbClr val="E7181F"/>
                </a:solidFill>
                <a:latin typeface="Georgia"/>
                <a:cs typeface="Georgia"/>
              </a:rPr>
              <a:t>generic</a:t>
            </a:r>
            <a:r>
              <a:rPr sz="3600" spc="55" dirty="0">
                <a:solidFill>
                  <a:srgbClr val="E7181F"/>
                </a:solidFill>
                <a:latin typeface="Georgia"/>
                <a:cs typeface="Georgia"/>
              </a:rPr>
              <a:t> </a:t>
            </a:r>
            <a:r>
              <a:rPr sz="3600" spc="60" dirty="0">
                <a:solidFill>
                  <a:srgbClr val="E7181F"/>
                </a:solidFill>
                <a:latin typeface="Georgia"/>
                <a:cs typeface="Georgia"/>
              </a:rPr>
              <a:t>secret-</a:t>
            </a:r>
            <a:r>
              <a:rPr sz="3600" dirty="0">
                <a:solidFill>
                  <a:srgbClr val="E7181F"/>
                </a:solidFill>
                <a:latin typeface="Georgia"/>
                <a:cs typeface="Georgia"/>
              </a:rPr>
              <a:t>from-file</a:t>
            </a:r>
            <a:r>
              <a:rPr sz="3600" spc="55" dirty="0">
                <a:solidFill>
                  <a:srgbClr val="E7181F"/>
                </a:solidFill>
                <a:latin typeface="Georgia"/>
                <a:cs typeface="Georgia"/>
              </a:rPr>
              <a:t> </a:t>
            </a:r>
            <a:r>
              <a:rPr sz="3600" dirty="0">
                <a:solidFill>
                  <a:srgbClr val="E7181F"/>
                </a:solidFill>
                <a:latin typeface="Georgia"/>
                <a:cs typeface="Georgia"/>
              </a:rPr>
              <a:t>--from-</a:t>
            </a:r>
            <a:r>
              <a:rPr sz="3600" spc="-10" dirty="0">
                <a:solidFill>
                  <a:srgbClr val="E7181F"/>
                </a:solidFill>
                <a:latin typeface="Georgia"/>
                <a:cs typeface="Georgia"/>
              </a:rPr>
              <a:t>file=first.conf </a:t>
            </a:r>
            <a:r>
              <a:rPr sz="3600" dirty="0">
                <a:solidFill>
                  <a:srgbClr val="2E377E"/>
                </a:solidFill>
                <a:latin typeface="Georgia"/>
                <a:cs typeface="Georgia"/>
              </a:rPr>
              <a:t>To</a:t>
            </a:r>
            <a:r>
              <a:rPr sz="3600" spc="-65" dirty="0">
                <a:solidFill>
                  <a:srgbClr val="2E377E"/>
                </a:solidFill>
                <a:latin typeface="Georgia"/>
                <a:cs typeface="Georgia"/>
              </a:rPr>
              <a:t> </a:t>
            </a:r>
            <a:r>
              <a:rPr sz="3600" spc="75" dirty="0">
                <a:solidFill>
                  <a:srgbClr val="2E377E"/>
                </a:solidFill>
                <a:latin typeface="Georgia"/>
                <a:cs typeface="Georgia"/>
              </a:rPr>
              <a:t>get</a:t>
            </a:r>
            <a:r>
              <a:rPr sz="3600" spc="-65" dirty="0">
                <a:solidFill>
                  <a:srgbClr val="2E377E"/>
                </a:solidFill>
                <a:latin typeface="Georgia"/>
                <a:cs typeface="Georgia"/>
              </a:rPr>
              <a:t> </a:t>
            </a:r>
            <a:r>
              <a:rPr sz="3600" dirty="0">
                <a:solidFill>
                  <a:srgbClr val="2E377E"/>
                </a:solidFill>
                <a:latin typeface="Georgia"/>
                <a:cs typeface="Georgia"/>
              </a:rPr>
              <a:t>Config</a:t>
            </a:r>
            <a:r>
              <a:rPr sz="3600" spc="-65" dirty="0">
                <a:solidFill>
                  <a:srgbClr val="2E377E"/>
                </a:solidFill>
                <a:latin typeface="Georgia"/>
                <a:cs typeface="Georgia"/>
              </a:rPr>
              <a:t> </a:t>
            </a:r>
            <a:r>
              <a:rPr sz="3600" spc="-60" dirty="0">
                <a:solidFill>
                  <a:srgbClr val="2E377E"/>
                </a:solidFill>
                <a:latin typeface="Georgia"/>
                <a:cs typeface="Georgia"/>
              </a:rPr>
              <a:t>Maps: </a:t>
            </a:r>
            <a:r>
              <a:rPr sz="3600" spc="60" dirty="0">
                <a:solidFill>
                  <a:srgbClr val="E7181F"/>
                </a:solidFill>
                <a:latin typeface="Georgia"/>
                <a:cs typeface="Georgia"/>
              </a:rPr>
              <a:t>kubectl</a:t>
            </a:r>
            <a:r>
              <a:rPr sz="3600" spc="-65" dirty="0">
                <a:solidFill>
                  <a:srgbClr val="E7181F"/>
                </a:solidFill>
                <a:latin typeface="Georgia"/>
                <a:cs typeface="Georgia"/>
              </a:rPr>
              <a:t> </a:t>
            </a:r>
            <a:r>
              <a:rPr sz="3600" spc="75" dirty="0">
                <a:solidFill>
                  <a:srgbClr val="E7181F"/>
                </a:solidFill>
                <a:latin typeface="Georgia"/>
                <a:cs typeface="Georgia"/>
              </a:rPr>
              <a:t>get</a:t>
            </a:r>
            <a:r>
              <a:rPr sz="3600" spc="-65" dirty="0">
                <a:solidFill>
                  <a:srgbClr val="E7181F"/>
                </a:solidFill>
                <a:latin typeface="Georgia"/>
                <a:cs typeface="Georgia"/>
              </a:rPr>
              <a:t> </a:t>
            </a:r>
            <a:r>
              <a:rPr sz="3600" spc="55" dirty="0">
                <a:solidFill>
                  <a:srgbClr val="E7181F"/>
                </a:solidFill>
                <a:latin typeface="Georgia"/>
                <a:cs typeface="Georgia"/>
              </a:rPr>
              <a:t>secret</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To</a:t>
            </a:r>
            <a:r>
              <a:rPr sz="3600" spc="190" dirty="0">
                <a:solidFill>
                  <a:srgbClr val="2E377E"/>
                </a:solidFill>
                <a:latin typeface="Georgia"/>
                <a:cs typeface="Georgia"/>
              </a:rPr>
              <a:t> </a:t>
            </a:r>
            <a:r>
              <a:rPr sz="3600" dirty="0">
                <a:solidFill>
                  <a:srgbClr val="2E377E"/>
                </a:solidFill>
                <a:latin typeface="Georgia"/>
                <a:cs typeface="Georgia"/>
              </a:rPr>
              <a:t>descibe:</a:t>
            </a:r>
            <a:r>
              <a:rPr sz="3600" spc="200" dirty="0">
                <a:solidFill>
                  <a:srgbClr val="2E377E"/>
                </a:solidFill>
                <a:latin typeface="Georgia"/>
                <a:cs typeface="Georgia"/>
              </a:rPr>
              <a:t> </a:t>
            </a:r>
            <a:r>
              <a:rPr sz="3600" spc="60" dirty="0">
                <a:solidFill>
                  <a:srgbClr val="FF3131"/>
                </a:solidFill>
                <a:latin typeface="Georgia"/>
                <a:cs typeface="Georgia"/>
              </a:rPr>
              <a:t>kubectl</a:t>
            </a:r>
            <a:r>
              <a:rPr sz="3600" spc="195" dirty="0">
                <a:solidFill>
                  <a:srgbClr val="FF3131"/>
                </a:solidFill>
                <a:latin typeface="Georgia"/>
                <a:cs typeface="Georgia"/>
              </a:rPr>
              <a:t> </a:t>
            </a:r>
            <a:r>
              <a:rPr sz="3600" dirty="0">
                <a:solidFill>
                  <a:srgbClr val="FF3131"/>
                </a:solidFill>
                <a:latin typeface="Georgia"/>
                <a:cs typeface="Georgia"/>
              </a:rPr>
              <a:t>describe</a:t>
            </a:r>
            <a:r>
              <a:rPr sz="3600" spc="195" dirty="0">
                <a:solidFill>
                  <a:srgbClr val="FF3131"/>
                </a:solidFill>
                <a:latin typeface="Georgia"/>
                <a:cs typeface="Georgia"/>
              </a:rPr>
              <a:t> </a:t>
            </a:r>
            <a:r>
              <a:rPr sz="3600" dirty="0">
                <a:solidFill>
                  <a:srgbClr val="FF3131"/>
                </a:solidFill>
                <a:latin typeface="Georgia"/>
                <a:cs typeface="Georgia"/>
              </a:rPr>
              <a:t>secret/secret-from-</a:t>
            </a:r>
            <a:r>
              <a:rPr sz="3600" spc="-20" dirty="0">
                <a:solidFill>
                  <a:srgbClr val="FF3131"/>
                </a:solidFill>
                <a:latin typeface="Georgia"/>
                <a:cs typeface="Georgia"/>
              </a:rPr>
              <a:t>file</a:t>
            </a:r>
            <a:endParaRPr sz="3600">
              <a:latin typeface="Georgia"/>
              <a:cs typeface="Georgia"/>
            </a:endParaRPr>
          </a:p>
          <a:p>
            <a:pPr marL="12700" marR="4246880">
              <a:lnSpc>
                <a:spcPct val="116300"/>
              </a:lnSpc>
            </a:pPr>
            <a:r>
              <a:rPr sz="360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Get</a:t>
            </a:r>
            <a:r>
              <a:rPr sz="3600" spc="-20" dirty="0">
                <a:solidFill>
                  <a:srgbClr val="2E377E"/>
                </a:solidFill>
                <a:latin typeface="Georgia"/>
                <a:cs typeface="Georgia"/>
              </a:rPr>
              <a:t> </a:t>
            </a:r>
            <a:r>
              <a:rPr sz="3600" dirty="0">
                <a:solidFill>
                  <a:srgbClr val="2E377E"/>
                </a:solidFill>
                <a:latin typeface="Georgia"/>
                <a:cs typeface="Georgia"/>
              </a:rPr>
              <a:t>in</a:t>
            </a:r>
            <a:r>
              <a:rPr sz="3600" spc="-25" dirty="0">
                <a:solidFill>
                  <a:srgbClr val="2E377E"/>
                </a:solidFill>
                <a:latin typeface="Georgia"/>
                <a:cs typeface="Georgia"/>
              </a:rPr>
              <a:t> </a:t>
            </a:r>
            <a:r>
              <a:rPr sz="3600" spc="50" dirty="0">
                <a:solidFill>
                  <a:srgbClr val="2E377E"/>
                </a:solidFill>
                <a:latin typeface="Georgia"/>
                <a:cs typeface="Georgia"/>
              </a:rPr>
              <a:t>yaml</a:t>
            </a:r>
            <a:r>
              <a:rPr sz="3600" spc="-20" dirty="0">
                <a:solidFill>
                  <a:srgbClr val="2E377E"/>
                </a:solidFill>
                <a:latin typeface="Georgia"/>
                <a:cs typeface="Georgia"/>
              </a:rPr>
              <a:t> </a:t>
            </a:r>
            <a:r>
              <a:rPr sz="3600" spc="-245" dirty="0">
                <a:solidFill>
                  <a:srgbClr val="2E377E"/>
                </a:solidFill>
                <a:latin typeface="Georgia"/>
                <a:cs typeface="Georgia"/>
              </a:rPr>
              <a:t>:</a:t>
            </a:r>
            <a:r>
              <a:rPr sz="3600" spc="-20" dirty="0">
                <a:solidFill>
                  <a:srgbClr val="2E377E"/>
                </a:solidFill>
                <a:latin typeface="Georgia"/>
                <a:cs typeface="Georgia"/>
              </a:rPr>
              <a:t> </a:t>
            </a:r>
            <a:r>
              <a:rPr sz="3600" spc="60" dirty="0">
                <a:solidFill>
                  <a:srgbClr val="FF3131"/>
                </a:solidFill>
                <a:latin typeface="Georgia"/>
                <a:cs typeface="Georgia"/>
              </a:rPr>
              <a:t>kubectl</a:t>
            </a:r>
            <a:r>
              <a:rPr sz="3600" spc="-20" dirty="0">
                <a:solidFill>
                  <a:srgbClr val="FF3131"/>
                </a:solidFill>
                <a:latin typeface="Georgia"/>
                <a:cs typeface="Georgia"/>
              </a:rPr>
              <a:t> </a:t>
            </a:r>
            <a:r>
              <a:rPr sz="3600" spc="75" dirty="0">
                <a:solidFill>
                  <a:srgbClr val="FF3131"/>
                </a:solidFill>
                <a:latin typeface="Georgia"/>
                <a:cs typeface="Georgia"/>
              </a:rPr>
              <a:t>get</a:t>
            </a:r>
            <a:r>
              <a:rPr sz="3600" spc="-25" dirty="0">
                <a:solidFill>
                  <a:srgbClr val="FF3131"/>
                </a:solidFill>
                <a:latin typeface="Georgia"/>
                <a:cs typeface="Georgia"/>
              </a:rPr>
              <a:t> </a:t>
            </a:r>
            <a:r>
              <a:rPr sz="3600" spc="65" dirty="0">
                <a:solidFill>
                  <a:srgbClr val="FF3131"/>
                </a:solidFill>
                <a:latin typeface="Georgia"/>
                <a:cs typeface="Georgia"/>
              </a:rPr>
              <a:t>secret</a:t>
            </a:r>
            <a:r>
              <a:rPr sz="3600" spc="-20" dirty="0">
                <a:solidFill>
                  <a:srgbClr val="FF3131"/>
                </a:solidFill>
                <a:latin typeface="Georgia"/>
                <a:cs typeface="Georgia"/>
              </a:rPr>
              <a:t> </a:t>
            </a:r>
            <a:r>
              <a:rPr sz="3600" spc="60" dirty="0">
                <a:solidFill>
                  <a:srgbClr val="FF3131"/>
                </a:solidFill>
                <a:latin typeface="Georgia"/>
                <a:cs typeface="Georgia"/>
              </a:rPr>
              <a:t>secret-</a:t>
            </a:r>
            <a:r>
              <a:rPr sz="3600" dirty="0">
                <a:solidFill>
                  <a:srgbClr val="FF3131"/>
                </a:solidFill>
                <a:latin typeface="Georgia"/>
                <a:cs typeface="Georgia"/>
              </a:rPr>
              <a:t>from-file</a:t>
            </a:r>
            <a:r>
              <a:rPr sz="3600" spc="-25" dirty="0">
                <a:solidFill>
                  <a:srgbClr val="FF3131"/>
                </a:solidFill>
                <a:latin typeface="Georgia"/>
                <a:cs typeface="Georgia"/>
              </a:rPr>
              <a:t> </a:t>
            </a:r>
            <a:r>
              <a:rPr sz="3600" dirty="0">
                <a:solidFill>
                  <a:srgbClr val="FF3131"/>
                </a:solidFill>
                <a:latin typeface="Georgia"/>
                <a:cs typeface="Georgia"/>
              </a:rPr>
              <a:t>-o</a:t>
            </a:r>
            <a:r>
              <a:rPr sz="3600" spc="-20" dirty="0">
                <a:solidFill>
                  <a:srgbClr val="FF3131"/>
                </a:solidFill>
                <a:latin typeface="Georgia"/>
                <a:cs typeface="Georgia"/>
              </a:rPr>
              <a:t> </a:t>
            </a:r>
            <a:r>
              <a:rPr sz="3600" spc="30" dirty="0">
                <a:solidFill>
                  <a:srgbClr val="FF3131"/>
                </a:solidFill>
                <a:latin typeface="Georgia"/>
                <a:cs typeface="Georgia"/>
              </a:rPr>
              <a:t>yaml </a:t>
            </a:r>
            <a:r>
              <a:rPr sz="3600" dirty="0">
                <a:solidFill>
                  <a:srgbClr val="2E377E"/>
                </a:solidFill>
                <a:latin typeface="Georgia"/>
                <a:cs typeface="Georgia"/>
              </a:rPr>
              <a:t>To</a:t>
            </a:r>
            <a:r>
              <a:rPr sz="3600" spc="140" dirty="0">
                <a:solidFill>
                  <a:srgbClr val="2E377E"/>
                </a:solidFill>
                <a:latin typeface="Georgia"/>
                <a:cs typeface="Georgia"/>
              </a:rPr>
              <a:t> </a:t>
            </a:r>
            <a:r>
              <a:rPr sz="3600" dirty="0">
                <a:solidFill>
                  <a:srgbClr val="2E377E"/>
                </a:solidFill>
                <a:latin typeface="Georgia"/>
                <a:cs typeface="Georgia"/>
              </a:rPr>
              <a:t>delete:</a:t>
            </a:r>
            <a:r>
              <a:rPr sz="3600" spc="145" dirty="0">
                <a:solidFill>
                  <a:srgbClr val="2E377E"/>
                </a:solidFill>
                <a:latin typeface="Georgia"/>
                <a:cs typeface="Georgia"/>
              </a:rPr>
              <a:t> </a:t>
            </a:r>
            <a:r>
              <a:rPr sz="3600" spc="60" dirty="0">
                <a:solidFill>
                  <a:srgbClr val="FF3131"/>
                </a:solidFill>
                <a:latin typeface="Georgia"/>
                <a:cs typeface="Georgia"/>
              </a:rPr>
              <a:t>kubectl</a:t>
            </a:r>
            <a:r>
              <a:rPr sz="3600" spc="145" dirty="0">
                <a:solidFill>
                  <a:srgbClr val="FF3131"/>
                </a:solidFill>
                <a:latin typeface="Georgia"/>
                <a:cs typeface="Georgia"/>
              </a:rPr>
              <a:t> </a:t>
            </a:r>
            <a:r>
              <a:rPr sz="3600" spc="55" dirty="0">
                <a:solidFill>
                  <a:srgbClr val="FF3131"/>
                </a:solidFill>
                <a:latin typeface="Georgia"/>
                <a:cs typeface="Georgia"/>
              </a:rPr>
              <a:t>delete</a:t>
            </a:r>
            <a:r>
              <a:rPr sz="3600" spc="140" dirty="0">
                <a:solidFill>
                  <a:srgbClr val="FF3131"/>
                </a:solidFill>
                <a:latin typeface="Georgia"/>
                <a:cs typeface="Georgia"/>
              </a:rPr>
              <a:t> </a:t>
            </a:r>
            <a:r>
              <a:rPr sz="3600" dirty="0">
                <a:solidFill>
                  <a:srgbClr val="FF3131"/>
                </a:solidFill>
                <a:latin typeface="Georgia"/>
                <a:cs typeface="Georgia"/>
              </a:rPr>
              <a:t>secret/secret-from-</a:t>
            </a:r>
            <a:r>
              <a:rPr sz="3600" spc="-20" dirty="0">
                <a:solidFill>
                  <a:srgbClr val="FF3131"/>
                </a:solidFill>
                <a:latin typeface="Georgia"/>
                <a:cs typeface="Georgia"/>
              </a:rPr>
              <a:t>file</a:t>
            </a:r>
            <a:endParaRPr sz="3600">
              <a:latin typeface="Georgia"/>
              <a:cs typeface="Georgia"/>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1609" y="264477"/>
            <a:ext cx="16630650" cy="9598025"/>
          </a:xfrm>
          <a:prstGeom prst="rect">
            <a:avLst/>
          </a:prstGeom>
        </p:spPr>
        <p:txBody>
          <a:bodyPr vert="horz" wrap="square" lIns="0" tIns="102235" rIns="0" bIns="0" rtlCol="0">
            <a:spAutoFit/>
          </a:bodyPr>
          <a:lstStyle/>
          <a:p>
            <a:pPr marL="12700">
              <a:lnSpc>
                <a:spcPct val="100000"/>
              </a:lnSpc>
              <a:spcBef>
                <a:spcPts val="805"/>
              </a:spcBef>
            </a:pPr>
            <a:r>
              <a:rPr sz="3600" spc="170" dirty="0">
                <a:solidFill>
                  <a:srgbClr val="2E377E"/>
                </a:solidFill>
                <a:latin typeface="Times New Roman"/>
                <a:cs typeface="Times New Roman"/>
              </a:rPr>
              <a:t>Secrets</a:t>
            </a:r>
            <a:r>
              <a:rPr sz="3600" spc="-110" dirty="0">
                <a:solidFill>
                  <a:srgbClr val="2E377E"/>
                </a:solidFill>
                <a:latin typeface="Times New Roman"/>
                <a:cs typeface="Times New Roman"/>
              </a:rPr>
              <a:t> </a:t>
            </a:r>
            <a:r>
              <a:rPr sz="3600" spc="220" dirty="0">
                <a:solidFill>
                  <a:srgbClr val="2E377E"/>
                </a:solidFill>
                <a:latin typeface="Times New Roman"/>
                <a:cs typeface="Times New Roman"/>
              </a:rPr>
              <a:t>from</a:t>
            </a:r>
            <a:r>
              <a:rPr sz="3600" spc="-95" dirty="0">
                <a:solidFill>
                  <a:srgbClr val="2E377E"/>
                </a:solidFill>
                <a:latin typeface="Times New Roman"/>
                <a:cs typeface="Times New Roman"/>
              </a:rPr>
              <a:t> </a:t>
            </a:r>
            <a:r>
              <a:rPr sz="3600" spc="204" dirty="0">
                <a:solidFill>
                  <a:srgbClr val="2E377E"/>
                </a:solidFill>
                <a:latin typeface="Times New Roman"/>
                <a:cs typeface="Times New Roman"/>
              </a:rPr>
              <a:t>env-</a:t>
            </a:r>
            <a:r>
              <a:rPr sz="3600" spc="-10" dirty="0">
                <a:solidFill>
                  <a:srgbClr val="2E377E"/>
                </a:solidFill>
                <a:latin typeface="Times New Roman"/>
                <a:cs typeface="Times New Roman"/>
              </a:rPr>
              <a:t>file:</a:t>
            </a:r>
            <a:endParaRPr sz="3600" dirty="0">
              <a:latin typeface="Times New Roman"/>
              <a:cs typeface="Times New Roman"/>
            </a:endParaRPr>
          </a:p>
          <a:p>
            <a:pPr marL="12700" marR="5080">
              <a:lnSpc>
                <a:spcPct val="116300"/>
              </a:lnSpc>
            </a:pPr>
            <a:r>
              <a:rPr sz="3600" dirty="0">
                <a:solidFill>
                  <a:srgbClr val="2E377E"/>
                </a:solidFill>
                <a:latin typeface="Georgia"/>
                <a:cs typeface="Georgia"/>
              </a:rPr>
              <a:t>We </a:t>
            </a:r>
            <a:r>
              <a:rPr sz="3600" spc="55" dirty="0">
                <a:solidFill>
                  <a:srgbClr val="2E377E"/>
                </a:solidFill>
                <a:latin typeface="Georgia"/>
                <a:cs typeface="Georgia"/>
              </a:rPr>
              <a:t>have</a:t>
            </a:r>
            <a:r>
              <a:rPr sz="3600" dirty="0">
                <a:solidFill>
                  <a:srgbClr val="2E377E"/>
                </a:solidFill>
                <a:latin typeface="Georgia"/>
                <a:cs typeface="Georgia"/>
              </a:rPr>
              <a:t> </a:t>
            </a:r>
            <a:r>
              <a:rPr sz="3600" spc="50" dirty="0">
                <a:solidFill>
                  <a:srgbClr val="2E377E"/>
                </a:solidFill>
                <a:latin typeface="Georgia"/>
                <a:cs typeface="Georgia"/>
              </a:rPr>
              <a:t>created</a:t>
            </a:r>
            <a:r>
              <a:rPr sz="3600" spc="5" dirty="0">
                <a:solidFill>
                  <a:srgbClr val="2E377E"/>
                </a:solidFill>
                <a:latin typeface="Georgia"/>
                <a:cs typeface="Georgia"/>
              </a:rPr>
              <a:t> </a:t>
            </a:r>
            <a:r>
              <a:rPr sz="3600" dirty="0">
                <a:solidFill>
                  <a:srgbClr val="2E377E"/>
                </a:solidFill>
                <a:latin typeface="Georgia"/>
                <a:cs typeface="Georgia"/>
              </a:rPr>
              <a:t>one </a:t>
            </a:r>
            <a:r>
              <a:rPr sz="3600" spc="55" dirty="0">
                <a:solidFill>
                  <a:srgbClr val="2E377E"/>
                </a:solidFill>
                <a:latin typeface="Georgia"/>
                <a:cs typeface="Georgia"/>
              </a:rPr>
              <a:t>environment</a:t>
            </a:r>
            <a:r>
              <a:rPr sz="3600" dirty="0">
                <a:solidFill>
                  <a:srgbClr val="2E377E"/>
                </a:solidFill>
                <a:latin typeface="Georgia"/>
                <a:cs typeface="Georgia"/>
              </a:rPr>
              <a:t> file</a:t>
            </a:r>
            <a:r>
              <a:rPr sz="3600" spc="5" dirty="0">
                <a:solidFill>
                  <a:srgbClr val="2E377E"/>
                </a:solidFill>
                <a:latin typeface="Georgia"/>
                <a:cs typeface="Georgia"/>
              </a:rPr>
              <a:t> </a:t>
            </a:r>
            <a:r>
              <a:rPr sz="3600" dirty="0">
                <a:solidFill>
                  <a:srgbClr val="2E377E"/>
                </a:solidFill>
                <a:latin typeface="Georgia"/>
                <a:cs typeface="Georgia"/>
              </a:rPr>
              <a:t>first.env </a:t>
            </a:r>
            <a:r>
              <a:rPr sz="3600" spc="55" dirty="0">
                <a:solidFill>
                  <a:srgbClr val="2E377E"/>
                </a:solidFill>
                <a:latin typeface="Georgia"/>
                <a:cs typeface="Georgia"/>
              </a:rPr>
              <a:t>which</a:t>
            </a:r>
            <a:r>
              <a:rPr sz="3600" dirty="0">
                <a:solidFill>
                  <a:srgbClr val="2E377E"/>
                </a:solidFill>
                <a:latin typeface="Georgia"/>
                <a:cs typeface="Georgia"/>
              </a:rPr>
              <a:t> has</a:t>
            </a:r>
            <a:r>
              <a:rPr sz="3600" spc="5" dirty="0">
                <a:solidFill>
                  <a:srgbClr val="2E377E"/>
                </a:solidFill>
                <a:latin typeface="Georgia"/>
                <a:cs typeface="Georgia"/>
              </a:rPr>
              <a:t> </a:t>
            </a:r>
            <a:r>
              <a:rPr sz="3600" dirty="0">
                <a:solidFill>
                  <a:srgbClr val="2E377E"/>
                </a:solidFill>
                <a:latin typeface="Georgia"/>
                <a:cs typeface="Georgia"/>
              </a:rPr>
              <a:t>some data in</a:t>
            </a:r>
            <a:r>
              <a:rPr sz="3600" spc="5" dirty="0">
                <a:solidFill>
                  <a:srgbClr val="2E377E"/>
                </a:solidFill>
                <a:latin typeface="Georgia"/>
                <a:cs typeface="Georgia"/>
              </a:rPr>
              <a:t> </a:t>
            </a:r>
            <a:r>
              <a:rPr sz="3600" spc="100" dirty="0">
                <a:solidFill>
                  <a:srgbClr val="2E377E"/>
                </a:solidFill>
                <a:latin typeface="Georgia"/>
                <a:cs typeface="Georgia"/>
              </a:rPr>
              <a:t>key-</a:t>
            </a:r>
            <a:r>
              <a:rPr sz="3600" spc="35" dirty="0">
                <a:solidFill>
                  <a:srgbClr val="2E377E"/>
                </a:solidFill>
                <a:latin typeface="Georgia"/>
                <a:cs typeface="Georgia"/>
              </a:rPr>
              <a:t>value </a:t>
            </a:r>
            <a:r>
              <a:rPr sz="3600" dirty="0">
                <a:solidFill>
                  <a:srgbClr val="2E377E"/>
                </a:solidFill>
                <a:latin typeface="Georgia"/>
                <a:cs typeface="Georgia"/>
              </a:rPr>
              <a:t>pairs,</a:t>
            </a:r>
            <a:r>
              <a:rPr sz="3600" spc="-50" dirty="0">
                <a:solidFill>
                  <a:srgbClr val="2E377E"/>
                </a:solidFill>
                <a:latin typeface="Georgia"/>
                <a:cs typeface="Georgia"/>
              </a:rPr>
              <a:t> </a:t>
            </a:r>
            <a:r>
              <a:rPr sz="3600" dirty="0">
                <a:solidFill>
                  <a:srgbClr val="2E377E"/>
                </a:solidFill>
                <a:latin typeface="Georgia"/>
                <a:cs typeface="Georgia"/>
              </a:rPr>
              <a:t>and</a:t>
            </a:r>
            <a:r>
              <a:rPr sz="3600" spc="-50" dirty="0">
                <a:solidFill>
                  <a:srgbClr val="2E377E"/>
                </a:solidFill>
                <a:latin typeface="Georgia"/>
                <a:cs typeface="Georgia"/>
              </a:rPr>
              <a:t> </a:t>
            </a:r>
            <a:r>
              <a:rPr sz="3600" spc="50" dirty="0">
                <a:solidFill>
                  <a:srgbClr val="2E377E"/>
                </a:solidFill>
                <a:latin typeface="Georgia"/>
                <a:cs typeface="Georgia"/>
              </a:rPr>
              <a:t>created</a:t>
            </a:r>
            <a:r>
              <a:rPr sz="3600" spc="-50"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spc="45" dirty="0">
                <a:solidFill>
                  <a:srgbClr val="2E377E"/>
                </a:solidFill>
                <a:latin typeface="Georgia"/>
                <a:cs typeface="Georgia"/>
              </a:rPr>
              <a:t>Secrets</a:t>
            </a:r>
            <a:r>
              <a:rPr sz="3600" spc="-50" dirty="0">
                <a:solidFill>
                  <a:srgbClr val="2E377E"/>
                </a:solidFill>
                <a:latin typeface="Georgia"/>
                <a:cs typeface="Georgia"/>
              </a:rPr>
              <a:t> </a:t>
            </a:r>
            <a:r>
              <a:rPr sz="3600" spc="85" dirty="0">
                <a:solidFill>
                  <a:srgbClr val="2E377E"/>
                </a:solidFill>
                <a:latin typeface="Georgia"/>
                <a:cs typeface="Georgia"/>
              </a:rPr>
              <a:t>with</a:t>
            </a:r>
            <a:r>
              <a:rPr sz="3600" spc="-50"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help</a:t>
            </a:r>
            <a:r>
              <a:rPr sz="3600" spc="-50" dirty="0">
                <a:solidFill>
                  <a:srgbClr val="2E377E"/>
                </a:solidFill>
                <a:latin typeface="Georgia"/>
                <a:cs typeface="Georgia"/>
              </a:rPr>
              <a:t> </a:t>
            </a:r>
            <a:r>
              <a:rPr sz="3600" dirty="0">
                <a:solidFill>
                  <a:srgbClr val="2E377E"/>
                </a:solidFill>
                <a:latin typeface="Georgia"/>
                <a:cs typeface="Georgia"/>
              </a:rPr>
              <a:t>of</a:t>
            </a:r>
            <a:r>
              <a:rPr sz="3600" spc="-50" dirty="0">
                <a:solidFill>
                  <a:srgbClr val="2E377E"/>
                </a:solidFill>
                <a:latin typeface="Georgia"/>
                <a:cs typeface="Georgia"/>
              </a:rPr>
              <a:t> </a:t>
            </a:r>
            <a:r>
              <a:rPr sz="3600" spc="60" dirty="0">
                <a:solidFill>
                  <a:srgbClr val="2E377E"/>
                </a:solidFill>
                <a:latin typeface="Georgia"/>
                <a:cs typeface="Georgia"/>
              </a:rPr>
              <a:t>the</a:t>
            </a:r>
            <a:r>
              <a:rPr sz="3600" spc="-45" dirty="0">
                <a:solidFill>
                  <a:srgbClr val="2E377E"/>
                </a:solidFill>
                <a:latin typeface="Georgia"/>
                <a:cs typeface="Georgia"/>
              </a:rPr>
              <a:t> </a:t>
            </a:r>
            <a:r>
              <a:rPr sz="3600" spc="55" dirty="0">
                <a:solidFill>
                  <a:srgbClr val="2E377E"/>
                </a:solidFill>
                <a:latin typeface="Georgia"/>
                <a:cs typeface="Georgia"/>
              </a:rPr>
              <a:t>environment</a:t>
            </a:r>
            <a:r>
              <a:rPr sz="3600" spc="-50" dirty="0">
                <a:solidFill>
                  <a:srgbClr val="2E377E"/>
                </a:solidFill>
                <a:latin typeface="Georgia"/>
                <a:cs typeface="Georgia"/>
              </a:rPr>
              <a:t> </a:t>
            </a:r>
            <a:r>
              <a:rPr sz="3600" spc="-20" dirty="0">
                <a:solidFill>
                  <a:srgbClr val="2E377E"/>
                </a:solidFill>
                <a:latin typeface="Georgia"/>
                <a:cs typeface="Georgia"/>
              </a:rPr>
              <a:t>file.</a:t>
            </a:r>
            <a:endParaRPr sz="3600" dirty="0">
              <a:latin typeface="Georgia"/>
              <a:cs typeface="Georgia"/>
            </a:endParaRPr>
          </a:p>
          <a:p>
            <a:pPr>
              <a:lnSpc>
                <a:spcPct val="100000"/>
              </a:lnSpc>
              <a:spcBef>
                <a:spcPts val="935"/>
              </a:spcBef>
            </a:pPr>
            <a:endParaRPr sz="3600" dirty="0">
              <a:latin typeface="Georgia"/>
              <a:cs typeface="Georgia"/>
            </a:endParaRPr>
          </a:p>
          <a:p>
            <a:pPr marL="12700" marR="12999085">
              <a:lnSpc>
                <a:spcPct val="116300"/>
              </a:lnSpc>
            </a:pPr>
            <a:r>
              <a:rPr sz="3600" spc="55" dirty="0">
                <a:solidFill>
                  <a:srgbClr val="2E377E"/>
                </a:solidFill>
                <a:latin typeface="Georgia"/>
                <a:cs typeface="Georgia"/>
              </a:rPr>
              <a:t>cat</a:t>
            </a:r>
            <a:r>
              <a:rPr sz="3600" spc="-65" dirty="0">
                <a:solidFill>
                  <a:srgbClr val="2E377E"/>
                </a:solidFill>
                <a:latin typeface="Georgia"/>
                <a:cs typeface="Georgia"/>
              </a:rPr>
              <a:t> </a:t>
            </a:r>
            <a:r>
              <a:rPr lang="en-IN" sz="3600" spc="-10" dirty="0">
                <a:solidFill>
                  <a:srgbClr val="2E377E"/>
                </a:solidFill>
                <a:latin typeface="Georgia"/>
                <a:cs typeface="Georgia"/>
              </a:rPr>
              <a:t>rajco</a:t>
            </a:r>
            <a:r>
              <a:rPr sz="3600" spc="-10" dirty="0">
                <a:solidFill>
                  <a:srgbClr val="2E377E"/>
                </a:solidFill>
                <a:latin typeface="Georgia"/>
                <a:cs typeface="Georgia"/>
              </a:rPr>
              <a:t>.env Name=</a:t>
            </a:r>
            <a:r>
              <a:rPr lang="en-IN" sz="3600" spc="-10" dirty="0">
                <a:solidFill>
                  <a:srgbClr val="2E377E"/>
                </a:solidFill>
                <a:latin typeface="Georgia"/>
                <a:cs typeface="Georgia"/>
              </a:rPr>
              <a:t>rajco</a:t>
            </a:r>
            <a:r>
              <a:rPr sz="3600" spc="-10" dirty="0">
                <a:solidFill>
                  <a:srgbClr val="2E377E"/>
                </a:solidFill>
                <a:latin typeface="Georgia"/>
                <a:cs typeface="Georgia"/>
              </a:rPr>
              <a:t> Place=Hyderabad Compamy=TCS</a:t>
            </a:r>
            <a:endParaRPr sz="3600" dirty="0">
              <a:latin typeface="Georgia"/>
              <a:cs typeface="Georgia"/>
            </a:endParaRPr>
          </a:p>
          <a:p>
            <a:pPr marL="12700" marR="1253490">
              <a:lnSpc>
                <a:spcPct val="232600"/>
              </a:lnSpc>
            </a:pPr>
            <a:r>
              <a:rPr sz="3600" spc="60" dirty="0">
                <a:solidFill>
                  <a:srgbClr val="E7181F"/>
                </a:solidFill>
                <a:latin typeface="Georgia"/>
                <a:cs typeface="Georgia"/>
              </a:rPr>
              <a:t>kubectl</a:t>
            </a:r>
            <a:r>
              <a:rPr sz="3600" spc="30" dirty="0">
                <a:solidFill>
                  <a:srgbClr val="E7181F"/>
                </a:solidFill>
                <a:latin typeface="Georgia"/>
                <a:cs typeface="Georgia"/>
              </a:rPr>
              <a:t> </a:t>
            </a:r>
            <a:r>
              <a:rPr sz="3600" spc="55" dirty="0">
                <a:solidFill>
                  <a:srgbClr val="E7181F"/>
                </a:solidFill>
                <a:latin typeface="Georgia"/>
                <a:cs typeface="Georgia"/>
              </a:rPr>
              <a:t>create</a:t>
            </a:r>
            <a:r>
              <a:rPr sz="3600" spc="35" dirty="0">
                <a:solidFill>
                  <a:srgbClr val="E7181F"/>
                </a:solidFill>
                <a:latin typeface="Georgia"/>
                <a:cs typeface="Georgia"/>
              </a:rPr>
              <a:t> </a:t>
            </a:r>
            <a:r>
              <a:rPr sz="3600" spc="65" dirty="0">
                <a:solidFill>
                  <a:srgbClr val="E7181F"/>
                </a:solidFill>
                <a:latin typeface="Georgia"/>
                <a:cs typeface="Georgia"/>
              </a:rPr>
              <a:t>secret</a:t>
            </a:r>
            <a:r>
              <a:rPr sz="3600" spc="30" dirty="0">
                <a:solidFill>
                  <a:srgbClr val="E7181F"/>
                </a:solidFill>
                <a:latin typeface="Georgia"/>
                <a:cs typeface="Georgia"/>
              </a:rPr>
              <a:t> </a:t>
            </a:r>
            <a:r>
              <a:rPr sz="3600" spc="45" dirty="0">
                <a:solidFill>
                  <a:srgbClr val="E7181F"/>
                </a:solidFill>
                <a:latin typeface="Georgia"/>
                <a:cs typeface="Georgia"/>
              </a:rPr>
              <a:t>generic</a:t>
            </a:r>
            <a:r>
              <a:rPr sz="3600" spc="35" dirty="0">
                <a:solidFill>
                  <a:srgbClr val="E7181F"/>
                </a:solidFill>
                <a:latin typeface="Georgia"/>
                <a:cs typeface="Georgia"/>
              </a:rPr>
              <a:t> </a:t>
            </a:r>
            <a:r>
              <a:rPr sz="3600" spc="60" dirty="0">
                <a:solidFill>
                  <a:srgbClr val="E7181F"/>
                </a:solidFill>
                <a:latin typeface="Georgia"/>
                <a:cs typeface="Georgia"/>
              </a:rPr>
              <a:t>secret-</a:t>
            </a:r>
            <a:r>
              <a:rPr sz="3600" dirty="0">
                <a:solidFill>
                  <a:srgbClr val="E7181F"/>
                </a:solidFill>
                <a:latin typeface="Georgia"/>
                <a:cs typeface="Georgia"/>
              </a:rPr>
              <a:t>from-</a:t>
            </a:r>
            <a:r>
              <a:rPr sz="3600" spc="85" dirty="0">
                <a:solidFill>
                  <a:srgbClr val="E7181F"/>
                </a:solidFill>
                <a:latin typeface="Georgia"/>
                <a:cs typeface="Georgia"/>
              </a:rPr>
              <a:t>env</a:t>
            </a:r>
            <a:r>
              <a:rPr sz="3600" spc="30" dirty="0">
                <a:solidFill>
                  <a:srgbClr val="E7181F"/>
                </a:solidFill>
                <a:latin typeface="Georgia"/>
                <a:cs typeface="Georgia"/>
              </a:rPr>
              <a:t> </a:t>
            </a:r>
            <a:r>
              <a:rPr sz="3600" dirty="0">
                <a:solidFill>
                  <a:srgbClr val="E7181F"/>
                </a:solidFill>
                <a:latin typeface="Georgia"/>
                <a:cs typeface="Georgia"/>
              </a:rPr>
              <a:t>--from-</a:t>
            </a:r>
            <a:r>
              <a:rPr sz="3600" spc="70" dirty="0">
                <a:solidFill>
                  <a:srgbClr val="E7181F"/>
                </a:solidFill>
                <a:latin typeface="Georgia"/>
                <a:cs typeface="Georgia"/>
              </a:rPr>
              <a:t>env-</a:t>
            </a:r>
            <a:r>
              <a:rPr sz="3600" spc="-10" dirty="0">
                <a:solidFill>
                  <a:srgbClr val="E7181F"/>
                </a:solidFill>
                <a:latin typeface="Georgia"/>
                <a:cs typeface="Georgia"/>
              </a:rPr>
              <a:t>file=</a:t>
            </a:r>
            <a:r>
              <a:rPr lang="en-IN" sz="3600" spc="-10" dirty="0">
                <a:solidFill>
                  <a:srgbClr val="E7181F"/>
                </a:solidFill>
                <a:latin typeface="Georgia"/>
                <a:cs typeface="Georgia"/>
              </a:rPr>
              <a:t>rajco</a:t>
            </a:r>
            <a:r>
              <a:rPr sz="3600" spc="-10" dirty="0">
                <a:solidFill>
                  <a:srgbClr val="E7181F"/>
                </a:solidFill>
                <a:latin typeface="Georgia"/>
                <a:cs typeface="Georgia"/>
              </a:rPr>
              <a:t>.env </a:t>
            </a:r>
            <a:r>
              <a:rPr sz="3600" dirty="0">
                <a:solidFill>
                  <a:srgbClr val="2E377E"/>
                </a:solidFill>
                <a:latin typeface="Georgia"/>
                <a:cs typeface="Georgia"/>
              </a:rPr>
              <a:t>To</a:t>
            </a:r>
            <a:r>
              <a:rPr sz="3600" spc="-35" dirty="0">
                <a:solidFill>
                  <a:srgbClr val="2E377E"/>
                </a:solidFill>
                <a:latin typeface="Georgia"/>
                <a:cs typeface="Georgia"/>
              </a:rPr>
              <a:t> </a:t>
            </a:r>
            <a:r>
              <a:rPr sz="3600" spc="75" dirty="0">
                <a:solidFill>
                  <a:srgbClr val="2E377E"/>
                </a:solidFill>
                <a:latin typeface="Georgia"/>
                <a:cs typeface="Georgia"/>
              </a:rPr>
              <a:t>get</a:t>
            </a:r>
            <a:r>
              <a:rPr sz="3600" spc="-35" dirty="0">
                <a:solidFill>
                  <a:srgbClr val="2E377E"/>
                </a:solidFill>
                <a:latin typeface="Georgia"/>
                <a:cs typeface="Georgia"/>
              </a:rPr>
              <a:t> </a:t>
            </a:r>
            <a:r>
              <a:rPr sz="3600" dirty="0">
                <a:solidFill>
                  <a:srgbClr val="2E377E"/>
                </a:solidFill>
                <a:latin typeface="Georgia"/>
                <a:cs typeface="Georgia"/>
              </a:rPr>
              <a:t>secrets:</a:t>
            </a:r>
            <a:r>
              <a:rPr sz="3600" spc="-35" dirty="0">
                <a:solidFill>
                  <a:srgbClr val="2E377E"/>
                </a:solidFill>
                <a:latin typeface="Georgia"/>
                <a:cs typeface="Georgia"/>
              </a:rPr>
              <a:t> </a:t>
            </a:r>
            <a:r>
              <a:rPr sz="3600" spc="60" dirty="0">
                <a:solidFill>
                  <a:srgbClr val="E7181F"/>
                </a:solidFill>
                <a:latin typeface="Georgia"/>
                <a:cs typeface="Georgia"/>
              </a:rPr>
              <a:t>kubectl</a:t>
            </a:r>
            <a:r>
              <a:rPr sz="3600" spc="-35" dirty="0">
                <a:solidFill>
                  <a:srgbClr val="E7181F"/>
                </a:solidFill>
                <a:latin typeface="Georgia"/>
                <a:cs typeface="Georgia"/>
              </a:rPr>
              <a:t> </a:t>
            </a:r>
            <a:r>
              <a:rPr sz="3600" spc="75" dirty="0">
                <a:solidFill>
                  <a:srgbClr val="E7181F"/>
                </a:solidFill>
                <a:latin typeface="Georgia"/>
                <a:cs typeface="Georgia"/>
              </a:rPr>
              <a:t>get</a:t>
            </a:r>
            <a:r>
              <a:rPr sz="3600" spc="-35" dirty="0">
                <a:solidFill>
                  <a:srgbClr val="E7181F"/>
                </a:solidFill>
                <a:latin typeface="Georgia"/>
                <a:cs typeface="Georgia"/>
              </a:rPr>
              <a:t> </a:t>
            </a:r>
            <a:r>
              <a:rPr sz="3600" spc="55" dirty="0">
                <a:solidFill>
                  <a:srgbClr val="E7181F"/>
                </a:solidFill>
                <a:latin typeface="Georgia"/>
                <a:cs typeface="Georgia"/>
              </a:rPr>
              <a:t>secret</a:t>
            </a:r>
            <a:endParaRPr sz="3600" dirty="0">
              <a:latin typeface="Georgia"/>
              <a:cs typeface="Georgia"/>
            </a:endParaRPr>
          </a:p>
          <a:p>
            <a:pPr marL="12700">
              <a:lnSpc>
                <a:spcPct val="100000"/>
              </a:lnSpc>
              <a:spcBef>
                <a:spcPts val="705"/>
              </a:spcBef>
            </a:pPr>
            <a:r>
              <a:rPr sz="3600" dirty="0">
                <a:solidFill>
                  <a:srgbClr val="2E377E"/>
                </a:solidFill>
                <a:latin typeface="Georgia"/>
                <a:cs typeface="Georgia"/>
              </a:rPr>
              <a:t>To</a:t>
            </a:r>
            <a:r>
              <a:rPr sz="3600" spc="190" dirty="0">
                <a:solidFill>
                  <a:srgbClr val="2E377E"/>
                </a:solidFill>
                <a:latin typeface="Georgia"/>
                <a:cs typeface="Georgia"/>
              </a:rPr>
              <a:t> </a:t>
            </a:r>
            <a:r>
              <a:rPr sz="3600" dirty="0">
                <a:solidFill>
                  <a:srgbClr val="2E377E"/>
                </a:solidFill>
                <a:latin typeface="Georgia"/>
                <a:cs typeface="Georgia"/>
              </a:rPr>
              <a:t>descibe:</a:t>
            </a:r>
            <a:r>
              <a:rPr sz="3600" spc="200" dirty="0">
                <a:solidFill>
                  <a:srgbClr val="2E377E"/>
                </a:solidFill>
                <a:latin typeface="Georgia"/>
                <a:cs typeface="Georgia"/>
              </a:rPr>
              <a:t> </a:t>
            </a:r>
            <a:r>
              <a:rPr sz="3600" spc="60" dirty="0">
                <a:solidFill>
                  <a:srgbClr val="FF3131"/>
                </a:solidFill>
                <a:latin typeface="Georgia"/>
                <a:cs typeface="Georgia"/>
              </a:rPr>
              <a:t>kubectl</a:t>
            </a:r>
            <a:r>
              <a:rPr sz="3600" spc="195" dirty="0">
                <a:solidFill>
                  <a:srgbClr val="FF3131"/>
                </a:solidFill>
                <a:latin typeface="Georgia"/>
                <a:cs typeface="Georgia"/>
              </a:rPr>
              <a:t> </a:t>
            </a:r>
            <a:r>
              <a:rPr sz="3600" dirty="0">
                <a:solidFill>
                  <a:srgbClr val="FF3131"/>
                </a:solidFill>
                <a:latin typeface="Georgia"/>
                <a:cs typeface="Georgia"/>
              </a:rPr>
              <a:t>describe</a:t>
            </a:r>
            <a:r>
              <a:rPr sz="3600" spc="195" dirty="0">
                <a:solidFill>
                  <a:srgbClr val="FF3131"/>
                </a:solidFill>
                <a:latin typeface="Georgia"/>
                <a:cs typeface="Georgia"/>
              </a:rPr>
              <a:t> </a:t>
            </a:r>
            <a:r>
              <a:rPr sz="3600" dirty="0">
                <a:solidFill>
                  <a:srgbClr val="FF3131"/>
                </a:solidFill>
                <a:latin typeface="Georgia"/>
                <a:cs typeface="Georgia"/>
              </a:rPr>
              <a:t>secret/secret-from-</a:t>
            </a:r>
            <a:r>
              <a:rPr sz="3600" spc="60" dirty="0">
                <a:solidFill>
                  <a:srgbClr val="FF3131"/>
                </a:solidFill>
                <a:latin typeface="Georgia"/>
                <a:cs typeface="Georgia"/>
              </a:rPr>
              <a:t>env</a:t>
            </a:r>
            <a:endParaRPr sz="3600" dirty="0">
              <a:latin typeface="Georgia"/>
              <a:cs typeface="Georgia"/>
            </a:endParaRPr>
          </a:p>
          <a:p>
            <a:pPr marL="12700" marR="4560570">
              <a:lnSpc>
                <a:spcPct val="116300"/>
              </a:lnSpc>
            </a:pPr>
            <a:r>
              <a:rPr sz="3600" dirty="0">
                <a:solidFill>
                  <a:srgbClr val="2E377E"/>
                </a:solidFill>
                <a:latin typeface="Georgia"/>
                <a:cs typeface="Georgia"/>
              </a:rPr>
              <a:t>To</a:t>
            </a:r>
            <a:r>
              <a:rPr sz="3600" spc="-35" dirty="0">
                <a:solidFill>
                  <a:srgbClr val="2E377E"/>
                </a:solidFill>
                <a:latin typeface="Georgia"/>
                <a:cs typeface="Georgia"/>
              </a:rPr>
              <a:t> </a:t>
            </a:r>
            <a:r>
              <a:rPr sz="3600" dirty="0">
                <a:solidFill>
                  <a:srgbClr val="2E377E"/>
                </a:solidFill>
                <a:latin typeface="Georgia"/>
                <a:cs typeface="Georgia"/>
              </a:rPr>
              <a:t>Get</a:t>
            </a:r>
            <a:r>
              <a:rPr sz="3600" spc="-35" dirty="0">
                <a:solidFill>
                  <a:srgbClr val="2E377E"/>
                </a:solidFill>
                <a:latin typeface="Georgia"/>
                <a:cs typeface="Georgia"/>
              </a:rPr>
              <a:t> </a:t>
            </a:r>
            <a:r>
              <a:rPr sz="3600" dirty="0">
                <a:solidFill>
                  <a:srgbClr val="2E377E"/>
                </a:solidFill>
                <a:latin typeface="Georgia"/>
                <a:cs typeface="Georgia"/>
              </a:rPr>
              <a:t>in</a:t>
            </a:r>
            <a:r>
              <a:rPr sz="3600" spc="-35" dirty="0">
                <a:solidFill>
                  <a:srgbClr val="2E377E"/>
                </a:solidFill>
                <a:latin typeface="Georgia"/>
                <a:cs typeface="Georgia"/>
              </a:rPr>
              <a:t> </a:t>
            </a:r>
            <a:r>
              <a:rPr sz="3600" spc="50" dirty="0">
                <a:solidFill>
                  <a:srgbClr val="2E377E"/>
                </a:solidFill>
                <a:latin typeface="Georgia"/>
                <a:cs typeface="Georgia"/>
              </a:rPr>
              <a:t>yaml</a:t>
            </a:r>
            <a:r>
              <a:rPr sz="3600" spc="-35" dirty="0">
                <a:solidFill>
                  <a:srgbClr val="2E377E"/>
                </a:solidFill>
                <a:latin typeface="Georgia"/>
                <a:cs typeface="Georgia"/>
              </a:rPr>
              <a:t> </a:t>
            </a:r>
            <a:r>
              <a:rPr sz="3600" spc="-245" dirty="0">
                <a:solidFill>
                  <a:srgbClr val="2E377E"/>
                </a:solidFill>
                <a:latin typeface="Georgia"/>
                <a:cs typeface="Georgia"/>
              </a:rPr>
              <a:t>:</a:t>
            </a:r>
            <a:r>
              <a:rPr sz="3600" spc="-30" dirty="0">
                <a:solidFill>
                  <a:srgbClr val="2E377E"/>
                </a:solidFill>
                <a:latin typeface="Georgia"/>
                <a:cs typeface="Georgia"/>
              </a:rPr>
              <a:t> </a:t>
            </a:r>
            <a:r>
              <a:rPr sz="3600" spc="60" dirty="0">
                <a:solidFill>
                  <a:srgbClr val="FF3131"/>
                </a:solidFill>
                <a:latin typeface="Georgia"/>
                <a:cs typeface="Georgia"/>
              </a:rPr>
              <a:t>kubectl</a:t>
            </a:r>
            <a:r>
              <a:rPr sz="3600" spc="-35" dirty="0">
                <a:solidFill>
                  <a:srgbClr val="FF3131"/>
                </a:solidFill>
                <a:latin typeface="Georgia"/>
                <a:cs typeface="Georgia"/>
              </a:rPr>
              <a:t> </a:t>
            </a:r>
            <a:r>
              <a:rPr sz="3600" spc="75" dirty="0">
                <a:solidFill>
                  <a:srgbClr val="FF3131"/>
                </a:solidFill>
                <a:latin typeface="Georgia"/>
                <a:cs typeface="Georgia"/>
              </a:rPr>
              <a:t>get</a:t>
            </a:r>
            <a:r>
              <a:rPr sz="3600" spc="-35" dirty="0">
                <a:solidFill>
                  <a:srgbClr val="FF3131"/>
                </a:solidFill>
                <a:latin typeface="Georgia"/>
                <a:cs typeface="Georgia"/>
              </a:rPr>
              <a:t> </a:t>
            </a:r>
            <a:r>
              <a:rPr sz="3600" spc="65" dirty="0">
                <a:solidFill>
                  <a:srgbClr val="FF3131"/>
                </a:solidFill>
                <a:latin typeface="Georgia"/>
                <a:cs typeface="Georgia"/>
              </a:rPr>
              <a:t>secret</a:t>
            </a:r>
            <a:r>
              <a:rPr sz="3600" spc="-35" dirty="0">
                <a:solidFill>
                  <a:srgbClr val="FF3131"/>
                </a:solidFill>
                <a:latin typeface="Georgia"/>
                <a:cs typeface="Georgia"/>
              </a:rPr>
              <a:t> </a:t>
            </a:r>
            <a:r>
              <a:rPr sz="3600" spc="60" dirty="0">
                <a:solidFill>
                  <a:srgbClr val="FF3131"/>
                </a:solidFill>
                <a:latin typeface="Georgia"/>
                <a:cs typeface="Georgia"/>
              </a:rPr>
              <a:t>secret-</a:t>
            </a:r>
            <a:r>
              <a:rPr sz="3600" dirty="0">
                <a:solidFill>
                  <a:srgbClr val="FF3131"/>
                </a:solidFill>
                <a:latin typeface="Georgia"/>
                <a:cs typeface="Georgia"/>
              </a:rPr>
              <a:t>from-</a:t>
            </a:r>
            <a:r>
              <a:rPr sz="3600" spc="85" dirty="0">
                <a:solidFill>
                  <a:srgbClr val="FF3131"/>
                </a:solidFill>
                <a:latin typeface="Georgia"/>
                <a:cs typeface="Georgia"/>
              </a:rPr>
              <a:t>env</a:t>
            </a:r>
            <a:r>
              <a:rPr sz="3600" spc="-35" dirty="0">
                <a:solidFill>
                  <a:srgbClr val="FF3131"/>
                </a:solidFill>
                <a:latin typeface="Georgia"/>
                <a:cs typeface="Georgia"/>
              </a:rPr>
              <a:t> </a:t>
            </a:r>
            <a:r>
              <a:rPr sz="3600" dirty="0">
                <a:solidFill>
                  <a:srgbClr val="FF3131"/>
                </a:solidFill>
                <a:latin typeface="Georgia"/>
                <a:cs typeface="Georgia"/>
              </a:rPr>
              <a:t>-o</a:t>
            </a:r>
            <a:r>
              <a:rPr sz="3600" spc="-35" dirty="0">
                <a:solidFill>
                  <a:srgbClr val="FF3131"/>
                </a:solidFill>
                <a:latin typeface="Georgia"/>
                <a:cs typeface="Georgia"/>
              </a:rPr>
              <a:t> </a:t>
            </a:r>
            <a:r>
              <a:rPr sz="3600" spc="30" dirty="0">
                <a:solidFill>
                  <a:srgbClr val="FF3131"/>
                </a:solidFill>
                <a:latin typeface="Georgia"/>
                <a:cs typeface="Georgia"/>
              </a:rPr>
              <a:t>yaml </a:t>
            </a:r>
            <a:r>
              <a:rPr sz="3600" dirty="0">
                <a:solidFill>
                  <a:srgbClr val="2E377E"/>
                </a:solidFill>
                <a:latin typeface="Georgia"/>
                <a:cs typeface="Georgia"/>
              </a:rPr>
              <a:t>To</a:t>
            </a:r>
            <a:r>
              <a:rPr sz="3600" spc="140" dirty="0">
                <a:solidFill>
                  <a:srgbClr val="2E377E"/>
                </a:solidFill>
                <a:latin typeface="Georgia"/>
                <a:cs typeface="Georgia"/>
              </a:rPr>
              <a:t> </a:t>
            </a:r>
            <a:r>
              <a:rPr sz="3600" dirty="0">
                <a:solidFill>
                  <a:srgbClr val="2E377E"/>
                </a:solidFill>
                <a:latin typeface="Georgia"/>
                <a:cs typeface="Georgia"/>
              </a:rPr>
              <a:t>delete:</a:t>
            </a:r>
            <a:r>
              <a:rPr sz="3600" spc="145" dirty="0">
                <a:solidFill>
                  <a:srgbClr val="2E377E"/>
                </a:solidFill>
                <a:latin typeface="Georgia"/>
                <a:cs typeface="Georgia"/>
              </a:rPr>
              <a:t> </a:t>
            </a:r>
            <a:r>
              <a:rPr sz="3600" spc="60" dirty="0">
                <a:solidFill>
                  <a:srgbClr val="FF3131"/>
                </a:solidFill>
                <a:latin typeface="Georgia"/>
                <a:cs typeface="Georgia"/>
              </a:rPr>
              <a:t>kubectl</a:t>
            </a:r>
            <a:r>
              <a:rPr sz="3600" spc="145" dirty="0">
                <a:solidFill>
                  <a:srgbClr val="FF3131"/>
                </a:solidFill>
                <a:latin typeface="Georgia"/>
                <a:cs typeface="Georgia"/>
              </a:rPr>
              <a:t> </a:t>
            </a:r>
            <a:r>
              <a:rPr sz="3600" spc="55" dirty="0">
                <a:solidFill>
                  <a:srgbClr val="FF3131"/>
                </a:solidFill>
                <a:latin typeface="Georgia"/>
                <a:cs typeface="Georgia"/>
              </a:rPr>
              <a:t>delete</a:t>
            </a:r>
            <a:r>
              <a:rPr sz="3600" spc="140" dirty="0">
                <a:solidFill>
                  <a:srgbClr val="FF3131"/>
                </a:solidFill>
                <a:latin typeface="Georgia"/>
                <a:cs typeface="Georgia"/>
              </a:rPr>
              <a:t> </a:t>
            </a:r>
            <a:r>
              <a:rPr sz="3600" dirty="0">
                <a:solidFill>
                  <a:srgbClr val="FF3131"/>
                </a:solidFill>
                <a:latin typeface="Georgia"/>
                <a:cs typeface="Georgia"/>
              </a:rPr>
              <a:t>secret/secret-from-</a:t>
            </a:r>
            <a:r>
              <a:rPr sz="3600" spc="60" dirty="0">
                <a:solidFill>
                  <a:srgbClr val="FF3131"/>
                </a:solidFill>
                <a:latin typeface="Georgia"/>
                <a:cs typeface="Georgia"/>
              </a:rPr>
              <a:t>env</a:t>
            </a:r>
            <a:endParaRPr sz="3600" dirty="0">
              <a:latin typeface="Georgia"/>
              <a:cs typeface="Georgia"/>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1609" y="304107"/>
            <a:ext cx="16864330" cy="9684959"/>
          </a:xfrm>
          <a:prstGeom prst="rect">
            <a:avLst/>
          </a:prstGeom>
        </p:spPr>
        <p:txBody>
          <a:bodyPr vert="horz" wrap="square" lIns="0" tIns="92710" rIns="0" bIns="0" rtlCol="0">
            <a:spAutoFit/>
          </a:bodyPr>
          <a:lstStyle/>
          <a:p>
            <a:pPr marL="12700">
              <a:lnSpc>
                <a:spcPct val="100000"/>
              </a:lnSpc>
              <a:spcBef>
                <a:spcPts val="730"/>
              </a:spcBef>
            </a:pPr>
            <a:r>
              <a:rPr sz="3350" spc="-100" dirty="0">
                <a:solidFill>
                  <a:srgbClr val="2E377E"/>
                </a:solidFill>
                <a:latin typeface="Times New Roman"/>
                <a:cs typeface="Times New Roman"/>
              </a:rPr>
              <a:t>CREATE</a:t>
            </a:r>
            <a:r>
              <a:rPr sz="3350" spc="-110" dirty="0">
                <a:solidFill>
                  <a:srgbClr val="2E377E"/>
                </a:solidFill>
                <a:latin typeface="Times New Roman"/>
                <a:cs typeface="Times New Roman"/>
              </a:rPr>
              <a:t> </a:t>
            </a:r>
            <a:r>
              <a:rPr sz="3350" spc="-250" dirty="0">
                <a:solidFill>
                  <a:srgbClr val="2E377E"/>
                </a:solidFill>
                <a:latin typeface="Times New Roman"/>
                <a:cs typeface="Times New Roman"/>
              </a:rPr>
              <a:t>A</a:t>
            </a:r>
            <a:r>
              <a:rPr sz="3350" spc="-95" dirty="0">
                <a:solidFill>
                  <a:srgbClr val="2E377E"/>
                </a:solidFill>
                <a:latin typeface="Times New Roman"/>
                <a:cs typeface="Times New Roman"/>
              </a:rPr>
              <a:t> </a:t>
            </a:r>
            <a:r>
              <a:rPr sz="3350" spc="-40" dirty="0">
                <a:solidFill>
                  <a:srgbClr val="2E377E"/>
                </a:solidFill>
                <a:latin typeface="Times New Roman"/>
                <a:cs typeface="Times New Roman"/>
              </a:rPr>
              <a:t>FOLDER</a:t>
            </a:r>
            <a:r>
              <a:rPr sz="3350" spc="-170" dirty="0">
                <a:solidFill>
                  <a:srgbClr val="2E377E"/>
                </a:solidFill>
                <a:latin typeface="Times New Roman"/>
                <a:cs typeface="Times New Roman"/>
              </a:rPr>
              <a:t> </a:t>
            </a:r>
            <a:r>
              <a:rPr sz="3350" dirty="0">
                <a:solidFill>
                  <a:srgbClr val="2E377E"/>
                </a:solidFill>
                <a:latin typeface="Times New Roman"/>
                <a:cs typeface="Times New Roman"/>
              </a:rPr>
              <a:t>FOR</a:t>
            </a:r>
            <a:r>
              <a:rPr sz="3350" spc="-140" dirty="0">
                <a:solidFill>
                  <a:srgbClr val="2E377E"/>
                </a:solidFill>
                <a:latin typeface="Times New Roman"/>
                <a:cs typeface="Times New Roman"/>
              </a:rPr>
              <a:t> </a:t>
            </a:r>
            <a:r>
              <a:rPr sz="3350" spc="-10" dirty="0">
                <a:solidFill>
                  <a:srgbClr val="2E377E"/>
                </a:solidFill>
                <a:latin typeface="Times New Roman"/>
                <a:cs typeface="Times New Roman"/>
              </a:rPr>
              <a:t>SECRETS:</a:t>
            </a:r>
            <a:endParaRPr sz="3350" dirty="0">
              <a:latin typeface="Times New Roman"/>
              <a:cs typeface="Times New Roman"/>
            </a:endParaRPr>
          </a:p>
          <a:p>
            <a:pPr marL="12700" marR="5080">
              <a:lnSpc>
                <a:spcPts val="4650"/>
              </a:lnSpc>
              <a:spcBef>
                <a:spcPts val="260"/>
              </a:spcBef>
            </a:pPr>
            <a:r>
              <a:rPr sz="3350" dirty="0">
                <a:solidFill>
                  <a:srgbClr val="2E377E"/>
                </a:solidFill>
                <a:latin typeface="Georgia"/>
                <a:cs typeface="Georgia"/>
              </a:rPr>
              <a:t>We</a:t>
            </a:r>
            <a:r>
              <a:rPr sz="3350" spc="-5" dirty="0">
                <a:solidFill>
                  <a:srgbClr val="2E377E"/>
                </a:solidFill>
                <a:latin typeface="Georgia"/>
                <a:cs typeface="Georgia"/>
              </a:rPr>
              <a:t> </a:t>
            </a:r>
            <a:r>
              <a:rPr sz="3350" spc="50" dirty="0">
                <a:solidFill>
                  <a:srgbClr val="2E377E"/>
                </a:solidFill>
                <a:latin typeface="Georgia"/>
                <a:cs typeface="Georgia"/>
              </a:rPr>
              <a:t>have</a:t>
            </a:r>
            <a:r>
              <a:rPr sz="3350" spc="5" dirty="0">
                <a:solidFill>
                  <a:srgbClr val="2E377E"/>
                </a:solidFill>
                <a:latin typeface="Georgia"/>
                <a:cs typeface="Georgia"/>
              </a:rPr>
              <a:t> </a:t>
            </a:r>
            <a:r>
              <a:rPr sz="3350" dirty="0">
                <a:solidFill>
                  <a:srgbClr val="2E377E"/>
                </a:solidFill>
                <a:latin typeface="Georgia"/>
                <a:cs typeface="Georgia"/>
              </a:rPr>
              <a:t>created</a:t>
            </a:r>
            <a:r>
              <a:rPr sz="3350" spc="10" dirty="0">
                <a:solidFill>
                  <a:srgbClr val="2E377E"/>
                </a:solidFill>
                <a:latin typeface="Georgia"/>
                <a:cs typeface="Georgia"/>
              </a:rPr>
              <a:t> </a:t>
            </a:r>
            <a:r>
              <a:rPr sz="3350" dirty="0">
                <a:solidFill>
                  <a:srgbClr val="2E377E"/>
                </a:solidFill>
                <a:latin typeface="Georgia"/>
                <a:cs typeface="Georgia"/>
              </a:rPr>
              <a:t>multiple</a:t>
            </a:r>
            <a:r>
              <a:rPr sz="3350" spc="5" dirty="0">
                <a:solidFill>
                  <a:srgbClr val="2E377E"/>
                </a:solidFill>
                <a:latin typeface="Georgia"/>
                <a:cs typeface="Georgia"/>
              </a:rPr>
              <a:t> </a:t>
            </a:r>
            <a:r>
              <a:rPr sz="3350" dirty="0">
                <a:solidFill>
                  <a:srgbClr val="2E377E"/>
                </a:solidFill>
                <a:latin typeface="Georgia"/>
                <a:cs typeface="Georgia"/>
              </a:rPr>
              <a:t>files</a:t>
            </a:r>
            <a:r>
              <a:rPr sz="3350" spc="5" dirty="0">
                <a:solidFill>
                  <a:srgbClr val="2E377E"/>
                </a:solidFill>
                <a:latin typeface="Georgia"/>
                <a:cs typeface="Georgia"/>
              </a:rPr>
              <a:t> </a:t>
            </a:r>
            <a:r>
              <a:rPr sz="3350" dirty="0">
                <a:solidFill>
                  <a:srgbClr val="2E377E"/>
                </a:solidFill>
                <a:latin typeface="Georgia"/>
                <a:cs typeface="Georgia"/>
              </a:rPr>
              <a:t>in</a:t>
            </a:r>
            <a:r>
              <a:rPr sz="3350" spc="5" dirty="0">
                <a:solidFill>
                  <a:srgbClr val="2E377E"/>
                </a:solidFill>
                <a:latin typeface="Georgia"/>
                <a:cs typeface="Georgia"/>
              </a:rPr>
              <a:t> </a:t>
            </a:r>
            <a:r>
              <a:rPr sz="3350" dirty="0">
                <a:solidFill>
                  <a:srgbClr val="2E377E"/>
                </a:solidFill>
                <a:latin typeface="Georgia"/>
                <a:cs typeface="Georgia"/>
              </a:rPr>
              <a:t>a</a:t>
            </a:r>
            <a:r>
              <a:rPr sz="3350" spc="5" dirty="0">
                <a:solidFill>
                  <a:srgbClr val="2E377E"/>
                </a:solidFill>
                <a:latin typeface="Georgia"/>
                <a:cs typeface="Georgia"/>
              </a:rPr>
              <a:t> </a:t>
            </a:r>
            <a:r>
              <a:rPr sz="3350" spc="55" dirty="0">
                <a:solidFill>
                  <a:srgbClr val="2E377E"/>
                </a:solidFill>
                <a:latin typeface="Georgia"/>
                <a:cs typeface="Georgia"/>
              </a:rPr>
              <a:t>directory</a:t>
            </a:r>
            <a:r>
              <a:rPr sz="3350" spc="5" dirty="0">
                <a:solidFill>
                  <a:srgbClr val="2E377E"/>
                </a:solidFill>
                <a:latin typeface="Georgia"/>
                <a:cs typeface="Georgia"/>
              </a:rPr>
              <a:t> </a:t>
            </a:r>
            <a:r>
              <a:rPr sz="3350" spc="70" dirty="0">
                <a:solidFill>
                  <a:srgbClr val="2E377E"/>
                </a:solidFill>
                <a:latin typeface="Georgia"/>
                <a:cs typeface="Georgia"/>
              </a:rPr>
              <a:t>with</a:t>
            </a:r>
            <a:r>
              <a:rPr sz="3350" spc="5" dirty="0">
                <a:solidFill>
                  <a:srgbClr val="2E377E"/>
                </a:solidFill>
                <a:latin typeface="Georgia"/>
                <a:cs typeface="Georgia"/>
              </a:rPr>
              <a:t> </a:t>
            </a:r>
            <a:r>
              <a:rPr sz="3350" dirty="0">
                <a:solidFill>
                  <a:srgbClr val="2E377E"/>
                </a:solidFill>
                <a:latin typeface="Georgia"/>
                <a:cs typeface="Georgia"/>
              </a:rPr>
              <a:t>a</a:t>
            </a:r>
            <a:r>
              <a:rPr sz="3350" spc="10" dirty="0">
                <a:solidFill>
                  <a:srgbClr val="2E377E"/>
                </a:solidFill>
                <a:latin typeface="Georgia"/>
                <a:cs typeface="Georgia"/>
              </a:rPr>
              <a:t> </a:t>
            </a:r>
            <a:r>
              <a:rPr sz="3350" dirty="0">
                <a:solidFill>
                  <a:srgbClr val="2E377E"/>
                </a:solidFill>
                <a:latin typeface="Georgia"/>
                <a:cs typeface="Georgia"/>
              </a:rPr>
              <a:t>different</a:t>
            </a:r>
            <a:r>
              <a:rPr sz="3350" spc="5" dirty="0">
                <a:solidFill>
                  <a:srgbClr val="2E377E"/>
                </a:solidFill>
                <a:latin typeface="Georgia"/>
                <a:cs typeface="Georgia"/>
              </a:rPr>
              <a:t> </a:t>
            </a:r>
            <a:r>
              <a:rPr sz="3350" spc="45" dirty="0">
                <a:solidFill>
                  <a:srgbClr val="2E377E"/>
                </a:solidFill>
                <a:latin typeface="Georgia"/>
                <a:cs typeface="Georgia"/>
              </a:rPr>
              <a:t>extension</a:t>
            </a:r>
            <a:r>
              <a:rPr sz="3350" spc="5" dirty="0">
                <a:solidFill>
                  <a:srgbClr val="2E377E"/>
                </a:solidFill>
                <a:latin typeface="Georgia"/>
                <a:cs typeface="Georgia"/>
              </a:rPr>
              <a:t> </a:t>
            </a:r>
            <a:r>
              <a:rPr sz="3350" spc="50" dirty="0">
                <a:solidFill>
                  <a:srgbClr val="2E377E"/>
                </a:solidFill>
                <a:latin typeface="Georgia"/>
                <a:cs typeface="Georgia"/>
              </a:rPr>
              <a:t>that</a:t>
            </a:r>
            <a:r>
              <a:rPr sz="3350" spc="5" dirty="0">
                <a:solidFill>
                  <a:srgbClr val="2E377E"/>
                </a:solidFill>
                <a:latin typeface="Georgia"/>
                <a:cs typeface="Georgia"/>
              </a:rPr>
              <a:t> </a:t>
            </a:r>
            <a:r>
              <a:rPr sz="3350" dirty="0">
                <a:solidFill>
                  <a:srgbClr val="2E377E"/>
                </a:solidFill>
                <a:latin typeface="Georgia"/>
                <a:cs typeface="Georgia"/>
              </a:rPr>
              <a:t>has</a:t>
            </a:r>
            <a:r>
              <a:rPr sz="3350" spc="10" dirty="0">
                <a:solidFill>
                  <a:srgbClr val="2E377E"/>
                </a:solidFill>
                <a:latin typeface="Georgia"/>
                <a:cs typeface="Georgia"/>
              </a:rPr>
              <a:t> </a:t>
            </a:r>
            <a:r>
              <a:rPr sz="3350" spc="-10" dirty="0">
                <a:solidFill>
                  <a:srgbClr val="2E377E"/>
                </a:solidFill>
                <a:latin typeface="Georgia"/>
                <a:cs typeface="Georgia"/>
              </a:rPr>
              <a:t>different </a:t>
            </a:r>
            <a:r>
              <a:rPr sz="3350" spc="80" dirty="0">
                <a:solidFill>
                  <a:srgbClr val="2E377E"/>
                </a:solidFill>
                <a:latin typeface="Georgia"/>
                <a:cs typeface="Georgia"/>
              </a:rPr>
              <a:t>types</a:t>
            </a:r>
            <a:r>
              <a:rPr sz="3350" spc="45" dirty="0">
                <a:solidFill>
                  <a:srgbClr val="2E377E"/>
                </a:solidFill>
                <a:latin typeface="Georgia"/>
                <a:cs typeface="Georgia"/>
              </a:rPr>
              <a:t> </a:t>
            </a:r>
            <a:r>
              <a:rPr sz="3350" dirty="0">
                <a:solidFill>
                  <a:srgbClr val="2E377E"/>
                </a:solidFill>
                <a:latin typeface="Georgia"/>
                <a:cs typeface="Georgia"/>
              </a:rPr>
              <a:t>of</a:t>
            </a:r>
            <a:r>
              <a:rPr sz="3350" spc="45" dirty="0">
                <a:solidFill>
                  <a:srgbClr val="2E377E"/>
                </a:solidFill>
                <a:latin typeface="Georgia"/>
                <a:cs typeface="Georgia"/>
              </a:rPr>
              <a:t> </a:t>
            </a:r>
            <a:r>
              <a:rPr sz="3350" dirty="0">
                <a:solidFill>
                  <a:srgbClr val="2E377E"/>
                </a:solidFill>
                <a:latin typeface="Georgia"/>
                <a:cs typeface="Georgia"/>
              </a:rPr>
              <a:t>data</a:t>
            </a:r>
            <a:r>
              <a:rPr sz="3350" spc="45" dirty="0">
                <a:solidFill>
                  <a:srgbClr val="2E377E"/>
                </a:solidFill>
                <a:latin typeface="Georgia"/>
                <a:cs typeface="Georgia"/>
              </a:rPr>
              <a:t> </a:t>
            </a:r>
            <a:r>
              <a:rPr sz="3350" dirty="0">
                <a:solidFill>
                  <a:srgbClr val="2E377E"/>
                </a:solidFill>
                <a:latin typeface="Georgia"/>
                <a:cs typeface="Georgia"/>
              </a:rPr>
              <a:t>and</a:t>
            </a:r>
            <a:r>
              <a:rPr sz="3350" spc="45" dirty="0">
                <a:solidFill>
                  <a:srgbClr val="2E377E"/>
                </a:solidFill>
                <a:latin typeface="Georgia"/>
                <a:cs typeface="Georgia"/>
              </a:rPr>
              <a:t> </a:t>
            </a:r>
            <a:r>
              <a:rPr sz="3350" dirty="0">
                <a:solidFill>
                  <a:srgbClr val="2E377E"/>
                </a:solidFill>
                <a:latin typeface="Georgia"/>
                <a:cs typeface="Georgia"/>
              </a:rPr>
              <a:t>created</a:t>
            </a:r>
            <a:r>
              <a:rPr sz="3350" spc="45" dirty="0">
                <a:solidFill>
                  <a:srgbClr val="2E377E"/>
                </a:solidFill>
                <a:latin typeface="Georgia"/>
                <a:cs typeface="Georgia"/>
              </a:rPr>
              <a:t> </a:t>
            </a:r>
            <a:r>
              <a:rPr sz="3350" spc="55" dirty="0">
                <a:solidFill>
                  <a:srgbClr val="2E377E"/>
                </a:solidFill>
                <a:latin typeface="Georgia"/>
                <a:cs typeface="Georgia"/>
              </a:rPr>
              <a:t>the</a:t>
            </a:r>
            <a:r>
              <a:rPr sz="3350" spc="45" dirty="0">
                <a:solidFill>
                  <a:srgbClr val="2E377E"/>
                </a:solidFill>
                <a:latin typeface="Georgia"/>
                <a:cs typeface="Georgia"/>
              </a:rPr>
              <a:t> </a:t>
            </a:r>
            <a:r>
              <a:rPr sz="3350" dirty="0">
                <a:solidFill>
                  <a:srgbClr val="2E377E"/>
                </a:solidFill>
                <a:latin typeface="Georgia"/>
                <a:cs typeface="Georgia"/>
              </a:rPr>
              <a:t>Secrets</a:t>
            </a:r>
            <a:r>
              <a:rPr sz="3350" spc="50" dirty="0">
                <a:solidFill>
                  <a:srgbClr val="2E377E"/>
                </a:solidFill>
                <a:latin typeface="Georgia"/>
                <a:cs typeface="Georgia"/>
              </a:rPr>
              <a:t> </a:t>
            </a:r>
            <a:r>
              <a:rPr sz="3350" dirty="0">
                <a:solidFill>
                  <a:srgbClr val="2E377E"/>
                </a:solidFill>
                <a:latin typeface="Georgia"/>
                <a:cs typeface="Georgia"/>
              </a:rPr>
              <a:t>for</a:t>
            </a:r>
            <a:r>
              <a:rPr sz="3350" spc="40" dirty="0">
                <a:solidFill>
                  <a:srgbClr val="2E377E"/>
                </a:solidFill>
                <a:latin typeface="Georgia"/>
                <a:cs typeface="Georgia"/>
              </a:rPr>
              <a:t> </a:t>
            </a:r>
            <a:r>
              <a:rPr sz="3350" spc="55" dirty="0">
                <a:solidFill>
                  <a:srgbClr val="2E377E"/>
                </a:solidFill>
                <a:latin typeface="Georgia"/>
                <a:cs typeface="Georgia"/>
              </a:rPr>
              <a:t>the</a:t>
            </a:r>
            <a:r>
              <a:rPr sz="3350" spc="45" dirty="0">
                <a:solidFill>
                  <a:srgbClr val="2E377E"/>
                </a:solidFill>
                <a:latin typeface="Georgia"/>
                <a:cs typeface="Georgia"/>
              </a:rPr>
              <a:t> </a:t>
            </a:r>
            <a:r>
              <a:rPr sz="3350" dirty="0">
                <a:solidFill>
                  <a:srgbClr val="2E377E"/>
                </a:solidFill>
                <a:latin typeface="Georgia"/>
                <a:cs typeface="Georgia"/>
              </a:rPr>
              <a:t>entire</a:t>
            </a:r>
            <a:r>
              <a:rPr sz="3350" spc="50" dirty="0">
                <a:solidFill>
                  <a:srgbClr val="2E377E"/>
                </a:solidFill>
                <a:latin typeface="Georgia"/>
                <a:cs typeface="Georgia"/>
              </a:rPr>
              <a:t> </a:t>
            </a:r>
            <a:r>
              <a:rPr sz="3350" spc="-10" dirty="0">
                <a:solidFill>
                  <a:srgbClr val="2E377E"/>
                </a:solidFill>
                <a:latin typeface="Georgia"/>
                <a:cs typeface="Georgia"/>
              </a:rPr>
              <a:t>directory.</a:t>
            </a:r>
            <a:endParaRPr sz="3350" dirty="0">
              <a:latin typeface="Georgia"/>
              <a:cs typeface="Georgia"/>
            </a:endParaRPr>
          </a:p>
          <a:p>
            <a:pPr>
              <a:lnSpc>
                <a:spcPct val="100000"/>
              </a:lnSpc>
              <a:spcBef>
                <a:spcPts val="1210"/>
              </a:spcBef>
            </a:pPr>
            <a:endParaRPr sz="3350" dirty="0">
              <a:latin typeface="Georgia"/>
              <a:cs typeface="Georgia"/>
            </a:endParaRPr>
          </a:p>
          <a:p>
            <a:pPr marL="12700">
              <a:lnSpc>
                <a:spcPct val="100000"/>
              </a:lnSpc>
              <a:spcBef>
                <a:spcPts val="5"/>
              </a:spcBef>
            </a:pPr>
            <a:r>
              <a:rPr sz="3350" dirty="0">
                <a:solidFill>
                  <a:srgbClr val="2E377E"/>
                </a:solidFill>
                <a:latin typeface="Georgia"/>
                <a:cs typeface="Georgia"/>
              </a:rPr>
              <a:t>mkdir</a:t>
            </a:r>
            <a:r>
              <a:rPr sz="3350" spc="95" dirty="0">
                <a:solidFill>
                  <a:srgbClr val="2E377E"/>
                </a:solidFill>
                <a:latin typeface="Georgia"/>
                <a:cs typeface="Georgia"/>
              </a:rPr>
              <a:t> </a:t>
            </a:r>
            <a:r>
              <a:rPr sz="3350" spc="-10" dirty="0">
                <a:solidFill>
                  <a:srgbClr val="2E377E"/>
                </a:solidFill>
                <a:latin typeface="Georgia"/>
                <a:cs typeface="Georgia"/>
              </a:rPr>
              <a:t>folder1</a:t>
            </a:r>
            <a:endParaRPr sz="3350" dirty="0">
              <a:latin typeface="Georgia"/>
              <a:cs typeface="Georgia"/>
            </a:endParaRPr>
          </a:p>
          <a:p>
            <a:pPr marL="12700" marR="12838430">
              <a:lnSpc>
                <a:spcPts val="4650"/>
              </a:lnSpc>
              <a:spcBef>
                <a:spcPts val="259"/>
              </a:spcBef>
            </a:pPr>
            <a:r>
              <a:rPr sz="3350" spc="-10" dirty="0">
                <a:solidFill>
                  <a:srgbClr val="2E377E"/>
                </a:solidFill>
                <a:latin typeface="Georgia"/>
                <a:cs typeface="Georgia"/>
              </a:rPr>
              <a:t>cat</a:t>
            </a:r>
            <a:r>
              <a:rPr sz="3350" spc="-185" dirty="0">
                <a:solidFill>
                  <a:srgbClr val="2E377E"/>
                </a:solidFill>
                <a:latin typeface="Georgia"/>
                <a:cs typeface="Georgia"/>
              </a:rPr>
              <a:t> </a:t>
            </a:r>
            <a:r>
              <a:rPr sz="3350" spc="-10" dirty="0">
                <a:solidFill>
                  <a:srgbClr val="2E377E"/>
                </a:solidFill>
                <a:latin typeface="Georgia"/>
                <a:cs typeface="Georgia"/>
              </a:rPr>
              <a:t>folder1/file1.txt Name=</a:t>
            </a:r>
            <a:r>
              <a:rPr lang="en-IN" sz="3350" spc="-10" dirty="0">
                <a:solidFill>
                  <a:srgbClr val="2E377E"/>
                </a:solidFill>
                <a:latin typeface="Georgia"/>
                <a:cs typeface="Georgia"/>
              </a:rPr>
              <a:t>rajco</a:t>
            </a:r>
            <a:r>
              <a:rPr sz="3350" spc="-10" dirty="0">
                <a:solidFill>
                  <a:srgbClr val="2E377E"/>
                </a:solidFill>
                <a:latin typeface="Georgia"/>
                <a:cs typeface="Georgia"/>
              </a:rPr>
              <a:t> </a:t>
            </a:r>
            <a:r>
              <a:rPr sz="3350" spc="-55" dirty="0">
                <a:solidFill>
                  <a:srgbClr val="2E377E"/>
                </a:solidFill>
                <a:latin typeface="Georgia"/>
                <a:cs typeface="Georgia"/>
              </a:rPr>
              <a:t>Place=Hyderabad=23</a:t>
            </a:r>
            <a:endParaRPr sz="3350" dirty="0">
              <a:latin typeface="Georgia"/>
              <a:cs typeface="Georgia"/>
            </a:endParaRPr>
          </a:p>
          <a:p>
            <a:pPr>
              <a:lnSpc>
                <a:spcPct val="100000"/>
              </a:lnSpc>
              <a:spcBef>
                <a:spcPts val="580"/>
              </a:spcBef>
            </a:pPr>
            <a:endParaRPr sz="3350" dirty="0">
              <a:latin typeface="Georgia"/>
              <a:cs typeface="Georgia"/>
            </a:endParaRPr>
          </a:p>
          <a:p>
            <a:pPr marL="12700" marR="11808460">
              <a:lnSpc>
                <a:spcPct val="115700"/>
              </a:lnSpc>
            </a:pPr>
            <a:r>
              <a:rPr sz="3350" spc="-10" dirty="0">
                <a:solidFill>
                  <a:srgbClr val="2E377E"/>
                </a:solidFill>
                <a:latin typeface="Georgia"/>
                <a:cs typeface="Georgia"/>
              </a:rPr>
              <a:t>cat</a:t>
            </a:r>
            <a:r>
              <a:rPr sz="3350" spc="-185" dirty="0">
                <a:solidFill>
                  <a:srgbClr val="2E377E"/>
                </a:solidFill>
                <a:latin typeface="Georgia"/>
                <a:cs typeface="Georgia"/>
              </a:rPr>
              <a:t> </a:t>
            </a:r>
            <a:r>
              <a:rPr sz="3350" spc="-35" dirty="0">
                <a:solidFill>
                  <a:srgbClr val="2E377E"/>
                </a:solidFill>
                <a:latin typeface="Georgia"/>
                <a:cs typeface="Georgia"/>
              </a:rPr>
              <a:t>folder2/file2.txt </a:t>
            </a:r>
            <a:r>
              <a:rPr sz="3350" spc="-10" dirty="0">
                <a:solidFill>
                  <a:srgbClr val="2E377E"/>
                </a:solidFill>
                <a:latin typeface="Georgia"/>
                <a:cs typeface="Georgia"/>
              </a:rPr>
              <a:t>database=mysq1 password=mypassword </a:t>
            </a:r>
            <a:r>
              <a:rPr sz="3350" spc="250" dirty="0">
                <a:solidFill>
                  <a:srgbClr val="2E377E"/>
                </a:solidFill>
                <a:latin typeface="Times New Roman"/>
                <a:cs typeface="Times New Roman"/>
              </a:rPr>
              <a:t>command</a:t>
            </a:r>
            <a:r>
              <a:rPr sz="3350" spc="-90" dirty="0">
                <a:solidFill>
                  <a:srgbClr val="2E377E"/>
                </a:solidFill>
                <a:latin typeface="Times New Roman"/>
                <a:cs typeface="Times New Roman"/>
              </a:rPr>
              <a:t> </a:t>
            </a:r>
            <a:r>
              <a:rPr sz="3350" spc="245" dirty="0">
                <a:solidFill>
                  <a:srgbClr val="2E377E"/>
                </a:solidFill>
                <a:latin typeface="Times New Roman"/>
                <a:cs typeface="Times New Roman"/>
              </a:rPr>
              <a:t>to</a:t>
            </a:r>
            <a:r>
              <a:rPr sz="3350" spc="-85" dirty="0">
                <a:solidFill>
                  <a:srgbClr val="2E377E"/>
                </a:solidFill>
                <a:latin typeface="Times New Roman"/>
                <a:cs typeface="Times New Roman"/>
              </a:rPr>
              <a:t> </a:t>
            </a:r>
            <a:r>
              <a:rPr sz="3350" spc="210" dirty="0">
                <a:solidFill>
                  <a:srgbClr val="2E377E"/>
                </a:solidFill>
                <a:latin typeface="Times New Roman"/>
                <a:cs typeface="Times New Roman"/>
              </a:rPr>
              <a:t>create</a:t>
            </a:r>
            <a:r>
              <a:rPr sz="3350" spc="-85" dirty="0">
                <a:solidFill>
                  <a:srgbClr val="2E377E"/>
                </a:solidFill>
                <a:latin typeface="Times New Roman"/>
                <a:cs typeface="Times New Roman"/>
              </a:rPr>
              <a:t> </a:t>
            </a:r>
            <a:r>
              <a:rPr sz="3350" spc="155" dirty="0">
                <a:solidFill>
                  <a:srgbClr val="2E377E"/>
                </a:solidFill>
                <a:latin typeface="Times New Roman"/>
                <a:cs typeface="Times New Roman"/>
              </a:rPr>
              <a:t>secret:</a:t>
            </a:r>
            <a:endParaRPr sz="3350" dirty="0">
              <a:latin typeface="Times New Roman"/>
              <a:cs typeface="Times New Roman"/>
            </a:endParaRPr>
          </a:p>
          <a:p>
            <a:pPr marL="12700">
              <a:lnSpc>
                <a:spcPct val="100000"/>
              </a:lnSpc>
              <a:spcBef>
                <a:spcPts val="630"/>
              </a:spcBef>
            </a:pPr>
            <a:r>
              <a:rPr sz="3350" spc="50" dirty="0">
                <a:solidFill>
                  <a:srgbClr val="FF3131"/>
                </a:solidFill>
                <a:latin typeface="Georgia"/>
                <a:cs typeface="Georgia"/>
              </a:rPr>
              <a:t>kubectl</a:t>
            </a:r>
            <a:r>
              <a:rPr sz="3350" spc="165" dirty="0">
                <a:solidFill>
                  <a:srgbClr val="FF3131"/>
                </a:solidFill>
                <a:latin typeface="Georgia"/>
                <a:cs typeface="Georgia"/>
              </a:rPr>
              <a:t> </a:t>
            </a:r>
            <a:r>
              <a:rPr sz="3350" dirty="0">
                <a:solidFill>
                  <a:srgbClr val="FF3131"/>
                </a:solidFill>
                <a:latin typeface="Georgia"/>
                <a:cs typeface="Georgia"/>
              </a:rPr>
              <a:t>create</a:t>
            </a:r>
            <a:r>
              <a:rPr sz="3350" spc="170" dirty="0">
                <a:solidFill>
                  <a:srgbClr val="FF3131"/>
                </a:solidFill>
                <a:latin typeface="Georgia"/>
                <a:cs typeface="Georgia"/>
              </a:rPr>
              <a:t> </a:t>
            </a:r>
            <a:r>
              <a:rPr sz="3350" spc="55" dirty="0">
                <a:solidFill>
                  <a:srgbClr val="FF3131"/>
                </a:solidFill>
                <a:latin typeface="Georgia"/>
                <a:cs typeface="Georgia"/>
              </a:rPr>
              <a:t>secret</a:t>
            </a:r>
            <a:r>
              <a:rPr sz="3350" spc="165" dirty="0">
                <a:solidFill>
                  <a:srgbClr val="FF3131"/>
                </a:solidFill>
                <a:latin typeface="Georgia"/>
                <a:cs typeface="Georgia"/>
              </a:rPr>
              <a:t> </a:t>
            </a:r>
            <a:r>
              <a:rPr sz="3350" dirty="0">
                <a:solidFill>
                  <a:srgbClr val="FF3131"/>
                </a:solidFill>
                <a:latin typeface="Georgia"/>
                <a:cs typeface="Georgia"/>
              </a:rPr>
              <a:t>generic</a:t>
            </a:r>
            <a:r>
              <a:rPr sz="3350" spc="165" dirty="0">
                <a:solidFill>
                  <a:srgbClr val="FF3131"/>
                </a:solidFill>
                <a:latin typeface="Georgia"/>
                <a:cs typeface="Georgia"/>
              </a:rPr>
              <a:t> </a:t>
            </a:r>
            <a:r>
              <a:rPr sz="3350" spc="50" dirty="0">
                <a:solidFill>
                  <a:srgbClr val="FF3131"/>
                </a:solidFill>
                <a:latin typeface="Georgia"/>
                <a:cs typeface="Georgia"/>
              </a:rPr>
              <a:t>secret-</a:t>
            </a:r>
            <a:r>
              <a:rPr sz="3350" dirty="0">
                <a:solidFill>
                  <a:srgbClr val="FF3131"/>
                </a:solidFill>
                <a:latin typeface="Georgia"/>
                <a:cs typeface="Georgia"/>
              </a:rPr>
              <a:t>from-folder</a:t>
            </a:r>
            <a:r>
              <a:rPr sz="3350" spc="165" dirty="0">
                <a:solidFill>
                  <a:srgbClr val="FF3131"/>
                </a:solidFill>
                <a:latin typeface="Georgia"/>
                <a:cs typeface="Georgia"/>
              </a:rPr>
              <a:t> </a:t>
            </a:r>
            <a:r>
              <a:rPr sz="3350" dirty="0">
                <a:solidFill>
                  <a:srgbClr val="FF3131"/>
                </a:solidFill>
                <a:latin typeface="Georgia"/>
                <a:cs typeface="Georgia"/>
              </a:rPr>
              <a:t>--from-</a:t>
            </a:r>
            <a:r>
              <a:rPr sz="3350" spc="-10" dirty="0">
                <a:solidFill>
                  <a:srgbClr val="FF3131"/>
                </a:solidFill>
                <a:latin typeface="Georgia"/>
                <a:cs typeface="Georgia"/>
              </a:rPr>
              <a:t>file=folder1/</a:t>
            </a:r>
            <a:endParaRPr sz="3350" dirty="0">
              <a:latin typeface="Georgia"/>
              <a:cs typeface="Georgia"/>
            </a:endParaRPr>
          </a:p>
          <a:p>
            <a:pPr>
              <a:lnSpc>
                <a:spcPct val="100000"/>
              </a:lnSpc>
              <a:spcBef>
                <a:spcPts val="1475"/>
              </a:spcBef>
            </a:pPr>
            <a:endParaRPr sz="3350" dirty="0">
              <a:latin typeface="Georgia"/>
              <a:cs typeface="Georgia"/>
            </a:endParaRPr>
          </a:p>
          <a:p>
            <a:pPr marL="12700">
              <a:lnSpc>
                <a:spcPct val="100000"/>
              </a:lnSpc>
            </a:pPr>
            <a:r>
              <a:rPr sz="3350" dirty="0">
                <a:solidFill>
                  <a:srgbClr val="2E377E"/>
                </a:solidFill>
                <a:latin typeface="Georgia"/>
                <a:cs typeface="Georgia"/>
              </a:rPr>
              <a:t>To</a:t>
            </a:r>
            <a:r>
              <a:rPr sz="3350" spc="-20" dirty="0">
                <a:solidFill>
                  <a:srgbClr val="2E377E"/>
                </a:solidFill>
                <a:latin typeface="Georgia"/>
                <a:cs typeface="Georgia"/>
              </a:rPr>
              <a:t> </a:t>
            </a:r>
            <a:r>
              <a:rPr sz="3350" dirty="0">
                <a:solidFill>
                  <a:srgbClr val="2E377E"/>
                </a:solidFill>
                <a:latin typeface="Georgia"/>
                <a:cs typeface="Georgia"/>
              </a:rPr>
              <a:t>Get</a:t>
            </a:r>
            <a:r>
              <a:rPr sz="3350" spc="-20" dirty="0">
                <a:solidFill>
                  <a:srgbClr val="2E377E"/>
                </a:solidFill>
                <a:latin typeface="Georgia"/>
                <a:cs typeface="Georgia"/>
              </a:rPr>
              <a:t> </a:t>
            </a:r>
            <a:r>
              <a:rPr sz="3350" dirty="0">
                <a:solidFill>
                  <a:srgbClr val="2E377E"/>
                </a:solidFill>
                <a:latin typeface="Georgia"/>
                <a:cs typeface="Georgia"/>
              </a:rPr>
              <a:t>in</a:t>
            </a:r>
            <a:r>
              <a:rPr sz="3350" spc="-20" dirty="0">
                <a:solidFill>
                  <a:srgbClr val="2E377E"/>
                </a:solidFill>
                <a:latin typeface="Georgia"/>
                <a:cs typeface="Georgia"/>
              </a:rPr>
              <a:t> </a:t>
            </a:r>
            <a:r>
              <a:rPr sz="3350" dirty="0">
                <a:solidFill>
                  <a:srgbClr val="2E377E"/>
                </a:solidFill>
                <a:latin typeface="Georgia"/>
                <a:cs typeface="Georgia"/>
              </a:rPr>
              <a:t>yaml</a:t>
            </a:r>
            <a:r>
              <a:rPr sz="3350" spc="-20" dirty="0">
                <a:solidFill>
                  <a:srgbClr val="2E377E"/>
                </a:solidFill>
                <a:latin typeface="Georgia"/>
                <a:cs typeface="Georgia"/>
              </a:rPr>
              <a:t> </a:t>
            </a:r>
            <a:r>
              <a:rPr sz="3350" spc="-229" dirty="0">
                <a:solidFill>
                  <a:srgbClr val="2E377E"/>
                </a:solidFill>
                <a:latin typeface="Georgia"/>
                <a:cs typeface="Georgia"/>
              </a:rPr>
              <a:t>:</a:t>
            </a:r>
            <a:r>
              <a:rPr sz="3350" spc="-15" dirty="0">
                <a:solidFill>
                  <a:srgbClr val="2E377E"/>
                </a:solidFill>
                <a:latin typeface="Georgia"/>
                <a:cs typeface="Georgia"/>
              </a:rPr>
              <a:t> </a:t>
            </a:r>
            <a:r>
              <a:rPr sz="3350" spc="50" dirty="0">
                <a:solidFill>
                  <a:srgbClr val="FF3131"/>
                </a:solidFill>
                <a:latin typeface="Georgia"/>
                <a:cs typeface="Georgia"/>
              </a:rPr>
              <a:t>kubectl</a:t>
            </a:r>
            <a:r>
              <a:rPr sz="3350" spc="-20" dirty="0">
                <a:solidFill>
                  <a:srgbClr val="FF3131"/>
                </a:solidFill>
                <a:latin typeface="Georgia"/>
                <a:cs typeface="Georgia"/>
              </a:rPr>
              <a:t> </a:t>
            </a:r>
            <a:r>
              <a:rPr sz="3350" spc="60" dirty="0">
                <a:solidFill>
                  <a:srgbClr val="FF3131"/>
                </a:solidFill>
                <a:latin typeface="Georgia"/>
                <a:cs typeface="Georgia"/>
              </a:rPr>
              <a:t>get</a:t>
            </a:r>
            <a:r>
              <a:rPr sz="3350" spc="-20" dirty="0">
                <a:solidFill>
                  <a:srgbClr val="FF3131"/>
                </a:solidFill>
                <a:latin typeface="Georgia"/>
                <a:cs typeface="Georgia"/>
              </a:rPr>
              <a:t> </a:t>
            </a:r>
            <a:r>
              <a:rPr sz="3350" spc="55" dirty="0">
                <a:solidFill>
                  <a:srgbClr val="FF3131"/>
                </a:solidFill>
                <a:latin typeface="Georgia"/>
                <a:cs typeface="Georgia"/>
              </a:rPr>
              <a:t>secret</a:t>
            </a:r>
            <a:r>
              <a:rPr sz="3350" spc="-20" dirty="0">
                <a:solidFill>
                  <a:srgbClr val="FF3131"/>
                </a:solidFill>
                <a:latin typeface="Georgia"/>
                <a:cs typeface="Georgia"/>
              </a:rPr>
              <a:t> </a:t>
            </a:r>
            <a:r>
              <a:rPr sz="3350" spc="50" dirty="0">
                <a:solidFill>
                  <a:srgbClr val="FF3131"/>
                </a:solidFill>
                <a:latin typeface="Georgia"/>
                <a:cs typeface="Georgia"/>
              </a:rPr>
              <a:t>secret-</a:t>
            </a:r>
            <a:r>
              <a:rPr sz="3350" dirty="0">
                <a:solidFill>
                  <a:srgbClr val="FF3131"/>
                </a:solidFill>
                <a:latin typeface="Georgia"/>
                <a:cs typeface="Georgia"/>
              </a:rPr>
              <a:t>from-</a:t>
            </a:r>
            <a:r>
              <a:rPr sz="3350" spc="75" dirty="0">
                <a:solidFill>
                  <a:srgbClr val="FF3131"/>
                </a:solidFill>
                <a:latin typeface="Georgia"/>
                <a:cs typeface="Georgia"/>
              </a:rPr>
              <a:t>env</a:t>
            </a:r>
            <a:r>
              <a:rPr sz="3350" spc="-20" dirty="0">
                <a:solidFill>
                  <a:srgbClr val="FF3131"/>
                </a:solidFill>
                <a:latin typeface="Georgia"/>
                <a:cs typeface="Georgia"/>
              </a:rPr>
              <a:t> </a:t>
            </a:r>
            <a:r>
              <a:rPr sz="3350" dirty="0">
                <a:solidFill>
                  <a:srgbClr val="FF3131"/>
                </a:solidFill>
                <a:latin typeface="Georgia"/>
                <a:cs typeface="Georgia"/>
              </a:rPr>
              <a:t>-o</a:t>
            </a:r>
            <a:r>
              <a:rPr sz="3350" spc="-15" dirty="0">
                <a:solidFill>
                  <a:srgbClr val="FF3131"/>
                </a:solidFill>
                <a:latin typeface="Georgia"/>
                <a:cs typeface="Georgia"/>
              </a:rPr>
              <a:t> </a:t>
            </a:r>
            <a:r>
              <a:rPr sz="3350" spc="-20" dirty="0">
                <a:solidFill>
                  <a:srgbClr val="FF3131"/>
                </a:solidFill>
                <a:latin typeface="Georgia"/>
                <a:cs typeface="Georgia"/>
              </a:rPr>
              <a:t>yaml</a:t>
            </a:r>
            <a:endParaRPr sz="3350" dirty="0">
              <a:latin typeface="Georgia"/>
              <a:cs typeface="Georgia"/>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585270" y="1745557"/>
            <a:ext cx="7305674" cy="6800849"/>
          </a:xfrm>
          <a:prstGeom prst="rect">
            <a:avLst/>
          </a:prstGeom>
        </p:spPr>
      </p:pic>
      <p:sp>
        <p:nvSpPr>
          <p:cNvPr id="3" name="object 3"/>
          <p:cNvSpPr txBox="1">
            <a:spLocks noGrp="1"/>
          </p:cNvSpPr>
          <p:nvPr>
            <p:ph type="title"/>
          </p:nvPr>
        </p:nvSpPr>
        <p:spPr>
          <a:xfrm>
            <a:off x="469403" y="557275"/>
            <a:ext cx="15273655" cy="787400"/>
          </a:xfrm>
          <a:prstGeom prst="rect">
            <a:avLst/>
          </a:prstGeom>
        </p:spPr>
        <p:txBody>
          <a:bodyPr vert="horz" wrap="square" lIns="0" tIns="12700" rIns="0" bIns="0" rtlCol="0">
            <a:spAutoFit/>
          </a:bodyPr>
          <a:lstStyle/>
          <a:p>
            <a:pPr marL="12700">
              <a:lnSpc>
                <a:spcPct val="100000"/>
              </a:lnSpc>
              <a:spcBef>
                <a:spcPts val="100"/>
              </a:spcBef>
            </a:pPr>
            <a:r>
              <a:rPr spc="100" dirty="0">
                <a:solidFill>
                  <a:srgbClr val="FF3131"/>
                </a:solidFill>
              </a:rPr>
              <a:t>Injecting</a:t>
            </a:r>
            <a:r>
              <a:rPr spc="-75" dirty="0">
                <a:solidFill>
                  <a:srgbClr val="FF3131"/>
                </a:solidFill>
              </a:rPr>
              <a:t> </a:t>
            </a:r>
            <a:r>
              <a:rPr spc="114" dirty="0">
                <a:solidFill>
                  <a:srgbClr val="FF3131"/>
                </a:solidFill>
              </a:rPr>
              <a:t>Secret</a:t>
            </a:r>
            <a:r>
              <a:rPr spc="-75" dirty="0">
                <a:solidFill>
                  <a:srgbClr val="FF3131"/>
                </a:solidFill>
              </a:rPr>
              <a:t> </a:t>
            </a:r>
            <a:r>
              <a:rPr spc="285" dirty="0">
                <a:solidFill>
                  <a:srgbClr val="FF3131"/>
                </a:solidFill>
              </a:rPr>
              <a:t>with</a:t>
            </a:r>
            <a:r>
              <a:rPr spc="-75" dirty="0">
                <a:solidFill>
                  <a:srgbClr val="FF3131"/>
                </a:solidFill>
              </a:rPr>
              <a:t> </a:t>
            </a:r>
            <a:r>
              <a:rPr spc="75" dirty="0">
                <a:solidFill>
                  <a:srgbClr val="FF3131"/>
                </a:solidFill>
              </a:rPr>
              <a:t>a</a:t>
            </a:r>
            <a:r>
              <a:rPr spc="-75" dirty="0">
                <a:solidFill>
                  <a:srgbClr val="FF3131"/>
                </a:solidFill>
              </a:rPr>
              <a:t> </a:t>
            </a:r>
            <a:r>
              <a:rPr spc="305" dirty="0">
                <a:solidFill>
                  <a:srgbClr val="FF3131"/>
                </a:solidFill>
              </a:rPr>
              <a:t>pod</a:t>
            </a:r>
            <a:r>
              <a:rPr spc="-75" dirty="0">
                <a:solidFill>
                  <a:srgbClr val="FF3131"/>
                </a:solidFill>
              </a:rPr>
              <a:t> </a:t>
            </a:r>
            <a:r>
              <a:rPr spc="70" dirty="0">
                <a:solidFill>
                  <a:srgbClr val="FF3131"/>
                </a:solidFill>
              </a:rPr>
              <a:t>for</a:t>
            </a:r>
            <a:r>
              <a:rPr spc="-75" dirty="0">
                <a:solidFill>
                  <a:srgbClr val="FF3131"/>
                </a:solidFill>
              </a:rPr>
              <a:t> </a:t>
            </a:r>
            <a:r>
              <a:rPr spc="75" dirty="0">
                <a:solidFill>
                  <a:srgbClr val="FF3131"/>
                </a:solidFill>
              </a:rPr>
              <a:t>a</a:t>
            </a:r>
            <a:r>
              <a:rPr spc="-75" dirty="0">
                <a:solidFill>
                  <a:srgbClr val="FF3131"/>
                </a:solidFill>
              </a:rPr>
              <a:t> </a:t>
            </a:r>
            <a:r>
              <a:rPr spc="100" dirty="0">
                <a:solidFill>
                  <a:srgbClr val="FF3131"/>
                </a:solidFill>
              </a:rPr>
              <a:t>particular</a:t>
            </a:r>
            <a:r>
              <a:rPr spc="-75" dirty="0">
                <a:solidFill>
                  <a:srgbClr val="FF3131"/>
                </a:solidFill>
              </a:rPr>
              <a:t> </a:t>
            </a:r>
            <a:r>
              <a:rPr spc="170" dirty="0">
                <a:solidFill>
                  <a:srgbClr val="FF3131"/>
                </a:solidFill>
              </a:rPr>
              <a:t>key</a:t>
            </a:r>
            <a:r>
              <a:rPr spc="-70" dirty="0">
                <a:solidFill>
                  <a:srgbClr val="FF3131"/>
                </a:solidFill>
              </a:rPr>
              <a:t> </a:t>
            </a:r>
            <a:r>
              <a:rPr spc="-10" dirty="0">
                <a:solidFill>
                  <a:srgbClr val="FF3131"/>
                </a:solidFill>
              </a:rPr>
              <a:t>pairs:</a:t>
            </a:r>
          </a:p>
        </p:txBody>
      </p:sp>
      <p:sp>
        <p:nvSpPr>
          <p:cNvPr id="4" name="object 4"/>
          <p:cNvSpPr txBox="1"/>
          <p:nvPr/>
        </p:nvSpPr>
        <p:spPr>
          <a:xfrm>
            <a:off x="11717859" y="8347191"/>
            <a:ext cx="4828540" cy="1639570"/>
          </a:xfrm>
          <a:prstGeom prst="rect">
            <a:avLst/>
          </a:prstGeom>
        </p:spPr>
        <p:txBody>
          <a:bodyPr vert="horz" wrap="square" lIns="0" tIns="306070" rIns="0" bIns="0" rtlCol="0">
            <a:spAutoFit/>
          </a:bodyPr>
          <a:lstStyle/>
          <a:p>
            <a:pPr marL="1209675">
              <a:lnSpc>
                <a:spcPct val="100000"/>
              </a:lnSpc>
              <a:spcBef>
                <a:spcPts val="2410"/>
              </a:spcBef>
            </a:pPr>
            <a:r>
              <a:rPr sz="3600" spc="-10" dirty="0">
                <a:solidFill>
                  <a:srgbClr val="2E377E"/>
                </a:solidFill>
                <a:latin typeface="Georgia"/>
                <a:cs typeface="Georgia"/>
              </a:rPr>
              <a:t>POD.YML</a:t>
            </a:r>
            <a:endParaRPr sz="3600">
              <a:latin typeface="Georgia"/>
              <a:cs typeface="Georgia"/>
            </a:endParaRPr>
          </a:p>
          <a:p>
            <a:pPr marL="12700">
              <a:lnSpc>
                <a:spcPct val="100000"/>
              </a:lnSpc>
              <a:spcBef>
                <a:spcPts val="2115"/>
              </a:spcBef>
            </a:pPr>
            <a:r>
              <a:rPr sz="3300" b="1" spc="110" dirty="0">
                <a:solidFill>
                  <a:srgbClr val="FF3131"/>
                </a:solidFill>
                <a:latin typeface="Times New Roman"/>
                <a:cs typeface="Times New Roman"/>
              </a:rPr>
              <a:t>kubectl</a:t>
            </a:r>
            <a:r>
              <a:rPr sz="3300" b="1" spc="-25" dirty="0">
                <a:solidFill>
                  <a:srgbClr val="FF3131"/>
                </a:solidFill>
                <a:latin typeface="Times New Roman"/>
                <a:cs typeface="Times New Roman"/>
              </a:rPr>
              <a:t> </a:t>
            </a:r>
            <a:r>
              <a:rPr sz="3300" b="1" spc="145" dirty="0">
                <a:solidFill>
                  <a:srgbClr val="FF3131"/>
                </a:solidFill>
                <a:latin typeface="Times New Roman"/>
                <a:cs typeface="Times New Roman"/>
              </a:rPr>
              <a:t>apply</a:t>
            </a:r>
            <a:r>
              <a:rPr sz="3300" b="1" spc="-25" dirty="0">
                <a:solidFill>
                  <a:srgbClr val="FF3131"/>
                </a:solidFill>
                <a:latin typeface="Times New Roman"/>
                <a:cs typeface="Times New Roman"/>
              </a:rPr>
              <a:t> </a:t>
            </a:r>
            <a:r>
              <a:rPr sz="3300" b="1" spc="434" dirty="0">
                <a:solidFill>
                  <a:srgbClr val="FF3131"/>
                </a:solidFill>
                <a:latin typeface="Times New Roman"/>
                <a:cs typeface="Times New Roman"/>
              </a:rPr>
              <a:t>-</a:t>
            </a:r>
            <a:r>
              <a:rPr sz="3300" b="1" dirty="0">
                <a:solidFill>
                  <a:srgbClr val="FF3131"/>
                </a:solidFill>
                <a:latin typeface="Times New Roman"/>
                <a:cs typeface="Times New Roman"/>
              </a:rPr>
              <a:t>f</a:t>
            </a:r>
            <a:r>
              <a:rPr sz="3300" b="1" spc="-25" dirty="0">
                <a:solidFill>
                  <a:srgbClr val="FF3131"/>
                </a:solidFill>
                <a:latin typeface="Times New Roman"/>
                <a:cs typeface="Times New Roman"/>
              </a:rPr>
              <a:t> </a:t>
            </a:r>
            <a:r>
              <a:rPr sz="3300" b="1" spc="165" dirty="0">
                <a:solidFill>
                  <a:srgbClr val="FF3131"/>
                </a:solidFill>
                <a:latin typeface="Times New Roman"/>
                <a:cs typeface="Times New Roman"/>
              </a:rPr>
              <a:t>pod.yml</a:t>
            </a:r>
            <a:endParaRPr sz="3300">
              <a:latin typeface="Times New Roman"/>
              <a:cs typeface="Times New Roman"/>
            </a:endParaRPr>
          </a:p>
        </p:txBody>
      </p:sp>
      <p:sp>
        <p:nvSpPr>
          <p:cNvPr id="5" name="object 5"/>
          <p:cNvSpPr txBox="1"/>
          <p:nvPr/>
        </p:nvSpPr>
        <p:spPr>
          <a:xfrm>
            <a:off x="469403" y="1749829"/>
            <a:ext cx="9825990" cy="4886960"/>
          </a:xfrm>
          <a:prstGeom prst="rect">
            <a:avLst/>
          </a:prstGeom>
        </p:spPr>
        <p:txBody>
          <a:bodyPr vert="horz" wrap="square" lIns="0" tIns="12700" rIns="0" bIns="0" rtlCol="0">
            <a:spAutoFit/>
          </a:bodyPr>
          <a:lstStyle/>
          <a:p>
            <a:pPr marL="12700" marR="911225">
              <a:lnSpc>
                <a:spcPct val="116300"/>
              </a:lnSpc>
              <a:spcBef>
                <a:spcPts val="100"/>
              </a:spcBef>
            </a:pPr>
            <a:r>
              <a:rPr sz="3600" spc="140" dirty="0">
                <a:solidFill>
                  <a:srgbClr val="2E377E"/>
                </a:solidFill>
                <a:latin typeface="Georgia"/>
                <a:cs typeface="Georgia"/>
              </a:rPr>
              <a:t>we</a:t>
            </a:r>
            <a:r>
              <a:rPr sz="3600" spc="-25" dirty="0">
                <a:solidFill>
                  <a:srgbClr val="2E377E"/>
                </a:solidFill>
                <a:latin typeface="Georgia"/>
                <a:cs typeface="Georgia"/>
              </a:rPr>
              <a:t> </a:t>
            </a:r>
            <a:r>
              <a:rPr sz="3600" spc="55" dirty="0">
                <a:solidFill>
                  <a:srgbClr val="2E377E"/>
                </a:solidFill>
                <a:latin typeface="Georgia"/>
                <a:cs typeface="Georgia"/>
              </a:rPr>
              <a:t>have</a:t>
            </a:r>
            <a:r>
              <a:rPr sz="3600" spc="-25" dirty="0">
                <a:solidFill>
                  <a:srgbClr val="2E377E"/>
                </a:solidFill>
                <a:latin typeface="Georgia"/>
                <a:cs typeface="Georgia"/>
              </a:rPr>
              <a:t> </a:t>
            </a:r>
            <a:r>
              <a:rPr sz="3600" spc="50" dirty="0">
                <a:solidFill>
                  <a:srgbClr val="2E377E"/>
                </a:solidFill>
                <a:latin typeface="Georgia"/>
                <a:cs typeface="Georgia"/>
              </a:rPr>
              <a:t>created</a:t>
            </a:r>
            <a:r>
              <a:rPr sz="3600" spc="-25" dirty="0">
                <a:solidFill>
                  <a:srgbClr val="2E377E"/>
                </a:solidFill>
                <a:latin typeface="Georgia"/>
                <a:cs typeface="Georgia"/>
              </a:rPr>
              <a:t> </a:t>
            </a:r>
            <a:r>
              <a:rPr sz="3600" dirty="0">
                <a:solidFill>
                  <a:srgbClr val="2E377E"/>
                </a:solidFill>
                <a:latin typeface="Georgia"/>
                <a:cs typeface="Georgia"/>
              </a:rPr>
              <a:t>four</a:t>
            </a:r>
            <a:r>
              <a:rPr sz="3600" spc="-25" dirty="0">
                <a:solidFill>
                  <a:srgbClr val="2E377E"/>
                </a:solidFill>
                <a:latin typeface="Georgia"/>
                <a:cs typeface="Georgia"/>
              </a:rPr>
              <a:t> </a:t>
            </a:r>
            <a:r>
              <a:rPr sz="3600" spc="85" dirty="0">
                <a:solidFill>
                  <a:srgbClr val="2E377E"/>
                </a:solidFill>
                <a:latin typeface="Georgia"/>
                <a:cs typeface="Georgia"/>
              </a:rPr>
              <a:t>types</a:t>
            </a:r>
            <a:r>
              <a:rPr sz="3600" spc="-20"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spc="45" dirty="0">
                <a:solidFill>
                  <a:srgbClr val="2E377E"/>
                </a:solidFill>
                <a:latin typeface="Georgia"/>
                <a:cs typeface="Georgia"/>
              </a:rPr>
              <a:t>Secrets</a:t>
            </a:r>
            <a:r>
              <a:rPr sz="3600" spc="-25" dirty="0">
                <a:solidFill>
                  <a:srgbClr val="2E377E"/>
                </a:solidFill>
                <a:latin typeface="Georgia"/>
                <a:cs typeface="Georgia"/>
              </a:rPr>
              <a:t> </a:t>
            </a:r>
            <a:r>
              <a:rPr sz="3600" spc="35" dirty="0">
                <a:solidFill>
                  <a:srgbClr val="2E377E"/>
                </a:solidFill>
                <a:latin typeface="Georgia"/>
                <a:cs typeface="Georgia"/>
              </a:rPr>
              <a:t>but </a:t>
            </a:r>
            <a:r>
              <a:rPr sz="3600" dirty="0">
                <a:solidFill>
                  <a:srgbClr val="2E377E"/>
                </a:solidFill>
                <a:latin typeface="Georgia"/>
                <a:cs typeface="Georgia"/>
              </a:rPr>
              <a:t>here,</a:t>
            </a:r>
            <a:r>
              <a:rPr sz="3600" spc="-15"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dirty="0">
                <a:solidFill>
                  <a:srgbClr val="2E377E"/>
                </a:solidFill>
                <a:latin typeface="Georgia"/>
                <a:cs typeface="Georgia"/>
              </a:rPr>
              <a:t>learn</a:t>
            </a:r>
            <a:r>
              <a:rPr sz="3600" spc="-15" dirty="0">
                <a:solidFill>
                  <a:srgbClr val="2E377E"/>
                </a:solidFill>
                <a:latin typeface="Georgia"/>
                <a:cs typeface="Georgia"/>
              </a:rPr>
              <a:t> </a:t>
            </a:r>
            <a:r>
              <a:rPr sz="3600" spc="75" dirty="0">
                <a:solidFill>
                  <a:srgbClr val="2E377E"/>
                </a:solidFill>
                <a:latin typeface="Georgia"/>
                <a:cs typeface="Georgia"/>
              </a:rPr>
              <a:t>how</a:t>
            </a:r>
            <a:r>
              <a:rPr sz="3600" spc="-15"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spc="50" dirty="0">
                <a:solidFill>
                  <a:srgbClr val="2E377E"/>
                </a:solidFill>
                <a:latin typeface="Georgia"/>
                <a:cs typeface="Georgia"/>
              </a:rPr>
              <a:t>use</a:t>
            </a:r>
            <a:r>
              <a:rPr sz="3600" spc="-15" dirty="0">
                <a:solidFill>
                  <a:srgbClr val="2E377E"/>
                </a:solidFill>
                <a:latin typeface="Georgia"/>
                <a:cs typeface="Georgia"/>
              </a:rPr>
              <a:t> </a:t>
            </a:r>
            <a:r>
              <a:rPr sz="3600" dirty="0">
                <a:solidFill>
                  <a:srgbClr val="2E377E"/>
                </a:solidFill>
                <a:latin typeface="Georgia"/>
                <a:cs typeface="Georgia"/>
              </a:rPr>
              <a:t>those</a:t>
            </a:r>
            <a:r>
              <a:rPr sz="3600" spc="-15" dirty="0">
                <a:solidFill>
                  <a:srgbClr val="2E377E"/>
                </a:solidFill>
                <a:latin typeface="Georgia"/>
                <a:cs typeface="Georgia"/>
              </a:rPr>
              <a:t> </a:t>
            </a:r>
            <a:r>
              <a:rPr sz="3600" spc="35" dirty="0">
                <a:solidFill>
                  <a:srgbClr val="2E377E"/>
                </a:solidFill>
                <a:latin typeface="Georgia"/>
                <a:cs typeface="Georgia"/>
              </a:rPr>
              <a:t>Secrets </a:t>
            </a:r>
            <a:r>
              <a:rPr sz="3600" spc="95" dirty="0">
                <a:solidFill>
                  <a:srgbClr val="2E377E"/>
                </a:solidFill>
                <a:latin typeface="Georgia"/>
                <a:cs typeface="Georgia"/>
              </a:rPr>
              <a:t>by</a:t>
            </a:r>
            <a:r>
              <a:rPr sz="3600" spc="10" dirty="0">
                <a:solidFill>
                  <a:srgbClr val="2E377E"/>
                </a:solidFill>
                <a:latin typeface="Georgia"/>
                <a:cs typeface="Georgia"/>
              </a:rPr>
              <a:t> </a:t>
            </a:r>
            <a:r>
              <a:rPr sz="3600" dirty="0">
                <a:solidFill>
                  <a:srgbClr val="2E377E"/>
                </a:solidFill>
                <a:latin typeface="Georgia"/>
                <a:cs typeface="Georgia"/>
              </a:rPr>
              <a:t>injecting</a:t>
            </a:r>
            <a:r>
              <a:rPr sz="3600" spc="10" dirty="0">
                <a:solidFill>
                  <a:srgbClr val="2E377E"/>
                </a:solidFill>
                <a:latin typeface="Georgia"/>
                <a:cs typeface="Georgia"/>
              </a:rPr>
              <a:t> </a:t>
            </a:r>
            <a:r>
              <a:rPr sz="3600" spc="45" dirty="0">
                <a:solidFill>
                  <a:srgbClr val="2E377E"/>
                </a:solidFill>
                <a:latin typeface="Georgia"/>
                <a:cs typeface="Georgia"/>
              </a:rPr>
              <a:t>Secrets</a:t>
            </a:r>
            <a:r>
              <a:rPr sz="3600" spc="15"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spc="-10" dirty="0">
                <a:solidFill>
                  <a:srgbClr val="2E377E"/>
                </a:solidFill>
                <a:latin typeface="Georgia"/>
                <a:cs typeface="Georgia"/>
              </a:rPr>
              <a:t>pods.</a:t>
            </a:r>
            <a:endParaRPr sz="3600">
              <a:latin typeface="Georgia"/>
              <a:cs typeface="Georgia"/>
            </a:endParaRPr>
          </a:p>
          <a:p>
            <a:pPr>
              <a:lnSpc>
                <a:spcPct val="100000"/>
              </a:lnSpc>
            </a:pPr>
            <a:endParaRPr sz="3600">
              <a:latin typeface="Georgia"/>
              <a:cs typeface="Georgia"/>
            </a:endParaRPr>
          </a:p>
          <a:p>
            <a:pPr>
              <a:lnSpc>
                <a:spcPct val="100000"/>
              </a:lnSpc>
              <a:spcBef>
                <a:spcPts val="655"/>
              </a:spcBef>
            </a:pPr>
            <a:endParaRPr sz="3600">
              <a:latin typeface="Georgia"/>
              <a:cs typeface="Georgia"/>
            </a:endParaRPr>
          </a:p>
          <a:p>
            <a:pPr marL="12700">
              <a:lnSpc>
                <a:spcPct val="100000"/>
              </a:lnSpc>
            </a:pPr>
            <a:r>
              <a:rPr sz="3600" dirty="0">
                <a:solidFill>
                  <a:srgbClr val="2E377E"/>
                </a:solidFill>
                <a:latin typeface="Georgia"/>
                <a:cs typeface="Georgia"/>
              </a:rPr>
              <a:t>Create</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file</a:t>
            </a:r>
            <a:r>
              <a:rPr sz="3600" spc="20" dirty="0">
                <a:solidFill>
                  <a:srgbClr val="2E377E"/>
                </a:solidFill>
                <a:latin typeface="Georgia"/>
                <a:cs typeface="Georgia"/>
              </a:rPr>
              <a:t> </a:t>
            </a:r>
            <a:r>
              <a:rPr sz="3600" dirty="0">
                <a:solidFill>
                  <a:srgbClr val="2E377E"/>
                </a:solidFill>
                <a:latin typeface="Georgia"/>
                <a:cs typeface="Georgia"/>
              </a:rPr>
              <a:t>for</a:t>
            </a:r>
            <a:r>
              <a:rPr sz="3600" spc="15"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spc="80" dirty="0">
                <a:solidFill>
                  <a:srgbClr val="2E377E"/>
                </a:solidFill>
                <a:latin typeface="Georgia"/>
                <a:cs typeface="Georgia"/>
              </a:rPr>
              <a:t>execute</a:t>
            </a:r>
            <a:r>
              <a:rPr sz="3600" spc="20" dirty="0">
                <a:solidFill>
                  <a:srgbClr val="2E377E"/>
                </a:solidFill>
                <a:latin typeface="Georgia"/>
                <a:cs typeface="Georgia"/>
              </a:rPr>
              <a:t> </a:t>
            </a:r>
            <a:r>
              <a:rPr sz="3600" spc="40" dirty="0">
                <a:solidFill>
                  <a:srgbClr val="2E377E"/>
                </a:solidFill>
                <a:latin typeface="Georgia"/>
                <a:cs typeface="Georgia"/>
              </a:rPr>
              <a:t>it</a:t>
            </a:r>
            <a:endParaRPr sz="3600">
              <a:latin typeface="Georgia"/>
              <a:cs typeface="Georgia"/>
            </a:endParaRPr>
          </a:p>
          <a:p>
            <a:pPr marL="12700" marR="5080">
              <a:lnSpc>
                <a:spcPct val="116300"/>
              </a:lnSpc>
            </a:pPr>
            <a:r>
              <a:rPr sz="3600" dirty="0">
                <a:solidFill>
                  <a:srgbClr val="2E377E"/>
                </a:solidFill>
                <a:latin typeface="Georgia"/>
                <a:cs typeface="Georgia"/>
              </a:rPr>
              <a:t>Inside</a:t>
            </a:r>
            <a:r>
              <a:rPr sz="3600" spc="-15"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pod.yml</a:t>
            </a:r>
            <a:r>
              <a:rPr sz="3600" spc="-15" dirty="0">
                <a:solidFill>
                  <a:srgbClr val="2E377E"/>
                </a:solidFill>
                <a:latin typeface="Georgia"/>
                <a:cs typeface="Georgia"/>
              </a:rPr>
              <a:t> </a:t>
            </a:r>
            <a:r>
              <a:rPr sz="3600" spc="140" dirty="0">
                <a:solidFill>
                  <a:srgbClr val="2E377E"/>
                </a:solidFill>
                <a:latin typeface="Georgia"/>
                <a:cs typeface="Georgia"/>
              </a:rPr>
              <a:t>we</a:t>
            </a:r>
            <a:r>
              <a:rPr sz="3600" spc="-20" dirty="0">
                <a:solidFill>
                  <a:srgbClr val="2E377E"/>
                </a:solidFill>
                <a:latin typeface="Georgia"/>
                <a:cs typeface="Georgia"/>
              </a:rPr>
              <a:t> </a:t>
            </a:r>
            <a:r>
              <a:rPr sz="3600" spc="55" dirty="0">
                <a:solidFill>
                  <a:srgbClr val="2E377E"/>
                </a:solidFill>
                <a:latin typeface="Georgia"/>
                <a:cs typeface="Georgia"/>
              </a:rPr>
              <a:t>have</a:t>
            </a:r>
            <a:r>
              <a:rPr sz="3600" spc="-15" dirty="0">
                <a:solidFill>
                  <a:srgbClr val="2E377E"/>
                </a:solidFill>
                <a:latin typeface="Georgia"/>
                <a:cs typeface="Georgia"/>
              </a:rPr>
              <a:t> </a:t>
            </a:r>
            <a:r>
              <a:rPr sz="3600" spc="7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declare</a:t>
            </a:r>
            <a:r>
              <a:rPr sz="3600" spc="-15" dirty="0">
                <a:solidFill>
                  <a:srgbClr val="2E377E"/>
                </a:solidFill>
                <a:latin typeface="Georgia"/>
                <a:cs typeface="Georgia"/>
              </a:rPr>
              <a:t> </a:t>
            </a:r>
            <a:r>
              <a:rPr sz="3600" spc="65" dirty="0">
                <a:solidFill>
                  <a:srgbClr val="2E377E"/>
                </a:solidFill>
                <a:latin typeface="Georgia"/>
                <a:cs typeface="Georgia"/>
              </a:rPr>
              <a:t>any</a:t>
            </a:r>
            <a:r>
              <a:rPr sz="3600" spc="-15" dirty="0">
                <a:solidFill>
                  <a:srgbClr val="2E377E"/>
                </a:solidFill>
                <a:latin typeface="Georgia"/>
                <a:cs typeface="Georgia"/>
              </a:rPr>
              <a:t> </a:t>
            </a:r>
            <a:r>
              <a:rPr sz="3600" spc="35" dirty="0">
                <a:solidFill>
                  <a:srgbClr val="2E377E"/>
                </a:solidFill>
                <a:latin typeface="Georgia"/>
                <a:cs typeface="Georgia"/>
              </a:rPr>
              <a:t>value </a:t>
            </a:r>
            <a:r>
              <a:rPr sz="3600" dirty="0">
                <a:solidFill>
                  <a:srgbClr val="2E377E"/>
                </a:solidFill>
                <a:latin typeface="Georgia"/>
                <a:cs typeface="Georgia"/>
              </a:rPr>
              <a:t>from</a:t>
            </a:r>
            <a:r>
              <a:rPr sz="3600" spc="70" dirty="0">
                <a:solidFill>
                  <a:srgbClr val="2E377E"/>
                </a:solidFill>
                <a:latin typeface="Georgia"/>
                <a:cs typeface="Georgia"/>
              </a:rPr>
              <a:t> </a:t>
            </a:r>
            <a:r>
              <a:rPr sz="3600" dirty="0">
                <a:solidFill>
                  <a:srgbClr val="2E377E"/>
                </a:solidFill>
                <a:latin typeface="Georgia"/>
                <a:cs typeface="Georgia"/>
              </a:rPr>
              <a:t>our</a:t>
            </a:r>
            <a:r>
              <a:rPr sz="3600" spc="70" dirty="0">
                <a:solidFill>
                  <a:srgbClr val="2E377E"/>
                </a:solidFill>
                <a:latin typeface="Georgia"/>
                <a:cs typeface="Georgia"/>
              </a:rPr>
              <a:t> </a:t>
            </a:r>
            <a:r>
              <a:rPr sz="3600" spc="55" dirty="0">
                <a:solidFill>
                  <a:srgbClr val="2E377E"/>
                </a:solidFill>
                <a:latin typeface="Georgia"/>
                <a:cs typeface="Georgia"/>
              </a:rPr>
              <a:t>secret</a:t>
            </a:r>
            <a:endParaRPr sz="3600">
              <a:latin typeface="Georgia"/>
              <a:cs typeface="Georgia"/>
            </a:endParaRPr>
          </a:p>
        </p:txBody>
      </p:sp>
      <p:sp>
        <p:nvSpPr>
          <p:cNvPr id="6" name="object 6"/>
          <p:cNvSpPr txBox="1"/>
          <p:nvPr/>
        </p:nvSpPr>
        <p:spPr>
          <a:xfrm>
            <a:off x="469403" y="7180595"/>
            <a:ext cx="9779635" cy="257810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After</a:t>
            </a:r>
            <a:r>
              <a:rPr sz="3600" spc="25" dirty="0">
                <a:solidFill>
                  <a:srgbClr val="2E377E"/>
                </a:solidFill>
                <a:latin typeface="Georgia"/>
                <a:cs typeface="Georgia"/>
              </a:rPr>
              <a:t> </a:t>
            </a:r>
            <a:r>
              <a:rPr sz="3600" dirty="0">
                <a:solidFill>
                  <a:srgbClr val="2E377E"/>
                </a:solidFill>
                <a:latin typeface="Georgia"/>
                <a:cs typeface="Georgia"/>
              </a:rPr>
              <a:t>creating</a:t>
            </a:r>
            <a:r>
              <a:rPr sz="3600" spc="25" dirty="0">
                <a:solidFill>
                  <a:srgbClr val="2E377E"/>
                </a:solidFill>
                <a:latin typeface="Georgia"/>
                <a:cs typeface="Georgia"/>
              </a:rPr>
              <a:t> </a:t>
            </a:r>
            <a:r>
              <a:rPr sz="3600" spc="6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spc="65" dirty="0">
                <a:solidFill>
                  <a:srgbClr val="2E377E"/>
                </a:solidFill>
                <a:latin typeface="Georgia"/>
                <a:cs typeface="Georgia"/>
              </a:rPr>
              <a:t>enter</a:t>
            </a:r>
            <a:r>
              <a:rPr sz="3600" spc="30" dirty="0">
                <a:solidFill>
                  <a:srgbClr val="2E377E"/>
                </a:solidFill>
                <a:latin typeface="Georgia"/>
                <a:cs typeface="Georgia"/>
              </a:rPr>
              <a:t> </a:t>
            </a:r>
            <a:r>
              <a:rPr sz="3600" dirty="0">
                <a:solidFill>
                  <a:srgbClr val="2E377E"/>
                </a:solidFill>
                <a:latin typeface="Georgia"/>
                <a:cs typeface="Georgia"/>
              </a:rPr>
              <a:t>into</a:t>
            </a:r>
            <a:r>
              <a:rPr sz="3600" spc="25"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pod</a:t>
            </a:r>
            <a:r>
              <a:rPr sz="3600" spc="30" dirty="0">
                <a:solidFill>
                  <a:srgbClr val="2E377E"/>
                </a:solidFill>
                <a:latin typeface="Georgia"/>
                <a:cs typeface="Georgia"/>
              </a:rPr>
              <a:t> </a:t>
            </a:r>
            <a:r>
              <a:rPr sz="3600" spc="-10" dirty="0">
                <a:solidFill>
                  <a:srgbClr val="2E377E"/>
                </a:solidFill>
                <a:latin typeface="Georgia"/>
                <a:cs typeface="Georgia"/>
              </a:rPr>
              <a:t>using</a:t>
            </a:r>
            <a:endParaRPr sz="3600">
              <a:latin typeface="Georgia"/>
              <a:cs typeface="Georgia"/>
            </a:endParaRPr>
          </a:p>
          <a:p>
            <a:pPr marL="12700">
              <a:lnSpc>
                <a:spcPct val="100000"/>
              </a:lnSpc>
              <a:spcBef>
                <a:spcPts val="705"/>
              </a:spcBef>
            </a:pPr>
            <a:r>
              <a:rPr sz="3600" spc="204" dirty="0">
                <a:solidFill>
                  <a:srgbClr val="2E377E"/>
                </a:solidFill>
                <a:latin typeface="Times New Roman"/>
                <a:cs typeface="Times New Roman"/>
              </a:rPr>
              <a:t>kubectl</a:t>
            </a:r>
            <a:r>
              <a:rPr sz="3600" spc="-85" dirty="0">
                <a:solidFill>
                  <a:srgbClr val="2E377E"/>
                </a:solidFill>
                <a:latin typeface="Times New Roman"/>
                <a:cs typeface="Times New Roman"/>
              </a:rPr>
              <a:t> </a:t>
            </a:r>
            <a:r>
              <a:rPr sz="3600" spc="155" dirty="0">
                <a:solidFill>
                  <a:srgbClr val="2E377E"/>
                </a:solidFill>
                <a:latin typeface="Times New Roman"/>
                <a:cs typeface="Times New Roman"/>
              </a:rPr>
              <a:t>exec</a:t>
            </a:r>
            <a:r>
              <a:rPr sz="3600" spc="-85" dirty="0">
                <a:solidFill>
                  <a:srgbClr val="2E377E"/>
                </a:solidFill>
                <a:latin typeface="Times New Roman"/>
                <a:cs typeface="Times New Roman"/>
              </a:rPr>
              <a:t> </a:t>
            </a:r>
            <a:r>
              <a:rPr sz="3600" spc="180" dirty="0">
                <a:solidFill>
                  <a:srgbClr val="2E377E"/>
                </a:solidFill>
                <a:latin typeface="Times New Roman"/>
                <a:cs typeface="Times New Roman"/>
              </a:rPr>
              <a:t>-</a:t>
            </a:r>
            <a:r>
              <a:rPr sz="3600" spc="210" dirty="0">
                <a:solidFill>
                  <a:srgbClr val="2E377E"/>
                </a:solidFill>
                <a:latin typeface="Times New Roman"/>
                <a:cs typeface="Times New Roman"/>
              </a:rPr>
              <a:t>it</a:t>
            </a:r>
            <a:r>
              <a:rPr sz="3600" spc="-80" dirty="0">
                <a:solidFill>
                  <a:srgbClr val="2E377E"/>
                </a:solidFill>
                <a:latin typeface="Times New Roman"/>
                <a:cs typeface="Times New Roman"/>
              </a:rPr>
              <a:t> </a:t>
            </a:r>
            <a:r>
              <a:rPr sz="3600" spc="305" dirty="0">
                <a:solidFill>
                  <a:srgbClr val="2E377E"/>
                </a:solidFill>
                <a:latin typeface="Times New Roman"/>
                <a:cs typeface="Times New Roman"/>
              </a:rPr>
              <a:t>pod_name</a:t>
            </a:r>
            <a:r>
              <a:rPr sz="3600" spc="-85" dirty="0">
                <a:solidFill>
                  <a:srgbClr val="2E377E"/>
                </a:solidFill>
                <a:latin typeface="Times New Roman"/>
                <a:cs typeface="Times New Roman"/>
              </a:rPr>
              <a:t> </a:t>
            </a:r>
            <a:r>
              <a:rPr sz="3600" spc="245" dirty="0">
                <a:solidFill>
                  <a:srgbClr val="2E377E"/>
                </a:solidFill>
                <a:latin typeface="Times New Roman"/>
                <a:cs typeface="Times New Roman"/>
              </a:rPr>
              <a:t>/bin/bash</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Once</a:t>
            </a:r>
            <a:r>
              <a:rPr sz="3600" spc="-5" dirty="0">
                <a:solidFill>
                  <a:srgbClr val="2E377E"/>
                </a:solidFill>
                <a:latin typeface="Georgia"/>
                <a:cs typeface="Georgia"/>
              </a:rPr>
              <a:t> </a:t>
            </a:r>
            <a:r>
              <a:rPr sz="3600" spc="90" dirty="0">
                <a:solidFill>
                  <a:srgbClr val="2E377E"/>
                </a:solidFill>
                <a:latin typeface="Georgia"/>
                <a:cs typeface="Georgia"/>
              </a:rPr>
              <a:t>you</a:t>
            </a:r>
            <a:r>
              <a:rPr sz="3600" dirty="0">
                <a:solidFill>
                  <a:srgbClr val="2E377E"/>
                </a:solidFill>
                <a:latin typeface="Georgia"/>
                <a:cs typeface="Georgia"/>
              </a:rPr>
              <a:t> </a:t>
            </a:r>
            <a:r>
              <a:rPr sz="3600" spc="55" dirty="0">
                <a:solidFill>
                  <a:srgbClr val="2E377E"/>
                </a:solidFill>
                <a:latin typeface="Georgia"/>
                <a:cs typeface="Georgia"/>
              </a:rPr>
              <a:t>entered</a:t>
            </a:r>
            <a:r>
              <a:rPr sz="3600" dirty="0">
                <a:solidFill>
                  <a:srgbClr val="2E377E"/>
                </a:solidFill>
                <a:latin typeface="Georgia"/>
                <a:cs typeface="Georgia"/>
              </a:rPr>
              <a:t> into</a:t>
            </a:r>
            <a:r>
              <a:rPr sz="3600" spc="-5" dirty="0">
                <a:solidFill>
                  <a:srgbClr val="2E377E"/>
                </a:solidFill>
                <a:latin typeface="Georgia"/>
                <a:cs typeface="Georgia"/>
              </a:rPr>
              <a:t> </a:t>
            </a:r>
            <a:r>
              <a:rPr sz="3600" dirty="0">
                <a:solidFill>
                  <a:srgbClr val="2E377E"/>
                </a:solidFill>
                <a:latin typeface="Georgia"/>
                <a:cs typeface="Georgia"/>
              </a:rPr>
              <a:t>pod </a:t>
            </a:r>
            <a:r>
              <a:rPr sz="3600" spc="70" dirty="0">
                <a:solidFill>
                  <a:srgbClr val="2E377E"/>
                </a:solidFill>
                <a:latin typeface="Georgia"/>
                <a:cs typeface="Georgia"/>
              </a:rPr>
              <a:t>give</a:t>
            </a:r>
            <a:r>
              <a:rPr sz="3600" dirty="0">
                <a:solidFill>
                  <a:srgbClr val="2E377E"/>
                </a:solidFill>
                <a:latin typeface="Georgia"/>
                <a:cs typeface="Georgia"/>
              </a:rPr>
              <a:t> a</a:t>
            </a:r>
            <a:r>
              <a:rPr sz="3600" spc="-5" dirty="0">
                <a:solidFill>
                  <a:srgbClr val="2E377E"/>
                </a:solidFill>
                <a:latin typeface="Georgia"/>
                <a:cs typeface="Georgia"/>
              </a:rPr>
              <a:t> </a:t>
            </a:r>
            <a:r>
              <a:rPr sz="3600" dirty="0">
                <a:solidFill>
                  <a:srgbClr val="2E377E"/>
                </a:solidFill>
                <a:latin typeface="Georgia"/>
                <a:cs typeface="Georgia"/>
              </a:rPr>
              <a:t>command</a:t>
            </a:r>
            <a:r>
              <a:rPr sz="3600" spc="5" dirty="0">
                <a:solidFill>
                  <a:srgbClr val="2E377E"/>
                </a:solidFill>
                <a:latin typeface="Georgia"/>
                <a:cs typeface="Georgia"/>
              </a:rPr>
              <a:t> </a:t>
            </a:r>
            <a:r>
              <a:rPr sz="3600" spc="210" dirty="0">
                <a:solidFill>
                  <a:srgbClr val="2E377E"/>
                </a:solidFill>
                <a:latin typeface="Times New Roman"/>
                <a:cs typeface="Times New Roman"/>
              </a:rPr>
              <a:t>env</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That</a:t>
            </a:r>
            <a:r>
              <a:rPr sz="3600" spc="15"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dirty="0">
                <a:solidFill>
                  <a:srgbClr val="2E377E"/>
                </a:solidFill>
                <a:latin typeface="Georgia"/>
                <a:cs typeface="Georgia"/>
              </a:rPr>
              <a:t>print</a:t>
            </a:r>
            <a:r>
              <a:rPr sz="3600" spc="1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list</a:t>
            </a:r>
            <a:r>
              <a:rPr sz="3600" spc="15"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10" dirty="0">
                <a:solidFill>
                  <a:srgbClr val="2E377E"/>
                </a:solidFill>
                <a:latin typeface="Georgia"/>
                <a:cs typeface="Georgia"/>
              </a:rPr>
              <a:t>environments.</a:t>
            </a:r>
            <a:endParaRPr sz="3600">
              <a:latin typeface="Georgia"/>
              <a:cs typeface="Georgia"/>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197562" y="1575988"/>
            <a:ext cx="7848599" cy="5857874"/>
          </a:xfrm>
          <a:prstGeom prst="rect">
            <a:avLst/>
          </a:prstGeom>
        </p:spPr>
      </p:pic>
      <p:sp>
        <p:nvSpPr>
          <p:cNvPr id="3" name="object 3"/>
          <p:cNvSpPr txBox="1">
            <a:spLocks noGrp="1"/>
          </p:cNvSpPr>
          <p:nvPr>
            <p:ph type="title"/>
          </p:nvPr>
        </p:nvSpPr>
        <p:spPr>
          <a:xfrm>
            <a:off x="469403" y="402360"/>
            <a:ext cx="13124815" cy="787400"/>
          </a:xfrm>
          <a:prstGeom prst="rect">
            <a:avLst/>
          </a:prstGeom>
        </p:spPr>
        <p:txBody>
          <a:bodyPr vert="horz" wrap="square" lIns="0" tIns="12700" rIns="0" bIns="0" rtlCol="0">
            <a:spAutoFit/>
          </a:bodyPr>
          <a:lstStyle/>
          <a:p>
            <a:pPr marL="12700">
              <a:lnSpc>
                <a:spcPct val="100000"/>
              </a:lnSpc>
              <a:spcBef>
                <a:spcPts val="100"/>
              </a:spcBef>
            </a:pPr>
            <a:r>
              <a:rPr spc="110" dirty="0">
                <a:solidFill>
                  <a:srgbClr val="FF3131"/>
                </a:solidFill>
              </a:rPr>
              <a:t>Injecting</a:t>
            </a:r>
            <a:r>
              <a:rPr spc="-35" dirty="0">
                <a:solidFill>
                  <a:srgbClr val="FF3131"/>
                </a:solidFill>
              </a:rPr>
              <a:t> </a:t>
            </a:r>
            <a:r>
              <a:rPr spc="204" dirty="0">
                <a:solidFill>
                  <a:srgbClr val="FF3131"/>
                </a:solidFill>
              </a:rPr>
              <a:t>the</a:t>
            </a:r>
            <a:r>
              <a:rPr spc="-35" dirty="0">
                <a:solidFill>
                  <a:srgbClr val="FF3131"/>
                </a:solidFill>
              </a:rPr>
              <a:t> </a:t>
            </a:r>
            <a:r>
              <a:rPr spc="285" dirty="0">
                <a:solidFill>
                  <a:srgbClr val="FF3131"/>
                </a:solidFill>
              </a:rPr>
              <a:t>environment</a:t>
            </a:r>
            <a:r>
              <a:rPr spc="-35" dirty="0">
                <a:solidFill>
                  <a:srgbClr val="FF3131"/>
                </a:solidFill>
              </a:rPr>
              <a:t> </a:t>
            </a:r>
            <a:r>
              <a:rPr spc="125" dirty="0">
                <a:solidFill>
                  <a:srgbClr val="FF3131"/>
                </a:solidFill>
              </a:rPr>
              <a:t>file</a:t>
            </a:r>
            <a:r>
              <a:rPr spc="-35" dirty="0">
                <a:solidFill>
                  <a:srgbClr val="FF3131"/>
                </a:solidFill>
              </a:rPr>
              <a:t> </a:t>
            </a:r>
            <a:r>
              <a:rPr spc="155" dirty="0">
                <a:solidFill>
                  <a:srgbClr val="FF3131"/>
                </a:solidFill>
              </a:rPr>
              <a:t>secrets</a:t>
            </a:r>
            <a:r>
              <a:rPr spc="-30" dirty="0">
                <a:solidFill>
                  <a:srgbClr val="FF3131"/>
                </a:solidFill>
              </a:rPr>
              <a:t> </a:t>
            </a:r>
            <a:r>
              <a:rPr spc="155" dirty="0">
                <a:solidFill>
                  <a:srgbClr val="FF3131"/>
                </a:solidFill>
              </a:rPr>
              <a:t>to</a:t>
            </a:r>
            <a:r>
              <a:rPr spc="-35" dirty="0">
                <a:solidFill>
                  <a:srgbClr val="FF3131"/>
                </a:solidFill>
              </a:rPr>
              <a:t> </a:t>
            </a:r>
            <a:r>
              <a:rPr spc="114" dirty="0">
                <a:solidFill>
                  <a:srgbClr val="FF3131"/>
                </a:solidFill>
              </a:rPr>
              <a:t>pod:</a:t>
            </a:r>
          </a:p>
        </p:txBody>
      </p:sp>
      <p:sp>
        <p:nvSpPr>
          <p:cNvPr id="4" name="object 4"/>
          <p:cNvSpPr txBox="1">
            <a:spLocks noGrp="1"/>
          </p:cNvSpPr>
          <p:nvPr>
            <p:ph type="body" idx="1"/>
          </p:nvPr>
        </p:nvSpPr>
        <p:spPr>
          <a:prstGeom prst="rect">
            <a:avLst/>
          </a:prstGeom>
        </p:spPr>
        <p:txBody>
          <a:bodyPr vert="horz" wrap="square" lIns="0" tIns="282498" rIns="0" bIns="0" rtlCol="0">
            <a:spAutoFit/>
          </a:bodyPr>
          <a:lstStyle/>
          <a:p>
            <a:pPr marL="12700">
              <a:lnSpc>
                <a:spcPct val="100000"/>
              </a:lnSpc>
              <a:spcBef>
                <a:spcPts val="805"/>
              </a:spcBef>
            </a:pPr>
            <a:r>
              <a:rPr dirty="0"/>
              <a:t>Create</a:t>
            </a:r>
            <a:r>
              <a:rPr spc="15" dirty="0"/>
              <a:t> </a:t>
            </a:r>
            <a:r>
              <a:rPr dirty="0"/>
              <a:t>a</a:t>
            </a:r>
            <a:r>
              <a:rPr spc="20" dirty="0"/>
              <a:t> </a:t>
            </a:r>
            <a:r>
              <a:rPr dirty="0"/>
              <a:t>file</a:t>
            </a:r>
            <a:r>
              <a:rPr spc="20" dirty="0"/>
              <a:t> </a:t>
            </a:r>
            <a:r>
              <a:rPr dirty="0"/>
              <a:t>for</a:t>
            </a:r>
            <a:r>
              <a:rPr spc="15" dirty="0"/>
              <a:t> </a:t>
            </a:r>
            <a:r>
              <a:rPr dirty="0"/>
              <a:t>pod</a:t>
            </a:r>
            <a:r>
              <a:rPr spc="20" dirty="0"/>
              <a:t> </a:t>
            </a:r>
            <a:r>
              <a:rPr dirty="0"/>
              <a:t>and</a:t>
            </a:r>
            <a:r>
              <a:rPr spc="20" dirty="0"/>
              <a:t> </a:t>
            </a:r>
            <a:r>
              <a:rPr spc="80" dirty="0"/>
              <a:t>execute</a:t>
            </a:r>
            <a:r>
              <a:rPr spc="20" dirty="0"/>
              <a:t> </a:t>
            </a:r>
            <a:r>
              <a:rPr spc="40" dirty="0"/>
              <a:t>it</a:t>
            </a:r>
          </a:p>
          <a:p>
            <a:pPr marL="12700" marR="233045">
              <a:lnSpc>
                <a:spcPct val="116300"/>
              </a:lnSpc>
            </a:pPr>
            <a:r>
              <a:rPr dirty="0"/>
              <a:t>Inside</a:t>
            </a:r>
            <a:r>
              <a:rPr spc="-20" dirty="0"/>
              <a:t> </a:t>
            </a:r>
            <a:r>
              <a:rPr spc="60" dirty="0"/>
              <a:t>the</a:t>
            </a:r>
            <a:r>
              <a:rPr spc="-20" dirty="0"/>
              <a:t> </a:t>
            </a:r>
            <a:r>
              <a:rPr dirty="0"/>
              <a:t>pod.yml</a:t>
            </a:r>
            <a:r>
              <a:rPr spc="-15" dirty="0"/>
              <a:t> </a:t>
            </a:r>
            <a:r>
              <a:rPr spc="140" dirty="0"/>
              <a:t>we</a:t>
            </a:r>
            <a:r>
              <a:rPr spc="-20" dirty="0"/>
              <a:t> </a:t>
            </a:r>
            <a:r>
              <a:rPr spc="55" dirty="0"/>
              <a:t>have</a:t>
            </a:r>
            <a:r>
              <a:rPr spc="-15" dirty="0"/>
              <a:t> </a:t>
            </a:r>
            <a:r>
              <a:rPr spc="70" dirty="0"/>
              <a:t>to</a:t>
            </a:r>
            <a:r>
              <a:rPr spc="-20" dirty="0"/>
              <a:t> </a:t>
            </a:r>
            <a:r>
              <a:rPr dirty="0"/>
              <a:t>declare</a:t>
            </a:r>
            <a:r>
              <a:rPr spc="-15" dirty="0"/>
              <a:t> </a:t>
            </a:r>
            <a:r>
              <a:rPr dirty="0"/>
              <a:t>a</a:t>
            </a:r>
            <a:r>
              <a:rPr spc="-20" dirty="0"/>
              <a:t> </a:t>
            </a:r>
            <a:r>
              <a:rPr spc="55" dirty="0"/>
              <a:t>secret </a:t>
            </a:r>
            <a:r>
              <a:rPr dirty="0"/>
              <a:t>name</a:t>
            </a:r>
            <a:r>
              <a:rPr spc="-45" dirty="0"/>
              <a:t> </a:t>
            </a:r>
            <a:r>
              <a:rPr spc="55" dirty="0"/>
              <a:t>which</a:t>
            </a:r>
            <a:r>
              <a:rPr spc="-45" dirty="0"/>
              <a:t> </a:t>
            </a:r>
            <a:r>
              <a:rPr spc="75" dirty="0"/>
              <a:t>was</a:t>
            </a:r>
            <a:r>
              <a:rPr spc="-40" dirty="0"/>
              <a:t> </a:t>
            </a:r>
            <a:r>
              <a:rPr spc="50" dirty="0"/>
              <a:t>created</a:t>
            </a:r>
            <a:r>
              <a:rPr spc="-45" dirty="0"/>
              <a:t> </a:t>
            </a:r>
            <a:r>
              <a:rPr spc="85" dirty="0"/>
              <a:t>with</a:t>
            </a:r>
            <a:r>
              <a:rPr spc="-40" dirty="0"/>
              <a:t> </a:t>
            </a:r>
            <a:r>
              <a:rPr spc="85" dirty="0"/>
              <a:t>env</a:t>
            </a:r>
            <a:r>
              <a:rPr spc="-45" dirty="0"/>
              <a:t> </a:t>
            </a:r>
            <a:r>
              <a:rPr spc="-20" dirty="0"/>
              <a:t>file</a:t>
            </a:r>
          </a:p>
          <a:p>
            <a:pPr marL="12700">
              <a:lnSpc>
                <a:spcPct val="100000"/>
              </a:lnSpc>
              <a:spcBef>
                <a:spcPts val="2955"/>
              </a:spcBef>
            </a:pPr>
            <a:r>
              <a:rPr dirty="0"/>
              <a:t>After</a:t>
            </a:r>
            <a:r>
              <a:rPr spc="25" dirty="0"/>
              <a:t> </a:t>
            </a:r>
            <a:r>
              <a:rPr dirty="0"/>
              <a:t>creating</a:t>
            </a:r>
            <a:r>
              <a:rPr spc="25" dirty="0"/>
              <a:t> </a:t>
            </a:r>
            <a:r>
              <a:rPr spc="60" dirty="0"/>
              <a:t>the</a:t>
            </a:r>
            <a:r>
              <a:rPr spc="30" dirty="0"/>
              <a:t> </a:t>
            </a:r>
            <a:r>
              <a:rPr dirty="0"/>
              <a:t>pod,</a:t>
            </a:r>
            <a:r>
              <a:rPr spc="25" dirty="0"/>
              <a:t> </a:t>
            </a:r>
            <a:r>
              <a:rPr spc="65" dirty="0"/>
              <a:t>enter</a:t>
            </a:r>
            <a:r>
              <a:rPr spc="30" dirty="0"/>
              <a:t> </a:t>
            </a:r>
            <a:r>
              <a:rPr dirty="0"/>
              <a:t>into</a:t>
            </a:r>
            <a:r>
              <a:rPr spc="25" dirty="0"/>
              <a:t> </a:t>
            </a:r>
            <a:r>
              <a:rPr spc="60" dirty="0"/>
              <a:t>the</a:t>
            </a:r>
            <a:r>
              <a:rPr spc="25" dirty="0"/>
              <a:t> </a:t>
            </a:r>
            <a:r>
              <a:rPr dirty="0"/>
              <a:t>pod</a:t>
            </a:r>
            <a:r>
              <a:rPr spc="30" dirty="0"/>
              <a:t> </a:t>
            </a:r>
            <a:r>
              <a:rPr spc="-10" dirty="0"/>
              <a:t>using</a:t>
            </a:r>
          </a:p>
          <a:p>
            <a:pPr marL="12700">
              <a:lnSpc>
                <a:spcPct val="100000"/>
              </a:lnSpc>
              <a:spcBef>
                <a:spcPts val="705"/>
              </a:spcBef>
            </a:pPr>
            <a:r>
              <a:rPr spc="204" dirty="0">
                <a:latin typeface="Times New Roman"/>
                <a:cs typeface="Times New Roman"/>
              </a:rPr>
              <a:t>kubectl</a:t>
            </a:r>
            <a:r>
              <a:rPr spc="-85" dirty="0">
                <a:latin typeface="Times New Roman"/>
                <a:cs typeface="Times New Roman"/>
              </a:rPr>
              <a:t> </a:t>
            </a:r>
            <a:r>
              <a:rPr spc="155" dirty="0">
                <a:latin typeface="Times New Roman"/>
                <a:cs typeface="Times New Roman"/>
              </a:rPr>
              <a:t>exec</a:t>
            </a:r>
            <a:r>
              <a:rPr spc="-85" dirty="0">
                <a:latin typeface="Times New Roman"/>
                <a:cs typeface="Times New Roman"/>
              </a:rPr>
              <a:t> </a:t>
            </a:r>
            <a:r>
              <a:rPr spc="180" dirty="0">
                <a:latin typeface="Times New Roman"/>
                <a:cs typeface="Times New Roman"/>
              </a:rPr>
              <a:t>-</a:t>
            </a:r>
            <a:r>
              <a:rPr spc="210" dirty="0">
                <a:latin typeface="Times New Roman"/>
                <a:cs typeface="Times New Roman"/>
              </a:rPr>
              <a:t>it</a:t>
            </a:r>
            <a:r>
              <a:rPr spc="-80" dirty="0">
                <a:latin typeface="Times New Roman"/>
                <a:cs typeface="Times New Roman"/>
              </a:rPr>
              <a:t> </a:t>
            </a:r>
            <a:r>
              <a:rPr spc="305" dirty="0">
                <a:latin typeface="Times New Roman"/>
                <a:cs typeface="Times New Roman"/>
              </a:rPr>
              <a:t>pod_name</a:t>
            </a:r>
            <a:r>
              <a:rPr spc="-85" dirty="0">
                <a:latin typeface="Times New Roman"/>
                <a:cs typeface="Times New Roman"/>
              </a:rPr>
              <a:t> </a:t>
            </a:r>
            <a:r>
              <a:rPr spc="245" dirty="0">
                <a:latin typeface="Times New Roman"/>
                <a:cs typeface="Times New Roman"/>
              </a:rPr>
              <a:t>/bin/bash</a:t>
            </a:r>
          </a:p>
          <a:p>
            <a:pPr marL="12700">
              <a:lnSpc>
                <a:spcPct val="100000"/>
              </a:lnSpc>
              <a:spcBef>
                <a:spcPts val="705"/>
              </a:spcBef>
            </a:pPr>
            <a:r>
              <a:rPr dirty="0"/>
              <a:t>Once</a:t>
            </a:r>
            <a:r>
              <a:rPr spc="-5" dirty="0"/>
              <a:t> </a:t>
            </a:r>
            <a:r>
              <a:rPr spc="90" dirty="0"/>
              <a:t>you</a:t>
            </a:r>
            <a:r>
              <a:rPr dirty="0"/>
              <a:t> </a:t>
            </a:r>
            <a:r>
              <a:rPr spc="55" dirty="0"/>
              <a:t>entered</a:t>
            </a:r>
            <a:r>
              <a:rPr dirty="0"/>
              <a:t> into</a:t>
            </a:r>
            <a:r>
              <a:rPr spc="-5" dirty="0"/>
              <a:t> </a:t>
            </a:r>
            <a:r>
              <a:rPr dirty="0"/>
              <a:t>pod </a:t>
            </a:r>
            <a:r>
              <a:rPr spc="70" dirty="0"/>
              <a:t>give</a:t>
            </a:r>
            <a:r>
              <a:rPr dirty="0"/>
              <a:t> a</a:t>
            </a:r>
            <a:r>
              <a:rPr spc="-5" dirty="0"/>
              <a:t> </a:t>
            </a:r>
            <a:r>
              <a:rPr dirty="0"/>
              <a:t>command</a:t>
            </a:r>
            <a:r>
              <a:rPr spc="5" dirty="0"/>
              <a:t> </a:t>
            </a:r>
            <a:r>
              <a:rPr spc="75" dirty="0">
                <a:latin typeface="Times New Roman"/>
                <a:cs typeface="Times New Roman"/>
              </a:rPr>
              <a:t>ls</a:t>
            </a:r>
          </a:p>
          <a:p>
            <a:pPr marL="12700">
              <a:lnSpc>
                <a:spcPct val="100000"/>
              </a:lnSpc>
              <a:spcBef>
                <a:spcPts val="705"/>
              </a:spcBef>
            </a:pPr>
            <a:r>
              <a:rPr dirty="0"/>
              <a:t>You</a:t>
            </a:r>
            <a:r>
              <a:rPr spc="20" dirty="0"/>
              <a:t> </a:t>
            </a:r>
            <a:r>
              <a:rPr spc="55" dirty="0"/>
              <a:t>will</a:t>
            </a:r>
            <a:r>
              <a:rPr spc="25" dirty="0"/>
              <a:t> </a:t>
            </a:r>
            <a:r>
              <a:rPr dirty="0"/>
              <a:t>find</a:t>
            </a:r>
            <a:r>
              <a:rPr spc="20" dirty="0"/>
              <a:t> </a:t>
            </a:r>
            <a:r>
              <a:rPr dirty="0"/>
              <a:t>a</a:t>
            </a:r>
            <a:r>
              <a:rPr spc="25" dirty="0"/>
              <a:t> </a:t>
            </a:r>
            <a:r>
              <a:rPr dirty="0"/>
              <a:t>folder</a:t>
            </a:r>
            <a:r>
              <a:rPr spc="25" dirty="0"/>
              <a:t> </a:t>
            </a:r>
            <a:r>
              <a:rPr dirty="0"/>
              <a:t>called</a:t>
            </a:r>
            <a:r>
              <a:rPr spc="20" dirty="0"/>
              <a:t> </a:t>
            </a:r>
            <a:r>
              <a:rPr spc="60" dirty="0"/>
              <a:t>secret-</a:t>
            </a:r>
            <a:r>
              <a:rPr spc="-10" dirty="0"/>
              <a:t>values.</a:t>
            </a:r>
          </a:p>
        </p:txBody>
      </p:sp>
      <p:sp>
        <p:nvSpPr>
          <p:cNvPr id="5" name="object 5"/>
          <p:cNvSpPr txBox="1"/>
          <p:nvPr/>
        </p:nvSpPr>
        <p:spPr>
          <a:xfrm>
            <a:off x="11857392" y="7677536"/>
            <a:ext cx="4828540" cy="1639570"/>
          </a:xfrm>
          <a:prstGeom prst="rect">
            <a:avLst/>
          </a:prstGeom>
        </p:spPr>
        <p:txBody>
          <a:bodyPr vert="horz" wrap="square" lIns="0" tIns="306070" rIns="0" bIns="0" rtlCol="0">
            <a:spAutoFit/>
          </a:bodyPr>
          <a:lstStyle/>
          <a:p>
            <a:pPr marL="1209675">
              <a:lnSpc>
                <a:spcPct val="100000"/>
              </a:lnSpc>
              <a:spcBef>
                <a:spcPts val="2410"/>
              </a:spcBef>
            </a:pPr>
            <a:r>
              <a:rPr sz="3600" spc="-10" dirty="0">
                <a:solidFill>
                  <a:srgbClr val="2E377E"/>
                </a:solidFill>
                <a:latin typeface="Georgia"/>
                <a:cs typeface="Georgia"/>
              </a:rPr>
              <a:t>POD.YML</a:t>
            </a:r>
            <a:endParaRPr sz="3600">
              <a:latin typeface="Georgia"/>
              <a:cs typeface="Georgia"/>
            </a:endParaRPr>
          </a:p>
          <a:p>
            <a:pPr marL="12700">
              <a:lnSpc>
                <a:spcPct val="100000"/>
              </a:lnSpc>
              <a:spcBef>
                <a:spcPts val="2115"/>
              </a:spcBef>
            </a:pPr>
            <a:r>
              <a:rPr sz="3300" b="1" spc="110" dirty="0">
                <a:solidFill>
                  <a:srgbClr val="FF3131"/>
                </a:solidFill>
                <a:latin typeface="Times New Roman"/>
                <a:cs typeface="Times New Roman"/>
              </a:rPr>
              <a:t>kubectl</a:t>
            </a:r>
            <a:r>
              <a:rPr sz="3300" b="1" spc="-25" dirty="0">
                <a:solidFill>
                  <a:srgbClr val="FF3131"/>
                </a:solidFill>
                <a:latin typeface="Times New Roman"/>
                <a:cs typeface="Times New Roman"/>
              </a:rPr>
              <a:t> </a:t>
            </a:r>
            <a:r>
              <a:rPr sz="3300" b="1" spc="145" dirty="0">
                <a:solidFill>
                  <a:srgbClr val="FF3131"/>
                </a:solidFill>
                <a:latin typeface="Times New Roman"/>
                <a:cs typeface="Times New Roman"/>
              </a:rPr>
              <a:t>apply</a:t>
            </a:r>
            <a:r>
              <a:rPr sz="3300" b="1" spc="-25" dirty="0">
                <a:solidFill>
                  <a:srgbClr val="FF3131"/>
                </a:solidFill>
                <a:latin typeface="Times New Roman"/>
                <a:cs typeface="Times New Roman"/>
              </a:rPr>
              <a:t> </a:t>
            </a:r>
            <a:r>
              <a:rPr sz="3300" b="1" spc="434" dirty="0">
                <a:solidFill>
                  <a:srgbClr val="FF3131"/>
                </a:solidFill>
                <a:latin typeface="Times New Roman"/>
                <a:cs typeface="Times New Roman"/>
              </a:rPr>
              <a:t>-</a:t>
            </a:r>
            <a:r>
              <a:rPr sz="3300" b="1" dirty="0">
                <a:solidFill>
                  <a:srgbClr val="FF3131"/>
                </a:solidFill>
                <a:latin typeface="Times New Roman"/>
                <a:cs typeface="Times New Roman"/>
              </a:rPr>
              <a:t>f</a:t>
            </a:r>
            <a:r>
              <a:rPr sz="3300" b="1" spc="-25" dirty="0">
                <a:solidFill>
                  <a:srgbClr val="FF3131"/>
                </a:solidFill>
                <a:latin typeface="Times New Roman"/>
                <a:cs typeface="Times New Roman"/>
              </a:rPr>
              <a:t> </a:t>
            </a:r>
            <a:r>
              <a:rPr sz="3300" b="1" spc="165" dirty="0">
                <a:solidFill>
                  <a:srgbClr val="FF3131"/>
                </a:solidFill>
                <a:latin typeface="Times New Roman"/>
                <a:cs typeface="Times New Roman"/>
              </a:rPr>
              <a:t>pod.yml</a:t>
            </a:r>
            <a:endParaRPr sz="3300">
              <a:latin typeface="Times New Roman"/>
              <a:cs typeface="Times New Roman"/>
            </a:endParaRPr>
          </a:p>
        </p:txBody>
      </p:sp>
      <p:sp>
        <p:nvSpPr>
          <p:cNvPr id="6" name="object 6"/>
          <p:cNvSpPr txBox="1"/>
          <p:nvPr/>
        </p:nvSpPr>
        <p:spPr>
          <a:xfrm>
            <a:off x="469403" y="7934962"/>
            <a:ext cx="9768840" cy="130175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In</a:t>
            </a:r>
            <a:r>
              <a:rPr sz="3600" spc="-15" dirty="0">
                <a:solidFill>
                  <a:srgbClr val="2E377E"/>
                </a:solidFill>
                <a:latin typeface="Georgia"/>
                <a:cs typeface="Georgia"/>
              </a:rPr>
              <a:t> </a:t>
            </a:r>
            <a:r>
              <a:rPr sz="3600" dirty="0">
                <a:solidFill>
                  <a:srgbClr val="2E377E"/>
                </a:solidFill>
                <a:latin typeface="Georgia"/>
                <a:cs typeface="Georgia"/>
              </a:rPr>
              <a:t>side</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folder</a:t>
            </a:r>
            <a:r>
              <a:rPr sz="3600" spc="-10"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spc="75" dirty="0">
                <a:solidFill>
                  <a:srgbClr val="2E377E"/>
                </a:solidFill>
                <a:latin typeface="Georgia"/>
                <a:cs typeface="Georgia"/>
              </a:rPr>
              <a:t>get</a:t>
            </a:r>
            <a:r>
              <a:rPr sz="3600" spc="-10" dirty="0">
                <a:solidFill>
                  <a:srgbClr val="2E377E"/>
                </a:solidFill>
                <a:latin typeface="Georgia"/>
                <a:cs typeface="Georgia"/>
              </a:rPr>
              <a:t> </a:t>
            </a:r>
            <a:r>
              <a:rPr sz="3600" dirty="0">
                <a:solidFill>
                  <a:srgbClr val="2E377E"/>
                </a:solidFill>
                <a:latin typeface="Georgia"/>
                <a:cs typeface="Georgia"/>
              </a:rPr>
              <a:t>file</a:t>
            </a:r>
            <a:r>
              <a:rPr sz="3600" spc="-10" dirty="0">
                <a:solidFill>
                  <a:srgbClr val="2E377E"/>
                </a:solidFill>
                <a:latin typeface="Georgia"/>
                <a:cs typeface="Georgia"/>
              </a:rPr>
              <a:t> </a:t>
            </a:r>
            <a:r>
              <a:rPr sz="3600" dirty="0">
                <a:solidFill>
                  <a:srgbClr val="2E377E"/>
                </a:solidFill>
                <a:latin typeface="Georgia"/>
                <a:cs typeface="Georgia"/>
              </a:rPr>
              <a:t>names</a:t>
            </a:r>
            <a:r>
              <a:rPr sz="3600" spc="-15" dirty="0">
                <a:solidFill>
                  <a:srgbClr val="2E377E"/>
                </a:solidFill>
                <a:latin typeface="Georgia"/>
                <a:cs typeface="Georgia"/>
              </a:rPr>
              <a:t> </a:t>
            </a:r>
            <a:r>
              <a:rPr sz="3600" dirty="0">
                <a:solidFill>
                  <a:srgbClr val="2E377E"/>
                </a:solidFill>
                <a:latin typeface="Georgia"/>
                <a:cs typeface="Georgia"/>
              </a:rPr>
              <a:t>as</a:t>
            </a:r>
            <a:r>
              <a:rPr sz="3600" spc="-10" dirty="0">
                <a:solidFill>
                  <a:srgbClr val="2E377E"/>
                </a:solidFill>
                <a:latin typeface="Georgia"/>
                <a:cs typeface="Georgia"/>
              </a:rPr>
              <a:t> </a:t>
            </a:r>
            <a:r>
              <a:rPr sz="3600" spc="80" dirty="0">
                <a:solidFill>
                  <a:srgbClr val="2E377E"/>
                </a:solidFill>
                <a:latin typeface="Georgia"/>
                <a:cs typeface="Georgia"/>
              </a:rPr>
              <a:t>keys </a:t>
            </a:r>
            <a:r>
              <a:rPr sz="3600" dirty="0">
                <a:solidFill>
                  <a:srgbClr val="2E377E"/>
                </a:solidFill>
                <a:latin typeface="Georgia"/>
                <a:cs typeface="Georgia"/>
              </a:rPr>
              <a:t>open</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file</a:t>
            </a:r>
            <a:r>
              <a:rPr sz="3600" spc="-15" dirty="0">
                <a:solidFill>
                  <a:srgbClr val="2E377E"/>
                </a:solidFill>
                <a:latin typeface="Georgia"/>
                <a:cs typeface="Georgia"/>
              </a:rPr>
              <a:t> </a:t>
            </a:r>
            <a:r>
              <a:rPr sz="3600" dirty="0">
                <a:solidFill>
                  <a:srgbClr val="2E377E"/>
                </a:solidFill>
                <a:latin typeface="Georgia"/>
                <a:cs typeface="Georgia"/>
              </a:rPr>
              <a:t>using</a:t>
            </a:r>
            <a:r>
              <a:rPr sz="3600" spc="-15" dirty="0">
                <a:solidFill>
                  <a:srgbClr val="2E377E"/>
                </a:solidFill>
                <a:latin typeface="Georgia"/>
                <a:cs typeface="Georgia"/>
              </a:rPr>
              <a:t> </a:t>
            </a:r>
            <a:r>
              <a:rPr sz="3600" spc="215" dirty="0">
                <a:solidFill>
                  <a:srgbClr val="2E377E"/>
                </a:solidFill>
                <a:latin typeface="Times New Roman"/>
                <a:cs typeface="Times New Roman"/>
              </a:rPr>
              <a:t>cat</a:t>
            </a:r>
            <a:r>
              <a:rPr sz="3600" spc="-45" dirty="0">
                <a:solidFill>
                  <a:srgbClr val="2E377E"/>
                </a:solidFill>
                <a:latin typeface="Times New Roman"/>
                <a:cs typeface="Times New Roman"/>
              </a:rPr>
              <a:t> </a:t>
            </a:r>
            <a:r>
              <a:rPr sz="3600" spc="50" dirty="0">
                <a:solidFill>
                  <a:srgbClr val="2E377E"/>
                </a:solidFill>
                <a:latin typeface="Georgia"/>
                <a:cs typeface="Georgia"/>
              </a:rPr>
              <a:t>then</a:t>
            </a:r>
            <a:r>
              <a:rPr sz="3600" spc="-20"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spc="55" dirty="0">
                <a:solidFill>
                  <a:srgbClr val="2E377E"/>
                </a:solidFill>
                <a:latin typeface="Georgia"/>
                <a:cs typeface="Georgia"/>
              </a:rPr>
              <a:t>will</a:t>
            </a:r>
            <a:r>
              <a:rPr sz="3600" spc="-20" dirty="0">
                <a:solidFill>
                  <a:srgbClr val="2E377E"/>
                </a:solidFill>
                <a:latin typeface="Georgia"/>
                <a:cs typeface="Georgia"/>
              </a:rPr>
              <a:t> </a:t>
            </a:r>
            <a:r>
              <a:rPr sz="3600" spc="75" dirty="0">
                <a:solidFill>
                  <a:srgbClr val="2E377E"/>
                </a:solidFill>
                <a:latin typeface="Georgia"/>
                <a:cs typeface="Georgia"/>
              </a:rPr>
              <a:t>get</a:t>
            </a:r>
            <a:r>
              <a:rPr sz="3600" spc="-15" dirty="0">
                <a:solidFill>
                  <a:srgbClr val="2E377E"/>
                </a:solidFill>
                <a:latin typeface="Georgia"/>
                <a:cs typeface="Georgia"/>
              </a:rPr>
              <a:t> </a:t>
            </a:r>
            <a:r>
              <a:rPr sz="3600" spc="-10" dirty="0">
                <a:solidFill>
                  <a:srgbClr val="2E377E"/>
                </a:solidFill>
                <a:latin typeface="Georgia"/>
                <a:cs typeface="Georgia"/>
              </a:rPr>
              <a:t>labels</a:t>
            </a:r>
            <a:endParaRPr sz="3600">
              <a:latin typeface="Georgia"/>
              <a:cs typeface="Georgia"/>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64980" y="1675520"/>
            <a:ext cx="6915149" cy="6857999"/>
          </a:xfrm>
          <a:prstGeom prst="rect">
            <a:avLst/>
          </a:prstGeom>
        </p:spPr>
      </p:pic>
      <p:sp>
        <p:nvSpPr>
          <p:cNvPr id="3" name="object 3"/>
          <p:cNvSpPr txBox="1">
            <a:spLocks noGrp="1"/>
          </p:cNvSpPr>
          <p:nvPr>
            <p:ph type="title"/>
          </p:nvPr>
        </p:nvSpPr>
        <p:spPr>
          <a:xfrm>
            <a:off x="469403" y="318639"/>
            <a:ext cx="15467330" cy="1539875"/>
          </a:xfrm>
          <a:prstGeom prst="rect">
            <a:avLst/>
          </a:prstGeom>
        </p:spPr>
        <p:txBody>
          <a:bodyPr vert="horz" wrap="square" lIns="0" tIns="33655" rIns="0" bIns="0" rtlCol="0">
            <a:spAutoFit/>
          </a:bodyPr>
          <a:lstStyle/>
          <a:p>
            <a:pPr marL="12700" marR="5080">
              <a:lnSpc>
                <a:spcPts val="5930"/>
              </a:lnSpc>
              <a:spcBef>
                <a:spcPts val="265"/>
              </a:spcBef>
            </a:pPr>
            <a:r>
              <a:rPr spc="100" dirty="0">
                <a:solidFill>
                  <a:srgbClr val="FF3131"/>
                </a:solidFill>
              </a:rPr>
              <a:t>Injecting</a:t>
            </a:r>
            <a:r>
              <a:rPr spc="-80" dirty="0">
                <a:solidFill>
                  <a:srgbClr val="FF3131"/>
                </a:solidFill>
              </a:rPr>
              <a:t> </a:t>
            </a:r>
            <a:r>
              <a:rPr spc="145" dirty="0">
                <a:solidFill>
                  <a:srgbClr val="FF3131"/>
                </a:solidFill>
              </a:rPr>
              <a:t>secret</a:t>
            </a:r>
            <a:r>
              <a:rPr spc="-75" dirty="0">
                <a:solidFill>
                  <a:srgbClr val="FF3131"/>
                </a:solidFill>
              </a:rPr>
              <a:t> </a:t>
            </a:r>
            <a:r>
              <a:rPr spc="260" dirty="0">
                <a:solidFill>
                  <a:srgbClr val="FF3131"/>
                </a:solidFill>
              </a:rPr>
              <a:t>and</a:t>
            </a:r>
            <a:r>
              <a:rPr spc="-75" dirty="0">
                <a:solidFill>
                  <a:srgbClr val="FF3131"/>
                </a:solidFill>
              </a:rPr>
              <a:t> </a:t>
            </a:r>
            <a:r>
              <a:rPr spc="114" dirty="0">
                <a:solidFill>
                  <a:srgbClr val="FF3131"/>
                </a:solidFill>
              </a:rPr>
              <a:t>creating</a:t>
            </a:r>
            <a:r>
              <a:rPr spc="-75" dirty="0">
                <a:solidFill>
                  <a:srgbClr val="FF3131"/>
                </a:solidFill>
              </a:rPr>
              <a:t> </a:t>
            </a:r>
            <a:r>
              <a:rPr spc="75" dirty="0">
                <a:solidFill>
                  <a:srgbClr val="FF3131"/>
                </a:solidFill>
              </a:rPr>
              <a:t>a</a:t>
            </a:r>
            <a:r>
              <a:rPr spc="-80" dirty="0">
                <a:solidFill>
                  <a:srgbClr val="FF3131"/>
                </a:solidFill>
              </a:rPr>
              <a:t> </a:t>
            </a:r>
            <a:r>
              <a:rPr spc="114" dirty="0">
                <a:solidFill>
                  <a:srgbClr val="FF3131"/>
                </a:solidFill>
              </a:rPr>
              <a:t>file</a:t>
            </a:r>
            <a:r>
              <a:rPr spc="-75" dirty="0">
                <a:solidFill>
                  <a:srgbClr val="FF3131"/>
                </a:solidFill>
              </a:rPr>
              <a:t> </a:t>
            </a:r>
            <a:r>
              <a:rPr spc="265" dirty="0">
                <a:solidFill>
                  <a:srgbClr val="FF3131"/>
                </a:solidFill>
              </a:rPr>
              <a:t>in</a:t>
            </a:r>
            <a:r>
              <a:rPr spc="-75" dirty="0">
                <a:solidFill>
                  <a:srgbClr val="FF3131"/>
                </a:solidFill>
              </a:rPr>
              <a:t> </a:t>
            </a:r>
            <a:r>
              <a:rPr spc="195" dirty="0">
                <a:solidFill>
                  <a:srgbClr val="FF3131"/>
                </a:solidFill>
              </a:rPr>
              <a:t>the</a:t>
            </a:r>
            <a:r>
              <a:rPr spc="-75" dirty="0">
                <a:solidFill>
                  <a:srgbClr val="FF3131"/>
                </a:solidFill>
              </a:rPr>
              <a:t> </a:t>
            </a:r>
            <a:r>
              <a:rPr spc="305" dirty="0">
                <a:solidFill>
                  <a:srgbClr val="FF3131"/>
                </a:solidFill>
              </a:rPr>
              <a:t>pod</a:t>
            </a:r>
            <a:r>
              <a:rPr spc="-75" dirty="0">
                <a:solidFill>
                  <a:srgbClr val="FF3131"/>
                </a:solidFill>
              </a:rPr>
              <a:t> </a:t>
            </a:r>
            <a:r>
              <a:rPr spc="285" dirty="0">
                <a:solidFill>
                  <a:srgbClr val="FF3131"/>
                </a:solidFill>
              </a:rPr>
              <a:t>with</a:t>
            </a:r>
            <a:r>
              <a:rPr spc="-80" dirty="0">
                <a:solidFill>
                  <a:srgbClr val="FF3131"/>
                </a:solidFill>
              </a:rPr>
              <a:t> </a:t>
            </a:r>
            <a:r>
              <a:rPr spc="170" dirty="0">
                <a:solidFill>
                  <a:srgbClr val="FF3131"/>
                </a:solidFill>
              </a:rPr>
              <a:t>the </a:t>
            </a:r>
            <a:r>
              <a:rPr spc="195" dirty="0">
                <a:solidFill>
                  <a:srgbClr val="FF3131"/>
                </a:solidFill>
              </a:rPr>
              <a:t>selected</a:t>
            </a:r>
            <a:r>
              <a:rPr spc="-65" dirty="0">
                <a:solidFill>
                  <a:srgbClr val="FF3131"/>
                </a:solidFill>
              </a:rPr>
              <a:t> </a:t>
            </a:r>
            <a:r>
              <a:rPr spc="170" dirty="0">
                <a:solidFill>
                  <a:srgbClr val="FF3131"/>
                </a:solidFill>
              </a:rPr>
              <a:t>key</a:t>
            </a:r>
            <a:r>
              <a:rPr spc="-65" dirty="0">
                <a:solidFill>
                  <a:srgbClr val="FF3131"/>
                </a:solidFill>
              </a:rPr>
              <a:t> </a:t>
            </a:r>
            <a:r>
              <a:rPr spc="95" dirty="0">
                <a:solidFill>
                  <a:srgbClr val="FF3131"/>
                </a:solidFill>
              </a:rPr>
              <a:t>pairs</a:t>
            </a:r>
          </a:p>
        </p:txBody>
      </p:sp>
      <p:sp>
        <p:nvSpPr>
          <p:cNvPr id="4" name="object 4"/>
          <p:cNvSpPr txBox="1">
            <a:spLocks noGrp="1"/>
          </p:cNvSpPr>
          <p:nvPr>
            <p:ph type="body" idx="1"/>
          </p:nvPr>
        </p:nvSpPr>
        <p:spPr>
          <a:prstGeom prst="rect">
            <a:avLst/>
          </a:prstGeom>
        </p:spPr>
        <p:txBody>
          <a:bodyPr vert="horz" wrap="square" lIns="0" tIns="12700" rIns="0" bIns="0" rtlCol="0">
            <a:spAutoFit/>
          </a:bodyPr>
          <a:lstStyle/>
          <a:p>
            <a:pPr marL="12700" marR="5080">
              <a:lnSpc>
                <a:spcPct val="116300"/>
              </a:lnSpc>
              <a:spcBef>
                <a:spcPts val="100"/>
              </a:spcBef>
            </a:pPr>
            <a:r>
              <a:rPr dirty="0"/>
              <a:t>This</a:t>
            </a:r>
            <a:r>
              <a:rPr spc="-50" dirty="0"/>
              <a:t> </a:t>
            </a:r>
            <a:r>
              <a:rPr spc="55" dirty="0"/>
              <a:t>concept</a:t>
            </a:r>
            <a:r>
              <a:rPr spc="-50" dirty="0"/>
              <a:t> </a:t>
            </a:r>
            <a:r>
              <a:rPr dirty="0"/>
              <a:t>also</a:t>
            </a:r>
            <a:r>
              <a:rPr spc="-50" dirty="0"/>
              <a:t> </a:t>
            </a:r>
            <a:r>
              <a:rPr spc="55" dirty="0"/>
              <a:t>will</a:t>
            </a:r>
            <a:r>
              <a:rPr spc="-45" dirty="0"/>
              <a:t> </a:t>
            </a:r>
            <a:r>
              <a:rPr spc="80" dirty="0"/>
              <a:t>works</a:t>
            </a:r>
            <a:r>
              <a:rPr spc="-50" dirty="0"/>
              <a:t> </a:t>
            </a:r>
            <a:r>
              <a:rPr dirty="0"/>
              <a:t>as</a:t>
            </a:r>
            <a:r>
              <a:rPr spc="-50" dirty="0"/>
              <a:t> </a:t>
            </a:r>
            <a:r>
              <a:rPr dirty="0"/>
              <a:t>same</a:t>
            </a:r>
            <a:r>
              <a:rPr spc="-45" dirty="0"/>
              <a:t> </a:t>
            </a:r>
            <a:r>
              <a:rPr dirty="0"/>
              <a:t>as</a:t>
            </a:r>
            <a:r>
              <a:rPr spc="-50" dirty="0"/>
              <a:t> </a:t>
            </a:r>
            <a:r>
              <a:rPr spc="40" dirty="0"/>
              <a:t>previous </a:t>
            </a:r>
            <a:r>
              <a:rPr dirty="0"/>
              <a:t>topic. But Inside </a:t>
            </a:r>
            <a:r>
              <a:rPr spc="60" dirty="0"/>
              <a:t>the</a:t>
            </a:r>
            <a:r>
              <a:rPr spc="5" dirty="0"/>
              <a:t> </a:t>
            </a:r>
            <a:r>
              <a:rPr dirty="0"/>
              <a:t>pod </a:t>
            </a:r>
            <a:r>
              <a:rPr spc="140" dirty="0"/>
              <a:t>we</a:t>
            </a:r>
            <a:r>
              <a:rPr dirty="0"/>
              <a:t> can</a:t>
            </a:r>
            <a:r>
              <a:rPr spc="5" dirty="0"/>
              <a:t> </a:t>
            </a:r>
            <a:r>
              <a:rPr dirty="0"/>
              <a:t>declare </a:t>
            </a:r>
            <a:r>
              <a:rPr spc="35" dirty="0"/>
              <a:t>the </a:t>
            </a:r>
            <a:r>
              <a:rPr dirty="0"/>
              <a:t>filenames</a:t>
            </a:r>
            <a:r>
              <a:rPr spc="30" dirty="0"/>
              <a:t> </a:t>
            </a:r>
            <a:r>
              <a:rPr spc="95" dirty="0"/>
              <a:t>by</a:t>
            </a:r>
            <a:r>
              <a:rPr spc="30" dirty="0"/>
              <a:t> </a:t>
            </a:r>
            <a:r>
              <a:rPr dirty="0"/>
              <a:t>our</a:t>
            </a:r>
            <a:r>
              <a:rPr spc="35" dirty="0"/>
              <a:t> </a:t>
            </a:r>
            <a:r>
              <a:rPr spc="80" dirty="0"/>
              <a:t>own</a:t>
            </a:r>
            <a:r>
              <a:rPr spc="30" dirty="0"/>
              <a:t> </a:t>
            </a:r>
            <a:r>
              <a:rPr dirty="0"/>
              <a:t>inside</a:t>
            </a:r>
            <a:r>
              <a:rPr spc="30" dirty="0"/>
              <a:t> </a:t>
            </a:r>
            <a:r>
              <a:rPr spc="60" dirty="0"/>
              <a:t>the</a:t>
            </a:r>
            <a:r>
              <a:rPr spc="35" dirty="0"/>
              <a:t> </a:t>
            </a:r>
            <a:r>
              <a:rPr spc="70" dirty="0"/>
              <a:t>env-</a:t>
            </a:r>
            <a:r>
              <a:rPr spc="40" dirty="0"/>
              <a:t>values </a:t>
            </a:r>
            <a:r>
              <a:rPr spc="-10" dirty="0"/>
              <a:t>folder.</a:t>
            </a:r>
          </a:p>
          <a:p>
            <a:pPr marL="12700">
              <a:lnSpc>
                <a:spcPct val="100000"/>
              </a:lnSpc>
              <a:spcBef>
                <a:spcPts val="3265"/>
              </a:spcBef>
            </a:pPr>
            <a:r>
              <a:rPr dirty="0"/>
              <a:t>After</a:t>
            </a:r>
            <a:r>
              <a:rPr spc="25" dirty="0"/>
              <a:t> </a:t>
            </a:r>
            <a:r>
              <a:rPr dirty="0"/>
              <a:t>creating</a:t>
            </a:r>
            <a:r>
              <a:rPr spc="25" dirty="0"/>
              <a:t> </a:t>
            </a:r>
            <a:r>
              <a:rPr spc="60" dirty="0"/>
              <a:t>the</a:t>
            </a:r>
            <a:r>
              <a:rPr spc="30" dirty="0"/>
              <a:t> </a:t>
            </a:r>
            <a:r>
              <a:rPr dirty="0"/>
              <a:t>pod,</a:t>
            </a:r>
            <a:r>
              <a:rPr spc="25" dirty="0"/>
              <a:t> </a:t>
            </a:r>
            <a:r>
              <a:rPr spc="65" dirty="0"/>
              <a:t>enter</a:t>
            </a:r>
            <a:r>
              <a:rPr spc="30" dirty="0"/>
              <a:t> </a:t>
            </a:r>
            <a:r>
              <a:rPr dirty="0"/>
              <a:t>into</a:t>
            </a:r>
            <a:r>
              <a:rPr spc="25" dirty="0"/>
              <a:t> </a:t>
            </a:r>
            <a:r>
              <a:rPr spc="60" dirty="0"/>
              <a:t>the</a:t>
            </a:r>
            <a:r>
              <a:rPr spc="25" dirty="0"/>
              <a:t> </a:t>
            </a:r>
            <a:r>
              <a:rPr dirty="0"/>
              <a:t>pod</a:t>
            </a:r>
            <a:r>
              <a:rPr spc="30" dirty="0"/>
              <a:t> </a:t>
            </a:r>
            <a:r>
              <a:rPr spc="-10" dirty="0"/>
              <a:t>using</a:t>
            </a:r>
          </a:p>
          <a:p>
            <a:pPr marL="12700">
              <a:lnSpc>
                <a:spcPct val="100000"/>
              </a:lnSpc>
              <a:spcBef>
                <a:spcPts val="705"/>
              </a:spcBef>
            </a:pPr>
            <a:r>
              <a:rPr spc="204" dirty="0">
                <a:latin typeface="Times New Roman"/>
                <a:cs typeface="Times New Roman"/>
              </a:rPr>
              <a:t>kubectl</a:t>
            </a:r>
            <a:r>
              <a:rPr spc="-85" dirty="0">
                <a:latin typeface="Times New Roman"/>
                <a:cs typeface="Times New Roman"/>
              </a:rPr>
              <a:t> </a:t>
            </a:r>
            <a:r>
              <a:rPr spc="155" dirty="0">
                <a:latin typeface="Times New Roman"/>
                <a:cs typeface="Times New Roman"/>
              </a:rPr>
              <a:t>exec</a:t>
            </a:r>
            <a:r>
              <a:rPr spc="-85" dirty="0">
                <a:latin typeface="Times New Roman"/>
                <a:cs typeface="Times New Roman"/>
              </a:rPr>
              <a:t> </a:t>
            </a:r>
            <a:r>
              <a:rPr spc="180" dirty="0">
                <a:latin typeface="Times New Roman"/>
                <a:cs typeface="Times New Roman"/>
              </a:rPr>
              <a:t>-</a:t>
            </a:r>
            <a:r>
              <a:rPr spc="210" dirty="0">
                <a:latin typeface="Times New Roman"/>
                <a:cs typeface="Times New Roman"/>
              </a:rPr>
              <a:t>it</a:t>
            </a:r>
            <a:r>
              <a:rPr spc="-80" dirty="0">
                <a:latin typeface="Times New Roman"/>
                <a:cs typeface="Times New Roman"/>
              </a:rPr>
              <a:t> </a:t>
            </a:r>
            <a:r>
              <a:rPr spc="305" dirty="0">
                <a:latin typeface="Times New Roman"/>
                <a:cs typeface="Times New Roman"/>
              </a:rPr>
              <a:t>pod_name</a:t>
            </a:r>
            <a:r>
              <a:rPr spc="-85" dirty="0">
                <a:latin typeface="Times New Roman"/>
                <a:cs typeface="Times New Roman"/>
              </a:rPr>
              <a:t> </a:t>
            </a:r>
            <a:r>
              <a:rPr spc="245" dirty="0">
                <a:latin typeface="Times New Roman"/>
                <a:cs typeface="Times New Roman"/>
              </a:rPr>
              <a:t>/bin/bash</a:t>
            </a:r>
          </a:p>
          <a:p>
            <a:pPr marL="12700">
              <a:lnSpc>
                <a:spcPct val="100000"/>
              </a:lnSpc>
              <a:spcBef>
                <a:spcPts val="705"/>
              </a:spcBef>
            </a:pPr>
            <a:r>
              <a:rPr dirty="0"/>
              <a:t>Once</a:t>
            </a:r>
            <a:r>
              <a:rPr spc="-5" dirty="0"/>
              <a:t> </a:t>
            </a:r>
            <a:r>
              <a:rPr spc="90" dirty="0"/>
              <a:t>you</a:t>
            </a:r>
            <a:r>
              <a:rPr dirty="0"/>
              <a:t> </a:t>
            </a:r>
            <a:r>
              <a:rPr spc="55" dirty="0"/>
              <a:t>entered</a:t>
            </a:r>
            <a:r>
              <a:rPr dirty="0"/>
              <a:t> into</a:t>
            </a:r>
            <a:r>
              <a:rPr spc="-5" dirty="0"/>
              <a:t> </a:t>
            </a:r>
            <a:r>
              <a:rPr dirty="0"/>
              <a:t>pod </a:t>
            </a:r>
            <a:r>
              <a:rPr spc="70" dirty="0"/>
              <a:t>give</a:t>
            </a:r>
            <a:r>
              <a:rPr dirty="0"/>
              <a:t> a</a:t>
            </a:r>
            <a:r>
              <a:rPr spc="-5" dirty="0"/>
              <a:t> </a:t>
            </a:r>
            <a:r>
              <a:rPr dirty="0"/>
              <a:t>command</a:t>
            </a:r>
            <a:r>
              <a:rPr spc="5" dirty="0"/>
              <a:t> </a:t>
            </a:r>
            <a:r>
              <a:rPr spc="75" dirty="0">
                <a:latin typeface="Times New Roman"/>
                <a:cs typeface="Times New Roman"/>
              </a:rPr>
              <a:t>ls</a:t>
            </a:r>
          </a:p>
          <a:p>
            <a:pPr marL="12700">
              <a:lnSpc>
                <a:spcPct val="100000"/>
              </a:lnSpc>
              <a:spcBef>
                <a:spcPts val="705"/>
              </a:spcBef>
            </a:pPr>
            <a:r>
              <a:rPr dirty="0"/>
              <a:t>You</a:t>
            </a:r>
            <a:r>
              <a:rPr spc="20" dirty="0"/>
              <a:t> </a:t>
            </a:r>
            <a:r>
              <a:rPr spc="55" dirty="0"/>
              <a:t>will</a:t>
            </a:r>
            <a:r>
              <a:rPr spc="25" dirty="0"/>
              <a:t> </a:t>
            </a:r>
            <a:r>
              <a:rPr dirty="0"/>
              <a:t>find</a:t>
            </a:r>
            <a:r>
              <a:rPr spc="20" dirty="0"/>
              <a:t> </a:t>
            </a:r>
            <a:r>
              <a:rPr dirty="0"/>
              <a:t>a</a:t>
            </a:r>
            <a:r>
              <a:rPr spc="25" dirty="0"/>
              <a:t> </a:t>
            </a:r>
            <a:r>
              <a:rPr dirty="0"/>
              <a:t>folder</a:t>
            </a:r>
            <a:r>
              <a:rPr spc="25" dirty="0"/>
              <a:t> </a:t>
            </a:r>
            <a:r>
              <a:rPr dirty="0"/>
              <a:t>called</a:t>
            </a:r>
            <a:r>
              <a:rPr spc="20" dirty="0"/>
              <a:t> </a:t>
            </a:r>
            <a:r>
              <a:rPr spc="60" dirty="0"/>
              <a:t>secret-</a:t>
            </a:r>
            <a:r>
              <a:rPr spc="-10" dirty="0"/>
              <a:t>values.</a:t>
            </a:r>
          </a:p>
        </p:txBody>
      </p:sp>
      <p:sp>
        <p:nvSpPr>
          <p:cNvPr id="5" name="object 5"/>
          <p:cNvSpPr txBox="1"/>
          <p:nvPr/>
        </p:nvSpPr>
        <p:spPr>
          <a:xfrm>
            <a:off x="469403" y="8432194"/>
            <a:ext cx="9672955" cy="130175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In</a:t>
            </a:r>
            <a:r>
              <a:rPr sz="3600" spc="-15" dirty="0">
                <a:solidFill>
                  <a:srgbClr val="2E377E"/>
                </a:solidFill>
                <a:latin typeface="Georgia"/>
                <a:cs typeface="Georgia"/>
              </a:rPr>
              <a:t> </a:t>
            </a:r>
            <a:r>
              <a:rPr sz="3600" dirty="0">
                <a:solidFill>
                  <a:srgbClr val="2E377E"/>
                </a:solidFill>
                <a:latin typeface="Georgia"/>
                <a:cs typeface="Georgia"/>
              </a:rPr>
              <a:t>side</a:t>
            </a:r>
            <a:r>
              <a:rPr sz="3600" spc="-10" dirty="0">
                <a:solidFill>
                  <a:srgbClr val="2E377E"/>
                </a:solidFill>
                <a:latin typeface="Georgia"/>
                <a:cs typeface="Georgia"/>
              </a:rPr>
              <a:t> </a:t>
            </a:r>
            <a:r>
              <a:rPr sz="3600" spc="6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folder</a:t>
            </a:r>
            <a:r>
              <a:rPr sz="3600" spc="-10"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spc="55" dirty="0">
                <a:solidFill>
                  <a:srgbClr val="2E377E"/>
                </a:solidFill>
                <a:latin typeface="Georgia"/>
                <a:cs typeface="Georgia"/>
              </a:rPr>
              <a:t>will</a:t>
            </a:r>
            <a:r>
              <a:rPr sz="3600" spc="-15" dirty="0">
                <a:solidFill>
                  <a:srgbClr val="2E377E"/>
                </a:solidFill>
                <a:latin typeface="Georgia"/>
                <a:cs typeface="Georgia"/>
              </a:rPr>
              <a:t> </a:t>
            </a:r>
            <a:r>
              <a:rPr sz="3600" spc="75" dirty="0">
                <a:solidFill>
                  <a:srgbClr val="2E377E"/>
                </a:solidFill>
                <a:latin typeface="Georgia"/>
                <a:cs typeface="Georgia"/>
              </a:rPr>
              <a:t>get</a:t>
            </a:r>
            <a:r>
              <a:rPr sz="3600" spc="-10" dirty="0">
                <a:solidFill>
                  <a:srgbClr val="2E377E"/>
                </a:solidFill>
                <a:latin typeface="Georgia"/>
                <a:cs typeface="Georgia"/>
              </a:rPr>
              <a:t> </a:t>
            </a:r>
            <a:r>
              <a:rPr sz="3600" dirty="0">
                <a:solidFill>
                  <a:srgbClr val="2E377E"/>
                </a:solidFill>
                <a:latin typeface="Georgia"/>
                <a:cs typeface="Georgia"/>
              </a:rPr>
              <a:t>file</a:t>
            </a:r>
            <a:r>
              <a:rPr sz="3600" spc="-10" dirty="0">
                <a:solidFill>
                  <a:srgbClr val="2E377E"/>
                </a:solidFill>
                <a:latin typeface="Georgia"/>
                <a:cs typeface="Georgia"/>
              </a:rPr>
              <a:t> </a:t>
            </a:r>
            <a:r>
              <a:rPr sz="3600" dirty="0">
                <a:solidFill>
                  <a:srgbClr val="2E377E"/>
                </a:solidFill>
                <a:latin typeface="Georgia"/>
                <a:cs typeface="Georgia"/>
              </a:rPr>
              <a:t>names</a:t>
            </a:r>
            <a:r>
              <a:rPr sz="3600" spc="-15" dirty="0">
                <a:solidFill>
                  <a:srgbClr val="2E377E"/>
                </a:solidFill>
                <a:latin typeface="Georgia"/>
                <a:cs typeface="Georgia"/>
              </a:rPr>
              <a:t> </a:t>
            </a:r>
            <a:r>
              <a:rPr sz="3600" dirty="0">
                <a:solidFill>
                  <a:srgbClr val="2E377E"/>
                </a:solidFill>
                <a:latin typeface="Georgia"/>
                <a:cs typeface="Georgia"/>
              </a:rPr>
              <a:t>as</a:t>
            </a:r>
            <a:r>
              <a:rPr sz="3600" spc="-10" dirty="0">
                <a:solidFill>
                  <a:srgbClr val="2E377E"/>
                </a:solidFill>
                <a:latin typeface="Georgia"/>
                <a:cs typeface="Georgia"/>
              </a:rPr>
              <a:t> file1 </a:t>
            </a:r>
            <a:r>
              <a:rPr sz="3600" dirty="0">
                <a:solidFill>
                  <a:srgbClr val="2E377E"/>
                </a:solidFill>
                <a:latin typeface="Georgia"/>
                <a:cs typeface="Georgia"/>
              </a:rPr>
              <a:t>and</a:t>
            </a:r>
            <a:r>
              <a:rPr sz="3600" spc="-50" dirty="0">
                <a:solidFill>
                  <a:srgbClr val="2E377E"/>
                </a:solidFill>
                <a:latin typeface="Georgia"/>
                <a:cs typeface="Georgia"/>
              </a:rPr>
              <a:t> </a:t>
            </a:r>
            <a:r>
              <a:rPr sz="3600" spc="-10" dirty="0">
                <a:solidFill>
                  <a:srgbClr val="2E377E"/>
                </a:solidFill>
                <a:latin typeface="Georgia"/>
                <a:cs typeface="Georgia"/>
              </a:rPr>
              <a:t>file2.</a:t>
            </a:r>
            <a:endParaRPr sz="3600">
              <a:latin typeface="Georgia"/>
              <a:cs typeface="Georgia"/>
            </a:endParaRPr>
          </a:p>
        </p:txBody>
      </p:sp>
      <p:sp>
        <p:nvSpPr>
          <p:cNvPr id="6" name="object 6"/>
          <p:cNvSpPr txBox="1"/>
          <p:nvPr/>
        </p:nvSpPr>
        <p:spPr>
          <a:xfrm>
            <a:off x="11878286" y="8662669"/>
            <a:ext cx="4828540" cy="1050290"/>
          </a:xfrm>
          <a:prstGeom prst="rect">
            <a:avLst/>
          </a:prstGeom>
        </p:spPr>
        <p:txBody>
          <a:bodyPr vert="horz" wrap="square" lIns="0" tIns="12700" rIns="0" bIns="0" rtlCol="0">
            <a:spAutoFit/>
          </a:bodyPr>
          <a:lstStyle/>
          <a:p>
            <a:pPr marL="1138555">
              <a:lnSpc>
                <a:spcPts val="4215"/>
              </a:lnSpc>
              <a:spcBef>
                <a:spcPts val="100"/>
              </a:spcBef>
            </a:pPr>
            <a:r>
              <a:rPr sz="3600" spc="-10" dirty="0">
                <a:solidFill>
                  <a:srgbClr val="2E377E"/>
                </a:solidFill>
                <a:latin typeface="Georgia"/>
                <a:cs typeface="Georgia"/>
              </a:rPr>
              <a:t>POD.YML</a:t>
            </a:r>
            <a:endParaRPr sz="3600">
              <a:latin typeface="Georgia"/>
              <a:cs typeface="Georgia"/>
            </a:endParaRPr>
          </a:p>
          <a:p>
            <a:pPr marL="12700">
              <a:lnSpc>
                <a:spcPts val="3854"/>
              </a:lnSpc>
            </a:pPr>
            <a:r>
              <a:rPr sz="3300" b="1" spc="110" dirty="0">
                <a:solidFill>
                  <a:srgbClr val="FF3131"/>
                </a:solidFill>
                <a:latin typeface="Times New Roman"/>
                <a:cs typeface="Times New Roman"/>
              </a:rPr>
              <a:t>kubectl</a:t>
            </a:r>
            <a:r>
              <a:rPr sz="3300" b="1" spc="-25" dirty="0">
                <a:solidFill>
                  <a:srgbClr val="FF3131"/>
                </a:solidFill>
                <a:latin typeface="Times New Roman"/>
                <a:cs typeface="Times New Roman"/>
              </a:rPr>
              <a:t> </a:t>
            </a:r>
            <a:r>
              <a:rPr sz="3300" b="1" spc="145" dirty="0">
                <a:solidFill>
                  <a:srgbClr val="FF3131"/>
                </a:solidFill>
                <a:latin typeface="Times New Roman"/>
                <a:cs typeface="Times New Roman"/>
              </a:rPr>
              <a:t>apply</a:t>
            </a:r>
            <a:r>
              <a:rPr sz="3300" b="1" spc="-25" dirty="0">
                <a:solidFill>
                  <a:srgbClr val="FF3131"/>
                </a:solidFill>
                <a:latin typeface="Times New Roman"/>
                <a:cs typeface="Times New Roman"/>
              </a:rPr>
              <a:t> </a:t>
            </a:r>
            <a:r>
              <a:rPr sz="3300" b="1" spc="434" dirty="0">
                <a:solidFill>
                  <a:srgbClr val="FF3131"/>
                </a:solidFill>
                <a:latin typeface="Times New Roman"/>
                <a:cs typeface="Times New Roman"/>
              </a:rPr>
              <a:t>-</a:t>
            </a:r>
            <a:r>
              <a:rPr sz="3300" b="1" dirty="0">
                <a:solidFill>
                  <a:srgbClr val="FF3131"/>
                </a:solidFill>
                <a:latin typeface="Times New Roman"/>
                <a:cs typeface="Times New Roman"/>
              </a:rPr>
              <a:t>f</a:t>
            </a:r>
            <a:r>
              <a:rPr sz="3300" b="1" spc="-25" dirty="0">
                <a:solidFill>
                  <a:srgbClr val="FF3131"/>
                </a:solidFill>
                <a:latin typeface="Times New Roman"/>
                <a:cs typeface="Times New Roman"/>
              </a:rPr>
              <a:t> </a:t>
            </a:r>
            <a:r>
              <a:rPr sz="3300" b="1" spc="165" dirty="0">
                <a:solidFill>
                  <a:srgbClr val="FF3131"/>
                </a:solidFill>
                <a:latin typeface="Times New Roman"/>
                <a:cs typeface="Times New Roman"/>
              </a:rPr>
              <a:t>pod.yml</a:t>
            </a:r>
            <a:endParaRPr sz="3300">
              <a:latin typeface="Times New Roman"/>
              <a:cs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28699" y="2199862"/>
            <a:ext cx="16306800" cy="1905"/>
          </a:xfrm>
          <a:custGeom>
            <a:avLst/>
            <a:gdLst/>
            <a:ahLst/>
            <a:cxnLst/>
            <a:rect l="l" t="t" r="r" b="b"/>
            <a:pathLst>
              <a:path w="16306800" h="1905">
                <a:moveTo>
                  <a:pt x="0" y="0"/>
                </a:moveTo>
                <a:lnTo>
                  <a:pt x="16306803" y="1904"/>
                </a:lnTo>
              </a:path>
            </a:pathLst>
          </a:custGeom>
          <a:ln w="66674">
            <a:solidFill>
              <a:srgbClr val="000000"/>
            </a:solidFill>
          </a:ln>
        </p:spPr>
        <p:txBody>
          <a:bodyPr wrap="square" lIns="0" tIns="0" rIns="0" bIns="0" rtlCol="0"/>
          <a:lstStyle/>
          <a:p>
            <a:endParaRPr/>
          </a:p>
        </p:txBody>
      </p:sp>
      <p:grpSp>
        <p:nvGrpSpPr>
          <p:cNvPr id="3" name="object 3"/>
          <p:cNvGrpSpPr/>
          <p:nvPr/>
        </p:nvGrpSpPr>
        <p:grpSpPr>
          <a:xfrm>
            <a:off x="995362" y="2168516"/>
            <a:ext cx="16373475" cy="7386955"/>
            <a:chOff x="995362" y="2168516"/>
            <a:chExt cx="16373475" cy="7386955"/>
          </a:xfrm>
        </p:grpSpPr>
        <p:sp>
          <p:nvSpPr>
            <p:cNvPr id="4" name="object 4"/>
            <p:cNvSpPr/>
            <p:nvPr/>
          </p:nvSpPr>
          <p:spPr>
            <a:xfrm>
              <a:off x="1028700" y="9485662"/>
              <a:ext cx="16273780" cy="3175"/>
            </a:xfrm>
            <a:custGeom>
              <a:avLst/>
              <a:gdLst/>
              <a:ahLst/>
              <a:cxnLst/>
              <a:rect l="l" t="t" r="r" b="b"/>
              <a:pathLst>
                <a:path w="16273780" h="3175">
                  <a:moveTo>
                    <a:pt x="0" y="3018"/>
                  </a:moveTo>
                  <a:lnTo>
                    <a:pt x="16273465" y="0"/>
                  </a:lnTo>
                </a:path>
              </a:pathLst>
            </a:custGeom>
            <a:ln w="66674">
              <a:solidFill>
                <a:srgbClr val="000000"/>
              </a:solidFill>
            </a:ln>
          </p:spPr>
          <p:txBody>
            <a:bodyPr wrap="square" lIns="0" tIns="0" rIns="0" bIns="0" rtlCol="0"/>
            <a:lstStyle/>
            <a:p>
              <a:endParaRPr/>
            </a:p>
          </p:txBody>
        </p:sp>
        <p:sp>
          <p:nvSpPr>
            <p:cNvPr id="5" name="object 5"/>
            <p:cNvSpPr/>
            <p:nvPr/>
          </p:nvSpPr>
          <p:spPr>
            <a:xfrm>
              <a:off x="1058216" y="2222711"/>
              <a:ext cx="3810" cy="7299325"/>
            </a:xfrm>
            <a:custGeom>
              <a:avLst/>
              <a:gdLst/>
              <a:ahLst/>
              <a:cxnLst/>
              <a:rect l="l" t="t" r="r" b="b"/>
              <a:pathLst>
                <a:path w="3809" h="7299325">
                  <a:moveTo>
                    <a:pt x="0" y="7299296"/>
                  </a:moveTo>
                  <a:lnTo>
                    <a:pt x="3810" y="0"/>
                  </a:lnTo>
                </a:path>
              </a:pathLst>
            </a:custGeom>
            <a:ln w="66674">
              <a:solidFill>
                <a:srgbClr val="000000"/>
              </a:solidFill>
            </a:ln>
          </p:spPr>
          <p:txBody>
            <a:bodyPr wrap="square" lIns="0" tIns="0" rIns="0" bIns="0" rtlCol="0"/>
            <a:lstStyle/>
            <a:p>
              <a:endParaRPr/>
            </a:p>
          </p:txBody>
        </p:sp>
        <p:sp>
          <p:nvSpPr>
            <p:cNvPr id="6" name="object 6"/>
            <p:cNvSpPr/>
            <p:nvPr/>
          </p:nvSpPr>
          <p:spPr>
            <a:xfrm>
              <a:off x="17283120" y="2201853"/>
              <a:ext cx="19050" cy="7315834"/>
            </a:xfrm>
            <a:custGeom>
              <a:avLst/>
              <a:gdLst/>
              <a:ahLst/>
              <a:cxnLst/>
              <a:rect l="l" t="t" r="r" b="b"/>
              <a:pathLst>
                <a:path w="19050" h="7315834">
                  <a:moveTo>
                    <a:pt x="0" y="7315327"/>
                  </a:moveTo>
                  <a:lnTo>
                    <a:pt x="19042" y="0"/>
                  </a:lnTo>
                </a:path>
              </a:pathLst>
            </a:custGeom>
            <a:ln w="66674">
              <a:solidFill>
                <a:srgbClr val="000000"/>
              </a:solidFill>
            </a:ln>
          </p:spPr>
          <p:txBody>
            <a:bodyPr wrap="square" lIns="0" tIns="0" rIns="0" bIns="0" rtlCol="0"/>
            <a:lstStyle/>
            <a:p>
              <a:endParaRPr/>
            </a:p>
          </p:txBody>
        </p:sp>
        <p:sp>
          <p:nvSpPr>
            <p:cNvPr id="7" name="object 7"/>
            <p:cNvSpPr/>
            <p:nvPr/>
          </p:nvSpPr>
          <p:spPr>
            <a:xfrm>
              <a:off x="1081087" y="3060535"/>
              <a:ext cx="16254730" cy="2540"/>
            </a:xfrm>
            <a:custGeom>
              <a:avLst/>
              <a:gdLst/>
              <a:ahLst/>
              <a:cxnLst/>
              <a:rect l="l" t="t" r="r" b="b"/>
              <a:pathLst>
                <a:path w="16254730" h="2539">
                  <a:moveTo>
                    <a:pt x="0" y="0"/>
                  </a:moveTo>
                  <a:lnTo>
                    <a:pt x="16254415" y="2134"/>
                  </a:lnTo>
                </a:path>
              </a:pathLst>
            </a:custGeom>
            <a:ln w="66674">
              <a:solidFill>
                <a:srgbClr val="000000"/>
              </a:solidFill>
            </a:ln>
          </p:spPr>
          <p:txBody>
            <a:bodyPr wrap="square" lIns="0" tIns="0" rIns="0" bIns="0" rtlCol="0"/>
            <a:lstStyle/>
            <a:p>
              <a:endParaRPr/>
            </a:p>
          </p:txBody>
        </p:sp>
        <p:sp>
          <p:nvSpPr>
            <p:cNvPr id="8" name="object 8"/>
            <p:cNvSpPr/>
            <p:nvPr/>
          </p:nvSpPr>
          <p:spPr>
            <a:xfrm>
              <a:off x="9229686" y="2222682"/>
              <a:ext cx="14604" cy="7263130"/>
            </a:xfrm>
            <a:custGeom>
              <a:avLst/>
              <a:gdLst/>
              <a:ahLst/>
              <a:cxnLst/>
              <a:rect l="l" t="t" r="r" b="b"/>
              <a:pathLst>
                <a:path w="14604" h="7263130">
                  <a:moveTo>
                    <a:pt x="14305" y="7262874"/>
                  </a:moveTo>
                  <a:lnTo>
                    <a:pt x="0" y="0"/>
                  </a:lnTo>
                </a:path>
              </a:pathLst>
            </a:custGeom>
            <a:ln w="66674">
              <a:solidFill>
                <a:srgbClr val="000000"/>
              </a:solidFill>
            </a:ln>
          </p:spPr>
          <p:txBody>
            <a:bodyPr wrap="square" lIns="0" tIns="0" rIns="0" bIns="0" rtlCol="0"/>
            <a:lstStyle/>
            <a:p>
              <a:endParaRPr/>
            </a:p>
          </p:txBody>
        </p:sp>
        <p:pic>
          <p:nvPicPr>
            <p:cNvPr id="9" name="object 9"/>
            <p:cNvPicPr/>
            <p:nvPr/>
          </p:nvPicPr>
          <p:blipFill>
            <a:blip r:embed="rId2" cstate="print"/>
            <a:stretch>
              <a:fillRect/>
            </a:stretch>
          </p:blipFill>
          <p:spPr>
            <a:xfrm>
              <a:off x="1878693" y="3728083"/>
              <a:ext cx="133350" cy="133349"/>
            </a:xfrm>
            <a:prstGeom prst="rect">
              <a:avLst/>
            </a:prstGeom>
          </p:spPr>
        </p:pic>
        <p:pic>
          <p:nvPicPr>
            <p:cNvPr id="10" name="object 10"/>
            <p:cNvPicPr/>
            <p:nvPr/>
          </p:nvPicPr>
          <p:blipFill>
            <a:blip r:embed="rId2" cstate="print"/>
            <a:stretch>
              <a:fillRect/>
            </a:stretch>
          </p:blipFill>
          <p:spPr>
            <a:xfrm>
              <a:off x="1878693" y="5004433"/>
              <a:ext cx="133350" cy="133349"/>
            </a:xfrm>
            <a:prstGeom prst="rect">
              <a:avLst/>
            </a:prstGeom>
          </p:spPr>
        </p:pic>
        <p:pic>
          <p:nvPicPr>
            <p:cNvPr id="11" name="object 11"/>
            <p:cNvPicPr/>
            <p:nvPr/>
          </p:nvPicPr>
          <p:blipFill>
            <a:blip r:embed="rId2" cstate="print"/>
            <a:stretch>
              <a:fillRect/>
            </a:stretch>
          </p:blipFill>
          <p:spPr>
            <a:xfrm>
              <a:off x="1878693" y="6918958"/>
              <a:ext cx="133350" cy="133349"/>
            </a:xfrm>
            <a:prstGeom prst="rect">
              <a:avLst/>
            </a:prstGeom>
          </p:spPr>
        </p:pic>
        <p:pic>
          <p:nvPicPr>
            <p:cNvPr id="12" name="object 12"/>
            <p:cNvPicPr/>
            <p:nvPr/>
          </p:nvPicPr>
          <p:blipFill>
            <a:blip r:embed="rId2" cstate="print"/>
            <a:stretch>
              <a:fillRect/>
            </a:stretch>
          </p:blipFill>
          <p:spPr>
            <a:xfrm>
              <a:off x="1878693" y="8195307"/>
              <a:ext cx="133350" cy="133349"/>
            </a:xfrm>
            <a:prstGeom prst="rect">
              <a:avLst/>
            </a:prstGeom>
          </p:spPr>
        </p:pic>
      </p:grpSp>
      <p:sp>
        <p:nvSpPr>
          <p:cNvPr id="13" name="object 13"/>
          <p:cNvSpPr txBox="1"/>
          <p:nvPr/>
        </p:nvSpPr>
        <p:spPr>
          <a:xfrm>
            <a:off x="2195498" y="2309840"/>
            <a:ext cx="6976745" cy="6189980"/>
          </a:xfrm>
          <a:prstGeom prst="rect">
            <a:avLst/>
          </a:prstGeom>
        </p:spPr>
        <p:txBody>
          <a:bodyPr vert="horz" wrap="square" lIns="0" tIns="12700" rIns="0" bIns="0" rtlCol="0">
            <a:spAutoFit/>
          </a:bodyPr>
          <a:lstStyle/>
          <a:p>
            <a:pPr marL="1827530">
              <a:lnSpc>
                <a:spcPct val="100000"/>
              </a:lnSpc>
              <a:spcBef>
                <a:spcPts val="100"/>
              </a:spcBef>
            </a:pPr>
            <a:r>
              <a:rPr sz="3600" spc="-20" dirty="0">
                <a:solidFill>
                  <a:srgbClr val="2E377E"/>
                </a:solidFill>
                <a:latin typeface="Times New Roman"/>
                <a:cs typeface="Times New Roman"/>
              </a:rPr>
              <a:t>DATA</a:t>
            </a:r>
            <a:endParaRPr sz="3600">
              <a:latin typeface="Times New Roman"/>
              <a:cs typeface="Times New Roman"/>
            </a:endParaRPr>
          </a:p>
          <a:p>
            <a:pPr>
              <a:lnSpc>
                <a:spcPct val="100000"/>
              </a:lnSpc>
              <a:spcBef>
                <a:spcPts val="580"/>
              </a:spcBef>
            </a:pPr>
            <a:endParaRPr sz="3600">
              <a:latin typeface="Times New Roman"/>
              <a:cs typeface="Times New Roman"/>
            </a:endParaRPr>
          </a:p>
          <a:p>
            <a:pPr marL="12700">
              <a:lnSpc>
                <a:spcPct val="100000"/>
              </a:lnSpc>
            </a:pPr>
            <a:r>
              <a:rPr sz="3600" dirty="0">
                <a:solidFill>
                  <a:srgbClr val="2E377E"/>
                </a:solidFill>
                <a:latin typeface="Georgia"/>
                <a:cs typeface="Georgia"/>
              </a:rPr>
              <a:t>Stores</a:t>
            </a:r>
            <a:r>
              <a:rPr sz="3600" spc="25" dirty="0">
                <a:solidFill>
                  <a:srgbClr val="2E377E"/>
                </a:solidFill>
                <a:latin typeface="Georgia"/>
                <a:cs typeface="Georgia"/>
              </a:rPr>
              <a:t> </a:t>
            </a:r>
            <a:r>
              <a:rPr sz="3600" dirty="0">
                <a:solidFill>
                  <a:srgbClr val="2E377E"/>
                </a:solidFill>
                <a:latin typeface="Georgia"/>
                <a:cs typeface="Georgia"/>
              </a:rPr>
              <a:t>data</a:t>
            </a:r>
            <a:r>
              <a:rPr sz="3600" spc="25" dirty="0">
                <a:solidFill>
                  <a:srgbClr val="2E377E"/>
                </a:solidFill>
                <a:latin typeface="Georgia"/>
                <a:cs typeface="Georgia"/>
              </a:rPr>
              <a:t> </a:t>
            </a:r>
            <a:r>
              <a:rPr sz="3600" dirty="0">
                <a:solidFill>
                  <a:srgbClr val="2E377E"/>
                </a:solidFill>
                <a:latin typeface="Georgia"/>
                <a:cs typeface="Georgia"/>
              </a:rPr>
              <a:t>in</a:t>
            </a:r>
            <a:r>
              <a:rPr sz="3600" spc="25" dirty="0">
                <a:solidFill>
                  <a:srgbClr val="2E377E"/>
                </a:solidFill>
                <a:latin typeface="Georgia"/>
                <a:cs typeface="Georgia"/>
              </a:rPr>
              <a:t> </a:t>
            </a:r>
            <a:r>
              <a:rPr sz="3600" dirty="0">
                <a:solidFill>
                  <a:srgbClr val="2E377E"/>
                </a:solidFill>
                <a:latin typeface="Georgia"/>
                <a:cs typeface="Georgia"/>
              </a:rPr>
              <a:t>plain</a:t>
            </a:r>
            <a:r>
              <a:rPr sz="3600" spc="25" dirty="0">
                <a:solidFill>
                  <a:srgbClr val="2E377E"/>
                </a:solidFill>
                <a:latin typeface="Georgia"/>
                <a:cs typeface="Georgia"/>
              </a:rPr>
              <a:t> </a:t>
            </a:r>
            <a:r>
              <a:rPr sz="3600" spc="90" dirty="0">
                <a:solidFill>
                  <a:srgbClr val="2E377E"/>
                </a:solidFill>
                <a:latin typeface="Georgia"/>
                <a:cs typeface="Georgia"/>
              </a:rPr>
              <a:t>text</a:t>
            </a:r>
            <a:endParaRPr sz="3600">
              <a:latin typeface="Georgia"/>
              <a:cs typeface="Georgia"/>
            </a:endParaRPr>
          </a:p>
          <a:p>
            <a:pPr>
              <a:lnSpc>
                <a:spcPct val="100000"/>
              </a:lnSpc>
              <a:spcBef>
                <a:spcPts val="935"/>
              </a:spcBef>
            </a:pPr>
            <a:endParaRPr sz="3600">
              <a:latin typeface="Georgia"/>
              <a:cs typeface="Georgia"/>
            </a:endParaRPr>
          </a:p>
          <a:p>
            <a:pPr marL="12700" marR="5080">
              <a:lnSpc>
                <a:spcPct val="116300"/>
              </a:lnSpc>
            </a:pPr>
            <a:r>
              <a:rPr sz="3600" dirty="0">
                <a:solidFill>
                  <a:srgbClr val="2E377E"/>
                </a:solidFill>
                <a:latin typeface="Georgia"/>
                <a:cs typeface="Georgia"/>
              </a:rPr>
              <a:t>used</a:t>
            </a:r>
            <a:r>
              <a:rPr sz="3600" spc="65" dirty="0">
                <a:solidFill>
                  <a:srgbClr val="2E377E"/>
                </a:solidFill>
                <a:latin typeface="Georgia"/>
                <a:cs typeface="Georgia"/>
              </a:rPr>
              <a:t> </a:t>
            </a:r>
            <a:r>
              <a:rPr sz="3600" spc="70" dirty="0">
                <a:solidFill>
                  <a:srgbClr val="2E377E"/>
                </a:solidFill>
                <a:latin typeface="Georgia"/>
                <a:cs typeface="Georgia"/>
              </a:rPr>
              <a:t>to</a:t>
            </a:r>
            <a:r>
              <a:rPr sz="3600" spc="65" dirty="0">
                <a:solidFill>
                  <a:srgbClr val="2E377E"/>
                </a:solidFill>
                <a:latin typeface="Georgia"/>
                <a:cs typeface="Georgia"/>
              </a:rPr>
              <a:t> </a:t>
            </a:r>
            <a:r>
              <a:rPr sz="3600" spc="55" dirty="0">
                <a:solidFill>
                  <a:srgbClr val="2E377E"/>
                </a:solidFill>
                <a:latin typeface="Georgia"/>
                <a:cs typeface="Georgia"/>
              </a:rPr>
              <a:t>store</a:t>
            </a:r>
            <a:r>
              <a:rPr sz="3600" spc="70" dirty="0">
                <a:solidFill>
                  <a:srgbClr val="2E377E"/>
                </a:solidFill>
                <a:latin typeface="Georgia"/>
                <a:cs typeface="Georgia"/>
              </a:rPr>
              <a:t> </a:t>
            </a:r>
            <a:r>
              <a:rPr sz="3600" dirty="0">
                <a:solidFill>
                  <a:srgbClr val="2E377E"/>
                </a:solidFill>
                <a:latin typeface="Georgia"/>
                <a:cs typeface="Georgia"/>
              </a:rPr>
              <a:t>configuration,</a:t>
            </a:r>
            <a:r>
              <a:rPr sz="3600" spc="65" dirty="0">
                <a:solidFill>
                  <a:srgbClr val="2E377E"/>
                </a:solidFill>
                <a:latin typeface="Georgia"/>
                <a:cs typeface="Georgia"/>
              </a:rPr>
              <a:t> </a:t>
            </a:r>
            <a:r>
              <a:rPr sz="3600" spc="-10" dirty="0">
                <a:solidFill>
                  <a:srgbClr val="2E377E"/>
                </a:solidFill>
                <a:latin typeface="Georgia"/>
                <a:cs typeface="Georgia"/>
              </a:rPr>
              <a:t>script </a:t>
            </a:r>
            <a:r>
              <a:rPr sz="3600" dirty="0">
                <a:solidFill>
                  <a:srgbClr val="2E377E"/>
                </a:solidFill>
                <a:latin typeface="Georgia"/>
                <a:cs typeface="Georgia"/>
              </a:rPr>
              <a:t>and</a:t>
            </a:r>
            <a:r>
              <a:rPr sz="3600" spc="-40" dirty="0">
                <a:solidFill>
                  <a:srgbClr val="2E377E"/>
                </a:solidFill>
                <a:latin typeface="Georgia"/>
                <a:cs typeface="Georgia"/>
              </a:rPr>
              <a:t> </a:t>
            </a:r>
            <a:r>
              <a:rPr sz="3600" spc="50" dirty="0">
                <a:solidFill>
                  <a:srgbClr val="2E377E"/>
                </a:solidFill>
                <a:latin typeface="Georgia"/>
                <a:cs typeface="Georgia"/>
              </a:rPr>
              <a:t>other</a:t>
            </a:r>
            <a:r>
              <a:rPr sz="3600" spc="-35" dirty="0">
                <a:solidFill>
                  <a:srgbClr val="2E377E"/>
                </a:solidFill>
                <a:latin typeface="Georgia"/>
                <a:cs typeface="Georgia"/>
              </a:rPr>
              <a:t> </a:t>
            </a:r>
            <a:r>
              <a:rPr sz="3600" spc="110" dirty="0">
                <a:solidFill>
                  <a:srgbClr val="2E377E"/>
                </a:solidFill>
                <a:latin typeface="Georgia"/>
                <a:cs typeface="Georgia"/>
              </a:rPr>
              <a:t>text</a:t>
            </a:r>
            <a:r>
              <a:rPr sz="3600" spc="-35" dirty="0">
                <a:solidFill>
                  <a:srgbClr val="2E377E"/>
                </a:solidFill>
                <a:latin typeface="Georgia"/>
                <a:cs typeface="Georgia"/>
              </a:rPr>
              <a:t> </a:t>
            </a:r>
            <a:r>
              <a:rPr sz="3600" dirty="0">
                <a:solidFill>
                  <a:srgbClr val="2E377E"/>
                </a:solidFill>
                <a:latin typeface="Georgia"/>
                <a:cs typeface="Georgia"/>
              </a:rPr>
              <a:t>based</a:t>
            </a:r>
            <a:r>
              <a:rPr sz="3600" spc="-35" dirty="0">
                <a:solidFill>
                  <a:srgbClr val="2E377E"/>
                </a:solidFill>
                <a:latin typeface="Georgia"/>
                <a:cs typeface="Georgia"/>
              </a:rPr>
              <a:t> </a:t>
            </a:r>
            <a:r>
              <a:rPr sz="3600" spc="-20" dirty="0">
                <a:solidFill>
                  <a:srgbClr val="2E377E"/>
                </a:solidFill>
                <a:latin typeface="Georgia"/>
                <a:cs typeface="Georgia"/>
              </a:rPr>
              <a:t>data</a:t>
            </a:r>
            <a:endParaRPr sz="3600">
              <a:latin typeface="Georgia"/>
              <a:cs typeface="Georgia"/>
            </a:endParaRPr>
          </a:p>
          <a:p>
            <a:pPr marL="12700" marR="1569085">
              <a:lnSpc>
                <a:spcPct val="232600"/>
              </a:lnSpc>
              <a:spcBef>
                <a:spcPts val="5"/>
              </a:spcBef>
            </a:pPr>
            <a:r>
              <a:rPr sz="3600" dirty="0">
                <a:solidFill>
                  <a:srgbClr val="2E377E"/>
                </a:solidFill>
                <a:latin typeface="Georgia"/>
                <a:cs typeface="Georgia"/>
              </a:rPr>
              <a:t>Encoded</a:t>
            </a:r>
            <a:r>
              <a:rPr sz="3600" spc="-60" dirty="0">
                <a:solidFill>
                  <a:srgbClr val="2E377E"/>
                </a:solidFill>
                <a:latin typeface="Georgia"/>
                <a:cs typeface="Georgia"/>
              </a:rPr>
              <a:t> </a:t>
            </a:r>
            <a:r>
              <a:rPr sz="3600" dirty="0">
                <a:solidFill>
                  <a:srgbClr val="2E377E"/>
                </a:solidFill>
                <a:latin typeface="Georgia"/>
                <a:cs typeface="Georgia"/>
              </a:rPr>
              <a:t>in</a:t>
            </a:r>
            <a:r>
              <a:rPr sz="3600" spc="-55" dirty="0">
                <a:solidFill>
                  <a:srgbClr val="2E377E"/>
                </a:solidFill>
                <a:latin typeface="Georgia"/>
                <a:cs typeface="Georgia"/>
              </a:rPr>
              <a:t> </a:t>
            </a:r>
            <a:r>
              <a:rPr sz="3600" spc="-120" dirty="0">
                <a:solidFill>
                  <a:srgbClr val="2E377E"/>
                </a:solidFill>
                <a:latin typeface="Georgia"/>
                <a:cs typeface="Georgia"/>
              </a:rPr>
              <a:t>UFT-</a:t>
            </a:r>
            <a:r>
              <a:rPr sz="3600" spc="-325" dirty="0">
                <a:solidFill>
                  <a:srgbClr val="2E377E"/>
                </a:solidFill>
                <a:latin typeface="Georgia"/>
                <a:cs typeface="Georgia"/>
              </a:rPr>
              <a:t>8</a:t>
            </a:r>
            <a:r>
              <a:rPr sz="3600" spc="-60" dirty="0">
                <a:solidFill>
                  <a:srgbClr val="2E377E"/>
                </a:solidFill>
                <a:latin typeface="Georgia"/>
                <a:cs typeface="Georgia"/>
              </a:rPr>
              <a:t> </a:t>
            </a:r>
            <a:r>
              <a:rPr sz="3600" spc="-10" dirty="0">
                <a:solidFill>
                  <a:srgbClr val="2E377E"/>
                </a:solidFill>
                <a:latin typeface="Georgia"/>
                <a:cs typeface="Georgia"/>
              </a:rPr>
              <a:t>format </a:t>
            </a:r>
            <a:r>
              <a:rPr sz="3600" dirty="0">
                <a:solidFill>
                  <a:srgbClr val="2E377E"/>
                </a:solidFill>
                <a:latin typeface="Georgia"/>
                <a:cs typeface="Georgia"/>
              </a:rPr>
              <a:t>Decoding</a:t>
            </a:r>
            <a:r>
              <a:rPr sz="3600" spc="-5" dirty="0">
                <a:solidFill>
                  <a:srgbClr val="2E377E"/>
                </a:solidFill>
                <a:latin typeface="Georgia"/>
                <a:cs typeface="Georgia"/>
              </a:rPr>
              <a:t> </a:t>
            </a:r>
            <a:r>
              <a:rPr sz="3600" dirty="0">
                <a:solidFill>
                  <a:srgbClr val="2E377E"/>
                </a:solidFill>
                <a:latin typeface="Georgia"/>
                <a:cs typeface="Georgia"/>
              </a:rPr>
              <a:t>in </a:t>
            </a:r>
            <a:r>
              <a:rPr sz="3600" spc="50" dirty="0">
                <a:solidFill>
                  <a:srgbClr val="2E377E"/>
                </a:solidFill>
                <a:latin typeface="Georgia"/>
                <a:cs typeface="Georgia"/>
              </a:rPr>
              <a:t>not</a:t>
            </a:r>
            <a:r>
              <a:rPr sz="3600" dirty="0">
                <a:solidFill>
                  <a:srgbClr val="2E377E"/>
                </a:solidFill>
                <a:latin typeface="Georgia"/>
                <a:cs typeface="Georgia"/>
              </a:rPr>
              <a:t> </a:t>
            </a:r>
            <a:r>
              <a:rPr sz="3600" spc="45" dirty="0">
                <a:solidFill>
                  <a:srgbClr val="2E377E"/>
                </a:solidFill>
                <a:latin typeface="Georgia"/>
                <a:cs typeface="Georgia"/>
              </a:rPr>
              <a:t>necessary</a:t>
            </a:r>
            <a:endParaRPr sz="3600">
              <a:latin typeface="Georgia"/>
              <a:cs typeface="Georgia"/>
            </a:endParaRPr>
          </a:p>
        </p:txBody>
      </p:sp>
      <p:grpSp>
        <p:nvGrpSpPr>
          <p:cNvPr id="14" name="object 14"/>
          <p:cNvGrpSpPr/>
          <p:nvPr/>
        </p:nvGrpSpPr>
        <p:grpSpPr>
          <a:xfrm>
            <a:off x="10151988" y="3726179"/>
            <a:ext cx="123825" cy="3924300"/>
            <a:chOff x="10151988" y="3726179"/>
            <a:chExt cx="123825" cy="3924300"/>
          </a:xfrm>
        </p:grpSpPr>
        <p:pic>
          <p:nvPicPr>
            <p:cNvPr id="15" name="object 15"/>
            <p:cNvPicPr/>
            <p:nvPr/>
          </p:nvPicPr>
          <p:blipFill>
            <a:blip r:embed="rId3" cstate="print"/>
            <a:stretch>
              <a:fillRect/>
            </a:stretch>
          </p:blipFill>
          <p:spPr>
            <a:xfrm>
              <a:off x="10151988" y="3726179"/>
              <a:ext cx="123825" cy="123824"/>
            </a:xfrm>
            <a:prstGeom prst="rect">
              <a:avLst/>
            </a:prstGeom>
          </p:spPr>
        </p:pic>
        <p:pic>
          <p:nvPicPr>
            <p:cNvPr id="16" name="object 16"/>
            <p:cNvPicPr/>
            <p:nvPr/>
          </p:nvPicPr>
          <p:blipFill>
            <a:blip r:embed="rId3" cstate="print"/>
            <a:stretch>
              <a:fillRect/>
            </a:stretch>
          </p:blipFill>
          <p:spPr>
            <a:xfrm>
              <a:off x="10151988" y="4812029"/>
              <a:ext cx="123825" cy="123824"/>
            </a:xfrm>
            <a:prstGeom prst="rect">
              <a:avLst/>
            </a:prstGeom>
          </p:spPr>
        </p:pic>
        <p:pic>
          <p:nvPicPr>
            <p:cNvPr id="17" name="object 17"/>
            <p:cNvPicPr/>
            <p:nvPr/>
          </p:nvPicPr>
          <p:blipFill>
            <a:blip r:embed="rId3" cstate="print"/>
            <a:stretch>
              <a:fillRect/>
            </a:stretch>
          </p:blipFill>
          <p:spPr>
            <a:xfrm>
              <a:off x="10151988" y="6440804"/>
              <a:ext cx="123825" cy="123824"/>
            </a:xfrm>
            <a:prstGeom prst="rect">
              <a:avLst/>
            </a:prstGeom>
          </p:spPr>
        </p:pic>
        <p:pic>
          <p:nvPicPr>
            <p:cNvPr id="18" name="object 18"/>
            <p:cNvPicPr/>
            <p:nvPr/>
          </p:nvPicPr>
          <p:blipFill>
            <a:blip r:embed="rId4" cstate="print"/>
            <a:stretch>
              <a:fillRect/>
            </a:stretch>
          </p:blipFill>
          <p:spPr>
            <a:xfrm>
              <a:off x="10151988" y="7526654"/>
              <a:ext cx="123825" cy="123824"/>
            </a:xfrm>
            <a:prstGeom prst="rect">
              <a:avLst/>
            </a:prstGeom>
          </p:spPr>
        </p:pic>
      </p:grpSp>
      <p:sp>
        <p:nvSpPr>
          <p:cNvPr id="19" name="object 19"/>
          <p:cNvSpPr txBox="1"/>
          <p:nvPr/>
        </p:nvSpPr>
        <p:spPr>
          <a:xfrm>
            <a:off x="10449744" y="2285410"/>
            <a:ext cx="6452870" cy="6612255"/>
          </a:xfrm>
          <a:prstGeom prst="rect">
            <a:avLst/>
          </a:prstGeom>
        </p:spPr>
        <p:txBody>
          <a:bodyPr vert="horz" wrap="square" lIns="0" tIns="12700" rIns="0" bIns="0" rtlCol="0">
            <a:spAutoFit/>
          </a:bodyPr>
          <a:lstStyle/>
          <a:p>
            <a:pPr marR="905510" algn="ctr">
              <a:lnSpc>
                <a:spcPct val="100000"/>
              </a:lnSpc>
              <a:spcBef>
                <a:spcPts val="100"/>
              </a:spcBef>
            </a:pPr>
            <a:r>
              <a:rPr sz="3600" spc="-110" dirty="0">
                <a:solidFill>
                  <a:srgbClr val="2E377E"/>
                </a:solidFill>
                <a:latin typeface="Times New Roman"/>
                <a:cs typeface="Times New Roman"/>
              </a:rPr>
              <a:t>BINARY</a:t>
            </a:r>
            <a:r>
              <a:rPr sz="3600" spc="-100" dirty="0">
                <a:solidFill>
                  <a:srgbClr val="2E377E"/>
                </a:solidFill>
                <a:latin typeface="Times New Roman"/>
                <a:cs typeface="Times New Roman"/>
              </a:rPr>
              <a:t> </a:t>
            </a:r>
            <a:r>
              <a:rPr sz="3600" spc="-20" dirty="0">
                <a:solidFill>
                  <a:srgbClr val="2E377E"/>
                </a:solidFill>
                <a:latin typeface="Times New Roman"/>
                <a:cs typeface="Times New Roman"/>
              </a:rPr>
              <a:t>DATA</a:t>
            </a:r>
            <a:endParaRPr sz="3600">
              <a:latin typeface="Times New Roman"/>
              <a:cs typeface="Times New Roman"/>
            </a:endParaRPr>
          </a:p>
          <a:p>
            <a:pPr>
              <a:lnSpc>
                <a:spcPct val="100000"/>
              </a:lnSpc>
              <a:spcBef>
                <a:spcPts val="610"/>
              </a:spcBef>
            </a:pPr>
            <a:endParaRPr sz="3600">
              <a:latin typeface="Times New Roman"/>
              <a:cs typeface="Times New Roman"/>
            </a:endParaRPr>
          </a:p>
          <a:p>
            <a:pPr marL="12700" algn="just">
              <a:lnSpc>
                <a:spcPct val="100000"/>
              </a:lnSpc>
            </a:pPr>
            <a:r>
              <a:rPr sz="3600" dirty="0">
                <a:solidFill>
                  <a:srgbClr val="2E377E"/>
                </a:solidFill>
                <a:latin typeface="Georgia"/>
                <a:cs typeface="Georgia"/>
              </a:rPr>
              <a:t>Stores</a:t>
            </a:r>
            <a:r>
              <a:rPr sz="3600" spc="55" dirty="0">
                <a:solidFill>
                  <a:srgbClr val="2E377E"/>
                </a:solidFill>
                <a:latin typeface="Georgia"/>
                <a:cs typeface="Georgia"/>
              </a:rPr>
              <a:t> </a:t>
            </a:r>
            <a:r>
              <a:rPr sz="3600" dirty="0">
                <a:solidFill>
                  <a:srgbClr val="2E377E"/>
                </a:solidFill>
                <a:latin typeface="Georgia"/>
                <a:cs typeface="Georgia"/>
              </a:rPr>
              <a:t>data</a:t>
            </a:r>
            <a:r>
              <a:rPr sz="3600" spc="60" dirty="0">
                <a:solidFill>
                  <a:srgbClr val="2E377E"/>
                </a:solidFill>
                <a:latin typeface="Georgia"/>
                <a:cs typeface="Georgia"/>
              </a:rPr>
              <a:t> </a:t>
            </a:r>
            <a:r>
              <a:rPr sz="3600" dirty="0">
                <a:solidFill>
                  <a:srgbClr val="2E377E"/>
                </a:solidFill>
                <a:latin typeface="Georgia"/>
                <a:cs typeface="Georgia"/>
              </a:rPr>
              <a:t>in</a:t>
            </a:r>
            <a:r>
              <a:rPr sz="3600" spc="60" dirty="0">
                <a:solidFill>
                  <a:srgbClr val="2E377E"/>
                </a:solidFill>
                <a:latin typeface="Georgia"/>
                <a:cs typeface="Georgia"/>
              </a:rPr>
              <a:t> </a:t>
            </a:r>
            <a:r>
              <a:rPr sz="3600" dirty="0">
                <a:solidFill>
                  <a:srgbClr val="2E377E"/>
                </a:solidFill>
                <a:latin typeface="Georgia"/>
                <a:cs typeface="Georgia"/>
              </a:rPr>
              <a:t>binary</a:t>
            </a:r>
            <a:r>
              <a:rPr sz="3600" spc="60" dirty="0">
                <a:solidFill>
                  <a:srgbClr val="2E377E"/>
                </a:solidFill>
                <a:latin typeface="Georgia"/>
                <a:cs typeface="Georgia"/>
              </a:rPr>
              <a:t> </a:t>
            </a:r>
            <a:r>
              <a:rPr sz="3600" spc="-20" dirty="0">
                <a:solidFill>
                  <a:srgbClr val="2E377E"/>
                </a:solidFill>
                <a:latin typeface="Georgia"/>
                <a:cs typeface="Georgia"/>
              </a:rPr>
              <a:t>data</a:t>
            </a:r>
            <a:endParaRPr sz="3600">
              <a:latin typeface="Georgia"/>
              <a:cs typeface="Georgia"/>
            </a:endParaRPr>
          </a:p>
          <a:p>
            <a:pPr>
              <a:lnSpc>
                <a:spcPct val="100000"/>
              </a:lnSpc>
              <a:spcBef>
                <a:spcPts val="315"/>
              </a:spcBef>
            </a:pPr>
            <a:endParaRPr sz="3600">
              <a:latin typeface="Georgia"/>
              <a:cs typeface="Georgia"/>
            </a:endParaRPr>
          </a:p>
          <a:p>
            <a:pPr marL="12700" marR="5080" algn="just">
              <a:lnSpc>
                <a:spcPts val="4280"/>
              </a:lnSpc>
            </a:pPr>
            <a:r>
              <a:rPr sz="3600" dirty="0">
                <a:solidFill>
                  <a:srgbClr val="2E377E"/>
                </a:solidFill>
                <a:latin typeface="Georgia"/>
                <a:cs typeface="Georgia"/>
              </a:rPr>
              <a:t>stores</a:t>
            </a:r>
            <a:r>
              <a:rPr sz="3600" spc="690" dirty="0">
                <a:solidFill>
                  <a:srgbClr val="2E377E"/>
                </a:solidFill>
                <a:latin typeface="Georgia"/>
                <a:cs typeface="Georgia"/>
              </a:rPr>
              <a:t>   </a:t>
            </a:r>
            <a:r>
              <a:rPr sz="3600" spc="155" dirty="0">
                <a:solidFill>
                  <a:srgbClr val="2E377E"/>
                </a:solidFill>
                <a:latin typeface="Georgia"/>
                <a:cs typeface="Georgia"/>
              </a:rPr>
              <a:t>non-</a:t>
            </a:r>
            <a:r>
              <a:rPr sz="3600" dirty="0">
                <a:solidFill>
                  <a:srgbClr val="2E377E"/>
                </a:solidFill>
                <a:latin typeface="Georgia"/>
                <a:cs typeface="Georgia"/>
              </a:rPr>
              <a:t>text</a:t>
            </a:r>
            <a:r>
              <a:rPr sz="3600" spc="695" dirty="0">
                <a:solidFill>
                  <a:srgbClr val="2E377E"/>
                </a:solidFill>
                <a:latin typeface="Georgia"/>
                <a:cs typeface="Georgia"/>
              </a:rPr>
              <a:t>   </a:t>
            </a:r>
            <a:r>
              <a:rPr sz="3600" dirty="0">
                <a:solidFill>
                  <a:srgbClr val="2E377E"/>
                </a:solidFill>
                <a:latin typeface="Georgia"/>
                <a:cs typeface="Georgia"/>
              </a:rPr>
              <a:t>data</a:t>
            </a:r>
            <a:r>
              <a:rPr sz="3600" spc="690" dirty="0">
                <a:solidFill>
                  <a:srgbClr val="2E377E"/>
                </a:solidFill>
                <a:latin typeface="Georgia"/>
                <a:cs typeface="Georgia"/>
              </a:rPr>
              <a:t>   </a:t>
            </a:r>
            <a:r>
              <a:rPr sz="3600" spc="-20" dirty="0">
                <a:solidFill>
                  <a:srgbClr val="2E377E"/>
                </a:solidFill>
                <a:latin typeface="Georgia"/>
                <a:cs typeface="Georgia"/>
              </a:rPr>
              <a:t>like </a:t>
            </a:r>
            <a:r>
              <a:rPr sz="3600" dirty="0">
                <a:solidFill>
                  <a:srgbClr val="2E377E"/>
                </a:solidFill>
                <a:latin typeface="Georgia"/>
                <a:cs typeface="Georgia"/>
              </a:rPr>
              <a:t>images,</a:t>
            </a:r>
            <a:r>
              <a:rPr sz="3600" spc="25" dirty="0">
                <a:solidFill>
                  <a:srgbClr val="2E377E"/>
                </a:solidFill>
                <a:latin typeface="Georgia"/>
                <a:cs typeface="Georgia"/>
              </a:rPr>
              <a:t> </a:t>
            </a:r>
            <a:r>
              <a:rPr sz="3600" spc="60" dirty="0">
                <a:solidFill>
                  <a:srgbClr val="2E377E"/>
                </a:solidFill>
                <a:latin typeface="Georgia"/>
                <a:cs typeface="Georgia"/>
              </a:rPr>
              <a:t>videos</a:t>
            </a:r>
            <a:r>
              <a:rPr sz="3600" spc="30" dirty="0">
                <a:solidFill>
                  <a:srgbClr val="2E377E"/>
                </a:solidFill>
                <a:latin typeface="Georgia"/>
                <a:cs typeface="Georgia"/>
              </a:rPr>
              <a:t> </a:t>
            </a:r>
            <a:r>
              <a:rPr sz="3600" spc="70" dirty="0">
                <a:solidFill>
                  <a:srgbClr val="2E377E"/>
                </a:solidFill>
                <a:latin typeface="Georgia"/>
                <a:cs typeface="Georgia"/>
              </a:rPr>
              <a:t>or</a:t>
            </a:r>
            <a:r>
              <a:rPr sz="3600" spc="30" dirty="0">
                <a:solidFill>
                  <a:srgbClr val="2E377E"/>
                </a:solidFill>
                <a:latin typeface="Georgia"/>
                <a:cs typeface="Georgia"/>
              </a:rPr>
              <a:t> </a:t>
            </a:r>
            <a:r>
              <a:rPr sz="3600" dirty="0">
                <a:solidFill>
                  <a:srgbClr val="2E377E"/>
                </a:solidFill>
                <a:latin typeface="Georgia"/>
                <a:cs typeface="Georgia"/>
              </a:rPr>
              <a:t>binary</a:t>
            </a:r>
            <a:r>
              <a:rPr sz="3600" spc="25" dirty="0">
                <a:solidFill>
                  <a:srgbClr val="2E377E"/>
                </a:solidFill>
                <a:latin typeface="Georgia"/>
                <a:cs typeface="Georgia"/>
              </a:rPr>
              <a:t> </a:t>
            </a:r>
            <a:r>
              <a:rPr sz="3600" spc="-10" dirty="0">
                <a:solidFill>
                  <a:srgbClr val="2E377E"/>
                </a:solidFill>
                <a:latin typeface="Georgia"/>
                <a:cs typeface="Georgia"/>
              </a:rPr>
              <a:t>files</a:t>
            </a:r>
            <a:endParaRPr sz="3600">
              <a:latin typeface="Georgia"/>
              <a:cs typeface="Georgia"/>
            </a:endParaRPr>
          </a:p>
          <a:p>
            <a:pPr marL="12700" algn="just">
              <a:lnSpc>
                <a:spcPct val="100000"/>
              </a:lnSpc>
              <a:spcBef>
                <a:spcPts val="4090"/>
              </a:spcBef>
            </a:pPr>
            <a:r>
              <a:rPr sz="3600" spc="55" dirty="0">
                <a:solidFill>
                  <a:srgbClr val="2E377E"/>
                </a:solidFill>
                <a:latin typeface="Georgia"/>
                <a:cs typeface="Georgia"/>
              </a:rPr>
              <a:t>Encoded</a:t>
            </a:r>
            <a:r>
              <a:rPr sz="3600" spc="-25" dirty="0">
                <a:solidFill>
                  <a:srgbClr val="2E377E"/>
                </a:solidFill>
                <a:latin typeface="Georgia"/>
                <a:cs typeface="Georgia"/>
              </a:rPr>
              <a:t> </a:t>
            </a:r>
            <a:r>
              <a:rPr sz="3600" dirty="0">
                <a:solidFill>
                  <a:srgbClr val="2E377E"/>
                </a:solidFill>
                <a:latin typeface="Georgia"/>
                <a:cs typeface="Georgia"/>
              </a:rPr>
              <a:t>in</a:t>
            </a:r>
            <a:r>
              <a:rPr sz="3600" spc="-25" dirty="0">
                <a:solidFill>
                  <a:srgbClr val="2E377E"/>
                </a:solidFill>
                <a:latin typeface="Georgia"/>
                <a:cs typeface="Georgia"/>
              </a:rPr>
              <a:t> </a:t>
            </a:r>
            <a:r>
              <a:rPr sz="3600" spc="-65" dirty="0">
                <a:solidFill>
                  <a:srgbClr val="2E377E"/>
                </a:solidFill>
                <a:latin typeface="Georgia"/>
                <a:cs typeface="Georgia"/>
              </a:rPr>
              <a:t>BASE-</a:t>
            </a:r>
            <a:r>
              <a:rPr sz="3600" spc="-100" dirty="0">
                <a:solidFill>
                  <a:srgbClr val="2E377E"/>
                </a:solidFill>
                <a:latin typeface="Georgia"/>
                <a:cs typeface="Georgia"/>
              </a:rPr>
              <a:t>64</a:t>
            </a:r>
            <a:r>
              <a:rPr sz="3600" spc="-20" dirty="0">
                <a:solidFill>
                  <a:srgbClr val="2E377E"/>
                </a:solidFill>
                <a:latin typeface="Georgia"/>
                <a:cs typeface="Georgia"/>
              </a:rPr>
              <a:t> </a:t>
            </a:r>
            <a:r>
              <a:rPr sz="3600" spc="-10" dirty="0">
                <a:solidFill>
                  <a:srgbClr val="2E377E"/>
                </a:solidFill>
                <a:latin typeface="Georgia"/>
                <a:cs typeface="Georgia"/>
              </a:rPr>
              <a:t>format</a:t>
            </a:r>
            <a:endParaRPr sz="3600">
              <a:latin typeface="Georgia"/>
              <a:cs typeface="Georgia"/>
            </a:endParaRPr>
          </a:p>
          <a:p>
            <a:pPr>
              <a:lnSpc>
                <a:spcPct val="100000"/>
              </a:lnSpc>
              <a:spcBef>
                <a:spcPts val="295"/>
              </a:spcBef>
            </a:pPr>
            <a:endParaRPr sz="3600">
              <a:latin typeface="Georgia"/>
              <a:cs typeface="Georgia"/>
            </a:endParaRPr>
          </a:p>
          <a:p>
            <a:pPr marL="12700" marR="5080" algn="just">
              <a:lnSpc>
                <a:spcPts val="4270"/>
              </a:lnSpc>
              <a:spcBef>
                <a:spcPts val="5"/>
              </a:spcBef>
            </a:pPr>
            <a:r>
              <a:rPr sz="3600" dirty="0">
                <a:solidFill>
                  <a:srgbClr val="2E377E"/>
                </a:solidFill>
                <a:latin typeface="Georgia"/>
                <a:cs typeface="Georgia"/>
              </a:rPr>
              <a:t>Here</a:t>
            </a:r>
            <a:r>
              <a:rPr sz="3600" spc="395" dirty="0">
                <a:solidFill>
                  <a:srgbClr val="2E377E"/>
                </a:solidFill>
                <a:latin typeface="Georgia"/>
                <a:cs typeface="Georgia"/>
              </a:rPr>
              <a:t> </a:t>
            </a:r>
            <a:r>
              <a:rPr sz="3600" spc="95" dirty="0">
                <a:solidFill>
                  <a:srgbClr val="2E377E"/>
                </a:solidFill>
                <a:latin typeface="Georgia"/>
                <a:cs typeface="Georgia"/>
              </a:rPr>
              <a:t>you</a:t>
            </a:r>
            <a:r>
              <a:rPr sz="3600" spc="400" dirty="0">
                <a:solidFill>
                  <a:srgbClr val="2E377E"/>
                </a:solidFill>
                <a:latin typeface="Georgia"/>
                <a:cs typeface="Georgia"/>
              </a:rPr>
              <a:t> </a:t>
            </a:r>
            <a:r>
              <a:rPr sz="3600" spc="105" dirty="0">
                <a:solidFill>
                  <a:srgbClr val="2E377E"/>
                </a:solidFill>
                <a:latin typeface="Georgia"/>
                <a:cs typeface="Georgia"/>
              </a:rPr>
              <a:t>need</a:t>
            </a:r>
            <a:r>
              <a:rPr sz="3600" spc="400" dirty="0">
                <a:solidFill>
                  <a:srgbClr val="2E377E"/>
                </a:solidFill>
                <a:latin typeface="Georgia"/>
                <a:cs typeface="Georgia"/>
              </a:rPr>
              <a:t> </a:t>
            </a:r>
            <a:r>
              <a:rPr sz="3600" dirty="0">
                <a:solidFill>
                  <a:srgbClr val="2E377E"/>
                </a:solidFill>
                <a:latin typeface="Georgia"/>
                <a:cs typeface="Georgia"/>
              </a:rPr>
              <a:t>to</a:t>
            </a:r>
            <a:r>
              <a:rPr sz="3600" spc="400" dirty="0">
                <a:solidFill>
                  <a:srgbClr val="2E377E"/>
                </a:solidFill>
                <a:latin typeface="Georgia"/>
                <a:cs typeface="Georgia"/>
              </a:rPr>
              <a:t> </a:t>
            </a:r>
            <a:r>
              <a:rPr sz="3600" spc="125" dirty="0">
                <a:solidFill>
                  <a:srgbClr val="2E377E"/>
                </a:solidFill>
                <a:latin typeface="Georgia"/>
                <a:cs typeface="Georgia"/>
              </a:rPr>
              <a:t>decode</a:t>
            </a:r>
            <a:r>
              <a:rPr sz="3600" spc="400" dirty="0">
                <a:solidFill>
                  <a:srgbClr val="2E377E"/>
                </a:solidFill>
                <a:latin typeface="Georgia"/>
                <a:cs typeface="Georgia"/>
              </a:rPr>
              <a:t> </a:t>
            </a:r>
            <a:r>
              <a:rPr sz="3600" spc="-20" dirty="0">
                <a:solidFill>
                  <a:srgbClr val="2E377E"/>
                </a:solidFill>
                <a:latin typeface="Georgia"/>
                <a:cs typeface="Georgia"/>
              </a:rPr>
              <a:t>data </a:t>
            </a:r>
            <a:r>
              <a:rPr sz="3600" spc="70" dirty="0">
                <a:solidFill>
                  <a:srgbClr val="2E377E"/>
                </a:solidFill>
                <a:latin typeface="Georgia"/>
                <a:cs typeface="Georgia"/>
              </a:rPr>
              <a:t>from</a:t>
            </a:r>
            <a:r>
              <a:rPr sz="3600" spc="229" dirty="0">
                <a:solidFill>
                  <a:srgbClr val="2E377E"/>
                </a:solidFill>
                <a:latin typeface="Georgia"/>
                <a:cs typeface="Georgia"/>
              </a:rPr>
              <a:t>  </a:t>
            </a:r>
            <a:r>
              <a:rPr sz="3600" spc="-65" dirty="0">
                <a:solidFill>
                  <a:srgbClr val="2E377E"/>
                </a:solidFill>
                <a:latin typeface="Georgia"/>
                <a:cs typeface="Georgia"/>
              </a:rPr>
              <a:t>BASE-</a:t>
            </a:r>
            <a:r>
              <a:rPr sz="3600" dirty="0">
                <a:solidFill>
                  <a:srgbClr val="2E377E"/>
                </a:solidFill>
                <a:latin typeface="Georgia"/>
                <a:cs typeface="Georgia"/>
              </a:rPr>
              <a:t>64</a:t>
            </a:r>
            <a:r>
              <a:rPr sz="3600" spc="229" dirty="0">
                <a:solidFill>
                  <a:srgbClr val="2E377E"/>
                </a:solidFill>
                <a:latin typeface="Georgia"/>
                <a:cs typeface="Georgia"/>
              </a:rPr>
              <a:t>  </a:t>
            </a:r>
            <a:r>
              <a:rPr sz="3600" dirty="0">
                <a:solidFill>
                  <a:srgbClr val="2E377E"/>
                </a:solidFill>
                <a:latin typeface="Georgia"/>
                <a:cs typeface="Georgia"/>
              </a:rPr>
              <a:t>format</a:t>
            </a:r>
            <a:r>
              <a:rPr sz="3600" spc="229" dirty="0">
                <a:solidFill>
                  <a:srgbClr val="2E377E"/>
                </a:solidFill>
                <a:latin typeface="Georgia"/>
                <a:cs typeface="Georgia"/>
              </a:rPr>
              <a:t>  </a:t>
            </a:r>
            <a:r>
              <a:rPr sz="3600" spc="85" dirty="0">
                <a:solidFill>
                  <a:srgbClr val="2E377E"/>
                </a:solidFill>
                <a:latin typeface="Georgia"/>
                <a:cs typeface="Georgia"/>
              </a:rPr>
              <a:t>before </a:t>
            </a:r>
            <a:r>
              <a:rPr sz="3600" spc="-10" dirty="0">
                <a:solidFill>
                  <a:srgbClr val="2E377E"/>
                </a:solidFill>
                <a:latin typeface="Georgia"/>
                <a:cs typeface="Georgia"/>
              </a:rPr>
              <a:t>using</a:t>
            </a:r>
            <a:endParaRPr sz="3600">
              <a:latin typeface="Georgia"/>
              <a:cs typeface="Georgia"/>
            </a:endParaRPr>
          </a:p>
        </p:txBody>
      </p:sp>
      <p:sp>
        <p:nvSpPr>
          <p:cNvPr id="20" name="object 20"/>
          <p:cNvSpPr txBox="1">
            <a:spLocks noGrp="1"/>
          </p:cNvSpPr>
          <p:nvPr>
            <p:ph type="title"/>
          </p:nvPr>
        </p:nvSpPr>
        <p:spPr>
          <a:prstGeom prst="rect">
            <a:avLst/>
          </a:prstGeom>
        </p:spPr>
        <p:txBody>
          <a:bodyPr vert="horz" wrap="square" lIns="0" tIns="463653" rIns="0" bIns="0" rtlCol="0">
            <a:spAutoFit/>
          </a:bodyPr>
          <a:lstStyle/>
          <a:p>
            <a:pPr marL="217804">
              <a:lnSpc>
                <a:spcPct val="100000"/>
              </a:lnSpc>
              <a:spcBef>
                <a:spcPts val="100"/>
              </a:spcBef>
            </a:pPr>
            <a:r>
              <a:rPr sz="3600" b="0" dirty="0">
                <a:solidFill>
                  <a:srgbClr val="2E377E"/>
                </a:solidFill>
                <a:latin typeface="Georgia"/>
                <a:cs typeface="Georgia"/>
              </a:rPr>
              <a:t>There are </a:t>
            </a:r>
            <a:r>
              <a:rPr sz="3600" b="0" spc="-265" dirty="0">
                <a:solidFill>
                  <a:srgbClr val="2E377E"/>
                </a:solidFill>
                <a:latin typeface="Georgia"/>
                <a:cs typeface="Georgia"/>
              </a:rPr>
              <a:t>2</a:t>
            </a:r>
            <a:r>
              <a:rPr sz="3600" b="0" dirty="0">
                <a:solidFill>
                  <a:srgbClr val="2E377E"/>
                </a:solidFill>
                <a:latin typeface="Georgia"/>
                <a:cs typeface="Georgia"/>
              </a:rPr>
              <a:t> possible </a:t>
            </a:r>
            <a:r>
              <a:rPr sz="3600" b="0" spc="105" dirty="0">
                <a:solidFill>
                  <a:srgbClr val="2E377E"/>
                </a:solidFill>
                <a:latin typeface="Georgia"/>
                <a:cs typeface="Georgia"/>
              </a:rPr>
              <a:t>ways</a:t>
            </a:r>
            <a:r>
              <a:rPr sz="3600" b="0" dirty="0">
                <a:solidFill>
                  <a:srgbClr val="2E377E"/>
                </a:solidFill>
                <a:latin typeface="Georgia"/>
                <a:cs typeface="Georgia"/>
              </a:rPr>
              <a:t> </a:t>
            </a:r>
            <a:r>
              <a:rPr sz="3600" b="0" spc="70" dirty="0">
                <a:solidFill>
                  <a:srgbClr val="2E377E"/>
                </a:solidFill>
                <a:latin typeface="Georgia"/>
                <a:cs typeface="Georgia"/>
              </a:rPr>
              <a:t>to</a:t>
            </a:r>
            <a:r>
              <a:rPr sz="3600" b="0" dirty="0">
                <a:solidFill>
                  <a:srgbClr val="2E377E"/>
                </a:solidFill>
                <a:latin typeface="Georgia"/>
                <a:cs typeface="Georgia"/>
              </a:rPr>
              <a:t> </a:t>
            </a:r>
            <a:r>
              <a:rPr sz="3600" b="0" spc="55" dirty="0">
                <a:solidFill>
                  <a:srgbClr val="2E377E"/>
                </a:solidFill>
                <a:latin typeface="Georgia"/>
                <a:cs typeface="Georgia"/>
              </a:rPr>
              <a:t>store</a:t>
            </a:r>
            <a:r>
              <a:rPr sz="3600" b="0" spc="5" dirty="0">
                <a:solidFill>
                  <a:srgbClr val="2E377E"/>
                </a:solidFill>
                <a:latin typeface="Georgia"/>
                <a:cs typeface="Georgia"/>
              </a:rPr>
              <a:t> </a:t>
            </a:r>
            <a:r>
              <a:rPr sz="3600" b="0" spc="60" dirty="0">
                <a:solidFill>
                  <a:srgbClr val="2E377E"/>
                </a:solidFill>
                <a:latin typeface="Georgia"/>
                <a:cs typeface="Georgia"/>
              </a:rPr>
              <a:t>the</a:t>
            </a:r>
            <a:r>
              <a:rPr sz="3600" b="0" dirty="0">
                <a:solidFill>
                  <a:srgbClr val="2E377E"/>
                </a:solidFill>
                <a:latin typeface="Georgia"/>
                <a:cs typeface="Georgia"/>
              </a:rPr>
              <a:t> data in config </a:t>
            </a:r>
            <a:r>
              <a:rPr sz="3600" b="0" spc="-20" dirty="0">
                <a:solidFill>
                  <a:srgbClr val="2E377E"/>
                </a:solidFill>
                <a:latin typeface="Georgia"/>
                <a:cs typeface="Georgia"/>
              </a:rPr>
              <a:t>maps</a:t>
            </a:r>
            <a:endParaRPr sz="3600">
              <a:latin typeface="Georgia"/>
              <a:cs typeface="Georgia"/>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70149" rIns="0" bIns="0" rtlCol="0">
            <a:spAutoFit/>
          </a:bodyPr>
          <a:lstStyle/>
          <a:p>
            <a:pPr marL="299085">
              <a:lnSpc>
                <a:spcPct val="100000"/>
              </a:lnSpc>
              <a:spcBef>
                <a:spcPts val="100"/>
              </a:spcBef>
            </a:pPr>
            <a:r>
              <a:rPr spc="-50" dirty="0">
                <a:solidFill>
                  <a:srgbClr val="FF3131"/>
                </a:solidFill>
              </a:rPr>
              <a:t>INIT</a:t>
            </a:r>
            <a:r>
              <a:rPr spc="-250" dirty="0">
                <a:solidFill>
                  <a:srgbClr val="FF3131"/>
                </a:solidFill>
              </a:rPr>
              <a:t> </a:t>
            </a:r>
            <a:r>
              <a:rPr spc="-155" dirty="0">
                <a:solidFill>
                  <a:srgbClr val="FF3131"/>
                </a:solidFill>
              </a:rPr>
              <a:t>CONTAINERS:</a:t>
            </a:r>
          </a:p>
        </p:txBody>
      </p:sp>
      <p:pic>
        <p:nvPicPr>
          <p:cNvPr id="3" name="object 3"/>
          <p:cNvPicPr/>
          <p:nvPr/>
        </p:nvPicPr>
        <p:blipFill>
          <a:blip r:embed="rId2" cstate="print"/>
          <a:stretch>
            <a:fillRect/>
          </a:stretch>
        </p:blipFill>
        <p:spPr>
          <a:xfrm>
            <a:off x="1447799" y="1943208"/>
            <a:ext cx="133350" cy="133349"/>
          </a:xfrm>
          <a:prstGeom prst="rect">
            <a:avLst/>
          </a:prstGeom>
        </p:spPr>
      </p:pic>
      <p:pic>
        <p:nvPicPr>
          <p:cNvPr id="4" name="object 4"/>
          <p:cNvPicPr/>
          <p:nvPr/>
        </p:nvPicPr>
        <p:blipFill>
          <a:blip r:embed="rId2" cstate="print"/>
          <a:stretch>
            <a:fillRect/>
          </a:stretch>
        </p:blipFill>
        <p:spPr>
          <a:xfrm>
            <a:off x="1447799" y="3181458"/>
            <a:ext cx="133350" cy="133349"/>
          </a:xfrm>
          <a:prstGeom prst="rect">
            <a:avLst/>
          </a:prstGeom>
        </p:spPr>
      </p:pic>
      <p:pic>
        <p:nvPicPr>
          <p:cNvPr id="5" name="object 5"/>
          <p:cNvPicPr/>
          <p:nvPr/>
        </p:nvPicPr>
        <p:blipFill>
          <a:blip r:embed="rId2" cstate="print"/>
          <a:stretch>
            <a:fillRect/>
          </a:stretch>
        </p:blipFill>
        <p:spPr>
          <a:xfrm>
            <a:off x="1447799" y="4419708"/>
            <a:ext cx="133350" cy="133349"/>
          </a:xfrm>
          <a:prstGeom prst="rect">
            <a:avLst/>
          </a:prstGeom>
        </p:spPr>
      </p:pic>
      <p:pic>
        <p:nvPicPr>
          <p:cNvPr id="6" name="object 6"/>
          <p:cNvPicPr/>
          <p:nvPr/>
        </p:nvPicPr>
        <p:blipFill>
          <a:blip r:embed="rId2" cstate="print"/>
          <a:stretch>
            <a:fillRect/>
          </a:stretch>
        </p:blipFill>
        <p:spPr>
          <a:xfrm>
            <a:off x="1689644" y="6977374"/>
            <a:ext cx="133350" cy="133349"/>
          </a:xfrm>
          <a:prstGeom prst="rect">
            <a:avLst/>
          </a:prstGeom>
        </p:spPr>
      </p:pic>
      <p:pic>
        <p:nvPicPr>
          <p:cNvPr id="7" name="object 7"/>
          <p:cNvPicPr/>
          <p:nvPr/>
        </p:nvPicPr>
        <p:blipFill>
          <a:blip r:embed="rId2" cstate="print"/>
          <a:stretch>
            <a:fillRect/>
          </a:stretch>
        </p:blipFill>
        <p:spPr>
          <a:xfrm>
            <a:off x="1689644" y="8215624"/>
            <a:ext cx="133350" cy="133349"/>
          </a:xfrm>
          <a:prstGeom prst="rect">
            <a:avLst/>
          </a:prstGeom>
        </p:spPr>
      </p:pic>
      <p:pic>
        <p:nvPicPr>
          <p:cNvPr id="8" name="object 8"/>
          <p:cNvPicPr/>
          <p:nvPr/>
        </p:nvPicPr>
        <p:blipFill>
          <a:blip r:embed="rId2" cstate="print"/>
          <a:stretch>
            <a:fillRect/>
          </a:stretch>
        </p:blipFill>
        <p:spPr>
          <a:xfrm>
            <a:off x="1689644" y="8834749"/>
            <a:ext cx="133350" cy="133349"/>
          </a:xfrm>
          <a:prstGeom prst="rect">
            <a:avLst/>
          </a:prstGeom>
        </p:spPr>
      </p:pic>
      <p:pic>
        <p:nvPicPr>
          <p:cNvPr id="9" name="object 9"/>
          <p:cNvPicPr/>
          <p:nvPr/>
        </p:nvPicPr>
        <p:blipFill>
          <a:blip r:embed="rId2" cstate="print"/>
          <a:stretch>
            <a:fillRect/>
          </a:stretch>
        </p:blipFill>
        <p:spPr>
          <a:xfrm>
            <a:off x="1689644" y="9453874"/>
            <a:ext cx="133350" cy="133349"/>
          </a:xfrm>
          <a:prstGeom prst="rect">
            <a:avLst/>
          </a:prstGeom>
        </p:spPr>
      </p:pic>
      <p:sp>
        <p:nvSpPr>
          <p:cNvPr id="10" name="object 10"/>
          <p:cNvSpPr txBox="1"/>
          <p:nvPr/>
        </p:nvSpPr>
        <p:spPr>
          <a:xfrm>
            <a:off x="1016000" y="1600295"/>
            <a:ext cx="16407130" cy="8155305"/>
          </a:xfrm>
          <a:prstGeom prst="rect">
            <a:avLst/>
          </a:prstGeom>
        </p:spPr>
        <p:txBody>
          <a:bodyPr vert="horz" wrap="square" lIns="0" tIns="12065" rIns="0" bIns="0" rtlCol="0">
            <a:spAutoFit/>
          </a:bodyPr>
          <a:lstStyle/>
          <a:p>
            <a:pPr marL="767715" marR="6350">
              <a:lnSpc>
                <a:spcPct val="116100"/>
              </a:lnSpc>
              <a:spcBef>
                <a:spcPts val="95"/>
              </a:spcBef>
              <a:tabLst>
                <a:tab pos="1706245" algn="l"/>
                <a:tab pos="2590165" algn="l"/>
                <a:tab pos="4698365" algn="l"/>
                <a:tab pos="5213985" algn="l"/>
                <a:tab pos="5622925" algn="l"/>
                <a:tab pos="7181215" algn="l"/>
                <a:tab pos="8264525" algn="l"/>
                <a:tab pos="8846820" algn="l"/>
                <a:tab pos="10955020" algn="l"/>
                <a:tab pos="11963400" algn="l"/>
                <a:tab pos="13066394" algn="l"/>
                <a:tab pos="14533880" algn="l"/>
                <a:tab pos="15373350" algn="l"/>
              </a:tabLst>
            </a:pPr>
            <a:r>
              <a:rPr sz="3500" spc="-25" dirty="0">
                <a:solidFill>
                  <a:srgbClr val="2E377E"/>
                </a:solidFill>
                <a:latin typeface="Georgia"/>
                <a:cs typeface="Georgia"/>
              </a:rPr>
              <a:t>The</a:t>
            </a:r>
            <a:r>
              <a:rPr sz="3500" dirty="0">
                <a:solidFill>
                  <a:srgbClr val="2E377E"/>
                </a:solidFill>
                <a:latin typeface="Georgia"/>
                <a:cs typeface="Georgia"/>
              </a:rPr>
              <a:t>	</a:t>
            </a:r>
            <a:r>
              <a:rPr sz="3500" spc="-20" dirty="0">
                <a:solidFill>
                  <a:srgbClr val="2E377E"/>
                </a:solidFill>
                <a:latin typeface="Georgia"/>
                <a:cs typeface="Georgia"/>
              </a:rPr>
              <a:t>init</a:t>
            </a:r>
            <a:r>
              <a:rPr sz="3500" dirty="0">
                <a:solidFill>
                  <a:srgbClr val="2E377E"/>
                </a:solidFill>
                <a:latin typeface="Georgia"/>
                <a:cs typeface="Georgia"/>
              </a:rPr>
              <a:t>	</a:t>
            </a:r>
            <a:r>
              <a:rPr sz="3500" spc="-10" dirty="0">
                <a:solidFill>
                  <a:srgbClr val="2E377E"/>
                </a:solidFill>
                <a:latin typeface="Georgia"/>
                <a:cs typeface="Georgia"/>
              </a:rPr>
              <a:t>container</a:t>
            </a:r>
            <a:r>
              <a:rPr sz="3500" dirty="0">
                <a:solidFill>
                  <a:srgbClr val="2E377E"/>
                </a:solidFill>
                <a:latin typeface="Georgia"/>
                <a:cs typeface="Georgia"/>
              </a:rPr>
              <a:t>	</a:t>
            </a:r>
            <a:r>
              <a:rPr sz="3500" spc="-25" dirty="0">
                <a:solidFill>
                  <a:srgbClr val="2E377E"/>
                </a:solidFill>
                <a:latin typeface="Georgia"/>
                <a:cs typeface="Georgia"/>
              </a:rPr>
              <a:t>is</a:t>
            </a:r>
            <a:r>
              <a:rPr sz="3500" dirty="0">
                <a:solidFill>
                  <a:srgbClr val="2E377E"/>
                </a:solidFill>
                <a:latin typeface="Georgia"/>
                <a:cs typeface="Georgia"/>
              </a:rPr>
              <a:t>	</a:t>
            </a:r>
            <a:r>
              <a:rPr sz="3500" spc="-50" dirty="0">
                <a:solidFill>
                  <a:srgbClr val="2E377E"/>
                </a:solidFill>
                <a:latin typeface="Georgia"/>
                <a:cs typeface="Georgia"/>
              </a:rPr>
              <a:t>a</a:t>
            </a:r>
            <a:r>
              <a:rPr sz="3500" dirty="0">
                <a:solidFill>
                  <a:srgbClr val="2E377E"/>
                </a:solidFill>
                <a:latin typeface="Georgia"/>
                <a:cs typeface="Georgia"/>
              </a:rPr>
              <a:t>	</a:t>
            </a:r>
            <a:r>
              <a:rPr sz="3500" spc="-10" dirty="0">
                <a:solidFill>
                  <a:srgbClr val="2E377E"/>
                </a:solidFill>
                <a:latin typeface="Georgia"/>
                <a:cs typeface="Georgia"/>
              </a:rPr>
              <a:t>special</a:t>
            </a:r>
            <a:r>
              <a:rPr sz="3500" dirty="0">
                <a:solidFill>
                  <a:srgbClr val="2E377E"/>
                </a:solidFill>
                <a:latin typeface="Georgia"/>
                <a:cs typeface="Georgia"/>
              </a:rPr>
              <a:t>	</a:t>
            </a:r>
            <a:r>
              <a:rPr sz="3500" spc="80" dirty="0">
                <a:solidFill>
                  <a:srgbClr val="2E377E"/>
                </a:solidFill>
                <a:latin typeface="Georgia"/>
                <a:cs typeface="Georgia"/>
              </a:rPr>
              <a:t>type</a:t>
            </a:r>
            <a:r>
              <a:rPr sz="3500" dirty="0">
                <a:solidFill>
                  <a:srgbClr val="2E377E"/>
                </a:solidFill>
                <a:latin typeface="Georgia"/>
                <a:cs typeface="Georgia"/>
              </a:rPr>
              <a:t>	</a:t>
            </a:r>
            <a:r>
              <a:rPr sz="3500" spc="-25" dirty="0">
                <a:solidFill>
                  <a:srgbClr val="2E377E"/>
                </a:solidFill>
                <a:latin typeface="Georgia"/>
                <a:cs typeface="Georgia"/>
              </a:rPr>
              <a:t>of</a:t>
            </a:r>
            <a:r>
              <a:rPr sz="3500" dirty="0">
                <a:solidFill>
                  <a:srgbClr val="2E377E"/>
                </a:solidFill>
                <a:latin typeface="Georgia"/>
                <a:cs typeface="Georgia"/>
              </a:rPr>
              <a:t>	</a:t>
            </a:r>
            <a:r>
              <a:rPr sz="3500" spc="-10" dirty="0">
                <a:solidFill>
                  <a:srgbClr val="2E377E"/>
                </a:solidFill>
                <a:latin typeface="Georgia"/>
                <a:cs typeface="Georgia"/>
              </a:rPr>
              <a:t>container</a:t>
            </a:r>
            <a:r>
              <a:rPr sz="3500" dirty="0">
                <a:solidFill>
                  <a:srgbClr val="2E377E"/>
                </a:solidFill>
                <a:latin typeface="Georgia"/>
                <a:cs typeface="Georgia"/>
              </a:rPr>
              <a:t>	</a:t>
            </a:r>
            <a:r>
              <a:rPr sz="3500" spc="30" dirty="0">
                <a:solidFill>
                  <a:srgbClr val="2E377E"/>
                </a:solidFill>
                <a:latin typeface="Georgia"/>
                <a:cs typeface="Georgia"/>
              </a:rPr>
              <a:t>that</a:t>
            </a:r>
            <a:r>
              <a:rPr sz="3500" dirty="0">
                <a:solidFill>
                  <a:srgbClr val="2E377E"/>
                </a:solidFill>
                <a:latin typeface="Georgia"/>
                <a:cs typeface="Georgia"/>
              </a:rPr>
              <a:t>	</a:t>
            </a:r>
            <a:r>
              <a:rPr sz="3500" spc="-20" dirty="0">
                <a:solidFill>
                  <a:srgbClr val="2E377E"/>
                </a:solidFill>
                <a:latin typeface="Georgia"/>
                <a:cs typeface="Georgia"/>
              </a:rPr>
              <a:t>runs</a:t>
            </a:r>
            <a:r>
              <a:rPr sz="3500" dirty="0">
                <a:solidFill>
                  <a:srgbClr val="2E377E"/>
                </a:solidFill>
                <a:latin typeface="Georgia"/>
                <a:cs typeface="Georgia"/>
              </a:rPr>
              <a:t>	</a:t>
            </a:r>
            <a:r>
              <a:rPr sz="3500" spc="-10" dirty="0">
                <a:solidFill>
                  <a:srgbClr val="2E377E"/>
                </a:solidFill>
                <a:latin typeface="Georgia"/>
                <a:cs typeface="Georgia"/>
              </a:rPr>
              <a:t>before</a:t>
            </a:r>
            <a:r>
              <a:rPr sz="3500" dirty="0">
                <a:solidFill>
                  <a:srgbClr val="2E377E"/>
                </a:solidFill>
                <a:latin typeface="Georgia"/>
                <a:cs typeface="Georgia"/>
              </a:rPr>
              <a:t>	</a:t>
            </a:r>
            <a:r>
              <a:rPr sz="3500" spc="35" dirty="0">
                <a:solidFill>
                  <a:srgbClr val="2E377E"/>
                </a:solidFill>
                <a:latin typeface="Georgia"/>
                <a:cs typeface="Georgia"/>
              </a:rPr>
              <a:t>the</a:t>
            </a:r>
            <a:r>
              <a:rPr sz="3500" dirty="0">
                <a:solidFill>
                  <a:srgbClr val="2E377E"/>
                </a:solidFill>
                <a:latin typeface="Georgia"/>
                <a:cs typeface="Georgia"/>
              </a:rPr>
              <a:t>	</a:t>
            </a:r>
            <a:r>
              <a:rPr sz="3500" spc="-20" dirty="0">
                <a:solidFill>
                  <a:srgbClr val="2E377E"/>
                </a:solidFill>
                <a:latin typeface="Georgia"/>
                <a:cs typeface="Georgia"/>
              </a:rPr>
              <a:t>main </a:t>
            </a:r>
            <a:r>
              <a:rPr sz="3500" dirty="0">
                <a:solidFill>
                  <a:srgbClr val="2E377E"/>
                </a:solidFill>
                <a:latin typeface="Georgia"/>
                <a:cs typeface="Georgia"/>
              </a:rPr>
              <a:t>containers</a:t>
            </a:r>
            <a:r>
              <a:rPr sz="3500" spc="25" dirty="0">
                <a:solidFill>
                  <a:srgbClr val="2E377E"/>
                </a:solidFill>
                <a:latin typeface="Georgia"/>
                <a:cs typeface="Georgia"/>
              </a:rPr>
              <a:t> </a:t>
            </a:r>
            <a:r>
              <a:rPr sz="3500" dirty="0">
                <a:solidFill>
                  <a:srgbClr val="2E377E"/>
                </a:solidFill>
                <a:latin typeface="Georgia"/>
                <a:cs typeface="Georgia"/>
              </a:rPr>
              <a:t>in</a:t>
            </a:r>
            <a:r>
              <a:rPr sz="3500" spc="30" dirty="0">
                <a:solidFill>
                  <a:srgbClr val="2E377E"/>
                </a:solidFill>
                <a:latin typeface="Georgia"/>
                <a:cs typeface="Georgia"/>
              </a:rPr>
              <a:t> </a:t>
            </a:r>
            <a:r>
              <a:rPr sz="3500" dirty="0">
                <a:solidFill>
                  <a:srgbClr val="2E377E"/>
                </a:solidFill>
                <a:latin typeface="Georgia"/>
                <a:cs typeface="Georgia"/>
              </a:rPr>
              <a:t>a</a:t>
            </a:r>
            <a:r>
              <a:rPr sz="3500" spc="30" dirty="0">
                <a:solidFill>
                  <a:srgbClr val="2E377E"/>
                </a:solidFill>
                <a:latin typeface="Georgia"/>
                <a:cs typeface="Georgia"/>
              </a:rPr>
              <a:t> </a:t>
            </a:r>
            <a:r>
              <a:rPr sz="3500" dirty="0">
                <a:solidFill>
                  <a:srgbClr val="2E377E"/>
                </a:solidFill>
                <a:latin typeface="Georgia"/>
                <a:cs typeface="Georgia"/>
              </a:rPr>
              <a:t>pod</a:t>
            </a:r>
            <a:r>
              <a:rPr sz="3500" spc="30" dirty="0">
                <a:solidFill>
                  <a:srgbClr val="2E377E"/>
                </a:solidFill>
                <a:latin typeface="Georgia"/>
                <a:cs typeface="Georgia"/>
              </a:rPr>
              <a:t> </a:t>
            </a:r>
            <a:r>
              <a:rPr sz="3500" spc="-10" dirty="0">
                <a:solidFill>
                  <a:srgbClr val="2E377E"/>
                </a:solidFill>
                <a:latin typeface="Georgia"/>
                <a:cs typeface="Georgia"/>
              </a:rPr>
              <a:t>start.</a:t>
            </a:r>
            <a:endParaRPr sz="3500">
              <a:latin typeface="Georgia"/>
              <a:cs typeface="Georgia"/>
            </a:endParaRPr>
          </a:p>
          <a:p>
            <a:pPr marL="767715" marR="6350">
              <a:lnSpc>
                <a:spcPts val="4880"/>
              </a:lnSpc>
              <a:spcBef>
                <a:spcPts val="275"/>
              </a:spcBef>
            </a:pPr>
            <a:r>
              <a:rPr sz="3500" dirty="0">
                <a:solidFill>
                  <a:srgbClr val="2E377E"/>
                </a:solidFill>
                <a:latin typeface="Georgia"/>
                <a:cs typeface="Georgia"/>
              </a:rPr>
              <a:t>Its</a:t>
            </a:r>
            <a:r>
              <a:rPr sz="3500" spc="440" dirty="0">
                <a:solidFill>
                  <a:srgbClr val="2E377E"/>
                </a:solidFill>
                <a:latin typeface="Georgia"/>
                <a:cs typeface="Georgia"/>
              </a:rPr>
              <a:t> </a:t>
            </a:r>
            <a:r>
              <a:rPr sz="3500" spc="45" dirty="0">
                <a:solidFill>
                  <a:srgbClr val="2E377E"/>
                </a:solidFill>
                <a:latin typeface="Georgia"/>
                <a:cs typeface="Georgia"/>
              </a:rPr>
              <a:t>primary</a:t>
            </a:r>
            <a:r>
              <a:rPr sz="3500" spc="445" dirty="0">
                <a:solidFill>
                  <a:srgbClr val="2E377E"/>
                </a:solidFill>
                <a:latin typeface="Georgia"/>
                <a:cs typeface="Georgia"/>
              </a:rPr>
              <a:t> </a:t>
            </a:r>
            <a:r>
              <a:rPr sz="3500" dirty="0">
                <a:solidFill>
                  <a:srgbClr val="2E377E"/>
                </a:solidFill>
                <a:latin typeface="Georgia"/>
                <a:cs typeface="Georgia"/>
              </a:rPr>
              <a:t>purpose</a:t>
            </a:r>
            <a:r>
              <a:rPr sz="3500" spc="445" dirty="0">
                <a:solidFill>
                  <a:srgbClr val="2E377E"/>
                </a:solidFill>
                <a:latin typeface="Georgia"/>
                <a:cs typeface="Georgia"/>
              </a:rPr>
              <a:t> </a:t>
            </a:r>
            <a:r>
              <a:rPr sz="3500" dirty="0">
                <a:solidFill>
                  <a:srgbClr val="2E377E"/>
                </a:solidFill>
                <a:latin typeface="Georgia"/>
                <a:cs typeface="Georgia"/>
              </a:rPr>
              <a:t>is</a:t>
            </a:r>
            <a:r>
              <a:rPr sz="3500" spc="445" dirty="0">
                <a:solidFill>
                  <a:srgbClr val="2E377E"/>
                </a:solidFill>
                <a:latin typeface="Georgia"/>
                <a:cs typeface="Georgia"/>
              </a:rPr>
              <a:t> </a:t>
            </a:r>
            <a:r>
              <a:rPr sz="3500" spc="60" dirty="0">
                <a:solidFill>
                  <a:srgbClr val="2E377E"/>
                </a:solidFill>
                <a:latin typeface="Georgia"/>
                <a:cs typeface="Georgia"/>
              </a:rPr>
              <a:t>to</a:t>
            </a:r>
            <a:r>
              <a:rPr sz="3500" spc="445" dirty="0">
                <a:solidFill>
                  <a:srgbClr val="2E377E"/>
                </a:solidFill>
                <a:latin typeface="Georgia"/>
                <a:cs typeface="Georgia"/>
              </a:rPr>
              <a:t> </a:t>
            </a:r>
            <a:r>
              <a:rPr sz="3500" dirty="0">
                <a:solidFill>
                  <a:srgbClr val="2E377E"/>
                </a:solidFill>
                <a:latin typeface="Georgia"/>
                <a:cs typeface="Georgia"/>
              </a:rPr>
              <a:t>perform</a:t>
            </a:r>
            <a:r>
              <a:rPr sz="3500" spc="445" dirty="0">
                <a:solidFill>
                  <a:srgbClr val="2E377E"/>
                </a:solidFill>
                <a:latin typeface="Georgia"/>
                <a:cs typeface="Georgia"/>
              </a:rPr>
              <a:t> </a:t>
            </a:r>
            <a:r>
              <a:rPr sz="3500" dirty="0">
                <a:solidFill>
                  <a:srgbClr val="2E377E"/>
                </a:solidFill>
                <a:latin typeface="Georgia"/>
                <a:cs typeface="Georgia"/>
              </a:rPr>
              <a:t>initialization</a:t>
            </a:r>
            <a:r>
              <a:rPr sz="3500" spc="445" dirty="0">
                <a:solidFill>
                  <a:srgbClr val="2E377E"/>
                </a:solidFill>
                <a:latin typeface="Georgia"/>
                <a:cs typeface="Georgia"/>
              </a:rPr>
              <a:t> </a:t>
            </a:r>
            <a:r>
              <a:rPr sz="3500" dirty="0">
                <a:solidFill>
                  <a:srgbClr val="2E377E"/>
                </a:solidFill>
                <a:latin typeface="Georgia"/>
                <a:cs typeface="Georgia"/>
              </a:rPr>
              <a:t>tasks</a:t>
            </a:r>
            <a:r>
              <a:rPr sz="3500" spc="445" dirty="0">
                <a:solidFill>
                  <a:srgbClr val="2E377E"/>
                </a:solidFill>
                <a:latin typeface="Georgia"/>
                <a:cs typeface="Georgia"/>
              </a:rPr>
              <a:t> </a:t>
            </a:r>
            <a:r>
              <a:rPr sz="3500" dirty="0">
                <a:solidFill>
                  <a:srgbClr val="2E377E"/>
                </a:solidFill>
                <a:latin typeface="Georgia"/>
                <a:cs typeface="Georgia"/>
              </a:rPr>
              <a:t>or</a:t>
            </a:r>
            <a:r>
              <a:rPr sz="3500" spc="445" dirty="0">
                <a:solidFill>
                  <a:srgbClr val="2E377E"/>
                </a:solidFill>
                <a:latin typeface="Georgia"/>
                <a:cs typeface="Georgia"/>
              </a:rPr>
              <a:t> </a:t>
            </a:r>
            <a:r>
              <a:rPr sz="3500" spc="55" dirty="0">
                <a:solidFill>
                  <a:srgbClr val="2E377E"/>
                </a:solidFill>
                <a:latin typeface="Georgia"/>
                <a:cs typeface="Georgia"/>
              </a:rPr>
              <a:t>setup</a:t>
            </a:r>
            <a:r>
              <a:rPr sz="3500" spc="445" dirty="0">
                <a:solidFill>
                  <a:srgbClr val="2E377E"/>
                </a:solidFill>
                <a:latin typeface="Georgia"/>
                <a:cs typeface="Georgia"/>
              </a:rPr>
              <a:t> </a:t>
            </a:r>
            <a:r>
              <a:rPr sz="3500" spc="50" dirty="0">
                <a:solidFill>
                  <a:srgbClr val="2E377E"/>
                </a:solidFill>
                <a:latin typeface="Georgia"/>
                <a:cs typeface="Georgia"/>
              </a:rPr>
              <a:t>activities</a:t>
            </a:r>
            <a:r>
              <a:rPr sz="3500" spc="445" dirty="0">
                <a:solidFill>
                  <a:srgbClr val="2E377E"/>
                </a:solidFill>
                <a:latin typeface="Georgia"/>
                <a:cs typeface="Georgia"/>
              </a:rPr>
              <a:t> </a:t>
            </a:r>
            <a:r>
              <a:rPr sz="3500" spc="30" dirty="0">
                <a:solidFill>
                  <a:srgbClr val="2E377E"/>
                </a:solidFill>
                <a:latin typeface="Georgia"/>
                <a:cs typeface="Georgia"/>
              </a:rPr>
              <a:t>that </a:t>
            </a:r>
            <a:r>
              <a:rPr sz="3500" dirty="0">
                <a:solidFill>
                  <a:srgbClr val="2E377E"/>
                </a:solidFill>
                <a:latin typeface="Georgia"/>
                <a:cs typeface="Georgia"/>
              </a:rPr>
              <a:t>need</a:t>
            </a:r>
            <a:r>
              <a:rPr sz="3500" spc="70" dirty="0">
                <a:solidFill>
                  <a:srgbClr val="2E377E"/>
                </a:solidFill>
                <a:latin typeface="Georgia"/>
                <a:cs typeface="Georgia"/>
              </a:rPr>
              <a:t> </a:t>
            </a:r>
            <a:r>
              <a:rPr sz="3500" spc="60" dirty="0">
                <a:solidFill>
                  <a:srgbClr val="2E377E"/>
                </a:solidFill>
                <a:latin typeface="Georgia"/>
                <a:cs typeface="Georgia"/>
              </a:rPr>
              <a:t>to</a:t>
            </a:r>
            <a:r>
              <a:rPr sz="3500" spc="75" dirty="0">
                <a:solidFill>
                  <a:srgbClr val="2E377E"/>
                </a:solidFill>
                <a:latin typeface="Georgia"/>
                <a:cs typeface="Georgia"/>
              </a:rPr>
              <a:t> </a:t>
            </a:r>
            <a:r>
              <a:rPr sz="3500" dirty="0">
                <a:solidFill>
                  <a:srgbClr val="2E377E"/>
                </a:solidFill>
                <a:latin typeface="Georgia"/>
                <a:cs typeface="Georgia"/>
              </a:rPr>
              <a:t>be</a:t>
            </a:r>
            <a:r>
              <a:rPr sz="3500" spc="70" dirty="0">
                <a:solidFill>
                  <a:srgbClr val="2E377E"/>
                </a:solidFill>
                <a:latin typeface="Georgia"/>
                <a:cs typeface="Georgia"/>
              </a:rPr>
              <a:t> </a:t>
            </a:r>
            <a:r>
              <a:rPr sz="3500" dirty="0">
                <a:solidFill>
                  <a:srgbClr val="2E377E"/>
                </a:solidFill>
                <a:latin typeface="Georgia"/>
                <a:cs typeface="Georgia"/>
              </a:rPr>
              <a:t>completed</a:t>
            </a:r>
            <a:r>
              <a:rPr sz="3500" spc="75" dirty="0">
                <a:solidFill>
                  <a:srgbClr val="2E377E"/>
                </a:solidFill>
                <a:latin typeface="Georgia"/>
                <a:cs typeface="Georgia"/>
              </a:rPr>
              <a:t> </a:t>
            </a:r>
            <a:r>
              <a:rPr sz="3500" dirty="0">
                <a:solidFill>
                  <a:srgbClr val="2E377E"/>
                </a:solidFill>
                <a:latin typeface="Georgia"/>
                <a:cs typeface="Georgia"/>
              </a:rPr>
              <a:t>before</a:t>
            </a:r>
            <a:r>
              <a:rPr sz="3500" spc="75" dirty="0">
                <a:solidFill>
                  <a:srgbClr val="2E377E"/>
                </a:solidFill>
                <a:latin typeface="Georgia"/>
                <a:cs typeface="Georgia"/>
              </a:rPr>
              <a:t> </a:t>
            </a:r>
            <a:r>
              <a:rPr sz="3500" spc="60" dirty="0">
                <a:solidFill>
                  <a:srgbClr val="2E377E"/>
                </a:solidFill>
                <a:latin typeface="Georgia"/>
                <a:cs typeface="Georgia"/>
              </a:rPr>
              <a:t>the</a:t>
            </a:r>
            <a:r>
              <a:rPr sz="3500" spc="70" dirty="0">
                <a:solidFill>
                  <a:srgbClr val="2E377E"/>
                </a:solidFill>
                <a:latin typeface="Georgia"/>
                <a:cs typeface="Georgia"/>
              </a:rPr>
              <a:t> </a:t>
            </a:r>
            <a:r>
              <a:rPr sz="3500" dirty="0">
                <a:solidFill>
                  <a:srgbClr val="2E377E"/>
                </a:solidFill>
                <a:latin typeface="Georgia"/>
                <a:cs typeface="Georgia"/>
              </a:rPr>
              <a:t>main</a:t>
            </a:r>
            <a:r>
              <a:rPr sz="3500" spc="75" dirty="0">
                <a:solidFill>
                  <a:srgbClr val="2E377E"/>
                </a:solidFill>
                <a:latin typeface="Georgia"/>
                <a:cs typeface="Georgia"/>
              </a:rPr>
              <a:t> </a:t>
            </a:r>
            <a:r>
              <a:rPr sz="3500" dirty="0">
                <a:solidFill>
                  <a:srgbClr val="2E377E"/>
                </a:solidFill>
                <a:latin typeface="Georgia"/>
                <a:cs typeface="Georgia"/>
              </a:rPr>
              <a:t>application</a:t>
            </a:r>
            <a:r>
              <a:rPr sz="3500" spc="70" dirty="0">
                <a:solidFill>
                  <a:srgbClr val="2E377E"/>
                </a:solidFill>
                <a:latin typeface="Georgia"/>
                <a:cs typeface="Georgia"/>
              </a:rPr>
              <a:t> </a:t>
            </a:r>
            <a:r>
              <a:rPr sz="3500" dirty="0">
                <a:solidFill>
                  <a:srgbClr val="2E377E"/>
                </a:solidFill>
                <a:latin typeface="Georgia"/>
                <a:cs typeface="Georgia"/>
              </a:rPr>
              <a:t>containers</a:t>
            </a:r>
            <a:r>
              <a:rPr sz="3500" spc="75" dirty="0">
                <a:solidFill>
                  <a:srgbClr val="2E377E"/>
                </a:solidFill>
                <a:latin typeface="Georgia"/>
                <a:cs typeface="Georgia"/>
              </a:rPr>
              <a:t> </a:t>
            </a:r>
            <a:r>
              <a:rPr sz="3500" spc="50" dirty="0">
                <a:solidFill>
                  <a:srgbClr val="2E377E"/>
                </a:solidFill>
                <a:latin typeface="Georgia"/>
                <a:cs typeface="Georgia"/>
              </a:rPr>
              <a:t>start</a:t>
            </a:r>
            <a:r>
              <a:rPr sz="3500" spc="75" dirty="0">
                <a:solidFill>
                  <a:srgbClr val="2E377E"/>
                </a:solidFill>
                <a:latin typeface="Georgia"/>
                <a:cs typeface="Georgia"/>
              </a:rPr>
              <a:t> </a:t>
            </a:r>
            <a:r>
              <a:rPr sz="3500" spc="-10" dirty="0">
                <a:solidFill>
                  <a:srgbClr val="2E377E"/>
                </a:solidFill>
                <a:latin typeface="Georgia"/>
                <a:cs typeface="Georgia"/>
              </a:rPr>
              <a:t>running.</a:t>
            </a:r>
            <a:endParaRPr sz="3500">
              <a:latin typeface="Georgia"/>
              <a:cs typeface="Georgia"/>
            </a:endParaRPr>
          </a:p>
          <a:p>
            <a:pPr marL="767715">
              <a:lnSpc>
                <a:spcPct val="100000"/>
              </a:lnSpc>
              <a:spcBef>
                <a:spcPts val="390"/>
              </a:spcBef>
            </a:pPr>
            <a:r>
              <a:rPr sz="3500" dirty="0">
                <a:solidFill>
                  <a:srgbClr val="2E377E"/>
                </a:solidFill>
                <a:latin typeface="Georgia"/>
                <a:cs typeface="Georgia"/>
              </a:rPr>
              <a:t>If</a:t>
            </a:r>
            <a:r>
              <a:rPr sz="3500" spc="-5" dirty="0">
                <a:solidFill>
                  <a:srgbClr val="2E377E"/>
                </a:solidFill>
                <a:latin typeface="Georgia"/>
                <a:cs typeface="Georgia"/>
              </a:rPr>
              <a:t> </a:t>
            </a:r>
            <a:r>
              <a:rPr sz="3500" dirty="0">
                <a:solidFill>
                  <a:srgbClr val="2E377E"/>
                </a:solidFill>
                <a:latin typeface="Georgia"/>
                <a:cs typeface="Georgia"/>
              </a:rPr>
              <a:t>a</a:t>
            </a:r>
            <a:r>
              <a:rPr sz="3500" spc="-5" dirty="0">
                <a:solidFill>
                  <a:srgbClr val="2E377E"/>
                </a:solidFill>
                <a:latin typeface="Georgia"/>
                <a:cs typeface="Georgia"/>
              </a:rPr>
              <a:t> </a:t>
            </a:r>
            <a:r>
              <a:rPr sz="3500" dirty="0">
                <a:solidFill>
                  <a:srgbClr val="2E377E"/>
                </a:solidFill>
                <a:latin typeface="Georgia"/>
                <a:cs typeface="Georgia"/>
              </a:rPr>
              <a:t>pod</a:t>
            </a:r>
            <a:r>
              <a:rPr sz="3500" spc="-5" dirty="0">
                <a:solidFill>
                  <a:srgbClr val="2E377E"/>
                </a:solidFill>
                <a:latin typeface="Georgia"/>
                <a:cs typeface="Georgia"/>
              </a:rPr>
              <a:t> </a:t>
            </a:r>
            <a:r>
              <a:rPr sz="3500" dirty="0">
                <a:solidFill>
                  <a:srgbClr val="2E377E"/>
                </a:solidFill>
                <a:latin typeface="Georgia"/>
                <a:cs typeface="Georgia"/>
              </a:rPr>
              <a:t>fails</a:t>
            </a:r>
            <a:r>
              <a:rPr sz="3500" spc="-5" dirty="0">
                <a:solidFill>
                  <a:srgbClr val="2E377E"/>
                </a:solidFill>
                <a:latin typeface="Georgia"/>
                <a:cs typeface="Georgia"/>
              </a:rPr>
              <a:t> </a:t>
            </a:r>
            <a:r>
              <a:rPr sz="3500" dirty="0">
                <a:solidFill>
                  <a:srgbClr val="2E377E"/>
                </a:solidFill>
                <a:latin typeface="Georgia"/>
                <a:cs typeface="Georgia"/>
              </a:rPr>
              <a:t>due</a:t>
            </a:r>
            <a:r>
              <a:rPr sz="3500" spc="-5" dirty="0">
                <a:solidFill>
                  <a:srgbClr val="2E377E"/>
                </a:solidFill>
                <a:latin typeface="Georgia"/>
                <a:cs typeface="Georgia"/>
              </a:rPr>
              <a:t> </a:t>
            </a:r>
            <a:r>
              <a:rPr sz="3500" spc="55" dirty="0">
                <a:solidFill>
                  <a:srgbClr val="2E377E"/>
                </a:solidFill>
                <a:latin typeface="Georgia"/>
                <a:cs typeface="Georgia"/>
              </a:rPr>
              <a:t>to</a:t>
            </a:r>
            <a:r>
              <a:rPr sz="3500" spc="-5" dirty="0">
                <a:solidFill>
                  <a:srgbClr val="2E377E"/>
                </a:solidFill>
                <a:latin typeface="Georgia"/>
                <a:cs typeface="Georgia"/>
              </a:rPr>
              <a:t> </a:t>
            </a:r>
            <a:r>
              <a:rPr sz="3500" dirty="0">
                <a:solidFill>
                  <a:srgbClr val="2E377E"/>
                </a:solidFill>
                <a:latin typeface="Georgia"/>
                <a:cs typeface="Georgia"/>
              </a:rPr>
              <a:t>Init</a:t>
            </a:r>
            <a:r>
              <a:rPr sz="3500" spc="-5" dirty="0">
                <a:solidFill>
                  <a:srgbClr val="2E377E"/>
                </a:solidFill>
                <a:latin typeface="Georgia"/>
                <a:cs typeface="Georgia"/>
              </a:rPr>
              <a:t> </a:t>
            </a:r>
            <a:r>
              <a:rPr sz="3500" dirty="0">
                <a:solidFill>
                  <a:srgbClr val="2E377E"/>
                </a:solidFill>
                <a:latin typeface="Georgia"/>
                <a:cs typeface="Georgia"/>
              </a:rPr>
              <a:t>Containers</a:t>
            </a:r>
            <a:r>
              <a:rPr sz="3500" spc="-5" dirty="0">
                <a:solidFill>
                  <a:srgbClr val="2E377E"/>
                </a:solidFill>
                <a:latin typeface="Georgia"/>
                <a:cs typeface="Georgia"/>
              </a:rPr>
              <a:t> </a:t>
            </a:r>
            <a:r>
              <a:rPr sz="3500" dirty="0">
                <a:solidFill>
                  <a:srgbClr val="2E377E"/>
                </a:solidFill>
                <a:latin typeface="Georgia"/>
                <a:cs typeface="Georgia"/>
              </a:rPr>
              <a:t>then,</a:t>
            </a:r>
            <a:r>
              <a:rPr sz="3500" spc="-5" dirty="0">
                <a:solidFill>
                  <a:srgbClr val="2E377E"/>
                </a:solidFill>
                <a:latin typeface="Georgia"/>
                <a:cs typeface="Georgia"/>
              </a:rPr>
              <a:t> </a:t>
            </a:r>
            <a:r>
              <a:rPr sz="3500" dirty="0">
                <a:solidFill>
                  <a:srgbClr val="2E377E"/>
                </a:solidFill>
                <a:latin typeface="Georgia"/>
                <a:cs typeface="Georgia"/>
              </a:rPr>
              <a:t>Kubernetes</a:t>
            </a:r>
            <a:r>
              <a:rPr sz="3500" spc="-5" dirty="0">
                <a:solidFill>
                  <a:srgbClr val="2E377E"/>
                </a:solidFill>
                <a:latin typeface="Georgia"/>
                <a:cs typeface="Georgia"/>
              </a:rPr>
              <a:t> </a:t>
            </a:r>
            <a:r>
              <a:rPr sz="3500" dirty="0">
                <a:solidFill>
                  <a:srgbClr val="2E377E"/>
                </a:solidFill>
                <a:latin typeface="Georgia"/>
                <a:cs typeface="Georgia"/>
              </a:rPr>
              <a:t>restarts</a:t>
            </a:r>
            <a:r>
              <a:rPr sz="3500" spc="-5" dirty="0">
                <a:solidFill>
                  <a:srgbClr val="2E377E"/>
                </a:solidFill>
                <a:latin typeface="Georgia"/>
                <a:cs typeface="Georgia"/>
              </a:rPr>
              <a:t> </a:t>
            </a:r>
            <a:r>
              <a:rPr sz="3500" spc="55" dirty="0">
                <a:solidFill>
                  <a:srgbClr val="2E377E"/>
                </a:solidFill>
                <a:latin typeface="Georgia"/>
                <a:cs typeface="Georgia"/>
              </a:rPr>
              <a:t>the</a:t>
            </a:r>
            <a:r>
              <a:rPr sz="3500" spc="-5" dirty="0">
                <a:solidFill>
                  <a:srgbClr val="2E377E"/>
                </a:solidFill>
                <a:latin typeface="Georgia"/>
                <a:cs typeface="Georgia"/>
              </a:rPr>
              <a:t> </a:t>
            </a:r>
            <a:r>
              <a:rPr sz="3500" dirty="0">
                <a:solidFill>
                  <a:srgbClr val="2E377E"/>
                </a:solidFill>
                <a:latin typeface="Georgia"/>
                <a:cs typeface="Georgia"/>
              </a:rPr>
              <a:t>init</a:t>
            </a:r>
            <a:r>
              <a:rPr sz="3500" spc="-5" dirty="0">
                <a:solidFill>
                  <a:srgbClr val="2E377E"/>
                </a:solidFill>
                <a:latin typeface="Georgia"/>
                <a:cs typeface="Georgia"/>
              </a:rPr>
              <a:t> </a:t>
            </a:r>
            <a:r>
              <a:rPr sz="3500" spc="-10" dirty="0">
                <a:solidFill>
                  <a:srgbClr val="2E377E"/>
                </a:solidFill>
                <a:latin typeface="Georgia"/>
                <a:cs typeface="Georgia"/>
              </a:rPr>
              <a:t>Container</a:t>
            </a:r>
            <a:endParaRPr sz="3500">
              <a:latin typeface="Georgia"/>
              <a:cs typeface="Georgia"/>
            </a:endParaRPr>
          </a:p>
          <a:p>
            <a:pPr marL="767715">
              <a:lnSpc>
                <a:spcPct val="100000"/>
              </a:lnSpc>
              <a:spcBef>
                <a:spcPts val="675"/>
              </a:spcBef>
            </a:pPr>
            <a:r>
              <a:rPr sz="3500" dirty="0">
                <a:solidFill>
                  <a:srgbClr val="2E377E"/>
                </a:solidFill>
                <a:latin typeface="Georgia"/>
                <a:cs typeface="Georgia"/>
              </a:rPr>
              <a:t>until</a:t>
            </a:r>
            <a:r>
              <a:rPr sz="3500" spc="20" dirty="0">
                <a:solidFill>
                  <a:srgbClr val="2E377E"/>
                </a:solidFill>
                <a:latin typeface="Georgia"/>
                <a:cs typeface="Georgia"/>
              </a:rPr>
              <a:t> </a:t>
            </a:r>
            <a:r>
              <a:rPr sz="3500" spc="50" dirty="0">
                <a:solidFill>
                  <a:srgbClr val="2E377E"/>
                </a:solidFill>
                <a:latin typeface="Georgia"/>
                <a:cs typeface="Georgia"/>
              </a:rPr>
              <a:t>it</a:t>
            </a:r>
            <a:r>
              <a:rPr sz="3500" spc="20" dirty="0">
                <a:solidFill>
                  <a:srgbClr val="2E377E"/>
                </a:solidFill>
                <a:latin typeface="Georgia"/>
                <a:cs typeface="Georgia"/>
              </a:rPr>
              <a:t> </a:t>
            </a:r>
            <a:r>
              <a:rPr sz="3500" dirty="0">
                <a:solidFill>
                  <a:srgbClr val="2E377E"/>
                </a:solidFill>
                <a:latin typeface="Georgia"/>
                <a:cs typeface="Georgia"/>
              </a:rPr>
              <a:t>will</a:t>
            </a:r>
            <a:r>
              <a:rPr sz="3500" spc="20" dirty="0">
                <a:solidFill>
                  <a:srgbClr val="2E377E"/>
                </a:solidFill>
                <a:latin typeface="Georgia"/>
                <a:cs typeface="Georgia"/>
              </a:rPr>
              <a:t> </a:t>
            </a:r>
            <a:r>
              <a:rPr sz="3500" spc="-10" dirty="0">
                <a:solidFill>
                  <a:srgbClr val="2E377E"/>
                </a:solidFill>
                <a:latin typeface="Georgia"/>
                <a:cs typeface="Georgia"/>
              </a:rPr>
              <a:t>succeed.</a:t>
            </a:r>
            <a:endParaRPr sz="3500">
              <a:latin typeface="Georgia"/>
              <a:cs typeface="Georgia"/>
            </a:endParaRPr>
          </a:p>
          <a:p>
            <a:pPr marL="12700">
              <a:lnSpc>
                <a:spcPct val="100000"/>
              </a:lnSpc>
              <a:spcBef>
                <a:spcPts val="2160"/>
              </a:spcBef>
            </a:pPr>
            <a:r>
              <a:rPr sz="5000" b="1" spc="110" dirty="0">
                <a:solidFill>
                  <a:srgbClr val="FF3131"/>
                </a:solidFill>
                <a:latin typeface="Times New Roman"/>
                <a:cs typeface="Times New Roman"/>
              </a:rPr>
              <a:t>Use</a:t>
            </a:r>
            <a:r>
              <a:rPr sz="5000" b="1" spc="-215" dirty="0">
                <a:solidFill>
                  <a:srgbClr val="FF3131"/>
                </a:solidFill>
                <a:latin typeface="Times New Roman"/>
                <a:cs typeface="Times New Roman"/>
              </a:rPr>
              <a:t> </a:t>
            </a:r>
            <a:r>
              <a:rPr sz="5000" b="1" spc="-10" dirty="0">
                <a:solidFill>
                  <a:srgbClr val="FF3131"/>
                </a:solidFill>
                <a:latin typeface="Times New Roman"/>
                <a:cs typeface="Times New Roman"/>
              </a:rPr>
              <a:t>cases:</a:t>
            </a:r>
            <a:endParaRPr sz="5000">
              <a:latin typeface="Times New Roman"/>
              <a:cs typeface="Times New Roman"/>
            </a:endParaRPr>
          </a:p>
          <a:p>
            <a:pPr marL="1009650" marR="395605">
              <a:lnSpc>
                <a:spcPct val="116100"/>
              </a:lnSpc>
              <a:spcBef>
                <a:spcPts val="2230"/>
              </a:spcBef>
              <a:tabLst>
                <a:tab pos="1709420" algn="l"/>
                <a:tab pos="3162935" algn="l"/>
                <a:tab pos="4004310" algn="l"/>
                <a:tab pos="6919595" algn="l"/>
                <a:tab pos="8384540" algn="l"/>
                <a:tab pos="10183495" algn="l"/>
                <a:tab pos="11025505" algn="l"/>
                <a:tab pos="13446760" algn="l"/>
                <a:tab pos="14145894" algn="l"/>
                <a:tab pos="14987905" algn="l"/>
              </a:tabLst>
            </a:pPr>
            <a:r>
              <a:rPr sz="3500" spc="-25" dirty="0">
                <a:solidFill>
                  <a:srgbClr val="2E377E"/>
                </a:solidFill>
                <a:latin typeface="Georgia"/>
                <a:cs typeface="Georgia"/>
              </a:rPr>
              <a:t>To</a:t>
            </a:r>
            <a:r>
              <a:rPr sz="3500" dirty="0">
                <a:solidFill>
                  <a:srgbClr val="2E377E"/>
                </a:solidFill>
                <a:latin typeface="Georgia"/>
                <a:cs typeface="Georgia"/>
              </a:rPr>
              <a:t>	</a:t>
            </a:r>
            <a:r>
              <a:rPr sz="3500" spc="-10" dirty="0">
                <a:solidFill>
                  <a:srgbClr val="2E377E"/>
                </a:solidFill>
                <a:latin typeface="Georgia"/>
                <a:cs typeface="Georgia"/>
              </a:rPr>
              <a:t>Install</a:t>
            </a:r>
            <a:r>
              <a:rPr sz="3500" dirty="0">
                <a:solidFill>
                  <a:srgbClr val="2E377E"/>
                </a:solidFill>
                <a:latin typeface="Georgia"/>
                <a:cs typeface="Georgia"/>
              </a:rPr>
              <a:t>	</a:t>
            </a:r>
            <a:r>
              <a:rPr sz="3500" spc="30" dirty="0">
                <a:solidFill>
                  <a:srgbClr val="2E377E"/>
                </a:solidFill>
                <a:latin typeface="Georgia"/>
                <a:cs typeface="Georgia"/>
              </a:rPr>
              <a:t>the</a:t>
            </a:r>
            <a:r>
              <a:rPr sz="3500" dirty="0">
                <a:solidFill>
                  <a:srgbClr val="2E377E"/>
                </a:solidFill>
                <a:latin typeface="Georgia"/>
                <a:cs typeface="Georgia"/>
              </a:rPr>
              <a:t>	</a:t>
            </a:r>
            <a:r>
              <a:rPr sz="3500" spc="-10" dirty="0">
                <a:solidFill>
                  <a:srgbClr val="2E377E"/>
                </a:solidFill>
                <a:latin typeface="Georgia"/>
                <a:cs typeface="Georgia"/>
              </a:rPr>
              <a:t>dependencies</a:t>
            </a:r>
            <a:r>
              <a:rPr sz="3500" dirty="0">
                <a:solidFill>
                  <a:srgbClr val="2E377E"/>
                </a:solidFill>
                <a:latin typeface="Georgia"/>
                <a:cs typeface="Georgia"/>
              </a:rPr>
              <a:t>	</a:t>
            </a:r>
            <a:r>
              <a:rPr sz="3500" spc="-10" dirty="0">
                <a:solidFill>
                  <a:srgbClr val="2E377E"/>
                </a:solidFill>
                <a:latin typeface="Georgia"/>
                <a:cs typeface="Georgia"/>
              </a:rPr>
              <a:t>before</a:t>
            </a:r>
            <a:r>
              <a:rPr sz="3500" dirty="0">
                <a:solidFill>
                  <a:srgbClr val="2E377E"/>
                </a:solidFill>
                <a:latin typeface="Georgia"/>
                <a:cs typeface="Georgia"/>
              </a:rPr>
              <a:t>	</a:t>
            </a:r>
            <a:r>
              <a:rPr sz="3500" spc="-10" dirty="0">
                <a:solidFill>
                  <a:srgbClr val="2E377E"/>
                </a:solidFill>
                <a:latin typeface="Georgia"/>
                <a:cs typeface="Georgia"/>
              </a:rPr>
              <a:t>running</a:t>
            </a:r>
            <a:r>
              <a:rPr sz="3500" dirty="0">
                <a:solidFill>
                  <a:srgbClr val="2E377E"/>
                </a:solidFill>
                <a:latin typeface="Georgia"/>
                <a:cs typeface="Georgia"/>
              </a:rPr>
              <a:t>	</a:t>
            </a:r>
            <a:r>
              <a:rPr sz="3500" spc="30" dirty="0">
                <a:solidFill>
                  <a:srgbClr val="2E377E"/>
                </a:solidFill>
                <a:latin typeface="Georgia"/>
                <a:cs typeface="Georgia"/>
              </a:rPr>
              <a:t>the</a:t>
            </a:r>
            <a:r>
              <a:rPr sz="3500" dirty="0">
                <a:solidFill>
                  <a:srgbClr val="2E377E"/>
                </a:solidFill>
                <a:latin typeface="Georgia"/>
                <a:cs typeface="Georgia"/>
              </a:rPr>
              <a:t>	</a:t>
            </a:r>
            <a:r>
              <a:rPr sz="3500" spc="-10" dirty="0">
                <a:solidFill>
                  <a:srgbClr val="2E377E"/>
                </a:solidFill>
                <a:latin typeface="Georgia"/>
                <a:cs typeface="Georgia"/>
              </a:rPr>
              <a:t>application</a:t>
            </a:r>
            <a:r>
              <a:rPr sz="3500" dirty="0">
                <a:solidFill>
                  <a:srgbClr val="2E377E"/>
                </a:solidFill>
                <a:latin typeface="Georgia"/>
                <a:cs typeface="Georgia"/>
              </a:rPr>
              <a:t>	</a:t>
            </a:r>
            <a:r>
              <a:rPr sz="3500" spc="-25" dirty="0">
                <a:solidFill>
                  <a:srgbClr val="2E377E"/>
                </a:solidFill>
                <a:latin typeface="Georgia"/>
                <a:cs typeface="Georgia"/>
              </a:rPr>
              <a:t>on</a:t>
            </a:r>
            <a:r>
              <a:rPr sz="3500" dirty="0">
                <a:solidFill>
                  <a:srgbClr val="2E377E"/>
                </a:solidFill>
                <a:latin typeface="Georgia"/>
                <a:cs typeface="Georgia"/>
              </a:rPr>
              <a:t>	</a:t>
            </a:r>
            <a:r>
              <a:rPr sz="3500" spc="30" dirty="0">
                <a:solidFill>
                  <a:srgbClr val="2E377E"/>
                </a:solidFill>
                <a:latin typeface="Georgia"/>
                <a:cs typeface="Georgia"/>
              </a:rPr>
              <a:t>the</a:t>
            </a:r>
            <a:r>
              <a:rPr sz="3500" dirty="0">
                <a:solidFill>
                  <a:srgbClr val="2E377E"/>
                </a:solidFill>
                <a:latin typeface="Georgia"/>
                <a:cs typeface="Georgia"/>
              </a:rPr>
              <a:t>	</a:t>
            </a:r>
            <a:r>
              <a:rPr sz="3500" spc="-20" dirty="0">
                <a:solidFill>
                  <a:srgbClr val="2E377E"/>
                </a:solidFill>
                <a:latin typeface="Georgia"/>
                <a:cs typeface="Georgia"/>
              </a:rPr>
              <a:t>main </a:t>
            </a:r>
            <a:r>
              <a:rPr sz="3500" spc="-10" dirty="0">
                <a:solidFill>
                  <a:srgbClr val="2E377E"/>
                </a:solidFill>
                <a:latin typeface="Georgia"/>
                <a:cs typeface="Georgia"/>
              </a:rPr>
              <a:t>container</a:t>
            </a:r>
            <a:endParaRPr sz="3500">
              <a:latin typeface="Georgia"/>
              <a:cs typeface="Georgia"/>
            </a:endParaRPr>
          </a:p>
          <a:p>
            <a:pPr marL="1009650" marR="7310755">
              <a:lnSpc>
                <a:spcPts val="4870"/>
              </a:lnSpc>
              <a:spcBef>
                <a:spcPts val="114"/>
              </a:spcBef>
            </a:pPr>
            <a:r>
              <a:rPr sz="3500" dirty="0">
                <a:solidFill>
                  <a:srgbClr val="2E377E"/>
                </a:solidFill>
                <a:latin typeface="Georgia"/>
                <a:cs typeface="Georgia"/>
              </a:rPr>
              <a:t>Clone</a:t>
            </a:r>
            <a:r>
              <a:rPr sz="3500" spc="-50" dirty="0">
                <a:solidFill>
                  <a:srgbClr val="2E377E"/>
                </a:solidFill>
                <a:latin typeface="Georgia"/>
                <a:cs typeface="Georgia"/>
              </a:rPr>
              <a:t> </a:t>
            </a:r>
            <a:r>
              <a:rPr sz="3500" dirty="0">
                <a:solidFill>
                  <a:srgbClr val="2E377E"/>
                </a:solidFill>
                <a:latin typeface="Georgia"/>
                <a:cs typeface="Georgia"/>
              </a:rPr>
              <a:t>a</a:t>
            </a:r>
            <a:r>
              <a:rPr sz="3500" spc="-50" dirty="0">
                <a:solidFill>
                  <a:srgbClr val="2E377E"/>
                </a:solidFill>
                <a:latin typeface="Georgia"/>
                <a:cs typeface="Georgia"/>
              </a:rPr>
              <a:t> </a:t>
            </a:r>
            <a:r>
              <a:rPr sz="3500" dirty="0">
                <a:solidFill>
                  <a:srgbClr val="2E377E"/>
                </a:solidFill>
                <a:latin typeface="Georgia"/>
                <a:cs typeface="Georgia"/>
              </a:rPr>
              <a:t>git</a:t>
            </a:r>
            <a:r>
              <a:rPr sz="3500" spc="-40" dirty="0">
                <a:solidFill>
                  <a:srgbClr val="2E377E"/>
                </a:solidFill>
                <a:latin typeface="Georgia"/>
                <a:cs typeface="Georgia"/>
              </a:rPr>
              <a:t> </a:t>
            </a:r>
            <a:r>
              <a:rPr sz="3500" spc="45" dirty="0">
                <a:solidFill>
                  <a:srgbClr val="2E377E"/>
                </a:solidFill>
                <a:latin typeface="Georgia"/>
                <a:cs typeface="Georgia"/>
              </a:rPr>
              <a:t>repository</a:t>
            </a:r>
            <a:r>
              <a:rPr sz="3500" spc="-50" dirty="0">
                <a:solidFill>
                  <a:srgbClr val="2E377E"/>
                </a:solidFill>
                <a:latin typeface="Georgia"/>
                <a:cs typeface="Georgia"/>
              </a:rPr>
              <a:t> </a:t>
            </a:r>
            <a:r>
              <a:rPr sz="3500" dirty="0">
                <a:solidFill>
                  <a:srgbClr val="2E377E"/>
                </a:solidFill>
                <a:latin typeface="Georgia"/>
                <a:cs typeface="Georgia"/>
              </a:rPr>
              <a:t>into</a:t>
            </a:r>
            <a:r>
              <a:rPr sz="3500" spc="-50" dirty="0">
                <a:solidFill>
                  <a:srgbClr val="2E377E"/>
                </a:solidFill>
                <a:latin typeface="Georgia"/>
                <a:cs typeface="Georgia"/>
              </a:rPr>
              <a:t> </a:t>
            </a:r>
            <a:r>
              <a:rPr sz="3500" spc="55" dirty="0">
                <a:solidFill>
                  <a:srgbClr val="2E377E"/>
                </a:solidFill>
                <a:latin typeface="Georgia"/>
                <a:cs typeface="Georgia"/>
              </a:rPr>
              <a:t>the</a:t>
            </a:r>
            <a:r>
              <a:rPr sz="3500" spc="-45" dirty="0">
                <a:solidFill>
                  <a:srgbClr val="2E377E"/>
                </a:solidFill>
                <a:latin typeface="Georgia"/>
                <a:cs typeface="Georgia"/>
              </a:rPr>
              <a:t> </a:t>
            </a:r>
            <a:r>
              <a:rPr sz="3500" spc="-10" dirty="0">
                <a:solidFill>
                  <a:srgbClr val="2E377E"/>
                </a:solidFill>
                <a:latin typeface="Georgia"/>
                <a:cs typeface="Georgia"/>
              </a:rPr>
              <a:t>volume </a:t>
            </a:r>
            <a:r>
              <a:rPr sz="3500" dirty="0">
                <a:solidFill>
                  <a:srgbClr val="2E377E"/>
                </a:solidFill>
                <a:latin typeface="Georgia"/>
                <a:cs typeface="Georgia"/>
              </a:rPr>
              <a:t>Generate</a:t>
            </a:r>
            <a:r>
              <a:rPr sz="3500" spc="75" dirty="0">
                <a:solidFill>
                  <a:srgbClr val="2E377E"/>
                </a:solidFill>
                <a:latin typeface="Georgia"/>
                <a:cs typeface="Georgia"/>
              </a:rPr>
              <a:t> </a:t>
            </a:r>
            <a:r>
              <a:rPr sz="3500" dirty="0">
                <a:solidFill>
                  <a:srgbClr val="2E377E"/>
                </a:solidFill>
                <a:latin typeface="Georgia"/>
                <a:cs typeface="Georgia"/>
              </a:rPr>
              <a:t>configuration</a:t>
            </a:r>
            <a:r>
              <a:rPr sz="3500" spc="75" dirty="0">
                <a:solidFill>
                  <a:srgbClr val="2E377E"/>
                </a:solidFill>
                <a:latin typeface="Georgia"/>
                <a:cs typeface="Georgia"/>
              </a:rPr>
              <a:t> </a:t>
            </a:r>
            <a:r>
              <a:rPr sz="3500" dirty="0">
                <a:solidFill>
                  <a:srgbClr val="2E377E"/>
                </a:solidFill>
                <a:latin typeface="Georgia"/>
                <a:cs typeface="Georgia"/>
              </a:rPr>
              <a:t>files</a:t>
            </a:r>
            <a:r>
              <a:rPr sz="3500" spc="85" dirty="0">
                <a:solidFill>
                  <a:srgbClr val="2E377E"/>
                </a:solidFill>
                <a:latin typeface="Georgia"/>
                <a:cs typeface="Georgia"/>
              </a:rPr>
              <a:t> </a:t>
            </a:r>
            <a:r>
              <a:rPr sz="3500" spc="-10" dirty="0">
                <a:solidFill>
                  <a:srgbClr val="2E377E"/>
                </a:solidFill>
                <a:latin typeface="Georgia"/>
                <a:cs typeface="Georgia"/>
              </a:rPr>
              <a:t>dynamically </a:t>
            </a:r>
            <a:r>
              <a:rPr sz="3500" dirty="0">
                <a:solidFill>
                  <a:srgbClr val="2E377E"/>
                </a:solidFill>
                <a:latin typeface="Georgia"/>
                <a:cs typeface="Georgia"/>
              </a:rPr>
              <a:t>Database</a:t>
            </a:r>
            <a:r>
              <a:rPr sz="3500" spc="-120" dirty="0">
                <a:solidFill>
                  <a:srgbClr val="2E377E"/>
                </a:solidFill>
                <a:latin typeface="Georgia"/>
                <a:cs typeface="Georgia"/>
              </a:rPr>
              <a:t> </a:t>
            </a:r>
            <a:r>
              <a:rPr sz="3500" spc="-10" dirty="0">
                <a:solidFill>
                  <a:srgbClr val="2E377E"/>
                </a:solidFill>
                <a:latin typeface="Georgia"/>
                <a:cs typeface="Georgia"/>
              </a:rPr>
              <a:t>Configuration</a:t>
            </a:r>
            <a:endParaRPr sz="3500">
              <a:latin typeface="Georgia"/>
              <a:cs typeface="Georgia"/>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6260" y="1756561"/>
            <a:ext cx="14506574" cy="6619874"/>
          </a:xfrm>
          <a:prstGeom prst="rect">
            <a:avLst/>
          </a:prstGeom>
        </p:spPr>
      </p:pic>
      <p:sp>
        <p:nvSpPr>
          <p:cNvPr id="3" name="object 3"/>
          <p:cNvSpPr txBox="1">
            <a:spLocks noGrp="1"/>
          </p:cNvSpPr>
          <p:nvPr>
            <p:ph type="title"/>
          </p:nvPr>
        </p:nvSpPr>
        <p:spPr>
          <a:xfrm>
            <a:off x="1016000" y="476135"/>
            <a:ext cx="15774035" cy="1263650"/>
          </a:xfrm>
          <a:prstGeom prst="rect">
            <a:avLst/>
          </a:prstGeom>
        </p:spPr>
        <p:txBody>
          <a:bodyPr vert="horz" wrap="square" lIns="0" tIns="12065" rIns="0" bIns="0" rtlCol="0">
            <a:spAutoFit/>
          </a:bodyPr>
          <a:lstStyle/>
          <a:p>
            <a:pPr marL="12700" marR="5080">
              <a:lnSpc>
                <a:spcPct val="116100"/>
              </a:lnSpc>
              <a:spcBef>
                <a:spcPts val="95"/>
              </a:spcBef>
              <a:tabLst>
                <a:tab pos="885190" algn="l"/>
                <a:tab pos="2277745" algn="l"/>
                <a:tab pos="2661920" algn="l"/>
                <a:tab pos="3664585" algn="l"/>
                <a:tab pos="4584700" algn="l"/>
                <a:tab pos="5142865" algn="l"/>
                <a:tab pos="6519545" algn="l"/>
                <a:tab pos="7257415" algn="l"/>
                <a:tab pos="8367395" algn="l"/>
                <a:tab pos="10016490" algn="l"/>
                <a:tab pos="10941685" algn="l"/>
                <a:tab pos="13209905" algn="l"/>
                <a:tab pos="14115415" algn="l"/>
                <a:tab pos="14927580" algn="l"/>
              </a:tabLst>
            </a:pPr>
            <a:r>
              <a:rPr sz="3500" b="0" spc="-20" dirty="0">
                <a:solidFill>
                  <a:srgbClr val="000000"/>
                </a:solidFill>
                <a:latin typeface="Georgia"/>
                <a:cs typeface="Georgia"/>
              </a:rPr>
              <a:t>lets</a:t>
            </a:r>
            <a:r>
              <a:rPr sz="3500" b="0" dirty="0">
                <a:solidFill>
                  <a:srgbClr val="000000"/>
                </a:solidFill>
                <a:latin typeface="Georgia"/>
                <a:cs typeface="Georgia"/>
              </a:rPr>
              <a:t>	</a:t>
            </a:r>
            <a:r>
              <a:rPr sz="3500" b="0" spc="-10" dirty="0">
                <a:solidFill>
                  <a:srgbClr val="000000"/>
                </a:solidFill>
                <a:latin typeface="Georgia"/>
                <a:cs typeface="Georgia"/>
              </a:rPr>
              <a:t>create</a:t>
            </a:r>
            <a:r>
              <a:rPr sz="3500" b="0" dirty="0">
                <a:solidFill>
                  <a:srgbClr val="000000"/>
                </a:solidFill>
                <a:latin typeface="Georgia"/>
                <a:cs typeface="Georgia"/>
              </a:rPr>
              <a:t>	</a:t>
            </a:r>
            <a:r>
              <a:rPr sz="3500" b="0" spc="-50" dirty="0">
                <a:solidFill>
                  <a:srgbClr val="000000"/>
                </a:solidFill>
                <a:latin typeface="Georgia"/>
                <a:cs typeface="Georgia"/>
              </a:rPr>
              <a:t>a</a:t>
            </a:r>
            <a:r>
              <a:rPr sz="3500" b="0" dirty="0">
                <a:solidFill>
                  <a:srgbClr val="000000"/>
                </a:solidFill>
                <a:latin typeface="Georgia"/>
                <a:cs typeface="Georgia"/>
              </a:rPr>
              <a:t>	</a:t>
            </a:r>
            <a:r>
              <a:rPr sz="3500" b="0" spc="60" dirty="0">
                <a:solidFill>
                  <a:srgbClr val="000000"/>
                </a:solidFill>
                <a:latin typeface="Georgia"/>
                <a:cs typeface="Georgia"/>
              </a:rPr>
              <a:t>new</a:t>
            </a:r>
            <a:r>
              <a:rPr sz="3500" b="0" dirty="0">
                <a:solidFill>
                  <a:srgbClr val="000000"/>
                </a:solidFill>
                <a:latin typeface="Georgia"/>
                <a:cs typeface="Georgia"/>
              </a:rPr>
              <a:t>	</a:t>
            </a:r>
            <a:r>
              <a:rPr sz="3500" b="0" spc="-25" dirty="0">
                <a:solidFill>
                  <a:srgbClr val="000000"/>
                </a:solidFill>
                <a:latin typeface="Georgia"/>
                <a:cs typeface="Georgia"/>
              </a:rPr>
              <a:t>pod</a:t>
            </a:r>
            <a:r>
              <a:rPr sz="3500" b="0" dirty="0">
                <a:solidFill>
                  <a:srgbClr val="000000"/>
                </a:solidFill>
                <a:latin typeface="Georgia"/>
                <a:cs typeface="Georgia"/>
              </a:rPr>
              <a:t>	</a:t>
            </a:r>
            <a:r>
              <a:rPr sz="3500" b="0" spc="-25" dirty="0">
                <a:solidFill>
                  <a:srgbClr val="000000"/>
                </a:solidFill>
                <a:latin typeface="Georgia"/>
                <a:cs typeface="Georgia"/>
              </a:rPr>
              <a:t>in</a:t>
            </a:r>
            <a:r>
              <a:rPr sz="3500" b="0" dirty="0">
                <a:solidFill>
                  <a:srgbClr val="000000"/>
                </a:solidFill>
                <a:latin typeface="Georgia"/>
                <a:cs typeface="Georgia"/>
              </a:rPr>
              <a:t>	</a:t>
            </a:r>
            <a:r>
              <a:rPr sz="3500" b="0" spc="40" dirty="0">
                <a:solidFill>
                  <a:srgbClr val="000000"/>
                </a:solidFill>
                <a:latin typeface="Georgia"/>
                <a:cs typeface="Georgia"/>
              </a:rPr>
              <a:t>which</a:t>
            </a:r>
            <a:r>
              <a:rPr sz="3500" b="0" dirty="0">
                <a:solidFill>
                  <a:srgbClr val="000000"/>
                </a:solidFill>
                <a:latin typeface="Georgia"/>
                <a:cs typeface="Georgia"/>
              </a:rPr>
              <a:t>	</a:t>
            </a:r>
            <a:r>
              <a:rPr sz="3500" b="0" spc="100" dirty="0">
                <a:solidFill>
                  <a:srgbClr val="000000"/>
                </a:solidFill>
                <a:latin typeface="Georgia"/>
                <a:cs typeface="Georgia"/>
              </a:rPr>
              <a:t>we</a:t>
            </a:r>
            <a:r>
              <a:rPr sz="3500" b="0" dirty="0">
                <a:solidFill>
                  <a:srgbClr val="000000"/>
                </a:solidFill>
                <a:latin typeface="Georgia"/>
                <a:cs typeface="Georgia"/>
              </a:rPr>
              <a:t>	</a:t>
            </a:r>
            <a:r>
              <a:rPr sz="3500" b="0" spc="-20" dirty="0">
                <a:solidFill>
                  <a:srgbClr val="000000"/>
                </a:solidFill>
                <a:latin typeface="Georgia"/>
                <a:cs typeface="Georgia"/>
              </a:rPr>
              <a:t>have</a:t>
            </a:r>
            <a:r>
              <a:rPr sz="3500" b="0" dirty="0">
                <a:solidFill>
                  <a:srgbClr val="000000"/>
                </a:solidFill>
                <a:latin typeface="Georgia"/>
                <a:cs typeface="Georgia"/>
              </a:rPr>
              <a:t>	</a:t>
            </a:r>
            <a:r>
              <a:rPr sz="3500" b="0" spc="-10" dirty="0">
                <a:solidFill>
                  <a:srgbClr val="000000"/>
                </a:solidFill>
                <a:latin typeface="Georgia"/>
                <a:cs typeface="Georgia"/>
              </a:rPr>
              <a:t>created</a:t>
            </a:r>
            <a:r>
              <a:rPr sz="3500" b="0" dirty="0">
                <a:solidFill>
                  <a:srgbClr val="000000"/>
                </a:solidFill>
                <a:latin typeface="Georgia"/>
                <a:cs typeface="Georgia"/>
              </a:rPr>
              <a:t>	</a:t>
            </a:r>
            <a:r>
              <a:rPr sz="3500" b="0" spc="75" dirty="0">
                <a:solidFill>
                  <a:srgbClr val="000000"/>
                </a:solidFill>
                <a:latin typeface="Georgia"/>
                <a:cs typeface="Georgia"/>
              </a:rPr>
              <a:t>two</a:t>
            </a:r>
            <a:r>
              <a:rPr sz="3500" b="0" dirty="0">
                <a:solidFill>
                  <a:srgbClr val="000000"/>
                </a:solidFill>
                <a:latin typeface="Georgia"/>
                <a:cs typeface="Georgia"/>
              </a:rPr>
              <a:t>	</a:t>
            </a:r>
            <a:r>
              <a:rPr sz="3500" b="0" spc="-10" dirty="0">
                <a:solidFill>
                  <a:srgbClr val="000000"/>
                </a:solidFill>
                <a:latin typeface="Georgia"/>
                <a:cs typeface="Georgia"/>
              </a:rPr>
              <a:t>containers</a:t>
            </a:r>
            <a:r>
              <a:rPr sz="3500" b="0" dirty="0">
                <a:solidFill>
                  <a:srgbClr val="000000"/>
                </a:solidFill>
                <a:latin typeface="Georgia"/>
                <a:cs typeface="Georgia"/>
              </a:rPr>
              <a:t>	</a:t>
            </a:r>
            <a:r>
              <a:rPr sz="3500" b="0" spc="-25" dirty="0">
                <a:solidFill>
                  <a:srgbClr val="000000"/>
                </a:solidFill>
                <a:latin typeface="Georgia"/>
                <a:cs typeface="Georgia"/>
              </a:rPr>
              <a:t>and</a:t>
            </a:r>
            <a:r>
              <a:rPr sz="3500" b="0" dirty="0">
                <a:solidFill>
                  <a:srgbClr val="000000"/>
                </a:solidFill>
                <a:latin typeface="Georgia"/>
                <a:cs typeface="Georgia"/>
              </a:rPr>
              <a:t>	</a:t>
            </a:r>
            <a:r>
              <a:rPr sz="3500" b="0" spc="30" dirty="0">
                <a:solidFill>
                  <a:srgbClr val="000000"/>
                </a:solidFill>
                <a:latin typeface="Georgia"/>
                <a:cs typeface="Georgia"/>
              </a:rPr>
              <a:t>the</a:t>
            </a:r>
            <a:r>
              <a:rPr sz="3500" b="0" dirty="0">
                <a:solidFill>
                  <a:srgbClr val="000000"/>
                </a:solidFill>
                <a:latin typeface="Georgia"/>
                <a:cs typeface="Georgia"/>
              </a:rPr>
              <a:t>	</a:t>
            </a:r>
            <a:r>
              <a:rPr sz="3500" b="0" spc="-20" dirty="0">
                <a:solidFill>
                  <a:srgbClr val="000000"/>
                </a:solidFill>
                <a:latin typeface="Georgia"/>
                <a:cs typeface="Georgia"/>
              </a:rPr>
              <a:t>first </a:t>
            </a:r>
            <a:r>
              <a:rPr sz="3500" b="0" dirty="0">
                <a:solidFill>
                  <a:srgbClr val="000000"/>
                </a:solidFill>
                <a:latin typeface="Georgia"/>
                <a:cs typeface="Georgia"/>
              </a:rPr>
              <a:t>container</a:t>
            </a:r>
            <a:r>
              <a:rPr sz="3500" b="0" spc="35" dirty="0">
                <a:solidFill>
                  <a:srgbClr val="000000"/>
                </a:solidFill>
                <a:latin typeface="Georgia"/>
                <a:cs typeface="Georgia"/>
              </a:rPr>
              <a:t> </a:t>
            </a:r>
            <a:r>
              <a:rPr sz="3500" b="0" dirty="0">
                <a:solidFill>
                  <a:srgbClr val="000000"/>
                </a:solidFill>
                <a:latin typeface="Georgia"/>
                <a:cs typeface="Georgia"/>
              </a:rPr>
              <a:t>is</a:t>
            </a:r>
            <a:r>
              <a:rPr sz="3500" b="0" spc="35" dirty="0">
                <a:solidFill>
                  <a:srgbClr val="000000"/>
                </a:solidFill>
                <a:latin typeface="Georgia"/>
                <a:cs typeface="Georgia"/>
              </a:rPr>
              <a:t> </a:t>
            </a:r>
            <a:r>
              <a:rPr sz="3500" b="0" spc="-10" dirty="0">
                <a:solidFill>
                  <a:srgbClr val="000000"/>
                </a:solidFill>
                <a:latin typeface="Georgia"/>
                <a:cs typeface="Georgia"/>
              </a:rPr>
              <a:t>initcontainer.</a:t>
            </a:r>
            <a:endParaRPr sz="3500">
              <a:latin typeface="Georgia"/>
              <a:cs typeface="Georgia"/>
            </a:endParaRPr>
          </a:p>
        </p:txBody>
      </p:sp>
      <p:sp>
        <p:nvSpPr>
          <p:cNvPr id="4" name="object 4"/>
          <p:cNvSpPr txBox="1"/>
          <p:nvPr/>
        </p:nvSpPr>
        <p:spPr>
          <a:xfrm>
            <a:off x="5527862" y="8814608"/>
            <a:ext cx="10935335" cy="1092200"/>
          </a:xfrm>
          <a:prstGeom prst="rect">
            <a:avLst/>
          </a:prstGeom>
        </p:spPr>
        <p:txBody>
          <a:bodyPr vert="horz" wrap="square" lIns="0" tIns="12065" rIns="0" bIns="0" rtlCol="0">
            <a:spAutoFit/>
          </a:bodyPr>
          <a:lstStyle/>
          <a:p>
            <a:pPr marL="12700" marR="5080">
              <a:lnSpc>
                <a:spcPct val="116700"/>
              </a:lnSpc>
              <a:spcBef>
                <a:spcPts val="95"/>
              </a:spcBef>
              <a:tabLst>
                <a:tab pos="7789545" algn="l"/>
              </a:tabLst>
            </a:pPr>
            <a:r>
              <a:rPr sz="3000" b="1" spc="265" dirty="0">
                <a:latin typeface="Times New Roman"/>
                <a:cs typeface="Times New Roman"/>
              </a:rPr>
              <a:t>Now</a:t>
            </a:r>
            <a:r>
              <a:rPr sz="3000" b="1" spc="-20" dirty="0">
                <a:latin typeface="Times New Roman"/>
                <a:cs typeface="Times New Roman"/>
              </a:rPr>
              <a:t> </a:t>
            </a:r>
            <a:r>
              <a:rPr sz="3000" b="1" spc="125" dirty="0">
                <a:latin typeface="Times New Roman"/>
                <a:cs typeface="Times New Roman"/>
              </a:rPr>
              <a:t>check</a:t>
            </a:r>
            <a:r>
              <a:rPr sz="3000" b="1" spc="-20"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75" dirty="0">
                <a:latin typeface="Times New Roman"/>
                <a:cs typeface="Times New Roman"/>
              </a:rPr>
              <a:t>logs</a:t>
            </a:r>
            <a:r>
              <a:rPr sz="3000" b="1" spc="-20" dirty="0">
                <a:latin typeface="Times New Roman"/>
                <a:cs typeface="Times New Roman"/>
              </a:rPr>
              <a:t> </a:t>
            </a:r>
            <a:r>
              <a:rPr sz="3000" b="1" spc="90" dirty="0">
                <a:latin typeface="Times New Roman"/>
                <a:cs typeface="Times New Roman"/>
              </a:rPr>
              <a:t>of</a:t>
            </a:r>
            <a:r>
              <a:rPr sz="3000" b="1" spc="-20"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190" dirty="0">
                <a:latin typeface="Times New Roman"/>
                <a:cs typeface="Times New Roman"/>
              </a:rPr>
              <a:t>pod</a:t>
            </a:r>
            <a:r>
              <a:rPr sz="3000" b="1" spc="-15" dirty="0">
                <a:latin typeface="Times New Roman"/>
                <a:cs typeface="Times New Roman"/>
              </a:rPr>
              <a:t> </a:t>
            </a:r>
            <a:r>
              <a:rPr sz="3000" b="1" spc="-240" dirty="0">
                <a:latin typeface="Times New Roman"/>
                <a:cs typeface="Times New Roman"/>
              </a:rPr>
              <a:t>:</a:t>
            </a:r>
            <a:r>
              <a:rPr sz="3000" b="1" spc="-20" dirty="0">
                <a:latin typeface="Times New Roman"/>
                <a:cs typeface="Times New Roman"/>
              </a:rPr>
              <a:t> </a:t>
            </a:r>
            <a:r>
              <a:rPr sz="3000" b="1" spc="100" dirty="0">
                <a:solidFill>
                  <a:srgbClr val="E7181F"/>
                </a:solidFill>
                <a:latin typeface="Times New Roman"/>
                <a:cs typeface="Times New Roman"/>
              </a:rPr>
              <a:t>kubectl</a:t>
            </a:r>
            <a:r>
              <a:rPr sz="3000" b="1" spc="-20" dirty="0">
                <a:solidFill>
                  <a:srgbClr val="E7181F"/>
                </a:solidFill>
                <a:latin typeface="Times New Roman"/>
                <a:cs typeface="Times New Roman"/>
              </a:rPr>
              <a:t> </a:t>
            </a:r>
            <a:r>
              <a:rPr sz="3000" b="1" spc="55" dirty="0">
                <a:solidFill>
                  <a:srgbClr val="E7181F"/>
                </a:solidFill>
                <a:latin typeface="Times New Roman"/>
                <a:cs typeface="Times New Roman"/>
              </a:rPr>
              <a:t>logs</a:t>
            </a:r>
            <a:r>
              <a:rPr sz="3000" b="1" dirty="0">
                <a:solidFill>
                  <a:srgbClr val="E7181F"/>
                </a:solidFill>
                <a:latin typeface="Times New Roman"/>
                <a:cs typeface="Times New Roman"/>
              </a:rPr>
              <a:t>	</a:t>
            </a:r>
            <a:r>
              <a:rPr sz="3000" b="1" spc="400" dirty="0">
                <a:solidFill>
                  <a:srgbClr val="E7181F"/>
                </a:solidFill>
                <a:latin typeface="Times New Roman"/>
                <a:cs typeface="Times New Roman"/>
              </a:rPr>
              <a:t>-</a:t>
            </a:r>
            <a:r>
              <a:rPr sz="3000" b="1" dirty="0">
                <a:solidFill>
                  <a:srgbClr val="E7181F"/>
                </a:solidFill>
                <a:latin typeface="Times New Roman"/>
                <a:cs typeface="Times New Roman"/>
              </a:rPr>
              <a:t>f</a:t>
            </a:r>
            <a:r>
              <a:rPr sz="3000" b="1" spc="-10" dirty="0">
                <a:solidFill>
                  <a:srgbClr val="E7181F"/>
                </a:solidFill>
                <a:latin typeface="Times New Roman"/>
                <a:cs typeface="Times New Roman"/>
              </a:rPr>
              <a:t> </a:t>
            </a:r>
            <a:r>
              <a:rPr sz="3000" b="1" spc="260" dirty="0">
                <a:solidFill>
                  <a:srgbClr val="E7181F"/>
                </a:solidFill>
                <a:latin typeface="Times New Roman"/>
                <a:cs typeface="Times New Roman"/>
              </a:rPr>
              <a:t>pod/pod-</a:t>
            </a:r>
            <a:r>
              <a:rPr sz="3000" b="1" spc="190" dirty="0">
                <a:solidFill>
                  <a:srgbClr val="E7181F"/>
                </a:solidFill>
                <a:latin typeface="Times New Roman"/>
                <a:cs typeface="Times New Roman"/>
              </a:rPr>
              <a:t>name </a:t>
            </a:r>
            <a:r>
              <a:rPr sz="3000" b="1" spc="310" dirty="0">
                <a:latin typeface="Times New Roman"/>
                <a:cs typeface="Times New Roman"/>
              </a:rPr>
              <a:t>we</a:t>
            </a:r>
            <a:r>
              <a:rPr sz="3000" b="1" spc="-20" dirty="0">
                <a:latin typeface="Times New Roman"/>
                <a:cs typeface="Times New Roman"/>
              </a:rPr>
              <a:t> </a:t>
            </a:r>
            <a:r>
              <a:rPr sz="3000" b="1" spc="145" dirty="0">
                <a:latin typeface="Times New Roman"/>
                <a:cs typeface="Times New Roman"/>
              </a:rPr>
              <a:t>can</a:t>
            </a:r>
            <a:r>
              <a:rPr sz="3000" b="1" spc="-20" dirty="0">
                <a:latin typeface="Times New Roman"/>
                <a:cs typeface="Times New Roman"/>
              </a:rPr>
              <a:t> </a:t>
            </a:r>
            <a:r>
              <a:rPr sz="3000" b="1" spc="150" dirty="0">
                <a:latin typeface="Times New Roman"/>
                <a:cs typeface="Times New Roman"/>
              </a:rPr>
              <a:t>see</a:t>
            </a:r>
            <a:r>
              <a:rPr sz="3000" b="1" spc="-15" dirty="0">
                <a:latin typeface="Times New Roman"/>
                <a:cs typeface="Times New Roman"/>
              </a:rPr>
              <a:t> </a:t>
            </a:r>
            <a:r>
              <a:rPr sz="3000" b="1" spc="180" dirty="0">
                <a:latin typeface="Times New Roman"/>
                <a:cs typeface="Times New Roman"/>
              </a:rPr>
              <a:t>2</a:t>
            </a:r>
            <a:r>
              <a:rPr sz="3000" b="1" spc="-20" dirty="0">
                <a:latin typeface="Times New Roman"/>
                <a:cs typeface="Times New Roman"/>
              </a:rPr>
              <a:t> </a:t>
            </a:r>
            <a:r>
              <a:rPr sz="3000" b="1" spc="120" dirty="0">
                <a:latin typeface="Times New Roman"/>
                <a:cs typeface="Times New Roman"/>
              </a:rPr>
              <a:t>containers</a:t>
            </a:r>
            <a:r>
              <a:rPr sz="3000" b="1" spc="-15" dirty="0">
                <a:latin typeface="Times New Roman"/>
                <a:cs typeface="Times New Roman"/>
              </a:rPr>
              <a:t> </a:t>
            </a:r>
            <a:r>
              <a:rPr sz="3000" b="1" spc="60" dirty="0">
                <a:latin typeface="Times New Roman"/>
                <a:cs typeface="Times New Roman"/>
              </a:rPr>
              <a:t>are</a:t>
            </a:r>
            <a:r>
              <a:rPr sz="3000" b="1" spc="-20" dirty="0">
                <a:latin typeface="Times New Roman"/>
                <a:cs typeface="Times New Roman"/>
              </a:rPr>
              <a:t> </a:t>
            </a:r>
            <a:r>
              <a:rPr sz="3000" b="1" spc="135" dirty="0">
                <a:latin typeface="Times New Roman"/>
                <a:cs typeface="Times New Roman"/>
              </a:rPr>
              <a:t>running</a:t>
            </a:r>
            <a:r>
              <a:rPr sz="3000" b="1" spc="-15" dirty="0">
                <a:latin typeface="Times New Roman"/>
                <a:cs typeface="Times New Roman"/>
              </a:rPr>
              <a:t> </a:t>
            </a:r>
            <a:r>
              <a:rPr sz="3000" b="1" spc="145" dirty="0">
                <a:latin typeface="Times New Roman"/>
                <a:cs typeface="Times New Roman"/>
              </a:rPr>
              <a:t>inside</a:t>
            </a:r>
            <a:r>
              <a:rPr sz="3000" b="1" spc="-20" dirty="0">
                <a:latin typeface="Times New Roman"/>
                <a:cs typeface="Times New Roman"/>
              </a:rPr>
              <a:t> </a:t>
            </a:r>
            <a:r>
              <a:rPr sz="3000" b="1" spc="130" dirty="0">
                <a:latin typeface="Times New Roman"/>
                <a:cs typeface="Times New Roman"/>
              </a:rPr>
              <a:t>the</a:t>
            </a:r>
            <a:r>
              <a:rPr sz="3000" b="1" spc="-15" dirty="0">
                <a:latin typeface="Times New Roman"/>
                <a:cs typeface="Times New Roman"/>
              </a:rPr>
              <a:t> </a:t>
            </a:r>
            <a:r>
              <a:rPr sz="3000" b="1" spc="165" dirty="0">
                <a:latin typeface="Times New Roman"/>
                <a:cs typeface="Times New Roman"/>
              </a:rPr>
              <a:t>pod</a:t>
            </a:r>
            <a:endParaRPr sz="3000">
              <a:latin typeface="Times New Roman"/>
              <a:cs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04140" y="3807092"/>
            <a:ext cx="13858874" cy="3133724"/>
          </a:xfrm>
          <a:prstGeom prst="rect">
            <a:avLst/>
          </a:prstGeom>
        </p:spPr>
      </p:pic>
      <p:sp>
        <p:nvSpPr>
          <p:cNvPr id="3" name="object 3"/>
          <p:cNvSpPr txBox="1"/>
          <p:nvPr/>
        </p:nvSpPr>
        <p:spPr>
          <a:xfrm>
            <a:off x="1016000" y="476135"/>
            <a:ext cx="14734540" cy="2501900"/>
          </a:xfrm>
          <a:prstGeom prst="rect">
            <a:avLst/>
          </a:prstGeom>
        </p:spPr>
        <p:txBody>
          <a:bodyPr vert="horz" wrap="square" lIns="0" tIns="98425" rIns="0" bIns="0" rtlCol="0">
            <a:spAutoFit/>
          </a:bodyPr>
          <a:lstStyle/>
          <a:p>
            <a:pPr marL="12700">
              <a:lnSpc>
                <a:spcPct val="100000"/>
              </a:lnSpc>
              <a:spcBef>
                <a:spcPts val="775"/>
              </a:spcBef>
            </a:pPr>
            <a:r>
              <a:rPr sz="3500" dirty="0">
                <a:latin typeface="Georgia"/>
                <a:cs typeface="Georgia"/>
              </a:rPr>
              <a:t>If</a:t>
            </a:r>
            <a:r>
              <a:rPr sz="3500" spc="-20" dirty="0">
                <a:latin typeface="Georgia"/>
                <a:cs typeface="Georgia"/>
              </a:rPr>
              <a:t> </a:t>
            </a:r>
            <a:r>
              <a:rPr sz="3500" spc="125" dirty="0">
                <a:latin typeface="Georgia"/>
                <a:cs typeface="Georgia"/>
              </a:rPr>
              <a:t>we</a:t>
            </a:r>
            <a:r>
              <a:rPr sz="3500" spc="-20" dirty="0">
                <a:latin typeface="Georgia"/>
                <a:cs typeface="Georgia"/>
              </a:rPr>
              <a:t> </a:t>
            </a:r>
            <a:r>
              <a:rPr sz="3500" spc="65" dirty="0">
                <a:latin typeface="Georgia"/>
                <a:cs typeface="Georgia"/>
              </a:rPr>
              <a:t>execute</a:t>
            </a:r>
            <a:r>
              <a:rPr sz="3500" spc="-25" dirty="0">
                <a:latin typeface="Georgia"/>
                <a:cs typeface="Georgia"/>
              </a:rPr>
              <a:t> </a:t>
            </a:r>
            <a:r>
              <a:rPr sz="3500" spc="55" dirty="0">
                <a:latin typeface="Georgia"/>
                <a:cs typeface="Georgia"/>
              </a:rPr>
              <a:t>the</a:t>
            </a:r>
            <a:r>
              <a:rPr sz="3500" spc="-20" dirty="0">
                <a:latin typeface="Georgia"/>
                <a:cs typeface="Georgia"/>
              </a:rPr>
              <a:t> </a:t>
            </a:r>
            <a:r>
              <a:rPr sz="3500" dirty="0">
                <a:latin typeface="Georgia"/>
                <a:cs typeface="Georgia"/>
              </a:rPr>
              <a:t>above</a:t>
            </a:r>
            <a:r>
              <a:rPr sz="3500" spc="-20" dirty="0">
                <a:latin typeface="Georgia"/>
                <a:cs typeface="Georgia"/>
              </a:rPr>
              <a:t> </a:t>
            </a:r>
            <a:r>
              <a:rPr sz="3500" dirty="0">
                <a:latin typeface="Georgia"/>
                <a:cs typeface="Georgia"/>
              </a:rPr>
              <a:t>pod</a:t>
            </a:r>
            <a:r>
              <a:rPr sz="3500" spc="-25" dirty="0">
                <a:latin typeface="Georgia"/>
                <a:cs typeface="Georgia"/>
              </a:rPr>
              <a:t> </a:t>
            </a:r>
            <a:r>
              <a:rPr sz="3500" dirty="0">
                <a:latin typeface="Georgia"/>
                <a:cs typeface="Georgia"/>
              </a:rPr>
              <a:t>file,</a:t>
            </a:r>
            <a:r>
              <a:rPr sz="3500" spc="-15" dirty="0">
                <a:latin typeface="Georgia"/>
                <a:cs typeface="Georgia"/>
              </a:rPr>
              <a:t> </a:t>
            </a:r>
            <a:r>
              <a:rPr sz="3500" spc="-240" dirty="0">
                <a:latin typeface="Georgia"/>
                <a:cs typeface="Georgia"/>
              </a:rPr>
              <a:t>2</a:t>
            </a:r>
            <a:r>
              <a:rPr sz="3500" spc="-20" dirty="0">
                <a:latin typeface="Georgia"/>
                <a:cs typeface="Georgia"/>
              </a:rPr>
              <a:t> </a:t>
            </a:r>
            <a:r>
              <a:rPr sz="3500" dirty="0">
                <a:latin typeface="Georgia"/>
                <a:cs typeface="Georgia"/>
              </a:rPr>
              <a:t>containers</a:t>
            </a:r>
            <a:r>
              <a:rPr sz="3500" spc="-20" dirty="0">
                <a:latin typeface="Georgia"/>
                <a:cs typeface="Georgia"/>
              </a:rPr>
              <a:t> </a:t>
            </a:r>
            <a:r>
              <a:rPr sz="3500" dirty="0">
                <a:latin typeface="Georgia"/>
                <a:cs typeface="Georgia"/>
              </a:rPr>
              <a:t>will</a:t>
            </a:r>
            <a:r>
              <a:rPr sz="3500" spc="-15" dirty="0">
                <a:latin typeface="Georgia"/>
                <a:cs typeface="Georgia"/>
              </a:rPr>
              <a:t> </a:t>
            </a:r>
            <a:r>
              <a:rPr sz="3500" dirty="0">
                <a:latin typeface="Georgia"/>
                <a:cs typeface="Georgia"/>
              </a:rPr>
              <a:t>gets</a:t>
            </a:r>
            <a:r>
              <a:rPr sz="3500" spc="-15" dirty="0">
                <a:latin typeface="Georgia"/>
                <a:cs typeface="Georgia"/>
              </a:rPr>
              <a:t> </a:t>
            </a:r>
            <a:r>
              <a:rPr sz="3500" spc="-10" dirty="0">
                <a:latin typeface="Georgia"/>
                <a:cs typeface="Georgia"/>
              </a:rPr>
              <a:t>created.</a:t>
            </a:r>
            <a:endParaRPr sz="3500">
              <a:latin typeface="Georgia"/>
              <a:cs typeface="Georgia"/>
            </a:endParaRPr>
          </a:p>
          <a:p>
            <a:pPr marL="12700" marR="5080">
              <a:lnSpc>
                <a:spcPts val="4880"/>
              </a:lnSpc>
              <a:spcBef>
                <a:spcPts val="270"/>
              </a:spcBef>
            </a:pPr>
            <a:r>
              <a:rPr sz="3500" dirty="0">
                <a:latin typeface="Georgia"/>
                <a:cs typeface="Georgia"/>
              </a:rPr>
              <a:t>container-1</a:t>
            </a:r>
            <a:r>
              <a:rPr sz="3500" spc="-40" dirty="0">
                <a:latin typeface="Georgia"/>
                <a:cs typeface="Georgia"/>
              </a:rPr>
              <a:t> </a:t>
            </a:r>
            <a:r>
              <a:rPr sz="3500" spc="-250" dirty="0">
                <a:latin typeface="Georgia"/>
                <a:cs typeface="Georgia"/>
              </a:rPr>
              <a:t>:</a:t>
            </a:r>
            <a:r>
              <a:rPr sz="3500" spc="-40" dirty="0">
                <a:latin typeface="Georgia"/>
                <a:cs typeface="Georgia"/>
              </a:rPr>
              <a:t> </a:t>
            </a:r>
            <a:r>
              <a:rPr sz="3500" dirty="0">
                <a:latin typeface="Georgia"/>
                <a:cs typeface="Georgia"/>
              </a:rPr>
              <a:t>prints</a:t>
            </a:r>
            <a:r>
              <a:rPr sz="3500" spc="-40" dirty="0">
                <a:latin typeface="Georgia"/>
                <a:cs typeface="Georgia"/>
              </a:rPr>
              <a:t> </a:t>
            </a:r>
            <a:r>
              <a:rPr sz="3500" spc="55" dirty="0">
                <a:latin typeface="Georgia"/>
                <a:cs typeface="Georgia"/>
              </a:rPr>
              <a:t>the</a:t>
            </a:r>
            <a:r>
              <a:rPr sz="3500" spc="-40" dirty="0">
                <a:latin typeface="Georgia"/>
                <a:cs typeface="Georgia"/>
              </a:rPr>
              <a:t> </a:t>
            </a:r>
            <a:r>
              <a:rPr sz="3500" dirty="0">
                <a:latin typeface="Georgia"/>
                <a:cs typeface="Georgia"/>
              </a:rPr>
              <a:t>data</a:t>
            </a:r>
            <a:r>
              <a:rPr sz="3500" spc="-45" dirty="0">
                <a:latin typeface="Georgia"/>
                <a:cs typeface="Georgia"/>
              </a:rPr>
              <a:t> </a:t>
            </a:r>
            <a:r>
              <a:rPr sz="3500" dirty="0">
                <a:latin typeface="Georgia"/>
                <a:cs typeface="Georgia"/>
              </a:rPr>
              <a:t>and</a:t>
            </a:r>
            <a:r>
              <a:rPr sz="3500" spc="-45" dirty="0">
                <a:latin typeface="Georgia"/>
                <a:cs typeface="Georgia"/>
              </a:rPr>
              <a:t> </a:t>
            </a:r>
            <a:r>
              <a:rPr sz="3500" spc="50" dirty="0">
                <a:latin typeface="Georgia"/>
                <a:cs typeface="Georgia"/>
              </a:rPr>
              <a:t>save</a:t>
            </a:r>
            <a:r>
              <a:rPr sz="3500" spc="-45" dirty="0">
                <a:latin typeface="Georgia"/>
                <a:cs typeface="Georgia"/>
              </a:rPr>
              <a:t> </a:t>
            </a:r>
            <a:r>
              <a:rPr sz="3500" spc="55" dirty="0">
                <a:latin typeface="Georgia"/>
                <a:cs typeface="Georgia"/>
              </a:rPr>
              <a:t>the</a:t>
            </a:r>
            <a:r>
              <a:rPr sz="3500" spc="-45" dirty="0">
                <a:latin typeface="Georgia"/>
                <a:cs typeface="Georgia"/>
              </a:rPr>
              <a:t> </a:t>
            </a:r>
            <a:r>
              <a:rPr sz="3500" dirty="0">
                <a:latin typeface="Georgia"/>
                <a:cs typeface="Georgia"/>
              </a:rPr>
              <a:t>data</a:t>
            </a:r>
            <a:r>
              <a:rPr sz="3500" spc="-40" dirty="0">
                <a:latin typeface="Georgia"/>
                <a:cs typeface="Georgia"/>
              </a:rPr>
              <a:t> </a:t>
            </a:r>
            <a:r>
              <a:rPr sz="3500" dirty="0">
                <a:latin typeface="Georgia"/>
                <a:cs typeface="Georgia"/>
              </a:rPr>
              <a:t>in</a:t>
            </a:r>
            <a:r>
              <a:rPr sz="3500" spc="-40" dirty="0">
                <a:latin typeface="Georgia"/>
                <a:cs typeface="Georgia"/>
              </a:rPr>
              <a:t> </a:t>
            </a:r>
            <a:r>
              <a:rPr sz="3500" spc="220" dirty="0">
                <a:latin typeface="Times New Roman"/>
                <a:cs typeface="Times New Roman"/>
              </a:rPr>
              <a:t>/tmp/xchange/testfile</a:t>
            </a:r>
            <a:r>
              <a:rPr sz="3500" spc="-70" dirty="0">
                <a:latin typeface="Times New Roman"/>
                <a:cs typeface="Times New Roman"/>
              </a:rPr>
              <a:t> </a:t>
            </a:r>
            <a:r>
              <a:rPr sz="3500" spc="-20" dirty="0">
                <a:latin typeface="Georgia"/>
                <a:cs typeface="Georgia"/>
              </a:rPr>
              <a:t>file </a:t>
            </a:r>
            <a:r>
              <a:rPr sz="3500" dirty="0">
                <a:latin typeface="Georgia"/>
                <a:cs typeface="Georgia"/>
              </a:rPr>
              <a:t>container-</a:t>
            </a:r>
            <a:r>
              <a:rPr sz="3500" spc="-240" dirty="0">
                <a:latin typeface="Georgia"/>
                <a:cs typeface="Georgia"/>
              </a:rPr>
              <a:t>2</a:t>
            </a:r>
            <a:r>
              <a:rPr sz="3500" spc="10" dirty="0">
                <a:latin typeface="Georgia"/>
                <a:cs typeface="Georgia"/>
              </a:rPr>
              <a:t> </a:t>
            </a:r>
            <a:r>
              <a:rPr sz="3500" spc="-250" dirty="0">
                <a:latin typeface="Georgia"/>
                <a:cs typeface="Georgia"/>
              </a:rPr>
              <a:t>:</a:t>
            </a:r>
            <a:r>
              <a:rPr sz="3500" spc="15" dirty="0">
                <a:latin typeface="Georgia"/>
                <a:cs typeface="Georgia"/>
              </a:rPr>
              <a:t> </a:t>
            </a:r>
            <a:r>
              <a:rPr sz="3500" dirty="0">
                <a:latin typeface="Georgia"/>
                <a:cs typeface="Georgia"/>
              </a:rPr>
              <a:t>prints</a:t>
            </a:r>
            <a:r>
              <a:rPr sz="3500" spc="20" dirty="0">
                <a:latin typeface="Georgia"/>
                <a:cs typeface="Georgia"/>
              </a:rPr>
              <a:t> </a:t>
            </a:r>
            <a:r>
              <a:rPr sz="3500" spc="55" dirty="0">
                <a:latin typeface="Georgia"/>
                <a:cs typeface="Georgia"/>
              </a:rPr>
              <a:t>the</a:t>
            </a:r>
            <a:r>
              <a:rPr sz="3500" spc="10" dirty="0">
                <a:latin typeface="Georgia"/>
                <a:cs typeface="Georgia"/>
              </a:rPr>
              <a:t> </a:t>
            </a:r>
            <a:r>
              <a:rPr sz="3500" spc="-20" dirty="0">
                <a:latin typeface="Georgia"/>
                <a:cs typeface="Georgia"/>
              </a:rPr>
              <a:t>data</a:t>
            </a:r>
            <a:endParaRPr sz="3500">
              <a:latin typeface="Georgia"/>
              <a:cs typeface="Georgia"/>
            </a:endParaRPr>
          </a:p>
          <a:p>
            <a:pPr marL="12700">
              <a:lnSpc>
                <a:spcPct val="100000"/>
              </a:lnSpc>
              <a:spcBef>
                <a:spcPts val="395"/>
              </a:spcBef>
            </a:pPr>
            <a:r>
              <a:rPr sz="3500" dirty="0">
                <a:latin typeface="Georgia"/>
                <a:cs typeface="Georgia"/>
              </a:rPr>
              <a:t>check</a:t>
            </a:r>
            <a:r>
              <a:rPr sz="3500" spc="-25" dirty="0">
                <a:latin typeface="Georgia"/>
                <a:cs typeface="Georgia"/>
              </a:rPr>
              <a:t> </a:t>
            </a:r>
            <a:r>
              <a:rPr sz="3500" spc="55" dirty="0">
                <a:latin typeface="Georgia"/>
                <a:cs typeface="Georgia"/>
              </a:rPr>
              <a:t>the</a:t>
            </a:r>
            <a:r>
              <a:rPr sz="3500" spc="-25" dirty="0">
                <a:latin typeface="Georgia"/>
                <a:cs typeface="Georgia"/>
              </a:rPr>
              <a:t> </a:t>
            </a:r>
            <a:r>
              <a:rPr sz="3500" dirty="0">
                <a:latin typeface="Georgia"/>
                <a:cs typeface="Georgia"/>
              </a:rPr>
              <a:t>list</a:t>
            </a:r>
            <a:r>
              <a:rPr sz="3500" spc="-15" dirty="0">
                <a:latin typeface="Georgia"/>
                <a:cs typeface="Georgia"/>
              </a:rPr>
              <a:t> </a:t>
            </a:r>
            <a:r>
              <a:rPr sz="3500" dirty="0">
                <a:latin typeface="Georgia"/>
                <a:cs typeface="Georgia"/>
              </a:rPr>
              <a:t>of</a:t>
            </a:r>
            <a:r>
              <a:rPr sz="3500" spc="-20" dirty="0">
                <a:latin typeface="Georgia"/>
                <a:cs typeface="Georgia"/>
              </a:rPr>
              <a:t> </a:t>
            </a:r>
            <a:r>
              <a:rPr sz="3500" dirty="0">
                <a:latin typeface="Georgia"/>
                <a:cs typeface="Georgia"/>
              </a:rPr>
              <a:t>pods</a:t>
            </a:r>
            <a:r>
              <a:rPr sz="3500" spc="-15" dirty="0">
                <a:latin typeface="Georgia"/>
                <a:cs typeface="Georgia"/>
              </a:rPr>
              <a:t> </a:t>
            </a:r>
            <a:r>
              <a:rPr sz="3500" dirty="0">
                <a:latin typeface="Georgia"/>
                <a:cs typeface="Georgia"/>
              </a:rPr>
              <a:t>for</a:t>
            </a:r>
            <a:r>
              <a:rPr sz="3500" spc="-20" dirty="0">
                <a:latin typeface="Georgia"/>
                <a:cs typeface="Georgia"/>
              </a:rPr>
              <a:t> </a:t>
            </a:r>
            <a:r>
              <a:rPr sz="3500" spc="95" dirty="0">
                <a:latin typeface="Georgia"/>
                <a:cs typeface="Georgia"/>
              </a:rPr>
              <a:t>every</a:t>
            </a:r>
            <a:r>
              <a:rPr sz="3500" spc="-25" dirty="0">
                <a:latin typeface="Georgia"/>
                <a:cs typeface="Georgia"/>
              </a:rPr>
              <a:t> </a:t>
            </a:r>
            <a:r>
              <a:rPr sz="3500" spc="-80" dirty="0">
                <a:latin typeface="Georgia"/>
                <a:cs typeface="Georgia"/>
              </a:rPr>
              <a:t>15</a:t>
            </a:r>
            <a:r>
              <a:rPr sz="3500" spc="-20" dirty="0">
                <a:latin typeface="Georgia"/>
                <a:cs typeface="Georgia"/>
              </a:rPr>
              <a:t> </a:t>
            </a:r>
            <a:r>
              <a:rPr sz="3500" spc="-10" dirty="0">
                <a:latin typeface="Georgia"/>
                <a:cs typeface="Georgia"/>
              </a:rPr>
              <a:t>seconds.</a:t>
            </a:r>
            <a:endParaRPr sz="3500">
              <a:latin typeface="Georgia"/>
              <a:cs typeface="Georgia"/>
            </a:endParaRPr>
          </a:p>
        </p:txBody>
      </p:sp>
      <p:sp>
        <p:nvSpPr>
          <p:cNvPr id="4" name="object 4"/>
          <p:cNvSpPr txBox="1"/>
          <p:nvPr/>
        </p:nvSpPr>
        <p:spPr>
          <a:xfrm>
            <a:off x="891440" y="7018763"/>
            <a:ext cx="16624300" cy="2501900"/>
          </a:xfrm>
          <a:prstGeom prst="rect">
            <a:avLst/>
          </a:prstGeom>
        </p:spPr>
        <p:txBody>
          <a:bodyPr vert="horz" wrap="square" lIns="0" tIns="12065" rIns="0" bIns="0" rtlCol="0">
            <a:spAutoFit/>
          </a:bodyPr>
          <a:lstStyle/>
          <a:p>
            <a:pPr marL="12700" marR="5080">
              <a:lnSpc>
                <a:spcPct val="116100"/>
              </a:lnSpc>
              <a:spcBef>
                <a:spcPts val="95"/>
              </a:spcBef>
              <a:tabLst>
                <a:tab pos="5250180" algn="l"/>
              </a:tabLst>
            </a:pPr>
            <a:r>
              <a:rPr sz="3500" spc="65" dirty="0">
                <a:latin typeface="Georgia"/>
                <a:cs typeface="Georgia"/>
              </a:rPr>
              <a:t>when</a:t>
            </a:r>
            <a:r>
              <a:rPr sz="3500" spc="285" dirty="0">
                <a:latin typeface="Georgia"/>
                <a:cs typeface="Georgia"/>
              </a:rPr>
              <a:t> </a:t>
            </a:r>
            <a:r>
              <a:rPr sz="3500" spc="125" dirty="0">
                <a:latin typeface="Georgia"/>
                <a:cs typeface="Georgia"/>
              </a:rPr>
              <a:t>we</a:t>
            </a:r>
            <a:r>
              <a:rPr sz="3500" spc="290" dirty="0">
                <a:latin typeface="Georgia"/>
                <a:cs typeface="Georgia"/>
              </a:rPr>
              <a:t> </a:t>
            </a:r>
            <a:r>
              <a:rPr sz="3500" dirty="0">
                <a:latin typeface="Georgia"/>
                <a:cs typeface="Georgia"/>
              </a:rPr>
              <a:t>create</a:t>
            </a:r>
            <a:r>
              <a:rPr sz="3500" spc="290" dirty="0">
                <a:latin typeface="Georgia"/>
                <a:cs typeface="Georgia"/>
              </a:rPr>
              <a:t> </a:t>
            </a:r>
            <a:r>
              <a:rPr sz="3500" spc="55" dirty="0">
                <a:latin typeface="Georgia"/>
                <a:cs typeface="Georgia"/>
              </a:rPr>
              <a:t>the</a:t>
            </a:r>
            <a:r>
              <a:rPr sz="3500" spc="290" dirty="0">
                <a:latin typeface="Georgia"/>
                <a:cs typeface="Georgia"/>
              </a:rPr>
              <a:t> </a:t>
            </a:r>
            <a:r>
              <a:rPr sz="3500" spc="-20" dirty="0">
                <a:latin typeface="Georgia"/>
                <a:cs typeface="Georgia"/>
              </a:rPr>
              <a:t>pod,</a:t>
            </a:r>
            <a:r>
              <a:rPr sz="3500" dirty="0">
                <a:latin typeface="Georgia"/>
                <a:cs typeface="Georgia"/>
              </a:rPr>
              <a:t>	cont-1</a:t>
            </a:r>
            <a:r>
              <a:rPr sz="3500" spc="290" dirty="0">
                <a:latin typeface="Georgia"/>
                <a:cs typeface="Georgia"/>
              </a:rPr>
              <a:t> </a:t>
            </a:r>
            <a:r>
              <a:rPr sz="3500" dirty="0">
                <a:latin typeface="Georgia"/>
                <a:cs typeface="Georgia"/>
              </a:rPr>
              <a:t>command</a:t>
            </a:r>
            <a:r>
              <a:rPr sz="3500" spc="290" dirty="0">
                <a:latin typeface="Georgia"/>
                <a:cs typeface="Georgia"/>
              </a:rPr>
              <a:t> </a:t>
            </a:r>
            <a:r>
              <a:rPr sz="3500" dirty="0">
                <a:latin typeface="Georgia"/>
                <a:cs typeface="Georgia"/>
              </a:rPr>
              <a:t>will</a:t>
            </a:r>
            <a:r>
              <a:rPr sz="3500" spc="290" dirty="0">
                <a:latin typeface="Georgia"/>
                <a:cs typeface="Georgia"/>
              </a:rPr>
              <a:t> </a:t>
            </a:r>
            <a:r>
              <a:rPr sz="3500" dirty="0">
                <a:latin typeface="Georgia"/>
                <a:cs typeface="Georgia"/>
              </a:rPr>
              <a:t>gets</a:t>
            </a:r>
            <a:r>
              <a:rPr sz="3500" spc="290" dirty="0">
                <a:latin typeface="Georgia"/>
                <a:cs typeface="Georgia"/>
              </a:rPr>
              <a:t> </a:t>
            </a:r>
            <a:r>
              <a:rPr sz="3500" spc="55" dirty="0">
                <a:latin typeface="Georgia"/>
                <a:cs typeface="Georgia"/>
              </a:rPr>
              <a:t>executed</a:t>
            </a:r>
            <a:r>
              <a:rPr sz="3500" spc="290" dirty="0">
                <a:latin typeface="Georgia"/>
                <a:cs typeface="Georgia"/>
              </a:rPr>
              <a:t> </a:t>
            </a:r>
            <a:r>
              <a:rPr sz="3500" dirty="0">
                <a:latin typeface="Georgia"/>
                <a:cs typeface="Georgia"/>
              </a:rPr>
              <a:t>and</a:t>
            </a:r>
            <a:r>
              <a:rPr sz="3500" spc="290" dirty="0">
                <a:latin typeface="Georgia"/>
                <a:cs typeface="Georgia"/>
              </a:rPr>
              <a:t> </a:t>
            </a:r>
            <a:r>
              <a:rPr sz="3500" dirty="0">
                <a:latin typeface="Georgia"/>
                <a:cs typeface="Georgia"/>
              </a:rPr>
              <a:t>after</a:t>
            </a:r>
            <a:r>
              <a:rPr sz="3500" spc="290" dirty="0">
                <a:latin typeface="Georgia"/>
                <a:cs typeface="Georgia"/>
              </a:rPr>
              <a:t> </a:t>
            </a:r>
            <a:r>
              <a:rPr sz="3500" dirty="0">
                <a:latin typeface="Georgia"/>
                <a:cs typeface="Georgia"/>
              </a:rPr>
              <a:t>15</a:t>
            </a:r>
            <a:r>
              <a:rPr sz="3500" spc="290" dirty="0">
                <a:latin typeface="Georgia"/>
                <a:cs typeface="Georgia"/>
              </a:rPr>
              <a:t> </a:t>
            </a:r>
            <a:r>
              <a:rPr sz="3500" spc="-10" dirty="0">
                <a:latin typeface="Georgia"/>
                <a:cs typeface="Georgia"/>
              </a:rPr>
              <a:t>seconds </a:t>
            </a:r>
            <a:r>
              <a:rPr sz="3500" dirty="0">
                <a:latin typeface="Georgia"/>
                <a:cs typeface="Georgia"/>
              </a:rPr>
              <a:t>cont-</a:t>
            </a:r>
            <a:r>
              <a:rPr sz="3500" spc="-240" dirty="0">
                <a:latin typeface="Georgia"/>
                <a:cs typeface="Georgia"/>
              </a:rPr>
              <a:t>2</a:t>
            </a:r>
            <a:r>
              <a:rPr sz="3500" spc="45" dirty="0">
                <a:latin typeface="Georgia"/>
                <a:cs typeface="Georgia"/>
              </a:rPr>
              <a:t> </a:t>
            </a:r>
            <a:r>
              <a:rPr sz="3500" dirty="0">
                <a:latin typeface="Georgia"/>
                <a:cs typeface="Georgia"/>
              </a:rPr>
              <a:t>will</a:t>
            </a:r>
            <a:r>
              <a:rPr sz="3500" spc="55" dirty="0">
                <a:latin typeface="Georgia"/>
                <a:cs typeface="Georgia"/>
              </a:rPr>
              <a:t> </a:t>
            </a:r>
            <a:r>
              <a:rPr sz="3500" dirty="0">
                <a:latin typeface="Georgia"/>
                <a:cs typeface="Georgia"/>
              </a:rPr>
              <a:t>be</a:t>
            </a:r>
            <a:r>
              <a:rPr sz="3500" spc="50" dirty="0">
                <a:latin typeface="Georgia"/>
                <a:cs typeface="Georgia"/>
              </a:rPr>
              <a:t> </a:t>
            </a:r>
            <a:r>
              <a:rPr sz="3500" dirty="0">
                <a:latin typeface="Georgia"/>
                <a:cs typeface="Georgia"/>
              </a:rPr>
              <a:t>in</a:t>
            </a:r>
            <a:r>
              <a:rPr sz="3500" spc="50" dirty="0">
                <a:latin typeface="Georgia"/>
                <a:cs typeface="Georgia"/>
              </a:rPr>
              <a:t> </a:t>
            </a:r>
            <a:r>
              <a:rPr sz="3500" dirty="0">
                <a:latin typeface="Georgia"/>
                <a:cs typeface="Georgia"/>
              </a:rPr>
              <a:t>running</a:t>
            </a:r>
            <a:r>
              <a:rPr sz="3500" spc="50" dirty="0">
                <a:latin typeface="Georgia"/>
                <a:cs typeface="Georgia"/>
              </a:rPr>
              <a:t> </a:t>
            </a:r>
            <a:r>
              <a:rPr sz="3500" dirty="0">
                <a:latin typeface="Georgia"/>
                <a:cs typeface="Georgia"/>
              </a:rPr>
              <a:t>state</a:t>
            </a:r>
            <a:r>
              <a:rPr sz="3500" spc="50" dirty="0">
                <a:latin typeface="Georgia"/>
                <a:cs typeface="Georgia"/>
              </a:rPr>
              <a:t> </a:t>
            </a:r>
            <a:r>
              <a:rPr sz="3500" dirty="0">
                <a:latin typeface="Georgia"/>
                <a:cs typeface="Georgia"/>
              </a:rPr>
              <a:t>then</a:t>
            </a:r>
            <a:r>
              <a:rPr sz="3500" spc="50" dirty="0">
                <a:latin typeface="Georgia"/>
                <a:cs typeface="Georgia"/>
              </a:rPr>
              <a:t> </a:t>
            </a:r>
            <a:r>
              <a:rPr sz="3500" dirty="0">
                <a:latin typeface="Georgia"/>
                <a:cs typeface="Georgia"/>
              </a:rPr>
              <a:t>cont-</a:t>
            </a:r>
            <a:r>
              <a:rPr sz="3500" spc="-240" dirty="0">
                <a:latin typeface="Georgia"/>
                <a:cs typeface="Georgia"/>
              </a:rPr>
              <a:t>2</a:t>
            </a:r>
            <a:r>
              <a:rPr sz="3500" spc="50" dirty="0">
                <a:latin typeface="Georgia"/>
                <a:cs typeface="Georgia"/>
              </a:rPr>
              <a:t> </a:t>
            </a:r>
            <a:r>
              <a:rPr sz="3500" dirty="0">
                <a:latin typeface="Georgia"/>
                <a:cs typeface="Georgia"/>
              </a:rPr>
              <a:t>command</a:t>
            </a:r>
            <a:r>
              <a:rPr sz="3500" spc="50" dirty="0">
                <a:latin typeface="Georgia"/>
                <a:cs typeface="Georgia"/>
              </a:rPr>
              <a:t> </a:t>
            </a:r>
            <a:r>
              <a:rPr sz="3500" dirty="0">
                <a:latin typeface="Georgia"/>
                <a:cs typeface="Georgia"/>
              </a:rPr>
              <a:t>will</a:t>
            </a:r>
            <a:r>
              <a:rPr sz="3500" spc="55" dirty="0">
                <a:latin typeface="Georgia"/>
                <a:cs typeface="Georgia"/>
              </a:rPr>
              <a:t> </a:t>
            </a:r>
            <a:r>
              <a:rPr sz="3500" dirty="0">
                <a:latin typeface="Georgia"/>
                <a:cs typeface="Georgia"/>
              </a:rPr>
              <a:t>gets</a:t>
            </a:r>
            <a:r>
              <a:rPr sz="3500" spc="55" dirty="0">
                <a:latin typeface="Georgia"/>
                <a:cs typeface="Georgia"/>
              </a:rPr>
              <a:t> </a:t>
            </a:r>
            <a:r>
              <a:rPr sz="3500" spc="-10" dirty="0">
                <a:latin typeface="Georgia"/>
                <a:cs typeface="Georgia"/>
              </a:rPr>
              <a:t>executed.</a:t>
            </a:r>
            <a:endParaRPr sz="3500">
              <a:latin typeface="Georgia"/>
              <a:cs typeface="Georgia"/>
            </a:endParaRPr>
          </a:p>
          <a:p>
            <a:pPr>
              <a:lnSpc>
                <a:spcPct val="100000"/>
              </a:lnSpc>
              <a:spcBef>
                <a:spcPts val="1575"/>
              </a:spcBef>
            </a:pPr>
            <a:endParaRPr sz="3500">
              <a:latin typeface="Georgia"/>
              <a:cs typeface="Georgia"/>
            </a:endParaRPr>
          </a:p>
          <a:p>
            <a:pPr marL="12700">
              <a:lnSpc>
                <a:spcPct val="100000"/>
              </a:lnSpc>
            </a:pPr>
            <a:r>
              <a:rPr sz="3500" dirty="0">
                <a:latin typeface="Georgia"/>
                <a:cs typeface="Georgia"/>
              </a:rPr>
              <a:t>describe</a:t>
            </a:r>
            <a:r>
              <a:rPr sz="3500" spc="-25" dirty="0">
                <a:latin typeface="Georgia"/>
                <a:cs typeface="Georgia"/>
              </a:rPr>
              <a:t> </a:t>
            </a:r>
            <a:r>
              <a:rPr sz="3500" spc="55" dirty="0">
                <a:latin typeface="Georgia"/>
                <a:cs typeface="Georgia"/>
              </a:rPr>
              <a:t>the</a:t>
            </a:r>
            <a:r>
              <a:rPr sz="3500" spc="-20" dirty="0">
                <a:latin typeface="Georgia"/>
                <a:cs typeface="Georgia"/>
              </a:rPr>
              <a:t> </a:t>
            </a:r>
            <a:r>
              <a:rPr sz="3500" dirty="0">
                <a:latin typeface="Georgia"/>
                <a:cs typeface="Georgia"/>
              </a:rPr>
              <a:t>pods</a:t>
            </a:r>
            <a:r>
              <a:rPr sz="3500" spc="-20" dirty="0">
                <a:latin typeface="Georgia"/>
                <a:cs typeface="Georgia"/>
              </a:rPr>
              <a:t> </a:t>
            </a:r>
            <a:r>
              <a:rPr sz="3500" dirty="0">
                <a:latin typeface="Georgia"/>
                <a:cs typeface="Georgia"/>
              </a:rPr>
              <a:t>for</a:t>
            </a:r>
            <a:r>
              <a:rPr sz="3500" spc="-15" dirty="0">
                <a:latin typeface="Georgia"/>
                <a:cs typeface="Georgia"/>
              </a:rPr>
              <a:t> </a:t>
            </a:r>
            <a:r>
              <a:rPr sz="3500" spc="95" dirty="0">
                <a:latin typeface="Georgia"/>
                <a:cs typeface="Georgia"/>
              </a:rPr>
              <a:t>every</a:t>
            </a:r>
            <a:r>
              <a:rPr sz="3500" spc="-20" dirty="0">
                <a:latin typeface="Georgia"/>
                <a:cs typeface="Georgia"/>
              </a:rPr>
              <a:t> </a:t>
            </a:r>
            <a:r>
              <a:rPr sz="3500" spc="-80" dirty="0">
                <a:latin typeface="Georgia"/>
                <a:cs typeface="Georgia"/>
              </a:rPr>
              <a:t>15</a:t>
            </a:r>
            <a:r>
              <a:rPr sz="3500" spc="-25" dirty="0">
                <a:latin typeface="Georgia"/>
                <a:cs typeface="Georgia"/>
              </a:rPr>
              <a:t> </a:t>
            </a:r>
            <a:r>
              <a:rPr sz="3500" dirty="0">
                <a:latin typeface="Georgia"/>
                <a:cs typeface="Georgia"/>
              </a:rPr>
              <a:t>sec</a:t>
            </a:r>
            <a:r>
              <a:rPr sz="3500" spc="-20" dirty="0">
                <a:latin typeface="Georgia"/>
                <a:cs typeface="Georgia"/>
              </a:rPr>
              <a:t> </a:t>
            </a:r>
            <a:r>
              <a:rPr sz="3500" spc="125" dirty="0">
                <a:latin typeface="Georgia"/>
                <a:cs typeface="Georgia"/>
              </a:rPr>
              <a:t>we</a:t>
            </a:r>
            <a:r>
              <a:rPr sz="3500" spc="-25" dirty="0">
                <a:latin typeface="Georgia"/>
                <a:cs typeface="Georgia"/>
              </a:rPr>
              <a:t> </a:t>
            </a:r>
            <a:r>
              <a:rPr sz="3500" dirty="0">
                <a:latin typeface="Georgia"/>
                <a:cs typeface="Georgia"/>
              </a:rPr>
              <a:t>will</a:t>
            </a:r>
            <a:r>
              <a:rPr sz="3500" spc="-15" dirty="0">
                <a:latin typeface="Georgia"/>
                <a:cs typeface="Georgia"/>
              </a:rPr>
              <a:t> </a:t>
            </a:r>
            <a:r>
              <a:rPr sz="3500" dirty="0">
                <a:latin typeface="Georgia"/>
                <a:cs typeface="Georgia"/>
              </a:rPr>
              <a:t>see</a:t>
            </a:r>
            <a:r>
              <a:rPr sz="3500" spc="-25" dirty="0">
                <a:latin typeface="Georgia"/>
                <a:cs typeface="Georgia"/>
              </a:rPr>
              <a:t> </a:t>
            </a:r>
            <a:r>
              <a:rPr sz="3500" spc="55" dirty="0">
                <a:latin typeface="Georgia"/>
                <a:cs typeface="Georgia"/>
              </a:rPr>
              <a:t>the</a:t>
            </a:r>
            <a:r>
              <a:rPr sz="3500" spc="-20" dirty="0">
                <a:latin typeface="Georgia"/>
                <a:cs typeface="Georgia"/>
              </a:rPr>
              <a:t> </a:t>
            </a:r>
            <a:r>
              <a:rPr sz="3500" spc="-10" dirty="0">
                <a:latin typeface="Georgia"/>
                <a:cs typeface="Georgia"/>
              </a:rPr>
              <a:t>difference</a:t>
            </a:r>
            <a:endParaRPr sz="3500">
              <a:latin typeface="Georgia"/>
              <a:cs typeface="Georgia"/>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28700" y="1028700"/>
            <a:ext cx="12249150" cy="6973570"/>
            <a:chOff x="1028700" y="1028700"/>
            <a:chExt cx="12249150" cy="6973570"/>
          </a:xfrm>
        </p:grpSpPr>
        <p:pic>
          <p:nvPicPr>
            <p:cNvPr id="3" name="object 3"/>
            <p:cNvPicPr/>
            <p:nvPr/>
          </p:nvPicPr>
          <p:blipFill>
            <a:blip r:embed="rId2" cstate="print"/>
            <a:stretch>
              <a:fillRect/>
            </a:stretch>
          </p:blipFill>
          <p:spPr>
            <a:xfrm>
              <a:off x="1028700" y="1028700"/>
              <a:ext cx="12249149" cy="6953249"/>
            </a:xfrm>
            <a:prstGeom prst="rect">
              <a:avLst/>
            </a:prstGeom>
          </p:spPr>
        </p:pic>
        <p:sp>
          <p:nvSpPr>
            <p:cNvPr id="4" name="object 4"/>
            <p:cNvSpPr/>
            <p:nvPr/>
          </p:nvSpPr>
          <p:spPr>
            <a:xfrm>
              <a:off x="1222997" y="1928697"/>
              <a:ext cx="3048000" cy="6073775"/>
            </a:xfrm>
            <a:custGeom>
              <a:avLst/>
              <a:gdLst/>
              <a:ahLst/>
              <a:cxnLst/>
              <a:rect l="l" t="t" r="r" b="b"/>
              <a:pathLst>
                <a:path w="3048000" h="6073775">
                  <a:moveTo>
                    <a:pt x="135509" y="6071400"/>
                  </a:moveTo>
                  <a:lnTo>
                    <a:pt x="135128" y="6071540"/>
                  </a:lnTo>
                  <a:lnTo>
                    <a:pt x="130975" y="6073076"/>
                  </a:lnTo>
                  <a:lnTo>
                    <a:pt x="132397" y="6073267"/>
                  </a:lnTo>
                  <a:lnTo>
                    <a:pt x="133985" y="6072314"/>
                  </a:lnTo>
                  <a:lnTo>
                    <a:pt x="134353" y="6072022"/>
                  </a:lnTo>
                  <a:lnTo>
                    <a:pt x="135509" y="6071400"/>
                  </a:lnTo>
                  <a:close/>
                </a:path>
                <a:path w="3048000" h="6073775">
                  <a:moveTo>
                    <a:pt x="135661" y="6071311"/>
                  </a:moveTo>
                  <a:lnTo>
                    <a:pt x="135521" y="6071311"/>
                  </a:lnTo>
                  <a:lnTo>
                    <a:pt x="135267" y="6071463"/>
                  </a:lnTo>
                  <a:lnTo>
                    <a:pt x="135661" y="6071311"/>
                  </a:lnTo>
                  <a:close/>
                </a:path>
                <a:path w="3048000" h="6073775">
                  <a:moveTo>
                    <a:pt x="145884" y="6045390"/>
                  </a:moveTo>
                  <a:lnTo>
                    <a:pt x="145732" y="6044692"/>
                  </a:lnTo>
                  <a:lnTo>
                    <a:pt x="139941" y="6037910"/>
                  </a:lnTo>
                  <a:lnTo>
                    <a:pt x="145884" y="6045390"/>
                  </a:lnTo>
                  <a:close/>
                </a:path>
                <a:path w="3048000" h="6073775">
                  <a:moveTo>
                    <a:pt x="146405" y="6058027"/>
                  </a:moveTo>
                  <a:lnTo>
                    <a:pt x="145415" y="6059995"/>
                  </a:lnTo>
                  <a:lnTo>
                    <a:pt x="145008" y="6060884"/>
                  </a:lnTo>
                  <a:lnTo>
                    <a:pt x="145491" y="6060389"/>
                  </a:lnTo>
                  <a:lnTo>
                    <a:pt x="145770" y="6059995"/>
                  </a:lnTo>
                  <a:lnTo>
                    <a:pt x="146405" y="6058027"/>
                  </a:lnTo>
                  <a:close/>
                </a:path>
                <a:path w="3048000" h="6073775">
                  <a:moveTo>
                    <a:pt x="203276" y="2077808"/>
                  </a:moveTo>
                  <a:lnTo>
                    <a:pt x="203250" y="2076538"/>
                  </a:lnTo>
                  <a:lnTo>
                    <a:pt x="203123" y="2073973"/>
                  </a:lnTo>
                  <a:lnTo>
                    <a:pt x="202882" y="2073973"/>
                  </a:lnTo>
                  <a:lnTo>
                    <a:pt x="202971" y="2075268"/>
                  </a:lnTo>
                  <a:lnTo>
                    <a:pt x="203098" y="2076538"/>
                  </a:lnTo>
                  <a:lnTo>
                    <a:pt x="203276" y="2077808"/>
                  </a:lnTo>
                  <a:close/>
                </a:path>
                <a:path w="3048000" h="6073775">
                  <a:moveTo>
                    <a:pt x="242620" y="2076538"/>
                  </a:moveTo>
                  <a:lnTo>
                    <a:pt x="241909" y="2079078"/>
                  </a:lnTo>
                  <a:lnTo>
                    <a:pt x="241922" y="2081618"/>
                  </a:lnTo>
                  <a:lnTo>
                    <a:pt x="242227" y="2081618"/>
                  </a:lnTo>
                  <a:lnTo>
                    <a:pt x="242366" y="2080348"/>
                  </a:lnTo>
                  <a:lnTo>
                    <a:pt x="242468" y="2079078"/>
                  </a:lnTo>
                  <a:lnTo>
                    <a:pt x="242582" y="2077808"/>
                  </a:lnTo>
                  <a:lnTo>
                    <a:pt x="242620" y="2076538"/>
                  </a:lnTo>
                  <a:close/>
                </a:path>
                <a:path w="3048000" h="6073775">
                  <a:moveTo>
                    <a:pt x="1143952" y="3953954"/>
                  </a:moveTo>
                  <a:lnTo>
                    <a:pt x="1143000" y="3946334"/>
                  </a:lnTo>
                  <a:lnTo>
                    <a:pt x="1143000" y="3950144"/>
                  </a:lnTo>
                  <a:lnTo>
                    <a:pt x="1142365" y="3946334"/>
                  </a:lnTo>
                  <a:lnTo>
                    <a:pt x="1142453" y="3946855"/>
                  </a:lnTo>
                  <a:lnTo>
                    <a:pt x="1143000" y="3950144"/>
                  </a:lnTo>
                  <a:lnTo>
                    <a:pt x="1143000" y="3946334"/>
                  </a:lnTo>
                  <a:lnTo>
                    <a:pt x="1142238" y="3945572"/>
                  </a:lnTo>
                  <a:lnTo>
                    <a:pt x="1142047" y="3944429"/>
                  </a:lnTo>
                  <a:lnTo>
                    <a:pt x="1137627" y="3940810"/>
                  </a:lnTo>
                  <a:lnTo>
                    <a:pt x="1138237" y="3941572"/>
                  </a:lnTo>
                  <a:lnTo>
                    <a:pt x="1137500" y="3940810"/>
                  </a:lnTo>
                  <a:lnTo>
                    <a:pt x="1136713" y="3940327"/>
                  </a:lnTo>
                  <a:lnTo>
                    <a:pt x="1137627" y="3940810"/>
                  </a:lnTo>
                  <a:lnTo>
                    <a:pt x="1131570" y="3935857"/>
                  </a:lnTo>
                  <a:lnTo>
                    <a:pt x="1125855" y="3934904"/>
                  </a:lnTo>
                  <a:lnTo>
                    <a:pt x="1121130" y="3933939"/>
                  </a:lnTo>
                  <a:lnTo>
                    <a:pt x="1114653" y="3936098"/>
                  </a:lnTo>
                  <a:lnTo>
                    <a:pt x="1107351" y="3935501"/>
                  </a:lnTo>
                  <a:lnTo>
                    <a:pt x="1105852" y="3935425"/>
                  </a:lnTo>
                  <a:lnTo>
                    <a:pt x="1105852" y="3946334"/>
                  </a:lnTo>
                  <a:lnTo>
                    <a:pt x="1105827" y="3946855"/>
                  </a:lnTo>
                  <a:lnTo>
                    <a:pt x="1105344" y="3953891"/>
                  </a:lnTo>
                  <a:lnTo>
                    <a:pt x="1105852" y="3946334"/>
                  </a:lnTo>
                  <a:lnTo>
                    <a:pt x="1105852" y="3935425"/>
                  </a:lnTo>
                  <a:lnTo>
                    <a:pt x="1092669" y="3934650"/>
                  </a:lnTo>
                  <a:lnTo>
                    <a:pt x="1076172" y="3933939"/>
                  </a:lnTo>
                  <a:lnTo>
                    <a:pt x="19050" y="3924338"/>
                  </a:lnTo>
                  <a:lnTo>
                    <a:pt x="16217" y="3926167"/>
                  </a:lnTo>
                  <a:lnTo>
                    <a:pt x="9893" y="3930497"/>
                  </a:lnTo>
                  <a:lnTo>
                    <a:pt x="3378" y="3936098"/>
                  </a:lnTo>
                  <a:lnTo>
                    <a:pt x="0" y="3941572"/>
                  </a:lnTo>
                  <a:lnTo>
                    <a:pt x="127" y="3944429"/>
                  </a:lnTo>
                  <a:lnTo>
                    <a:pt x="228" y="3946855"/>
                  </a:lnTo>
                  <a:lnTo>
                    <a:pt x="55714" y="3971328"/>
                  </a:lnTo>
                  <a:lnTo>
                    <a:pt x="133591" y="3976027"/>
                  </a:lnTo>
                  <a:lnTo>
                    <a:pt x="135128" y="3976027"/>
                  </a:lnTo>
                  <a:lnTo>
                    <a:pt x="181152" y="3976979"/>
                  </a:lnTo>
                  <a:lnTo>
                    <a:pt x="235889" y="3977271"/>
                  </a:lnTo>
                  <a:lnTo>
                    <a:pt x="290296" y="3976979"/>
                  </a:lnTo>
                  <a:lnTo>
                    <a:pt x="934085" y="3960990"/>
                  </a:lnTo>
                  <a:lnTo>
                    <a:pt x="935151" y="3960990"/>
                  </a:lnTo>
                  <a:lnTo>
                    <a:pt x="983907" y="3960368"/>
                  </a:lnTo>
                  <a:lnTo>
                    <a:pt x="1024140" y="3960368"/>
                  </a:lnTo>
                  <a:lnTo>
                    <a:pt x="1052982" y="3960990"/>
                  </a:lnTo>
                  <a:lnTo>
                    <a:pt x="1054696" y="3960990"/>
                  </a:lnTo>
                  <a:lnTo>
                    <a:pt x="1078230" y="3962527"/>
                  </a:lnTo>
                  <a:lnTo>
                    <a:pt x="1095476" y="3966032"/>
                  </a:lnTo>
                  <a:lnTo>
                    <a:pt x="1108240" y="3970617"/>
                  </a:lnTo>
                  <a:lnTo>
                    <a:pt x="1118146" y="3973766"/>
                  </a:lnTo>
                  <a:lnTo>
                    <a:pt x="1122934" y="3973347"/>
                  </a:lnTo>
                  <a:lnTo>
                    <a:pt x="1124902" y="3973957"/>
                  </a:lnTo>
                  <a:lnTo>
                    <a:pt x="1130617" y="3972052"/>
                  </a:lnTo>
                  <a:lnTo>
                    <a:pt x="1134935" y="3971328"/>
                  </a:lnTo>
                  <a:lnTo>
                    <a:pt x="1136167" y="3971328"/>
                  </a:lnTo>
                  <a:lnTo>
                    <a:pt x="1142022" y="3963517"/>
                  </a:lnTo>
                  <a:lnTo>
                    <a:pt x="1142238" y="3962527"/>
                  </a:lnTo>
                  <a:lnTo>
                    <a:pt x="1143952" y="3953954"/>
                  </a:lnTo>
                  <a:close/>
                </a:path>
                <a:path w="3048000" h="6073775">
                  <a:moveTo>
                    <a:pt x="1196835" y="1714"/>
                  </a:moveTo>
                  <a:lnTo>
                    <a:pt x="1193876" y="1143"/>
                  </a:lnTo>
                  <a:lnTo>
                    <a:pt x="1193038" y="1143"/>
                  </a:lnTo>
                  <a:lnTo>
                    <a:pt x="1187767" y="2019"/>
                  </a:lnTo>
                  <a:lnTo>
                    <a:pt x="1184109" y="6057"/>
                  </a:lnTo>
                  <a:lnTo>
                    <a:pt x="1185875" y="4876"/>
                  </a:lnTo>
                  <a:lnTo>
                    <a:pt x="1191450" y="3302"/>
                  </a:lnTo>
                  <a:lnTo>
                    <a:pt x="1195705" y="2019"/>
                  </a:lnTo>
                  <a:lnTo>
                    <a:pt x="1196835" y="1714"/>
                  </a:lnTo>
                  <a:close/>
                </a:path>
                <a:path w="3048000" h="6073775">
                  <a:moveTo>
                    <a:pt x="1258227" y="21183"/>
                  </a:moveTo>
                  <a:lnTo>
                    <a:pt x="1218615" y="0"/>
                  </a:lnTo>
                  <a:lnTo>
                    <a:pt x="1206817" y="698"/>
                  </a:lnTo>
                  <a:lnTo>
                    <a:pt x="1206817" y="37261"/>
                  </a:lnTo>
                  <a:lnTo>
                    <a:pt x="1202486" y="38722"/>
                  </a:lnTo>
                  <a:lnTo>
                    <a:pt x="1202486" y="41313"/>
                  </a:lnTo>
                  <a:lnTo>
                    <a:pt x="1191577" y="38214"/>
                  </a:lnTo>
                  <a:lnTo>
                    <a:pt x="1198181" y="40081"/>
                  </a:lnTo>
                  <a:lnTo>
                    <a:pt x="1202486" y="41313"/>
                  </a:lnTo>
                  <a:lnTo>
                    <a:pt x="1202486" y="38722"/>
                  </a:lnTo>
                  <a:lnTo>
                    <a:pt x="1198448" y="40081"/>
                  </a:lnTo>
                  <a:lnTo>
                    <a:pt x="1206817" y="37261"/>
                  </a:lnTo>
                  <a:lnTo>
                    <a:pt x="1206817" y="698"/>
                  </a:lnTo>
                  <a:lnTo>
                    <a:pt x="1199070" y="1143"/>
                  </a:lnTo>
                  <a:lnTo>
                    <a:pt x="1197114" y="1714"/>
                  </a:lnTo>
                  <a:lnTo>
                    <a:pt x="1187767" y="4356"/>
                  </a:lnTo>
                  <a:lnTo>
                    <a:pt x="1187767" y="36309"/>
                  </a:lnTo>
                  <a:lnTo>
                    <a:pt x="1180223" y="28041"/>
                  </a:lnTo>
                  <a:lnTo>
                    <a:pt x="1181036" y="29540"/>
                  </a:lnTo>
                  <a:lnTo>
                    <a:pt x="1180147" y="28041"/>
                  </a:lnTo>
                  <a:lnTo>
                    <a:pt x="1180096" y="27876"/>
                  </a:lnTo>
                  <a:lnTo>
                    <a:pt x="1180223" y="28041"/>
                  </a:lnTo>
                  <a:lnTo>
                    <a:pt x="1181773" y="29641"/>
                  </a:lnTo>
                  <a:lnTo>
                    <a:pt x="1187767" y="36309"/>
                  </a:lnTo>
                  <a:lnTo>
                    <a:pt x="1187767" y="4356"/>
                  </a:lnTo>
                  <a:lnTo>
                    <a:pt x="1185887" y="4876"/>
                  </a:lnTo>
                  <a:lnTo>
                    <a:pt x="1184109" y="6057"/>
                  </a:lnTo>
                  <a:lnTo>
                    <a:pt x="1183982" y="6197"/>
                  </a:lnTo>
                  <a:lnTo>
                    <a:pt x="1183170" y="6680"/>
                  </a:lnTo>
                  <a:lnTo>
                    <a:pt x="1180147" y="8686"/>
                  </a:lnTo>
                  <a:lnTo>
                    <a:pt x="1179195" y="11264"/>
                  </a:lnTo>
                  <a:lnTo>
                    <a:pt x="1179195" y="26784"/>
                  </a:lnTo>
                  <a:lnTo>
                    <a:pt x="1179144" y="26454"/>
                  </a:lnTo>
                  <a:lnTo>
                    <a:pt x="1178242" y="24879"/>
                  </a:lnTo>
                  <a:lnTo>
                    <a:pt x="1178242" y="21183"/>
                  </a:lnTo>
                  <a:lnTo>
                    <a:pt x="1178128" y="20523"/>
                  </a:lnTo>
                  <a:lnTo>
                    <a:pt x="1178267" y="21183"/>
                  </a:lnTo>
                  <a:lnTo>
                    <a:pt x="1178242" y="24879"/>
                  </a:lnTo>
                  <a:lnTo>
                    <a:pt x="1179182" y="26454"/>
                  </a:lnTo>
                  <a:lnTo>
                    <a:pt x="1179195" y="26784"/>
                  </a:lnTo>
                  <a:lnTo>
                    <a:pt x="1179195" y="11264"/>
                  </a:lnTo>
                  <a:lnTo>
                    <a:pt x="1179144" y="11391"/>
                  </a:lnTo>
                  <a:lnTo>
                    <a:pt x="1179055" y="11607"/>
                  </a:lnTo>
                  <a:lnTo>
                    <a:pt x="1178242" y="12496"/>
                  </a:lnTo>
                  <a:lnTo>
                    <a:pt x="1178369" y="13258"/>
                  </a:lnTo>
                  <a:lnTo>
                    <a:pt x="1178521" y="13042"/>
                  </a:lnTo>
                  <a:lnTo>
                    <a:pt x="1178445" y="13258"/>
                  </a:lnTo>
                  <a:lnTo>
                    <a:pt x="1178255" y="13258"/>
                  </a:lnTo>
                  <a:lnTo>
                    <a:pt x="1178255" y="13449"/>
                  </a:lnTo>
                  <a:lnTo>
                    <a:pt x="1178255" y="14173"/>
                  </a:lnTo>
                  <a:lnTo>
                    <a:pt x="1177836" y="14871"/>
                  </a:lnTo>
                  <a:lnTo>
                    <a:pt x="1178102" y="14173"/>
                  </a:lnTo>
                  <a:lnTo>
                    <a:pt x="1178242" y="13944"/>
                  </a:lnTo>
                  <a:lnTo>
                    <a:pt x="1178242" y="13449"/>
                  </a:lnTo>
                  <a:lnTo>
                    <a:pt x="1178255" y="13258"/>
                  </a:lnTo>
                  <a:lnTo>
                    <a:pt x="1174153" y="13258"/>
                  </a:lnTo>
                  <a:lnTo>
                    <a:pt x="1167714" y="13258"/>
                  </a:lnTo>
                  <a:lnTo>
                    <a:pt x="435610" y="3302"/>
                  </a:lnTo>
                  <a:lnTo>
                    <a:pt x="50165" y="1143"/>
                  </a:lnTo>
                  <a:lnTo>
                    <a:pt x="35153" y="1143"/>
                  </a:lnTo>
                  <a:lnTo>
                    <a:pt x="16192" y="22021"/>
                  </a:lnTo>
                  <a:lnTo>
                    <a:pt x="17297" y="26454"/>
                  </a:lnTo>
                  <a:lnTo>
                    <a:pt x="75869" y="46888"/>
                  </a:lnTo>
                  <a:lnTo>
                    <a:pt x="149098" y="52933"/>
                  </a:lnTo>
                  <a:lnTo>
                    <a:pt x="195897" y="55359"/>
                  </a:lnTo>
                  <a:lnTo>
                    <a:pt x="248399" y="57391"/>
                  </a:lnTo>
                  <a:lnTo>
                    <a:pt x="367245" y="60337"/>
                  </a:lnTo>
                  <a:lnTo>
                    <a:pt x="567893" y="62115"/>
                  </a:lnTo>
                  <a:lnTo>
                    <a:pt x="623785" y="62115"/>
                  </a:lnTo>
                  <a:lnTo>
                    <a:pt x="907529" y="58648"/>
                  </a:lnTo>
                  <a:lnTo>
                    <a:pt x="1022819" y="55359"/>
                  </a:lnTo>
                  <a:lnTo>
                    <a:pt x="1023480" y="55359"/>
                  </a:lnTo>
                  <a:lnTo>
                    <a:pt x="1078547" y="53149"/>
                  </a:lnTo>
                  <a:lnTo>
                    <a:pt x="1125194" y="50812"/>
                  </a:lnTo>
                  <a:lnTo>
                    <a:pt x="1165313" y="48234"/>
                  </a:lnTo>
                  <a:lnTo>
                    <a:pt x="1222654" y="42405"/>
                  </a:lnTo>
                  <a:lnTo>
                    <a:pt x="1227912" y="41313"/>
                  </a:lnTo>
                  <a:lnTo>
                    <a:pt x="1231633" y="41033"/>
                  </a:lnTo>
                  <a:lnTo>
                    <a:pt x="1243012" y="38214"/>
                  </a:lnTo>
                  <a:lnTo>
                    <a:pt x="1250632" y="35356"/>
                  </a:lnTo>
                  <a:lnTo>
                    <a:pt x="1251686" y="34163"/>
                  </a:lnTo>
                  <a:lnTo>
                    <a:pt x="1254442" y="32499"/>
                  </a:lnTo>
                  <a:lnTo>
                    <a:pt x="1255255" y="30086"/>
                  </a:lnTo>
                  <a:lnTo>
                    <a:pt x="1257300" y="27736"/>
                  </a:lnTo>
                  <a:lnTo>
                    <a:pt x="1257249" y="24104"/>
                  </a:lnTo>
                  <a:lnTo>
                    <a:pt x="1258227" y="21183"/>
                  </a:lnTo>
                  <a:close/>
                </a:path>
                <a:path w="3048000" h="6073775">
                  <a:moveTo>
                    <a:pt x="3046031" y="2037168"/>
                  </a:moveTo>
                  <a:lnTo>
                    <a:pt x="3045269" y="1993988"/>
                  </a:lnTo>
                  <a:lnTo>
                    <a:pt x="3042450" y="1941918"/>
                  </a:lnTo>
                  <a:lnTo>
                    <a:pt x="3038487" y="1898738"/>
                  </a:lnTo>
                  <a:lnTo>
                    <a:pt x="3033001" y="1849208"/>
                  </a:lnTo>
                  <a:lnTo>
                    <a:pt x="3021825" y="1817458"/>
                  </a:lnTo>
                  <a:lnTo>
                    <a:pt x="3020390" y="1814918"/>
                  </a:lnTo>
                  <a:lnTo>
                    <a:pt x="3016339" y="1812467"/>
                  </a:lnTo>
                  <a:lnTo>
                    <a:pt x="3016339" y="2063838"/>
                  </a:lnTo>
                  <a:lnTo>
                    <a:pt x="3015627" y="2070188"/>
                  </a:lnTo>
                  <a:lnTo>
                    <a:pt x="3002191" y="2077808"/>
                  </a:lnTo>
                  <a:lnTo>
                    <a:pt x="2974911" y="2082888"/>
                  </a:lnTo>
                  <a:lnTo>
                    <a:pt x="2936138" y="2085340"/>
                  </a:lnTo>
                  <a:lnTo>
                    <a:pt x="2887980" y="2085340"/>
                  </a:lnTo>
                  <a:lnTo>
                    <a:pt x="2774124" y="2082888"/>
                  </a:lnTo>
                  <a:lnTo>
                    <a:pt x="2712732" y="2080348"/>
                  </a:lnTo>
                  <a:lnTo>
                    <a:pt x="2651544" y="2076538"/>
                  </a:lnTo>
                  <a:lnTo>
                    <a:pt x="2592260" y="2073973"/>
                  </a:lnTo>
                  <a:lnTo>
                    <a:pt x="2592514" y="2073973"/>
                  </a:lnTo>
                  <a:lnTo>
                    <a:pt x="2539187" y="2070188"/>
                  </a:lnTo>
                  <a:lnTo>
                    <a:pt x="2490978" y="2068880"/>
                  </a:lnTo>
                  <a:lnTo>
                    <a:pt x="2492006" y="2068880"/>
                  </a:lnTo>
                  <a:lnTo>
                    <a:pt x="2380411" y="2061298"/>
                  </a:lnTo>
                  <a:lnTo>
                    <a:pt x="2222296" y="2047328"/>
                  </a:lnTo>
                  <a:lnTo>
                    <a:pt x="2164092" y="2044788"/>
                  </a:lnTo>
                  <a:lnTo>
                    <a:pt x="2016696" y="2040978"/>
                  </a:lnTo>
                  <a:lnTo>
                    <a:pt x="1857324" y="2040978"/>
                  </a:lnTo>
                  <a:lnTo>
                    <a:pt x="1802853" y="2042248"/>
                  </a:lnTo>
                  <a:lnTo>
                    <a:pt x="1748155" y="2042248"/>
                  </a:lnTo>
                  <a:lnTo>
                    <a:pt x="1438249" y="2049868"/>
                  </a:lnTo>
                  <a:lnTo>
                    <a:pt x="1386433" y="2052408"/>
                  </a:lnTo>
                  <a:lnTo>
                    <a:pt x="1334820" y="2053678"/>
                  </a:lnTo>
                  <a:lnTo>
                    <a:pt x="1283817" y="2056218"/>
                  </a:lnTo>
                  <a:lnTo>
                    <a:pt x="1233843" y="2057488"/>
                  </a:lnTo>
                  <a:lnTo>
                    <a:pt x="1013561" y="2070188"/>
                  </a:lnTo>
                  <a:lnTo>
                    <a:pt x="993660" y="2072728"/>
                  </a:lnTo>
                  <a:lnTo>
                    <a:pt x="948944" y="2075268"/>
                  </a:lnTo>
                  <a:lnTo>
                    <a:pt x="922489" y="2077808"/>
                  </a:lnTo>
                  <a:lnTo>
                    <a:pt x="890181" y="2079078"/>
                  </a:lnTo>
                  <a:lnTo>
                    <a:pt x="889863" y="2079078"/>
                  </a:lnTo>
                  <a:lnTo>
                    <a:pt x="728306" y="2083866"/>
                  </a:lnTo>
                  <a:lnTo>
                    <a:pt x="395909" y="2083866"/>
                  </a:lnTo>
                  <a:lnTo>
                    <a:pt x="242227" y="2081618"/>
                  </a:lnTo>
                  <a:lnTo>
                    <a:pt x="242100" y="2082888"/>
                  </a:lnTo>
                  <a:lnTo>
                    <a:pt x="241973" y="2083866"/>
                  </a:lnTo>
                  <a:lnTo>
                    <a:pt x="241947" y="2085340"/>
                  </a:lnTo>
                  <a:lnTo>
                    <a:pt x="241935" y="2083866"/>
                  </a:lnTo>
                  <a:lnTo>
                    <a:pt x="239547" y="2083866"/>
                  </a:lnTo>
                  <a:lnTo>
                    <a:pt x="239356" y="2084387"/>
                  </a:lnTo>
                  <a:lnTo>
                    <a:pt x="239509" y="2083866"/>
                  </a:lnTo>
                  <a:lnTo>
                    <a:pt x="239687" y="2082888"/>
                  </a:lnTo>
                  <a:lnTo>
                    <a:pt x="239090" y="2082888"/>
                  </a:lnTo>
                  <a:lnTo>
                    <a:pt x="237159" y="2085340"/>
                  </a:lnTo>
                  <a:lnTo>
                    <a:pt x="235927" y="2086622"/>
                  </a:lnTo>
                  <a:lnTo>
                    <a:pt x="237109" y="2085340"/>
                  </a:lnTo>
                  <a:lnTo>
                    <a:pt x="237210" y="2084832"/>
                  </a:lnTo>
                  <a:lnTo>
                    <a:pt x="237261" y="2084552"/>
                  </a:lnTo>
                  <a:lnTo>
                    <a:pt x="237617" y="2082888"/>
                  </a:lnTo>
                  <a:lnTo>
                    <a:pt x="237959" y="2081644"/>
                  </a:lnTo>
                  <a:lnTo>
                    <a:pt x="237223" y="2084832"/>
                  </a:lnTo>
                  <a:lnTo>
                    <a:pt x="237147" y="2085340"/>
                  </a:lnTo>
                  <a:lnTo>
                    <a:pt x="239903" y="2081618"/>
                  </a:lnTo>
                  <a:lnTo>
                    <a:pt x="239687" y="2082888"/>
                  </a:lnTo>
                  <a:lnTo>
                    <a:pt x="239852" y="2082888"/>
                  </a:lnTo>
                  <a:lnTo>
                    <a:pt x="241922" y="2082888"/>
                  </a:lnTo>
                  <a:lnTo>
                    <a:pt x="241922" y="2081618"/>
                  </a:lnTo>
                  <a:lnTo>
                    <a:pt x="240931" y="2081618"/>
                  </a:lnTo>
                  <a:lnTo>
                    <a:pt x="241465" y="2080348"/>
                  </a:lnTo>
                  <a:lnTo>
                    <a:pt x="241909" y="2079078"/>
                  </a:lnTo>
                  <a:lnTo>
                    <a:pt x="241896" y="2075268"/>
                  </a:lnTo>
                  <a:lnTo>
                    <a:pt x="242404" y="2073973"/>
                  </a:lnTo>
                  <a:lnTo>
                    <a:pt x="242900" y="2073973"/>
                  </a:lnTo>
                  <a:lnTo>
                    <a:pt x="242785" y="2075268"/>
                  </a:lnTo>
                  <a:lnTo>
                    <a:pt x="242620" y="2076538"/>
                  </a:lnTo>
                  <a:lnTo>
                    <a:pt x="243840" y="2073973"/>
                  </a:lnTo>
                  <a:lnTo>
                    <a:pt x="243776" y="2073795"/>
                  </a:lnTo>
                  <a:lnTo>
                    <a:pt x="242087" y="2069325"/>
                  </a:lnTo>
                  <a:lnTo>
                    <a:pt x="241846" y="2068880"/>
                  </a:lnTo>
                  <a:lnTo>
                    <a:pt x="241922" y="2069325"/>
                  </a:lnTo>
                  <a:lnTo>
                    <a:pt x="241896" y="2073795"/>
                  </a:lnTo>
                  <a:lnTo>
                    <a:pt x="241896" y="2073973"/>
                  </a:lnTo>
                  <a:lnTo>
                    <a:pt x="241846" y="2073795"/>
                  </a:lnTo>
                  <a:lnTo>
                    <a:pt x="241642" y="2072728"/>
                  </a:lnTo>
                  <a:lnTo>
                    <a:pt x="241896" y="2073795"/>
                  </a:lnTo>
                  <a:lnTo>
                    <a:pt x="241858" y="2072728"/>
                  </a:lnTo>
                  <a:lnTo>
                    <a:pt x="241782" y="2068880"/>
                  </a:lnTo>
                  <a:lnTo>
                    <a:pt x="241681" y="2068525"/>
                  </a:lnTo>
                  <a:lnTo>
                    <a:pt x="241439" y="2067648"/>
                  </a:lnTo>
                  <a:lnTo>
                    <a:pt x="241871" y="2068525"/>
                  </a:lnTo>
                  <a:lnTo>
                    <a:pt x="241617" y="2067572"/>
                  </a:lnTo>
                  <a:lnTo>
                    <a:pt x="241744" y="2067648"/>
                  </a:lnTo>
                  <a:lnTo>
                    <a:pt x="241655" y="2060028"/>
                  </a:lnTo>
                  <a:lnTo>
                    <a:pt x="241566" y="2054694"/>
                  </a:lnTo>
                  <a:lnTo>
                    <a:pt x="241566" y="2067521"/>
                  </a:lnTo>
                  <a:lnTo>
                    <a:pt x="241427" y="2067458"/>
                  </a:lnTo>
                  <a:lnTo>
                    <a:pt x="241452" y="2067318"/>
                  </a:lnTo>
                  <a:lnTo>
                    <a:pt x="241566" y="2067521"/>
                  </a:lnTo>
                  <a:lnTo>
                    <a:pt x="241566" y="2054694"/>
                  </a:lnTo>
                  <a:lnTo>
                    <a:pt x="241528" y="2052408"/>
                  </a:lnTo>
                  <a:lnTo>
                    <a:pt x="241452" y="2049030"/>
                  </a:lnTo>
                  <a:lnTo>
                    <a:pt x="241452" y="2067306"/>
                  </a:lnTo>
                  <a:lnTo>
                    <a:pt x="240411" y="2066378"/>
                  </a:lnTo>
                  <a:lnTo>
                    <a:pt x="241300" y="2067306"/>
                  </a:lnTo>
                  <a:lnTo>
                    <a:pt x="239356" y="2065299"/>
                  </a:lnTo>
                  <a:lnTo>
                    <a:pt x="241452" y="2067306"/>
                  </a:lnTo>
                  <a:lnTo>
                    <a:pt x="241452" y="2049030"/>
                  </a:lnTo>
                  <a:lnTo>
                    <a:pt x="241414" y="2047328"/>
                  </a:lnTo>
                  <a:lnTo>
                    <a:pt x="241312" y="2044788"/>
                  </a:lnTo>
                  <a:lnTo>
                    <a:pt x="241223" y="2042248"/>
                  </a:lnTo>
                  <a:lnTo>
                    <a:pt x="241122" y="2039708"/>
                  </a:lnTo>
                  <a:lnTo>
                    <a:pt x="241020" y="2037168"/>
                  </a:lnTo>
                  <a:lnTo>
                    <a:pt x="240334" y="2019388"/>
                  </a:lnTo>
                  <a:lnTo>
                    <a:pt x="235915" y="1977478"/>
                  </a:lnTo>
                  <a:lnTo>
                    <a:pt x="229489" y="1947646"/>
                  </a:lnTo>
                  <a:lnTo>
                    <a:pt x="229489" y="2090902"/>
                  </a:lnTo>
                  <a:lnTo>
                    <a:pt x="229171" y="2091105"/>
                  </a:lnTo>
                  <a:lnTo>
                    <a:pt x="227660" y="2091778"/>
                  </a:lnTo>
                  <a:lnTo>
                    <a:pt x="229489" y="2090902"/>
                  </a:lnTo>
                  <a:lnTo>
                    <a:pt x="229489" y="1947646"/>
                  </a:lnTo>
                  <a:lnTo>
                    <a:pt x="226402" y="1938020"/>
                  </a:lnTo>
                  <a:lnTo>
                    <a:pt x="226402" y="2091778"/>
                  </a:lnTo>
                  <a:lnTo>
                    <a:pt x="226034" y="2092502"/>
                  </a:lnTo>
                  <a:lnTo>
                    <a:pt x="225437" y="2092769"/>
                  </a:lnTo>
                  <a:lnTo>
                    <a:pt x="225234" y="2092858"/>
                  </a:lnTo>
                  <a:lnTo>
                    <a:pt x="224802" y="2093048"/>
                  </a:lnTo>
                  <a:lnTo>
                    <a:pt x="220154" y="2091778"/>
                  </a:lnTo>
                  <a:lnTo>
                    <a:pt x="221259" y="2091778"/>
                  </a:lnTo>
                  <a:lnTo>
                    <a:pt x="224802" y="2093048"/>
                  </a:lnTo>
                  <a:lnTo>
                    <a:pt x="225018" y="2092769"/>
                  </a:lnTo>
                  <a:lnTo>
                    <a:pt x="225767" y="2091778"/>
                  </a:lnTo>
                  <a:lnTo>
                    <a:pt x="226402" y="2091778"/>
                  </a:lnTo>
                  <a:lnTo>
                    <a:pt x="226402" y="1938020"/>
                  </a:lnTo>
                  <a:lnTo>
                    <a:pt x="224802" y="1933028"/>
                  </a:lnTo>
                  <a:lnTo>
                    <a:pt x="214299" y="1916518"/>
                  </a:lnTo>
                  <a:lnTo>
                    <a:pt x="209562" y="1910575"/>
                  </a:lnTo>
                  <a:lnTo>
                    <a:pt x="209562" y="2086698"/>
                  </a:lnTo>
                  <a:lnTo>
                    <a:pt x="207645" y="2085340"/>
                  </a:lnTo>
                  <a:lnTo>
                    <a:pt x="207225" y="2084552"/>
                  </a:lnTo>
                  <a:lnTo>
                    <a:pt x="206946" y="2083866"/>
                  </a:lnTo>
                  <a:lnTo>
                    <a:pt x="206705" y="2082888"/>
                  </a:lnTo>
                  <a:lnTo>
                    <a:pt x="207187" y="2083866"/>
                  </a:lnTo>
                  <a:lnTo>
                    <a:pt x="206705" y="2081618"/>
                  </a:lnTo>
                  <a:lnTo>
                    <a:pt x="207073" y="2082888"/>
                  </a:lnTo>
                  <a:lnTo>
                    <a:pt x="207276" y="2083866"/>
                  </a:lnTo>
                  <a:lnTo>
                    <a:pt x="207391" y="2084349"/>
                  </a:lnTo>
                  <a:lnTo>
                    <a:pt x="207238" y="2083866"/>
                  </a:lnTo>
                  <a:lnTo>
                    <a:pt x="207060" y="2083866"/>
                  </a:lnTo>
                  <a:lnTo>
                    <a:pt x="207200" y="2084120"/>
                  </a:lnTo>
                  <a:lnTo>
                    <a:pt x="207352" y="2084552"/>
                  </a:lnTo>
                  <a:lnTo>
                    <a:pt x="207556" y="2084832"/>
                  </a:lnTo>
                  <a:lnTo>
                    <a:pt x="207518" y="2084552"/>
                  </a:lnTo>
                  <a:lnTo>
                    <a:pt x="207949" y="2084832"/>
                  </a:lnTo>
                  <a:lnTo>
                    <a:pt x="207556" y="2084832"/>
                  </a:lnTo>
                  <a:lnTo>
                    <a:pt x="207733" y="2085340"/>
                  </a:lnTo>
                  <a:lnTo>
                    <a:pt x="209562" y="2086698"/>
                  </a:lnTo>
                  <a:lnTo>
                    <a:pt x="209562" y="1910575"/>
                  </a:lnTo>
                  <a:lnTo>
                    <a:pt x="205333" y="1905254"/>
                  </a:lnTo>
                  <a:lnTo>
                    <a:pt x="205333" y="2065248"/>
                  </a:lnTo>
                  <a:lnTo>
                    <a:pt x="203847" y="2075268"/>
                  </a:lnTo>
                  <a:lnTo>
                    <a:pt x="204838" y="2068525"/>
                  </a:lnTo>
                  <a:lnTo>
                    <a:pt x="205333" y="2065299"/>
                  </a:lnTo>
                  <a:lnTo>
                    <a:pt x="204800" y="2066378"/>
                  </a:lnTo>
                  <a:lnTo>
                    <a:pt x="205308" y="2065299"/>
                  </a:lnTo>
                  <a:lnTo>
                    <a:pt x="205333" y="1905254"/>
                  </a:lnTo>
                  <a:lnTo>
                    <a:pt x="200152" y="1898738"/>
                  </a:lnTo>
                  <a:lnTo>
                    <a:pt x="189026" y="1883498"/>
                  </a:lnTo>
                  <a:lnTo>
                    <a:pt x="187655" y="1872068"/>
                  </a:lnTo>
                  <a:lnTo>
                    <a:pt x="207060" y="1863178"/>
                  </a:lnTo>
                  <a:lnTo>
                    <a:pt x="245783" y="1865718"/>
                  </a:lnTo>
                  <a:lnTo>
                    <a:pt x="298856" y="1872068"/>
                  </a:lnTo>
                  <a:lnTo>
                    <a:pt x="361289" y="1882228"/>
                  </a:lnTo>
                  <a:lnTo>
                    <a:pt x="428117" y="1889848"/>
                  </a:lnTo>
                  <a:lnTo>
                    <a:pt x="494360" y="1894928"/>
                  </a:lnTo>
                  <a:lnTo>
                    <a:pt x="534428" y="1894928"/>
                  </a:lnTo>
                  <a:lnTo>
                    <a:pt x="674204" y="1891118"/>
                  </a:lnTo>
                  <a:lnTo>
                    <a:pt x="834351" y="1883498"/>
                  </a:lnTo>
                  <a:lnTo>
                    <a:pt x="946721" y="1875878"/>
                  </a:lnTo>
                  <a:lnTo>
                    <a:pt x="1059586" y="1869528"/>
                  </a:lnTo>
                  <a:lnTo>
                    <a:pt x="1115123" y="1865718"/>
                  </a:lnTo>
                  <a:lnTo>
                    <a:pt x="1169504" y="1863178"/>
                  </a:lnTo>
                  <a:lnTo>
                    <a:pt x="1222298" y="1860638"/>
                  </a:lnTo>
                  <a:lnTo>
                    <a:pt x="1273073" y="1856828"/>
                  </a:lnTo>
                  <a:lnTo>
                    <a:pt x="1321396" y="1855558"/>
                  </a:lnTo>
                  <a:lnTo>
                    <a:pt x="1366850" y="1853018"/>
                  </a:lnTo>
                  <a:lnTo>
                    <a:pt x="1529511" y="1849208"/>
                  </a:lnTo>
                  <a:lnTo>
                    <a:pt x="1581086" y="1849208"/>
                  </a:lnTo>
                  <a:lnTo>
                    <a:pt x="1631162" y="1847938"/>
                  </a:lnTo>
                  <a:lnTo>
                    <a:pt x="1679638" y="1847938"/>
                  </a:lnTo>
                  <a:lnTo>
                    <a:pt x="1726412" y="1846668"/>
                  </a:lnTo>
                  <a:lnTo>
                    <a:pt x="1771370" y="1846668"/>
                  </a:lnTo>
                  <a:lnTo>
                    <a:pt x="1814436" y="1845398"/>
                  </a:lnTo>
                  <a:lnTo>
                    <a:pt x="1855482" y="1842858"/>
                  </a:lnTo>
                  <a:lnTo>
                    <a:pt x="1906739" y="1839048"/>
                  </a:lnTo>
                  <a:lnTo>
                    <a:pt x="2040394" y="1823808"/>
                  </a:lnTo>
                  <a:lnTo>
                    <a:pt x="2134120" y="1818728"/>
                  </a:lnTo>
                  <a:lnTo>
                    <a:pt x="2181060" y="1818728"/>
                  </a:lnTo>
                  <a:lnTo>
                    <a:pt x="2230615" y="1817458"/>
                  </a:lnTo>
                  <a:lnTo>
                    <a:pt x="2385530" y="1817458"/>
                  </a:lnTo>
                  <a:lnTo>
                    <a:pt x="2484501" y="1819998"/>
                  </a:lnTo>
                  <a:lnTo>
                    <a:pt x="2582583" y="1825078"/>
                  </a:lnTo>
                  <a:lnTo>
                    <a:pt x="2730931" y="1840318"/>
                  </a:lnTo>
                  <a:lnTo>
                    <a:pt x="2818460" y="1847938"/>
                  </a:lnTo>
                  <a:lnTo>
                    <a:pt x="2864574" y="1847938"/>
                  </a:lnTo>
                  <a:lnTo>
                    <a:pt x="2909532" y="1846668"/>
                  </a:lnTo>
                  <a:lnTo>
                    <a:pt x="2948241" y="1846668"/>
                  </a:lnTo>
                  <a:lnTo>
                    <a:pt x="2975622" y="1847938"/>
                  </a:lnTo>
                  <a:lnTo>
                    <a:pt x="2985147" y="1849208"/>
                  </a:lnTo>
                  <a:lnTo>
                    <a:pt x="2989910" y="1846668"/>
                  </a:lnTo>
                  <a:lnTo>
                    <a:pt x="2994672" y="1853018"/>
                  </a:lnTo>
                  <a:lnTo>
                    <a:pt x="3000933" y="1886038"/>
                  </a:lnTo>
                  <a:lnTo>
                    <a:pt x="3000832" y="1898738"/>
                  </a:lnTo>
                  <a:lnTo>
                    <a:pt x="3000730" y="1911438"/>
                  </a:lnTo>
                  <a:lnTo>
                    <a:pt x="3000692" y="1916518"/>
                  </a:lnTo>
                  <a:lnTo>
                    <a:pt x="3000565" y="1933028"/>
                  </a:lnTo>
                  <a:lnTo>
                    <a:pt x="3000464" y="1941918"/>
                  </a:lnTo>
                  <a:lnTo>
                    <a:pt x="2998813" y="1997798"/>
                  </a:lnTo>
                  <a:lnTo>
                    <a:pt x="3001340" y="2039708"/>
                  </a:lnTo>
                  <a:lnTo>
                    <a:pt x="3005975" y="2049868"/>
                  </a:lnTo>
                  <a:lnTo>
                    <a:pt x="3012046" y="2057488"/>
                  </a:lnTo>
                  <a:lnTo>
                    <a:pt x="3016339" y="2063838"/>
                  </a:lnTo>
                  <a:lnTo>
                    <a:pt x="3016339" y="1812467"/>
                  </a:lnTo>
                  <a:lnTo>
                    <a:pt x="3014116" y="1811108"/>
                  </a:lnTo>
                  <a:lnTo>
                    <a:pt x="3006687" y="1808568"/>
                  </a:lnTo>
                  <a:lnTo>
                    <a:pt x="2998012" y="1808568"/>
                  </a:lnTo>
                  <a:lnTo>
                    <a:pt x="2988005" y="1807298"/>
                  </a:lnTo>
                  <a:lnTo>
                    <a:pt x="2962046" y="1807298"/>
                  </a:lnTo>
                  <a:lnTo>
                    <a:pt x="2929661" y="1808568"/>
                  </a:lnTo>
                  <a:lnTo>
                    <a:pt x="2892628" y="1811108"/>
                  </a:lnTo>
                  <a:lnTo>
                    <a:pt x="2852750" y="1811108"/>
                  </a:lnTo>
                  <a:lnTo>
                    <a:pt x="2807525" y="1808568"/>
                  </a:lnTo>
                  <a:lnTo>
                    <a:pt x="2703563" y="1798408"/>
                  </a:lnTo>
                  <a:lnTo>
                    <a:pt x="2647073" y="1792058"/>
                  </a:lnTo>
                  <a:lnTo>
                    <a:pt x="2589111" y="1786978"/>
                  </a:lnTo>
                  <a:lnTo>
                    <a:pt x="2530805" y="1784438"/>
                  </a:lnTo>
                  <a:lnTo>
                    <a:pt x="2484539" y="1781898"/>
                  </a:lnTo>
                  <a:lnTo>
                    <a:pt x="2386660" y="1779358"/>
                  </a:lnTo>
                  <a:lnTo>
                    <a:pt x="2234895" y="1779358"/>
                  </a:lnTo>
                  <a:lnTo>
                    <a:pt x="2185238" y="1780628"/>
                  </a:lnTo>
                  <a:lnTo>
                    <a:pt x="2137003" y="1780628"/>
                  </a:lnTo>
                  <a:lnTo>
                    <a:pt x="2034222" y="1785708"/>
                  </a:lnTo>
                  <a:lnTo>
                    <a:pt x="1873923" y="1800948"/>
                  </a:lnTo>
                  <a:lnTo>
                    <a:pt x="1769757" y="1808568"/>
                  </a:lnTo>
                  <a:lnTo>
                    <a:pt x="1678343" y="1811108"/>
                  </a:lnTo>
                  <a:lnTo>
                    <a:pt x="1634502" y="1809838"/>
                  </a:lnTo>
                  <a:lnTo>
                    <a:pt x="1537538" y="1809838"/>
                  </a:lnTo>
                  <a:lnTo>
                    <a:pt x="1479245" y="1811108"/>
                  </a:lnTo>
                  <a:lnTo>
                    <a:pt x="1440395" y="1812378"/>
                  </a:lnTo>
                  <a:lnTo>
                    <a:pt x="1247330" y="1822538"/>
                  </a:lnTo>
                  <a:lnTo>
                    <a:pt x="1192123" y="1826348"/>
                  </a:lnTo>
                  <a:lnTo>
                    <a:pt x="1017879" y="1836508"/>
                  </a:lnTo>
                  <a:lnTo>
                    <a:pt x="958570" y="1839048"/>
                  </a:lnTo>
                  <a:lnTo>
                    <a:pt x="899477" y="1842858"/>
                  </a:lnTo>
                  <a:lnTo>
                    <a:pt x="841095" y="1845398"/>
                  </a:lnTo>
                  <a:lnTo>
                    <a:pt x="783932" y="1849208"/>
                  </a:lnTo>
                  <a:lnTo>
                    <a:pt x="728484" y="1851748"/>
                  </a:lnTo>
                  <a:lnTo>
                    <a:pt x="675246" y="1853018"/>
                  </a:lnTo>
                  <a:lnTo>
                    <a:pt x="624713" y="1855558"/>
                  </a:lnTo>
                  <a:lnTo>
                    <a:pt x="577392" y="1855558"/>
                  </a:lnTo>
                  <a:lnTo>
                    <a:pt x="533768" y="1856828"/>
                  </a:lnTo>
                  <a:lnTo>
                    <a:pt x="494360" y="1856828"/>
                  </a:lnTo>
                  <a:lnTo>
                    <a:pt x="429298" y="1853018"/>
                  </a:lnTo>
                  <a:lnTo>
                    <a:pt x="367004" y="1847938"/>
                  </a:lnTo>
                  <a:lnTo>
                    <a:pt x="259118" y="1836508"/>
                  </a:lnTo>
                  <a:lnTo>
                    <a:pt x="217779" y="1832698"/>
                  </a:lnTo>
                  <a:lnTo>
                    <a:pt x="177558" y="1835238"/>
                  </a:lnTo>
                  <a:lnTo>
                    <a:pt x="154254" y="1865718"/>
                  </a:lnTo>
                  <a:lnTo>
                    <a:pt x="155270" y="1875878"/>
                  </a:lnTo>
                  <a:lnTo>
                    <a:pt x="161467" y="1892388"/>
                  </a:lnTo>
                  <a:lnTo>
                    <a:pt x="172046" y="1911438"/>
                  </a:lnTo>
                  <a:lnTo>
                    <a:pt x="183527" y="1933028"/>
                  </a:lnTo>
                  <a:lnTo>
                    <a:pt x="192417" y="1955888"/>
                  </a:lnTo>
                  <a:lnTo>
                    <a:pt x="198488" y="1992718"/>
                  </a:lnTo>
                  <a:lnTo>
                    <a:pt x="198577" y="1993988"/>
                  </a:lnTo>
                  <a:lnTo>
                    <a:pt x="201701" y="2037168"/>
                  </a:lnTo>
                  <a:lnTo>
                    <a:pt x="201803" y="2039708"/>
                  </a:lnTo>
                  <a:lnTo>
                    <a:pt x="201904" y="2042248"/>
                  </a:lnTo>
                  <a:lnTo>
                    <a:pt x="202006" y="2044788"/>
                  </a:lnTo>
                  <a:lnTo>
                    <a:pt x="202095" y="2047328"/>
                  </a:lnTo>
                  <a:lnTo>
                    <a:pt x="202704" y="2062568"/>
                  </a:lnTo>
                  <a:lnTo>
                    <a:pt x="202819" y="2065299"/>
                  </a:lnTo>
                  <a:lnTo>
                    <a:pt x="202907" y="2067648"/>
                  </a:lnTo>
                  <a:lnTo>
                    <a:pt x="203022" y="2070188"/>
                  </a:lnTo>
                  <a:lnTo>
                    <a:pt x="203085" y="2071458"/>
                  </a:lnTo>
                  <a:lnTo>
                    <a:pt x="202895" y="2072728"/>
                  </a:lnTo>
                  <a:lnTo>
                    <a:pt x="203098" y="2072728"/>
                  </a:lnTo>
                  <a:lnTo>
                    <a:pt x="203123" y="2073973"/>
                  </a:lnTo>
                  <a:lnTo>
                    <a:pt x="203428" y="2075268"/>
                  </a:lnTo>
                  <a:lnTo>
                    <a:pt x="204520" y="2080348"/>
                  </a:lnTo>
                  <a:lnTo>
                    <a:pt x="204851" y="2081618"/>
                  </a:lnTo>
                  <a:lnTo>
                    <a:pt x="203492" y="2081618"/>
                  </a:lnTo>
                  <a:lnTo>
                    <a:pt x="203593" y="2083866"/>
                  </a:lnTo>
                  <a:lnTo>
                    <a:pt x="203657" y="2085340"/>
                  </a:lnTo>
                  <a:lnTo>
                    <a:pt x="203720" y="2086698"/>
                  </a:lnTo>
                  <a:lnTo>
                    <a:pt x="203606" y="2085340"/>
                  </a:lnTo>
                  <a:lnTo>
                    <a:pt x="203479" y="2082888"/>
                  </a:lnTo>
                  <a:lnTo>
                    <a:pt x="203365" y="2081618"/>
                  </a:lnTo>
                  <a:lnTo>
                    <a:pt x="201815" y="2081618"/>
                  </a:lnTo>
                  <a:lnTo>
                    <a:pt x="198958" y="2082888"/>
                  </a:lnTo>
                  <a:lnTo>
                    <a:pt x="185864" y="2095588"/>
                  </a:lnTo>
                  <a:lnTo>
                    <a:pt x="182892" y="2101938"/>
                  </a:lnTo>
                  <a:lnTo>
                    <a:pt x="184251" y="2107019"/>
                  </a:lnTo>
                  <a:lnTo>
                    <a:pt x="188125" y="2110829"/>
                  </a:lnTo>
                  <a:lnTo>
                    <a:pt x="194132" y="2114639"/>
                  </a:lnTo>
                  <a:lnTo>
                    <a:pt x="201942" y="2119719"/>
                  </a:lnTo>
                  <a:lnTo>
                    <a:pt x="228092" y="2124799"/>
                  </a:lnTo>
                  <a:lnTo>
                    <a:pt x="267919" y="2128609"/>
                  </a:lnTo>
                  <a:lnTo>
                    <a:pt x="317373" y="2131149"/>
                  </a:lnTo>
                  <a:lnTo>
                    <a:pt x="372414" y="2132419"/>
                  </a:lnTo>
                  <a:lnTo>
                    <a:pt x="483057" y="2132419"/>
                  </a:lnTo>
                  <a:lnTo>
                    <a:pt x="579602" y="2134959"/>
                  </a:lnTo>
                  <a:lnTo>
                    <a:pt x="717181" y="2134959"/>
                  </a:lnTo>
                  <a:lnTo>
                    <a:pt x="764870" y="2133689"/>
                  </a:lnTo>
                  <a:lnTo>
                    <a:pt x="855637" y="2126069"/>
                  </a:lnTo>
                  <a:lnTo>
                    <a:pt x="901903" y="2120989"/>
                  </a:lnTo>
                  <a:lnTo>
                    <a:pt x="949998" y="2114639"/>
                  </a:lnTo>
                  <a:lnTo>
                    <a:pt x="1000848" y="2109559"/>
                  </a:lnTo>
                  <a:lnTo>
                    <a:pt x="1236179" y="2095588"/>
                  </a:lnTo>
                  <a:lnTo>
                    <a:pt x="1285887" y="2094318"/>
                  </a:lnTo>
                  <a:lnTo>
                    <a:pt x="1311249" y="2093048"/>
                  </a:lnTo>
                  <a:lnTo>
                    <a:pt x="1336598" y="2091778"/>
                  </a:lnTo>
                  <a:lnTo>
                    <a:pt x="1387906" y="2090508"/>
                  </a:lnTo>
                  <a:lnTo>
                    <a:pt x="1413662" y="2089238"/>
                  </a:lnTo>
                  <a:lnTo>
                    <a:pt x="1439405" y="2087968"/>
                  </a:lnTo>
                  <a:lnTo>
                    <a:pt x="1541119" y="2085340"/>
                  </a:lnTo>
                  <a:lnTo>
                    <a:pt x="1541526" y="2085340"/>
                  </a:lnTo>
                  <a:lnTo>
                    <a:pt x="1603311" y="2083866"/>
                  </a:lnTo>
                  <a:lnTo>
                    <a:pt x="1748155" y="2080348"/>
                  </a:lnTo>
                  <a:lnTo>
                    <a:pt x="1802853" y="2080348"/>
                  </a:lnTo>
                  <a:lnTo>
                    <a:pt x="1853590" y="2079078"/>
                  </a:lnTo>
                  <a:lnTo>
                    <a:pt x="2020176" y="2079078"/>
                  </a:lnTo>
                  <a:lnTo>
                    <a:pt x="2164092" y="2082888"/>
                  </a:lnTo>
                  <a:lnTo>
                    <a:pt x="2219769" y="2085340"/>
                  </a:lnTo>
                  <a:lnTo>
                    <a:pt x="2222055" y="2085340"/>
                  </a:lnTo>
                  <a:lnTo>
                    <a:pt x="2378291" y="2099398"/>
                  </a:lnTo>
                  <a:lnTo>
                    <a:pt x="2489847" y="2107019"/>
                  </a:lnTo>
                  <a:lnTo>
                    <a:pt x="2540495" y="2108289"/>
                  </a:lnTo>
                  <a:lnTo>
                    <a:pt x="2598204" y="2110829"/>
                  </a:lnTo>
                  <a:lnTo>
                    <a:pt x="2788805" y="2114639"/>
                  </a:lnTo>
                  <a:lnTo>
                    <a:pt x="2905595" y="2114639"/>
                  </a:lnTo>
                  <a:lnTo>
                    <a:pt x="2990951" y="2112099"/>
                  </a:lnTo>
                  <a:lnTo>
                    <a:pt x="3015627" y="2108289"/>
                  </a:lnTo>
                  <a:lnTo>
                    <a:pt x="3028010" y="2107019"/>
                  </a:lnTo>
                  <a:lnTo>
                    <a:pt x="3031820" y="2104478"/>
                  </a:lnTo>
                  <a:lnTo>
                    <a:pt x="3036582" y="2100668"/>
                  </a:lnTo>
                  <a:lnTo>
                    <a:pt x="3041345" y="2094318"/>
                  </a:lnTo>
                  <a:lnTo>
                    <a:pt x="3042297" y="2087968"/>
                  </a:lnTo>
                  <a:lnTo>
                    <a:pt x="3044202" y="2076538"/>
                  </a:lnTo>
                  <a:lnTo>
                    <a:pt x="3044266" y="2075268"/>
                  </a:lnTo>
                  <a:lnTo>
                    <a:pt x="3044342" y="2073973"/>
                  </a:lnTo>
                  <a:lnTo>
                    <a:pt x="3044406" y="2072728"/>
                  </a:lnTo>
                  <a:lnTo>
                    <a:pt x="3044482" y="2071458"/>
                  </a:lnTo>
                  <a:lnTo>
                    <a:pt x="3044596" y="2069325"/>
                  </a:lnTo>
                  <a:lnTo>
                    <a:pt x="3044698" y="2067521"/>
                  </a:lnTo>
                  <a:lnTo>
                    <a:pt x="3044825" y="2065299"/>
                  </a:lnTo>
                  <a:lnTo>
                    <a:pt x="3044914" y="2063838"/>
                  </a:lnTo>
                  <a:lnTo>
                    <a:pt x="3044977" y="2062568"/>
                  </a:lnTo>
                  <a:lnTo>
                    <a:pt x="3045053" y="2061298"/>
                  </a:lnTo>
                  <a:lnTo>
                    <a:pt x="3045117" y="2060028"/>
                  </a:lnTo>
                  <a:lnTo>
                    <a:pt x="3045193" y="2058758"/>
                  </a:lnTo>
                  <a:lnTo>
                    <a:pt x="3045269" y="2057488"/>
                  </a:lnTo>
                  <a:lnTo>
                    <a:pt x="3045333" y="2056218"/>
                  </a:lnTo>
                  <a:lnTo>
                    <a:pt x="3045409" y="2054948"/>
                  </a:lnTo>
                  <a:lnTo>
                    <a:pt x="3045472" y="2053678"/>
                  </a:lnTo>
                  <a:lnTo>
                    <a:pt x="3045549" y="2052408"/>
                  </a:lnTo>
                  <a:lnTo>
                    <a:pt x="3045904" y="2046058"/>
                  </a:lnTo>
                  <a:lnTo>
                    <a:pt x="3046031" y="2037168"/>
                  </a:lnTo>
                  <a:close/>
                </a:path>
                <a:path w="3048000" h="6073775">
                  <a:moveTo>
                    <a:pt x="3047390" y="5875413"/>
                  </a:moveTo>
                  <a:lnTo>
                    <a:pt x="3046260" y="5828423"/>
                  </a:lnTo>
                  <a:lnTo>
                    <a:pt x="3032023" y="5785243"/>
                  </a:lnTo>
                  <a:lnTo>
                    <a:pt x="3021304" y="5775718"/>
                  </a:lnTo>
                  <a:lnTo>
                    <a:pt x="3021304" y="5876683"/>
                  </a:lnTo>
                  <a:lnTo>
                    <a:pt x="3014815" y="5921133"/>
                  </a:lnTo>
                  <a:lnTo>
                    <a:pt x="2996692" y="5950343"/>
                  </a:lnTo>
                  <a:lnTo>
                    <a:pt x="2975686" y="5956693"/>
                  </a:lnTo>
                  <a:lnTo>
                    <a:pt x="2947466" y="5955423"/>
                  </a:lnTo>
                  <a:lnTo>
                    <a:pt x="2913634" y="5950343"/>
                  </a:lnTo>
                  <a:lnTo>
                    <a:pt x="2875775" y="5949073"/>
                  </a:lnTo>
                  <a:lnTo>
                    <a:pt x="2835986" y="5950343"/>
                  </a:lnTo>
                  <a:lnTo>
                    <a:pt x="2790418" y="5952883"/>
                  </a:lnTo>
                  <a:lnTo>
                    <a:pt x="2630449" y="5964313"/>
                  </a:lnTo>
                  <a:lnTo>
                    <a:pt x="2573172" y="5969393"/>
                  </a:lnTo>
                  <a:lnTo>
                    <a:pt x="2515819" y="5973203"/>
                  </a:lnTo>
                  <a:lnTo>
                    <a:pt x="2412593" y="5982093"/>
                  </a:lnTo>
                  <a:lnTo>
                    <a:pt x="2266556" y="5997333"/>
                  </a:lnTo>
                  <a:lnTo>
                    <a:pt x="2216607" y="6003683"/>
                  </a:lnTo>
                  <a:lnTo>
                    <a:pt x="2014372" y="6024003"/>
                  </a:lnTo>
                  <a:lnTo>
                    <a:pt x="1963915" y="6027813"/>
                  </a:lnTo>
                  <a:lnTo>
                    <a:pt x="1813204" y="6035433"/>
                  </a:lnTo>
                  <a:lnTo>
                    <a:pt x="1712277" y="6037973"/>
                  </a:lnTo>
                  <a:lnTo>
                    <a:pt x="1661693" y="6037973"/>
                  </a:lnTo>
                  <a:lnTo>
                    <a:pt x="1611071" y="6039243"/>
                  </a:lnTo>
                  <a:lnTo>
                    <a:pt x="1144981" y="6039243"/>
                  </a:lnTo>
                  <a:lnTo>
                    <a:pt x="1091298" y="6037973"/>
                  </a:lnTo>
                  <a:lnTo>
                    <a:pt x="1037983" y="6037973"/>
                  </a:lnTo>
                  <a:lnTo>
                    <a:pt x="985316" y="6036703"/>
                  </a:lnTo>
                  <a:lnTo>
                    <a:pt x="933589" y="6036703"/>
                  </a:lnTo>
                  <a:lnTo>
                    <a:pt x="834161" y="6034163"/>
                  </a:lnTo>
                  <a:lnTo>
                    <a:pt x="787031" y="6031623"/>
                  </a:lnTo>
                  <a:lnTo>
                    <a:pt x="729132" y="6030353"/>
                  </a:lnTo>
                  <a:lnTo>
                    <a:pt x="618261" y="6022733"/>
                  </a:lnTo>
                  <a:lnTo>
                    <a:pt x="565416" y="6020193"/>
                  </a:lnTo>
                  <a:lnTo>
                    <a:pt x="514362" y="6015113"/>
                  </a:lnTo>
                  <a:lnTo>
                    <a:pt x="354622" y="6002413"/>
                  </a:lnTo>
                  <a:lnTo>
                    <a:pt x="293878" y="5996063"/>
                  </a:lnTo>
                  <a:lnTo>
                    <a:pt x="238950" y="5989713"/>
                  </a:lnTo>
                  <a:lnTo>
                    <a:pt x="193154" y="5982093"/>
                  </a:lnTo>
                  <a:lnTo>
                    <a:pt x="150228" y="5969393"/>
                  </a:lnTo>
                  <a:lnTo>
                    <a:pt x="141630" y="5966853"/>
                  </a:lnTo>
                  <a:lnTo>
                    <a:pt x="144564" y="5892901"/>
                  </a:lnTo>
                  <a:lnTo>
                    <a:pt x="146646" y="5806325"/>
                  </a:lnTo>
                  <a:lnTo>
                    <a:pt x="162560" y="5808103"/>
                  </a:lnTo>
                  <a:lnTo>
                    <a:pt x="206476" y="5810643"/>
                  </a:lnTo>
                  <a:lnTo>
                    <a:pt x="315810" y="5813183"/>
                  </a:lnTo>
                  <a:lnTo>
                    <a:pt x="619036" y="5813183"/>
                  </a:lnTo>
                  <a:lnTo>
                    <a:pt x="715327" y="5815723"/>
                  </a:lnTo>
                  <a:lnTo>
                    <a:pt x="813346" y="5815723"/>
                  </a:lnTo>
                  <a:lnTo>
                    <a:pt x="862825" y="5816993"/>
                  </a:lnTo>
                  <a:lnTo>
                    <a:pt x="1012177" y="5816993"/>
                  </a:lnTo>
                  <a:lnTo>
                    <a:pt x="1062037" y="5815723"/>
                  </a:lnTo>
                  <a:lnTo>
                    <a:pt x="1111808" y="5815723"/>
                  </a:lnTo>
                  <a:lnTo>
                    <a:pt x="1260208" y="5811913"/>
                  </a:lnTo>
                  <a:lnTo>
                    <a:pt x="1309966" y="5809373"/>
                  </a:lnTo>
                  <a:lnTo>
                    <a:pt x="1359966" y="5808103"/>
                  </a:lnTo>
                  <a:lnTo>
                    <a:pt x="1410081" y="5804293"/>
                  </a:lnTo>
                  <a:lnTo>
                    <a:pt x="1460220" y="5801753"/>
                  </a:lnTo>
                  <a:lnTo>
                    <a:pt x="1510258" y="5797943"/>
                  </a:lnTo>
                  <a:lnTo>
                    <a:pt x="1609623" y="5791593"/>
                  </a:lnTo>
                  <a:lnTo>
                    <a:pt x="1707337" y="5786513"/>
                  </a:lnTo>
                  <a:lnTo>
                    <a:pt x="1853120" y="5778893"/>
                  </a:lnTo>
                  <a:lnTo>
                    <a:pt x="2100135" y="5772543"/>
                  </a:lnTo>
                  <a:lnTo>
                    <a:pt x="2147697" y="5772543"/>
                  </a:lnTo>
                  <a:lnTo>
                    <a:pt x="2240280" y="5770003"/>
                  </a:lnTo>
                  <a:lnTo>
                    <a:pt x="2337549" y="5770003"/>
                  </a:lnTo>
                  <a:lnTo>
                    <a:pt x="2387981" y="5768733"/>
                  </a:lnTo>
                  <a:lnTo>
                    <a:pt x="2485148" y="5768733"/>
                  </a:lnTo>
                  <a:lnTo>
                    <a:pt x="2533104" y="5770003"/>
                  </a:lnTo>
                  <a:lnTo>
                    <a:pt x="2581440" y="5770003"/>
                  </a:lnTo>
                  <a:lnTo>
                    <a:pt x="2685300" y="5772543"/>
                  </a:lnTo>
                  <a:lnTo>
                    <a:pt x="2805684" y="5770003"/>
                  </a:lnTo>
                  <a:lnTo>
                    <a:pt x="2864345" y="5770003"/>
                  </a:lnTo>
                  <a:lnTo>
                    <a:pt x="2917228" y="5773813"/>
                  </a:lnTo>
                  <a:lnTo>
                    <a:pt x="2960751" y="5781433"/>
                  </a:lnTo>
                  <a:lnTo>
                    <a:pt x="3014141" y="5829693"/>
                  </a:lnTo>
                  <a:lnTo>
                    <a:pt x="3021304" y="5876683"/>
                  </a:lnTo>
                  <a:lnTo>
                    <a:pt x="3021304" y="5775718"/>
                  </a:lnTo>
                  <a:lnTo>
                    <a:pt x="3014802" y="5771273"/>
                  </a:lnTo>
                  <a:lnTo>
                    <a:pt x="3009493" y="5768733"/>
                  </a:lnTo>
                  <a:lnTo>
                    <a:pt x="3004185" y="5766193"/>
                  </a:lnTo>
                  <a:lnTo>
                    <a:pt x="2990812" y="5762383"/>
                  </a:lnTo>
                  <a:lnTo>
                    <a:pt x="2975826" y="5761113"/>
                  </a:lnTo>
                  <a:lnTo>
                    <a:pt x="2958439" y="5759843"/>
                  </a:lnTo>
                  <a:lnTo>
                    <a:pt x="2937840" y="5758573"/>
                  </a:lnTo>
                  <a:lnTo>
                    <a:pt x="2900235" y="5754763"/>
                  </a:lnTo>
                  <a:lnTo>
                    <a:pt x="2853537" y="5752223"/>
                  </a:lnTo>
                  <a:lnTo>
                    <a:pt x="2800604" y="5748413"/>
                  </a:lnTo>
                  <a:lnTo>
                    <a:pt x="2687421" y="5743333"/>
                  </a:lnTo>
                  <a:lnTo>
                    <a:pt x="2536698" y="5739523"/>
                  </a:lnTo>
                  <a:lnTo>
                    <a:pt x="2285111" y="5739523"/>
                  </a:lnTo>
                  <a:lnTo>
                    <a:pt x="2239962" y="5740793"/>
                  </a:lnTo>
                  <a:lnTo>
                    <a:pt x="2193798" y="5740793"/>
                  </a:lnTo>
                  <a:lnTo>
                    <a:pt x="2098852" y="5743333"/>
                  </a:lnTo>
                  <a:lnTo>
                    <a:pt x="2050237" y="5743333"/>
                  </a:lnTo>
                  <a:lnTo>
                    <a:pt x="1900885" y="5747143"/>
                  </a:lnTo>
                  <a:lnTo>
                    <a:pt x="1850237" y="5749683"/>
                  </a:lnTo>
                  <a:lnTo>
                    <a:pt x="1799310" y="5750953"/>
                  </a:lnTo>
                  <a:lnTo>
                    <a:pt x="1655864" y="5758573"/>
                  </a:lnTo>
                  <a:lnTo>
                    <a:pt x="1606969" y="5762383"/>
                  </a:lnTo>
                  <a:lnTo>
                    <a:pt x="1508112" y="5768733"/>
                  </a:lnTo>
                  <a:lnTo>
                    <a:pt x="1458341" y="5771273"/>
                  </a:lnTo>
                  <a:lnTo>
                    <a:pt x="1408455" y="5775083"/>
                  </a:lnTo>
                  <a:lnTo>
                    <a:pt x="1308735" y="5780163"/>
                  </a:lnTo>
                  <a:lnTo>
                    <a:pt x="1259090" y="5781433"/>
                  </a:lnTo>
                  <a:lnTo>
                    <a:pt x="1209700" y="5783973"/>
                  </a:lnTo>
                  <a:lnTo>
                    <a:pt x="1182776" y="5783973"/>
                  </a:lnTo>
                  <a:lnTo>
                    <a:pt x="1155484" y="5785243"/>
                  </a:lnTo>
                  <a:lnTo>
                    <a:pt x="1098740" y="5785243"/>
                  </a:lnTo>
                  <a:lnTo>
                    <a:pt x="1068743" y="5786513"/>
                  </a:lnTo>
                  <a:lnTo>
                    <a:pt x="968908" y="5786513"/>
                  </a:lnTo>
                  <a:lnTo>
                    <a:pt x="931443" y="5785243"/>
                  </a:lnTo>
                  <a:lnTo>
                    <a:pt x="848563" y="5785243"/>
                  </a:lnTo>
                  <a:lnTo>
                    <a:pt x="802614" y="5783973"/>
                  </a:lnTo>
                  <a:lnTo>
                    <a:pt x="753275" y="5783973"/>
                  </a:lnTo>
                  <a:lnTo>
                    <a:pt x="446290" y="5777623"/>
                  </a:lnTo>
                  <a:lnTo>
                    <a:pt x="370903" y="5775083"/>
                  </a:lnTo>
                  <a:lnTo>
                    <a:pt x="290220" y="5773813"/>
                  </a:lnTo>
                  <a:lnTo>
                    <a:pt x="203949" y="5771273"/>
                  </a:lnTo>
                  <a:lnTo>
                    <a:pt x="147510" y="5770499"/>
                  </a:lnTo>
                  <a:lnTo>
                    <a:pt x="147637" y="5765609"/>
                  </a:lnTo>
                  <a:lnTo>
                    <a:pt x="145313" y="5762625"/>
                  </a:lnTo>
                  <a:lnTo>
                    <a:pt x="139661" y="5756084"/>
                  </a:lnTo>
                  <a:lnTo>
                    <a:pt x="132778" y="5749531"/>
                  </a:lnTo>
                  <a:lnTo>
                    <a:pt x="126682" y="5746559"/>
                  </a:lnTo>
                  <a:lnTo>
                    <a:pt x="122262" y="5747918"/>
                  </a:lnTo>
                  <a:lnTo>
                    <a:pt x="117754" y="5751792"/>
                  </a:lnTo>
                  <a:lnTo>
                    <a:pt x="117487" y="5752173"/>
                  </a:lnTo>
                  <a:lnTo>
                    <a:pt x="117487" y="6037694"/>
                  </a:lnTo>
                  <a:lnTo>
                    <a:pt x="117284" y="6037910"/>
                  </a:lnTo>
                  <a:lnTo>
                    <a:pt x="111747" y="6044793"/>
                  </a:lnTo>
                  <a:lnTo>
                    <a:pt x="117271" y="6037910"/>
                  </a:lnTo>
                  <a:lnTo>
                    <a:pt x="112395" y="6042787"/>
                  </a:lnTo>
                  <a:lnTo>
                    <a:pt x="117208" y="6037910"/>
                  </a:lnTo>
                  <a:lnTo>
                    <a:pt x="117487" y="6037694"/>
                  </a:lnTo>
                  <a:lnTo>
                    <a:pt x="117487" y="5752173"/>
                  </a:lnTo>
                  <a:lnTo>
                    <a:pt x="113423" y="5757799"/>
                  </a:lnTo>
                  <a:lnTo>
                    <a:pt x="109537" y="5765609"/>
                  </a:lnTo>
                  <a:lnTo>
                    <a:pt x="109537" y="6056122"/>
                  </a:lnTo>
                  <a:lnTo>
                    <a:pt x="109245" y="6054407"/>
                  </a:lnTo>
                  <a:lnTo>
                    <a:pt x="109283" y="6054534"/>
                  </a:lnTo>
                  <a:lnTo>
                    <a:pt x="109385" y="6055169"/>
                  </a:lnTo>
                  <a:lnTo>
                    <a:pt x="109537" y="6056122"/>
                  </a:lnTo>
                  <a:lnTo>
                    <a:pt x="109537" y="5765609"/>
                  </a:lnTo>
                  <a:lnTo>
                    <a:pt x="108381" y="5771299"/>
                  </a:lnTo>
                  <a:lnTo>
                    <a:pt x="91503" y="5777623"/>
                  </a:lnTo>
                  <a:lnTo>
                    <a:pt x="89357" y="5787783"/>
                  </a:lnTo>
                  <a:lnTo>
                    <a:pt x="94716" y="5795403"/>
                  </a:lnTo>
                  <a:lnTo>
                    <a:pt x="103009" y="5798096"/>
                  </a:lnTo>
                  <a:lnTo>
                    <a:pt x="98958" y="5848896"/>
                  </a:lnTo>
                  <a:lnTo>
                    <a:pt x="97396" y="5909907"/>
                  </a:lnTo>
                  <a:lnTo>
                    <a:pt x="98539" y="5970917"/>
                  </a:lnTo>
                  <a:lnTo>
                    <a:pt x="102527" y="6022251"/>
                  </a:lnTo>
                  <a:lnTo>
                    <a:pt x="108673" y="6050229"/>
                  </a:lnTo>
                  <a:lnTo>
                    <a:pt x="108737" y="6050546"/>
                  </a:lnTo>
                  <a:lnTo>
                    <a:pt x="108902" y="6052261"/>
                  </a:lnTo>
                  <a:lnTo>
                    <a:pt x="109042" y="6053086"/>
                  </a:lnTo>
                  <a:lnTo>
                    <a:pt x="109118" y="6052261"/>
                  </a:lnTo>
                  <a:lnTo>
                    <a:pt x="109207" y="6054166"/>
                  </a:lnTo>
                  <a:lnTo>
                    <a:pt x="109042" y="6053086"/>
                  </a:lnTo>
                  <a:lnTo>
                    <a:pt x="108940" y="6054217"/>
                  </a:lnTo>
                  <a:lnTo>
                    <a:pt x="108851" y="6055169"/>
                  </a:lnTo>
                  <a:lnTo>
                    <a:pt x="108762" y="6056122"/>
                  </a:lnTo>
                  <a:lnTo>
                    <a:pt x="108648" y="6057404"/>
                  </a:lnTo>
                  <a:lnTo>
                    <a:pt x="108585" y="6058027"/>
                  </a:lnTo>
                  <a:lnTo>
                    <a:pt x="111442" y="6062789"/>
                  </a:lnTo>
                  <a:lnTo>
                    <a:pt x="113347" y="6067552"/>
                  </a:lnTo>
                  <a:lnTo>
                    <a:pt x="120967" y="6073267"/>
                  </a:lnTo>
                  <a:lnTo>
                    <a:pt x="126682" y="6073267"/>
                  </a:lnTo>
                  <a:lnTo>
                    <a:pt x="127622" y="6072670"/>
                  </a:lnTo>
                  <a:lnTo>
                    <a:pt x="128282" y="6072746"/>
                  </a:lnTo>
                  <a:lnTo>
                    <a:pt x="130492" y="6073267"/>
                  </a:lnTo>
                  <a:lnTo>
                    <a:pt x="130975" y="6073076"/>
                  </a:lnTo>
                  <a:lnTo>
                    <a:pt x="132219" y="6072606"/>
                  </a:lnTo>
                  <a:lnTo>
                    <a:pt x="135216" y="6071489"/>
                  </a:lnTo>
                  <a:lnTo>
                    <a:pt x="135483" y="6071311"/>
                  </a:lnTo>
                  <a:lnTo>
                    <a:pt x="138658" y="6068504"/>
                  </a:lnTo>
                  <a:lnTo>
                    <a:pt x="135585" y="6071311"/>
                  </a:lnTo>
                  <a:lnTo>
                    <a:pt x="141922" y="6067552"/>
                  </a:lnTo>
                  <a:lnTo>
                    <a:pt x="144792" y="6061329"/>
                  </a:lnTo>
                  <a:lnTo>
                    <a:pt x="145415" y="6059995"/>
                  </a:lnTo>
                  <a:lnTo>
                    <a:pt x="146608" y="6057404"/>
                  </a:lnTo>
                  <a:lnTo>
                    <a:pt x="147637" y="6055169"/>
                  </a:lnTo>
                  <a:lnTo>
                    <a:pt x="147535" y="6054534"/>
                  </a:lnTo>
                  <a:lnTo>
                    <a:pt x="147485" y="6054217"/>
                  </a:lnTo>
                  <a:lnTo>
                    <a:pt x="147294" y="6053150"/>
                  </a:lnTo>
                  <a:lnTo>
                    <a:pt x="147548" y="6054217"/>
                  </a:lnTo>
                  <a:lnTo>
                    <a:pt x="147637" y="6047549"/>
                  </a:lnTo>
                  <a:lnTo>
                    <a:pt x="146723" y="6046432"/>
                  </a:lnTo>
                  <a:lnTo>
                    <a:pt x="146723" y="6049708"/>
                  </a:lnTo>
                  <a:lnTo>
                    <a:pt x="146608" y="6049124"/>
                  </a:lnTo>
                  <a:lnTo>
                    <a:pt x="146685" y="6049454"/>
                  </a:lnTo>
                  <a:lnTo>
                    <a:pt x="146723" y="6049708"/>
                  </a:lnTo>
                  <a:lnTo>
                    <a:pt x="146723" y="6046432"/>
                  </a:lnTo>
                  <a:lnTo>
                    <a:pt x="145884" y="6045390"/>
                  </a:lnTo>
                  <a:lnTo>
                    <a:pt x="143789" y="6042787"/>
                  </a:lnTo>
                  <a:lnTo>
                    <a:pt x="139763" y="6037910"/>
                  </a:lnTo>
                  <a:lnTo>
                    <a:pt x="139128" y="6037148"/>
                  </a:lnTo>
                  <a:lnTo>
                    <a:pt x="139319" y="6037262"/>
                  </a:lnTo>
                  <a:lnTo>
                    <a:pt x="139255" y="6037135"/>
                  </a:lnTo>
                  <a:lnTo>
                    <a:pt x="139153" y="6036996"/>
                  </a:lnTo>
                  <a:lnTo>
                    <a:pt x="138836" y="6036780"/>
                  </a:lnTo>
                  <a:lnTo>
                    <a:pt x="139014" y="6036996"/>
                  </a:lnTo>
                  <a:lnTo>
                    <a:pt x="138874" y="6036996"/>
                  </a:lnTo>
                  <a:lnTo>
                    <a:pt x="136982" y="6036373"/>
                  </a:lnTo>
                  <a:lnTo>
                    <a:pt x="137020" y="6036119"/>
                  </a:lnTo>
                  <a:lnTo>
                    <a:pt x="137147" y="6035167"/>
                  </a:lnTo>
                  <a:lnTo>
                    <a:pt x="137274" y="6034214"/>
                  </a:lnTo>
                  <a:lnTo>
                    <a:pt x="137350" y="6033579"/>
                  </a:lnTo>
                  <a:lnTo>
                    <a:pt x="137401" y="6033262"/>
                  </a:lnTo>
                  <a:lnTo>
                    <a:pt x="137528" y="6032309"/>
                  </a:lnTo>
                  <a:lnTo>
                    <a:pt x="139509" y="6003125"/>
                  </a:lnTo>
                  <a:lnTo>
                    <a:pt x="148285" y="6006223"/>
                  </a:lnTo>
                  <a:lnTo>
                    <a:pt x="159448" y="6008763"/>
                  </a:lnTo>
                  <a:lnTo>
                    <a:pt x="173024" y="6010033"/>
                  </a:lnTo>
                  <a:lnTo>
                    <a:pt x="219494" y="6016383"/>
                  </a:lnTo>
                  <a:lnTo>
                    <a:pt x="257124" y="6020193"/>
                  </a:lnTo>
                  <a:lnTo>
                    <a:pt x="302234" y="6025273"/>
                  </a:lnTo>
                  <a:lnTo>
                    <a:pt x="465683" y="6040513"/>
                  </a:lnTo>
                  <a:lnTo>
                    <a:pt x="523951" y="6044323"/>
                  </a:lnTo>
                  <a:lnTo>
                    <a:pt x="581342" y="6049403"/>
                  </a:lnTo>
                  <a:lnTo>
                    <a:pt x="686727" y="6057023"/>
                  </a:lnTo>
                  <a:lnTo>
                    <a:pt x="731393" y="6059563"/>
                  </a:lnTo>
                  <a:lnTo>
                    <a:pt x="781354" y="6063373"/>
                  </a:lnTo>
                  <a:lnTo>
                    <a:pt x="956259" y="6068453"/>
                  </a:lnTo>
                  <a:lnTo>
                    <a:pt x="1010678" y="6068453"/>
                  </a:lnTo>
                  <a:lnTo>
                    <a:pt x="1091069" y="6069723"/>
                  </a:lnTo>
                  <a:lnTo>
                    <a:pt x="1136027" y="6069723"/>
                  </a:lnTo>
                  <a:lnTo>
                    <a:pt x="1183652" y="6070993"/>
                  </a:lnTo>
                  <a:lnTo>
                    <a:pt x="1559013" y="6070993"/>
                  </a:lnTo>
                  <a:lnTo>
                    <a:pt x="1613992" y="6069723"/>
                  </a:lnTo>
                  <a:lnTo>
                    <a:pt x="1668157" y="6069723"/>
                  </a:lnTo>
                  <a:lnTo>
                    <a:pt x="1772475" y="6067183"/>
                  </a:lnTo>
                  <a:lnTo>
                    <a:pt x="1821853" y="6064643"/>
                  </a:lnTo>
                  <a:lnTo>
                    <a:pt x="1868855" y="6063373"/>
                  </a:lnTo>
                  <a:lnTo>
                    <a:pt x="2026221" y="6051943"/>
                  </a:lnTo>
                  <a:lnTo>
                    <a:pt x="2076602" y="6046863"/>
                  </a:lnTo>
                  <a:lnTo>
                    <a:pt x="2126208" y="6043053"/>
                  </a:lnTo>
                  <a:lnTo>
                    <a:pt x="2155583" y="6039243"/>
                  </a:lnTo>
                  <a:lnTo>
                    <a:pt x="2175154" y="6036703"/>
                  </a:lnTo>
                  <a:lnTo>
                    <a:pt x="2367572" y="6016383"/>
                  </a:lnTo>
                  <a:lnTo>
                    <a:pt x="2629014" y="5997333"/>
                  </a:lnTo>
                  <a:lnTo>
                    <a:pt x="2899410" y="5984633"/>
                  </a:lnTo>
                  <a:lnTo>
                    <a:pt x="2940291" y="5980823"/>
                  </a:lnTo>
                  <a:lnTo>
                    <a:pt x="2997758" y="5975743"/>
                  </a:lnTo>
                  <a:lnTo>
                    <a:pt x="3036278" y="5961773"/>
                  </a:lnTo>
                  <a:lnTo>
                    <a:pt x="3038068" y="5956693"/>
                  </a:lnTo>
                  <a:lnTo>
                    <a:pt x="3039491" y="5951613"/>
                  </a:lnTo>
                  <a:lnTo>
                    <a:pt x="3044291" y="5921133"/>
                  </a:lnTo>
                  <a:lnTo>
                    <a:pt x="3047390" y="5875413"/>
                  </a:lnTo>
                  <a:close/>
                </a:path>
              </a:pathLst>
            </a:custGeom>
            <a:solidFill>
              <a:srgbClr val="E7181F"/>
            </a:solidFill>
          </p:spPr>
          <p:txBody>
            <a:bodyPr wrap="square" lIns="0" tIns="0" rIns="0" bIns="0" rtlCol="0"/>
            <a:lstStyle/>
            <a:p>
              <a:endParaRPr/>
            </a:p>
          </p:txBody>
        </p:sp>
      </p:grpSp>
      <p:sp>
        <p:nvSpPr>
          <p:cNvPr id="5" name="object 5"/>
          <p:cNvSpPr txBox="1">
            <a:spLocks noGrp="1"/>
          </p:cNvSpPr>
          <p:nvPr>
            <p:ph type="title"/>
          </p:nvPr>
        </p:nvSpPr>
        <p:spPr>
          <a:prstGeom prst="rect">
            <a:avLst/>
          </a:prstGeom>
        </p:spPr>
        <p:txBody>
          <a:bodyPr vert="horz" wrap="square" lIns="0" tIns="140352" rIns="0" bIns="0" rtlCol="0">
            <a:spAutoFit/>
          </a:bodyPr>
          <a:lstStyle/>
          <a:p>
            <a:pPr marL="600075">
              <a:lnSpc>
                <a:spcPct val="100000"/>
              </a:lnSpc>
              <a:spcBef>
                <a:spcPts val="100"/>
              </a:spcBef>
            </a:pPr>
            <a:r>
              <a:rPr sz="3000" dirty="0">
                <a:solidFill>
                  <a:srgbClr val="000000"/>
                </a:solidFill>
              </a:rPr>
              <a:t>If</a:t>
            </a:r>
            <a:r>
              <a:rPr sz="3000" spc="-25" dirty="0">
                <a:solidFill>
                  <a:srgbClr val="000000"/>
                </a:solidFill>
              </a:rPr>
              <a:t> </a:t>
            </a:r>
            <a:r>
              <a:rPr sz="3000" spc="310" dirty="0">
                <a:solidFill>
                  <a:srgbClr val="000000"/>
                </a:solidFill>
              </a:rPr>
              <a:t>we</a:t>
            </a:r>
            <a:r>
              <a:rPr sz="3000" spc="-25" dirty="0">
                <a:solidFill>
                  <a:srgbClr val="000000"/>
                </a:solidFill>
              </a:rPr>
              <a:t> </a:t>
            </a:r>
            <a:r>
              <a:rPr sz="3000" spc="130" dirty="0">
                <a:solidFill>
                  <a:srgbClr val="000000"/>
                </a:solidFill>
              </a:rPr>
              <a:t>describe</a:t>
            </a:r>
            <a:r>
              <a:rPr sz="3000" spc="-25" dirty="0">
                <a:solidFill>
                  <a:srgbClr val="000000"/>
                </a:solidFill>
              </a:rPr>
              <a:t> </a:t>
            </a:r>
            <a:r>
              <a:rPr sz="3000" spc="130" dirty="0">
                <a:solidFill>
                  <a:srgbClr val="000000"/>
                </a:solidFill>
              </a:rPr>
              <a:t>the</a:t>
            </a:r>
            <a:r>
              <a:rPr sz="3000" spc="-25" dirty="0">
                <a:solidFill>
                  <a:srgbClr val="000000"/>
                </a:solidFill>
              </a:rPr>
              <a:t> </a:t>
            </a:r>
            <a:r>
              <a:rPr sz="3000" spc="135" dirty="0">
                <a:solidFill>
                  <a:srgbClr val="000000"/>
                </a:solidFill>
              </a:rPr>
              <a:t>pod,</a:t>
            </a:r>
            <a:r>
              <a:rPr sz="3000" spc="-25" dirty="0">
                <a:solidFill>
                  <a:srgbClr val="000000"/>
                </a:solidFill>
              </a:rPr>
              <a:t> </a:t>
            </a:r>
            <a:r>
              <a:rPr sz="3000" spc="310" dirty="0">
                <a:solidFill>
                  <a:srgbClr val="000000"/>
                </a:solidFill>
              </a:rPr>
              <a:t>we</a:t>
            </a:r>
            <a:r>
              <a:rPr sz="3000" spc="-25" dirty="0">
                <a:solidFill>
                  <a:srgbClr val="000000"/>
                </a:solidFill>
              </a:rPr>
              <a:t> </a:t>
            </a:r>
            <a:r>
              <a:rPr sz="3000" spc="145" dirty="0">
                <a:solidFill>
                  <a:srgbClr val="000000"/>
                </a:solidFill>
              </a:rPr>
              <a:t>can</a:t>
            </a:r>
            <a:r>
              <a:rPr sz="3000" spc="-25" dirty="0">
                <a:solidFill>
                  <a:srgbClr val="000000"/>
                </a:solidFill>
              </a:rPr>
              <a:t> </a:t>
            </a:r>
            <a:r>
              <a:rPr sz="3000" spc="150" dirty="0">
                <a:solidFill>
                  <a:srgbClr val="000000"/>
                </a:solidFill>
              </a:rPr>
              <a:t>see</a:t>
            </a:r>
            <a:r>
              <a:rPr sz="3000" spc="-25" dirty="0">
                <a:solidFill>
                  <a:srgbClr val="000000"/>
                </a:solidFill>
              </a:rPr>
              <a:t> </a:t>
            </a:r>
            <a:r>
              <a:rPr sz="3000" spc="195" dirty="0">
                <a:solidFill>
                  <a:srgbClr val="000000"/>
                </a:solidFill>
              </a:rPr>
              <a:t>cont-</a:t>
            </a:r>
            <a:r>
              <a:rPr sz="3000" spc="-315" dirty="0">
                <a:solidFill>
                  <a:srgbClr val="000000"/>
                </a:solidFill>
              </a:rPr>
              <a:t>1</a:t>
            </a:r>
            <a:r>
              <a:rPr sz="3000" spc="-25" dirty="0">
                <a:solidFill>
                  <a:srgbClr val="000000"/>
                </a:solidFill>
              </a:rPr>
              <a:t> </a:t>
            </a:r>
            <a:r>
              <a:rPr sz="3000" spc="80" dirty="0">
                <a:solidFill>
                  <a:srgbClr val="000000"/>
                </a:solidFill>
              </a:rPr>
              <a:t>status</a:t>
            </a:r>
            <a:r>
              <a:rPr sz="3000" spc="-25" dirty="0">
                <a:solidFill>
                  <a:srgbClr val="000000"/>
                </a:solidFill>
              </a:rPr>
              <a:t> </a:t>
            </a:r>
            <a:r>
              <a:rPr sz="3000" spc="95" dirty="0">
                <a:solidFill>
                  <a:srgbClr val="000000"/>
                </a:solidFill>
              </a:rPr>
              <a:t>is</a:t>
            </a:r>
            <a:r>
              <a:rPr sz="3000" spc="-25" dirty="0">
                <a:solidFill>
                  <a:srgbClr val="000000"/>
                </a:solidFill>
              </a:rPr>
              <a:t> </a:t>
            </a:r>
            <a:r>
              <a:rPr sz="3000" spc="135" dirty="0">
                <a:solidFill>
                  <a:srgbClr val="000000"/>
                </a:solidFill>
              </a:rPr>
              <a:t>running</a:t>
            </a:r>
            <a:r>
              <a:rPr sz="3000" spc="-25" dirty="0">
                <a:solidFill>
                  <a:srgbClr val="000000"/>
                </a:solidFill>
              </a:rPr>
              <a:t> </a:t>
            </a:r>
            <a:r>
              <a:rPr sz="3000" spc="160" dirty="0">
                <a:solidFill>
                  <a:srgbClr val="000000"/>
                </a:solidFill>
              </a:rPr>
              <a:t>and</a:t>
            </a:r>
            <a:r>
              <a:rPr sz="3000" spc="-25" dirty="0">
                <a:solidFill>
                  <a:srgbClr val="000000"/>
                </a:solidFill>
              </a:rPr>
              <a:t> </a:t>
            </a:r>
            <a:r>
              <a:rPr sz="3000" spc="195" dirty="0">
                <a:solidFill>
                  <a:srgbClr val="000000"/>
                </a:solidFill>
              </a:rPr>
              <a:t>cont-</a:t>
            </a:r>
            <a:r>
              <a:rPr sz="3000" spc="180" dirty="0">
                <a:solidFill>
                  <a:srgbClr val="000000"/>
                </a:solidFill>
              </a:rPr>
              <a:t>2</a:t>
            </a:r>
            <a:r>
              <a:rPr sz="3000" spc="-20" dirty="0">
                <a:solidFill>
                  <a:srgbClr val="000000"/>
                </a:solidFill>
              </a:rPr>
              <a:t> </a:t>
            </a:r>
            <a:r>
              <a:rPr sz="3000" spc="80" dirty="0">
                <a:solidFill>
                  <a:srgbClr val="000000"/>
                </a:solidFill>
              </a:rPr>
              <a:t>status</a:t>
            </a:r>
            <a:r>
              <a:rPr sz="3000" spc="-25" dirty="0">
                <a:solidFill>
                  <a:srgbClr val="000000"/>
                </a:solidFill>
              </a:rPr>
              <a:t> </a:t>
            </a:r>
            <a:r>
              <a:rPr sz="3000" spc="95" dirty="0">
                <a:solidFill>
                  <a:srgbClr val="000000"/>
                </a:solidFill>
              </a:rPr>
              <a:t>is</a:t>
            </a:r>
            <a:r>
              <a:rPr sz="3000" spc="-25" dirty="0">
                <a:solidFill>
                  <a:srgbClr val="000000"/>
                </a:solidFill>
              </a:rPr>
              <a:t> </a:t>
            </a:r>
            <a:r>
              <a:rPr sz="3000" spc="114" dirty="0">
                <a:solidFill>
                  <a:srgbClr val="000000"/>
                </a:solidFill>
              </a:rPr>
              <a:t>waiting</a:t>
            </a:r>
            <a:endParaRPr sz="3000"/>
          </a:p>
        </p:txBody>
      </p:sp>
      <p:sp>
        <p:nvSpPr>
          <p:cNvPr id="6" name="object 6"/>
          <p:cNvSpPr txBox="1"/>
          <p:nvPr/>
        </p:nvSpPr>
        <p:spPr>
          <a:xfrm>
            <a:off x="1327467" y="8362936"/>
            <a:ext cx="16080740" cy="1092200"/>
          </a:xfrm>
          <a:prstGeom prst="rect">
            <a:avLst/>
          </a:prstGeom>
        </p:spPr>
        <p:txBody>
          <a:bodyPr vert="horz" wrap="square" lIns="0" tIns="88900" rIns="0" bIns="0" rtlCol="0">
            <a:spAutoFit/>
          </a:bodyPr>
          <a:lstStyle/>
          <a:p>
            <a:pPr marL="12700">
              <a:lnSpc>
                <a:spcPct val="100000"/>
              </a:lnSpc>
              <a:spcBef>
                <a:spcPts val="700"/>
              </a:spcBef>
            </a:pPr>
            <a:r>
              <a:rPr sz="3000" b="1" dirty="0">
                <a:latin typeface="Times New Roman"/>
                <a:cs typeface="Times New Roman"/>
              </a:rPr>
              <a:t>if</a:t>
            </a:r>
            <a:r>
              <a:rPr sz="3000" b="1" spc="-10" dirty="0">
                <a:latin typeface="Times New Roman"/>
                <a:cs typeface="Times New Roman"/>
              </a:rPr>
              <a:t> </a:t>
            </a:r>
            <a:r>
              <a:rPr sz="3000" b="1" spc="310" dirty="0">
                <a:latin typeface="Times New Roman"/>
                <a:cs typeface="Times New Roman"/>
              </a:rPr>
              <a:t>we</a:t>
            </a:r>
            <a:r>
              <a:rPr sz="3000" b="1" spc="-10" dirty="0">
                <a:latin typeface="Times New Roman"/>
                <a:cs typeface="Times New Roman"/>
              </a:rPr>
              <a:t> </a:t>
            </a:r>
            <a:r>
              <a:rPr sz="3000" b="1" spc="130" dirty="0">
                <a:latin typeface="Times New Roman"/>
                <a:cs typeface="Times New Roman"/>
              </a:rPr>
              <a:t>describe</a:t>
            </a:r>
            <a:r>
              <a:rPr sz="3000" b="1" spc="-10" dirty="0">
                <a:latin typeface="Times New Roman"/>
                <a:cs typeface="Times New Roman"/>
              </a:rPr>
              <a:t> </a:t>
            </a:r>
            <a:r>
              <a:rPr sz="3000" b="1" spc="130" dirty="0">
                <a:latin typeface="Times New Roman"/>
                <a:cs typeface="Times New Roman"/>
              </a:rPr>
              <a:t>the</a:t>
            </a:r>
            <a:r>
              <a:rPr sz="3000" b="1" spc="-10" dirty="0">
                <a:latin typeface="Times New Roman"/>
                <a:cs typeface="Times New Roman"/>
              </a:rPr>
              <a:t> </a:t>
            </a:r>
            <a:r>
              <a:rPr sz="3000" b="1" spc="175" dirty="0">
                <a:latin typeface="Times New Roman"/>
                <a:cs typeface="Times New Roman"/>
              </a:rPr>
              <a:t>same</a:t>
            </a:r>
            <a:r>
              <a:rPr sz="3000" b="1" spc="-10" dirty="0">
                <a:latin typeface="Times New Roman"/>
                <a:cs typeface="Times New Roman"/>
              </a:rPr>
              <a:t> </a:t>
            </a:r>
            <a:r>
              <a:rPr sz="3000" b="1" spc="190" dirty="0">
                <a:latin typeface="Times New Roman"/>
                <a:cs typeface="Times New Roman"/>
              </a:rPr>
              <a:t>pod</a:t>
            </a:r>
            <a:r>
              <a:rPr sz="3000" b="1" spc="-10" dirty="0">
                <a:latin typeface="Times New Roman"/>
                <a:cs typeface="Times New Roman"/>
              </a:rPr>
              <a:t> </a:t>
            </a:r>
            <a:r>
              <a:rPr sz="3000" b="1" dirty="0">
                <a:latin typeface="Times New Roman"/>
                <a:cs typeface="Times New Roman"/>
              </a:rPr>
              <a:t>after</a:t>
            </a:r>
            <a:r>
              <a:rPr sz="3000" b="1" spc="-10" dirty="0">
                <a:latin typeface="Times New Roman"/>
                <a:cs typeface="Times New Roman"/>
              </a:rPr>
              <a:t> </a:t>
            </a:r>
            <a:r>
              <a:rPr sz="3000" b="1" spc="-55" dirty="0">
                <a:latin typeface="Times New Roman"/>
                <a:cs typeface="Times New Roman"/>
              </a:rPr>
              <a:t>15</a:t>
            </a:r>
            <a:r>
              <a:rPr sz="3000" b="1" spc="-10" dirty="0">
                <a:latin typeface="Times New Roman"/>
                <a:cs typeface="Times New Roman"/>
              </a:rPr>
              <a:t> </a:t>
            </a:r>
            <a:r>
              <a:rPr sz="3000" b="1" spc="165" dirty="0">
                <a:latin typeface="Times New Roman"/>
                <a:cs typeface="Times New Roman"/>
              </a:rPr>
              <a:t>seconds</a:t>
            </a:r>
            <a:r>
              <a:rPr sz="3000" b="1" spc="-10" dirty="0">
                <a:latin typeface="Times New Roman"/>
                <a:cs typeface="Times New Roman"/>
              </a:rPr>
              <a:t> </a:t>
            </a:r>
            <a:r>
              <a:rPr sz="3000" b="1" spc="150" dirty="0">
                <a:latin typeface="Times New Roman"/>
                <a:cs typeface="Times New Roman"/>
              </a:rPr>
              <a:t>container-</a:t>
            </a:r>
            <a:r>
              <a:rPr sz="3000" b="1" spc="180" dirty="0">
                <a:latin typeface="Times New Roman"/>
                <a:cs typeface="Times New Roman"/>
              </a:rPr>
              <a:t>2</a:t>
            </a:r>
            <a:r>
              <a:rPr sz="3000" b="1" spc="-10" dirty="0">
                <a:latin typeface="Times New Roman"/>
                <a:cs typeface="Times New Roman"/>
              </a:rPr>
              <a:t> </a:t>
            </a:r>
            <a:r>
              <a:rPr sz="3000" b="1" spc="95" dirty="0">
                <a:latin typeface="Times New Roman"/>
                <a:cs typeface="Times New Roman"/>
              </a:rPr>
              <a:t>is</a:t>
            </a:r>
            <a:r>
              <a:rPr sz="3000" b="1" spc="-10" dirty="0">
                <a:latin typeface="Times New Roman"/>
                <a:cs typeface="Times New Roman"/>
              </a:rPr>
              <a:t> </a:t>
            </a:r>
            <a:r>
              <a:rPr sz="3000" b="1" spc="95" dirty="0">
                <a:latin typeface="Times New Roman"/>
                <a:cs typeface="Times New Roman"/>
              </a:rPr>
              <a:t>also</a:t>
            </a:r>
            <a:r>
              <a:rPr sz="3000" b="1" spc="-10" dirty="0">
                <a:latin typeface="Times New Roman"/>
                <a:cs typeface="Times New Roman"/>
              </a:rPr>
              <a:t> </a:t>
            </a:r>
            <a:r>
              <a:rPr sz="3000" b="1" spc="160" dirty="0">
                <a:latin typeface="Times New Roman"/>
                <a:cs typeface="Times New Roman"/>
              </a:rPr>
              <a:t>in</a:t>
            </a:r>
            <a:r>
              <a:rPr sz="3000" b="1" spc="-10" dirty="0">
                <a:latin typeface="Times New Roman"/>
                <a:cs typeface="Times New Roman"/>
              </a:rPr>
              <a:t> </a:t>
            </a:r>
            <a:r>
              <a:rPr sz="3000" b="1" spc="140" dirty="0">
                <a:latin typeface="Times New Roman"/>
                <a:cs typeface="Times New Roman"/>
              </a:rPr>
              <a:t>running</a:t>
            </a:r>
            <a:r>
              <a:rPr sz="3000" b="1" spc="-10" dirty="0">
                <a:latin typeface="Times New Roman"/>
                <a:cs typeface="Times New Roman"/>
              </a:rPr>
              <a:t> </a:t>
            </a:r>
            <a:r>
              <a:rPr sz="3000" b="1" spc="45" dirty="0">
                <a:latin typeface="Times New Roman"/>
                <a:cs typeface="Times New Roman"/>
              </a:rPr>
              <a:t>state.</a:t>
            </a:r>
            <a:endParaRPr sz="3000">
              <a:latin typeface="Times New Roman"/>
              <a:cs typeface="Times New Roman"/>
            </a:endParaRPr>
          </a:p>
          <a:p>
            <a:pPr marL="12700">
              <a:lnSpc>
                <a:spcPct val="100000"/>
              </a:lnSpc>
              <a:spcBef>
                <a:spcPts val="600"/>
              </a:spcBef>
            </a:pPr>
            <a:r>
              <a:rPr sz="3000" b="1" spc="270" dirty="0">
                <a:latin typeface="Times New Roman"/>
                <a:cs typeface="Times New Roman"/>
              </a:rPr>
              <a:t>when</a:t>
            </a:r>
            <a:r>
              <a:rPr sz="3000" b="1" spc="-20"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120" dirty="0">
                <a:latin typeface="Times New Roman"/>
                <a:cs typeface="Times New Roman"/>
              </a:rPr>
              <a:t>container</a:t>
            </a:r>
            <a:r>
              <a:rPr sz="3000" b="1" spc="-20" dirty="0">
                <a:latin typeface="Times New Roman"/>
                <a:cs typeface="Times New Roman"/>
              </a:rPr>
              <a:t> </a:t>
            </a:r>
            <a:r>
              <a:rPr sz="3000" b="1" spc="180" dirty="0">
                <a:latin typeface="Times New Roman"/>
                <a:cs typeface="Times New Roman"/>
              </a:rPr>
              <a:t>2</a:t>
            </a:r>
            <a:r>
              <a:rPr sz="3000" b="1" spc="-20" dirty="0">
                <a:latin typeface="Times New Roman"/>
                <a:cs typeface="Times New Roman"/>
              </a:rPr>
              <a:t> </a:t>
            </a:r>
            <a:r>
              <a:rPr sz="3000" b="1" spc="95" dirty="0">
                <a:latin typeface="Times New Roman"/>
                <a:cs typeface="Times New Roman"/>
              </a:rPr>
              <a:t>is</a:t>
            </a:r>
            <a:r>
              <a:rPr sz="3000" b="1" spc="-20" dirty="0">
                <a:latin typeface="Times New Roman"/>
                <a:cs typeface="Times New Roman"/>
              </a:rPr>
              <a:t> </a:t>
            </a:r>
            <a:r>
              <a:rPr sz="3000" b="1" spc="135" dirty="0">
                <a:latin typeface="Times New Roman"/>
                <a:cs typeface="Times New Roman"/>
              </a:rPr>
              <a:t>running</a:t>
            </a:r>
            <a:r>
              <a:rPr sz="3000" b="1" spc="-20" dirty="0">
                <a:latin typeface="Times New Roman"/>
                <a:cs typeface="Times New Roman"/>
              </a:rPr>
              <a:t> </a:t>
            </a:r>
            <a:r>
              <a:rPr sz="3000" b="1" spc="125" dirty="0">
                <a:latin typeface="Times New Roman"/>
                <a:cs typeface="Times New Roman"/>
              </a:rPr>
              <a:t>check</a:t>
            </a:r>
            <a:r>
              <a:rPr sz="3000" b="1" spc="-15"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75" dirty="0">
                <a:latin typeface="Times New Roman"/>
                <a:cs typeface="Times New Roman"/>
              </a:rPr>
              <a:t>logs</a:t>
            </a:r>
            <a:r>
              <a:rPr sz="3000" b="1" spc="-20" dirty="0">
                <a:latin typeface="Times New Roman"/>
                <a:cs typeface="Times New Roman"/>
              </a:rPr>
              <a:t> </a:t>
            </a:r>
            <a:r>
              <a:rPr sz="3000" b="1" spc="90" dirty="0">
                <a:latin typeface="Times New Roman"/>
                <a:cs typeface="Times New Roman"/>
              </a:rPr>
              <a:t>of</a:t>
            </a:r>
            <a:r>
              <a:rPr sz="3000" b="1" spc="-20" dirty="0">
                <a:latin typeface="Times New Roman"/>
                <a:cs typeface="Times New Roman"/>
              </a:rPr>
              <a:t> </a:t>
            </a:r>
            <a:r>
              <a:rPr sz="3000" b="1" spc="130" dirty="0">
                <a:latin typeface="Times New Roman"/>
                <a:cs typeface="Times New Roman"/>
              </a:rPr>
              <a:t>the</a:t>
            </a:r>
            <a:r>
              <a:rPr sz="3000" b="1" spc="-20" dirty="0">
                <a:latin typeface="Times New Roman"/>
                <a:cs typeface="Times New Roman"/>
              </a:rPr>
              <a:t> </a:t>
            </a:r>
            <a:r>
              <a:rPr sz="3000" b="1" spc="190" dirty="0">
                <a:latin typeface="Times New Roman"/>
                <a:cs typeface="Times New Roman"/>
              </a:rPr>
              <a:t>pod</a:t>
            </a:r>
            <a:r>
              <a:rPr sz="3000" b="1" spc="-20" dirty="0">
                <a:latin typeface="Times New Roman"/>
                <a:cs typeface="Times New Roman"/>
              </a:rPr>
              <a:t> </a:t>
            </a:r>
            <a:r>
              <a:rPr sz="3000" b="1" spc="-240" dirty="0">
                <a:latin typeface="Times New Roman"/>
                <a:cs typeface="Times New Roman"/>
              </a:rPr>
              <a:t>:</a:t>
            </a:r>
            <a:r>
              <a:rPr sz="3000" b="1" spc="-20" dirty="0">
                <a:latin typeface="Times New Roman"/>
                <a:cs typeface="Times New Roman"/>
              </a:rPr>
              <a:t> </a:t>
            </a:r>
            <a:r>
              <a:rPr sz="3000" b="1" spc="100" dirty="0">
                <a:solidFill>
                  <a:srgbClr val="E7181F"/>
                </a:solidFill>
                <a:latin typeface="Times New Roman"/>
                <a:cs typeface="Times New Roman"/>
              </a:rPr>
              <a:t>kubectl</a:t>
            </a:r>
            <a:r>
              <a:rPr sz="3000" b="1" spc="-15" dirty="0">
                <a:solidFill>
                  <a:srgbClr val="E7181F"/>
                </a:solidFill>
                <a:latin typeface="Times New Roman"/>
                <a:cs typeface="Times New Roman"/>
              </a:rPr>
              <a:t> </a:t>
            </a:r>
            <a:r>
              <a:rPr sz="3000" b="1" spc="75" dirty="0">
                <a:solidFill>
                  <a:srgbClr val="E7181F"/>
                </a:solidFill>
                <a:latin typeface="Times New Roman"/>
                <a:cs typeface="Times New Roman"/>
              </a:rPr>
              <a:t>logs</a:t>
            </a:r>
            <a:r>
              <a:rPr sz="3000" b="1" spc="-20" dirty="0">
                <a:solidFill>
                  <a:srgbClr val="E7181F"/>
                </a:solidFill>
                <a:latin typeface="Times New Roman"/>
                <a:cs typeface="Times New Roman"/>
              </a:rPr>
              <a:t> </a:t>
            </a:r>
            <a:r>
              <a:rPr sz="3000" b="1" spc="400" dirty="0">
                <a:solidFill>
                  <a:srgbClr val="E7181F"/>
                </a:solidFill>
                <a:latin typeface="Times New Roman"/>
                <a:cs typeface="Times New Roman"/>
              </a:rPr>
              <a:t>-</a:t>
            </a:r>
            <a:r>
              <a:rPr sz="3000" b="1" dirty="0">
                <a:solidFill>
                  <a:srgbClr val="E7181F"/>
                </a:solidFill>
                <a:latin typeface="Times New Roman"/>
                <a:cs typeface="Times New Roman"/>
              </a:rPr>
              <a:t>f</a:t>
            </a:r>
            <a:r>
              <a:rPr sz="3000" b="1" spc="-20" dirty="0">
                <a:solidFill>
                  <a:srgbClr val="E7181F"/>
                </a:solidFill>
                <a:latin typeface="Times New Roman"/>
                <a:cs typeface="Times New Roman"/>
              </a:rPr>
              <a:t> </a:t>
            </a:r>
            <a:r>
              <a:rPr sz="3000" b="1" spc="145" dirty="0">
                <a:solidFill>
                  <a:srgbClr val="E7181F"/>
                </a:solidFill>
                <a:latin typeface="Times New Roman"/>
                <a:cs typeface="Times New Roman"/>
              </a:rPr>
              <a:t>pod/initcontainer</a:t>
            </a:r>
            <a:endParaRPr sz="3000">
              <a:latin typeface="Times New Roman"/>
              <a:cs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8751" y="418796"/>
            <a:ext cx="5810885" cy="787400"/>
          </a:xfrm>
          <a:prstGeom prst="rect">
            <a:avLst/>
          </a:prstGeom>
        </p:spPr>
        <p:txBody>
          <a:bodyPr vert="horz" wrap="square" lIns="0" tIns="12700" rIns="0" bIns="0" rtlCol="0">
            <a:spAutoFit/>
          </a:bodyPr>
          <a:lstStyle/>
          <a:p>
            <a:pPr marL="12700">
              <a:lnSpc>
                <a:spcPct val="100000"/>
              </a:lnSpc>
              <a:spcBef>
                <a:spcPts val="100"/>
              </a:spcBef>
            </a:pPr>
            <a:r>
              <a:rPr spc="-260" dirty="0">
                <a:solidFill>
                  <a:srgbClr val="FF3131"/>
                </a:solidFill>
              </a:rPr>
              <a:t>KUBERNETES</a:t>
            </a:r>
            <a:r>
              <a:rPr spc="-35" dirty="0">
                <a:solidFill>
                  <a:srgbClr val="FF3131"/>
                </a:solidFill>
              </a:rPr>
              <a:t> </a:t>
            </a:r>
            <a:r>
              <a:rPr spc="-350" dirty="0">
                <a:solidFill>
                  <a:srgbClr val="FF3131"/>
                </a:solidFill>
              </a:rPr>
              <a:t>JOBS:</a:t>
            </a:r>
          </a:p>
        </p:txBody>
      </p:sp>
      <p:pic>
        <p:nvPicPr>
          <p:cNvPr id="3" name="object 3"/>
          <p:cNvPicPr/>
          <p:nvPr/>
        </p:nvPicPr>
        <p:blipFill>
          <a:blip r:embed="rId2" cstate="print"/>
          <a:stretch>
            <a:fillRect/>
          </a:stretch>
        </p:blipFill>
        <p:spPr>
          <a:xfrm>
            <a:off x="1044078" y="3733518"/>
            <a:ext cx="133349" cy="133349"/>
          </a:xfrm>
          <a:prstGeom prst="rect">
            <a:avLst/>
          </a:prstGeom>
        </p:spPr>
      </p:pic>
      <p:pic>
        <p:nvPicPr>
          <p:cNvPr id="4" name="object 4"/>
          <p:cNvPicPr/>
          <p:nvPr/>
        </p:nvPicPr>
        <p:blipFill>
          <a:blip r:embed="rId3" cstate="print"/>
          <a:stretch>
            <a:fillRect/>
          </a:stretch>
        </p:blipFill>
        <p:spPr>
          <a:xfrm>
            <a:off x="1044078" y="4333593"/>
            <a:ext cx="133349" cy="133349"/>
          </a:xfrm>
          <a:prstGeom prst="rect">
            <a:avLst/>
          </a:prstGeom>
        </p:spPr>
      </p:pic>
      <p:pic>
        <p:nvPicPr>
          <p:cNvPr id="5" name="object 5"/>
          <p:cNvPicPr/>
          <p:nvPr/>
        </p:nvPicPr>
        <p:blipFill>
          <a:blip r:embed="rId2" cstate="print"/>
          <a:stretch>
            <a:fillRect/>
          </a:stretch>
        </p:blipFill>
        <p:spPr>
          <a:xfrm>
            <a:off x="1044078" y="4933668"/>
            <a:ext cx="133349" cy="133349"/>
          </a:xfrm>
          <a:prstGeom prst="rect">
            <a:avLst/>
          </a:prstGeom>
        </p:spPr>
      </p:pic>
      <p:pic>
        <p:nvPicPr>
          <p:cNvPr id="6" name="object 6"/>
          <p:cNvPicPr/>
          <p:nvPr/>
        </p:nvPicPr>
        <p:blipFill>
          <a:blip r:embed="rId3" cstate="print"/>
          <a:stretch>
            <a:fillRect/>
          </a:stretch>
        </p:blipFill>
        <p:spPr>
          <a:xfrm>
            <a:off x="1044078" y="5533743"/>
            <a:ext cx="133349" cy="133349"/>
          </a:xfrm>
          <a:prstGeom prst="rect">
            <a:avLst/>
          </a:prstGeom>
        </p:spPr>
      </p:pic>
      <p:pic>
        <p:nvPicPr>
          <p:cNvPr id="7" name="object 7"/>
          <p:cNvPicPr/>
          <p:nvPr/>
        </p:nvPicPr>
        <p:blipFill>
          <a:blip r:embed="rId4" cstate="print"/>
          <a:stretch>
            <a:fillRect/>
          </a:stretch>
        </p:blipFill>
        <p:spPr>
          <a:xfrm>
            <a:off x="1007403" y="7310942"/>
            <a:ext cx="123824" cy="123824"/>
          </a:xfrm>
          <a:prstGeom prst="rect">
            <a:avLst/>
          </a:prstGeom>
        </p:spPr>
      </p:pic>
      <p:pic>
        <p:nvPicPr>
          <p:cNvPr id="8" name="object 8"/>
          <p:cNvPicPr/>
          <p:nvPr/>
        </p:nvPicPr>
        <p:blipFill>
          <a:blip r:embed="rId4" cstate="print"/>
          <a:stretch>
            <a:fillRect/>
          </a:stretch>
        </p:blipFill>
        <p:spPr>
          <a:xfrm>
            <a:off x="1007403" y="8492042"/>
            <a:ext cx="123824" cy="123824"/>
          </a:xfrm>
          <a:prstGeom prst="rect">
            <a:avLst/>
          </a:prstGeom>
        </p:spPr>
      </p:pic>
      <p:pic>
        <p:nvPicPr>
          <p:cNvPr id="9" name="object 9"/>
          <p:cNvPicPr/>
          <p:nvPr/>
        </p:nvPicPr>
        <p:blipFill>
          <a:blip r:embed="rId4" cstate="print"/>
          <a:stretch>
            <a:fillRect/>
          </a:stretch>
        </p:blipFill>
        <p:spPr>
          <a:xfrm>
            <a:off x="1007403" y="9082592"/>
            <a:ext cx="123824" cy="123824"/>
          </a:xfrm>
          <a:prstGeom prst="rect">
            <a:avLst/>
          </a:prstGeom>
        </p:spPr>
      </p:pic>
      <p:pic>
        <p:nvPicPr>
          <p:cNvPr id="10" name="object 10"/>
          <p:cNvPicPr/>
          <p:nvPr/>
        </p:nvPicPr>
        <p:blipFill>
          <a:blip r:embed="rId4" cstate="print"/>
          <a:stretch>
            <a:fillRect/>
          </a:stretch>
        </p:blipFill>
        <p:spPr>
          <a:xfrm>
            <a:off x="1007403" y="9673142"/>
            <a:ext cx="123824" cy="123824"/>
          </a:xfrm>
          <a:prstGeom prst="rect">
            <a:avLst/>
          </a:prstGeom>
        </p:spPr>
      </p:pic>
      <p:sp>
        <p:nvSpPr>
          <p:cNvPr id="11" name="object 11"/>
          <p:cNvSpPr txBox="1"/>
          <p:nvPr/>
        </p:nvSpPr>
        <p:spPr>
          <a:xfrm>
            <a:off x="528751" y="1255562"/>
            <a:ext cx="17577435" cy="8705850"/>
          </a:xfrm>
          <a:prstGeom prst="rect">
            <a:avLst/>
          </a:prstGeom>
        </p:spPr>
        <p:txBody>
          <a:bodyPr vert="horz" wrap="square" lIns="0" tIns="12700" rIns="0" bIns="0" rtlCol="0">
            <a:spAutoFit/>
          </a:bodyPr>
          <a:lstStyle/>
          <a:p>
            <a:pPr marL="105410" marR="5080">
              <a:lnSpc>
                <a:spcPct val="115500"/>
              </a:lnSpc>
              <a:spcBef>
                <a:spcPts val="100"/>
              </a:spcBef>
            </a:pPr>
            <a:r>
              <a:rPr sz="3300" dirty="0">
                <a:solidFill>
                  <a:srgbClr val="2E377E"/>
                </a:solidFill>
                <a:latin typeface="Georgia"/>
                <a:cs typeface="Georgia"/>
              </a:rPr>
              <a:t>It</a:t>
            </a:r>
            <a:r>
              <a:rPr sz="3300" spc="30" dirty="0">
                <a:solidFill>
                  <a:srgbClr val="2E377E"/>
                </a:solidFill>
                <a:latin typeface="Georgia"/>
                <a:cs typeface="Georgia"/>
              </a:rPr>
              <a:t> </a:t>
            </a:r>
            <a:r>
              <a:rPr sz="3300" dirty="0">
                <a:solidFill>
                  <a:srgbClr val="2E377E"/>
                </a:solidFill>
                <a:latin typeface="Georgia"/>
                <a:cs typeface="Georgia"/>
              </a:rPr>
              <a:t>is</a:t>
            </a:r>
            <a:r>
              <a:rPr sz="3300" spc="35" dirty="0">
                <a:solidFill>
                  <a:srgbClr val="2E377E"/>
                </a:solidFill>
                <a:latin typeface="Georgia"/>
                <a:cs typeface="Georgia"/>
              </a:rPr>
              <a:t> </a:t>
            </a:r>
            <a:r>
              <a:rPr sz="3300" dirty="0">
                <a:solidFill>
                  <a:srgbClr val="2E377E"/>
                </a:solidFill>
                <a:latin typeface="Georgia"/>
                <a:cs typeface="Georgia"/>
              </a:rPr>
              <a:t>a</a:t>
            </a:r>
            <a:r>
              <a:rPr sz="3300" spc="30" dirty="0">
                <a:solidFill>
                  <a:srgbClr val="2E377E"/>
                </a:solidFill>
                <a:latin typeface="Georgia"/>
                <a:cs typeface="Georgia"/>
              </a:rPr>
              <a:t> </a:t>
            </a:r>
            <a:r>
              <a:rPr sz="3300" dirty="0">
                <a:solidFill>
                  <a:srgbClr val="2E377E"/>
                </a:solidFill>
                <a:latin typeface="Georgia"/>
                <a:cs typeface="Georgia"/>
              </a:rPr>
              <a:t>resource</a:t>
            </a:r>
            <a:r>
              <a:rPr sz="3300" spc="35" dirty="0">
                <a:solidFill>
                  <a:srgbClr val="2E377E"/>
                </a:solidFill>
                <a:latin typeface="Georgia"/>
                <a:cs typeface="Georgia"/>
              </a:rPr>
              <a:t> </a:t>
            </a:r>
            <a:r>
              <a:rPr sz="3300" dirty="0">
                <a:solidFill>
                  <a:srgbClr val="2E377E"/>
                </a:solidFill>
                <a:latin typeface="Georgia"/>
                <a:cs typeface="Georgia"/>
              </a:rPr>
              <a:t>that</a:t>
            </a:r>
            <a:r>
              <a:rPr sz="3300" spc="30" dirty="0">
                <a:solidFill>
                  <a:srgbClr val="2E377E"/>
                </a:solidFill>
                <a:latin typeface="Georgia"/>
                <a:cs typeface="Georgia"/>
              </a:rPr>
              <a:t> </a:t>
            </a:r>
            <a:r>
              <a:rPr sz="3300" dirty="0">
                <a:solidFill>
                  <a:srgbClr val="2E377E"/>
                </a:solidFill>
                <a:latin typeface="Georgia"/>
                <a:cs typeface="Georgia"/>
              </a:rPr>
              <a:t>is</a:t>
            </a:r>
            <a:r>
              <a:rPr sz="3300" spc="35" dirty="0">
                <a:solidFill>
                  <a:srgbClr val="2E377E"/>
                </a:solidFill>
                <a:latin typeface="Georgia"/>
                <a:cs typeface="Georgia"/>
              </a:rPr>
              <a:t> </a:t>
            </a:r>
            <a:r>
              <a:rPr sz="3300" dirty="0">
                <a:solidFill>
                  <a:srgbClr val="2E377E"/>
                </a:solidFill>
                <a:latin typeface="Georgia"/>
                <a:cs typeface="Georgia"/>
              </a:rPr>
              <a:t>used</a:t>
            </a:r>
            <a:r>
              <a:rPr sz="3300" spc="30" dirty="0">
                <a:solidFill>
                  <a:srgbClr val="2E377E"/>
                </a:solidFill>
                <a:latin typeface="Georgia"/>
                <a:cs typeface="Georgia"/>
              </a:rPr>
              <a:t> </a:t>
            </a:r>
            <a:r>
              <a:rPr sz="3300" spc="60" dirty="0">
                <a:solidFill>
                  <a:srgbClr val="2E377E"/>
                </a:solidFill>
                <a:latin typeface="Georgia"/>
                <a:cs typeface="Georgia"/>
              </a:rPr>
              <a:t>to</a:t>
            </a:r>
            <a:r>
              <a:rPr sz="3300" spc="30" dirty="0">
                <a:solidFill>
                  <a:srgbClr val="2E377E"/>
                </a:solidFill>
                <a:latin typeface="Georgia"/>
                <a:cs typeface="Georgia"/>
              </a:rPr>
              <a:t> </a:t>
            </a:r>
            <a:r>
              <a:rPr sz="3300" spc="45" dirty="0">
                <a:solidFill>
                  <a:srgbClr val="2E377E"/>
                </a:solidFill>
                <a:latin typeface="Georgia"/>
                <a:cs typeface="Georgia"/>
              </a:rPr>
              <a:t>achieve</a:t>
            </a:r>
            <a:r>
              <a:rPr sz="3300" spc="35" dirty="0">
                <a:solidFill>
                  <a:srgbClr val="2E377E"/>
                </a:solidFill>
                <a:latin typeface="Georgia"/>
                <a:cs typeface="Georgia"/>
              </a:rPr>
              <a:t> </a:t>
            </a:r>
            <a:r>
              <a:rPr sz="3300" dirty="0">
                <a:solidFill>
                  <a:srgbClr val="2E377E"/>
                </a:solidFill>
                <a:latin typeface="Georgia"/>
                <a:cs typeface="Georgia"/>
              </a:rPr>
              <a:t>a</a:t>
            </a:r>
            <a:r>
              <a:rPr sz="3300" spc="30" dirty="0">
                <a:solidFill>
                  <a:srgbClr val="2E377E"/>
                </a:solidFill>
                <a:latin typeface="Georgia"/>
                <a:cs typeface="Georgia"/>
              </a:rPr>
              <a:t> </a:t>
            </a:r>
            <a:r>
              <a:rPr sz="3300" dirty="0">
                <a:solidFill>
                  <a:srgbClr val="2E377E"/>
                </a:solidFill>
                <a:latin typeface="Georgia"/>
                <a:cs typeface="Georgia"/>
              </a:rPr>
              <a:t>particular</a:t>
            </a:r>
            <a:r>
              <a:rPr sz="3300" spc="35" dirty="0">
                <a:solidFill>
                  <a:srgbClr val="2E377E"/>
                </a:solidFill>
                <a:latin typeface="Georgia"/>
                <a:cs typeface="Georgia"/>
              </a:rPr>
              <a:t> </a:t>
            </a:r>
            <a:r>
              <a:rPr sz="3300" spc="85" dirty="0">
                <a:solidFill>
                  <a:srgbClr val="2E377E"/>
                </a:solidFill>
                <a:latin typeface="Georgia"/>
                <a:cs typeface="Georgia"/>
              </a:rPr>
              <a:t>work</a:t>
            </a:r>
            <a:r>
              <a:rPr sz="3300" spc="30" dirty="0">
                <a:solidFill>
                  <a:srgbClr val="2E377E"/>
                </a:solidFill>
                <a:latin typeface="Georgia"/>
                <a:cs typeface="Georgia"/>
              </a:rPr>
              <a:t> </a:t>
            </a:r>
            <a:r>
              <a:rPr sz="3300" dirty="0">
                <a:solidFill>
                  <a:srgbClr val="2E377E"/>
                </a:solidFill>
                <a:latin typeface="Georgia"/>
                <a:cs typeface="Georgia"/>
              </a:rPr>
              <a:t>like</a:t>
            </a:r>
            <a:r>
              <a:rPr sz="3300" spc="35" dirty="0">
                <a:solidFill>
                  <a:srgbClr val="2E377E"/>
                </a:solidFill>
                <a:latin typeface="Georgia"/>
                <a:cs typeface="Georgia"/>
              </a:rPr>
              <a:t> </a:t>
            </a:r>
            <a:r>
              <a:rPr sz="3300" dirty="0">
                <a:solidFill>
                  <a:srgbClr val="2E377E"/>
                </a:solidFill>
                <a:latin typeface="Georgia"/>
                <a:cs typeface="Georgia"/>
              </a:rPr>
              <a:t>backup</a:t>
            </a:r>
            <a:r>
              <a:rPr sz="3300" spc="30" dirty="0">
                <a:solidFill>
                  <a:srgbClr val="2E377E"/>
                </a:solidFill>
                <a:latin typeface="Georgia"/>
                <a:cs typeface="Georgia"/>
              </a:rPr>
              <a:t> </a:t>
            </a:r>
            <a:r>
              <a:rPr sz="3300" dirty="0">
                <a:solidFill>
                  <a:srgbClr val="2E377E"/>
                </a:solidFill>
                <a:latin typeface="Georgia"/>
                <a:cs typeface="Georgia"/>
              </a:rPr>
              <a:t>script</a:t>
            </a:r>
            <a:r>
              <a:rPr sz="3300" spc="35" dirty="0">
                <a:solidFill>
                  <a:srgbClr val="2E377E"/>
                </a:solidFill>
                <a:latin typeface="Georgia"/>
                <a:cs typeface="Georgia"/>
              </a:rPr>
              <a:t> </a:t>
            </a:r>
            <a:r>
              <a:rPr sz="3300" dirty="0">
                <a:solidFill>
                  <a:srgbClr val="2E377E"/>
                </a:solidFill>
                <a:latin typeface="Georgia"/>
                <a:cs typeface="Georgia"/>
              </a:rPr>
              <a:t>and,</a:t>
            </a:r>
            <a:r>
              <a:rPr sz="3300" spc="30" dirty="0">
                <a:solidFill>
                  <a:srgbClr val="2E377E"/>
                </a:solidFill>
                <a:latin typeface="Georgia"/>
                <a:cs typeface="Georgia"/>
              </a:rPr>
              <a:t> </a:t>
            </a:r>
            <a:r>
              <a:rPr sz="3300" dirty="0">
                <a:solidFill>
                  <a:srgbClr val="2E377E"/>
                </a:solidFill>
                <a:latin typeface="Georgia"/>
                <a:cs typeface="Georgia"/>
              </a:rPr>
              <a:t>once</a:t>
            </a:r>
            <a:r>
              <a:rPr sz="3300" spc="35" dirty="0">
                <a:solidFill>
                  <a:srgbClr val="2E377E"/>
                </a:solidFill>
                <a:latin typeface="Georgia"/>
                <a:cs typeface="Georgia"/>
              </a:rPr>
              <a:t> </a:t>
            </a:r>
            <a:r>
              <a:rPr sz="3300" spc="50" dirty="0">
                <a:solidFill>
                  <a:srgbClr val="2E377E"/>
                </a:solidFill>
                <a:latin typeface="Georgia"/>
                <a:cs typeface="Georgia"/>
              </a:rPr>
              <a:t>the</a:t>
            </a:r>
            <a:r>
              <a:rPr sz="3300" spc="30" dirty="0">
                <a:solidFill>
                  <a:srgbClr val="2E377E"/>
                </a:solidFill>
                <a:latin typeface="Georgia"/>
                <a:cs typeface="Georgia"/>
              </a:rPr>
              <a:t> </a:t>
            </a:r>
            <a:r>
              <a:rPr sz="3300" spc="65" dirty="0">
                <a:solidFill>
                  <a:srgbClr val="2E377E"/>
                </a:solidFill>
                <a:latin typeface="Georgia"/>
                <a:cs typeface="Georgia"/>
              </a:rPr>
              <a:t>work </a:t>
            </a:r>
            <a:r>
              <a:rPr sz="3300" dirty="0">
                <a:solidFill>
                  <a:srgbClr val="2E377E"/>
                </a:solidFill>
                <a:latin typeface="Georgia"/>
                <a:cs typeface="Georgia"/>
              </a:rPr>
              <a:t>is</a:t>
            </a:r>
            <a:r>
              <a:rPr sz="3300" spc="45" dirty="0">
                <a:solidFill>
                  <a:srgbClr val="2E377E"/>
                </a:solidFill>
                <a:latin typeface="Georgia"/>
                <a:cs typeface="Georgia"/>
              </a:rPr>
              <a:t> </a:t>
            </a:r>
            <a:r>
              <a:rPr sz="3300" dirty="0">
                <a:solidFill>
                  <a:srgbClr val="2E377E"/>
                </a:solidFill>
                <a:latin typeface="Georgia"/>
                <a:cs typeface="Georgia"/>
              </a:rPr>
              <a:t>completed</a:t>
            </a:r>
            <a:r>
              <a:rPr sz="3300" spc="45" dirty="0">
                <a:solidFill>
                  <a:srgbClr val="2E377E"/>
                </a:solidFill>
                <a:latin typeface="Georgia"/>
                <a:cs typeface="Georgia"/>
              </a:rPr>
              <a:t> </a:t>
            </a:r>
            <a:r>
              <a:rPr sz="3300" spc="50" dirty="0">
                <a:solidFill>
                  <a:srgbClr val="2E377E"/>
                </a:solidFill>
                <a:latin typeface="Georgia"/>
                <a:cs typeface="Georgia"/>
              </a:rPr>
              <a:t>the</a:t>
            </a:r>
            <a:r>
              <a:rPr sz="3300" spc="45" dirty="0">
                <a:solidFill>
                  <a:srgbClr val="2E377E"/>
                </a:solidFill>
                <a:latin typeface="Georgia"/>
                <a:cs typeface="Georgia"/>
              </a:rPr>
              <a:t> </a:t>
            </a:r>
            <a:r>
              <a:rPr sz="3300" dirty="0">
                <a:solidFill>
                  <a:srgbClr val="2E377E"/>
                </a:solidFill>
                <a:latin typeface="Georgia"/>
                <a:cs typeface="Georgia"/>
              </a:rPr>
              <a:t>pod</a:t>
            </a:r>
            <a:r>
              <a:rPr sz="3300" spc="45" dirty="0">
                <a:solidFill>
                  <a:srgbClr val="2E377E"/>
                </a:solidFill>
                <a:latin typeface="Georgia"/>
                <a:cs typeface="Georgia"/>
              </a:rPr>
              <a:t> </a:t>
            </a:r>
            <a:r>
              <a:rPr sz="3300" dirty="0">
                <a:solidFill>
                  <a:srgbClr val="2E377E"/>
                </a:solidFill>
                <a:latin typeface="Georgia"/>
                <a:cs typeface="Georgia"/>
              </a:rPr>
              <a:t>will</a:t>
            </a:r>
            <a:r>
              <a:rPr sz="3300" spc="45" dirty="0">
                <a:solidFill>
                  <a:srgbClr val="2E377E"/>
                </a:solidFill>
                <a:latin typeface="Georgia"/>
                <a:cs typeface="Georgia"/>
              </a:rPr>
              <a:t> </a:t>
            </a:r>
            <a:r>
              <a:rPr sz="3300" dirty="0">
                <a:solidFill>
                  <a:srgbClr val="2E377E"/>
                </a:solidFill>
                <a:latin typeface="Georgia"/>
                <a:cs typeface="Georgia"/>
              </a:rPr>
              <a:t>be</a:t>
            </a:r>
            <a:r>
              <a:rPr sz="3300" spc="45" dirty="0">
                <a:solidFill>
                  <a:srgbClr val="2E377E"/>
                </a:solidFill>
                <a:latin typeface="Georgia"/>
                <a:cs typeface="Georgia"/>
              </a:rPr>
              <a:t> </a:t>
            </a:r>
            <a:r>
              <a:rPr sz="3300" spc="-10" dirty="0">
                <a:solidFill>
                  <a:srgbClr val="2E377E"/>
                </a:solidFill>
                <a:latin typeface="Georgia"/>
                <a:cs typeface="Georgia"/>
              </a:rPr>
              <a:t>deleted.</a:t>
            </a:r>
            <a:endParaRPr sz="3300">
              <a:latin typeface="Georgia"/>
              <a:cs typeface="Georgia"/>
            </a:endParaRPr>
          </a:p>
          <a:p>
            <a:pPr marL="12700">
              <a:lnSpc>
                <a:spcPct val="100000"/>
              </a:lnSpc>
              <a:spcBef>
                <a:spcPts val="3604"/>
              </a:spcBef>
            </a:pPr>
            <a:r>
              <a:rPr sz="3500" b="1" spc="125" dirty="0">
                <a:solidFill>
                  <a:srgbClr val="FF3131"/>
                </a:solidFill>
                <a:latin typeface="Times New Roman"/>
                <a:cs typeface="Times New Roman"/>
              </a:rPr>
              <a:t>Use</a:t>
            </a:r>
            <a:r>
              <a:rPr sz="3500" b="1" spc="-30" dirty="0">
                <a:solidFill>
                  <a:srgbClr val="FF3131"/>
                </a:solidFill>
                <a:latin typeface="Times New Roman"/>
                <a:cs typeface="Times New Roman"/>
              </a:rPr>
              <a:t> </a:t>
            </a:r>
            <a:r>
              <a:rPr sz="3500" b="1" spc="65" dirty="0">
                <a:solidFill>
                  <a:srgbClr val="FF3131"/>
                </a:solidFill>
                <a:latin typeface="Times New Roman"/>
                <a:cs typeface="Times New Roman"/>
              </a:rPr>
              <a:t>cases:</a:t>
            </a:r>
            <a:endParaRPr sz="3500">
              <a:latin typeface="Times New Roman"/>
              <a:cs typeface="Times New Roman"/>
            </a:endParaRPr>
          </a:p>
          <a:p>
            <a:pPr marL="839469" marR="9740265">
              <a:lnSpc>
                <a:spcPts val="4730"/>
              </a:lnSpc>
              <a:spcBef>
                <a:spcPts val="170"/>
              </a:spcBef>
            </a:pPr>
            <a:r>
              <a:rPr sz="3400" dirty="0">
                <a:solidFill>
                  <a:srgbClr val="2E377E"/>
                </a:solidFill>
                <a:latin typeface="Georgia"/>
                <a:cs typeface="Georgia"/>
              </a:rPr>
              <a:t>Database</a:t>
            </a:r>
            <a:r>
              <a:rPr sz="3400" spc="10" dirty="0">
                <a:solidFill>
                  <a:srgbClr val="2E377E"/>
                </a:solidFill>
                <a:latin typeface="Georgia"/>
                <a:cs typeface="Georgia"/>
              </a:rPr>
              <a:t> </a:t>
            </a:r>
            <a:r>
              <a:rPr sz="3400" dirty="0">
                <a:solidFill>
                  <a:srgbClr val="2E377E"/>
                </a:solidFill>
                <a:latin typeface="Georgia"/>
                <a:cs typeface="Georgia"/>
              </a:rPr>
              <a:t>backup</a:t>
            </a:r>
            <a:r>
              <a:rPr sz="3400" spc="15" dirty="0">
                <a:solidFill>
                  <a:srgbClr val="2E377E"/>
                </a:solidFill>
                <a:latin typeface="Georgia"/>
                <a:cs typeface="Georgia"/>
              </a:rPr>
              <a:t> </a:t>
            </a:r>
            <a:r>
              <a:rPr sz="3400" dirty="0">
                <a:solidFill>
                  <a:srgbClr val="2E377E"/>
                </a:solidFill>
                <a:latin typeface="Georgia"/>
                <a:cs typeface="Georgia"/>
              </a:rPr>
              <a:t>script</a:t>
            </a:r>
            <a:r>
              <a:rPr sz="3400" spc="15" dirty="0">
                <a:solidFill>
                  <a:srgbClr val="2E377E"/>
                </a:solidFill>
                <a:latin typeface="Georgia"/>
                <a:cs typeface="Georgia"/>
              </a:rPr>
              <a:t> </a:t>
            </a:r>
            <a:r>
              <a:rPr sz="3400" dirty="0">
                <a:solidFill>
                  <a:srgbClr val="2E377E"/>
                </a:solidFill>
                <a:latin typeface="Georgia"/>
                <a:cs typeface="Georgia"/>
              </a:rPr>
              <a:t>needs</a:t>
            </a:r>
            <a:r>
              <a:rPr sz="3400" spc="10" dirty="0">
                <a:solidFill>
                  <a:srgbClr val="2E377E"/>
                </a:solidFill>
                <a:latin typeface="Georgia"/>
                <a:cs typeface="Georgia"/>
              </a:rPr>
              <a:t> </a:t>
            </a:r>
            <a:r>
              <a:rPr sz="3400" spc="50" dirty="0">
                <a:solidFill>
                  <a:srgbClr val="2E377E"/>
                </a:solidFill>
                <a:latin typeface="Georgia"/>
                <a:cs typeface="Georgia"/>
              </a:rPr>
              <a:t>to</a:t>
            </a:r>
            <a:r>
              <a:rPr sz="3400" spc="15" dirty="0">
                <a:solidFill>
                  <a:srgbClr val="2E377E"/>
                </a:solidFill>
                <a:latin typeface="Georgia"/>
                <a:cs typeface="Georgia"/>
              </a:rPr>
              <a:t> </a:t>
            </a:r>
            <a:r>
              <a:rPr sz="3400" spc="-25" dirty="0">
                <a:solidFill>
                  <a:srgbClr val="2E377E"/>
                </a:solidFill>
                <a:latin typeface="Georgia"/>
                <a:cs typeface="Georgia"/>
              </a:rPr>
              <a:t>run </a:t>
            </a:r>
            <a:r>
              <a:rPr sz="3400" dirty="0">
                <a:solidFill>
                  <a:srgbClr val="2E377E"/>
                </a:solidFill>
                <a:latin typeface="Georgia"/>
                <a:cs typeface="Georgia"/>
              </a:rPr>
              <a:t>Running</a:t>
            </a:r>
            <a:r>
              <a:rPr sz="3400" spc="-60" dirty="0">
                <a:solidFill>
                  <a:srgbClr val="2E377E"/>
                </a:solidFill>
                <a:latin typeface="Georgia"/>
                <a:cs typeface="Georgia"/>
              </a:rPr>
              <a:t> </a:t>
            </a:r>
            <a:r>
              <a:rPr sz="3400" dirty="0">
                <a:solidFill>
                  <a:srgbClr val="2E377E"/>
                </a:solidFill>
                <a:latin typeface="Georgia"/>
                <a:cs typeface="Georgia"/>
              </a:rPr>
              <a:t>batch</a:t>
            </a:r>
            <a:r>
              <a:rPr sz="3400" spc="-60" dirty="0">
                <a:solidFill>
                  <a:srgbClr val="2E377E"/>
                </a:solidFill>
                <a:latin typeface="Georgia"/>
                <a:cs typeface="Georgia"/>
              </a:rPr>
              <a:t> </a:t>
            </a:r>
            <a:r>
              <a:rPr sz="3400" spc="-10" dirty="0">
                <a:solidFill>
                  <a:srgbClr val="2E377E"/>
                </a:solidFill>
                <a:latin typeface="Georgia"/>
                <a:cs typeface="Georgia"/>
              </a:rPr>
              <a:t>processes</a:t>
            </a:r>
            <a:endParaRPr sz="3400">
              <a:latin typeface="Georgia"/>
              <a:cs typeface="Georgia"/>
            </a:endParaRPr>
          </a:p>
          <a:p>
            <a:pPr marL="839469">
              <a:lnSpc>
                <a:spcPct val="100000"/>
              </a:lnSpc>
              <a:spcBef>
                <a:spcPts val="375"/>
              </a:spcBef>
            </a:pPr>
            <a:r>
              <a:rPr sz="3400" dirty="0">
                <a:solidFill>
                  <a:srgbClr val="2E377E"/>
                </a:solidFill>
                <a:latin typeface="Georgia"/>
                <a:cs typeface="Georgia"/>
              </a:rPr>
              <a:t>Running</a:t>
            </a:r>
            <a:r>
              <a:rPr sz="3400" spc="-25" dirty="0">
                <a:solidFill>
                  <a:srgbClr val="2E377E"/>
                </a:solidFill>
                <a:latin typeface="Georgia"/>
                <a:cs typeface="Georgia"/>
              </a:rPr>
              <a:t> </a:t>
            </a:r>
            <a:r>
              <a:rPr sz="3400" spc="50" dirty="0">
                <a:solidFill>
                  <a:srgbClr val="2E377E"/>
                </a:solidFill>
                <a:latin typeface="Georgia"/>
                <a:cs typeface="Georgia"/>
              </a:rPr>
              <a:t>the</a:t>
            </a:r>
            <a:r>
              <a:rPr sz="3400" spc="-25" dirty="0">
                <a:solidFill>
                  <a:srgbClr val="2E377E"/>
                </a:solidFill>
                <a:latin typeface="Georgia"/>
                <a:cs typeface="Georgia"/>
              </a:rPr>
              <a:t> </a:t>
            </a:r>
            <a:r>
              <a:rPr sz="3400" dirty="0">
                <a:solidFill>
                  <a:srgbClr val="2E377E"/>
                </a:solidFill>
                <a:latin typeface="Georgia"/>
                <a:cs typeface="Georgia"/>
              </a:rPr>
              <a:t>task</a:t>
            </a:r>
            <a:r>
              <a:rPr sz="3400" spc="-25" dirty="0">
                <a:solidFill>
                  <a:srgbClr val="2E377E"/>
                </a:solidFill>
                <a:latin typeface="Georgia"/>
                <a:cs typeface="Georgia"/>
              </a:rPr>
              <a:t> </a:t>
            </a:r>
            <a:r>
              <a:rPr sz="3400" dirty="0">
                <a:solidFill>
                  <a:srgbClr val="2E377E"/>
                </a:solidFill>
                <a:latin typeface="Georgia"/>
                <a:cs typeface="Georgia"/>
              </a:rPr>
              <a:t>on</a:t>
            </a:r>
            <a:r>
              <a:rPr sz="3400" spc="-25" dirty="0">
                <a:solidFill>
                  <a:srgbClr val="2E377E"/>
                </a:solidFill>
                <a:latin typeface="Georgia"/>
                <a:cs typeface="Georgia"/>
              </a:rPr>
              <a:t> </a:t>
            </a:r>
            <a:r>
              <a:rPr sz="3400" spc="50" dirty="0">
                <a:solidFill>
                  <a:srgbClr val="2E377E"/>
                </a:solidFill>
                <a:latin typeface="Georgia"/>
                <a:cs typeface="Georgia"/>
              </a:rPr>
              <a:t>the</a:t>
            </a:r>
            <a:r>
              <a:rPr sz="3400" spc="-25" dirty="0">
                <a:solidFill>
                  <a:srgbClr val="2E377E"/>
                </a:solidFill>
                <a:latin typeface="Georgia"/>
                <a:cs typeface="Georgia"/>
              </a:rPr>
              <a:t> </a:t>
            </a:r>
            <a:r>
              <a:rPr sz="3400" dirty="0">
                <a:solidFill>
                  <a:srgbClr val="2E377E"/>
                </a:solidFill>
                <a:latin typeface="Georgia"/>
                <a:cs typeface="Georgia"/>
              </a:rPr>
              <a:t>scheduled</a:t>
            </a:r>
            <a:r>
              <a:rPr sz="3400" spc="-25" dirty="0">
                <a:solidFill>
                  <a:srgbClr val="2E377E"/>
                </a:solidFill>
                <a:latin typeface="Georgia"/>
                <a:cs typeface="Georgia"/>
              </a:rPr>
              <a:t> </a:t>
            </a:r>
            <a:r>
              <a:rPr sz="3400" spc="-10" dirty="0">
                <a:solidFill>
                  <a:srgbClr val="2E377E"/>
                </a:solidFill>
                <a:latin typeface="Georgia"/>
                <a:cs typeface="Georgia"/>
              </a:rPr>
              <a:t>interval</a:t>
            </a:r>
            <a:endParaRPr sz="3400">
              <a:latin typeface="Georgia"/>
              <a:cs typeface="Georgia"/>
            </a:endParaRPr>
          </a:p>
          <a:p>
            <a:pPr marL="839469">
              <a:lnSpc>
                <a:spcPct val="100000"/>
              </a:lnSpc>
              <a:spcBef>
                <a:spcPts val="645"/>
              </a:spcBef>
            </a:pPr>
            <a:r>
              <a:rPr sz="3400" dirty="0">
                <a:solidFill>
                  <a:srgbClr val="2E377E"/>
                </a:solidFill>
                <a:latin typeface="Georgia"/>
                <a:cs typeface="Georgia"/>
              </a:rPr>
              <a:t>Log</a:t>
            </a:r>
            <a:r>
              <a:rPr sz="3400" spc="-185" dirty="0">
                <a:solidFill>
                  <a:srgbClr val="2E377E"/>
                </a:solidFill>
                <a:latin typeface="Georgia"/>
                <a:cs typeface="Georgia"/>
              </a:rPr>
              <a:t> </a:t>
            </a:r>
            <a:r>
              <a:rPr sz="3400" spc="-10" dirty="0">
                <a:solidFill>
                  <a:srgbClr val="2E377E"/>
                </a:solidFill>
                <a:latin typeface="Georgia"/>
                <a:cs typeface="Georgia"/>
              </a:rPr>
              <a:t>Rotation</a:t>
            </a:r>
            <a:endParaRPr sz="3400">
              <a:latin typeface="Georgia"/>
              <a:cs typeface="Georgia"/>
            </a:endParaRPr>
          </a:p>
          <a:p>
            <a:pPr>
              <a:lnSpc>
                <a:spcPct val="100000"/>
              </a:lnSpc>
              <a:spcBef>
                <a:spcPts val="745"/>
              </a:spcBef>
            </a:pPr>
            <a:endParaRPr sz="3400">
              <a:latin typeface="Georgia"/>
              <a:cs typeface="Georgia"/>
            </a:endParaRPr>
          </a:p>
          <a:p>
            <a:pPr marL="12700">
              <a:lnSpc>
                <a:spcPct val="100000"/>
              </a:lnSpc>
            </a:pPr>
            <a:r>
              <a:rPr sz="3500" b="1" spc="55" dirty="0">
                <a:solidFill>
                  <a:srgbClr val="FF3131"/>
                </a:solidFill>
                <a:latin typeface="Times New Roman"/>
                <a:cs typeface="Times New Roman"/>
              </a:rPr>
              <a:t>Key</a:t>
            </a:r>
            <a:r>
              <a:rPr sz="3500" b="1" spc="-35" dirty="0">
                <a:solidFill>
                  <a:srgbClr val="FF3131"/>
                </a:solidFill>
                <a:latin typeface="Times New Roman"/>
                <a:cs typeface="Times New Roman"/>
              </a:rPr>
              <a:t> </a:t>
            </a:r>
            <a:r>
              <a:rPr sz="3500" b="1" spc="-10" dirty="0">
                <a:solidFill>
                  <a:srgbClr val="FF3131"/>
                </a:solidFill>
                <a:latin typeface="Times New Roman"/>
                <a:cs typeface="Times New Roman"/>
              </a:rPr>
              <a:t>Features:</a:t>
            </a:r>
            <a:endParaRPr sz="3500">
              <a:latin typeface="Times New Roman"/>
              <a:cs typeface="Times New Roman"/>
            </a:endParaRPr>
          </a:p>
          <a:p>
            <a:pPr marL="788035" marR="494665">
              <a:lnSpc>
                <a:spcPct val="117400"/>
              </a:lnSpc>
              <a:spcBef>
                <a:spcPts val="520"/>
              </a:spcBef>
            </a:pPr>
            <a:r>
              <a:rPr sz="3300" dirty="0">
                <a:solidFill>
                  <a:srgbClr val="2E377E"/>
                </a:solidFill>
                <a:latin typeface="Georgia"/>
                <a:cs typeface="Georgia"/>
              </a:rPr>
              <a:t>One-</a:t>
            </a:r>
            <a:r>
              <a:rPr sz="3300" spc="55" dirty="0">
                <a:solidFill>
                  <a:srgbClr val="2E377E"/>
                </a:solidFill>
                <a:latin typeface="Georgia"/>
                <a:cs typeface="Georgia"/>
              </a:rPr>
              <a:t>time</a:t>
            </a:r>
            <a:r>
              <a:rPr sz="3300" spc="-45" dirty="0">
                <a:solidFill>
                  <a:srgbClr val="2E377E"/>
                </a:solidFill>
                <a:latin typeface="Georgia"/>
                <a:cs typeface="Georgia"/>
              </a:rPr>
              <a:t> </a:t>
            </a:r>
            <a:r>
              <a:rPr sz="3300" dirty="0">
                <a:solidFill>
                  <a:srgbClr val="2E377E"/>
                </a:solidFill>
                <a:latin typeface="Georgia"/>
                <a:cs typeface="Georgia"/>
              </a:rPr>
              <a:t>Execution:</a:t>
            </a:r>
            <a:r>
              <a:rPr sz="3300" spc="-40" dirty="0">
                <a:solidFill>
                  <a:srgbClr val="2E377E"/>
                </a:solidFill>
                <a:latin typeface="Georgia"/>
                <a:cs typeface="Georgia"/>
              </a:rPr>
              <a:t> </a:t>
            </a:r>
            <a:r>
              <a:rPr sz="3300" dirty="0">
                <a:solidFill>
                  <a:srgbClr val="2E377E"/>
                </a:solidFill>
                <a:latin typeface="Georgia"/>
                <a:cs typeface="Georgia"/>
              </a:rPr>
              <a:t>If</a:t>
            </a:r>
            <a:r>
              <a:rPr sz="3300" spc="-40" dirty="0">
                <a:solidFill>
                  <a:srgbClr val="2E377E"/>
                </a:solidFill>
                <a:latin typeface="Georgia"/>
                <a:cs typeface="Georgia"/>
              </a:rPr>
              <a:t> </a:t>
            </a:r>
            <a:r>
              <a:rPr sz="3300" spc="95" dirty="0">
                <a:solidFill>
                  <a:srgbClr val="2E377E"/>
                </a:solidFill>
                <a:latin typeface="Georgia"/>
                <a:cs typeface="Georgia"/>
              </a:rPr>
              <a:t>you</a:t>
            </a:r>
            <a:r>
              <a:rPr sz="3300" spc="-40" dirty="0">
                <a:solidFill>
                  <a:srgbClr val="2E377E"/>
                </a:solidFill>
                <a:latin typeface="Georgia"/>
                <a:cs typeface="Georgia"/>
              </a:rPr>
              <a:t> </a:t>
            </a:r>
            <a:r>
              <a:rPr sz="3300" spc="55" dirty="0">
                <a:solidFill>
                  <a:srgbClr val="2E377E"/>
                </a:solidFill>
                <a:latin typeface="Georgia"/>
                <a:cs typeface="Georgia"/>
              </a:rPr>
              <a:t>have</a:t>
            </a:r>
            <a:r>
              <a:rPr sz="3300" spc="-40" dirty="0">
                <a:solidFill>
                  <a:srgbClr val="2E377E"/>
                </a:solidFill>
                <a:latin typeface="Georgia"/>
                <a:cs typeface="Georgia"/>
              </a:rPr>
              <a:t> </a:t>
            </a:r>
            <a:r>
              <a:rPr sz="3300" dirty="0">
                <a:solidFill>
                  <a:srgbClr val="2E377E"/>
                </a:solidFill>
                <a:latin typeface="Georgia"/>
                <a:cs typeface="Georgia"/>
              </a:rPr>
              <a:t>a</a:t>
            </a:r>
            <a:r>
              <a:rPr sz="3300" spc="-45" dirty="0">
                <a:solidFill>
                  <a:srgbClr val="2E377E"/>
                </a:solidFill>
                <a:latin typeface="Georgia"/>
                <a:cs typeface="Georgia"/>
              </a:rPr>
              <a:t> </a:t>
            </a:r>
            <a:r>
              <a:rPr sz="3300" spc="60" dirty="0">
                <a:solidFill>
                  <a:srgbClr val="2E377E"/>
                </a:solidFill>
                <a:latin typeface="Georgia"/>
                <a:cs typeface="Georgia"/>
              </a:rPr>
              <a:t>task</a:t>
            </a:r>
            <a:r>
              <a:rPr sz="3300" spc="-40" dirty="0">
                <a:solidFill>
                  <a:srgbClr val="2E377E"/>
                </a:solidFill>
                <a:latin typeface="Georgia"/>
                <a:cs typeface="Georgia"/>
              </a:rPr>
              <a:t> </a:t>
            </a:r>
            <a:r>
              <a:rPr sz="3300" spc="55" dirty="0">
                <a:solidFill>
                  <a:srgbClr val="2E377E"/>
                </a:solidFill>
                <a:latin typeface="Georgia"/>
                <a:cs typeface="Georgia"/>
              </a:rPr>
              <a:t>that</a:t>
            </a:r>
            <a:r>
              <a:rPr sz="3300" spc="-40" dirty="0">
                <a:solidFill>
                  <a:srgbClr val="2E377E"/>
                </a:solidFill>
                <a:latin typeface="Georgia"/>
                <a:cs typeface="Georgia"/>
              </a:rPr>
              <a:t> </a:t>
            </a:r>
            <a:r>
              <a:rPr sz="3300" dirty="0">
                <a:solidFill>
                  <a:srgbClr val="2E377E"/>
                </a:solidFill>
                <a:latin typeface="Georgia"/>
                <a:cs typeface="Georgia"/>
              </a:rPr>
              <a:t>needs</a:t>
            </a:r>
            <a:r>
              <a:rPr sz="3300" spc="-40" dirty="0">
                <a:solidFill>
                  <a:srgbClr val="2E377E"/>
                </a:solidFill>
                <a:latin typeface="Georgia"/>
                <a:cs typeface="Georgia"/>
              </a:rPr>
              <a:t> </a:t>
            </a:r>
            <a:r>
              <a:rPr sz="3300" spc="70" dirty="0">
                <a:solidFill>
                  <a:srgbClr val="2E377E"/>
                </a:solidFill>
                <a:latin typeface="Georgia"/>
                <a:cs typeface="Georgia"/>
              </a:rPr>
              <a:t>to</a:t>
            </a:r>
            <a:r>
              <a:rPr sz="3300" spc="-40" dirty="0">
                <a:solidFill>
                  <a:srgbClr val="2E377E"/>
                </a:solidFill>
                <a:latin typeface="Georgia"/>
                <a:cs typeface="Georgia"/>
              </a:rPr>
              <a:t> </a:t>
            </a:r>
            <a:r>
              <a:rPr sz="3300" dirty="0">
                <a:solidFill>
                  <a:srgbClr val="2E377E"/>
                </a:solidFill>
                <a:latin typeface="Georgia"/>
                <a:cs typeface="Georgia"/>
              </a:rPr>
              <a:t>be</a:t>
            </a:r>
            <a:r>
              <a:rPr sz="3300" spc="-40" dirty="0">
                <a:solidFill>
                  <a:srgbClr val="2E377E"/>
                </a:solidFill>
                <a:latin typeface="Georgia"/>
                <a:cs typeface="Georgia"/>
              </a:rPr>
              <a:t> </a:t>
            </a:r>
            <a:r>
              <a:rPr sz="3300" spc="60" dirty="0">
                <a:solidFill>
                  <a:srgbClr val="2E377E"/>
                </a:solidFill>
                <a:latin typeface="Georgia"/>
                <a:cs typeface="Georgia"/>
              </a:rPr>
              <a:t>executed</a:t>
            </a:r>
            <a:r>
              <a:rPr sz="3300" spc="-45" dirty="0">
                <a:solidFill>
                  <a:srgbClr val="2E377E"/>
                </a:solidFill>
                <a:latin typeface="Georgia"/>
                <a:cs typeface="Georgia"/>
              </a:rPr>
              <a:t> </a:t>
            </a:r>
            <a:r>
              <a:rPr sz="3300" dirty="0">
                <a:solidFill>
                  <a:srgbClr val="2E377E"/>
                </a:solidFill>
                <a:latin typeface="Georgia"/>
                <a:cs typeface="Georgia"/>
              </a:rPr>
              <a:t>one</a:t>
            </a:r>
            <a:r>
              <a:rPr sz="3300" spc="-40" dirty="0">
                <a:solidFill>
                  <a:srgbClr val="2E377E"/>
                </a:solidFill>
                <a:latin typeface="Georgia"/>
                <a:cs typeface="Georgia"/>
              </a:rPr>
              <a:t> </a:t>
            </a:r>
            <a:r>
              <a:rPr sz="3300" spc="55" dirty="0">
                <a:solidFill>
                  <a:srgbClr val="2E377E"/>
                </a:solidFill>
                <a:latin typeface="Georgia"/>
                <a:cs typeface="Georgia"/>
              </a:rPr>
              <a:t>time</a:t>
            </a:r>
            <a:r>
              <a:rPr sz="3300" spc="-40" dirty="0">
                <a:solidFill>
                  <a:srgbClr val="2E377E"/>
                </a:solidFill>
                <a:latin typeface="Georgia"/>
                <a:cs typeface="Georgia"/>
              </a:rPr>
              <a:t> </a:t>
            </a:r>
            <a:r>
              <a:rPr sz="3300" spc="65" dirty="0">
                <a:solidFill>
                  <a:srgbClr val="2E377E"/>
                </a:solidFill>
                <a:latin typeface="Georgia"/>
                <a:cs typeface="Georgia"/>
              </a:rPr>
              <a:t>whether</a:t>
            </a:r>
            <a:r>
              <a:rPr sz="3300" spc="-40" dirty="0">
                <a:solidFill>
                  <a:srgbClr val="2E377E"/>
                </a:solidFill>
                <a:latin typeface="Georgia"/>
                <a:cs typeface="Georgia"/>
              </a:rPr>
              <a:t> </a:t>
            </a:r>
            <a:r>
              <a:rPr sz="3300" spc="-20" dirty="0">
                <a:solidFill>
                  <a:srgbClr val="2E377E"/>
                </a:solidFill>
                <a:latin typeface="Georgia"/>
                <a:cs typeface="Georgia"/>
              </a:rPr>
              <a:t>it’s </a:t>
            </a:r>
            <a:r>
              <a:rPr sz="3300" spc="45" dirty="0">
                <a:solidFill>
                  <a:srgbClr val="2E377E"/>
                </a:solidFill>
                <a:latin typeface="Georgia"/>
                <a:cs typeface="Georgia"/>
              </a:rPr>
              <a:t>succeed</a:t>
            </a:r>
            <a:r>
              <a:rPr sz="3300" spc="-20" dirty="0">
                <a:solidFill>
                  <a:srgbClr val="2E377E"/>
                </a:solidFill>
                <a:latin typeface="Georgia"/>
                <a:cs typeface="Georgia"/>
              </a:rPr>
              <a:t> </a:t>
            </a:r>
            <a:r>
              <a:rPr sz="3300" dirty="0">
                <a:solidFill>
                  <a:srgbClr val="2E377E"/>
                </a:solidFill>
                <a:latin typeface="Georgia"/>
                <a:cs typeface="Georgia"/>
              </a:rPr>
              <a:t>or</a:t>
            </a:r>
            <a:r>
              <a:rPr sz="3300" spc="-20" dirty="0">
                <a:solidFill>
                  <a:srgbClr val="2E377E"/>
                </a:solidFill>
                <a:latin typeface="Georgia"/>
                <a:cs typeface="Georgia"/>
              </a:rPr>
              <a:t> </a:t>
            </a:r>
            <a:r>
              <a:rPr sz="3300" dirty="0">
                <a:solidFill>
                  <a:srgbClr val="2E377E"/>
                </a:solidFill>
                <a:latin typeface="Georgia"/>
                <a:cs typeface="Georgia"/>
              </a:rPr>
              <a:t>fail</a:t>
            </a:r>
            <a:r>
              <a:rPr sz="3300" spc="-15" dirty="0">
                <a:solidFill>
                  <a:srgbClr val="2E377E"/>
                </a:solidFill>
                <a:latin typeface="Georgia"/>
                <a:cs typeface="Georgia"/>
              </a:rPr>
              <a:t> </a:t>
            </a:r>
            <a:r>
              <a:rPr sz="3300" spc="50" dirty="0">
                <a:solidFill>
                  <a:srgbClr val="2E377E"/>
                </a:solidFill>
                <a:latin typeface="Georgia"/>
                <a:cs typeface="Georgia"/>
              </a:rPr>
              <a:t>then</a:t>
            </a:r>
            <a:r>
              <a:rPr sz="3300" spc="-20" dirty="0">
                <a:solidFill>
                  <a:srgbClr val="2E377E"/>
                </a:solidFill>
                <a:latin typeface="Georgia"/>
                <a:cs typeface="Georgia"/>
              </a:rPr>
              <a:t> </a:t>
            </a:r>
            <a:r>
              <a:rPr sz="3300" spc="55" dirty="0">
                <a:solidFill>
                  <a:srgbClr val="2E377E"/>
                </a:solidFill>
                <a:latin typeface="Georgia"/>
                <a:cs typeface="Georgia"/>
              </a:rPr>
              <a:t>the</a:t>
            </a:r>
            <a:r>
              <a:rPr sz="3300" spc="-20" dirty="0">
                <a:solidFill>
                  <a:srgbClr val="2E377E"/>
                </a:solidFill>
                <a:latin typeface="Georgia"/>
                <a:cs typeface="Georgia"/>
              </a:rPr>
              <a:t> </a:t>
            </a:r>
            <a:r>
              <a:rPr sz="3300" dirty="0">
                <a:solidFill>
                  <a:srgbClr val="2E377E"/>
                </a:solidFill>
                <a:latin typeface="Georgia"/>
                <a:cs typeface="Georgia"/>
              </a:rPr>
              <a:t>job</a:t>
            </a:r>
            <a:r>
              <a:rPr sz="3300" spc="-15" dirty="0">
                <a:solidFill>
                  <a:srgbClr val="2E377E"/>
                </a:solidFill>
                <a:latin typeface="Georgia"/>
                <a:cs typeface="Georgia"/>
              </a:rPr>
              <a:t> </a:t>
            </a:r>
            <a:r>
              <a:rPr sz="3300" dirty="0">
                <a:solidFill>
                  <a:srgbClr val="2E377E"/>
                </a:solidFill>
                <a:latin typeface="Georgia"/>
                <a:cs typeface="Georgia"/>
              </a:rPr>
              <a:t>will</a:t>
            </a:r>
            <a:r>
              <a:rPr sz="3300" spc="-20" dirty="0">
                <a:solidFill>
                  <a:srgbClr val="2E377E"/>
                </a:solidFill>
                <a:latin typeface="Georgia"/>
                <a:cs typeface="Georgia"/>
              </a:rPr>
              <a:t> </a:t>
            </a:r>
            <a:r>
              <a:rPr sz="3300" dirty="0">
                <a:solidFill>
                  <a:srgbClr val="2E377E"/>
                </a:solidFill>
                <a:latin typeface="Georgia"/>
                <a:cs typeface="Georgia"/>
              </a:rPr>
              <a:t>be</a:t>
            </a:r>
            <a:r>
              <a:rPr sz="3300" spc="-20" dirty="0">
                <a:solidFill>
                  <a:srgbClr val="2E377E"/>
                </a:solidFill>
                <a:latin typeface="Georgia"/>
                <a:cs typeface="Georgia"/>
              </a:rPr>
              <a:t> </a:t>
            </a:r>
            <a:r>
              <a:rPr sz="3300" spc="-10" dirty="0">
                <a:solidFill>
                  <a:srgbClr val="2E377E"/>
                </a:solidFill>
                <a:latin typeface="Georgia"/>
                <a:cs typeface="Georgia"/>
              </a:rPr>
              <a:t>finished.</a:t>
            </a:r>
            <a:endParaRPr sz="3300">
              <a:latin typeface="Georgia"/>
              <a:cs typeface="Georgia"/>
            </a:endParaRPr>
          </a:p>
          <a:p>
            <a:pPr marL="788035">
              <a:lnSpc>
                <a:spcPct val="100000"/>
              </a:lnSpc>
              <a:spcBef>
                <a:spcPts val="690"/>
              </a:spcBef>
            </a:pPr>
            <a:r>
              <a:rPr sz="3300" spc="-10" dirty="0">
                <a:solidFill>
                  <a:srgbClr val="2E377E"/>
                </a:solidFill>
                <a:latin typeface="Georgia"/>
                <a:cs typeface="Georgia"/>
              </a:rPr>
              <a:t>Parallelism:</a:t>
            </a:r>
            <a:r>
              <a:rPr sz="3300" spc="-20" dirty="0">
                <a:solidFill>
                  <a:srgbClr val="2E377E"/>
                </a:solidFill>
                <a:latin typeface="Georgia"/>
                <a:cs typeface="Georgia"/>
              </a:rPr>
              <a:t> </a:t>
            </a:r>
            <a:r>
              <a:rPr sz="3300" dirty="0">
                <a:solidFill>
                  <a:srgbClr val="2E377E"/>
                </a:solidFill>
                <a:latin typeface="Georgia"/>
                <a:cs typeface="Georgia"/>
              </a:rPr>
              <a:t>If</a:t>
            </a:r>
            <a:r>
              <a:rPr sz="3300" spc="-15" dirty="0">
                <a:solidFill>
                  <a:srgbClr val="2E377E"/>
                </a:solidFill>
                <a:latin typeface="Georgia"/>
                <a:cs typeface="Georgia"/>
              </a:rPr>
              <a:t> </a:t>
            </a:r>
            <a:r>
              <a:rPr sz="3300" spc="95" dirty="0">
                <a:solidFill>
                  <a:srgbClr val="2E377E"/>
                </a:solidFill>
                <a:latin typeface="Georgia"/>
                <a:cs typeface="Georgia"/>
              </a:rPr>
              <a:t>you</a:t>
            </a:r>
            <a:r>
              <a:rPr sz="3300" spc="-20" dirty="0">
                <a:solidFill>
                  <a:srgbClr val="2E377E"/>
                </a:solidFill>
                <a:latin typeface="Georgia"/>
                <a:cs typeface="Georgia"/>
              </a:rPr>
              <a:t> </a:t>
            </a:r>
            <a:r>
              <a:rPr sz="3300" spc="80" dirty="0">
                <a:solidFill>
                  <a:srgbClr val="2E377E"/>
                </a:solidFill>
                <a:latin typeface="Georgia"/>
                <a:cs typeface="Georgia"/>
              </a:rPr>
              <a:t>want</a:t>
            </a:r>
            <a:r>
              <a:rPr sz="3300" spc="-15" dirty="0">
                <a:solidFill>
                  <a:srgbClr val="2E377E"/>
                </a:solidFill>
                <a:latin typeface="Georgia"/>
                <a:cs typeface="Georgia"/>
              </a:rPr>
              <a:t> </a:t>
            </a:r>
            <a:r>
              <a:rPr sz="3300" spc="70" dirty="0">
                <a:solidFill>
                  <a:srgbClr val="2E377E"/>
                </a:solidFill>
                <a:latin typeface="Georgia"/>
                <a:cs typeface="Georgia"/>
              </a:rPr>
              <a:t>to</a:t>
            </a:r>
            <a:r>
              <a:rPr sz="3300" spc="-20" dirty="0">
                <a:solidFill>
                  <a:srgbClr val="2E377E"/>
                </a:solidFill>
                <a:latin typeface="Georgia"/>
                <a:cs typeface="Georgia"/>
              </a:rPr>
              <a:t> </a:t>
            </a:r>
            <a:r>
              <a:rPr sz="3300" dirty="0">
                <a:solidFill>
                  <a:srgbClr val="2E377E"/>
                </a:solidFill>
                <a:latin typeface="Georgia"/>
                <a:cs typeface="Georgia"/>
              </a:rPr>
              <a:t>run</a:t>
            </a:r>
            <a:r>
              <a:rPr sz="3300" spc="-15" dirty="0">
                <a:solidFill>
                  <a:srgbClr val="2E377E"/>
                </a:solidFill>
                <a:latin typeface="Georgia"/>
                <a:cs typeface="Georgia"/>
              </a:rPr>
              <a:t> </a:t>
            </a:r>
            <a:r>
              <a:rPr sz="3300" dirty="0">
                <a:solidFill>
                  <a:srgbClr val="2E377E"/>
                </a:solidFill>
                <a:latin typeface="Georgia"/>
                <a:cs typeface="Georgia"/>
              </a:rPr>
              <a:t>multiple</a:t>
            </a:r>
            <a:r>
              <a:rPr sz="3300" spc="-20" dirty="0">
                <a:solidFill>
                  <a:srgbClr val="2E377E"/>
                </a:solidFill>
                <a:latin typeface="Georgia"/>
                <a:cs typeface="Georgia"/>
              </a:rPr>
              <a:t> </a:t>
            </a:r>
            <a:r>
              <a:rPr sz="3300" dirty="0">
                <a:solidFill>
                  <a:srgbClr val="2E377E"/>
                </a:solidFill>
                <a:latin typeface="Georgia"/>
                <a:cs typeface="Georgia"/>
              </a:rPr>
              <a:t>pods</a:t>
            </a:r>
            <a:r>
              <a:rPr sz="3300" spc="-15" dirty="0">
                <a:solidFill>
                  <a:srgbClr val="2E377E"/>
                </a:solidFill>
                <a:latin typeface="Georgia"/>
                <a:cs typeface="Georgia"/>
              </a:rPr>
              <a:t> </a:t>
            </a:r>
            <a:r>
              <a:rPr sz="3300" spc="55" dirty="0">
                <a:solidFill>
                  <a:srgbClr val="2E377E"/>
                </a:solidFill>
                <a:latin typeface="Georgia"/>
                <a:cs typeface="Georgia"/>
              </a:rPr>
              <a:t>at</a:t>
            </a:r>
            <a:r>
              <a:rPr sz="3300" spc="-20" dirty="0">
                <a:solidFill>
                  <a:srgbClr val="2E377E"/>
                </a:solidFill>
                <a:latin typeface="Georgia"/>
                <a:cs typeface="Georgia"/>
              </a:rPr>
              <a:t> </a:t>
            </a:r>
            <a:r>
              <a:rPr sz="3300" spc="55" dirty="0">
                <a:solidFill>
                  <a:srgbClr val="2E377E"/>
                </a:solidFill>
                <a:latin typeface="Georgia"/>
                <a:cs typeface="Georgia"/>
              </a:rPr>
              <a:t>the</a:t>
            </a:r>
            <a:r>
              <a:rPr sz="3300" spc="-15" dirty="0">
                <a:solidFill>
                  <a:srgbClr val="2E377E"/>
                </a:solidFill>
                <a:latin typeface="Georgia"/>
                <a:cs typeface="Georgia"/>
              </a:rPr>
              <a:t> </a:t>
            </a:r>
            <a:r>
              <a:rPr sz="3300" dirty="0">
                <a:solidFill>
                  <a:srgbClr val="2E377E"/>
                </a:solidFill>
                <a:latin typeface="Georgia"/>
                <a:cs typeface="Georgia"/>
              </a:rPr>
              <a:t>same</a:t>
            </a:r>
            <a:r>
              <a:rPr sz="3300" spc="-15" dirty="0">
                <a:solidFill>
                  <a:srgbClr val="2E377E"/>
                </a:solidFill>
                <a:latin typeface="Georgia"/>
                <a:cs typeface="Georgia"/>
              </a:rPr>
              <a:t> </a:t>
            </a:r>
            <a:r>
              <a:rPr sz="3300" spc="-10" dirty="0">
                <a:solidFill>
                  <a:srgbClr val="2E377E"/>
                </a:solidFill>
                <a:latin typeface="Georgia"/>
                <a:cs typeface="Georgia"/>
              </a:rPr>
              <a:t>time.</a:t>
            </a:r>
            <a:endParaRPr sz="3300">
              <a:latin typeface="Georgia"/>
              <a:cs typeface="Georgia"/>
            </a:endParaRPr>
          </a:p>
          <a:p>
            <a:pPr marL="788035" marR="1303020">
              <a:lnSpc>
                <a:spcPct val="117400"/>
              </a:lnSpc>
            </a:pPr>
            <a:r>
              <a:rPr sz="3300" dirty="0">
                <a:solidFill>
                  <a:srgbClr val="2E377E"/>
                </a:solidFill>
                <a:latin typeface="Georgia"/>
                <a:cs typeface="Georgia"/>
              </a:rPr>
              <a:t>Scheduling:</a:t>
            </a:r>
            <a:r>
              <a:rPr sz="3300" spc="30" dirty="0">
                <a:solidFill>
                  <a:srgbClr val="2E377E"/>
                </a:solidFill>
                <a:latin typeface="Georgia"/>
                <a:cs typeface="Georgia"/>
              </a:rPr>
              <a:t> </a:t>
            </a:r>
            <a:r>
              <a:rPr sz="3300" dirty="0">
                <a:solidFill>
                  <a:srgbClr val="2E377E"/>
                </a:solidFill>
                <a:latin typeface="Georgia"/>
                <a:cs typeface="Georgia"/>
              </a:rPr>
              <a:t>If</a:t>
            </a:r>
            <a:r>
              <a:rPr sz="3300" spc="35" dirty="0">
                <a:solidFill>
                  <a:srgbClr val="2E377E"/>
                </a:solidFill>
                <a:latin typeface="Georgia"/>
                <a:cs typeface="Georgia"/>
              </a:rPr>
              <a:t> </a:t>
            </a:r>
            <a:r>
              <a:rPr sz="3300" spc="95" dirty="0">
                <a:solidFill>
                  <a:srgbClr val="2E377E"/>
                </a:solidFill>
                <a:latin typeface="Georgia"/>
                <a:cs typeface="Georgia"/>
              </a:rPr>
              <a:t>you</a:t>
            </a:r>
            <a:r>
              <a:rPr sz="3300" spc="35" dirty="0">
                <a:solidFill>
                  <a:srgbClr val="2E377E"/>
                </a:solidFill>
                <a:latin typeface="Georgia"/>
                <a:cs typeface="Georgia"/>
              </a:rPr>
              <a:t> </a:t>
            </a:r>
            <a:r>
              <a:rPr sz="3300" spc="80" dirty="0">
                <a:solidFill>
                  <a:srgbClr val="2E377E"/>
                </a:solidFill>
                <a:latin typeface="Georgia"/>
                <a:cs typeface="Georgia"/>
              </a:rPr>
              <a:t>want</a:t>
            </a:r>
            <a:r>
              <a:rPr sz="3300" spc="35" dirty="0">
                <a:solidFill>
                  <a:srgbClr val="2E377E"/>
                </a:solidFill>
                <a:latin typeface="Georgia"/>
                <a:cs typeface="Georgia"/>
              </a:rPr>
              <a:t> </a:t>
            </a:r>
            <a:r>
              <a:rPr sz="3300" spc="70" dirty="0">
                <a:solidFill>
                  <a:srgbClr val="2E377E"/>
                </a:solidFill>
                <a:latin typeface="Georgia"/>
                <a:cs typeface="Georgia"/>
              </a:rPr>
              <a:t>to</a:t>
            </a:r>
            <a:r>
              <a:rPr sz="3300" spc="35" dirty="0">
                <a:solidFill>
                  <a:srgbClr val="2E377E"/>
                </a:solidFill>
                <a:latin typeface="Georgia"/>
                <a:cs typeface="Georgia"/>
              </a:rPr>
              <a:t> </a:t>
            </a:r>
            <a:r>
              <a:rPr sz="3300" dirty="0">
                <a:solidFill>
                  <a:srgbClr val="2E377E"/>
                </a:solidFill>
                <a:latin typeface="Georgia"/>
                <a:cs typeface="Georgia"/>
              </a:rPr>
              <a:t>schedule</a:t>
            </a:r>
            <a:r>
              <a:rPr sz="3300" spc="35" dirty="0">
                <a:solidFill>
                  <a:srgbClr val="2E377E"/>
                </a:solidFill>
                <a:latin typeface="Georgia"/>
                <a:cs typeface="Georgia"/>
              </a:rPr>
              <a:t> </a:t>
            </a:r>
            <a:r>
              <a:rPr sz="3300" dirty="0">
                <a:solidFill>
                  <a:srgbClr val="2E377E"/>
                </a:solidFill>
                <a:latin typeface="Georgia"/>
                <a:cs typeface="Georgia"/>
              </a:rPr>
              <a:t>a</a:t>
            </a:r>
            <a:r>
              <a:rPr sz="3300" spc="35" dirty="0">
                <a:solidFill>
                  <a:srgbClr val="2E377E"/>
                </a:solidFill>
                <a:latin typeface="Georgia"/>
                <a:cs typeface="Georgia"/>
              </a:rPr>
              <a:t> </a:t>
            </a:r>
            <a:r>
              <a:rPr sz="3300" dirty="0">
                <a:solidFill>
                  <a:srgbClr val="2E377E"/>
                </a:solidFill>
                <a:latin typeface="Georgia"/>
                <a:cs typeface="Georgia"/>
              </a:rPr>
              <a:t>specific</a:t>
            </a:r>
            <a:r>
              <a:rPr sz="3300" spc="35" dirty="0">
                <a:solidFill>
                  <a:srgbClr val="2E377E"/>
                </a:solidFill>
                <a:latin typeface="Georgia"/>
                <a:cs typeface="Georgia"/>
              </a:rPr>
              <a:t> </a:t>
            </a:r>
            <a:r>
              <a:rPr sz="3300" dirty="0">
                <a:solidFill>
                  <a:srgbClr val="2E377E"/>
                </a:solidFill>
                <a:latin typeface="Georgia"/>
                <a:cs typeface="Georgia"/>
              </a:rPr>
              <a:t>number</a:t>
            </a:r>
            <a:r>
              <a:rPr sz="3300" spc="30" dirty="0">
                <a:solidFill>
                  <a:srgbClr val="2E377E"/>
                </a:solidFill>
                <a:latin typeface="Georgia"/>
                <a:cs typeface="Georgia"/>
              </a:rPr>
              <a:t> </a:t>
            </a:r>
            <a:r>
              <a:rPr sz="3300" dirty="0">
                <a:solidFill>
                  <a:srgbClr val="2E377E"/>
                </a:solidFill>
                <a:latin typeface="Georgia"/>
                <a:cs typeface="Georgia"/>
              </a:rPr>
              <a:t>of</a:t>
            </a:r>
            <a:r>
              <a:rPr sz="3300" spc="35" dirty="0">
                <a:solidFill>
                  <a:srgbClr val="2E377E"/>
                </a:solidFill>
                <a:latin typeface="Georgia"/>
                <a:cs typeface="Georgia"/>
              </a:rPr>
              <a:t> </a:t>
            </a:r>
            <a:r>
              <a:rPr sz="3300" dirty="0">
                <a:solidFill>
                  <a:srgbClr val="2E377E"/>
                </a:solidFill>
                <a:latin typeface="Georgia"/>
                <a:cs typeface="Georgia"/>
              </a:rPr>
              <a:t>pods</a:t>
            </a:r>
            <a:r>
              <a:rPr sz="3300" spc="35" dirty="0">
                <a:solidFill>
                  <a:srgbClr val="2E377E"/>
                </a:solidFill>
                <a:latin typeface="Georgia"/>
                <a:cs typeface="Georgia"/>
              </a:rPr>
              <a:t> </a:t>
            </a:r>
            <a:r>
              <a:rPr sz="3300" dirty="0">
                <a:solidFill>
                  <a:srgbClr val="2E377E"/>
                </a:solidFill>
                <a:latin typeface="Georgia"/>
                <a:cs typeface="Georgia"/>
              </a:rPr>
              <a:t>after</a:t>
            </a:r>
            <a:r>
              <a:rPr sz="3300" spc="35" dirty="0">
                <a:solidFill>
                  <a:srgbClr val="2E377E"/>
                </a:solidFill>
                <a:latin typeface="Georgia"/>
                <a:cs typeface="Georgia"/>
              </a:rPr>
              <a:t> </a:t>
            </a:r>
            <a:r>
              <a:rPr sz="3300" dirty="0">
                <a:solidFill>
                  <a:srgbClr val="2E377E"/>
                </a:solidFill>
                <a:latin typeface="Georgia"/>
                <a:cs typeface="Georgia"/>
              </a:rPr>
              <a:t>a</a:t>
            </a:r>
            <a:r>
              <a:rPr sz="3300" spc="35" dirty="0">
                <a:solidFill>
                  <a:srgbClr val="2E377E"/>
                </a:solidFill>
                <a:latin typeface="Georgia"/>
                <a:cs typeface="Georgia"/>
              </a:rPr>
              <a:t> </a:t>
            </a:r>
            <a:r>
              <a:rPr sz="3300" dirty="0">
                <a:solidFill>
                  <a:srgbClr val="2E377E"/>
                </a:solidFill>
                <a:latin typeface="Georgia"/>
                <a:cs typeface="Georgia"/>
              </a:rPr>
              <a:t>specific</a:t>
            </a:r>
            <a:r>
              <a:rPr sz="3300" spc="35" dirty="0">
                <a:solidFill>
                  <a:srgbClr val="2E377E"/>
                </a:solidFill>
                <a:latin typeface="Georgia"/>
                <a:cs typeface="Georgia"/>
              </a:rPr>
              <a:t> </a:t>
            </a:r>
            <a:r>
              <a:rPr sz="3300" spc="-20" dirty="0">
                <a:solidFill>
                  <a:srgbClr val="2E377E"/>
                </a:solidFill>
                <a:latin typeface="Georgia"/>
                <a:cs typeface="Georgia"/>
              </a:rPr>
              <a:t>time. </a:t>
            </a:r>
            <a:r>
              <a:rPr sz="3300" dirty="0">
                <a:solidFill>
                  <a:srgbClr val="2E377E"/>
                </a:solidFill>
                <a:latin typeface="Georgia"/>
                <a:cs typeface="Georgia"/>
              </a:rPr>
              <a:t>Restart</a:t>
            </a:r>
            <a:r>
              <a:rPr sz="3300" spc="-10" dirty="0">
                <a:solidFill>
                  <a:srgbClr val="2E377E"/>
                </a:solidFill>
                <a:latin typeface="Georgia"/>
                <a:cs typeface="Georgia"/>
              </a:rPr>
              <a:t> </a:t>
            </a:r>
            <a:r>
              <a:rPr sz="3300" dirty="0">
                <a:solidFill>
                  <a:srgbClr val="2E377E"/>
                </a:solidFill>
                <a:latin typeface="Georgia"/>
                <a:cs typeface="Georgia"/>
              </a:rPr>
              <a:t>Policy:</a:t>
            </a:r>
            <a:r>
              <a:rPr sz="3300" spc="-10" dirty="0">
                <a:solidFill>
                  <a:srgbClr val="2E377E"/>
                </a:solidFill>
                <a:latin typeface="Georgia"/>
                <a:cs typeface="Georgia"/>
              </a:rPr>
              <a:t> </a:t>
            </a:r>
            <a:r>
              <a:rPr sz="3300" dirty="0">
                <a:solidFill>
                  <a:srgbClr val="2E377E"/>
                </a:solidFill>
                <a:latin typeface="Georgia"/>
                <a:cs typeface="Georgia"/>
              </a:rPr>
              <a:t>You</a:t>
            </a:r>
            <a:r>
              <a:rPr sz="3300" spc="-5" dirty="0">
                <a:solidFill>
                  <a:srgbClr val="2E377E"/>
                </a:solidFill>
                <a:latin typeface="Georgia"/>
                <a:cs typeface="Georgia"/>
              </a:rPr>
              <a:t> </a:t>
            </a:r>
            <a:r>
              <a:rPr sz="3300" dirty="0">
                <a:solidFill>
                  <a:srgbClr val="2E377E"/>
                </a:solidFill>
                <a:latin typeface="Georgia"/>
                <a:cs typeface="Georgia"/>
              </a:rPr>
              <a:t>can</a:t>
            </a:r>
            <a:r>
              <a:rPr sz="3300" spc="-10" dirty="0">
                <a:solidFill>
                  <a:srgbClr val="2E377E"/>
                </a:solidFill>
                <a:latin typeface="Georgia"/>
                <a:cs typeface="Georgia"/>
              </a:rPr>
              <a:t> </a:t>
            </a:r>
            <a:r>
              <a:rPr sz="3300" spc="60" dirty="0">
                <a:solidFill>
                  <a:srgbClr val="2E377E"/>
                </a:solidFill>
                <a:latin typeface="Georgia"/>
                <a:cs typeface="Georgia"/>
              </a:rPr>
              <a:t>specify</a:t>
            </a:r>
            <a:r>
              <a:rPr sz="3300" spc="-10" dirty="0">
                <a:solidFill>
                  <a:srgbClr val="2E377E"/>
                </a:solidFill>
                <a:latin typeface="Georgia"/>
                <a:cs typeface="Georgia"/>
              </a:rPr>
              <a:t> </a:t>
            </a:r>
            <a:r>
              <a:rPr sz="3300" spc="65" dirty="0">
                <a:solidFill>
                  <a:srgbClr val="2E377E"/>
                </a:solidFill>
                <a:latin typeface="Georgia"/>
                <a:cs typeface="Georgia"/>
              </a:rPr>
              <a:t>whether</a:t>
            </a:r>
            <a:r>
              <a:rPr sz="3300" spc="-5" dirty="0">
                <a:solidFill>
                  <a:srgbClr val="2E377E"/>
                </a:solidFill>
                <a:latin typeface="Georgia"/>
                <a:cs typeface="Georgia"/>
              </a:rPr>
              <a:t> </a:t>
            </a:r>
            <a:r>
              <a:rPr sz="3300" spc="55" dirty="0">
                <a:solidFill>
                  <a:srgbClr val="2E377E"/>
                </a:solidFill>
                <a:latin typeface="Georgia"/>
                <a:cs typeface="Georgia"/>
              </a:rPr>
              <a:t>the</a:t>
            </a:r>
            <a:r>
              <a:rPr sz="3300" spc="-10" dirty="0">
                <a:solidFill>
                  <a:srgbClr val="2E377E"/>
                </a:solidFill>
                <a:latin typeface="Georgia"/>
                <a:cs typeface="Georgia"/>
              </a:rPr>
              <a:t> </a:t>
            </a:r>
            <a:r>
              <a:rPr sz="3300" spc="-170" dirty="0">
                <a:solidFill>
                  <a:srgbClr val="2E377E"/>
                </a:solidFill>
                <a:latin typeface="Georgia"/>
                <a:cs typeface="Georgia"/>
              </a:rPr>
              <a:t>Job</a:t>
            </a:r>
            <a:r>
              <a:rPr sz="3300" spc="-5" dirty="0">
                <a:solidFill>
                  <a:srgbClr val="2E377E"/>
                </a:solidFill>
                <a:latin typeface="Georgia"/>
                <a:cs typeface="Georgia"/>
              </a:rPr>
              <a:t> </a:t>
            </a:r>
            <a:r>
              <a:rPr sz="3300" dirty="0">
                <a:solidFill>
                  <a:srgbClr val="2E377E"/>
                </a:solidFill>
                <a:latin typeface="Georgia"/>
                <a:cs typeface="Georgia"/>
              </a:rPr>
              <a:t>should</a:t>
            </a:r>
            <a:r>
              <a:rPr sz="3300" spc="-10" dirty="0">
                <a:solidFill>
                  <a:srgbClr val="2E377E"/>
                </a:solidFill>
                <a:latin typeface="Georgia"/>
                <a:cs typeface="Georgia"/>
              </a:rPr>
              <a:t> </a:t>
            </a:r>
            <a:r>
              <a:rPr sz="3300" spc="50" dirty="0">
                <a:solidFill>
                  <a:srgbClr val="2E377E"/>
                </a:solidFill>
                <a:latin typeface="Georgia"/>
                <a:cs typeface="Georgia"/>
              </a:rPr>
              <a:t>restart</a:t>
            </a:r>
            <a:r>
              <a:rPr sz="3300" spc="-10" dirty="0">
                <a:solidFill>
                  <a:srgbClr val="2E377E"/>
                </a:solidFill>
                <a:latin typeface="Georgia"/>
                <a:cs typeface="Georgia"/>
              </a:rPr>
              <a:t> </a:t>
            </a:r>
            <a:r>
              <a:rPr sz="3300" dirty="0">
                <a:solidFill>
                  <a:srgbClr val="2E377E"/>
                </a:solidFill>
                <a:latin typeface="Georgia"/>
                <a:cs typeface="Georgia"/>
              </a:rPr>
              <a:t>if</a:t>
            </a:r>
            <a:r>
              <a:rPr sz="3300" spc="-5" dirty="0">
                <a:solidFill>
                  <a:srgbClr val="2E377E"/>
                </a:solidFill>
                <a:latin typeface="Georgia"/>
                <a:cs typeface="Georgia"/>
              </a:rPr>
              <a:t> </a:t>
            </a:r>
            <a:r>
              <a:rPr sz="3300" spc="-10" dirty="0">
                <a:solidFill>
                  <a:srgbClr val="2E377E"/>
                </a:solidFill>
                <a:latin typeface="Georgia"/>
                <a:cs typeface="Georgia"/>
              </a:rPr>
              <a:t>fails.</a:t>
            </a:r>
            <a:endParaRPr sz="3300">
              <a:latin typeface="Georgia"/>
              <a:cs typeface="Georgia"/>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7828" y="1255022"/>
            <a:ext cx="12896849" cy="5562599"/>
          </a:xfrm>
          <a:prstGeom prst="rect">
            <a:avLst/>
          </a:prstGeom>
        </p:spPr>
      </p:pic>
      <p:sp>
        <p:nvSpPr>
          <p:cNvPr id="3" name="object 3"/>
          <p:cNvSpPr txBox="1"/>
          <p:nvPr/>
        </p:nvSpPr>
        <p:spPr>
          <a:xfrm>
            <a:off x="585128" y="6675838"/>
            <a:ext cx="16988155" cy="3374390"/>
          </a:xfrm>
          <a:prstGeom prst="rect">
            <a:avLst/>
          </a:prstGeom>
        </p:spPr>
        <p:txBody>
          <a:bodyPr vert="horz" wrap="square" lIns="0" tIns="274955" rIns="0" bIns="0" rtlCol="0">
            <a:spAutoFit/>
          </a:bodyPr>
          <a:lstStyle/>
          <a:p>
            <a:pPr marL="3039110">
              <a:lnSpc>
                <a:spcPct val="100000"/>
              </a:lnSpc>
              <a:spcBef>
                <a:spcPts val="2165"/>
              </a:spcBef>
            </a:pPr>
            <a:r>
              <a:rPr sz="3300" spc="195" dirty="0">
                <a:solidFill>
                  <a:srgbClr val="E7181F"/>
                </a:solidFill>
                <a:latin typeface="Times New Roman"/>
                <a:cs typeface="Times New Roman"/>
              </a:rPr>
              <a:t>kubectl</a:t>
            </a:r>
            <a:r>
              <a:rPr sz="3300" spc="-80" dirty="0">
                <a:solidFill>
                  <a:srgbClr val="E7181F"/>
                </a:solidFill>
                <a:latin typeface="Times New Roman"/>
                <a:cs typeface="Times New Roman"/>
              </a:rPr>
              <a:t> </a:t>
            </a:r>
            <a:r>
              <a:rPr sz="3300" spc="215" dirty="0">
                <a:solidFill>
                  <a:srgbClr val="E7181F"/>
                </a:solidFill>
                <a:latin typeface="Times New Roman"/>
                <a:cs typeface="Times New Roman"/>
              </a:rPr>
              <a:t>create</a:t>
            </a:r>
            <a:r>
              <a:rPr sz="3300" spc="-80" dirty="0">
                <a:solidFill>
                  <a:srgbClr val="E7181F"/>
                </a:solidFill>
                <a:latin typeface="Times New Roman"/>
                <a:cs typeface="Times New Roman"/>
              </a:rPr>
              <a:t> </a:t>
            </a:r>
            <a:r>
              <a:rPr sz="3300" spc="160" dirty="0">
                <a:solidFill>
                  <a:srgbClr val="E7181F"/>
                </a:solidFill>
                <a:latin typeface="Times New Roman"/>
                <a:cs typeface="Times New Roman"/>
              </a:rPr>
              <a:t>-</a:t>
            </a:r>
            <a:r>
              <a:rPr sz="3300" dirty="0">
                <a:solidFill>
                  <a:srgbClr val="E7181F"/>
                </a:solidFill>
                <a:latin typeface="Times New Roman"/>
                <a:cs typeface="Times New Roman"/>
              </a:rPr>
              <a:t>f</a:t>
            </a:r>
            <a:r>
              <a:rPr sz="3300" spc="-75" dirty="0">
                <a:solidFill>
                  <a:srgbClr val="E7181F"/>
                </a:solidFill>
                <a:latin typeface="Times New Roman"/>
                <a:cs typeface="Times New Roman"/>
              </a:rPr>
              <a:t> </a:t>
            </a:r>
            <a:r>
              <a:rPr sz="3300" spc="114" dirty="0">
                <a:solidFill>
                  <a:srgbClr val="E7181F"/>
                </a:solidFill>
                <a:latin typeface="Times New Roman"/>
                <a:cs typeface="Times New Roman"/>
              </a:rPr>
              <a:t>job.yml</a:t>
            </a:r>
            <a:endParaRPr sz="3300">
              <a:latin typeface="Times New Roman"/>
              <a:cs typeface="Times New Roman"/>
            </a:endParaRPr>
          </a:p>
          <a:p>
            <a:pPr marL="12700" marR="5080">
              <a:lnSpc>
                <a:spcPct val="115799"/>
              </a:lnSpc>
              <a:spcBef>
                <a:spcPts val="1440"/>
              </a:spcBef>
            </a:pPr>
            <a:r>
              <a:rPr sz="3400" dirty="0">
                <a:solidFill>
                  <a:srgbClr val="2E377E"/>
                </a:solidFill>
                <a:latin typeface="Georgia"/>
                <a:cs typeface="Georgia"/>
              </a:rPr>
              <a:t>By</a:t>
            </a:r>
            <a:r>
              <a:rPr sz="3400" spc="15" dirty="0">
                <a:solidFill>
                  <a:srgbClr val="2E377E"/>
                </a:solidFill>
                <a:latin typeface="Georgia"/>
                <a:cs typeface="Georgia"/>
              </a:rPr>
              <a:t> </a:t>
            </a:r>
            <a:r>
              <a:rPr sz="3400" spc="55" dirty="0">
                <a:solidFill>
                  <a:srgbClr val="2E377E"/>
                </a:solidFill>
                <a:latin typeface="Georgia"/>
                <a:cs typeface="Georgia"/>
              </a:rPr>
              <a:t>executing</a:t>
            </a:r>
            <a:r>
              <a:rPr sz="3400" spc="15" dirty="0">
                <a:solidFill>
                  <a:srgbClr val="2E377E"/>
                </a:solidFill>
                <a:latin typeface="Georgia"/>
                <a:cs typeface="Georgia"/>
              </a:rPr>
              <a:t> </a:t>
            </a:r>
            <a:r>
              <a:rPr sz="3400" spc="60" dirty="0">
                <a:solidFill>
                  <a:srgbClr val="2E377E"/>
                </a:solidFill>
                <a:latin typeface="Georgia"/>
                <a:cs typeface="Georgia"/>
              </a:rPr>
              <a:t>the</a:t>
            </a:r>
            <a:r>
              <a:rPr sz="3400" spc="15" dirty="0">
                <a:solidFill>
                  <a:srgbClr val="2E377E"/>
                </a:solidFill>
                <a:latin typeface="Georgia"/>
                <a:cs typeface="Georgia"/>
              </a:rPr>
              <a:t> </a:t>
            </a:r>
            <a:r>
              <a:rPr sz="3400" dirty="0">
                <a:solidFill>
                  <a:srgbClr val="2E377E"/>
                </a:solidFill>
                <a:latin typeface="Georgia"/>
                <a:cs typeface="Georgia"/>
              </a:rPr>
              <a:t>above</a:t>
            </a:r>
            <a:r>
              <a:rPr sz="3400" spc="20" dirty="0">
                <a:solidFill>
                  <a:srgbClr val="2E377E"/>
                </a:solidFill>
                <a:latin typeface="Georgia"/>
                <a:cs typeface="Georgia"/>
              </a:rPr>
              <a:t> </a:t>
            </a:r>
            <a:r>
              <a:rPr sz="3400" dirty="0">
                <a:solidFill>
                  <a:srgbClr val="2E377E"/>
                </a:solidFill>
                <a:latin typeface="Georgia"/>
                <a:cs typeface="Georgia"/>
              </a:rPr>
              <a:t>file,</a:t>
            </a:r>
            <a:r>
              <a:rPr sz="3400" spc="15" dirty="0">
                <a:solidFill>
                  <a:srgbClr val="2E377E"/>
                </a:solidFill>
                <a:latin typeface="Georgia"/>
                <a:cs typeface="Georgia"/>
              </a:rPr>
              <a:t> </a:t>
            </a:r>
            <a:r>
              <a:rPr sz="3400" spc="50" dirty="0">
                <a:solidFill>
                  <a:srgbClr val="2E377E"/>
                </a:solidFill>
                <a:latin typeface="Georgia"/>
                <a:cs typeface="Georgia"/>
              </a:rPr>
              <a:t>it</a:t>
            </a:r>
            <a:r>
              <a:rPr sz="3400" spc="15" dirty="0">
                <a:solidFill>
                  <a:srgbClr val="2E377E"/>
                </a:solidFill>
                <a:latin typeface="Georgia"/>
                <a:cs typeface="Georgia"/>
              </a:rPr>
              <a:t> </a:t>
            </a:r>
            <a:r>
              <a:rPr sz="3400" dirty="0">
                <a:solidFill>
                  <a:srgbClr val="2E377E"/>
                </a:solidFill>
                <a:latin typeface="Georgia"/>
                <a:cs typeface="Georgia"/>
              </a:rPr>
              <a:t>will</a:t>
            </a:r>
            <a:r>
              <a:rPr sz="3400" spc="20" dirty="0">
                <a:solidFill>
                  <a:srgbClr val="2E377E"/>
                </a:solidFill>
                <a:latin typeface="Georgia"/>
                <a:cs typeface="Georgia"/>
              </a:rPr>
              <a:t> </a:t>
            </a:r>
            <a:r>
              <a:rPr sz="3400" spc="45" dirty="0">
                <a:solidFill>
                  <a:srgbClr val="2E377E"/>
                </a:solidFill>
                <a:latin typeface="Georgia"/>
                <a:cs typeface="Georgia"/>
              </a:rPr>
              <a:t>creates</a:t>
            </a:r>
            <a:r>
              <a:rPr sz="3400" spc="15" dirty="0">
                <a:solidFill>
                  <a:srgbClr val="2E377E"/>
                </a:solidFill>
                <a:latin typeface="Georgia"/>
                <a:cs typeface="Georgia"/>
              </a:rPr>
              <a:t> </a:t>
            </a:r>
            <a:r>
              <a:rPr sz="3400" spc="60" dirty="0">
                <a:solidFill>
                  <a:srgbClr val="2E377E"/>
                </a:solidFill>
                <a:latin typeface="Georgia"/>
                <a:cs typeface="Georgia"/>
              </a:rPr>
              <a:t>the</a:t>
            </a:r>
            <a:r>
              <a:rPr sz="3400" spc="15" dirty="0">
                <a:solidFill>
                  <a:srgbClr val="2E377E"/>
                </a:solidFill>
                <a:latin typeface="Georgia"/>
                <a:cs typeface="Georgia"/>
              </a:rPr>
              <a:t> </a:t>
            </a:r>
            <a:r>
              <a:rPr sz="3400" dirty="0">
                <a:solidFill>
                  <a:srgbClr val="2E377E"/>
                </a:solidFill>
                <a:latin typeface="Georgia"/>
                <a:cs typeface="Georgia"/>
              </a:rPr>
              <a:t>job</a:t>
            </a:r>
            <a:r>
              <a:rPr sz="3400" spc="15" dirty="0">
                <a:solidFill>
                  <a:srgbClr val="2E377E"/>
                </a:solidFill>
                <a:latin typeface="Georgia"/>
                <a:cs typeface="Georgia"/>
              </a:rPr>
              <a:t> </a:t>
            </a:r>
            <a:r>
              <a:rPr sz="3400" dirty="0">
                <a:solidFill>
                  <a:srgbClr val="2E377E"/>
                </a:solidFill>
                <a:latin typeface="Georgia"/>
                <a:cs typeface="Georgia"/>
              </a:rPr>
              <a:t>and</a:t>
            </a:r>
            <a:r>
              <a:rPr sz="3400" spc="20" dirty="0">
                <a:solidFill>
                  <a:srgbClr val="2E377E"/>
                </a:solidFill>
                <a:latin typeface="Georgia"/>
                <a:cs typeface="Georgia"/>
              </a:rPr>
              <a:t> </a:t>
            </a:r>
            <a:r>
              <a:rPr sz="3400" dirty="0">
                <a:solidFill>
                  <a:srgbClr val="2E377E"/>
                </a:solidFill>
                <a:latin typeface="Georgia"/>
                <a:cs typeface="Georgia"/>
              </a:rPr>
              <a:t>job</a:t>
            </a:r>
            <a:r>
              <a:rPr sz="3400" spc="15" dirty="0">
                <a:solidFill>
                  <a:srgbClr val="2E377E"/>
                </a:solidFill>
                <a:latin typeface="Georgia"/>
                <a:cs typeface="Georgia"/>
              </a:rPr>
              <a:t> </a:t>
            </a:r>
            <a:r>
              <a:rPr sz="3400" dirty="0">
                <a:solidFill>
                  <a:srgbClr val="2E377E"/>
                </a:solidFill>
                <a:latin typeface="Georgia"/>
                <a:cs typeface="Georgia"/>
              </a:rPr>
              <a:t>will</a:t>
            </a:r>
            <a:r>
              <a:rPr sz="3400" spc="15" dirty="0">
                <a:solidFill>
                  <a:srgbClr val="2E377E"/>
                </a:solidFill>
                <a:latin typeface="Georgia"/>
                <a:cs typeface="Georgia"/>
              </a:rPr>
              <a:t> </a:t>
            </a:r>
            <a:r>
              <a:rPr sz="3400" dirty="0">
                <a:solidFill>
                  <a:srgbClr val="2E377E"/>
                </a:solidFill>
                <a:latin typeface="Georgia"/>
                <a:cs typeface="Georgia"/>
              </a:rPr>
              <a:t>automatically</a:t>
            </a:r>
            <a:r>
              <a:rPr sz="3400" spc="20" dirty="0">
                <a:solidFill>
                  <a:srgbClr val="2E377E"/>
                </a:solidFill>
                <a:latin typeface="Georgia"/>
                <a:cs typeface="Georgia"/>
              </a:rPr>
              <a:t> </a:t>
            </a:r>
            <a:r>
              <a:rPr sz="3400" spc="45" dirty="0">
                <a:solidFill>
                  <a:srgbClr val="2E377E"/>
                </a:solidFill>
                <a:latin typeface="Georgia"/>
                <a:cs typeface="Georgia"/>
              </a:rPr>
              <a:t>creates</a:t>
            </a:r>
            <a:r>
              <a:rPr sz="3400" spc="15" dirty="0">
                <a:solidFill>
                  <a:srgbClr val="2E377E"/>
                </a:solidFill>
                <a:latin typeface="Georgia"/>
                <a:cs typeface="Georgia"/>
              </a:rPr>
              <a:t> </a:t>
            </a:r>
            <a:r>
              <a:rPr sz="3400" spc="-20" dirty="0">
                <a:solidFill>
                  <a:srgbClr val="2E377E"/>
                </a:solidFill>
                <a:latin typeface="Georgia"/>
                <a:cs typeface="Georgia"/>
              </a:rPr>
              <a:t>pod. </a:t>
            </a:r>
            <a:r>
              <a:rPr sz="3400" spc="55" dirty="0">
                <a:solidFill>
                  <a:srgbClr val="2E377E"/>
                </a:solidFill>
                <a:latin typeface="Georgia"/>
                <a:cs typeface="Georgia"/>
              </a:rPr>
              <a:t>check</a:t>
            </a:r>
            <a:r>
              <a:rPr sz="3400" spc="-15" dirty="0">
                <a:solidFill>
                  <a:srgbClr val="2E377E"/>
                </a:solidFill>
                <a:latin typeface="Georgia"/>
                <a:cs typeface="Georgia"/>
              </a:rPr>
              <a:t> </a:t>
            </a:r>
            <a:r>
              <a:rPr sz="3400" spc="60" dirty="0">
                <a:solidFill>
                  <a:srgbClr val="2E377E"/>
                </a:solidFill>
                <a:latin typeface="Georgia"/>
                <a:cs typeface="Georgia"/>
              </a:rPr>
              <a:t>the</a:t>
            </a:r>
            <a:r>
              <a:rPr sz="3400" spc="-15" dirty="0">
                <a:solidFill>
                  <a:srgbClr val="2E377E"/>
                </a:solidFill>
                <a:latin typeface="Georgia"/>
                <a:cs typeface="Georgia"/>
              </a:rPr>
              <a:t> </a:t>
            </a:r>
            <a:r>
              <a:rPr sz="3400" dirty="0">
                <a:solidFill>
                  <a:srgbClr val="2E377E"/>
                </a:solidFill>
                <a:latin typeface="Georgia"/>
                <a:cs typeface="Georgia"/>
              </a:rPr>
              <a:t>list</a:t>
            </a:r>
            <a:r>
              <a:rPr sz="3400" spc="-10" dirty="0">
                <a:solidFill>
                  <a:srgbClr val="2E377E"/>
                </a:solidFill>
                <a:latin typeface="Georgia"/>
                <a:cs typeface="Georgia"/>
              </a:rPr>
              <a:t> </a:t>
            </a:r>
            <a:r>
              <a:rPr sz="3400" dirty="0">
                <a:solidFill>
                  <a:srgbClr val="2E377E"/>
                </a:solidFill>
                <a:latin typeface="Georgia"/>
                <a:cs typeface="Georgia"/>
              </a:rPr>
              <a:t>of</a:t>
            </a:r>
            <a:r>
              <a:rPr sz="3400" spc="-15" dirty="0">
                <a:solidFill>
                  <a:srgbClr val="2E377E"/>
                </a:solidFill>
                <a:latin typeface="Georgia"/>
                <a:cs typeface="Georgia"/>
              </a:rPr>
              <a:t> </a:t>
            </a:r>
            <a:r>
              <a:rPr sz="3400" dirty="0">
                <a:solidFill>
                  <a:srgbClr val="2E377E"/>
                </a:solidFill>
                <a:latin typeface="Georgia"/>
                <a:cs typeface="Georgia"/>
              </a:rPr>
              <a:t>pods</a:t>
            </a:r>
            <a:r>
              <a:rPr sz="3400" spc="-15" dirty="0">
                <a:solidFill>
                  <a:srgbClr val="2E377E"/>
                </a:solidFill>
                <a:latin typeface="Georgia"/>
                <a:cs typeface="Georgia"/>
              </a:rPr>
              <a:t> </a:t>
            </a:r>
            <a:r>
              <a:rPr sz="3400" dirty="0">
                <a:solidFill>
                  <a:srgbClr val="2E377E"/>
                </a:solidFill>
                <a:latin typeface="Georgia"/>
                <a:cs typeface="Georgia"/>
              </a:rPr>
              <a:t>and</a:t>
            </a:r>
            <a:r>
              <a:rPr sz="3400" spc="-10" dirty="0">
                <a:solidFill>
                  <a:srgbClr val="2E377E"/>
                </a:solidFill>
                <a:latin typeface="Georgia"/>
                <a:cs typeface="Georgia"/>
              </a:rPr>
              <a:t> </a:t>
            </a:r>
            <a:r>
              <a:rPr sz="3400" spc="-25" dirty="0">
                <a:solidFill>
                  <a:srgbClr val="2E377E"/>
                </a:solidFill>
                <a:latin typeface="Georgia"/>
                <a:cs typeface="Georgia"/>
              </a:rPr>
              <a:t>job</a:t>
            </a:r>
            <a:endParaRPr sz="3400">
              <a:latin typeface="Georgia"/>
              <a:cs typeface="Georgia"/>
            </a:endParaRPr>
          </a:p>
          <a:p>
            <a:pPr marL="746760" indent="-324485">
              <a:lnSpc>
                <a:spcPct val="100000"/>
              </a:lnSpc>
              <a:spcBef>
                <a:spcPts val="645"/>
              </a:spcBef>
              <a:buAutoNum type="arabicPeriod"/>
              <a:tabLst>
                <a:tab pos="746760" algn="l"/>
              </a:tabLst>
            </a:pPr>
            <a:r>
              <a:rPr sz="3400" spc="45" dirty="0">
                <a:solidFill>
                  <a:srgbClr val="E7181F"/>
                </a:solidFill>
                <a:latin typeface="Georgia"/>
                <a:cs typeface="Georgia"/>
              </a:rPr>
              <a:t>kubectl</a:t>
            </a:r>
            <a:r>
              <a:rPr sz="3400" spc="-55" dirty="0">
                <a:solidFill>
                  <a:srgbClr val="E7181F"/>
                </a:solidFill>
                <a:latin typeface="Georgia"/>
                <a:cs typeface="Georgia"/>
              </a:rPr>
              <a:t> </a:t>
            </a:r>
            <a:r>
              <a:rPr sz="3400" spc="65" dirty="0">
                <a:solidFill>
                  <a:srgbClr val="E7181F"/>
                </a:solidFill>
                <a:latin typeface="Georgia"/>
                <a:cs typeface="Georgia"/>
              </a:rPr>
              <a:t>get</a:t>
            </a:r>
            <a:r>
              <a:rPr sz="3400" spc="-50" dirty="0">
                <a:solidFill>
                  <a:srgbClr val="E7181F"/>
                </a:solidFill>
                <a:latin typeface="Georgia"/>
                <a:cs typeface="Georgia"/>
              </a:rPr>
              <a:t> </a:t>
            </a:r>
            <a:r>
              <a:rPr sz="3400" spc="-25" dirty="0">
                <a:solidFill>
                  <a:srgbClr val="E7181F"/>
                </a:solidFill>
                <a:latin typeface="Georgia"/>
                <a:cs typeface="Georgia"/>
              </a:rPr>
              <a:t>po</a:t>
            </a:r>
            <a:endParaRPr sz="3400">
              <a:latin typeface="Georgia"/>
              <a:cs typeface="Georgia"/>
            </a:endParaRPr>
          </a:p>
          <a:p>
            <a:pPr marL="746125" indent="-369570">
              <a:lnSpc>
                <a:spcPct val="100000"/>
              </a:lnSpc>
              <a:spcBef>
                <a:spcPts val="645"/>
              </a:spcBef>
              <a:buAutoNum type="arabicPeriod"/>
              <a:tabLst>
                <a:tab pos="746125" algn="l"/>
              </a:tabLst>
            </a:pPr>
            <a:r>
              <a:rPr sz="3400" spc="45" dirty="0">
                <a:solidFill>
                  <a:srgbClr val="E7181F"/>
                </a:solidFill>
                <a:latin typeface="Georgia"/>
                <a:cs typeface="Georgia"/>
              </a:rPr>
              <a:t>kubectl</a:t>
            </a:r>
            <a:r>
              <a:rPr sz="3400" spc="-55" dirty="0">
                <a:solidFill>
                  <a:srgbClr val="E7181F"/>
                </a:solidFill>
                <a:latin typeface="Georgia"/>
                <a:cs typeface="Georgia"/>
              </a:rPr>
              <a:t> </a:t>
            </a:r>
            <a:r>
              <a:rPr sz="3400" spc="65" dirty="0">
                <a:solidFill>
                  <a:srgbClr val="E7181F"/>
                </a:solidFill>
                <a:latin typeface="Georgia"/>
                <a:cs typeface="Georgia"/>
              </a:rPr>
              <a:t>get</a:t>
            </a:r>
            <a:r>
              <a:rPr sz="3400" spc="-50" dirty="0">
                <a:solidFill>
                  <a:srgbClr val="E7181F"/>
                </a:solidFill>
                <a:latin typeface="Georgia"/>
                <a:cs typeface="Georgia"/>
              </a:rPr>
              <a:t> </a:t>
            </a:r>
            <a:r>
              <a:rPr sz="3400" spc="-20" dirty="0">
                <a:solidFill>
                  <a:srgbClr val="E7181F"/>
                </a:solidFill>
                <a:latin typeface="Georgia"/>
                <a:cs typeface="Georgia"/>
              </a:rPr>
              <a:t>jobs</a:t>
            </a:r>
            <a:endParaRPr sz="3400">
              <a:latin typeface="Georgia"/>
              <a:cs typeface="Georgia"/>
            </a:endParaRPr>
          </a:p>
        </p:txBody>
      </p:sp>
      <p:sp>
        <p:nvSpPr>
          <p:cNvPr id="4" name="object 4"/>
          <p:cNvSpPr txBox="1">
            <a:spLocks noGrp="1"/>
          </p:cNvSpPr>
          <p:nvPr>
            <p:ph type="title"/>
          </p:nvPr>
        </p:nvSpPr>
        <p:spPr>
          <a:prstGeom prst="rect">
            <a:avLst/>
          </a:prstGeom>
        </p:spPr>
        <p:txBody>
          <a:bodyPr vert="horz" wrap="square" lIns="0" tIns="146121" rIns="0" bIns="0" rtlCol="0">
            <a:spAutoFit/>
          </a:bodyPr>
          <a:lstStyle/>
          <a:p>
            <a:pPr marL="12700">
              <a:lnSpc>
                <a:spcPct val="100000"/>
              </a:lnSpc>
              <a:spcBef>
                <a:spcPts val="114"/>
              </a:spcBef>
            </a:pPr>
            <a:r>
              <a:rPr sz="4100" spc="180" dirty="0">
                <a:solidFill>
                  <a:srgbClr val="FF3131"/>
                </a:solidFill>
              </a:rPr>
              <a:t>Work</a:t>
            </a:r>
            <a:r>
              <a:rPr sz="4100" spc="-35" dirty="0">
                <a:solidFill>
                  <a:srgbClr val="FF3131"/>
                </a:solidFill>
              </a:rPr>
              <a:t> </a:t>
            </a:r>
            <a:r>
              <a:rPr sz="4100" spc="235" dirty="0">
                <a:solidFill>
                  <a:srgbClr val="FF3131"/>
                </a:solidFill>
              </a:rPr>
              <a:t>completed</a:t>
            </a:r>
            <a:r>
              <a:rPr sz="4100" spc="-35" dirty="0">
                <a:solidFill>
                  <a:srgbClr val="FF3131"/>
                </a:solidFill>
              </a:rPr>
              <a:t> </a:t>
            </a:r>
            <a:r>
              <a:rPr sz="4100" spc="220" dirty="0">
                <a:solidFill>
                  <a:srgbClr val="FF3131"/>
                </a:solidFill>
              </a:rPr>
              <a:t>and</a:t>
            </a:r>
            <a:r>
              <a:rPr sz="4100" spc="-35" dirty="0">
                <a:solidFill>
                  <a:srgbClr val="FF3131"/>
                </a:solidFill>
              </a:rPr>
              <a:t> </a:t>
            </a:r>
            <a:r>
              <a:rPr sz="4100" spc="265" dirty="0">
                <a:solidFill>
                  <a:srgbClr val="FF3131"/>
                </a:solidFill>
              </a:rPr>
              <a:t>pod</a:t>
            </a:r>
            <a:r>
              <a:rPr sz="4100" spc="-35" dirty="0">
                <a:solidFill>
                  <a:srgbClr val="FF3131"/>
                </a:solidFill>
              </a:rPr>
              <a:t> </a:t>
            </a:r>
            <a:r>
              <a:rPr sz="4100" spc="120" dirty="0">
                <a:solidFill>
                  <a:srgbClr val="FF3131"/>
                </a:solidFill>
              </a:rPr>
              <a:t>deleted:</a:t>
            </a:r>
            <a:endParaRPr sz="4100"/>
          </a:p>
        </p:txBody>
      </p:sp>
      <p:sp>
        <p:nvSpPr>
          <p:cNvPr id="5" name="object 5"/>
          <p:cNvSpPr txBox="1"/>
          <p:nvPr/>
        </p:nvSpPr>
        <p:spPr>
          <a:xfrm>
            <a:off x="14011814" y="3728134"/>
            <a:ext cx="1478280" cy="543560"/>
          </a:xfrm>
          <a:prstGeom prst="rect">
            <a:avLst/>
          </a:prstGeom>
        </p:spPr>
        <p:txBody>
          <a:bodyPr vert="horz" wrap="square" lIns="0" tIns="12700" rIns="0" bIns="0" rtlCol="0">
            <a:spAutoFit/>
          </a:bodyPr>
          <a:lstStyle/>
          <a:p>
            <a:pPr marL="12700">
              <a:lnSpc>
                <a:spcPct val="100000"/>
              </a:lnSpc>
              <a:spcBef>
                <a:spcPts val="100"/>
              </a:spcBef>
            </a:pPr>
            <a:r>
              <a:rPr sz="3400" spc="110" dirty="0">
                <a:solidFill>
                  <a:srgbClr val="2E377E"/>
                </a:solidFill>
                <a:latin typeface="Times New Roman"/>
                <a:cs typeface="Times New Roman"/>
              </a:rPr>
              <a:t>job.yml</a:t>
            </a:r>
            <a:endParaRPr sz="3400">
              <a:latin typeface="Times New Roman"/>
              <a:cs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94247" y="3730165"/>
            <a:ext cx="5772149" cy="6229349"/>
          </a:xfrm>
          <a:prstGeom prst="rect">
            <a:avLst/>
          </a:prstGeom>
        </p:spPr>
      </p:pic>
      <p:sp>
        <p:nvSpPr>
          <p:cNvPr id="3" name="object 3"/>
          <p:cNvSpPr txBox="1"/>
          <p:nvPr/>
        </p:nvSpPr>
        <p:spPr>
          <a:xfrm>
            <a:off x="567065" y="897247"/>
            <a:ext cx="15281910" cy="2425700"/>
          </a:xfrm>
          <a:prstGeom prst="rect">
            <a:avLst/>
          </a:prstGeom>
        </p:spPr>
        <p:txBody>
          <a:bodyPr vert="horz" wrap="square" lIns="0" tIns="12700" rIns="0" bIns="0" rtlCol="0">
            <a:spAutoFit/>
          </a:bodyPr>
          <a:lstStyle/>
          <a:p>
            <a:pPr marL="12700" marR="5080">
              <a:lnSpc>
                <a:spcPct val="115799"/>
              </a:lnSpc>
              <a:spcBef>
                <a:spcPts val="100"/>
              </a:spcBef>
            </a:pPr>
            <a:r>
              <a:rPr sz="3400" dirty="0">
                <a:solidFill>
                  <a:srgbClr val="2E377E"/>
                </a:solidFill>
                <a:latin typeface="Georgia"/>
                <a:cs typeface="Georgia"/>
              </a:rPr>
              <a:t>Inside</a:t>
            </a:r>
            <a:r>
              <a:rPr sz="3400" spc="15" dirty="0">
                <a:solidFill>
                  <a:srgbClr val="2E377E"/>
                </a:solidFill>
                <a:latin typeface="Georgia"/>
                <a:cs typeface="Georgia"/>
              </a:rPr>
              <a:t> </a:t>
            </a:r>
            <a:r>
              <a:rPr sz="3400" spc="60" dirty="0">
                <a:solidFill>
                  <a:srgbClr val="2E377E"/>
                </a:solidFill>
                <a:latin typeface="Georgia"/>
                <a:cs typeface="Georgia"/>
              </a:rPr>
              <a:t>the</a:t>
            </a:r>
            <a:r>
              <a:rPr sz="3400" spc="15" dirty="0">
                <a:solidFill>
                  <a:srgbClr val="2E377E"/>
                </a:solidFill>
                <a:latin typeface="Georgia"/>
                <a:cs typeface="Georgia"/>
              </a:rPr>
              <a:t> </a:t>
            </a:r>
            <a:r>
              <a:rPr sz="3400" dirty="0">
                <a:solidFill>
                  <a:srgbClr val="2E377E"/>
                </a:solidFill>
                <a:latin typeface="Georgia"/>
                <a:cs typeface="Georgia"/>
              </a:rPr>
              <a:t>pod,</a:t>
            </a:r>
            <a:r>
              <a:rPr sz="3400" spc="15" dirty="0">
                <a:solidFill>
                  <a:srgbClr val="2E377E"/>
                </a:solidFill>
                <a:latin typeface="Georgia"/>
                <a:cs typeface="Georgia"/>
              </a:rPr>
              <a:t> </a:t>
            </a:r>
            <a:r>
              <a:rPr sz="3400" spc="60" dirty="0">
                <a:solidFill>
                  <a:srgbClr val="2E377E"/>
                </a:solidFill>
                <a:latin typeface="Georgia"/>
                <a:cs typeface="Georgia"/>
              </a:rPr>
              <a:t>the</a:t>
            </a:r>
            <a:r>
              <a:rPr sz="3400" spc="15" dirty="0">
                <a:solidFill>
                  <a:srgbClr val="2E377E"/>
                </a:solidFill>
                <a:latin typeface="Georgia"/>
                <a:cs typeface="Georgia"/>
              </a:rPr>
              <a:t> </a:t>
            </a:r>
            <a:r>
              <a:rPr sz="3400" dirty="0">
                <a:solidFill>
                  <a:srgbClr val="2E377E"/>
                </a:solidFill>
                <a:latin typeface="Georgia"/>
                <a:cs typeface="Georgia"/>
              </a:rPr>
              <a:t>container</a:t>
            </a:r>
            <a:r>
              <a:rPr sz="3400" spc="15" dirty="0">
                <a:solidFill>
                  <a:srgbClr val="2E377E"/>
                </a:solidFill>
                <a:latin typeface="Georgia"/>
                <a:cs typeface="Georgia"/>
              </a:rPr>
              <a:t> </a:t>
            </a:r>
            <a:r>
              <a:rPr sz="3400" dirty="0">
                <a:solidFill>
                  <a:srgbClr val="2E377E"/>
                </a:solidFill>
                <a:latin typeface="Georgia"/>
                <a:cs typeface="Georgia"/>
              </a:rPr>
              <a:t>will</a:t>
            </a:r>
            <a:r>
              <a:rPr sz="3400" spc="20" dirty="0">
                <a:solidFill>
                  <a:srgbClr val="2E377E"/>
                </a:solidFill>
                <a:latin typeface="Georgia"/>
                <a:cs typeface="Georgia"/>
              </a:rPr>
              <a:t> </a:t>
            </a:r>
            <a:r>
              <a:rPr sz="3400" spc="55" dirty="0">
                <a:solidFill>
                  <a:srgbClr val="2E377E"/>
                </a:solidFill>
                <a:latin typeface="Georgia"/>
                <a:cs typeface="Georgia"/>
              </a:rPr>
              <a:t>gets</a:t>
            </a:r>
            <a:r>
              <a:rPr sz="3400" spc="15" dirty="0">
                <a:solidFill>
                  <a:srgbClr val="2E377E"/>
                </a:solidFill>
                <a:latin typeface="Georgia"/>
                <a:cs typeface="Georgia"/>
              </a:rPr>
              <a:t> </a:t>
            </a:r>
            <a:r>
              <a:rPr sz="3400" dirty="0">
                <a:solidFill>
                  <a:srgbClr val="2E377E"/>
                </a:solidFill>
                <a:latin typeface="Georgia"/>
                <a:cs typeface="Georgia"/>
              </a:rPr>
              <a:t>updated</a:t>
            </a:r>
            <a:r>
              <a:rPr sz="3400" spc="15" dirty="0">
                <a:solidFill>
                  <a:srgbClr val="2E377E"/>
                </a:solidFill>
                <a:latin typeface="Georgia"/>
                <a:cs typeface="Georgia"/>
              </a:rPr>
              <a:t> </a:t>
            </a:r>
            <a:r>
              <a:rPr sz="3400" dirty="0">
                <a:solidFill>
                  <a:srgbClr val="2E377E"/>
                </a:solidFill>
                <a:latin typeface="Georgia"/>
                <a:cs typeface="Georgia"/>
              </a:rPr>
              <a:t>and</a:t>
            </a:r>
            <a:r>
              <a:rPr sz="3400" spc="15" dirty="0">
                <a:solidFill>
                  <a:srgbClr val="2E377E"/>
                </a:solidFill>
                <a:latin typeface="Georgia"/>
                <a:cs typeface="Georgia"/>
              </a:rPr>
              <a:t> </a:t>
            </a:r>
            <a:r>
              <a:rPr sz="3400" spc="50" dirty="0">
                <a:solidFill>
                  <a:srgbClr val="2E377E"/>
                </a:solidFill>
                <a:latin typeface="Georgia"/>
                <a:cs typeface="Georgia"/>
              </a:rPr>
              <a:t>it</a:t>
            </a:r>
            <a:r>
              <a:rPr sz="3400" spc="15" dirty="0">
                <a:solidFill>
                  <a:srgbClr val="2E377E"/>
                </a:solidFill>
                <a:latin typeface="Georgia"/>
                <a:cs typeface="Georgia"/>
              </a:rPr>
              <a:t> </a:t>
            </a:r>
            <a:r>
              <a:rPr sz="3400" dirty="0">
                <a:solidFill>
                  <a:srgbClr val="2E377E"/>
                </a:solidFill>
                <a:latin typeface="Georgia"/>
                <a:cs typeface="Georgia"/>
              </a:rPr>
              <a:t>will</a:t>
            </a:r>
            <a:r>
              <a:rPr sz="3400" spc="20" dirty="0">
                <a:solidFill>
                  <a:srgbClr val="2E377E"/>
                </a:solidFill>
                <a:latin typeface="Georgia"/>
                <a:cs typeface="Georgia"/>
              </a:rPr>
              <a:t> </a:t>
            </a:r>
            <a:r>
              <a:rPr sz="3400" dirty="0">
                <a:solidFill>
                  <a:srgbClr val="2E377E"/>
                </a:solidFill>
                <a:latin typeface="Georgia"/>
                <a:cs typeface="Georgia"/>
              </a:rPr>
              <a:t>sleep</a:t>
            </a:r>
            <a:r>
              <a:rPr sz="3400" spc="15" dirty="0">
                <a:solidFill>
                  <a:srgbClr val="2E377E"/>
                </a:solidFill>
                <a:latin typeface="Georgia"/>
                <a:cs typeface="Georgia"/>
              </a:rPr>
              <a:t> </a:t>
            </a:r>
            <a:r>
              <a:rPr sz="3400" dirty="0">
                <a:solidFill>
                  <a:srgbClr val="2E377E"/>
                </a:solidFill>
                <a:latin typeface="Georgia"/>
                <a:cs typeface="Georgia"/>
              </a:rPr>
              <a:t>for</a:t>
            </a:r>
            <a:r>
              <a:rPr sz="3400" spc="15" dirty="0">
                <a:solidFill>
                  <a:srgbClr val="2E377E"/>
                </a:solidFill>
                <a:latin typeface="Georgia"/>
                <a:cs typeface="Georgia"/>
              </a:rPr>
              <a:t> </a:t>
            </a:r>
            <a:r>
              <a:rPr sz="3400" spc="-110" dirty="0">
                <a:solidFill>
                  <a:srgbClr val="2E377E"/>
                </a:solidFill>
                <a:latin typeface="Georgia"/>
                <a:cs typeface="Georgia"/>
              </a:rPr>
              <a:t>130</a:t>
            </a:r>
            <a:r>
              <a:rPr sz="3400" spc="15" dirty="0">
                <a:solidFill>
                  <a:srgbClr val="2E377E"/>
                </a:solidFill>
                <a:latin typeface="Georgia"/>
                <a:cs typeface="Georgia"/>
              </a:rPr>
              <a:t> </a:t>
            </a:r>
            <a:r>
              <a:rPr sz="3400" spc="-10" dirty="0">
                <a:solidFill>
                  <a:srgbClr val="2E377E"/>
                </a:solidFill>
                <a:latin typeface="Georgia"/>
                <a:cs typeface="Georgia"/>
              </a:rPr>
              <a:t>seconds, </a:t>
            </a:r>
            <a:r>
              <a:rPr sz="3400" dirty="0">
                <a:solidFill>
                  <a:srgbClr val="2E377E"/>
                </a:solidFill>
                <a:latin typeface="Georgia"/>
                <a:cs typeface="Georgia"/>
              </a:rPr>
              <a:t>After</a:t>
            </a:r>
            <a:r>
              <a:rPr sz="3400" spc="35" dirty="0">
                <a:solidFill>
                  <a:srgbClr val="2E377E"/>
                </a:solidFill>
                <a:latin typeface="Georgia"/>
                <a:cs typeface="Georgia"/>
              </a:rPr>
              <a:t> </a:t>
            </a:r>
            <a:r>
              <a:rPr sz="3400" spc="-110" dirty="0">
                <a:solidFill>
                  <a:srgbClr val="2E377E"/>
                </a:solidFill>
                <a:latin typeface="Georgia"/>
                <a:cs typeface="Georgia"/>
              </a:rPr>
              <a:t>130</a:t>
            </a:r>
            <a:r>
              <a:rPr sz="3400" spc="35" dirty="0">
                <a:solidFill>
                  <a:srgbClr val="2E377E"/>
                </a:solidFill>
                <a:latin typeface="Georgia"/>
                <a:cs typeface="Georgia"/>
              </a:rPr>
              <a:t> </a:t>
            </a:r>
            <a:r>
              <a:rPr sz="3400" dirty="0">
                <a:solidFill>
                  <a:srgbClr val="2E377E"/>
                </a:solidFill>
                <a:latin typeface="Georgia"/>
                <a:cs typeface="Georgia"/>
              </a:rPr>
              <a:t>seconds</a:t>
            </a:r>
            <a:r>
              <a:rPr sz="3400" spc="40" dirty="0">
                <a:solidFill>
                  <a:srgbClr val="2E377E"/>
                </a:solidFill>
                <a:latin typeface="Georgia"/>
                <a:cs typeface="Georgia"/>
              </a:rPr>
              <a:t> </a:t>
            </a:r>
            <a:r>
              <a:rPr sz="3400" dirty="0">
                <a:solidFill>
                  <a:srgbClr val="2E377E"/>
                </a:solidFill>
                <a:latin typeface="Georgia"/>
                <a:cs typeface="Georgia"/>
              </a:rPr>
              <a:t>then</a:t>
            </a:r>
            <a:r>
              <a:rPr sz="3400" spc="35" dirty="0">
                <a:solidFill>
                  <a:srgbClr val="2E377E"/>
                </a:solidFill>
                <a:latin typeface="Georgia"/>
                <a:cs typeface="Georgia"/>
              </a:rPr>
              <a:t> </a:t>
            </a:r>
            <a:r>
              <a:rPr sz="3400" spc="60" dirty="0">
                <a:solidFill>
                  <a:srgbClr val="2E377E"/>
                </a:solidFill>
                <a:latin typeface="Georgia"/>
                <a:cs typeface="Georgia"/>
              </a:rPr>
              <a:t>the</a:t>
            </a:r>
            <a:r>
              <a:rPr sz="3400" spc="35" dirty="0">
                <a:solidFill>
                  <a:srgbClr val="2E377E"/>
                </a:solidFill>
                <a:latin typeface="Georgia"/>
                <a:cs typeface="Georgia"/>
              </a:rPr>
              <a:t> </a:t>
            </a:r>
            <a:r>
              <a:rPr sz="3400" dirty="0">
                <a:solidFill>
                  <a:srgbClr val="2E377E"/>
                </a:solidFill>
                <a:latin typeface="Georgia"/>
                <a:cs typeface="Georgia"/>
              </a:rPr>
              <a:t>pod</a:t>
            </a:r>
            <a:r>
              <a:rPr sz="3400" spc="40" dirty="0">
                <a:solidFill>
                  <a:srgbClr val="2E377E"/>
                </a:solidFill>
                <a:latin typeface="Georgia"/>
                <a:cs typeface="Georgia"/>
              </a:rPr>
              <a:t> </a:t>
            </a:r>
            <a:r>
              <a:rPr sz="3400" dirty="0">
                <a:solidFill>
                  <a:srgbClr val="2E377E"/>
                </a:solidFill>
                <a:latin typeface="Georgia"/>
                <a:cs typeface="Georgia"/>
              </a:rPr>
              <a:t>will</a:t>
            </a:r>
            <a:r>
              <a:rPr sz="3400" spc="35" dirty="0">
                <a:solidFill>
                  <a:srgbClr val="2E377E"/>
                </a:solidFill>
                <a:latin typeface="Georgia"/>
                <a:cs typeface="Georgia"/>
              </a:rPr>
              <a:t> </a:t>
            </a:r>
            <a:r>
              <a:rPr sz="3400" spc="55" dirty="0">
                <a:solidFill>
                  <a:srgbClr val="2E377E"/>
                </a:solidFill>
                <a:latin typeface="Georgia"/>
                <a:cs typeface="Georgia"/>
              </a:rPr>
              <a:t>gets</a:t>
            </a:r>
            <a:r>
              <a:rPr sz="3400" spc="40" dirty="0">
                <a:solidFill>
                  <a:srgbClr val="2E377E"/>
                </a:solidFill>
                <a:latin typeface="Georgia"/>
                <a:cs typeface="Georgia"/>
              </a:rPr>
              <a:t> </a:t>
            </a:r>
            <a:r>
              <a:rPr sz="3400" spc="-10" dirty="0">
                <a:solidFill>
                  <a:srgbClr val="2E377E"/>
                </a:solidFill>
                <a:latin typeface="Georgia"/>
                <a:cs typeface="Georgia"/>
              </a:rPr>
              <a:t>deleted.</a:t>
            </a:r>
            <a:endParaRPr sz="3400">
              <a:latin typeface="Georgia"/>
              <a:cs typeface="Georgia"/>
            </a:endParaRPr>
          </a:p>
          <a:p>
            <a:pPr>
              <a:lnSpc>
                <a:spcPct val="100000"/>
              </a:lnSpc>
              <a:spcBef>
                <a:spcPts val="1505"/>
              </a:spcBef>
            </a:pPr>
            <a:endParaRPr sz="3400">
              <a:latin typeface="Georgia"/>
              <a:cs typeface="Georgia"/>
            </a:endParaRPr>
          </a:p>
          <a:p>
            <a:pPr marL="12700">
              <a:lnSpc>
                <a:spcPct val="100000"/>
              </a:lnSpc>
            </a:pPr>
            <a:r>
              <a:rPr sz="3400" dirty="0">
                <a:solidFill>
                  <a:srgbClr val="2E377E"/>
                </a:solidFill>
                <a:latin typeface="Georgia"/>
                <a:cs typeface="Georgia"/>
              </a:rPr>
              <a:t>To</a:t>
            </a:r>
            <a:r>
              <a:rPr sz="3400" spc="35" dirty="0">
                <a:solidFill>
                  <a:srgbClr val="2E377E"/>
                </a:solidFill>
                <a:latin typeface="Georgia"/>
                <a:cs typeface="Georgia"/>
              </a:rPr>
              <a:t> </a:t>
            </a:r>
            <a:r>
              <a:rPr sz="3400" spc="70" dirty="0">
                <a:solidFill>
                  <a:srgbClr val="2E377E"/>
                </a:solidFill>
                <a:latin typeface="Georgia"/>
                <a:cs typeface="Georgia"/>
              </a:rPr>
              <a:t>execute</a:t>
            </a:r>
            <a:r>
              <a:rPr sz="3400" spc="40" dirty="0">
                <a:solidFill>
                  <a:srgbClr val="2E377E"/>
                </a:solidFill>
                <a:latin typeface="Georgia"/>
                <a:cs typeface="Georgia"/>
              </a:rPr>
              <a:t> </a:t>
            </a:r>
            <a:r>
              <a:rPr sz="3400" spc="60" dirty="0">
                <a:solidFill>
                  <a:srgbClr val="2E377E"/>
                </a:solidFill>
                <a:latin typeface="Georgia"/>
                <a:cs typeface="Georgia"/>
              </a:rPr>
              <a:t>the</a:t>
            </a:r>
            <a:r>
              <a:rPr sz="3400" spc="35" dirty="0">
                <a:solidFill>
                  <a:srgbClr val="2E377E"/>
                </a:solidFill>
                <a:latin typeface="Georgia"/>
                <a:cs typeface="Georgia"/>
              </a:rPr>
              <a:t> </a:t>
            </a:r>
            <a:r>
              <a:rPr sz="3400" dirty="0">
                <a:solidFill>
                  <a:srgbClr val="2E377E"/>
                </a:solidFill>
                <a:latin typeface="Georgia"/>
                <a:cs typeface="Georgia"/>
              </a:rPr>
              <a:t>multiple</a:t>
            </a:r>
            <a:r>
              <a:rPr sz="3400" spc="40" dirty="0">
                <a:solidFill>
                  <a:srgbClr val="2E377E"/>
                </a:solidFill>
                <a:latin typeface="Georgia"/>
                <a:cs typeface="Georgia"/>
              </a:rPr>
              <a:t> </a:t>
            </a:r>
            <a:r>
              <a:rPr sz="3400" dirty="0">
                <a:solidFill>
                  <a:srgbClr val="2E377E"/>
                </a:solidFill>
                <a:latin typeface="Georgia"/>
                <a:cs typeface="Georgia"/>
              </a:rPr>
              <a:t>commands,</a:t>
            </a:r>
            <a:r>
              <a:rPr sz="3400" spc="35" dirty="0">
                <a:solidFill>
                  <a:srgbClr val="2E377E"/>
                </a:solidFill>
                <a:latin typeface="Georgia"/>
                <a:cs typeface="Georgia"/>
              </a:rPr>
              <a:t> </a:t>
            </a:r>
            <a:r>
              <a:rPr sz="3400" dirty="0">
                <a:solidFill>
                  <a:srgbClr val="2E377E"/>
                </a:solidFill>
                <a:latin typeface="Georgia"/>
                <a:cs typeface="Georgia"/>
              </a:rPr>
              <a:t>use</a:t>
            </a:r>
            <a:r>
              <a:rPr sz="3400" spc="40" dirty="0">
                <a:solidFill>
                  <a:srgbClr val="2E377E"/>
                </a:solidFill>
                <a:latin typeface="Georgia"/>
                <a:cs typeface="Georgia"/>
              </a:rPr>
              <a:t> </a:t>
            </a:r>
            <a:r>
              <a:rPr sz="3400" spc="60" dirty="0">
                <a:solidFill>
                  <a:srgbClr val="2E377E"/>
                </a:solidFill>
                <a:latin typeface="Georgia"/>
                <a:cs typeface="Georgia"/>
              </a:rPr>
              <a:t>the</a:t>
            </a:r>
            <a:r>
              <a:rPr sz="3400" spc="35" dirty="0">
                <a:solidFill>
                  <a:srgbClr val="2E377E"/>
                </a:solidFill>
                <a:latin typeface="Georgia"/>
                <a:cs typeface="Georgia"/>
              </a:rPr>
              <a:t> </a:t>
            </a:r>
            <a:r>
              <a:rPr sz="3400" dirty="0">
                <a:solidFill>
                  <a:srgbClr val="2E377E"/>
                </a:solidFill>
                <a:latin typeface="Georgia"/>
                <a:cs typeface="Georgia"/>
              </a:rPr>
              <a:t>below</a:t>
            </a:r>
            <a:r>
              <a:rPr sz="3400" spc="40" dirty="0">
                <a:solidFill>
                  <a:srgbClr val="2E377E"/>
                </a:solidFill>
                <a:latin typeface="Georgia"/>
                <a:cs typeface="Georgia"/>
              </a:rPr>
              <a:t> </a:t>
            </a:r>
            <a:r>
              <a:rPr sz="3400" dirty="0">
                <a:solidFill>
                  <a:srgbClr val="2E377E"/>
                </a:solidFill>
                <a:latin typeface="Georgia"/>
                <a:cs typeface="Georgia"/>
              </a:rPr>
              <a:t>manifest</a:t>
            </a:r>
            <a:r>
              <a:rPr sz="3400" spc="40" dirty="0">
                <a:solidFill>
                  <a:srgbClr val="2E377E"/>
                </a:solidFill>
                <a:latin typeface="Georgia"/>
                <a:cs typeface="Georgia"/>
              </a:rPr>
              <a:t> </a:t>
            </a:r>
            <a:r>
              <a:rPr sz="3400" spc="-20" dirty="0">
                <a:solidFill>
                  <a:srgbClr val="2E377E"/>
                </a:solidFill>
                <a:latin typeface="Georgia"/>
                <a:cs typeface="Georgia"/>
              </a:rPr>
              <a:t>file</a:t>
            </a:r>
            <a:endParaRPr sz="3400">
              <a:latin typeface="Georgia"/>
              <a:cs typeface="Georgia"/>
            </a:endParaRPr>
          </a:p>
        </p:txBody>
      </p:sp>
      <p:sp>
        <p:nvSpPr>
          <p:cNvPr id="4" name="object 4"/>
          <p:cNvSpPr txBox="1"/>
          <p:nvPr/>
        </p:nvSpPr>
        <p:spPr>
          <a:xfrm>
            <a:off x="7971917" y="5427486"/>
            <a:ext cx="8340090" cy="1225550"/>
          </a:xfrm>
          <a:prstGeom prst="rect">
            <a:avLst/>
          </a:prstGeom>
        </p:spPr>
        <p:txBody>
          <a:bodyPr vert="horz" wrap="square" lIns="0" tIns="12700" rIns="0" bIns="0" rtlCol="0">
            <a:spAutoFit/>
          </a:bodyPr>
          <a:lstStyle/>
          <a:p>
            <a:pPr marL="12700" marR="5080">
              <a:lnSpc>
                <a:spcPct val="115799"/>
              </a:lnSpc>
              <a:spcBef>
                <a:spcPts val="100"/>
              </a:spcBef>
            </a:pPr>
            <a:r>
              <a:rPr sz="3400" dirty="0">
                <a:solidFill>
                  <a:srgbClr val="2E377E"/>
                </a:solidFill>
                <a:latin typeface="Georgia"/>
                <a:cs typeface="Georgia"/>
              </a:rPr>
              <a:t>This pod</a:t>
            </a:r>
            <a:r>
              <a:rPr sz="3400" spc="5" dirty="0">
                <a:solidFill>
                  <a:srgbClr val="2E377E"/>
                </a:solidFill>
                <a:latin typeface="Georgia"/>
                <a:cs typeface="Georgia"/>
              </a:rPr>
              <a:t> </a:t>
            </a:r>
            <a:r>
              <a:rPr sz="3400" dirty="0">
                <a:solidFill>
                  <a:srgbClr val="2E377E"/>
                </a:solidFill>
                <a:latin typeface="Georgia"/>
                <a:cs typeface="Georgia"/>
              </a:rPr>
              <a:t>will</a:t>
            </a:r>
            <a:r>
              <a:rPr sz="3400" spc="5" dirty="0">
                <a:solidFill>
                  <a:srgbClr val="2E377E"/>
                </a:solidFill>
                <a:latin typeface="Georgia"/>
                <a:cs typeface="Georgia"/>
              </a:rPr>
              <a:t> </a:t>
            </a:r>
            <a:r>
              <a:rPr sz="3400" spc="45" dirty="0">
                <a:solidFill>
                  <a:srgbClr val="2E377E"/>
                </a:solidFill>
                <a:latin typeface="Georgia"/>
                <a:cs typeface="Georgia"/>
              </a:rPr>
              <a:t>creates</a:t>
            </a:r>
            <a:r>
              <a:rPr sz="3400" spc="5" dirty="0">
                <a:solidFill>
                  <a:srgbClr val="2E377E"/>
                </a:solidFill>
                <a:latin typeface="Georgia"/>
                <a:cs typeface="Georgia"/>
              </a:rPr>
              <a:t> </a:t>
            </a:r>
            <a:r>
              <a:rPr sz="3400" spc="60" dirty="0">
                <a:solidFill>
                  <a:srgbClr val="2E377E"/>
                </a:solidFill>
                <a:latin typeface="Georgia"/>
                <a:cs typeface="Georgia"/>
              </a:rPr>
              <a:t>the</a:t>
            </a:r>
            <a:r>
              <a:rPr sz="3400" dirty="0">
                <a:solidFill>
                  <a:srgbClr val="2E377E"/>
                </a:solidFill>
                <a:latin typeface="Georgia"/>
                <a:cs typeface="Georgia"/>
              </a:rPr>
              <a:t> file</a:t>
            </a:r>
            <a:r>
              <a:rPr sz="3400" spc="5" dirty="0">
                <a:solidFill>
                  <a:srgbClr val="2E377E"/>
                </a:solidFill>
                <a:latin typeface="Georgia"/>
                <a:cs typeface="Georgia"/>
              </a:rPr>
              <a:t> </a:t>
            </a:r>
            <a:r>
              <a:rPr sz="3400" dirty="0">
                <a:solidFill>
                  <a:srgbClr val="2E377E"/>
                </a:solidFill>
                <a:latin typeface="Georgia"/>
                <a:cs typeface="Georgia"/>
              </a:rPr>
              <a:t>and</a:t>
            </a:r>
            <a:r>
              <a:rPr sz="3400" spc="5" dirty="0">
                <a:solidFill>
                  <a:srgbClr val="2E377E"/>
                </a:solidFill>
                <a:latin typeface="Georgia"/>
                <a:cs typeface="Georgia"/>
              </a:rPr>
              <a:t> </a:t>
            </a:r>
            <a:r>
              <a:rPr sz="3400" dirty="0">
                <a:solidFill>
                  <a:srgbClr val="2E377E"/>
                </a:solidFill>
                <a:latin typeface="Georgia"/>
                <a:cs typeface="Georgia"/>
              </a:rPr>
              <a:t>folder</a:t>
            </a:r>
            <a:r>
              <a:rPr sz="3400" spc="5" dirty="0">
                <a:solidFill>
                  <a:srgbClr val="2E377E"/>
                </a:solidFill>
                <a:latin typeface="Georgia"/>
                <a:cs typeface="Georgia"/>
              </a:rPr>
              <a:t> </a:t>
            </a:r>
            <a:r>
              <a:rPr sz="3400" spc="-25" dirty="0">
                <a:solidFill>
                  <a:srgbClr val="2E377E"/>
                </a:solidFill>
                <a:latin typeface="Georgia"/>
                <a:cs typeface="Georgia"/>
              </a:rPr>
              <a:t>and </a:t>
            </a:r>
            <a:r>
              <a:rPr sz="3400" spc="50" dirty="0">
                <a:solidFill>
                  <a:srgbClr val="2E377E"/>
                </a:solidFill>
                <a:latin typeface="Georgia"/>
                <a:cs typeface="Georgia"/>
              </a:rPr>
              <a:t>after</a:t>
            </a:r>
            <a:r>
              <a:rPr sz="3400" dirty="0">
                <a:solidFill>
                  <a:srgbClr val="2E377E"/>
                </a:solidFill>
                <a:latin typeface="Georgia"/>
                <a:cs typeface="Georgia"/>
              </a:rPr>
              <a:t> </a:t>
            </a:r>
            <a:r>
              <a:rPr sz="3400" spc="-170" dirty="0">
                <a:solidFill>
                  <a:srgbClr val="2E377E"/>
                </a:solidFill>
                <a:latin typeface="Georgia"/>
                <a:cs typeface="Georgia"/>
              </a:rPr>
              <a:t>90</a:t>
            </a:r>
            <a:r>
              <a:rPr sz="3400" dirty="0">
                <a:solidFill>
                  <a:srgbClr val="2E377E"/>
                </a:solidFill>
                <a:latin typeface="Georgia"/>
                <a:cs typeface="Georgia"/>
              </a:rPr>
              <a:t> seconds </a:t>
            </a:r>
            <a:r>
              <a:rPr sz="3400" spc="60" dirty="0">
                <a:solidFill>
                  <a:srgbClr val="2E377E"/>
                </a:solidFill>
                <a:latin typeface="Georgia"/>
                <a:cs typeface="Georgia"/>
              </a:rPr>
              <a:t>the</a:t>
            </a:r>
            <a:r>
              <a:rPr sz="3400" dirty="0">
                <a:solidFill>
                  <a:srgbClr val="2E377E"/>
                </a:solidFill>
                <a:latin typeface="Georgia"/>
                <a:cs typeface="Georgia"/>
              </a:rPr>
              <a:t> pod</a:t>
            </a:r>
            <a:r>
              <a:rPr sz="3400" spc="5" dirty="0">
                <a:solidFill>
                  <a:srgbClr val="2E377E"/>
                </a:solidFill>
                <a:latin typeface="Georgia"/>
                <a:cs typeface="Georgia"/>
              </a:rPr>
              <a:t> </a:t>
            </a:r>
            <a:r>
              <a:rPr sz="3400" dirty="0">
                <a:solidFill>
                  <a:srgbClr val="2E377E"/>
                </a:solidFill>
                <a:latin typeface="Georgia"/>
                <a:cs typeface="Georgia"/>
              </a:rPr>
              <a:t>will </a:t>
            </a:r>
            <a:r>
              <a:rPr sz="3400" spc="55" dirty="0">
                <a:solidFill>
                  <a:srgbClr val="2E377E"/>
                </a:solidFill>
                <a:latin typeface="Georgia"/>
                <a:cs typeface="Georgia"/>
              </a:rPr>
              <a:t>gets</a:t>
            </a:r>
            <a:r>
              <a:rPr sz="3400" dirty="0">
                <a:solidFill>
                  <a:srgbClr val="2E377E"/>
                </a:solidFill>
                <a:latin typeface="Georgia"/>
                <a:cs typeface="Georgia"/>
              </a:rPr>
              <a:t> </a:t>
            </a:r>
            <a:r>
              <a:rPr sz="3400" spc="-10" dirty="0">
                <a:solidFill>
                  <a:srgbClr val="2E377E"/>
                </a:solidFill>
                <a:latin typeface="Georgia"/>
                <a:cs typeface="Georgia"/>
              </a:rPr>
              <a:t>deleted.</a:t>
            </a:r>
            <a:endParaRPr sz="3400">
              <a:latin typeface="Georgia"/>
              <a:cs typeface="Georgia"/>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7828" y="1778049"/>
            <a:ext cx="16802097" cy="6038849"/>
          </a:xfrm>
          <a:prstGeom prst="rect">
            <a:avLst/>
          </a:prstGeom>
        </p:spPr>
      </p:pic>
      <p:sp>
        <p:nvSpPr>
          <p:cNvPr id="3" name="object 3"/>
          <p:cNvSpPr txBox="1">
            <a:spLocks noGrp="1"/>
          </p:cNvSpPr>
          <p:nvPr>
            <p:ph type="title"/>
          </p:nvPr>
        </p:nvSpPr>
        <p:spPr>
          <a:prstGeom prst="rect">
            <a:avLst/>
          </a:prstGeom>
        </p:spPr>
        <p:txBody>
          <a:bodyPr vert="horz" wrap="square" lIns="0" tIns="32384" rIns="0" bIns="0" rtlCol="0">
            <a:spAutoFit/>
          </a:bodyPr>
          <a:lstStyle/>
          <a:p>
            <a:pPr marL="12700" marR="5080">
              <a:lnSpc>
                <a:spcPts val="4880"/>
              </a:lnSpc>
              <a:spcBef>
                <a:spcPts val="254"/>
              </a:spcBef>
            </a:pPr>
            <a:r>
              <a:rPr sz="4100" dirty="0">
                <a:solidFill>
                  <a:srgbClr val="FF3131"/>
                </a:solidFill>
              </a:rPr>
              <a:t>Create</a:t>
            </a:r>
            <a:r>
              <a:rPr sz="4100" spc="-10" dirty="0">
                <a:solidFill>
                  <a:srgbClr val="FF3131"/>
                </a:solidFill>
              </a:rPr>
              <a:t> </a:t>
            </a:r>
            <a:r>
              <a:rPr sz="4100" spc="220" dirty="0">
                <a:solidFill>
                  <a:srgbClr val="FF3131"/>
                </a:solidFill>
              </a:rPr>
              <a:t>and</a:t>
            </a:r>
            <a:r>
              <a:rPr sz="4100" spc="-5" dirty="0">
                <a:solidFill>
                  <a:srgbClr val="FF3131"/>
                </a:solidFill>
              </a:rPr>
              <a:t> </a:t>
            </a:r>
            <a:r>
              <a:rPr sz="4100" spc="200" dirty="0">
                <a:solidFill>
                  <a:srgbClr val="FF3131"/>
                </a:solidFill>
              </a:rPr>
              <a:t>run</a:t>
            </a:r>
            <a:r>
              <a:rPr sz="4100" spc="-5" dirty="0">
                <a:solidFill>
                  <a:srgbClr val="FF3131"/>
                </a:solidFill>
              </a:rPr>
              <a:t> </a:t>
            </a:r>
            <a:r>
              <a:rPr sz="4100" spc="185" dirty="0">
                <a:solidFill>
                  <a:srgbClr val="FF3131"/>
                </a:solidFill>
              </a:rPr>
              <a:t>the</a:t>
            </a:r>
            <a:r>
              <a:rPr sz="4100" spc="-5" dirty="0">
                <a:solidFill>
                  <a:srgbClr val="FF3131"/>
                </a:solidFill>
              </a:rPr>
              <a:t> </a:t>
            </a:r>
            <a:r>
              <a:rPr sz="4100" spc="235" dirty="0">
                <a:solidFill>
                  <a:srgbClr val="FF3131"/>
                </a:solidFill>
              </a:rPr>
              <a:t>pods</a:t>
            </a:r>
            <a:r>
              <a:rPr sz="4100" spc="-10" dirty="0">
                <a:solidFill>
                  <a:srgbClr val="FF3131"/>
                </a:solidFill>
              </a:rPr>
              <a:t> </a:t>
            </a:r>
            <a:r>
              <a:rPr sz="4100" spc="200" dirty="0">
                <a:solidFill>
                  <a:srgbClr val="FF3131"/>
                </a:solidFill>
              </a:rPr>
              <a:t>simultaneously</a:t>
            </a:r>
            <a:r>
              <a:rPr sz="4100" spc="-5" dirty="0">
                <a:solidFill>
                  <a:srgbClr val="FF3131"/>
                </a:solidFill>
              </a:rPr>
              <a:t> </a:t>
            </a:r>
            <a:r>
              <a:rPr sz="4100" spc="220" dirty="0">
                <a:solidFill>
                  <a:srgbClr val="FF3131"/>
                </a:solidFill>
              </a:rPr>
              <a:t>and</a:t>
            </a:r>
            <a:r>
              <a:rPr sz="4100" spc="-5" dirty="0">
                <a:solidFill>
                  <a:srgbClr val="FF3131"/>
                </a:solidFill>
              </a:rPr>
              <a:t> </a:t>
            </a:r>
            <a:r>
              <a:rPr sz="4100" spc="180" dirty="0">
                <a:solidFill>
                  <a:srgbClr val="FF3131"/>
                </a:solidFill>
              </a:rPr>
              <a:t>delete</a:t>
            </a:r>
            <a:r>
              <a:rPr sz="4100" spc="-5" dirty="0">
                <a:solidFill>
                  <a:srgbClr val="FF3131"/>
                </a:solidFill>
              </a:rPr>
              <a:t> </a:t>
            </a:r>
            <a:r>
              <a:rPr sz="4100" spc="260" dirty="0">
                <a:solidFill>
                  <a:srgbClr val="FF3131"/>
                </a:solidFill>
              </a:rPr>
              <a:t>once</a:t>
            </a:r>
            <a:r>
              <a:rPr sz="4100" spc="-5" dirty="0">
                <a:solidFill>
                  <a:srgbClr val="FF3131"/>
                </a:solidFill>
              </a:rPr>
              <a:t> </a:t>
            </a:r>
            <a:r>
              <a:rPr sz="4100" spc="185" dirty="0">
                <a:solidFill>
                  <a:srgbClr val="FF3131"/>
                </a:solidFill>
              </a:rPr>
              <a:t>the</a:t>
            </a:r>
            <a:r>
              <a:rPr sz="4100" spc="-10" dirty="0">
                <a:solidFill>
                  <a:srgbClr val="FF3131"/>
                </a:solidFill>
              </a:rPr>
              <a:t> </a:t>
            </a:r>
            <a:r>
              <a:rPr sz="4100" spc="200" dirty="0">
                <a:solidFill>
                  <a:srgbClr val="FF3131"/>
                </a:solidFill>
              </a:rPr>
              <a:t>work</a:t>
            </a:r>
            <a:r>
              <a:rPr sz="4100" spc="-5" dirty="0">
                <a:solidFill>
                  <a:srgbClr val="FF3131"/>
                </a:solidFill>
              </a:rPr>
              <a:t> </a:t>
            </a:r>
            <a:r>
              <a:rPr sz="4100" spc="100" dirty="0">
                <a:solidFill>
                  <a:srgbClr val="FF3131"/>
                </a:solidFill>
              </a:rPr>
              <a:t>is </a:t>
            </a:r>
            <a:r>
              <a:rPr sz="4100" spc="195" dirty="0">
                <a:solidFill>
                  <a:srgbClr val="FF3131"/>
                </a:solidFill>
              </a:rPr>
              <a:t>completed.</a:t>
            </a:r>
            <a:endParaRPr sz="4100"/>
          </a:p>
        </p:txBody>
      </p:sp>
      <p:sp>
        <p:nvSpPr>
          <p:cNvPr id="4" name="object 4"/>
          <p:cNvSpPr txBox="1"/>
          <p:nvPr/>
        </p:nvSpPr>
        <p:spPr>
          <a:xfrm>
            <a:off x="1016000" y="8013056"/>
            <a:ext cx="14844394" cy="1825625"/>
          </a:xfrm>
          <a:prstGeom prst="rect">
            <a:avLst/>
          </a:prstGeom>
        </p:spPr>
        <p:txBody>
          <a:bodyPr vert="horz" wrap="square" lIns="0" tIns="12700" rIns="0" bIns="0" rtlCol="0">
            <a:spAutoFit/>
          </a:bodyPr>
          <a:lstStyle/>
          <a:p>
            <a:pPr marL="12700" marR="5080">
              <a:lnSpc>
                <a:spcPct val="115799"/>
              </a:lnSpc>
              <a:spcBef>
                <a:spcPts val="100"/>
              </a:spcBef>
            </a:pPr>
            <a:r>
              <a:rPr sz="3400" dirty="0">
                <a:solidFill>
                  <a:srgbClr val="2E377E"/>
                </a:solidFill>
                <a:latin typeface="Georgia"/>
                <a:cs typeface="Georgia"/>
              </a:rPr>
              <a:t>The</a:t>
            </a:r>
            <a:r>
              <a:rPr sz="3400" spc="15" dirty="0">
                <a:solidFill>
                  <a:srgbClr val="2E377E"/>
                </a:solidFill>
                <a:latin typeface="Georgia"/>
                <a:cs typeface="Georgia"/>
              </a:rPr>
              <a:t> </a:t>
            </a:r>
            <a:r>
              <a:rPr sz="3400" dirty="0">
                <a:solidFill>
                  <a:srgbClr val="2E377E"/>
                </a:solidFill>
                <a:latin typeface="Georgia"/>
                <a:cs typeface="Georgia"/>
              </a:rPr>
              <a:t>above</a:t>
            </a:r>
            <a:r>
              <a:rPr sz="3400" spc="20" dirty="0">
                <a:solidFill>
                  <a:srgbClr val="2E377E"/>
                </a:solidFill>
                <a:latin typeface="Georgia"/>
                <a:cs typeface="Georgia"/>
              </a:rPr>
              <a:t> </a:t>
            </a:r>
            <a:r>
              <a:rPr sz="3400" dirty="0">
                <a:solidFill>
                  <a:srgbClr val="2E377E"/>
                </a:solidFill>
                <a:latin typeface="Georgia"/>
                <a:cs typeface="Georgia"/>
              </a:rPr>
              <a:t>manifest</a:t>
            </a:r>
            <a:r>
              <a:rPr sz="3400" spc="20" dirty="0">
                <a:solidFill>
                  <a:srgbClr val="2E377E"/>
                </a:solidFill>
                <a:latin typeface="Georgia"/>
                <a:cs typeface="Georgia"/>
              </a:rPr>
              <a:t> </a:t>
            </a:r>
            <a:r>
              <a:rPr sz="3400" dirty="0">
                <a:solidFill>
                  <a:srgbClr val="2E377E"/>
                </a:solidFill>
                <a:latin typeface="Georgia"/>
                <a:cs typeface="Georgia"/>
              </a:rPr>
              <a:t>file</a:t>
            </a:r>
            <a:r>
              <a:rPr sz="3400" spc="20" dirty="0">
                <a:solidFill>
                  <a:srgbClr val="2E377E"/>
                </a:solidFill>
                <a:latin typeface="Georgia"/>
                <a:cs typeface="Georgia"/>
              </a:rPr>
              <a:t> </a:t>
            </a:r>
            <a:r>
              <a:rPr sz="3400" dirty="0">
                <a:solidFill>
                  <a:srgbClr val="2E377E"/>
                </a:solidFill>
                <a:latin typeface="Georgia"/>
                <a:cs typeface="Georgia"/>
              </a:rPr>
              <a:t>will</a:t>
            </a:r>
            <a:r>
              <a:rPr sz="3400" spc="20" dirty="0">
                <a:solidFill>
                  <a:srgbClr val="2E377E"/>
                </a:solidFill>
                <a:latin typeface="Georgia"/>
                <a:cs typeface="Georgia"/>
              </a:rPr>
              <a:t> </a:t>
            </a:r>
            <a:r>
              <a:rPr sz="3400" spc="45" dirty="0">
                <a:solidFill>
                  <a:srgbClr val="2E377E"/>
                </a:solidFill>
                <a:latin typeface="Georgia"/>
                <a:cs typeface="Georgia"/>
              </a:rPr>
              <a:t>creates</a:t>
            </a:r>
            <a:r>
              <a:rPr sz="3400" spc="20" dirty="0">
                <a:solidFill>
                  <a:srgbClr val="2E377E"/>
                </a:solidFill>
                <a:latin typeface="Georgia"/>
                <a:cs typeface="Georgia"/>
              </a:rPr>
              <a:t> </a:t>
            </a:r>
            <a:r>
              <a:rPr sz="3400" spc="-225" dirty="0">
                <a:solidFill>
                  <a:srgbClr val="2E377E"/>
                </a:solidFill>
                <a:latin typeface="Georgia"/>
                <a:cs typeface="Georgia"/>
              </a:rPr>
              <a:t>3</a:t>
            </a:r>
            <a:r>
              <a:rPr sz="3400" spc="20" dirty="0">
                <a:solidFill>
                  <a:srgbClr val="2E377E"/>
                </a:solidFill>
                <a:latin typeface="Georgia"/>
                <a:cs typeface="Georgia"/>
              </a:rPr>
              <a:t> </a:t>
            </a:r>
            <a:r>
              <a:rPr sz="3400" dirty="0">
                <a:solidFill>
                  <a:srgbClr val="2E377E"/>
                </a:solidFill>
                <a:latin typeface="Georgia"/>
                <a:cs typeface="Georgia"/>
              </a:rPr>
              <a:t>pods</a:t>
            </a:r>
            <a:r>
              <a:rPr sz="3400" spc="20" dirty="0">
                <a:solidFill>
                  <a:srgbClr val="2E377E"/>
                </a:solidFill>
                <a:latin typeface="Georgia"/>
                <a:cs typeface="Georgia"/>
              </a:rPr>
              <a:t> </a:t>
            </a:r>
            <a:r>
              <a:rPr sz="3400" dirty="0">
                <a:solidFill>
                  <a:srgbClr val="2E377E"/>
                </a:solidFill>
                <a:latin typeface="Georgia"/>
                <a:cs typeface="Georgia"/>
              </a:rPr>
              <a:t>and</a:t>
            </a:r>
            <a:r>
              <a:rPr sz="3400" spc="20" dirty="0">
                <a:solidFill>
                  <a:srgbClr val="2E377E"/>
                </a:solidFill>
                <a:latin typeface="Georgia"/>
                <a:cs typeface="Georgia"/>
              </a:rPr>
              <a:t> </a:t>
            </a:r>
            <a:r>
              <a:rPr sz="3400" spc="50" dirty="0">
                <a:solidFill>
                  <a:srgbClr val="2E377E"/>
                </a:solidFill>
                <a:latin typeface="Georgia"/>
                <a:cs typeface="Georgia"/>
              </a:rPr>
              <a:t>it</a:t>
            </a:r>
            <a:r>
              <a:rPr sz="3400" spc="20" dirty="0">
                <a:solidFill>
                  <a:srgbClr val="2E377E"/>
                </a:solidFill>
                <a:latin typeface="Georgia"/>
                <a:cs typeface="Georgia"/>
              </a:rPr>
              <a:t> </a:t>
            </a:r>
            <a:r>
              <a:rPr sz="3400" dirty="0">
                <a:solidFill>
                  <a:srgbClr val="2E377E"/>
                </a:solidFill>
                <a:latin typeface="Georgia"/>
                <a:cs typeface="Georgia"/>
              </a:rPr>
              <a:t>will</a:t>
            </a:r>
            <a:r>
              <a:rPr sz="3400" spc="15" dirty="0">
                <a:solidFill>
                  <a:srgbClr val="2E377E"/>
                </a:solidFill>
                <a:latin typeface="Georgia"/>
                <a:cs typeface="Georgia"/>
              </a:rPr>
              <a:t> </a:t>
            </a:r>
            <a:r>
              <a:rPr sz="3400" spc="70" dirty="0">
                <a:solidFill>
                  <a:srgbClr val="2E377E"/>
                </a:solidFill>
                <a:latin typeface="Georgia"/>
                <a:cs typeface="Georgia"/>
              </a:rPr>
              <a:t>execute</a:t>
            </a:r>
            <a:r>
              <a:rPr sz="3400" spc="20" dirty="0">
                <a:solidFill>
                  <a:srgbClr val="2E377E"/>
                </a:solidFill>
                <a:latin typeface="Georgia"/>
                <a:cs typeface="Georgia"/>
              </a:rPr>
              <a:t> </a:t>
            </a:r>
            <a:r>
              <a:rPr sz="3400" spc="60" dirty="0">
                <a:solidFill>
                  <a:srgbClr val="2E377E"/>
                </a:solidFill>
                <a:latin typeface="Georgia"/>
                <a:cs typeface="Georgia"/>
              </a:rPr>
              <a:t>the</a:t>
            </a:r>
            <a:r>
              <a:rPr sz="3400" spc="20" dirty="0">
                <a:solidFill>
                  <a:srgbClr val="2E377E"/>
                </a:solidFill>
                <a:latin typeface="Georgia"/>
                <a:cs typeface="Georgia"/>
              </a:rPr>
              <a:t> </a:t>
            </a:r>
            <a:r>
              <a:rPr sz="3400" spc="-10" dirty="0">
                <a:solidFill>
                  <a:srgbClr val="2E377E"/>
                </a:solidFill>
                <a:latin typeface="Georgia"/>
                <a:cs typeface="Georgia"/>
              </a:rPr>
              <a:t>commands. </a:t>
            </a:r>
            <a:r>
              <a:rPr sz="3400" dirty="0">
                <a:solidFill>
                  <a:srgbClr val="2E377E"/>
                </a:solidFill>
                <a:latin typeface="Georgia"/>
                <a:cs typeface="Georgia"/>
              </a:rPr>
              <a:t>activeDeadlineSeconds</a:t>
            </a:r>
            <a:r>
              <a:rPr sz="3400" spc="60" dirty="0">
                <a:solidFill>
                  <a:srgbClr val="2E377E"/>
                </a:solidFill>
                <a:latin typeface="Georgia"/>
                <a:cs typeface="Georgia"/>
              </a:rPr>
              <a:t> </a:t>
            </a:r>
            <a:r>
              <a:rPr sz="3400" dirty="0">
                <a:solidFill>
                  <a:srgbClr val="2E377E"/>
                </a:solidFill>
                <a:latin typeface="Georgia"/>
                <a:cs typeface="Georgia"/>
              </a:rPr>
              <a:t>are</a:t>
            </a:r>
            <a:r>
              <a:rPr sz="3400" spc="65" dirty="0">
                <a:solidFill>
                  <a:srgbClr val="2E377E"/>
                </a:solidFill>
                <a:latin typeface="Georgia"/>
                <a:cs typeface="Georgia"/>
              </a:rPr>
              <a:t> </a:t>
            </a:r>
            <a:r>
              <a:rPr sz="3400" dirty="0">
                <a:solidFill>
                  <a:srgbClr val="2E377E"/>
                </a:solidFill>
                <a:latin typeface="Georgia"/>
                <a:cs typeface="Georgia"/>
              </a:rPr>
              <a:t>used</a:t>
            </a:r>
            <a:r>
              <a:rPr sz="3400" spc="65" dirty="0">
                <a:solidFill>
                  <a:srgbClr val="2E377E"/>
                </a:solidFill>
                <a:latin typeface="Georgia"/>
                <a:cs typeface="Georgia"/>
              </a:rPr>
              <a:t> </a:t>
            </a:r>
            <a:r>
              <a:rPr sz="3400" spc="55" dirty="0">
                <a:solidFill>
                  <a:srgbClr val="2E377E"/>
                </a:solidFill>
                <a:latin typeface="Georgia"/>
                <a:cs typeface="Georgia"/>
              </a:rPr>
              <a:t>to</a:t>
            </a:r>
            <a:r>
              <a:rPr sz="3400" spc="60" dirty="0">
                <a:solidFill>
                  <a:srgbClr val="2E377E"/>
                </a:solidFill>
                <a:latin typeface="Georgia"/>
                <a:cs typeface="Georgia"/>
              </a:rPr>
              <a:t> </a:t>
            </a:r>
            <a:r>
              <a:rPr sz="3400" dirty="0">
                <a:solidFill>
                  <a:srgbClr val="2E377E"/>
                </a:solidFill>
                <a:latin typeface="Georgia"/>
                <a:cs typeface="Georgia"/>
              </a:rPr>
              <a:t>terminate</a:t>
            </a:r>
            <a:r>
              <a:rPr sz="3400" spc="65" dirty="0">
                <a:solidFill>
                  <a:srgbClr val="2E377E"/>
                </a:solidFill>
                <a:latin typeface="Georgia"/>
                <a:cs typeface="Georgia"/>
              </a:rPr>
              <a:t> </a:t>
            </a:r>
            <a:r>
              <a:rPr sz="3400" spc="60" dirty="0">
                <a:solidFill>
                  <a:srgbClr val="2E377E"/>
                </a:solidFill>
                <a:latin typeface="Georgia"/>
                <a:cs typeface="Georgia"/>
              </a:rPr>
              <a:t>the</a:t>
            </a:r>
            <a:r>
              <a:rPr sz="3400" spc="65" dirty="0">
                <a:solidFill>
                  <a:srgbClr val="2E377E"/>
                </a:solidFill>
                <a:latin typeface="Georgia"/>
                <a:cs typeface="Georgia"/>
              </a:rPr>
              <a:t> </a:t>
            </a:r>
            <a:r>
              <a:rPr sz="3400" dirty="0">
                <a:solidFill>
                  <a:srgbClr val="2E377E"/>
                </a:solidFill>
                <a:latin typeface="Georgia"/>
                <a:cs typeface="Georgia"/>
              </a:rPr>
              <a:t>pods</a:t>
            </a:r>
            <a:r>
              <a:rPr sz="3400" spc="65" dirty="0">
                <a:solidFill>
                  <a:srgbClr val="2E377E"/>
                </a:solidFill>
                <a:latin typeface="Georgia"/>
                <a:cs typeface="Georgia"/>
              </a:rPr>
              <a:t> </a:t>
            </a:r>
            <a:r>
              <a:rPr sz="3400" spc="50" dirty="0">
                <a:solidFill>
                  <a:srgbClr val="2E377E"/>
                </a:solidFill>
                <a:latin typeface="Georgia"/>
                <a:cs typeface="Georgia"/>
              </a:rPr>
              <a:t>after</a:t>
            </a:r>
            <a:r>
              <a:rPr sz="3400" spc="60" dirty="0">
                <a:solidFill>
                  <a:srgbClr val="2E377E"/>
                </a:solidFill>
                <a:latin typeface="Georgia"/>
                <a:cs typeface="Georgia"/>
              </a:rPr>
              <a:t> </a:t>
            </a:r>
            <a:r>
              <a:rPr sz="3400" dirty="0">
                <a:solidFill>
                  <a:srgbClr val="2E377E"/>
                </a:solidFill>
                <a:latin typeface="Georgia"/>
                <a:cs typeface="Georgia"/>
              </a:rPr>
              <a:t>10</a:t>
            </a:r>
            <a:r>
              <a:rPr sz="3400" spc="65" dirty="0">
                <a:solidFill>
                  <a:srgbClr val="2E377E"/>
                </a:solidFill>
                <a:latin typeface="Georgia"/>
                <a:cs typeface="Georgia"/>
              </a:rPr>
              <a:t> </a:t>
            </a:r>
            <a:r>
              <a:rPr sz="3400" spc="-10" dirty="0">
                <a:solidFill>
                  <a:srgbClr val="2E377E"/>
                </a:solidFill>
                <a:latin typeface="Georgia"/>
                <a:cs typeface="Georgia"/>
              </a:rPr>
              <a:t>seconds.</a:t>
            </a:r>
            <a:endParaRPr sz="3400">
              <a:latin typeface="Georgia"/>
              <a:cs typeface="Georgia"/>
            </a:endParaRPr>
          </a:p>
          <a:p>
            <a:pPr marL="12700">
              <a:lnSpc>
                <a:spcPct val="100000"/>
              </a:lnSpc>
              <a:spcBef>
                <a:spcPts val="645"/>
              </a:spcBef>
            </a:pPr>
            <a:r>
              <a:rPr sz="3400" dirty="0">
                <a:solidFill>
                  <a:srgbClr val="2E377E"/>
                </a:solidFill>
                <a:latin typeface="Georgia"/>
                <a:cs typeface="Georgia"/>
              </a:rPr>
              <a:t>After</a:t>
            </a:r>
            <a:r>
              <a:rPr sz="3400" spc="15" dirty="0">
                <a:solidFill>
                  <a:srgbClr val="2E377E"/>
                </a:solidFill>
                <a:latin typeface="Georgia"/>
                <a:cs typeface="Georgia"/>
              </a:rPr>
              <a:t> </a:t>
            </a:r>
            <a:r>
              <a:rPr sz="3400" spc="-175" dirty="0">
                <a:solidFill>
                  <a:srgbClr val="2E377E"/>
                </a:solidFill>
                <a:latin typeface="Georgia"/>
                <a:cs typeface="Georgia"/>
              </a:rPr>
              <a:t>30</a:t>
            </a:r>
            <a:r>
              <a:rPr sz="3400" spc="15" dirty="0">
                <a:solidFill>
                  <a:srgbClr val="2E377E"/>
                </a:solidFill>
                <a:latin typeface="Georgia"/>
                <a:cs typeface="Georgia"/>
              </a:rPr>
              <a:t> </a:t>
            </a:r>
            <a:r>
              <a:rPr sz="3400" dirty="0">
                <a:solidFill>
                  <a:srgbClr val="2E377E"/>
                </a:solidFill>
                <a:latin typeface="Georgia"/>
                <a:cs typeface="Georgia"/>
              </a:rPr>
              <a:t>seconds</a:t>
            </a:r>
            <a:r>
              <a:rPr sz="3400" spc="15" dirty="0">
                <a:solidFill>
                  <a:srgbClr val="2E377E"/>
                </a:solidFill>
                <a:latin typeface="Georgia"/>
                <a:cs typeface="Georgia"/>
              </a:rPr>
              <a:t> </a:t>
            </a:r>
            <a:r>
              <a:rPr sz="3400" dirty="0">
                <a:solidFill>
                  <a:srgbClr val="2E377E"/>
                </a:solidFill>
                <a:latin typeface="Georgia"/>
                <a:cs typeface="Georgia"/>
              </a:rPr>
              <a:t>all</a:t>
            </a:r>
            <a:r>
              <a:rPr sz="3400" spc="15" dirty="0">
                <a:solidFill>
                  <a:srgbClr val="2E377E"/>
                </a:solidFill>
                <a:latin typeface="Georgia"/>
                <a:cs typeface="Georgia"/>
              </a:rPr>
              <a:t> </a:t>
            </a:r>
            <a:r>
              <a:rPr sz="3400" spc="60" dirty="0">
                <a:solidFill>
                  <a:srgbClr val="2E377E"/>
                </a:solidFill>
                <a:latin typeface="Georgia"/>
                <a:cs typeface="Georgia"/>
              </a:rPr>
              <a:t>the</a:t>
            </a:r>
            <a:r>
              <a:rPr sz="3400" spc="15" dirty="0">
                <a:solidFill>
                  <a:srgbClr val="2E377E"/>
                </a:solidFill>
                <a:latin typeface="Georgia"/>
                <a:cs typeface="Georgia"/>
              </a:rPr>
              <a:t> </a:t>
            </a:r>
            <a:r>
              <a:rPr sz="3400" dirty="0">
                <a:solidFill>
                  <a:srgbClr val="2E377E"/>
                </a:solidFill>
                <a:latin typeface="Georgia"/>
                <a:cs typeface="Georgia"/>
              </a:rPr>
              <a:t>pods</a:t>
            </a:r>
            <a:r>
              <a:rPr sz="3400" spc="15" dirty="0">
                <a:solidFill>
                  <a:srgbClr val="2E377E"/>
                </a:solidFill>
                <a:latin typeface="Georgia"/>
                <a:cs typeface="Georgia"/>
              </a:rPr>
              <a:t> </a:t>
            </a:r>
            <a:r>
              <a:rPr sz="3400" dirty="0">
                <a:solidFill>
                  <a:srgbClr val="2E377E"/>
                </a:solidFill>
                <a:latin typeface="Georgia"/>
                <a:cs typeface="Georgia"/>
              </a:rPr>
              <a:t>will</a:t>
            </a:r>
            <a:r>
              <a:rPr sz="3400" spc="15" dirty="0">
                <a:solidFill>
                  <a:srgbClr val="2E377E"/>
                </a:solidFill>
                <a:latin typeface="Georgia"/>
                <a:cs typeface="Georgia"/>
              </a:rPr>
              <a:t> </a:t>
            </a:r>
            <a:r>
              <a:rPr sz="3400" spc="55" dirty="0">
                <a:solidFill>
                  <a:srgbClr val="2E377E"/>
                </a:solidFill>
                <a:latin typeface="Georgia"/>
                <a:cs typeface="Georgia"/>
              </a:rPr>
              <a:t>gets</a:t>
            </a:r>
            <a:r>
              <a:rPr sz="3400" spc="15" dirty="0">
                <a:solidFill>
                  <a:srgbClr val="2E377E"/>
                </a:solidFill>
                <a:latin typeface="Georgia"/>
                <a:cs typeface="Georgia"/>
              </a:rPr>
              <a:t> </a:t>
            </a:r>
            <a:r>
              <a:rPr sz="3400" spc="-10" dirty="0">
                <a:solidFill>
                  <a:srgbClr val="2E377E"/>
                </a:solidFill>
                <a:latin typeface="Georgia"/>
                <a:cs typeface="Georgia"/>
              </a:rPr>
              <a:t>deleted.</a:t>
            </a:r>
            <a:endParaRPr sz="3400">
              <a:latin typeface="Georgia"/>
              <a:cs typeface="Georgia"/>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11537" y="185835"/>
            <a:ext cx="8905874" cy="9496424"/>
          </a:xfrm>
          <a:prstGeom prst="rect">
            <a:avLst/>
          </a:prstGeom>
        </p:spPr>
      </p:pic>
      <p:sp>
        <p:nvSpPr>
          <p:cNvPr id="3" name="object 3"/>
          <p:cNvSpPr txBox="1"/>
          <p:nvPr/>
        </p:nvSpPr>
        <p:spPr>
          <a:xfrm>
            <a:off x="9601751" y="346435"/>
            <a:ext cx="8418830" cy="9026525"/>
          </a:xfrm>
          <a:prstGeom prst="rect">
            <a:avLst/>
          </a:prstGeom>
        </p:spPr>
        <p:txBody>
          <a:bodyPr vert="horz" wrap="square" lIns="0" tIns="12700" rIns="0" bIns="0" rtlCol="0">
            <a:spAutoFit/>
          </a:bodyPr>
          <a:lstStyle/>
          <a:p>
            <a:pPr marL="12700" marR="5080">
              <a:lnSpc>
                <a:spcPct val="115799"/>
              </a:lnSpc>
              <a:spcBef>
                <a:spcPts val="100"/>
              </a:spcBef>
            </a:pPr>
            <a:r>
              <a:rPr sz="3400" dirty="0">
                <a:solidFill>
                  <a:srgbClr val="2E377E"/>
                </a:solidFill>
                <a:latin typeface="Georgia"/>
                <a:cs typeface="Georgia"/>
              </a:rPr>
              <a:t>As</a:t>
            </a:r>
            <a:r>
              <a:rPr sz="3400" spc="-50" dirty="0">
                <a:solidFill>
                  <a:srgbClr val="2E377E"/>
                </a:solidFill>
                <a:latin typeface="Georgia"/>
                <a:cs typeface="Georgia"/>
              </a:rPr>
              <a:t> </a:t>
            </a:r>
            <a:r>
              <a:rPr sz="3400" spc="114" dirty="0">
                <a:solidFill>
                  <a:srgbClr val="2E377E"/>
                </a:solidFill>
                <a:latin typeface="Georgia"/>
                <a:cs typeface="Georgia"/>
              </a:rPr>
              <a:t>we</a:t>
            </a:r>
            <a:r>
              <a:rPr sz="3400" spc="-45" dirty="0">
                <a:solidFill>
                  <a:srgbClr val="2E377E"/>
                </a:solidFill>
                <a:latin typeface="Georgia"/>
                <a:cs typeface="Georgia"/>
              </a:rPr>
              <a:t> </a:t>
            </a:r>
            <a:r>
              <a:rPr sz="3400" dirty="0">
                <a:solidFill>
                  <a:srgbClr val="2E377E"/>
                </a:solidFill>
                <a:latin typeface="Georgia"/>
                <a:cs typeface="Georgia"/>
              </a:rPr>
              <a:t>can</a:t>
            </a:r>
            <a:r>
              <a:rPr sz="3400" spc="-45" dirty="0">
                <a:solidFill>
                  <a:srgbClr val="2E377E"/>
                </a:solidFill>
                <a:latin typeface="Georgia"/>
                <a:cs typeface="Georgia"/>
              </a:rPr>
              <a:t> </a:t>
            </a:r>
            <a:r>
              <a:rPr sz="3400" spc="55" dirty="0">
                <a:solidFill>
                  <a:srgbClr val="2E377E"/>
                </a:solidFill>
                <a:latin typeface="Georgia"/>
                <a:cs typeface="Georgia"/>
              </a:rPr>
              <a:t>observe</a:t>
            </a:r>
            <a:r>
              <a:rPr sz="3400" spc="-45" dirty="0">
                <a:solidFill>
                  <a:srgbClr val="2E377E"/>
                </a:solidFill>
                <a:latin typeface="Georgia"/>
                <a:cs typeface="Georgia"/>
              </a:rPr>
              <a:t> </a:t>
            </a:r>
            <a:r>
              <a:rPr sz="3400" spc="60" dirty="0">
                <a:solidFill>
                  <a:srgbClr val="2E377E"/>
                </a:solidFill>
                <a:latin typeface="Georgia"/>
                <a:cs typeface="Georgia"/>
              </a:rPr>
              <a:t>the</a:t>
            </a:r>
            <a:r>
              <a:rPr sz="3400" spc="-50" dirty="0">
                <a:solidFill>
                  <a:srgbClr val="2E377E"/>
                </a:solidFill>
                <a:latin typeface="Georgia"/>
                <a:cs typeface="Georgia"/>
              </a:rPr>
              <a:t> </a:t>
            </a:r>
            <a:r>
              <a:rPr sz="3400" dirty="0">
                <a:solidFill>
                  <a:srgbClr val="2E377E"/>
                </a:solidFill>
                <a:latin typeface="Georgia"/>
                <a:cs typeface="Georgia"/>
              </a:rPr>
              <a:t>logs</a:t>
            </a:r>
            <a:r>
              <a:rPr sz="3400" spc="-45" dirty="0">
                <a:solidFill>
                  <a:srgbClr val="2E377E"/>
                </a:solidFill>
                <a:latin typeface="Georgia"/>
                <a:cs typeface="Georgia"/>
              </a:rPr>
              <a:t> </a:t>
            </a:r>
            <a:r>
              <a:rPr sz="3400" dirty="0">
                <a:solidFill>
                  <a:srgbClr val="2E377E"/>
                </a:solidFill>
                <a:latin typeface="Georgia"/>
                <a:cs typeface="Georgia"/>
              </a:rPr>
              <a:t>here,</a:t>
            </a:r>
            <a:r>
              <a:rPr sz="3400" spc="-45" dirty="0">
                <a:solidFill>
                  <a:srgbClr val="2E377E"/>
                </a:solidFill>
                <a:latin typeface="Georgia"/>
                <a:cs typeface="Georgia"/>
              </a:rPr>
              <a:t> </a:t>
            </a:r>
            <a:r>
              <a:rPr sz="3400" spc="65" dirty="0">
                <a:solidFill>
                  <a:srgbClr val="2E377E"/>
                </a:solidFill>
                <a:latin typeface="Georgia"/>
                <a:cs typeface="Georgia"/>
              </a:rPr>
              <a:t>when</a:t>
            </a:r>
            <a:r>
              <a:rPr sz="3400" spc="-45" dirty="0">
                <a:solidFill>
                  <a:srgbClr val="2E377E"/>
                </a:solidFill>
                <a:latin typeface="Georgia"/>
                <a:cs typeface="Georgia"/>
              </a:rPr>
              <a:t> </a:t>
            </a:r>
            <a:r>
              <a:rPr sz="3400" dirty="0">
                <a:solidFill>
                  <a:srgbClr val="2E377E"/>
                </a:solidFill>
                <a:latin typeface="Georgia"/>
                <a:cs typeface="Georgia"/>
              </a:rPr>
              <a:t>i</a:t>
            </a:r>
            <a:r>
              <a:rPr sz="3400" spc="-50" dirty="0">
                <a:solidFill>
                  <a:srgbClr val="2E377E"/>
                </a:solidFill>
                <a:latin typeface="Georgia"/>
                <a:cs typeface="Georgia"/>
              </a:rPr>
              <a:t> </a:t>
            </a:r>
            <a:r>
              <a:rPr sz="3400" spc="-25" dirty="0">
                <a:solidFill>
                  <a:srgbClr val="2E377E"/>
                </a:solidFill>
                <a:latin typeface="Georgia"/>
                <a:cs typeface="Georgia"/>
              </a:rPr>
              <a:t>run </a:t>
            </a:r>
            <a:r>
              <a:rPr sz="3400" spc="60" dirty="0">
                <a:solidFill>
                  <a:srgbClr val="2E377E"/>
                </a:solidFill>
                <a:latin typeface="Georgia"/>
                <a:cs typeface="Georgia"/>
              </a:rPr>
              <a:t>the</a:t>
            </a:r>
            <a:r>
              <a:rPr sz="3400" spc="45" dirty="0">
                <a:solidFill>
                  <a:srgbClr val="2E377E"/>
                </a:solidFill>
                <a:latin typeface="Georgia"/>
                <a:cs typeface="Georgia"/>
              </a:rPr>
              <a:t> </a:t>
            </a:r>
            <a:r>
              <a:rPr sz="3400" dirty="0">
                <a:solidFill>
                  <a:srgbClr val="2E377E"/>
                </a:solidFill>
                <a:latin typeface="Georgia"/>
                <a:cs typeface="Georgia"/>
              </a:rPr>
              <a:t>manifest</a:t>
            </a:r>
            <a:r>
              <a:rPr sz="3400" spc="45" dirty="0">
                <a:solidFill>
                  <a:srgbClr val="2E377E"/>
                </a:solidFill>
                <a:latin typeface="Georgia"/>
                <a:cs typeface="Georgia"/>
              </a:rPr>
              <a:t> </a:t>
            </a:r>
            <a:r>
              <a:rPr sz="3400" dirty="0">
                <a:solidFill>
                  <a:srgbClr val="2E377E"/>
                </a:solidFill>
                <a:latin typeface="Georgia"/>
                <a:cs typeface="Georgia"/>
              </a:rPr>
              <a:t>file</a:t>
            </a:r>
            <a:r>
              <a:rPr sz="3400" spc="45" dirty="0">
                <a:solidFill>
                  <a:srgbClr val="2E377E"/>
                </a:solidFill>
                <a:latin typeface="Georgia"/>
                <a:cs typeface="Georgia"/>
              </a:rPr>
              <a:t> </a:t>
            </a:r>
            <a:r>
              <a:rPr sz="3400" dirty="0">
                <a:solidFill>
                  <a:srgbClr val="2E377E"/>
                </a:solidFill>
                <a:latin typeface="Georgia"/>
                <a:cs typeface="Georgia"/>
              </a:rPr>
              <a:t>in</a:t>
            </a:r>
            <a:r>
              <a:rPr sz="3400" spc="45" dirty="0">
                <a:solidFill>
                  <a:srgbClr val="2E377E"/>
                </a:solidFill>
                <a:latin typeface="Georgia"/>
                <a:cs typeface="Georgia"/>
              </a:rPr>
              <a:t> </a:t>
            </a:r>
            <a:r>
              <a:rPr sz="3400" dirty="0">
                <a:solidFill>
                  <a:srgbClr val="2E377E"/>
                </a:solidFill>
                <a:latin typeface="Georgia"/>
                <a:cs typeface="Georgia"/>
              </a:rPr>
              <a:t>first</a:t>
            </a:r>
            <a:r>
              <a:rPr sz="3400" spc="45" dirty="0">
                <a:solidFill>
                  <a:srgbClr val="2E377E"/>
                </a:solidFill>
                <a:latin typeface="Georgia"/>
                <a:cs typeface="Georgia"/>
              </a:rPr>
              <a:t> </a:t>
            </a:r>
            <a:r>
              <a:rPr sz="3400" spc="-254" dirty="0">
                <a:solidFill>
                  <a:srgbClr val="2E377E"/>
                </a:solidFill>
                <a:latin typeface="Georgia"/>
                <a:cs typeface="Georgia"/>
              </a:rPr>
              <a:t>2</a:t>
            </a:r>
            <a:r>
              <a:rPr sz="3400" spc="50" dirty="0">
                <a:solidFill>
                  <a:srgbClr val="2E377E"/>
                </a:solidFill>
                <a:latin typeface="Georgia"/>
                <a:cs typeface="Georgia"/>
              </a:rPr>
              <a:t> </a:t>
            </a:r>
            <a:r>
              <a:rPr sz="3400" dirty="0">
                <a:solidFill>
                  <a:srgbClr val="2E377E"/>
                </a:solidFill>
                <a:latin typeface="Georgia"/>
                <a:cs typeface="Georgia"/>
              </a:rPr>
              <a:t>seconds</a:t>
            </a:r>
            <a:r>
              <a:rPr sz="3400" spc="45" dirty="0">
                <a:solidFill>
                  <a:srgbClr val="2E377E"/>
                </a:solidFill>
                <a:latin typeface="Georgia"/>
                <a:cs typeface="Georgia"/>
              </a:rPr>
              <a:t> </a:t>
            </a:r>
            <a:r>
              <a:rPr sz="3400" spc="60" dirty="0">
                <a:solidFill>
                  <a:srgbClr val="2E377E"/>
                </a:solidFill>
                <a:latin typeface="Georgia"/>
                <a:cs typeface="Georgia"/>
              </a:rPr>
              <a:t>the</a:t>
            </a:r>
            <a:r>
              <a:rPr sz="3400" spc="45" dirty="0">
                <a:solidFill>
                  <a:srgbClr val="2E377E"/>
                </a:solidFill>
                <a:latin typeface="Georgia"/>
                <a:cs typeface="Georgia"/>
              </a:rPr>
              <a:t> </a:t>
            </a:r>
            <a:r>
              <a:rPr sz="3400" spc="-20" dirty="0">
                <a:solidFill>
                  <a:srgbClr val="2E377E"/>
                </a:solidFill>
                <a:latin typeface="Georgia"/>
                <a:cs typeface="Georgia"/>
              </a:rPr>
              <a:t>pods </a:t>
            </a:r>
            <a:r>
              <a:rPr sz="3400" dirty="0">
                <a:solidFill>
                  <a:srgbClr val="2E377E"/>
                </a:solidFill>
                <a:latin typeface="Georgia"/>
                <a:cs typeface="Georgia"/>
              </a:rPr>
              <a:t>are</a:t>
            </a:r>
            <a:r>
              <a:rPr sz="3400" spc="70" dirty="0">
                <a:solidFill>
                  <a:srgbClr val="2E377E"/>
                </a:solidFill>
                <a:latin typeface="Georgia"/>
                <a:cs typeface="Georgia"/>
              </a:rPr>
              <a:t> </a:t>
            </a:r>
            <a:r>
              <a:rPr sz="3400" dirty="0">
                <a:solidFill>
                  <a:srgbClr val="2E377E"/>
                </a:solidFill>
                <a:latin typeface="Georgia"/>
                <a:cs typeface="Georgia"/>
              </a:rPr>
              <a:t>in</a:t>
            </a:r>
            <a:r>
              <a:rPr sz="3400" spc="70" dirty="0">
                <a:solidFill>
                  <a:srgbClr val="2E377E"/>
                </a:solidFill>
                <a:latin typeface="Georgia"/>
                <a:cs typeface="Georgia"/>
              </a:rPr>
              <a:t> </a:t>
            </a:r>
            <a:r>
              <a:rPr sz="3400" dirty="0">
                <a:solidFill>
                  <a:srgbClr val="2E377E"/>
                </a:solidFill>
                <a:latin typeface="Georgia"/>
                <a:cs typeface="Georgia"/>
              </a:rPr>
              <a:t>creating</a:t>
            </a:r>
            <a:r>
              <a:rPr sz="3400" spc="75" dirty="0">
                <a:solidFill>
                  <a:srgbClr val="2E377E"/>
                </a:solidFill>
                <a:latin typeface="Georgia"/>
                <a:cs typeface="Georgia"/>
              </a:rPr>
              <a:t> </a:t>
            </a:r>
            <a:r>
              <a:rPr sz="3400" spc="-10" dirty="0">
                <a:solidFill>
                  <a:srgbClr val="2E377E"/>
                </a:solidFill>
                <a:latin typeface="Georgia"/>
                <a:cs typeface="Georgia"/>
              </a:rPr>
              <a:t>state.</a:t>
            </a:r>
            <a:endParaRPr sz="3400">
              <a:latin typeface="Georgia"/>
              <a:cs typeface="Georgia"/>
            </a:endParaRPr>
          </a:p>
          <a:p>
            <a:pPr>
              <a:lnSpc>
                <a:spcPct val="100000"/>
              </a:lnSpc>
              <a:spcBef>
                <a:spcPts val="860"/>
              </a:spcBef>
            </a:pPr>
            <a:endParaRPr sz="3400">
              <a:latin typeface="Georgia"/>
              <a:cs typeface="Georgia"/>
            </a:endParaRPr>
          </a:p>
          <a:p>
            <a:pPr marL="12700" marR="857250">
              <a:lnSpc>
                <a:spcPct val="115799"/>
              </a:lnSpc>
            </a:pPr>
            <a:r>
              <a:rPr sz="3400" dirty="0">
                <a:solidFill>
                  <a:srgbClr val="2E377E"/>
                </a:solidFill>
                <a:latin typeface="Georgia"/>
                <a:cs typeface="Georgia"/>
              </a:rPr>
              <a:t>After</a:t>
            </a:r>
            <a:r>
              <a:rPr sz="3400" spc="25" dirty="0">
                <a:solidFill>
                  <a:srgbClr val="2E377E"/>
                </a:solidFill>
                <a:latin typeface="Georgia"/>
                <a:cs typeface="Georgia"/>
              </a:rPr>
              <a:t> </a:t>
            </a:r>
            <a:r>
              <a:rPr sz="3400" spc="-275" dirty="0">
                <a:solidFill>
                  <a:srgbClr val="2E377E"/>
                </a:solidFill>
                <a:latin typeface="Georgia"/>
                <a:cs typeface="Georgia"/>
              </a:rPr>
              <a:t>7</a:t>
            </a:r>
            <a:r>
              <a:rPr sz="3400" spc="25" dirty="0">
                <a:solidFill>
                  <a:srgbClr val="2E377E"/>
                </a:solidFill>
                <a:latin typeface="Georgia"/>
                <a:cs typeface="Georgia"/>
              </a:rPr>
              <a:t> </a:t>
            </a:r>
            <a:r>
              <a:rPr sz="3400" dirty="0">
                <a:solidFill>
                  <a:srgbClr val="2E377E"/>
                </a:solidFill>
                <a:latin typeface="Georgia"/>
                <a:cs typeface="Georgia"/>
              </a:rPr>
              <a:t>seconds</a:t>
            </a:r>
            <a:r>
              <a:rPr sz="3400" spc="25" dirty="0">
                <a:solidFill>
                  <a:srgbClr val="2E377E"/>
                </a:solidFill>
                <a:latin typeface="Georgia"/>
                <a:cs typeface="Georgia"/>
              </a:rPr>
              <a:t> </a:t>
            </a:r>
            <a:r>
              <a:rPr sz="3400" spc="60" dirty="0">
                <a:solidFill>
                  <a:srgbClr val="2E377E"/>
                </a:solidFill>
                <a:latin typeface="Georgia"/>
                <a:cs typeface="Georgia"/>
              </a:rPr>
              <a:t>the</a:t>
            </a:r>
            <a:r>
              <a:rPr sz="3400" spc="25" dirty="0">
                <a:solidFill>
                  <a:srgbClr val="2E377E"/>
                </a:solidFill>
                <a:latin typeface="Georgia"/>
                <a:cs typeface="Georgia"/>
              </a:rPr>
              <a:t> </a:t>
            </a:r>
            <a:r>
              <a:rPr sz="3400" dirty="0">
                <a:solidFill>
                  <a:srgbClr val="2E377E"/>
                </a:solidFill>
                <a:latin typeface="Georgia"/>
                <a:cs typeface="Georgia"/>
              </a:rPr>
              <a:t>pods</a:t>
            </a:r>
            <a:r>
              <a:rPr sz="3400" spc="25" dirty="0">
                <a:solidFill>
                  <a:srgbClr val="2E377E"/>
                </a:solidFill>
                <a:latin typeface="Georgia"/>
                <a:cs typeface="Georgia"/>
              </a:rPr>
              <a:t> </a:t>
            </a:r>
            <a:r>
              <a:rPr sz="3400" dirty="0">
                <a:solidFill>
                  <a:srgbClr val="2E377E"/>
                </a:solidFill>
                <a:latin typeface="Georgia"/>
                <a:cs typeface="Georgia"/>
              </a:rPr>
              <a:t>are</a:t>
            </a:r>
            <a:r>
              <a:rPr sz="3400" spc="25" dirty="0">
                <a:solidFill>
                  <a:srgbClr val="2E377E"/>
                </a:solidFill>
                <a:latin typeface="Georgia"/>
                <a:cs typeface="Georgia"/>
              </a:rPr>
              <a:t> </a:t>
            </a:r>
            <a:r>
              <a:rPr sz="3400" dirty="0">
                <a:solidFill>
                  <a:srgbClr val="2E377E"/>
                </a:solidFill>
                <a:latin typeface="Georgia"/>
                <a:cs typeface="Georgia"/>
              </a:rPr>
              <a:t>in</a:t>
            </a:r>
            <a:r>
              <a:rPr sz="3400" spc="25" dirty="0">
                <a:solidFill>
                  <a:srgbClr val="2E377E"/>
                </a:solidFill>
                <a:latin typeface="Georgia"/>
                <a:cs typeface="Georgia"/>
              </a:rPr>
              <a:t> </a:t>
            </a:r>
            <a:r>
              <a:rPr sz="3400" spc="-10" dirty="0">
                <a:solidFill>
                  <a:srgbClr val="2E377E"/>
                </a:solidFill>
                <a:latin typeface="Georgia"/>
                <a:cs typeface="Georgia"/>
              </a:rPr>
              <a:t>running state.</a:t>
            </a:r>
            <a:endParaRPr sz="3400">
              <a:latin typeface="Georgia"/>
              <a:cs typeface="Georgia"/>
            </a:endParaRPr>
          </a:p>
          <a:p>
            <a:pPr>
              <a:lnSpc>
                <a:spcPct val="100000"/>
              </a:lnSpc>
              <a:spcBef>
                <a:spcPts val="860"/>
              </a:spcBef>
            </a:pPr>
            <a:endParaRPr sz="3400">
              <a:latin typeface="Georgia"/>
              <a:cs typeface="Georgia"/>
            </a:endParaRPr>
          </a:p>
          <a:p>
            <a:pPr marL="12700" marR="2270760">
              <a:lnSpc>
                <a:spcPct val="115799"/>
              </a:lnSpc>
              <a:spcBef>
                <a:spcPts val="5"/>
              </a:spcBef>
            </a:pPr>
            <a:r>
              <a:rPr sz="3400" dirty="0">
                <a:solidFill>
                  <a:srgbClr val="2E377E"/>
                </a:solidFill>
                <a:latin typeface="Georgia"/>
                <a:cs typeface="Georgia"/>
              </a:rPr>
              <a:t>After</a:t>
            </a:r>
            <a:r>
              <a:rPr sz="3400" spc="15" dirty="0">
                <a:solidFill>
                  <a:srgbClr val="2E377E"/>
                </a:solidFill>
                <a:latin typeface="Georgia"/>
                <a:cs typeface="Georgia"/>
              </a:rPr>
              <a:t> </a:t>
            </a:r>
            <a:r>
              <a:rPr sz="3400" dirty="0">
                <a:solidFill>
                  <a:srgbClr val="2E377E"/>
                </a:solidFill>
                <a:latin typeface="Georgia"/>
                <a:cs typeface="Georgia"/>
              </a:rPr>
              <a:t>10</a:t>
            </a:r>
            <a:r>
              <a:rPr sz="3400" spc="15" dirty="0">
                <a:solidFill>
                  <a:srgbClr val="2E377E"/>
                </a:solidFill>
                <a:latin typeface="Georgia"/>
                <a:cs typeface="Georgia"/>
              </a:rPr>
              <a:t> </a:t>
            </a:r>
            <a:r>
              <a:rPr sz="3400" dirty="0">
                <a:solidFill>
                  <a:srgbClr val="2E377E"/>
                </a:solidFill>
                <a:latin typeface="Georgia"/>
                <a:cs typeface="Georgia"/>
              </a:rPr>
              <a:t>seconds</a:t>
            </a:r>
            <a:r>
              <a:rPr sz="3400" spc="15" dirty="0">
                <a:solidFill>
                  <a:srgbClr val="2E377E"/>
                </a:solidFill>
                <a:latin typeface="Georgia"/>
                <a:cs typeface="Georgia"/>
              </a:rPr>
              <a:t> </a:t>
            </a:r>
            <a:r>
              <a:rPr sz="3400" spc="60" dirty="0">
                <a:solidFill>
                  <a:srgbClr val="2E377E"/>
                </a:solidFill>
                <a:latin typeface="Georgia"/>
                <a:cs typeface="Georgia"/>
              </a:rPr>
              <a:t>the</a:t>
            </a:r>
            <a:r>
              <a:rPr sz="3400" spc="15" dirty="0">
                <a:solidFill>
                  <a:srgbClr val="2E377E"/>
                </a:solidFill>
                <a:latin typeface="Georgia"/>
                <a:cs typeface="Georgia"/>
              </a:rPr>
              <a:t> </a:t>
            </a:r>
            <a:r>
              <a:rPr sz="3400" dirty="0">
                <a:solidFill>
                  <a:srgbClr val="2E377E"/>
                </a:solidFill>
                <a:latin typeface="Georgia"/>
                <a:cs typeface="Georgia"/>
              </a:rPr>
              <a:t>pods</a:t>
            </a:r>
            <a:r>
              <a:rPr sz="3400" spc="20" dirty="0">
                <a:solidFill>
                  <a:srgbClr val="2E377E"/>
                </a:solidFill>
                <a:latin typeface="Georgia"/>
                <a:cs typeface="Georgia"/>
              </a:rPr>
              <a:t> </a:t>
            </a:r>
            <a:r>
              <a:rPr sz="3400" dirty="0">
                <a:solidFill>
                  <a:srgbClr val="2E377E"/>
                </a:solidFill>
                <a:latin typeface="Georgia"/>
                <a:cs typeface="Georgia"/>
              </a:rPr>
              <a:t>are</a:t>
            </a:r>
            <a:r>
              <a:rPr sz="3400" spc="15" dirty="0">
                <a:solidFill>
                  <a:srgbClr val="2E377E"/>
                </a:solidFill>
                <a:latin typeface="Georgia"/>
                <a:cs typeface="Georgia"/>
              </a:rPr>
              <a:t> </a:t>
            </a:r>
            <a:r>
              <a:rPr sz="3400" spc="-25" dirty="0">
                <a:solidFill>
                  <a:srgbClr val="2E377E"/>
                </a:solidFill>
                <a:latin typeface="Georgia"/>
                <a:cs typeface="Georgia"/>
              </a:rPr>
              <a:t>in </a:t>
            </a:r>
            <a:r>
              <a:rPr sz="3400" dirty="0">
                <a:solidFill>
                  <a:srgbClr val="2E377E"/>
                </a:solidFill>
                <a:latin typeface="Georgia"/>
                <a:cs typeface="Georgia"/>
              </a:rPr>
              <a:t>terminating</a:t>
            </a:r>
            <a:r>
              <a:rPr sz="3400" spc="315" dirty="0">
                <a:solidFill>
                  <a:srgbClr val="2E377E"/>
                </a:solidFill>
                <a:latin typeface="Georgia"/>
                <a:cs typeface="Georgia"/>
              </a:rPr>
              <a:t> </a:t>
            </a:r>
            <a:r>
              <a:rPr sz="3400" spc="40" dirty="0">
                <a:solidFill>
                  <a:srgbClr val="2E377E"/>
                </a:solidFill>
                <a:latin typeface="Georgia"/>
                <a:cs typeface="Georgia"/>
              </a:rPr>
              <a:t>state</a:t>
            </a:r>
            <a:endParaRPr sz="3400">
              <a:latin typeface="Georgia"/>
              <a:cs typeface="Georgia"/>
            </a:endParaRPr>
          </a:p>
          <a:p>
            <a:pPr>
              <a:lnSpc>
                <a:spcPct val="100000"/>
              </a:lnSpc>
              <a:spcBef>
                <a:spcPts val="860"/>
              </a:spcBef>
            </a:pPr>
            <a:endParaRPr sz="3400">
              <a:latin typeface="Georgia"/>
              <a:cs typeface="Georgia"/>
            </a:endParaRPr>
          </a:p>
          <a:p>
            <a:pPr marL="12700" marR="2061845">
              <a:lnSpc>
                <a:spcPct val="115799"/>
              </a:lnSpc>
            </a:pPr>
            <a:r>
              <a:rPr sz="3400" dirty="0">
                <a:solidFill>
                  <a:srgbClr val="2E377E"/>
                </a:solidFill>
                <a:latin typeface="Georgia"/>
                <a:cs typeface="Georgia"/>
              </a:rPr>
              <a:t>After</a:t>
            </a:r>
            <a:r>
              <a:rPr sz="3400" spc="15" dirty="0">
                <a:solidFill>
                  <a:srgbClr val="2E377E"/>
                </a:solidFill>
                <a:latin typeface="Georgia"/>
                <a:cs typeface="Georgia"/>
              </a:rPr>
              <a:t> </a:t>
            </a:r>
            <a:r>
              <a:rPr sz="3400" spc="-185" dirty="0">
                <a:solidFill>
                  <a:srgbClr val="2E377E"/>
                </a:solidFill>
                <a:latin typeface="Georgia"/>
                <a:cs typeface="Georgia"/>
              </a:rPr>
              <a:t>40</a:t>
            </a:r>
            <a:r>
              <a:rPr sz="3400" spc="15" dirty="0">
                <a:solidFill>
                  <a:srgbClr val="2E377E"/>
                </a:solidFill>
                <a:latin typeface="Georgia"/>
                <a:cs typeface="Georgia"/>
              </a:rPr>
              <a:t> </a:t>
            </a:r>
            <a:r>
              <a:rPr sz="3400" dirty="0">
                <a:solidFill>
                  <a:srgbClr val="2E377E"/>
                </a:solidFill>
                <a:latin typeface="Georgia"/>
                <a:cs typeface="Georgia"/>
              </a:rPr>
              <a:t>seconds</a:t>
            </a:r>
            <a:r>
              <a:rPr sz="3400" spc="15" dirty="0">
                <a:solidFill>
                  <a:srgbClr val="2E377E"/>
                </a:solidFill>
                <a:latin typeface="Georgia"/>
                <a:cs typeface="Georgia"/>
              </a:rPr>
              <a:t> </a:t>
            </a:r>
            <a:r>
              <a:rPr sz="3400" dirty="0">
                <a:solidFill>
                  <a:srgbClr val="2E377E"/>
                </a:solidFill>
                <a:latin typeface="Georgia"/>
                <a:cs typeface="Georgia"/>
              </a:rPr>
              <a:t>all</a:t>
            </a:r>
            <a:r>
              <a:rPr sz="3400" spc="15" dirty="0">
                <a:solidFill>
                  <a:srgbClr val="2E377E"/>
                </a:solidFill>
                <a:latin typeface="Georgia"/>
                <a:cs typeface="Georgia"/>
              </a:rPr>
              <a:t> </a:t>
            </a:r>
            <a:r>
              <a:rPr sz="3400" spc="60" dirty="0">
                <a:solidFill>
                  <a:srgbClr val="2E377E"/>
                </a:solidFill>
                <a:latin typeface="Georgia"/>
                <a:cs typeface="Georgia"/>
              </a:rPr>
              <a:t>the</a:t>
            </a:r>
            <a:r>
              <a:rPr sz="3400" spc="15" dirty="0">
                <a:solidFill>
                  <a:srgbClr val="2E377E"/>
                </a:solidFill>
                <a:latin typeface="Georgia"/>
                <a:cs typeface="Georgia"/>
              </a:rPr>
              <a:t> </a:t>
            </a:r>
            <a:r>
              <a:rPr sz="3400" dirty="0">
                <a:solidFill>
                  <a:srgbClr val="2E377E"/>
                </a:solidFill>
                <a:latin typeface="Georgia"/>
                <a:cs typeface="Georgia"/>
              </a:rPr>
              <a:t>pods</a:t>
            </a:r>
            <a:r>
              <a:rPr sz="3400" spc="15" dirty="0">
                <a:solidFill>
                  <a:srgbClr val="2E377E"/>
                </a:solidFill>
                <a:latin typeface="Georgia"/>
                <a:cs typeface="Georgia"/>
              </a:rPr>
              <a:t> </a:t>
            </a:r>
            <a:r>
              <a:rPr sz="3400" spc="-20" dirty="0">
                <a:solidFill>
                  <a:srgbClr val="2E377E"/>
                </a:solidFill>
                <a:latin typeface="Georgia"/>
                <a:cs typeface="Georgia"/>
              </a:rPr>
              <a:t>will </a:t>
            </a:r>
            <a:r>
              <a:rPr sz="3400" dirty="0">
                <a:solidFill>
                  <a:srgbClr val="2E377E"/>
                </a:solidFill>
                <a:latin typeface="Georgia"/>
                <a:cs typeface="Georgia"/>
              </a:rPr>
              <a:t>automatically</a:t>
            </a:r>
            <a:r>
              <a:rPr sz="3400" spc="400" dirty="0">
                <a:solidFill>
                  <a:srgbClr val="2E377E"/>
                </a:solidFill>
                <a:latin typeface="Georgia"/>
                <a:cs typeface="Georgia"/>
              </a:rPr>
              <a:t> </a:t>
            </a:r>
            <a:r>
              <a:rPr sz="3400" spc="-10" dirty="0">
                <a:solidFill>
                  <a:srgbClr val="2E377E"/>
                </a:solidFill>
                <a:latin typeface="Georgia"/>
                <a:cs typeface="Georgia"/>
              </a:rPr>
              <a:t>deleted.</a:t>
            </a:r>
            <a:endParaRPr sz="3400">
              <a:latin typeface="Georgia"/>
              <a:cs typeface="Georgia"/>
            </a:endParaRPr>
          </a:p>
          <a:p>
            <a:pPr>
              <a:lnSpc>
                <a:spcPct val="100000"/>
              </a:lnSpc>
              <a:spcBef>
                <a:spcPts val="860"/>
              </a:spcBef>
            </a:pPr>
            <a:endParaRPr sz="3400">
              <a:latin typeface="Georgia"/>
              <a:cs typeface="Georgia"/>
            </a:endParaRPr>
          </a:p>
          <a:p>
            <a:pPr marL="12700" marR="1054100">
              <a:lnSpc>
                <a:spcPct val="115799"/>
              </a:lnSpc>
              <a:spcBef>
                <a:spcPts val="5"/>
              </a:spcBef>
            </a:pPr>
            <a:r>
              <a:rPr sz="3400" dirty="0">
                <a:solidFill>
                  <a:srgbClr val="2E377E"/>
                </a:solidFill>
                <a:latin typeface="Georgia"/>
                <a:cs typeface="Georgia"/>
              </a:rPr>
              <a:t>Even</a:t>
            </a:r>
            <a:r>
              <a:rPr sz="3400" spc="25" dirty="0">
                <a:solidFill>
                  <a:srgbClr val="2E377E"/>
                </a:solidFill>
                <a:latin typeface="Georgia"/>
                <a:cs typeface="Georgia"/>
              </a:rPr>
              <a:t> </a:t>
            </a:r>
            <a:r>
              <a:rPr sz="3400" spc="60" dirty="0">
                <a:solidFill>
                  <a:srgbClr val="2E377E"/>
                </a:solidFill>
                <a:latin typeface="Georgia"/>
                <a:cs typeface="Georgia"/>
              </a:rPr>
              <a:t>the</a:t>
            </a:r>
            <a:r>
              <a:rPr sz="3400" spc="25" dirty="0">
                <a:solidFill>
                  <a:srgbClr val="2E377E"/>
                </a:solidFill>
                <a:latin typeface="Georgia"/>
                <a:cs typeface="Georgia"/>
              </a:rPr>
              <a:t> </a:t>
            </a:r>
            <a:r>
              <a:rPr sz="3400" dirty="0">
                <a:solidFill>
                  <a:srgbClr val="2E377E"/>
                </a:solidFill>
                <a:latin typeface="Georgia"/>
                <a:cs typeface="Georgia"/>
              </a:rPr>
              <a:t>pods</a:t>
            </a:r>
            <a:r>
              <a:rPr sz="3400" spc="25" dirty="0">
                <a:solidFill>
                  <a:srgbClr val="2E377E"/>
                </a:solidFill>
                <a:latin typeface="Georgia"/>
                <a:cs typeface="Georgia"/>
              </a:rPr>
              <a:t> </a:t>
            </a:r>
            <a:r>
              <a:rPr sz="3400" dirty="0">
                <a:solidFill>
                  <a:srgbClr val="2E377E"/>
                </a:solidFill>
                <a:latin typeface="Georgia"/>
                <a:cs typeface="Georgia"/>
              </a:rPr>
              <a:t>are</a:t>
            </a:r>
            <a:r>
              <a:rPr sz="3400" spc="25" dirty="0">
                <a:solidFill>
                  <a:srgbClr val="2E377E"/>
                </a:solidFill>
                <a:latin typeface="Georgia"/>
                <a:cs typeface="Georgia"/>
              </a:rPr>
              <a:t> </a:t>
            </a:r>
            <a:r>
              <a:rPr sz="3400" dirty="0">
                <a:solidFill>
                  <a:srgbClr val="2E377E"/>
                </a:solidFill>
                <a:latin typeface="Georgia"/>
                <a:cs typeface="Georgia"/>
              </a:rPr>
              <a:t>deleted,</a:t>
            </a:r>
            <a:r>
              <a:rPr sz="3400" spc="25" dirty="0">
                <a:solidFill>
                  <a:srgbClr val="2E377E"/>
                </a:solidFill>
                <a:latin typeface="Georgia"/>
                <a:cs typeface="Georgia"/>
              </a:rPr>
              <a:t> </a:t>
            </a:r>
            <a:r>
              <a:rPr sz="3400" dirty="0">
                <a:solidFill>
                  <a:srgbClr val="2E377E"/>
                </a:solidFill>
                <a:latin typeface="Georgia"/>
                <a:cs typeface="Georgia"/>
              </a:rPr>
              <a:t>jobs</a:t>
            </a:r>
            <a:r>
              <a:rPr sz="3400" spc="25" dirty="0">
                <a:solidFill>
                  <a:srgbClr val="2E377E"/>
                </a:solidFill>
                <a:latin typeface="Georgia"/>
                <a:cs typeface="Georgia"/>
              </a:rPr>
              <a:t> </a:t>
            </a:r>
            <a:r>
              <a:rPr sz="3400" dirty="0">
                <a:solidFill>
                  <a:srgbClr val="2E377E"/>
                </a:solidFill>
                <a:latin typeface="Georgia"/>
                <a:cs typeface="Georgia"/>
              </a:rPr>
              <a:t>will</a:t>
            </a:r>
            <a:r>
              <a:rPr sz="3400" spc="25" dirty="0">
                <a:solidFill>
                  <a:srgbClr val="2E377E"/>
                </a:solidFill>
                <a:latin typeface="Georgia"/>
                <a:cs typeface="Georgia"/>
              </a:rPr>
              <a:t> </a:t>
            </a:r>
            <a:r>
              <a:rPr sz="3400" spc="-25" dirty="0">
                <a:solidFill>
                  <a:srgbClr val="2E377E"/>
                </a:solidFill>
                <a:latin typeface="Georgia"/>
                <a:cs typeface="Georgia"/>
              </a:rPr>
              <a:t>be </a:t>
            </a:r>
            <a:r>
              <a:rPr sz="3400" spc="-10" dirty="0">
                <a:solidFill>
                  <a:srgbClr val="2E377E"/>
                </a:solidFill>
                <a:latin typeface="Georgia"/>
                <a:cs typeface="Georgia"/>
              </a:rPr>
              <a:t>present.</a:t>
            </a:r>
            <a:endParaRPr sz="3400">
              <a:latin typeface="Georgia"/>
              <a:cs typeface="Georgia"/>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50228" y="1733142"/>
            <a:ext cx="13477874" cy="5743574"/>
          </a:xfrm>
          <a:prstGeom prst="rect">
            <a:avLst/>
          </a:prstGeom>
        </p:spPr>
      </p:pic>
      <p:sp>
        <p:nvSpPr>
          <p:cNvPr id="3" name="object 3"/>
          <p:cNvSpPr txBox="1">
            <a:spLocks noGrp="1"/>
          </p:cNvSpPr>
          <p:nvPr>
            <p:ph type="title"/>
          </p:nvPr>
        </p:nvSpPr>
        <p:spPr>
          <a:prstGeom prst="rect">
            <a:avLst/>
          </a:prstGeom>
        </p:spPr>
        <p:txBody>
          <a:bodyPr vert="horz" wrap="square" lIns="0" tIns="476567" rIns="0" bIns="0" rtlCol="0">
            <a:spAutoFit/>
          </a:bodyPr>
          <a:lstStyle/>
          <a:p>
            <a:pPr marL="165100">
              <a:lnSpc>
                <a:spcPct val="100000"/>
              </a:lnSpc>
              <a:spcBef>
                <a:spcPts val="114"/>
              </a:spcBef>
            </a:pPr>
            <a:r>
              <a:rPr sz="4100" spc="175" dirty="0">
                <a:solidFill>
                  <a:srgbClr val="FF3131"/>
                </a:solidFill>
              </a:rPr>
              <a:t>Scheduling</a:t>
            </a:r>
            <a:r>
              <a:rPr sz="4100" spc="-25" dirty="0">
                <a:solidFill>
                  <a:srgbClr val="FF3131"/>
                </a:solidFill>
              </a:rPr>
              <a:t> </a:t>
            </a:r>
            <a:r>
              <a:rPr sz="4100" spc="60" dirty="0">
                <a:solidFill>
                  <a:srgbClr val="FF3131"/>
                </a:solidFill>
              </a:rPr>
              <a:t>a</a:t>
            </a:r>
            <a:r>
              <a:rPr sz="4100" spc="-25" dirty="0">
                <a:solidFill>
                  <a:srgbClr val="FF3131"/>
                </a:solidFill>
              </a:rPr>
              <a:t> </a:t>
            </a:r>
            <a:r>
              <a:rPr sz="4100" spc="265" dirty="0">
                <a:solidFill>
                  <a:srgbClr val="FF3131"/>
                </a:solidFill>
              </a:rPr>
              <a:t>pod</a:t>
            </a:r>
            <a:r>
              <a:rPr sz="4100" spc="-25" dirty="0">
                <a:solidFill>
                  <a:srgbClr val="FF3131"/>
                </a:solidFill>
              </a:rPr>
              <a:t> </a:t>
            </a:r>
            <a:r>
              <a:rPr sz="4100" spc="60" dirty="0">
                <a:solidFill>
                  <a:srgbClr val="FF3131"/>
                </a:solidFill>
              </a:rPr>
              <a:t>after</a:t>
            </a:r>
            <a:r>
              <a:rPr sz="4100" spc="-25" dirty="0">
                <a:solidFill>
                  <a:srgbClr val="FF3131"/>
                </a:solidFill>
              </a:rPr>
              <a:t> </a:t>
            </a:r>
            <a:r>
              <a:rPr sz="4100" spc="195" dirty="0">
                <a:solidFill>
                  <a:srgbClr val="FF3131"/>
                </a:solidFill>
              </a:rPr>
              <a:t>each</a:t>
            </a:r>
            <a:r>
              <a:rPr sz="4100" spc="-25" dirty="0">
                <a:solidFill>
                  <a:srgbClr val="FF3131"/>
                </a:solidFill>
              </a:rPr>
              <a:t> </a:t>
            </a:r>
            <a:r>
              <a:rPr sz="4100" spc="160" dirty="0">
                <a:solidFill>
                  <a:srgbClr val="FF3131"/>
                </a:solidFill>
              </a:rPr>
              <a:t>minute:</a:t>
            </a:r>
            <a:endParaRPr sz="4100"/>
          </a:p>
        </p:txBody>
      </p:sp>
      <p:sp>
        <p:nvSpPr>
          <p:cNvPr id="4" name="object 4"/>
          <p:cNvSpPr txBox="1"/>
          <p:nvPr/>
        </p:nvSpPr>
        <p:spPr>
          <a:xfrm>
            <a:off x="1016000" y="8013058"/>
            <a:ext cx="16244569" cy="1825625"/>
          </a:xfrm>
          <a:prstGeom prst="rect">
            <a:avLst/>
          </a:prstGeom>
        </p:spPr>
        <p:txBody>
          <a:bodyPr vert="horz" wrap="square" lIns="0" tIns="12700" rIns="0" bIns="0" rtlCol="0">
            <a:spAutoFit/>
          </a:bodyPr>
          <a:lstStyle/>
          <a:p>
            <a:pPr marL="12700" marR="5080">
              <a:lnSpc>
                <a:spcPct val="115799"/>
              </a:lnSpc>
              <a:spcBef>
                <a:spcPts val="100"/>
              </a:spcBef>
            </a:pPr>
            <a:r>
              <a:rPr sz="3400" dirty="0">
                <a:solidFill>
                  <a:srgbClr val="2E377E"/>
                </a:solidFill>
                <a:latin typeface="Georgia"/>
                <a:cs typeface="Georgia"/>
              </a:rPr>
              <a:t>The</a:t>
            </a:r>
            <a:r>
              <a:rPr sz="3400" spc="25" dirty="0">
                <a:solidFill>
                  <a:srgbClr val="2E377E"/>
                </a:solidFill>
                <a:latin typeface="Georgia"/>
                <a:cs typeface="Georgia"/>
              </a:rPr>
              <a:t> </a:t>
            </a:r>
            <a:r>
              <a:rPr sz="3400" dirty="0">
                <a:solidFill>
                  <a:srgbClr val="2E377E"/>
                </a:solidFill>
                <a:latin typeface="Georgia"/>
                <a:cs typeface="Georgia"/>
              </a:rPr>
              <a:t>above</a:t>
            </a:r>
            <a:r>
              <a:rPr sz="3400" spc="30" dirty="0">
                <a:solidFill>
                  <a:srgbClr val="2E377E"/>
                </a:solidFill>
                <a:latin typeface="Georgia"/>
                <a:cs typeface="Georgia"/>
              </a:rPr>
              <a:t> </a:t>
            </a:r>
            <a:r>
              <a:rPr sz="3400" dirty="0">
                <a:solidFill>
                  <a:srgbClr val="2E377E"/>
                </a:solidFill>
                <a:latin typeface="Georgia"/>
                <a:cs typeface="Georgia"/>
              </a:rPr>
              <a:t>manifest</a:t>
            </a:r>
            <a:r>
              <a:rPr sz="3400" spc="30" dirty="0">
                <a:solidFill>
                  <a:srgbClr val="2E377E"/>
                </a:solidFill>
                <a:latin typeface="Georgia"/>
                <a:cs typeface="Georgia"/>
              </a:rPr>
              <a:t> </a:t>
            </a:r>
            <a:r>
              <a:rPr sz="3400" dirty="0">
                <a:solidFill>
                  <a:srgbClr val="2E377E"/>
                </a:solidFill>
                <a:latin typeface="Georgia"/>
                <a:cs typeface="Georgia"/>
              </a:rPr>
              <a:t>file</a:t>
            </a:r>
            <a:r>
              <a:rPr sz="3400" spc="25" dirty="0">
                <a:solidFill>
                  <a:srgbClr val="2E377E"/>
                </a:solidFill>
                <a:latin typeface="Georgia"/>
                <a:cs typeface="Georgia"/>
              </a:rPr>
              <a:t> </a:t>
            </a:r>
            <a:r>
              <a:rPr sz="3400" dirty="0">
                <a:solidFill>
                  <a:srgbClr val="2E377E"/>
                </a:solidFill>
                <a:latin typeface="Georgia"/>
                <a:cs typeface="Georgia"/>
              </a:rPr>
              <a:t>for</a:t>
            </a:r>
            <a:r>
              <a:rPr sz="3400" spc="30" dirty="0">
                <a:solidFill>
                  <a:srgbClr val="2E377E"/>
                </a:solidFill>
                <a:latin typeface="Georgia"/>
                <a:cs typeface="Georgia"/>
              </a:rPr>
              <a:t> </a:t>
            </a:r>
            <a:r>
              <a:rPr sz="3400" spc="110" dirty="0">
                <a:solidFill>
                  <a:srgbClr val="2E377E"/>
                </a:solidFill>
                <a:latin typeface="Georgia"/>
                <a:cs typeface="Georgia"/>
              </a:rPr>
              <a:t>every</a:t>
            </a:r>
            <a:r>
              <a:rPr sz="3400" spc="30" dirty="0">
                <a:solidFill>
                  <a:srgbClr val="2E377E"/>
                </a:solidFill>
                <a:latin typeface="Georgia"/>
                <a:cs typeface="Georgia"/>
              </a:rPr>
              <a:t> </a:t>
            </a:r>
            <a:r>
              <a:rPr sz="3400" dirty="0">
                <a:solidFill>
                  <a:srgbClr val="2E377E"/>
                </a:solidFill>
                <a:latin typeface="Georgia"/>
                <a:cs typeface="Georgia"/>
              </a:rPr>
              <a:t>one</a:t>
            </a:r>
            <a:r>
              <a:rPr sz="3400" spc="25" dirty="0">
                <a:solidFill>
                  <a:srgbClr val="2E377E"/>
                </a:solidFill>
                <a:latin typeface="Georgia"/>
                <a:cs typeface="Georgia"/>
              </a:rPr>
              <a:t> </a:t>
            </a:r>
            <a:r>
              <a:rPr sz="3400" dirty="0">
                <a:solidFill>
                  <a:srgbClr val="2E377E"/>
                </a:solidFill>
                <a:latin typeface="Georgia"/>
                <a:cs typeface="Georgia"/>
              </a:rPr>
              <a:t>minute</a:t>
            </a:r>
            <a:r>
              <a:rPr sz="3400" spc="30" dirty="0">
                <a:solidFill>
                  <a:srgbClr val="2E377E"/>
                </a:solidFill>
                <a:latin typeface="Georgia"/>
                <a:cs typeface="Georgia"/>
              </a:rPr>
              <a:t> </a:t>
            </a:r>
            <a:r>
              <a:rPr sz="3400" spc="80" dirty="0">
                <a:solidFill>
                  <a:srgbClr val="2E377E"/>
                </a:solidFill>
                <a:latin typeface="Georgia"/>
                <a:cs typeface="Georgia"/>
              </a:rPr>
              <a:t>new</a:t>
            </a:r>
            <a:r>
              <a:rPr sz="3400" spc="30" dirty="0">
                <a:solidFill>
                  <a:srgbClr val="2E377E"/>
                </a:solidFill>
                <a:latin typeface="Georgia"/>
                <a:cs typeface="Georgia"/>
              </a:rPr>
              <a:t> </a:t>
            </a:r>
            <a:r>
              <a:rPr sz="3400" dirty="0">
                <a:solidFill>
                  <a:srgbClr val="2E377E"/>
                </a:solidFill>
                <a:latin typeface="Georgia"/>
                <a:cs typeface="Georgia"/>
              </a:rPr>
              <a:t>pod</a:t>
            </a:r>
            <a:r>
              <a:rPr sz="3400" spc="30" dirty="0">
                <a:solidFill>
                  <a:srgbClr val="2E377E"/>
                </a:solidFill>
                <a:latin typeface="Georgia"/>
                <a:cs typeface="Georgia"/>
              </a:rPr>
              <a:t> </a:t>
            </a:r>
            <a:r>
              <a:rPr sz="3400" dirty="0">
                <a:solidFill>
                  <a:srgbClr val="2E377E"/>
                </a:solidFill>
                <a:latin typeface="Georgia"/>
                <a:cs typeface="Georgia"/>
              </a:rPr>
              <a:t>will</a:t>
            </a:r>
            <a:r>
              <a:rPr sz="3400" spc="25" dirty="0">
                <a:solidFill>
                  <a:srgbClr val="2E377E"/>
                </a:solidFill>
                <a:latin typeface="Georgia"/>
                <a:cs typeface="Georgia"/>
              </a:rPr>
              <a:t> </a:t>
            </a:r>
            <a:r>
              <a:rPr sz="3400" spc="55" dirty="0">
                <a:solidFill>
                  <a:srgbClr val="2E377E"/>
                </a:solidFill>
                <a:latin typeface="Georgia"/>
                <a:cs typeface="Georgia"/>
              </a:rPr>
              <a:t>gets</a:t>
            </a:r>
            <a:r>
              <a:rPr sz="3400" spc="30" dirty="0">
                <a:solidFill>
                  <a:srgbClr val="2E377E"/>
                </a:solidFill>
                <a:latin typeface="Georgia"/>
                <a:cs typeface="Georgia"/>
              </a:rPr>
              <a:t> </a:t>
            </a:r>
            <a:r>
              <a:rPr sz="3400" spc="45" dirty="0">
                <a:solidFill>
                  <a:srgbClr val="2E377E"/>
                </a:solidFill>
                <a:latin typeface="Georgia"/>
                <a:cs typeface="Georgia"/>
              </a:rPr>
              <a:t>creates</a:t>
            </a:r>
            <a:r>
              <a:rPr sz="3400" spc="30" dirty="0">
                <a:solidFill>
                  <a:srgbClr val="2E377E"/>
                </a:solidFill>
                <a:latin typeface="Georgia"/>
                <a:cs typeface="Georgia"/>
              </a:rPr>
              <a:t> </a:t>
            </a:r>
            <a:r>
              <a:rPr sz="3400" dirty="0">
                <a:solidFill>
                  <a:srgbClr val="2E377E"/>
                </a:solidFill>
                <a:latin typeface="Georgia"/>
                <a:cs typeface="Georgia"/>
              </a:rPr>
              <a:t>and</a:t>
            </a:r>
            <a:r>
              <a:rPr sz="3400" spc="25" dirty="0">
                <a:solidFill>
                  <a:srgbClr val="2E377E"/>
                </a:solidFill>
                <a:latin typeface="Georgia"/>
                <a:cs typeface="Georgia"/>
              </a:rPr>
              <a:t> </a:t>
            </a:r>
            <a:r>
              <a:rPr sz="3400" spc="50" dirty="0">
                <a:solidFill>
                  <a:srgbClr val="2E377E"/>
                </a:solidFill>
                <a:latin typeface="Georgia"/>
                <a:cs typeface="Georgia"/>
              </a:rPr>
              <a:t>it</a:t>
            </a:r>
            <a:r>
              <a:rPr sz="3400" spc="30" dirty="0">
                <a:solidFill>
                  <a:srgbClr val="2E377E"/>
                </a:solidFill>
                <a:latin typeface="Georgia"/>
                <a:cs typeface="Georgia"/>
              </a:rPr>
              <a:t> </a:t>
            </a:r>
            <a:r>
              <a:rPr sz="3400" spc="-20" dirty="0">
                <a:solidFill>
                  <a:srgbClr val="2E377E"/>
                </a:solidFill>
                <a:latin typeface="Georgia"/>
                <a:cs typeface="Georgia"/>
              </a:rPr>
              <a:t>will </a:t>
            </a:r>
            <a:r>
              <a:rPr sz="3400" spc="70" dirty="0">
                <a:solidFill>
                  <a:srgbClr val="2E377E"/>
                </a:solidFill>
                <a:latin typeface="Georgia"/>
                <a:cs typeface="Georgia"/>
              </a:rPr>
              <a:t>execute</a:t>
            </a:r>
            <a:r>
              <a:rPr sz="3400" spc="10" dirty="0">
                <a:solidFill>
                  <a:srgbClr val="2E377E"/>
                </a:solidFill>
                <a:latin typeface="Georgia"/>
                <a:cs typeface="Georgia"/>
              </a:rPr>
              <a:t> </a:t>
            </a:r>
            <a:r>
              <a:rPr sz="3400" spc="60" dirty="0">
                <a:solidFill>
                  <a:srgbClr val="2E377E"/>
                </a:solidFill>
                <a:latin typeface="Georgia"/>
                <a:cs typeface="Georgia"/>
              </a:rPr>
              <a:t>the</a:t>
            </a:r>
            <a:r>
              <a:rPr sz="3400" spc="10" dirty="0">
                <a:solidFill>
                  <a:srgbClr val="2E377E"/>
                </a:solidFill>
                <a:latin typeface="Georgia"/>
                <a:cs typeface="Georgia"/>
              </a:rPr>
              <a:t> </a:t>
            </a:r>
            <a:r>
              <a:rPr sz="3400" dirty="0">
                <a:solidFill>
                  <a:srgbClr val="2E377E"/>
                </a:solidFill>
                <a:latin typeface="Georgia"/>
                <a:cs typeface="Georgia"/>
              </a:rPr>
              <a:t>commands.</a:t>
            </a:r>
            <a:r>
              <a:rPr sz="3400" spc="15" dirty="0">
                <a:solidFill>
                  <a:srgbClr val="2E377E"/>
                </a:solidFill>
                <a:latin typeface="Georgia"/>
                <a:cs typeface="Georgia"/>
              </a:rPr>
              <a:t> </a:t>
            </a:r>
            <a:r>
              <a:rPr sz="3400" dirty="0">
                <a:solidFill>
                  <a:srgbClr val="2E377E"/>
                </a:solidFill>
                <a:latin typeface="Georgia"/>
                <a:cs typeface="Georgia"/>
              </a:rPr>
              <a:t>After</a:t>
            </a:r>
            <a:r>
              <a:rPr sz="3400" spc="10" dirty="0">
                <a:solidFill>
                  <a:srgbClr val="2E377E"/>
                </a:solidFill>
                <a:latin typeface="Georgia"/>
                <a:cs typeface="Georgia"/>
              </a:rPr>
              <a:t> </a:t>
            </a:r>
            <a:r>
              <a:rPr sz="3400" spc="-175" dirty="0">
                <a:solidFill>
                  <a:srgbClr val="2E377E"/>
                </a:solidFill>
                <a:latin typeface="Georgia"/>
                <a:cs typeface="Georgia"/>
              </a:rPr>
              <a:t>30</a:t>
            </a:r>
            <a:r>
              <a:rPr sz="3400" spc="15" dirty="0">
                <a:solidFill>
                  <a:srgbClr val="2E377E"/>
                </a:solidFill>
                <a:latin typeface="Georgia"/>
                <a:cs typeface="Georgia"/>
              </a:rPr>
              <a:t> </a:t>
            </a:r>
            <a:r>
              <a:rPr sz="3400" dirty="0">
                <a:solidFill>
                  <a:srgbClr val="2E377E"/>
                </a:solidFill>
                <a:latin typeface="Georgia"/>
                <a:cs typeface="Georgia"/>
              </a:rPr>
              <a:t>seconds</a:t>
            </a:r>
            <a:r>
              <a:rPr sz="3400" spc="10" dirty="0">
                <a:solidFill>
                  <a:srgbClr val="2E377E"/>
                </a:solidFill>
                <a:latin typeface="Georgia"/>
                <a:cs typeface="Georgia"/>
              </a:rPr>
              <a:t> </a:t>
            </a:r>
            <a:r>
              <a:rPr sz="3400" dirty="0">
                <a:solidFill>
                  <a:srgbClr val="2E377E"/>
                </a:solidFill>
                <a:latin typeface="Georgia"/>
                <a:cs typeface="Georgia"/>
              </a:rPr>
              <a:t>pods</a:t>
            </a:r>
            <a:r>
              <a:rPr sz="3400" spc="10" dirty="0">
                <a:solidFill>
                  <a:srgbClr val="2E377E"/>
                </a:solidFill>
                <a:latin typeface="Georgia"/>
                <a:cs typeface="Georgia"/>
              </a:rPr>
              <a:t> </a:t>
            </a:r>
            <a:r>
              <a:rPr sz="3400" dirty="0">
                <a:solidFill>
                  <a:srgbClr val="2E377E"/>
                </a:solidFill>
                <a:latin typeface="Georgia"/>
                <a:cs typeface="Georgia"/>
              </a:rPr>
              <a:t>will</a:t>
            </a:r>
            <a:r>
              <a:rPr sz="3400" spc="15" dirty="0">
                <a:solidFill>
                  <a:srgbClr val="2E377E"/>
                </a:solidFill>
                <a:latin typeface="Georgia"/>
                <a:cs typeface="Georgia"/>
              </a:rPr>
              <a:t> </a:t>
            </a:r>
            <a:r>
              <a:rPr sz="3400" spc="55" dirty="0">
                <a:solidFill>
                  <a:srgbClr val="2E377E"/>
                </a:solidFill>
                <a:latin typeface="Georgia"/>
                <a:cs typeface="Georgia"/>
              </a:rPr>
              <a:t>gets</a:t>
            </a:r>
            <a:r>
              <a:rPr sz="3400" spc="10" dirty="0">
                <a:solidFill>
                  <a:srgbClr val="2E377E"/>
                </a:solidFill>
                <a:latin typeface="Georgia"/>
                <a:cs typeface="Georgia"/>
              </a:rPr>
              <a:t> </a:t>
            </a:r>
            <a:r>
              <a:rPr sz="3400" dirty="0">
                <a:solidFill>
                  <a:srgbClr val="2E377E"/>
                </a:solidFill>
                <a:latin typeface="Georgia"/>
                <a:cs typeface="Georgia"/>
              </a:rPr>
              <a:t>deleted.</a:t>
            </a:r>
            <a:r>
              <a:rPr sz="3400" spc="15" dirty="0">
                <a:solidFill>
                  <a:srgbClr val="2E377E"/>
                </a:solidFill>
                <a:latin typeface="Georgia"/>
                <a:cs typeface="Georgia"/>
              </a:rPr>
              <a:t> </a:t>
            </a:r>
            <a:r>
              <a:rPr sz="3400" dirty="0">
                <a:solidFill>
                  <a:srgbClr val="2E377E"/>
                </a:solidFill>
                <a:latin typeface="Georgia"/>
                <a:cs typeface="Georgia"/>
              </a:rPr>
              <a:t>After</a:t>
            </a:r>
            <a:r>
              <a:rPr sz="3400" spc="10" dirty="0">
                <a:solidFill>
                  <a:srgbClr val="2E377E"/>
                </a:solidFill>
                <a:latin typeface="Georgia"/>
                <a:cs typeface="Georgia"/>
              </a:rPr>
              <a:t> </a:t>
            </a:r>
            <a:r>
              <a:rPr sz="3400" dirty="0">
                <a:solidFill>
                  <a:srgbClr val="2E377E"/>
                </a:solidFill>
                <a:latin typeface="Georgia"/>
                <a:cs typeface="Georgia"/>
              </a:rPr>
              <a:t>1</a:t>
            </a:r>
            <a:r>
              <a:rPr sz="3400" spc="10" dirty="0">
                <a:solidFill>
                  <a:srgbClr val="2E377E"/>
                </a:solidFill>
                <a:latin typeface="Georgia"/>
                <a:cs typeface="Georgia"/>
              </a:rPr>
              <a:t> </a:t>
            </a:r>
            <a:r>
              <a:rPr sz="3400" dirty="0">
                <a:solidFill>
                  <a:srgbClr val="2E377E"/>
                </a:solidFill>
                <a:latin typeface="Georgia"/>
                <a:cs typeface="Georgia"/>
              </a:rPr>
              <a:t>min</a:t>
            </a:r>
            <a:r>
              <a:rPr sz="3400" spc="15" dirty="0">
                <a:solidFill>
                  <a:srgbClr val="2E377E"/>
                </a:solidFill>
                <a:latin typeface="Georgia"/>
                <a:cs typeface="Georgia"/>
              </a:rPr>
              <a:t> </a:t>
            </a:r>
            <a:r>
              <a:rPr sz="3400" spc="80" dirty="0">
                <a:solidFill>
                  <a:srgbClr val="2E377E"/>
                </a:solidFill>
                <a:latin typeface="Georgia"/>
                <a:cs typeface="Georgia"/>
              </a:rPr>
              <a:t>new</a:t>
            </a:r>
            <a:r>
              <a:rPr sz="3400" spc="10" dirty="0">
                <a:solidFill>
                  <a:srgbClr val="2E377E"/>
                </a:solidFill>
                <a:latin typeface="Georgia"/>
                <a:cs typeface="Georgia"/>
              </a:rPr>
              <a:t> </a:t>
            </a:r>
            <a:r>
              <a:rPr sz="3400" spc="-25" dirty="0">
                <a:solidFill>
                  <a:srgbClr val="2E377E"/>
                </a:solidFill>
                <a:latin typeface="Georgia"/>
                <a:cs typeface="Georgia"/>
              </a:rPr>
              <a:t>pod </a:t>
            </a:r>
            <a:r>
              <a:rPr sz="3400" spc="-10" dirty="0">
                <a:solidFill>
                  <a:srgbClr val="2E377E"/>
                </a:solidFill>
                <a:latin typeface="Georgia"/>
                <a:cs typeface="Georgia"/>
              </a:rPr>
              <a:t>created.</a:t>
            </a:r>
            <a:endParaRPr sz="3400">
              <a:latin typeface="Georgia"/>
              <a:cs typeface="Georgia"/>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91512" y="843395"/>
            <a:ext cx="8753474" cy="6953249"/>
          </a:xfrm>
          <a:prstGeom prst="rect">
            <a:avLst/>
          </a:prstGeom>
        </p:spPr>
      </p:pic>
      <p:sp>
        <p:nvSpPr>
          <p:cNvPr id="3" name="object 3"/>
          <p:cNvSpPr txBox="1"/>
          <p:nvPr/>
        </p:nvSpPr>
        <p:spPr>
          <a:xfrm>
            <a:off x="9601751" y="1366970"/>
            <a:ext cx="8418830" cy="4826000"/>
          </a:xfrm>
          <a:prstGeom prst="rect">
            <a:avLst/>
          </a:prstGeom>
        </p:spPr>
        <p:txBody>
          <a:bodyPr vert="horz" wrap="square" lIns="0" tIns="12700" rIns="0" bIns="0" rtlCol="0">
            <a:spAutoFit/>
          </a:bodyPr>
          <a:lstStyle/>
          <a:p>
            <a:pPr marL="12700" marR="5080">
              <a:lnSpc>
                <a:spcPct val="115799"/>
              </a:lnSpc>
              <a:spcBef>
                <a:spcPts val="100"/>
              </a:spcBef>
            </a:pPr>
            <a:r>
              <a:rPr sz="3400" dirty="0">
                <a:solidFill>
                  <a:srgbClr val="2E377E"/>
                </a:solidFill>
                <a:latin typeface="Georgia"/>
                <a:cs typeface="Georgia"/>
              </a:rPr>
              <a:t>As</a:t>
            </a:r>
            <a:r>
              <a:rPr sz="3400" spc="-50" dirty="0">
                <a:solidFill>
                  <a:srgbClr val="2E377E"/>
                </a:solidFill>
                <a:latin typeface="Georgia"/>
                <a:cs typeface="Georgia"/>
              </a:rPr>
              <a:t> </a:t>
            </a:r>
            <a:r>
              <a:rPr sz="3400" spc="114" dirty="0">
                <a:solidFill>
                  <a:srgbClr val="2E377E"/>
                </a:solidFill>
                <a:latin typeface="Georgia"/>
                <a:cs typeface="Georgia"/>
              </a:rPr>
              <a:t>we</a:t>
            </a:r>
            <a:r>
              <a:rPr sz="3400" spc="-45" dirty="0">
                <a:solidFill>
                  <a:srgbClr val="2E377E"/>
                </a:solidFill>
                <a:latin typeface="Georgia"/>
                <a:cs typeface="Georgia"/>
              </a:rPr>
              <a:t> </a:t>
            </a:r>
            <a:r>
              <a:rPr sz="3400" dirty="0">
                <a:solidFill>
                  <a:srgbClr val="2E377E"/>
                </a:solidFill>
                <a:latin typeface="Georgia"/>
                <a:cs typeface="Georgia"/>
              </a:rPr>
              <a:t>can</a:t>
            </a:r>
            <a:r>
              <a:rPr sz="3400" spc="-45" dirty="0">
                <a:solidFill>
                  <a:srgbClr val="2E377E"/>
                </a:solidFill>
                <a:latin typeface="Georgia"/>
                <a:cs typeface="Georgia"/>
              </a:rPr>
              <a:t> </a:t>
            </a:r>
            <a:r>
              <a:rPr sz="3400" spc="55" dirty="0">
                <a:solidFill>
                  <a:srgbClr val="2E377E"/>
                </a:solidFill>
                <a:latin typeface="Georgia"/>
                <a:cs typeface="Georgia"/>
              </a:rPr>
              <a:t>observe</a:t>
            </a:r>
            <a:r>
              <a:rPr sz="3400" spc="-45" dirty="0">
                <a:solidFill>
                  <a:srgbClr val="2E377E"/>
                </a:solidFill>
                <a:latin typeface="Georgia"/>
                <a:cs typeface="Georgia"/>
              </a:rPr>
              <a:t> </a:t>
            </a:r>
            <a:r>
              <a:rPr sz="3400" spc="60" dirty="0">
                <a:solidFill>
                  <a:srgbClr val="2E377E"/>
                </a:solidFill>
                <a:latin typeface="Georgia"/>
                <a:cs typeface="Georgia"/>
              </a:rPr>
              <a:t>the</a:t>
            </a:r>
            <a:r>
              <a:rPr sz="3400" spc="-50" dirty="0">
                <a:solidFill>
                  <a:srgbClr val="2E377E"/>
                </a:solidFill>
                <a:latin typeface="Georgia"/>
                <a:cs typeface="Georgia"/>
              </a:rPr>
              <a:t> </a:t>
            </a:r>
            <a:r>
              <a:rPr sz="3400" dirty="0">
                <a:solidFill>
                  <a:srgbClr val="2E377E"/>
                </a:solidFill>
                <a:latin typeface="Georgia"/>
                <a:cs typeface="Georgia"/>
              </a:rPr>
              <a:t>logs</a:t>
            </a:r>
            <a:r>
              <a:rPr sz="3400" spc="-45" dirty="0">
                <a:solidFill>
                  <a:srgbClr val="2E377E"/>
                </a:solidFill>
                <a:latin typeface="Georgia"/>
                <a:cs typeface="Georgia"/>
              </a:rPr>
              <a:t> </a:t>
            </a:r>
            <a:r>
              <a:rPr sz="3400" dirty="0">
                <a:solidFill>
                  <a:srgbClr val="2E377E"/>
                </a:solidFill>
                <a:latin typeface="Georgia"/>
                <a:cs typeface="Georgia"/>
              </a:rPr>
              <a:t>here,</a:t>
            </a:r>
            <a:r>
              <a:rPr sz="3400" spc="-45" dirty="0">
                <a:solidFill>
                  <a:srgbClr val="2E377E"/>
                </a:solidFill>
                <a:latin typeface="Georgia"/>
                <a:cs typeface="Georgia"/>
              </a:rPr>
              <a:t> </a:t>
            </a:r>
            <a:r>
              <a:rPr sz="3400" spc="65" dirty="0">
                <a:solidFill>
                  <a:srgbClr val="2E377E"/>
                </a:solidFill>
                <a:latin typeface="Georgia"/>
                <a:cs typeface="Georgia"/>
              </a:rPr>
              <a:t>when</a:t>
            </a:r>
            <a:r>
              <a:rPr sz="3400" spc="-45" dirty="0">
                <a:solidFill>
                  <a:srgbClr val="2E377E"/>
                </a:solidFill>
                <a:latin typeface="Georgia"/>
                <a:cs typeface="Georgia"/>
              </a:rPr>
              <a:t> </a:t>
            </a:r>
            <a:r>
              <a:rPr sz="3400" dirty="0">
                <a:solidFill>
                  <a:srgbClr val="2E377E"/>
                </a:solidFill>
                <a:latin typeface="Georgia"/>
                <a:cs typeface="Georgia"/>
              </a:rPr>
              <a:t>i</a:t>
            </a:r>
            <a:r>
              <a:rPr sz="3400" spc="-50" dirty="0">
                <a:solidFill>
                  <a:srgbClr val="2E377E"/>
                </a:solidFill>
                <a:latin typeface="Georgia"/>
                <a:cs typeface="Georgia"/>
              </a:rPr>
              <a:t> </a:t>
            </a:r>
            <a:r>
              <a:rPr sz="3400" spc="-25" dirty="0">
                <a:solidFill>
                  <a:srgbClr val="2E377E"/>
                </a:solidFill>
                <a:latin typeface="Georgia"/>
                <a:cs typeface="Georgia"/>
              </a:rPr>
              <a:t>run </a:t>
            </a:r>
            <a:r>
              <a:rPr sz="3400" spc="60" dirty="0">
                <a:solidFill>
                  <a:srgbClr val="2E377E"/>
                </a:solidFill>
                <a:latin typeface="Georgia"/>
                <a:cs typeface="Georgia"/>
              </a:rPr>
              <a:t>the</a:t>
            </a:r>
            <a:r>
              <a:rPr sz="3400" spc="30" dirty="0">
                <a:solidFill>
                  <a:srgbClr val="2E377E"/>
                </a:solidFill>
                <a:latin typeface="Georgia"/>
                <a:cs typeface="Georgia"/>
              </a:rPr>
              <a:t> </a:t>
            </a:r>
            <a:r>
              <a:rPr sz="3400" dirty="0">
                <a:solidFill>
                  <a:srgbClr val="2E377E"/>
                </a:solidFill>
                <a:latin typeface="Georgia"/>
                <a:cs typeface="Georgia"/>
              </a:rPr>
              <a:t>manifest</a:t>
            </a:r>
            <a:r>
              <a:rPr sz="3400" spc="35" dirty="0">
                <a:solidFill>
                  <a:srgbClr val="2E377E"/>
                </a:solidFill>
                <a:latin typeface="Georgia"/>
                <a:cs typeface="Georgia"/>
              </a:rPr>
              <a:t> </a:t>
            </a:r>
            <a:r>
              <a:rPr sz="3400" dirty="0">
                <a:solidFill>
                  <a:srgbClr val="2E377E"/>
                </a:solidFill>
                <a:latin typeface="Georgia"/>
                <a:cs typeface="Georgia"/>
              </a:rPr>
              <a:t>file</a:t>
            </a:r>
            <a:r>
              <a:rPr sz="3400" spc="30" dirty="0">
                <a:solidFill>
                  <a:srgbClr val="2E377E"/>
                </a:solidFill>
                <a:latin typeface="Georgia"/>
                <a:cs typeface="Georgia"/>
              </a:rPr>
              <a:t> </a:t>
            </a:r>
            <a:r>
              <a:rPr sz="3400" dirty="0">
                <a:solidFill>
                  <a:srgbClr val="2E377E"/>
                </a:solidFill>
                <a:latin typeface="Georgia"/>
                <a:cs typeface="Georgia"/>
              </a:rPr>
              <a:t>one</a:t>
            </a:r>
            <a:r>
              <a:rPr sz="3400" spc="35" dirty="0">
                <a:solidFill>
                  <a:srgbClr val="2E377E"/>
                </a:solidFill>
                <a:latin typeface="Georgia"/>
                <a:cs typeface="Georgia"/>
              </a:rPr>
              <a:t> </a:t>
            </a:r>
            <a:r>
              <a:rPr sz="3400" dirty="0">
                <a:solidFill>
                  <a:srgbClr val="2E377E"/>
                </a:solidFill>
                <a:latin typeface="Georgia"/>
                <a:cs typeface="Georgia"/>
              </a:rPr>
              <a:t>pod</a:t>
            </a:r>
            <a:r>
              <a:rPr sz="3400" spc="30" dirty="0">
                <a:solidFill>
                  <a:srgbClr val="2E377E"/>
                </a:solidFill>
                <a:latin typeface="Georgia"/>
                <a:cs typeface="Georgia"/>
              </a:rPr>
              <a:t> </a:t>
            </a:r>
            <a:r>
              <a:rPr sz="3400" dirty="0">
                <a:solidFill>
                  <a:srgbClr val="2E377E"/>
                </a:solidFill>
                <a:latin typeface="Georgia"/>
                <a:cs typeface="Georgia"/>
              </a:rPr>
              <a:t>is</a:t>
            </a:r>
            <a:r>
              <a:rPr sz="3400" spc="35" dirty="0">
                <a:solidFill>
                  <a:srgbClr val="2E377E"/>
                </a:solidFill>
                <a:latin typeface="Georgia"/>
                <a:cs typeface="Georgia"/>
              </a:rPr>
              <a:t> </a:t>
            </a:r>
            <a:r>
              <a:rPr sz="3400" spc="-10" dirty="0">
                <a:solidFill>
                  <a:srgbClr val="2E377E"/>
                </a:solidFill>
                <a:latin typeface="Georgia"/>
                <a:cs typeface="Georgia"/>
              </a:rPr>
              <a:t>created.</a:t>
            </a:r>
            <a:endParaRPr sz="3400">
              <a:latin typeface="Georgia"/>
              <a:cs typeface="Georgia"/>
            </a:endParaRPr>
          </a:p>
          <a:p>
            <a:pPr>
              <a:lnSpc>
                <a:spcPct val="100000"/>
              </a:lnSpc>
              <a:spcBef>
                <a:spcPts val="860"/>
              </a:spcBef>
            </a:pPr>
            <a:endParaRPr sz="3400">
              <a:latin typeface="Georgia"/>
              <a:cs typeface="Georgia"/>
            </a:endParaRPr>
          </a:p>
          <a:p>
            <a:pPr marL="12700" marR="963930">
              <a:lnSpc>
                <a:spcPct val="115799"/>
              </a:lnSpc>
            </a:pPr>
            <a:r>
              <a:rPr sz="3400" dirty="0">
                <a:solidFill>
                  <a:srgbClr val="2E377E"/>
                </a:solidFill>
                <a:latin typeface="Georgia"/>
                <a:cs typeface="Georgia"/>
              </a:rPr>
              <a:t>After</a:t>
            </a:r>
            <a:r>
              <a:rPr sz="3400" spc="85" dirty="0">
                <a:solidFill>
                  <a:srgbClr val="2E377E"/>
                </a:solidFill>
                <a:latin typeface="Georgia"/>
                <a:cs typeface="Georgia"/>
              </a:rPr>
              <a:t> </a:t>
            </a:r>
            <a:r>
              <a:rPr sz="3400" spc="-175" dirty="0">
                <a:solidFill>
                  <a:srgbClr val="2E377E"/>
                </a:solidFill>
                <a:latin typeface="Georgia"/>
                <a:cs typeface="Georgia"/>
              </a:rPr>
              <a:t>30</a:t>
            </a:r>
            <a:r>
              <a:rPr sz="3400" spc="85" dirty="0">
                <a:solidFill>
                  <a:srgbClr val="2E377E"/>
                </a:solidFill>
                <a:latin typeface="Georgia"/>
                <a:cs typeface="Georgia"/>
              </a:rPr>
              <a:t> </a:t>
            </a:r>
            <a:r>
              <a:rPr sz="3400" dirty="0">
                <a:solidFill>
                  <a:srgbClr val="2E377E"/>
                </a:solidFill>
                <a:latin typeface="Georgia"/>
                <a:cs typeface="Georgia"/>
              </a:rPr>
              <a:t>seconds</a:t>
            </a:r>
            <a:r>
              <a:rPr sz="3400" spc="85" dirty="0">
                <a:solidFill>
                  <a:srgbClr val="2E377E"/>
                </a:solidFill>
                <a:latin typeface="Georgia"/>
                <a:cs typeface="Georgia"/>
              </a:rPr>
              <a:t> </a:t>
            </a:r>
            <a:r>
              <a:rPr sz="3400" spc="60" dirty="0">
                <a:solidFill>
                  <a:srgbClr val="2E377E"/>
                </a:solidFill>
                <a:latin typeface="Georgia"/>
                <a:cs typeface="Georgia"/>
              </a:rPr>
              <a:t>the</a:t>
            </a:r>
            <a:r>
              <a:rPr sz="3400" spc="85" dirty="0">
                <a:solidFill>
                  <a:srgbClr val="2E377E"/>
                </a:solidFill>
                <a:latin typeface="Georgia"/>
                <a:cs typeface="Georgia"/>
              </a:rPr>
              <a:t> </a:t>
            </a:r>
            <a:r>
              <a:rPr sz="3400" dirty="0">
                <a:solidFill>
                  <a:srgbClr val="2E377E"/>
                </a:solidFill>
                <a:latin typeface="Georgia"/>
                <a:cs typeface="Georgia"/>
              </a:rPr>
              <a:t>pods</a:t>
            </a:r>
            <a:r>
              <a:rPr sz="3400" spc="85" dirty="0">
                <a:solidFill>
                  <a:srgbClr val="2E377E"/>
                </a:solidFill>
                <a:latin typeface="Georgia"/>
                <a:cs typeface="Georgia"/>
              </a:rPr>
              <a:t> </a:t>
            </a:r>
            <a:r>
              <a:rPr sz="3400" dirty="0">
                <a:solidFill>
                  <a:srgbClr val="2E377E"/>
                </a:solidFill>
                <a:latin typeface="Georgia"/>
                <a:cs typeface="Georgia"/>
              </a:rPr>
              <a:t>completes</a:t>
            </a:r>
            <a:r>
              <a:rPr sz="3400" spc="85" dirty="0">
                <a:solidFill>
                  <a:srgbClr val="2E377E"/>
                </a:solidFill>
                <a:latin typeface="Georgia"/>
                <a:cs typeface="Georgia"/>
              </a:rPr>
              <a:t> </a:t>
            </a:r>
            <a:r>
              <a:rPr sz="3400" spc="25" dirty="0">
                <a:solidFill>
                  <a:srgbClr val="2E377E"/>
                </a:solidFill>
                <a:latin typeface="Georgia"/>
                <a:cs typeface="Georgia"/>
              </a:rPr>
              <a:t>it </a:t>
            </a:r>
            <a:r>
              <a:rPr sz="3400" spc="60" dirty="0">
                <a:solidFill>
                  <a:srgbClr val="2E377E"/>
                </a:solidFill>
                <a:latin typeface="Georgia"/>
                <a:cs typeface="Georgia"/>
              </a:rPr>
              <a:t>work</a:t>
            </a:r>
            <a:endParaRPr sz="3400">
              <a:latin typeface="Georgia"/>
              <a:cs typeface="Georgia"/>
            </a:endParaRPr>
          </a:p>
          <a:p>
            <a:pPr>
              <a:lnSpc>
                <a:spcPct val="100000"/>
              </a:lnSpc>
              <a:spcBef>
                <a:spcPts val="860"/>
              </a:spcBef>
            </a:pPr>
            <a:endParaRPr sz="3400">
              <a:latin typeface="Georgia"/>
              <a:cs typeface="Georgia"/>
            </a:endParaRPr>
          </a:p>
          <a:p>
            <a:pPr marL="12700" marR="996950">
              <a:lnSpc>
                <a:spcPct val="115799"/>
              </a:lnSpc>
              <a:spcBef>
                <a:spcPts val="5"/>
              </a:spcBef>
            </a:pPr>
            <a:r>
              <a:rPr sz="3400" dirty="0">
                <a:solidFill>
                  <a:srgbClr val="2E377E"/>
                </a:solidFill>
                <a:latin typeface="Georgia"/>
                <a:cs typeface="Georgia"/>
              </a:rPr>
              <a:t>After</a:t>
            </a:r>
            <a:r>
              <a:rPr sz="3400" spc="30" dirty="0">
                <a:solidFill>
                  <a:srgbClr val="2E377E"/>
                </a:solidFill>
                <a:latin typeface="Georgia"/>
                <a:cs typeface="Georgia"/>
              </a:rPr>
              <a:t> </a:t>
            </a:r>
            <a:r>
              <a:rPr sz="3400" spc="-170" dirty="0">
                <a:solidFill>
                  <a:srgbClr val="2E377E"/>
                </a:solidFill>
                <a:latin typeface="Georgia"/>
                <a:cs typeface="Georgia"/>
              </a:rPr>
              <a:t>60</a:t>
            </a:r>
            <a:r>
              <a:rPr sz="3400" spc="30" dirty="0">
                <a:solidFill>
                  <a:srgbClr val="2E377E"/>
                </a:solidFill>
                <a:latin typeface="Georgia"/>
                <a:cs typeface="Georgia"/>
              </a:rPr>
              <a:t> </a:t>
            </a:r>
            <a:r>
              <a:rPr sz="3400" dirty="0">
                <a:solidFill>
                  <a:srgbClr val="2E377E"/>
                </a:solidFill>
                <a:latin typeface="Georgia"/>
                <a:cs typeface="Georgia"/>
              </a:rPr>
              <a:t>seconds</a:t>
            </a:r>
            <a:r>
              <a:rPr sz="3400" spc="30" dirty="0">
                <a:solidFill>
                  <a:srgbClr val="2E377E"/>
                </a:solidFill>
                <a:latin typeface="Georgia"/>
                <a:cs typeface="Georgia"/>
              </a:rPr>
              <a:t> </a:t>
            </a:r>
            <a:r>
              <a:rPr sz="3400" spc="60" dirty="0">
                <a:solidFill>
                  <a:srgbClr val="2E377E"/>
                </a:solidFill>
                <a:latin typeface="Georgia"/>
                <a:cs typeface="Georgia"/>
              </a:rPr>
              <a:t>the</a:t>
            </a:r>
            <a:r>
              <a:rPr sz="3400" spc="30" dirty="0">
                <a:solidFill>
                  <a:srgbClr val="2E377E"/>
                </a:solidFill>
                <a:latin typeface="Georgia"/>
                <a:cs typeface="Georgia"/>
              </a:rPr>
              <a:t> </a:t>
            </a:r>
            <a:r>
              <a:rPr sz="3400" spc="80" dirty="0">
                <a:solidFill>
                  <a:srgbClr val="2E377E"/>
                </a:solidFill>
                <a:latin typeface="Georgia"/>
                <a:cs typeface="Georgia"/>
              </a:rPr>
              <a:t>new</a:t>
            </a:r>
            <a:r>
              <a:rPr sz="3400" spc="35" dirty="0">
                <a:solidFill>
                  <a:srgbClr val="2E377E"/>
                </a:solidFill>
                <a:latin typeface="Georgia"/>
                <a:cs typeface="Georgia"/>
              </a:rPr>
              <a:t> </a:t>
            </a:r>
            <a:r>
              <a:rPr sz="3400" dirty="0">
                <a:solidFill>
                  <a:srgbClr val="2E377E"/>
                </a:solidFill>
                <a:latin typeface="Georgia"/>
                <a:cs typeface="Georgia"/>
              </a:rPr>
              <a:t>pod</a:t>
            </a:r>
            <a:r>
              <a:rPr sz="3400" spc="30" dirty="0">
                <a:solidFill>
                  <a:srgbClr val="2E377E"/>
                </a:solidFill>
                <a:latin typeface="Georgia"/>
                <a:cs typeface="Georgia"/>
              </a:rPr>
              <a:t> </a:t>
            </a:r>
            <a:r>
              <a:rPr sz="3400" dirty="0">
                <a:solidFill>
                  <a:srgbClr val="2E377E"/>
                </a:solidFill>
                <a:latin typeface="Georgia"/>
                <a:cs typeface="Georgia"/>
              </a:rPr>
              <a:t>will</a:t>
            </a:r>
            <a:r>
              <a:rPr sz="3400" spc="30" dirty="0">
                <a:solidFill>
                  <a:srgbClr val="2E377E"/>
                </a:solidFill>
                <a:latin typeface="Georgia"/>
                <a:cs typeface="Georgia"/>
              </a:rPr>
              <a:t> </a:t>
            </a:r>
            <a:r>
              <a:rPr sz="3400" spc="35" dirty="0">
                <a:solidFill>
                  <a:srgbClr val="2E377E"/>
                </a:solidFill>
                <a:latin typeface="Georgia"/>
                <a:cs typeface="Georgia"/>
              </a:rPr>
              <a:t>gets </a:t>
            </a:r>
            <a:r>
              <a:rPr sz="3400" spc="45" dirty="0">
                <a:solidFill>
                  <a:srgbClr val="2E377E"/>
                </a:solidFill>
                <a:latin typeface="Georgia"/>
                <a:cs typeface="Georgia"/>
              </a:rPr>
              <a:t>created</a:t>
            </a:r>
            <a:r>
              <a:rPr sz="3400" spc="-55" dirty="0">
                <a:solidFill>
                  <a:srgbClr val="2E377E"/>
                </a:solidFill>
                <a:latin typeface="Georgia"/>
                <a:cs typeface="Georgia"/>
              </a:rPr>
              <a:t> </a:t>
            </a:r>
            <a:r>
              <a:rPr sz="3400" spc="-10" dirty="0">
                <a:solidFill>
                  <a:srgbClr val="2E377E"/>
                </a:solidFill>
                <a:latin typeface="Georgia"/>
                <a:cs typeface="Georgia"/>
              </a:rPr>
              <a:t>automatically.</a:t>
            </a:r>
            <a:endParaRPr sz="3400">
              <a:latin typeface="Georgia"/>
              <a:cs typeface="Georgia"/>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453645" y="1859914"/>
            <a:ext cx="1881067" cy="5516244"/>
          </a:xfrm>
          <a:prstGeom prst="rect">
            <a:avLst/>
          </a:prstGeom>
        </p:spPr>
      </p:pic>
      <p:pic>
        <p:nvPicPr>
          <p:cNvPr id="3" name="object 3"/>
          <p:cNvPicPr/>
          <p:nvPr/>
        </p:nvPicPr>
        <p:blipFill>
          <a:blip r:embed="rId3" cstate="print"/>
          <a:stretch>
            <a:fillRect/>
          </a:stretch>
        </p:blipFill>
        <p:spPr>
          <a:xfrm>
            <a:off x="9297811" y="2103376"/>
            <a:ext cx="4939790" cy="4697571"/>
          </a:xfrm>
          <a:prstGeom prst="rect">
            <a:avLst/>
          </a:prstGeom>
        </p:spPr>
      </p:pic>
      <p:sp>
        <p:nvSpPr>
          <p:cNvPr id="4" name="object 4"/>
          <p:cNvSpPr txBox="1">
            <a:spLocks noGrp="1"/>
          </p:cNvSpPr>
          <p:nvPr>
            <p:ph type="title"/>
          </p:nvPr>
        </p:nvSpPr>
        <p:spPr>
          <a:xfrm>
            <a:off x="448579" y="368454"/>
            <a:ext cx="7676515" cy="787400"/>
          </a:xfrm>
          <a:prstGeom prst="rect">
            <a:avLst/>
          </a:prstGeom>
        </p:spPr>
        <p:txBody>
          <a:bodyPr vert="horz" wrap="square" lIns="0" tIns="12700" rIns="0" bIns="0" rtlCol="0">
            <a:spAutoFit/>
          </a:bodyPr>
          <a:lstStyle/>
          <a:p>
            <a:pPr marL="12700">
              <a:lnSpc>
                <a:spcPct val="100000"/>
              </a:lnSpc>
              <a:spcBef>
                <a:spcPts val="100"/>
              </a:spcBef>
            </a:pPr>
            <a:r>
              <a:rPr spc="-300" dirty="0">
                <a:solidFill>
                  <a:srgbClr val="FF3131"/>
                </a:solidFill>
              </a:rPr>
              <a:t>STATELESS</a:t>
            </a:r>
            <a:r>
              <a:rPr spc="-45" dirty="0">
                <a:solidFill>
                  <a:srgbClr val="FF3131"/>
                </a:solidFill>
              </a:rPr>
              <a:t> </a:t>
            </a:r>
            <a:r>
              <a:rPr spc="-175" dirty="0">
                <a:solidFill>
                  <a:srgbClr val="FF3131"/>
                </a:solidFill>
              </a:rPr>
              <a:t>APPLICATION</a:t>
            </a:r>
          </a:p>
        </p:txBody>
      </p:sp>
      <p:sp>
        <p:nvSpPr>
          <p:cNvPr id="5" name="object 5"/>
          <p:cNvSpPr txBox="1"/>
          <p:nvPr/>
        </p:nvSpPr>
        <p:spPr>
          <a:xfrm>
            <a:off x="790739" y="7782199"/>
            <a:ext cx="17031970" cy="1939925"/>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Last</a:t>
            </a:r>
            <a:r>
              <a:rPr sz="3600" spc="-15" dirty="0">
                <a:solidFill>
                  <a:srgbClr val="2E377E"/>
                </a:solidFill>
                <a:latin typeface="Georgia"/>
                <a:cs typeface="Georgia"/>
              </a:rPr>
              <a:t> </a:t>
            </a:r>
            <a:r>
              <a:rPr sz="3600" dirty="0">
                <a:solidFill>
                  <a:srgbClr val="2E377E"/>
                </a:solidFill>
                <a:latin typeface="Georgia"/>
                <a:cs typeface="Georgia"/>
              </a:rPr>
              <a:t>night</a:t>
            </a:r>
            <a:r>
              <a:rPr sz="3600" spc="-15" dirty="0">
                <a:solidFill>
                  <a:srgbClr val="2E377E"/>
                </a:solidFill>
                <a:latin typeface="Georgia"/>
                <a:cs typeface="Georgia"/>
              </a:rPr>
              <a:t> </a:t>
            </a:r>
            <a:r>
              <a:rPr sz="3600" dirty="0">
                <a:solidFill>
                  <a:srgbClr val="2E377E"/>
                </a:solidFill>
                <a:latin typeface="Georgia"/>
                <a:cs typeface="Georgia"/>
              </a:rPr>
              <a:t>i</a:t>
            </a:r>
            <a:r>
              <a:rPr sz="3600" spc="-15" dirty="0">
                <a:solidFill>
                  <a:srgbClr val="2E377E"/>
                </a:solidFill>
                <a:latin typeface="Georgia"/>
                <a:cs typeface="Georgia"/>
              </a:rPr>
              <a:t> </a:t>
            </a:r>
            <a:r>
              <a:rPr sz="3600" dirty="0">
                <a:solidFill>
                  <a:srgbClr val="2E377E"/>
                </a:solidFill>
                <a:latin typeface="Georgia"/>
                <a:cs typeface="Georgia"/>
              </a:rPr>
              <a:t>had</a:t>
            </a:r>
            <a:r>
              <a:rPr sz="3600" spc="-15" dirty="0">
                <a:solidFill>
                  <a:srgbClr val="2E377E"/>
                </a:solidFill>
                <a:latin typeface="Georgia"/>
                <a:cs typeface="Georgia"/>
              </a:rPr>
              <a:t> </a:t>
            </a:r>
            <a:r>
              <a:rPr sz="3600" dirty="0">
                <a:solidFill>
                  <a:srgbClr val="2E377E"/>
                </a:solidFill>
                <a:latin typeface="Georgia"/>
                <a:cs typeface="Georgia"/>
              </a:rPr>
              <a:t>a</a:t>
            </a:r>
            <a:r>
              <a:rPr sz="3600" spc="-15" dirty="0">
                <a:solidFill>
                  <a:srgbClr val="2E377E"/>
                </a:solidFill>
                <a:latin typeface="Georgia"/>
                <a:cs typeface="Georgia"/>
              </a:rPr>
              <a:t> </a:t>
            </a:r>
            <a:r>
              <a:rPr sz="3600" dirty="0">
                <a:solidFill>
                  <a:srgbClr val="2E377E"/>
                </a:solidFill>
                <a:latin typeface="Georgia"/>
                <a:cs typeface="Georgia"/>
              </a:rPr>
              <a:t>call</a:t>
            </a:r>
            <a:r>
              <a:rPr sz="3600" spc="-10" dirty="0">
                <a:solidFill>
                  <a:srgbClr val="2E377E"/>
                </a:solidFill>
                <a:latin typeface="Georgia"/>
                <a:cs typeface="Georgia"/>
              </a:rPr>
              <a:t> </a:t>
            </a:r>
            <a:r>
              <a:rPr sz="3600" spc="85" dirty="0">
                <a:solidFill>
                  <a:srgbClr val="2E377E"/>
                </a:solidFill>
                <a:latin typeface="Georgia"/>
                <a:cs typeface="Georgia"/>
              </a:rPr>
              <a:t>with</a:t>
            </a:r>
            <a:r>
              <a:rPr sz="3600" spc="-15" dirty="0">
                <a:solidFill>
                  <a:srgbClr val="2E377E"/>
                </a:solidFill>
                <a:latin typeface="Georgia"/>
                <a:cs typeface="Georgia"/>
              </a:rPr>
              <a:t> </a:t>
            </a:r>
            <a:r>
              <a:rPr sz="3600" dirty="0">
                <a:solidFill>
                  <a:srgbClr val="2E377E"/>
                </a:solidFill>
                <a:latin typeface="Georgia"/>
                <a:cs typeface="Georgia"/>
              </a:rPr>
              <a:t>mobile</a:t>
            </a:r>
            <a:r>
              <a:rPr sz="3600" spc="-15" dirty="0">
                <a:solidFill>
                  <a:srgbClr val="2E377E"/>
                </a:solidFill>
                <a:latin typeface="Georgia"/>
                <a:cs typeface="Georgia"/>
              </a:rPr>
              <a:t> </a:t>
            </a:r>
            <a:r>
              <a:rPr sz="3600" spc="55" dirty="0">
                <a:solidFill>
                  <a:srgbClr val="2E377E"/>
                </a:solidFill>
                <a:latin typeface="Georgia"/>
                <a:cs typeface="Georgia"/>
              </a:rPr>
              <a:t>customer</a:t>
            </a:r>
            <a:r>
              <a:rPr sz="3600" spc="-15" dirty="0">
                <a:solidFill>
                  <a:srgbClr val="2E377E"/>
                </a:solidFill>
                <a:latin typeface="Georgia"/>
                <a:cs typeface="Georgia"/>
              </a:rPr>
              <a:t> </a:t>
            </a:r>
            <a:r>
              <a:rPr sz="3600" dirty="0">
                <a:solidFill>
                  <a:srgbClr val="2E377E"/>
                </a:solidFill>
                <a:latin typeface="Georgia"/>
                <a:cs typeface="Georgia"/>
              </a:rPr>
              <a:t>care,</a:t>
            </a:r>
            <a:r>
              <a:rPr sz="3600" spc="-15"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dirty="0">
                <a:solidFill>
                  <a:srgbClr val="2E377E"/>
                </a:solidFill>
                <a:latin typeface="Georgia"/>
                <a:cs typeface="Georgia"/>
              </a:rPr>
              <a:t>i</a:t>
            </a:r>
            <a:r>
              <a:rPr sz="3600" spc="-10" dirty="0">
                <a:solidFill>
                  <a:srgbClr val="2E377E"/>
                </a:solidFill>
                <a:latin typeface="Georgia"/>
                <a:cs typeface="Georgia"/>
              </a:rPr>
              <a:t> </a:t>
            </a:r>
            <a:r>
              <a:rPr sz="3600" dirty="0">
                <a:solidFill>
                  <a:srgbClr val="2E377E"/>
                </a:solidFill>
                <a:latin typeface="Georgia"/>
                <a:cs typeface="Georgia"/>
              </a:rPr>
              <a:t>explained</a:t>
            </a:r>
            <a:r>
              <a:rPr sz="3600" spc="-15" dirty="0">
                <a:solidFill>
                  <a:srgbClr val="2E377E"/>
                </a:solidFill>
                <a:latin typeface="Georgia"/>
                <a:cs typeface="Georgia"/>
              </a:rPr>
              <a:t> </a:t>
            </a:r>
            <a:r>
              <a:rPr sz="3600" spc="110" dirty="0">
                <a:solidFill>
                  <a:srgbClr val="2E377E"/>
                </a:solidFill>
                <a:latin typeface="Georgia"/>
                <a:cs typeface="Georgia"/>
              </a:rPr>
              <a:t>my</a:t>
            </a:r>
            <a:r>
              <a:rPr sz="3600" spc="-15" dirty="0">
                <a:solidFill>
                  <a:srgbClr val="2E377E"/>
                </a:solidFill>
                <a:latin typeface="Georgia"/>
                <a:cs typeface="Georgia"/>
              </a:rPr>
              <a:t> </a:t>
            </a:r>
            <a:r>
              <a:rPr sz="3600" spc="-20" dirty="0">
                <a:solidFill>
                  <a:srgbClr val="2E377E"/>
                </a:solidFill>
                <a:latin typeface="Georgia"/>
                <a:cs typeface="Georgia"/>
              </a:rPr>
              <a:t>issue</a:t>
            </a:r>
            <a:endParaRPr sz="3600">
              <a:latin typeface="Georgia"/>
              <a:cs typeface="Georgia"/>
            </a:endParaRPr>
          </a:p>
          <a:p>
            <a:pPr marL="12700" marR="5080">
              <a:lnSpc>
                <a:spcPct val="116300"/>
              </a:lnSpc>
            </a:pPr>
            <a:r>
              <a:rPr sz="3600" spc="85" dirty="0">
                <a:solidFill>
                  <a:srgbClr val="2E377E"/>
                </a:solidFill>
                <a:latin typeface="Georgia"/>
                <a:cs typeface="Georgia"/>
              </a:rPr>
              <a:t>with</a:t>
            </a:r>
            <a:r>
              <a:rPr sz="3600" spc="-20" dirty="0">
                <a:solidFill>
                  <a:srgbClr val="2E377E"/>
                </a:solidFill>
                <a:latin typeface="Georgia"/>
                <a:cs typeface="Georgia"/>
              </a:rPr>
              <a:t> </a:t>
            </a:r>
            <a:r>
              <a:rPr sz="3600" dirty="0">
                <a:solidFill>
                  <a:srgbClr val="2E377E"/>
                </a:solidFill>
                <a:latin typeface="Georgia"/>
                <a:cs typeface="Georgia"/>
              </a:rPr>
              <a:t>her</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spc="50" dirty="0">
                <a:solidFill>
                  <a:srgbClr val="2E377E"/>
                </a:solidFill>
                <a:latin typeface="Georgia"/>
                <a:cs typeface="Georgia"/>
              </a:rPr>
              <a:t>requested</a:t>
            </a:r>
            <a:r>
              <a:rPr sz="3600" spc="-20" dirty="0">
                <a:solidFill>
                  <a:srgbClr val="2E377E"/>
                </a:solidFill>
                <a:latin typeface="Georgia"/>
                <a:cs typeface="Georgia"/>
              </a:rPr>
              <a:t> </a:t>
            </a:r>
            <a:r>
              <a:rPr sz="3600" spc="70" dirty="0">
                <a:solidFill>
                  <a:srgbClr val="2E377E"/>
                </a:solidFill>
                <a:latin typeface="Georgia"/>
                <a:cs typeface="Georgia"/>
              </a:rPr>
              <a:t>to</a:t>
            </a:r>
            <a:r>
              <a:rPr sz="3600" spc="-20" dirty="0">
                <a:solidFill>
                  <a:srgbClr val="2E377E"/>
                </a:solidFill>
                <a:latin typeface="Georgia"/>
                <a:cs typeface="Georgia"/>
              </a:rPr>
              <a:t> </a:t>
            </a:r>
            <a:r>
              <a:rPr sz="3600" spc="55" dirty="0">
                <a:solidFill>
                  <a:srgbClr val="2E377E"/>
                </a:solidFill>
                <a:latin typeface="Georgia"/>
                <a:cs typeface="Georgia"/>
              </a:rPr>
              <a:t>resolve</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issue.</a:t>
            </a:r>
            <a:r>
              <a:rPr sz="3600" spc="-15" dirty="0">
                <a:solidFill>
                  <a:srgbClr val="2E377E"/>
                </a:solidFill>
                <a:latin typeface="Georgia"/>
                <a:cs typeface="Georgia"/>
              </a:rPr>
              <a:t> </a:t>
            </a:r>
            <a:r>
              <a:rPr sz="3600" dirty="0">
                <a:solidFill>
                  <a:srgbClr val="2E377E"/>
                </a:solidFill>
                <a:latin typeface="Georgia"/>
                <a:cs typeface="Georgia"/>
              </a:rPr>
              <a:t>She</a:t>
            </a:r>
            <a:r>
              <a:rPr sz="3600" spc="-20" dirty="0">
                <a:solidFill>
                  <a:srgbClr val="2E377E"/>
                </a:solidFill>
                <a:latin typeface="Georgia"/>
                <a:cs typeface="Georgia"/>
              </a:rPr>
              <a:t> </a:t>
            </a:r>
            <a:r>
              <a:rPr sz="3600" dirty="0">
                <a:solidFill>
                  <a:srgbClr val="2E377E"/>
                </a:solidFill>
                <a:latin typeface="Georgia"/>
                <a:cs typeface="Georgia"/>
              </a:rPr>
              <a:t>asked</a:t>
            </a:r>
            <a:r>
              <a:rPr sz="3600" spc="-20" dirty="0">
                <a:solidFill>
                  <a:srgbClr val="2E377E"/>
                </a:solidFill>
                <a:latin typeface="Georgia"/>
                <a:cs typeface="Georgia"/>
              </a:rPr>
              <a:t> </a:t>
            </a:r>
            <a:r>
              <a:rPr sz="3600" spc="70" dirty="0">
                <a:solidFill>
                  <a:srgbClr val="2E377E"/>
                </a:solidFill>
                <a:latin typeface="Georgia"/>
                <a:cs typeface="Georgia"/>
              </a:rPr>
              <a:t>to</a:t>
            </a:r>
            <a:r>
              <a:rPr sz="3600" spc="-20" dirty="0">
                <a:solidFill>
                  <a:srgbClr val="2E377E"/>
                </a:solidFill>
                <a:latin typeface="Georgia"/>
                <a:cs typeface="Georgia"/>
              </a:rPr>
              <a:t> </a:t>
            </a:r>
            <a:r>
              <a:rPr sz="3600" spc="80" dirty="0">
                <a:solidFill>
                  <a:srgbClr val="2E377E"/>
                </a:solidFill>
                <a:latin typeface="Georgia"/>
                <a:cs typeface="Georgia"/>
              </a:rPr>
              <a:t>stay</a:t>
            </a:r>
            <a:r>
              <a:rPr sz="3600" spc="-20" dirty="0">
                <a:solidFill>
                  <a:srgbClr val="2E377E"/>
                </a:solidFill>
                <a:latin typeface="Georgia"/>
                <a:cs typeface="Georgia"/>
              </a:rPr>
              <a:t> </a:t>
            </a:r>
            <a:r>
              <a:rPr sz="3600" dirty="0">
                <a:solidFill>
                  <a:srgbClr val="2E377E"/>
                </a:solidFill>
                <a:latin typeface="Georgia"/>
                <a:cs typeface="Georgia"/>
              </a:rPr>
              <a:t>on</a:t>
            </a:r>
            <a:r>
              <a:rPr sz="3600" spc="-20" dirty="0">
                <a:solidFill>
                  <a:srgbClr val="2E377E"/>
                </a:solidFill>
                <a:latin typeface="Georgia"/>
                <a:cs typeface="Georgia"/>
              </a:rPr>
              <a:t> </a:t>
            </a:r>
            <a:r>
              <a:rPr sz="3600" dirty="0">
                <a:solidFill>
                  <a:srgbClr val="2E377E"/>
                </a:solidFill>
                <a:latin typeface="Georgia"/>
                <a:cs typeface="Georgia"/>
              </a:rPr>
              <a:t>call</a:t>
            </a:r>
            <a:r>
              <a:rPr sz="3600" spc="-20" dirty="0">
                <a:solidFill>
                  <a:srgbClr val="2E377E"/>
                </a:solidFill>
                <a:latin typeface="Georgia"/>
                <a:cs typeface="Georgia"/>
              </a:rPr>
              <a:t> </a:t>
            </a:r>
            <a:r>
              <a:rPr sz="3600" dirty="0">
                <a:solidFill>
                  <a:srgbClr val="2E377E"/>
                </a:solidFill>
                <a:latin typeface="Georgia"/>
                <a:cs typeface="Georgia"/>
              </a:rPr>
              <a:t>for</a:t>
            </a:r>
            <a:r>
              <a:rPr sz="3600" spc="-15" dirty="0">
                <a:solidFill>
                  <a:srgbClr val="2E377E"/>
                </a:solidFill>
                <a:latin typeface="Georgia"/>
                <a:cs typeface="Georgia"/>
              </a:rPr>
              <a:t> </a:t>
            </a:r>
            <a:r>
              <a:rPr sz="3600" dirty="0">
                <a:solidFill>
                  <a:srgbClr val="2E377E"/>
                </a:solidFill>
                <a:latin typeface="Georgia"/>
                <a:cs typeface="Georgia"/>
              </a:rPr>
              <a:t>some</a:t>
            </a:r>
            <a:r>
              <a:rPr sz="3600" spc="-20" dirty="0">
                <a:solidFill>
                  <a:srgbClr val="2E377E"/>
                </a:solidFill>
                <a:latin typeface="Georgia"/>
                <a:cs typeface="Georgia"/>
              </a:rPr>
              <a:t> time. </a:t>
            </a:r>
            <a:r>
              <a:rPr sz="3600" dirty="0">
                <a:solidFill>
                  <a:srgbClr val="2E377E"/>
                </a:solidFill>
                <a:latin typeface="Georgia"/>
                <a:cs typeface="Georgia"/>
              </a:rPr>
              <a:t>Meanwhile</a:t>
            </a:r>
            <a:r>
              <a:rPr sz="3600" spc="-20"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call</a:t>
            </a:r>
            <a:r>
              <a:rPr sz="3600" spc="-10" dirty="0">
                <a:solidFill>
                  <a:srgbClr val="2E377E"/>
                </a:solidFill>
                <a:latin typeface="Georgia"/>
                <a:cs typeface="Georgia"/>
              </a:rPr>
              <a:t> </a:t>
            </a:r>
            <a:r>
              <a:rPr sz="3600" spc="75" dirty="0">
                <a:solidFill>
                  <a:srgbClr val="2E377E"/>
                </a:solidFill>
                <a:latin typeface="Georgia"/>
                <a:cs typeface="Georgia"/>
              </a:rPr>
              <a:t>was</a:t>
            </a:r>
            <a:r>
              <a:rPr sz="3600" spc="-5" dirty="0">
                <a:solidFill>
                  <a:srgbClr val="2E377E"/>
                </a:solidFill>
                <a:latin typeface="Georgia"/>
                <a:cs typeface="Georgia"/>
              </a:rPr>
              <a:t> </a:t>
            </a:r>
            <a:r>
              <a:rPr sz="3600" dirty="0">
                <a:solidFill>
                  <a:srgbClr val="2E377E"/>
                </a:solidFill>
                <a:latin typeface="Georgia"/>
                <a:cs typeface="Georgia"/>
              </a:rPr>
              <a:t>dropped</a:t>
            </a:r>
            <a:r>
              <a:rPr sz="3600" spc="-10" dirty="0">
                <a:solidFill>
                  <a:srgbClr val="2E377E"/>
                </a:solidFill>
                <a:latin typeface="Georgia"/>
                <a:cs typeface="Georgia"/>
              </a:rPr>
              <a:t> </a:t>
            </a:r>
            <a:r>
              <a:rPr sz="3600" spc="50" dirty="0">
                <a:solidFill>
                  <a:srgbClr val="2E377E"/>
                </a:solidFill>
                <a:latin typeface="Georgia"/>
                <a:cs typeface="Georgia"/>
              </a:rPr>
              <a:t>due</a:t>
            </a:r>
            <a:r>
              <a:rPr sz="3600" spc="-10"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spc="85" dirty="0">
                <a:solidFill>
                  <a:srgbClr val="2E377E"/>
                </a:solidFill>
                <a:latin typeface="Georgia"/>
                <a:cs typeface="Georgia"/>
              </a:rPr>
              <a:t>network</a:t>
            </a:r>
            <a:r>
              <a:rPr sz="3600" spc="-5" dirty="0">
                <a:solidFill>
                  <a:srgbClr val="2E377E"/>
                </a:solidFill>
                <a:latin typeface="Georgia"/>
                <a:cs typeface="Georgia"/>
              </a:rPr>
              <a:t> </a:t>
            </a:r>
            <a:r>
              <a:rPr sz="3600" spc="-10" dirty="0">
                <a:solidFill>
                  <a:srgbClr val="2E377E"/>
                </a:solidFill>
                <a:latin typeface="Georgia"/>
                <a:cs typeface="Georgia"/>
              </a:rPr>
              <a:t>issues</a:t>
            </a:r>
            <a:endParaRPr sz="3600">
              <a:latin typeface="Georgia"/>
              <a:cs typeface="Georgia"/>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70406" y="1349250"/>
            <a:ext cx="1727901" cy="5061319"/>
          </a:xfrm>
          <a:prstGeom prst="rect">
            <a:avLst/>
          </a:prstGeom>
        </p:spPr>
      </p:pic>
      <p:pic>
        <p:nvPicPr>
          <p:cNvPr id="3" name="object 3"/>
          <p:cNvPicPr/>
          <p:nvPr/>
        </p:nvPicPr>
        <p:blipFill>
          <a:blip r:embed="rId3" cstate="print"/>
          <a:stretch>
            <a:fillRect/>
          </a:stretch>
        </p:blipFill>
        <p:spPr>
          <a:xfrm>
            <a:off x="5377441" y="1071458"/>
            <a:ext cx="3007247" cy="5477615"/>
          </a:xfrm>
          <a:prstGeom prst="rect">
            <a:avLst/>
          </a:prstGeom>
        </p:spPr>
      </p:pic>
      <p:sp>
        <p:nvSpPr>
          <p:cNvPr id="4" name="object 4"/>
          <p:cNvSpPr txBox="1">
            <a:spLocks noGrp="1"/>
          </p:cNvSpPr>
          <p:nvPr>
            <p:ph type="title"/>
          </p:nvPr>
        </p:nvSpPr>
        <p:spPr>
          <a:xfrm>
            <a:off x="595624" y="7067374"/>
            <a:ext cx="17214850" cy="2768600"/>
          </a:xfrm>
          <a:prstGeom prst="rect">
            <a:avLst/>
          </a:prstGeom>
        </p:spPr>
        <p:txBody>
          <a:bodyPr vert="horz" wrap="square" lIns="0" tIns="12700" rIns="0" bIns="0" rtlCol="0">
            <a:spAutoFit/>
          </a:bodyPr>
          <a:lstStyle/>
          <a:p>
            <a:pPr marL="12700" marR="5080">
              <a:lnSpc>
                <a:spcPct val="115399"/>
              </a:lnSpc>
              <a:spcBef>
                <a:spcPts val="100"/>
              </a:spcBef>
            </a:pPr>
            <a:r>
              <a:rPr sz="3900" b="0" dirty="0">
                <a:solidFill>
                  <a:srgbClr val="2E377E"/>
                </a:solidFill>
                <a:latin typeface="Georgia"/>
                <a:cs typeface="Georgia"/>
              </a:rPr>
              <a:t>Again</a:t>
            </a:r>
            <a:r>
              <a:rPr sz="3900" b="0" spc="-15" dirty="0">
                <a:solidFill>
                  <a:srgbClr val="2E377E"/>
                </a:solidFill>
                <a:latin typeface="Georgia"/>
                <a:cs typeface="Georgia"/>
              </a:rPr>
              <a:t> </a:t>
            </a:r>
            <a:r>
              <a:rPr sz="3900" b="0" dirty="0">
                <a:solidFill>
                  <a:srgbClr val="2E377E"/>
                </a:solidFill>
                <a:latin typeface="Georgia"/>
                <a:cs typeface="Georgia"/>
              </a:rPr>
              <a:t>i</a:t>
            </a:r>
            <a:r>
              <a:rPr sz="3900" b="0" spc="-15" dirty="0">
                <a:solidFill>
                  <a:srgbClr val="2E377E"/>
                </a:solidFill>
                <a:latin typeface="Georgia"/>
                <a:cs typeface="Georgia"/>
              </a:rPr>
              <a:t> </a:t>
            </a:r>
            <a:r>
              <a:rPr sz="3900" b="0" dirty="0">
                <a:solidFill>
                  <a:srgbClr val="2E377E"/>
                </a:solidFill>
                <a:latin typeface="Georgia"/>
                <a:cs typeface="Georgia"/>
              </a:rPr>
              <a:t>called</a:t>
            </a:r>
            <a:r>
              <a:rPr sz="3900" b="0" spc="-10" dirty="0">
                <a:solidFill>
                  <a:srgbClr val="2E377E"/>
                </a:solidFill>
                <a:latin typeface="Georgia"/>
                <a:cs typeface="Georgia"/>
              </a:rPr>
              <a:t> </a:t>
            </a:r>
            <a:r>
              <a:rPr sz="3900" b="0" spc="70" dirty="0">
                <a:solidFill>
                  <a:srgbClr val="2E377E"/>
                </a:solidFill>
                <a:latin typeface="Georgia"/>
                <a:cs typeface="Georgia"/>
              </a:rPr>
              <a:t>to</a:t>
            </a:r>
            <a:r>
              <a:rPr sz="3900" b="0" spc="-15" dirty="0">
                <a:solidFill>
                  <a:srgbClr val="2E377E"/>
                </a:solidFill>
                <a:latin typeface="Georgia"/>
                <a:cs typeface="Georgia"/>
              </a:rPr>
              <a:t> </a:t>
            </a:r>
            <a:r>
              <a:rPr sz="3900" b="0" dirty="0">
                <a:solidFill>
                  <a:srgbClr val="2E377E"/>
                </a:solidFill>
                <a:latin typeface="Georgia"/>
                <a:cs typeface="Georgia"/>
              </a:rPr>
              <a:t>same</a:t>
            </a:r>
            <a:r>
              <a:rPr sz="3900" b="0" spc="-10" dirty="0">
                <a:solidFill>
                  <a:srgbClr val="2E377E"/>
                </a:solidFill>
                <a:latin typeface="Georgia"/>
                <a:cs typeface="Georgia"/>
              </a:rPr>
              <a:t> </a:t>
            </a:r>
            <a:r>
              <a:rPr sz="3900" b="0" dirty="0">
                <a:solidFill>
                  <a:srgbClr val="2E377E"/>
                </a:solidFill>
                <a:latin typeface="Georgia"/>
                <a:cs typeface="Georgia"/>
              </a:rPr>
              <a:t>number,</a:t>
            </a:r>
            <a:r>
              <a:rPr sz="3900" b="0" spc="-15" dirty="0">
                <a:solidFill>
                  <a:srgbClr val="2E377E"/>
                </a:solidFill>
                <a:latin typeface="Georgia"/>
                <a:cs typeface="Georgia"/>
              </a:rPr>
              <a:t> </a:t>
            </a:r>
            <a:r>
              <a:rPr sz="3900" b="0" spc="60" dirty="0">
                <a:solidFill>
                  <a:srgbClr val="2E377E"/>
                </a:solidFill>
                <a:latin typeface="Georgia"/>
                <a:cs typeface="Georgia"/>
              </a:rPr>
              <a:t>but</a:t>
            </a:r>
            <a:r>
              <a:rPr sz="3900" b="0" spc="-10" dirty="0">
                <a:solidFill>
                  <a:srgbClr val="2E377E"/>
                </a:solidFill>
                <a:latin typeface="Georgia"/>
                <a:cs typeface="Georgia"/>
              </a:rPr>
              <a:t> </a:t>
            </a:r>
            <a:r>
              <a:rPr sz="3900" b="0" dirty="0">
                <a:solidFill>
                  <a:srgbClr val="2E377E"/>
                </a:solidFill>
                <a:latin typeface="Georgia"/>
                <a:cs typeface="Georgia"/>
              </a:rPr>
              <a:t>this</a:t>
            </a:r>
            <a:r>
              <a:rPr sz="3900" b="0" spc="-15" dirty="0">
                <a:solidFill>
                  <a:srgbClr val="2E377E"/>
                </a:solidFill>
                <a:latin typeface="Georgia"/>
                <a:cs typeface="Georgia"/>
              </a:rPr>
              <a:t> </a:t>
            </a:r>
            <a:r>
              <a:rPr sz="3900" b="0" spc="55" dirty="0">
                <a:solidFill>
                  <a:srgbClr val="2E377E"/>
                </a:solidFill>
                <a:latin typeface="Georgia"/>
                <a:cs typeface="Georgia"/>
              </a:rPr>
              <a:t>time</a:t>
            </a:r>
            <a:r>
              <a:rPr sz="3900" b="0" spc="-10" dirty="0">
                <a:solidFill>
                  <a:srgbClr val="2E377E"/>
                </a:solidFill>
                <a:latin typeface="Georgia"/>
                <a:cs typeface="Georgia"/>
              </a:rPr>
              <a:t> </a:t>
            </a:r>
            <a:r>
              <a:rPr sz="3900" b="0" dirty="0">
                <a:solidFill>
                  <a:srgbClr val="2E377E"/>
                </a:solidFill>
                <a:latin typeface="Georgia"/>
                <a:cs typeface="Georgia"/>
              </a:rPr>
              <a:t>another</a:t>
            </a:r>
            <a:r>
              <a:rPr sz="3900" b="0" spc="-15" dirty="0">
                <a:solidFill>
                  <a:srgbClr val="2E377E"/>
                </a:solidFill>
                <a:latin typeface="Georgia"/>
                <a:cs typeface="Georgia"/>
              </a:rPr>
              <a:t> </a:t>
            </a:r>
            <a:r>
              <a:rPr sz="3900" b="0" dirty="0">
                <a:solidFill>
                  <a:srgbClr val="2E377E"/>
                </a:solidFill>
                <a:latin typeface="Georgia"/>
                <a:cs typeface="Georgia"/>
              </a:rPr>
              <a:t>person</a:t>
            </a:r>
            <a:r>
              <a:rPr sz="3900" b="0" spc="-10" dirty="0">
                <a:solidFill>
                  <a:srgbClr val="2E377E"/>
                </a:solidFill>
                <a:latin typeface="Georgia"/>
                <a:cs typeface="Georgia"/>
              </a:rPr>
              <a:t> </a:t>
            </a:r>
            <a:r>
              <a:rPr sz="3900" b="0" spc="55" dirty="0">
                <a:solidFill>
                  <a:srgbClr val="2E377E"/>
                </a:solidFill>
                <a:latin typeface="Georgia"/>
                <a:cs typeface="Georgia"/>
              </a:rPr>
              <a:t>pick</a:t>
            </a:r>
            <a:r>
              <a:rPr sz="3900" b="0" spc="-15" dirty="0">
                <a:solidFill>
                  <a:srgbClr val="2E377E"/>
                </a:solidFill>
                <a:latin typeface="Georgia"/>
                <a:cs typeface="Georgia"/>
              </a:rPr>
              <a:t> </a:t>
            </a:r>
            <a:r>
              <a:rPr sz="3900" b="0" spc="55" dirty="0">
                <a:solidFill>
                  <a:srgbClr val="2E377E"/>
                </a:solidFill>
                <a:latin typeface="Georgia"/>
                <a:cs typeface="Georgia"/>
              </a:rPr>
              <a:t>the</a:t>
            </a:r>
            <a:r>
              <a:rPr sz="3900" b="0" spc="-15" dirty="0">
                <a:solidFill>
                  <a:srgbClr val="2E377E"/>
                </a:solidFill>
                <a:latin typeface="Georgia"/>
                <a:cs typeface="Georgia"/>
              </a:rPr>
              <a:t> </a:t>
            </a:r>
            <a:r>
              <a:rPr sz="3900" b="0" dirty="0">
                <a:solidFill>
                  <a:srgbClr val="2E377E"/>
                </a:solidFill>
                <a:latin typeface="Georgia"/>
                <a:cs typeface="Georgia"/>
              </a:rPr>
              <a:t>call.</a:t>
            </a:r>
            <a:r>
              <a:rPr sz="3900" b="0" spc="-10" dirty="0">
                <a:solidFill>
                  <a:srgbClr val="2E377E"/>
                </a:solidFill>
                <a:latin typeface="Georgia"/>
                <a:cs typeface="Georgia"/>
              </a:rPr>
              <a:t> </a:t>
            </a:r>
            <a:r>
              <a:rPr sz="3900" b="0" spc="-25" dirty="0">
                <a:solidFill>
                  <a:srgbClr val="2E377E"/>
                </a:solidFill>
                <a:latin typeface="Georgia"/>
                <a:cs typeface="Georgia"/>
              </a:rPr>
              <a:t>He </a:t>
            </a:r>
            <a:r>
              <a:rPr sz="3900" b="0" dirty="0">
                <a:solidFill>
                  <a:srgbClr val="2E377E"/>
                </a:solidFill>
                <a:latin typeface="Georgia"/>
                <a:cs typeface="Georgia"/>
              </a:rPr>
              <a:t>don't</a:t>
            </a:r>
            <a:r>
              <a:rPr sz="3900" b="0" spc="-65" dirty="0">
                <a:solidFill>
                  <a:srgbClr val="2E377E"/>
                </a:solidFill>
                <a:latin typeface="Georgia"/>
                <a:cs typeface="Georgia"/>
              </a:rPr>
              <a:t> </a:t>
            </a:r>
            <a:r>
              <a:rPr sz="3900" b="0" spc="90" dirty="0">
                <a:solidFill>
                  <a:srgbClr val="2E377E"/>
                </a:solidFill>
                <a:latin typeface="Georgia"/>
                <a:cs typeface="Georgia"/>
              </a:rPr>
              <a:t>know</a:t>
            </a:r>
            <a:r>
              <a:rPr sz="3900" b="0" spc="-65" dirty="0">
                <a:solidFill>
                  <a:srgbClr val="2E377E"/>
                </a:solidFill>
                <a:latin typeface="Georgia"/>
                <a:cs typeface="Georgia"/>
              </a:rPr>
              <a:t> </a:t>
            </a:r>
            <a:r>
              <a:rPr sz="3900" b="0" spc="80" dirty="0">
                <a:solidFill>
                  <a:srgbClr val="2E377E"/>
                </a:solidFill>
                <a:latin typeface="Georgia"/>
                <a:cs typeface="Georgia"/>
              </a:rPr>
              <a:t>what</a:t>
            </a:r>
            <a:r>
              <a:rPr sz="3900" b="0" spc="-60" dirty="0">
                <a:solidFill>
                  <a:srgbClr val="2E377E"/>
                </a:solidFill>
                <a:latin typeface="Georgia"/>
                <a:cs typeface="Georgia"/>
              </a:rPr>
              <a:t> </a:t>
            </a:r>
            <a:r>
              <a:rPr sz="3900" b="0" spc="55" dirty="0">
                <a:solidFill>
                  <a:srgbClr val="2E377E"/>
                </a:solidFill>
                <a:latin typeface="Georgia"/>
                <a:cs typeface="Georgia"/>
              </a:rPr>
              <a:t>the</a:t>
            </a:r>
            <a:r>
              <a:rPr sz="3900" b="0" spc="-65" dirty="0">
                <a:solidFill>
                  <a:srgbClr val="2E377E"/>
                </a:solidFill>
                <a:latin typeface="Georgia"/>
                <a:cs typeface="Georgia"/>
              </a:rPr>
              <a:t> </a:t>
            </a:r>
            <a:r>
              <a:rPr sz="3900" b="0" spc="50" dirty="0">
                <a:solidFill>
                  <a:srgbClr val="2E377E"/>
                </a:solidFill>
                <a:latin typeface="Georgia"/>
                <a:cs typeface="Georgia"/>
              </a:rPr>
              <a:t>conversation</a:t>
            </a:r>
            <a:r>
              <a:rPr sz="3900" b="0" spc="-60" dirty="0">
                <a:solidFill>
                  <a:srgbClr val="2E377E"/>
                </a:solidFill>
                <a:latin typeface="Georgia"/>
                <a:cs typeface="Georgia"/>
              </a:rPr>
              <a:t> </a:t>
            </a:r>
            <a:r>
              <a:rPr sz="3900" b="0" spc="140" dirty="0">
                <a:solidFill>
                  <a:srgbClr val="2E377E"/>
                </a:solidFill>
                <a:latin typeface="Georgia"/>
                <a:cs typeface="Georgia"/>
              </a:rPr>
              <a:t>we</a:t>
            </a:r>
            <a:r>
              <a:rPr sz="3900" b="0" spc="-65" dirty="0">
                <a:solidFill>
                  <a:srgbClr val="2E377E"/>
                </a:solidFill>
                <a:latin typeface="Georgia"/>
                <a:cs typeface="Georgia"/>
              </a:rPr>
              <a:t> </a:t>
            </a:r>
            <a:r>
              <a:rPr sz="3900" b="0" dirty="0">
                <a:solidFill>
                  <a:srgbClr val="2E377E"/>
                </a:solidFill>
                <a:latin typeface="Georgia"/>
                <a:cs typeface="Georgia"/>
              </a:rPr>
              <a:t>had</a:t>
            </a:r>
            <a:r>
              <a:rPr sz="3900" b="0" spc="-60" dirty="0">
                <a:solidFill>
                  <a:srgbClr val="2E377E"/>
                </a:solidFill>
                <a:latin typeface="Georgia"/>
                <a:cs typeface="Georgia"/>
              </a:rPr>
              <a:t> </a:t>
            </a:r>
            <a:r>
              <a:rPr sz="3900" b="0" spc="90" dirty="0">
                <a:solidFill>
                  <a:srgbClr val="2E377E"/>
                </a:solidFill>
                <a:latin typeface="Georgia"/>
                <a:cs typeface="Georgia"/>
              </a:rPr>
              <a:t>with</a:t>
            </a:r>
            <a:r>
              <a:rPr sz="3900" b="0" spc="-65" dirty="0">
                <a:solidFill>
                  <a:srgbClr val="2E377E"/>
                </a:solidFill>
                <a:latin typeface="Georgia"/>
                <a:cs typeface="Georgia"/>
              </a:rPr>
              <a:t> </a:t>
            </a:r>
            <a:r>
              <a:rPr sz="3900" b="0" spc="55" dirty="0">
                <a:solidFill>
                  <a:srgbClr val="2E377E"/>
                </a:solidFill>
                <a:latin typeface="Georgia"/>
                <a:cs typeface="Georgia"/>
              </a:rPr>
              <a:t>the</a:t>
            </a:r>
            <a:r>
              <a:rPr sz="3900" b="0" spc="-60" dirty="0">
                <a:solidFill>
                  <a:srgbClr val="2E377E"/>
                </a:solidFill>
                <a:latin typeface="Georgia"/>
                <a:cs typeface="Georgia"/>
              </a:rPr>
              <a:t> </a:t>
            </a:r>
            <a:r>
              <a:rPr sz="3900" b="0" spc="55" dirty="0">
                <a:solidFill>
                  <a:srgbClr val="2E377E"/>
                </a:solidFill>
                <a:latin typeface="Georgia"/>
                <a:cs typeface="Georgia"/>
              </a:rPr>
              <a:t>first</a:t>
            </a:r>
            <a:r>
              <a:rPr sz="3900" b="0" spc="-65" dirty="0">
                <a:solidFill>
                  <a:srgbClr val="2E377E"/>
                </a:solidFill>
                <a:latin typeface="Georgia"/>
                <a:cs typeface="Georgia"/>
              </a:rPr>
              <a:t> </a:t>
            </a:r>
            <a:r>
              <a:rPr sz="3900" b="0" dirty="0">
                <a:solidFill>
                  <a:srgbClr val="2E377E"/>
                </a:solidFill>
                <a:latin typeface="Georgia"/>
                <a:cs typeface="Georgia"/>
              </a:rPr>
              <a:t>person.</a:t>
            </a:r>
            <a:r>
              <a:rPr sz="3900" b="0" spc="-60" dirty="0">
                <a:solidFill>
                  <a:srgbClr val="2E377E"/>
                </a:solidFill>
                <a:latin typeface="Georgia"/>
                <a:cs typeface="Georgia"/>
              </a:rPr>
              <a:t> </a:t>
            </a:r>
            <a:r>
              <a:rPr sz="3900" b="0" dirty="0">
                <a:solidFill>
                  <a:srgbClr val="2E377E"/>
                </a:solidFill>
                <a:latin typeface="Georgia"/>
                <a:cs typeface="Georgia"/>
              </a:rPr>
              <a:t>Again</a:t>
            </a:r>
            <a:r>
              <a:rPr sz="3900" b="0" spc="-65" dirty="0">
                <a:solidFill>
                  <a:srgbClr val="2E377E"/>
                </a:solidFill>
                <a:latin typeface="Georgia"/>
                <a:cs typeface="Georgia"/>
              </a:rPr>
              <a:t> </a:t>
            </a:r>
            <a:r>
              <a:rPr sz="3900" b="0" dirty="0">
                <a:solidFill>
                  <a:srgbClr val="2E377E"/>
                </a:solidFill>
                <a:latin typeface="Georgia"/>
                <a:cs typeface="Georgia"/>
              </a:rPr>
              <a:t>i</a:t>
            </a:r>
            <a:r>
              <a:rPr sz="3900" b="0" spc="-60" dirty="0">
                <a:solidFill>
                  <a:srgbClr val="2E377E"/>
                </a:solidFill>
                <a:latin typeface="Georgia"/>
                <a:cs typeface="Georgia"/>
              </a:rPr>
              <a:t> </a:t>
            </a:r>
            <a:r>
              <a:rPr sz="3900" b="0" dirty="0">
                <a:solidFill>
                  <a:srgbClr val="2E377E"/>
                </a:solidFill>
                <a:latin typeface="Georgia"/>
                <a:cs typeface="Georgia"/>
              </a:rPr>
              <a:t>had</a:t>
            </a:r>
            <a:r>
              <a:rPr sz="3900" b="0" spc="-65" dirty="0">
                <a:solidFill>
                  <a:srgbClr val="2E377E"/>
                </a:solidFill>
                <a:latin typeface="Georgia"/>
                <a:cs typeface="Georgia"/>
              </a:rPr>
              <a:t> </a:t>
            </a:r>
            <a:r>
              <a:rPr sz="3900" b="0" spc="45" dirty="0">
                <a:solidFill>
                  <a:srgbClr val="2E377E"/>
                </a:solidFill>
                <a:latin typeface="Georgia"/>
                <a:cs typeface="Georgia"/>
              </a:rPr>
              <a:t>to </a:t>
            </a:r>
            <a:r>
              <a:rPr sz="3900" b="0" spc="50" dirty="0">
                <a:solidFill>
                  <a:srgbClr val="2E377E"/>
                </a:solidFill>
                <a:latin typeface="Georgia"/>
                <a:cs typeface="Georgia"/>
              </a:rPr>
              <a:t>repeat</a:t>
            </a:r>
            <a:r>
              <a:rPr sz="3900" b="0" spc="15" dirty="0">
                <a:solidFill>
                  <a:srgbClr val="2E377E"/>
                </a:solidFill>
                <a:latin typeface="Georgia"/>
                <a:cs typeface="Georgia"/>
              </a:rPr>
              <a:t> </a:t>
            </a:r>
            <a:r>
              <a:rPr sz="3900" b="0" spc="55" dirty="0">
                <a:solidFill>
                  <a:srgbClr val="2E377E"/>
                </a:solidFill>
                <a:latin typeface="Georgia"/>
                <a:cs typeface="Georgia"/>
              </a:rPr>
              <a:t>the</a:t>
            </a:r>
            <a:r>
              <a:rPr sz="3900" b="0" spc="15" dirty="0">
                <a:solidFill>
                  <a:srgbClr val="2E377E"/>
                </a:solidFill>
                <a:latin typeface="Georgia"/>
                <a:cs typeface="Georgia"/>
              </a:rPr>
              <a:t> </a:t>
            </a:r>
            <a:r>
              <a:rPr sz="3900" b="0" dirty="0">
                <a:solidFill>
                  <a:srgbClr val="2E377E"/>
                </a:solidFill>
                <a:latin typeface="Georgia"/>
                <a:cs typeface="Georgia"/>
              </a:rPr>
              <a:t>details</a:t>
            </a:r>
            <a:r>
              <a:rPr sz="3900" b="0" spc="15" dirty="0">
                <a:solidFill>
                  <a:srgbClr val="2E377E"/>
                </a:solidFill>
                <a:latin typeface="Georgia"/>
                <a:cs typeface="Georgia"/>
              </a:rPr>
              <a:t> </a:t>
            </a:r>
            <a:r>
              <a:rPr sz="3900" b="0" dirty="0">
                <a:solidFill>
                  <a:srgbClr val="2E377E"/>
                </a:solidFill>
                <a:latin typeface="Georgia"/>
                <a:cs typeface="Georgia"/>
              </a:rPr>
              <a:t>of</a:t>
            </a:r>
            <a:r>
              <a:rPr sz="3900" b="0" spc="15" dirty="0">
                <a:solidFill>
                  <a:srgbClr val="2E377E"/>
                </a:solidFill>
                <a:latin typeface="Georgia"/>
                <a:cs typeface="Georgia"/>
              </a:rPr>
              <a:t> </a:t>
            </a:r>
            <a:r>
              <a:rPr sz="3900" b="0" spc="120" dirty="0">
                <a:solidFill>
                  <a:srgbClr val="2E377E"/>
                </a:solidFill>
                <a:latin typeface="Georgia"/>
                <a:cs typeface="Georgia"/>
              </a:rPr>
              <a:t>my</a:t>
            </a:r>
            <a:r>
              <a:rPr sz="3900" b="0" spc="20" dirty="0">
                <a:solidFill>
                  <a:srgbClr val="2E377E"/>
                </a:solidFill>
                <a:latin typeface="Georgia"/>
                <a:cs typeface="Georgia"/>
              </a:rPr>
              <a:t> </a:t>
            </a:r>
            <a:r>
              <a:rPr sz="3900" b="0" dirty="0">
                <a:solidFill>
                  <a:srgbClr val="2E377E"/>
                </a:solidFill>
                <a:latin typeface="Georgia"/>
                <a:cs typeface="Georgia"/>
              </a:rPr>
              <a:t>problem</a:t>
            </a:r>
            <a:r>
              <a:rPr sz="3900" b="0" spc="15" dirty="0">
                <a:solidFill>
                  <a:srgbClr val="2E377E"/>
                </a:solidFill>
                <a:latin typeface="Georgia"/>
                <a:cs typeface="Georgia"/>
              </a:rPr>
              <a:t> </a:t>
            </a:r>
            <a:r>
              <a:rPr sz="3900" b="0" spc="70" dirty="0">
                <a:solidFill>
                  <a:srgbClr val="2E377E"/>
                </a:solidFill>
                <a:latin typeface="Georgia"/>
                <a:cs typeface="Georgia"/>
              </a:rPr>
              <a:t>to</a:t>
            </a:r>
            <a:r>
              <a:rPr sz="3900" b="0" spc="15" dirty="0">
                <a:solidFill>
                  <a:srgbClr val="2E377E"/>
                </a:solidFill>
                <a:latin typeface="Georgia"/>
                <a:cs typeface="Georgia"/>
              </a:rPr>
              <a:t> </a:t>
            </a:r>
            <a:r>
              <a:rPr sz="3900" b="0" spc="55" dirty="0">
                <a:solidFill>
                  <a:srgbClr val="2E377E"/>
                </a:solidFill>
                <a:latin typeface="Georgia"/>
                <a:cs typeface="Georgia"/>
              </a:rPr>
              <a:t>the</a:t>
            </a:r>
            <a:r>
              <a:rPr sz="3900" b="0" spc="15" dirty="0">
                <a:solidFill>
                  <a:srgbClr val="2E377E"/>
                </a:solidFill>
                <a:latin typeface="Georgia"/>
                <a:cs typeface="Georgia"/>
              </a:rPr>
              <a:t> </a:t>
            </a:r>
            <a:r>
              <a:rPr sz="3900" b="0" dirty="0">
                <a:solidFill>
                  <a:srgbClr val="2E377E"/>
                </a:solidFill>
                <a:latin typeface="Georgia"/>
                <a:cs typeface="Georgia"/>
              </a:rPr>
              <a:t>second</a:t>
            </a:r>
            <a:r>
              <a:rPr sz="3900" b="0" spc="15" dirty="0">
                <a:solidFill>
                  <a:srgbClr val="2E377E"/>
                </a:solidFill>
                <a:latin typeface="Georgia"/>
                <a:cs typeface="Georgia"/>
              </a:rPr>
              <a:t> </a:t>
            </a:r>
            <a:r>
              <a:rPr sz="3900" b="0" dirty="0">
                <a:solidFill>
                  <a:srgbClr val="2E377E"/>
                </a:solidFill>
                <a:latin typeface="Georgia"/>
                <a:cs typeface="Georgia"/>
              </a:rPr>
              <a:t>person,</a:t>
            </a:r>
            <a:r>
              <a:rPr sz="3900" b="0" spc="20" dirty="0">
                <a:solidFill>
                  <a:srgbClr val="2E377E"/>
                </a:solidFill>
                <a:latin typeface="Georgia"/>
                <a:cs typeface="Georgia"/>
              </a:rPr>
              <a:t> </a:t>
            </a:r>
            <a:r>
              <a:rPr sz="3900" b="0" dirty="0">
                <a:solidFill>
                  <a:srgbClr val="2E377E"/>
                </a:solidFill>
                <a:latin typeface="Georgia"/>
                <a:cs typeface="Georgia"/>
              </a:rPr>
              <a:t>though</a:t>
            </a:r>
            <a:r>
              <a:rPr sz="3900" b="0" spc="15" dirty="0">
                <a:solidFill>
                  <a:srgbClr val="2E377E"/>
                </a:solidFill>
                <a:latin typeface="Georgia"/>
                <a:cs typeface="Georgia"/>
              </a:rPr>
              <a:t> </a:t>
            </a:r>
            <a:r>
              <a:rPr sz="3900" b="0" spc="65" dirty="0">
                <a:solidFill>
                  <a:srgbClr val="2E377E"/>
                </a:solidFill>
                <a:latin typeface="Georgia"/>
                <a:cs typeface="Georgia"/>
              </a:rPr>
              <a:t>it</a:t>
            </a:r>
            <a:r>
              <a:rPr sz="3900" b="0" spc="15" dirty="0">
                <a:solidFill>
                  <a:srgbClr val="2E377E"/>
                </a:solidFill>
                <a:latin typeface="Georgia"/>
                <a:cs typeface="Georgia"/>
              </a:rPr>
              <a:t> </a:t>
            </a:r>
            <a:r>
              <a:rPr sz="3900" b="0" dirty="0">
                <a:solidFill>
                  <a:srgbClr val="2E377E"/>
                </a:solidFill>
                <a:latin typeface="Georgia"/>
                <a:cs typeface="Georgia"/>
              </a:rPr>
              <a:t>is</a:t>
            </a:r>
            <a:r>
              <a:rPr sz="3900" b="0" spc="15" dirty="0">
                <a:solidFill>
                  <a:srgbClr val="2E377E"/>
                </a:solidFill>
                <a:latin typeface="Georgia"/>
                <a:cs typeface="Georgia"/>
              </a:rPr>
              <a:t> </a:t>
            </a:r>
            <a:r>
              <a:rPr sz="3900" b="0" spc="-25" dirty="0">
                <a:solidFill>
                  <a:srgbClr val="2E377E"/>
                </a:solidFill>
                <a:latin typeface="Georgia"/>
                <a:cs typeface="Georgia"/>
              </a:rPr>
              <a:t>an </a:t>
            </a:r>
            <a:r>
              <a:rPr sz="3900" b="0" spc="45" dirty="0">
                <a:solidFill>
                  <a:srgbClr val="2E377E"/>
                </a:solidFill>
                <a:latin typeface="Georgia"/>
                <a:cs typeface="Georgia"/>
              </a:rPr>
              <a:t>inconvenience</a:t>
            </a:r>
            <a:r>
              <a:rPr sz="3900" b="0" spc="-30" dirty="0">
                <a:solidFill>
                  <a:srgbClr val="2E377E"/>
                </a:solidFill>
                <a:latin typeface="Georgia"/>
                <a:cs typeface="Georgia"/>
              </a:rPr>
              <a:t> </a:t>
            </a:r>
            <a:r>
              <a:rPr sz="3900" b="0" spc="60" dirty="0">
                <a:solidFill>
                  <a:srgbClr val="2E377E"/>
                </a:solidFill>
                <a:latin typeface="Georgia"/>
                <a:cs typeface="Georgia"/>
              </a:rPr>
              <a:t>but</a:t>
            </a:r>
            <a:r>
              <a:rPr sz="3900" b="0" spc="-25" dirty="0">
                <a:solidFill>
                  <a:srgbClr val="2E377E"/>
                </a:solidFill>
                <a:latin typeface="Georgia"/>
                <a:cs typeface="Georgia"/>
              </a:rPr>
              <a:t> </a:t>
            </a:r>
            <a:r>
              <a:rPr sz="3900" b="0" spc="65" dirty="0">
                <a:solidFill>
                  <a:srgbClr val="2E377E"/>
                </a:solidFill>
                <a:latin typeface="Georgia"/>
                <a:cs typeface="Georgia"/>
              </a:rPr>
              <a:t>it</a:t>
            </a:r>
            <a:r>
              <a:rPr sz="3900" b="0" spc="-25" dirty="0">
                <a:solidFill>
                  <a:srgbClr val="2E377E"/>
                </a:solidFill>
                <a:latin typeface="Georgia"/>
                <a:cs typeface="Georgia"/>
              </a:rPr>
              <a:t> </a:t>
            </a:r>
            <a:r>
              <a:rPr sz="3900" b="0" dirty="0">
                <a:solidFill>
                  <a:srgbClr val="2E377E"/>
                </a:solidFill>
                <a:latin typeface="Georgia"/>
                <a:cs typeface="Georgia"/>
              </a:rPr>
              <a:t>still</a:t>
            </a:r>
            <a:r>
              <a:rPr sz="3900" b="0" spc="-25" dirty="0">
                <a:solidFill>
                  <a:srgbClr val="2E377E"/>
                </a:solidFill>
                <a:latin typeface="Georgia"/>
                <a:cs typeface="Georgia"/>
              </a:rPr>
              <a:t> </a:t>
            </a:r>
            <a:r>
              <a:rPr sz="3900" b="0" spc="85" dirty="0">
                <a:solidFill>
                  <a:srgbClr val="2E377E"/>
                </a:solidFill>
                <a:latin typeface="Georgia"/>
                <a:cs typeface="Georgia"/>
              </a:rPr>
              <a:t>works</a:t>
            </a:r>
            <a:r>
              <a:rPr sz="3900" b="0" spc="-25" dirty="0">
                <a:solidFill>
                  <a:srgbClr val="2E377E"/>
                </a:solidFill>
                <a:latin typeface="Georgia"/>
                <a:cs typeface="Georgia"/>
              </a:rPr>
              <a:t> </a:t>
            </a:r>
            <a:r>
              <a:rPr sz="3900" b="0" spc="40" dirty="0">
                <a:solidFill>
                  <a:srgbClr val="2E377E"/>
                </a:solidFill>
                <a:latin typeface="Georgia"/>
                <a:cs typeface="Georgia"/>
              </a:rPr>
              <a:t>out</a:t>
            </a:r>
            <a:endParaRPr sz="3900">
              <a:latin typeface="Georgia"/>
              <a:cs typeface="Georgia"/>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9136" y="3115303"/>
            <a:ext cx="17230724" cy="1083159"/>
          </a:xfrm>
          <a:prstGeom prst="rect">
            <a:avLst/>
          </a:prstGeom>
        </p:spPr>
      </p:pic>
      <p:pic>
        <p:nvPicPr>
          <p:cNvPr id="3" name="object 3"/>
          <p:cNvPicPr/>
          <p:nvPr/>
        </p:nvPicPr>
        <p:blipFill>
          <a:blip r:embed="rId3" cstate="print"/>
          <a:stretch>
            <a:fillRect/>
          </a:stretch>
        </p:blipFill>
        <p:spPr>
          <a:xfrm>
            <a:off x="603621" y="4944307"/>
            <a:ext cx="8395136" cy="3362428"/>
          </a:xfrm>
          <a:prstGeom prst="rect">
            <a:avLst/>
          </a:prstGeom>
        </p:spPr>
      </p:pic>
      <p:pic>
        <p:nvPicPr>
          <p:cNvPr id="4" name="object 4"/>
          <p:cNvPicPr/>
          <p:nvPr/>
        </p:nvPicPr>
        <p:blipFill>
          <a:blip r:embed="rId3" cstate="print"/>
          <a:stretch>
            <a:fillRect/>
          </a:stretch>
        </p:blipFill>
        <p:spPr>
          <a:xfrm>
            <a:off x="9703631" y="5084094"/>
            <a:ext cx="7703529" cy="3086752"/>
          </a:xfrm>
          <a:prstGeom prst="rect">
            <a:avLst/>
          </a:prstGeom>
        </p:spPr>
      </p:pic>
      <p:sp>
        <p:nvSpPr>
          <p:cNvPr id="5" name="object 5"/>
          <p:cNvSpPr txBox="1">
            <a:spLocks noGrp="1"/>
          </p:cNvSpPr>
          <p:nvPr>
            <p:ph type="title"/>
          </p:nvPr>
        </p:nvSpPr>
        <p:spPr>
          <a:xfrm>
            <a:off x="389019" y="445538"/>
            <a:ext cx="17399635" cy="2082800"/>
          </a:xfrm>
          <a:prstGeom prst="rect">
            <a:avLst/>
          </a:prstGeom>
        </p:spPr>
        <p:txBody>
          <a:bodyPr vert="horz" wrap="square" lIns="0" tIns="12700" rIns="0" bIns="0" rtlCol="0">
            <a:spAutoFit/>
          </a:bodyPr>
          <a:lstStyle/>
          <a:p>
            <a:pPr marL="12700" marR="5080">
              <a:lnSpc>
                <a:spcPct val="115399"/>
              </a:lnSpc>
              <a:spcBef>
                <a:spcPts val="100"/>
              </a:spcBef>
            </a:pPr>
            <a:r>
              <a:rPr sz="3900" b="0" spc="45" dirty="0">
                <a:solidFill>
                  <a:srgbClr val="2E377E"/>
                </a:solidFill>
                <a:latin typeface="Georgia"/>
                <a:cs typeface="Georgia"/>
              </a:rPr>
              <a:t>Kubernetes</a:t>
            </a:r>
            <a:r>
              <a:rPr sz="3900" b="0" spc="-30" dirty="0">
                <a:solidFill>
                  <a:srgbClr val="2E377E"/>
                </a:solidFill>
                <a:latin typeface="Georgia"/>
                <a:cs typeface="Georgia"/>
              </a:rPr>
              <a:t> </a:t>
            </a:r>
            <a:r>
              <a:rPr sz="3900" b="0" spc="45" dirty="0">
                <a:solidFill>
                  <a:srgbClr val="2E377E"/>
                </a:solidFill>
                <a:latin typeface="Georgia"/>
                <a:cs typeface="Georgia"/>
              </a:rPr>
              <a:t>Deployment</a:t>
            </a:r>
            <a:r>
              <a:rPr sz="3900" b="0" spc="-25" dirty="0">
                <a:solidFill>
                  <a:srgbClr val="2E377E"/>
                </a:solidFill>
                <a:latin typeface="Georgia"/>
                <a:cs typeface="Georgia"/>
              </a:rPr>
              <a:t> </a:t>
            </a:r>
            <a:r>
              <a:rPr sz="3900" b="0" spc="50" dirty="0">
                <a:solidFill>
                  <a:srgbClr val="2E377E"/>
                </a:solidFill>
                <a:latin typeface="Georgia"/>
                <a:cs typeface="Georgia"/>
              </a:rPr>
              <a:t>suits</a:t>
            </a:r>
            <a:r>
              <a:rPr sz="3900" b="0" spc="-30" dirty="0">
                <a:solidFill>
                  <a:srgbClr val="2E377E"/>
                </a:solidFill>
                <a:latin typeface="Georgia"/>
                <a:cs typeface="Georgia"/>
              </a:rPr>
              <a:t> </a:t>
            </a:r>
            <a:r>
              <a:rPr sz="3900" b="0" spc="70" dirty="0">
                <a:solidFill>
                  <a:srgbClr val="2E377E"/>
                </a:solidFill>
                <a:latin typeface="Georgia"/>
                <a:cs typeface="Georgia"/>
              </a:rPr>
              <a:t>perfectly</a:t>
            </a:r>
            <a:r>
              <a:rPr sz="3900" b="0" spc="-25" dirty="0">
                <a:solidFill>
                  <a:srgbClr val="2E377E"/>
                </a:solidFill>
                <a:latin typeface="Georgia"/>
                <a:cs typeface="Georgia"/>
              </a:rPr>
              <a:t> </a:t>
            </a:r>
            <a:r>
              <a:rPr sz="3900" b="0" dirty="0">
                <a:solidFill>
                  <a:srgbClr val="2E377E"/>
                </a:solidFill>
                <a:latin typeface="Georgia"/>
                <a:cs typeface="Georgia"/>
              </a:rPr>
              <a:t>here.</a:t>
            </a:r>
            <a:r>
              <a:rPr sz="3900" b="0" spc="-25" dirty="0">
                <a:solidFill>
                  <a:srgbClr val="2E377E"/>
                </a:solidFill>
                <a:latin typeface="Georgia"/>
                <a:cs typeface="Georgia"/>
              </a:rPr>
              <a:t> </a:t>
            </a:r>
            <a:r>
              <a:rPr sz="3900" b="0" dirty="0">
                <a:solidFill>
                  <a:srgbClr val="2E377E"/>
                </a:solidFill>
                <a:latin typeface="Georgia"/>
                <a:cs typeface="Georgia"/>
              </a:rPr>
              <a:t>Let’s</a:t>
            </a:r>
            <a:r>
              <a:rPr sz="3900" b="0" spc="-30" dirty="0">
                <a:solidFill>
                  <a:srgbClr val="2E377E"/>
                </a:solidFill>
                <a:latin typeface="Georgia"/>
                <a:cs typeface="Georgia"/>
              </a:rPr>
              <a:t> </a:t>
            </a:r>
            <a:r>
              <a:rPr sz="3900" b="0" dirty="0">
                <a:solidFill>
                  <a:srgbClr val="2E377E"/>
                </a:solidFill>
                <a:latin typeface="Georgia"/>
                <a:cs typeface="Georgia"/>
              </a:rPr>
              <a:t>assume</a:t>
            </a:r>
            <a:r>
              <a:rPr sz="3900" b="0" spc="-25" dirty="0">
                <a:solidFill>
                  <a:srgbClr val="2E377E"/>
                </a:solidFill>
                <a:latin typeface="Georgia"/>
                <a:cs typeface="Georgia"/>
              </a:rPr>
              <a:t> </a:t>
            </a:r>
            <a:r>
              <a:rPr sz="3900" b="0" spc="100" dirty="0">
                <a:solidFill>
                  <a:srgbClr val="2E377E"/>
                </a:solidFill>
                <a:latin typeface="Georgia"/>
                <a:cs typeface="Georgia"/>
              </a:rPr>
              <a:t>you</a:t>
            </a:r>
            <a:r>
              <a:rPr sz="3900" b="0" spc="-25" dirty="0">
                <a:solidFill>
                  <a:srgbClr val="2E377E"/>
                </a:solidFill>
                <a:latin typeface="Georgia"/>
                <a:cs typeface="Georgia"/>
              </a:rPr>
              <a:t> </a:t>
            </a:r>
            <a:r>
              <a:rPr sz="3900" b="0" spc="50" dirty="0">
                <a:solidFill>
                  <a:srgbClr val="2E377E"/>
                </a:solidFill>
                <a:latin typeface="Georgia"/>
                <a:cs typeface="Georgia"/>
              </a:rPr>
              <a:t>deployed</a:t>
            </a:r>
            <a:r>
              <a:rPr sz="3900" b="0" spc="-30" dirty="0">
                <a:solidFill>
                  <a:srgbClr val="2E377E"/>
                </a:solidFill>
                <a:latin typeface="Georgia"/>
                <a:cs typeface="Georgia"/>
              </a:rPr>
              <a:t> </a:t>
            </a:r>
            <a:r>
              <a:rPr sz="3900" b="0" spc="65" dirty="0">
                <a:solidFill>
                  <a:srgbClr val="2E377E"/>
                </a:solidFill>
                <a:latin typeface="Georgia"/>
                <a:cs typeface="Georgia"/>
              </a:rPr>
              <a:t>your </a:t>
            </a:r>
            <a:r>
              <a:rPr sz="3900" b="0" spc="45" dirty="0">
                <a:solidFill>
                  <a:srgbClr val="2E377E"/>
                </a:solidFill>
                <a:latin typeface="Georgia"/>
                <a:cs typeface="Georgia"/>
              </a:rPr>
              <a:t>stateless</a:t>
            </a:r>
            <a:r>
              <a:rPr sz="3900" b="0" spc="-5" dirty="0">
                <a:solidFill>
                  <a:srgbClr val="2E377E"/>
                </a:solidFill>
                <a:latin typeface="Georgia"/>
                <a:cs typeface="Georgia"/>
              </a:rPr>
              <a:t> </a:t>
            </a:r>
            <a:r>
              <a:rPr sz="3900" b="0" dirty="0">
                <a:solidFill>
                  <a:srgbClr val="2E377E"/>
                </a:solidFill>
                <a:latin typeface="Georgia"/>
                <a:cs typeface="Georgia"/>
              </a:rPr>
              <a:t>application</a:t>
            </a:r>
            <a:r>
              <a:rPr sz="3900" b="0" spc="-10" dirty="0">
                <a:solidFill>
                  <a:srgbClr val="2E377E"/>
                </a:solidFill>
                <a:latin typeface="Georgia"/>
                <a:cs typeface="Georgia"/>
              </a:rPr>
              <a:t> </a:t>
            </a:r>
            <a:r>
              <a:rPr sz="3900" b="0" dirty="0">
                <a:solidFill>
                  <a:srgbClr val="2E377E"/>
                </a:solidFill>
                <a:latin typeface="Georgia"/>
                <a:cs typeface="Georgia"/>
              </a:rPr>
              <a:t>as</a:t>
            </a:r>
            <a:r>
              <a:rPr sz="3900" b="0" spc="-5" dirty="0">
                <a:solidFill>
                  <a:srgbClr val="2E377E"/>
                </a:solidFill>
                <a:latin typeface="Georgia"/>
                <a:cs typeface="Georgia"/>
              </a:rPr>
              <a:t> </a:t>
            </a:r>
            <a:r>
              <a:rPr sz="3900" b="0" dirty="0">
                <a:solidFill>
                  <a:srgbClr val="2E377E"/>
                </a:solidFill>
                <a:latin typeface="Georgia"/>
                <a:cs typeface="Georgia"/>
              </a:rPr>
              <a:t>a</a:t>
            </a:r>
            <a:r>
              <a:rPr sz="3900" b="0" spc="-5" dirty="0">
                <a:solidFill>
                  <a:srgbClr val="2E377E"/>
                </a:solidFill>
                <a:latin typeface="Georgia"/>
                <a:cs typeface="Georgia"/>
              </a:rPr>
              <a:t> </a:t>
            </a:r>
            <a:r>
              <a:rPr sz="3900" b="0" spc="45" dirty="0">
                <a:solidFill>
                  <a:srgbClr val="2E377E"/>
                </a:solidFill>
                <a:latin typeface="Georgia"/>
                <a:cs typeface="Georgia"/>
              </a:rPr>
              <a:t>Deployment</a:t>
            </a:r>
            <a:r>
              <a:rPr sz="3900" b="0" spc="-5" dirty="0">
                <a:solidFill>
                  <a:srgbClr val="2E377E"/>
                </a:solidFill>
                <a:latin typeface="Georgia"/>
                <a:cs typeface="Georgia"/>
              </a:rPr>
              <a:t> </a:t>
            </a:r>
            <a:r>
              <a:rPr sz="3900" b="0" spc="90" dirty="0">
                <a:solidFill>
                  <a:srgbClr val="2E377E"/>
                </a:solidFill>
                <a:latin typeface="Georgia"/>
                <a:cs typeface="Georgia"/>
              </a:rPr>
              <a:t>with</a:t>
            </a:r>
            <a:r>
              <a:rPr sz="3900" b="0" spc="-5" dirty="0">
                <a:solidFill>
                  <a:srgbClr val="2E377E"/>
                </a:solidFill>
                <a:latin typeface="Georgia"/>
                <a:cs typeface="Georgia"/>
              </a:rPr>
              <a:t> </a:t>
            </a:r>
            <a:r>
              <a:rPr sz="3900" b="0" dirty="0">
                <a:solidFill>
                  <a:srgbClr val="2E377E"/>
                </a:solidFill>
                <a:latin typeface="Georgia"/>
                <a:cs typeface="Georgia"/>
              </a:rPr>
              <a:t>10</a:t>
            </a:r>
            <a:r>
              <a:rPr sz="3900" b="0" spc="-5" dirty="0">
                <a:solidFill>
                  <a:srgbClr val="2E377E"/>
                </a:solidFill>
                <a:latin typeface="Georgia"/>
                <a:cs typeface="Georgia"/>
              </a:rPr>
              <a:t> </a:t>
            </a:r>
            <a:r>
              <a:rPr sz="3900" b="0" dirty="0">
                <a:solidFill>
                  <a:srgbClr val="2E377E"/>
                </a:solidFill>
                <a:latin typeface="Georgia"/>
                <a:cs typeface="Georgia"/>
              </a:rPr>
              <a:t>Pod</a:t>
            </a:r>
            <a:r>
              <a:rPr sz="3900" b="0" spc="-5" dirty="0">
                <a:solidFill>
                  <a:srgbClr val="2E377E"/>
                </a:solidFill>
                <a:latin typeface="Georgia"/>
                <a:cs typeface="Georgia"/>
              </a:rPr>
              <a:t> </a:t>
            </a:r>
            <a:r>
              <a:rPr sz="3900" b="0" dirty="0">
                <a:solidFill>
                  <a:srgbClr val="2E377E"/>
                </a:solidFill>
                <a:latin typeface="Georgia"/>
                <a:cs typeface="Georgia"/>
              </a:rPr>
              <a:t>replicas</a:t>
            </a:r>
            <a:r>
              <a:rPr sz="3900" b="0" spc="-5" dirty="0">
                <a:solidFill>
                  <a:srgbClr val="2E377E"/>
                </a:solidFill>
                <a:latin typeface="Georgia"/>
                <a:cs typeface="Georgia"/>
              </a:rPr>
              <a:t> </a:t>
            </a:r>
            <a:r>
              <a:rPr sz="3900" b="0" dirty="0">
                <a:solidFill>
                  <a:srgbClr val="2E377E"/>
                </a:solidFill>
                <a:latin typeface="Georgia"/>
                <a:cs typeface="Georgia"/>
              </a:rPr>
              <a:t>running</a:t>
            </a:r>
            <a:r>
              <a:rPr sz="3900" b="0" spc="-5" dirty="0">
                <a:solidFill>
                  <a:srgbClr val="2E377E"/>
                </a:solidFill>
                <a:latin typeface="Georgia"/>
                <a:cs typeface="Georgia"/>
              </a:rPr>
              <a:t> </a:t>
            </a:r>
            <a:r>
              <a:rPr sz="3900" b="0" dirty="0">
                <a:solidFill>
                  <a:srgbClr val="2E377E"/>
                </a:solidFill>
                <a:latin typeface="Georgia"/>
                <a:cs typeface="Georgia"/>
              </a:rPr>
              <a:t>in</a:t>
            </a:r>
            <a:r>
              <a:rPr sz="3900" b="0" spc="-5" dirty="0">
                <a:solidFill>
                  <a:srgbClr val="2E377E"/>
                </a:solidFill>
                <a:latin typeface="Georgia"/>
                <a:cs typeface="Georgia"/>
              </a:rPr>
              <a:t> </a:t>
            </a:r>
            <a:r>
              <a:rPr sz="3900" b="0" spc="-10" dirty="0">
                <a:solidFill>
                  <a:srgbClr val="2E377E"/>
                </a:solidFill>
                <a:latin typeface="Georgia"/>
                <a:cs typeface="Georgia"/>
              </a:rPr>
              <a:t>multiple </a:t>
            </a:r>
            <a:r>
              <a:rPr sz="3900" b="0" spc="80" dirty="0">
                <a:solidFill>
                  <a:srgbClr val="2E377E"/>
                </a:solidFill>
                <a:latin typeface="Georgia"/>
                <a:cs typeface="Georgia"/>
              </a:rPr>
              <a:t>worker</a:t>
            </a:r>
            <a:r>
              <a:rPr sz="3900" b="0" spc="-50" dirty="0">
                <a:solidFill>
                  <a:srgbClr val="2E377E"/>
                </a:solidFill>
                <a:latin typeface="Georgia"/>
                <a:cs typeface="Georgia"/>
              </a:rPr>
              <a:t> </a:t>
            </a:r>
            <a:r>
              <a:rPr sz="3900" b="0" spc="-10" dirty="0">
                <a:solidFill>
                  <a:srgbClr val="2E377E"/>
                </a:solidFill>
                <a:latin typeface="Georgia"/>
                <a:cs typeface="Georgia"/>
              </a:rPr>
              <a:t>nodes.</a:t>
            </a:r>
            <a:endParaRPr sz="3900">
              <a:latin typeface="Georgia"/>
              <a:cs typeface="Georgia"/>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384591" y="2330012"/>
            <a:ext cx="7744967" cy="2298935"/>
          </a:xfrm>
          <a:prstGeom prst="rect">
            <a:avLst/>
          </a:prstGeom>
        </p:spPr>
      </p:pic>
      <p:sp>
        <p:nvSpPr>
          <p:cNvPr id="3" name="object 3"/>
          <p:cNvSpPr txBox="1"/>
          <p:nvPr/>
        </p:nvSpPr>
        <p:spPr>
          <a:xfrm>
            <a:off x="606149" y="5258791"/>
            <a:ext cx="17366615" cy="3789045"/>
          </a:xfrm>
          <a:prstGeom prst="rect">
            <a:avLst/>
          </a:prstGeom>
        </p:spPr>
        <p:txBody>
          <a:bodyPr vert="horz" wrap="square" lIns="0" tIns="12700" rIns="0" bIns="0" rtlCol="0">
            <a:spAutoFit/>
          </a:bodyPr>
          <a:lstStyle/>
          <a:p>
            <a:pPr marL="12700" marR="1283970">
              <a:lnSpc>
                <a:spcPct val="115399"/>
              </a:lnSpc>
              <a:spcBef>
                <a:spcPts val="100"/>
              </a:spcBef>
            </a:pPr>
            <a:r>
              <a:rPr sz="3900" dirty="0">
                <a:solidFill>
                  <a:srgbClr val="2E377E"/>
                </a:solidFill>
                <a:latin typeface="Georgia"/>
                <a:cs typeface="Georgia"/>
              </a:rPr>
              <a:t>The</a:t>
            </a:r>
            <a:r>
              <a:rPr sz="3900" spc="5" dirty="0">
                <a:solidFill>
                  <a:srgbClr val="2E377E"/>
                </a:solidFill>
                <a:latin typeface="Georgia"/>
                <a:cs typeface="Georgia"/>
              </a:rPr>
              <a:t> </a:t>
            </a:r>
            <a:r>
              <a:rPr sz="3900" dirty="0">
                <a:solidFill>
                  <a:srgbClr val="2E377E"/>
                </a:solidFill>
                <a:latin typeface="Georgia"/>
                <a:cs typeface="Georgia"/>
              </a:rPr>
              <a:t>ReplicaSet</a:t>
            </a:r>
            <a:r>
              <a:rPr sz="3900" spc="5" dirty="0">
                <a:solidFill>
                  <a:srgbClr val="2E377E"/>
                </a:solidFill>
                <a:latin typeface="Georgia"/>
                <a:cs typeface="Georgia"/>
              </a:rPr>
              <a:t> </a:t>
            </a:r>
            <a:r>
              <a:rPr sz="3900" dirty="0">
                <a:solidFill>
                  <a:srgbClr val="2E377E"/>
                </a:solidFill>
                <a:latin typeface="Georgia"/>
                <a:cs typeface="Georgia"/>
              </a:rPr>
              <a:t>Controller</a:t>
            </a:r>
            <a:r>
              <a:rPr sz="3900" spc="5" dirty="0">
                <a:solidFill>
                  <a:srgbClr val="2E377E"/>
                </a:solidFill>
                <a:latin typeface="Georgia"/>
                <a:cs typeface="Georgia"/>
              </a:rPr>
              <a:t> </a:t>
            </a:r>
            <a:r>
              <a:rPr sz="3900" spc="55" dirty="0">
                <a:solidFill>
                  <a:srgbClr val="2E377E"/>
                </a:solidFill>
                <a:latin typeface="Georgia"/>
                <a:cs typeface="Georgia"/>
              </a:rPr>
              <a:t>takes</a:t>
            </a:r>
            <a:r>
              <a:rPr sz="3900" spc="5" dirty="0">
                <a:solidFill>
                  <a:srgbClr val="2E377E"/>
                </a:solidFill>
                <a:latin typeface="Georgia"/>
                <a:cs typeface="Georgia"/>
              </a:rPr>
              <a:t> </a:t>
            </a:r>
            <a:r>
              <a:rPr sz="3900" dirty="0">
                <a:solidFill>
                  <a:srgbClr val="2E377E"/>
                </a:solidFill>
                <a:latin typeface="Georgia"/>
                <a:cs typeface="Georgia"/>
              </a:rPr>
              <a:t>care</a:t>
            </a:r>
            <a:r>
              <a:rPr sz="3900" spc="5" dirty="0">
                <a:solidFill>
                  <a:srgbClr val="2E377E"/>
                </a:solidFill>
                <a:latin typeface="Georgia"/>
                <a:cs typeface="Georgia"/>
              </a:rPr>
              <a:t> </a:t>
            </a:r>
            <a:r>
              <a:rPr sz="3900" dirty="0">
                <a:solidFill>
                  <a:srgbClr val="2E377E"/>
                </a:solidFill>
                <a:latin typeface="Georgia"/>
                <a:cs typeface="Georgia"/>
              </a:rPr>
              <a:t>of</a:t>
            </a:r>
            <a:r>
              <a:rPr sz="3900" spc="5" dirty="0">
                <a:solidFill>
                  <a:srgbClr val="2E377E"/>
                </a:solidFill>
                <a:latin typeface="Georgia"/>
                <a:cs typeface="Georgia"/>
              </a:rPr>
              <a:t> </a:t>
            </a:r>
            <a:r>
              <a:rPr sz="3900" dirty="0">
                <a:solidFill>
                  <a:srgbClr val="2E377E"/>
                </a:solidFill>
                <a:latin typeface="Georgia"/>
                <a:cs typeface="Georgia"/>
              </a:rPr>
              <a:t>replacing</a:t>
            </a:r>
            <a:r>
              <a:rPr sz="3900" spc="10" dirty="0">
                <a:solidFill>
                  <a:srgbClr val="2E377E"/>
                </a:solidFill>
                <a:latin typeface="Georgia"/>
                <a:cs typeface="Georgia"/>
              </a:rPr>
              <a:t> </a:t>
            </a:r>
            <a:r>
              <a:rPr sz="3900" spc="55" dirty="0">
                <a:solidFill>
                  <a:srgbClr val="2E377E"/>
                </a:solidFill>
                <a:latin typeface="Georgia"/>
                <a:cs typeface="Georgia"/>
              </a:rPr>
              <a:t>the</a:t>
            </a:r>
            <a:r>
              <a:rPr sz="3900" spc="5" dirty="0">
                <a:solidFill>
                  <a:srgbClr val="2E377E"/>
                </a:solidFill>
                <a:latin typeface="Georgia"/>
                <a:cs typeface="Georgia"/>
              </a:rPr>
              <a:t> </a:t>
            </a:r>
            <a:r>
              <a:rPr sz="3900" dirty="0">
                <a:solidFill>
                  <a:srgbClr val="2E377E"/>
                </a:solidFill>
                <a:latin typeface="Georgia"/>
                <a:cs typeface="Georgia"/>
              </a:rPr>
              <a:t>bad</a:t>
            </a:r>
            <a:r>
              <a:rPr sz="3900" spc="5" dirty="0">
                <a:solidFill>
                  <a:srgbClr val="2E377E"/>
                </a:solidFill>
                <a:latin typeface="Georgia"/>
                <a:cs typeface="Georgia"/>
              </a:rPr>
              <a:t> </a:t>
            </a:r>
            <a:r>
              <a:rPr sz="3900" dirty="0">
                <a:solidFill>
                  <a:srgbClr val="2E377E"/>
                </a:solidFill>
                <a:latin typeface="Georgia"/>
                <a:cs typeface="Georgia"/>
              </a:rPr>
              <a:t>Pod</a:t>
            </a:r>
            <a:r>
              <a:rPr sz="3900" spc="5" dirty="0">
                <a:solidFill>
                  <a:srgbClr val="2E377E"/>
                </a:solidFill>
                <a:latin typeface="Georgia"/>
                <a:cs typeface="Georgia"/>
              </a:rPr>
              <a:t> </a:t>
            </a:r>
            <a:r>
              <a:rPr sz="3900" spc="90" dirty="0">
                <a:solidFill>
                  <a:srgbClr val="2E377E"/>
                </a:solidFill>
                <a:latin typeface="Georgia"/>
                <a:cs typeface="Georgia"/>
              </a:rPr>
              <a:t>with</a:t>
            </a:r>
            <a:r>
              <a:rPr sz="3900" spc="5" dirty="0">
                <a:solidFill>
                  <a:srgbClr val="2E377E"/>
                </a:solidFill>
                <a:latin typeface="Georgia"/>
                <a:cs typeface="Georgia"/>
              </a:rPr>
              <a:t> </a:t>
            </a:r>
            <a:r>
              <a:rPr sz="3900" dirty="0">
                <a:solidFill>
                  <a:srgbClr val="2E377E"/>
                </a:solidFill>
                <a:latin typeface="Georgia"/>
                <a:cs typeface="Georgia"/>
              </a:rPr>
              <a:t>a</a:t>
            </a:r>
            <a:r>
              <a:rPr sz="3900" spc="5" dirty="0">
                <a:solidFill>
                  <a:srgbClr val="2E377E"/>
                </a:solidFill>
                <a:latin typeface="Georgia"/>
                <a:cs typeface="Georgia"/>
              </a:rPr>
              <a:t> </a:t>
            </a:r>
            <a:r>
              <a:rPr sz="3900" spc="75" dirty="0">
                <a:solidFill>
                  <a:srgbClr val="2E377E"/>
                </a:solidFill>
                <a:latin typeface="Georgia"/>
                <a:cs typeface="Georgia"/>
              </a:rPr>
              <a:t>new </a:t>
            </a:r>
            <a:r>
              <a:rPr sz="3900" spc="50" dirty="0">
                <a:solidFill>
                  <a:srgbClr val="2E377E"/>
                </a:solidFill>
                <a:latin typeface="Georgia"/>
                <a:cs typeface="Georgia"/>
              </a:rPr>
              <a:t>healthy</a:t>
            </a:r>
            <a:r>
              <a:rPr sz="3900" spc="-10" dirty="0">
                <a:solidFill>
                  <a:srgbClr val="2E377E"/>
                </a:solidFill>
                <a:latin typeface="Georgia"/>
                <a:cs typeface="Georgia"/>
              </a:rPr>
              <a:t> </a:t>
            </a:r>
            <a:r>
              <a:rPr sz="3900" dirty="0">
                <a:solidFill>
                  <a:srgbClr val="2E377E"/>
                </a:solidFill>
                <a:latin typeface="Georgia"/>
                <a:cs typeface="Georgia"/>
              </a:rPr>
              <a:t>Pod</a:t>
            </a:r>
            <a:r>
              <a:rPr sz="3900" spc="-10" dirty="0">
                <a:solidFill>
                  <a:srgbClr val="2E377E"/>
                </a:solidFill>
                <a:latin typeface="Georgia"/>
                <a:cs typeface="Georgia"/>
              </a:rPr>
              <a:t> </a:t>
            </a:r>
            <a:r>
              <a:rPr sz="3900" dirty="0">
                <a:solidFill>
                  <a:srgbClr val="2E377E"/>
                </a:solidFill>
                <a:latin typeface="Georgia"/>
                <a:cs typeface="Georgia"/>
              </a:rPr>
              <a:t>either</a:t>
            </a:r>
            <a:r>
              <a:rPr sz="3900" spc="-10" dirty="0">
                <a:solidFill>
                  <a:srgbClr val="2E377E"/>
                </a:solidFill>
                <a:latin typeface="Georgia"/>
                <a:cs typeface="Georgia"/>
              </a:rPr>
              <a:t> </a:t>
            </a:r>
            <a:r>
              <a:rPr sz="3900" dirty="0">
                <a:solidFill>
                  <a:srgbClr val="2E377E"/>
                </a:solidFill>
                <a:latin typeface="Georgia"/>
                <a:cs typeface="Georgia"/>
              </a:rPr>
              <a:t>on</a:t>
            </a:r>
            <a:r>
              <a:rPr sz="3900" spc="-10" dirty="0">
                <a:solidFill>
                  <a:srgbClr val="2E377E"/>
                </a:solidFill>
                <a:latin typeface="Georgia"/>
                <a:cs typeface="Georgia"/>
              </a:rPr>
              <a:t> </a:t>
            </a:r>
            <a:r>
              <a:rPr sz="3900" spc="55" dirty="0">
                <a:solidFill>
                  <a:srgbClr val="2E377E"/>
                </a:solidFill>
                <a:latin typeface="Georgia"/>
                <a:cs typeface="Georgia"/>
              </a:rPr>
              <a:t>the</a:t>
            </a:r>
            <a:r>
              <a:rPr sz="3900" spc="-5" dirty="0">
                <a:solidFill>
                  <a:srgbClr val="2E377E"/>
                </a:solidFill>
                <a:latin typeface="Georgia"/>
                <a:cs typeface="Georgia"/>
              </a:rPr>
              <a:t> </a:t>
            </a:r>
            <a:r>
              <a:rPr sz="3900" dirty="0">
                <a:solidFill>
                  <a:srgbClr val="2E377E"/>
                </a:solidFill>
                <a:latin typeface="Georgia"/>
                <a:cs typeface="Georgia"/>
              </a:rPr>
              <a:t>same</a:t>
            </a:r>
            <a:r>
              <a:rPr sz="3900" spc="-10" dirty="0">
                <a:solidFill>
                  <a:srgbClr val="2E377E"/>
                </a:solidFill>
                <a:latin typeface="Georgia"/>
                <a:cs typeface="Georgia"/>
              </a:rPr>
              <a:t> </a:t>
            </a:r>
            <a:r>
              <a:rPr sz="3900" dirty="0">
                <a:solidFill>
                  <a:srgbClr val="2E377E"/>
                </a:solidFill>
                <a:latin typeface="Georgia"/>
                <a:cs typeface="Georgia"/>
              </a:rPr>
              <a:t>node</a:t>
            </a:r>
            <a:r>
              <a:rPr sz="3900" spc="-10" dirty="0">
                <a:solidFill>
                  <a:srgbClr val="2E377E"/>
                </a:solidFill>
                <a:latin typeface="Georgia"/>
                <a:cs typeface="Georgia"/>
              </a:rPr>
              <a:t> </a:t>
            </a:r>
            <a:r>
              <a:rPr sz="3900" dirty="0">
                <a:solidFill>
                  <a:srgbClr val="2E377E"/>
                </a:solidFill>
                <a:latin typeface="Georgia"/>
                <a:cs typeface="Georgia"/>
              </a:rPr>
              <a:t>or</a:t>
            </a:r>
            <a:r>
              <a:rPr sz="3900" spc="-10" dirty="0">
                <a:solidFill>
                  <a:srgbClr val="2E377E"/>
                </a:solidFill>
                <a:latin typeface="Georgia"/>
                <a:cs typeface="Georgia"/>
              </a:rPr>
              <a:t> </a:t>
            </a:r>
            <a:r>
              <a:rPr sz="3900" dirty="0">
                <a:solidFill>
                  <a:srgbClr val="2E377E"/>
                </a:solidFill>
                <a:latin typeface="Georgia"/>
                <a:cs typeface="Georgia"/>
              </a:rPr>
              <a:t>on</a:t>
            </a:r>
            <a:r>
              <a:rPr sz="3900" spc="-5" dirty="0">
                <a:solidFill>
                  <a:srgbClr val="2E377E"/>
                </a:solidFill>
                <a:latin typeface="Georgia"/>
                <a:cs typeface="Georgia"/>
              </a:rPr>
              <a:t> </a:t>
            </a:r>
            <a:r>
              <a:rPr sz="3900" dirty="0">
                <a:solidFill>
                  <a:srgbClr val="2E377E"/>
                </a:solidFill>
                <a:latin typeface="Georgia"/>
                <a:cs typeface="Georgia"/>
              </a:rPr>
              <a:t>a</a:t>
            </a:r>
            <a:r>
              <a:rPr sz="3900" spc="-10" dirty="0">
                <a:solidFill>
                  <a:srgbClr val="2E377E"/>
                </a:solidFill>
                <a:latin typeface="Georgia"/>
                <a:cs typeface="Georgia"/>
              </a:rPr>
              <a:t> </a:t>
            </a:r>
            <a:r>
              <a:rPr sz="3900" spc="50" dirty="0">
                <a:solidFill>
                  <a:srgbClr val="2E377E"/>
                </a:solidFill>
                <a:latin typeface="Georgia"/>
                <a:cs typeface="Georgia"/>
              </a:rPr>
              <a:t>different</a:t>
            </a:r>
            <a:r>
              <a:rPr sz="3900" spc="-10" dirty="0">
                <a:solidFill>
                  <a:srgbClr val="2E377E"/>
                </a:solidFill>
                <a:latin typeface="Georgia"/>
                <a:cs typeface="Georgia"/>
              </a:rPr>
              <a:t> node.</a:t>
            </a:r>
            <a:endParaRPr sz="3900">
              <a:latin typeface="Georgia"/>
              <a:cs typeface="Georgia"/>
            </a:endParaRPr>
          </a:p>
          <a:p>
            <a:pPr marL="12700" marR="5080">
              <a:lnSpc>
                <a:spcPct val="115399"/>
              </a:lnSpc>
              <a:spcBef>
                <a:spcPts val="2630"/>
              </a:spcBef>
            </a:pPr>
            <a:r>
              <a:rPr sz="3900" dirty="0">
                <a:solidFill>
                  <a:srgbClr val="2E377E"/>
                </a:solidFill>
                <a:latin typeface="Georgia"/>
                <a:cs typeface="Georgia"/>
              </a:rPr>
              <a:t>Here replicaSet's</a:t>
            </a:r>
            <a:r>
              <a:rPr sz="3900" spc="5" dirty="0">
                <a:solidFill>
                  <a:srgbClr val="2E377E"/>
                </a:solidFill>
                <a:latin typeface="Georgia"/>
                <a:cs typeface="Georgia"/>
              </a:rPr>
              <a:t> </a:t>
            </a:r>
            <a:r>
              <a:rPr sz="3900" spc="60" dirty="0">
                <a:solidFill>
                  <a:srgbClr val="2E377E"/>
                </a:solidFill>
                <a:latin typeface="Georgia"/>
                <a:cs typeface="Georgia"/>
              </a:rPr>
              <a:t>will</a:t>
            </a:r>
            <a:r>
              <a:rPr sz="3900" dirty="0">
                <a:solidFill>
                  <a:srgbClr val="2E377E"/>
                </a:solidFill>
                <a:latin typeface="Georgia"/>
                <a:cs typeface="Georgia"/>
              </a:rPr>
              <a:t> </a:t>
            </a:r>
            <a:r>
              <a:rPr sz="3900" spc="60" dirty="0">
                <a:solidFill>
                  <a:srgbClr val="2E377E"/>
                </a:solidFill>
                <a:latin typeface="Georgia"/>
                <a:cs typeface="Georgia"/>
              </a:rPr>
              <a:t>only</a:t>
            </a:r>
            <a:r>
              <a:rPr sz="3900" spc="5" dirty="0">
                <a:solidFill>
                  <a:srgbClr val="2E377E"/>
                </a:solidFill>
                <a:latin typeface="Georgia"/>
                <a:cs typeface="Georgia"/>
              </a:rPr>
              <a:t> </a:t>
            </a:r>
            <a:r>
              <a:rPr sz="3900" spc="65" dirty="0">
                <a:solidFill>
                  <a:srgbClr val="2E377E"/>
                </a:solidFill>
                <a:latin typeface="Georgia"/>
                <a:cs typeface="Georgia"/>
              </a:rPr>
              <a:t>take</a:t>
            </a:r>
            <a:r>
              <a:rPr sz="3900" dirty="0">
                <a:solidFill>
                  <a:srgbClr val="2E377E"/>
                </a:solidFill>
                <a:latin typeface="Georgia"/>
                <a:cs typeface="Georgia"/>
              </a:rPr>
              <a:t> care</a:t>
            </a:r>
            <a:r>
              <a:rPr sz="3900" spc="5" dirty="0">
                <a:solidFill>
                  <a:srgbClr val="2E377E"/>
                </a:solidFill>
                <a:latin typeface="Georgia"/>
                <a:cs typeface="Georgia"/>
              </a:rPr>
              <a:t> </a:t>
            </a:r>
            <a:r>
              <a:rPr sz="3900" dirty="0">
                <a:solidFill>
                  <a:srgbClr val="2E377E"/>
                </a:solidFill>
                <a:latin typeface="Georgia"/>
                <a:cs typeface="Georgia"/>
              </a:rPr>
              <a:t>of those</a:t>
            </a:r>
            <a:r>
              <a:rPr sz="3900" spc="5" dirty="0">
                <a:solidFill>
                  <a:srgbClr val="2E377E"/>
                </a:solidFill>
                <a:latin typeface="Georgia"/>
                <a:cs typeface="Georgia"/>
              </a:rPr>
              <a:t> </a:t>
            </a:r>
            <a:r>
              <a:rPr sz="3900" dirty="0">
                <a:solidFill>
                  <a:srgbClr val="2E377E"/>
                </a:solidFill>
                <a:latin typeface="Georgia"/>
                <a:cs typeface="Georgia"/>
              </a:rPr>
              <a:t>10</a:t>
            </a:r>
            <a:r>
              <a:rPr sz="3900" spc="5" dirty="0">
                <a:solidFill>
                  <a:srgbClr val="2E377E"/>
                </a:solidFill>
                <a:latin typeface="Georgia"/>
                <a:cs typeface="Georgia"/>
              </a:rPr>
              <a:t> </a:t>
            </a:r>
            <a:r>
              <a:rPr sz="3900" dirty="0">
                <a:solidFill>
                  <a:srgbClr val="2E377E"/>
                </a:solidFill>
                <a:latin typeface="Georgia"/>
                <a:cs typeface="Georgia"/>
              </a:rPr>
              <a:t>pods are</a:t>
            </a:r>
            <a:r>
              <a:rPr sz="3900" spc="5" dirty="0">
                <a:solidFill>
                  <a:srgbClr val="2E377E"/>
                </a:solidFill>
                <a:latin typeface="Georgia"/>
                <a:cs typeface="Georgia"/>
              </a:rPr>
              <a:t> </a:t>
            </a:r>
            <a:r>
              <a:rPr sz="3900" dirty="0">
                <a:solidFill>
                  <a:srgbClr val="2E377E"/>
                </a:solidFill>
                <a:latin typeface="Georgia"/>
                <a:cs typeface="Georgia"/>
              </a:rPr>
              <a:t>running in</a:t>
            </a:r>
            <a:r>
              <a:rPr sz="3900" spc="5" dirty="0">
                <a:solidFill>
                  <a:srgbClr val="2E377E"/>
                </a:solidFill>
                <a:latin typeface="Georgia"/>
                <a:cs typeface="Georgia"/>
              </a:rPr>
              <a:t> </a:t>
            </a:r>
            <a:r>
              <a:rPr sz="3900" spc="55" dirty="0">
                <a:solidFill>
                  <a:srgbClr val="2E377E"/>
                </a:solidFill>
                <a:latin typeface="Georgia"/>
                <a:cs typeface="Georgia"/>
              </a:rPr>
              <a:t>the</a:t>
            </a:r>
            <a:r>
              <a:rPr sz="3900" dirty="0">
                <a:solidFill>
                  <a:srgbClr val="2E377E"/>
                </a:solidFill>
                <a:latin typeface="Georgia"/>
                <a:cs typeface="Georgia"/>
              </a:rPr>
              <a:t> </a:t>
            </a:r>
            <a:r>
              <a:rPr sz="3900" spc="45" dirty="0">
                <a:solidFill>
                  <a:srgbClr val="2E377E"/>
                </a:solidFill>
                <a:latin typeface="Georgia"/>
                <a:cs typeface="Georgia"/>
              </a:rPr>
              <a:t>cluster </a:t>
            </a:r>
            <a:r>
              <a:rPr sz="3900" dirty="0">
                <a:solidFill>
                  <a:srgbClr val="2E377E"/>
                </a:solidFill>
                <a:latin typeface="Georgia"/>
                <a:cs typeface="Georgia"/>
              </a:rPr>
              <a:t>or</a:t>
            </a:r>
            <a:r>
              <a:rPr sz="3900" spc="-10" dirty="0">
                <a:solidFill>
                  <a:srgbClr val="2E377E"/>
                </a:solidFill>
                <a:latin typeface="Georgia"/>
                <a:cs typeface="Georgia"/>
              </a:rPr>
              <a:t> </a:t>
            </a:r>
            <a:r>
              <a:rPr sz="3900" spc="-20" dirty="0">
                <a:solidFill>
                  <a:srgbClr val="2E377E"/>
                </a:solidFill>
                <a:latin typeface="Georgia"/>
                <a:cs typeface="Georgia"/>
              </a:rPr>
              <a:t>not.</a:t>
            </a:r>
            <a:endParaRPr sz="3900">
              <a:latin typeface="Georgia"/>
              <a:cs typeface="Georgia"/>
            </a:endParaRPr>
          </a:p>
          <a:p>
            <a:pPr marL="12700">
              <a:lnSpc>
                <a:spcPct val="100000"/>
              </a:lnSpc>
              <a:spcBef>
                <a:spcPts val="720"/>
              </a:spcBef>
            </a:pPr>
            <a:r>
              <a:rPr sz="3900" dirty="0">
                <a:solidFill>
                  <a:srgbClr val="2E377E"/>
                </a:solidFill>
                <a:latin typeface="Georgia"/>
                <a:cs typeface="Georgia"/>
              </a:rPr>
              <a:t>It</a:t>
            </a:r>
            <a:r>
              <a:rPr sz="3900" spc="-15" dirty="0">
                <a:solidFill>
                  <a:srgbClr val="2E377E"/>
                </a:solidFill>
                <a:latin typeface="Georgia"/>
                <a:cs typeface="Georgia"/>
              </a:rPr>
              <a:t> </a:t>
            </a:r>
            <a:r>
              <a:rPr sz="3900" dirty="0">
                <a:solidFill>
                  <a:srgbClr val="2E377E"/>
                </a:solidFill>
                <a:latin typeface="Georgia"/>
                <a:cs typeface="Georgia"/>
              </a:rPr>
              <a:t>doesn't</a:t>
            </a:r>
            <a:r>
              <a:rPr sz="3900" spc="-10" dirty="0">
                <a:solidFill>
                  <a:srgbClr val="2E377E"/>
                </a:solidFill>
                <a:latin typeface="Georgia"/>
                <a:cs typeface="Georgia"/>
              </a:rPr>
              <a:t> </a:t>
            </a:r>
            <a:r>
              <a:rPr sz="3900" spc="65" dirty="0">
                <a:solidFill>
                  <a:srgbClr val="2E377E"/>
                </a:solidFill>
                <a:latin typeface="Georgia"/>
                <a:cs typeface="Georgia"/>
              </a:rPr>
              <a:t>take</a:t>
            </a:r>
            <a:r>
              <a:rPr sz="3900" spc="-10" dirty="0">
                <a:solidFill>
                  <a:srgbClr val="2E377E"/>
                </a:solidFill>
                <a:latin typeface="Georgia"/>
                <a:cs typeface="Georgia"/>
              </a:rPr>
              <a:t> </a:t>
            </a:r>
            <a:r>
              <a:rPr sz="3900" dirty="0">
                <a:solidFill>
                  <a:srgbClr val="2E377E"/>
                </a:solidFill>
                <a:latin typeface="Georgia"/>
                <a:cs typeface="Georgia"/>
              </a:rPr>
              <a:t>care</a:t>
            </a:r>
            <a:r>
              <a:rPr sz="3900" spc="-10" dirty="0">
                <a:solidFill>
                  <a:srgbClr val="2E377E"/>
                </a:solidFill>
                <a:latin typeface="Georgia"/>
                <a:cs typeface="Georgia"/>
              </a:rPr>
              <a:t> </a:t>
            </a:r>
            <a:r>
              <a:rPr sz="3900" dirty="0">
                <a:solidFill>
                  <a:srgbClr val="2E377E"/>
                </a:solidFill>
                <a:latin typeface="Georgia"/>
                <a:cs typeface="Georgia"/>
              </a:rPr>
              <a:t>of</a:t>
            </a:r>
            <a:r>
              <a:rPr sz="3900" spc="-10" dirty="0">
                <a:solidFill>
                  <a:srgbClr val="2E377E"/>
                </a:solidFill>
                <a:latin typeface="Georgia"/>
                <a:cs typeface="Georgia"/>
              </a:rPr>
              <a:t> </a:t>
            </a:r>
            <a:r>
              <a:rPr sz="3900" dirty="0">
                <a:solidFill>
                  <a:srgbClr val="2E377E"/>
                </a:solidFill>
                <a:latin typeface="Georgia"/>
                <a:cs typeface="Georgia"/>
              </a:rPr>
              <a:t>in</a:t>
            </a:r>
            <a:r>
              <a:rPr sz="3900" spc="-10" dirty="0">
                <a:solidFill>
                  <a:srgbClr val="2E377E"/>
                </a:solidFill>
                <a:latin typeface="Georgia"/>
                <a:cs typeface="Georgia"/>
              </a:rPr>
              <a:t> </a:t>
            </a:r>
            <a:r>
              <a:rPr sz="3900" spc="60" dirty="0">
                <a:solidFill>
                  <a:srgbClr val="2E377E"/>
                </a:solidFill>
                <a:latin typeface="Georgia"/>
                <a:cs typeface="Georgia"/>
              </a:rPr>
              <a:t>which</a:t>
            </a:r>
            <a:r>
              <a:rPr sz="3900" spc="-10" dirty="0">
                <a:solidFill>
                  <a:srgbClr val="2E377E"/>
                </a:solidFill>
                <a:latin typeface="Georgia"/>
                <a:cs typeface="Georgia"/>
              </a:rPr>
              <a:t> </a:t>
            </a:r>
            <a:r>
              <a:rPr sz="3900" spc="80" dirty="0">
                <a:solidFill>
                  <a:srgbClr val="2E377E"/>
                </a:solidFill>
                <a:latin typeface="Georgia"/>
                <a:cs typeface="Georgia"/>
              </a:rPr>
              <a:t>worker</a:t>
            </a:r>
            <a:r>
              <a:rPr sz="3900" spc="-10" dirty="0">
                <a:solidFill>
                  <a:srgbClr val="2E377E"/>
                </a:solidFill>
                <a:latin typeface="Georgia"/>
                <a:cs typeface="Georgia"/>
              </a:rPr>
              <a:t> </a:t>
            </a:r>
            <a:r>
              <a:rPr sz="3900" dirty="0">
                <a:solidFill>
                  <a:srgbClr val="2E377E"/>
                </a:solidFill>
                <a:latin typeface="Georgia"/>
                <a:cs typeface="Georgia"/>
              </a:rPr>
              <a:t>node</a:t>
            </a:r>
            <a:r>
              <a:rPr sz="3900" spc="-10" dirty="0">
                <a:solidFill>
                  <a:srgbClr val="2E377E"/>
                </a:solidFill>
                <a:latin typeface="Georgia"/>
                <a:cs typeface="Georgia"/>
              </a:rPr>
              <a:t> </a:t>
            </a:r>
            <a:r>
              <a:rPr sz="3900" spc="95" dirty="0">
                <a:solidFill>
                  <a:srgbClr val="2E377E"/>
                </a:solidFill>
                <a:latin typeface="Georgia"/>
                <a:cs typeface="Georgia"/>
              </a:rPr>
              <a:t>they</a:t>
            </a:r>
            <a:r>
              <a:rPr sz="3900" spc="-10" dirty="0">
                <a:solidFill>
                  <a:srgbClr val="2E377E"/>
                </a:solidFill>
                <a:latin typeface="Georgia"/>
                <a:cs typeface="Georgia"/>
              </a:rPr>
              <a:t> </a:t>
            </a:r>
            <a:r>
              <a:rPr sz="3900" dirty="0">
                <a:solidFill>
                  <a:srgbClr val="2E377E"/>
                </a:solidFill>
                <a:latin typeface="Georgia"/>
                <a:cs typeface="Georgia"/>
              </a:rPr>
              <a:t>are</a:t>
            </a:r>
            <a:r>
              <a:rPr sz="3900" spc="-10" dirty="0">
                <a:solidFill>
                  <a:srgbClr val="2E377E"/>
                </a:solidFill>
                <a:latin typeface="Georgia"/>
                <a:cs typeface="Georgia"/>
              </a:rPr>
              <a:t> running!</a:t>
            </a:r>
            <a:endParaRPr sz="3900">
              <a:latin typeface="Georgia"/>
              <a:cs typeface="Georgia"/>
            </a:endParaRPr>
          </a:p>
        </p:txBody>
      </p:sp>
      <p:sp>
        <p:nvSpPr>
          <p:cNvPr id="4" name="object 4"/>
          <p:cNvSpPr txBox="1">
            <a:spLocks noGrp="1"/>
          </p:cNvSpPr>
          <p:nvPr>
            <p:ph type="title"/>
          </p:nvPr>
        </p:nvSpPr>
        <p:spPr>
          <a:xfrm>
            <a:off x="389019" y="512422"/>
            <a:ext cx="17417415" cy="1397000"/>
          </a:xfrm>
          <a:prstGeom prst="rect">
            <a:avLst/>
          </a:prstGeom>
        </p:spPr>
        <p:txBody>
          <a:bodyPr vert="horz" wrap="square" lIns="0" tIns="12700" rIns="0" bIns="0" rtlCol="0">
            <a:spAutoFit/>
          </a:bodyPr>
          <a:lstStyle/>
          <a:p>
            <a:pPr marL="12700" marR="5080">
              <a:lnSpc>
                <a:spcPct val="115399"/>
              </a:lnSpc>
              <a:spcBef>
                <a:spcPts val="100"/>
              </a:spcBef>
            </a:pPr>
            <a:r>
              <a:rPr sz="3900" b="0" dirty="0">
                <a:solidFill>
                  <a:srgbClr val="2E377E"/>
                </a:solidFill>
                <a:latin typeface="Georgia"/>
                <a:cs typeface="Georgia"/>
              </a:rPr>
              <a:t>If</a:t>
            </a:r>
            <a:r>
              <a:rPr sz="3900" b="0" spc="20" dirty="0">
                <a:solidFill>
                  <a:srgbClr val="2E377E"/>
                </a:solidFill>
                <a:latin typeface="Georgia"/>
                <a:cs typeface="Georgia"/>
              </a:rPr>
              <a:t> </a:t>
            </a:r>
            <a:r>
              <a:rPr sz="3900" b="0" dirty="0">
                <a:solidFill>
                  <a:srgbClr val="2E377E"/>
                </a:solidFill>
                <a:latin typeface="Georgia"/>
                <a:cs typeface="Georgia"/>
              </a:rPr>
              <a:t>one</a:t>
            </a:r>
            <a:r>
              <a:rPr sz="3900" b="0" spc="25" dirty="0">
                <a:solidFill>
                  <a:srgbClr val="2E377E"/>
                </a:solidFill>
                <a:latin typeface="Georgia"/>
                <a:cs typeface="Georgia"/>
              </a:rPr>
              <a:t> </a:t>
            </a:r>
            <a:r>
              <a:rPr sz="3900" b="0" dirty="0">
                <a:solidFill>
                  <a:srgbClr val="2E377E"/>
                </a:solidFill>
                <a:latin typeface="Georgia"/>
                <a:cs typeface="Georgia"/>
              </a:rPr>
              <a:t>of</a:t>
            </a:r>
            <a:r>
              <a:rPr sz="3900" b="0" spc="20" dirty="0">
                <a:solidFill>
                  <a:srgbClr val="2E377E"/>
                </a:solidFill>
                <a:latin typeface="Georgia"/>
                <a:cs typeface="Georgia"/>
              </a:rPr>
              <a:t> </a:t>
            </a:r>
            <a:r>
              <a:rPr sz="3900" b="0" dirty="0">
                <a:solidFill>
                  <a:srgbClr val="2E377E"/>
                </a:solidFill>
                <a:latin typeface="Georgia"/>
                <a:cs typeface="Georgia"/>
              </a:rPr>
              <a:t>those</a:t>
            </a:r>
            <a:r>
              <a:rPr sz="3900" b="0" spc="25" dirty="0">
                <a:solidFill>
                  <a:srgbClr val="2E377E"/>
                </a:solidFill>
                <a:latin typeface="Georgia"/>
                <a:cs typeface="Georgia"/>
              </a:rPr>
              <a:t> </a:t>
            </a:r>
            <a:r>
              <a:rPr sz="3900" b="0" dirty="0">
                <a:solidFill>
                  <a:srgbClr val="2E377E"/>
                </a:solidFill>
                <a:latin typeface="Georgia"/>
                <a:cs typeface="Georgia"/>
              </a:rPr>
              <a:t>Pods</a:t>
            </a:r>
            <a:r>
              <a:rPr sz="3900" b="0" spc="25" dirty="0">
                <a:solidFill>
                  <a:srgbClr val="2E377E"/>
                </a:solidFill>
                <a:latin typeface="Georgia"/>
                <a:cs typeface="Georgia"/>
              </a:rPr>
              <a:t> </a:t>
            </a:r>
            <a:r>
              <a:rPr sz="3900" b="0" dirty="0">
                <a:solidFill>
                  <a:srgbClr val="2E377E"/>
                </a:solidFill>
                <a:latin typeface="Georgia"/>
                <a:cs typeface="Georgia"/>
              </a:rPr>
              <a:t>running</a:t>
            </a:r>
            <a:r>
              <a:rPr sz="3900" b="0" spc="20" dirty="0">
                <a:solidFill>
                  <a:srgbClr val="2E377E"/>
                </a:solidFill>
                <a:latin typeface="Georgia"/>
                <a:cs typeface="Georgia"/>
              </a:rPr>
              <a:t> </a:t>
            </a:r>
            <a:r>
              <a:rPr sz="3900" b="0" dirty="0">
                <a:solidFill>
                  <a:srgbClr val="2E377E"/>
                </a:solidFill>
                <a:latin typeface="Georgia"/>
                <a:cs typeface="Georgia"/>
              </a:rPr>
              <a:t>in</a:t>
            </a:r>
            <a:r>
              <a:rPr sz="3900" b="0" spc="25" dirty="0">
                <a:solidFill>
                  <a:srgbClr val="2E377E"/>
                </a:solidFill>
                <a:latin typeface="Georgia"/>
                <a:cs typeface="Georgia"/>
              </a:rPr>
              <a:t> </a:t>
            </a:r>
            <a:r>
              <a:rPr sz="3900" b="0" dirty="0">
                <a:solidFill>
                  <a:srgbClr val="2E377E"/>
                </a:solidFill>
                <a:latin typeface="Georgia"/>
                <a:cs typeface="Georgia"/>
              </a:rPr>
              <a:t>a</a:t>
            </a:r>
            <a:r>
              <a:rPr sz="3900" b="0" spc="25" dirty="0">
                <a:solidFill>
                  <a:srgbClr val="2E377E"/>
                </a:solidFill>
                <a:latin typeface="Georgia"/>
                <a:cs typeface="Georgia"/>
              </a:rPr>
              <a:t> </a:t>
            </a:r>
            <a:r>
              <a:rPr sz="3900" b="0" dirty="0">
                <a:solidFill>
                  <a:srgbClr val="2E377E"/>
                </a:solidFill>
                <a:latin typeface="Georgia"/>
                <a:cs typeface="Georgia"/>
              </a:rPr>
              <a:t>particular</a:t>
            </a:r>
            <a:r>
              <a:rPr sz="3900" b="0" spc="20" dirty="0">
                <a:solidFill>
                  <a:srgbClr val="2E377E"/>
                </a:solidFill>
                <a:latin typeface="Georgia"/>
                <a:cs typeface="Georgia"/>
              </a:rPr>
              <a:t> </a:t>
            </a:r>
            <a:r>
              <a:rPr sz="3900" b="0" spc="80" dirty="0">
                <a:solidFill>
                  <a:srgbClr val="2E377E"/>
                </a:solidFill>
                <a:latin typeface="Georgia"/>
                <a:cs typeface="Georgia"/>
              </a:rPr>
              <a:t>worker</a:t>
            </a:r>
            <a:r>
              <a:rPr sz="3900" b="0" spc="25" dirty="0">
                <a:solidFill>
                  <a:srgbClr val="2E377E"/>
                </a:solidFill>
                <a:latin typeface="Georgia"/>
                <a:cs typeface="Georgia"/>
              </a:rPr>
              <a:t> </a:t>
            </a:r>
            <a:r>
              <a:rPr sz="3900" b="0" dirty="0">
                <a:solidFill>
                  <a:srgbClr val="2E377E"/>
                </a:solidFill>
                <a:latin typeface="Georgia"/>
                <a:cs typeface="Georgia"/>
              </a:rPr>
              <a:t>node</a:t>
            </a:r>
            <a:r>
              <a:rPr sz="3900" b="0" spc="25" dirty="0">
                <a:solidFill>
                  <a:srgbClr val="2E377E"/>
                </a:solidFill>
                <a:latin typeface="Georgia"/>
                <a:cs typeface="Georgia"/>
              </a:rPr>
              <a:t> </a:t>
            </a:r>
            <a:r>
              <a:rPr sz="3900" b="0" spc="60" dirty="0">
                <a:solidFill>
                  <a:srgbClr val="2E377E"/>
                </a:solidFill>
                <a:latin typeface="Georgia"/>
                <a:cs typeface="Georgia"/>
              </a:rPr>
              <a:t>got</a:t>
            </a:r>
            <a:r>
              <a:rPr sz="3900" b="0" spc="20" dirty="0">
                <a:solidFill>
                  <a:srgbClr val="2E377E"/>
                </a:solidFill>
                <a:latin typeface="Georgia"/>
                <a:cs typeface="Georgia"/>
              </a:rPr>
              <a:t> </a:t>
            </a:r>
            <a:r>
              <a:rPr sz="3900" b="0" spc="45" dirty="0">
                <a:solidFill>
                  <a:srgbClr val="2E377E"/>
                </a:solidFill>
                <a:latin typeface="Georgia"/>
                <a:cs typeface="Georgia"/>
              </a:rPr>
              <a:t>terminated</a:t>
            </a:r>
            <a:r>
              <a:rPr sz="3900" b="0" spc="25" dirty="0">
                <a:solidFill>
                  <a:srgbClr val="2E377E"/>
                </a:solidFill>
                <a:latin typeface="Georgia"/>
                <a:cs typeface="Georgia"/>
              </a:rPr>
              <a:t> </a:t>
            </a:r>
            <a:r>
              <a:rPr sz="3900" b="0" dirty="0">
                <a:solidFill>
                  <a:srgbClr val="2E377E"/>
                </a:solidFill>
                <a:latin typeface="Georgia"/>
                <a:cs typeface="Georgia"/>
              </a:rPr>
              <a:t>due</a:t>
            </a:r>
            <a:r>
              <a:rPr sz="3900" b="0" spc="20" dirty="0">
                <a:solidFill>
                  <a:srgbClr val="2E377E"/>
                </a:solidFill>
                <a:latin typeface="Georgia"/>
                <a:cs typeface="Georgia"/>
              </a:rPr>
              <a:t> </a:t>
            </a:r>
            <a:r>
              <a:rPr sz="3900" b="0" spc="45" dirty="0">
                <a:solidFill>
                  <a:srgbClr val="2E377E"/>
                </a:solidFill>
                <a:latin typeface="Georgia"/>
                <a:cs typeface="Georgia"/>
              </a:rPr>
              <a:t>to </a:t>
            </a:r>
            <a:r>
              <a:rPr sz="3900" b="0" dirty="0">
                <a:solidFill>
                  <a:srgbClr val="2E377E"/>
                </a:solidFill>
                <a:latin typeface="Georgia"/>
                <a:cs typeface="Georgia"/>
              </a:rPr>
              <a:t>some</a:t>
            </a:r>
            <a:r>
              <a:rPr sz="3900" b="0" spc="70" dirty="0">
                <a:solidFill>
                  <a:srgbClr val="2E377E"/>
                </a:solidFill>
                <a:latin typeface="Georgia"/>
                <a:cs typeface="Georgia"/>
              </a:rPr>
              <a:t> </a:t>
            </a:r>
            <a:r>
              <a:rPr sz="3900" b="0" spc="-10" dirty="0">
                <a:solidFill>
                  <a:srgbClr val="2E377E"/>
                </a:solidFill>
                <a:latin typeface="Georgia"/>
                <a:cs typeface="Georgia"/>
              </a:rPr>
              <a:t>issue</a:t>
            </a:r>
            <a:endParaRPr sz="3900">
              <a:latin typeface="Georgia"/>
              <a:cs typeface="Georgia"/>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89019" y="566140"/>
            <a:ext cx="17283430" cy="5135245"/>
          </a:xfrm>
          <a:prstGeom prst="rect">
            <a:avLst/>
          </a:prstGeom>
        </p:spPr>
        <p:txBody>
          <a:bodyPr vert="horz" wrap="square" lIns="0" tIns="12700" rIns="0" bIns="0" rtlCol="0">
            <a:spAutoFit/>
          </a:bodyPr>
          <a:lstStyle/>
          <a:p>
            <a:pPr marL="12700" marR="1522730">
              <a:lnSpc>
                <a:spcPct val="115399"/>
              </a:lnSpc>
              <a:spcBef>
                <a:spcPts val="100"/>
              </a:spcBef>
            </a:pPr>
            <a:r>
              <a:rPr sz="3900" dirty="0">
                <a:solidFill>
                  <a:srgbClr val="2E377E"/>
                </a:solidFill>
                <a:latin typeface="Georgia"/>
                <a:cs typeface="Georgia"/>
              </a:rPr>
              <a:t>If</a:t>
            </a:r>
            <a:r>
              <a:rPr sz="3900" spc="-35" dirty="0">
                <a:solidFill>
                  <a:srgbClr val="2E377E"/>
                </a:solidFill>
                <a:latin typeface="Georgia"/>
                <a:cs typeface="Georgia"/>
              </a:rPr>
              <a:t> </a:t>
            </a:r>
            <a:r>
              <a:rPr sz="3900" dirty="0">
                <a:solidFill>
                  <a:srgbClr val="2E377E"/>
                </a:solidFill>
                <a:latin typeface="Georgia"/>
                <a:cs typeface="Georgia"/>
              </a:rPr>
              <a:t>pod</a:t>
            </a:r>
            <a:r>
              <a:rPr sz="3900" spc="-35" dirty="0">
                <a:solidFill>
                  <a:srgbClr val="2E377E"/>
                </a:solidFill>
                <a:latin typeface="Georgia"/>
                <a:cs typeface="Georgia"/>
              </a:rPr>
              <a:t> </a:t>
            </a:r>
            <a:r>
              <a:rPr sz="3900" dirty="0">
                <a:solidFill>
                  <a:srgbClr val="2E377E"/>
                </a:solidFill>
                <a:latin typeface="Georgia"/>
                <a:cs typeface="Georgia"/>
              </a:rPr>
              <a:t>1</a:t>
            </a:r>
            <a:r>
              <a:rPr sz="3900" spc="-30" dirty="0">
                <a:solidFill>
                  <a:srgbClr val="2E377E"/>
                </a:solidFill>
                <a:latin typeface="Georgia"/>
                <a:cs typeface="Georgia"/>
              </a:rPr>
              <a:t> </a:t>
            </a:r>
            <a:r>
              <a:rPr sz="3900" spc="60" dirty="0">
                <a:solidFill>
                  <a:srgbClr val="2E377E"/>
                </a:solidFill>
                <a:latin typeface="Georgia"/>
                <a:cs typeface="Georgia"/>
              </a:rPr>
              <a:t>got</a:t>
            </a:r>
            <a:r>
              <a:rPr sz="3900" spc="-35" dirty="0">
                <a:solidFill>
                  <a:srgbClr val="2E377E"/>
                </a:solidFill>
                <a:latin typeface="Georgia"/>
                <a:cs typeface="Georgia"/>
              </a:rPr>
              <a:t> </a:t>
            </a:r>
            <a:r>
              <a:rPr sz="3900" spc="45" dirty="0">
                <a:solidFill>
                  <a:srgbClr val="2E377E"/>
                </a:solidFill>
                <a:latin typeface="Georgia"/>
                <a:cs typeface="Georgia"/>
              </a:rPr>
              <a:t>terminated</a:t>
            </a:r>
            <a:r>
              <a:rPr sz="3900" spc="-30" dirty="0">
                <a:solidFill>
                  <a:srgbClr val="2E377E"/>
                </a:solidFill>
                <a:latin typeface="Georgia"/>
                <a:cs typeface="Georgia"/>
              </a:rPr>
              <a:t> </a:t>
            </a:r>
            <a:r>
              <a:rPr sz="3900" dirty="0">
                <a:solidFill>
                  <a:srgbClr val="2E377E"/>
                </a:solidFill>
                <a:latin typeface="Georgia"/>
                <a:cs typeface="Georgia"/>
              </a:rPr>
              <a:t>from</a:t>
            </a:r>
            <a:r>
              <a:rPr sz="3900" spc="-35" dirty="0">
                <a:solidFill>
                  <a:srgbClr val="2E377E"/>
                </a:solidFill>
                <a:latin typeface="Georgia"/>
                <a:cs typeface="Georgia"/>
              </a:rPr>
              <a:t> </a:t>
            </a:r>
            <a:r>
              <a:rPr sz="3900" dirty="0">
                <a:solidFill>
                  <a:srgbClr val="2E377E"/>
                </a:solidFill>
                <a:latin typeface="Georgia"/>
                <a:cs typeface="Georgia"/>
              </a:rPr>
              <a:t>node</a:t>
            </a:r>
            <a:r>
              <a:rPr sz="3900" spc="-30" dirty="0">
                <a:solidFill>
                  <a:srgbClr val="2E377E"/>
                </a:solidFill>
                <a:latin typeface="Georgia"/>
                <a:cs typeface="Georgia"/>
              </a:rPr>
              <a:t> </a:t>
            </a:r>
            <a:r>
              <a:rPr sz="3900" dirty="0">
                <a:solidFill>
                  <a:srgbClr val="2E377E"/>
                </a:solidFill>
                <a:latin typeface="Georgia"/>
                <a:cs typeface="Georgia"/>
              </a:rPr>
              <a:t>1,</a:t>
            </a:r>
            <a:r>
              <a:rPr sz="3900" spc="-35" dirty="0">
                <a:solidFill>
                  <a:srgbClr val="2E377E"/>
                </a:solidFill>
                <a:latin typeface="Georgia"/>
                <a:cs typeface="Georgia"/>
              </a:rPr>
              <a:t> </a:t>
            </a:r>
            <a:r>
              <a:rPr sz="3900" spc="50" dirty="0">
                <a:solidFill>
                  <a:srgbClr val="2E377E"/>
                </a:solidFill>
                <a:latin typeface="Georgia"/>
                <a:cs typeface="Georgia"/>
              </a:rPr>
              <a:t>then</a:t>
            </a:r>
            <a:r>
              <a:rPr sz="3900" spc="-30" dirty="0">
                <a:solidFill>
                  <a:srgbClr val="2E377E"/>
                </a:solidFill>
                <a:latin typeface="Georgia"/>
                <a:cs typeface="Georgia"/>
              </a:rPr>
              <a:t> </a:t>
            </a:r>
            <a:r>
              <a:rPr sz="3900" spc="100" dirty="0">
                <a:solidFill>
                  <a:srgbClr val="2E377E"/>
                </a:solidFill>
                <a:latin typeface="Georgia"/>
                <a:cs typeface="Georgia"/>
              </a:rPr>
              <a:t>new</a:t>
            </a:r>
            <a:r>
              <a:rPr sz="3900" spc="-35" dirty="0">
                <a:solidFill>
                  <a:srgbClr val="2E377E"/>
                </a:solidFill>
                <a:latin typeface="Georgia"/>
                <a:cs typeface="Georgia"/>
              </a:rPr>
              <a:t> </a:t>
            </a:r>
            <a:r>
              <a:rPr sz="3900" dirty="0">
                <a:solidFill>
                  <a:srgbClr val="2E377E"/>
                </a:solidFill>
                <a:latin typeface="Georgia"/>
                <a:cs typeface="Georgia"/>
              </a:rPr>
              <a:t>pod</a:t>
            </a:r>
            <a:r>
              <a:rPr sz="3900" spc="-30" dirty="0">
                <a:solidFill>
                  <a:srgbClr val="2E377E"/>
                </a:solidFill>
                <a:latin typeface="Georgia"/>
                <a:cs typeface="Georgia"/>
              </a:rPr>
              <a:t> </a:t>
            </a:r>
            <a:r>
              <a:rPr sz="3900" spc="60" dirty="0">
                <a:solidFill>
                  <a:srgbClr val="2E377E"/>
                </a:solidFill>
                <a:latin typeface="Georgia"/>
                <a:cs typeface="Georgia"/>
              </a:rPr>
              <a:t>will</a:t>
            </a:r>
            <a:r>
              <a:rPr sz="3900" spc="-35" dirty="0">
                <a:solidFill>
                  <a:srgbClr val="2E377E"/>
                </a:solidFill>
                <a:latin typeface="Georgia"/>
                <a:cs typeface="Georgia"/>
              </a:rPr>
              <a:t> </a:t>
            </a:r>
            <a:r>
              <a:rPr sz="3900" spc="60" dirty="0">
                <a:solidFill>
                  <a:srgbClr val="2E377E"/>
                </a:solidFill>
                <a:latin typeface="Georgia"/>
                <a:cs typeface="Georgia"/>
              </a:rPr>
              <a:t>gets</a:t>
            </a:r>
            <a:r>
              <a:rPr sz="3900" spc="-30" dirty="0">
                <a:solidFill>
                  <a:srgbClr val="2E377E"/>
                </a:solidFill>
                <a:latin typeface="Georgia"/>
                <a:cs typeface="Georgia"/>
              </a:rPr>
              <a:t> </a:t>
            </a:r>
            <a:r>
              <a:rPr sz="3900" dirty="0">
                <a:solidFill>
                  <a:srgbClr val="2E377E"/>
                </a:solidFill>
                <a:latin typeface="Georgia"/>
                <a:cs typeface="Georgia"/>
              </a:rPr>
              <a:t>replaced</a:t>
            </a:r>
            <a:r>
              <a:rPr sz="3900" spc="-35" dirty="0">
                <a:solidFill>
                  <a:srgbClr val="2E377E"/>
                </a:solidFill>
                <a:latin typeface="Georgia"/>
                <a:cs typeface="Georgia"/>
              </a:rPr>
              <a:t> </a:t>
            </a:r>
            <a:r>
              <a:rPr sz="3900" spc="-25" dirty="0">
                <a:solidFill>
                  <a:srgbClr val="2E377E"/>
                </a:solidFill>
                <a:latin typeface="Georgia"/>
                <a:cs typeface="Georgia"/>
              </a:rPr>
              <a:t>on </a:t>
            </a:r>
            <a:r>
              <a:rPr sz="3900" dirty="0">
                <a:solidFill>
                  <a:srgbClr val="2E377E"/>
                </a:solidFill>
                <a:latin typeface="Georgia"/>
                <a:cs typeface="Georgia"/>
              </a:rPr>
              <a:t>either</a:t>
            </a:r>
            <a:r>
              <a:rPr sz="3900" spc="-5" dirty="0">
                <a:solidFill>
                  <a:srgbClr val="2E377E"/>
                </a:solidFill>
                <a:latin typeface="Georgia"/>
                <a:cs typeface="Georgia"/>
              </a:rPr>
              <a:t> </a:t>
            </a:r>
            <a:r>
              <a:rPr sz="3900" dirty="0">
                <a:solidFill>
                  <a:srgbClr val="2E377E"/>
                </a:solidFill>
                <a:latin typeface="Georgia"/>
                <a:cs typeface="Georgia"/>
              </a:rPr>
              <a:t>node</a:t>
            </a:r>
            <a:r>
              <a:rPr sz="3900" spc="-5" dirty="0">
                <a:solidFill>
                  <a:srgbClr val="2E377E"/>
                </a:solidFill>
                <a:latin typeface="Georgia"/>
                <a:cs typeface="Georgia"/>
              </a:rPr>
              <a:t> </a:t>
            </a:r>
            <a:r>
              <a:rPr sz="3900" spc="-265" dirty="0">
                <a:solidFill>
                  <a:srgbClr val="2E377E"/>
                </a:solidFill>
                <a:latin typeface="Georgia"/>
                <a:cs typeface="Georgia"/>
              </a:rPr>
              <a:t>2</a:t>
            </a:r>
            <a:r>
              <a:rPr sz="3900" dirty="0">
                <a:solidFill>
                  <a:srgbClr val="2E377E"/>
                </a:solidFill>
                <a:latin typeface="Georgia"/>
                <a:cs typeface="Georgia"/>
              </a:rPr>
              <a:t> or</a:t>
            </a:r>
            <a:r>
              <a:rPr sz="3900" spc="-5" dirty="0">
                <a:solidFill>
                  <a:srgbClr val="2E377E"/>
                </a:solidFill>
                <a:latin typeface="Georgia"/>
                <a:cs typeface="Georgia"/>
              </a:rPr>
              <a:t> </a:t>
            </a:r>
            <a:r>
              <a:rPr sz="3900" dirty="0">
                <a:solidFill>
                  <a:srgbClr val="2E377E"/>
                </a:solidFill>
                <a:latin typeface="Georgia"/>
                <a:cs typeface="Georgia"/>
              </a:rPr>
              <a:t>node</a:t>
            </a:r>
            <a:r>
              <a:rPr sz="3900" spc="-5" dirty="0">
                <a:solidFill>
                  <a:srgbClr val="2E377E"/>
                </a:solidFill>
                <a:latin typeface="Georgia"/>
                <a:cs typeface="Georgia"/>
              </a:rPr>
              <a:t> </a:t>
            </a:r>
            <a:r>
              <a:rPr sz="3900" dirty="0">
                <a:solidFill>
                  <a:srgbClr val="2E377E"/>
                </a:solidFill>
                <a:latin typeface="Georgia"/>
                <a:cs typeface="Georgia"/>
              </a:rPr>
              <a:t>1 or</a:t>
            </a:r>
            <a:r>
              <a:rPr sz="3900" spc="-5" dirty="0">
                <a:solidFill>
                  <a:srgbClr val="2E377E"/>
                </a:solidFill>
                <a:latin typeface="Georgia"/>
                <a:cs typeface="Georgia"/>
              </a:rPr>
              <a:t> </a:t>
            </a:r>
            <a:r>
              <a:rPr sz="3900" spc="75" dirty="0">
                <a:solidFill>
                  <a:srgbClr val="2E377E"/>
                </a:solidFill>
                <a:latin typeface="Georgia"/>
                <a:cs typeface="Georgia"/>
              </a:rPr>
              <a:t>anywhere</a:t>
            </a:r>
            <a:r>
              <a:rPr sz="3900" dirty="0">
                <a:solidFill>
                  <a:srgbClr val="2E377E"/>
                </a:solidFill>
                <a:latin typeface="Georgia"/>
                <a:cs typeface="Georgia"/>
              </a:rPr>
              <a:t> in</a:t>
            </a:r>
            <a:r>
              <a:rPr sz="3900" spc="-5" dirty="0">
                <a:solidFill>
                  <a:srgbClr val="2E377E"/>
                </a:solidFill>
                <a:latin typeface="Georgia"/>
                <a:cs typeface="Georgia"/>
              </a:rPr>
              <a:t> </a:t>
            </a:r>
            <a:r>
              <a:rPr sz="3900" spc="55" dirty="0">
                <a:solidFill>
                  <a:srgbClr val="2E377E"/>
                </a:solidFill>
                <a:latin typeface="Georgia"/>
                <a:cs typeface="Georgia"/>
              </a:rPr>
              <a:t>the</a:t>
            </a:r>
            <a:r>
              <a:rPr sz="3900" spc="-5" dirty="0">
                <a:solidFill>
                  <a:srgbClr val="2E377E"/>
                </a:solidFill>
                <a:latin typeface="Georgia"/>
                <a:cs typeface="Georgia"/>
              </a:rPr>
              <a:t> </a:t>
            </a:r>
            <a:r>
              <a:rPr sz="3900" spc="-10" dirty="0">
                <a:solidFill>
                  <a:srgbClr val="2E377E"/>
                </a:solidFill>
                <a:latin typeface="Georgia"/>
                <a:cs typeface="Georgia"/>
              </a:rPr>
              <a:t>cluster.</a:t>
            </a:r>
            <a:endParaRPr sz="3900">
              <a:latin typeface="Georgia"/>
              <a:cs typeface="Georgia"/>
            </a:endParaRPr>
          </a:p>
          <a:p>
            <a:pPr marL="12700" marR="5080" indent="110489">
              <a:lnSpc>
                <a:spcPct val="115399"/>
              </a:lnSpc>
              <a:spcBef>
                <a:spcPts val="4184"/>
              </a:spcBef>
            </a:pPr>
            <a:r>
              <a:rPr sz="3900" dirty="0">
                <a:solidFill>
                  <a:srgbClr val="2E377E"/>
                </a:solidFill>
                <a:latin typeface="Georgia"/>
                <a:cs typeface="Georgia"/>
              </a:rPr>
              <a:t>This is possible because, </a:t>
            </a:r>
            <a:r>
              <a:rPr sz="3900" spc="55" dirty="0">
                <a:solidFill>
                  <a:srgbClr val="2E377E"/>
                </a:solidFill>
                <a:latin typeface="Georgia"/>
                <a:cs typeface="Georgia"/>
              </a:rPr>
              <a:t>the</a:t>
            </a:r>
            <a:r>
              <a:rPr sz="3900" dirty="0">
                <a:solidFill>
                  <a:srgbClr val="2E377E"/>
                </a:solidFill>
                <a:latin typeface="Georgia"/>
                <a:cs typeface="Georgia"/>
              </a:rPr>
              <a:t> </a:t>
            </a:r>
            <a:r>
              <a:rPr sz="3900" spc="45" dirty="0">
                <a:solidFill>
                  <a:srgbClr val="2E377E"/>
                </a:solidFill>
                <a:latin typeface="Georgia"/>
                <a:cs typeface="Georgia"/>
              </a:rPr>
              <a:t>stateless</a:t>
            </a:r>
            <a:r>
              <a:rPr sz="3900" dirty="0">
                <a:solidFill>
                  <a:srgbClr val="2E377E"/>
                </a:solidFill>
                <a:latin typeface="Georgia"/>
                <a:cs typeface="Georgia"/>
              </a:rPr>
              <a:t> application Pod 1 hasn’t </a:t>
            </a:r>
            <a:r>
              <a:rPr sz="3900" spc="50" dirty="0">
                <a:solidFill>
                  <a:srgbClr val="2E377E"/>
                </a:solidFill>
                <a:latin typeface="Georgia"/>
                <a:cs typeface="Georgia"/>
              </a:rPr>
              <a:t>stored</a:t>
            </a:r>
            <a:r>
              <a:rPr sz="3900" dirty="0">
                <a:solidFill>
                  <a:srgbClr val="2E377E"/>
                </a:solidFill>
                <a:latin typeface="Georgia"/>
                <a:cs typeface="Georgia"/>
              </a:rPr>
              <a:t> </a:t>
            </a:r>
            <a:r>
              <a:rPr sz="3900" spc="70" dirty="0">
                <a:solidFill>
                  <a:srgbClr val="2E377E"/>
                </a:solidFill>
                <a:latin typeface="Georgia"/>
                <a:cs typeface="Georgia"/>
              </a:rPr>
              <a:t>any</a:t>
            </a:r>
            <a:r>
              <a:rPr sz="3900" dirty="0">
                <a:solidFill>
                  <a:srgbClr val="2E377E"/>
                </a:solidFill>
                <a:latin typeface="Georgia"/>
                <a:cs typeface="Georgia"/>
              </a:rPr>
              <a:t> </a:t>
            </a:r>
            <a:r>
              <a:rPr sz="3900" spc="-20" dirty="0">
                <a:solidFill>
                  <a:srgbClr val="2E377E"/>
                </a:solidFill>
                <a:latin typeface="Georgia"/>
                <a:cs typeface="Georgia"/>
              </a:rPr>
              <a:t>data </a:t>
            </a:r>
            <a:r>
              <a:rPr sz="3900" dirty="0">
                <a:solidFill>
                  <a:srgbClr val="2E377E"/>
                </a:solidFill>
                <a:latin typeface="Georgia"/>
                <a:cs typeface="Georgia"/>
              </a:rPr>
              <a:t>on</a:t>
            </a:r>
            <a:r>
              <a:rPr sz="3900" spc="20" dirty="0">
                <a:solidFill>
                  <a:srgbClr val="2E377E"/>
                </a:solidFill>
                <a:latin typeface="Georgia"/>
                <a:cs typeface="Georgia"/>
              </a:rPr>
              <a:t> </a:t>
            </a:r>
            <a:r>
              <a:rPr sz="3900" spc="80" dirty="0">
                <a:solidFill>
                  <a:srgbClr val="2E377E"/>
                </a:solidFill>
                <a:latin typeface="Georgia"/>
                <a:cs typeface="Georgia"/>
              </a:rPr>
              <a:t>worker</a:t>
            </a:r>
            <a:r>
              <a:rPr sz="3900" spc="20" dirty="0">
                <a:solidFill>
                  <a:srgbClr val="2E377E"/>
                </a:solidFill>
                <a:latin typeface="Georgia"/>
                <a:cs typeface="Georgia"/>
              </a:rPr>
              <a:t> </a:t>
            </a:r>
            <a:r>
              <a:rPr sz="3900" dirty="0">
                <a:solidFill>
                  <a:srgbClr val="2E377E"/>
                </a:solidFill>
                <a:latin typeface="Georgia"/>
                <a:cs typeface="Georgia"/>
              </a:rPr>
              <a:t>node</a:t>
            </a:r>
            <a:r>
              <a:rPr sz="3900" spc="20" dirty="0">
                <a:solidFill>
                  <a:srgbClr val="2E377E"/>
                </a:solidFill>
                <a:latin typeface="Georgia"/>
                <a:cs typeface="Georgia"/>
              </a:rPr>
              <a:t> </a:t>
            </a:r>
            <a:r>
              <a:rPr sz="3900" dirty="0">
                <a:solidFill>
                  <a:srgbClr val="2E377E"/>
                </a:solidFill>
                <a:latin typeface="Georgia"/>
                <a:cs typeface="Georgia"/>
              </a:rPr>
              <a:t>1,</a:t>
            </a:r>
            <a:r>
              <a:rPr sz="3900" spc="20" dirty="0">
                <a:solidFill>
                  <a:srgbClr val="2E377E"/>
                </a:solidFill>
                <a:latin typeface="Georgia"/>
                <a:cs typeface="Georgia"/>
              </a:rPr>
              <a:t> </a:t>
            </a:r>
            <a:r>
              <a:rPr sz="3900" dirty="0">
                <a:solidFill>
                  <a:srgbClr val="2E377E"/>
                </a:solidFill>
                <a:latin typeface="Georgia"/>
                <a:cs typeface="Georgia"/>
              </a:rPr>
              <a:t>hence</a:t>
            </a:r>
            <a:r>
              <a:rPr sz="3900" spc="20" dirty="0">
                <a:solidFill>
                  <a:srgbClr val="2E377E"/>
                </a:solidFill>
                <a:latin typeface="Georgia"/>
                <a:cs typeface="Georgia"/>
              </a:rPr>
              <a:t> </a:t>
            </a:r>
            <a:r>
              <a:rPr sz="3900" dirty="0">
                <a:solidFill>
                  <a:srgbClr val="2E377E"/>
                </a:solidFill>
                <a:latin typeface="Georgia"/>
                <a:cs typeface="Georgia"/>
              </a:rPr>
              <a:t>can</a:t>
            </a:r>
            <a:r>
              <a:rPr sz="3900" spc="25" dirty="0">
                <a:solidFill>
                  <a:srgbClr val="2E377E"/>
                </a:solidFill>
                <a:latin typeface="Georgia"/>
                <a:cs typeface="Georgia"/>
              </a:rPr>
              <a:t> </a:t>
            </a:r>
            <a:r>
              <a:rPr sz="3900" dirty="0">
                <a:solidFill>
                  <a:srgbClr val="2E377E"/>
                </a:solidFill>
                <a:latin typeface="Georgia"/>
                <a:cs typeface="Georgia"/>
              </a:rPr>
              <a:t>be</a:t>
            </a:r>
            <a:r>
              <a:rPr sz="3900" spc="20" dirty="0">
                <a:solidFill>
                  <a:srgbClr val="2E377E"/>
                </a:solidFill>
                <a:latin typeface="Georgia"/>
                <a:cs typeface="Georgia"/>
              </a:rPr>
              <a:t> </a:t>
            </a:r>
            <a:r>
              <a:rPr sz="3900" dirty="0">
                <a:solidFill>
                  <a:srgbClr val="2E377E"/>
                </a:solidFill>
                <a:latin typeface="Georgia"/>
                <a:cs typeface="Georgia"/>
              </a:rPr>
              <a:t>easily</a:t>
            </a:r>
            <a:r>
              <a:rPr sz="3900" spc="20" dirty="0">
                <a:solidFill>
                  <a:srgbClr val="2E377E"/>
                </a:solidFill>
                <a:latin typeface="Georgia"/>
                <a:cs typeface="Georgia"/>
              </a:rPr>
              <a:t> </a:t>
            </a:r>
            <a:r>
              <a:rPr sz="3900" dirty="0">
                <a:solidFill>
                  <a:srgbClr val="2E377E"/>
                </a:solidFill>
                <a:latin typeface="Georgia"/>
                <a:cs typeface="Georgia"/>
              </a:rPr>
              <a:t>replaced</a:t>
            </a:r>
            <a:r>
              <a:rPr sz="3900" spc="20" dirty="0">
                <a:solidFill>
                  <a:srgbClr val="2E377E"/>
                </a:solidFill>
                <a:latin typeface="Georgia"/>
                <a:cs typeface="Georgia"/>
              </a:rPr>
              <a:t> </a:t>
            </a:r>
            <a:r>
              <a:rPr sz="3900" spc="105" dirty="0">
                <a:solidFill>
                  <a:srgbClr val="2E377E"/>
                </a:solidFill>
                <a:latin typeface="Georgia"/>
                <a:cs typeface="Georgia"/>
              </a:rPr>
              <a:t>by</a:t>
            </a:r>
            <a:r>
              <a:rPr sz="3900" spc="20" dirty="0">
                <a:solidFill>
                  <a:srgbClr val="2E377E"/>
                </a:solidFill>
                <a:latin typeface="Georgia"/>
                <a:cs typeface="Georgia"/>
              </a:rPr>
              <a:t> </a:t>
            </a:r>
            <a:r>
              <a:rPr sz="3900" spc="100" dirty="0">
                <a:solidFill>
                  <a:srgbClr val="2E377E"/>
                </a:solidFill>
                <a:latin typeface="Georgia"/>
                <a:cs typeface="Georgia"/>
              </a:rPr>
              <a:t>new</a:t>
            </a:r>
            <a:r>
              <a:rPr sz="3900" spc="20" dirty="0">
                <a:solidFill>
                  <a:srgbClr val="2E377E"/>
                </a:solidFill>
                <a:latin typeface="Georgia"/>
                <a:cs typeface="Georgia"/>
              </a:rPr>
              <a:t> </a:t>
            </a:r>
            <a:r>
              <a:rPr sz="3900" dirty="0">
                <a:solidFill>
                  <a:srgbClr val="2E377E"/>
                </a:solidFill>
                <a:latin typeface="Georgia"/>
                <a:cs typeface="Georgia"/>
              </a:rPr>
              <a:t>pod</a:t>
            </a:r>
            <a:r>
              <a:rPr sz="3900" spc="25" dirty="0">
                <a:solidFill>
                  <a:srgbClr val="2E377E"/>
                </a:solidFill>
                <a:latin typeface="Georgia"/>
                <a:cs typeface="Georgia"/>
              </a:rPr>
              <a:t> </a:t>
            </a:r>
            <a:r>
              <a:rPr sz="3900" dirty="0">
                <a:solidFill>
                  <a:srgbClr val="2E377E"/>
                </a:solidFill>
                <a:latin typeface="Georgia"/>
                <a:cs typeface="Georgia"/>
              </a:rPr>
              <a:t>running</a:t>
            </a:r>
            <a:r>
              <a:rPr sz="3900" spc="20" dirty="0">
                <a:solidFill>
                  <a:srgbClr val="2E377E"/>
                </a:solidFill>
                <a:latin typeface="Georgia"/>
                <a:cs typeface="Georgia"/>
              </a:rPr>
              <a:t> </a:t>
            </a:r>
            <a:r>
              <a:rPr sz="3900" dirty="0">
                <a:solidFill>
                  <a:srgbClr val="2E377E"/>
                </a:solidFill>
                <a:latin typeface="Georgia"/>
                <a:cs typeface="Georgia"/>
              </a:rPr>
              <a:t>on</a:t>
            </a:r>
            <a:r>
              <a:rPr sz="3900" spc="20" dirty="0">
                <a:solidFill>
                  <a:srgbClr val="2E377E"/>
                </a:solidFill>
                <a:latin typeface="Georgia"/>
                <a:cs typeface="Georgia"/>
              </a:rPr>
              <a:t> </a:t>
            </a:r>
            <a:r>
              <a:rPr sz="3900" spc="-50" dirty="0">
                <a:solidFill>
                  <a:srgbClr val="2E377E"/>
                </a:solidFill>
                <a:latin typeface="Georgia"/>
                <a:cs typeface="Georgia"/>
              </a:rPr>
              <a:t>a </a:t>
            </a:r>
            <a:r>
              <a:rPr sz="3900" spc="50" dirty="0">
                <a:solidFill>
                  <a:srgbClr val="2E377E"/>
                </a:solidFill>
                <a:latin typeface="Georgia"/>
                <a:cs typeface="Georgia"/>
              </a:rPr>
              <a:t>different</a:t>
            </a:r>
            <a:r>
              <a:rPr sz="3900" spc="-20" dirty="0">
                <a:solidFill>
                  <a:srgbClr val="2E377E"/>
                </a:solidFill>
                <a:latin typeface="Georgia"/>
                <a:cs typeface="Georgia"/>
              </a:rPr>
              <a:t> </a:t>
            </a:r>
            <a:r>
              <a:rPr sz="3900" spc="80" dirty="0">
                <a:solidFill>
                  <a:srgbClr val="2E377E"/>
                </a:solidFill>
                <a:latin typeface="Georgia"/>
                <a:cs typeface="Georgia"/>
              </a:rPr>
              <a:t>worker</a:t>
            </a:r>
            <a:r>
              <a:rPr sz="3900" spc="-20" dirty="0">
                <a:solidFill>
                  <a:srgbClr val="2E377E"/>
                </a:solidFill>
                <a:latin typeface="Georgia"/>
                <a:cs typeface="Georgia"/>
              </a:rPr>
              <a:t> </a:t>
            </a:r>
            <a:r>
              <a:rPr sz="3900" dirty="0">
                <a:solidFill>
                  <a:srgbClr val="2E377E"/>
                </a:solidFill>
                <a:latin typeface="Georgia"/>
                <a:cs typeface="Georgia"/>
              </a:rPr>
              <a:t>node</a:t>
            </a:r>
            <a:r>
              <a:rPr sz="3900" spc="-20" dirty="0">
                <a:solidFill>
                  <a:srgbClr val="2E377E"/>
                </a:solidFill>
                <a:latin typeface="Georgia"/>
                <a:cs typeface="Georgia"/>
              </a:rPr>
              <a:t> </a:t>
            </a:r>
            <a:r>
              <a:rPr sz="3900" spc="-315" dirty="0">
                <a:solidFill>
                  <a:srgbClr val="2E377E"/>
                </a:solidFill>
                <a:latin typeface="Georgia"/>
                <a:cs typeface="Georgia"/>
              </a:rPr>
              <a:t>2</a:t>
            </a:r>
            <a:endParaRPr sz="3900">
              <a:latin typeface="Georgia"/>
              <a:cs typeface="Georgia"/>
            </a:endParaRPr>
          </a:p>
          <a:p>
            <a:pPr marL="200660">
              <a:lnSpc>
                <a:spcPct val="100000"/>
              </a:lnSpc>
              <a:spcBef>
                <a:spcPts val="4365"/>
              </a:spcBef>
            </a:pPr>
            <a:r>
              <a:rPr sz="3900" dirty="0">
                <a:solidFill>
                  <a:srgbClr val="2E377E"/>
                </a:solidFill>
                <a:latin typeface="Georgia"/>
                <a:cs typeface="Georgia"/>
              </a:rPr>
              <a:t>If</a:t>
            </a:r>
            <a:r>
              <a:rPr sz="3900" spc="-25" dirty="0">
                <a:solidFill>
                  <a:srgbClr val="2E377E"/>
                </a:solidFill>
                <a:latin typeface="Georgia"/>
                <a:cs typeface="Georgia"/>
              </a:rPr>
              <a:t> </a:t>
            </a:r>
            <a:r>
              <a:rPr sz="3900" spc="55" dirty="0">
                <a:solidFill>
                  <a:srgbClr val="2E377E"/>
                </a:solidFill>
                <a:latin typeface="Georgia"/>
                <a:cs typeface="Georgia"/>
              </a:rPr>
              <a:t>the</a:t>
            </a:r>
            <a:r>
              <a:rPr sz="3900" spc="-25" dirty="0">
                <a:solidFill>
                  <a:srgbClr val="2E377E"/>
                </a:solidFill>
                <a:latin typeface="Georgia"/>
                <a:cs typeface="Georgia"/>
              </a:rPr>
              <a:t> </a:t>
            </a:r>
            <a:r>
              <a:rPr sz="3900" dirty="0">
                <a:solidFill>
                  <a:srgbClr val="2E377E"/>
                </a:solidFill>
                <a:latin typeface="Georgia"/>
                <a:cs typeface="Georgia"/>
              </a:rPr>
              <a:t>pod</a:t>
            </a:r>
            <a:r>
              <a:rPr sz="3900" spc="-20" dirty="0">
                <a:solidFill>
                  <a:srgbClr val="2E377E"/>
                </a:solidFill>
                <a:latin typeface="Georgia"/>
                <a:cs typeface="Georgia"/>
              </a:rPr>
              <a:t> </a:t>
            </a:r>
            <a:r>
              <a:rPr sz="3900" dirty="0">
                <a:solidFill>
                  <a:srgbClr val="2E377E"/>
                </a:solidFill>
                <a:latin typeface="Georgia"/>
                <a:cs typeface="Georgia"/>
              </a:rPr>
              <a:t>is</a:t>
            </a:r>
            <a:r>
              <a:rPr sz="3900" spc="-25" dirty="0">
                <a:solidFill>
                  <a:srgbClr val="2E377E"/>
                </a:solidFill>
                <a:latin typeface="Georgia"/>
                <a:cs typeface="Georgia"/>
              </a:rPr>
              <a:t> </a:t>
            </a:r>
            <a:r>
              <a:rPr sz="3900" spc="55" dirty="0">
                <a:solidFill>
                  <a:srgbClr val="2E377E"/>
                </a:solidFill>
                <a:latin typeface="Georgia"/>
                <a:cs typeface="Georgia"/>
              </a:rPr>
              <a:t>not</a:t>
            </a:r>
            <a:r>
              <a:rPr sz="3900" spc="-25" dirty="0">
                <a:solidFill>
                  <a:srgbClr val="2E377E"/>
                </a:solidFill>
                <a:latin typeface="Georgia"/>
                <a:cs typeface="Georgia"/>
              </a:rPr>
              <a:t> </a:t>
            </a:r>
            <a:r>
              <a:rPr sz="3900" dirty="0">
                <a:solidFill>
                  <a:srgbClr val="2E377E"/>
                </a:solidFill>
                <a:latin typeface="Georgia"/>
                <a:cs typeface="Georgia"/>
              </a:rPr>
              <a:t>storing</a:t>
            </a:r>
            <a:r>
              <a:rPr sz="3900" spc="-20" dirty="0">
                <a:solidFill>
                  <a:srgbClr val="2E377E"/>
                </a:solidFill>
                <a:latin typeface="Georgia"/>
                <a:cs typeface="Georgia"/>
              </a:rPr>
              <a:t> </a:t>
            </a:r>
            <a:r>
              <a:rPr sz="3900" spc="55" dirty="0">
                <a:solidFill>
                  <a:srgbClr val="2E377E"/>
                </a:solidFill>
                <a:latin typeface="Georgia"/>
                <a:cs typeface="Georgia"/>
              </a:rPr>
              <a:t>the</a:t>
            </a:r>
            <a:r>
              <a:rPr sz="3900" spc="-25" dirty="0">
                <a:solidFill>
                  <a:srgbClr val="2E377E"/>
                </a:solidFill>
                <a:latin typeface="Georgia"/>
                <a:cs typeface="Georgia"/>
              </a:rPr>
              <a:t> </a:t>
            </a:r>
            <a:r>
              <a:rPr sz="3900" dirty="0">
                <a:solidFill>
                  <a:srgbClr val="2E377E"/>
                </a:solidFill>
                <a:latin typeface="Georgia"/>
                <a:cs typeface="Georgia"/>
              </a:rPr>
              <a:t>data</a:t>
            </a:r>
            <a:r>
              <a:rPr sz="3900" spc="-25" dirty="0">
                <a:solidFill>
                  <a:srgbClr val="2E377E"/>
                </a:solidFill>
                <a:latin typeface="Georgia"/>
                <a:cs typeface="Georgia"/>
              </a:rPr>
              <a:t> </a:t>
            </a:r>
            <a:r>
              <a:rPr sz="3900" spc="50" dirty="0">
                <a:solidFill>
                  <a:srgbClr val="2E377E"/>
                </a:solidFill>
                <a:latin typeface="Georgia"/>
                <a:cs typeface="Georgia"/>
              </a:rPr>
              <a:t>then</a:t>
            </a:r>
            <a:r>
              <a:rPr sz="3900" spc="-20" dirty="0">
                <a:solidFill>
                  <a:srgbClr val="2E377E"/>
                </a:solidFill>
                <a:latin typeface="Georgia"/>
                <a:cs typeface="Georgia"/>
              </a:rPr>
              <a:t> </a:t>
            </a:r>
            <a:r>
              <a:rPr sz="3900" spc="140" dirty="0">
                <a:solidFill>
                  <a:srgbClr val="2E377E"/>
                </a:solidFill>
                <a:latin typeface="Georgia"/>
                <a:cs typeface="Georgia"/>
              </a:rPr>
              <a:t>we</a:t>
            </a:r>
            <a:r>
              <a:rPr sz="3900" spc="-25" dirty="0">
                <a:solidFill>
                  <a:srgbClr val="2E377E"/>
                </a:solidFill>
                <a:latin typeface="Georgia"/>
                <a:cs typeface="Georgia"/>
              </a:rPr>
              <a:t> </a:t>
            </a:r>
            <a:r>
              <a:rPr sz="3900" dirty="0">
                <a:solidFill>
                  <a:srgbClr val="2E377E"/>
                </a:solidFill>
                <a:latin typeface="Georgia"/>
                <a:cs typeface="Georgia"/>
              </a:rPr>
              <a:t>called</a:t>
            </a:r>
            <a:r>
              <a:rPr sz="3900" spc="-20" dirty="0">
                <a:solidFill>
                  <a:srgbClr val="2E377E"/>
                </a:solidFill>
                <a:latin typeface="Georgia"/>
                <a:cs typeface="Georgia"/>
              </a:rPr>
              <a:t> </a:t>
            </a:r>
            <a:r>
              <a:rPr sz="3900" spc="65" dirty="0">
                <a:solidFill>
                  <a:srgbClr val="2E377E"/>
                </a:solidFill>
                <a:latin typeface="Georgia"/>
                <a:cs typeface="Georgia"/>
              </a:rPr>
              <a:t>it</a:t>
            </a:r>
            <a:r>
              <a:rPr sz="3900" spc="-25" dirty="0">
                <a:solidFill>
                  <a:srgbClr val="2E377E"/>
                </a:solidFill>
                <a:latin typeface="Georgia"/>
                <a:cs typeface="Georgia"/>
              </a:rPr>
              <a:t> </a:t>
            </a:r>
            <a:r>
              <a:rPr sz="3900" dirty="0">
                <a:solidFill>
                  <a:srgbClr val="2E377E"/>
                </a:solidFill>
                <a:latin typeface="Georgia"/>
                <a:cs typeface="Georgia"/>
              </a:rPr>
              <a:t>as</a:t>
            </a:r>
            <a:r>
              <a:rPr sz="3900" spc="-25" dirty="0">
                <a:solidFill>
                  <a:srgbClr val="2E377E"/>
                </a:solidFill>
                <a:latin typeface="Georgia"/>
                <a:cs typeface="Georgia"/>
              </a:rPr>
              <a:t> </a:t>
            </a:r>
            <a:r>
              <a:rPr sz="3900" spc="-10" dirty="0">
                <a:solidFill>
                  <a:srgbClr val="2E377E"/>
                </a:solidFill>
                <a:latin typeface="Times New Roman"/>
                <a:cs typeface="Times New Roman"/>
              </a:rPr>
              <a:t>STATELESS</a:t>
            </a:r>
            <a:endParaRPr sz="3900">
              <a:latin typeface="Times New Roman"/>
              <a:cs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5039" y="336614"/>
            <a:ext cx="6761480" cy="682625"/>
          </a:xfrm>
          <a:prstGeom prst="rect">
            <a:avLst/>
          </a:prstGeom>
        </p:spPr>
        <p:txBody>
          <a:bodyPr vert="horz" wrap="square" lIns="0" tIns="13970" rIns="0" bIns="0" rtlCol="0">
            <a:spAutoFit/>
          </a:bodyPr>
          <a:lstStyle/>
          <a:p>
            <a:pPr marL="12700">
              <a:lnSpc>
                <a:spcPct val="100000"/>
              </a:lnSpc>
              <a:spcBef>
                <a:spcPts val="110"/>
              </a:spcBef>
            </a:pPr>
            <a:r>
              <a:rPr sz="4300" spc="-245" dirty="0">
                <a:solidFill>
                  <a:srgbClr val="FF3131"/>
                </a:solidFill>
              </a:rPr>
              <a:t>STATELESS</a:t>
            </a:r>
            <a:r>
              <a:rPr sz="4300" spc="5" dirty="0">
                <a:solidFill>
                  <a:srgbClr val="FF3131"/>
                </a:solidFill>
              </a:rPr>
              <a:t> </a:t>
            </a:r>
            <a:r>
              <a:rPr sz="4300" spc="-165" dirty="0">
                <a:solidFill>
                  <a:srgbClr val="FF3131"/>
                </a:solidFill>
              </a:rPr>
              <a:t>APPLICATION:</a:t>
            </a:r>
            <a:endParaRPr sz="4300"/>
          </a:p>
        </p:txBody>
      </p:sp>
      <p:pic>
        <p:nvPicPr>
          <p:cNvPr id="3" name="object 3"/>
          <p:cNvPicPr/>
          <p:nvPr/>
        </p:nvPicPr>
        <p:blipFill>
          <a:blip r:embed="rId2" cstate="print"/>
          <a:stretch>
            <a:fillRect/>
          </a:stretch>
        </p:blipFill>
        <p:spPr>
          <a:xfrm>
            <a:off x="1251113" y="1859815"/>
            <a:ext cx="133350" cy="133349"/>
          </a:xfrm>
          <a:prstGeom prst="rect">
            <a:avLst/>
          </a:prstGeom>
        </p:spPr>
      </p:pic>
      <p:sp>
        <p:nvSpPr>
          <p:cNvPr id="4" name="object 4"/>
          <p:cNvSpPr txBox="1"/>
          <p:nvPr/>
        </p:nvSpPr>
        <p:spPr>
          <a:xfrm>
            <a:off x="1567919" y="1500405"/>
            <a:ext cx="16069944" cy="6014085"/>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It</a:t>
            </a:r>
            <a:r>
              <a:rPr sz="3600" spc="-25" dirty="0">
                <a:solidFill>
                  <a:srgbClr val="2E377E"/>
                </a:solidFill>
                <a:latin typeface="Georgia"/>
                <a:cs typeface="Georgia"/>
              </a:rPr>
              <a:t> </a:t>
            </a:r>
            <a:r>
              <a:rPr sz="3600" dirty="0">
                <a:solidFill>
                  <a:srgbClr val="2E377E"/>
                </a:solidFill>
                <a:latin typeface="Georgia"/>
                <a:cs typeface="Georgia"/>
              </a:rPr>
              <a:t>can't</a:t>
            </a:r>
            <a:r>
              <a:rPr sz="3600" spc="-20" dirty="0">
                <a:solidFill>
                  <a:srgbClr val="2E377E"/>
                </a:solidFill>
                <a:latin typeface="Georgia"/>
                <a:cs typeface="Georgia"/>
              </a:rPr>
              <a:t> </a:t>
            </a:r>
            <a:r>
              <a:rPr sz="3600" spc="55" dirty="0">
                <a:solidFill>
                  <a:srgbClr val="2E377E"/>
                </a:solidFill>
                <a:latin typeface="Georgia"/>
                <a:cs typeface="Georgia"/>
              </a:rPr>
              <a:t>store</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data</a:t>
            </a:r>
            <a:r>
              <a:rPr sz="3600" spc="-25" dirty="0">
                <a:solidFill>
                  <a:srgbClr val="2E377E"/>
                </a:solidFill>
                <a:latin typeface="Georgia"/>
                <a:cs typeface="Georgia"/>
              </a:rPr>
              <a:t> </a:t>
            </a:r>
            <a:r>
              <a:rPr sz="3600" spc="-10" dirty="0">
                <a:solidFill>
                  <a:srgbClr val="2E377E"/>
                </a:solidFill>
                <a:latin typeface="Georgia"/>
                <a:cs typeface="Georgia"/>
              </a:rPr>
              <a:t>permanently.</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The</a:t>
            </a:r>
            <a:r>
              <a:rPr sz="3600" spc="-10" dirty="0">
                <a:solidFill>
                  <a:srgbClr val="2E377E"/>
                </a:solidFill>
                <a:latin typeface="Georgia"/>
                <a:cs typeface="Georgia"/>
              </a:rPr>
              <a:t> </a:t>
            </a:r>
            <a:r>
              <a:rPr sz="3600" spc="70" dirty="0">
                <a:solidFill>
                  <a:srgbClr val="2E377E"/>
                </a:solidFill>
                <a:latin typeface="Georgia"/>
                <a:cs typeface="Georgia"/>
              </a:rPr>
              <a:t>word</a:t>
            </a:r>
            <a:r>
              <a:rPr sz="3600" spc="-5" dirty="0">
                <a:solidFill>
                  <a:srgbClr val="2E377E"/>
                </a:solidFill>
                <a:latin typeface="Georgia"/>
                <a:cs typeface="Georgia"/>
              </a:rPr>
              <a:t> </a:t>
            </a:r>
            <a:r>
              <a:rPr sz="3600" spc="-120" dirty="0">
                <a:solidFill>
                  <a:srgbClr val="2E377E"/>
                </a:solidFill>
                <a:latin typeface="Georgia"/>
                <a:cs typeface="Georgia"/>
              </a:rPr>
              <a:t>STATELESS</a:t>
            </a:r>
            <a:r>
              <a:rPr sz="3600" spc="-5" dirty="0">
                <a:solidFill>
                  <a:srgbClr val="2E377E"/>
                </a:solidFill>
                <a:latin typeface="Georgia"/>
                <a:cs typeface="Georgia"/>
              </a:rPr>
              <a:t> </a:t>
            </a:r>
            <a:r>
              <a:rPr sz="3600" dirty="0">
                <a:solidFill>
                  <a:srgbClr val="2E377E"/>
                </a:solidFill>
                <a:latin typeface="Georgia"/>
                <a:cs typeface="Georgia"/>
              </a:rPr>
              <a:t>means</a:t>
            </a:r>
            <a:r>
              <a:rPr sz="3600" spc="-5" dirty="0">
                <a:solidFill>
                  <a:srgbClr val="2E377E"/>
                </a:solidFill>
                <a:latin typeface="Georgia"/>
                <a:cs typeface="Georgia"/>
              </a:rPr>
              <a:t> </a:t>
            </a:r>
            <a:r>
              <a:rPr sz="3600" dirty="0">
                <a:solidFill>
                  <a:srgbClr val="2E377E"/>
                </a:solidFill>
                <a:latin typeface="Georgia"/>
                <a:cs typeface="Georgia"/>
              </a:rPr>
              <a:t>no</a:t>
            </a:r>
            <a:r>
              <a:rPr sz="3600" spc="-10" dirty="0">
                <a:solidFill>
                  <a:srgbClr val="2E377E"/>
                </a:solidFill>
                <a:latin typeface="Georgia"/>
                <a:cs typeface="Georgia"/>
              </a:rPr>
              <a:t> </a:t>
            </a:r>
            <a:r>
              <a:rPr sz="3600" dirty="0">
                <a:solidFill>
                  <a:srgbClr val="2E377E"/>
                </a:solidFill>
                <a:latin typeface="Georgia"/>
                <a:cs typeface="Georgia"/>
              </a:rPr>
              <a:t>past</a:t>
            </a:r>
            <a:r>
              <a:rPr sz="3600" spc="-5" dirty="0">
                <a:solidFill>
                  <a:srgbClr val="2E377E"/>
                </a:solidFill>
                <a:latin typeface="Georgia"/>
                <a:cs typeface="Georgia"/>
              </a:rPr>
              <a:t> </a:t>
            </a:r>
            <a:r>
              <a:rPr sz="3600" spc="-10" dirty="0">
                <a:solidFill>
                  <a:srgbClr val="2E377E"/>
                </a:solidFill>
                <a:latin typeface="Georgia"/>
                <a:cs typeface="Georgia"/>
              </a:rPr>
              <a:t>data.</a:t>
            </a:r>
            <a:endParaRPr sz="3600">
              <a:latin typeface="Georgia"/>
              <a:cs typeface="Georgia"/>
            </a:endParaRPr>
          </a:p>
          <a:p>
            <a:pPr marL="12700" marR="302260">
              <a:lnSpc>
                <a:spcPct val="116300"/>
              </a:lnSpc>
            </a:pPr>
            <a:r>
              <a:rPr sz="3600" dirty="0">
                <a:solidFill>
                  <a:srgbClr val="2E377E"/>
                </a:solidFill>
                <a:latin typeface="Georgia"/>
                <a:cs typeface="Georgia"/>
              </a:rPr>
              <a:t>It</a:t>
            </a:r>
            <a:r>
              <a:rPr sz="3600" spc="-10" dirty="0">
                <a:solidFill>
                  <a:srgbClr val="2E377E"/>
                </a:solidFill>
                <a:latin typeface="Georgia"/>
                <a:cs typeface="Georgia"/>
              </a:rPr>
              <a:t> </a:t>
            </a:r>
            <a:r>
              <a:rPr sz="3600" dirty="0">
                <a:solidFill>
                  <a:srgbClr val="2E377E"/>
                </a:solidFill>
                <a:latin typeface="Georgia"/>
                <a:cs typeface="Georgia"/>
              </a:rPr>
              <a:t>depends</a:t>
            </a:r>
            <a:r>
              <a:rPr sz="3600" spc="-10" dirty="0">
                <a:solidFill>
                  <a:srgbClr val="2E377E"/>
                </a:solidFill>
                <a:latin typeface="Georgia"/>
                <a:cs typeface="Georgia"/>
              </a:rPr>
              <a:t> </a:t>
            </a:r>
            <a:r>
              <a:rPr sz="3600" dirty="0">
                <a:solidFill>
                  <a:srgbClr val="2E377E"/>
                </a:solidFill>
                <a:latin typeface="Georgia"/>
                <a:cs typeface="Georgia"/>
              </a:rPr>
              <a:t>on</a:t>
            </a:r>
            <a:r>
              <a:rPr sz="3600" spc="-10" dirty="0">
                <a:solidFill>
                  <a:srgbClr val="2E377E"/>
                </a:solidFill>
                <a:latin typeface="Georgia"/>
                <a:cs typeface="Georgia"/>
              </a:rPr>
              <a:t> </a:t>
            </a:r>
            <a:r>
              <a:rPr sz="3600" dirty="0">
                <a:solidFill>
                  <a:srgbClr val="2E377E"/>
                </a:solidFill>
                <a:latin typeface="Georgia"/>
                <a:cs typeface="Georgia"/>
              </a:rPr>
              <a:t>non-</a:t>
            </a:r>
            <a:r>
              <a:rPr sz="3600" spc="50" dirty="0">
                <a:solidFill>
                  <a:srgbClr val="2E377E"/>
                </a:solidFill>
                <a:latin typeface="Georgia"/>
                <a:cs typeface="Georgia"/>
              </a:rPr>
              <a:t>persistent</a:t>
            </a:r>
            <a:r>
              <a:rPr sz="3600" spc="-10" dirty="0">
                <a:solidFill>
                  <a:srgbClr val="2E377E"/>
                </a:solidFill>
                <a:latin typeface="Georgia"/>
                <a:cs typeface="Georgia"/>
              </a:rPr>
              <a:t> </a:t>
            </a:r>
            <a:r>
              <a:rPr sz="3600" dirty="0">
                <a:solidFill>
                  <a:srgbClr val="2E377E"/>
                </a:solidFill>
                <a:latin typeface="Georgia"/>
                <a:cs typeface="Georgia"/>
              </a:rPr>
              <a:t>data</a:t>
            </a:r>
            <a:r>
              <a:rPr sz="3600" spc="-10" dirty="0">
                <a:solidFill>
                  <a:srgbClr val="2E377E"/>
                </a:solidFill>
                <a:latin typeface="Georgia"/>
                <a:cs typeface="Georgia"/>
              </a:rPr>
              <a:t> </a:t>
            </a:r>
            <a:r>
              <a:rPr sz="3600" dirty="0">
                <a:solidFill>
                  <a:srgbClr val="2E377E"/>
                </a:solidFill>
                <a:latin typeface="Georgia"/>
                <a:cs typeface="Georgia"/>
              </a:rPr>
              <a:t>means</a:t>
            </a:r>
            <a:r>
              <a:rPr sz="3600" spc="-5" dirty="0">
                <a:solidFill>
                  <a:srgbClr val="2E377E"/>
                </a:solidFill>
                <a:latin typeface="Georgia"/>
                <a:cs typeface="Georgia"/>
              </a:rPr>
              <a:t> </a:t>
            </a:r>
            <a:r>
              <a:rPr sz="3600" dirty="0">
                <a:solidFill>
                  <a:srgbClr val="2E377E"/>
                </a:solidFill>
                <a:latin typeface="Georgia"/>
                <a:cs typeface="Georgia"/>
              </a:rPr>
              <a:t>data</a:t>
            </a:r>
            <a:r>
              <a:rPr sz="3600" spc="-10" dirty="0">
                <a:solidFill>
                  <a:srgbClr val="2E377E"/>
                </a:solidFill>
                <a:latin typeface="Georgia"/>
                <a:cs typeface="Georgia"/>
              </a:rPr>
              <a:t> </a:t>
            </a:r>
            <a:r>
              <a:rPr sz="3600" dirty="0">
                <a:solidFill>
                  <a:srgbClr val="2E377E"/>
                </a:solidFill>
                <a:latin typeface="Georgia"/>
                <a:cs typeface="Georgia"/>
              </a:rPr>
              <a:t>is</a:t>
            </a:r>
            <a:r>
              <a:rPr sz="3600" spc="-10" dirty="0">
                <a:solidFill>
                  <a:srgbClr val="2E377E"/>
                </a:solidFill>
                <a:latin typeface="Georgia"/>
                <a:cs typeface="Georgia"/>
              </a:rPr>
              <a:t> </a:t>
            </a:r>
            <a:r>
              <a:rPr sz="3600" spc="60" dirty="0">
                <a:solidFill>
                  <a:srgbClr val="2E377E"/>
                </a:solidFill>
                <a:latin typeface="Georgia"/>
                <a:cs typeface="Georgia"/>
              </a:rPr>
              <a:t>removed</a:t>
            </a:r>
            <a:r>
              <a:rPr sz="3600" spc="-10" dirty="0">
                <a:solidFill>
                  <a:srgbClr val="2E377E"/>
                </a:solidFill>
                <a:latin typeface="Georgia"/>
                <a:cs typeface="Georgia"/>
              </a:rPr>
              <a:t> </a:t>
            </a:r>
            <a:r>
              <a:rPr sz="3600" spc="75" dirty="0">
                <a:solidFill>
                  <a:srgbClr val="2E377E"/>
                </a:solidFill>
                <a:latin typeface="Georgia"/>
                <a:cs typeface="Georgia"/>
              </a:rPr>
              <a:t>when</a:t>
            </a:r>
            <a:r>
              <a:rPr sz="3600" spc="-10" dirty="0">
                <a:solidFill>
                  <a:srgbClr val="2E377E"/>
                </a:solidFill>
                <a:latin typeface="Georgia"/>
                <a:cs typeface="Georgia"/>
              </a:rPr>
              <a:t> </a:t>
            </a:r>
            <a:r>
              <a:rPr sz="3600" dirty="0">
                <a:solidFill>
                  <a:srgbClr val="2E377E"/>
                </a:solidFill>
                <a:latin typeface="Georgia"/>
                <a:cs typeface="Georgia"/>
              </a:rPr>
              <a:t>Pod,</a:t>
            </a:r>
            <a:r>
              <a:rPr sz="3600" spc="-5" dirty="0">
                <a:solidFill>
                  <a:srgbClr val="2E377E"/>
                </a:solidFill>
                <a:latin typeface="Georgia"/>
                <a:cs typeface="Georgia"/>
              </a:rPr>
              <a:t> </a:t>
            </a:r>
            <a:r>
              <a:rPr sz="3600" dirty="0">
                <a:solidFill>
                  <a:srgbClr val="2E377E"/>
                </a:solidFill>
                <a:latin typeface="Georgia"/>
                <a:cs typeface="Georgia"/>
              </a:rPr>
              <a:t>Node</a:t>
            </a:r>
            <a:r>
              <a:rPr sz="3600" spc="-10" dirty="0">
                <a:solidFill>
                  <a:srgbClr val="2E377E"/>
                </a:solidFill>
                <a:latin typeface="Georgia"/>
                <a:cs typeface="Georgia"/>
              </a:rPr>
              <a:t> </a:t>
            </a:r>
            <a:r>
              <a:rPr sz="3600" spc="-25" dirty="0">
                <a:solidFill>
                  <a:srgbClr val="2E377E"/>
                </a:solidFill>
                <a:latin typeface="Georgia"/>
                <a:cs typeface="Georgia"/>
              </a:rPr>
              <a:t>or </a:t>
            </a:r>
            <a:r>
              <a:rPr sz="3600" dirty="0">
                <a:solidFill>
                  <a:srgbClr val="2E377E"/>
                </a:solidFill>
                <a:latin typeface="Georgia"/>
                <a:cs typeface="Georgia"/>
              </a:rPr>
              <a:t>Cluster</a:t>
            </a:r>
            <a:r>
              <a:rPr sz="3600" spc="100" dirty="0">
                <a:solidFill>
                  <a:srgbClr val="2E377E"/>
                </a:solidFill>
                <a:latin typeface="Georgia"/>
                <a:cs typeface="Georgia"/>
              </a:rPr>
              <a:t> </a:t>
            </a:r>
            <a:r>
              <a:rPr sz="3600" dirty="0">
                <a:solidFill>
                  <a:srgbClr val="2E377E"/>
                </a:solidFill>
                <a:latin typeface="Georgia"/>
                <a:cs typeface="Georgia"/>
              </a:rPr>
              <a:t>is</a:t>
            </a:r>
            <a:r>
              <a:rPr sz="3600" spc="105" dirty="0">
                <a:solidFill>
                  <a:srgbClr val="2E377E"/>
                </a:solidFill>
                <a:latin typeface="Georgia"/>
                <a:cs typeface="Georgia"/>
              </a:rPr>
              <a:t> </a:t>
            </a:r>
            <a:r>
              <a:rPr sz="3600" spc="-10" dirty="0">
                <a:solidFill>
                  <a:srgbClr val="2E377E"/>
                </a:solidFill>
                <a:latin typeface="Georgia"/>
                <a:cs typeface="Georgia"/>
              </a:rPr>
              <a:t>stopped.</a:t>
            </a:r>
            <a:endParaRPr sz="3600">
              <a:latin typeface="Georgia"/>
              <a:cs typeface="Georgia"/>
            </a:endParaRPr>
          </a:p>
          <a:p>
            <a:pPr marL="12700" marR="5080">
              <a:lnSpc>
                <a:spcPct val="116300"/>
              </a:lnSpc>
            </a:pPr>
            <a:r>
              <a:rPr sz="3600" spc="-20" dirty="0">
                <a:solidFill>
                  <a:srgbClr val="2E377E"/>
                </a:solidFill>
                <a:latin typeface="Georgia"/>
                <a:cs typeface="Georgia"/>
              </a:rPr>
              <a:t>Non-</a:t>
            </a:r>
            <a:r>
              <a:rPr sz="3600" spc="50" dirty="0">
                <a:solidFill>
                  <a:srgbClr val="2E377E"/>
                </a:solidFill>
                <a:latin typeface="Georgia"/>
                <a:cs typeface="Georgia"/>
              </a:rPr>
              <a:t>persistent</a:t>
            </a:r>
            <a:r>
              <a:rPr sz="3600" spc="35" dirty="0">
                <a:solidFill>
                  <a:srgbClr val="2E377E"/>
                </a:solidFill>
                <a:latin typeface="Georgia"/>
                <a:cs typeface="Georgia"/>
              </a:rPr>
              <a:t> </a:t>
            </a:r>
            <a:r>
              <a:rPr sz="3600" dirty="0">
                <a:solidFill>
                  <a:srgbClr val="2E377E"/>
                </a:solidFill>
                <a:latin typeface="Georgia"/>
                <a:cs typeface="Georgia"/>
              </a:rPr>
              <a:t>mainly</a:t>
            </a:r>
            <a:r>
              <a:rPr sz="3600" spc="35" dirty="0">
                <a:solidFill>
                  <a:srgbClr val="2E377E"/>
                </a:solidFill>
                <a:latin typeface="Georgia"/>
                <a:cs typeface="Georgia"/>
              </a:rPr>
              <a:t> </a:t>
            </a:r>
            <a:r>
              <a:rPr sz="3600" dirty="0">
                <a:solidFill>
                  <a:srgbClr val="2E377E"/>
                </a:solidFill>
                <a:latin typeface="Georgia"/>
                <a:cs typeface="Georgia"/>
              </a:rPr>
              <a:t>used</a:t>
            </a:r>
            <a:r>
              <a:rPr sz="3600" spc="35" dirty="0">
                <a:solidFill>
                  <a:srgbClr val="2E377E"/>
                </a:solidFill>
                <a:latin typeface="Georgia"/>
                <a:cs typeface="Georgia"/>
              </a:rPr>
              <a:t> </a:t>
            </a:r>
            <a:r>
              <a:rPr sz="3600" dirty="0">
                <a:solidFill>
                  <a:srgbClr val="2E377E"/>
                </a:solidFill>
                <a:latin typeface="Georgia"/>
                <a:cs typeface="Georgia"/>
              </a:rPr>
              <a:t>for</a:t>
            </a:r>
            <a:r>
              <a:rPr sz="3600" spc="35" dirty="0">
                <a:solidFill>
                  <a:srgbClr val="2E377E"/>
                </a:solidFill>
                <a:latin typeface="Georgia"/>
                <a:cs typeface="Georgia"/>
              </a:rPr>
              <a:t> </a:t>
            </a:r>
            <a:r>
              <a:rPr sz="3600" dirty="0">
                <a:solidFill>
                  <a:srgbClr val="2E377E"/>
                </a:solidFill>
                <a:latin typeface="Georgia"/>
                <a:cs typeface="Georgia"/>
              </a:rPr>
              <a:t>logging</a:t>
            </a:r>
            <a:r>
              <a:rPr sz="3600" spc="40" dirty="0">
                <a:solidFill>
                  <a:srgbClr val="2E377E"/>
                </a:solidFill>
                <a:latin typeface="Georgia"/>
                <a:cs typeface="Georgia"/>
              </a:rPr>
              <a:t> </a:t>
            </a:r>
            <a:r>
              <a:rPr sz="3600" dirty="0">
                <a:solidFill>
                  <a:srgbClr val="2E377E"/>
                </a:solidFill>
                <a:latin typeface="Georgia"/>
                <a:cs typeface="Georgia"/>
              </a:rPr>
              <a:t>info</a:t>
            </a:r>
            <a:r>
              <a:rPr sz="3600" spc="35" dirty="0">
                <a:solidFill>
                  <a:srgbClr val="2E377E"/>
                </a:solidFill>
                <a:latin typeface="Georgia"/>
                <a:cs typeface="Georgia"/>
              </a:rPr>
              <a:t> </a:t>
            </a:r>
            <a:r>
              <a:rPr sz="3600" spc="-65" dirty="0">
                <a:solidFill>
                  <a:srgbClr val="2E377E"/>
                </a:solidFill>
                <a:latin typeface="Georgia"/>
                <a:cs typeface="Georgia"/>
              </a:rPr>
              <a:t>(ex:</a:t>
            </a:r>
            <a:r>
              <a:rPr sz="3600" spc="35" dirty="0">
                <a:solidFill>
                  <a:srgbClr val="2E377E"/>
                </a:solidFill>
                <a:latin typeface="Georgia"/>
                <a:cs typeface="Georgia"/>
              </a:rPr>
              <a:t> </a:t>
            </a:r>
            <a:r>
              <a:rPr sz="3600" spc="80" dirty="0">
                <a:solidFill>
                  <a:srgbClr val="2E377E"/>
                </a:solidFill>
                <a:latin typeface="Georgia"/>
                <a:cs typeface="Georgia"/>
              </a:rPr>
              <a:t>system</a:t>
            </a:r>
            <a:r>
              <a:rPr sz="3600" spc="35" dirty="0">
                <a:solidFill>
                  <a:srgbClr val="2E377E"/>
                </a:solidFill>
                <a:latin typeface="Georgia"/>
                <a:cs typeface="Georgia"/>
              </a:rPr>
              <a:t> </a:t>
            </a:r>
            <a:r>
              <a:rPr sz="3600" dirty="0">
                <a:solidFill>
                  <a:srgbClr val="2E377E"/>
                </a:solidFill>
                <a:latin typeface="Georgia"/>
                <a:cs typeface="Georgia"/>
              </a:rPr>
              <a:t>log,</a:t>
            </a:r>
            <a:r>
              <a:rPr sz="3600" spc="40" dirty="0">
                <a:solidFill>
                  <a:srgbClr val="2E377E"/>
                </a:solidFill>
                <a:latin typeface="Georgia"/>
                <a:cs typeface="Georgia"/>
              </a:rPr>
              <a:t> </a:t>
            </a:r>
            <a:r>
              <a:rPr sz="3600" dirty="0">
                <a:solidFill>
                  <a:srgbClr val="2E377E"/>
                </a:solidFill>
                <a:latin typeface="Georgia"/>
                <a:cs typeface="Georgia"/>
              </a:rPr>
              <a:t>container</a:t>
            </a:r>
            <a:r>
              <a:rPr sz="3600" spc="35" dirty="0">
                <a:solidFill>
                  <a:srgbClr val="2E377E"/>
                </a:solidFill>
                <a:latin typeface="Georgia"/>
                <a:cs typeface="Georgia"/>
              </a:rPr>
              <a:t> </a:t>
            </a:r>
            <a:r>
              <a:rPr sz="3600" dirty="0">
                <a:solidFill>
                  <a:srgbClr val="2E377E"/>
                </a:solidFill>
                <a:latin typeface="Georgia"/>
                <a:cs typeface="Georgia"/>
              </a:rPr>
              <a:t>log</a:t>
            </a:r>
            <a:r>
              <a:rPr sz="3600" spc="35" dirty="0">
                <a:solidFill>
                  <a:srgbClr val="2E377E"/>
                </a:solidFill>
                <a:latin typeface="Georgia"/>
                <a:cs typeface="Georgia"/>
              </a:rPr>
              <a:t> </a:t>
            </a:r>
            <a:r>
              <a:rPr sz="3600" spc="-10" dirty="0">
                <a:solidFill>
                  <a:srgbClr val="2E377E"/>
                </a:solidFill>
                <a:latin typeface="Georgia"/>
                <a:cs typeface="Georgia"/>
              </a:rPr>
              <a:t>etc..) </a:t>
            </a:r>
            <a:r>
              <a:rPr sz="3600" dirty="0">
                <a:solidFill>
                  <a:srgbClr val="2E377E"/>
                </a:solidFill>
                <a:latin typeface="Georgia"/>
                <a:cs typeface="Georgia"/>
              </a:rPr>
              <a:t>In</a:t>
            </a:r>
            <a:r>
              <a:rPr sz="3600" spc="10" dirty="0">
                <a:solidFill>
                  <a:srgbClr val="2E377E"/>
                </a:solidFill>
                <a:latin typeface="Georgia"/>
                <a:cs typeface="Georgia"/>
              </a:rPr>
              <a:t> </a:t>
            </a:r>
            <a:r>
              <a:rPr sz="3600" dirty="0">
                <a:solidFill>
                  <a:srgbClr val="2E377E"/>
                </a:solidFill>
                <a:latin typeface="Georgia"/>
                <a:cs typeface="Georgia"/>
              </a:rPr>
              <a:t>order</a:t>
            </a:r>
            <a:r>
              <a:rPr sz="3600" spc="15"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avoid</a:t>
            </a:r>
            <a:r>
              <a:rPr sz="3600" spc="15"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a:t>
            </a:r>
            <a:r>
              <a:rPr sz="3600" dirty="0">
                <a:solidFill>
                  <a:srgbClr val="2E377E"/>
                </a:solidFill>
                <a:latin typeface="Georgia"/>
                <a:cs typeface="Georgia"/>
              </a:rPr>
              <a:t>problem,</a:t>
            </a:r>
            <a:r>
              <a:rPr sz="3600" spc="15" dirty="0">
                <a:solidFill>
                  <a:srgbClr val="2E377E"/>
                </a:solidFill>
                <a:latin typeface="Georgia"/>
                <a:cs typeface="Georgia"/>
              </a:rPr>
              <a:t> </a:t>
            </a:r>
            <a:r>
              <a:rPr sz="3600" spc="140" dirty="0">
                <a:solidFill>
                  <a:srgbClr val="2E377E"/>
                </a:solidFill>
                <a:latin typeface="Georgia"/>
                <a:cs typeface="Georgia"/>
              </a:rPr>
              <a:t>we</a:t>
            </a:r>
            <a:r>
              <a:rPr sz="3600" spc="15" dirty="0">
                <a:solidFill>
                  <a:srgbClr val="2E377E"/>
                </a:solidFill>
                <a:latin typeface="Georgia"/>
                <a:cs typeface="Georgia"/>
              </a:rPr>
              <a:t> </a:t>
            </a:r>
            <a:r>
              <a:rPr sz="3600" dirty="0">
                <a:solidFill>
                  <a:srgbClr val="2E377E"/>
                </a:solidFill>
                <a:latin typeface="Georgia"/>
                <a:cs typeface="Georgia"/>
              </a:rPr>
              <a:t>are</a:t>
            </a:r>
            <a:r>
              <a:rPr sz="3600" spc="10" dirty="0">
                <a:solidFill>
                  <a:srgbClr val="2E377E"/>
                </a:solidFill>
                <a:latin typeface="Georgia"/>
                <a:cs typeface="Georgia"/>
              </a:rPr>
              <a:t> </a:t>
            </a:r>
            <a:r>
              <a:rPr sz="3600" dirty="0">
                <a:solidFill>
                  <a:srgbClr val="2E377E"/>
                </a:solidFill>
                <a:latin typeface="Georgia"/>
                <a:cs typeface="Georgia"/>
              </a:rPr>
              <a:t>using</a:t>
            </a:r>
            <a:r>
              <a:rPr sz="3600" spc="15" dirty="0">
                <a:solidFill>
                  <a:srgbClr val="2E377E"/>
                </a:solidFill>
                <a:latin typeface="Georgia"/>
                <a:cs typeface="Georgia"/>
              </a:rPr>
              <a:t> </a:t>
            </a:r>
            <a:r>
              <a:rPr sz="3600" spc="55" dirty="0">
                <a:solidFill>
                  <a:srgbClr val="2E377E"/>
                </a:solidFill>
                <a:latin typeface="Georgia"/>
                <a:cs typeface="Georgia"/>
              </a:rPr>
              <a:t>stateful</a:t>
            </a:r>
            <a:r>
              <a:rPr sz="3600" spc="10" dirty="0">
                <a:solidFill>
                  <a:srgbClr val="2E377E"/>
                </a:solidFill>
                <a:latin typeface="Georgia"/>
                <a:cs typeface="Georgia"/>
              </a:rPr>
              <a:t> </a:t>
            </a:r>
            <a:r>
              <a:rPr sz="3600" spc="-10" dirty="0">
                <a:solidFill>
                  <a:srgbClr val="2E377E"/>
                </a:solidFill>
                <a:latin typeface="Georgia"/>
                <a:cs typeface="Georgia"/>
              </a:rPr>
              <a:t>application.</a:t>
            </a:r>
            <a:endParaRPr sz="3600">
              <a:latin typeface="Georgia"/>
              <a:cs typeface="Georgia"/>
            </a:endParaRPr>
          </a:p>
          <a:p>
            <a:pPr marL="12700" marR="357505">
              <a:lnSpc>
                <a:spcPct val="116300"/>
              </a:lnSpc>
              <a:spcBef>
                <a:spcPts val="1925"/>
              </a:spcBef>
            </a:pPr>
            <a:r>
              <a:rPr sz="3600" dirty="0">
                <a:solidFill>
                  <a:srgbClr val="2E377E"/>
                </a:solidFill>
                <a:latin typeface="Georgia"/>
                <a:cs typeface="Georgia"/>
              </a:rPr>
              <a:t>A</a:t>
            </a:r>
            <a:r>
              <a:rPr sz="3600" spc="-5" dirty="0">
                <a:solidFill>
                  <a:srgbClr val="2E377E"/>
                </a:solidFill>
                <a:latin typeface="Georgia"/>
                <a:cs typeface="Georgia"/>
              </a:rPr>
              <a:t> </a:t>
            </a:r>
            <a:r>
              <a:rPr sz="3600" spc="50" dirty="0">
                <a:solidFill>
                  <a:srgbClr val="2E377E"/>
                </a:solidFill>
                <a:latin typeface="Georgia"/>
                <a:cs typeface="Georgia"/>
              </a:rPr>
              <a:t>stateless</a:t>
            </a:r>
            <a:r>
              <a:rPr sz="3600" spc="-5" dirty="0">
                <a:solidFill>
                  <a:srgbClr val="2E377E"/>
                </a:solidFill>
                <a:latin typeface="Georgia"/>
                <a:cs typeface="Georgia"/>
              </a:rPr>
              <a:t> </a:t>
            </a:r>
            <a:r>
              <a:rPr sz="3600" dirty="0">
                <a:solidFill>
                  <a:srgbClr val="2E377E"/>
                </a:solidFill>
                <a:latin typeface="Georgia"/>
                <a:cs typeface="Georgia"/>
              </a:rPr>
              <a:t>application</a:t>
            </a:r>
            <a:r>
              <a:rPr sz="3600" spc="-5" dirty="0">
                <a:solidFill>
                  <a:srgbClr val="2E377E"/>
                </a:solidFill>
                <a:latin typeface="Georgia"/>
                <a:cs typeface="Georgia"/>
              </a:rPr>
              <a:t> </a:t>
            </a:r>
            <a:r>
              <a:rPr sz="3600" dirty="0">
                <a:solidFill>
                  <a:srgbClr val="2E377E"/>
                </a:solidFill>
                <a:latin typeface="Georgia"/>
                <a:cs typeface="Georgia"/>
              </a:rPr>
              <a:t>can</a:t>
            </a:r>
            <a:r>
              <a:rPr sz="3600" spc="-5" dirty="0">
                <a:solidFill>
                  <a:srgbClr val="2E377E"/>
                </a:solidFill>
                <a:latin typeface="Georgia"/>
                <a:cs typeface="Georgia"/>
              </a:rPr>
              <a:t> </a:t>
            </a:r>
            <a:r>
              <a:rPr sz="3600" dirty="0">
                <a:solidFill>
                  <a:srgbClr val="2E377E"/>
                </a:solidFill>
                <a:latin typeface="Georgia"/>
                <a:cs typeface="Georgia"/>
              </a:rPr>
              <a:t>be </a:t>
            </a:r>
            <a:r>
              <a:rPr sz="3600" spc="50" dirty="0">
                <a:solidFill>
                  <a:srgbClr val="2E377E"/>
                </a:solidFill>
                <a:latin typeface="Georgia"/>
                <a:cs typeface="Georgia"/>
              </a:rPr>
              <a:t>deployed</a:t>
            </a:r>
            <a:r>
              <a:rPr sz="3600" spc="-5" dirty="0">
                <a:solidFill>
                  <a:srgbClr val="2E377E"/>
                </a:solidFill>
                <a:latin typeface="Georgia"/>
                <a:cs typeface="Georgia"/>
              </a:rPr>
              <a:t> </a:t>
            </a:r>
            <a:r>
              <a:rPr sz="3600" dirty="0">
                <a:solidFill>
                  <a:srgbClr val="2E377E"/>
                </a:solidFill>
                <a:latin typeface="Georgia"/>
                <a:cs typeface="Georgia"/>
              </a:rPr>
              <a:t>as</a:t>
            </a:r>
            <a:r>
              <a:rPr sz="3600" spc="-5" dirty="0">
                <a:solidFill>
                  <a:srgbClr val="2E377E"/>
                </a:solidFill>
                <a:latin typeface="Georgia"/>
                <a:cs typeface="Georgia"/>
              </a:rPr>
              <a:t> </a:t>
            </a:r>
            <a:r>
              <a:rPr sz="3600" dirty="0">
                <a:solidFill>
                  <a:srgbClr val="2E377E"/>
                </a:solidFill>
                <a:latin typeface="Georgia"/>
                <a:cs typeface="Georgia"/>
              </a:rPr>
              <a:t>a</a:t>
            </a:r>
            <a:r>
              <a:rPr sz="3600" spc="-5" dirty="0">
                <a:solidFill>
                  <a:srgbClr val="2E377E"/>
                </a:solidFill>
                <a:latin typeface="Georgia"/>
                <a:cs typeface="Georgia"/>
              </a:rPr>
              <a:t> </a:t>
            </a:r>
            <a:r>
              <a:rPr sz="3600" spc="70" dirty="0">
                <a:solidFill>
                  <a:srgbClr val="2E377E"/>
                </a:solidFill>
                <a:latin typeface="Georgia"/>
                <a:cs typeface="Georgia"/>
              </a:rPr>
              <a:t>set</a:t>
            </a:r>
            <a:r>
              <a:rPr sz="3600" dirty="0">
                <a:solidFill>
                  <a:srgbClr val="2E377E"/>
                </a:solidFill>
                <a:latin typeface="Georgia"/>
                <a:cs typeface="Georgia"/>
              </a:rPr>
              <a:t> of</a:t>
            </a:r>
            <a:r>
              <a:rPr sz="3600" spc="-5" dirty="0">
                <a:solidFill>
                  <a:srgbClr val="2E377E"/>
                </a:solidFill>
                <a:latin typeface="Georgia"/>
                <a:cs typeface="Georgia"/>
              </a:rPr>
              <a:t> </a:t>
            </a:r>
            <a:r>
              <a:rPr sz="3600" dirty="0">
                <a:solidFill>
                  <a:srgbClr val="2E377E"/>
                </a:solidFill>
                <a:latin typeface="Georgia"/>
                <a:cs typeface="Georgia"/>
              </a:rPr>
              <a:t>identical</a:t>
            </a:r>
            <a:r>
              <a:rPr sz="3600" spc="-5" dirty="0">
                <a:solidFill>
                  <a:srgbClr val="2E377E"/>
                </a:solidFill>
                <a:latin typeface="Georgia"/>
                <a:cs typeface="Georgia"/>
              </a:rPr>
              <a:t> </a:t>
            </a:r>
            <a:r>
              <a:rPr sz="3600" dirty="0">
                <a:solidFill>
                  <a:srgbClr val="2E377E"/>
                </a:solidFill>
                <a:latin typeface="Georgia"/>
                <a:cs typeface="Georgia"/>
              </a:rPr>
              <a:t>replicas,</a:t>
            </a:r>
            <a:r>
              <a:rPr sz="3600" spc="-5" dirty="0">
                <a:solidFill>
                  <a:srgbClr val="2E377E"/>
                </a:solidFill>
                <a:latin typeface="Georgia"/>
                <a:cs typeface="Georgia"/>
              </a:rPr>
              <a:t> </a:t>
            </a:r>
            <a:r>
              <a:rPr sz="3600" dirty="0">
                <a:solidFill>
                  <a:srgbClr val="2E377E"/>
                </a:solidFill>
                <a:latin typeface="Georgia"/>
                <a:cs typeface="Georgia"/>
              </a:rPr>
              <a:t>and</a:t>
            </a:r>
            <a:r>
              <a:rPr sz="3600" spc="-5" dirty="0">
                <a:solidFill>
                  <a:srgbClr val="2E377E"/>
                </a:solidFill>
                <a:latin typeface="Georgia"/>
                <a:cs typeface="Georgia"/>
              </a:rPr>
              <a:t> </a:t>
            </a:r>
            <a:r>
              <a:rPr sz="3600" spc="-20" dirty="0">
                <a:solidFill>
                  <a:srgbClr val="2E377E"/>
                </a:solidFill>
                <a:latin typeface="Georgia"/>
                <a:cs typeface="Georgia"/>
              </a:rPr>
              <a:t>each </a:t>
            </a:r>
            <a:r>
              <a:rPr sz="3600" dirty="0">
                <a:solidFill>
                  <a:srgbClr val="2E377E"/>
                </a:solidFill>
                <a:latin typeface="Georgia"/>
                <a:cs typeface="Georgia"/>
              </a:rPr>
              <a:t>replica</a:t>
            </a:r>
            <a:r>
              <a:rPr sz="3600" spc="20" dirty="0">
                <a:solidFill>
                  <a:srgbClr val="2E377E"/>
                </a:solidFill>
                <a:latin typeface="Georgia"/>
                <a:cs typeface="Georgia"/>
              </a:rPr>
              <a:t> </a:t>
            </a:r>
            <a:r>
              <a:rPr sz="3600" dirty="0">
                <a:solidFill>
                  <a:srgbClr val="2E377E"/>
                </a:solidFill>
                <a:latin typeface="Georgia"/>
                <a:cs typeface="Georgia"/>
              </a:rPr>
              <a:t>can</a:t>
            </a:r>
            <a:r>
              <a:rPr sz="3600" spc="20" dirty="0">
                <a:solidFill>
                  <a:srgbClr val="2E377E"/>
                </a:solidFill>
                <a:latin typeface="Georgia"/>
                <a:cs typeface="Georgia"/>
              </a:rPr>
              <a:t> </a:t>
            </a:r>
            <a:r>
              <a:rPr sz="3600" dirty="0">
                <a:solidFill>
                  <a:srgbClr val="2E377E"/>
                </a:solidFill>
                <a:latin typeface="Georgia"/>
                <a:cs typeface="Georgia"/>
              </a:rPr>
              <a:t>handle</a:t>
            </a:r>
            <a:r>
              <a:rPr sz="3600" spc="20" dirty="0">
                <a:solidFill>
                  <a:srgbClr val="2E377E"/>
                </a:solidFill>
                <a:latin typeface="Georgia"/>
                <a:cs typeface="Georgia"/>
              </a:rPr>
              <a:t> </a:t>
            </a:r>
            <a:r>
              <a:rPr sz="3600" dirty="0">
                <a:solidFill>
                  <a:srgbClr val="2E377E"/>
                </a:solidFill>
                <a:latin typeface="Georgia"/>
                <a:cs typeface="Georgia"/>
              </a:rPr>
              <a:t>incoming</a:t>
            </a:r>
            <a:r>
              <a:rPr sz="3600" spc="20" dirty="0">
                <a:solidFill>
                  <a:srgbClr val="2E377E"/>
                </a:solidFill>
                <a:latin typeface="Georgia"/>
                <a:cs typeface="Georgia"/>
              </a:rPr>
              <a:t> </a:t>
            </a:r>
            <a:r>
              <a:rPr sz="3600" spc="50" dirty="0">
                <a:solidFill>
                  <a:srgbClr val="2E377E"/>
                </a:solidFill>
                <a:latin typeface="Georgia"/>
                <a:cs typeface="Georgia"/>
              </a:rPr>
              <a:t>requests</a:t>
            </a:r>
            <a:r>
              <a:rPr sz="3600" spc="20" dirty="0">
                <a:solidFill>
                  <a:srgbClr val="2E377E"/>
                </a:solidFill>
                <a:latin typeface="Georgia"/>
                <a:cs typeface="Georgia"/>
              </a:rPr>
              <a:t> </a:t>
            </a:r>
            <a:r>
              <a:rPr sz="3600" spc="50" dirty="0">
                <a:solidFill>
                  <a:srgbClr val="2E377E"/>
                </a:solidFill>
                <a:latin typeface="Georgia"/>
                <a:cs typeface="Georgia"/>
              </a:rPr>
              <a:t>independently</a:t>
            </a:r>
            <a:r>
              <a:rPr sz="3600" spc="20" dirty="0">
                <a:solidFill>
                  <a:srgbClr val="2E377E"/>
                </a:solidFill>
                <a:latin typeface="Georgia"/>
                <a:cs typeface="Georgia"/>
              </a:rPr>
              <a:t> </a:t>
            </a:r>
            <a:r>
              <a:rPr sz="3600" spc="75" dirty="0">
                <a:solidFill>
                  <a:srgbClr val="2E377E"/>
                </a:solidFill>
                <a:latin typeface="Georgia"/>
                <a:cs typeface="Georgia"/>
              </a:rPr>
              <a:t>without</a:t>
            </a:r>
            <a:r>
              <a:rPr sz="3600" spc="2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need</a:t>
            </a:r>
            <a:r>
              <a:rPr sz="3600" spc="20" dirty="0">
                <a:solidFill>
                  <a:srgbClr val="2E377E"/>
                </a:solidFill>
                <a:latin typeface="Georgia"/>
                <a:cs typeface="Georgia"/>
              </a:rPr>
              <a:t> </a:t>
            </a:r>
            <a:r>
              <a:rPr sz="3600" spc="45" dirty="0">
                <a:solidFill>
                  <a:srgbClr val="2E377E"/>
                </a:solidFill>
                <a:latin typeface="Georgia"/>
                <a:cs typeface="Georgia"/>
              </a:rPr>
              <a:t>to </a:t>
            </a:r>
            <a:r>
              <a:rPr sz="3600" dirty="0">
                <a:solidFill>
                  <a:srgbClr val="2E377E"/>
                </a:solidFill>
                <a:latin typeface="Georgia"/>
                <a:cs typeface="Georgia"/>
              </a:rPr>
              <a:t>coordinate</a:t>
            </a:r>
            <a:r>
              <a:rPr sz="3600" spc="55" dirty="0">
                <a:solidFill>
                  <a:srgbClr val="2E377E"/>
                </a:solidFill>
                <a:latin typeface="Georgia"/>
                <a:cs typeface="Georgia"/>
              </a:rPr>
              <a:t> </a:t>
            </a:r>
            <a:r>
              <a:rPr sz="3600" spc="85" dirty="0">
                <a:solidFill>
                  <a:srgbClr val="2E377E"/>
                </a:solidFill>
                <a:latin typeface="Georgia"/>
                <a:cs typeface="Georgia"/>
              </a:rPr>
              <a:t>with</a:t>
            </a:r>
            <a:r>
              <a:rPr sz="3600" spc="60" dirty="0">
                <a:solidFill>
                  <a:srgbClr val="2E377E"/>
                </a:solidFill>
                <a:latin typeface="Georgia"/>
                <a:cs typeface="Georgia"/>
              </a:rPr>
              <a:t> </a:t>
            </a:r>
            <a:r>
              <a:rPr sz="3600" spc="50" dirty="0">
                <a:solidFill>
                  <a:srgbClr val="2E377E"/>
                </a:solidFill>
                <a:latin typeface="Georgia"/>
                <a:cs typeface="Georgia"/>
              </a:rPr>
              <a:t>other</a:t>
            </a:r>
            <a:r>
              <a:rPr sz="3600" spc="60" dirty="0">
                <a:solidFill>
                  <a:srgbClr val="2E377E"/>
                </a:solidFill>
                <a:latin typeface="Georgia"/>
                <a:cs typeface="Georgia"/>
              </a:rPr>
              <a:t> </a:t>
            </a:r>
            <a:r>
              <a:rPr sz="3600" spc="-10" dirty="0">
                <a:solidFill>
                  <a:srgbClr val="2E377E"/>
                </a:solidFill>
                <a:latin typeface="Georgia"/>
                <a:cs typeface="Georgia"/>
              </a:rPr>
              <a:t>replicas.</a:t>
            </a:r>
            <a:endParaRPr sz="3600">
              <a:latin typeface="Georgia"/>
              <a:cs typeface="Georgia"/>
            </a:endParaRPr>
          </a:p>
        </p:txBody>
      </p:sp>
      <p:pic>
        <p:nvPicPr>
          <p:cNvPr id="5" name="object 5"/>
          <p:cNvPicPr/>
          <p:nvPr/>
        </p:nvPicPr>
        <p:blipFill>
          <a:blip r:embed="rId3" cstate="print"/>
          <a:stretch>
            <a:fillRect/>
          </a:stretch>
        </p:blipFill>
        <p:spPr>
          <a:xfrm>
            <a:off x="1251113" y="2497990"/>
            <a:ext cx="133350" cy="133349"/>
          </a:xfrm>
          <a:prstGeom prst="rect">
            <a:avLst/>
          </a:prstGeom>
        </p:spPr>
      </p:pic>
      <p:pic>
        <p:nvPicPr>
          <p:cNvPr id="6" name="object 6"/>
          <p:cNvPicPr/>
          <p:nvPr/>
        </p:nvPicPr>
        <p:blipFill>
          <a:blip r:embed="rId4" cstate="print"/>
          <a:stretch>
            <a:fillRect/>
          </a:stretch>
        </p:blipFill>
        <p:spPr>
          <a:xfrm>
            <a:off x="1251113" y="3136165"/>
            <a:ext cx="133350" cy="133349"/>
          </a:xfrm>
          <a:prstGeom prst="rect">
            <a:avLst/>
          </a:prstGeom>
        </p:spPr>
      </p:pic>
      <p:pic>
        <p:nvPicPr>
          <p:cNvPr id="7" name="object 7"/>
          <p:cNvPicPr/>
          <p:nvPr/>
        </p:nvPicPr>
        <p:blipFill>
          <a:blip r:embed="rId5" cstate="print"/>
          <a:stretch>
            <a:fillRect/>
          </a:stretch>
        </p:blipFill>
        <p:spPr>
          <a:xfrm>
            <a:off x="1251113" y="4412515"/>
            <a:ext cx="133350" cy="133349"/>
          </a:xfrm>
          <a:prstGeom prst="rect">
            <a:avLst/>
          </a:prstGeom>
        </p:spPr>
      </p:pic>
      <p:pic>
        <p:nvPicPr>
          <p:cNvPr id="8" name="object 8"/>
          <p:cNvPicPr/>
          <p:nvPr/>
        </p:nvPicPr>
        <p:blipFill>
          <a:blip r:embed="rId5" cstate="print"/>
          <a:stretch>
            <a:fillRect/>
          </a:stretch>
        </p:blipFill>
        <p:spPr>
          <a:xfrm>
            <a:off x="1251113" y="5050690"/>
            <a:ext cx="133350" cy="133349"/>
          </a:xfrm>
          <a:prstGeom prst="rect">
            <a:avLst/>
          </a:prstGeom>
        </p:spPr>
      </p:pic>
      <p:pic>
        <p:nvPicPr>
          <p:cNvPr id="9" name="object 9"/>
          <p:cNvPicPr/>
          <p:nvPr/>
        </p:nvPicPr>
        <p:blipFill>
          <a:blip r:embed="rId5" cstate="print"/>
          <a:stretch>
            <a:fillRect/>
          </a:stretch>
        </p:blipFill>
        <p:spPr>
          <a:xfrm>
            <a:off x="1251113" y="5933526"/>
            <a:ext cx="133350" cy="133349"/>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388937"/>
            <a:ext cx="9587855" cy="6310510"/>
          </a:xfrm>
          <a:prstGeom prst="rect">
            <a:avLst/>
          </a:prstGeom>
        </p:spPr>
      </p:pic>
      <p:pic>
        <p:nvPicPr>
          <p:cNvPr id="3" name="object 3"/>
          <p:cNvPicPr/>
          <p:nvPr/>
        </p:nvPicPr>
        <p:blipFill>
          <a:blip r:embed="rId3" cstate="print"/>
          <a:stretch>
            <a:fillRect/>
          </a:stretch>
        </p:blipFill>
        <p:spPr>
          <a:xfrm>
            <a:off x="11256579" y="296872"/>
            <a:ext cx="7031419" cy="5583477"/>
          </a:xfrm>
          <a:prstGeom prst="rect">
            <a:avLst/>
          </a:prstGeom>
        </p:spPr>
      </p:pic>
      <p:sp>
        <p:nvSpPr>
          <p:cNvPr id="4" name="object 4"/>
          <p:cNvSpPr txBox="1"/>
          <p:nvPr/>
        </p:nvSpPr>
        <p:spPr>
          <a:xfrm>
            <a:off x="601730" y="7032217"/>
            <a:ext cx="16868775" cy="1939925"/>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Let’s</a:t>
            </a:r>
            <a:r>
              <a:rPr sz="3600" spc="-5" dirty="0">
                <a:solidFill>
                  <a:srgbClr val="2E377E"/>
                </a:solidFill>
                <a:latin typeface="Georgia"/>
                <a:cs typeface="Georgia"/>
              </a:rPr>
              <a:t> </a:t>
            </a:r>
            <a:r>
              <a:rPr sz="3600" spc="65" dirty="0">
                <a:solidFill>
                  <a:srgbClr val="2E377E"/>
                </a:solidFill>
                <a:latin typeface="Georgia"/>
                <a:cs typeface="Georgia"/>
              </a:rPr>
              <a:t>say</a:t>
            </a:r>
            <a:r>
              <a:rPr sz="3600" dirty="0">
                <a:solidFill>
                  <a:srgbClr val="2E377E"/>
                </a:solidFill>
                <a:latin typeface="Georgia"/>
                <a:cs typeface="Georgia"/>
              </a:rPr>
              <a:t> </a:t>
            </a:r>
            <a:r>
              <a:rPr sz="3600" spc="90" dirty="0">
                <a:solidFill>
                  <a:srgbClr val="2E377E"/>
                </a:solidFill>
                <a:latin typeface="Georgia"/>
                <a:cs typeface="Georgia"/>
              </a:rPr>
              <a:t>you</a:t>
            </a:r>
            <a:r>
              <a:rPr sz="3600" dirty="0">
                <a:solidFill>
                  <a:srgbClr val="2E377E"/>
                </a:solidFill>
                <a:latin typeface="Georgia"/>
                <a:cs typeface="Georgia"/>
              </a:rPr>
              <a:t> </a:t>
            </a:r>
            <a:r>
              <a:rPr sz="3600" spc="80" dirty="0">
                <a:solidFill>
                  <a:srgbClr val="2E377E"/>
                </a:solidFill>
                <a:latin typeface="Georgia"/>
                <a:cs typeface="Georgia"/>
              </a:rPr>
              <a:t>want</a:t>
            </a:r>
            <a:r>
              <a:rPr sz="3600" dirty="0">
                <a:solidFill>
                  <a:srgbClr val="2E377E"/>
                </a:solidFill>
                <a:latin typeface="Georgia"/>
                <a:cs typeface="Georgia"/>
              </a:rPr>
              <a:t> </a:t>
            </a:r>
            <a:r>
              <a:rPr sz="3600" spc="70" dirty="0">
                <a:solidFill>
                  <a:srgbClr val="2E377E"/>
                </a:solidFill>
                <a:latin typeface="Georgia"/>
                <a:cs typeface="Georgia"/>
              </a:rPr>
              <a:t>to</a:t>
            </a:r>
            <a:r>
              <a:rPr sz="3600" dirty="0">
                <a:solidFill>
                  <a:srgbClr val="2E377E"/>
                </a:solidFill>
                <a:latin typeface="Georgia"/>
                <a:cs typeface="Georgia"/>
              </a:rPr>
              <a:t> order some some </a:t>
            </a:r>
            <a:r>
              <a:rPr sz="3600" spc="45" dirty="0">
                <a:solidFill>
                  <a:srgbClr val="2E377E"/>
                </a:solidFill>
                <a:latin typeface="Georgia"/>
                <a:cs typeface="Georgia"/>
              </a:rPr>
              <a:t>products</a:t>
            </a:r>
            <a:r>
              <a:rPr sz="3600" dirty="0">
                <a:solidFill>
                  <a:srgbClr val="2E377E"/>
                </a:solidFill>
                <a:latin typeface="Georgia"/>
                <a:cs typeface="Georgia"/>
              </a:rPr>
              <a:t> in Amazon,</a:t>
            </a:r>
            <a:r>
              <a:rPr sz="3600" spc="-5" dirty="0">
                <a:solidFill>
                  <a:srgbClr val="2E377E"/>
                </a:solidFill>
                <a:latin typeface="Georgia"/>
                <a:cs typeface="Georgia"/>
              </a:rPr>
              <a:t> </a:t>
            </a:r>
            <a:r>
              <a:rPr sz="3600" spc="90" dirty="0">
                <a:solidFill>
                  <a:srgbClr val="2E377E"/>
                </a:solidFill>
                <a:latin typeface="Georgia"/>
                <a:cs typeface="Georgia"/>
              </a:rPr>
              <a:t>you</a:t>
            </a:r>
            <a:r>
              <a:rPr sz="3600" dirty="0">
                <a:solidFill>
                  <a:srgbClr val="2E377E"/>
                </a:solidFill>
                <a:latin typeface="Georgia"/>
                <a:cs typeface="Georgia"/>
              </a:rPr>
              <a:t> added </a:t>
            </a:r>
            <a:r>
              <a:rPr sz="3600" spc="-20" dirty="0">
                <a:solidFill>
                  <a:srgbClr val="2E377E"/>
                </a:solidFill>
                <a:latin typeface="Georgia"/>
                <a:cs typeface="Georgia"/>
              </a:rPr>
              <a:t>some </a:t>
            </a:r>
            <a:r>
              <a:rPr sz="3600" spc="45" dirty="0">
                <a:solidFill>
                  <a:srgbClr val="2E377E"/>
                </a:solidFill>
                <a:latin typeface="Georgia"/>
                <a:cs typeface="Georgia"/>
              </a:rPr>
              <a:t>products</a:t>
            </a:r>
            <a:r>
              <a:rPr sz="3600" spc="-20" dirty="0">
                <a:solidFill>
                  <a:srgbClr val="2E377E"/>
                </a:solidFill>
                <a:latin typeface="Georgia"/>
                <a:cs typeface="Georgia"/>
              </a:rPr>
              <a:t> </a:t>
            </a:r>
            <a:r>
              <a:rPr sz="3600" spc="70" dirty="0">
                <a:solidFill>
                  <a:srgbClr val="2E377E"/>
                </a:solidFill>
                <a:latin typeface="Georgia"/>
                <a:cs typeface="Georgia"/>
              </a:rPr>
              <a:t>to</a:t>
            </a:r>
            <a:r>
              <a:rPr sz="3600" spc="-20" dirty="0">
                <a:solidFill>
                  <a:srgbClr val="2E377E"/>
                </a:solidFill>
                <a:latin typeface="Georgia"/>
                <a:cs typeface="Georgia"/>
              </a:rPr>
              <a:t> </a:t>
            </a:r>
            <a:r>
              <a:rPr sz="3600" spc="80" dirty="0">
                <a:solidFill>
                  <a:srgbClr val="2E377E"/>
                </a:solidFill>
                <a:latin typeface="Georgia"/>
                <a:cs typeface="Georgia"/>
              </a:rPr>
              <a:t>your</a:t>
            </a:r>
            <a:r>
              <a:rPr sz="3600" spc="-25" dirty="0">
                <a:solidFill>
                  <a:srgbClr val="2E377E"/>
                </a:solidFill>
                <a:latin typeface="Georgia"/>
                <a:cs typeface="Georgia"/>
              </a:rPr>
              <a:t> </a:t>
            </a:r>
            <a:r>
              <a:rPr sz="3600" dirty="0">
                <a:solidFill>
                  <a:srgbClr val="2E377E"/>
                </a:solidFill>
                <a:latin typeface="Georgia"/>
                <a:cs typeface="Georgia"/>
              </a:rPr>
              <a:t>shopping</a:t>
            </a:r>
            <a:r>
              <a:rPr sz="3600" spc="-20" dirty="0">
                <a:solidFill>
                  <a:srgbClr val="2E377E"/>
                </a:solidFill>
                <a:latin typeface="Georgia"/>
                <a:cs typeface="Georgia"/>
              </a:rPr>
              <a:t> </a:t>
            </a:r>
            <a:r>
              <a:rPr sz="3600" dirty="0">
                <a:solidFill>
                  <a:srgbClr val="2E377E"/>
                </a:solidFill>
                <a:latin typeface="Georgia"/>
                <a:cs typeface="Georgia"/>
              </a:rPr>
              <a:t>cart.</a:t>
            </a:r>
            <a:r>
              <a:rPr sz="3600" spc="-20" dirty="0">
                <a:solidFill>
                  <a:srgbClr val="2E377E"/>
                </a:solidFill>
                <a:latin typeface="Georgia"/>
                <a:cs typeface="Georgia"/>
              </a:rPr>
              <a:t> </a:t>
            </a:r>
            <a:r>
              <a:rPr sz="3600" dirty="0">
                <a:solidFill>
                  <a:srgbClr val="2E377E"/>
                </a:solidFill>
                <a:latin typeface="Georgia"/>
                <a:cs typeface="Georgia"/>
              </a:rPr>
              <a:t>After</a:t>
            </a:r>
            <a:r>
              <a:rPr sz="3600" spc="-20" dirty="0">
                <a:solidFill>
                  <a:srgbClr val="2E377E"/>
                </a:solidFill>
                <a:latin typeface="Georgia"/>
                <a:cs typeface="Georgia"/>
              </a:rPr>
              <a:t> </a:t>
            </a:r>
            <a:r>
              <a:rPr sz="3600" spc="90" dirty="0">
                <a:solidFill>
                  <a:srgbClr val="2E377E"/>
                </a:solidFill>
                <a:latin typeface="Georgia"/>
                <a:cs typeface="Georgia"/>
              </a:rPr>
              <a:t>you</a:t>
            </a:r>
            <a:r>
              <a:rPr sz="3600" spc="-20" dirty="0">
                <a:solidFill>
                  <a:srgbClr val="2E377E"/>
                </a:solidFill>
                <a:latin typeface="Georgia"/>
                <a:cs typeface="Georgia"/>
              </a:rPr>
              <a:t> </a:t>
            </a:r>
            <a:r>
              <a:rPr sz="3600" dirty="0">
                <a:solidFill>
                  <a:srgbClr val="2E377E"/>
                </a:solidFill>
                <a:latin typeface="Georgia"/>
                <a:cs typeface="Georgia"/>
              </a:rPr>
              <a:t>added</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spc="-45" dirty="0">
                <a:solidFill>
                  <a:srgbClr val="2E377E"/>
                </a:solidFill>
                <a:latin typeface="Georgia"/>
                <a:cs typeface="Georgia"/>
              </a:rPr>
              <a:t>book(s)</a:t>
            </a:r>
            <a:r>
              <a:rPr sz="3600" spc="-20" dirty="0">
                <a:solidFill>
                  <a:srgbClr val="2E377E"/>
                </a:solidFill>
                <a:latin typeface="Georgia"/>
                <a:cs typeface="Georgia"/>
              </a:rPr>
              <a:t> </a:t>
            </a:r>
            <a:r>
              <a:rPr sz="3600" spc="70" dirty="0">
                <a:solidFill>
                  <a:srgbClr val="2E377E"/>
                </a:solidFill>
                <a:latin typeface="Georgia"/>
                <a:cs typeface="Georgia"/>
              </a:rPr>
              <a:t>to</a:t>
            </a:r>
            <a:r>
              <a:rPr sz="3600" spc="-20" dirty="0">
                <a:solidFill>
                  <a:srgbClr val="2E377E"/>
                </a:solidFill>
                <a:latin typeface="Georgia"/>
                <a:cs typeface="Georgia"/>
              </a:rPr>
              <a:t> </a:t>
            </a:r>
            <a:r>
              <a:rPr sz="3600" spc="80" dirty="0">
                <a:solidFill>
                  <a:srgbClr val="2E377E"/>
                </a:solidFill>
                <a:latin typeface="Georgia"/>
                <a:cs typeface="Georgia"/>
              </a:rPr>
              <a:t>your</a:t>
            </a:r>
            <a:r>
              <a:rPr sz="3600" spc="-20" dirty="0">
                <a:solidFill>
                  <a:srgbClr val="2E377E"/>
                </a:solidFill>
                <a:latin typeface="Georgia"/>
                <a:cs typeface="Georgia"/>
              </a:rPr>
              <a:t> </a:t>
            </a:r>
            <a:r>
              <a:rPr sz="3600" dirty="0">
                <a:solidFill>
                  <a:srgbClr val="2E377E"/>
                </a:solidFill>
                <a:latin typeface="Georgia"/>
                <a:cs typeface="Georgia"/>
              </a:rPr>
              <a:t>shopping</a:t>
            </a:r>
            <a:r>
              <a:rPr sz="3600" spc="-20" dirty="0">
                <a:solidFill>
                  <a:srgbClr val="2E377E"/>
                </a:solidFill>
                <a:latin typeface="Georgia"/>
                <a:cs typeface="Georgia"/>
              </a:rPr>
              <a:t> cart, </a:t>
            </a:r>
            <a:r>
              <a:rPr sz="3600" dirty="0">
                <a:solidFill>
                  <a:srgbClr val="2E377E"/>
                </a:solidFill>
                <a:latin typeface="Georgia"/>
                <a:cs typeface="Georgia"/>
              </a:rPr>
              <a:t>If</a:t>
            </a:r>
            <a:r>
              <a:rPr sz="3600" spc="-40" dirty="0">
                <a:solidFill>
                  <a:srgbClr val="2E377E"/>
                </a:solidFill>
                <a:latin typeface="Georgia"/>
                <a:cs typeface="Georgia"/>
              </a:rPr>
              <a:t> </a:t>
            </a:r>
            <a:r>
              <a:rPr sz="3600" spc="50" dirty="0">
                <a:solidFill>
                  <a:srgbClr val="2E377E"/>
                </a:solidFill>
                <a:latin typeface="Georgia"/>
                <a:cs typeface="Georgia"/>
              </a:rPr>
              <a:t>forgot</a:t>
            </a:r>
            <a:r>
              <a:rPr sz="3600" spc="-40" dirty="0">
                <a:solidFill>
                  <a:srgbClr val="2E377E"/>
                </a:solidFill>
                <a:latin typeface="Georgia"/>
                <a:cs typeface="Georgia"/>
              </a:rPr>
              <a:t> </a:t>
            </a:r>
            <a:r>
              <a:rPr sz="3600" spc="70" dirty="0">
                <a:solidFill>
                  <a:srgbClr val="2E377E"/>
                </a:solidFill>
                <a:latin typeface="Georgia"/>
                <a:cs typeface="Georgia"/>
              </a:rPr>
              <a:t>to</a:t>
            </a:r>
            <a:r>
              <a:rPr sz="3600" spc="-35" dirty="0">
                <a:solidFill>
                  <a:srgbClr val="2E377E"/>
                </a:solidFill>
                <a:latin typeface="Georgia"/>
                <a:cs typeface="Georgia"/>
              </a:rPr>
              <a:t> </a:t>
            </a:r>
            <a:r>
              <a:rPr sz="3600" spc="70" dirty="0">
                <a:solidFill>
                  <a:srgbClr val="2E377E"/>
                </a:solidFill>
                <a:latin typeface="Georgia"/>
                <a:cs typeface="Georgia"/>
              </a:rPr>
              <a:t>switch</a:t>
            </a:r>
            <a:r>
              <a:rPr sz="3600" spc="-40" dirty="0">
                <a:solidFill>
                  <a:srgbClr val="2E377E"/>
                </a:solidFill>
                <a:latin typeface="Georgia"/>
                <a:cs typeface="Georgia"/>
              </a:rPr>
              <a:t> </a:t>
            </a:r>
            <a:r>
              <a:rPr sz="3600" dirty="0">
                <a:solidFill>
                  <a:srgbClr val="2E377E"/>
                </a:solidFill>
                <a:latin typeface="Georgia"/>
                <a:cs typeface="Georgia"/>
              </a:rPr>
              <a:t>off</a:t>
            </a:r>
            <a:r>
              <a:rPr sz="3600" spc="-40" dirty="0">
                <a:solidFill>
                  <a:srgbClr val="2E377E"/>
                </a:solidFill>
                <a:latin typeface="Georgia"/>
                <a:cs typeface="Georgia"/>
              </a:rPr>
              <a:t> </a:t>
            </a:r>
            <a:r>
              <a:rPr sz="3600" spc="60" dirty="0">
                <a:solidFill>
                  <a:srgbClr val="2E377E"/>
                </a:solidFill>
                <a:latin typeface="Georgia"/>
                <a:cs typeface="Georgia"/>
              </a:rPr>
              <a:t>the</a:t>
            </a:r>
            <a:r>
              <a:rPr sz="3600" spc="-35" dirty="0">
                <a:solidFill>
                  <a:srgbClr val="2E377E"/>
                </a:solidFill>
                <a:latin typeface="Georgia"/>
                <a:cs typeface="Georgia"/>
              </a:rPr>
              <a:t> </a:t>
            </a:r>
            <a:r>
              <a:rPr sz="3600" spc="80" dirty="0">
                <a:solidFill>
                  <a:srgbClr val="2E377E"/>
                </a:solidFill>
                <a:latin typeface="Georgia"/>
                <a:cs typeface="Georgia"/>
              </a:rPr>
              <a:t>stove</a:t>
            </a:r>
            <a:r>
              <a:rPr sz="3600" spc="-40" dirty="0">
                <a:solidFill>
                  <a:srgbClr val="2E377E"/>
                </a:solidFill>
                <a:latin typeface="Georgia"/>
                <a:cs typeface="Georgia"/>
              </a:rPr>
              <a:t> </a:t>
            </a:r>
            <a:r>
              <a:rPr sz="3600" dirty="0">
                <a:solidFill>
                  <a:srgbClr val="2E377E"/>
                </a:solidFill>
                <a:latin typeface="Georgia"/>
                <a:cs typeface="Georgia"/>
              </a:rPr>
              <a:t>in</a:t>
            </a:r>
            <a:r>
              <a:rPr sz="3600" spc="-40" dirty="0">
                <a:solidFill>
                  <a:srgbClr val="2E377E"/>
                </a:solidFill>
                <a:latin typeface="Georgia"/>
                <a:cs typeface="Georgia"/>
              </a:rPr>
              <a:t> </a:t>
            </a:r>
            <a:r>
              <a:rPr sz="3600" spc="55" dirty="0">
                <a:solidFill>
                  <a:srgbClr val="2E377E"/>
                </a:solidFill>
                <a:latin typeface="Georgia"/>
                <a:cs typeface="Georgia"/>
              </a:rPr>
              <a:t>kitchen</a:t>
            </a:r>
            <a:r>
              <a:rPr sz="3600" spc="-35" dirty="0">
                <a:solidFill>
                  <a:srgbClr val="2E377E"/>
                </a:solidFill>
                <a:latin typeface="Georgia"/>
                <a:cs typeface="Georgia"/>
              </a:rPr>
              <a:t> </a:t>
            </a:r>
            <a:r>
              <a:rPr sz="3600" dirty="0">
                <a:solidFill>
                  <a:srgbClr val="2E377E"/>
                </a:solidFill>
                <a:latin typeface="Georgia"/>
                <a:cs typeface="Georgia"/>
              </a:rPr>
              <a:t>and</a:t>
            </a:r>
            <a:r>
              <a:rPr sz="3600" spc="-40" dirty="0">
                <a:solidFill>
                  <a:srgbClr val="2E377E"/>
                </a:solidFill>
                <a:latin typeface="Georgia"/>
                <a:cs typeface="Georgia"/>
              </a:rPr>
              <a:t> </a:t>
            </a:r>
            <a:r>
              <a:rPr sz="3600" spc="90" dirty="0">
                <a:solidFill>
                  <a:srgbClr val="2E377E"/>
                </a:solidFill>
                <a:latin typeface="Georgia"/>
                <a:cs typeface="Georgia"/>
              </a:rPr>
              <a:t>you</a:t>
            </a:r>
            <a:r>
              <a:rPr sz="3600" spc="-40" dirty="0">
                <a:solidFill>
                  <a:srgbClr val="2E377E"/>
                </a:solidFill>
                <a:latin typeface="Georgia"/>
                <a:cs typeface="Georgia"/>
              </a:rPr>
              <a:t> </a:t>
            </a:r>
            <a:r>
              <a:rPr sz="3600" dirty="0">
                <a:solidFill>
                  <a:srgbClr val="2E377E"/>
                </a:solidFill>
                <a:latin typeface="Georgia"/>
                <a:cs typeface="Georgia"/>
              </a:rPr>
              <a:t>closed</a:t>
            </a:r>
            <a:r>
              <a:rPr sz="3600" spc="-35" dirty="0">
                <a:solidFill>
                  <a:srgbClr val="2E377E"/>
                </a:solidFill>
                <a:latin typeface="Georgia"/>
                <a:cs typeface="Georgia"/>
              </a:rPr>
              <a:t> </a:t>
            </a:r>
            <a:r>
              <a:rPr sz="3600" spc="60" dirty="0">
                <a:solidFill>
                  <a:srgbClr val="2E377E"/>
                </a:solidFill>
                <a:latin typeface="Georgia"/>
                <a:cs typeface="Georgia"/>
              </a:rPr>
              <a:t>the</a:t>
            </a:r>
            <a:r>
              <a:rPr sz="3600" spc="-40" dirty="0">
                <a:solidFill>
                  <a:srgbClr val="2E377E"/>
                </a:solidFill>
                <a:latin typeface="Georgia"/>
                <a:cs typeface="Georgia"/>
              </a:rPr>
              <a:t> </a:t>
            </a:r>
            <a:r>
              <a:rPr sz="3600" spc="90" dirty="0">
                <a:solidFill>
                  <a:srgbClr val="2E377E"/>
                </a:solidFill>
                <a:latin typeface="Georgia"/>
                <a:cs typeface="Georgia"/>
              </a:rPr>
              <a:t>web</a:t>
            </a:r>
            <a:r>
              <a:rPr sz="3600" spc="-40" dirty="0">
                <a:solidFill>
                  <a:srgbClr val="2E377E"/>
                </a:solidFill>
                <a:latin typeface="Georgia"/>
                <a:cs typeface="Georgia"/>
              </a:rPr>
              <a:t> </a:t>
            </a:r>
            <a:r>
              <a:rPr sz="3600" spc="60" dirty="0">
                <a:solidFill>
                  <a:srgbClr val="2E377E"/>
                </a:solidFill>
                <a:latin typeface="Georgia"/>
                <a:cs typeface="Georgia"/>
              </a:rPr>
              <a:t>browser</a:t>
            </a:r>
            <a:r>
              <a:rPr sz="3600" spc="-35" dirty="0">
                <a:solidFill>
                  <a:srgbClr val="2E377E"/>
                </a:solidFill>
                <a:latin typeface="Georgia"/>
                <a:cs typeface="Georgia"/>
              </a:rPr>
              <a:t> </a:t>
            </a:r>
            <a:r>
              <a:rPr sz="3600" spc="-10" dirty="0">
                <a:solidFill>
                  <a:srgbClr val="2E377E"/>
                </a:solidFill>
                <a:latin typeface="Georgia"/>
                <a:cs typeface="Georgia"/>
              </a:rPr>
              <a:t>hurry.</a:t>
            </a:r>
            <a:endParaRPr sz="3600">
              <a:latin typeface="Georgia"/>
              <a:cs typeface="Georgia"/>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23494" y="451566"/>
            <a:ext cx="6068416" cy="5880860"/>
          </a:xfrm>
          <a:prstGeom prst="rect">
            <a:avLst/>
          </a:prstGeom>
        </p:spPr>
      </p:pic>
      <p:sp>
        <p:nvSpPr>
          <p:cNvPr id="3" name="object 3"/>
          <p:cNvSpPr txBox="1"/>
          <p:nvPr/>
        </p:nvSpPr>
        <p:spPr>
          <a:xfrm>
            <a:off x="601730" y="7032217"/>
            <a:ext cx="16889730" cy="1939925"/>
          </a:xfrm>
          <a:prstGeom prst="rect">
            <a:avLst/>
          </a:prstGeom>
        </p:spPr>
        <p:txBody>
          <a:bodyPr vert="horz" wrap="square" lIns="0" tIns="12700" rIns="0" bIns="0" rtlCol="0">
            <a:spAutoFit/>
          </a:bodyPr>
          <a:lstStyle/>
          <a:p>
            <a:pPr marL="12700" marR="5080">
              <a:lnSpc>
                <a:spcPct val="116300"/>
              </a:lnSpc>
              <a:spcBef>
                <a:spcPts val="100"/>
              </a:spcBef>
            </a:pPr>
            <a:r>
              <a:rPr sz="3600" spc="-25" dirty="0">
                <a:solidFill>
                  <a:srgbClr val="2E377E"/>
                </a:solidFill>
                <a:latin typeface="Georgia"/>
                <a:cs typeface="Georgia"/>
              </a:rPr>
              <a:t>Well,</a:t>
            </a:r>
            <a:r>
              <a:rPr sz="3600" spc="-5" dirty="0">
                <a:solidFill>
                  <a:srgbClr val="2E377E"/>
                </a:solidFill>
                <a:latin typeface="Georgia"/>
                <a:cs typeface="Georgia"/>
              </a:rPr>
              <a:t> </a:t>
            </a:r>
            <a:r>
              <a:rPr sz="3600" spc="90" dirty="0">
                <a:solidFill>
                  <a:srgbClr val="2E377E"/>
                </a:solidFill>
                <a:latin typeface="Georgia"/>
                <a:cs typeface="Georgia"/>
              </a:rPr>
              <a:t>you</a:t>
            </a:r>
            <a:r>
              <a:rPr sz="3600" spc="-10" dirty="0">
                <a:solidFill>
                  <a:srgbClr val="2E377E"/>
                </a:solidFill>
                <a:latin typeface="Georgia"/>
                <a:cs typeface="Georgia"/>
              </a:rPr>
              <a:t> </a:t>
            </a:r>
            <a:r>
              <a:rPr sz="3600" dirty="0">
                <a:solidFill>
                  <a:srgbClr val="2E377E"/>
                </a:solidFill>
                <a:latin typeface="Georgia"/>
                <a:cs typeface="Georgia"/>
              </a:rPr>
              <a:t>can</a:t>
            </a:r>
            <a:r>
              <a:rPr sz="3600" spc="-5" dirty="0">
                <a:solidFill>
                  <a:srgbClr val="2E377E"/>
                </a:solidFill>
                <a:latin typeface="Georgia"/>
                <a:cs typeface="Georgia"/>
              </a:rPr>
              <a:t> </a:t>
            </a:r>
            <a:r>
              <a:rPr sz="3600" spc="60" dirty="0">
                <a:solidFill>
                  <a:srgbClr val="2E377E"/>
                </a:solidFill>
                <a:latin typeface="Georgia"/>
                <a:cs typeface="Georgia"/>
              </a:rPr>
              <a:t>anytime</a:t>
            </a:r>
            <a:r>
              <a:rPr sz="3600" spc="-5" dirty="0">
                <a:solidFill>
                  <a:srgbClr val="2E377E"/>
                </a:solidFill>
                <a:latin typeface="Georgia"/>
                <a:cs typeface="Georgia"/>
              </a:rPr>
              <a:t> </a:t>
            </a:r>
            <a:r>
              <a:rPr sz="3600" dirty="0">
                <a:solidFill>
                  <a:srgbClr val="2E377E"/>
                </a:solidFill>
                <a:latin typeface="Georgia"/>
                <a:cs typeface="Georgia"/>
              </a:rPr>
              <a:t>re-login</a:t>
            </a:r>
            <a:r>
              <a:rPr sz="3600" spc="-5" dirty="0">
                <a:solidFill>
                  <a:srgbClr val="2E377E"/>
                </a:solidFill>
                <a:latin typeface="Georgia"/>
                <a:cs typeface="Georgia"/>
              </a:rPr>
              <a:t> </a:t>
            </a:r>
            <a:r>
              <a:rPr sz="3600" spc="7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amazon</a:t>
            </a:r>
            <a:r>
              <a:rPr sz="3600" spc="-5" dirty="0">
                <a:solidFill>
                  <a:srgbClr val="2E377E"/>
                </a:solidFill>
                <a:latin typeface="Georgia"/>
                <a:cs typeface="Georgia"/>
              </a:rPr>
              <a:t> </a:t>
            </a:r>
            <a:r>
              <a:rPr sz="3600" dirty="0">
                <a:solidFill>
                  <a:srgbClr val="2E377E"/>
                </a:solidFill>
                <a:latin typeface="Georgia"/>
                <a:cs typeface="Georgia"/>
              </a:rPr>
              <a:t>portal</a:t>
            </a:r>
            <a:r>
              <a:rPr sz="3600" spc="-5" dirty="0">
                <a:solidFill>
                  <a:srgbClr val="2E377E"/>
                </a:solidFill>
                <a:latin typeface="Georgia"/>
                <a:cs typeface="Georgia"/>
              </a:rPr>
              <a:t> </a:t>
            </a:r>
            <a:r>
              <a:rPr sz="3600" dirty="0">
                <a:solidFill>
                  <a:srgbClr val="2E377E"/>
                </a:solidFill>
                <a:latin typeface="Georgia"/>
                <a:cs typeface="Georgia"/>
              </a:rPr>
              <a:t>and</a:t>
            </a:r>
            <a:r>
              <a:rPr sz="3600" spc="-5" dirty="0">
                <a:solidFill>
                  <a:srgbClr val="2E377E"/>
                </a:solidFill>
                <a:latin typeface="Georgia"/>
                <a:cs typeface="Georgia"/>
              </a:rPr>
              <a:t> </a:t>
            </a:r>
            <a:r>
              <a:rPr sz="3600" spc="50" dirty="0">
                <a:solidFill>
                  <a:srgbClr val="2E377E"/>
                </a:solidFill>
                <a:latin typeface="Georgia"/>
                <a:cs typeface="Georgia"/>
              </a:rPr>
              <a:t>resume</a:t>
            </a:r>
            <a:r>
              <a:rPr sz="3600" spc="-5" dirty="0">
                <a:solidFill>
                  <a:srgbClr val="2E377E"/>
                </a:solidFill>
                <a:latin typeface="Georgia"/>
                <a:cs typeface="Georgia"/>
              </a:rPr>
              <a:t> </a:t>
            </a:r>
            <a:r>
              <a:rPr sz="3600" dirty="0">
                <a:solidFill>
                  <a:srgbClr val="2E377E"/>
                </a:solidFill>
                <a:latin typeface="Georgia"/>
                <a:cs typeface="Georgia"/>
              </a:rPr>
              <a:t>from</a:t>
            </a:r>
            <a:r>
              <a:rPr sz="3600" spc="-5" dirty="0">
                <a:solidFill>
                  <a:srgbClr val="2E377E"/>
                </a:solidFill>
                <a:latin typeface="Georgia"/>
                <a:cs typeface="Georgia"/>
              </a:rPr>
              <a:t> </a:t>
            </a:r>
            <a:r>
              <a:rPr sz="3600" spc="75" dirty="0">
                <a:solidFill>
                  <a:srgbClr val="2E377E"/>
                </a:solidFill>
                <a:latin typeface="Georgia"/>
                <a:cs typeface="Georgia"/>
              </a:rPr>
              <a:t>where</a:t>
            </a:r>
            <a:r>
              <a:rPr sz="3600" spc="-5" dirty="0">
                <a:solidFill>
                  <a:srgbClr val="2E377E"/>
                </a:solidFill>
                <a:latin typeface="Georgia"/>
                <a:cs typeface="Georgia"/>
              </a:rPr>
              <a:t> </a:t>
            </a:r>
            <a:r>
              <a:rPr sz="3600" spc="90" dirty="0">
                <a:solidFill>
                  <a:srgbClr val="2E377E"/>
                </a:solidFill>
                <a:latin typeface="Georgia"/>
                <a:cs typeface="Georgia"/>
              </a:rPr>
              <a:t>you</a:t>
            </a:r>
            <a:r>
              <a:rPr sz="3600" spc="-5" dirty="0">
                <a:solidFill>
                  <a:srgbClr val="2E377E"/>
                </a:solidFill>
                <a:latin typeface="Georgia"/>
                <a:cs typeface="Georgia"/>
              </a:rPr>
              <a:t> </a:t>
            </a:r>
            <a:r>
              <a:rPr sz="3600" spc="40" dirty="0">
                <a:solidFill>
                  <a:srgbClr val="2E377E"/>
                </a:solidFill>
                <a:latin typeface="Georgia"/>
                <a:cs typeface="Georgia"/>
              </a:rPr>
              <a:t>left </a:t>
            </a:r>
            <a:r>
              <a:rPr sz="3600" dirty="0">
                <a:solidFill>
                  <a:srgbClr val="2E377E"/>
                </a:solidFill>
                <a:latin typeface="Georgia"/>
                <a:cs typeface="Georgia"/>
              </a:rPr>
              <a:t>last</a:t>
            </a:r>
            <a:r>
              <a:rPr sz="3600" spc="5" dirty="0">
                <a:solidFill>
                  <a:srgbClr val="2E377E"/>
                </a:solidFill>
                <a:latin typeface="Georgia"/>
                <a:cs typeface="Georgia"/>
              </a:rPr>
              <a:t> </a:t>
            </a:r>
            <a:r>
              <a:rPr sz="3600" dirty="0">
                <a:solidFill>
                  <a:srgbClr val="2E377E"/>
                </a:solidFill>
                <a:latin typeface="Georgia"/>
                <a:cs typeface="Georgia"/>
              </a:rPr>
              <a:t>time,</a:t>
            </a:r>
            <a:r>
              <a:rPr sz="3600" spc="10" dirty="0">
                <a:solidFill>
                  <a:srgbClr val="2E377E"/>
                </a:solidFill>
                <a:latin typeface="Georgia"/>
                <a:cs typeface="Georgia"/>
              </a:rPr>
              <a:t> </a:t>
            </a:r>
            <a:r>
              <a:rPr sz="3600" dirty="0">
                <a:solidFill>
                  <a:srgbClr val="2E377E"/>
                </a:solidFill>
                <a:latin typeface="Georgia"/>
                <a:cs typeface="Georgia"/>
              </a:rPr>
              <a:t>as</a:t>
            </a:r>
            <a:r>
              <a:rPr sz="3600" spc="10" dirty="0">
                <a:solidFill>
                  <a:srgbClr val="2E377E"/>
                </a:solidFill>
                <a:latin typeface="Georgia"/>
                <a:cs typeface="Georgia"/>
              </a:rPr>
              <a:t> </a:t>
            </a:r>
            <a:r>
              <a:rPr sz="3600" spc="6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amazon</a:t>
            </a:r>
            <a:r>
              <a:rPr sz="3600" spc="5" dirty="0">
                <a:solidFill>
                  <a:srgbClr val="2E377E"/>
                </a:solidFill>
                <a:latin typeface="Georgia"/>
                <a:cs typeface="Georgia"/>
              </a:rPr>
              <a:t> </a:t>
            </a:r>
            <a:r>
              <a:rPr sz="3600" dirty="0">
                <a:solidFill>
                  <a:srgbClr val="2E377E"/>
                </a:solidFill>
                <a:latin typeface="Georgia"/>
                <a:cs typeface="Georgia"/>
              </a:rPr>
              <a:t>portal</a:t>
            </a:r>
            <a:r>
              <a:rPr sz="3600" spc="10" dirty="0">
                <a:solidFill>
                  <a:srgbClr val="2E377E"/>
                </a:solidFill>
                <a:latin typeface="Georgia"/>
                <a:cs typeface="Georgia"/>
              </a:rPr>
              <a:t> </a:t>
            </a:r>
            <a:r>
              <a:rPr sz="3600" spc="55" dirty="0">
                <a:solidFill>
                  <a:srgbClr val="2E377E"/>
                </a:solidFill>
                <a:latin typeface="Georgia"/>
                <a:cs typeface="Georgia"/>
              </a:rPr>
              <a:t>will</a:t>
            </a:r>
            <a:r>
              <a:rPr sz="3600" spc="10" dirty="0">
                <a:solidFill>
                  <a:srgbClr val="2E377E"/>
                </a:solidFill>
                <a:latin typeface="Georgia"/>
                <a:cs typeface="Georgia"/>
              </a:rPr>
              <a:t> </a:t>
            </a:r>
            <a:r>
              <a:rPr sz="3600" dirty="0">
                <a:solidFill>
                  <a:srgbClr val="2E377E"/>
                </a:solidFill>
                <a:latin typeface="Georgia"/>
                <a:cs typeface="Georgia"/>
              </a:rPr>
              <a:t>ensure</a:t>
            </a:r>
            <a:r>
              <a:rPr sz="3600" spc="10" dirty="0">
                <a:solidFill>
                  <a:srgbClr val="2E377E"/>
                </a:solidFill>
                <a:latin typeface="Georgia"/>
                <a:cs typeface="Georgia"/>
              </a:rPr>
              <a:t> </a:t>
            </a:r>
            <a:r>
              <a:rPr sz="3600" dirty="0">
                <a:solidFill>
                  <a:srgbClr val="2E377E"/>
                </a:solidFill>
                <a:latin typeface="Georgia"/>
                <a:cs typeface="Georgia"/>
              </a:rPr>
              <a:t>all</a:t>
            </a:r>
            <a:r>
              <a:rPr sz="3600" spc="5" dirty="0">
                <a:solidFill>
                  <a:srgbClr val="2E377E"/>
                </a:solidFill>
                <a:latin typeface="Georgia"/>
                <a:cs typeface="Georgia"/>
              </a:rPr>
              <a:t> </a:t>
            </a:r>
            <a:r>
              <a:rPr sz="3600" spc="50" dirty="0">
                <a:solidFill>
                  <a:srgbClr val="2E377E"/>
                </a:solidFill>
                <a:latin typeface="Georgia"/>
                <a:cs typeface="Georgia"/>
              </a:rPr>
              <a:t>items</a:t>
            </a:r>
            <a:r>
              <a:rPr sz="3600" spc="10" dirty="0">
                <a:solidFill>
                  <a:srgbClr val="2E377E"/>
                </a:solidFill>
                <a:latin typeface="Georgia"/>
                <a:cs typeface="Georgia"/>
              </a:rPr>
              <a:t> </a:t>
            </a:r>
            <a:r>
              <a:rPr sz="3600" dirty="0">
                <a:solidFill>
                  <a:srgbClr val="2E377E"/>
                </a:solidFill>
                <a:latin typeface="Georgia"/>
                <a:cs typeface="Georgia"/>
              </a:rPr>
              <a:t>added</a:t>
            </a:r>
            <a:r>
              <a:rPr sz="3600" spc="10" dirty="0">
                <a:solidFill>
                  <a:srgbClr val="2E377E"/>
                </a:solidFill>
                <a:latin typeface="Georgia"/>
                <a:cs typeface="Georgia"/>
              </a:rPr>
              <a:t> </a:t>
            </a:r>
            <a:r>
              <a:rPr sz="3600" spc="70" dirty="0">
                <a:solidFill>
                  <a:srgbClr val="2E377E"/>
                </a:solidFill>
                <a:latin typeface="Georgia"/>
                <a:cs typeface="Georgia"/>
              </a:rPr>
              <a:t>to</a:t>
            </a:r>
            <a:r>
              <a:rPr sz="3600" spc="10" dirty="0">
                <a:solidFill>
                  <a:srgbClr val="2E377E"/>
                </a:solidFill>
                <a:latin typeface="Georgia"/>
                <a:cs typeface="Georgia"/>
              </a:rPr>
              <a:t> </a:t>
            </a:r>
            <a:r>
              <a:rPr sz="3600" spc="6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Shopping</a:t>
            </a:r>
            <a:r>
              <a:rPr sz="3600" spc="10" dirty="0">
                <a:solidFill>
                  <a:srgbClr val="2E377E"/>
                </a:solidFill>
                <a:latin typeface="Georgia"/>
                <a:cs typeface="Georgia"/>
              </a:rPr>
              <a:t> </a:t>
            </a:r>
            <a:r>
              <a:rPr sz="3600" spc="50" dirty="0">
                <a:solidFill>
                  <a:srgbClr val="2E377E"/>
                </a:solidFill>
                <a:latin typeface="Georgia"/>
                <a:cs typeface="Georgia"/>
              </a:rPr>
              <a:t>cart</a:t>
            </a:r>
            <a:r>
              <a:rPr sz="3600" spc="10" dirty="0">
                <a:solidFill>
                  <a:srgbClr val="2E377E"/>
                </a:solidFill>
                <a:latin typeface="Georgia"/>
                <a:cs typeface="Georgia"/>
              </a:rPr>
              <a:t> </a:t>
            </a:r>
            <a:r>
              <a:rPr sz="3600" spc="-25" dirty="0">
                <a:solidFill>
                  <a:srgbClr val="2E377E"/>
                </a:solidFill>
                <a:latin typeface="Georgia"/>
                <a:cs typeface="Georgia"/>
              </a:rPr>
              <a:t>are </a:t>
            </a:r>
            <a:r>
              <a:rPr sz="3600" spc="45" dirty="0">
                <a:solidFill>
                  <a:srgbClr val="2E377E"/>
                </a:solidFill>
                <a:latin typeface="Georgia"/>
                <a:cs typeface="Georgia"/>
              </a:rPr>
              <a:t>persisted</a:t>
            </a:r>
            <a:r>
              <a:rPr sz="3600" spc="-50" dirty="0">
                <a:solidFill>
                  <a:srgbClr val="2E377E"/>
                </a:solidFill>
                <a:latin typeface="Georgia"/>
                <a:cs typeface="Georgia"/>
              </a:rPr>
              <a:t> </a:t>
            </a:r>
            <a:r>
              <a:rPr sz="3600" dirty="0">
                <a:solidFill>
                  <a:srgbClr val="2E377E"/>
                </a:solidFill>
                <a:latin typeface="Georgia"/>
                <a:cs typeface="Georgia"/>
              </a:rPr>
              <a:t>in</a:t>
            </a:r>
            <a:r>
              <a:rPr sz="3600" spc="-45" dirty="0">
                <a:solidFill>
                  <a:srgbClr val="2E377E"/>
                </a:solidFill>
                <a:latin typeface="Georgia"/>
                <a:cs typeface="Georgia"/>
              </a:rPr>
              <a:t> </a:t>
            </a:r>
            <a:r>
              <a:rPr sz="3600" spc="-10" dirty="0">
                <a:solidFill>
                  <a:srgbClr val="2E377E"/>
                </a:solidFill>
                <a:latin typeface="Georgia"/>
                <a:cs typeface="Georgia"/>
              </a:rPr>
              <a:t>database.</a:t>
            </a:r>
            <a:endParaRPr sz="3600">
              <a:latin typeface="Georgia"/>
              <a:cs typeface="Georgia"/>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60488" y="1123620"/>
            <a:ext cx="16944975" cy="513080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Technically,</a:t>
            </a:r>
            <a:r>
              <a:rPr sz="3600" spc="20" dirty="0">
                <a:solidFill>
                  <a:srgbClr val="2E377E"/>
                </a:solidFill>
                <a:latin typeface="Georgia"/>
                <a:cs typeface="Georgia"/>
              </a:rPr>
              <a:t> </a:t>
            </a:r>
            <a:r>
              <a:rPr sz="3600" dirty="0">
                <a:solidFill>
                  <a:srgbClr val="2E377E"/>
                </a:solidFill>
                <a:latin typeface="Georgia"/>
                <a:cs typeface="Georgia"/>
              </a:rPr>
              <a:t>if</a:t>
            </a:r>
            <a:r>
              <a:rPr sz="3600" spc="20" dirty="0">
                <a:solidFill>
                  <a:srgbClr val="2E377E"/>
                </a:solidFill>
                <a:latin typeface="Georgia"/>
                <a:cs typeface="Georgia"/>
              </a:rPr>
              <a:t> </a:t>
            </a:r>
            <a:r>
              <a:rPr sz="3600" dirty="0">
                <a:solidFill>
                  <a:srgbClr val="2E377E"/>
                </a:solidFill>
                <a:latin typeface="Georgia"/>
                <a:cs typeface="Georgia"/>
              </a:rPr>
              <a:t>Amazon</a:t>
            </a:r>
            <a:r>
              <a:rPr sz="3600" spc="20"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using</a:t>
            </a:r>
            <a:r>
              <a:rPr sz="3600" spc="20"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dirty="0">
                <a:solidFill>
                  <a:srgbClr val="2E377E"/>
                </a:solidFill>
                <a:latin typeface="Georgia"/>
                <a:cs typeface="Georgia"/>
              </a:rPr>
              <a:t>ShoppingCart</a:t>
            </a:r>
            <a:r>
              <a:rPr sz="3600" spc="20" dirty="0">
                <a:solidFill>
                  <a:srgbClr val="2E377E"/>
                </a:solidFill>
                <a:latin typeface="Georgia"/>
                <a:cs typeface="Georgia"/>
              </a:rPr>
              <a:t> </a:t>
            </a:r>
            <a:r>
              <a:rPr sz="3600" spc="55" dirty="0">
                <a:solidFill>
                  <a:srgbClr val="2E377E"/>
                </a:solidFill>
                <a:latin typeface="Georgia"/>
                <a:cs typeface="Georgia"/>
              </a:rPr>
              <a:t>that</a:t>
            </a:r>
            <a:r>
              <a:rPr sz="3600" spc="20" dirty="0">
                <a:solidFill>
                  <a:srgbClr val="2E377E"/>
                </a:solidFill>
                <a:latin typeface="Georgia"/>
                <a:cs typeface="Georgia"/>
              </a:rPr>
              <a:t> </a:t>
            </a:r>
            <a:r>
              <a:rPr sz="3600" dirty="0">
                <a:solidFill>
                  <a:srgbClr val="2E377E"/>
                </a:solidFill>
                <a:latin typeface="Georgia"/>
                <a:cs typeface="Georgia"/>
              </a:rPr>
              <a:t>runs</a:t>
            </a:r>
            <a:r>
              <a:rPr sz="3600" spc="20" dirty="0">
                <a:solidFill>
                  <a:srgbClr val="2E377E"/>
                </a:solidFill>
                <a:latin typeface="Georgia"/>
                <a:cs typeface="Georgia"/>
              </a:rPr>
              <a:t> </a:t>
            </a:r>
            <a:r>
              <a:rPr sz="3600" dirty="0">
                <a:solidFill>
                  <a:srgbClr val="2E377E"/>
                </a:solidFill>
                <a:latin typeface="Georgia"/>
                <a:cs typeface="Georgia"/>
              </a:rPr>
              <a:t>in</a:t>
            </a:r>
            <a:r>
              <a:rPr sz="3600" spc="20"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spc="-20" dirty="0">
                <a:solidFill>
                  <a:srgbClr val="2E377E"/>
                </a:solidFill>
                <a:latin typeface="Georgia"/>
                <a:cs typeface="Georgia"/>
              </a:rPr>
              <a:t>Pod,</a:t>
            </a:r>
            <a:endParaRPr sz="3600">
              <a:latin typeface="Georgia"/>
              <a:cs typeface="Georgia"/>
            </a:endParaRPr>
          </a:p>
          <a:p>
            <a:pPr marL="12700" marR="5080">
              <a:lnSpc>
                <a:spcPct val="116300"/>
              </a:lnSpc>
            </a:pPr>
            <a:r>
              <a:rPr sz="3600" dirty="0">
                <a:solidFill>
                  <a:srgbClr val="2E377E"/>
                </a:solidFill>
                <a:latin typeface="Georgia"/>
                <a:cs typeface="Georgia"/>
              </a:rPr>
              <a:t>When</a:t>
            </a:r>
            <a:r>
              <a:rPr sz="3600" spc="-40" dirty="0">
                <a:solidFill>
                  <a:srgbClr val="2E377E"/>
                </a:solidFill>
                <a:latin typeface="Georgia"/>
                <a:cs typeface="Georgia"/>
              </a:rPr>
              <a:t> </a:t>
            </a:r>
            <a:r>
              <a:rPr sz="3600" dirty="0">
                <a:solidFill>
                  <a:srgbClr val="2E377E"/>
                </a:solidFill>
                <a:latin typeface="Georgia"/>
                <a:cs typeface="Georgia"/>
              </a:rPr>
              <a:t>i</a:t>
            </a:r>
            <a:r>
              <a:rPr sz="3600" spc="-35" dirty="0">
                <a:solidFill>
                  <a:srgbClr val="2E377E"/>
                </a:solidFill>
                <a:latin typeface="Georgia"/>
                <a:cs typeface="Georgia"/>
              </a:rPr>
              <a:t> </a:t>
            </a:r>
            <a:r>
              <a:rPr sz="3600" dirty="0">
                <a:solidFill>
                  <a:srgbClr val="2E377E"/>
                </a:solidFill>
                <a:latin typeface="Georgia"/>
                <a:cs typeface="Georgia"/>
              </a:rPr>
              <a:t>added</a:t>
            </a:r>
            <a:r>
              <a:rPr sz="3600" spc="-35" dirty="0">
                <a:solidFill>
                  <a:srgbClr val="2E377E"/>
                </a:solidFill>
                <a:latin typeface="Georgia"/>
                <a:cs typeface="Georgia"/>
              </a:rPr>
              <a:t> </a:t>
            </a:r>
            <a:r>
              <a:rPr sz="3600" dirty="0">
                <a:solidFill>
                  <a:srgbClr val="2E377E"/>
                </a:solidFill>
                <a:latin typeface="Georgia"/>
                <a:cs typeface="Georgia"/>
              </a:rPr>
              <a:t>some</a:t>
            </a:r>
            <a:r>
              <a:rPr sz="3600" spc="-35" dirty="0">
                <a:solidFill>
                  <a:srgbClr val="2E377E"/>
                </a:solidFill>
                <a:latin typeface="Georgia"/>
                <a:cs typeface="Georgia"/>
              </a:rPr>
              <a:t> </a:t>
            </a:r>
            <a:r>
              <a:rPr sz="3600" spc="45" dirty="0">
                <a:solidFill>
                  <a:srgbClr val="2E377E"/>
                </a:solidFill>
                <a:latin typeface="Georgia"/>
                <a:cs typeface="Georgia"/>
              </a:rPr>
              <a:t>products</a:t>
            </a:r>
            <a:r>
              <a:rPr sz="3600" spc="-35" dirty="0">
                <a:solidFill>
                  <a:srgbClr val="2E377E"/>
                </a:solidFill>
                <a:latin typeface="Georgia"/>
                <a:cs typeface="Georgia"/>
              </a:rPr>
              <a:t> </a:t>
            </a:r>
            <a:r>
              <a:rPr sz="3600" dirty="0">
                <a:solidFill>
                  <a:srgbClr val="2E377E"/>
                </a:solidFill>
                <a:latin typeface="Georgia"/>
                <a:cs typeface="Georgia"/>
              </a:rPr>
              <a:t>on</a:t>
            </a:r>
            <a:r>
              <a:rPr sz="3600" spc="-35" dirty="0">
                <a:solidFill>
                  <a:srgbClr val="2E377E"/>
                </a:solidFill>
                <a:latin typeface="Georgia"/>
                <a:cs typeface="Georgia"/>
              </a:rPr>
              <a:t> </a:t>
            </a:r>
            <a:r>
              <a:rPr sz="3600" spc="110" dirty="0">
                <a:solidFill>
                  <a:srgbClr val="2E377E"/>
                </a:solidFill>
                <a:latin typeface="Georgia"/>
                <a:cs typeface="Georgia"/>
              </a:rPr>
              <a:t>my</a:t>
            </a:r>
            <a:r>
              <a:rPr sz="3600" spc="-35" dirty="0">
                <a:solidFill>
                  <a:srgbClr val="2E377E"/>
                </a:solidFill>
                <a:latin typeface="Georgia"/>
                <a:cs typeface="Georgia"/>
              </a:rPr>
              <a:t> </a:t>
            </a:r>
            <a:r>
              <a:rPr sz="3600" spc="50" dirty="0">
                <a:solidFill>
                  <a:srgbClr val="2E377E"/>
                </a:solidFill>
                <a:latin typeface="Georgia"/>
                <a:cs typeface="Georgia"/>
              </a:rPr>
              <a:t>cart</a:t>
            </a:r>
            <a:r>
              <a:rPr sz="3600" spc="-40" dirty="0">
                <a:solidFill>
                  <a:srgbClr val="2E377E"/>
                </a:solidFill>
                <a:latin typeface="Georgia"/>
                <a:cs typeface="Georgia"/>
              </a:rPr>
              <a:t> </a:t>
            </a:r>
            <a:r>
              <a:rPr sz="3600" spc="55" dirty="0">
                <a:solidFill>
                  <a:srgbClr val="2E377E"/>
                </a:solidFill>
                <a:latin typeface="Georgia"/>
                <a:cs typeface="Georgia"/>
              </a:rPr>
              <a:t>that</a:t>
            </a:r>
            <a:r>
              <a:rPr sz="3600" spc="-35" dirty="0">
                <a:solidFill>
                  <a:srgbClr val="2E377E"/>
                </a:solidFill>
                <a:latin typeface="Georgia"/>
                <a:cs typeface="Georgia"/>
              </a:rPr>
              <a:t> </a:t>
            </a:r>
            <a:r>
              <a:rPr sz="3600" spc="55" dirty="0">
                <a:solidFill>
                  <a:srgbClr val="2E377E"/>
                </a:solidFill>
                <a:latin typeface="Georgia"/>
                <a:cs typeface="Georgia"/>
              </a:rPr>
              <a:t>will</a:t>
            </a:r>
            <a:r>
              <a:rPr sz="3600" spc="-35" dirty="0">
                <a:solidFill>
                  <a:srgbClr val="2E377E"/>
                </a:solidFill>
                <a:latin typeface="Georgia"/>
                <a:cs typeface="Georgia"/>
              </a:rPr>
              <a:t> </a:t>
            </a:r>
            <a:r>
              <a:rPr sz="3600" spc="50" dirty="0">
                <a:solidFill>
                  <a:srgbClr val="2E377E"/>
                </a:solidFill>
                <a:latin typeface="Georgia"/>
                <a:cs typeface="Georgia"/>
              </a:rPr>
              <a:t>stores</a:t>
            </a:r>
            <a:r>
              <a:rPr sz="3600" spc="-35" dirty="0">
                <a:solidFill>
                  <a:srgbClr val="2E377E"/>
                </a:solidFill>
                <a:latin typeface="Georgia"/>
                <a:cs typeface="Georgia"/>
              </a:rPr>
              <a:t> </a:t>
            </a:r>
            <a:r>
              <a:rPr sz="3600" dirty="0">
                <a:solidFill>
                  <a:srgbClr val="2E377E"/>
                </a:solidFill>
                <a:latin typeface="Georgia"/>
                <a:cs typeface="Georgia"/>
              </a:rPr>
              <a:t>on</a:t>
            </a:r>
            <a:r>
              <a:rPr sz="3600" spc="-35" dirty="0">
                <a:solidFill>
                  <a:srgbClr val="2E377E"/>
                </a:solidFill>
                <a:latin typeface="Georgia"/>
                <a:cs typeface="Georgia"/>
              </a:rPr>
              <a:t> </a:t>
            </a:r>
            <a:r>
              <a:rPr sz="3600" dirty="0">
                <a:solidFill>
                  <a:srgbClr val="2E377E"/>
                </a:solidFill>
                <a:latin typeface="Georgia"/>
                <a:cs typeface="Georgia"/>
              </a:rPr>
              <a:t>one</a:t>
            </a:r>
            <a:r>
              <a:rPr sz="3600" spc="-35" dirty="0">
                <a:solidFill>
                  <a:srgbClr val="2E377E"/>
                </a:solidFill>
                <a:latin typeface="Georgia"/>
                <a:cs typeface="Georgia"/>
              </a:rPr>
              <a:t> </a:t>
            </a:r>
            <a:r>
              <a:rPr sz="3600" dirty="0">
                <a:solidFill>
                  <a:srgbClr val="2E377E"/>
                </a:solidFill>
                <a:latin typeface="Georgia"/>
                <a:cs typeface="Georgia"/>
              </a:rPr>
              <a:t>pod</a:t>
            </a:r>
            <a:r>
              <a:rPr sz="3600" spc="-35" dirty="0">
                <a:solidFill>
                  <a:srgbClr val="2E377E"/>
                </a:solidFill>
                <a:latin typeface="Georgia"/>
                <a:cs typeface="Georgia"/>
              </a:rPr>
              <a:t> </a:t>
            </a:r>
            <a:r>
              <a:rPr sz="3600" dirty="0">
                <a:solidFill>
                  <a:srgbClr val="2E377E"/>
                </a:solidFill>
                <a:latin typeface="Georgia"/>
                <a:cs typeface="Georgia"/>
              </a:rPr>
              <a:t>and</a:t>
            </a:r>
            <a:r>
              <a:rPr sz="3600" spc="-35" dirty="0">
                <a:solidFill>
                  <a:srgbClr val="2E377E"/>
                </a:solidFill>
                <a:latin typeface="Georgia"/>
                <a:cs typeface="Georgia"/>
              </a:rPr>
              <a:t> </a:t>
            </a:r>
            <a:r>
              <a:rPr sz="3600" spc="55" dirty="0">
                <a:solidFill>
                  <a:srgbClr val="2E377E"/>
                </a:solidFill>
                <a:latin typeface="Georgia"/>
                <a:cs typeface="Georgia"/>
              </a:rPr>
              <a:t>after</a:t>
            </a:r>
            <a:r>
              <a:rPr sz="3600" spc="-40" dirty="0">
                <a:solidFill>
                  <a:srgbClr val="2E377E"/>
                </a:solidFill>
                <a:latin typeface="Georgia"/>
                <a:cs typeface="Georgia"/>
              </a:rPr>
              <a:t> </a:t>
            </a:r>
            <a:r>
              <a:rPr sz="3600" spc="-20" dirty="0">
                <a:solidFill>
                  <a:srgbClr val="2E377E"/>
                </a:solidFill>
                <a:latin typeface="Georgia"/>
                <a:cs typeface="Georgia"/>
              </a:rPr>
              <a:t>some </a:t>
            </a:r>
            <a:r>
              <a:rPr sz="3600" spc="55" dirty="0">
                <a:solidFill>
                  <a:srgbClr val="2E377E"/>
                </a:solidFill>
                <a:latin typeface="Georgia"/>
                <a:cs typeface="Georgia"/>
              </a:rPr>
              <a:t>time</a:t>
            </a:r>
            <a:r>
              <a:rPr sz="3600" spc="-25" dirty="0">
                <a:solidFill>
                  <a:srgbClr val="2E377E"/>
                </a:solidFill>
                <a:latin typeface="Georgia"/>
                <a:cs typeface="Georgia"/>
              </a:rPr>
              <a:t> </a:t>
            </a:r>
            <a:r>
              <a:rPr sz="3600" spc="75" dirty="0">
                <a:solidFill>
                  <a:srgbClr val="2E377E"/>
                </a:solidFill>
                <a:latin typeface="Georgia"/>
                <a:cs typeface="Georgia"/>
              </a:rPr>
              <a:t>when</a:t>
            </a:r>
            <a:r>
              <a:rPr sz="3600" spc="-20" dirty="0">
                <a:solidFill>
                  <a:srgbClr val="2E377E"/>
                </a:solidFill>
                <a:latin typeface="Georgia"/>
                <a:cs typeface="Georgia"/>
              </a:rPr>
              <a:t> </a:t>
            </a:r>
            <a:r>
              <a:rPr sz="3600" dirty="0">
                <a:solidFill>
                  <a:srgbClr val="2E377E"/>
                </a:solidFill>
                <a:latin typeface="Georgia"/>
                <a:cs typeface="Georgia"/>
              </a:rPr>
              <a:t>i</a:t>
            </a:r>
            <a:r>
              <a:rPr sz="3600" spc="-25" dirty="0">
                <a:solidFill>
                  <a:srgbClr val="2E377E"/>
                </a:solidFill>
                <a:latin typeface="Georgia"/>
                <a:cs typeface="Georgia"/>
              </a:rPr>
              <a:t> </a:t>
            </a:r>
            <a:r>
              <a:rPr sz="3600" spc="45" dirty="0">
                <a:solidFill>
                  <a:srgbClr val="2E377E"/>
                </a:solidFill>
                <a:latin typeface="Georgia"/>
                <a:cs typeface="Georgia"/>
              </a:rPr>
              <a:t>resumed</a:t>
            </a:r>
            <a:r>
              <a:rPr sz="3600" spc="-20" dirty="0">
                <a:solidFill>
                  <a:srgbClr val="2E377E"/>
                </a:solidFill>
                <a:latin typeface="Georgia"/>
                <a:cs typeface="Georgia"/>
              </a:rPr>
              <a:t> </a:t>
            </a:r>
            <a:r>
              <a:rPr sz="3600" dirty="0">
                <a:solidFill>
                  <a:srgbClr val="2E377E"/>
                </a:solidFill>
                <a:latin typeface="Georgia"/>
                <a:cs typeface="Georgia"/>
              </a:rPr>
              <a:t>back</a:t>
            </a:r>
            <a:r>
              <a:rPr sz="3600" spc="-25" dirty="0">
                <a:solidFill>
                  <a:srgbClr val="2E377E"/>
                </a:solidFill>
                <a:latin typeface="Georgia"/>
                <a:cs typeface="Georgia"/>
              </a:rPr>
              <a:t> </a:t>
            </a:r>
            <a:r>
              <a:rPr sz="3600" spc="70" dirty="0">
                <a:solidFill>
                  <a:srgbClr val="2E377E"/>
                </a:solidFill>
                <a:latin typeface="Georgia"/>
                <a:cs typeface="Georgia"/>
              </a:rPr>
              <a:t>to</a:t>
            </a:r>
            <a:r>
              <a:rPr sz="3600" spc="-20" dirty="0">
                <a:solidFill>
                  <a:srgbClr val="2E377E"/>
                </a:solidFill>
                <a:latin typeface="Georgia"/>
                <a:cs typeface="Georgia"/>
              </a:rPr>
              <a:t> </a:t>
            </a:r>
            <a:r>
              <a:rPr sz="3600" spc="6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amazon</a:t>
            </a:r>
            <a:r>
              <a:rPr sz="3600" spc="-20" dirty="0">
                <a:solidFill>
                  <a:srgbClr val="2E377E"/>
                </a:solidFill>
                <a:latin typeface="Georgia"/>
                <a:cs typeface="Georgia"/>
              </a:rPr>
              <a:t> </a:t>
            </a:r>
            <a:r>
              <a:rPr sz="3600" dirty="0">
                <a:solidFill>
                  <a:srgbClr val="2E377E"/>
                </a:solidFill>
                <a:latin typeface="Georgia"/>
                <a:cs typeface="Georgia"/>
              </a:rPr>
              <a:t>portal</a:t>
            </a:r>
            <a:r>
              <a:rPr sz="3600" spc="-25" dirty="0">
                <a:solidFill>
                  <a:srgbClr val="2E377E"/>
                </a:solidFill>
                <a:latin typeface="Georgia"/>
                <a:cs typeface="Georgia"/>
              </a:rPr>
              <a:t> </a:t>
            </a:r>
            <a:r>
              <a:rPr sz="3600" spc="55" dirty="0">
                <a:solidFill>
                  <a:srgbClr val="2E377E"/>
                </a:solidFill>
                <a:latin typeface="Georgia"/>
                <a:cs typeface="Georgia"/>
              </a:rPr>
              <a:t>that</a:t>
            </a:r>
            <a:r>
              <a:rPr sz="3600" spc="-20" dirty="0">
                <a:solidFill>
                  <a:srgbClr val="2E377E"/>
                </a:solidFill>
                <a:latin typeface="Georgia"/>
                <a:cs typeface="Georgia"/>
              </a:rPr>
              <a:t> </a:t>
            </a:r>
            <a:r>
              <a:rPr sz="3600" spc="55" dirty="0">
                <a:solidFill>
                  <a:srgbClr val="2E377E"/>
                </a:solidFill>
                <a:latin typeface="Georgia"/>
                <a:cs typeface="Georgia"/>
              </a:rPr>
              <a:t>will</a:t>
            </a:r>
            <a:r>
              <a:rPr sz="3600" spc="-25" dirty="0">
                <a:solidFill>
                  <a:srgbClr val="2E377E"/>
                </a:solidFill>
                <a:latin typeface="Georgia"/>
                <a:cs typeface="Georgia"/>
              </a:rPr>
              <a:t> </a:t>
            </a:r>
            <a:r>
              <a:rPr sz="3600" spc="55" dirty="0">
                <a:solidFill>
                  <a:srgbClr val="2E377E"/>
                </a:solidFill>
                <a:latin typeface="Georgia"/>
                <a:cs typeface="Georgia"/>
              </a:rPr>
              <a:t>shows</a:t>
            </a:r>
            <a:r>
              <a:rPr sz="3600" spc="-20" dirty="0">
                <a:solidFill>
                  <a:srgbClr val="2E377E"/>
                </a:solidFill>
                <a:latin typeface="Georgia"/>
                <a:cs typeface="Georgia"/>
              </a:rPr>
              <a:t> </a:t>
            </a:r>
            <a:r>
              <a:rPr sz="3600" dirty="0">
                <a:solidFill>
                  <a:srgbClr val="2E377E"/>
                </a:solidFill>
                <a:latin typeface="Georgia"/>
                <a:cs typeface="Georgia"/>
              </a:rPr>
              <a:t>all</a:t>
            </a:r>
            <a:r>
              <a:rPr sz="3600" spc="-2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spc="35" dirty="0">
                <a:solidFill>
                  <a:srgbClr val="2E377E"/>
                </a:solidFill>
                <a:latin typeface="Georgia"/>
                <a:cs typeface="Georgia"/>
              </a:rPr>
              <a:t>products </a:t>
            </a:r>
            <a:r>
              <a:rPr sz="3600" dirty="0">
                <a:solidFill>
                  <a:srgbClr val="2E377E"/>
                </a:solidFill>
                <a:latin typeface="Georgia"/>
                <a:cs typeface="Georgia"/>
              </a:rPr>
              <a:t>from</a:t>
            </a:r>
            <a:r>
              <a:rPr sz="3600" spc="-10" dirty="0">
                <a:solidFill>
                  <a:srgbClr val="2E377E"/>
                </a:solidFill>
                <a:latin typeface="Georgia"/>
                <a:cs typeface="Georgia"/>
              </a:rPr>
              <a:t> </a:t>
            </a:r>
            <a:r>
              <a:rPr sz="3600" spc="60" dirty="0">
                <a:solidFill>
                  <a:srgbClr val="2E377E"/>
                </a:solidFill>
                <a:latin typeface="Georgia"/>
                <a:cs typeface="Georgia"/>
              </a:rPr>
              <a:t>the</a:t>
            </a:r>
            <a:r>
              <a:rPr sz="3600" spc="-5" dirty="0">
                <a:solidFill>
                  <a:srgbClr val="2E377E"/>
                </a:solidFill>
                <a:latin typeface="Georgia"/>
                <a:cs typeface="Georgia"/>
              </a:rPr>
              <a:t> </a:t>
            </a:r>
            <a:r>
              <a:rPr sz="3600" spc="50" dirty="0">
                <a:solidFill>
                  <a:srgbClr val="2E377E"/>
                </a:solidFill>
                <a:latin typeface="Georgia"/>
                <a:cs typeface="Georgia"/>
              </a:rPr>
              <a:t>different</a:t>
            </a:r>
            <a:r>
              <a:rPr sz="3600" spc="-5" dirty="0">
                <a:solidFill>
                  <a:srgbClr val="2E377E"/>
                </a:solidFill>
                <a:latin typeface="Georgia"/>
                <a:cs typeface="Georgia"/>
              </a:rPr>
              <a:t> </a:t>
            </a:r>
            <a:r>
              <a:rPr sz="3600" spc="-20" dirty="0">
                <a:solidFill>
                  <a:srgbClr val="2E377E"/>
                </a:solidFill>
                <a:latin typeface="Georgia"/>
                <a:cs typeface="Georgia"/>
              </a:rPr>
              <a:t>pod.</a:t>
            </a:r>
            <a:endParaRPr sz="3600">
              <a:latin typeface="Georgia"/>
              <a:cs typeface="Georgia"/>
            </a:endParaRPr>
          </a:p>
          <a:p>
            <a:pPr>
              <a:lnSpc>
                <a:spcPct val="100000"/>
              </a:lnSpc>
              <a:spcBef>
                <a:spcPts val="935"/>
              </a:spcBef>
            </a:pPr>
            <a:endParaRPr sz="3600">
              <a:latin typeface="Georgia"/>
              <a:cs typeface="Georgia"/>
            </a:endParaRPr>
          </a:p>
          <a:p>
            <a:pPr marL="12700" marR="148590">
              <a:lnSpc>
                <a:spcPct val="116300"/>
              </a:lnSpc>
            </a:pPr>
            <a:r>
              <a:rPr sz="3600" dirty="0">
                <a:solidFill>
                  <a:srgbClr val="2E377E"/>
                </a:solidFill>
                <a:latin typeface="Georgia"/>
                <a:cs typeface="Georgia"/>
              </a:rPr>
              <a:t>The</a:t>
            </a:r>
            <a:r>
              <a:rPr sz="3600" spc="75" dirty="0">
                <a:solidFill>
                  <a:srgbClr val="2E377E"/>
                </a:solidFill>
                <a:latin typeface="Georgia"/>
                <a:cs typeface="Georgia"/>
              </a:rPr>
              <a:t> </a:t>
            </a:r>
            <a:r>
              <a:rPr sz="3600" spc="50" dirty="0">
                <a:solidFill>
                  <a:srgbClr val="2E377E"/>
                </a:solidFill>
                <a:latin typeface="Georgia"/>
                <a:cs typeface="Georgia"/>
              </a:rPr>
              <a:t>interesting</a:t>
            </a:r>
            <a:r>
              <a:rPr sz="3600" spc="80" dirty="0">
                <a:solidFill>
                  <a:srgbClr val="2E377E"/>
                </a:solidFill>
                <a:latin typeface="Georgia"/>
                <a:cs typeface="Georgia"/>
              </a:rPr>
              <a:t> </a:t>
            </a:r>
            <a:r>
              <a:rPr sz="3600" dirty="0">
                <a:solidFill>
                  <a:srgbClr val="2E377E"/>
                </a:solidFill>
                <a:latin typeface="Georgia"/>
                <a:cs typeface="Georgia"/>
              </a:rPr>
              <a:t>thing</a:t>
            </a:r>
            <a:r>
              <a:rPr sz="3600" spc="75" dirty="0">
                <a:solidFill>
                  <a:srgbClr val="2E377E"/>
                </a:solidFill>
                <a:latin typeface="Georgia"/>
                <a:cs typeface="Georgia"/>
              </a:rPr>
              <a:t> </a:t>
            </a:r>
            <a:r>
              <a:rPr sz="3600" spc="70" dirty="0">
                <a:solidFill>
                  <a:srgbClr val="2E377E"/>
                </a:solidFill>
                <a:latin typeface="Georgia"/>
                <a:cs typeface="Georgia"/>
              </a:rPr>
              <a:t>to</a:t>
            </a:r>
            <a:r>
              <a:rPr sz="3600" spc="80" dirty="0">
                <a:solidFill>
                  <a:srgbClr val="2E377E"/>
                </a:solidFill>
                <a:latin typeface="Georgia"/>
                <a:cs typeface="Georgia"/>
              </a:rPr>
              <a:t> </a:t>
            </a:r>
            <a:r>
              <a:rPr sz="3600" dirty="0">
                <a:solidFill>
                  <a:srgbClr val="2E377E"/>
                </a:solidFill>
                <a:latin typeface="Georgia"/>
                <a:cs typeface="Georgia"/>
              </a:rPr>
              <a:t>understand</a:t>
            </a:r>
            <a:r>
              <a:rPr sz="3600" spc="80" dirty="0">
                <a:solidFill>
                  <a:srgbClr val="2E377E"/>
                </a:solidFill>
                <a:latin typeface="Georgia"/>
                <a:cs typeface="Georgia"/>
              </a:rPr>
              <a:t> </a:t>
            </a:r>
            <a:r>
              <a:rPr sz="3600" dirty="0">
                <a:solidFill>
                  <a:srgbClr val="2E377E"/>
                </a:solidFill>
                <a:latin typeface="Georgia"/>
                <a:cs typeface="Georgia"/>
              </a:rPr>
              <a:t>here</a:t>
            </a:r>
            <a:r>
              <a:rPr sz="3600" spc="75" dirty="0">
                <a:solidFill>
                  <a:srgbClr val="2E377E"/>
                </a:solidFill>
                <a:latin typeface="Georgia"/>
                <a:cs typeface="Georgia"/>
              </a:rPr>
              <a:t> </a:t>
            </a:r>
            <a:r>
              <a:rPr sz="3600" dirty="0">
                <a:solidFill>
                  <a:srgbClr val="2E377E"/>
                </a:solidFill>
                <a:latin typeface="Georgia"/>
                <a:cs typeface="Georgia"/>
              </a:rPr>
              <a:t>is,</a:t>
            </a:r>
            <a:r>
              <a:rPr sz="3600" spc="80" dirty="0">
                <a:solidFill>
                  <a:srgbClr val="2E377E"/>
                </a:solidFill>
                <a:latin typeface="Georgia"/>
                <a:cs typeface="Georgia"/>
              </a:rPr>
              <a:t> </a:t>
            </a:r>
            <a:r>
              <a:rPr sz="3600" spc="60" dirty="0">
                <a:solidFill>
                  <a:srgbClr val="2E377E"/>
                </a:solidFill>
                <a:latin typeface="Georgia"/>
                <a:cs typeface="Georgia"/>
              </a:rPr>
              <a:t>the</a:t>
            </a:r>
            <a:r>
              <a:rPr sz="3600" spc="80" dirty="0">
                <a:solidFill>
                  <a:srgbClr val="2E377E"/>
                </a:solidFill>
                <a:latin typeface="Georgia"/>
                <a:cs typeface="Georgia"/>
              </a:rPr>
              <a:t> </a:t>
            </a:r>
            <a:r>
              <a:rPr sz="3600" dirty="0">
                <a:solidFill>
                  <a:srgbClr val="2E377E"/>
                </a:solidFill>
                <a:latin typeface="Georgia"/>
                <a:cs typeface="Georgia"/>
              </a:rPr>
              <a:t>StatefulSet</a:t>
            </a:r>
            <a:r>
              <a:rPr sz="3600" spc="75" dirty="0">
                <a:solidFill>
                  <a:srgbClr val="2E377E"/>
                </a:solidFill>
                <a:latin typeface="Georgia"/>
                <a:cs typeface="Georgia"/>
              </a:rPr>
              <a:t> </a:t>
            </a:r>
            <a:r>
              <a:rPr sz="3600" dirty="0">
                <a:solidFill>
                  <a:srgbClr val="2E377E"/>
                </a:solidFill>
                <a:latin typeface="Georgia"/>
                <a:cs typeface="Georgia"/>
              </a:rPr>
              <a:t>Controller</a:t>
            </a:r>
            <a:r>
              <a:rPr sz="3600" spc="80" dirty="0">
                <a:solidFill>
                  <a:srgbClr val="2E377E"/>
                </a:solidFill>
                <a:latin typeface="Georgia"/>
                <a:cs typeface="Georgia"/>
              </a:rPr>
              <a:t> </a:t>
            </a:r>
            <a:r>
              <a:rPr sz="3600" dirty="0">
                <a:solidFill>
                  <a:srgbClr val="2E377E"/>
                </a:solidFill>
                <a:latin typeface="Georgia"/>
                <a:cs typeface="Georgia"/>
              </a:rPr>
              <a:t>managed</a:t>
            </a:r>
            <a:r>
              <a:rPr sz="3600" spc="80" dirty="0">
                <a:solidFill>
                  <a:srgbClr val="2E377E"/>
                </a:solidFill>
                <a:latin typeface="Georgia"/>
                <a:cs typeface="Georgia"/>
              </a:rPr>
              <a:t> </a:t>
            </a:r>
            <a:r>
              <a:rPr sz="3600" spc="45" dirty="0">
                <a:solidFill>
                  <a:srgbClr val="2E377E"/>
                </a:solidFill>
                <a:latin typeface="Georgia"/>
                <a:cs typeface="Georgia"/>
              </a:rPr>
              <a:t>to </a:t>
            </a:r>
            <a:r>
              <a:rPr sz="3600" dirty="0">
                <a:solidFill>
                  <a:srgbClr val="2E377E"/>
                </a:solidFill>
                <a:latin typeface="Georgia"/>
                <a:cs typeface="Georgia"/>
              </a:rPr>
              <a:t>bind </a:t>
            </a:r>
            <a:r>
              <a:rPr sz="3600" spc="60" dirty="0">
                <a:solidFill>
                  <a:srgbClr val="2E377E"/>
                </a:solidFill>
                <a:latin typeface="Georgia"/>
                <a:cs typeface="Georgia"/>
              </a:rPr>
              <a:t>the</a:t>
            </a:r>
            <a:r>
              <a:rPr sz="3600" spc="5" dirty="0">
                <a:solidFill>
                  <a:srgbClr val="2E377E"/>
                </a:solidFill>
                <a:latin typeface="Georgia"/>
                <a:cs typeface="Georgia"/>
              </a:rPr>
              <a:t> </a:t>
            </a:r>
            <a:r>
              <a:rPr sz="3600" spc="70" dirty="0">
                <a:solidFill>
                  <a:srgbClr val="2E377E"/>
                </a:solidFill>
                <a:latin typeface="Georgia"/>
                <a:cs typeface="Georgia"/>
              </a:rPr>
              <a:t>exact</a:t>
            </a:r>
            <a:r>
              <a:rPr sz="3600" spc="5" dirty="0">
                <a:solidFill>
                  <a:srgbClr val="2E377E"/>
                </a:solidFill>
                <a:latin typeface="Georgia"/>
                <a:cs typeface="Georgia"/>
              </a:rPr>
              <a:t> </a:t>
            </a:r>
            <a:r>
              <a:rPr sz="3600" dirty="0">
                <a:solidFill>
                  <a:srgbClr val="2E377E"/>
                </a:solidFill>
                <a:latin typeface="Georgia"/>
                <a:cs typeface="Georgia"/>
              </a:rPr>
              <a:t>same</a:t>
            </a:r>
            <a:r>
              <a:rPr sz="3600" spc="5" dirty="0">
                <a:solidFill>
                  <a:srgbClr val="2E377E"/>
                </a:solidFill>
                <a:latin typeface="Georgia"/>
                <a:cs typeface="Georgia"/>
              </a:rPr>
              <a:t> </a:t>
            </a:r>
            <a:r>
              <a:rPr sz="3600" spc="45" dirty="0">
                <a:solidFill>
                  <a:srgbClr val="2E377E"/>
                </a:solidFill>
                <a:latin typeface="Georgia"/>
                <a:cs typeface="Georgia"/>
              </a:rPr>
              <a:t>Persistent</a:t>
            </a:r>
            <a:r>
              <a:rPr sz="3600" spc="5" dirty="0">
                <a:solidFill>
                  <a:srgbClr val="2E377E"/>
                </a:solidFill>
                <a:latin typeface="Georgia"/>
                <a:cs typeface="Georgia"/>
              </a:rPr>
              <a:t> </a:t>
            </a:r>
            <a:r>
              <a:rPr sz="3600" dirty="0">
                <a:solidFill>
                  <a:srgbClr val="2E377E"/>
                </a:solidFill>
                <a:latin typeface="Georgia"/>
                <a:cs typeface="Georgia"/>
              </a:rPr>
              <a:t>Volume </a:t>
            </a:r>
            <a:r>
              <a:rPr sz="3600" spc="70" dirty="0">
                <a:solidFill>
                  <a:srgbClr val="2E377E"/>
                </a:solidFill>
                <a:latin typeface="Georgia"/>
                <a:cs typeface="Georgia"/>
              </a:rPr>
              <a:t>to</a:t>
            </a:r>
            <a:r>
              <a:rPr sz="3600" spc="5" dirty="0">
                <a:solidFill>
                  <a:srgbClr val="2E377E"/>
                </a:solidFill>
                <a:latin typeface="Georgia"/>
                <a:cs typeface="Georgia"/>
              </a:rPr>
              <a:t> </a:t>
            </a:r>
            <a:r>
              <a:rPr sz="3600" spc="114" dirty="0">
                <a:solidFill>
                  <a:srgbClr val="2E377E"/>
                </a:solidFill>
                <a:latin typeface="Georgia"/>
                <a:cs typeface="Georgia"/>
              </a:rPr>
              <a:t>two</a:t>
            </a:r>
            <a:r>
              <a:rPr sz="3600" spc="5" dirty="0">
                <a:solidFill>
                  <a:srgbClr val="2E377E"/>
                </a:solidFill>
                <a:latin typeface="Georgia"/>
                <a:cs typeface="Georgia"/>
              </a:rPr>
              <a:t> </a:t>
            </a:r>
            <a:r>
              <a:rPr sz="3600" dirty="0">
                <a:solidFill>
                  <a:srgbClr val="2E377E"/>
                </a:solidFill>
                <a:latin typeface="Georgia"/>
                <a:cs typeface="Georgia"/>
              </a:rPr>
              <a:t>Shopping</a:t>
            </a:r>
            <a:r>
              <a:rPr sz="3600" spc="5" dirty="0">
                <a:solidFill>
                  <a:srgbClr val="2E377E"/>
                </a:solidFill>
                <a:latin typeface="Georgia"/>
                <a:cs typeface="Georgia"/>
              </a:rPr>
              <a:t> </a:t>
            </a:r>
            <a:r>
              <a:rPr sz="3600" dirty="0">
                <a:solidFill>
                  <a:srgbClr val="2E377E"/>
                </a:solidFill>
                <a:latin typeface="Georgia"/>
                <a:cs typeface="Georgia"/>
              </a:rPr>
              <a:t>Cart</a:t>
            </a:r>
            <a:r>
              <a:rPr sz="3600" spc="5" dirty="0">
                <a:solidFill>
                  <a:srgbClr val="2E377E"/>
                </a:solidFill>
                <a:latin typeface="Georgia"/>
                <a:cs typeface="Georgia"/>
              </a:rPr>
              <a:t> </a:t>
            </a:r>
            <a:r>
              <a:rPr sz="3600" dirty="0">
                <a:solidFill>
                  <a:srgbClr val="2E377E"/>
                </a:solidFill>
                <a:latin typeface="Georgia"/>
                <a:cs typeface="Georgia"/>
              </a:rPr>
              <a:t>Pods associated</a:t>
            </a:r>
            <a:r>
              <a:rPr sz="3600" spc="5" dirty="0">
                <a:solidFill>
                  <a:srgbClr val="2E377E"/>
                </a:solidFill>
                <a:latin typeface="Georgia"/>
                <a:cs typeface="Georgia"/>
              </a:rPr>
              <a:t> </a:t>
            </a:r>
            <a:r>
              <a:rPr sz="3600" spc="45" dirty="0">
                <a:solidFill>
                  <a:srgbClr val="2E377E"/>
                </a:solidFill>
                <a:latin typeface="Georgia"/>
                <a:cs typeface="Georgia"/>
              </a:rPr>
              <a:t>to </a:t>
            </a:r>
            <a:r>
              <a:rPr sz="3600" spc="55" dirty="0">
                <a:solidFill>
                  <a:srgbClr val="2E377E"/>
                </a:solidFill>
                <a:latin typeface="Georgia"/>
                <a:cs typeface="Georgia"/>
              </a:rPr>
              <a:t>that</a:t>
            </a:r>
            <a:r>
              <a:rPr sz="3600" spc="-25" dirty="0">
                <a:solidFill>
                  <a:srgbClr val="2E377E"/>
                </a:solidFill>
                <a:latin typeface="Georgia"/>
                <a:cs typeface="Georgia"/>
              </a:rPr>
              <a:t> </a:t>
            </a:r>
            <a:r>
              <a:rPr sz="3600" spc="55" dirty="0">
                <a:solidFill>
                  <a:srgbClr val="2E377E"/>
                </a:solidFill>
                <a:latin typeface="Georgia"/>
                <a:cs typeface="Georgia"/>
              </a:rPr>
              <a:t>customer</a:t>
            </a:r>
            <a:r>
              <a:rPr sz="3600" spc="-20" dirty="0">
                <a:solidFill>
                  <a:srgbClr val="2E377E"/>
                </a:solidFill>
                <a:latin typeface="Georgia"/>
                <a:cs typeface="Georgia"/>
              </a:rPr>
              <a:t> </a:t>
            </a:r>
            <a:r>
              <a:rPr sz="3600" spc="50" dirty="0">
                <a:solidFill>
                  <a:srgbClr val="2E377E"/>
                </a:solidFill>
                <a:latin typeface="Georgia"/>
                <a:cs typeface="Georgia"/>
              </a:rPr>
              <a:t>at</a:t>
            </a:r>
            <a:r>
              <a:rPr sz="3600" spc="-25" dirty="0">
                <a:solidFill>
                  <a:srgbClr val="2E377E"/>
                </a:solidFill>
                <a:latin typeface="Georgia"/>
                <a:cs typeface="Georgia"/>
              </a:rPr>
              <a:t> </a:t>
            </a:r>
            <a:r>
              <a:rPr sz="3600" spc="114" dirty="0">
                <a:solidFill>
                  <a:srgbClr val="2E377E"/>
                </a:solidFill>
                <a:latin typeface="Georgia"/>
                <a:cs typeface="Georgia"/>
              </a:rPr>
              <a:t>two</a:t>
            </a:r>
            <a:r>
              <a:rPr sz="3600" spc="-20" dirty="0">
                <a:solidFill>
                  <a:srgbClr val="2E377E"/>
                </a:solidFill>
                <a:latin typeface="Georgia"/>
                <a:cs typeface="Georgia"/>
              </a:rPr>
              <a:t> </a:t>
            </a:r>
            <a:r>
              <a:rPr sz="3600" spc="50" dirty="0">
                <a:solidFill>
                  <a:srgbClr val="2E377E"/>
                </a:solidFill>
                <a:latin typeface="Georgia"/>
                <a:cs typeface="Georgia"/>
              </a:rPr>
              <a:t>different</a:t>
            </a:r>
            <a:r>
              <a:rPr sz="3600" spc="-25" dirty="0">
                <a:solidFill>
                  <a:srgbClr val="2E377E"/>
                </a:solidFill>
                <a:latin typeface="Georgia"/>
                <a:cs typeface="Georgia"/>
              </a:rPr>
              <a:t> </a:t>
            </a:r>
            <a:r>
              <a:rPr sz="3600" dirty="0">
                <a:solidFill>
                  <a:srgbClr val="2E377E"/>
                </a:solidFill>
                <a:latin typeface="Georgia"/>
                <a:cs typeface="Georgia"/>
              </a:rPr>
              <a:t>point</a:t>
            </a:r>
            <a:r>
              <a:rPr sz="3600" spc="-20"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spc="-10" dirty="0">
                <a:solidFill>
                  <a:srgbClr val="2E377E"/>
                </a:solidFill>
                <a:latin typeface="Georgia"/>
                <a:cs typeface="Georgia"/>
              </a:rPr>
              <a:t>time.</a:t>
            </a:r>
            <a:endParaRPr sz="3600">
              <a:latin typeface="Georgia"/>
              <a:cs typeface="Georgia"/>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47311" y="1777894"/>
            <a:ext cx="133350" cy="133349"/>
          </a:xfrm>
          <a:prstGeom prst="rect">
            <a:avLst/>
          </a:prstGeom>
        </p:spPr>
      </p:pic>
      <p:sp>
        <p:nvSpPr>
          <p:cNvPr id="3" name="object 3"/>
          <p:cNvSpPr txBox="1">
            <a:spLocks noGrp="1"/>
          </p:cNvSpPr>
          <p:nvPr>
            <p:ph type="title"/>
          </p:nvPr>
        </p:nvSpPr>
        <p:spPr>
          <a:xfrm>
            <a:off x="448579" y="606425"/>
            <a:ext cx="6811645" cy="711200"/>
          </a:xfrm>
          <a:prstGeom prst="rect">
            <a:avLst/>
          </a:prstGeom>
        </p:spPr>
        <p:txBody>
          <a:bodyPr vert="horz" wrap="square" lIns="0" tIns="12700" rIns="0" bIns="0" rtlCol="0">
            <a:spAutoFit/>
          </a:bodyPr>
          <a:lstStyle/>
          <a:p>
            <a:pPr marL="12700">
              <a:lnSpc>
                <a:spcPct val="100000"/>
              </a:lnSpc>
              <a:spcBef>
                <a:spcPts val="100"/>
              </a:spcBef>
            </a:pPr>
            <a:r>
              <a:rPr sz="4500" spc="-280" dirty="0">
                <a:solidFill>
                  <a:srgbClr val="FF3131"/>
                </a:solidFill>
              </a:rPr>
              <a:t>STATEFUL</a:t>
            </a:r>
            <a:r>
              <a:rPr sz="4500" spc="-30" dirty="0">
                <a:solidFill>
                  <a:srgbClr val="FF3131"/>
                </a:solidFill>
              </a:rPr>
              <a:t> </a:t>
            </a:r>
            <a:r>
              <a:rPr sz="4500" spc="-185" dirty="0">
                <a:solidFill>
                  <a:srgbClr val="FF3131"/>
                </a:solidFill>
              </a:rPr>
              <a:t>APPLICATION:</a:t>
            </a:r>
            <a:endParaRPr sz="4500"/>
          </a:p>
        </p:txBody>
      </p:sp>
      <p:pic>
        <p:nvPicPr>
          <p:cNvPr id="4" name="object 4"/>
          <p:cNvPicPr/>
          <p:nvPr/>
        </p:nvPicPr>
        <p:blipFill>
          <a:blip r:embed="rId2" cstate="print"/>
          <a:stretch>
            <a:fillRect/>
          </a:stretch>
        </p:blipFill>
        <p:spPr>
          <a:xfrm>
            <a:off x="1476374" y="4619502"/>
            <a:ext cx="133350" cy="133349"/>
          </a:xfrm>
          <a:prstGeom prst="rect">
            <a:avLst/>
          </a:prstGeom>
        </p:spPr>
      </p:pic>
      <p:pic>
        <p:nvPicPr>
          <p:cNvPr id="5" name="object 5"/>
          <p:cNvPicPr/>
          <p:nvPr/>
        </p:nvPicPr>
        <p:blipFill>
          <a:blip r:embed="rId2" cstate="print"/>
          <a:stretch>
            <a:fillRect/>
          </a:stretch>
        </p:blipFill>
        <p:spPr>
          <a:xfrm>
            <a:off x="1476374" y="5257677"/>
            <a:ext cx="133350" cy="133349"/>
          </a:xfrm>
          <a:prstGeom prst="rect">
            <a:avLst/>
          </a:prstGeom>
        </p:spPr>
      </p:pic>
      <p:pic>
        <p:nvPicPr>
          <p:cNvPr id="6" name="object 6"/>
          <p:cNvPicPr/>
          <p:nvPr/>
        </p:nvPicPr>
        <p:blipFill>
          <a:blip r:embed="rId2" cstate="print"/>
          <a:stretch>
            <a:fillRect/>
          </a:stretch>
        </p:blipFill>
        <p:spPr>
          <a:xfrm>
            <a:off x="1476374" y="5895852"/>
            <a:ext cx="133350" cy="133349"/>
          </a:xfrm>
          <a:prstGeom prst="rect">
            <a:avLst/>
          </a:prstGeom>
        </p:spPr>
      </p:pic>
      <p:sp>
        <p:nvSpPr>
          <p:cNvPr id="7" name="object 7"/>
          <p:cNvSpPr txBox="1"/>
          <p:nvPr/>
        </p:nvSpPr>
        <p:spPr>
          <a:xfrm>
            <a:off x="601730" y="1508019"/>
            <a:ext cx="15973425" cy="5827493"/>
          </a:xfrm>
          <a:prstGeom prst="rect">
            <a:avLst/>
          </a:prstGeom>
        </p:spPr>
        <p:txBody>
          <a:bodyPr vert="horz" wrap="square" lIns="0" tIns="12700" rIns="0" bIns="0" rtlCol="0">
            <a:spAutoFit/>
          </a:bodyPr>
          <a:lstStyle/>
          <a:p>
            <a:pPr marL="974725">
              <a:lnSpc>
                <a:spcPct val="100000"/>
              </a:lnSpc>
              <a:spcBef>
                <a:spcPts val="100"/>
              </a:spcBef>
            </a:pPr>
            <a:r>
              <a:rPr sz="3600" dirty="0">
                <a:solidFill>
                  <a:srgbClr val="2E377E"/>
                </a:solidFill>
                <a:latin typeface="Georgia"/>
                <a:cs typeface="Georgia"/>
              </a:rPr>
              <a:t>Stateful</a:t>
            </a:r>
            <a:r>
              <a:rPr sz="3600" spc="85" dirty="0">
                <a:solidFill>
                  <a:srgbClr val="2E377E"/>
                </a:solidFill>
                <a:latin typeface="Georgia"/>
                <a:cs typeface="Georgia"/>
              </a:rPr>
              <a:t> </a:t>
            </a:r>
            <a:r>
              <a:rPr sz="3600" dirty="0">
                <a:solidFill>
                  <a:srgbClr val="2E377E"/>
                </a:solidFill>
                <a:latin typeface="Georgia"/>
                <a:cs typeface="Georgia"/>
              </a:rPr>
              <a:t>applications</a:t>
            </a:r>
            <a:r>
              <a:rPr sz="3600" spc="90" dirty="0">
                <a:solidFill>
                  <a:srgbClr val="2E377E"/>
                </a:solidFill>
                <a:latin typeface="Georgia"/>
                <a:cs typeface="Georgia"/>
              </a:rPr>
              <a:t> </a:t>
            </a:r>
            <a:r>
              <a:rPr sz="3600" dirty="0">
                <a:solidFill>
                  <a:srgbClr val="2E377E"/>
                </a:solidFill>
                <a:latin typeface="Georgia"/>
                <a:cs typeface="Georgia"/>
              </a:rPr>
              <a:t>are</a:t>
            </a:r>
            <a:r>
              <a:rPr sz="3600" spc="85" dirty="0">
                <a:solidFill>
                  <a:srgbClr val="2E377E"/>
                </a:solidFill>
                <a:latin typeface="Georgia"/>
                <a:cs typeface="Georgia"/>
              </a:rPr>
              <a:t> </a:t>
            </a:r>
            <a:r>
              <a:rPr sz="3600" dirty="0">
                <a:solidFill>
                  <a:srgbClr val="2E377E"/>
                </a:solidFill>
                <a:latin typeface="Georgia"/>
                <a:cs typeface="Georgia"/>
              </a:rPr>
              <a:t>applications</a:t>
            </a:r>
            <a:r>
              <a:rPr sz="3600" spc="90" dirty="0">
                <a:solidFill>
                  <a:srgbClr val="2E377E"/>
                </a:solidFill>
                <a:latin typeface="Georgia"/>
                <a:cs typeface="Georgia"/>
              </a:rPr>
              <a:t> </a:t>
            </a:r>
            <a:r>
              <a:rPr sz="3600" spc="55" dirty="0">
                <a:solidFill>
                  <a:srgbClr val="2E377E"/>
                </a:solidFill>
                <a:latin typeface="Georgia"/>
                <a:cs typeface="Georgia"/>
              </a:rPr>
              <a:t>that</a:t>
            </a:r>
            <a:r>
              <a:rPr sz="3600" spc="85" dirty="0">
                <a:solidFill>
                  <a:srgbClr val="2E377E"/>
                </a:solidFill>
                <a:latin typeface="Georgia"/>
                <a:cs typeface="Georgia"/>
              </a:rPr>
              <a:t> </a:t>
            </a:r>
            <a:r>
              <a:rPr sz="3600" spc="55" dirty="0">
                <a:solidFill>
                  <a:srgbClr val="2E377E"/>
                </a:solidFill>
                <a:latin typeface="Georgia"/>
                <a:cs typeface="Georgia"/>
              </a:rPr>
              <a:t>store</a:t>
            </a:r>
            <a:r>
              <a:rPr sz="3600" spc="90" dirty="0">
                <a:solidFill>
                  <a:srgbClr val="2E377E"/>
                </a:solidFill>
                <a:latin typeface="Georgia"/>
                <a:cs typeface="Georgia"/>
              </a:rPr>
              <a:t> </a:t>
            </a:r>
            <a:r>
              <a:rPr sz="3600" dirty="0">
                <a:solidFill>
                  <a:srgbClr val="2E377E"/>
                </a:solidFill>
                <a:latin typeface="Georgia"/>
                <a:cs typeface="Georgia"/>
              </a:rPr>
              <a:t>data</a:t>
            </a:r>
            <a:r>
              <a:rPr sz="3600" spc="85" dirty="0">
                <a:solidFill>
                  <a:srgbClr val="2E377E"/>
                </a:solidFill>
                <a:latin typeface="Georgia"/>
                <a:cs typeface="Georgia"/>
              </a:rPr>
              <a:t> </a:t>
            </a:r>
            <a:r>
              <a:rPr sz="3600" dirty="0">
                <a:solidFill>
                  <a:srgbClr val="2E377E"/>
                </a:solidFill>
                <a:latin typeface="Georgia"/>
                <a:cs typeface="Georgia"/>
              </a:rPr>
              <a:t>and</a:t>
            </a:r>
            <a:r>
              <a:rPr sz="3600" spc="90" dirty="0">
                <a:solidFill>
                  <a:srgbClr val="2E377E"/>
                </a:solidFill>
                <a:latin typeface="Georgia"/>
                <a:cs typeface="Georgia"/>
              </a:rPr>
              <a:t> </a:t>
            </a:r>
            <a:r>
              <a:rPr sz="3600" spc="65" dirty="0">
                <a:solidFill>
                  <a:srgbClr val="2E377E"/>
                </a:solidFill>
                <a:latin typeface="Georgia"/>
                <a:cs typeface="Georgia"/>
              </a:rPr>
              <a:t>keep</a:t>
            </a:r>
            <a:r>
              <a:rPr sz="3600" spc="90" dirty="0">
                <a:solidFill>
                  <a:srgbClr val="2E377E"/>
                </a:solidFill>
                <a:latin typeface="Georgia"/>
                <a:cs typeface="Georgia"/>
              </a:rPr>
              <a:t> </a:t>
            </a:r>
            <a:r>
              <a:rPr sz="3600" dirty="0">
                <a:solidFill>
                  <a:srgbClr val="2E377E"/>
                </a:solidFill>
                <a:latin typeface="Georgia"/>
                <a:cs typeface="Georgia"/>
              </a:rPr>
              <a:t>tracking</a:t>
            </a:r>
            <a:r>
              <a:rPr sz="3600" spc="90" dirty="0">
                <a:solidFill>
                  <a:srgbClr val="2E377E"/>
                </a:solidFill>
                <a:latin typeface="Georgia"/>
                <a:cs typeface="Georgia"/>
              </a:rPr>
              <a:t> </a:t>
            </a:r>
            <a:r>
              <a:rPr sz="3600" spc="-25" dirty="0">
                <a:solidFill>
                  <a:srgbClr val="2E377E"/>
                </a:solidFill>
                <a:latin typeface="Georgia"/>
                <a:cs typeface="Georgia"/>
              </a:rPr>
              <a:t>it.</a:t>
            </a:r>
            <a:endParaRPr sz="3600" dirty="0">
              <a:latin typeface="Georgia"/>
              <a:cs typeface="Georgia"/>
            </a:endParaRPr>
          </a:p>
          <a:p>
            <a:pPr>
              <a:lnSpc>
                <a:spcPct val="100000"/>
              </a:lnSpc>
              <a:spcBef>
                <a:spcPts val="3910"/>
              </a:spcBef>
            </a:pPr>
            <a:endParaRPr sz="3600" dirty="0">
              <a:latin typeface="Georgia"/>
              <a:cs typeface="Georgia"/>
            </a:endParaRPr>
          </a:p>
          <a:p>
            <a:pPr marL="426720">
              <a:lnSpc>
                <a:spcPct val="100000"/>
              </a:lnSpc>
              <a:spcBef>
                <a:spcPts val="5"/>
              </a:spcBef>
            </a:pPr>
            <a:r>
              <a:rPr sz="3600" dirty="0">
                <a:solidFill>
                  <a:srgbClr val="2E377E"/>
                </a:solidFill>
                <a:latin typeface="Georgia"/>
                <a:cs typeface="Georgia"/>
              </a:rPr>
              <a:t>Example</a:t>
            </a:r>
            <a:r>
              <a:rPr sz="3600" spc="-45" dirty="0">
                <a:solidFill>
                  <a:srgbClr val="2E377E"/>
                </a:solidFill>
                <a:latin typeface="Georgia"/>
                <a:cs typeface="Georgia"/>
              </a:rPr>
              <a:t> </a:t>
            </a:r>
            <a:r>
              <a:rPr sz="3600" dirty="0">
                <a:solidFill>
                  <a:srgbClr val="2E377E"/>
                </a:solidFill>
                <a:latin typeface="Georgia"/>
                <a:cs typeface="Georgia"/>
              </a:rPr>
              <a:t>of</a:t>
            </a:r>
            <a:r>
              <a:rPr sz="3600" spc="-40" dirty="0">
                <a:solidFill>
                  <a:srgbClr val="2E377E"/>
                </a:solidFill>
                <a:latin typeface="Georgia"/>
                <a:cs typeface="Georgia"/>
              </a:rPr>
              <a:t> </a:t>
            </a:r>
            <a:r>
              <a:rPr sz="3600" spc="55" dirty="0">
                <a:solidFill>
                  <a:srgbClr val="2E377E"/>
                </a:solidFill>
                <a:latin typeface="Georgia"/>
                <a:cs typeface="Georgia"/>
              </a:rPr>
              <a:t>stateful</a:t>
            </a:r>
            <a:r>
              <a:rPr sz="3600" spc="-45" dirty="0">
                <a:solidFill>
                  <a:srgbClr val="2E377E"/>
                </a:solidFill>
                <a:latin typeface="Georgia"/>
                <a:cs typeface="Georgia"/>
              </a:rPr>
              <a:t> </a:t>
            </a:r>
            <a:r>
              <a:rPr sz="3600" spc="-10" dirty="0">
                <a:solidFill>
                  <a:srgbClr val="2E377E"/>
                </a:solidFill>
                <a:latin typeface="Georgia"/>
                <a:cs typeface="Georgia"/>
              </a:rPr>
              <a:t>applications:</a:t>
            </a:r>
            <a:endParaRPr sz="3600" dirty="0">
              <a:latin typeface="Georgia"/>
              <a:cs typeface="Georgia"/>
            </a:endParaRPr>
          </a:p>
          <a:p>
            <a:pPr>
              <a:lnSpc>
                <a:spcPct val="100000"/>
              </a:lnSpc>
              <a:spcBef>
                <a:spcPts val="1635"/>
              </a:spcBef>
            </a:pPr>
            <a:endParaRPr sz="3600" dirty="0">
              <a:latin typeface="Georgia"/>
              <a:cs typeface="Georgia"/>
            </a:endParaRPr>
          </a:p>
          <a:p>
            <a:pPr marL="1611630">
              <a:lnSpc>
                <a:spcPct val="100000"/>
              </a:lnSpc>
              <a:spcBef>
                <a:spcPts val="5"/>
              </a:spcBef>
            </a:pPr>
            <a:r>
              <a:rPr sz="3600" dirty="0">
                <a:solidFill>
                  <a:srgbClr val="2E377E"/>
                </a:solidFill>
                <a:latin typeface="Georgia"/>
                <a:cs typeface="Georgia"/>
              </a:rPr>
              <a:t>All</a:t>
            </a:r>
            <a:r>
              <a:rPr sz="3600" spc="-55" dirty="0">
                <a:solidFill>
                  <a:srgbClr val="2E377E"/>
                </a:solidFill>
                <a:latin typeface="Georgia"/>
                <a:cs typeface="Georgia"/>
              </a:rPr>
              <a:t> </a:t>
            </a:r>
            <a:r>
              <a:rPr sz="3600" spc="-80" dirty="0">
                <a:solidFill>
                  <a:srgbClr val="2E377E"/>
                </a:solidFill>
                <a:latin typeface="Georgia"/>
                <a:cs typeface="Georgia"/>
              </a:rPr>
              <a:t>RDS</a:t>
            </a:r>
            <a:r>
              <a:rPr sz="3600" spc="-55" dirty="0">
                <a:solidFill>
                  <a:srgbClr val="2E377E"/>
                </a:solidFill>
                <a:latin typeface="Georgia"/>
                <a:cs typeface="Georgia"/>
              </a:rPr>
              <a:t> </a:t>
            </a:r>
            <a:r>
              <a:rPr sz="3600" dirty="0">
                <a:solidFill>
                  <a:srgbClr val="2E377E"/>
                </a:solidFill>
                <a:latin typeface="Georgia"/>
                <a:cs typeface="Georgia"/>
              </a:rPr>
              <a:t>databases</a:t>
            </a:r>
            <a:r>
              <a:rPr sz="3600" spc="-55" dirty="0">
                <a:solidFill>
                  <a:srgbClr val="2E377E"/>
                </a:solidFill>
                <a:latin typeface="Georgia"/>
                <a:cs typeface="Georgia"/>
              </a:rPr>
              <a:t> </a:t>
            </a:r>
            <a:r>
              <a:rPr sz="3600" spc="-85" dirty="0">
                <a:solidFill>
                  <a:srgbClr val="2E377E"/>
                </a:solidFill>
                <a:latin typeface="Georgia"/>
                <a:cs typeface="Georgia"/>
              </a:rPr>
              <a:t>(MySQL,</a:t>
            </a:r>
            <a:r>
              <a:rPr sz="3600" spc="-55" dirty="0">
                <a:solidFill>
                  <a:srgbClr val="2E377E"/>
                </a:solidFill>
                <a:latin typeface="Georgia"/>
                <a:cs typeface="Georgia"/>
              </a:rPr>
              <a:t> </a:t>
            </a:r>
            <a:r>
              <a:rPr sz="3600" spc="-20" dirty="0">
                <a:solidFill>
                  <a:srgbClr val="2E377E"/>
                </a:solidFill>
                <a:latin typeface="Georgia"/>
                <a:cs typeface="Georgia"/>
              </a:rPr>
              <a:t>SQL)</a:t>
            </a:r>
            <a:endParaRPr sz="3600" dirty="0">
              <a:latin typeface="Georgia"/>
              <a:cs typeface="Georgia"/>
            </a:endParaRPr>
          </a:p>
          <a:p>
            <a:pPr marL="1611630" marR="5253990">
              <a:lnSpc>
                <a:spcPct val="116300"/>
              </a:lnSpc>
            </a:pPr>
            <a:r>
              <a:rPr sz="3600" dirty="0">
                <a:solidFill>
                  <a:srgbClr val="2E377E"/>
                </a:solidFill>
                <a:latin typeface="Georgia"/>
                <a:cs typeface="Georgia"/>
              </a:rPr>
              <a:t>Elastic</a:t>
            </a:r>
            <a:r>
              <a:rPr sz="3600" spc="-80" dirty="0">
                <a:solidFill>
                  <a:srgbClr val="2E377E"/>
                </a:solidFill>
                <a:latin typeface="Georgia"/>
                <a:cs typeface="Georgia"/>
              </a:rPr>
              <a:t> </a:t>
            </a:r>
            <a:r>
              <a:rPr sz="3600" dirty="0">
                <a:solidFill>
                  <a:srgbClr val="2E377E"/>
                </a:solidFill>
                <a:latin typeface="Georgia"/>
                <a:cs typeface="Georgia"/>
              </a:rPr>
              <a:t>search,</a:t>
            </a:r>
            <a:r>
              <a:rPr sz="3600" spc="-75" dirty="0">
                <a:solidFill>
                  <a:srgbClr val="2E377E"/>
                </a:solidFill>
                <a:latin typeface="Georgia"/>
                <a:cs typeface="Georgia"/>
              </a:rPr>
              <a:t> </a:t>
            </a:r>
            <a:r>
              <a:rPr sz="3600" dirty="0">
                <a:solidFill>
                  <a:srgbClr val="2E377E"/>
                </a:solidFill>
                <a:latin typeface="Georgia"/>
                <a:cs typeface="Georgia"/>
              </a:rPr>
              <a:t>Kafka</a:t>
            </a:r>
            <a:r>
              <a:rPr sz="3600" spc="-80" dirty="0">
                <a:solidFill>
                  <a:srgbClr val="2E377E"/>
                </a:solidFill>
                <a:latin typeface="Georgia"/>
                <a:cs typeface="Georgia"/>
              </a:rPr>
              <a:t> </a:t>
            </a:r>
            <a:r>
              <a:rPr sz="3600" dirty="0">
                <a:solidFill>
                  <a:srgbClr val="2E377E"/>
                </a:solidFill>
                <a:latin typeface="Georgia"/>
                <a:cs typeface="Georgia"/>
              </a:rPr>
              <a:t>,</a:t>
            </a:r>
            <a:r>
              <a:rPr sz="3600" spc="-75" dirty="0">
                <a:solidFill>
                  <a:srgbClr val="2E377E"/>
                </a:solidFill>
                <a:latin typeface="Georgia"/>
                <a:cs typeface="Georgia"/>
              </a:rPr>
              <a:t> </a:t>
            </a:r>
            <a:r>
              <a:rPr sz="3600" dirty="0">
                <a:solidFill>
                  <a:srgbClr val="2E377E"/>
                </a:solidFill>
                <a:latin typeface="Georgia"/>
                <a:cs typeface="Georgia"/>
              </a:rPr>
              <a:t>Mongo</a:t>
            </a:r>
            <a:r>
              <a:rPr sz="3600" spc="-80" dirty="0">
                <a:solidFill>
                  <a:srgbClr val="2E377E"/>
                </a:solidFill>
                <a:latin typeface="Georgia"/>
                <a:cs typeface="Georgia"/>
              </a:rPr>
              <a:t> </a:t>
            </a:r>
            <a:r>
              <a:rPr sz="3600" spc="-95" dirty="0">
                <a:solidFill>
                  <a:srgbClr val="2E377E"/>
                </a:solidFill>
                <a:latin typeface="Georgia"/>
                <a:cs typeface="Georgia"/>
              </a:rPr>
              <a:t>DB,</a:t>
            </a:r>
            <a:r>
              <a:rPr sz="3600" spc="-75" dirty="0">
                <a:solidFill>
                  <a:srgbClr val="2E377E"/>
                </a:solidFill>
                <a:latin typeface="Georgia"/>
                <a:cs typeface="Georgia"/>
              </a:rPr>
              <a:t> </a:t>
            </a:r>
            <a:r>
              <a:rPr sz="3600" dirty="0">
                <a:solidFill>
                  <a:srgbClr val="2E377E"/>
                </a:solidFill>
                <a:latin typeface="Georgia"/>
                <a:cs typeface="Georgia"/>
              </a:rPr>
              <a:t>Redis</a:t>
            </a:r>
            <a:r>
              <a:rPr sz="3600" spc="-80" dirty="0">
                <a:solidFill>
                  <a:srgbClr val="2E377E"/>
                </a:solidFill>
                <a:latin typeface="Georgia"/>
                <a:cs typeface="Georgia"/>
              </a:rPr>
              <a:t> </a:t>
            </a:r>
            <a:r>
              <a:rPr sz="3600" spc="-30" dirty="0">
                <a:solidFill>
                  <a:srgbClr val="2E377E"/>
                </a:solidFill>
                <a:latin typeface="Georgia"/>
                <a:cs typeface="Georgia"/>
              </a:rPr>
              <a:t>etc</a:t>
            </a:r>
            <a:r>
              <a:rPr sz="3600" spc="-30" dirty="0">
                <a:solidFill>
                  <a:srgbClr val="2E377E"/>
                </a:solidFill>
                <a:latin typeface="Arial MT"/>
                <a:cs typeface="Arial MT"/>
              </a:rPr>
              <a:t>… </a:t>
            </a:r>
            <a:r>
              <a:rPr sz="3600" dirty="0">
                <a:solidFill>
                  <a:srgbClr val="2E377E"/>
                </a:solidFill>
                <a:latin typeface="Georgia"/>
                <a:cs typeface="Georgia"/>
              </a:rPr>
              <a:t>Any</a:t>
            </a:r>
            <a:r>
              <a:rPr sz="3600" spc="35" dirty="0">
                <a:solidFill>
                  <a:srgbClr val="2E377E"/>
                </a:solidFill>
                <a:latin typeface="Georgia"/>
                <a:cs typeface="Georgia"/>
              </a:rPr>
              <a:t> </a:t>
            </a:r>
            <a:r>
              <a:rPr sz="3600" dirty="0">
                <a:solidFill>
                  <a:srgbClr val="2E377E"/>
                </a:solidFill>
                <a:latin typeface="Georgia"/>
                <a:cs typeface="Georgia"/>
              </a:rPr>
              <a:t>applicaiton</a:t>
            </a:r>
            <a:r>
              <a:rPr sz="3600" spc="35" dirty="0">
                <a:solidFill>
                  <a:srgbClr val="2E377E"/>
                </a:solidFill>
                <a:latin typeface="Georgia"/>
                <a:cs typeface="Georgia"/>
              </a:rPr>
              <a:t> </a:t>
            </a:r>
            <a:r>
              <a:rPr sz="3600" spc="55" dirty="0">
                <a:solidFill>
                  <a:srgbClr val="2E377E"/>
                </a:solidFill>
                <a:latin typeface="Georgia"/>
                <a:cs typeface="Georgia"/>
              </a:rPr>
              <a:t>that</a:t>
            </a:r>
            <a:r>
              <a:rPr sz="3600" spc="40" dirty="0">
                <a:solidFill>
                  <a:srgbClr val="2E377E"/>
                </a:solidFill>
                <a:latin typeface="Georgia"/>
                <a:cs typeface="Georgia"/>
              </a:rPr>
              <a:t> </a:t>
            </a:r>
            <a:r>
              <a:rPr sz="3600" spc="50" dirty="0">
                <a:solidFill>
                  <a:srgbClr val="2E377E"/>
                </a:solidFill>
                <a:latin typeface="Georgia"/>
                <a:cs typeface="Georgia"/>
              </a:rPr>
              <a:t>stores</a:t>
            </a:r>
            <a:r>
              <a:rPr sz="3600" spc="35" dirty="0">
                <a:solidFill>
                  <a:srgbClr val="2E377E"/>
                </a:solidFill>
                <a:latin typeface="Georgia"/>
                <a:cs typeface="Georgia"/>
              </a:rPr>
              <a:t> </a:t>
            </a:r>
            <a:r>
              <a:rPr sz="3600" spc="-20" dirty="0">
                <a:solidFill>
                  <a:srgbClr val="2E377E"/>
                </a:solidFill>
                <a:latin typeface="Georgia"/>
                <a:cs typeface="Georgia"/>
              </a:rPr>
              <a:t>data</a:t>
            </a:r>
            <a:endParaRPr sz="3600" dirty="0">
              <a:latin typeface="Georgia"/>
              <a:cs typeface="Georgia"/>
            </a:endParaRPr>
          </a:p>
          <a:p>
            <a:pPr>
              <a:lnSpc>
                <a:spcPct val="100000"/>
              </a:lnSpc>
              <a:spcBef>
                <a:spcPts val="3915"/>
              </a:spcBef>
            </a:pPr>
            <a:endParaRPr sz="3600" dirty="0">
              <a:latin typeface="Georgia"/>
              <a:cs typeface="Georgia"/>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62105" y="3089430"/>
            <a:ext cx="133350" cy="133349"/>
          </a:xfrm>
          <a:prstGeom prst="rect">
            <a:avLst/>
          </a:prstGeom>
        </p:spPr>
      </p:pic>
      <p:sp>
        <p:nvSpPr>
          <p:cNvPr id="3" name="object 3"/>
          <p:cNvSpPr txBox="1"/>
          <p:nvPr/>
        </p:nvSpPr>
        <p:spPr>
          <a:xfrm>
            <a:off x="1378910" y="2730020"/>
            <a:ext cx="16307435" cy="4492625"/>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A</a:t>
            </a:r>
            <a:r>
              <a:rPr sz="3600" spc="385" dirty="0">
                <a:solidFill>
                  <a:srgbClr val="2E377E"/>
                </a:solidFill>
                <a:latin typeface="Georgia"/>
                <a:cs typeface="Georgia"/>
              </a:rPr>
              <a:t> </a:t>
            </a:r>
            <a:r>
              <a:rPr sz="3600" dirty="0">
                <a:solidFill>
                  <a:srgbClr val="2E377E"/>
                </a:solidFill>
                <a:latin typeface="Georgia"/>
                <a:cs typeface="Georgia"/>
              </a:rPr>
              <a:t>StatefulSet</a:t>
            </a:r>
            <a:r>
              <a:rPr sz="3600" spc="385" dirty="0">
                <a:solidFill>
                  <a:srgbClr val="2E377E"/>
                </a:solidFill>
                <a:latin typeface="Georgia"/>
                <a:cs typeface="Georgia"/>
              </a:rPr>
              <a:t> </a:t>
            </a:r>
            <a:r>
              <a:rPr sz="3600" dirty="0">
                <a:solidFill>
                  <a:srgbClr val="2E377E"/>
                </a:solidFill>
                <a:latin typeface="Georgia"/>
                <a:cs typeface="Georgia"/>
              </a:rPr>
              <a:t>is</a:t>
            </a:r>
            <a:r>
              <a:rPr sz="3600" spc="385" dirty="0">
                <a:solidFill>
                  <a:srgbClr val="2E377E"/>
                </a:solidFill>
                <a:latin typeface="Georgia"/>
                <a:cs typeface="Georgia"/>
              </a:rPr>
              <a:t> </a:t>
            </a:r>
            <a:r>
              <a:rPr sz="3600" spc="60" dirty="0">
                <a:solidFill>
                  <a:srgbClr val="2E377E"/>
                </a:solidFill>
                <a:latin typeface="Georgia"/>
                <a:cs typeface="Georgia"/>
              </a:rPr>
              <a:t>the</a:t>
            </a:r>
            <a:r>
              <a:rPr sz="3600" spc="385" dirty="0">
                <a:solidFill>
                  <a:srgbClr val="2E377E"/>
                </a:solidFill>
                <a:latin typeface="Georgia"/>
                <a:cs typeface="Georgia"/>
              </a:rPr>
              <a:t> </a:t>
            </a:r>
            <a:r>
              <a:rPr sz="3600" spc="45" dirty="0">
                <a:solidFill>
                  <a:srgbClr val="2E377E"/>
                </a:solidFill>
                <a:latin typeface="Georgia"/>
                <a:cs typeface="Georgia"/>
              </a:rPr>
              <a:t>Kubernetes</a:t>
            </a:r>
            <a:r>
              <a:rPr sz="3600" spc="385" dirty="0">
                <a:solidFill>
                  <a:srgbClr val="2E377E"/>
                </a:solidFill>
                <a:latin typeface="Georgia"/>
                <a:cs typeface="Georgia"/>
              </a:rPr>
              <a:t> </a:t>
            </a:r>
            <a:r>
              <a:rPr sz="3600" dirty="0">
                <a:solidFill>
                  <a:srgbClr val="2E377E"/>
                </a:solidFill>
                <a:latin typeface="Georgia"/>
                <a:cs typeface="Georgia"/>
              </a:rPr>
              <a:t>controller</a:t>
            </a:r>
            <a:r>
              <a:rPr sz="3600" spc="390" dirty="0">
                <a:solidFill>
                  <a:srgbClr val="2E377E"/>
                </a:solidFill>
                <a:latin typeface="Georgia"/>
                <a:cs typeface="Georgia"/>
              </a:rPr>
              <a:t> </a:t>
            </a:r>
            <a:r>
              <a:rPr sz="3600" dirty="0">
                <a:solidFill>
                  <a:srgbClr val="2E377E"/>
                </a:solidFill>
                <a:latin typeface="Georgia"/>
                <a:cs typeface="Georgia"/>
              </a:rPr>
              <a:t>used</a:t>
            </a:r>
            <a:r>
              <a:rPr sz="3600" spc="385" dirty="0">
                <a:solidFill>
                  <a:srgbClr val="2E377E"/>
                </a:solidFill>
                <a:latin typeface="Georgia"/>
                <a:cs typeface="Georgia"/>
              </a:rPr>
              <a:t> </a:t>
            </a:r>
            <a:r>
              <a:rPr sz="3600" spc="70" dirty="0">
                <a:solidFill>
                  <a:srgbClr val="2E377E"/>
                </a:solidFill>
                <a:latin typeface="Georgia"/>
                <a:cs typeface="Georgia"/>
              </a:rPr>
              <a:t>to</a:t>
            </a:r>
            <a:r>
              <a:rPr sz="3600" spc="385" dirty="0">
                <a:solidFill>
                  <a:srgbClr val="2E377E"/>
                </a:solidFill>
                <a:latin typeface="Georgia"/>
                <a:cs typeface="Georgia"/>
              </a:rPr>
              <a:t> </a:t>
            </a:r>
            <a:r>
              <a:rPr sz="3600" dirty="0">
                <a:solidFill>
                  <a:srgbClr val="2E377E"/>
                </a:solidFill>
                <a:latin typeface="Georgia"/>
                <a:cs typeface="Georgia"/>
              </a:rPr>
              <a:t>run</a:t>
            </a:r>
            <a:r>
              <a:rPr sz="3600" spc="385" dirty="0">
                <a:solidFill>
                  <a:srgbClr val="2E377E"/>
                </a:solidFill>
                <a:latin typeface="Georgia"/>
                <a:cs typeface="Georgia"/>
              </a:rPr>
              <a:t> </a:t>
            </a:r>
            <a:r>
              <a:rPr sz="3600" spc="60" dirty="0">
                <a:solidFill>
                  <a:srgbClr val="2E377E"/>
                </a:solidFill>
                <a:latin typeface="Georgia"/>
                <a:cs typeface="Georgia"/>
              </a:rPr>
              <a:t>the</a:t>
            </a:r>
            <a:r>
              <a:rPr sz="3600" spc="385" dirty="0">
                <a:solidFill>
                  <a:srgbClr val="2E377E"/>
                </a:solidFill>
                <a:latin typeface="Georgia"/>
                <a:cs typeface="Georgia"/>
              </a:rPr>
              <a:t> </a:t>
            </a:r>
            <a:r>
              <a:rPr sz="3600" spc="55" dirty="0">
                <a:solidFill>
                  <a:srgbClr val="2E377E"/>
                </a:solidFill>
                <a:latin typeface="Georgia"/>
                <a:cs typeface="Georgia"/>
              </a:rPr>
              <a:t>stateful</a:t>
            </a:r>
            <a:r>
              <a:rPr sz="3600" spc="390" dirty="0">
                <a:solidFill>
                  <a:srgbClr val="2E377E"/>
                </a:solidFill>
                <a:latin typeface="Georgia"/>
                <a:cs typeface="Georgia"/>
              </a:rPr>
              <a:t> </a:t>
            </a:r>
            <a:r>
              <a:rPr sz="3600" spc="-10" dirty="0">
                <a:solidFill>
                  <a:srgbClr val="2E377E"/>
                </a:solidFill>
                <a:latin typeface="Georgia"/>
                <a:cs typeface="Georgia"/>
              </a:rPr>
              <a:t>application </a:t>
            </a:r>
            <a:r>
              <a:rPr sz="3600" dirty="0">
                <a:solidFill>
                  <a:srgbClr val="2E377E"/>
                </a:solidFill>
                <a:latin typeface="Georgia"/>
                <a:cs typeface="Georgia"/>
              </a:rPr>
              <a:t>as</a:t>
            </a:r>
            <a:r>
              <a:rPr sz="3600" spc="5" dirty="0">
                <a:solidFill>
                  <a:srgbClr val="2E377E"/>
                </a:solidFill>
                <a:latin typeface="Georgia"/>
                <a:cs typeface="Georgia"/>
              </a:rPr>
              <a:t> </a:t>
            </a:r>
            <a:r>
              <a:rPr sz="3600" dirty="0">
                <a:solidFill>
                  <a:srgbClr val="2E377E"/>
                </a:solidFill>
                <a:latin typeface="Georgia"/>
                <a:cs typeface="Georgia"/>
              </a:rPr>
              <a:t>containers</a:t>
            </a:r>
            <a:r>
              <a:rPr sz="3600" spc="5" dirty="0">
                <a:solidFill>
                  <a:srgbClr val="2E377E"/>
                </a:solidFill>
                <a:latin typeface="Georgia"/>
                <a:cs typeface="Georgia"/>
              </a:rPr>
              <a:t> </a:t>
            </a:r>
            <a:r>
              <a:rPr sz="3600" spc="-90" dirty="0">
                <a:solidFill>
                  <a:srgbClr val="2E377E"/>
                </a:solidFill>
                <a:latin typeface="Georgia"/>
                <a:cs typeface="Georgia"/>
              </a:rPr>
              <a:t>(Pods)</a:t>
            </a:r>
            <a:r>
              <a:rPr sz="3600" spc="10" dirty="0">
                <a:solidFill>
                  <a:srgbClr val="2E377E"/>
                </a:solidFill>
                <a:latin typeface="Georgia"/>
                <a:cs typeface="Georgia"/>
              </a:rPr>
              <a:t> </a:t>
            </a:r>
            <a:r>
              <a:rPr sz="3600" dirty="0">
                <a:solidFill>
                  <a:srgbClr val="2E377E"/>
                </a:solidFill>
                <a:latin typeface="Georgia"/>
                <a:cs typeface="Georgia"/>
              </a:rPr>
              <a:t>in</a:t>
            </a:r>
            <a:r>
              <a:rPr sz="3600" spc="5" dirty="0">
                <a:solidFill>
                  <a:srgbClr val="2E377E"/>
                </a:solidFill>
                <a:latin typeface="Georgia"/>
                <a:cs typeface="Georgia"/>
              </a:rPr>
              <a:t> </a:t>
            </a:r>
            <a:r>
              <a:rPr sz="3600" spc="60" dirty="0">
                <a:solidFill>
                  <a:srgbClr val="2E377E"/>
                </a:solidFill>
                <a:latin typeface="Georgia"/>
                <a:cs typeface="Georgia"/>
              </a:rPr>
              <a:t>the</a:t>
            </a:r>
            <a:r>
              <a:rPr sz="3600" spc="5" dirty="0">
                <a:solidFill>
                  <a:srgbClr val="2E377E"/>
                </a:solidFill>
                <a:latin typeface="Georgia"/>
                <a:cs typeface="Georgia"/>
              </a:rPr>
              <a:t> </a:t>
            </a:r>
            <a:r>
              <a:rPr sz="3600" spc="45" dirty="0">
                <a:solidFill>
                  <a:srgbClr val="2E377E"/>
                </a:solidFill>
                <a:latin typeface="Georgia"/>
                <a:cs typeface="Georgia"/>
              </a:rPr>
              <a:t>Kubernetes</a:t>
            </a:r>
            <a:r>
              <a:rPr sz="3600" spc="10" dirty="0">
                <a:solidFill>
                  <a:srgbClr val="2E377E"/>
                </a:solidFill>
                <a:latin typeface="Georgia"/>
                <a:cs typeface="Georgia"/>
              </a:rPr>
              <a:t> </a:t>
            </a:r>
            <a:r>
              <a:rPr sz="3600" spc="-10" dirty="0">
                <a:solidFill>
                  <a:srgbClr val="2E377E"/>
                </a:solidFill>
                <a:latin typeface="Georgia"/>
                <a:cs typeface="Georgia"/>
              </a:rPr>
              <a:t>cluster.</a:t>
            </a:r>
            <a:endParaRPr sz="3600">
              <a:latin typeface="Georgia"/>
              <a:cs typeface="Georgia"/>
            </a:endParaRPr>
          </a:p>
          <a:p>
            <a:pPr marL="12700" marR="5080">
              <a:lnSpc>
                <a:spcPct val="116300"/>
              </a:lnSpc>
              <a:tabLst>
                <a:tab pos="2649855" algn="l"/>
                <a:tab pos="4101465" algn="l"/>
                <a:tab pos="4498975" algn="l"/>
                <a:tab pos="5908040" algn="l"/>
                <a:tab pos="8394065" algn="l"/>
                <a:tab pos="10015855" algn="l"/>
                <a:tab pos="11820525" algn="l"/>
                <a:tab pos="13610590" algn="l"/>
                <a:tab pos="14790419" algn="l"/>
              </a:tabLst>
            </a:pPr>
            <a:r>
              <a:rPr sz="3600" spc="-10" dirty="0">
                <a:solidFill>
                  <a:srgbClr val="2E377E"/>
                </a:solidFill>
                <a:latin typeface="Georgia"/>
                <a:cs typeface="Georgia"/>
              </a:rPr>
              <a:t>StatefulSets</a:t>
            </a:r>
            <a:r>
              <a:rPr sz="3600" dirty="0">
                <a:solidFill>
                  <a:srgbClr val="2E377E"/>
                </a:solidFill>
                <a:latin typeface="Georgia"/>
                <a:cs typeface="Georgia"/>
              </a:rPr>
              <a:t>	</a:t>
            </a:r>
            <a:r>
              <a:rPr sz="3600" spc="-10" dirty="0">
                <a:solidFill>
                  <a:srgbClr val="2E377E"/>
                </a:solidFill>
                <a:latin typeface="Georgia"/>
                <a:cs typeface="Georgia"/>
              </a:rPr>
              <a:t>assign</a:t>
            </a:r>
            <a:r>
              <a:rPr sz="3600" dirty="0">
                <a:solidFill>
                  <a:srgbClr val="2E377E"/>
                </a:solidFill>
                <a:latin typeface="Georgia"/>
                <a:cs typeface="Georgia"/>
              </a:rPr>
              <a:t>	</a:t>
            </a:r>
            <a:r>
              <a:rPr sz="3600" spc="-50" dirty="0">
                <a:solidFill>
                  <a:srgbClr val="2E377E"/>
                </a:solidFill>
                <a:latin typeface="Georgia"/>
                <a:cs typeface="Georgia"/>
              </a:rPr>
              <a:t>a</a:t>
            </a:r>
            <a:r>
              <a:rPr sz="3600" dirty="0">
                <a:solidFill>
                  <a:srgbClr val="2E377E"/>
                </a:solidFill>
                <a:latin typeface="Georgia"/>
                <a:cs typeface="Georgia"/>
              </a:rPr>
              <a:t>	</a:t>
            </a:r>
            <a:r>
              <a:rPr sz="3600" spc="80" dirty="0">
                <a:solidFill>
                  <a:srgbClr val="2E377E"/>
                </a:solidFill>
                <a:latin typeface="Georgia"/>
                <a:cs typeface="Georgia"/>
              </a:rPr>
              <a:t>sticky</a:t>
            </a:r>
            <a:r>
              <a:rPr sz="3600" dirty="0">
                <a:solidFill>
                  <a:srgbClr val="2E377E"/>
                </a:solidFill>
                <a:latin typeface="Georgia"/>
                <a:cs typeface="Georgia"/>
              </a:rPr>
              <a:t>	</a:t>
            </a:r>
            <a:r>
              <a:rPr sz="3600" spc="65" dirty="0">
                <a:solidFill>
                  <a:srgbClr val="2E377E"/>
                </a:solidFill>
                <a:latin typeface="Georgia"/>
                <a:cs typeface="Georgia"/>
              </a:rPr>
              <a:t>identity-</a:t>
            </a:r>
            <a:r>
              <a:rPr sz="3600" spc="-25" dirty="0">
                <a:solidFill>
                  <a:srgbClr val="2E377E"/>
                </a:solidFill>
                <a:latin typeface="Georgia"/>
                <a:cs typeface="Georgia"/>
              </a:rPr>
              <a:t>an</a:t>
            </a:r>
            <a:r>
              <a:rPr sz="3600" dirty="0">
                <a:solidFill>
                  <a:srgbClr val="2E377E"/>
                </a:solidFill>
                <a:latin typeface="Georgia"/>
                <a:cs typeface="Georgia"/>
              </a:rPr>
              <a:t>	</a:t>
            </a:r>
            <a:r>
              <a:rPr sz="3600" spc="-10" dirty="0">
                <a:solidFill>
                  <a:srgbClr val="2E377E"/>
                </a:solidFill>
                <a:latin typeface="Georgia"/>
                <a:cs typeface="Georgia"/>
              </a:rPr>
              <a:t>orginal</a:t>
            </a:r>
            <a:r>
              <a:rPr sz="3600" dirty="0">
                <a:solidFill>
                  <a:srgbClr val="2E377E"/>
                </a:solidFill>
                <a:latin typeface="Georgia"/>
                <a:cs typeface="Georgia"/>
              </a:rPr>
              <a:t>	</a:t>
            </a:r>
            <a:r>
              <a:rPr sz="3600" spc="-10" dirty="0">
                <a:solidFill>
                  <a:srgbClr val="2E377E"/>
                </a:solidFill>
                <a:latin typeface="Georgia"/>
                <a:cs typeface="Georgia"/>
              </a:rPr>
              <a:t>number</a:t>
            </a:r>
            <a:r>
              <a:rPr sz="3600" dirty="0">
                <a:solidFill>
                  <a:srgbClr val="2E377E"/>
                </a:solidFill>
                <a:latin typeface="Georgia"/>
                <a:cs typeface="Georgia"/>
              </a:rPr>
              <a:t>	</a:t>
            </a:r>
            <a:r>
              <a:rPr sz="3600" spc="-10" dirty="0">
                <a:solidFill>
                  <a:srgbClr val="2E377E"/>
                </a:solidFill>
                <a:latin typeface="Georgia"/>
                <a:cs typeface="Georgia"/>
              </a:rPr>
              <a:t>starting</a:t>
            </a:r>
            <a:r>
              <a:rPr sz="3600" dirty="0">
                <a:solidFill>
                  <a:srgbClr val="2E377E"/>
                </a:solidFill>
                <a:latin typeface="Georgia"/>
                <a:cs typeface="Georgia"/>
              </a:rPr>
              <a:t>	</a:t>
            </a:r>
            <a:r>
              <a:rPr sz="3600" spc="-20" dirty="0">
                <a:solidFill>
                  <a:srgbClr val="2E377E"/>
                </a:solidFill>
                <a:latin typeface="Georgia"/>
                <a:cs typeface="Georgia"/>
              </a:rPr>
              <a:t>from</a:t>
            </a:r>
            <a:r>
              <a:rPr sz="3600" dirty="0">
                <a:solidFill>
                  <a:srgbClr val="2E377E"/>
                </a:solidFill>
                <a:latin typeface="Georgia"/>
                <a:cs typeface="Georgia"/>
              </a:rPr>
              <a:t>	</a:t>
            </a:r>
            <a:r>
              <a:rPr sz="3600" spc="70" dirty="0">
                <a:solidFill>
                  <a:srgbClr val="2E377E"/>
                </a:solidFill>
                <a:latin typeface="Georgia"/>
                <a:cs typeface="Georgia"/>
              </a:rPr>
              <a:t>zero-</a:t>
            </a:r>
            <a:r>
              <a:rPr sz="3600" spc="45" dirty="0">
                <a:solidFill>
                  <a:srgbClr val="2E377E"/>
                </a:solidFill>
                <a:latin typeface="Georgia"/>
                <a:cs typeface="Georgia"/>
              </a:rPr>
              <a:t>to </a:t>
            </a:r>
            <a:r>
              <a:rPr sz="3600" dirty="0">
                <a:solidFill>
                  <a:srgbClr val="2E377E"/>
                </a:solidFill>
                <a:latin typeface="Georgia"/>
                <a:cs typeface="Georgia"/>
              </a:rPr>
              <a:t>each</a:t>
            </a:r>
            <a:r>
              <a:rPr sz="3600" spc="35" dirty="0">
                <a:solidFill>
                  <a:srgbClr val="2E377E"/>
                </a:solidFill>
                <a:latin typeface="Georgia"/>
                <a:cs typeface="Georgia"/>
              </a:rPr>
              <a:t> </a:t>
            </a:r>
            <a:r>
              <a:rPr sz="3600" dirty="0">
                <a:solidFill>
                  <a:srgbClr val="2E377E"/>
                </a:solidFill>
                <a:latin typeface="Georgia"/>
                <a:cs typeface="Georgia"/>
              </a:rPr>
              <a:t>Pod</a:t>
            </a:r>
            <a:r>
              <a:rPr sz="3600" spc="35" dirty="0">
                <a:solidFill>
                  <a:srgbClr val="2E377E"/>
                </a:solidFill>
                <a:latin typeface="Georgia"/>
                <a:cs typeface="Georgia"/>
              </a:rPr>
              <a:t> </a:t>
            </a:r>
            <a:r>
              <a:rPr sz="3600" dirty="0">
                <a:solidFill>
                  <a:srgbClr val="2E377E"/>
                </a:solidFill>
                <a:latin typeface="Georgia"/>
                <a:cs typeface="Georgia"/>
              </a:rPr>
              <a:t>instead</a:t>
            </a:r>
            <a:r>
              <a:rPr sz="3600" spc="35" dirty="0">
                <a:solidFill>
                  <a:srgbClr val="2E377E"/>
                </a:solidFill>
                <a:latin typeface="Georgia"/>
                <a:cs typeface="Georgia"/>
              </a:rPr>
              <a:t> </a:t>
            </a:r>
            <a:r>
              <a:rPr sz="3600" dirty="0">
                <a:solidFill>
                  <a:srgbClr val="2E377E"/>
                </a:solidFill>
                <a:latin typeface="Georgia"/>
                <a:cs typeface="Georgia"/>
              </a:rPr>
              <a:t>of</a:t>
            </a:r>
            <a:r>
              <a:rPr sz="3600" spc="40" dirty="0">
                <a:solidFill>
                  <a:srgbClr val="2E377E"/>
                </a:solidFill>
                <a:latin typeface="Georgia"/>
                <a:cs typeface="Georgia"/>
              </a:rPr>
              <a:t> </a:t>
            </a:r>
            <a:r>
              <a:rPr sz="3600" dirty="0">
                <a:solidFill>
                  <a:srgbClr val="2E377E"/>
                </a:solidFill>
                <a:latin typeface="Georgia"/>
                <a:cs typeface="Georgia"/>
              </a:rPr>
              <a:t>assigning</a:t>
            </a:r>
            <a:r>
              <a:rPr sz="3600" spc="35" dirty="0">
                <a:solidFill>
                  <a:srgbClr val="2E377E"/>
                </a:solidFill>
                <a:latin typeface="Georgia"/>
                <a:cs typeface="Georgia"/>
              </a:rPr>
              <a:t> </a:t>
            </a:r>
            <a:r>
              <a:rPr sz="3600" dirty="0">
                <a:solidFill>
                  <a:srgbClr val="2E377E"/>
                </a:solidFill>
                <a:latin typeface="Georgia"/>
                <a:cs typeface="Georgia"/>
              </a:rPr>
              <a:t>random</a:t>
            </a:r>
            <a:r>
              <a:rPr sz="3600" spc="35" dirty="0">
                <a:solidFill>
                  <a:srgbClr val="2E377E"/>
                </a:solidFill>
                <a:latin typeface="Georgia"/>
                <a:cs typeface="Georgia"/>
              </a:rPr>
              <a:t> </a:t>
            </a:r>
            <a:r>
              <a:rPr sz="3600" spc="-10" dirty="0">
                <a:solidFill>
                  <a:srgbClr val="2E377E"/>
                </a:solidFill>
                <a:latin typeface="Georgia"/>
                <a:cs typeface="Georgia"/>
              </a:rPr>
              <a:t>IDs</a:t>
            </a:r>
            <a:r>
              <a:rPr sz="3600" spc="35" dirty="0">
                <a:solidFill>
                  <a:srgbClr val="2E377E"/>
                </a:solidFill>
                <a:latin typeface="Georgia"/>
                <a:cs typeface="Georgia"/>
              </a:rPr>
              <a:t> </a:t>
            </a:r>
            <a:r>
              <a:rPr sz="3600" dirty="0">
                <a:solidFill>
                  <a:srgbClr val="2E377E"/>
                </a:solidFill>
                <a:latin typeface="Georgia"/>
                <a:cs typeface="Georgia"/>
              </a:rPr>
              <a:t>for</a:t>
            </a:r>
            <a:r>
              <a:rPr sz="3600" spc="40" dirty="0">
                <a:solidFill>
                  <a:srgbClr val="2E377E"/>
                </a:solidFill>
                <a:latin typeface="Georgia"/>
                <a:cs typeface="Georgia"/>
              </a:rPr>
              <a:t> </a:t>
            </a:r>
            <a:r>
              <a:rPr sz="3600" dirty="0">
                <a:solidFill>
                  <a:srgbClr val="2E377E"/>
                </a:solidFill>
                <a:latin typeface="Georgia"/>
                <a:cs typeface="Georgia"/>
              </a:rPr>
              <a:t>each</a:t>
            </a:r>
            <a:r>
              <a:rPr sz="3600" spc="35" dirty="0">
                <a:solidFill>
                  <a:srgbClr val="2E377E"/>
                </a:solidFill>
                <a:latin typeface="Georgia"/>
                <a:cs typeface="Georgia"/>
              </a:rPr>
              <a:t> </a:t>
            </a:r>
            <a:r>
              <a:rPr sz="3600" dirty="0">
                <a:solidFill>
                  <a:srgbClr val="2E377E"/>
                </a:solidFill>
                <a:latin typeface="Georgia"/>
                <a:cs typeface="Georgia"/>
              </a:rPr>
              <a:t>replica</a:t>
            </a:r>
            <a:r>
              <a:rPr sz="3600" spc="35" dirty="0">
                <a:solidFill>
                  <a:srgbClr val="2E377E"/>
                </a:solidFill>
                <a:latin typeface="Georgia"/>
                <a:cs typeface="Georgia"/>
              </a:rPr>
              <a:t> </a:t>
            </a:r>
            <a:r>
              <a:rPr sz="3600" spc="-20" dirty="0">
                <a:solidFill>
                  <a:srgbClr val="2E377E"/>
                </a:solidFill>
                <a:latin typeface="Georgia"/>
                <a:cs typeface="Georgia"/>
              </a:rPr>
              <a:t>Pod.</a:t>
            </a:r>
            <a:endParaRPr sz="3600">
              <a:latin typeface="Georgia"/>
              <a:cs typeface="Georgia"/>
            </a:endParaRPr>
          </a:p>
          <a:p>
            <a:pPr marL="12700" marR="5080">
              <a:lnSpc>
                <a:spcPct val="116300"/>
              </a:lnSpc>
            </a:pPr>
            <a:r>
              <a:rPr sz="3600" dirty="0">
                <a:solidFill>
                  <a:srgbClr val="2E377E"/>
                </a:solidFill>
                <a:latin typeface="Georgia"/>
                <a:cs typeface="Georgia"/>
              </a:rPr>
              <a:t>A</a:t>
            </a:r>
            <a:r>
              <a:rPr sz="3600" spc="145" dirty="0">
                <a:solidFill>
                  <a:srgbClr val="2E377E"/>
                </a:solidFill>
                <a:latin typeface="Georgia"/>
                <a:cs typeface="Georgia"/>
              </a:rPr>
              <a:t> </a:t>
            </a:r>
            <a:r>
              <a:rPr sz="3600" spc="100" dirty="0">
                <a:solidFill>
                  <a:srgbClr val="2E377E"/>
                </a:solidFill>
                <a:latin typeface="Georgia"/>
                <a:cs typeface="Georgia"/>
              </a:rPr>
              <a:t>new</a:t>
            </a:r>
            <a:r>
              <a:rPr sz="3600" spc="150" dirty="0">
                <a:solidFill>
                  <a:srgbClr val="2E377E"/>
                </a:solidFill>
                <a:latin typeface="Georgia"/>
                <a:cs typeface="Georgia"/>
              </a:rPr>
              <a:t> </a:t>
            </a:r>
            <a:r>
              <a:rPr sz="3600" dirty="0">
                <a:solidFill>
                  <a:srgbClr val="2E377E"/>
                </a:solidFill>
                <a:latin typeface="Georgia"/>
                <a:cs typeface="Georgia"/>
              </a:rPr>
              <a:t>Pod</a:t>
            </a:r>
            <a:r>
              <a:rPr sz="3600" spc="150" dirty="0">
                <a:solidFill>
                  <a:srgbClr val="2E377E"/>
                </a:solidFill>
                <a:latin typeface="Georgia"/>
                <a:cs typeface="Georgia"/>
              </a:rPr>
              <a:t> </a:t>
            </a:r>
            <a:r>
              <a:rPr sz="3600" dirty="0">
                <a:solidFill>
                  <a:srgbClr val="2E377E"/>
                </a:solidFill>
                <a:latin typeface="Georgia"/>
                <a:cs typeface="Georgia"/>
              </a:rPr>
              <a:t>is</a:t>
            </a:r>
            <a:r>
              <a:rPr sz="3600" spc="150" dirty="0">
                <a:solidFill>
                  <a:srgbClr val="2E377E"/>
                </a:solidFill>
                <a:latin typeface="Georgia"/>
                <a:cs typeface="Georgia"/>
              </a:rPr>
              <a:t> </a:t>
            </a:r>
            <a:r>
              <a:rPr sz="3600" spc="50" dirty="0">
                <a:solidFill>
                  <a:srgbClr val="2E377E"/>
                </a:solidFill>
                <a:latin typeface="Georgia"/>
                <a:cs typeface="Georgia"/>
              </a:rPr>
              <a:t>created</a:t>
            </a:r>
            <a:r>
              <a:rPr sz="3600" spc="150" dirty="0">
                <a:solidFill>
                  <a:srgbClr val="2E377E"/>
                </a:solidFill>
                <a:latin typeface="Georgia"/>
                <a:cs typeface="Georgia"/>
              </a:rPr>
              <a:t> </a:t>
            </a:r>
            <a:r>
              <a:rPr sz="3600" spc="95" dirty="0">
                <a:solidFill>
                  <a:srgbClr val="2E377E"/>
                </a:solidFill>
                <a:latin typeface="Georgia"/>
                <a:cs typeface="Georgia"/>
              </a:rPr>
              <a:t>by</a:t>
            </a:r>
            <a:r>
              <a:rPr sz="3600" spc="150" dirty="0">
                <a:solidFill>
                  <a:srgbClr val="2E377E"/>
                </a:solidFill>
                <a:latin typeface="Georgia"/>
                <a:cs typeface="Georgia"/>
              </a:rPr>
              <a:t> </a:t>
            </a:r>
            <a:r>
              <a:rPr sz="3600" dirty="0">
                <a:solidFill>
                  <a:srgbClr val="2E377E"/>
                </a:solidFill>
                <a:latin typeface="Georgia"/>
                <a:cs typeface="Georgia"/>
              </a:rPr>
              <a:t>cloning</a:t>
            </a:r>
            <a:r>
              <a:rPr sz="3600" spc="150" dirty="0">
                <a:solidFill>
                  <a:srgbClr val="2E377E"/>
                </a:solidFill>
                <a:latin typeface="Georgia"/>
                <a:cs typeface="Georgia"/>
              </a:rPr>
              <a:t> </a:t>
            </a:r>
            <a:r>
              <a:rPr sz="3600" spc="60" dirty="0">
                <a:solidFill>
                  <a:srgbClr val="2E377E"/>
                </a:solidFill>
                <a:latin typeface="Georgia"/>
                <a:cs typeface="Georgia"/>
              </a:rPr>
              <a:t>the</a:t>
            </a:r>
            <a:r>
              <a:rPr sz="3600" spc="150" dirty="0">
                <a:solidFill>
                  <a:srgbClr val="2E377E"/>
                </a:solidFill>
                <a:latin typeface="Georgia"/>
                <a:cs typeface="Georgia"/>
              </a:rPr>
              <a:t> </a:t>
            </a:r>
            <a:r>
              <a:rPr sz="3600" spc="50" dirty="0">
                <a:solidFill>
                  <a:srgbClr val="2E377E"/>
                </a:solidFill>
                <a:latin typeface="Georgia"/>
                <a:cs typeface="Georgia"/>
              </a:rPr>
              <a:t>previous</a:t>
            </a:r>
            <a:r>
              <a:rPr sz="3600" spc="150" dirty="0">
                <a:solidFill>
                  <a:srgbClr val="2E377E"/>
                </a:solidFill>
                <a:latin typeface="Georgia"/>
                <a:cs typeface="Georgia"/>
              </a:rPr>
              <a:t> </a:t>
            </a:r>
            <a:r>
              <a:rPr sz="3600" dirty="0">
                <a:solidFill>
                  <a:srgbClr val="2E377E"/>
                </a:solidFill>
                <a:latin typeface="Georgia"/>
                <a:cs typeface="Georgia"/>
              </a:rPr>
              <a:t>Pod's</a:t>
            </a:r>
            <a:r>
              <a:rPr sz="3600" spc="150" dirty="0">
                <a:solidFill>
                  <a:srgbClr val="2E377E"/>
                </a:solidFill>
                <a:latin typeface="Georgia"/>
                <a:cs typeface="Georgia"/>
              </a:rPr>
              <a:t> </a:t>
            </a:r>
            <a:r>
              <a:rPr sz="3600" dirty="0">
                <a:solidFill>
                  <a:srgbClr val="2E377E"/>
                </a:solidFill>
                <a:latin typeface="Georgia"/>
                <a:cs typeface="Georgia"/>
              </a:rPr>
              <a:t>data.</a:t>
            </a:r>
            <a:r>
              <a:rPr sz="3600" spc="150" dirty="0">
                <a:solidFill>
                  <a:srgbClr val="2E377E"/>
                </a:solidFill>
                <a:latin typeface="Georgia"/>
                <a:cs typeface="Georgia"/>
              </a:rPr>
              <a:t> </a:t>
            </a:r>
            <a:r>
              <a:rPr sz="3600" dirty="0">
                <a:solidFill>
                  <a:srgbClr val="2E377E"/>
                </a:solidFill>
                <a:latin typeface="Georgia"/>
                <a:cs typeface="Georgia"/>
              </a:rPr>
              <a:t>If</a:t>
            </a:r>
            <a:r>
              <a:rPr sz="3600" spc="150" dirty="0">
                <a:solidFill>
                  <a:srgbClr val="2E377E"/>
                </a:solidFill>
                <a:latin typeface="Georgia"/>
                <a:cs typeface="Georgia"/>
              </a:rPr>
              <a:t> </a:t>
            </a:r>
            <a:r>
              <a:rPr sz="3600" spc="60" dirty="0">
                <a:solidFill>
                  <a:srgbClr val="2E377E"/>
                </a:solidFill>
                <a:latin typeface="Georgia"/>
                <a:cs typeface="Georgia"/>
              </a:rPr>
              <a:t>the</a:t>
            </a:r>
            <a:r>
              <a:rPr sz="3600" spc="150" dirty="0">
                <a:solidFill>
                  <a:srgbClr val="2E377E"/>
                </a:solidFill>
                <a:latin typeface="Georgia"/>
                <a:cs typeface="Georgia"/>
              </a:rPr>
              <a:t> </a:t>
            </a:r>
            <a:r>
              <a:rPr sz="3600" spc="50" dirty="0">
                <a:solidFill>
                  <a:srgbClr val="2E377E"/>
                </a:solidFill>
                <a:latin typeface="Georgia"/>
                <a:cs typeface="Georgia"/>
              </a:rPr>
              <a:t>previous</a:t>
            </a:r>
            <a:r>
              <a:rPr sz="3600" spc="150" dirty="0">
                <a:solidFill>
                  <a:srgbClr val="2E377E"/>
                </a:solidFill>
                <a:latin typeface="Georgia"/>
                <a:cs typeface="Georgia"/>
              </a:rPr>
              <a:t> </a:t>
            </a:r>
            <a:r>
              <a:rPr sz="3600" dirty="0">
                <a:solidFill>
                  <a:srgbClr val="2E377E"/>
                </a:solidFill>
                <a:latin typeface="Georgia"/>
                <a:cs typeface="Georgia"/>
              </a:rPr>
              <a:t>Pod</a:t>
            </a:r>
            <a:r>
              <a:rPr sz="3600" spc="145" dirty="0">
                <a:solidFill>
                  <a:srgbClr val="2E377E"/>
                </a:solidFill>
                <a:latin typeface="Georgia"/>
                <a:cs typeface="Georgia"/>
              </a:rPr>
              <a:t> </a:t>
            </a:r>
            <a:r>
              <a:rPr sz="3600" spc="-25" dirty="0">
                <a:solidFill>
                  <a:srgbClr val="2E377E"/>
                </a:solidFill>
                <a:latin typeface="Georgia"/>
                <a:cs typeface="Georgia"/>
              </a:rPr>
              <a:t>is </a:t>
            </a:r>
            <a:r>
              <a:rPr sz="3600" dirty="0">
                <a:solidFill>
                  <a:srgbClr val="2E377E"/>
                </a:solidFill>
                <a:latin typeface="Georgia"/>
                <a:cs typeface="Georgia"/>
              </a:rPr>
              <a:t>in</a:t>
            </a:r>
            <a:r>
              <a:rPr sz="3600" spc="-20"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pending</a:t>
            </a:r>
            <a:r>
              <a:rPr sz="3600" spc="-20" dirty="0">
                <a:solidFill>
                  <a:srgbClr val="2E377E"/>
                </a:solidFill>
                <a:latin typeface="Georgia"/>
                <a:cs typeface="Georgia"/>
              </a:rPr>
              <a:t> </a:t>
            </a:r>
            <a:r>
              <a:rPr sz="3600" dirty="0">
                <a:solidFill>
                  <a:srgbClr val="2E377E"/>
                </a:solidFill>
                <a:latin typeface="Georgia"/>
                <a:cs typeface="Georgia"/>
              </a:rPr>
              <a:t>state,</a:t>
            </a:r>
            <a:r>
              <a:rPr sz="3600" spc="-20" dirty="0">
                <a:solidFill>
                  <a:srgbClr val="2E377E"/>
                </a:solidFill>
                <a:latin typeface="Georgia"/>
                <a:cs typeface="Georgia"/>
              </a:rPr>
              <a:t> </a:t>
            </a:r>
            <a:r>
              <a:rPr sz="3600" spc="50" dirty="0">
                <a:solidFill>
                  <a:srgbClr val="2E377E"/>
                </a:solidFill>
                <a:latin typeface="Georgia"/>
                <a:cs typeface="Georgia"/>
              </a:rPr>
              <a:t>then</a:t>
            </a:r>
            <a:r>
              <a:rPr sz="3600" spc="-15" dirty="0">
                <a:solidFill>
                  <a:srgbClr val="2E377E"/>
                </a:solidFill>
                <a:latin typeface="Georgia"/>
                <a:cs typeface="Georgia"/>
              </a:rPr>
              <a:t> </a:t>
            </a:r>
            <a:r>
              <a:rPr sz="3600" spc="60" dirty="0">
                <a:solidFill>
                  <a:srgbClr val="2E377E"/>
                </a:solidFill>
                <a:latin typeface="Georgia"/>
                <a:cs typeface="Georgia"/>
              </a:rPr>
              <a:t>the</a:t>
            </a:r>
            <a:r>
              <a:rPr sz="3600" spc="-20" dirty="0">
                <a:solidFill>
                  <a:srgbClr val="2E377E"/>
                </a:solidFill>
                <a:latin typeface="Georgia"/>
                <a:cs typeface="Georgia"/>
              </a:rPr>
              <a:t> </a:t>
            </a:r>
            <a:r>
              <a:rPr sz="3600" spc="100" dirty="0">
                <a:solidFill>
                  <a:srgbClr val="2E377E"/>
                </a:solidFill>
                <a:latin typeface="Georgia"/>
                <a:cs typeface="Georgia"/>
              </a:rPr>
              <a:t>new</a:t>
            </a:r>
            <a:r>
              <a:rPr sz="3600" spc="-20"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spc="55" dirty="0">
                <a:solidFill>
                  <a:srgbClr val="2E377E"/>
                </a:solidFill>
                <a:latin typeface="Georgia"/>
                <a:cs typeface="Georgia"/>
              </a:rPr>
              <a:t>will</a:t>
            </a:r>
            <a:r>
              <a:rPr sz="3600" spc="-20" dirty="0">
                <a:solidFill>
                  <a:srgbClr val="2E377E"/>
                </a:solidFill>
                <a:latin typeface="Georgia"/>
                <a:cs typeface="Georgia"/>
              </a:rPr>
              <a:t> </a:t>
            </a:r>
            <a:r>
              <a:rPr sz="3600" spc="50" dirty="0">
                <a:solidFill>
                  <a:srgbClr val="2E377E"/>
                </a:solidFill>
                <a:latin typeface="Georgia"/>
                <a:cs typeface="Georgia"/>
              </a:rPr>
              <a:t>not</a:t>
            </a:r>
            <a:r>
              <a:rPr sz="3600" spc="-15" dirty="0">
                <a:solidFill>
                  <a:srgbClr val="2E377E"/>
                </a:solidFill>
                <a:latin typeface="Georgia"/>
                <a:cs typeface="Georgia"/>
              </a:rPr>
              <a:t> </a:t>
            </a:r>
            <a:r>
              <a:rPr sz="3600" dirty="0">
                <a:solidFill>
                  <a:srgbClr val="2E377E"/>
                </a:solidFill>
                <a:latin typeface="Georgia"/>
                <a:cs typeface="Georgia"/>
              </a:rPr>
              <a:t>be</a:t>
            </a:r>
            <a:r>
              <a:rPr sz="3600" spc="-20" dirty="0">
                <a:solidFill>
                  <a:srgbClr val="2E377E"/>
                </a:solidFill>
                <a:latin typeface="Georgia"/>
                <a:cs typeface="Georgia"/>
              </a:rPr>
              <a:t> </a:t>
            </a:r>
            <a:r>
              <a:rPr sz="3600" spc="-10" dirty="0">
                <a:solidFill>
                  <a:srgbClr val="2E377E"/>
                </a:solidFill>
                <a:latin typeface="Georgia"/>
                <a:cs typeface="Georgia"/>
              </a:rPr>
              <a:t>created.</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If</a:t>
            </a:r>
            <a:r>
              <a:rPr sz="3600" spc="-60" dirty="0">
                <a:solidFill>
                  <a:srgbClr val="2E377E"/>
                </a:solidFill>
                <a:latin typeface="Georgia"/>
                <a:cs typeface="Georgia"/>
              </a:rPr>
              <a:t> </a:t>
            </a:r>
            <a:r>
              <a:rPr sz="3600" spc="90" dirty="0">
                <a:solidFill>
                  <a:srgbClr val="2E377E"/>
                </a:solidFill>
                <a:latin typeface="Georgia"/>
                <a:cs typeface="Georgia"/>
              </a:rPr>
              <a:t>you</a:t>
            </a:r>
            <a:r>
              <a:rPr sz="3600" spc="-60" dirty="0">
                <a:solidFill>
                  <a:srgbClr val="2E377E"/>
                </a:solidFill>
                <a:latin typeface="Georgia"/>
                <a:cs typeface="Georgia"/>
              </a:rPr>
              <a:t> </a:t>
            </a:r>
            <a:r>
              <a:rPr sz="3600" spc="55" dirty="0">
                <a:solidFill>
                  <a:srgbClr val="2E377E"/>
                </a:solidFill>
                <a:latin typeface="Georgia"/>
                <a:cs typeface="Georgia"/>
              </a:rPr>
              <a:t>delete</a:t>
            </a:r>
            <a:r>
              <a:rPr sz="3600" spc="-60" dirty="0">
                <a:solidFill>
                  <a:srgbClr val="2E377E"/>
                </a:solidFill>
                <a:latin typeface="Georgia"/>
                <a:cs typeface="Georgia"/>
              </a:rPr>
              <a:t> </a:t>
            </a:r>
            <a:r>
              <a:rPr sz="3600" dirty="0">
                <a:solidFill>
                  <a:srgbClr val="2E377E"/>
                </a:solidFill>
                <a:latin typeface="Georgia"/>
                <a:cs typeface="Georgia"/>
              </a:rPr>
              <a:t>a</a:t>
            </a:r>
            <a:r>
              <a:rPr sz="3600" spc="-60" dirty="0">
                <a:solidFill>
                  <a:srgbClr val="2E377E"/>
                </a:solidFill>
                <a:latin typeface="Georgia"/>
                <a:cs typeface="Georgia"/>
              </a:rPr>
              <a:t> </a:t>
            </a:r>
            <a:r>
              <a:rPr sz="3600" dirty="0">
                <a:solidFill>
                  <a:srgbClr val="2E377E"/>
                </a:solidFill>
                <a:latin typeface="Georgia"/>
                <a:cs typeface="Georgia"/>
              </a:rPr>
              <a:t>Pod,</a:t>
            </a:r>
            <a:r>
              <a:rPr sz="3600" spc="-60" dirty="0">
                <a:solidFill>
                  <a:srgbClr val="2E377E"/>
                </a:solidFill>
                <a:latin typeface="Georgia"/>
                <a:cs typeface="Georgia"/>
              </a:rPr>
              <a:t> </a:t>
            </a:r>
            <a:r>
              <a:rPr sz="3600" spc="65" dirty="0">
                <a:solidFill>
                  <a:srgbClr val="2E377E"/>
                </a:solidFill>
                <a:latin typeface="Georgia"/>
                <a:cs typeface="Georgia"/>
              </a:rPr>
              <a:t>it</a:t>
            </a:r>
            <a:r>
              <a:rPr sz="3600" spc="-60" dirty="0">
                <a:solidFill>
                  <a:srgbClr val="2E377E"/>
                </a:solidFill>
                <a:latin typeface="Georgia"/>
                <a:cs typeface="Georgia"/>
              </a:rPr>
              <a:t> </a:t>
            </a:r>
            <a:r>
              <a:rPr sz="3600" spc="55" dirty="0">
                <a:solidFill>
                  <a:srgbClr val="2E377E"/>
                </a:solidFill>
                <a:latin typeface="Georgia"/>
                <a:cs typeface="Georgia"/>
              </a:rPr>
              <a:t>will</a:t>
            </a:r>
            <a:r>
              <a:rPr sz="3600" spc="-60" dirty="0">
                <a:solidFill>
                  <a:srgbClr val="2E377E"/>
                </a:solidFill>
                <a:latin typeface="Georgia"/>
                <a:cs typeface="Georgia"/>
              </a:rPr>
              <a:t> </a:t>
            </a:r>
            <a:r>
              <a:rPr sz="3600" spc="55" dirty="0">
                <a:solidFill>
                  <a:srgbClr val="2E377E"/>
                </a:solidFill>
                <a:latin typeface="Georgia"/>
                <a:cs typeface="Georgia"/>
              </a:rPr>
              <a:t>delete</a:t>
            </a:r>
            <a:r>
              <a:rPr sz="3600" spc="-60" dirty="0">
                <a:solidFill>
                  <a:srgbClr val="2E377E"/>
                </a:solidFill>
                <a:latin typeface="Georgia"/>
                <a:cs typeface="Georgia"/>
              </a:rPr>
              <a:t> </a:t>
            </a:r>
            <a:r>
              <a:rPr sz="3600" spc="60" dirty="0">
                <a:solidFill>
                  <a:srgbClr val="2E377E"/>
                </a:solidFill>
                <a:latin typeface="Georgia"/>
                <a:cs typeface="Georgia"/>
              </a:rPr>
              <a:t>the</a:t>
            </a:r>
            <a:r>
              <a:rPr sz="3600" spc="-60" dirty="0">
                <a:solidFill>
                  <a:srgbClr val="2E377E"/>
                </a:solidFill>
                <a:latin typeface="Georgia"/>
                <a:cs typeface="Georgia"/>
              </a:rPr>
              <a:t> </a:t>
            </a:r>
            <a:r>
              <a:rPr sz="3600" dirty="0">
                <a:solidFill>
                  <a:srgbClr val="2E377E"/>
                </a:solidFill>
                <a:latin typeface="Georgia"/>
                <a:cs typeface="Georgia"/>
              </a:rPr>
              <a:t>Pod</a:t>
            </a:r>
            <a:r>
              <a:rPr sz="3600" spc="-60" dirty="0">
                <a:solidFill>
                  <a:srgbClr val="2E377E"/>
                </a:solidFill>
                <a:latin typeface="Georgia"/>
                <a:cs typeface="Georgia"/>
              </a:rPr>
              <a:t> </a:t>
            </a:r>
            <a:r>
              <a:rPr sz="3600" dirty="0">
                <a:solidFill>
                  <a:srgbClr val="2E377E"/>
                </a:solidFill>
                <a:latin typeface="Georgia"/>
                <a:cs typeface="Georgia"/>
              </a:rPr>
              <a:t>in</a:t>
            </a:r>
            <a:r>
              <a:rPr sz="3600" spc="-60" dirty="0">
                <a:solidFill>
                  <a:srgbClr val="2E377E"/>
                </a:solidFill>
                <a:latin typeface="Georgia"/>
                <a:cs typeface="Georgia"/>
              </a:rPr>
              <a:t> </a:t>
            </a:r>
            <a:r>
              <a:rPr sz="3600" spc="70" dirty="0">
                <a:solidFill>
                  <a:srgbClr val="2E377E"/>
                </a:solidFill>
                <a:latin typeface="Georgia"/>
                <a:cs typeface="Georgia"/>
              </a:rPr>
              <a:t>reverse</a:t>
            </a:r>
            <a:r>
              <a:rPr sz="3600" spc="-60" dirty="0">
                <a:solidFill>
                  <a:srgbClr val="2E377E"/>
                </a:solidFill>
                <a:latin typeface="Georgia"/>
                <a:cs typeface="Georgia"/>
              </a:rPr>
              <a:t> </a:t>
            </a:r>
            <a:r>
              <a:rPr sz="3600" dirty="0">
                <a:solidFill>
                  <a:srgbClr val="2E377E"/>
                </a:solidFill>
                <a:latin typeface="Georgia"/>
                <a:cs typeface="Georgia"/>
              </a:rPr>
              <a:t>order,</a:t>
            </a:r>
            <a:r>
              <a:rPr sz="3600" spc="-60" dirty="0">
                <a:solidFill>
                  <a:srgbClr val="2E377E"/>
                </a:solidFill>
                <a:latin typeface="Georgia"/>
                <a:cs typeface="Georgia"/>
              </a:rPr>
              <a:t> </a:t>
            </a:r>
            <a:r>
              <a:rPr sz="3600" spc="50" dirty="0">
                <a:solidFill>
                  <a:srgbClr val="2E377E"/>
                </a:solidFill>
                <a:latin typeface="Georgia"/>
                <a:cs typeface="Georgia"/>
              </a:rPr>
              <a:t>not</a:t>
            </a:r>
            <a:r>
              <a:rPr sz="3600" spc="-60" dirty="0">
                <a:solidFill>
                  <a:srgbClr val="2E377E"/>
                </a:solidFill>
                <a:latin typeface="Georgia"/>
                <a:cs typeface="Georgia"/>
              </a:rPr>
              <a:t> </a:t>
            </a:r>
            <a:r>
              <a:rPr sz="3600" dirty="0">
                <a:solidFill>
                  <a:srgbClr val="2E377E"/>
                </a:solidFill>
                <a:latin typeface="Georgia"/>
                <a:cs typeface="Georgia"/>
              </a:rPr>
              <a:t>in</a:t>
            </a:r>
            <a:r>
              <a:rPr sz="3600" spc="-55" dirty="0">
                <a:solidFill>
                  <a:srgbClr val="2E377E"/>
                </a:solidFill>
                <a:latin typeface="Georgia"/>
                <a:cs typeface="Georgia"/>
              </a:rPr>
              <a:t> </a:t>
            </a:r>
            <a:r>
              <a:rPr sz="3600" dirty="0">
                <a:solidFill>
                  <a:srgbClr val="2E377E"/>
                </a:solidFill>
                <a:latin typeface="Georgia"/>
                <a:cs typeface="Georgia"/>
              </a:rPr>
              <a:t>random</a:t>
            </a:r>
            <a:r>
              <a:rPr sz="3600" spc="-60" dirty="0">
                <a:solidFill>
                  <a:srgbClr val="2E377E"/>
                </a:solidFill>
                <a:latin typeface="Georgia"/>
                <a:cs typeface="Georgia"/>
              </a:rPr>
              <a:t> </a:t>
            </a:r>
            <a:r>
              <a:rPr sz="3600" spc="-10" dirty="0">
                <a:solidFill>
                  <a:srgbClr val="2E377E"/>
                </a:solidFill>
                <a:latin typeface="Georgia"/>
                <a:cs typeface="Georgia"/>
              </a:rPr>
              <a:t>order.</a:t>
            </a:r>
            <a:endParaRPr sz="3600">
              <a:latin typeface="Georgia"/>
              <a:cs typeface="Georgia"/>
            </a:endParaRPr>
          </a:p>
        </p:txBody>
      </p:sp>
      <p:pic>
        <p:nvPicPr>
          <p:cNvPr id="4" name="object 4"/>
          <p:cNvPicPr/>
          <p:nvPr/>
        </p:nvPicPr>
        <p:blipFill>
          <a:blip r:embed="rId3" cstate="print"/>
          <a:stretch>
            <a:fillRect/>
          </a:stretch>
        </p:blipFill>
        <p:spPr>
          <a:xfrm>
            <a:off x="1062105" y="4365780"/>
            <a:ext cx="133350" cy="133349"/>
          </a:xfrm>
          <a:prstGeom prst="rect">
            <a:avLst/>
          </a:prstGeom>
        </p:spPr>
      </p:pic>
      <p:pic>
        <p:nvPicPr>
          <p:cNvPr id="5" name="object 5"/>
          <p:cNvPicPr/>
          <p:nvPr/>
        </p:nvPicPr>
        <p:blipFill>
          <a:blip r:embed="rId4" cstate="print"/>
          <a:stretch>
            <a:fillRect/>
          </a:stretch>
        </p:blipFill>
        <p:spPr>
          <a:xfrm>
            <a:off x="1062105" y="5642130"/>
            <a:ext cx="133350" cy="133349"/>
          </a:xfrm>
          <a:prstGeom prst="rect">
            <a:avLst/>
          </a:prstGeom>
        </p:spPr>
      </p:pic>
      <p:pic>
        <p:nvPicPr>
          <p:cNvPr id="6" name="object 6"/>
          <p:cNvPicPr/>
          <p:nvPr/>
        </p:nvPicPr>
        <p:blipFill>
          <a:blip r:embed="rId4" cstate="print"/>
          <a:stretch>
            <a:fillRect/>
          </a:stretch>
        </p:blipFill>
        <p:spPr>
          <a:xfrm>
            <a:off x="1062105" y="6918480"/>
            <a:ext cx="133350" cy="133349"/>
          </a:xfrm>
          <a:prstGeom prst="rect">
            <a:avLst/>
          </a:prstGeom>
        </p:spPr>
      </p:pic>
      <p:sp>
        <p:nvSpPr>
          <p:cNvPr id="7" name="object 7"/>
          <p:cNvSpPr txBox="1">
            <a:spLocks noGrp="1"/>
          </p:cNvSpPr>
          <p:nvPr>
            <p:ph type="title"/>
          </p:nvPr>
        </p:nvSpPr>
        <p:spPr>
          <a:prstGeom prst="rect">
            <a:avLst/>
          </a:prstGeom>
        </p:spPr>
        <p:txBody>
          <a:bodyPr vert="horz" wrap="square" lIns="0" tIns="571698" rIns="0" bIns="0" rtlCol="0">
            <a:spAutoFit/>
          </a:bodyPr>
          <a:lstStyle/>
          <a:p>
            <a:pPr marL="27940">
              <a:lnSpc>
                <a:spcPct val="100000"/>
              </a:lnSpc>
              <a:spcBef>
                <a:spcPts val="100"/>
              </a:spcBef>
            </a:pPr>
            <a:r>
              <a:rPr sz="4500" spc="-280" dirty="0">
                <a:solidFill>
                  <a:srgbClr val="FF3131"/>
                </a:solidFill>
              </a:rPr>
              <a:t>STATEFUL</a:t>
            </a:r>
            <a:r>
              <a:rPr sz="4500" spc="-30" dirty="0">
                <a:solidFill>
                  <a:srgbClr val="FF3131"/>
                </a:solidFill>
              </a:rPr>
              <a:t> </a:t>
            </a:r>
            <a:r>
              <a:rPr sz="4500" spc="-285" dirty="0">
                <a:solidFill>
                  <a:srgbClr val="FF3131"/>
                </a:solidFill>
              </a:rPr>
              <a:t>SET</a:t>
            </a:r>
            <a:endParaRPr sz="450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98321" y="390152"/>
            <a:ext cx="8912478" cy="5410553"/>
          </a:xfrm>
          <a:prstGeom prst="rect">
            <a:avLst/>
          </a:prstGeom>
        </p:spPr>
      </p:pic>
      <p:pic>
        <p:nvPicPr>
          <p:cNvPr id="3" name="object 3"/>
          <p:cNvPicPr/>
          <p:nvPr/>
        </p:nvPicPr>
        <p:blipFill>
          <a:blip r:embed="rId3" cstate="print"/>
          <a:stretch>
            <a:fillRect/>
          </a:stretch>
        </p:blipFill>
        <p:spPr>
          <a:xfrm>
            <a:off x="1272139" y="6292320"/>
            <a:ext cx="142874" cy="142874"/>
          </a:xfrm>
          <a:prstGeom prst="rect">
            <a:avLst/>
          </a:prstGeom>
        </p:spPr>
      </p:pic>
      <p:sp>
        <p:nvSpPr>
          <p:cNvPr id="4" name="object 4"/>
          <p:cNvSpPr txBox="1"/>
          <p:nvPr/>
        </p:nvSpPr>
        <p:spPr>
          <a:xfrm>
            <a:off x="1615584" y="5902430"/>
            <a:ext cx="15704185" cy="4140200"/>
          </a:xfrm>
          <a:prstGeom prst="rect">
            <a:avLst/>
          </a:prstGeom>
        </p:spPr>
        <p:txBody>
          <a:bodyPr vert="horz" wrap="square" lIns="0" tIns="104139" rIns="0" bIns="0" rtlCol="0">
            <a:spAutoFit/>
          </a:bodyPr>
          <a:lstStyle/>
          <a:p>
            <a:pPr marL="12700">
              <a:lnSpc>
                <a:spcPct val="100000"/>
              </a:lnSpc>
              <a:spcBef>
                <a:spcPts val="819"/>
              </a:spcBef>
            </a:pPr>
            <a:r>
              <a:rPr sz="3900" dirty="0">
                <a:solidFill>
                  <a:srgbClr val="2E377E"/>
                </a:solidFill>
                <a:latin typeface="Georgia"/>
                <a:cs typeface="Georgia"/>
              </a:rPr>
              <a:t>Lets</a:t>
            </a:r>
            <a:r>
              <a:rPr sz="3900" spc="-5" dirty="0">
                <a:solidFill>
                  <a:srgbClr val="2E377E"/>
                </a:solidFill>
                <a:latin typeface="Georgia"/>
                <a:cs typeface="Georgia"/>
              </a:rPr>
              <a:t> </a:t>
            </a:r>
            <a:r>
              <a:rPr sz="3900" dirty="0">
                <a:solidFill>
                  <a:srgbClr val="2E377E"/>
                </a:solidFill>
                <a:latin typeface="Georgia"/>
                <a:cs typeface="Georgia"/>
              </a:rPr>
              <a:t>assume </a:t>
            </a:r>
            <a:r>
              <a:rPr sz="3900" spc="140" dirty="0">
                <a:solidFill>
                  <a:srgbClr val="2E377E"/>
                </a:solidFill>
                <a:latin typeface="Georgia"/>
                <a:cs typeface="Georgia"/>
              </a:rPr>
              <a:t>we</a:t>
            </a:r>
            <a:r>
              <a:rPr sz="3900" spc="-5" dirty="0">
                <a:solidFill>
                  <a:srgbClr val="2E377E"/>
                </a:solidFill>
                <a:latin typeface="Georgia"/>
                <a:cs typeface="Georgia"/>
              </a:rPr>
              <a:t> </a:t>
            </a:r>
            <a:r>
              <a:rPr sz="3900" spc="50" dirty="0">
                <a:solidFill>
                  <a:srgbClr val="2E377E"/>
                </a:solidFill>
                <a:latin typeface="Georgia"/>
                <a:cs typeface="Georgia"/>
              </a:rPr>
              <a:t>deployed</a:t>
            </a:r>
            <a:r>
              <a:rPr sz="3900" dirty="0">
                <a:solidFill>
                  <a:srgbClr val="2E377E"/>
                </a:solidFill>
                <a:latin typeface="Georgia"/>
                <a:cs typeface="Georgia"/>
              </a:rPr>
              <a:t> </a:t>
            </a:r>
            <a:r>
              <a:rPr sz="3900" spc="-260" dirty="0">
                <a:solidFill>
                  <a:srgbClr val="2E377E"/>
                </a:solidFill>
                <a:latin typeface="Georgia"/>
                <a:cs typeface="Georgia"/>
              </a:rPr>
              <a:t>3</a:t>
            </a:r>
            <a:r>
              <a:rPr sz="3900" spc="-5" dirty="0">
                <a:solidFill>
                  <a:srgbClr val="2E377E"/>
                </a:solidFill>
                <a:latin typeface="Georgia"/>
                <a:cs typeface="Georgia"/>
              </a:rPr>
              <a:t> </a:t>
            </a:r>
            <a:r>
              <a:rPr sz="3900" dirty="0">
                <a:solidFill>
                  <a:srgbClr val="2E377E"/>
                </a:solidFill>
                <a:latin typeface="Georgia"/>
                <a:cs typeface="Georgia"/>
              </a:rPr>
              <a:t>replicas in</a:t>
            </a:r>
            <a:r>
              <a:rPr sz="3900" spc="-5" dirty="0">
                <a:solidFill>
                  <a:srgbClr val="2E377E"/>
                </a:solidFill>
                <a:latin typeface="Georgia"/>
                <a:cs typeface="Georgia"/>
              </a:rPr>
              <a:t> </a:t>
            </a:r>
            <a:r>
              <a:rPr sz="3900" dirty="0">
                <a:solidFill>
                  <a:srgbClr val="2E377E"/>
                </a:solidFill>
                <a:latin typeface="Georgia"/>
                <a:cs typeface="Georgia"/>
              </a:rPr>
              <a:t>a </a:t>
            </a:r>
            <a:r>
              <a:rPr sz="3900" spc="-10" dirty="0">
                <a:solidFill>
                  <a:srgbClr val="2E377E"/>
                </a:solidFill>
                <a:latin typeface="Georgia"/>
                <a:cs typeface="Georgia"/>
              </a:rPr>
              <a:t>node,</a:t>
            </a:r>
            <a:endParaRPr sz="3900">
              <a:latin typeface="Georgia"/>
              <a:cs typeface="Georgia"/>
            </a:endParaRPr>
          </a:p>
          <a:p>
            <a:pPr marL="12700" marR="2529205">
              <a:lnSpc>
                <a:spcPct val="115399"/>
              </a:lnSpc>
            </a:pPr>
            <a:r>
              <a:rPr sz="3900" dirty="0">
                <a:solidFill>
                  <a:srgbClr val="2E377E"/>
                </a:solidFill>
                <a:latin typeface="Georgia"/>
                <a:cs typeface="Georgia"/>
              </a:rPr>
              <a:t>1st pod</a:t>
            </a:r>
            <a:r>
              <a:rPr sz="3900" spc="5" dirty="0">
                <a:solidFill>
                  <a:srgbClr val="2E377E"/>
                </a:solidFill>
                <a:latin typeface="Georgia"/>
                <a:cs typeface="Georgia"/>
              </a:rPr>
              <a:t> </a:t>
            </a:r>
            <a:r>
              <a:rPr sz="3900" dirty="0">
                <a:solidFill>
                  <a:srgbClr val="2E377E"/>
                </a:solidFill>
                <a:latin typeface="Georgia"/>
                <a:cs typeface="Georgia"/>
              </a:rPr>
              <a:t>is</a:t>
            </a:r>
            <a:r>
              <a:rPr sz="3900" spc="5" dirty="0">
                <a:solidFill>
                  <a:srgbClr val="2E377E"/>
                </a:solidFill>
                <a:latin typeface="Georgia"/>
                <a:cs typeface="Georgia"/>
              </a:rPr>
              <a:t> </a:t>
            </a:r>
            <a:r>
              <a:rPr sz="3900" spc="50" dirty="0">
                <a:solidFill>
                  <a:srgbClr val="2E377E"/>
                </a:solidFill>
                <a:latin typeface="Georgia"/>
                <a:cs typeface="Georgia"/>
              </a:rPr>
              <a:t>primary</a:t>
            </a:r>
            <a:r>
              <a:rPr sz="3900" spc="5" dirty="0">
                <a:solidFill>
                  <a:srgbClr val="2E377E"/>
                </a:solidFill>
                <a:latin typeface="Georgia"/>
                <a:cs typeface="Georgia"/>
              </a:rPr>
              <a:t> </a:t>
            </a:r>
            <a:r>
              <a:rPr sz="3900" dirty="0">
                <a:solidFill>
                  <a:srgbClr val="2E377E"/>
                </a:solidFill>
                <a:latin typeface="Georgia"/>
                <a:cs typeface="Georgia"/>
              </a:rPr>
              <a:t>pod,</a:t>
            </a:r>
            <a:r>
              <a:rPr sz="3900" spc="5" dirty="0">
                <a:solidFill>
                  <a:srgbClr val="2E377E"/>
                </a:solidFill>
                <a:latin typeface="Georgia"/>
                <a:cs typeface="Georgia"/>
              </a:rPr>
              <a:t> </a:t>
            </a:r>
            <a:r>
              <a:rPr sz="3900" dirty="0">
                <a:solidFill>
                  <a:srgbClr val="2E377E"/>
                </a:solidFill>
                <a:latin typeface="Georgia"/>
                <a:cs typeface="Georgia"/>
              </a:rPr>
              <a:t>remaining</a:t>
            </a:r>
            <a:r>
              <a:rPr sz="3900" spc="5" dirty="0">
                <a:solidFill>
                  <a:srgbClr val="2E377E"/>
                </a:solidFill>
                <a:latin typeface="Georgia"/>
                <a:cs typeface="Georgia"/>
              </a:rPr>
              <a:t> </a:t>
            </a:r>
            <a:r>
              <a:rPr sz="3900" dirty="0">
                <a:solidFill>
                  <a:srgbClr val="2E377E"/>
                </a:solidFill>
                <a:latin typeface="Georgia"/>
                <a:cs typeface="Georgia"/>
              </a:rPr>
              <a:t>pods</a:t>
            </a:r>
            <a:r>
              <a:rPr sz="3900" spc="5" dirty="0">
                <a:solidFill>
                  <a:srgbClr val="2E377E"/>
                </a:solidFill>
                <a:latin typeface="Georgia"/>
                <a:cs typeface="Georgia"/>
              </a:rPr>
              <a:t> </a:t>
            </a:r>
            <a:r>
              <a:rPr sz="3900" dirty="0">
                <a:solidFill>
                  <a:srgbClr val="2E377E"/>
                </a:solidFill>
                <a:latin typeface="Georgia"/>
                <a:cs typeface="Georgia"/>
              </a:rPr>
              <a:t>are </a:t>
            </a:r>
            <a:r>
              <a:rPr sz="3900" spc="50" dirty="0">
                <a:solidFill>
                  <a:srgbClr val="2E377E"/>
                </a:solidFill>
                <a:latin typeface="Georgia"/>
                <a:cs typeface="Georgia"/>
              </a:rPr>
              <a:t>secondary</a:t>
            </a:r>
            <a:r>
              <a:rPr sz="3900" spc="5" dirty="0">
                <a:solidFill>
                  <a:srgbClr val="2E377E"/>
                </a:solidFill>
                <a:latin typeface="Georgia"/>
                <a:cs typeface="Georgia"/>
              </a:rPr>
              <a:t> </a:t>
            </a:r>
            <a:r>
              <a:rPr sz="3900" spc="-10" dirty="0">
                <a:solidFill>
                  <a:srgbClr val="2E377E"/>
                </a:solidFill>
                <a:latin typeface="Georgia"/>
                <a:cs typeface="Georgia"/>
              </a:rPr>
              <a:t>pods. </a:t>
            </a:r>
            <a:r>
              <a:rPr sz="3900" dirty="0">
                <a:solidFill>
                  <a:srgbClr val="2E377E"/>
                </a:solidFill>
                <a:latin typeface="Georgia"/>
                <a:cs typeface="Georgia"/>
              </a:rPr>
              <a:t>Primary</a:t>
            </a:r>
            <a:r>
              <a:rPr sz="3900" spc="45" dirty="0">
                <a:solidFill>
                  <a:srgbClr val="2E377E"/>
                </a:solidFill>
                <a:latin typeface="Georgia"/>
                <a:cs typeface="Georgia"/>
              </a:rPr>
              <a:t> </a:t>
            </a:r>
            <a:r>
              <a:rPr sz="3900" dirty="0">
                <a:solidFill>
                  <a:srgbClr val="2E377E"/>
                </a:solidFill>
                <a:latin typeface="Georgia"/>
                <a:cs typeface="Georgia"/>
              </a:rPr>
              <a:t>pod</a:t>
            </a:r>
            <a:r>
              <a:rPr sz="3900" spc="50" dirty="0">
                <a:solidFill>
                  <a:srgbClr val="2E377E"/>
                </a:solidFill>
                <a:latin typeface="Georgia"/>
                <a:cs typeface="Georgia"/>
              </a:rPr>
              <a:t> </a:t>
            </a:r>
            <a:r>
              <a:rPr sz="3900" dirty="0">
                <a:solidFill>
                  <a:srgbClr val="2E377E"/>
                </a:solidFill>
                <a:latin typeface="Georgia"/>
                <a:cs typeface="Georgia"/>
              </a:rPr>
              <a:t>is</a:t>
            </a:r>
            <a:r>
              <a:rPr sz="3900" spc="45" dirty="0">
                <a:solidFill>
                  <a:srgbClr val="2E377E"/>
                </a:solidFill>
                <a:latin typeface="Georgia"/>
                <a:cs typeface="Georgia"/>
              </a:rPr>
              <a:t> </a:t>
            </a:r>
            <a:r>
              <a:rPr sz="3900" dirty="0">
                <a:solidFill>
                  <a:srgbClr val="2E377E"/>
                </a:solidFill>
                <a:latin typeface="Georgia"/>
                <a:cs typeface="Georgia"/>
              </a:rPr>
              <a:t>having</a:t>
            </a:r>
            <a:r>
              <a:rPr sz="3900" spc="50" dirty="0">
                <a:solidFill>
                  <a:srgbClr val="2E377E"/>
                </a:solidFill>
                <a:latin typeface="Georgia"/>
                <a:cs typeface="Georgia"/>
              </a:rPr>
              <a:t> </a:t>
            </a:r>
            <a:r>
              <a:rPr sz="3900" dirty="0">
                <a:solidFill>
                  <a:srgbClr val="2E377E"/>
                </a:solidFill>
                <a:latin typeface="Georgia"/>
                <a:cs typeface="Georgia"/>
              </a:rPr>
              <a:t>both</a:t>
            </a:r>
            <a:r>
              <a:rPr sz="3900" spc="50" dirty="0">
                <a:solidFill>
                  <a:srgbClr val="2E377E"/>
                </a:solidFill>
                <a:latin typeface="Georgia"/>
                <a:cs typeface="Georgia"/>
              </a:rPr>
              <a:t> </a:t>
            </a:r>
            <a:r>
              <a:rPr sz="3900" dirty="0">
                <a:solidFill>
                  <a:srgbClr val="2E377E"/>
                </a:solidFill>
                <a:latin typeface="Georgia"/>
                <a:cs typeface="Georgia"/>
              </a:rPr>
              <a:t>read</a:t>
            </a:r>
            <a:r>
              <a:rPr sz="3900" spc="45" dirty="0">
                <a:solidFill>
                  <a:srgbClr val="2E377E"/>
                </a:solidFill>
                <a:latin typeface="Georgia"/>
                <a:cs typeface="Georgia"/>
              </a:rPr>
              <a:t> </a:t>
            </a:r>
            <a:r>
              <a:rPr sz="3900" dirty="0">
                <a:solidFill>
                  <a:srgbClr val="2E377E"/>
                </a:solidFill>
                <a:latin typeface="Georgia"/>
                <a:cs typeface="Georgia"/>
              </a:rPr>
              <a:t>and</a:t>
            </a:r>
            <a:r>
              <a:rPr sz="3900" spc="50" dirty="0">
                <a:solidFill>
                  <a:srgbClr val="2E377E"/>
                </a:solidFill>
                <a:latin typeface="Georgia"/>
                <a:cs typeface="Georgia"/>
              </a:rPr>
              <a:t> </a:t>
            </a:r>
            <a:r>
              <a:rPr sz="3900" spc="90" dirty="0">
                <a:solidFill>
                  <a:srgbClr val="2E377E"/>
                </a:solidFill>
                <a:latin typeface="Georgia"/>
                <a:cs typeface="Georgia"/>
              </a:rPr>
              <a:t>write</a:t>
            </a:r>
            <a:r>
              <a:rPr sz="3900" spc="45" dirty="0">
                <a:solidFill>
                  <a:srgbClr val="2E377E"/>
                </a:solidFill>
                <a:latin typeface="Georgia"/>
                <a:cs typeface="Georgia"/>
              </a:rPr>
              <a:t> </a:t>
            </a:r>
            <a:r>
              <a:rPr sz="3900" spc="-10" dirty="0">
                <a:solidFill>
                  <a:srgbClr val="2E377E"/>
                </a:solidFill>
                <a:latin typeface="Georgia"/>
                <a:cs typeface="Georgia"/>
              </a:rPr>
              <a:t>access</a:t>
            </a:r>
            <a:endParaRPr sz="3900">
              <a:latin typeface="Georgia"/>
              <a:cs typeface="Georgia"/>
            </a:endParaRPr>
          </a:p>
          <a:p>
            <a:pPr marL="12700">
              <a:lnSpc>
                <a:spcPct val="100000"/>
              </a:lnSpc>
              <a:spcBef>
                <a:spcPts val="720"/>
              </a:spcBef>
            </a:pPr>
            <a:r>
              <a:rPr sz="3900" dirty="0">
                <a:solidFill>
                  <a:srgbClr val="2E377E"/>
                </a:solidFill>
                <a:latin typeface="Georgia"/>
                <a:cs typeface="Georgia"/>
              </a:rPr>
              <a:t>But </a:t>
            </a:r>
            <a:r>
              <a:rPr sz="3900" spc="50" dirty="0">
                <a:solidFill>
                  <a:srgbClr val="2E377E"/>
                </a:solidFill>
                <a:latin typeface="Georgia"/>
                <a:cs typeface="Georgia"/>
              </a:rPr>
              <a:t>secondary</a:t>
            </a:r>
            <a:r>
              <a:rPr sz="3900" spc="5" dirty="0">
                <a:solidFill>
                  <a:srgbClr val="2E377E"/>
                </a:solidFill>
                <a:latin typeface="Georgia"/>
                <a:cs typeface="Georgia"/>
              </a:rPr>
              <a:t> </a:t>
            </a:r>
            <a:r>
              <a:rPr sz="3900" dirty="0">
                <a:solidFill>
                  <a:srgbClr val="2E377E"/>
                </a:solidFill>
                <a:latin typeface="Georgia"/>
                <a:cs typeface="Georgia"/>
              </a:rPr>
              <a:t>pod</a:t>
            </a:r>
            <a:r>
              <a:rPr sz="3900" spc="5" dirty="0">
                <a:solidFill>
                  <a:srgbClr val="2E377E"/>
                </a:solidFill>
                <a:latin typeface="Georgia"/>
                <a:cs typeface="Georgia"/>
              </a:rPr>
              <a:t> </a:t>
            </a:r>
            <a:r>
              <a:rPr sz="3900" dirty="0">
                <a:solidFill>
                  <a:srgbClr val="2E377E"/>
                </a:solidFill>
                <a:latin typeface="Georgia"/>
                <a:cs typeface="Georgia"/>
              </a:rPr>
              <a:t>is</a:t>
            </a:r>
            <a:r>
              <a:rPr sz="3900" spc="5" dirty="0">
                <a:solidFill>
                  <a:srgbClr val="2E377E"/>
                </a:solidFill>
                <a:latin typeface="Georgia"/>
                <a:cs typeface="Georgia"/>
              </a:rPr>
              <a:t> </a:t>
            </a:r>
            <a:r>
              <a:rPr sz="3900" dirty="0">
                <a:solidFill>
                  <a:srgbClr val="2E377E"/>
                </a:solidFill>
                <a:latin typeface="Georgia"/>
                <a:cs typeface="Georgia"/>
              </a:rPr>
              <a:t>having</a:t>
            </a:r>
            <a:r>
              <a:rPr sz="3900" spc="5" dirty="0">
                <a:solidFill>
                  <a:srgbClr val="2E377E"/>
                </a:solidFill>
                <a:latin typeface="Georgia"/>
                <a:cs typeface="Georgia"/>
              </a:rPr>
              <a:t> </a:t>
            </a:r>
            <a:r>
              <a:rPr sz="3900" spc="60" dirty="0">
                <a:solidFill>
                  <a:srgbClr val="2E377E"/>
                </a:solidFill>
                <a:latin typeface="Georgia"/>
                <a:cs typeface="Georgia"/>
              </a:rPr>
              <a:t>only</a:t>
            </a:r>
            <a:r>
              <a:rPr sz="3900" spc="5" dirty="0">
                <a:solidFill>
                  <a:srgbClr val="2E377E"/>
                </a:solidFill>
                <a:latin typeface="Georgia"/>
                <a:cs typeface="Georgia"/>
              </a:rPr>
              <a:t> </a:t>
            </a:r>
            <a:r>
              <a:rPr sz="3900" dirty="0">
                <a:solidFill>
                  <a:srgbClr val="2E377E"/>
                </a:solidFill>
                <a:latin typeface="Georgia"/>
                <a:cs typeface="Georgia"/>
              </a:rPr>
              <a:t>read</a:t>
            </a:r>
            <a:r>
              <a:rPr sz="3900" spc="5" dirty="0">
                <a:solidFill>
                  <a:srgbClr val="2E377E"/>
                </a:solidFill>
                <a:latin typeface="Georgia"/>
                <a:cs typeface="Georgia"/>
              </a:rPr>
              <a:t> </a:t>
            </a:r>
            <a:r>
              <a:rPr sz="3900" spc="-10" dirty="0">
                <a:solidFill>
                  <a:srgbClr val="2E377E"/>
                </a:solidFill>
                <a:latin typeface="Georgia"/>
                <a:cs typeface="Georgia"/>
              </a:rPr>
              <a:t>access</a:t>
            </a:r>
            <a:endParaRPr sz="3900">
              <a:latin typeface="Georgia"/>
              <a:cs typeface="Georgia"/>
            </a:endParaRPr>
          </a:p>
          <a:p>
            <a:pPr marL="12700" marR="5080">
              <a:lnSpc>
                <a:spcPct val="115399"/>
              </a:lnSpc>
            </a:pPr>
            <a:r>
              <a:rPr sz="3900" dirty="0">
                <a:solidFill>
                  <a:srgbClr val="2E377E"/>
                </a:solidFill>
                <a:latin typeface="Georgia"/>
                <a:cs typeface="Georgia"/>
              </a:rPr>
              <a:t>If</a:t>
            </a:r>
            <a:r>
              <a:rPr sz="3900" spc="5" dirty="0">
                <a:solidFill>
                  <a:srgbClr val="2E377E"/>
                </a:solidFill>
                <a:latin typeface="Georgia"/>
                <a:cs typeface="Georgia"/>
              </a:rPr>
              <a:t> </a:t>
            </a:r>
            <a:r>
              <a:rPr sz="3900" spc="140" dirty="0">
                <a:solidFill>
                  <a:srgbClr val="2E377E"/>
                </a:solidFill>
                <a:latin typeface="Georgia"/>
                <a:cs typeface="Georgia"/>
              </a:rPr>
              <a:t>we</a:t>
            </a:r>
            <a:r>
              <a:rPr sz="3900" spc="5" dirty="0">
                <a:solidFill>
                  <a:srgbClr val="2E377E"/>
                </a:solidFill>
                <a:latin typeface="Georgia"/>
                <a:cs typeface="Georgia"/>
              </a:rPr>
              <a:t> </a:t>
            </a:r>
            <a:r>
              <a:rPr sz="3900" dirty="0">
                <a:solidFill>
                  <a:srgbClr val="2E377E"/>
                </a:solidFill>
                <a:latin typeface="Georgia"/>
                <a:cs typeface="Georgia"/>
              </a:rPr>
              <a:t>insert</a:t>
            </a:r>
            <a:r>
              <a:rPr sz="3900" spc="10" dirty="0">
                <a:solidFill>
                  <a:srgbClr val="2E377E"/>
                </a:solidFill>
                <a:latin typeface="Georgia"/>
                <a:cs typeface="Georgia"/>
              </a:rPr>
              <a:t> </a:t>
            </a:r>
            <a:r>
              <a:rPr sz="3900" dirty="0">
                <a:solidFill>
                  <a:srgbClr val="2E377E"/>
                </a:solidFill>
                <a:latin typeface="Georgia"/>
                <a:cs typeface="Georgia"/>
              </a:rPr>
              <a:t>some</a:t>
            </a:r>
            <a:r>
              <a:rPr sz="3900" spc="5" dirty="0">
                <a:solidFill>
                  <a:srgbClr val="2E377E"/>
                </a:solidFill>
                <a:latin typeface="Georgia"/>
                <a:cs typeface="Georgia"/>
              </a:rPr>
              <a:t> </a:t>
            </a:r>
            <a:r>
              <a:rPr sz="3900" dirty="0">
                <a:solidFill>
                  <a:srgbClr val="2E377E"/>
                </a:solidFill>
                <a:latin typeface="Georgia"/>
                <a:cs typeface="Georgia"/>
              </a:rPr>
              <a:t>data</a:t>
            </a:r>
            <a:r>
              <a:rPr sz="3900" spc="5" dirty="0">
                <a:solidFill>
                  <a:srgbClr val="2E377E"/>
                </a:solidFill>
                <a:latin typeface="Georgia"/>
                <a:cs typeface="Georgia"/>
              </a:rPr>
              <a:t> </a:t>
            </a:r>
            <a:r>
              <a:rPr sz="3900" dirty="0">
                <a:solidFill>
                  <a:srgbClr val="2E377E"/>
                </a:solidFill>
                <a:latin typeface="Georgia"/>
                <a:cs typeface="Georgia"/>
              </a:rPr>
              <a:t>in</a:t>
            </a:r>
            <a:r>
              <a:rPr sz="3900" spc="10" dirty="0">
                <a:solidFill>
                  <a:srgbClr val="2E377E"/>
                </a:solidFill>
                <a:latin typeface="Georgia"/>
                <a:cs typeface="Georgia"/>
              </a:rPr>
              <a:t> </a:t>
            </a:r>
            <a:r>
              <a:rPr sz="3900" spc="50" dirty="0">
                <a:solidFill>
                  <a:srgbClr val="2E377E"/>
                </a:solidFill>
                <a:latin typeface="Georgia"/>
                <a:cs typeface="Georgia"/>
              </a:rPr>
              <a:t>primary</a:t>
            </a:r>
            <a:r>
              <a:rPr sz="3900" spc="5" dirty="0">
                <a:solidFill>
                  <a:srgbClr val="2E377E"/>
                </a:solidFill>
                <a:latin typeface="Georgia"/>
                <a:cs typeface="Georgia"/>
              </a:rPr>
              <a:t> </a:t>
            </a:r>
            <a:r>
              <a:rPr sz="3900" dirty="0">
                <a:solidFill>
                  <a:srgbClr val="2E377E"/>
                </a:solidFill>
                <a:latin typeface="Georgia"/>
                <a:cs typeface="Georgia"/>
              </a:rPr>
              <a:t>pod,</a:t>
            </a:r>
            <a:r>
              <a:rPr sz="3900" spc="5" dirty="0">
                <a:solidFill>
                  <a:srgbClr val="2E377E"/>
                </a:solidFill>
                <a:latin typeface="Georgia"/>
                <a:cs typeface="Georgia"/>
              </a:rPr>
              <a:t> </a:t>
            </a:r>
            <a:r>
              <a:rPr sz="3900" spc="140" dirty="0">
                <a:solidFill>
                  <a:srgbClr val="2E377E"/>
                </a:solidFill>
                <a:latin typeface="Georgia"/>
                <a:cs typeface="Georgia"/>
              </a:rPr>
              <a:t>we</a:t>
            </a:r>
            <a:r>
              <a:rPr sz="3900" spc="10" dirty="0">
                <a:solidFill>
                  <a:srgbClr val="2E377E"/>
                </a:solidFill>
                <a:latin typeface="Georgia"/>
                <a:cs typeface="Georgia"/>
              </a:rPr>
              <a:t> </a:t>
            </a:r>
            <a:r>
              <a:rPr sz="3900" dirty="0">
                <a:solidFill>
                  <a:srgbClr val="2E377E"/>
                </a:solidFill>
                <a:latin typeface="Georgia"/>
                <a:cs typeface="Georgia"/>
              </a:rPr>
              <a:t>can</a:t>
            </a:r>
            <a:r>
              <a:rPr sz="3900" spc="5" dirty="0">
                <a:solidFill>
                  <a:srgbClr val="2E377E"/>
                </a:solidFill>
                <a:latin typeface="Georgia"/>
                <a:cs typeface="Georgia"/>
              </a:rPr>
              <a:t> </a:t>
            </a:r>
            <a:r>
              <a:rPr sz="3900" dirty="0">
                <a:solidFill>
                  <a:srgbClr val="2E377E"/>
                </a:solidFill>
                <a:latin typeface="Georgia"/>
                <a:cs typeface="Georgia"/>
              </a:rPr>
              <a:t>access</a:t>
            </a:r>
            <a:r>
              <a:rPr sz="3900" spc="5" dirty="0">
                <a:solidFill>
                  <a:srgbClr val="2E377E"/>
                </a:solidFill>
                <a:latin typeface="Georgia"/>
                <a:cs typeface="Georgia"/>
              </a:rPr>
              <a:t> </a:t>
            </a:r>
            <a:r>
              <a:rPr sz="3900" spc="55" dirty="0">
                <a:solidFill>
                  <a:srgbClr val="2E377E"/>
                </a:solidFill>
                <a:latin typeface="Georgia"/>
                <a:cs typeface="Georgia"/>
              </a:rPr>
              <a:t>the</a:t>
            </a:r>
            <a:r>
              <a:rPr sz="3900" spc="10" dirty="0">
                <a:solidFill>
                  <a:srgbClr val="2E377E"/>
                </a:solidFill>
                <a:latin typeface="Georgia"/>
                <a:cs typeface="Georgia"/>
              </a:rPr>
              <a:t> </a:t>
            </a:r>
            <a:r>
              <a:rPr sz="3900" dirty="0">
                <a:solidFill>
                  <a:srgbClr val="2E377E"/>
                </a:solidFill>
                <a:latin typeface="Georgia"/>
                <a:cs typeface="Georgia"/>
              </a:rPr>
              <a:t>data</a:t>
            </a:r>
            <a:r>
              <a:rPr sz="3900" spc="5" dirty="0">
                <a:solidFill>
                  <a:srgbClr val="2E377E"/>
                </a:solidFill>
                <a:latin typeface="Georgia"/>
                <a:cs typeface="Georgia"/>
              </a:rPr>
              <a:t> </a:t>
            </a:r>
            <a:r>
              <a:rPr sz="3900" dirty="0">
                <a:solidFill>
                  <a:srgbClr val="2E377E"/>
                </a:solidFill>
                <a:latin typeface="Georgia"/>
                <a:cs typeface="Georgia"/>
              </a:rPr>
              <a:t>from</a:t>
            </a:r>
            <a:r>
              <a:rPr sz="3900" spc="5" dirty="0">
                <a:solidFill>
                  <a:srgbClr val="2E377E"/>
                </a:solidFill>
                <a:latin typeface="Georgia"/>
                <a:cs typeface="Georgia"/>
              </a:rPr>
              <a:t> </a:t>
            </a:r>
            <a:r>
              <a:rPr sz="3900" spc="45" dirty="0">
                <a:solidFill>
                  <a:srgbClr val="2E377E"/>
                </a:solidFill>
                <a:latin typeface="Georgia"/>
                <a:cs typeface="Georgia"/>
              </a:rPr>
              <a:t>any </a:t>
            </a:r>
            <a:r>
              <a:rPr sz="3900" dirty="0">
                <a:solidFill>
                  <a:srgbClr val="2E377E"/>
                </a:solidFill>
                <a:latin typeface="Georgia"/>
                <a:cs typeface="Georgia"/>
              </a:rPr>
              <a:t>pod</a:t>
            </a:r>
            <a:r>
              <a:rPr sz="3900" spc="-20" dirty="0">
                <a:solidFill>
                  <a:srgbClr val="2E377E"/>
                </a:solidFill>
                <a:latin typeface="Georgia"/>
                <a:cs typeface="Georgia"/>
              </a:rPr>
              <a:t> </a:t>
            </a:r>
            <a:r>
              <a:rPr sz="3900" spc="-90" dirty="0">
                <a:solidFill>
                  <a:srgbClr val="2E377E"/>
                </a:solidFill>
                <a:latin typeface="Georgia"/>
                <a:cs typeface="Georgia"/>
              </a:rPr>
              <a:t>i.e..</a:t>
            </a:r>
            <a:r>
              <a:rPr sz="3900" spc="-15" dirty="0">
                <a:solidFill>
                  <a:srgbClr val="2E377E"/>
                </a:solidFill>
                <a:latin typeface="Georgia"/>
                <a:cs typeface="Georgia"/>
              </a:rPr>
              <a:t> </a:t>
            </a:r>
            <a:r>
              <a:rPr sz="3900" dirty="0">
                <a:solidFill>
                  <a:srgbClr val="2E377E"/>
                </a:solidFill>
                <a:latin typeface="Georgia"/>
                <a:cs typeface="Georgia"/>
              </a:rPr>
              <a:t>pod</a:t>
            </a:r>
            <a:r>
              <a:rPr sz="3900" spc="-15" dirty="0">
                <a:solidFill>
                  <a:srgbClr val="2E377E"/>
                </a:solidFill>
                <a:latin typeface="Georgia"/>
                <a:cs typeface="Georgia"/>
              </a:rPr>
              <a:t> </a:t>
            </a:r>
            <a:r>
              <a:rPr sz="3900" spc="60" dirty="0">
                <a:solidFill>
                  <a:srgbClr val="2E377E"/>
                </a:solidFill>
                <a:latin typeface="Georgia"/>
                <a:cs typeface="Georgia"/>
              </a:rPr>
              <a:t>will</a:t>
            </a:r>
            <a:r>
              <a:rPr sz="3900" spc="-15" dirty="0">
                <a:solidFill>
                  <a:srgbClr val="2E377E"/>
                </a:solidFill>
                <a:latin typeface="Georgia"/>
                <a:cs typeface="Georgia"/>
              </a:rPr>
              <a:t> </a:t>
            </a:r>
            <a:r>
              <a:rPr sz="3900" dirty="0">
                <a:solidFill>
                  <a:srgbClr val="2E377E"/>
                </a:solidFill>
                <a:latin typeface="Georgia"/>
                <a:cs typeface="Georgia"/>
              </a:rPr>
              <a:t>share</a:t>
            </a:r>
            <a:r>
              <a:rPr sz="3900" spc="-15" dirty="0">
                <a:solidFill>
                  <a:srgbClr val="2E377E"/>
                </a:solidFill>
                <a:latin typeface="Georgia"/>
                <a:cs typeface="Georgia"/>
              </a:rPr>
              <a:t> </a:t>
            </a:r>
            <a:r>
              <a:rPr sz="3900" spc="55" dirty="0">
                <a:solidFill>
                  <a:srgbClr val="2E377E"/>
                </a:solidFill>
                <a:latin typeface="Georgia"/>
                <a:cs typeface="Georgia"/>
              </a:rPr>
              <a:t>the</a:t>
            </a:r>
            <a:r>
              <a:rPr sz="3900" spc="-20" dirty="0">
                <a:solidFill>
                  <a:srgbClr val="2E377E"/>
                </a:solidFill>
                <a:latin typeface="Georgia"/>
                <a:cs typeface="Georgia"/>
              </a:rPr>
              <a:t> </a:t>
            </a:r>
            <a:r>
              <a:rPr sz="3900" dirty="0">
                <a:solidFill>
                  <a:srgbClr val="2E377E"/>
                </a:solidFill>
                <a:latin typeface="Georgia"/>
                <a:cs typeface="Georgia"/>
              </a:rPr>
              <a:t>data</a:t>
            </a:r>
            <a:r>
              <a:rPr sz="3900" spc="-15" dirty="0">
                <a:solidFill>
                  <a:srgbClr val="2E377E"/>
                </a:solidFill>
                <a:latin typeface="Georgia"/>
                <a:cs typeface="Georgia"/>
              </a:rPr>
              <a:t> </a:t>
            </a:r>
            <a:r>
              <a:rPr sz="3900" dirty="0">
                <a:solidFill>
                  <a:srgbClr val="2E377E"/>
                </a:solidFill>
                <a:latin typeface="Georgia"/>
                <a:cs typeface="Georgia"/>
              </a:rPr>
              <a:t>each</a:t>
            </a:r>
            <a:r>
              <a:rPr sz="3900" spc="-15" dirty="0">
                <a:solidFill>
                  <a:srgbClr val="2E377E"/>
                </a:solidFill>
                <a:latin typeface="Georgia"/>
                <a:cs typeface="Georgia"/>
              </a:rPr>
              <a:t> </a:t>
            </a:r>
            <a:r>
              <a:rPr sz="3900" spc="-10" dirty="0">
                <a:solidFill>
                  <a:srgbClr val="2E377E"/>
                </a:solidFill>
                <a:latin typeface="Georgia"/>
                <a:cs typeface="Georgia"/>
              </a:rPr>
              <a:t>other</a:t>
            </a:r>
            <a:endParaRPr sz="3900">
              <a:latin typeface="Georgia"/>
              <a:cs typeface="Georgia"/>
            </a:endParaRPr>
          </a:p>
        </p:txBody>
      </p:sp>
      <p:pic>
        <p:nvPicPr>
          <p:cNvPr id="5" name="object 5"/>
          <p:cNvPicPr/>
          <p:nvPr/>
        </p:nvPicPr>
        <p:blipFill>
          <a:blip r:embed="rId3" cstate="print"/>
          <a:stretch>
            <a:fillRect/>
          </a:stretch>
        </p:blipFill>
        <p:spPr>
          <a:xfrm>
            <a:off x="1272139" y="6978120"/>
            <a:ext cx="142874" cy="142874"/>
          </a:xfrm>
          <a:prstGeom prst="rect">
            <a:avLst/>
          </a:prstGeom>
        </p:spPr>
      </p:pic>
      <p:pic>
        <p:nvPicPr>
          <p:cNvPr id="6" name="object 6"/>
          <p:cNvPicPr/>
          <p:nvPr/>
        </p:nvPicPr>
        <p:blipFill>
          <a:blip r:embed="rId3" cstate="print"/>
          <a:stretch>
            <a:fillRect/>
          </a:stretch>
        </p:blipFill>
        <p:spPr>
          <a:xfrm>
            <a:off x="1272139" y="7663920"/>
            <a:ext cx="142874" cy="142874"/>
          </a:xfrm>
          <a:prstGeom prst="rect">
            <a:avLst/>
          </a:prstGeom>
        </p:spPr>
      </p:pic>
      <p:pic>
        <p:nvPicPr>
          <p:cNvPr id="7" name="object 7"/>
          <p:cNvPicPr/>
          <p:nvPr/>
        </p:nvPicPr>
        <p:blipFill>
          <a:blip r:embed="rId3" cstate="print"/>
          <a:stretch>
            <a:fillRect/>
          </a:stretch>
        </p:blipFill>
        <p:spPr>
          <a:xfrm>
            <a:off x="1272139" y="8349720"/>
            <a:ext cx="142874" cy="142874"/>
          </a:xfrm>
          <a:prstGeom prst="rect">
            <a:avLst/>
          </a:prstGeom>
        </p:spPr>
      </p:pic>
      <p:pic>
        <p:nvPicPr>
          <p:cNvPr id="8" name="object 8"/>
          <p:cNvPicPr/>
          <p:nvPr/>
        </p:nvPicPr>
        <p:blipFill>
          <a:blip r:embed="rId3" cstate="print"/>
          <a:stretch>
            <a:fillRect/>
          </a:stretch>
        </p:blipFill>
        <p:spPr>
          <a:xfrm>
            <a:off x="1272139" y="9035520"/>
            <a:ext cx="142874" cy="142874"/>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92389" y="5299974"/>
            <a:ext cx="8038501" cy="4583409"/>
          </a:xfrm>
          <a:prstGeom prst="rect">
            <a:avLst/>
          </a:prstGeom>
        </p:spPr>
      </p:pic>
      <p:pic>
        <p:nvPicPr>
          <p:cNvPr id="3" name="object 3"/>
          <p:cNvPicPr/>
          <p:nvPr/>
        </p:nvPicPr>
        <p:blipFill>
          <a:blip r:embed="rId3" cstate="print"/>
          <a:stretch>
            <a:fillRect/>
          </a:stretch>
        </p:blipFill>
        <p:spPr>
          <a:xfrm>
            <a:off x="9543050" y="5346705"/>
            <a:ext cx="7475874" cy="4530719"/>
          </a:xfrm>
          <a:prstGeom prst="rect">
            <a:avLst/>
          </a:prstGeom>
        </p:spPr>
      </p:pic>
      <p:sp>
        <p:nvSpPr>
          <p:cNvPr id="4" name="object 4"/>
          <p:cNvSpPr txBox="1"/>
          <p:nvPr/>
        </p:nvSpPr>
        <p:spPr>
          <a:xfrm>
            <a:off x="751516" y="1350322"/>
            <a:ext cx="15565119" cy="3454400"/>
          </a:xfrm>
          <a:prstGeom prst="rect">
            <a:avLst/>
          </a:prstGeom>
        </p:spPr>
        <p:txBody>
          <a:bodyPr vert="horz" wrap="square" lIns="0" tIns="104139" rIns="0" bIns="0" rtlCol="0">
            <a:spAutoFit/>
          </a:bodyPr>
          <a:lstStyle/>
          <a:p>
            <a:pPr marL="12700">
              <a:lnSpc>
                <a:spcPct val="100000"/>
              </a:lnSpc>
              <a:spcBef>
                <a:spcPts val="819"/>
              </a:spcBef>
            </a:pPr>
            <a:r>
              <a:rPr sz="3900" spc="55" dirty="0">
                <a:solidFill>
                  <a:srgbClr val="2E377E"/>
                </a:solidFill>
                <a:latin typeface="Georgia"/>
                <a:cs typeface="Georgia"/>
              </a:rPr>
              <a:t>deployment</a:t>
            </a:r>
            <a:r>
              <a:rPr sz="3900" spc="45" dirty="0">
                <a:solidFill>
                  <a:srgbClr val="2E377E"/>
                </a:solidFill>
                <a:latin typeface="Georgia"/>
                <a:cs typeface="Georgia"/>
              </a:rPr>
              <a:t> </a:t>
            </a:r>
            <a:r>
              <a:rPr sz="3900" dirty="0">
                <a:solidFill>
                  <a:srgbClr val="2E377E"/>
                </a:solidFill>
                <a:latin typeface="Georgia"/>
                <a:cs typeface="Georgia"/>
              </a:rPr>
              <a:t>cannot</a:t>
            </a:r>
            <a:r>
              <a:rPr sz="3900" spc="50" dirty="0">
                <a:solidFill>
                  <a:srgbClr val="2E377E"/>
                </a:solidFill>
                <a:latin typeface="Georgia"/>
                <a:cs typeface="Georgia"/>
              </a:rPr>
              <a:t> </a:t>
            </a:r>
            <a:r>
              <a:rPr sz="3900" spc="75" dirty="0">
                <a:solidFill>
                  <a:srgbClr val="2E377E"/>
                </a:solidFill>
                <a:latin typeface="Georgia"/>
                <a:cs typeface="Georgia"/>
              </a:rPr>
              <a:t>give</a:t>
            </a:r>
            <a:r>
              <a:rPr sz="3900" spc="50" dirty="0">
                <a:solidFill>
                  <a:srgbClr val="2E377E"/>
                </a:solidFill>
                <a:latin typeface="Georgia"/>
                <a:cs typeface="Georgia"/>
              </a:rPr>
              <a:t> </a:t>
            </a:r>
            <a:r>
              <a:rPr sz="3900" spc="55" dirty="0">
                <a:solidFill>
                  <a:srgbClr val="2E377E"/>
                </a:solidFill>
                <a:latin typeface="Georgia"/>
                <a:cs typeface="Georgia"/>
              </a:rPr>
              <a:t>the</a:t>
            </a:r>
            <a:r>
              <a:rPr sz="3900" spc="50" dirty="0">
                <a:solidFill>
                  <a:srgbClr val="2E377E"/>
                </a:solidFill>
                <a:latin typeface="Georgia"/>
                <a:cs typeface="Georgia"/>
              </a:rPr>
              <a:t> </a:t>
            </a:r>
            <a:r>
              <a:rPr sz="3900" dirty="0">
                <a:solidFill>
                  <a:srgbClr val="2E377E"/>
                </a:solidFill>
                <a:latin typeface="Georgia"/>
                <a:cs typeface="Georgia"/>
              </a:rPr>
              <a:t>numbers</a:t>
            </a:r>
            <a:r>
              <a:rPr sz="3900" spc="50" dirty="0">
                <a:solidFill>
                  <a:srgbClr val="2E377E"/>
                </a:solidFill>
                <a:latin typeface="Georgia"/>
                <a:cs typeface="Georgia"/>
              </a:rPr>
              <a:t> </a:t>
            </a:r>
            <a:r>
              <a:rPr sz="3900" dirty="0">
                <a:solidFill>
                  <a:srgbClr val="2E377E"/>
                </a:solidFill>
                <a:latin typeface="Georgia"/>
                <a:cs typeface="Georgia"/>
              </a:rPr>
              <a:t>or</a:t>
            </a:r>
            <a:r>
              <a:rPr sz="3900" spc="45" dirty="0">
                <a:solidFill>
                  <a:srgbClr val="2E377E"/>
                </a:solidFill>
                <a:latin typeface="Georgia"/>
                <a:cs typeface="Georgia"/>
              </a:rPr>
              <a:t> </a:t>
            </a:r>
            <a:r>
              <a:rPr sz="3900" dirty="0">
                <a:solidFill>
                  <a:srgbClr val="2E377E"/>
                </a:solidFill>
                <a:latin typeface="Georgia"/>
                <a:cs typeface="Georgia"/>
              </a:rPr>
              <a:t>index</a:t>
            </a:r>
            <a:r>
              <a:rPr sz="3900" spc="50" dirty="0">
                <a:solidFill>
                  <a:srgbClr val="2E377E"/>
                </a:solidFill>
                <a:latin typeface="Georgia"/>
                <a:cs typeface="Georgia"/>
              </a:rPr>
              <a:t> </a:t>
            </a:r>
            <a:r>
              <a:rPr sz="3900" dirty="0">
                <a:solidFill>
                  <a:srgbClr val="2E377E"/>
                </a:solidFill>
                <a:latin typeface="Georgia"/>
                <a:cs typeface="Georgia"/>
              </a:rPr>
              <a:t>for</a:t>
            </a:r>
            <a:r>
              <a:rPr sz="3900" spc="50" dirty="0">
                <a:solidFill>
                  <a:srgbClr val="2E377E"/>
                </a:solidFill>
                <a:latin typeface="Georgia"/>
                <a:cs typeface="Georgia"/>
              </a:rPr>
              <a:t> </a:t>
            </a:r>
            <a:r>
              <a:rPr sz="3900" spc="35" dirty="0">
                <a:solidFill>
                  <a:srgbClr val="2E377E"/>
                </a:solidFill>
                <a:latin typeface="Georgia"/>
                <a:cs typeface="Georgia"/>
              </a:rPr>
              <a:t>resources</a:t>
            </a:r>
            <a:endParaRPr sz="3900">
              <a:latin typeface="Georgia"/>
              <a:cs typeface="Georgia"/>
            </a:endParaRPr>
          </a:p>
          <a:p>
            <a:pPr marL="12700">
              <a:lnSpc>
                <a:spcPct val="100000"/>
              </a:lnSpc>
              <a:spcBef>
                <a:spcPts val="720"/>
              </a:spcBef>
            </a:pPr>
            <a:r>
              <a:rPr sz="3900" spc="60" dirty="0">
                <a:solidFill>
                  <a:srgbClr val="2E377E"/>
                </a:solidFill>
                <a:latin typeface="Georgia"/>
                <a:cs typeface="Georgia"/>
              </a:rPr>
              <a:t>but</a:t>
            </a:r>
            <a:r>
              <a:rPr sz="3900" spc="-40" dirty="0">
                <a:solidFill>
                  <a:srgbClr val="2E377E"/>
                </a:solidFill>
                <a:latin typeface="Georgia"/>
                <a:cs typeface="Georgia"/>
              </a:rPr>
              <a:t> </a:t>
            </a:r>
            <a:r>
              <a:rPr sz="3900" spc="55" dirty="0">
                <a:solidFill>
                  <a:srgbClr val="2E377E"/>
                </a:solidFill>
                <a:latin typeface="Georgia"/>
                <a:cs typeface="Georgia"/>
              </a:rPr>
              <a:t>the</a:t>
            </a:r>
            <a:r>
              <a:rPr sz="3900" spc="-35" dirty="0">
                <a:solidFill>
                  <a:srgbClr val="2E377E"/>
                </a:solidFill>
                <a:latin typeface="Georgia"/>
                <a:cs typeface="Georgia"/>
              </a:rPr>
              <a:t> </a:t>
            </a:r>
            <a:r>
              <a:rPr sz="3900" spc="55" dirty="0">
                <a:solidFill>
                  <a:srgbClr val="2E377E"/>
                </a:solidFill>
                <a:latin typeface="Georgia"/>
                <a:cs typeface="Georgia"/>
              </a:rPr>
              <a:t>stateful</a:t>
            </a:r>
            <a:r>
              <a:rPr sz="3900" spc="-35" dirty="0">
                <a:solidFill>
                  <a:srgbClr val="2E377E"/>
                </a:solidFill>
                <a:latin typeface="Georgia"/>
                <a:cs typeface="Georgia"/>
              </a:rPr>
              <a:t> </a:t>
            </a:r>
            <a:r>
              <a:rPr sz="3900" spc="70" dirty="0">
                <a:solidFill>
                  <a:srgbClr val="2E377E"/>
                </a:solidFill>
                <a:latin typeface="Georgia"/>
                <a:cs typeface="Georgia"/>
              </a:rPr>
              <a:t>set</a:t>
            </a:r>
            <a:r>
              <a:rPr sz="3900" spc="-35" dirty="0">
                <a:solidFill>
                  <a:srgbClr val="2E377E"/>
                </a:solidFill>
                <a:latin typeface="Georgia"/>
                <a:cs typeface="Georgia"/>
              </a:rPr>
              <a:t> </a:t>
            </a:r>
            <a:r>
              <a:rPr sz="3900" spc="60" dirty="0">
                <a:solidFill>
                  <a:srgbClr val="2E377E"/>
                </a:solidFill>
                <a:latin typeface="Georgia"/>
                <a:cs typeface="Georgia"/>
              </a:rPr>
              <a:t>will</a:t>
            </a:r>
            <a:r>
              <a:rPr sz="3900" spc="-35" dirty="0">
                <a:solidFill>
                  <a:srgbClr val="2E377E"/>
                </a:solidFill>
                <a:latin typeface="Georgia"/>
                <a:cs typeface="Georgia"/>
              </a:rPr>
              <a:t> </a:t>
            </a:r>
            <a:r>
              <a:rPr sz="3900" spc="75" dirty="0">
                <a:solidFill>
                  <a:srgbClr val="2E377E"/>
                </a:solidFill>
                <a:latin typeface="Georgia"/>
                <a:cs typeface="Georgia"/>
              </a:rPr>
              <a:t>give</a:t>
            </a:r>
            <a:r>
              <a:rPr sz="3900" spc="-35" dirty="0">
                <a:solidFill>
                  <a:srgbClr val="2E377E"/>
                </a:solidFill>
                <a:latin typeface="Georgia"/>
                <a:cs typeface="Georgia"/>
              </a:rPr>
              <a:t> </a:t>
            </a:r>
            <a:r>
              <a:rPr sz="3900" spc="55" dirty="0">
                <a:solidFill>
                  <a:srgbClr val="2E377E"/>
                </a:solidFill>
                <a:latin typeface="Georgia"/>
                <a:cs typeface="Georgia"/>
              </a:rPr>
              <a:t>the</a:t>
            </a:r>
            <a:r>
              <a:rPr sz="3900" spc="-35" dirty="0">
                <a:solidFill>
                  <a:srgbClr val="2E377E"/>
                </a:solidFill>
                <a:latin typeface="Georgia"/>
                <a:cs typeface="Georgia"/>
              </a:rPr>
              <a:t> </a:t>
            </a:r>
            <a:r>
              <a:rPr sz="3900" spc="90" dirty="0">
                <a:solidFill>
                  <a:srgbClr val="2E377E"/>
                </a:solidFill>
                <a:latin typeface="Georgia"/>
                <a:cs typeface="Georgia"/>
              </a:rPr>
              <a:t>sticky</a:t>
            </a:r>
            <a:r>
              <a:rPr sz="3900" spc="-35" dirty="0">
                <a:solidFill>
                  <a:srgbClr val="2E377E"/>
                </a:solidFill>
                <a:latin typeface="Georgia"/>
                <a:cs typeface="Georgia"/>
              </a:rPr>
              <a:t> </a:t>
            </a:r>
            <a:r>
              <a:rPr sz="3900" spc="45" dirty="0">
                <a:solidFill>
                  <a:srgbClr val="2E377E"/>
                </a:solidFill>
                <a:latin typeface="Georgia"/>
                <a:cs typeface="Georgia"/>
              </a:rPr>
              <a:t>identities</a:t>
            </a:r>
            <a:r>
              <a:rPr sz="3900" spc="-35" dirty="0">
                <a:solidFill>
                  <a:srgbClr val="2E377E"/>
                </a:solidFill>
                <a:latin typeface="Georgia"/>
                <a:cs typeface="Georgia"/>
              </a:rPr>
              <a:t> </a:t>
            </a:r>
            <a:r>
              <a:rPr sz="3900" dirty="0">
                <a:solidFill>
                  <a:srgbClr val="2E377E"/>
                </a:solidFill>
                <a:latin typeface="Georgia"/>
                <a:cs typeface="Georgia"/>
              </a:rPr>
              <a:t>called</a:t>
            </a:r>
            <a:r>
              <a:rPr sz="3900" spc="-35" dirty="0">
                <a:solidFill>
                  <a:srgbClr val="2E377E"/>
                </a:solidFill>
                <a:latin typeface="Georgia"/>
                <a:cs typeface="Georgia"/>
              </a:rPr>
              <a:t> </a:t>
            </a:r>
            <a:r>
              <a:rPr sz="3900" dirty="0">
                <a:solidFill>
                  <a:srgbClr val="2E377E"/>
                </a:solidFill>
                <a:latin typeface="Georgia"/>
                <a:cs typeface="Georgia"/>
              </a:rPr>
              <a:t>index</a:t>
            </a:r>
            <a:r>
              <a:rPr sz="3900" spc="-35" dirty="0">
                <a:solidFill>
                  <a:srgbClr val="2E377E"/>
                </a:solidFill>
                <a:latin typeface="Georgia"/>
                <a:cs typeface="Georgia"/>
              </a:rPr>
              <a:t> </a:t>
            </a:r>
            <a:r>
              <a:rPr sz="3900" spc="-10" dirty="0">
                <a:solidFill>
                  <a:srgbClr val="2E377E"/>
                </a:solidFill>
                <a:latin typeface="Georgia"/>
                <a:cs typeface="Georgia"/>
              </a:rPr>
              <a:t>numbers</a:t>
            </a:r>
            <a:endParaRPr sz="3900">
              <a:latin typeface="Georgia"/>
              <a:cs typeface="Georgia"/>
            </a:endParaRPr>
          </a:p>
          <a:p>
            <a:pPr>
              <a:lnSpc>
                <a:spcPct val="100000"/>
              </a:lnSpc>
              <a:spcBef>
                <a:spcPts val="965"/>
              </a:spcBef>
            </a:pPr>
            <a:endParaRPr sz="3900">
              <a:latin typeface="Georgia"/>
              <a:cs typeface="Georgia"/>
            </a:endParaRPr>
          </a:p>
          <a:p>
            <a:pPr marL="12700" marR="1534795">
              <a:lnSpc>
                <a:spcPct val="115399"/>
              </a:lnSpc>
            </a:pPr>
            <a:r>
              <a:rPr sz="3900" spc="75" dirty="0">
                <a:solidFill>
                  <a:srgbClr val="2E377E"/>
                </a:solidFill>
                <a:latin typeface="Georgia"/>
                <a:cs typeface="Georgia"/>
              </a:rPr>
              <a:t>when</a:t>
            </a:r>
            <a:r>
              <a:rPr sz="3900" spc="-35" dirty="0">
                <a:solidFill>
                  <a:srgbClr val="2E377E"/>
                </a:solidFill>
                <a:latin typeface="Georgia"/>
                <a:cs typeface="Georgia"/>
              </a:rPr>
              <a:t> </a:t>
            </a:r>
            <a:r>
              <a:rPr sz="3900" spc="140" dirty="0">
                <a:solidFill>
                  <a:srgbClr val="2E377E"/>
                </a:solidFill>
                <a:latin typeface="Georgia"/>
                <a:cs typeface="Georgia"/>
              </a:rPr>
              <a:t>we</a:t>
            </a:r>
            <a:r>
              <a:rPr sz="3900" spc="-35" dirty="0">
                <a:solidFill>
                  <a:srgbClr val="2E377E"/>
                </a:solidFill>
                <a:latin typeface="Georgia"/>
                <a:cs typeface="Georgia"/>
              </a:rPr>
              <a:t> </a:t>
            </a:r>
            <a:r>
              <a:rPr sz="3900" spc="50" dirty="0">
                <a:solidFill>
                  <a:srgbClr val="2E377E"/>
                </a:solidFill>
                <a:latin typeface="Georgia"/>
                <a:cs typeface="Georgia"/>
              </a:rPr>
              <a:t>delete</a:t>
            </a:r>
            <a:r>
              <a:rPr sz="3900" spc="-35" dirty="0">
                <a:solidFill>
                  <a:srgbClr val="2E377E"/>
                </a:solidFill>
                <a:latin typeface="Georgia"/>
                <a:cs typeface="Georgia"/>
              </a:rPr>
              <a:t> </a:t>
            </a:r>
            <a:r>
              <a:rPr sz="3900" dirty="0">
                <a:solidFill>
                  <a:srgbClr val="2E377E"/>
                </a:solidFill>
                <a:latin typeface="Georgia"/>
                <a:cs typeface="Georgia"/>
              </a:rPr>
              <a:t>pods</a:t>
            </a:r>
            <a:r>
              <a:rPr sz="3900" spc="-35" dirty="0">
                <a:solidFill>
                  <a:srgbClr val="2E377E"/>
                </a:solidFill>
                <a:latin typeface="Georgia"/>
                <a:cs typeface="Georgia"/>
              </a:rPr>
              <a:t> </a:t>
            </a:r>
            <a:r>
              <a:rPr sz="3900" dirty="0">
                <a:solidFill>
                  <a:srgbClr val="2E377E"/>
                </a:solidFill>
                <a:latin typeface="Georgia"/>
                <a:cs typeface="Georgia"/>
              </a:rPr>
              <a:t>in</a:t>
            </a:r>
            <a:r>
              <a:rPr sz="3900" spc="-30" dirty="0">
                <a:solidFill>
                  <a:srgbClr val="2E377E"/>
                </a:solidFill>
                <a:latin typeface="Georgia"/>
                <a:cs typeface="Georgia"/>
              </a:rPr>
              <a:t> </a:t>
            </a:r>
            <a:r>
              <a:rPr sz="3900" spc="55" dirty="0">
                <a:solidFill>
                  <a:srgbClr val="2E377E"/>
                </a:solidFill>
                <a:latin typeface="Georgia"/>
                <a:cs typeface="Georgia"/>
              </a:rPr>
              <a:t>stateful</a:t>
            </a:r>
            <a:r>
              <a:rPr sz="3900" spc="-35" dirty="0">
                <a:solidFill>
                  <a:srgbClr val="2E377E"/>
                </a:solidFill>
                <a:latin typeface="Georgia"/>
                <a:cs typeface="Georgia"/>
              </a:rPr>
              <a:t> </a:t>
            </a:r>
            <a:r>
              <a:rPr sz="3900" spc="70" dirty="0">
                <a:solidFill>
                  <a:srgbClr val="2E377E"/>
                </a:solidFill>
                <a:latin typeface="Georgia"/>
                <a:cs typeface="Georgia"/>
              </a:rPr>
              <a:t>set</a:t>
            </a:r>
            <a:r>
              <a:rPr sz="3900" spc="-35" dirty="0">
                <a:solidFill>
                  <a:srgbClr val="2E377E"/>
                </a:solidFill>
                <a:latin typeface="Georgia"/>
                <a:cs typeface="Georgia"/>
              </a:rPr>
              <a:t> </a:t>
            </a:r>
            <a:r>
              <a:rPr sz="3900" dirty="0">
                <a:solidFill>
                  <a:srgbClr val="2E377E"/>
                </a:solidFill>
                <a:latin typeface="Georgia"/>
                <a:cs typeface="Georgia"/>
              </a:rPr>
              <a:t>last</a:t>
            </a:r>
            <a:r>
              <a:rPr sz="3900" spc="-35" dirty="0">
                <a:solidFill>
                  <a:srgbClr val="2E377E"/>
                </a:solidFill>
                <a:latin typeface="Georgia"/>
                <a:cs typeface="Georgia"/>
              </a:rPr>
              <a:t> </a:t>
            </a:r>
            <a:r>
              <a:rPr sz="3900" dirty="0">
                <a:solidFill>
                  <a:srgbClr val="2E377E"/>
                </a:solidFill>
                <a:latin typeface="Georgia"/>
                <a:cs typeface="Georgia"/>
              </a:rPr>
              <a:t>pod</a:t>
            </a:r>
            <a:r>
              <a:rPr sz="3900" spc="-30" dirty="0">
                <a:solidFill>
                  <a:srgbClr val="2E377E"/>
                </a:solidFill>
                <a:latin typeface="Georgia"/>
                <a:cs typeface="Georgia"/>
              </a:rPr>
              <a:t> </a:t>
            </a:r>
            <a:r>
              <a:rPr sz="3900" spc="60" dirty="0">
                <a:solidFill>
                  <a:srgbClr val="2E377E"/>
                </a:solidFill>
                <a:latin typeface="Georgia"/>
                <a:cs typeface="Georgia"/>
              </a:rPr>
              <a:t>will</a:t>
            </a:r>
            <a:r>
              <a:rPr sz="3900" spc="-35" dirty="0">
                <a:solidFill>
                  <a:srgbClr val="2E377E"/>
                </a:solidFill>
                <a:latin typeface="Georgia"/>
                <a:cs typeface="Georgia"/>
              </a:rPr>
              <a:t> </a:t>
            </a:r>
            <a:r>
              <a:rPr sz="3900" dirty="0">
                <a:solidFill>
                  <a:srgbClr val="2E377E"/>
                </a:solidFill>
                <a:latin typeface="Georgia"/>
                <a:cs typeface="Georgia"/>
              </a:rPr>
              <a:t>be</a:t>
            </a:r>
            <a:r>
              <a:rPr sz="3900" spc="-35" dirty="0">
                <a:solidFill>
                  <a:srgbClr val="2E377E"/>
                </a:solidFill>
                <a:latin typeface="Georgia"/>
                <a:cs typeface="Georgia"/>
              </a:rPr>
              <a:t> </a:t>
            </a:r>
            <a:r>
              <a:rPr sz="3900" spc="45" dirty="0">
                <a:solidFill>
                  <a:srgbClr val="2E377E"/>
                </a:solidFill>
                <a:latin typeface="Georgia"/>
                <a:cs typeface="Georgia"/>
              </a:rPr>
              <a:t>deleted</a:t>
            </a:r>
            <a:r>
              <a:rPr sz="3900" spc="-35" dirty="0">
                <a:solidFill>
                  <a:srgbClr val="2E377E"/>
                </a:solidFill>
                <a:latin typeface="Georgia"/>
                <a:cs typeface="Georgia"/>
              </a:rPr>
              <a:t> </a:t>
            </a:r>
            <a:r>
              <a:rPr sz="3900" spc="35" dirty="0">
                <a:solidFill>
                  <a:srgbClr val="2E377E"/>
                </a:solidFill>
                <a:latin typeface="Georgia"/>
                <a:cs typeface="Georgia"/>
              </a:rPr>
              <a:t>first </a:t>
            </a:r>
            <a:r>
              <a:rPr sz="3900" dirty="0">
                <a:solidFill>
                  <a:srgbClr val="2E377E"/>
                </a:solidFill>
                <a:latin typeface="Georgia"/>
                <a:cs typeface="Georgia"/>
              </a:rPr>
              <a:t>and</a:t>
            </a:r>
            <a:r>
              <a:rPr sz="3900" spc="-35" dirty="0">
                <a:solidFill>
                  <a:srgbClr val="2E377E"/>
                </a:solidFill>
                <a:latin typeface="Georgia"/>
                <a:cs typeface="Georgia"/>
              </a:rPr>
              <a:t> </a:t>
            </a:r>
            <a:r>
              <a:rPr sz="3900" spc="50" dirty="0">
                <a:solidFill>
                  <a:srgbClr val="2E377E"/>
                </a:solidFill>
                <a:latin typeface="Georgia"/>
                <a:cs typeface="Georgia"/>
              </a:rPr>
              <a:t>primary</a:t>
            </a:r>
            <a:r>
              <a:rPr sz="3900" spc="-30" dirty="0">
                <a:solidFill>
                  <a:srgbClr val="2E377E"/>
                </a:solidFill>
                <a:latin typeface="Georgia"/>
                <a:cs typeface="Georgia"/>
              </a:rPr>
              <a:t> </a:t>
            </a:r>
            <a:r>
              <a:rPr sz="3900" dirty="0">
                <a:solidFill>
                  <a:srgbClr val="2E377E"/>
                </a:solidFill>
                <a:latin typeface="Georgia"/>
                <a:cs typeface="Georgia"/>
              </a:rPr>
              <a:t>pod</a:t>
            </a:r>
            <a:r>
              <a:rPr sz="3900" spc="-30" dirty="0">
                <a:solidFill>
                  <a:srgbClr val="2E377E"/>
                </a:solidFill>
                <a:latin typeface="Georgia"/>
                <a:cs typeface="Georgia"/>
              </a:rPr>
              <a:t> </a:t>
            </a:r>
            <a:r>
              <a:rPr sz="3900" spc="45" dirty="0">
                <a:solidFill>
                  <a:srgbClr val="2E377E"/>
                </a:solidFill>
                <a:latin typeface="Georgia"/>
                <a:cs typeface="Georgia"/>
              </a:rPr>
              <a:t>deletes</a:t>
            </a:r>
            <a:r>
              <a:rPr sz="3900" spc="-35" dirty="0">
                <a:solidFill>
                  <a:srgbClr val="2E377E"/>
                </a:solidFill>
                <a:latin typeface="Georgia"/>
                <a:cs typeface="Georgia"/>
              </a:rPr>
              <a:t> </a:t>
            </a:r>
            <a:r>
              <a:rPr sz="3900" spc="-20" dirty="0">
                <a:solidFill>
                  <a:srgbClr val="2E377E"/>
                </a:solidFill>
                <a:latin typeface="Georgia"/>
                <a:cs typeface="Georgia"/>
              </a:rPr>
              <a:t>last</a:t>
            </a:r>
            <a:endParaRPr sz="3900">
              <a:latin typeface="Georgia"/>
              <a:cs typeface="Georgia"/>
            </a:endParaRPr>
          </a:p>
        </p:txBody>
      </p:sp>
      <p:sp>
        <p:nvSpPr>
          <p:cNvPr id="5" name="object 5"/>
          <p:cNvSpPr txBox="1">
            <a:spLocks noGrp="1"/>
          </p:cNvSpPr>
          <p:nvPr>
            <p:ph type="title"/>
          </p:nvPr>
        </p:nvSpPr>
        <p:spPr>
          <a:xfrm>
            <a:off x="512390" y="429247"/>
            <a:ext cx="8736965" cy="711200"/>
          </a:xfrm>
          <a:prstGeom prst="rect">
            <a:avLst/>
          </a:prstGeom>
        </p:spPr>
        <p:txBody>
          <a:bodyPr vert="horz" wrap="square" lIns="0" tIns="12700" rIns="0" bIns="0" rtlCol="0">
            <a:spAutoFit/>
          </a:bodyPr>
          <a:lstStyle/>
          <a:p>
            <a:pPr marL="12700">
              <a:lnSpc>
                <a:spcPct val="100000"/>
              </a:lnSpc>
              <a:spcBef>
                <a:spcPts val="100"/>
              </a:spcBef>
            </a:pPr>
            <a:r>
              <a:rPr sz="4500" spc="-215" dirty="0">
                <a:solidFill>
                  <a:srgbClr val="FF3131"/>
                </a:solidFill>
              </a:rPr>
              <a:t>DEPLOYMENT</a:t>
            </a:r>
            <a:r>
              <a:rPr sz="4500" spc="-35" dirty="0">
                <a:solidFill>
                  <a:srgbClr val="FF3131"/>
                </a:solidFill>
              </a:rPr>
              <a:t> </a:t>
            </a:r>
            <a:r>
              <a:rPr sz="4500" dirty="0">
                <a:solidFill>
                  <a:srgbClr val="FF3131"/>
                </a:solidFill>
              </a:rPr>
              <a:t>VS</a:t>
            </a:r>
            <a:r>
              <a:rPr sz="4500" spc="-25" dirty="0">
                <a:solidFill>
                  <a:srgbClr val="FF3131"/>
                </a:solidFill>
              </a:rPr>
              <a:t> </a:t>
            </a:r>
            <a:r>
              <a:rPr sz="4500" spc="-285" dirty="0">
                <a:solidFill>
                  <a:srgbClr val="FF3131"/>
                </a:solidFill>
              </a:rPr>
              <a:t>STATEFUL</a:t>
            </a:r>
            <a:r>
              <a:rPr sz="4500" spc="-20" dirty="0">
                <a:solidFill>
                  <a:srgbClr val="FF3131"/>
                </a:solidFill>
              </a:rPr>
              <a:t> </a:t>
            </a:r>
            <a:r>
              <a:rPr sz="4500" spc="-285" dirty="0">
                <a:solidFill>
                  <a:srgbClr val="FF3131"/>
                </a:solidFill>
              </a:rPr>
              <a:t>SET</a:t>
            </a:r>
            <a:endParaRPr sz="450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503831" y="546724"/>
          <a:ext cx="16697960" cy="6340475"/>
        </p:xfrm>
        <a:graphic>
          <a:graphicData uri="http://schemas.openxmlformats.org/drawingml/2006/table">
            <a:tbl>
              <a:tblPr firstRow="1" bandRow="1">
                <a:tableStyleId>{2D5ABB26-0587-4C30-8999-92F81FD0307C}</a:tableStyleId>
              </a:tblPr>
              <a:tblGrid>
                <a:gridCol w="8453755">
                  <a:extLst>
                    <a:ext uri="{9D8B030D-6E8A-4147-A177-3AD203B41FA5}">
                      <a16:colId xmlns:a16="http://schemas.microsoft.com/office/drawing/2014/main" val="20000"/>
                    </a:ext>
                  </a:extLst>
                </a:gridCol>
                <a:gridCol w="8244205">
                  <a:extLst>
                    <a:ext uri="{9D8B030D-6E8A-4147-A177-3AD203B41FA5}">
                      <a16:colId xmlns:a16="http://schemas.microsoft.com/office/drawing/2014/main" val="20001"/>
                    </a:ext>
                  </a:extLst>
                </a:gridCol>
              </a:tblGrid>
              <a:tr h="875030">
                <a:tc>
                  <a:txBody>
                    <a:bodyPr/>
                    <a:lstStyle/>
                    <a:p>
                      <a:pPr marR="504825" algn="ctr">
                        <a:lnSpc>
                          <a:spcPct val="100000"/>
                        </a:lnSpc>
                        <a:spcBef>
                          <a:spcPts val="720"/>
                        </a:spcBef>
                      </a:pPr>
                      <a:r>
                        <a:rPr sz="3000" b="1" spc="-50" dirty="0">
                          <a:solidFill>
                            <a:srgbClr val="2E377E"/>
                          </a:solidFill>
                          <a:latin typeface="Times New Roman"/>
                          <a:cs typeface="Times New Roman"/>
                        </a:rPr>
                        <a:t>DEPLOYMENT</a:t>
                      </a:r>
                      <a:endParaRPr sz="3000">
                        <a:latin typeface="Times New Roman"/>
                        <a:cs typeface="Times New Roman"/>
                      </a:endParaRPr>
                    </a:p>
                  </a:txBody>
                  <a:tcPr marL="0" marR="0" marT="91440" marB="0">
                    <a:lnL w="38100">
                      <a:solidFill>
                        <a:srgbClr val="000000"/>
                      </a:solidFill>
                      <a:prstDash val="solid"/>
                    </a:lnL>
                    <a:lnR w="76200">
                      <a:solidFill>
                        <a:srgbClr val="000000"/>
                      </a:solidFill>
                      <a:prstDash val="solid"/>
                    </a:lnR>
                    <a:lnT w="38100">
                      <a:solidFill>
                        <a:srgbClr val="000000"/>
                      </a:solidFill>
                      <a:prstDash val="solid"/>
                    </a:lnT>
                    <a:lnB w="57150">
                      <a:solidFill>
                        <a:srgbClr val="000000"/>
                      </a:solidFill>
                      <a:prstDash val="solid"/>
                    </a:lnB>
                  </a:tcPr>
                </a:tc>
                <a:tc>
                  <a:txBody>
                    <a:bodyPr/>
                    <a:lstStyle/>
                    <a:p>
                      <a:pPr marL="1298575">
                        <a:lnSpc>
                          <a:spcPct val="100000"/>
                        </a:lnSpc>
                        <a:spcBef>
                          <a:spcPts val="720"/>
                        </a:spcBef>
                      </a:pPr>
                      <a:r>
                        <a:rPr sz="3000" b="1" spc="-190" dirty="0">
                          <a:solidFill>
                            <a:srgbClr val="2E377E"/>
                          </a:solidFill>
                          <a:latin typeface="Times New Roman"/>
                          <a:cs typeface="Times New Roman"/>
                        </a:rPr>
                        <a:t>STATEFUL</a:t>
                      </a:r>
                      <a:r>
                        <a:rPr sz="3000" b="1" spc="20" dirty="0">
                          <a:solidFill>
                            <a:srgbClr val="2E377E"/>
                          </a:solidFill>
                          <a:latin typeface="Times New Roman"/>
                          <a:cs typeface="Times New Roman"/>
                        </a:rPr>
                        <a:t> </a:t>
                      </a:r>
                      <a:r>
                        <a:rPr sz="3000" b="1" spc="-25" dirty="0">
                          <a:solidFill>
                            <a:srgbClr val="2E377E"/>
                          </a:solidFill>
                          <a:latin typeface="Times New Roman"/>
                          <a:cs typeface="Times New Roman"/>
                        </a:rPr>
                        <a:t>SET</a:t>
                      </a:r>
                      <a:endParaRPr sz="3000">
                        <a:latin typeface="Times New Roman"/>
                        <a:cs typeface="Times New Roman"/>
                      </a:endParaRPr>
                    </a:p>
                  </a:txBody>
                  <a:tcPr marL="0" marR="0" marT="91440" marB="0">
                    <a:lnL w="76200">
                      <a:solidFill>
                        <a:srgbClr val="000000"/>
                      </a:solidFill>
                      <a:prstDash val="solid"/>
                    </a:lnL>
                    <a:lnR w="57150">
                      <a:solidFill>
                        <a:srgbClr val="000000"/>
                      </a:solidFill>
                      <a:prstDash val="solid"/>
                    </a:lnR>
                    <a:lnT w="38100">
                      <a:solidFill>
                        <a:srgbClr val="000000"/>
                      </a:solidFill>
                      <a:prstDash val="solid"/>
                    </a:lnT>
                    <a:lnB w="57150">
                      <a:solidFill>
                        <a:srgbClr val="000000"/>
                      </a:solidFill>
                      <a:prstDash val="solid"/>
                    </a:lnB>
                  </a:tcPr>
                </a:tc>
                <a:extLst>
                  <a:ext uri="{0D108BD9-81ED-4DB2-BD59-A6C34878D82A}">
                    <a16:rowId xmlns:a16="http://schemas.microsoft.com/office/drawing/2014/main" val="10000"/>
                  </a:ext>
                </a:extLst>
              </a:tr>
              <a:tr h="5465445">
                <a:tc>
                  <a:txBody>
                    <a:bodyPr/>
                    <a:lstStyle/>
                    <a:p>
                      <a:pPr marL="1086485" marR="1050290" algn="just">
                        <a:lnSpc>
                          <a:spcPct val="233300"/>
                        </a:lnSpc>
                        <a:spcBef>
                          <a:spcPts val="1650"/>
                        </a:spcBef>
                      </a:pPr>
                      <a:r>
                        <a:rPr sz="3000" dirty="0">
                          <a:solidFill>
                            <a:srgbClr val="2E377E"/>
                          </a:solidFill>
                          <a:latin typeface="Georgia"/>
                          <a:cs typeface="Georgia"/>
                        </a:rPr>
                        <a:t>It</a:t>
                      </a:r>
                      <a:r>
                        <a:rPr sz="3000" spc="20" dirty="0">
                          <a:solidFill>
                            <a:srgbClr val="2E377E"/>
                          </a:solidFill>
                          <a:latin typeface="Georgia"/>
                          <a:cs typeface="Georgia"/>
                        </a:rPr>
                        <a:t> </a:t>
                      </a:r>
                      <a:r>
                        <a:rPr sz="3000" dirty="0">
                          <a:solidFill>
                            <a:srgbClr val="2E377E"/>
                          </a:solidFill>
                          <a:latin typeface="Georgia"/>
                          <a:cs typeface="Georgia"/>
                        </a:rPr>
                        <a:t>will</a:t>
                      </a:r>
                      <a:r>
                        <a:rPr sz="3000" spc="25" dirty="0">
                          <a:solidFill>
                            <a:srgbClr val="2E377E"/>
                          </a:solidFill>
                          <a:latin typeface="Georgia"/>
                          <a:cs typeface="Georgia"/>
                        </a:rPr>
                        <a:t> </a:t>
                      </a:r>
                      <a:r>
                        <a:rPr sz="3000" dirty="0">
                          <a:solidFill>
                            <a:srgbClr val="2E377E"/>
                          </a:solidFill>
                          <a:latin typeface="Georgia"/>
                          <a:cs typeface="Georgia"/>
                        </a:rPr>
                        <a:t>create</a:t>
                      </a:r>
                      <a:r>
                        <a:rPr sz="3000" spc="20" dirty="0">
                          <a:solidFill>
                            <a:srgbClr val="2E377E"/>
                          </a:solidFill>
                          <a:latin typeface="Georgia"/>
                          <a:cs typeface="Georgia"/>
                        </a:rPr>
                        <a:t> </a:t>
                      </a:r>
                      <a:r>
                        <a:rPr sz="3000" spc="-25" dirty="0">
                          <a:solidFill>
                            <a:srgbClr val="2E377E"/>
                          </a:solidFill>
                          <a:latin typeface="Georgia"/>
                          <a:cs typeface="Georgia"/>
                        </a:rPr>
                        <a:t>POD's</a:t>
                      </a:r>
                      <a:r>
                        <a:rPr sz="3000" spc="25" dirty="0">
                          <a:solidFill>
                            <a:srgbClr val="2E377E"/>
                          </a:solidFill>
                          <a:latin typeface="Georgia"/>
                          <a:cs typeface="Georgia"/>
                        </a:rPr>
                        <a:t> </a:t>
                      </a:r>
                      <a:r>
                        <a:rPr sz="3000" spc="65" dirty="0">
                          <a:solidFill>
                            <a:srgbClr val="2E377E"/>
                          </a:solidFill>
                          <a:latin typeface="Georgia"/>
                          <a:cs typeface="Georgia"/>
                        </a:rPr>
                        <a:t>with</a:t>
                      </a:r>
                      <a:r>
                        <a:rPr sz="3000" spc="20" dirty="0">
                          <a:solidFill>
                            <a:srgbClr val="2E377E"/>
                          </a:solidFill>
                          <a:latin typeface="Georgia"/>
                          <a:cs typeface="Georgia"/>
                        </a:rPr>
                        <a:t> </a:t>
                      </a:r>
                      <a:r>
                        <a:rPr sz="3000" dirty="0">
                          <a:solidFill>
                            <a:srgbClr val="2E377E"/>
                          </a:solidFill>
                          <a:latin typeface="Georgia"/>
                          <a:cs typeface="Georgia"/>
                        </a:rPr>
                        <a:t>random</a:t>
                      </a:r>
                      <a:r>
                        <a:rPr sz="3000" spc="25" dirty="0">
                          <a:solidFill>
                            <a:srgbClr val="2E377E"/>
                          </a:solidFill>
                          <a:latin typeface="Georgia"/>
                          <a:cs typeface="Georgia"/>
                        </a:rPr>
                        <a:t> </a:t>
                      </a:r>
                      <a:r>
                        <a:rPr sz="3000" spc="-20" dirty="0">
                          <a:solidFill>
                            <a:srgbClr val="2E377E"/>
                          </a:solidFill>
                          <a:latin typeface="Georgia"/>
                          <a:cs typeface="Georgia"/>
                        </a:rPr>
                        <a:t>ID's </a:t>
                      </a:r>
                      <a:r>
                        <a:rPr sz="3000" dirty="0">
                          <a:solidFill>
                            <a:srgbClr val="2E377E"/>
                          </a:solidFill>
                          <a:latin typeface="Georgia"/>
                          <a:cs typeface="Georgia"/>
                        </a:rPr>
                        <a:t>Scale</a:t>
                      </a:r>
                      <a:r>
                        <a:rPr sz="3000" spc="-25" dirty="0">
                          <a:solidFill>
                            <a:srgbClr val="2E377E"/>
                          </a:solidFill>
                          <a:latin typeface="Georgia"/>
                          <a:cs typeface="Georgia"/>
                        </a:rPr>
                        <a:t> </a:t>
                      </a:r>
                      <a:r>
                        <a:rPr sz="3000" spc="50" dirty="0">
                          <a:solidFill>
                            <a:srgbClr val="2E377E"/>
                          </a:solidFill>
                          <a:latin typeface="Georgia"/>
                          <a:cs typeface="Georgia"/>
                        </a:rPr>
                        <a:t>down</a:t>
                      </a:r>
                      <a:r>
                        <a:rPr sz="3000" spc="-25" dirty="0">
                          <a:solidFill>
                            <a:srgbClr val="2E377E"/>
                          </a:solidFill>
                          <a:latin typeface="Georgia"/>
                          <a:cs typeface="Georgia"/>
                        </a:rPr>
                        <a:t> </a:t>
                      </a:r>
                      <a:r>
                        <a:rPr sz="3000" dirty="0">
                          <a:solidFill>
                            <a:srgbClr val="2E377E"/>
                          </a:solidFill>
                          <a:latin typeface="Georgia"/>
                          <a:cs typeface="Georgia"/>
                        </a:rPr>
                        <a:t>the</a:t>
                      </a:r>
                      <a:r>
                        <a:rPr sz="3000" spc="-20" dirty="0">
                          <a:solidFill>
                            <a:srgbClr val="2E377E"/>
                          </a:solidFill>
                          <a:latin typeface="Georgia"/>
                          <a:cs typeface="Georgia"/>
                        </a:rPr>
                        <a:t> </a:t>
                      </a:r>
                      <a:r>
                        <a:rPr sz="3000" spc="-25" dirty="0">
                          <a:solidFill>
                            <a:srgbClr val="2E377E"/>
                          </a:solidFill>
                          <a:latin typeface="Georgia"/>
                          <a:cs typeface="Georgia"/>
                        </a:rPr>
                        <a:t>POD's </a:t>
                      </a:r>
                      <a:r>
                        <a:rPr sz="3000" dirty="0">
                          <a:solidFill>
                            <a:srgbClr val="2E377E"/>
                          </a:solidFill>
                          <a:latin typeface="Georgia"/>
                          <a:cs typeface="Georgia"/>
                        </a:rPr>
                        <a:t>in</a:t>
                      </a:r>
                      <a:r>
                        <a:rPr sz="3000" spc="-25" dirty="0">
                          <a:solidFill>
                            <a:srgbClr val="2E377E"/>
                          </a:solidFill>
                          <a:latin typeface="Georgia"/>
                          <a:cs typeface="Georgia"/>
                        </a:rPr>
                        <a:t> </a:t>
                      </a:r>
                      <a:r>
                        <a:rPr sz="3000" dirty="0">
                          <a:solidFill>
                            <a:srgbClr val="2E377E"/>
                          </a:solidFill>
                          <a:latin typeface="Georgia"/>
                          <a:cs typeface="Georgia"/>
                        </a:rPr>
                        <a:t>random</a:t>
                      </a:r>
                      <a:r>
                        <a:rPr sz="3000" spc="-20" dirty="0">
                          <a:solidFill>
                            <a:srgbClr val="2E377E"/>
                          </a:solidFill>
                          <a:latin typeface="Georgia"/>
                          <a:cs typeface="Georgia"/>
                        </a:rPr>
                        <a:t> ID's </a:t>
                      </a:r>
                      <a:r>
                        <a:rPr sz="3000" spc="-25" dirty="0">
                          <a:solidFill>
                            <a:srgbClr val="2E377E"/>
                          </a:solidFill>
                          <a:latin typeface="Georgia"/>
                          <a:cs typeface="Georgia"/>
                        </a:rPr>
                        <a:t>POD's</a:t>
                      </a:r>
                      <a:r>
                        <a:rPr sz="3000" spc="50" dirty="0">
                          <a:solidFill>
                            <a:srgbClr val="2E377E"/>
                          </a:solidFill>
                          <a:latin typeface="Georgia"/>
                          <a:cs typeface="Georgia"/>
                        </a:rPr>
                        <a:t> </a:t>
                      </a:r>
                      <a:r>
                        <a:rPr sz="3000" dirty="0">
                          <a:solidFill>
                            <a:srgbClr val="2E377E"/>
                          </a:solidFill>
                          <a:latin typeface="Georgia"/>
                          <a:cs typeface="Georgia"/>
                        </a:rPr>
                        <a:t>are</a:t>
                      </a:r>
                      <a:r>
                        <a:rPr sz="3000" spc="55" dirty="0">
                          <a:solidFill>
                            <a:srgbClr val="2E377E"/>
                          </a:solidFill>
                          <a:latin typeface="Georgia"/>
                          <a:cs typeface="Georgia"/>
                        </a:rPr>
                        <a:t> </a:t>
                      </a:r>
                      <a:r>
                        <a:rPr sz="3000" dirty="0">
                          <a:solidFill>
                            <a:srgbClr val="2E377E"/>
                          </a:solidFill>
                          <a:latin typeface="Georgia"/>
                          <a:cs typeface="Georgia"/>
                        </a:rPr>
                        <a:t>stateless</a:t>
                      </a:r>
                      <a:r>
                        <a:rPr sz="3000" spc="55" dirty="0">
                          <a:solidFill>
                            <a:srgbClr val="2E377E"/>
                          </a:solidFill>
                          <a:latin typeface="Georgia"/>
                          <a:cs typeface="Georgia"/>
                        </a:rPr>
                        <a:t> </a:t>
                      </a:r>
                      <a:r>
                        <a:rPr sz="3000" spc="-10" dirty="0">
                          <a:solidFill>
                            <a:srgbClr val="2E377E"/>
                          </a:solidFill>
                          <a:latin typeface="Georgia"/>
                          <a:cs typeface="Georgia"/>
                        </a:rPr>
                        <a:t>POD's</a:t>
                      </a:r>
                      <a:endParaRPr sz="3000">
                        <a:latin typeface="Georgia"/>
                        <a:cs typeface="Georgia"/>
                      </a:endParaRPr>
                    </a:p>
                    <a:p>
                      <a:pPr>
                        <a:lnSpc>
                          <a:spcPct val="100000"/>
                        </a:lnSpc>
                        <a:spcBef>
                          <a:spcPts val="1350"/>
                        </a:spcBef>
                      </a:pPr>
                      <a:endParaRPr sz="3000">
                        <a:latin typeface="Times New Roman"/>
                        <a:cs typeface="Times New Roman"/>
                      </a:endParaRPr>
                    </a:p>
                    <a:p>
                      <a:pPr marL="421640" algn="ctr">
                        <a:lnSpc>
                          <a:spcPct val="100000"/>
                        </a:lnSpc>
                      </a:pPr>
                      <a:r>
                        <a:rPr sz="3000" dirty="0">
                          <a:solidFill>
                            <a:srgbClr val="2E377E"/>
                          </a:solidFill>
                          <a:latin typeface="Georgia"/>
                          <a:cs typeface="Georgia"/>
                        </a:rPr>
                        <a:t>We</a:t>
                      </a:r>
                      <a:r>
                        <a:rPr sz="3000" spc="40" dirty="0">
                          <a:solidFill>
                            <a:srgbClr val="2E377E"/>
                          </a:solidFill>
                          <a:latin typeface="Georgia"/>
                          <a:cs typeface="Georgia"/>
                        </a:rPr>
                        <a:t> </a:t>
                      </a:r>
                      <a:r>
                        <a:rPr sz="3000" dirty="0">
                          <a:solidFill>
                            <a:srgbClr val="2E377E"/>
                          </a:solidFill>
                          <a:latin typeface="Georgia"/>
                          <a:cs typeface="Georgia"/>
                        </a:rPr>
                        <a:t>use</a:t>
                      </a:r>
                      <a:r>
                        <a:rPr sz="3000" spc="45" dirty="0">
                          <a:solidFill>
                            <a:srgbClr val="2E377E"/>
                          </a:solidFill>
                          <a:latin typeface="Georgia"/>
                          <a:cs typeface="Georgia"/>
                        </a:rPr>
                        <a:t> </a:t>
                      </a:r>
                      <a:r>
                        <a:rPr sz="3000" dirty="0">
                          <a:solidFill>
                            <a:srgbClr val="2E377E"/>
                          </a:solidFill>
                          <a:latin typeface="Georgia"/>
                          <a:cs typeface="Georgia"/>
                        </a:rPr>
                        <a:t>this</a:t>
                      </a:r>
                      <a:r>
                        <a:rPr sz="3000" spc="40" dirty="0">
                          <a:solidFill>
                            <a:srgbClr val="2E377E"/>
                          </a:solidFill>
                          <a:latin typeface="Georgia"/>
                          <a:cs typeface="Georgia"/>
                        </a:rPr>
                        <a:t> </a:t>
                      </a:r>
                      <a:r>
                        <a:rPr sz="3000" dirty="0">
                          <a:solidFill>
                            <a:srgbClr val="2E377E"/>
                          </a:solidFill>
                          <a:latin typeface="Georgia"/>
                          <a:cs typeface="Georgia"/>
                        </a:rPr>
                        <a:t>for</a:t>
                      </a:r>
                      <a:r>
                        <a:rPr sz="3000" spc="45" dirty="0">
                          <a:solidFill>
                            <a:srgbClr val="2E377E"/>
                          </a:solidFill>
                          <a:latin typeface="Georgia"/>
                          <a:cs typeface="Georgia"/>
                        </a:rPr>
                        <a:t> </a:t>
                      </a:r>
                      <a:r>
                        <a:rPr sz="3000" dirty="0">
                          <a:solidFill>
                            <a:srgbClr val="2E377E"/>
                          </a:solidFill>
                          <a:latin typeface="Georgia"/>
                          <a:cs typeface="Georgia"/>
                        </a:rPr>
                        <a:t>application</a:t>
                      </a:r>
                      <a:r>
                        <a:rPr sz="3000" spc="40" dirty="0">
                          <a:solidFill>
                            <a:srgbClr val="2E377E"/>
                          </a:solidFill>
                          <a:latin typeface="Georgia"/>
                          <a:cs typeface="Georgia"/>
                        </a:rPr>
                        <a:t> </a:t>
                      </a:r>
                      <a:r>
                        <a:rPr sz="3000" spc="-10" dirty="0">
                          <a:solidFill>
                            <a:srgbClr val="2E377E"/>
                          </a:solidFill>
                          <a:latin typeface="Georgia"/>
                          <a:cs typeface="Georgia"/>
                        </a:rPr>
                        <a:t>deployment</a:t>
                      </a:r>
                      <a:endParaRPr sz="3000">
                        <a:latin typeface="Georgia"/>
                        <a:cs typeface="Georgia"/>
                      </a:endParaRPr>
                    </a:p>
                  </a:txBody>
                  <a:tcPr marL="0" marR="0" marT="209550" marB="0">
                    <a:lnL w="38100">
                      <a:solidFill>
                        <a:srgbClr val="000000"/>
                      </a:solidFill>
                      <a:prstDash val="solid"/>
                    </a:lnL>
                    <a:lnR w="76200">
                      <a:solidFill>
                        <a:srgbClr val="000000"/>
                      </a:solidFill>
                      <a:prstDash val="solid"/>
                    </a:lnR>
                    <a:lnT w="57150">
                      <a:solidFill>
                        <a:srgbClr val="000000"/>
                      </a:solidFill>
                      <a:prstDash val="solid"/>
                    </a:lnT>
                    <a:lnB w="76200">
                      <a:solidFill>
                        <a:srgbClr val="000000"/>
                      </a:solidFill>
                      <a:prstDash val="solid"/>
                    </a:lnB>
                  </a:tcPr>
                </a:tc>
                <a:tc>
                  <a:txBody>
                    <a:bodyPr/>
                    <a:lstStyle/>
                    <a:p>
                      <a:pPr marL="1069340" marR="665480">
                        <a:lnSpc>
                          <a:spcPct val="233300"/>
                        </a:lnSpc>
                        <a:spcBef>
                          <a:spcPts val="1650"/>
                        </a:spcBef>
                      </a:pPr>
                      <a:r>
                        <a:rPr sz="3000" dirty="0">
                          <a:solidFill>
                            <a:srgbClr val="2E377E"/>
                          </a:solidFill>
                          <a:latin typeface="Georgia"/>
                          <a:cs typeface="Georgia"/>
                        </a:rPr>
                        <a:t>It</a:t>
                      </a:r>
                      <a:r>
                        <a:rPr sz="3000" spc="10" dirty="0">
                          <a:solidFill>
                            <a:srgbClr val="2E377E"/>
                          </a:solidFill>
                          <a:latin typeface="Georgia"/>
                          <a:cs typeface="Georgia"/>
                        </a:rPr>
                        <a:t> </a:t>
                      </a:r>
                      <a:r>
                        <a:rPr sz="3000" dirty="0">
                          <a:solidFill>
                            <a:srgbClr val="2E377E"/>
                          </a:solidFill>
                          <a:latin typeface="Georgia"/>
                          <a:cs typeface="Georgia"/>
                        </a:rPr>
                        <a:t>will</a:t>
                      </a:r>
                      <a:r>
                        <a:rPr sz="3000" spc="10" dirty="0">
                          <a:solidFill>
                            <a:srgbClr val="2E377E"/>
                          </a:solidFill>
                          <a:latin typeface="Georgia"/>
                          <a:cs typeface="Georgia"/>
                        </a:rPr>
                        <a:t> </a:t>
                      </a:r>
                      <a:r>
                        <a:rPr sz="3000" dirty="0">
                          <a:solidFill>
                            <a:srgbClr val="2E377E"/>
                          </a:solidFill>
                          <a:latin typeface="Georgia"/>
                          <a:cs typeface="Georgia"/>
                        </a:rPr>
                        <a:t>create</a:t>
                      </a:r>
                      <a:r>
                        <a:rPr sz="3000" spc="10" dirty="0">
                          <a:solidFill>
                            <a:srgbClr val="2E377E"/>
                          </a:solidFill>
                          <a:latin typeface="Georgia"/>
                          <a:cs typeface="Georgia"/>
                        </a:rPr>
                        <a:t> </a:t>
                      </a:r>
                      <a:r>
                        <a:rPr sz="3000" spc="-25" dirty="0">
                          <a:solidFill>
                            <a:srgbClr val="2E377E"/>
                          </a:solidFill>
                          <a:latin typeface="Georgia"/>
                          <a:cs typeface="Georgia"/>
                        </a:rPr>
                        <a:t>POD's</a:t>
                      </a:r>
                      <a:r>
                        <a:rPr sz="3000" spc="15" dirty="0">
                          <a:solidFill>
                            <a:srgbClr val="2E377E"/>
                          </a:solidFill>
                          <a:latin typeface="Georgia"/>
                          <a:cs typeface="Georgia"/>
                        </a:rPr>
                        <a:t> </a:t>
                      </a:r>
                      <a:r>
                        <a:rPr sz="3000" spc="65" dirty="0">
                          <a:solidFill>
                            <a:srgbClr val="2E377E"/>
                          </a:solidFill>
                          <a:latin typeface="Georgia"/>
                          <a:cs typeface="Georgia"/>
                        </a:rPr>
                        <a:t>with</a:t>
                      </a:r>
                      <a:r>
                        <a:rPr sz="3000" spc="10" dirty="0">
                          <a:solidFill>
                            <a:srgbClr val="2E377E"/>
                          </a:solidFill>
                          <a:latin typeface="Georgia"/>
                          <a:cs typeface="Georgia"/>
                        </a:rPr>
                        <a:t> </a:t>
                      </a:r>
                      <a:r>
                        <a:rPr sz="3000" spc="70" dirty="0">
                          <a:solidFill>
                            <a:srgbClr val="2E377E"/>
                          </a:solidFill>
                          <a:latin typeface="Georgia"/>
                          <a:cs typeface="Georgia"/>
                        </a:rPr>
                        <a:t>sticky</a:t>
                      </a:r>
                      <a:r>
                        <a:rPr sz="3000" spc="10" dirty="0">
                          <a:solidFill>
                            <a:srgbClr val="2E377E"/>
                          </a:solidFill>
                          <a:latin typeface="Georgia"/>
                          <a:cs typeface="Georgia"/>
                        </a:rPr>
                        <a:t> </a:t>
                      </a:r>
                      <a:r>
                        <a:rPr sz="3000" spc="-20" dirty="0">
                          <a:solidFill>
                            <a:srgbClr val="2E377E"/>
                          </a:solidFill>
                          <a:latin typeface="Georgia"/>
                          <a:cs typeface="Georgia"/>
                        </a:rPr>
                        <a:t>ID's </a:t>
                      </a:r>
                      <a:r>
                        <a:rPr sz="3000" dirty="0">
                          <a:solidFill>
                            <a:srgbClr val="2E377E"/>
                          </a:solidFill>
                          <a:latin typeface="Georgia"/>
                          <a:cs typeface="Georgia"/>
                        </a:rPr>
                        <a:t>Scale</a:t>
                      </a:r>
                      <a:r>
                        <a:rPr sz="3000" spc="-35" dirty="0">
                          <a:solidFill>
                            <a:srgbClr val="2E377E"/>
                          </a:solidFill>
                          <a:latin typeface="Georgia"/>
                          <a:cs typeface="Georgia"/>
                        </a:rPr>
                        <a:t> </a:t>
                      </a:r>
                      <a:r>
                        <a:rPr sz="3000" spc="50" dirty="0">
                          <a:solidFill>
                            <a:srgbClr val="2E377E"/>
                          </a:solidFill>
                          <a:latin typeface="Georgia"/>
                          <a:cs typeface="Georgia"/>
                        </a:rPr>
                        <a:t>down</a:t>
                      </a:r>
                      <a:r>
                        <a:rPr sz="3000" spc="-35" dirty="0">
                          <a:solidFill>
                            <a:srgbClr val="2E377E"/>
                          </a:solidFill>
                          <a:latin typeface="Georgia"/>
                          <a:cs typeface="Georgia"/>
                        </a:rPr>
                        <a:t> </a:t>
                      </a:r>
                      <a:r>
                        <a:rPr sz="3000" dirty="0">
                          <a:solidFill>
                            <a:srgbClr val="2E377E"/>
                          </a:solidFill>
                          <a:latin typeface="Georgia"/>
                          <a:cs typeface="Georgia"/>
                        </a:rPr>
                        <a:t>the</a:t>
                      </a:r>
                      <a:r>
                        <a:rPr sz="3000" spc="-35" dirty="0">
                          <a:solidFill>
                            <a:srgbClr val="2E377E"/>
                          </a:solidFill>
                          <a:latin typeface="Georgia"/>
                          <a:cs typeface="Georgia"/>
                        </a:rPr>
                        <a:t> </a:t>
                      </a:r>
                      <a:r>
                        <a:rPr sz="3000" spc="-25" dirty="0">
                          <a:solidFill>
                            <a:srgbClr val="2E377E"/>
                          </a:solidFill>
                          <a:latin typeface="Georgia"/>
                          <a:cs typeface="Georgia"/>
                        </a:rPr>
                        <a:t>POD's</a:t>
                      </a:r>
                      <a:r>
                        <a:rPr sz="3000" spc="-35" dirty="0">
                          <a:solidFill>
                            <a:srgbClr val="2E377E"/>
                          </a:solidFill>
                          <a:latin typeface="Georgia"/>
                          <a:cs typeface="Georgia"/>
                        </a:rPr>
                        <a:t> </a:t>
                      </a:r>
                      <a:r>
                        <a:rPr sz="3000" dirty="0">
                          <a:solidFill>
                            <a:srgbClr val="2E377E"/>
                          </a:solidFill>
                          <a:latin typeface="Georgia"/>
                          <a:cs typeface="Georgia"/>
                        </a:rPr>
                        <a:t>in</a:t>
                      </a:r>
                      <a:r>
                        <a:rPr sz="3000" spc="-35" dirty="0">
                          <a:solidFill>
                            <a:srgbClr val="2E377E"/>
                          </a:solidFill>
                          <a:latin typeface="Georgia"/>
                          <a:cs typeface="Georgia"/>
                        </a:rPr>
                        <a:t> </a:t>
                      </a:r>
                      <a:r>
                        <a:rPr sz="3000" spc="55" dirty="0">
                          <a:solidFill>
                            <a:srgbClr val="2E377E"/>
                          </a:solidFill>
                          <a:latin typeface="Georgia"/>
                          <a:cs typeface="Georgia"/>
                        </a:rPr>
                        <a:t>reverse</a:t>
                      </a:r>
                      <a:r>
                        <a:rPr sz="3000" spc="-30" dirty="0">
                          <a:solidFill>
                            <a:srgbClr val="2E377E"/>
                          </a:solidFill>
                          <a:latin typeface="Georgia"/>
                          <a:cs typeface="Georgia"/>
                        </a:rPr>
                        <a:t> </a:t>
                      </a:r>
                      <a:r>
                        <a:rPr sz="3000" spc="-10" dirty="0">
                          <a:solidFill>
                            <a:srgbClr val="2E377E"/>
                          </a:solidFill>
                          <a:latin typeface="Georgia"/>
                          <a:cs typeface="Georgia"/>
                        </a:rPr>
                        <a:t>order </a:t>
                      </a:r>
                      <a:r>
                        <a:rPr sz="3000" spc="-25" dirty="0">
                          <a:solidFill>
                            <a:srgbClr val="2E377E"/>
                          </a:solidFill>
                          <a:latin typeface="Georgia"/>
                          <a:cs typeface="Georgia"/>
                        </a:rPr>
                        <a:t>POD's</a:t>
                      </a:r>
                      <a:r>
                        <a:rPr sz="3000" spc="55" dirty="0">
                          <a:solidFill>
                            <a:srgbClr val="2E377E"/>
                          </a:solidFill>
                          <a:latin typeface="Georgia"/>
                          <a:cs typeface="Georgia"/>
                        </a:rPr>
                        <a:t> </a:t>
                      </a:r>
                      <a:r>
                        <a:rPr sz="3000" dirty="0">
                          <a:solidFill>
                            <a:srgbClr val="2E377E"/>
                          </a:solidFill>
                          <a:latin typeface="Georgia"/>
                          <a:cs typeface="Georgia"/>
                        </a:rPr>
                        <a:t>are</a:t>
                      </a:r>
                      <a:r>
                        <a:rPr sz="3000" spc="55" dirty="0">
                          <a:solidFill>
                            <a:srgbClr val="2E377E"/>
                          </a:solidFill>
                          <a:latin typeface="Georgia"/>
                          <a:cs typeface="Georgia"/>
                        </a:rPr>
                        <a:t> </a:t>
                      </a:r>
                      <a:r>
                        <a:rPr sz="3000" dirty="0">
                          <a:solidFill>
                            <a:srgbClr val="2E377E"/>
                          </a:solidFill>
                          <a:latin typeface="Georgia"/>
                          <a:cs typeface="Georgia"/>
                        </a:rPr>
                        <a:t>stateful</a:t>
                      </a:r>
                      <a:r>
                        <a:rPr sz="3000" spc="55" dirty="0">
                          <a:solidFill>
                            <a:srgbClr val="2E377E"/>
                          </a:solidFill>
                          <a:latin typeface="Georgia"/>
                          <a:cs typeface="Georgia"/>
                        </a:rPr>
                        <a:t> </a:t>
                      </a:r>
                      <a:r>
                        <a:rPr sz="3000" spc="-10" dirty="0">
                          <a:solidFill>
                            <a:srgbClr val="2E377E"/>
                          </a:solidFill>
                          <a:latin typeface="Georgia"/>
                          <a:cs typeface="Georgia"/>
                        </a:rPr>
                        <a:t>POD's</a:t>
                      </a:r>
                      <a:endParaRPr sz="3000">
                        <a:latin typeface="Georgia"/>
                        <a:cs typeface="Georgia"/>
                      </a:endParaRPr>
                    </a:p>
                    <a:p>
                      <a:pPr>
                        <a:lnSpc>
                          <a:spcPct val="100000"/>
                        </a:lnSpc>
                        <a:spcBef>
                          <a:spcPts val="1350"/>
                        </a:spcBef>
                      </a:pPr>
                      <a:endParaRPr sz="3000">
                        <a:latin typeface="Times New Roman"/>
                        <a:cs typeface="Times New Roman"/>
                      </a:endParaRPr>
                    </a:p>
                    <a:p>
                      <a:pPr marL="1069340">
                        <a:lnSpc>
                          <a:spcPct val="100000"/>
                        </a:lnSpc>
                      </a:pPr>
                      <a:r>
                        <a:rPr sz="3000" dirty="0">
                          <a:solidFill>
                            <a:srgbClr val="2E377E"/>
                          </a:solidFill>
                          <a:latin typeface="Georgia"/>
                          <a:cs typeface="Georgia"/>
                        </a:rPr>
                        <a:t>We</a:t>
                      </a:r>
                      <a:r>
                        <a:rPr sz="3000" spc="20" dirty="0">
                          <a:solidFill>
                            <a:srgbClr val="2E377E"/>
                          </a:solidFill>
                          <a:latin typeface="Georgia"/>
                          <a:cs typeface="Georgia"/>
                        </a:rPr>
                        <a:t> </a:t>
                      </a:r>
                      <a:r>
                        <a:rPr sz="3000" dirty="0">
                          <a:solidFill>
                            <a:srgbClr val="2E377E"/>
                          </a:solidFill>
                          <a:latin typeface="Georgia"/>
                          <a:cs typeface="Georgia"/>
                        </a:rPr>
                        <a:t>use</a:t>
                      </a:r>
                      <a:r>
                        <a:rPr sz="3000" spc="20" dirty="0">
                          <a:solidFill>
                            <a:srgbClr val="2E377E"/>
                          </a:solidFill>
                          <a:latin typeface="Georgia"/>
                          <a:cs typeface="Georgia"/>
                        </a:rPr>
                        <a:t> </a:t>
                      </a:r>
                      <a:r>
                        <a:rPr sz="3000" dirty="0">
                          <a:solidFill>
                            <a:srgbClr val="2E377E"/>
                          </a:solidFill>
                          <a:latin typeface="Georgia"/>
                          <a:cs typeface="Georgia"/>
                        </a:rPr>
                        <a:t>this</a:t>
                      </a:r>
                      <a:r>
                        <a:rPr sz="3000" spc="20" dirty="0">
                          <a:solidFill>
                            <a:srgbClr val="2E377E"/>
                          </a:solidFill>
                          <a:latin typeface="Georgia"/>
                          <a:cs typeface="Georgia"/>
                        </a:rPr>
                        <a:t> </a:t>
                      </a:r>
                      <a:r>
                        <a:rPr sz="3000" dirty="0">
                          <a:solidFill>
                            <a:srgbClr val="2E377E"/>
                          </a:solidFill>
                          <a:latin typeface="Georgia"/>
                          <a:cs typeface="Georgia"/>
                        </a:rPr>
                        <a:t>for</a:t>
                      </a:r>
                      <a:r>
                        <a:rPr sz="3000" spc="20" dirty="0">
                          <a:solidFill>
                            <a:srgbClr val="2E377E"/>
                          </a:solidFill>
                          <a:latin typeface="Georgia"/>
                          <a:cs typeface="Georgia"/>
                        </a:rPr>
                        <a:t> </a:t>
                      </a:r>
                      <a:r>
                        <a:rPr sz="3000" dirty="0">
                          <a:solidFill>
                            <a:srgbClr val="2E377E"/>
                          </a:solidFill>
                          <a:latin typeface="Georgia"/>
                          <a:cs typeface="Georgia"/>
                        </a:rPr>
                        <a:t>database</a:t>
                      </a:r>
                      <a:r>
                        <a:rPr sz="3000" spc="20" dirty="0">
                          <a:solidFill>
                            <a:srgbClr val="2E377E"/>
                          </a:solidFill>
                          <a:latin typeface="Georgia"/>
                          <a:cs typeface="Georgia"/>
                        </a:rPr>
                        <a:t> </a:t>
                      </a:r>
                      <a:r>
                        <a:rPr sz="3000" spc="-10" dirty="0">
                          <a:solidFill>
                            <a:srgbClr val="2E377E"/>
                          </a:solidFill>
                          <a:latin typeface="Georgia"/>
                          <a:cs typeface="Georgia"/>
                        </a:rPr>
                        <a:t>deployment</a:t>
                      </a:r>
                      <a:endParaRPr sz="3000">
                        <a:latin typeface="Georgia"/>
                        <a:cs typeface="Georgia"/>
                      </a:endParaRPr>
                    </a:p>
                  </a:txBody>
                  <a:tcPr marL="0" marR="0" marT="209550" marB="0">
                    <a:lnL w="76200">
                      <a:solidFill>
                        <a:srgbClr val="000000"/>
                      </a:solidFill>
                      <a:prstDash val="solid"/>
                    </a:lnL>
                    <a:lnR w="57150">
                      <a:solidFill>
                        <a:srgbClr val="000000"/>
                      </a:solidFill>
                      <a:prstDash val="solid"/>
                    </a:lnR>
                    <a:lnT w="57150">
                      <a:solidFill>
                        <a:srgbClr val="000000"/>
                      </a:solidFill>
                      <a:prstDash val="solid"/>
                    </a:lnT>
                    <a:lnB w="76200">
                      <a:solidFill>
                        <a:srgbClr val="000000"/>
                      </a:solidFill>
                      <a:prstDash val="solid"/>
                    </a:lnB>
                  </a:tcPr>
                </a:tc>
                <a:extLst>
                  <a:ext uri="{0D108BD9-81ED-4DB2-BD59-A6C34878D82A}">
                    <a16:rowId xmlns:a16="http://schemas.microsoft.com/office/drawing/2014/main" val="10001"/>
                  </a:ext>
                </a:extLst>
              </a:tr>
            </a:tbl>
          </a:graphicData>
        </a:graphic>
      </p:graphicFrame>
      <p:pic>
        <p:nvPicPr>
          <p:cNvPr id="3" name="object 3"/>
          <p:cNvPicPr/>
          <p:nvPr/>
        </p:nvPicPr>
        <p:blipFill>
          <a:blip r:embed="rId2" cstate="print"/>
          <a:stretch>
            <a:fillRect/>
          </a:stretch>
        </p:blipFill>
        <p:spPr>
          <a:xfrm>
            <a:off x="1333478" y="2498295"/>
            <a:ext cx="114300" cy="114299"/>
          </a:xfrm>
          <a:prstGeom prst="rect">
            <a:avLst/>
          </a:prstGeom>
        </p:spPr>
      </p:pic>
      <p:pic>
        <p:nvPicPr>
          <p:cNvPr id="4" name="object 4"/>
          <p:cNvPicPr/>
          <p:nvPr/>
        </p:nvPicPr>
        <p:blipFill>
          <a:blip r:embed="rId2" cstate="print"/>
          <a:stretch>
            <a:fillRect/>
          </a:stretch>
        </p:blipFill>
        <p:spPr>
          <a:xfrm>
            <a:off x="1333478" y="3565095"/>
            <a:ext cx="114300" cy="114299"/>
          </a:xfrm>
          <a:prstGeom prst="rect">
            <a:avLst/>
          </a:prstGeom>
        </p:spPr>
      </p:pic>
      <p:pic>
        <p:nvPicPr>
          <p:cNvPr id="5" name="object 5"/>
          <p:cNvPicPr/>
          <p:nvPr/>
        </p:nvPicPr>
        <p:blipFill>
          <a:blip r:embed="rId2" cstate="print"/>
          <a:stretch>
            <a:fillRect/>
          </a:stretch>
        </p:blipFill>
        <p:spPr>
          <a:xfrm>
            <a:off x="1333478" y="4631895"/>
            <a:ext cx="114300" cy="114299"/>
          </a:xfrm>
          <a:prstGeom prst="rect">
            <a:avLst/>
          </a:prstGeom>
        </p:spPr>
      </p:pic>
      <p:pic>
        <p:nvPicPr>
          <p:cNvPr id="6" name="object 6"/>
          <p:cNvPicPr/>
          <p:nvPr/>
        </p:nvPicPr>
        <p:blipFill>
          <a:blip r:embed="rId2" cstate="print"/>
          <a:stretch>
            <a:fillRect/>
          </a:stretch>
        </p:blipFill>
        <p:spPr>
          <a:xfrm>
            <a:off x="1333478" y="5698695"/>
            <a:ext cx="114300" cy="114299"/>
          </a:xfrm>
          <a:prstGeom prst="rect">
            <a:avLst/>
          </a:prstGeom>
        </p:spPr>
      </p:pic>
      <p:pic>
        <p:nvPicPr>
          <p:cNvPr id="7" name="object 7"/>
          <p:cNvPicPr/>
          <p:nvPr/>
        </p:nvPicPr>
        <p:blipFill>
          <a:blip r:embed="rId2" cstate="print"/>
          <a:stretch>
            <a:fillRect/>
          </a:stretch>
        </p:blipFill>
        <p:spPr>
          <a:xfrm>
            <a:off x="9770591" y="2498295"/>
            <a:ext cx="114300" cy="114299"/>
          </a:xfrm>
          <a:prstGeom prst="rect">
            <a:avLst/>
          </a:prstGeom>
        </p:spPr>
      </p:pic>
      <p:pic>
        <p:nvPicPr>
          <p:cNvPr id="8" name="object 8"/>
          <p:cNvPicPr/>
          <p:nvPr/>
        </p:nvPicPr>
        <p:blipFill>
          <a:blip r:embed="rId2" cstate="print"/>
          <a:stretch>
            <a:fillRect/>
          </a:stretch>
        </p:blipFill>
        <p:spPr>
          <a:xfrm>
            <a:off x="9770591" y="3565095"/>
            <a:ext cx="114300" cy="114299"/>
          </a:xfrm>
          <a:prstGeom prst="rect">
            <a:avLst/>
          </a:prstGeom>
        </p:spPr>
      </p:pic>
      <p:pic>
        <p:nvPicPr>
          <p:cNvPr id="9" name="object 9"/>
          <p:cNvPicPr/>
          <p:nvPr/>
        </p:nvPicPr>
        <p:blipFill>
          <a:blip r:embed="rId2" cstate="print"/>
          <a:stretch>
            <a:fillRect/>
          </a:stretch>
        </p:blipFill>
        <p:spPr>
          <a:xfrm>
            <a:off x="9770591" y="4631895"/>
            <a:ext cx="114300" cy="114299"/>
          </a:xfrm>
          <a:prstGeom prst="rect">
            <a:avLst/>
          </a:prstGeom>
        </p:spPr>
      </p:pic>
      <p:pic>
        <p:nvPicPr>
          <p:cNvPr id="10" name="object 10"/>
          <p:cNvPicPr/>
          <p:nvPr/>
        </p:nvPicPr>
        <p:blipFill>
          <a:blip r:embed="rId2" cstate="print"/>
          <a:stretch>
            <a:fillRect/>
          </a:stretch>
        </p:blipFill>
        <p:spPr>
          <a:xfrm>
            <a:off x="9770591" y="5698695"/>
            <a:ext cx="114300" cy="114299"/>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70149" rIns="0" bIns="0" rtlCol="0">
            <a:spAutoFit/>
          </a:bodyPr>
          <a:lstStyle/>
          <a:p>
            <a:pPr marL="139700">
              <a:lnSpc>
                <a:spcPct val="100000"/>
              </a:lnSpc>
              <a:spcBef>
                <a:spcPts val="100"/>
              </a:spcBef>
            </a:pPr>
            <a:r>
              <a:rPr spc="-70" dirty="0">
                <a:solidFill>
                  <a:srgbClr val="FF3131"/>
                </a:solidFill>
              </a:rPr>
              <a:t>K8'S</a:t>
            </a:r>
            <a:r>
              <a:rPr spc="-135" dirty="0">
                <a:solidFill>
                  <a:srgbClr val="FF3131"/>
                </a:solidFill>
              </a:rPr>
              <a:t> </a:t>
            </a:r>
            <a:r>
              <a:rPr spc="-235" dirty="0">
                <a:solidFill>
                  <a:srgbClr val="FF3131"/>
                </a:solidFill>
              </a:rPr>
              <a:t>VOLUME</a:t>
            </a:r>
            <a:r>
              <a:rPr spc="-80" dirty="0">
                <a:solidFill>
                  <a:srgbClr val="FF3131"/>
                </a:solidFill>
              </a:rPr>
              <a:t> </a:t>
            </a:r>
            <a:r>
              <a:rPr spc="90" dirty="0">
                <a:solidFill>
                  <a:srgbClr val="FF3131"/>
                </a:solidFill>
              </a:rPr>
              <a:t>AND</a:t>
            </a:r>
            <a:r>
              <a:rPr spc="-105" dirty="0">
                <a:solidFill>
                  <a:srgbClr val="FF3131"/>
                </a:solidFill>
              </a:rPr>
              <a:t> </a:t>
            </a:r>
            <a:r>
              <a:rPr spc="-180" dirty="0">
                <a:solidFill>
                  <a:srgbClr val="FF3131"/>
                </a:solidFill>
              </a:rPr>
              <a:t>LIVENESS</a:t>
            </a:r>
            <a:r>
              <a:rPr spc="-105" dirty="0">
                <a:solidFill>
                  <a:srgbClr val="FF3131"/>
                </a:solidFill>
              </a:rPr>
              <a:t> </a:t>
            </a:r>
            <a:r>
              <a:rPr spc="-280" dirty="0">
                <a:solidFill>
                  <a:srgbClr val="FF3131"/>
                </a:solidFill>
              </a:rPr>
              <a:t>PROBES:</a:t>
            </a:r>
          </a:p>
        </p:txBody>
      </p:sp>
      <p:sp>
        <p:nvSpPr>
          <p:cNvPr id="3" name="object 3"/>
          <p:cNvSpPr txBox="1"/>
          <p:nvPr/>
        </p:nvSpPr>
        <p:spPr>
          <a:xfrm>
            <a:off x="1016000" y="1889177"/>
            <a:ext cx="16245840" cy="5768975"/>
          </a:xfrm>
          <a:prstGeom prst="rect">
            <a:avLst/>
          </a:prstGeom>
        </p:spPr>
        <p:txBody>
          <a:bodyPr vert="horz" wrap="square" lIns="0" tIns="12700" rIns="0" bIns="0" rtlCol="0">
            <a:spAutoFit/>
          </a:bodyPr>
          <a:lstStyle/>
          <a:p>
            <a:pPr marL="12700" marR="422909">
              <a:lnSpc>
                <a:spcPct val="116300"/>
              </a:lnSpc>
              <a:spcBef>
                <a:spcPts val="100"/>
              </a:spcBef>
            </a:pPr>
            <a:r>
              <a:rPr sz="3600" dirty="0">
                <a:solidFill>
                  <a:srgbClr val="2E377E"/>
                </a:solidFill>
                <a:latin typeface="Georgia"/>
                <a:cs typeface="Georgia"/>
              </a:rPr>
              <a:t>Basically</a:t>
            </a:r>
            <a:r>
              <a:rPr sz="3600" spc="-10" dirty="0">
                <a:solidFill>
                  <a:srgbClr val="2E377E"/>
                </a:solidFill>
                <a:latin typeface="Georgia"/>
                <a:cs typeface="Georgia"/>
              </a:rPr>
              <a:t> </a:t>
            </a:r>
            <a:r>
              <a:rPr sz="3600" dirty="0">
                <a:solidFill>
                  <a:srgbClr val="2E377E"/>
                </a:solidFill>
                <a:latin typeface="Georgia"/>
                <a:cs typeface="Georgia"/>
              </a:rPr>
              <a:t>these</a:t>
            </a:r>
            <a:r>
              <a:rPr sz="3600" spc="-10" dirty="0">
                <a:solidFill>
                  <a:srgbClr val="2E377E"/>
                </a:solidFill>
                <a:latin typeface="Georgia"/>
                <a:cs typeface="Georgia"/>
              </a:rPr>
              <a:t> </a:t>
            </a:r>
            <a:r>
              <a:rPr sz="3600" spc="-114" dirty="0">
                <a:solidFill>
                  <a:srgbClr val="2E377E"/>
                </a:solidFill>
                <a:latin typeface="Georgia"/>
                <a:cs typeface="Georgia"/>
              </a:rPr>
              <a:t>K8's</a:t>
            </a:r>
            <a:r>
              <a:rPr sz="3600" spc="-10" dirty="0">
                <a:solidFill>
                  <a:srgbClr val="2E377E"/>
                </a:solidFill>
                <a:latin typeface="Georgia"/>
                <a:cs typeface="Georgia"/>
              </a:rPr>
              <a:t> </a:t>
            </a:r>
            <a:r>
              <a:rPr sz="3600" dirty="0">
                <a:solidFill>
                  <a:srgbClr val="2E377E"/>
                </a:solidFill>
                <a:latin typeface="Georgia"/>
                <a:cs typeface="Georgia"/>
              </a:rPr>
              <a:t>will</a:t>
            </a:r>
            <a:r>
              <a:rPr sz="3600" spc="-10" dirty="0">
                <a:solidFill>
                  <a:srgbClr val="2E377E"/>
                </a:solidFill>
                <a:latin typeface="Georgia"/>
                <a:cs typeface="Georgia"/>
              </a:rPr>
              <a:t> </a:t>
            </a:r>
            <a:r>
              <a:rPr sz="3600" spc="70" dirty="0">
                <a:solidFill>
                  <a:srgbClr val="2E377E"/>
                </a:solidFill>
                <a:latin typeface="Georgia"/>
                <a:cs typeface="Georgia"/>
              </a:rPr>
              <a:t>works</a:t>
            </a:r>
            <a:r>
              <a:rPr sz="3600" spc="-5" dirty="0">
                <a:solidFill>
                  <a:srgbClr val="2E377E"/>
                </a:solidFill>
                <a:latin typeface="Georgia"/>
                <a:cs typeface="Georgia"/>
              </a:rPr>
              <a:t> </a:t>
            </a:r>
            <a:r>
              <a:rPr sz="3600" dirty="0">
                <a:solidFill>
                  <a:srgbClr val="2E377E"/>
                </a:solidFill>
                <a:latin typeface="Georgia"/>
                <a:cs typeface="Georgia"/>
              </a:rPr>
              <a:t>on</a:t>
            </a:r>
            <a:r>
              <a:rPr sz="3600" spc="-10" dirty="0">
                <a:solidFill>
                  <a:srgbClr val="2E377E"/>
                </a:solidFill>
                <a:latin typeface="Georgia"/>
                <a:cs typeface="Georgia"/>
              </a:rPr>
              <a:t> </a:t>
            </a:r>
            <a:r>
              <a:rPr sz="3600" dirty="0">
                <a:solidFill>
                  <a:srgbClr val="2E377E"/>
                </a:solidFill>
                <a:latin typeface="Georgia"/>
                <a:cs typeface="Georgia"/>
              </a:rPr>
              <a:t>short</a:t>
            </a:r>
            <a:r>
              <a:rPr sz="3600" spc="-10" dirty="0">
                <a:solidFill>
                  <a:srgbClr val="2E377E"/>
                </a:solidFill>
                <a:latin typeface="Georgia"/>
                <a:cs typeface="Georgia"/>
              </a:rPr>
              <a:t> </a:t>
            </a:r>
            <a:r>
              <a:rPr sz="3600" dirty="0">
                <a:solidFill>
                  <a:srgbClr val="2E377E"/>
                </a:solidFill>
                <a:latin typeface="Georgia"/>
                <a:cs typeface="Georgia"/>
              </a:rPr>
              <a:t>living</a:t>
            </a:r>
            <a:r>
              <a:rPr sz="3600" spc="-10" dirty="0">
                <a:solidFill>
                  <a:srgbClr val="2E377E"/>
                </a:solidFill>
                <a:latin typeface="Georgia"/>
                <a:cs typeface="Georgia"/>
              </a:rPr>
              <a:t> data. </a:t>
            </a:r>
            <a:r>
              <a:rPr sz="3600" dirty="0">
                <a:solidFill>
                  <a:srgbClr val="2E377E"/>
                </a:solidFill>
                <a:latin typeface="Georgia"/>
                <a:cs typeface="Georgia"/>
              </a:rPr>
              <a:t>So</a:t>
            </a:r>
            <a:r>
              <a:rPr sz="3600" spc="-5" dirty="0">
                <a:solidFill>
                  <a:srgbClr val="2E377E"/>
                </a:solidFill>
                <a:latin typeface="Georgia"/>
                <a:cs typeface="Georgia"/>
              </a:rPr>
              <a:t> </a:t>
            </a:r>
            <a:r>
              <a:rPr sz="3600" dirty="0">
                <a:solidFill>
                  <a:srgbClr val="2E377E"/>
                </a:solidFill>
                <a:latin typeface="Georgia"/>
                <a:cs typeface="Georgia"/>
              </a:rPr>
              <a:t>lets</a:t>
            </a:r>
            <a:r>
              <a:rPr sz="3600" spc="-10" dirty="0">
                <a:solidFill>
                  <a:srgbClr val="2E377E"/>
                </a:solidFill>
                <a:latin typeface="Georgia"/>
                <a:cs typeface="Georgia"/>
              </a:rPr>
              <a:t> </a:t>
            </a:r>
            <a:r>
              <a:rPr sz="3600" dirty="0">
                <a:solidFill>
                  <a:srgbClr val="2E377E"/>
                </a:solidFill>
                <a:latin typeface="Georgia"/>
                <a:cs typeface="Georgia"/>
              </a:rPr>
              <a:t>unveil</a:t>
            </a:r>
            <a:r>
              <a:rPr sz="3600" spc="-10"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spc="60" dirty="0">
                <a:solidFill>
                  <a:srgbClr val="2E377E"/>
                </a:solidFill>
                <a:latin typeface="Georgia"/>
                <a:cs typeface="Georgia"/>
              </a:rPr>
              <a:t>power</a:t>
            </a:r>
            <a:r>
              <a:rPr sz="3600" spc="-5" dirty="0">
                <a:solidFill>
                  <a:srgbClr val="2E377E"/>
                </a:solidFill>
                <a:latin typeface="Georgia"/>
                <a:cs typeface="Georgia"/>
              </a:rPr>
              <a:t> </a:t>
            </a:r>
            <a:r>
              <a:rPr sz="3600" spc="-25" dirty="0">
                <a:solidFill>
                  <a:srgbClr val="2E377E"/>
                </a:solidFill>
                <a:latin typeface="Georgia"/>
                <a:cs typeface="Georgia"/>
              </a:rPr>
              <a:t>of </a:t>
            </a:r>
            <a:r>
              <a:rPr sz="3600" dirty="0">
                <a:solidFill>
                  <a:srgbClr val="2E377E"/>
                </a:solidFill>
                <a:latin typeface="Georgia"/>
                <a:cs typeface="Georgia"/>
              </a:rPr>
              <a:t>volumes</a:t>
            </a:r>
            <a:r>
              <a:rPr sz="3600" spc="-55" dirty="0">
                <a:solidFill>
                  <a:srgbClr val="2E377E"/>
                </a:solidFill>
                <a:latin typeface="Georgia"/>
                <a:cs typeface="Georgia"/>
              </a:rPr>
              <a:t> </a:t>
            </a:r>
            <a:r>
              <a:rPr sz="3600" dirty="0">
                <a:solidFill>
                  <a:srgbClr val="2E377E"/>
                </a:solidFill>
                <a:latin typeface="Georgia"/>
                <a:cs typeface="Georgia"/>
              </a:rPr>
              <a:t>like</a:t>
            </a:r>
            <a:r>
              <a:rPr sz="3600" spc="-50" dirty="0">
                <a:solidFill>
                  <a:srgbClr val="2E377E"/>
                </a:solidFill>
                <a:latin typeface="Georgia"/>
                <a:cs typeface="Georgia"/>
              </a:rPr>
              <a:t> </a:t>
            </a:r>
            <a:r>
              <a:rPr sz="3600" spc="-10" dirty="0">
                <a:solidFill>
                  <a:srgbClr val="2E377E"/>
                </a:solidFill>
                <a:latin typeface="Georgia"/>
                <a:cs typeface="Georgia"/>
              </a:rPr>
              <a:t>EmptyDir,</a:t>
            </a:r>
            <a:r>
              <a:rPr sz="3600" spc="-55" dirty="0">
                <a:solidFill>
                  <a:srgbClr val="2E377E"/>
                </a:solidFill>
                <a:latin typeface="Georgia"/>
                <a:cs typeface="Georgia"/>
              </a:rPr>
              <a:t> </a:t>
            </a:r>
            <a:r>
              <a:rPr sz="3600" spc="-10" dirty="0">
                <a:solidFill>
                  <a:srgbClr val="2E377E"/>
                </a:solidFill>
                <a:latin typeface="Georgia"/>
                <a:cs typeface="Georgia"/>
              </a:rPr>
              <a:t>HostPath,</a:t>
            </a:r>
            <a:r>
              <a:rPr sz="3600" spc="-50" dirty="0">
                <a:solidFill>
                  <a:srgbClr val="2E377E"/>
                </a:solidFill>
                <a:latin typeface="Georgia"/>
                <a:cs typeface="Georgia"/>
              </a:rPr>
              <a:t> </a:t>
            </a:r>
            <a:r>
              <a:rPr sz="3600" spc="-10" dirty="0">
                <a:solidFill>
                  <a:srgbClr val="2E377E"/>
                </a:solidFill>
                <a:latin typeface="Georgia"/>
                <a:cs typeface="Georgia"/>
              </a:rPr>
              <a:t>PV</a:t>
            </a:r>
            <a:r>
              <a:rPr sz="3600" spc="-50" dirty="0">
                <a:solidFill>
                  <a:srgbClr val="2E377E"/>
                </a:solidFill>
                <a:latin typeface="Georgia"/>
                <a:cs typeface="Georgia"/>
              </a:rPr>
              <a:t> </a:t>
            </a:r>
            <a:r>
              <a:rPr sz="3600" spc="690" dirty="0">
                <a:solidFill>
                  <a:srgbClr val="2E377E"/>
                </a:solidFill>
                <a:latin typeface="Georgia"/>
                <a:cs typeface="Georgia"/>
              </a:rPr>
              <a:t>&amp;</a:t>
            </a:r>
            <a:r>
              <a:rPr sz="3600" spc="-55" dirty="0">
                <a:solidFill>
                  <a:srgbClr val="2E377E"/>
                </a:solidFill>
                <a:latin typeface="Georgia"/>
                <a:cs typeface="Georgia"/>
              </a:rPr>
              <a:t> </a:t>
            </a:r>
            <a:r>
              <a:rPr sz="3600" spc="-20" dirty="0">
                <a:solidFill>
                  <a:srgbClr val="2E377E"/>
                </a:solidFill>
                <a:latin typeface="Georgia"/>
                <a:cs typeface="Georgia"/>
              </a:rPr>
              <a:t>PVC.</a:t>
            </a:r>
            <a:endParaRPr sz="3600">
              <a:latin typeface="Georgia"/>
              <a:cs typeface="Georgia"/>
            </a:endParaRPr>
          </a:p>
          <a:p>
            <a:pPr>
              <a:lnSpc>
                <a:spcPct val="100000"/>
              </a:lnSpc>
              <a:spcBef>
                <a:spcPts val="935"/>
              </a:spcBef>
            </a:pPr>
            <a:endParaRPr sz="3600">
              <a:latin typeface="Georgia"/>
              <a:cs typeface="Georgia"/>
            </a:endParaRPr>
          </a:p>
          <a:p>
            <a:pPr marL="12700" marR="5080">
              <a:lnSpc>
                <a:spcPct val="116300"/>
              </a:lnSpc>
            </a:pPr>
            <a:r>
              <a:rPr sz="3600" dirty="0">
                <a:solidFill>
                  <a:srgbClr val="2E377E"/>
                </a:solidFill>
                <a:latin typeface="Georgia"/>
                <a:cs typeface="Georgia"/>
              </a:rPr>
              <a:t>The</a:t>
            </a:r>
            <a:r>
              <a:rPr sz="3600" spc="-60" dirty="0">
                <a:solidFill>
                  <a:srgbClr val="2E377E"/>
                </a:solidFill>
                <a:latin typeface="Georgia"/>
                <a:cs typeface="Georgia"/>
              </a:rPr>
              <a:t> </a:t>
            </a:r>
            <a:r>
              <a:rPr sz="3600" dirty="0">
                <a:solidFill>
                  <a:srgbClr val="2E377E"/>
                </a:solidFill>
                <a:latin typeface="Georgia"/>
                <a:cs typeface="Georgia"/>
              </a:rPr>
              <a:t>data</a:t>
            </a:r>
            <a:r>
              <a:rPr sz="3600" spc="-55" dirty="0">
                <a:solidFill>
                  <a:srgbClr val="2E377E"/>
                </a:solidFill>
                <a:latin typeface="Georgia"/>
                <a:cs typeface="Georgia"/>
              </a:rPr>
              <a:t> </a:t>
            </a:r>
            <a:r>
              <a:rPr sz="3600" dirty="0">
                <a:solidFill>
                  <a:srgbClr val="2E377E"/>
                </a:solidFill>
                <a:latin typeface="Georgia"/>
                <a:cs typeface="Georgia"/>
              </a:rPr>
              <a:t>is</a:t>
            </a:r>
            <a:r>
              <a:rPr sz="3600" spc="-60" dirty="0">
                <a:solidFill>
                  <a:srgbClr val="2E377E"/>
                </a:solidFill>
                <a:latin typeface="Georgia"/>
                <a:cs typeface="Georgia"/>
              </a:rPr>
              <a:t> </a:t>
            </a:r>
            <a:r>
              <a:rPr sz="3600" dirty="0">
                <a:solidFill>
                  <a:srgbClr val="2E377E"/>
                </a:solidFill>
                <a:latin typeface="Georgia"/>
                <a:cs typeface="Georgia"/>
              </a:rPr>
              <a:t>a</a:t>
            </a:r>
            <a:r>
              <a:rPr sz="3600" spc="-55" dirty="0">
                <a:solidFill>
                  <a:srgbClr val="2E377E"/>
                </a:solidFill>
                <a:latin typeface="Georgia"/>
                <a:cs typeface="Georgia"/>
              </a:rPr>
              <a:t> </a:t>
            </a:r>
            <a:r>
              <a:rPr sz="3600" spc="110" dirty="0">
                <a:solidFill>
                  <a:srgbClr val="2E377E"/>
                </a:solidFill>
                <a:latin typeface="Georgia"/>
                <a:cs typeface="Georgia"/>
              </a:rPr>
              <a:t>very</a:t>
            </a:r>
            <a:r>
              <a:rPr sz="3600" spc="-55" dirty="0">
                <a:solidFill>
                  <a:srgbClr val="2E377E"/>
                </a:solidFill>
                <a:latin typeface="Georgia"/>
                <a:cs typeface="Georgia"/>
              </a:rPr>
              <a:t> </a:t>
            </a:r>
            <a:r>
              <a:rPr sz="3600" dirty="0">
                <a:solidFill>
                  <a:srgbClr val="2E377E"/>
                </a:solidFill>
                <a:latin typeface="Georgia"/>
                <a:cs typeface="Georgia"/>
              </a:rPr>
              <a:t>important</a:t>
            </a:r>
            <a:r>
              <a:rPr sz="3600" spc="-60" dirty="0">
                <a:solidFill>
                  <a:srgbClr val="2E377E"/>
                </a:solidFill>
                <a:latin typeface="Georgia"/>
                <a:cs typeface="Georgia"/>
              </a:rPr>
              <a:t> </a:t>
            </a:r>
            <a:r>
              <a:rPr sz="3600" dirty="0">
                <a:solidFill>
                  <a:srgbClr val="2E377E"/>
                </a:solidFill>
                <a:latin typeface="Georgia"/>
                <a:cs typeface="Georgia"/>
              </a:rPr>
              <a:t>thing</a:t>
            </a:r>
            <a:r>
              <a:rPr sz="3600" spc="-55" dirty="0">
                <a:solidFill>
                  <a:srgbClr val="2E377E"/>
                </a:solidFill>
                <a:latin typeface="Georgia"/>
                <a:cs typeface="Georgia"/>
              </a:rPr>
              <a:t> </a:t>
            </a:r>
            <a:r>
              <a:rPr sz="3600" dirty="0">
                <a:solidFill>
                  <a:srgbClr val="2E377E"/>
                </a:solidFill>
                <a:latin typeface="Georgia"/>
                <a:cs typeface="Georgia"/>
              </a:rPr>
              <a:t>for</a:t>
            </a:r>
            <a:r>
              <a:rPr sz="3600" spc="-55" dirty="0">
                <a:solidFill>
                  <a:srgbClr val="2E377E"/>
                </a:solidFill>
                <a:latin typeface="Georgia"/>
                <a:cs typeface="Georgia"/>
              </a:rPr>
              <a:t> </a:t>
            </a:r>
            <a:r>
              <a:rPr sz="3600" dirty="0">
                <a:solidFill>
                  <a:srgbClr val="2E377E"/>
                </a:solidFill>
                <a:latin typeface="Georgia"/>
                <a:cs typeface="Georgia"/>
              </a:rPr>
              <a:t>an</a:t>
            </a:r>
            <a:r>
              <a:rPr sz="3600" spc="-60" dirty="0">
                <a:solidFill>
                  <a:srgbClr val="2E377E"/>
                </a:solidFill>
                <a:latin typeface="Georgia"/>
                <a:cs typeface="Georgia"/>
              </a:rPr>
              <a:t> </a:t>
            </a:r>
            <a:r>
              <a:rPr sz="3600" dirty="0">
                <a:solidFill>
                  <a:srgbClr val="2E377E"/>
                </a:solidFill>
                <a:latin typeface="Georgia"/>
                <a:cs typeface="Georgia"/>
              </a:rPr>
              <a:t>application.</a:t>
            </a:r>
            <a:r>
              <a:rPr sz="3600" spc="-55" dirty="0">
                <a:solidFill>
                  <a:srgbClr val="2E377E"/>
                </a:solidFill>
                <a:latin typeface="Georgia"/>
                <a:cs typeface="Georgia"/>
              </a:rPr>
              <a:t> </a:t>
            </a:r>
            <a:r>
              <a:rPr sz="3600" dirty="0">
                <a:solidFill>
                  <a:srgbClr val="2E377E"/>
                </a:solidFill>
                <a:latin typeface="Georgia"/>
                <a:cs typeface="Georgia"/>
              </a:rPr>
              <a:t>In</a:t>
            </a:r>
            <a:r>
              <a:rPr sz="3600" spc="-60" dirty="0">
                <a:solidFill>
                  <a:srgbClr val="2E377E"/>
                </a:solidFill>
                <a:latin typeface="Georgia"/>
                <a:cs typeface="Georgia"/>
              </a:rPr>
              <a:t> </a:t>
            </a:r>
            <a:r>
              <a:rPr sz="3600" spc="-120" dirty="0">
                <a:solidFill>
                  <a:srgbClr val="2E377E"/>
                </a:solidFill>
                <a:latin typeface="Georgia"/>
                <a:cs typeface="Georgia"/>
              </a:rPr>
              <a:t>K8's,</a:t>
            </a:r>
            <a:r>
              <a:rPr sz="3600" spc="-55" dirty="0">
                <a:solidFill>
                  <a:srgbClr val="2E377E"/>
                </a:solidFill>
                <a:latin typeface="Georgia"/>
                <a:cs typeface="Georgia"/>
              </a:rPr>
              <a:t> </a:t>
            </a:r>
            <a:r>
              <a:rPr sz="3600" dirty="0">
                <a:solidFill>
                  <a:srgbClr val="2E377E"/>
                </a:solidFill>
                <a:latin typeface="Georgia"/>
                <a:cs typeface="Georgia"/>
              </a:rPr>
              <a:t>data</a:t>
            </a:r>
            <a:r>
              <a:rPr sz="3600" spc="-55" dirty="0">
                <a:solidFill>
                  <a:srgbClr val="2E377E"/>
                </a:solidFill>
                <a:latin typeface="Georgia"/>
                <a:cs typeface="Georgia"/>
              </a:rPr>
              <a:t> </a:t>
            </a:r>
            <a:r>
              <a:rPr sz="3600" dirty="0">
                <a:solidFill>
                  <a:srgbClr val="2E377E"/>
                </a:solidFill>
                <a:latin typeface="Georgia"/>
                <a:cs typeface="Georgia"/>
              </a:rPr>
              <a:t>is</a:t>
            </a:r>
            <a:r>
              <a:rPr sz="3600" spc="-60" dirty="0">
                <a:solidFill>
                  <a:srgbClr val="2E377E"/>
                </a:solidFill>
                <a:latin typeface="Georgia"/>
                <a:cs typeface="Georgia"/>
              </a:rPr>
              <a:t> </a:t>
            </a:r>
            <a:r>
              <a:rPr sz="3600" spc="70" dirty="0">
                <a:solidFill>
                  <a:srgbClr val="2E377E"/>
                </a:solidFill>
                <a:latin typeface="Georgia"/>
                <a:cs typeface="Georgia"/>
              </a:rPr>
              <a:t>kept</a:t>
            </a:r>
            <a:r>
              <a:rPr sz="3600" spc="-55" dirty="0">
                <a:solidFill>
                  <a:srgbClr val="2E377E"/>
                </a:solidFill>
                <a:latin typeface="Georgia"/>
                <a:cs typeface="Georgia"/>
              </a:rPr>
              <a:t> </a:t>
            </a:r>
            <a:r>
              <a:rPr sz="3600" dirty="0">
                <a:solidFill>
                  <a:srgbClr val="2E377E"/>
                </a:solidFill>
                <a:latin typeface="Georgia"/>
                <a:cs typeface="Georgia"/>
              </a:rPr>
              <a:t>for</a:t>
            </a:r>
            <a:r>
              <a:rPr sz="3600" spc="-55" dirty="0">
                <a:solidFill>
                  <a:srgbClr val="2E377E"/>
                </a:solidFill>
                <a:latin typeface="Georgia"/>
                <a:cs typeface="Georgia"/>
              </a:rPr>
              <a:t> </a:t>
            </a:r>
            <a:r>
              <a:rPr sz="3600" spc="-50" dirty="0">
                <a:solidFill>
                  <a:srgbClr val="2E377E"/>
                </a:solidFill>
                <a:latin typeface="Georgia"/>
                <a:cs typeface="Georgia"/>
              </a:rPr>
              <a:t>a </a:t>
            </a:r>
            <a:r>
              <a:rPr sz="3600" dirty="0">
                <a:solidFill>
                  <a:srgbClr val="2E377E"/>
                </a:solidFill>
                <a:latin typeface="Georgia"/>
                <a:cs typeface="Georgia"/>
              </a:rPr>
              <a:t>short</a:t>
            </a:r>
            <a:r>
              <a:rPr sz="3600" spc="-15" dirty="0">
                <a:solidFill>
                  <a:srgbClr val="2E377E"/>
                </a:solidFill>
                <a:latin typeface="Georgia"/>
                <a:cs typeface="Georgia"/>
              </a:rPr>
              <a:t> </a:t>
            </a:r>
            <a:r>
              <a:rPr sz="3600" dirty="0">
                <a:solidFill>
                  <a:srgbClr val="2E377E"/>
                </a:solidFill>
                <a:latin typeface="Georgia"/>
                <a:cs typeface="Georgia"/>
              </a:rPr>
              <a:t>time</a:t>
            </a:r>
            <a:r>
              <a:rPr sz="3600" spc="-10" dirty="0">
                <a:solidFill>
                  <a:srgbClr val="2E377E"/>
                </a:solidFill>
                <a:latin typeface="Georgia"/>
                <a:cs typeface="Georgia"/>
              </a:rPr>
              <a:t> </a:t>
            </a:r>
            <a:r>
              <a:rPr sz="3600" dirty="0">
                <a:solidFill>
                  <a:srgbClr val="2E377E"/>
                </a:solidFill>
                <a:latin typeface="Georgia"/>
                <a:cs typeface="Georgia"/>
              </a:rPr>
              <a:t>in</a:t>
            </a:r>
            <a:r>
              <a:rPr sz="3600" spc="-10"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applications</a:t>
            </a:r>
            <a:r>
              <a:rPr sz="3600" spc="-10" dirty="0">
                <a:solidFill>
                  <a:srgbClr val="2E377E"/>
                </a:solidFill>
                <a:latin typeface="Georgia"/>
                <a:cs typeface="Georgia"/>
              </a:rPr>
              <a:t> </a:t>
            </a:r>
            <a:r>
              <a:rPr sz="3600" dirty="0">
                <a:solidFill>
                  <a:srgbClr val="2E377E"/>
                </a:solidFill>
                <a:latin typeface="Georgia"/>
                <a:cs typeface="Georgia"/>
              </a:rPr>
              <a:t>in</a:t>
            </a:r>
            <a:r>
              <a:rPr sz="3600" spc="-10"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pods/containers. </a:t>
            </a:r>
            <a:r>
              <a:rPr sz="3600" dirty="0">
                <a:solidFill>
                  <a:srgbClr val="2E377E"/>
                </a:solidFill>
                <a:latin typeface="Georgia"/>
                <a:cs typeface="Georgia"/>
              </a:rPr>
              <a:t>By</a:t>
            </a:r>
            <a:r>
              <a:rPr sz="3600" spc="-10" dirty="0">
                <a:solidFill>
                  <a:srgbClr val="2E377E"/>
                </a:solidFill>
                <a:latin typeface="Georgia"/>
                <a:cs typeface="Georgia"/>
              </a:rPr>
              <a:t> </a:t>
            </a:r>
            <a:r>
              <a:rPr sz="3600" dirty="0">
                <a:solidFill>
                  <a:srgbClr val="2E377E"/>
                </a:solidFill>
                <a:latin typeface="Georgia"/>
                <a:cs typeface="Georgia"/>
              </a:rPr>
              <a:t>default</a:t>
            </a:r>
            <a:r>
              <a:rPr sz="3600" spc="-10" dirty="0">
                <a:solidFill>
                  <a:srgbClr val="2E377E"/>
                </a:solidFill>
                <a:latin typeface="Georgia"/>
                <a:cs typeface="Georgia"/>
              </a:rPr>
              <a:t> </a:t>
            </a:r>
            <a:r>
              <a:rPr sz="3600" spc="5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data</a:t>
            </a:r>
            <a:r>
              <a:rPr sz="3600" spc="-10" dirty="0">
                <a:solidFill>
                  <a:srgbClr val="2E377E"/>
                </a:solidFill>
                <a:latin typeface="Georgia"/>
                <a:cs typeface="Georgia"/>
              </a:rPr>
              <a:t> </a:t>
            </a:r>
            <a:r>
              <a:rPr sz="3600" dirty="0">
                <a:solidFill>
                  <a:srgbClr val="2E377E"/>
                </a:solidFill>
                <a:latin typeface="Georgia"/>
                <a:cs typeface="Georgia"/>
              </a:rPr>
              <a:t>will</a:t>
            </a:r>
            <a:r>
              <a:rPr sz="3600" spc="-10" dirty="0">
                <a:solidFill>
                  <a:srgbClr val="2E377E"/>
                </a:solidFill>
                <a:latin typeface="Georgia"/>
                <a:cs typeface="Georgia"/>
              </a:rPr>
              <a:t> </a:t>
            </a:r>
            <a:r>
              <a:rPr sz="3600" spc="-25" dirty="0">
                <a:solidFill>
                  <a:srgbClr val="2E377E"/>
                </a:solidFill>
                <a:latin typeface="Georgia"/>
                <a:cs typeface="Georgia"/>
              </a:rPr>
              <a:t>no </a:t>
            </a:r>
            <a:r>
              <a:rPr sz="3600" dirty="0">
                <a:solidFill>
                  <a:srgbClr val="2E377E"/>
                </a:solidFill>
                <a:latin typeface="Georgia"/>
                <a:cs typeface="Georgia"/>
              </a:rPr>
              <a:t>longer</a:t>
            </a:r>
            <a:r>
              <a:rPr sz="3600" spc="-10" dirty="0">
                <a:solidFill>
                  <a:srgbClr val="2E377E"/>
                </a:solidFill>
                <a:latin typeface="Georgia"/>
                <a:cs typeface="Georgia"/>
              </a:rPr>
              <a:t> </a:t>
            </a:r>
            <a:r>
              <a:rPr sz="3600" dirty="0">
                <a:solidFill>
                  <a:srgbClr val="2E377E"/>
                </a:solidFill>
                <a:latin typeface="Georgia"/>
                <a:cs typeface="Georgia"/>
              </a:rPr>
              <a:t>available.</a:t>
            </a:r>
            <a:r>
              <a:rPr sz="3600" spc="-5" dirty="0">
                <a:solidFill>
                  <a:srgbClr val="2E377E"/>
                </a:solidFill>
                <a:latin typeface="Georgia"/>
                <a:cs typeface="Georgia"/>
              </a:rPr>
              <a:t> </a:t>
            </a:r>
            <a:r>
              <a:rPr sz="3600" dirty="0">
                <a:solidFill>
                  <a:srgbClr val="2E377E"/>
                </a:solidFill>
                <a:latin typeface="Georgia"/>
                <a:cs typeface="Georgia"/>
              </a:rPr>
              <a:t>To</a:t>
            </a:r>
            <a:r>
              <a:rPr sz="3600" spc="-5" dirty="0">
                <a:solidFill>
                  <a:srgbClr val="2E377E"/>
                </a:solidFill>
                <a:latin typeface="Georgia"/>
                <a:cs typeface="Georgia"/>
              </a:rPr>
              <a:t> </a:t>
            </a:r>
            <a:r>
              <a:rPr sz="3600" spc="45" dirty="0">
                <a:solidFill>
                  <a:srgbClr val="2E377E"/>
                </a:solidFill>
                <a:latin typeface="Georgia"/>
                <a:cs typeface="Georgia"/>
              </a:rPr>
              <a:t>overcome</a:t>
            </a:r>
            <a:r>
              <a:rPr sz="3600" spc="-5" dirty="0">
                <a:solidFill>
                  <a:srgbClr val="2E377E"/>
                </a:solidFill>
                <a:latin typeface="Georgia"/>
                <a:cs typeface="Georgia"/>
              </a:rPr>
              <a:t> </a:t>
            </a:r>
            <a:r>
              <a:rPr sz="3600" dirty="0">
                <a:solidFill>
                  <a:srgbClr val="2E377E"/>
                </a:solidFill>
                <a:latin typeface="Georgia"/>
                <a:cs typeface="Georgia"/>
              </a:rPr>
              <a:t>this</a:t>
            </a:r>
            <a:r>
              <a:rPr sz="3600" spc="-5" dirty="0">
                <a:solidFill>
                  <a:srgbClr val="2E377E"/>
                </a:solidFill>
                <a:latin typeface="Georgia"/>
                <a:cs typeface="Georgia"/>
              </a:rPr>
              <a:t> </a:t>
            </a:r>
            <a:r>
              <a:rPr sz="3600" spc="13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will</a:t>
            </a:r>
            <a:r>
              <a:rPr sz="3600" spc="-5" dirty="0">
                <a:solidFill>
                  <a:srgbClr val="2E377E"/>
                </a:solidFill>
                <a:latin typeface="Georgia"/>
                <a:cs typeface="Georgia"/>
              </a:rPr>
              <a:t> </a:t>
            </a:r>
            <a:r>
              <a:rPr sz="3600" dirty="0">
                <a:solidFill>
                  <a:srgbClr val="2E377E"/>
                </a:solidFill>
                <a:latin typeface="Georgia"/>
                <a:cs typeface="Georgia"/>
              </a:rPr>
              <a:t>use</a:t>
            </a:r>
            <a:r>
              <a:rPr sz="3600" spc="-5" dirty="0">
                <a:solidFill>
                  <a:srgbClr val="2E377E"/>
                </a:solidFill>
                <a:latin typeface="Georgia"/>
                <a:cs typeface="Georgia"/>
              </a:rPr>
              <a:t> </a:t>
            </a:r>
            <a:r>
              <a:rPr sz="3600" dirty="0">
                <a:solidFill>
                  <a:srgbClr val="2E377E"/>
                </a:solidFill>
                <a:latin typeface="Georgia"/>
                <a:cs typeface="Georgia"/>
              </a:rPr>
              <a:t>Kubernetes</a:t>
            </a:r>
            <a:r>
              <a:rPr sz="3600" spc="-5" dirty="0">
                <a:solidFill>
                  <a:srgbClr val="2E377E"/>
                </a:solidFill>
                <a:latin typeface="Georgia"/>
                <a:cs typeface="Georgia"/>
              </a:rPr>
              <a:t> </a:t>
            </a:r>
            <a:r>
              <a:rPr sz="3600" spc="-10" dirty="0">
                <a:solidFill>
                  <a:srgbClr val="2E377E"/>
                </a:solidFill>
                <a:latin typeface="Georgia"/>
                <a:cs typeface="Georgia"/>
              </a:rPr>
              <a:t>Volumes.</a:t>
            </a:r>
            <a:endParaRPr sz="3600">
              <a:latin typeface="Georgia"/>
              <a:cs typeface="Georgia"/>
            </a:endParaRPr>
          </a:p>
          <a:p>
            <a:pPr>
              <a:lnSpc>
                <a:spcPct val="100000"/>
              </a:lnSpc>
              <a:spcBef>
                <a:spcPts val="935"/>
              </a:spcBef>
            </a:pPr>
            <a:endParaRPr sz="3600">
              <a:latin typeface="Georgia"/>
              <a:cs typeface="Georgia"/>
            </a:endParaRPr>
          </a:p>
          <a:p>
            <a:pPr marL="12700" marR="382270">
              <a:lnSpc>
                <a:spcPct val="116300"/>
              </a:lnSpc>
            </a:pPr>
            <a:r>
              <a:rPr sz="3600" dirty="0">
                <a:solidFill>
                  <a:srgbClr val="2E377E"/>
                </a:solidFill>
                <a:latin typeface="Georgia"/>
                <a:cs typeface="Georgia"/>
              </a:rPr>
              <a:t>But</a:t>
            </a:r>
            <a:r>
              <a:rPr sz="3600" spc="-5" dirty="0">
                <a:solidFill>
                  <a:srgbClr val="2E377E"/>
                </a:solidFill>
                <a:latin typeface="Georgia"/>
                <a:cs typeface="Georgia"/>
              </a:rPr>
              <a:t> </a:t>
            </a:r>
            <a:r>
              <a:rPr sz="3600" dirty="0">
                <a:solidFill>
                  <a:srgbClr val="2E377E"/>
                </a:solidFill>
                <a:latin typeface="Georgia"/>
                <a:cs typeface="Georgia"/>
              </a:rPr>
              <a:t>before going into </a:t>
            </a:r>
            <a:r>
              <a:rPr sz="3600" spc="50" dirty="0">
                <a:solidFill>
                  <a:srgbClr val="2E377E"/>
                </a:solidFill>
                <a:latin typeface="Georgia"/>
                <a:cs typeface="Georgia"/>
              </a:rPr>
              <a:t>the</a:t>
            </a:r>
            <a:r>
              <a:rPr sz="3600" dirty="0">
                <a:solidFill>
                  <a:srgbClr val="2E377E"/>
                </a:solidFill>
                <a:latin typeface="Georgia"/>
                <a:cs typeface="Georgia"/>
              </a:rPr>
              <a:t> </a:t>
            </a:r>
            <a:r>
              <a:rPr sz="3600" spc="75" dirty="0">
                <a:solidFill>
                  <a:srgbClr val="2E377E"/>
                </a:solidFill>
                <a:latin typeface="Georgia"/>
                <a:cs typeface="Georgia"/>
              </a:rPr>
              <a:t>types</a:t>
            </a:r>
            <a:r>
              <a:rPr sz="3600" dirty="0">
                <a:solidFill>
                  <a:srgbClr val="2E377E"/>
                </a:solidFill>
                <a:latin typeface="Georgia"/>
                <a:cs typeface="Georgia"/>
              </a:rPr>
              <a:t> of </a:t>
            </a:r>
            <a:r>
              <a:rPr sz="3600" spc="-10" dirty="0">
                <a:solidFill>
                  <a:srgbClr val="2E377E"/>
                </a:solidFill>
                <a:latin typeface="Georgia"/>
                <a:cs typeface="Georgia"/>
              </a:rPr>
              <a:t>Volumes.</a:t>
            </a:r>
            <a:r>
              <a:rPr sz="3600" dirty="0">
                <a:solidFill>
                  <a:srgbClr val="2E377E"/>
                </a:solidFill>
                <a:latin typeface="Georgia"/>
                <a:cs typeface="Georgia"/>
              </a:rPr>
              <a:t> Let’s understand some facts </a:t>
            </a:r>
            <a:r>
              <a:rPr sz="3600" spc="-20" dirty="0">
                <a:solidFill>
                  <a:srgbClr val="2E377E"/>
                </a:solidFill>
                <a:latin typeface="Georgia"/>
                <a:cs typeface="Georgia"/>
              </a:rPr>
              <a:t>about </a:t>
            </a:r>
            <a:r>
              <a:rPr sz="3600" dirty="0">
                <a:solidFill>
                  <a:srgbClr val="2E377E"/>
                </a:solidFill>
                <a:latin typeface="Georgia"/>
                <a:cs typeface="Georgia"/>
              </a:rPr>
              <a:t>pods</a:t>
            </a:r>
            <a:r>
              <a:rPr sz="3600" spc="-25"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dirty="0">
                <a:solidFill>
                  <a:srgbClr val="2E377E"/>
                </a:solidFill>
                <a:latin typeface="Georgia"/>
                <a:cs typeface="Georgia"/>
              </a:rPr>
              <a:t>containers'</a:t>
            </a:r>
            <a:r>
              <a:rPr sz="3600" spc="-20" dirty="0">
                <a:solidFill>
                  <a:srgbClr val="2E377E"/>
                </a:solidFill>
                <a:latin typeface="Georgia"/>
                <a:cs typeface="Georgia"/>
              </a:rPr>
              <a:t> </a:t>
            </a:r>
            <a:r>
              <a:rPr sz="3600" dirty="0">
                <a:solidFill>
                  <a:srgbClr val="2E377E"/>
                </a:solidFill>
                <a:latin typeface="Georgia"/>
                <a:cs typeface="Georgia"/>
              </a:rPr>
              <a:t>short</a:t>
            </a:r>
            <a:r>
              <a:rPr sz="3600" spc="-25" dirty="0">
                <a:solidFill>
                  <a:srgbClr val="2E377E"/>
                </a:solidFill>
                <a:latin typeface="Georgia"/>
                <a:cs typeface="Georgia"/>
              </a:rPr>
              <a:t> </a:t>
            </a:r>
            <a:r>
              <a:rPr sz="3600" spc="50" dirty="0">
                <a:solidFill>
                  <a:srgbClr val="2E377E"/>
                </a:solidFill>
                <a:latin typeface="Georgia"/>
                <a:cs typeface="Georgia"/>
              </a:rPr>
              <a:t>live</a:t>
            </a:r>
            <a:r>
              <a:rPr sz="3600" spc="-20" dirty="0">
                <a:solidFill>
                  <a:srgbClr val="2E377E"/>
                </a:solidFill>
                <a:latin typeface="Georgia"/>
                <a:cs typeface="Georgia"/>
              </a:rPr>
              <a:t> </a:t>
            </a:r>
            <a:r>
              <a:rPr sz="3600" spc="-10" dirty="0">
                <a:solidFill>
                  <a:srgbClr val="2E377E"/>
                </a:solidFill>
                <a:latin typeface="Georgia"/>
                <a:cs typeface="Georgia"/>
              </a:rPr>
              <a:t>data.</a:t>
            </a:r>
            <a:endParaRPr sz="3600">
              <a:latin typeface="Georgia"/>
              <a:cs typeface="Georgia"/>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18112" y="1246250"/>
            <a:ext cx="133350" cy="133349"/>
          </a:xfrm>
          <a:prstGeom prst="rect">
            <a:avLst/>
          </a:prstGeom>
        </p:spPr>
      </p:pic>
      <p:sp>
        <p:nvSpPr>
          <p:cNvPr id="3" name="object 3"/>
          <p:cNvSpPr txBox="1">
            <a:spLocks noGrp="1"/>
          </p:cNvSpPr>
          <p:nvPr>
            <p:ph type="title"/>
          </p:nvPr>
        </p:nvSpPr>
        <p:spPr>
          <a:xfrm>
            <a:off x="1534918" y="829691"/>
            <a:ext cx="15294610" cy="1416050"/>
          </a:xfrm>
          <a:prstGeom prst="rect">
            <a:avLst/>
          </a:prstGeom>
        </p:spPr>
        <p:txBody>
          <a:bodyPr vert="horz" wrap="square" lIns="0" tIns="12700" rIns="0" bIns="0" rtlCol="0">
            <a:spAutoFit/>
          </a:bodyPr>
          <a:lstStyle/>
          <a:p>
            <a:pPr marL="12700" marR="5080">
              <a:lnSpc>
                <a:spcPct val="126699"/>
              </a:lnSpc>
              <a:spcBef>
                <a:spcPts val="100"/>
              </a:spcBef>
            </a:pPr>
            <a:r>
              <a:rPr sz="3600" b="0" dirty="0">
                <a:solidFill>
                  <a:srgbClr val="2E377E"/>
                </a:solidFill>
                <a:latin typeface="Georgia"/>
                <a:cs typeface="Georgia"/>
              </a:rPr>
              <a:t>The</a:t>
            </a:r>
            <a:r>
              <a:rPr sz="3600" b="0" spc="10" dirty="0">
                <a:solidFill>
                  <a:srgbClr val="2E377E"/>
                </a:solidFill>
                <a:latin typeface="Georgia"/>
                <a:cs typeface="Georgia"/>
              </a:rPr>
              <a:t> </a:t>
            </a:r>
            <a:r>
              <a:rPr sz="3600" b="0" dirty="0">
                <a:solidFill>
                  <a:srgbClr val="2E377E"/>
                </a:solidFill>
                <a:latin typeface="Georgia"/>
                <a:cs typeface="Georgia"/>
              </a:rPr>
              <a:t>volumes</a:t>
            </a:r>
            <a:r>
              <a:rPr sz="3600" b="0" spc="10" dirty="0">
                <a:solidFill>
                  <a:srgbClr val="2E377E"/>
                </a:solidFill>
                <a:latin typeface="Georgia"/>
                <a:cs typeface="Georgia"/>
              </a:rPr>
              <a:t> </a:t>
            </a:r>
            <a:r>
              <a:rPr sz="3600" b="0" dirty="0">
                <a:solidFill>
                  <a:srgbClr val="2E377E"/>
                </a:solidFill>
                <a:latin typeface="Georgia"/>
                <a:cs typeface="Georgia"/>
              </a:rPr>
              <a:t>reside</a:t>
            </a:r>
            <a:r>
              <a:rPr sz="3600" b="0" spc="15" dirty="0">
                <a:solidFill>
                  <a:srgbClr val="2E377E"/>
                </a:solidFill>
                <a:latin typeface="Georgia"/>
                <a:cs typeface="Georgia"/>
              </a:rPr>
              <a:t> </a:t>
            </a:r>
            <a:r>
              <a:rPr sz="3600" b="0" dirty="0">
                <a:solidFill>
                  <a:srgbClr val="2E377E"/>
                </a:solidFill>
                <a:latin typeface="Georgia"/>
                <a:cs typeface="Georgia"/>
              </a:rPr>
              <a:t>inside</a:t>
            </a:r>
            <a:r>
              <a:rPr sz="3600" b="0" spc="10" dirty="0">
                <a:solidFill>
                  <a:srgbClr val="2E377E"/>
                </a:solidFill>
                <a:latin typeface="Georgia"/>
                <a:cs typeface="Georgia"/>
              </a:rPr>
              <a:t> </a:t>
            </a:r>
            <a:r>
              <a:rPr sz="3600" b="0" spc="50" dirty="0">
                <a:solidFill>
                  <a:srgbClr val="2E377E"/>
                </a:solidFill>
                <a:latin typeface="Georgia"/>
                <a:cs typeface="Georgia"/>
              </a:rPr>
              <a:t>the</a:t>
            </a:r>
            <a:r>
              <a:rPr sz="3600" b="0" spc="15" dirty="0">
                <a:solidFill>
                  <a:srgbClr val="2E377E"/>
                </a:solidFill>
                <a:latin typeface="Georgia"/>
                <a:cs typeface="Georgia"/>
              </a:rPr>
              <a:t> </a:t>
            </a:r>
            <a:r>
              <a:rPr sz="3600" b="0" dirty="0">
                <a:solidFill>
                  <a:srgbClr val="2E377E"/>
                </a:solidFill>
                <a:latin typeface="Georgia"/>
                <a:cs typeface="Georgia"/>
              </a:rPr>
              <a:t>Pod</a:t>
            </a:r>
            <a:r>
              <a:rPr sz="3600" b="0" spc="10" dirty="0">
                <a:solidFill>
                  <a:srgbClr val="2E377E"/>
                </a:solidFill>
                <a:latin typeface="Georgia"/>
                <a:cs typeface="Georgia"/>
              </a:rPr>
              <a:t> </a:t>
            </a:r>
            <a:r>
              <a:rPr sz="3600" b="0" dirty="0">
                <a:solidFill>
                  <a:srgbClr val="2E377E"/>
                </a:solidFill>
                <a:latin typeface="Georgia"/>
                <a:cs typeface="Georgia"/>
              </a:rPr>
              <a:t>which</a:t>
            </a:r>
            <a:r>
              <a:rPr sz="3600" b="0" spc="15" dirty="0">
                <a:solidFill>
                  <a:srgbClr val="2E377E"/>
                </a:solidFill>
                <a:latin typeface="Georgia"/>
                <a:cs typeface="Georgia"/>
              </a:rPr>
              <a:t> </a:t>
            </a:r>
            <a:r>
              <a:rPr sz="3600" b="0" dirty="0">
                <a:solidFill>
                  <a:srgbClr val="2E377E"/>
                </a:solidFill>
                <a:latin typeface="Georgia"/>
                <a:cs typeface="Georgia"/>
              </a:rPr>
              <a:t>stores</a:t>
            </a:r>
            <a:r>
              <a:rPr sz="3600" b="0" spc="10" dirty="0">
                <a:solidFill>
                  <a:srgbClr val="2E377E"/>
                </a:solidFill>
                <a:latin typeface="Georgia"/>
                <a:cs typeface="Georgia"/>
              </a:rPr>
              <a:t> </a:t>
            </a:r>
            <a:r>
              <a:rPr sz="3600" b="0" spc="50" dirty="0">
                <a:solidFill>
                  <a:srgbClr val="2E377E"/>
                </a:solidFill>
                <a:latin typeface="Georgia"/>
                <a:cs typeface="Georgia"/>
              </a:rPr>
              <a:t>the</a:t>
            </a:r>
            <a:r>
              <a:rPr sz="3600" b="0" spc="15" dirty="0">
                <a:solidFill>
                  <a:srgbClr val="2E377E"/>
                </a:solidFill>
                <a:latin typeface="Georgia"/>
                <a:cs typeface="Georgia"/>
              </a:rPr>
              <a:t> </a:t>
            </a:r>
            <a:r>
              <a:rPr sz="3600" b="0" dirty="0">
                <a:solidFill>
                  <a:srgbClr val="2E377E"/>
                </a:solidFill>
                <a:latin typeface="Georgia"/>
                <a:cs typeface="Georgia"/>
              </a:rPr>
              <a:t>data</a:t>
            </a:r>
            <a:r>
              <a:rPr sz="3600" b="0" spc="10" dirty="0">
                <a:solidFill>
                  <a:srgbClr val="2E377E"/>
                </a:solidFill>
                <a:latin typeface="Georgia"/>
                <a:cs typeface="Georgia"/>
              </a:rPr>
              <a:t> </a:t>
            </a:r>
            <a:r>
              <a:rPr sz="3600" b="0" dirty="0">
                <a:solidFill>
                  <a:srgbClr val="2E377E"/>
                </a:solidFill>
                <a:latin typeface="Georgia"/>
                <a:cs typeface="Georgia"/>
              </a:rPr>
              <a:t>of</a:t>
            </a:r>
            <a:r>
              <a:rPr sz="3600" b="0" spc="15" dirty="0">
                <a:solidFill>
                  <a:srgbClr val="2E377E"/>
                </a:solidFill>
                <a:latin typeface="Georgia"/>
                <a:cs typeface="Georgia"/>
              </a:rPr>
              <a:t> </a:t>
            </a:r>
            <a:r>
              <a:rPr sz="3600" b="0" dirty="0">
                <a:solidFill>
                  <a:srgbClr val="2E377E"/>
                </a:solidFill>
                <a:latin typeface="Georgia"/>
                <a:cs typeface="Georgia"/>
              </a:rPr>
              <a:t>all</a:t>
            </a:r>
            <a:r>
              <a:rPr sz="3600" b="0" spc="10" dirty="0">
                <a:solidFill>
                  <a:srgbClr val="2E377E"/>
                </a:solidFill>
                <a:latin typeface="Georgia"/>
                <a:cs typeface="Georgia"/>
              </a:rPr>
              <a:t> </a:t>
            </a:r>
            <a:r>
              <a:rPr sz="3600" b="0" dirty="0">
                <a:solidFill>
                  <a:srgbClr val="2E377E"/>
                </a:solidFill>
                <a:latin typeface="Georgia"/>
                <a:cs typeface="Georgia"/>
              </a:rPr>
              <a:t>containers</a:t>
            </a:r>
            <a:r>
              <a:rPr sz="3600" b="0" spc="10" dirty="0">
                <a:solidFill>
                  <a:srgbClr val="2E377E"/>
                </a:solidFill>
                <a:latin typeface="Georgia"/>
                <a:cs typeface="Georgia"/>
              </a:rPr>
              <a:t> </a:t>
            </a:r>
            <a:r>
              <a:rPr sz="3600" b="0" spc="-25" dirty="0">
                <a:solidFill>
                  <a:srgbClr val="2E377E"/>
                </a:solidFill>
                <a:latin typeface="Georgia"/>
                <a:cs typeface="Georgia"/>
              </a:rPr>
              <a:t>in </a:t>
            </a:r>
            <a:r>
              <a:rPr sz="3600" b="0" dirty="0">
                <a:solidFill>
                  <a:srgbClr val="2E377E"/>
                </a:solidFill>
                <a:latin typeface="Georgia"/>
                <a:cs typeface="Georgia"/>
              </a:rPr>
              <a:t>that</a:t>
            </a:r>
            <a:r>
              <a:rPr sz="3600" b="0" spc="90" dirty="0">
                <a:solidFill>
                  <a:srgbClr val="2E377E"/>
                </a:solidFill>
                <a:latin typeface="Georgia"/>
                <a:cs typeface="Georgia"/>
              </a:rPr>
              <a:t> </a:t>
            </a:r>
            <a:r>
              <a:rPr sz="3600" b="0" spc="-20" dirty="0">
                <a:solidFill>
                  <a:srgbClr val="2E377E"/>
                </a:solidFill>
                <a:latin typeface="Georgia"/>
                <a:cs typeface="Georgia"/>
              </a:rPr>
              <a:t>pod.</a:t>
            </a:r>
            <a:endParaRPr sz="3600">
              <a:latin typeface="Georgia"/>
              <a:cs typeface="Georgia"/>
            </a:endParaRPr>
          </a:p>
        </p:txBody>
      </p:sp>
      <p:sp>
        <p:nvSpPr>
          <p:cNvPr id="4" name="object 4"/>
          <p:cNvSpPr txBox="1"/>
          <p:nvPr/>
        </p:nvSpPr>
        <p:spPr>
          <a:xfrm>
            <a:off x="4144918" y="2853773"/>
            <a:ext cx="9992995" cy="4003675"/>
          </a:xfrm>
          <a:prstGeom prst="rect">
            <a:avLst/>
          </a:prstGeom>
          <a:solidFill>
            <a:srgbClr val="D5EFF1"/>
          </a:solidFill>
        </p:spPr>
        <p:txBody>
          <a:bodyPr vert="horz" wrap="square" lIns="0" tIns="50165" rIns="0" bIns="0" rtlCol="0">
            <a:spAutoFit/>
          </a:bodyPr>
          <a:lstStyle/>
          <a:p>
            <a:pPr marL="212090">
              <a:lnSpc>
                <a:spcPct val="100000"/>
              </a:lnSpc>
              <a:spcBef>
                <a:spcPts val="395"/>
              </a:spcBef>
            </a:pPr>
            <a:r>
              <a:rPr sz="5000" b="1" spc="290" dirty="0">
                <a:solidFill>
                  <a:srgbClr val="2E377E"/>
                </a:solidFill>
                <a:latin typeface="Times New Roman"/>
                <a:cs typeface="Times New Roman"/>
              </a:rPr>
              <a:t>pod</a:t>
            </a:r>
            <a:endParaRPr sz="5000">
              <a:latin typeface="Times New Roman"/>
              <a:cs typeface="Times New Roman"/>
            </a:endParaRPr>
          </a:p>
        </p:txBody>
      </p:sp>
      <p:sp>
        <p:nvSpPr>
          <p:cNvPr id="5" name="object 5"/>
          <p:cNvSpPr txBox="1"/>
          <p:nvPr/>
        </p:nvSpPr>
        <p:spPr>
          <a:xfrm>
            <a:off x="5335812" y="4048455"/>
            <a:ext cx="2677795" cy="2190115"/>
          </a:xfrm>
          <a:prstGeom prst="rect">
            <a:avLst/>
          </a:prstGeom>
          <a:solidFill>
            <a:srgbClr val="326BE4"/>
          </a:solidFill>
        </p:spPr>
        <p:txBody>
          <a:bodyPr vert="horz" wrap="square" lIns="0" tIns="501650" rIns="0" bIns="0" rtlCol="0">
            <a:spAutoFit/>
          </a:bodyPr>
          <a:lstStyle/>
          <a:p>
            <a:pPr marL="419734">
              <a:lnSpc>
                <a:spcPct val="100000"/>
              </a:lnSpc>
              <a:spcBef>
                <a:spcPts val="3950"/>
              </a:spcBef>
            </a:pPr>
            <a:r>
              <a:rPr sz="5000" b="1" spc="320" dirty="0">
                <a:solidFill>
                  <a:srgbClr val="FFFFFF"/>
                </a:solidFill>
                <a:latin typeface="Times New Roman"/>
                <a:cs typeface="Times New Roman"/>
              </a:rPr>
              <a:t>cont-</a:t>
            </a:r>
            <a:r>
              <a:rPr sz="5000" b="1" spc="-575" dirty="0">
                <a:solidFill>
                  <a:srgbClr val="FFFFFF"/>
                </a:solidFill>
                <a:latin typeface="Times New Roman"/>
                <a:cs typeface="Times New Roman"/>
              </a:rPr>
              <a:t>1</a:t>
            </a:r>
            <a:endParaRPr sz="5000">
              <a:latin typeface="Times New Roman"/>
              <a:cs typeface="Times New Roman"/>
            </a:endParaRPr>
          </a:p>
        </p:txBody>
      </p:sp>
      <p:sp>
        <p:nvSpPr>
          <p:cNvPr id="6" name="object 6"/>
          <p:cNvSpPr txBox="1"/>
          <p:nvPr/>
        </p:nvSpPr>
        <p:spPr>
          <a:xfrm>
            <a:off x="10394922" y="4048455"/>
            <a:ext cx="2677795" cy="2190115"/>
          </a:xfrm>
          <a:prstGeom prst="rect">
            <a:avLst/>
          </a:prstGeom>
          <a:solidFill>
            <a:srgbClr val="326BE4"/>
          </a:solidFill>
        </p:spPr>
        <p:txBody>
          <a:bodyPr vert="horz" wrap="square" lIns="0" tIns="347980" rIns="0" bIns="0" rtlCol="0">
            <a:spAutoFit/>
          </a:bodyPr>
          <a:lstStyle/>
          <a:p>
            <a:pPr marL="494665">
              <a:lnSpc>
                <a:spcPct val="100000"/>
              </a:lnSpc>
              <a:spcBef>
                <a:spcPts val="2740"/>
              </a:spcBef>
            </a:pPr>
            <a:r>
              <a:rPr sz="5000" b="1" spc="320" dirty="0">
                <a:solidFill>
                  <a:srgbClr val="FFFFFF"/>
                </a:solidFill>
                <a:latin typeface="Times New Roman"/>
                <a:cs typeface="Times New Roman"/>
              </a:rPr>
              <a:t>cont-</a:t>
            </a:r>
            <a:r>
              <a:rPr sz="5000" b="1" spc="250" dirty="0">
                <a:solidFill>
                  <a:srgbClr val="FFFFFF"/>
                </a:solidFill>
                <a:latin typeface="Times New Roman"/>
                <a:cs typeface="Times New Roman"/>
              </a:rPr>
              <a:t>2</a:t>
            </a:r>
            <a:endParaRPr sz="5000">
              <a:latin typeface="Times New Roman"/>
              <a:cs typeface="Times New Roman"/>
            </a:endParaRPr>
          </a:p>
        </p:txBody>
      </p:sp>
      <p:grpSp>
        <p:nvGrpSpPr>
          <p:cNvPr id="7" name="object 7"/>
          <p:cNvGrpSpPr/>
          <p:nvPr/>
        </p:nvGrpSpPr>
        <p:grpSpPr>
          <a:xfrm>
            <a:off x="8919628" y="6857172"/>
            <a:ext cx="457200" cy="1026794"/>
            <a:chOff x="8919628" y="6857172"/>
            <a:chExt cx="457200" cy="1026794"/>
          </a:xfrm>
        </p:grpSpPr>
        <p:sp>
          <p:nvSpPr>
            <p:cNvPr id="8" name="object 8"/>
            <p:cNvSpPr/>
            <p:nvPr/>
          </p:nvSpPr>
          <p:spPr>
            <a:xfrm>
              <a:off x="9087667" y="6913472"/>
              <a:ext cx="128905" cy="970280"/>
            </a:xfrm>
            <a:custGeom>
              <a:avLst/>
              <a:gdLst/>
              <a:ahLst/>
              <a:cxnLst/>
              <a:rect l="l" t="t" r="r" b="b"/>
              <a:pathLst>
                <a:path w="128904" h="970279">
                  <a:moveTo>
                    <a:pt x="14401" y="970241"/>
                  </a:moveTo>
                  <a:lnTo>
                    <a:pt x="0" y="1699"/>
                  </a:lnTo>
                  <a:lnTo>
                    <a:pt x="114287" y="0"/>
                  </a:lnTo>
                  <a:lnTo>
                    <a:pt x="128689" y="968542"/>
                  </a:lnTo>
                  <a:lnTo>
                    <a:pt x="14401" y="970241"/>
                  </a:lnTo>
                  <a:close/>
                </a:path>
              </a:pathLst>
            </a:custGeom>
            <a:solidFill>
              <a:srgbClr val="000000"/>
            </a:solidFill>
          </p:spPr>
          <p:txBody>
            <a:bodyPr wrap="square" lIns="0" tIns="0" rIns="0" bIns="0" rtlCol="0"/>
            <a:lstStyle/>
            <a:p>
              <a:endParaRPr/>
            </a:p>
          </p:txBody>
        </p:sp>
        <p:sp>
          <p:nvSpPr>
            <p:cNvPr id="9" name="object 9"/>
            <p:cNvSpPr/>
            <p:nvPr/>
          </p:nvSpPr>
          <p:spPr>
            <a:xfrm>
              <a:off x="8976778" y="6914322"/>
              <a:ext cx="342900" cy="231140"/>
            </a:xfrm>
            <a:custGeom>
              <a:avLst/>
              <a:gdLst/>
              <a:ahLst/>
              <a:cxnLst/>
              <a:rect l="l" t="t" r="r" b="b"/>
              <a:pathLst>
                <a:path w="342900" h="231140">
                  <a:moveTo>
                    <a:pt x="0" y="231123"/>
                  </a:moveTo>
                  <a:lnTo>
                    <a:pt x="168032" y="0"/>
                  </a:lnTo>
                  <a:lnTo>
                    <a:pt x="342862" y="226025"/>
                  </a:lnTo>
                </a:path>
              </a:pathLst>
            </a:custGeom>
            <a:ln w="114300">
              <a:solidFill>
                <a:srgbClr val="000000"/>
              </a:solidFill>
            </a:ln>
          </p:spPr>
          <p:txBody>
            <a:bodyPr wrap="square" lIns="0" tIns="0" rIns="0" bIns="0" rtlCol="0"/>
            <a:lstStyle/>
            <a:p>
              <a:endParaRPr/>
            </a:p>
          </p:txBody>
        </p:sp>
      </p:grpSp>
      <p:sp>
        <p:nvSpPr>
          <p:cNvPr id="10" name="object 10"/>
          <p:cNvSpPr txBox="1"/>
          <p:nvPr/>
        </p:nvSpPr>
        <p:spPr>
          <a:xfrm>
            <a:off x="7043260" y="7883714"/>
            <a:ext cx="4231005" cy="1866900"/>
          </a:xfrm>
          <a:prstGeom prst="rect">
            <a:avLst/>
          </a:prstGeom>
          <a:solidFill>
            <a:srgbClr val="FFDE58"/>
          </a:solidFill>
        </p:spPr>
        <p:txBody>
          <a:bodyPr vert="horz" wrap="square" lIns="0" tIns="257175" rIns="0" bIns="0" rtlCol="0">
            <a:spAutoFit/>
          </a:bodyPr>
          <a:lstStyle/>
          <a:p>
            <a:pPr marL="1570355" marR="1370330" indent="-191135">
              <a:lnSpc>
                <a:spcPct val="117600"/>
              </a:lnSpc>
              <a:spcBef>
                <a:spcPts val="2025"/>
              </a:spcBef>
            </a:pPr>
            <a:r>
              <a:rPr sz="3250" b="1" spc="220" dirty="0">
                <a:solidFill>
                  <a:srgbClr val="FF3131"/>
                </a:solidFill>
                <a:latin typeface="Times New Roman"/>
                <a:cs typeface="Times New Roman"/>
              </a:rPr>
              <a:t>volume </a:t>
            </a:r>
            <a:r>
              <a:rPr sz="3250" b="1" spc="-10" dirty="0">
                <a:solidFill>
                  <a:srgbClr val="FF3131"/>
                </a:solidFill>
                <a:latin typeface="Times New Roman"/>
                <a:cs typeface="Times New Roman"/>
              </a:rPr>
              <a:t>(data)</a:t>
            </a:r>
            <a:endParaRPr sz="3250">
              <a:latin typeface="Times New Roman"/>
              <a:cs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512" y="1398650"/>
            <a:ext cx="133350" cy="133349"/>
          </a:xfrm>
          <a:prstGeom prst="rect">
            <a:avLst/>
          </a:prstGeom>
        </p:spPr>
      </p:pic>
      <p:sp>
        <p:nvSpPr>
          <p:cNvPr id="3" name="object 3"/>
          <p:cNvSpPr txBox="1"/>
          <p:nvPr/>
        </p:nvSpPr>
        <p:spPr>
          <a:xfrm>
            <a:off x="1687318" y="982091"/>
            <a:ext cx="15617190" cy="1416050"/>
          </a:xfrm>
          <a:prstGeom prst="rect">
            <a:avLst/>
          </a:prstGeom>
        </p:spPr>
        <p:txBody>
          <a:bodyPr vert="horz" wrap="square" lIns="0" tIns="12700" rIns="0" bIns="0" rtlCol="0">
            <a:spAutoFit/>
          </a:bodyPr>
          <a:lstStyle/>
          <a:p>
            <a:pPr marL="12700" marR="5080">
              <a:lnSpc>
                <a:spcPct val="126699"/>
              </a:lnSpc>
              <a:spcBef>
                <a:spcPts val="100"/>
              </a:spcBef>
            </a:pPr>
            <a:r>
              <a:rPr sz="3600" dirty="0">
                <a:solidFill>
                  <a:srgbClr val="2E377E"/>
                </a:solidFill>
                <a:latin typeface="Georgia"/>
                <a:cs typeface="Georgia"/>
              </a:rPr>
              <a:t>If</a:t>
            </a:r>
            <a:r>
              <a:rPr sz="3600" spc="-5" dirty="0">
                <a:solidFill>
                  <a:srgbClr val="2E377E"/>
                </a:solidFill>
                <a:latin typeface="Georgia"/>
                <a:cs typeface="Georgia"/>
              </a:rPr>
              <a:t> </a:t>
            </a:r>
            <a:r>
              <a:rPr sz="3600" spc="50" dirty="0">
                <a:solidFill>
                  <a:srgbClr val="2E377E"/>
                </a:solidFill>
                <a:latin typeface="Georgia"/>
                <a:cs typeface="Georgia"/>
              </a:rPr>
              <a:t>the</a:t>
            </a:r>
            <a:r>
              <a:rPr sz="3600" dirty="0">
                <a:solidFill>
                  <a:srgbClr val="2E377E"/>
                </a:solidFill>
                <a:latin typeface="Georgia"/>
                <a:cs typeface="Georgia"/>
              </a:rPr>
              <a:t> container </a:t>
            </a:r>
            <a:r>
              <a:rPr sz="3600" spc="50" dirty="0">
                <a:solidFill>
                  <a:srgbClr val="2E377E"/>
                </a:solidFill>
                <a:latin typeface="Georgia"/>
                <a:cs typeface="Georgia"/>
              </a:rPr>
              <a:t>gets</a:t>
            </a:r>
            <a:r>
              <a:rPr sz="3600" dirty="0">
                <a:solidFill>
                  <a:srgbClr val="2E377E"/>
                </a:solidFill>
                <a:latin typeface="Georgia"/>
                <a:cs typeface="Georgia"/>
              </a:rPr>
              <a:t> deleted, then </a:t>
            </a:r>
            <a:r>
              <a:rPr sz="3600" spc="50" dirty="0">
                <a:solidFill>
                  <a:srgbClr val="2E377E"/>
                </a:solidFill>
                <a:latin typeface="Georgia"/>
                <a:cs typeface="Georgia"/>
              </a:rPr>
              <a:t>the</a:t>
            </a:r>
            <a:r>
              <a:rPr sz="3600" dirty="0">
                <a:solidFill>
                  <a:srgbClr val="2E377E"/>
                </a:solidFill>
                <a:latin typeface="Georgia"/>
                <a:cs typeface="Georgia"/>
              </a:rPr>
              <a:t> data will persist and</a:t>
            </a:r>
            <a:r>
              <a:rPr sz="3600" spc="-5" dirty="0">
                <a:solidFill>
                  <a:srgbClr val="2E377E"/>
                </a:solidFill>
                <a:latin typeface="Georgia"/>
                <a:cs typeface="Georgia"/>
              </a:rPr>
              <a:t> </a:t>
            </a:r>
            <a:r>
              <a:rPr sz="3600" spc="55" dirty="0">
                <a:solidFill>
                  <a:srgbClr val="2E377E"/>
                </a:solidFill>
                <a:latin typeface="Georgia"/>
                <a:cs typeface="Georgia"/>
              </a:rPr>
              <a:t>it</a:t>
            </a:r>
            <a:r>
              <a:rPr sz="3600" dirty="0">
                <a:solidFill>
                  <a:srgbClr val="2E377E"/>
                </a:solidFill>
                <a:latin typeface="Georgia"/>
                <a:cs typeface="Georgia"/>
              </a:rPr>
              <a:t> will be </a:t>
            </a:r>
            <a:r>
              <a:rPr sz="3600" spc="-10" dirty="0">
                <a:solidFill>
                  <a:srgbClr val="2E377E"/>
                </a:solidFill>
                <a:latin typeface="Georgia"/>
                <a:cs typeface="Georgia"/>
              </a:rPr>
              <a:t>available </a:t>
            </a:r>
            <a:r>
              <a:rPr sz="3600" dirty="0">
                <a:solidFill>
                  <a:srgbClr val="2E377E"/>
                </a:solidFill>
                <a:latin typeface="Georgia"/>
                <a:cs typeface="Georgia"/>
              </a:rPr>
              <a:t>for</a:t>
            </a:r>
            <a:r>
              <a:rPr sz="3600" spc="30"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spc="90" dirty="0">
                <a:solidFill>
                  <a:srgbClr val="2E377E"/>
                </a:solidFill>
                <a:latin typeface="Georgia"/>
                <a:cs typeface="Georgia"/>
              </a:rPr>
              <a:t>new</a:t>
            </a:r>
            <a:r>
              <a:rPr sz="3600" spc="30" dirty="0">
                <a:solidFill>
                  <a:srgbClr val="2E377E"/>
                </a:solidFill>
                <a:latin typeface="Georgia"/>
                <a:cs typeface="Georgia"/>
              </a:rPr>
              <a:t> </a:t>
            </a:r>
            <a:r>
              <a:rPr sz="3600" dirty="0">
                <a:solidFill>
                  <a:srgbClr val="2E377E"/>
                </a:solidFill>
                <a:latin typeface="Georgia"/>
                <a:cs typeface="Georgia"/>
              </a:rPr>
              <a:t>container</a:t>
            </a:r>
            <a:r>
              <a:rPr sz="3600" spc="35" dirty="0">
                <a:solidFill>
                  <a:srgbClr val="2E377E"/>
                </a:solidFill>
                <a:latin typeface="Georgia"/>
                <a:cs typeface="Georgia"/>
              </a:rPr>
              <a:t> </a:t>
            </a:r>
            <a:r>
              <a:rPr sz="3600" dirty="0">
                <a:solidFill>
                  <a:srgbClr val="2E377E"/>
                </a:solidFill>
                <a:latin typeface="Georgia"/>
                <a:cs typeface="Georgia"/>
              </a:rPr>
              <a:t>which</a:t>
            </a:r>
            <a:r>
              <a:rPr sz="3600" spc="30" dirty="0">
                <a:solidFill>
                  <a:srgbClr val="2E377E"/>
                </a:solidFill>
                <a:latin typeface="Georgia"/>
                <a:cs typeface="Georgia"/>
              </a:rPr>
              <a:t> </a:t>
            </a:r>
            <a:r>
              <a:rPr sz="3600" spc="65" dirty="0">
                <a:solidFill>
                  <a:srgbClr val="2E377E"/>
                </a:solidFill>
                <a:latin typeface="Georgia"/>
                <a:cs typeface="Georgia"/>
              </a:rPr>
              <a:t>was</a:t>
            </a:r>
            <a:r>
              <a:rPr sz="3600" spc="35" dirty="0">
                <a:solidFill>
                  <a:srgbClr val="2E377E"/>
                </a:solidFill>
                <a:latin typeface="Georgia"/>
                <a:cs typeface="Georgia"/>
              </a:rPr>
              <a:t> </a:t>
            </a:r>
            <a:r>
              <a:rPr sz="3600" dirty="0">
                <a:solidFill>
                  <a:srgbClr val="2E377E"/>
                </a:solidFill>
                <a:latin typeface="Georgia"/>
                <a:cs typeface="Georgia"/>
              </a:rPr>
              <a:t>created</a:t>
            </a:r>
            <a:r>
              <a:rPr sz="3600" spc="30" dirty="0">
                <a:solidFill>
                  <a:srgbClr val="2E377E"/>
                </a:solidFill>
                <a:latin typeface="Georgia"/>
                <a:cs typeface="Georgia"/>
              </a:rPr>
              <a:t> </a:t>
            </a:r>
            <a:r>
              <a:rPr sz="3600" spc="-10" dirty="0">
                <a:solidFill>
                  <a:srgbClr val="2E377E"/>
                </a:solidFill>
                <a:latin typeface="Georgia"/>
                <a:cs typeface="Georgia"/>
              </a:rPr>
              <a:t>recently.</a:t>
            </a:r>
            <a:endParaRPr sz="3600">
              <a:latin typeface="Georgia"/>
              <a:cs typeface="Georgia"/>
            </a:endParaRPr>
          </a:p>
        </p:txBody>
      </p:sp>
      <p:sp>
        <p:nvSpPr>
          <p:cNvPr id="4" name="object 4"/>
          <p:cNvSpPr/>
          <p:nvPr/>
        </p:nvSpPr>
        <p:spPr>
          <a:xfrm>
            <a:off x="1712896" y="2853776"/>
            <a:ext cx="15732760" cy="4003675"/>
          </a:xfrm>
          <a:custGeom>
            <a:avLst/>
            <a:gdLst/>
            <a:ahLst/>
            <a:cxnLst/>
            <a:rect l="l" t="t" r="r" b="b"/>
            <a:pathLst>
              <a:path w="15732760" h="4003675">
                <a:moveTo>
                  <a:pt x="15732273" y="4003441"/>
                </a:moveTo>
                <a:lnTo>
                  <a:pt x="0" y="4003441"/>
                </a:lnTo>
                <a:lnTo>
                  <a:pt x="0" y="0"/>
                </a:lnTo>
                <a:lnTo>
                  <a:pt x="15732273" y="0"/>
                </a:lnTo>
                <a:lnTo>
                  <a:pt x="15732273" y="4003441"/>
                </a:lnTo>
                <a:close/>
              </a:path>
            </a:pathLst>
          </a:custGeom>
          <a:solidFill>
            <a:srgbClr val="D5EFF1"/>
          </a:solidFill>
        </p:spPr>
        <p:txBody>
          <a:bodyPr wrap="square" lIns="0" tIns="0" rIns="0" bIns="0" rtlCol="0"/>
          <a:lstStyle/>
          <a:p>
            <a:endParaRPr/>
          </a:p>
        </p:txBody>
      </p:sp>
      <p:sp>
        <p:nvSpPr>
          <p:cNvPr id="5" name="object 5"/>
          <p:cNvSpPr txBox="1">
            <a:spLocks noGrp="1"/>
          </p:cNvSpPr>
          <p:nvPr>
            <p:ph type="title"/>
          </p:nvPr>
        </p:nvSpPr>
        <p:spPr>
          <a:xfrm>
            <a:off x="1712896" y="2853776"/>
            <a:ext cx="15732760" cy="4003675"/>
          </a:xfrm>
          <a:prstGeom prst="rect">
            <a:avLst/>
          </a:prstGeom>
        </p:spPr>
        <p:txBody>
          <a:bodyPr vert="horz" wrap="square" lIns="0" tIns="0" rIns="0" bIns="0" rtlCol="0">
            <a:spAutoFit/>
          </a:bodyPr>
          <a:lstStyle/>
          <a:p>
            <a:pPr marL="383540">
              <a:lnSpc>
                <a:spcPts val="5840"/>
              </a:lnSpc>
            </a:pPr>
            <a:r>
              <a:rPr spc="290" dirty="0">
                <a:solidFill>
                  <a:srgbClr val="2E377E"/>
                </a:solidFill>
              </a:rPr>
              <a:t>pod</a:t>
            </a:r>
          </a:p>
        </p:txBody>
      </p:sp>
      <p:sp>
        <p:nvSpPr>
          <p:cNvPr id="6" name="object 6"/>
          <p:cNvSpPr txBox="1"/>
          <p:nvPr/>
        </p:nvSpPr>
        <p:spPr>
          <a:xfrm>
            <a:off x="2825717" y="4048453"/>
            <a:ext cx="2677795" cy="2190115"/>
          </a:xfrm>
          <a:prstGeom prst="rect">
            <a:avLst/>
          </a:prstGeom>
          <a:solidFill>
            <a:srgbClr val="326BE4"/>
          </a:solidFill>
        </p:spPr>
        <p:txBody>
          <a:bodyPr vert="horz" wrap="square" lIns="0" tIns="501650" rIns="0" bIns="0" rtlCol="0">
            <a:spAutoFit/>
          </a:bodyPr>
          <a:lstStyle/>
          <a:p>
            <a:pPr marL="419734">
              <a:lnSpc>
                <a:spcPct val="100000"/>
              </a:lnSpc>
              <a:spcBef>
                <a:spcPts val="3950"/>
              </a:spcBef>
            </a:pPr>
            <a:r>
              <a:rPr sz="5000" b="1" spc="320" dirty="0">
                <a:solidFill>
                  <a:srgbClr val="FFFFFF"/>
                </a:solidFill>
                <a:latin typeface="Times New Roman"/>
                <a:cs typeface="Times New Roman"/>
              </a:rPr>
              <a:t>cont-</a:t>
            </a:r>
            <a:r>
              <a:rPr sz="5000" b="1" spc="-575" dirty="0">
                <a:solidFill>
                  <a:srgbClr val="FFFFFF"/>
                </a:solidFill>
                <a:latin typeface="Times New Roman"/>
                <a:cs typeface="Times New Roman"/>
              </a:rPr>
              <a:t>1</a:t>
            </a:r>
            <a:endParaRPr sz="5000">
              <a:latin typeface="Times New Roman"/>
              <a:cs typeface="Times New Roman"/>
            </a:endParaRPr>
          </a:p>
        </p:txBody>
      </p:sp>
      <p:sp>
        <p:nvSpPr>
          <p:cNvPr id="7" name="object 7"/>
          <p:cNvSpPr txBox="1"/>
          <p:nvPr/>
        </p:nvSpPr>
        <p:spPr>
          <a:xfrm>
            <a:off x="14064290" y="3913805"/>
            <a:ext cx="2677795" cy="2190115"/>
          </a:xfrm>
          <a:prstGeom prst="rect">
            <a:avLst/>
          </a:prstGeom>
          <a:solidFill>
            <a:srgbClr val="326BE4"/>
          </a:solidFill>
        </p:spPr>
        <p:txBody>
          <a:bodyPr vert="horz" wrap="square" lIns="0" tIns="167640" rIns="0" bIns="0" rtlCol="0">
            <a:spAutoFit/>
          </a:bodyPr>
          <a:lstStyle/>
          <a:p>
            <a:pPr>
              <a:lnSpc>
                <a:spcPct val="100000"/>
              </a:lnSpc>
              <a:spcBef>
                <a:spcPts val="1320"/>
              </a:spcBef>
            </a:pPr>
            <a:endParaRPr sz="3900">
              <a:latin typeface="Times New Roman"/>
              <a:cs typeface="Times New Roman"/>
            </a:endParaRPr>
          </a:p>
          <a:p>
            <a:pPr marL="215900">
              <a:lnSpc>
                <a:spcPct val="100000"/>
              </a:lnSpc>
              <a:spcBef>
                <a:spcPts val="5"/>
              </a:spcBef>
            </a:pPr>
            <a:r>
              <a:rPr sz="3900" b="1" spc="409" dirty="0">
                <a:solidFill>
                  <a:srgbClr val="FFFFFF"/>
                </a:solidFill>
                <a:latin typeface="Times New Roman"/>
                <a:cs typeface="Times New Roman"/>
              </a:rPr>
              <a:t>new-</a:t>
            </a:r>
            <a:r>
              <a:rPr sz="3900" b="1" spc="170" dirty="0">
                <a:solidFill>
                  <a:srgbClr val="FFFFFF"/>
                </a:solidFill>
                <a:latin typeface="Times New Roman"/>
                <a:cs typeface="Times New Roman"/>
              </a:rPr>
              <a:t>cont</a:t>
            </a:r>
            <a:endParaRPr sz="3900">
              <a:latin typeface="Times New Roman"/>
              <a:cs typeface="Times New Roman"/>
            </a:endParaRPr>
          </a:p>
        </p:txBody>
      </p:sp>
      <p:grpSp>
        <p:nvGrpSpPr>
          <p:cNvPr id="8" name="object 8"/>
          <p:cNvGrpSpPr/>
          <p:nvPr/>
        </p:nvGrpSpPr>
        <p:grpSpPr>
          <a:xfrm>
            <a:off x="8234990" y="4048453"/>
            <a:ext cx="2677795" cy="3914775"/>
            <a:chOff x="8234990" y="4048453"/>
            <a:chExt cx="2677795" cy="3914775"/>
          </a:xfrm>
        </p:grpSpPr>
        <p:sp>
          <p:nvSpPr>
            <p:cNvPr id="9" name="object 9"/>
            <p:cNvSpPr/>
            <p:nvPr/>
          </p:nvSpPr>
          <p:spPr>
            <a:xfrm>
              <a:off x="9581315" y="6914346"/>
              <a:ext cx="0" cy="991869"/>
            </a:xfrm>
            <a:custGeom>
              <a:avLst/>
              <a:gdLst/>
              <a:ahLst/>
              <a:cxnLst/>
              <a:rect l="l" t="t" r="r" b="b"/>
              <a:pathLst>
                <a:path h="991870">
                  <a:moveTo>
                    <a:pt x="0" y="991684"/>
                  </a:moveTo>
                  <a:lnTo>
                    <a:pt x="0" y="0"/>
                  </a:lnTo>
                </a:path>
              </a:pathLst>
            </a:custGeom>
            <a:ln w="114299">
              <a:solidFill>
                <a:srgbClr val="000000"/>
              </a:solidFill>
            </a:ln>
          </p:spPr>
          <p:txBody>
            <a:bodyPr wrap="square" lIns="0" tIns="0" rIns="0" bIns="0" rtlCol="0"/>
            <a:lstStyle/>
            <a:p>
              <a:endParaRPr/>
            </a:p>
          </p:txBody>
        </p:sp>
        <p:sp>
          <p:nvSpPr>
            <p:cNvPr id="10" name="object 10"/>
            <p:cNvSpPr/>
            <p:nvPr/>
          </p:nvSpPr>
          <p:spPr>
            <a:xfrm>
              <a:off x="9409865" y="6914346"/>
              <a:ext cx="342900" cy="228600"/>
            </a:xfrm>
            <a:custGeom>
              <a:avLst/>
              <a:gdLst/>
              <a:ahLst/>
              <a:cxnLst/>
              <a:rect l="l" t="t" r="r" b="b"/>
              <a:pathLst>
                <a:path w="342900" h="228600">
                  <a:moveTo>
                    <a:pt x="0" y="228599"/>
                  </a:moveTo>
                  <a:lnTo>
                    <a:pt x="171449" y="0"/>
                  </a:lnTo>
                  <a:lnTo>
                    <a:pt x="342899" y="228599"/>
                  </a:lnTo>
                </a:path>
              </a:pathLst>
            </a:custGeom>
            <a:ln w="114299">
              <a:solidFill>
                <a:srgbClr val="000000"/>
              </a:solidFill>
            </a:ln>
          </p:spPr>
          <p:txBody>
            <a:bodyPr wrap="square" lIns="0" tIns="0" rIns="0" bIns="0" rtlCol="0"/>
            <a:lstStyle/>
            <a:p>
              <a:endParaRPr/>
            </a:p>
          </p:txBody>
        </p:sp>
        <p:sp>
          <p:nvSpPr>
            <p:cNvPr id="11" name="object 11"/>
            <p:cNvSpPr/>
            <p:nvPr/>
          </p:nvSpPr>
          <p:spPr>
            <a:xfrm>
              <a:off x="8234990" y="4048453"/>
              <a:ext cx="2677795" cy="2190115"/>
            </a:xfrm>
            <a:custGeom>
              <a:avLst/>
              <a:gdLst/>
              <a:ahLst/>
              <a:cxnLst/>
              <a:rect l="l" t="t" r="r" b="b"/>
              <a:pathLst>
                <a:path w="2677795" h="2190115">
                  <a:moveTo>
                    <a:pt x="2677729" y="2190091"/>
                  </a:moveTo>
                  <a:lnTo>
                    <a:pt x="0" y="2190091"/>
                  </a:lnTo>
                  <a:lnTo>
                    <a:pt x="0" y="0"/>
                  </a:lnTo>
                  <a:lnTo>
                    <a:pt x="2677729" y="0"/>
                  </a:lnTo>
                  <a:lnTo>
                    <a:pt x="2677729" y="2190091"/>
                  </a:lnTo>
                  <a:close/>
                </a:path>
              </a:pathLst>
            </a:custGeom>
            <a:solidFill>
              <a:srgbClr val="326BE4"/>
            </a:solidFill>
          </p:spPr>
          <p:txBody>
            <a:bodyPr wrap="square" lIns="0" tIns="0" rIns="0" bIns="0" rtlCol="0"/>
            <a:lstStyle/>
            <a:p>
              <a:endParaRPr/>
            </a:p>
          </p:txBody>
        </p:sp>
      </p:grpSp>
      <p:sp>
        <p:nvSpPr>
          <p:cNvPr id="12" name="object 12"/>
          <p:cNvSpPr txBox="1"/>
          <p:nvPr/>
        </p:nvSpPr>
        <p:spPr>
          <a:xfrm>
            <a:off x="8234990" y="4048453"/>
            <a:ext cx="2677795" cy="2190115"/>
          </a:xfrm>
          <a:prstGeom prst="rect">
            <a:avLst/>
          </a:prstGeom>
        </p:spPr>
        <p:txBody>
          <a:bodyPr vert="horz" wrap="square" lIns="0" tIns="636269" rIns="0" bIns="0" rtlCol="0">
            <a:spAutoFit/>
          </a:bodyPr>
          <a:lstStyle/>
          <a:p>
            <a:pPr marL="424815">
              <a:lnSpc>
                <a:spcPct val="100000"/>
              </a:lnSpc>
              <a:spcBef>
                <a:spcPts val="5009"/>
              </a:spcBef>
            </a:pPr>
            <a:r>
              <a:rPr sz="5000" b="1" spc="320" dirty="0">
                <a:solidFill>
                  <a:srgbClr val="FFFFFF"/>
                </a:solidFill>
                <a:latin typeface="Times New Roman"/>
                <a:cs typeface="Times New Roman"/>
              </a:rPr>
              <a:t>cont-</a:t>
            </a:r>
            <a:r>
              <a:rPr sz="5000" b="1" spc="250" dirty="0">
                <a:solidFill>
                  <a:srgbClr val="FFFFFF"/>
                </a:solidFill>
                <a:latin typeface="Times New Roman"/>
                <a:cs typeface="Times New Roman"/>
              </a:rPr>
              <a:t>2</a:t>
            </a:r>
            <a:endParaRPr sz="5000">
              <a:latin typeface="Times New Roman"/>
              <a:cs typeface="Times New Roman"/>
            </a:endParaRPr>
          </a:p>
        </p:txBody>
      </p:sp>
      <p:sp>
        <p:nvSpPr>
          <p:cNvPr id="13" name="object 13"/>
          <p:cNvSpPr/>
          <p:nvPr/>
        </p:nvSpPr>
        <p:spPr>
          <a:xfrm>
            <a:off x="8127175" y="3569906"/>
            <a:ext cx="3141980" cy="2895600"/>
          </a:xfrm>
          <a:custGeom>
            <a:avLst/>
            <a:gdLst/>
            <a:ahLst/>
            <a:cxnLst/>
            <a:rect l="l" t="t" r="r" b="b"/>
            <a:pathLst>
              <a:path w="3141979" h="2895600">
                <a:moveTo>
                  <a:pt x="1663" y="2857462"/>
                </a:moveTo>
                <a:lnTo>
                  <a:pt x="1600" y="2856750"/>
                </a:lnTo>
                <a:lnTo>
                  <a:pt x="1485" y="2855582"/>
                </a:lnTo>
                <a:lnTo>
                  <a:pt x="508" y="2845193"/>
                </a:lnTo>
                <a:lnTo>
                  <a:pt x="596" y="2846070"/>
                </a:lnTo>
                <a:lnTo>
                  <a:pt x="1117" y="2851569"/>
                </a:lnTo>
                <a:lnTo>
                  <a:pt x="1295" y="2852293"/>
                </a:lnTo>
                <a:lnTo>
                  <a:pt x="1536" y="2855582"/>
                </a:lnTo>
                <a:lnTo>
                  <a:pt x="1536" y="2852877"/>
                </a:lnTo>
                <a:lnTo>
                  <a:pt x="1498" y="2848533"/>
                </a:lnTo>
                <a:lnTo>
                  <a:pt x="1524" y="2848737"/>
                </a:lnTo>
                <a:lnTo>
                  <a:pt x="1498" y="2845574"/>
                </a:lnTo>
                <a:lnTo>
                  <a:pt x="1511" y="2843885"/>
                </a:lnTo>
                <a:lnTo>
                  <a:pt x="1473" y="2843314"/>
                </a:lnTo>
                <a:lnTo>
                  <a:pt x="1409" y="2832087"/>
                </a:lnTo>
                <a:lnTo>
                  <a:pt x="508" y="2832087"/>
                </a:lnTo>
                <a:lnTo>
                  <a:pt x="584" y="2838742"/>
                </a:lnTo>
                <a:lnTo>
                  <a:pt x="393" y="2834652"/>
                </a:lnTo>
                <a:lnTo>
                  <a:pt x="63" y="2841663"/>
                </a:lnTo>
                <a:lnTo>
                  <a:pt x="0" y="2846070"/>
                </a:lnTo>
                <a:lnTo>
                  <a:pt x="736" y="2857462"/>
                </a:lnTo>
                <a:lnTo>
                  <a:pt x="1536" y="2857462"/>
                </a:lnTo>
                <a:lnTo>
                  <a:pt x="1663" y="2857462"/>
                </a:lnTo>
                <a:close/>
              </a:path>
              <a:path w="3141979" h="2895600">
                <a:moveTo>
                  <a:pt x="1689" y="2857766"/>
                </a:moveTo>
                <a:lnTo>
                  <a:pt x="1536" y="2857462"/>
                </a:lnTo>
                <a:lnTo>
                  <a:pt x="1562" y="2857766"/>
                </a:lnTo>
                <a:lnTo>
                  <a:pt x="1689" y="2859214"/>
                </a:lnTo>
                <a:lnTo>
                  <a:pt x="1689" y="2857766"/>
                </a:lnTo>
                <a:close/>
              </a:path>
              <a:path w="3141979" h="2895600">
                <a:moveTo>
                  <a:pt x="20027" y="2794863"/>
                </a:moveTo>
                <a:lnTo>
                  <a:pt x="16471" y="2806700"/>
                </a:lnTo>
                <a:lnTo>
                  <a:pt x="18935" y="2802102"/>
                </a:lnTo>
                <a:lnTo>
                  <a:pt x="20027" y="2794863"/>
                </a:lnTo>
                <a:close/>
              </a:path>
              <a:path w="3141979" h="2895600">
                <a:moveTo>
                  <a:pt x="3133344" y="2406853"/>
                </a:moveTo>
                <a:lnTo>
                  <a:pt x="3133128" y="2406231"/>
                </a:lnTo>
                <a:lnTo>
                  <a:pt x="3131020" y="2402967"/>
                </a:lnTo>
                <a:lnTo>
                  <a:pt x="3133344" y="2406853"/>
                </a:lnTo>
                <a:close/>
              </a:path>
              <a:path w="3141979" h="2895600">
                <a:moveTo>
                  <a:pt x="3141853" y="2437511"/>
                </a:moveTo>
                <a:lnTo>
                  <a:pt x="3141764" y="2435174"/>
                </a:lnTo>
                <a:lnTo>
                  <a:pt x="3141522" y="2428900"/>
                </a:lnTo>
                <a:lnTo>
                  <a:pt x="3140926" y="2425827"/>
                </a:lnTo>
                <a:lnTo>
                  <a:pt x="3140926" y="2436177"/>
                </a:lnTo>
                <a:lnTo>
                  <a:pt x="3138271" y="2420848"/>
                </a:lnTo>
                <a:lnTo>
                  <a:pt x="3138360" y="2421305"/>
                </a:lnTo>
                <a:lnTo>
                  <a:pt x="3140926" y="2436177"/>
                </a:lnTo>
                <a:lnTo>
                  <a:pt x="3140926" y="2425827"/>
                </a:lnTo>
                <a:lnTo>
                  <a:pt x="3128861" y="2399627"/>
                </a:lnTo>
                <a:lnTo>
                  <a:pt x="3125660" y="2394648"/>
                </a:lnTo>
                <a:lnTo>
                  <a:pt x="3123577" y="2393111"/>
                </a:lnTo>
                <a:lnTo>
                  <a:pt x="3115310" y="2382913"/>
                </a:lnTo>
                <a:lnTo>
                  <a:pt x="3109150" y="2376551"/>
                </a:lnTo>
                <a:lnTo>
                  <a:pt x="3066961" y="2335530"/>
                </a:lnTo>
                <a:lnTo>
                  <a:pt x="3034373" y="2306663"/>
                </a:lnTo>
                <a:lnTo>
                  <a:pt x="2997263" y="2275052"/>
                </a:lnTo>
                <a:lnTo>
                  <a:pt x="2956420" y="2241219"/>
                </a:lnTo>
                <a:lnTo>
                  <a:pt x="2912656" y="2205698"/>
                </a:lnTo>
                <a:lnTo>
                  <a:pt x="2819590" y="2131745"/>
                </a:lnTo>
                <a:lnTo>
                  <a:pt x="2553855" y="1924862"/>
                </a:lnTo>
                <a:lnTo>
                  <a:pt x="2515590" y="1895741"/>
                </a:lnTo>
                <a:lnTo>
                  <a:pt x="2439073" y="1838820"/>
                </a:lnTo>
                <a:lnTo>
                  <a:pt x="2121217" y="1608289"/>
                </a:lnTo>
                <a:lnTo>
                  <a:pt x="2035492" y="1544383"/>
                </a:lnTo>
                <a:lnTo>
                  <a:pt x="1991233" y="1510728"/>
                </a:lnTo>
                <a:lnTo>
                  <a:pt x="1918538" y="1454416"/>
                </a:lnTo>
                <a:lnTo>
                  <a:pt x="1720786" y="1297178"/>
                </a:lnTo>
                <a:lnTo>
                  <a:pt x="1647761" y="1238351"/>
                </a:lnTo>
                <a:lnTo>
                  <a:pt x="2022068" y="876300"/>
                </a:lnTo>
                <a:lnTo>
                  <a:pt x="2222081" y="673100"/>
                </a:lnTo>
                <a:lnTo>
                  <a:pt x="2642501" y="254000"/>
                </a:lnTo>
                <a:lnTo>
                  <a:pt x="2728125" y="152400"/>
                </a:lnTo>
                <a:lnTo>
                  <a:pt x="2813799" y="63500"/>
                </a:lnTo>
                <a:lnTo>
                  <a:pt x="2815437" y="63500"/>
                </a:lnTo>
                <a:lnTo>
                  <a:pt x="2818993" y="50800"/>
                </a:lnTo>
                <a:lnTo>
                  <a:pt x="2822384" y="38100"/>
                </a:lnTo>
                <a:lnTo>
                  <a:pt x="2823540" y="38100"/>
                </a:lnTo>
                <a:lnTo>
                  <a:pt x="2822219" y="25400"/>
                </a:lnTo>
                <a:lnTo>
                  <a:pt x="2819666" y="25400"/>
                </a:lnTo>
                <a:lnTo>
                  <a:pt x="2815945" y="12700"/>
                </a:lnTo>
                <a:lnTo>
                  <a:pt x="2811145" y="12700"/>
                </a:lnTo>
                <a:lnTo>
                  <a:pt x="2805607" y="0"/>
                </a:lnTo>
                <a:lnTo>
                  <a:pt x="2753588" y="0"/>
                </a:lnTo>
                <a:lnTo>
                  <a:pt x="2727185" y="25400"/>
                </a:lnTo>
                <a:lnTo>
                  <a:pt x="2694114" y="63500"/>
                </a:lnTo>
                <a:lnTo>
                  <a:pt x="2616949" y="165100"/>
                </a:lnTo>
                <a:lnTo>
                  <a:pt x="2577376" y="215900"/>
                </a:lnTo>
                <a:lnTo>
                  <a:pt x="2546654" y="241300"/>
                </a:lnTo>
                <a:lnTo>
                  <a:pt x="2516670" y="279400"/>
                </a:lnTo>
                <a:lnTo>
                  <a:pt x="2486228" y="304800"/>
                </a:lnTo>
                <a:lnTo>
                  <a:pt x="2454110" y="342900"/>
                </a:lnTo>
                <a:lnTo>
                  <a:pt x="2419108" y="381000"/>
                </a:lnTo>
                <a:lnTo>
                  <a:pt x="2380030" y="419100"/>
                </a:lnTo>
                <a:lnTo>
                  <a:pt x="2335644" y="469900"/>
                </a:lnTo>
                <a:lnTo>
                  <a:pt x="2311044" y="495300"/>
                </a:lnTo>
                <a:lnTo>
                  <a:pt x="2284260" y="520700"/>
                </a:lnTo>
                <a:lnTo>
                  <a:pt x="2255443" y="546100"/>
                </a:lnTo>
                <a:lnTo>
                  <a:pt x="2158187" y="635000"/>
                </a:lnTo>
                <a:lnTo>
                  <a:pt x="1580832" y="1184414"/>
                </a:lnTo>
                <a:lnTo>
                  <a:pt x="1298003" y="956500"/>
                </a:lnTo>
                <a:lnTo>
                  <a:pt x="1175461" y="859675"/>
                </a:lnTo>
                <a:lnTo>
                  <a:pt x="1097292" y="799122"/>
                </a:lnTo>
                <a:lnTo>
                  <a:pt x="1022858" y="742721"/>
                </a:lnTo>
                <a:lnTo>
                  <a:pt x="987298" y="716343"/>
                </a:lnTo>
                <a:lnTo>
                  <a:pt x="953300" y="691616"/>
                </a:lnTo>
                <a:lnTo>
                  <a:pt x="919213" y="667219"/>
                </a:lnTo>
                <a:lnTo>
                  <a:pt x="850150" y="618820"/>
                </a:lnTo>
                <a:lnTo>
                  <a:pt x="540600" y="406679"/>
                </a:lnTo>
                <a:lnTo>
                  <a:pt x="449033" y="342557"/>
                </a:lnTo>
                <a:lnTo>
                  <a:pt x="349427" y="271399"/>
                </a:lnTo>
                <a:lnTo>
                  <a:pt x="240639" y="191922"/>
                </a:lnTo>
                <a:lnTo>
                  <a:pt x="182435" y="148653"/>
                </a:lnTo>
                <a:lnTo>
                  <a:pt x="176860" y="146786"/>
                </a:lnTo>
                <a:lnTo>
                  <a:pt x="163614" y="142938"/>
                </a:lnTo>
                <a:lnTo>
                  <a:pt x="147866" y="139814"/>
                </a:lnTo>
                <a:lnTo>
                  <a:pt x="134810" y="140081"/>
                </a:lnTo>
                <a:lnTo>
                  <a:pt x="102514" y="171018"/>
                </a:lnTo>
                <a:lnTo>
                  <a:pt x="98996" y="190004"/>
                </a:lnTo>
                <a:lnTo>
                  <a:pt x="99110" y="191922"/>
                </a:lnTo>
                <a:lnTo>
                  <a:pt x="118618" y="230568"/>
                </a:lnTo>
                <a:lnTo>
                  <a:pt x="153162" y="261150"/>
                </a:lnTo>
                <a:lnTo>
                  <a:pt x="209143" y="303491"/>
                </a:lnTo>
                <a:lnTo>
                  <a:pt x="243967" y="328460"/>
                </a:lnTo>
                <a:lnTo>
                  <a:pt x="282714" y="355650"/>
                </a:lnTo>
                <a:lnTo>
                  <a:pt x="324891" y="384810"/>
                </a:lnTo>
                <a:lnTo>
                  <a:pt x="676059" y="624001"/>
                </a:lnTo>
                <a:lnTo>
                  <a:pt x="779970" y="696391"/>
                </a:lnTo>
                <a:lnTo>
                  <a:pt x="830122" y="732053"/>
                </a:lnTo>
                <a:lnTo>
                  <a:pt x="878433" y="767041"/>
                </a:lnTo>
                <a:lnTo>
                  <a:pt x="924433" y="801116"/>
                </a:lnTo>
                <a:lnTo>
                  <a:pt x="1002017" y="859891"/>
                </a:lnTo>
                <a:lnTo>
                  <a:pt x="1082294" y="921893"/>
                </a:lnTo>
                <a:lnTo>
                  <a:pt x="1206423" y="1019556"/>
                </a:lnTo>
                <a:lnTo>
                  <a:pt x="1503362" y="1258138"/>
                </a:lnTo>
                <a:lnTo>
                  <a:pt x="1477556" y="1282700"/>
                </a:lnTo>
                <a:lnTo>
                  <a:pt x="1368564" y="1384300"/>
                </a:lnTo>
                <a:lnTo>
                  <a:pt x="1303159" y="1447800"/>
                </a:lnTo>
                <a:lnTo>
                  <a:pt x="1273086" y="1485900"/>
                </a:lnTo>
                <a:lnTo>
                  <a:pt x="1232446" y="1524000"/>
                </a:lnTo>
                <a:lnTo>
                  <a:pt x="1155268" y="1600200"/>
                </a:lnTo>
                <a:lnTo>
                  <a:pt x="1082916" y="1676400"/>
                </a:lnTo>
                <a:lnTo>
                  <a:pt x="1014641" y="1752600"/>
                </a:lnTo>
                <a:lnTo>
                  <a:pt x="949655" y="1816100"/>
                </a:lnTo>
                <a:lnTo>
                  <a:pt x="887222" y="1892300"/>
                </a:lnTo>
                <a:lnTo>
                  <a:pt x="796696" y="1993900"/>
                </a:lnTo>
                <a:lnTo>
                  <a:pt x="760374" y="2032000"/>
                </a:lnTo>
                <a:lnTo>
                  <a:pt x="726490" y="2070100"/>
                </a:lnTo>
                <a:lnTo>
                  <a:pt x="694309" y="2108200"/>
                </a:lnTo>
                <a:lnTo>
                  <a:pt x="632269" y="2184400"/>
                </a:lnTo>
                <a:lnTo>
                  <a:pt x="600976" y="2222500"/>
                </a:lnTo>
                <a:lnTo>
                  <a:pt x="568540" y="2260600"/>
                </a:lnTo>
                <a:lnTo>
                  <a:pt x="534263" y="2298700"/>
                </a:lnTo>
                <a:lnTo>
                  <a:pt x="497408" y="2336800"/>
                </a:lnTo>
                <a:lnTo>
                  <a:pt x="462737" y="2374900"/>
                </a:lnTo>
                <a:lnTo>
                  <a:pt x="423595" y="2413000"/>
                </a:lnTo>
                <a:lnTo>
                  <a:pt x="381101" y="2451100"/>
                </a:lnTo>
                <a:lnTo>
                  <a:pt x="336359" y="2489200"/>
                </a:lnTo>
                <a:lnTo>
                  <a:pt x="157010" y="2654300"/>
                </a:lnTo>
                <a:lnTo>
                  <a:pt x="117602" y="2692400"/>
                </a:lnTo>
                <a:lnTo>
                  <a:pt x="104178" y="2707005"/>
                </a:lnTo>
                <a:lnTo>
                  <a:pt x="104178" y="2852305"/>
                </a:lnTo>
                <a:lnTo>
                  <a:pt x="104051" y="2848737"/>
                </a:lnTo>
                <a:lnTo>
                  <a:pt x="103886" y="2846070"/>
                </a:lnTo>
                <a:lnTo>
                  <a:pt x="103911" y="2841663"/>
                </a:lnTo>
                <a:lnTo>
                  <a:pt x="103492" y="2832087"/>
                </a:lnTo>
                <a:lnTo>
                  <a:pt x="103606" y="2834652"/>
                </a:lnTo>
                <a:lnTo>
                  <a:pt x="103784" y="2838742"/>
                </a:lnTo>
                <a:lnTo>
                  <a:pt x="103974" y="2841574"/>
                </a:lnTo>
                <a:lnTo>
                  <a:pt x="104051" y="2846070"/>
                </a:lnTo>
                <a:lnTo>
                  <a:pt x="104165" y="2851569"/>
                </a:lnTo>
                <a:lnTo>
                  <a:pt x="104178" y="2852305"/>
                </a:lnTo>
                <a:lnTo>
                  <a:pt x="104178" y="2707005"/>
                </a:lnTo>
                <a:lnTo>
                  <a:pt x="102552" y="2708770"/>
                </a:lnTo>
                <a:lnTo>
                  <a:pt x="102552" y="2828163"/>
                </a:lnTo>
                <a:lnTo>
                  <a:pt x="101917" y="2826308"/>
                </a:lnTo>
                <a:lnTo>
                  <a:pt x="101879" y="2826105"/>
                </a:lnTo>
                <a:lnTo>
                  <a:pt x="101968" y="2826308"/>
                </a:lnTo>
                <a:lnTo>
                  <a:pt x="102552" y="2828163"/>
                </a:lnTo>
                <a:lnTo>
                  <a:pt x="102552" y="2708770"/>
                </a:lnTo>
                <a:lnTo>
                  <a:pt x="101688" y="2709710"/>
                </a:lnTo>
                <a:lnTo>
                  <a:pt x="101688" y="2825458"/>
                </a:lnTo>
                <a:lnTo>
                  <a:pt x="99771" y="2819400"/>
                </a:lnTo>
                <a:lnTo>
                  <a:pt x="100050" y="2819400"/>
                </a:lnTo>
                <a:lnTo>
                  <a:pt x="101688" y="2825458"/>
                </a:lnTo>
                <a:lnTo>
                  <a:pt x="101688" y="2709710"/>
                </a:lnTo>
                <a:lnTo>
                  <a:pt x="99695" y="2711881"/>
                </a:lnTo>
                <a:lnTo>
                  <a:pt x="99695" y="2818282"/>
                </a:lnTo>
                <a:lnTo>
                  <a:pt x="98945" y="2806700"/>
                </a:lnTo>
                <a:lnTo>
                  <a:pt x="99695" y="2818282"/>
                </a:lnTo>
                <a:lnTo>
                  <a:pt x="99695" y="2711881"/>
                </a:lnTo>
                <a:lnTo>
                  <a:pt x="82575" y="2730500"/>
                </a:lnTo>
                <a:lnTo>
                  <a:pt x="53035" y="2755900"/>
                </a:lnTo>
                <a:lnTo>
                  <a:pt x="30086" y="2781300"/>
                </a:lnTo>
                <a:lnTo>
                  <a:pt x="19634" y="2800807"/>
                </a:lnTo>
                <a:lnTo>
                  <a:pt x="19507" y="2802102"/>
                </a:lnTo>
                <a:lnTo>
                  <a:pt x="19062" y="2806700"/>
                </a:lnTo>
                <a:lnTo>
                  <a:pt x="25057" y="2794000"/>
                </a:lnTo>
                <a:lnTo>
                  <a:pt x="25463" y="2794000"/>
                </a:lnTo>
                <a:lnTo>
                  <a:pt x="19062" y="2806700"/>
                </a:lnTo>
                <a:lnTo>
                  <a:pt x="19558" y="2800934"/>
                </a:lnTo>
                <a:lnTo>
                  <a:pt x="18935" y="2802102"/>
                </a:lnTo>
                <a:lnTo>
                  <a:pt x="18237" y="2806700"/>
                </a:lnTo>
                <a:lnTo>
                  <a:pt x="16471" y="2806700"/>
                </a:lnTo>
                <a:lnTo>
                  <a:pt x="14795" y="2806700"/>
                </a:lnTo>
                <a:lnTo>
                  <a:pt x="14401" y="2806700"/>
                </a:lnTo>
                <a:lnTo>
                  <a:pt x="12065" y="2806700"/>
                </a:lnTo>
                <a:lnTo>
                  <a:pt x="8674" y="2806700"/>
                </a:lnTo>
                <a:lnTo>
                  <a:pt x="8318" y="2815933"/>
                </a:lnTo>
                <a:lnTo>
                  <a:pt x="8216" y="2818282"/>
                </a:lnTo>
                <a:lnTo>
                  <a:pt x="8178" y="2819400"/>
                </a:lnTo>
                <a:lnTo>
                  <a:pt x="3200" y="2819400"/>
                </a:lnTo>
                <a:lnTo>
                  <a:pt x="3086" y="2820225"/>
                </a:lnTo>
                <a:lnTo>
                  <a:pt x="2971" y="2824226"/>
                </a:lnTo>
                <a:lnTo>
                  <a:pt x="2857" y="2828163"/>
                </a:lnTo>
                <a:lnTo>
                  <a:pt x="2755" y="2832087"/>
                </a:lnTo>
                <a:lnTo>
                  <a:pt x="1701" y="2832087"/>
                </a:lnTo>
                <a:lnTo>
                  <a:pt x="1790" y="2831198"/>
                </a:lnTo>
                <a:lnTo>
                  <a:pt x="2006" y="2828163"/>
                </a:lnTo>
                <a:lnTo>
                  <a:pt x="1612" y="2831198"/>
                </a:lnTo>
                <a:lnTo>
                  <a:pt x="1524" y="2845574"/>
                </a:lnTo>
                <a:lnTo>
                  <a:pt x="1524" y="2846070"/>
                </a:lnTo>
                <a:lnTo>
                  <a:pt x="1651" y="2856750"/>
                </a:lnTo>
                <a:lnTo>
                  <a:pt x="1663" y="2857462"/>
                </a:lnTo>
                <a:lnTo>
                  <a:pt x="3454" y="2857462"/>
                </a:lnTo>
                <a:lnTo>
                  <a:pt x="3352" y="2856750"/>
                </a:lnTo>
                <a:lnTo>
                  <a:pt x="3644" y="2857284"/>
                </a:lnTo>
                <a:lnTo>
                  <a:pt x="3721" y="2856750"/>
                </a:lnTo>
                <a:lnTo>
                  <a:pt x="3810" y="2856077"/>
                </a:lnTo>
                <a:lnTo>
                  <a:pt x="3873" y="2855582"/>
                </a:lnTo>
                <a:lnTo>
                  <a:pt x="5372" y="2844787"/>
                </a:lnTo>
                <a:lnTo>
                  <a:pt x="5270" y="2845574"/>
                </a:lnTo>
                <a:lnTo>
                  <a:pt x="5207" y="2846070"/>
                </a:lnTo>
                <a:lnTo>
                  <a:pt x="3911" y="2856611"/>
                </a:lnTo>
                <a:lnTo>
                  <a:pt x="3886" y="2857766"/>
                </a:lnTo>
                <a:lnTo>
                  <a:pt x="7734" y="2869641"/>
                </a:lnTo>
                <a:lnTo>
                  <a:pt x="4178" y="2859494"/>
                </a:lnTo>
                <a:lnTo>
                  <a:pt x="3517" y="2857766"/>
                </a:lnTo>
                <a:lnTo>
                  <a:pt x="4838" y="2870200"/>
                </a:lnTo>
                <a:lnTo>
                  <a:pt x="7924" y="2870200"/>
                </a:lnTo>
                <a:lnTo>
                  <a:pt x="11480" y="2870200"/>
                </a:lnTo>
                <a:lnTo>
                  <a:pt x="11963" y="2878074"/>
                </a:lnTo>
                <a:lnTo>
                  <a:pt x="12065" y="2878696"/>
                </a:lnTo>
                <a:lnTo>
                  <a:pt x="12141" y="2879153"/>
                </a:lnTo>
                <a:lnTo>
                  <a:pt x="12217" y="2882366"/>
                </a:lnTo>
                <a:lnTo>
                  <a:pt x="12039" y="2879941"/>
                </a:lnTo>
                <a:lnTo>
                  <a:pt x="12065" y="2882366"/>
                </a:lnTo>
                <a:lnTo>
                  <a:pt x="12077" y="2882900"/>
                </a:lnTo>
                <a:lnTo>
                  <a:pt x="12242" y="2882900"/>
                </a:lnTo>
                <a:lnTo>
                  <a:pt x="25082" y="2882900"/>
                </a:lnTo>
                <a:lnTo>
                  <a:pt x="25425" y="2884957"/>
                </a:lnTo>
                <a:lnTo>
                  <a:pt x="25120" y="2883814"/>
                </a:lnTo>
                <a:lnTo>
                  <a:pt x="25184" y="2885160"/>
                </a:lnTo>
                <a:lnTo>
                  <a:pt x="25298" y="2887510"/>
                </a:lnTo>
                <a:lnTo>
                  <a:pt x="25463" y="2890736"/>
                </a:lnTo>
                <a:lnTo>
                  <a:pt x="25514" y="2891777"/>
                </a:lnTo>
                <a:lnTo>
                  <a:pt x="25603" y="2893796"/>
                </a:lnTo>
                <a:lnTo>
                  <a:pt x="25692" y="2895600"/>
                </a:lnTo>
                <a:lnTo>
                  <a:pt x="27203" y="2895600"/>
                </a:lnTo>
                <a:lnTo>
                  <a:pt x="73698" y="2895600"/>
                </a:lnTo>
                <a:lnTo>
                  <a:pt x="81902" y="2895600"/>
                </a:lnTo>
                <a:lnTo>
                  <a:pt x="82931" y="2895600"/>
                </a:lnTo>
                <a:lnTo>
                  <a:pt x="83566" y="2895600"/>
                </a:lnTo>
                <a:lnTo>
                  <a:pt x="83807" y="2893796"/>
                </a:lnTo>
                <a:lnTo>
                  <a:pt x="88150" y="2884957"/>
                </a:lnTo>
                <a:lnTo>
                  <a:pt x="88480" y="2884182"/>
                </a:lnTo>
                <a:lnTo>
                  <a:pt x="88709" y="2883814"/>
                </a:lnTo>
                <a:lnTo>
                  <a:pt x="88569" y="2883928"/>
                </a:lnTo>
                <a:lnTo>
                  <a:pt x="87858" y="2884487"/>
                </a:lnTo>
                <a:lnTo>
                  <a:pt x="87858" y="2885160"/>
                </a:lnTo>
                <a:lnTo>
                  <a:pt x="84086" y="2891777"/>
                </a:lnTo>
                <a:lnTo>
                  <a:pt x="84670" y="2887510"/>
                </a:lnTo>
                <a:lnTo>
                  <a:pt x="87858" y="2885160"/>
                </a:lnTo>
                <a:lnTo>
                  <a:pt x="87858" y="2884487"/>
                </a:lnTo>
                <a:lnTo>
                  <a:pt x="84759" y="2886913"/>
                </a:lnTo>
                <a:lnTo>
                  <a:pt x="85305" y="2882900"/>
                </a:lnTo>
                <a:lnTo>
                  <a:pt x="89877" y="2882900"/>
                </a:lnTo>
                <a:lnTo>
                  <a:pt x="88709" y="2883814"/>
                </a:lnTo>
                <a:lnTo>
                  <a:pt x="88150" y="2884957"/>
                </a:lnTo>
                <a:lnTo>
                  <a:pt x="90944" y="2882900"/>
                </a:lnTo>
                <a:lnTo>
                  <a:pt x="94627" y="2882900"/>
                </a:lnTo>
                <a:lnTo>
                  <a:pt x="96647" y="2879941"/>
                </a:lnTo>
                <a:lnTo>
                  <a:pt x="97929" y="2878074"/>
                </a:lnTo>
                <a:lnTo>
                  <a:pt x="103327" y="2870200"/>
                </a:lnTo>
                <a:lnTo>
                  <a:pt x="140576" y="2844787"/>
                </a:lnTo>
                <a:lnTo>
                  <a:pt x="182460" y="2794000"/>
                </a:lnTo>
                <a:lnTo>
                  <a:pt x="190614" y="2794000"/>
                </a:lnTo>
                <a:lnTo>
                  <a:pt x="288201" y="2692400"/>
                </a:lnTo>
                <a:lnTo>
                  <a:pt x="357174" y="2616200"/>
                </a:lnTo>
                <a:lnTo>
                  <a:pt x="393255" y="2590800"/>
                </a:lnTo>
                <a:lnTo>
                  <a:pt x="465721" y="2514600"/>
                </a:lnTo>
                <a:lnTo>
                  <a:pt x="500951" y="2476500"/>
                </a:lnTo>
                <a:lnTo>
                  <a:pt x="534720" y="2438400"/>
                </a:lnTo>
                <a:lnTo>
                  <a:pt x="566483" y="2400300"/>
                </a:lnTo>
                <a:lnTo>
                  <a:pt x="599033" y="2362200"/>
                </a:lnTo>
                <a:lnTo>
                  <a:pt x="629475" y="2324100"/>
                </a:lnTo>
                <a:lnTo>
                  <a:pt x="658609" y="2298700"/>
                </a:lnTo>
                <a:lnTo>
                  <a:pt x="716153" y="2222500"/>
                </a:lnTo>
                <a:lnTo>
                  <a:pt x="746163" y="2184400"/>
                </a:lnTo>
                <a:lnTo>
                  <a:pt x="778052" y="2146300"/>
                </a:lnTo>
                <a:lnTo>
                  <a:pt x="812634" y="2108200"/>
                </a:lnTo>
                <a:lnTo>
                  <a:pt x="903160" y="2006600"/>
                </a:lnTo>
                <a:lnTo>
                  <a:pt x="967003" y="1930400"/>
                </a:lnTo>
                <a:lnTo>
                  <a:pt x="1034770" y="1854200"/>
                </a:lnTo>
                <a:lnTo>
                  <a:pt x="1070432" y="1816100"/>
                </a:lnTo>
                <a:lnTo>
                  <a:pt x="1107427" y="1778000"/>
                </a:lnTo>
                <a:lnTo>
                  <a:pt x="1145895" y="1739900"/>
                </a:lnTo>
                <a:lnTo>
                  <a:pt x="1185951" y="1701800"/>
                </a:lnTo>
                <a:lnTo>
                  <a:pt x="1227721" y="1651000"/>
                </a:lnTo>
                <a:lnTo>
                  <a:pt x="1292961" y="1587500"/>
                </a:lnTo>
                <a:lnTo>
                  <a:pt x="1339303" y="1536700"/>
                </a:lnTo>
                <a:lnTo>
                  <a:pt x="1571053" y="1312532"/>
                </a:lnTo>
                <a:lnTo>
                  <a:pt x="1864296" y="1548130"/>
                </a:lnTo>
                <a:lnTo>
                  <a:pt x="1971230" y="1631696"/>
                </a:lnTo>
                <a:lnTo>
                  <a:pt x="2015794" y="1665782"/>
                </a:lnTo>
                <a:lnTo>
                  <a:pt x="2100884" y="1729574"/>
                </a:lnTo>
                <a:lnTo>
                  <a:pt x="2334666" y="1900694"/>
                </a:lnTo>
                <a:lnTo>
                  <a:pt x="2409418" y="1956358"/>
                </a:lnTo>
                <a:lnTo>
                  <a:pt x="2446883" y="1984844"/>
                </a:lnTo>
                <a:lnTo>
                  <a:pt x="2484602" y="2014042"/>
                </a:lnTo>
                <a:lnTo>
                  <a:pt x="2522728" y="2044128"/>
                </a:lnTo>
                <a:lnTo>
                  <a:pt x="2562364" y="2076437"/>
                </a:lnTo>
                <a:lnTo>
                  <a:pt x="2604122" y="2111603"/>
                </a:lnTo>
                <a:lnTo>
                  <a:pt x="2647404" y="2148916"/>
                </a:lnTo>
                <a:lnTo>
                  <a:pt x="2904172" y="2376030"/>
                </a:lnTo>
                <a:lnTo>
                  <a:pt x="2940735" y="2407501"/>
                </a:lnTo>
                <a:lnTo>
                  <a:pt x="2973882" y="2435174"/>
                </a:lnTo>
                <a:lnTo>
                  <a:pt x="3027426" y="2476169"/>
                </a:lnTo>
                <a:lnTo>
                  <a:pt x="3049676" y="2489504"/>
                </a:lnTo>
                <a:lnTo>
                  <a:pt x="3047885" y="2488120"/>
                </a:lnTo>
                <a:lnTo>
                  <a:pt x="3050057" y="2489682"/>
                </a:lnTo>
                <a:lnTo>
                  <a:pt x="3058731" y="2493937"/>
                </a:lnTo>
                <a:lnTo>
                  <a:pt x="3058871" y="2493937"/>
                </a:lnTo>
                <a:lnTo>
                  <a:pt x="3059544" y="2494191"/>
                </a:lnTo>
                <a:lnTo>
                  <a:pt x="3067481" y="2497048"/>
                </a:lnTo>
                <a:lnTo>
                  <a:pt x="3067126" y="2497048"/>
                </a:lnTo>
                <a:lnTo>
                  <a:pt x="3076067" y="2498585"/>
                </a:lnTo>
                <a:lnTo>
                  <a:pt x="3084030" y="2498585"/>
                </a:lnTo>
                <a:lnTo>
                  <a:pt x="3087370" y="2498064"/>
                </a:lnTo>
                <a:lnTo>
                  <a:pt x="3093796" y="2497048"/>
                </a:lnTo>
                <a:lnTo>
                  <a:pt x="3097085" y="2496566"/>
                </a:lnTo>
                <a:lnTo>
                  <a:pt x="3105886" y="2493289"/>
                </a:lnTo>
                <a:lnTo>
                  <a:pt x="3109645" y="2491079"/>
                </a:lnTo>
                <a:lnTo>
                  <a:pt x="3112960" y="2489504"/>
                </a:lnTo>
                <a:lnTo>
                  <a:pt x="3120898" y="2484183"/>
                </a:lnTo>
                <a:lnTo>
                  <a:pt x="3127768" y="2477097"/>
                </a:lnTo>
                <a:lnTo>
                  <a:pt x="3129076" y="2475280"/>
                </a:lnTo>
                <a:lnTo>
                  <a:pt x="3129330" y="2474874"/>
                </a:lnTo>
                <a:lnTo>
                  <a:pt x="3129445" y="2474696"/>
                </a:lnTo>
                <a:lnTo>
                  <a:pt x="3129635" y="2474391"/>
                </a:lnTo>
                <a:lnTo>
                  <a:pt x="3133661" y="2468943"/>
                </a:lnTo>
                <a:lnTo>
                  <a:pt x="3134868" y="2466581"/>
                </a:lnTo>
                <a:lnTo>
                  <a:pt x="3138309" y="2459672"/>
                </a:lnTo>
                <a:lnTo>
                  <a:pt x="3140900" y="2449893"/>
                </a:lnTo>
                <a:lnTo>
                  <a:pt x="3140913" y="2447709"/>
                </a:lnTo>
                <a:lnTo>
                  <a:pt x="3140799" y="2448166"/>
                </a:lnTo>
                <a:lnTo>
                  <a:pt x="3138513" y="2457158"/>
                </a:lnTo>
                <a:lnTo>
                  <a:pt x="3140748" y="2448166"/>
                </a:lnTo>
                <a:lnTo>
                  <a:pt x="3140900" y="2447709"/>
                </a:lnTo>
                <a:lnTo>
                  <a:pt x="3140900" y="2447213"/>
                </a:lnTo>
                <a:lnTo>
                  <a:pt x="3141027" y="2446655"/>
                </a:lnTo>
                <a:lnTo>
                  <a:pt x="3141853" y="2437511"/>
                </a:lnTo>
                <a:close/>
              </a:path>
            </a:pathLst>
          </a:custGeom>
          <a:solidFill>
            <a:srgbClr val="E7181F"/>
          </a:solidFill>
        </p:spPr>
        <p:txBody>
          <a:bodyPr wrap="square" lIns="0" tIns="0" rIns="0" bIns="0" rtlCol="0"/>
          <a:lstStyle/>
          <a:p>
            <a:endParaRPr/>
          </a:p>
        </p:txBody>
      </p:sp>
      <p:sp>
        <p:nvSpPr>
          <p:cNvPr id="14" name="object 14"/>
          <p:cNvSpPr txBox="1"/>
          <p:nvPr/>
        </p:nvSpPr>
        <p:spPr>
          <a:xfrm>
            <a:off x="7620744" y="7906052"/>
            <a:ext cx="3920490" cy="1893570"/>
          </a:xfrm>
          <a:prstGeom prst="rect">
            <a:avLst/>
          </a:prstGeom>
          <a:solidFill>
            <a:srgbClr val="FFDE58"/>
          </a:solidFill>
        </p:spPr>
        <p:txBody>
          <a:bodyPr vert="horz" wrap="square" lIns="0" tIns="303530" rIns="0" bIns="0" rtlCol="0">
            <a:spAutoFit/>
          </a:bodyPr>
          <a:lstStyle/>
          <a:p>
            <a:pPr marL="1402080" marR="1228090" indent="-191135">
              <a:lnSpc>
                <a:spcPct val="117600"/>
              </a:lnSpc>
              <a:spcBef>
                <a:spcPts val="2390"/>
              </a:spcBef>
            </a:pPr>
            <a:r>
              <a:rPr sz="3250" b="1" spc="220" dirty="0">
                <a:solidFill>
                  <a:srgbClr val="FF3131"/>
                </a:solidFill>
                <a:latin typeface="Times New Roman"/>
                <a:cs typeface="Times New Roman"/>
              </a:rPr>
              <a:t>volume </a:t>
            </a:r>
            <a:r>
              <a:rPr sz="3250" b="1" spc="-10" dirty="0">
                <a:solidFill>
                  <a:srgbClr val="FF3131"/>
                </a:solidFill>
                <a:latin typeface="Times New Roman"/>
                <a:cs typeface="Times New Roman"/>
              </a:rPr>
              <a:t>(data)</a:t>
            </a:r>
            <a:endParaRPr sz="3250">
              <a:latin typeface="Times New Roman"/>
              <a:cs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144918" y="2753311"/>
            <a:ext cx="9996170" cy="4603115"/>
            <a:chOff x="4144918" y="2753311"/>
            <a:chExt cx="9996170" cy="4603115"/>
          </a:xfrm>
        </p:grpSpPr>
        <p:sp>
          <p:nvSpPr>
            <p:cNvPr id="3" name="object 3"/>
            <p:cNvSpPr/>
            <p:nvPr/>
          </p:nvSpPr>
          <p:spPr>
            <a:xfrm>
              <a:off x="4144918" y="2753311"/>
              <a:ext cx="9996170" cy="4603115"/>
            </a:xfrm>
            <a:custGeom>
              <a:avLst/>
              <a:gdLst/>
              <a:ahLst/>
              <a:cxnLst/>
              <a:rect l="l" t="t" r="r" b="b"/>
              <a:pathLst>
                <a:path w="9996169" h="4603115">
                  <a:moveTo>
                    <a:pt x="9996100" y="4602521"/>
                  </a:moveTo>
                  <a:lnTo>
                    <a:pt x="0" y="4602521"/>
                  </a:lnTo>
                  <a:lnTo>
                    <a:pt x="0" y="0"/>
                  </a:lnTo>
                  <a:lnTo>
                    <a:pt x="9996100" y="0"/>
                  </a:lnTo>
                  <a:lnTo>
                    <a:pt x="9996100" y="4602521"/>
                  </a:lnTo>
                  <a:close/>
                </a:path>
              </a:pathLst>
            </a:custGeom>
            <a:solidFill>
              <a:srgbClr val="D5EFF1"/>
            </a:solidFill>
          </p:spPr>
          <p:txBody>
            <a:bodyPr wrap="square" lIns="0" tIns="0" rIns="0" bIns="0" rtlCol="0"/>
            <a:lstStyle/>
            <a:p>
              <a:endParaRPr/>
            </a:p>
          </p:txBody>
        </p:sp>
        <p:sp>
          <p:nvSpPr>
            <p:cNvPr id="4" name="object 4"/>
            <p:cNvSpPr/>
            <p:nvPr/>
          </p:nvSpPr>
          <p:spPr>
            <a:xfrm>
              <a:off x="5335803" y="3886059"/>
              <a:ext cx="7663180" cy="2190115"/>
            </a:xfrm>
            <a:custGeom>
              <a:avLst/>
              <a:gdLst/>
              <a:ahLst/>
              <a:cxnLst/>
              <a:rect l="l" t="t" r="r" b="b"/>
              <a:pathLst>
                <a:path w="7663180" h="2190115">
                  <a:moveTo>
                    <a:pt x="2677731" y="0"/>
                  </a:moveTo>
                  <a:lnTo>
                    <a:pt x="0" y="0"/>
                  </a:lnTo>
                  <a:lnTo>
                    <a:pt x="0" y="2190089"/>
                  </a:lnTo>
                  <a:lnTo>
                    <a:pt x="2677731" y="2190089"/>
                  </a:lnTo>
                  <a:lnTo>
                    <a:pt x="2677731" y="0"/>
                  </a:lnTo>
                  <a:close/>
                </a:path>
                <a:path w="7663180" h="2190115">
                  <a:moveTo>
                    <a:pt x="7662812" y="0"/>
                  </a:moveTo>
                  <a:lnTo>
                    <a:pt x="4985080" y="0"/>
                  </a:lnTo>
                  <a:lnTo>
                    <a:pt x="4985080" y="2190089"/>
                  </a:lnTo>
                  <a:lnTo>
                    <a:pt x="7662812" y="2190089"/>
                  </a:lnTo>
                  <a:lnTo>
                    <a:pt x="7662812" y="0"/>
                  </a:lnTo>
                  <a:close/>
                </a:path>
              </a:pathLst>
            </a:custGeom>
            <a:solidFill>
              <a:srgbClr val="326BE4"/>
            </a:solidFill>
          </p:spPr>
          <p:txBody>
            <a:bodyPr wrap="square" lIns="0" tIns="0" rIns="0" bIns="0" rtlCol="0"/>
            <a:lstStyle/>
            <a:p>
              <a:endParaRPr/>
            </a:p>
          </p:txBody>
        </p:sp>
      </p:grpSp>
      <p:sp>
        <p:nvSpPr>
          <p:cNvPr id="5" name="object 5"/>
          <p:cNvSpPr/>
          <p:nvPr/>
        </p:nvSpPr>
        <p:spPr>
          <a:xfrm>
            <a:off x="7296713" y="8255417"/>
            <a:ext cx="3799204" cy="1797685"/>
          </a:xfrm>
          <a:custGeom>
            <a:avLst/>
            <a:gdLst/>
            <a:ahLst/>
            <a:cxnLst/>
            <a:rect l="l" t="t" r="r" b="b"/>
            <a:pathLst>
              <a:path w="3799204" h="1797684">
                <a:moveTo>
                  <a:pt x="3798894" y="1797628"/>
                </a:moveTo>
                <a:lnTo>
                  <a:pt x="0" y="1797628"/>
                </a:lnTo>
                <a:lnTo>
                  <a:pt x="0" y="0"/>
                </a:lnTo>
                <a:lnTo>
                  <a:pt x="3798894" y="0"/>
                </a:lnTo>
                <a:lnTo>
                  <a:pt x="3798894" y="1797628"/>
                </a:lnTo>
                <a:close/>
              </a:path>
            </a:pathLst>
          </a:custGeom>
          <a:solidFill>
            <a:srgbClr val="FFDE58"/>
          </a:solidFill>
        </p:spPr>
        <p:txBody>
          <a:bodyPr wrap="square" lIns="0" tIns="0" rIns="0" bIns="0" rtlCol="0"/>
          <a:lstStyle/>
          <a:p>
            <a:endParaRPr/>
          </a:p>
        </p:txBody>
      </p:sp>
      <p:pic>
        <p:nvPicPr>
          <p:cNvPr id="6" name="object 6"/>
          <p:cNvPicPr/>
          <p:nvPr/>
        </p:nvPicPr>
        <p:blipFill>
          <a:blip r:embed="rId2" cstate="print"/>
          <a:stretch>
            <a:fillRect/>
          </a:stretch>
        </p:blipFill>
        <p:spPr>
          <a:xfrm>
            <a:off x="1218112" y="1246250"/>
            <a:ext cx="133350" cy="133349"/>
          </a:xfrm>
          <a:prstGeom prst="rect">
            <a:avLst/>
          </a:prstGeom>
        </p:spPr>
      </p:pic>
      <p:sp>
        <p:nvSpPr>
          <p:cNvPr id="7" name="object 7"/>
          <p:cNvSpPr txBox="1">
            <a:spLocks noGrp="1"/>
          </p:cNvSpPr>
          <p:nvPr>
            <p:ph type="title"/>
          </p:nvPr>
        </p:nvSpPr>
        <p:spPr>
          <a:xfrm>
            <a:off x="1534918" y="829691"/>
            <a:ext cx="15771494" cy="1416050"/>
          </a:xfrm>
          <a:prstGeom prst="rect">
            <a:avLst/>
          </a:prstGeom>
        </p:spPr>
        <p:txBody>
          <a:bodyPr vert="horz" wrap="square" lIns="0" tIns="12700" rIns="0" bIns="0" rtlCol="0">
            <a:spAutoFit/>
          </a:bodyPr>
          <a:lstStyle/>
          <a:p>
            <a:pPr marL="12700" marR="5080">
              <a:lnSpc>
                <a:spcPct val="126699"/>
              </a:lnSpc>
              <a:spcBef>
                <a:spcPts val="100"/>
              </a:spcBef>
            </a:pPr>
            <a:r>
              <a:rPr sz="3600" b="0" dirty="0">
                <a:solidFill>
                  <a:srgbClr val="2E377E"/>
                </a:solidFill>
                <a:latin typeface="Georgia"/>
                <a:cs typeface="Georgia"/>
              </a:rPr>
              <a:t>Multiple</a:t>
            </a:r>
            <a:r>
              <a:rPr sz="3600" b="0" spc="10" dirty="0">
                <a:solidFill>
                  <a:srgbClr val="2E377E"/>
                </a:solidFill>
                <a:latin typeface="Georgia"/>
                <a:cs typeface="Georgia"/>
              </a:rPr>
              <a:t> </a:t>
            </a:r>
            <a:r>
              <a:rPr sz="3600" b="0" dirty="0">
                <a:solidFill>
                  <a:srgbClr val="2E377E"/>
                </a:solidFill>
                <a:latin typeface="Georgia"/>
                <a:cs typeface="Georgia"/>
              </a:rPr>
              <a:t>containers</a:t>
            </a:r>
            <a:r>
              <a:rPr sz="3600" b="0" spc="15" dirty="0">
                <a:solidFill>
                  <a:srgbClr val="2E377E"/>
                </a:solidFill>
                <a:latin typeface="Georgia"/>
                <a:cs typeface="Georgia"/>
              </a:rPr>
              <a:t> </a:t>
            </a:r>
            <a:r>
              <a:rPr sz="3600" b="0" spc="50" dirty="0">
                <a:solidFill>
                  <a:srgbClr val="2E377E"/>
                </a:solidFill>
                <a:latin typeface="Georgia"/>
                <a:cs typeface="Georgia"/>
              </a:rPr>
              <a:t>within</a:t>
            </a:r>
            <a:r>
              <a:rPr sz="3600" b="0" spc="15" dirty="0">
                <a:solidFill>
                  <a:srgbClr val="2E377E"/>
                </a:solidFill>
                <a:latin typeface="Georgia"/>
                <a:cs typeface="Georgia"/>
              </a:rPr>
              <a:t> </a:t>
            </a:r>
            <a:r>
              <a:rPr sz="3600" b="0" dirty="0">
                <a:solidFill>
                  <a:srgbClr val="2E377E"/>
                </a:solidFill>
                <a:latin typeface="Georgia"/>
                <a:cs typeface="Georgia"/>
              </a:rPr>
              <a:t>a</a:t>
            </a:r>
            <a:r>
              <a:rPr sz="3600" b="0" spc="15" dirty="0">
                <a:solidFill>
                  <a:srgbClr val="2E377E"/>
                </a:solidFill>
                <a:latin typeface="Georgia"/>
                <a:cs typeface="Georgia"/>
              </a:rPr>
              <a:t> </a:t>
            </a:r>
            <a:r>
              <a:rPr sz="3600" b="0" dirty="0">
                <a:solidFill>
                  <a:srgbClr val="2E377E"/>
                </a:solidFill>
                <a:latin typeface="Georgia"/>
                <a:cs typeface="Georgia"/>
              </a:rPr>
              <a:t>pod</a:t>
            </a:r>
            <a:r>
              <a:rPr sz="3600" b="0" spc="10" dirty="0">
                <a:solidFill>
                  <a:srgbClr val="2E377E"/>
                </a:solidFill>
                <a:latin typeface="Georgia"/>
                <a:cs typeface="Georgia"/>
              </a:rPr>
              <a:t> </a:t>
            </a:r>
            <a:r>
              <a:rPr sz="3600" b="0" dirty="0">
                <a:solidFill>
                  <a:srgbClr val="2E377E"/>
                </a:solidFill>
                <a:latin typeface="Georgia"/>
                <a:cs typeface="Georgia"/>
              </a:rPr>
              <a:t>can</a:t>
            </a:r>
            <a:r>
              <a:rPr sz="3600" b="0" spc="15" dirty="0">
                <a:solidFill>
                  <a:srgbClr val="2E377E"/>
                </a:solidFill>
                <a:latin typeface="Georgia"/>
                <a:cs typeface="Georgia"/>
              </a:rPr>
              <a:t> </a:t>
            </a:r>
            <a:r>
              <a:rPr sz="3600" b="0" dirty="0">
                <a:solidFill>
                  <a:srgbClr val="2E377E"/>
                </a:solidFill>
                <a:latin typeface="Georgia"/>
                <a:cs typeface="Georgia"/>
              </a:rPr>
              <a:t>share</a:t>
            </a:r>
            <a:r>
              <a:rPr sz="3600" b="0" spc="15" dirty="0">
                <a:solidFill>
                  <a:srgbClr val="2E377E"/>
                </a:solidFill>
                <a:latin typeface="Georgia"/>
                <a:cs typeface="Georgia"/>
              </a:rPr>
              <a:t> </a:t>
            </a:r>
            <a:r>
              <a:rPr sz="3600" b="0" dirty="0">
                <a:solidFill>
                  <a:srgbClr val="2E377E"/>
                </a:solidFill>
                <a:latin typeface="Georgia"/>
                <a:cs typeface="Georgia"/>
              </a:rPr>
              <a:t>one</a:t>
            </a:r>
            <a:r>
              <a:rPr sz="3600" b="0" spc="15" dirty="0">
                <a:solidFill>
                  <a:srgbClr val="2E377E"/>
                </a:solidFill>
                <a:latin typeface="Georgia"/>
                <a:cs typeface="Georgia"/>
              </a:rPr>
              <a:t> </a:t>
            </a:r>
            <a:r>
              <a:rPr sz="3600" b="0" dirty="0">
                <a:solidFill>
                  <a:srgbClr val="2E377E"/>
                </a:solidFill>
                <a:latin typeface="Georgia"/>
                <a:cs typeface="Georgia"/>
              </a:rPr>
              <a:t>volume</a:t>
            </a:r>
            <a:r>
              <a:rPr sz="3600" b="0" spc="10" dirty="0">
                <a:solidFill>
                  <a:srgbClr val="2E377E"/>
                </a:solidFill>
                <a:latin typeface="Georgia"/>
                <a:cs typeface="Georgia"/>
              </a:rPr>
              <a:t> </a:t>
            </a:r>
            <a:r>
              <a:rPr sz="3600" b="0" dirty="0">
                <a:solidFill>
                  <a:srgbClr val="2E377E"/>
                </a:solidFill>
                <a:latin typeface="Georgia"/>
                <a:cs typeface="Georgia"/>
              </a:rPr>
              <a:t>because</a:t>
            </a:r>
            <a:r>
              <a:rPr sz="3600" b="0" spc="15" dirty="0">
                <a:solidFill>
                  <a:srgbClr val="2E377E"/>
                </a:solidFill>
                <a:latin typeface="Georgia"/>
                <a:cs typeface="Georgia"/>
              </a:rPr>
              <a:t> </a:t>
            </a:r>
            <a:r>
              <a:rPr sz="3600" b="0" spc="50" dirty="0">
                <a:solidFill>
                  <a:srgbClr val="2E377E"/>
                </a:solidFill>
                <a:latin typeface="Georgia"/>
                <a:cs typeface="Georgia"/>
              </a:rPr>
              <a:t>the</a:t>
            </a:r>
            <a:r>
              <a:rPr sz="3600" b="0" spc="15" dirty="0">
                <a:solidFill>
                  <a:srgbClr val="2E377E"/>
                </a:solidFill>
                <a:latin typeface="Georgia"/>
                <a:cs typeface="Georgia"/>
              </a:rPr>
              <a:t> </a:t>
            </a:r>
            <a:r>
              <a:rPr sz="3600" b="0" dirty="0">
                <a:solidFill>
                  <a:srgbClr val="2E377E"/>
                </a:solidFill>
                <a:latin typeface="Georgia"/>
                <a:cs typeface="Georgia"/>
              </a:rPr>
              <a:t>volume</a:t>
            </a:r>
            <a:r>
              <a:rPr sz="3600" b="0" spc="15" dirty="0">
                <a:solidFill>
                  <a:srgbClr val="2E377E"/>
                </a:solidFill>
                <a:latin typeface="Georgia"/>
                <a:cs typeface="Georgia"/>
              </a:rPr>
              <a:t> </a:t>
            </a:r>
            <a:r>
              <a:rPr sz="3600" b="0" spc="-25" dirty="0">
                <a:solidFill>
                  <a:srgbClr val="2E377E"/>
                </a:solidFill>
                <a:latin typeface="Georgia"/>
                <a:cs typeface="Georgia"/>
              </a:rPr>
              <a:t>is </a:t>
            </a:r>
            <a:r>
              <a:rPr sz="3600" b="0" dirty="0">
                <a:solidFill>
                  <a:srgbClr val="2E377E"/>
                </a:solidFill>
                <a:latin typeface="Georgia"/>
                <a:cs typeface="Georgia"/>
              </a:rPr>
              <a:t>attached </a:t>
            </a:r>
            <a:r>
              <a:rPr sz="3600" b="0" spc="60" dirty="0">
                <a:solidFill>
                  <a:srgbClr val="2E377E"/>
                </a:solidFill>
                <a:latin typeface="Georgia"/>
                <a:cs typeface="Georgia"/>
              </a:rPr>
              <a:t>to</a:t>
            </a:r>
            <a:r>
              <a:rPr sz="3600" b="0" spc="5" dirty="0">
                <a:solidFill>
                  <a:srgbClr val="2E377E"/>
                </a:solidFill>
                <a:latin typeface="Georgia"/>
                <a:cs typeface="Georgia"/>
              </a:rPr>
              <a:t> </a:t>
            </a:r>
            <a:r>
              <a:rPr sz="3600" b="0" spc="50" dirty="0">
                <a:solidFill>
                  <a:srgbClr val="2E377E"/>
                </a:solidFill>
                <a:latin typeface="Georgia"/>
                <a:cs typeface="Georgia"/>
              </a:rPr>
              <a:t>the</a:t>
            </a:r>
            <a:r>
              <a:rPr sz="3600" b="0" spc="5" dirty="0">
                <a:solidFill>
                  <a:srgbClr val="2E377E"/>
                </a:solidFill>
                <a:latin typeface="Georgia"/>
                <a:cs typeface="Georgia"/>
              </a:rPr>
              <a:t> </a:t>
            </a:r>
            <a:r>
              <a:rPr sz="3600" b="0" spc="-20" dirty="0">
                <a:solidFill>
                  <a:srgbClr val="2E377E"/>
                </a:solidFill>
                <a:latin typeface="Georgia"/>
                <a:cs typeface="Georgia"/>
              </a:rPr>
              <a:t>pod.</a:t>
            </a:r>
            <a:endParaRPr sz="3600">
              <a:latin typeface="Georgia"/>
              <a:cs typeface="Georgia"/>
            </a:endParaRPr>
          </a:p>
        </p:txBody>
      </p:sp>
      <p:sp>
        <p:nvSpPr>
          <p:cNvPr id="8" name="object 8"/>
          <p:cNvSpPr txBox="1"/>
          <p:nvPr/>
        </p:nvSpPr>
        <p:spPr>
          <a:xfrm>
            <a:off x="4144918" y="2753311"/>
            <a:ext cx="9996170" cy="4603115"/>
          </a:xfrm>
          <a:prstGeom prst="rect">
            <a:avLst/>
          </a:prstGeom>
        </p:spPr>
        <p:txBody>
          <a:bodyPr vert="horz" wrap="square" lIns="0" tIns="69215" rIns="0" bIns="0" rtlCol="0">
            <a:spAutoFit/>
          </a:bodyPr>
          <a:lstStyle/>
          <a:p>
            <a:pPr marL="212090">
              <a:lnSpc>
                <a:spcPct val="100000"/>
              </a:lnSpc>
              <a:spcBef>
                <a:spcPts val="545"/>
              </a:spcBef>
            </a:pPr>
            <a:r>
              <a:rPr sz="5000" b="1" spc="290" dirty="0">
                <a:solidFill>
                  <a:srgbClr val="2E377E"/>
                </a:solidFill>
                <a:latin typeface="Times New Roman"/>
                <a:cs typeface="Times New Roman"/>
              </a:rPr>
              <a:t>pod</a:t>
            </a:r>
            <a:endParaRPr sz="5000">
              <a:latin typeface="Times New Roman"/>
              <a:cs typeface="Times New Roman"/>
            </a:endParaRPr>
          </a:p>
        </p:txBody>
      </p:sp>
      <p:sp>
        <p:nvSpPr>
          <p:cNvPr id="9" name="object 9"/>
          <p:cNvSpPr txBox="1"/>
          <p:nvPr/>
        </p:nvSpPr>
        <p:spPr>
          <a:xfrm>
            <a:off x="5335812" y="3886051"/>
            <a:ext cx="2677795" cy="2190115"/>
          </a:xfrm>
          <a:prstGeom prst="rect">
            <a:avLst/>
          </a:prstGeom>
        </p:spPr>
        <p:txBody>
          <a:bodyPr vert="horz" wrap="square" lIns="0" tIns="544830" rIns="0" bIns="0" rtlCol="0">
            <a:spAutoFit/>
          </a:bodyPr>
          <a:lstStyle/>
          <a:p>
            <a:pPr marL="419734">
              <a:lnSpc>
                <a:spcPct val="100000"/>
              </a:lnSpc>
              <a:spcBef>
                <a:spcPts val="4290"/>
              </a:spcBef>
            </a:pPr>
            <a:r>
              <a:rPr sz="5000" b="1" spc="320" dirty="0">
                <a:solidFill>
                  <a:srgbClr val="FFFFFF"/>
                </a:solidFill>
                <a:latin typeface="Times New Roman"/>
                <a:cs typeface="Times New Roman"/>
              </a:rPr>
              <a:t>cont-</a:t>
            </a:r>
            <a:r>
              <a:rPr sz="5000" b="1" spc="-575" dirty="0">
                <a:solidFill>
                  <a:srgbClr val="FFFFFF"/>
                </a:solidFill>
                <a:latin typeface="Times New Roman"/>
                <a:cs typeface="Times New Roman"/>
              </a:rPr>
              <a:t>1</a:t>
            </a:r>
            <a:endParaRPr sz="5000">
              <a:latin typeface="Times New Roman"/>
              <a:cs typeface="Times New Roman"/>
            </a:endParaRPr>
          </a:p>
        </p:txBody>
      </p:sp>
      <p:sp>
        <p:nvSpPr>
          <p:cNvPr id="10" name="object 10"/>
          <p:cNvSpPr txBox="1"/>
          <p:nvPr/>
        </p:nvSpPr>
        <p:spPr>
          <a:xfrm>
            <a:off x="10320893" y="3886051"/>
            <a:ext cx="2677795" cy="2190115"/>
          </a:xfrm>
          <a:prstGeom prst="rect">
            <a:avLst/>
          </a:prstGeom>
        </p:spPr>
        <p:txBody>
          <a:bodyPr vert="horz" wrap="square" lIns="0" tIns="544830" rIns="0" bIns="0" rtlCol="0">
            <a:spAutoFit/>
          </a:bodyPr>
          <a:lstStyle/>
          <a:p>
            <a:pPr marL="366395">
              <a:lnSpc>
                <a:spcPct val="100000"/>
              </a:lnSpc>
              <a:spcBef>
                <a:spcPts val="4290"/>
              </a:spcBef>
            </a:pPr>
            <a:r>
              <a:rPr sz="5000" b="1" spc="320" dirty="0">
                <a:solidFill>
                  <a:srgbClr val="FFFFFF"/>
                </a:solidFill>
                <a:latin typeface="Times New Roman"/>
                <a:cs typeface="Times New Roman"/>
              </a:rPr>
              <a:t>cont-</a:t>
            </a:r>
            <a:r>
              <a:rPr sz="5000" b="1" spc="250" dirty="0">
                <a:solidFill>
                  <a:srgbClr val="FFFFFF"/>
                </a:solidFill>
                <a:latin typeface="Times New Roman"/>
                <a:cs typeface="Times New Roman"/>
              </a:rPr>
              <a:t>2</a:t>
            </a:r>
            <a:endParaRPr sz="5000">
              <a:latin typeface="Times New Roman"/>
              <a:cs typeface="Times New Roman"/>
            </a:endParaRPr>
          </a:p>
        </p:txBody>
      </p:sp>
      <p:sp>
        <p:nvSpPr>
          <p:cNvPr id="11" name="object 11"/>
          <p:cNvSpPr txBox="1"/>
          <p:nvPr/>
        </p:nvSpPr>
        <p:spPr>
          <a:xfrm>
            <a:off x="8447643" y="8466932"/>
            <a:ext cx="1498600" cy="1191260"/>
          </a:xfrm>
          <a:prstGeom prst="rect">
            <a:avLst/>
          </a:prstGeom>
        </p:spPr>
        <p:txBody>
          <a:bodyPr vert="horz" wrap="square" lIns="0" tIns="12065" rIns="0" bIns="0" rtlCol="0">
            <a:spAutoFit/>
          </a:bodyPr>
          <a:lstStyle/>
          <a:p>
            <a:pPr marL="203200" marR="5080" indent="-191135">
              <a:lnSpc>
                <a:spcPct val="117600"/>
              </a:lnSpc>
              <a:spcBef>
                <a:spcPts val="95"/>
              </a:spcBef>
            </a:pPr>
            <a:r>
              <a:rPr sz="3250" b="1" spc="220" dirty="0">
                <a:solidFill>
                  <a:srgbClr val="FF3131"/>
                </a:solidFill>
                <a:latin typeface="Times New Roman"/>
                <a:cs typeface="Times New Roman"/>
              </a:rPr>
              <a:t>volume </a:t>
            </a:r>
            <a:r>
              <a:rPr sz="3250" b="1" spc="-10" dirty="0">
                <a:solidFill>
                  <a:srgbClr val="FF3131"/>
                </a:solidFill>
                <a:latin typeface="Times New Roman"/>
                <a:cs typeface="Times New Roman"/>
              </a:rPr>
              <a:t>(data)</a:t>
            </a:r>
            <a:endParaRPr sz="3250">
              <a:latin typeface="Times New Roman"/>
              <a:cs typeface="Times New Roman"/>
            </a:endParaRPr>
          </a:p>
        </p:txBody>
      </p:sp>
      <p:grpSp>
        <p:nvGrpSpPr>
          <p:cNvPr id="12" name="object 12"/>
          <p:cNvGrpSpPr/>
          <p:nvPr/>
        </p:nvGrpSpPr>
        <p:grpSpPr>
          <a:xfrm>
            <a:off x="6670794" y="6009063"/>
            <a:ext cx="4996180" cy="2303780"/>
            <a:chOff x="6670794" y="6009063"/>
            <a:chExt cx="4996180" cy="2303780"/>
          </a:xfrm>
        </p:grpSpPr>
        <p:sp>
          <p:nvSpPr>
            <p:cNvPr id="13" name="object 13"/>
            <p:cNvSpPr/>
            <p:nvPr/>
          </p:nvSpPr>
          <p:spPr>
            <a:xfrm>
              <a:off x="9147285" y="7412817"/>
              <a:ext cx="50165" cy="842644"/>
            </a:xfrm>
            <a:custGeom>
              <a:avLst/>
              <a:gdLst/>
              <a:ahLst/>
              <a:cxnLst/>
              <a:rect l="l" t="t" r="r" b="b"/>
              <a:pathLst>
                <a:path w="50165" h="842645">
                  <a:moveTo>
                    <a:pt x="49572" y="842533"/>
                  </a:moveTo>
                  <a:lnTo>
                    <a:pt x="0" y="0"/>
                  </a:lnTo>
                </a:path>
              </a:pathLst>
            </a:custGeom>
            <a:ln w="114300">
              <a:solidFill>
                <a:srgbClr val="000000"/>
              </a:solidFill>
            </a:ln>
          </p:spPr>
          <p:txBody>
            <a:bodyPr wrap="square" lIns="0" tIns="0" rIns="0" bIns="0" rtlCol="0"/>
            <a:lstStyle/>
            <a:p>
              <a:endParaRPr/>
            </a:p>
          </p:txBody>
        </p:sp>
        <p:sp>
          <p:nvSpPr>
            <p:cNvPr id="14" name="object 14"/>
            <p:cNvSpPr/>
            <p:nvPr/>
          </p:nvSpPr>
          <p:spPr>
            <a:xfrm>
              <a:off x="8989558" y="7412817"/>
              <a:ext cx="342900" cy="238760"/>
            </a:xfrm>
            <a:custGeom>
              <a:avLst/>
              <a:gdLst/>
              <a:ahLst/>
              <a:cxnLst/>
              <a:rect l="l" t="t" r="r" b="b"/>
              <a:pathLst>
                <a:path w="342900" h="238759">
                  <a:moveTo>
                    <a:pt x="0" y="238275"/>
                  </a:moveTo>
                  <a:lnTo>
                    <a:pt x="157726" y="0"/>
                  </a:lnTo>
                  <a:lnTo>
                    <a:pt x="342307" y="218134"/>
                  </a:lnTo>
                </a:path>
              </a:pathLst>
            </a:custGeom>
            <a:ln w="114300">
              <a:solidFill>
                <a:srgbClr val="000000"/>
              </a:solidFill>
            </a:ln>
          </p:spPr>
          <p:txBody>
            <a:bodyPr wrap="square" lIns="0" tIns="0" rIns="0" bIns="0" rtlCol="0"/>
            <a:lstStyle/>
            <a:p>
              <a:endParaRPr/>
            </a:p>
          </p:txBody>
        </p:sp>
        <p:sp>
          <p:nvSpPr>
            <p:cNvPr id="15" name="object 15"/>
            <p:cNvSpPr/>
            <p:nvPr/>
          </p:nvSpPr>
          <p:spPr>
            <a:xfrm>
              <a:off x="9143999" y="6097722"/>
              <a:ext cx="2475230" cy="1258570"/>
            </a:xfrm>
            <a:custGeom>
              <a:avLst/>
              <a:gdLst/>
              <a:ahLst/>
              <a:cxnLst/>
              <a:rect l="l" t="t" r="r" b="b"/>
              <a:pathLst>
                <a:path w="2475229" h="1258570">
                  <a:moveTo>
                    <a:pt x="0" y="1258107"/>
                  </a:moveTo>
                  <a:lnTo>
                    <a:pt x="2474821" y="0"/>
                  </a:lnTo>
                </a:path>
              </a:pathLst>
            </a:custGeom>
            <a:ln w="95250">
              <a:solidFill>
                <a:srgbClr val="000000"/>
              </a:solidFill>
            </a:ln>
          </p:spPr>
          <p:txBody>
            <a:bodyPr wrap="square" lIns="0" tIns="0" rIns="0" bIns="0" rtlCol="0"/>
            <a:lstStyle/>
            <a:p>
              <a:endParaRPr/>
            </a:p>
          </p:txBody>
        </p:sp>
        <p:sp>
          <p:nvSpPr>
            <p:cNvPr id="16" name="object 16"/>
            <p:cNvSpPr/>
            <p:nvPr/>
          </p:nvSpPr>
          <p:spPr>
            <a:xfrm>
              <a:off x="11384258" y="6056688"/>
              <a:ext cx="234950" cy="255270"/>
            </a:xfrm>
            <a:custGeom>
              <a:avLst/>
              <a:gdLst/>
              <a:ahLst/>
              <a:cxnLst/>
              <a:rect l="l" t="t" r="r" b="b"/>
              <a:pathLst>
                <a:path w="234950" h="255270">
                  <a:moveTo>
                    <a:pt x="0" y="0"/>
                  </a:moveTo>
                  <a:lnTo>
                    <a:pt x="234562" y="41033"/>
                  </a:lnTo>
                  <a:lnTo>
                    <a:pt x="129492" y="254724"/>
                  </a:lnTo>
                </a:path>
              </a:pathLst>
            </a:custGeom>
            <a:ln w="95250">
              <a:solidFill>
                <a:srgbClr val="000000"/>
              </a:solidFill>
            </a:ln>
          </p:spPr>
          <p:txBody>
            <a:bodyPr wrap="square" lIns="0" tIns="0" rIns="0" bIns="0" rtlCol="0"/>
            <a:lstStyle/>
            <a:p>
              <a:endParaRPr/>
            </a:p>
          </p:txBody>
        </p:sp>
        <p:sp>
          <p:nvSpPr>
            <p:cNvPr id="17" name="object 17"/>
            <p:cNvSpPr/>
            <p:nvPr/>
          </p:nvSpPr>
          <p:spPr>
            <a:xfrm>
              <a:off x="6718419" y="6098054"/>
              <a:ext cx="2425700" cy="1257935"/>
            </a:xfrm>
            <a:custGeom>
              <a:avLst/>
              <a:gdLst/>
              <a:ahLst/>
              <a:cxnLst/>
              <a:rect l="l" t="t" r="r" b="b"/>
              <a:pathLst>
                <a:path w="2425700" h="1257934">
                  <a:moveTo>
                    <a:pt x="2425526" y="1257765"/>
                  </a:moveTo>
                  <a:lnTo>
                    <a:pt x="0" y="0"/>
                  </a:lnTo>
                </a:path>
              </a:pathLst>
            </a:custGeom>
            <a:ln w="95249">
              <a:solidFill>
                <a:srgbClr val="000000"/>
              </a:solidFill>
            </a:ln>
          </p:spPr>
          <p:txBody>
            <a:bodyPr wrap="square" lIns="0" tIns="0" rIns="0" bIns="0" rtlCol="0"/>
            <a:lstStyle/>
            <a:p>
              <a:endParaRPr/>
            </a:p>
          </p:txBody>
        </p:sp>
        <p:sp>
          <p:nvSpPr>
            <p:cNvPr id="18" name="object 18"/>
            <p:cNvSpPr/>
            <p:nvPr/>
          </p:nvSpPr>
          <p:spPr>
            <a:xfrm>
              <a:off x="6718419" y="6058913"/>
              <a:ext cx="234950" cy="254000"/>
            </a:xfrm>
            <a:custGeom>
              <a:avLst/>
              <a:gdLst/>
              <a:ahLst/>
              <a:cxnLst/>
              <a:rect l="l" t="t" r="r" b="b"/>
              <a:pathLst>
                <a:path w="234950" h="254000">
                  <a:moveTo>
                    <a:pt x="103343" y="253672"/>
                  </a:moveTo>
                  <a:lnTo>
                    <a:pt x="0" y="39140"/>
                  </a:lnTo>
                  <a:lnTo>
                    <a:pt x="234886" y="0"/>
                  </a:lnTo>
                </a:path>
              </a:pathLst>
            </a:custGeom>
            <a:ln w="95249">
              <a:solidFill>
                <a:srgbClr val="000000"/>
              </a:solidFill>
            </a:ln>
          </p:spPr>
          <p:txBody>
            <a:bodyPr wrap="square" lIns="0" tIns="0" rIns="0" bIns="0" rtlCol="0"/>
            <a:lstStyle/>
            <a:p>
              <a:endParaRPr/>
            </a:p>
          </p:txBody>
        </p:sp>
      </p:gr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512" y="1398652"/>
            <a:ext cx="133350" cy="133349"/>
          </a:xfrm>
          <a:prstGeom prst="rect">
            <a:avLst/>
          </a:prstGeom>
        </p:spPr>
      </p:pic>
      <p:sp>
        <p:nvSpPr>
          <p:cNvPr id="3" name="object 3"/>
          <p:cNvSpPr txBox="1">
            <a:spLocks noGrp="1"/>
          </p:cNvSpPr>
          <p:nvPr>
            <p:ph type="title"/>
          </p:nvPr>
        </p:nvSpPr>
        <p:spPr>
          <a:xfrm>
            <a:off x="1687318" y="982092"/>
            <a:ext cx="15579090" cy="1416050"/>
          </a:xfrm>
          <a:prstGeom prst="rect">
            <a:avLst/>
          </a:prstGeom>
        </p:spPr>
        <p:txBody>
          <a:bodyPr vert="horz" wrap="square" lIns="0" tIns="12700" rIns="0" bIns="0" rtlCol="0">
            <a:spAutoFit/>
          </a:bodyPr>
          <a:lstStyle/>
          <a:p>
            <a:pPr marL="12700" marR="5080">
              <a:lnSpc>
                <a:spcPct val="126699"/>
              </a:lnSpc>
              <a:spcBef>
                <a:spcPts val="100"/>
              </a:spcBef>
            </a:pPr>
            <a:r>
              <a:rPr sz="3600" b="0" dirty="0">
                <a:solidFill>
                  <a:srgbClr val="2E377E"/>
                </a:solidFill>
                <a:latin typeface="Georgia"/>
                <a:cs typeface="Georgia"/>
              </a:rPr>
              <a:t>If</a:t>
            </a:r>
            <a:r>
              <a:rPr sz="3600" b="0" spc="-5" dirty="0">
                <a:solidFill>
                  <a:srgbClr val="2E377E"/>
                </a:solidFill>
                <a:latin typeface="Georgia"/>
                <a:cs typeface="Georgia"/>
              </a:rPr>
              <a:t> </a:t>
            </a:r>
            <a:r>
              <a:rPr sz="3600" b="0" spc="50" dirty="0">
                <a:solidFill>
                  <a:srgbClr val="2E377E"/>
                </a:solidFill>
                <a:latin typeface="Georgia"/>
                <a:cs typeface="Georgia"/>
              </a:rPr>
              <a:t>the</a:t>
            </a:r>
            <a:r>
              <a:rPr sz="3600" b="0" spc="-5" dirty="0">
                <a:solidFill>
                  <a:srgbClr val="2E377E"/>
                </a:solidFill>
                <a:latin typeface="Georgia"/>
                <a:cs typeface="Georgia"/>
              </a:rPr>
              <a:t> </a:t>
            </a:r>
            <a:r>
              <a:rPr sz="3600" b="0" dirty="0">
                <a:solidFill>
                  <a:srgbClr val="2E377E"/>
                </a:solidFill>
                <a:latin typeface="Georgia"/>
                <a:cs typeface="Georgia"/>
              </a:rPr>
              <a:t>Pod</a:t>
            </a:r>
            <a:r>
              <a:rPr sz="3600" b="0" spc="-5" dirty="0">
                <a:solidFill>
                  <a:srgbClr val="2E377E"/>
                </a:solidFill>
                <a:latin typeface="Georgia"/>
                <a:cs typeface="Georgia"/>
              </a:rPr>
              <a:t> </a:t>
            </a:r>
            <a:r>
              <a:rPr sz="3600" b="0" spc="50" dirty="0">
                <a:solidFill>
                  <a:srgbClr val="2E377E"/>
                </a:solidFill>
                <a:latin typeface="Georgia"/>
                <a:cs typeface="Georgia"/>
              </a:rPr>
              <a:t>gets</a:t>
            </a:r>
            <a:r>
              <a:rPr sz="3600" b="0" spc="-5" dirty="0">
                <a:solidFill>
                  <a:srgbClr val="2E377E"/>
                </a:solidFill>
                <a:latin typeface="Georgia"/>
                <a:cs typeface="Georgia"/>
              </a:rPr>
              <a:t> </a:t>
            </a:r>
            <a:r>
              <a:rPr sz="3600" b="0" dirty="0">
                <a:solidFill>
                  <a:srgbClr val="2E377E"/>
                </a:solidFill>
                <a:latin typeface="Georgia"/>
                <a:cs typeface="Georgia"/>
              </a:rPr>
              <a:t>deleted,</a:t>
            </a:r>
            <a:r>
              <a:rPr sz="3600" b="0" spc="-5" dirty="0">
                <a:solidFill>
                  <a:srgbClr val="2E377E"/>
                </a:solidFill>
                <a:latin typeface="Georgia"/>
                <a:cs typeface="Georgia"/>
              </a:rPr>
              <a:t> </a:t>
            </a:r>
            <a:r>
              <a:rPr sz="3600" b="0" dirty="0">
                <a:solidFill>
                  <a:srgbClr val="2E377E"/>
                </a:solidFill>
                <a:latin typeface="Georgia"/>
                <a:cs typeface="Georgia"/>
              </a:rPr>
              <a:t>then</a:t>
            </a:r>
            <a:r>
              <a:rPr sz="3600" b="0" spc="-5" dirty="0">
                <a:solidFill>
                  <a:srgbClr val="2E377E"/>
                </a:solidFill>
                <a:latin typeface="Georgia"/>
                <a:cs typeface="Georgia"/>
              </a:rPr>
              <a:t> </a:t>
            </a:r>
            <a:r>
              <a:rPr sz="3600" b="0" spc="50" dirty="0">
                <a:solidFill>
                  <a:srgbClr val="2E377E"/>
                </a:solidFill>
                <a:latin typeface="Georgia"/>
                <a:cs typeface="Georgia"/>
              </a:rPr>
              <a:t>the</a:t>
            </a:r>
            <a:r>
              <a:rPr sz="3600" b="0" spc="-5" dirty="0">
                <a:solidFill>
                  <a:srgbClr val="2E377E"/>
                </a:solidFill>
                <a:latin typeface="Georgia"/>
                <a:cs typeface="Georgia"/>
              </a:rPr>
              <a:t> </a:t>
            </a:r>
            <a:r>
              <a:rPr sz="3600" b="0" dirty="0">
                <a:solidFill>
                  <a:srgbClr val="2E377E"/>
                </a:solidFill>
                <a:latin typeface="Georgia"/>
                <a:cs typeface="Georgia"/>
              </a:rPr>
              <a:t>volume will</a:t>
            </a:r>
            <a:r>
              <a:rPr sz="3600" b="0" spc="-5" dirty="0">
                <a:solidFill>
                  <a:srgbClr val="2E377E"/>
                </a:solidFill>
                <a:latin typeface="Georgia"/>
                <a:cs typeface="Georgia"/>
              </a:rPr>
              <a:t> </a:t>
            </a:r>
            <a:r>
              <a:rPr sz="3600" b="0" dirty="0">
                <a:solidFill>
                  <a:srgbClr val="2E377E"/>
                </a:solidFill>
                <a:latin typeface="Georgia"/>
                <a:cs typeface="Georgia"/>
              </a:rPr>
              <a:t>also</a:t>
            </a:r>
            <a:r>
              <a:rPr sz="3600" b="0" spc="-5" dirty="0">
                <a:solidFill>
                  <a:srgbClr val="2E377E"/>
                </a:solidFill>
                <a:latin typeface="Georgia"/>
                <a:cs typeface="Georgia"/>
              </a:rPr>
              <a:t> </a:t>
            </a:r>
            <a:r>
              <a:rPr sz="3600" b="0" spc="65" dirty="0">
                <a:solidFill>
                  <a:srgbClr val="2E377E"/>
                </a:solidFill>
                <a:latin typeface="Georgia"/>
                <a:cs typeface="Georgia"/>
              </a:rPr>
              <a:t>get</a:t>
            </a:r>
            <a:r>
              <a:rPr sz="3600" b="0" spc="-5" dirty="0">
                <a:solidFill>
                  <a:srgbClr val="2E377E"/>
                </a:solidFill>
                <a:latin typeface="Georgia"/>
                <a:cs typeface="Georgia"/>
              </a:rPr>
              <a:t> </a:t>
            </a:r>
            <a:r>
              <a:rPr sz="3600" b="0" dirty="0">
                <a:solidFill>
                  <a:srgbClr val="2E377E"/>
                </a:solidFill>
                <a:latin typeface="Georgia"/>
                <a:cs typeface="Georgia"/>
              </a:rPr>
              <a:t>deleted</a:t>
            </a:r>
            <a:r>
              <a:rPr sz="3600" b="0" spc="-5" dirty="0">
                <a:solidFill>
                  <a:srgbClr val="2E377E"/>
                </a:solidFill>
                <a:latin typeface="Georgia"/>
                <a:cs typeface="Georgia"/>
              </a:rPr>
              <a:t> </a:t>
            </a:r>
            <a:r>
              <a:rPr sz="3600" b="0" dirty="0">
                <a:solidFill>
                  <a:srgbClr val="2E377E"/>
                </a:solidFill>
                <a:latin typeface="Georgia"/>
                <a:cs typeface="Georgia"/>
              </a:rPr>
              <a:t>which</a:t>
            </a:r>
            <a:r>
              <a:rPr sz="3600" b="0" spc="-5" dirty="0">
                <a:solidFill>
                  <a:srgbClr val="2E377E"/>
                </a:solidFill>
                <a:latin typeface="Georgia"/>
                <a:cs typeface="Georgia"/>
              </a:rPr>
              <a:t> </a:t>
            </a:r>
            <a:r>
              <a:rPr sz="3600" b="0" dirty="0">
                <a:solidFill>
                  <a:srgbClr val="2E377E"/>
                </a:solidFill>
                <a:latin typeface="Georgia"/>
                <a:cs typeface="Georgia"/>
              </a:rPr>
              <a:t>leads</a:t>
            </a:r>
            <a:r>
              <a:rPr sz="3600" b="0" spc="-5" dirty="0">
                <a:solidFill>
                  <a:srgbClr val="2E377E"/>
                </a:solidFill>
                <a:latin typeface="Georgia"/>
                <a:cs typeface="Georgia"/>
              </a:rPr>
              <a:t> </a:t>
            </a:r>
            <a:r>
              <a:rPr sz="3600" b="0" spc="60" dirty="0">
                <a:solidFill>
                  <a:srgbClr val="2E377E"/>
                </a:solidFill>
                <a:latin typeface="Georgia"/>
                <a:cs typeface="Georgia"/>
              </a:rPr>
              <a:t>to</a:t>
            </a:r>
            <a:r>
              <a:rPr sz="3600" b="0" spc="-5" dirty="0">
                <a:solidFill>
                  <a:srgbClr val="2E377E"/>
                </a:solidFill>
                <a:latin typeface="Georgia"/>
                <a:cs typeface="Georgia"/>
              </a:rPr>
              <a:t> </a:t>
            </a:r>
            <a:r>
              <a:rPr sz="3600" b="0" spc="-50" dirty="0">
                <a:solidFill>
                  <a:srgbClr val="2E377E"/>
                </a:solidFill>
                <a:latin typeface="Georgia"/>
                <a:cs typeface="Georgia"/>
              </a:rPr>
              <a:t>a </a:t>
            </a:r>
            <a:r>
              <a:rPr sz="3600" b="0" dirty="0">
                <a:solidFill>
                  <a:srgbClr val="2E377E"/>
                </a:solidFill>
                <a:latin typeface="Georgia"/>
                <a:cs typeface="Georgia"/>
              </a:rPr>
              <a:t>loss</a:t>
            </a:r>
            <a:r>
              <a:rPr sz="3600" b="0" spc="-15" dirty="0">
                <a:solidFill>
                  <a:srgbClr val="2E377E"/>
                </a:solidFill>
                <a:latin typeface="Georgia"/>
                <a:cs typeface="Georgia"/>
              </a:rPr>
              <a:t> </a:t>
            </a:r>
            <a:r>
              <a:rPr sz="3600" b="0" dirty="0">
                <a:solidFill>
                  <a:srgbClr val="2E377E"/>
                </a:solidFill>
                <a:latin typeface="Georgia"/>
                <a:cs typeface="Georgia"/>
              </a:rPr>
              <a:t>of</a:t>
            </a:r>
            <a:r>
              <a:rPr sz="3600" b="0" spc="-15" dirty="0">
                <a:solidFill>
                  <a:srgbClr val="2E377E"/>
                </a:solidFill>
                <a:latin typeface="Georgia"/>
                <a:cs typeface="Georgia"/>
              </a:rPr>
              <a:t> </a:t>
            </a:r>
            <a:r>
              <a:rPr sz="3600" b="0" dirty="0">
                <a:solidFill>
                  <a:srgbClr val="2E377E"/>
                </a:solidFill>
                <a:latin typeface="Georgia"/>
                <a:cs typeface="Georgia"/>
              </a:rPr>
              <a:t>data</a:t>
            </a:r>
            <a:r>
              <a:rPr sz="3600" b="0" spc="-10" dirty="0">
                <a:solidFill>
                  <a:srgbClr val="2E377E"/>
                </a:solidFill>
                <a:latin typeface="Georgia"/>
                <a:cs typeface="Georgia"/>
              </a:rPr>
              <a:t> </a:t>
            </a:r>
            <a:r>
              <a:rPr sz="3600" b="0" dirty="0">
                <a:solidFill>
                  <a:srgbClr val="2E377E"/>
                </a:solidFill>
                <a:latin typeface="Georgia"/>
                <a:cs typeface="Georgia"/>
              </a:rPr>
              <a:t>for</a:t>
            </a:r>
            <a:r>
              <a:rPr sz="3600" b="0" spc="-15" dirty="0">
                <a:solidFill>
                  <a:srgbClr val="2E377E"/>
                </a:solidFill>
                <a:latin typeface="Georgia"/>
                <a:cs typeface="Georgia"/>
              </a:rPr>
              <a:t> </a:t>
            </a:r>
            <a:r>
              <a:rPr sz="3600" b="0" dirty="0">
                <a:solidFill>
                  <a:srgbClr val="2E377E"/>
                </a:solidFill>
                <a:latin typeface="Georgia"/>
                <a:cs typeface="Georgia"/>
              </a:rPr>
              <a:t>all</a:t>
            </a:r>
            <a:r>
              <a:rPr sz="3600" b="0" spc="-15" dirty="0">
                <a:solidFill>
                  <a:srgbClr val="2E377E"/>
                </a:solidFill>
                <a:latin typeface="Georgia"/>
                <a:cs typeface="Georgia"/>
              </a:rPr>
              <a:t> </a:t>
            </a:r>
            <a:r>
              <a:rPr sz="3600" b="0" dirty="0">
                <a:solidFill>
                  <a:srgbClr val="2E377E"/>
                </a:solidFill>
                <a:latin typeface="Georgia"/>
                <a:cs typeface="Georgia"/>
              </a:rPr>
              <a:t>containers</a:t>
            </a:r>
            <a:r>
              <a:rPr sz="3600" b="0" spc="-10" dirty="0">
                <a:solidFill>
                  <a:srgbClr val="2E377E"/>
                </a:solidFill>
                <a:latin typeface="Georgia"/>
                <a:cs typeface="Georgia"/>
              </a:rPr>
              <a:t> permanently.</a:t>
            </a:r>
            <a:endParaRPr sz="3600">
              <a:latin typeface="Georgia"/>
              <a:cs typeface="Georgia"/>
            </a:endParaRPr>
          </a:p>
        </p:txBody>
      </p:sp>
      <p:grpSp>
        <p:nvGrpSpPr>
          <p:cNvPr id="4" name="object 4"/>
          <p:cNvGrpSpPr/>
          <p:nvPr/>
        </p:nvGrpSpPr>
        <p:grpSpPr>
          <a:xfrm>
            <a:off x="4144918" y="2753311"/>
            <a:ext cx="9996170" cy="4603115"/>
            <a:chOff x="4144918" y="2753311"/>
            <a:chExt cx="9996170" cy="4603115"/>
          </a:xfrm>
        </p:grpSpPr>
        <p:sp>
          <p:nvSpPr>
            <p:cNvPr id="5" name="object 5"/>
            <p:cNvSpPr/>
            <p:nvPr/>
          </p:nvSpPr>
          <p:spPr>
            <a:xfrm>
              <a:off x="4144918" y="2753311"/>
              <a:ext cx="9996170" cy="4603115"/>
            </a:xfrm>
            <a:custGeom>
              <a:avLst/>
              <a:gdLst/>
              <a:ahLst/>
              <a:cxnLst/>
              <a:rect l="l" t="t" r="r" b="b"/>
              <a:pathLst>
                <a:path w="9996169" h="4603115">
                  <a:moveTo>
                    <a:pt x="9996100" y="4602521"/>
                  </a:moveTo>
                  <a:lnTo>
                    <a:pt x="0" y="4602521"/>
                  </a:lnTo>
                  <a:lnTo>
                    <a:pt x="0" y="0"/>
                  </a:lnTo>
                  <a:lnTo>
                    <a:pt x="9996100" y="0"/>
                  </a:lnTo>
                  <a:lnTo>
                    <a:pt x="9996100" y="4602521"/>
                  </a:lnTo>
                  <a:close/>
                </a:path>
              </a:pathLst>
            </a:custGeom>
            <a:solidFill>
              <a:srgbClr val="D5EFF1"/>
            </a:solidFill>
          </p:spPr>
          <p:txBody>
            <a:bodyPr wrap="square" lIns="0" tIns="0" rIns="0" bIns="0" rtlCol="0"/>
            <a:lstStyle/>
            <a:p>
              <a:endParaRPr/>
            </a:p>
          </p:txBody>
        </p:sp>
        <p:sp>
          <p:nvSpPr>
            <p:cNvPr id="6" name="object 6"/>
            <p:cNvSpPr/>
            <p:nvPr/>
          </p:nvSpPr>
          <p:spPr>
            <a:xfrm>
              <a:off x="5335803" y="3886059"/>
              <a:ext cx="7663180" cy="2190115"/>
            </a:xfrm>
            <a:custGeom>
              <a:avLst/>
              <a:gdLst/>
              <a:ahLst/>
              <a:cxnLst/>
              <a:rect l="l" t="t" r="r" b="b"/>
              <a:pathLst>
                <a:path w="7663180" h="2190115">
                  <a:moveTo>
                    <a:pt x="2677731" y="0"/>
                  </a:moveTo>
                  <a:lnTo>
                    <a:pt x="0" y="0"/>
                  </a:lnTo>
                  <a:lnTo>
                    <a:pt x="0" y="2190089"/>
                  </a:lnTo>
                  <a:lnTo>
                    <a:pt x="2677731" y="2190089"/>
                  </a:lnTo>
                  <a:lnTo>
                    <a:pt x="2677731" y="0"/>
                  </a:lnTo>
                  <a:close/>
                </a:path>
                <a:path w="7663180" h="2190115">
                  <a:moveTo>
                    <a:pt x="7662812" y="0"/>
                  </a:moveTo>
                  <a:lnTo>
                    <a:pt x="4985080" y="0"/>
                  </a:lnTo>
                  <a:lnTo>
                    <a:pt x="4985080" y="2190089"/>
                  </a:lnTo>
                  <a:lnTo>
                    <a:pt x="7662812" y="2190089"/>
                  </a:lnTo>
                  <a:lnTo>
                    <a:pt x="7662812" y="0"/>
                  </a:lnTo>
                  <a:close/>
                </a:path>
              </a:pathLst>
            </a:custGeom>
            <a:solidFill>
              <a:srgbClr val="326BE4"/>
            </a:solidFill>
          </p:spPr>
          <p:txBody>
            <a:bodyPr wrap="square" lIns="0" tIns="0" rIns="0" bIns="0" rtlCol="0"/>
            <a:lstStyle/>
            <a:p>
              <a:endParaRPr/>
            </a:p>
          </p:txBody>
        </p:sp>
      </p:grpSp>
      <p:sp>
        <p:nvSpPr>
          <p:cNvPr id="7" name="object 7"/>
          <p:cNvSpPr/>
          <p:nvPr/>
        </p:nvSpPr>
        <p:spPr>
          <a:xfrm>
            <a:off x="7296713" y="8255415"/>
            <a:ext cx="3799204" cy="1797685"/>
          </a:xfrm>
          <a:custGeom>
            <a:avLst/>
            <a:gdLst/>
            <a:ahLst/>
            <a:cxnLst/>
            <a:rect l="l" t="t" r="r" b="b"/>
            <a:pathLst>
              <a:path w="3799204" h="1797684">
                <a:moveTo>
                  <a:pt x="3798894" y="1797628"/>
                </a:moveTo>
                <a:lnTo>
                  <a:pt x="0" y="1797628"/>
                </a:lnTo>
                <a:lnTo>
                  <a:pt x="0" y="0"/>
                </a:lnTo>
                <a:lnTo>
                  <a:pt x="3798894" y="0"/>
                </a:lnTo>
                <a:lnTo>
                  <a:pt x="3798894" y="1797628"/>
                </a:lnTo>
                <a:close/>
              </a:path>
            </a:pathLst>
          </a:custGeom>
          <a:solidFill>
            <a:srgbClr val="FFDE58"/>
          </a:solidFill>
        </p:spPr>
        <p:txBody>
          <a:bodyPr wrap="square" lIns="0" tIns="0" rIns="0" bIns="0" rtlCol="0"/>
          <a:lstStyle/>
          <a:p>
            <a:endParaRPr/>
          </a:p>
        </p:txBody>
      </p:sp>
      <p:sp>
        <p:nvSpPr>
          <p:cNvPr id="8" name="object 8"/>
          <p:cNvSpPr txBox="1"/>
          <p:nvPr/>
        </p:nvSpPr>
        <p:spPr>
          <a:xfrm>
            <a:off x="4344530" y="2810352"/>
            <a:ext cx="1174750" cy="787400"/>
          </a:xfrm>
          <a:prstGeom prst="rect">
            <a:avLst/>
          </a:prstGeom>
        </p:spPr>
        <p:txBody>
          <a:bodyPr vert="horz" wrap="square" lIns="0" tIns="12700" rIns="0" bIns="0" rtlCol="0">
            <a:spAutoFit/>
          </a:bodyPr>
          <a:lstStyle/>
          <a:p>
            <a:pPr marL="12700">
              <a:lnSpc>
                <a:spcPct val="100000"/>
              </a:lnSpc>
              <a:spcBef>
                <a:spcPts val="100"/>
              </a:spcBef>
            </a:pPr>
            <a:r>
              <a:rPr sz="5000" b="1" spc="290" dirty="0">
                <a:solidFill>
                  <a:srgbClr val="2E377E"/>
                </a:solidFill>
                <a:latin typeface="Times New Roman"/>
                <a:cs typeface="Times New Roman"/>
              </a:rPr>
              <a:t>pod</a:t>
            </a:r>
            <a:endParaRPr sz="5000">
              <a:latin typeface="Times New Roman"/>
              <a:cs typeface="Times New Roman"/>
            </a:endParaRPr>
          </a:p>
        </p:txBody>
      </p:sp>
      <p:sp>
        <p:nvSpPr>
          <p:cNvPr id="9" name="object 9"/>
          <p:cNvSpPr txBox="1"/>
          <p:nvPr/>
        </p:nvSpPr>
        <p:spPr>
          <a:xfrm>
            <a:off x="5335812" y="3886051"/>
            <a:ext cx="2677795" cy="2190115"/>
          </a:xfrm>
          <a:prstGeom prst="rect">
            <a:avLst/>
          </a:prstGeom>
        </p:spPr>
        <p:txBody>
          <a:bodyPr vert="horz" wrap="square" lIns="0" tIns="544830" rIns="0" bIns="0" rtlCol="0">
            <a:spAutoFit/>
          </a:bodyPr>
          <a:lstStyle/>
          <a:p>
            <a:pPr marL="419734">
              <a:lnSpc>
                <a:spcPct val="100000"/>
              </a:lnSpc>
              <a:spcBef>
                <a:spcPts val="4290"/>
              </a:spcBef>
            </a:pPr>
            <a:r>
              <a:rPr sz="5000" b="1" spc="320" dirty="0">
                <a:solidFill>
                  <a:srgbClr val="FFFFFF"/>
                </a:solidFill>
                <a:latin typeface="Times New Roman"/>
                <a:cs typeface="Times New Roman"/>
              </a:rPr>
              <a:t>cont-</a:t>
            </a:r>
            <a:r>
              <a:rPr sz="5000" b="1" spc="-575" dirty="0">
                <a:solidFill>
                  <a:srgbClr val="FFFFFF"/>
                </a:solidFill>
                <a:latin typeface="Times New Roman"/>
                <a:cs typeface="Times New Roman"/>
              </a:rPr>
              <a:t>1</a:t>
            </a:r>
            <a:endParaRPr sz="5000">
              <a:latin typeface="Times New Roman"/>
              <a:cs typeface="Times New Roman"/>
            </a:endParaRPr>
          </a:p>
        </p:txBody>
      </p:sp>
      <p:sp>
        <p:nvSpPr>
          <p:cNvPr id="10" name="object 10"/>
          <p:cNvSpPr txBox="1"/>
          <p:nvPr/>
        </p:nvSpPr>
        <p:spPr>
          <a:xfrm>
            <a:off x="10674867" y="4418255"/>
            <a:ext cx="1972945" cy="787400"/>
          </a:xfrm>
          <a:prstGeom prst="rect">
            <a:avLst/>
          </a:prstGeom>
        </p:spPr>
        <p:txBody>
          <a:bodyPr vert="horz" wrap="square" lIns="0" tIns="12700" rIns="0" bIns="0" rtlCol="0">
            <a:spAutoFit/>
          </a:bodyPr>
          <a:lstStyle/>
          <a:p>
            <a:pPr marL="12700">
              <a:lnSpc>
                <a:spcPct val="100000"/>
              </a:lnSpc>
              <a:spcBef>
                <a:spcPts val="100"/>
              </a:spcBef>
            </a:pPr>
            <a:r>
              <a:rPr sz="5000" b="1" spc="320" dirty="0">
                <a:solidFill>
                  <a:srgbClr val="FFFFFF"/>
                </a:solidFill>
                <a:latin typeface="Times New Roman"/>
                <a:cs typeface="Times New Roman"/>
              </a:rPr>
              <a:t>cont-</a:t>
            </a:r>
            <a:r>
              <a:rPr sz="5000" b="1" spc="250" dirty="0">
                <a:solidFill>
                  <a:srgbClr val="FFFFFF"/>
                </a:solidFill>
                <a:latin typeface="Times New Roman"/>
                <a:cs typeface="Times New Roman"/>
              </a:rPr>
              <a:t>2</a:t>
            </a:r>
            <a:endParaRPr sz="5000">
              <a:latin typeface="Times New Roman"/>
              <a:cs typeface="Times New Roman"/>
            </a:endParaRPr>
          </a:p>
        </p:txBody>
      </p:sp>
      <p:sp>
        <p:nvSpPr>
          <p:cNvPr id="11" name="object 11"/>
          <p:cNvSpPr txBox="1"/>
          <p:nvPr/>
        </p:nvSpPr>
        <p:spPr>
          <a:xfrm>
            <a:off x="8447643" y="8466932"/>
            <a:ext cx="1498600" cy="1191260"/>
          </a:xfrm>
          <a:prstGeom prst="rect">
            <a:avLst/>
          </a:prstGeom>
        </p:spPr>
        <p:txBody>
          <a:bodyPr vert="horz" wrap="square" lIns="0" tIns="12065" rIns="0" bIns="0" rtlCol="0">
            <a:spAutoFit/>
          </a:bodyPr>
          <a:lstStyle/>
          <a:p>
            <a:pPr marL="203200" marR="5080" indent="-191135">
              <a:lnSpc>
                <a:spcPct val="117600"/>
              </a:lnSpc>
              <a:spcBef>
                <a:spcPts val="95"/>
              </a:spcBef>
            </a:pPr>
            <a:r>
              <a:rPr sz="3250" b="1" spc="220" dirty="0">
                <a:solidFill>
                  <a:srgbClr val="FF3131"/>
                </a:solidFill>
                <a:latin typeface="Times New Roman"/>
                <a:cs typeface="Times New Roman"/>
              </a:rPr>
              <a:t>volume </a:t>
            </a:r>
            <a:r>
              <a:rPr sz="3250" b="1" spc="-10" dirty="0">
                <a:solidFill>
                  <a:srgbClr val="FF3131"/>
                </a:solidFill>
                <a:latin typeface="Times New Roman"/>
                <a:cs typeface="Times New Roman"/>
              </a:rPr>
              <a:t>(data)</a:t>
            </a:r>
            <a:endParaRPr sz="3250">
              <a:latin typeface="Times New Roman"/>
              <a:cs typeface="Times New Roman"/>
            </a:endParaRPr>
          </a:p>
        </p:txBody>
      </p:sp>
      <p:grpSp>
        <p:nvGrpSpPr>
          <p:cNvPr id="12" name="object 12"/>
          <p:cNvGrpSpPr/>
          <p:nvPr/>
        </p:nvGrpSpPr>
        <p:grpSpPr>
          <a:xfrm>
            <a:off x="3804403" y="2521267"/>
            <a:ext cx="9596120" cy="7332980"/>
            <a:chOff x="3804403" y="2521267"/>
            <a:chExt cx="9596120" cy="7332980"/>
          </a:xfrm>
        </p:grpSpPr>
        <p:sp>
          <p:nvSpPr>
            <p:cNvPr id="13" name="object 13"/>
            <p:cNvSpPr/>
            <p:nvPr/>
          </p:nvSpPr>
          <p:spPr>
            <a:xfrm>
              <a:off x="9147284" y="7412817"/>
              <a:ext cx="50165" cy="842644"/>
            </a:xfrm>
            <a:custGeom>
              <a:avLst/>
              <a:gdLst/>
              <a:ahLst/>
              <a:cxnLst/>
              <a:rect l="l" t="t" r="r" b="b"/>
              <a:pathLst>
                <a:path w="50165" h="842645">
                  <a:moveTo>
                    <a:pt x="49572" y="842533"/>
                  </a:moveTo>
                  <a:lnTo>
                    <a:pt x="0" y="0"/>
                  </a:lnTo>
                </a:path>
              </a:pathLst>
            </a:custGeom>
            <a:ln w="114300">
              <a:solidFill>
                <a:srgbClr val="000000"/>
              </a:solidFill>
            </a:ln>
          </p:spPr>
          <p:txBody>
            <a:bodyPr wrap="square" lIns="0" tIns="0" rIns="0" bIns="0" rtlCol="0"/>
            <a:lstStyle/>
            <a:p>
              <a:endParaRPr/>
            </a:p>
          </p:txBody>
        </p:sp>
        <p:sp>
          <p:nvSpPr>
            <p:cNvPr id="14" name="object 14"/>
            <p:cNvSpPr/>
            <p:nvPr/>
          </p:nvSpPr>
          <p:spPr>
            <a:xfrm>
              <a:off x="8989557" y="7412817"/>
              <a:ext cx="342900" cy="238760"/>
            </a:xfrm>
            <a:custGeom>
              <a:avLst/>
              <a:gdLst/>
              <a:ahLst/>
              <a:cxnLst/>
              <a:rect l="l" t="t" r="r" b="b"/>
              <a:pathLst>
                <a:path w="342900" h="238759">
                  <a:moveTo>
                    <a:pt x="0" y="238275"/>
                  </a:moveTo>
                  <a:lnTo>
                    <a:pt x="157726" y="0"/>
                  </a:lnTo>
                  <a:lnTo>
                    <a:pt x="342307" y="218134"/>
                  </a:lnTo>
                </a:path>
              </a:pathLst>
            </a:custGeom>
            <a:ln w="114300">
              <a:solidFill>
                <a:srgbClr val="000000"/>
              </a:solidFill>
            </a:ln>
          </p:spPr>
          <p:txBody>
            <a:bodyPr wrap="square" lIns="0" tIns="0" rIns="0" bIns="0" rtlCol="0"/>
            <a:lstStyle/>
            <a:p>
              <a:endParaRPr/>
            </a:p>
          </p:txBody>
        </p:sp>
        <p:sp>
          <p:nvSpPr>
            <p:cNvPr id="15" name="object 15"/>
            <p:cNvSpPr/>
            <p:nvPr/>
          </p:nvSpPr>
          <p:spPr>
            <a:xfrm>
              <a:off x="9143999" y="6097721"/>
              <a:ext cx="2475230" cy="1258570"/>
            </a:xfrm>
            <a:custGeom>
              <a:avLst/>
              <a:gdLst/>
              <a:ahLst/>
              <a:cxnLst/>
              <a:rect l="l" t="t" r="r" b="b"/>
              <a:pathLst>
                <a:path w="2475229" h="1258570">
                  <a:moveTo>
                    <a:pt x="0" y="1258107"/>
                  </a:moveTo>
                  <a:lnTo>
                    <a:pt x="2474821" y="0"/>
                  </a:lnTo>
                </a:path>
              </a:pathLst>
            </a:custGeom>
            <a:ln w="95250">
              <a:solidFill>
                <a:srgbClr val="000000"/>
              </a:solidFill>
            </a:ln>
          </p:spPr>
          <p:txBody>
            <a:bodyPr wrap="square" lIns="0" tIns="0" rIns="0" bIns="0" rtlCol="0"/>
            <a:lstStyle/>
            <a:p>
              <a:endParaRPr/>
            </a:p>
          </p:txBody>
        </p:sp>
        <p:sp>
          <p:nvSpPr>
            <p:cNvPr id="16" name="object 16"/>
            <p:cNvSpPr/>
            <p:nvPr/>
          </p:nvSpPr>
          <p:spPr>
            <a:xfrm>
              <a:off x="11384258" y="6056687"/>
              <a:ext cx="234950" cy="255270"/>
            </a:xfrm>
            <a:custGeom>
              <a:avLst/>
              <a:gdLst/>
              <a:ahLst/>
              <a:cxnLst/>
              <a:rect l="l" t="t" r="r" b="b"/>
              <a:pathLst>
                <a:path w="234950" h="255270">
                  <a:moveTo>
                    <a:pt x="0" y="0"/>
                  </a:moveTo>
                  <a:lnTo>
                    <a:pt x="234562" y="41033"/>
                  </a:lnTo>
                  <a:lnTo>
                    <a:pt x="129492" y="254724"/>
                  </a:lnTo>
                </a:path>
              </a:pathLst>
            </a:custGeom>
            <a:ln w="95250">
              <a:solidFill>
                <a:srgbClr val="000000"/>
              </a:solidFill>
            </a:ln>
          </p:spPr>
          <p:txBody>
            <a:bodyPr wrap="square" lIns="0" tIns="0" rIns="0" bIns="0" rtlCol="0"/>
            <a:lstStyle/>
            <a:p>
              <a:endParaRPr/>
            </a:p>
          </p:txBody>
        </p:sp>
        <p:sp>
          <p:nvSpPr>
            <p:cNvPr id="17" name="object 17"/>
            <p:cNvSpPr/>
            <p:nvPr/>
          </p:nvSpPr>
          <p:spPr>
            <a:xfrm>
              <a:off x="6718418" y="6098052"/>
              <a:ext cx="2425700" cy="1257935"/>
            </a:xfrm>
            <a:custGeom>
              <a:avLst/>
              <a:gdLst/>
              <a:ahLst/>
              <a:cxnLst/>
              <a:rect l="l" t="t" r="r" b="b"/>
              <a:pathLst>
                <a:path w="2425700" h="1257934">
                  <a:moveTo>
                    <a:pt x="2425526" y="1257765"/>
                  </a:moveTo>
                  <a:lnTo>
                    <a:pt x="0" y="0"/>
                  </a:lnTo>
                </a:path>
              </a:pathLst>
            </a:custGeom>
            <a:ln w="95249">
              <a:solidFill>
                <a:srgbClr val="000000"/>
              </a:solidFill>
            </a:ln>
          </p:spPr>
          <p:txBody>
            <a:bodyPr wrap="square" lIns="0" tIns="0" rIns="0" bIns="0" rtlCol="0"/>
            <a:lstStyle/>
            <a:p>
              <a:endParaRPr/>
            </a:p>
          </p:txBody>
        </p:sp>
        <p:sp>
          <p:nvSpPr>
            <p:cNvPr id="18" name="object 18"/>
            <p:cNvSpPr/>
            <p:nvPr/>
          </p:nvSpPr>
          <p:spPr>
            <a:xfrm>
              <a:off x="6718418" y="6058911"/>
              <a:ext cx="234950" cy="254000"/>
            </a:xfrm>
            <a:custGeom>
              <a:avLst/>
              <a:gdLst/>
              <a:ahLst/>
              <a:cxnLst/>
              <a:rect l="l" t="t" r="r" b="b"/>
              <a:pathLst>
                <a:path w="234950" h="254000">
                  <a:moveTo>
                    <a:pt x="103343" y="253672"/>
                  </a:moveTo>
                  <a:lnTo>
                    <a:pt x="0" y="39140"/>
                  </a:lnTo>
                  <a:lnTo>
                    <a:pt x="234886" y="0"/>
                  </a:lnTo>
                </a:path>
              </a:pathLst>
            </a:custGeom>
            <a:ln w="95249">
              <a:solidFill>
                <a:srgbClr val="000000"/>
              </a:solidFill>
            </a:ln>
          </p:spPr>
          <p:txBody>
            <a:bodyPr wrap="square" lIns="0" tIns="0" rIns="0" bIns="0" rtlCol="0"/>
            <a:lstStyle/>
            <a:p>
              <a:endParaRPr/>
            </a:p>
          </p:txBody>
        </p:sp>
        <p:sp>
          <p:nvSpPr>
            <p:cNvPr id="19" name="object 19"/>
            <p:cNvSpPr/>
            <p:nvPr/>
          </p:nvSpPr>
          <p:spPr>
            <a:xfrm>
              <a:off x="3804399" y="2521266"/>
              <a:ext cx="9596120" cy="7332980"/>
            </a:xfrm>
            <a:custGeom>
              <a:avLst/>
              <a:gdLst/>
              <a:ahLst/>
              <a:cxnLst/>
              <a:rect l="l" t="t" r="r" b="b"/>
              <a:pathLst>
                <a:path w="9596119" h="7332980">
                  <a:moveTo>
                    <a:pt x="6411823" y="7298550"/>
                  </a:moveTo>
                  <a:lnTo>
                    <a:pt x="6411112" y="7301243"/>
                  </a:lnTo>
                  <a:lnTo>
                    <a:pt x="6410312" y="7304595"/>
                  </a:lnTo>
                  <a:lnTo>
                    <a:pt x="6411544" y="7301243"/>
                  </a:lnTo>
                  <a:lnTo>
                    <a:pt x="6411823" y="7298550"/>
                  </a:lnTo>
                  <a:close/>
                </a:path>
                <a:path w="9596119" h="7332980">
                  <a:moveTo>
                    <a:pt x="6412700" y="7292708"/>
                  </a:moveTo>
                  <a:lnTo>
                    <a:pt x="6412408" y="7294613"/>
                  </a:lnTo>
                  <a:lnTo>
                    <a:pt x="6412052" y="7297318"/>
                  </a:lnTo>
                  <a:lnTo>
                    <a:pt x="6412700" y="7294613"/>
                  </a:lnTo>
                  <a:lnTo>
                    <a:pt x="6412700" y="7292708"/>
                  </a:lnTo>
                  <a:close/>
                </a:path>
                <a:path w="9596119" h="7332980">
                  <a:moveTo>
                    <a:pt x="6413347" y="7283577"/>
                  </a:moveTo>
                  <a:lnTo>
                    <a:pt x="6412103" y="7274242"/>
                  </a:lnTo>
                  <a:lnTo>
                    <a:pt x="6410363" y="7268819"/>
                  </a:lnTo>
                  <a:lnTo>
                    <a:pt x="6410198" y="7268565"/>
                  </a:lnTo>
                  <a:lnTo>
                    <a:pt x="6410198" y="7270432"/>
                  </a:lnTo>
                  <a:lnTo>
                    <a:pt x="6406540" y="7264235"/>
                  </a:lnTo>
                  <a:lnTo>
                    <a:pt x="6402464" y="7259472"/>
                  </a:lnTo>
                  <a:lnTo>
                    <a:pt x="6402603" y="7259561"/>
                  </a:lnTo>
                  <a:lnTo>
                    <a:pt x="6402857" y="7259815"/>
                  </a:lnTo>
                  <a:lnTo>
                    <a:pt x="6406540" y="7264235"/>
                  </a:lnTo>
                  <a:lnTo>
                    <a:pt x="6406616" y="7264362"/>
                  </a:lnTo>
                  <a:lnTo>
                    <a:pt x="6410198" y="7270432"/>
                  </a:lnTo>
                  <a:lnTo>
                    <a:pt x="6410198" y="7268565"/>
                  </a:lnTo>
                  <a:lnTo>
                    <a:pt x="6407467" y="7264362"/>
                  </a:lnTo>
                  <a:lnTo>
                    <a:pt x="6403022" y="7259815"/>
                  </a:lnTo>
                  <a:lnTo>
                    <a:pt x="6402540" y="7259409"/>
                  </a:lnTo>
                  <a:lnTo>
                    <a:pt x="6401867" y="7258863"/>
                  </a:lnTo>
                  <a:lnTo>
                    <a:pt x="6402121" y="7259015"/>
                  </a:lnTo>
                  <a:lnTo>
                    <a:pt x="6402451" y="7259307"/>
                  </a:lnTo>
                  <a:lnTo>
                    <a:pt x="6402324" y="7259104"/>
                  </a:lnTo>
                  <a:lnTo>
                    <a:pt x="6402057" y="7258825"/>
                  </a:lnTo>
                  <a:lnTo>
                    <a:pt x="6401549" y="7258444"/>
                  </a:lnTo>
                  <a:lnTo>
                    <a:pt x="6401549" y="7258596"/>
                  </a:lnTo>
                  <a:lnTo>
                    <a:pt x="6395999" y="7253960"/>
                  </a:lnTo>
                  <a:lnTo>
                    <a:pt x="6401524" y="7258558"/>
                  </a:lnTo>
                  <a:lnTo>
                    <a:pt x="6394958" y="7252335"/>
                  </a:lnTo>
                  <a:lnTo>
                    <a:pt x="6386576" y="7245083"/>
                  </a:lnTo>
                  <a:lnTo>
                    <a:pt x="6384988" y="7243699"/>
                  </a:lnTo>
                  <a:lnTo>
                    <a:pt x="6352667" y="7218769"/>
                  </a:lnTo>
                  <a:lnTo>
                    <a:pt x="6305258" y="7184441"/>
                  </a:lnTo>
                  <a:lnTo>
                    <a:pt x="6244374" y="7141781"/>
                  </a:lnTo>
                  <a:lnTo>
                    <a:pt x="5044719" y="6340322"/>
                  </a:lnTo>
                  <a:lnTo>
                    <a:pt x="5048237" y="6337363"/>
                  </a:lnTo>
                  <a:lnTo>
                    <a:pt x="5106162" y="6289637"/>
                  </a:lnTo>
                  <a:lnTo>
                    <a:pt x="5167681" y="6239942"/>
                  </a:lnTo>
                  <a:lnTo>
                    <a:pt x="5233721" y="6187668"/>
                  </a:lnTo>
                  <a:lnTo>
                    <a:pt x="5305183" y="6132195"/>
                  </a:lnTo>
                  <a:lnTo>
                    <a:pt x="5424525" y="6041669"/>
                  </a:lnTo>
                  <a:lnTo>
                    <a:pt x="5561190" y="5940476"/>
                  </a:lnTo>
                  <a:lnTo>
                    <a:pt x="5835751" y="5742533"/>
                  </a:lnTo>
                  <a:lnTo>
                    <a:pt x="5898718" y="5697855"/>
                  </a:lnTo>
                  <a:lnTo>
                    <a:pt x="5902007" y="5693499"/>
                  </a:lnTo>
                  <a:lnTo>
                    <a:pt x="5909310" y="5682983"/>
                  </a:lnTo>
                  <a:lnTo>
                    <a:pt x="5916790" y="5670131"/>
                  </a:lnTo>
                  <a:lnTo>
                    <a:pt x="5920625" y="5658802"/>
                  </a:lnTo>
                  <a:lnTo>
                    <a:pt x="5920168" y="5650128"/>
                  </a:lnTo>
                  <a:lnTo>
                    <a:pt x="5895860" y="5616181"/>
                  </a:lnTo>
                  <a:lnTo>
                    <a:pt x="5872315" y="5609526"/>
                  </a:lnTo>
                  <a:lnTo>
                    <a:pt x="5866181" y="5610225"/>
                  </a:lnTo>
                  <a:lnTo>
                    <a:pt x="5865546" y="5610225"/>
                  </a:lnTo>
                  <a:lnTo>
                    <a:pt x="5820422" y="5630723"/>
                  </a:lnTo>
                  <a:lnTo>
                    <a:pt x="5785586" y="5653062"/>
                  </a:lnTo>
                  <a:lnTo>
                    <a:pt x="5743943" y="5681967"/>
                  </a:lnTo>
                  <a:lnTo>
                    <a:pt x="5697613" y="5715482"/>
                  </a:lnTo>
                  <a:lnTo>
                    <a:pt x="5430126" y="5915977"/>
                  </a:lnTo>
                  <a:lnTo>
                    <a:pt x="5353761" y="5975032"/>
                  </a:lnTo>
                  <a:lnTo>
                    <a:pt x="5277929" y="6034811"/>
                  </a:lnTo>
                  <a:lnTo>
                    <a:pt x="5049444" y="6218758"/>
                  </a:lnTo>
                  <a:lnTo>
                    <a:pt x="5010734" y="6250813"/>
                  </a:lnTo>
                  <a:lnTo>
                    <a:pt x="4970424" y="6284734"/>
                  </a:lnTo>
                  <a:lnTo>
                    <a:pt x="4966513" y="6288075"/>
                  </a:lnTo>
                  <a:lnTo>
                    <a:pt x="4894592" y="6240018"/>
                  </a:lnTo>
                  <a:lnTo>
                    <a:pt x="4799520" y="6175070"/>
                  </a:lnTo>
                  <a:lnTo>
                    <a:pt x="4617326" y="6047676"/>
                  </a:lnTo>
                  <a:lnTo>
                    <a:pt x="4544187" y="5995505"/>
                  </a:lnTo>
                  <a:lnTo>
                    <a:pt x="4509681" y="5970448"/>
                  </a:lnTo>
                  <a:lnTo>
                    <a:pt x="4475645" y="5945390"/>
                  </a:lnTo>
                  <a:lnTo>
                    <a:pt x="4410291" y="5896572"/>
                  </a:lnTo>
                  <a:lnTo>
                    <a:pt x="4378503" y="5872467"/>
                  </a:lnTo>
                  <a:lnTo>
                    <a:pt x="4345102" y="5846127"/>
                  </a:lnTo>
                  <a:lnTo>
                    <a:pt x="4309110" y="5816206"/>
                  </a:lnTo>
                  <a:lnTo>
                    <a:pt x="4269587" y="5781383"/>
                  </a:lnTo>
                  <a:lnTo>
                    <a:pt x="4225595" y="5740311"/>
                  </a:lnTo>
                  <a:lnTo>
                    <a:pt x="4176179" y="5691644"/>
                  </a:lnTo>
                  <a:lnTo>
                    <a:pt x="4120388" y="5634050"/>
                  </a:lnTo>
                  <a:lnTo>
                    <a:pt x="4115587" y="5631523"/>
                  </a:lnTo>
                  <a:lnTo>
                    <a:pt x="4104081" y="5626062"/>
                  </a:lnTo>
                  <a:lnTo>
                    <a:pt x="4090251" y="5620778"/>
                  </a:lnTo>
                  <a:lnTo>
                    <a:pt x="4078478" y="5618810"/>
                  </a:lnTo>
                  <a:lnTo>
                    <a:pt x="4069842" y="5620524"/>
                  </a:lnTo>
                  <a:lnTo>
                    <a:pt x="4039793" y="5650115"/>
                  </a:lnTo>
                  <a:lnTo>
                    <a:pt x="4036568" y="5667387"/>
                  </a:lnTo>
                  <a:lnTo>
                    <a:pt x="4037457" y="5674969"/>
                  </a:lnTo>
                  <a:lnTo>
                    <a:pt x="4067340" y="5721705"/>
                  </a:lnTo>
                  <a:lnTo>
                    <a:pt x="4121835" y="5778919"/>
                  </a:lnTo>
                  <a:lnTo>
                    <a:pt x="4153725" y="5809310"/>
                  </a:lnTo>
                  <a:lnTo>
                    <a:pt x="4184573" y="5836666"/>
                  </a:lnTo>
                  <a:lnTo>
                    <a:pt x="4217543" y="5864085"/>
                  </a:lnTo>
                  <a:lnTo>
                    <a:pt x="4253382" y="5892406"/>
                  </a:lnTo>
                  <a:lnTo>
                    <a:pt x="4292790" y="5922480"/>
                  </a:lnTo>
                  <a:lnTo>
                    <a:pt x="4336491" y="5955131"/>
                  </a:lnTo>
                  <a:lnTo>
                    <a:pt x="4447108" y="6036564"/>
                  </a:lnTo>
                  <a:lnTo>
                    <a:pt x="4554918" y="6113704"/>
                  </a:lnTo>
                  <a:lnTo>
                    <a:pt x="4764278" y="6260198"/>
                  </a:lnTo>
                  <a:lnTo>
                    <a:pt x="4895139" y="6349695"/>
                  </a:lnTo>
                  <a:lnTo>
                    <a:pt x="4882400" y="6360795"/>
                  </a:lnTo>
                  <a:lnTo>
                    <a:pt x="4730191" y="6494958"/>
                  </a:lnTo>
                  <a:lnTo>
                    <a:pt x="4495762" y="6704254"/>
                  </a:lnTo>
                  <a:lnTo>
                    <a:pt x="4403623" y="6788429"/>
                  </a:lnTo>
                  <a:lnTo>
                    <a:pt x="4360291" y="6828663"/>
                  </a:lnTo>
                  <a:lnTo>
                    <a:pt x="4319600" y="6867030"/>
                  </a:lnTo>
                  <a:lnTo>
                    <a:pt x="4282135" y="6903009"/>
                  </a:lnTo>
                  <a:lnTo>
                    <a:pt x="4248505" y="6936143"/>
                  </a:lnTo>
                  <a:lnTo>
                    <a:pt x="4219295" y="6965937"/>
                  </a:lnTo>
                  <a:lnTo>
                    <a:pt x="4176547" y="7013562"/>
                  </a:lnTo>
                  <a:lnTo>
                    <a:pt x="4161472" y="7035228"/>
                  </a:lnTo>
                  <a:lnTo>
                    <a:pt x="4158500" y="7038022"/>
                  </a:lnTo>
                  <a:lnTo>
                    <a:pt x="4154894" y="7044207"/>
                  </a:lnTo>
                  <a:lnTo>
                    <a:pt x="4153370" y="7048627"/>
                  </a:lnTo>
                  <a:lnTo>
                    <a:pt x="4153370" y="7052437"/>
                  </a:lnTo>
                  <a:lnTo>
                    <a:pt x="4151934" y="7060146"/>
                  </a:lnTo>
                  <a:lnTo>
                    <a:pt x="4151833" y="7069455"/>
                  </a:lnTo>
                  <a:lnTo>
                    <a:pt x="4151757" y="7061086"/>
                  </a:lnTo>
                  <a:lnTo>
                    <a:pt x="4153370" y="7052437"/>
                  </a:lnTo>
                  <a:lnTo>
                    <a:pt x="4153370" y="7048627"/>
                  </a:lnTo>
                  <a:lnTo>
                    <a:pt x="4152544" y="7051002"/>
                  </a:lnTo>
                  <a:lnTo>
                    <a:pt x="4151261" y="7057987"/>
                  </a:lnTo>
                  <a:lnTo>
                    <a:pt x="4151134" y="7060146"/>
                  </a:lnTo>
                  <a:lnTo>
                    <a:pt x="4151084" y="7061086"/>
                  </a:lnTo>
                  <a:lnTo>
                    <a:pt x="4150880" y="7064692"/>
                  </a:lnTo>
                  <a:lnTo>
                    <a:pt x="4150944" y="7065277"/>
                  </a:lnTo>
                  <a:lnTo>
                    <a:pt x="4151706" y="7071398"/>
                  </a:lnTo>
                  <a:lnTo>
                    <a:pt x="4153027" y="7075398"/>
                  </a:lnTo>
                  <a:lnTo>
                    <a:pt x="4153230" y="7076402"/>
                  </a:lnTo>
                  <a:lnTo>
                    <a:pt x="4153852" y="7077888"/>
                  </a:lnTo>
                  <a:lnTo>
                    <a:pt x="4154170" y="7078675"/>
                  </a:lnTo>
                  <a:lnTo>
                    <a:pt x="4155935" y="7082891"/>
                  </a:lnTo>
                  <a:lnTo>
                    <a:pt x="4156938" y="7084288"/>
                  </a:lnTo>
                  <a:lnTo>
                    <a:pt x="4157218" y="7084847"/>
                  </a:lnTo>
                  <a:lnTo>
                    <a:pt x="4159593" y="7088479"/>
                  </a:lnTo>
                  <a:lnTo>
                    <a:pt x="4161104" y="7090067"/>
                  </a:lnTo>
                  <a:lnTo>
                    <a:pt x="4162234" y="7091273"/>
                  </a:lnTo>
                  <a:lnTo>
                    <a:pt x="4164266" y="7093305"/>
                  </a:lnTo>
                  <a:lnTo>
                    <a:pt x="4166146" y="7095325"/>
                  </a:lnTo>
                  <a:lnTo>
                    <a:pt x="4171912" y="7099744"/>
                  </a:lnTo>
                  <a:lnTo>
                    <a:pt x="4178223" y="7103008"/>
                  </a:lnTo>
                  <a:lnTo>
                    <a:pt x="4185526" y="7104799"/>
                  </a:lnTo>
                  <a:lnTo>
                    <a:pt x="4186669" y="7104799"/>
                  </a:lnTo>
                  <a:lnTo>
                    <a:pt x="4193413" y="7105193"/>
                  </a:lnTo>
                  <a:lnTo>
                    <a:pt x="4195572" y="7104799"/>
                  </a:lnTo>
                  <a:lnTo>
                    <a:pt x="4203814" y="7104799"/>
                  </a:lnTo>
                  <a:lnTo>
                    <a:pt x="4211155" y="7103135"/>
                  </a:lnTo>
                  <a:lnTo>
                    <a:pt x="4217555" y="7100062"/>
                  </a:lnTo>
                  <a:lnTo>
                    <a:pt x="4223232" y="7095731"/>
                  </a:lnTo>
                  <a:lnTo>
                    <a:pt x="4227258" y="7091273"/>
                  </a:lnTo>
                  <a:lnTo>
                    <a:pt x="4241343" y="7081977"/>
                  </a:lnTo>
                  <a:lnTo>
                    <a:pt x="4262983" y="7065277"/>
                  </a:lnTo>
                  <a:lnTo>
                    <a:pt x="4288739" y="7043648"/>
                  </a:lnTo>
                  <a:lnTo>
                    <a:pt x="4316654" y="7018972"/>
                  </a:lnTo>
                  <a:lnTo>
                    <a:pt x="4318228" y="7017588"/>
                  </a:lnTo>
                  <a:lnTo>
                    <a:pt x="4351045" y="6987591"/>
                  </a:lnTo>
                  <a:lnTo>
                    <a:pt x="4386796" y="6954152"/>
                  </a:lnTo>
                  <a:lnTo>
                    <a:pt x="4425099" y="6917753"/>
                  </a:lnTo>
                  <a:lnTo>
                    <a:pt x="4731270" y="6621500"/>
                  </a:lnTo>
                  <a:lnTo>
                    <a:pt x="4775720" y="6579159"/>
                  </a:lnTo>
                  <a:lnTo>
                    <a:pt x="4819167" y="6538277"/>
                  </a:lnTo>
                  <a:lnTo>
                    <a:pt x="4861217" y="6499365"/>
                  </a:lnTo>
                  <a:lnTo>
                    <a:pt x="4901476" y="6462903"/>
                  </a:lnTo>
                  <a:lnTo>
                    <a:pt x="4939550" y="6429375"/>
                  </a:lnTo>
                  <a:lnTo>
                    <a:pt x="4971605" y="6401994"/>
                  </a:lnTo>
                  <a:lnTo>
                    <a:pt x="5902147" y="7038353"/>
                  </a:lnTo>
                  <a:lnTo>
                    <a:pt x="6167298" y="7215238"/>
                  </a:lnTo>
                  <a:lnTo>
                    <a:pt x="6236411" y="7259815"/>
                  </a:lnTo>
                  <a:lnTo>
                    <a:pt x="6292367" y="7294613"/>
                  </a:lnTo>
                  <a:lnTo>
                    <a:pt x="6332664" y="7317854"/>
                  </a:lnTo>
                  <a:lnTo>
                    <a:pt x="6346431" y="7324649"/>
                  </a:lnTo>
                  <a:lnTo>
                    <a:pt x="6346825" y="7324928"/>
                  </a:lnTo>
                  <a:lnTo>
                    <a:pt x="6348222" y="7325919"/>
                  </a:lnTo>
                  <a:lnTo>
                    <a:pt x="6354839" y="7329259"/>
                  </a:lnTo>
                  <a:lnTo>
                    <a:pt x="6362001" y="7331519"/>
                  </a:lnTo>
                  <a:lnTo>
                    <a:pt x="6364681" y="7331875"/>
                  </a:lnTo>
                  <a:lnTo>
                    <a:pt x="6367424" y="7332421"/>
                  </a:lnTo>
                  <a:lnTo>
                    <a:pt x="6368897" y="7332421"/>
                  </a:lnTo>
                  <a:lnTo>
                    <a:pt x="6373774" y="7332421"/>
                  </a:lnTo>
                  <a:lnTo>
                    <a:pt x="6383388" y="7329602"/>
                  </a:lnTo>
                  <a:lnTo>
                    <a:pt x="6393231" y="7324649"/>
                  </a:lnTo>
                  <a:lnTo>
                    <a:pt x="6398146" y="7320991"/>
                  </a:lnTo>
                  <a:lnTo>
                    <a:pt x="6388773" y="7326516"/>
                  </a:lnTo>
                  <a:lnTo>
                    <a:pt x="6398133" y="7320991"/>
                  </a:lnTo>
                  <a:lnTo>
                    <a:pt x="6402133" y="7318019"/>
                  </a:lnTo>
                  <a:lnTo>
                    <a:pt x="6404470" y="7315149"/>
                  </a:lnTo>
                  <a:lnTo>
                    <a:pt x="6405435" y="7314247"/>
                  </a:lnTo>
                  <a:lnTo>
                    <a:pt x="6405893" y="7313409"/>
                  </a:lnTo>
                  <a:lnTo>
                    <a:pt x="6408293" y="7310437"/>
                  </a:lnTo>
                  <a:lnTo>
                    <a:pt x="6409969" y="7305700"/>
                  </a:lnTo>
                  <a:lnTo>
                    <a:pt x="6412890" y="7289584"/>
                  </a:lnTo>
                  <a:lnTo>
                    <a:pt x="6412497" y="7283577"/>
                  </a:lnTo>
                  <a:lnTo>
                    <a:pt x="6412319" y="7279640"/>
                  </a:lnTo>
                  <a:lnTo>
                    <a:pt x="6412890" y="7289584"/>
                  </a:lnTo>
                  <a:lnTo>
                    <a:pt x="6413347" y="7283577"/>
                  </a:lnTo>
                  <a:close/>
                </a:path>
                <a:path w="9596119" h="7332980">
                  <a:moveTo>
                    <a:pt x="9596082" y="4102354"/>
                  </a:moveTo>
                  <a:lnTo>
                    <a:pt x="9595180" y="4089654"/>
                  </a:lnTo>
                  <a:lnTo>
                    <a:pt x="9593212" y="4089654"/>
                  </a:lnTo>
                  <a:lnTo>
                    <a:pt x="9589656" y="4076954"/>
                  </a:lnTo>
                  <a:lnTo>
                    <a:pt x="9589503" y="4076954"/>
                  </a:lnTo>
                  <a:lnTo>
                    <a:pt x="9585427" y="4076954"/>
                  </a:lnTo>
                  <a:lnTo>
                    <a:pt x="9580131" y="4064254"/>
                  </a:lnTo>
                  <a:lnTo>
                    <a:pt x="9571558" y="4064254"/>
                  </a:lnTo>
                  <a:lnTo>
                    <a:pt x="9555112" y="4051554"/>
                  </a:lnTo>
                  <a:lnTo>
                    <a:pt x="9531617" y="4038854"/>
                  </a:lnTo>
                  <a:lnTo>
                    <a:pt x="9501708" y="4026154"/>
                  </a:lnTo>
                  <a:lnTo>
                    <a:pt x="9466021" y="4013454"/>
                  </a:lnTo>
                  <a:lnTo>
                    <a:pt x="9425191" y="4000754"/>
                  </a:lnTo>
                  <a:lnTo>
                    <a:pt x="9379852" y="3975354"/>
                  </a:lnTo>
                  <a:lnTo>
                    <a:pt x="9330652" y="3949954"/>
                  </a:lnTo>
                  <a:lnTo>
                    <a:pt x="9278214" y="3924554"/>
                  </a:lnTo>
                  <a:lnTo>
                    <a:pt x="9223172" y="3911854"/>
                  </a:lnTo>
                  <a:lnTo>
                    <a:pt x="9166187" y="3886454"/>
                  </a:lnTo>
                  <a:lnTo>
                    <a:pt x="8989835" y="3810254"/>
                  </a:lnTo>
                  <a:lnTo>
                    <a:pt x="8765934" y="3708654"/>
                  </a:lnTo>
                  <a:lnTo>
                    <a:pt x="8716213" y="3695954"/>
                  </a:lnTo>
                  <a:lnTo>
                    <a:pt x="8670328" y="3670554"/>
                  </a:lnTo>
                  <a:lnTo>
                    <a:pt x="8624697" y="3657854"/>
                  </a:lnTo>
                  <a:lnTo>
                    <a:pt x="8579256" y="3632454"/>
                  </a:lnTo>
                  <a:lnTo>
                    <a:pt x="8533943" y="3619754"/>
                  </a:lnTo>
                  <a:lnTo>
                    <a:pt x="8488718" y="3594354"/>
                  </a:lnTo>
                  <a:lnTo>
                    <a:pt x="8443519" y="3581654"/>
                  </a:lnTo>
                  <a:lnTo>
                    <a:pt x="8398281" y="3556254"/>
                  </a:lnTo>
                  <a:lnTo>
                    <a:pt x="8352968" y="3543554"/>
                  </a:lnTo>
                  <a:lnTo>
                    <a:pt x="8307514" y="3518154"/>
                  </a:lnTo>
                  <a:lnTo>
                    <a:pt x="8261871" y="3505454"/>
                  </a:lnTo>
                  <a:lnTo>
                    <a:pt x="8215973" y="3480054"/>
                  </a:lnTo>
                  <a:lnTo>
                    <a:pt x="8169770" y="3467354"/>
                  </a:lnTo>
                  <a:lnTo>
                    <a:pt x="8123212" y="3441954"/>
                  </a:lnTo>
                  <a:lnTo>
                    <a:pt x="8076247" y="3429254"/>
                  </a:lnTo>
                  <a:lnTo>
                    <a:pt x="8028800" y="3403854"/>
                  </a:lnTo>
                  <a:lnTo>
                    <a:pt x="7980832" y="3391154"/>
                  </a:lnTo>
                  <a:lnTo>
                    <a:pt x="7932293" y="3365754"/>
                  </a:lnTo>
                  <a:lnTo>
                    <a:pt x="7883106" y="3353054"/>
                  </a:lnTo>
                  <a:lnTo>
                    <a:pt x="7833246" y="3327654"/>
                  </a:lnTo>
                  <a:lnTo>
                    <a:pt x="7790167" y="3314954"/>
                  </a:lnTo>
                  <a:lnTo>
                    <a:pt x="7746670" y="3289554"/>
                  </a:lnTo>
                  <a:lnTo>
                    <a:pt x="7658506" y="3264154"/>
                  </a:lnTo>
                  <a:lnTo>
                    <a:pt x="7613866" y="3238754"/>
                  </a:lnTo>
                  <a:lnTo>
                    <a:pt x="7568882" y="3226054"/>
                  </a:lnTo>
                  <a:lnTo>
                    <a:pt x="7523543" y="3200654"/>
                  </a:lnTo>
                  <a:lnTo>
                    <a:pt x="7431951" y="3175254"/>
                  </a:lnTo>
                  <a:lnTo>
                    <a:pt x="7385710" y="3149854"/>
                  </a:lnTo>
                  <a:lnTo>
                    <a:pt x="7339203" y="3137154"/>
                  </a:lnTo>
                  <a:lnTo>
                    <a:pt x="7292429" y="3111754"/>
                  </a:lnTo>
                  <a:lnTo>
                    <a:pt x="7245426" y="3099054"/>
                  </a:lnTo>
                  <a:lnTo>
                    <a:pt x="7198195" y="3073654"/>
                  </a:lnTo>
                  <a:lnTo>
                    <a:pt x="7103123" y="3048254"/>
                  </a:lnTo>
                  <a:lnTo>
                    <a:pt x="6619761" y="2857754"/>
                  </a:lnTo>
                  <a:lnTo>
                    <a:pt x="6213538" y="2705354"/>
                  </a:lnTo>
                  <a:lnTo>
                    <a:pt x="6032347" y="2629154"/>
                  </a:lnTo>
                  <a:lnTo>
                    <a:pt x="5940387" y="2603754"/>
                  </a:lnTo>
                  <a:lnTo>
                    <a:pt x="5847067" y="2565654"/>
                  </a:lnTo>
                  <a:lnTo>
                    <a:pt x="5799810" y="2552954"/>
                  </a:lnTo>
                  <a:lnTo>
                    <a:pt x="5752096" y="2527554"/>
                  </a:lnTo>
                  <a:lnTo>
                    <a:pt x="5703875" y="2514854"/>
                  </a:lnTo>
                  <a:lnTo>
                    <a:pt x="5655119" y="2489454"/>
                  </a:lnTo>
                  <a:lnTo>
                    <a:pt x="5605780" y="2476754"/>
                  </a:lnTo>
                  <a:lnTo>
                    <a:pt x="5555818" y="2451354"/>
                  </a:lnTo>
                  <a:lnTo>
                    <a:pt x="5505196" y="2438654"/>
                  </a:lnTo>
                  <a:lnTo>
                    <a:pt x="5453862" y="2413254"/>
                  </a:lnTo>
                  <a:lnTo>
                    <a:pt x="5401805" y="2400554"/>
                  </a:lnTo>
                  <a:lnTo>
                    <a:pt x="5348948" y="2375154"/>
                  </a:lnTo>
                  <a:lnTo>
                    <a:pt x="5295277" y="2362454"/>
                  </a:lnTo>
                  <a:lnTo>
                    <a:pt x="5240731" y="2337054"/>
                  </a:lnTo>
                  <a:lnTo>
                    <a:pt x="5144986" y="2298954"/>
                  </a:lnTo>
                  <a:lnTo>
                    <a:pt x="5018925" y="2260854"/>
                  </a:lnTo>
                  <a:lnTo>
                    <a:pt x="4975314" y="2248154"/>
                  </a:lnTo>
                  <a:lnTo>
                    <a:pt x="4930953" y="2222754"/>
                  </a:lnTo>
                  <a:lnTo>
                    <a:pt x="4840109" y="2197354"/>
                  </a:lnTo>
                  <a:lnTo>
                    <a:pt x="4671657" y="2129536"/>
                  </a:lnTo>
                  <a:lnTo>
                    <a:pt x="4884801" y="2006612"/>
                  </a:lnTo>
                  <a:lnTo>
                    <a:pt x="4973396" y="1968512"/>
                  </a:lnTo>
                  <a:lnTo>
                    <a:pt x="5500281" y="1663700"/>
                  </a:lnTo>
                  <a:lnTo>
                    <a:pt x="5543410" y="1638300"/>
                  </a:lnTo>
                  <a:lnTo>
                    <a:pt x="5586336" y="1625600"/>
                  </a:lnTo>
                  <a:lnTo>
                    <a:pt x="5713920" y="1549400"/>
                  </a:lnTo>
                  <a:lnTo>
                    <a:pt x="5751487" y="1524000"/>
                  </a:lnTo>
                  <a:lnTo>
                    <a:pt x="5826849" y="1485900"/>
                  </a:lnTo>
                  <a:lnTo>
                    <a:pt x="5885015" y="1460500"/>
                  </a:lnTo>
                  <a:lnTo>
                    <a:pt x="5925274" y="1435100"/>
                  </a:lnTo>
                  <a:lnTo>
                    <a:pt x="5967120" y="1409700"/>
                  </a:lnTo>
                  <a:lnTo>
                    <a:pt x="6010935" y="1384300"/>
                  </a:lnTo>
                  <a:lnTo>
                    <a:pt x="6057074" y="1358900"/>
                  </a:lnTo>
                  <a:lnTo>
                    <a:pt x="6105918" y="1333500"/>
                  </a:lnTo>
                  <a:lnTo>
                    <a:pt x="6157811" y="1308100"/>
                  </a:lnTo>
                  <a:lnTo>
                    <a:pt x="6213132" y="1282700"/>
                  </a:lnTo>
                  <a:lnTo>
                    <a:pt x="6272238" y="1244600"/>
                  </a:lnTo>
                  <a:lnTo>
                    <a:pt x="6335496" y="1219200"/>
                  </a:lnTo>
                  <a:lnTo>
                    <a:pt x="6403276" y="1181100"/>
                  </a:lnTo>
                  <a:lnTo>
                    <a:pt x="6475920" y="1143000"/>
                  </a:lnTo>
                  <a:lnTo>
                    <a:pt x="6553822" y="1104900"/>
                  </a:lnTo>
                  <a:lnTo>
                    <a:pt x="6637337" y="1054100"/>
                  </a:lnTo>
                  <a:lnTo>
                    <a:pt x="6726822" y="1016000"/>
                  </a:lnTo>
                  <a:lnTo>
                    <a:pt x="6822643" y="965200"/>
                  </a:lnTo>
                  <a:lnTo>
                    <a:pt x="6925170" y="901700"/>
                  </a:lnTo>
                  <a:lnTo>
                    <a:pt x="7034758" y="850900"/>
                  </a:lnTo>
                  <a:lnTo>
                    <a:pt x="7151789" y="787400"/>
                  </a:lnTo>
                  <a:lnTo>
                    <a:pt x="7276605" y="723900"/>
                  </a:lnTo>
                  <a:lnTo>
                    <a:pt x="7409599" y="660400"/>
                  </a:lnTo>
                  <a:lnTo>
                    <a:pt x="7551102" y="584200"/>
                  </a:lnTo>
                  <a:lnTo>
                    <a:pt x="7701496" y="508000"/>
                  </a:lnTo>
                  <a:lnTo>
                    <a:pt x="7861160" y="419100"/>
                  </a:lnTo>
                  <a:lnTo>
                    <a:pt x="8030426" y="330200"/>
                  </a:lnTo>
                  <a:lnTo>
                    <a:pt x="8209686" y="241300"/>
                  </a:lnTo>
                  <a:lnTo>
                    <a:pt x="8498078" y="88900"/>
                  </a:lnTo>
                  <a:lnTo>
                    <a:pt x="8508086" y="88900"/>
                  </a:lnTo>
                  <a:lnTo>
                    <a:pt x="8515769" y="76200"/>
                  </a:lnTo>
                  <a:lnTo>
                    <a:pt x="8520938" y="63500"/>
                  </a:lnTo>
                  <a:lnTo>
                    <a:pt x="8523084" y="63500"/>
                  </a:lnTo>
                  <a:lnTo>
                    <a:pt x="8523795" y="50800"/>
                  </a:lnTo>
                  <a:lnTo>
                    <a:pt x="8523084" y="38100"/>
                  </a:lnTo>
                  <a:lnTo>
                    <a:pt x="8520938" y="38100"/>
                  </a:lnTo>
                  <a:lnTo>
                    <a:pt x="8517407" y="25400"/>
                  </a:lnTo>
                  <a:lnTo>
                    <a:pt x="8512607" y="25400"/>
                  </a:lnTo>
                  <a:lnTo>
                    <a:pt x="8506739" y="12700"/>
                  </a:lnTo>
                  <a:lnTo>
                    <a:pt x="8491664" y="12700"/>
                  </a:lnTo>
                  <a:lnTo>
                    <a:pt x="8482724" y="0"/>
                  </a:lnTo>
                  <a:lnTo>
                    <a:pt x="8471459" y="0"/>
                  </a:lnTo>
                  <a:lnTo>
                    <a:pt x="8456168" y="12700"/>
                  </a:lnTo>
                  <a:lnTo>
                    <a:pt x="8441690" y="12700"/>
                  </a:lnTo>
                  <a:lnTo>
                    <a:pt x="8423656" y="25400"/>
                  </a:lnTo>
                  <a:lnTo>
                    <a:pt x="8402244" y="25400"/>
                  </a:lnTo>
                  <a:lnTo>
                    <a:pt x="8377618" y="38100"/>
                  </a:lnTo>
                  <a:lnTo>
                    <a:pt x="8349932" y="50800"/>
                  </a:lnTo>
                  <a:lnTo>
                    <a:pt x="8319338" y="63500"/>
                  </a:lnTo>
                  <a:lnTo>
                    <a:pt x="8286013" y="76200"/>
                  </a:lnTo>
                  <a:lnTo>
                    <a:pt x="8250098" y="101600"/>
                  </a:lnTo>
                  <a:lnTo>
                    <a:pt x="8211756" y="114300"/>
                  </a:lnTo>
                  <a:lnTo>
                    <a:pt x="8171154" y="139700"/>
                  </a:lnTo>
                  <a:lnTo>
                    <a:pt x="8128444" y="152400"/>
                  </a:lnTo>
                  <a:lnTo>
                    <a:pt x="8083791" y="177800"/>
                  </a:lnTo>
                  <a:lnTo>
                    <a:pt x="8037360" y="203200"/>
                  </a:lnTo>
                  <a:lnTo>
                    <a:pt x="7989290" y="228600"/>
                  </a:lnTo>
                  <a:lnTo>
                    <a:pt x="7939760" y="254000"/>
                  </a:lnTo>
                  <a:lnTo>
                    <a:pt x="7888922" y="279400"/>
                  </a:lnTo>
                  <a:lnTo>
                    <a:pt x="7836941" y="304800"/>
                  </a:lnTo>
                  <a:lnTo>
                    <a:pt x="7783970" y="342900"/>
                  </a:lnTo>
                  <a:lnTo>
                    <a:pt x="7620711" y="419100"/>
                  </a:lnTo>
                  <a:lnTo>
                    <a:pt x="7565377" y="457200"/>
                  </a:lnTo>
                  <a:lnTo>
                    <a:pt x="7454290" y="508000"/>
                  </a:lnTo>
                  <a:lnTo>
                    <a:pt x="7398867" y="546100"/>
                  </a:lnTo>
                  <a:lnTo>
                    <a:pt x="7181609" y="660400"/>
                  </a:lnTo>
                  <a:lnTo>
                    <a:pt x="7077888" y="711200"/>
                  </a:lnTo>
                  <a:lnTo>
                    <a:pt x="7027812" y="749300"/>
                  </a:lnTo>
                  <a:lnTo>
                    <a:pt x="6979145" y="774700"/>
                  </a:lnTo>
                  <a:lnTo>
                    <a:pt x="6932041" y="800100"/>
                  </a:lnTo>
                  <a:lnTo>
                    <a:pt x="6886651" y="825500"/>
                  </a:lnTo>
                  <a:lnTo>
                    <a:pt x="6843141" y="838200"/>
                  </a:lnTo>
                  <a:lnTo>
                    <a:pt x="6801675" y="863600"/>
                  </a:lnTo>
                  <a:lnTo>
                    <a:pt x="6704076" y="914400"/>
                  </a:lnTo>
                  <a:lnTo>
                    <a:pt x="6609372" y="965200"/>
                  </a:lnTo>
                  <a:lnTo>
                    <a:pt x="6517094" y="1016000"/>
                  </a:lnTo>
                  <a:lnTo>
                    <a:pt x="6337986" y="1117600"/>
                  </a:lnTo>
                  <a:lnTo>
                    <a:pt x="6294005" y="1130300"/>
                  </a:lnTo>
                  <a:lnTo>
                    <a:pt x="6032322" y="1282700"/>
                  </a:lnTo>
                  <a:lnTo>
                    <a:pt x="5988520" y="1295400"/>
                  </a:lnTo>
                  <a:lnTo>
                    <a:pt x="5810720" y="1397000"/>
                  </a:lnTo>
                  <a:lnTo>
                    <a:pt x="5672963" y="1473200"/>
                  </a:lnTo>
                  <a:lnTo>
                    <a:pt x="5545328" y="1549400"/>
                  </a:lnTo>
                  <a:lnTo>
                    <a:pt x="5502351" y="1562100"/>
                  </a:lnTo>
                  <a:lnTo>
                    <a:pt x="5459184" y="1587500"/>
                  </a:lnTo>
                  <a:lnTo>
                    <a:pt x="4975669" y="1866912"/>
                  </a:lnTo>
                  <a:lnTo>
                    <a:pt x="4886909" y="1905012"/>
                  </a:lnTo>
                  <a:lnTo>
                    <a:pt x="4555071" y="2096300"/>
                  </a:lnTo>
                  <a:lnTo>
                    <a:pt x="4552988" y="2095754"/>
                  </a:lnTo>
                  <a:lnTo>
                    <a:pt x="4351998" y="2019554"/>
                  </a:lnTo>
                  <a:lnTo>
                    <a:pt x="4197693" y="1968754"/>
                  </a:lnTo>
                  <a:lnTo>
                    <a:pt x="3258324" y="1625854"/>
                  </a:lnTo>
                  <a:lnTo>
                    <a:pt x="3107613" y="1575054"/>
                  </a:lnTo>
                  <a:lnTo>
                    <a:pt x="3009315" y="1536954"/>
                  </a:lnTo>
                  <a:lnTo>
                    <a:pt x="2913024" y="1511554"/>
                  </a:lnTo>
                  <a:lnTo>
                    <a:pt x="2819031" y="1473454"/>
                  </a:lnTo>
                  <a:lnTo>
                    <a:pt x="2727591" y="1435354"/>
                  </a:lnTo>
                  <a:lnTo>
                    <a:pt x="2595753" y="1397254"/>
                  </a:lnTo>
                  <a:lnTo>
                    <a:pt x="2553360" y="1384554"/>
                  </a:lnTo>
                  <a:lnTo>
                    <a:pt x="2511793" y="1359154"/>
                  </a:lnTo>
                  <a:lnTo>
                    <a:pt x="2431275" y="1333754"/>
                  </a:lnTo>
                  <a:lnTo>
                    <a:pt x="2238464" y="1270254"/>
                  </a:lnTo>
                  <a:lnTo>
                    <a:pt x="2019630" y="1181354"/>
                  </a:lnTo>
                  <a:lnTo>
                    <a:pt x="1916163" y="1143254"/>
                  </a:lnTo>
                  <a:lnTo>
                    <a:pt x="1865795" y="1130554"/>
                  </a:lnTo>
                  <a:lnTo>
                    <a:pt x="1816265" y="1105154"/>
                  </a:lnTo>
                  <a:lnTo>
                    <a:pt x="1719618" y="1079754"/>
                  </a:lnTo>
                  <a:lnTo>
                    <a:pt x="1672412" y="1054354"/>
                  </a:lnTo>
                  <a:lnTo>
                    <a:pt x="1625904" y="1041654"/>
                  </a:lnTo>
                  <a:lnTo>
                    <a:pt x="1580045" y="1016254"/>
                  </a:lnTo>
                  <a:lnTo>
                    <a:pt x="1490154" y="990854"/>
                  </a:lnTo>
                  <a:lnTo>
                    <a:pt x="1446047" y="965454"/>
                  </a:lnTo>
                  <a:lnTo>
                    <a:pt x="1316545" y="927354"/>
                  </a:lnTo>
                  <a:lnTo>
                    <a:pt x="1274203" y="901954"/>
                  </a:lnTo>
                  <a:lnTo>
                    <a:pt x="1190498" y="876554"/>
                  </a:lnTo>
                  <a:lnTo>
                    <a:pt x="1033780" y="813054"/>
                  </a:lnTo>
                  <a:lnTo>
                    <a:pt x="1001407" y="800354"/>
                  </a:lnTo>
                  <a:lnTo>
                    <a:pt x="968197" y="774954"/>
                  </a:lnTo>
                  <a:lnTo>
                    <a:pt x="933932" y="762254"/>
                  </a:lnTo>
                  <a:lnTo>
                    <a:pt x="898398" y="749554"/>
                  </a:lnTo>
                  <a:lnTo>
                    <a:pt x="861402" y="736854"/>
                  </a:lnTo>
                  <a:lnTo>
                    <a:pt x="822706" y="711454"/>
                  </a:lnTo>
                  <a:lnTo>
                    <a:pt x="782116" y="698754"/>
                  </a:lnTo>
                  <a:lnTo>
                    <a:pt x="739419" y="673354"/>
                  </a:lnTo>
                  <a:lnTo>
                    <a:pt x="694385" y="660654"/>
                  </a:lnTo>
                  <a:lnTo>
                    <a:pt x="646811" y="635254"/>
                  </a:lnTo>
                  <a:lnTo>
                    <a:pt x="596493" y="609854"/>
                  </a:lnTo>
                  <a:lnTo>
                    <a:pt x="543217" y="584454"/>
                  </a:lnTo>
                  <a:lnTo>
                    <a:pt x="486752" y="559054"/>
                  </a:lnTo>
                  <a:lnTo>
                    <a:pt x="426910" y="533654"/>
                  </a:lnTo>
                  <a:lnTo>
                    <a:pt x="363461" y="495554"/>
                  </a:lnTo>
                  <a:lnTo>
                    <a:pt x="296202" y="470154"/>
                  </a:lnTo>
                  <a:lnTo>
                    <a:pt x="224917" y="432054"/>
                  </a:lnTo>
                  <a:lnTo>
                    <a:pt x="149390" y="393954"/>
                  </a:lnTo>
                  <a:lnTo>
                    <a:pt x="69405" y="355854"/>
                  </a:lnTo>
                  <a:lnTo>
                    <a:pt x="65824" y="355854"/>
                  </a:lnTo>
                  <a:lnTo>
                    <a:pt x="57150" y="343154"/>
                  </a:lnTo>
                  <a:lnTo>
                    <a:pt x="37020" y="343154"/>
                  </a:lnTo>
                  <a:lnTo>
                    <a:pt x="27800" y="355854"/>
                  </a:lnTo>
                  <a:lnTo>
                    <a:pt x="18211" y="355854"/>
                  </a:lnTo>
                  <a:lnTo>
                    <a:pt x="9702" y="368554"/>
                  </a:lnTo>
                  <a:lnTo>
                    <a:pt x="3683" y="381254"/>
                  </a:lnTo>
                  <a:lnTo>
                    <a:pt x="990" y="381254"/>
                  </a:lnTo>
                  <a:lnTo>
                    <a:pt x="0" y="393954"/>
                  </a:lnTo>
                  <a:lnTo>
                    <a:pt x="609" y="406654"/>
                  </a:lnTo>
                  <a:lnTo>
                    <a:pt x="2730" y="406654"/>
                  </a:lnTo>
                  <a:lnTo>
                    <a:pt x="5892" y="419354"/>
                  </a:lnTo>
                  <a:lnTo>
                    <a:pt x="10121" y="419354"/>
                  </a:lnTo>
                  <a:lnTo>
                    <a:pt x="16129" y="432054"/>
                  </a:lnTo>
                  <a:lnTo>
                    <a:pt x="24638" y="432054"/>
                  </a:lnTo>
                  <a:lnTo>
                    <a:pt x="46189" y="444754"/>
                  </a:lnTo>
                  <a:lnTo>
                    <a:pt x="77266" y="470154"/>
                  </a:lnTo>
                  <a:lnTo>
                    <a:pt x="116357" y="482854"/>
                  </a:lnTo>
                  <a:lnTo>
                    <a:pt x="161937" y="508254"/>
                  </a:lnTo>
                  <a:lnTo>
                    <a:pt x="212521" y="533654"/>
                  </a:lnTo>
                  <a:lnTo>
                    <a:pt x="266598" y="559054"/>
                  </a:lnTo>
                  <a:lnTo>
                    <a:pt x="322643" y="597154"/>
                  </a:lnTo>
                  <a:lnTo>
                    <a:pt x="434632" y="647954"/>
                  </a:lnTo>
                  <a:lnTo>
                    <a:pt x="487553" y="673354"/>
                  </a:lnTo>
                  <a:lnTo>
                    <a:pt x="530809" y="686054"/>
                  </a:lnTo>
                  <a:lnTo>
                    <a:pt x="618642" y="736854"/>
                  </a:lnTo>
                  <a:lnTo>
                    <a:pt x="663359" y="749554"/>
                  </a:lnTo>
                  <a:lnTo>
                    <a:pt x="708698" y="774954"/>
                  </a:lnTo>
                  <a:lnTo>
                    <a:pt x="754735" y="787654"/>
                  </a:lnTo>
                  <a:lnTo>
                    <a:pt x="801522" y="813054"/>
                  </a:lnTo>
                  <a:lnTo>
                    <a:pt x="849160" y="825754"/>
                  </a:lnTo>
                  <a:lnTo>
                    <a:pt x="897674" y="851154"/>
                  </a:lnTo>
                  <a:lnTo>
                    <a:pt x="947178" y="863854"/>
                  </a:lnTo>
                  <a:lnTo>
                    <a:pt x="997712" y="889254"/>
                  </a:lnTo>
                  <a:lnTo>
                    <a:pt x="1049350" y="914654"/>
                  </a:lnTo>
                  <a:lnTo>
                    <a:pt x="1102156" y="927354"/>
                  </a:lnTo>
                  <a:lnTo>
                    <a:pt x="1156208" y="952754"/>
                  </a:lnTo>
                  <a:lnTo>
                    <a:pt x="1196454" y="965454"/>
                  </a:lnTo>
                  <a:lnTo>
                    <a:pt x="1236980" y="990854"/>
                  </a:lnTo>
                  <a:lnTo>
                    <a:pt x="1360500" y="1028954"/>
                  </a:lnTo>
                  <a:lnTo>
                    <a:pt x="1402461" y="1054354"/>
                  </a:lnTo>
                  <a:lnTo>
                    <a:pt x="1531137" y="1092454"/>
                  </a:lnTo>
                  <a:lnTo>
                    <a:pt x="1575079" y="1117854"/>
                  </a:lnTo>
                  <a:lnTo>
                    <a:pt x="1664766" y="1143254"/>
                  </a:lnTo>
                  <a:lnTo>
                    <a:pt x="1710575" y="1168654"/>
                  </a:lnTo>
                  <a:lnTo>
                    <a:pt x="1804289" y="1194054"/>
                  </a:lnTo>
                  <a:lnTo>
                    <a:pt x="1852269" y="1219454"/>
                  </a:lnTo>
                  <a:lnTo>
                    <a:pt x="1901050" y="1232154"/>
                  </a:lnTo>
                  <a:lnTo>
                    <a:pt x="2001113" y="1270254"/>
                  </a:lnTo>
                  <a:lnTo>
                    <a:pt x="2361958" y="1397254"/>
                  </a:lnTo>
                  <a:lnTo>
                    <a:pt x="2400884" y="1422654"/>
                  </a:lnTo>
                  <a:lnTo>
                    <a:pt x="2440736" y="1435354"/>
                  </a:lnTo>
                  <a:lnTo>
                    <a:pt x="2565527" y="1473454"/>
                  </a:lnTo>
                  <a:lnTo>
                    <a:pt x="2652750" y="1511554"/>
                  </a:lnTo>
                  <a:lnTo>
                    <a:pt x="2742908" y="1536954"/>
                  </a:lnTo>
                  <a:lnTo>
                    <a:pt x="2835719" y="1575054"/>
                  </a:lnTo>
                  <a:lnTo>
                    <a:pt x="2930944" y="1613154"/>
                  </a:lnTo>
                  <a:lnTo>
                    <a:pt x="3028327" y="1638554"/>
                  </a:lnTo>
                  <a:lnTo>
                    <a:pt x="3177883" y="1689354"/>
                  </a:lnTo>
                  <a:lnTo>
                    <a:pt x="3330829" y="1752854"/>
                  </a:lnTo>
                  <a:lnTo>
                    <a:pt x="4064025" y="2006854"/>
                  </a:lnTo>
                  <a:lnTo>
                    <a:pt x="4271289" y="2083054"/>
                  </a:lnTo>
                  <a:lnTo>
                    <a:pt x="4423740" y="2133854"/>
                  </a:lnTo>
                  <a:lnTo>
                    <a:pt x="4463529" y="2149068"/>
                  </a:lnTo>
                  <a:lnTo>
                    <a:pt x="3653129" y="2616212"/>
                  </a:lnTo>
                  <a:lnTo>
                    <a:pt x="3565639" y="2654312"/>
                  </a:lnTo>
                  <a:lnTo>
                    <a:pt x="3133369" y="2908312"/>
                  </a:lnTo>
                  <a:lnTo>
                    <a:pt x="2772956" y="3111512"/>
                  </a:lnTo>
                  <a:lnTo>
                    <a:pt x="2682519" y="3175012"/>
                  </a:lnTo>
                  <a:lnTo>
                    <a:pt x="2502814" y="3276612"/>
                  </a:lnTo>
                  <a:lnTo>
                    <a:pt x="2151164" y="3479812"/>
                  </a:lnTo>
                  <a:lnTo>
                    <a:pt x="1939163" y="3606812"/>
                  </a:lnTo>
                  <a:lnTo>
                    <a:pt x="1847342" y="3657612"/>
                  </a:lnTo>
                  <a:lnTo>
                    <a:pt x="1801939" y="3695712"/>
                  </a:lnTo>
                  <a:lnTo>
                    <a:pt x="1756854" y="3721112"/>
                  </a:lnTo>
                  <a:lnTo>
                    <a:pt x="1535607" y="3848112"/>
                  </a:lnTo>
                  <a:lnTo>
                    <a:pt x="1492097" y="3886212"/>
                  </a:lnTo>
                  <a:lnTo>
                    <a:pt x="1108011" y="4114812"/>
                  </a:lnTo>
                  <a:lnTo>
                    <a:pt x="1065885" y="4152912"/>
                  </a:lnTo>
                  <a:lnTo>
                    <a:pt x="1023810" y="4178312"/>
                  </a:lnTo>
                  <a:lnTo>
                    <a:pt x="978649" y="4203712"/>
                  </a:lnTo>
                  <a:lnTo>
                    <a:pt x="930998" y="4229112"/>
                  </a:lnTo>
                  <a:lnTo>
                    <a:pt x="778129" y="4330712"/>
                  </a:lnTo>
                  <a:lnTo>
                    <a:pt x="725538" y="4356112"/>
                  </a:lnTo>
                  <a:lnTo>
                    <a:pt x="672934" y="4394212"/>
                  </a:lnTo>
                  <a:lnTo>
                    <a:pt x="620839" y="4419612"/>
                  </a:lnTo>
                  <a:lnTo>
                    <a:pt x="569734" y="4457712"/>
                  </a:lnTo>
                  <a:lnTo>
                    <a:pt x="520115" y="4483112"/>
                  </a:lnTo>
                  <a:lnTo>
                    <a:pt x="472503" y="4521212"/>
                  </a:lnTo>
                  <a:lnTo>
                    <a:pt x="427367" y="4546612"/>
                  </a:lnTo>
                  <a:lnTo>
                    <a:pt x="385216" y="4572012"/>
                  </a:lnTo>
                  <a:lnTo>
                    <a:pt x="346544" y="4597412"/>
                  </a:lnTo>
                  <a:lnTo>
                    <a:pt x="311848" y="4622812"/>
                  </a:lnTo>
                  <a:lnTo>
                    <a:pt x="281635" y="4648212"/>
                  </a:lnTo>
                  <a:lnTo>
                    <a:pt x="256374" y="4660912"/>
                  </a:lnTo>
                  <a:lnTo>
                    <a:pt x="236588" y="4673612"/>
                  </a:lnTo>
                  <a:lnTo>
                    <a:pt x="222758" y="4686312"/>
                  </a:lnTo>
                  <a:lnTo>
                    <a:pt x="221322" y="4686312"/>
                  </a:lnTo>
                  <a:lnTo>
                    <a:pt x="216446" y="4697400"/>
                  </a:lnTo>
                  <a:lnTo>
                    <a:pt x="215531" y="4699012"/>
                  </a:lnTo>
                  <a:lnTo>
                    <a:pt x="211048" y="4699012"/>
                  </a:lnTo>
                  <a:lnTo>
                    <a:pt x="210616" y="4699012"/>
                  </a:lnTo>
                  <a:lnTo>
                    <a:pt x="207492" y="4711712"/>
                  </a:lnTo>
                  <a:lnTo>
                    <a:pt x="205613" y="4711712"/>
                  </a:lnTo>
                  <a:lnTo>
                    <a:pt x="205524" y="4712678"/>
                  </a:lnTo>
                  <a:lnTo>
                    <a:pt x="204368" y="4724412"/>
                  </a:lnTo>
                  <a:lnTo>
                    <a:pt x="204901" y="4737112"/>
                  </a:lnTo>
                  <a:lnTo>
                    <a:pt x="206590" y="4737112"/>
                  </a:lnTo>
                  <a:lnTo>
                    <a:pt x="209423" y="4749812"/>
                  </a:lnTo>
                  <a:lnTo>
                    <a:pt x="211328" y="4749812"/>
                  </a:lnTo>
                  <a:lnTo>
                    <a:pt x="216242" y="4758880"/>
                  </a:lnTo>
                  <a:lnTo>
                    <a:pt x="216458" y="4759287"/>
                  </a:lnTo>
                  <a:lnTo>
                    <a:pt x="217639" y="4762512"/>
                  </a:lnTo>
                  <a:lnTo>
                    <a:pt x="218198" y="4762512"/>
                  </a:lnTo>
                  <a:lnTo>
                    <a:pt x="269430" y="4762512"/>
                  </a:lnTo>
                  <a:lnTo>
                    <a:pt x="273240" y="4762512"/>
                  </a:lnTo>
                  <a:lnTo>
                    <a:pt x="274650" y="4758880"/>
                  </a:lnTo>
                  <a:lnTo>
                    <a:pt x="287718" y="4749812"/>
                  </a:lnTo>
                  <a:lnTo>
                    <a:pt x="310997" y="4737112"/>
                  </a:lnTo>
                  <a:lnTo>
                    <a:pt x="338861" y="4724412"/>
                  </a:lnTo>
                  <a:lnTo>
                    <a:pt x="370865" y="4711712"/>
                  </a:lnTo>
                  <a:lnTo>
                    <a:pt x="406679" y="4686312"/>
                  </a:lnTo>
                  <a:lnTo>
                    <a:pt x="445795" y="4660912"/>
                  </a:lnTo>
                  <a:lnTo>
                    <a:pt x="487857" y="4635512"/>
                  </a:lnTo>
                  <a:lnTo>
                    <a:pt x="532409" y="4610112"/>
                  </a:lnTo>
                  <a:lnTo>
                    <a:pt x="579069" y="4572012"/>
                  </a:lnTo>
                  <a:lnTo>
                    <a:pt x="627405" y="4546612"/>
                  </a:lnTo>
                  <a:lnTo>
                    <a:pt x="676998" y="4508512"/>
                  </a:lnTo>
                  <a:lnTo>
                    <a:pt x="778332" y="4445012"/>
                  </a:lnTo>
                  <a:lnTo>
                    <a:pt x="879741" y="4368812"/>
                  </a:lnTo>
                  <a:lnTo>
                    <a:pt x="929449" y="4343412"/>
                  </a:lnTo>
                  <a:lnTo>
                    <a:pt x="977925" y="4305312"/>
                  </a:lnTo>
                  <a:lnTo>
                    <a:pt x="1024750" y="4279912"/>
                  </a:lnTo>
                  <a:lnTo>
                    <a:pt x="1069530" y="4241812"/>
                  </a:lnTo>
                  <a:lnTo>
                    <a:pt x="1450555" y="4013212"/>
                  </a:lnTo>
                  <a:lnTo>
                    <a:pt x="1493596" y="3975112"/>
                  </a:lnTo>
                  <a:lnTo>
                    <a:pt x="1756422" y="3822712"/>
                  </a:lnTo>
                  <a:lnTo>
                    <a:pt x="1801114" y="3797312"/>
                  </a:lnTo>
                  <a:lnTo>
                    <a:pt x="1846110" y="3759212"/>
                  </a:lnTo>
                  <a:lnTo>
                    <a:pt x="1937029" y="3708412"/>
                  </a:lnTo>
                  <a:lnTo>
                    <a:pt x="2024684" y="3657612"/>
                  </a:lnTo>
                  <a:lnTo>
                    <a:pt x="2237676" y="3530612"/>
                  </a:lnTo>
                  <a:lnTo>
                    <a:pt x="2635364" y="3302012"/>
                  </a:lnTo>
                  <a:lnTo>
                    <a:pt x="2680335" y="3276612"/>
                  </a:lnTo>
                  <a:lnTo>
                    <a:pt x="2770594" y="3213112"/>
                  </a:lnTo>
                  <a:lnTo>
                    <a:pt x="3176232" y="2984512"/>
                  </a:lnTo>
                  <a:lnTo>
                    <a:pt x="3695992" y="2679712"/>
                  </a:lnTo>
                  <a:lnTo>
                    <a:pt x="3783736" y="2641612"/>
                  </a:lnTo>
                  <a:lnTo>
                    <a:pt x="4567821" y="2189416"/>
                  </a:lnTo>
                  <a:lnTo>
                    <a:pt x="4717123" y="2248154"/>
                  </a:lnTo>
                  <a:lnTo>
                    <a:pt x="4810569" y="2273554"/>
                  </a:lnTo>
                  <a:lnTo>
                    <a:pt x="4901412" y="2311654"/>
                  </a:lnTo>
                  <a:lnTo>
                    <a:pt x="5032248" y="2349754"/>
                  </a:lnTo>
                  <a:lnTo>
                    <a:pt x="5074272" y="2375154"/>
                  </a:lnTo>
                  <a:lnTo>
                    <a:pt x="5155755" y="2400554"/>
                  </a:lnTo>
                  <a:lnTo>
                    <a:pt x="5211203" y="2425954"/>
                  </a:lnTo>
                  <a:lnTo>
                    <a:pt x="5265750" y="2438654"/>
                  </a:lnTo>
                  <a:lnTo>
                    <a:pt x="5319420" y="2464054"/>
                  </a:lnTo>
                  <a:lnTo>
                    <a:pt x="5372265" y="2476754"/>
                  </a:lnTo>
                  <a:lnTo>
                    <a:pt x="5424335" y="2502154"/>
                  </a:lnTo>
                  <a:lnTo>
                    <a:pt x="5475656" y="2514854"/>
                  </a:lnTo>
                  <a:lnTo>
                    <a:pt x="5526278" y="2540254"/>
                  </a:lnTo>
                  <a:lnTo>
                    <a:pt x="5576227" y="2552954"/>
                  </a:lnTo>
                  <a:lnTo>
                    <a:pt x="5625566" y="2578354"/>
                  </a:lnTo>
                  <a:lnTo>
                    <a:pt x="5674309" y="2591054"/>
                  </a:lnTo>
                  <a:lnTo>
                    <a:pt x="5722518" y="2616454"/>
                  </a:lnTo>
                  <a:lnTo>
                    <a:pt x="5817463" y="2641854"/>
                  </a:lnTo>
                  <a:lnTo>
                    <a:pt x="6093523" y="2756154"/>
                  </a:lnTo>
                  <a:lnTo>
                    <a:pt x="6183681" y="2781554"/>
                  </a:lnTo>
                  <a:lnTo>
                    <a:pt x="6363170" y="2857754"/>
                  </a:lnTo>
                  <a:lnTo>
                    <a:pt x="6498310" y="2908554"/>
                  </a:lnTo>
                  <a:lnTo>
                    <a:pt x="6637947" y="2959354"/>
                  </a:lnTo>
                  <a:lnTo>
                    <a:pt x="6928586" y="3073654"/>
                  </a:lnTo>
                  <a:lnTo>
                    <a:pt x="7024573" y="3099054"/>
                  </a:lnTo>
                  <a:lnTo>
                    <a:pt x="7072338" y="3124454"/>
                  </a:lnTo>
                  <a:lnTo>
                    <a:pt x="7119912" y="3137154"/>
                  </a:lnTo>
                  <a:lnTo>
                    <a:pt x="7167296" y="3162554"/>
                  </a:lnTo>
                  <a:lnTo>
                    <a:pt x="7214476" y="3175254"/>
                  </a:lnTo>
                  <a:lnTo>
                    <a:pt x="7261428" y="3200654"/>
                  </a:lnTo>
                  <a:lnTo>
                    <a:pt x="7308139" y="3213354"/>
                  </a:lnTo>
                  <a:lnTo>
                    <a:pt x="7354595" y="3238754"/>
                  </a:lnTo>
                  <a:lnTo>
                    <a:pt x="7446683" y="3264154"/>
                  </a:lnTo>
                  <a:lnTo>
                    <a:pt x="7492289" y="3289554"/>
                  </a:lnTo>
                  <a:lnTo>
                    <a:pt x="7537577" y="3302254"/>
                  </a:lnTo>
                  <a:lnTo>
                    <a:pt x="7582535" y="3327654"/>
                  </a:lnTo>
                  <a:lnTo>
                    <a:pt x="7671384" y="3353054"/>
                  </a:lnTo>
                  <a:lnTo>
                    <a:pt x="7715263" y="3378454"/>
                  </a:lnTo>
                  <a:lnTo>
                    <a:pt x="7758735" y="3391154"/>
                  </a:lnTo>
                  <a:lnTo>
                    <a:pt x="7851673" y="3429254"/>
                  </a:lnTo>
                  <a:lnTo>
                    <a:pt x="7900822" y="3454654"/>
                  </a:lnTo>
                  <a:lnTo>
                    <a:pt x="7949336" y="3467354"/>
                  </a:lnTo>
                  <a:lnTo>
                    <a:pt x="7997253" y="3492754"/>
                  </a:lnTo>
                  <a:lnTo>
                    <a:pt x="8044624" y="3505454"/>
                  </a:lnTo>
                  <a:lnTo>
                    <a:pt x="8091525" y="3530854"/>
                  </a:lnTo>
                  <a:lnTo>
                    <a:pt x="8138007" y="3543554"/>
                  </a:lnTo>
                  <a:lnTo>
                    <a:pt x="8184108" y="3568954"/>
                  </a:lnTo>
                  <a:lnTo>
                    <a:pt x="8229905" y="3581654"/>
                  </a:lnTo>
                  <a:lnTo>
                    <a:pt x="8275434" y="3607054"/>
                  </a:lnTo>
                  <a:lnTo>
                    <a:pt x="8320773" y="3619754"/>
                  </a:lnTo>
                  <a:lnTo>
                    <a:pt x="8365960" y="3645154"/>
                  </a:lnTo>
                  <a:lnTo>
                    <a:pt x="8456117" y="3670554"/>
                  </a:lnTo>
                  <a:lnTo>
                    <a:pt x="8501202" y="3695954"/>
                  </a:lnTo>
                  <a:lnTo>
                    <a:pt x="8546363" y="3708654"/>
                  </a:lnTo>
                  <a:lnTo>
                    <a:pt x="8591652" y="3734054"/>
                  </a:lnTo>
                  <a:lnTo>
                    <a:pt x="8637143" y="3746754"/>
                  </a:lnTo>
                  <a:lnTo>
                    <a:pt x="8682876" y="3772154"/>
                  </a:lnTo>
                  <a:lnTo>
                    <a:pt x="8732355" y="3797554"/>
                  </a:lnTo>
                  <a:lnTo>
                    <a:pt x="8784577" y="3810254"/>
                  </a:lnTo>
                  <a:lnTo>
                    <a:pt x="8838959" y="3835654"/>
                  </a:lnTo>
                  <a:lnTo>
                    <a:pt x="8952014" y="3886454"/>
                  </a:lnTo>
                  <a:lnTo>
                    <a:pt x="9009583" y="3924554"/>
                  </a:lnTo>
                  <a:lnTo>
                    <a:pt x="9123985" y="3975354"/>
                  </a:lnTo>
                  <a:lnTo>
                    <a:pt x="9179712" y="4000754"/>
                  </a:lnTo>
                  <a:lnTo>
                    <a:pt x="9233738" y="4026154"/>
                  </a:lnTo>
                  <a:lnTo>
                    <a:pt x="9285465" y="4051554"/>
                  </a:lnTo>
                  <a:lnTo>
                    <a:pt x="9334386" y="4064254"/>
                  </a:lnTo>
                  <a:lnTo>
                    <a:pt x="9379902" y="4089654"/>
                  </a:lnTo>
                  <a:lnTo>
                    <a:pt x="9421482" y="4102354"/>
                  </a:lnTo>
                  <a:lnTo>
                    <a:pt x="9458566" y="4115054"/>
                  </a:lnTo>
                  <a:lnTo>
                    <a:pt x="9490596" y="4127754"/>
                  </a:lnTo>
                  <a:lnTo>
                    <a:pt x="9517012" y="4140454"/>
                  </a:lnTo>
                  <a:lnTo>
                    <a:pt x="9527540" y="4140454"/>
                  </a:lnTo>
                  <a:lnTo>
                    <a:pt x="9583166" y="4140454"/>
                  </a:lnTo>
                  <a:lnTo>
                    <a:pt x="9584766" y="4140454"/>
                  </a:lnTo>
                  <a:lnTo>
                    <a:pt x="9589122" y="4127754"/>
                  </a:lnTo>
                  <a:lnTo>
                    <a:pt x="9591738" y="4127754"/>
                  </a:lnTo>
                  <a:lnTo>
                    <a:pt x="9592513" y="4127754"/>
                  </a:lnTo>
                  <a:lnTo>
                    <a:pt x="9595180" y="4115054"/>
                  </a:lnTo>
                  <a:lnTo>
                    <a:pt x="9595675" y="4115054"/>
                  </a:lnTo>
                  <a:lnTo>
                    <a:pt x="9595523" y="4102354"/>
                  </a:lnTo>
                  <a:lnTo>
                    <a:pt x="9596082" y="4102354"/>
                  </a:lnTo>
                  <a:close/>
                </a:path>
              </a:pathLst>
            </a:custGeom>
            <a:solidFill>
              <a:srgbClr val="E7181F"/>
            </a:solidFill>
          </p:spPr>
          <p:txBody>
            <a:bodyPr wrap="square" lIns="0" tIns="0" rIns="0" bIns="0" rtlCol="0"/>
            <a:lstStyle/>
            <a:p>
              <a:endParaRPr/>
            </a:p>
          </p:txBody>
        </p:sp>
      </p:gr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0512" y="1398650"/>
            <a:ext cx="133350" cy="133349"/>
          </a:xfrm>
          <a:prstGeom prst="rect">
            <a:avLst/>
          </a:prstGeom>
        </p:spPr>
      </p:pic>
      <p:sp>
        <p:nvSpPr>
          <p:cNvPr id="3" name="object 3"/>
          <p:cNvSpPr txBox="1">
            <a:spLocks noGrp="1"/>
          </p:cNvSpPr>
          <p:nvPr>
            <p:ph type="title"/>
          </p:nvPr>
        </p:nvSpPr>
        <p:spPr>
          <a:xfrm>
            <a:off x="1687318" y="982091"/>
            <a:ext cx="15667990" cy="1416050"/>
          </a:xfrm>
          <a:prstGeom prst="rect">
            <a:avLst/>
          </a:prstGeom>
        </p:spPr>
        <p:txBody>
          <a:bodyPr vert="horz" wrap="square" lIns="0" tIns="12700" rIns="0" bIns="0" rtlCol="0">
            <a:spAutoFit/>
          </a:bodyPr>
          <a:lstStyle/>
          <a:p>
            <a:pPr marL="12700" marR="5080">
              <a:lnSpc>
                <a:spcPct val="126699"/>
              </a:lnSpc>
              <a:spcBef>
                <a:spcPts val="100"/>
              </a:spcBef>
            </a:pPr>
            <a:r>
              <a:rPr sz="3600" b="0" dirty="0">
                <a:solidFill>
                  <a:srgbClr val="2E377E"/>
                </a:solidFill>
                <a:latin typeface="Georgia"/>
                <a:cs typeface="Georgia"/>
              </a:rPr>
              <a:t>After deleting </a:t>
            </a:r>
            <a:r>
              <a:rPr sz="3600" b="0" spc="50" dirty="0">
                <a:solidFill>
                  <a:srgbClr val="2E377E"/>
                </a:solidFill>
                <a:latin typeface="Georgia"/>
                <a:cs typeface="Georgia"/>
              </a:rPr>
              <a:t>the</a:t>
            </a:r>
            <a:r>
              <a:rPr sz="3600" b="0" spc="5" dirty="0">
                <a:solidFill>
                  <a:srgbClr val="2E377E"/>
                </a:solidFill>
                <a:latin typeface="Georgia"/>
                <a:cs typeface="Georgia"/>
              </a:rPr>
              <a:t> </a:t>
            </a:r>
            <a:r>
              <a:rPr sz="3600" b="0" dirty="0">
                <a:solidFill>
                  <a:srgbClr val="2E377E"/>
                </a:solidFill>
                <a:latin typeface="Georgia"/>
                <a:cs typeface="Georgia"/>
              </a:rPr>
              <a:t>pod, </a:t>
            </a:r>
            <a:r>
              <a:rPr sz="3600" b="0" spc="50" dirty="0">
                <a:solidFill>
                  <a:srgbClr val="2E377E"/>
                </a:solidFill>
                <a:latin typeface="Georgia"/>
                <a:cs typeface="Georgia"/>
              </a:rPr>
              <a:t>the</a:t>
            </a:r>
            <a:r>
              <a:rPr sz="3600" b="0" spc="5" dirty="0">
                <a:solidFill>
                  <a:srgbClr val="2E377E"/>
                </a:solidFill>
                <a:latin typeface="Georgia"/>
                <a:cs typeface="Georgia"/>
              </a:rPr>
              <a:t> </a:t>
            </a:r>
            <a:r>
              <a:rPr sz="3600" b="0" spc="90" dirty="0">
                <a:solidFill>
                  <a:srgbClr val="2E377E"/>
                </a:solidFill>
                <a:latin typeface="Georgia"/>
                <a:cs typeface="Georgia"/>
              </a:rPr>
              <a:t>new</a:t>
            </a:r>
            <a:r>
              <a:rPr sz="3600" b="0" dirty="0">
                <a:solidFill>
                  <a:srgbClr val="2E377E"/>
                </a:solidFill>
                <a:latin typeface="Georgia"/>
                <a:cs typeface="Georgia"/>
              </a:rPr>
              <a:t> pod</a:t>
            </a:r>
            <a:r>
              <a:rPr sz="3600" b="0" spc="5" dirty="0">
                <a:solidFill>
                  <a:srgbClr val="2E377E"/>
                </a:solidFill>
                <a:latin typeface="Georgia"/>
                <a:cs typeface="Georgia"/>
              </a:rPr>
              <a:t> </a:t>
            </a:r>
            <a:r>
              <a:rPr sz="3600" b="0" dirty="0">
                <a:solidFill>
                  <a:srgbClr val="2E377E"/>
                </a:solidFill>
                <a:latin typeface="Georgia"/>
                <a:cs typeface="Georgia"/>
              </a:rPr>
              <a:t>will be created</a:t>
            </a:r>
            <a:r>
              <a:rPr sz="3600" b="0" spc="5" dirty="0">
                <a:solidFill>
                  <a:srgbClr val="2E377E"/>
                </a:solidFill>
                <a:latin typeface="Georgia"/>
                <a:cs typeface="Georgia"/>
              </a:rPr>
              <a:t> </a:t>
            </a:r>
            <a:r>
              <a:rPr sz="3600" b="0" spc="75" dirty="0">
                <a:solidFill>
                  <a:srgbClr val="2E377E"/>
                </a:solidFill>
                <a:latin typeface="Georgia"/>
                <a:cs typeface="Georgia"/>
              </a:rPr>
              <a:t>with</a:t>
            </a:r>
            <a:r>
              <a:rPr sz="3600" b="0" dirty="0">
                <a:solidFill>
                  <a:srgbClr val="2E377E"/>
                </a:solidFill>
                <a:latin typeface="Georgia"/>
                <a:cs typeface="Georgia"/>
              </a:rPr>
              <a:t> volume</a:t>
            </a:r>
            <a:r>
              <a:rPr sz="3600" b="0" spc="5" dirty="0">
                <a:solidFill>
                  <a:srgbClr val="2E377E"/>
                </a:solidFill>
                <a:latin typeface="Georgia"/>
                <a:cs typeface="Georgia"/>
              </a:rPr>
              <a:t> </a:t>
            </a:r>
            <a:r>
              <a:rPr sz="3600" b="0" spc="50" dirty="0">
                <a:solidFill>
                  <a:srgbClr val="2E377E"/>
                </a:solidFill>
                <a:latin typeface="Georgia"/>
                <a:cs typeface="Georgia"/>
              </a:rPr>
              <a:t>but</a:t>
            </a:r>
            <a:r>
              <a:rPr sz="3600" b="0" dirty="0">
                <a:solidFill>
                  <a:srgbClr val="2E377E"/>
                </a:solidFill>
                <a:latin typeface="Georgia"/>
                <a:cs typeface="Georgia"/>
              </a:rPr>
              <a:t> this</a:t>
            </a:r>
            <a:r>
              <a:rPr sz="3600" b="0" spc="5" dirty="0">
                <a:solidFill>
                  <a:srgbClr val="2E377E"/>
                </a:solidFill>
                <a:latin typeface="Georgia"/>
                <a:cs typeface="Georgia"/>
              </a:rPr>
              <a:t> </a:t>
            </a:r>
            <a:r>
              <a:rPr sz="3600" b="0" spc="-20" dirty="0">
                <a:solidFill>
                  <a:srgbClr val="2E377E"/>
                </a:solidFill>
                <a:latin typeface="Georgia"/>
                <a:cs typeface="Georgia"/>
              </a:rPr>
              <a:t>time </a:t>
            </a:r>
            <a:r>
              <a:rPr sz="3600" b="0" dirty="0">
                <a:solidFill>
                  <a:srgbClr val="2E377E"/>
                </a:solidFill>
                <a:latin typeface="Georgia"/>
                <a:cs typeface="Georgia"/>
              </a:rPr>
              <a:t>volumes</a:t>
            </a:r>
            <a:r>
              <a:rPr sz="3600" b="0" spc="45" dirty="0">
                <a:solidFill>
                  <a:srgbClr val="2E377E"/>
                </a:solidFill>
                <a:latin typeface="Georgia"/>
                <a:cs typeface="Georgia"/>
              </a:rPr>
              <a:t> </a:t>
            </a:r>
            <a:r>
              <a:rPr sz="3600" b="0" dirty="0">
                <a:solidFill>
                  <a:srgbClr val="2E377E"/>
                </a:solidFill>
                <a:latin typeface="Georgia"/>
                <a:cs typeface="Georgia"/>
              </a:rPr>
              <a:t>don’t</a:t>
            </a:r>
            <a:r>
              <a:rPr sz="3600" b="0" spc="50" dirty="0">
                <a:solidFill>
                  <a:srgbClr val="2E377E"/>
                </a:solidFill>
                <a:latin typeface="Georgia"/>
                <a:cs typeface="Georgia"/>
              </a:rPr>
              <a:t> </a:t>
            </a:r>
            <a:r>
              <a:rPr sz="3600" b="0" dirty="0">
                <a:solidFill>
                  <a:srgbClr val="2E377E"/>
                </a:solidFill>
                <a:latin typeface="Georgia"/>
                <a:cs typeface="Georgia"/>
              </a:rPr>
              <a:t>have</a:t>
            </a:r>
            <a:r>
              <a:rPr sz="3600" b="0" spc="45" dirty="0">
                <a:solidFill>
                  <a:srgbClr val="2E377E"/>
                </a:solidFill>
                <a:latin typeface="Georgia"/>
                <a:cs typeface="Georgia"/>
              </a:rPr>
              <a:t> </a:t>
            </a:r>
            <a:r>
              <a:rPr sz="3600" b="0" spc="55" dirty="0">
                <a:solidFill>
                  <a:srgbClr val="2E377E"/>
                </a:solidFill>
                <a:latin typeface="Georgia"/>
                <a:cs typeface="Georgia"/>
              </a:rPr>
              <a:t>any</a:t>
            </a:r>
            <a:r>
              <a:rPr sz="3600" b="0" spc="50" dirty="0">
                <a:solidFill>
                  <a:srgbClr val="2E377E"/>
                </a:solidFill>
                <a:latin typeface="Georgia"/>
                <a:cs typeface="Georgia"/>
              </a:rPr>
              <a:t> </a:t>
            </a:r>
            <a:r>
              <a:rPr sz="3600" b="0" dirty="0">
                <a:solidFill>
                  <a:srgbClr val="2E377E"/>
                </a:solidFill>
                <a:latin typeface="Georgia"/>
                <a:cs typeface="Georgia"/>
              </a:rPr>
              <a:t>previous</a:t>
            </a:r>
            <a:r>
              <a:rPr sz="3600" b="0" spc="45" dirty="0">
                <a:solidFill>
                  <a:srgbClr val="2E377E"/>
                </a:solidFill>
                <a:latin typeface="Georgia"/>
                <a:cs typeface="Georgia"/>
              </a:rPr>
              <a:t> </a:t>
            </a:r>
            <a:r>
              <a:rPr sz="3600" b="0" dirty="0">
                <a:solidFill>
                  <a:srgbClr val="2E377E"/>
                </a:solidFill>
                <a:latin typeface="Georgia"/>
                <a:cs typeface="Georgia"/>
              </a:rPr>
              <a:t>data</a:t>
            </a:r>
            <a:r>
              <a:rPr sz="3600" b="0" spc="50" dirty="0">
                <a:solidFill>
                  <a:srgbClr val="2E377E"/>
                </a:solidFill>
                <a:latin typeface="Georgia"/>
                <a:cs typeface="Georgia"/>
              </a:rPr>
              <a:t> </a:t>
            </a:r>
            <a:r>
              <a:rPr sz="3600" b="0" dirty="0">
                <a:solidFill>
                  <a:srgbClr val="2E377E"/>
                </a:solidFill>
                <a:latin typeface="Georgia"/>
                <a:cs typeface="Georgia"/>
              </a:rPr>
              <a:t>or</a:t>
            </a:r>
            <a:r>
              <a:rPr sz="3600" b="0" spc="50" dirty="0">
                <a:solidFill>
                  <a:srgbClr val="2E377E"/>
                </a:solidFill>
                <a:latin typeface="Georgia"/>
                <a:cs typeface="Georgia"/>
              </a:rPr>
              <a:t> </a:t>
            </a:r>
            <a:r>
              <a:rPr sz="3600" b="0" spc="55" dirty="0">
                <a:solidFill>
                  <a:srgbClr val="2E377E"/>
                </a:solidFill>
                <a:latin typeface="Georgia"/>
                <a:cs typeface="Georgia"/>
              </a:rPr>
              <a:t>any</a:t>
            </a:r>
            <a:r>
              <a:rPr sz="3600" b="0" spc="45" dirty="0">
                <a:solidFill>
                  <a:srgbClr val="2E377E"/>
                </a:solidFill>
                <a:latin typeface="Georgia"/>
                <a:cs typeface="Georgia"/>
              </a:rPr>
              <a:t> </a:t>
            </a:r>
            <a:r>
              <a:rPr sz="3600" b="0" spc="-10" dirty="0">
                <a:solidFill>
                  <a:srgbClr val="2E377E"/>
                </a:solidFill>
                <a:latin typeface="Georgia"/>
                <a:cs typeface="Georgia"/>
              </a:rPr>
              <a:t>data.</a:t>
            </a:r>
            <a:endParaRPr sz="3600">
              <a:latin typeface="Georgia"/>
              <a:cs typeface="Georgia"/>
            </a:endParaRPr>
          </a:p>
        </p:txBody>
      </p:sp>
      <p:sp>
        <p:nvSpPr>
          <p:cNvPr id="4" name="object 4"/>
          <p:cNvSpPr/>
          <p:nvPr/>
        </p:nvSpPr>
        <p:spPr>
          <a:xfrm>
            <a:off x="7296713" y="8255415"/>
            <a:ext cx="3799204" cy="1797685"/>
          </a:xfrm>
          <a:custGeom>
            <a:avLst/>
            <a:gdLst/>
            <a:ahLst/>
            <a:cxnLst/>
            <a:rect l="l" t="t" r="r" b="b"/>
            <a:pathLst>
              <a:path w="3799204" h="1797684">
                <a:moveTo>
                  <a:pt x="3798894" y="1797628"/>
                </a:moveTo>
                <a:lnTo>
                  <a:pt x="0" y="1797628"/>
                </a:lnTo>
                <a:lnTo>
                  <a:pt x="0" y="0"/>
                </a:lnTo>
                <a:lnTo>
                  <a:pt x="3798894" y="0"/>
                </a:lnTo>
                <a:lnTo>
                  <a:pt x="3798894" y="1797628"/>
                </a:lnTo>
                <a:close/>
              </a:path>
            </a:pathLst>
          </a:custGeom>
          <a:solidFill>
            <a:srgbClr val="FFDE58"/>
          </a:solidFill>
        </p:spPr>
        <p:txBody>
          <a:bodyPr wrap="square" lIns="0" tIns="0" rIns="0" bIns="0" rtlCol="0"/>
          <a:lstStyle/>
          <a:p>
            <a:endParaRPr/>
          </a:p>
        </p:txBody>
      </p:sp>
      <p:sp>
        <p:nvSpPr>
          <p:cNvPr id="5" name="object 5"/>
          <p:cNvSpPr txBox="1"/>
          <p:nvPr/>
        </p:nvSpPr>
        <p:spPr>
          <a:xfrm>
            <a:off x="4144918" y="2753311"/>
            <a:ext cx="9996170" cy="4603115"/>
          </a:xfrm>
          <a:prstGeom prst="rect">
            <a:avLst/>
          </a:prstGeom>
          <a:solidFill>
            <a:srgbClr val="D5EFF1"/>
          </a:solidFill>
        </p:spPr>
        <p:txBody>
          <a:bodyPr vert="horz" wrap="square" lIns="0" tIns="69215" rIns="0" bIns="0" rtlCol="0">
            <a:spAutoFit/>
          </a:bodyPr>
          <a:lstStyle/>
          <a:p>
            <a:pPr marL="212090">
              <a:lnSpc>
                <a:spcPct val="100000"/>
              </a:lnSpc>
              <a:spcBef>
                <a:spcPts val="545"/>
              </a:spcBef>
            </a:pPr>
            <a:r>
              <a:rPr sz="5000" b="1" spc="290" dirty="0">
                <a:solidFill>
                  <a:srgbClr val="2E377E"/>
                </a:solidFill>
                <a:latin typeface="Times New Roman"/>
                <a:cs typeface="Times New Roman"/>
              </a:rPr>
              <a:t>pod</a:t>
            </a:r>
            <a:endParaRPr sz="5000">
              <a:latin typeface="Times New Roman"/>
              <a:cs typeface="Times New Roman"/>
            </a:endParaRPr>
          </a:p>
        </p:txBody>
      </p:sp>
      <p:sp>
        <p:nvSpPr>
          <p:cNvPr id="6" name="object 6"/>
          <p:cNvSpPr txBox="1"/>
          <p:nvPr/>
        </p:nvSpPr>
        <p:spPr>
          <a:xfrm>
            <a:off x="5335812" y="3886051"/>
            <a:ext cx="2677795" cy="2190115"/>
          </a:xfrm>
          <a:prstGeom prst="rect">
            <a:avLst/>
          </a:prstGeom>
          <a:solidFill>
            <a:srgbClr val="326BE4"/>
          </a:solidFill>
        </p:spPr>
        <p:txBody>
          <a:bodyPr vert="horz" wrap="square" lIns="0" tIns="544830" rIns="0" bIns="0" rtlCol="0">
            <a:spAutoFit/>
          </a:bodyPr>
          <a:lstStyle/>
          <a:p>
            <a:pPr marL="419734">
              <a:lnSpc>
                <a:spcPct val="100000"/>
              </a:lnSpc>
              <a:spcBef>
                <a:spcPts val="4290"/>
              </a:spcBef>
            </a:pPr>
            <a:r>
              <a:rPr sz="5000" b="1" spc="320" dirty="0">
                <a:solidFill>
                  <a:srgbClr val="FFFFFF"/>
                </a:solidFill>
                <a:latin typeface="Times New Roman"/>
                <a:cs typeface="Times New Roman"/>
              </a:rPr>
              <a:t>cont-</a:t>
            </a:r>
            <a:r>
              <a:rPr sz="5000" b="1" spc="-575" dirty="0">
                <a:solidFill>
                  <a:srgbClr val="FFFFFF"/>
                </a:solidFill>
                <a:latin typeface="Times New Roman"/>
                <a:cs typeface="Times New Roman"/>
              </a:rPr>
              <a:t>1</a:t>
            </a:r>
            <a:endParaRPr sz="5000">
              <a:latin typeface="Times New Roman"/>
              <a:cs typeface="Times New Roman"/>
            </a:endParaRPr>
          </a:p>
        </p:txBody>
      </p:sp>
      <p:sp>
        <p:nvSpPr>
          <p:cNvPr id="7" name="object 7"/>
          <p:cNvSpPr txBox="1"/>
          <p:nvPr/>
        </p:nvSpPr>
        <p:spPr>
          <a:xfrm>
            <a:off x="10320893" y="3886051"/>
            <a:ext cx="2677795" cy="2190115"/>
          </a:xfrm>
          <a:prstGeom prst="rect">
            <a:avLst/>
          </a:prstGeom>
          <a:solidFill>
            <a:srgbClr val="326BE4"/>
          </a:solidFill>
        </p:spPr>
        <p:txBody>
          <a:bodyPr vert="horz" wrap="square" lIns="0" tIns="544830" rIns="0" bIns="0" rtlCol="0">
            <a:spAutoFit/>
          </a:bodyPr>
          <a:lstStyle/>
          <a:p>
            <a:pPr marL="366395">
              <a:lnSpc>
                <a:spcPct val="100000"/>
              </a:lnSpc>
              <a:spcBef>
                <a:spcPts val="4290"/>
              </a:spcBef>
            </a:pPr>
            <a:r>
              <a:rPr sz="5000" b="1" spc="320" dirty="0">
                <a:solidFill>
                  <a:srgbClr val="FFFFFF"/>
                </a:solidFill>
                <a:latin typeface="Times New Roman"/>
                <a:cs typeface="Times New Roman"/>
              </a:rPr>
              <a:t>cont-</a:t>
            </a:r>
            <a:r>
              <a:rPr sz="5000" b="1" spc="250" dirty="0">
                <a:solidFill>
                  <a:srgbClr val="FFFFFF"/>
                </a:solidFill>
                <a:latin typeface="Times New Roman"/>
                <a:cs typeface="Times New Roman"/>
              </a:rPr>
              <a:t>2</a:t>
            </a:r>
            <a:endParaRPr sz="5000">
              <a:latin typeface="Times New Roman"/>
              <a:cs typeface="Times New Roman"/>
            </a:endParaRPr>
          </a:p>
        </p:txBody>
      </p:sp>
      <p:sp>
        <p:nvSpPr>
          <p:cNvPr id="8" name="object 8"/>
          <p:cNvSpPr txBox="1"/>
          <p:nvPr/>
        </p:nvSpPr>
        <p:spPr>
          <a:xfrm>
            <a:off x="8289927" y="8466935"/>
            <a:ext cx="1814195" cy="1191260"/>
          </a:xfrm>
          <a:prstGeom prst="rect">
            <a:avLst/>
          </a:prstGeom>
        </p:spPr>
        <p:txBody>
          <a:bodyPr vert="horz" wrap="square" lIns="0" tIns="12065" rIns="0" bIns="0" rtlCol="0">
            <a:spAutoFit/>
          </a:bodyPr>
          <a:lstStyle/>
          <a:p>
            <a:pPr marL="12700" marR="5080" indent="157480">
              <a:lnSpc>
                <a:spcPct val="117600"/>
              </a:lnSpc>
              <a:spcBef>
                <a:spcPts val="95"/>
              </a:spcBef>
            </a:pPr>
            <a:r>
              <a:rPr sz="3250" b="1" spc="220" dirty="0">
                <a:solidFill>
                  <a:srgbClr val="FF3131"/>
                </a:solidFill>
                <a:latin typeface="Times New Roman"/>
                <a:cs typeface="Times New Roman"/>
              </a:rPr>
              <a:t>volume </a:t>
            </a:r>
            <a:r>
              <a:rPr sz="3250" b="1" spc="204" dirty="0">
                <a:solidFill>
                  <a:srgbClr val="FF3131"/>
                </a:solidFill>
                <a:latin typeface="Times New Roman"/>
                <a:cs typeface="Times New Roman"/>
              </a:rPr>
              <a:t>(no-</a:t>
            </a:r>
            <a:r>
              <a:rPr sz="3250" b="1" spc="45" dirty="0">
                <a:solidFill>
                  <a:srgbClr val="FF3131"/>
                </a:solidFill>
                <a:latin typeface="Times New Roman"/>
                <a:cs typeface="Times New Roman"/>
              </a:rPr>
              <a:t>data)</a:t>
            </a:r>
            <a:endParaRPr sz="3250">
              <a:latin typeface="Times New Roman"/>
              <a:cs typeface="Times New Roman"/>
            </a:endParaRPr>
          </a:p>
        </p:txBody>
      </p:sp>
      <p:grpSp>
        <p:nvGrpSpPr>
          <p:cNvPr id="9" name="object 9"/>
          <p:cNvGrpSpPr/>
          <p:nvPr/>
        </p:nvGrpSpPr>
        <p:grpSpPr>
          <a:xfrm>
            <a:off x="8932408" y="7355664"/>
            <a:ext cx="457200" cy="956944"/>
            <a:chOff x="8932408" y="7355664"/>
            <a:chExt cx="457200" cy="956944"/>
          </a:xfrm>
        </p:grpSpPr>
        <p:sp>
          <p:nvSpPr>
            <p:cNvPr id="10" name="object 10"/>
            <p:cNvSpPr/>
            <p:nvPr/>
          </p:nvSpPr>
          <p:spPr>
            <a:xfrm>
              <a:off x="9147285" y="7412814"/>
              <a:ext cx="50165" cy="842644"/>
            </a:xfrm>
            <a:custGeom>
              <a:avLst/>
              <a:gdLst/>
              <a:ahLst/>
              <a:cxnLst/>
              <a:rect l="l" t="t" r="r" b="b"/>
              <a:pathLst>
                <a:path w="50165" h="842645">
                  <a:moveTo>
                    <a:pt x="49572" y="842533"/>
                  </a:moveTo>
                  <a:lnTo>
                    <a:pt x="0" y="0"/>
                  </a:lnTo>
                </a:path>
              </a:pathLst>
            </a:custGeom>
            <a:ln w="114300">
              <a:solidFill>
                <a:srgbClr val="000000"/>
              </a:solidFill>
            </a:ln>
          </p:spPr>
          <p:txBody>
            <a:bodyPr wrap="square" lIns="0" tIns="0" rIns="0" bIns="0" rtlCol="0"/>
            <a:lstStyle/>
            <a:p>
              <a:endParaRPr/>
            </a:p>
          </p:txBody>
        </p:sp>
        <p:sp>
          <p:nvSpPr>
            <p:cNvPr id="11" name="object 11"/>
            <p:cNvSpPr/>
            <p:nvPr/>
          </p:nvSpPr>
          <p:spPr>
            <a:xfrm>
              <a:off x="8989558" y="7412814"/>
              <a:ext cx="342900" cy="238760"/>
            </a:xfrm>
            <a:custGeom>
              <a:avLst/>
              <a:gdLst/>
              <a:ahLst/>
              <a:cxnLst/>
              <a:rect l="l" t="t" r="r" b="b"/>
              <a:pathLst>
                <a:path w="342900" h="238759">
                  <a:moveTo>
                    <a:pt x="0" y="238275"/>
                  </a:moveTo>
                  <a:lnTo>
                    <a:pt x="157726" y="0"/>
                  </a:lnTo>
                  <a:lnTo>
                    <a:pt x="342307" y="218134"/>
                  </a:lnTo>
                </a:path>
              </a:pathLst>
            </a:custGeom>
            <a:ln w="114300">
              <a:solidFill>
                <a:srgbClr val="000000"/>
              </a:solidFill>
            </a:ln>
          </p:spPr>
          <p:txBody>
            <a:bodyPr wrap="square" lIns="0" tIns="0" rIns="0" bIns="0" rtlCol="0"/>
            <a:lstStyle/>
            <a:p>
              <a:endParaRPr/>
            </a:p>
          </p:txBody>
        </p:sp>
      </p:gr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57737" y="829691"/>
            <a:ext cx="7079615" cy="3502025"/>
          </a:xfrm>
          <a:prstGeom prst="rect">
            <a:avLst/>
          </a:prstGeom>
        </p:spPr>
        <p:txBody>
          <a:bodyPr vert="horz" wrap="square" lIns="0" tIns="159385" rIns="0" bIns="0" rtlCol="0">
            <a:spAutoFit/>
          </a:bodyPr>
          <a:lstStyle/>
          <a:p>
            <a:pPr marL="12700">
              <a:lnSpc>
                <a:spcPct val="100000"/>
              </a:lnSpc>
              <a:spcBef>
                <a:spcPts val="1255"/>
              </a:spcBef>
            </a:pPr>
            <a:r>
              <a:rPr sz="3600" dirty="0">
                <a:solidFill>
                  <a:srgbClr val="2E377E"/>
                </a:solidFill>
                <a:latin typeface="Georgia"/>
                <a:cs typeface="Georgia"/>
              </a:rPr>
              <a:t>Types</a:t>
            </a:r>
            <a:r>
              <a:rPr sz="3600" spc="35" dirty="0">
                <a:solidFill>
                  <a:srgbClr val="2E377E"/>
                </a:solidFill>
                <a:latin typeface="Georgia"/>
                <a:cs typeface="Georgia"/>
              </a:rPr>
              <a:t> </a:t>
            </a:r>
            <a:r>
              <a:rPr sz="3600" dirty="0">
                <a:solidFill>
                  <a:srgbClr val="2E377E"/>
                </a:solidFill>
                <a:latin typeface="Georgia"/>
                <a:cs typeface="Georgia"/>
              </a:rPr>
              <a:t>of</a:t>
            </a:r>
            <a:r>
              <a:rPr sz="3600" spc="35" dirty="0">
                <a:solidFill>
                  <a:srgbClr val="2E377E"/>
                </a:solidFill>
                <a:latin typeface="Georgia"/>
                <a:cs typeface="Georgia"/>
              </a:rPr>
              <a:t> </a:t>
            </a:r>
            <a:r>
              <a:rPr sz="3600" spc="-10" dirty="0">
                <a:solidFill>
                  <a:srgbClr val="2E377E"/>
                </a:solidFill>
                <a:latin typeface="Georgia"/>
                <a:cs typeface="Georgia"/>
              </a:rPr>
              <a:t>volumes:</a:t>
            </a:r>
            <a:endParaRPr sz="3600" dirty="0">
              <a:latin typeface="Georgia"/>
              <a:cs typeface="Georgia"/>
            </a:endParaRPr>
          </a:p>
          <a:p>
            <a:pPr marL="888365" indent="-438784">
              <a:lnSpc>
                <a:spcPct val="100000"/>
              </a:lnSpc>
              <a:spcBef>
                <a:spcPts val="1155"/>
              </a:spcBef>
              <a:buAutoNum type="arabicPeriod"/>
              <a:tabLst>
                <a:tab pos="888365" algn="l"/>
              </a:tabLst>
            </a:pPr>
            <a:r>
              <a:rPr sz="3600" spc="-10" dirty="0">
                <a:solidFill>
                  <a:srgbClr val="2E377E"/>
                </a:solidFill>
                <a:latin typeface="Georgia"/>
                <a:cs typeface="Georgia"/>
              </a:rPr>
              <a:t>EmptyDir</a:t>
            </a:r>
            <a:endParaRPr sz="3600" dirty="0">
              <a:latin typeface="Georgia"/>
              <a:cs typeface="Georgia"/>
            </a:endParaRPr>
          </a:p>
          <a:p>
            <a:pPr marL="888365" indent="-467995">
              <a:lnSpc>
                <a:spcPct val="100000"/>
              </a:lnSpc>
              <a:spcBef>
                <a:spcPts val="1155"/>
              </a:spcBef>
              <a:buAutoNum type="arabicPeriod"/>
              <a:tabLst>
                <a:tab pos="888365" algn="l"/>
              </a:tabLst>
            </a:pPr>
            <a:r>
              <a:rPr sz="3600" spc="-10" dirty="0">
                <a:solidFill>
                  <a:srgbClr val="2E377E"/>
                </a:solidFill>
                <a:latin typeface="Georgia"/>
                <a:cs typeface="Georgia"/>
              </a:rPr>
              <a:t>HostPath</a:t>
            </a:r>
            <a:endParaRPr sz="3600" dirty="0">
              <a:latin typeface="Georgia"/>
              <a:cs typeface="Georgia"/>
            </a:endParaRPr>
          </a:p>
          <a:p>
            <a:pPr marL="887730" indent="-465455">
              <a:lnSpc>
                <a:spcPct val="100000"/>
              </a:lnSpc>
              <a:spcBef>
                <a:spcPts val="1155"/>
              </a:spcBef>
              <a:buAutoNum type="arabicPeriod"/>
              <a:tabLst>
                <a:tab pos="887730" algn="l"/>
              </a:tabLst>
            </a:pPr>
            <a:r>
              <a:rPr sz="3600" dirty="0">
                <a:solidFill>
                  <a:srgbClr val="2E377E"/>
                </a:solidFill>
                <a:latin typeface="Georgia"/>
                <a:cs typeface="Georgia"/>
              </a:rPr>
              <a:t>Persistent</a:t>
            </a:r>
            <a:r>
              <a:rPr sz="3600" spc="254" dirty="0">
                <a:solidFill>
                  <a:srgbClr val="2E377E"/>
                </a:solidFill>
                <a:latin typeface="Georgia"/>
                <a:cs typeface="Georgia"/>
              </a:rPr>
              <a:t> </a:t>
            </a:r>
            <a:r>
              <a:rPr sz="3600" spc="-10" dirty="0">
                <a:solidFill>
                  <a:srgbClr val="2E377E"/>
                </a:solidFill>
                <a:latin typeface="Georgia"/>
                <a:cs typeface="Georgia"/>
              </a:rPr>
              <a:t>Volume</a:t>
            </a:r>
            <a:endParaRPr sz="3600" dirty="0">
              <a:latin typeface="Georgia"/>
              <a:cs typeface="Georgia"/>
            </a:endParaRPr>
          </a:p>
          <a:p>
            <a:pPr marL="888365" indent="-469900">
              <a:lnSpc>
                <a:spcPct val="100000"/>
              </a:lnSpc>
              <a:spcBef>
                <a:spcPts val="1155"/>
              </a:spcBef>
              <a:buAutoNum type="arabicPeriod"/>
              <a:tabLst>
                <a:tab pos="888365" algn="l"/>
              </a:tabLst>
            </a:pPr>
            <a:r>
              <a:rPr sz="3600" dirty="0">
                <a:solidFill>
                  <a:srgbClr val="2E377E"/>
                </a:solidFill>
                <a:latin typeface="Georgia"/>
                <a:cs typeface="Georgia"/>
              </a:rPr>
              <a:t>Persistent</a:t>
            </a:r>
            <a:r>
              <a:rPr sz="3600" spc="100" dirty="0">
                <a:solidFill>
                  <a:srgbClr val="2E377E"/>
                </a:solidFill>
                <a:latin typeface="Georgia"/>
                <a:cs typeface="Georgia"/>
              </a:rPr>
              <a:t> </a:t>
            </a:r>
            <a:r>
              <a:rPr sz="3600" dirty="0">
                <a:solidFill>
                  <a:srgbClr val="2E377E"/>
                </a:solidFill>
                <a:latin typeface="Georgia"/>
                <a:cs typeface="Georgia"/>
              </a:rPr>
              <a:t>Volume</a:t>
            </a:r>
            <a:r>
              <a:rPr sz="3600" spc="100" dirty="0">
                <a:solidFill>
                  <a:srgbClr val="2E377E"/>
                </a:solidFill>
                <a:latin typeface="Georgia"/>
                <a:cs typeface="Georgia"/>
              </a:rPr>
              <a:t> </a:t>
            </a:r>
            <a:r>
              <a:rPr sz="3600" spc="-55" dirty="0">
                <a:solidFill>
                  <a:srgbClr val="2E377E"/>
                </a:solidFill>
                <a:latin typeface="Georgia"/>
                <a:cs typeface="Georgia"/>
              </a:rPr>
              <a:t>Claim(PVC)</a:t>
            </a:r>
            <a:endParaRPr sz="3600" dirty="0">
              <a:latin typeface="Georgia"/>
              <a:cs typeface="Georgia"/>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7701" y="586432"/>
            <a:ext cx="3627120" cy="712470"/>
          </a:xfrm>
          <a:prstGeom prst="rect">
            <a:avLst/>
          </a:prstGeom>
        </p:spPr>
        <p:txBody>
          <a:bodyPr vert="horz" wrap="square" lIns="0" tIns="13335" rIns="0" bIns="0" rtlCol="0">
            <a:spAutoFit/>
          </a:bodyPr>
          <a:lstStyle/>
          <a:p>
            <a:pPr marL="12700">
              <a:lnSpc>
                <a:spcPct val="100000"/>
              </a:lnSpc>
              <a:spcBef>
                <a:spcPts val="105"/>
              </a:spcBef>
            </a:pPr>
            <a:r>
              <a:rPr sz="4500" b="0" spc="-300" dirty="0">
                <a:solidFill>
                  <a:srgbClr val="FF3131"/>
                </a:solidFill>
                <a:latin typeface="Georgia"/>
                <a:cs typeface="Georgia"/>
              </a:rPr>
              <a:t>1.</a:t>
            </a:r>
            <a:r>
              <a:rPr sz="4500" b="0" spc="-635" dirty="0">
                <a:solidFill>
                  <a:srgbClr val="FF3131"/>
                </a:solidFill>
                <a:latin typeface="Georgia"/>
                <a:cs typeface="Georgia"/>
              </a:rPr>
              <a:t> </a:t>
            </a:r>
            <a:r>
              <a:rPr sz="4500" spc="-254" dirty="0">
                <a:solidFill>
                  <a:srgbClr val="FF3131"/>
                </a:solidFill>
              </a:rPr>
              <a:t>EMPTY</a:t>
            </a:r>
            <a:r>
              <a:rPr sz="4500" spc="-30" dirty="0">
                <a:solidFill>
                  <a:srgbClr val="FF3131"/>
                </a:solidFill>
              </a:rPr>
              <a:t> </a:t>
            </a:r>
            <a:r>
              <a:rPr sz="4500" spc="-110" dirty="0">
                <a:solidFill>
                  <a:srgbClr val="FF3131"/>
                </a:solidFill>
              </a:rPr>
              <a:t>DIR:</a:t>
            </a:r>
            <a:endParaRPr sz="4500">
              <a:latin typeface="Georgia"/>
              <a:cs typeface="Georgia"/>
            </a:endParaRPr>
          </a:p>
        </p:txBody>
      </p:sp>
      <p:pic>
        <p:nvPicPr>
          <p:cNvPr id="3" name="object 3"/>
          <p:cNvPicPr/>
          <p:nvPr/>
        </p:nvPicPr>
        <p:blipFill>
          <a:blip r:embed="rId2" cstate="print"/>
          <a:stretch>
            <a:fillRect/>
          </a:stretch>
        </p:blipFill>
        <p:spPr>
          <a:xfrm>
            <a:off x="1218112" y="2124065"/>
            <a:ext cx="133350" cy="133349"/>
          </a:xfrm>
          <a:prstGeom prst="rect">
            <a:avLst/>
          </a:prstGeom>
        </p:spPr>
      </p:pic>
      <p:sp>
        <p:nvSpPr>
          <p:cNvPr id="4" name="object 4"/>
          <p:cNvSpPr txBox="1"/>
          <p:nvPr/>
        </p:nvSpPr>
        <p:spPr>
          <a:xfrm>
            <a:off x="1534918" y="1707504"/>
            <a:ext cx="15829915" cy="6978650"/>
          </a:xfrm>
          <a:prstGeom prst="rect">
            <a:avLst/>
          </a:prstGeom>
        </p:spPr>
        <p:txBody>
          <a:bodyPr vert="horz" wrap="square" lIns="0" tIns="12700" rIns="0" bIns="0" rtlCol="0">
            <a:spAutoFit/>
          </a:bodyPr>
          <a:lstStyle/>
          <a:p>
            <a:pPr marL="12700" marR="50165">
              <a:lnSpc>
                <a:spcPct val="126699"/>
              </a:lnSpc>
              <a:spcBef>
                <a:spcPts val="100"/>
              </a:spcBef>
            </a:pPr>
            <a:r>
              <a:rPr sz="3600" dirty="0">
                <a:solidFill>
                  <a:srgbClr val="2E377E"/>
                </a:solidFill>
                <a:latin typeface="Georgia"/>
                <a:cs typeface="Georgia"/>
              </a:rPr>
              <a:t>This</a:t>
            </a:r>
            <a:r>
              <a:rPr sz="3600" spc="20" dirty="0">
                <a:solidFill>
                  <a:srgbClr val="2E377E"/>
                </a:solidFill>
                <a:latin typeface="Georgia"/>
                <a:cs typeface="Georgia"/>
              </a:rPr>
              <a:t> </a:t>
            </a:r>
            <a:r>
              <a:rPr sz="3600" dirty="0">
                <a:solidFill>
                  <a:srgbClr val="2E377E"/>
                </a:solidFill>
                <a:latin typeface="Georgia"/>
                <a:cs typeface="Georgia"/>
              </a:rPr>
              <a:t>volume</a:t>
            </a:r>
            <a:r>
              <a:rPr sz="3600" spc="25" dirty="0">
                <a:solidFill>
                  <a:srgbClr val="2E377E"/>
                </a:solidFill>
                <a:latin typeface="Georgia"/>
                <a:cs typeface="Georgia"/>
              </a:rPr>
              <a:t> </a:t>
            </a:r>
            <a:r>
              <a:rPr sz="3600" dirty="0">
                <a:solidFill>
                  <a:srgbClr val="2E377E"/>
                </a:solidFill>
                <a:latin typeface="Georgia"/>
                <a:cs typeface="Georgia"/>
              </a:rPr>
              <a:t>is</a:t>
            </a:r>
            <a:r>
              <a:rPr sz="3600" spc="25" dirty="0">
                <a:solidFill>
                  <a:srgbClr val="2E377E"/>
                </a:solidFill>
                <a:latin typeface="Georgia"/>
                <a:cs typeface="Georgia"/>
              </a:rPr>
              <a:t> </a:t>
            </a:r>
            <a:r>
              <a:rPr sz="3600" dirty="0">
                <a:solidFill>
                  <a:srgbClr val="2E377E"/>
                </a:solidFill>
                <a:latin typeface="Georgia"/>
                <a:cs typeface="Georgia"/>
              </a:rPr>
              <a:t>used</a:t>
            </a:r>
            <a:r>
              <a:rPr sz="3600" spc="25" dirty="0">
                <a:solidFill>
                  <a:srgbClr val="2E377E"/>
                </a:solidFill>
                <a:latin typeface="Georgia"/>
                <a:cs typeface="Georgia"/>
              </a:rPr>
              <a:t> </a:t>
            </a:r>
            <a:r>
              <a:rPr sz="3600" spc="6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share</a:t>
            </a:r>
            <a:r>
              <a:rPr sz="3600" spc="25"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volumes</a:t>
            </a:r>
            <a:r>
              <a:rPr sz="3600" spc="25" dirty="0">
                <a:solidFill>
                  <a:srgbClr val="2E377E"/>
                </a:solidFill>
                <a:latin typeface="Georgia"/>
                <a:cs typeface="Georgia"/>
              </a:rPr>
              <a:t> </a:t>
            </a:r>
            <a:r>
              <a:rPr sz="3600" spc="65" dirty="0">
                <a:solidFill>
                  <a:srgbClr val="2E377E"/>
                </a:solidFill>
                <a:latin typeface="Georgia"/>
                <a:cs typeface="Georgia"/>
              </a:rPr>
              <a:t>between</a:t>
            </a:r>
            <a:r>
              <a:rPr sz="3600" spc="25" dirty="0">
                <a:solidFill>
                  <a:srgbClr val="2E377E"/>
                </a:solidFill>
                <a:latin typeface="Georgia"/>
                <a:cs typeface="Georgia"/>
              </a:rPr>
              <a:t> </a:t>
            </a:r>
            <a:r>
              <a:rPr sz="3600" dirty="0">
                <a:solidFill>
                  <a:srgbClr val="2E377E"/>
                </a:solidFill>
                <a:latin typeface="Georgia"/>
                <a:cs typeface="Georgia"/>
              </a:rPr>
              <a:t>multiple</a:t>
            </a:r>
            <a:r>
              <a:rPr sz="3600" spc="20" dirty="0">
                <a:solidFill>
                  <a:srgbClr val="2E377E"/>
                </a:solidFill>
                <a:latin typeface="Georgia"/>
                <a:cs typeface="Georgia"/>
              </a:rPr>
              <a:t> </a:t>
            </a:r>
            <a:r>
              <a:rPr sz="3600" dirty="0">
                <a:solidFill>
                  <a:srgbClr val="2E377E"/>
                </a:solidFill>
                <a:latin typeface="Georgia"/>
                <a:cs typeface="Georgia"/>
              </a:rPr>
              <a:t>containers</a:t>
            </a:r>
            <a:r>
              <a:rPr sz="3600" spc="25" dirty="0">
                <a:solidFill>
                  <a:srgbClr val="2E377E"/>
                </a:solidFill>
                <a:latin typeface="Georgia"/>
                <a:cs typeface="Georgia"/>
              </a:rPr>
              <a:t> </a:t>
            </a:r>
            <a:r>
              <a:rPr sz="3600" spc="40" dirty="0">
                <a:solidFill>
                  <a:srgbClr val="2E377E"/>
                </a:solidFill>
                <a:latin typeface="Georgia"/>
                <a:cs typeface="Georgia"/>
              </a:rPr>
              <a:t>within </a:t>
            </a:r>
            <a:r>
              <a:rPr sz="3600" dirty="0">
                <a:solidFill>
                  <a:srgbClr val="2E377E"/>
                </a:solidFill>
                <a:latin typeface="Georgia"/>
                <a:cs typeface="Georgia"/>
              </a:rPr>
              <a:t>a</a:t>
            </a:r>
            <a:r>
              <a:rPr sz="3600" spc="-40" dirty="0">
                <a:solidFill>
                  <a:srgbClr val="2E377E"/>
                </a:solidFill>
                <a:latin typeface="Georgia"/>
                <a:cs typeface="Georgia"/>
              </a:rPr>
              <a:t> </a:t>
            </a:r>
            <a:r>
              <a:rPr sz="3600" dirty="0">
                <a:solidFill>
                  <a:srgbClr val="2E377E"/>
                </a:solidFill>
                <a:latin typeface="Georgia"/>
                <a:cs typeface="Georgia"/>
              </a:rPr>
              <a:t>pod</a:t>
            </a:r>
            <a:r>
              <a:rPr sz="3600" spc="-35" dirty="0">
                <a:solidFill>
                  <a:srgbClr val="2E377E"/>
                </a:solidFill>
                <a:latin typeface="Georgia"/>
                <a:cs typeface="Georgia"/>
              </a:rPr>
              <a:t> </a:t>
            </a:r>
            <a:r>
              <a:rPr sz="3600" dirty="0">
                <a:solidFill>
                  <a:srgbClr val="2E377E"/>
                </a:solidFill>
                <a:latin typeface="Georgia"/>
                <a:cs typeface="Georgia"/>
              </a:rPr>
              <a:t>instead</a:t>
            </a:r>
            <a:r>
              <a:rPr sz="3600" spc="-35" dirty="0">
                <a:solidFill>
                  <a:srgbClr val="2E377E"/>
                </a:solidFill>
                <a:latin typeface="Georgia"/>
                <a:cs typeface="Georgia"/>
              </a:rPr>
              <a:t> </a:t>
            </a:r>
            <a:r>
              <a:rPr sz="3600" dirty="0">
                <a:solidFill>
                  <a:srgbClr val="2E377E"/>
                </a:solidFill>
                <a:latin typeface="Georgia"/>
                <a:cs typeface="Georgia"/>
              </a:rPr>
              <a:t>of</a:t>
            </a:r>
            <a:r>
              <a:rPr sz="3600" spc="-35" dirty="0">
                <a:solidFill>
                  <a:srgbClr val="2E377E"/>
                </a:solidFill>
                <a:latin typeface="Georgia"/>
                <a:cs typeface="Georgia"/>
              </a:rPr>
              <a:t> </a:t>
            </a:r>
            <a:r>
              <a:rPr sz="3600" spc="5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host</a:t>
            </a:r>
            <a:r>
              <a:rPr sz="3600" spc="-35" dirty="0">
                <a:solidFill>
                  <a:srgbClr val="2E377E"/>
                </a:solidFill>
                <a:latin typeface="Georgia"/>
                <a:cs typeface="Georgia"/>
              </a:rPr>
              <a:t> </a:t>
            </a:r>
            <a:r>
              <a:rPr sz="3600" dirty="0">
                <a:solidFill>
                  <a:srgbClr val="2E377E"/>
                </a:solidFill>
                <a:latin typeface="Georgia"/>
                <a:cs typeface="Georgia"/>
              </a:rPr>
              <a:t>machine</a:t>
            </a:r>
            <a:r>
              <a:rPr sz="3600" spc="-35" dirty="0">
                <a:solidFill>
                  <a:srgbClr val="2E377E"/>
                </a:solidFill>
                <a:latin typeface="Georgia"/>
                <a:cs typeface="Georgia"/>
              </a:rPr>
              <a:t> </a:t>
            </a:r>
            <a:r>
              <a:rPr sz="3600" dirty="0">
                <a:solidFill>
                  <a:srgbClr val="2E377E"/>
                </a:solidFill>
                <a:latin typeface="Georgia"/>
                <a:cs typeface="Georgia"/>
              </a:rPr>
              <a:t>or</a:t>
            </a:r>
            <a:r>
              <a:rPr sz="3600" spc="-35" dirty="0">
                <a:solidFill>
                  <a:srgbClr val="2E377E"/>
                </a:solidFill>
                <a:latin typeface="Georgia"/>
                <a:cs typeface="Georgia"/>
              </a:rPr>
              <a:t> </a:t>
            </a:r>
            <a:r>
              <a:rPr sz="3600" spc="55" dirty="0">
                <a:solidFill>
                  <a:srgbClr val="2E377E"/>
                </a:solidFill>
                <a:latin typeface="Georgia"/>
                <a:cs typeface="Georgia"/>
              </a:rPr>
              <a:t>any</a:t>
            </a:r>
            <a:r>
              <a:rPr sz="3600" spc="-35" dirty="0">
                <a:solidFill>
                  <a:srgbClr val="2E377E"/>
                </a:solidFill>
                <a:latin typeface="Georgia"/>
                <a:cs typeface="Georgia"/>
              </a:rPr>
              <a:t> </a:t>
            </a:r>
            <a:r>
              <a:rPr sz="3600" spc="-20" dirty="0">
                <a:solidFill>
                  <a:srgbClr val="2E377E"/>
                </a:solidFill>
                <a:latin typeface="Georgia"/>
                <a:cs typeface="Georgia"/>
              </a:rPr>
              <a:t>Master/Worker</a:t>
            </a:r>
            <a:r>
              <a:rPr sz="3600" spc="-40" dirty="0">
                <a:solidFill>
                  <a:srgbClr val="2E377E"/>
                </a:solidFill>
                <a:latin typeface="Georgia"/>
                <a:cs typeface="Georgia"/>
              </a:rPr>
              <a:t> </a:t>
            </a:r>
            <a:r>
              <a:rPr sz="3600" spc="-10" dirty="0">
                <a:solidFill>
                  <a:srgbClr val="2E377E"/>
                </a:solidFill>
                <a:latin typeface="Georgia"/>
                <a:cs typeface="Georgia"/>
              </a:rPr>
              <a:t>Node.</a:t>
            </a:r>
            <a:endParaRPr sz="3600">
              <a:latin typeface="Georgia"/>
              <a:cs typeface="Georgia"/>
            </a:endParaRPr>
          </a:p>
          <a:p>
            <a:pPr marL="12700" marR="205104">
              <a:lnSpc>
                <a:spcPct val="126699"/>
              </a:lnSpc>
            </a:pPr>
            <a:r>
              <a:rPr sz="3600" dirty="0">
                <a:solidFill>
                  <a:srgbClr val="2E377E"/>
                </a:solidFill>
                <a:latin typeface="Georgia"/>
                <a:cs typeface="Georgia"/>
              </a:rPr>
              <a:t>EmptyDir</a:t>
            </a:r>
            <a:r>
              <a:rPr sz="3600" spc="-25" dirty="0">
                <a:solidFill>
                  <a:srgbClr val="2E377E"/>
                </a:solidFill>
                <a:latin typeface="Georgia"/>
                <a:cs typeface="Georgia"/>
              </a:rPr>
              <a:t> </a:t>
            </a:r>
            <a:r>
              <a:rPr sz="3600" dirty="0">
                <a:solidFill>
                  <a:srgbClr val="2E377E"/>
                </a:solidFill>
                <a:latin typeface="Georgia"/>
                <a:cs typeface="Georgia"/>
              </a:rPr>
              <a:t>volume</a:t>
            </a:r>
            <a:r>
              <a:rPr sz="3600" spc="-20"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created</a:t>
            </a:r>
            <a:r>
              <a:rPr sz="3600" spc="-25" dirty="0">
                <a:solidFill>
                  <a:srgbClr val="2E377E"/>
                </a:solidFill>
                <a:latin typeface="Georgia"/>
                <a:cs typeface="Georgia"/>
              </a:rPr>
              <a:t> </a:t>
            </a:r>
            <a:r>
              <a:rPr sz="3600" spc="60" dirty="0">
                <a:solidFill>
                  <a:srgbClr val="2E377E"/>
                </a:solidFill>
                <a:latin typeface="Georgia"/>
                <a:cs typeface="Georgia"/>
              </a:rPr>
              <a:t>when</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created</a:t>
            </a:r>
            <a:r>
              <a:rPr sz="3600" spc="-20" dirty="0">
                <a:solidFill>
                  <a:srgbClr val="2E377E"/>
                </a:solidFill>
                <a:latin typeface="Georgia"/>
                <a:cs typeface="Georgia"/>
              </a:rPr>
              <a:t> </a:t>
            </a:r>
            <a:r>
              <a:rPr sz="3600" dirty="0">
                <a:solidFill>
                  <a:srgbClr val="2E377E"/>
                </a:solidFill>
                <a:latin typeface="Georgia"/>
                <a:cs typeface="Georgia"/>
              </a:rPr>
              <a:t>and</a:t>
            </a:r>
            <a:r>
              <a:rPr sz="3600" spc="-25" dirty="0">
                <a:solidFill>
                  <a:srgbClr val="2E377E"/>
                </a:solidFill>
                <a:latin typeface="Georgia"/>
                <a:cs typeface="Georgia"/>
              </a:rPr>
              <a:t> </a:t>
            </a:r>
            <a:r>
              <a:rPr sz="3600" spc="55" dirty="0">
                <a:solidFill>
                  <a:srgbClr val="2E377E"/>
                </a:solidFill>
                <a:latin typeface="Georgia"/>
                <a:cs typeface="Georgia"/>
              </a:rPr>
              <a:t>it</a:t>
            </a:r>
            <a:r>
              <a:rPr sz="3600" spc="-20" dirty="0">
                <a:solidFill>
                  <a:srgbClr val="2E377E"/>
                </a:solidFill>
                <a:latin typeface="Georgia"/>
                <a:cs typeface="Georgia"/>
              </a:rPr>
              <a:t> </a:t>
            </a:r>
            <a:r>
              <a:rPr sz="3600" spc="50" dirty="0">
                <a:solidFill>
                  <a:srgbClr val="2E377E"/>
                </a:solidFill>
                <a:latin typeface="Georgia"/>
                <a:cs typeface="Georgia"/>
              </a:rPr>
              <a:t>exists</a:t>
            </a:r>
            <a:r>
              <a:rPr sz="3600" spc="-20" dirty="0">
                <a:solidFill>
                  <a:srgbClr val="2E377E"/>
                </a:solidFill>
                <a:latin typeface="Georgia"/>
                <a:cs typeface="Georgia"/>
              </a:rPr>
              <a:t> </a:t>
            </a:r>
            <a:r>
              <a:rPr sz="3600" dirty="0">
                <a:solidFill>
                  <a:srgbClr val="2E377E"/>
                </a:solidFill>
                <a:latin typeface="Georgia"/>
                <a:cs typeface="Georgia"/>
              </a:rPr>
              <a:t>as</a:t>
            </a:r>
            <a:r>
              <a:rPr sz="3600" spc="-25" dirty="0">
                <a:solidFill>
                  <a:srgbClr val="2E377E"/>
                </a:solidFill>
                <a:latin typeface="Georgia"/>
                <a:cs typeface="Georgia"/>
              </a:rPr>
              <a:t> </a:t>
            </a:r>
            <a:r>
              <a:rPr sz="3600" dirty="0">
                <a:solidFill>
                  <a:srgbClr val="2E377E"/>
                </a:solidFill>
                <a:latin typeface="Georgia"/>
                <a:cs typeface="Georgia"/>
              </a:rPr>
              <a:t>long</a:t>
            </a:r>
            <a:r>
              <a:rPr sz="3600" spc="-20" dirty="0">
                <a:solidFill>
                  <a:srgbClr val="2E377E"/>
                </a:solidFill>
                <a:latin typeface="Georgia"/>
                <a:cs typeface="Georgia"/>
              </a:rPr>
              <a:t> </a:t>
            </a:r>
            <a:r>
              <a:rPr sz="3600" dirty="0">
                <a:solidFill>
                  <a:srgbClr val="2E377E"/>
                </a:solidFill>
                <a:latin typeface="Georgia"/>
                <a:cs typeface="Georgia"/>
              </a:rPr>
              <a:t>as</a:t>
            </a:r>
            <a:r>
              <a:rPr sz="3600" spc="-20" dirty="0">
                <a:solidFill>
                  <a:srgbClr val="2E377E"/>
                </a:solidFill>
                <a:latin typeface="Georgia"/>
                <a:cs typeface="Georgia"/>
              </a:rPr>
              <a:t> </a:t>
            </a:r>
            <a:r>
              <a:rPr sz="3600" spc="-50" dirty="0">
                <a:solidFill>
                  <a:srgbClr val="2E377E"/>
                </a:solidFill>
                <a:latin typeface="Georgia"/>
                <a:cs typeface="Georgia"/>
              </a:rPr>
              <a:t>a </a:t>
            </a:r>
            <a:r>
              <a:rPr sz="3600" spc="-20" dirty="0">
                <a:solidFill>
                  <a:srgbClr val="2E377E"/>
                </a:solidFill>
                <a:latin typeface="Georgia"/>
                <a:cs typeface="Georgia"/>
              </a:rPr>
              <a:t>pod.</a:t>
            </a:r>
            <a:endParaRPr sz="3600">
              <a:latin typeface="Georgia"/>
              <a:cs typeface="Georgia"/>
            </a:endParaRPr>
          </a:p>
          <a:p>
            <a:pPr marL="12700" marR="200025">
              <a:lnSpc>
                <a:spcPct val="126699"/>
              </a:lnSpc>
              <a:spcBef>
                <a:spcPts val="5"/>
              </a:spcBef>
            </a:pPr>
            <a:r>
              <a:rPr sz="3600" dirty="0">
                <a:solidFill>
                  <a:srgbClr val="2E377E"/>
                </a:solidFill>
                <a:latin typeface="Georgia"/>
                <a:cs typeface="Georgia"/>
              </a:rPr>
              <a:t>There</a:t>
            </a:r>
            <a:r>
              <a:rPr sz="3600" spc="-25" dirty="0">
                <a:solidFill>
                  <a:srgbClr val="2E377E"/>
                </a:solidFill>
                <a:latin typeface="Georgia"/>
                <a:cs typeface="Georgia"/>
              </a:rPr>
              <a:t> </a:t>
            </a:r>
            <a:r>
              <a:rPr sz="3600" dirty="0">
                <a:solidFill>
                  <a:srgbClr val="2E377E"/>
                </a:solidFill>
                <a:latin typeface="Georgia"/>
                <a:cs typeface="Georgia"/>
              </a:rPr>
              <a:t>is</a:t>
            </a:r>
            <a:r>
              <a:rPr sz="3600" spc="-25" dirty="0">
                <a:solidFill>
                  <a:srgbClr val="2E377E"/>
                </a:solidFill>
                <a:latin typeface="Georgia"/>
                <a:cs typeface="Georgia"/>
              </a:rPr>
              <a:t> </a:t>
            </a:r>
            <a:r>
              <a:rPr sz="3600" dirty="0">
                <a:solidFill>
                  <a:srgbClr val="2E377E"/>
                </a:solidFill>
                <a:latin typeface="Georgia"/>
                <a:cs typeface="Georgia"/>
              </a:rPr>
              <a:t>no</a:t>
            </a:r>
            <a:r>
              <a:rPr sz="3600" spc="-25" dirty="0">
                <a:solidFill>
                  <a:srgbClr val="2E377E"/>
                </a:solidFill>
                <a:latin typeface="Georgia"/>
                <a:cs typeface="Georgia"/>
              </a:rPr>
              <a:t> </a:t>
            </a:r>
            <a:r>
              <a:rPr sz="3600" dirty="0">
                <a:solidFill>
                  <a:srgbClr val="2E377E"/>
                </a:solidFill>
                <a:latin typeface="Georgia"/>
                <a:cs typeface="Georgia"/>
              </a:rPr>
              <a:t>data</a:t>
            </a:r>
            <a:r>
              <a:rPr sz="3600" spc="-25" dirty="0">
                <a:solidFill>
                  <a:srgbClr val="2E377E"/>
                </a:solidFill>
                <a:latin typeface="Georgia"/>
                <a:cs typeface="Georgia"/>
              </a:rPr>
              <a:t> </a:t>
            </a:r>
            <a:r>
              <a:rPr sz="3600" dirty="0">
                <a:solidFill>
                  <a:srgbClr val="2E377E"/>
                </a:solidFill>
                <a:latin typeface="Georgia"/>
                <a:cs typeface="Georgia"/>
              </a:rPr>
              <a:t>available</a:t>
            </a:r>
            <a:r>
              <a:rPr sz="3600" spc="-25" dirty="0">
                <a:solidFill>
                  <a:srgbClr val="2E377E"/>
                </a:solidFill>
                <a:latin typeface="Georgia"/>
                <a:cs typeface="Georgia"/>
              </a:rPr>
              <a:t> </a:t>
            </a:r>
            <a:r>
              <a:rPr sz="3600" dirty="0">
                <a:solidFill>
                  <a:srgbClr val="2E377E"/>
                </a:solidFill>
                <a:latin typeface="Georgia"/>
                <a:cs typeface="Georgia"/>
              </a:rPr>
              <a:t>in</a:t>
            </a:r>
            <a:r>
              <a:rPr sz="3600" spc="-25"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EmptyDir</a:t>
            </a:r>
            <a:r>
              <a:rPr sz="3600" spc="-25" dirty="0">
                <a:solidFill>
                  <a:srgbClr val="2E377E"/>
                </a:solidFill>
                <a:latin typeface="Georgia"/>
                <a:cs typeface="Georgia"/>
              </a:rPr>
              <a:t> </a:t>
            </a:r>
            <a:r>
              <a:rPr sz="3600" dirty="0">
                <a:solidFill>
                  <a:srgbClr val="2E377E"/>
                </a:solidFill>
                <a:latin typeface="Georgia"/>
                <a:cs typeface="Georgia"/>
              </a:rPr>
              <a:t>volume</a:t>
            </a:r>
            <a:r>
              <a:rPr sz="3600" spc="-25" dirty="0">
                <a:solidFill>
                  <a:srgbClr val="2E377E"/>
                </a:solidFill>
                <a:latin typeface="Georgia"/>
                <a:cs typeface="Georgia"/>
              </a:rPr>
              <a:t> </a:t>
            </a:r>
            <a:r>
              <a:rPr sz="3600" spc="90" dirty="0">
                <a:solidFill>
                  <a:srgbClr val="2E377E"/>
                </a:solidFill>
                <a:latin typeface="Georgia"/>
                <a:cs typeface="Georgia"/>
              </a:rPr>
              <a:t>type</a:t>
            </a:r>
            <a:r>
              <a:rPr sz="3600" spc="-25" dirty="0">
                <a:solidFill>
                  <a:srgbClr val="2E377E"/>
                </a:solidFill>
                <a:latin typeface="Georgia"/>
                <a:cs typeface="Georgia"/>
              </a:rPr>
              <a:t> </a:t>
            </a:r>
            <a:r>
              <a:rPr sz="3600" spc="60" dirty="0">
                <a:solidFill>
                  <a:srgbClr val="2E377E"/>
                </a:solidFill>
                <a:latin typeface="Georgia"/>
                <a:cs typeface="Georgia"/>
              </a:rPr>
              <a:t>when</a:t>
            </a:r>
            <a:r>
              <a:rPr sz="3600" spc="-25" dirty="0">
                <a:solidFill>
                  <a:srgbClr val="2E377E"/>
                </a:solidFill>
                <a:latin typeface="Georgia"/>
                <a:cs typeface="Georgia"/>
              </a:rPr>
              <a:t> </a:t>
            </a:r>
            <a:r>
              <a:rPr sz="3600" spc="55" dirty="0">
                <a:solidFill>
                  <a:srgbClr val="2E377E"/>
                </a:solidFill>
                <a:latin typeface="Georgia"/>
                <a:cs typeface="Georgia"/>
              </a:rPr>
              <a:t>it</a:t>
            </a:r>
            <a:r>
              <a:rPr sz="3600" spc="-25" dirty="0">
                <a:solidFill>
                  <a:srgbClr val="2E377E"/>
                </a:solidFill>
                <a:latin typeface="Georgia"/>
                <a:cs typeface="Georgia"/>
              </a:rPr>
              <a:t> </a:t>
            </a:r>
            <a:r>
              <a:rPr sz="3600" dirty="0">
                <a:solidFill>
                  <a:srgbClr val="2E377E"/>
                </a:solidFill>
                <a:latin typeface="Georgia"/>
                <a:cs typeface="Georgia"/>
              </a:rPr>
              <a:t>is</a:t>
            </a:r>
            <a:r>
              <a:rPr sz="3600" spc="-25" dirty="0">
                <a:solidFill>
                  <a:srgbClr val="2E377E"/>
                </a:solidFill>
                <a:latin typeface="Georgia"/>
                <a:cs typeface="Georgia"/>
              </a:rPr>
              <a:t> </a:t>
            </a:r>
            <a:r>
              <a:rPr sz="3600" dirty="0">
                <a:solidFill>
                  <a:srgbClr val="2E377E"/>
                </a:solidFill>
                <a:latin typeface="Georgia"/>
                <a:cs typeface="Georgia"/>
              </a:rPr>
              <a:t>created</a:t>
            </a:r>
            <a:r>
              <a:rPr sz="3600" spc="-20" dirty="0">
                <a:solidFill>
                  <a:srgbClr val="2E377E"/>
                </a:solidFill>
                <a:latin typeface="Georgia"/>
                <a:cs typeface="Georgia"/>
              </a:rPr>
              <a:t> </a:t>
            </a:r>
            <a:r>
              <a:rPr sz="3600" spc="-25" dirty="0">
                <a:solidFill>
                  <a:srgbClr val="2E377E"/>
                </a:solidFill>
                <a:latin typeface="Georgia"/>
                <a:cs typeface="Georgia"/>
              </a:rPr>
              <a:t>for </a:t>
            </a:r>
            <a:r>
              <a:rPr sz="3600" spc="50" dirty="0">
                <a:solidFill>
                  <a:srgbClr val="2E377E"/>
                </a:solidFill>
                <a:latin typeface="Georgia"/>
                <a:cs typeface="Georgia"/>
              </a:rPr>
              <a:t>the</a:t>
            </a:r>
            <a:r>
              <a:rPr sz="3600" spc="-80" dirty="0">
                <a:solidFill>
                  <a:srgbClr val="2E377E"/>
                </a:solidFill>
                <a:latin typeface="Georgia"/>
                <a:cs typeface="Georgia"/>
              </a:rPr>
              <a:t> </a:t>
            </a:r>
            <a:r>
              <a:rPr sz="3600" spc="-10" dirty="0">
                <a:solidFill>
                  <a:srgbClr val="2E377E"/>
                </a:solidFill>
                <a:latin typeface="Georgia"/>
                <a:cs typeface="Georgia"/>
              </a:rPr>
              <a:t>first.</a:t>
            </a:r>
            <a:endParaRPr sz="3600">
              <a:latin typeface="Georgia"/>
              <a:cs typeface="Georgia"/>
            </a:endParaRPr>
          </a:p>
          <a:p>
            <a:pPr marL="12700" marR="5080">
              <a:lnSpc>
                <a:spcPct val="126699"/>
              </a:lnSpc>
            </a:pPr>
            <a:r>
              <a:rPr sz="3600" dirty="0">
                <a:solidFill>
                  <a:srgbClr val="2E377E"/>
                </a:solidFill>
                <a:latin typeface="Georgia"/>
                <a:cs typeface="Georgia"/>
              </a:rPr>
              <a:t>Containers</a:t>
            </a:r>
            <a:r>
              <a:rPr sz="3600" spc="-10" dirty="0">
                <a:solidFill>
                  <a:srgbClr val="2E377E"/>
                </a:solidFill>
                <a:latin typeface="Georgia"/>
                <a:cs typeface="Georgia"/>
              </a:rPr>
              <a:t> </a:t>
            </a:r>
            <a:r>
              <a:rPr sz="3600" spc="50" dirty="0">
                <a:solidFill>
                  <a:srgbClr val="2E377E"/>
                </a:solidFill>
                <a:latin typeface="Georgia"/>
                <a:cs typeface="Georgia"/>
              </a:rPr>
              <a:t>within</a:t>
            </a:r>
            <a:r>
              <a:rPr sz="3600" spc="-10"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pod</a:t>
            </a:r>
            <a:r>
              <a:rPr sz="3600" spc="-10" dirty="0">
                <a:solidFill>
                  <a:srgbClr val="2E377E"/>
                </a:solidFill>
                <a:latin typeface="Georgia"/>
                <a:cs typeface="Georgia"/>
              </a:rPr>
              <a:t> </a:t>
            </a:r>
            <a:r>
              <a:rPr sz="3600" dirty="0">
                <a:solidFill>
                  <a:srgbClr val="2E377E"/>
                </a:solidFill>
                <a:latin typeface="Georgia"/>
                <a:cs typeface="Georgia"/>
              </a:rPr>
              <a:t>can</a:t>
            </a:r>
            <a:r>
              <a:rPr sz="3600" spc="-10" dirty="0">
                <a:solidFill>
                  <a:srgbClr val="2E377E"/>
                </a:solidFill>
                <a:latin typeface="Georgia"/>
                <a:cs typeface="Georgia"/>
              </a:rPr>
              <a:t> </a:t>
            </a:r>
            <a:r>
              <a:rPr sz="3600" dirty="0">
                <a:solidFill>
                  <a:srgbClr val="2E377E"/>
                </a:solidFill>
                <a:latin typeface="Georgia"/>
                <a:cs typeface="Georgia"/>
              </a:rPr>
              <a:t>access</a:t>
            </a:r>
            <a:r>
              <a:rPr sz="3600" spc="-10"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other</a:t>
            </a:r>
            <a:r>
              <a:rPr sz="3600" spc="-5" dirty="0">
                <a:solidFill>
                  <a:srgbClr val="2E377E"/>
                </a:solidFill>
                <a:latin typeface="Georgia"/>
                <a:cs typeface="Georgia"/>
              </a:rPr>
              <a:t> </a:t>
            </a:r>
            <a:r>
              <a:rPr sz="3600" dirty="0">
                <a:solidFill>
                  <a:srgbClr val="2E377E"/>
                </a:solidFill>
                <a:latin typeface="Georgia"/>
                <a:cs typeface="Georgia"/>
              </a:rPr>
              <a:t>containers'</a:t>
            </a:r>
            <a:r>
              <a:rPr sz="3600" spc="-10" dirty="0">
                <a:solidFill>
                  <a:srgbClr val="2E377E"/>
                </a:solidFill>
                <a:latin typeface="Georgia"/>
                <a:cs typeface="Georgia"/>
              </a:rPr>
              <a:t> data. </a:t>
            </a:r>
            <a:r>
              <a:rPr sz="3600" dirty="0">
                <a:solidFill>
                  <a:srgbClr val="2E377E"/>
                </a:solidFill>
                <a:latin typeface="Georgia"/>
                <a:cs typeface="Georgia"/>
              </a:rPr>
              <a:t>However,</a:t>
            </a:r>
            <a:r>
              <a:rPr sz="3600" spc="-10" dirty="0">
                <a:solidFill>
                  <a:srgbClr val="2E377E"/>
                </a:solidFill>
                <a:latin typeface="Georgia"/>
                <a:cs typeface="Georgia"/>
              </a:rPr>
              <a:t> </a:t>
            </a:r>
            <a:r>
              <a:rPr sz="3600" spc="25" dirty="0">
                <a:solidFill>
                  <a:srgbClr val="2E377E"/>
                </a:solidFill>
                <a:latin typeface="Georgia"/>
                <a:cs typeface="Georgia"/>
              </a:rPr>
              <a:t>the </a:t>
            </a:r>
            <a:r>
              <a:rPr sz="3600" dirty="0">
                <a:solidFill>
                  <a:srgbClr val="2E377E"/>
                </a:solidFill>
                <a:latin typeface="Georgia"/>
                <a:cs typeface="Georgia"/>
              </a:rPr>
              <a:t>mount</a:t>
            </a:r>
            <a:r>
              <a:rPr sz="3600" spc="35" dirty="0">
                <a:solidFill>
                  <a:srgbClr val="2E377E"/>
                </a:solidFill>
                <a:latin typeface="Georgia"/>
                <a:cs typeface="Georgia"/>
              </a:rPr>
              <a:t> </a:t>
            </a:r>
            <a:r>
              <a:rPr sz="3600" dirty="0">
                <a:solidFill>
                  <a:srgbClr val="2E377E"/>
                </a:solidFill>
                <a:latin typeface="Georgia"/>
                <a:cs typeface="Georgia"/>
              </a:rPr>
              <a:t>path</a:t>
            </a:r>
            <a:r>
              <a:rPr sz="3600" spc="40" dirty="0">
                <a:solidFill>
                  <a:srgbClr val="2E377E"/>
                </a:solidFill>
                <a:latin typeface="Georgia"/>
                <a:cs typeface="Georgia"/>
              </a:rPr>
              <a:t> </a:t>
            </a:r>
            <a:r>
              <a:rPr sz="3600" dirty="0">
                <a:solidFill>
                  <a:srgbClr val="2E377E"/>
                </a:solidFill>
                <a:latin typeface="Georgia"/>
                <a:cs typeface="Georgia"/>
              </a:rPr>
              <a:t>can</a:t>
            </a:r>
            <a:r>
              <a:rPr sz="3600" spc="35" dirty="0">
                <a:solidFill>
                  <a:srgbClr val="2E377E"/>
                </a:solidFill>
                <a:latin typeface="Georgia"/>
                <a:cs typeface="Georgia"/>
              </a:rPr>
              <a:t> </a:t>
            </a:r>
            <a:r>
              <a:rPr sz="3600" dirty="0">
                <a:solidFill>
                  <a:srgbClr val="2E377E"/>
                </a:solidFill>
                <a:latin typeface="Georgia"/>
                <a:cs typeface="Georgia"/>
              </a:rPr>
              <a:t>be</a:t>
            </a:r>
            <a:r>
              <a:rPr sz="3600" spc="40" dirty="0">
                <a:solidFill>
                  <a:srgbClr val="2E377E"/>
                </a:solidFill>
                <a:latin typeface="Georgia"/>
                <a:cs typeface="Georgia"/>
              </a:rPr>
              <a:t> </a:t>
            </a:r>
            <a:r>
              <a:rPr sz="3600" dirty="0">
                <a:solidFill>
                  <a:srgbClr val="2E377E"/>
                </a:solidFill>
                <a:latin typeface="Georgia"/>
                <a:cs typeface="Georgia"/>
              </a:rPr>
              <a:t>different</a:t>
            </a:r>
            <a:r>
              <a:rPr sz="3600" spc="35" dirty="0">
                <a:solidFill>
                  <a:srgbClr val="2E377E"/>
                </a:solidFill>
                <a:latin typeface="Georgia"/>
                <a:cs typeface="Georgia"/>
              </a:rPr>
              <a:t> </a:t>
            </a:r>
            <a:r>
              <a:rPr sz="3600" dirty="0">
                <a:solidFill>
                  <a:srgbClr val="2E377E"/>
                </a:solidFill>
                <a:latin typeface="Georgia"/>
                <a:cs typeface="Georgia"/>
              </a:rPr>
              <a:t>for</a:t>
            </a:r>
            <a:r>
              <a:rPr sz="3600" spc="40" dirty="0">
                <a:solidFill>
                  <a:srgbClr val="2E377E"/>
                </a:solidFill>
                <a:latin typeface="Georgia"/>
                <a:cs typeface="Georgia"/>
              </a:rPr>
              <a:t> </a:t>
            </a:r>
            <a:r>
              <a:rPr sz="3600" dirty="0">
                <a:solidFill>
                  <a:srgbClr val="2E377E"/>
                </a:solidFill>
                <a:latin typeface="Georgia"/>
                <a:cs typeface="Georgia"/>
              </a:rPr>
              <a:t>each</a:t>
            </a:r>
            <a:r>
              <a:rPr sz="3600" spc="35" dirty="0">
                <a:solidFill>
                  <a:srgbClr val="2E377E"/>
                </a:solidFill>
                <a:latin typeface="Georgia"/>
                <a:cs typeface="Georgia"/>
              </a:rPr>
              <a:t> </a:t>
            </a:r>
            <a:r>
              <a:rPr sz="3600" spc="-10" dirty="0">
                <a:solidFill>
                  <a:srgbClr val="2E377E"/>
                </a:solidFill>
                <a:latin typeface="Georgia"/>
                <a:cs typeface="Georgia"/>
              </a:rPr>
              <a:t>container.</a:t>
            </a:r>
            <a:endParaRPr sz="3600">
              <a:latin typeface="Georgia"/>
              <a:cs typeface="Georgia"/>
            </a:endParaRPr>
          </a:p>
          <a:p>
            <a:pPr marL="12700" marR="1549400">
              <a:lnSpc>
                <a:spcPct val="126699"/>
              </a:lnSpc>
            </a:pPr>
            <a:r>
              <a:rPr sz="3600" dirty="0">
                <a:solidFill>
                  <a:srgbClr val="2E377E"/>
                </a:solidFill>
                <a:latin typeface="Georgia"/>
                <a:cs typeface="Georgia"/>
              </a:rPr>
              <a:t>If</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Containers</a:t>
            </a:r>
            <a:r>
              <a:rPr sz="3600" spc="-20" dirty="0">
                <a:solidFill>
                  <a:srgbClr val="2E377E"/>
                </a:solidFill>
                <a:latin typeface="Georgia"/>
                <a:cs typeface="Georgia"/>
              </a:rPr>
              <a:t> </a:t>
            </a:r>
            <a:r>
              <a:rPr sz="3600" spc="65" dirty="0">
                <a:solidFill>
                  <a:srgbClr val="2E377E"/>
                </a:solidFill>
                <a:latin typeface="Georgia"/>
                <a:cs typeface="Georgia"/>
              </a:rPr>
              <a:t>get</a:t>
            </a:r>
            <a:r>
              <a:rPr sz="3600" spc="-20" dirty="0">
                <a:solidFill>
                  <a:srgbClr val="2E377E"/>
                </a:solidFill>
                <a:latin typeface="Georgia"/>
                <a:cs typeface="Georgia"/>
              </a:rPr>
              <a:t> </a:t>
            </a:r>
            <a:r>
              <a:rPr sz="3600" dirty="0">
                <a:solidFill>
                  <a:srgbClr val="2E377E"/>
                </a:solidFill>
                <a:latin typeface="Georgia"/>
                <a:cs typeface="Georgia"/>
              </a:rPr>
              <a:t>crashed</a:t>
            </a:r>
            <a:r>
              <a:rPr sz="3600" spc="-20" dirty="0">
                <a:solidFill>
                  <a:srgbClr val="2E377E"/>
                </a:solidFill>
                <a:latin typeface="Georgia"/>
                <a:cs typeface="Georgia"/>
              </a:rPr>
              <a:t> </a:t>
            </a:r>
            <a:r>
              <a:rPr sz="3600" dirty="0">
                <a:solidFill>
                  <a:srgbClr val="2E377E"/>
                </a:solidFill>
                <a:latin typeface="Georgia"/>
                <a:cs typeface="Georgia"/>
              </a:rPr>
              <a:t>then,</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data</a:t>
            </a:r>
            <a:r>
              <a:rPr sz="3600" spc="-20" dirty="0">
                <a:solidFill>
                  <a:srgbClr val="2E377E"/>
                </a:solidFill>
                <a:latin typeface="Georgia"/>
                <a:cs typeface="Georgia"/>
              </a:rPr>
              <a:t> </a:t>
            </a:r>
            <a:r>
              <a:rPr sz="3600" dirty="0">
                <a:solidFill>
                  <a:srgbClr val="2E377E"/>
                </a:solidFill>
                <a:latin typeface="Georgia"/>
                <a:cs typeface="Georgia"/>
              </a:rPr>
              <a:t>will</a:t>
            </a:r>
            <a:r>
              <a:rPr sz="3600" spc="-20" dirty="0">
                <a:solidFill>
                  <a:srgbClr val="2E377E"/>
                </a:solidFill>
                <a:latin typeface="Georgia"/>
                <a:cs typeface="Georgia"/>
              </a:rPr>
              <a:t> </a:t>
            </a:r>
            <a:r>
              <a:rPr sz="3600" dirty="0">
                <a:solidFill>
                  <a:srgbClr val="2E377E"/>
                </a:solidFill>
                <a:latin typeface="Georgia"/>
                <a:cs typeface="Georgia"/>
              </a:rPr>
              <a:t>still</a:t>
            </a:r>
            <a:r>
              <a:rPr sz="3600" spc="-20" dirty="0">
                <a:solidFill>
                  <a:srgbClr val="2E377E"/>
                </a:solidFill>
                <a:latin typeface="Georgia"/>
                <a:cs typeface="Georgia"/>
              </a:rPr>
              <a:t> </a:t>
            </a:r>
            <a:r>
              <a:rPr sz="3600" dirty="0">
                <a:solidFill>
                  <a:srgbClr val="2E377E"/>
                </a:solidFill>
                <a:latin typeface="Georgia"/>
                <a:cs typeface="Georgia"/>
              </a:rPr>
              <a:t>persist</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dirty="0">
                <a:solidFill>
                  <a:srgbClr val="2E377E"/>
                </a:solidFill>
                <a:latin typeface="Georgia"/>
                <a:cs typeface="Georgia"/>
              </a:rPr>
              <a:t>can</a:t>
            </a:r>
            <a:r>
              <a:rPr sz="3600" spc="-20" dirty="0">
                <a:solidFill>
                  <a:srgbClr val="2E377E"/>
                </a:solidFill>
                <a:latin typeface="Georgia"/>
                <a:cs typeface="Georgia"/>
              </a:rPr>
              <a:t> </a:t>
            </a:r>
            <a:r>
              <a:rPr sz="3600" spc="-25" dirty="0">
                <a:solidFill>
                  <a:srgbClr val="2E377E"/>
                </a:solidFill>
                <a:latin typeface="Georgia"/>
                <a:cs typeface="Georgia"/>
              </a:rPr>
              <a:t>be </a:t>
            </a:r>
            <a:r>
              <a:rPr sz="3600" dirty="0">
                <a:solidFill>
                  <a:srgbClr val="2E377E"/>
                </a:solidFill>
                <a:latin typeface="Georgia"/>
                <a:cs typeface="Georgia"/>
              </a:rPr>
              <a:t>accessible</a:t>
            </a:r>
            <a:r>
              <a:rPr sz="3600" spc="30" dirty="0">
                <a:solidFill>
                  <a:srgbClr val="2E377E"/>
                </a:solidFill>
                <a:latin typeface="Georgia"/>
                <a:cs typeface="Georgia"/>
              </a:rPr>
              <a:t> </a:t>
            </a:r>
            <a:r>
              <a:rPr sz="3600" spc="90" dirty="0">
                <a:solidFill>
                  <a:srgbClr val="2E377E"/>
                </a:solidFill>
                <a:latin typeface="Georgia"/>
                <a:cs typeface="Georgia"/>
              </a:rPr>
              <a:t>by</a:t>
            </a:r>
            <a:r>
              <a:rPr sz="3600" spc="30" dirty="0">
                <a:solidFill>
                  <a:srgbClr val="2E377E"/>
                </a:solidFill>
                <a:latin typeface="Georgia"/>
                <a:cs typeface="Georgia"/>
              </a:rPr>
              <a:t> </a:t>
            </a:r>
            <a:r>
              <a:rPr sz="3600" dirty="0">
                <a:solidFill>
                  <a:srgbClr val="2E377E"/>
                </a:solidFill>
                <a:latin typeface="Georgia"/>
                <a:cs typeface="Georgia"/>
              </a:rPr>
              <a:t>other</a:t>
            </a:r>
            <a:r>
              <a:rPr sz="3600" spc="35" dirty="0">
                <a:solidFill>
                  <a:srgbClr val="2E377E"/>
                </a:solidFill>
                <a:latin typeface="Georgia"/>
                <a:cs typeface="Georgia"/>
              </a:rPr>
              <a:t> </a:t>
            </a:r>
            <a:r>
              <a:rPr sz="3600" dirty="0">
                <a:solidFill>
                  <a:srgbClr val="2E377E"/>
                </a:solidFill>
                <a:latin typeface="Georgia"/>
                <a:cs typeface="Georgia"/>
              </a:rPr>
              <a:t>or</a:t>
            </a:r>
            <a:r>
              <a:rPr sz="3600" spc="30" dirty="0">
                <a:solidFill>
                  <a:srgbClr val="2E377E"/>
                </a:solidFill>
                <a:latin typeface="Georgia"/>
                <a:cs typeface="Georgia"/>
              </a:rPr>
              <a:t> </a:t>
            </a:r>
            <a:r>
              <a:rPr sz="3600" spc="85" dirty="0">
                <a:solidFill>
                  <a:srgbClr val="2E377E"/>
                </a:solidFill>
                <a:latin typeface="Georgia"/>
                <a:cs typeface="Georgia"/>
              </a:rPr>
              <a:t>newly</a:t>
            </a:r>
            <a:r>
              <a:rPr sz="3600" spc="35" dirty="0">
                <a:solidFill>
                  <a:srgbClr val="2E377E"/>
                </a:solidFill>
                <a:latin typeface="Georgia"/>
                <a:cs typeface="Georgia"/>
              </a:rPr>
              <a:t> </a:t>
            </a:r>
            <a:r>
              <a:rPr sz="3600" dirty="0">
                <a:solidFill>
                  <a:srgbClr val="2E377E"/>
                </a:solidFill>
                <a:latin typeface="Georgia"/>
                <a:cs typeface="Georgia"/>
              </a:rPr>
              <a:t>created</a:t>
            </a:r>
            <a:r>
              <a:rPr sz="3600" spc="30" dirty="0">
                <a:solidFill>
                  <a:srgbClr val="2E377E"/>
                </a:solidFill>
                <a:latin typeface="Georgia"/>
                <a:cs typeface="Georgia"/>
              </a:rPr>
              <a:t> </a:t>
            </a:r>
            <a:r>
              <a:rPr sz="3600" spc="-10" dirty="0">
                <a:solidFill>
                  <a:srgbClr val="2E377E"/>
                </a:solidFill>
                <a:latin typeface="Georgia"/>
                <a:cs typeface="Georgia"/>
              </a:rPr>
              <a:t>containers.</a:t>
            </a:r>
            <a:endParaRPr sz="3600">
              <a:latin typeface="Georgia"/>
              <a:cs typeface="Georgia"/>
            </a:endParaRPr>
          </a:p>
        </p:txBody>
      </p:sp>
      <p:pic>
        <p:nvPicPr>
          <p:cNvPr id="5" name="object 5"/>
          <p:cNvPicPr/>
          <p:nvPr/>
        </p:nvPicPr>
        <p:blipFill>
          <a:blip r:embed="rId2" cstate="print"/>
          <a:stretch>
            <a:fillRect/>
          </a:stretch>
        </p:blipFill>
        <p:spPr>
          <a:xfrm>
            <a:off x="1218112" y="3514715"/>
            <a:ext cx="133350" cy="133349"/>
          </a:xfrm>
          <a:prstGeom prst="rect">
            <a:avLst/>
          </a:prstGeom>
        </p:spPr>
      </p:pic>
      <p:pic>
        <p:nvPicPr>
          <p:cNvPr id="6" name="object 6"/>
          <p:cNvPicPr/>
          <p:nvPr/>
        </p:nvPicPr>
        <p:blipFill>
          <a:blip r:embed="rId2" cstate="print"/>
          <a:stretch>
            <a:fillRect/>
          </a:stretch>
        </p:blipFill>
        <p:spPr>
          <a:xfrm>
            <a:off x="1218112" y="4905364"/>
            <a:ext cx="133350" cy="133349"/>
          </a:xfrm>
          <a:prstGeom prst="rect">
            <a:avLst/>
          </a:prstGeom>
        </p:spPr>
      </p:pic>
      <p:pic>
        <p:nvPicPr>
          <p:cNvPr id="7" name="object 7"/>
          <p:cNvPicPr/>
          <p:nvPr/>
        </p:nvPicPr>
        <p:blipFill>
          <a:blip r:embed="rId2" cstate="print"/>
          <a:stretch>
            <a:fillRect/>
          </a:stretch>
        </p:blipFill>
        <p:spPr>
          <a:xfrm>
            <a:off x="1218112" y="6296014"/>
            <a:ext cx="133350" cy="133349"/>
          </a:xfrm>
          <a:prstGeom prst="rect">
            <a:avLst/>
          </a:prstGeom>
        </p:spPr>
      </p:pic>
      <p:pic>
        <p:nvPicPr>
          <p:cNvPr id="8" name="object 8"/>
          <p:cNvPicPr/>
          <p:nvPr/>
        </p:nvPicPr>
        <p:blipFill>
          <a:blip r:embed="rId2" cstate="print"/>
          <a:stretch>
            <a:fillRect/>
          </a:stretch>
        </p:blipFill>
        <p:spPr>
          <a:xfrm>
            <a:off x="1218112" y="7686664"/>
            <a:ext cx="133350" cy="133349"/>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4572" y="523876"/>
            <a:ext cx="16382999" cy="6981824"/>
          </a:xfrm>
          <a:prstGeom prst="rect">
            <a:avLst/>
          </a:prstGeom>
        </p:spPr>
      </p:pic>
      <p:sp>
        <p:nvSpPr>
          <p:cNvPr id="3" name="object 3"/>
          <p:cNvSpPr txBox="1"/>
          <p:nvPr/>
        </p:nvSpPr>
        <p:spPr>
          <a:xfrm>
            <a:off x="606197" y="8059714"/>
            <a:ext cx="16751300" cy="1816100"/>
          </a:xfrm>
          <a:prstGeom prst="rect">
            <a:avLst/>
          </a:prstGeom>
        </p:spPr>
        <p:txBody>
          <a:bodyPr vert="horz" wrap="square" lIns="0" tIns="12700" rIns="0" bIns="0" rtlCol="0">
            <a:spAutoFit/>
          </a:bodyPr>
          <a:lstStyle/>
          <a:p>
            <a:pPr marL="12700" marR="5080">
              <a:lnSpc>
                <a:spcPct val="115199"/>
              </a:lnSpc>
              <a:spcBef>
                <a:spcPts val="100"/>
              </a:spcBef>
            </a:pPr>
            <a:r>
              <a:rPr sz="2550" b="1" spc="70" dirty="0">
                <a:latin typeface="Times New Roman"/>
                <a:cs typeface="Times New Roman"/>
              </a:rPr>
              <a:t>In</a:t>
            </a:r>
            <a:r>
              <a:rPr sz="2550" b="1" spc="-5" dirty="0">
                <a:latin typeface="Times New Roman"/>
                <a:cs typeface="Times New Roman"/>
              </a:rPr>
              <a:t> </a:t>
            </a:r>
            <a:r>
              <a:rPr sz="2550" b="1" spc="110" dirty="0">
                <a:latin typeface="Times New Roman"/>
                <a:cs typeface="Times New Roman"/>
              </a:rPr>
              <a:t>the</a:t>
            </a:r>
            <a:r>
              <a:rPr sz="2550" b="1" spc="-5" dirty="0">
                <a:latin typeface="Times New Roman"/>
                <a:cs typeface="Times New Roman"/>
              </a:rPr>
              <a:t> </a:t>
            </a:r>
            <a:r>
              <a:rPr sz="2550" b="1" spc="130" dirty="0">
                <a:latin typeface="Times New Roman"/>
                <a:cs typeface="Times New Roman"/>
              </a:rPr>
              <a:t>above</a:t>
            </a:r>
            <a:r>
              <a:rPr sz="2550" b="1" dirty="0">
                <a:latin typeface="Times New Roman"/>
                <a:cs typeface="Times New Roman"/>
              </a:rPr>
              <a:t> file,</a:t>
            </a:r>
            <a:r>
              <a:rPr sz="2550" b="1" spc="-5" dirty="0">
                <a:latin typeface="Times New Roman"/>
                <a:cs typeface="Times New Roman"/>
              </a:rPr>
              <a:t> </a:t>
            </a:r>
            <a:r>
              <a:rPr sz="2550" b="1" dirty="0">
                <a:latin typeface="Times New Roman"/>
                <a:cs typeface="Times New Roman"/>
              </a:rPr>
              <a:t>it</a:t>
            </a:r>
            <a:r>
              <a:rPr sz="2550" b="1" spc="-5" dirty="0">
                <a:latin typeface="Times New Roman"/>
                <a:cs typeface="Times New Roman"/>
              </a:rPr>
              <a:t> </a:t>
            </a:r>
            <a:r>
              <a:rPr sz="2550" b="1" spc="130" dirty="0">
                <a:latin typeface="Times New Roman"/>
                <a:cs typeface="Times New Roman"/>
              </a:rPr>
              <a:t>will</a:t>
            </a:r>
            <a:r>
              <a:rPr sz="2550" b="1" dirty="0">
                <a:latin typeface="Times New Roman"/>
                <a:cs typeface="Times New Roman"/>
              </a:rPr>
              <a:t> </a:t>
            </a:r>
            <a:r>
              <a:rPr sz="2550" b="1" spc="70" dirty="0">
                <a:latin typeface="Times New Roman"/>
                <a:cs typeface="Times New Roman"/>
              </a:rPr>
              <a:t>creates</a:t>
            </a:r>
            <a:r>
              <a:rPr sz="2550" b="1" spc="-5" dirty="0">
                <a:latin typeface="Times New Roman"/>
                <a:cs typeface="Times New Roman"/>
              </a:rPr>
              <a:t> </a:t>
            </a:r>
            <a:r>
              <a:rPr sz="2550" b="1" spc="150" dirty="0">
                <a:latin typeface="Times New Roman"/>
                <a:cs typeface="Times New Roman"/>
              </a:rPr>
              <a:t>2</a:t>
            </a:r>
            <a:r>
              <a:rPr sz="2550" b="1" dirty="0">
                <a:latin typeface="Times New Roman"/>
                <a:cs typeface="Times New Roman"/>
              </a:rPr>
              <a:t> </a:t>
            </a:r>
            <a:r>
              <a:rPr sz="2550" b="1" spc="95" dirty="0">
                <a:latin typeface="Times New Roman"/>
                <a:cs typeface="Times New Roman"/>
              </a:rPr>
              <a:t>containers</a:t>
            </a:r>
            <a:r>
              <a:rPr sz="2550" b="1" spc="-5" dirty="0">
                <a:latin typeface="Times New Roman"/>
                <a:cs typeface="Times New Roman"/>
              </a:rPr>
              <a:t> </a:t>
            </a:r>
            <a:r>
              <a:rPr sz="2550" b="1" spc="120" dirty="0">
                <a:latin typeface="Times New Roman"/>
                <a:cs typeface="Times New Roman"/>
              </a:rPr>
              <a:t>inside</a:t>
            </a:r>
            <a:r>
              <a:rPr sz="2550" b="1" spc="-5" dirty="0">
                <a:latin typeface="Times New Roman"/>
                <a:cs typeface="Times New Roman"/>
              </a:rPr>
              <a:t> </a:t>
            </a:r>
            <a:r>
              <a:rPr sz="2550" b="1" dirty="0">
                <a:latin typeface="Times New Roman"/>
                <a:cs typeface="Times New Roman"/>
              </a:rPr>
              <a:t>a </a:t>
            </a:r>
            <a:r>
              <a:rPr sz="2550" b="1" spc="110" dirty="0">
                <a:latin typeface="Times New Roman"/>
                <a:cs typeface="Times New Roman"/>
              </a:rPr>
              <a:t>pod.</a:t>
            </a:r>
            <a:r>
              <a:rPr sz="2550" b="1" spc="-5" dirty="0">
                <a:latin typeface="Times New Roman"/>
                <a:cs typeface="Times New Roman"/>
              </a:rPr>
              <a:t> </a:t>
            </a:r>
            <a:r>
              <a:rPr sz="2550" b="1" dirty="0">
                <a:latin typeface="Times New Roman"/>
                <a:cs typeface="Times New Roman"/>
              </a:rPr>
              <a:t>if </a:t>
            </a:r>
            <a:r>
              <a:rPr sz="2550" b="1" spc="160" dirty="0">
                <a:latin typeface="Times New Roman"/>
                <a:cs typeface="Times New Roman"/>
              </a:rPr>
              <a:t>you</a:t>
            </a:r>
            <a:r>
              <a:rPr sz="2550" b="1" spc="-5" dirty="0">
                <a:latin typeface="Times New Roman"/>
                <a:cs typeface="Times New Roman"/>
              </a:rPr>
              <a:t> </a:t>
            </a:r>
            <a:r>
              <a:rPr sz="2550" b="1" spc="70" dirty="0">
                <a:latin typeface="Times New Roman"/>
                <a:cs typeface="Times New Roman"/>
              </a:rPr>
              <a:t>create</a:t>
            </a:r>
            <a:r>
              <a:rPr sz="2550" b="1" spc="-5" dirty="0">
                <a:latin typeface="Times New Roman"/>
                <a:cs typeface="Times New Roman"/>
              </a:rPr>
              <a:t> </a:t>
            </a:r>
            <a:r>
              <a:rPr sz="2550" b="1" dirty="0">
                <a:latin typeface="Times New Roman"/>
                <a:cs typeface="Times New Roman"/>
              </a:rPr>
              <a:t>a </a:t>
            </a:r>
            <a:r>
              <a:rPr sz="2550" b="1" spc="55" dirty="0">
                <a:latin typeface="Times New Roman"/>
                <a:cs typeface="Times New Roman"/>
              </a:rPr>
              <a:t>file</a:t>
            </a:r>
            <a:r>
              <a:rPr sz="2550" b="1" spc="-5" dirty="0">
                <a:latin typeface="Times New Roman"/>
                <a:cs typeface="Times New Roman"/>
              </a:rPr>
              <a:t> </a:t>
            </a:r>
            <a:r>
              <a:rPr sz="2550" b="1" spc="135" dirty="0">
                <a:latin typeface="Times New Roman"/>
                <a:cs typeface="Times New Roman"/>
              </a:rPr>
              <a:t>in</a:t>
            </a:r>
            <a:r>
              <a:rPr sz="2550" b="1" dirty="0">
                <a:latin typeface="Times New Roman"/>
                <a:cs typeface="Times New Roman"/>
              </a:rPr>
              <a:t> </a:t>
            </a:r>
            <a:r>
              <a:rPr sz="2550" b="1" spc="135" dirty="0">
                <a:latin typeface="Times New Roman"/>
                <a:cs typeface="Times New Roman"/>
              </a:rPr>
              <a:t>any</a:t>
            </a:r>
            <a:r>
              <a:rPr sz="2550" b="1" spc="-5" dirty="0">
                <a:latin typeface="Times New Roman"/>
                <a:cs typeface="Times New Roman"/>
              </a:rPr>
              <a:t> </a:t>
            </a:r>
            <a:r>
              <a:rPr sz="2550" b="1" spc="85" dirty="0">
                <a:latin typeface="Times New Roman"/>
                <a:cs typeface="Times New Roman"/>
              </a:rPr>
              <a:t>container,</a:t>
            </a:r>
            <a:r>
              <a:rPr sz="2550" b="1" spc="-5" dirty="0">
                <a:latin typeface="Times New Roman"/>
                <a:cs typeface="Times New Roman"/>
              </a:rPr>
              <a:t> </a:t>
            </a:r>
            <a:r>
              <a:rPr sz="2550" b="1" spc="130" dirty="0">
                <a:latin typeface="Times New Roman"/>
                <a:cs typeface="Times New Roman"/>
              </a:rPr>
              <a:t>then</a:t>
            </a:r>
            <a:r>
              <a:rPr sz="2550" b="1" dirty="0">
                <a:latin typeface="Times New Roman"/>
                <a:cs typeface="Times New Roman"/>
              </a:rPr>
              <a:t> </a:t>
            </a:r>
            <a:r>
              <a:rPr sz="2550" b="1" spc="110" dirty="0">
                <a:latin typeface="Times New Roman"/>
                <a:cs typeface="Times New Roman"/>
              </a:rPr>
              <a:t>the</a:t>
            </a:r>
            <a:r>
              <a:rPr sz="2550" b="1" spc="-5" dirty="0">
                <a:latin typeface="Times New Roman"/>
                <a:cs typeface="Times New Roman"/>
              </a:rPr>
              <a:t> </a:t>
            </a:r>
            <a:r>
              <a:rPr sz="2550" b="1" spc="55" dirty="0">
                <a:latin typeface="Times New Roman"/>
                <a:cs typeface="Times New Roman"/>
              </a:rPr>
              <a:t>file</a:t>
            </a:r>
            <a:r>
              <a:rPr sz="2550" b="1" dirty="0">
                <a:latin typeface="Times New Roman"/>
                <a:cs typeface="Times New Roman"/>
              </a:rPr>
              <a:t> </a:t>
            </a:r>
            <a:r>
              <a:rPr sz="2550" b="1" spc="130" dirty="0">
                <a:latin typeface="Times New Roman"/>
                <a:cs typeface="Times New Roman"/>
              </a:rPr>
              <a:t>will</a:t>
            </a:r>
            <a:r>
              <a:rPr sz="2550" b="1" spc="-5" dirty="0">
                <a:latin typeface="Times New Roman"/>
                <a:cs typeface="Times New Roman"/>
              </a:rPr>
              <a:t> </a:t>
            </a:r>
            <a:r>
              <a:rPr sz="2550" b="1" spc="130" dirty="0">
                <a:latin typeface="Times New Roman"/>
                <a:cs typeface="Times New Roman"/>
              </a:rPr>
              <a:t>be </a:t>
            </a:r>
            <a:r>
              <a:rPr sz="2550" b="1" spc="80" dirty="0">
                <a:latin typeface="Times New Roman"/>
                <a:cs typeface="Times New Roman"/>
              </a:rPr>
              <a:t>available</a:t>
            </a:r>
            <a:r>
              <a:rPr sz="2550" b="1" spc="-25" dirty="0">
                <a:latin typeface="Times New Roman"/>
                <a:cs typeface="Times New Roman"/>
              </a:rPr>
              <a:t> </a:t>
            </a:r>
            <a:r>
              <a:rPr sz="2550" b="1" spc="175" dirty="0">
                <a:latin typeface="Times New Roman"/>
                <a:cs typeface="Times New Roman"/>
              </a:rPr>
              <a:t>on</a:t>
            </a:r>
            <a:r>
              <a:rPr sz="2550" b="1" spc="-25" dirty="0">
                <a:latin typeface="Times New Roman"/>
                <a:cs typeface="Times New Roman"/>
              </a:rPr>
              <a:t> </a:t>
            </a:r>
            <a:r>
              <a:rPr sz="2550" b="1" spc="120" dirty="0">
                <a:latin typeface="Times New Roman"/>
                <a:cs typeface="Times New Roman"/>
              </a:rPr>
              <a:t>both</a:t>
            </a:r>
            <a:r>
              <a:rPr sz="2550" b="1" spc="-20" dirty="0">
                <a:latin typeface="Times New Roman"/>
                <a:cs typeface="Times New Roman"/>
              </a:rPr>
              <a:t> </a:t>
            </a:r>
            <a:r>
              <a:rPr sz="2550" b="1" spc="110" dirty="0">
                <a:latin typeface="Times New Roman"/>
                <a:cs typeface="Times New Roman"/>
              </a:rPr>
              <a:t>the</a:t>
            </a:r>
            <a:r>
              <a:rPr sz="2550" b="1" spc="-25" dirty="0">
                <a:latin typeface="Times New Roman"/>
                <a:cs typeface="Times New Roman"/>
              </a:rPr>
              <a:t> </a:t>
            </a:r>
            <a:r>
              <a:rPr sz="2550" b="1" spc="75" dirty="0">
                <a:latin typeface="Times New Roman"/>
                <a:cs typeface="Times New Roman"/>
              </a:rPr>
              <a:t>containers.</a:t>
            </a:r>
            <a:endParaRPr sz="2550" dirty="0">
              <a:latin typeface="Times New Roman"/>
              <a:cs typeface="Times New Roman"/>
            </a:endParaRPr>
          </a:p>
          <a:p>
            <a:pPr marL="12700">
              <a:lnSpc>
                <a:spcPct val="100000"/>
              </a:lnSpc>
              <a:spcBef>
                <a:spcPts val="464"/>
              </a:spcBef>
            </a:pPr>
            <a:r>
              <a:rPr lang="en-IN" sz="2550" b="1" spc="80" dirty="0" err="1">
                <a:solidFill>
                  <a:srgbClr val="E7181F"/>
                </a:solidFill>
                <a:latin typeface="Times New Roman"/>
                <a:cs typeface="Times New Roman"/>
              </a:rPr>
              <a:t>Kubectl</a:t>
            </a:r>
            <a:r>
              <a:rPr lang="en-IN" sz="2550" b="1" spc="80" dirty="0">
                <a:solidFill>
                  <a:srgbClr val="E7181F"/>
                </a:solidFill>
                <a:latin typeface="Times New Roman"/>
                <a:cs typeface="Times New Roman"/>
              </a:rPr>
              <a:t> </a:t>
            </a:r>
            <a:r>
              <a:rPr sz="2550" b="1" spc="135" dirty="0">
                <a:solidFill>
                  <a:srgbClr val="E7181F"/>
                </a:solidFill>
                <a:latin typeface="Times New Roman"/>
                <a:cs typeface="Times New Roman"/>
              </a:rPr>
              <a:t>exec</a:t>
            </a:r>
            <a:r>
              <a:rPr sz="2550" b="1" spc="-5" dirty="0">
                <a:solidFill>
                  <a:srgbClr val="E7181F"/>
                </a:solidFill>
                <a:latin typeface="Times New Roman"/>
                <a:cs typeface="Times New Roman"/>
              </a:rPr>
              <a:t> </a:t>
            </a:r>
            <a:r>
              <a:rPr sz="2550" b="1" spc="335" dirty="0">
                <a:solidFill>
                  <a:srgbClr val="E7181F"/>
                </a:solidFill>
                <a:latin typeface="Times New Roman"/>
                <a:cs typeface="Times New Roman"/>
              </a:rPr>
              <a:t>-</a:t>
            </a:r>
            <a:r>
              <a:rPr sz="2550" b="1" dirty="0">
                <a:solidFill>
                  <a:srgbClr val="E7181F"/>
                </a:solidFill>
                <a:latin typeface="Times New Roman"/>
                <a:cs typeface="Times New Roman"/>
              </a:rPr>
              <a:t>it</a:t>
            </a:r>
            <a:r>
              <a:rPr sz="2550" b="1" spc="-5" dirty="0">
                <a:solidFill>
                  <a:srgbClr val="E7181F"/>
                </a:solidFill>
                <a:latin typeface="Times New Roman"/>
                <a:cs typeface="Times New Roman"/>
              </a:rPr>
              <a:t> </a:t>
            </a:r>
            <a:r>
              <a:rPr sz="2550" b="1" spc="200" dirty="0">
                <a:solidFill>
                  <a:srgbClr val="E7181F"/>
                </a:solidFill>
                <a:latin typeface="Times New Roman"/>
                <a:cs typeface="Times New Roman"/>
              </a:rPr>
              <a:t>pod-</a:t>
            </a:r>
            <a:r>
              <a:rPr sz="2550" b="1" spc="-270" dirty="0">
                <a:solidFill>
                  <a:srgbClr val="E7181F"/>
                </a:solidFill>
                <a:latin typeface="Times New Roman"/>
                <a:cs typeface="Times New Roman"/>
              </a:rPr>
              <a:t>1</a:t>
            </a:r>
            <a:r>
              <a:rPr sz="2550" b="1" spc="-5" dirty="0">
                <a:solidFill>
                  <a:srgbClr val="E7181F"/>
                </a:solidFill>
                <a:latin typeface="Times New Roman"/>
                <a:cs typeface="Times New Roman"/>
              </a:rPr>
              <a:t> </a:t>
            </a:r>
            <a:r>
              <a:rPr sz="2550" b="1" spc="335" dirty="0">
                <a:solidFill>
                  <a:srgbClr val="E7181F"/>
                </a:solidFill>
                <a:latin typeface="Times New Roman"/>
                <a:cs typeface="Times New Roman"/>
              </a:rPr>
              <a:t>-</a:t>
            </a:r>
            <a:r>
              <a:rPr sz="2550" b="1" spc="125" dirty="0">
                <a:solidFill>
                  <a:srgbClr val="E7181F"/>
                </a:solidFill>
                <a:latin typeface="Times New Roman"/>
                <a:cs typeface="Times New Roman"/>
              </a:rPr>
              <a:t>c</a:t>
            </a:r>
            <a:r>
              <a:rPr sz="2550" b="1" spc="-5" dirty="0">
                <a:solidFill>
                  <a:srgbClr val="E7181F"/>
                </a:solidFill>
                <a:latin typeface="Times New Roman"/>
                <a:cs typeface="Times New Roman"/>
              </a:rPr>
              <a:t> </a:t>
            </a:r>
            <a:r>
              <a:rPr sz="2550" b="1" spc="60" dirty="0">
                <a:solidFill>
                  <a:srgbClr val="E7181F"/>
                </a:solidFill>
                <a:latin typeface="Times New Roman"/>
                <a:cs typeface="Times New Roman"/>
              </a:rPr>
              <a:t>container1</a:t>
            </a:r>
            <a:r>
              <a:rPr sz="2550" b="1" spc="-5" dirty="0">
                <a:solidFill>
                  <a:srgbClr val="E7181F"/>
                </a:solidFill>
                <a:latin typeface="Times New Roman"/>
                <a:cs typeface="Times New Roman"/>
              </a:rPr>
              <a:t> </a:t>
            </a:r>
            <a:r>
              <a:rPr sz="2550" b="1" spc="190" dirty="0">
                <a:solidFill>
                  <a:srgbClr val="E7181F"/>
                </a:solidFill>
                <a:latin typeface="Times New Roman"/>
                <a:cs typeface="Times New Roman"/>
              </a:rPr>
              <a:t>/bin/bash</a:t>
            </a:r>
            <a:endParaRPr sz="2550" dirty="0">
              <a:latin typeface="Times New Roman"/>
              <a:cs typeface="Times New Roman"/>
            </a:endParaRPr>
          </a:p>
          <a:p>
            <a:pPr marL="12700">
              <a:lnSpc>
                <a:spcPct val="100000"/>
              </a:lnSpc>
              <a:spcBef>
                <a:spcPts val="464"/>
              </a:spcBef>
            </a:pPr>
            <a:r>
              <a:rPr sz="2550" b="1" dirty="0">
                <a:latin typeface="Times New Roman"/>
                <a:cs typeface="Times New Roman"/>
              </a:rPr>
              <a:t>By</a:t>
            </a:r>
            <a:r>
              <a:rPr sz="2550" b="1" spc="-20" dirty="0">
                <a:latin typeface="Times New Roman"/>
                <a:cs typeface="Times New Roman"/>
              </a:rPr>
              <a:t> </a:t>
            </a:r>
            <a:r>
              <a:rPr sz="2550" b="1" spc="95" dirty="0">
                <a:latin typeface="Times New Roman"/>
                <a:cs typeface="Times New Roman"/>
              </a:rPr>
              <a:t>using</a:t>
            </a:r>
            <a:r>
              <a:rPr sz="2550" b="1" spc="-15" dirty="0">
                <a:latin typeface="Times New Roman"/>
                <a:cs typeface="Times New Roman"/>
              </a:rPr>
              <a:t> </a:t>
            </a:r>
            <a:r>
              <a:rPr sz="2550" b="1" spc="110" dirty="0">
                <a:latin typeface="Times New Roman"/>
                <a:cs typeface="Times New Roman"/>
              </a:rPr>
              <a:t>the</a:t>
            </a:r>
            <a:r>
              <a:rPr sz="2550" b="1" spc="-15" dirty="0">
                <a:latin typeface="Times New Roman"/>
                <a:cs typeface="Times New Roman"/>
              </a:rPr>
              <a:t> </a:t>
            </a:r>
            <a:r>
              <a:rPr sz="2550" b="1" spc="130" dirty="0">
                <a:latin typeface="Times New Roman"/>
                <a:cs typeface="Times New Roman"/>
              </a:rPr>
              <a:t>above</a:t>
            </a:r>
            <a:r>
              <a:rPr sz="2550" b="1" spc="-15" dirty="0">
                <a:latin typeface="Times New Roman"/>
                <a:cs typeface="Times New Roman"/>
              </a:rPr>
              <a:t> </a:t>
            </a:r>
            <a:r>
              <a:rPr sz="2550" b="1" spc="185" dirty="0">
                <a:latin typeface="Times New Roman"/>
                <a:cs typeface="Times New Roman"/>
              </a:rPr>
              <a:t>command</a:t>
            </a:r>
            <a:r>
              <a:rPr sz="2550" b="1" spc="-15" dirty="0">
                <a:latin typeface="Times New Roman"/>
                <a:cs typeface="Times New Roman"/>
              </a:rPr>
              <a:t> </a:t>
            </a:r>
            <a:r>
              <a:rPr sz="2550" b="1" spc="70" dirty="0">
                <a:latin typeface="Times New Roman"/>
                <a:cs typeface="Times New Roman"/>
              </a:rPr>
              <a:t>create</a:t>
            </a:r>
            <a:r>
              <a:rPr sz="2550" b="1" spc="-15" dirty="0">
                <a:latin typeface="Times New Roman"/>
                <a:cs typeface="Times New Roman"/>
              </a:rPr>
              <a:t> </a:t>
            </a:r>
            <a:r>
              <a:rPr sz="2550" b="1" dirty="0">
                <a:latin typeface="Times New Roman"/>
                <a:cs typeface="Times New Roman"/>
              </a:rPr>
              <a:t>a</a:t>
            </a:r>
            <a:r>
              <a:rPr sz="2550" b="1" spc="-15" dirty="0">
                <a:latin typeface="Times New Roman"/>
                <a:cs typeface="Times New Roman"/>
              </a:rPr>
              <a:t> </a:t>
            </a:r>
            <a:r>
              <a:rPr sz="2550" b="1" spc="55" dirty="0">
                <a:latin typeface="Times New Roman"/>
                <a:cs typeface="Times New Roman"/>
              </a:rPr>
              <a:t>file</a:t>
            </a:r>
            <a:r>
              <a:rPr sz="2550" b="1" spc="-15" dirty="0">
                <a:latin typeface="Times New Roman"/>
                <a:cs typeface="Times New Roman"/>
              </a:rPr>
              <a:t> </a:t>
            </a:r>
            <a:r>
              <a:rPr sz="2550" b="1" spc="135" dirty="0">
                <a:latin typeface="Times New Roman"/>
                <a:cs typeface="Times New Roman"/>
              </a:rPr>
              <a:t>in</a:t>
            </a:r>
            <a:r>
              <a:rPr sz="2550" b="1" spc="-15" dirty="0">
                <a:latin typeface="Times New Roman"/>
                <a:cs typeface="Times New Roman"/>
              </a:rPr>
              <a:t> </a:t>
            </a:r>
            <a:r>
              <a:rPr sz="2550" b="1" spc="160" dirty="0">
                <a:latin typeface="Times New Roman"/>
                <a:cs typeface="Times New Roman"/>
              </a:rPr>
              <a:t>cont-</a:t>
            </a:r>
            <a:r>
              <a:rPr sz="2550" b="1" spc="-270" dirty="0">
                <a:latin typeface="Times New Roman"/>
                <a:cs typeface="Times New Roman"/>
              </a:rPr>
              <a:t>1</a:t>
            </a:r>
            <a:r>
              <a:rPr sz="2550" b="1" spc="-15" dirty="0">
                <a:latin typeface="Times New Roman"/>
                <a:cs typeface="Times New Roman"/>
              </a:rPr>
              <a:t> </a:t>
            </a:r>
            <a:r>
              <a:rPr sz="2550" b="1" spc="135" dirty="0">
                <a:latin typeface="Times New Roman"/>
                <a:cs typeface="Times New Roman"/>
              </a:rPr>
              <a:t>and</a:t>
            </a:r>
            <a:r>
              <a:rPr sz="2550" b="1" spc="-15" dirty="0">
                <a:latin typeface="Times New Roman"/>
                <a:cs typeface="Times New Roman"/>
              </a:rPr>
              <a:t> </a:t>
            </a:r>
            <a:r>
              <a:rPr sz="2550" b="1" dirty="0">
                <a:latin typeface="Times New Roman"/>
                <a:cs typeface="Times New Roman"/>
              </a:rPr>
              <a:t>it</a:t>
            </a:r>
            <a:r>
              <a:rPr sz="2550" b="1" spc="-15" dirty="0">
                <a:latin typeface="Times New Roman"/>
                <a:cs typeface="Times New Roman"/>
              </a:rPr>
              <a:t> </a:t>
            </a:r>
            <a:r>
              <a:rPr sz="2550" b="1" spc="130" dirty="0">
                <a:latin typeface="Times New Roman"/>
                <a:cs typeface="Times New Roman"/>
              </a:rPr>
              <a:t>will</a:t>
            </a:r>
            <a:r>
              <a:rPr sz="2550" b="1" spc="-15" dirty="0">
                <a:latin typeface="Times New Roman"/>
                <a:cs typeface="Times New Roman"/>
              </a:rPr>
              <a:t> </a:t>
            </a:r>
            <a:r>
              <a:rPr sz="2550" b="1" spc="155" dirty="0">
                <a:latin typeface="Times New Roman"/>
                <a:cs typeface="Times New Roman"/>
              </a:rPr>
              <a:t>be</a:t>
            </a:r>
            <a:r>
              <a:rPr sz="2550" b="1" spc="-15" dirty="0">
                <a:latin typeface="Times New Roman"/>
                <a:cs typeface="Times New Roman"/>
              </a:rPr>
              <a:t> </a:t>
            </a:r>
            <a:r>
              <a:rPr sz="2550" b="1" spc="80" dirty="0">
                <a:latin typeface="Times New Roman"/>
                <a:cs typeface="Times New Roman"/>
              </a:rPr>
              <a:t>available</a:t>
            </a:r>
            <a:r>
              <a:rPr sz="2550" b="1" spc="-15" dirty="0">
                <a:latin typeface="Times New Roman"/>
                <a:cs typeface="Times New Roman"/>
              </a:rPr>
              <a:t> </a:t>
            </a:r>
            <a:r>
              <a:rPr sz="2550" b="1" spc="175" dirty="0">
                <a:latin typeface="Times New Roman"/>
                <a:cs typeface="Times New Roman"/>
              </a:rPr>
              <a:t>on</a:t>
            </a:r>
            <a:r>
              <a:rPr sz="2550" b="1" spc="-15" dirty="0">
                <a:latin typeface="Times New Roman"/>
                <a:cs typeface="Times New Roman"/>
              </a:rPr>
              <a:t> </a:t>
            </a:r>
            <a:r>
              <a:rPr sz="2550" b="1" spc="160" dirty="0">
                <a:latin typeface="Times New Roman"/>
                <a:cs typeface="Times New Roman"/>
              </a:rPr>
              <a:t>cont-</a:t>
            </a:r>
            <a:r>
              <a:rPr sz="2550" b="1" spc="150" dirty="0">
                <a:latin typeface="Times New Roman"/>
                <a:cs typeface="Times New Roman"/>
              </a:rPr>
              <a:t>2</a:t>
            </a:r>
            <a:r>
              <a:rPr sz="2550" b="1" spc="-15" dirty="0">
                <a:latin typeface="Times New Roman"/>
                <a:cs typeface="Times New Roman"/>
              </a:rPr>
              <a:t> </a:t>
            </a:r>
            <a:r>
              <a:rPr sz="2550" b="1" spc="65" dirty="0">
                <a:latin typeface="Times New Roman"/>
                <a:cs typeface="Times New Roman"/>
              </a:rPr>
              <a:t>as</a:t>
            </a:r>
            <a:r>
              <a:rPr sz="2550" b="1" spc="-15" dirty="0">
                <a:latin typeface="Times New Roman"/>
                <a:cs typeface="Times New Roman"/>
              </a:rPr>
              <a:t> </a:t>
            </a:r>
            <a:r>
              <a:rPr sz="2550" b="1" spc="130" dirty="0">
                <a:latin typeface="Times New Roman"/>
                <a:cs typeface="Times New Roman"/>
              </a:rPr>
              <a:t>well</a:t>
            </a:r>
            <a:endParaRPr sz="2550" dirty="0">
              <a:latin typeface="Times New Roman"/>
              <a:cs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104784B-1234-07C9-EE72-D2E47E167C9C}"/>
              </a:ext>
            </a:extLst>
          </p:cNvPr>
          <p:cNvGraphicFramePr>
            <a:graphicFrameLocks noGrp="1"/>
          </p:cNvGraphicFramePr>
          <p:nvPr>
            <p:extLst>
              <p:ext uri="{D42A27DB-BD31-4B8C-83A1-F6EECF244321}">
                <p14:modId xmlns:p14="http://schemas.microsoft.com/office/powerpoint/2010/main" val="1160952"/>
              </p:ext>
            </p:extLst>
          </p:nvPr>
        </p:nvGraphicFramePr>
        <p:xfrm>
          <a:off x="1371600" y="266700"/>
          <a:ext cx="13868400" cy="7213600"/>
        </p:xfrm>
        <a:graphic>
          <a:graphicData uri="http://schemas.openxmlformats.org/drawingml/2006/table">
            <a:tbl>
              <a:tblPr firstRow="1" bandRow="1">
                <a:tableStyleId>{5C22544A-7EE6-4342-B048-85BDC9FD1C3A}</a:tableStyleId>
              </a:tblPr>
              <a:tblGrid>
                <a:gridCol w="13868400">
                  <a:extLst>
                    <a:ext uri="{9D8B030D-6E8A-4147-A177-3AD203B41FA5}">
                      <a16:colId xmlns:a16="http://schemas.microsoft.com/office/drawing/2014/main" val="3881805010"/>
                    </a:ext>
                  </a:extLst>
                </a:gridCol>
              </a:tblGrid>
              <a:tr h="7213600">
                <a:tc>
                  <a:txBody>
                    <a:bodyPr/>
                    <a:lstStyle/>
                    <a:p>
                      <a:r>
                        <a:rPr lang="en-IN" dirty="0" err="1"/>
                        <a:t>apiVersion</a:t>
                      </a:r>
                      <a:r>
                        <a:rPr lang="en-IN" dirty="0"/>
                        <a:t>: v1</a:t>
                      </a:r>
                    </a:p>
                    <a:p>
                      <a:r>
                        <a:rPr lang="en-IN" dirty="0"/>
                        <a:t>kind: Pod</a:t>
                      </a:r>
                    </a:p>
                    <a:p>
                      <a:r>
                        <a:rPr lang="en-IN" dirty="0"/>
                        <a:t>metadata:</a:t>
                      </a:r>
                    </a:p>
                    <a:p>
                      <a:r>
                        <a:rPr lang="en-IN" dirty="0"/>
                        <a:t>  name: pod-1</a:t>
                      </a:r>
                    </a:p>
                    <a:p>
                      <a:r>
                        <a:rPr lang="en-IN" dirty="0"/>
                        <a:t>spec:</a:t>
                      </a:r>
                    </a:p>
                    <a:p>
                      <a:r>
                        <a:rPr lang="en-IN" dirty="0"/>
                        <a:t>  containers:</a:t>
                      </a:r>
                    </a:p>
                    <a:p>
                      <a:r>
                        <a:rPr lang="en-IN" dirty="0"/>
                        <a:t>  - name: container1</a:t>
                      </a:r>
                    </a:p>
                    <a:p>
                      <a:r>
                        <a:rPr lang="en-IN" dirty="0"/>
                        <a:t>    image: ubuntu</a:t>
                      </a:r>
                    </a:p>
                    <a:p>
                      <a:r>
                        <a:rPr lang="en-IN" dirty="0"/>
                        <a:t>    command: ["/bin/bash", "-c", "while true; do echo Welcome to DevOps classes; sleep 5 ; done"]</a:t>
                      </a:r>
                    </a:p>
                    <a:p>
                      <a:r>
                        <a:rPr lang="en-IN" dirty="0"/>
                        <a:t>    </a:t>
                      </a:r>
                      <a:r>
                        <a:rPr lang="en-IN" dirty="0" err="1"/>
                        <a:t>volumeMounts</a:t>
                      </a:r>
                      <a:r>
                        <a:rPr lang="en-IN" dirty="0"/>
                        <a:t>:</a:t>
                      </a:r>
                    </a:p>
                    <a:p>
                      <a:r>
                        <a:rPr lang="en-IN" dirty="0"/>
                        <a:t>    - name: </a:t>
                      </a:r>
                      <a:r>
                        <a:rPr lang="en-IN" dirty="0" err="1"/>
                        <a:t>myvolume</a:t>
                      </a:r>
                      <a:endParaRPr lang="en-IN" dirty="0"/>
                    </a:p>
                    <a:p>
                      <a:r>
                        <a:rPr lang="en-IN" dirty="0"/>
                        <a:t>      </a:t>
                      </a:r>
                      <a:r>
                        <a:rPr lang="en-IN" dirty="0" err="1"/>
                        <a:t>mountPath</a:t>
                      </a:r>
                      <a:r>
                        <a:rPr lang="en-IN" dirty="0"/>
                        <a:t>: "/</a:t>
                      </a:r>
                      <a:r>
                        <a:rPr lang="en-IN" dirty="0" err="1"/>
                        <a:t>tmp</a:t>
                      </a:r>
                      <a:r>
                        <a:rPr lang="en-IN" dirty="0"/>
                        <a:t>/container1"</a:t>
                      </a:r>
                    </a:p>
                    <a:p>
                      <a:endParaRPr lang="en-IN" dirty="0"/>
                    </a:p>
                    <a:p>
                      <a:r>
                        <a:rPr lang="en-IN" dirty="0"/>
                        <a:t>  - name: container2</a:t>
                      </a:r>
                    </a:p>
                    <a:p>
                      <a:r>
                        <a:rPr lang="en-IN" dirty="0"/>
                        <a:t>    image: centos</a:t>
                      </a:r>
                    </a:p>
                    <a:p>
                      <a:r>
                        <a:rPr lang="en-IN" dirty="0"/>
                        <a:t>    command: ["/bin/bash", "-c", "while true; do echo This is Kubernetes classes; sleep 5 ; done"]</a:t>
                      </a:r>
                    </a:p>
                    <a:p>
                      <a:r>
                        <a:rPr lang="en-IN" dirty="0"/>
                        <a:t>    </a:t>
                      </a:r>
                      <a:r>
                        <a:rPr lang="en-IN" dirty="0" err="1"/>
                        <a:t>volumeMounts</a:t>
                      </a:r>
                      <a:r>
                        <a:rPr lang="en-IN" dirty="0"/>
                        <a:t>:</a:t>
                      </a:r>
                    </a:p>
                    <a:p>
                      <a:r>
                        <a:rPr lang="en-IN" dirty="0"/>
                        <a:t>    - name: </a:t>
                      </a:r>
                      <a:r>
                        <a:rPr lang="en-IN" dirty="0" err="1"/>
                        <a:t>myvolume</a:t>
                      </a:r>
                      <a:endParaRPr lang="en-IN" dirty="0"/>
                    </a:p>
                    <a:p>
                      <a:r>
                        <a:rPr lang="en-IN" dirty="0"/>
                        <a:t>      </a:t>
                      </a:r>
                      <a:r>
                        <a:rPr lang="en-IN" dirty="0" err="1"/>
                        <a:t>mountPath</a:t>
                      </a:r>
                      <a:r>
                        <a:rPr lang="en-IN" dirty="0"/>
                        <a:t>: "/</a:t>
                      </a:r>
                      <a:r>
                        <a:rPr lang="en-IN" dirty="0" err="1"/>
                        <a:t>tmp</a:t>
                      </a:r>
                      <a:r>
                        <a:rPr lang="en-IN" dirty="0"/>
                        <a:t>/container2"</a:t>
                      </a:r>
                    </a:p>
                    <a:p>
                      <a:endParaRPr lang="en-IN" dirty="0"/>
                    </a:p>
                    <a:p>
                      <a:r>
                        <a:rPr lang="en-IN" dirty="0"/>
                        <a:t>  volumes:</a:t>
                      </a:r>
                    </a:p>
                    <a:p>
                      <a:r>
                        <a:rPr lang="en-IN" dirty="0"/>
                        <a:t>  - name: </a:t>
                      </a:r>
                      <a:r>
                        <a:rPr lang="en-IN" dirty="0" err="1"/>
                        <a:t>myvolume</a:t>
                      </a:r>
                      <a:endParaRPr lang="en-IN" dirty="0"/>
                    </a:p>
                    <a:p>
                      <a:r>
                        <a:rPr lang="en-IN" dirty="0"/>
                        <a:t>    </a:t>
                      </a:r>
                      <a:r>
                        <a:rPr lang="en-IN" dirty="0" err="1"/>
                        <a:t>emptyDir</a:t>
                      </a:r>
                      <a:r>
                        <a:rPr lang="en-IN" dirty="0"/>
                        <a:t>: {}</a:t>
                      </a:r>
                    </a:p>
                  </a:txBody>
                  <a:tcPr>
                    <a:solidFill>
                      <a:srgbClr val="002060"/>
                    </a:solidFill>
                  </a:tcPr>
                </a:tc>
                <a:extLst>
                  <a:ext uri="{0D108BD9-81ED-4DB2-BD59-A6C34878D82A}">
                    <a16:rowId xmlns:a16="http://schemas.microsoft.com/office/drawing/2014/main" val="996086889"/>
                  </a:ext>
                </a:extLst>
              </a:tr>
            </a:tbl>
          </a:graphicData>
        </a:graphic>
      </p:graphicFrame>
      <p:sp>
        <p:nvSpPr>
          <p:cNvPr id="3" name="object 3">
            <a:extLst>
              <a:ext uri="{FF2B5EF4-FFF2-40B4-BE49-F238E27FC236}">
                <a16:creationId xmlns:a16="http://schemas.microsoft.com/office/drawing/2014/main" id="{91605F01-5E26-F466-D306-FF7037D0F818}"/>
              </a:ext>
            </a:extLst>
          </p:cNvPr>
          <p:cNvSpPr txBox="1"/>
          <p:nvPr/>
        </p:nvSpPr>
        <p:spPr>
          <a:xfrm>
            <a:off x="606197" y="8059714"/>
            <a:ext cx="16751300" cy="427938"/>
          </a:xfrm>
          <a:prstGeom prst="rect">
            <a:avLst/>
          </a:prstGeom>
        </p:spPr>
        <p:txBody>
          <a:bodyPr vert="horz" wrap="square" lIns="0" tIns="12700" rIns="0" bIns="0" rtlCol="0">
            <a:spAutoFit/>
          </a:bodyPr>
          <a:lstStyle/>
          <a:p>
            <a:pPr marL="12700" marR="5080">
              <a:lnSpc>
                <a:spcPct val="115199"/>
              </a:lnSpc>
              <a:spcBef>
                <a:spcPts val="100"/>
              </a:spcBef>
            </a:pPr>
            <a:r>
              <a:rPr lang="en-IN" sz="2550" dirty="0">
                <a:latin typeface="Times New Roman"/>
                <a:cs typeface="Times New Roman"/>
              </a:rPr>
              <a:t>Editable Code</a:t>
            </a:r>
            <a:endParaRPr sz="2550" dirty="0">
              <a:latin typeface="Times New Roman"/>
              <a:cs typeface="Times New Roman"/>
            </a:endParaRPr>
          </a:p>
        </p:txBody>
      </p:sp>
    </p:spTree>
    <p:extLst>
      <p:ext uri="{BB962C8B-B14F-4D97-AF65-F5344CB8AC3E}">
        <p14:creationId xmlns:p14="http://schemas.microsoft.com/office/powerpoint/2010/main" val="154256640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144918" y="894899"/>
            <a:ext cx="9996170" cy="4603115"/>
            <a:chOff x="4144918" y="894899"/>
            <a:chExt cx="9996170" cy="4603115"/>
          </a:xfrm>
        </p:grpSpPr>
        <p:sp>
          <p:nvSpPr>
            <p:cNvPr id="3" name="object 3"/>
            <p:cNvSpPr/>
            <p:nvPr/>
          </p:nvSpPr>
          <p:spPr>
            <a:xfrm>
              <a:off x="4144918" y="894899"/>
              <a:ext cx="9996170" cy="4603115"/>
            </a:xfrm>
            <a:custGeom>
              <a:avLst/>
              <a:gdLst/>
              <a:ahLst/>
              <a:cxnLst/>
              <a:rect l="l" t="t" r="r" b="b"/>
              <a:pathLst>
                <a:path w="9996169" h="4603115">
                  <a:moveTo>
                    <a:pt x="9996100" y="4602521"/>
                  </a:moveTo>
                  <a:lnTo>
                    <a:pt x="0" y="4602521"/>
                  </a:lnTo>
                  <a:lnTo>
                    <a:pt x="0" y="0"/>
                  </a:lnTo>
                  <a:lnTo>
                    <a:pt x="9996100" y="0"/>
                  </a:lnTo>
                  <a:lnTo>
                    <a:pt x="9996100" y="4602521"/>
                  </a:lnTo>
                  <a:close/>
                </a:path>
              </a:pathLst>
            </a:custGeom>
            <a:solidFill>
              <a:srgbClr val="D5EFF1"/>
            </a:solidFill>
          </p:spPr>
          <p:txBody>
            <a:bodyPr wrap="square" lIns="0" tIns="0" rIns="0" bIns="0" rtlCol="0"/>
            <a:lstStyle/>
            <a:p>
              <a:endParaRPr/>
            </a:p>
          </p:txBody>
        </p:sp>
        <p:sp>
          <p:nvSpPr>
            <p:cNvPr id="4" name="object 4"/>
            <p:cNvSpPr/>
            <p:nvPr/>
          </p:nvSpPr>
          <p:spPr>
            <a:xfrm>
              <a:off x="5335803" y="2027643"/>
              <a:ext cx="7663180" cy="2190115"/>
            </a:xfrm>
            <a:custGeom>
              <a:avLst/>
              <a:gdLst/>
              <a:ahLst/>
              <a:cxnLst/>
              <a:rect l="l" t="t" r="r" b="b"/>
              <a:pathLst>
                <a:path w="7663180" h="2190115">
                  <a:moveTo>
                    <a:pt x="2677731" y="0"/>
                  </a:moveTo>
                  <a:lnTo>
                    <a:pt x="0" y="0"/>
                  </a:lnTo>
                  <a:lnTo>
                    <a:pt x="0" y="2190089"/>
                  </a:lnTo>
                  <a:lnTo>
                    <a:pt x="2677731" y="2190089"/>
                  </a:lnTo>
                  <a:lnTo>
                    <a:pt x="2677731" y="0"/>
                  </a:lnTo>
                  <a:close/>
                </a:path>
                <a:path w="7663180" h="2190115">
                  <a:moveTo>
                    <a:pt x="7662812" y="0"/>
                  </a:moveTo>
                  <a:lnTo>
                    <a:pt x="4985080" y="0"/>
                  </a:lnTo>
                  <a:lnTo>
                    <a:pt x="4985080" y="2190089"/>
                  </a:lnTo>
                  <a:lnTo>
                    <a:pt x="7662812" y="2190089"/>
                  </a:lnTo>
                  <a:lnTo>
                    <a:pt x="7662812" y="0"/>
                  </a:lnTo>
                  <a:close/>
                </a:path>
              </a:pathLst>
            </a:custGeom>
            <a:solidFill>
              <a:srgbClr val="326BE4"/>
            </a:solidFill>
          </p:spPr>
          <p:txBody>
            <a:bodyPr wrap="square" lIns="0" tIns="0" rIns="0" bIns="0" rtlCol="0"/>
            <a:lstStyle/>
            <a:p>
              <a:endParaRPr/>
            </a:p>
          </p:txBody>
        </p:sp>
      </p:grpSp>
      <p:sp>
        <p:nvSpPr>
          <p:cNvPr id="5" name="object 5"/>
          <p:cNvSpPr txBox="1">
            <a:spLocks noGrp="1"/>
          </p:cNvSpPr>
          <p:nvPr>
            <p:ph type="title"/>
          </p:nvPr>
        </p:nvSpPr>
        <p:spPr>
          <a:xfrm>
            <a:off x="4426317" y="936695"/>
            <a:ext cx="1134745" cy="787400"/>
          </a:xfrm>
          <a:prstGeom prst="rect">
            <a:avLst/>
          </a:prstGeom>
        </p:spPr>
        <p:txBody>
          <a:bodyPr vert="horz" wrap="square" lIns="0" tIns="12700" rIns="0" bIns="0" rtlCol="0">
            <a:spAutoFit/>
          </a:bodyPr>
          <a:lstStyle/>
          <a:p>
            <a:pPr>
              <a:lnSpc>
                <a:spcPct val="100000"/>
              </a:lnSpc>
              <a:spcBef>
                <a:spcPts val="100"/>
              </a:spcBef>
            </a:pPr>
            <a:r>
              <a:rPr spc="130" dirty="0">
                <a:solidFill>
                  <a:srgbClr val="2E377E"/>
                </a:solidFill>
              </a:rPr>
              <a:t>Pod</a:t>
            </a:r>
          </a:p>
        </p:txBody>
      </p:sp>
      <p:sp>
        <p:nvSpPr>
          <p:cNvPr id="6" name="object 6"/>
          <p:cNvSpPr txBox="1"/>
          <p:nvPr/>
        </p:nvSpPr>
        <p:spPr>
          <a:xfrm>
            <a:off x="5755840" y="2559844"/>
            <a:ext cx="1853564" cy="787400"/>
          </a:xfrm>
          <a:prstGeom prst="rect">
            <a:avLst/>
          </a:prstGeom>
        </p:spPr>
        <p:txBody>
          <a:bodyPr vert="horz" wrap="square" lIns="0" tIns="12700" rIns="0" bIns="0" rtlCol="0">
            <a:spAutoFit/>
          </a:bodyPr>
          <a:lstStyle/>
          <a:p>
            <a:pPr>
              <a:lnSpc>
                <a:spcPct val="100000"/>
              </a:lnSpc>
              <a:spcBef>
                <a:spcPts val="100"/>
              </a:spcBef>
            </a:pPr>
            <a:r>
              <a:rPr sz="5000" b="1" spc="320" dirty="0">
                <a:solidFill>
                  <a:srgbClr val="FFFFFF"/>
                </a:solidFill>
                <a:latin typeface="Times New Roman"/>
                <a:cs typeface="Times New Roman"/>
              </a:rPr>
              <a:t>cont-</a:t>
            </a:r>
            <a:r>
              <a:rPr sz="5000" b="1" spc="-575" dirty="0">
                <a:solidFill>
                  <a:srgbClr val="FFFFFF"/>
                </a:solidFill>
                <a:latin typeface="Times New Roman"/>
                <a:cs typeface="Times New Roman"/>
              </a:rPr>
              <a:t>1</a:t>
            </a:r>
            <a:endParaRPr sz="5000">
              <a:latin typeface="Times New Roman"/>
              <a:cs typeface="Times New Roman"/>
            </a:endParaRPr>
          </a:p>
        </p:txBody>
      </p:sp>
      <p:sp>
        <p:nvSpPr>
          <p:cNvPr id="7" name="object 7"/>
          <p:cNvSpPr txBox="1"/>
          <p:nvPr/>
        </p:nvSpPr>
        <p:spPr>
          <a:xfrm>
            <a:off x="10687567" y="2559844"/>
            <a:ext cx="1960245" cy="787400"/>
          </a:xfrm>
          <a:prstGeom prst="rect">
            <a:avLst/>
          </a:prstGeom>
        </p:spPr>
        <p:txBody>
          <a:bodyPr vert="horz" wrap="square" lIns="0" tIns="12700" rIns="0" bIns="0" rtlCol="0">
            <a:spAutoFit/>
          </a:bodyPr>
          <a:lstStyle/>
          <a:p>
            <a:pPr>
              <a:lnSpc>
                <a:spcPct val="100000"/>
              </a:lnSpc>
              <a:spcBef>
                <a:spcPts val="100"/>
              </a:spcBef>
            </a:pPr>
            <a:r>
              <a:rPr sz="5000" b="1" spc="320" dirty="0">
                <a:solidFill>
                  <a:srgbClr val="FFFFFF"/>
                </a:solidFill>
                <a:latin typeface="Times New Roman"/>
                <a:cs typeface="Times New Roman"/>
              </a:rPr>
              <a:t>cont-</a:t>
            </a:r>
            <a:r>
              <a:rPr sz="5000" b="1" spc="250" dirty="0">
                <a:solidFill>
                  <a:srgbClr val="FFFFFF"/>
                </a:solidFill>
                <a:latin typeface="Times New Roman"/>
                <a:cs typeface="Times New Roman"/>
              </a:rPr>
              <a:t>2</a:t>
            </a:r>
            <a:endParaRPr sz="5000">
              <a:latin typeface="Times New Roman"/>
              <a:cs typeface="Times New Roman"/>
            </a:endParaRPr>
          </a:p>
        </p:txBody>
      </p:sp>
      <p:sp>
        <p:nvSpPr>
          <p:cNvPr id="8" name="object 8"/>
          <p:cNvSpPr txBox="1"/>
          <p:nvPr/>
        </p:nvSpPr>
        <p:spPr>
          <a:xfrm>
            <a:off x="7243784" y="6400362"/>
            <a:ext cx="3799204" cy="1797685"/>
          </a:xfrm>
          <a:prstGeom prst="rect">
            <a:avLst/>
          </a:prstGeom>
          <a:solidFill>
            <a:srgbClr val="FFDE58"/>
          </a:solidFill>
        </p:spPr>
        <p:txBody>
          <a:bodyPr vert="horz" wrap="square" lIns="0" tIns="219710" rIns="0" bIns="0" rtlCol="0">
            <a:spAutoFit/>
          </a:bodyPr>
          <a:lstStyle/>
          <a:p>
            <a:pPr marL="1407160" marR="1101090" indent="-191135">
              <a:lnSpc>
                <a:spcPct val="117600"/>
              </a:lnSpc>
              <a:spcBef>
                <a:spcPts val="1730"/>
              </a:spcBef>
            </a:pPr>
            <a:r>
              <a:rPr sz="3250" b="1" spc="220" dirty="0">
                <a:solidFill>
                  <a:srgbClr val="FF3131"/>
                </a:solidFill>
                <a:latin typeface="Times New Roman"/>
                <a:cs typeface="Times New Roman"/>
              </a:rPr>
              <a:t>volume </a:t>
            </a:r>
            <a:r>
              <a:rPr sz="3250" b="1" spc="-10" dirty="0">
                <a:solidFill>
                  <a:srgbClr val="FF3131"/>
                </a:solidFill>
                <a:latin typeface="Times New Roman"/>
                <a:cs typeface="Times New Roman"/>
              </a:rPr>
              <a:t>(data)</a:t>
            </a:r>
            <a:endParaRPr sz="3250">
              <a:latin typeface="Times New Roman"/>
              <a:cs typeface="Times New Roman"/>
            </a:endParaRPr>
          </a:p>
        </p:txBody>
      </p:sp>
      <p:grpSp>
        <p:nvGrpSpPr>
          <p:cNvPr id="9" name="object 9"/>
          <p:cNvGrpSpPr/>
          <p:nvPr/>
        </p:nvGrpSpPr>
        <p:grpSpPr>
          <a:xfrm>
            <a:off x="8016430" y="2970283"/>
            <a:ext cx="2371725" cy="3430270"/>
            <a:chOff x="8016430" y="2970283"/>
            <a:chExt cx="2371725" cy="3430270"/>
          </a:xfrm>
        </p:grpSpPr>
        <p:sp>
          <p:nvSpPr>
            <p:cNvPr id="10" name="object 10"/>
            <p:cNvSpPr/>
            <p:nvPr/>
          </p:nvSpPr>
          <p:spPr>
            <a:xfrm>
              <a:off x="9143998" y="5554570"/>
              <a:ext cx="0" cy="845819"/>
            </a:xfrm>
            <a:custGeom>
              <a:avLst/>
              <a:gdLst/>
              <a:ahLst/>
              <a:cxnLst/>
              <a:rect l="l" t="t" r="r" b="b"/>
              <a:pathLst>
                <a:path h="845820">
                  <a:moveTo>
                    <a:pt x="0" y="845791"/>
                  </a:moveTo>
                  <a:lnTo>
                    <a:pt x="0" y="0"/>
                  </a:lnTo>
                </a:path>
              </a:pathLst>
            </a:custGeom>
            <a:ln w="114299">
              <a:solidFill>
                <a:srgbClr val="000000"/>
              </a:solidFill>
            </a:ln>
          </p:spPr>
          <p:txBody>
            <a:bodyPr wrap="square" lIns="0" tIns="0" rIns="0" bIns="0" rtlCol="0"/>
            <a:lstStyle/>
            <a:p>
              <a:endParaRPr/>
            </a:p>
          </p:txBody>
        </p:sp>
        <p:sp>
          <p:nvSpPr>
            <p:cNvPr id="11" name="object 11"/>
            <p:cNvSpPr/>
            <p:nvPr/>
          </p:nvSpPr>
          <p:spPr>
            <a:xfrm>
              <a:off x="8972548" y="5554570"/>
              <a:ext cx="342900" cy="228600"/>
            </a:xfrm>
            <a:custGeom>
              <a:avLst/>
              <a:gdLst/>
              <a:ahLst/>
              <a:cxnLst/>
              <a:rect l="l" t="t" r="r" b="b"/>
              <a:pathLst>
                <a:path w="342900" h="228600">
                  <a:moveTo>
                    <a:pt x="0" y="228599"/>
                  </a:moveTo>
                  <a:lnTo>
                    <a:pt x="171449" y="0"/>
                  </a:lnTo>
                  <a:lnTo>
                    <a:pt x="342899" y="228599"/>
                  </a:lnTo>
                </a:path>
              </a:pathLst>
            </a:custGeom>
            <a:ln w="114299">
              <a:solidFill>
                <a:srgbClr val="000000"/>
              </a:solidFill>
            </a:ln>
          </p:spPr>
          <p:txBody>
            <a:bodyPr wrap="square" lIns="0" tIns="0" rIns="0" bIns="0" rtlCol="0"/>
            <a:lstStyle/>
            <a:p>
              <a:endParaRPr/>
            </a:p>
          </p:txBody>
        </p:sp>
        <p:sp>
          <p:nvSpPr>
            <p:cNvPr id="12" name="object 12"/>
            <p:cNvSpPr/>
            <p:nvPr/>
          </p:nvSpPr>
          <p:spPr>
            <a:xfrm>
              <a:off x="8016574" y="3122683"/>
              <a:ext cx="2266315" cy="0"/>
            </a:xfrm>
            <a:custGeom>
              <a:avLst/>
              <a:gdLst/>
              <a:ahLst/>
              <a:cxnLst/>
              <a:rect l="l" t="t" r="r" b="b"/>
              <a:pathLst>
                <a:path w="2266315">
                  <a:moveTo>
                    <a:pt x="0" y="0"/>
                  </a:moveTo>
                  <a:lnTo>
                    <a:pt x="2266218" y="0"/>
                  </a:lnTo>
                </a:path>
              </a:pathLst>
            </a:custGeom>
            <a:ln w="76199">
              <a:solidFill>
                <a:srgbClr val="000000"/>
              </a:solidFill>
            </a:ln>
          </p:spPr>
          <p:txBody>
            <a:bodyPr wrap="square" lIns="0" tIns="0" rIns="0" bIns="0" rtlCol="0"/>
            <a:lstStyle/>
            <a:p>
              <a:endParaRPr/>
            </a:p>
          </p:txBody>
        </p:sp>
        <p:sp>
          <p:nvSpPr>
            <p:cNvPr id="13" name="object 13"/>
            <p:cNvSpPr/>
            <p:nvPr/>
          </p:nvSpPr>
          <p:spPr>
            <a:xfrm>
              <a:off x="10130393" y="3008383"/>
              <a:ext cx="152400" cy="228600"/>
            </a:xfrm>
            <a:custGeom>
              <a:avLst/>
              <a:gdLst/>
              <a:ahLst/>
              <a:cxnLst/>
              <a:rect l="l" t="t" r="r" b="b"/>
              <a:pathLst>
                <a:path w="152400" h="228600">
                  <a:moveTo>
                    <a:pt x="0" y="0"/>
                  </a:moveTo>
                  <a:lnTo>
                    <a:pt x="152399" y="114299"/>
                  </a:lnTo>
                  <a:lnTo>
                    <a:pt x="0" y="228599"/>
                  </a:lnTo>
                </a:path>
              </a:pathLst>
            </a:custGeom>
            <a:ln w="76199">
              <a:solidFill>
                <a:srgbClr val="000000"/>
              </a:solidFill>
            </a:ln>
          </p:spPr>
          <p:txBody>
            <a:bodyPr wrap="square" lIns="0" tIns="0" rIns="0" bIns="0" rtlCol="0"/>
            <a:lstStyle/>
            <a:p>
              <a:endParaRPr/>
            </a:p>
          </p:txBody>
        </p:sp>
        <p:sp>
          <p:nvSpPr>
            <p:cNvPr id="14" name="object 14"/>
            <p:cNvSpPr/>
            <p:nvPr/>
          </p:nvSpPr>
          <p:spPr>
            <a:xfrm>
              <a:off x="8054530" y="4179741"/>
              <a:ext cx="2295525" cy="37465"/>
            </a:xfrm>
            <a:custGeom>
              <a:avLst/>
              <a:gdLst/>
              <a:ahLst/>
              <a:cxnLst/>
              <a:rect l="l" t="t" r="r" b="b"/>
              <a:pathLst>
                <a:path w="2295525" h="37464">
                  <a:moveTo>
                    <a:pt x="2295359" y="0"/>
                  </a:moveTo>
                  <a:lnTo>
                    <a:pt x="0" y="37371"/>
                  </a:lnTo>
                </a:path>
              </a:pathLst>
            </a:custGeom>
            <a:ln w="76199">
              <a:solidFill>
                <a:srgbClr val="000000"/>
              </a:solidFill>
            </a:ln>
          </p:spPr>
          <p:txBody>
            <a:bodyPr wrap="square" lIns="0" tIns="0" rIns="0" bIns="0" rtlCol="0"/>
            <a:lstStyle/>
            <a:p>
              <a:endParaRPr/>
            </a:p>
          </p:txBody>
        </p:sp>
        <p:sp>
          <p:nvSpPr>
            <p:cNvPr id="15" name="object 15"/>
            <p:cNvSpPr/>
            <p:nvPr/>
          </p:nvSpPr>
          <p:spPr>
            <a:xfrm>
              <a:off x="8054530" y="4100347"/>
              <a:ext cx="154305" cy="228600"/>
            </a:xfrm>
            <a:custGeom>
              <a:avLst/>
              <a:gdLst/>
              <a:ahLst/>
              <a:cxnLst/>
              <a:rect l="l" t="t" r="r" b="b"/>
              <a:pathLst>
                <a:path w="154304" h="228600">
                  <a:moveTo>
                    <a:pt x="154240" y="228569"/>
                  </a:moveTo>
                  <a:lnTo>
                    <a:pt x="0" y="116765"/>
                  </a:lnTo>
                  <a:lnTo>
                    <a:pt x="150519" y="0"/>
                  </a:lnTo>
                </a:path>
              </a:pathLst>
            </a:custGeom>
            <a:ln w="76199">
              <a:solidFill>
                <a:srgbClr val="000000"/>
              </a:solidFill>
            </a:ln>
          </p:spPr>
          <p:txBody>
            <a:bodyPr wrap="square" lIns="0" tIns="0" rIns="0" bIns="0" rtlCol="0"/>
            <a:lstStyle/>
            <a:p>
              <a:endParaRPr/>
            </a:p>
          </p:txBody>
        </p:sp>
      </p:grpSp>
      <p:sp>
        <p:nvSpPr>
          <p:cNvPr id="16" name="object 16"/>
          <p:cNvSpPr txBox="1"/>
          <p:nvPr/>
        </p:nvSpPr>
        <p:spPr>
          <a:xfrm>
            <a:off x="8629328" y="3336765"/>
            <a:ext cx="1156335" cy="527050"/>
          </a:xfrm>
          <a:prstGeom prst="rect">
            <a:avLst/>
          </a:prstGeom>
        </p:spPr>
        <p:txBody>
          <a:bodyPr vert="horz" wrap="square" lIns="0" tIns="17145" rIns="0" bIns="0" rtlCol="0">
            <a:spAutoFit/>
          </a:bodyPr>
          <a:lstStyle/>
          <a:p>
            <a:pPr>
              <a:lnSpc>
                <a:spcPct val="100000"/>
              </a:lnSpc>
              <a:spcBef>
                <a:spcPts val="135"/>
              </a:spcBef>
            </a:pPr>
            <a:r>
              <a:rPr sz="3250" b="1" spc="-45" dirty="0">
                <a:solidFill>
                  <a:srgbClr val="FF3131"/>
                </a:solidFill>
                <a:latin typeface="Times New Roman"/>
                <a:cs typeface="Times New Roman"/>
              </a:rPr>
              <a:t>DATA</a:t>
            </a:r>
            <a:endParaRPr sz="3250">
              <a:latin typeface="Times New Roman"/>
              <a:cs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15902" rIns="0" bIns="0" rtlCol="0">
            <a:spAutoFit/>
          </a:bodyPr>
          <a:lstStyle/>
          <a:p>
            <a:pPr marL="256540">
              <a:lnSpc>
                <a:spcPct val="100000"/>
              </a:lnSpc>
              <a:spcBef>
                <a:spcPts val="105"/>
              </a:spcBef>
            </a:pPr>
            <a:r>
              <a:rPr sz="4500" spc="114" dirty="0">
                <a:solidFill>
                  <a:srgbClr val="FF3131"/>
                </a:solidFill>
              </a:rPr>
              <a:t>2.</a:t>
            </a:r>
            <a:r>
              <a:rPr sz="4500" spc="-45" dirty="0">
                <a:solidFill>
                  <a:srgbClr val="FF3131"/>
                </a:solidFill>
              </a:rPr>
              <a:t> </a:t>
            </a:r>
            <a:r>
              <a:rPr sz="4500" spc="-160" dirty="0">
                <a:solidFill>
                  <a:srgbClr val="FF3131"/>
                </a:solidFill>
              </a:rPr>
              <a:t>HOSTPATH:</a:t>
            </a:r>
            <a:endParaRPr sz="4500"/>
          </a:p>
        </p:txBody>
      </p:sp>
      <p:pic>
        <p:nvPicPr>
          <p:cNvPr id="3" name="object 3"/>
          <p:cNvPicPr/>
          <p:nvPr/>
        </p:nvPicPr>
        <p:blipFill>
          <a:blip r:embed="rId2" cstate="print"/>
          <a:stretch>
            <a:fillRect/>
          </a:stretch>
        </p:blipFill>
        <p:spPr>
          <a:xfrm>
            <a:off x="1370512" y="2276466"/>
            <a:ext cx="133350" cy="133349"/>
          </a:xfrm>
          <a:prstGeom prst="rect">
            <a:avLst/>
          </a:prstGeom>
        </p:spPr>
      </p:pic>
      <p:sp>
        <p:nvSpPr>
          <p:cNvPr id="4" name="object 4"/>
          <p:cNvSpPr txBox="1"/>
          <p:nvPr/>
        </p:nvSpPr>
        <p:spPr>
          <a:xfrm>
            <a:off x="1687318" y="1859905"/>
            <a:ext cx="15898494" cy="6283325"/>
          </a:xfrm>
          <a:prstGeom prst="rect">
            <a:avLst/>
          </a:prstGeom>
        </p:spPr>
        <p:txBody>
          <a:bodyPr vert="horz" wrap="square" lIns="0" tIns="12700" rIns="0" bIns="0" rtlCol="0">
            <a:spAutoFit/>
          </a:bodyPr>
          <a:lstStyle/>
          <a:p>
            <a:pPr marL="12700" marR="1640839">
              <a:lnSpc>
                <a:spcPct val="126699"/>
              </a:lnSpc>
              <a:spcBef>
                <a:spcPts val="100"/>
              </a:spcBef>
            </a:pPr>
            <a:r>
              <a:rPr sz="3600" dirty="0">
                <a:solidFill>
                  <a:srgbClr val="2E377E"/>
                </a:solidFill>
                <a:latin typeface="Georgia"/>
                <a:cs typeface="Georgia"/>
              </a:rPr>
              <a:t>This</a:t>
            </a:r>
            <a:r>
              <a:rPr sz="3600" spc="40" dirty="0">
                <a:solidFill>
                  <a:srgbClr val="2E377E"/>
                </a:solidFill>
                <a:latin typeface="Georgia"/>
                <a:cs typeface="Georgia"/>
              </a:rPr>
              <a:t> </a:t>
            </a:r>
            <a:r>
              <a:rPr sz="3600" dirty="0">
                <a:solidFill>
                  <a:srgbClr val="2E377E"/>
                </a:solidFill>
                <a:latin typeface="Georgia"/>
                <a:cs typeface="Georgia"/>
              </a:rPr>
              <a:t>volume</a:t>
            </a:r>
            <a:r>
              <a:rPr sz="3600" spc="45" dirty="0">
                <a:solidFill>
                  <a:srgbClr val="2E377E"/>
                </a:solidFill>
                <a:latin typeface="Georgia"/>
                <a:cs typeface="Georgia"/>
              </a:rPr>
              <a:t> </a:t>
            </a:r>
            <a:r>
              <a:rPr sz="3600" spc="90" dirty="0">
                <a:solidFill>
                  <a:srgbClr val="2E377E"/>
                </a:solidFill>
                <a:latin typeface="Georgia"/>
                <a:cs typeface="Georgia"/>
              </a:rPr>
              <a:t>type</a:t>
            </a:r>
            <a:r>
              <a:rPr sz="3600" spc="45" dirty="0">
                <a:solidFill>
                  <a:srgbClr val="2E377E"/>
                </a:solidFill>
                <a:latin typeface="Georgia"/>
                <a:cs typeface="Georgia"/>
              </a:rPr>
              <a:t> </a:t>
            </a:r>
            <a:r>
              <a:rPr sz="3600" dirty="0">
                <a:solidFill>
                  <a:srgbClr val="2E377E"/>
                </a:solidFill>
                <a:latin typeface="Georgia"/>
                <a:cs typeface="Georgia"/>
              </a:rPr>
              <a:t>is</a:t>
            </a:r>
            <a:r>
              <a:rPr sz="3600" spc="45" dirty="0">
                <a:solidFill>
                  <a:srgbClr val="2E377E"/>
                </a:solidFill>
                <a:latin typeface="Georgia"/>
                <a:cs typeface="Georgia"/>
              </a:rPr>
              <a:t> </a:t>
            </a:r>
            <a:r>
              <a:rPr sz="3600" spc="5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advanced</a:t>
            </a:r>
            <a:r>
              <a:rPr sz="3600" spc="40" dirty="0">
                <a:solidFill>
                  <a:srgbClr val="2E377E"/>
                </a:solidFill>
                <a:latin typeface="Georgia"/>
                <a:cs typeface="Georgia"/>
              </a:rPr>
              <a:t> </a:t>
            </a:r>
            <a:r>
              <a:rPr sz="3600" dirty="0">
                <a:solidFill>
                  <a:srgbClr val="2E377E"/>
                </a:solidFill>
                <a:latin typeface="Georgia"/>
                <a:cs typeface="Georgia"/>
              </a:rPr>
              <a:t>version</a:t>
            </a:r>
            <a:r>
              <a:rPr sz="3600" spc="45" dirty="0">
                <a:solidFill>
                  <a:srgbClr val="2E377E"/>
                </a:solidFill>
                <a:latin typeface="Georgia"/>
                <a:cs typeface="Georgia"/>
              </a:rPr>
              <a:t> </a:t>
            </a:r>
            <a:r>
              <a:rPr sz="3600" dirty="0">
                <a:solidFill>
                  <a:srgbClr val="2E377E"/>
                </a:solidFill>
                <a:latin typeface="Georgia"/>
                <a:cs typeface="Georgia"/>
              </a:rPr>
              <a:t>of</a:t>
            </a:r>
            <a:r>
              <a:rPr sz="3600" spc="45" dirty="0">
                <a:solidFill>
                  <a:srgbClr val="2E377E"/>
                </a:solidFill>
                <a:latin typeface="Georgia"/>
                <a:cs typeface="Georgia"/>
              </a:rPr>
              <a:t> </a:t>
            </a:r>
            <a:r>
              <a:rPr sz="3600" spc="5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previous</a:t>
            </a:r>
            <a:r>
              <a:rPr sz="3600" spc="45" dirty="0">
                <a:solidFill>
                  <a:srgbClr val="2E377E"/>
                </a:solidFill>
                <a:latin typeface="Georgia"/>
                <a:cs typeface="Georgia"/>
              </a:rPr>
              <a:t> </a:t>
            </a:r>
            <a:r>
              <a:rPr sz="3600" dirty="0">
                <a:solidFill>
                  <a:srgbClr val="2E377E"/>
                </a:solidFill>
                <a:latin typeface="Georgia"/>
                <a:cs typeface="Georgia"/>
              </a:rPr>
              <a:t>volume</a:t>
            </a:r>
            <a:r>
              <a:rPr sz="3600" spc="40" dirty="0">
                <a:solidFill>
                  <a:srgbClr val="2E377E"/>
                </a:solidFill>
                <a:latin typeface="Georgia"/>
                <a:cs typeface="Georgia"/>
              </a:rPr>
              <a:t> </a:t>
            </a:r>
            <a:r>
              <a:rPr sz="3600" spc="70" dirty="0">
                <a:solidFill>
                  <a:srgbClr val="2E377E"/>
                </a:solidFill>
                <a:latin typeface="Georgia"/>
                <a:cs typeface="Georgia"/>
              </a:rPr>
              <a:t>type </a:t>
            </a:r>
            <a:r>
              <a:rPr sz="3600" spc="-10" dirty="0">
                <a:solidFill>
                  <a:srgbClr val="2E377E"/>
                </a:solidFill>
                <a:latin typeface="Georgia"/>
                <a:cs typeface="Georgia"/>
              </a:rPr>
              <a:t>EmptyDir.</a:t>
            </a:r>
            <a:endParaRPr sz="3600">
              <a:latin typeface="Georgia"/>
              <a:cs typeface="Georgia"/>
            </a:endParaRPr>
          </a:p>
          <a:p>
            <a:pPr marL="12700" marR="5080">
              <a:lnSpc>
                <a:spcPct val="126699"/>
              </a:lnSpc>
            </a:pPr>
            <a:r>
              <a:rPr sz="3600" dirty="0">
                <a:solidFill>
                  <a:srgbClr val="2E377E"/>
                </a:solidFill>
                <a:latin typeface="Georgia"/>
                <a:cs typeface="Georgia"/>
              </a:rPr>
              <a:t>In</a:t>
            </a:r>
            <a:r>
              <a:rPr sz="3600" spc="-25" dirty="0">
                <a:solidFill>
                  <a:srgbClr val="2E377E"/>
                </a:solidFill>
                <a:latin typeface="Georgia"/>
                <a:cs typeface="Georgia"/>
              </a:rPr>
              <a:t> </a:t>
            </a:r>
            <a:r>
              <a:rPr sz="3600" spc="-10" dirty="0">
                <a:solidFill>
                  <a:srgbClr val="2E377E"/>
                </a:solidFill>
                <a:latin typeface="Georgia"/>
                <a:cs typeface="Georgia"/>
              </a:rPr>
              <a:t>EmptyDir,</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data</a:t>
            </a:r>
            <a:r>
              <a:rPr sz="3600" spc="-20"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stored</a:t>
            </a:r>
            <a:r>
              <a:rPr sz="3600" spc="-20" dirty="0">
                <a:solidFill>
                  <a:srgbClr val="2E377E"/>
                </a:solidFill>
                <a:latin typeface="Georgia"/>
                <a:cs typeface="Georgia"/>
              </a:rPr>
              <a:t> </a:t>
            </a:r>
            <a:r>
              <a:rPr sz="3600" dirty="0">
                <a:solidFill>
                  <a:srgbClr val="2E377E"/>
                </a:solidFill>
                <a:latin typeface="Georgia"/>
                <a:cs typeface="Georgia"/>
              </a:rPr>
              <a:t>in</a:t>
            </a:r>
            <a:r>
              <a:rPr sz="3600" spc="-25"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volumes</a:t>
            </a:r>
            <a:r>
              <a:rPr sz="3600" spc="-20" dirty="0">
                <a:solidFill>
                  <a:srgbClr val="2E377E"/>
                </a:solidFill>
                <a:latin typeface="Georgia"/>
                <a:cs typeface="Georgia"/>
              </a:rPr>
              <a:t> </a:t>
            </a:r>
            <a:r>
              <a:rPr sz="3600" dirty="0">
                <a:solidFill>
                  <a:srgbClr val="2E377E"/>
                </a:solidFill>
                <a:latin typeface="Georgia"/>
                <a:cs typeface="Georgia"/>
              </a:rPr>
              <a:t>that</a:t>
            </a:r>
            <a:r>
              <a:rPr sz="3600" spc="-20" dirty="0">
                <a:solidFill>
                  <a:srgbClr val="2E377E"/>
                </a:solidFill>
                <a:latin typeface="Georgia"/>
                <a:cs typeface="Georgia"/>
              </a:rPr>
              <a:t> </a:t>
            </a:r>
            <a:r>
              <a:rPr sz="3600" dirty="0">
                <a:solidFill>
                  <a:srgbClr val="2E377E"/>
                </a:solidFill>
                <a:latin typeface="Georgia"/>
                <a:cs typeface="Georgia"/>
              </a:rPr>
              <a:t>reside</a:t>
            </a:r>
            <a:r>
              <a:rPr sz="3600" spc="-20" dirty="0">
                <a:solidFill>
                  <a:srgbClr val="2E377E"/>
                </a:solidFill>
                <a:latin typeface="Georgia"/>
                <a:cs typeface="Georgia"/>
              </a:rPr>
              <a:t> </a:t>
            </a:r>
            <a:r>
              <a:rPr sz="3600" dirty="0">
                <a:solidFill>
                  <a:srgbClr val="2E377E"/>
                </a:solidFill>
                <a:latin typeface="Georgia"/>
                <a:cs typeface="Georgia"/>
              </a:rPr>
              <a:t>inside</a:t>
            </a:r>
            <a:r>
              <a:rPr sz="3600" spc="-20"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Pods</a:t>
            </a:r>
            <a:r>
              <a:rPr sz="3600" spc="-20" dirty="0">
                <a:solidFill>
                  <a:srgbClr val="2E377E"/>
                </a:solidFill>
                <a:latin typeface="Georgia"/>
                <a:cs typeface="Georgia"/>
              </a:rPr>
              <a:t> only </a:t>
            </a:r>
            <a:r>
              <a:rPr sz="3600" spc="65" dirty="0">
                <a:solidFill>
                  <a:srgbClr val="2E377E"/>
                </a:solidFill>
                <a:latin typeface="Georgia"/>
                <a:cs typeface="Georgia"/>
              </a:rPr>
              <a:t>where</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host</a:t>
            </a:r>
            <a:r>
              <a:rPr sz="3600" spc="-20" dirty="0">
                <a:solidFill>
                  <a:srgbClr val="2E377E"/>
                </a:solidFill>
                <a:latin typeface="Georgia"/>
                <a:cs typeface="Georgia"/>
              </a:rPr>
              <a:t> </a:t>
            </a:r>
            <a:r>
              <a:rPr sz="3600" dirty="0">
                <a:solidFill>
                  <a:srgbClr val="2E377E"/>
                </a:solidFill>
                <a:latin typeface="Georgia"/>
                <a:cs typeface="Georgia"/>
              </a:rPr>
              <a:t>machine</a:t>
            </a:r>
            <a:r>
              <a:rPr sz="3600" spc="-15" dirty="0">
                <a:solidFill>
                  <a:srgbClr val="2E377E"/>
                </a:solidFill>
                <a:latin typeface="Georgia"/>
                <a:cs typeface="Georgia"/>
              </a:rPr>
              <a:t> </a:t>
            </a:r>
            <a:r>
              <a:rPr sz="3600" dirty="0">
                <a:solidFill>
                  <a:srgbClr val="2E377E"/>
                </a:solidFill>
                <a:latin typeface="Georgia"/>
                <a:cs typeface="Georgia"/>
              </a:rPr>
              <a:t>doesn’t</a:t>
            </a:r>
            <a:r>
              <a:rPr sz="3600" spc="-20" dirty="0">
                <a:solidFill>
                  <a:srgbClr val="2E377E"/>
                </a:solidFill>
                <a:latin typeface="Georgia"/>
                <a:cs typeface="Georgia"/>
              </a:rPr>
              <a:t> </a:t>
            </a:r>
            <a:r>
              <a:rPr sz="3600" dirty="0">
                <a:solidFill>
                  <a:srgbClr val="2E377E"/>
                </a:solidFill>
                <a:latin typeface="Georgia"/>
                <a:cs typeface="Georgia"/>
              </a:rPr>
              <a:t>have</a:t>
            </a:r>
            <a:r>
              <a:rPr sz="3600" spc="-20" dirty="0">
                <a:solidFill>
                  <a:srgbClr val="2E377E"/>
                </a:solidFill>
                <a:latin typeface="Georgia"/>
                <a:cs typeface="Georgia"/>
              </a:rPr>
              <a:t> </a:t>
            </a:r>
            <a:r>
              <a:rPr sz="3600" spc="5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data</a:t>
            </a:r>
            <a:r>
              <a:rPr sz="3600" spc="-20"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pods</a:t>
            </a:r>
            <a:r>
              <a:rPr sz="3600" spc="-15"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spc="-10" dirty="0">
                <a:solidFill>
                  <a:srgbClr val="2E377E"/>
                </a:solidFill>
                <a:latin typeface="Georgia"/>
                <a:cs typeface="Georgia"/>
              </a:rPr>
              <a:t>containers. </a:t>
            </a:r>
            <a:r>
              <a:rPr sz="3600" dirty="0">
                <a:solidFill>
                  <a:srgbClr val="2E377E"/>
                </a:solidFill>
                <a:latin typeface="Georgia"/>
                <a:cs typeface="Georgia"/>
              </a:rPr>
              <a:t>hostpath</a:t>
            </a:r>
            <a:r>
              <a:rPr sz="3600" spc="-10" dirty="0">
                <a:solidFill>
                  <a:srgbClr val="2E377E"/>
                </a:solidFill>
                <a:latin typeface="Georgia"/>
                <a:cs typeface="Georgia"/>
              </a:rPr>
              <a:t> </a:t>
            </a:r>
            <a:r>
              <a:rPr sz="3600" dirty="0">
                <a:solidFill>
                  <a:srgbClr val="2E377E"/>
                </a:solidFill>
                <a:latin typeface="Georgia"/>
                <a:cs typeface="Georgia"/>
              </a:rPr>
              <a:t>volume</a:t>
            </a:r>
            <a:r>
              <a:rPr sz="3600" spc="-10" dirty="0">
                <a:solidFill>
                  <a:srgbClr val="2E377E"/>
                </a:solidFill>
                <a:latin typeface="Georgia"/>
                <a:cs typeface="Georgia"/>
              </a:rPr>
              <a:t> </a:t>
            </a:r>
            <a:r>
              <a:rPr sz="3600" spc="90" dirty="0">
                <a:solidFill>
                  <a:srgbClr val="2E377E"/>
                </a:solidFill>
                <a:latin typeface="Georgia"/>
                <a:cs typeface="Georgia"/>
              </a:rPr>
              <a:t>type</a:t>
            </a:r>
            <a:r>
              <a:rPr sz="3600" spc="-10" dirty="0">
                <a:solidFill>
                  <a:srgbClr val="2E377E"/>
                </a:solidFill>
                <a:latin typeface="Georgia"/>
                <a:cs typeface="Georgia"/>
              </a:rPr>
              <a:t> </a:t>
            </a:r>
            <a:r>
              <a:rPr sz="3600" dirty="0">
                <a:solidFill>
                  <a:srgbClr val="2E377E"/>
                </a:solidFill>
                <a:latin typeface="Georgia"/>
                <a:cs typeface="Georgia"/>
              </a:rPr>
              <a:t>helps</a:t>
            </a:r>
            <a:r>
              <a:rPr sz="3600" spc="-10" dirty="0">
                <a:solidFill>
                  <a:srgbClr val="2E377E"/>
                </a:solidFill>
                <a:latin typeface="Georgia"/>
                <a:cs typeface="Georgia"/>
              </a:rPr>
              <a:t> </a:t>
            </a:r>
            <a:r>
              <a:rPr sz="3600" spc="6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access</a:t>
            </a:r>
            <a:r>
              <a:rPr sz="3600" spc="-10"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data</a:t>
            </a:r>
            <a:r>
              <a:rPr sz="3600" spc="-10" dirty="0">
                <a:solidFill>
                  <a:srgbClr val="2E377E"/>
                </a:solidFill>
                <a:latin typeface="Georgia"/>
                <a:cs typeface="Georgia"/>
              </a:rPr>
              <a:t> </a:t>
            </a:r>
            <a:r>
              <a:rPr sz="3600" dirty="0">
                <a:solidFill>
                  <a:srgbClr val="2E377E"/>
                </a:solidFill>
                <a:latin typeface="Georgia"/>
                <a:cs typeface="Georgia"/>
              </a:rPr>
              <a:t>of</a:t>
            </a:r>
            <a:r>
              <a:rPr sz="3600" spc="-10" dirty="0">
                <a:solidFill>
                  <a:srgbClr val="2E377E"/>
                </a:solidFill>
                <a:latin typeface="Georgia"/>
                <a:cs typeface="Georgia"/>
              </a:rPr>
              <a:t>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pods</a:t>
            </a:r>
            <a:r>
              <a:rPr sz="3600" spc="-10" dirty="0">
                <a:solidFill>
                  <a:srgbClr val="2E377E"/>
                </a:solidFill>
                <a:latin typeface="Georgia"/>
                <a:cs typeface="Georgia"/>
              </a:rPr>
              <a:t> </a:t>
            </a:r>
            <a:r>
              <a:rPr sz="3600" dirty="0">
                <a:solidFill>
                  <a:srgbClr val="2E377E"/>
                </a:solidFill>
                <a:latin typeface="Georgia"/>
                <a:cs typeface="Georgia"/>
              </a:rPr>
              <a:t>or</a:t>
            </a:r>
            <a:r>
              <a:rPr sz="3600" spc="-10" dirty="0">
                <a:solidFill>
                  <a:srgbClr val="2E377E"/>
                </a:solidFill>
                <a:latin typeface="Georgia"/>
                <a:cs typeface="Georgia"/>
              </a:rPr>
              <a:t> container </a:t>
            </a:r>
            <a:r>
              <a:rPr sz="3600" dirty="0">
                <a:solidFill>
                  <a:srgbClr val="2E377E"/>
                </a:solidFill>
                <a:latin typeface="Georgia"/>
                <a:cs typeface="Georgia"/>
              </a:rPr>
              <a:t>volumes</a:t>
            </a:r>
            <a:r>
              <a:rPr sz="3600" spc="45" dirty="0">
                <a:solidFill>
                  <a:srgbClr val="2E377E"/>
                </a:solidFill>
                <a:latin typeface="Georgia"/>
                <a:cs typeface="Georgia"/>
              </a:rPr>
              <a:t> </a:t>
            </a:r>
            <a:r>
              <a:rPr sz="3600" dirty="0">
                <a:solidFill>
                  <a:srgbClr val="2E377E"/>
                </a:solidFill>
                <a:latin typeface="Georgia"/>
                <a:cs typeface="Georgia"/>
              </a:rPr>
              <a:t>from</a:t>
            </a:r>
            <a:r>
              <a:rPr sz="3600" spc="50" dirty="0">
                <a:solidFill>
                  <a:srgbClr val="2E377E"/>
                </a:solidFill>
                <a:latin typeface="Georgia"/>
                <a:cs typeface="Georgia"/>
              </a:rPr>
              <a:t> the </a:t>
            </a:r>
            <a:r>
              <a:rPr sz="3600" dirty="0">
                <a:solidFill>
                  <a:srgbClr val="2E377E"/>
                </a:solidFill>
                <a:latin typeface="Georgia"/>
                <a:cs typeface="Georgia"/>
              </a:rPr>
              <a:t>host</a:t>
            </a:r>
            <a:r>
              <a:rPr sz="3600" spc="45" dirty="0">
                <a:solidFill>
                  <a:srgbClr val="2E377E"/>
                </a:solidFill>
                <a:latin typeface="Georgia"/>
                <a:cs typeface="Georgia"/>
              </a:rPr>
              <a:t> </a:t>
            </a:r>
            <a:r>
              <a:rPr sz="3600" spc="-10" dirty="0">
                <a:solidFill>
                  <a:srgbClr val="2E377E"/>
                </a:solidFill>
                <a:latin typeface="Georgia"/>
                <a:cs typeface="Georgia"/>
              </a:rPr>
              <a:t>machine.</a:t>
            </a:r>
            <a:endParaRPr sz="3600">
              <a:latin typeface="Georgia"/>
              <a:cs typeface="Georgia"/>
            </a:endParaRPr>
          </a:p>
          <a:p>
            <a:pPr marL="12700" marR="76200">
              <a:lnSpc>
                <a:spcPct val="126699"/>
              </a:lnSpc>
              <a:spcBef>
                <a:spcPts val="5"/>
              </a:spcBef>
            </a:pPr>
            <a:r>
              <a:rPr sz="3600" dirty="0">
                <a:solidFill>
                  <a:srgbClr val="2E377E"/>
                </a:solidFill>
                <a:latin typeface="Georgia"/>
                <a:cs typeface="Georgia"/>
              </a:rPr>
              <a:t>hostpath</a:t>
            </a:r>
            <a:r>
              <a:rPr sz="3600" spc="5" dirty="0">
                <a:solidFill>
                  <a:srgbClr val="2E377E"/>
                </a:solidFill>
                <a:latin typeface="Georgia"/>
                <a:cs typeface="Georgia"/>
              </a:rPr>
              <a:t> </a:t>
            </a:r>
            <a:r>
              <a:rPr sz="3600" dirty="0">
                <a:solidFill>
                  <a:srgbClr val="2E377E"/>
                </a:solidFill>
                <a:latin typeface="Georgia"/>
                <a:cs typeface="Georgia"/>
              </a:rPr>
              <a:t>replicates</a:t>
            </a:r>
            <a:r>
              <a:rPr sz="3600" spc="5" dirty="0">
                <a:solidFill>
                  <a:srgbClr val="2E377E"/>
                </a:solidFill>
                <a:latin typeface="Georgia"/>
                <a:cs typeface="Georgia"/>
              </a:rPr>
              <a:t>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data</a:t>
            </a:r>
            <a:r>
              <a:rPr sz="3600" spc="5" dirty="0">
                <a:solidFill>
                  <a:srgbClr val="2E377E"/>
                </a:solidFill>
                <a:latin typeface="Georgia"/>
                <a:cs typeface="Georgia"/>
              </a:rPr>
              <a:t> </a:t>
            </a:r>
            <a:r>
              <a:rPr sz="3600" dirty="0">
                <a:solidFill>
                  <a:srgbClr val="2E377E"/>
                </a:solidFill>
                <a:latin typeface="Georgia"/>
                <a:cs typeface="Georgia"/>
              </a:rPr>
              <a:t>of</a:t>
            </a:r>
            <a:r>
              <a:rPr sz="3600" spc="5" dirty="0">
                <a:solidFill>
                  <a:srgbClr val="2E377E"/>
                </a:solidFill>
                <a:latin typeface="Georgia"/>
                <a:cs typeface="Georgia"/>
              </a:rPr>
              <a:t>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volumes</a:t>
            </a:r>
            <a:r>
              <a:rPr sz="3600" spc="5" dirty="0">
                <a:solidFill>
                  <a:srgbClr val="2E377E"/>
                </a:solidFill>
                <a:latin typeface="Georgia"/>
                <a:cs typeface="Georgia"/>
              </a:rPr>
              <a:t> </a:t>
            </a:r>
            <a:r>
              <a:rPr sz="3600" dirty="0">
                <a:solidFill>
                  <a:srgbClr val="2E377E"/>
                </a:solidFill>
                <a:latin typeface="Georgia"/>
                <a:cs typeface="Georgia"/>
              </a:rPr>
              <a:t>on</a:t>
            </a:r>
            <a:r>
              <a:rPr sz="3600" spc="5" dirty="0">
                <a:solidFill>
                  <a:srgbClr val="2E377E"/>
                </a:solidFill>
                <a:latin typeface="Georgia"/>
                <a:cs typeface="Georgia"/>
              </a:rPr>
              <a:t>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host</a:t>
            </a:r>
            <a:r>
              <a:rPr sz="3600" spc="5" dirty="0">
                <a:solidFill>
                  <a:srgbClr val="2E377E"/>
                </a:solidFill>
                <a:latin typeface="Georgia"/>
                <a:cs typeface="Georgia"/>
              </a:rPr>
              <a:t> </a:t>
            </a:r>
            <a:r>
              <a:rPr sz="3600" dirty="0">
                <a:solidFill>
                  <a:srgbClr val="2E377E"/>
                </a:solidFill>
                <a:latin typeface="Georgia"/>
                <a:cs typeface="Georgia"/>
              </a:rPr>
              <a:t>machine</a:t>
            </a:r>
            <a:r>
              <a:rPr sz="3600" spc="5" dirty="0">
                <a:solidFill>
                  <a:srgbClr val="2E377E"/>
                </a:solidFill>
                <a:latin typeface="Georgia"/>
                <a:cs typeface="Georgia"/>
              </a:rPr>
              <a:t> </a:t>
            </a:r>
            <a:r>
              <a:rPr sz="3600" dirty="0">
                <a:solidFill>
                  <a:srgbClr val="2E377E"/>
                </a:solidFill>
                <a:latin typeface="Georgia"/>
                <a:cs typeface="Georgia"/>
              </a:rPr>
              <a:t>and</a:t>
            </a:r>
            <a:r>
              <a:rPr sz="3600" spc="5" dirty="0">
                <a:solidFill>
                  <a:srgbClr val="2E377E"/>
                </a:solidFill>
                <a:latin typeface="Georgia"/>
                <a:cs typeface="Georgia"/>
              </a:rPr>
              <a:t> </a:t>
            </a:r>
            <a:r>
              <a:rPr sz="3600" dirty="0">
                <a:solidFill>
                  <a:srgbClr val="2E377E"/>
                </a:solidFill>
                <a:latin typeface="Georgia"/>
                <a:cs typeface="Georgia"/>
              </a:rPr>
              <a:t>if</a:t>
            </a:r>
            <a:r>
              <a:rPr sz="3600" spc="5" dirty="0">
                <a:solidFill>
                  <a:srgbClr val="2E377E"/>
                </a:solidFill>
                <a:latin typeface="Georgia"/>
                <a:cs typeface="Georgia"/>
              </a:rPr>
              <a:t> </a:t>
            </a:r>
            <a:r>
              <a:rPr sz="3600" spc="55" dirty="0">
                <a:solidFill>
                  <a:srgbClr val="2E377E"/>
                </a:solidFill>
                <a:latin typeface="Georgia"/>
                <a:cs typeface="Georgia"/>
              </a:rPr>
              <a:t>you </a:t>
            </a:r>
            <a:r>
              <a:rPr sz="3600" dirty="0">
                <a:solidFill>
                  <a:srgbClr val="2E377E"/>
                </a:solidFill>
                <a:latin typeface="Georgia"/>
                <a:cs typeface="Georgia"/>
              </a:rPr>
              <a:t>make</a:t>
            </a:r>
            <a:r>
              <a:rPr sz="3600" spc="25"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changes</a:t>
            </a:r>
            <a:r>
              <a:rPr sz="3600" spc="30" dirty="0">
                <a:solidFill>
                  <a:srgbClr val="2E377E"/>
                </a:solidFill>
                <a:latin typeface="Georgia"/>
                <a:cs typeface="Georgia"/>
              </a:rPr>
              <a:t> </a:t>
            </a:r>
            <a:r>
              <a:rPr sz="3600" dirty="0">
                <a:solidFill>
                  <a:srgbClr val="2E377E"/>
                </a:solidFill>
                <a:latin typeface="Georgia"/>
                <a:cs typeface="Georgia"/>
              </a:rPr>
              <a:t>from</a:t>
            </a:r>
            <a:r>
              <a:rPr sz="3600" spc="30"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host</a:t>
            </a:r>
            <a:r>
              <a:rPr sz="3600" spc="30" dirty="0">
                <a:solidFill>
                  <a:srgbClr val="2E377E"/>
                </a:solidFill>
                <a:latin typeface="Georgia"/>
                <a:cs typeface="Georgia"/>
              </a:rPr>
              <a:t> </a:t>
            </a:r>
            <a:r>
              <a:rPr sz="3600" dirty="0">
                <a:solidFill>
                  <a:srgbClr val="2E377E"/>
                </a:solidFill>
                <a:latin typeface="Georgia"/>
                <a:cs typeface="Georgia"/>
              </a:rPr>
              <a:t>machine</a:t>
            </a:r>
            <a:r>
              <a:rPr sz="3600" spc="30" dirty="0">
                <a:solidFill>
                  <a:srgbClr val="2E377E"/>
                </a:solidFill>
                <a:latin typeface="Georgia"/>
                <a:cs typeface="Georgia"/>
              </a:rPr>
              <a:t> </a:t>
            </a:r>
            <a:r>
              <a:rPr sz="3600" dirty="0">
                <a:solidFill>
                  <a:srgbClr val="2E377E"/>
                </a:solidFill>
                <a:latin typeface="Georgia"/>
                <a:cs typeface="Georgia"/>
              </a:rPr>
              <a:t>then</a:t>
            </a:r>
            <a:r>
              <a:rPr sz="3600" spc="30"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changes</a:t>
            </a:r>
            <a:r>
              <a:rPr sz="3600" spc="30" dirty="0">
                <a:solidFill>
                  <a:srgbClr val="2E377E"/>
                </a:solidFill>
                <a:latin typeface="Georgia"/>
                <a:cs typeface="Georgia"/>
              </a:rPr>
              <a:t> </a:t>
            </a:r>
            <a:r>
              <a:rPr sz="3600" dirty="0">
                <a:solidFill>
                  <a:srgbClr val="2E377E"/>
                </a:solidFill>
                <a:latin typeface="Georgia"/>
                <a:cs typeface="Georgia"/>
              </a:rPr>
              <a:t>will</a:t>
            </a:r>
            <a:r>
              <a:rPr sz="3600" spc="30" dirty="0">
                <a:solidFill>
                  <a:srgbClr val="2E377E"/>
                </a:solidFill>
                <a:latin typeface="Georgia"/>
                <a:cs typeface="Georgia"/>
              </a:rPr>
              <a:t> </a:t>
            </a:r>
            <a:r>
              <a:rPr sz="3600" dirty="0">
                <a:solidFill>
                  <a:srgbClr val="2E377E"/>
                </a:solidFill>
                <a:latin typeface="Georgia"/>
                <a:cs typeface="Georgia"/>
              </a:rPr>
              <a:t>be</a:t>
            </a:r>
            <a:r>
              <a:rPr sz="3600" spc="30" dirty="0">
                <a:solidFill>
                  <a:srgbClr val="2E377E"/>
                </a:solidFill>
                <a:latin typeface="Georgia"/>
                <a:cs typeface="Georgia"/>
              </a:rPr>
              <a:t> </a:t>
            </a:r>
            <a:r>
              <a:rPr sz="3600" dirty="0">
                <a:solidFill>
                  <a:srgbClr val="2E377E"/>
                </a:solidFill>
                <a:latin typeface="Georgia"/>
                <a:cs typeface="Georgia"/>
              </a:rPr>
              <a:t>reflected</a:t>
            </a:r>
            <a:r>
              <a:rPr sz="3600" spc="30" dirty="0">
                <a:solidFill>
                  <a:srgbClr val="2E377E"/>
                </a:solidFill>
                <a:latin typeface="Georgia"/>
                <a:cs typeface="Georgia"/>
              </a:rPr>
              <a:t> </a:t>
            </a:r>
            <a:r>
              <a:rPr sz="3600" spc="35" dirty="0">
                <a:solidFill>
                  <a:srgbClr val="2E377E"/>
                </a:solidFill>
                <a:latin typeface="Georgia"/>
                <a:cs typeface="Georgia"/>
              </a:rPr>
              <a:t>to </a:t>
            </a:r>
            <a:r>
              <a:rPr sz="3600" spc="50" dirty="0">
                <a:solidFill>
                  <a:srgbClr val="2E377E"/>
                </a:solidFill>
                <a:latin typeface="Georgia"/>
                <a:cs typeface="Georgia"/>
              </a:rPr>
              <a:t>the</a:t>
            </a:r>
            <a:r>
              <a:rPr sz="3600" spc="-65" dirty="0">
                <a:solidFill>
                  <a:srgbClr val="2E377E"/>
                </a:solidFill>
                <a:latin typeface="Georgia"/>
                <a:cs typeface="Georgia"/>
              </a:rPr>
              <a:t> </a:t>
            </a:r>
            <a:r>
              <a:rPr sz="3600" dirty="0">
                <a:solidFill>
                  <a:srgbClr val="2E377E"/>
                </a:solidFill>
                <a:latin typeface="Georgia"/>
                <a:cs typeface="Georgia"/>
              </a:rPr>
              <a:t>pods</a:t>
            </a:r>
            <a:r>
              <a:rPr sz="3600" spc="-60" dirty="0">
                <a:solidFill>
                  <a:srgbClr val="2E377E"/>
                </a:solidFill>
                <a:latin typeface="Georgia"/>
                <a:cs typeface="Georgia"/>
              </a:rPr>
              <a:t> </a:t>
            </a:r>
            <a:r>
              <a:rPr sz="3600" dirty="0">
                <a:solidFill>
                  <a:srgbClr val="2E377E"/>
                </a:solidFill>
                <a:latin typeface="Georgia"/>
                <a:cs typeface="Georgia"/>
              </a:rPr>
              <a:t>volumes(if</a:t>
            </a:r>
            <a:r>
              <a:rPr sz="3600" spc="-60" dirty="0">
                <a:solidFill>
                  <a:srgbClr val="2E377E"/>
                </a:solidFill>
                <a:latin typeface="Georgia"/>
                <a:cs typeface="Georgia"/>
              </a:rPr>
              <a:t> </a:t>
            </a:r>
            <a:r>
              <a:rPr sz="3600" spc="-10" dirty="0">
                <a:solidFill>
                  <a:srgbClr val="2E377E"/>
                </a:solidFill>
                <a:latin typeface="Georgia"/>
                <a:cs typeface="Georgia"/>
              </a:rPr>
              <a:t>attached).</a:t>
            </a:r>
            <a:endParaRPr sz="3600">
              <a:latin typeface="Georgia"/>
              <a:cs typeface="Georgia"/>
            </a:endParaRPr>
          </a:p>
        </p:txBody>
      </p:sp>
      <p:pic>
        <p:nvPicPr>
          <p:cNvPr id="5" name="object 5"/>
          <p:cNvPicPr/>
          <p:nvPr/>
        </p:nvPicPr>
        <p:blipFill>
          <a:blip r:embed="rId2" cstate="print"/>
          <a:stretch>
            <a:fillRect/>
          </a:stretch>
        </p:blipFill>
        <p:spPr>
          <a:xfrm>
            <a:off x="1370512" y="3667115"/>
            <a:ext cx="133350" cy="133349"/>
          </a:xfrm>
          <a:prstGeom prst="rect">
            <a:avLst/>
          </a:prstGeom>
        </p:spPr>
      </p:pic>
      <p:pic>
        <p:nvPicPr>
          <p:cNvPr id="6" name="object 6"/>
          <p:cNvPicPr/>
          <p:nvPr/>
        </p:nvPicPr>
        <p:blipFill>
          <a:blip r:embed="rId2" cstate="print"/>
          <a:stretch>
            <a:fillRect/>
          </a:stretch>
        </p:blipFill>
        <p:spPr>
          <a:xfrm>
            <a:off x="1370512" y="5057765"/>
            <a:ext cx="133350" cy="133349"/>
          </a:xfrm>
          <a:prstGeom prst="rect">
            <a:avLst/>
          </a:prstGeom>
        </p:spPr>
      </p:pic>
      <p:pic>
        <p:nvPicPr>
          <p:cNvPr id="7" name="object 7"/>
          <p:cNvPicPr/>
          <p:nvPr/>
        </p:nvPicPr>
        <p:blipFill>
          <a:blip r:embed="rId2" cstate="print"/>
          <a:stretch>
            <a:fillRect/>
          </a:stretch>
        </p:blipFill>
        <p:spPr>
          <a:xfrm>
            <a:off x="1370512" y="6448415"/>
            <a:ext cx="133350" cy="133349"/>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184DCA-ECB4-D910-A830-CE9A8114F0FF}"/>
            </a:ext>
          </a:extLst>
        </p:cNvPr>
        <p:cNvGrpSpPr/>
        <p:nvPr/>
      </p:nvGrpSpPr>
      <p:grpSpPr>
        <a:xfrm>
          <a:off x="0" y="0"/>
          <a:ext cx="0" cy="0"/>
          <a:chOff x="0" y="0"/>
          <a:chExt cx="0" cy="0"/>
        </a:xfrm>
      </p:grpSpPr>
      <p:pic>
        <p:nvPicPr>
          <p:cNvPr id="2" name="object 2">
            <a:extLst>
              <a:ext uri="{FF2B5EF4-FFF2-40B4-BE49-F238E27FC236}">
                <a16:creationId xmlns:a16="http://schemas.microsoft.com/office/drawing/2014/main" id="{50559013-D39F-EADA-64C3-11CD85544F26}"/>
              </a:ext>
            </a:extLst>
          </p:cNvPr>
          <p:cNvPicPr/>
          <p:nvPr/>
        </p:nvPicPr>
        <p:blipFill>
          <a:blip r:embed="rId2" cstate="print"/>
          <a:stretch>
            <a:fillRect/>
          </a:stretch>
        </p:blipFill>
        <p:spPr>
          <a:xfrm>
            <a:off x="805665" y="803076"/>
            <a:ext cx="16954499" cy="5610224"/>
          </a:xfrm>
          <a:prstGeom prst="rect">
            <a:avLst/>
          </a:prstGeom>
        </p:spPr>
      </p:pic>
      <p:sp>
        <p:nvSpPr>
          <p:cNvPr id="3" name="object 3">
            <a:extLst>
              <a:ext uri="{FF2B5EF4-FFF2-40B4-BE49-F238E27FC236}">
                <a16:creationId xmlns:a16="http://schemas.microsoft.com/office/drawing/2014/main" id="{B8FEB262-E7F7-91C6-37BC-3E06973C23C3}"/>
              </a:ext>
            </a:extLst>
          </p:cNvPr>
          <p:cNvSpPr txBox="1"/>
          <p:nvPr/>
        </p:nvSpPr>
        <p:spPr>
          <a:xfrm>
            <a:off x="792965" y="7114922"/>
            <a:ext cx="15528290" cy="1816100"/>
          </a:xfrm>
          <a:prstGeom prst="rect">
            <a:avLst/>
          </a:prstGeom>
        </p:spPr>
        <p:txBody>
          <a:bodyPr vert="horz" wrap="square" lIns="0" tIns="12700" rIns="0" bIns="0" rtlCol="0">
            <a:spAutoFit/>
          </a:bodyPr>
          <a:lstStyle/>
          <a:p>
            <a:pPr marL="12700" marR="1757045">
              <a:lnSpc>
                <a:spcPct val="115199"/>
              </a:lnSpc>
              <a:spcBef>
                <a:spcPts val="100"/>
              </a:spcBef>
            </a:pPr>
            <a:r>
              <a:rPr sz="2550" b="1" spc="70" dirty="0">
                <a:latin typeface="Times New Roman"/>
                <a:cs typeface="Times New Roman"/>
              </a:rPr>
              <a:t>In</a:t>
            </a:r>
            <a:r>
              <a:rPr sz="2550" b="1" spc="-5" dirty="0">
                <a:latin typeface="Times New Roman"/>
                <a:cs typeface="Times New Roman"/>
              </a:rPr>
              <a:t> </a:t>
            </a:r>
            <a:r>
              <a:rPr sz="2550" b="1" spc="110" dirty="0">
                <a:latin typeface="Times New Roman"/>
                <a:cs typeface="Times New Roman"/>
              </a:rPr>
              <a:t>the</a:t>
            </a:r>
            <a:r>
              <a:rPr sz="2550" b="1" dirty="0">
                <a:latin typeface="Times New Roman"/>
                <a:cs typeface="Times New Roman"/>
              </a:rPr>
              <a:t> </a:t>
            </a:r>
            <a:r>
              <a:rPr sz="2550" b="1" spc="130" dirty="0">
                <a:latin typeface="Times New Roman"/>
                <a:cs typeface="Times New Roman"/>
              </a:rPr>
              <a:t>above</a:t>
            </a:r>
            <a:r>
              <a:rPr sz="2550" b="1" dirty="0">
                <a:latin typeface="Times New Roman"/>
                <a:cs typeface="Times New Roman"/>
              </a:rPr>
              <a:t> file,</a:t>
            </a:r>
            <a:r>
              <a:rPr sz="2550" b="1" spc="5" dirty="0">
                <a:latin typeface="Times New Roman"/>
                <a:cs typeface="Times New Roman"/>
              </a:rPr>
              <a:t> </a:t>
            </a:r>
            <a:r>
              <a:rPr sz="2550" b="1" dirty="0">
                <a:latin typeface="Times New Roman"/>
                <a:cs typeface="Times New Roman"/>
              </a:rPr>
              <a:t>it</a:t>
            </a:r>
            <a:r>
              <a:rPr sz="2550" b="1" spc="-5" dirty="0">
                <a:latin typeface="Times New Roman"/>
                <a:cs typeface="Times New Roman"/>
              </a:rPr>
              <a:t> </a:t>
            </a:r>
            <a:r>
              <a:rPr sz="2550" b="1" spc="130" dirty="0">
                <a:latin typeface="Times New Roman"/>
                <a:cs typeface="Times New Roman"/>
              </a:rPr>
              <a:t>will</a:t>
            </a:r>
            <a:r>
              <a:rPr sz="2550" b="1" dirty="0">
                <a:latin typeface="Times New Roman"/>
                <a:cs typeface="Times New Roman"/>
              </a:rPr>
              <a:t> </a:t>
            </a:r>
            <a:r>
              <a:rPr sz="2550" b="1" spc="70" dirty="0">
                <a:latin typeface="Times New Roman"/>
                <a:cs typeface="Times New Roman"/>
              </a:rPr>
              <a:t>creates</a:t>
            </a:r>
            <a:r>
              <a:rPr sz="2550" b="1" dirty="0">
                <a:latin typeface="Times New Roman"/>
                <a:cs typeface="Times New Roman"/>
              </a:rPr>
              <a:t> a </a:t>
            </a:r>
            <a:r>
              <a:rPr sz="2550" b="1" spc="110" dirty="0">
                <a:latin typeface="Times New Roman"/>
                <a:cs typeface="Times New Roman"/>
              </a:rPr>
              <a:t>pod.</a:t>
            </a:r>
            <a:r>
              <a:rPr sz="2550" b="1" dirty="0">
                <a:latin typeface="Times New Roman"/>
                <a:cs typeface="Times New Roman"/>
              </a:rPr>
              <a:t> if </a:t>
            </a:r>
            <a:r>
              <a:rPr sz="2550" b="1" spc="160" dirty="0">
                <a:latin typeface="Times New Roman"/>
                <a:cs typeface="Times New Roman"/>
              </a:rPr>
              <a:t>you</a:t>
            </a:r>
            <a:r>
              <a:rPr sz="2550" b="1" dirty="0">
                <a:latin typeface="Times New Roman"/>
                <a:cs typeface="Times New Roman"/>
              </a:rPr>
              <a:t> </a:t>
            </a:r>
            <a:r>
              <a:rPr sz="2550" b="1" spc="70" dirty="0">
                <a:latin typeface="Times New Roman"/>
                <a:cs typeface="Times New Roman"/>
              </a:rPr>
              <a:t>create</a:t>
            </a:r>
            <a:r>
              <a:rPr sz="2550" b="1" dirty="0">
                <a:latin typeface="Times New Roman"/>
                <a:cs typeface="Times New Roman"/>
              </a:rPr>
              <a:t> a </a:t>
            </a:r>
            <a:r>
              <a:rPr sz="2550" b="1" spc="55" dirty="0">
                <a:latin typeface="Times New Roman"/>
                <a:cs typeface="Times New Roman"/>
              </a:rPr>
              <a:t>file</a:t>
            </a:r>
            <a:r>
              <a:rPr sz="2550" b="1" dirty="0">
                <a:latin typeface="Times New Roman"/>
                <a:cs typeface="Times New Roman"/>
              </a:rPr>
              <a:t> </a:t>
            </a:r>
            <a:r>
              <a:rPr sz="2550" b="1" spc="135" dirty="0">
                <a:latin typeface="Times New Roman"/>
                <a:cs typeface="Times New Roman"/>
              </a:rPr>
              <a:t>in</a:t>
            </a:r>
            <a:r>
              <a:rPr sz="2550" b="1" dirty="0">
                <a:latin typeface="Times New Roman"/>
                <a:cs typeface="Times New Roman"/>
              </a:rPr>
              <a:t> </a:t>
            </a:r>
            <a:r>
              <a:rPr sz="2550" b="1" spc="85" dirty="0">
                <a:latin typeface="Times New Roman"/>
                <a:cs typeface="Times New Roman"/>
              </a:rPr>
              <a:t>container,</a:t>
            </a:r>
            <a:r>
              <a:rPr sz="2550" b="1" dirty="0">
                <a:latin typeface="Times New Roman"/>
                <a:cs typeface="Times New Roman"/>
              </a:rPr>
              <a:t> </a:t>
            </a:r>
            <a:r>
              <a:rPr sz="2550" b="1" spc="170" dirty="0">
                <a:latin typeface="Times New Roman"/>
                <a:cs typeface="Times New Roman"/>
              </a:rPr>
              <a:t>by</a:t>
            </a:r>
            <a:r>
              <a:rPr sz="2550" b="1" dirty="0">
                <a:latin typeface="Times New Roman"/>
                <a:cs typeface="Times New Roman"/>
              </a:rPr>
              <a:t> </a:t>
            </a:r>
            <a:r>
              <a:rPr sz="2550" b="1" spc="95" dirty="0">
                <a:latin typeface="Times New Roman"/>
                <a:cs typeface="Times New Roman"/>
              </a:rPr>
              <a:t>using</a:t>
            </a:r>
            <a:r>
              <a:rPr sz="2550" b="1" dirty="0">
                <a:latin typeface="Times New Roman"/>
                <a:cs typeface="Times New Roman"/>
              </a:rPr>
              <a:t> </a:t>
            </a:r>
            <a:r>
              <a:rPr sz="2550" b="1" spc="110" dirty="0">
                <a:latin typeface="Times New Roman"/>
                <a:cs typeface="Times New Roman"/>
              </a:rPr>
              <a:t>the</a:t>
            </a:r>
            <a:r>
              <a:rPr sz="2550" b="1" dirty="0">
                <a:latin typeface="Times New Roman"/>
                <a:cs typeface="Times New Roman"/>
              </a:rPr>
              <a:t> </a:t>
            </a:r>
            <a:r>
              <a:rPr sz="2550" b="1" spc="175" dirty="0">
                <a:latin typeface="Times New Roman"/>
                <a:cs typeface="Times New Roman"/>
              </a:rPr>
              <a:t>command </a:t>
            </a:r>
            <a:r>
              <a:rPr sz="2550" b="1" spc="80" dirty="0">
                <a:solidFill>
                  <a:srgbClr val="E7181F"/>
                </a:solidFill>
                <a:latin typeface="Times New Roman"/>
                <a:cs typeface="Times New Roman"/>
              </a:rPr>
              <a:t>docker</a:t>
            </a:r>
            <a:r>
              <a:rPr sz="2550" b="1" spc="-5" dirty="0">
                <a:solidFill>
                  <a:srgbClr val="E7181F"/>
                </a:solidFill>
                <a:latin typeface="Times New Roman"/>
                <a:cs typeface="Times New Roman"/>
              </a:rPr>
              <a:t> </a:t>
            </a:r>
            <a:r>
              <a:rPr sz="2550" b="1" spc="135" dirty="0">
                <a:solidFill>
                  <a:srgbClr val="E7181F"/>
                </a:solidFill>
                <a:latin typeface="Times New Roman"/>
                <a:cs typeface="Times New Roman"/>
              </a:rPr>
              <a:t>exec</a:t>
            </a:r>
            <a:r>
              <a:rPr sz="2550" b="1" spc="-5" dirty="0">
                <a:solidFill>
                  <a:srgbClr val="E7181F"/>
                </a:solidFill>
                <a:latin typeface="Times New Roman"/>
                <a:cs typeface="Times New Roman"/>
              </a:rPr>
              <a:t> </a:t>
            </a:r>
            <a:r>
              <a:rPr sz="2550" b="1" spc="335" dirty="0">
                <a:solidFill>
                  <a:srgbClr val="E7181F"/>
                </a:solidFill>
                <a:latin typeface="Times New Roman"/>
                <a:cs typeface="Times New Roman"/>
              </a:rPr>
              <a:t>-</a:t>
            </a:r>
            <a:r>
              <a:rPr sz="2550" b="1" dirty="0">
                <a:solidFill>
                  <a:srgbClr val="E7181F"/>
                </a:solidFill>
                <a:latin typeface="Times New Roman"/>
                <a:cs typeface="Times New Roman"/>
              </a:rPr>
              <a:t>it</a:t>
            </a:r>
            <a:r>
              <a:rPr sz="2550" b="1" spc="-5" dirty="0">
                <a:solidFill>
                  <a:srgbClr val="E7181F"/>
                </a:solidFill>
                <a:latin typeface="Times New Roman"/>
                <a:cs typeface="Times New Roman"/>
              </a:rPr>
              <a:t> </a:t>
            </a:r>
            <a:r>
              <a:rPr sz="2550" b="1" spc="200" dirty="0">
                <a:solidFill>
                  <a:srgbClr val="E7181F"/>
                </a:solidFill>
                <a:latin typeface="Times New Roman"/>
                <a:cs typeface="Times New Roman"/>
              </a:rPr>
              <a:t>pod-</a:t>
            </a:r>
            <a:r>
              <a:rPr sz="2550" b="1" spc="-270" dirty="0">
                <a:solidFill>
                  <a:srgbClr val="E7181F"/>
                </a:solidFill>
                <a:latin typeface="Times New Roman"/>
                <a:cs typeface="Times New Roman"/>
              </a:rPr>
              <a:t>1</a:t>
            </a:r>
            <a:r>
              <a:rPr sz="2550" b="1" spc="-5" dirty="0">
                <a:solidFill>
                  <a:srgbClr val="E7181F"/>
                </a:solidFill>
                <a:latin typeface="Times New Roman"/>
                <a:cs typeface="Times New Roman"/>
              </a:rPr>
              <a:t> </a:t>
            </a:r>
            <a:r>
              <a:rPr sz="2550" b="1" spc="335" dirty="0">
                <a:solidFill>
                  <a:srgbClr val="E7181F"/>
                </a:solidFill>
                <a:latin typeface="Times New Roman"/>
                <a:cs typeface="Times New Roman"/>
              </a:rPr>
              <a:t>-</a:t>
            </a:r>
            <a:r>
              <a:rPr sz="2550" b="1" spc="125" dirty="0">
                <a:solidFill>
                  <a:srgbClr val="E7181F"/>
                </a:solidFill>
                <a:latin typeface="Times New Roman"/>
                <a:cs typeface="Times New Roman"/>
              </a:rPr>
              <a:t>c</a:t>
            </a:r>
            <a:r>
              <a:rPr sz="2550" b="1" spc="-5" dirty="0">
                <a:solidFill>
                  <a:srgbClr val="E7181F"/>
                </a:solidFill>
                <a:latin typeface="Times New Roman"/>
                <a:cs typeface="Times New Roman"/>
              </a:rPr>
              <a:t> </a:t>
            </a:r>
            <a:r>
              <a:rPr sz="2550" b="1" spc="60" dirty="0">
                <a:solidFill>
                  <a:srgbClr val="E7181F"/>
                </a:solidFill>
                <a:latin typeface="Times New Roman"/>
                <a:cs typeface="Times New Roman"/>
              </a:rPr>
              <a:t>container1</a:t>
            </a:r>
            <a:r>
              <a:rPr sz="2550" b="1" spc="-5" dirty="0">
                <a:solidFill>
                  <a:srgbClr val="E7181F"/>
                </a:solidFill>
                <a:latin typeface="Times New Roman"/>
                <a:cs typeface="Times New Roman"/>
              </a:rPr>
              <a:t> </a:t>
            </a:r>
            <a:r>
              <a:rPr sz="2550" b="1" spc="190" dirty="0">
                <a:solidFill>
                  <a:srgbClr val="E7181F"/>
                </a:solidFill>
                <a:latin typeface="Times New Roman"/>
                <a:cs typeface="Times New Roman"/>
              </a:rPr>
              <a:t>/bin/bash</a:t>
            </a:r>
            <a:endParaRPr sz="2550">
              <a:latin typeface="Times New Roman"/>
              <a:cs typeface="Times New Roman"/>
            </a:endParaRPr>
          </a:p>
          <a:p>
            <a:pPr marL="12700" marR="5080">
              <a:lnSpc>
                <a:spcPct val="115199"/>
              </a:lnSpc>
            </a:pPr>
            <a:r>
              <a:rPr sz="2550" b="1" spc="55" dirty="0">
                <a:latin typeface="Times New Roman"/>
                <a:cs typeface="Times New Roman"/>
              </a:rPr>
              <a:t>file</a:t>
            </a:r>
            <a:r>
              <a:rPr sz="2550" b="1" spc="-20" dirty="0">
                <a:latin typeface="Times New Roman"/>
                <a:cs typeface="Times New Roman"/>
              </a:rPr>
              <a:t> </a:t>
            </a:r>
            <a:r>
              <a:rPr sz="2550" b="1" spc="130" dirty="0">
                <a:latin typeface="Times New Roman"/>
                <a:cs typeface="Times New Roman"/>
              </a:rPr>
              <a:t>will</a:t>
            </a:r>
            <a:r>
              <a:rPr sz="2550" b="1" spc="-15" dirty="0">
                <a:latin typeface="Times New Roman"/>
                <a:cs typeface="Times New Roman"/>
              </a:rPr>
              <a:t> </a:t>
            </a:r>
            <a:r>
              <a:rPr sz="2550" b="1" spc="50" dirty="0">
                <a:latin typeface="Times New Roman"/>
                <a:cs typeface="Times New Roman"/>
              </a:rPr>
              <a:t>gets</a:t>
            </a:r>
            <a:r>
              <a:rPr sz="2550" b="1" spc="-20" dirty="0">
                <a:latin typeface="Times New Roman"/>
                <a:cs typeface="Times New Roman"/>
              </a:rPr>
              <a:t> </a:t>
            </a:r>
            <a:r>
              <a:rPr sz="2550" b="1" spc="70" dirty="0">
                <a:latin typeface="Times New Roman"/>
                <a:cs typeface="Times New Roman"/>
              </a:rPr>
              <a:t>created.</a:t>
            </a:r>
            <a:r>
              <a:rPr sz="2550" b="1" spc="-15" dirty="0">
                <a:latin typeface="Times New Roman"/>
                <a:cs typeface="Times New Roman"/>
              </a:rPr>
              <a:t> </a:t>
            </a:r>
            <a:r>
              <a:rPr sz="2550" b="1" spc="225" dirty="0">
                <a:latin typeface="Times New Roman"/>
                <a:cs typeface="Times New Roman"/>
              </a:rPr>
              <a:t>Now</a:t>
            </a:r>
            <a:r>
              <a:rPr sz="2550" b="1" spc="-20" dirty="0">
                <a:latin typeface="Times New Roman"/>
                <a:cs typeface="Times New Roman"/>
              </a:rPr>
              <a:t> </a:t>
            </a:r>
            <a:r>
              <a:rPr sz="2550" b="1" spc="165" dirty="0">
                <a:latin typeface="Times New Roman"/>
                <a:cs typeface="Times New Roman"/>
              </a:rPr>
              <a:t>even</a:t>
            </a:r>
            <a:r>
              <a:rPr sz="2550" b="1" spc="-15" dirty="0">
                <a:latin typeface="Times New Roman"/>
                <a:cs typeface="Times New Roman"/>
              </a:rPr>
              <a:t> </a:t>
            </a:r>
            <a:r>
              <a:rPr sz="2550" b="1" dirty="0">
                <a:latin typeface="Times New Roman"/>
                <a:cs typeface="Times New Roman"/>
              </a:rPr>
              <a:t>if</a:t>
            </a:r>
            <a:r>
              <a:rPr sz="2550" b="1" spc="-20" dirty="0">
                <a:latin typeface="Times New Roman"/>
                <a:cs typeface="Times New Roman"/>
              </a:rPr>
              <a:t> </a:t>
            </a:r>
            <a:r>
              <a:rPr sz="2550" b="1" spc="160" dirty="0">
                <a:latin typeface="Times New Roman"/>
                <a:cs typeface="Times New Roman"/>
              </a:rPr>
              <a:t>you</a:t>
            </a:r>
            <a:r>
              <a:rPr sz="2550" b="1" spc="-15" dirty="0">
                <a:latin typeface="Times New Roman"/>
                <a:cs typeface="Times New Roman"/>
              </a:rPr>
              <a:t> </a:t>
            </a:r>
            <a:r>
              <a:rPr sz="2550" b="1" spc="105" dirty="0">
                <a:latin typeface="Times New Roman"/>
                <a:cs typeface="Times New Roman"/>
              </a:rPr>
              <a:t>delete</a:t>
            </a:r>
            <a:r>
              <a:rPr sz="2550" b="1" spc="-20" dirty="0">
                <a:latin typeface="Times New Roman"/>
                <a:cs typeface="Times New Roman"/>
              </a:rPr>
              <a:t> </a:t>
            </a:r>
            <a:r>
              <a:rPr sz="2550" b="1" spc="110" dirty="0">
                <a:latin typeface="Times New Roman"/>
                <a:cs typeface="Times New Roman"/>
              </a:rPr>
              <a:t>the</a:t>
            </a:r>
            <a:r>
              <a:rPr sz="2550" b="1" spc="-15" dirty="0">
                <a:latin typeface="Times New Roman"/>
                <a:cs typeface="Times New Roman"/>
              </a:rPr>
              <a:t> </a:t>
            </a:r>
            <a:r>
              <a:rPr sz="2550" b="1" spc="160" dirty="0">
                <a:latin typeface="Times New Roman"/>
                <a:cs typeface="Times New Roman"/>
              </a:rPr>
              <a:t>pod</a:t>
            </a:r>
            <a:r>
              <a:rPr sz="2550" b="1" spc="-15" dirty="0">
                <a:latin typeface="Times New Roman"/>
                <a:cs typeface="Times New Roman"/>
              </a:rPr>
              <a:t> </a:t>
            </a:r>
            <a:r>
              <a:rPr sz="2550" b="1" spc="130" dirty="0">
                <a:latin typeface="Times New Roman"/>
                <a:cs typeface="Times New Roman"/>
              </a:rPr>
              <a:t>then</a:t>
            </a:r>
            <a:r>
              <a:rPr sz="2550" b="1" spc="-20" dirty="0">
                <a:latin typeface="Times New Roman"/>
                <a:cs typeface="Times New Roman"/>
              </a:rPr>
              <a:t> </a:t>
            </a:r>
            <a:r>
              <a:rPr sz="2550" b="1" spc="95" dirty="0">
                <a:latin typeface="Times New Roman"/>
                <a:cs typeface="Times New Roman"/>
              </a:rPr>
              <a:t>another</a:t>
            </a:r>
            <a:r>
              <a:rPr sz="2550" b="1" spc="-15" dirty="0">
                <a:latin typeface="Times New Roman"/>
                <a:cs typeface="Times New Roman"/>
              </a:rPr>
              <a:t> </a:t>
            </a:r>
            <a:r>
              <a:rPr sz="2550" b="1" spc="140" dirty="0">
                <a:latin typeface="Times New Roman"/>
                <a:cs typeface="Times New Roman"/>
              </a:rPr>
              <a:t>pods</a:t>
            </a:r>
            <a:r>
              <a:rPr sz="2550" b="1" spc="-20" dirty="0">
                <a:latin typeface="Times New Roman"/>
                <a:cs typeface="Times New Roman"/>
              </a:rPr>
              <a:t> </a:t>
            </a:r>
            <a:r>
              <a:rPr sz="2550" b="1" spc="130" dirty="0">
                <a:latin typeface="Times New Roman"/>
                <a:cs typeface="Times New Roman"/>
              </a:rPr>
              <a:t>will</a:t>
            </a:r>
            <a:r>
              <a:rPr sz="2550" b="1" spc="-15" dirty="0">
                <a:latin typeface="Times New Roman"/>
                <a:cs typeface="Times New Roman"/>
              </a:rPr>
              <a:t> </a:t>
            </a:r>
            <a:r>
              <a:rPr sz="2550" b="1" spc="50" dirty="0">
                <a:latin typeface="Times New Roman"/>
                <a:cs typeface="Times New Roman"/>
              </a:rPr>
              <a:t>gets</a:t>
            </a:r>
            <a:r>
              <a:rPr sz="2550" b="1" spc="-20" dirty="0">
                <a:latin typeface="Times New Roman"/>
                <a:cs typeface="Times New Roman"/>
              </a:rPr>
              <a:t> </a:t>
            </a:r>
            <a:r>
              <a:rPr sz="2550" b="1" spc="80" dirty="0">
                <a:latin typeface="Times New Roman"/>
                <a:cs typeface="Times New Roman"/>
              </a:rPr>
              <a:t>created</a:t>
            </a:r>
            <a:r>
              <a:rPr sz="2550" b="1" spc="-15" dirty="0">
                <a:latin typeface="Times New Roman"/>
                <a:cs typeface="Times New Roman"/>
              </a:rPr>
              <a:t> </a:t>
            </a:r>
            <a:r>
              <a:rPr sz="2550" b="1" spc="155" dirty="0">
                <a:latin typeface="Times New Roman"/>
                <a:cs typeface="Times New Roman"/>
              </a:rPr>
              <a:t>with</a:t>
            </a:r>
            <a:r>
              <a:rPr sz="2550" b="1" spc="-20" dirty="0">
                <a:latin typeface="Times New Roman"/>
                <a:cs typeface="Times New Roman"/>
              </a:rPr>
              <a:t> </a:t>
            </a:r>
            <a:r>
              <a:rPr sz="2550" b="1" spc="145" dirty="0">
                <a:latin typeface="Times New Roman"/>
                <a:cs typeface="Times New Roman"/>
              </a:rPr>
              <a:t>same</a:t>
            </a:r>
            <a:r>
              <a:rPr sz="2550" b="1" spc="-15" dirty="0">
                <a:latin typeface="Times New Roman"/>
                <a:cs typeface="Times New Roman"/>
              </a:rPr>
              <a:t> </a:t>
            </a:r>
            <a:r>
              <a:rPr sz="2550" b="1" spc="-20" dirty="0">
                <a:latin typeface="Times New Roman"/>
                <a:cs typeface="Times New Roman"/>
              </a:rPr>
              <a:t>data. </a:t>
            </a:r>
            <a:r>
              <a:rPr sz="2550" b="1" spc="80" dirty="0">
                <a:latin typeface="Times New Roman"/>
                <a:cs typeface="Times New Roman"/>
              </a:rPr>
              <a:t>Because</a:t>
            </a:r>
            <a:r>
              <a:rPr sz="2550" b="1" spc="5" dirty="0">
                <a:latin typeface="Times New Roman"/>
                <a:cs typeface="Times New Roman"/>
              </a:rPr>
              <a:t> </a:t>
            </a:r>
            <a:r>
              <a:rPr sz="2550" b="1" spc="260" dirty="0">
                <a:latin typeface="Times New Roman"/>
                <a:cs typeface="Times New Roman"/>
              </a:rPr>
              <a:t>we</a:t>
            </a:r>
            <a:r>
              <a:rPr sz="2550" b="1" spc="10" dirty="0">
                <a:latin typeface="Times New Roman"/>
                <a:cs typeface="Times New Roman"/>
              </a:rPr>
              <a:t> </a:t>
            </a:r>
            <a:r>
              <a:rPr sz="2550" b="1" spc="50" dirty="0">
                <a:latin typeface="Times New Roman"/>
                <a:cs typeface="Times New Roman"/>
              </a:rPr>
              <a:t>are</a:t>
            </a:r>
            <a:r>
              <a:rPr sz="2550" b="1" spc="10" dirty="0">
                <a:latin typeface="Times New Roman"/>
                <a:cs typeface="Times New Roman"/>
              </a:rPr>
              <a:t> </a:t>
            </a:r>
            <a:r>
              <a:rPr sz="2550" b="1" spc="95" dirty="0">
                <a:latin typeface="Times New Roman"/>
                <a:cs typeface="Times New Roman"/>
              </a:rPr>
              <a:t>using</a:t>
            </a:r>
            <a:r>
              <a:rPr sz="2550" b="1" spc="10" dirty="0">
                <a:latin typeface="Times New Roman"/>
                <a:cs typeface="Times New Roman"/>
              </a:rPr>
              <a:t> </a:t>
            </a:r>
            <a:r>
              <a:rPr sz="2550" b="1" dirty="0">
                <a:latin typeface="Times New Roman"/>
                <a:cs typeface="Times New Roman"/>
              </a:rPr>
              <a:t>HostPath</a:t>
            </a:r>
            <a:r>
              <a:rPr sz="2550" b="1" spc="10" dirty="0">
                <a:latin typeface="Times New Roman"/>
                <a:cs typeface="Times New Roman"/>
              </a:rPr>
              <a:t> </a:t>
            </a:r>
            <a:r>
              <a:rPr sz="2550" b="1" spc="180" dirty="0">
                <a:latin typeface="Times New Roman"/>
                <a:cs typeface="Times New Roman"/>
              </a:rPr>
              <a:t>which</a:t>
            </a:r>
            <a:r>
              <a:rPr sz="2550" b="1" spc="10" dirty="0">
                <a:latin typeface="Times New Roman"/>
                <a:cs typeface="Times New Roman"/>
              </a:rPr>
              <a:t> </a:t>
            </a:r>
            <a:r>
              <a:rPr sz="2550" b="1" spc="70" dirty="0">
                <a:latin typeface="Times New Roman"/>
                <a:cs typeface="Times New Roman"/>
              </a:rPr>
              <a:t>creates</a:t>
            </a:r>
            <a:r>
              <a:rPr sz="2550" b="1" spc="10" dirty="0">
                <a:latin typeface="Times New Roman"/>
                <a:cs typeface="Times New Roman"/>
              </a:rPr>
              <a:t> </a:t>
            </a:r>
            <a:r>
              <a:rPr sz="2550" b="1" spc="75" dirty="0">
                <a:latin typeface="Times New Roman"/>
                <a:cs typeface="Times New Roman"/>
              </a:rPr>
              <a:t>local</a:t>
            </a:r>
            <a:r>
              <a:rPr sz="2550" b="1" spc="5" dirty="0">
                <a:latin typeface="Times New Roman"/>
                <a:cs typeface="Times New Roman"/>
              </a:rPr>
              <a:t> </a:t>
            </a:r>
            <a:r>
              <a:rPr sz="2550" b="1" spc="160" dirty="0">
                <a:latin typeface="Times New Roman"/>
                <a:cs typeface="Times New Roman"/>
              </a:rPr>
              <a:t>volume</a:t>
            </a:r>
            <a:r>
              <a:rPr sz="2550" b="1" spc="10" dirty="0">
                <a:latin typeface="Times New Roman"/>
                <a:cs typeface="Times New Roman"/>
              </a:rPr>
              <a:t> </a:t>
            </a:r>
            <a:r>
              <a:rPr sz="2550" b="1" spc="135" dirty="0">
                <a:latin typeface="Times New Roman"/>
                <a:cs typeface="Times New Roman"/>
              </a:rPr>
              <a:t>in</a:t>
            </a:r>
            <a:r>
              <a:rPr sz="2550" b="1" spc="10" dirty="0">
                <a:latin typeface="Times New Roman"/>
                <a:cs typeface="Times New Roman"/>
              </a:rPr>
              <a:t> </a:t>
            </a:r>
            <a:r>
              <a:rPr sz="2550" b="1" spc="95" dirty="0">
                <a:latin typeface="Times New Roman"/>
                <a:cs typeface="Times New Roman"/>
              </a:rPr>
              <a:t>our</a:t>
            </a:r>
            <a:r>
              <a:rPr sz="2550" b="1" spc="10" dirty="0">
                <a:latin typeface="Times New Roman"/>
                <a:cs typeface="Times New Roman"/>
              </a:rPr>
              <a:t> </a:t>
            </a:r>
            <a:r>
              <a:rPr sz="2550" b="1" spc="105" dirty="0">
                <a:latin typeface="Times New Roman"/>
                <a:cs typeface="Times New Roman"/>
              </a:rPr>
              <a:t>host</a:t>
            </a:r>
            <a:r>
              <a:rPr sz="2550" b="1" spc="10" dirty="0">
                <a:latin typeface="Times New Roman"/>
                <a:cs typeface="Times New Roman"/>
              </a:rPr>
              <a:t> </a:t>
            </a:r>
            <a:r>
              <a:rPr sz="2550" b="1" spc="114" dirty="0">
                <a:latin typeface="Times New Roman"/>
                <a:cs typeface="Times New Roman"/>
              </a:rPr>
              <a:t>machine.</a:t>
            </a:r>
            <a:endParaRPr sz="2550">
              <a:latin typeface="Times New Roman"/>
              <a:cs typeface="Times New Roman"/>
            </a:endParaRPr>
          </a:p>
        </p:txBody>
      </p:sp>
    </p:spTree>
    <p:extLst>
      <p:ext uri="{BB962C8B-B14F-4D97-AF65-F5344CB8AC3E}">
        <p14:creationId xmlns:p14="http://schemas.microsoft.com/office/powerpoint/2010/main" val="363738459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11D5307-0A2B-487C-62D8-AC4E942F586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E473425-4914-EF68-9695-6B852FCEC0F3}"/>
              </a:ext>
            </a:extLst>
          </p:cNvPr>
          <p:cNvSpPr txBox="1"/>
          <p:nvPr/>
        </p:nvSpPr>
        <p:spPr>
          <a:xfrm>
            <a:off x="792965" y="7114922"/>
            <a:ext cx="15528290" cy="1816100"/>
          </a:xfrm>
          <a:prstGeom prst="rect">
            <a:avLst/>
          </a:prstGeom>
        </p:spPr>
        <p:txBody>
          <a:bodyPr vert="horz" wrap="square" lIns="0" tIns="12700" rIns="0" bIns="0" rtlCol="0">
            <a:spAutoFit/>
          </a:bodyPr>
          <a:lstStyle/>
          <a:p>
            <a:pPr marL="12700" marR="1757045">
              <a:lnSpc>
                <a:spcPct val="115199"/>
              </a:lnSpc>
              <a:spcBef>
                <a:spcPts val="100"/>
              </a:spcBef>
            </a:pPr>
            <a:r>
              <a:rPr sz="2550" b="1" spc="70" dirty="0">
                <a:latin typeface="Times New Roman"/>
                <a:cs typeface="Times New Roman"/>
              </a:rPr>
              <a:t>In</a:t>
            </a:r>
            <a:r>
              <a:rPr sz="2550" b="1" spc="-5" dirty="0">
                <a:latin typeface="Times New Roman"/>
                <a:cs typeface="Times New Roman"/>
              </a:rPr>
              <a:t> </a:t>
            </a:r>
            <a:r>
              <a:rPr sz="2550" b="1" spc="110" dirty="0">
                <a:latin typeface="Times New Roman"/>
                <a:cs typeface="Times New Roman"/>
              </a:rPr>
              <a:t>the</a:t>
            </a:r>
            <a:r>
              <a:rPr sz="2550" b="1" dirty="0">
                <a:latin typeface="Times New Roman"/>
                <a:cs typeface="Times New Roman"/>
              </a:rPr>
              <a:t> </a:t>
            </a:r>
            <a:r>
              <a:rPr sz="2550" b="1" spc="130" dirty="0">
                <a:latin typeface="Times New Roman"/>
                <a:cs typeface="Times New Roman"/>
              </a:rPr>
              <a:t>above</a:t>
            </a:r>
            <a:r>
              <a:rPr sz="2550" b="1" dirty="0">
                <a:latin typeface="Times New Roman"/>
                <a:cs typeface="Times New Roman"/>
              </a:rPr>
              <a:t> file,</a:t>
            </a:r>
            <a:r>
              <a:rPr sz="2550" b="1" spc="5" dirty="0">
                <a:latin typeface="Times New Roman"/>
                <a:cs typeface="Times New Roman"/>
              </a:rPr>
              <a:t> </a:t>
            </a:r>
            <a:r>
              <a:rPr sz="2550" b="1" dirty="0">
                <a:latin typeface="Times New Roman"/>
                <a:cs typeface="Times New Roman"/>
              </a:rPr>
              <a:t>it</a:t>
            </a:r>
            <a:r>
              <a:rPr sz="2550" b="1" spc="-5" dirty="0">
                <a:latin typeface="Times New Roman"/>
                <a:cs typeface="Times New Roman"/>
              </a:rPr>
              <a:t> </a:t>
            </a:r>
            <a:r>
              <a:rPr sz="2550" b="1" spc="130" dirty="0">
                <a:latin typeface="Times New Roman"/>
                <a:cs typeface="Times New Roman"/>
              </a:rPr>
              <a:t>will</a:t>
            </a:r>
            <a:r>
              <a:rPr sz="2550" b="1" dirty="0">
                <a:latin typeface="Times New Roman"/>
                <a:cs typeface="Times New Roman"/>
              </a:rPr>
              <a:t> </a:t>
            </a:r>
            <a:r>
              <a:rPr sz="2550" b="1" spc="70" dirty="0">
                <a:latin typeface="Times New Roman"/>
                <a:cs typeface="Times New Roman"/>
              </a:rPr>
              <a:t>creates</a:t>
            </a:r>
            <a:r>
              <a:rPr sz="2550" b="1" dirty="0">
                <a:latin typeface="Times New Roman"/>
                <a:cs typeface="Times New Roman"/>
              </a:rPr>
              <a:t> a </a:t>
            </a:r>
            <a:r>
              <a:rPr sz="2550" b="1" spc="110" dirty="0">
                <a:latin typeface="Times New Roman"/>
                <a:cs typeface="Times New Roman"/>
              </a:rPr>
              <a:t>pod.</a:t>
            </a:r>
            <a:r>
              <a:rPr sz="2550" b="1" dirty="0">
                <a:latin typeface="Times New Roman"/>
                <a:cs typeface="Times New Roman"/>
              </a:rPr>
              <a:t> if </a:t>
            </a:r>
            <a:r>
              <a:rPr sz="2550" b="1" spc="160" dirty="0">
                <a:latin typeface="Times New Roman"/>
                <a:cs typeface="Times New Roman"/>
              </a:rPr>
              <a:t>you</a:t>
            </a:r>
            <a:r>
              <a:rPr sz="2550" b="1" dirty="0">
                <a:latin typeface="Times New Roman"/>
                <a:cs typeface="Times New Roman"/>
              </a:rPr>
              <a:t> </a:t>
            </a:r>
            <a:r>
              <a:rPr sz="2550" b="1" spc="70" dirty="0">
                <a:latin typeface="Times New Roman"/>
                <a:cs typeface="Times New Roman"/>
              </a:rPr>
              <a:t>create</a:t>
            </a:r>
            <a:r>
              <a:rPr sz="2550" b="1" dirty="0">
                <a:latin typeface="Times New Roman"/>
                <a:cs typeface="Times New Roman"/>
              </a:rPr>
              <a:t> a </a:t>
            </a:r>
            <a:r>
              <a:rPr sz="2550" b="1" spc="55" dirty="0">
                <a:latin typeface="Times New Roman"/>
                <a:cs typeface="Times New Roman"/>
              </a:rPr>
              <a:t>file</a:t>
            </a:r>
            <a:r>
              <a:rPr sz="2550" b="1" dirty="0">
                <a:latin typeface="Times New Roman"/>
                <a:cs typeface="Times New Roman"/>
              </a:rPr>
              <a:t> </a:t>
            </a:r>
            <a:r>
              <a:rPr sz="2550" b="1" spc="135" dirty="0">
                <a:latin typeface="Times New Roman"/>
                <a:cs typeface="Times New Roman"/>
              </a:rPr>
              <a:t>in</a:t>
            </a:r>
            <a:r>
              <a:rPr sz="2550" b="1" dirty="0">
                <a:latin typeface="Times New Roman"/>
                <a:cs typeface="Times New Roman"/>
              </a:rPr>
              <a:t> </a:t>
            </a:r>
            <a:r>
              <a:rPr sz="2550" b="1" spc="85" dirty="0">
                <a:latin typeface="Times New Roman"/>
                <a:cs typeface="Times New Roman"/>
              </a:rPr>
              <a:t>container,</a:t>
            </a:r>
            <a:r>
              <a:rPr sz="2550" b="1" dirty="0">
                <a:latin typeface="Times New Roman"/>
                <a:cs typeface="Times New Roman"/>
              </a:rPr>
              <a:t> </a:t>
            </a:r>
            <a:r>
              <a:rPr sz="2550" b="1" spc="170" dirty="0">
                <a:latin typeface="Times New Roman"/>
                <a:cs typeface="Times New Roman"/>
              </a:rPr>
              <a:t>by</a:t>
            </a:r>
            <a:r>
              <a:rPr sz="2550" b="1" dirty="0">
                <a:latin typeface="Times New Roman"/>
                <a:cs typeface="Times New Roman"/>
              </a:rPr>
              <a:t> </a:t>
            </a:r>
            <a:r>
              <a:rPr sz="2550" b="1" spc="95" dirty="0">
                <a:latin typeface="Times New Roman"/>
                <a:cs typeface="Times New Roman"/>
              </a:rPr>
              <a:t>using</a:t>
            </a:r>
            <a:r>
              <a:rPr sz="2550" b="1" dirty="0">
                <a:latin typeface="Times New Roman"/>
                <a:cs typeface="Times New Roman"/>
              </a:rPr>
              <a:t> </a:t>
            </a:r>
            <a:r>
              <a:rPr sz="2550" b="1" spc="110" dirty="0">
                <a:latin typeface="Times New Roman"/>
                <a:cs typeface="Times New Roman"/>
              </a:rPr>
              <a:t>the</a:t>
            </a:r>
            <a:r>
              <a:rPr sz="2550" b="1" dirty="0">
                <a:latin typeface="Times New Roman"/>
                <a:cs typeface="Times New Roman"/>
              </a:rPr>
              <a:t> </a:t>
            </a:r>
            <a:r>
              <a:rPr sz="2550" b="1" spc="175" dirty="0">
                <a:latin typeface="Times New Roman"/>
                <a:cs typeface="Times New Roman"/>
              </a:rPr>
              <a:t>command </a:t>
            </a:r>
            <a:r>
              <a:rPr sz="2550" b="1" spc="80" dirty="0">
                <a:solidFill>
                  <a:srgbClr val="E7181F"/>
                </a:solidFill>
                <a:latin typeface="Times New Roman"/>
                <a:cs typeface="Times New Roman"/>
              </a:rPr>
              <a:t>docker</a:t>
            </a:r>
            <a:r>
              <a:rPr sz="2550" b="1" spc="-5" dirty="0">
                <a:solidFill>
                  <a:srgbClr val="E7181F"/>
                </a:solidFill>
                <a:latin typeface="Times New Roman"/>
                <a:cs typeface="Times New Roman"/>
              </a:rPr>
              <a:t> </a:t>
            </a:r>
            <a:r>
              <a:rPr sz="2550" b="1" spc="135" dirty="0">
                <a:solidFill>
                  <a:srgbClr val="E7181F"/>
                </a:solidFill>
                <a:latin typeface="Times New Roman"/>
                <a:cs typeface="Times New Roman"/>
              </a:rPr>
              <a:t>exec</a:t>
            </a:r>
            <a:r>
              <a:rPr sz="2550" b="1" spc="-5" dirty="0">
                <a:solidFill>
                  <a:srgbClr val="E7181F"/>
                </a:solidFill>
                <a:latin typeface="Times New Roman"/>
                <a:cs typeface="Times New Roman"/>
              </a:rPr>
              <a:t> </a:t>
            </a:r>
            <a:r>
              <a:rPr sz="2550" b="1" spc="335" dirty="0">
                <a:solidFill>
                  <a:srgbClr val="E7181F"/>
                </a:solidFill>
                <a:latin typeface="Times New Roman"/>
                <a:cs typeface="Times New Roman"/>
              </a:rPr>
              <a:t>-</a:t>
            </a:r>
            <a:r>
              <a:rPr sz="2550" b="1" dirty="0">
                <a:solidFill>
                  <a:srgbClr val="E7181F"/>
                </a:solidFill>
                <a:latin typeface="Times New Roman"/>
                <a:cs typeface="Times New Roman"/>
              </a:rPr>
              <a:t>it</a:t>
            </a:r>
            <a:r>
              <a:rPr sz="2550" b="1" spc="-5" dirty="0">
                <a:solidFill>
                  <a:srgbClr val="E7181F"/>
                </a:solidFill>
                <a:latin typeface="Times New Roman"/>
                <a:cs typeface="Times New Roman"/>
              </a:rPr>
              <a:t> </a:t>
            </a:r>
            <a:r>
              <a:rPr sz="2550" b="1" spc="200" dirty="0">
                <a:solidFill>
                  <a:srgbClr val="E7181F"/>
                </a:solidFill>
                <a:latin typeface="Times New Roman"/>
                <a:cs typeface="Times New Roman"/>
              </a:rPr>
              <a:t>pod-</a:t>
            </a:r>
            <a:r>
              <a:rPr sz="2550" b="1" spc="-270" dirty="0">
                <a:solidFill>
                  <a:srgbClr val="E7181F"/>
                </a:solidFill>
                <a:latin typeface="Times New Roman"/>
                <a:cs typeface="Times New Roman"/>
              </a:rPr>
              <a:t>1</a:t>
            </a:r>
            <a:r>
              <a:rPr sz="2550" b="1" spc="-5" dirty="0">
                <a:solidFill>
                  <a:srgbClr val="E7181F"/>
                </a:solidFill>
                <a:latin typeface="Times New Roman"/>
                <a:cs typeface="Times New Roman"/>
              </a:rPr>
              <a:t> </a:t>
            </a:r>
            <a:r>
              <a:rPr sz="2550" b="1" spc="335" dirty="0">
                <a:solidFill>
                  <a:srgbClr val="E7181F"/>
                </a:solidFill>
                <a:latin typeface="Times New Roman"/>
                <a:cs typeface="Times New Roman"/>
              </a:rPr>
              <a:t>-</a:t>
            </a:r>
            <a:r>
              <a:rPr sz="2550" b="1" spc="125" dirty="0">
                <a:solidFill>
                  <a:srgbClr val="E7181F"/>
                </a:solidFill>
                <a:latin typeface="Times New Roman"/>
                <a:cs typeface="Times New Roman"/>
              </a:rPr>
              <a:t>c</a:t>
            </a:r>
            <a:r>
              <a:rPr sz="2550" b="1" spc="-5" dirty="0">
                <a:solidFill>
                  <a:srgbClr val="E7181F"/>
                </a:solidFill>
                <a:latin typeface="Times New Roman"/>
                <a:cs typeface="Times New Roman"/>
              </a:rPr>
              <a:t> </a:t>
            </a:r>
            <a:r>
              <a:rPr sz="2550" b="1" spc="60" dirty="0">
                <a:solidFill>
                  <a:srgbClr val="E7181F"/>
                </a:solidFill>
                <a:latin typeface="Times New Roman"/>
                <a:cs typeface="Times New Roman"/>
              </a:rPr>
              <a:t>container1</a:t>
            </a:r>
            <a:r>
              <a:rPr sz="2550" b="1" spc="-5" dirty="0">
                <a:solidFill>
                  <a:srgbClr val="E7181F"/>
                </a:solidFill>
                <a:latin typeface="Times New Roman"/>
                <a:cs typeface="Times New Roman"/>
              </a:rPr>
              <a:t> </a:t>
            </a:r>
            <a:r>
              <a:rPr sz="2550" b="1" spc="190" dirty="0">
                <a:solidFill>
                  <a:srgbClr val="E7181F"/>
                </a:solidFill>
                <a:latin typeface="Times New Roman"/>
                <a:cs typeface="Times New Roman"/>
              </a:rPr>
              <a:t>/bin/bash</a:t>
            </a:r>
            <a:endParaRPr sz="2550" dirty="0">
              <a:latin typeface="Times New Roman"/>
              <a:cs typeface="Times New Roman"/>
            </a:endParaRPr>
          </a:p>
          <a:p>
            <a:pPr marL="12700" marR="5080">
              <a:lnSpc>
                <a:spcPct val="115199"/>
              </a:lnSpc>
            </a:pPr>
            <a:r>
              <a:rPr sz="2550" b="1" spc="55" dirty="0">
                <a:latin typeface="Times New Roman"/>
                <a:cs typeface="Times New Roman"/>
              </a:rPr>
              <a:t>file</a:t>
            </a:r>
            <a:r>
              <a:rPr sz="2550" b="1" spc="-20" dirty="0">
                <a:latin typeface="Times New Roman"/>
                <a:cs typeface="Times New Roman"/>
              </a:rPr>
              <a:t> </a:t>
            </a:r>
            <a:r>
              <a:rPr sz="2550" b="1" spc="130" dirty="0">
                <a:latin typeface="Times New Roman"/>
                <a:cs typeface="Times New Roman"/>
              </a:rPr>
              <a:t>will</a:t>
            </a:r>
            <a:r>
              <a:rPr sz="2550" b="1" spc="-15" dirty="0">
                <a:latin typeface="Times New Roman"/>
                <a:cs typeface="Times New Roman"/>
              </a:rPr>
              <a:t> </a:t>
            </a:r>
            <a:r>
              <a:rPr sz="2550" b="1" spc="50" dirty="0">
                <a:latin typeface="Times New Roman"/>
                <a:cs typeface="Times New Roman"/>
              </a:rPr>
              <a:t>gets</a:t>
            </a:r>
            <a:r>
              <a:rPr sz="2550" b="1" spc="-20" dirty="0">
                <a:latin typeface="Times New Roman"/>
                <a:cs typeface="Times New Roman"/>
              </a:rPr>
              <a:t> </a:t>
            </a:r>
            <a:r>
              <a:rPr sz="2550" b="1" spc="70" dirty="0">
                <a:latin typeface="Times New Roman"/>
                <a:cs typeface="Times New Roman"/>
              </a:rPr>
              <a:t>created.</a:t>
            </a:r>
            <a:r>
              <a:rPr sz="2550" b="1" spc="-15" dirty="0">
                <a:latin typeface="Times New Roman"/>
                <a:cs typeface="Times New Roman"/>
              </a:rPr>
              <a:t> </a:t>
            </a:r>
            <a:r>
              <a:rPr sz="2550" b="1" spc="225" dirty="0">
                <a:latin typeface="Times New Roman"/>
                <a:cs typeface="Times New Roman"/>
              </a:rPr>
              <a:t>Now</a:t>
            </a:r>
            <a:r>
              <a:rPr sz="2550" b="1" spc="-20" dirty="0">
                <a:latin typeface="Times New Roman"/>
                <a:cs typeface="Times New Roman"/>
              </a:rPr>
              <a:t> </a:t>
            </a:r>
            <a:r>
              <a:rPr sz="2550" b="1" spc="165" dirty="0">
                <a:latin typeface="Times New Roman"/>
                <a:cs typeface="Times New Roman"/>
              </a:rPr>
              <a:t>even</a:t>
            </a:r>
            <a:r>
              <a:rPr sz="2550" b="1" spc="-15" dirty="0">
                <a:latin typeface="Times New Roman"/>
                <a:cs typeface="Times New Roman"/>
              </a:rPr>
              <a:t> </a:t>
            </a:r>
            <a:r>
              <a:rPr sz="2550" b="1" dirty="0">
                <a:latin typeface="Times New Roman"/>
                <a:cs typeface="Times New Roman"/>
              </a:rPr>
              <a:t>if</a:t>
            </a:r>
            <a:r>
              <a:rPr sz="2550" b="1" spc="-20" dirty="0">
                <a:latin typeface="Times New Roman"/>
                <a:cs typeface="Times New Roman"/>
              </a:rPr>
              <a:t> </a:t>
            </a:r>
            <a:r>
              <a:rPr sz="2550" b="1" spc="160" dirty="0">
                <a:latin typeface="Times New Roman"/>
                <a:cs typeface="Times New Roman"/>
              </a:rPr>
              <a:t>you</a:t>
            </a:r>
            <a:r>
              <a:rPr sz="2550" b="1" spc="-15" dirty="0">
                <a:latin typeface="Times New Roman"/>
                <a:cs typeface="Times New Roman"/>
              </a:rPr>
              <a:t> </a:t>
            </a:r>
            <a:r>
              <a:rPr sz="2550" b="1" spc="105" dirty="0">
                <a:latin typeface="Times New Roman"/>
                <a:cs typeface="Times New Roman"/>
              </a:rPr>
              <a:t>delete</a:t>
            </a:r>
            <a:r>
              <a:rPr sz="2550" b="1" spc="-20" dirty="0">
                <a:latin typeface="Times New Roman"/>
                <a:cs typeface="Times New Roman"/>
              </a:rPr>
              <a:t> </a:t>
            </a:r>
            <a:r>
              <a:rPr sz="2550" b="1" spc="110" dirty="0">
                <a:latin typeface="Times New Roman"/>
                <a:cs typeface="Times New Roman"/>
              </a:rPr>
              <a:t>the</a:t>
            </a:r>
            <a:r>
              <a:rPr sz="2550" b="1" spc="-15" dirty="0">
                <a:latin typeface="Times New Roman"/>
                <a:cs typeface="Times New Roman"/>
              </a:rPr>
              <a:t> </a:t>
            </a:r>
            <a:r>
              <a:rPr sz="2550" b="1" spc="160" dirty="0">
                <a:latin typeface="Times New Roman"/>
                <a:cs typeface="Times New Roman"/>
              </a:rPr>
              <a:t>pod</a:t>
            </a:r>
            <a:r>
              <a:rPr sz="2550" b="1" spc="-15" dirty="0">
                <a:latin typeface="Times New Roman"/>
                <a:cs typeface="Times New Roman"/>
              </a:rPr>
              <a:t> </a:t>
            </a:r>
            <a:r>
              <a:rPr sz="2550" b="1" spc="130" dirty="0">
                <a:latin typeface="Times New Roman"/>
                <a:cs typeface="Times New Roman"/>
              </a:rPr>
              <a:t>then</a:t>
            </a:r>
            <a:r>
              <a:rPr sz="2550" b="1" spc="-20" dirty="0">
                <a:latin typeface="Times New Roman"/>
                <a:cs typeface="Times New Roman"/>
              </a:rPr>
              <a:t> </a:t>
            </a:r>
            <a:r>
              <a:rPr sz="2550" b="1" spc="95" dirty="0">
                <a:latin typeface="Times New Roman"/>
                <a:cs typeface="Times New Roman"/>
              </a:rPr>
              <a:t>another</a:t>
            </a:r>
            <a:r>
              <a:rPr sz="2550" b="1" spc="-15" dirty="0">
                <a:latin typeface="Times New Roman"/>
                <a:cs typeface="Times New Roman"/>
              </a:rPr>
              <a:t> </a:t>
            </a:r>
            <a:r>
              <a:rPr sz="2550" b="1" spc="140" dirty="0">
                <a:latin typeface="Times New Roman"/>
                <a:cs typeface="Times New Roman"/>
              </a:rPr>
              <a:t>pods</a:t>
            </a:r>
            <a:r>
              <a:rPr sz="2550" b="1" spc="-20" dirty="0">
                <a:latin typeface="Times New Roman"/>
                <a:cs typeface="Times New Roman"/>
              </a:rPr>
              <a:t> </a:t>
            </a:r>
            <a:r>
              <a:rPr sz="2550" b="1" spc="130" dirty="0">
                <a:latin typeface="Times New Roman"/>
                <a:cs typeface="Times New Roman"/>
              </a:rPr>
              <a:t>will</a:t>
            </a:r>
            <a:r>
              <a:rPr sz="2550" b="1" spc="-15" dirty="0">
                <a:latin typeface="Times New Roman"/>
                <a:cs typeface="Times New Roman"/>
              </a:rPr>
              <a:t> </a:t>
            </a:r>
            <a:r>
              <a:rPr sz="2550" b="1" spc="50" dirty="0">
                <a:latin typeface="Times New Roman"/>
                <a:cs typeface="Times New Roman"/>
              </a:rPr>
              <a:t>gets</a:t>
            </a:r>
            <a:r>
              <a:rPr sz="2550" b="1" spc="-20" dirty="0">
                <a:latin typeface="Times New Roman"/>
                <a:cs typeface="Times New Roman"/>
              </a:rPr>
              <a:t> </a:t>
            </a:r>
            <a:r>
              <a:rPr sz="2550" b="1" spc="80" dirty="0">
                <a:latin typeface="Times New Roman"/>
                <a:cs typeface="Times New Roman"/>
              </a:rPr>
              <a:t>created</a:t>
            </a:r>
            <a:r>
              <a:rPr sz="2550" b="1" spc="-15" dirty="0">
                <a:latin typeface="Times New Roman"/>
                <a:cs typeface="Times New Roman"/>
              </a:rPr>
              <a:t> </a:t>
            </a:r>
            <a:r>
              <a:rPr sz="2550" b="1" spc="155" dirty="0">
                <a:latin typeface="Times New Roman"/>
                <a:cs typeface="Times New Roman"/>
              </a:rPr>
              <a:t>with</a:t>
            </a:r>
            <a:r>
              <a:rPr sz="2550" b="1" spc="-20" dirty="0">
                <a:latin typeface="Times New Roman"/>
                <a:cs typeface="Times New Roman"/>
              </a:rPr>
              <a:t> </a:t>
            </a:r>
            <a:r>
              <a:rPr sz="2550" b="1" spc="145" dirty="0">
                <a:latin typeface="Times New Roman"/>
                <a:cs typeface="Times New Roman"/>
              </a:rPr>
              <a:t>same</a:t>
            </a:r>
            <a:r>
              <a:rPr sz="2550" b="1" spc="-15" dirty="0">
                <a:latin typeface="Times New Roman"/>
                <a:cs typeface="Times New Roman"/>
              </a:rPr>
              <a:t> </a:t>
            </a:r>
            <a:r>
              <a:rPr sz="2550" b="1" spc="-20" dirty="0">
                <a:latin typeface="Times New Roman"/>
                <a:cs typeface="Times New Roman"/>
              </a:rPr>
              <a:t>data. </a:t>
            </a:r>
            <a:r>
              <a:rPr sz="2550" b="1" spc="80" dirty="0">
                <a:latin typeface="Times New Roman"/>
                <a:cs typeface="Times New Roman"/>
              </a:rPr>
              <a:t>Because</a:t>
            </a:r>
            <a:r>
              <a:rPr sz="2550" b="1" spc="5" dirty="0">
                <a:latin typeface="Times New Roman"/>
                <a:cs typeface="Times New Roman"/>
              </a:rPr>
              <a:t> </a:t>
            </a:r>
            <a:r>
              <a:rPr sz="2550" b="1" spc="260" dirty="0">
                <a:latin typeface="Times New Roman"/>
                <a:cs typeface="Times New Roman"/>
              </a:rPr>
              <a:t>we</a:t>
            </a:r>
            <a:r>
              <a:rPr sz="2550" b="1" spc="10" dirty="0">
                <a:latin typeface="Times New Roman"/>
                <a:cs typeface="Times New Roman"/>
              </a:rPr>
              <a:t> </a:t>
            </a:r>
            <a:r>
              <a:rPr sz="2550" b="1" spc="50" dirty="0">
                <a:latin typeface="Times New Roman"/>
                <a:cs typeface="Times New Roman"/>
              </a:rPr>
              <a:t>are</a:t>
            </a:r>
            <a:r>
              <a:rPr sz="2550" b="1" spc="10" dirty="0">
                <a:latin typeface="Times New Roman"/>
                <a:cs typeface="Times New Roman"/>
              </a:rPr>
              <a:t> </a:t>
            </a:r>
            <a:r>
              <a:rPr sz="2550" b="1" spc="95" dirty="0">
                <a:latin typeface="Times New Roman"/>
                <a:cs typeface="Times New Roman"/>
              </a:rPr>
              <a:t>using</a:t>
            </a:r>
            <a:r>
              <a:rPr sz="2550" b="1" spc="10" dirty="0">
                <a:latin typeface="Times New Roman"/>
                <a:cs typeface="Times New Roman"/>
              </a:rPr>
              <a:t> </a:t>
            </a:r>
            <a:r>
              <a:rPr sz="2550" b="1" dirty="0">
                <a:latin typeface="Times New Roman"/>
                <a:cs typeface="Times New Roman"/>
              </a:rPr>
              <a:t>HostPath</a:t>
            </a:r>
            <a:r>
              <a:rPr sz="2550" b="1" spc="10" dirty="0">
                <a:latin typeface="Times New Roman"/>
                <a:cs typeface="Times New Roman"/>
              </a:rPr>
              <a:t> </a:t>
            </a:r>
            <a:r>
              <a:rPr sz="2550" b="1" spc="180" dirty="0">
                <a:latin typeface="Times New Roman"/>
                <a:cs typeface="Times New Roman"/>
              </a:rPr>
              <a:t>which</a:t>
            </a:r>
            <a:r>
              <a:rPr sz="2550" b="1" spc="10" dirty="0">
                <a:latin typeface="Times New Roman"/>
                <a:cs typeface="Times New Roman"/>
              </a:rPr>
              <a:t> </a:t>
            </a:r>
            <a:r>
              <a:rPr sz="2550" b="1" spc="70" dirty="0">
                <a:latin typeface="Times New Roman"/>
                <a:cs typeface="Times New Roman"/>
              </a:rPr>
              <a:t>creates</a:t>
            </a:r>
            <a:r>
              <a:rPr sz="2550" b="1" spc="10" dirty="0">
                <a:latin typeface="Times New Roman"/>
                <a:cs typeface="Times New Roman"/>
              </a:rPr>
              <a:t> </a:t>
            </a:r>
            <a:r>
              <a:rPr sz="2550" b="1" spc="75" dirty="0">
                <a:latin typeface="Times New Roman"/>
                <a:cs typeface="Times New Roman"/>
              </a:rPr>
              <a:t>local</a:t>
            </a:r>
            <a:r>
              <a:rPr sz="2550" b="1" spc="5" dirty="0">
                <a:latin typeface="Times New Roman"/>
                <a:cs typeface="Times New Roman"/>
              </a:rPr>
              <a:t> </a:t>
            </a:r>
            <a:r>
              <a:rPr sz="2550" b="1" spc="160" dirty="0">
                <a:latin typeface="Times New Roman"/>
                <a:cs typeface="Times New Roman"/>
              </a:rPr>
              <a:t>volume</a:t>
            </a:r>
            <a:r>
              <a:rPr sz="2550" b="1" spc="10" dirty="0">
                <a:latin typeface="Times New Roman"/>
                <a:cs typeface="Times New Roman"/>
              </a:rPr>
              <a:t> </a:t>
            </a:r>
            <a:r>
              <a:rPr sz="2550" b="1" spc="135" dirty="0">
                <a:latin typeface="Times New Roman"/>
                <a:cs typeface="Times New Roman"/>
              </a:rPr>
              <a:t>in</a:t>
            </a:r>
            <a:r>
              <a:rPr sz="2550" b="1" spc="10" dirty="0">
                <a:latin typeface="Times New Roman"/>
                <a:cs typeface="Times New Roman"/>
              </a:rPr>
              <a:t> </a:t>
            </a:r>
            <a:r>
              <a:rPr sz="2550" b="1" spc="95" dirty="0">
                <a:latin typeface="Times New Roman"/>
                <a:cs typeface="Times New Roman"/>
              </a:rPr>
              <a:t>our</a:t>
            </a:r>
            <a:r>
              <a:rPr sz="2550" b="1" spc="10" dirty="0">
                <a:latin typeface="Times New Roman"/>
                <a:cs typeface="Times New Roman"/>
              </a:rPr>
              <a:t> </a:t>
            </a:r>
            <a:r>
              <a:rPr sz="2550" b="1" spc="105" dirty="0">
                <a:latin typeface="Times New Roman"/>
                <a:cs typeface="Times New Roman"/>
              </a:rPr>
              <a:t>host</a:t>
            </a:r>
            <a:r>
              <a:rPr sz="2550" b="1" spc="10" dirty="0">
                <a:latin typeface="Times New Roman"/>
                <a:cs typeface="Times New Roman"/>
              </a:rPr>
              <a:t> </a:t>
            </a:r>
            <a:r>
              <a:rPr sz="2550" b="1" spc="114" dirty="0">
                <a:latin typeface="Times New Roman"/>
                <a:cs typeface="Times New Roman"/>
              </a:rPr>
              <a:t>machine.</a:t>
            </a:r>
            <a:endParaRPr sz="2550" dirty="0">
              <a:latin typeface="Times New Roman"/>
              <a:cs typeface="Times New Roman"/>
            </a:endParaRPr>
          </a:p>
        </p:txBody>
      </p:sp>
      <p:sp>
        <p:nvSpPr>
          <p:cNvPr id="6" name="TextBox 5">
            <a:extLst>
              <a:ext uri="{FF2B5EF4-FFF2-40B4-BE49-F238E27FC236}">
                <a16:creationId xmlns:a16="http://schemas.microsoft.com/office/drawing/2014/main" id="{36C08CF2-B9E9-AA20-18BF-B4C444EBC00D}"/>
              </a:ext>
            </a:extLst>
          </p:cNvPr>
          <p:cNvSpPr txBox="1"/>
          <p:nvPr/>
        </p:nvSpPr>
        <p:spPr>
          <a:xfrm>
            <a:off x="990600" y="571500"/>
            <a:ext cx="15163800" cy="4801314"/>
          </a:xfrm>
          <a:prstGeom prst="rect">
            <a:avLst/>
          </a:prstGeom>
          <a:noFill/>
        </p:spPr>
        <p:txBody>
          <a:bodyPr wrap="square">
            <a:spAutoFit/>
          </a:bodyPr>
          <a:lstStyle/>
          <a:p>
            <a:r>
              <a:rPr lang="en-IN" dirty="0" err="1"/>
              <a:t>apiVersion</a:t>
            </a:r>
            <a:r>
              <a:rPr lang="en-IN" dirty="0"/>
              <a:t>: v1</a:t>
            </a:r>
          </a:p>
          <a:p>
            <a:r>
              <a:rPr lang="en-IN" dirty="0"/>
              <a:t>kind: Pod</a:t>
            </a:r>
          </a:p>
          <a:p>
            <a:r>
              <a:rPr lang="en-IN" dirty="0"/>
              <a:t>metadata:</a:t>
            </a:r>
          </a:p>
          <a:p>
            <a:r>
              <a:rPr lang="en-IN" dirty="0"/>
              <a:t>  name: </a:t>
            </a:r>
            <a:r>
              <a:rPr lang="en-IN" dirty="0" err="1"/>
              <a:t>hostpath</a:t>
            </a:r>
            <a:endParaRPr lang="en-IN" dirty="0"/>
          </a:p>
          <a:p>
            <a:r>
              <a:rPr lang="en-IN" dirty="0"/>
              <a:t>spec:</a:t>
            </a:r>
          </a:p>
          <a:p>
            <a:r>
              <a:rPr lang="en-IN" dirty="0"/>
              <a:t>  containers:</a:t>
            </a:r>
          </a:p>
          <a:p>
            <a:r>
              <a:rPr lang="en-IN" dirty="0"/>
              <a:t>  - name: container1</a:t>
            </a:r>
          </a:p>
          <a:p>
            <a:r>
              <a:rPr lang="en-IN" dirty="0"/>
              <a:t>    image: ubuntu</a:t>
            </a:r>
          </a:p>
          <a:p>
            <a:r>
              <a:rPr lang="en-IN" dirty="0"/>
              <a:t>    command: ["/bin/bash", "-c", "while true; do echo This is </a:t>
            </a:r>
            <a:r>
              <a:rPr lang="en-IN" dirty="0" err="1"/>
              <a:t>Kubernets</a:t>
            </a:r>
            <a:r>
              <a:rPr lang="en-IN" dirty="0"/>
              <a:t> class; sleep 5 ; done"]</a:t>
            </a:r>
          </a:p>
          <a:p>
            <a:r>
              <a:rPr lang="en-IN" dirty="0"/>
              <a:t>    </a:t>
            </a:r>
            <a:r>
              <a:rPr lang="en-IN" dirty="0" err="1"/>
              <a:t>volumeMounts</a:t>
            </a:r>
            <a:r>
              <a:rPr lang="en-IN" dirty="0"/>
              <a:t>:</a:t>
            </a:r>
          </a:p>
          <a:p>
            <a:r>
              <a:rPr lang="en-IN" dirty="0"/>
              <a:t>    - </a:t>
            </a:r>
            <a:r>
              <a:rPr lang="en-IN" dirty="0" err="1"/>
              <a:t>mountPath</a:t>
            </a:r>
            <a:r>
              <a:rPr lang="en-IN" dirty="0"/>
              <a:t>: "/</a:t>
            </a:r>
            <a:r>
              <a:rPr lang="en-IN" dirty="0" err="1"/>
              <a:t>tmp</a:t>
            </a:r>
            <a:r>
              <a:rPr lang="en-IN" dirty="0"/>
              <a:t>/</a:t>
            </a:r>
            <a:r>
              <a:rPr lang="en-IN" dirty="0" err="1"/>
              <a:t>cont</a:t>
            </a:r>
            <a:r>
              <a:rPr lang="en-IN" dirty="0"/>
              <a:t>"</a:t>
            </a:r>
          </a:p>
          <a:p>
            <a:r>
              <a:rPr lang="en-IN" dirty="0"/>
              <a:t>      name: hp-</a:t>
            </a:r>
            <a:r>
              <a:rPr lang="en-IN" dirty="0" err="1"/>
              <a:t>vm</a:t>
            </a:r>
            <a:endParaRPr lang="en-IN" dirty="0"/>
          </a:p>
          <a:p>
            <a:endParaRPr lang="en-IN" dirty="0"/>
          </a:p>
          <a:p>
            <a:r>
              <a:rPr lang="en-IN" dirty="0"/>
              <a:t>  volumes:</a:t>
            </a:r>
          </a:p>
          <a:p>
            <a:r>
              <a:rPr lang="en-IN" dirty="0"/>
              <a:t>  - name: hp-</a:t>
            </a:r>
            <a:r>
              <a:rPr lang="en-IN" dirty="0" err="1"/>
              <a:t>vm</a:t>
            </a:r>
            <a:endParaRPr lang="en-IN" dirty="0"/>
          </a:p>
          <a:p>
            <a:r>
              <a:rPr lang="en-IN" dirty="0"/>
              <a:t>    </a:t>
            </a:r>
            <a:r>
              <a:rPr lang="en-IN" dirty="0" err="1"/>
              <a:t>hostPath</a:t>
            </a:r>
            <a:r>
              <a:rPr lang="en-IN" dirty="0"/>
              <a:t>:</a:t>
            </a:r>
          </a:p>
          <a:p>
            <a:r>
              <a:rPr lang="en-IN" dirty="0"/>
              <a:t>      path: /</a:t>
            </a:r>
            <a:r>
              <a:rPr lang="en-IN" dirty="0" err="1"/>
              <a:t>tmp</a:t>
            </a:r>
            <a:r>
              <a:rPr lang="en-IN" dirty="0"/>
              <a:t>/data</a:t>
            </a:r>
          </a:p>
        </p:txBody>
      </p:sp>
    </p:spTree>
    <p:extLst>
      <p:ext uri="{BB962C8B-B14F-4D97-AF65-F5344CB8AC3E}">
        <p14:creationId xmlns:p14="http://schemas.microsoft.com/office/powerpoint/2010/main" val="142619832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551310" y="894899"/>
            <a:ext cx="15217775" cy="4561840"/>
            <a:chOff x="1551310" y="894899"/>
            <a:chExt cx="15217775" cy="4561840"/>
          </a:xfrm>
        </p:grpSpPr>
        <p:sp>
          <p:nvSpPr>
            <p:cNvPr id="3" name="object 3"/>
            <p:cNvSpPr/>
            <p:nvPr/>
          </p:nvSpPr>
          <p:spPr>
            <a:xfrm>
              <a:off x="1551310" y="894899"/>
              <a:ext cx="15217775" cy="4561840"/>
            </a:xfrm>
            <a:custGeom>
              <a:avLst/>
              <a:gdLst/>
              <a:ahLst/>
              <a:cxnLst/>
              <a:rect l="l" t="t" r="r" b="b"/>
              <a:pathLst>
                <a:path w="15217775" h="4561840">
                  <a:moveTo>
                    <a:pt x="15217468" y="4561676"/>
                  </a:moveTo>
                  <a:lnTo>
                    <a:pt x="0" y="4561676"/>
                  </a:lnTo>
                  <a:lnTo>
                    <a:pt x="0" y="0"/>
                  </a:lnTo>
                  <a:lnTo>
                    <a:pt x="15217468" y="0"/>
                  </a:lnTo>
                  <a:lnTo>
                    <a:pt x="15217468" y="4561676"/>
                  </a:lnTo>
                  <a:close/>
                </a:path>
              </a:pathLst>
            </a:custGeom>
            <a:solidFill>
              <a:srgbClr val="D5EFF1"/>
            </a:solidFill>
          </p:spPr>
          <p:txBody>
            <a:bodyPr wrap="square" lIns="0" tIns="0" rIns="0" bIns="0" rtlCol="0"/>
            <a:lstStyle/>
            <a:p>
              <a:endParaRPr/>
            </a:p>
          </p:txBody>
        </p:sp>
        <p:sp>
          <p:nvSpPr>
            <p:cNvPr id="4" name="object 4"/>
            <p:cNvSpPr/>
            <p:nvPr/>
          </p:nvSpPr>
          <p:spPr>
            <a:xfrm>
              <a:off x="5009058" y="1945956"/>
              <a:ext cx="8481060" cy="2211070"/>
            </a:xfrm>
            <a:custGeom>
              <a:avLst/>
              <a:gdLst/>
              <a:ahLst/>
              <a:cxnLst/>
              <a:rect l="l" t="t" r="r" b="b"/>
              <a:pathLst>
                <a:path w="8481060" h="2211070">
                  <a:moveTo>
                    <a:pt x="3007512" y="81686"/>
                  </a:moveTo>
                  <a:lnTo>
                    <a:pt x="0" y="81686"/>
                  </a:lnTo>
                  <a:lnTo>
                    <a:pt x="0" y="2210511"/>
                  </a:lnTo>
                  <a:lnTo>
                    <a:pt x="3007512" y="2210511"/>
                  </a:lnTo>
                  <a:lnTo>
                    <a:pt x="3007512" y="81686"/>
                  </a:lnTo>
                  <a:close/>
                </a:path>
                <a:path w="8481060" h="2211070">
                  <a:moveTo>
                    <a:pt x="8480806" y="0"/>
                  </a:moveTo>
                  <a:lnTo>
                    <a:pt x="5311826" y="0"/>
                  </a:lnTo>
                  <a:lnTo>
                    <a:pt x="5311826" y="2210511"/>
                  </a:lnTo>
                  <a:lnTo>
                    <a:pt x="8480806" y="2210511"/>
                  </a:lnTo>
                  <a:lnTo>
                    <a:pt x="8480806" y="0"/>
                  </a:lnTo>
                  <a:close/>
                </a:path>
              </a:pathLst>
            </a:custGeom>
            <a:solidFill>
              <a:srgbClr val="326BE4"/>
            </a:solidFill>
          </p:spPr>
          <p:txBody>
            <a:bodyPr wrap="square" lIns="0" tIns="0" rIns="0" bIns="0" rtlCol="0"/>
            <a:lstStyle/>
            <a:p>
              <a:endParaRPr/>
            </a:p>
          </p:txBody>
        </p:sp>
      </p:grpSp>
      <p:sp>
        <p:nvSpPr>
          <p:cNvPr id="5" name="object 5"/>
          <p:cNvSpPr/>
          <p:nvPr/>
        </p:nvSpPr>
        <p:spPr>
          <a:xfrm>
            <a:off x="7243784" y="6400362"/>
            <a:ext cx="3799204" cy="1797685"/>
          </a:xfrm>
          <a:custGeom>
            <a:avLst/>
            <a:gdLst/>
            <a:ahLst/>
            <a:cxnLst/>
            <a:rect l="l" t="t" r="r" b="b"/>
            <a:pathLst>
              <a:path w="3799204" h="1797684">
                <a:moveTo>
                  <a:pt x="3798894" y="1797628"/>
                </a:moveTo>
                <a:lnTo>
                  <a:pt x="0" y="1797628"/>
                </a:lnTo>
                <a:lnTo>
                  <a:pt x="0" y="0"/>
                </a:lnTo>
                <a:lnTo>
                  <a:pt x="3798894" y="0"/>
                </a:lnTo>
                <a:lnTo>
                  <a:pt x="3798894" y="1797628"/>
                </a:lnTo>
                <a:close/>
              </a:path>
            </a:pathLst>
          </a:custGeom>
          <a:solidFill>
            <a:srgbClr val="FFDE58"/>
          </a:solidFill>
        </p:spPr>
        <p:txBody>
          <a:bodyPr wrap="square" lIns="0" tIns="0" rIns="0" bIns="0" rtlCol="0"/>
          <a:lstStyle/>
          <a:p>
            <a:endParaRPr/>
          </a:p>
        </p:txBody>
      </p:sp>
      <p:sp>
        <p:nvSpPr>
          <p:cNvPr id="6" name="object 6"/>
          <p:cNvSpPr txBox="1">
            <a:spLocks noGrp="1"/>
          </p:cNvSpPr>
          <p:nvPr>
            <p:ph type="title"/>
          </p:nvPr>
        </p:nvSpPr>
        <p:spPr>
          <a:xfrm>
            <a:off x="2135111" y="1176796"/>
            <a:ext cx="1346835" cy="787400"/>
          </a:xfrm>
          <a:prstGeom prst="rect">
            <a:avLst/>
          </a:prstGeom>
        </p:spPr>
        <p:txBody>
          <a:bodyPr vert="horz" wrap="square" lIns="0" tIns="12700" rIns="0" bIns="0" rtlCol="0">
            <a:spAutoFit/>
          </a:bodyPr>
          <a:lstStyle/>
          <a:p>
            <a:pPr>
              <a:lnSpc>
                <a:spcPct val="100000"/>
              </a:lnSpc>
              <a:spcBef>
                <a:spcPts val="100"/>
              </a:spcBef>
            </a:pPr>
            <a:r>
              <a:rPr spc="85" dirty="0">
                <a:solidFill>
                  <a:srgbClr val="2E377E"/>
                </a:solidFill>
              </a:rPr>
              <a:t>Host</a:t>
            </a:r>
          </a:p>
        </p:txBody>
      </p:sp>
      <p:sp>
        <p:nvSpPr>
          <p:cNvPr id="7" name="object 7"/>
          <p:cNvSpPr txBox="1"/>
          <p:nvPr/>
        </p:nvSpPr>
        <p:spPr>
          <a:xfrm>
            <a:off x="5677556" y="2620627"/>
            <a:ext cx="1683385" cy="787400"/>
          </a:xfrm>
          <a:prstGeom prst="rect">
            <a:avLst/>
          </a:prstGeom>
        </p:spPr>
        <p:txBody>
          <a:bodyPr vert="horz" wrap="square" lIns="0" tIns="12700" rIns="0" bIns="0" rtlCol="0">
            <a:spAutoFit/>
          </a:bodyPr>
          <a:lstStyle/>
          <a:p>
            <a:pPr>
              <a:lnSpc>
                <a:spcPct val="100000"/>
              </a:lnSpc>
              <a:spcBef>
                <a:spcPts val="100"/>
              </a:spcBef>
            </a:pPr>
            <a:r>
              <a:rPr sz="5000" b="1" spc="280" dirty="0">
                <a:solidFill>
                  <a:srgbClr val="FFFFFF"/>
                </a:solidFill>
                <a:latin typeface="Times New Roman"/>
                <a:cs typeface="Times New Roman"/>
              </a:rPr>
              <a:t>Pod-</a:t>
            </a:r>
            <a:r>
              <a:rPr sz="5000" b="1" spc="-575" dirty="0">
                <a:solidFill>
                  <a:srgbClr val="FFFFFF"/>
                </a:solidFill>
                <a:latin typeface="Times New Roman"/>
                <a:cs typeface="Times New Roman"/>
              </a:rPr>
              <a:t>1</a:t>
            </a:r>
            <a:endParaRPr sz="5000">
              <a:latin typeface="Times New Roman"/>
              <a:cs typeface="Times New Roman"/>
            </a:endParaRPr>
          </a:p>
        </p:txBody>
      </p:sp>
      <p:sp>
        <p:nvSpPr>
          <p:cNvPr id="8" name="object 8"/>
          <p:cNvSpPr txBox="1"/>
          <p:nvPr/>
        </p:nvSpPr>
        <p:spPr>
          <a:xfrm>
            <a:off x="10583109" y="2704314"/>
            <a:ext cx="2659380" cy="787400"/>
          </a:xfrm>
          <a:prstGeom prst="rect">
            <a:avLst/>
          </a:prstGeom>
        </p:spPr>
        <p:txBody>
          <a:bodyPr vert="horz" wrap="square" lIns="0" tIns="12700" rIns="0" bIns="0" rtlCol="0">
            <a:spAutoFit/>
          </a:bodyPr>
          <a:lstStyle/>
          <a:p>
            <a:pPr>
              <a:lnSpc>
                <a:spcPct val="100000"/>
              </a:lnSpc>
              <a:spcBef>
                <a:spcPts val="100"/>
              </a:spcBef>
            </a:pPr>
            <a:r>
              <a:rPr sz="5000" b="1" spc="430" dirty="0">
                <a:solidFill>
                  <a:srgbClr val="FFFFFF"/>
                </a:solidFill>
                <a:latin typeface="Times New Roman"/>
                <a:cs typeface="Times New Roman"/>
              </a:rPr>
              <a:t>New</a:t>
            </a:r>
            <a:r>
              <a:rPr sz="5000" b="1" spc="-55" dirty="0">
                <a:solidFill>
                  <a:srgbClr val="FFFFFF"/>
                </a:solidFill>
                <a:latin typeface="Times New Roman"/>
                <a:cs typeface="Times New Roman"/>
              </a:rPr>
              <a:t> </a:t>
            </a:r>
            <a:r>
              <a:rPr sz="5000" b="1" spc="130" dirty="0">
                <a:solidFill>
                  <a:srgbClr val="FFFFFF"/>
                </a:solidFill>
                <a:latin typeface="Times New Roman"/>
                <a:cs typeface="Times New Roman"/>
              </a:rPr>
              <a:t>Pod</a:t>
            </a:r>
            <a:endParaRPr sz="5000">
              <a:latin typeface="Times New Roman"/>
              <a:cs typeface="Times New Roman"/>
            </a:endParaRPr>
          </a:p>
        </p:txBody>
      </p:sp>
      <p:sp>
        <p:nvSpPr>
          <p:cNvPr id="9" name="object 9"/>
          <p:cNvSpPr txBox="1"/>
          <p:nvPr/>
        </p:nvSpPr>
        <p:spPr>
          <a:xfrm>
            <a:off x="8447643" y="6608520"/>
            <a:ext cx="1498600" cy="1191260"/>
          </a:xfrm>
          <a:prstGeom prst="rect">
            <a:avLst/>
          </a:prstGeom>
        </p:spPr>
        <p:txBody>
          <a:bodyPr vert="horz" wrap="square" lIns="0" tIns="12065" rIns="0" bIns="0" rtlCol="0">
            <a:spAutoFit/>
          </a:bodyPr>
          <a:lstStyle/>
          <a:p>
            <a:pPr marL="203200" marR="5080" indent="-191135">
              <a:lnSpc>
                <a:spcPct val="117600"/>
              </a:lnSpc>
              <a:spcBef>
                <a:spcPts val="95"/>
              </a:spcBef>
            </a:pPr>
            <a:r>
              <a:rPr sz="3250" b="1" spc="220" dirty="0">
                <a:solidFill>
                  <a:srgbClr val="FF3131"/>
                </a:solidFill>
                <a:latin typeface="Times New Roman"/>
                <a:cs typeface="Times New Roman"/>
              </a:rPr>
              <a:t>volume </a:t>
            </a:r>
            <a:r>
              <a:rPr sz="3250" b="1" spc="-10" dirty="0">
                <a:solidFill>
                  <a:srgbClr val="FF3131"/>
                </a:solidFill>
                <a:latin typeface="Times New Roman"/>
                <a:cs typeface="Times New Roman"/>
              </a:rPr>
              <a:t>(data)</a:t>
            </a:r>
            <a:endParaRPr sz="3250">
              <a:latin typeface="Times New Roman"/>
              <a:cs typeface="Times New Roman"/>
            </a:endParaRPr>
          </a:p>
        </p:txBody>
      </p:sp>
      <p:grpSp>
        <p:nvGrpSpPr>
          <p:cNvPr id="10" name="object 10"/>
          <p:cNvGrpSpPr/>
          <p:nvPr/>
        </p:nvGrpSpPr>
        <p:grpSpPr>
          <a:xfrm>
            <a:off x="8929612" y="5456493"/>
            <a:ext cx="457200" cy="1001394"/>
            <a:chOff x="8929612" y="5456493"/>
            <a:chExt cx="457200" cy="1001394"/>
          </a:xfrm>
        </p:grpSpPr>
        <p:sp>
          <p:nvSpPr>
            <p:cNvPr id="11" name="object 11"/>
            <p:cNvSpPr/>
            <p:nvPr/>
          </p:nvSpPr>
          <p:spPr>
            <a:xfrm>
              <a:off x="9143931" y="5513643"/>
              <a:ext cx="19685" cy="887094"/>
            </a:xfrm>
            <a:custGeom>
              <a:avLst/>
              <a:gdLst/>
              <a:ahLst/>
              <a:cxnLst/>
              <a:rect l="l" t="t" r="r" b="b"/>
              <a:pathLst>
                <a:path w="19684" h="887095">
                  <a:moveTo>
                    <a:pt x="0" y="886649"/>
                  </a:moveTo>
                  <a:lnTo>
                    <a:pt x="19185" y="0"/>
                  </a:lnTo>
                </a:path>
              </a:pathLst>
            </a:custGeom>
            <a:ln w="114299">
              <a:solidFill>
                <a:srgbClr val="000000"/>
              </a:solidFill>
            </a:ln>
          </p:spPr>
          <p:txBody>
            <a:bodyPr wrap="square" lIns="0" tIns="0" rIns="0" bIns="0" rtlCol="0"/>
            <a:lstStyle/>
            <a:p>
              <a:endParaRPr/>
            </a:p>
          </p:txBody>
        </p:sp>
        <p:sp>
          <p:nvSpPr>
            <p:cNvPr id="12" name="object 12"/>
            <p:cNvSpPr/>
            <p:nvPr/>
          </p:nvSpPr>
          <p:spPr>
            <a:xfrm>
              <a:off x="8986762" y="5513643"/>
              <a:ext cx="342900" cy="232410"/>
            </a:xfrm>
            <a:custGeom>
              <a:avLst/>
              <a:gdLst/>
              <a:ahLst/>
              <a:cxnLst/>
              <a:rect l="l" t="t" r="r" b="b"/>
              <a:pathLst>
                <a:path w="342900" h="232410">
                  <a:moveTo>
                    <a:pt x="0" y="224837"/>
                  </a:moveTo>
                  <a:lnTo>
                    <a:pt x="176355" y="0"/>
                  </a:lnTo>
                  <a:lnTo>
                    <a:pt x="342819" y="232255"/>
                  </a:lnTo>
                </a:path>
              </a:pathLst>
            </a:custGeom>
            <a:ln w="114299">
              <a:solidFill>
                <a:srgbClr val="000000"/>
              </a:solidFill>
            </a:ln>
          </p:spPr>
          <p:txBody>
            <a:bodyPr wrap="square" lIns="0" tIns="0" rIns="0" bIns="0" rtlCol="0"/>
            <a:lstStyle/>
            <a:p>
              <a:endParaRPr/>
            </a:p>
          </p:txBody>
        </p:sp>
      </p:grpSp>
      <p:sp>
        <p:nvSpPr>
          <p:cNvPr id="13" name="object 13"/>
          <p:cNvSpPr txBox="1"/>
          <p:nvPr/>
        </p:nvSpPr>
        <p:spPr>
          <a:xfrm>
            <a:off x="8629328" y="3336766"/>
            <a:ext cx="1156335" cy="527050"/>
          </a:xfrm>
          <a:prstGeom prst="rect">
            <a:avLst/>
          </a:prstGeom>
        </p:spPr>
        <p:txBody>
          <a:bodyPr vert="horz" wrap="square" lIns="0" tIns="17145" rIns="0" bIns="0" rtlCol="0">
            <a:spAutoFit/>
          </a:bodyPr>
          <a:lstStyle/>
          <a:p>
            <a:pPr>
              <a:lnSpc>
                <a:spcPct val="100000"/>
              </a:lnSpc>
              <a:spcBef>
                <a:spcPts val="135"/>
              </a:spcBef>
            </a:pPr>
            <a:r>
              <a:rPr sz="3250" b="1" spc="-45" dirty="0">
                <a:solidFill>
                  <a:srgbClr val="FF3131"/>
                </a:solidFill>
                <a:latin typeface="Times New Roman"/>
                <a:cs typeface="Times New Roman"/>
              </a:rPr>
              <a:t>DATA</a:t>
            </a:r>
            <a:endParaRPr sz="3250">
              <a:latin typeface="Times New Roman"/>
              <a:cs typeface="Times New Roman"/>
            </a:endParaRPr>
          </a:p>
        </p:txBody>
      </p:sp>
      <p:grpSp>
        <p:nvGrpSpPr>
          <p:cNvPr id="14" name="object 14"/>
          <p:cNvGrpSpPr/>
          <p:nvPr/>
        </p:nvGrpSpPr>
        <p:grpSpPr>
          <a:xfrm>
            <a:off x="4914587" y="1895398"/>
            <a:ext cx="5406390" cy="2766695"/>
            <a:chOff x="4914587" y="1895398"/>
            <a:chExt cx="5406390" cy="2766695"/>
          </a:xfrm>
        </p:grpSpPr>
        <p:sp>
          <p:nvSpPr>
            <p:cNvPr id="15" name="object 15"/>
            <p:cNvSpPr/>
            <p:nvPr/>
          </p:nvSpPr>
          <p:spPr>
            <a:xfrm>
              <a:off x="4914582" y="1895398"/>
              <a:ext cx="3077210" cy="2766695"/>
            </a:xfrm>
            <a:custGeom>
              <a:avLst/>
              <a:gdLst/>
              <a:ahLst/>
              <a:cxnLst/>
              <a:rect l="l" t="t" r="r" b="b"/>
              <a:pathLst>
                <a:path w="3077209" h="2766695">
                  <a:moveTo>
                    <a:pt x="3073870" y="2261451"/>
                  </a:moveTo>
                  <a:lnTo>
                    <a:pt x="3071723" y="2268944"/>
                  </a:lnTo>
                  <a:lnTo>
                    <a:pt x="3073362" y="2264511"/>
                  </a:lnTo>
                  <a:lnTo>
                    <a:pt x="3073870" y="2261451"/>
                  </a:lnTo>
                  <a:close/>
                </a:path>
                <a:path w="3077209" h="2766695">
                  <a:moveTo>
                    <a:pt x="3076841" y="2242591"/>
                  </a:moveTo>
                  <a:lnTo>
                    <a:pt x="3075927" y="2230831"/>
                  </a:lnTo>
                  <a:lnTo>
                    <a:pt x="3073882" y="2223579"/>
                  </a:lnTo>
                  <a:lnTo>
                    <a:pt x="3070212" y="2217737"/>
                  </a:lnTo>
                  <a:lnTo>
                    <a:pt x="3068891" y="2216327"/>
                  </a:lnTo>
                  <a:lnTo>
                    <a:pt x="3065094" y="2211070"/>
                  </a:lnTo>
                  <a:lnTo>
                    <a:pt x="3058630" y="2204910"/>
                  </a:lnTo>
                  <a:lnTo>
                    <a:pt x="3056229" y="2203500"/>
                  </a:lnTo>
                  <a:lnTo>
                    <a:pt x="3064408" y="2211552"/>
                  </a:lnTo>
                  <a:lnTo>
                    <a:pt x="3056077" y="2203361"/>
                  </a:lnTo>
                  <a:lnTo>
                    <a:pt x="3054235" y="2202243"/>
                  </a:lnTo>
                  <a:lnTo>
                    <a:pt x="3055937" y="2203221"/>
                  </a:lnTo>
                  <a:lnTo>
                    <a:pt x="3047276" y="2195004"/>
                  </a:lnTo>
                  <a:lnTo>
                    <a:pt x="3015691" y="2166861"/>
                  </a:lnTo>
                  <a:lnTo>
                    <a:pt x="2985020" y="2141207"/>
                  </a:lnTo>
                  <a:lnTo>
                    <a:pt x="2948533" y="2111502"/>
                  </a:lnTo>
                  <a:lnTo>
                    <a:pt x="2907195" y="2078443"/>
                  </a:lnTo>
                  <a:lnTo>
                    <a:pt x="2813634" y="2005012"/>
                  </a:lnTo>
                  <a:lnTo>
                    <a:pt x="2660091" y="1887042"/>
                  </a:lnTo>
                  <a:lnTo>
                    <a:pt x="2513076" y="1776361"/>
                  </a:lnTo>
                  <a:lnTo>
                    <a:pt x="2431123" y="1715884"/>
                  </a:lnTo>
                  <a:lnTo>
                    <a:pt x="2397747" y="1691716"/>
                  </a:lnTo>
                  <a:lnTo>
                    <a:pt x="2259914" y="1596707"/>
                  </a:lnTo>
                  <a:lnTo>
                    <a:pt x="2225573" y="1572539"/>
                  </a:lnTo>
                  <a:lnTo>
                    <a:pt x="2137333" y="1509052"/>
                  </a:lnTo>
                  <a:lnTo>
                    <a:pt x="2015718" y="1419402"/>
                  </a:lnTo>
                  <a:lnTo>
                    <a:pt x="1968881" y="1384236"/>
                  </a:lnTo>
                  <a:lnTo>
                    <a:pt x="1969376" y="1382598"/>
                  </a:lnTo>
                  <a:lnTo>
                    <a:pt x="1970087" y="1375498"/>
                  </a:lnTo>
                  <a:lnTo>
                    <a:pt x="1969274" y="1367294"/>
                  </a:lnTo>
                  <a:lnTo>
                    <a:pt x="1968093" y="1363827"/>
                  </a:lnTo>
                  <a:lnTo>
                    <a:pt x="1967230" y="1357401"/>
                  </a:lnTo>
                  <a:lnTo>
                    <a:pt x="1964258" y="1351178"/>
                  </a:lnTo>
                  <a:lnTo>
                    <a:pt x="1959965" y="1345488"/>
                  </a:lnTo>
                  <a:lnTo>
                    <a:pt x="1954771" y="1340523"/>
                  </a:lnTo>
                  <a:lnTo>
                    <a:pt x="1952980" y="1339227"/>
                  </a:lnTo>
                  <a:lnTo>
                    <a:pt x="1953793" y="1340421"/>
                  </a:lnTo>
                  <a:lnTo>
                    <a:pt x="1952764" y="1339062"/>
                  </a:lnTo>
                  <a:lnTo>
                    <a:pt x="1951443" y="1337691"/>
                  </a:lnTo>
                  <a:lnTo>
                    <a:pt x="1944789" y="1330540"/>
                  </a:lnTo>
                  <a:lnTo>
                    <a:pt x="1938731" y="1324051"/>
                  </a:lnTo>
                  <a:lnTo>
                    <a:pt x="1892477" y="1283081"/>
                  </a:lnTo>
                  <a:lnTo>
                    <a:pt x="1861540" y="1258023"/>
                  </a:lnTo>
                  <a:lnTo>
                    <a:pt x="1826120" y="1230350"/>
                  </a:lnTo>
                  <a:lnTo>
                    <a:pt x="1786775" y="1200404"/>
                  </a:lnTo>
                  <a:lnTo>
                    <a:pt x="1744065" y="1168514"/>
                  </a:lnTo>
                  <a:lnTo>
                    <a:pt x="1672805" y="1116609"/>
                  </a:lnTo>
                  <a:lnTo>
                    <a:pt x="1851279" y="941501"/>
                  </a:lnTo>
                  <a:lnTo>
                    <a:pt x="2737802" y="83896"/>
                  </a:lnTo>
                  <a:lnTo>
                    <a:pt x="2753042" y="53416"/>
                  </a:lnTo>
                  <a:lnTo>
                    <a:pt x="2752953" y="52501"/>
                  </a:lnTo>
                  <a:lnTo>
                    <a:pt x="2752102" y="42849"/>
                  </a:lnTo>
                  <a:lnTo>
                    <a:pt x="2728544" y="6515"/>
                  </a:lnTo>
                  <a:lnTo>
                    <a:pt x="2719654" y="2819"/>
                  </a:lnTo>
                  <a:lnTo>
                    <a:pt x="2719438" y="2819"/>
                  </a:lnTo>
                  <a:lnTo>
                    <a:pt x="2710472" y="673"/>
                  </a:lnTo>
                  <a:lnTo>
                    <a:pt x="2709697" y="673"/>
                  </a:lnTo>
                  <a:lnTo>
                    <a:pt x="2702560" y="0"/>
                  </a:lnTo>
                  <a:lnTo>
                    <a:pt x="2695549" y="673"/>
                  </a:lnTo>
                  <a:lnTo>
                    <a:pt x="2658338" y="22694"/>
                  </a:lnTo>
                  <a:lnTo>
                    <a:pt x="2622334" y="52501"/>
                  </a:lnTo>
                  <a:lnTo>
                    <a:pt x="2573782" y="95846"/>
                  </a:lnTo>
                  <a:lnTo>
                    <a:pt x="2545321" y="122059"/>
                  </a:lnTo>
                  <a:lnTo>
                    <a:pt x="2514346" y="150990"/>
                  </a:lnTo>
                  <a:lnTo>
                    <a:pt x="2445689" y="216179"/>
                  </a:lnTo>
                  <a:lnTo>
                    <a:pt x="2369464" y="289636"/>
                  </a:lnTo>
                  <a:lnTo>
                    <a:pt x="2200948" y="454418"/>
                  </a:lnTo>
                  <a:lnTo>
                    <a:pt x="1592757" y="1058392"/>
                  </a:lnTo>
                  <a:lnTo>
                    <a:pt x="1076223" y="687539"/>
                  </a:lnTo>
                  <a:lnTo>
                    <a:pt x="612190" y="359270"/>
                  </a:lnTo>
                  <a:lnTo>
                    <a:pt x="536905" y="304901"/>
                  </a:lnTo>
                  <a:lnTo>
                    <a:pt x="503720" y="280479"/>
                  </a:lnTo>
                  <a:lnTo>
                    <a:pt x="447992" y="238213"/>
                  </a:lnTo>
                  <a:lnTo>
                    <a:pt x="415417" y="212077"/>
                  </a:lnTo>
                  <a:lnTo>
                    <a:pt x="385356" y="186169"/>
                  </a:lnTo>
                  <a:lnTo>
                    <a:pt x="353009" y="155232"/>
                  </a:lnTo>
                  <a:lnTo>
                    <a:pt x="313575" y="114007"/>
                  </a:lnTo>
                  <a:lnTo>
                    <a:pt x="262255" y="57238"/>
                  </a:lnTo>
                  <a:lnTo>
                    <a:pt x="259105" y="54965"/>
                  </a:lnTo>
                  <a:lnTo>
                    <a:pt x="251409" y="49847"/>
                  </a:lnTo>
                  <a:lnTo>
                    <a:pt x="241757" y="44373"/>
                  </a:lnTo>
                  <a:lnTo>
                    <a:pt x="232727" y="41046"/>
                  </a:lnTo>
                  <a:lnTo>
                    <a:pt x="224447" y="40474"/>
                  </a:lnTo>
                  <a:lnTo>
                    <a:pt x="215811" y="41516"/>
                  </a:lnTo>
                  <a:lnTo>
                    <a:pt x="184264" y="67398"/>
                  </a:lnTo>
                  <a:lnTo>
                    <a:pt x="179857" y="82664"/>
                  </a:lnTo>
                  <a:lnTo>
                    <a:pt x="179857" y="90449"/>
                  </a:lnTo>
                  <a:lnTo>
                    <a:pt x="195173" y="126746"/>
                  </a:lnTo>
                  <a:lnTo>
                    <a:pt x="233299" y="171602"/>
                  </a:lnTo>
                  <a:lnTo>
                    <a:pt x="282575" y="220675"/>
                  </a:lnTo>
                  <a:lnTo>
                    <a:pt x="311543" y="246062"/>
                  </a:lnTo>
                  <a:lnTo>
                    <a:pt x="345859" y="273951"/>
                  </a:lnTo>
                  <a:lnTo>
                    <a:pt x="388937" y="307746"/>
                  </a:lnTo>
                  <a:lnTo>
                    <a:pt x="443014" y="348551"/>
                  </a:lnTo>
                  <a:lnTo>
                    <a:pt x="474776" y="371792"/>
                  </a:lnTo>
                  <a:lnTo>
                    <a:pt x="546252" y="423087"/>
                  </a:lnTo>
                  <a:lnTo>
                    <a:pt x="1118603" y="825766"/>
                  </a:lnTo>
                  <a:lnTo>
                    <a:pt x="1202524" y="887044"/>
                  </a:lnTo>
                  <a:lnTo>
                    <a:pt x="1247762" y="920940"/>
                  </a:lnTo>
                  <a:lnTo>
                    <a:pt x="1294765" y="956678"/>
                  </a:lnTo>
                  <a:lnTo>
                    <a:pt x="1519529" y="1131100"/>
                  </a:lnTo>
                  <a:lnTo>
                    <a:pt x="1464741" y="1185519"/>
                  </a:lnTo>
                  <a:lnTo>
                    <a:pt x="1218069" y="1434147"/>
                  </a:lnTo>
                  <a:lnTo>
                    <a:pt x="350913" y="2324989"/>
                  </a:lnTo>
                  <a:lnTo>
                    <a:pt x="193979" y="2489073"/>
                  </a:lnTo>
                  <a:lnTo>
                    <a:pt x="128511" y="2558910"/>
                  </a:lnTo>
                  <a:lnTo>
                    <a:pt x="100037" y="2589796"/>
                  </a:lnTo>
                  <a:lnTo>
                    <a:pt x="53035" y="2642120"/>
                  </a:lnTo>
                  <a:lnTo>
                    <a:pt x="21221" y="2679992"/>
                  </a:lnTo>
                  <a:lnTo>
                    <a:pt x="8204" y="2698140"/>
                  </a:lnTo>
                  <a:lnTo>
                    <a:pt x="6032" y="2700413"/>
                  </a:lnTo>
                  <a:lnTo>
                    <a:pt x="2578" y="2706611"/>
                  </a:lnTo>
                  <a:lnTo>
                    <a:pt x="2070" y="2708478"/>
                  </a:lnTo>
                  <a:lnTo>
                    <a:pt x="1917" y="2708986"/>
                  </a:lnTo>
                  <a:lnTo>
                    <a:pt x="889" y="2711551"/>
                  </a:lnTo>
                  <a:lnTo>
                    <a:pt x="723" y="2713215"/>
                  </a:lnTo>
                  <a:lnTo>
                    <a:pt x="292" y="2717355"/>
                  </a:lnTo>
                  <a:lnTo>
                    <a:pt x="304" y="2717558"/>
                  </a:lnTo>
                  <a:lnTo>
                    <a:pt x="393" y="2718320"/>
                  </a:lnTo>
                  <a:lnTo>
                    <a:pt x="1333" y="2727083"/>
                  </a:lnTo>
                  <a:lnTo>
                    <a:pt x="304" y="2717558"/>
                  </a:lnTo>
                  <a:lnTo>
                    <a:pt x="190" y="2718320"/>
                  </a:lnTo>
                  <a:lnTo>
                    <a:pt x="0" y="2720378"/>
                  </a:lnTo>
                  <a:lnTo>
                    <a:pt x="14947" y="2754960"/>
                  </a:lnTo>
                  <a:lnTo>
                    <a:pt x="15557" y="2755658"/>
                  </a:lnTo>
                  <a:lnTo>
                    <a:pt x="18745" y="2757500"/>
                  </a:lnTo>
                  <a:lnTo>
                    <a:pt x="19850" y="2758236"/>
                  </a:lnTo>
                  <a:lnTo>
                    <a:pt x="20586" y="2758554"/>
                  </a:lnTo>
                  <a:lnTo>
                    <a:pt x="21094" y="2758783"/>
                  </a:lnTo>
                  <a:lnTo>
                    <a:pt x="21780" y="2759240"/>
                  </a:lnTo>
                  <a:lnTo>
                    <a:pt x="24218" y="2760637"/>
                  </a:lnTo>
                  <a:lnTo>
                    <a:pt x="28790" y="2762085"/>
                  </a:lnTo>
                  <a:lnTo>
                    <a:pt x="30200" y="2762694"/>
                  </a:lnTo>
                  <a:lnTo>
                    <a:pt x="33096" y="2763443"/>
                  </a:lnTo>
                  <a:lnTo>
                    <a:pt x="35217" y="2764117"/>
                  </a:lnTo>
                  <a:lnTo>
                    <a:pt x="35661" y="2764117"/>
                  </a:lnTo>
                  <a:lnTo>
                    <a:pt x="41249" y="2765577"/>
                  </a:lnTo>
                  <a:lnTo>
                    <a:pt x="41783" y="2765577"/>
                  </a:lnTo>
                  <a:lnTo>
                    <a:pt x="50800" y="2766136"/>
                  </a:lnTo>
                  <a:lnTo>
                    <a:pt x="55092" y="2765336"/>
                  </a:lnTo>
                  <a:lnTo>
                    <a:pt x="56946" y="2764993"/>
                  </a:lnTo>
                  <a:lnTo>
                    <a:pt x="58915" y="2764117"/>
                  </a:lnTo>
                  <a:lnTo>
                    <a:pt x="62471" y="2762923"/>
                  </a:lnTo>
                  <a:lnTo>
                    <a:pt x="68770" y="2759240"/>
                  </a:lnTo>
                  <a:lnTo>
                    <a:pt x="74180" y="2754477"/>
                  </a:lnTo>
                  <a:lnTo>
                    <a:pt x="75298" y="2753029"/>
                  </a:lnTo>
                  <a:lnTo>
                    <a:pt x="67805" y="2758770"/>
                  </a:lnTo>
                  <a:lnTo>
                    <a:pt x="75336" y="2752979"/>
                  </a:lnTo>
                  <a:lnTo>
                    <a:pt x="75539" y="2752712"/>
                  </a:lnTo>
                  <a:lnTo>
                    <a:pt x="78422" y="2748991"/>
                  </a:lnTo>
                  <a:lnTo>
                    <a:pt x="76784" y="2751150"/>
                  </a:lnTo>
                  <a:lnTo>
                    <a:pt x="75666" y="2752712"/>
                  </a:lnTo>
                  <a:lnTo>
                    <a:pt x="87985" y="2742539"/>
                  </a:lnTo>
                  <a:lnTo>
                    <a:pt x="124244" y="2708579"/>
                  </a:lnTo>
                  <a:lnTo>
                    <a:pt x="153428" y="2679585"/>
                  </a:lnTo>
                  <a:lnTo>
                    <a:pt x="203288" y="2628696"/>
                  </a:lnTo>
                  <a:lnTo>
                    <a:pt x="269405" y="2559685"/>
                  </a:lnTo>
                  <a:lnTo>
                    <a:pt x="851141" y="1939251"/>
                  </a:lnTo>
                  <a:lnTo>
                    <a:pt x="926566" y="1860181"/>
                  </a:lnTo>
                  <a:lnTo>
                    <a:pt x="1085418" y="1696923"/>
                  </a:lnTo>
                  <a:lnTo>
                    <a:pt x="1232408" y="1548714"/>
                  </a:lnTo>
                  <a:lnTo>
                    <a:pt x="1596872" y="1191120"/>
                  </a:lnTo>
                  <a:lnTo>
                    <a:pt x="1634794" y="1220533"/>
                  </a:lnTo>
                  <a:lnTo>
                    <a:pt x="1721764" y="1286878"/>
                  </a:lnTo>
                  <a:lnTo>
                    <a:pt x="1761248" y="1316291"/>
                  </a:lnTo>
                  <a:lnTo>
                    <a:pt x="1767598" y="1320914"/>
                  </a:lnTo>
                  <a:lnTo>
                    <a:pt x="1766963" y="1322146"/>
                  </a:lnTo>
                  <a:lnTo>
                    <a:pt x="1764017" y="1332064"/>
                  </a:lnTo>
                  <a:lnTo>
                    <a:pt x="1763382" y="1342148"/>
                  </a:lnTo>
                  <a:lnTo>
                    <a:pt x="1765503" y="1353464"/>
                  </a:lnTo>
                  <a:lnTo>
                    <a:pt x="1787194" y="1388821"/>
                  </a:lnTo>
                  <a:lnTo>
                    <a:pt x="1816747" y="1413979"/>
                  </a:lnTo>
                  <a:lnTo>
                    <a:pt x="1857806" y="1440738"/>
                  </a:lnTo>
                  <a:lnTo>
                    <a:pt x="1903336" y="1468932"/>
                  </a:lnTo>
                  <a:lnTo>
                    <a:pt x="1946262" y="1498358"/>
                  </a:lnTo>
                  <a:lnTo>
                    <a:pt x="1987423" y="1531747"/>
                  </a:lnTo>
                  <a:lnTo>
                    <a:pt x="2069363" y="1603514"/>
                  </a:lnTo>
                  <a:lnTo>
                    <a:pt x="2111044" y="1637423"/>
                  </a:lnTo>
                  <a:lnTo>
                    <a:pt x="2150719" y="1666278"/>
                  </a:lnTo>
                  <a:lnTo>
                    <a:pt x="2231466" y="1720748"/>
                  </a:lnTo>
                  <a:lnTo>
                    <a:pt x="2274874" y="1751723"/>
                  </a:lnTo>
                  <a:lnTo>
                    <a:pt x="2308682" y="1778038"/>
                  </a:lnTo>
                  <a:lnTo>
                    <a:pt x="2343289" y="1806143"/>
                  </a:lnTo>
                  <a:lnTo>
                    <a:pt x="2454046" y="1898269"/>
                  </a:lnTo>
                  <a:lnTo>
                    <a:pt x="2494013" y="1930577"/>
                  </a:lnTo>
                  <a:lnTo>
                    <a:pt x="2535859" y="1963178"/>
                  </a:lnTo>
                  <a:lnTo>
                    <a:pt x="2662872" y="2060422"/>
                  </a:lnTo>
                  <a:lnTo>
                    <a:pt x="2759849" y="2133473"/>
                  </a:lnTo>
                  <a:lnTo>
                    <a:pt x="2808046" y="2168956"/>
                  </a:lnTo>
                  <a:lnTo>
                    <a:pt x="2854287" y="2202167"/>
                  </a:lnTo>
                  <a:lnTo>
                    <a:pt x="2897225" y="2231936"/>
                  </a:lnTo>
                  <a:lnTo>
                    <a:pt x="2935554" y="2257107"/>
                  </a:lnTo>
                  <a:lnTo>
                    <a:pt x="2991980" y="2288540"/>
                  </a:lnTo>
                  <a:lnTo>
                    <a:pt x="2992183" y="2288540"/>
                  </a:lnTo>
                  <a:lnTo>
                    <a:pt x="2988297" y="2285123"/>
                  </a:lnTo>
                  <a:lnTo>
                    <a:pt x="2992386" y="2288540"/>
                  </a:lnTo>
                  <a:lnTo>
                    <a:pt x="3055416" y="2288540"/>
                  </a:lnTo>
                  <a:lnTo>
                    <a:pt x="2993263" y="2289010"/>
                  </a:lnTo>
                  <a:lnTo>
                    <a:pt x="3008579" y="2294686"/>
                  </a:lnTo>
                  <a:lnTo>
                    <a:pt x="2993237" y="2289010"/>
                  </a:lnTo>
                  <a:lnTo>
                    <a:pt x="2992945" y="2289010"/>
                  </a:lnTo>
                  <a:lnTo>
                    <a:pt x="2994825" y="2290572"/>
                  </a:lnTo>
                  <a:lnTo>
                    <a:pt x="3002584" y="2295131"/>
                  </a:lnTo>
                  <a:lnTo>
                    <a:pt x="3010890" y="2298192"/>
                  </a:lnTo>
                  <a:lnTo>
                    <a:pt x="3010573" y="2298192"/>
                  </a:lnTo>
                  <a:lnTo>
                    <a:pt x="3019729" y="2299411"/>
                  </a:lnTo>
                  <a:lnTo>
                    <a:pt x="3029978" y="2298192"/>
                  </a:lnTo>
                  <a:lnTo>
                    <a:pt x="3033179" y="2298192"/>
                  </a:lnTo>
                  <a:lnTo>
                    <a:pt x="3069259" y="2275598"/>
                  </a:lnTo>
                  <a:lnTo>
                    <a:pt x="3071342" y="2269985"/>
                  </a:lnTo>
                  <a:lnTo>
                    <a:pt x="3065449" y="2280361"/>
                  </a:lnTo>
                  <a:lnTo>
                    <a:pt x="3071507" y="2269680"/>
                  </a:lnTo>
                  <a:lnTo>
                    <a:pt x="3073870" y="2261451"/>
                  </a:lnTo>
                  <a:lnTo>
                    <a:pt x="3075343" y="2256320"/>
                  </a:lnTo>
                  <a:lnTo>
                    <a:pt x="3075419" y="2255596"/>
                  </a:lnTo>
                  <a:lnTo>
                    <a:pt x="3076841" y="2242591"/>
                  </a:lnTo>
                  <a:close/>
                </a:path>
              </a:pathLst>
            </a:custGeom>
            <a:solidFill>
              <a:srgbClr val="E7181F"/>
            </a:solidFill>
          </p:spPr>
          <p:txBody>
            <a:bodyPr wrap="square" lIns="0" tIns="0" rIns="0" bIns="0" rtlCol="0"/>
            <a:lstStyle/>
            <a:p>
              <a:endParaRPr/>
            </a:p>
          </p:txBody>
        </p:sp>
        <p:sp>
          <p:nvSpPr>
            <p:cNvPr id="16" name="object 16"/>
            <p:cNvSpPr/>
            <p:nvPr/>
          </p:nvSpPr>
          <p:spPr>
            <a:xfrm>
              <a:off x="8016575" y="3122684"/>
              <a:ext cx="2266315" cy="0"/>
            </a:xfrm>
            <a:custGeom>
              <a:avLst/>
              <a:gdLst/>
              <a:ahLst/>
              <a:cxnLst/>
              <a:rect l="l" t="t" r="r" b="b"/>
              <a:pathLst>
                <a:path w="2266315">
                  <a:moveTo>
                    <a:pt x="0" y="0"/>
                  </a:moveTo>
                  <a:lnTo>
                    <a:pt x="2266218" y="0"/>
                  </a:lnTo>
                </a:path>
              </a:pathLst>
            </a:custGeom>
            <a:ln w="76199">
              <a:solidFill>
                <a:srgbClr val="000000"/>
              </a:solidFill>
            </a:ln>
          </p:spPr>
          <p:txBody>
            <a:bodyPr wrap="square" lIns="0" tIns="0" rIns="0" bIns="0" rtlCol="0"/>
            <a:lstStyle/>
            <a:p>
              <a:endParaRPr/>
            </a:p>
          </p:txBody>
        </p:sp>
        <p:sp>
          <p:nvSpPr>
            <p:cNvPr id="17" name="object 17"/>
            <p:cNvSpPr/>
            <p:nvPr/>
          </p:nvSpPr>
          <p:spPr>
            <a:xfrm>
              <a:off x="10130393" y="3008384"/>
              <a:ext cx="152400" cy="228600"/>
            </a:xfrm>
            <a:custGeom>
              <a:avLst/>
              <a:gdLst/>
              <a:ahLst/>
              <a:cxnLst/>
              <a:rect l="l" t="t" r="r" b="b"/>
              <a:pathLst>
                <a:path w="152400" h="228600">
                  <a:moveTo>
                    <a:pt x="0" y="0"/>
                  </a:moveTo>
                  <a:lnTo>
                    <a:pt x="152399" y="114299"/>
                  </a:lnTo>
                  <a:lnTo>
                    <a:pt x="0" y="228599"/>
                  </a:lnTo>
                </a:path>
              </a:pathLst>
            </a:custGeom>
            <a:ln w="76199">
              <a:solidFill>
                <a:srgbClr val="000000"/>
              </a:solidFill>
            </a:ln>
          </p:spPr>
          <p:txBody>
            <a:bodyPr wrap="square" lIns="0" tIns="0" rIns="0" bIns="0" rtlCol="0"/>
            <a:lstStyle/>
            <a:p>
              <a:endParaRPr/>
            </a:p>
          </p:txBody>
        </p:sp>
      </p:gr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B9F1CB-7492-9409-19D7-5090880898BD}"/>
              </a:ext>
            </a:extLst>
          </p:cNvPr>
          <p:cNvSpPr txBox="1"/>
          <p:nvPr/>
        </p:nvSpPr>
        <p:spPr>
          <a:xfrm>
            <a:off x="2743200" y="1638300"/>
            <a:ext cx="13106400" cy="5078313"/>
          </a:xfrm>
          <a:prstGeom prst="rect">
            <a:avLst/>
          </a:prstGeom>
          <a:noFill/>
        </p:spPr>
        <p:txBody>
          <a:bodyPr wrap="square">
            <a:spAutoFit/>
          </a:bodyPr>
          <a:lstStyle/>
          <a:p>
            <a:pPr>
              <a:buNone/>
            </a:pPr>
            <a:r>
              <a:rPr lang="en-US" sz="3600" b="1" dirty="0"/>
              <a:t>Problem with </a:t>
            </a:r>
            <a:r>
              <a:rPr lang="en-US" sz="3600" b="1" dirty="0" err="1"/>
              <a:t>HostPath</a:t>
            </a:r>
            <a:endParaRPr lang="en-US" sz="3600" b="1" dirty="0"/>
          </a:p>
          <a:p>
            <a:pPr>
              <a:buNone/>
            </a:pPr>
            <a:r>
              <a:rPr lang="en-US" sz="3600" dirty="0"/>
              <a:t>If the pod moves to another node:</a:t>
            </a:r>
          </a:p>
          <a:p>
            <a:pPr rtl="0">
              <a:buNone/>
            </a:pPr>
            <a:r>
              <a:rPr lang="en-US" sz="3600" dirty="0">
                <a:latin typeface="Courier New" panose="02070309020205020404" pitchFamily="49" charset="0"/>
              </a:rPr>
              <a:t>Node1 → /</a:t>
            </a:r>
            <a:r>
              <a:rPr lang="en-US" sz="3600" dirty="0" err="1">
                <a:latin typeface="Courier New" panose="02070309020205020404" pitchFamily="49" charset="0"/>
              </a:rPr>
              <a:t>tmp</a:t>
            </a:r>
            <a:r>
              <a:rPr lang="en-US" sz="3600" dirty="0">
                <a:latin typeface="Courier New" panose="02070309020205020404" pitchFamily="49" charset="0"/>
              </a:rPr>
              <a:t>/data (has data)</a:t>
            </a:r>
            <a:br>
              <a:rPr lang="en-US" sz="3600" dirty="0">
                <a:latin typeface="Courier New" panose="02070309020205020404" pitchFamily="49" charset="0"/>
              </a:rPr>
            </a:br>
            <a:br>
              <a:rPr lang="en-US" sz="3600" dirty="0">
                <a:latin typeface="Courier New" panose="02070309020205020404" pitchFamily="49" charset="0"/>
              </a:rPr>
            </a:br>
            <a:r>
              <a:rPr lang="en-US" sz="3600" dirty="0">
                <a:latin typeface="Courier New" panose="02070309020205020404" pitchFamily="49" charset="0"/>
              </a:rPr>
              <a:t>Pod rescheduled</a:t>
            </a:r>
            <a:br>
              <a:rPr lang="en-US" sz="3600" dirty="0">
                <a:latin typeface="Courier New" panose="02070309020205020404" pitchFamily="49" charset="0"/>
              </a:rPr>
            </a:br>
            <a:br>
              <a:rPr lang="en-US" sz="3600" dirty="0">
                <a:latin typeface="Courier New" panose="02070309020205020404" pitchFamily="49" charset="0"/>
              </a:rPr>
            </a:br>
            <a:r>
              <a:rPr lang="en-US" sz="3600" dirty="0">
                <a:latin typeface="Courier New" panose="02070309020205020404" pitchFamily="49" charset="0"/>
              </a:rPr>
              <a:t>Node2 → /</a:t>
            </a:r>
            <a:r>
              <a:rPr lang="en-US" sz="3600" dirty="0" err="1">
                <a:latin typeface="Courier New" panose="02070309020205020404" pitchFamily="49" charset="0"/>
              </a:rPr>
              <a:t>tmp</a:t>
            </a:r>
            <a:r>
              <a:rPr lang="en-US" sz="3600" dirty="0">
                <a:latin typeface="Courier New" panose="02070309020205020404" pitchFamily="49" charset="0"/>
              </a:rPr>
              <a:t>/data (empty)</a:t>
            </a:r>
          </a:p>
          <a:p>
            <a:pPr>
              <a:buNone/>
            </a:pPr>
            <a:r>
              <a:rPr lang="en-US" sz="3600" dirty="0"/>
              <a:t>💥 </a:t>
            </a:r>
            <a:r>
              <a:rPr lang="en-US" sz="3600" b="1" dirty="0"/>
              <a:t>Data is lost</a:t>
            </a:r>
            <a:endParaRPr lang="en-US" sz="3600" dirty="0"/>
          </a:p>
          <a:p>
            <a:pPr>
              <a:buNone/>
            </a:pPr>
            <a:r>
              <a:rPr lang="en-US" sz="3600" dirty="0"/>
              <a:t>So </a:t>
            </a:r>
            <a:r>
              <a:rPr lang="en-US" sz="3600" dirty="0" err="1">
                <a:latin typeface="Courier New" panose="02070309020205020404" pitchFamily="49" charset="0"/>
              </a:rPr>
              <a:t>hostPath</a:t>
            </a:r>
            <a:r>
              <a:rPr lang="en-US" sz="3600" dirty="0"/>
              <a:t> is </a:t>
            </a:r>
            <a:r>
              <a:rPr lang="en-US" sz="3600" b="1" dirty="0"/>
              <a:t>not suitable for production clusters</a:t>
            </a:r>
            <a:endParaRPr lang="en-US" sz="3600" dirty="0"/>
          </a:p>
        </p:txBody>
      </p:sp>
      <p:graphicFrame>
        <p:nvGraphicFramePr>
          <p:cNvPr id="4" name="Table 3">
            <a:extLst>
              <a:ext uri="{FF2B5EF4-FFF2-40B4-BE49-F238E27FC236}">
                <a16:creationId xmlns:a16="http://schemas.microsoft.com/office/drawing/2014/main" id="{9A81C84D-0AF3-9C3B-15AA-DC66B9B67536}"/>
              </a:ext>
            </a:extLst>
          </p:cNvPr>
          <p:cNvGraphicFramePr>
            <a:graphicFrameLocks noGrp="1"/>
          </p:cNvGraphicFramePr>
          <p:nvPr>
            <p:extLst>
              <p:ext uri="{D42A27DB-BD31-4B8C-83A1-F6EECF244321}">
                <p14:modId xmlns:p14="http://schemas.microsoft.com/office/powerpoint/2010/main" val="4192066483"/>
              </p:ext>
            </p:extLst>
          </p:nvPr>
        </p:nvGraphicFramePr>
        <p:xfrm>
          <a:off x="1905000" y="6795611"/>
          <a:ext cx="9934574" cy="2560320"/>
        </p:xfrm>
        <a:graphic>
          <a:graphicData uri="http://schemas.openxmlformats.org/drawingml/2006/table">
            <a:tbl>
              <a:tblPr/>
              <a:tblGrid>
                <a:gridCol w="4967287">
                  <a:extLst>
                    <a:ext uri="{9D8B030D-6E8A-4147-A177-3AD203B41FA5}">
                      <a16:colId xmlns:a16="http://schemas.microsoft.com/office/drawing/2014/main" val="2163949451"/>
                    </a:ext>
                  </a:extLst>
                </a:gridCol>
                <a:gridCol w="4967287">
                  <a:extLst>
                    <a:ext uri="{9D8B030D-6E8A-4147-A177-3AD203B41FA5}">
                      <a16:colId xmlns:a16="http://schemas.microsoft.com/office/drawing/2014/main" val="4011295270"/>
                    </a:ext>
                  </a:extLst>
                </a:gridCol>
              </a:tblGrid>
              <a:tr h="365760">
                <a:tc>
                  <a:txBody>
                    <a:bodyPr/>
                    <a:lstStyle/>
                    <a:p>
                      <a:pPr>
                        <a:buNone/>
                      </a:pPr>
                      <a:r>
                        <a:rPr lang="en-IN" sz="1800"/>
                        <a:t>Feature</a:t>
                      </a:r>
                    </a:p>
                  </a:txBody>
                  <a:tcPr anchor="ctr">
                    <a:lnL>
                      <a:noFill/>
                    </a:lnL>
                    <a:lnR>
                      <a:noFill/>
                    </a:lnR>
                    <a:lnT>
                      <a:noFill/>
                    </a:lnT>
                    <a:lnB>
                      <a:noFill/>
                    </a:lnB>
                    <a:noFill/>
                  </a:tcPr>
                </a:tc>
                <a:tc>
                  <a:txBody>
                    <a:bodyPr/>
                    <a:lstStyle/>
                    <a:p>
                      <a:pPr>
                        <a:buNone/>
                      </a:pPr>
                      <a:r>
                        <a:rPr lang="en-IN" sz="1800"/>
                        <a:t>HostPath</a:t>
                      </a:r>
                    </a:p>
                  </a:txBody>
                  <a:tcPr anchor="ctr">
                    <a:lnL>
                      <a:noFill/>
                    </a:lnL>
                    <a:lnR>
                      <a:noFill/>
                    </a:lnR>
                    <a:lnT>
                      <a:noFill/>
                    </a:lnT>
                    <a:lnB>
                      <a:noFill/>
                    </a:lnB>
                    <a:noFill/>
                  </a:tcPr>
                </a:tc>
                <a:extLst>
                  <a:ext uri="{0D108BD9-81ED-4DB2-BD59-A6C34878D82A}">
                    <a16:rowId xmlns:a16="http://schemas.microsoft.com/office/drawing/2014/main" val="3618709821"/>
                  </a:ext>
                </a:extLst>
              </a:tr>
              <a:tr h="365760">
                <a:tc>
                  <a:txBody>
                    <a:bodyPr/>
                    <a:lstStyle/>
                    <a:p>
                      <a:pPr>
                        <a:buNone/>
                      </a:pPr>
                      <a:r>
                        <a:rPr lang="en-IN" sz="1800" dirty="0"/>
                        <a:t>Storage location</a:t>
                      </a:r>
                    </a:p>
                  </a:txBody>
                  <a:tcPr anchor="ctr">
                    <a:lnL>
                      <a:noFill/>
                    </a:lnL>
                    <a:lnR>
                      <a:noFill/>
                    </a:lnR>
                    <a:lnT>
                      <a:noFill/>
                    </a:lnT>
                    <a:lnB>
                      <a:noFill/>
                    </a:lnB>
                    <a:noFill/>
                  </a:tcPr>
                </a:tc>
                <a:tc>
                  <a:txBody>
                    <a:bodyPr/>
                    <a:lstStyle/>
                    <a:p>
                      <a:pPr>
                        <a:buNone/>
                      </a:pPr>
                      <a:r>
                        <a:rPr lang="en-IN" sz="1800"/>
                        <a:t>Node filesystem</a:t>
                      </a:r>
                    </a:p>
                  </a:txBody>
                  <a:tcPr anchor="ctr">
                    <a:lnL>
                      <a:noFill/>
                    </a:lnL>
                    <a:lnR>
                      <a:noFill/>
                    </a:lnR>
                    <a:lnT>
                      <a:noFill/>
                    </a:lnT>
                    <a:lnB>
                      <a:noFill/>
                    </a:lnB>
                    <a:noFill/>
                  </a:tcPr>
                </a:tc>
                <a:extLst>
                  <a:ext uri="{0D108BD9-81ED-4DB2-BD59-A6C34878D82A}">
                    <a16:rowId xmlns:a16="http://schemas.microsoft.com/office/drawing/2014/main" val="595079054"/>
                  </a:ext>
                </a:extLst>
              </a:tr>
              <a:tr h="365760">
                <a:tc>
                  <a:txBody>
                    <a:bodyPr/>
                    <a:lstStyle/>
                    <a:p>
                      <a:pPr>
                        <a:buNone/>
                      </a:pPr>
                      <a:r>
                        <a:rPr lang="en-IN" sz="1800"/>
                        <a:t>Node dependency</a:t>
                      </a:r>
                    </a:p>
                  </a:txBody>
                  <a:tcPr anchor="ctr">
                    <a:lnL>
                      <a:noFill/>
                    </a:lnL>
                    <a:lnR>
                      <a:noFill/>
                    </a:lnR>
                    <a:lnT>
                      <a:noFill/>
                    </a:lnT>
                    <a:lnB>
                      <a:noFill/>
                    </a:lnB>
                    <a:noFill/>
                  </a:tcPr>
                </a:tc>
                <a:tc>
                  <a:txBody>
                    <a:bodyPr/>
                    <a:lstStyle/>
                    <a:p>
                      <a:pPr>
                        <a:buNone/>
                      </a:pPr>
                      <a:r>
                        <a:rPr lang="en-IN" sz="1800"/>
                        <a:t>YES</a:t>
                      </a:r>
                    </a:p>
                  </a:txBody>
                  <a:tcPr anchor="ctr">
                    <a:lnL>
                      <a:noFill/>
                    </a:lnL>
                    <a:lnR>
                      <a:noFill/>
                    </a:lnR>
                    <a:lnT>
                      <a:noFill/>
                    </a:lnT>
                    <a:lnB>
                      <a:noFill/>
                    </a:lnB>
                    <a:noFill/>
                  </a:tcPr>
                </a:tc>
                <a:extLst>
                  <a:ext uri="{0D108BD9-81ED-4DB2-BD59-A6C34878D82A}">
                    <a16:rowId xmlns:a16="http://schemas.microsoft.com/office/drawing/2014/main" val="3162180695"/>
                  </a:ext>
                </a:extLst>
              </a:tr>
              <a:tr h="365760">
                <a:tc>
                  <a:txBody>
                    <a:bodyPr/>
                    <a:lstStyle/>
                    <a:p>
                      <a:pPr>
                        <a:buNone/>
                      </a:pPr>
                      <a:r>
                        <a:rPr lang="en-IN" sz="1800" dirty="0"/>
                        <a:t>Multi-node support</a:t>
                      </a:r>
                    </a:p>
                  </a:txBody>
                  <a:tcPr anchor="ctr">
                    <a:lnL>
                      <a:noFill/>
                    </a:lnL>
                    <a:lnR>
                      <a:noFill/>
                    </a:lnR>
                    <a:lnT>
                      <a:noFill/>
                    </a:lnT>
                    <a:lnB>
                      <a:noFill/>
                    </a:lnB>
                    <a:noFill/>
                  </a:tcPr>
                </a:tc>
                <a:tc>
                  <a:txBody>
                    <a:bodyPr/>
                    <a:lstStyle/>
                    <a:p>
                      <a:pPr>
                        <a:buNone/>
                      </a:pPr>
                      <a:r>
                        <a:rPr lang="en-IN" sz="1800"/>
                        <a:t>❌ No</a:t>
                      </a:r>
                    </a:p>
                  </a:txBody>
                  <a:tcPr anchor="ctr">
                    <a:lnL>
                      <a:noFill/>
                    </a:lnL>
                    <a:lnR>
                      <a:noFill/>
                    </a:lnR>
                    <a:lnT>
                      <a:noFill/>
                    </a:lnT>
                    <a:lnB>
                      <a:noFill/>
                    </a:lnB>
                    <a:noFill/>
                  </a:tcPr>
                </a:tc>
                <a:extLst>
                  <a:ext uri="{0D108BD9-81ED-4DB2-BD59-A6C34878D82A}">
                    <a16:rowId xmlns:a16="http://schemas.microsoft.com/office/drawing/2014/main" val="1619269867"/>
                  </a:ext>
                </a:extLst>
              </a:tr>
              <a:tr h="365760">
                <a:tc>
                  <a:txBody>
                    <a:bodyPr/>
                    <a:lstStyle/>
                    <a:p>
                      <a:pPr>
                        <a:buNone/>
                      </a:pPr>
                      <a:r>
                        <a:rPr lang="en-IN" sz="1800"/>
                        <a:t>Production usage</a:t>
                      </a:r>
                    </a:p>
                  </a:txBody>
                  <a:tcPr anchor="ctr">
                    <a:lnL>
                      <a:noFill/>
                    </a:lnL>
                    <a:lnR>
                      <a:noFill/>
                    </a:lnR>
                    <a:lnT>
                      <a:noFill/>
                    </a:lnT>
                    <a:lnB>
                      <a:noFill/>
                    </a:lnB>
                    <a:noFill/>
                  </a:tcPr>
                </a:tc>
                <a:tc>
                  <a:txBody>
                    <a:bodyPr/>
                    <a:lstStyle/>
                    <a:p>
                      <a:pPr>
                        <a:buNone/>
                      </a:pPr>
                      <a:r>
                        <a:rPr lang="en-IN" sz="1800"/>
                        <a:t>❌ Not recommended</a:t>
                      </a:r>
                    </a:p>
                  </a:txBody>
                  <a:tcPr anchor="ctr">
                    <a:lnL>
                      <a:noFill/>
                    </a:lnL>
                    <a:lnR>
                      <a:noFill/>
                    </a:lnR>
                    <a:lnT>
                      <a:noFill/>
                    </a:lnT>
                    <a:lnB>
                      <a:noFill/>
                    </a:lnB>
                    <a:noFill/>
                  </a:tcPr>
                </a:tc>
                <a:extLst>
                  <a:ext uri="{0D108BD9-81ED-4DB2-BD59-A6C34878D82A}">
                    <a16:rowId xmlns:a16="http://schemas.microsoft.com/office/drawing/2014/main" val="1159017950"/>
                  </a:ext>
                </a:extLst>
              </a:tr>
              <a:tr h="365760">
                <a:tc>
                  <a:txBody>
                    <a:bodyPr/>
                    <a:lstStyle/>
                    <a:p>
                      <a:pPr>
                        <a:buNone/>
                      </a:pPr>
                      <a:r>
                        <a:rPr lang="en-IN" sz="1800"/>
                        <a:t>Data persistence</a:t>
                      </a:r>
                    </a:p>
                  </a:txBody>
                  <a:tcPr anchor="ctr">
                    <a:lnL>
                      <a:noFill/>
                    </a:lnL>
                    <a:lnR>
                      <a:noFill/>
                    </a:lnR>
                    <a:lnT>
                      <a:noFill/>
                    </a:lnT>
                    <a:lnB>
                      <a:noFill/>
                    </a:lnB>
                    <a:noFill/>
                  </a:tcPr>
                </a:tc>
                <a:tc>
                  <a:txBody>
                    <a:bodyPr/>
                    <a:lstStyle/>
                    <a:p>
                      <a:pPr>
                        <a:buNone/>
                      </a:pPr>
                      <a:r>
                        <a:rPr lang="en-IN" sz="1800"/>
                        <a:t>Only on that node</a:t>
                      </a:r>
                    </a:p>
                  </a:txBody>
                  <a:tcPr anchor="ctr">
                    <a:lnL>
                      <a:noFill/>
                    </a:lnL>
                    <a:lnR>
                      <a:noFill/>
                    </a:lnR>
                    <a:lnT>
                      <a:noFill/>
                    </a:lnT>
                    <a:lnB>
                      <a:noFill/>
                    </a:lnB>
                    <a:noFill/>
                  </a:tcPr>
                </a:tc>
                <a:extLst>
                  <a:ext uri="{0D108BD9-81ED-4DB2-BD59-A6C34878D82A}">
                    <a16:rowId xmlns:a16="http://schemas.microsoft.com/office/drawing/2014/main" val="3462651198"/>
                  </a:ext>
                </a:extLst>
              </a:tr>
              <a:tr h="365760">
                <a:tc>
                  <a:txBody>
                    <a:bodyPr/>
                    <a:lstStyle/>
                    <a:p>
                      <a:pPr>
                        <a:buNone/>
                      </a:pPr>
                      <a:r>
                        <a:rPr lang="en-IN" sz="1800"/>
                        <a:t>Use case</a:t>
                      </a:r>
                    </a:p>
                  </a:txBody>
                  <a:tcPr anchor="ctr">
                    <a:lnL>
                      <a:noFill/>
                    </a:lnL>
                    <a:lnR>
                      <a:noFill/>
                    </a:lnR>
                    <a:lnT>
                      <a:noFill/>
                    </a:lnT>
                    <a:lnB>
                      <a:noFill/>
                    </a:lnB>
                    <a:noFill/>
                  </a:tcPr>
                </a:tc>
                <a:tc>
                  <a:txBody>
                    <a:bodyPr/>
                    <a:lstStyle/>
                    <a:p>
                      <a:pPr>
                        <a:buNone/>
                      </a:pPr>
                      <a:r>
                        <a:rPr lang="en-IN" sz="1800" dirty="0"/>
                        <a:t>Testing, learning</a:t>
                      </a:r>
                    </a:p>
                  </a:txBody>
                  <a:tcPr anchor="ctr">
                    <a:lnL>
                      <a:noFill/>
                    </a:lnL>
                    <a:lnR>
                      <a:noFill/>
                    </a:lnR>
                    <a:lnT>
                      <a:noFill/>
                    </a:lnT>
                    <a:lnB>
                      <a:noFill/>
                    </a:lnB>
                    <a:noFill/>
                  </a:tcPr>
                </a:tc>
                <a:extLst>
                  <a:ext uri="{0D108BD9-81ED-4DB2-BD59-A6C34878D82A}">
                    <a16:rowId xmlns:a16="http://schemas.microsoft.com/office/drawing/2014/main" val="1720755325"/>
                  </a:ext>
                </a:extLst>
              </a:tr>
            </a:tbl>
          </a:graphicData>
        </a:graphic>
      </p:graphicFrame>
    </p:spTree>
    <p:extLst>
      <p:ext uri="{BB962C8B-B14F-4D97-AF65-F5344CB8AC3E}">
        <p14:creationId xmlns:p14="http://schemas.microsoft.com/office/powerpoint/2010/main" val="270995823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60883" y="1967298"/>
            <a:ext cx="133350" cy="133349"/>
          </a:xfrm>
          <a:prstGeom prst="rect">
            <a:avLst/>
          </a:prstGeom>
        </p:spPr>
      </p:pic>
      <p:sp>
        <p:nvSpPr>
          <p:cNvPr id="3" name="object 3"/>
          <p:cNvSpPr txBox="1"/>
          <p:nvPr/>
        </p:nvSpPr>
        <p:spPr>
          <a:xfrm>
            <a:off x="1277688" y="1607888"/>
            <a:ext cx="16405860" cy="768350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Persistent</a:t>
            </a:r>
            <a:r>
              <a:rPr sz="3600" spc="55" dirty="0">
                <a:solidFill>
                  <a:srgbClr val="2E377E"/>
                </a:solidFill>
                <a:latin typeface="Georgia"/>
                <a:cs typeface="Georgia"/>
              </a:rPr>
              <a:t> </a:t>
            </a:r>
            <a:r>
              <a:rPr sz="3600" dirty="0">
                <a:solidFill>
                  <a:srgbClr val="2E377E"/>
                </a:solidFill>
                <a:latin typeface="Georgia"/>
                <a:cs typeface="Georgia"/>
              </a:rPr>
              <a:t>means</a:t>
            </a:r>
            <a:r>
              <a:rPr sz="3600" spc="60" dirty="0">
                <a:solidFill>
                  <a:srgbClr val="2E377E"/>
                </a:solidFill>
                <a:latin typeface="Georgia"/>
                <a:cs typeface="Georgia"/>
              </a:rPr>
              <a:t> </a:t>
            </a:r>
            <a:r>
              <a:rPr sz="3600" spc="50" dirty="0">
                <a:solidFill>
                  <a:srgbClr val="2E377E"/>
                </a:solidFill>
                <a:latin typeface="Georgia"/>
                <a:cs typeface="Georgia"/>
              </a:rPr>
              <a:t>always</a:t>
            </a:r>
            <a:r>
              <a:rPr sz="3600" spc="60" dirty="0">
                <a:solidFill>
                  <a:srgbClr val="2E377E"/>
                </a:solidFill>
                <a:latin typeface="Georgia"/>
                <a:cs typeface="Georgia"/>
              </a:rPr>
              <a:t> </a:t>
            </a:r>
            <a:r>
              <a:rPr sz="3600" spc="-10" dirty="0">
                <a:solidFill>
                  <a:srgbClr val="2E377E"/>
                </a:solidFill>
                <a:latin typeface="Georgia"/>
                <a:cs typeface="Georgia"/>
              </a:rPr>
              <a:t>available.</a:t>
            </a:r>
            <a:endParaRPr sz="3600">
              <a:latin typeface="Georgia"/>
              <a:cs typeface="Georgia"/>
            </a:endParaRPr>
          </a:p>
          <a:p>
            <a:pPr marL="12700" marR="843280">
              <a:lnSpc>
                <a:spcPct val="116300"/>
              </a:lnSpc>
            </a:pPr>
            <a:r>
              <a:rPr sz="3600" dirty="0">
                <a:solidFill>
                  <a:srgbClr val="2E377E"/>
                </a:solidFill>
                <a:latin typeface="Georgia"/>
                <a:cs typeface="Georgia"/>
              </a:rPr>
              <a:t>Persistent</a:t>
            </a:r>
            <a:r>
              <a:rPr sz="3600" spc="20" dirty="0">
                <a:solidFill>
                  <a:srgbClr val="2E377E"/>
                </a:solidFill>
                <a:latin typeface="Georgia"/>
                <a:cs typeface="Georgia"/>
              </a:rPr>
              <a:t> </a:t>
            </a:r>
            <a:r>
              <a:rPr sz="3600" dirty="0">
                <a:solidFill>
                  <a:srgbClr val="2E377E"/>
                </a:solidFill>
                <a:latin typeface="Georgia"/>
                <a:cs typeface="Georgia"/>
              </a:rPr>
              <a:t>Volume</a:t>
            </a:r>
            <a:r>
              <a:rPr sz="3600" spc="20"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an</a:t>
            </a:r>
            <a:r>
              <a:rPr sz="3600" spc="20" dirty="0">
                <a:solidFill>
                  <a:srgbClr val="2E377E"/>
                </a:solidFill>
                <a:latin typeface="Georgia"/>
                <a:cs typeface="Georgia"/>
              </a:rPr>
              <a:t> </a:t>
            </a:r>
            <a:r>
              <a:rPr sz="3600" dirty="0">
                <a:solidFill>
                  <a:srgbClr val="2E377E"/>
                </a:solidFill>
                <a:latin typeface="Georgia"/>
                <a:cs typeface="Georgia"/>
              </a:rPr>
              <a:t>advanced</a:t>
            </a:r>
            <a:r>
              <a:rPr sz="3600" spc="20" dirty="0">
                <a:solidFill>
                  <a:srgbClr val="2E377E"/>
                </a:solidFill>
                <a:latin typeface="Georgia"/>
                <a:cs typeface="Georgia"/>
              </a:rPr>
              <a:t> </a:t>
            </a:r>
            <a:r>
              <a:rPr sz="3600" dirty="0">
                <a:solidFill>
                  <a:srgbClr val="2E377E"/>
                </a:solidFill>
                <a:latin typeface="Georgia"/>
                <a:cs typeface="Georgia"/>
              </a:rPr>
              <a:t>version</a:t>
            </a:r>
            <a:r>
              <a:rPr sz="3600" spc="25"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dirty="0">
                <a:solidFill>
                  <a:srgbClr val="2E377E"/>
                </a:solidFill>
                <a:latin typeface="Georgia"/>
                <a:cs typeface="Georgia"/>
              </a:rPr>
              <a:t>EmptyDir</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dirty="0">
                <a:solidFill>
                  <a:srgbClr val="2E377E"/>
                </a:solidFill>
                <a:latin typeface="Georgia"/>
                <a:cs typeface="Georgia"/>
              </a:rPr>
              <a:t>hostPath</a:t>
            </a:r>
            <a:r>
              <a:rPr sz="3600" spc="20" dirty="0">
                <a:solidFill>
                  <a:srgbClr val="2E377E"/>
                </a:solidFill>
                <a:latin typeface="Georgia"/>
                <a:cs typeface="Georgia"/>
              </a:rPr>
              <a:t> </a:t>
            </a:r>
            <a:r>
              <a:rPr sz="3600" spc="-10" dirty="0">
                <a:solidFill>
                  <a:srgbClr val="2E377E"/>
                </a:solidFill>
                <a:latin typeface="Georgia"/>
                <a:cs typeface="Georgia"/>
              </a:rPr>
              <a:t>volume types.</a:t>
            </a:r>
            <a:endParaRPr sz="3600">
              <a:latin typeface="Georgia"/>
              <a:cs typeface="Georgia"/>
            </a:endParaRPr>
          </a:p>
          <a:p>
            <a:pPr marL="12700" marR="5080">
              <a:lnSpc>
                <a:spcPct val="116300"/>
              </a:lnSpc>
            </a:pPr>
            <a:r>
              <a:rPr sz="3600" dirty="0">
                <a:solidFill>
                  <a:srgbClr val="2E377E"/>
                </a:solidFill>
                <a:latin typeface="Georgia"/>
                <a:cs typeface="Georgia"/>
              </a:rPr>
              <a:t>Persistent</a:t>
            </a:r>
            <a:r>
              <a:rPr sz="3600" spc="5" dirty="0">
                <a:solidFill>
                  <a:srgbClr val="2E377E"/>
                </a:solidFill>
                <a:latin typeface="Georgia"/>
                <a:cs typeface="Georgia"/>
              </a:rPr>
              <a:t> </a:t>
            </a:r>
            <a:r>
              <a:rPr sz="3600" dirty="0">
                <a:solidFill>
                  <a:srgbClr val="2E377E"/>
                </a:solidFill>
                <a:latin typeface="Georgia"/>
                <a:cs typeface="Georgia"/>
              </a:rPr>
              <a:t>Volume</a:t>
            </a:r>
            <a:r>
              <a:rPr sz="3600" spc="10" dirty="0">
                <a:solidFill>
                  <a:srgbClr val="2E377E"/>
                </a:solidFill>
                <a:latin typeface="Georgia"/>
                <a:cs typeface="Georgia"/>
              </a:rPr>
              <a:t> </a:t>
            </a:r>
            <a:r>
              <a:rPr sz="3600" dirty="0">
                <a:solidFill>
                  <a:srgbClr val="2E377E"/>
                </a:solidFill>
                <a:latin typeface="Georgia"/>
                <a:cs typeface="Georgia"/>
              </a:rPr>
              <a:t>does</a:t>
            </a:r>
            <a:r>
              <a:rPr sz="3600" spc="5" dirty="0">
                <a:solidFill>
                  <a:srgbClr val="2E377E"/>
                </a:solidFill>
                <a:latin typeface="Georgia"/>
                <a:cs typeface="Georgia"/>
              </a:rPr>
              <a:t> </a:t>
            </a:r>
            <a:r>
              <a:rPr sz="3600" dirty="0">
                <a:solidFill>
                  <a:srgbClr val="2E377E"/>
                </a:solidFill>
                <a:latin typeface="Georgia"/>
                <a:cs typeface="Georgia"/>
              </a:rPr>
              <a:t>not</a:t>
            </a:r>
            <a:r>
              <a:rPr sz="3600" spc="10" dirty="0">
                <a:solidFill>
                  <a:srgbClr val="2E377E"/>
                </a:solidFill>
                <a:latin typeface="Georgia"/>
                <a:cs typeface="Georgia"/>
              </a:rPr>
              <a:t> </a:t>
            </a:r>
            <a:r>
              <a:rPr sz="3600" dirty="0">
                <a:solidFill>
                  <a:srgbClr val="2E377E"/>
                </a:solidFill>
                <a:latin typeface="Georgia"/>
                <a:cs typeface="Georgia"/>
              </a:rPr>
              <a:t>store</a:t>
            </a:r>
            <a:r>
              <a:rPr sz="3600" spc="10" dirty="0">
                <a:solidFill>
                  <a:srgbClr val="2E377E"/>
                </a:solidFill>
                <a:latin typeface="Georgia"/>
                <a:cs typeface="Georgia"/>
              </a:rPr>
              <a:t>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data</a:t>
            </a:r>
            <a:r>
              <a:rPr sz="3600" spc="10" dirty="0">
                <a:solidFill>
                  <a:srgbClr val="2E377E"/>
                </a:solidFill>
                <a:latin typeface="Georgia"/>
                <a:cs typeface="Georgia"/>
              </a:rPr>
              <a:t> </a:t>
            </a:r>
            <a:r>
              <a:rPr sz="3600" spc="65" dirty="0">
                <a:solidFill>
                  <a:srgbClr val="2E377E"/>
                </a:solidFill>
                <a:latin typeface="Georgia"/>
                <a:cs typeface="Georgia"/>
              </a:rPr>
              <a:t>over</a:t>
            </a:r>
            <a:r>
              <a:rPr sz="3600" spc="5"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local</a:t>
            </a:r>
            <a:r>
              <a:rPr sz="3600" spc="10" dirty="0">
                <a:solidFill>
                  <a:srgbClr val="2E377E"/>
                </a:solidFill>
                <a:latin typeface="Georgia"/>
                <a:cs typeface="Georgia"/>
              </a:rPr>
              <a:t> </a:t>
            </a:r>
            <a:r>
              <a:rPr sz="3600" dirty="0">
                <a:solidFill>
                  <a:srgbClr val="2E377E"/>
                </a:solidFill>
                <a:latin typeface="Georgia"/>
                <a:cs typeface="Georgia"/>
              </a:rPr>
              <a:t>server.</a:t>
            </a:r>
            <a:r>
              <a:rPr sz="3600" spc="5" dirty="0">
                <a:solidFill>
                  <a:srgbClr val="2E377E"/>
                </a:solidFill>
                <a:latin typeface="Georgia"/>
                <a:cs typeface="Georgia"/>
              </a:rPr>
              <a:t> </a:t>
            </a:r>
            <a:r>
              <a:rPr sz="3600" dirty="0">
                <a:solidFill>
                  <a:srgbClr val="2E377E"/>
                </a:solidFill>
                <a:latin typeface="Georgia"/>
                <a:cs typeface="Georgia"/>
              </a:rPr>
              <a:t>It</a:t>
            </a:r>
            <a:r>
              <a:rPr sz="3600" spc="10" dirty="0">
                <a:solidFill>
                  <a:srgbClr val="2E377E"/>
                </a:solidFill>
                <a:latin typeface="Georgia"/>
                <a:cs typeface="Georgia"/>
              </a:rPr>
              <a:t> </a:t>
            </a:r>
            <a:r>
              <a:rPr sz="3600" dirty="0">
                <a:solidFill>
                  <a:srgbClr val="2E377E"/>
                </a:solidFill>
                <a:latin typeface="Georgia"/>
                <a:cs typeface="Georgia"/>
              </a:rPr>
              <a:t>stores</a:t>
            </a:r>
            <a:r>
              <a:rPr sz="3600" spc="5"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spc="-20" dirty="0">
                <a:solidFill>
                  <a:srgbClr val="2E377E"/>
                </a:solidFill>
                <a:latin typeface="Georgia"/>
                <a:cs typeface="Georgia"/>
              </a:rPr>
              <a:t>data </a:t>
            </a:r>
            <a:r>
              <a:rPr sz="3600" dirty="0">
                <a:solidFill>
                  <a:srgbClr val="2E377E"/>
                </a:solidFill>
                <a:latin typeface="Georgia"/>
                <a:cs typeface="Georgia"/>
              </a:rPr>
              <a:t>on</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cloud</a:t>
            </a:r>
            <a:r>
              <a:rPr sz="3600" spc="-20" dirty="0">
                <a:solidFill>
                  <a:srgbClr val="2E377E"/>
                </a:solidFill>
                <a:latin typeface="Georgia"/>
                <a:cs typeface="Georgia"/>
              </a:rPr>
              <a:t> </a:t>
            </a:r>
            <a:r>
              <a:rPr sz="3600" dirty="0">
                <a:solidFill>
                  <a:srgbClr val="2E377E"/>
                </a:solidFill>
                <a:latin typeface="Georgia"/>
                <a:cs typeface="Georgia"/>
              </a:rPr>
              <a:t>or</a:t>
            </a:r>
            <a:r>
              <a:rPr sz="3600" spc="-15" dirty="0">
                <a:solidFill>
                  <a:srgbClr val="2E377E"/>
                </a:solidFill>
                <a:latin typeface="Georgia"/>
                <a:cs typeface="Georgia"/>
              </a:rPr>
              <a:t> </a:t>
            </a:r>
            <a:r>
              <a:rPr sz="3600" dirty="0">
                <a:solidFill>
                  <a:srgbClr val="2E377E"/>
                </a:solidFill>
                <a:latin typeface="Georgia"/>
                <a:cs typeface="Georgia"/>
              </a:rPr>
              <a:t>some</a:t>
            </a:r>
            <a:r>
              <a:rPr sz="3600" spc="-20" dirty="0">
                <a:solidFill>
                  <a:srgbClr val="2E377E"/>
                </a:solidFill>
                <a:latin typeface="Georgia"/>
                <a:cs typeface="Georgia"/>
              </a:rPr>
              <a:t> </a:t>
            </a:r>
            <a:r>
              <a:rPr sz="3600" dirty="0">
                <a:solidFill>
                  <a:srgbClr val="2E377E"/>
                </a:solidFill>
                <a:latin typeface="Georgia"/>
                <a:cs typeface="Georgia"/>
              </a:rPr>
              <a:t>other</a:t>
            </a:r>
            <a:r>
              <a:rPr sz="3600" spc="-20" dirty="0">
                <a:solidFill>
                  <a:srgbClr val="2E377E"/>
                </a:solidFill>
                <a:latin typeface="Georgia"/>
                <a:cs typeface="Georgia"/>
              </a:rPr>
              <a:t> </a:t>
            </a:r>
            <a:r>
              <a:rPr sz="3600" dirty="0">
                <a:solidFill>
                  <a:srgbClr val="2E377E"/>
                </a:solidFill>
                <a:latin typeface="Georgia"/>
                <a:cs typeface="Georgia"/>
              </a:rPr>
              <a:t>place</a:t>
            </a:r>
            <a:r>
              <a:rPr sz="3600" spc="-20" dirty="0">
                <a:solidFill>
                  <a:srgbClr val="2E377E"/>
                </a:solidFill>
                <a:latin typeface="Georgia"/>
                <a:cs typeface="Georgia"/>
              </a:rPr>
              <a:t> </a:t>
            </a:r>
            <a:r>
              <a:rPr sz="3600" spc="65" dirty="0">
                <a:solidFill>
                  <a:srgbClr val="2E377E"/>
                </a:solidFill>
                <a:latin typeface="Georgia"/>
                <a:cs typeface="Georgia"/>
              </a:rPr>
              <a:t>where</a:t>
            </a:r>
            <a:r>
              <a:rPr sz="3600" spc="-15"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data</a:t>
            </a:r>
            <a:r>
              <a:rPr sz="3600" spc="-20" dirty="0">
                <a:solidFill>
                  <a:srgbClr val="2E377E"/>
                </a:solidFill>
                <a:latin typeface="Georgia"/>
                <a:cs typeface="Georgia"/>
              </a:rPr>
              <a:t> </a:t>
            </a:r>
            <a:r>
              <a:rPr sz="3600" dirty="0">
                <a:solidFill>
                  <a:srgbClr val="2E377E"/>
                </a:solidFill>
                <a:latin typeface="Georgia"/>
                <a:cs typeface="Georgia"/>
              </a:rPr>
              <a:t>is</a:t>
            </a:r>
            <a:r>
              <a:rPr sz="3600" spc="-15" dirty="0">
                <a:solidFill>
                  <a:srgbClr val="2E377E"/>
                </a:solidFill>
                <a:latin typeface="Georgia"/>
                <a:cs typeface="Georgia"/>
              </a:rPr>
              <a:t> </a:t>
            </a:r>
            <a:r>
              <a:rPr sz="3600" dirty="0">
                <a:solidFill>
                  <a:srgbClr val="2E377E"/>
                </a:solidFill>
                <a:latin typeface="Georgia"/>
                <a:cs typeface="Georgia"/>
              </a:rPr>
              <a:t>highly</a:t>
            </a:r>
            <a:r>
              <a:rPr sz="3600" spc="-20" dirty="0">
                <a:solidFill>
                  <a:srgbClr val="2E377E"/>
                </a:solidFill>
                <a:latin typeface="Georgia"/>
                <a:cs typeface="Georgia"/>
              </a:rPr>
              <a:t> </a:t>
            </a:r>
            <a:r>
              <a:rPr sz="3600" spc="-10" dirty="0">
                <a:solidFill>
                  <a:srgbClr val="2E377E"/>
                </a:solidFill>
                <a:latin typeface="Georgia"/>
                <a:cs typeface="Georgia"/>
              </a:rPr>
              <a:t>available.</a:t>
            </a:r>
            <a:endParaRPr sz="3600">
              <a:latin typeface="Georgia"/>
              <a:cs typeface="Georgia"/>
            </a:endParaRPr>
          </a:p>
          <a:p>
            <a:pPr marL="12700" marR="446405">
              <a:lnSpc>
                <a:spcPct val="116300"/>
              </a:lnSpc>
            </a:pPr>
            <a:r>
              <a:rPr sz="3600" dirty="0">
                <a:solidFill>
                  <a:srgbClr val="2E377E"/>
                </a:solidFill>
                <a:latin typeface="Georgia"/>
                <a:cs typeface="Georgia"/>
              </a:rPr>
              <a:t>In</a:t>
            </a:r>
            <a:r>
              <a:rPr sz="3600" spc="45" dirty="0">
                <a:solidFill>
                  <a:srgbClr val="2E377E"/>
                </a:solidFill>
                <a:latin typeface="Georgia"/>
                <a:cs typeface="Georgia"/>
              </a:rPr>
              <a:t> </a:t>
            </a:r>
            <a:r>
              <a:rPr sz="3600" dirty="0">
                <a:solidFill>
                  <a:srgbClr val="2E377E"/>
                </a:solidFill>
                <a:latin typeface="Georgia"/>
                <a:cs typeface="Georgia"/>
              </a:rPr>
              <a:t>previous</a:t>
            </a:r>
            <a:r>
              <a:rPr sz="3600" spc="45" dirty="0">
                <a:solidFill>
                  <a:srgbClr val="2E377E"/>
                </a:solidFill>
                <a:latin typeface="Georgia"/>
                <a:cs typeface="Georgia"/>
              </a:rPr>
              <a:t> </a:t>
            </a:r>
            <a:r>
              <a:rPr sz="3600" dirty="0">
                <a:solidFill>
                  <a:srgbClr val="2E377E"/>
                </a:solidFill>
                <a:latin typeface="Georgia"/>
                <a:cs typeface="Georgia"/>
              </a:rPr>
              <a:t>volume</a:t>
            </a:r>
            <a:r>
              <a:rPr sz="3600" spc="50" dirty="0">
                <a:solidFill>
                  <a:srgbClr val="2E377E"/>
                </a:solidFill>
                <a:latin typeface="Georgia"/>
                <a:cs typeface="Georgia"/>
              </a:rPr>
              <a:t> </a:t>
            </a:r>
            <a:r>
              <a:rPr sz="3600" dirty="0">
                <a:solidFill>
                  <a:srgbClr val="2E377E"/>
                </a:solidFill>
                <a:latin typeface="Georgia"/>
                <a:cs typeface="Georgia"/>
              </a:rPr>
              <a:t>types,</a:t>
            </a:r>
            <a:r>
              <a:rPr sz="3600" spc="45" dirty="0">
                <a:solidFill>
                  <a:srgbClr val="2E377E"/>
                </a:solidFill>
                <a:latin typeface="Georgia"/>
                <a:cs typeface="Georgia"/>
              </a:rPr>
              <a:t> </a:t>
            </a:r>
            <a:r>
              <a:rPr sz="3600" dirty="0">
                <a:solidFill>
                  <a:srgbClr val="2E377E"/>
                </a:solidFill>
                <a:latin typeface="Georgia"/>
                <a:cs typeface="Georgia"/>
              </a:rPr>
              <a:t>if</a:t>
            </a:r>
            <a:r>
              <a:rPr sz="3600" spc="45" dirty="0">
                <a:solidFill>
                  <a:srgbClr val="2E377E"/>
                </a:solidFill>
                <a:latin typeface="Georgia"/>
                <a:cs typeface="Georgia"/>
              </a:rPr>
              <a:t> </a:t>
            </a:r>
            <a:r>
              <a:rPr sz="3600" dirty="0">
                <a:solidFill>
                  <a:srgbClr val="2E377E"/>
                </a:solidFill>
                <a:latin typeface="Georgia"/>
                <a:cs typeface="Georgia"/>
              </a:rPr>
              <a:t>pods</a:t>
            </a:r>
            <a:r>
              <a:rPr sz="3600" spc="50" dirty="0">
                <a:solidFill>
                  <a:srgbClr val="2E377E"/>
                </a:solidFill>
                <a:latin typeface="Georgia"/>
                <a:cs typeface="Georgia"/>
              </a:rPr>
              <a:t> </a:t>
            </a:r>
            <a:r>
              <a:rPr sz="3600" spc="65" dirty="0">
                <a:solidFill>
                  <a:srgbClr val="2E377E"/>
                </a:solidFill>
                <a:latin typeface="Georgia"/>
                <a:cs typeface="Georgia"/>
              </a:rPr>
              <a:t>get</a:t>
            </a:r>
            <a:r>
              <a:rPr sz="3600" spc="45" dirty="0">
                <a:solidFill>
                  <a:srgbClr val="2E377E"/>
                </a:solidFill>
                <a:latin typeface="Georgia"/>
                <a:cs typeface="Georgia"/>
              </a:rPr>
              <a:t> </a:t>
            </a:r>
            <a:r>
              <a:rPr sz="3600" dirty="0">
                <a:solidFill>
                  <a:srgbClr val="2E377E"/>
                </a:solidFill>
                <a:latin typeface="Georgia"/>
                <a:cs typeface="Georgia"/>
              </a:rPr>
              <a:t>deleted</a:t>
            </a:r>
            <a:r>
              <a:rPr sz="3600" spc="45" dirty="0">
                <a:solidFill>
                  <a:srgbClr val="2E377E"/>
                </a:solidFill>
                <a:latin typeface="Georgia"/>
                <a:cs typeface="Georgia"/>
              </a:rPr>
              <a:t> </a:t>
            </a:r>
            <a:r>
              <a:rPr sz="3600" dirty="0">
                <a:solidFill>
                  <a:srgbClr val="2E377E"/>
                </a:solidFill>
                <a:latin typeface="Georgia"/>
                <a:cs typeface="Georgia"/>
              </a:rPr>
              <a:t>then</a:t>
            </a:r>
            <a:r>
              <a:rPr sz="3600" spc="50" dirty="0">
                <a:solidFill>
                  <a:srgbClr val="2E377E"/>
                </a:solidFill>
                <a:latin typeface="Georgia"/>
                <a:cs typeface="Georgia"/>
              </a:rPr>
              <a:t> the</a:t>
            </a:r>
            <a:r>
              <a:rPr sz="3600" spc="45" dirty="0">
                <a:solidFill>
                  <a:srgbClr val="2E377E"/>
                </a:solidFill>
                <a:latin typeface="Georgia"/>
                <a:cs typeface="Georgia"/>
              </a:rPr>
              <a:t> </a:t>
            </a:r>
            <a:r>
              <a:rPr sz="3600" dirty="0">
                <a:solidFill>
                  <a:srgbClr val="2E377E"/>
                </a:solidFill>
                <a:latin typeface="Georgia"/>
                <a:cs typeface="Georgia"/>
              </a:rPr>
              <a:t>data</a:t>
            </a:r>
            <a:r>
              <a:rPr sz="3600" spc="45" dirty="0">
                <a:solidFill>
                  <a:srgbClr val="2E377E"/>
                </a:solidFill>
                <a:latin typeface="Georgia"/>
                <a:cs typeface="Georgia"/>
              </a:rPr>
              <a:t> </a:t>
            </a:r>
            <a:r>
              <a:rPr sz="3600" dirty="0">
                <a:solidFill>
                  <a:srgbClr val="2E377E"/>
                </a:solidFill>
                <a:latin typeface="Georgia"/>
                <a:cs typeface="Georgia"/>
              </a:rPr>
              <a:t>will</a:t>
            </a:r>
            <a:r>
              <a:rPr sz="3600" spc="50" dirty="0">
                <a:solidFill>
                  <a:srgbClr val="2E377E"/>
                </a:solidFill>
                <a:latin typeface="Georgia"/>
                <a:cs typeface="Georgia"/>
              </a:rPr>
              <a:t> </a:t>
            </a:r>
            <a:r>
              <a:rPr sz="3600" dirty="0">
                <a:solidFill>
                  <a:srgbClr val="2E377E"/>
                </a:solidFill>
                <a:latin typeface="Georgia"/>
                <a:cs typeface="Georgia"/>
              </a:rPr>
              <a:t>be</a:t>
            </a:r>
            <a:r>
              <a:rPr sz="3600" spc="45" dirty="0">
                <a:solidFill>
                  <a:srgbClr val="2E377E"/>
                </a:solidFill>
                <a:latin typeface="Georgia"/>
                <a:cs typeface="Georgia"/>
              </a:rPr>
              <a:t> </a:t>
            </a:r>
            <a:r>
              <a:rPr sz="3600" dirty="0">
                <a:solidFill>
                  <a:srgbClr val="2E377E"/>
                </a:solidFill>
                <a:latin typeface="Georgia"/>
                <a:cs typeface="Georgia"/>
              </a:rPr>
              <a:t>deleted</a:t>
            </a:r>
            <a:r>
              <a:rPr sz="3600" spc="50" dirty="0">
                <a:solidFill>
                  <a:srgbClr val="2E377E"/>
                </a:solidFill>
                <a:latin typeface="Georgia"/>
                <a:cs typeface="Georgia"/>
              </a:rPr>
              <a:t> </a:t>
            </a:r>
            <a:r>
              <a:rPr sz="3600" spc="-25" dirty="0">
                <a:solidFill>
                  <a:srgbClr val="2E377E"/>
                </a:solidFill>
                <a:latin typeface="Georgia"/>
                <a:cs typeface="Georgia"/>
              </a:rPr>
              <a:t>as </a:t>
            </a:r>
            <a:r>
              <a:rPr sz="3600" dirty="0">
                <a:solidFill>
                  <a:srgbClr val="2E377E"/>
                </a:solidFill>
                <a:latin typeface="Georgia"/>
                <a:cs typeface="Georgia"/>
              </a:rPr>
              <a:t>well.</a:t>
            </a:r>
            <a:r>
              <a:rPr sz="3600" spc="-45" dirty="0">
                <a:solidFill>
                  <a:srgbClr val="2E377E"/>
                </a:solidFill>
                <a:latin typeface="Georgia"/>
                <a:cs typeface="Georgia"/>
              </a:rPr>
              <a:t> </a:t>
            </a:r>
            <a:r>
              <a:rPr sz="3600" dirty="0">
                <a:solidFill>
                  <a:srgbClr val="2E377E"/>
                </a:solidFill>
                <a:latin typeface="Georgia"/>
                <a:cs typeface="Georgia"/>
              </a:rPr>
              <a:t>But</a:t>
            </a:r>
            <a:r>
              <a:rPr sz="3600" spc="-40" dirty="0">
                <a:solidFill>
                  <a:srgbClr val="2E377E"/>
                </a:solidFill>
                <a:latin typeface="Georgia"/>
                <a:cs typeface="Georgia"/>
              </a:rPr>
              <a:t> </a:t>
            </a:r>
            <a:r>
              <a:rPr sz="3600" spc="75" dirty="0">
                <a:solidFill>
                  <a:srgbClr val="2E377E"/>
                </a:solidFill>
                <a:latin typeface="Georgia"/>
                <a:cs typeface="Georgia"/>
              </a:rPr>
              <a:t>with</a:t>
            </a:r>
            <a:r>
              <a:rPr sz="3600" spc="-40" dirty="0">
                <a:solidFill>
                  <a:srgbClr val="2E377E"/>
                </a:solidFill>
                <a:latin typeface="Georgia"/>
                <a:cs typeface="Georgia"/>
              </a:rPr>
              <a:t> </a:t>
            </a:r>
            <a:r>
              <a:rPr sz="3600" spc="5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help</a:t>
            </a:r>
            <a:r>
              <a:rPr sz="3600" spc="-40" dirty="0">
                <a:solidFill>
                  <a:srgbClr val="2E377E"/>
                </a:solidFill>
                <a:latin typeface="Georgia"/>
                <a:cs typeface="Georgia"/>
              </a:rPr>
              <a:t> </a:t>
            </a:r>
            <a:r>
              <a:rPr sz="3600" dirty="0">
                <a:solidFill>
                  <a:srgbClr val="2E377E"/>
                </a:solidFill>
                <a:latin typeface="Georgia"/>
                <a:cs typeface="Georgia"/>
              </a:rPr>
              <a:t>of</a:t>
            </a:r>
            <a:r>
              <a:rPr sz="3600" spc="-40" dirty="0">
                <a:solidFill>
                  <a:srgbClr val="2E377E"/>
                </a:solidFill>
                <a:latin typeface="Georgia"/>
                <a:cs typeface="Georgia"/>
              </a:rPr>
              <a:t> </a:t>
            </a:r>
            <a:r>
              <a:rPr sz="3600" dirty="0">
                <a:solidFill>
                  <a:srgbClr val="2E377E"/>
                </a:solidFill>
                <a:latin typeface="Georgia"/>
                <a:cs typeface="Georgia"/>
              </a:rPr>
              <a:t>Persistent</a:t>
            </a:r>
            <a:r>
              <a:rPr sz="3600" spc="-40" dirty="0">
                <a:solidFill>
                  <a:srgbClr val="2E377E"/>
                </a:solidFill>
                <a:latin typeface="Georgia"/>
                <a:cs typeface="Georgia"/>
              </a:rPr>
              <a:t> </a:t>
            </a:r>
            <a:r>
              <a:rPr sz="3600" dirty="0">
                <a:solidFill>
                  <a:srgbClr val="2E377E"/>
                </a:solidFill>
                <a:latin typeface="Georgia"/>
                <a:cs typeface="Georgia"/>
              </a:rPr>
              <a:t>Volume,</a:t>
            </a:r>
            <a:r>
              <a:rPr sz="3600" spc="-45" dirty="0">
                <a:solidFill>
                  <a:srgbClr val="2E377E"/>
                </a:solidFill>
                <a:latin typeface="Georgia"/>
                <a:cs typeface="Georgia"/>
              </a:rPr>
              <a:t> </a:t>
            </a:r>
            <a:r>
              <a:rPr sz="3600" spc="5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data</a:t>
            </a:r>
            <a:r>
              <a:rPr sz="3600" spc="-40" dirty="0">
                <a:solidFill>
                  <a:srgbClr val="2E377E"/>
                </a:solidFill>
                <a:latin typeface="Georgia"/>
                <a:cs typeface="Georgia"/>
              </a:rPr>
              <a:t> </a:t>
            </a:r>
            <a:r>
              <a:rPr sz="3600" dirty="0">
                <a:solidFill>
                  <a:srgbClr val="2E377E"/>
                </a:solidFill>
                <a:latin typeface="Georgia"/>
                <a:cs typeface="Georgia"/>
              </a:rPr>
              <a:t>can</a:t>
            </a:r>
            <a:r>
              <a:rPr sz="3600" spc="-45" dirty="0">
                <a:solidFill>
                  <a:srgbClr val="2E377E"/>
                </a:solidFill>
                <a:latin typeface="Georgia"/>
                <a:cs typeface="Georgia"/>
              </a:rPr>
              <a:t> </a:t>
            </a:r>
            <a:r>
              <a:rPr sz="3600" dirty="0">
                <a:solidFill>
                  <a:srgbClr val="2E377E"/>
                </a:solidFill>
                <a:latin typeface="Georgia"/>
                <a:cs typeface="Georgia"/>
              </a:rPr>
              <a:t>be</a:t>
            </a:r>
            <a:r>
              <a:rPr sz="3600" spc="-40" dirty="0">
                <a:solidFill>
                  <a:srgbClr val="2E377E"/>
                </a:solidFill>
                <a:latin typeface="Georgia"/>
                <a:cs typeface="Georgia"/>
              </a:rPr>
              <a:t> </a:t>
            </a:r>
            <a:r>
              <a:rPr sz="3600" dirty="0">
                <a:solidFill>
                  <a:srgbClr val="2E377E"/>
                </a:solidFill>
                <a:latin typeface="Georgia"/>
                <a:cs typeface="Georgia"/>
              </a:rPr>
              <a:t>shared</a:t>
            </a:r>
            <a:r>
              <a:rPr sz="3600" spc="-40" dirty="0">
                <a:solidFill>
                  <a:srgbClr val="2E377E"/>
                </a:solidFill>
                <a:latin typeface="Georgia"/>
                <a:cs typeface="Georgia"/>
              </a:rPr>
              <a:t> </a:t>
            </a:r>
            <a:r>
              <a:rPr sz="3600" spc="75" dirty="0">
                <a:solidFill>
                  <a:srgbClr val="2E377E"/>
                </a:solidFill>
                <a:latin typeface="Georgia"/>
                <a:cs typeface="Georgia"/>
              </a:rPr>
              <a:t>with</a:t>
            </a:r>
            <a:r>
              <a:rPr sz="3600" spc="-40" dirty="0">
                <a:solidFill>
                  <a:srgbClr val="2E377E"/>
                </a:solidFill>
                <a:latin typeface="Georgia"/>
                <a:cs typeface="Georgia"/>
              </a:rPr>
              <a:t> </a:t>
            </a:r>
            <a:r>
              <a:rPr sz="3600" spc="-20" dirty="0">
                <a:solidFill>
                  <a:srgbClr val="2E377E"/>
                </a:solidFill>
                <a:latin typeface="Georgia"/>
                <a:cs typeface="Georgia"/>
              </a:rPr>
              <a:t>other </a:t>
            </a:r>
            <a:r>
              <a:rPr sz="3600" dirty="0">
                <a:solidFill>
                  <a:srgbClr val="2E377E"/>
                </a:solidFill>
                <a:latin typeface="Georgia"/>
                <a:cs typeface="Georgia"/>
              </a:rPr>
              <a:t>pods</a:t>
            </a:r>
            <a:r>
              <a:rPr sz="3600" spc="-10" dirty="0">
                <a:solidFill>
                  <a:srgbClr val="2E377E"/>
                </a:solidFill>
                <a:latin typeface="Georgia"/>
                <a:cs typeface="Georgia"/>
              </a:rPr>
              <a:t> </a:t>
            </a:r>
            <a:r>
              <a:rPr sz="3600" dirty="0">
                <a:solidFill>
                  <a:srgbClr val="2E377E"/>
                </a:solidFill>
                <a:latin typeface="Georgia"/>
                <a:cs typeface="Georgia"/>
              </a:rPr>
              <a:t>or</a:t>
            </a:r>
            <a:r>
              <a:rPr sz="3600" spc="-5" dirty="0">
                <a:solidFill>
                  <a:srgbClr val="2E377E"/>
                </a:solidFill>
                <a:latin typeface="Georgia"/>
                <a:cs typeface="Georgia"/>
              </a:rPr>
              <a:t> </a:t>
            </a:r>
            <a:r>
              <a:rPr sz="3600" dirty="0">
                <a:solidFill>
                  <a:srgbClr val="2E377E"/>
                </a:solidFill>
                <a:latin typeface="Georgia"/>
                <a:cs typeface="Georgia"/>
              </a:rPr>
              <a:t>other</a:t>
            </a:r>
            <a:r>
              <a:rPr sz="3600" spc="-5" dirty="0">
                <a:solidFill>
                  <a:srgbClr val="2E377E"/>
                </a:solidFill>
                <a:latin typeface="Georgia"/>
                <a:cs typeface="Georgia"/>
              </a:rPr>
              <a:t> </a:t>
            </a:r>
            <a:r>
              <a:rPr sz="3600" spc="70" dirty="0">
                <a:solidFill>
                  <a:srgbClr val="2E377E"/>
                </a:solidFill>
                <a:latin typeface="Georgia"/>
                <a:cs typeface="Georgia"/>
              </a:rPr>
              <a:t>worker</a:t>
            </a:r>
            <a:r>
              <a:rPr sz="3600" spc="-5" dirty="0">
                <a:solidFill>
                  <a:srgbClr val="2E377E"/>
                </a:solidFill>
                <a:latin typeface="Georgia"/>
                <a:cs typeface="Georgia"/>
              </a:rPr>
              <a:t> </a:t>
            </a:r>
            <a:r>
              <a:rPr sz="3600" dirty="0">
                <a:solidFill>
                  <a:srgbClr val="2E377E"/>
                </a:solidFill>
                <a:latin typeface="Georgia"/>
                <a:cs typeface="Georgia"/>
              </a:rPr>
              <a:t>node’s</a:t>
            </a:r>
            <a:r>
              <a:rPr sz="3600" spc="-5" dirty="0">
                <a:solidFill>
                  <a:srgbClr val="2E377E"/>
                </a:solidFill>
                <a:latin typeface="Georgia"/>
                <a:cs typeface="Georgia"/>
              </a:rPr>
              <a:t> </a:t>
            </a:r>
            <a:r>
              <a:rPr sz="3600" dirty="0">
                <a:solidFill>
                  <a:srgbClr val="2E377E"/>
                </a:solidFill>
                <a:latin typeface="Georgia"/>
                <a:cs typeface="Georgia"/>
              </a:rPr>
              <a:t>pods</a:t>
            </a:r>
            <a:r>
              <a:rPr sz="3600" spc="-5" dirty="0">
                <a:solidFill>
                  <a:srgbClr val="2E377E"/>
                </a:solidFill>
                <a:latin typeface="Georgia"/>
                <a:cs typeface="Georgia"/>
              </a:rPr>
              <a:t> </a:t>
            </a:r>
            <a:r>
              <a:rPr sz="3600" dirty="0">
                <a:solidFill>
                  <a:srgbClr val="2E377E"/>
                </a:solidFill>
                <a:latin typeface="Georgia"/>
                <a:cs typeface="Georgia"/>
              </a:rPr>
              <a:t>as</a:t>
            </a:r>
            <a:r>
              <a:rPr sz="3600" spc="-5" dirty="0">
                <a:solidFill>
                  <a:srgbClr val="2E377E"/>
                </a:solidFill>
                <a:latin typeface="Georgia"/>
                <a:cs typeface="Georgia"/>
              </a:rPr>
              <a:t> </a:t>
            </a:r>
            <a:r>
              <a:rPr sz="3600" spc="55" dirty="0">
                <a:solidFill>
                  <a:srgbClr val="2E377E"/>
                </a:solidFill>
                <a:latin typeface="Georgia"/>
                <a:cs typeface="Georgia"/>
              </a:rPr>
              <a:t>well</a:t>
            </a:r>
            <a:r>
              <a:rPr sz="3600" spc="-5" dirty="0">
                <a:solidFill>
                  <a:srgbClr val="2E377E"/>
                </a:solidFill>
                <a:latin typeface="Georgia"/>
                <a:cs typeface="Georgia"/>
              </a:rPr>
              <a:t> </a:t>
            </a:r>
            <a:r>
              <a:rPr sz="3600" dirty="0">
                <a:solidFill>
                  <a:srgbClr val="2E377E"/>
                </a:solidFill>
                <a:latin typeface="Georgia"/>
                <a:cs typeface="Georgia"/>
              </a:rPr>
              <a:t>after</a:t>
            </a:r>
            <a:r>
              <a:rPr sz="3600" spc="-5" dirty="0">
                <a:solidFill>
                  <a:srgbClr val="2E377E"/>
                </a:solidFill>
                <a:latin typeface="Georgia"/>
                <a:cs typeface="Georgia"/>
              </a:rPr>
              <a:t> </a:t>
            </a:r>
            <a:r>
              <a:rPr sz="3600" spc="50" dirty="0">
                <a:solidFill>
                  <a:srgbClr val="2E377E"/>
                </a:solidFill>
                <a:latin typeface="Georgia"/>
                <a:cs typeface="Georgia"/>
              </a:rPr>
              <a:t>the</a:t>
            </a:r>
            <a:r>
              <a:rPr sz="3600" spc="-5" dirty="0">
                <a:solidFill>
                  <a:srgbClr val="2E377E"/>
                </a:solidFill>
                <a:latin typeface="Georgia"/>
                <a:cs typeface="Georgia"/>
              </a:rPr>
              <a:t> </a:t>
            </a:r>
            <a:r>
              <a:rPr sz="3600" dirty="0">
                <a:solidFill>
                  <a:srgbClr val="2E377E"/>
                </a:solidFill>
                <a:latin typeface="Georgia"/>
                <a:cs typeface="Georgia"/>
              </a:rPr>
              <a:t>deletion</a:t>
            </a:r>
            <a:r>
              <a:rPr sz="3600" spc="-10" dirty="0">
                <a:solidFill>
                  <a:srgbClr val="2E377E"/>
                </a:solidFill>
                <a:latin typeface="Georgia"/>
                <a:cs typeface="Georgia"/>
              </a:rPr>
              <a:t> </a:t>
            </a:r>
            <a:r>
              <a:rPr sz="3600" dirty="0">
                <a:solidFill>
                  <a:srgbClr val="2E377E"/>
                </a:solidFill>
                <a:latin typeface="Georgia"/>
                <a:cs typeface="Georgia"/>
              </a:rPr>
              <a:t>of</a:t>
            </a:r>
            <a:r>
              <a:rPr sz="3600" spc="-5" dirty="0">
                <a:solidFill>
                  <a:srgbClr val="2E377E"/>
                </a:solidFill>
                <a:latin typeface="Georgia"/>
                <a:cs typeface="Georgia"/>
              </a:rPr>
              <a:t> </a:t>
            </a:r>
            <a:r>
              <a:rPr sz="3600" spc="-20" dirty="0">
                <a:solidFill>
                  <a:srgbClr val="2E377E"/>
                </a:solidFill>
                <a:latin typeface="Georgia"/>
                <a:cs typeface="Georgia"/>
              </a:rPr>
              <a:t>pods.</a:t>
            </a:r>
            <a:endParaRPr sz="3600">
              <a:latin typeface="Georgia"/>
              <a:cs typeface="Georgia"/>
            </a:endParaRPr>
          </a:p>
          <a:p>
            <a:pPr marL="12700" marR="316230">
              <a:lnSpc>
                <a:spcPct val="116300"/>
              </a:lnSpc>
            </a:pPr>
            <a:r>
              <a:rPr sz="3600" dirty="0">
                <a:solidFill>
                  <a:srgbClr val="2E377E"/>
                </a:solidFill>
                <a:latin typeface="Georgia"/>
                <a:cs typeface="Georgia"/>
              </a:rPr>
              <a:t>PVs</a:t>
            </a:r>
            <a:r>
              <a:rPr sz="3600" spc="-15" dirty="0">
                <a:solidFill>
                  <a:srgbClr val="2E377E"/>
                </a:solidFill>
                <a:latin typeface="Georgia"/>
                <a:cs typeface="Georgia"/>
              </a:rPr>
              <a:t> </a:t>
            </a:r>
            <a:r>
              <a:rPr sz="3600" dirty="0">
                <a:solidFill>
                  <a:srgbClr val="2E377E"/>
                </a:solidFill>
                <a:latin typeface="Georgia"/>
                <a:cs typeface="Georgia"/>
              </a:rPr>
              <a:t>are</a:t>
            </a:r>
            <a:r>
              <a:rPr sz="3600" spc="-15" dirty="0">
                <a:solidFill>
                  <a:srgbClr val="2E377E"/>
                </a:solidFill>
                <a:latin typeface="Georgia"/>
                <a:cs typeface="Georgia"/>
              </a:rPr>
              <a:t> </a:t>
            </a:r>
            <a:r>
              <a:rPr sz="3600" dirty="0">
                <a:solidFill>
                  <a:srgbClr val="2E377E"/>
                </a:solidFill>
                <a:latin typeface="Georgia"/>
                <a:cs typeface="Georgia"/>
              </a:rPr>
              <a:t>independent</a:t>
            </a:r>
            <a:r>
              <a:rPr sz="3600" spc="-15"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pod</a:t>
            </a:r>
            <a:r>
              <a:rPr sz="3600" spc="-15" dirty="0">
                <a:solidFill>
                  <a:srgbClr val="2E377E"/>
                </a:solidFill>
                <a:latin typeface="Georgia"/>
                <a:cs typeface="Georgia"/>
              </a:rPr>
              <a:t> </a:t>
            </a:r>
            <a:r>
              <a:rPr sz="3600" dirty="0">
                <a:solidFill>
                  <a:srgbClr val="2E377E"/>
                </a:solidFill>
                <a:latin typeface="Georgia"/>
                <a:cs typeface="Georgia"/>
              </a:rPr>
              <a:t>lifecycle,</a:t>
            </a:r>
            <a:r>
              <a:rPr sz="3600" spc="-15" dirty="0">
                <a:solidFill>
                  <a:srgbClr val="2E377E"/>
                </a:solidFill>
                <a:latin typeface="Georgia"/>
                <a:cs typeface="Georgia"/>
              </a:rPr>
              <a:t> </a:t>
            </a:r>
            <a:r>
              <a:rPr sz="3600" dirty="0">
                <a:solidFill>
                  <a:srgbClr val="2E377E"/>
                </a:solidFill>
                <a:latin typeface="Georgia"/>
                <a:cs typeface="Georgia"/>
              </a:rPr>
              <a:t>which</a:t>
            </a:r>
            <a:r>
              <a:rPr sz="3600" spc="-15" dirty="0">
                <a:solidFill>
                  <a:srgbClr val="2E377E"/>
                </a:solidFill>
                <a:latin typeface="Georgia"/>
                <a:cs typeface="Georgia"/>
              </a:rPr>
              <a:t> </a:t>
            </a:r>
            <a:r>
              <a:rPr sz="3600" dirty="0">
                <a:solidFill>
                  <a:srgbClr val="2E377E"/>
                </a:solidFill>
                <a:latin typeface="Georgia"/>
                <a:cs typeface="Georgia"/>
              </a:rPr>
              <a:t>means</a:t>
            </a:r>
            <a:r>
              <a:rPr sz="3600" spc="-15" dirty="0">
                <a:solidFill>
                  <a:srgbClr val="2E377E"/>
                </a:solidFill>
                <a:latin typeface="Georgia"/>
                <a:cs typeface="Georgia"/>
              </a:rPr>
              <a:t> </a:t>
            </a:r>
            <a:r>
              <a:rPr sz="3600" spc="85" dirty="0">
                <a:solidFill>
                  <a:srgbClr val="2E377E"/>
                </a:solidFill>
                <a:latin typeface="Georgia"/>
                <a:cs typeface="Georgia"/>
              </a:rPr>
              <a:t>they</a:t>
            </a:r>
            <a:r>
              <a:rPr sz="3600" spc="-10" dirty="0">
                <a:solidFill>
                  <a:srgbClr val="2E377E"/>
                </a:solidFill>
                <a:latin typeface="Georgia"/>
                <a:cs typeface="Georgia"/>
              </a:rPr>
              <a:t> </a:t>
            </a:r>
            <a:r>
              <a:rPr sz="3600" dirty="0">
                <a:solidFill>
                  <a:srgbClr val="2E377E"/>
                </a:solidFill>
                <a:latin typeface="Georgia"/>
                <a:cs typeface="Georgia"/>
              </a:rPr>
              <a:t>can</a:t>
            </a:r>
            <a:r>
              <a:rPr sz="3600" spc="-15" dirty="0">
                <a:solidFill>
                  <a:srgbClr val="2E377E"/>
                </a:solidFill>
                <a:latin typeface="Georgia"/>
                <a:cs typeface="Georgia"/>
              </a:rPr>
              <a:t> </a:t>
            </a:r>
            <a:r>
              <a:rPr sz="3600" spc="60" dirty="0">
                <a:solidFill>
                  <a:srgbClr val="2E377E"/>
                </a:solidFill>
                <a:latin typeface="Georgia"/>
                <a:cs typeface="Georgia"/>
              </a:rPr>
              <a:t>exist</a:t>
            </a:r>
            <a:r>
              <a:rPr sz="3600" spc="-15" dirty="0">
                <a:solidFill>
                  <a:srgbClr val="2E377E"/>
                </a:solidFill>
                <a:latin typeface="Georgia"/>
                <a:cs typeface="Georgia"/>
              </a:rPr>
              <a:t> </a:t>
            </a:r>
            <a:r>
              <a:rPr sz="3600" spc="70" dirty="0">
                <a:solidFill>
                  <a:srgbClr val="2E377E"/>
                </a:solidFill>
                <a:latin typeface="Georgia"/>
                <a:cs typeface="Georgia"/>
              </a:rPr>
              <a:t>even</a:t>
            </a:r>
            <a:r>
              <a:rPr sz="3600" spc="-15" dirty="0">
                <a:solidFill>
                  <a:srgbClr val="2E377E"/>
                </a:solidFill>
                <a:latin typeface="Georgia"/>
                <a:cs typeface="Georgia"/>
              </a:rPr>
              <a:t> </a:t>
            </a:r>
            <a:r>
              <a:rPr sz="3600" dirty="0">
                <a:solidFill>
                  <a:srgbClr val="2E377E"/>
                </a:solidFill>
                <a:latin typeface="Georgia"/>
                <a:cs typeface="Georgia"/>
              </a:rPr>
              <a:t>if</a:t>
            </a:r>
            <a:r>
              <a:rPr sz="3600" spc="-15" dirty="0">
                <a:solidFill>
                  <a:srgbClr val="2E377E"/>
                </a:solidFill>
                <a:latin typeface="Georgia"/>
                <a:cs typeface="Georgia"/>
              </a:rPr>
              <a:t> </a:t>
            </a:r>
            <a:r>
              <a:rPr sz="3600" spc="-25" dirty="0">
                <a:solidFill>
                  <a:srgbClr val="2E377E"/>
                </a:solidFill>
                <a:latin typeface="Georgia"/>
                <a:cs typeface="Georgia"/>
              </a:rPr>
              <a:t>no </a:t>
            </a:r>
            <a:r>
              <a:rPr sz="3600" dirty="0">
                <a:solidFill>
                  <a:srgbClr val="2E377E"/>
                </a:solidFill>
                <a:latin typeface="Georgia"/>
                <a:cs typeface="Georgia"/>
              </a:rPr>
              <a:t>pod</a:t>
            </a:r>
            <a:r>
              <a:rPr sz="3600" spc="-40" dirty="0">
                <a:solidFill>
                  <a:srgbClr val="2E377E"/>
                </a:solidFill>
                <a:latin typeface="Georgia"/>
                <a:cs typeface="Georgia"/>
              </a:rPr>
              <a:t> </a:t>
            </a:r>
            <a:r>
              <a:rPr sz="3600" dirty="0">
                <a:solidFill>
                  <a:srgbClr val="2E377E"/>
                </a:solidFill>
                <a:latin typeface="Georgia"/>
                <a:cs typeface="Georgia"/>
              </a:rPr>
              <a:t>is</a:t>
            </a:r>
            <a:r>
              <a:rPr sz="3600" spc="-35" dirty="0">
                <a:solidFill>
                  <a:srgbClr val="2E377E"/>
                </a:solidFill>
                <a:latin typeface="Georgia"/>
                <a:cs typeface="Georgia"/>
              </a:rPr>
              <a:t> </a:t>
            </a:r>
            <a:r>
              <a:rPr sz="3600" dirty="0">
                <a:solidFill>
                  <a:srgbClr val="2E377E"/>
                </a:solidFill>
                <a:latin typeface="Georgia"/>
                <a:cs typeface="Georgia"/>
              </a:rPr>
              <a:t>using</a:t>
            </a:r>
            <a:r>
              <a:rPr sz="3600" spc="-40" dirty="0">
                <a:solidFill>
                  <a:srgbClr val="2E377E"/>
                </a:solidFill>
                <a:latin typeface="Georgia"/>
                <a:cs typeface="Georgia"/>
              </a:rPr>
              <a:t> </a:t>
            </a:r>
            <a:r>
              <a:rPr sz="3600" spc="-20" dirty="0">
                <a:solidFill>
                  <a:srgbClr val="2E377E"/>
                </a:solidFill>
                <a:latin typeface="Georgia"/>
                <a:cs typeface="Georgia"/>
              </a:rPr>
              <a:t>them.</a:t>
            </a:r>
            <a:endParaRPr sz="3600">
              <a:latin typeface="Georgia"/>
              <a:cs typeface="Georgia"/>
            </a:endParaRPr>
          </a:p>
          <a:p>
            <a:pPr marL="12700" marR="304800">
              <a:lnSpc>
                <a:spcPct val="116300"/>
              </a:lnSpc>
              <a:spcBef>
                <a:spcPts val="5"/>
              </a:spcBef>
            </a:pPr>
            <a:r>
              <a:rPr sz="3600" dirty="0">
                <a:solidFill>
                  <a:srgbClr val="2E377E"/>
                </a:solidFill>
                <a:latin typeface="Georgia"/>
                <a:cs typeface="Georgia"/>
              </a:rPr>
              <a:t>With</a:t>
            </a:r>
            <a:r>
              <a:rPr sz="3600" spc="-20" dirty="0">
                <a:solidFill>
                  <a:srgbClr val="2E377E"/>
                </a:solidFill>
                <a:latin typeface="Georgia"/>
                <a:cs typeface="Georgia"/>
              </a:rPr>
              <a:t> </a:t>
            </a:r>
            <a:r>
              <a:rPr sz="3600" spc="5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help</a:t>
            </a:r>
            <a:r>
              <a:rPr sz="3600" spc="-15"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dirty="0">
                <a:solidFill>
                  <a:srgbClr val="2E377E"/>
                </a:solidFill>
                <a:latin typeface="Georgia"/>
                <a:cs typeface="Georgia"/>
              </a:rPr>
              <a:t>Persistent</a:t>
            </a:r>
            <a:r>
              <a:rPr sz="3600" spc="-15" dirty="0">
                <a:solidFill>
                  <a:srgbClr val="2E377E"/>
                </a:solidFill>
                <a:latin typeface="Georgia"/>
                <a:cs typeface="Georgia"/>
              </a:rPr>
              <a:t> </a:t>
            </a:r>
            <a:r>
              <a:rPr sz="3600" dirty="0">
                <a:solidFill>
                  <a:srgbClr val="2E377E"/>
                </a:solidFill>
                <a:latin typeface="Georgia"/>
                <a:cs typeface="Georgia"/>
              </a:rPr>
              <a:t>Volume,</a:t>
            </a:r>
            <a:r>
              <a:rPr sz="3600" spc="-15" dirty="0">
                <a:solidFill>
                  <a:srgbClr val="2E377E"/>
                </a:solidFill>
                <a:latin typeface="Georgia"/>
                <a:cs typeface="Georgia"/>
              </a:rPr>
              <a:t> </a:t>
            </a:r>
            <a:r>
              <a:rPr sz="3600" spc="5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data</a:t>
            </a:r>
            <a:r>
              <a:rPr sz="3600" spc="-20" dirty="0">
                <a:solidFill>
                  <a:srgbClr val="2E377E"/>
                </a:solidFill>
                <a:latin typeface="Georgia"/>
                <a:cs typeface="Georgia"/>
              </a:rPr>
              <a:t> </a:t>
            </a:r>
            <a:r>
              <a:rPr sz="3600" dirty="0">
                <a:solidFill>
                  <a:srgbClr val="2E377E"/>
                </a:solidFill>
                <a:latin typeface="Georgia"/>
                <a:cs typeface="Georgia"/>
              </a:rPr>
              <a:t>will</a:t>
            </a:r>
            <a:r>
              <a:rPr sz="3600" spc="-15" dirty="0">
                <a:solidFill>
                  <a:srgbClr val="2E377E"/>
                </a:solidFill>
                <a:latin typeface="Georgia"/>
                <a:cs typeface="Georgia"/>
              </a:rPr>
              <a:t> </a:t>
            </a:r>
            <a:r>
              <a:rPr sz="3600" dirty="0">
                <a:solidFill>
                  <a:srgbClr val="2E377E"/>
                </a:solidFill>
                <a:latin typeface="Georgia"/>
                <a:cs typeface="Georgia"/>
              </a:rPr>
              <a:t>be</a:t>
            </a:r>
            <a:r>
              <a:rPr sz="3600" spc="-15" dirty="0">
                <a:solidFill>
                  <a:srgbClr val="2E377E"/>
                </a:solidFill>
                <a:latin typeface="Georgia"/>
                <a:cs typeface="Georgia"/>
              </a:rPr>
              <a:t> </a:t>
            </a:r>
            <a:r>
              <a:rPr sz="3600" dirty="0">
                <a:solidFill>
                  <a:srgbClr val="2E377E"/>
                </a:solidFill>
                <a:latin typeface="Georgia"/>
                <a:cs typeface="Georgia"/>
              </a:rPr>
              <a:t>stored</a:t>
            </a:r>
            <a:r>
              <a:rPr sz="3600" spc="-15" dirty="0">
                <a:solidFill>
                  <a:srgbClr val="2E377E"/>
                </a:solidFill>
                <a:latin typeface="Georgia"/>
                <a:cs typeface="Georgia"/>
              </a:rPr>
              <a:t> </a:t>
            </a:r>
            <a:r>
              <a:rPr sz="3600" dirty="0">
                <a:solidFill>
                  <a:srgbClr val="2E377E"/>
                </a:solidFill>
                <a:latin typeface="Georgia"/>
                <a:cs typeface="Georgia"/>
              </a:rPr>
              <a:t>on</a:t>
            </a:r>
            <a:r>
              <a:rPr sz="3600" spc="-15" dirty="0">
                <a:solidFill>
                  <a:srgbClr val="2E377E"/>
                </a:solidFill>
                <a:latin typeface="Georgia"/>
                <a:cs typeface="Georgia"/>
              </a:rPr>
              <a:t> </a:t>
            </a:r>
            <a:r>
              <a:rPr sz="3600" dirty="0">
                <a:solidFill>
                  <a:srgbClr val="2E377E"/>
                </a:solidFill>
                <a:latin typeface="Georgia"/>
                <a:cs typeface="Georgia"/>
              </a:rPr>
              <a:t>a</a:t>
            </a:r>
            <a:r>
              <a:rPr sz="3600" spc="-15" dirty="0">
                <a:solidFill>
                  <a:srgbClr val="2E377E"/>
                </a:solidFill>
                <a:latin typeface="Georgia"/>
                <a:cs typeface="Georgia"/>
              </a:rPr>
              <a:t> </a:t>
            </a:r>
            <a:r>
              <a:rPr sz="3600" dirty="0">
                <a:solidFill>
                  <a:srgbClr val="2E377E"/>
                </a:solidFill>
                <a:latin typeface="Georgia"/>
                <a:cs typeface="Georgia"/>
              </a:rPr>
              <a:t>central</a:t>
            </a:r>
            <a:r>
              <a:rPr sz="3600" spc="-15" dirty="0">
                <a:solidFill>
                  <a:srgbClr val="2E377E"/>
                </a:solidFill>
                <a:latin typeface="Georgia"/>
                <a:cs typeface="Georgia"/>
              </a:rPr>
              <a:t> </a:t>
            </a:r>
            <a:r>
              <a:rPr sz="3600" spc="-10" dirty="0">
                <a:solidFill>
                  <a:srgbClr val="2E377E"/>
                </a:solidFill>
                <a:latin typeface="Georgia"/>
                <a:cs typeface="Georgia"/>
              </a:rPr>
              <a:t>location </a:t>
            </a:r>
            <a:r>
              <a:rPr sz="3600" dirty="0">
                <a:solidFill>
                  <a:srgbClr val="2E377E"/>
                </a:solidFill>
                <a:latin typeface="Georgia"/>
                <a:cs typeface="Georgia"/>
              </a:rPr>
              <a:t>such</a:t>
            </a:r>
            <a:r>
              <a:rPr sz="3600" spc="-40" dirty="0">
                <a:solidFill>
                  <a:srgbClr val="2E377E"/>
                </a:solidFill>
                <a:latin typeface="Georgia"/>
                <a:cs typeface="Georgia"/>
              </a:rPr>
              <a:t> </a:t>
            </a:r>
            <a:r>
              <a:rPr sz="3600" dirty="0">
                <a:solidFill>
                  <a:srgbClr val="2E377E"/>
                </a:solidFill>
                <a:latin typeface="Georgia"/>
                <a:cs typeface="Georgia"/>
              </a:rPr>
              <a:t>as</a:t>
            </a:r>
            <a:r>
              <a:rPr sz="3600" spc="-35" dirty="0">
                <a:solidFill>
                  <a:srgbClr val="2E377E"/>
                </a:solidFill>
                <a:latin typeface="Georgia"/>
                <a:cs typeface="Georgia"/>
              </a:rPr>
              <a:t> </a:t>
            </a:r>
            <a:r>
              <a:rPr sz="3600" spc="-155" dirty="0">
                <a:solidFill>
                  <a:srgbClr val="2E377E"/>
                </a:solidFill>
                <a:latin typeface="Georgia"/>
                <a:cs typeface="Georgia"/>
              </a:rPr>
              <a:t>EBS,</a:t>
            </a:r>
            <a:r>
              <a:rPr sz="3600" spc="-35" dirty="0">
                <a:solidFill>
                  <a:srgbClr val="2E377E"/>
                </a:solidFill>
                <a:latin typeface="Georgia"/>
                <a:cs typeface="Georgia"/>
              </a:rPr>
              <a:t> </a:t>
            </a:r>
            <a:r>
              <a:rPr sz="3600" dirty="0">
                <a:solidFill>
                  <a:srgbClr val="2E377E"/>
                </a:solidFill>
                <a:latin typeface="Georgia"/>
                <a:cs typeface="Georgia"/>
              </a:rPr>
              <a:t>Azure</a:t>
            </a:r>
            <a:r>
              <a:rPr sz="3600" spc="-40" dirty="0">
                <a:solidFill>
                  <a:srgbClr val="2E377E"/>
                </a:solidFill>
                <a:latin typeface="Georgia"/>
                <a:cs typeface="Georgia"/>
              </a:rPr>
              <a:t> </a:t>
            </a:r>
            <a:r>
              <a:rPr sz="3600" dirty="0">
                <a:solidFill>
                  <a:srgbClr val="2E377E"/>
                </a:solidFill>
                <a:latin typeface="Georgia"/>
                <a:cs typeface="Georgia"/>
              </a:rPr>
              <a:t>Disks,</a:t>
            </a:r>
            <a:r>
              <a:rPr sz="3600" spc="-35" dirty="0">
                <a:solidFill>
                  <a:srgbClr val="2E377E"/>
                </a:solidFill>
                <a:latin typeface="Georgia"/>
                <a:cs typeface="Georgia"/>
              </a:rPr>
              <a:t> </a:t>
            </a:r>
            <a:r>
              <a:rPr sz="3600" spc="-20" dirty="0">
                <a:solidFill>
                  <a:srgbClr val="2E377E"/>
                </a:solidFill>
                <a:latin typeface="Georgia"/>
                <a:cs typeface="Georgia"/>
              </a:rPr>
              <a:t>etc.</a:t>
            </a:r>
            <a:endParaRPr sz="3600">
              <a:latin typeface="Georgia"/>
              <a:cs typeface="Georgia"/>
            </a:endParaRPr>
          </a:p>
        </p:txBody>
      </p:sp>
      <p:pic>
        <p:nvPicPr>
          <p:cNvPr id="4" name="object 4"/>
          <p:cNvPicPr/>
          <p:nvPr/>
        </p:nvPicPr>
        <p:blipFill>
          <a:blip r:embed="rId2" cstate="print"/>
          <a:stretch>
            <a:fillRect/>
          </a:stretch>
        </p:blipFill>
        <p:spPr>
          <a:xfrm>
            <a:off x="960883" y="2605473"/>
            <a:ext cx="133350" cy="133349"/>
          </a:xfrm>
          <a:prstGeom prst="rect">
            <a:avLst/>
          </a:prstGeom>
        </p:spPr>
      </p:pic>
      <p:pic>
        <p:nvPicPr>
          <p:cNvPr id="5" name="object 5"/>
          <p:cNvPicPr/>
          <p:nvPr/>
        </p:nvPicPr>
        <p:blipFill>
          <a:blip r:embed="rId2" cstate="print"/>
          <a:stretch>
            <a:fillRect/>
          </a:stretch>
        </p:blipFill>
        <p:spPr>
          <a:xfrm>
            <a:off x="960883" y="3881823"/>
            <a:ext cx="133350" cy="133349"/>
          </a:xfrm>
          <a:prstGeom prst="rect">
            <a:avLst/>
          </a:prstGeom>
        </p:spPr>
      </p:pic>
      <p:pic>
        <p:nvPicPr>
          <p:cNvPr id="6" name="object 6"/>
          <p:cNvPicPr/>
          <p:nvPr/>
        </p:nvPicPr>
        <p:blipFill>
          <a:blip r:embed="rId2" cstate="print"/>
          <a:stretch>
            <a:fillRect/>
          </a:stretch>
        </p:blipFill>
        <p:spPr>
          <a:xfrm>
            <a:off x="960883" y="5158173"/>
            <a:ext cx="133350" cy="133349"/>
          </a:xfrm>
          <a:prstGeom prst="rect">
            <a:avLst/>
          </a:prstGeom>
        </p:spPr>
      </p:pic>
      <p:pic>
        <p:nvPicPr>
          <p:cNvPr id="7" name="object 7"/>
          <p:cNvPicPr/>
          <p:nvPr/>
        </p:nvPicPr>
        <p:blipFill>
          <a:blip r:embed="rId2" cstate="print"/>
          <a:stretch>
            <a:fillRect/>
          </a:stretch>
        </p:blipFill>
        <p:spPr>
          <a:xfrm>
            <a:off x="960883" y="7072698"/>
            <a:ext cx="133350" cy="133349"/>
          </a:xfrm>
          <a:prstGeom prst="rect">
            <a:avLst/>
          </a:prstGeom>
        </p:spPr>
      </p:pic>
      <p:pic>
        <p:nvPicPr>
          <p:cNvPr id="8" name="object 8"/>
          <p:cNvPicPr/>
          <p:nvPr/>
        </p:nvPicPr>
        <p:blipFill>
          <a:blip r:embed="rId2" cstate="print"/>
          <a:stretch>
            <a:fillRect/>
          </a:stretch>
        </p:blipFill>
        <p:spPr>
          <a:xfrm>
            <a:off x="960883" y="8349048"/>
            <a:ext cx="133350" cy="133349"/>
          </a:xfrm>
          <a:prstGeom prst="rect">
            <a:avLst/>
          </a:prstGeom>
        </p:spPr>
      </p:pic>
      <p:sp>
        <p:nvSpPr>
          <p:cNvPr id="9" name="object 9"/>
          <p:cNvSpPr txBox="1">
            <a:spLocks noGrp="1"/>
          </p:cNvSpPr>
          <p:nvPr>
            <p:ph type="title"/>
          </p:nvPr>
        </p:nvSpPr>
        <p:spPr>
          <a:prstGeom prst="rect">
            <a:avLst/>
          </a:prstGeom>
        </p:spPr>
        <p:txBody>
          <a:bodyPr vert="horz" wrap="square" lIns="0" tIns="370149" rIns="0" bIns="0" rtlCol="0">
            <a:spAutoFit/>
          </a:bodyPr>
          <a:lstStyle/>
          <a:p>
            <a:pPr marL="139700">
              <a:lnSpc>
                <a:spcPct val="100000"/>
              </a:lnSpc>
              <a:spcBef>
                <a:spcPts val="100"/>
              </a:spcBef>
            </a:pPr>
            <a:r>
              <a:rPr spc="-215" dirty="0">
                <a:solidFill>
                  <a:srgbClr val="FF3131"/>
                </a:solidFill>
              </a:rPr>
              <a:t>PERSISTENT</a:t>
            </a:r>
            <a:r>
              <a:rPr spc="-60" dirty="0">
                <a:solidFill>
                  <a:srgbClr val="FF3131"/>
                </a:solidFill>
              </a:rPr>
              <a:t> </a:t>
            </a:r>
            <a:r>
              <a:rPr spc="-270" dirty="0">
                <a:solidFill>
                  <a:srgbClr val="FF3131"/>
                </a:solidFill>
              </a:rPr>
              <a:t>VOLUME:</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22549" rIns="0" bIns="0" rtlCol="0">
            <a:spAutoFit/>
          </a:bodyPr>
          <a:lstStyle/>
          <a:p>
            <a:pPr marL="292100">
              <a:lnSpc>
                <a:spcPct val="100000"/>
              </a:lnSpc>
              <a:spcBef>
                <a:spcPts val="100"/>
              </a:spcBef>
            </a:pPr>
            <a:r>
              <a:rPr spc="-215" dirty="0">
                <a:solidFill>
                  <a:srgbClr val="FF3131"/>
                </a:solidFill>
              </a:rPr>
              <a:t>PERSISTENT</a:t>
            </a:r>
            <a:r>
              <a:rPr spc="-60" dirty="0">
                <a:solidFill>
                  <a:srgbClr val="FF3131"/>
                </a:solidFill>
              </a:rPr>
              <a:t> </a:t>
            </a:r>
            <a:r>
              <a:rPr spc="-270" dirty="0">
                <a:solidFill>
                  <a:srgbClr val="FF3131"/>
                </a:solidFill>
              </a:rPr>
              <a:t>VOLUME:</a:t>
            </a:r>
          </a:p>
        </p:txBody>
      </p:sp>
      <p:pic>
        <p:nvPicPr>
          <p:cNvPr id="3" name="object 3"/>
          <p:cNvPicPr/>
          <p:nvPr/>
        </p:nvPicPr>
        <p:blipFill>
          <a:blip r:embed="rId2" cstate="print"/>
          <a:stretch>
            <a:fillRect/>
          </a:stretch>
        </p:blipFill>
        <p:spPr>
          <a:xfrm>
            <a:off x="1113283" y="2020870"/>
            <a:ext cx="133350" cy="133349"/>
          </a:xfrm>
          <a:prstGeom prst="rect">
            <a:avLst/>
          </a:prstGeom>
        </p:spPr>
      </p:pic>
      <p:sp>
        <p:nvSpPr>
          <p:cNvPr id="4" name="object 4"/>
          <p:cNvSpPr txBox="1"/>
          <p:nvPr/>
        </p:nvSpPr>
        <p:spPr>
          <a:xfrm>
            <a:off x="1430088" y="1661460"/>
            <a:ext cx="16429990" cy="7683500"/>
          </a:xfrm>
          <a:prstGeom prst="rect">
            <a:avLst/>
          </a:prstGeom>
        </p:spPr>
        <p:txBody>
          <a:bodyPr vert="horz" wrap="square" lIns="0" tIns="12700" rIns="0" bIns="0" rtlCol="0">
            <a:spAutoFit/>
          </a:bodyPr>
          <a:lstStyle/>
          <a:p>
            <a:pPr marL="12700" marR="652145">
              <a:lnSpc>
                <a:spcPct val="116300"/>
              </a:lnSpc>
              <a:spcBef>
                <a:spcPts val="100"/>
              </a:spcBef>
            </a:pPr>
            <a:r>
              <a:rPr sz="3600" dirty="0">
                <a:solidFill>
                  <a:srgbClr val="2E377E"/>
                </a:solidFill>
                <a:latin typeface="Georgia"/>
                <a:cs typeface="Georgia"/>
              </a:rPr>
              <a:t>One</a:t>
            </a:r>
            <a:r>
              <a:rPr sz="3600" spc="60" dirty="0">
                <a:solidFill>
                  <a:srgbClr val="2E377E"/>
                </a:solidFill>
                <a:latin typeface="Georgia"/>
                <a:cs typeface="Georgia"/>
              </a:rPr>
              <a:t> </a:t>
            </a:r>
            <a:r>
              <a:rPr sz="3600" dirty="0">
                <a:solidFill>
                  <a:srgbClr val="2E377E"/>
                </a:solidFill>
                <a:latin typeface="Georgia"/>
                <a:cs typeface="Georgia"/>
              </a:rPr>
              <a:t>Persistent</a:t>
            </a:r>
            <a:r>
              <a:rPr sz="3600" spc="65" dirty="0">
                <a:solidFill>
                  <a:srgbClr val="2E377E"/>
                </a:solidFill>
                <a:latin typeface="Georgia"/>
                <a:cs typeface="Georgia"/>
              </a:rPr>
              <a:t> </a:t>
            </a:r>
            <a:r>
              <a:rPr sz="3600" dirty="0">
                <a:solidFill>
                  <a:srgbClr val="2E377E"/>
                </a:solidFill>
                <a:latin typeface="Georgia"/>
                <a:cs typeface="Georgia"/>
              </a:rPr>
              <a:t>Volume</a:t>
            </a:r>
            <a:r>
              <a:rPr sz="3600" spc="60" dirty="0">
                <a:solidFill>
                  <a:srgbClr val="2E377E"/>
                </a:solidFill>
                <a:latin typeface="Georgia"/>
                <a:cs typeface="Georgia"/>
              </a:rPr>
              <a:t> </a:t>
            </a:r>
            <a:r>
              <a:rPr sz="3600" dirty="0">
                <a:solidFill>
                  <a:srgbClr val="2E377E"/>
                </a:solidFill>
                <a:latin typeface="Georgia"/>
                <a:cs typeface="Georgia"/>
              </a:rPr>
              <a:t>is</a:t>
            </a:r>
            <a:r>
              <a:rPr sz="3600" spc="65" dirty="0">
                <a:solidFill>
                  <a:srgbClr val="2E377E"/>
                </a:solidFill>
                <a:latin typeface="Georgia"/>
                <a:cs typeface="Georgia"/>
              </a:rPr>
              <a:t> </a:t>
            </a:r>
            <a:r>
              <a:rPr sz="3600" dirty="0">
                <a:solidFill>
                  <a:srgbClr val="2E377E"/>
                </a:solidFill>
                <a:latin typeface="Georgia"/>
                <a:cs typeface="Georgia"/>
              </a:rPr>
              <a:t>distributed</a:t>
            </a:r>
            <a:r>
              <a:rPr sz="3600" spc="65" dirty="0">
                <a:solidFill>
                  <a:srgbClr val="2E377E"/>
                </a:solidFill>
                <a:latin typeface="Georgia"/>
                <a:cs typeface="Georgia"/>
              </a:rPr>
              <a:t> </a:t>
            </a:r>
            <a:r>
              <a:rPr sz="3600" dirty="0">
                <a:solidFill>
                  <a:srgbClr val="2E377E"/>
                </a:solidFill>
                <a:latin typeface="Georgia"/>
                <a:cs typeface="Georgia"/>
              </a:rPr>
              <a:t>across</a:t>
            </a:r>
            <a:r>
              <a:rPr sz="3600" spc="60" dirty="0">
                <a:solidFill>
                  <a:srgbClr val="2E377E"/>
                </a:solidFill>
                <a:latin typeface="Georgia"/>
                <a:cs typeface="Georgia"/>
              </a:rPr>
              <a:t> </a:t>
            </a:r>
            <a:r>
              <a:rPr sz="3600" spc="50" dirty="0">
                <a:solidFill>
                  <a:srgbClr val="2E377E"/>
                </a:solidFill>
                <a:latin typeface="Georgia"/>
                <a:cs typeface="Georgia"/>
              </a:rPr>
              <a:t>the</a:t>
            </a:r>
            <a:r>
              <a:rPr sz="3600" spc="65" dirty="0">
                <a:solidFill>
                  <a:srgbClr val="2E377E"/>
                </a:solidFill>
                <a:latin typeface="Georgia"/>
                <a:cs typeface="Georgia"/>
              </a:rPr>
              <a:t> </a:t>
            </a:r>
            <a:r>
              <a:rPr sz="3600" dirty="0">
                <a:solidFill>
                  <a:srgbClr val="2E377E"/>
                </a:solidFill>
                <a:latin typeface="Georgia"/>
                <a:cs typeface="Georgia"/>
              </a:rPr>
              <a:t>entire</a:t>
            </a:r>
            <a:r>
              <a:rPr sz="3600" spc="60" dirty="0">
                <a:solidFill>
                  <a:srgbClr val="2E377E"/>
                </a:solidFill>
                <a:latin typeface="Georgia"/>
                <a:cs typeface="Georgia"/>
              </a:rPr>
              <a:t> </a:t>
            </a:r>
            <a:r>
              <a:rPr sz="3600" dirty="0">
                <a:solidFill>
                  <a:srgbClr val="2E377E"/>
                </a:solidFill>
                <a:latin typeface="Georgia"/>
                <a:cs typeface="Georgia"/>
              </a:rPr>
              <a:t>Kubernetes</a:t>
            </a:r>
            <a:r>
              <a:rPr sz="3600" spc="65" dirty="0">
                <a:solidFill>
                  <a:srgbClr val="2E377E"/>
                </a:solidFill>
                <a:latin typeface="Georgia"/>
                <a:cs typeface="Georgia"/>
              </a:rPr>
              <a:t> </a:t>
            </a:r>
            <a:r>
              <a:rPr sz="3600" dirty="0">
                <a:solidFill>
                  <a:srgbClr val="2E377E"/>
                </a:solidFill>
                <a:latin typeface="Georgia"/>
                <a:cs typeface="Georgia"/>
              </a:rPr>
              <a:t>Cluster.</a:t>
            </a:r>
            <a:r>
              <a:rPr sz="3600" spc="65" dirty="0">
                <a:solidFill>
                  <a:srgbClr val="2E377E"/>
                </a:solidFill>
                <a:latin typeface="Georgia"/>
                <a:cs typeface="Georgia"/>
              </a:rPr>
              <a:t> </a:t>
            </a:r>
            <a:r>
              <a:rPr sz="3600" spc="-25" dirty="0">
                <a:solidFill>
                  <a:srgbClr val="2E377E"/>
                </a:solidFill>
                <a:latin typeface="Georgia"/>
                <a:cs typeface="Georgia"/>
              </a:rPr>
              <a:t>So </a:t>
            </a:r>
            <a:r>
              <a:rPr sz="3600" dirty="0">
                <a:solidFill>
                  <a:srgbClr val="2E377E"/>
                </a:solidFill>
                <a:latin typeface="Georgia"/>
                <a:cs typeface="Georgia"/>
              </a:rPr>
              <a:t>that,</a:t>
            </a:r>
            <a:r>
              <a:rPr sz="3600" spc="-35" dirty="0">
                <a:solidFill>
                  <a:srgbClr val="2E377E"/>
                </a:solidFill>
                <a:latin typeface="Georgia"/>
                <a:cs typeface="Georgia"/>
              </a:rPr>
              <a:t> </a:t>
            </a:r>
            <a:r>
              <a:rPr sz="3600" spc="55" dirty="0">
                <a:solidFill>
                  <a:srgbClr val="2E377E"/>
                </a:solidFill>
                <a:latin typeface="Georgia"/>
                <a:cs typeface="Georgia"/>
              </a:rPr>
              <a:t>any</a:t>
            </a:r>
            <a:r>
              <a:rPr sz="3600" spc="-30" dirty="0">
                <a:solidFill>
                  <a:srgbClr val="2E377E"/>
                </a:solidFill>
                <a:latin typeface="Georgia"/>
                <a:cs typeface="Georgia"/>
              </a:rPr>
              <a:t> </a:t>
            </a:r>
            <a:r>
              <a:rPr sz="3600" dirty="0">
                <a:solidFill>
                  <a:srgbClr val="2E377E"/>
                </a:solidFill>
                <a:latin typeface="Georgia"/>
                <a:cs typeface="Georgia"/>
              </a:rPr>
              <a:t>node</a:t>
            </a:r>
            <a:r>
              <a:rPr sz="3600" spc="-35" dirty="0">
                <a:solidFill>
                  <a:srgbClr val="2E377E"/>
                </a:solidFill>
                <a:latin typeface="Georgia"/>
                <a:cs typeface="Georgia"/>
              </a:rPr>
              <a:t> </a:t>
            </a:r>
            <a:r>
              <a:rPr sz="3600" dirty="0">
                <a:solidFill>
                  <a:srgbClr val="2E377E"/>
                </a:solidFill>
                <a:latin typeface="Georgia"/>
                <a:cs typeface="Georgia"/>
              </a:rPr>
              <a:t>or</a:t>
            </a:r>
            <a:r>
              <a:rPr sz="3600" spc="-30" dirty="0">
                <a:solidFill>
                  <a:srgbClr val="2E377E"/>
                </a:solidFill>
                <a:latin typeface="Georgia"/>
                <a:cs typeface="Georgia"/>
              </a:rPr>
              <a:t> </a:t>
            </a:r>
            <a:r>
              <a:rPr sz="3600" spc="55" dirty="0">
                <a:solidFill>
                  <a:srgbClr val="2E377E"/>
                </a:solidFill>
                <a:latin typeface="Georgia"/>
                <a:cs typeface="Georgia"/>
              </a:rPr>
              <a:t>any</a:t>
            </a:r>
            <a:r>
              <a:rPr sz="3600" spc="-35" dirty="0">
                <a:solidFill>
                  <a:srgbClr val="2E377E"/>
                </a:solidFill>
                <a:latin typeface="Georgia"/>
                <a:cs typeface="Georgia"/>
              </a:rPr>
              <a:t> </a:t>
            </a:r>
            <a:r>
              <a:rPr sz="3600" dirty="0">
                <a:solidFill>
                  <a:srgbClr val="2E377E"/>
                </a:solidFill>
                <a:latin typeface="Georgia"/>
                <a:cs typeface="Georgia"/>
              </a:rPr>
              <a:t>node’s</a:t>
            </a:r>
            <a:r>
              <a:rPr sz="3600" spc="-30" dirty="0">
                <a:solidFill>
                  <a:srgbClr val="2E377E"/>
                </a:solidFill>
                <a:latin typeface="Georgia"/>
                <a:cs typeface="Georgia"/>
              </a:rPr>
              <a:t> </a:t>
            </a:r>
            <a:r>
              <a:rPr sz="3600" dirty="0">
                <a:solidFill>
                  <a:srgbClr val="2E377E"/>
                </a:solidFill>
                <a:latin typeface="Georgia"/>
                <a:cs typeface="Georgia"/>
              </a:rPr>
              <a:t>pod</a:t>
            </a:r>
            <a:r>
              <a:rPr sz="3600" spc="-35" dirty="0">
                <a:solidFill>
                  <a:srgbClr val="2E377E"/>
                </a:solidFill>
                <a:latin typeface="Georgia"/>
                <a:cs typeface="Georgia"/>
              </a:rPr>
              <a:t> </a:t>
            </a:r>
            <a:r>
              <a:rPr sz="3600" dirty="0">
                <a:solidFill>
                  <a:srgbClr val="2E377E"/>
                </a:solidFill>
                <a:latin typeface="Georgia"/>
                <a:cs typeface="Georgia"/>
              </a:rPr>
              <a:t>can</a:t>
            </a:r>
            <a:r>
              <a:rPr sz="3600" spc="-30" dirty="0">
                <a:solidFill>
                  <a:srgbClr val="2E377E"/>
                </a:solidFill>
                <a:latin typeface="Georgia"/>
                <a:cs typeface="Georgia"/>
              </a:rPr>
              <a:t> </a:t>
            </a:r>
            <a:r>
              <a:rPr sz="3600" dirty="0">
                <a:solidFill>
                  <a:srgbClr val="2E377E"/>
                </a:solidFill>
                <a:latin typeface="Georgia"/>
                <a:cs typeface="Georgia"/>
              </a:rPr>
              <a:t>access</a:t>
            </a:r>
            <a:r>
              <a:rPr sz="3600" spc="-35"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data</a:t>
            </a:r>
            <a:r>
              <a:rPr sz="3600" spc="-35" dirty="0">
                <a:solidFill>
                  <a:srgbClr val="2E377E"/>
                </a:solidFill>
                <a:latin typeface="Georgia"/>
                <a:cs typeface="Georgia"/>
              </a:rPr>
              <a:t> </a:t>
            </a:r>
            <a:r>
              <a:rPr sz="3600" dirty="0">
                <a:solidFill>
                  <a:srgbClr val="2E377E"/>
                </a:solidFill>
                <a:latin typeface="Georgia"/>
                <a:cs typeface="Georgia"/>
              </a:rPr>
              <a:t>from</a:t>
            </a:r>
            <a:r>
              <a:rPr sz="3600" spc="-30"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spc="-10" dirty="0">
                <a:solidFill>
                  <a:srgbClr val="2E377E"/>
                </a:solidFill>
                <a:latin typeface="Georgia"/>
                <a:cs typeface="Georgia"/>
              </a:rPr>
              <a:t>volume accordingly.</a:t>
            </a:r>
            <a:endParaRPr sz="3600">
              <a:latin typeface="Georgia"/>
              <a:cs typeface="Georgia"/>
            </a:endParaRPr>
          </a:p>
          <a:p>
            <a:pPr marL="12700" marR="556260">
              <a:lnSpc>
                <a:spcPct val="116300"/>
              </a:lnSpc>
            </a:pPr>
            <a:r>
              <a:rPr sz="3600" dirty="0">
                <a:solidFill>
                  <a:srgbClr val="2E377E"/>
                </a:solidFill>
                <a:latin typeface="Georgia"/>
                <a:cs typeface="Georgia"/>
              </a:rPr>
              <a:t>In</a:t>
            </a:r>
            <a:r>
              <a:rPr sz="3600" spc="-25" dirty="0">
                <a:solidFill>
                  <a:srgbClr val="2E377E"/>
                </a:solidFill>
                <a:latin typeface="Georgia"/>
                <a:cs typeface="Georgia"/>
              </a:rPr>
              <a:t> </a:t>
            </a:r>
            <a:r>
              <a:rPr sz="3600" spc="-145" dirty="0">
                <a:solidFill>
                  <a:srgbClr val="2E377E"/>
                </a:solidFill>
                <a:latin typeface="Georgia"/>
                <a:cs typeface="Georgia"/>
              </a:rPr>
              <a:t>K8S,</a:t>
            </a:r>
            <a:r>
              <a:rPr sz="3600" spc="-20"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spc="-10" dirty="0">
                <a:solidFill>
                  <a:srgbClr val="2E377E"/>
                </a:solidFill>
                <a:latin typeface="Georgia"/>
                <a:cs typeface="Georgia"/>
              </a:rPr>
              <a:t>PV</a:t>
            </a:r>
            <a:r>
              <a:rPr sz="3600" spc="-25"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piece</a:t>
            </a:r>
            <a:r>
              <a:rPr sz="3600" spc="-25"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dirty="0">
                <a:solidFill>
                  <a:srgbClr val="2E377E"/>
                </a:solidFill>
                <a:latin typeface="Georgia"/>
                <a:cs typeface="Georgia"/>
              </a:rPr>
              <a:t>storage</a:t>
            </a:r>
            <a:r>
              <a:rPr sz="3600" spc="-20" dirty="0">
                <a:solidFill>
                  <a:srgbClr val="2E377E"/>
                </a:solidFill>
                <a:latin typeface="Georgia"/>
                <a:cs typeface="Georgia"/>
              </a:rPr>
              <a:t> </a:t>
            </a:r>
            <a:r>
              <a:rPr sz="3600" dirty="0">
                <a:solidFill>
                  <a:srgbClr val="2E377E"/>
                </a:solidFill>
                <a:latin typeface="Georgia"/>
                <a:cs typeface="Georgia"/>
              </a:rPr>
              <a:t>in</a:t>
            </a:r>
            <a:r>
              <a:rPr sz="3600" spc="-25"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cluster</a:t>
            </a:r>
            <a:r>
              <a:rPr sz="3600" spc="-20" dirty="0">
                <a:solidFill>
                  <a:srgbClr val="2E377E"/>
                </a:solidFill>
                <a:latin typeface="Georgia"/>
                <a:cs typeface="Georgia"/>
              </a:rPr>
              <a:t> </a:t>
            </a:r>
            <a:r>
              <a:rPr sz="3600" dirty="0">
                <a:solidFill>
                  <a:srgbClr val="2E377E"/>
                </a:solidFill>
                <a:latin typeface="Georgia"/>
                <a:cs typeface="Georgia"/>
              </a:rPr>
              <a:t>that</a:t>
            </a:r>
            <a:r>
              <a:rPr sz="3600" spc="-25" dirty="0">
                <a:solidFill>
                  <a:srgbClr val="2E377E"/>
                </a:solidFill>
                <a:latin typeface="Georgia"/>
                <a:cs typeface="Georgia"/>
              </a:rPr>
              <a:t> </a:t>
            </a:r>
            <a:r>
              <a:rPr sz="3600" dirty="0">
                <a:solidFill>
                  <a:srgbClr val="2E377E"/>
                </a:solidFill>
                <a:latin typeface="Georgia"/>
                <a:cs typeface="Georgia"/>
              </a:rPr>
              <a:t>has</a:t>
            </a:r>
            <a:r>
              <a:rPr sz="3600" spc="-20" dirty="0">
                <a:solidFill>
                  <a:srgbClr val="2E377E"/>
                </a:solidFill>
                <a:latin typeface="Georgia"/>
                <a:cs typeface="Georgia"/>
              </a:rPr>
              <a:t> </a:t>
            </a:r>
            <a:r>
              <a:rPr sz="3600" dirty="0">
                <a:solidFill>
                  <a:srgbClr val="2E377E"/>
                </a:solidFill>
                <a:latin typeface="Georgia"/>
                <a:cs typeface="Georgia"/>
              </a:rPr>
              <a:t>been</a:t>
            </a:r>
            <a:r>
              <a:rPr sz="3600" spc="-20" dirty="0">
                <a:solidFill>
                  <a:srgbClr val="2E377E"/>
                </a:solidFill>
                <a:latin typeface="Georgia"/>
                <a:cs typeface="Georgia"/>
              </a:rPr>
              <a:t> </a:t>
            </a:r>
            <a:r>
              <a:rPr sz="3600" dirty="0">
                <a:solidFill>
                  <a:srgbClr val="2E377E"/>
                </a:solidFill>
                <a:latin typeface="Georgia"/>
                <a:cs typeface="Georgia"/>
              </a:rPr>
              <a:t>provisioned</a:t>
            </a:r>
            <a:r>
              <a:rPr sz="3600" spc="-25" dirty="0">
                <a:solidFill>
                  <a:srgbClr val="2E377E"/>
                </a:solidFill>
                <a:latin typeface="Georgia"/>
                <a:cs typeface="Georgia"/>
              </a:rPr>
              <a:t> </a:t>
            </a:r>
            <a:r>
              <a:rPr sz="3600" spc="90" dirty="0">
                <a:solidFill>
                  <a:srgbClr val="2E377E"/>
                </a:solidFill>
                <a:latin typeface="Georgia"/>
                <a:cs typeface="Georgia"/>
              </a:rPr>
              <a:t>by</a:t>
            </a:r>
            <a:r>
              <a:rPr sz="3600" spc="-20" dirty="0">
                <a:solidFill>
                  <a:srgbClr val="2E377E"/>
                </a:solidFill>
                <a:latin typeface="Georgia"/>
                <a:cs typeface="Georgia"/>
              </a:rPr>
              <a:t> </a:t>
            </a:r>
            <a:r>
              <a:rPr sz="3600" spc="-25" dirty="0">
                <a:solidFill>
                  <a:srgbClr val="2E377E"/>
                </a:solidFill>
                <a:latin typeface="Georgia"/>
                <a:cs typeface="Georgia"/>
              </a:rPr>
              <a:t>an </a:t>
            </a:r>
            <a:r>
              <a:rPr sz="3600" spc="-10" dirty="0">
                <a:solidFill>
                  <a:srgbClr val="2E377E"/>
                </a:solidFill>
                <a:latin typeface="Georgia"/>
                <a:cs typeface="Georgia"/>
              </a:rPr>
              <a:t>administrator.</a:t>
            </a:r>
            <a:endParaRPr sz="3600">
              <a:latin typeface="Georgia"/>
              <a:cs typeface="Georgia"/>
            </a:endParaRPr>
          </a:p>
          <a:p>
            <a:pPr marL="12700" marR="450850">
              <a:lnSpc>
                <a:spcPct val="116300"/>
              </a:lnSpc>
            </a:pPr>
            <a:r>
              <a:rPr sz="3600" dirty="0">
                <a:solidFill>
                  <a:srgbClr val="2E377E"/>
                </a:solidFill>
                <a:latin typeface="Georgia"/>
                <a:cs typeface="Georgia"/>
              </a:rPr>
              <a:t>If</a:t>
            </a:r>
            <a:r>
              <a:rPr sz="3600" spc="-5" dirty="0">
                <a:solidFill>
                  <a:srgbClr val="2E377E"/>
                </a:solidFill>
                <a:latin typeface="Georgia"/>
                <a:cs typeface="Georgia"/>
              </a:rPr>
              <a:t> </a:t>
            </a:r>
            <a:r>
              <a:rPr sz="3600" spc="80" dirty="0">
                <a:solidFill>
                  <a:srgbClr val="2E377E"/>
                </a:solidFill>
                <a:latin typeface="Georgia"/>
                <a:cs typeface="Georgia"/>
              </a:rPr>
              <a:t>you</a:t>
            </a:r>
            <a:r>
              <a:rPr sz="3600" spc="-5" dirty="0">
                <a:solidFill>
                  <a:srgbClr val="2E377E"/>
                </a:solidFill>
                <a:latin typeface="Georgia"/>
                <a:cs typeface="Georgia"/>
              </a:rPr>
              <a:t> </a:t>
            </a:r>
            <a:r>
              <a:rPr sz="3600" spc="70" dirty="0">
                <a:solidFill>
                  <a:srgbClr val="2E377E"/>
                </a:solidFill>
                <a:latin typeface="Georgia"/>
                <a:cs typeface="Georgia"/>
              </a:rPr>
              <a:t>want</a:t>
            </a:r>
            <a:r>
              <a:rPr sz="3600" dirty="0">
                <a:solidFill>
                  <a:srgbClr val="2E377E"/>
                </a:solidFill>
                <a:latin typeface="Georgia"/>
                <a:cs typeface="Georgia"/>
              </a:rPr>
              <a:t> </a:t>
            </a:r>
            <a:r>
              <a:rPr sz="3600" spc="6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use</a:t>
            </a:r>
            <a:r>
              <a:rPr sz="3600" spc="-5" dirty="0">
                <a:solidFill>
                  <a:srgbClr val="2E377E"/>
                </a:solidFill>
                <a:latin typeface="Georgia"/>
                <a:cs typeface="Georgia"/>
              </a:rPr>
              <a:t> </a:t>
            </a:r>
            <a:r>
              <a:rPr sz="3600" dirty="0">
                <a:solidFill>
                  <a:srgbClr val="2E377E"/>
                </a:solidFill>
                <a:latin typeface="Georgia"/>
                <a:cs typeface="Georgia"/>
              </a:rPr>
              <a:t>Persistent Volume,</a:t>
            </a:r>
            <a:r>
              <a:rPr sz="3600" spc="-5" dirty="0">
                <a:solidFill>
                  <a:srgbClr val="2E377E"/>
                </a:solidFill>
                <a:latin typeface="Georgia"/>
                <a:cs typeface="Georgia"/>
              </a:rPr>
              <a:t> </a:t>
            </a:r>
            <a:r>
              <a:rPr sz="3600" dirty="0">
                <a:solidFill>
                  <a:srgbClr val="2E377E"/>
                </a:solidFill>
                <a:latin typeface="Georgia"/>
                <a:cs typeface="Georgia"/>
              </a:rPr>
              <a:t>then </a:t>
            </a:r>
            <a:r>
              <a:rPr sz="3600" spc="80" dirty="0">
                <a:solidFill>
                  <a:srgbClr val="2E377E"/>
                </a:solidFill>
                <a:latin typeface="Georgia"/>
                <a:cs typeface="Georgia"/>
              </a:rPr>
              <a:t>you</a:t>
            </a:r>
            <a:r>
              <a:rPr sz="3600" spc="-5" dirty="0">
                <a:solidFill>
                  <a:srgbClr val="2E377E"/>
                </a:solidFill>
                <a:latin typeface="Georgia"/>
                <a:cs typeface="Georgia"/>
              </a:rPr>
              <a:t> </a:t>
            </a:r>
            <a:r>
              <a:rPr sz="3600" dirty="0">
                <a:solidFill>
                  <a:srgbClr val="2E377E"/>
                </a:solidFill>
                <a:latin typeface="Georgia"/>
                <a:cs typeface="Georgia"/>
              </a:rPr>
              <a:t>have</a:t>
            </a:r>
            <a:r>
              <a:rPr sz="3600" spc="-5" dirty="0">
                <a:solidFill>
                  <a:srgbClr val="2E377E"/>
                </a:solidFill>
                <a:latin typeface="Georgia"/>
                <a:cs typeface="Georgia"/>
              </a:rPr>
              <a:t> </a:t>
            </a:r>
            <a:r>
              <a:rPr sz="3600" spc="60" dirty="0">
                <a:solidFill>
                  <a:srgbClr val="2E377E"/>
                </a:solidFill>
                <a:latin typeface="Georgia"/>
                <a:cs typeface="Georgia"/>
              </a:rPr>
              <a:t>to</a:t>
            </a:r>
            <a:r>
              <a:rPr sz="3600" dirty="0">
                <a:solidFill>
                  <a:srgbClr val="2E377E"/>
                </a:solidFill>
                <a:latin typeface="Georgia"/>
                <a:cs typeface="Georgia"/>
              </a:rPr>
              <a:t> claim</a:t>
            </a:r>
            <a:r>
              <a:rPr sz="3600" spc="-5" dirty="0">
                <a:solidFill>
                  <a:srgbClr val="2E377E"/>
                </a:solidFill>
                <a:latin typeface="Georgia"/>
                <a:cs typeface="Georgia"/>
              </a:rPr>
              <a:t> </a:t>
            </a:r>
            <a:r>
              <a:rPr sz="3600" dirty="0">
                <a:solidFill>
                  <a:srgbClr val="2E377E"/>
                </a:solidFill>
                <a:latin typeface="Georgia"/>
                <a:cs typeface="Georgia"/>
              </a:rPr>
              <a:t>that volume</a:t>
            </a:r>
            <a:r>
              <a:rPr sz="3600" spc="-5" dirty="0">
                <a:solidFill>
                  <a:srgbClr val="2E377E"/>
                </a:solidFill>
                <a:latin typeface="Georgia"/>
                <a:cs typeface="Georgia"/>
              </a:rPr>
              <a:t> </a:t>
            </a:r>
            <a:r>
              <a:rPr sz="3600" spc="55" dirty="0">
                <a:solidFill>
                  <a:srgbClr val="2E377E"/>
                </a:solidFill>
                <a:latin typeface="Georgia"/>
                <a:cs typeface="Georgia"/>
              </a:rPr>
              <a:t>with </a:t>
            </a:r>
            <a:r>
              <a:rPr sz="3600" spc="5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help</a:t>
            </a:r>
            <a:r>
              <a:rPr sz="3600" spc="-35" dirty="0">
                <a:solidFill>
                  <a:srgbClr val="2E377E"/>
                </a:solidFill>
                <a:latin typeface="Georgia"/>
                <a:cs typeface="Georgia"/>
              </a:rPr>
              <a:t> </a:t>
            </a:r>
            <a:r>
              <a:rPr sz="3600" dirty="0">
                <a:solidFill>
                  <a:srgbClr val="2E377E"/>
                </a:solidFill>
                <a:latin typeface="Georgia"/>
                <a:cs typeface="Georgia"/>
              </a:rPr>
              <a:t>of</a:t>
            </a:r>
            <a:r>
              <a:rPr sz="3600" spc="-35"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manifest</a:t>
            </a:r>
            <a:r>
              <a:rPr sz="3600" spc="-35" dirty="0">
                <a:solidFill>
                  <a:srgbClr val="2E377E"/>
                </a:solidFill>
                <a:latin typeface="Georgia"/>
                <a:cs typeface="Georgia"/>
              </a:rPr>
              <a:t> </a:t>
            </a:r>
            <a:r>
              <a:rPr sz="3600" spc="-90" dirty="0">
                <a:solidFill>
                  <a:srgbClr val="2E377E"/>
                </a:solidFill>
                <a:latin typeface="Georgia"/>
                <a:cs typeface="Georgia"/>
              </a:rPr>
              <a:t>YAML</a:t>
            </a:r>
            <a:r>
              <a:rPr sz="3600" spc="-35" dirty="0">
                <a:solidFill>
                  <a:srgbClr val="2E377E"/>
                </a:solidFill>
                <a:latin typeface="Georgia"/>
                <a:cs typeface="Georgia"/>
              </a:rPr>
              <a:t> </a:t>
            </a:r>
            <a:r>
              <a:rPr sz="3600" spc="-10" dirty="0">
                <a:solidFill>
                  <a:srgbClr val="2E377E"/>
                </a:solidFill>
                <a:latin typeface="Georgia"/>
                <a:cs typeface="Georgia"/>
              </a:rPr>
              <a:t>file.</a:t>
            </a:r>
            <a:endParaRPr sz="3600">
              <a:latin typeface="Georgia"/>
              <a:cs typeface="Georgia"/>
            </a:endParaRPr>
          </a:p>
          <a:p>
            <a:pPr marL="12700" marR="1309370">
              <a:lnSpc>
                <a:spcPct val="116300"/>
              </a:lnSpc>
            </a:pPr>
            <a:r>
              <a:rPr sz="3600" spc="-10" dirty="0">
                <a:solidFill>
                  <a:srgbClr val="2E377E"/>
                </a:solidFill>
                <a:latin typeface="Georgia"/>
                <a:cs typeface="Georgia"/>
              </a:rPr>
              <a:t>When</a:t>
            </a:r>
            <a:r>
              <a:rPr sz="3600" spc="-30"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dirty="0">
                <a:solidFill>
                  <a:srgbClr val="2E377E"/>
                </a:solidFill>
                <a:latin typeface="Georgia"/>
                <a:cs typeface="Georgia"/>
              </a:rPr>
              <a:t>requests</a:t>
            </a:r>
            <a:r>
              <a:rPr sz="3600" spc="-30" dirty="0">
                <a:solidFill>
                  <a:srgbClr val="2E377E"/>
                </a:solidFill>
                <a:latin typeface="Georgia"/>
                <a:cs typeface="Georgia"/>
              </a:rPr>
              <a:t> </a:t>
            </a:r>
            <a:r>
              <a:rPr sz="3600" dirty="0">
                <a:solidFill>
                  <a:srgbClr val="2E377E"/>
                </a:solidFill>
                <a:latin typeface="Georgia"/>
                <a:cs typeface="Georgia"/>
              </a:rPr>
              <a:t>storage</a:t>
            </a:r>
            <a:r>
              <a:rPr sz="3600" spc="-25" dirty="0">
                <a:solidFill>
                  <a:srgbClr val="2E377E"/>
                </a:solidFill>
                <a:latin typeface="Georgia"/>
                <a:cs typeface="Georgia"/>
              </a:rPr>
              <a:t> </a:t>
            </a:r>
            <a:r>
              <a:rPr sz="3600" dirty="0">
                <a:solidFill>
                  <a:srgbClr val="2E377E"/>
                </a:solidFill>
                <a:latin typeface="Georgia"/>
                <a:cs typeface="Georgia"/>
              </a:rPr>
              <a:t>via</a:t>
            </a:r>
            <a:r>
              <a:rPr sz="3600" spc="-25" dirty="0">
                <a:solidFill>
                  <a:srgbClr val="2E377E"/>
                </a:solidFill>
                <a:latin typeface="Georgia"/>
                <a:cs typeface="Georgia"/>
              </a:rPr>
              <a:t> </a:t>
            </a:r>
            <a:r>
              <a:rPr sz="3600" dirty="0">
                <a:solidFill>
                  <a:srgbClr val="2E377E"/>
                </a:solidFill>
                <a:latin typeface="Georgia"/>
                <a:cs typeface="Georgia"/>
              </a:rPr>
              <a:t>a</a:t>
            </a:r>
            <a:r>
              <a:rPr sz="3600" spc="-30" dirty="0">
                <a:solidFill>
                  <a:srgbClr val="2E377E"/>
                </a:solidFill>
                <a:latin typeface="Georgia"/>
                <a:cs typeface="Georgia"/>
              </a:rPr>
              <a:t> </a:t>
            </a:r>
            <a:r>
              <a:rPr sz="3600" spc="-65" dirty="0">
                <a:solidFill>
                  <a:srgbClr val="2E377E"/>
                </a:solidFill>
                <a:latin typeface="Georgia"/>
                <a:cs typeface="Georgia"/>
              </a:rPr>
              <a:t>PVC,</a:t>
            </a:r>
            <a:r>
              <a:rPr sz="3600" spc="-25" dirty="0">
                <a:solidFill>
                  <a:srgbClr val="2E377E"/>
                </a:solidFill>
                <a:latin typeface="Georgia"/>
                <a:cs typeface="Georgia"/>
              </a:rPr>
              <a:t> </a:t>
            </a:r>
            <a:r>
              <a:rPr sz="3600" spc="-145" dirty="0">
                <a:solidFill>
                  <a:srgbClr val="2E377E"/>
                </a:solidFill>
                <a:latin typeface="Georgia"/>
                <a:cs typeface="Georgia"/>
              </a:rPr>
              <a:t>K8S</a:t>
            </a:r>
            <a:r>
              <a:rPr sz="3600" spc="-25" dirty="0">
                <a:solidFill>
                  <a:srgbClr val="2E377E"/>
                </a:solidFill>
                <a:latin typeface="Georgia"/>
                <a:cs typeface="Georgia"/>
              </a:rPr>
              <a:t> </a:t>
            </a:r>
            <a:r>
              <a:rPr sz="3600" dirty="0">
                <a:solidFill>
                  <a:srgbClr val="2E377E"/>
                </a:solidFill>
                <a:latin typeface="Georgia"/>
                <a:cs typeface="Georgia"/>
              </a:rPr>
              <a:t>will</a:t>
            </a:r>
            <a:r>
              <a:rPr sz="3600" spc="-30" dirty="0">
                <a:solidFill>
                  <a:srgbClr val="2E377E"/>
                </a:solidFill>
                <a:latin typeface="Georgia"/>
                <a:cs typeface="Georgia"/>
              </a:rPr>
              <a:t> </a:t>
            </a:r>
            <a:r>
              <a:rPr sz="3600" dirty="0">
                <a:solidFill>
                  <a:srgbClr val="2E377E"/>
                </a:solidFill>
                <a:latin typeface="Georgia"/>
                <a:cs typeface="Georgia"/>
              </a:rPr>
              <a:t>search</a:t>
            </a:r>
            <a:r>
              <a:rPr sz="3600" spc="-25" dirty="0">
                <a:solidFill>
                  <a:srgbClr val="2E377E"/>
                </a:solidFill>
                <a:latin typeface="Georgia"/>
                <a:cs typeface="Georgia"/>
              </a:rPr>
              <a:t> </a:t>
            </a:r>
            <a:r>
              <a:rPr sz="3600" dirty="0">
                <a:solidFill>
                  <a:srgbClr val="2E377E"/>
                </a:solidFill>
                <a:latin typeface="Georgia"/>
                <a:cs typeface="Georgia"/>
              </a:rPr>
              <a:t>for</a:t>
            </a:r>
            <a:r>
              <a:rPr sz="3600" spc="-25" dirty="0">
                <a:solidFill>
                  <a:srgbClr val="2E377E"/>
                </a:solidFill>
                <a:latin typeface="Georgia"/>
                <a:cs typeface="Georgia"/>
              </a:rPr>
              <a:t> </a:t>
            </a:r>
            <a:r>
              <a:rPr sz="3600" dirty="0">
                <a:solidFill>
                  <a:srgbClr val="2E377E"/>
                </a:solidFill>
                <a:latin typeface="Georgia"/>
                <a:cs typeface="Georgia"/>
              </a:rPr>
              <a:t>a</a:t>
            </a:r>
            <a:r>
              <a:rPr sz="3600" spc="-30" dirty="0">
                <a:solidFill>
                  <a:srgbClr val="2E377E"/>
                </a:solidFill>
                <a:latin typeface="Georgia"/>
                <a:cs typeface="Georgia"/>
              </a:rPr>
              <a:t> </a:t>
            </a:r>
            <a:r>
              <a:rPr sz="3600" dirty="0">
                <a:solidFill>
                  <a:srgbClr val="2E377E"/>
                </a:solidFill>
                <a:latin typeface="Georgia"/>
                <a:cs typeface="Georgia"/>
              </a:rPr>
              <a:t>suitable</a:t>
            </a:r>
            <a:r>
              <a:rPr sz="3600" spc="-25" dirty="0">
                <a:solidFill>
                  <a:srgbClr val="2E377E"/>
                </a:solidFill>
                <a:latin typeface="Georgia"/>
                <a:cs typeface="Georgia"/>
              </a:rPr>
              <a:t> </a:t>
            </a:r>
            <a:r>
              <a:rPr sz="3600" spc="-10" dirty="0">
                <a:solidFill>
                  <a:srgbClr val="2E377E"/>
                </a:solidFill>
                <a:latin typeface="Georgia"/>
                <a:cs typeface="Georgia"/>
              </a:rPr>
              <a:t>PV</a:t>
            </a:r>
            <a:r>
              <a:rPr sz="3600" spc="-25" dirty="0">
                <a:solidFill>
                  <a:srgbClr val="2E377E"/>
                </a:solidFill>
                <a:latin typeface="Georgia"/>
                <a:cs typeface="Georgia"/>
              </a:rPr>
              <a:t> </a:t>
            </a:r>
            <a:r>
              <a:rPr sz="3600" spc="35" dirty="0">
                <a:solidFill>
                  <a:srgbClr val="2E377E"/>
                </a:solidFill>
                <a:latin typeface="Georgia"/>
                <a:cs typeface="Georgia"/>
              </a:rPr>
              <a:t>to </a:t>
            </a:r>
            <a:r>
              <a:rPr sz="3600" spc="45" dirty="0">
                <a:solidFill>
                  <a:srgbClr val="2E377E"/>
                </a:solidFill>
                <a:latin typeface="Georgia"/>
                <a:cs typeface="Georgia"/>
              </a:rPr>
              <a:t>satisfy</a:t>
            </a:r>
            <a:r>
              <a:rPr sz="3600" spc="-70" dirty="0">
                <a:solidFill>
                  <a:srgbClr val="2E377E"/>
                </a:solidFill>
                <a:latin typeface="Georgia"/>
                <a:cs typeface="Georgia"/>
              </a:rPr>
              <a:t> </a:t>
            </a:r>
            <a:r>
              <a:rPr sz="3600" spc="50" dirty="0">
                <a:solidFill>
                  <a:srgbClr val="2E377E"/>
                </a:solidFill>
                <a:latin typeface="Georgia"/>
                <a:cs typeface="Georgia"/>
              </a:rPr>
              <a:t>the</a:t>
            </a:r>
            <a:r>
              <a:rPr sz="3600" spc="-70" dirty="0">
                <a:solidFill>
                  <a:srgbClr val="2E377E"/>
                </a:solidFill>
                <a:latin typeface="Georgia"/>
                <a:cs typeface="Georgia"/>
              </a:rPr>
              <a:t> </a:t>
            </a:r>
            <a:r>
              <a:rPr sz="3600" spc="-10" dirty="0">
                <a:solidFill>
                  <a:srgbClr val="2E377E"/>
                </a:solidFill>
                <a:latin typeface="Georgia"/>
                <a:cs typeface="Georgia"/>
              </a:rPr>
              <a:t>request.</a:t>
            </a:r>
            <a:endParaRPr sz="3600">
              <a:latin typeface="Georgia"/>
              <a:cs typeface="Georgia"/>
            </a:endParaRPr>
          </a:p>
          <a:p>
            <a:pPr marL="12700" marR="5080">
              <a:lnSpc>
                <a:spcPct val="116300"/>
              </a:lnSpc>
              <a:spcBef>
                <a:spcPts val="5"/>
              </a:spcBef>
            </a:pPr>
            <a:r>
              <a:rPr sz="3600" dirty="0">
                <a:solidFill>
                  <a:srgbClr val="2E377E"/>
                </a:solidFill>
                <a:latin typeface="Georgia"/>
                <a:cs typeface="Georgia"/>
              </a:rPr>
              <a:t>If</a:t>
            </a:r>
            <a:r>
              <a:rPr sz="3600" spc="-65" dirty="0">
                <a:solidFill>
                  <a:srgbClr val="2E377E"/>
                </a:solidFill>
                <a:latin typeface="Georgia"/>
                <a:cs typeface="Georgia"/>
              </a:rPr>
              <a:t> </a:t>
            </a:r>
            <a:r>
              <a:rPr sz="3600" dirty="0">
                <a:solidFill>
                  <a:srgbClr val="2E377E"/>
                </a:solidFill>
                <a:latin typeface="Georgia"/>
                <a:cs typeface="Georgia"/>
              </a:rPr>
              <a:t>a</a:t>
            </a:r>
            <a:r>
              <a:rPr sz="3600" spc="-65" dirty="0">
                <a:solidFill>
                  <a:srgbClr val="2E377E"/>
                </a:solidFill>
                <a:latin typeface="Georgia"/>
                <a:cs typeface="Georgia"/>
              </a:rPr>
              <a:t> </a:t>
            </a:r>
            <a:r>
              <a:rPr sz="3600" spc="-10" dirty="0">
                <a:solidFill>
                  <a:srgbClr val="2E377E"/>
                </a:solidFill>
                <a:latin typeface="Georgia"/>
                <a:cs typeface="Georgia"/>
              </a:rPr>
              <a:t>PV</a:t>
            </a:r>
            <a:r>
              <a:rPr sz="3600" spc="-65" dirty="0">
                <a:solidFill>
                  <a:srgbClr val="2E377E"/>
                </a:solidFill>
                <a:latin typeface="Georgia"/>
                <a:cs typeface="Georgia"/>
              </a:rPr>
              <a:t> </a:t>
            </a:r>
            <a:r>
              <a:rPr sz="3600" dirty="0">
                <a:solidFill>
                  <a:srgbClr val="2E377E"/>
                </a:solidFill>
                <a:latin typeface="Georgia"/>
                <a:cs typeface="Georgia"/>
              </a:rPr>
              <a:t>is</a:t>
            </a:r>
            <a:r>
              <a:rPr sz="3600" spc="-65" dirty="0">
                <a:solidFill>
                  <a:srgbClr val="2E377E"/>
                </a:solidFill>
                <a:latin typeface="Georgia"/>
                <a:cs typeface="Georgia"/>
              </a:rPr>
              <a:t> </a:t>
            </a:r>
            <a:r>
              <a:rPr sz="3600" dirty="0">
                <a:solidFill>
                  <a:srgbClr val="2E377E"/>
                </a:solidFill>
                <a:latin typeface="Georgia"/>
                <a:cs typeface="Georgia"/>
              </a:rPr>
              <a:t>found</a:t>
            </a:r>
            <a:r>
              <a:rPr sz="3600" spc="-65" dirty="0">
                <a:solidFill>
                  <a:srgbClr val="2E377E"/>
                </a:solidFill>
                <a:latin typeface="Georgia"/>
                <a:cs typeface="Georgia"/>
              </a:rPr>
              <a:t> </a:t>
            </a:r>
            <a:r>
              <a:rPr sz="3600" dirty="0">
                <a:solidFill>
                  <a:srgbClr val="2E377E"/>
                </a:solidFill>
                <a:latin typeface="Georgia"/>
                <a:cs typeface="Georgia"/>
              </a:rPr>
              <a:t>that</a:t>
            </a:r>
            <a:r>
              <a:rPr sz="3600" spc="-60" dirty="0">
                <a:solidFill>
                  <a:srgbClr val="2E377E"/>
                </a:solidFill>
                <a:latin typeface="Georgia"/>
                <a:cs typeface="Georgia"/>
              </a:rPr>
              <a:t> </a:t>
            </a:r>
            <a:r>
              <a:rPr sz="3600" dirty="0">
                <a:solidFill>
                  <a:srgbClr val="2E377E"/>
                </a:solidFill>
                <a:latin typeface="Georgia"/>
                <a:cs typeface="Georgia"/>
              </a:rPr>
              <a:t>matches</a:t>
            </a:r>
            <a:r>
              <a:rPr sz="3600" spc="-65" dirty="0">
                <a:solidFill>
                  <a:srgbClr val="2E377E"/>
                </a:solidFill>
                <a:latin typeface="Georgia"/>
                <a:cs typeface="Georgia"/>
              </a:rPr>
              <a:t> </a:t>
            </a:r>
            <a:r>
              <a:rPr sz="3600" spc="50" dirty="0">
                <a:solidFill>
                  <a:srgbClr val="2E377E"/>
                </a:solidFill>
                <a:latin typeface="Georgia"/>
                <a:cs typeface="Georgia"/>
              </a:rPr>
              <a:t>the</a:t>
            </a:r>
            <a:r>
              <a:rPr sz="3600" spc="-65" dirty="0">
                <a:solidFill>
                  <a:srgbClr val="2E377E"/>
                </a:solidFill>
                <a:latin typeface="Georgia"/>
                <a:cs typeface="Georgia"/>
              </a:rPr>
              <a:t> </a:t>
            </a:r>
            <a:r>
              <a:rPr sz="3600" dirty="0">
                <a:solidFill>
                  <a:srgbClr val="2E377E"/>
                </a:solidFill>
                <a:latin typeface="Georgia"/>
                <a:cs typeface="Georgia"/>
              </a:rPr>
              <a:t>request,</a:t>
            </a:r>
            <a:r>
              <a:rPr sz="3600" spc="-65" dirty="0">
                <a:solidFill>
                  <a:srgbClr val="2E377E"/>
                </a:solidFill>
                <a:latin typeface="Georgia"/>
                <a:cs typeface="Georgia"/>
              </a:rPr>
              <a:t> </a:t>
            </a:r>
            <a:r>
              <a:rPr sz="3600" spc="50" dirty="0">
                <a:solidFill>
                  <a:srgbClr val="2E377E"/>
                </a:solidFill>
                <a:latin typeface="Georgia"/>
                <a:cs typeface="Georgia"/>
              </a:rPr>
              <a:t>the</a:t>
            </a:r>
            <a:r>
              <a:rPr sz="3600" spc="-65" dirty="0">
                <a:solidFill>
                  <a:srgbClr val="2E377E"/>
                </a:solidFill>
                <a:latin typeface="Georgia"/>
                <a:cs typeface="Georgia"/>
              </a:rPr>
              <a:t> </a:t>
            </a:r>
            <a:r>
              <a:rPr sz="3600" spc="-10" dirty="0">
                <a:solidFill>
                  <a:srgbClr val="2E377E"/>
                </a:solidFill>
                <a:latin typeface="Georgia"/>
                <a:cs typeface="Georgia"/>
              </a:rPr>
              <a:t>PV</a:t>
            </a:r>
            <a:r>
              <a:rPr sz="3600" spc="-65" dirty="0">
                <a:solidFill>
                  <a:srgbClr val="2E377E"/>
                </a:solidFill>
                <a:latin typeface="Georgia"/>
                <a:cs typeface="Georgia"/>
              </a:rPr>
              <a:t> </a:t>
            </a:r>
            <a:r>
              <a:rPr sz="3600" dirty="0">
                <a:solidFill>
                  <a:srgbClr val="2E377E"/>
                </a:solidFill>
                <a:latin typeface="Georgia"/>
                <a:cs typeface="Georgia"/>
              </a:rPr>
              <a:t>is</a:t>
            </a:r>
            <a:r>
              <a:rPr sz="3600" spc="-60" dirty="0">
                <a:solidFill>
                  <a:srgbClr val="2E377E"/>
                </a:solidFill>
                <a:latin typeface="Georgia"/>
                <a:cs typeface="Georgia"/>
              </a:rPr>
              <a:t> </a:t>
            </a:r>
            <a:r>
              <a:rPr sz="3600" dirty="0">
                <a:solidFill>
                  <a:srgbClr val="2E377E"/>
                </a:solidFill>
                <a:latin typeface="Georgia"/>
                <a:cs typeface="Georgia"/>
              </a:rPr>
              <a:t>bound</a:t>
            </a:r>
            <a:r>
              <a:rPr sz="3600" spc="-65" dirty="0">
                <a:solidFill>
                  <a:srgbClr val="2E377E"/>
                </a:solidFill>
                <a:latin typeface="Georgia"/>
                <a:cs typeface="Georgia"/>
              </a:rPr>
              <a:t> </a:t>
            </a:r>
            <a:r>
              <a:rPr sz="3600" spc="60" dirty="0">
                <a:solidFill>
                  <a:srgbClr val="2E377E"/>
                </a:solidFill>
                <a:latin typeface="Georgia"/>
                <a:cs typeface="Georgia"/>
              </a:rPr>
              <a:t>to</a:t>
            </a:r>
            <a:r>
              <a:rPr sz="3600" spc="-65" dirty="0">
                <a:solidFill>
                  <a:srgbClr val="2E377E"/>
                </a:solidFill>
                <a:latin typeface="Georgia"/>
                <a:cs typeface="Georgia"/>
              </a:rPr>
              <a:t> </a:t>
            </a:r>
            <a:r>
              <a:rPr sz="3600" spc="50" dirty="0">
                <a:solidFill>
                  <a:srgbClr val="2E377E"/>
                </a:solidFill>
                <a:latin typeface="Georgia"/>
                <a:cs typeface="Georgia"/>
              </a:rPr>
              <a:t>the</a:t>
            </a:r>
            <a:r>
              <a:rPr sz="3600" spc="-65" dirty="0">
                <a:solidFill>
                  <a:srgbClr val="2E377E"/>
                </a:solidFill>
                <a:latin typeface="Georgia"/>
                <a:cs typeface="Georgia"/>
              </a:rPr>
              <a:t> </a:t>
            </a:r>
            <a:r>
              <a:rPr sz="3600" spc="-30" dirty="0">
                <a:solidFill>
                  <a:srgbClr val="2E377E"/>
                </a:solidFill>
                <a:latin typeface="Georgia"/>
                <a:cs typeface="Georgia"/>
              </a:rPr>
              <a:t>PVC</a:t>
            </a:r>
            <a:r>
              <a:rPr sz="3600" spc="-65" dirty="0">
                <a:solidFill>
                  <a:srgbClr val="2E377E"/>
                </a:solidFill>
                <a:latin typeface="Georgia"/>
                <a:cs typeface="Georgia"/>
              </a:rPr>
              <a:t> </a:t>
            </a:r>
            <a:r>
              <a:rPr sz="3600" dirty="0">
                <a:solidFill>
                  <a:srgbClr val="2E377E"/>
                </a:solidFill>
                <a:latin typeface="Georgia"/>
                <a:cs typeface="Georgia"/>
              </a:rPr>
              <a:t>and</a:t>
            </a:r>
            <a:r>
              <a:rPr sz="3600" spc="-60" dirty="0">
                <a:solidFill>
                  <a:srgbClr val="2E377E"/>
                </a:solidFill>
                <a:latin typeface="Georgia"/>
                <a:cs typeface="Georgia"/>
              </a:rPr>
              <a:t> </a:t>
            </a:r>
            <a:r>
              <a:rPr sz="3600" spc="50" dirty="0">
                <a:solidFill>
                  <a:srgbClr val="2E377E"/>
                </a:solidFill>
                <a:latin typeface="Georgia"/>
                <a:cs typeface="Georgia"/>
              </a:rPr>
              <a:t>the</a:t>
            </a:r>
            <a:r>
              <a:rPr sz="3600" spc="-65" dirty="0">
                <a:solidFill>
                  <a:srgbClr val="2E377E"/>
                </a:solidFill>
                <a:latin typeface="Georgia"/>
                <a:cs typeface="Georgia"/>
              </a:rPr>
              <a:t> </a:t>
            </a:r>
            <a:r>
              <a:rPr sz="3600" spc="-25" dirty="0">
                <a:solidFill>
                  <a:srgbClr val="2E377E"/>
                </a:solidFill>
                <a:latin typeface="Georgia"/>
                <a:cs typeface="Georgia"/>
              </a:rPr>
              <a:t>pod </a:t>
            </a:r>
            <a:r>
              <a:rPr sz="3600" dirty="0">
                <a:solidFill>
                  <a:srgbClr val="2E377E"/>
                </a:solidFill>
                <a:latin typeface="Georgia"/>
                <a:cs typeface="Georgia"/>
              </a:rPr>
              <a:t>can</a:t>
            </a:r>
            <a:r>
              <a:rPr sz="3600" spc="-30" dirty="0">
                <a:solidFill>
                  <a:srgbClr val="2E377E"/>
                </a:solidFill>
                <a:latin typeface="Georgia"/>
                <a:cs typeface="Georgia"/>
              </a:rPr>
              <a:t> </a:t>
            </a:r>
            <a:r>
              <a:rPr sz="3600" dirty="0">
                <a:solidFill>
                  <a:srgbClr val="2E377E"/>
                </a:solidFill>
                <a:latin typeface="Georgia"/>
                <a:cs typeface="Georgia"/>
              </a:rPr>
              <a:t>use</a:t>
            </a:r>
            <a:r>
              <a:rPr sz="3600" spc="-30"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spc="-10" dirty="0">
                <a:solidFill>
                  <a:srgbClr val="2E377E"/>
                </a:solidFill>
                <a:latin typeface="Georgia"/>
                <a:cs typeface="Georgia"/>
              </a:rPr>
              <a:t>storage.</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If</a:t>
            </a:r>
            <a:r>
              <a:rPr sz="3600" spc="-50" dirty="0">
                <a:solidFill>
                  <a:srgbClr val="2E377E"/>
                </a:solidFill>
                <a:latin typeface="Georgia"/>
                <a:cs typeface="Georgia"/>
              </a:rPr>
              <a:t> </a:t>
            </a:r>
            <a:r>
              <a:rPr sz="3600" dirty="0">
                <a:solidFill>
                  <a:srgbClr val="2E377E"/>
                </a:solidFill>
                <a:latin typeface="Georgia"/>
                <a:cs typeface="Georgia"/>
              </a:rPr>
              <a:t>no</a:t>
            </a:r>
            <a:r>
              <a:rPr sz="3600" spc="-45" dirty="0">
                <a:solidFill>
                  <a:srgbClr val="2E377E"/>
                </a:solidFill>
                <a:latin typeface="Georgia"/>
                <a:cs typeface="Georgia"/>
              </a:rPr>
              <a:t> </a:t>
            </a:r>
            <a:r>
              <a:rPr sz="3600" dirty="0">
                <a:solidFill>
                  <a:srgbClr val="2E377E"/>
                </a:solidFill>
                <a:latin typeface="Georgia"/>
                <a:cs typeface="Georgia"/>
              </a:rPr>
              <a:t>suitable</a:t>
            </a:r>
            <a:r>
              <a:rPr sz="3600" spc="-50" dirty="0">
                <a:solidFill>
                  <a:srgbClr val="2E377E"/>
                </a:solidFill>
                <a:latin typeface="Georgia"/>
                <a:cs typeface="Georgia"/>
              </a:rPr>
              <a:t> </a:t>
            </a:r>
            <a:r>
              <a:rPr sz="3600" spc="-10" dirty="0">
                <a:solidFill>
                  <a:srgbClr val="2E377E"/>
                </a:solidFill>
                <a:latin typeface="Georgia"/>
                <a:cs typeface="Georgia"/>
              </a:rPr>
              <a:t>PV</a:t>
            </a:r>
            <a:r>
              <a:rPr sz="3600" spc="-45" dirty="0">
                <a:solidFill>
                  <a:srgbClr val="2E377E"/>
                </a:solidFill>
                <a:latin typeface="Georgia"/>
                <a:cs typeface="Georgia"/>
              </a:rPr>
              <a:t> </a:t>
            </a:r>
            <a:r>
              <a:rPr sz="3600" dirty="0">
                <a:solidFill>
                  <a:srgbClr val="2E377E"/>
                </a:solidFill>
                <a:latin typeface="Georgia"/>
                <a:cs typeface="Georgia"/>
              </a:rPr>
              <a:t>is</a:t>
            </a:r>
            <a:r>
              <a:rPr sz="3600" spc="-50" dirty="0">
                <a:solidFill>
                  <a:srgbClr val="2E377E"/>
                </a:solidFill>
                <a:latin typeface="Georgia"/>
                <a:cs typeface="Georgia"/>
              </a:rPr>
              <a:t> </a:t>
            </a:r>
            <a:r>
              <a:rPr sz="3600" dirty="0">
                <a:solidFill>
                  <a:srgbClr val="2E377E"/>
                </a:solidFill>
                <a:latin typeface="Georgia"/>
                <a:cs typeface="Georgia"/>
              </a:rPr>
              <a:t>found,</a:t>
            </a:r>
            <a:r>
              <a:rPr sz="3600" spc="-45" dirty="0">
                <a:solidFill>
                  <a:srgbClr val="2E377E"/>
                </a:solidFill>
                <a:latin typeface="Georgia"/>
                <a:cs typeface="Georgia"/>
              </a:rPr>
              <a:t> </a:t>
            </a:r>
            <a:r>
              <a:rPr sz="3600" spc="-145" dirty="0">
                <a:solidFill>
                  <a:srgbClr val="2E377E"/>
                </a:solidFill>
                <a:latin typeface="Georgia"/>
                <a:cs typeface="Georgia"/>
              </a:rPr>
              <a:t>K8S</a:t>
            </a:r>
            <a:r>
              <a:rPr sz="3600" spc="-50" dirty="0">
                <a:solidFill>
                  <a:srgbClr val="2E377E"/>
                </a:solidFill>
                <a:latin typeface="Georgia"/>
                <a:cs typeface="Georgia"/>
              </a:rPr>
              <a:t> </a:t>
            </a:r>
            <a:r>
              <a:rPr sz="3600" dirty="0">
                <a:solidFill>
                  <a:srgbClr val="2E377E"/>
                </a:solidFill>
                <a:latin typeface="Georgia"/>
                <a:cs typeface="Georgia"/>
              </a:rPr>
              <a:t>then</a:t>
            </a:r>
            <a:r>
              <a:rPr sz="3600" spc="-45" dirty="0">
                <a:solidFill>
                  <a:srgbClr val="2E377E"/>
                </a:solidFill>
                <a:latin typeface="Georgia"/>
                <a:cs typeface="Georgia"/>
              </a:rPr>
              <a:t> </a:t>
            </a:r>
            <a:r>
              <a:rPr sz="3600" spc="-30" dirty="0">
                <a:solidFill>
                  <a:srgbClr val="2E377E"/>
                </a:solidFill>
                <a:latin typeface="Georgia"/>
                <a:cs typeface="Georgia"/>
              </a:rPr>
              <a:t>PVC</a:t>
            </a:r>
            <a:r>
              <a:rPr sz="3600" spc="-50" dirty="0">
                <a:solidFill>
                  <a:srgbClr val="2E377E"/>
                </a:solidFill>
                <a:latin typeface="Georgia"/>
                <a:cs typeface="Georgia"/>
              </a:rPr>
              <a:t> </a:t>
            </a:r>
            <a:r>
              <a:rPr sz="3600" dirty="0">
                <a:solidFill>
                  <a:srgbClr val="2E377E"/>
                </a:solidFill>
                <a:latin typeface="Georgia"/>
                <a:cs typeface="Georgia"/>
              </a:rPr>
              <a:t>will</a:t>
            </a:r>
            <a:r>
              <a:rPr sz="3600" spc="-45" dirty="0">
                <a:solidFill>
                  <a:srgbClr val="2E377E"/>
                </a:solidFill>
                <a:latin typeface="Georgia"/>
                <a:cs typeface="Georgia"/>
              </a:rPr>
              <a:t> </a:t>
            </a:r>
            <a:r>
              <a:rPr sz="3600" dirty="0">
                <a:solidFill>
                  <a:srgbClr val="2E377E"/>
                </a:solidFill>
                <a:latin typeface="Georgia"/>
                <a:cs typeface="Georgia"/>
              </a:rPr>
              <a:t>remain</a:t>
            </a:r>
            <a:r>
              <a:rPr sz="3600" spc="-50" dirty="0">
                <a:solidFill>
                  <a:srgbClr val="2E377E"/>
                </a:solidFill>
                <a:latin typeface="Georgia"/>
                <a:cs typeface="Georgia"/>
              </a:rPr>
              <a:t> </a:t>
            </a:r>
            <a:r>
              <a:rPr sz="3600" dirty="0">
                <a:solidFill>
                  <a:srgbClr val="2E377E"/>
                </a:solidFill>
                <a:latin typeface="Georgia"/>
                <a:cs typeface="Georgia"/>
              </a:rPr>
              <a:t>unbound</a:t>
            </a:r>
            <a:r>
              <a:rPr sz="3600" spc="-45" dirty="0">
                <a:solidFill>
                  <a:srgbClr val="2E377E"/>
                </a:solidFill>
                <a:latin typeface="Georgia"/>
                <a:cs typeface="Georgia"/>
              </a:rPr>
              <a:t> </a:t>
            </a:r>
            <a:r>
              <a:rPr sz="3600" spc="-10" dirty="0">
                <a:solidFill>
                  <a:srgbClr val="2E377E"/>
                </a:solidFill>
                <a:latin typeface="Georgia"/>
                <a:cs typeface="Georgia"/>
              </a:rPr>
              <a:t>(pending).</a:t>
            </a:r>
            <a:endParaRPr sz="3600">
              <a:latin typeface="Georgia"/>
              <a:cs typeface="Georgia"/>
            </a:endParaRPr>
          </a:p>
        </p:txBody>
      </p:sp>
      <p:pic>
        <p:nvPicPr>
          <p:cNvPr id="5" name="object 5"/>
          <p:cNvPicPr/>
          <p:nvPr/>
        </p:nvPicPr>
        <p:blipFill>
          <a:blip r:embed="rId3" cstate="print"/>
          <a:stretch>
            <a:fillRect/>
          </a:stretch>
        </p:blipFill>
        <p:spPr>
          <a:xfrm>
            <a:off x="1113283" y="3935395"/>
            <a:ext cx="133350" cy="133349"/>
          </a:xfrm>
          <a:prstGeom prst="rect">
            <a:avLst/>
          </a:prstGeom>
        </p:spPr>
      </p:pic>
      <p:pic>
        <p:nvPicPr>
          <p:cNvPr id="6" name="object 6"/>
          <p:cNvPicPr/>
          <p:nvPr/>
        </p:nvPicPr>
        <p:blipFill>
          <a:blip r:embed="rId4" cstate="print"/>
          <a:stretch>
            <a:fillRect/>
          </a:stretch>
        </p:blipFill>
        <p:spPr>
          <a:xfrm>
            <a:off x="1113283" y="5211744"/>
            <a:ext cx="133350" cy="133349"/>
          </a:xfrm>
          <a:prstGeom prst="rect">
            <a:avLst/>
          </a:prstGeom>
        </p:spPr>
      </p:pic>
      <p:pic>
        <p:nvPicPr>
          <p:cNvPr id="7" name="object 7"/>
          <p:cNvPicPr/>
          <p:nvPr/>
        </p:nvPicPr>
        <p:blipFill>
          <a:blip r:embed="rId4" cstate="print"/>
          <a:stretch>
            <a:fillRect/>
          </a:stretch>
        </p:blipFill>
        <p:spPr>
          <a:xfrm>
            <a:off x="1113283" y="6488094"/>
            <a:ext cx="133350" cy="133349"/>
          </a:xfrm>
          <a:prstGeom prst="rect">
            <a:avLst/>
          </a:prstGeom>
        </p:spPr>
      </p:pic>
      <p:pic>
        <p:nvPicPr>
          <p:cNvPr id="8" name="object 8"/>
          <p:cNvPicPr/>
          <p:nvPr/>
        </p:nvPicPr>
        <p:blipFill>
          <a:blip r:embed="rId5" cstate="print"/>
          <a:stretch>
            <a:fillRect/>
          </a:stretch>
        </p:blipFill>
        <p:spPr>
          <a:xfrm>
            <a:off x="1113283" y="7764444"/>
            <a:ext cx="133350" cy="133349"/>
          </a:xfrm>
          <a:prstGeom prst="rect">
            <a:avLst/>
          </a:prstGeom>
        </p:spPr>
      </p:pic>
      <p:pic>
        <p:nvPicPr>
          <p:cNvPr id="9" name="object 9"/>
          <p:cNvPicPr/>
          <p:nvPr/>
        </p:nvPicPr>
        <p:blipFill>
          <a:blip r:embed="rId6" cstate="print"/>
          <a:stretch>
            <a:fillRect/>
          </a:stretch>
        </p:blipFill>
        <p:spPr>
          <a:xfrm>
            <a:off x="1113283" y="9040794"/>
            <a:ext cx="133350" cy="133349"/>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59850" y="1912619"/>
            <a:ext cx="133350" cy="133349"/>
          </a:xfrm>
          <a:prstGeom prst="rect">
            <a:avLst/>
          </a:prstGeom>
        </p:spPr>
      </p:pic>
      <p:sp>
        <p:nvSpPr>
          <p:cNvPr id="3" name="object 3"/>
          <p:cNvSpPr txBox="1"/>
          <p:nvPr/>
        </p:nvSpPr>
        <p:spPr>
          <a:xfrm>
            <a:off x="1276655" y="1553209"/>
            <a:ext cx="16718280" cy="6384889"/>
          </a:xfrm>
          <a:prstGeom prst="rect">
            <a:avLst/>
          </a:prstGeom>
        </p:spPr>
        <p:txBody>
          <a:bodyPr vert="horz" wrap="square" lIns="0" tIns="12700" rIns="0" bIns="0" rtlCol="0">
            <a:spAutoFit/>
          </a:bodyPr>
          <a:lstStyle/>
          <a:p>
            <a:pPr marL="12700" marR="246379">
              <a:lnSpc>
                <a:spcPct val="116300"/>
              </a:lnSpc>
              <a:spcBef>
                <a:spcPts val="100"/>
              </a:spcBef>
            </a:pPr>
            <a:r>
              <a:rPr sz="3600" dirty="0">
                <a:solidFill>
                  <a:srgbClr val="2E377E"/>
                </a:solidFill>
                <a:latin typeface="Georgia"/>
                <a:cs typeface="Georgia"/>
              </a:rPr>
              <a:t>To</a:t>
            </a:r>
            <a:r>
              <a:rPr sz="3600" spc="-35" dirty="0">
                <a:solidFill>
                  <a:srgbClr val="2E377E"/>
                </a:solidFill>
                <a:latin typeface="Georgia"/>
                <a:cs typeface="Georgia"/>
              </a:rPr>
              <a:t> </a:t>
            </a:r>
            <a:r>
              <a:rPr sz="3600" spc="65" dirty="0">
                <a:solidFill>
                  <a:srgbClr val="2E377E"/>
                </a:solidFill>
                <a:latin typeface="Georgia"/>
                <a:cs typeface="Georgia"/>
              </a:rPr>
              <a:t>get</a:t>
            </a:r>
            <a:r>
              <a:rPr sz="3600" spc="-35"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Persistent</a:t>
            </a:r>
            <a:r>
              <a:rPr sz="3600" spc="-30" dirty="0">
                <a:solidFill>
                  <a:srgbClr val="2E377E"/>
                </a:solidFill>
                <a:latin typeface="Georgia"/>
                <a:cs typeface="Georgia"/>
              </a:rPr>
              <a:t> </a:t>
            </a:r>
            <a:r>
              <a:rPr sz="3600" dirty="0">
                <a:solidFill>
                  <a:srgbClr val="2E377E"/>
                </a:solidFill>
                <a:latin typeface="Georgia"/>
                <a:cs typeface="Georgia"/>
              </a:rPr>
              <a:t>Volume,</a:t>
            </a:r>
            <a:r>
              <a:rPr sz="3600" spc="-35" dirty="0">
                <a:solidFill>
                  <a:srgbClr val="2E377E"/>
                </a:solidFill>
                <a:latin typeface="Georgia"/>
                <a:cs typeface="Georgia"/>
              </a:rPr>
              <a:t> </a:t>
            </a:r>
            <a:r>
              <a:rPr sz="3600" spc="80" dirty="0">
                <a:solidFill>
                  <a:srgbClr val="2E377E"/>
                </a:solidFill>
                <a:latin typeface="Georgia"/>
                <a:cs typeface="Georgia"/>
              </a:rPr>
              <a:t>you</a:t>
            </a:r>
            <a:r>
              <a:rPr sz="3600" spc="-35" dirty="0">
                <a:solidFill>
                  <a:srgbClr val="2E377E"/>
                </a:solidFill>
                <a:latin typeface="Georgia"/>
                <a:cs typeface="Georgia"/>
              </a:rPr>
              <a:t> </a:t>
            </a:r>
            <a:r>
              <a:rPr sz="3600" dirty="0">
                <a:solidFill>
                  <a:srgbClr val="2E377E"/>
                </a:solidFill>
                <a:latin typeface="Georgia"/>
                <a:cs typeface="Georgia"/>
              </a:rPr>
              <a:t>have</a:t>
            </a:r>
            <a:r>
              <a:rPr sz="3600" spc="-30" dirty="0">
                <a:solidFill>
                  <a:srgbClr val="2E377E"/>
                </a:solidFill>
                <a:latin typeface="Georgia"/>
                <a:cs typeface="Georgia"/>
              </a:rPr>
              <a:t> </a:t>
            </a:r>
            <a:r>
              <a:rPr sz="3600" spc="60" dirty="0">
                <a:solidFill>
                  <a:srgbClr val="2E377E"/>
                </a:solidFill>
                <a:latin typeface="Georgia"/>
                <a:cs typeface="Georgia"/>
              </a:rPr>
              <a:t>to</a:t>
            </a:r>
            <a:r>
              <a:rPr sz="3600" spc="-35" dirty="0">
                <a:solidFill>
                  <a:srgbClr val="2E377E"/>
                </a:solidFill>
                <a:latin typeface="Georgia"/>
                <a:cs typeface="Georgia"/>
              </a:rPr>
              <a:t> </a:t>
            </a:r>
            <a:r>
              <a:rPr sz="3600" dirty="0">
                <a:solidFill>
                  <a:srgbClr val="2E377E"/>
                </a:solidFill>
                <a:latin typeface="Georgia"/>
                <a:cs typeface="Georgia"/>
              </a:rPr>
              <a:t>claim</a:t>
            </a:r>
            <a:r>
              <a:rPr sz="3600" spc="-35"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volume</a:t>
            </a:r>
            <a:r>
              <a:rPr sz="3600" spc="-35" dirty="0">
                <a:solidFill>
                  <a:srgbClr val="2E377E"/>
                </a:solidFill>
                <a:latin typeface="Georgia"/>
                <a:cs typeface="Georgia"/>
              </a:rPr>
              <a:t> </a:t>
            </a:r>
            <a:r>
              <a:rPr sz="3600" spc="75" dirty="0">
                <a:solidFill>
                  <a:srgbClr val="2E377E"/>
                </a:solidFill>
                <a:latin typeface="Georgia"/>
                <a:cs typeface="Georgia"/>
              </a:rPr>
              <a:t>with</a:t>
            </a:r>
            <a:r>
              <a:rPr sz="3600" spc="-35"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help</a:t>
            </a:r>
            <a:r>
              <a:rPr sz="3600" spc="-30" dirty="0">
                <a:solidFill>
                  <a:srgbClr val="2E377E"/>
                </a:solidFill>
                <a:latin typeface="Georgia"/>
                <a:cs typeface="Georgia"/>
              </a:rPr>
              <a:t> </a:t>
            </a:r>
            <a:r>
              <a:rPr sz="3600" dirty="0">
                <a:solidFill>
                  <a:srgbClr val="2E377E"/>
                </a:solidFill>
                <a:latin typeface="Georgia"/>
                <a:cs typeface="Georgia"/>
              </a:rPr>
              <a:t>of</a:t>
            </a:r>
            <a:r>
              <a:rPr sz="3600" spc="-35" dirty="0">
                <a:solidFill>
                  <a:srgbClr val="2E377E"/>
                </a:solidFill>
                <a:latin typeface="Georgia"/>
                <a:cs typeface="Georgia"/>
              </a:rPr>
              <a:t> </a:t>
            </a:r>
            <a:r>
              <a:rPr sz="3600" spc="-20" dirty="0">
                <a:solidFill>
                  <a:srgbClr val="2E377E"/>
                </a:solidFill>
                <a:latin typeface="Georgia"/>
                <a:cs typeface="Georgia"/>
              </a:rPr>
              <a:t>PVC. </a:t>
            </a:r>
            <a:r>
              <a:rPr sz="3600" spc="-10" dirty="0">
                <a:solidFill>
                  <a:srgbClr val="2E377E"/>
                </a:solidFill>
                <a:latin typeface="Georgia"/>
                <a:cs typeface="Georgia"/>
              </a:rPr>
              <a:t>When</a:t>
            </a:r>
            <a:r>
              <a:rPr sz="3600" spc="-30" dirty="0">
                <a:solidFill>
                  <a:srgbClr val="2E377E"/>
                </a:solidFill>
                <a:latin typeface="Georgia"/>
                <a:cs typeface="Georgia"/>
              </a:rPr>
              <a:t> </a:t>
            </a:r>
            <a:r>
              <a:rPr sz="3600" spc="80" dirty="0">
                <a:solidFill>
                  <a:srgbClr val="2E377E"/>
                </a:solidFill>
                <a:latin typeface="Georgia"/>
                <a:cs typeface="Georgia"/>
              </a:rPr>
              <a:t>you</a:t>
            </a:r>
            <a:r>
              <a:rPr sz="3600" spc="-25" dirty="0">
                <a:solidFill>
                  <a:srgbClr val="2E377E"/>
                </a:solidFill>
                <a:latin typeface="Georgia"/>
                <a:cs typeface="Georgia"/>
              </a:rPr>
              <a:t> </a:t>
            </a:r>
            <a:r>
              <a:rPr sz="3600" dirty="0">
                <a:solidFill>
                  <a:srgbClr val="2E377E"/>
                </a:solidFill>
                <a:latin typeface="Georgia"/>
                <a:cs typeface="Georgia"/>
              </a:rPr>
              <a:t>create</a:t>
            </a:r>
            <a:r>
              <a:rPr sz="3600" spc="-25"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spc="-65" dirty="0">
                <a:solidFill>
                  <a:srgbClr val="2E377E"/>
                </a:solidFill>
                <a:latin typeface="Georgia"/>
                <a:cs typeface="Georgia"/>
              </a:rPr>
              <a:t>PVC,</a:t>
            </a:r>
            <a:r>
              <a:rPr sz="3600" spc="-25" dirty="0">
                <a:solidFill>
                  <a:srgbClr val="2E377E"/>
                </a:solidFill>
                <a:latin typeface="Georgia"/>
                <a:cs typeface="Georgia"/>
              </a:rPr>
              <a:t> </a:t>
            </a:r>
            <a:r>
              <a:rPr sz="3600" dirty="0">
                <a:solidFill>
                  <a:srgbClr val="2E377E"/>
                </a:solidFill>
                <a:latin typeface="Georgia"/>
                <a:cs typeface="Georgia"/>
              </a:rPr>
              <a:t>Kubernetes</a:t>
            </a:r>
            <a:r>
              <a:rPr sz="3600" spc="-25" dirty="0">
                <a:solidFill>
                  <a:srgbClr val="2E377E"/>
                </a:solidFill>
                <a:latin typeface="Georgia"/>
                <a:cs typeface="Georgia"/>
              </a:rPr>
              <a:t> </a:t>
            </a:r>
            <a:r>
              <a:rPr sz="3600" dirty="0">
                <a:solidFill>
                  <a:srgbClr val="2E377E"/>
                </a:solidFill>
                <a:latin typeface="Georgia"/>
                <a:cs typeface="Georgia"/>
              </a:rPr>
              <a:t>finds</a:t>
            </a:r>
            <a:r>
              <a:rPr sz="3600" spc="-25"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suitable</a:t>
            </a:r>
            <a:r>
              <a:rPr sz="3600" spc="-30" dirty="0">
                <a:solidFill>
                  <a:srgbClr val="2E377E"/>
                </a:solidFill>
                <a:latin typeface="Georgia"/>
                <a:cs typeface="Georgia"/>
              </a:rPr>
              <a:t> </a:t>
            </a:r>
            <a:r>
              <a:rPr sz="3600" spc="-10" dirty="0">
                <a:solidFill>
                  <a:srgbClr val="2E377E"/>
                </a:solidFill>
                <a:latin typeface="Georgia"/>
                <a:cs typeface="Georgia"/>
              </a:rPr>
              <a:t>PV</a:t>
            </a:r>
            <a:r>
              <a:rPr sz="3600" spc="-25" dirty="0">
                <a:solidFill>
                  <a:srgbClr val="2E377E"/>
                </a:solidFill>
                <a:latin typeface="Georgia"/>
                <a:cs typeface="Georgia"/>
              </a:rPr>
              <a:t> </a:t>
            </a:r>
            <a:r>
              <a:rPr sz="3600" spc="6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bind</a:t>
            </a:r>
            <a:r>
              <a:rPr sz="3600" spc="-25" dirty="0">
                <a:solidFill>
                  <a:srgbClr val="2E377E"/>
                </a:solidFill>
                <a:latin typeface="Georgia"/>
                <a:cs typeface="Georgia"/>
              </a:rPr>
              <a:t> </a:t>
            </a:r>
            <a:r>
              <a:rPr sz="3600" dirty="0">
                <a:solidFill>
                  <a:srgbClr val="2E377E"/>
                </a:solidFill>
                <a:latin typeface="Georgia"/>
                <a:cs typeface="Georgia"/>
              </a:rPr>
              <a:t>them</a:t>
            </a:r>
            <a:r>
              <a:rPr sz="3600" spc="-25" dirty="0">
                <a:solidFill>
                  <a:srgbClr val="2E377E"/>
                </a:solidFill>
                <a:latin typeface="Georgia"/>
                <a:cs typeface="Georgia"/>
              </a:rPr>
              <a:t> </a:t>
            </a:r>
            <a:r>
              <a:rPr sz="3600" spc="-10" dirty="0">
                <a:solidFill>
                  <a:srgbClr val="2E377E"/>
                </a:solidFill>
                <a:latin typeface="Georgia"/>
                <a:cs typeface="Georgia"/>
              </a:rPr>
              <a:t>together.</a:t>
            </a:r>
            <a:endParaRPr sz="3600" dirty="0">
              <a:latin typeface="Georgia"/>
              <a:cs typeface="Georgia"/>
            </a:endParaRPr>
          </a:p>
          <a:p>
            <a:pPr marL="12700" marR="382270">
              <a:lnSpc>
                <a:spcPct val="116300"/>
              </a:lnSpc>
            </a:pPr>
            <a:r>
              <a:rPr sz="3600" dirty="0">
                <a:solidFill>
                  <a:srgbClr val="2E377E"/>
                </a:solidFill>
                <a:latin typeface="Georgia"/>
                <a:cs typeface="Georgia"/>
              </a:rPr>
              <a:t>Once</a:t>
            </a:r>
            <a:r>
              <a:rPr sz="3600" spc="35" dirty="0">
                <a:solidFill>
                  <a:srgbClr val="2E377E"/>
                </a:solidFill>
                <a:latin typeface="Georgia"/>
                <a:cs typeface="Georgia"/>
              </a:rPr>
              <a:t> </a:t>
            </a:r>
            <a:r>
              <a:rPr sz="3600" dirty="0">
                <a:solidFill>
                  <a:srgbClr val="2E377E"/>
                </a:solidFill>
                <a:latin typeface="Georgia"/>
                <a:cs typeface="Georgia"/>
              </a:rPr>
              <a:t>a</a:t>
            </a:r>
            <a:r>
              <a:rPr sz="3600" spc="35" dirty="0">
                <a:solidFill>
                  <a:srgbClr val="2E377E"/>
                </a:solidFill>
                <a:latin typeface="Georgia"/>
                <a:cs typeface="Georgia"/>
              </a:rPr>
              <a:t> </a:t>
            </a:r>
            <a:r>
              <a:rPr sz="3600" dirty="0">
                <a:solidFill>
                  <a:srgbClr val="2E377E"/>
                </a:solidFill>
                <a:latin typeface="Georgia"/>
                <a:cs typeface="Georgia"/>
              </a:rPr>
              <a:t>user</a:t>
            </a:r>
            <a:r>
              <a:rPr sz="3600" spc="35" dirty="0">
                <a:solidFill>
                  <a:srgbClr val="2E377E"/>
                </a:solidFill>
                <a:latin typeface="Georgia"/>
                <a:cs typeface="Georgia"/>
              </a:rPr>
              <a:t> </a:t>
            </a:r>
            <a:r>
              <a:rPr sz="3600" dirty="0">
                <a:solidFill>
                  <a:srgbClr val="2E377E"/>
                </a:solidFill>
                <a:latin typeface="Georgia"/>
                <a:cs typeface="Georgia"/>
              </a:rPr>
              <a:t>finishes</a:t>
            </a:r>
            <a:r>
              <a:rPr sz="3600" spc="40" dirty="0">
                <a:solidFill>
                  <a:srgbClr val="2E377E"/>
                </a:solidFill>
                <a:latin typeface="Georgia"/>
                <a:cs typeface="Georgia"/>
              </a:rPr>
              <a:t> </a:t>
            </a:r>
            <a:r>
              <a:rPr sz="3600" dirty="0">
                <a:solidFill>
                  <a:srgbClr val="2E377E"/>
                </a:solidFill>
                <a:latin typeface="Georgia"/>
                <a:cs typeface="Georgia"/>
              </a:rPr>
              <a:t>its</a:t>
            </a:r>
            <a:r>
              <a:rPr sz="3600" spc="35" dirty="0">
                <a:solidFill>
                  <a:srgbClr val="2E377E"/>
                </a:solidFill>
                <a:latin typeface="Georgia"/>
                <a:cs typeface="Georgia"/>
              </a:rPr>
              <a:t> </a:t>
            </a:r>
            <a:r>
              <a:rPr sz="3600" dirty="0">
                <a:solidFill>
                  <a:srgbClr val="2E377E"/>
                </a:solidFill>
                <a:latin typeface="Georgia"/>
                <a:cs typeface="Georgia"/>
              </a:rPr>
              <a:t>work,</a:t>
            </a:r>
            <a:r>
              <a:rPr sz="3600" spc="35" dirty="0">
                <a:solidFill>
                  <a:srgbClr val="2E377E"/>
                </a:solidFill>
                <a:latin typeface="Georgia"/>
                <a:cs typeface="Georgia"/>
              </a:rPr>
              <a:t> </a:t>
            </a:r>
            <a:r>
              <a:rPr sz="3600" dirty="0">
                <a:solidFill>
                  <a:srgbClr val="2E377E"/>
                </a:solidFill>
                <a:latin typeface="Georgia"/>
                <a:cs typeface="Georgia"/>
              </a:rPr>
              <a:t>then</a:t>
            </a:r>
            <a:r>
              <a:rPr sz="3600" spc="35" dirty="0">
                <a:solidFill>
                  <a:srgbClr val="2E377E"/>
                </a:solidFill>
                <a:latin typeface="Georgia"/>
                <a:cs typeface="Georgia"/>
              </a:rPr>
              <a:t> </a:t>
            </a:r>
            <a:r>
              <a:rPr sz="3600" spc="5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attached</a:t>
            </a:r>
            <a:r>
              <a:rPr sz="3600" spc="35" dirty="0">
                <a:solidFill>
                  <a:srgbClr val="2E377E"/>
                </a:solidFill>
                <a:latin typeface="Georgia"/>
                <a:cs typeface="Georgia"/>
              </a:rPr>
              <a:t> </a:t>
            </a:r>
            <a:r>
              <a:rPr sz="3600" dirty="0">
                <a:solidFill>
                  <a:srgbClr val="2E377E"/>
                </a:solidFill>
                <a:latin typeface="Georgia"/>
                <a:cs typeface="Georgia"/>
              </a:rPr>
              <a:t>volume</a:t>
            </a:r>
            <a:r>
              <a:rPr sz="3600" spc="35" dirty="0">
                <a:solidFill>
                  <a:srgbClr val="2E377E"/>
                </a:solidFill>
                <a:latin typeface="Georgia"/>
                <a:cs typeface="Georgia"/>
              </a:rPr>
              <a:t> </a:t>
            </a:r>
            <a:r>
              <a:rPr sz="3600" spc="50" dirty="0">
                <a:solidFill>
                  <a:srgbClr val="2E377E"/>
                </a:solidFill>
                <a:latin typeface="Georgia"/>
                <a:cs typeface="Georgia"/>
              </a:rPr>
              <a:t>gets</a:t>
            </a:r>
            <a:r>
              <a:rPr sz="3600" spc="35" dirty="0">
                <a:solidFill>
                  <a:srgbClr val="2E377E"/>
                </a:solidFill>
                <a:latin typeface="Georgia"/>
                <a:cs typeface="Georgia"/>
              </a:rPr>
              <a:t> </a:t>
            </a:r>
            <a:r>
              <a:rPr sz="3600" dirty="0">
                <a:solidFill>
                  <a:srgbClr val="2E377E"/>
                </a:solidFill>
                <a:latin typeface="Georgia"/>
                <a:cs typeface="Georgia"/>
              </a:rPr>
              <a:t>released</a:t>
            </a:r>
            <a:r>
              <a:rPr sz="3600" spc="40" dirty="0">
                <a:solidFill>
                  <a:srgbClr val="2E377E"/>
                </a:solidFill>
                <a:latin typeface="Georgia"/>
                <a:cs typeface="Georgia"/>
              </a:rPr>
              <a:t> </a:t>
            </a:r>
            <a:r>
              <a:rPr sz="3600" dirty="0">
                <a:solidFill>
                  <a:srgbClr val="2E377E"/>
                </a:solidFill>
                <a:latin typeface="Georgia"/>
                <a:cs typeface="Georgia"/>
              </a:rPr>
              <a:t>and</a:t>
            </a:r>
            <a:r>
              <a:rPr sz="3600" spc="35" dirty="0">
                <a:solidFill>
                  <a:srgbClr val="2E377E"/>
                </a:solidFill>
                <a:latin typeface="Georgia"/>
                <a:cs typeface="Georgia"/>
              </a:rPr>
              <a:t> </a:t>
            </a:r>
            <a:r>
              <a:rPr sz="3600" dirty="0">
                <a:solidFill>
                  <a:srgbClr val="2E377E"/>
                </a:solidFill>
                <a:latin typeface="Georgia"/>
                <a:cs typeface="Georgia"/>
              </a:rPr>
              <a:t>will</a:t>
            </a:r>
            <a:r>
              <a:rPr sz="3600" spc="35" dirty="0">
                <a:solidFill>
                  <a:srgbClr val="2E377E"/>
                </a:solidFill>
                <a:latin typeface="Georgia"/>
                <a:cs typeface="Georgia"/>
              </a:rPr>
              <a:t> </a:t>
            </a:r>
            <a:r>
              <a:rPr sz="3600" spc="-25" dirty="0">
                <a:solidFill>
                  <a:srgbClr val="2E377E"/>
                </a:solidFill>
                <a:latin typeface="Georgia"/>
                <a:cs typeface="Georgia"/>
              </a:rPr>
              <a:t>be </a:t>
            </a:r>
            <a:r>
              <a:rPr sz="3600" dirty="0">
                <a:solidFill>
                  <a:srgbClr val="2E377E"/>
                </a:solidFill>
                <a:latin typeface="Georgia"/>
                <a:cs typeface="Georgia"/>
              </a:rPr>
              <a:t>used</a:t>
            </a:r>
            <a:r>
              <a:rPr sz="3600" spc="20" dirty="0">
                <a:solidFill>
                  <a:srgbClr val="2E377E"/>
                </a:solidFill>
                <a:latin typeface="Georgia"/>
                <a:cs typeface="Georgia"/>
              </a:rPr>
              <a:t> </a:t>
            </a:r>
            <a:r>
              <a:rPr sz="3600" dirty="0">
                <a:solidFill>
                  <a:srgbClr val="2E377E"/>
                </a:solidFill>
                <a:latin typeface="Georgia"/>
                <a:cs typeface="Georgia"/>
              </a:rPr>
              <a:t>for</a:t>
            </a:r>
            <a:r>
              <a:rPr sz="3600" spc="20" dirty="0">
                <a:solidFill>
                  <a:srgbClr val="2E377E"/>
                </a:solidFill>
                <a:latin typeface="Georgia"/>
                <a:cs typeface="Georgia"/>
              </a:rPr>
              <a:t> </a:t>
            </a:r>
            <a:r>
              <a:rPr sz="3600" dirty="0">
                <a:solidFill>
                  <a:srgbClr val="2E377E"/>
                </a:solidFill>
                <a:latin typeface="Georgia"/>
                <a:cs typeface="Georgia"/>
              </a:rPr>
              <a:t>recycling</a:t>
            </a:r>
            <a:r>
              <a:rPr sz="3600" spc="20" dirty="0">
                <a:solidFill>
                  <a:srgbClr val="2E377E"/>
                </a:solidFill>
                <a:latin typeface="Georgia"/>
                <a:cs typeface="Georgia"/>
              </a:rPr>
              <a:t> </a:t>
            </a:r>
            <a:r>
              <a:rPr sz="3600" dirty="0">
                <a:solidFill>
                  <a:srgbClr val="2E377E"/>
                </a:solidFill>
                <a:latin typeface="Georgia"/>
                <a:cs typeface="Georgia"/>
              </a:rPr>
              <a:t>such</a:t>
            </a:r>
            <a:r>
              <a:rPr sz="3600" spc="20" dirty="0">
                <a:solidFill>
                  <a:srgbClr val="2E377E"/>
                </a:solidFill>
                <a:latin typeface="Georgia"/>
                <a:cs typeface="Georgia"/>
              </a:rPr>
              <a:t> </a:t>
            </a:r>
            <a:r>
              <a:rPr sz="3600" dirty="0">
                <a:solidFill>
                  <a:srgbClr val="2E377E"/>
                </a:solidFill>
                <a:latin typeface="Georgia"/>
                <a:cs typeface="Georgia"/>
              </a:rPr>
              <a:t>as</a:t>
            </a:r>
            <a:r>
              <a:rPr sz="3600" spc="20" dirty="0">
                <a:solidFill>
                  <a:srgbClr val="2E377E"/>
                </a:solidFill>
                <a:latin typeface="Georgia"/>
                <a:cs typeface="Georgia"/>
              </a:rPr>
              <a:t> </a:t>
            </a:r>
            <a:r>
              <a:rPr sz="3600" spc="90" dirty="0">
                <a:solidFill>
                  <a:srgbClr val="2E377E"/>
                </a:solidFill>
                <a:latin typeface="Georgia"/>
                <a:cs typeface="Georgia"/>
              </a:rPr>
              <a:t>new</a:t>
            </a:r>
            <a:r>
              <a:rPr sz="3600" spc="20"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dirty="0">
                <a:solidFill>
                  <a:srgbClr val="2E377E"/>
                </a:solidFill>
                <a:latin typeface="Georgia"/>
                <a:cs typeface="Georgia"/>
              </a:rPr>
              <a:t>creation</a:t>
            </a:r>
            <a:r>
              <a:rPr sz="3600" spc="20" dirty="0">
                <a:solidFill>
                  <a:srgbClr val="2E377E"/>
                </a:solidFill>
                <a:latin typeface="Georgia"/>
                <a:cs typeface="Georgia"/>
              </a:rPr>
              <a:t> </a:t>
            </a:r>
            <a:r>
              <a:rPr sz="3600" dirty="0">
                <a:solidFill>
                  <a:srgbClr val="2E377E"/>
                </a:solidFill>
                <a:latin typeface="Georgia"/>
                <a:cs typeface="Georgia"/>
              </a:rPr>
              <a:t>for</a:t>
            </a:r>
            <a:r>
              <a:rPr sz="3600" spc="20" dirty="0">
                <a:solidFill>
                  <a:srgbClr val="2E377E"/>
                </a:solidFill>
                <a:latin typeface="Georgia"/>
                <a:cs typeface="Georgia"/>
              </a:rPr>
              <a:t> </a:t>
            </a:r>
            <a:r>
              <a:rPr sz="3600" spc="55" dirty="0">
                <a:solidFill>
                  <a:srgbClr val="2E377E"/>
                </a:solidFill>
                <a:latin typeface="Georgia"/>
                <a:cs typeface="Georgia"/>
              </a:rPr>
              <a:t>future</a:t>
            </a:r>
            <a:r>
              <a:rPr sz="3600" spc="20" dirty="0">
                <a:solidFill>
                  <a:srgbClr val="2E377E"/>
                </a:solidFill>
                <a:latin typeface="Georgia"/>
                <a:cs typeface="Georgia"/>
              </a:rPr>
              <a:t> </a:t>
            </a:r>
            <a:r>
              <a:rPr sz="3600" spc="-10" dirty="0">
                <a:solidFill>
                  <a:srgbClr val="2E377E"/>
                </a:solidFill>
                <a:latin typeface="Georgia"/>
                <a:cs typeface="Georgia"/>
              </a:rPr>
              <a:t>usage.</a:t>
            </a:r>
            <a:endParaRPr sz="3600" dirty="0">
              <a:latin typeface="Georgia"/>
              <a:cs typeface="Georgia"/>
            </a:endParaRPr>
          </a:p>
          <a:p>
            <a:pPr marL="12700" marR="5080">
              <a:lnSpc>
                <a:spcPct val="116300"/>
              </a:lnSpc>
            </a:pPr>
            <a:r>
              <a:rPr sz="3600" dirty="0">
                <a:solidFill>
                  <a:srgbClr val="2E377E"/>
                </a:solidFill>
                <a:latin typeface="Georgia"/>
                <a:cs typeface="Georgia"/>
              </a:rPr>
              <a:t>If</a:t>
            </a:r>
            <a:r>
              <a:rPr sz="3600" spc="-35"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pod</a:t>
            </a:r>
            <a:r>
              <a:rPr sz="3600" spc="-35" dirty="0">
                <a:solidFill>
                  <a:srgbClr val="2E377E"/>
                </a:solidFill>
                <a:latin typeface="Georgia"/>
                <a:cs typeface="Georgia"/>
              </a:rPr>
              <a:t> </a:t>
            </a:r>
            <a:r>
              <a:rPr sz="3600" dirty="0">
                <a:solidFill>
                  <a:srgbClr val="2E377E"/>
                </a:solidFill>
                <a:latin typeface="Georgia"/>
                <a:cs typeface="Georgia"/>
              </a:rPr>
              <a:t>is</a:t>
            </a:r>
            <a:r>
              <a:rPr sz="3600" spc="-30" dirty="0">
                <a:solidFill>
                  <a:srgbClr val="2E377E"/>
                </a:solidFill>
                <a:latin typeface="Georgia"/>
                <a:cs typeface="Georgia"/>
              </a:rPr>
              <a:t> </a:t>
            </a:r>
            <a:r>
              <a:rPr sz="3600" dirty="0">
                <a:solidFill>
                  <a:srgbClr val="2E377E"/>
                </a:solidFill>
                <a:latin typeface="Georgia"/>
                <a:cs typeface="Georgia"/>
              </a:rPr>
              <a:t>terminating</a:t>
            </a:r>
            <a:r>
              <a:rPr sz="3600" spc="-35" dirty="0">
                <a:solidFill>
                  <a:srgbClr val="2E377E"/>
                </a:solidFill>
                <a:latin typeface="Georgia"/>
                <a:cs typeface="Georgia"/>
              </a:rPr>
              <a:t> </a:t>
            </a:r>
            <a:r>
              <a:rPr sz="3600" dirty="0">
                <a:solidFill>
                  <a:srgbClr val="2E377E"/>
                </a:solidFill>
                <a:latin typeface="Georgia"/>
                <a:cs typeface="Georgia"/>
              </a:rPr>
              <a:t>due</a:t>
            </a:r>
            <a:r>
              <a:rPr sz="3600" spc="-35" dirty="0">
                <a:solidFill>
                  <a:srgbClr val="2E377E"/>
                </a:solidFill>
                <a:latin typeface="Georgia"/>
                <a:cs typeface="Georgia"/>
              </a:rPr>
              <a:t> </a:t>
            </a:r>
            <a:r>
              <a:rPr sz="3600" spc="60" dirty="0">
                <a:solidFill>
                  <a:srgbClr val="2E377E"/>
                </a:solidFill>
                <a:latin typeface="Georgia"/>
                <a:cs typeface="Georgia"/>
              </a:rPr>
              <a:t>to</a:t>
            </a:r>
            <a:r>
              <a:rPr sz="3600" spc="-35" dirty="0">
                <a:solidFill>
                  <a:srgbClr val="2E377E"/>
                </a:solidFill>
                <a:latin typeface="Georgia"/>
                <a:cs typeface="Georgia"/>
              </a:rPr>
              <a:t> </a:t>
            </a:r>
            <a:r>
              <a:rPr sz="3600" dirty="0">
                <a:solidFill>
                  <a:srgbClr val="2E377E"/>
                </a:solidFill>
                <a:latin typeface="Georgia"/>
                <a:cs typeface="Georgia"/>
              </a:rPr>
              <a:t>some</a:t>
            </a:r>
            <a:r>
              <a:rPr sz="3600" spc="-30" dirty="0">
                <a:solidFill>
                  <a:srgbClr val="2E377E"/>
                </a:solidFill>
                <a:latin typeface="Georgia"/>
                <a:cs typeface="Georgia"/>
              </a:rPr>
              <a:t> </a:t>
            </a:r>
            <a:r>
              <a:rPr sz="3600" dirty="0">
                <a:solidFill>
                  <a:srgbClr val="2E377E"/>
                </a:solidFill>
                <a:latin typeface="Georgia"/>
                <a:cs typeface="Georgia"/>
              </a:rPr>
              <a:t>issue,</a:t>
            </a:r>
            <a:r>
              <a:rPr sz="3600" spc="-35"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spc="-10" dirty="0">
                <a:solidFill>
                  <a:srgbClr val="2E377E"/>
                </a:solidFill>
                <a:latin typeface="Georgia"/>
                <a:cs typeface="Georgia"/>
              </a:rPr>
              <a:t>PV</a:t>
            </a:r>
            <a:r>
              <a:rPr sz="3600" spc="-35" dirty="0">
                <a:solidFill>
                  <a:srgbClr val="2E377E"/>
                </a:solidFill>
                <a:latin typeface="Georgia"/>
                <a:cs typeface="Georgia"/>
              </a:rPr>
              <a:t> </a:t>
            </a:r>
            <a:r>
              <a:rPr sz="3600" dirty="0">
                <a:solidFill>
                  <a:srgbClr val="2E377E"/>
                </a:solidFill>
                <a:latin typeface="Georgia"/>
                <a:cs typeface="Georgia"/>
              </a:rPr>
              <a:t>will</a:t>
            </a:r>
            <a:r>
              <a:rPr sz="3600" spc="-30" dirty="0">
                <a:solidFill>
                  <a:srgbClr val="2E377E"/>
                </a:solidFill>
                <a:latin typeface="Georgia"/>
                <a:cs typeface="Georgia"/>
              </a:rPr>
              <a:t> </a:t>
            </a:r>
            <a:r>
              <a:rPr sz="3600" dirty="0">
                <a:solidFill>
                  <a:srgbClr val="2E377E"/>
                </a:solidFill>
                <a:latin typeface="Georgia"/>
                <a:cs typeface="Georgia"/>
              </a:rPr>
              <a:t>be</a:t>
            </a:r>
            <a:r>
              <a:rPr sz="3600" spc="-35" dirty="0">
                <a:solidFill>
                  <a:srgbClr val="2E377E"/>
                </a:solidFill>
                <a:latin typeface="Georgia"/>
                <a:cs typeface="Georgia"/>
              </a:rPr>
              <a:t> </a:t>
            </a:r>
            <a:r>
              <a:rPr sz="3600" dirty="0">
                <a:solidFill>
                  <a:srgbClr val="2E377E"/>
                </a:solidFill>
                <a:latin typeface="Georgia"/>
                <a:cs typeface="Georgia"/>
              </a:rPr>
              <a:t>released</a:t>
            </a:r>
            <a:r>
              <a:rPr sz="3600" spc="-35" dirty="0">
                <a:solidFill>
                  <a:srgbClr val="2E377E"/>
                </a:solidFill>
                <a:latin typeface="Georgia"/>
                <a:cs typeface="Georgia"/>
              </a:rPr>
              <a:t> </a:t>
            </a:r>
            <a:r>
              <a:rPr sz="3600" spc="50" dirty="0">
                <a:solidFill>
                  <a:srgbClr val="2E377E"/>
                </a:solidFill>
                <a:latin typeface="Georgia"/>
                <a:cs typeface="Georgia"/>
              </a:rPr>
              <a:t>but</a:t>
            </a:r>
            <a:r>
              <a:rPr sz="3600" spc="-35" dirty="0">
                <a:solidFill>
                  <a:srgbClr val="2E377E"/>
                </a:solidFill>
                <a:latin typeface="Georgia"/>
                <a:cs typeface="Georgia"/>
              </a:rPr>
              <a:t> </a:t>
            </a:r>
            <a:r>
              <a:rPr sz="3600" dirty="0">
                <a:solidFill>
                  <a:srgbClr val="2E377E"/>
                </a:solidFill>
                <a:latin typeface="Georgia"/>
                <a:cs typeface="Georgia"/>
              </a:rPr>
              <a:t>as</a:t>
            </a:r>
            <a:r>
              <a:rPr sz="3600" spc="-30" dirty="0">
                <a:solidFill>
                  <a:srgbClr val="2E377E"/>
                </a:solidFill>
                <a:latin typeface="Georgia"/>
                <a:cs typeface="Georgia"/>
              </a:rPr>
              <a:t> </a:t>
            </a:r>
            <a:r>
              <a:rPr sz="3600" spc="55" dirty="0">
                <a:solidFill>
                  <a:srgbClr val="2E377E"/>
                </a:solidFill>
                <a:latin typeface="Georgia"/>
                <a:cs typeface="Georgia"/>
              </a:rPr>
              <a:t>you </a:t>
            </a:r>
            <a:r>
              <a:rPr sz="3600" spc="80" dirty="0">
                <a:solidFill>
                  <a:srgbClr val="2E377E"/>
                </a:solidFill>
                <a:latin typeface="Georgia"/>
                <a:cs typeface="Georgia"/>
              </a:rPr>
              <a:t>know</a:t>
            </a:r>
            <a:r>
              <a:rPr sz="3600" spc="-15" dirty="0">
                <a:solidFill>
                  <a:srgbClr val="2E377E"/>
                </a:solidFill>
                <a:latin typeface="Georgia"/>
                <a:cs typeface="Georgia"/>
              </a:rPr>
              <a:t> </a:t>
            </a:r>
            <a:r>
              <a:rPr sz="3600" spc="50" dirty="0">
                <a:solidFill>
                  <a:srgbClr val="2E377E"/>
                </a:solidFill>
                <a:latin typeface="Georgia"/>
                <a:cs typeface="Georgia"/>
              </a:rPr>
              <a:t>the</a:t>
            </a:r>
            <a:r>
              <a:rPr sz="3600" spc="-15" dirty="0">
                <a:solidFill>
                  <a:srgbClr val="2E377E"/>
                </a:solidFill>
                <a:latin typeface="Georgia"/>
                <a:cs typeface="Georgia"/>
              </a:rPr>
              <a:t> </a:t>
            </a:r>
            <a:r>
              <a:rPr sz="3600" spc="90" dirty="0">
                <a:solidFill>
                  <a:srgbClr val="2E377E"/>
                </a:solidFill>
                <a:latin typeface="Georgia"/>
                <a:cs typeface="Georgia"/>
              </a:rPr>
              <a:t>new</a:t>
            </a:r>
            <a:r>
              <a:rPr sz="3600" spc="-15" dirty="0">
                <a:solidFill>
                  <a:srgbClr val="2E377E"/>
                </a:solidFill>
                <a:latin typeface="Georgia"/>
                <a:cs typeface="Georgia"/>
              </a:rPr>
              <a:t> </a:t>
            </a:r>
            <a:r>
              <a:rPr sz="3600" dirty="0">
                <a:solidFill>
                  <a:srgbClr val="2E377E"/>
                </a:solidFill>
                <a:latin typeface="Georgia"/>
                <a:cs typeface="Georgia"/>
              </a:rPr>
              <a:t>pod</a:t>
            </a:r>
            <a:r>
              <a:rPr sz="3600" spc="-15" dirty="0">
                <a:solidFill>
                  <a:srgbClr val="2E377E"/>
                </a:solidFill>
                <a:latin typeface="Georgia"/>
                <a:cs typeface="Georgia"/>
              </a:rPr>
              <a:t> </a:t>
            </a:r>
            <a:r>
              <a:rPr sz="3600" dirty="0">
                <a:solidFill>
                  <a:srgbClr val="2E377E"/>
                </a:solidFill>
                <a:latin typeface="Georgia"/>
                <a:cs typeface="Georgia"/>
              </a:rPr>
              <a:t>will</a:t>
            </a:r>
            <a:r>
              <a:rPr sz="3600" spc="-10" dirty="0">
                <a:solidFill>
                  <a:srgbClr val="2E377E"/>
                </a:solidFill>
                <a:latin typeface="Georgia"/>
                <a:cs typeface="Georgia"/>
              </a:rPr>
              <a:t> </a:t>
            </a:r>
            <a:r>
              <a:rPr sz="3600" dirty="0">
                <a:solidFill>
                  <a:srgbClr val="2E377E"/>
                </a:solidFill>
                <a:latin typeface="Georgia"/>
                <a:cs typeface="Georgia"/>
              </a:rPr>
              <a:t>be</a:t>
            </a:r>
            <a:r>
              <a:rPr sz="3600" spc="-15" dirty="0">
                <a:solidFill>
                  <a:srgbClr val="2E377E"/>
                </a:solidFill>
                <a:latin typeface="Georgia"/>
                <a:cs typeface="Georgia"/>
              </a:rPr>
              <a:t> </a:t>
            </a:r>
            <a:r>
              <a:rPr sz="3600" dirty="0">
                <a:solidFill>
                  <a:srgbClr val="2E377E"/>
                </a:solidFill>
                <a:latin typeface="Georgia"/>
                <a:cs typeface="Georgia"/>
              </a:rPr>
              <a:t>created</a:t>
            </a:r>
            <a:r>
              <a:rPr sz="3600" spc="-15" dirty="0">
                <a:solidFill>
                  <a:srgbClr val="2E377E"/>
                </a:solidFill>
                <a:latin typeface="Georgia"/>
                <a:cs typeface="Georgia"/>
              </a:rPr>
              <a:t> </a:t>
            </a:r>
            <a:r>
              <a:rPr sz="3600" spc="50" dirty="0">
                <a:solidFill>
                  <a:srgbClr val="2E377E"/>
                </a:solidFill>
                <a:latin typeface="Georgia"/>
                <a:cs typeface="Georgia"/>
              </a:rPr>
              <a:t>quickly</a:t>
            </a:r>
            <a:r>
              <a:rPr sz="3600" spc="-15" dirty="0">
                <a:solidFill>
                  <a:srgbClr val="2E377E"/>
                </a:solidFill>
                <a:latin typeface="Georgia"/>
                <a:cs typeface="Georgia"/>
              </a:rPr>
              <a:t> </a:t>
            </a:r>
            <a:r>
              <a:rPr sz="3600" dirty="0">
                <a:solidFill>
                  <a:srgbClr val="2E377E"/>
                </a:solidFill>
                <a:latin typeface="Georgia"/>
                <a:cs typeface="Georgia"/>
              </a:rPr>
              <a:t>then</a:t>
            </a:r>
            <a:r>
              <a:rPr sz="3600" spc="-10" dirty="0">
                <a:solidFill>
                  <a:srgbClr val="2E377E"/>
                </a:solidFill>
                <a:latin typeface="Georgia"/>
                <a:cs typeface="Georgia"/>
              </a:rPr>
              <a:t> </a:t>
            </a:r>
            <a:r>
              <a:rPr sz="3600" spc="5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same</a:t>
            </a:r>
            <a:r>
              <a:rPr sz="3600" spc="-15" dirty="0">
                <a:solidFill>
                  <a:srgbClr val="2E377E"/>
                </a:solidFill>
                <a:latin typeface="Georgia"/>
                <a:cs typeface="Georgia"/>
              </a:rPr>
              <a:t> </a:t>
            </a:r>
            <a:r>
              <a:rPr sz="3600" spc="-10" dirty="0">
                <a:solidFill>
                  <a:srgbClr val="2E377E"/>
                </a:solidFill>
                <a:latin typeface="Georgia"/>
                <a:cs typeface="Georgia"/>
              </a:rPr>
              <a:t>PV</a:t>
            </a:r>
            <a:r>
              <a:rPr sz="3600" spc="-15" dirty="0">
                <a:solidFill>
                  <a:srgbClr val="2E377E"/>
                </a:solidFill>
                <a:latin typeface="Georgia"/>
                <a:cs typeface="Georgia"/>
              </a:rPr>
              <a:t> </a:t>
            </a:r>
            <a:r>
              <a:rPr sz="3600" dirty="0">
                <a:solidFill>
                  <a:srgbClr val="2E377E"/>
                </a:solidFill>
                <a:latin typeface="Georgia"/>
                <a:cs typeface="Georgia"/>
              </a:rPr>
              <a:t>will</a:t>
            </a:r>
            <a:r>
              <a:rPr sz="3600" spc="-10" dirty="0">
                <a:solidFill>
                  <a:srgbClr val="2E377E"/>
                </a:solidFill>
                <a:latin typeface="Georgia"/>
                <a:cs typeface="Georgia"/>
              </a:rPr>
              <a:t> </a:t>
            </a:r>
            <a:r>
              <a:rPr sz="3600" dirty="0">
                <a:solidFill>
                  <a:srgbClr val="2E377E"/>
                </a:solidFill>
                <a:latin typeface="Georgia"/>
                <a:cs typeface="Georgia"/>
              </a:rPr>
              <a:t>be</a:t>
            </a:r>
            <a:r>
              <a:rPr sz="3600" spc="-15" dirty="0">
                <a:solidFill>
                  <a:srgbClr val="2E377E"/>
                </a:solidFill>
                <a:latin typeface="Georgia"/>
                <a:cs typeface="Georgia"/>
              </a:rPr>
              <a:t> </a:t>
            </a:r>
            <a:r>
              <a:rPr sz="3600" dirty="0">
                <a:solidFill>
                  <a:srgbClr val="2E377E"/>
                </a:solidFill>
                <a:latin typeface="Georgia"/>
                <a:cs typeface="Georgia"/>
              </a:rPr>
              <a:t>attached</a:t>
            </a:r>
            <a:r>
              <a:rPr sz="3600" spc="-15" dirty="0">
                <a:solidFill>
                  <a:srgbClr val="2E377E"/>
                </a:solidFill>
                <a:latin typeface="Georgia"/>
                <a:cs typeface="Georgia"/>
              </a:rPr>
              <a:t> </a:t>
            </a:r>
            <a:r>
              <a:rPr sz="3600" spc="60" dirty="0">
                <a:solidFill>
                  <a:srgbClr val="2E377E"/>
                </a:solidFill>
                <a:latin typeface="Georgia"/>
                <a:cs typeface="Georgia"/>
              </a:rPr>
              <a:t>to</a:t>
            </a:r>
            <a:r>
              <a:rPr sz="3600" spc="-15" dirty="0">
                <a:solidFill>
                  <a:srgbClr val="2E377E"/>
                </a:solidFill>
                <a:latin typeface="Georgia"/>
                <a:cs typeface="Georgia"/>
              </a:rPr>
              <a:t> </a:t>
            </a:r>
            <a:r>
              <a:rPr sz="3600" spc="25" dirty="0">
                <a:solidFill>
                  <a:srgbClr val="2E377E"/>
                </a:solidFill>
                <a:latin typeface="Georgia"/>
                <a:cs typeface="Georgia"/>
              </a:rPr>
              <a:t>the </a:t>
            </a:r>
            <a:r>
              <a:rPr sz="3600" spc="85" dirty="0">
                <a:solidFill>
                  <a:srgbClr val="2E377E"/>
                </a:solidFill>
                <a:latin typeface="Georgia"/>
                <a:cs typeface="Georgia"/>
              </a:rPr>
              <a:t>newly</a:t>
            </a:r>
            <a:r>
              <a:rPr sz="3600" spc="55" dirty="0">
                <a:solidFill>
                  <a:srgbClr val="2E377E"/>
                </a:solidFill>
                <a:latin typeface="Georgia"/>
                <a:cs typeface="Georgia"/>
              </a:rPr>
              <a:t> </a:t>
            </a:r>
            <a:r>
              <a:rPr sz="3600" dirty="0">
                <a:solidFill>
                  <a:srgbClr val="2E377E"/>
                </a:solidFill>
                <a:latin typeface="Georgia"/>
                <a:cs typeface="Georgia"/>
              </a:rPr>
              <a:t>created</a:t>
            </a:r>
            <a:r>
              <a:rPr sz="3600" spc="60" dirty="0">
                <a:solidFill>
                  <a:srgbClr val="2E377E"/>
                </a:solidFill>
                <a:latin typeface="Georgia"/>
                <a:cs typeface="Georgia"/>
              </a:rPr>
              <a:t> </a:t>
            </a:r>
            <a:r>
              <a:rPr sz="3600" spc="-20" dirty="0">
                <a:solidFill>
                  <a:srgbClr val="2E377E"/>
                </a:solidFill>
                <a:latin typeface="Georgia"/>
                <a:cs typeface="Georgia"/>
              </a:rPr>
              <a:t>Pod.</a:t>
            </a:r>
            <a:endParaRPr lang="en-IN" sz="3600" spc="-20" dirty="0">
              <a:solidFill>
                <a:srgbClr val="2E377E"/>
              </a:solidFill>
              <a:latin typeface="Georgia"/>
              <a:cs typeface="Georgia"/>
            </a:endParaRPr>
          </a:p>
          <a:p>
            <a:pPr marL="12700" marR="5080">
              <a:lnSpc>
                <a:spcPct val="116300"/>
              </a:lnSpc>
            </a:pPr>
            <a:endParaRPr lang="en-IN" sz="3600" dirty="0">
              <a:solidFill>
                <a:srgbClr val="2E377E"/>
              </a:solidFill>
              <a:latin typeface="Georgia"/>
            </a:endParaRPr>
          </a:p>
          <a:p>
            <a:pPr marL="12700" marR="5080">
              <a:lnSpc>
                <a:spcPct val="116300"/>
              </a:lnSpc>
            </a:pPr>
            <a:r>
              <a:rPr lang="en-US" sz="3600" dirty="0">
                <a:solidFill>
                  <a:srgbClr val="2E377E"/>
                </a:solidFill>
                <a:latin typeface="Georgia"/>
              </a:rPr>
              <a:t>After the Persistent Volume is successfully bound to the Persistent Volume Claim, the Pod can mount the PVC as a volume.</a:t>
            </a:r>
            <a:endParaRPr sz="3600" dirty="0">
              <a:solidFill>
                <a:srgbClr val="2E377E"/>
              </a:solidFill>
              <a:latin typeface="Georgia"/>
            </a:endParaRPr>
          </a:p>
        </p:txBody>
      </p:sp>
      <p:pic>
        <p:nvPicPr>
          <p:cNvPr id="4" name="object 4"/>
          <p:cNvPicPr/>
          <p:nvPr/>
        </p:nvPicPr>
        <p:blipFill>
          <a:blip r:embed="rId2" cstate="print"/>
          <a:stretch>
            <a:fillRect/>
          </a:stretch>
        </p:blipFill>
        <p:spPr>
          <a:xfrm>
            <a:off x="959850" y="2550794"/>
            <a:ext cx="133350" cy="133349"/>
          </a:xfrm>
          <a:prstGeom prst="rect">
            <a:avLst/>
          </a:prstGeom>
        </p:spPr>
      </p:pic>
      <p:pic>
        <p:nvPicPr>
          <p:cNvPr id="5" name="object 5"/>
          <p:cNvPicPr/>
          <p:nvPr/>
        </p:nvPicPr>
        <p:blipFill>
          <a:blip r:embed="rId2" cstate="print"/>
          <a:stretch>
            <a:fillRect/>
          </a:stretch>
        </p:blipFill>
        <p:spPr>
          <a:xfrm>
            <a:off x="959850" y="3188969"/>
            <a:ext cx="133350" cy="133349"/>
          </a:xfrm>
          <a:prstGeom prst="rect">
            <a:avLst/>
          </a:prstGeom>
        </p:spPr>
      </p:pic>
      <p:pic>
        <p:nvPicPr>
          <p:cNvPr id="6" name="object 6"/>
          <p:cNvPicPr/>
          <p:nvPr/>
        </p:nvPicPr>
        <p:blipFill>
          <a:blip r:embed="rId2" cstate="print"/>
          <a:stretch>
            <a:fillRect/>
          </a:stretch>
        </p:blipFill>
        <p:spPr>
          <a:xfrm>
            <a:off x="959850" y="3827145"/>
            <a:ext cx="133350" cy="133349"/>
          </a:xfrm>
          <a:prstGeom prst="rect">
            <a:avLst/>
          </a:prstGeom>
        </p:spPr>
      </p:pic>
      <p:pic>
        <p:nvPicPr>
          <p:cNvPr id="7" name="object 7"/>
          <p:cNvPicPr/>
          <p:nvPr/>
        </p:nvPicPr>
        <p:blipFill>
          <a:blip r:embed="rId2" cstate="print"/>
          <a:stretch>
            <a:fillRect/>
          </a:stretch>
        </p:blipFill>
        <p:spPr>
          <a:xfrm>
            <a:off x="959850" y="5103494"/>
            <a:ext cx="133350" cy="133349"/>
          </a:xfrm>
          <a:prstGeom prst="rect">
            <a:avLst/>
          </a:prstGeom>
        </p:spPr>
      </p:pic>
      <p:pic>
        <p:nvPicPr>
          <p:cNvPr id="8" name="object 8"/>
          <p:cNvPicPr/>
          <p:nvPr/>
        </p:nvPicPr>
        <p:blipFill>
          <a:blip r:embed="rId2" cstate="print"/>
          <a:stretch>
            <a:fillRect/>
          </a:stretch>
        </p:blipFill>
        <p:spPr>
          <a:xfrm>
            <a:off x="959850" y="7018019"/>
            <a:ext cx="133350" cy="133349"/>
          </a:xfrm>
          <a:prstGeom prst="rect">
            <a:avLst/>
          </a:prstGeom>
        </p:spPr>
      </p:pic>
      <p:sp>
        <p:nvSpPr>
          <p:cNvPr id="9" name="object 9"/>
          <p:cNvSpPr txBox="1">
            <a:spLocks noGrp="1"/>
          </p:cNvSpPr>
          <p:nvPr>
            <p:ph type="title"/>
          </p:nvPr>
        </p:nvSpPr>
        <p:spPr>
          <a:prstGeom prst="rect">
            <a:avLst/>
          </a:prstGeom>
        </p:spPr>
        <p:txBody>
          <a:bodyPr vert="horz" wrap="square" lIns="0" tIns="370149" rIns="0" bIns="0" rtlCol="0">
            <a:spAutoFit/>
          </a:bodyPr>
          <a:lstStyle/>
          <a:p>
            <a:pPr marL="252095">
              <a:lnSpc>
                <a:spcPct val="100000"/>
              </a:lnSpc>
              <a:spcBef>
                <a:spcPts val="100"/>
              </a:spcBef>
            </a:pPr>
            <a:r>
              <a:rPr spc="-215" dirty="0">
                <a:solidFill>
                  <a:srgbClr val="FF3131"/>
                </a:solidFill>
              </a:rPr>
              <a:t>PERSISTENT</a:t>
            </a:r>
            <a:r>
              <a:rPr spc="-50" dirty="0">
                <a:solidFill>
                  <a:srgbClr val="FF3131"/>
                </a:solidFill>
              </a:rPr>
              <a:t> </a:t>
            </a:r>
            <a:r>
              <a:rPr spc="-235" dirty="0">
                <a:solidFill>
                  <a:srgbClr val="FF3131"/>
                </a:solidFill>
              </a:rPr>
              <a:t>VOLUME</a:t>
            </a:r>
            <a:r>
              <a:rPr spc="-45" dirty="0">
                <a:solidFill>
                  <a:srgbClr val="FF3131"/>
                </a:solidFill>
              </a:rPr>
              <a:t> </a:t>
            </a:r>
            <a:r>
              <a:rPr spc="-310" dirty="0">
                <a:solidFill>
                  <a:srgbClr val="FF3131"/>
                </a:solidFill>
              </a:rPr>
              <a:t>CLAIM:</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22549" rIns="0" bIns="0" rtlCol="0">
            <a:spAutoFit/>
          </a:bodyPr>
          <a:lstStyle/>
          <a:p>
            <a:pPr marL="404495">
              <a:lnSpc>
                <a:spcPct val="100000"/>
              </a:lnSpc>
              <a:spcBef>
                <a:spcPts val="100"/>
              </a:spcBef>
            </a:pPr>
            <a:r>
              <a:rPr spc="-280" dirty="0">
                <a:solidFill>
                  <a:srgbClr val="FF3131"/>
                </a:solidFill>
              </a:rPr>
              <a:t>FACTS</a:t>
            </a:r>
            <a:r>
              <a:rPr spc="-55" dirty="0">
                <a:solidFill>
                  <a:srgbClr val="FF3131"/>
                </a:solidFill>
              </a:rPr>
              <a:t> </a:t>
            </a:r>
            <a:r>
              <a:rPr spc="-210" dirty="0">
                <a:solidFill>
                  <a:srgbClr val="FF3131"/>
                </a:solidFill>
              </a:rPr>
              <a:t>ABOUT</a:t>
            </a:r>
            <a:r>
              <a:rPr spc="-60" dirty="0">
                <a:solidFill>
                  <a:srgbClr val="FF3131"/>
                </a:solidFill>
              </a:rPr>
              <a:t> </a:t>
            </a:r>
            <a:r>
              <a:rPr spc="-310" dirty="0">
                <a:solidFill>
                  <a:srgbClr val="FF3131"/>
                </a:solidFill>
              </a:rPr>
              <a:t>EBS:</a:t>
            </a:r>
          </a:p>
        </p:txBody>
      </p:sp>
      <p:pic>
        <p:nvPicPr>
          <p:cNvPr id="3" name="object 3"/>
          <p:cNvPicPr/>
          <p:nvPr/>
        </p:nvPicPr>
        <p:blipFill>
          <a:blip r:embed="rId2" cstate="print"/>
          <a:stretch>
            <a:fillRect/>
          </a:stretch>
        </p:blipFill>
        <p:spPr>
          <a:xfrm>
            <a:off x="1177152" y="4772024"/>
            <a:ext cx="133350" cy="133349"/>
          </a:xfrm>
          <a:prstGeom prst="rect">
            <a:avLst/>
          </a:prstGeom>
        </p:spPr>
      </p:pic>
      <p:pic>
        <p:nvPicPr>
          <p:cNvPr id="4" name="object 4"/>
          <p:cNvPicPr/>
          <p:nvPr/>
        </p:nvPicPr>
        <p:blipFill>
          <a:blip r:embed="rId2" cstate="print"/>
          <a:stretch>
            <a:fillRect/>
          </a:stretch>
        </p:blipFill>
        <p:spPr>
          <a:xfrm>
            <a:off x="1177152" y="6048374"/>
            <a:ext cx="133350" cy="133349"/>
          </a:xfrm>
          <a:prstGeom prst="rect">
            <a:avLst/>
          </a:prstGeom>
        </p:spPr>
      </p:pic>
      <p:pic>
        <p:nvPicPr>
          <p:cNvPr id="5" name="object 5"/>
          <p:cNvPicPr/>
          <p:nvPr/>
        </p:nvPicPr>
        <p:blipFill>
          <a:blip r:embed="rId2" cstate="print"/>
          <a:stretch>
            <a:fillRect/>
          </a:stretch>
        </p:blipFill>
        <p:spPr>
          <a:xfrm>
            <a:off x="1177152" y="6686549"/>
            <a:ext cx="133350" cy="133349"/>
          </a:xfrm>
          <a:prstGeom prst="rect">
            <a:avLst/>
          </a:prstGeom>
        </p:spPr>
      </p:pic>
      <p:pic>
        <p:nvPicPr>
          <p:cNvPr id="6" name="object 6"/>
          <p:cNvPicPr/>
          <p:nvPr/>
        </p:nvPicPr>
        <p:blipFill>
          <a:blip r:embed="rId3" cstate="print"/>
          <a:stretch>
            <a:fillRect/>
          </a:stretch>
        </p:blipFill>
        <p:spPr>
          <a:xfrm>
            <a:off x="1177152" y="7962899"/>
            <a:ext cx="133350" cy="133349"/>
          </a:xfrm>
          <a:prstGeom prst="rect">
            <a:avLst/>
          </a:prstGeom>
        </p:spPr>
      </p:pic>
      <p:sp>
        <p:nvSpPr>
          <p:cNvPr id="7" name="object 7"/>
          <p:cNvSpPr txBox="1"/>
          <p:nvPr/>
        </p:nvSpPr>
        <p:spPr>
          <a:xfrm>
            <a:off x="716777" y="1859914"/>
            <a:ext cx="16960850" cy="640715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Now,</a:t>
            </a:r>
            <a:r>
              <a:rPr sz="3600" spc="-35" dirty="0">
                <a:solidFill>
                  <a:srgbClr val="2E377E"/>
                </a:solidFill>
                <a:latin typeface="Georgia"/>
                <a:cs typeface="Georgia"/>
              </a:rPr>
              <a:t> </a:t>
            </a:r>
            <a:r>
              <a:rPr sz="3600" dirty="0">
                <a:solidFill>
                  <a:srgbClr val="2E377E"/>
                </a:solidFill>
                <a:latin typeface="Georgia"/>
                <a:cs typeface="Georgia"/>
              </a:rPr>
              <a:t>As</a:t>
            </a:r>
            <a:r>
              <a:rPr sz="3600" spc="-35" dirty="0">
                <a:solidFill>
                  <a:srgbClr val="2E377E"/>
                </a:solidFill>
                <a:latin typeface="Georgia"/>
                <a:cs typeface="Georgia"/>
              </a:rPr>
              <a:t> </a:t>
            </a:r>
            <a:r>
              <a:rPr sz="3600" spc="80" dirty="0">
                <a:solidFill>
                  <a:srgbClr val="2E377E"/>
                </a:solidFill>
                <a:latin typeface="Georgia"/>
                <a:cs typeface="Georgia"/>
              </a:rPr>
              <a:t>you</a:t>
            </a:r>
            <a:r>
              <a:rPr sz="3600" spc="-35" dirty="0">
                <a:solidFill>
                  <a:srgbClr val="2E377E"/>
                </a:solidFill>
                <a:latin typeface="Georgia"/>
                <a:cs typeface="Georgia"/>
              </a:rPr>
              <a:t> </a:t>
            </a:r>
            <a:r>
              <a:rPr sz="3600" spc="80" dirty="0">
                <a:solidFill>
                  <a:srgbClr val="2E377E"/>
                </a:solidFill>
                <a:latin typeface="Georgia"/>
                <a:cs typeface="Georgia"/>
              </a:rPr>
              <a:t>know</a:t>
            </a:r>
            <a:r>
              <a:rPr sz="3600" spc="-30"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Persistent</a:t>
            </a:r>
            <a:r>
              <a:rPr sz="3600" spc="-35" dirty="0">
                <a:solidFill>
                  <a:srgbClr val="2E377E"/>
                </a:solidFill>
                <a:latin typeface="Georgia"/>
                <a:cs typeface="Georgia"/>
              </a:rPr>
              <a:t> </a:t>
            </a:r>
            <a:r>
              <a:rPr sz="3600" dirty="0">
                <a:solidFill>
                  <a:srgbClr val="2E377E"/>
                </a:solidFill>
                <a:latin typeface="Georgia"/>
                <a:cs typeface="Georgia"/>
              </a:rPr>
              <a:t>Volume</a:t>
            </a:r>
            <a:r>
              <a:rPr sz="3600" spc="-35" dirty="0">
                <a:solidFill>
                  <a:srgbClr val="2E377E"/>
                </a:solidFill>
                <a:latin typeface="Georgia"/>
                <a:cs typeface="Georgia"/>
              </a:rPr>
              <a:t> </a:t>
            </a:r>
            <a:r>
              <a:rPr sz="3600" dirty="0">
                <a:solidFill>
                  <a:srgbClr val="2E377E"/>
                </a:solidFill>
                <a:latin typeface="Georgia"/>
                <a:cs typeface="Georgia"/>
              </a:rPr>
              <a:t>will</a:t>
            </a:r>
            <a:r>
              <a:rPr sz="3600" spc="-30" dirty="0">
                <a:solidFill>
                  <a:srgbClr val="2E377E"/>
                </a:solidFill>
                <a:latin typeface="Georgia"/>
                <a:cs typeface="Georgia"/>
              </a:rPr>
              <a:t> </a:t>
            </a:r>
            <a:r>
              <a:rPr sz="3600" dirty="0">
                <a:solidFill>
                  <a:srgbClr val="2E377E"/>
                </a:solidFill>
                <a:latin typeface="Georgia"/>
                <a:cs typeface="Georgia"/>
              </a:rPr>
              <a:t>be</a:t>
            </a:r>
            <a:r>
              <a:rPr sz="3600" spc="-35" dirty="0">
                <a:solidFill>
                  <a:srgbClr val="2E377E"/>
                </a:solidFill>
                <a:latin typeface="Georgia"/>
                <a:cs typeface="Georgia"/>
              </a:rPr>
              <a:t> </a:t>
            </a:r>
            <a:r>
              <a:rPr sz="3600" dirty="0">
                <a:solidFill>
                  <a:srgbClr val="2E377E"/>
                </a:solidFill>
                <a:latin typeface="Georgia"/>
                <a:cs typeface="Georgia"/>
              </a:rPr>
              <a:t>on</a:t>
            </a:r>
            <a:r>
              <a:rPr sz="3600" spc="-35" dirty="0">
                <a:solidFill>
                  <a:srgbClr val="2E377E"/>
                </a:solidFill>
                <a:latin typeface="Georgia"/>
                <a:cs typeface="Georgia"/>
              </a:rPr>
              <a:t> </a:t>
            </a:r>
            <a:r>
              <a:rPr sz="3600" spc="-20" dirty="0">
                <a:solidFill>
                  <a:srgbClr val="2E377E"/>
                </a:solidFill>
                <a:latin typeface="Georgia"/>
                <a:cs typeface="Georgia"/>
              </a:rPr>
              <a:t>Cloud.</a:t>
            </a:r>
            <a:r>
              <a:rPr sz="3600" spc="-35" dirty="0">
                <a:solidFill>
                  <a:srgbClr val="2E377E"/>
                </a:solidFill>
                <a:latin typeface="Georgia"/>
                <a:cs typeface="Georgia"/>
              </a:rPr>
              <a:t> </a:t>
            </a:r>
            <a:r>
              <a:rPr sz="3600" spc="-50" dirty="0">
                <a:solidFill>
                  <a:srgbClr val="2E377E"/>
                </a:solidFill>
                <a:latin typeface="Georgia"/>
                <a:cs typeface="Georgia"/>
              </a:rPr>
              <a:t>So,</a:t>
            </a:r>
            <a:r>
              <a:rPr sz="3600" spc="-30" dirty="0">
                <a:solidFill>
                  <a:srgbClr val="2E377E"/>
                </a:solidFill>
                <a:latin typeface="Georgia"/>
                <a:cs typeface="Georgia"/>
              </a:rPr>
              <a:t> </a:t>
            </a:r>
            <a:r>
              <a:rPr sz="3600" dirty="0">
                <a:solidFill>
                  <a:srgbClr val="2E377E"/>
                </a:solidFill>
                <a:latin typeface="Georgia"/>
                <a:cs typeface="Georgia"/>
              </a:rPr>
              <a:t>there</a:t>
            </a:r>
            <a:r>
              <a:rPr sz="3600" spc="-35" dirty="0">
                <a:solidFill>
                  <a:srgbClr val="2E377E"/>
                </a:solidFill>
                <a:latin typeface="Georgia"/>
                <a:cs typeface="Georgia"/>
              </a:rPr>
              <a:t> </a:t>
            </a:r>
            <a:r>
              <a:rPr sz="3600" dirty="0">
                <a:solidFill>
                  <a:srgbClr val="2E377E"/>
                </a:solidFill>
                <a:latin typeface="Georgia"/>
                <a:cs typeface="Georgia"/>
              </a:rPr>
              <a:t>are</a:t>
            </a:r>
            <a:r>
              <a:rPr sz="3600" spc="-35" dirty="0">
                <a:solidFill>
                  <a:srgbClr val="2E377E"/>
                </a:solidFill>
                <a:latin typeface="Georgia"/>
                <a:cs typeface="Georgia"/>
              </a:rPr>
              <a:t> </a:t>
            </a:r>
            <a:r>
              <a:rPr sz="3600" dirty="0">
                <a:solidFill>
                  <a:srgbClr val="2E377E"/>
                </a:solidFill>
                <a:latin typeface="Georgia"/>
                <a:cs typeface="Georgia"/>
              </a:rPr>
              <a:t>some</a:t>
            </a:r>
            <a:r>
              <a:rPr sz="3600" spc="-35" dirty="0">
                <a:solidFill>
                  <a:srgbClr val="2E377E"/>
                </a:solidFill>
                <a:latin typeface="Georgia"/>
                <a:cs typeface="Georgia"/>
              </a:rPr>
              <a:t> </a:t>
            </a:r>
            <a:r>
              <a:rPr sz="3600" spc="-20" dirty="0">
                <a:solidFill>
                  <a:srgbClr val="2E377E"/>
                </a:solidFill>
                <a:latin typeface="Georgia"/>
                <a:cs typeface="Georgia"/>
              </a:rPr>
              <a:t>facts </a:t>
            </a:r>
            <a:r>
              <a:rPr sz="3600" dirty="0">
                <a:solidFill>
                  <a:srgbClr val="2E377E"/>
                </a:solidFill>
                <a:latin typeface="Georgia"/>
                <a:cs typeface="Georgia"/>
              </a:rPr>
              <a:t>and terms</a:t>
            </a:r>
            <a:r>
              <a:rPr sz="3600" spc="5" dirty="0">
                <a:solidFill>
                  <a:srgbClr val="2E377E"/>
                </a:solidFill>
                <a:latin typeface="Georgia"/>
                <a:cs typeface="Georgia"/>
              </a:rPr>
              <a:t> </a:t>
            </a:r>
            <a:r>
              <a:rPr sz="3600" dirty="0">
                <a:solidFill>
                  <a:srgbClr val="2E377E"/>
                </a:solidFill>
                <a:latin typeface="Georgia"/>
                <a:cs typeface="Georgia"/>
              </a:rPr>
              <a:t>and</a:t>
            </a:r>
            <a:r>
              <a:rPr sz="3600" spc="5" dirty="0">
                <a:solidFill>
                  <a:srgbClr val="2E377E"/>
                </a:solidFill>
                <a:latin typeface="Georgia"/>
                <a:cs typeface="Georgia"/>
              </a:rPr>
              <a:t> </a:t>
            </a:r>
            <a:r>
              <a:rPr sz="3600" dirty="0">
                <a:solidFill>
                  <a:srgbClr val="2E377E"/>
                </a:solidFill>
                <a:latin typeface="Georgia"/>
                <a:cs typeface="Georgia"/>
              </a:rPr>
              <a:t>conditions</a:t>
            </a:r>
            <a:r>
              <a:rPr sz="3600" spc="5" dirty="0">
                <a:solidFill>
                  <a:srgbClr val="2E377E"/>
                </a:solidFill>
                <a:latin typeface="Georgia"/>
                <a:cs typeface="Georgia"/>
              </a:rPr>
              <a:t> </a:t>
            </a:r>
            <a:r>
              <a:rPr sz="3600" dirty="0">
                <a:solidFill>
                  <a:srgbClr val="2E377E"/>
                </a:solidFill>
                <a:latin typeface="Georgia"/>
                <a:cs typeface="Georgia"/>
              </a:rPr>
              <a:t>are there</a:t>
            </a:r>
            <a:r>
              <a:rPr sz="3600" spc="5" dirty="0">
                <a:solidFill>
                  <a:srgbClr val="2E377E"/>
                </a:solidFill>
                <a:latin typeface="Georgia"/>
                <a:cs typeface="Georgia"/>
              </a:rPr>
              <a:t> </a:t>
            </a:r>
            <a:r>
              <a:rPr sz="3600" dirty="0">
                <a:solidFill>
                  <a:srgbClr val="2E377E"/>
                </a:solidFill>
                <a:latin typeface="Georgia"/>
                <a:cs typeface="Georgia"/>
              </a:rPr>
              <a:t>for</a:t>
            </a:r>
            <a:r>
              <a:rPr sz="3600" spc="5" dirty="0">
                <a:solidFill>
                  <a:srgbClr val="2E377E"/>
                </a:solidFill>
                <a:latin typeface="Georgia"/>
                <a:cs typeface="Georgia"/>
              </a:rPr>
              <a:t> </a:t>
            </a:r>
            <a:r>
              <a:rPr sz="3600" spc="-155" dirty="0">
                <a:solidFill>
                  <a:srgbClr val="2E377E"/>
                </a:solidFill>
                <a:latin typeface="Georgia"/>
                <a:cs typeface="Georgia"/>
              </a:rPr>
              <a:t>EBS</a:t>
            </a:r>
            <a:r>
              <a:rPr sz="3600" spc="5" dirty="0">
                <a:solidFill>
                  <a:srgbClr val="2E377E"/>
                </a:solidFill>
                <a:latin typeface="Georgia"/>
                <a:cs typeface="Georgia"/>
              </a:rPr>
              <a:t> </a:t>
            </a:r>
            <a:r>
              <a:rPr sz="3600" dirty="0">
                <a:solidFill>
                  <a:srgbClr val="2E377E"/>
                </a:solidFill>
                <a:latin typeface="Georgia"/>
                <a:cs typeface="Georgia"/>
              </a:rPr>
              <a:t>because </a:t>
            </a:r>
            <a:r>
              <a:rPr sz="3600" spc="130" dirty="0">
                <a:solidFill>
                  <a:srgbClr val="2E377E"/>
                </a:solidFill>
                <a:latin typeface="Georgia"/>
                <a:cs typeface="Georgia"/>
              </a:rPr>
              <a:t>we</a:t>
            </a:r>
            <a:r>
              <a:rPr sz="3600" spc="5" dirty="0">
                <a:solidFill>
                  <a:srgbClr val="2E377E"/>
                </a:solidFill>
                <a:latin typeface="Georgia"/>
                <a:cs typeface="Georgia"/>
              </a:rPr>
              <a:t> </a:t>
            </a:r>
            <a:r>
              <a:rPr sz="3600" dirty="0">
                <a:solidFill>
                  <a:srgbClr val="2E377E"/>
                </a:solidFill>
                <a:latin typeface="Georgia"/>
                <a:cs typeface="Georgia"/>
              </a:rPr>
              <a:t>are</a:t>
            </a:r>
            <a:r>
              <a:rPr sz="3600" spc="5" dirty="0">
                <a:solidFill>
                  <a:srgbClr val="2E377E"/>
                </a:solidFill>
                <a:latin typeface="Georgia"/>
                <a:cs typeface="Georgia"/>
              </a:rPr>
              <a:t> </a:t>
            </a:r>
            <a:r>
              <a:rPr sz="3600" dirty="0">
                <a:solidFill>
                  <a:srgbClr val="2E377E"/>
                </a:solidFill>
                <a:latin typeface="Georgia"/>
                <a:cs typeface="Georgia"/>
              </a:rPr>
              <a:t>using</a:t>
            </a:r>
            <a:r>
              <a:rPr sz="3600" spc="5" dirty="0">
                <a:solidFill>
                  <a:srgbClr val="2E377E"/>
                </a:solidFill>
                <a:latin typeface="Georgia"/>
                <a:cs typeface="Georgia"/>
              </a:rPr>
              <a:t> </a:t>
            </a:r>
            <a:r>
              <a:rPr sz="3600" spc="-120" dirty="0">
                <a:solidFill>
                  <a:srgbClr val="2E377E"/>
                </a:solidFill>
                <a:latin typeface="Georgia"/>
                <a:cs typeface="Georgia"/>
              </a:rPr>
              <a:t>AWS</a:t>
            </a:r>
            <a:r>
              <a:rPr sz="3600" dirty="0">
                <a:solidFill>
                  <a:srgbClr val="2E377E"/>
                </a:solidFill>
                <a:latin typeface="Georgia"/>
                <a:cs typeface="Georgia"/>
              </a:rPr>
              <a:t> cloud</a:t>
            </a:r>
            <a:r>
              <a:rPr sz="3600" spc="5" dirty="0">
                <a:solidFill>
                  <a:srgbClr val="2E377E"/>
                </a:solidFill>
                <a:latin typeface="Georgia"/>
                <a:cs typeface="Georgia"/>
              </a:rPr>
              <a:t> </a:t>
            </a:r>
            <a:r>
              <a:rPr sz="3600" dirty="0">
                <a:solidFill>
                  <a:srgbClr val="2E377E"/>
                </a:solidFill>
                <a:latin typeface="Georgia"/>
                <a:cs typeface="Georgia"/>
              </a:rPr>
              <a:t>for</a:t>
            </a:r>
            <a:r>
              <a:rPr sz="3600" spc="5" dirty="0">
                <a:solidFill>
                  <a:srgbClr val="2E377E"/>
                </a:solidFill>
                <a:latin typeface="Georgia"/>
                <a:cs typeface="Georgia"/>
              </a:rPr>
              <a:t> </a:t>
            </a:r>
            <a:r>
              <a:rPr sz="3600" spc="-25" dirty="0">
                <a:solidFill>
                  <a:srgbClr val="2E377E"/>
                </a:solidFill>
                <a:latin typeface="Georgia"/>
                <a:cs typeface="Georgia"/>
              </a:rPr>
              <a:t>our </a:t>
            </a:r>
            <a:r>
              <a:rPr sz="3600" spc="-175" dirty="0">
                <a:solidFill>
                  <a:srgbClr val="2E377E"/>
                </a:solidFill>
                <a:latin typeface="Georgia"/>
                <a:cs typeface="Georgia"/>
              </a:rPr>
              <a:t>K8</a:t>
            </a:r>
            <a:r>
              <a:rPr sz="3600" spc="-65" dirty="0">
                <a:solidFill>
                  <a:srgbClr val="2E377E"/>
                </a:solidFill>
                <a:latin typeface="Georgia"/>
                <a:cs typeface="Georgia"/>
              </a:rPr>
              <a:t> </a:t>
            </a:r>
            <a:r>
              <a:rPr sz="3600" dirty="0">
                <a:solidFill>
                  <a:srgbClr val="2E377E"/>
                </a:solidFill>
                <a:latin typeface="Georgia"/>
                <a:cs typeface="Georgia"/>
              </a:rPr>
              <a:t>learning.</a:t>
            </a:r>
            <a:r>
              <a:rPr sz="3600" spc="-60" dirty="0">
                <a:solidFill>
                  <a:srgbClr val="2E377E"/>
                </a:solidFill>
                <a:latin typeface="Georgia"/>
                <a:cs typeface="Georgia"/>
              </a:rPr>
              <a:t> </a:t>
            </a:r>
            <a:r>
              <a:rPr sz="3600" spc="-50" dirty="0">
                <a:solidFill>
                  <a:srgbClr val="2E377E"/>
                </a:solidFill>
                <a:latin typeface="Georgia"/>
                <a:cs typeface="Georgia"/>
              </a:rPr>
              <a:t>So,</a:t>
            </a:r>
            <a:r>
              <a:rPr sz="3600" spc="-65" dirty="0">
                <a:solidFill>
                  <a:srgbClr val="2E377E"/>
                </a:solidFill>
                <a:latin typeface="Georgia"/>
                <a:cs typeface="Georgia"/>
              </a:rPr>
              <a:t> </a:t>
            </a:r>
            <a:r>
              <a:rPr sz="3600" dirty="0">
                <a:solidFill>
                  <a:srgbClr val="2E377E"/>
                </a:solidFill>
                <a:latin typeface="Georgia"/>
                <a:cs typeface="Georgia"/>
              </a:rPr>
              <a:t>let’s</a:t>
            </a:r>
            <a:r>
              <a:rPr sz="3600" spc="-60" dirty="0">
                <a:solidFill>
                  <a:srgbClr val="2E377E"/>
                </a:solidFill>
                <a:latin typeface="Georgia"/>
                <a:cs typeface="Georgia"/>
              </a:rPr>
              <a:t> </a:t>
            </a:r>
            <a:r>
              <a:rPr sz="3600" dirty="0">
                <a:solidFill>
                  <a:srgbClr val="2E377E"/>
                </a:solidFill>
                <a:latin typeface="Georgia"/>
                <a:cs typeface="Georgia"/>
              </a:rPr>
              <a:t>discuss</a:t>
            </a:r>
            <a:r>
              <a:rPr sz="3600" spc="-60" dirty="0">
                <a:solidFill>
                  <a:srgbClr val="2E377E"/>
                </a:solidFill>
                <a:latin typeface="Georgia"/>
                <a:cs typeface="Georgia"/>
              </a:rPr>
              <a:t> </a:t>
            </a:r>
            <a:r>
              <a:rPr sz="3600" spc="55" dirty="0">
                <a:solidFill>
                  <a:srgbClr val="2E377E"/>
                </a:solidFill>
                <a:latin typeface="Georgia"/>
                <a:cs typeface="Georgia"/>
              </a:rPr>
              <a:t>it</a:t>
            </a:r>
            <a:r>
              <a:rPr sz="3600" spc="-65" dirty="0">
                <a:solidFill>
                  <a:srgbClr val="2E377E"/>
                </a:solidFill>
                <a:latin typeface="Georgia"/>
                <a:cs typeface="Georgia"/>
              </a:rPr>
              <a:t> </a:t>
            </a:r>
            <a:r>
              <a:rPr sz="3600" dirty="0">
                <a:solidFill>
                  <a:srgbClr val="2E377E"/>
                </a:solidFill>
                <a:latin typeface="Georgia"/>
                <a:cs typeface="Georgia"/>
              </a:rPr>
              <a:t>as</a:t>
            </a:r>
            <a:r>
              <a:rPr sz="3600" spc="-60" dirty="0">
                <a:solidFill>
                  <a:srgbClr val="2E377E"/>
                </a:solidFill>
                <a:latin typeface="Georgia"/>
                <a:cs typeface="Georgia"/>
              </a:rPr>
              <a:t> </a:t>
            </a:r>
            <a:r>
              <a:rPr sz="3600" spc="-10" dirty="0">
                <a:solidFill>
                  <a:srgbClr val="2E377E"/>
                </a:solidFill>
                <a:latin typeface="Georgia"/>
                <a:cs typeface="Georgia"/>
              </a:rPr>
              <a:t>well:</a:t>
            </a:r>
            <a:endParaRPr sz="3600">
              <a:latin typeface="Georgia"/>
              <a:cs typeface="Georgia"/>
            </a:endParaRPr>
          </a:p>
          <a:p>
            <a:pPr>
              <a:lnSpc>
                <a:spcPct val="100000"/>
              </a:lnSpc>
              <a:spcBef>
                <a:spcPts val="935"/>
              </a:spcBef>
            </a:pPr>
            <a:endParaRPr sz="3600">
              <a:latin typeface="Georgia"/>
              <a:cs typeface="Georgia"/>
            </a:endParaRPr>
          </a:p>
          <a:p>
            <a:pPr marL="789305" marR="189230">
              <a:lnSpc>
                <a:spcPct val="116300"/>
              </a:lnSpc>
            </a:pPr>
            <a:r>
              <a:rPr sz="3600" spc="-155" dirty="0">
                <a:solidFill>
                  <a:srgbClr val="2E377E"/>
                </a:solidFill>
                <a:latin typeface="Georgia"/>
                <a:cs typeface="Georgia"/>
              </a:rPr>
              <a:t>EBS</a:t>
            </a:r>
            <a:r>
              <a:rPr sz="3600" spc="-45" dirty="0">
                <a:solidFill>
                  <a:srgbClr val="2E377E"/>
                </a:solidFill>
                <a:latin typeface="Georgia"/>
                <a:cs typeface="Georgia"/>
              </a:rPr>
              <a:t> </a:t>
            </a:r>
            <a:r>
              <a:rPr sz="3600" dirty="0">
                <a:solidFill>
                  <a:srgbClr val="2E377E"/>
                </a:solidFill>
                <a:latin typeface="Georgia"/>
                <a:cs typeface="Georgia"/>
              </a:rPr>
              <a:t>Volumes</a:t>
            </a:r>
            <a:r>
              <a:rPr sz="3600" spc="-45" dirty="0">
                <a:solidFill>
                  <a:srgbClr val="2E377E"/>
                </a:solidFill>
                <a:latin typeface="Georgia"/>
                <a:cs typeface="Georgia"/>
              </a:rPr>
              <a:t> </a:t>
            </a:r>
            <a:r>
              <a:rPr sz="3600" dirty="0">
                <a:solidFill>
                  <a:srgbClr val="2E377E"/>
                </a:solidFill>
                <a:latin typeface="Georgia"/>
                <a:cs typeface="Georgia"/>
              </a:rPr>
              <a:t>keeps</a:t>
            </a:r>
            <a:r>
              <a:rPr sz="3600" spc="-40" dirty="0">
                <a:solidFill>
                  <a:srgbClr val="2E377E"/>
                </a:solidFill>
                <a:latin typeface="Georgia"/>
                <a:cs typeface="Georgia"/>
              </a:rPr>
              <a:t> </a:t>
            </a:r>
            <a:r>
              <a:rPr sz="3600" spc="50" dirty="0">
                <a:solidFill>
                  <a:srgbClr val="2E377E"/>
                </a:solidFill>
                <a:latin typeface="Georgia"/>
                <a:cs typeface="Georgia"/>
              </a:rPr>
              <a:t>the</a:t>
            </a:r>
            <a:r>
              <a:rPr sz="3600" spc="-45" dirty="0">
                <a:solidFill>
                  <a:srgbClr val="2E377E"/>
                </a:solidFill>
                <a:latin typeface="Georgia"/>
                <a:cs typeface="Georgia"/>
              </a:rPr>
              <a:t> </a:t>
            </a:r>
            <a:r>
              <a:rPr sz="3600" dirty="0">
                <a:solidFill>
                  <a:srgbClr val="2E377E"/>
                </a:solidFill>
                <a:latin typeface="Georgia"/>
                <a:cs typeface="Georgia"/>
              </a:rPr>
              <a:t>data</a:t>
            </a:r>
            <a:r>
              <a:rPr sz="3600" spc="-45" dirty="0">
                <a:solidFill>
                  <a:srgbClr val="2E377E"/>
                </a:solidFill>
                <a:latin typeface="Georgia"/>
                <a:cs typeface="Georgia"/>
              </a:rPr>
              <a:t> </a:t>
            </a:r>
            <a:r>
              <a:rPr sz="3600" spc="55" dirty="0">
                <a:solidFill>
                  <a:srgbClr val="2E377E"/>
                </a:solidFill>
                <a:latin typeface="Georgia"/>
                <a:cs typeface="Georgia"/>
              </a:rPr>
              <a:t>forever</a:t>
            </a:r>
            <a:r>
              <a:rPr sz="3600" spc="-40" dirty="0">
                <a:solidFill>
                  <a:srgbClr val="2E377E"/>
                </a:solidFill>
                <a:latin typeface="Georgia"/>
                <a:cs typeface="Georgia"/>
              </a:rPr>
              <a:t> </a:t>
            </a:r>
            <a:r>
              <a:rPr sz="3600" spc="65" dirty="0">
                <a:solidFill>
                  <a:srgbClr val="2E377E"/>
                </a:solidFill>
                <a:latin typeface="Georgia"/>
                <a:cs typeface="Georgia"/>
              </a:rPr>
              <a:t>where</a:t>
            </a:r>
            <a:r>
              <a:rPr sz="3600" spc="-45" dirty="0">
                <a:solidFill>
                  <a:srgbClr val="2E377E"/>
                </a:solidFill>
                <a:latin typeface="Georgia"/>
                <a:cs typeface="Georgia"/>
              </a:rPr>
              <a:t> </a:t>
            </a:r>
            <a:r>
              <a:rPr sz="3600" spc="50" dirty="0">
                <a:solidFill>
                  <a:srgbClr val="2E377E"/>
                </a:solidFill>
                <a:latin typeface="Georgia"/>
                <a:cs typeface="Georgia"/>
              </a:rPr>
              <a:t>the</a:t>
            </a:r>
            <a:r>
              <a:rPr sz="3600" spc="-45" dirty="0">
                <a:solidFill>
                  <a:srgbClr val="2E377E"/>
                </a:solidFill>
                <a:latin typeface="Georgia"/>
                <a:cs typeface="Georgia"/>
              </a:rPr>
              <a:t> </a:t>
            </a:r>
            <a:r>
              <a:rPr sz="3600" spc="50" dirty="0">
                <a:solidFill>
                  <a:srgbClr val="2E377E"/>
                </a:solidFill>
                <a:latin typeface="Georgia"/>
                <a:cs typeface="Georgia"/>
              </a:rPr>
              <a:t>emptydir</a:t>
            </a:r>
            <a:r>
              <a:rPr sz="3600" spc="-40" dirty="0">
                <a:solidFill>
                  <a:srgbClr val="2E377E"/>
                </a:solidFill>
                <a:latin typeface="Georgia"/>
                <a:cs typeface="Georgia"/>
              </a:rPr>
              <a:t> </a:t>
            </a:r>
            <a:r>
              <a:rPr sz="3600" dirty="0">
                <a:solidFill>
                  <a:srgbClr val="2E377E"/>
                </a:solidFill>
                <a:latin typeface="Georgia"/>
                <a:cs typeface="Georgia"/>
              </a:rPr>
              <a:t>volume</a:t>
            </a:r>
            <a:r>
              <a:rPr sz="3600" spc="-45" dirty="0">
                <a:solidFill>
                  <a:srgbClr val="2E377E"/>
                </a:solidFill>
                <a:latin typeface="Georgia"/>
                <a:cs typeface="Georgia"/>
              </a:rPr>
              <a:t> </a:t>
            </a:r>
            <a:r>
              <a:rPr sz="3600" dirty="0">
                <a:solidFill>
                  <a:srgbClr val="2E377E"/>
                </a:solidFill>
                <a:latin typeface="Georgia"/>
                <a:cs typeface="Georgia"/>
              </a:rPr>
              <a:t>did</a:t>
            </a:r>
            <a:r>
              <a:rPr sz="3600" spc="-45" dirty="0">
                <a:solidFill>
                  <a:srgbClr val="2E377E"/>
                </a:solidFill>
                <a:latin typeface="Georgia"/>
                <a:cs typeface="Georgia"/>
              </a:rPr>
              <a:t> </a:t>
            </a:r>
            <a:r>
              <a:rPr sz="3600" dirty="0">
                <a:solidFill>
                  <a:srgbClr val="2E377E"/>
                </a:solidFill>
                <a:latin typeface="Georgia"/>
                <a:cs typeface="Georgia"/>
              </a:rPr>
              <a:t>not.</a:t>
            </a:r>
            <a:r>
              <a:rPr sz="3600" spc="-40" dirty="0">
                <a:solidFill>
                  <a:srgbClr val="2E377E"/>
                </a:solidFill>
                <a:latin typeface="Georgia"/>
                <a:cs typeface="Georgia"/>
              </a:rPr>
              <a:t> </a:t>
            </a:r>
            <a:r>
              <a:rPr sz="3600" dirty="0">
                <a:solidFill>
                  <a:srgbClr val="2E377E"/>
                </a:solidFill>
                <a:latin typeface="Georgia"/>
                <a:cs typeface="Georgia"/>
              </a:rPr>
              <a:t>If</a:t>
            </a:r>
            <a:r>
              <a:rPr sz="3600" spc="-45" dirty="0">
                <a:solidFill>
                  <a:srgbClr val="2E377E"/>
                </a:solidFill>
                <a:latin typeface="Georgia"/>
                <a:cs typeface="Georgia"/>
              </a:rPr>
              <a:t> </a:t>
            </a:r>
            <a:r>
              <a:rPr sz="3600" spc="25" dirty="0">
                <a:solidFill>
                  <a:srgbClr val="2E377E"/>
                </a:solidFill>
                <a:latin typeface="Georgia"/>
                <a:cs typeface="Georgia"/>
              </a:rPr>
              <a:t>the </a:t>
            </a:r>
            <a:r>
              <a:rPr sz="3600" dirty="0">
                <a:solidFill>
                  <a:srgbClr val="2E377E"/>
                </a:solidFill>
                <a:latin typeface="Georgia"/>
                <a:cs typeface="Georgia"/>
              </a:rPr>
              <a:t>pods</a:t>
            </a:r>
            <a:r>
              <a:rPr sz="3600" spc="-30" dirty="0">
                <a:solidFill>
                  <a:srgbClr val="2E377E"/>
                </a:solidFill>
                <a:latin typeface="Georgia"/>
                <a:cs typeface="Georgia"/>
              </a:rPr>
              <a:t> </a:t>
            </a:r>
            <a:r>
              <a:rPr sz="3600" spc="65" dirty="0">
                <a:solidFill>
                  <a:srgbClr val="2E377E"/>
                </a:solidFill>
                <a:latin typeface="Georgia"/>
                <a:cs typeface="Georgia"/>
              </a:rPr>
              <a:t>get</a:t>
            </a:r>
            <a:r>
              <a:rPr sz="3600" spc="-25" dirty="0">
                <a:solidFill>
                  <a:srgbClr val="2E377E"/>
                </a:solidFill>
                <a:latin typeface="Georgia"/>
                <a:cs typeface="Georgia"/>
              </a:rPr>
              <a:t> </a:t>
            </a:r>
            <a:r>
              <a:rPr sz="3600" dirty="0">
                <a:solidFill>
                  <a:srgbClr val="2E377E"/>
                </a:solidFill>
                <a:latin typeface="Georgia"/>
                <a:cs typeface="Georgia"/>
              </a:rPr>
              <a:t>deleted</a:t>
            </a:r>
            <a:r>
              <a:rPr sz="3600" spc="-30" dirty="0">
                <a:solidFill>
                  <a:srgbClr val="2E377E"/>
                </a:solidFill>
                <a:latin typeface="Georgia"/>
                <a:cs typeface="Georgia"/>
              </a:rPr>
              <a:t> </a:t>
            </a:r>
            <a:r>
              <a:rPr sz="3600" dirty="0">
                <a:solidFill>
                  <a:srgbClr val="2E377E"/>
                </a:solidFill>
                <a:latin typeface="Georgia"/>
                <a:cs typeface="Georgia"/>
              </a:rPr>
              <a:t>then,</a:t>
            </a:r>
            <a:r>
              <a:rPr sz="3600" spc="-25"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dirty="0">
                <a:solidFill>
                  <a:srgbClr val="2E377E"/>
                </a:solidFill>
                <a:latin typeface="Georgia"/>
                <a:cs typeface="Georgia"/>
              </a:rPr>
              <a:t>data</a:t>
            </a:r>
            <a:r>
              <a:rPr sz="3600" spc="-25" dirty="0">
                <a:solidFill>
                  <a:srgbClr val="2E377E"/>
                </a:solidFill>
                <a:latin typeface="Georgia"/>
                <a:cs typeface="Georgia"/>
              </a:rPr>
              <a:t> </a:t>
            </a:r>
            <a:r>
              <a:rPr sz="3600" dirty="0">
                <a:solidFill>
                  <a:srgbClr val="2E377E"/>
                </a:solidFill>
                <a:latin typeface="Georgia"/>
                <a:cs typeface="Georgia"/>
              </a:rPr>
              <a:t>will</a:t>
            </a:r>
            <a:r>
              <a:rPr sz="3600" spc="-25" dirty="0">
                <a:solidFill>
                  <a:srgbClr val="2E377E"/>
                </a:solidFill>
                <a:latin typeface="Georgia"/>
                <a:cs typeface="Georgia"/>
              </a:rPr>
              <a:t> </a:t>
            </a:r>
            <a:r>
              <a:rPr sz="3600" dirty="0">
                <a:solidFill>
                  <a:srgbClr val="2E377E"/>
                </a:solidFill>
                <a:latin typeface="Georgia"/>
                <a:cs typeface="Georgia"/>
              </a:rPr>
              <a:t>still</a:t>
            </a:r>
            <a:r>
              <a:rPr sz="3600" spc="-30" dirty="0">
                <a:solidFill>
                  <a:srgbClr val="2E377E"/>
                </a:solidFill>
                <a:latin typeface="Georgia"/>
                <a:cs typeface="Georgia"/>
              </a:rPr>
              <a:t> </a:t>
            </a:r>
            <a:r>
              <a:rPr sz="3600" spc="60" dirty="0">
                <a:solidFill>
                  <a:srgbClr val="2E377E"/>
                </a:solidFill>
                <a:latin typeface="Georgia"/>
                <a:cs typeface="Georgia"/>
              </a:rPr>
              <a:t>exist</a:t>
            </a:r>
            <a:r>
              <a:rPr sz="3600" spc="-25" dirty="0">
                <a:solidFill>
                  <a:srgbClr val="2E377E"/>
                </a:solidFill>
                <a:latin typeface="Georgia"/>
                <a:cs typeface="Georgia"/>
              </a:rPr>
              <a:t> </a:t>
            </a:r>
            <a:r>
              <a:rPr sz="3600" dirty="0">
                <a:solidFill>
                  <a:srgbClr val="2E377E"/>
                </a:solidFill>
                <a:latin typeface="Georgia"/>
                <a:cs typeface="Georgia"/>
              </a:rPr>
              <a:t>in</a:t>
            </a:r>
            <a:r>
              <a:rPr sz="3600" spc="-30"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spc="-155" dirty="0">
                <a:solidFill>
                  <a:srgbClr val="2E377E"/>
                </a:solidFill>
                <a:latin typeface="Georgia"/>
                <a:cs typeface="Georgia"/>
              </a:rPr>
              <a:t>EBS</a:t>
            </a:r>
            <a:r>
              <a:rPr sz="3600" spc="-25" dirty="0">
                <a:solidFill>
                  <a:srgbClr val="2E377E"/>
                </a:solidFill>
                <a:latin typeface="Georgia"/>
                <a:cs typeface="Georgia"/>
              </a:rPr>
              <a:t> </a:t>
            </a:r>
            <a:r>
              <a:rPr sz="3600" spc="-10" dirty="0">
                <a:solidFill>
                  <a:srgbClr val="2E377E"/>
                </a:solidFill>
                <a:latin typeface="Georgia"/>
                <a:cs typeface="Georgia"/>
              </a:rPr>
              <a:t>volume.</a:t>
            </a:r>
            <a:endParaRPr sz="3600">
              <a:latin typeface="Georgia"/>
              <a:cs typeface="Georgia"/>
            </a:endParaRPr>
          </a:p>
          <a:p>
            <a:pPr marL="789305" marR="156210">
              <a:lnSpc>
                <a:spcPct val="116300"/>
              </a:lnSpc>
            </a:pPr>
            <a:r>
              <a:rPr sz="360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nodes</a:t>
            </a:r>
            <a:r>
              <a:rPr sz="3600" spc="-35" dirty="0">
                <a:solidFill>
                  <a:srgbClr val="2E377E"/>
                </a:solidFill>
                <a:latin typeface="Georgia"/>
                <a:cs typeface="Georgia"/>
              </a:rPr>
              <a:t> </a:t>
            </a:r>
            <a:r>
              <a:rPr sz="3600" dirty="0">
                <a:solidFill>
                  <a:srgbClr val="2E377E"/>
                </a:solidFill>
                <a:latin typeface="Georgia"/>
                <a:cs typeface="Georgia"/>
              </a:rPr>
              <a:t>on</a:t>
            </a:r>
            <a:r>
              <a:rPr sz="3600" spc="-35" dirty="0">
                <a:solidFill>
                  <a:srgbClr val="2E377E"/>
                </a:solidFill>
                <a:latin typeface="Georgia"/>
                <a:cs typeface="Georgia"/>
              </a:rPr>
              <a:t> </a:t>
            </a:r>
            <a:r>
              <a:rPr sz="3600" dirty="0">
                <a:solidFill>
                  <a:srgbClr val="2E377E"/>
                </a:solidFill>
                <a:latin typeface="Georgia"/>
                <a:cs typeface="Georgia"/>
              </a:rPr>
              <a:t>which</a:t>
            </a:r>
            <a:r>
              <a:rPr sz="3600" spc="-40" dirty="0">
                <a:solidFill>
                  <a:srgbClr val="2E377E"/>
                </a:solidFill>
                <a:latin typeface="Georgia"/>
                <a:cs typeface="Georgia"/>
              </a:rPr>
              <a:t> </a:t>
            </a:r>
            <a:r>
              <a:rPr sz="3600" dirty="0">
                <a:solidFill>
                  <a:srgbClr val="2E377E"/>
                </a:solidFill>
                <a:latin typeface="Georgia"/>
                <a:cs typeface="Georgia"/>
              </a:rPr>
              <a:t>running</a:t>
            </a:r>
            <a:r>
              <a:rPr sz="3600" spc="-35" dirty="0">
                <a:solidFill>
                  <a:srgbClr val="2E377E"/>
                </a:solidFill>
                <a:latin typeface="Georgia"/>
                <a:cs typeface="Georgia"/>
              </a:rPr>
              <a:t> </a:t>
            </a:r>
            <a:r>
              <a:rPr sz="3600" dirty="0">
                <a:solidFill>
                  <a:srgbClr val="2E377E"/>
                </a:solidFill>
                <a:latin typeface="Georgia"/>
                <a:cs typeface="Georgia"/>
              </a:rPr>
              <a:t>pods</a:t>
            </a:r>
            <a:r>
              <a:rPr sz="3600" spc="-35" dirty="0">
                <a:solidFill>
                  <a:srgbClr val="2E377E"/>
                </a:solidFill>
                <a:latin typeface="Georgia"/>
                <a:cs typeface="Georgia"/>
              </a:rPr>
              <a:t> </a:t>
            </a:r>
            <a:r>
              <a:rPr sz="3600" spc="50" dirty="0">
                <a:solidFill>
                  <a:srgbClr val="2E377E"/>
                </a:solidFill>
                <a:latin typeface="Georgia"/>
                <a:cs typeface="Georgia"/>
              </a:rPr>
              <a:t>must</a:t>
            </a:r>
            <a:r>
              <a:rPr sz="3600" spc="-40" dirty="0">
                <a:solidFill>
                  <a:srgbClr val="2E377E"/>
                </a:solidFill>
                <a:latin typeface="Georgia"/>
                <a:cs typeface="Georgia"/>
              </a:rPr>
              <a:t> </a:t>
            </a:r>
            <a:r>
              <a:rPr sz="3600" dirty="0">
                <a:solidFill>
                  <a:srgbClr val="2E377E"/>
                </a:solidFill>
                <a:latin typeface="Georgia"/>
                <a:cs typeface="Georgia"/>
              </a:rPr>
              <a:t>be</a:t>
            </a:r>
            <a:r>
              <a:rPr sz="3600" spc="-35" dirty="0">
                <a:solidFill>
                  <a:srgbClr val="2E377E"/>
                </a:solidFill>
                <a:latin typeface="Georgia"/>
                <a:cs typeface="Georgia"/>
              </a:rPr>
              <a:t> </a:t>
            </a:r>
            <a:r>
              <a:rPr sz="3600" dirty="0">
                <a:solidFill>
                  <a:srgbClr val="2E377E"/>
                </a:solidFill>
                <a:latin typeface="Georgia"/>
                <a:cs typeface="Georgia"/>
              </a:rPr>
              <a:t>on</a:t>
            </a:r>
            <a:r>
              <a:rPr sz="3600" spc="-35" dirty="0">
                <a:solidFill>
                  <a:srgbClr val="2E377E"/>
                </a:solidFill>
                <a:latin typeface="Georgia"/>
                <a:cs typeface="Georgia"/>
              </a:rPr>
              <a:t> </a:t>
            </a:r>
            <a:r>
              <a:rPr sz="3600" spc="-120" dirty="0">
                <a:solidFill>
                  <a:srgbClr val="2E377E"/>
                </a:solidFill>
                <a:latin typeface="Georgia"/>
                <a:cs typeface="Georgia"/>
              </a:rPr>
              <a:t>AWS</a:t>
            </a:r>
            <a:r>
              <a:rPr sz="3600" spc="-40" dirty="0">
                <a:solidFill>
                  <a:srgbClr val="2E377E"/>
                </a:solidFill>
                <a:latin typeface="Georgia"/>
                <a:cs typeface="Georgia"/>
              </a:rPr>
              <a:t> </a:t>
            </a:r>
            <a:r>
              <a:rPr sz="3600" dirty="0">
                <a:solidFill>
                  <a:srgbClr val="2E377E"/>
                </a:solidFill>
                <a:latin typeface="Georgia"/>
                <a:cs typeface="Georgia"/>
              </a:rPr>
              <a:t>Cloud</a:t>
            </a:r>
            <a:r>
              <a:rPr sz="3600" spc="-35" dirty="0">
                <a:solidFill>
                  <a:srgbClr val="2E377E"/>
                </a:solidFill>
                <a:latin typeface="Georgia"/>
                <a:cs typeface="Georgia"/>
              </a:rPr>
              <a:t> </a:t>
            </a:r>
            <a:r>
              <a:rPr sz="3600" spc="-90" dirty="0">
                <a:solidFill>
                  <a:srgbClr val="2E377E"/>
                </a:solidFill>
                <a:latin typeface="Georgia"/>
                <a:cs typeface="Georgia"/>
              </a:rPr>
              <a:t>only(EC2</a:t>
            </a:r>
            <a:r>
              <a:rPr sz="3600" spc="-35" dirty="0">
                <a:solidFill>
                  <a:srgbClr val="2E377E"/>
                </a:solidFill>
                <a:latin typeface="Georgia"/>
                <a:cs typeface="Georgia"/>
              </a:rPr>
              <a:t> </a:t>
            </a:r>
            <a:r>
              <a:rPr sz="3600" spc="-10" dirty="0">
                <a:solidFill>
                  <a:srgbClr val="2E377E"/>
                </a:solidFill>
                <a:latin typeface="Georgia"/>
                <a:cs typeface="Georgia"/>
              </a:rPr>
              <a:t>Instances). </a:t>
            </a:r>
            <a:r>
              <a:rPr sz="3600" spc="-105" dirty="0">
                <a:solidFill>
                  <a:srgbClr val="2E377E"/>
                </a:solidFill>
                <a:latin typeface="Georgia"/>
                <a:cs typeface="Georgia"/>
              </a:rPr>
              <a:t>Both(EBS</a:t>
            </a:r>
            <a:r>
              <a:rPr sz="3600" spc="-70" dirty="0">
                <a:solidFill>
                  <a:srgbClr val="2E377E"/>
                </a:solidFill>
                <a:latin typeface="Georgia"/>
                <a:cs typeface="Georgia"/>
              </a:rPr>
              <a:t> </a:t>
            </a:r>
            <a:r>
              <a:rPr sz="3600" dirty="0">
                <a:solidFill>
                  <a:srgbClr val="2E377E"/>
                </a:solidFill>
                <a:latin typeface="Georgia"/>
                <a:cs typeface="Georgia"/>
              </a:rPr>
              <a:t>Volume</a:t>
            </a:r>
            <a:r>
              <a:rPr sz="3600" spc="-65" dirty="0">
                <a:solidFill>
                  <a:srgbClr val="2E377E"/>
                </a:solidFill>
                <a:latin typeface="Georgia"/>
                <a:cs typeface="Georgia"/>
              </a:rPr>
              <a:t> </a:t>
            </a:r>
            <a:r>
              <a:rPr sz="3600" spc="690" dirty="0">
                <a:solidFill>
                  <a:srgbClr val="2E377E"/>
                </a:solidFill>
                <a:latin typeface="Georgia"/>
                <a:cs typeface="Georgia"/>
              </a:rPr>
              <a:t>&amp;</a:t>
            </a:r>
            <a:r>
              <a:rPr sz="3600" spc="-65" dirty="0">
                <a:solidFill>
                  <a:srgbClr val="2E377E"/>
                </a:solidFill>
                <a:latin typeface="Georgia"/>
                <a:cs typeface="Georgia"/>
              </a:rPr>
              <a:t> </a:t>
            </a:r>
            <a:r>
              <a:rPr sz="3600" spc="-190" dirty="0">
                <a:solidFill>
                  <a:srgbClr val="2E377E"/>
                </a:solidFill>
                <a:latin typeface="Georgia"/>
                <a:cs typeface="Georgia"/>
              </a:rPr>
              <a:t>EC2</a:t>
            </a:r>
            <a:r>
              <a:rPr sz="3600" spc="-70" dirty="0">
                <a:solidFill>
                  <a:srgbClr val="2E377E"/>
                </a:solidFill>
                <a:latin typeface="Georgia"/>
                <a:cs typeface="Georgia"/>
              </a:rPr>
              <a:t> </a:t>
            </a:r>
            <a:r>
              <a:rPr sz="3600" spc="-10" dirty="0">
                <a:solidFill>
                  <a:srgbClr val="2E377E"/>
                </a:solidFill>
                <a:latin typeface="Georgia"/>
                <a:cs typeface="Georgia"/>
              </a:rPr>
              <a:t>Instances)</a:t>
            </a:r>
            <a:r>
              <a:rPr sz="3600" spc="-65" dirty="0">
                <a:solidFill>
                  <a:srgbClr val="2E377E"/>
                </a:solidFill>
                <a:latin typeface="Georgia"/>
                <a:cs typeface="Georgia"/>
              </a:rPr>
              <a:t> </a:t>
            </a:r>
            <a:r>
              <a:rPr sz="3600" spc="50" dirty="0">
                <a:solidFill>
                  <a:srgbClr val="2E377E"/>
                </a:solidFill>
                <a:latin typeface="Georgia"/>
                <a:cs typeface="Georgia"/>
              </a:rPr>
              <a:t>must</a:t>
            </a:r>
            <a:r>
              <a:rPr sz="3600" spc="-65" dirty="0">
                <a:solidFill>
                  <a:srgbClr val="2E377E"/>
                </a:solidFill>
                <a:latin typeface="Georgia"/>
                <a:cs typeface="Georgia"/>
              </a:rPr>
              <a:t> </a:t>
            </a:r>
            <a:r>
              <a:rPr sz="3600" dirty="0">
                <a:solidFill>
                  <a:srgbClr val="2E377E"/>
                </a:solidFill>
                <a:latin typeface="Georgia"/>
                <a:cs typeface="Georgia"/>
              </a:rPr>
              <a:t>be</a:t>
            </a:r>
            <a:r>
              <a:rPr sz="3600" spc="-70" dirty="0">
                <a:solidFill>
                  <a:srgbClr val="2E377E"/>
                </a:solidFill>
                <a:latin typeface="Georgia"/>
                <a:cs typeface="Georgia"/>
              </a:rPr>
              <a:t> </a:t>
            </a:r>
            <a:r>
              <a:rPr sz="3600" dirty="0">
                <a:solidFill>
                  <a:srgbClr val="2E377E"/>
                </a:solidFill>
                <a:latin typeface="Georgia"/>
                <a:cs typeface="Georgia"/>
              </a:rPr>
              <a:t>in</a:t>
            </a:r>
            <a:r>
              <a:rPr sz="3600" spc="-65" dirty="0">
                <a:solidFill>
                  <a:srgbClr val="2E377E"/>
                </a:solidFill>
                <a:latin typeface="Georgia"/>
                <a:cs typeface="Georgia"/>
              </a:rPr>
              <a:t> </a:t>
            </a:r>
            <a:r>
              <a:rPr sz="3600" spc="50" dirty="0">
                <a:solidFill>
                  <a:srgbClr val="2E377E"/>
                </a:solidFill>
                <a:latin typeface="Georgia"/>
                <a:cs typeface="Georgia"/>
              </a:rPr>
              <a:t>the</a:t>
            </a:r>
            <a:r>
              <a:rPr sz="3600" spc="-65" dirty="0">
                <a:solidFill>
                  <a:srgbClr val="2E377E"/>
                </a:solidFill>
                <a:latin typeface="Georgia"/>
                <a:cs typeface="Georgia"/>
              </a:rPr>
              <a:t> </a:t>
            </a:r>
            <a:r>
              <a:rPr sz="3600" dirty="0">
                <a:solidFill>
                  <a:srgbClr val="2E377E"/>
                </a:solidFill>
                <a:latin typeface="Georgia"/>
                <a:cs typeface="Georgia"/>
              </a:rPr>
              <a:t>same</a:t>
            </a:r>
            <a:r>
              <a:rPr sz="3600" spc="-70" dirty="0">
                <a:solidFill>
                  <a:srgbClr val="2E377E"/>
                </a:solidFill>
                <a:latin typeface="Georgia"/>
                <a:cs typeface="Georgia"/>
              </a:rPr>
              <a:t> </a:t>
            </a:r>
            <a:r>
              <a:rPr sz="3600" dirty="0">
                <a:solidFill>
                  <a:srgbClr val="2E377E"/>
                </a:solidFill>
                <a:latin typeface="Georgia"/>
                <a:cs typeface="Georgia"/>
              </a:rPr>
              <a:t>region</a:t>
            </a:r>
            <a:r>
              <a:rPr sz="3600" spc="-65" dirty="0">
                <a:solidFill>
                  <a:srgbClr val="2E377E"/>
                </a:solidFill>
                <a:latin typeface="Georgia"/>
                <a:cs typeface="Georgia"/>
              </a:rPr>
              <a:t> </a:t>
            </a:r>
            <a:r>
              <a:rPr sz="3600" dirty="0">
                <a:solidFill>
                  <a:srgbClr val="2E377E"/>
                </a:solidFill>
                <a:latin typeface="Georgia"/>
                <a:cs typeface="Georgia"/>
              </a:rPr>
              <a:t>and</a:t>
            </a:r>
            <a:r>
              <a:rPr sz="3600" spc="-65" dirty="0">
                <a:solidFill>
                  <a:srgbClr val="2E377E"/>
                </a:solidFill>
                <a:latin typeface="Georgia"/>
                <a:cs typeface="Georgia"/>
              </a:rPr>
              <a:t> </a:t>
            </a:r>
            <a:r>
              <a:rPr sz="3600" spc="-10" dirty="0">
                <a:solidFill>
                  <a:srgbClr val="2E377E"/>
                </a:solidFill>
                <a:latin typeface="Georgia"/>
                <a:cs typeface="Georgia"/>
              </a:rPr>
              <a:t>availability zone.</a:t>
            </a:r>
            <a:endParaRPr sz="3600">
              <a:latin typeface="Georgia"/>
              <a:cs typeface="Georgia"/>
            </a:endParaRPr>
          </a:p>
          <a:p>
            <a:pPr marL="789305">
              <a:lnSpc>
                <a:spcPct val="100000"/>
              </a:lnSpc>
              <a:spcBef>
                <a:spcPts val="705"/>
              </a:spcBef>
            </a:pPr>
            <a:r>
              <a:rPr sz="3600" spc="-155" dirty="0">
                <a:solidFill>
                  <a:srgbClr val="2E377E"/>
                </a:solidFill>
                <a:latin typeface="Georgia"/>
                <a:cs typeface="Georgia"/>
              </a:rPr>
              <a:t>EBS</a:t>
            </a:r>
            <a:r>
              <a:rPr sz="3600" spc="15" dirty="0">
                <a:solidFill>
                  <a:srgbClr val="2E377E"/>
                </a:solidFill>
                <a:latin typeface="Georgia"/>
                <a:cs typeface="Georgia"/>
              </a:rPr>
              <a:t> </a:t>
            </a:r>
            <a:r>
              <a:rPr sz="3600" dirty="0">
                <a:solidFill>
                  <a:srgbClr val="2E377E"/>
                </a:solidFill>
                <a:latin typeface="Georgia"/>
                <a:cs typeface="Georgia"/>
              </a:rPr>
              <a:t>only</a:t>
            </a:r>
            <a:r>
              <a:rPr sz="3600" spc="15" dirty="0">
                <a:solidFill>
                  <a:srgbClr val="2E377E"/>
                </a:solidFill>
                <a:latin typeface="Georgia"/>
                <a:cs typeface="Georgia"/>
              </a:rPr>
              <a:t> </a:t>
            </a:r>
            <a:r>
              <a:rPr sz="3600" dirty="0">
                <a:solidFill>
                  <a:srgbClr val="2E377E"/>
                </a:solidFill>
                <a:latin typeface="Georgia"/>
                <a:cs typeface="Georgia"/>
              </a:rPr>
              <a:t>supports</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single</a:t>
            </a:r>
            <a:r>
              <a:rPr sz="3600" spc="15" dirty="0">
                <a:solidFill>
                  <a:srgbClr val="2E377E"/>
                </a:solidFill>
                <a:latin typeface="Georgia"/>
                <a:cs typeface="Georgia"/>
              </a:rPr>
              <a:t> </a:t>
            </a:r>
            <a:r>
              <a:rPr sz="3600" spc="-190" dirty="0">
                <a:solidFill>
                  <a:srgbClr val="2E377E"/>
                </a:solidFill>
                <a:latin typeface="Georgia"/>
                <a:cs typeface="Georgia"/>
              </a:rPr>
              <a:t>EC2</a:t>
            </a:r>
            <a:r>
              <a:rPr sz="3600" spc="15" dirty="0">
                <a:solidFill>
                  <a:srgbClr val="2E377E"/>
                </a:solidFill>
                <a:latin typeface="Georgia"/>
                <a:cs typeface="Georgia"/>
              </a:rPr>
              <a:t> </a:t>
            </a:r>
            <a:r>
              <a:rPr sz="3600" dirty="0">
                <a:solidFill>
                  <a:srgbClr val="2E377E"/>
                </a:solidFill>
                <a:latin typeface="Georgia"/>
                <a:cs typeface="Georgia"/>
              </a:rPr>
              <a:t>instance</a:t>
            </a:r>
            <a:r>
              <a:rPr sz="3600" spc="20" dirty="0">
                <a:solidFill>
                  <a:srgbClr val="2E377E"/>
                </a:solidFill>
                <a:latin typeface="Georgia"/>
                <a:cs typeface="Georgia"/>
              </a:rPr>
              <a:t> </a:t>
            </a:r>
            <a:r>
              <a:rPr sz="3600" dirty="0">
                <a:solidFill>
                  <a:srgbClr val="2E377E"/>
                </a:solidFill>
                <a:latin typeface="Georgia"/>
                <a:cs typeface="Georgia"/>
              </a:rPr>
              <a:t>mounting</a:t>
            </a:r>
            <a:r>
              <a:rPr sz="3600" spc="15" dirty="0">
                <a:solidFill>
                  <a:srgbClr val="2E377E"/>
                </a:solidFill>
                <a:latin typeface="Georgia"/>
                <a:cs typeface="Georgia"/>
              </a:rPr>
              <a:t> </a:t>
            </a:r>
            <a:r>
              <a:rPr sz="3600" dirty="0">
                <a:solidFill>
                  <a:srgbClr val="2E377E"/>
                </a:solidFill>
                <a:latin typeface="Georgia"/>
                <a:cs typeface="Georgia"/>
              </a:rPr>
              <a:t>a</a:t>
            </a:r>
            <a:r>
              <a:rPr sz="3600" spc="15" dirty="0">
                <a:solidFill>
                  <a:srgbClr val="2E377E"/>
                </a:solidFill>
                <a:latin typeface="Georgia"/>
                <a:cs typeface="Georgia"/>
              </a:rPr>
              <a:t> </a:t>
            </a:r>
            <a:r>
              <a:rPr sz="3600" spc="-10" dirty="0">
                <a:solidFill>
                  <a:srgbClr val="2E377E"/>
                </a:solidFill>
                <a:latin typeface="Georgia"/>
                <a:cs typeface="Georgia"/>
              </a:rPr>
              <a:t>volume</a:t>
            </a:r>
            <a:endParaRPr sz="3600">
              <a:latin typeface="Georgia"/>
              <a:cs typeface="Georgia"/>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28700" y="4153932"/>
            <a:ext cx="5048249" cy="5810249"/>
          </a:xfrm>
          <a:prstGeom prst="rect">
            <a:avLst/>
          </a:prstGeom>
        </p:spPr>
      </p:pic>
      <p:sp>
        <p:nvSpPr>
          <p:cNvPr id="3" name="object 3"/>
          <p:cNvSpPr txBox="1"/>
          <p:nvPr/>
        </p:nvSpPr>
        <p:spPr>
          <a:xfrm>
            <a:off x="716777" y="979805"/>
            <a:ext cx="17492345" cy="248856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2E377E"/>
                </a:solidFill>
                <a:latin typeface="Georgia"/>
                <a:cs typeface="Georgia"/>
              </a:rPr>
              <a:t>Create</a:t>
            </a:r>
            <a:r>
              <a:rPr sz="3600" spc="20" dirty="0">
                <a:solidFill>
                  <a:srgbClr val="2E377E"/>
                </a:solidFill>
                <a:latin typeface="Georgia"/>
                <a:cs typeface="Georgia"/>
              </a:rPr>
              <a:t> </a:t>
            </a:r>
            <a:r>
              <a:rPr sz="3600" dirty="0">
                <a:solidFill>
                  <a:srgbClr val="2E377E"/>
                </a:solidFill>
                <a:latin typeface="Georgia"/>
                <a:cs typeface="Georgia"/>
              </a:rPr>
              <a:t>an</a:t>
            </a:r>
            <a:r>
              <a:rPr sz="3600" spc="20" dirty="0">
                <a:solidFill>
                  <a:srgbClr val="2E377E"/>
                </a:solidFill>
                <a:latin typeface="Georgia"/>
                <a:cs typeface="Georgia"/>
              </a:rPr>
              <a:t> </a:t>
            </a:r>
            <a:r>
              <a:rPr sz="3600" spc="-155" dirty="0">
                <a:solidFill>
                  <a:srgbClr val="2E377E"/>
                </a:solidFill>
                <a:latin typeface="Georgia"/>
                <a:cs typeface="Georgia"/>
              </a:rPr>
              <a:t>EBS</a:t>
            </a:r>
            <a:r>
              <a:rPr sz="3600" spc="20" dirty="0">
                <a:solidFill>
                  <a:srgbClr val="2E377E"/>
                </a:solidFill>
                <a:latin typeface="Georgia"/>
                <a:cs typeface="Georgia"/>
              </a:rPr>
              <a:t> </a:t>
            </a:r>
            <a:r>
              <a:rPr sz="3600" dirty="0">
                <a:solidFill>
                  <a:srgbClr val="2E377E"/>
                </a:solidFill>
                <a:latin typeface="Georgia"/>
                <a:cs typeface="Georgia"/>
              </a:rPr>
              <a:t>volume</a:t>
            </a:r>
            <a:r>
              <a:rPr sz="3600" spc="20" dirty="0">
                <a:solidFill>
                  <a:srgbClr val="2E377E"/>
                </a:solidFill>
                <a:latin typeface="Georgia"/>
                <a:cs typeface="Georgia"/>
              </a:rPr>
              <a:t> </a:t>
            </a:r>
            <a:r>
              <a:rPr sz="3600" spc="90" dirty="0">
                <a:solidFill>
                  <a:srgbClr val="2E377E"/>
                </a:solidFill>
                <a:latin typeface="Georgia"/>
                <a:cs typeface="Georgia"/>
              </a:rPr>
              <a:t>by</a:t>
            </a:r>
            <a:r>
              <a:rPr sz="3600" spc="25" dirty="0">
                <a:solidFill>
                  <a:srgbClr val="2E377E"/>
                </a:solidFill>
                <a:latin typeface="Georgia"/>
                <a:cs typeface="Georgia"/>
              </a:rPr>
              <a:t> </a:t>
            </a:r>
            <a:r>
              <a:rPr sz="3600" dirty="0">
                <a:solidFill>
                  <a:srgbClr val="2E377E"/>
                </a:solidFill>
                <a:latin typeface="Georgia"/>
                <a:cs typeface="Georgia"/>
              </a:rPr>
              <a:t>clicking</a:t>
            </a:r>
            <a:r>
              <a:rPr sz="3600" spc="20" dirty="0">
                <a:solidFill>
                  <a:srgbClr val="2E377E"/>
                </a:solidFill>
                <a:latin typeface="Georgia"/>
                <a:cs typeface="Georgia"/>
              </a:rPr>
              <a:t> </a:t>
            </a:r>
            <a:r>
              <a:rPr sz="3600" dirty="0">
                <a:solidFill>
                  <a:srgbClr val="2E377E"/>
                </a:solidFill>
                <a:latin typeface="Georgia"/>
                <a:cs typeface="Georgia"/>
              </a:rPr>
              <a:t>on</a:t>
            </a:r>
            <a:r>
              <a:rPr sz="3600" spc="20" dirty="0">
                <a:solidFill>
                  <a:srgbClr val="2E377E"/>
                </a:solidFill>
                <a:latin typeface="Georgia"/>
                <a:cs typeface="Georgia"/>
              </a:rPr>
              <a:t> </a:t>
            </a:r>
            <a:r>
              <a:rPr sz="3600" dirty="0">
                <a:solidFill>
                  <a:srgbClr val="2E377E"/>
                </a:solidFill>
                <a:latin typeface="Georgia"/>
                <a:cs typeface="Georgia"/>
              </a:rPr>
              <a:t>‘Create</a:t>
            </a:r>
            <a:r>
              <a:rPr sz="3600" spc="20" dirty="0">
                <a:solidFill>
                  <a:srgbClr val="2E377E"/>
                </a:solidFill>
                <a:latin typeface="Georgia"/>
                <a:cs typeface="Georgia"/>
              </a:rPr>
              <a:t> </a:t>
            </a:r>
            <a:r>
              <a:rPr sz="3600" spc="-10" dirty="0">
                <a:solidFill>
                  <a:srgbClr val="2E377E"/>
                </a:solidFill>
                <a:latin typeface="Georgia"/>
                <a:cs typeface="Georgia"/>
              </a:rPr>
              <a:t>volume’.</a:t>
            </a:r>
            <a:endParaRPr sz="3600">
              <a:latin typeface="Georgia"/>
              <a:cs typeface="Georgia"/>
            </a:endParaRPr>
          </a:p>
          <a:p>
            <a:pPr>
              <a:lnSpc>
                <a:spcPct val="100000"/>
              </a:lnSpc>
              <a:spcBef>
                <a:spcPts val="935"/>
              </a:spcBef>
            </a:pPr>
            <a:endParaRPr sz="3600">
              <a:latin typeface="Georgia"/>
              <a:cs typeface="Georgia"/>
            </a:endParaRPr>
          </a:p>
          <a:p>
            <a:pPr marL="12700" marR="5080">
              <a:lnSpc>
                <a:spcPct val="116300"/>
              </a:lnSpc>
            </a:pPr>
            <a:r>
              <a:rPr sz="3600" dirty="0">
                <a:solidFill>
                  <a:srgbClr val="2E377E"/>
                </a:solidFill>
                <a:latin typeface="Georgia"/>
                <a:cs typeface="Georgia"/>
              </a:rPr>
              <a:t>Pass</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Size</a:t>
            </a:r>
            <a:r>
              <a:rPr sz="3600" spc="-20" dirty="0">
                <a:solidFill>
                  <a:srgbClr val="2E377E"/>
                </a:solidFill>
                <a:latin typeface="Georgia"/>
                <a:cs typeface="Georgia"/>
              </a:rPr>
              <a:t> </a:t>
            </a:r>
            <a:r>
              <a:rPr sz="3600" dirty="0">
                <a:solidFill>
                  <a:srgbClr val="2E377E"/>
                </a:solidFill>
                <a:latin typeface="Georgia"/>
                <a:cs typeface="Georgia"/>
              </a:rPr>
              <a:t>for</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spc="-155" dirty="0">
                <a:solidFill>
                  <a:srgbClr val="2E377E"/>
                </a:solidFill>
                <a:latin typeface="Georgia"/>
                <a:cs typeface="Georgia"/>
              </a:rPr>
              <a:t>EBS</a:t>
            </a:r>
            <a:r>
              <a:rPr sz="3600" spc="-20" dirty="0">
                <a:solidFill>
                  <a:srgbClr val="2E377E"/>
                </a:solidFill>
                <a:latin typeface="Georgia"/>
                <a:cs typeface="Georgia"/>
              </a:rPr>
              <a:t> </a:t>
            </a:r>
            <a:r>
              <a:rPr sz="3600" dirty="0">
                <a:solidFill>
                  <a:srgbClr val="2E377E"/>
                </a:solidFill>
                <a:latin typeface="Georgia"/>
                <a:cs typeface="Georgia"/>
              </a:rPr>
              <a:t>according</a:t>
            </a:r>
            <a:r>
              <a:rPr sz="3600" spc="-20" dirty="0">
                <a:solidFill>
                  <a:srgbClr val="2E377E"/>
                </a:solidFill>
                <a:latin typeface="Georgia"/>
                <a:cs typeface="Georgia"/>
              </a:rPr>
              <a:t> </a:t>
            </a:r>
            <a:r>
              <a:rPr sz="3600" spc="60" dirty="0">
                <a:solidFill>
                  <a:srgbClr val="2E377E"/>
                </a:solidFill>
                <a:latin typeface="Georgia"/>
                <a:cs typeface="Georgia"/>
              </a:rPr>
              <a:t>to</a:t>
            </a:r>
            <a:r>
              <a:rPr sz="3600" spc="-20" dirty="0">
                <a:solidFill>
                  <a:srgbClr val="2E377E"/>
                </a:solidFill>
                <a:latin typeface="Georgia"/>
                <a:cs typeface="Georgia"/>
              </a:rPr>
              <a:t> </a:t>
            </a:r>
            <a:r>
              <a:rPr sz="3600" dirty="0">
                <a:solidFill>
                  <a:srgbClr val="2E377E"/>
                </a:solidFill>
                <a:latin typeface="Georgia"/>
                <a:cs typeface="Georgia"/>
              </a:rPr>
              <a:t>you,</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dirty="0">
                <a:solidFill>
                  <a:srgbClr val="2E377E"/>
                </a:solidFill>
                <a:latin typeface="Georgia"/>
                <a:cs typeface="Georgia"/>
              </a:rPr>
              <a:t>select</a:t>
            </a:r>
            <a:r>
              <a:rPr sz="3600" spc="-20"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Availability</a:t>
            </a:r>
            <a:r>
              <a:rPr sz="3600" spc="-20" dirty="0">
                <a:solidFill>
                  <a:srgbClr val="2E377E"/>
                </a:solidFill>
                <a:latin typeface="Georgia"/>
                <a:cs typeface="Georgia"/>
              </a:rPr>
              <a:t> </a:t>
            </a:r>
            <a:r>
              <a:rPr sz="3600" spc="60" dirty="0">
                <a:solidFill>
                  <a:srgbClr val="2E377E"/>
                </a:solidFill>
                <a:latin typeface="Georgia"/>
                <a:cs typeface="Georgia"/>
              </a:rPr>
              <a:t>zone</a:t>
            </a:r>
            <a:r>
              <a:rPr sz="3600" spc="-20" dirty="0">
                <a:solidFill>
                  <a:srgbClr val="2E377E"/>
                </a:solidFill>
                <a:latin typeface="Georgia"/>
                <a:cs typeface="Georgia"/>
              </a:rPr>
              <a:t> </a:t>
            </a:r>
            <a:r>
              <a:rPr sz="3600" spc="65" dirty="0">
                <a:solidFill>
                  <a:srgbClr val="2E377E"/>
                </a:solidFill>
                <a:latin typeface="Georgia"/>
                <a:cs typeface="Georgia"/>
              </a:rPr>
              <a:t>where</a:t>
            </a:r>
            <a:r>
              <a:rPr sz="3600" spc="-20" dirty="0">
                <a:solidFill>
                  <a:srgbClr val="2E377E"/>
                </a:solidFill>
                <a:latin typeface="Georgia"/>
                <a:cs typeface="Georgia"/>
              </a:rPr>
              <a:t> </a:t>
            </a:r>
            <a:r>
              <a:rPr sz="3600" spc="45" dirty="0">
                <a:solidFill>
                  <a:srgbClr val="2E377E"/>
                </a:solidFill>
                <a:latin typeface="Georgia"/>
                <a:cs typeface="Georgia"/>
              </a:rPr>
              <a:t>your </a:t>
            </a:r>
            <a:r>
              <a:rPr sz="3600" spc="-190" dirty="0">
                <a:solidFill>
                  <a:srgbClr val="2E377E"/>
                </a:solidFill>
                <a:latin typeface="Georgia"/>
                <a:cs typeface="Georgia"/>
              </a:rPr>
              <a:t>EC2</a:t>
            </a:r>
            <a:r>
              <a:rPr sz="3600" spc="10" dirty="0">
                <a:solidFill>
                  <a:srgbClr val="2E377E"/>
                </a:solidFill>
                <a:latin typeface="Georgia"/>
                <a:cs typeface="Georgia"/>
              </a:rPr>
              <a:t> </a:t>
            </a:r>
            <a:r>
              <a:rPr sz="3600" dirty="0">
                <a:solidFill>
                  <a:srgbClr val="2E377E"/>
                </a:solidFill>
                <a:latin typeface="Georgia"/>
                <a:cs typeface="Georgia"/>
              </a:rPr>
              <a:t>instance</a:t>
            </a:r>
            <a:r>
              <a:rPr sz="3600" spc="10" dirty="0">
                <a:solidFill>
                  <a:srgbClr val="2E377E"/>
                </a:solidFill>
                <a:latin typeface="Georgia"/>
                <a:cs typeface="Georgia"/>
              </a:rPr>
              <a:t> </a:t>
            </a:r>
            <a:r>
              <a:rPr sz="3600" dirty="0">
                <a:solidFill>
                  <a:srgbClr val="2E377E"/>
                </a:solidFill>
                <a:latin typeface="Georgia"/>
                <a:cs typeface="Georgia"/>
              </a:rPr>
              <a:t>is</a:t>
            </a:r>
            <a:r>
              <a:rPr sz="3600" spc="15" dirty="0">
                <a:solidFill>
                  <a:srgbClr val="2E377E"/>
                </a:solidFill>
                <a:latin typeface="Georgia"/>
                <a:cs typeface="Georgia"/>
              </a:rPr>
              <a:t> </a:t>
            </a:r>
            <a:r>
              <a:rPr sz="3600" dirty="0">
                <a:solidFill>
                  <a:srgbClr val="2E377E"/>
                </a:solidFill>
                <a:latin typeface="Georgia"/>
                <a:cs typeface="Georgia"/>
              </a:rPr>
              <a:t>created,</a:t>
            </a:r>
            <a:r>
              <a:rPr sz="3600" spc="10"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dirty="0">
                <a:solidFill>
                  <a:srgbClr val="2E377E"/>
                </a:solidFill>
                <a:latin typeface="Georgia"/>
                <a:cs typeface="Georgia"/>
              </a:rPr>
              <a:t>click</a:t>
            </a:r>
            <a:r>
              <a:rPr sz="3600" spc="10" dirty="0">
                <a:solidFill>
                  <a:srgbClr val="2E377E"/>
                </a:solidFill>
                <a:latin typeface="Georgia"/>
                <a:cs typeface="Georgia"/>
              </a:rPr>
              <a:t> </a:t>
            </a:r>
            <a:r>
              <a:rPr sz="3600" dirty="0">
                <a:solidFill>
                  <a:srgbClr val="2E377E"/>
                </a:solidFill>
                <a:latin typeface="Georgia"/>
                <a:cs typeface="Georgia"/>
              </a:rPr>
              <a:t>on</a:t>
            </a:r>
            <a:r>
              <a:rPr sz="3600" spc="10" dirty="0">
                <a:solidFill>
                  <a:srgbClr val="2E377E"/>
                </a:solidFill>
                <a:latin typeface="Georgia"/>
                <a:cs typeface="Georgia"/>
              </a:rPr>
              <a:t> </a:t>
            </a:r>
            <a:r>
              <a:rPr sz="3600" dirty="0">
                <a:solidFill>
                  <a:srgbClr val="2E377E"/>
                </a:solidFill>
                <a:latin typeface="Georgia"/>
                <a:cs typeface="Georgia"/>
              </a:rPr>
              <a:t>Create</a:t>
            </a:r>
            <a:r>
              <a:rPr sz="3600" spc="15" dirty="0">
                <a:solidFill>
                  <a:srgbClr val="2E377E"/>
                </a:solidFill>
                <a:latin typeface="Georgia"/>
                <a:cs typeface="Georgia"/>
              </a:rPr>
              <a:t> </a:t>
            </a:r>
            <a:r>
              <a:rPr sz="3600" spc="-10" dirty="0">
                <a:solidFill>
                  <a:srgbClr val="2E377E"/>
                </a:solidFill>
                <a:latin typeface="Georgia"/>
                <a:cs typeface="Georgia"/>
              </a:rPr>
              <a:t>volume.</a:t>
            </a:r>
            <a:endParaRPr sz="3600">
              <a:latin typeface="Georgia"/>
              <a:cs typeface="Georgia"/>
            </a:endParaRPr>
          </a:p>
        </p:txBody>
      </p:sp>
      <p:sp>
        <p:nvSpPr>
          <p:cNvPr id="4" name="object 4"/>
          <p:cNvSpPr txBox="1"/>
          <p:nvPr/>
        </p:nvSpPr>
        <p:spPr>
          <a:xfrm>
            <a:off x="7790933" y="6455316"/>
            <a:ext cx="7633334" cy="1301750"/>
          </a:xfrm>
          <a:prstGeom prst="rect">
            <a:avLst/>
          </a:prstGeom>
        </p:spPr>
        <p:txBody>
          <a:bodyPr vert="horz" wrap="square" lIns="0" tIns="12700" rIns="0" bIns="0" rtlCol="0">
            <a:spAutoFit/>
          </a:bodyPr>
          <a:lstStyle/>
          <a:p>
            <a:pPr marL="12700" marR="5080">
              <a:lnSpc>
                <a:spcPct val="116300"/>
              </a:lnSpc>
              <a:spcBef>
                <a:spcPts val="100"/>
              </a:spcBef>
            </a:pPr>
            <a:r>
              <a:rPr sz="3600" dirty="0">
                <a:solidFill>
                  <a:srgbClr val="2E377E"/>
                </a:solidFill>
                <a:latin typeface="Georgia"/>
                <a:cs typeface="Georgia"/>
              </a:rPr>
              <a:t>Now,</a:t>
            </a:r>
            <a:r>
              <a:rPr sz="3600" spc="-40" dirty="0">
                <a:solidFill>
                  <a:srgbClr val="2E377E"/>
                </a:solidFill>
                <a:latin typeface="Georgia"/>
                <a:cs typeface="Georgia"/>
              </a:rPr>
              <a:t> </a:t>
            </a:r>
            <a:r>
              <a:rPr sz="3600" spc="60" dirty="0">
                <a:solidFill>
                  <a:srgbClr val="2E377E"/>
                </a:solidFill>
                <a:latin typeface="Georgia"/>
                <a:cs typeface="Georgia"/>
              </a:rPr>
              <a:t>copy</a:t>
            </a:r>
            <a:r>
              <a:rPr sz="3600" spc="-35"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dirty="0">
                <a:solidFill>
                  <a:srgbClr val="2E377E"/>
                </a:solidFill>
                <a:latin typeface="Georgia"/>
                <a:cs typeface="Georgia"/>
              </a:rPr>
              <a:t>volume</a:t>
            </a:r>
            <a:r>
              <a:rPr sz="3600" spc="-35" dirty="0">
                <a:solidFill>
                  <a:srgbClr val="2E377E"/>
                </a:solidFill>
                <a:latin typeface="Georgia"/>
                <a:cs typeface="Georgia"/>
              </a:rPr>
              <a:t> </a:t>
            </a:r>
            <a:r>
              <a:rPr sz="3600" spc="-75" dirty="0">
                <a:solidFill>
                  <a:srgbClr val="2E377E"/>
                </a:solidFill>
                <a:latin typeface="Georgia"/>
                <a:cs typeface="Georgia"/>
              </a:rPr>
              <a:t>ID</a:t>
            </a:r>
            <a:r>
              <a:rPr sz="3600" spc="-35" dirty="0">
                <a:solidFill>
                  <a:srgbClr val="2E377E"/>
                </a:solidFill>
                <a:latin typeface="Georgia"/>
                <a:cs typeface="Georgia"/>
              </a:rPr>
              <a:t> </a:t>
            </a:r>
            <a:r>
              <a:rPr sz="3600" dirty="0">
                <a:solidFill>
                  <a:srgbClr val="2E377E"/>
                </a:solidFill>
                <a:latin typeface="Georgia"/>
                <a:cs typeface="Georgia"/>
              </a:rPr>
              <a:t>and</a:t>
            </a:r>
            <a:r>
              <a:rPr sz="3600" spc="-35" dirty="0">
                <a:solidFill>
                  <a:srgbClr val="2E377E"/>
                </a:solidFill>
                <a:latin typeface="Georgia"/>
                <a:cs typeface="Georgia"/>
              </a:rPr>
              <a:t> </a:t>
            </a:r>
            <a:r>
              <a:rPr sz="3600" dirty="0">
                <a:solidFill>
                  <a:srgbClr val="2E377E"/>
                </a:solidFill>
                <a:latin typeface="Georgia"/>
                <a:cs typeface="Georgia"/>
              </a:rPr>
              <a:t>paste</a:t>
            </a:r>
            <a:r>
              <a:rPr sz="3600" spc="-35" dirty="0">
                <a:solidFill>
                  <a:srgbClr val="2E377E"/>
                </a:solidFill>
                <a:latin typeface="Georgia"/>
                <a:cs typeface="Georgia"/>
              </a:rPr>
              <a:t> </a:t>
            </a:r>
            <a:r>
              <a:rPr sz="3600" spc="30" dirty="0">
                <a:solidFill>
                  <a:srgbClr val="2E377E"/>
                </a:solidFill>
                <a:latin typeface="Georgia"/>
                <a:cs typeface="Georgia"/>
              </a:rPr>
              <a:t>it </a:t>
            </a:r>
            <a:r>
              <a:rPr sz="3600" dirty="0">
                <a:solidFill>
                  <a:srgbClr val="2E377E"/>
                </a:solidFill>
                <a:latin typeface="Georgia"/>
                <a:cs typeface="Georgia"/>
              </a:rPr>
              <a:t>into</a:t>
            </a:r>
            <a:r>
              <a:rPr sz="3600" spc="-90" dirty="0">
                <a:solidFill>
                  <a:srgbClr val="2E377E"/>
                </a:solidFill>
                <a:latin typeface="Georgia"/>
                <a:cs typeface="Georgia"/>
              </a:rPr>
              <a:t> </a:t>
            </a:r>
            <a:r>
              <a:rPr sz="3600" spc="50" dirty="0">
                <a:solidFill>
                  <a:srgbClr val="2E377E"/>
                </a:solidFill>
                <a:latin typeface="Georgia"/>
                <a:cs typeface="Georgia"/>
              </a:rPr>
              <a:t>the</a:t>
            </a:r>
            <a:r>
              <a:rPr sz="3600" spc="-85" dirty="0">
                <a:solidFill>
                  <a:srgbClr val="2E377E"/>
                </a:solidFill>
                <a:latin typeface="Georgia"/>
                <a:cs typeface="Georgia"/>
              </a:rPr>
              <a:t> </a:t>
            </a:r>
            <a:r>
              <a:rPr sz="3600" spc="-10" dirty="0">
                <a:solidFill>
                  <a:srgbClr val="2E377E"/>
                </a:solidFill>
                <a:latin typeface="Georgia"/>
                <a:cs typeface="Georgia"/>
              </a:rPr>
              <a:t>PV</a:t>
            </a:r>
            <a:r>
              <a:rPr sz="3600" spc="-90" dirty="0">
                <a:solidFill>
                  <a:srgbClr val="2E377E"/>
                </a:solidFill>
                <a:latin typeface="Georgia"/>
                <a:cs typeface="Georgia"/>
              </a:rPr>
              <a:t> </a:t>
            </a:r>
            <a:r>
              <a:rPr sz="3600" spc="-95" dirty="0">
                <a:solidFill>
                  <a:srgbClr val="2E377E"/>
                </a:solidFill>
                <a:latin typeface="Georgia"/>
                <a:cs typeface="Georgia"/>
              </a:rPr>
              <a:t>YML</a:t>
            </a:r>
            <a:r>
              <a:rPr sz="3600" spc="-85" dirty="0">
                <a:solidFill>
                  <a:srgbClr val="2E377E"/>
                </a:solidFill>
                <a:latin typeface="Georgia"/>
                <a:cs typeface="Georgia"/>
              </a:rPr>
              <a:t> </a:t>
            </a:r>
            <a:r>
              <a:rPr sz="3600" spc="-20" dirty="0">
                <a:solidFill>
                  <a:srgbClr val="2E377E"/>
                </a:solidFill>
                <a:latin typeface="Georgia"/>
                <a:cs typeface="Georgia"/>
              </a:rPr>
              <a:t>file</a:t>
            </a:r>
            <a:endParaRPr sz="3600">
              <a:latin typeface="Georgia"/>
              <a:cs typeface="Georgia"/>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28700" y="1217763"/>
            <a:ext cx="8267699" cy="5219699"/>
          </a:xfrm>
          <a:prstGeom prst="rect">
            <a:avLst/>
          </a:prstGeom>
        </p:spPr>
      </p:pic>
      <p:pic>
        <p:nvPicPr>
          <p:cNvPr id="3" name="object 3"/>
          <p:cNvPicPr/>
          <p:nvPr/>
        </p:nvPicPr>
        <p:blipFill>
          <a:blip r:embed="rId3" cstate="print"/>
          <a:stretch>
            <a:fillRect/>
          </a:stretch>
        </p:blipFill>
        <p:spPr>
          <a:xfrm>
            <a:off x="10092409" y="1217764"/>
            <a:ext cx="7791449" cy="5429249"/>
          </a:xfrm>
          <a:prstGeom prst="rect">
            <a:avLst/>
          </a:prstGeom>
        </p:spPr>
      </p:pic>
      <p:sp>
        <p:nvSpPr>
          <p:cNvPr id="4" name="object 4"/>
          <p:cNvSpPr txBox="1"/>
          <p:nvPr/>
        </p:nvSpPr>
        <p:spPr>
          <a:xfrm>
            <a:off x="1016000" y="433068"/>
            <a:ext cx="1456055" cy="574040"/>
          </a:xfrm>
          <a:prstGeom prst="rect">
            <a:avLst/>
          </a:prstGeom>
        </p:spPr>
        <p:txBody>
          <a:bodyPr vert="horz" wrap="square" lIns="0" tIns="12700" rIns="0" bIns="0" rtlCol="0">
            <a:spAutoFit/>
          </a:bodyPr>
          <a:lstStyle/>
          <a:p>
            <a:pPr marL="12700">
              <a:lnSpc>
                <a:spcPct val="100000"/>
              </a:lnSpc>
              <a:spcBef>
                <a:spcPts val="100"/>
              </a:spcBef>
            </a:pPr>
            <a:r>
              <a:rPr sz="3600" spc="-45" dirty="0">
                <a:solidFill>
                  <a:srgbClr val="2E377E"/>
                </a:solidFill>
                <a:latin typeface="Times New Roman"/>
                <a:cs typeface="Times New Roman"/>
              </a:rPr>
              <a:t>PV</a:t>
            </a:r>
            <a:r>
              <a:rPr sz="3600" spc="-175" dirty="0">
                <a:solidFill>
                  <a:srgbClr val="2E377E"/>
                </a:solidFill>
                <a:latin typeface="Times New Roman"/>
                <a:cs typeface="Times New Roman"/>
              </a:rPr>
              <a:t> </a:t>
            </a:r>
            <a:r>
              <a:rPr sz="3600" spc="-20" dirty="0">
                <a:solidFill>
                  <a:srgbClr val="2E377E"/>
                </a:solidFill>
                <a:latin typeface="Times New Roman"/>
                <a:cs typeface="Times New Roman"/>
              </a:rPr>
              <a:t>file:</a:t>
            </a:r>
            <a:endParaRPr sz="3600">
              <a:latin typeface="Times New Roman"/>
              <a:cs typeface="Times New Roman"/>
            </a:endParaRPr>
          </a:p>
        </p:txBody>
      </p:sp>
      <p:sp>
        <p:nvSpPr>
          <p:cNvPr id="5" name="object 5"/>
          <p:cNvSpPr txBox="1">
            <a:spLocks noGrp="1"/>
          </p:cNvSpPr>
          <p:nvPr>
            <p:ph type="title"/>
          </p:nvPr>
        </p:nvSpPr>
        <p:spPr>
          <a:xfrm>
            <a:off x="10079708" y="433068"/>
            <a:ext cx="1746885" cy="574040"/>
          </a:xfrm>
          <a:prstGeom prst="rect">
            <a:avLst/>
          </a:prstGeom>
        </p:spPr>
        <p:txBody>
          <a:bodyPr vert="horz" wrap="square" lIns="0" tIns="12700" rIns="0" bIns="0" rtlCol="0">
            <a:spAutoFit/>
          </a:bodyPr>
          <a:lstStyle/>
          <a:p>
            <a:pPr marL="12700">
              <a:lnSpc>
                <a:spcPct val="100000"/>
              </a:lnSpc>
              <a:spcBef>
                <a:spcPts val="100"/>
              </a:spcBef>
            </a:pPr>
            <a:r>
              <a:rPr sz="3600" b="0" spc="-95" dirty="0">
                <a:solidFill>
                  <a:srgbClr val="2E377E"/>
                </a:solidFill>
                <a:latin typeface="Times New Roman"/>
                <a:cs typeface="Times New Roman"/>
              </a:rPr>
              <a:t>PVC</a:t>
            </a:r>
            <a:r>
              <a:rPr sz="3600" b="0" spc="-114" dirty="0">
                <a:solidFill>
                  <a:srgbClr val="2E377E"/>
                </a:solidFill>
                <a:latin typeface="Times New Roman"/>
                <a:cs typeface="Times New Roman"/>
              </a:rPr>
              <a:t> </a:t>
            </a:r>
            <a:r>
              <a:rPr sz="3600" b="0" spc="-10" dirty="0">
                <a:solidFill>
                  <a:srgbClr val="2E377E"/>
                </a:solidFill>
                <a:latin typeface="Times New Roman"/>
                <a:cs typeface="Times New Roman"/>
              </a:rPr>
              <a:t>file:</a:t>
            </a:r>
            <a:endParaRPr sz="3600">
              <a:latin typeface="Times New Roman"/>
              <a:cs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6610" y="463118"/>
            <a:ext cx="9620248" cy="9496424"/>
          </a:xfrm>
          <a:prstGeom prst="rect">
            <a:avLst/>
          </a:prstGeom>
        </p:spPr>
      </p:pic>
      <p:sp>
        <p:nvSpPr>
          <p:cNvPr id="3" name="object 3"/>
          <p:cNvSpPr txBox="1">
            <a:spLocks noGrp="1"/>
          </p:cNvSpPr>
          <p:nvPr>
            <p:ph type="title"/>
          </p:nvPr>
        </p:nvSpPr>
        <p:spPr>
          <a:xfrm>
            <a:off x="10700739" y="1215319"/>
            <a:ext cx="6863080" cy="2578100"/>
          </a:xfrm>
          <a:prstGeom prst="rect">
            <a:avLst/>
          </a:prstGeom>
        </p:spPr>
        <p:txBody>
          <a:bodyPr vert="horz" wrap="square" lIns="0" tIns="12700" rIns="0" bIns="0" rtlCol="0">
            <a:spAutoFit/>
          </a:bodyPr>
          <a:lstStyle/>
          <a:p>
            <a:pPr marL="12700" marR="5080">
              <a:lnSpc>
                <a:spcPct val="116300"/>
              </a:lnSpc>
              <a:spcBef>
                <a:spcPts val="100"/>
              </a:spcBef>
              <a:tabLst>
                <a:tab pos="2432685" algn="l"/>
              </a:tabLst>
            </a:pPr>
            <a:r>
              <a:rPr sz="3600" b="0" spc="130" dirty="0">
                <a:solidFill>
                  <a:srgbClr val="2E377E"/>
                </a:solidFill>
                <a:latin typeface="Georgia"/>
                <a:cs typeface="Georgia"/>
              </a:rPr>
              <a:t>we</a:t>
            </a:r>
            <a:r>
              <a:rPr sz="3600" b="0" spc="-35" dirty="0">
                <a:solidFill>
                  <a:srgbClr val="2E377E"/>
                </a:solidFill>
                <a:latin typeface="Georgia"/>
                <a:cs typeface="Georgia"/>
              </a:rPr>
              <a:t> </a:t>
            </a:r>
            <a:r>
              <a:rPr sz="3600" b="0" dirty="0">
                <a:solidFill>
                  <a:srgbClr val="2E377E"/>
                </a:solidFill>
                <a:latin typeface="Georgia"/>
                <a:cs typeface="Georgia"/>
              </a:rPr>
              <a:t>have</a:t>
            </a:r>
            <a:r>
              <a:rPr sz="3600" b="0" spc="-35" dirty="0">
                <a:solidFill>
                  <a:srgbClr val="2E377E"/>
                </a:solidFill>
                <a:latin typeface="Georgia"/>
                <a:cs typeface="Georgia"/>
              </a:rPr>
              <a:t> </a:t>
            </a:r>
            <a:r>
              <a:rPr sz="3600" b="0" dirty="0">
                <a:solidFill>
                  <a:srgbClr val="2E377E"/>
                </a:solidFill>
                <a:latin typeface="Georgia"/>
                <a:cs typeface="Georgia"/>
              </a:rPr>
              <a:t>logged</a:t>
            </a:r>
            <a:r>
              <a:rPr sz="3600" b="0" spc="-35" dirty="0">
                <a:solidFill>
                  <a:srgbClr val="2E377E"/>
                </a:solidFill>
                <a:latin typeface="Georgia"/>
                <a:cs typeface="Georgia"/>
              </a:rPr>
              <a:t> </a:t>
            </a:r>
            <a:r>
              <a:rPr sz="3600" b="0" dirty="0">
                <a:solidFill>
                  <a:srgbClr val="2E377E"/>
                </a:solidFill>
                <a:latin typeface="Georgia"/>
                <a:cs typeface="Georgia"/>
              </a:rPr>
              <a:t>in</a:t>
            </a:r>
            <a:r>
              <a:rPr sz="3600" b="0" spc="-30" dirty="0">
                <a:solidFill>
                  <a:srgbClr val="2E377E"/>
                </a:solidFill>
                <a:latin typeface="Georgia"/>
                <a:cs typeface="Georgia"/>
              </a:rPr>
              <a:t> </a:t>
            </a:r>
            <a:r>
              <a:rPr sz="3600" b="0" spc="60" dirty="0">
                <a:solidFill>
                  <a:srgbClr val="2E377E"/>
                </a:solidFill>
                <a:latin typeface="Georgia"/>
                <a:cs typeface="Georgia"/>
              </a:rPr>
              <a:t>to</a:t>
            </a:r>
            <a:r>
              <a:rPr sz="3600" b="0" spc="-35" dirty="0">
                <a:solidFill>
                  <a:srgbClr val="2E377E"/>
                </a:solidFill>
                <a:latin typeface="Georgia"/>
                <a:cs typeface="Georgia"/>
              </a:rPr>
              <a:t> </a:t>
            </a:r>
            <a:r>
              <a:rPr sz="3600" b="0" spc="50" dirty="0">
                <a:solidFill>
                  <a:srgbClr val="2E377E"/>
                </a:solidFill>
                <a:latin typeface="Georgia"/>
                <a:cs typeface="Georgia"/>
              </a:rPr>
              <a:t>the</a:t>
            </a:r>
            <a:r>
              <a:rPr sz="3600" b="0" spc="-35" dirty="0">
                <a:solidFill>
                  <a:srgbClr val="2E377E"/>
                </a:solidFill>
                <a:latin typeface="Georgia"/>
                <a:cs typeface="Georgia"/>
              </a:rPr>
              <a:t> </a:t>
            </a:r>
            <a:r>
              <a:rPr sz="3600" b="0" spc="-10" dirty="0">
                <a:solidFill>
                  <a:srgbClr val="2E377E"/>
                </a:solidFill>
                <a:latin typeface="Georgia"/>
                <a:cs typeface="Georgia"/>
              </a:rPr>
              <a:t>created </a:t>
            </a:r>
            <a:r>
              <a:rPr sz="3600" b="0" dirty="0">
                <a:solidFill>
                  <a:srgbClr val="2E377E"/>
                </a:solidFill>
                <a:latin typeface="Georgia"/>
                <a:cs typeface="Georgia"/>
              </a:rPr>
              <a:t>container </a:t>
            </a:r>
            <a:r>
              <a:rPr sz="3600" b="0" spc="130" dirty="0">
                <a:solidFill>
                  <a:srgbClr val="2E377E"/>
                </a:solidFill>
                <a:latin typeface="Georgia"/>
                <a:cs typeface="Georgia"/>
              </a:rPr>
              <a:t>(</a:t>
            </a:r>
            <a:r>
              <a:rPr sz="3600" b="0" spc="130" dirty="0">
                <a:latin typeface="Times New Roman"/>
                <a:cs typeface="Times New Roman"/>
              </a:rPr>
              <a:t>kubectl</a:t>
            </a:r>
            <a:r>
              <a:rPr sz="3600" b="0" spc="-25" dirty="0">
                <a:latin typeface="Times New Roman"/>
                <a:cs typeface="Times New Roman"/>
              </a:rPr>
              <a:t> </a:t>
            </a:r>
            <a:r>
              <a:rPr sz="3600" b="0" spc="140" dirty="0">
                <a:latin typeface="Times New Roman"/>
                <a:cs typeface="Times New Roman"/>
              </a:rPr>
              <a:t>exec</a:t>
            </a:r>
            <a:r>
              <a:rPr sz="3600" b="0" spc="-30" dirty="0">
                <a:latin typeface="Times New Roman"/>
                <a:cs typeface="Times New Roman"/>
              </a:rPr>
              <a:t> </a:t>
            </a:r>
            <a:r>
              <a:rPr sz="3600" b="0" spc="165" dirty="0">
                <a:latin typeface="Times New Roman"/>
                <a:cs typeface="Times New Roman"/>
              </a:rPr>
              <a:t>-</a:t>
            </a:r>
            <a:r>
              <a:rPr sz="3600" b="0" spc="175" dirty="0">
                <a:latin typeface="Times New Roman"/>
                <a:cs typeface="Times New Roman"/>
              </a:rPr>
              <a:t>it </a:t>
            </a:r>
            <a:r>
              <a:rPr sz="3600" b="0" spc="285" dirty="0">
                <a:latin typeface="Times New Roman"/>
                <a:cs typeface="Times New Roman"/>
              </a:rPr>
              <a:t>pod_name</a:t>
            </a:r>
            <a:r>
              <a:rPr sz="3600" b="0" dirty="0">
                <a:latin typeface="Times New Roman"/>
                <a:cs typeface="Times New Roman"/>
              </a:rPr>
              <a:t>	</a:t>
            </a:r>
            <a:r>
              <a:rPr sz="3600" b="0" spc="165" dirty="0">
                <a:latin typeface="Times New Roman"/>
                <a:cs typeface="Times New Roman"/>
              </a:rPr>
              <a:t>-</a:t>
            </a:r>
            <a:r>
              <a:rPr sz="3600" b="0" spc="95" dirty="0">
                <a:latin typeface="Times New Roman"/>
                <a:cs typeface="Times New Roman"/>
              </a:rPr>
              <a:t>c</a:t>
            </a:r>
            <a:r>
              <a:rPr sz="3600" b="0" spc="-114" dirty="0">
                <a:latin typeface="Times New Roman"/>
                <a:cs typeface="Times New Roman"/>
              </a:rPr>
              <a:t> </a:t>
            </a:r>
            <a:r>
              <a:rPr sz="3600" b="0" spc="130" dirty="0">
                <a:latin typeface="Times New Roman"/>
                <a:cs typeface="Times New Roman"/>
              </a:rPr>
              <a:t>shell</a:t>
            </a:r>
            <a:r>
              <a:rPr sz="3600" b="0" spc="-114" dirty="0">
                <a:latin typeface="Times New Roman"/>
                <a:cs typeface="Times New Roman"/>
              </a:rPr>
              <a:t> </a:t>
            </a:r>
            <a:r>
              <a:rPr sz="3600" b="0" spc="135" dirty="0">
                <a:latin typeface="Times New Roman"/>
                <a:cs typeface="Times New Roman"/>
              </a:rPr>
              <a:t>/bin/bash</a:t>
            </a:r>
            <a:r>
              <a:rPr sz="3600" b="0" spc="135" dirty="0">
                <a:solidFill>
                  <a:srgbClr val="2E377E"/>
                </a:solidFill>
                <a:latin typeface="Georgia"/>
                <a:cs typeface="Georgia"/>
              </a:rPr>
              <a:t>)and </a:t>
            </a:r>
            <a:r>
              <a:rPr sz="3600" b="0" dirty="0">
                <a:solidFill>
                  <a:srgbClr val="2E377E"/>
                </a:solidFill>
                <a:latin typeface="Georgia"/>
                <a:cs typeface="Georgia"/>
              </a:rPr>
              <a:t>created</a:t>
            </a:r>
            <a:r>
              <a:rPr sz="3600" b="0" spc="20" dirty="0">
                <a:solidFill>
                  <a:srgbClr val="2E377E"/>
                </a:solidFill>
                <a:latin typeface="Georgia"/>
                <a:cs typeface="Georgia"/>
              </a:rPr>
              <a:t> </a:t>
            </a:r>
            <a:r>
              <a:rPr sz="3600" b="0" dirty="0">
                <a:solidFill>
                  <a:srgbClr val="2E377E"/>
                </a:solidFill>
                <a:latin typeface="Georgia"/>
                <a:cs typeface="Georgia"/>
              </a:rPr>
              <a:t>one</a:t>
            </a:r>
            <a:r>
              <a:rPr sz="3600" b="0" spc="25" dirty="0">
                <a:solidFill>
                  <a:srgbClr val="2E377E"/>
                </a:solidFill>
                <a:latin typeface="Georgia"/>
                <a:cs typeface="Georgia"/>
              </a:rPr>
              <a:t> </a:t>
            </a:r>
            <a:r>
              <a:rPr sz="3600" b="0" dirty="0">
                <a:solidFill>
                  <a:srgbClr val="2E377E"/>
                </a:solidFill>
                <a:latin typeface="Georgia"/>
                <a:cs typeface="Georgia"/>
              </a:rPr>
              <a:t>file</a:t>
            </a:r>
            <a:r>
              <a:rPr sz="3600" b="0" spc="25" dirty="0">
                <a:solidFill>
                  <a:srgbClr val="2E377E"/>
                </a:solidFill>
                <a:latin typeface="Georgia"/>
                <a:cs typeface="Georgia"/>
              </a:rPr>
              <a:t> </a:t>
            </a:r>
            <a:r>
              <a:rPr sz="3600" b="0" spc="75" dirty="0">
                <a:solidFill>
                  <a:srgbClr val="2E377E"/>
                </a:solidFill>
                <a:latin typeface="Georgia"/>
                <a:cs typeface="Georgia"/>
              </a:rPr>
              <a:t>with</a:t>
            </a:r>
            <a:r>
              <a:rPr sz="3600" b="0" spc="20" dirty="0">
                <a:solidFill>
                  <a:srgbClr val="2E377E"/>
                </a:solidFill>
                <a:latin typeface="Georgia"/>
                <a:cs typeface="Georgia"/>
              </a:rPr>
              <a:t> </a:t>
            </a:r>
            <a:r>
              <a:rPr sz="3600" b="0" dirty="0">
                <a:solidFill>
                  <a:srgbClr val="2E377E"/>
                </a:solidFill>
                <a:latin typeface="Georgia"/>
                <a:cs typeface="Georgia"/>
              </a:rPr>
              <a:t>some</a:t>
            </a:r>
            <a:r>
              <a:rPr sz="3600" b="0" spc="25" dirty="0">
                <a:solidFill>
                  <a:srgbClr val="2E377E"/>
                </a:solidFill>
                <a:latin typeface="Georgia"/>
                <a:cs typeface="Georgia"/>
              </a:rPr>
              <a:t> </a:t>
            </a:r>
            <a:r>
              <a:rPr sz="3600" b="0" spc="-10" dirty="0">
                <a:solidFill>
                  <a:srgbClr val="2E377E"/>
                </a:solidFill>
                <a:latin typeface="Georgia"/>
                <a:cs typeface="Georgia"/>
              </a:rPr>
              <a:t>text.</a:t>
            </a:r>
            <a:endParaRPr sz="3600">
              <a:latin typeface="Georgia"/>
              <a:cs typeface="Georgia"/>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12448" y="291450"/>
            <a:ext cx="16649065" cy="3785235"/>
            <a:chOff x="912448" y="291450"/>
            <a:chExt cx="16649065" cy="3785235"/>
          </a:xfrm>
        </p:grpSpPr>
        <p:sp>
          <p:nvSpPr>
            <p:cNvPr id="3" name="object 3"/>
            <p:cNvSpPr/>
            <p:nvPr/>
          </p:nvSpPr>
          <p:spPr>
            <a:xfrm>
              <a:off x="912448" y="291450"/>
              <a:ext cx="16649065" cy="3785235"/>
            </a:xfrm>
            <a:custGeom>
              <a:avLst/>
              <a:gdLst/>
              <a:ahLst/>
              <a:cxnLst/>
              <a:rect l="l" t="t" r="r" b="b"/>
              <a:pathLst>
                <a:path w="16649065" h="3785235">
                  <a:moveTo>
                    <a:pt x="16649008" y="3785209"/>
                  </a:moveTo>
                  <a:lnTo>
                    <a:pt x="0" y="3785209"/>
                  </a:lnTo>
                  <a:lnTo>
                    <a:pt x="0" y="0"/>
                  </a:lnTo>
                  <a:lnTo>
                    <a:pt x="16649008" y="0"/>
                  </a:lnTo>
                  <a:lnTo>
                    <a:pt x="16649008" y="3785209"/>
                  </a:lnTo>
                  <a:close/>
                </a:path>
              </a:pathLst>
            </a:custGeom>
            <a:solidFill>
              <a:srgbClr val="D5EFF1"/>
            </a:solidFill>
          </p:spPr>
          <p:txBody>
            <a:bodyPr wrap="square" lIns="0" tIns="0" rIns="0" bIns="0" rtlCol="0"/>
            <a:lstStyle/>
            <a:p>
              <a:endParaRPr/>
            </a:p>
          </p:txBody>
        </p:sp>
        <p:sp>
          <p:nvSpPr>
            <p:cNvPr id="4" name="object 4"/>
            <p:cNvSpPr/>
            <p:nvPr/>
          </p:nvSpPr>
          <p:spPr>
            <a:xfrm>
              <a:off x="6957015" y="1184240"/>
              <a:ext cx="4963160" cy="2388870"/>
            </a:xfrm>
            <a:custGeom>
              <a:avLst/>
              <a:gdLst/>
              <a:ahLst/>
              <a:cxnLst/>
              <a:rect l="l" t="t" r="r" b="b"/>
              <a:pathLst>
                <a:path w="4963159" h="2388870">
                  <a:moveTo>
                    <a:pt x="4963092" y="2388254"/>
                  </a:moveTo>
                  <a:lnTo>
                    <a:pt x="0" y="2388254"/>
                  </a:lnTo>
                  <a:lnTo>
                    <a:pt x="0" y="0"/>
                  </a:lnTo>
                  <a:lnTo>
                    <a:pt x="4963092" y="0"/>
                  </a:lnTo>
                  <a:lnTo>
                    <a:pt x="4963092" y="2388254"/>
                  </a:lnTo>
                  <a:close/>
                </a:path>
              </a:pathLst>
            </a:custGeom>
            <a:solidFill>
              <a:srgbClr val="326BE4"/>
            </a:solidFill>
          </p:spPr>
          <p:txBody>
            <a:bodyPr wrap="square" lIns="0" tIns="0" rIns="0" bIns="0" rtlCol="0"/>
            <a:lstStyle/>
            <a:p>
              <a:endParaRPr/>
            </a:p>
          </p:txBody>
        </p:sp>
      </p:grpSp>
      <p:grpSp>
        <p:nvGrpSpPr>
          <p:cNvPr id="5" name="object 5"/>
          <p:cNvGrpSpPr/>
          <p:nvPr/>
        </p:nvGrpSpPr>
        <p:grpSpPr>
          <a:xfrm>
            <a:off x="9048501" y="4076621"/>
            <a:ext cx="381000" cy="965835"/>
            <a:chOff x="9048501" y="4076621"/>
            <a:chExt cx="381000" cy="965835"/>
          </a:xfrm>
        </p:grpSpPr>
        <p:sp>
          <p:nvSpPr>
            <p:cNvPr id="6" name="object 6"/>
            <p:cNvSpPr/>
            <p:nvPr/>
          </p:nvSpPr>
          <p:spPr>
            <a:xfrm>
              <a:off x="9239001" y="4124246"/>
              <a:ext cx="0" cy="918210"/>
            </a:xfrm>
            <a:custGeom>
              <a:avLst/>
              <a:gdLst/>
              <a:ahLst/>
              <a:cxnLst/>
              <a:rect l="l" t="t" r="r" b="b"/>
              <a:pathLst>
                <a:path h="918210">
                  <a:moveTo>
                    <a:pt x="0" y="918047"/>
                  </a:moveTo>
                  <a:lnTo>
                    <a:pt x="0" y="0"/>
                  </a:lnTo>
                </a:path>
              </a:pathLst>
            </a:custGeom>
            <a:ln w="95249">
              <a:solidFill>
                <a:srgbClr val="000000"/>
              </a:solidFill>
            </a:ln>
          </p:spPr>
          <p:txBody>
            <a:bodyPr wrap="square" lIns="0" tIns="0" rIns="0" bIns="0" rtlCol="0"/>
            <a:lstStyle/>
            <a:p>
              <a:endParaRPr/>
            </a:p>
          </p:txBody>
        </p:sp>
        <p:sp>
          <p:nvSpPr>
            <p:cNvPr id="7" name="object 7"/>
            <p:cNvSpPr/>
            <p:nvPr/>
          </p:nvSpPr>
          <p:spPr>
            <a:xfrm>
              <a:off x="9096126" y="4124246"/>
              <a:ext cx="285750" cy="190500"/>
            </a:xfrm>
            <a:custGeom>
              <a:avLst/>
              <a:gdLst/>
              <a:ahLst/>
              <a:cxnLst/>
              <a:rect l="l" t="t" r="r" b="b"/>
              <a:pathLst>
                <a:path w="285750" h="190500">
                  <a:moveTo>
                    <a:pt x="0" y="190499"/>
                  </a:moveTo>
                  <a:lnTo>
                    <a:pt x="142874" y="0"/>
                  </a:lnTo>
                  <a:lnTo>
                    <a:pt x="285749" y="190499"/>
                  </a:lnTo>
                </a:path>
              </a:pathLst>
            </a:custGeom>
            <a:ln w="95249">
              <a:solidFill>
                <a:srgbClr val="000000"/>
              </a:solidFill>
            </a:ln>
          </p:spPr>
          <p:txBody>
            <a:bodyPr wrap="square" lIns="0" tIns="0" rIns="0" bIns="0" rtlCol="0"/>
            <a:lstStyle/>
            <a:p>
              <a:endParaRPr/>
            </a:p>
          </p:txBody>
        </p:sp>
      </p:grpSp>
      <p:sp>
        <p:nvSpPr>
          <p:cNvPr id="8" name="object 8"/>
          <p:cNvSpPr/>
          <p:nvPr/>
        </p:nvSpPr>
        <p:spPr>
          <a:xfrm>
            <a:off x="12291617" y="1184240"/>
            <a:ext cx="4763770" cy="2388870"/>
          </a:xfrm>
          <a:custGeom>
            <a:avLst/>
            <a:gdLst/>
            <a:ahLst/>
            <a:cxnLst/>
            <a:rect l="l" t="t" r="r" b="b"/>
            <a:pathLst>
              <a:path w="4763769" h="2388870">
                <a:moveTo>
                  <a:pt x="4763461" y="2388254"/>
                </a:moveTo>
                <a:lnTo>
                  <a:pt x="0" y="2388254"/>
                </a:lnTo>
                <a:lnTo>
                  <a:pt x="0" y="0"/>
                </a:lnTo>
                <a:lnTo>
                  <a:pt x="4763461" y="0"/>
                </a:lnTo>
                <a:lnTo>
                  <a:pt x="4763461" y="2388254"/>
                </a:lnTo>
                <a:close/>
              </a:path>
            </a:pathLst>
          </a:custGeom>
          <a:solidFill>
            <a:srgbClr val="326BE4"/>
          </a:solidFill>
        </p:spPr>
        <p:txBody>
          <a:bodyPr wrap="square" lIns="0" tIns="0" rIns="0" bIns="0" rtlCol="0"/>
          <a:lstStyle/>
          <a:p>
            <a:endParaRPr/>
          </a:p>
        </p:txBody>
      </p:sp>
      <p:sp>
        <p:nvSpPr>
          <p:cNvPr id="9" name="object 9"/>
          <p:cNvSpPr txBox="1"/>
          <p:nvPr/>
        </p:nvSpPr>
        <p:spPr>
          <a:xfrm>
            <a:off x="987720" y="6997572"/>
            <a:ext cx="16669385" cy="2578100"/>
          </a:xfrm>
          <a:prstGeom prst="rect">
            <a:avLst/>
          </a:prstGeom>
        </p:spPr>
        <p:txBody>
          <a:bodyPr vert="horz" wrap="square" lIns="0" tIns="12700" rIns="0" bIns="0" rtlCol="0">
            <a:spAutoFit/>
          </a:bodyPr>
          <a:lstStyle/>
          <a:p>
            <a:pPr marL="12700" marR="5080">
              <a:lnSpc>
                <a:spcPct val="116300"/>
              </a:lnSpc>
              <a:spcBef>
                <a:spcPts val="100"/>
              </a:spcBef>
            </a:pPr>
            <a:r>
              <a:rPr sz="3600" spc="130" dirty="0">
                <a:solidFill>
                  <a:srgbClr val="2E377E"/>
                </a:solidFill>
                <a:latin typeface="Georgia"/>
                <a:cs typeface="Georgia"/>
              </a:rPr>
              <a:t>we</a:t>
            </a:r>
            <a:r>
              <a:rPr sz="3600" spc="-25" dirty="0">
                <a:solidFill>
                  <a:srgbClr val="2E377E"/>
                </a:solidFill>
                <a:latin typeface="Georgia"/>
                <a:cs typeface="Georgia"/>
              </a:rPr>
              <a:t> </a:t>
            </a:r>
            <a:r>
              <a:rPr sz="3600" dirty="0">
                <a:solidFill>
                  <a:srgbClr val="2E377E"/>
                </a:solidFill>
                <a:latin typeface="Georgia"/>
                <a:cs typeface="Georgia"/>
              </a:rPr>
              <a:t>have</a:t>
            </a:r>
            <a:r>
              <a:rPr sz="3600" spc="-20" dirty="0">
                <a:solidFill>
                  <a:srgbClr val="2E377E"/>
                </a:solidFill>
                <a:latin typeface="Georgia"/>
                <a:cs typeface="Georgia"/>
              </a:rPr>
              <a:t> </a:t>
            </a:r>
            <a:r>
              <a:rPr sz="3600" dirty="0">
                <a:solidFill>
                  <a:srgbClr val="2E377E"/>
                </a:solidFill>
                <a:latin typeface="Georgia"/>
                <a:cs typeface="Georgia"/>
              </a:rPr>
              <a:t>deleted</a:t>
            </a:r>
            <a:r>
              <a:rPr sz="3600" spc="-20"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pod,</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dirty="0">
                <a:solidFill>
                  <a:srgbClr val="2E377E"/>
                </a:solidFill>
                <a:latin typeface="Georgia"/>
                <a:cs typeface="Georgia"/>
              </a:rPr>
              <a:t>then</a:t>
            </a:r>
            <a:r>
              <a:rPr sz="3600" spc="-25" dirty="0">
                <a:solidFill>
                  <a:srgbClr val="2E377E"/>
                </a:solidFill>
                <a:latin typeface="Georgia"/>
                <a:cs typeface="Georgia"/>
              </a:rPr>
              <a:t> </a:t>
            </a:r>
            <a:r>
              <a:rPr sz="3600" dirty="0">
                <a:solidFill>
                  <a:srgbClr val="2E377E"/>
                </a:solidFill>
                <a:latin typeface="Georgia"/>
                <a:cs typeface="Georgia"/>
              </a:rPr>
              <a:t>because</a:t>
            </a:r>
            <a:r>
              <a:rPr sz="3600" spc="-20"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dirty="0">
                <a:solidFill>
                  <a:srgbClr val="2E377E"/>
                </a:solidFill>
                <a:latin typeface="Georgia"/>
                <a:cs typeface="Georgia"/>
              </a:rPr>
              <a:t>replicas</a:t>
            </a:r>
            <a:r>
              <a:rPr sz="3600" spc="-25"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spc="90" dirty="0">
                <a:solidFill>
                  <a:srgbClr val="2E377E"/>
                </a:solidFill>
                <a:latin typeface="Georgia"/>
                <a:cs typeface="Georgia"/>
              </a:rPr>
              <a:t>new</a:t>
            </a:r>
            <a:r>
              <a:rPr sz="3600" spc="-20" dirty="0">
                <a:solidFill>
                  <a:srgbClr val="2E377E"/>
                </a:solidFill>
                <a:latin typeface="Georgia"/>
                <a:cs typeface="Georgia"/>
              </a:rPr>
              <a:t> </a:t>
            </a:r>
            <a:r>
              <a:rPr sz="3600" dirty="0">
                <a:solidFill>
                  <a:srgbClr val="2E377E"/>
                </a:solidFill>
                <a:latin typeface="Georgia"/>
                <a:cs typeface="Georgia"/>
              </a:rPr>
              <a:t>pod</a:t>
            </a:r>
            <a:r>
              <a:rPr sz="3600" spc="-25" dirty="0">
                <a:solidFill>
                  <a:srgbClr val="2E377E"/>
                </a:solidFill>
                <a:latin typeface="Georgia"/>
                <a:cs typeface="Georgia"/>
              </a:rPr>
              <a:t> </a:t>
            </a:r>
            <a:r>
              <a:rPr sz="3600" spc="65" dirty="0">
                <a:solidFill>
                  <a:srgbClr val="2E377E"/>
                </a:solidFill>
                <a:latin typeface="Georgia"/>
                <a:cs typeface="Georgia"/>
              </a:rPr>
              <a:t>was</a:t>
            </a:r>
            <a:r>
              <a:rPr sz="3600" spc="-20" dirty="0">
                <a:solidFill>
                  <a:srgbClr val="2E377E"/>
                </a:solidFill>
                <a:latin typeface="Georgia"/>
                <a:cs typeface="Georgia"/>
              </a:rPr>
              <a:t> </a:t>
            </a:r>
            <a:r>
              <a:rPr sz="3600" spc="-10" dirty="0">
                <a:solidFill>
                  <a:srgbClr val="2E377E"/>
                </a:solidFill>
                <a:latin typeface="Georgia"/>
                <a:cs typeface="Georgia"/>
              </a:rPr>
              <a:t>created </a:t>
            </a:r>
            <a:r>
              <a:rPr sz="3600" dirty="0">
                <a:solidFill>
                  <a:srgbClr val="2E377E"/>
                </a:solidFill>
                <a:latin typeface="Georgia"/>
                <a:cs typeface="Georgia"/>
              </a:rPr>
              <a:t>quickly.</a:t>
            </a:r>
            <a:r>
              <a:rPr sz="3600" spc="-35" dirty="0">
                <a:solidFill>
                  <a:srgbClr val="2E377E"/>
                </a:solidFill>
                <a:latin typeface="Georgia"/>
                <a:cs typeface="Georgia"/>
              </a:rPr>
              <a:t> </a:t>
            </a:r>
            <a:r>
              <a:rPr sz="3600" dirty="0">
                <a:solidFill>
                  <a:srgbClr val="2E377E"/>
                </a:solidFill>
                <a:latin typeface="Georgia"/>
                <a:cs typeface="Georgia"/>
              </a:rPr>
              <a:t>Now,</a:t>
            </a:r>
            <a:r>
              <a:rPr sz="3600" spc="-35" dirty="0">
                <a:solidFill>
                  <a:srgbClr val="2E377E"/>
                </a:solidFill>
                <a:latin typeface="Georgia"/>
                <a:cs typeface="Georgia"/>
              </a:rPr>
              <a:t> </a:t>
            </a:r>
            <a:r>
              <a:rPr sz="3600" spc="130" dirty="0">
                <a:solidFill>
                  <a:srgbClr val="2E377E"/>
                </a:solidFill>
                <a:latin typeface="Georgia"/>
                <a:cs typeface="Georgia"/>
              </a:rPr>
              <a:t>we</a:t>
            </a:r>
            <a:r>
              <a:rPr sz="3600" spc="-30" dirty="0">
                <a:solidFill>
                  <a:srgbClr val="2E377E"/>
                </a:solidFill>
                <a:latin typeface="Georgia"/>
                <a:cs typeface="Georgia"/>
              </a:rPr>
              <a:t> </a:t>
            </a:r>
            <a:r>
              <a:rPr sz="3600" dirty="0">
                <a:solidFill>
                  <a:srgbClr val="2E377E"/>
                </a:solidFill>
                <a:latin typeface="Georgia"/>
                <a:cs typeface="Georgia"/>
              </a:rPr>
              <a:t>have</a:t>
            </a:r>
            <a:r>
              <a:rPr sz="3600" spc="-35" dirty="0">
                <a:solidFill>
                  <a:srgbClr val="2E377E"/>
                </a:solidFill>
                <a:latin typeface="Georgia"/>
                <a:cs typeface="Georgia"/>
              </a:rPr>
              <a:t> </a:t>
            </a:r>
            <a:r>
              <a:rPr sz="3600" dirty="0">
                <a:solidFill>
                  <a:srgbClr val="2E377E"/>
                </a:solidFill>
                <a:latin typeface="Georgia"/>
                <a:cs typeface="Georgia"/>
              </a:rPr>
              <a:t>logged</a:t>
            </a:r>
            <a:r>
              <a:rPr sz="3600" spc="-35" dirty="0">
                <a:solidFill>
                  <a:srgbClr val="2E377E"/>
                </a:solidFill>
                <a:latin typeface="Georgia"/>
                <a:cs typeface="Georgia"/>
              </a:rPr>
              <a:t> </a:t>
            </a:r>
            <a:r>
              <a:rPr sz="3600" dirty="0">
                <a:solidFill>
                  <a:srgbClr val="2E377E"/>
                </a:solidFill>
                <a:latin typeface="Georgia"/>
                <a:cs typeface="Georgia"/>
              </a:rPr>
              <a:t>in</a:t>
            </a:r>
            <a:r>
              <a:rPr sz="3600" spc="-30" dirty="0">
                <a:solidFill>
                  <a:srgbClr val="2E377E"/>
                </a:solidFill>
                <a:latin typeface="Georgia"/>
                <a:cs typeface="Georgia"/>
              </a:rPr>
              <a:t> </a:t>
            </a:r>
            <a:r>
              <a:rPr sz="3600" spc="60" dirty="0">
                <a:solidFill>
                  <a:srgbClr val="2E377E"/>
                </a:solidFill>
                <a:latin typeface="Georgia"/>
                <a:cs typeface="Georgia"/>
              </a:rPr>
              <a:t>to</a:t>
            </a:r>
            <a:r>
              <a:rPr sz="3600" spc="-35" dirty="0">
                <a:solidFill>
                  <a:srgbClr val="2E377E"/>
                </a:solidFill>
                <a:latin typeface="Georgia"/>
                <a:cs typeface="Georgia"/>
              </a:rPr>
              <a:t> </a:t>
            </a:r>
            <a:r>
              <a:rPr sz="3600" spc="50" dirty="0">
                <a:solidFill>
                  <a:srgbClr val="2E377E"/>
                </a:solidFill>
                <a:latin typeface="Georgia"/>
                <a:cs typeface="Georgia"/>
              </a:rPr>
              <a:t>the</a:t>
            </a:r>
            <a:r>
              <a:rPr sz="3600" spc="-30" dirty="0">
                <a:solidFill>
                  <a:srgbClr val="2E377E"/>
                </a:solidFill>
                <a:latin typeface="Georgia"/>
                <a:cs typeface="Georgia"/>
              </a:rPr>
              <a:t> </a:t>
            </a:r>
            <a:r>
              <a:rPr sz="3600" spc="85" dirty="0">
                <a:solidFill>
                  <a:srgbClr val="2E377E"/>
                </a:solidFill>
                <a:latin typeface="Georgia"/>
                <a:cs typeface="Georgia"/>
              </a:rPr>
              <a:t>newly</a:t>
            </a:r>
            <a:r>
              <a:rPr sz="3600" spc="-35" dirty="0">
                <a:solidFill>
                  <a:srgbClr val="2E377E"/>
                </a:solidFill>
                <a:latin typeface="Georgia"/>
                <a:cs typeface="Georgia"/>
              </a:rPr>
              <a:t> </a:t>
            </a:r>
            <a:r>
              <a:rPr sz="3600" dirty="0">
                <a:solidFill>
                  <a:srgbClr val="2E377E"/>
                </a:solidFill>
                <a:latin typeface="Georgia"/>
                <a:cs typeface="Georgia"/>
              </a:rPr>
              <a:t>created</a:t>
            </a:r>
            <a:r>
              <a:rPr sz="3600" spc="-35" dirty="0">
                <a:solidFill>
                  <a:srgbClr val="2E377E"/>
                </a:solidFill>
                <a:latin typeface="Georgia"/>
                <a:cs typeface="Georgia"/>
              </a:rPr>
              <a:t> </a:t>
            </a:r>
            <a:r>
              <a:rPr sz="3600" dirty="0">
                <a:solidFill>
                  <a:srgbClr val="2E377E"/>
                </a:solidFill>
                <a:latin typeface="Georgia"/>
                <a:cs typeface="Georgia"/>
              </a:rPr>
              <a:t>pod</a:t>
            </a:r>
            <a:r>
              <a:rPr sz="3600" spc="-30" dirty="0">
                <a:solidFill>
                  <a:srgbClr val="2E377E"/>
                </a:solidFill>
                <a:latin typeface="Georgia"/>
                <a:cs typeface="Georgia"/>
              </a:rPr>
              <a:t> </a:t>
            </a:r>
            <a:r>
              <a:rPr sz="3600" dirty="0">
                <a:solidFill>
                  <a:srgbClr val="2E377E"/>
                </a:solidFill>
                <a:latin typeface="Georgia"/>
                <a:cs typeface="Georgia"/>
              </a:rPr>
              <a:t>and</a:t>
            </a:r>
            <a:r>
              <a:rPr sz="3600" spc="-35" dirty="0">
                <a:solidFill>
                  <a:srgbClr val="2E377E"/>
                </a:solidFill>
                <a:latin typeface="Georgia"/>
                <a:cs typeface="Georgia"/>
              </a:rPr>
              <a:t> </a:t>
            </a:r>
            <a:r>
              <a:rPr sz="3600" spc="45" dirty="0">
                <a:solidFill>
                  <a:srgbClr val="2E377E"/>
                </a:solidFill>
                <a:latin typeface="Georgia"/>
                <a:cs typeface="Georgia"/>
              </a:rPr>
              <a:t>checked</a:t>
            </a:r>
            <a:r>
              <a:rPr sz="3600" spc="-30" dirty="0">
                <a:solidFill>
                  <a:srgbClr val="2E377E"/>
                </a:solidFill>
                <a:latin typeface="Georgia"/>
                <a:cs typeface="Georgia"/>
              </a:rPr>
              <a:t> </a:t>
            </a:r>
            <a:r>
              <a:rPr sz="3600" dirty="0">
                <a:solidFill>
                  <a:srgbClr val="2E377E"/>
                </a:solidFill>
                <a:latin typeface="Georgia"/>
                <a:cs typeface="Georgia"/>
              </a:rPr>
              <a:t>for</a:t>
            </a:r>
            <a:r>
              <a:rPr sz="3600" spc="-35"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spc="-20" dirty="0">
                <a:solidFill>
                  <a:srgbClr val="2E377E"/>
                </a:solidFill>
                <a:latin typeface="Georgia"/>
                <a:cs typeface="Georgia"/>
              </a:rPr>
              <a:t>file </a:t>
            </a:r>
            <a:r>
              <a:rPr sz="3600" dirty="0">
                <a:solidFill>
                  <a:srgbClr val="2E377E"/>
                </a:solidFill>
                <a:latin typeface="Georgia"/>
                <a:cs typeface="Georgia"/>
              </a:rPr>
              <a:t>that</a:t>
            </a:r>
            <a:r>
              <a:rPr sz="3600" spc="10" dirty="0">
                <a:solidFill>
                  <a:srgbClr val="2E377E"/>
                </a:solidFill>
                <a:latin typeface="Georgia"/>
                <a:cs typeface="Georgia"/>
              </a:rPr>
              <a:t> </a:t>
            </a:r>
            <a:r>
              <a:rPr sz="3600" spc="130" dirty="0">
                <a:solidFill>
                  <a:srgbClr val="2E377E"/>
                </a:solidFill>
                <a:latin typeface="Georgia"/>
                <a:cs typeface="Georgia"/>
              </a:rPr>
              <a:t>we</a:t>
            </a:r>
            <a:r>
              <a:rPr sz="3600" spc="10" dirty="0">
                <a:solidFill>
                  <a:srgbClr val="2E377E"/>
                </a:solidFill>
                <a:latin typeface="Georgia"/>
                <a:cs typeface="Georgia"/>
              </a:rPr>
              <a:t> </a:t>
            </a:r>
            <a:r>
              <a:rPr sz="3600" dirty="0">
                <a:solidFill>
                  <a:srgbClr val="2E377E"/>
                </a:solidFill>
                <a:latin typeface="Georgia"/>
                <a:cs typeface="Georgia"/>
              </a:rPr>
              <a:t>created</a:t>
            </a:r>
            <a:r>
              <a:rPr sz="3600" spc="10"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previous</a:t>
            </a:r>
            <a:r>
              <a:rPr sz="3600" spc="10" dirty="0">
                <a:solidFill>
                  <a:srgbClr val="2E377E"/>
                </a:solidFill>
                <a:latin typeface="Georgia"/>
                <a:cs typeface="Georgia"/>
              </a:rPr>
              <a:t> </a:t>
            </a:r>
            <a:r>
              <a:rPr sz="3600" dirty="0">
                <a:solidFill>
                  <a:srgbClr val="2E377E"/>
                </a:solidFill>
                <a:latin typeface="Georgia"/>
                <a:cs typeface="Georgia"/>
              </a:rPr>
              <a:t>step,</a:t>
            </a:r>
            <a:r>
              <a:rPr sz="3600" spc="10"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dirty="0">
                <a:solidFill>
                  <a:srgbClr val="2E377E"/>
                </a:solidFill>
                <a:latin typeface="Georgia"/>
                <a:cs typeface="Georgia"/>
              </a:rPr>
              <a:t>as</a:t>
            </a:r>
            <a:r>
              <a:rPr sz="3600" spc="10" dirty="0">
                <a:solidFill>
                  <a:srgbClr val="2E377E"/>
                </a:solidFill>
                <a:latin typeface="Georgia"/>
                <a:cs typeface="Georgia"/>
              </a:rPr>
              <a:t> </a:t>
            </a:r>
            <a:r>
              <a:rPr sz="3600" spc="80" dirty="0">
                <a:solidFill>
                  <a:srgbClr val="2E377E"/>
                </a:solidFill>
                <a:latin typeface="Georgia"/>
                <a:cs typeface="Georgia"/>
              </a:rPr>
              <a:t>you</a:t>
            </a:r>
            <a:r>
              <a:rPr sz="3600" spc="10" dirty="0">
                <a:solidFill>
                  <a:srgbClr val="2E377E"/>
                </a:solidFill>
                <a:latin typeface="Georgia"/>
                <a:cs typeface="Georgia"/>
              </a:rPr>
              <a:t> </a:t>
            </a:r>
            <a:r>
              <a:rPr sz="3600" dirty="0">
                <a:solidFill>
                  <a:srgbClr val="2E377E"/>
                </a:solidFill>
                <a:latin typeface="Georgia"/>
                <a:cs typeface="Georgia"/>
              </a:rPr>
              <a:t>can</a:t>
            </a:r>
            <a:r>
              <a:rPr sz="3600" spc="15" dirty="0">
                <a:solidFill>
                  <a:srgbClr val="2E377E"/>
                </a:solidFill>
                <a:latin typeface="Georgia"/>
                <a:cs typeface="Georgia"/>
              </a:rPr>
              <a:t> </a:t>
            </a:r>
            <a:r>
              <a:rPr sz="3600" dirty="0">
                <a:solidFill>
                  <a:srgbClr val="2E377E"/>
                </a:solidFill>
                <a:latin typeface="Georgia"/>
                <a:cs typeface="Georgia"/>
              </a:rPr>
              <a:t>see</a:t>
            </a:r>
            <a:r>
              <a:rPr sz="3600" spc="10"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file</a:t>
            </a:r>
            <a:r>
              <a:rPr sz="3600" spc="10" dirty="0">
                <a:solidFill>
                  <a:srgbClr val="2E377E"/>
                </a:solidFill>
                <a:latin typeface="Georgia"/>
                <a:cs typeface="Georgia"/>
              </a:rPr>
              <a:t> </a:t>
            </a:r>
            <a:r>
              <a:rPr sz="3600" dirty="0">
                <a:solidFill>
                  <a:srgbClr val="2E377E"/>
                </a:solidFill>
                <a:latin typeface="Georgia"/>
                <a:cs typeface="Georgia"/>
              </a:rPr>
              <a:t>is</a:t>
            </a:r>
            <a:r>
              <a:rPr sz="3600" spc="15" dirty="0">
                <a:solidFill>
                  <a:srgbClr val="2E377E"/>
                </a:solidFill>
                <a:latin typeface="Georgia"/>
                <a:cs typeface="Georgia"/>
              </a:rPr>
              <a:t> </a:t>
            </a:r>
            <a:r>
              <a:rPr sz="3600" dirty="0">
                <a:solidFill>
                  <a:srgbClr val="2E377E"/>
                </a:solidFill>
                <a:latin typeface="Georgia"/>
                <a:cs typeface="Georgia"/>
              </a:rPr>
              <a:t>present</a:t>
            </a:r>
            <a:r>
              <a:rPr sz="3600" spc="10" dirty="0">
                <a:solidFill>
                  <a:srgbClr val="2E377E"/>
                </a:solidFill>
                <a:latin typeface="Georgia"/>
                <a:cs typeface="Georgia"/>
              </a:rPr>
              <a:t> </a:t>
            </a:r>
            <a:r>
              <a:rPr sz="3600" dirty="0">
                <a:solidFill>
                  <a:srgbClr val="2E377E"/>
                </a:solidFill>
                <a:latin typeface="Georgia"/>
                <a:cs typeface="Georgia"/>
              </a:rPr>
              <a:t>which</a:t>
            </a:r>
            <a:r>
              <a:rPr sz="3600" spc="10" dirty="0">
                <a:solidFill>
                  <a:srgbClr val="2E377E"/>
                </a:solidFill>
                <a:latin typeface="Georgia"/>
                <a:cs typeface="Georgia"/>
              </a:rPr>
              <a:t> </a:t>
            </a:r>
            <a:r>
              <a:rPr sz="3600" spc="-25" dirty="0">
                <a:solidFill>
                  <a:srgbClr val="2E377E"/>
                </a:solidFill>
                <a:latin typeface="Georgia"/>
                <a:cs typeface="Georgia"/>
              </a:rPr>
              <a:t>is </a:t>
            </a:r>
            <a:r>
              <a:rPr sz="3600" spc="-10" dirty="0">
                <a:solidFill>
                  <a:srgbClr val="2E377E"/>
                </a:solidFill>
                <a:latin typeface="Georgia"/>
                <a:cs typeface="Georgia"/>
              </a:rPr>
              <a:t>expected.</a:t>
            </a:r>
            <a:endParaRPr sz="3600">
              <a:latin typeface="Georgia"/>
              <a:cs typeface="Georgia"/>
            </a:endParaRPr>
          </a:p>
        </p:txBody>
      </p:sp>
      <p:sp>
        <p:nvSpPr>
          <p:cNvPr id="10" name="object 10"/>
          <p:cNvSpPr txBox="1">
            <a:spLocks noGrp="1"/>
          </p:cNvSpPr>
          <p:nvPr>
            <p:ph type="title"/>
          </p:nvPr>
        </p:nvSpPr>
        <p:spPr>
          <a:xfrm>
            <a:off x="912448" y="291450"/>
            <a:ext cx="16649065" cy="3785235"/>
          </a:xfrm>
          <a:prstGeom prst="rect">
            <a:avLst/>
          </a:prstGeom>
        </p:spPr>
        <p:txBody>
          <a:bodyPr vert="horz" wrap="square" lIns="0" tIns="22860" rIns="0" bIns="0" rtlCol="0">
            <a:spAutoFit/>
          </a:bodyPr>
          <a:lstStyle/>
          <a:p>
            <a:pPr marL="113030">
              <a:lnSpc>
                <a:spcPct val="100000"/>
              </a:lnSpc>
              <a:spcBef>
                <a:spcPts val="180"/>
              </a:spcBef>
            </a:pPr>
            <a:r>
              <a:rPr sz="4250" spc="60" dirty="0">
                <a:solidFill>
                  <a:srgbClr val="2E377E"/>
                </a:solidFill>
              </a:rPr>
              <a:t>Cluster</a:t>
            </a:r>
            <a:endParaRPr sz="4250"/>
          </a:p>
        </p:txBody>
      </p:sp>
      <p:sp>
        <p:nvSpPr>
          <p:cNvPr id="11" name="object 11"/>
          <p:cNvSpPr txBox="1"/>
          <p:nvPr/>
        </p:nvSpPr>
        <p:spPr>
          <a:xfrm>
            <a:off x="7609866" y="5042293"/>
            <a:ext cx="3257550" cy="1541780"/>
          </a:xfrm>
          <a:prstGeom prst="rect">
            <a:avLst/>
          </a:prstGeom>
          <a:solidFill>
            <a:srgbClr val="FFDE58"/>
          </a:solidFill>
        </p:spPr>
        <p:txBody>
          <a:bodyPr vert="horz" wrap="square" lIns="0" tIns="493395" rIns="0" bIns="0" rtlCol="0">
            <a:spAutoFit/>
          </a:bodyPr>
          <a:lstStyle/>
          <a:p>
            <a:pPr marL="1073150">
              <a:lnSpc>
                <a:spcPct val="100000"/>
              </a:lnSpc>
              <a:spcBef>
                <a:spcPts val="3885"/>
              </a:spcBef>
            </a:pPr>
            <a:r>
              <a:rPr sz="3600" b="1" spc="-25" dirty="0">
                <a:solidFill>
                  <a:srgbClr val="FF3131"/>
                </a:solidFill>
                <a:latin typeface="Times New Roman"/>
                <a:cs typeface="Times New Roman"/>
              </a:rPr>
              <a:t>EBS</a:t>
            </a:r>
            <a:endParaRPr sz="3600">
              <a:latin typeface="Times New Roman"/>
              <a:cs typeface="Times New Roman"/>
            </a:endParaRPr>
          </a:p>
        </p:txBody>
      </p:sp>
      <p:sp>
        <p:nvSpPr>
          <p:cNvPr id="12" name="object 12"/>
          <p:cNvSpPr txBox="1"/>
          <p:nvPr/>
        </p:nvSpPr>
        <p:spPr>
          <a:xfrm>
            <a:off x="1534179" y="1184240"/>
            <a:ext cx="4680585" cy="2388870"/>
          </a:xfrm>
          <a:prstGeom prst="rect">
            <a:avLst/>
          </a:prstGeom>
          <a:solidFill>
            <a:srgbClr val="326BE4"/>
          </a:solidFill>
        </p:spPr>
        <p:txBody>
          <a:bodyPr vert="horz" wrap="square" lIns="0" tIns="0" rIns="0" bIns="0" rtlCol="0">
            <a:spAutoFit/>
          </a:bodyPr>
          <a:lstStyle/>
          <a:p>
            <a:pPr marL="156210">
              <a:lnSpc>
                <a:spcPts val="4600"/>
              </a:lnSpc>
            </a:pPr>
            <a:r>
              <a:rPr sz="4250" b="1" spc="250" dirty="0">
                <a:solidFill>
                  <a:srgbClr val="FFFFFF"/>
                </a:solidFill>
                <a:latin typeface="Times New Roman"/>
                <a:cs typeface="Times New Roman"/>
              </a:rPr>
              <a:t>Node</a:t>
            </a:r>
            <a:endParaRPr sz="4250">
              <a:latin typeface="Times New Roman"/>
              <a:cs typeface="Times New Roman"/>
            </a:endParaRPr>
          </a:p>
        </p:txBody>
      </p:sp>
      <p:sp>
        <p:nvSpPr>
          <p:cNvPr id="13" name="object 13"/>
          <p:cNvSpPr txBox="1"/>
          <p:nvPr/>
        </p:nvSpPr>
        <p:spPr>
          <a:xfrm>
            <a:off x="2364249" y="1987242"/>
            <a:ext cx="3026410" cy="1105535"/>
          </a:xfrm>
          <a:prstGeom prst="rect">
            <a:avLst/>
          </a:prstGeom>
          <a:solidFill>
            <a:srgbClr val="FF904D"/>
          </a:solidFill>
        </p:spPr>
        <p:txBody>
          <a:bodyPr vert="horz" wrap="square" lIns="0" tIns="133350" rIns="0" bIns="0" rtlCol="0">
            <a:spAutoFit/>
          </a:bodyPr>
          <a:lstStyle/>
          <a:p>
            <a:pPr marL="865505">
              <a:lnSpc>
                <a:spcPct val="100000"/>
              </a:lnSpc>
              <a:spcBef>
                <a:spcPts val="1050"/>
              </a:spcBef>
            </a:pPr>
            <a:r>
              <a:rPr sz="4250" b="1" spc="120" dirty="0">
                <a:solidFill>
                  <a:srgbClr val="FFFFFF"/>
                </a:solidFill>
                <a:latin typeface="Times New Roman"/>
                <a:cs typeface="Times New Roman"/>
              </a:rPr>
              <a:t>Pod</a:t>
            </a:r>
            <a:endParaRPr sz="4250">
              <a:latin typeface="Times New Roman"/>
              <a:cs typeface="Times New Roman"/>
            </a:endParaRPr>
          </a:p>
        </p:txBody>
      </p:sp>
      <p:sp>
        <p:nvSpPr>
          <p:cNvPr id="14" name="object 14"/>
          <p:cNvSpPr txBox="1"/>
          <p:nvPr/>
        </p:nvSpPr>
        <p:spPr>
          <a:xfrm>
            <a:off x="7740550" y="1987242"/>
            <a:ext cx="3026410" cy="1105535"/>
          </a:xfrm>
          <a:prstGeom prst="rect">
            <a:avLst/>
          </a:prstGeom>
          <a:solidFill>
            <a:srgbClr val="FF904D"/>
          </a:solidFill>
        </p:spPr>
        <p:txBody>
          <a:bodyPr vert="horz" wrap="square" lIns="0" tIns="133350" rIns="0" bIns="0" rtlCol="0">
            <a:spAutoFit/>
          </a:bodyPr>
          <a:lstStyle/>
          <a:p>
            <a:pPr marL="864235">
              <a:lnSpc>
                <a:spcPct val="100000"/>
              </a:lnSpc>
              <a:spcBef>
                <a:spcPts val="1050"/>
              </a:spcBef>
            </a:pPr>
            <a:r>
              <a:rPr sz="4250" b="1" spc="120" dirty="0">
                <a:solidFill>
                  <a:srgbClr val="FFFFFF"/>
                </a:solidFill>
                <a:latin typeface="Times New Roman"/>
                <a:cs typeface="Times New Roman"/>
              </a:rPr>
              <a:t>Pod</a:t>
            </a:r>
            <a:endParaRPr sz="4250">
              <a:latin typeface="Times New Roman"/>
              <a:cs typeface="Times New Roman"/>
            </a:endParaRPr>
          </a:p>
        </p:txBody>
      </p:sp>
      <p:sp>
        <p:nvSpPr>
          <p:cNvPr id="15" name="object 15"/>
          <p:cNvSpPr txBox="1"/>
          <p:nvPr/>
        </p:nvSpPr>
        <p:spPr>
          <a:xfrm>
            <a:off x="13116852" y="1987242"/>
            <a:ext cx="3026410" cy="1105535"/>
          </a:xfrm>
          <a:prstGeom prst="rect">
            <a:avLst/>
          </a:prstGeom>
          <a:solidFill>
            <a:srgbClr val="FF904D"/>
          </a:solidFill>
        </p:spPr>
        <p:txBody>
          <a:bodyPr vert="horz" wrap="square" lIns="0" tIns="133350" rIns="0" bIns="0" rtlCol="0">
            <a:spAutoFit/>
          </a:bodyPr>
          <a:lstStyle/>
          <a:p>
            <a:pPr marL="862330">
              <a:lnSpc>
                <a:spcPct val="100000"/>
              </a:lnSpc>
              <a:spcBef>
                <a:spcPts val="1050"/>
              </a:spcBef>
            </a:pPr>
            <a:r>
              <a:rPr sz="4250" b="1" spc="120" dirty="0">
                <a:solidFill>
                  <a:srgbClr val="FFFFFF"/>
                </a:solidFill>
                <a:latin typeface="Times New Roman"/>
                <a:cs typeface="Times New Roman"/>
              </a:rPr>
              <a:t>Pod</a:t>
            </a:r>
            <a:endParaRPr sz="4250">
              <a:latin typeface="Times New Roman"/>
              <a:cs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79918" y="366397"/>
            <a:ext cx="2325370" cy="574040"/>
          </a:xfrm>
          <a:prstGeom prst="rect">
            <a:avLst/>
          </a:prstGeom>
        </p:spPr>
        <p:txBody>
          <a:bodyPr vert="horz" wrap="square" lIns="0" tIns="12700" rIns="0" bIns="0" rtlCol="0">
            <a:spAutoFit/>
          </a:bodyPr>
          <a:lstStyle/>
          <a:p>
            <a:pPr marL="12700">
              <a:lnSpc>
                <a:spcPct val="100000"/>
              </a:lnSpc>
              <a:spcBef>
                <a:spcPts val="100"/>
              </a:spcBef>
            </a:pPr>
            <a:r>
              <a:rPr sz="3600" spc="210" dirty="0">
                <a:solidFill>
                  <a:srgbClr val="2E377E"/>
                </a:solidFill>
                <a:latin typeface="Times New Roman"/>
                <a:cs typeface="Times New Roman"/>
              </a:rPr>
              <a:t>vim</a:t>
            </a:r>
            <a:r>
              <a:rPr sz="3600" spc="-120" dirty="0">
                <a:solidFill>
                  <a:srgbClr val="2E377E"/>
                </a:solidFill>
                <a:latin typeface="Times New Roman"/>
                <a:cs typeface="Times New Roman"/>
              </a:rPr>
              <a:t> </a:t>
            </a:r>
            <a:r>
              <a:rPr sz="3600" spc="140" dirty="0">
                <a:solidFill>
                  <a:srgbClr val="2E377E"/>
                </a:solidFill>
                <a:latin typeface="Times New Roman"/>
                <a:cs typeface="Times New Roman"/>
              </a:rPr>
              <a:t>pv.yml</a:t>
            </a:r>
            <a:endParaRPr sz="3600">
              <a:latin typeface="Times New Roman"/>
              <a:cs typeface="Times New Roman"/>
            </a:endParaRPr>
          </a:p>
        </p:txBody>
      </p:sp>
      <p:sp>
        <p:nvSpPr>
          <p:cNvPr id="3" name="object 3"/>
          <p:cNvSpPr txBox="1"/>
          <p:nvPr/>
        </p:nvSpPr>
        <p:spPr>
          <a:xfrm>
            <a:off x="479918" y="1553212"/>
            <a:ext cx="7493000" cy="7683500"/>
          </a:xfrm>
          <a:prstGeom prst="rect">
            <a:avLst/>
          </a:prstGeom>
        </p:spPr>
        <p:txBody>
          <a:bodyPr vert="horz" wrap="square" lIns="0" tIns="102235" rIns="0" bIns="0" rtlCol="0">
            <a:spAutoFit/>
          </a:bodyPr>
          <a:lstStyle/>
          <a:p>
            <a:pPr marL="12700">
              <a:lnSpc>
                <a:spcPct val="100000"/>
              </a:lnSpc>
              <a:spcBef>
                <a:spcPts val="805"/>
              </a:spcBef>
            </a:pPr>
            <a:r>
              <a:rPr sz="3600" spc="-20" dirty="0">
                <a:solidFill>
                  <a:srgbClr val="2E377E"/>
                </a:solidFill>
                <a:latin typeface="Georgia"/>
                <a:cs typeface="Georgia"/>
              </a:rPr>
              <a:t>apiVersion:</a:t>
            </a:r>
            <a:r>
              <a:rPr sz="3600" spc="-120" dirty="0">
                <a:solidFill>
                  <a:srgbClr val="2E377E"/>
                </a:solidFill>
                <a:latin typeface="Georgia"/>
                <a:cs typeface="Georgia"/>
              </a:rPr>
              <a:t> </a:t>
            </a:r>
            <a:r>
              <a:rPr sz="3600" spc="45" dirty="0">
                <a:solidFill>
                  <a:srgbClr val="2E377E"/>
                </a:solidFill>
                <a:latin typeface="Georgia"/>
                <a:cs typeface="Georgia"/>
              </a:rPr>
              <a:t>v1</a:t>
            </a:r>
            <a:endParaRPr sz="3600" dirty="0">
              <a:latin typeface="Georgia"/>
              <a:cs typeface="Georgia"/>
            </a:endParaRPr>
          </a:p>
          <a:p>
            <a:pPr marL="12700" marR="2672080">
              <a:lnSpc>
                <a:spcPct val="116300"/>
              </a:lnSpc>
            </a:pPr>
            <a:r>
              <a:rPr sz="3600" spc="-10" dirty="0">
                <a:solidFill>
                  <a:srgbClr val="2E377E"/>
                </a:solidFill>
                <a:latin typeface="Georgia"/>
                <a:cs typeface="Georgia"/>
              </a:rPr>
              <a:t>kind:</a:t>
            </a:r>
            <a:r>
              <a:rPr sz="3600" spc="-170" dirty="0">
                <a:solidFill>
                  <a:srgbClr val="2E377E"/>
                </a:solidFill>
                <a:latin typeface="Georgia"/>
                <a:cs typeface="Georgia"/>
              </a:rPr>
              <a:t> </a:t>
            </a:r>
            <a:r>
              <a:rPr sz="3600" spc="-10" dirty="0">
                <a:solidFill>
                  <a:srgbClr val="2E377E"/>
                </a:solidFill>
                <a:latin typeface="Georgia"/>
                <a:cs typeface="Georgia"/>
              </a:rPr>
              <a:t>PersistentVolume metadata:</a:t>
            </a:r>
            <a:endParaRPr sz="3600" dirty="0">
              <a:latin typeface="Georgia"/>
              <a:cs typeface="Georgia"/>
            </a:endParaRPr>
          </a:p>
          <a:p>
            <a:pPr marL="12700" marR="4570095" indent="200660">
              <a:lnSpc>
                <a:spcPct val="116300"/>
              </a:lnSpc>
            </a:pPr>
            <a:r>
              <a:rPr sz="3600" spc="-20" dirty="0">
                <a:solidFill>
                  <a:srgbClr val="2E377E"/>
                </a:solidFill>
                <a:latin typeface="Georgia"/>
                <a:cs typeface="Georgia"/>
              </a:rPr>
              <a:t>name:</a:t>
            </a:r>
            <a:r>
              <a:rPr sz="3600" spc="-170" dirty="0">
                <a:solidFill>
                  <a:srgbClr val="2E377E"/>
                </a:solidFill>
                <a:latin typeface="Georgia"/>
                <a:cs typeface="Georgia"/>
              </a:rPr>
              <a:t> </a:t>
            </a:r>
            <a:r>
              <a:rPr sz="3600" spc="65" dirty="0">
                <a:solidFill>
                  <a:srgbClr val="2E377E"/>
                </a:solidFill>
                <a:latin typeface="Georgia"/>
                <a:cs typeface="Georgia"/>
              </a:rPr>
              <a:t>my-pv </a:t>
            </a:r>
            <a:r>
              <a:rPr sz="3600" spc="-10" dirty="0">
                <a:solidFill>
                  <a:srgbClr val="2E377E"/>
                </a:solidFill>
                <a:latin typeface="Georgia"/>
                <a:cs typeface="Georgia"/>
              </a:rPr>
              <a:t>spec:</a:t>
            </a:r>
            <a:endParaRPr sz="3600" dirty="0">
              <a:latin typeface="Georgia"/>
              <a:cs typeface="Georgia"/>
            </a:endParaRPr>
          </a:p>
          <a:p>
            <a:pPr marL="414655" marR="4437380" indent="-201295">
              <a:lnSpc>
                <a:spcPct val="116300"/>
              </a:lnSpc>
            </a:pPr>
            <a:r>
              <a:rPr sz="3600" spc="-10" dirty="0">
                <a:solidFill>
                  <a:srgbClr val="2E377E"/>
                </a:solidFill>
                <a:latin typeface="Georgia"/>
                <a:cs typeface="Georgia"/>
              </a:rPr>
              <a:t>capacity: </a:t>
            </a:r>
            <a:r>
              <a:rPr sz="3600" dirty="0">
                <a:solidFill>
                  <a:srgbClr val="2E377E"/>
                </a:solidFill>
                <a:latin typeface="Georgia"/>
                <a:cs typeface="Georgia"/>
              </a:rPr>
              <a:t>storage:</a:t>
            </a:r>
            <a:r>
              <a:rPr sz="3600" spc="-125" dirty="0">
                <a:solidFill>
                  <a:srgbClr val="2E377E"/>
                </a:solidFill>
                <a:latin typeface="Georgia"/>
                <a:cs typeface="Georgia"/>
              </a:rPr>
              <a:t> </a:t>
            </a:r>
            <a:r>
              <a:rPr sz="3600" spc="-55" dirty="0">
                <a:solidFill>
                  <a:srgbClr val="2E377E"/>
                </a:solidFill>
                <a:latin typeface="Georgia"/>
                <a:cs typeface="Georgia"/>
              </a:rPr>
              <a:t>10Gi</a:t>
            </a:r>
            <a:endParaRPr sz="3600" dirty="0">
              <a:latin typeface="Georgia"/>
              <a:cs typeface="Georgia"/>
            </a:endParaRPr>
          </a:p>
          <a:p>
            <a:pPr marL="213360">
              <a:lnSpc>
                <a:spcPct val="100000"/>
              </a:lnSpc>
              <a:spcBef>
                <a:spcPts val="705"/>
              </a:spcBef>
            </a:pPr>
            <a:r>
              <a:rPr sz="3600" spc="-10" dirty="0">
                <a:solidFill>
                  <a:srgbClr val="2E377E"/>
                </a:solidFill>
                <a:latin typeface="Georgia"/>
                <a:cs typeface="Georgia"/>
              </a:rPr>
              <a:t>accessModes:</a:t>
            </a:r>
            <a:endParaRPr sz="3600" dirty="0">
              <a:latin typeface="Georgia"/>
              <a:cs typeface="Georgia"/>
            </a:endParaRPr>
          </a:p>
          <a:p>
            <a:pPr marL="213360" marR="2790190" indent="200660">
              <a:lnSpc>
                <a:spcPct val="116300"/>
              </a:lnSpc>
            </a:pPr>
            <a:r>
              <a:rPr sz="3600" dirty="0">
                <a:solidFill>
                  <a:srgbClr val="2E377E"/>
                </a:solidFill>
                <a:latin typeface="Georgia"/>
                <a:cs typeface="Georgia"/>
              </a:rPr>
              <a:t>-</a:t>
            </a:r>
            <a:r>
              <a:rPr sz="3600" spc="-65" dirty="0">
                <a:solidFill>
                  <a:srgbClr val="2E377E"/>
                </a:solidFill>
                <a:latin typeface="Georgia"/>
                <a:cs typeface="Georgia"/>
              </a:rPr>
              <a:t> </a:t>
            </a:r>
            <a:r>
              <a:rPr sz="3600" spc="-10" dirty="0">
                <a:solidFill>
                  <a:srgbClr val="2E377E"/>
                </a:solidFill>
                <a:latin typeface="Georgia"/>
                <a:cs typeface="Georgia"/>
              </a:rPr>
              <a:t>ReadWriteOnce awsElasticBlockStore:</a:t>
            </a:r>
            <a:endParaRPr sz="3600" dirty="0">
              <a:latin typeface="Georgia"/>
              <a:cs typeface="Georgia"/>
            </a:endParaRPr>
          </a:p>
          <a:p>
            <a:pPr marL="414655" marR="5080">
              <a:lnSpc>
                <a:spcPct val="116300"/>
              </a:lnSpc>
              <a:spcBef>
                <a:spcPts val="5"/>
              </a:spcBef>
            </a:pPr>
            <a:r>
              <a:rPr sz="3600" spc="-10" dirty="0">
                <a:solidFill>
                  <a:srgbClr val="2E377E"/>
                </a:solidFill>
                <a:latin typeface="Georgia"/>
                <a:cs typeface="Georgia"/>
              </a:rPr>
              <a:t>volumeID: </a:t>
            </a:r>
            <a:r>
              <a:rPr sz="3600" dirty="0">
                <a:solidFill>
                  <a:srgbClr val="2E377E"/>
                </a:solidFill>
                <a:latin typeface="Georgia"/>
                <a:cs typeface="Georgia"/>
              </a:rPr>
              <a:t>vol-</a:t>
            </a:r>
            <a:r>
              <a:rPr sz="3600" spc="-95" dirty="0">
                <a:solidFill>
                  <a:srgbClr val="2E377E"/>
                </a:solidFill>
                <a:latin typeface="Georgia"/>
                <a:cs typeface="Georgia"/>
              </a:rPr>
              <a:t>0e5bdf9400dbb7b57 </a:t>
            </a:r>
            <a:r>
              <a:rPr sz="3600" dirty="0">
                <a:solidFill>
                  <a:srgbClr val="2E377E"/>
                </a:solidFill>
                <a:latin typeface="Georgia"/>
                <a:cs typeface="Georgia"/>
              </a:rPr>
              <a:t>fsType:</a:t>
            </a:r>
            <a:r>
              <a:rPr sz="3600" spc="-110" dirty="0">
                <a:solidFill>
                  <a:srgbClr val="2E377E"/>
                </a:solidFill>
                <a:latin typeface="Georgia"/>
                <a:cs typeface="Georgia"/>
              </a:rPr>
              <a:t> </a:t>
            </a:r>
            <a:r>
              <a:rPr sz="3600" spc="-20" dirty="0">
                <a:solidFill>
                  <a:srgbClr val="2E377E"/>
                </a:solidFill>
                <a:latin typeface="Georgia"/>
                <a:cs typeface="Georgia"/>
              </a:rPr>
              <a:t>ext4</a:t>
            </a:r>
            <a:endParaRPr sz="3600" dirty="0">
              <a:latin typeface="Georgia"/>
              <a:cs typeface="Georgia"/>
            </a:endParaRPr>
          </a:p>
        </p:txBody>
      </p:sp>
      <p:sp>
        <p:nvSpPr>
          <p:cNvPr id="4" name="object 4"/>
          <p:cNvSpPr txBox="1"/>
          <p:nvPr/>
        </p:nvSpPr>
        <p:spPr>
          <a:xfrm>
            <a:off x="10121554" y="-48892"/>
            <a:ext cx="2541270" cy="574040"/>
          </a:xfrm>
          <a:prstGeom prst="rect">
            <a:avLst/>
          </a:prstGeom>
        </p:spPr>
        <p:txBody>
          <a:bodyPr vert="horz" wrap="square" lIns="0" tIns="12700" rIns="0" bIns="0" rtlCol="0">
            <a:spAutoFit/>
          </a:bodyPr>
          <a:lstStyle/>
          <a:p>
            <a:pPr marL="12700">
              <a:lnSpc>
                <a:spcPct val="100000"/>
              </a:lnSpc>
              <a:spcBef>
                <a:spcPts val="100"/>
              </a:spcBef>
            </a:pPr>
            <a:r>
              <a:rPr sz="3600" spc="210" dirty="0">
                <a:solidFill>
                  <a:srgbClr val="2E377E"/>
                </a:solidFill>
                <a:latin typeface="Times New Roman"/>
                <a:cs typeface="Times New Roman"/>
              </a:rPr>
              <a:t>vim</a:t>
            </a:r>
            <a:r>
              <a:rPr sz="3600" spc="-120" dirty="0">
                <a:solidFill>
                  <a:srgbClr val="2E377E"/>
                </a:solidFill>
                <a:latin typeface="Times New Roman"/>
                <a:cs typeface="Times New Roman"/>
              </a:rPr>
              <a:t> </a:t>
            </a:r>
            <a:r>
              <a:rPr sz="3600" spc="130" dirty="0">
                <a:solidFill>
                  <a:srgbClr val="2E377E"/>
                </a:solidFill>
                <a:latin typeface="Times New Roman"/>
                <a:cs typeface="Times New Roman"/>
              </a:rPr>
              <a:t>pvc.yml</a:t>
            </a:r>
            <a:endParaRPr sz="3600">
              <a:latin typeface="Times New Roman"/>
              <a:cs typeface="Times New Roman"/>
            </a:endParaRPr>
          </a:p>
        </p:txBody>
      </p:sp>
      <p:sp>
        <p:nvSpPr>
          <p:cNvPr id="5" name="object 5"/>
          <p:cNvSpPr txBox="1"/>
          <p:nvPr/>
        </p:nvSpPr>
        <p:spPr>
          <a:xfrm>
            <a:off x="10121554" y="1137922"/>
            <a:ext cx="6015355" cy="6407150"/>
          </a:xfrm>
          <a:prstGeom prst="rect">
            <a:avLst/>
          </a:prstGeom>
        </p:spPr>
        <p:txBody>
          <a:bodyPr vert="horz" wrap="square" lIns="0" tIns="102235" rIns="0" bIns="0" rtlCol="0">
            <a:spAutoFit/>
          </a:bodyPr>
          <a:lstStyle/>
          <a:p>
            <a:pPr marL="12700">
              <a:lnSpc>
                <a:spcPct val="100000"/>
              </a:lnSpc>
              <a:spcBef>
                <a:spcPts val="805"/>
              </a:spcBef>
            </a:pPr>
            <a:r>
              <a:rPr sz="3600" spc="-20" dirty="0">
                <a:solidFill>
                  <a:srgbClr val="2E377E"/>
                </a:solidFill>
                <a:latin typeface="Georgia"/>
                <a:cs typeface="Georgia"/>
              </a:rPr>
              <a:t>apiVersion:</a:t>
            </a:r>
            <a:r>
              <a:rPr sz="3600" spc="-120" dirty="0">
                <a:solidFill>
                  <a:srgbClr val="2E377E"/>
                </a:solidFill>
                <a:latin typeface="Georgia"/>
                <a:cs typeface="Georgia"/>
              </a:rPr>
              <a:t> </a:t>
            </a:r>
            <a:r>
              <a:rPr sz="3600" spc="45" dirty="0">
                <a:solidFill>
                  <a:srgbClr val="2E377E"/>
                </a:solidFill>
                <a:latin typeface="Georgia"/>
                <a:cs typeface="Georgia"/>
              </a:rPr>
              <a:t>v1</a:t>
            </a:r>
            <a:endParaRPr sz="3600">
              <a:latin typeface="Georgia"/>
              <a:cs typeface="Georgia"/>
            </a:endParaRPr>
          </a:p>
          <a:p>
            <a:pPr marL="12700" marR="5080">
              <a:lnSpc>
                <a:spcPct val="116300"/>
              </a:lnSpc>
            </a:pPr>
            <a:r>
              <a:rPr sz="3600" spc="-10" dirty="0">
                <a:solidFill>
                  <a:srgbClr val="2E377E"/>
                </a:solidFill>
                <a:latin typeface="Georgia"/>
                <a:cs typeface="Georgia"/>
              </a:rPr>
              <a:t>kind:</a:t>
            </a:r>
            <a:r>
              <a:rPr sz="3600" spc="-170" dirty="0">
                <a:solidFill>
                  <a:srgbClr val="2E377E"/>
                </a:solidFill>
                <a:latin typeface="Georgia"/>
                <a:cs typeface="Georgia"/>
              </a:rPr>
              <a:t> </a:t>
            </a:r>
            <a:r>
              <a:rPr sz="3600" spc="-10" dirty="0">
                <a:solidFill>
                  <a:srgbClr val="2E377E"/>
                </a:solidFill>
                <a:latin typeface="Georgia"/>
                <a:cs typeface="Georgia"/>
              </a:rPr>
              <a:t>PersistentVolumeClaim metadata:</a:t>
            </a:r>
            <a:endParaRPr sz="3600">
              <a:latin typeface="Georgia"/>
              <a:cs typeface="Georgia"/>
            </a:endParaRPr>
          </a:p>
          <a:p>
            <a:pPr marL="12700" marR="2876550" indent="200660">
              <a:lnSpc>
                <a:spcPct val="116300"/>
              </a:lnSpc>
            </a:pPr>
            <a:r>
              <a:rPr sz="3600" spc="-20" dirty="0">
                <a:solidFill>
                  <a:srgbClr val="2E377E"/>
                </a:solidFill>
                <a:latin typeface="Georgia"/>
                <a:cs typeface="Georgia"/>
              </a:rPr>
              <a:t>name:</a:t>
            </a:r>
            <a:r>
              <a:rPr sz="3600" spc="-170" dirty="0">
                <a:solidFill>
                  <a:srgbClr val="2E377E"/>
                </a:solidFill>
                <a:latin typeface="Georgia"/>
                <a:cs typeface="Georgia"/>
              </a:rPr>
              <a:t> </a:t>
            </a:r>
            <a:r>
              <a:rPr sz="3600" spc="65" dirty="0">
                <a:solidFill>
                  <a:srgbClr val="2E377E"/>
                </a:solidFill>
                <a:latin typeface="Georgia"/>
                <a:cs typeface="Georgia"/>
              </a:rPr>
              <a:t>my-</a:t>
            </a:r>
            <a:r>
              <a:rPr sz="3600" spc="50" dirty="0">
                <a:solidFill>
                  <a:srgbClr val="2E377E"/>
                </a:solidFill>
                <a:latin typeface="Georgia"/>
                <a:cs typeface="Georgia"/>
              </a:rPr>
              <a:t>pvc </a:t>
            </a:r>
            <a:r>
              <a:rPr sz="3600" spc="-10" dirty="0">
                <a:solidFill>
                  <a:srgbClr val="2E377E"/>
                </a:solidFill>
                <a:latin typeface="Georgia"/>
                <a:cs typeface="Georgia"/>
              </a:rPr>
              <a:t>spec:</a:t>
            </a:r>
            <a:endParaRPr sz="3600">
              <a:latin typeface="Georgia"/>
              <a:cs typeface="Georgia"/>
            </a:endParaRPr>
          </a:p>
          <a:p>
            <a:pPr marL="213360">
              <a:lnSpc>
                <a:spcPct val="100000"/>
              </a:lnSpc>
              <a:spcBef>
                <a:spcPts val="705"/>
              </a:spcBef>
            </a:pPr>
            <a:r>
              <a:rPr sz="3600" spc="-10" dirty="0">
                <a:solidFill>
                  <a:srgbClr val="2E377E"/>
                </a:solidFill>
                <a:latin typeface="Georgia"/>
                <a:cs typeface="Georgia"/>
              </a:rPr>
              <a:t>accessModes:</a:t>
            </a:r>
            <a:endParaRPr sz="3600">
              <a:latin typeface="Georgia"/>
              <a:cs typeface="Georgia"/>
            </a:endParaRPr>
          </a:p>
          <a:p>
            <a:pPr marL="213360" marR="2086610" indent="200660">
              <a:lnSpc>
                <a:spcPct val="116300"/>
              </a:lnSpc>
            </a:pPr>
            <a:r>
              <a:rPr sz="3600" dirty="0">
                <a:solidFill>
                  <a:srgbClr val="2E377E"/>
                </a:solidFill>
                <a:latin typeface="Georgia"/>
                <a:cs typeface="Georgia"/>
              </a:rPr>
              <a:t>-</a:t>
            </a:r>
            <a:r>
              <a:rPr sz="3600" spc="-65" dirty="0">
                <a:solidFill>
                  <a:srgbClr val="2E377E"/>
                </a:solidFill>
                <a:latin typeface="Georgia"/>
                <a:cs typeface="Georgia"/>
              </a:rPr>
              <a:t> </a:t>
            </a:r>
            <a:r>
              <a:rPr sz="3600" spc="-10" dirty="0">
                <a:solidFill>
                  <a:srgbClr val="2E377E"/>
                </a:solidFill>
                <a:latin typeface="Georgia"/>
                <a:cs typeface="Georgia"/>
              </a:rPr>
              <a:t>ReadWriteOnce resources:</a:t>
            </a:r>
            <a:endParaRPr sz="3600">
              <a:latin typeface="Georgia"/>
              <a:cs typeface="Georgia"/>
            </a:endParaRPr>
          </a:p>
          <a:p>
            <a:pPr marL="615950" marR="2759075" indent="-201295">
              <a:lnSpc>
                <a:spcPct val="116300"/>
              </a:lnSpc>
            </a:pPr>
            <a:r>
              <a:rPr sz="3600" spc="-10" dirty="0">
                <a:solidFill>
                  <a:srgbClr val="2E377E"/>
                </a:solidFill>
                <a:latin typeface="Georgia"/>
                <a:cs typeface="Georgia"/>
              </a:rPr>
              <a:t>requests: </a:t>
            </a:r>
            <a:r>
              <a:rPr sz="3600" dirty="0">
                <a:solidFill>
                  <a:srgbClr val="2E377E"/>
                </a:solidFill>
                <a:latin typeface="Georgia"/>
                <a:cs typeface="Georgia"/>
              </a:rPr>
              <a:t>storage:</a:t>
            </a:r>
            <a:r>
              <a:rPr sz="3600" spc="-125" dirty="0">
                <a:solidFill>
                  <a:srgbClr val="2E377E"/>
                </a:solidFill>
                <a:latin typeface="Georgia"/>
                <a:cs typeface="Georgia"/>
              </a:rPr>
              <a:t> </a:t>
            </a:r>
            <a:r>
              <a:rPr sz="3600" spc="-55" dirty="0">
                <a:solidFill>
                  <a:srgbClr val="2E377E"/>
                </a:solidFill>
                <a:latin typeface="Georgia"/>
                <a:cs typeface="Georgia"/>
              </a:rPr>
              <a:t>10Gi</a:t>
            </a:r>
            <a:endParaRPr sz="3600">
              <a:latin typeface="Georgia"/>
              <a:cs typeface="Georgia"/>
            </a:endParaRPr>
          </a:p>
        </p:txBody>
      </p:sp>
      <p:sp>
        <p:nvSpPr>
          <p:cNvPr id="6" name="object 6"/>
          <p:cNvSpPr txBox="1"/>
          <p:nvPr/>
        </p:nvSpPr>
        <p:spPr>
          <a:xfrm>
            <a:off x="10982064" y="8208327"/>
            <a:ext cx="4948555" cy="1939925"/>
          </a:xfrm>
          <a:prstGeom prst="rect">
            <a:avLst/>
          </a:prstGeom>
        </p:spPr>
        <p:txBody>
          <a:bodyPr vert="horz" wrap="square" lIns="0" tIns="12700" rIns="0" bIns="0" rtlCol="0">
            <a:spAutoFit/>
          </a:bodyPr>
          <a:lstStyle/>
          <a:p>
            <a:pPr marL="12700" marR="5080">
              <a:lnSpc>
                <a:spcPct val="116300"/>
              </a:lnSpc>
              <a:spcBef>
                <a:spcPts val="100"/>
              </a:spcBef>
            </a:pPr>
            <a:r>
              <a:rPr sz="3600" spc="195" dirty="0">
                <a:solidFill>
                  <a:srgbClr val="2E377E"/>
                </a:solidFill>
                <a:latin typeface="Times New Roman"/>
                <a:cs typeface="Times New Roman"/>
              </a:rPr>
              <a:t>kubectl</a:t>
            </a:r>
            <a:r>
              <a:rPr sz="3600" spc="-110" dirty="0">
                <a:solidFill>
                  <a:srgbClr val="2E377E"/>
                </a:solidFill>
                <a:latin typeface="Times New Roman"/>
                <a:cs typeface="Times New Roman"/>
              </a:rPr>
              <a:t> </a:t>
            </a:r>
            <a:r>
              <a:rPr sz="3600" spc="180" dirty="0">
                <a:solidFill>
                  <a:srgbClr val="2E377E"/>
                </a:solidFill>
                <a:latin typeface="Times New Roman"/>
                <a:cs typeface="Times New Roman"/>
              </a:rPr>
              <a:t>apply</a:t>
            </a:r>
            <a:r>
              <a:rPr sz="3600" spc="-110" dirty="0">
                <a:solidFill>
                  <a:srgbClr val="2E377E"/>
                </a:solidFill>
                <a:latin typeface="Times New Roman"/>
                <a:cs typeface="Times New Roman"/>
              </a:rPr>
              <a:t> </a:t>
            </a:r>
            <a:r>
              <a:rPr sz="3600" spc="165" dirty="0">
                <a:solidFill>
                  <a:srgbClr val="2E377E"/>
                </a:solidFill>
                <a:latin typeface="Times New Roman"/>
                <a:cs typeface="Times New Roman"/>
              </a:rPr>
              <a:t>-</a:t>
            </a:r>
            <a:r>
              <a:rPr sz="3600" dirty="0">
                <a:solidFill>
                  <a:srgbClr val="2E377E"/>
                </a:solidFill>
                <a:latin typeface="Times New Roman"/>
                <a:cs typeface="Times New Roman"/>
              </a:rPr>
              <a:t>f</a:t>
            </a:r>
            <a:r>
              <a:rPr sz="3600" spc="-105" dirty="0">
                <a:solidFill>
                  <a:srgbClr val="2E377E"/>
                </a:solidFill>
                <a:latin typeface="Times New Roman"/>
                <a:cs typeface="Times New Roman"/>
              </a:rPr>
              <a:t> </a:t>
            </a:r>
            <a:r>
              <a:rPr sz="3600" spc="140" dirty="0">
                <a:solidFill>
                  <a:srgbClr val="2E377E"/>
                </a:solidFill>
                <a:latin typeface="Times New Roman"/>
                <a:cs typeface="Times New Roman"/>
              </a:rPr>
              <a:t>pv.yml </a:t>
            </a:r>
            <a:r>
              <a:rPr sz="3600" spc="195" dirty="0">
                <a:solidFill>
                  <a:srgbClr val="2E377E"/>
                </a:solidFill>
                <a:latin typeface="Times New Roman"/>
                <a:cs typeface="Times New Roman"/>
              </a:rPr>
              <a:t>kubectl</a:t>
            </a:r>
            <a:r>
              <a:rPr sz="3600" spc="-110" dirty="0">
                <a:solidFill>
                  <a:srgbClr val="2E377E"/>
                </a:solidFill>
                <a:latin typeface="Times New Roman"/>
                <a:cs typeface="Times New Roman"/>
              </a:rPr>
              <a:t> </a:t>
            </a:r>
            <a:r>
              <a:rPr sz="3600" spc="180" dirty="0">
                <a:solidFill>
                  <a:srgbClr val="2E377E"/>
                </a:solidFill>
                <a:latin typeface="Times New Roman"/>
                <a:cs typeface="Times New Roman"/>
              </a:rPr>
              <a:t>apply</a:t>
            </a:r>
            <a:r>
              <a:rPr sz="3600" spc="-110" dirty="0">
                <a:solidFill>
                  <a:srgbClr val="2E377E"/>
                </a:solidFill>
                <a:latin typeface="Times New Roman"/>
                <a:cs typeface="Times New Roman"/>
              </a:rPr>
              <a:t> </a:t>
            </a:r>
            <a:r>
              <a:rPr sz="3600" spc="165" dirty="0">
                <a:solidFill>
                  <a:srgbClr val="2E377E"/>
                </a:solidFill>
                <a:latin typeface="Times New Roman"/>
                <a:cs typeface="Times New Roman"/>
              </a:rPr>
              <a:t>-</a:t>
            </a:r>
            <a:r>
              <a:rPr sz="3600" dirty="0">
                <a:solidFill>
                  <a:srgbClr val="2E377E"/>
                </a:solidFill>
                <a:latin typeface="Times New Roman"/>
                <a:cs typeface="Times New Roman"/>
              </a:rPr>
              <a:t>f</a:t>
            </a:r>
            <a:r>
              <a:rPr sz="3600" spc="-105" dirty="0">
                <a:solidFill>
                  <a:srgbClr val="2E377E"/>
                </a:solidFill>
                <a:latin typeface="Times New Roman"/>
                <a:cs typeface="Times New Roman"/>
              </a:rPr>
              <a:t> </a:t>
            </a:r>
            <a:r>
              <a:rPr sz="3600" spc="130" dirty="0">
                <a:solidFill>
                  <a:srgbClr val="2E377E"/>
                </a:solidFill>
                <a:latin typeface="Times New Roman"/>
                <a:cs typeface="Times New Roman"/>
              </a:rPr>
              <a:t>pvc.yml </a:t>
            </a:r>
            <a:r>
              <a:rPr sz="3600" spc="195" dirty="0">
                <a:solidFill>
                  <a:srgbClr val="2E377E"/>
                </a:solidFill>
                <a:latin typeface="Times New Roman"/>
                <a:cs typeface="Times New Roman"/>
              </a:rPr>
              <a:t>kubectl</a:t>
            </a:r>
            <a:r>
              <a:rPr sz="3600" spc="-114" dirty="0">
                <a:solidFill>
                  <a:srgbClr val="2E377E"/>
                </a:solidFill>
                <a:latin typeface="Times New Roman"/>
                <a:cs typeface="Times New Roman"/>
              </a:rPr>
              <a:t> </a:t>
            </a:r>
            <a:r>
              <a:rPr sz="3600" spc="195" dirty="0">
                <a:solidFill>
                  <a:srgbClr val="2E377E"/>
                </a:solidFill>
                <a:latin typeface="Times New Roman"/>
                <a:cs typeface="Times New Roman"/>
              </a:rPr>
              <a:t>get</a:t>
            </a:r>
            <a:r>
              <a:rPr sz="3600" spc="-114" dirty="0">
                <a:solidFill>
                  <a:srgbClr val="2E377E"/>
                </a:solidFill>
                <a:latin typeface="Times New Roman"/>
                <a:cs typeface="Times New Roman"/>
              </a:rPr>
              <a:t> </a:t>
            </a:r>
            <a:r>
              <a:rPr sz="3600" spc="140" dirty="0">
                <a:solidFill>
                  <a:srgbClr val="2E377E"/>
                </a:solidFill>
                <a:latin typeface="Times New Roman"/>
                <a:cs typeface="Times New Roman"/>
              </a:rPr>
              <a:t>pv,pvc</a:t>
            </a:r>
            <a:endParaRPr sz="3600" dirty="0">
              <a:latin typeface="Times New Roman"/>
              <a:cs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99475" y="5073"/>
            <a:ext cx="5701665" cy="10179050"/>
          </a:xfrm>
          <a:prstGeom prst="rect">
            <a:avLst/>
          </a:prstGeom>
        </p:spPr>
        <p:txBody>
          <a:bodyPr vert="horz" wrap="square" lIns="0" tIns="12700" rIns="0" bIns="0" rtlCol="0">
            <a:spAutoFit/>
          </a:bodyPr>
          <a:lstStyle/>
          <a:p>
            <a:pPr marL="12700" marR="3238500">
              <a:lnSpc>
                <a:spcPct val="116500"/>
              </a:lnSpc>
              <a:spcBef>
                <a:spcPts val="100"/>
              </a:spcBef>
            </a:pPr>
            <a:r>
              <a:rPr sz="2200" spc="125" dirty="0">
                <a:solidFill>
                  <a:srgbClr val="2E377E"/>
                </a:solidFill>
                <a:latin typeface="Times New Roman"/>
                <a:cs typeface="Times New Roman"/>
              </a:rPr>
              <a:t>vim</a:t>
            </a:r>
            <a:r>
              <a:rPr sz="2200" spc="-70" dirty="0">
                <a:solidFill>
                  <a:srgbClr val="2E377E"/>
                </a:solidFill>
                <a:latin typeface="Times New Roman"/>
                <a:cs typeface="Times New Roman"/>
              </a:rPr>
              <a:t> </a:t>
            </a:r>
            <a:r>
              <a:rPr sz="2200" spc="80" dirty="0">
                <a:solidFill>
                  <a:srgbClr val="2E377E"/>
                </a:solidFill>
                <a:latin typeface="Times New Roman"/>
                <a:cs typeface="Times New Roman"/>
              </a:rPr>
              <a:t>deploy.yml </a:t>
            </a:r>
            <a:r>
              <a:rPr sz="2200" spc="-20" dirty="0">
                <a:solidFill>
                  <a:srgbClr val="2E377E"/>
                </a:solidFill>
                <a:latin typeface="Georgia"/>
                <a:cs typeface="Georgia"/>
              </a:rPr>
              <a:t>apiVersion: </a:t>
            </a:r>
            <a:r>
              <a:rPr sz="2200" spc="-10" dirty="0">
                <a:solidFill>
                  <a:srgbClr val="2E377E"/>
                </a:solidFill>
                <a:latin typeface="Georgia"/>
                <a:cs typeface="Georgia"/>
              </a:rPr>
              <a:t>apps/v1 kind:</a:t>
            </a:r>
            <a:r>
              <a:rPr sz="2200" spc="-95" dirty="0">
                <a:solidFill>
                  <a:srgbClr val="2E377E"/>
                </a:solidFill>
                <a:latin typeface="Georgia"/>
                <a:cs typeface="Georgia"/>
              </a:rPr>
              <a:t> </a:t>
            </a:r>
            <a:r>
              <a:rPr sz="2200" spc="-10" dirty="0">
                <a:solidFill>
                  <a:srgbClr val="2E377E"/>
                </a:solidFill>
                <a:latin typeface="Georgia"/>
                <a:cs typeface="Georgia"/>
              </a:rPr>
              <a:t>Deployment metadata:</a:t>
            </a:r>
            <a:endParaRPr sz="2200" dirty="0">
              <a:latin typeface="Georgia"/>
              <a:cs typeface="Georgia"/>
            </a:endParaRPr>
          </a:p>
          <a:p>
            <a:pPr marL="12700" marR="3569970" indent="122555">
              <a:lnSpc>
                <a:spcPct val="116500"/>
              </a:lnSpc>
            </a:pPr>
            <a:r>
              <a:rPr sz="2200" spc="-20" dirty="0">
                <a:solidFill>
                  <a:srgbClr val="2E377E"/>
                </a:solidFill>
                <a:latin typeface="Georgia"/>
                <a:cs typeface="Georgia"/>
              </a:rPr>
              <a:t>name:</a:t>
            </a:r>
            <a:r>
              <a:rPr sz="2200" spc="-90" dirty="0">
                <a:solidFill>
                  <a:srgbClr val="2E377E"/>
                </a:solidFill>
                <a:latin typeface="Georgia"/>
                <a:cs typeface="Georgia"/>
              </a:rPr>
              <a:t> </a:t>
            </a:r>
            <a:r>
              <a:rPr sz="2200" spc="-10" dirty="0">
                <a:solidFill>
                  <a:srgbClr val="2E377E"/>
                </a:solidFill>
                <a:latin typeface="Georgia"/>
                <a:cs typeface="Georgia"/>
              </a:rPr>
              <a:t>pvdeploy spec:</a:t>
            </a:r>
            <a:endParaRPr sz="2200" dirty="0">
              <a:latin typeface="Georgia"/>
              <a:cs typeface="Georgia"/>
            </a:endParaRPr>
          </a:p>
          <a:p>
            <a:pPr marL="135255" marR="4333875">
              <a:lnSpc>
                <a:spcPct val="116500"/>
              </a:lnSpc>
            </a:pPr>
            <a:r>
              <a:rPr sz="2200" spc="-10" dirty="0">
                <a:solidFill>
                  <a:srgbClr val="2E377E"/>
                </a:solidFill>
                <a:latin typeface="Georgia"/>
                <a:cs typeface="Georgia"/>
              </a:rPr>
              <a:t>replicas:</a:t>
            </a:r>
            <a:r>
              <a:rPr sz="2200" spc="-70" dirty="0">
                <a:solidFill>
                  <a:srgbClr val="2E377E"/>
                </a:solidFill>
                <a:latin typeface="Georgia"/>
                <a:cs typeface="Georgia"/>
              </a:rPr>
              <a:t> </a:t>
            </a:r>
            <a:r>
              <a:rPr sz="2200" spc="-50" dirty="0">
                <a:solidFill>
                  <a:srgbClr val="2E377E"/>
                </a:solidFill>
                <a:latin typeface="Georgia"/>
                <a:cs typeface="Georgia"/>
              </a:rPr>
              <a:t>1 </a:t>
            </a:r>
            <a:r>
              <a:rPr sz="2200" spc="-10" dirty="0">
                <a:solidFill>
                  <a:srgbClr val="2E377E"/>
                </a:solidFill>
                <a:latin typeface="Georgia"/>
                <a:cs typeface="Georgia"/>
              </a:rPr>
              <a:t>selector:</a:t>
            </a:r>
            <a:endParaRPr sz="2200" dirty="0">
              <a:latin typeface="Georgia"/>
              <a:cs typeface="Georgia"/>
            </a:endParaRPr>
          </a:p>
          <a:p>
            <a:pPr marL="258445">
              <a:lnSpc>
                <a:spcPct val="100000"/>
              </a:lnSpc>
              <a:spcBef>
                <a:spcPts val="430"/>
              </a:spcBef>
            </a:pPr>
            <a:r>
              <a:rPr sz="2200" spc="-10" dirty="0">
                <a:solidFill>
                  <a:srgbClr val="2E377E"/>
                </a:solidFill>
                <a:latin typeface="Georgia"/>
                <a:cs typeface="Georgia"/>
              </a:rPr>
              <a:t>matchLabels:</a:t>
            </a:r>
            <a:endParaRPr sz="2200" dirty="0">
              <a:latin typeface="Georgia"/>
              <a:cs typeface="Georgia"/>
            </a:endParaRPr>
          </a:p>
          <a:p>
            <a:pPr marL="135255" marR="3908425" indent="184150">
              <a:lnSpc>
                <a:spcPct val="116500"/>
              </a:lnSpc>
            </a:pPr>
            <a:r>
              <a:rPr sz="2200" spc="-30" dirty="0">
                <a:solidFill>
                  <a:srgbClr val="2E377E"/>
                </a:solidFill>
                <a:latin typeface="Georgia"/>
                <a:cs typeface="Georgia"/>
              </a:rPr>
              <a:t>app:</a:t>
            </a:r>
            <a:r>
              <a:rPr sz="2200" spc="-100" dirty="0">
                <a:solidFill>
                  <a:srgbClr val="2E377E"/>
                </a:solidFill>
                <a:latin typeface="Georgia"/>
                <a:cs typeface="Georgia"/>
              </a:rPr>
              <a:t> </a:t>
            </a:r>
            <a:r>
              <a:rPr sz="2200" spc="-10" dirty="0">
                <a:solidFill>
                  <a:srgbClr val="2E377E"/>
                </a:solidFill>
                <a:latin typeface="Georgia"/>
                <a:cs typeface="Georgia"/>
              </a:rPr>
              <a:t>swiggy template:</a:t>
            </a:r>
            <a:endParaRPr sz="2200" dirty="0">
              <a:latin typeface="Georgia"/>
              <a:cs typeface="Georgia"/>
            </a:endParaRPr>
          </a:p>
          <a:p>
            <a:pPr marL="258445">
              <a:lnSpc>
                <a:spcPct val="100000"/>
              </a:lnSpc>
              <a:spcBef>
                <a:spcPts val="434"/>
              </a:spcBef>
            </a:pPr>
            <a:r>
              <a:rPr sz="2200" spc="-10" dirty="0">
                <a:solidFill>
                  <a:srgbClr val="2E377E"/>
                </a:solidFill>
                <a:latin typeface="Georgia"/>
                <a:cs typeface="Georgia"/>
              </a:rPr>
              <a:t>metadata:</a:t>
            </a:r>
            <a:endParaRPr sz="2200" dirty="0">
              <a:latin typeface="Georgia"/>
              <a:cs typeface="Georgia"/>
            </a:endParaRPr>
          </a:p>
          <a:p>
            <a:pPr marL="381000">
              <a:lnSpc>
                <a:spcPct val="100000"/>
              </a:lnSpc>
              <a:spcBef>
                <a:spcPts val="434"/>
              </a:spcBef>
            </a:pPr>
            <a:r>
              <a:rPr sz="2200" spc="-10" dirty="0">
                <a:solidFill>
                  <a:srgbClr val="2E377E"/>
                </a:solidFill>
                <a:latin typeface="Georgia"/>
                <a:cs typeface="Georgia"/>
              </a:rPr>
              <a:t>labels:</a:t>
            </a:r>
            <a:endParaRPr sz="2200" dirty="0">
              <a:latin typeface="Georgia"/>
              <a:cs typeface="Georgia"/>
            </a:endParaRPr>
          </a:p>
          <a:p>
            <a:pPr marL="258445" marR="3724275" indent="245745">
              <a:lnSpc>
                <a:spcPct val="116500"/>
              </a:lnSpc>
            </a:pPr>
            <a:r>
              <a:rPr sz="2200" spc="-30" dirty="0">
                <a:solidFill>
                  <a:srgbClr val="2E377E"/>
                </a:solidFill>
                <a:latin typeface="Georgia"/>
                <a:cs typeface="Georgia"/>
              </a:rPr>
              <a:t>app:</a:t>
            </a:r>
            <a:r>
              <a:rPr sz="2200" spc="-100" dirty="0">
                <a:solidFill>
                  <a:srgbClr val="2E377E"/>
                </a:solidFill>
                <a:latin typeface="Georgia"/>
                <a:cs typeface="Georgia"/>
              </a:rPr>
              <a:t> </a:t>
            </a:r>
            <a:r>
              <a:rPr sz="2200" spc="-10" dirty="0">
                <a:solidFill>
                  <a:srgbClr val="2E377E"/>
                </a:solidFill>
                <a:latin typeface="Georgia"/>
                <a:cs typeface="Georgia"/>
              </a:rPr>
              <a:t>swiggy spec:</a:t>
            </a:r>
            <a:endParaRPr sz="2200" dirty="0">
              <a:latin typeface="Georgia"/>
              <a:cs typeface="Georgia"/>
            </a:endParaRPr>
          </a:p>
          <a:p>
            <a:pPr marL="381000">
              <a:lnSpc>
                <a:spcPct val="100000"/>
              </a:lnSpc>
              <a:spcBef>
                <a:spcPts val="434"/>
              </a:spcBef>
            </a:pPr>
            <a:r>
              <a:rPr sz="2200" spc="-10" dirty="0">
                <a:solidFill>
                  <a:srgbClr val="2E377E"/>
                </a:solidFill>
                <a:latin typeface="Georgia"/>
                <a:cs typeface="Georgia"/>
              </a:rPr>
              <a:t>containers:</a:t>
            </a:r>
            <a:endParaRPr sz="2200" dirty="0">
              <a:latin typeface="Georgia"/>
              <a:cs typeface="Georgia"/>
            </a:endParaRPr>
          </a:p>
          <a:p>
            <a:pPr marL="504190" marR="3485515" indent="-123189">
              <a:lnSpc>
                <a:spcPct val="116500"/>
              </a:lnSpc>
              <a:buChar char="-"/>
              <a:tabLst>
                <a:tab pos="504190" algn="l"/>
                <a:tab pos="548005" algn="l"/>
              </a:tabLst>
            </a:pPr>
            <a:r>
              <a:rPr sz="2200" dirty="0">
                <a:solidFill>
                  <a:srgbClr val="2E377E"/>
                </a:solidFill>
                <a:latin typeface="Georgia"/>
                <a:cs typeface="Georgia"/>
              </a:rPr>
              <a:t>	</a:t>
            </a:r>
            <a:r>
              <a:rPr sz="2200" spc="-20" dirty="0">
                <a:solidFill>
                  <a:srgbClr val="2E377E"/>
                </a:solidFill>
                <a:latin typeface="Georgia"/>
                <a:cs typeface="Georgia"/>
              </a:rPr>
              <a:t>name:</a:t>
            </a:r>
            <a:r>
              <a:rPr sz="2200" spc="-90" dirty="0">
                <a:solidFill>
                  <a:srgbClr val="2E377E"/>
                </a:solidFill>
                <a:latin typeface="Georgia"/>
                <a:cs typeface="Georgia"/>
              </a:rPr>
              <a:t> </a:t>
            </a:r>
            <a:r>
              <a:rPr lang="en-IN" sz="2200" spc="-20" dirty="0">
                <a:solidFill>
                  <a:srgbClr val="2E377E"/>
                </a:solidFill>
                <a:latin typeface="Georgia"/>
                <a:cs typeface="Georgia"/>
              </a:rPr>
              <a:t>rajco</a:t>
            </a:r>
            <a:r>
              <a:rPr sz="2200" spc="-20" dirty="0">
                <a:solidFill>
                  <a:srgbClr val="2E377E"/>
                </a:solidFill>
                <a:latin typeface="Georgia"/>
                <a:cs typeface="Georgia"/>
              </a:rPr>
              <a:t> image:</a:t>
            </a:r>
            <a:r>
              <a:rPr sz="2200" spc="-70" dirty="0">
                <a:solidFill>
                  <a:srgbClr val="2E377E"/>
                </a:solidFill>
                <a:latin typeface="Georgia"/>
                <a:cs typeface="Georgia"/>
              </a:rPr>
              <a:t> </a:t>
            </a:r>
            <a:r>
              <a:rPr sz="2200" spc="-10" dirty="0">
                <a:solidFill>
                  <a:srgbClr val="2E377E"/>
                </a:solidFill>
                <a:latin typeface="Georgia"/>
                <a:cs typeface="Georgia"/>
              </a:rPr>
              <a:t>centos</a:t>
            </a:r>
            <a:endParaRPr sz="2200" dirty="0">
              <a:latin typeface="Georgia"/>
              <a:cs typeface="Georgia"/>
            </a:endParaRPr>
          </a:p>
          <a:p>
            <a:pPr marL="504190" marR="5080">
              <a:lnSpc>
                <a:spcPct val="116500"/>
              </a:lnSpc>
            </a:pPr>
            <a:r>
              <a:rPr sz="2200" spc="-10" dirty="0">
                <a:solidFill>
                  <a:srgbClr val="2E377E"/>
                </a:solidFill>
                <a:latin typeface="Georgia"/>
                <a:cs typeface="Georgia"/>
              </a:rPr>
              <a:t>command:</a:t>
            </a:r>
            <a:r>
              <a:rPr sz="2200" spc="-85" dirty="0">
                <a:solidFill>
                  <a:srgbClr val="2E377E"/>
                </a:solidFill>
                <a:latin typeface="Georgia"/>
                <a:cs typeface="Georgia"/>
              </a:rPr>
              <a:t> </a:t>
            </a:r>
            <a:r>
              <a:rPr sz="2200" spc="-70" dirty="0">
                <a:solidFill>
                  <a:srgbClr val="2E377E"/>
                </a:solidFill>
                <a:latin typeface="Georgia"/>
                <a:cs typeface="Georgia"/>
              </a:rPr>
              <a:t>["bin/bash",</a:t>
            </a:r>
            <a:r>
              <a:rPr sz="2200" spc="-60" dirty="0">
                <a:solidFill>
                  <a:srgbClr val="2E377E"/>
                </a:solidFill>
                <a:latin typeface="Georgia"/>
                <a:cs typeface="Georgia"/>
              </a:rPr>
              <a:t> </a:t>
            </a:r>
            <a:r>
              <a:rPr sz="2200" spc="-90" dirty="0">
                <a:solidFill>
                  <a:srgbClr val="2E377E"/>
                </a:solidFill>
                <a:latin typeface="Georgia"/>
                <a:cs typeface="Georgia"/>
              </a:rPr>
              <a:t>"-</a:t>
            </a:r>
            <a:r>
              <a:rPr sz="2200" spc="-70" dirty="0">
                <a:solidFill>
                  <a:srgbClr val="2E377E"/>
                </a:solidFill>
                <a:latin typeface="Georgia"/>
                <a:cs typeface="Georgia"/>
              </a:rPr>
              <a:t>c",</a:t>
            </a:r>
            <a:r>
              <a:rPr sz="2200" spc="-65" dirty="0">
                <a:solidFill>
                  <a:srgbClr val="2E377E"/>
                </a:solidFill>
                <a:latin typeface="Georgia"/>
                <a:cs typeface="Georgia"/>
              </a:rPr>
              <a:t> </a:t>
            </a:r>
            <a:r>
              <a:rPr sz="2200" spc="-10" dirty="0">
                <a:solidFill>
                  <a:srgbClr val="2E377E"/>
                </a:solidFill>
                <a:latin typeface="Georgia"/>
                <a:cs typeface="Georgia"/>
              </a:rPr>
              <a:t>"sleep</a:t>
            </a:r>
            <a:r>
              <a:rPr sz="2200" spc="-65" dirty="0">
                <a:solidFill>
                  <a:srgbClr val="2E377E"/>
                </a:solidFill>
                <a:latin typeface="Georgia"/>
                <a:cs typeface="Georgia"/>
              </a:rPr>
              <a:t> </a:t>
            </a:r>
            <a:r>
              <a:rPr sz="2200" spc="-45" dirty="0">
                <a:solidFill>
                  <a:srgbClr val="2E377E"/>
                </a:solidFill>
                <a:latin typeface="Georgia"/>
                <a:cs typeface="Georgia"/>
              </a:rPr>
              <a:t>10000"] </a:t>
            </a:r>
            <a:r>
              <a:rPr sz="2200" spc="-10" dirty="0">
                <a:solidFill>
                  <a:srgbClr val="2E377E"/>
                </a:solidFill>
                <a:latin typeface="Georgia"/>
                <a:cs typeface="Georgia"/>
              </a:rPr>
              <a:t>volumeMounts:</a:t>
            </a:r>
            <a:endParaRPr sz="2200" dirty="0">
              <a:latin typeface="Georgia"/>
              <a:cs typeface="Georgia"/>
            </a:endParaRPr>
          </a:p>
          <a:p>
            <a:pPr marL="671195" lvl="1" indent="-167005">
              <a:lnSpc>
                <a:spcPct val="100000"/>
              </a:lnSpc>
              <a:spcBef>
                <a:spcPts val="434"/>
              </a:spcBef>
              <a:buChar char="-"/>
              <a:tabLst>
                <a:tab pos="671195" algn="l"/>
              </a:tabLst>
            </a:pPr>
            <a:r>
              <a:rPr sz="2200" spc="-20" dirty="0">
                <a:solidFill>
                  <a:srgbClr val="2E377E"/>
                </a:solidFill>
                <a:latin typeface="Georgia"/>
                <a:cs typeface="Georgia"/>
              </a:rPr>
              <a:t>name:</a:t>
            </a:r>
            <a:r>
              <a:rPr sz="2200" spc="-90" dirty="0">
                <a:solidFill>
                  <a:srgbClr val="2E377E"/>
                </a:solidFill>
                <a:latin typeface="Georgia"/>
                <a:cs typeface="Georgia"/>
              </a:rPr>
              <a:t> </a:t>
            </a:r>
            <a:r>
              <a:rPr sz="2200" spc="-20" dirty="0">
                <a:solidFill>
                  <a:srgbClr val="2E377E"/>
                </a:solidFill>
                <a:latin typeface="Georgia"/>
                <a:cs typeface="Georgia"/>
              </a:rPr>
              <a:t>mypd</a:t>
            </a:r>
            <a:endParaRPr sz="2200" dirty="0">
              <a:latin typeface="Georgia"/>
              <a:cs typeface="Georgia"/>
            </a:endParaRPr>
          </a:p>
          <a:p>
            <a:pPr marL="381000" marR="1334770" indent="245745">
              <a:lnSpc>
                <a:spcPct val="116500"/>
              </a:lnSpc>
            </a:pPr>
            <a:r>
              <a:rPr sz="2200" dirty="0">
                <a:solidFill>
                  <a:srgbClr val="2E377E"/>
                </a:solidFill>
                <a:latin typeface="Georgia"/>
                <a:cs typeface="Georgia"/>
              </a:rPr>
              <a:t>mountPath:</a:t>
            </a:r>
            <a:r>
              <a:rPr sz="2200" spc="-85" dirty="0">
                <a:solidFill>
                  <a:srgbClr val="2E377E"/>
                </a:solidFill>
                <a:latin typeface="Georgia"/>
                <a:cs typeface="Georgia"/>
              </a:rPr>
              <a:t> </a:t>
            </a:r>
            <a:r>
              <a:rPr sz="2200" spc="-20" dirty="0">
                <a:solidFill>
                  <a:srgbClr val="2E377E"/>
                </a:solidFill>
                <a:latin typeface="Georgia"/>
                <a:cs typeface="Georgia"/>
              </a:rPr>
              <a:t>"/tmp/persistent" </a:t>
            </a:r>
            <a:r>
              <a:rPr sz="2200" spc="-10" dirty="0">
                <a:solidFill>
                  <a:srgbClr val="2E377E"/>
                </a:solidFill>
                <a:latin typeface="Georgia"/>
                <a:cs typeface="Georgia"/>
              </a:rPr>
              <a:t>volumes:</a:t>
            </a:r>
            <a:endParaRPr sz="2200" dirty="0">
              <a:latin typeface="Georgia"/>
              <a:cs typeface="Georgia"/>
            </a:endParaRPr>
          </a:p>
          <a:p>
            <a:pPr marL="626745" marR="2040889" lvl="1" indent="-123189">
              <a:lnSpc>
                <a:spcPct val="116500"/>
              </a:lnSpc>
              <a:buChar char="-"/>
              <a:tabLst>
                <a:tab pos="626745" algn="l"/>
                <a:tab pos="670560" algn="l"/>
              </a:tabLst>
            </a:pPr>
            <a:r>
              <a:rPr sz="2200" dirty="0">
                <a:solidFill>
                  <a:srgbClr val="2E377E"/>
                </a:solidFill>
                <a:latin typeface="Georgia"/>
                <a:cs typeface="Georgia"/>
              </a:rPr>
              <a:t>	</a:t>
            </a:r>
            <a:r>
              <a:rPr sz="2200" spc="-20" dirty="0">
                <a:solidFill>
                  <a:srgbClr val="2E377E"/>
                </a:solidFill>
                <a:latin typeface="Georgia"/>
                <a:cs typeface="Georgia"/>
              </a:rPr>
              <a:t>name:</a:t>
            </a:r>
            <a:r>
              <a:rPr sz="2200" spc="-90" dirty="0">
                <a:solidFill>
                  <a:srgbClr val="2E377E"/>
                </a:solidFill>
                <a:latin typeface="Georgia"/>
                <a:cs typeface="Georgia"/>
              </a:rPr>
              <a:t> </a:t>
            </a:r>
            <a:r>
              <a:rPr sz="2200" spc="-20" dirty="0">
                <a:solidFill>
                  <a:srgbClr val="2E377E"/>
                </a:solidFill>
                <a:latin typeface="Georgia"/>
                <a:cs typeface="Georgia"/>
              </a:rPr>
              <a:t>mypd </a:t>
            </a:r>
            <a:r>
              <a:rPr sz="2200" spc="-10" dirty="0">
                <a:solidFill>
                  <a:srgbClr val="2E377E"/>
                </a:solidFill>
                <a:latin typeface="Georgia"/>
                <a:cs typeface="Georgia"/>
              </a:rPr>
              <a:t>persistentVolumeClaim: </a:t>
            </a:r>
            <a:r>
              <a:rPr sz="2200" spc="-20" dirty="0">
                <a:solidFill>
                  <a:srgbClr val="2E377E"/>
                </a:solidFill>
                <a:latin typeface="Georgia"/>
                <a:cs typeface="Georgia"/>
              </a:rPr>
              <a:t>claimName:</a:t>
            </a:r>
            <a:r>
              <a:rPr sz="2200" spc="55" dirty="0">
                <a:solidFill>
                  <a:srgbClr val="2E377E"/>
                </a:solidFill>
                <a:latin typeface="Georgia"/>
                <a:cs typeface="Georgia"/>
              </a:rPr>
              <a:t> </a:t>
            </a:r>
            <a:r>
              <a:rPr sz="2200" dirty="0">
                <a:solidFill>
                  <a:srgbClr val="2E377E"/>
                </a:solidFill>
                <a:latin typeface="Georgia"/>
                <a:cs typeface="Georgia"/>
              </a:rPr>
              <a:t>my-</a:t>
            </a:r>
            <a:r>
              <a:rPr sz="2200" spc="25" dirty="0">
                <a:solidFill>
                  <a:srgbClr val="2E377E"/>
                </a:solidFill>
                <a:latin typeface="Georgia"/>
                <a:cs typeface="Georgia"/>
              </a:rPr>
              <a:t>pvc</a:t>
            </a:r>
            <a:endParaRPr sz="2200" dirty="0">
              <a:latin typeface="Georgia"/>
              <a:cs typeface="Georgia"/>
            </a:endParaRPr>
          </a:p>
        </p:txBody>
      </p:sp>
      <p:sp>
        <p:nvSpPr>
          <p:cNvPr id="3" name="object 3"/>
          <p:cNvSpPr txBox="1">
            <a:spLocks noGrp="1"/>
          </p:cNvSpPr>
          <p:nvPr>
            <p:ph type="title"/>
          </p:nvPr>
        </p:nvSpPr>
        <p:spPr>
          <a:xfrm>
            <a:off x="8248095" y="1312060"/>
            <a:ext cx="4631690" cy="2133600"/>
          </a:xfrm>
          <a:prstGeom prst="rect">
            <a:avLst/>
          </a:prstGeom>
        </p:spPr>
        <p:txBody>
          <a:bodyPr vert="horz" wrap="square" lIns="0" tIns="12065" rIns="0" bIns="0" rtlCol="0">
            <a:spAutoFit/>
          </a:bodyPr>
          <a:lstStyle/>
          <a:p>
            <a:pPr marL="12700" marR="5080">
              <a:lnSpc>
                <a:spcPct val="117200"/>
              </a:lnSpc>
              <a:spcBef>
                <a:spcPts val="95"/>
              </a:spcBef>
            </a:pPr>
            <a:r>
              <a:rPr sz="2950" b="0" spc="50" dirty="0">
                <a:solidFill>
                  <a:srgbClr val="2E377E"/>
                </a:solidFill>
                <a:latin typeface="Georgia"/>
                <a:cs typeface="Georgia"/>
              </a:rPr>
              <a:t>kubectl</a:t>
            </a:r>
            <a:r>
              <a:rPr sz="2950" b="0" spc="25" dirty="0">
                <a:solidFill>
                  <a:srgbClr val="2E377E"/>
                </a:solidFill>
                <a:latin typeface="Georgia"/>
                <a:cs typeface="Georgia"/>
              </a:rPr>
              <a:t> </a:t>
            </a:r>
            <a:r>
              <a:rPr sz="2950" b="0" dirty="0">
                <a:solidFill>
                  <a:srgbClr val="2E377E"/>
                </a:solidFill>
                <a:latin typeface="Georgia"/>
                <a:cs typeface="Georgia"/>
              </a:rPr>
              <a:t>apply</a:t>
            </a:r>
            <a:r>
              <a:rPr sz="2950" b="0" spc="35" dirty="0">
                <a:solidFill>
                  <a:srgbClr val="2E377E"/>
                </a:solidFill>
                <a:latin typeface="Georgia"/>
                <a:cs typeface="Georgia"/>
              </a:rPr>
              <a:t> </a:t>
            </a:r>
            <a:r>
              <a:rPr sz="2950" b="0" dirty="0">
                <a:solidFill>
                  <a:srgbClr val="2E377E"/>
                </a:solidFill>
                <a:latin typeface="Georgia"/>
                <a:cs typeface="Georgia"/>
              </a:rPr>
              <a:t>-f</a:t>
            </a:r>
            <a:r>
              <a:rPr sz="2950" b="0" spc="40" dirty="0">
                <a:solidFill>
                  <a:srgbClr val="2E377E"/>
                </a:solidFill>
                <a:latin typeface="Georgia"/>
                <a:cs typeface="Georgia"/>
              </a:rPr>
              <a:t> </a:t>
            </a:r>
            <a:r>
              <a:rPr sz="2950" b="0" spc="-10" dirty="0">
                <a:solidFill>
                  <a:srgbClr val="2E377E"/>
                </a:solidFill>
                <a:latin typeface="Georgia"/>
                <a:cs typeface="Georgia"/>
              </a:rPr>
              <a:t>deploy.yml </a:t>
            </a:r>
            <a:r>
              <a:rPr sz="2950" b="0" spc="50" dirty="0">
                <a:solidFill>
                  <a:srgbClr val="2E377E"/>
                </a:solidFill>
                <a:latin typeface="Georgia"/>
                <a:cs typeface="Georgia"/>
              </a:rPr>
              <a:t>kubectl</a:t>
            </a:r>
            <a:r>
              <a:rPr sz="2950" b="0" spc="-55" dirty="0">
                <a:solidFill>
                  <a:srgbClr val="2E377E"/>
                </a:solidFill>
                <a:latin typeface="Georgia"/>
                <a:cs typeface="Georgia"/>
              </a:rPr>
              <a:t> </a:t>
            </a:r>
            <a:r>
              <a:rPr sz="2950" b="0" spc="60" dirty="0">
                <a:solidFill>
                  <a:srgbClr val="2E377E"/>
                </a:solidFill>
                <a:latin typeface="Georgia"/>
                <a:cs typeface="Georgia"/>
              </a:rPr>
              <a:t>get</a:t>
            </a:r>
            <a:r>
              <a:rPr sz="2950" b="0" spc="-55" dirty="0">
                <a:solidFill>
                  <a:srgbClr val="2E377E"/>
                </a:solidFill>
                <a:latin typeface="Georgia"/>
                <a:cs typeface="Georgia"/>
              </a:rPr>
              <a:t> </a:t>
            </a:r>
            <a:r>
              <a:rPr sz="2950" b="0" spc="-10" dirty="0">
                <a:solidFill>
                  <a:srgbClr val="2E377E"/>
                </a:solidFill>
                <a:latin typeface="Georgia"/>
                <a:cs typeface="Georgia"/>
              </a:rPr>
              <a:t>deploy</a:t>
            </a:r>
            <a:endParaRPr sz="2950">
              <a:latin typeface="Georgia"/>
              <a:cs typeface="Georgia"/>
            </a:endParaRPr>
          </a:p>
          <a:p>
            <a:pPr marL="12700" marR="2228850">
              <a:lnSpc>
                <a:spcPct val="117200"/>
              </a:lnSpc>
            </a:pPr>
            <a:r>
              <a:rPr sz="2950" b="0" spc="50" dirty="0">
                <a:solidFill>
                  <a:srgbClr val="2E377E"/>
                </a:solidFill>
                <a:latin typeface="Georgia"/>
                <a:cs typeface="Georgia"/>
              </a:rPr>
              <a:t>kubectl</a:t>
            </a:r>
            <a:r>
              <a:rPr sz="2950" b="0" spc="-55" dirty="0">
                <a:solidFill>
                  <a:srgbClr val="2E377E"/>
                </a:solidFill>
                <a:latin typeface="Georgia"/>
                <a:cs typeface="Georgia"/>
              </a:rPr>
              <a:t> </a:t>
            </a:r>
            <a:r>
              <a:rPr sz="2950" b="0" spc="60" dirty="0">
                <a:solidFill>
                  <a:srgbClr val="2E377E"/>
                </a:solidFill>
                <a:latin typeface="Georgia"/>
                <a:cs typeface="Georgia"/>
              </a:rPr>
              <a:t>get</a:t>
            </a:r>
            <a:r>
              <a:rPr sz="2950" b="0" spc="-55" dirty="0">
                <a:solidFill>
                  <a:srgbClr val="2E377E"/>
                </a:solidFill>
                <a:latin typeface="Georgia"/>
                <a:cs typeface="Georgia"/>
              </a:rPr>
              <a:t> </a:t>
            </a:r>
            <a:r>
              <a:rPr sz="2950" b="0" spc="-25" dirty="0">
                <a:solidFill>
                  <a:srgbClr val="2E377E"/>
                </a:solidFill>
                <a:latin typeface="Georgia"/>
                <a:cs typeface="Georgia"/>
              </a:rPr>
              <a:t>rs </a:t>
            </a:r>
            <a:r>
              <a:rPr sz="2950" b="0" spc="50" dirty="0">
                <a:solidFill>
                  <a:srgbClr val="2E377E"/>
                </a:solidFill>
                <a:latin typeface="Georgia"/>
                <a:cs typeface="Georgia"/>
              </a:rPr>
              <a:t>kubectl</a:t>
            </a:r>
            <a:r>
              <a:rPr sz="2950" b="0" spc="-55" dirty="0">
                <a:solidFill>
                  <a:srgbClr val="2E377E"/>
                </a:solidFill>
                <a:latin typeface="Georgia"/>
                <a:cs typeface="Georgia"/>
              </a:rPr>
              <a:t> </a:t>
            </a:r>
            <a:r>
              <a:rPr sz="2950" b="0" spc="60" dirty="0">
                <a:solidFill>
                  <a:srgbClr val="2E377E"/>
                </a:solidFill>
                <a:latin typeface="Georgia"/>
                <a:cs typeface="Georgia"/>
              </a:rPr>
              <a:t>get</a:t>
            </a:r>
            <a:r>
              <a:rPr sz="2950" b="0" spc="-55" dirty="0">
                <a:solidFill>
                  <a:srgbClr val="2E377E"/>
                </a:solidFill>
                <a:latin typeface="Georgia"/>
                <a:cs typeface="Georgia"/>
              </a:rPr>
              <a:t> </a:t>
            </a:r>
            <a:r>
              <a:rPr sz="2950" b="0" spc="-25" dirty="0">
                <a:solidFill>
                  <a:srgbClr val="2E377E"/>
                </a:solidFill>
                <a:latin typeface="Georgia"/>
                <a:cs typeface="Georgia"/>
              </a:rPr>
              <a:t>po</a:t>
            </a:r>
            <a:endParaRPr sz="2950">
              <a:latin typeface="Georgia"/>
              <a:cs typeface="Georgia"/>
            </a:endParaRPr>
          </a:p>
        </p:txBody>
      </p:sp>
      <p:sp>
        <p:nvSpPr>
          <p:cNvPr id="4" name="object 4"/>
          <p:cNvSpPr txBox="1"/>
          <p:nvPr/>
        </p:nvSpPr>
        <p:spPr>
          <a:xfrm>
            <a:off x="8248095" y="4474149"/>
            <a:ext cx="9340215" cy="2660650"/>
          </a:xfrm>
          <a:prstGeom prst="rect">
            <a:avLst/>
          </a:prstGeom>
        </p:spPr>
        <p:txBody>
          <a:bodyPr vert="horz" wrap="square" lIns="0" tIns="12065" rIns="0" bIns="0" rtlCol="0">
            <a:spAutoFit/>
          </a:bodyPr>
          <a:lstStyle/>
          <a:p>
            <a:pPr marL="12700" marR="5080">
              <a:lnSpc>
                <a:spcPct val="117200"/>
              </a:lnSpc>
              <a:spcBef>
                <a:spcPts val="95"/>
              </a:spcBef>
            </a:pPr>
            <a:r>
              <a:rPr sz="2950" spc="50" dirty="0">
                <a:solidFill>
                  <a:srgbClr val="2E377E"/>
                </a:solidFill>
                <a:latin typeface="Georgia"/>
                <a:cs typeface="Georgia"/>
              </a:rPr>
              <a:t>kubectl</a:t>
            </a:r>
            <a:r>
              <a:rPr sz="2950" spc="-15" dirty="0">
                <a:solidFill>
                  <a:srgbClr val="2E377E"/>
                </a:solidFill>
                <a:latin typeface="Georgia"/>
                <a:cs typeface="Georgia"/>
              </a:rPr>
              <a:t> </a:t>
            </a:r>
            <a:r>
              <a:rPr sz="2950" spc="65" dirty="0">
                <a:solidFill>
                  <a:srgbClr val="2E377E"/>
                </a:solidFill>
                <a:latin typeface="Georgia"/>
                <a:cs typeface="Georgia"/>
              </a:rPr>
              <a:t>exec</a:t>
            </a:r>
            <a:r>
              <a:rPr sz="2950" spc="-15" dirty="0">
                <a:solidFill>
                  <a:srgbClr val="2E377E"/>
                </a:solidFill>
                <a:latin typeface="Georgia"/>
                <a:cs typeface="Georgia"/>
              </a:rPr>
              <a:t> </a:t>
            </a:r>
            <a:r>
              <a:rPr sz="2950" spc="50" dirty="0">
                <a:solidFill>
                  <a:srgbClr val="2E377E"/>
                </a:solidFill>
                <a:latin typeface="Georgia"/>
                <a:cs typeface="Georgia"/>
              </a:rPr>
              <a:t>pvdeploy-</a:t>
            </a:r>
            <a:r>
              <a:rPr sz="2950" spc="-95" dirty="0">
                <a:solidFill>
                  <a:srgbClr val="2E377E"/>
                </a:solidFill>
                <a:latin typeface="Georgia"/>
                <a:cs typeface="Georgia"/>
              </a:rPr>
              <a:t>86c99cf54d-</a:t>
            </a:r>
            <a:r>
              <a:rPr sz="2950" spc="-75" dirty="0">
                <a:solidFill>
                  <a:srgbClr val="2E377E"/>
                </a:solidFill>
                <a:latin typeface="Georgia"/>
                <a:cs typeface="Georgia"/>
              </a:rPr>
              <a:t>d8rj4</a:t>
            </a:r>
            <a:r>
              <a:rPr sz="2950" spc="-15" dirty="0">
                <a:solidFill>
                  <a:srgbClr val="2E377E"/>
                </a:solidFill>
                <a:latin typeface="Georgia"/>
                <a:cs typeface="Georgia"/>
              </a:rPr>
              <a:t> </a:t>
            </a:r>
            <a:r>
              <a:rPr sz="2950" dirty="0">
                <a:solidFill>
                  <a:srgbClr val="2E377E"/>
                </a:solidFill>
                <a:latin typeface="Georgia"/>
                <a:cs typeface="Georgia"/>
              </a:rPr>
              <a:t>-</a:t>
            </a:r>
            <a:r>
              <a:rPr sz="2950" spc="55" dirty="0">
                <a:solidFill>
                  <a:srgbClr val="2E377E"/>
                </a:solidFill>
                <a:latin typeface="Georgia"/>
                <a:cs typeface="Georgia"/>
              </a:rPr>
              <a:t>it</a:t>
            </a:r>
            <a:r>
              <a:rPr sz="2950" spc="-15" dirty="0">
                <a:solidFill>
                  <a:srgbClr val="2E377E"/>
                </a:solidFill>
                <a:latin typeface="Georgia"/>
                <a:cs typeface="Georgia"/>
              </a:rPr>
              <a:t> </a:t>
            </a:r>
            <a:r>
              <a:rPr sz="2950" dirty="0">
                <a:solidFill>
                  <a:srgbClr val="2E377E"/>
                </a:solidFill>
                <a:latin typeface="Georgia"/>
                <a:cs typeface="Georgia"/>
              </a:rPr>
              <a:t>--</a:t>
            </a:r>
            <a:r>
              <a:rPr sz="2950" spc="-15" dirty="0">
                <a:solidFill>
                  <a:srgbClr val="2E377E"/>
                </a:solidFill>
                <a:latin typeface="Georgia"/>
                <a:cs typeface="Georgia"/>
              </a:rPr>
              <a:t> </a:t>
            </a:r>
            <a:r>
              <a:rPr sz="2950" spc="-10" dirty="0">
                <a:solidFill>
                  <a:srgbClr val="2E377E"/>
                </a:solidFill>
                <a:latin typeface="Georgia"/>
                <a:cs typeface="Georgia"/>
              </a:rPr>
              <a:t>/bin/bash </a:t>
            </a:r>
            <a:r>
              <a:rPr sz="2950" dirty="0">
                <a:solidFill>
                  <a:srgbClr val="2E377E"/>
                </a:solidFill>
                <a:latin typeface="Georgia"/>
                <a:cs typeface="Georgia"/>
              </a:rPr>
              <a:t>cd</a:t>
            </a:r>
            <a:r>
              <a:rPr sz="2950" spc="-5" dirty="0">
                <a:solidFill>
                  <a:srgbClr val="2E377E"/>
                </a:solidFill>
                <a:latin typeface="Georgia"/>
                <a:cs typeface="Georgia"/>
              </a:rPr>
              <a:t> </a:t>
            </a:r>
            <a:r>
              <a:rPr sz="2950" spc="-10" dirty="0">
                <a:solidFill>
                  <a:srgbClr val="2E377E"/>
                </a:solidFill>
                <a:latin typeface="Georgia"/>
                <a:cs typeface="Georgia"/>
              </a:rPr>
              <a:t>/tmp/persistent/</a:t>
            </a:r>
            <a:endParaRPr sz="2950" dirty="0">
              <a:latin typeface="Georgia"/>
              <a:cs typeface="Georgia"/>
            </a:endParaRPr>
          </a:p>
          <a:p>
            <a:pPr marL="12700">
              <a:lnSpc>
                <a:spcPct val="100000"/>
              </a:lnSpc>
              <a:spcBef>
                <a:spcPts val="610"/>
              </a:spcBef>
            </a:pPr>
            <a:r>
              <a:rPr sz="2950" spc="-25" dirty="0">
                <a:solidFill>
                  <a:srgbClr val="2E377E"/>
                </a:solidFill>
                <a:latin typeface="Georgia"/>
                <a:cs typeface="Georgia"/>
              </a:rPr>
              <a:t>ls</a:t>
            </a:r>
            <a:endParaRPr sz="2950" dirty="0">
              <a:latin typeface="Georgia"/>
              <a:cs typeface="Georgia"/>
            </a:endParaRPr>
          </a:p>
          <a:p>
            <a:pPr marL="12700" marR="7486650">
              <a:lnSpc>
                <a:spcPct val="117200"/>
              </a:lnSpc>
            </a:pPr>
            <a:r>
              <a:rPr sz="2950" spc="70" dirty="0">
                <a:solidFill>
                  <a:srgbClr val="2E377E"/>
                </a:solidFill>
                <a:latin typeface="Georgia"/>
                <a:cs typeface="Georgia"/>
              </a:rPr>
              <a:t>vim</a:t>
            </a:r>
            <a:r>
              <a:rPr sz="2950" spc="-60" dirty="0">
                <a:solidFill>
                  <a:srgbClr val="2E377E"/>
                </a:solidFill>
                <a:latin typeface="Georgia"/>
                <a:cs typeface="Georgia"/>
              </a:rPr>
              <a:t> </a:t>
            </a:r>
            <a:r>
              <a:rPr lang="en-IN" sz="2950" spc="-10" dirty="0">
                <a:solidFill>
                  <a:srgbClr val="2E377E"/>
                </a:solidFill>
                <a:latin typeface="Georgia"/>
                <a:cs typeface="Georgia"/>
              </a:rPr>
              <a:t>rajco</a:t>
            </a:r>
            <a:r>
              <a:rPr sz="2950" spc="-10" dirty="0">
                <a:solidFill>
                  <a:srgbClr val="2E377E"/>
                </a:solidFill>
                <a:latin typeface="Georgia"/>
                <a:cs typeface="Georgia"/>
              </a:rPr>
              <a:t> </a:t>
            </a:r>
            <a:r>
              <a:rPr sz="2950" spc="45" dirty="0">
                <a:solidFill>
                  <a:srgbClr val="2E377E"/>
                </a:solidFill>
                <a:latin typeface="Georgia"/>
                <a:cs typeface="Georgia"/>
              </a:rPr>
              <a:t>exit</a:t>
            </a:r>
            <a:endParaRPr sz="2950" dirty="0">
              <a:latin typeface="Georgia"/>
              <a:cs typeface="Georgia"/>
            </a:endParaRPr>
          </a:p>
        </p:txBody>
      </p:sp>
      <p:sp>
        <p:nvSpPr>
          <p:cNvPr id="5" name="object 5"/>
          <p:cNvSpPr txBox="1"/>
          <p:nvPr/>
        </p:nvSpPr>
        <p:spPr>
          <a:xfrm>
            <a:off x="8248095" y="7636238"/>
            <a:ext cx="9577705" cy="1079500"/>
          </a:xfrm>
          <a:prstGeom prst="rect">
            <a:avLst/>
          </a:prstGeom>
        </p:spPr>
        <p:txBody>
          <a:bodyPr vert="horz" wrap="square" lIns="0" tIns="12065" rIns="0" bIns="0" rtlCol="0">
            <a:spAutoFit/>
          </a:bodyPr>
          <a:lstStyle/>
          <a:p>
            <a:pPr marL="12700" marR="5080">
              <a:lnSpc>
                <a:spcPct val="117200"/>
              </a:lnSpc>
              <a:spcBef>
                <a:spcPts val="95"/>
              </a:spcBef>
            </a:pPr>
            <a:r>
              <a:rPr sz="2950" spc="80" dirty="0">
                <a:solidFill>
                  <a:srgbClr val="2E377E"/>
                </a:solidFill>
                <a:latin typeface="Georgia"/>
                <a:cs typeface="Georgia"/>
              </a:rPr>
              <a:t>now</a:t>
            </a:r>
            <a:r>
              <a:rPr sz="2950" spc="15" dirty="0">
                <a:solidFill>
                  <a:srgbClr val="2E377E"/>
                </a:solidFill>
                <a:latin typeface="Georgia"/>
                <a:cs typeface="Georgia"/>
              </a:rPr>
              <a:t> </a:t>
            </a:r>
            <a:r>
              <a:rPr sz="2950" dirty="0">
                <a:solidFill>
                  <a:srgbClr val="2E377E"/>
                </a:solidFill>
                <a:latin typeface="Georgia"/>
                <a:cs typeface="Georgia"/>
              </a:rPr>
              <a:t>delete</a:t>
            </a:r>
            <a:r>
              <a:rPr sz="2950" spc="15" dirty="0">
                <a:solidFill>
                  <a:srgbClr val="2E377E"/>
                </a:solidFill>
                <a:latin typeface="Georgia"/>
                <a:cs typeface="Georgia"/>
              </a:rPr>
              <a:t> </a:t>
            </a:r>
            <a:r>
              <a:rPr sz="2950" spc="60" dirty="0">
                <a:solidFill>
                  <a:srgbClr val="2E377E"/>
                </a:solidFill>
                <a:latin typeface="Georgia"/>
                <a:cs typeface="Georgia"/>
              </a:rPr>
              <a:t>the</a:t>
            </a:r>
            <a:r>
              <a:rPr sz="2950" spc="20" dirty="0">
                <a:solidFill>
                  <a:srgbClr val="2E377E"/>
                </a:solidFill>
                <a:latin typeface="Georgia"/>
                <a:cs typeface="Georgia"/>
              </a:rPr>
              <a:t> </a:t>
            </a:r>
            <a:r>
              <a:rPr sz="2950" dirty="0">
                <a:solidFill>
                  <a:srgbClr val="2E377E"/>
                </a:solidFill>
                <a:latin typeface="Georgia"/>
                <a:cs typeface="Georgia"/>
              </a:rPr>
              <a:t>pod</a:t>
            </a:r>
            <a:r>
              <a:rPr sz="2950" spc="15" dirty="0">
                <a:solidFill>
                  <a:srgbClr val="2E377E"/>
                </a:solidFill>
                <a:latin typeface="Georgia"/>
                <a:cs typeface="Georgia"/>
              </a:rPr>
              <a:t> </a:t>
            </a:r>
            <a:r>
              <a:rPr sz="2950" dirty="0">
                <a:solidFill>
                  <a:srgbClr val="2E377E"/>
                </a:solidFill>
                <a:latin typeface="Georgia"/>
                <a:cs typeface="Georgia"/>
              </a:rPr>
              <a:t>and</a:t>
            </a:r>
            <a:r>
              <a:rPr sz="2950" spc="15" dirty="0">
                <a:solidFill>
                  <a:srgbClr val="2E377E"/>
                </a:solidFill>
                <a:latin typeface="Georgia"/>
                <a:cs typeface="Georgia"/>
              </a:rPr>
              <a:t> </a:t>
            </a:r>
            <a:r>
              <a:rPr sz="2950" spc="85" dirty="0">
                <a:solidFill>
                  <a:srgbClr val="2E377E"/>
                </a:solidFill>
                <a:latin typeface="Georgia"/>
                <a:cs typeface="Georgia"/>
              </a:rPr>
              <a:t>new</a:t>
            </a:r>
            <a:r>
              <a:rPr sz="2950" spc="20" dirty="0">
                <a:solidFill>
                  <a:srgbClr val="2E377E"/>
                </a:solidFill>
                <a:latin typeface="Georgia"/>
                <a:cs typeface="Georgia"/>
              </a:rPr>
              <a:t> </a:t>
            </a:r>
            <a:r>
              <a:rPr sz="2950" dirty="0">
                <a:solidFill>
                  <a:srgbClr val="2E377E"/>
                </a:solidFill>
                <a:latin typeface="Georgia"/>
                <a:cs typeface="Georgia"/>
              </a:rPr>
              <a:t>pod</a:t>
            </a:r>
            <a:r>
              <a:rPr sz="2950" spc="15" dirty="0">
                <a:solidFill>
                  <a:srgbClr val="2E377E"/>
                </a:solidFill>
                <a:latin typeface="Georgia"/>
                <a:cs typeface="Georgia"/>
              </a:rPr>
              <a:t> </a:t>
            </a:r>
            <a:r>
              <a:rPr sz="2950" dirty="0">
                <a:solidFill>
                  <a:srgbClr val="2E377E"/>
                </a:solidFill>
                <a:latin typeface="Georgia"/>
                <a:cs typeface="Georgia"/>
              </a:rPr>
              <a:t>will</a:t>
            </a:r>
            <a:r>
              <a:rPr sz="2950" spc="20" dirty="0">
                <a:solidFill>
                  <a:srgbClr val="2E377E"/>
                </a:solidFill>
                <a:latin typeface="Georgia"/>
                <a:cs typeface="Georgia"/>
              </a:rPr>
              <a:t> </a:t>
            </a:r>
            <a:r>
              <a:rPr sz="2950" dirty="0">
                <a:solidFill>
                  <a:srgbClr val="2E377E"/>
                </a:solidFill>
                <a:latin typeface="Georgia"/>
                <a:cs typeface="Georgia"/>
              </a:rPr>
              <a:t>created</a:t>
            </a:r>
            <a:r>
              <a:rPr sz="2950" spc="15" dirty="0">
                <a:solidFill>
                  <a:srgbClr val="2E377E"/>
                </a:solidFill>
                <a:latin typeface="Georgia"/>
                <a:cs typeface="Georgia"/>
              </a:rPr>
              <a:t> </a:t>
            </a:r>
            <a:r>
              <a:rPr sz="2950" spc="50" dirty="0">
                <a:solidFill>
                  <a:srgbClr val="2E377E"/>
                </a:solidFill>
                <a:latin typeface="Georgia"/>
                <a:cs typeface="Georgia"/>
              </a:rPr>
              <a:t>then</a:t>
            </a:r>
            <a:r>
              <a:rPr sz="2950" spc="15" dirty="0">
                <a:solidFill>
                  <a:srgbClr val="2E377E"/>
                </a:solidFill>
                <a:latin typeface="Georgia"/>
                <a:cs typeface="Georgia"/>
              </a:rPr>
              <a:t> </a:t>
            </a:r>
            <a:r>
              <a:rPr sz="2950" dirty="0">
                <a:solidFill>
                  <a:srgbClr val="2E377E"/>
                </a:solidFill>
                <a:latin typeface="Georgia"/>
                <a:cs typeface="Georgia"/>
              </a:rPr>
              <a:t>in</a:t>
            </a:r>
            <a:r>
              <a:rPr sz="2950" spc="15" dirty="0">
                <a:solidFill>
                  <a:srgbClr val="2E377E"/>
                </a:solidFill>
                <a:latin typeface="Georgia"/>
                <a:cs typeface="Georgia"/>
              </a:rPr>
              <a:t> </a:t>
            </a:r>
            <a:r>
              <a:rPr sz="2950" spc="35" dirty="0">
                <a:solidFill>
                  <a:srgbClr val="2E377E"/>
                </a:solidFill>
                <a:latin typeface="Georgia"/>
                <a:cs typeface="Georgia"/>
              </a:rPr>
              <a:t>that </a:t>
            </a:r>
            <a:r>
              <a:rPr sz="2950" dirty="0">
                <a:solidFill>
                  <a:srgbClr val="2E377E"/>
                </a:solidFill>
                <a:latin typeface="Georgia"/>
                <a:cs typeface="Georgia"/>
              </a:rPr>
              <a:t>pod</a:t>
            </a:r>
            <a:r>
              <a:rPr sz="2950" spc="15" dirty="0">
                <a:solidFill>
                  <a:srgbClr val="2E377E"/>
                </a:solidFill>
                <a:latin typeface="Georgia"/>
                <a:cs typeface="Georgia"/>
              </a:rPr>
              <a:t> </a:t>
            </a:r>
            <a:r>
              <a:rPr sz="2950" spc="85" dirty="0">
                <a:solidFill>
                  <a:srgbClr val="2E377E"/>
                </a:solidFill>
                <a:latin typeface="Georgia"/>
                <a:cs typeface="Georgia"/>
              </a:rPr>
              <a:t>you</a:t>
            </a:r>
            <a:r>
              <a:rPr sz="2950" spc="15" dirty="0">
                <a:solidFill>
                  <a:srgbClr val="2E377E"/>
                </a:solidFill>
                <a:latin typeface="Georgia"/>
                <a:cs typeface="Georgia"/>
              </a:rPr>
              <a:t> </a:t>
            </a:r>
            <a:r>
              <a:rPr sz="2950" dirty="0">
                <a:solidFill>
                  <a:srgbClr val="2E377E"/>
                </a:solidFill>
                <a:latin typeface="Georgia"/>
                <a:cs typeface="Georgia"/>
              </a:rPr>
              <a:t>will</a:t>
            </a:r>
            <a:r>
              <a:rPr sz="2950" spc="15" dirty="0">
                <a:solidFill>
                  <a:srgbClr val="2E377E"/>
                </a:solidFill>
                <a:latin typeface="Georgia"/>
                <a:cs typeface="Georgia"/>
              </a:rPr>
              <a:t> </a:t>
            </a:r>
            <a:r>
              <a:rPr sz="2950" dirty="0">
                <a:solidFill>
                  <a:srgbClr val="2E377E"/>
                </a:solidFill>
                <a:latin typeface="Georgia"/>
                <a:cs typeface="Georgia"/>
              </a:rPr>
              <a:t>see</a:t>
            </a:r>
            <a:r>
              <a:rPr sz="2950" spc="15" dirty="0">
                <a:solidFill>
                  <a:srgbClr val="2E377E"/>
                </a:solidFill>
                <a:latin typeface="Georgia"/>
                <a:cs typeface="Georgia"/>
              </a:rPr>
              <a:t> </a:t>
            </a:r>
            <a:r>
              <a:rPr sz="2950" spc="60" dirty="0">
                <a:solidFill>
                  <a:srgbClr val="2E377E"/>
                </a:solidFill>
                <a:latin typeface="Georgia"/>
                <a:cs typeface="Georgia"/>
              </a:rPr>
              <a:t>the</a:t>
            </a:r>
            <a:r>
              <a:rPr sz="2950" spc="15" dirty="0">
                <a:solidFill>
                  <a:srgbClr val="2E377E"/>
                </a:solidFill>
                <a:latin typeface="Georgia"/>
                <a:cs typeface="Georgia"/>
              </a:rPr>
              <a:t> </a:t>
            </a:r>
            <a:r>
              <a:rPr sz="2950" dirty="0">
                <a:solidFill>
                  <a:srgbClr val="2E377E"/>
                </a:solidFill>
                <a:latin typeface="Georgia"/>
                <a:cs typeface="Georgia"/>
              </a:rPr>
              <a:t>same</a:t>
            </a:r>
            <a:r>
              <a:rPr sz="2950" spc="15" dirty="0">
                <a:solidFill>
                  <a:srgbClr val="2E377E"/>
                </a:solidFill>
                <a:latin typeface="Georgia"/>
                <a:cs typeface="Georgia"/>
              </a:rPr>
              <a:t> </a:t>
            </a:r>
            <a:r>
              <a:rPr sz="2950" spc="-10" dirty="0">
                <a:solidFill>
                  <a:srgbClr val="2E377E"/>
                </a:solidFill>
                <a:latin typeface="Georgia"/>
                <a:cs typeface="Georgia"/>
              </a:rPr>
              <a:t>content.</a:t>
            </a:r>
            <a:endParaRPr sz="2950">
              <a:latin typeface="Georgia"/>
              <a:cs typeface="Georgia"/>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17337" y="2926357"/>
            <a:ext cx="115395" cy="115395"/>
          </a:xfrm>
          <a:prstGeom prst="rect">
            <a:avLst/>
          </a:prstGeom>
        </p:spPr>
      </p:pic>
      <p:pic>
        <p:nvPicPr>
          <p:cNvPr id="3" name="object 3"/>
          <p:cNvPicPr/>
          <p:nvPr/>
        </p:nvPicPr>
        <p:blipFill>
          <a:blip r:embed="rId3" cstate="print"/>
          <a:stretch>
            <a:fillRect/>
          </a:stretch>
        </p:blipFill>
        <p:spPr>
          <a:xfrm>
            <a:off x="917337" y="4503429"/>
            <a:ext cx="115395" cy="115395"/>
          </a:xfrm>
          <a:prstGeom prst="rect">
            <a:avLst/>
          </a:prstGeom>
        </p:spPr>
      </p:pic>
      <p:pic>
        <p:nvPicPr>
          <p:cNvPr id="4" name="object 4"/>
          <p:cNvPicPr/>
          <p:nvPr/>
        </p:nvPicPr>
        <p:blipFill>
          <a:blip r:embed="rId4" cstate="print"/>
          <a:stretch>
            <a:fillRect/>
          </a:stretch>
        </p:blipFill>
        <p:spPr>
          <a:xfrm>
            <a:off x="917337" y="6080502"/>
            <a:ext cx="115395" cy="115395"/>
          </a:xfrm>
          <a:prstGeom prst="rect">
            <a:avLst/>
          </a:prstGeom>
        </p:spPr>
      </p:pic>
      <p:pic>
        <p:nvPicPr>
          <p:cNvPr id="5" name="object 5"/>
          <p:cNvPicPr/>
          <p:nvPr/>
        </p:nvPicPr>
        <p:blipFill>
          <a:blip r:embed="rId4" cstate="print"/>
          <a:stretch>
            <a:fillRect/>
          </a:stretch>
        </p:blipFill>
        <p:spPr>
          <a:xfrm>
            <a:off x="917337" y="7657574"/>
            <a:ext cx="115395" cy="115394"/>
          </a:xfrm>
          <a:prstGeom prst="rect">
            <a:avLst/>
          </a:prstGeom>
        </p:spPr>
      </p:pic>
      <p:sp>
        <p:nvSpPr>
          <p:cNvPr id="6" name="object 6"/>
          <p:cNvSpPr txBox="1"/>
          <p:nvPr/>
        </p:nvSpPr>
        <p:spPr>
          <a:xfrm>
            <a:off x="584094" y="539920"/>
            <a:ext cx="17141190" cy="8436610"/>
          </a:xfrm>
          <a:prstGeom prst="rect">
            <a:avLst/>
          </a:prstGeom>
        </p:spPr>
        <p:txBody>
          <a:bodyPr vert="horz" wrap="square" lIns="0" tIns="88265" rIns="0" bIns="0" rtlCol="0">
            <a:spAutoFit/>
          </a:bodyPr>
          <a:lstStyle/>
          <a:p>
            <a:pPr marL="12700">
              <a:lnSpc>
                <a:spcPct val="100000"/>
              </a:lnSpc>
              <a:spcBef>
                <a:spcPts val="695"/>
              </a:spcBef>
            </a:pPr>
            <a:r>
              <a:rPr sz="2950" spc="65" dirty="0">
                <a:solidFill>
                  <a:srgbClr val="2E377E"/>
                </a:solidFill>
                <a:latin typeface="Times New Roman"/>
                <a:cs typeface="Times New Roman"/>
              </a:rPr>
              <a:t>Access</a:t>
            </a:r>
            <a:r>
              <a:rPr sz="2950" spc="-80" dirty="0">
                <a:solidFill>
                  <a:srgbClr val="2E377E"/>
                </a:solidFill>
                <a:latin typeface="Times New Roman"/>
                <a:cs typeface="Times New Roman"/>
              </a:rPr>
              <a:t> </a:t>
            </a:r>
            <a:r>
              <a:rPr sz="2950" spc="114" dirty="0">
                <a:solidFill>
                  <a:srgbClr val="2E377E"/>
                </a:solidFill>
                <a:latin typeface="Times New Roman"/>
                <a:cs typeface="Times New Roman"/>
              </a:rPr>
              <a:t>Modes</a:t>
            </a:r>
            <a:endParaRPr sz="2950">
              <a:latin typeface="Times New Roman"/>
              <a:cs typeface="Times New Roman"/>
            </a:endParaRPr>
          </a:p>
          <a:p>
            <a:pPr marL="12700" marR="159385">
              <a:lnSpc>
                <a:spcPct val="116900"/>
              </a:lnSpc>
            </a:pPr>
            <a:r>
              <a:rPr sz="2950" dirty="0">
                <a:solidFill>
                  <a:srgbClr val="2E377E"/>
                </a:solidFill>
                <a:latin typeface="Georgia"/>
                <a:cs typeface="Georgia"/>
              </a:rPr>
              <a:t>access</a:t>
            </a:r>
            <a:r>
              <a:rPr sz="2950" spc="40" dirty="0">
                <a:solidFill>
                  <a:srgbClr val="2E377E"/>
                </a:solidFill>
                <a:latin typeface="Georgia"/>
                <a:cs typeface="Georgia"/>
              </a:rPr>
              <a:t> </a:t>
            </a:r>
            <a:r>
              <a:rPr sz="2950" dirty="0">
                <a:solidFill>
                  <a:srgbClr val="2E377E"/>
                </a:solidFill>
                <a:latin typeface="Georgia"/>
                <a:cs typeface="Georgia"/>
              </a:rPr>
              <a:t>modes</a:t>
            </a:r>
            <a:r>
              <a:rPr sz="2950" spc="50" dirty="0">
                <a:solidFill>
                  <a:srgbClr val="2E377E"/>
                </a:solidFill>
                <a:latin typeface="Georgia"/>
                <a:cs typeface="Georgia"/>
              </a:rPr>
              <a:t> </a:t>
            </a:r>
            <a:r>
              <a:rPr sz="2950" dirty="0">
                <a:solidFill>
                  <a:srgbClr val="2E377E"/>
                </a:solidFill>
                <a:latin typeface="Georgia"/>
                <a:cs typeface="Georgia"/>
              </a:rPr>
              <a:t>determine</a:t>
            </a:r>
            <a:r>
              <a:rPr sz="2950" spc="50" dirty="0">
                <a:solidFill>
                  <a:srgbClr val="2E377E"/>
                </a:solidFill>
                <a:latin typeface="Georgia"/>
                <a:cs typeface="Georgia"/>
              </a:rPr>
              <a:t> </a:t>
            </a:r>
            <a:r>
              <a:rPr sz="2950" spc="65" dirty="0">
                <a:solidFill>
                  <a:srgbClr val="2E377E"/>
                </a:solidFill>
                <a:latin typeface="Georgia"/>
                <a:cs typeface="Georgia"/>
              </a:rPr>
              <a:t>how</a:t>
            </a:r>
            <a:r>
              <a:rPr sz="2950" spc="50" dirty="0">
                <a:solidFill>
                  <a:srgbClr val="2E377E"/>
                </a:solidFill>
                <a:latin typeface="Georgia"/>
                <a:cs typeface="Georgia"/>
              </a:rPr>
              <a:t> many</a:t>
            </a:r>
            <a:r>
              <a:rPr sz="2950" spc="55" dirty="0">
                <a:solidFill>
                  <a:srgbClr val="2E377E"/>
                </a:solidFill>
                <a:latin typeface="Georgia"/>
                <a:cs typeface="Georgia"/>
              </a:rPr>
              <a:t> </a:t>
            </a:r>
            <a:r>
              <a:rPr sz="2950" dirty="0">
                <a:solidFill>
                  <a:srgbClr val="2E377E"/>
                </a:solidFill>
                <a:latin typeface="Georgia"/>
                <a:cs typeface="Georgia"/>
              </a:rPr>
              <a:t>pods</a:t>
            </a:r>
            <a:r>
              <a:rPr sz="2950" spc="50" dirty="0">
                <a:solidFill>
                  <a:srgbClr val="2E377E"/>
                </a:solidFill>
                <a:latin typeface="Georgia"/>
                <a:cs typeface="Georgia"/>
              </a:rPr>
              <a:t> </a:t>
            </a:r>
            <a:r>
              <a:rPr sz="2950" dirty="0">
                <a:solidFill>
                  <a:srgbClr val="2E377E"/>
                </a:solidFill>
                <a:latin typeface="Georgia"/>
                <a:cs typeface="Georgia"/>
              </a:rPr>
              <a:t>can</a:t>
            </a:r>
            <a:r>
              <a:rPr sz="2950" spc="50" dirty="0">
                <a:solidFill>
                  <a:srgbClr val="2E377E"/>
                </a:solidFill>
                <a:latin typeface="Georgia"/>
                <a:cs typeface="Georgia"/>
              </a:rPr>
              <a:t> </a:t>
            </a:r>
            <a:r>
              <a:rPr sz="2950" dirty="0">
                <a:solidFill>
                  <a:srgbClr val="2E377E"/>
                </a:solidFill>
                <a:latin typeface="Georgia"/>
                <a:cs typeface="Georgia"/>
              </a:rPr>
              <a:t>access</a:t>
            </a:r>
            <a:r>
              <a:rPr sz="2950" spc="50" dirty="0">
                <a:solidFill>
                  <a:srgbClr val="2E377E"/>
                </a:solidFill>
                <a:latin typeface="Georgia"/>
                <a:cs typeface="Georgia"/>
              </a:rPr>
              <a:t> </a:t>
            </a:r>
            <a:r>
              <a:rPr sz="2950" dirty="0">
                <a:solidFill>
                  <a:srgbClr val="2E377E"/>
                </a:solidFill>
                <a:latin typeface="Georgia"/>
                <a:cs typeface="Georgia"/>
              </a:rPr>
              <a:t>a</a:t>
            </a:r>
            <a:r>
              <a:rPr sz="2950" spc="50" dirty="0">
                <a:solidFill>
                  <a:srgbClr val="2E377E"/>
                </a:solidFill>
                <a:latin typeface="Georgia"/>
                <a:cs typeface="Georgia"/>
              </a:rPr>
              <a:t> </a:t>
            </a:r>
            <a:r>
              <a:rPr sz="2950" dirty="0">
                <a:solidFill>
                  <a:srgbClr val="2E377E"/>
                </a:solidFill>
                <a:latin typeface="Georgia"/>
                <a:cs typeface="Georgia"/>
              </a:rPr>
              <a:t>Persistent</a:t>
            </a:r>
            <a:r>
              <a:rPr sz="2950" spc="50" dirty="0">
                <a:solidFill>
                  <a:srgbClr val="2E377E"/>
                </a:solidFill>
                <a:latin typeface="Georgia"/>
                <a:cs typeface="Georgia"/>
              </a:rPr>
              <a:t> </a:t>
            </a:r>
            <a:r>
              <a:rPr sz="2950" dirty="0">
                <a:solidFill>
                  <a:srgbClr val="2E377E"/>
                </a:solidFill>
                <a:latin typeface="Georgia"/>
                <a:cs typeface="Georgia"/>
              </a:rPr>
              <a:t>Volume</a:t>
            </a:r>
            <a:r>
              <a:rPr sz="2950" spc="50" dirty="0">
                <a:solidFill>
                  <a:srgbClr val="2E377E"/>
                </a:solidFill>
                <a:latin typeface="Georgia"/>
                <a:cs typeface="Georgia"/>
              </a:rPr>
              <a:t> </a:t>
            </a:r>
            <a:r>
              <a:rPr sz="2950" spc="-160" dirty="0">
                <a:solidFill>
                  <a:srgbClr val="2E377E"/>
                </a:solidFill>
                <a:latin typeface="Georgia"/>
                <a:cs typeface="Georgia"/>
              </a:rPr>
              <a:t>(PV)</a:t>
            </a:r>
            <a:r>
              <a:rPr sz="2950" spc="50" dirty="0">
                <a:solidFill>
                  <a:srgbClr val="2E377E"/>
                </a:solidFill>
                <a:latin typeface="Georgia"/>
                <a:cs typeface="Georgia"/>
              </a:rPr>
              <a:t> </a:t>
            </a:r>
            <a:r>
              <a:rPr sz="2950" dirty="0">
                <a:solidFill>
                  <a:srgbClr val="2E377E"/>
                </a:solidFill>
                <a:latin typeface="Georgia"/>
                <a:cs typeface="Georgia"/>
              </a:rPr>
              <a:t>or</a:t>
            </a:r>
            <a:r>
              <a:rPr sz="2950" spc="55" dirty="0">
                <a:solidFill>
                  <a:srgbClr val="2E377E"/>
                </a:solidFill>
                <a:latin typeface="Georgia"/>
                <a:cs typeface="Georgia"/>
              </a:rPr>
              <a:t> </a:t>
            </a:r>
            <a:r>
              <a:rPr sz="2950" dirty="0">
                <a:solidFill>
                  <a:srgbClr val="2E377E"/>
                </a:solidFill>
                <a:latin typeface="Georgia"/>
                <a:cs typeface="Georgia"/>
              </a:rPr>
              <a:t>a</a:t>
            </a:r>
            <a:r>
              <a:rPr sz="2950" spc="50" dirty="0">
                <a:solidFill>
                  <a:srgbClr val="2E377E"/>
                </a:solidFill>
                <a:latin typeface="Georgia"/>
                <a:cs typeface="Georgia"/>
              </a:rPr>
              <a:t> </a:t>
            </a:r>
            <a:r>
              <a:rPr sz="2950" dirty="0">
                <a:solidFill>
                  <a:srgbClr val="2E377E"/>
                </a:solidFill>
                <a:latin typeface="Georgia"/>
                <a:cs typeface="Georgia"/>
              </a:rPr>
              <a:t>Persistent</a:t>
            </a:r>
            <a:r>
              <a:rPr sz="2950" spc="50" dirty="0">
                <a:solidFill>
                  <a:srgbClr val="2E377E"/>
                </a:solidFill>
                <a:latin typeface="Georgia"/>
                <a:cs typeface="Georgia"/>
              </a:rPr>
              <a:t> </a:t>
            </a:r>
            <a:r>
              <a:rPr sz="2950" spc="-10" dirty="0">
                <a:solidFill>
                  <a:srgbClr val="2E377E"/>
                </a:solidFill>
                <a:latin typeface="Georgia"/>
                <a:cs typeface="Georgia"/>
              </a:rPr>
              <a:t>Volume </a:t>
            </a:r>
            <a:r>
              <a:rPr sz="2950" dirty="0">
                <a:solidFill>
                  <a:srgbClr val="2E377E"/>
                </a:solidFill>
                <a:latin typeface="Georgia"/>
                <a:cs typeface="Georgia"/>
              </a:rPr>
              <a:t>Claim</a:t>
            </a:r>
            <a:r>
              <a:rPr sz="2950" spc="5" dirty="0">
                <a:solidFill>
                  <a:srgbClr val="2E377E"/>
                </a:solidFill>
                <a:latin typeface="Georgia"/>
                <a:cs typeface="Georgia"/>
              </a:rPr>
              <a:t> </a:t>
            </a:r>
            <a:r>
              <a:rPr sz="2950" spc="-135" dirty="0">
                <a:solidFill>
                  <a:srgbClr val="2E377E"/>
                </a:solidFill>
                <a:latin typeface="Georgia"/>
                <a:cs typeface="Georgia"/>
              </a:rPr>
              <a:t>(PVC)</a:t>
            </a:r>
            <a:r>
              <a:rPr sz="2950" spc="5" dirty="0">
                <a:solidFill>
                  <a:srgbClr val="2E377E"/>
                </a:solidFill>
                <a:latin typeface="Georgia"/>
                <a:cs typeface="Georgia"/>
              </a:rPr>
              <a:t> </a:t>
            </a:r>
            <a:r>
              <a:rPr sz="2950" dirty="0">
                <a:solidFill>
                  <a:srgbClr val="2E377E"/>
                </a:solidFill>
                <a:latin typeface="Georgia"/>
                <a:cs typeface="Georgia"/>
              </a:rPr>
              <a:t>simultaneously.</a:t>
            </a:r>
            <a:r>
              <a:rPr sz="2950" spc="10" dirty="0">
                <a:solidFill>
                  <a:srgbClr val="2E377E"/>
                </a:solidFill>
                <a:latin typeface="Georgia"/>
                <a:cs typeface="Georgia"/>
              </a:rPr>
              <a:t> </a:t>
            </a:r>
            <a:r>
              <a:rPr sz="2950" dirty="0">
                <a:solidFill>
                  <a:srgbClr val="2E377E"/>
                </a:solidFill>
                <a:latin typeface="Georgia"/>
                <a:cs typeface="Georgia"/>
              </a:rPr>
              <a:t>There</a:t>
            </a:r>
            <a:r>
              <a:rPr sz="2950" spc="5" dirty="0">
                <a:solidFill>
                  <a:srgbClr val="2E377E"/>
                </a:solidFill>
                <a:latin typeface="Georgia"/>
                <a:cs typeface="Georgia"/>
              </a:rPr>
              <a:t> </a:t>
            </a:r>
            <a:r>
              <a:rPr sz="2950" dirty="0">
                <a:solidFill>
                  <a:srgbClr val="2E377E"/>
                </a:solidFill>
                <a:latin typeface="Georgia"/>
                <a:cs typeface="Georgia"/>
              </a:rPr>
              <a:t>are</a:t>
            </a:r>
            <a:r>
              <a:rPr sz="2950" spc="5" dirty="0">
                <a:solidFill>
                  <a:srgbClr val="2E377E"/>
                </a:solidFill>
                <a:latin typeface="Georgia"/>
                <a:cs typeface="Georgia"/>
              </a:rPr>
              <a:t> </a:t>
            </a:r>
            <a:r>
              <a:rPr sz="2950" dirty="0">
                <a:solidFill>
                  <a:srgbClr val="2E377E"/>
                </a:solidFill>
                <a:latin typeface="Georgia"/>
                <a:cs typeface="Georgia"/>
              </a:rPr>
              <a:t>several</a:t>
            </a:r>
            <a:r>
              <a:rPr sz="2950" spc="5" dirty="0">
                <a:solidFill>
                  <a:srgbClr val="2E377E"/>
                </a:solidFill>
                <a:latin typeface="Georgia"/>
                <a:cs typeface="Georgia"/>
              </a:rPr>
              <a:t> </a:t>
            </a:r>
            <a:r>
              <a:rPr sz="2950" dirty="0">
                <a:solidFill>
                  <a:srgbClr val="2E377E"/>
                </a:solidFill>
                <a:latin typeface="Georgia"/>
                <a:cs typeface="Georgia"/>
              </a:rPr>
              <a:t>access</a:t>
            </a:r>
            <a:r>
              <a:rPr sz="2950" spc="5" dirty="0">
                <a:solidFill>
                  <a:srgbClr val="2E377E"/>
                </a:solidFill>
                <a:latin typeface="Georgia"/>
                <a:cs typeface="Georgia"/>
              </a:rPr>
              <a:t> </a:t>
            </a:r>
            <a:r>
              <a:rPr sz="2950" dirty="0">
                <a:solidFill>
                  <a:srgbClr val="2E377E"/>
                </a:solidFill>
                <a:latin typeface="Georgia"/>
                <a:cs typeface="Georgia"/>
              </a:rPr>
              <a:t>modes</a:t>
            </a:r>
            <a:r>
              <a:rPr sz="2950" spc="10" dirty="0">
                <a:solidFill>
                  <a:srgbClr val="2E377E"/>
                </a:solidFill>
                <a:latin typeface="Georgia"/>
                <a:cs typeface="Georgia"/>
              </a:rPr>
              <a:t> </a:t>
            </a:r>
            <a:r>
              <a:rPr sz="2950" dirty="0">
                <a:solidFill>
                  <a:srgbClr val="2E377E"/>
                </a:solidFill>
                <a:latin typeface="Georgia"/>
                <a:cs typeface="Georgia"/>
              </a:rPr>
              <a:t>that</a:t>
            </a:r>
            <a:r>
              <a:rPr sz="2950" spc="5" dirty="0">
                <a:solidFill>
                  <a:srgbClr val="2E377E"/>
                </a:solidFill>
                <a:latin typeface="Georgia"/>
                <a:cs typeface="Georgia"/>
              </a:rPr>
              <a:t> </a:t>
            </a:r>
            <a:r>
              <a:rPr sz="2950" dirty="0">
                <a:solidFill>
                  <a:srgbClr val="2E377E"/>
                </a:solidFill>
                <a:latin typeface="Georgia"/>
                <a:cs typeface="Georgia"/>
              </a:rPr>
              <a:t>can</a:t>
            </a:r>
            <a:r>
              <a:rPr sz="2950" spc="5" dirty="0">
                <a:solidFill>
                  <a:srgbClr val="2E377E"/>
                </a:solidFill>
                <a:latin typeface="Georgia"/>
                <a:cs typeface="Georgia"/>
              </a:rPr>
              <a:t> </a:t>
            </a:r>
            <a:r>
              <a:rPr sz="2950" dirty="0">
                <a:solidFill>
                  <a:srgbClr val="2E377E"/>
                </a:solidFill>
                <a:latin typeface="Georgia"/>
                <a:cs typeface="Georgia"/>
              </a:rPr>
              <a:t>be</a:t>
            </a:r>
            <a:r>
              <a:rPr sz="2950" spc="5" dirty="0">
                <a:solidFill>
                  <a:srgbClr val="2E377E"/>
                </a:solidFill>
                <a:latin typeface="Georgia"/>
                <a:cs typeface="Georgia"/>
              </a:rPr>
              <a:t> </a:t>
            </a:r>
            <a:r>
              <a:rPr sz="2950" spc="50" dirty="0">
                <a:solidFill>
                  <a:srgbClr val="2E377E"/>
                </a:solidFill>
                <a:latin typeface="Georgia"/>
                <a:cs typeface="Georgia"/>
              </a:rPr>
              <a:t>set</a:t>
            </a:r>
            <a:r>
              <a:rPr sz="2950" spc="5" dirty="0">
                <a:solidFill>
                  <a:srgbClr val="2E377E"/>
                </a:solidFill>
                <a:latin typeface="Georgia"/>
                <a:cs typeface="Georgia"/>
              </a:rPr>
              <a:t> </a:t>
            </a:r>
            <a:r>
              <a:rPr sz="2950" dirty="0">
                <a:solidFill>
                  <a:srgbClr val="2E377E"/>
                </a:solidFill>
                <a:latin typeface="Georgia"/>
                <a:cs typeface="Georgia"/>
              </a:rPr>
              <a:t>on</a:t>
            </a:r>
            <a:r>
              <a:rPr sz="2950" spc="10" dirty="0">
                <a:solidFill>
                  <a:srgbClr val="2E377E"/>
                </a:solidFill>
                <a:latin typeface="Georgia"/>
                <a:cs typeface="Georgia"/>
              </a:rPr>
              <a:t> </a:t>
            </a:r>
            <a:r>
              <a:rPr sz="2950" dirty="0">
                <a:solidFill>
                  <a:srgbClr val="2E377E"/>
                </a:solidFill>
                <a:latin typeface="Georgia"/>
                <a:cs typeface="Georgia"/>
              </a:rPr>
              <a:t>a</a:t>
            </a:r>
            <a:r>
              <a:rPr sz="2950" spc="5" dirty="0">
                <a:solidFill>
                  <a:srgbClr val="2E377E"/>
                </a:solidFill>
                <a:latin typeface="Georgia"/>
                <a:cs typeface="Georgia"/>
              </a:rPr>
              <a:t> </a:t>
            </a:r>
            <a:r>
              <a:rPr sz="2950" dirty="0">
                <a:solidFill>
                  <a:srgbClr val="2E377E"/>
                </a:solidFill>
                <a:latin typeface="Georgia"/>
                <a:cs typeface="Georgia"/>
              </a:rPr>
              <a:t>PV</a:t>
            </a:r>
            <a:r>
              <a:rPr sz="2950" spc="5" dirty="0">
                <a:solidFill>
                  <a:srgbClr val="2E377E"/>
                </a:solidFill>
                <a:latin typeface="Georgia"/>
                <a:cs typeface="Georgia"/>
              </a:rPr>
              <a:t> </a:t>
            </a:r>
            <a:r>
              <a:rPr sz="2950" dirty="0">
                <a:solidFill>
                  <a:srgbClr val="2E377E"/>
                </a:solidFill>
                <a:latin typeface="Georgia"/>
                <a:cs typeface="Georgia"/>
              </a:rPr>
              <a:t>or</a:t>
            </a:r>
            <a:r>
              <a:rPr sz="2950" spc="5" dirty="0">
                <a:solidFill>
                  <a:srgbClr val="2E377E"/>
                </a:solidFill>
                <a:latin typeface="Georgia"/>
                <a:cs typeface="Georgia"/>
              </a:rPr>
              <a:t> </a:t>
            </a:r>
            <a:r>
              <a:rPr sz="2950" spc="-50" dirty="0">
                <a:solidFill>
                  <a:srgbClr val="2E377E"/>
                </a:solidFill>
                <a:latin typeface="Georgia"/>
                <a:cs typeface="Georgia"/>
              </a:rPr>
              <a:t>PVC,</a:t>
            </a:r>
            <a:r>
              <a:rPr sz="2950" spc="5" dirty="0">
                <a:solidFill>
                  <a:srgbClr val="2E377E"/>
                </a:solidFill>
                <a:latin typeface="Georgia"/>
                <a:cs typeface="Georgia"/>
              </a:rPr>
              <a:t> </a:t>
            </a:r>
            <a:r>
              <a:rPr sz="2950" spc="-10" dirty="0">
                <a:solidFill>
                  <a:srgbClr val="2E377E"/>
                </a:solidFill>
                <a:latin typeface="Georgia"/>
                <a:cs typeface="Georgia"/>
              </a:rPr>
              <a:t>including:</a:t>
            </a:r>
            <a:endParaRPr sz="2950">
              <a:latin typeface="Georgia"/>
              <a:cs typeface="Georgia"/>
            </a:endParaRPr>
          </a:p>
          <a:p>
            <a:pPr>
              <a:lnSpc>
                <a:spcPct val="100000"/>
              </a:lnSpc>
              <a:spcBef>
                <a:spcPts val="790"/>
              </a:spcBef>
            </a:pPr>
            <a:endParaRPr sz="2950">
              <a:latin typeface="Georgia"/>
              <a:cs typeface="Georgia"/>
            </a:endParaRPr>
          </a:p>
          <a:p>
            <a:pPr marL="651510" marR="493395">
              <a:lnSpc>
                <a:spcPct val="116900"/>
              </a:lnSpc>
            </a:pPr>
            <a:r>
              <a:rPr sz="2950" spc="120" dirty="0">
                <a:solidFill>
                  <a:srgbClr val="2E377E"/>
                </a:solidFill>
                <a:latin typeface="Times New Roman"/>
                <a:cs typeface="Times New Roman"/>
              </a:rPr>
              <a:t>ReadWriteOnce:</a:t>
            </a:r>
            <a:r>
              <a:rPr sz="2950" spc="-60" dirty="0">
                <a:solidFill>
                  <a:srgbClr val="2E377E"/>
                </a:solidFill>
                <a:latin typeface="Times New Roman"/>
                <a:cs typeface="Times New Roman"/>
              </a:rPr>
              <a:t> </a:t>
            </a:r>
            <a:r>
              <a:rPr sz="2950" dirty="0">
                <a:solidFill>
                  <a:srgbClr val="2E377E"/>
                </a:solidFill>
                <a:latin typeface="Georgia"/>
                <a:cs typeface="Georgia"/>
              </a:rPr>
              <a:t>This</a:t>
            </a:r>
            <a:r>
              <a:rPr sz="2950" spc="-35" dirty="0">
                <a:solidFill>
                  <a:srgbClr val="2E377E"/>
                </a:solidFill>
                <a:latin typeface="Georgia"/>
                <a:cs typeface="Georgia"/>
              </a:rPr>
              <a:t> </a:t>
            </a:r>
            <a:r>
              <a:rPr sz="2950" dirty="0">
                <a:solidFill>
                  <a:srgbClr val="2E377E"/>
                </a:solidFill>
                <a:latin typeface="Georgia"/>
                <a:cs typeface="Georgia"/>
              </a:rPr>
              <a:t>access</a:t>
            </a:r>
            <a:r>
              <a:rPr sz="2950" spc="-35" dirty="0">
                <a:solidFill>
                  <a:srgbClr val="2E377E"/>
                </a:solidFill>
                <a:latin typeface="Georgia"/>
                <a:cs typeface="Georgia"/>
              </a:rPr>
              <a:t> </a:t>
            </a:r>
            <a:r>
              <a:rPr sz="2950" dirty="0">
                <a:solidFill>
                  <a:srgbClr val="2E377E"/>
                </a:solidFill>
                <a:latin typeface="Georgia"/>
                <a:cs typeface="Georgia"/>
              </a:rPr>
              <a:t>mode</a:t>
            </a:r>
            <a:r>
              <a:rPr sz="2950" spc="-35" dirty="0">
                <a:solidFill>
                  <a:srgbClr val="2E377E"/>
                </a:solidFill>
                <a:latin typeface="Georgia"/>
                <a:cs typeface="Georgia"/>
              </a:rPr>
              <a:t> </a:t>
            </a:r>
            <a:r>
              <a:rPr sz="2950" dirty="0">
                <a:solidFill>
                  <a:srgbClr val="2E377E"/>
                </a:solidFill>
                <a:latin typeface="Georgia"/>
                <a:cs typeface="Georgia"/>
              </a:rPr>
              <a:t>allows</a:t>
            </a:r>
            <a:r>
              <a:rPr sz="2950" spc="-35" dirty="0">
                <a:solidFill>
                  <a:srgbClr val="2E377E"/>
                </a:solidFill>
                <a:latin typeface="Georgia"/>
                <a:cs typeface="Georgia"/>
              </a:rPr>
              <a:t> </a:t>
            </a:r>
            <a:r>
              <a:rPr sz="2950" dirty="0">
                <a:solidFill>
                  <a:srgbClr val="2E377E"/>
                </a:solidFill>
                <a:latin typeface="Georgia"/>
                <a:cs typeface="Georgia"/>
              </a:rPr>
              <a:t>a</a:t>
            </a:r>
            <a:r>
              <a:rPr sz="2950" spc="-30" dirty="0">
                <a:solidFill>
                  <a:srgbClr val="2E377E"/>
                </a:solidFill>
                <a:latin typeface="Georgia"/>
                <a:cs typeface="Georgia"/>
              </a:rPr>
              <a:t> </a:t>
            </a:r>
            <a:r>
              <a:rPr sz="2950" dirty="0">
                <a:solidFill>
                  <a:srgbClr val="2E377E"/>
                </a:solidFill>
                <a:latin typeface="Georgia"/>
                <a:cs typeface="Georgia"/>
              </a:rPr>
              <a:t>single</a:t>
            </a:r>
            <a:r>
              <a:rPr sz="2950" spc="-35" dirty="0">
                <a:solidFill>
                  <a:srgbClr val="2E377E"/>
                </a:solidFill>
                <a:latin typeface="Georgia"/>
                <a:cs typeface="Georgia"/>
              </a:rPr>
              <a:t> </a:t>
            </a:r>
            <a:r>
              <a:rPr sz="2950" dirty="0">
                <a:solidFill>
                  <a:srgbClr val="2E377E"/>
                </a:solidFill>
                <a:latin typeface="Georgia"/>
                <a:cs typeface="Georgia"/>
              </a:rPr>
              <a:t>pod</a:t>
            </a:r>
            <a:r>
              <a:rPr sz="2950" spc="-35" dirty="0">
                <a:solidFill>
                  <a:srgbClr val="2E377E"/>
                </a:solidFill>
                <a:latin typeface="Georgia"/>
                <a:cs typeface="Georgia"/>
              </a:rPr>
              <a:t> </a:t>
            </a:r>
            <a:r>
              <a:rPr sz="2950" spc="60" dirty="0">
                <a:solidFill>
                  <a:srgbClr val="2E377E"/>
                </a:solidFill>
                <a:latin typeface="Georgia"/>
                <a:cs typeface="Georgia"/>
              </a:rPr>
              <a:t>to</a:t>
            </a:r>
            <a:r>
              <a:rPr sz="2950" spc="-35" dirty="0">
                <a:solidFill>
                  <a:srgbClr val="2E377E"/>
                </a:solidFill>
                <a:latin typeface="Georgia"/>
                <a:cs typeface="Georgia"/>
              </a:rPr>
              <a:t> </a:t>
            </a:r>
            <a:r>
              <a:rPr sz="2950" dirty="0">
                <a:solidFill>
                  <a:srgbClr val="2E377E"/>
                </a:solidFill>
                <a:latin typeface="Georgia"/>
                <a:cs typeface="Georgia"/>
              </a:rPr>
              <a:t>read</a:t>
            </a:r>
            <a:r>
              <a:rPr sz="2950" spc="-35" dirty="0">
                <a:solidFill>
                  <a:srgbClr val="2E377E"/>
                </a:solidFill>
                <a:latin typeface="Georgia"/>
                <a:cs typeface="Georgia"/>
              </a:rPr>
              <a:t> </a:t>
            </a:r>
            <a:r>
              <a:rPr sz="2950" dirty="0">
                <a:solidFill>
                  <a:srgbClr val="2E377E"/>
                </a:solidFill>
                <a:latin typeface="Georgia"/>
                <a:cs typeface="Georgia"/>
              </a:rPr>
              <a:t>and</a:t>
            </a:r>
            <a:r>
              <a:rPr sz="2950" spc="-30" dirty="0">
                <a:solidFill>
                  <a:srgbClr val="2E377E"/>
                </a:solidFill>
                <a:latin typeface="Georgia"/>
                <a:cs typeface="Georgia"/>
              </a:rPr>
              <a:t> </a:t>
            </a:r>
            <a:r>
              <a:rPr sz="2950" spc="65" dirty="0">
                <a:solidFill>
                  <a:srgbClr val="2E377E"/>
                </a:solidFill>
                <a:latin typeface="Georgia"/>
                <a:cs typeface="Georgia"/>
              </a:rPr>
              <a:t>write</a:t>
            </a:r>
            <a:r>
              <a:rPr sz="2950" spc="-35" dirty="0">
                <a:solidFill>
                  <a:srgbClr val="2E377E"/>
                </a:solidFill>
                <a:latin typeface="Georgia"/>
                <a:cs typeface="Georgia"/>
              </a:rPr>
              <a:t> </a:t>
            </a:r>
            <a:r>
              <a:rPr sz="2950" spc="60" dirty="0">
                <a:solidFill>
                  <a:srgbClr val="2E377E"/>
                </a:solidFill>
                <a:latin typeface="Georgia"/>
                <a:cs typeface="Georgia"/>
              </a:rPr>
              <a:t>to</a:t>
            </a:r>
            <a:r>
              <a:rPr sz="2950" spc="-35" dirty="0">
                <a:solidFill>
                  <a:srgbClr val="2E377E"/>
                </a:solidFill>
                <a:latin typeface="Georgia"/>
                <a:cs typeface="Georgia"/>
              </a:rPr>
              <a:t> </a:t>
            </a:r>
            <a:r>
              <a:rPr sz="2950" spc="50" dirty="0">
                <a:solidFill>
                  <a:srgbClr val="2E377E"/>
                </a:solidFill>
                <a:latin typeface="Georgia"/>
                <a:cs typeface="Georgia"/>
              </a:rPr>
              <a:t>the</a:t>
            </a:r>
            <a:r>
              <a:rPr sz="2950" spc="-35" dirty="0">
                <a:solidFill>
                  <a:srgbClr val="2E377E"/>
                </a:solidFill>
                <a:latin typeface="Georgia"/>
                <a:cs typeface="Georgia"/>
              </a:rPr>
              <a:t> </a:t>
            </a:r>
            <a:r>
              <a:rPr sz="2950" dirty="0">
                <a:solidFill>
                  <a:srgbClr val="2E377E"/>
                </a:solidFill>
                <a:latin typeface="Georgia"/>
                <a:cs typeface="Georgia"/>
              </a:rPr>
              <a:t>PV</a:t>
            </a:r>
            <a:r>
              <a:rPr sz="2950" spc="-35" dirty="0">
                <a:solidFill>
                  <a:srgbClr val="2E377E"/>
                </a:solidFill>
                <a:latin typeface="Georgia"/>
                <a:cs typeface="Georgia"/>
              </a:rPr>
              <a:t> </a:t>
            </a:r>
            <a:r>
              <a:rPr sz="2950" dirty="0">
                <a:solidFill>
                  <a:srgbClr val="2E377E"/>
                </a:solidFill>
                <a:latin typeface="Georgia"/>
                <a:cs typeface="Georgia"/>
              </a:rPr>
              <a:t>or</a:t>
            </a:r>
            <a:r>
              <a:rPr sz="2950" spc="-35" dirty="0">
                <a:solidFill>
                  <a:srgbClr val="2E377E"/>
                </a:solidFill>
                <a:latin typeface="Georgia"/>
                <a:cs typeface="Georgia"/>
              </a:rPr>
              <a:t> </a:t>
            </a:r>
            <a:r>
              <a:rPr sz="2950" spc="-60" dirty="0">
                <a:solidFill>
                  <a:srgbClr val="2E377E"/>
                </a:solidFill>
                <a:latin typeface="Georgia"/>
                <a:cs typeface="Georgia"/>
              </a:rPr>
              <a:t>PVC.</a:t>
            </a:r>
            <a:r>
              <a:rPr sz="2950" spc="-30" dirty="0">
                <a:solidFill>
                  <a:srgbClr val="2E377E"/>
                </a:solidFill>
                <a:latin typeface="Georgia"/>
                <a:cs typeface="Georgia"/>
              </a:rPr>
              <a:t> </a:t>
            </a:r>
            <a:r>
              <a:rPr sz="2950" dirty="0">
                <a:solidFill>
                  <a:srgbClr val="2E377E"/>
                </a:solidFill>
                <a:latin typeface="Georgia"/>
                <a:cs typeface="Georgia"/>
              </a:rPr>
              <a:t>This</a:t>
            </a:r>
            <a:r>
              <a:rPr sz="2950" spc="-35" dirty="0">
                <a:solidFill>
                  <a:srgbClr val="2E377E"/>
                </a:solidFill>
                <a:latin typeface="Georgia"/>
                <a:cs typeface="Georgia"/>
              </a:rPr>
              <a:t> </a:t>
            </a:r>
            <a:r>
              <a:rPr sz="2950" spc="-25" dirty="0">
                <a:solidFill>
                  <a:srgbClr val="2E377E"/>
                </a:solidFill>
                <a:latin typeface="Georgia"/>
                <a:cs typeface="Georgia"/>
              </a:rPr>
              <a:t>is </a:t>
            </a:r>
            <a:r>
              <a:rPr sz="2950" spc="50" dirty="0">
                <a:solidFill>
                  <a:srgbClr val="2E377E"/>
                </a:solidFill>
                <a:latin typeface="Georgia"/>
                <a:cs typeface="Georgia"/>
              </a:rPr>
              <a:t>the</a:t>
            </a:r>
            <a:r>
              <a:rPr sz="2950" spc="25" dirty="0">
                <a:solidFill>
                  <a:srgbClr val="2E377E"/>
                </a:solidFill>
                <a:latin typeface="Georgia"/>
                <a:cs typeface="Georgia"/>
              </a:rPr>
              <a:t> </a:t>
            </a:r>
            <a:r>
              <a:rPr sz="2950" dirty="0">
                <a:solidFill>
                  <a:srgbClr val="2E377E"/>
                </a:solidFill>
                <a:latin typeface="Georgia"/>
                <a:cs typeface="Georgia"/>
              </a:rPr>
              <a:t>most</a:t>
            </a:r>
            <a:r>
              <a:rPr sz="2950" spc="35" dirty="0">
                <a:solidFill>
                  <a:srgbClr val="2E377E"/>
                </a:solidFill>
                <a:latin typeface="Georgia"/>
                <a:cs typeface="Georgia"/>
              </a:rPr>
              <a:t> </a:t>
            </a:r>
            <a:r>
              <a:rPr sz="2950" dirty="0">
                <a:solidFill>
                  <a:srgbClr val="2E377E"/>
                </a:solidFill>
                <a:latin typeface="Georgia"/>
                <a:cs typeface="Georgia"/>
              </a:rPr>
              <a:t>common</a:t>
            </a:r>
            <a:r>
              <a:rPr sz="2950" spc="30" dirty="0">
                <a:solidFill>
                  <a:srgbClr val="2E377E"/>
                </a:solidFill>
                <a:latin typeface="Georgia"/>
                <a:cs typeface="Georgia"/>
              </a:rPr>
              <a:t> </a:t>
            </a:r>
            <a:r>
              <a:rPr sz="2950" dirty="0">
                <a:solidFill>
                  <a:srgbClr val="2E377E"/>
                </a:solidFill>
                <a:latin typeface="Georgia"/>
                <a:cs typeface="Georgia"/>
              </a:rPr>
              <a:t>access</a:t>
            </a:r>
            <a:r>
              <a:rPr sz="2950" spc="30" dirty="0">
                <a:solidFill>
                  <a:srgbClr val="2E377E"/>
                </a:solidFill>
                <a:latin typeface="Georgia"/>
                <a:cs typeface="Georgia"/>
              </a:rPr>
              <a:t> </a:t>
            </a:r>
            <a:r>
              <a:rPr sz="2950" dirty="0">
                <a:solidFill>
                  <a:srgbClr val="2E377E"/>
                </a:solidFill>
                <a:latin typeface="Georgia"/>
                <a:cs typeface="Georgia"/>
              </a:rPr>
              <a:t>mode,</a:t>
            </a:r>
            <a:r>
              <a:rPr sz="2950" spc="25" dirty="0">
                <a:solidFill>
                  <a:srgbClr val="2E377E"/>
                </a:solidFill>
                <a:latin typeface="Georgia"/>
                <a:cs typeface="Georgia"/>
              </a:rPr>
              <a:t> </a:t>
            </a:r>
            <a:r>
              <a:rPr sz="2950" dirty="0">
                <a:solidFill>
                  <a:srgbClr val="2E377E"/>
                </a:solidFill>
                <a:latin typeface="Georgia"/>
                <a:cs typeface="Georgia"/>
              </a:rPr>
              <a:t>and</a:t>
            </a:r>
            <a:r>
              <a:rPr sz="2950" spc="30" dirty="0">
                <a:solidFill>
                  <a:srgbClr val="2E377E"/>
                </a:solidFill>
                <a:latin typeface="Georgia"/>
                <a:cs typeface="Georgia"/>
              </a:rPr>
              <a:t> </a:t>
            </a:r>
            <a:r>
              <a:rPr sz="2950" dirty="0">
                <a:solidFill>
                  <a:srgbClr val="2E377E"/>
                </a:solidFill>
                <a:latin typeface="Georgia"/>
                <a:cs typeface="Georgia"/>
              </a:rPr>
              <a:t>it’s</a:t>
            </a:r>
            <a:r>
              <a:rPr sz="2950" spc="30" dirty="0">
                <a:solidFill>
                  <a:srgbClr val="2E377E"/>
                </a:solidFill>
                <a:latin typeface="Georgia"/>
                <a:cs typeface="Georgia"/>
              </a:rPr>
              <a:t> </a:t>
            </a:r>
            <a:r>
              <a:rPr sz="2950" dirty="0">
                <a:solidFill>
                  <a:srgbClr val="2E377E"/>
                </a:solidFill>
                <a:latin typeface="Georgia"/>
                <a:cs typeface="Georgia"/>
              </a:rPr>
              <a:t>appropriate</a:t>
            </a:r>
            <a:r>
              <a:rPr sz="2950" spc="30" dirty="0">
                <a:solidFill>
                  <a:srgbClr val="2E377E"/>
                </a:solidFill>
                <a:latin typeface="Georgia"/>
                <a:cs typeface="Georgia"/>
              </a:rPr>
              <a:t> </a:t>
            </a:r>
            <a:r>
              <a:rPr sz="2950" dirty="0">
                <a:solidFill>
                  <a:srgbClr val="2E377E"/>
                </a:solidFill>
                <a:latin typeface="Georgia"/>
                <a:cs typeface="Georgia"/>
              </a:rPr>
              <a:t>for</a:t>
            </a:r>
            <a:r>
              <a:rPr sz="2950" spc="30" dirty="0">
                <a:solidFill>
                  <a:srgbClr val="2E377E"/>
                </a:solidFill>
                <a:latin typeface="Georgia"/>
                <a:cs typeface="Georgia"/>
              </a:rPr>
              <a:t> </a:t>
            </a:r>
            <a:r>
              <a:rPr sz="2950" dirty="0">
                <a:solidFill>
                  <a:srgbClr val="2E377E"/>
                </a:solidFill>
                <a:latin typeface="Georgia"/>
                <a:cs typeface="Georgia"/>
              </a:rPr>
              <a:t>use</a:t>
            </a:r>
            <a:r>
              <a:rPr sz="2950" spc="30" dirty="0">
                <a:solidFill>
                  <a:srgbClr val="2E377E"/>
                </a:solidFill>
                <a:latin typeface="Georgia"/>
                <a:cs typeface="Georgia"/>
              </a:rPr>
              <a:t> </a:t>
            </a:r>
            <a:r>
              <a:rPr sz="2950" dirty="0">
                <a:solidFill>
                  <a:srgbClr val="2E377E"/>
                </a:solidFill>
                <a:latin typeface="Georgia"/>
                <a:cs typeface="Georgia"/>
              </a:rPr>
              <a:t>cases</a:t>
            </a:r>
            <a:r>
              <a:rPr sz="2950" spc="25" dirty="0">
                <a:solidFill>
                  <a:srgbClr val="2E377E"/>
                </a:solidFill>
                <a:latin typeface="Georgia"/>
                <a:cs typeface="Georgia"/>
              </a:rPr>
              <a:t> </a:t>
            </a:r>
            <a:r>
              <a:rPr sz="2950" spc="60" dirty="0">
                <a:solidFill>
                  <a:srgbClr val="2E377E"/>
                </a:solidFill>
                <a:latin typeface="Georgia"/>
                <a:cs typeface="Georgia"/>
              </a:rPr>
              <a:t>where</a:t>
            </a:r>
            <a:r>
              <a:rPr sz="2950" spc="30" dirty="0">
                <a:solidFill>
                  <a:srgbClr val="2E377E"/>
                </a:solidFill>
                <a:latin typeface="Georgia"/>
                <a:cs typeface="Georgia"/>
              </a:rPr>
              <a:t> </a:t>
            </a:r>
            <a:r>
              <a:rPr sz="2950" dirty="0">
                <a:solidFill>
                  <a:srgbClr val="2E377E"/>
                </a:solidFill>
                <a:latin typeface="Georgia"/>
                <a:cs typeface="Georgia"/>
              </a:rPr>
              <a:t>a</a:t>
            </a:r>
            <a:r>
              <a:rPr sz="2950" spc="35" dirty="0">
                <a:solidFill>
                  <a:srgbClr val="2E377E"/>
                </a:solidFill>
                <a:latin typeface="Georgia"/>
                <a:cs typeface="Georgia"/>
              </a:rPr>
              <a:t> </a:t>
            </a:r>
            <a:r>
              <a:rPr sz="2950" dirty="0">
                <a:solidFill>
                  <a:srgbClr val="2E377E"/>
                </a:solidFill>
                <a:latin typeface="Georgia"/>
                <a:cs typeface="Georgia"/>
              </a:rPr>
              <a:t>single</a:t>
            </a:r>
            <a:r>
              <a:rPr sz="2950" spc="25" dirty="0">
                <a:solidFill>
                  <a:srgbClr val="2E377E"/>
                </a:solidFill>
                <a:latin typeface="Georgia"/>
                <a:cs typeface="Georgia"/>
              </a:rPr>
              <a:t> </a:t>
            </a:r>
            <a:r>
              <a:rPr sz="2950" dirty="0">
                <a:solidFill>
                  <a:srgbClr val="2E377E"/>
                </a:solidFill>
                <a:latin typeface="Georgia"/>
                <a:cs typeface="Georgia"/>
              </a:rPr>
              <a:t>pod</a:t>
            </a:r>
            <a:r>
              <a:rPr sz="2950" spc="30" dirty="0">
                <a:solidFill>
                  <a:srgbClr val="2E377E"/>
                </a:solidFill>
                <a:latin typeface="Georgia"/>
                <a:cs typeface="Georgia"/>
              </a:rPr>
              <a:t> </a:t>
            </a:r>
            <a:r>
              <a:rPr sz="2950" spc="-20" dirty="0">
                <a:solidFill>
                  <a:srgbClr val="2E377E"/>
                </a:solidFill>
                <a:latin typeface="Georgia"/>
                <a:cs typeface="Georgia"/>
              </a:rPr>
              <a:t>needs </a:t>
            </a:r>
            <a:r>
              <a:rPr sz="2950" spc="45" dirty="0">
                <a:solidFill>
                  <a:srgbClr val="2E377E"/>
                </a:solidFill>
                <a:latin typeface="Georgia"/>
                <a:cs typeface="Georgia"/>
              </a:rPr>
              <a:t>exclusive</a:t>
            </a:r>
            <a:r>
              <a:rPr sz="2950" spc="-15" dirty="0">
                <a:solidFill>
                  <a:srgbClr val="2E377E"/>
                </a:solidFill>
                <a:latin typeface="Georgia"/>
                <a:cs typeface="Georgia"/>
              </a:rPr>
              <a:t> </a:t>
            </a:r>
            <a:r>
              <a:rPr sz="2950" dirty="0">
                <a:solidFill>
                  <a:srgbClr val="2E377E"/>
                </a:solidFill>
                <a:latin typeface="Georgia"/>
                <a:cs typeface="Georgia"/>
              </a:rPr>
              <a:t>access</a:t>
            </a:r>
            <a:r>
              <a:rPr sz="2950" spc="-15" dirty="0">
                <a:solidFill>
                  <a:srgbClr val="2E377E"/>
                </a:solidFill>
                <a:latin typeface="Georgia"/>
                <a:cs typeface="Georgia"/>
              </a:rPr>
              <a:t> </a:t>
            </a:r>
            <a:r>
              <a:rPr sz="2950" spc="60" dirty="0">
                <a:solidFill>
                  <a:srgbClr val="2E377E"/>
                </a:solidFill>
                <a:latin typeface="Georgia"/>
                <a:cs typeface="Georgia"/>
              </a:rPr>
              <a:t>to</a:t>
            </a:r>
            <a:r>
              <a:rPr sz="2950" spc="-15" dirty="0">
                <a:solidFill>
                  <a:srgbClr val="2E377E"/>
                </a:solidFill>
                <a:latin typeface="Georgia"/>
                <a:cs typeface="Georgia"/>
              </a:rPr>
              <a:t> </a:t>
            </a:r>
            <a:r>
              <a:rPr sz="2950" spc="50" dirty="0">
                <a:solidFill>
                  <a:srgbClr val="2E377E"/>
                </a:solidFill>
                <a:latin typeface="Georgia"/>
                <a:cs typeface="Georgia"/>
              </a:rPr>
              <a:t>the</a:t>
            </a:r>
            <a:r>
              <a:rPr sz="2950" spc="-15" dirty="0">
                <a:solidFill>
                  <a:srgbClr val="2E377E"/>
                </a:solidFill>
                <a:latin typeface="Georgia"/>
                <a:cs typeface="Georgia"/>
              </a:rPr>
              <a:t> </a:t>
            </a:r>
            <a:r>
              <a:rPr sz="2950" spc="-10" dirty="0">
                <a:solidFill>
                  <a:srgbClr val="2E377E"/>
                </a:solidFill>
                <a:latin typeface="Georgia"/>
                <a:cs typeface="Georgia"/>
              </a:rPr>
              <a:t>storage.</a:t>
            </a:r>
            <a:endParaRPr sz="2950">
              <a:latin typeface="Georgia"/>
              <a:cs typeface="Georgia"/>
            </a:endParaRPr>
          </a:p>
          <a:p>
            <a:pPr marL="651510" marR="25400">
              <a:lnSpc>
                <a:spcPct val="116900"/>
              </a:lnSpc>
            </a:pPr>
            <a:r>
              <a:rPr sz="2950" spc="114" dirty="0">
                <a:solidFill>
                  <a:srgbClr val="2E377E"/>
                </a:solidFill>
                <a:latin typeface="Times New Roman"/>
                <a:cs typeface="Times New Roman"/>
              </a:rPr>
              <a:t>ReadOnlyMany:</a:t>
            </a:r>
            <a:r>
              <a:rPr sz="2950" spc="-30" dirty="0">
                <a:solidFill>
                  <a:srgbClr val="2E377E"/>
                </a:solidFill>
                <a:latin typeface="Times New Roman"/>
                <a:cs typeface="Times New Roman"/>
              </a:rPr>
              <a:t> </a:t>
            </a:r>
            <a:r>
              <a:rPr sz="2950" dirty="0">
                <a:solidFill>
                  <a:srgbClr val="2E377E"/>
                </a:solidFill>
                <a:latin typeface="Georgia"/>
                <a:cs typeface="Georgia"/>
              </a:rPr>
              <a:t>This</a:t>
            </a:r>
            <a:r>
              <a:rPr sz="2950" spc="5" dirty="0">
                <a:solidFill>
                  <a:srgbClr val="2E377E"/>
                </a:solidFill>
                <a:latin typeface="Georgia"/>
                <a:cs typeface="Georgia"/>
              </a:rPr>
              <a:t> </a:t>
            </a:r>
            <a:r>
              <a:rPr sz="2950" dirty="0">
                <a:solidFill>
                  <a:srgbClr val="2E377E"/>
                </a:solidFill>
                <a:latin typeface="Georgia"/>
                <a:cs typeface="Georgia"/>
              </a:rPr>
              <a:t>access</a:t>
            </a:r>
            <a:r>
              <a:rPr sz="2950" spc="-5" dirty="0">
                <a:solidFill>
                  <a:srgbClr val="2E377E"/>
                </a:solidFill>
                <a:latin typeface="Georgia"/>
                <a:cs typeface="Georgia"/>
              </a:rPr>
              <a:t> </a:t>
            </a:r>
            <a:r>
              <a:rPr sz="2950" dirty="0">
                <a:solidFill>
                  <a:srgbClr val="2E377E"/>
                </a:solidFill>
                <a:latin typeface="Georgia"/>
                <a:cs typeface="Georgia"/>
              </a:rPr>
              <a:t>mode allows multiple pods</a:t>
            </a:r>
            <a:r>
              <a:rPr sz="2950" spc="-5" dirty="0">
                <a:solidFill>
                  <a:srgbClr val="2E377E"/>
                </a:solidFill>
                <a:latin typeface="Georgia"/>
                <a:cs typeface="Georgia"/>
              </a:rPr>
              <a:t> </a:t>
            </a:r>
            <a:r>
              <a:rPr sz="2950" spc="60" dirty="0">
                <a:solidFill>
                  <a:srgbClr val="2E377E"/>
                </a:solidFill>
                <a:latin typeface="Georgia"/>
                <a:cs typeface="Georgia"/>
              </a:rPr>
              <a:t>to</a:t>
            </a:r>
            <a:r>
              <a:rPr sz="2950" dirty="0">
                <a:solidFill>
                  <a:srgbClr val="2E377E"/>
                </a:solidFill>
                <a:latin typeface="Georgia"/>
                <a:cs typeface="Georgia"/>
              </a:rPr>
              <a:t> read</a:t>
            </a:r>
            <a:r>
              <a:rPr sz="2950" spc="5" dirty="0">
                <a:solidFill>
                  <a:srgbClr val="2E377E"/>
                </a:solidFill>
                <a:latin typeface="Georgia"/>
                <a:cs typeface="Georgia"/>
              </a:rPr>
              <a:t> </a:t>
            </a:r>
            <a:r>
              <a:rPr sz="2950" dirty="0">
                <a:solidFill>
                  <a:srgbClr val="2E377E"/>
                </a:solidFill>
                <a:latin typeface="Georgia"/>
                <a:cs typeface="Georgia"/>
              </a:rPr>
              <a:t>from</a:t>
            </a:r>
            <a:r>
              <a:rPr sz="2950" spc="-5" dirty="0">
                <a:solidFill>
                  <a:srgbClr val="2E377E"/>
                </a:solidFill>
                <a:latin typeface="Georgia"/>
                <a:cs typeface="Georgia"/>
              </a:rPr>
              <a:t> </a:t>
            </a:r>
            <a:r>
              <a:rPr sz="2950" spc="50" dirty="0">
                <a:solidFill>
                  <a:srgbClr val="2E377E"/>
                </a:solidFill>
                <a:latin typeface="Georgia"/>
                <a:cs typeface="Georgia"/>
              </a:rPr>
              <a:t>the</a:t>
            </a:r>
            <a:r>
              <a:rPr sz="2950" dirty="0">
                <a:solidFill>
                  <a:srgbClr val="2E377E"/>
                </a:solidFill>
                <a:latin typeface="Georgia"/>
                <a:cs typeface="Georgia"/>
              </a:rPr>
              <a:t> PV or </a:t>
            </a:r>
            <a:r>
              <a:rPr sz="2950" spc="-50" dirty="0">
                <a:solidFill>
                  <a:srgbClr val="2E377E"/>
                </a:solidFill>
                <a:latin typeface="Georgia"/>
                <a:cs typeface="Georgia"/>
              </a:rPr>
              <a:t>PVC,</a:t>
            </a:r>
            <a:r>
              <a:rPr sz="2950" spc="-5" dirty="0">
                <a:solidFill>
                  <a:srgbClr val="2E377E"/>
                </a:solidFill>
                <a:latin typeface="Georgia"/>
                <a:cs typeface="Georgia"/>
              </a:rPr>
              <a:t> </a:t>
            </a:r>
            <a:r>
              <a:rPr sz="2950" dirty="0">
                <a:solidFill>
                  <a:srgbClr val="2E377E"/>
                </a:solidFill>
                <a:latin typeface="Georgia"/>
                <a:cs typeface="Georgia"/>
              </a:rPr>
              <a:t>but</a:t>
            </a:r>
            <a:r>
              <a:rPr sz="2950" spc="5" dirty="0">
                <a:solidFill>
                  <a:srgbClr val="2E377E"/>
                </a:solidFill>
                <a:latin typeface="Georgia"/>
                <a:cs typeface="Georgia"/>
              </a:rPr>
              <a:t> </a:t>
            </a:r>
            <a:r>
              <a:rPr sz="2950" dirty="0">
                <a:solidFill>
                  <a:srgbClr val="2E377E"/>
                </a:solidFill>
                <a:latin typeface="Georgia"/>
                <a:cs typeface="Georgia"/>
              </a:rPr>
              <a:t>does</a:t>
            </a:r>
            <a:r>
              <a:rPr sz="2950" spc="-5" dirty="0">
                <a:solidFill>
                  <a:srgbClr val="2E377E"/>
                </a:solidFill>
                <a:latin typeface="Georgia"/>
                <a:cs typeface="Georgia"/>
              </a:rPr>
              <a:t> </a:t>
            </a:r>
            <a:r>
              <a:rPr sz="2950" spc="-25" dirty="0">
                <a:solidFill>
                  <a:srgbClr val="2E377E"/>
                </a:solidFill>
                <a:latin typeface="Georgia"/>
                <a:cs typeface="Georgia"/>
              </a:rPr>
              <a:t>not </a:t>
            </a:r>
            <a:r>
              <a:rPr sz="2950" dirty="0">
                <a:solidFill>
                  <a:srgbClr val="2E377E"/>
                </a:solidFill>
                <a:latin typeface="Georgia"/>
                <a:cs typeface="Georgia"/>
              </a:rPr>
              <a:t>allow</a:t>
            </a:r>
            <a:r>
              <a:rPr sz="2950" spc="-10" dirty="0">
                <a:solidFill>
                  <a:srgbClr val="2E377E"/>
                </a:solidFill>
                <a:latin typeface="Georgia"/>
                <a:cs typeface="Georgia"/>
              </a:rPr>
              <a:t> </a:t>
            </a:r>
            <a:r>
              <a:rPr sz="2950" spc="55" dirty="0">
                <a:solidFill>
                  <a:srgbClr val="2E377E"/>
                </a:solidFill>
                <a:latin typeface="Georgia"/>
                <a:cs typeface="Georgia"/>
              </a:rPr>
              <a:t>any</a:t>
            </a:r>
            <a:r>
              <a:rPr sz="2950" spc="-5" dirty="0">
                <a:solidFill>
                  <a:srgbClr val="2E377E"/>
                </a:solidFill>
                <a:latin typeface="Georgia"/>
                <a:cs typeface="Georgia"/>
              </a:rPr>
              <a:t> </a:t>
            </a:r>
            <a:r>
              <a:rPr sz="2950" dirty="0">
                <a:solidFill>
                  <a:srgbClr val="2E377E"/>
                </a:solidFill>
                <a:latin typeface="Georgia"/>
                <a:cs typeface="Georgia"/>
              </a:rPr>
              <a:t>of</a:t>
            </a:r>
            <a:r>
              <a:rPr sz="2950" spc="-5" dirty="0">
                <a:solidFill>
                  <a:srgbClr val="2E377E"/>
                </a:solidFill>
                <a:latin typeface="Georgia"/>
                <a:cs typeface="Georgia"/>
              </a:rPr>
              <a:t> </a:t>
            </a:r>
            <a:r>
              <a:rPr sz="2950" dirty="0">
                <a:solidFill>
                  <a:srgbClr val="2E377E"/>
                </a:solidFill>
                <a:latin typeface="Georgia"/>
                <a:cs typeface="Georgia"/>
              </a:rPr>
              <a:t>them</a:t>
            </a:r>
            <a:r>
              <a:rPr sz="2950" spc="-5" dirty="0">
                <a:solidFill>
                  <a:srgbClr val="2E377E"/>
                </a:solidFill>
                <a:latin typeface="Georgia"/>
                <a:cs typeface="Georgia"/>
              </a:rPr>
              <a:t> </a:t>
            </a:r>
            <a:r>
              <a:rPr sz="2950" spc="60" dirty="0">
                <a:solidFill>
                  <a:srgbClr val="2E377E"/>
                </a:solidFill>
                <a:latin typeface="Georgia"/>
                <a:cs typeface="Georgia"/>
              </a:rPr>
              <a:t>to</a:t>
            </a:r>
            <a:r>
              <a:rPr sz="2950" spc="-5" dirty="0">
                <a:solidFill>
                  <a:srgbClr val="2E377E"/>
                </a:solidFill>
                <a:latin typeface="Georgia"/>
                <a:cs typeface="Georgia"/>
              </a:rPr>
              <a:t> </a:t>
            </a:r>
            <a:r>
              <a:rPr sz="2950" spc="65" dirty="0">
                <a:solidFill>
                  <a:srgbClr val="2E377E"/>
                </a:solidFill>
                <a:latin typeface="Georgia"/>
                <a:cs typeface="Georgia"/>
              </a:rPr>
              <a:t>write</a:t>
            </a:r>
            <a:r>
              <a:rPr sz="2950" spc="-5" dirty="0">
                <a:solidFill>
                  <a:srgbClr val="2E377E"/>
                </a:solidFill>
                <a:latin typeface="Georgia"/>
                <a:cs typeface="Georgia"/>
              </a:rPr>
              <a:t> </a:t>
            </a:r>
            <a:r>
              <a:rPr sz="2950" spc="60" dirty="0">
                <a:solidFill>
                  <a:srgbClr val="2E377E"/>
                </a:solidFill>
                <a:latin typeface="Georgia"/>
                <a:cs typeface="Georgia"/>
              </a:rPr>
              <a:t>to</a:t>
            </a:r>
            <a:r>
              <a:rPr sz="2950" spc="-5" dirty="0">
                <a:solidFill>
                  <a:srgbClr val="2E377E"/>
                </a:solidFill>
                <a:latin typeface="Georgia"/>
                <a:cs typeface="Georgia"/>
              </a:rPr>
              <a:t> </a:t>
            </a:r>
            <a:r>
              <a:rPr sz="2950" dirty="0">
                <a:solidFill>
                  <a:srgbClr val="2E377E"/>
                </a:solidFill>
                <a:latin typeface="Georgia"/>
                <a:cs typeface="Georgia"/>
              </a:rPr>
              <a:t>it.</a:t>
            </a:r>
            <a:r>
              <a:rPr sz="2950" spc="-5" dirty="0">
                <a:solidFill>
                  <a:srgbClr val="2E377E"/>
                </a:solidFill>
                <a:latin typeface="Georgia"/>
                <a:cs typeface="Georgia"/>
              </a:rPr>
              <a:t> </a:t>
            </a:r>
            <a:r>
              <a:rPr sz="2950" dirty="0">
                <a:solidFill>
                  <a:srgbClr val="2E377E"/>
                </a:solidFill>
                <a:latin typeface="Georgia"/>
                <a:cs typeface="Georgia"/>
              </a:rPr>
              <a:t>This</a:t>
            </a:r>
            <a:r>
              <a:rPr sz="2950" spc="-5" dirty="0">
                <a:solidFill>
                  <a:srgbClr val="2E377E"/>
                </a:solidFill>
                <a:latin typeface="Georgia"/>
                <a:cs typeface="Georgia"/>
              </a:rPr>
              <a:t> </a:t>
            </a:r>
            <a:r>
              <a:rPr sz="2950" dirty="0">
                <a:solidFill>
                  <a:srgbClr val="2E377E"/>
                </a:solidFill>
                <a:latin typeface="Georgia"/>
                <a:cs typeface="Georgia"/>
              </a:rPr>
              <a:t>access</a:t>
            </a:r>
            <a:r>
              <a:rPr sz="2950" spc="-5" dirty="0">
                <a:solidFill>
                  <a:srgbClr val="2E377E"/>
                </a:solidFill>
                <a:latin typeface="Georgia"/>
                <a:cs typeface="Georgia"/>
              </a:rPr>
              <a:t> </a:t>
            </a:r>
            <a:r>
              <a:rPr sz="2950" dirty="0">
                <a:solidFill>
                  <a:srgbClr val="2E377E"/>
                </a:solidFill>
                <a:latin typeface="Georgia"/>
                <a:cs typeface="Georgia"/>
              </a:rPr>
              <a:t>mode</a:t>
            </a:r>
            <a:r>
              <a:rPr sz="2950" spc="-5" dirty="0">
                <a:solidFill>
                  <a:srgbClr val="2E377E"/>
                </a:solidFill>
                <a:latin typeface="Georgia"/>
                <a:cs typeface="Georgia"/>
              </a:rPr>
              <a:t> </a:t>
            </a:r>
            <a:r>
              <a:rPr sz="2950" dirty="0">
                <a:solidFill>
                  <a:srgbClr val="2E377E"/>
                </a:solidFill>
                <a:latin typeface="Georgia"/>
                <a:cs typeface="Georgia"/>
              </a:rPr>
              <a:t>is</a:t>
            </a:r>
            <a:r>
              <a:rPr sz="2950" spc="-5" dirty="0">
                <a:solidFill>
                  <a:srgbClr val="2E377E"/>
                </a:solidFill>
                <a:latin typeface="Georgia"/>
                <a:cs typeface="Georgia"/>
              </a:rPr>
              <a:t> </a:t>
            </a:r>
            <a:r>
              <a:rPr sz="2950" dirty="0">
                <a:solidFill>
                  <a:srgbClr val="2E377E"/>
                </a:solidFill>
                <a:latin typeface="Georgia"/>
                <a:cs typeface="Georgia"/>
              </a:rPr>
              <a:t>useful</a:t>
            </a:r>
            <a:r>
              <a:rPr sz="2950" spc="-5" dirty="0">
                <a:solidFill>
                  <a:srgbClr val="2E377E"/>
                </a:solidFill>
                <a:latin typeface="Georgia"/>
                <a:cs typeface="Georgia"/>
              </a:rPr>
              <a:t> </a:t>
            </a:r>
            <a:r>
              <a:rPr sz="2950" dirty="0">
                <a:solidFill>
                  <a:srgbClr val="2E377E"/>
                </a:solidFill>
                <a:latin typeface="Georgia"/>
                <a:cs typeface="Georgia"/>
              </a:rPr>
              <a:t>for</a:t>
            </a:r>
            <a:r>
              <a:rPr sz="2950" spc="-5" dirty="0">
                <a:solidFill>
                  <a:srgbClr val="2E377E"/>
                </a:solidFill>
                <a:latin typeface="Georgia"/>
                <a:cs typeface="Georgia"/>
              </a:rPr>
              <a:t> </a:t>
            </a:r>
            <a:r>
              <a:rPr sz="2950" dirty="0">
                <a:solidFill>
                  <a:srgbClr val="2E377E"/>
                </a:solidFill>
                <a:latin typeface="Georgia"/>
                <a:cs typeface="Georgia"/>
              </a:rPr>
              <a:t>cases</a:t>
            </a:r>
            <a:r>
              <a:rPr sz="2950" spc="-5" dirty="0">
                <a:solidFill>
                  <a:srgbClr val="2E377E"/>
                </a:solidFill>
                <a:latin typeface="Georgia"/>
                <a:cs typeface="Georgia"/>
              </a:rPr>
              <a:t> </a:t>
            </a:r>
            <a:r>
              <a:rPr sz="2950" spc="60" dirty="0">
                <a:solidFill>
                  <a:srgbClr val="2E377E"/>
                </a:solidFill>
                <a:latin typeface="Georgia"/>
                <a:cs typeface="Georgia"/>
              </a:rPr>
              <a:t>where</a:t>
            </a:r>
            <a:r>
              <a:rPr sz="2950" spc="-5" dirty="0">
                <a:solidFill>
                  <a:srgbClr val="2E377E"/>
                </a:solidFill>
                <a:latin typeface="Georgia"/>
                <a:cs typeface="Georgia"/>
              </a:rPr>
              <a:t> </a:t>
            </a:r>
            <a:r>
              <a:rPr sz="2950" spc="50" dirty="0">
                <a:solidFill>
                  <a:srgbClr val="2E377E"/>
                </a:solidFill>
                <a:latin typeface="Georgia"/>
                <a:cs typeface="Georgia"/>
              </a:rPr>
              <a:t>many</a:t>
            </a:r>
            <a:r>
              <a:rPr sz="2950" spc="-10" dirty="0">
                <a:solidFill>
                  <a:srgbClr val="2E377E"/>
                </a:solidFill>
                <a:latin typeface="Georgia"/>
                <a:cs typeface="Georgia"/>
              </a:rPr>
              <a:t> </a:t>
            </a:r>
            <a:r>
              <a:rPr sz="2950" dirty="0">
                <a:solidFill>
                  <a:srgbClr val="2E377E"/>
                </a:solidFill>
                <a:latin typeface="Georgia"/>
                <a:cs typeface="Georgia"/>
              </a:rPr>
              <a:t>pods</a:t>
            </a:r>
            <a:r>
              <a:rPr sz="2950" spc="-5" dirty="0">
                <a:solidFill>
                  <a:srgbClr val="2E377E"/>
                </a:solidFill>
                <a:latin typeface="Georgia"/>
                <a:cs typeface="Georgia"/>
              </a:rPr>
              <a:t> </a:t>
            </a:r>
            <a:r>
              <a:rPr sz="2950" dirty="0">
                <a:solidFill>
                  <a:srgbClr val="2E377E"/>
                </a:solidFill>
                <a:latin typeface="Georgia"/>
                <a:cs typeface="Georgia"/>
              </a:rPr>
              <a:t>need</a:t>
            </a:r>
            <a:r>
              <a:rPr sz="2950" spc="-5" dirty="0">
                <a:solidFill>
                  <a:srgbClr val="2E377E"/>
                </a:solidFill>
                <a:latin typeface="Georgia"/>
                <a:cs typeface="Georgia"/>
              </a:rPr>
              <a:t> </a:t>
            </a:r>
            <a:r>
              <a:rPr sz="2950" spc="60" dirty="0">
                <a:solidFill>
                  <a:srgbClr val="2E377E"/>
                </a:solidFill>
                <a:latin typeface="Georgia"/>
                <a:cs typeface="Georgia"/>
              </a:rPr>
              <a:t>to</a:t>
            </a:r>
            <a:r>
              <a:rPr sz="2950" spc="-5" dirty="0">
                <a:solidFill>
                  <a:srgbClr val="2E377E"/>
                </a:solidFill>
                <a:latin typeface="Georgia"/>
                <a:cs typeface="Georgia"/>
              </a:rPr>
              <a:t> </a:t>
            </a:r>
            <a:r>
              <a:rPr sz="2950" spc="-20" dirty="0">
                <a:solidFill>
                  <a:srgbClr val="2E377E"/>
                </a:solidFill>
                <a:latin typeface="Georgia"/>
                <a:cs typeface="Georgia"/>
              </a:rPr>
              <a:t>read </a:t>
            </a:r>
            <a:r>
              <a:rPr sz="2950" spc="50" dirty="0">
                <a:solidFill>
                  <a:srgbClr val="2E377E"/>
                </a:solidFill>
                <a:latin typeface="Georgia"/>
                <a:cs typeface="Georgia"/>
              </a:rPr>
              <a:t>the</a:t>
            </a:r>
            <a:r>
              <a:rPr sz="2950" spc="-10" dirty="0">
                <a:solidFill>
                  <a:srgbClr val="2E377E"/>
                </a:solidFill>
                <a:latin typeface="Georgia"/>
                <a:cs typeface="Georgia"/>
              </a:rPr>
              <a:t> </a:t>
            </a:r>
            <a:r>
              <a:rPr sz="2950" dirty="0">
                <a:solidFill>
                  <a:srgbClr val="2E377E"/>
                </a:solidFill>
                <a:latin typeface="Georgia"/>
                <a:cs typeface="Georgia"/>
              </a:rPr>
              <a:t>same</a:t>
            </a:r>
            <a:r>
              <a:rPr sz="2950" spc="-10" dirty="0">
                <a:solidFill>
                  <a:srgbClr val="2E377E"/>
                </a:solidFill>
                <a:latin typeface="Georgia"/>
                <a:cs typeface="Georgia"/>
              </a:rPr>
              <a:t> </a:t>
            </a:r>
            <a:r>
              <a:rPr sz="2950" dirty="0">
                <a:solidFill>
                  <a:srgbClr val="2E377E"/>
                </a:solidFill>
                <a:latin typeface="Georgia"/>
                <a:cs typeface="Georgia"/>
              </a:rPr>
              <a:t>data,</a:t>
            </a:r>
            <a:r>
              <a:rPr sz="2950" spc="-5" dirty="0">
                <a:solidFill>
                  <a:srgbClr val="2E377E"/>
                </a:solidFill>
                <a:latin typeface="Georgia"/>
                <a:cs typeface="Georgia"/>
              </a:rPr>
              <a:t> </a:t>
            </a:r>
            <a:r>
              <a:rPr sz="2950" dirty="0">
                <a:solidFill>
                  <a:srgbClr val="2E377E"/>
                </a:solidFill>
                <a:latin typeface="Georgia"/>
                <a:cs typeface="Georgia"/>
              </a:rPr>
              <a:t>such</a:t>
            </a:r>
            <a:r>
              <a:rPr sz="2950" spc="-10" dirty="0">
                <a:solidFill>
                  <a:srgbClr val="2E377E"/>
                </a:solidFill>
                <a:latin typeface="Georgia"/>
                <a:cs typeface="Georgia"/>
              </a:rPr>
              <a:t> </a:t>
            </a:r>
            <a:r>
              <a:rPr sz="2950" dirty="0">
                <a:solidFill>
                  <a:srgbClr val="2E377E"/>
                </a:solidFill>
                <a:latin typeface="Georgia"/>
                <a:cs typeface="Georgia"/>
              </a:rPr>
              <a:t>as</a:t>
            </a:r>
            <a:r>
              <a:rPr sz="2950" spc="-10" dirty="0">
                <a:solidFill>
                  <a:srgbClr val="2E377E"/>
                </a:solidFill>
                <a:latin typeface="Georgia"/>
                <a:cs typeface="Georgia"/>
              </a:rPr>
              <a:t> </a:t>
            </a:r>
            <a:r>
              <a:rPr sz="2950" spc="60" dirty="0">
                <a:solidFill>
                  <a:srgbClr val="2E377E"/>
                </a:solidFill>
                <a:latin typeface="Georgia"/>
                <a:cs typeface="Georgia"/>
              </a:rPr>
              <a:t>when</a:t>
            </a:r>
            <a:r>
              <a:rPr sz="2950" spc="-5" dirty="0">
                <a:solidFill>
                  <a:srgbClr val="2E377E"/>
                </a:solidFill>
                <a:latin typeface="Georgia"/>
                <a:cs typeface="Georgia"/>
              </a:rPr>
              <a:t> </a:t>
            </a:r>
            <a:r>
              <a:rPr sz="2950" dirty="0">
                <a:solidFill>
                  <a:srgbClr val="2E377E"/>
                </a:solidFill>
                <a:latin typeface="Georgia"/>
                <a:cs typeface="Georgia"/>
              </a:rPr>
              <a:t>serving</a:t>
            </a:r>
            <a:r>
              <a:rPr sz="2950" spc="-10" dirty="0">
                <a:solidFill>
                  <a:srgbClr val="2E377E"/>
                </a:solidFill>
                <a:latin typeface="Georgia"/>
                <a:cs typeface="Georgia"/>
              </a:rPr>
              <a:t> </a:t>
            </a:r>
            <a:r>
              <a:rPr sz="2950" dirty="0">
                <a:solidFill>
                  <a:srgbClr val="2E377E"/>
                </a:solidFill>
                <a:latin typeface="Georgia"/>
                <a:cs typeface="Georgia"/>
              </a:rPr>
              <a:t>a</a:t>
            </a:r>
            <a:r>
              <a:rPr sz="2950" spc="-5" dirty="0">
                <a:solidFill>
                  <a:srgbClr val="2E377E"/>
                </a:solidFill>
                <a:latin typeface="Georgia"/>
                <a:cs typeface="Georgia"/>
              </a:rPr>
              <a:t> </a:t>
            </a:r>
            <a:r>
              <a:rPr sz="2950" dirty="0">
                <a:solidFill>
                  <a:srgbClr val="2E377E"/>
                </a:solidFill>
                <a:latin typeface="Georgia"/>
                <a:cs typeface="Georgia"/>
              </a:rPr>
              <a:t>read-</a:t>
            </a:r>
            <a:r>
              <a:rPr sz="2950" spc="50" dirty="0">
                <a:solidFill>
                  <a:srgbClr val="2E377E"/>
                </a:solidFill>
                <a:latin typeface="Georgia"/>
                <a:cs typeface="Georgia"/>
              </a:rPr>
              <a:t>only</a:t>
            </a:r>
            <a:r>
              <a:rPr sz="2950" spc="-10" dirty="0">
                <a:solidFill>
                  <a:srgbClr val="2E377E"/>
                </a:solidFill>
                <a:latin typeface="Georgia"/>
                <a:cs typeface="Georgia"/>
              </a:rPr>
              <a:t> database.</a:t>
            </a:r>
            <a:endParaRPr sz="2950">
              <a:latin typeface="Georgia"/>
              <a:cs typeface="Georgia"/>
            </a:endParaRPr>
          </a:p>
          <a:p>
            <a:pPr marL="651510" marR="5080">
              <a:lnSpc>
                <a:spcPct val="116900"/>
              </a:lnSpc>
            </a:pPr>
            <a:r>
              <a:rPr sz="2950" spc="120" dirty="0">
                <a:solidFill>
                  <a:srgbClr val="2E377E"/>
                </a:solidFill>
                <a:latin typeface="Times New Roman"/>
                <a:cs typeface="Times New Roman"/>
              </a:rPr>
              <a:t>ReadWriteMany:</a:t>
            </a:r>
            <a:r>
              <a:rPr sz="2950" spc="-40" dirty="0">
                <a:solidFill>
                  <a:srgbClr val="2E377E"/>
                </a:solidFill>
                <a:latin typeface="Times New Roman"/>
                <a:cs typeface="Times New Roman"/>
              </a:rPr>
              <a:t> </a:t>
            </a:r>
            <a:r>
              <a:rPr sz="2950" dirty="0">
                <a:solidFill>
                  <a:srgbClr val="2E377E"/>
                </a:solidFill>
                <a:latin typeface="Georgia"/>
                <a:cs typeface="Georgia"/>
              </a:rPr>
              <a:t>This</a:t>
            </a:r>
            <a:r>
              <a:rPr sz="2950" spc="-15" dirty="0">
                <a:solidFill>
                  <a:srgbClr val="2E377E"/>
                </a:solidFill>
                <a:latin typeface="Georgia"/>
                <a:cs typeface="Georgia"/>
              </a:rPr>
              <a:t> </a:t>
            </a:r>
            <a:r>
              <a:rPr sz="2950" dirty="0">
                <a:solidFill>
                  <a:srgbClr val="2E377E"/>
                </a:solidFill>
                <a:latin typeface="Georgia"/>
                <a:cs typeface="Georgia"/>
              </a:rPr>
              <a:t>access</a:t>
            </a:r>
            <a:r>
              <a:rPr sz="2950" spc="-10" dirty="0">
                <a:solidFill>
                  <a:srgbClr val="2E377E"/>
                </a:solidFill>
                <a:latin typeface="Georgia"/>
                <a:cs typeface="Georgia"/>
              </a:rPr>
              <a:t> </a:t>
            </a:r>
            <a:r>
              <a:rPr sz="2950" dirty="0">
                <a:solidFill>
                  <a:srgbClr val="2E377E"/>
                </a:solidFill>
                <a:latin typeface="Georgia"/>
                <a:cs typeface="Georgia"/>
              </a:rPr>
              <a:t>mode</a:t>
            </a:r>
            <a:r>
              <a:rPr sz="2950" spc="-15" dirty="0">
                <a:solidFill>
                  <a:srgbClr val="2E377E"/>
                </a:solidFill>
                <a:latin typeface="Georgia"/>
                <a:cs typeface="Georgia"/>
              </a:rPr>
              <a:t> </a:t>
            </a:r>
            <a:r>
              <a:rPr sz="2950" dirty="0">
                <a:solidFill>
                  <a:srgbClr val="2E377E"/>
                </a:solidFill>
                <a:latin typeface="Georgia"/>
                <a:cs typeface="Georgia"/>
              </a:rPr>
              <a:t>allows</a:t>
            </a:r>
            <a:r>
              <a:rPr sz="2950" spc="-10" dirty="0">
                <a:solidFill>
                  <a:srgbClr val="2E377E"/>
                </a:solidFill>
                <a:latin typeface="Georgia"/>
                <a:cs typeface="Georgia"/>
              </a:rPr>
              <a:t> </a:t>
            </a:r>
            <a:r>
              <a:rPr sz="2950" dirty="0">
                <a:solidFill>
                  <a:srgbClr val="2E377E"/>
                </a:solidFill>
                <a:latin typeface="Georgia"/>
                <a:cs typeface="Georgia"/>
              </a:rPr>
              <a:t>multiple</a:t>
            </a:r>
            <a:r>
              <a:rPr sz="2950" spc="-15" dirty="0">
                <a:solidFill>
                  <a:srgbClr val="2E377E"/>
                </a:solidFill>
                <a:latin typeface="Georgia"/>
                <a:cs typeface="Georgia"/>
              </a:rPr>
              <a:t> </a:t>
            </a:r>
            <a:r>
              <a:rPr sz="2950" dirty="0">
                <a:solidFill>
                  <a:srgbClr val="2E377E"/>
                </a:solidFill>
                <a:latin typeface="Georgia"/>
                <a:cs typeface="Georgia"/>
              </a:rPr>
              <a:t>pods</a:t>
            </a:r>
            <a:r>
              <a:rPr sz="2950" spc="-10" dirty="0">
                <a:solidFill>
                  <a:srgbClr val="2E377E"/>
                </a:solidFill>
                <a:latin typeface="Georgia"/>
                <a:cs typeface="Georgia"/>
              </a:rPr>
              <a:t> </a:t>
            </a:r>
            <a:r>
              <a:rPr sz="2950" spc="60" dirty="0">
                <a:solidFill>
                  <a:srgbClr val="2E377E"/>
                </a:solidFill>
                <a:latin typeface="Georgia"/>
                <a:cs typeface="Georgia"/>
              </a:rPr>
              <a:t>to</a:t>
            </a:r>
            <a:r>
              <a:rPr sz="2950" spc="-15" dirty="0">
                <a:solidFill>
                  <a:srgbClr val="2E377E"/>
                </a:solidFill>
                <a:latin typeface="Georgia"/>
                <a:cs typeface="Georgia"/>
              </a:rPr>
              <a:t> </a:t>
            </a:r>
            <a:r>
              <a:rPr sz="2950" dirty="0">
                <a:solidFill>
                  <a:srgbClr val="2E377E"/>
                </a:solidFill>
                <a:latin typeface="Georgia"/>
                <a:cs typeface="Georgia"/>
              </a:rPr>
              <a:t>read</a:t>
            </a:r>
            <a:r>
              <a:rPr sz="2950" spc="-15" dirty="0">
                <a:solidFill>
                  <a:srgbClr val="2E377E"/>
                </a:solidFill>
                <a:latin typeface="Georgia"/>
                <a:cs typeface="Georgia"/>
              </a:rPr>
              <a:t> </a:t>
            </a:r>
            <a:r>
              <a:rPr sz="2950" dirty="0">
                <a:solidFill>
                  <a:srgbClr val="2E377E"/>
                </a:solidFill>
                <a:latin typeface="Georgia"/>
                <a:cs typeface="Georgia"/>
              </a:rPr>
              <a:t>and</a:t>
            </a:r>
            <a:r>
              <a:rPr sz="2950" spc="-10" dirty="0">
                <a:solidFill>
                  <a:srgbClr val="2E377E"/>
                </a:solidFill>
                <a:latin typeface="Georgia"/>
                <a:cs typeface="Georgia"/>
              </a:rPr>
              <a:t> </a:t>
            </a:r>
            <a:r>
              <a:rPr sz="2950" spc="65" dirty="0">
                <a:solidFill>
                  <a:srgbClr val="2E377E"/>
                </a:solidFill>
                <a:latin typeface="Georgia"/>
                <a:cs typeface="Georgia"/>
              </a:rPr>
              <a:t>write</a:t>
            </a:r>
            <a:r>
              <a:rPr sz="2950" spc="-15" dirty="0">
                <a:solidFill>
                  <a:srgbClr val="2E377E"/>
                </a:solidFill>
                <a:latin typeface="Georgia"/>
                <a:cs typeface="Georgia"/>
              </a:rPr>
              <a:t> </a:t>
            </a:r>
            <a:r>
              <a:rPr sz="2950" spc="60" dirty="0">
                <a:solidFill>
                  <a:srgbClr val="2E377E"/>
                </a:solidFill>
                <a:latin typeface="Georgia"/>
                <a:cs typeface="Georgia"/>
              </a:rPr>
              <a:t>to</a:t>
            </a:r>
            <a:r>
              <a:rPr sz="2950" spc="-10" dirty="0">
                <a:solidFill>
                  <a:srgbClr val="2E377E"/>
                </a:solidFill>
                <a:latin typeface="Georgia"/>
                <a:cs typeface="Georgia"/>
              </a:rPr>
              <a:t> </a:t>
            </a:r>
            <a:r>
              <a:rPr sz="2950" spc="50" dirty="0">
                <a:solidFill>
                  <a:srgbClr val="2E377E"/>
                </a:solidFill>
                <a:latin typeface="Georgia"/>
                <a:cs typeface="Georgia"/>
              </a:rPr>
              <a:t>the</a:t>
            </a:r>
            <a:r>
              <a:rPr sz="2950" spc="-15" dirty="0">
                <a:solidFill>
                  <a:srgbClr val="2E377E"/>
                </a:solidFill>
                <a:latin typeface="Georgia"/>
                <a:cs typeface="Georgia"/>
              </a:rPr>
              <a:t> </a:t>
            </a:r>
            <a:r>
              <a:rPr sz="2950" dirty="0">
                <a:solidFill>
                  <a:srgbClr val="2E377E"/>
                </a:solidFill>
                <a:latin typeface="Georgia"/>
                <a:cs typeface="Georgia"/>
              </a:rPr>
              <a:t>PV</a:t>
            </a:r>
            <a:r>
              <a:rPr sz="2950" spc="-10" dirty="0">
                <a:solidFill>
                  <a:srgbClr val="2E377E"/>
                </a:solidFill>
                <a:latin typeface="Georgia"/>
                <a:cs typeface="Georgia"/>
              </a:rPr>
              <a:t> </a:t>
            </a:r>
            <a:r>
              <a:rPr sz="2950" dirty="0">
                <a:solidFill>
                  <a:srgbClr val="2E377E"/>
                </a:solidFill>
                <a:latin typeface="Georgia"/>
                <a:cs typeface="Georgia"/>
              </a:rPr>
              <a:t>or</a:t>
            </a:r>
            <a:r>
              <a:rPr sz="2950" spc="-15" dirty="0">
                <a:solidFill>
                  <a:srgbClr val="2E377E"/>
                </a:solidFill>
                <a:latin typeface="Georgia"/>
                <a:cs typeface="Georgia"/>
              </a:rPr>
              <a:t> </a:t>
            </a:r>
            <a:r>
              <a:rPr sz="2950" spc="-25" dirty="0">
                <a:solidFill>
                  <a:srgbClr val="2E377E"/>
                </a:solidFill>
                <a:latin typeface="Georgia"/>
                <a:cs typeface="Georgia"/>
              </a:rPr>
              <a:t>PVC </a:t>
            </a:r>
            <a:r>
              <a:rPr sz="2950" dirty="0">
                <a:solidFill>
                  <a:srgbClr val="2E377E"/>
                </a:solidFill>
                <a:latin typeface="Georgia"/>
                <a:cs typeface="Georgia"/>
              </a:rPr>
              <a:t>simultaneously.</a:t>
            </a:r>
            <a:r>
              <a:rPr sz="2950" spc="10" dirty="0">
                <a:solidFill>
                  <a:srgbClr val="2E377E"/>
                </a:solidFill>
                <a:latin typeface="Georgia"/>
                <a:cs typeface="Georgia"/>
              </a:rPr>
              <a:t> </a:t>
            </a:r>
            <a:r>
              <a:rPr sz="2950" dirty="0">
                <a:solidFill>
                  <a:srgbClr val="2E377E"/>
                </a:solidFill>
                <a:latin typeface="Georgia"/>
                <a:cs typeface="Georgia"/>
              </a:rPr>
              <a:t>This</a:t>
            </a:r>
            <a:r>
              <a:rPr sz="2950" spc="15" dirty="0">
                <a:solidFill>
                  <a:srgbClr val="2E377E"/>
                </a:solidFill>
                <a:latin typeface="Georgia"/>
                <a:cs typeface="Georgia"/>
              </a:rPr>
              <a:t> </a:t>
            </a:r>
            <a:r>
              <a:rPr sz="2950" dirty="0">
                <a:solidFill>
                  <a:srgbClr val="2E377E"/>
                </a:solidFill>
                <a:latin typeface="Georgia"/>
                <a:cs typeface="Georgia"/>
              </a:rPr>
              <a:t>mode</a:t>
            </a:r>
            <a:r>
              <a:rPr sz="2950" spc="10" dirty="0">
                <a:solidFill>
                  <a:srgbClr val="2E377E"/>
                </a:solidFill>
                <a:latin typeface="Georgia"/>
                <a:cs typeface="Georgia"/>
              </a:rPr>
              <a:t> </a:t>
            </a:r>
            <a:r>
              <a:rPr sz="2950" dirty="0">
                <a:solidFill>
                  <a:srgbClr val="2E377E"/>
                </a:solidFill>
                <a:latin typeface="Georgia"/>
                <a:cs typeface="Georgia"/>
              </a:rPr>
              <a:t>is</a:t>
            </a:r>
            <a:r>
              <a:rPr sz="2950" spc="15" dirty="0">
                <a:solidFill>
                  <a:srgbClr val="2E377E"/>
                </a:solidFill>
                <a:latin typeface="Georgia"/>
                <a:cs typeface="Georgia"/>
              </a:rPr>
              <a:t> </a:t>
            </a:r>
            <a:r>
              <a:rPr sz="2950" dirty="0">
                <a:solidFill>
                  <a:srgbClr val="2E377E"/>
                </a:solidFill>
                <a:latin typeface="Georgia"/>
                <a:cs typeface="Georgia"/>
              </a:rPr>
              <a:t>appropriate</a:t>
            </a:r>
            <a:r>
              <a:rPr sz="2950" spc="10" dirty="0">
                <a:solidFill>
                  <a:srgbClr val="2E377E"/>
                </a:solidFill>
                <a:latin typeface="Georgia"/>
                <a:cs typeface="Georgia"/>
              </a:rPr>
              <a:t> </a:t>
            </a:r>
            <a:r>
              <a:rPr sz="2950" dirty="0">
                <a:solidFill>
                  <a:srgbClr val="2E377E"/>
                </a:solidFill>
                <a:latin typeface="Georgia"/>
                <a:cs typeface="Georgia"/>
              </a:rPr>
              <a:t>for</a:t>
            </a:r>
            <a:r>
              <a:rPr sz="2950" spc="15" dirty="0">
                <a:solidFill>
                  <a:srgbClr val="2E377E"/>
                </a:solidFill>
                <a:latin typeface="Georgia"/>
                <a:cs typeface="Georgia"/>
              </a:rPr>
              <a:t> </a:t>
            </a:r>
            <a:r>
              <a:rPr sz="2950" dirty="0">
                <a:solidFill>
                  <a:srgbClr val="2E377E"/>
                </a:solidFill>
                <a:latin typeface="Georgia"/>
                <a:cs typeface="Georgia"/>
              </a:rPr>
              <a:t>use</a:t>
            </a:r>
            <a:r>
              <a:rPr sz="2950" spc="10" dirty="0">
                <a:solidFill>
                  <a:srgbClr val="2E377E"/>
                </a:solidFill>
                <a:latin typeface="Georgia"/>
                <a:cs typeface="Georgia"/>
              </a:rPr>
              <a:t> </a:t>
            </a:r>
            <a:r>
              <a:rPr sz="2950" dirty="0">
                <a:solidFill>
                  <a:srgbClr val="2E377E"/>
                </a:solidFill>
                <a:latin typeface="Georgia"/>
                <a:cs typeface="Georgia"/>
              </a:rPr>
              <a:t>cases</a:t>
            </a:r>
            <a:r>
              <a:rPr sz="2950" spc="10" dirty="0">
                <a:solidFill>
                  <a:srgbClr val="2E377E"/>
                </a:solidFill>
                <a:latin typeface="Georgia"/>
                <a:cs typeface="Georgia"/>
              </a:rPr>
              <a:t> </a:t>
            </a:r>
            <a:r>
              <a:rPr sz="2950" spc="60" dirty="0">
                <a:solidFill>
                  <a:srgbClr val="2E377E"/>
                </a:solidFill>
                <a:latin typeface="Georgia"/>
                <a:cs typeface="Georgia"/>
              </a:rPr>
              <a:t>where</a:t>
            </a:r>
            <a:r>
              <a:rPr sz="2950" spc="15" dirty="0">
                <a:solidFill>
                  <a:srgbClr val="2E377E"/>
                </a:solidFill>
                <a:latin typeface="Georgia"/>
                <a:cs typeface="Georgia"/>
              </a:rPr>
              <a:t> </a:t>
            </a:r>
            <a:r>
              <a:rPr sz="2950" spc="50" dirty="0">
                <a:solidFill>
                  <a:srgbClr val="2E377E"/>
                </a:solidFill>
                <a:latin typeface="Georgia"/>
                <a:cs typeface="Georgia"/>
              </a:rPr>
              <a:t>many</a:t>
            </a:r>
            <a:r>
              <a:rPr sz="2950" spc="10" dirty="0">
                <a:solidFill>
                  <a:srgbClr val="2E377E"/>
                </a:solidFill>
                <a:latin typeface="Georgia"/>
                <a:cs typeface="Georgia"/>
              </a:rPr>
              <a:t> </a:t>
            </a:r>
            <a:r>
              <a:rPr sz="2950" dirty="0">
                <a:solidFill>
                  <a:srgbClr val="2E377E"/>
                </a:solidFill>
                <a:latin typeface="Georgia"/>
                <a:cs typeface="Georgia"/>
              </a:rPr>
              <a:t>pods</a:t>
            </a:r>
            <a:r>
              <a:rPr sz="2950" spc="15" dirty="0">
                <a:solidFill>
                  <a:srgbClr val="2E377E"/>
                </a:solidFill>
                <a:latin typeface="Georgia"/>
                <a:cs typeface="Georgia"/>
              </a:rPr>
              <a:t> </a:t>
            </a:r>
            <a:r>
              <a:rPr sz="2950" dirty="0">
                <a:solidFill>
                  <a:srgbClr val="2E377E"/>
                </a:solidFill>
                <a:latin typeface="Georgia"/>
                <a:cs typeface="Georgia"/>
              </a:rPr>
              <a:t>need</a:t>
            </a:r>
            <a:r>
              <a:rPr sz="2950" spc="10" dirty="0">
                <a:solidFill>
                  <a:srgbClr val="2E377E"/>
                </a:solidFill>
                <a:latin typeface="Georgia"/>
                <a:cs typeface="Georgia"/>
              </a:rPr>
              <a:t> </a:t>
            </a:r>
            <a:r>
              <a:rPr sz="2950" spc="60" dirty="0">
                <a:solidFill>
                  <a:srgbClr val="2E377E"/>
                </a:solidFill>
                <a:latin typeface="Georgia"/>
                <a:cs typeface="Georgia"/>
              </a:rPr>
              <a:t>to</a:t>
            </a:r>
            <a:r>
              <a:rPr sz="2950" spc="10" dirty="0">
                <a:solidFill>
                  <a:srgbClr val="2E377E"/>
                </a:solidFill>
                <a:latin typeface="Georgia"/>
                <a:cs typeface="Georgia"/>
              </a:rPr>
              <a:t> </a:t>
            </a:r>
            <a:r>
              <a:rPr sz="2950" dirty="0">
                <a:solidFill>
                  <a:srgbClr val="2E377E"/>
                </a:solidFill>
                <a:latin typeface="Georgia"/>
                <a:cs typeface="Georgia"/>
              </a:rPr>
              <a:t>read</a:t>
            </a:r>
            <a:r>
              <a:rPr sz="2950" spc="15" dirty="0">
                <a:solidFill>
                  <a:srgbClr val="2E377E"/>
                </a:solidFill>
                <a:latin typeface="Georgia"/>
                <a:cs typeface="Georgia"/>
              </a:rPr>
              <a:t> </a:t>
            </a:r>
            <a:r>
              <a:rPr sz="2950" dirty="0">
                <a:solidFill>
                  <a:srgbClr val="2E377E"/>
                </a:solidFill>
                <a:latin typeface="Georgia"/>
                <a:cs typeface="Georgia"/>
              </a:rPr>
              <a:t>and</a:t>
            </a:r>
            <a:r>
              <a:rPr sz="2950" spc="10" dirty="0">
                <a:solidFill>
                  <a:srgbClr val="2E377E"/>
                </a:solidFill>
                <a:latin typeface="Georgia"/>
                <a:cs typeface="Georgia"/>
              </a:rPr>
              <a:t> </a:t>
            </a:r>
            <a:r>
              <a:rPr sz="2950" spc="65" dirty="0">
                <a:solidFill>
                  <a:srgbClr val="2E377E"/>
                </a:solidFill>
                <a:latin typeface="Georgia"/>
                <a:cs typeface="Georgia"/>
              </a:rPr>
              <a:t>write</a:t>
            </a:r>
            <a:r>
              <a:rPr sz="2950" spc="15" dirty="0">
                <a:solidFill>
                  <a:srgbClr val="2E377E"/>
                </a:solidFill>
                <a:latin typeface="Georgia"/>
                <a:cs typeface="Georgia"/>
              </a:rPr>
              <a:t> </a:t>
            </a:r>
            <a:r>
              <a:rPr sz="2950" spc="35" dirty="0">
                <a:solidFill>
                  <a:srgbClr val="2E377E"/>
                </a:solidFill>
                <a:latin typeface="Georgia"/>
                <a:cs typeface="Georgia"/>
              </a:rPr>
              <a:t>to </a:t>
            </a:r>
            <a:r>
              <a:rPr sz="2950" spc="50" dirty="0">
                <a:solidFill>
                  <a:srgbClr val="2E377E"/>
                </a:solidFill>
                <a:latin typeface="Georgia"/>
                <a:cs typeface="Georgia"/>
              </a:rPr>
              <a:t>the</a:t>
            </a:r>
            <a:r>
              <a:rPr sz="2950" spc="-5" dirty="0">
                <a:solidFill>
                  <a:srgbClr val="2E377E"/>
                </a:solidFill>
                <a:latin typeface="Georgia"/>
                <a:cs typeface="Georgia"/>
              </a:rPr>
              <a:t> </a:t>
            </a:r>
            <a:r>
              <a:rPr sz="2950" dirty="0">
                <a:solidFill>
                  <a:srgbClr val="2E377E"/>
                </a:solidFill>
                <a:latin typeface="Georgia"/>
                <a:cs typeface="Georgia"/>
              </a:rPr>
              <a:t>same</a:t>
            </a:r>
            <a:r>
              <a:rPr sz="2950" spc="5" dirty="0">
                <a:solidFill>
                  <a:srgbClr val="2E377E"/>
                </a:solidFill>
                <a:latin typeface="Georgia"/>
                <a:cs typeface="Georgia"/>
              </a:rPr>
              <a:t> </a:t>
            </a:r>
            <a:r>
              <a:rPr sz="2950" dirty="0">
                <a:solidFill>
                  <a:srgbClr val="2E377E"/>
                </a:solidFill>
                <a:latin typeface="Georgia"/>
                <a:cs typeface="Georgia"/>
              </a:rPr>
              <a:t>data,</a:t>
            </a:r>
            <a:r>
              <a:rPr sz="2950" spc="-5" dirty="0">
                <a:solidFill>
                  <a:srgbClr val="2E377E"/>
                </a:solidFill>
                <a:latin typeface="Georgia"/>
                <a:cs typeface="Georgia"/>
              </a:rPr>
              <a:t> </a:t>
            </a:r>
            <a:r>
              <a:rPr sz="2950" dirty="0">
                <a:solidFill>
                  <a:srgbClr val="2E377E"/>
                </a:solidFill>
                <a:latin typeface="Georgia"/>
                <a:cs typeface="Georgia"/>
              </a:rPr>
              <a:t>such as a distributed file</a:t>
            </a:r>
            <a:r>
              <a:rPr sz="2950" spc="-5" dirty="0">
                <a:solidFill>
                  <a:srgbClr val="2E377E"/>
                </a:solidFill>
                <a:latin typeface="Georgia"/>
                <a:cs typeface="Georgia"/>
              </a:rPr>
              <a:t> </a:t>
            </a:r>
            <a:r>
              <a:rPr sz="2950" spc="-10" dirty="0">
                <a:solidFill>
                  <a:srgbClr val="2E377E"/>
                </a:solidFill>
                <a:latin typeface="Georgia"/>
                <a:cs typeface="Georgia"/>
              </a:rPr>
              <a:t>system.</a:t>
            </a:r>
            <a:endParaRPr sz="2950">
              <a:latin typeface="Georgia"/>
              <a:cs typeface="Georgia"/>
            </a:endParaRPr>
          </a:p>
          <a:p>
            <a:pPr marL="651510" marR="595630">
              <a:lnSpc>
                <a:spcPct val="116900"/>
              </a:lnSpc>
              <a:spcBef>
                <a:spcPts val="5"/>
              </a:spcBef>
            </a:pPr>
            <a:r>
              <a:rPr sz="2950" spc="110" dirty="0">
                <a:solidFill>
                  <a:srgbClr val="2E377E"/>
                </a:solidFill>
                <a:latin typeface="Times New Roman"/>
                <a:cs typeface="Times New Roman"/>
              </a:rPr>
              <a:t>Execute:</a:t>
            </a:r>
            <a:r>
              <a:rPr sz="2950" spc="-50" dirty="0">
                <a:solidFill>
                  <a:srgbClr val="2E377E"/>
                </a:solidFill>
                <a:latin typeface="Times New Roman"/>
                <a:cs typeface="Times New Roman"/>
              </a:rPr>
              <a:t> </a:t>
            </a:r>
            <a:r>
              <a:rPr sz="2950" dirty="0">
                <a:solidFill>
                  <a:srgbClr val="2E377E"/>
                </a:solidFill>
                <a:latin typeface="Georgia"/>
                <a:cs typeface="Georgia"/>
              </a:rPr>
              <a:t>This</a:t>
            </a:r>
            <a:r>
              <a:rPr sz="2950" spc="-25" dirty="0">
                <a:solidFill>
                  <a:srgbClr val="2E377E"/>
                </a:solidFill>
                <a:latin typeface="Georgia"/>
                <a:cs typeface="Georgia"/>
              </a:rPr>
              <a:t> </a:t>
            </a:r>
            <a:r>
              <a:rPr sz="2950" dirty="0">
                <a:solidFill>
                  <a:srgbClr val="2E377E"/>
                </a:solidFill>
                <a:latin typeface="Georgia"/>
                <a:cs typeface="Georgia"/>
              </a:rPr>
              <a:t>access</a:t>
            </a:r>
            <a:r>
              <a:rPr sz="2950" spc="-20" dirty="0">
                <a:solidFill>
                  <a:srgbClr val="2E377E"/>
                </a:solidFill>
                <a:latin typeface="Georgia"/>
                <a:cs typeface="Georgia"/>
              </a:rPr>
              <a:t> </a:t>
            </a:r>
            <a:r>
              <a:rPr sz="2950" dirty="0">
                <a:solidFill>
                  <a:srgbClr val="2E377E"/>
                </a:solidFill>
                <a:latin typeface="Georgia"/>
                <a:cs typeface="Georgia"/>
              </a:rPr>
              <a:t>mode</a:t>
            </a:r>
            <a:r>
              <a:rPr sz="2950" spc="-25" dirty="0">
                <a:solidFill>
                  <a:srgbClr val="2E377E"/>
                </a:solidFill>
                <a:latin typeface="Georgia"/>
                <a:cs typeface="Georgia"/>
              </a:rPr>
              <a:t> </a:t>
            </a:r>
            <a:r>
              <a:rPr sz="2950" dirty="0">
                <a:solidFill>
                  <a:srgbClr val="2E377E"/>
                </a:solidFill>
                <a:latin typeface="Georgia"/>
                <a:cs typeface="Georgia"/>
              </a:rPr>
              <a:t>allows</a:t>
            </a:r>
            <a:r>
              <a:rPr sz="2950" spc="-20" dirty="0">
                <a:solidFill>
                  <a:srgbClr val="2E377E"/>
                </a:solidFill>
                <a:latin typeface="Georgia"/>
                <a:cs typeface="Georgia"/>
              </a:rPr>
              <a:t> </a:t>
            </a:r>
            <a:r>
              <a:rPr sz="2950" spc="50" dirty="0">
                <a:solidFill>
                  <a:srgbClr val="2E377E"/>
                </a:solidFill>
                <a:latin typeface="Georgia"/>
                <a:cs typeface="Georgia"/>
              </a:rPr>
              <a:t>the</a:t>
            </a:r>
            <a:r>
              <a:rPr sz="2950" spc="-25" dirty="0">
                <a:solidFill>
                  <a:srgbClr val="2E377E"/>
                </a:solidFill>
                <a:latin typeface="Georgia"/>
                <a:cs typeface="Georgia"/>
              </a:rPr>
              <a:t> </a:t>
            </a:r>
            <a:r>
              <a:rPr sz="2950" dirty="0">
                <a:solidFill>
                  <a:srgbClr val="2E377E"/>
                </a:solidFill>
                <a:latin typeface="Georgia"/>
                <a:cs typeface="Georgia"/>
              </a:rPr>
              <a:t>pod</a:t>
            </a:r>
            <a:r>
              <a:rPr sz="2950" spc="-20" dirty="0">
                <a:solidFill>
                  <a:srgbClr val="2E377E"/>
                </a:solidFill>
                <a:latin typeface="Georgia"/>
                <a:cs typeface="Georgia"/>
              </a:rPr>
              <a:t> </a:t>
            </a:r>
            <a:r>
              <a:rPr sz="2950" spc="60" dirty="0">
                <a:solidFill>
                  <a:srgbClr val="2E377E"/>
                </a:solidFill>
                <a:latin typeface="Georgia"/>
                <a:cs typeface="Georgia"/>
              </a:rPr>
              <a:t>to</a:t>
            </a:r>
            <a:r>
              <a:rPr sz="2950" spc="-25" dirty="0">
                <a:solidFill>
                  <a:srgbClr val="2E377E"/>
                </a:solidFill>
                <a:latin typeface="Georgia"/>
                <a:cs typeface="Georgia"/>
              </a:rPr>
              <a:t> </a:t>
            </a:r>
            <a:r>
              <a:rPr sz="2950" spc="60" dirty="0">
                <a:solidFill>
                  <a:srgbClr val="2E377E"/>
                </a:solidFill>
                <a:latin typeface="Georgia"/>
                <a:cs typeface="Georgia"/>
              </a:rPr>
              <a:t>execute</a:t>
            </a:r>
            <a:r>
              <a:rPr sz="2950" spc="-25" dirty="0">
                <a:solidFill>
                  <a:srgbClr val="2E377E"/>
                </a:solidFill>
                <a:latin typeface="Georgia"/>
                <a:cs typeface="Georgia"/>
              </a:rPr>
              <a:t> </a:t>
            </a:r>
            <a:r>
              <a:rPr sz="2950" spc="50" dirty="0">
                <a:solidFill>
                  <a:srgbClr val="2E377E"/>
                </a:solidFill>
                <a:latin typeface="Georgia"/>
                <a:cs typeface="Georgia"/>
              </a:rPr>
              <a:t>the</a:t>
            </a:r>
            <a:r>
              <a:rPr sz="2950" spc="-20" dirty="0">
                <a:solidFill>
                  <a:srgbClr val="2E377E"/>
                </a:solidFill>
                <a:latin typeface="Georgia"/>
                <a:cs typeface="Georgia"/>
              </a:rPr>
              <a:t> </a:t>
            </a:r>
            <a:r>
              <a:rPr sz="2950" dirty="0">
                <a:solidFill>
                  <a:srgbClr val="2E377E"/>
                </a:solidFill>
                <a:latin typeface="Georgia"/>
                <a:cs typeface="Georgia"/>
              </a:rPr>
              <a:t>data</a:t>
            </a:r>
            <a:r>
              <a:rPr sz="2950" spc="-25" dirty="0">
                <a:solidFill>
                  <a:srgbClr val="2E377E"/>
                </a:solidFill>
                <a:latin typeface="Georgia"/>
                <a:cs typeface="Georgia"/>
              </a:rPr>
              <a:t> </a:t>
            </a:r>
            <a:r>
              <a:rPr sz="2950" dirty="0">
                <a:solidFill>
                  <a:srgbClr val="2E377E"/>
                </a:solidFill>
                <a:latin typeface="Georgia"/>
                <a:cs typeface="Georgia"/>
              </a:rPr>
              <a:t>on</a:t>
            </a:r>
            <a:r>
              <a:rPr sz="2950" spc="-20" dirty="0">
                <a:solidFill>
                  <a:srgbClr val="2E377E"/>
                </a:solidFill>
                <a:latin typeface="Georgia"/>
                <a:cs typeface="Georgia"/>
              </a:rPr>
              <a:t> </a:t>
            </a:r>
            <a:r>
              <a:rPr sz="2950" spc="50" dirty="0">
                <a:solidFill>
                  <a:srgbClr val="2E377E"/>
                </a:solidFill>
                <a:latin typeface="Georgia"/>
                <a:cs typeface="Georgia"/>
              </a:rPr>
              <a:t>the</a:t>
            </a:r>
            <a:r>
              <a:rPr sz="2950" spc="-25" dirty="0">
                <a:solidFill>
                  <a:srgbClr val="2E377E"/>
                </a:solidFill>
                <a:latin typeface="Georgia"/>
                <a:cs typeface="Georgia"/>
              </a:rPr>
              <a:t> </a:t>
            </a:r>
            <a:r>
              <a:rPr sz="2950" dirty="0">
                <a:solidFill>
                  <a:srgbClr val="2E377E"/>
                </a:solidFill>
                <a:latin typeface="Georgia"/>
                <a:cs typeface="Georgia"/>
              </a:rPr>
              <a:t>PV</a:t>
            </a:r>
            <a:r>
              <a:rPr sz="2950" spc="-20" dirty="0">
                <a:solidFill>
                  <a:srgbClr val="2E377E"/>
                </a:solidFill>
                <a:latin typeface="Georgia"/>
                <a:cs typeface="Georgia"/>
              </a:rPr>
              <a:t> </a:t>
            </a:r>
            <a:r>
              <a:rPr sz="2950" dirty="0">
                <a:solidFill>
                  <a:srgbClr val="2E377E"/>
                </a:solidFill>
                <a:latin typeface="Georgia"/>
                <a:cs typeface="Georgia"/>
              </a:rPr>
              <a:t>or</a:t>
            </a:r>
            <a:r>
              <a:rPr sz="2950" spc="-25" dirty="0">
                <a:solidFill>
                  <a:srgbClr val="2E377E"/>
                </a:solidFill>
                <a:latin typeface="Georgia"/>
                <a:cs typeface="Georgia"/>
              </a:rPr>
              <a:t> </a:t>
            </a:r>
            <a:r>
              <a:rPr sz="2950" spc="-10" dirty="0">
                <a:solidFill>
                  <a:srgbClr val="2E377E"/>
                </a:solidFill>
                <a:latin typeface="Georgia"/>
                <a:cs typeface="Georgia"/>
              </a:rPr>
              <a:t>PVC</a:t>
            </a:r>
            <a:r>
              <a:rPr sz="2950" spc="-25" dirty="0">
                <a:solidFill>
                  <a:srgbClr val="2E377E"/>
                </a:solidFill>
                <a:latin typeface="Georgia"/>
                <a:cs typeface="Georgia"/>
              </a:rPr>
              <a:t> </a:t>
            </a:r>
            <a:r>
              <a:rPr sz="2950" dirty="0">
                <a:solidFill>
                  <a:srgbClr val="2E377E"/>
                </a:solidFill>
                <a:latin typeface="Georgia"/>
                <a:cs typeface="Georgia"/>
              </a:rPr>
              <a:t>but</a:t>
            </a:r>
            <a:r>
              <a:rPr sz="2950" spc="-20" dirty="0">
                <a:solidFill>
                  <a:srgbClr val="2E377E"/>
                </a:solidFill>
                <a:latin typeface="Georgia"/>
                <a:cs typeface="Georgia"/>
              </a:rPr>
              <a:t> </a:t>
            </a:r>
            <a:r>
              <a:rPr sz="2950" dirty="0">
                <a:solidFill>
                  <a:srgbClr val="2E377E"/>
                </a:solidFill>
                <a:latin typeface="Georgia"/>
                <a:cs typeface="Georgia"/>
              </a:rPr>
              <a:t>not</a:t>
            </a:r>
            <a:r>
              <a:rPr sz="2950" spc="-25" dirty="0">
                <a:solidFill>
                  <a:srgbClr val="2E377E"/>
                </a:solidFill>
                <a:latin typeface="Georgia"/>
                <a:cs typeface="Georgia"/>
              </a:rPr>
              <a:t> </a:t>
            </a:r>
            <a:r>
              <a:rPr sz="2950" dirty="0">
                <a:solidFill>
                  <a:srgbClr val="2E377E"/>
                </a:solidFill>
                <a:latin typeface="Georgia"/>
                <a:cs typeface="Georgia"/>
              </a:rPr>
              <a:t>read</a:t>
            </a:r>
            <a:r>
              <a:rPr sz="2950" spc="-20" dirty="0">
                <a:solidFill>
                  <a:srgbClr val="2E377E"/>
                </a:solidFill>
                <a:latin typeface="Georgia"/>
                <a:cs typeface="Georgia"/>
              </a:rPr>
              <a:t> </a:t>
            </a:r>
            <a:r>
              <a:rPr sz="2950" spc="-25" dirty="0">
                <a:solidFill>
                  <a:srgbClr val="2E377E"/>
                </a:solidFill>
                <a:latin typeface="Georgia"/>
                <a:cs typeface="Georgia"/>
              </a:rPr>
              <a:t>or </a:t>
            </a:r>
            <a:r>
              <a:rPr sz="2950" spc="65" dirty="0">
                <a:solidFill>
                  <a:srgbClr val="2E377E"/>
                </a:solidFill>
                <a:latin typeface="Georgia"/>
                <a:cs typeface="Georgia"/>
              </a:rPr>
              <a:t>write</a:t>
            </a:r>
            <a:r>
              <a:rPr sz="2950" spc="-25" dirty="0">
                <a:solidFill>
                  <a:srgbClr val="2E377E"/>
                </a:solidFill>
                <a:latin typeface="Georgia"/>
                <a:cs typeface="Georgia"/>
              </a:rPr>
              <a:t> </a:t>
            </a:r>
            <a:r>
              <a:rPr sz="2950" spc="60" dirty="0">
                <a:solidFill>
                  <a:srgbClr val="2E377E"/>
                </a:solidFill>
                <a:latin typeface="Georgia"/>
                <a:cs typeface="Georgia"/>
              </a:rPr>
              <a:t>to</a:t>
            </a:r>
            <a:r>
              <a:rPr sz="2950" spc="-25" dirty="0">
                <a:solidFill>
                  <a:srgbClr val="2E377E"/>
                </a:solidFill>
                <a:latin typeface="Georgia"/>
                <a:cs typeface="Georgia"/>
              </a:rPr>
              <a:t> </a:t>
            </a:r>
            <a:r>
              <a:rPr sz="2950" dirty="0">
                <a:solidFill>
                  <a:srgbClr val="2E377E"/>
                </a:solidFill>
                <a:latin typeface="Georgia"/>
                <a:cs typeface="Georgia"/>
              </a:rPr>
              <a:t>it.</a:t>
            </a:r>
            <a:r>
              <a:rPr sz="2950" spc="-25" dirty="0">
                <a:solidFill>
                  <a:srgbClr val="2E377E"/>
                </a:solidFill>
                <a:latin typeface="Georgia"/>
                <a:cs typeface="Georgia"/>
              </a:rPr>
              <a:t> </a:t>
            </a:r>
            <a:r>
              <a:rPr sz="2950" dirty="0">
                <a:solidFill>
                  <a:srgbClr val="2E377E"/>
                </a:solidFill>
                <a:latin typeface="Georgia"/>
                <a:cs typeface="Georgia"/>
              </a:rPr>
              <a:t>This</a:t>
            </a:r>
            <a:r>
              <a:rPr sz="2950" spc="-25" dirty="0">
                <a:solidFill>
                  <a:srgbClr val="2E377E"/>
                </a:solidFill>
                <a:latin typeface="Georgia"/>
                <a:cs typeface="Georgia"/>
              </a:rPr>
              <a:t> </a:t>
            </a:r>
            <a:r>
              <a:rPr sz="2950" dirty="0">
                <a:solidFill>
                  <a:srgbClr val="2E377E"/>
                </a:solidFill>
                <a:latin typeface="Georgia"/>
                <a:cs typeface="Georgia"/>
              </a:rPr>
              <a:t>mode</a:t>
            </a:r>
            <a:r>
              <a:rPr sz="2950" spc="-20" dirty="0">
                <a:solidFill>
                  <a:srgbClr val="2E377E"/>
                </a:solidFill>
                <a:latin typeface="Georgia"/>
                <a:cs typeface="Georgia"/>
              </a:rPr>
              <a:t> </a:t>
            </a:r>
            <a:r>
              <a:rPr sz="2950" dirty="0">
                <a:solidFill>
                  <a:srgbClr val="2E377E"/>
                </a:solidFill>
                <a:latin typeface="Georgia"/>
                <a:cs typeface="Georgia"/>
              </a:rPr>
              <a:t>is</a:t>
            </a:r>
            <a:r>
              <a:rPr sz="2950" spc="-25" dirty="0">
                <a:solidFill>
                  <a:srgbClr val="2E377E"/>
                </a:solidFill>
                <a:latin typeface="Georgia"/>
                <a:cs typeface="Georgia"/>
              </a:rPr>
              <a:t> </a:t>
            </a:r>
            <a:r>
              <a:rPr sz="2950" dirty="0">
                <a:solidFill>
                  <a:srgbClr val="2E377E"/>
                </a:solidFill>
                <a:latin typeface="Georgia"/>
                <a:cs typeface="Georgia"/>
              </a:rPr>
              <a:t>useful</a:t>
            </a:r>
            <a:r>
              <a:rPr sz="2950" spc="-25" dirty="0">
                <a:solidFill>
                  <a:srgbClr val="2E377E"/>
                </a:solidFill>
                <a:latin typeface="Georgia"/>
                <a:cs typeface="Georgia"/>
              </a:rPr>
              <a:t> </a:t>
            </a:r>
            <a:r>
              <a:rPr sz="2950" dirty="0">
                <a:solidFill>
                  <a:srgbClr val="2E377E"/>
                </a:solidFill>
                <a:latin typeface="Georgia"/>
                <a:cs typeface="Georgia"/>
              </a:rPr>
              <a:t>for</a:t>
            </a:r>
            <a:r>
              <a:rPr sz="2950" spc="-25" dirty="0">
                <a:solidFill>
                  <a:srgbClr val="2E377E"/>
                </a:solidFill>
                <a:latin typeface="Georgia"/>
                <a:cs typeface="Georgia"/>
              </a:rPr>
              <a:t> </a:t>
            </a:r>
            <a:r>
              <a:rPr sz="2950" dirty="0">
                <a:solidFill>
                  <a:srgbClr val="2E377E"/>
                </a:solidFill>
                <a:latin typeface="Georgia"/>
                <a:cs typeface="Georgia"/>
              </a:rPr>
              <a:t>use</a:t>
            </a:r>
            <a:r>
              <a:rPr sz="2950" spc="-20" dirty="0">
                <a:solidFill>
                  <a:srgbClr val="2E377E"/>
                </a:solidFill>
                <a:latin typeface="Georgia"/>
                <a:cs typeface="Georgia"/>
              </a:rPr>
              <a:t> </a:t>
            </a:r>
            <a:r>
              <a:rPr sz="2950" dirty="0">
                <a:solidFill>
                  <a:srgbClr val="2E377E"/>
                </a:solidFill>
                <a:latin typeface="Georgia"/>
                <a:cs typeface="Georgia"/>
              </a:rPr>
              <a:t>cases</a:t>
            </a:r>
            <a:r>
              <a:rPr sz="2950" spc="-25" dirty="0">
                <a:solidFill>
                  <a:srgbClr val="2E377E"/>
                </a:solidFill>
                <a:latin typeface="Georgia"/>
                <a:cs typeface="Georgia"/>
              </a:rPr>
              <a:t> </a:t>
            </a:r>
            <a:r>
              <a:rPr sz="2950" spc="60" dirty="0">
                <a:solidFill>
                  <a:srgbClr val="2E377E"/>
                </a:solidFill>
                <a:latin typeface="Georgia"/>
                <a:cs typeface="Georgia"/>
              </a:rPr>
              <a:t>where</a:t>
            </a:r>
            <a:r>
              <a:rPr sz="2950" spc="-25" dirty="0">
                <a:solidFill>
                  <a:srgbClr val="2E377E"/>
                </a:solidFill>
                <a:latin typeface="Georgia"/>
                <a:cs typeface="Georgia"/>
              </a:rPr>
              <a:t> </a:t>
            </a:r>
            <a:r>
              <a:rPr sz="2950" spc="50" dirty="0">
                <a:solidFill>
                  <a:srgbClr val="2E377E"/>
                </a:solidFill>
                <a:latin typeface="Georgia"/>
                <a:cs typeface="Georgia"/>
              </a:rPr>
              <a:t>the</a:t>
            </a:r>
            <a:r>
              <a:rPr sz="2950" spc="-25" dirty="0">
                <a:solidFill>
                  <a:srgbClr val="2E377E"/>
                </a:solidFill>
                <a:latin typeface="Georgia"/>
                <a:cs typeface="Georgia"/>
              </a:rPr>
              <a:t> </a:t>
            </a:r>
            <a:r>
              <a:rPr sz="2950" dirty="0">
                <a:solidFill>
                  <a:srgbClr val="2E377E"/>
                </a:solidFill>
                <a:latin typeface="Georgia"/>
                <a:cs typeface="Georgia"/>
              </a:rPr>
              <a:t>data</a:t>
            </a:r>
            <a:r>
              <a:rPr sz="2950" spc="-20" dirty="0">
                <a:solidFill>
                  <a:srgbClr val="2E377E"/>
                </a:solidFill>
                <a:latin typeface="Georgia"/>
                <a:cs typeface="Georgia"/>
              </a:rPr>
              <a:t> </a:t>
            </a:r>
            <a:r>
              <a:rPr sz="2950" dirty="0">
                <a:solidFill>
                  <a:srgbClr val="2E377E"/>
                </a:solidFill>
                <a:latin typeface="Georgia"/>
                <a:cs typeface="Georgia"/>
              </a:rPr>
              <a:t>is</a:t>
            </a:r>
            <a:r>
              <a:rPr sz="2950" spc="-25" dirty="0">
                <a:solidFill>
                  <a:srgbClr val="2E377E"/>
                </a:solidFill>
                <a:latin typeface="Georgia"/>
                <a:cs typeface="Georgia"/>
              </a:rPr>
              <a:t> </a:t>
            </a:r>
            <a:r>
              <a:rPr sz="2950" dirty="0">
                <a:solidFill>
                  <a:srgbClr val="2E377E"/>
                </a:solidFill>
                <a:latin typeface="Georgia"/>
                <a:cs typeface="Georgia"/>
              </a:rPr>
              <a:t>meant</a:t>
            </a:r>
            <a:r>
              <a:rPr sz="2950" spc="-25" dirty="0">
                <a:solidFill>
                  <a:srgbClr val="2E377E"/>
                </a:solidFill>
                <a:latin typeface="Georgia"/>
                <a:cs typeface="Georgia"/>
              </a:rPr>
              <a:t> </a:t>
            </a:r>
            <a:r>
              <a:rPr sz="2950" spc="60" dirty="0">
                <a:solidFill>
                  <a:srgbClr val="2E377E"/>
                </a:solidFill>
                <a:latin typeface="Georgia"/>
                <a:cs typeface="Georgia"/>
              </a:rPr>
              <a:t>to</a:t>
            </a:r>
            <a:r>
              <a:rPr sz="2950" spc="-25" dirty="0">
                <a:solidFill>
                  <a:srgbClr val="2E377E"/>
                </a:solidFill>
                <a:latin typeface="Georgia"/>
                <a:cs typeface="Georgia"/>
              </a:rPr>
              <a:t> </a:t>
            </a:r>
            <a:r>
              <a:rPr sz="2950" dirty="0">
                <a:solidFill>
                  <a:srgbClr val="2E377E"/>
                </a:solidFill>
                <a:latin typeface="Georgia"/>
                <a:cs typeface="Georgia"/>
              </a:rPr>
              <a:t>be</a:t>
            </a:r>
            <a:r>
              <a:rPr sz="2950" spc="-20" dirty="0">
                <a:solidFill>
                  <a:srgbClr val="2E377E"/>
                </a:solidFill>
                <a:latin typeface="Georgia"/>
                <a:cs typeface="Georgia"/>
              </a:rPr>
              <a:t> </a:t>
            </a:r>
            <a:r>
              <a:rPr sz="2950" spc="55" dirty="0">
                <a:solidFill>
                  <a:srgbClr val="2E377E"/>
                </a:solidFill>
                <a:latin typeface="Georgia"/>
                <a:cs typeface="Georgia"/>
              </a:rPr>
              <a:t>executed</a:t>
            </a:r>
            <a:r>
              <a:rPr sz="2950" spc="-25" dirty="0">
                <a:solidFill>
                  <a:srgbClr val="2E377E"/>
                </a:solidFill>
                <a:latin typeface="Georgia"/>
                <a:cs typeface="Georgia"/>
              </a:rPr>
              <a:t> </a:t>
            </a:r>
            <a:r>
              <a:rPr sz="2950" spc="80" dirty="0">
                <a:solidFill>
                  <a:srgbClr val="2E377E"/>
                </a:solidFill>
                <a:latin typeface="Georgia"/>
                <a:cs typeface="Georgia"/>
              </a:rPr>
              <a:t>by</a:t>
            </a:r>
            <a:r>
              <a:rPr sz="2950" spc="-25" dirty="0">
                <a:solidFill>
                  <a:srgbClr val="2E377E"/>
                </a:solidFill>
                <a:latin typeface="Georgia"/>
                <a:cs typeface="Georgia"/>
              </a:rPr>
              <a:t> </a:t>
            </a:r>
            <a:r>
              <a:rPr sz="2950" spc="50" dirty="0">
                <a:solidFill>
                  <a:srgbClr val="2E377E"/>
                </a:solidFill>
                <a:latin typeface="Georgia"/>
                <a:cs typeface="Georgia"/>
              </a:rPr>
              <a:t>the</a:t>
            </a:r>
            <a:r>
              <a:rPr sz="2950" spc="-25" dirty="0">
                <a:solidFill>
                  <a:srgbClr val="2E377E"/>
                </a:solidFill>
                <a:latin typeface="Georgia"/>
                <a:cs typeface="Georgia"/>
              </a:rPr>
              <a:t> </a:t>
            </a:r>
            <a:r>
              <a:rPr sz="2950" spc="-20" dirty="0">
                <a:solidFill>
                  <a:srgbClr val="2E377E"/>
                </a:solidFill>
                <a:latin typeface="Georgia"/>
                <a:cs typeface="Georgia"/>
              </a:rPr>
              <a:t>pods </a:t>
            </a:r>
            <a:r>
              <a:rPr sz="2950" dirty="0">
                <a:solidFill>
                  <a:srgbClr val="2E377E"/>
                </a:solidFill>
                <a:latin typeface="Georgia"/>
                <a:cs typeface="Georgia"/>
              </a:rPr>
              <a:t>only,</a:t>
            </a:r>
            <a:r>
              <a:rPr sz="2950" spc="30" dirty="0">
                <a:solidFill>
                  <a:srgbClr val="2E377E"/>
                </a:solidFill>
                <a:latin typeface="Georgia"/>
                <a:cs typeface="Georgia"/>
              </a:rPr>
              <a:t> </a:t>
            </a:r>
            <a:r>
              <a:rPr sz="2950" dirty="0">
                <a:solidFill>
                  <a:srgbClr val="2E377E"/>
                </a:solidFill>
                <a:latin typeface="Georgia"/>
                <a:cs typeface="Georgia"/>
              </a:rPr>
              <a:t>such</a:t>
            </a:r>
            <a:r>
              <a:rPr sz="2950" spc="30" dirty="0">
                <a:solidFill>
                  <a:srgbClr val="2E377E"/>
                </a:solidFill>
                <a:latin typeface="Georgia"/>
                <a:cs typeface="Georgia"/>
              </a:rPr>
              <a:t> </a:t>
            </a:r>
            <a:r>
              <a:rPr sz="2950" dirty="0">
                <a:solidFill>
                  <a:srgbClr val="2E377E"/>
                </a:solidFill>
                <a:latin typeface="Georgia"/>
                <a:cs typeface="Georgia"/>
              </a:rPr>
              <a:t>as</a:t>
            </a:r>
            <a:r>
              <a:rPr sz="2950" spc="30" dirty="0">
                <a:solidFill>
                  <a:srgbClr val="2E377E"/>
                </a:solidFill>
                <a:latin typeface="Georgia"/>
                <a:cs typeface="Georgia"/>
              </a:rPr>
              <a:t> </a:t>
            </a:r>
            <a:r>
              <a:rPr sz="2950" dirty="0">
                <a:solidFill>
                  <a:srgbClr val="2E377E"/>
                </a:solidFill>
                <a:latin typeface="Georgia"/>
                <a:cs typeface="Georgia"/>
              </a:rPr>
              <a:t>application</a:t>
            </a:r>
            <a:r>
              <a:rPr sz="2950" spc="30" dirty="0">
                <a:solidFill>
                  <a:srgbClr val="2E377E"/>
                </a:solidFill>
                <a:latin typeface="Georgia"/>
                <a:cs typeface="Georgia"/>
              </a:rPr>
              <a:t> </a:t>
            </a:r>
            <a:r>
              <a:rPr sz="2950" spc="-10" dirty="0">
                <a:solidFill>
                  <a:srgbClr val="2E377E"/>
                </a:solidFill>
                <a:latin typeface="Georgia"/>
                <a:cs typeface="Georgia"/>
              </a:rPr>
              <a:t>code.</a:t>
            </a:r>
            <a:endParaRPr sz="2950">
              <a:latin typeface="Georgia"/>
              <a:cs typeface="Georgia"/>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70149" rIns="0" bIns="0" rtlCol="0">
            <a:spAutoFit/>
          </a:bodyPr>
          <a:lstStyle/>
          <a:p>
            <a:pPr marL="443230">
              <a:lnSpc>
                <a:spcPct val="100000"/>
              </a:lnSpc>
              <a:spcBef>
                <a:spcPts val="100"/>
              </a:spcBef>
            </a:pPr>
            <a:r>
              <a:rPr spc="-305" dirty="0">
                <a:solidFill>
                  <a:srgbClr val="FF3131"/>
                </a:solidFill>
              </a:rPr>
              <a:t>LIVENESSPROBE</a:t>
            </a:r>
            <a:r>
              <a:rPr spc="-180" dirty="0">
                <a:solidFill>
                  <a:srgbClr val="FF3131"/>
                </a:solidFill>
              </a:rPr>
              <a:t> </a:t>
            </a:r>
            <a:r>
              <a:rPr spc="-395" dirty="0">
                <a:solidFill>
                  <a:srgbClr val="FF3131"/>
                </a:solidFill>
              </a:rPr>
              <a:t>(HEALTHCHECK):</a:t>
            </a:r>
          </a:p>
        </p:txBody>
      </p:sp>
      <p:pic>
        <p:nvPicPr>
          <p:cNvPr id="3" name="object 3"/>
          <p:cNvPicPr/>
          <p:nvPr/>
        </p:nvPicPr>
        <p:blipFill>
          <a:blip r:embed="rId2" cstate="print"/>
          <a:stretch>
            <a:fillRect/>
          </a:stretch>
        </p:blipFill>
        <p:spPr>
          <a:xfrm>
            <a:off x="1115780" y="1849110"/>
            <a:ext cx="125515" cy="125515"/>
          </a:xfrm>
          <a:prstGeom prst="rect">
            <a:avLst/>
          </a:prstGeom>
        </p:spPr>
      </p:pic>
      <p:sp>
        <p:nvSpPr>
          <p:cNvPr id="4" name="object 4"/>
          <p:cNvSpPr txBox="1"/>
          <p:nvPr/>
        </p:nvSpPr>
        <p:spPr>
          <a:xfrm>
            <a:off x="1418177" y="1521532"/>
            <a:ext cx="16501110" cy="8079740"/>
          </a:xfrm>
          <a:prstGeom prst="rect">
            <a:avLst/>
          </a:prstGeom>
        </p:spPr>
        <p:txBody>
          <a:bodyPr vert="horz" wrap="square" lIns="0" tIns="12700" rIns="0" bIns="0" rtlCol="0">
            <a:spAutoFit/>
          </a:bodyPr>
          <a:lstStyle/>
          <a:p>
            <a:pPr marL="12700" marR="963930">
              <a:lnSpc>
                <a:spcPct val="116100"/>
              </a:lnSpc>
              <a:spcBef>
                <a:spcPts val="100"/>
              </a:spcBef>
            </a:pPr>
            <a:r>
              <a:rPr sz="3250" dirty="0">
                <a:solidFill>
                  <a:srgbClr val="2E377E"/>
                </a:solidFill>
                <a:latin typeface="Georgia"/>
                <a:cs typeface="Georgia"/>
              </a:rPr>
              <a:t>LivenessProbe</a:t>
            </a:r>
            <a:r>
              <a:rPr sz="3250" spc="20" dirty="0">
                <a:solidFill>
                  <a:srgbClr val="2E377E"/>
                </a:solidFill>
                <a:latin typeface="Georgia"/>
                <a:cs typeface="Georgia"/>
              </a:rPr>
              <a:t> </a:t>
            </a:r>
            <a:r>
              <a:rPr sz="3250" dirty="0">
                <a:solidFill>
                  <a:srgbClr val="2E377E"/>
                </a:solidFill>
                <a:latin typeface="Georgia"/>
                <a:cs typeface="Georgia"/>
              </a:rPr>
              <a:t>is</a:t>
            </a:r>
            <a:r>
              <a:rPr sz="3250" spc="20" dirty="0">
                <a:solidFill>
                  <a:srgbClr val="2E377E"/>
                </a:solidFill>
                <a:latin typeface="Georgia"/>
                <a:cs typeface="Georgia"/>
              </a:rPr>
              <a:t> </a:t>
            </a:r>
            <a:r>
              <a:rPr sz="3250" dirty="0">
                <a:solidFill>
                  <a:srgbClr val="2E377E"/>
                </a:solidFill>
                <a:latin typeface="Georgia"/>
                <a:cs typeface="Georgia"/>
              </a:rPr>
              <a:t>a</a:t>
            </a:r>
            <a:r>
              <a:rPr sz="3250" spc="20" dirty="0">
                <a:solidFill>
                  <a:srgbClr val="2E377E"/>
                </a:solidFill>
                <a:latin typeface="Georgia"/>
                <a:cs typeface="Georgia"/>
              </a:rPr>
              <a:t> </a:t>
            </a:r>
            <a:r>
              <a:rPr sz="3250" dirty="0">
                <a:solidFill>
                  <a:srgbClr val="2E377E"/>
                </a:solidFill>
                <a:latin typeface="Georgia"/>
                <a:cs typeface="Georgia"/>
              </a:rPr>
              <a:t>rich</a:t>
            </a:r>
            <a:r>
              <a:rPr sz="3250" spc="20" dirty="0">
                <a:solidFill>
                  <a:srgbClr val="2E377E"/>
                </a:solidFill>
                <a:latin typeface="Georgia"/>
                <a:cs typeface="Georgia"/>
              </a:rPr>
              <a:t> </a:t>
            </a:r>
            <a:r>
              <a:rPr sz="3250" dirty="0">
                <a:solidFill>
                  <a:srgbClr val="2E377E"/>
                </a:solidFill>
                <a:latin typeface="Georgia"/>
                <a:cs typeface="Georgia"/>
              </a:rPr>
              <a:t>feature</a:t>
            </a:r>
            <a:r>
              <a:rPr sz="3250" spc="20" dirty="0">
                <a:solidFill>
                  <a:srgbClr val="2E377E"/>
                </a:solidFill>
                <a:latin typeface="Georgia"/>
                <a:cs typeface="Georgia"/>
              </a:rPr>
              <a:t> </a:t>
            </a:r>
            <a:r>
              <a:rPr sz="3250" dirty="0">
                <a:solidFill>
                  <a:srgbClr val="2E377E"/>
                </a:solidFill>
                <a:latin typeface="Georgia"/>
                <a:cs typeface="Georgia"/>
              </a:rPr>
              <a:t>in</a:t>
            </a:r>
            <a:r>
              <a:rPr sz="3250" spc="20" dirty="0">
                <a:solidFill>
                  <a:srgbClr val="2E377E"/>
                </a:solidFill>
                <a:latin typeface="Georgia"/>
                <a:cs typeface="Georgia"/>
              </a:rPr>
              <a:t> </a:t>
            </a:r>
            <a:r>
              <a:rPr sz="3250" dirty="0">
                <a:solidFill>
                  <a:srgbClr val="2E377E"/>
                </a:solidFill>
                <a:latin typeface="Georgia"/>
                <a:cs typeface="Georgia"/>
              </a:rPr>
              <a:t>Kubernetes</a:t>
            </a:r>
            <a:r>
              <a:rPr sz="3250" spc="20" dirty="0">
                <a:solidFill>
                  <a:srgbClr val="2E377E"/>
                </a:solidFill>
                <a:latin typeface="Georgia"/>
                <a:cs typeface="Georgia"/>
              </a:rPr>
              <a:t> </a:t>
            </a:r>
            <a:r>
              <a:rPr sz="3250" dirty="0">
                <a:solidFill>
                  <a:srgbClr val="2E377E"/>
                </a:solidFill>
                <a:latin typeface="Georgia"/>
                <a:cs typeface="Georgia"/>
              </a:rPr>
              <a:t>that</a:t>
            </a:r>
            <a:r>
              <a:rPr sz="3250" spc="20" dirty="0">
                <a:solidFill>
                  <a:srgbClr val="2E377E"/>
                </a:solidFill>
                <a:latin typeface="Georgia"/>
                <a:cs typeface="Georgia"/>
              </a:rPr>
              <a:t> </a:t>
            </a:r>
            <a:r>
              <a:rPr sz="3250" dirty="0">
                <a:solidFill>
                  <a:srgbClr val="2E377E"/>
                </a:solidFill>
                <a:latin typeface="Georgia"/>
                <a:cs typeface="Georgia"/>
              </a:rPr>
              <a:t>is</a:t>
            </a:r>
            <a:r>
              <a:rPr sz="3250" spc="20" dirty="0">
                <a:solidFill>
                  <a:srgbClr val="2E377E"/>
                </a:solidFill>
                <a:latin typeface="Georgia"/>
                <a:cs typeface="Georgia"/>
              </a:rPr>
              <a:t> </a:t>
            </a:r>
            <a:r>
              <a:rPr sz="3250" dirty="0">
                <a:solidFill>
                  <a:srgbClr val="2E377E"/>
                </a:solidFill>
                <a:latin typeface="Georgia"/>
                <a:cs typeface="Georgia"/>
              </a:rPr>
              <a:t>used</a:t>
            </a:r>
            <a:r>
              <a:rPr sz="3250" spc="15" dirty="0">
                <a:solidFill>
                  <a:srgbClr val="2E377E"/>
                </a:solidFill>
                <a:latin typeface="Georgia"/>
                <a:cs typeface="Georgia"/>
              </a:rPr>
              <a:t> </a:t>
            </a:r>
            <a:r>
              <a:rPr sz="3250" spc="50" dirty="0">
                <a:solidFill>
                  <a:srgbClr val="2E377E"/>
                </a:solidFill>
                <a:latin typeface="Georgia"/>
                <a:cs typeface="Georgia"/>
              </a:rPr>
              <a:t>to</a:t>
            </a:r>
            <a:r>
              <a:rPr sz="3250" spc="20" dirty="0">
                <a:solidFill>
                  <a:srgbClr val="2E377E"/>
                </a:solidFill>
                <a:latin typeface="Georgia"/>
                <a:cs typeface="Georgia"/>
              </a:rPr>
              <a:t> </a:t>
            </a:r>
            <a:r>
              <a:rPr sz="3250" dirty="0">
                <a:solidFill>
                  <a:srgbClr val="2E377E"/>
                </a:solidFill>
                <a:latin typeface="Georgia"/>
                <a:cs typeface="Georgia"/>
              </a:rPr>
              <a:t>check</a:t>
            </a:r>
            <a:r>
              <a:rPr sz="3250" spc="20" dirty="0">
                <a:solidFill>
                  <a:srgbClr val="2E377E"/>
                </a:solidFill>
                <a:latin typeface="Georgia"/>
                <a:cs typeface="Georgia"/>
              </a:rPr>
              <a:t> </a:t>
            </a:r>
            <a:r>
              <a:rPr sz="3250" dirty="0">
                <a:solidFill>
                  <a:srgbClr val="2E377E"/>
                </a:solidFill>
                <a:latin typeface="Georgia"/>
                <a:cs typeface="Georgia"/>
              </a:rPr>
              <a:t>the</a:t>
            </a:r>
            <a:r>
              <a:rPr sz="3250" spc="20" dirty="0">
                <a:solidFill>
                  <a:srgbClr val="2E377E"/>
                </a:solidFill>
                <a:latin typeface="Georgia"/>
                <a:cs typeface="Georgia"/>
              </a:rPr>
              <a:t> </a:t>
            </a:r>
            <a:r>
              <a:rPr sz="3250" dirty="0">
                <a:solidFill>
                  <a:srgbClr val="2E377E"/>
                </a:solidFill>
                <a:latin typeface="Georgia"/>
                <a:cs typeface="Georgia"/>
              </a:rPr>
              <a:t>health</a:t>
            </a:r>
            <a:r>
              <a:rPr sz="3250" spc="20" dirty="0">
                <a:solidFill>
                  <a:srgbClr val="2E377E"/>
                </a:solidFill>
                <a:latin typeface="Georgia"/>
                <a:cs typeface="Georgia"/>
              </a:rPr>
              <a:t> </a:t>
            </a:r>
            <a:r>
              <a:rPr sz="3250" dirty="0">
                <a:solidFill>
                  <a:srgbClr val="2E377E"/>
                </a:solidFill>
                <a:latin typeface="Georgia"/>
                <a:cs typeface="Georgia"/>
              </a:rPr>
              <a:t>of</a:t>
            </a:r>
            <a:r>
              <a:rPr sz="3250" spc="20" dirty="0">
                <a:solidFill>
                  <a:srgbClr val="2E377E"/>
                </a:solidFill>
                <a:latin typeface="Georgia"/>
                <a:cs typeface="Georgia"/>
              </a:rPr>
              <a:t> </a:t>
            </a:r>
            <a:r>
              <a:rPr sz="3250" spc="45" dirty="0">
                <a:solidFill>
                  <a:srgbClr val="2E377E"/>
                </a:solidFill>
                <a:latin typeface="Georgia"/>
                <a:cs typeface="Georgia"/>
              </a:rPr>
              <a:t>your </a:t>
            </a:r>
            <a:r>
              <a:rPr sz="3250" spc="-10" dirty="0">
                <a:solidFill>
                  <a:srgbClr val="2E377E"/>
                </a:solidFill>
                <a:latin typeface="Georgia"/>
                <a:cs typeface="Georgia"/>
              </a:rPr>
              <a:t>application.</a:t>
            </a:r>
            <a:endParaRPr sz="3250">
              <a:latin typeface="Georgia"/>
              <a:cs typeface="Georgia"/>
            </a:endParaRPr>
          </a:p>
          <a:p>
            <a:pPr marL="12700">
              <a:lnSpc>
                <a:spcPct val="100000"/>
              </a:lnSpc>
              <a:spcBef>
                <a:spcPts val="630"/>
              </a:spcBef>
            </a:pPr>
            <a:r>
              <a:rPr sz="3250" dirty="0">
                <a:solidFill>
                  <a:srgbClr val="2E377E"/>
                </a:solidFill>
                <a:latin typeface="Georgia"/>
                <a:cs typeface="Georgia"/>
              </a:rPr>
              <a:t>Kubernetes</a:t>
            </a:r>
            <a:r>
              <a:rPr sz="3250" spc="65" dirty="0">
                <a:solidFill>
                  <a:srgbClr val="2E377E"/>
                </a:solidFill>
                <a:latin typeface="Georgia"/>
                <a:cs typeface="Georgia"/>
              </a:rPr>
              <a:t> </a:t>
            </a:r>
            <a:r>
              <a:rPr sz="3250" spc="75" dirty="0">
                <a:solidFill>
                  <a:srgbClr val="2E377E"/>
                </a:solidFill>
                <a:latin typeface="Georgia"/>
                <a:cs typeface="Georgia"/>
              </a:rPr>
              <a:t>by</a:t>
            </a:r>
            <a:r>
              <a:rPr sz="3250" spc="65" dirty="0">
                <a:solidFill>
                  <a:srgbClr val="2E377E"/>
                </a:solidFill>
                <a:latin typeface="Georgia"/>
                <a:cs typeface="Georgia"/>
              </a:rPr>
              <a:t> </a:t>
            </a:r>
            <a:r>
              <a:rPr sz="3250" dirty="0">
                <a:solidFill>
                  <a:srgbClr val="2E377E"/>
                </a:solidFill>
                <a:latin typeface="Georgia"/>
                <a:cs typeface="Georgia"/>
              </a:rPr>
              <a:t>default</a:t>
            </a:r>
            <a:r>
              <a:rPr sz="3250" spc="70" dirty="0">
                <a:solidFill>
                  <a:srgbClr val="2E377E"/>
                </a:solidFill>
                <a:latin typeface="Georgia"/>
                <a:cs typeface="Georgia"/>
              </a:rPr>
              <a:t> </a:t>
            </a:r>
            <a:r>
              <a:rPr sz="3250" dirty="0">
                <a:solidFill>
                  <a:srgbClr val="2E377E"/>
                </a:solidFill>
                <a:latin typeface="Georgia"/>
                <a:cs typeface="Georgia"/>
              </a:rPr>
              <a:t>doesn’t</a:t>
            </a:r>
            <a:r>
              <a:rPr sz="3250" spc="65" dirty="0">
                <a:solidFill>
                  <a:srgbClr val="2E377E"/>
                </a:solidFill>
                <a:latin typeface="Georgia"/>
                <a:cs typeface="Georgia"/>
              </a:rPr>
              <a:t> </a:t>
            </a:r>
            <a:r>
              <a:rPr sz="3250" dirty="0">
                <a:solidFill>
                  <a:srgbClr val="2E377E"/>
                </a:solidFill>
                <a:latin typeface="Georgia"/>
                <a:cs typeface="Georgia"/>
              </a:rPr>
              <a:t>check</a:t>
            </a:r>
            <a:r>
              <a:rPr sz="3250" spc="70" dirty="0">
                <a:solidFill>
                  <a:srgbClr val="2E377E"/>
                </a:solidFill>
                <a:latin typeface="Georgia"/>
                <a:cs typeface="Georgia"/>
              </a:rPr>
              <a:t> </a:t>
            </a:r>
            <a:r>
              <a:rPr sz="3250" dirty="0">
                <a:solidFill>
                  <a:srgbClr val="2E377E"/>
                </a:solidFill>
                <a:latin typeface="Georgia"/>
                <a:cs typeface="Georgia"/>
              </a:rPr>
              <a:t>the</a:t>
            </a:r>
            <a:r>
              <a:rPr sz="3250" spc="65" dirty="0">
                <a:solidFill>
                  <a:srgbClr val="2E377E"/>
                </a:solidFill>
                <a:latin typeface="Georgia"/>
                <a:cs typeface="Georgia"/>
              </a:rPr>
              <a:t> </a:t>
            </a:r>
            <a:r>
              <a:rPr sz="3250" dirty="0">
                <a:solidFill>
                  <a:srgbClr val="2E377E"/>
                </a:solidFill>
                <a:latin typeface="Georgia"/>
                <a:cs typeface="Georgia"/>
              </a:rPr>
              <a:t>health</a:t>
            </a:r>
            <a:r>
              <a:rPr sz="3250" spc="65" dirty="0">
                <a:solidFill>
                  <a:srgbClr val="2E377E"/>
                </a:solidFill>
                <a:latin typeface="Georgia"/>
                <a:cs typeface="Georgia"/>
              </a:rPr>
              <a:t> </a:t>
            </a:r>
            <a:r>
              <a:rPr sz="3250" dirty="0">
                <a:solidFill>
                  <a:srgbClr val="2E377E"/>
                </a:solidFill>
                <a:latin typeface="Georgia"/>
                <a:cs typeface="Georgia"/>
              </a:rPr>
              <a:t>check</a:t>
            </a:r>
            <a:r>
              <a:rPr sz="3250" spc="70" dirty="0">
                <a:solidFill>
                  <a:srgbClr val="2E377E"/>
                </a:solidFill>
                <a:latin typeface="Georgia"/>
                <a:cs typeface="Georgia"/>
              </a:rPr>
              <a:t> </a:t>
            </a:r>
            <a:r>
              <a:rPr sz="3250" dirty="0">
                <a:solidFill>
                  <a:srgbClr val="2E377E"/>
                </a:solidFill>
                <a:latin typeface="Georgia"/>
                <a:cs typeface="Georgia"/>
              </a:rPr>
              <a:t>of</a:t>
            </a:r>
            <a:r>
              <a:rPr sz="3250" spc="65" dirty="0">
                <a:solidFill>
                  <a:srgbClr val="2E377E"/>
                </a:solidFill>
                <a:latin typeface="Georgia"/>
                <a:cs typeface="Georgia"/>
              </a:rPr>
              <a:t> </a:t>
            </a:r>
            <a:r>
              <a:rPr sz="3250" dirty="0">
                <a:solidFill>
                  <a:srgbClr val="2E377E"/>
                </a:solidFill>
                <a:latin typeface="Georgia"/>
                <a:cs typeface="Georgia"/>
              </a:rPr>
              <a:t>the</a:t>
            </a:r>
            <a:r>
              <a:rPr sz="3250" spc="65" dirty="0">
                <a:solidFill>
                  <a:srgbClr val="2E377E"/>
                </a:solidFill>
                <a:latin typeface="Georgia"/>
                <a:cs typeface="Georgia"/>
              </a:rPr>
              <a:t> </a:t>
            </a:r>
            <a:r>
              <a:rPr sz="3250" spc="-10" dirty="0">
                <a:solidFill>
                  <a:srgbClr val="2E377E"/>
                </a:solidFill>
                <a:latin typeface="Georgia"/>
                <a:cs typeface="Georgia"/>
              </a:rPr>
              <a:t>applications.</a:t>
            </a:r>
            <a:endParaRPr sz="3250">
              <a:latin typeface="Georgia"/>
              <a:cs typeface="Georgia"/>
            </a:endParaRPr>
          </a:p>
          <a:p>
            <a:pPr marL="12700" marR="1600835">
              <a:lnSpc>
                <a:spcPct val="116100"/>
              </a:lnSpc>
            </a:pPr>
            <a:r>
              <a:rPr sz="3250" dirty="0">
                <a:solidFill>
                  <a:srgbClr val="2E377E"/>
                </a:solidFill>
                <a:latin typeface="Georgia"/>
                <a:cs typeface="Georgia"/>
              </a:rPr>
              <a:t>If</a:t>
            </a:r>
            <a:r>
              <a:rPr sz="3250" spc="10" dirty="0">
                <a:solidFill>
                  <a:srgbClr val="2E377E"/>
                </a:solidFill>
                <a:latin typeface="Georgia"/>
                <a:cs typeface="Georgia"/>
              </a:rPr>
              <a:t> </a:t>
            </a:r>
            <a:r>
              <a:rPr sz="3250" spc="75" dirty="0">
                <a:solidFill>
                  <a:srgbClr val="2E377E"/>
                </a:solidFill>
                <a:latin typeface="Georgia"/>
                <a:cs typeface="Georgia"/>
              </a:rPr>
              <a:t>you</a:t>
            </a:r>
            <a:r>
              <a:rPr sz="3250" spc="10" dirty="0">
                <a:solidFill>
                  <a:srgbClr val="2E377E"/>
                </a:solidFill>
                <a:latin typeface="Georgia"/>
                <a:cs typeface="Georgia"/>
              </a:rPr>
              <a:t> </a:t>
            </a:r>
            <a:r>
              <a:rPr sz="3250" spc="60" dirty="0">
                <a:solidFill>
                  <a:srgbClr val="2E377E"/>
                </a:solidFill>
                <a:latin typeface="Georgia"/>
                <a:cs typeface="Georgia"/>
              </a:rPr>
              <a:t>want</a:t>
            </a:r>
            <a:r>
              <a:rPr sz="3250" spc="15" dirty="0">
                <a:solidFill>
                  <a:srgbClr val="2E377E"/>
                </a:solidFill>
                <a:latin typeface="Georgia"/>
                <a:cs typeface="Georgia"/>
              </a:rPr>
              <a:t> </a:t>
            </a:r>
            <a:r>
              <a:rPr sz="3250" spc="50" dirty="0">
                <a:solidFill>
                  <a:srgbClr val="2E377E"/>
                </a:solidFill>
                <a:latin typeface="Georgia"/>
                <a:cs typeface="Georgia"/>
              </a:rPr>
              <a:t>to</a:t>
            </a:r>
            <a:r>
              <a:rPr sz="3250" spc="10" dirty="0">
                <a:solidFill>
                  <a:srgbClr val="2E377E"/>
                </a:solidFill>
                <a:latin typeface="Georgia"/>
                <a:cs typeface="Georgia"/>
              </a:rPr>
              <a:t> </a:t>
            </a:r>
            <a:r>
              <a:rPr sz="3250" dirty="0">
                <a:solidFill>
                  <a:srgbClr val="2E377E"/>
                </a:solidFill>
                <a:latin typeface="Georgia"/>
                <a:cs typeface="Georgia"/>
              </a:rPr>
              <a:t>use</a:t>
            </a:r>
            <a:r>
              <a:rPr sz="3250" spc="15" dirty="0">
                <a:solidFill>
                  <a:srgbClr val="2E377E"/>
                </a:solidFill>
                <a:latin typeface="Georgia"/>
                <a:cs typeface="Georgia"/>
              </a:rPr>
              <a:t> </a:t>
            </a:r>
            <a:r>
              <a:rPr sz="3250" dirty="0">
                <a:solidFill>
                  <a:srgbClr val="2E377E"/>
                </a:solidFill>
                <a:latin typeface="Georgia"/>
                <a:cs typeface="Georgia"/>
              </a:rPr>
              <a:t>the</a:t>
            </a:r>
            <a:r>
              <a:rPr sz="3250" spc="10" dirty="0">
                <a:solidFill>
                  <a:srgbClr val="2E377E"/>
                </a:solidFill>
                <a:latin typeface="Georgia"/>
                <a:cs typeface="Georgia"/>
              </a:rPr>
              <a:t> </a:t>
            </a:r>
            <a:r>
              <a:rPr sz="3250" dirty="0">
                <a:solidFill>
                  <a:srgbClr val="2E377E"/>
                </a:solidFill>
                <a:latin typeface="Georgia"/>
                <a:cs typeface="Georgia"/>
              </a:rPr>
              <a:t>livenessProve</a:t>
            </a:r>
            <a:r>
              <a:rPr sz="3250" spc="15" dirty="0">
                <a:solidFill>
                  <a:srgbClr val="2E377E"/>
                </a:solidFill>
                <a:latin typeface="Georgia"/>
                <a:cs typeface="Georgia"/>
              </a:rPr>
              <a:t> </a:t>
            </a:r>
            <a:r>
              <a:rPr sz="3250" dirty="0">
                <a:solidFill>
                  <a:srgbClr val="2E377E"/>
                </a:solidFill>
                <a:latin typeface="Georgia"/>
                <a:cs typeface="Georgia"/>
              </a:rPr>
              <a:t>feature</a:t>
            </a:r>
            <a:r>
              <a:rPr sz="3250" spc="10" dirty="0">
                <a:solidFill>
                  <a:srgbClr val="2E377E"/>
                </a:solidFill>
                <a:latin typeface="Georgia"/>
                <a:cs typeface="Georgia"/>
              </a:rPr>
              <a:t> </a:t>
            </a:r>
            <a:r>
              <a:rPr sz="3250" dirty="0">
                <a:solidFill>
                  <a:srgbClr val="2E377E"/>
                </a:solidFill>
                <a:latin typeface="Georgia"/>
                <a:cs typeface="Georgia"/>
              </a:rPr>
              <a:t>and</a:t>
            </a:r>
            <a:r>
              <a:rPr sz="3250" spc="10" dirty="0">
                <a:solidFill>
                  <a:srgbClr val="2E377E"/>
                </a:solidFill>
                <a:latin typeface="Georgia"/>
                <a:cs typeface="Georgia"/>
              </a:rPr>
              <a:t> </a:t>
            </a:r>
            <a:r>
              <a:rPr sz="3250" spc="60" dirty="0">
                <a:solidFill>
                  <a:srgbClr val="2E377E"/>
                </a:solidFill>
                <a:latin typeface="Georgia"/>
                <a:cs typeface="Georgia"/>
              </a:rPr>
              <a:t>want</a:t>
            </a:r>
            <a:r>
              <a:rPr sz="3250" spc="10" dirty="0">
                <a:solidFill>
                  <a:srgbClr val="2E377E"/>
                </a:solidFill>
                <a:latin typeface="Georgia"/>
                <a:cs typeface="Georgia"/>
              </a:rPr>
              <a:t> </a:t>
            </a:r>
            <a:r>
              <a:rPr sz="3250" spc="50" dirty="0">
                <a:solidFill>
                  <a:srgbClr val="2E377E"/>
                </a:solidFill>
                <a:latin typeface="Georgia"/>
                <a:cs typeface="Georgia"/>
              </a:rPr>
              <a:t>to</a:t>
            </a:r>
            <a:r>
              <a:rPr sz="3250" spc="15" dirty="0">
                <a:solidFill>
                  <a:srgbClr val="2E377E"/>
                </a:solidFill>
                <a:latin typeface="Georgia"/>
                <a:cs typeface="Georgia"/>
              </a:rPr>
              <a:t> </a:t>
            </a:r>
            <a:r>
              <a:rPr sz="3250" dirty="0">
                <a:solidFill>
                  <a:srgbClr val="2E377E"/>
                </a:solidFill>
                <a:latin typeface="Georgia"/>
                <a:cs typeface="Georgia"/>
              </a:rPr>
              <a:t>check</a:t>
            </a:r>
            <a:r>
              <a:rPr sz="3250" spc="10" dirty="0">
                <a:solidFill>
                  <a:srgbClr val="2E377E"/>
                </a:solidFill>
                <a:latin typeface="Georgia"/>
                <a:cs typeface="Georgia"/>
              </a:rPr>
              <a:t> </a:t>
            </a:r>
            <a:r>
              <a:rPr sz="3250" dirty="0">
                <a:solidFill>
                  <a:srgbClr val="2E377E"/>
                </a:solidFill>
                <a:latin typeface="Georgia"/>
                <a:cs typeface="Georgia"/>
              </a:rPr>
              <a:t>the</a:t>
            </a:r>
            <a:r>
              <a:rPr sz="3250" spc="15" dirty="0">
                <a:solidFill>
                  <a:srgbClr val="2E377E"/>
                </a:solidFill>
                <a:latin typeface="Georgia"/>
                <a:cs typeface="Georgia"/>
              </a:rPr>
              <a:t> </a:t>
            </a:r>
            <a:r>
              <a:rPr sz="3250" dirty="0">
                <a:solidFill>
                  <a:srgbClr val="2E377E"/>
                </a:solidFill>
                <a:latin typeface="Georgia"/>
                <a:cs typeface="Georgia"/>
              </a:rPr>
              <a:t>health</a:t>
            </a:r>
            <a:r>
              <a:rPr sz="3250" spc="10" dirty="0">
                <a:solidFill>
                  <a:srgbClr val="2E377E"/>
                </a:solidFill>
                <a:latin typeface="Georgia"/>
                <a:cs typeface="Georgia"/>
              </a:rPr>
              <a:t> </a:t>
            </a:r>
            <a:r>
              <a:rPr sz="3250" dirty="0">
                <a:solidFill>
                  <a:srgbClr val="2E377E"/>
                </a:solidFill>
                <a:latin typeface="Georgia"/>
                <a:cs typeface="Georgia"/>
              </a:rPr>
              <a:t>of</a:t>
            </a:r>
            <a:r>
              <a:rPr sz="3250" spc="10" dirty="0">
                <a:solidFill>
                  <a:srgbClr val="2E377E"/>
                </a:solidFill>
                <a:latin typeface="Georgia"/>
                <a:cs typeface="Georgia"/>
              </a:rPr>
              <a:t> </a:t>
            </a:r>
            <a:r>
              <a:rPr sz="3250" spc="45" dirty="0">
                <a:solidFill>
                  <a:srgbClr val="2E377E"/>
                </a:solidFill>
                <a:latin typeface="Georgia"/>
                <a:cs typeface="Georgia"/>
              </a:rPr>
              <a:t>your </a:t>
            </a:r>
            <a:r>
              <a:rPr sz="3250" dirty="0">
                <a:solidFill>
                  <a:srgbClr val="2E377E"/>
                </a:solidFill>
                <a:latin typeface="Georgia"/>
                <a:cs typeface="Georgia"/>
              </a:rPr>
              <a:t>application,</a:t>
            </a:r>
            <a:r>
              <a:rPr sz="3250" spc="-10" dirty="0">
                <a:solidFill>
                  <a:srgbClr val="2E377E"/>
                </a:solidFill>
                <a:latin typeface="Georgia"/>
                <a:cs typeface="Georgia"/>
              </a:rPr>
              <a:t> </a:t>
            </a:r>
            <a:r>
              <a:rPr sz="3250" spc="75" dirty="0">
                <a:solidFill>
                  <a:srgbClr val="2E377E"/>
                </a:solidFill>
                <a:latin typeface="Georgia"/>
                <a:cs typeface="Georgia"/>
              </a:rPr>
              <a:t>you</a:t>
            </a:r>
            <a:r>
              <a:rPr sz="3250" spc="-10" dirty="0">
                <a:solidFill>
                  <a:srgbClr val="2E377E"/>
                </a:solidFill>
                <a:latin typeface="Georgia"/>
                <a:cs typeface="Georgia"/>
              </a:rPr>
              <a:t> </a:t>
            </a:r>
            <a:r>
              <a:rPr sz="3250" dirty="0">
                <a:solidFill>
                  <a:srgbClr val="2E377E"/>
                </a:solidFill>
                <a:latin typeface="Georgia"/>
                <a:cs typeface="Georgia"/>
              </a:rPr>
              <a:t>have</a:t>
            </a:r>
            <a:r>
              <a:rPr sz="3250" spc="-10" dirty="0">
                <a:solidFill>
                  <a:srgbClr val="2E377E"/>
                </a:solidFill>
                <a:latin typeface="Georgia"/>
                <a:cs typeface="Georgia"/>
              </a:rPr>
              <a:t> </a:t>
            </a:r>
            <a:r>
              <a:rPr sz="3250" spc="50" dirty="0">
                <a:solidFill>
                  <a:srgbClr val="2E377E"/>
                </a:solidFill>
                <a:latin typeface="Georgia"/>
                <a:cs typeface="Georgia"/>
              </a:rPr>
              <a:t>to</a:t>
            </a:r>
            <a:r>
              <a:rPr sz="3250" spc="-10" dirty="0">
                <a:solidFill>
                  <a:srgbClr val="2E377E"/>
                </a:solidFill>
                <a:latin typeface="Georgia"/>
                <a:cs typeface="Georgia"/>
              </a:rPr>
              <a:t> </a:t>
            </a:r>
            <a:r>
              <a:rPr sz="3250" dirty="0">
                <a:solidFill>
                  <a:srgbClr val="2E377E"/>
                </a:solidFill>
                <a:latin typeface="Georgia"/>
                <a:cs typeface="Georgia"/>
              </a:rPr>
              <a:t>mention</a:t>
            </a:r>
            <a:r>
              <a:rPr sz="3250" spc="-10" dirty="0">
                <a:solidFill>
                  <a:srgbClr val="2E377E"/>
                </a:solidFill>
                <a:latin typeface="Georgia"/>
                <a:cs typeface="Georgia"/>
              </a:rPr>
              <a:t> </a:t>
            </a:r>
            <a:r>
              <a:rPr sz="3250" spc="50" dirty="0">
                <a:solidFill>
                  <a:srgbClr val="2E377E"/>
                </a:solidFill>
                <a:latin typeface="Georgia"/>
                <a:cs typeface="Georgia"/>
              </a:rPr>
              <a:t>it</a:t>
            </a:r>
            <a:r>
              <a:rPr sz="3250" spc="-10" dirty="0">
                <a:solidFill>
                  <a:srgbClr val="2E377E"/>
                </a:solidFill>
                <a:latin typeface="Georgia"/>
                <a:cs typeface="Georgia"/>
              </a:rPr>
              <a:t> </a:t>
            </a:r>
            <a:r>
              <a:rPr sz="3250" dirty="0">
                <a:solidFill>
                  <a:srgbClr val="2E377E"/>
                </a:solidFill>
                <a:latin typeface="Georgia"/>
                <a:cs typeface="Georgia"/>
              </a:rPr>
              <a:t>in</a:t>
            </a:r>
            <a:r>
              <a:rPr sz="3250" spc="-5" dirty="0">
                <a:solidFill>
                  <a:srgbClr val="2E377E"/>
                </a:solidFill>
                <a:latin typeface="Georgia"/>
                <a:cs typeface="Georgia"/>
              </a:rPr>
              <a:t> </a:t>
            </a:r>
            <a:r>
              <a:rPr sz="3250" dirty="0">
                <a:solidFill>
                  <a:srgbClr val="2E377E"/>
                </a:solidFill>
                <a:latin typeface="Georgia"/>
                <a:cs typeface="Georgia"/>
              </a:rPr>
              <a:t>the</a:t>
            </a:r>
            <a:r>
              <a:rPr sz="3250" spc="-10" dirty="0">
                <a:solidFill>
                  <a:srgbClr val="2E377E"/>
                </a:solidFill>
                <a:latin typeface="Georgia"/>
                <a:cs typeface="Georgia"/>
              </a:rPr>
              <a:t> </a:t>
            </a:r>
            <a:r>
              <a:rPr sz="3250" dirty="0">
                <a:solidFill>
                  <a:srgbClr val="2E377E"/>
                </a:solidFill>
                <a:latin typeface="Georgia"/>
                <a:cs typeface="Georgia"/>
              </a:rPr>
              <a:t>manifest</a:t>
            </a:r>
            <a:r>
              <a:rPr sz="3250" spc="-10" dirty="0">
                <a:solidFill>
                  <a:srgbClr val="2E377E"/>
                </a:solidFill>
                <a:latin typeface="Georgia"/>
                <a:cs typeface="Georgia"/>
              </a:rPr>
              <a:t> file.</a:t>
            </a:r>
            <a:endParaRPr sz="3250">
              <a:latin typeface="Georgia"/>
              <a:cs typeface="Georgia"/>
            </a:endParaRPr>
          </a:p>
          <a:p>
            <a:pPr marL="12700" marR="45085" algn="just">
              <a:lnSpc>
                <a:spcPct val="116100"/>
              </a:lnSpc>
              <a:spcBef>
                <a:spcPts val="5"/>
              </a:spcBef>
            </a:pPr>
            <a:r>
              <a:rPr sz="3250" dirty="0">
                <a:solidFill>
                  <a:srgbClr val="2E377E"/>
                </a:solidFill>
                <a:latin typeface="Georgia"/>
                <a:cs typeface="Georgia"/>
              </a:rPr>
              <a:t>livenessProbe</a:t>
            </a:r>
            <a:r>
              <a:rPr sz="3250" spc="10" dirty="0">
                <a:solidFill>
                  <a:srgbClr val="2E377E"/>
                </a:solidFill>
                <a:latin typeface="Georgia"/>
                <a:cs typeface="Georgia"/>
              </a:rPr>
              <a:t> </a:t>
            </a:r>
            <a:r>
              <a:rPr sz="3250" spc="45" dirty="0">
                <a:solidFill>
                  <a:srgbClr val="2E377E"/>
                </a:solidFill>
                <a:latin typeface="Georgia"/>
                <a:cs typeface="Georgia"/>
              </a:rPr>
              <a:t>expects</a:t>
            </a:r>
            <a:r>
              <a:rPr sz="3250" spc="25" dirty="0">
                <a:solidFill>
                  <a:srgbClr val="2E377E"/>
                </a:solidFill>
                <a:latin typeface="Georgia"/>
                <a:cs typeface="Georgia"/>
              </a:rPr>
              <a:t> </a:t>
            </a:r>
            <a:r>
              <a:rPr sz="3250" dirty="0">
                <a:solidFill>
                  <a:srgbClr val="2E377E"/>
                </a:solidFill>
                <a:latin typeface="Georgia"/>
                <a:cs typeface="Georgia"/>
              </a:rPr>
              <a:t>a</a:t>
            </a:r>
            <a:r>
              <a:rPr sz="3250" spc="30" dirty="0">
                <a:solidFill>
                  <a:srgbClr val="2E377E"/>
                </a:solidFill>
                <a:latin typeface="Georgia"/>
                <a:cs typeface="Georgia"/>
              </a:rPr>
              <a:t> </a:t>
            </a:r>
            <a:r>
              <a:rPr sz="3250" dirty="0">
                <a:solidFill>
                  <a:srgbClr val="2E377E"/>
                </a:solidFill>
                <a:latin typeface="Georgia"/>
                <a:cs typeface="Georgia"/>
              </a:rPr>
              <a:t>0</a:t>
            </a:r>
            <a:r>
              <a:rPr sz="3250" spc="20" dirty="0">
                <a:solidFill>
                  <a:srgbClr val="2E377E"/>
                </a:solidFill>
                <a:latin typeface="Georgia"/>
                <a:cs typeface="Georgia"/>
              </a:rPr>
              <a:t> </a:t>
            </a:r>
            <a:r>
              <a:rPr sz="3250" dirty="0">
                <a:solidFill>
                  <a:srgbClr val="2E377E"/>
                </a:solidFill>
                <a:latin typeface="Georgia"/>
                <a:cs typeface="Georgia"/>
              </a:rPr>
              <a:t>output</a:t>
            </a:r>
            <a:r>
              <a:rPr sz="3250" spc="25" dirty="0">
                <a:solidFill>
                  <a:srgbClr val="2E377E"/>
                </a:solidFill>
                <a:latin typeface="Georgia"/>
                <a:cs typeface="Georgia"/>
              </a:rPr>
              <a:t> </a:t>
            </a:r>
            <a:r>
              <a:rPr sz="3250" dirty="0">
                <a:solidFill>
                  <a:srgbClr val="2E377E"/>
                </a:solidFill>
                <a:latin typeface="Georgia"/>
                <a:cs typeface="Georgia"/>
              </a:rPr>
              <a:t>which</a:t>
            </a:r>
            <a:r>
              <a:rPr sz="3250" spc="25" dirty="0">
                <a:solidFill>
                  <a:srgbClr val="2E377E"/>
                </a:solidFill>
                <a:latin typeface="Georgia"/>
                <a:cs typeface="Georgia"/>
              </a:rPr>
              <a:t> </a:t>
            </a:r>
            <a:r>
              <a:rPr sz="3250" dirty="0">
                <a:solidFill>
                  <a:srgbClr val="2E377E"/>
                </a:solidFill>
                <a:latin typeface="Georgia"/>
                <a:cs typeface="Georgia"/>
              </a:rPr>
              <a:t>means</a:t>
            </a:r>
            <a:r>
              <a:rPr sz="3250" spc="25" dirty="0">
                <a:solidFill>
                  <a:srgbClr val="2E377E"/>
                </a:solidFill>
                <a:latin typeface="Georgia"/>
                <a:cs typeface="Georgia"/>
              </a:rPr>
              <a:t> </a:t>
            </a:r>
            <a:r>
              <a:rPr sz="3250" dirty="0">
                <a:solidFill>
                  <a:srgbClr val="2E377E"/>
                </a:solidFill>
                <a:latin typeface="Georgia"/>
                <a:cs typeface="Georgia"/>
              </a:rPr>
              <a:t>the</a:t>
            </a:r>
            <a:r>
              <a:rPr sz="3250" spc="25" dirty="0">
                <a:solidFill>
                  <a:srgbClr val="2E377E"/>
                </a:solidFill>
                <a:latin typeface="Georgia"/>
                <a:cs typeface="Georgia"/>
              </a:rPr>
              <a:t> </a:t>
            </a:r>
            <a:r>
              <a:rPr sz="3250" dirty="0">
                <a:solidFill>
                  <a:srgbClr val="2E377E"/>
                </a:solidFill>
                <a:latin typeface="Georgia"/>
                <a:cs typeface="Georgia"/>
              </a:rPr>
              <a:t>application</a:t>
            </a:r>
            <a:r>
              <a:rPr sz="3250" spc="25" dirty="0">
                <a:solidFill>
                  <a:srgbClr val="2E377E"/>
                </a:solidFill>
                <a:latin typeface="Georgia"/>
                <a:cs typeface="Georgia"/>
              </a:rPr>
              <a:t> </a:t>
            </a:r>
            <a:r>
              <a:rPr sz="3250" dirty="0">
                <a:solidFill>
                  <a:srgbClr val="2E377E"/>
                </a:solidFill>
                <a:latin typeface="Georgia"/>
                <a:cs typeface="Georgia"/>
              </a:rPr>
              <a:t>is</a:t>
            </a:r>
            <a:r>
              <a:rPr sz="3250" spc="20" dirty="0">
                <a:solidFill>
                  <a:srgbClr val="2E377E"/>
                </a:solidFill>
                <a:latin typeface="Georgia"/>
                <a:cs typeface="Georgia"/>
              </a:rPr>
              <a:t> </a:t>
            </a:r>
            <a:r>
              <a:rPr sz="3250" dirty="0">
                <a:solidFill>
                  <a:srgbClr val="2E377E"/>
                </a:solidFill>
                <a:latin typeface="Georgia"/>
                <a:cs typeface="Georgia"/>
              </a:rPr>
              <a:t>running</a:t>
            </a:r>
            <a:r>
              <a:rPr sz="3250" spc="25" dirty="0">
                <a:solidFill>
                  <a:srgbClr val="2E377E"/>
                </a:solidFill>
                <a:latin typeface="Georgia"/>
                <a:cs typeface="Georgia"/>
              </a:rPr>
              <a:t> </a:t>
            </a:r>
            <a:r>
              <a:rPr sz="3250" dirty="0">
                <a:solidFill>
                  <a:srgbClr val="2E377E"/>
                </a:solidFill>
                <a:latin typeface="Georgia"/>
                <a:cs typeface="Georgia"/>
              </a:rPr>
              <a:t>perfectly.</a:t>
            </a:r>
            <a:r>
              <a:rPr sz="3250" spc="25" dirty="0">
                <a:solidFill>
                  <a:srgbClr val="2E377E"/>
                </a:solidFill>
                <a:latin typeface="Georgia"/>
                <a:cs typeface="Georgia"/>
              </a:rPr>
              <a:t> </a:t>
            </a:r>
            <a:r>
              <a:rPr sz="3250" dirty="0">
                <a:solidFill>
                  <a:srgbClr val="2E377E"/>
                </a:solidFill>
                <a:latin typeface="Georgia"/>
                <a:cs typeface="Georgia"/>
              </a:rPr>
              <a:t>But</a:t>
            </a:r>
            <a:r>
              <a:rPr sz="3250" spc="25" dirty="0">
                <a:solidFill>
                  <a:srgbClr val="2E377E"/>
                </a:solidFill>
                <a:latin typeface="Georgia"/>
                <a:cs typeface="Georgia"/>
              </a:rPr>
              <a:t> </a:t>
            </a:r>
            <a:r>
              <a:rPr sz="3250" spc="-25" dirty="0">
                <a:solidFill>
                  <a:srgbClr val="2E377E"/>
                </a:solidFill>
                <a:latin typeface="Georgia"/>
                <a:cs typeface="Georgia"/>
              </a:rPr>
              <a:t>if </a:t>
            </a:r>
            <a:r>
              <a:rPr sz="3250" dirty="0">
                <a:solidFill>
                  <a:srgbClr val="2E377E"/>
                </a:solidFill>
                <a:latin typeface="Georgia"/>
                <a:cs typeface="Georgia"/>
              </a:rPr>
              <a:t>there</a:t>
            </a:r>
            <a:r>
              <a:rPr sz="3250" spc="40" dirty="0">
                <a:solidFill>
                  <a:srgbClr val="2E377E"/>
                </a:solidFill>
                <a:latin typeface="Georgia"/>
                <a:cs typeface="Georgia"/>
              </a:rPr>
              <a:t> </a:t>
            </a:r>
            <a:r>
              <a:rPr sz="3250" dirty="0">
                <a:solidFill>
                  <a:srgbClr val="2E377E"/>
                </a:solidFill>
                <a:latin typeface="Georgia"/>
                <a:cs typeface="Georgia"/>
              </a:rPr>
              <a:t>is</a:t>
            </a:r>
            <a:r>
              <a:rPr sz="3250" spc="35" dirty="0">
                <a:solidFill>
                  <a:srgbClr val="2E377E"/>
                </a:solidFill>
                <a:latin typeface="Georgia"/>
                <a:cs typeface="Georgia"/>
              </a:rPr>
              <a:t> </a:t>
            </a:r>
            <a:r>
              <a:rPr sz="3250" spc="55" dirty="0">
                <a:solidFill>
                  <a:srgbClr val="2E377E"/>
                </a:solidFill>
                <a:latin typeface="Georgia"/>
                <a:cs typeface="Georgia"/>
              </a:rPr>
              <a:t>any</a:t>
            </a:r>
            <a:r>
              <a:rPr sz="3250" spc="35" dirty="0">
                <a:solidFill>
                  <a:srgbClr val="2E377E"/>
                </a:solidFill>
                <a:latin typeface="Georgia"/>
                <a:cs typeface="Georgia"/>
              </a:rPr>
              <a:t> </a:t>
            </a:r>
            <a:r>
              <a:rPr sz="3250" dirty="0">
                <a:solidFill>
                  <a:srgbClr val="2E377E"/>
                </a:solidFill>
                <a:latin typeface="Georgia"/>
                <a:cs typeface="Georgia"/>
              </a:rPr>
              <a:t>other</a:t>
            </a:r>
            <a:r>
              <a:rPr sz="3250" spc="45" dirty="0">
                <a:solidFill>
                  <a:srgbClr val="2E377E"/>
                </a:solidFill>
                <a:latin typeface="Georgia"/>
                <a:cs typeface="Georgia"/>
              </a:rPr>
              <a:t> </a:t>
            </a:r>
            <a:r>
              <a:rPr sz="3250" dirty="0">
                <a:solidFill>
                  <a:srgbClr val="2E377E"/>
                </a:solidFill>
                <a:latin typeface="Georgia"/>
                <a:cs typeface="Georgia"/>
              </a:rPr>
              <a:t>output</a:t>
            </a:r>
            <a:r>
              <a:rPr sz="3250" spc="35" dirty="0">
                <a:solidFill>
                  <a:srgbClr val="2E377E"/>
                </a:solidFill>
                <a:latin typeface="Georgia"/>
                <a:cs typeface="Georgia"/>
              </a:rPr>
              <a:t> </a:t>
            </a:r>
            <a:r>
              <a:rPr sz="3250" spc="50" dirty="0">
                <a:solidFill>
                  <a:srgbClr val="2E377E"/>
                </a:solidFill>
                <a:latin typeface="Georgia"/>
                <a:cs typeface="Georgia"/>
              </a:rPr>
              <a:t>except</a:t>
            </a:r>
            <a:r>
              <a:rPr sz="3250" spc="35" dirty="0">
                <a:solidFill>
                  <a:srgbClr val="2E377E"/>
                </a:solidFill>
                <a:latin typeface="Georgia"/>
                <a:cs typeface="Georgia"/>
              </a:rPr>
              <a:t> </a:t>
            </a:r>
            <a:r>
              <a:rPr sz="3250" dirty="0">
                <a:solidFill>
                  <a:srgbClr val="2E377E"/>
                </a:solidFill>
                <a:latin typeface="Georgia"/>
                <a:cs typeface="Georgia"/>
              </a:rPr>
              <a:t>0</a:t>
            </a:r>
            <a:r>
              <a:rPr sz="3250" spc="40" dirty="0">
                <a:solidFill>
                  <a:srgbClr val="2E377E"/>
                </a:solidFill>
                <a:latin typeface="Georgia"/>
                <a:cs typeface="Georgia"/>
              </a:rPr>
              <a:t> </a:t>
            </a:r>
            <a:r>
              <a:rPr sz="3250" dirty="0">
                <a:solidFill>
                  <a:srgbClr val="2E377E"/>
                </a:solidFill>
                <a:latin typeface="Georgia"/>
                <a:cs typeface="Georgia"/>
              </a:rPr>
              <a:t>then</a:t>
            </a:r>
            <a:r>
              <a:rPr sz="3250" spc="40" dirty="0">
                <a:solidFill>
                  <a:srgbClr val="2E377E"/>
                </a:solidFill>
                <a:latin typeface="Georgia"/>
                <a:cs typeface="Georgia"/>
              </a:rPr>
              <a:t> </a:t>
            </a:r>
            <a:r>
              <a:rPr sz="3250" dirty="0">
                <a:solidFill>
                  <a:srgbClr val="2E377E"/>
                </a:solidFill>
                <a:latin typeface="Georgia"/>
                <a:cs typeface="Georgia"/>
              </a:rPr>
              <a:t>livenessProbe</a:t>
            </a:r>
            <a:r>
              <a:rPr sz="3250" spc="40" dirty="0">
                <a:solidFill>
                  <a:srgbClr val="2E377E"/>
                </a:solidFill>
                <a:latin typeface="Georgia"/>
                <a:cs typeface="Georgia"/>
              </a:rPr>
              <a:t> </a:t>
            </a:r>
            <a:r>
              <a:rPr sz="3250" dirty="0">
                <a:solidFill>
                  <a:srgbClr val="2E377E"/>
                </a:solidFill>
                <a:latin typeface="Georgia"/>
                <a:cs typeface="Georgia"/>
              </a:rPr>
              <a:t>recreates</a:t>
            </a:r>
            <a:r>
              <a:rPr sz="3250" spc="35" dirty="0">
                <a:solidFill>
                  <a:srgbClr val="2E377E"/>
                </a:solidFill>
                <a:latin typeface="Georgia"/>
                <a:cs typeface="Georgia"/>
              </a:rPr>
              <a:t> </a:t>
            </a:r>
            <a:r>
              <a:rPr sz="3250" dirty="0">
                <a:solidFill>
                  <a:srgbClr val="2E377E"/>
                </a:solidFill>
                <a:latin typeface="Georgia"/>
                <a:cs typeface="Georgia"/>
              </a:rPr>
              <a:t>the</a:t>
            </a:r>
            <a:r>
              <a:rPr sz="3250" spc="40" dirty="0">
                <a:solidFill>
                  <a:srgbClr val="2E377E"/>
                </a:solidFill>
                <a:latin typeface="Georgia"/>
                <a:cs typeface="Georgia"/>
              </a:rPr>
              <a:t> </a:t>
            </a:r>
            <a:r>
              <a:rPr sz="3250" dirty="0">
                <a:solidFill>
                  <a:srgbClr val="2E377E"/>
                </a:solidFill>
                <a:latin typeface="Georgia"/>
                <a:cs typeface="Georgia"/>
              </a:rPr>
              <a:t>container</a:t>
            </a:r>
            <a:r>
              <a:rPr sz="3250" spc="40" dirty="0">
                <a:solidFill>
                  <a:srgbClr val="2E377E"/>
                </a:solidFill>
                <a:latin typeface="Georgia"/>
                <a:cs typeface="Georgia"/>
              </a:rPr>
              <a:t> </a:t>
            </a:r>
            <a:r>
              <a:rPr sz="3250" dirty="0">
                <a:solidFill>
                  <a:srgbClr val="2E377E"/>
                </a:solidFill>
                <a:latin typeface="Georgia"/>
                <a:cs typeface="Georgia"/>
              </a:rPr>
              <a:t>and</a:t>
            </a:r>
            <a:r>
              <a:rPr sz="3250" spc="35" dirty="0">
                <a:solidFill>
                  <a:srgbClr val="2E377E"/>
                </a:solidFill>
                <a:latin typeface="Georgia"/>
                <a:cs typeface="Georgia"/>
              </a:rPr>
              <a:t> </a:t>
            </a:r>
            <a:r>
              <a:rPr sz="3250" spc="-10" dirty="0">
                <a:solidFill>
                  <a:srgbClr val="2E377E"/>
                </a:solidFill>
                <a:latin typeface="Georgia"/>
                <a:cs typeface="Georgia"/>
              </a:rPr>
              <a:t>repeats </a:t>
            </a:r>
            <a:r>
              <a:rPr sz="3250" dirty="0">
                <a:solidFill>
                  <a:srgbClr val="2E377E"/>
                </a:solidFill>
                <a:latin typeface="Georgia"/>
                <a:cs typeface="Georgia"/>
              </a:rPr>
              <a:t>the same</a:t>
            </a:r>
            <a:r>
              <a:rPr sz="3250" spc="10" dirty="0">
                <a:solidFill>
                  <a:srgbClr val="2E377E"/>
                </a:solidFill>
                <a:latin typeface="Georgia"/>
                <a:cs typeface="Georgia"/>
              </a:rPr>
              <a:t> </a:t>
            </a:r>
            <a:r>
              <a:rPr sz="3250" spc="-10" dirty="0">
                <a:solidFill>
                  <a:srgbClr val="2E377E"/>
                </a:solidFill>
                <a:latin typeface="Georgia"/>
                <a:cs typeface="Georgia"/>
              </a:rPr>
              <a:t>process.</a:t>
            </a:r>
            <a:endParaRPr sz="3250">
              <a:latin typeface="Georgia"/>
              <a:cs typeface="Georgia"/>
            </a:endParaRPr>
          </a:p>
          <a:p>
            <a:pPr marL="12700" marR="5080" algn="just">
              <a:lnSpc>
                <a:spcPct val="116100"/>
              </a:lnSpc>
            </a:pPr>
            <a:r>
              <a:rPr sz="3250" dirty="0">
                <a:solidFill>
                  <a:srgbClr val="2E377E"/>
                </a:solidFill>
                <a:latin typeface="Georgia"/>
                <a:cs typeface="Georgia"/>
              </a:rPr>
              <a:t>livenessProbe</a:t>
            </a:r>
            <a:r>
              <a:rPr sz="3250" spc="20" dirty="0">
                <a:solidFill>
                  <a:srgbClr val="2E377E"/>
                </a:solidFill>
                <a:latin typeface="Georgia"/>
                <a:cs typeface="Georgia"/>
              </a:rPr>
              <a:t> </a:t>
            </a:r>
            <a:r>
              <a:rPr sz="3250" dirty="0">
                <a:solidFill>
                  <a:srgbClr val="2E377E"/>
                </a:solidFill>
                <a:latin typeface="Georgia"/>
                <a:cs typeface="Georgia"/>
              </a:rPr>
              <a:t>repeats</a:t>
            </a:r>
            <a:r>
              <a:rPr sz="3250" spc="30" dirty="0">
                <a:solidFill>
                  <a:srgbClr val="2E377E"/>
                </a:solidFill>
                <a:latin typeface="Georgia"/>
                <a:cs typeface="Georgia"/>
              </a:rPr>
              <a:t> </a:t>
            </a:r>
            <a:r>
              <a:rPr sz="3250" dirty="0">
                <a:solidFill>
                  <a:srgbClr val="2E377E"/>
                </a:solidFill>
                <a:latin typeface="Georgia"/>
                <a:cs typeface="Georgia"/>
              </a:rPr>
              <a:t>the</a:t>
            </a:r>
            <a:r>
              <a:rPr sz="3250" spc="30" dirty="0">
                <a:solidFill>
                  <a:srgbClr val="2E377E"/>
                </a:solidFill>
                <a:latin typeface="Georgia"/>
                <a:cs typeface="Georgia"/>
              </a:rPr>
              <a:t> </a:t>
            </a:r>
            <a:r>
              <a:rPr sz="3250" dirty="0">
                <a:solidFill>
                  <a:srgbClr val="2E377E"/>
                </a:solidFill>
                <a:latin typeface="Georgia"/>
                <a:cs typeface="Georgia"/>
              </a:rPr>
              <a:t>process</a:t>
            </a:r>
            <a:r>
              <a:rPr sz="3250" spc="30" dirty="0">
                <a:solidFill>
                  <a:srgbClr val="2E377E"/>
                </a:solidFill>
                <a:latin typeface="Georgia"/>
                <a:cs typeface="Georgia"/>
              </a:rPr>
              <a:t> </a:t>
            </a:r>
            <a:r>
              <a:rPr sz="3250" dirty="0">
                <a:solidFill>
                  <a:srgbClr val="2E377E"/>
                </a:solidFill>
                <a:latin typeface="Georgia"/>
                <a:cs typeface="Georgia"/>
              </a:rPr>
              <a:t>after</a:t>
            </a:r>
            <a:r>
              <a:rPr sz="3250" spc="25" dirty="0">
                <a:solidFill>
                  <a:srgbClr val="2E377E"/>
                </a:solidFill>
                <a:latin typeface="Georgia"/>
                <a:cs typeface="Georgia"/>
              </a:rPr>
              <a:t> </a:t>
            </a:r>
            <a:r>
              <a:rPr sz="3250" dirty="0">
                <a:solidFill>
                  <a:srgbClr val="2E377E"/>
                </a:solidFill>
                <a:latin typeface="Georgia"/>
                <a:cs typeface="Georgia"/>
              </a:rPr>
              <a:t>particular</a:t>
            </a:r>
            <a:r>
              <a:rPr sz="3250" spc="30" dirty="0">
                <a:solidFill>
                  <a:srgbClr val="2E377E"/>
                </a:solidFill>
                <a:latin typeface="Georgia"/>
                <a:cs typeface="Georgia"/>
              </a:rPr>
              <a:t> </a:t>
            </a:r>
            <a:r>
              <a:rPr sz="3250" dirty="0">
                <a:solidFill>
                  <a:srgbClr val="2E377E"/>
                </a:solidFill>
                <a:latin typeface="Georgia"/>
                <a:cs typeface="Georgia"/>
              </a:rPr>
              <a:t>seconds</a:t>
            </a:r>
            <a:r>
              <a:rPr sz="3250" spc="30" dirty="0">
                <a:solidFill>
                  <a:srgbClr val="2E377E"/>
                </a:solidFill>
                <a:latin typeface="Georgia"/>
                <a:cs typeface="Georgia"/>
              </a:rPr>
              <a:t> </a:t>
            </a:r>
            <a:r>
              <a:rPr sz="3250" dirty="0">
                <a:solidFill>
                  <a:srgbClr val="2E377E"/>
                </a:solidFill>
                <a:latin typeface="Georgia"/>
                <a:cs typeface="Georgia"/>
              </a:rPr>
              <a:t>or</a:t>
            </a:r>
            <a:r>
              <a:rPr sz="3250" spc="30" dirty="0">
                <a:solidFill>
                  <a:srgbClr val="2E377E"/>
                </a:solidFill>
                <a:latin typeface="Georgia"/>
                <a:cs typeface="Georgia"/>
              </a:rPr>
              <a:t> </a:t>
            </a:r>
            <a:r>
              <a:rPr sz="3250" dirty="0">
                <a:solidFill>
                  <a:srgbClr val="2E377E"/>
                </a:solidFill>
                <a:latin typeface="Georgia"/>
                <a:cs typeface="Georgia"/>
              </a:rPr>
              <a:t>minutes(specified</a:t>
            </a:r>
            <a:r>
              <a:rPr sz="3250" spc="30" dirty="0">
                <a:solidFill>
                  <a:srgbClr val="2E377E"/>
                </a:solidFill>
                <a:latin typeface="Georgia"/>
                <a:cs typeface="Georgia"/>
              </a:rPr>
              <a:t> </a:t>
            </a:r>
            <a:r>
              <a:rPr sz="3250" spc="75" dirty="0">
                <a:solidFill>
                  <a:srgbClr val="2E377E"/>
                </a:solidFill>
                <a:latin typeface="Georgia"/>
                <a:cs typeface="Georgia"/>
              </a:rPr>
              <a:t>by</a:t>
            </a:r>
            <a:r>
              <a:rPr sz="3250" spc="25" dirty="0">
                <a:solidFill>
                  <a:srgbClr val="2E377E"/>
                </a:solidFill>
                <a:latin typeface="Georgia"/>
                <a:cs typeface="Georgia"/>
              </a:rPr>
              <a:t> </a:t>
            </a:r>
            <a:r>
              <a:rPr sz="3250" dirty="0">
                <a:solidFill>
                  <a:srgbClr val="2E377E"/>
                </a:solidFill>
                <a:latin typeface="Georgia"/>
                <a:cs typeface="Georgia"/>
              </a:rPr>
              <a:t>you)</a:t>
            </a:r>
            <a:r>
              <a:rPr sz="3250" spc="35" dirty="0">
                <a:solidFill>
                  <a:srgbClr val="2E377E"/>
                </a:solidFill>
                <a:latin typeface="Georgia"/>
                <a:cs typeface="Georgia"/>
              </a:rPr>
              <a:t> </a:t>
            </a:r>
            <a:r>
              <a:rPr sz="3250" spc="25" dirty="0">
                <a:solidFill>
                  <a:srgbClr val="2E377E"/>
                </a:solidFill>
                <a:latin typeface="Georgia"/>
                <a:cs typeface="Georgia"/>
              </a:rPr>
              <a:t>to </a:t>
            </a:r>
            <a:r>
              <a:rPr sz="3250" dirty="0">
                <a:solidFill>
                  <a:srgbClr val="2E377E"/>
                </a:solidFill>
                <a:latin typeface="Georgia"/>
                <a:cs typeface="Georgia"/>
              </a:rPr>
              <a:t>check</a:t>
            </a:r>
            <a:r>
              <a:rPr sz="3250" spc="40" dirty="0">
                <a:solidFill>
                  <a:srgbClr val="2E377E"/>
                </a:solidFill>
                <a:latin typeface="Georgia"/>
                <a:cs typeface="Georgia"/>
              </a:rPr>
              <a:t> </a:t>
            </a:r>
            <a:r>
              <a:rPr sz="3250" dirty="0">
                <a:solidFill>
                  <a:srgbClr val="2E377E"/>
                </a:solidFill>
                <a:latin typeface="Georgia"/>
                <a:cs typeface="Georgia"/>
              </a:rPr>
              <a:t>the</a:t>
            </a:r>
            <a:r>
              <a:rPr sz="3250" spc="50" dirty="0">
                <a:solidFill>
                  <a:srgbClr val="2E377E"/>
                </a:solidFill>
                <a:latin typeface="Georgia"/>
                <a:cs typeface="Georgia"/>
              </a:rPr>
              <a:t> </a:t>
            </a:r>
            <a:r>
              <a:rPr sz="3250" dirty="0">
                <a:solidFill>
                  <a:srgbClr val="2E377E"/>
                </a:solidFill>
                <a:latin typeface="Georgia"/>
                <a:cs typeface="Georgia"/>
              </a:rPr>
              <a:t>health</a:t>
            </a:r>
            <a:r>
              <a:rPr sz="3250" spc="50" dirty="0">
                <a:solidFill>
                  <a:srgbClr val="2E377E"/>
                </a:solidFill>
                <a:latin typeface="Georgia"/>
                <a:cs typeface="Georgia"/>
              </a:rPr>
              <a:t> </a:t>
            </a:r>
            <a:r>
              <a:rPr sz="3250" dirty="0">
                <a:solidFill>
                  <a:srgbClr val="2E377E"/>
                </a:solidFill>
                <a:latin typeface="Georgia"/>
                <a:cs typeface="Georgia"/>
              </a:rPr>
              <a:t>of</a:t>
            </a:r>
            <a:r>
              <a:rPr sz="3250" spc="50" dirty="0">
                <a:solidFill>
                  <a:srgbClr val="2E377E"/>
                </a:solidFill>
                <a:latin typeface="Georgia"/>
                <a:cs typeface="Georgia"/>
              </a:rPr>
              <a:t> </a:t>
            </a:r>
            <a:r>
              <a:rPr sz="3250" dirty="0">
                <a:solidFill>
                  <a:srgbClr val="2E377E"/>
                </a:solidFill>
                <a:latin typeface="Georgia"/>
                <a:cs typeface="Georgia"/>
              </a:rPr>
              <a:t>the</a:t>
            </a:r>
            <a:r>
              <a:rPr sz="3250" spc="50" dirty="0">
                <a:solidFill>
                  <a:srgbClr val="2E377E"/>
                </a:solidFill>
                <a:latin typeface="Georgia"/>
                <a:cs typeface="Georgia"/>
              </a:rPr>
              <a:t> </a:t>
            </a:r>
            <a:r>
              <a:rPr sz="3250" spc="-10" dirty="0">
                <a:solidFill>
                  <a:srgbClr val="2E377E"/>
                </a:solidFill>
                <a:latin typeface="Georgia"/>
                <a:cs typeface="Georgia"/>
              </a:rPr>
              <a:t>application.</a:t>
            </a:r>
            <a:endParaRPr sz="3250">
              <a:latin typeface="Georgia"/>
              <a:cs typeface="Georgia"/>
            </a:endParaRPr>
          </a:p>
          <a:p>
            <a:pPr marL="12700" marR="87630">
              <a:lnSpc>
                <a:spcPct val="116100"/>
              </a:lnSpc>
            </a:pPr>
            <a:r>
              <a:rPr sz="3250" dirty="0">
                <a:solidFill>
                  <a:srgbClr val="2E377E"/>
                </a:solidFill>
                <a:latin typeface="Georgia"/>
                <a:cs typeface="Georgia"/>
              </a:rPr>
              <a:t>If</a:t>
            </a:r>
            <a:r>
              <a:rPr sz="3250" spc="-5" dirty="0">
                <a:solidFill>
                  <a:srgbClr val="2E377E"/>
                </a:solidFill>
                <a:latin typeface="Georgia"/>
                <a:cs typeface="Georgia"/>
              </a:rPr>
              <a:t> </a:t>
            </a:r>
            <a:r>
              <a:rPr sz="3250" dirty="0">
                <a:solidFill>
                  <a:srgbClr val="2E377E"/>
                </a:solidFill>
                <a:latin typeface="Georgia"/>
                <a:cs typeface="Georgia"/>
              </a:rPr>
              <a:t>there</a:t>
            </a:r>
            <a:r>
              <a:rPr sz="3250" spc="5" dirty="0">
                <a:solidFill>
                  <a:srgbClr val="2E377E"/>
                </a:solidFill>
                <a:latin typeface="Georgia"/>
                <a:cs typeface="Georgia"/>
              </a:rPr>
              <a:t> </a:t>
            </a:r>
            <a:r>
              <a:rPr sz="3250" dirty="0">
                <a:solidFill>
                  <a:srgbClr val="2E377E"/>
                </a:solidFill>
                <a:latin typeface="Georgia"/>
                <a:cs typeface="Georgia"/>
              </a:rPr>
              <a:t>is</a:t>
            </a:r>
            <a:r>
              <a:rPr sz="3250" spc="5" dirty="0">
                <a:solidFill>
                  <a:srgbClr val="2E377E"/>
                </a:solidFill>
                <a:latin typeface="Georgia"/>
                <a:cs typeface="Georgia"/>
              </a:rPr>
              <a:t> </a:t>
            </a:r>
            <a:r>
              <a:rPr sz="3250" dirty="0">
                <a:solidFill>
                  <a:srgbClr val="2E377E"/>
                </a:solidFill>
                <a:latin typeface="Georgia"/>
                <a:cs typeface="Georgia"/>
              </a:rPr>
              <a:t>a</a:t>
            </a:r>
            <a:r>
              <a:rPr sz="3250" spc="5" dirty="0">
                <a:solidFill>
                  <a:srgbClr val="2E377E"/>
                </a:solidFill>
                <a:latin typeface="Georgia"/>
                <a:cs typeface="Georgia"/>
              </a:rPr>
              <a:t> </a:t>
            </a:r>
            <a:r>
              <a:rPr sz="3250" dirty="0">
                <a:solidFill>
                  <a:srgbClr val="2E377E"/>
                </a:solidFill>
                <a:latin typeface="Georgia"/>
                <a:cs typeface="Georgia"/>
              </a:rPr>
              <a:t>load</a:t>
            </a:r>
            <a:r>
              <a:rPr sz="3250" spc="5" dirty="0">
                <a:solidFill>
                  <a:srgbClr val="2E377E"/>
                </a:solidFill>
                <a:latin typeface="Georgia"/>
                <a:cs typeface="Georgia"/>
              </a:rPr>
              <a:t> </a:t>
            </a:r>
            <a:r>
              <a:rPr sz="3250" dirty="0">
                <a:solidFill>
                  <a:srgbClr val="2E377E"/>
                </a:solidFill>
                <a:latin typeface="Georgia"/>
                <a:cs typeface="Georgia"/>
              </a:rPr>
              <a:t>balancer</a:t>
            </a:r>
            <a:r>
              <a:rPr sz="3250" spc="5" dirty="0">
                <a:solidFill>
                  <a:srgbClr val="2E377E"/>
                </a:solidFill>
                <a:latin typeface="Georgia"/>
                <a:cs typeface="Georgia"/>
              </a:rPr>
              <a:t> </a:t>
            </a:r>
            <a:r>
              <a:rPr sz="3250" dirty="0">
                <a:solidFill>
                  <a:srgbClr val="2E377E"/>
                </a:solidFill>
                <a:latin typeface="Georgia"/>
                <a:cs typeface="Georgia"/>
              </a:rPr>
              <a:t>attached</a:t>
            </a:r>
            <a:r>
              <a:rPr sz="3250" spc="5" dirty="0">
                <a:solidFill>
                  <a:srgbClr val="2E377E"/>
                </a:solidFill>
                <a:latin typeface="Georgia"/>
                <a:cs typeface="Georgia"/>
              </a:rPr>
              <a:t> </a:t>
            </a:r>
            <a:r>
              <a:rPr sz="3250" spc="50" dirty="0">
                <a:solidFill>
                  <a:srgbClr val="2E377E"/>
                </a:solidFill>
                <a:latin typeface="Georgia"/>
                <a:cs typeface="Georgia"/>
              </a:rPr>
              <a:t>to</a:t>
            </a:r>
            <a:r>
              <a:rPr sz="3250" spc="5" dirty="0">
                <a:solidFill>
                  <a:srgbClr val="2E377E"/>
                </a:solidFill>
                <a:latin typeface="Georgia"/>
                <a:cs typeface="Georgia"/>
              </a:rPr>
              <a:t> </a:t>
            </a:r>
            <a:r>
              <a:rPr sz="3250" dirty="0">
                <a:solidFill>
                  <a:srgbClr val="2E377E"/>
                </a:solidFill>
                <a:latin typeface="Georgia"/>
                <a:cs typeface="Georgia"/>
              </a:rPr>
              <a:t>multiple</a:t>
            </a:r>
            <a:r>
              <a:rPr sz="3250" spc="10" dirty="0">
                <a:solidFill>
                  <a:srgbClr val="2E377E"/>
                </a:solidFill>
                <a:latin typeface="Georgia"/>
                <a:cs typeface="Georgia"/>
              </a:rPr>
              <a:t> </a:t>
            </a:r>
            <a:r>
              <a:rPr sz="3250" dirty="0">
                <a:solidFill>
                  <a:srgbClr val="2E377E"/>
                </a:solidFill>
                <a:latin typeface="Georgia"/>
                <a:cs typeface="Georgia"/>
              </a:rPr>
              <a:t>pods</a:t>
            </a:r>
            <a:r>
              <a:rPr sz="3250" spc="5" dirty="0">
                <a:solidFill>
                  <a:srgbClr val="2E377E"/>
                </a:solidFill>
                <a:latin typeface="Georgia"/>
                <a:cs typeface="Georgia"/>
              </a:rPr>
              <a:t> </a:t>
            </a:r>
            <a:r>
              <a:rPr sz="3250" dirty="0">
                <a:solidFill>
                  <a:srgbClr val="2E377E"/>
                </a:solidFill>
                <a:latin typeface="Georgia"/>
                <a:cs typeface="Georgia"/>
              </a:rPr>
              <a:t>then,</a:t>
            </a:r>
            <a:r>
              <a:rPr sz="3250" spc="5" dirty="0">
                <a:solidFill>
                  <a:srgbClr val="2E377E"/>
                </a:solidFill>
                <a:latin typeface="Georgia"/>
                <a:cs typeface="Georgia"/>
              </a:rPr>
              <a:t> </a:t>
            </a:r>
            <a:r>
              <a:rPr sz="3250" dirty="0">
                <a:solidFill>
                  <a:srgbClr val="2E377E"/>
                </a:solidFill>
                <a:latin typeface="Georgia"/>
                <a:cs typeface="Georgia"/>
              </a:rPr>
              <a:t>livenessProbe</a:t>
            </a:r>
            <a:r>
              <a:rPr sz="3250" spc="5" dirty="0">
                <a:solidFill>
                  <a:srgbClr val="2E377E"/>
                </a:solidFill>
                <a:latin typeface="Georgia"/>
                <a:cs typeface="Georgia"/>
              </a:rPr>
              <a:t> </a:t>
            </a:r>
            <a:r>
              <a:rPr sz="3250" dirty="0">
                <a:solidFill>
                  <a:srgbClr val="2E377E"/>
                </a:solidFill>
                <a:latin typeface="Georgia"/>
                <a:cs typeface="Georgia"/>
              </a:rPr>
              <a:t>checks</a:t>
            </a:r>
            <a:r>
              <a:rPr sz="3250" spc="5" dirty="0">
                <a:solidFill>
                  <a:srgbClr val="2E377E"/>
                </a:solidFill>
                <a:latin typeface="Georgia"/>
                <a:cs typeface="Georgia"/>
              </a:rPr>
              <a:t> </a:t>
            </a:r>
            <a:r>
              <a:rPr sz="3250" dirty="0">
                <a:solidFill>
                  <a:srgbClr val="2E377E"/>
                </a:solidFill>
                <a:latin typeface="Georgia"/>
                <a:cs typeface="Georgia"/>
              </a:rPr>
              <a:t>the</a:t>
            </a:r>
            <a:r>
              <a:rPr sz="3250" spc="5" dirty="0">
                <a:solidFill>
                  <a:srgbClr val="2E377E"/>
                </a:solidFill>
                <a:latin typeface="Georgia"/>
                <a:cs typeface="Georgia"/>
              </a:rPr>
              <a:t> </a:t>
            </a:r>
            <a:r>
              <a:rPr sz="3250" spc="-10" dirty="0">
                <a:solidFill>
                  <a:srgbClr val="2E377E"/>
                </a:solidFill>
                <a:latin typeface="Georgia"/>
                <a:cs typeface="Georgia"/>
              </a:rPr>
              <a:t>health </a:t>
            </a:r>
            <a:r>
              <a:rPr sz="3250" dirty="0">
                <a:solidFill>
                  <a:srgbClr val="2E377E"/>
                </a:solidFill>
                <a:latin typeface="Georgia"/>
                <a:cs typeface="Georgia"/>
              </a:rPr>
              <a:t>of</a:t>
            </a:r>
            <a:r>
              <a:rPr sz="3250" spc="30" dirty="0">
                <a:solidFill>
                  <a:srgbClr val="2E377E"/>
                </a:solidFill>
                <a:latin typeface="Georgia"/>
                <a:cs typeface="Georgia"/>
              </a:rPr>
              <a:t> </a:t>
            </a:r>
            <a:r>
              <a:rPr sz="3250" dirty="0">
                <a:solidFill>
                  <a:srgbClr val="2E377E"/>
                </a:solidFill>
                <a:latin typeface="Georgia"/>
                <a:cs typeface="Georgia"/>
              </a:rPr>
              <a:t>the</a:t>
            </a:r>
            <a:r>
              <a:rPr sz="3250" spc="35" dirty="0">
                <a:solidFill>
                  <a:srgbClr val="2E377E"/>
                </a:solidFill>
                <a:latin typeface="Georgia"/>
                <a:cs typeface="Georgia"/>
              </a:rPr>
              <a:t> </a:t>
            </a:r>
            <a:r>
              <a:rPr sz="3250" dirty="0">
                <a:solidFill>
                  <a:srgbClr val="2E377E"/>
                </a:solidFill>
                <a:latin typeface="Georgia"/>
                <a:cs typeface="Georgia"/>
              </a:rPr>
              <a:t>application</a:t>
            </a:r>
            <a:r>
              <a:rPr sz="3250" spc="40" dirty="0">
                <a:solidFill>
                  <a:srgbClr val="2E377E"/>
                </a:solidFill>
                <a:latin typeface="Georgia"/>
                <a:cs typeface="Georgia"/>
              </a:rPr>
              <a:t> </a:t>
            </a:r>
            <a:r>
              <a:rPr sz="3250" dirty="0">
                <a:solidFill>
                  <a:srgbClr val="2E377E"/>
                </a:solidFill>
                <a:latin typeface="Georgia"/>
                <a:cs typeface="Georgia"/>
              </a:rPr>
              <a:t>and</a:t>
            </a:r>
            <a:r>
              <a:rPr sz="3250" spc="35" dirty="0">
                <a:solidFill>
                  <a:srgbClr val="2E377E"/>
                </a:solidFill>
                <a:latin typeface="Georgia"/>
                <a:cs typeface="Georgia"/>
              </a:rPr>
              <a:t> </a:t>
            </a:r>
            <a:r>
              <a:rPr sz="3250" dirty="0">
                <a:solidFill>
                  <a:srgbClr val="2E377E"/>
                </a:solidFill>
                <a:latin typeface="Georgia"/>
                <a:cs typeface="Georgia"/>
              </a:rPr>
              <a:t>if</a:t>
            </a:r>
            <a:r>
              <a:rPr sz="3250" spc="40" dirty="0">
                <a:solidFill>
                  <a:srgbClr val="2E377E"/>
                </a:solidFill>
                <a:latin typeface="Georgia"/>
                <a:cs typeface="Georgia"/>
              </a:rPr>
              <a:t> </a:t>
            </a:r>
            <a:r>
              <a:rPr sz="3250" dirty="0">
                <a:solidFill>
                  <a:srgbClr val="2E377E"/>
                </a:solidFill>
                <a:latin typeface="Georgia"/>
                <a:cs typeface="Georgia"/>
              </a:rPr>
              <a:t>the</a:t>
            </a:r>
            <a:r>
              <a:rPr sz="3250" spc="35" dirty="0">
                <a:solidFill>
                  <a:srgbClr val="2E377E"/>
                </a:solidFill>
                <a:latin typeface="Georgia"/>
                <a:cs typeface="Georgia"/>
              </a:rPr>
              <a:t> </a:t>
            </a:r>
            <a:r>
              <a:rPr sz="3250" dirty="0">
                <a:solidFill>
                  <a:srgbClr val="2E377E"/>
                </a:solidFill>
                <a:latin typeface="Georgia"/>
                <a:cs typeface="Georgia"/>
              </a:rPr>
              <a:t>application’s</a:t>
            </a:r>
            <a:r>
              <a:rPr sz="3250" spc="40" dirty="0">
                <a:solidFill>
                  <a:srgbClr val="2E377E"/>
                </a:solidFill>
                <a:latin typeface="Georgia"/>
                <a:cs typeface="Georgia"/>
              </a:rPr>
              <a:t> </a:t>
            </a:r>
            <a:r>
              <a:rPr sz="3250" dirty="0">
                <a:solidFill>
                  <a:srgbClr val="2E377E"/>
                </a:solidFill>
                <a:latin typeface="Georgia"/>
                <a:cs typeface="Georgia"/>
              </a:rPr>
              <a:t>health</a:t>
            </a:r>
            <a:r>
              <a:rPr sz="3250" spc="35" dirty="0">
                <a:solidFill>
                  <a:srgbClr val="2E377E"/>
                </a:solidFill>
                <a:latin typeface="Georgia"/>
                <a:cs typeface="Georgia"/>
              </a:rPr>
              <a:t> </a:t>
            </a:r>
            <a:r>
              <a:rPr sz="3250" dirty="0">
                <a:solidFill>
                  <a:srgbClr val="2E377E"/>
                </a:solidFill>
                <a:latin typeface="Georgia"/>
                <a:cs typeface="Georgia"/>
              </a:rPr>
              <a:t>check</a:t>
            </a:r>
            <a:r>
              <a:rPr sz="3250" spc="40" dirty="0">
                <a:solidFill>
                  <a:srgbClr val="2E377E"/>
                </a:solidFill>
                <a:latin typeface="Georgia"/>
                <a:cs typeface="Georgia"/>
              </a:rPr>
              <a:t> </a:t>
            </a:r>
            <a:r>
              <a:rPr sz="3250" dirty="0">
                <a:solidFill>
                  <a:srgbClr val="2E377E"/>
                </a:solidFill>
                <a:latin typeface="Georgia"/>
                <a:cs typeface="Georgia"/>
              </a:rPr>
              <a:t>status</a:t>
            </a:r>
            <a:r>
              <a:rPr sz="3250" spc="35" dirty="0">
                <a:solidFill>
                  <a:srgbClr val="2E377E"/>
                </a:solidFill>
                <a:latin typeface="Georgia"/>
                <a:cs typeface="Georgia"/>
              </a:rPr>
              <a:t> </a:t>
            </a:r>
            <a:r>
              <a:rPr sz="3250" dirty="0">
                <a:solidFill>
                  <a:srgbClr val="2E377E"/>
                </a:solidFill>
                <a:latin typeface="Georgia"/>
                <a:cs typeface="Georgia"/>
              </a:rPr>
              <a:t>is</a:t>
            </a:r>
            <a:r>
              <a:rPr sz="3250" spc="40" dirty="0">
                <a:solidFill>
                  <a:srgbClr val="2E377E"/>
                </a:solidFill>
                <a:latin typeface="Georgia"/>
                <a:cs typeface="Georgia"/>
              </a:rPr>
              <a:t> </a:t>
            </a:r>
            <a:r>
              <a:rPr sz="3250" dirty="0">
                <a:solidFill>
                  <a:srgbClr val="2E377E"/>
                </a:solidFill>
                <a:latin typeface="Georgia"/>
                <a:cs typeface="Georgia"/>
              </a:rPr>
              <a:t>not</a:t>
            </a:r>
            <a:r>
              <a:rPr sz="3250" spc="35" dirty="0">
                <a:solidFill>
                  <a:srgbClr val="2E377E"/>
                </a:solidFill>
                <a:latin typeface="Georgia"/>
                <a:cs typeface="Georgia"/>
              </a:rPr>
              <a:t> </a:t>
            </a:r>
            <a:r>
              <a:rPr sz="3250" dirty="0">
                <a:solidFill>
                  <a:srgbClr val="2E377E"/>
                </a:solidFill>
                <a:latin typeface="Georgia"/>
                <a:cs typeface="Georgia"/>
              </a:rPr>
              <a:t>healthy</a:t>
            </a:r>
            <a:r>
              <a:rPr sz="3250" spc="40" dirty="0">
                <a:solidFill>
                  <a:srgbClr val="2E377E"/>
                </a:solidFill>
                <a:latin typeface="Georgia"/>
                <a:cs typeface="Georgia"/>
              </a:rPr>
              <a:t> </a:t>
            </a:r>
            <a:r>
              <a:rPr sz="3250" spc="-20" dirty="0">
                <a:solidFill>
                  <a:srgbClr val="2E377E"/>
                </a:solidFill>
                <a:latin typeface="Georgia"/>
                <a:cs typeface="Georgia"/>
              </a:rPr>
              <a:t>then </a:t>
            </a:r>
            <a:r>
              <a:rPr sz="3250" dirty="0">
                <a:solidFill>
                  <a:srgbClr val="2E377E"/>
                </a:solidFill>
                <a:latin typeface="Georgia"/>
                <a:cs typeface="Georgia"/>
              </a:rPr>
              <a:t>livenessProbe</a:t>
            </a:r>
            <a:r>
              <a:rPr sz="3250" spc="45" dirty="0">
                <a:solidFill>
                  <a:srgbClr val="2E377E"/>
                </a:solidFill>
                <a:latin typeface="Georgia"/>
                <a:cs typeface="Georgia"/>
              </a:rPr>
              <a:t> </a:t>
            </a:r>
            <a:r>
              <a:rPr sz="3250" dirty="0">
                <a:solidFill>
                  <a:srgbClr val="2E377E"/>
                </a:solidFill>
                <a:latin typeface="Georgia"/>
                <a:cs typeface="Georgia"/>
              </a:rPr>
              <a:t>removes</a:t>
            </a:r>
            <a:r>
              <a:rPr sz="3250" spc="40" dirty="0">
                <a:solidFill>
                  <a:srgbClr val="2E377E"/>
                </a:solidFill>
                <a:latin typeface="Georgia"/>
                <a:cs typeface="Georgia"/>
              </a:rPr>
              <a:t> </a:t>
            </a:r>
            <a:r>
              <a:rPr sz="3250" dirty="0">
                <a:solidFill>
                  <a:srgbClr val="2E377E"/>
                </a:solidFill>
                <a:latin typeface="Georgia"/>
                <a:cs typeface="Georgia"/>
              </a:rPr>
              <a:t>the</a:t>
            </a:r>
            <a:r>
              <a:rPr sz="3250" spc="45" dirty="0">
                <a:solidFill>
                  <a:srgbClr val="2E377E"/>
                </a:solidFill>
                <a:latin typeface="Georgia"/>
                <a:cs typeface="Georgia"/>
              </a:rPr>
              <a:t> </a:t>
            </a:r>
            <a:r>
              <a:rPr sz="3250" dirty="0">
                <a:solidFill>
                  <a:srgbClr val="2E377E"/>
                </a:solidFill>
                <a:latin typeface="Georgia"/>
                <a:cs typeface="Georgia"/>
              </a:rPr>
              <a:t>particular</a:t>
            </a:r>
            <a:r>
              <a:rPr sz="3250" spc="40" dirty="0">
                <a:solidFill>
                  <a:srgbClr val="2E377E"/>
                </a:solidFill>
                <a:latin typeface="Georgia"/>
                <a:cs typeface="Georgia"/>
              </a:rPr>
              <a:t> </a:t>
            </a:r>
            <a:r>
              <a:rPr sz="3250" dirty="0">
                <a:solidFill>
                  <a:srgbClr val="2E377E"/>
                </a:solidFill>
                <a:latin typeface="Georgia"/>
                <a:cs typeface="Georgia"/>
              </a:rPr>
              <a:t>pod</a:t>
            </a:r>
            <a:r>
              <a:rPr sz="3250" spc="45" dirty="0">
                <a:solidFill>
                  <a:srgbClr val="2E377E"/>
                </a:solidFill>
                <a:latin typeface="Georgia"/>
                <a:cs typeface="Georgia"/>
              </a:rPr>
              <a:t> </a:t>
            </a:r>
            <a:r>
              <a:rPr sz="3250" dirty="0">
                <a:solidFill>
                  <a:srgbClr val="2E377E"/>
                </a:solidFill>
                <a:latin typeface="Georgia"/>
                <a:cs typeface="Georgia"/>
              </a:rPr>
              <a:t>from</a:t>
            </a:r>
            <a:r>
              <a:rPr sz="3250" spc="45" dirty="0">
                <a:solidFill>
                  <a:srgbClr val="2E377E"/>
                </a:solidFill>
                <a:latin typeface="Georgia"/>
                <a:cs typeface="Georgia"/>
              </a:rPr>
              <a:t> </a:t>
            </a:r>
            <a:r>
              <a:rPr sz="3250" dirty="0">
                <a:solidFill>
                  <a:srgbClr val="2E377E"/>
                </a:solidFill>
                <a:latin typeface="Georgia"/>
                <a:cs typeface="Georgia"/>
              </a:rPr>
              <a:t>the</a:t>
            </a:r>
            <a:r>
              <a:rPr sz="3250" spc="40" dirty="0">
                <a:solidFill>
                  <a:srgbClr val="2E377E"/>
                </a:solidFill>
                <a:latin typeface="Georgia"/>
                <a:cs typeface="Georgia"/>
              </a:rPr>
              <a:t> </a:t>
            </a:r>
            <a:r>
              <a:rPr sz="3250" dirty="0">
                <a:solidFill>
                  <a:srgbClr val="2E377E"/>
                </a:solidFill>
                <a:latin typeface="Georgia"/>
                <a:cs typeface="Georgia"/>
              </a:rPr>
              <a:t>load</a:t>
            </a:r>
            <a:r>
              <a:rPr sz="3250" spc="45" dirty="0">
                <a:solidFill>
                  <a:srgbClr val="2E377E"/>
                </a:solidFill>
                <a:latin typeface="Georgia"/>
                <a:cs typeface="Georgia"/>
              </a:rPr>
              <a:t> </a:t>
            </a:r>
            <a:r>
              <a:rPr sz="3250" dirty="0">
                <a:solidFill>
                  <a:srgbClr val="2E377E"/>
                </a:solidFill>
                <a:latin typeface="Georgia"/>
                <a:cs typeface="Georgia"/>
              </a:rPr>
              <a:t>balancer</a:t>
            </a:r>
            <a:r>
              <a:rPr sz="3250" spc="45" dirty="0">
                <a:solidFill>
                  <a:srgbClr val="2E377E"/>
                </a:solidFill>
                <a:latin typeface="Georgia"/>
                <a:cs typeface="Georgia"/>
              </a:rPr>
              <a:t> </a:t>
            </a:r>
            <a:r>
              <a:rPr sz="3250" dirty="0">
                <a:solidFill>
                  <a:srgbClr val="2E377E"/>
                </a:solidFill>
                <a:latin typeface="Georgia"/>
                <a:cs typeface="Georgia"/>
              </a:rPr>
              <a:t>and</a:t>
            </a:r>
            <a:r>
              <a:rPr sz="3250" spc="40" dirty="0">
                <a:solidFill>
                  <a:srgbClr val="2E377E"/>
                </a:solidFill>
                <a:latin typeface="Georgia"/>
                <a:cs typeface="Georgia"/>
              </a:rPr>
              <a:t> </a:t>
            </a:r>
            <a:r>
              <a:rPr sz="3250" dirty="0">
                <a:solidFill>
                  <a:srgbClr val="2E377E"/>
                </a:solidFill>
                <a:latin typeface="Georgia"/>
                <a:cs typeface="Georgia"/>
              </a:rPr>
              <a:t>recreates</a:t>
            </a:r>
            <a:r>
              <a:rPr sz="3250" spc="45" dirty="0">
                <a:solidFill>
                  <a:srgbClr val="2E377E"/>
                </a:solidFill>
                <a:latin typeface="Georgia"/>
                <a:cs typeface="Georgia"/>
              </a:rPr>
              <a:t> </a:t>
            </a:r>
            <a:r>
              <a:rPr sz="3250" dirty="0">
                <a:solidFill>
                  <a:srgbClr val="2E377E"/>
                </a:solidFill>
                <a:latin typeface="Georgia"/>
                <a:cs typeface="Georgia"/>
              </a:rPr>
              <a:t>the</a:t>
            </a:r>
            <a:r>
              <a:rPr sz="3250" spc="40" dirty="0">
                <a:solidFill>
                  <a:srgbClr val="2E377E"/>
                </a:solidFill>
                <a:latin typeface="Georgia"/>
                <a:cs typeface="Georgia"/>
              </a:rPr>
              <a:t> </a:t>
            </a:r>
            <a:r>
              <a:rPr sz="3250" spc="50" dirty="0">
                <a:solidFill>
                  <a:srgbClr val="2E377E"/>
                </a:solidFill>
                <a:latin typeface="Georgia"/>
                <a:cs typeface="Georgia"/>
              </a:rPr>
              <a:t>new </a:t>
            </a:r>
            <a:r>
              <a:rPr sz="3250" dirty="0">
                <a:solidFill>
                  <a:srgbClr val="2E377E"/>
                </a:solidFill>
                <a:latin typeface="Georgia"/>
                <a:cs typeface="Georgia"/>
              </a:rPr>
              <a:t>pod</a:t>
            </a:r>
            <a:r>
              <a:rPr sz="3250" spc="-10" dirty="0">
                <a:solidFill>
                  <a:srgbClr val="2E377E"/>
                </a:solidFill>
                <a:latin typeface="Georgia"/>
                <a:cs typeface="Georgia"/>
              </a:rPr>
              <a:t> </a:t>
            </a:r>
            <a:r>
              <a:rPr sz="3250" dirty="0">
                <a:solidFill>
                  <a:srgbClr val="2E377E"/>
                </a:solidFill>
                <a:latin typeface="Georgia"/>
                <a:cs typeface="Georgia"/>
              </a:rPr>
              <a:t>and</a:t>
            </a:r>
            <a:r>
              <a:rPr sz="3250" spc="-5" dirty="0">
                <a:solidFill>
                  <a:srgbClr val="2E377E"/>
                </a:solidFill>
                <a:latin typeface="Georgia"/>
                <a:cs typeface="Georgia"/>
              </a:rPr>
              <a:t> </a:t>
            </a:r>
            <a:r>
              <a:rPr sz="3250" dirty="0">
                <a:solidFill>
                  <a:srgbClr val="2E377E"/>
                </a:solidFill>
                <a:latin typeface="Georgia"/>
                <a:cs typeface="Georgia"/>
              </a:rPr>
              <a:t>repeats</a:t>
            </a:r>
            <a:r>
              <a:rPr sz="3250" spc="-5" dirty="0">
                <a:solidFill>
                  <a:srgbClr val="2E377E"/>
                </a:solidFill>
                <a:latin typeface="Georgia"/>
                <a:cs typeface="Georgia"/>
              </a:rPr>
              <a:t> </a:t>
            </a:r>
            <a:r>
              <a:rPr sz="3250" dirty="0">
                <a:solidFill>
                  <a:srgbClr val="2E377E"/>
                </a:solidFill>
                <a:latin typeface="Georgia"/>
                <a:cs typeface="Georgia"/>
              </a:rPr>
              <a:t>the</a:t>
            </a:r>
            <a:r>
              <a:rPr sz="3250" spc="-5" dirty="0">
                <a:solidFill>
                  <a:srgbClr val="2E377E"/>
                </a:solidFill>
                <a:latin typeface="Georgia"/>
                <a:cs typeface="Georgia"/>
              </a:rPr>
              <a:t> </a:t>
            </a:r>
            <a:r>
              <a:rPr sz="3250" dirty="0">
                <a:solidFill>
                  <a:srgbClr val="2E377E"/>
                </a:solidFill>
                <a:latin typeface="Georgia"/>
                <a:cs typeface="Georgia"/>
              </a:rPr>
              <a:t>same</a:t>
            </a:r>
            <a:r>
              <a:rPr sz="3250" spc="-5" dirty="0">
                <a:solidFill>
                  <a:srgbClr val="2E377E"/>
                </a:solidFill>
                <a:latin typeface="Georgia"/>
                <a:cs typeface="Georgia"/>
              </a:rPr>
              <a:t> </a:t>
            </a:r>
            <a:r>
              <a:rPr sz="3250" spc="-10" dirty="0">
                <a:solidFill>
                  <a:srgbClr val="2E377E"/>
                </a:solidFill>
                <a:latin typeface="Georgia"/>
                <a:cs typeface="Georgia"/>
              </a:rPr>
              <a:t>process.</a:t>
            </a:r>
            <a:endParaRPr sz="3250">
              <a:latin typeface="Georgia"/>
              <a:cs typeface="Georgia"/>
            </a:endParaRPr>
          </a:p>
        </p:txBody>
      </p:sp>
      <p:pic>
        <p:nvPicPr>
          <p:cNvPr id="5" name="object 5"/>
          <p:cNvPicPr/>
          <p:nvPr/>
        </p:nvPicPr>
        <p:blipFill>
          <a:blip r:embed="rId2" cstate="print"/>
          <a:stretch>
            <a:fillRect/>
          </a:stretch>
        </p:blipFill>
        <p:spPr>
          <a:xfrm>
            <a:off x="1115780" y="2999673"/>
            <a:ext cx="125515" cy="125515"/>
          </a:xfrm>
          <a:prstGeom prst="rect">
            <a:avLst/>
          </a:prstGeom>
        </p:spPr>
      </p:pic>
      <p:pic>
        <p:nvPicPr>
          <p:cNvPr id="6" name="object 6"/>
          <p:cNvPicPr/>
          <p:nvPr/>
        </p:nvPicPr>
        <p:blipFill>
          <a:blip r:embed="rId2" cstate="print"/>
          <a:stretch>
            <a:fillRect/>
          </a:stretch>
        </p:blipFill>
        <p:spPr>
          <a:xfrm>
            <a:off x="1115780" y="3574955"/>
            <a:ext cx="125515" cy="125515"/>
          </a:xfrm>
          <a:prstGeom prst="rect">
            <a:avLst/>
          </a:prstGeom>
        </p:spPr>
      </p:pic>
      <p:pic>
        <p:nvPicPr>
          <p:cNvPr id="7" name="object 7"/>
          <p:cNvPicPr/>
          <p:nvPr/>
        </p:nvPicPr>
        <p:blipFill>
          <a:blip r:embed="rId2" cstate="print"/>
          <a:stretch>
            <a:fillRect/>
          </a:stretch>
        </p:blipFill>
        <p:spPr>
          <a:xfrm>
            <a:off x="1115780" y="4725518"/>
            <a:ext cx="125515" cy="125515"/>
          </a:xfrm>
          <a:prstGeom prst="rect">
            <a:avLst/>
          </a:prstGeom>
        </p:spPr>
      </p:pic>
      <p:pic>
        <p:nvPicPr>
          <p:cNvPr id="8" name="object 8"/>
          <p:cNvPicPr/>
          <p:nvPr/>
        </p:nvPicPr>
        <p:blipFill>
          <a:blip r:embed="rId3" cstate="print"/>
          <a:stretch>
            <a:fillRect/>
          </a:stretch>
        </p:blipFill>
        <p:spPr>
          <a:xfrm>
            <a:off x="1115780" y="6451362"/>
            <a:ext cx="125515" cy="125515"/>
          </a:xfrm>
          <a:prstGeom prst="rect">
            <a:avLst/>
          </a:prstGeom>
        </p:spPr>
      </p:pic>
      <p:pic>
        <p:nvPicPr>
          <p:cNvPr id="9" name="object 9"/>
          <p:cNvPicPr/>
          <p:nvPr/>
        </p:nvPicPr>
        <p:blipFill>
          <a:blip r:embed="rId2" cstate="print"/>
          <a:stretch>
            <a:fillRect/>
          </a:stretch>
        </p:blipFill>
        <p:spPr>
          <a:xfrm>
            <a:off x="1115780" y="7601925"/>
            <a:ext cx="125515" cy="125515"/>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1233" y="1028700"/>
            <a:ext cx="7210424" cy="8486774"/>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32871" y="1495630"/>
            <a:ext cx="123825" cy="123824"/>
          </a:xfrm>
          <a:prstGeom prst="rect">
            <a:avLst/>
          </a:prstGeom>
        </p:spPr>
      </p:pic>
      <p:sp>
        <p:nvSpPr>
          <p:cNvPr id="3" name="object 3"/>
          <p:cNvSpPr txBox="1"/>
          <p:nvPr/>
        </p:nvSpPr>
        <p:spPr>
          <a:xfrm>
            <a:off x="1328989" y="1263760"/>
            <a:ext cx="16242030" cy="7687945"/>
          </a:xfrm>
          <a:prstGeom prst="rect">
            <a:avLst/>
          </a:prstGeom>
        </p:spPr>
        <p:txBody>
          <a:bodyPr vert="horz" wrap="square" lIns="0" tIns="12700" rIns="0" bIns="0" rtlCol="0">
            <a:spAutoFit/>
          </a:bodyPr>
          <a:lstStyle/>
          <a:p>
            <a:pPr marL="12700">
              <a:lnSpc>
                <a:spcPct val="100000"/>
              </a:lnSpc>
              <a:spcBef>
                <a:spcPts val="100"/>
              </a:spcBef>
            </a:pPr>
            <a:r>
              <a:rPr sz="3150" dirty="0">
                <a:solidFill>
                  <a:srgbClr val="2E377E"/>
                </a:solidFill>
                <a:latin typeface="Georgia"/>
                <a:cs typeface="Georgia"/>
              </a:rPr>
              <a:t>Once</a:t>
            </a:r>
            <a:r>
              <a:rPr sz="3150" spc="-25" dirty="0">
                <a:solidFill>
                  <a:srgbClr val="2E377E"/>
                </a:solidFill>
                <a:latin typeface="Georgia"/>
                <a:cs typeface="Georgia"/>
              </a:rPr>
              <a:t> </a:t>
            </a:r>
            <a:r>
              <a:rPr sz="3150" spc="75" dirty="0">
                <a:solidFill>
                  <a:srgbClr val="2E377E"/>
                </a:solidFill>
                <a:latin typeface="Georgia"/>
                <a:cs typeface="Georgia"/>
              </a:rPr>
              <a:t>you</a:t>
            </a:r>
            <a:r>
              <a:rPr sz="3150" spc="-20" dirty="0">
                <a:solidFill>
                  <a:srgbClr val="2E377E"/>
                </a:solidFill>
                <a:latin typeface="Georgia"/>
                <a:cs typeface="Georgia"/>
              </a:rPr>
              <a:t> </a:t>
            </a:r>
            <a:r>
              <a:rPr sz="3150" dirty="0">
                <a:solidFill>
                  <a:srgbClr val="2E377E"/>
                </a:solidFill>
                <a:latin typeface="Georgia"/>
                <a:cs typeface="Georgia"/>
              </a:rPr>
              <a:t>create</a:t>
            </a:r>
            <a:r>
              <a:rPr sz="3150" spc="-20" dirty="0">
                <a:solidFill>
                  <a:srgbClr val="2E377E"/>
                </a:solidFill>
                <a:latin typeface="Georgia"/>
                <a:cs typeface="Georgia"/>
              </a:rPr>
              <a:t> </a:t>
            </a:r>
            <a:r>
              <a:rPr sz="3150" dirty="0">
                <a:solidFill>
                  <a:srgbClr val="2E377E"/>
                </a:solidFill>
                <a:latin typeface="Georgia"/>
                <a:cs typeface="Georgia"/>
              </a:rPr>
              <a:t>a</a:t>
            </a:r>
            <a:r>
              <a:rPr sz="3150" spc="-25" dirty="0">
                <a:solidFill>
                  <a:srgbClr val="2E377E"/>
                </a:solidFill>
                <a:latin typeface="Georgia"/>
                <a:cs typeface="Georgia"/>
              </a:rPr>
              <a:t> </a:t>
            </a:r>
            <a:r>
              <a:rPr sz="3150" dirty="0">
                <a:solidFill>
                  <a:srgbClr val="2E377E"/>
                </a:solidFill>
                <a:latin typeface="Georgia"/>
                <a:cs typeface="Georgia"/>
              </a:rPr>
              <a:t>pod,</a:t>
            </a:r>
            <a:r>
              <a:rPr sz="3150" spc="-20" dirty="0">
                <a:solidFill>
                  <a:srgbClr val="2E377E"/>
                </a:solidFill>
                <a:latin typeface="Georgia"/>
                <a:cs typeface="Georgia"/>
              </a:rPr>
              <a:t> </a:t>
            </a:r>
            <a:r>
              <a:rPr sz="3150" dirty="0">
                <a:solidFill>
                  <a:srgbClr val="2E377E"/>
                </a:solidFill>
                <a:latin typeface="Georgia"/>
                <a:cs typeface="Georgia"/>
              </a:rPr>
              <a:t>then</a:t>
            </a:r>
            <a:r>
              <a:rPr sz="3150" spc="-20" dirty="0">
                <a:solidFill>
                  <a:srgbClr val="2E377E"/>
                </a:solidFill>
                <a:latin typeface="Georgia"/>
                <a:cs typeface="Georgia"/>
              </a:rPr>
              <a:t> </a:t>
            </a:r>
            <a:r>
              <a:rPr sz="3150" dirty="0">
                <a:solidFill>
                  <a:srgbClr val="2E377E"/>
                </a:solidFill>
                <a:latin typeface="Georgia"/>
                <a:cs typeface="Georgia"/>
              </a:rPr>
              <a:t>describe</a:t>
            </a:r>
            <a:r>
              <a:rPr sz="3150" spc="-25" dirty="0">
                <a:solidFill>
                  <a:srgbClr val="2E377E"/>
                </a:solidFill>
                <a:latin typeface="Georgia"/>
                <a:cs typeface="Georgia"/>
              </a:rPr>
              <a:t> </a:t>
            </a:r>
            <a:r>
              <a:rPr sz="3150" dirty="0">
                <a:solidFill>
                  <a:srgbClr val="2E377E"/>
                </a:solidFill>
                <a:latin typeface="Georgia"/>
                <a:cs typeface="Georgia"/>
              </a:rPr>
              <a:t>this</a:t>
            </a:r>
            <a:r>
              <a:rPr sz="3150" spc="-20" dirty="0">
                <a:solidFill>
                  <a:srgbClr val="2E377E"/>
                </a:solidFill>
                <a:latin typeface="Georgia"/>
                <a:cs typeface="Georgia"/>
              </a:rPr>
              <a:t> </a:t>
            </a:r>
            <a:r>
              <a:rPr sz="3150" dirty="0">
                <a:solidFill>
                  <a:srgbClr val="2E377E"/>
                </a:solidFill>
                <a:latin typeface="Georgia"/>
                <a:cs typeface="Georgia"/>
              </a:rPr>
              <a:t>pod</a:t>
            </a:r>
            <a:r>
              <a:rPr sz="3150" spc="-20" dirty="0">
                <a:solidFill>
                  <a:srgbClr val="2E377E"/>
                </a:solidFill>
                <a:latin typeface="Georgia"/>
                <a:cs typeface="Georgia"/>
              </a:rPr>
              <a:t> </a:t>
            </a:r>
            <a:r>
              <a:rPr sz="3150" dirty="0">
                <a:solidFill>
                  <a:srgbClr val="2E377E"/>
                </a:solidFill>
                <a:latin typeface="Georgia"/>
                <a:cs typeface="Georgia"/>
              </a:rPr>
              <a:t>using</a:t>
            </a:r>
            <a:r>
              <a:rPr sz="3150" spc="-25" dirty="0">
                <a:solidFill>
                  <a:srgbClr val="2E377E"/>
                </a:solidFill>
                <a:latin typeface="Georgia"/>
                <a:cs typeface="Georgia"/>
              </a:rPr>
              <a:t> </a:t>
            </a:r>
            <a:r>
              <a:rPr sz="3150" spc="170" dirty="0">
                <a:solidFill>
                  <a:srgbClr val="2E377E"/>
                </a:solidFill>
                <a:latin typeface="Times New Roman"/>
                <a:cs typeface="Times New Roman"/>
              </a:rPr>
              <a:t>kubectl</a:t>
            </a:r>
            <a:r>
              <a:rPr sz="3150" spc="-45" dirty="0">
                <a:solidFill>
                  <a:srgbClr val="2E377E"/>
                </a:solidFill>
                <a:latin typeface="Times New Roman"/>
                <a:cs typeface="Times New Roman"/>
              </a:rPr>
              <a:t> </a:t>
            </a:r>
            <a:r>
              <a:rPr sz="3150" spc="160" dirty="0">
                <a:solidFill>
                  <a:srgbClr val="2E377E"/>
                </a:solidFill>
                <a:latin typeface="Times New Roman"/>
                <a:cs typeface="Times New Roman"/>
              </a:rPr>
              <a:t>describe</a:t>
            </a:r>
            <a:r>
              <a:rPr sz="3150" spc="-45" dirty="0">
                <a:solidFill>
                  <a:srgbClr val="2E377E"/>
                </a:solidFill>
                <a:latin typeface="Times New Roman"/>
                <a:cs typeface="Times New Roman"/>
              </a:rPr>
              <a:t> </a:t>
            </a:r>
            <a:r>
              <a:rPr sz="3150" spc="204" dirty="0">
                <a:solidFill>
                  <a:srgbClr val="2E377E"/>
                </a:solidFill>
                <a:latin typeface="Times New Roman"/>
                <a:cs typeface="Times New Roman"/>
              </a:rPr>
              <a:t>pod</a:t>
            </a:r>
            <a:r>
              <a:rPr sz="3150" spc="-45" dirty="0">
                <a:solidFill>
                  <a:srgbClr val="2E377E"/>
                </a:solidFill>
                <a:latin typeface="Times New Roman"/>
                <a:cs typeface="Times New Roman"/>
              </a:rPr>
              <a:t> </a:t>
            </a:r>
            <a:r>
              <a:rPr sz="3150" spc="190" dirty="0">
                <a:solidFill>
                  <a:srgbClr val="2E377E"/>
                </a:solidFill>
                <a:latin typeface="Times New Roman"/>
                <a:cs typeface="Times New Roman"/>
              </a:rPr>
              <a:t>pod-</a:t>
            </a:r>
            <a:r>
              <a:rPr sz="3150" spc="220" dirty="0">
                <a:solidFill>
                  <a:srgbClr val="2E377E"/>
                </a:solidFill>
                <a:latin typeface="Times New Roman"/>
                <a:cs typeface="Times New Roman"/>
              </a:rPr>
              <a:t>name</a:t>
            </a:r>
            <a:endParaRPr sz="3150">
              <a:latin typeface="Times New Roman"/>
              <a:cs typeface="Times New Roman"/>
            </a:endParaRPr>
          </a:p>
          <a:p>
            <a:pPr>
              <a:lnSpc>
                <a:spcPct val="100000"/>
              </a:lnSpc>
              <a:spcBef>
                <a:spcPts val="1295"/>
              </a:spcBef>
            </a:pPr>
            <a:endParaRPr sz="3150">
              <a:latin typeface="Times New Roman"/>
              <a:cs typeface="Times New Roman"/>
            </a:endParaRPr>
          </a:p>
          <a:p>
            <a:pPr marL="12700">
              <a:lnSpc>
                <a:spcPct val="100000"/>
              </a:lnSpc>
            </a:pPr>
            <a:r>
              <a:rPr sz="3150" dirty="0">
                <a:solidFill>
                  <a:srgbClr val="2E377E"/>
                </a:solidFill>
                <a:latin typeface="Georgia"/>
                <a:cs typeface="Georgia"/>
              </a:rPr>
              <a:t>After</a:t>
            </a:r>
            <a:r>
              <a:rPr sz="3150" spc="-10" dirty="0">
                <a:solidFill>
                  <a:srgbClr val="2E377E"/>
                </a:solidFill>
                <a:latin typeface="Georgia"/>
                <a:cs typeface="Georgia"/>
              </a:rPr>
              <a:t> </a:t>
            </a:r>
            <a:r>
              <a:rPr sz="3150" dirty="0">
                <a:solidFill>
                  <a:srgbClr val="2E377E"/>
                </a:solidFill>
                <a:latin typeface="Georgia"/>
                <a:cs typeface="Georgia"/>
              </a:rPr>
              <a:t>that</a:t>
            </a:r>
            <a:r>
              <a:rPr sz="3150" spc="-10" dirty="0">
                <a:solidFill>
                  <a:srgbClr val="2E377E"/>
                </a:solidFill>
                <a:latin typeface="Georgia"/>
                <a:cs typeface="Georgia"/>
              </a:rPr>
              <a:t> </a:t>
            </a:r>
            <a:r>
              <a:rPr sz="3150" dirty="0">
                <a:solidFill>
                  <a:srgbClr val="2E377E"/>
                </a:solidFill>
                <a:latin typeface="Georgia"/>
                <a:cs typeface="Georgia"/>
              </a:rPr>
              <a:t>enter</a:t>
            </a:r>
            <a:r>
              <a:rPr sz="3150" spc="-10" dirty="0">
                <a:solidFill>
                  <a:srgbClr val="2E377E"/>
                </a:solidFill>
                <a:latin typeface="Georgia"/>
                <a:cs typeface="Georgia"/>
              </a:rPr>
              <a:t> </a:t>
            </a:r>
            <a:r>
              <a:rPr sz="3150" dirty="0">
                <a:solidFill>
                  <a:srgbClr val="2E377E"/>
                </a:solidFill>
                <a:latin typeface="Georgia"/>
                <a:cs typeface="Georgia"/>
              </a:rPr>
              <a:t>into</a:t>
            </a:r>
            <a:r>
              <a:rPr sz="3150" spc="-10" dirty="0">
                <a:solidFill>
                  <a:srgbClr val="2E377E"/>
                </a:solidFill>
                <a:latin typeface="Georgia"/>
                <a:cs typeface="Georgia"/>
              </a:rPr>
              <a:t> </a:t>
            </a:r>
            <a:r>
              <a:rPr sz="3150" dirty="0">
                <a:solidFill>
                  <a:srgbClr val="2E377E"/>
                </a:solidFill>
                <a:latin typeface="Georgia"/>
                <a:cs typeface="Georgia"/>
              </a:rPr>
              <a:t>the</a:t>
            </a:r>
            <a:r>
              <a:rPr sz="3150" spc="-10" dirty="0">
                <a:solidFill>
                  <a:srgbClr val="2E377E"/>
                </a:solidFill>
                <a:latin typeface="Georgia"/>
                <a:cs typeface="Georgia"/>
              </a:rPr>
              <a:t> </a:t>
            </a:r>
            <a:r>
              <a:rPr sz="3150" dirty="0">
                <a:solidFill>
                  <a:srgbClr val="2E377E"/>
                </a:solidFill>
                <a:latin typeface="Georgia"/>
                <a:cs typeface="Georgia"/>
              </a:rPr>
              <a:t>pod</a:t>
            </a:r>
            <a:r>
              <a:rPr sz="3150" spc="-10" dirty="0">
                <a:solidFill>
                  <a:srgbClr val="2E377E"/>
                </a:solidFill>
                <a:latin typeface="Georgia"/>
                <a:cs typeface="Georgia"/>
              </a:rPr>
              <a:t> </a:t>
            </a:r>
            <a:r>
              <a:rPr sz="3150" spc="170" dirty="0">
                <a:solidFill>
                  <a:srgbClr val="2E377E"/>
                </a:solidFill>
                <a:latin typeface="Times New Roman"/>
                <a:cs typeface="Times New Roman"/>
              </a:rPr>
              <a:t>kubectl</a:t>
            </a:r>
            <a:r>
              <a:rPr sz="3150" spc="-35" dirty="0">
                <a:solidFill>
                  <a:srgbClr val="2E377E"/>
                </a:solidFill>
                <a:latin typeface="Times New Roman"/>
                <a:cs typeface="Times New Roman"/>
              </a:rPr>
              <a:t> </a:t>
            </a:r>
            <a:r>
              <a:rPr sz="3150" spc="125" dirty="0">
                <a:solidFill>
                  <a:srgbClr val="2E377E"/>
                </a:solidFill>
                <a:latin typeface="Times New Roman"/>
                <a:cs typeface="Times New Roman"/>
              </a:rPr>
              <a:t>exec</a:t>
            </a:r>
            <a:r>
              <a:rPr sz="3150" spc="-30" dirty="0">
                <a:solidFill>
                  <a:srgbClr val="2E377E"/>
                </a:solidFill>
                <a:latin typeface="Times New Roman"/>
                <a:cs typeface="Times New Roman"/>
              </a:rPr>
              <a:t> </a:t>
            </a:r>
            <a:r>
              <a:rPr sz="3150" spc="145" dirty="0">
                <a:solidFill>
                  <a:srgbClr val="2E377E"/>
                </a:solidFill>
                <a:latin typeface="Times New Roman"/>
                <a:cs typeface="Times New Roman"/>
              </a:rPr>
              <a:t>-</a:t>
            </a:r>
            <a:r>
              <a:rPr sz="3150" spc="175" dirty="0">
                <a:solidFill>
                  <a:srgbClr val="2E377E"/>
                </a:solidFill>
                <a:latin typeface="Times New Roman"/>
                <a:cs typeface="Times New Roman"/>
              </a:rPr>
              <a:t>it</a:t>
            </a:r>
            <a:r>
              <a:rPr sz="3150" spc="-35" dirty="0">
                <a:solidFill>
                  <a:srgbClr val="2E377E"/>
                </a:solidFill>
                <a:latin typeface="Times New Roman"/>
                <a:cs typeface="Times New Roman"/>
              </a:rPr>
              <a:t> </a:t>
            </a:r>
            <a:r>
              <a:rPr sz="3150" spc="260" dirty="0">
                <a:solidFill>
                  <a:srgbClr val="2E377E"/>
                </a:solidFill>
                <a:latin typeface="Times New Roman"/>
                <a:cs typeface="Times New Roman"/>
              </a:rPr>
              <a:t>pod_name</a:t>
            </a:r>
            <a:r>
              <a:rPr sz="3150" spc="-35" dirty="0">
                <a:solidFill>
                  <a:srgbClr val="2E377E"/>
                </a:solidFill>
                <a:latin typeface="Times New Roman"/>
                <a:cs typeface="Times New Roman"/>
              </a:rPr>
              <a:t> </a:t>
            </a:r>
            <a:r>
              <a:rPr sz="3150" spc="145" dirty="0">
                <a:solidFill>
                  <a:srgbClr val="2E377E"/>
                </a:solidFill>
                <a:latin typeface="Times New Roman"/>
                <a:cs typeface="Times New Roman"/>
              </a:rPr>
              <a:t>-</a:t>
            </a:r>
            <a:r>
              <a:rPr sz="3150" spc="80" dirty="0">
                <a:solidFill>
                  <a:srgbClr val="2E377E"/>
                </a:solidFill>
                <a:latin typeface="Times New Roman"/>
                <a:cs typeface="Times New Roman"/>
              </a:rPr>
              <a:t>c</a:t>
            </a:r>
            <a:r>
              <a:rPr sz="3150" spc="-35" dirty="0">
                <a:solidFill>
                  <a:srgbClr val="2E377E"/>
                </a:solidFill>
                <a:latin typeface="Times New Roman"/>
                <a:cs typeface="Times New Roman"/>
              </a:rPr>
              <a:t> </a:t>
            </a:r>
            <a:r>
              <a:rPr sz="3150" spc="250" dirty="0">
                <a:solidFill>
                  <a:srgbClr val="2E377E"/>
                </a:solidFill>
                <a:latin typeface="Times New Roman"/>
                <a:cs typeface="Times New Roman"/>
              </a:rPr>
              <a:t>cont_name</a:t>
            </a:r>
            <a:r>
              <a:rPr sz="3150" spc="-35" dirty="0">
                <a:solidFill>
                  <a:srgbClr val="2E377E"/>
                </a:solidFill>
                <a:latin typeface="Times New Roman"/>
                <a:cs typeface="Times New Roman"/>
              </a:rPr>
              <a:t> </a:t>
            </a:r>
            <a:r>
              <a:rPr sz="3150" spc="204" dirty="0">
                <a:solidFill>
                  <a:srgbClr val="2E377E"/>
                </a:solidFill>
                <a:latin typeface="Times New Roman"/>
                <a:cs typeface="Times New Roman"/>
              </a:rPr>
              <a:t>/bin/bash</a:t>
            </a:r>
            <a:endParaRPr sz="3150">
              <a:latin typeface="Times New Roman"/>
              <a:cs typeface="Times New Roman"/>
            </a:endParaRPr>
          </a:p>
          <a:p>
            <a:pPr>
              <a:lnSpc>
                <a:spcPct val="100000"/>
              </a:lnSpc>
              <a:spcBef>
                <a:spcPts val="1300"/>
              </a:spcBef>
            </a:pPr>
            <a:endParaRPr sz="3150">
              <a:latin typeface="Times New Roman"/>
              <a:cs typeface="Times New Roman"/>
            </a:endParaRPr>
          </a:p>
          <a:p>
            <a:pPr marL="12700">
              <a:lnSpc>
                <a:spcPct val="100000"/>
              </a:lnSpc>
            </a:pPr>
            <a:r>
              <a:rPr sz="3150" dirty="0">
                <a:solidFill>
                  <a:srgbClr val="2E377E"/>
                </a:solidFill>
                <a:latin typeface="Georgia"/>
                <a:cs typeface="Georgia"/>
              </a:rPr>
              <a:t>Check</a:t>
            </a:r>
            <a:r>
              <a:rPr sz="3150" spc="10" dirty="0">
                <a:solidFill>
                  <a:srgbClr val="2E377E"/>
                </a:solidFill>
                <a:latin typeface="Georgia"/>
                <a:cs typeface="Georgia"/>
              </a:rPr>
              <a:t> </a:t>
            </a:r>
            <a:r>
              <a:rPr sz="3150" dirty="0">
                <a:solidFill>
                  <a:srgbClr val="2E377E"/>
                </a:solidFill>
                <a:latin typeface="Georgia"/>
                <a:cs typeface="Georgia"/>
              </a:rPr>
              <a:t>the</a:t>
            </a:r>
            <a:r>
              <a:rPr sz="3150" spc="15" dirty="0">
                <a:solidFill>
                  <a:srgbClr val="2E377E"/>
                </a:solidFill>
                <a:latin typeface="Georgia"/>
                <a:cs typeface="Georgia"/>
              </a:rPr>
              <a:t> </a:t>
            </a:r>
            <a:r>
              <a:rPr sz="3150" dirty="0">
                <a:solidFill>
                  <a:srgbClr val="2E377E"/>
                </a:solidFill>
                <a:latin typeface="Georgia"/>
                <a:cs typeface="Georgia"/>
              </a:rPr>
              <a:t>file</a:t>
            </a:r>
            <a:r>
              <a:rPr sz="3150" spc="10" dirty="0">
                <a:solidFill>
                  <a:srgbClr val="2E377E"/>
                </a:solidFill>
                <a:latin typeface="Georgia"/>
                <a:cs typeface="Georgia"/>
              </a:rPr>
              <a:t> </a:t>
            </a:r>
            <a:r>
              <a:rPr sz="3150" dirty="0">
                <a:solidFill>
                  <a:srgbClr val="2E377E"/>
                </a:solidFill>
                <a:latin typeface="Georgia"/>
                <a:cs typeface="Georgia"/>
              </a:rPr>
              <a:t>is</a:t>
            </a:r>
            <a:r>
              <a:rPr sz="3150" spc="15" dirty="0">
                <a:solidFill>
                  <a:srgbClr val="2E377E"/>
                </a:solidFill>
                <a:latin typeface="Georgia"/>
                <a:cs typeface="Georgia"/>
              </a:rPr>
              <a:t> </a:t>
            </a:r>
            <a:r>
              <a:rPr sz="3150" dirty="0">
                <a:solidFill>
                  <a:srgbClr val="2E377E"/>
                </a:solidFill>
                <a:latin typeface="Georgia"/>
                <a:cs typeface="Georgia"/>
              </a:rPr>
              <a:t>created</a:t>
            </a:r>
            <a:r>
              <a:rPr sz="3150" spc="10" dirty="0">
                <a:solidFill>
                  <a:srgbClr val="2E377E"/>
                </a:solidFill>
                <a:latin typeface="Georgia"/>
                <a:cs typeface="Georgia"/>
              </a:rPr>
              <a:t> </a:t>
            </a:r>
            <a:r>
              <a:rPr sz="3150" dirty="0">
                <a:solidFill>
                  <a:srgbClr val="2E377E"/>
                </a:solidFill>
                <a:latin typeface="Georgia"/>
                <a:cs typeface="Georgia"/>
              </a:rPr>
              <a:t>or</a:t>
            </a:r>
            <a:r>
              <a:rPr sz="3150" spc="15" dirty="0">
                <a:solidFill>
                  <a:srgbClr val="2E377E"/>
                </a:solidFill>
                <a:latin typeface="Georgia"/>
                <a:cs typeface="Georgia"/>
              </a:rPr>
              <a:t> </a:t>
            </a:r>
            <a:r>
              <a:rPr sz="3150" dirty="0">
                <a:solidFill>
                  <a:srgbClr val="2E377E"/>
                </a:solidFill>
                <a:latin typeface="Georgia"/>
                <a:cs typeface="Georgia"/>
              </a:rPr>
              <a:t>not</a:t>
            </a:r>
            <a:r>
              <a:rPr sz="3150" spc="10" dirty="0">
                <a:solidFill>
                  <a:srgbClr val="2E377E"/>
                </a:solidFill>
                <a:latin typeface="Georgia"/>
                <a:cs typeface="Georgia"/>
              </a:rPr>
              <a:t> </a:t>
            </a:r>
            <a:r>
              <a:rPr sz="3150" dirty="0">
                <a:solidFill>
                  <a:srgbClr val="2E377E"/>
                </a:solidFill>
                <a:latin typeface="Georgia"/>
                <a:cs typeface="Georgia"/>
              </a:rPr>
              <a:t>using</a:t>
            </a:r>
            <a:r>
              <a:rPr sz="3150" spc="10" dirty="0">
                <a:solidFill>
                  <a:srgbClr val="2E377E"/>
                </a:solidFill>
                <a:latin typeface="Georgia"/>
                <a:cs typeface="Georgia"/>
              </a:rPr>
              <a:t> </a:t>
            </a:r>
            <a:r>
              <a:rPr sz="3150" spc="180" dirty="0">
                <a:solidFill>
                  <a:srgbClr val="2E377E"/>
                </a:solidFill>
                <a:latin typeface="Times New Roman"/>
                <a:cs typeface="Times New Roman"/>
              </a:rPr>
              <a:t>cat</a:t>
            </a:r>
            <a:r>
              <a:rPr sz="3150" spc="-10" dirty="0">
                <a:solidFill>
                  <a:srgbClr val="2E377E"/>
                </a:solidFill>
                <a:latin typeface="Times New Roman"/>
                <a:cs typeface="Times New Roman"/>
              </a:rPr>
              <a:t> </a:t>
            </a:r>
            <a:r>
              <a:rPr sz="3150" spc="229" dirty="0">
                <a:solidFill>
                  <a:srgbClr val="2E377E"/>
                </a:solidFill>
                <a:latin typeface="Times New Roman"/>
                <a:cs typeface="Times New Roman"/>
              </a:rPr>
              <a:t>/tmp/healthy</a:t>
            </a:r>
            <a:endParaRPr sz="3150">
              <a:latin typeface="Times New Roman"/>
              <a:cs typeface="Times New Roman"/>
            </a:endParaRPr>
          </a:p>
          <a:p>
            <a:pPr>
              <a:lnSpc>
                <a:spcPct val="100000"/>
              </a:lnSpc>
              <a:spcBef>
                <a:spcPts val="725"/>
              </a:spcBef>
            </a:pPr>
            <a:endParaRPr sz="3150">
              <a:latin typeface="Times New Roman"/>
              <a:cs typeface="Times New Roman"/>
            </a:endParaRPr>
          </a:p>
          <a:p>
            <a:pPr marL="12700" marR="915035">
              <a:lnSpc>
                <a:spcPct val="115100"/>
              </a:lnSpc>
            </a:pPr>
            <a:r>
              <a:rPr sz="3150" dirty="0">
                <a:solidFill>
                  <a:srgbClr val="2E377E"/>
                </a:solidFill>
                <a:latin typeface="Georgia"/>
                <a:cs typeface="Georgia"/>
              </a:rPr>
              <a:t>Now</a:t>
            </a:r>
            <a:r>
              <a:rPr sz="3150" spc="5" dirty="0">
                <a:solidFill>
                  <a:srgbClr val="2E377E"/>
                </a:solidFill>
                <a:latin typeface="Georgia"/>
                <a:cs typeface="Georgia"/>
              </a:rPr>
              <a:t> </a:t>
            </a:r>
            <a:r>
              <a:rPr sz="3150" dirty="0">
                <a:solidFill>
                  <a:srgbClr val="2E377E"/>
                </a:solidFill>
                <a:latin typeface="Georgia"/>
                <a:cs typeface="Georgia"/>
              </a:rPr>
              <a:t>check</a:t>
            </a:r>
            <a:r>
              <a:rPr sz="3150" spc="20" dirty="0">
                <a:solidFill>
                  <a:srgbClr val="2E377E"/>
                </a:solidFill>
                <a:latin typeface="Georgia"/>
                <a:cs typeface="Georgia"/>
              </a:rPr>
              <a:t> </a:t>
            </a:r>
            <a:r>
              <a:rPr sz="3150" dirty="0">
                <a:solidFill>
                  <a:srgbClr val="2E377E"/>
                </a:solidFill>
                <a:latin typeface="Georgia"/>
                <a:cs typeface="Georgia"/>
              </a:rPr>
              <a:t>the</a:t>
            </a:r>
            <a:r>
              <a:rPr sz="3150" spc="15" dirty="0">
                <a:solidFill>
                  <a:srgbClr val="2E377E"/>
                </a:solidFill>
                <a:latin typeface="Georgia"/>
                <a:cs typeface="Georgia"/>
              </a:rPr>
              <a:t> </a:t>
            </a:r>
            <a:r>
              <a:rPr sz="3150" dirty="0">
                <a:solidFill>
                  <a:srgbClr val="2E377E"/>
                </a:solidFill>
                <a:latin typeface="Georgia"/>
                <a:cs typeface="Georgia"/>
              </a:rPr>
              <a:t>health</a:t>
            </a:r>
            <a:r>
              <a:rPr sz="3150" spc="15" dirty="0">
                <a:solidFill>
                  <a:srgbClr val="2E377E"/>
                </a:solidFill>
                <a:latin typeface="Georgia"/>
                <a:cs typeface="Georgia"/>
              </a:rPr>
              <a:t> </a:t>
            </a:r>
            <a:r>
              <a:rPr sz="3150" dirty="0">
                <a:solidFill>
                  <a:srgbClr val="2E377E"/>
                </a:solidFill>
                <a:latin typeface="Georgia"/>
                <a:cs typeface="Georgia"/>
              </a:rPr>
              <a:t>status</a:t>
            </a:r>
            <a:r>
              <a:rPr sz="3150" spc="15" dirty="0">
                <a:solidFill>
                  <a:srgbClr val="2E377E"/>
                </a:solidFill>
                <a:latin typeface="Georgia"/>
                <a:cs typeface="Georgia"/>
              </a:rPr>
              <a:t> </a:t>
            </a:r>
            <a:r>
              <a:rPr sz="3150" spc="155" dirty="0">
                <a:solidFill>
                  <a:srgbClr val="2E377E"/>
                </a:solidFill>
                <a:latin typeface="Times New Roman"/>
                <a:cs typeface="Times New Roman"/>
              </a:rPr>
              <a:t>echo</a:t>
            </a:r>
            <a:r>
              <a:rPr sz="3150" spc="-10" dirty="0">
                <a:solidFill>
                  <a:srgbClr val="2E377E"/>
                </a:solidFill>
                <a:latin typeface="Times New Roman"/>
                <a:cs typeface="Times New Roman"/>
              </a:rPr>
              <a:t> </a:t>
            </a:r>
            <a:r>
              <a:rPr sz="3150" dirty="0">
                <a:solidFill>
                  <a:srgbClr val="2E377E"/>
                </a:solidFill>
                <a:latin typeface="Times New Roman"/>
                <a:cs typeface="Times New Roman"/>
              </a:rPr>
              <a:t>$?</a:t>
            </a:r>
            <a:r>
              <a:rPr sz="3150" spc="-10" dirty="0">
                <a:solidFill>
                  <a:srgbClr val="2E377E"/>
                </a:solidFill>
                <a:latin typeface="Times New Roman"/>
                <a:cs typeface="Times New Roman"/>
              </a:rPr>
              <a:t> </a:t>
            </a:r>
            <a:r>
              <a:rPr sz="3150" dirty="0">
                <a:solidFill>
                  <a:srgbClr val="2E377E"/>
                </a:solidFill>
                <a:latin typeface="Georgia"/>
                <a:cs typeface="Georgia"/>
              </a:rPr>
              <a:t>If</a:t>
            </a:r>
            <a:r>
              <a:rPr sz="3150" spc="20" dirty="0">
                <a:solidFill>
                  <a:srgbClr val="2E377E"/>
                </a:solidFill>
                <a:latin typeface="Georgia"/>
                <a:cs typeface="Georgia"/>
              </a:rPr>
              <a:t> </a:t>
            </a:r>
            <a:r>
              <a:rPr sz="3150" dirty="0">
                <a:solidFill>
                  <a:srgbClr val="2E377E"/>
                </a:solidFill>
                <a:latin typeface="Georgia"/>
                <a:cs typeface="Georgia"/>
              </a:rPr>
              <a:t>it</a:t>
            </a:r>
            <a:r>
              <a:rPr sz="3150" spc="15" dirty="0">
                <a:solidFill>
                  <a:srgbClr val="2E377E"/>
                </a:solidFill>
                <a:latin typeface="Georgia"/>
                <a:cs typeface="Georgia"/>
              </a:rPr>
              <a:t> </a:t>
            </a:r>
            <a:r>
              <a:rPr sz="3150" dirty="0">
                <a:solidFill>
                  <a:srgbClr val="2E377E"/>
                </a:solidFill>
                <a:latin typeface="Georgia"/>
                <a:cs typeface="Georgia"/>
              </a:rPr>
              <a:t>returns</a:t>
            </a:r>
            <a:r>
              <a:rPr sz="3150" spc="15" dirty="0">
                <a:solidFill>
                  <a:srgbClr val="2E377E"/>
                </a:solidFill>
                <a:latin typeface="Georgia"/>
                <a:cs typeface="Georgia"/>
              </a:rPr>
              <a:t> </a:t>
            </a:r>
            <a:r>
              <a:rPr sz="3150" dirty="0">
                <a:solidFill>
                  <a:srgbClr val="2E377E"/>
                </a:solidFill>
                <a:latin typeface="Georgia"/>
                <a:cs typeface="Georgia"/>
              </a:rPr>
              <a:t>0</a:t>
            </a:r>
            <a:r>
              <a:rPr sz="3150" spc="20" dirty="0">
                <a:solidFill>
                  <a:srgbClr val="2E377E"/>
                </a:solidFill>
                <a:latin typeface="Georgia"/>
                <a:cs typeface="Georgia"/>
              </a:rPr>
              <a:t> </a:t>
            </a:r>
            <a:r>
              <a:rPr sz="3150" dirty="0">
                <a:solidFill>
                  <a:srgbClr val="2E377E"/>
                </a:solidFill>
                <a:latin typeface="Georgia"/>
                <a:cs typeface="Georgia"/>
              </a:rPr>
              <a:t>then</a:t>
            </a:r>
            <a:r>
              <a:rPr sz="3150" spc="15" dirty="0">
                <a:solidFill>
                  <a:srgbClr val="2E377E"/>
                </a:solidFill>
                <a:latin typeface="Georgia"/>
                <a:cs typeface="Georgia"/>
              </a:rPr>
              <a:t> </a:t>
            </a:r>
            <a:r>
              <a:rPr sz="3150" dirty="0">
                <a:solidFill>
                  <a:srgbClr val="2E377E"/>
                </a:solidFill>
                <a:latin typeface="Georgia"/>
                <a:cs typeface="Georgia"/>
              </a:rPr>
              <a:t>application</a:t>
            </a:r>
            <a:r>
              <a:rPr sz="3150" spc="15" dirty="0">
                <a:solidFill>
                  <a:srgbClr val="2E377E"/>
                </a:solidFill>
                <a:latin typeface="Georgia"/>
                <a:cs typeface="Georgia"/>
              </a:rPr>
              <a:t> </a:t>
            </a:r>
            <a:r>
              <a:rPr sz="3150" dirty="0">
                <a:solidFill>
                  <a:srgbClr val="2E377E"/>
                </a:solidFill>
                <a:latin typeface="Georgia"/>
                <a:cs typeface="Georgia"/>
              </a:rPr>
              <a:t>is</a:t>
            </a:r>
            <a:r>
              <a:rPr sz="3150" spc="15" dirty="0">
                <a:solidFill>
                  <a:srgbClr val="2E377E"/>
                </a:solidFill>
                <a:latin typeface="Georgia"/>
                <a:cs typeface="Georgia"/>
              </a:rPr>
              <a:t> </a:t>
            </a:r>
            <a:r>
              <a:rPr sz="3150" dirty="0">
                <a:solidFill>
                  <a:srgbClr val="2E377E"/>
                </a:solidFill>
                <a:latin typeface="Georgia"/>
                <a:cs typeface="Georgia"/>
              </a:rPr>
              <a:t>running</a:t>
            </a:r>
            <a:r>
              <a:rPr sz="3150" spc="20" dirty="0">
                <a:solidFill>
                  <a:srgbClr val="2E377E"/>
                </a:solidFill>
                <a:latin typeface="Georgia"/>
                <a:cs typeface="Georgia"/>
              </a:rPr>
              <a:t> </a:t>
            </a:r>
            <a:r>
              <a:rPr sz="3150" dirty="0">
                <a:solidFill>
                  <a:srgbClr val="2E377E"/>
                </a:solidFill>
                <a:latin typeface="Georgia"/>
                <a:cs typeface="Georgia"/>
              </a:rPr>
              <a:t>into</a:t>
            </a:r>
            <a:r>
              <a:rPr sz="3150" spc="15" dirty="0">
                <a:solidFill>
                  <a:srgbClr val="2E377E"/>
                </a:solidFill>
                <a:latin typeface="Georgia"/>
                <a:cs typeface="Georgia"/>
              </a:rPr>
              <a:t> </a:t>
            </a:r>
            <a:r>
              <a:rPr sz="3150" spc="-25" dirty="0">
                <a:solidFill>
                  <a:srgbClr val="2E377E"/>
                </a:solidFill>
                <a:latin typeface="Georgia"/>
                <a:cs typeface="Georgia"/>
              </a:rPr>
              <a:t>the </a:t>
            </a:r>
            <a:r>
              <a:rPr sz="3150" spc="-10" dirty="0">
                <a:solidFill>
                  <a:srgbClr val="2E377E"/>
                </a:solidFill>
                <a:latin typeface="Georgia"/>
                <a:cs typeface="Georgia"/>
              </a:rPr>
              <a:t>container.</a:t>
            </a:r>
            <a:endParaRPr sz="3150">
              <a:latin typeface="Georgia"/>
              <a:cs typeface="Georgia"/>
            </a:endParaRPr>
          </a:p>
          <a:p>
            <a:pPr>
              <a:lnSpc>
                <a:spcPct val="100000"/>
              </a:lnSpc>
              <a:spcBef>
                <a:spcPts val="770"/>
              </a:spcBef>
            </a:pPr>
            <a:endParaRPr sz="3150">
              <a:latin typeface="Georgia"/>
              <a:cs typeface="Georgia"/>
            </a:endParaRPr>
          </a:p>
          <a:p>
            <a:pPr marL="12700" marR="33020">
              <a:lnSpc>
                <a:spcPct val="115100"/>
              </a:lnSpc>
            </a:pPr>
            <a:r>
              <a:rPr sz="3150" dirty="0">
                <a:solidFill>
                  <a:srgbClr val="2E377E"/>
                </a:solidFill>
                <a:latin typeface="Georgia"/>
                <a:cs typeface="Georgia"/>
              </a:rPr>
              <a:t>there is</a:t>
            </a:r>
            <a:r>
              <a:rPr sz="3150" spc="10" dirty="0">
                <a:solidFill>
                  <a:srgbClr val="2E377E"/>
                </a:solidFill>
                <a:latin typeface="Georgia"/>
                <a:cs typeface="Georgia"/>
              </a:rPr>
              <a:t> </a:t>
            </a:r>
            <a:r>
              <a:rPr sz="3150" dirty="0">
                <a:solidFill>
                  <a:srgbClr val="2E377E"/>
                </a:solidFill>
                <a:latin typeface="Georgia"/>
                <a:cs typeface="Georgia"/>
              </a:rPr>
              <a:t>one</a:t>
            </a:r>
            <a:r>
              <a:rPr sz="3150" spc="5" dirty="0">
                <a:solidFill>
                  <a:srgbClr val="2E377E"/>
                </a:solidFill>
                <a:latin typeface="Georgia"/>
                <a:cs typeface="Georgia"/>
              </a:rPr>
              <a:t> </a:t>
            </a:r>
            <a:r>
              <a:rPr sz="3150" dirty="0">
                <a:solidFill>
                  <a:srgbClr val="2E377E"/>
                </a:solidFill>
                <a:latin typeface="Georgia"/>
                <a:cs typeface="Georgia"/>
              </a:rPr>
              <a:t>condition</a:t>
            </a:r>
            <a:r>
              <a:rPr sz="3150" spc="10" dirty="0">
                <a:solidFill>
                  <a:srgbClr val="2E377E"/>
                </a:solidFill>
                <a:latin typeface="Georgia"/>
                <a:cs typeface="Georgia"/>
              </a:rPr>
              <a:t> </a:t>
            </a:r>
            <a:r>
              <a:rPr sz="3150" dirty="0">
                <a:solidFill>
                  <a:srgbClr val="2E377E"/>
                </a:solidFill>
                <a:latin typeface="Georgia"/>
                <a:cs typeface="Georgia"/>
              </a:rPr>
              <a:t>if</a:t>
            </a:r>
            <a:r>
              <a:rPr sz="3150" spc="10" dirty="0">
                <a:solidFill>
                  <a:srgbClr val="2E377E"/>
                </a:solidFill>
                <a:latin typeface="Georgia"/>
                <a:cs typeface="Georgia"/>
              </a:rPr>
              <a:t> </a:t>
            </a:r>
            <a:r>
              <a:rPr sz="3150" dirty="0">
                <a:solidFill>
                  <a:srgbClr val="2E377E"/>
                </a:solidFill>
                <a:latin typeface="Georgia"/>
                <a:cs typeface="Georgia"/>
              </a:rPr>
              <a:t>the</a:t>
            </a:r>
            <a:r>
              <a:rPr sz="3150" spc="10" dirty="0">
                <a:solidFill>
                  <a:srgbClr val="2E377E"/>
                </a:solidFill>
                <a:latin typeface="Georgia"/>
                <a:cs typeface="Georgia"/>
              </a:rPr>
              <a:t> </a:t>
            </a:r>
            <a:r>
              <a:rPr sz="3150" dirty="0">
                <a:solidFill>
                  <a:srgbClr val="2E377E"/>
                </a:solidFill>
                <a:latin typeface="Georgia"/>
                <a:cs typeface="Georgia"/>
              </a:rPr>
              <a:t>file</a:t>
            </a:r>
            <a:r>
              <a:rPr sz="3150" spc="10" dirty="0">
                <a:solidFill>
                  <a:srgbClr val="2E377E"/>
                </a:solidFill>
                <a:latin typeface="Georgia"/>
                <a:cs typeface="Georgia"/>
              </a:rPr>
              <a:t> </a:t>
            </a:r>
            <a:r>
              <a:rPr sz="3150" dirty="0">
                <a:solidFill>
                  <a:srgbClr val="2E377E"/>
                </a:solidFill>
                <a:latin typeface="Georgia"/>
                <a:cs typeface="Georgia"/>
              </a:rPr>
              <a:t>healthy</a:t>
            </a:r>
            <a:r>
              <a:rPr sz="3150" spc="5" dirty="0">
                <a:solidFill>
                  <a:srgbClr val="2E377E"/>
                </a:solidFill>
                <a:latin typeface="Georgia"/>
                <a:cs typeface="Georgia"/>
              </a:rPr>
              <a:t> </a:t>
            </a:r>
            <a:r>
              <a:rPr sz="3150" dirty="0">
                <a:solidFill>
                  <a:srgbClr val="2E377E"/>
                </a:solidFill>
                <a:latin typeface="Georgia"/>
                <a:cs typeface="Georgia"/>
              </a:rPr>
              <a:t>is</a:t>
            </a:r>
            <a:r>
              <a:rPr sz="3150" spc="10" dirty="0">
                <a:solidFill>
                  <a:srgbClr val="2E377E"/>
                </a:solidFill>
                <a:latin typeface="Georgia"/>
                <a:cs typeface="Georgia"/>
              </a:rPr>
              <a:t> </a:t>
            </a:r>
            <a:r>
              <a:rPr sz="3150" dirty="0">
                <a:solidFill>
                  <a:srgbClr val="2E377E"/>
                </a:solidFill>
                <a:latin typeface="Georgia"/>
                <a:cs typeface="Georgia"/>
              </a:rPr>
              <a:t>not</a:t>
            </a:r>
            <a:r>
              <a:rPr sz="3150" spc="10" dirty="0">
                <a:solidFill>
                  <a:srgbClr val="2E377E"/>
                </a:solidFill>
                <a:latin typeface="Georgia"/>
                <a:cs typeface="Georgia"/>
              </a:rPr>
              <a:t> </a:t>
            </a:r>
            <a:r>
              <a:rPr sz="3150" dirty="0">
                <a:solidFill>
                  <a:srgbClr val="2E377E"/>
                </a:solidFill>
                <a:latin typeface="Georgia"/>
                <a:cs typeface="Georgia"/>
              </a:rPr>
              <a:t>present</a:t>
            </a:r>
            <a:r>
              <a:rPr sz="3150" spc="10" dirty="0">
                <a:solidFill>
                  <a:srgbClr val="2E377E"/>
                </a:solidFill>
                <a:latin typeface="Georgia"/>
                <a:cs typeface="Georgia"/>
              </a:rPr>
              <a:t> </a:t>
            </a:r>
            <a:r>
              <a:rPr sz="3150" dirty="0">
                <a:solidFill>
                  <a:srgbClr val="2E377E"/>
                </a:solidFill>
                <a:latin typeface="Georgia"/>
                <a:cs typeface="Georgia"/>
              </a:rPr>
              <a:t>in</a:t>
            </a:r>
            <a:r>
              <a:rPr sz="3150" spc="10" dirty="0">
                <a:solidFill>
                  <a:srgbClr val="2E377E"/>
                </a:solidFill>
                <a:latin typeface="Georgia"/>
                <a:cs typeface="Georgia"/>
              </a:rPr>
              <a:t> </a:t>
            </a:r>
            <a:r>
              <a:rPr sz="3150" dirty="0">
                <a:solidFill>
                  <a:srgbClr val="2E377E"/>
                </a:solidFill>
                <a:latin typeface="Georgia"/>
                <a:cs typeface="Georgia"/>
              </a:rPr>
              <a:t>/tmp</a:t>
            </a:r>
            <a:r>
              <a:rPr sz="3150" spc="5" dirty="0">
                <a:solidFill>
                  <a:srgbClr val="2E377E"/>
                </a:solidFill>
                <a:latin typeface="Georgia"/>
                <a:cs typeface="Georgia"/>
              </a:rPr>
              <a:t> </a:t>
            </a:r>
            <a:r>
              <a:rPr sz="3150" spc="45" dirty="0">
                <a:solidFill>
                  <a:srgbClr val="2E377E"/>
                </a:solidFill>
                <a:latin typeface="Georgia"/>
                <a:cs typeface="Georgia"/>
              </a:rPr>
              <a:t>directory</a:t>
            </a:r>
            <a:r>
              <a:rPr sz="3150" spc="10" dirty="0">
                <a:solidFill>
                  <a:srgbClr val="2E377E"/>
                </a:solidFill>
                <a:latin typeface="Georgia"/>
                <a:cs typeface="Georgia"/>
              </a:rPr>
              <a:t> </a:t>
            </a:r>
            <a:r>
              <a:rPr sz="3150" dirty="0">
                <a:solidFill>
                  <a:srgbClr val="2E377E"/>
                </a:solidFill>
                <a:latin typeface="Georgia"/>
                <a:cs typeface="Georgia"/>
              </a:rPr>
              <a:t>then</a:t>
            </a:r>
            <a:r>
              <a:rPr sz="3150" spc="10" dirty="0">
                <a:solidFill>
                  <a:srgbClr val="2E377E"/>
                </a:solidFill>
                <a:latin typeface="Georgia"/>
                <a:cs typeface="Georgia"/>
              </a:rPr>
              <a:t> </a:t>
            </a:r>
            <a:r>
              <a:rPr sz="3150" spc="-10" dirty="0">
                <a:solidFill>
                  <a:srgbClr val="2E377E"/>
                </a:solidFill>
                <a:latin typeface="Georgia"/>
                <a:cs typeface="Georgia"/>
              </a:rPr>
              <a:t>livenessProbe </a:t>
            </a:r>
            <a:r>
              <a:rPr sz="3150" dirty="0">
                <a:solidFill>
                  <a:srgbClr val="2E377E"/>
                </a:solidFill>
                <a:latin typeface="Georgia"/>
                <a:cs typeface="Georgia"/>
              </a:rPr>
              <a:t>will</a:t>
            </a:r>
            <a:r>
              <a:rPr sz="3150" spc="30" dirty="0">
                <a:solidFill>
                  <a:srgbClr val="2E377E"/>
                </a:solidFill>
                <a:latin typeface="Georgia"/>
                <a:cs typeface="Georgia"/>
              </a:rPr>
              <a:t> </a:t>
            </a:r>
            <a:r>
              <a:rPr sz="3150" dirty="0">
                <a:solidFill>
                  <a:srgbClr val="2E377E"/>
                </a:solidFill>
                <a:latin typeface="Georgia"/>
                <a:cs typeface="Georgia"/>
              </a:rPr>
              <a:t>recreate</a:t>
            </a:r>
            <a:r>
              <a:rPr sz="3150" spc="35" dirty="0">
                <a:solidFill>
                  <a:srgbClr val="2E377E"/>
                </a:solidFill>
                <a:latin typeface="Georgia"/>
                <a:cs typeface="Georgia"/>
              </a:rPr>
              <a:t> </a:t>
            </a:r>
            <a:r>
              <a:rPr sz="3150" dirty="0">
                <a:solidFill>
                  <a:srgbClr val="2E377E"/>
                </a:solidFill>
                <a:latin typeface="Georgia"/>
                <a:cs typeface="Georgia"/>
              </a:rPr>
              <a:t>the</a:t>
            </a:r>
            <a:r>
              <a:rPr sz="3150" spc="40" dirty="0">
                <a:solidFill>
                  <a:srgbClr val="2E377E"/>
                </a:solidFill>
                <a:latin typeface="Georgia"/>
                <a:cs typeface="Georgia"/>
              </a:rPr>
              <a:t> </a:t>
            </a:r>
            <a:r>
              <a:rPr sz="3150" dirty="0">
                <a:solidFill>
                  <a:srgbClr val="2E377E"/>
                </a:solidFill>
                <a:latin typeface="Georgia"/>
                <a:cs typeface="Georgia"/>
              </a:rPr>
              <a:t>container.</a:t>
            </a:r>
            <a:r>
              <a:rPr sz="3150" spc="40" dirty="0">
                <a:solidFill>
                  <a:srgbClr val="2E377E"/>
                </a:solidFill>
                <a:latin typeface="Georgia"/>
                <a:cs typeface="Georgia"/>
              </a:rPr>
              <a:t> </a:t>
            </a:r>
            <a:r>
              <a:rPr sz="3150" spc="-35" dirty="0">
                <a:solidFill>
                  <a:srgbClr val="2E377E"/>
                </a:solidFill>
                <a:latin typeface="Georgia"/>
                <a:cs typeface="Georgia"/>
              </a:rPr>
              <a:t>So,</a:t>
            </a:r>
            <a:r>
              <a:rPr sz="3150" spc="35" dirty="0">
                <a:solidFill>
                  <a:srgbClr val="2E377E"/>
                </a:solidFill>
                <a:latin typeface="Georgia"/>
                <a:cs typeface="Georgia"/>
              </a:rPr>
              <a:t> </a:t>
            </a:r>
            <a:r>
              <a:rPr sz="3150" spc="110" dirty="0">
                <a:solidFill>
                  <a:srgbClr val="2E377E"/>
                </a:solidFill>
                <a:latin typeface="Georgia"/>
                <a:cs typeface="Georgia"/>
              </a:rPr>
              <a:t>we</a:t>
            </a:r>
            <a:r>
              <a:rPr sz="3150" spc="35" dirty="0">
                <a:solidFill>
                  <a:srgbClr val="2E377E"/>
                </a:solidFill>
                <a:latin typeface="Georgia"/>
                <a:cs typeface="Georgia"/>
              </a:rPr>
              <a:t> </a:t>
            </a:r>
            <a:r>
              <a:rPr sz="3150" dirty="0">
                <a:solidFill>
                  <a:srgbClr val="2E377E"/>
                </a:solidFill>
                <a:latin typeface="Georgia"/>
                <a:cs typeface="Georgia"/>
              </a:rPr>
              <a:t>have</a:t>
            </a:r>
            <a:r>
              <a:rPr sz="3150" spc="40" dirty="0">
                <a:solidFill>
                  <a:srgbClr val="2E377E"/>
                </a:solidFill>
                <a:latin typeface="Georgia"/>
                <a:cs typeface="Georgia"/>
              </a:rPr>
              <a:t> </a:t>
            </a:r>
            <a:r>
              <a:rPr sz="3150" dirty="0">
                <a:solidFill>
                  <a:srgbClr val="2E377E"/>
                </a:solidFill>
                <a:latin typeface="Georgia"/>
                <a:cs typeface="Georgia"/>
              </a:rPr>
              <a:t>deleted</a:t>
            </a:r>
            <a:r>
              <a:rPr sz="3150" spc="40" dirty="0">
                <a:solidFill>
                  <a:srgbClr val="2E377E"/>
                </a:solidFill>
                <a:latin typeface="Georgia"/>
                <a:cs typeface="Georgia"/>
              </a:rPr>
              <a:t> </a:t>
            </a:r>
            <a:r>
              <a:rPr sz="3150" dirty="0">
                <a:solidFill>
                  <a:srgbClr val="2E377E"/>
                </a:solidFill>
                <a:latin typeface="Georgia"/>
                <a:cs typeface="Georgia"/>
              </a:rPr>
              <a:t>that</a:t>
            </a:r>
            <a:r>
              <a:rPr sz="3150" spc="40" dirty="0">
                <a:solidFill>
                  <a:srgbClr val="2E377E"/>
                </a:solidFill>
                <a:latin typeface="Georgia"/>
                <a:cs typeface="Georgia"/>
              </a:rPr>
              <a:t> </a:t>
            </a:r>
            <a:r>
              <a:rPr sz="3150" spc="-10" dirty="0">
                <a:solidFill>
                  <a:srgbClr val="2E377E"/>
                </a:solidFill>
                <a:latin typeface="Georgia"/>
                <a:cs typeface="Georgia"/>
              </a:rPr>
              <a:t>file.</a:t>
            </a:r>
            <a:endParaRPr sz="3150">
              <a:latin typeface="Georgia"/>
              <a:cs typeface="Georgia"/>
            </a:endParaRPr>
          </a:p>
          <a:p>
            <a:pPr>
              <a:lnSpc>
                <a:spcPct val="100000"/>
              </a:lnSpc>
              <a:spcBef>
                <a:spcPts val="770"/>
              </a:spcBef>
            </a:pPr>
            <a:endParaRPr sz="3150">
              <a:latin typeface="Georgia"/>
              <a:cs typeface="Georgia"/>
            </a:endParaRPr>
          </a:p>
          <a:p>
            <a:pPr marL="12700" marR="5080">
              <a:lnSpc>
                <a:spcPct val="115100"/>
              </a:lnSpc>
            </a:pPr>
            <a:r>
              <a:rPr sz="3150" dirty="0">
                <a:solidFill>
                  <a:srgbClr val="2E377E"/>
                </a:solidFill>
                <a:latin typeface="Georgia"/>
                <a:cs typeface="Georgia"/>
              </a:rPr>
              <a:t>After</a:t>
            </a:r>
            <a:r>
              <a:rPr sz="3150" spc="-20" dirty="0">
                <a:solidFill>
                  <a:srgbClr val="2E377E"/>
                </a:solidFill>
                <a:latin typeface="Georgia"/>
                <a:cs typeface="Georgia"/>
              </a:rPr>
              <a:t> </a:t>
            </a:r>
            <a:r>
              <a:rPr sz="3150" dirty="0">
                <a:solidFill>
                  <a:srgbClr val="2E377E"/>
                </a:solidFill>
                <a:latin typeface="Georgia"/>
                <a:cs typeface="Georgia"/>
              </a:rPr>
              <a:t>deleting</a:t>
            </a:r>
            <a:r>
              <a:rPr sz="3150" spc="-20" dirty="0">
                <a:solidFill>
                  <a:srgbClr val="2E377E"/>
                </a:solidFill>
                <a:latin typeface="Georgia"/>
                <a:cs typeface="Georgia"/>
              </a:rPr>
              <a:t> </a:t>
            </a:r>
            <a:r>
              <a:rPr sz="3150" dirty="0">
                <a:solidFill>
                  <a:srgbClr val="2E377E"/>
                </a:solidFill>
                <a:latin typeface="Georgia"/>
                <a:cs typeface="Georgia"/>
              </a:rPr>
              <a:t>the</a:t>
            </a:r>
            <a:r>
              <a:rPr sz="3150" spc="-15" dirty="0">
                <a:solidFill>
                  <a:srgbClr val="2E377E"/>
                </a:solidFill>
                <a:latin typeface="Georgia"/>
                <a:cs typeface="Georgia"/>
              </a:rPr>
              <a:t> </a:t>
            </a:r>
            <a:r>
              <a:rPr sz="3150" dirty="0">
                <a:solidFill>
                  <a:srgbClr val="2E377E"/>
                </a:solidFill>
                <a:latin typeface="Georgia"/>
                <a:cs typeface="Georgia"/>
              </a:rPr>
              <a:t>file,</a:t>
            </a:r>
            <a:r>
              <a:rPr sz="3150" spc="-20" dirty="0">
                <a:solidFill>
                  <a:srgbClr val="2E377E"/>
                </a:solidFill>
                <a:latin typeface="Georgia"/>
                <a:cs typeface="Georgia"/>
              </a:rPr>
              <a:t> </a:t>
            </a:r>
            <a:r>
              <a:rPr sz="3150" dirty="0">
                <a:solidFill>
                  <a:srgbClr val="2E377E"/>
                </a:solidFill>
                <a:latin typeface="Georgia"/>
                <a:cs typeface="Georgia"/>
              </a:rPr>
              <a:t>if</a:t>
            </a:r>
            <a:r>
              <a:rPr sz="3150" spc="-20" dirty="0">
                <a:solidFill>
                  <a:srgbClr val="2E377E"/>
                </a:solidFill>
                <a:latin typeface="Georgia"/>
                <a:cs typeface="Georgia"/>
              </a:rPr>
              <a:t> </a:t>
            </a:r>
            <a:r>
              <a:rPr sz="3150" spc="75" dirty="0">
                <a:solidFill>
                  <a:srgbClr val="2E377E"/>
                </a:solidFill>
                <a:latin typeface="Georgia"/>
                <a:cs typeface="Georgia"/>
              </a:rPr>
              <a:t>you</a:t>
            </a:r>
            <a:r>
              <a:rPr sz="3150" spc="-15" dirty="0">
                <a:solidFill>
                  <a:srgbClr val="2E377E"/>
                </a:solidFill>
                <a:latin typeface="Georgia"/>
                <a:cs typeface="Georgia"/>
              </a:rPr>
              <a:t> </a:t>
            </a:r>
            <a:r>
              <a:rPr sz="3150" dirty="0">
                <a:solidFill>
                  <a:srgbClr val="2E377E"/>
                </a:solidFill>
                <a:latin typeface="Georgia"/>
                <a:cs typeface="Georgia"/>
              </a:rPr>
              <a:t>run</a:t>
            </a:r>
            <a:r>
              <a:rPr sz="3150" spc="-20" dirty="0">
                <a:solidFill>
                  <a:srgbClr val="2E377E"/>
                </a:solidFill>
                <a:latin typeface="Georgia"/>
                <a:cs typeface="Georgia"/>
              </a:rPr>
              <a:t> </a:t>
            </a:r>
            <a:r>
              <a:rPr sz="3150" spc="170" dirty="0">
                <a:solidFill>
                  <a:srgbClr val="2E377E"/>
                </a:solidFill>
                <a:latin typeface="Times New Roman"/>
                <a:cs typeface="Times New Roman"/>
              </a:rPr>
              <a:t>kubectl</a:t>
            </a:r>
            <a:r>
              <a:rPr sz="3150" spc="-45" dirty="0">
                <a:solidFill>
                  <a:srgbClr val="2E377E"/>
                </a:solidFill>
                <a:latin typeface="Times New Roman"/>
                <a:cs typeface="Times New Roman"/>
              </a:rPr>
              <a:t> </a:t>
            </a:r>
            <a:r>
              <a:rPr sz="3150" spc="160" dirty="0">
                <a:solidFill>
                  <a:srgbClr val="2E377E"/>
                </a:solidFill>
                <a:latin typeface="Times New Roman"/>
                <a:cs typeface="Times New Roman"/>
              </a:rPr>
              <a:t>describe</a:t>
            </a:r>
            <a:r>
              <a:rPr sz="3150" spc="-40" dirty="0">
                <a:solidFill>
                  <a:srgbClr val="2E377E"/>
                </a:solidFill>
                <a:latin typeface="Times New Roman"/>
                <a:cs typeface="Times New Roman"/>
              </a:rPr>
              <a:t> </a:t>
            </a:r>
            <a:r>
              <a:rPr sz="3150" spc="204" dirty="0">
                <a:solidFill>
                  <a:srgbClr val="2E377E"/>
                </a:solidFill>
                <a:latin typeface="Times New Roman"/>
                <a:cs typeface="Times New Roman"/>
              </a:rPr>
              <a:t>pod</a:t>
            </a:r>
            <a:r>
              <a:rPr sz="3150" spc="-45" dirty="0">
                <a:solidFill>
                  <a:srgbClr val="2E377E"/>
                </a:solidFill>
                <a:latin typeface="Times New Roman"/>
                <a:cs typeface="Times New Roman"/>
              </a:rPr>
              <a:t> </a:t>
            </a:r>
            <a:r>
              <a:rPr sz="3150" spc="190" dirty="0">
                <a:solidFill>
                  <a:srgbClr val="2E377E"/>
                </a:solidFill>
                <a:latin typeface="Times New Roman"/>
                <a:cs typeface="Times New Roman"/>
              </a:rPr>
              <a:t>pod-</a:t>
            </a:r>
            <a:r>
              <a:rPr sz="3150" spc="240" dirty="0">
                <a:solidFill>
                  <a:srgbClr val="2E377E"/>
                </a:solidFill>
                <a:latin typeface="Times New Roman"/>
                <a:cs typeface="Times New Roman"/>
              </a:rPr>
              <a:t>name</a:t>
            </a:r>
            <a:r>
              <a:rPr sz="3150" spc="-45" dirty="0">
                <a:solidFill>
                  <a:srgbClr val="2E377E"/>
                </a:solidFill>
                <a:latin typeface="Times New Roman"/>
                <a:cs typeface="Times New Roman"/>
              </a:rPr>
              <a:t> </a:t>
            </a:r>
            <a:r>
              <a:rPr sz="3150" spc="75" dirty="0">
                <a:solidFill>
                  <a:srgbClr val="2E377E"/>
                </a:solidFill>
                <a:latin typeface="Georgia"/>
                <a:cs typeface="Georgia"/>
              </a:rPr>
              <a:t>you</a:t>
            </a:r>
            <a:r>
              <a:rPr sz="3150" spc="-15" dirty="0">
                <a:solidFill>
                  <a:srgbClr val="2E377E"/>
                </a:solidFill>
                <a:latin typeface="Georgia"/>
                <a:cs typeface="Georgia"/>
              </a:rPr>
              <a:t> </a:t>
            </a:r>
            <a:r>
              <a:rPr sz="3150" dirty="0">
                <a:solidFill>
                  <a:srgbClr val="2E377E"/>
                </a:solidFill>
                <a:latin typeface="Georgia"/>
                <a:cs typeface="Georgia"/>
              </a:rPr>
              <a:t>will</a:t>
            </a:r>
            <a:r>
              <a:rPr sz="3150" spc="-20" dirty="0">
                <a:solidFill>
                  <a:srgbClr val="2E377E"/>
                </a:solidFill>
                <a:latin typeface="Georgia"/>
                <a:cs typeface="Georgia"/>
              </a:rPr>
              <a:t> </a:t>
            </a:r>
            <a:r>
              <a:rPr sz="3150" dirty="0">
                <a:solidFill>
                  <a:srgbClr val="2E377E"/>
                </a:solidFill>
                <a:latin typeface="Georgia"/>
                <a:cs typeface="Georgia"/>
              </a:rPr>
              <a:t>see</a:t>
            </a:r>
            <a:r>
              <a:rPr sz="3150" spc="-20" dirty="0">
                <a:solidFill>
                  <a:srgbClr val="2E377E"/>
                </a:solidFill>
                <a:latin typeface="Georgia"/>
                <a:cs typeface="Georgia"/>
              </a:rPr>
              <a:t> </a:t>
            </a:r>
            <a:r>
              <a:rPr sz="3150" dirty="0">
                <a:solidFill>
                  <a:srgbClr val="2E377E"/>
                </a:solidFill>
                <a:latin typeface="Georgia"/>
                <a:cs typeface="Georgia"/>
              </a:rPr>
              <a:t>in</a:t>
            </a:r>
            <a:r>
              <a:rPr sz="3150" spc="-15" dirty="0">
                <a:solidFill>
                  <a:srgbClr val="2E377E"/>
                </a:solidFill>
                <a:latin typeface="Georgia"/>
                <a:cs typeface="Georgia"/>
              </a:rPr>
              <a:t> </a:t>
            </a:r>
            <a:r>
              <a:rPr sz="3150" dirty="0">
                <a:solidFill>
                  <a:srgbClr val="2E377E"/>
                </a:solidFill>
                <a:latin typeface="Georgia"/>
                <a:cs typeface="Georgia"/>
              </a:rPr>
              <a:t>the</a:t>
            </a:r>
            <a:r>
              <a:rPr sz="3150" spc="-20" dirty="0">
                <a:solidFill>
                  <a:srgbClr val="2E377E"/>
                </a:solidFill>
                <a:latin typeface="Georgia"/>
                <a:cs typeface="Georgia"/>
              </a:rPr>
              <a:t> </a:t>
            </a:r>
            <a:r>
              <a:rPr sz="3150" dirty="0">
                <a:solidFill>
                  <a:srgbClr val="2E377E"/>
                </a:solidFill>
                <a:latin typeface="Georgia"/>
                <a:cs typeface="Georgia"/>
              </a:rPr>
              <a:t>last</a:t>
            </a:r>
            <a:r>
              <a:rPr sz="3150" spc="-20" dirty="0">
                <a:solidFill>
                  <a:srgbClr val="2E377E"/>
                </a:solidFill>
                <a:latin typeface="Georgia"/>
                <a:cs typeface="Georgia"/>
              </a:rPr>
              <a:t> </a:t>
            </a:r>
            <a:r>
              <a:rPr sz="3150" spc="65" dirty="0">
                <a:solidFill>
                  <a:srgbClr val="2E377E"/>
                </a:solidFill>
                <a:latin typeface="Georgia"/>
                <a:cs typeface="Georgia"/>
              </a:rPr>
              <a:t>two </a:t>
            </a:r>
            <a:r>
              <a:rPr sz="3150" dirty="0">
                <a:solidFill>
                  <a:srgbClr val="2E377E"/>
                </a:solidFill>
                <a:latin typeface="Georgia"/>
                <a:cs typeface="Georgia"/>
              </a:rPr>
              <a:t>lines</a:t>
            </a:r>
            <a:r>
              <a:rPr sz="3150" spc="15" dirty="0">
                <a:solidFill>
                  <a:srgbClr val="2E377E"/>
                </a:solidFill>
                <a:latin typeface="Georgia"/>
                <a:cs typeface="Georgia"/>
              </a:rPr>
              <a:t> </a:t>
            </a:r>
            <a:r>
              <a:rPr sz="3150" dirty="0">
                <a:solidFill>
                  <a:srgbClr val="2E377E"/>
                </a:solidFill>
                <a:latin typeface="Georgia"/>
                <a:cs typeface="Georgia"/>
              </a:rPr>
              <a:t>that</a:t>
            </a:r>
            <a:r>
              <a:rPr sz="3150" spc="25" dirty="0">
                <a:solidFill>
                  <a:srgbClr val="2E377E"/>
                </a:solidFill>
                <a:latin typeface="Georgia"/>
                <a:cs typeface="Georgia"/>
              </a:rPr>
              <a:t> </a:t>
            </a:r>
            <a:r>
              <a:rPr sz="3150" dirty="0">
                <a:solidFill>
                  <a:srgbClr val="2E377E"/>
                </a:solidFill>
                <a:latin typeface="Georgia"/>
                <a:cs typeface="Georgia"/>
              </a:rPr>
              <a:t>the</a:t>
            </a:r>
            <a:r>
              <a:rPr sz="3150" spc="25" dirty="0">
                <a:solidFill>
                  <a:srgbClr val="2E377E"/>
                </a:solidFill>
                <a:latin typeface="Georgia"/>
                <a:cs typeface="Georgia"/>
              </a:rPr>
              <a:t> </a:t>
            </a:r>
            <a:r>
              <a:rPr sz="3150" dirty="0">
                <a:solidFill>
                  <a:srgbClr val="2E377E"/>
                </a:solidFill>
                <a:latin typeface="Georgia"/>
                <a:cs typeface="Georgia"/>
              </a:rPr>
              <a:t>container</a:t>
            </a:r>
            <a:r>
              <a:rPr sz="3150" spc="30" dirty="0">
                <a:solidFill>
                  <a:srgbClr val="2E377E"/>
                </a:solidFill>
                <a:latin typeface="Georgia"/>
                <a:cs typeface="Georgia"/>
              </a:rPr>
              <a:t> </a:t>
            </a:r>
            <a:r>
              <a:rPr sz="3150" dirty="0">
                <a:solidFill>
                  <a:srgbClr val="2E377E"/>
                </a:solidFill>
                <a:latin typeface="Georgia"/>
                <a:cs typeface="Georgia"/>
              </a:rPr>
              <a:t>is</a:t>
            </a:r>
            <a:r>
              <a:rPr sz="3150" spc="25" dirty="0">
                <a:solidFill>
                  <a:srgbClr val="2E377E"/>
                </a:solidFill>
                <a:latin typeface="Georgia"/>
                <a:cs typeface="Georgia"/>
              </a:rPr>
              <a:t> </a:t>
            </a:r>
            <a:r>
              <a:rPr sz="3150" dirty="0">
                <a:solidFill>
                  <a:srgbClr val="2E377E"/>
                </a:solidFill>
                <a:latin typeface="Georgia"/>
                <a:cs typeface="Georgia"/>
              </a:rPr>
              <a:t>failing</a:t>
            </a:r>
            <a:r>
              <a:rPr sz="3150" spc="25" dirty="0">
                <a:solidFill>
                  <a:srgbClr val="2E377E"/>
                </a:solidFill>
                <a:latin typeface="Georgia"/>
                <a:cs typeface="Georgia"/>
              </a:rPr>
              <a:t> </a:t>
            </a:r>
            <a:r>
              <a:rPr sz="3150" dirty="0">
                <a:solidFill>
                  <a:srgbClr val="2E377E"/>
                </a:solidFill>
                <a:latin typeface="Georgia"/>
                <a:cs typeface="Georgia"/>
              </a:rPr>
              <a:t>because</a:t>
            </a:r>
            <a:r>
              <a:rPr sz="3150" spc="25" dirty="0">
                <a:solidFill>
                  <a:srgbClr val="2E377E"/>
                </a:solidFill>
                <a:latin typeface="Georgia"/>
                <a:cs typeface="Georgia"/>
              </a:rPr>
              <a:t> </a:t>
            </a:r>
            <a:r>
              <a:rPr sz="3150" dirty="0">
                <a:solidFill>
                  <a:srgbClr val="2E377E"/>
                </a:solidFill>
                <a:latin typeface="Georgia"/>
                <a:cs typeface="Georgia"/>
              </a:rPr>
              <a:t>the</a:t>
            </a:r>
            <a:r>
              <a:rPr sz="3150" spc="25" dirty="0">
                <a:solidFill>
                  <a:srgbClr val="2E377E"/>
                </a:solidFill>
                <a:latin typeface="Georgia"/>
                <a:cs typeface="Georgia"/>
              </a:rPr>
              <a:t> </a:t>
            </a:r>
            <a:r>
              <a:rPr sz="3150" dirty="0">
                <a:solidFill>
                  <a:srgbClr val="2E377E"/>
                </a:solidFill>
                <a:latin typeface="Georgia"/>
                <a:cs typeface="Georgia"/>
              </a:rPr>
              <a:t>condition</a:t>
            </a:r>
            <a:r>
              <a:rPr sz="3150" spc="25" dirty="0">
                <a:solidFill>
                  <a:srgbClr val="2E377E"/>
                </a:solidFill>
                <a:latin typeface="Georgia"/>
                <a:cs typeface="Georgia"/>
              </a:rPr>
              <a:t> </a:t>
            </a:r>
            <a:r>
              <a:rPr sz="3150" dirty="0">
                <a:solidFill>
                  <a:srgbClr val="2E377E"/>
                </a:solidFill>
                <a:latin typeface="Georgia"/>
                <a:cs typeface="Georgia"/>
              </a:rPr>
              <a:t>is</a:t>
            </a:r>
            <a:r>
              <a:rPr sz="3150" spc="30" dirty="0">
                <a:solidFill>
                  <a:srgbClr val="2E377E"/>
                </a:solidFill>
                <a:latin typeface="Georgia"/>
                <a:cs typeface="Georgia"/>
              </a:rPr>
              <a:t> </a:t>
            </a:r>
            <a:r>
              <a:rPr sz="3150" dirty="0">
                <a:solidFill>
                  <a:srgbClr val="2E377E"/>
                </a:solidFill>
                <a:latin typeface="Georgia"/>
                <a:cs typeface="Georgia"/>
              </a:rPr>
              <a:t>not</a:t>
            </a:r>
            <a:r>
              <a:rPr sz="3150" spc="25" dirty="0">
                <a:solidFill>
                  <a:srgbClr val="2E377E"/>
                </a:solidFill>
                <a:latin typeface="Georgia"/>
                <a:cs typeface="Georgia"/>
              </a:rPr>
              <a:t> </a:t>
            </a:r>
            <a:r>
              <a:rPr sz="3150" spc="-10" dirty="0">
                <a:solidFill>
                  <a:srgbClr val="2E377E"/>
                </a:solidFill>
                <a:latin typeface="Georgia"/>
                <a:cs typeface="Georgia"/>
              </a:rPr>
              <a:t>meeting.</a:t>
            </a:r>
            <a:endParaRPr sz="3150">
              <a:latin typeface="Georgia"/>
              <a:cs typeface="Georgia"/>
            </a:endParaRPr>
          </a:p>
        </p:txBody>
      </p:sp>
      <p:pic>
        <p:nvPicPr>
          <p:cNvPr id="4" name="object 4"/>
          <p:cNvPicPr/>
          <p:nvPr/>
        </p:nvPicPr>
        <p:blipFill>
          <a:blip r:embed="rId2" cstate="print"/>
          <a:stretch>
            <a:fillRect/>
          </a:stretch>
        </p:blipFill>
        <p:spPr>
          <a:xfrm>
            <a:off x="1032871" y="2600530"/>
            <a:ext cx="123825" cy="123824"/>
          </a:xfrm>
          <a:prstGeom prst="rect">
            <a:avLst/>
          </a:prstGeom>
        </p:spPr>
      </p:pic>
      <p:pic>
        <p:nvPicPr>
          <p:cNvPr id="5" name="object 5"/>
          <p:cNvPicPr/>
          <p:nvPr/>
        </p:nvPicPr>
        <p:blipFill>
          <a:blip r:embed="rId2" cstate="print"/>
          <a:stretch>
            <a:fillRect/>
          </a:stretch>
        </p:blipFill>
        <p:spPr>
          <a:xfrm>
            <a:off x="1032871" y="3705430"/>
            <a:ext cx="123825" cy="123824"/>
          </a:xfrm>
          <a:prstGeom prst="rect">
            <a:avLst/>
          </a:prstGeom>
        </p:spPr>
      </p:pic>
      <p:pic>
        <p:nvPicPr>
          <p:cNvPr id="6" name="object 6"/>
          <p:cNvPicPr/>
          <p:nvPr/>
        </p:nvPicPr>
        <p:blipFill>
          <a:blip r:embed="rId2" cstate="print"/>
          <a:stretch>
            <a:fillRect/>
          </a:stretch>
        </p:blipFill>
        <p:spPr>
          <a:xfrm>
            <a:off x="1032871" y="4810330"/>
            <a:ext cx="123825" cy="123824"/>
          </a:xfrm>
          <a:prstGeom prst="rect">
            <a:avLst/>
          </a:prstGeom>
        </p:spPr>
      </p:pic>
      <p:pic>
        <p:nvPicPr>
          <p:cNvPr id="7" name="object 7"/>
          <p:cNvPicPr/>
          <p:nvPr/>
        </p:nvPicPr>
        <p:blipFill>
          <a:blip r:embed="rId2" cstate="print"/>
          <a:stretch>
            <a:fillRect/>
          </a:stretch>
        </p:blipFill>
        <p:spPr>
          <a:xfrm>
            <a:off x="1032871" y="6467680"/>
            <a:ext cx="123825" cy="123824"/>
          </a:xfrm>
          <a:prstGeom prst="rect">
            <a:avLst/>
          </a:prstGeom>
        </p:spPr>
      </p:pic>
      <p:pic>
        <p:nvPicPr>
          <p:cNvPr id="8" name="object 8"/>
          <p:cNvPicPr/>
          <p:nvPr/>
        </p:nvPicPr>
        <p:blipFill>
          <a:blip r:embed="rId2" cstate="print"/>
          <a:stretch>
            <a:fillRect/>
          </a:stretch>
        </p:blipFill>
        <p:spPr>
          <a:xfrm>
            <a:off x="1032871" y="8125029"/>
            <a:ext cx="123825" cy="123824"/>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84453" y="2294654"/>
            <a:ext cx="3544765" cy="4498671"/>
          </a:xfrm>
          <a:prstGeom prst="rect">
            <a:avLst/>
          </a:prstGeom>
        </p:spPr>
      </p:pic>
      <p:pic>
        <p:nvPicPr>
          <p:cNvPr id="3" name="object 3"/>
          <p:cNvPicPr/>
          <p:nvPr/>
        </p:nvPicPr>
        <p:blipFill>
          <a:blip r:embed="rId3" cstate="print"/>
          <a:stretch>
            <a:fillRect/>
          </a:stretch>
        </p:blipFill>
        <p:spPr>
          <a:xfrm>
            <a:off x="7914204" y="2277308"/>
            <a:ext cx="2492374" cy="4914960"/>
          </a:xfrm>
          <a:prstGeom prst="rect">
            <a:avLst/>
          </a:prstGeom>
        </p:spPr>
      </p:pic>
      <p:grpSp>
        <p:nvGrpSpPr>
          <p:cNvPr id="4" name="object 4"/>
          <p:cNvGrpSpPr/>
          <p:nvPr/>
        </p:nvGrpSpPr>
        <p:grpSpPr>
          <a:xfrm>
            <a:off x="11979523" y="1765179"/>
            <a:ext cx="5276850" cy="6010275"/>
            <a:chOff x="11979523" y="1765179"/>
            <a:chExt cx="5276850" cy="6010275"/>
          </a:xfrm>
        </p:grpSpPr>
        <p:pic>
          <p:nvPicPr>
            <p:cNvPr id="5" name="object 5"/>
            <p:cNvPicPr/>
            <p:nvPr/>
          </p:nvPicPr>
          <p:blipFill>
            <a:blip r:embed="rId4" cstate="print"/>
            <a:stretch>
              <a:fillRect/>
            </a:stretch>
          </p:blipFill>
          <p:spPr>
            <a:xfrm>
              <a:off x="13463959" y="1765179"/>
              <a:ext cx="2589290" cy="6010061"/>
            </a:xfrm>
            <a:prstGeom prst="rect">
              <a:avLst/>
            </a:prstGeom>
          </p:spPr>
        </p:pic>
        <p:pic>
          <p:nvPicPr>
            <p:cNvPr id="6" name="object 6"/>
            <p:cNvPicPr/>
            <p:nvPr/>
          </p:nvPicPr>
          <p:blipFill>
            <a:blip r:embed="rId5" cstate="print"/>
            <a:stretch>
              <a:fillRect/>
            </a:stretch>
          </p:blipFill>
          <p:spPr>
            <a:xfrm>
              <a:off x="11979523" y="3002234"/>
              <a:ext cx="5276849" cy="3943349"/>
            </a:xfrm>
            <a:prstGeom prst="rect">
              <a:avLst/>
            </a:prstGeom>
          </p:spPr>
        </p:pic>
      </p:grpSp>
      <p:sp>
        <p:nvSpPr>
          <p:cNvPr id="7" name="object 7"/>
          <p:cNvSpPr txBox="1">
            <a:spLocks noGrp="1"/>
          </p:cNvSpPr>
          <p:nvPr>
            <p:ph type="title"/>
          </p:nvPr>
        </p:nvSpPr>
        <p:spPr>
          <a:xfrm>
            <a:off x="516316" y="340446"/>
            <a:ext cx="10008870" cy="787400"/>
          </a:xfrm>
          <a:prstGeom prst="rect">
            <a:avLst/>
          </a:prstGeom>
        </p:spPr>
        <p:txBody>
          <a:bodyPr vert="horz" wrap="square" lIns="0" tIns="12700" rIns="0" bIns="0" rtlCol="0">
            <a:spAutoFit/>
          </a:bodyPr>
          <a:lstStyle/>
          <a:p>
            <a:pPr marL="12700">
              <a:lnSpc>
                <a:spcPct val="100000"/>
              </a:lnSpc>
              <a:spcBef>
                <a:spcPts val="100"/>
              </a:spcBef>
            </a:pPr>
            <a:r>
              <a:rPr spc="-290" dirty="0">
                <a:solidFill>
                  <a:srgbClr val="FF3131"/>
                </a:solidFill>
              </a:rPr>
              <a:t>RBAC</a:t>
            </a:r>
            <a:r>
              <a:rPr dirty="0">
                <a:solidFill>
                  <a:srgbClr val="FF3131"/>
                </a:solidFill>
              </a:rPr>
              <a:t> (Role</a:t>
            </a:r>
            <a:r>
              <a:rPr spc="5" dirty="0">
                <a:solidFill>
                  <a:srgbClr val="FF3131"/>
                </a:solidFill>
              </a:rPr>
              <a:t> </a:t>
            </a:r>
            <a:r>
              <a:rPr spc="114" dirty="0">
                <a:solidFill>
                  <a:srgbClr val="FF3131"/>
                </a:solidFill>
              </a:rPr>
              <a:t>Based</a:t>
            </a:r>
            <a:r>
              <a:rPr dirty="0">
                <a:solidFill>
                  <a:srgbClr val="FF3131"/>
                </a:solidFill>
              </a:rPr>
              <a:t> </a:t>
            </a:r>
            <a:r>
              <a:rPr spc="160" dirty="0">
                <a:solidFill>
                  <a:srgbClr val="FF3131"/>
                </a:solidFill>
              </a:rPr>
              <a:t>Access</a:t>
            </a:r>
            <a:r>
              <a:rPr spc="5" dirty="0">
                <a:solidFill>
                  <a:srgbClr val="FF3131"/>
                </a:solidFill>
              </a:rPr>
              <a:t> </a:t>
            </a:r>
            <a:r>
              <a:rPr spc="-10" dirty="0">
                <a:solidFill>
                  <a:srgbClr val="FF3131"/>
                </a:solidFill>
              </a:rPr>
              <a:t>Control):</a:t>
            </a:r>
          </a:p>
        </p:txBody>
      </p:sp>
      <p:sp>
        <p:nvSpPr>
          <p:cNvPr id="8" name="object 8"/>
          <p:cNvSpPr txBox="1"/>
          <p:nvPr/>
        </p:nvSpPr>
        <p:spPr>
          <a:xfrm>
            <a:off x="614836" y="7059067"/>
            <a:ext cx="4457065" cy="130175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I</a:t>
            </a:r>
            <a:r>
              <a:rPr sz="3600" spc="-130" dirty="0">
                <a:solidFill>
                  <a:srgbClr val="2E377E"/>
                </a:solidFill>
                <a:latin typeface="Georgia"/>
                <a:cs typeface="Georgia"/>
              </a:rPr>
              <a:t> </a:t>
            </a:r>
            <a:r>
              <a:rPr sz="3600" dirty="0">
                <a:solidFill>
                  <a:srgbClr val="2E377E"/>
                </a:solidFill>
                <a:latin typeface="Georgia"/>
                <a:cs typeface="Georgia"/>
              </a:rPr>
              <a:t>am</a:t>
            </a:r>
            <a:r>
              <a:rPr sz="3600" spc="-130" dirty="0">
                <a:solidFill>
                  <a:srgbClr val="2E377E"/>
                </a:solidFill>
                <a:latin typeface="Georgia"/>
                <a:cs typeface="Georgia"/>
              </a:rPr>
              <a:t> </a:t>
            </a:r>
            <a:r>
              <a:rPr sz="3600" dirty="0">
                <a:solidFill>
                  <a:srgbClr val="2E377E"/>
                </a:solidFill>
                <a:latin typeface="Georgia"/>
                <a:cs typeface="Georgia"/>
              </a:rPr>
              <a:t>a</a:t>
            </a:r>
            <a:r>
              <a:rPr sz="3600" spc="-130" dirty="0">
                <a:solidFill>
                  <a:srgbClr val="2E377E"/>
                </a:solidFill>
                <a:latin typeface="Georgia"/>
                <a:cs typeface="Georgia"/>
              </a:rPr>
              <a:t> </a:t>
            </a:r>
            <a:r>
              <a:rPr sz="3600" spc="-10" dirty="0">
                <a:solidFill>
                  <a:srgbClr val="2E377E"/>
                </a:solidFill>
                <a:latin typeface="Georgia"/>
                <a:cs typeface="Georgia"/>
              </a:rPr>
              <a:t>Developer</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I</a:t>
            </a:r>
            <a:r>
              <a:rPr sz="3600" spc="-75" dirty="0">
                <a:solidFill>
                  <a:srgbClr val="2E377E"/>
                </a:solidFill>
                <a:latin typeface="Georgia"/>
                <a:cs typeface="Georgia"/>
              </a:rPr>
              <a:t> </a:t>
            </a:r>
            <a:r>
              <a:rPr sz="3600" spc="70" dirty="0">
                <a:solidFill>
                  <a:srgbClr val="2E377E"/>
                </a:solidFill>
                <a:latin typeface="Georgia"/>
                <a:cs typeface="Georgia"/>
              </a:rPr>
              <a:t>want</a:t>
            </a:r>
            <a:r>
              <a:rPr sz="3600" spc="-75" dirty="0">
                <a:solidFill>
                  <a:srgbClr val="2E377E"/>
                </a:solidFill>
                <a:latin typeface="Georgia"/>
                <a:cs typeface="Georgia"/>
              </a:rPr>
              <a:t> </a:t>
            </a:r>
            <a:r>
              <a:rPr sz="3600" spc="60" dirty="0">
                <a:solidFill>
                  <a:srgbClr val="2E377E"/>
                </a:solidFill>
                <a:latin typeface="Georgia"/>
                <a:cs typeface="Georgia"/>
              </a:rPr>
              <a:t>to</a:t>
            </a:r>
            <a:r>
              <a:rPr sz="3600" spc="-75" dirty="0">
                <a:solidFill>
                  <a:srgbClr val="2E377E"/>
                </a:solidFill>
                <a:latin typeface="Georgia"/>
                <a:cs typeface="Georgia"/>
              </a:rPr>
              <a:t> </a:t>
            </a:r>
            <a:r>
              <a:rPr sz="3600" dirty="0">
                <a:solidFill>
                  <a:srgbClr val="2E377E"/>
                </a:solidFill>
                <a:latin typeface="Georgia"/>
                <a:cs typeface="Georgia"/>
              </a:rPr>
              <a:t>see</a:t>
            </a:r>
            <a:r>
              <a:rPr sz="3600" spc="-75" dirty="0">
                <a:solidFill>
                  <a:srgbClr val="2E377E"/>
                </a:solidFill>
                <a:latin typeface="Georgia"/>
                <a:cs typeface="Georgia"/>
              </a:rPr>
              <a:t> </a:t>
            </a:r>
            <a:r>
              <a:rPr sz="3600" spc="50" dirty="0">
                <a:solidFill>
                  <a:srgbClr val="2E377E"/>
                </a:solidFill>
                <a:latin typeface="Georgia"/>
                <a:cs typeface="Georgia"/>
              </a:rPr>
              <a:t>the</a:t>
            </a:r>
            <a:r>
              <a:rPr sz="3600" spc="-75" dirty="0">
                <a:solidFill>
                  <a:srgbClr val="2E377E"/>
                </a:solidFill>
                <a:latin typeface="Georgia"/>
                <a:cs typeface="Georgia"/>
              </a:rPr>
              <a:t> </a:t>
            </a:r>
            <a:r>
              <a:rPr sz="3600" spc="-20" dirty="0">
                <a:solidFill>
                  <a:srgbClr val="2E377E"/>
                </a:solidFill>
                <a:latin typeface="Georgia"/>
                <a:cs typeface="Georgia"/>
              </a:rPr>
              <a:t>pods</a:t>
            </a:r>
            <a:endParaRPr sz="3600">
              <a:latin typeface="Georgia"/>
              <a:cs typeface="Georgia"/>
            </a:endParaRPr>
          </a:p>
        </p:txBody>
      </p:sp>
      <p:sp>
        <p:nvSpPr>
          <p:cNvPr id="9" name="object 9"/>
          <p:cNvSpPr txBox="1"/>
          <p:nvPr/>
        </p:nvSpPr>
        <p:spPr>
          <a:xfrm>
            <a:off x="6880473" y="7415574"/>
            <a:ext cx="5048885" cy="130175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I</a:t>
            </a:r>
            <a:r>
              <a:rPr sz="3600" spc="-130" dirty="0">
                <a:solidFill>
                  <a:srgbClr val="2E377E"/>
                </a:solidFill>
                <a:latin typeface="Georgia"/>
                <a:cs typeface="Georgia"/>
              </a:rPr>
              <a:t> </a:t>
            </a:r>
            <a:r>
              <a:rPr sz="3600" dirty="0">
                <a:solidFill>
                  <a:srgbClr val="2E377E"/>
                </a:solidFill>
                <a:latin typeface="Georgia"/>
                <a:cs typeface="Georgia"/>
              </a:rPr>
              <a:t>am</a:t>
            </a:r>
            <a:r>
              <a:rPr sz="3600" spc="-130" dirty="0">
                <a:solidFill>
                  <a:srgbClr val="2E377E"/>
                </a:solidFill>
                <a:latin typeface="Georgia"/>
                <a:cs typeface="Georgia"/>
              </a:rPr>
              <a:t> </a:t>
            </a:r>
            <a:r>
              <a:rPr sz="3600" dirty="0">
                <a:solidFill>
                  <a:srgbClr val="2E377E"/>
                </a:solidFill>
                <a:latin typeface="Georgia"/>
                <a:cs typeface="Georgia"/>
              </a:rPr>
              <a:t>a</a:t>
            </a:r>
            <a:r>
              <a:rPr sz="3600" spc="-130" dirty="0">
                <a:solidFill>
                  <a:srgbClr val="2E377E"/>
                </a:solidFill>
                <a:latin typeface="Georgia"/>
                <a:cs typeface="Georgia"/>
              </a:rPr>
              <a:t> </a:t>
            </a:r>
            <a:r>
              <a:rPr sz="3600" spc="-10" dirty="0">
                <a:solidFill>
                  <a:srgbClr val="2E377E"/>
                </a:solidFill>
                <a:latin typeface="Georgia"/>
                <a:cs typeface="Georgia"/>
              </a:rPr>
              <a:t>Developer</a:t>
            </a:r>
            <a:endParaRPr sz="3600">
              <a:latin typeface="Georgia"/>
              <a:cs typeface="Georgia"/>
            </a:endParaRPr>
          </a:p>
          <a:p>
            <a:pPr marL="12700">
              <a:lnSpc>
                <a:spcPct val="100000"/>
              </a:lnSpc>
              <a:spcBef>
                <a:spcPts val="705"/>
              </a:spcBef>
            </a:pPr>
            <a:r>
              <a:rPr sz="3600" dirty="0">
                <a:solidFill>
                  <a:srgbClr val="2E377E"/>
                </a:solidFill>
                <a:latin typeface="Georgia"/>
                <a:cs typeface="Georgia"/>
              </a:rPr>
              <a:t>I</a:t>
            </a:r>
            <a:r>
              <a:rPr sz="3600" spc="-50" dirty="0">
                <a:solidFill>
                  <a:srgbClr val="2E377E"/>
                </a:solidFill>
                <a:latin typeface="Georgia"/>
                <a:cs typeface="Georgia"/>
              </a:rPr>
              <a:t> </a:t>
            </a:r>
            <a:r>
              <a:rPr sz="3600" spc="70" dirty="0">
                <a:solidFill>
                  <a:srgbClr val="2E377E"/>
                </a:solidFill>
                <a:latin typeface="Georgia"/>
                <a:cs typeface="Georgia"/>
              </a:rPr>
              <a:t>want</a:t>
            </a:r>
            <a:r>
              <a:rPr sz="3600" spc="-45" dirty="0">
                <a:solidFill>
                  <a:srgbClr val="2E377E"/>
                </a:solidFill>
                <a:latin typeface="Georgia"/>
                <a:cs typeface="Georgia"/>
              </a:rPr>
              <a:t> </a:t>
            </a:r>
            <a:r>
              <a:rPr sz="3600" spc="60" dirty="0">
                <a:solidFill>
                  <a:srgbClr val="2E377E"/>
                </a:solidFill>
                <a:latin typeface="Georgia"/>
                <a:cs typeface="Georgia"/>
              </a:rPr>
              <a:t>to</a:t>
            </a:r>
            <a:r>
              <a:rPr sz="3600" spc="-50" dirty="0">
                <a:solidFill>
                  <a:srgbClr val="2E377E"/>
                </a:solidFill>
                <a:latin typeface="Georgia"/>
                <a:cs typeface="Georgia"/>
              </a:rPr>
              <a:t> </a:t>
            </a:r>
            <a:r>
              <a:rPr sz="3600" dirty="0">
                <a:solidFill>
                  <a:srgbClr val="2E377E"/>
                </a:solidFill>
                <a:latin typeface="Georgia"/>
                <a:cs typeface="Georgia"/>
              </a:rPr>
              <a:t>delete</a:t>
            </a:r>
            <a:r>
              <a:rPr sz="3600" spc="-45" dirty="0">
                <a:solidFill>
                  <a:srgbClr val="2E377E"/>
                </a:solidFill>
                <a:latin typeface="Georgia"/>
                <a:cs typeface="Georgia"/>
              </a:rPr>
              <a:t> </a:t>
            </a:r>
            <a:r>
              <a:rPr sz="3600" spc="50" dirty="0">
                <a:solidFill>
                  <a:srgbClr val="2E377E"/>
                </a:solidFill>
                <a:latin typeface="Georgia"/>
                <a:cs typeface="Georgia"/>
              </a:rPr>
              <a:t>the</a:t>
            </a:r>
            <a:r>
              <a:rPr sz="3600" spc="-45" dirty="0">
                <a:solidFill>
                  <a:srgbClr val="2E377E"/>
                </a:solidFill>
                <a:latin typeface="Georgia"/>
                <a:cs typeface="Georgia"/>
              </a:rPr>
              <a:t> </a:t>
            </a:r>
            <a:r>
              <a:rPr sz="3600" spc="-20" dirty="0">
                <a:solidFill>
                  <a:srgbClr val="2E377E"/>
                </a:solidFill>
                <a:latin typeface="Georgia"/>
                <a:cs typeface="Georgia"/>
              </a:rPr>
              <a:t>pods</a:t>
            </a:r>
            <a:endParaRPr sz="3600">
              <a:latin typeface="Georgia"/>
              <a:cs typeface="Georgia"/>
            </a:endParaRPr>
          </a:p>
        </p:txBody>
      </p:sp>
      <p:sp>
        <p:nvSpPr>
          <p:cNvPr id="10" name="object 10"/>
          <p:cNvSpPr txBox="1"/>
          <p:nvPr/>
        </p:nvSpPr>
        <p:spPr>
          <a:xfrm>
            <a:off x="12717029" y="8008943"/>
            <a:ext cx="4672330" cy="1939925"/>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I</a:t>
            </a:r>
            <a:r>
              <a:rPr sz="3600" spc="-100" dirty="0">
                <a:solidFill>
                  <a:srgbClr val="2E377E"/>
                </a:solidFill>
                <a:latin typeface="Georgia"/>
                <a:cs typeface="Georgia"/>
              </a:rPr>
              <a:t> </a:t>
            </a:r>
            <a:r>
              <a:rPr sz="3600" dirty="0">
                <a:solidFill>
                  <a:srgbClr val="2E377E"/>
                </a:solidFill>
                <a:latin typeface="Georgia"/>
                <a:cs typeface="Georgia"/>
              </a:rPr>
              <a:t>am</a:t>
            </a:r>
            <a:r>
              <a:rPr sz="3600" spc="-95" dirty="0">
                <a:solidFill>
                  <a:srgbClr val="2E377E"/>
                </a:solidFill>
                <a:latin typeface="Georgia"/>
                <a:cs typeface="Georgia"/>
              </a:rPr>
              <a:t> </a:t>
            </a:r>
            <a:r>
              <a:rPr sz="3600" dirty="0">
                <a:solidFill>
                  <a:srgbClr val="2E377E"/>
                </a:solidFill>
                <a:latin typeface="Georgia"/>
                <a:cs typeface="Georgia"/>
              </a:rPr>
              <a:t>a</a:t>
            </a:r>
            <a:r>
              <a:rPr sz="3600" spc="-100" dirty="0">
                <a:solidFill>
                  <a:srgbClr val="2E377E"/>
                </a:solidFill>
                <a:latin typeface="Georgia"/>
                <a:cs typeface="Georgia"/>
              </a:rPr>
              <a:t> </a:t>
            </a:r>
            <a:r>
              <a:rPr sz="3600" dirty="0">
                <a:solidFill>
                  <a:srgbClr val="2E377E"/>
                </a:solidFill>
                <a:latin typeface="Georgia"/>
                <a:cs typeface="Georgia"/>
              </a:rPr>
              <a:t>DevOps</a:t>
            </a:r>
            <a:r>
              <a:rPr sz="3600" spc="-95" dirty="0">
                <a:solidFill>
                  <a:srgbClr val="2E377E"/>
                </a:solidFill>
                <a:latin typeface="Georgia"/>
                <a:cs typeface="Georgia"/>
              </a:rPr>
              <a:t> </a:t>
            </a:r>
            <a:r>
              <a:rPr sz="3600" spc="-25" dirty="0">
                <a:solidFill>
                  <a:srgbClr val="2E377E"/>
                </a:solidFill>
                <a:latin typeface="Georgia"/>
                <a:cs typeface="Georgia"/>
              </a:rPr>
              <a:t>Guy</a:t>
            </a:r>
            <a:endParaRPr sz="3600">
              <a:latin typeface="Georgia"/>
              <a:cs typeface="Georgia"/>
            </a:endParaRPr>
          </a:p>
          <a:p>
            <a:pPr marL="12700" marR="5080">
              <a:lnSpc>
                <a:spcPct val="116300"/>
              </a:lnSpc>
            </a:pPr>
            <a:r>
              <a:rPr sz="3600" dirty="0">
                <a:solidFill>
                  <a:srgbClr val="2E377E"/>
                </a:solidFill>
                <a:latin typeface="Georgia"/>
                <a:cs typeface="Georgia"/>
              </a:rPr>
              <a:t>I</a:t>
            </a:r>
            <a:r>
              <a:rPr sz="3600" spc="-75" dirty="0">
                <a:solidFill>
                  <a:srgbClr val="2E377E"/>
                </a:solidFill>
                <a:latin typeface="Georgia"/>
                <a:cs typeface="Georgia"/>
              </a:rPr>
              <a:t> </a:t>
            </a:r>
            <a:r>
              <a:rPr sz="3600" spc="70" dirty="0">
                <a:solidFill>
                  <a:srgbClr val="2E377E"/>
                </a:solidFill>
                <a:latin typeface="Georgia"/>
                <a:cs typeface="Georgia"/>
              </a:rPr>
              <a:t>want</a:t>
            </a:r>
            <a:r>
              <a:rPr sz="3600" spc="-75" dirty="0">
                <a:solidFill>
                  <a:srgbClr val="2E377E"/>
                </a:solidFill>
                <a:latin typeface="Georgia"/>
                <a:cs typeface="Georgia"/>
              </a:rPr>
              <a:t> </a:t>
            </a:r>
            <a:r>
              <a:rPr sz="3600" spc="60" dirty="0">
                <a:solidFill>
                  <a:srgbClr val="2E377E"/>
                </a:solidFill>
                <a:latin typeface="Georgia"/>
                <a:cs typeface="Georgia"/>
              </a:rPr>
              <a:t>to</a:t>
            </a:r>
            <a:r>
              <a:rPr sz="3600" spc="-75" dirty="0">
                <a:solidFill>
                  <a:srgbClr val="2E377E"/>
                </a:solidFill>
                <a:latin typeface="Georgia"/>
                <a:cs typeface="Georgia"/>
              </a:rPr>
              <a:t> </a:t>
            </a:r>
            <a:r>
              <a:rPr sz="3600" dirty="0">
                <a:solidFill>
                  <a:srgbClr val="2E377E"/>
                </a:solidFill>
                <a:latin typeface="Georgia"/>
                <a:cs typeface="Georgia"/>
              </a:rPr>
              <a:t>create,</a:t>
            </a:r>
            <a:r>
              <a:rPr sz="3600" spc="-75" dirty="0">
                <a:solidFill>
                  <a:srgbClr val="2E377E"/>
                </a:solidFill>
                <a:latin typeface="Georgia"/>
                <a:cs typeface="Georgia"/>
              </a:rPr>
              <a:t> </a:t>
            </a:r>
            <a:r>
              <a:rPr sz="3600" spc="-10" dirty="0">
                <a:solidFill>
                  <a:srgbClr val="2E377E"/>
                </a:solidFill>
                <a:latin typeface="Georgia"/>
                <a:cs typeface="Georgia"/>
              </a:rPr>
              <a:t>delete </a:t>
            </a:r>
            <a:r>
              <a:rPr sz="3600" spc="50" dirty="0">
                <a:solidFill>
                  <a:srgbClr val="2E377E"/>
                </a:solidFill>
                <a:latin typeface="Georgia"/>
                <a:cs typeface="Georgia"/>
              </a:rPr>
              <a:t>the</a:t>
            </a:r>
            <a:r>
              <a:rPr sz="3600" spc="-80" dirty="0">
                <a:solidFill>
                  <a:srgbClr val="2E377E"/>
                </a:solidFill>
                <a:latin typeface="Georgia"/>
                <a:cs typeface="Georgia"/>
              </a:rPr>
              <a:t> </a:t>
            </a:r>
            <a:r>
              <a:rPr sz="3600" spc="-20" dirty="0">
                <a:solidFill>
                  <a:srgbClr val="2E377E"/>
                </a:solidFill>
                <a:latin typeface="Georgia"/>
                <a:cs typeface="Georgia"/>
              </a:rPr>
              <a:t>pods</a:t>
            </a:r>
            <a:endParaRPr sz="3600">
              <a:latin typeface="Georgia"/>
              <a:cs typeface="Georgia"/>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000" y="891184"/>
            <a:ext cx="15654019" cy="2578100"/>
          </a:xfrm>
          <a:prstGeom prst="rect">
            <a:avLst/>
          </a:prstGeom>
        </p:spPr>
        <p:txBody>
          <a:bodyPr vert="horz" wrap="square" lIns="0" tIns="12700" rIns="0" bIns="0" rtlCol="0">
            <a:spAutoFit/>
          </a:bodyPr>
          <a:lstStyle/>
          <a:p>
            <a:pPr marL="12700" marR="5080" algn="just">
              <a:lnSpc>
                <a:spcPct val="116300"/>
              </a:lnSpc>
              <a:spcBef>
                <a:spcPts val="100"/>
              </a:spcBef>
            </a:pPr>
            <a:r>
              <a:rPr sz="3600" b="0" spc="-25" dirty="0">
                <a:solidFill>
                  <a:srgbClr val="2E377E"/>
                </a:solidFill>
                <a:latin typeface="Georgia"/>
                <a:cs typeface="Georgia"/>
              </a:rPr>
              <a:t>Role-</a:t>
            </a:r>
            <a:r>
              <a:rPr sz="3600" b="0" dirty="0">
                <a:solidFill>
                  <a:srgbClr val="2E377E"/>
                </a:solidFill>
                <a:latin typeface="Georgia"/>
                <a:cs typeface="Georgia"/>
              </a:rPr>
              <a:t>Based</a:t>
            </a:r>
            <a:r>
              <a:rPr sz="3600" b="0" spc="-45" dirty="0">
                <a:solidFill>
                  <a:srgbClr val="2E377E"/>
                </a:solidFill>
                <a:latin typeface="Georgia"/>
                <a:cs typeface="Georgia"/>
              </a:rPr>
              <a:t> </a:t>
            </a:r>
            <a:r>
              <a:rPr sz="3600" b="0" dirty="0">
                <a:solidFill>
                  <a:srgbClr val="2E377E"/>
                </a:solidFill>
                <a:latin typeface="Georgia"/>
                <a:cs typeface="Georgia"/>
              </a:rPr>
              <a:t>Access</a:t>
            </a:r>
            <a:r>
              <a:rPr sz="3600" b="0" spc="-40" dirty="0">
                <a:solidFill>
                  <a:srgbClr val="2E377E"/>
                </a:solidFill>
                <a:latin typeface="Georgia"/>
                <a:cs typeface="Georgia"/>
              </a:rPr>
              <a:t> </a:t>
            </a:r>
            <a:r>
              <a:rPr sz="3600" b="0" dirty="0">
                <a:solidFill>
                  <a:srgbClr val="2E377E"/>
                </a:solidFill>
                <a:latin typeface="Georgia"/>
                <a:cs typeface="Georgia"/>
              </a:rPr>
              <a:t>Control</a:t>
            </a:r>
            <a:r>
              <a:rPr sz="3600" b="0" spc="-40" dirty="0">
                <a:solidFill>
                  <a:srgbClr val="2E377E"/>
                </a:solidFill>
                <a:latin typeface="Georgia"/>
                <a:cs typeface="Georgia"/>
              </a:rPr>
              <a:t> </a:t>
            </a:r>
            <a:r>
              <a:rPr sz="3600" b="0" spc="-180" dirty="0">
                <a:solidFill>
                  <a:srgbClr val="2E377E"/>
                </a:solidFill>
                <a:latin typeface="Georgia"/>
                <a:cs typeface="Georgia"/>
              </a:rPr>
              <a:t>(RBAC)</a:t>
            </a:r>
            <a:r>
              <a:rPr sz="3600" b="0" spc="-35" dirty="0">
                <a:solidFill>
                  <a:srgbClr val="2E377E"/>
                </a:solidFill>
                <a:latin typeface="Georgia"/>
                <a:cs typeface="Georgia"/>
              </a:rPr>
              <a:t> </a:t>
            </a:r>
            <a:r>
              <a:rPr sz="3600" b="0" dirty="0">
                <a:solidFill>
                  <a:srgbClr val="2E377E"/>
                </a:solidFill>
                <a:latin typeface="Georgia"/>
                <a:cs typeface="Georgia"/>
              </a:rPr>
              <a:t>is</a:t>
            </a:r>
            <a:r>
              <a:rPr sz="3600" b="0" spc="-35" dirty="0">
                <a:solidFill>
                  <a:srgbClr val="2E377E"/>
                </a:solidFill>
                <a:latin typeface="Georgia"/>
                <a:cs typeface="Georgia"/>
              </a:rPr>
              <a:t> </a:t>
            </a:r>
            <a:r>
              <a:rPr sz="3600" b="0" dirty="0">
                <a:solidFill>
                  <a:srgbClr val="2E377E"/>
                </a:solidFill>
                <a:latin typeface="Georgia"/>
                <a:cs typeface="Georgia"/>
              </a:rPr>
              <a:t>a</a:t>
            </a:r>
            <a:r>
              <a:rPr sz="3600" b="0" spc="-40" dirty="0">
                <a:solidFill>
                  <a:srgbClr val="2E377E"/>
                </a:solidFill>
                <a:latin typeface="Georgia"/>
                <a:cs typeface="Georgia"/>
              </a:rPr>
              <a:t> </a:t>
            </a:r>
            <a:r>
              <a:rPr sz="3600" b="0" dirty="0">
                <a:solidFill>
                  <a:srgbClr val="2E377E"/>
                </a:solidFill>
                <a:latin typeface="Georgia"/>
                <a:cs typeface="Georgia"/>
              </a:rPr>
              <a:t>critical</a:t>
            </a:r>
            <a:r>
              <a:rPr sz="3600" b="0" spc="-40" dirty="0">
                <a:solidFill>
                  <a:srgbClr val="2E377E"/>
                </a:solidFill>
                <a:latin typeface="Georgia"/>
                <a:cs typeface="Georgia"/>
              </a:rPr>
              <a:t> </a:t>
            </a:r>
            <a:r>
              <a:rPr sz="3600" b="0" spc="60" dirty="0">
                <a:solidFill>
                  <a:srgbClr val="2E377E"/>
                </a:solidFill>
                <a:latin typeface="Georgia"/>
                <a:cs typeface="Georgia"/>
              </a:rPr>
              <a:t>security</a:t>
            </a:r>
            <a:r>
              <a:rPr sz="3600" b="0" spc="-40" dirty="0">
                <a:solidFill>
                  <a:srgbClr val="2E377E"/>
                </a:solidFill>
                <a:latin typeface="Georgia"/>
                <a:cs typeface="Georgia"/>
              </a:rPr>
              <a:t> </a:t>
            </a:r>
            <a:r>
              <a:rPr sz="3600" b="0" spc="45" dirty="0">
                <a:solidFill>
                  <a:srgbClr val="2E377E"/>
                </a:solidFill>
                <a:latin typeface="Georgia"/>
                <a:cs typeface="Georgia"/>
              </a:rPr>
              <a:t>feature</a:t>
            </a:r>
            <a:r>
              <a:rPr sz="3600" b="0" spc="-40" dirty="0">
                <a:solidFill>
                  <a:srgbClr val="2E377E"/>
                </a:solidFill>
                <a:latin typeface="Georgia"/>
                <a:cs typeface="Georgia"/>
              </a:rPr>
              <a:t> </a:t>
            </a:r>
            <a:r>
              <a:rPr sz="3600" b="0" dirty="0">
                <a:solidFill>
                  <a:srgbClr val="2E377E"/>
                </a:solidFill>
                <a:latin typeface="Georgia"/>
                <a:cs typeface="Georgia"/>
              </a:rPr>
              <a:t>in</a:t>
            </a:r>
            <a:r>
              <a:rPr sz="3600" b="0" spc="-35" dirty="0">
                <a:solidFill>
                  <a:srgbClr val="2E377E"/>
                </a:solidFill>
                <a:latin typeface="Georgia"/>
                <a:cs typeface="Georgia"/>
              </a:rPr>
              <a:t> </a:t>
            </a:r>
            <a:r>
              <a:rPr sz="3600" b="0" spc="-10" dirty="0">
                <a:solidFill>
                  <a:srgbClr val="2E377E"/>
                </a:solidFill>
                <a:latin typeface="Georgia"/>
                <a:cs typeface="Georgia"/>
              </a:rPr>
              <a:t>Kubernetes </a:t>
            </a:r>
            <a:r>
              <a:rPr sz="3600" b="0" dirty="0">
                <a:solidFill>
                  <a:srgbClr val="2E377E"/>
                </a:solidFill>
                <a:latin typeface="Georgia"/>
                <a:cs typeface="Georgia"/>
              </a:rPr>
              <a:t>that</a:t>
            </a:r>
            <a:r>
              <a:rPr sz="3600" b="0" spc="5" dirty="0">
                <a:solidFill>
                  <a:srgbClr val="2E377E"/>
                </a:solidFill>
                <a:latin typeface="Georgia"/>
                <a:cs typeface="Georgia"/>
              </a:rPr>
              <a:t> </a:t>
            </a:r>
            <a:r>
              <a:rPr sz="3600" b="0" dirty="0">
                <a:solidFill>
                  <a:srgbClr val="2E377E"/>
                </a:solidFill>
                <a:latin typeface="Georgia"/>
                <a:cs typeface="Georgia"/>
              </a:rPr>
              <a:t>allows</a:t>
            </a:r>
            <a:r>
              <a:rPr sz="3600" b="0" spc="5" dirty="0">
                <a:solidFill>
                  <a:srgbClr val="2E377E"/>
                </a:solidFill>
                <a:latin typeface="Georgia"/>
                <a:cs typeface="Georgia"/>
              </a:rPr>
              <a:t> </a:t>
            </a:r>
            <a:r>
              <a:rPr sz="3600" b="0" spc="80" dirty="0">
                <a:solidFill>
                  <a:srgbClr val="2E377E"/>
                </a:solidFill>
                <a:latin typeface="Georgia"/>
                <a:cs typeface="Georgia"/>
              </a:rPr>
              <a:t>you</a:t>
            </a:r>
            <a:r>
              <a:rPr sz="3600" b="0" spc="5" dirty="0">
                <a:solidFill>
                  <a:srgbClr val="2E377E"/>
                </a:solidFill>
                <a:latin typeface="Georgia"/>
                <a:cs typeface="Georgia"/>
              </a:rPr>
              <a:t> </a:t>
            </a:r>
            <a:r>
              <a:rPr sz="3600" b="0" spc="60" dirty="0">
                <a:solidFill>
                  <a:srgbClr val="2E377E"/>
                </a:solidFill>
                <a:latin typeface="Georgia"/>
                <a:cs typeface="Georgia"/>
              </a:rPr>
              <a:t>to</a:t>
            </a:r>
            <a:r>
              <a:rPr sz="3600" b="0" spc="10" dirty="0">
                <a:solidFill>
                  <a:srgbClr val="2E377E"/>
                </a:solidFill>
                <a:latin typeface="Georgia"/>
                <a:cs typeface="Georgia"/>
              </a:rPr>
              <a:t> </a:t>
            </a:r>
            <a:r>
              <a:rPr sz="3600" b="0" dirty="0">
                <a:solidFill>
                  <a:srgbClr val="2E377E"/>
                </a:solidFill>
                <a:latin typeface="Georgia"/>
                <a:cs typeface="Georgia"/>
              </a:rPr>
              <a:t>define</a:t>
            </a:r>
            <a:r>
              <a:rPr sz="3600" b="0" spc="5" dirty="0">
                <a:solidFill>
                  <a:srgbClr val="2E377E"/>
                </a:solidFill>
                <a:latin typeface="Georgia"/>
                <a:cs typeface="Georgia"/>
              </a:rPr>
              <a:t> </a:t>
            </a:r>
            <a:r>
              <a:rPr sz="3600" b="0" dirty="0">
                <a:solidFill>
                  <a:srgbClr val="2E377E"/>
                </a:solidFill>
                <a:latin typeface="Georgia"/>
                <a:cs typeface="Georgia"/>
              </a:rPr>
              <a:t>and</a:t>
            </a:r>
            <a:r>
              <a:rPr sz="3600" b="0" spc="5" dirty="0">
                <a:solidFill>
                  <a:srgbClr val="2E377E"/>
                </a:solidFill>
                <a:latin typeface="Georgia"/>
                <a:cs typeface="Georgia"/>
              </a:rPr>
              <a:t> </a:t>
            </a:r>
            <a:r>
              <a:rPr sz="3600" b="0" dirty="0">
                <a:solidFill>
                  <a:srgbClr val="2E377E"/>
                </a:solidFill>
                <a:latin typeface="Georgia"/>
                <a:cs typeface="Georgia"/>
              </a:rPr>
              <a:t>manage</a:t>
            </a:r>
            <a:r>
              <a:rPr sz="3600" b="0" spc="5" dirty="0">
                <a:solidFill>
                  <a:srgbClr val="2E377E"/>
                </a:solidFill>
                <a:latin typeface="Georgia"/>
                <a:cs typeface="Georgia"/>
              </a:rPr>
              <a:t> </a:t>
            </a:r>
            <a:r>
              <a:rPr sz="3600" b="0" dirty="0">
                <a:solidFill>
                  <a:srgbClr val="2E377E"/>
                </a:solidFill>
                <a:latin typeface="Georgia"/>
                <a:cs typeface="Georgia"/>
              </a:rPr>
              <a:t>access</a:t>
            </a:r>
            <a:r>
              <a:rPr sz="3600" b="0" spc="10" dirty="0">
                <a:solidFill>
                  <a:srgbClr val="2E377E"/>
                </a:solidFill>
                <a:latin typeface="Georgia"/>
                <a:cs typeface="Georgia"/>
              </a:rPr>
              <a:t> </a:t>
            </a:r>
            <a:r>
              <a:rPr sz="3600" b="0" spc="60" dirty="0">
                <a:solidFill>
                  <a:srgbClr val="2E377E"/>
                </a:solidFill>
                <a:latin typeface="Georgia"/>
                <a:cs typeface="Georgia"/>
              </a:rPr>
              <a:t>to</a:t>
            </a:r>
            <a:r>
              <a:rPr sz="3600" b="0" spc="5" dirty="0">
                <a:solidFill>
                  <a:srgbClr val="2E377E"/>
                </a:solidFill>
                <a:latin typeface="Georgia"/>
                <a:cs typeface="Georgia"/>
              </a:rPr>
              <a:t> </a:t>
            </a:r>
            <a:r>
              <a:rPr sz="3600" b="0" dirty="0">
                <a:solidFill>
                  <a:srgbClr val="2E377E"/>
                </a:solidFill>
                <a:latin typeface="Georgia"/>
                <a:cs typeface="Georgia"/>
              </a:rPr>
              <a:t>resources</a:t>
            </a:r>
            <a:r>
              <a:rPr sz="3600" b="0" spc="5" dirty="0">
                <a:solidFill>
                  <a:srgbClr val="2E377E"/>
                </a:solidFill>
                <a:latin typeface="Georgia"/>
                <a:cs typeface="Georgia"/>
              </a:rPr>
              <a:t> </a:t>
            </a:r>
            <a:r>
              <a:rPr sz="3600" b="0" dirty="0">
                <a:solidFill>
                  <a:srgbClr val="2E377E"/>
                </a:solidFill>
                <a:latin typeface="Georgia"/>
                <a:cs typeface="Georgia"/>
              </a:rPr>
              <a:t>based</a:t>
            </a:r>
            <a:r>
              <a:rPr sz="3600" b="0" spc="5" dirty="0">
                <a:solidFill>
                  <a:srgbClr val="2E377E"/>
                </a:solidFill>
                <a:latin typeface="Georgia"/>
                <a:cs typeface="Georgia"/>
              </a:rPr>
              <a:t> </a:t>
            </a:r>
            <a:r>
              <a:rPr sz="3600" b="0" dirty="0">
                <a:solidFill>
                  <a:srgbClr val="2E377E"/>
                </a:solidFill>
                <a:latin typeface="Georgia"/>
                <a:cs typeface="Georgia"/>
              </a:rPr>
              <a:t>on</a:t>
            </a:r>
            <a:r>
              <a:rPr sz="3600" b="0" spc="10" dirty="0">
                <a:solidFill>
                  <a:srgbClr val="2E377E"/>
                </a:solidFill>
                <a:latin typeface="Georgia"/>
                <a:cs typeface="Georgia"/>
              </a:rPr>
              <a:t> </a:t>
            </a:r>
            <a:r>
              <a:rPr sz="3600" b="0" dirty="0">
                <a:solidFill>
                  <a:srgbClr val="2E377E"/>
                </a:solidFill>
                <a:latin typeface="Georgia"/>
                <a:cs typeface="Georgia"/>
              </a:rPr>
              <a:t>roles</a:t>
            </a:r>
            <a:r>
              <a:rPr sz="3600" b="0" spc="5" dirty="0">
                <a:solidFill>
                  <a:srgbClr val="2E377E"/>
                </a:solidFill>
                <a:latin typeface="Georgia"/>
                <a:cs typeface="Georgia"/>
              </a:rPr>
              <a:t> </a:t>
            </a:r>
            <a:r>
              <a:rPr sz="3600" b="0" spc="-25" dirty="0">
                <a:solidFill>
                  <a:srgbClr val="2E377E"/>
                </a:solidFill>
                <a:latin typeface="Georgia"/>
                <a:cs typeface="Georgia"/>
              </a:rPr>
              <a:t>and </a:t>
            </a:r>
            <a:r>
              <a:rPr sz="3600" b="0" dirty="0">
                <a:solidFill>
                  <a:srgbClr val="2E377E"/>
                </a:solidFill>
                <a:latin typeface="Georgia"/>
                <a:cs typeface="Georgia"/>
              </a:rPr>
              <a:t>permissions.</a:t>
            </a:r>
            <a:r>
              <a:rPr sz="3600" b="0" spc="40" dirty="0">
                <a:solidFill>
                  <a:srgbClr val="2E377E"/>
                </a:solidFill>
                <a:latin typeface="Georgia"/>
                <a:cs typeface="Georgia"/>
              </a:rPr>
              <a:t> </a:t>
            </a:r>
            <a:r>
              <a:rPr sz="3600" b="0" spc="-95" dirty="0">
                <a:solidFill>
                  <a:srgbClr val="2E377E"/>
                </a:solidFill>
                <a:latin typeface="Georgia"/>
                <a:cs typeface="Georgia"/>
              </a:rPr>
              <a:t>RBAC</a:t>
            </a:r>
            <a:r>
              <a:rPr sz="3600" b="0" spc="40" dirty="0">
                <a:solidFill>
                  <a:srgbClr val="2E377E"/>
                </a:solidFill>
                <a:latin typeface="Georgia"/>
                <a:cs typeface="Georgia"/>
              </a:rPr>
              <a:t> </a:t>
            </a:r>
            <a:r>
              <a:rPr sz="3600" b="0" dirty="0">
                <a:solidFill>
                  <a:srgbClr val="2E377E"/>
                </a:solidFill>
                <a:latin typeface="Georgia"/>
                <a:cs typeface="Georgia"/>
              </a:rPr>
              <a:t>ensures</a:t>
            </a:r>
            <a:r>
              <a:rPr sz="3600" b="0" spc="40" dirty="0">
                <a:solidFill>
                  <a:srgbClr val="2E377E"/>
                </a:solidFill>
                <a:latin typeface="Georgia"/>
                <a:cs typeface="Georgia"/>
              </a:rPr>
              <a:t> </a:t>
            </a:r>
            <a:r>
              <a:rPr sz="3600" b="0" dirty="0">
                <a:solidFill>
                  <a:srgbClr val="2E377E"/>
                </a:solidFill>
                <a:latin typeface="Georgia"/>
                <a:cs typeface="Georgia"/>
              </a:rPr>
              <a:t>that</a:t>
            </a:r>
            <a:r>
              <a:rPr sz="3600" b="0" spc="40" dirty="0">
                <a:solidFill>
                  <a:srgbClr val="2E377E"/>
                </a:solidFill>
                <a:latin typeface="Georgia"/>
                <a:cs typeface="Georgia"/>
              </a:rPr>
              <a:t> </a:t>
            </a:r>
            <a:r>
              <a:rPr sz="3600" b="0" dirty="0">
                <a:solidFill>
                  <a:srgbClr val="2E377E"/>
                </a:solidFill>
                <a:latin typeface="Georgia"/>
                <a:cs typeface="Georgia"/>
              </a:rPr>
              <a:t>only</a:t>
            </a:r>
            <a:r>
              <a:rPr sz="3600" b="0" spc="40" dirty="0">
                <a:solidFill>
                  <a:srgbClr val="2E377E"/>
                </a:solidFill>
                <a:latin typeface="Georgia"/>
                <a:cs typeface="Georgia"/>
              </a:rPr>
              <a:t> </a:t>
            </a:r>
            <a:r>
              <a:rPr sz="3600" b="0" dirty="0">
                <a:solidFill>
                  <a:srgbClr val="2E377E"/>
                </a:solidFill>
                <a:latin typeface="Georgia"/>
                <a:cs typeface="Georgia"/>
              </a:rPr>
              <a:t>authorized</a:t>
            </a:r>
            <a:r>
              <a:rPr sz="3600" b="0" spc="40" dirty="0">
                <a:solidFill>
                  <a:srgbClr val="2E377E"/>
                </a:solidFill>
                <a:latin typeface="Georgia"/>
                <a:cs typeface="Georgia"/>
              </a:rPr>
              <a:t> </a:t>
            </a:r>
            <a:r>
              <a:rPr sz="3600" b="0" dirty="0">
                <a:solidFill>
                  <a:srgbClr val="2E377E"/>
                </a:solidFill>
                <a:latin typeface="Georgia"/>
                <a:cs typeface="Georgia"/>
              </a:rPr>
              <a:t>users,</a:t>
            </a:r>
            <a:r>
              <a:rPr sz="3600" b="0" spc="40" dirty="0">
                <a:solidFill>
                  <a:srgbClr val="2E377E"/>
                </a:solidFill>
                <a:latin typeface="Georgia"/>
                <a:cs typeface="Georgia"/>
              </a:rPr>
              <a:t> </a:t>
            </a:r>
            <a:r>
              <a:rPr sz="3600" b="0" dirty="0">
                <a:solidFill>
                  <a:srgbClr val="2E377E"/>
                </a:solidFill>
                <a:latin typeface="Georgia"/>
                <a:cs typeface="Georgia"/>
              </a:rPr>
              <a:t>processes,</a:t>
            </a:r>
            <a:r>
              <a:rPr sz="3600" b="0" spc="40" dirty="0">
                <a:solidFill>
                  <a:srgbClr val="2E377E"/>
                </a:solidFill>
                <a:latin typeface="Georgia"/>
                <a:cs typeface="Georgia"/>
              </a:rPr>
              <a:t> </a:t>
            </a:r>
            <a:r>
              <a:rPr sz="3600" b="0" dirty="0">
                <a:solidFill>
                  <a:srgbClr val="2E377E"/>
                </a:solidFill>
                <a:latin typeface="Georgia"/>
                <a:cs typeface="Georgia"/>
              </a:rPr>
              <a:t>or</a:t>
            </a:r>
            <a:r>
              <a:rPr sz="3600" b="0" spc="40" dirty="0">
                <a:solidFill>
                  <a:srgbClr val="2E377E"/>
                </a:solidFill>
                <a:latin typeface="Georgia"/>
                <a:cs typeface="Georgia"/>
              </a:rPr>
              <a:t> </a:t>
            </a:r>
            <a:r>
              <a:rPr sz="3600" b="0" spc="35" dirty="0">
                <a:solidFill>
                  <a:srgbClr val="2E377E"/>
                </a:solidFill>
                <a:latin typeface="Georgia"/>
                <a:cs typeface="Georgia"/>
              </a:rPr>
              <a:t>services </a:t>
            </a:r>
            <a:r>
              <a:rPr sz="3600" b="0" dirty="0">
                <a:solidFill>
                  <a:srgbClr val="2E377E"/>
                </a:solidFill>
                <a:latin typeface="Georgia"/>
                <a:cs typeface="Georgia"/>
              </a:rPr>
              <a:t>can</a:t>
            </a:r>
            <a:r>
              <a:rPr sz="3600" b="0" spc="65" dirty="0">
                <a:solidFill>
                  <a:srgbClr val="2E377E"/>
                </a:solidFill>
                <a:latin typeface="Georgia"/>
                <a:cs typeface="Georgia"/>
              </a:rPr>
              <a:t> </a:t>
            </a:r>
            <a:r>
              <a:rPr sz="3600" b="0" dirty="0">
                <a:solidFill>
                  <a:srgbClr val="2E377E"/>
                </a:solidFill>
                <a:latin typeface="Georgia"/>
                <a:cs typeface="Georgia"/>
              </a:rPr>
              <a:t>interact</a:t>
            </a:r>
            <a:r>
              <a:rPr sz="3600" b="0" spc="65" dirty="0">
                <a:solidFill>
                  <a:srgbClr val="2E377E"/>
                </a:solidFill>
                <a:latin typeface="Georgia"/>
                <a:cs typeface="Georgia"/>
              </a:rPr>
              <a:t> </a:t>
            </a:r>
            <a:r>
              <a:rPr sz="3600" b="0" spc="75" dirty="0">
                <a:solidFill>
                  <a:srgbClr val="2E377E"/>
                </a:solidFill>
                <a:latin typeface="Georgia"/>
                <a:cs typeface="Georgia"/>
              </a:rPr>
              <a:t>with</a:t>
            </a:r>
            <a:r>
              <a:rPr sz="3600" b="0" spc="70" dirty="0">
                <a:solidFill>
                  <a:srgbClr val="2E377E"/>
                </a:solidFill>
                <a:latin typeface="Georgia"/>
                <a:cs typeface="Georgia"/>
              </a:rPr>
              <a:t> </a:t>
            </a:r>
            <a:r>
              <a:rPr sz="3600" b="0" dirty="0">
                <a:solidFill>
                  <a:srgbClr val="2E377E"/>
                </a:solidFill>
                <a:latin typeface="Georgia"/>
                <a:cs typeface="Georgia"/>
              </a:rPr>
              <a:t>specific</a:t>
            </a:r>
            <a:r>
              <a:rPr sz="3600" b="0" spc="65" dirty="0">
                <a:solidFill>
                  <a:srgbClr val="2E377E"/>
                </a:solidFill>
                <a:latin typeface="Georgia"/>
                <a:cs typeface="Georgia"/>
              </a:rPr>
              <a:t> </a:t>
            </a:r>
            <a:r>
              <a:rPr sz="3600" b="0" dirty="0">
                <a:solidFill>
                  <a:srgbClr val="2E377E"/>
                </a:solidFill>
                <a:latin typeface="Georgia"/>
                <a:cs typeface="Georgia"/>
              </a:rPr>
              <a:t>resources</a:t>
            </a:r>
            <a:r>
              <a:rPr sz="3600" b="0" spc="70" dirty="0">
                <a:solidFill>
                  <a:srgbClr val="2E377E"/>
                </a:solidFill>
                <a:latin typeface="Georgia"/>
                <a:cs typeface="Georgia"/>
              </a:rPr>
              <a:t> </a:t>
            </a:r>
            <a:r>
              <a:rPr sz="3600" b="0" spc="50" dirty="0">
                <a:solidFill>
                  <a:srgbClr val="2E377E"/>
                </a:solidFill>
                <a:latin typeface="Georgia"/>
                <a:cs typeface="Georgia"/>
              </a:rPr>
              <a:t>within</a:t>
            </a:r>
            <a:r>
              <a:rPr sz="3600" b="0" spc="65" dirty="0">
                <a:solidFill>
                  <a:srgbClr val="2E377E"/>
                </a:solidFill>
                <a:latin typeface="Georgia"/>
                <a:cs typeface="Georgia"/>
              </a:rPr>
              <a:t> </a:t>
            </a:r>
            <a:r>
              <a:rPr sz="3600" b="0" dirty="0">
                <a:solidFill>
                  <a:srgbClr val="2E377E"/>
                </a:solidFill>
                <a:latin typeface="Georgia"/>
                <a:cs typeface="Georgia"/>
              </a:rPr>
              <a:t>a</a:t>
            </a:r>
            <a:r>
              <a:rPr sz="3600" b="0" spc="70" dirty="0">
                <a:solidFill>
                  <a:srgbClr val="2E377E"/>
                </a:solidFill>
                <a:latin typeface="Georgia"/>
                <a:cs typeface="Georgia"/>
              </a:rPr>
              <a:t> </a:t>
            </a:r>
            <a:r>
              <a:rPr sz="3600" b="0" dirty="0">
                <a:solidFill>
                  <a:srgbClr val="2E377E"/>
                </a:solidFill>
                <a:latin typeface="Georgia"/>
                <a:cs typeface="Georgia"/>
              </a:rPr>
              <a:t>Kubernetes</a:t>
            </a:r>
            <a:r>
              <a:rPr sz="3600" b="0" spc="65" dirty="0">
                <a:solidFill>
                  <a:srgbClr val="2E377E"/>
                </a:solidFill>
                <a:latin typeface="Georgia"/>
                <a:cs typeface="Georgia"/>
              </a:rPr>
              <a:t> </a:t>
            </a:r>
            <a:r>
              <a:rPr sz="3600" b="0" spc="-10" dirty="0">
                <a:solidFill>
                  <a:srgbClr val="2E377E"/>
                </a:solidFill>
                <a:latin typeface="Georgia"/>
                <a:cs typeface="Georgia"/>
              </a:rPr>
              <a:t>cluster.</a:t>
            </a:r>
            <a:endParaRPr sz="3600">
              <a:latin typeface="Georgia"/>
              <a:cs typeface="Georgia"/>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0890" y="2157117"/>
            <a:ext cx="14720451" cy="6301136"/>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57516" y="614866"/>
            <a:ext cx="16197580" cy="701675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In</a:t>
            </a:r>
            <a:r>
              <a:rPr sz="3600" spc="-20" dirty="0">
                <a:solidFill>
                  <a:srgbClr val="2E377E"/>
                </a:solidFill>
                <a:latin typeface="Georgia"/>
                <a:cs typeface="Georgia"/>
              </a:rPr>
              <a:t> </a:t>
            </a:r>
            <a:r>
              <a:rPr sz="3600" dirty="0">
                <a:solidFill>
                  <a:srgbClr val="2E377E"/>
                </a:solidFill>
                <a:latin typeface="Georgia"/>
                <a:cs typeface="Georgia"/>
              </a:rPr>
              <a:t>Kubernetes,</a:t>
            </a:r>
            <a:r>
              <a:rPr sz="3600" spc="-15" dirty="0">
                <a:solidFill>
                  <a:srgbClr val="2E377E"/>
                </a:solidFill>
                <a:latin typeface="Georgia"/>
                <a:cs typeface="Georgia"/>
              </a:rPr>
              <a:t> </a:t>
            </a:r>
            <a:r>
              <a:rPr sz="3600" dirty="0">
                <a:solidFill>
                  <a:srgbClr val="2E377E"/>
                </a:solidFill>
                <a:latin typeface="Georgia"/>
                <a:cs typeface="Georgia"/>
              </a:rPr>
              <a:t>there</a:t>
            </a:r>
            <a:r>
              <a:rPr sz="3600" spc="-15" dirty="0">
                <a:solidFill>
                  <a:srgbClr val="2E377E"/>
                </a:solidFill>
                <a:latin typeface="Georgia"/>
                <a:cs typeface="Georgia"/>
              </a:rPr>
              <a:t> </a:t>
            </a:r>
            <a:r>
              <a:rPr sz="3600" dirty="0">
                <a:solidFill>
                  <a:srgbClr val="2E377E"/>
                </a:solidFill>
                <a:latin typeface="Georgia"/>
                <a:cs typeface="Georgia"/>
              </a:rPr>
              <a:t>are</a:t>
            </a:r>
            <a:r>
              <a:rPr sz="3600" spc="-20" dirty="0">
                <a:solidFill>
                  <a:srgbClr val="2E377E"/>
                </a:solidFill>
                <a:latin typeface="Georgia"/>
                <a:cs typeface="Georgia"/>
              </a:rPr>
              <a:t> </a:t>
            </a:r>
            <a:r>
              <a:rPr sz="3600" spc="105" dirty="0">
                <a:solidFill>
                  <a:srgbClr val="2E377E"/>
                </a:solidFill>
                <a:latin typeface="Georgia"/>
                <a:cs typeface="Georgia"/>
              </a:rPr>
              <a:t>two</a:t>
            </a:r>
            <a:r>
              <a:rPr sz="3600" spc="-15" dirty="0">
                <a:solidFill>
                  <a:srgbClr val="2E377E"/>
                </a:solidFill>
                <a:latin typeface="Georgia"/>
                <a:cs typeface="Georgia"/>
              </a:rPr>
              <a:t> </a:t>
            </a:r>
            <a:r>
              <a:rPr sz="3600" spc="75" dirty="0">
                <a:solidFill>
                  <a:srgbClr val="2E377E"/>
                </a:solidFill>
                <a:latin typeface="Georgia"/>
                <a:cs typeface="Georgia"/>
              </a:rPr>
              <a:t>types</a:t>
            </a:r>
            <a:r>
              <a:rPr sz="3600" spc="-15" dirty="0">
                <a:solidFill>
                  <a:srgbClr val="2E377E"/>
                </a:solidFill>
                <a:latin typeface="Georgia"/>
                <a:cs typeface="Georgia"/>
              </a:rPr>
              <a:t> </a:t>
            </a:r>
            <a:r>
              <a:rPr sz="3600" dirty="0">
                <a:solidFill>
                  <a:srgbClr val="2E377E"/>
                </a:solidFill>
                <a:latin typeface="Georgia"/>
                <a:cs typeface="Georgia"/>
              </a:rPr>
              <a:t>of</a:t>
            </a:r>
            <a:r>
              <a:rPr sz="3600" spc="-20" dirty="0">
                <a:solidFill>
                  <a:srgbClr val="2E377E"/>
                </a:solidFill>
                <a:latin typeface="Georgia"/>
                <a:cs typeface="Georgia"/>
              </a:rPr>
              <a:t> </a:t>
            </a:r>
            <a:r>
              <a:rPr sz="3600" spc="-10" dirty="0">
                <a:solidFill>
                  <a:srgbClr val="2E377E"/>
                </a:solidFill>
                <a:latin typeface="Georgia"/>
                <a:cs typeface="Georgia"/>
              </a:rPr>
              <a:t>accounts</a:t>
            </a:r>
            <a:endParaRPr sz="3600">
              <a:latin typeface="Georgia"/>
              <a:cs typeface="Georgia"/>
            </a:endParaRPr>
          </a:p>
          <a:p>
            <a:pPr marL="788035" indent="-338455">
              <a:lnSpc>
                <a:spcPct val="100000"/>
              </a:lnSpc>
              <a:spcBef>
                <a:spcPts val="705"/>
              </a:spcBef>
              <a:buAutoNum type="arabicPeriod"/>
              <a:tabLst>
                <a:tab pos="788035" algn="l"/>
              </a:tabLst>
            </a:pPr>
            <a:r>
              <a:rPr sz="3600" dirty="0">
                <a:solidFill>
                  <a:srgbClr val="2E377E"/>
                </a:solidFill>
                <a:latin typeface="Georgia"/>
                <a:cs typeface="Georgia"/>
              </a:rPr>
              <a:t>User</a:t>
            </a:r>
            <a:r>
              <a:rPr sz="3600" spc="-130" dirty="0">
                <a:solidFill>
                  <a:srgbClr val="2E377E"/>
                </a:solidFill>
                <a:latin typeface="Georgia"/>
                <a:cs typeface="Georgia"/>
              </a:rPr>
              <a:t> </a:t>
            </a:r>
            <a:r>
              <a:rPr sz="3600" spc="-10" dirty="0">
                <a:solidFill>
                  <a:srgbClr val="2E377E"/>
                </a:solidFill>
                <a:latin typeface="Georgia"/>
                <a:cs typeface="Georgia"/>
              </a:rPr>
              <a:t>Account</a:t>
            </a:r>
            <a:endParaRPr sz="3600">
              <a:latin typeface="Georgia"/>
              <a:cs typeface="Georgia"/>
            </a:endParaRPr>
          </a:p>
          <a:p>
            <a:pPr marL="788035" indent="-391795">
              <a:lnSpc>
                <a:spcPct val="100000"/>
              </a:lnSpc>
              <a:spcBef>
                <a:spcPts val="705"/>
              </a:spcBef>
              <a:buAutoNum type="arabicPeriod"/>
              <a:tabLst>
                <a:tab pos="788035" algn="l"/>
              </a:tabLst>
            </a:pPr>
            <a:r>
              <a:rPr sz="3600" dirty="0">
                <a:solidFill>
                  <a:srgbClr val="2E377E"/>
                </a:solidFill>
                <a:latin typeface="Georgia"/>
                <a:cs typeface="Georgia"/>
              </a:rPr>
              <a:t>Service</a:t>
            </a:r>
            <a:r>
              <a:rPr sz="3600" spc="175" dirty="0">
                <a:solidFill>
                  <a:srgbClr val="2E377E"/>
                </a:solidFill>
                <a:latin typeface="Georgia"/>
                <a:cs typeface="Georgia"/>
              </a:rPr>
              <a:t> </a:t>
            </a:r>
            <a:r>
              <a:rPr sz="3600" spc="-10" dirty="0">
                <a:solidFill>
                  <a:srgbClr val="2E377E"/>
                </a:solidFill>
                <a:latin typeface="Georgia"/>
                <a:cs typeface="Georgia"/>
              </a:rPr>
              <a:t>Account</a:t>
            </a:r>
            <a:endParaRPr sz="3600">
              <a:latin typeface="Georgia"/>
              <a:cs typeface="Georgia"/>
            </a:endParaRPr>
          </a:p>
          <a:p>
            <a:pPr marL="12700" marR="5080">
              <a:lnSpc>
                <a:spcPct val="116300"/>
              </a:lnSpc>
              <a:spcBef>
                <a:spcPts val="3190"/>
              </a:spcBef>
            </a:pPr>
            <a:r>
              <a:rPr sz="3600" spc="155" dirty="0">
                <a:solidFill>
                  <a:srgbClr val="2E377E"/>
                </a:solidFill>
                <a:latin typeface="Times New Roman"/>
                <a:cs typeface="Times New Roman"/>
              </a:rPr>
              <a:t>User</a:t>
            </a:r>
            <a:r>
              <a:rPr sz="3600" spc="-15" dirty="0">
                <a:solidFill>
                  <a:srgbClr val="2E377E"/>
                </a:solidFill>
                <a:latin typeface="Times New Roman"/>
                <a:cs typeface="Times New Roman"/>
              </a:rPr>
              <a:t> </a:t>
            </a:r>
            <a:r>
              <a:rPr sz="3600" spc="155" dirty="0">
                <a:solidFill>
                  <a:srgbClr val="2E377E"/>
                </a:solidFill>
                <a:latin typeface="Times New Roman"/>
                <a:cs typeface="Times New Roman"/>
              </a:rPr>
              <a:t>account</a:t>
            </a:r>
            <a:r>
              <a:rPr sz="3600" spc="155" dirty="0">
                <a:solidFill>
                  <a:srgbClr val="2E377E"/>
                </a:solidFill>
                <a:latin typeface="Georgia"/>
                <a:cs typeface="Georgia"/>
              </a:rPr>
              <a:t>:</a:t>
            </a:r>
            <a:r>
              <a:rPr sz="3600" spc="15" dirty="0">
                <a:solidFill>
                  <a:srgbClr val="2E377E"/>
                </a:solidFill>
                <a:latin typeface="Georgia"/>
                <a:cs typeface="Georgia"/>
              </a:rPr>
              <a:t> </a:t>
            </a:r>
            <a:r>
              <a:rPr sz="3600" dirty="0">
                <a:solidFill>
                  <a:srgbClr val="2E377E"/>
                </a:solidFill>
                <a:latin typeface="Georgia"/>
                <a:cs typeface="Georgia"/>
              </a:rPr>
              <a:t>User</a:t>
            </a:r>
            <a:r>
              <a:rPr sz="3600" spc="15" dirty="0">
                <a:solidFill>
                  <a:srgbClr val="2E377E"/>
                </a:solidFill>
                <a:latin typeface="Georgia"/>
                <a:cs typeface="Georgia"/>
              </a:rPr>
              <a:t> </a:t>
            </a:r>
            <a:r>
              <a:rPr sz="3600" dirty="0">
                <a:solidFill>
                  <a:srgbClr val="2E377E"/>
                </a:solidFill>
                <a:latin typeface="Georgia"/>
                <a:cs typeface="Georgia"/>
              </a:rPr>
              <a:t>accounts</a:t>
            </a:r>
            <a:r>
              <a:rPr sz="3600" spc="15" dirty="0">
                <a:solidFill>
                  <a:srgbClr val="2E377E"/>
                </a:solidFill>
                <a:latin typeface="Georgia"/>
                <a:cs typeface="Georgia"/>
              </a:rPr>
              <a:t> </a:t>
            </a:r>
            <a:r>
              <a:rPr sz="3600" dirty="0">
                <a:solidFill>
                  <a:srgbClr val="2E377E"/>
                </a:solidFill>
                <a:latin typeface="Georgia"/>
                <a:cs typeface="Georgia"/>
              </a:rPr>
              <a:t>are</a:t>
            </a:r>
            <a:r>
              <a:rPr sz="3600" spc="15" dirty="0">
                <a:solidFill>
                  <a:srgbClr val="2E377E"/>
                </a:solidFill>
                <a:latin typeface="Georgia"/>
                <a:cs typeface="Georgia"/>
              </a:rPr>
              <a:t> </a:t>
            </a:r>
            <a:r>
              <a:rPr sz="3600" dirty="0">
                <a:solidFill>
                  <a:srgbClr val="2E377E"/>
                </a:solidFill>
                <a:latin typeface="Georgia"/>
                <a:cs typeface="Georgia"/>
              </a:rPr>
              <a:t>used</a:t>
            </a:r>
            <a:r>
              <a:rPr sz="3600" spc="15" dirty="0">
                <a:solidFill>
                  <a:srgbClr val="2E377E"/>
                </a:solidFill>
                <a:latin typeface="Georgia"/>
                <a:cs typeface="Georgia"/>
              </a:rPr>
              <a:t> </a:t>
            </a:r>
            <a:r>
              <a:rPr sz="3600" spc="6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log</a:t>
            </a:r>
            <a:r>
              <a:rPr sz="3600" spc="15" dirty="0">
                <a:solidFill>
                  <a:srgbClr val="2E377E"/>
                </a:solidFill>
                <a:latin typeface="Georgia"/>
                <a:cs typeface="Georgia"/>
              </a:rPr>
              <a:t> </a:t>
            </a:r>
            <a:r>
              <a:rPr sz="3600" dirty="0">
                <a:solidFill>
                  <a:srgbClr val="2E377E"/>
                </a:solidFill>
                <a:latin typeface="Georgia"/>
                <a:cs typeface="Georgia"/>
              </a:rPr>
              <a:t>into</a:t>
            </a:r>
            <a:r>
              <a:rPr sz="3600" spc="15" dirty="0">
                <a:solidFill>
                  <a:srgbClr val="2E377E"/>
                </a:solidFill>
                <a:latin typeface="Georgia"/>
                <a:cs typeface="Georgia"/>
              </a:rPr>
              <a:t> </a:t>
            </a:r>
            <a:r>
              <a:rPr sz="3600" dirty="0">
                <a:solidFill>
                  <a:srgbClr val="2E377E"/>
                </a:solidFill>
                <a:latin typeface="Georgia"/>
                <a:cs typeface="Georgia"/>
              </a:rPr>
              <a:t>a</a:t>
            </a:r>
            <a:r>
              <a:rPr sz="3600" spc="15" dirty="0">
                <a:solidFill>
                  <a:srgbClr val="2E377E"/>
                </a:solidFill>
                <a:latin typeface="Georgia"/>
                <a:cs typeface="Georgia"/>
              </a:rPr>
              <a:t> </a:t>
            </a:r>
            <a:r>
              <a:rPr sz="3600" dirty="0">
                <a:solidFill>
                  <a:srgbClr val="2E377E"/>
                </a:solidFill>
                <a:latin typeface="Georgia"/>
                <a:cs typeface="Georgia"/>
              </a:rPr>
              <a:t>Kubernetes</a:t>
            </a:r>
            <a:r>
              <a:rPr sz="3600" spc="15" dirty="0">
                <a:solidFill>
                  <a:srgbClr val="2E377E"/>
                </a:solidFill>
                <a:latin typeface="Georgia"/>
                <a:cs typeface="Georgia"/>
              </a:rPr>
              <a:t> </a:t>
            </a:r>
            <a:r>
              <a:rPr sz="3600" dirty="0">
                <a:solidFill>
                  <a:srgbClr val="2E377E"/>
                </a:solidFill>
                <a:latin typeface="Georgia"/>
                <a:cs typeface="Georgia"/>
              </a:rPr>
              <a:t>cluster</a:t>
            </a:r>
            <a:r>
              <a:rPr sz="3600" spc="15" dirty="0">
                <a:solidFill>
                  <a:srgbClr val="2E377E"/>
                </a:solidFill>
                <a:latin typeface="Georgia"/>
                <a:cs typeface="Georgia"/>
              </a:rPr>
              <a:t> </a:t>
            </a:r>
            <a:r>
              <a:rPr sz="3600" spc="-25" dirty="0">
                <a:solidFill>
                  <a:srgbClr val="2E377E"/>
                </a:solidFill>
                <a:latin typeface="Georgia"/>
                <a:cs typeface="Georgia"/>
              </a:rPr>
              <a:t>and </a:t>
            </a:r>
            <a:r>
              <a:rPr sz="3600" dirty="0">
                <a:solidFill>
                  <a:srgbClr val="2E377E"/>
                </a:solidFill>
                <a:latin typeface="Georgia"/>
                <a:cs typeface="Georgia"/>
              </a:rPr>
              <a:t>manipulate</a:t>
            </a:r>
            <a:r>
              <a:rPr sz="3600" spc="20" dirty="0">
                <a:solidFill>
                  <a:srgbClr val="2E377E"/>
                </a:solidFill>
                <a:latin typeface="Georgia"/>
                <a:cs typeface="Georgia"/>
              </a:rPr>
              <a:t> </a:t>
            </a:r>
            <a:r>
              <a:rPr sz="3600" dirty="0">
                <a:solidFill>
                  <a:srgbClr val="2E377E"/>
                </a:solidFill>
                <a:latin typeface="Georgia"/>
                <a:cs typeface="Georgia"/>
              </a:rPr>
              <a:t>resources</a:t>
            </a:r>
            <a:r>
              <a:rPr sz="3600" spc="20" dirty="0">
                <a:solidFill>
                  <a:srgbClr val="2E377E"/>
                </a:solidFill>
                <a:latin typeface="Georgia"/>
                <a:cs typeface="Georgia"/>
              </a:rPr>
              <a:t> </a:t>
            </a:r>
            <a:r>
              <a:rPr sz="3600" dirty="0">
                <a:solidFill>
                  <a:srgbClr val="2E377E"/>
                </a:solidFill>
                <a:latin typeface="Georgia"/>
                <a:cs typeface="Georgia"/>
              </a:rPr>
              <a:t>therein.</a:t>
            </a:r>
            <a:r>
              <a:rPr sz="3600" spc="25" dirty="0">
                <a:solidFill>
                  <a:srgbClr val="2E377E"/>
                </a:solidFill>
                <a:latin typeface="Georgia"/>
                <a:cs typeface="Georgia"/>
              </a:rPr>
              <a:t> </a:t>
            </a:r>
            <a:r>
              <a:rPr sz="3600" spc="-45" dirty="0">
                <a:solidFill>
                  <a:srgbClr val="2E377E"/>
                </a:solidFill>
                <a:latin typeface="Georgia"/>
                <a:cs typeface="Georgia"/>
              </a:rPr>
              <a:t>Each</a:t>
            </a:r>
            <a:r>
              <a:rPr sz="3600" spc="20" dirty="0">
                <a:solidFill>
                  <a:srgbClr val="2E377E"/>
                </a:solidFill>
                <a:latin typeface="Georgia"/>
                <a:cs typeface="Georgia"/>
              </a:rPr>
              <a:t> </a:t>
            </a:r>
            <a:r>
              <a:rPr sz="3600" dirty="0">
                <a:solidFill>
                  <a:srgbClr val="2E377E"/>
                </a:solidFill>
                <a:latin typeface="Georgia"/>
                <a:cs typeface="Georgia"/>
              </a:rPr>
              <a:t>user</a:t>
            </a:r>
            <a:r>
              <a:rPr sz="3600" spc="25" dirty="0">
                <a:solidFill>
                  <a:srgbClr val="2E377E"/>
                </a:solidFill>
                <a:latin typeface="Georgia"/>
                <a:cs typeface="Georgia"/>
              </a:rPr>
              <a:t> </a:t>
            </a:r>
            <a:r>
              <a:rPr sz="3600" dirty="0">
                <a:solidFill>
                  <a:srgbClr val="2E377E"/>
                </a:solidFill>
                <a:latin typeface="Georgia"/>
                <a:cs typeface="Georgia"/>
              </a:rPr>
              <a:t>account</a:t>
            </a:r>
            <a:r>
              <a:rPr sz="3600" spc="20" dirty="0">
                <a:solidFill>
                  <a:srgbClr val="2E377E"/>
                </a:solidFill>
                <a:latin typeface="Georgia"/>
                <a:cs typeface="Georgia"/>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associated</a:t>
            </a:r>
            <a:r>
              <a:rPr sz="3600" spc="25" dirty="0">
                <a:solidFill>
                  <a:srgbClr val="2E377E"/>
                </a:solidFill>
                <a:latin typeface="Georgia"/>
                <a:cs typeface="Georgia"/>
              </a:rPr>
              <a:t> </a:t>
            </a:r>
            <a:r>
              <a:rPr sz="3600" spc="75" dirty="0">
                <a:solidFill>
                  <a:srgbClr val="2E377E"/>
                </a:solidFill>
                <a:latin typeface="Georgia"/>
                <a:cs typeface="Georgia"/>
              </a:rPr>
              <a:t>with</a:t>
            </a:r>
            <a:r>
              <a:rPr sz="3600" spc="20"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dirty="0">
                <a:solidFill>
                  <a:srgbClr val="2E377E"/>
                </a:solidFill>
                <a:latin typeface="Georgia"/>
                <a:cs typeface="Georgia"/>
              </a:rPr>
              <a:t>unique</a:t>
            </a:r>
            <a:r>
              <a:rPr sz="3600" spc="20" dirty="0">
                <a:solidFill>
                  <a:srgbClr val="2E377E"/>
                </a:solidFill>
                <a:latin typeface="Georgia"/>
                <a:cs typeface="Georgia"/>
              </a:rPr>
              <a:t> </a:t>
            </a:r>
            <a:r>
              <a:rPr sz="3600" spc="35" dirty="0">
                <a:solidFill>
                  <a:srgbClr val="2E377E"/>
                </a:solidFill>
                <a:latin typeface="Georgia"/>
                <a:cs typeface="Georgia"/>
              </a:rPr>
              <a:t>set </a:t>
            </a:r>
            <a:r>
              <a:rPr sz="3600" dirty="0">
                <a:solidFill>
                  <a:srgbClr val="2E377E"/>
                </a:solidFill>
                <a:latin typeface="Georgia"/>
                <a:cs typeface="Georgia"/>
              </a:rPr>
              <a:t>of</a:t>
            </a:r>
            <a:r>
              <a:rPr sz="3600" spc="35" dirty="0">
                <a:solidFill>
                  <a:srgbClr val="2E377E"/>
                </a:solidFill>
                <a:latin typeface="Georgia"/>
                <a:cs typeface="Georgia"/>
              </a:rPr>
              <a:t> </a:t>
            </a:r>
            <a:r>
              <a:rPr sz="3600" dirty="0">
                <a:solidFill>
                  <a:srgbClr val="2E377E"/>
                </a:solidFill>
                <a:latin typeface="Georgia"/>
                <a:cs typeface="Georgia"/>
              </a:rPr>
              <a:t>credentials,</a:t>
            </a:r>
            <a:r>
              <a:rPr sz="3600" spc="35" dirty="0">
                <a:solidFill>
                  <a:srgbClr val="2E377E"/>
                </a:solidFill>
                <a:latin typeface="Georgia"/>
                <a:cs typeface="Georgia"/>
              </a:rPr>
              <a:t> </a:t>
            </a:r>
            <a:r>
              <a:rPr sz="3600" dirty="0">
                <a:solidFill>
                  <a:srgbClr val="2E377E"/>
                </a:solidFill>
                <a:latin typeface="Georgia"/>
                <a:cs typeface="Georgia"/>
              </a:rPr>
              <a:t>which</a:t>
            </a:r>
            <a:r>
              <a:rPr sz="3600" spc="40" dirty="0">
                <a:solidFill>
                  <a:srgbClr val="2E377E"/>
                </a:solidFill>
                <a:latin typeface="Georgia"/>
                <a:cs typeface="Georgia"/>
              </a:rPr>
              <a:t> </a:t>
            </a:r>
            <a:r>
              <a:rPr sz="3600" dirty="0">
                <a:solidFill>
                  <a:srgbClr val="2E377E"/>
                </a:solidFill>
                <a:latin typeface="Georgia"/>
                <a:cs typeface="Georgia"/>
              </a:rPr>
              <a:t>are</a:t>
            </a:r>
            <a:r>
              <a:rPr sz="3600" spc="35" dirty="0">
                <a:solidFill>
                  <a:srgbClr val="2E377E"/>
                </a:solidFill>
                <a:latin typeface="Georgia"/>
                <a:cs typeface="Georgia"/>
              </a:rPr>
              <a:t> </a:t>
            </a:r>
            <a:r>
              <a:rPr sz="3600" dirty="0">
                <a:solidFill>
                  <a:srgbClr val="2E377E"/>
                </a:solidFill>
                <a:latin typeface="Georgia"/>
                <a:cs typeface="Georgia"/>
              </a:rPr>
              <a:t>used</a:t>
            </a:r>
            <a:r>
              <a:rPr sz="3600" spc="40" dirty="0">
                <a:solidFill>
                  <a:srgbClr val="2E377E"/>
                </a:solidFill>
                <a:latin typeface="Georgia"/>
                <a:cs typeface="Georgia"/>
              </a:rPr>
              <a:t> </a:t>
            </a:r>
            <a:r>
              <a:rPr sz="3600" spc="60" dirty="0">
                <a:solidFill>
                  <a:srgbClr val="2E377E"/>
                </a:solidFill>
                <a:latin typeface="Georgia"/>
                <a:cs typeface="Georgia"/>
              </a:rPr>
              <a:t>to</a:t>
            </a:r>
            <a:r>
              <a:rPr sz="3600" spc="35" dirty="0">
                <a:solidFill>
                  <a:srgbClr val="2E377E"/>
                </a:solidFill>
                <a:latin typeface="Georgia"/>
                <a:cs typeface="Georgia"/>
              </a:rPr>
              <a:t> </a:t>
            </a:r>
            <a:r>
              <a:rPr sz="3600" dirty="0">
                <a:solidFill>
                  <a:srgbClr val="2E377E"/>
                </a:solidFill>
                <a:latin typeface="Georgia"/>
                <a:cs typeface="Georgia"/>
              </a:rPr>
              <a:t>authenticate</a:t>
            </a:r>
            <a:r>
              <a:rPr sz="3600" spc="40"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spc="45" dirty="0">
                <a:solidFill>
                  <a:srgbClr val="2E377E"/>
                </a:solidFill>
                <a:latin typeface="Georgia"/>
                <a:cs typeface="Georgia"/>
              </a:rPr>
              <a:t>service’s</a:t>
            </a:r>
            <a:r>
              <a:rPr sz="3600" spc="40" dirty="0">
                <a:solidFill>
                  <a:srgbClr val="2E377E"/>
                </a:solidFill>
                <a:latin typeface="Georgia"/>
                <a:cs typeface="Georgia"/>
              </a:rPr>
              <a:t> </a:t>
            </a:r>
            <a:r>
              <a:rPr sz="3600" spc="-10" dirty="0">
                <a:solidFill>
                  <a:srgbClr val="2E377E"/>
                </a:solidFill>
                <a:latin typeface="Georgia"/>
                <a:cs typeface="Georgia"/>
              </a:rPr>
              <a:t>requests.</a:t>
            </a:r>
            <a:endParaRPr sz="3600">
              <a:latin typeface="Georgia"/>
              <a:cs typeface="Georgia"/>
            </a:endParaRPr>
          </a:p>
          <a:p>
            <a:pPr>
              <a:lnSpc>
                <a:spcPct val="100000"/>
              </a:lnSpc>
              <a:spcBef>
                <a:spcPts val="2545"/>
              </a:spcBef>
            </a:pPr>
            <a:endParaRPr sz="3600">
              <a:latin typeface="Georgia"/>
              <a:cs typeface="Georgia"/>
            </a:endParaRPr>
          </a:p>
          <a:p>
            <a:pPr marL="12700" marR="298450">
              <a:lnSpc>
                <a:spcPct val="116300"/>
              </a:lnSpc>
            </a:pPr>
            <a:r>
              <a:rPr sz="3600" spc="130" dirty="0">
                <a:solidFill>
                  <a:srgbClr val="2E377E"/>
                </a:solidFill>
                <a:latin typeface="Times New Roman"/>
                <a:cs typeface="Times New Roman"/>
              </a:rPr>
              <a:t>Service</a:t>
            </a:r>
            <a:r>
              <a:rPr sz="3600" spc="-60" dirty="0">
                <a:solidFill>
                  <a:srgbClr val="2E377E"/>
                </a:solidFill>
                <a:latin typeface="Times New Roman"/>
                <a:cs typeface="Times New Roman"/>
              </a:rPr>
              <a:t> </a:t>
            </a:r>
            <a:r>
              <a:rPr sz="3600" spc="114" dirty="0">
                <a:solidFill>
                  <a:srgbClr val="2E377E"/>
                </a:solidFill>
                <a:latin typeface="Times New Roman"/>
                <a:cs typeface="Times New Roman"/>
              </a:rPr>
              <a:t>Account:</a:t>
            </a:r>
            <a:r>
              <a:rPr sz="3600" spc="-55" dirty="0">
                <a:solidFill>
                  <a:srgbClr val="2E377E"/>
                </a:solidFill>
                <a:latin typeface="Times New Roman"/>
                <a:cs typeface="Times New Roman"/>
              </a:rPr>
              <a:t> </a:t>
            </a:r>
            <a:r>
              <a:rPr sz="3600" dirty="0">
                <a:solidFill>
                  <a:srgbClr val="2E377E"/>
                </a:solidFill>
                <a:latin typeface="Georgia"/>
                <a:cs typeface="Georgia"/>
              </a:rPr>
              <a:t>are</a:t>
            </a:r>
            <a:r>
              <a:rPr sz="3600" spc="-25" dirty="0">
                <a:solidFill>
                  <a:srgbClr val="2E377E"/>
                </a:solidFill>
                <a:latin typeface="Georgia"/>
                <a:cs typeface="Georgia"/>
              </a:rPr>
              <a:t> </a:t>
            </a:r>
            <a:r>
              <a:rPr sz="3600" dirty="0">
                <a:solidFill>
                  <a:srgbClr val="2E377E"/>
                </a:solidFill>
                <a:latin typeface="Georgia"/>
                <a:cs typeface="Georgia"/>
              </a:rPr>
              <a:t>used</a:t>
            </a:r>
            <a:r>
              <a:rPr sz="3600" spc="-30" dirty="0">
                <a:solidFill>
                  <a:srgbClr val="2E377E"/>
                </a:solidFill>
                <a:latin typeface="Georgia"/>
                <a:cs typeface="Georgia"/>
              </a:rPr>
              <a:t> </a:t>
            </a:r>
            <a:r>
              <a:rPr sz="3600" spc="6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run</a:t>
            </a:r>
            <a:r>
              <a:rPr sz="3600" spc="-25" dirty="0">
                <a:solidFill>
                  <a:srgbClr val="2E377E"/>
                </a:solidFill>
                <a:latin typeface="Georgia"/>
                <a:cs typeface="Georgia"/>
              </a:rPr>
              <a:t> </a:t>
            </a:r>
            <a:r>
              <a:rPr sz="3600" spc="45" dirty="0">
                <a:solidFill>
                  <a:srgbClr val="2E377E"/>
                </a:solidFill>
                <a:latin typeface="Georgia"/>
                <a:cs typeface="Georgia"/>
              </a:rPr>
              <a:t>services</a:t>
            </a:r>
            <a:r>
              <a:rPr sz="3600" spc="-30" dirty="0">
                <a:solidFill>
                  <a:srgbClr val="2E377E"/>
                </a:solidFill>
                <a:latin typeface="Georgia"/>
                <a:cs typeface="Georgia"/>
              </a:rPr>
              <a:t> </a:t>
            </a:r>
            <a:r>
              <a:rPr sz="3600" dirty="0">
                <a:solidFill>
                  <a:srgbClr val="2E377E"/>
                </a:solidFill>
                <a:latin typeface="Georgia"/>
                <a:cs typeface="Georgia"/>
              </a:rPr>
              <a:t>in</a:t>
            </a:r>
            <a:r>
              <a:rPr sz="3600" spc="-25" dirty="0">
                <a:solidFill>
                  <a:srgbClr val="2E377E"/>
                </a:solidFill>
                <a:latin typeface="Georgia"/>
                <a:cs typeface="Georgia"/>
              </a:rPr>
              <a:t> </a:t>
            </a:r>
            <a:r>
              <a:rPr sz="3600" dirty="0">
                <a:solidFill>
                  <a:srgbClr val="2E377E"/>
                </a:solidFill>
                <a:latin typeface="Georgia"/>
                <a:cs typeface="Georgia"/>
              </a:rPr>
              <a:t>a</a:t>
            </a:r>
            <a:r>
              <a:rPr sz="3600" spc="-25" dirty="0">
                <a:solidFill>
                  <a:srgbClr val="2E377E"/>
                </a:solidFill>
                <a:latin typeface="Georgia"/>
                <a:cs typeface="Georgia"/>
              </a:rPr>
              <a:t> </a:t>
            </a:r>
            <a:r>
              <a:rPr sz="3600" dirty="0">
                <a:solidFill>
                  <a:srgbClr val="2E377E"/>
                </a:solidFill>
                <a:latin typeface="Georgia"/>
                <a:cs typeface="Georgia"/>
              </a:rPr>
              <a:t>Kubernetes</a:t>
            </a:r>
            <a:r>
              <a:rPr sz="3600" spc="-30" dirty="0">
                <a:solidFill>
                  <a:srgbClr val="2E377E"/>
                </a:solidFill>
                <a:latin typeface="Georgia"/>
                <a:cs typeface="Georgia"/>
              </a:rPr>
              <a:t> </a:t>
            </a:r>
            <a:r>
              <a:rPr sz="3600" dirty="0">
                <a:solidFill>
                  <a:srgbClr val="2E377E"/>
                </a:solidFill>
                <a:latin typeface="Georgia"/>
                <a:cs typeface="Georgia"/>
              </a:rPr>
              <a:t>cluster.</a:t>
            </a:r>
            <a:r>
              <a:rPr sz="3600" spc="-25" dirty="0">
                <a:solidFill>
                  <a:srgbClr val="2E377E"/>
                </a:solidFill>
                <a:latin typeface="Georgia"/>
                <a:cs typeface="Georgia"/>
              </a:rPr>
              <a:t> </a:t>
            </a:r>
            <a:r>
              <a:rPr sz="3600" spc="-45" dirty="0">
                <a:solidFill>
                  <a:srgbClr val="2E377E"/>
                </a:solidFill>
                <a:latin typeface="Georgia"/>
                <a:cs typeface="Georgia"/>
              </a:rPr>
              <a:t>Each</a:t>
            </a:r>
            <a:r>
              <a:rPr sz="3600" spc="-30" dirty="0">
                <a:solidFill>
                  <a:srgbClr val="2E377E"/>
                </a:solidFill>
                <a:latin typeface="Georgia"/>
                <a:cs typeface="Georgia"/>
              </a:rPr>
              <a:t> </a:t>
            </a:r>
            <a:r>
              <a:rPr sz="3600" spc="40" dirty="0">
                <a:solidFill>
                  <a:srgbClr val="2E377E"/>
                </a:solidFill>
                <a:latin typeface="Georgia"/>
                <a:cs typeface="Georgia"/>
              </a:rPr>
              <a:t>service </a:t>
            </a:r>
            <a:r>
              <a:rPr sz="3600" dirty="0">
                <a:solidFill>
                  <a:srgbClr val="2E377E"/>
                </a:solidFill>
                <a:latin typeface="Georgia"/>
                <a:cs typeface="Georgia"/>
              </a:rPr>
              <a:t>account</a:t>
            </a:r>
            <a:r>
              <a:rPr sz="3600" spc="10" dirty="0">
                <a:solidFill>
                  <a:srgbClr val="2E377E"/>
                </a:solidFill>
                <a:latin typeface="Georgia"/>
                <a:cs typeface="Georgia"/>
              </a:rPr>
              <a:t> </a:t>
            </a:r>
            <a:r>
              <a:rPr sz="3600" dirty="0">
                <a:solidFill>
                  <a:srgbClr val="2E377E"/>
                </a:solidFill>
                <a:latin typeface="Georgia"/>
                <a:cs typeface="Georgia"/>
              </a:rPr>
              <a:t>is</a:t>
            </a:r>
            <a:r>
              <a:rPr sz="3600" spc="15" dirty="0">
                <a:solidFill>
                  <a:srgbClr val="2E377E"/>
                </a:solidFill>
                <a:latin typeface="Georgia"/>
                <a:cs typeface="Georgia"/>
              </a:rPr>
              <a:t> </a:t>
            </a:r>
            <a:r>
              <a:rPr sz="3600" dirty="0">
                <a:solidFill>
                  <a:srgbClr val="2E377E"/>
                </a:solidFill>
                <a:latin typeface="Georgia"/>
                <a:cs typeface="Georgia"/>
              </a:rPr>
              <a:t>associated</a:t>
            </a:r>
            <a:r>
              <a:rPr sz="3600" spc="15" dirty="0">
                <a:solidFill>
                  <a:srgbClr val="2E377E"/>
                </a:solidFill>
                <a:latin typeface="Georgia"/>
                <a:cs typeface="Georgia"/>
              </a:rPr>
              <a:t> </a:t>
            </a:r>
            <a:r>
              <a:rPr sz="3600" spc="75" dirty="0">
                <a:solidFill>
                  <a:srgbClr val="2E377E"/>
                </a:solidFill>
                <a:latin typeface="Georgia"/>
                <a:cs typeface="Georgia"/>
              </a:rPr>
              <a:t>with</a:t>
            </a:r>
            <a:r>
              <a:rPr sz="3600" spc="15" dirty="0">
                <a:solidFill>
                  <a:srgbClr val="2E377E"/>
                </a:solidFill>
                <a:latin typeface="Georgia"/>
                <a:cs typeface="Georgia"/>
              </a:rPr>
              <a:t> </a:t>
            </a:r>
            <a:r>
              <a:rPr sz="3600" dirty="0">
                <a:solidFill>
                  <a:srgbClr val="2E377E"/>
                </a:solidFill>
                <a:latin typeface="Georgia"/>
                <a:cs typeface="Georgia"/>
              </a:rPr>
              <a:t>a</a:t>
            </a:r>
            <a:r>
              <a:rPr sz="3600" spc="10" dirty="0">
                <a:solidFill>
                  <a:srgbClr val="2E377E"/>
                </a:solidFill>
                <a:latin typeface="Georgia"/>
                <a:cs typeface="Georgia"/>
              </a:rPr>
              <a:t> </a:t>
            </a:r>
            <a:r>
              <a:rPr sz="3600" dirty="0">
                <a:solidFill>
                  <a:srgbClr val="2E377E"/>
                </a:solidFill>
                <a:latin typeface="Georgia"/>
                <a:cs typeface="Georgia"/>
              </a:rPr>
              <a:t>unique</a:t>
            </a:r>
            <a:r>
              <a:rPr sz="3600" spc="15" dirty="0">
                <a:solidFill>
                  <a:srgbClr val="2E377E"/>
                </a:solidFill>
                <a:latin typeface="Georgia"/>
                <a:cs typeface="Georgia"/>
              </a:rPr>
              <a:t> </a:t>
            </a:r>
            <a:r>
              <a:rPr sz="3600" spc="60" dirty="0">
                <a:solidFill>
                  <a:srgbClr val="2E377E"/>
                </a:solidFill>
                <a:latin typeface="Georgia"/>
                <a:cs typeface="Georgia"/>
              </a:rPr>
              <a:t>set</a:t>
            </a:r>
            <a:r>
              <a:rPr sz="3600" spc="15"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dirty="0">
                <a:solidFill>
                  <a:srgbClr val="2E377E"/>
                </a:solidFill>
                <a:latin typeface="Georgia"/>
                <a:cs typeface="Georgia"/>
              </a:rPr>
              <a:t>credentials,</a:t>
            </a:r>
            <a:r>
              <a:rPr sz="3600" spc="10" dirty="0">
                <a:solidFill>
                  <a:srgbClr val="2E377E"/>
                </a:solidFill>
                <a:latin typeface="Georgia"/>
                <a:cs typeface="Georgia"/>
              </a:rPr>
              <a:t> </a:t>
            </a:r>
            <a:r>
              <a:rPr sz="3600" dirty="0">
                <a:solidFill>
                  <a:srgbClr val="2E377E"/>
                </a:solidFill>
                <a:latin typeface="Georgia"/>
                <a:cs typeface="Georgia"/>
              </a:rPr>
              <a:t>which</a:t>
            </a:r>
            <a:r>
              <a:rPr sz="3600" spc="15" dirty="0">
                <a:solidFill>
                  <a:srgbClr val="2E377E"/>
                </a:solidFill>
                <a:latin typeface="Georgia"/>
                <a:cs typeface="Georgia"/>
              </a:rPr>
              <a:t> </a:t>
            </a:r>
            <a:r>
              <a:rPr sz="3600" dirty="0">
                <a:solidFill>
                  <a:srgbClr val="2E377E"/>
                </a:solidFill>
                <a:latin typeface="Georgia"/>
                <a:cs typeface="Georgia"/>
              </a:rPr>
              <a:t>are</a:t>
            </a:r>
            <a:r>
              <a:rPr sz="3600" spc="15" dirty="0">
                <a:solidFill>
                  <a:srgbClr val="2E377E"/>
                </a:solidFill>
                <a:latin typeface="Georgia"/>
                <a:cs typeface="Georgia"/>
              </a:rPr>
              <a:t> </a:t>
            </a:r>
            <a:r>
              <a:rPr sz="3600" dirty="0">
                <a:solidFill>
                  <a:srgbClr val="2E377E"/>
                </a:solidFill>
                <a:latin typeface="Georgia"/>
                <a:cs typeface="Georgia"/>
              </a:rPr>
              <a:t>used</a:t>
            </a:r>
            <a:r>
              <a:rPr sz="3600" spc="15" dirty="0">
                <a:solidFill>
                  <a:srgbClr val="2E377E"/>
                </a:solidFill>
                <a:latin typeface="Georgia"/>
                <a:cs typeface="Georgia"/>
              </a:rPr>
              <a:t> </a:t>
            </a:r>
            <a:r>
              <a:rPr sz="3600" spc="35" dirty="0">
                <a:solidFill>
                  <a:srgbClr val="2E377E"/>
                </a:solidFill>
                <a:latin typeface="Georgia"/>
                <a:cs typeface="Georgia"/>
              </a:rPr>
              <a:t>to </a:t>
            </a:r>
            <a:r>
              <a:rPr sz="3600" dirty="0">
                <a:solidFill>
                  <a:srgbClr val="2E377E"/>
                </a:solidFill>
                <a:latin typeface="Georgia"/>
                <a:cs typeface="Georgia"/>
              </a:rPr>
              <a:t>authenticate</a:t>
            </a:r>
            <a:r>
              <a:rPr sz="3600" spc="75" dirty="0">
                <a:solidFill>
                  <a:srgbClr val="2E377E"/>
                </a:solidFill>
                <a:latin typeface="Georgia"/>
                <a:cs typeface="Georgia"/>
              </a:rPr>
              <a:t> </a:t>
            </a:r>
            <a:r>
              <a:rPr sz="3600" spc="50" dirty="0">
                <a:solidFill>
                  <a:srgbClr val="2E377E"/>
                </a:solidFill>
                <a:latin typeface="Georgia"/>
                <a:cs typeface="Georgia"/>
              </a:rPr>
              <a:t>the</a:t>
            </a:r>
            <a:r>
              <a:rPr sz="3600" spc="75" dirty="0">
                <a:solidFill>
                  <a:srgbClr val="2E377E"/>
                </a:solidFill>
                <a:latin typeface="Georgia"/>
                <a:cs typeface="Georgia"/>
              </a:rPr>
              <a:t> </a:t>
            </a:r>
            <a:r>
              <a:rPr sz="3600" spc="45" dirty="0">
                <a:solidFill>
                  <a:srgbClr val="2E377E"/>
                </a:solidFill>
                <a:latin typeface="Georgia"/>
                <a:cs typeface="Georgia"/>
              </a:rPr>
              <a:t>service’s</a:t>
            </a:r>
            <a:r>
              <a:rPr sz="3600" spc="75" dirty="0">
                <a:solidFill>
                  <a:srgbClr val="2E377E"/>
                </a:solidFill>
                <a:latin typeface="Georgia"/>
                <a:cs typeface="Georgia"/>
              </a:rPr>
              <a:t> </a:t>
            </a:r>
            <a:r>
              <a:rPr sz="3600" spc="-10" dirty="0">
                <a:solidFill>
                  <a:srgbClr val="2E377E"/>
                </a:solidFill>
                <a:latin typeface="Georgia"/>
                <a:cs typeface="Georgia"/>
              </a:rPr>
              <a:t>requests.</a:t>
            </a:r>
            <a:endParaRPr sz="3600">
              <a:latin typeface="Georgia"/>
              <a:cs typeface="Georgia"/>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5721" rIns="0" bIns="0" rtlCol="0">
            <a:spAutoFit/>
          </a:bodyPr>
          <a:lstStyle/>
          <a:p>
            <a:pPr marL="95885">
              <a:lnSpc>
                <a:spcPct val="100000"/>
              </a:lnSpc>
              <a:spcBef>
                <a:spcPts val="100"/>
              </a:spcBef>
            </a:pPr>
            <a:r>
              <a:rPr spc="335" dirty="0">
                <a:solidFill>
                  <a:srgbClr val="FF3131"/>
                </a:solidFill>
              </a:rPr>
              <a:t>Which</a:t>
            </a:r>
            <a:r>
              <a:rPr spc="-45" dirty="0">
                <a:solidFill>
                  <a:srgbClr val="FF3131"/>
                </a:solidFill>
              </a:rPr>
              <a:t> </a:t>
            </a:r>
            <a:r>
              <a:rPr spc="225" dirty="0">
                <a:solidFill>
                  <a:srgbClr val="FF3131"/>
                </a:solidFill>
              </a:rPr>
              <a:t>account</a:t>
            </a:r>
            <a:r>
              <a:rPr spc="-40" dirty="0">
                <a:solidFill>
                  <a:srgbClr val="FF3131"/>
                </a:solidFill>
              </a:rPr>
              <a:t> </a:t>
            </a:r>
            <a:r>
              <a:rPr spc="240" dirty="0">
                <a:solidFill>
                  <a:srgbClr val="FF3131"/>
                </a:solidFill>
              </a:rPr>
              <a:t>type</a:t>
            </a:r>
            <a:r>
              <a:rPr spc="-40" dirty="0">
                <a:solidFill>
                  <a:srgbClr val="FF3131"/>
                </a:solidFill>
              </a:rPr>
              <a:t> </a:t>
            </a:r>
            <a:r>
              <a:rPr spc="254" dirty="0">
                <a:solidFill>
                  <a:srgbClr val="FF3131"/>
                </a:solidFill>
              </a:rPr>
              <a:t>should</a:t>
            </a:r>
            <a:r>
              <a:rPr spc="-40" dirty="0">
                <a:solidFill>
                  <a:srgbClr val="FF3131"/>
                </a:solidFill>
              </a:rPr>
              <a:t> </a:t>
            </a:r>
            <a:r>
              <a:rPr spc="320" dirty="0">
                <a:solidFill>
                  <a:srgbClr val="FF3131"/>
                </a:solidFill>
              </a:rPr>
              <a:t>you</a:t>
            </a:r>
            <a:r>
              <a:rPr spc="-40" dirty="0">
                <a:solidFill>
                  <a:srgbClr val="FF3131"/>
                </a:solidFill>
              </a:rPr>
              <a:t> </a:t>
            </a:r>
            <a:r>
              <a:rPr spc="75" dirty="0">
                <a:solidFill>
                  <a:srgbClr val="FF3131"/>
                </a:solidFill>
              </a:rPr>
              <a:t>use?</a:t>
            </a:r>
          </a:p>
        </p:txBody>
      </p:sp>
      <p:pic>
        <p:nvPicPr>
          <p:cNvPr id="3" name="object 3"/>
          <p:cNvPicPr/>
          <p:nvPr/>
        </p:nvPicPr>
        <p:blipFill>
          <a:blip r:embed="rId2" cstate="print"/>
          <a:stretch>
            <a:fillRect/>
          </a:stretch>
        </p:blipFill>
        <p:spPr>
          <a:xfrm>
            <a:off x="1129091" y="2779487"/>
            <a:ext cx="133350" cy="133349"/>
          </a:xfrm>
          <a:prstGeom prst="rect">
            <a:avLst/>
          </a:prstGeom>
        </p:spPr>
      </p:pic>
      <p:pic>
        <p:nvPicPr>
          <p:cNvPr id="4" name="object 4"/>
          <p:cNvPicPr/>
          <p:nvPr/>
        </p:nvPicPr>
        <p:blipFill>
          <a:blip r:embed="rId2" cstate="print"/>
          <a:stretch>
            <a:fillRect/>
          </a:stretch>
        </p:blipFill>
        <p:spPr>
          <a:xfrm>
            <a:off x="1129091" y="3417661"/>
            <a:ext cx="133350" cy="133349"/>
          </a:xfrm>
          <a:prstGeom prst="rect">
            <a:avLst/>
          </a:prstGeom>
        </p:spPr>
      </p:pic>
      <p:pic>
        <p:nvPicPr>
          <p:cNvPr id="5" name="object 5"/>
          <p:cNvPicPr/>
          <p:nvPr/>
        </p:nvPicPr>
        <p:blipFill>
          <a:blip r:embed="rId2" cstate="print"/>
          <a:stretch>
            <a:fillRect/>
          </a:stretch>
        </p:blipFill>
        <p:spPr>
          <a:xfrm>
            <a:off x="1129091" y="5332186"/>
            <a:ext cx="133350" cy="133349"/>
          </a:xfrm>
          <a:prstGeom prst="rect">
            <a:avLst/>
          </a:prstGeom>
        </p:spPr>
      </p:pic>
      <p:pic>
        <p:nvPicPr>
          <p:cNvPr id="6" name="object 6"/>
          <p:cNvPicPr/>
          <p:nvPr/>
        </p:nvPicPr>
        <p:blipFill>
          <a:blip r:embed="rId2" cstate="print"/>
          <a:stretch>
            <a:fillRect/>
          </a:stretch>
        </p:blipFill>
        <p:spPr>
          <a:xfrm>
            <a:off x="1129091" y="5970361"/>
            <a:ext cx="133350" cy="133349"/>
          </a:xfrm>
          <a:prstGeom prst="rect">
            <a:avLst/>
          </a:prstGeom>
        </p:spPr>
      </p:pic>
      <p:sp>
        <p:nvSpPr>
          <p:cNvPr id="7" name="object 7"/>
          <p:cNvSpPr txBox="1"/>
          <p:nvPr/>
        </p:nvSpPr>
        <p:spPr>
          <a:xfrm>
            <a:off x="668716" y="1781901"/>
            <a:ext cx="13615669" cy="4492625"/>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Use</a:t>
            </a:r>
            <a:r>
              <a:rPr sz="3600" spc="-10" dirty="0">
                <a:solidFill>
                  <a:srgbClr val="2E377E"/>
                </a:solidFill>
                <a:latin typeface="Georgia"/>
                <a:cs typeface="Georgia"/>
              </a:rPr>
              <a:t> </a:t>
            </a:r>
            <a:r>
              <a:rPr sz="3600" dirty="0">
                <a:solidFill>
                  <a:srgbClr val="2E377E"/>
                </a:solidFill>
                <a:latin typeface="Georgia"/>
                <a:cs typeface="Georgia"/>
              </a:rPr>
              <a:t>a</a:t>
            </a:r>
            <a:r>
              <a:rPr sz="3600" spc="-10" dirty="0">
                <a:solidFill>
                  <a:srgbClr val="2E377E"/>
                </a:solidFill>
                <a:latin typeface="Georgia"/>
                <a:cs typeface="Georgia"/>
              </a:rPr>
              <a:t> </a:t>
            </a:r>
            <a:r>
              <a:rPr sz="3600" dirty="0">
                <a:solidFill>
                  <a:srgbClr val="2E377E"/>
                </a:solidFill>
                <a:latin typeface="Georgia"/>
                <a:cs typeface="Georgia"/>
              </a:rPr>
              <a:t>user</a:t>
            </a:r>
            <a:r>
              <a:rPr sz="3600" spc="-5" dirty="0">
                <a:solidFill>
                  <a:srgbClr val="2E377E"/>
                </a:solidFill>
                <a:latin typeface="Georgia"/>
                <a:cs typeface="Georgia"/>
              </a:rPr>
              <a:t> </a:t>
            </a:r>
            <a:r>
              <a:rPr sz="3600" dirty="0">
                <a:solidFill>
                  <a:srgbClr val="2E377E"/>
                </a:solidFill>
                <a:latin typeface="Georgia"/>
                <a:cs typeface="Georgia"/>
              </a:rPr>
              <a:t>account</a:t>
            </a:r>
            <a:r>
              <a:rPr sz="3600" spc="-10" dirty="0">
                <a:solidFill>
                  <a:srgbClr val="2E377E"/>
                </a:solidFill>
                <a:latin typeface="Georgia"/>
                <a:cs typeface="Georgia"/>
              </a:rPr>
              <a:t> </a:t>
            </a:r>
            <a:r>
              <a:rPr sz="3600" spc="-25" dirty="0">
                <a:solidFill>
                  <a:srgbClr val="2E377E"/>
                </a:solidFill>
                <a:latin typeface="Georgia"/>
                <a:cs typeface="Georgia"/>
              </a:rPr>
              <a:t>if:</a:t>
            </a:r>
            <a:endParaRPr sz="3600">
              <a:latin typeface="Georgia"/>
              <a:cs typeface="Georgia"/>
            </a:endParaRPr>
          </a:p>
          <a:p>
            <a:pPr marL="789305">
              <a:lnSpc>
                <a:spcPct val="100000"/>
              </a:lnSpc>
              <a:spcBef>
                <a:spcPts val="705"/>
              </a:spcBef>
            </a:pPr>
            <a:r>
              <a:rPr sz="3600" dirty="0">
                <a:solidFill>
                  <a:srgbClr val="2E377E"/>
                </a:solidFill>
                <a:latin typeface="Georgia"/>
                <a:cs typeface="Georgia"/>
              </a:rPr>
              <a:t>You</a:t>
            </a:r>
            <a:r>
              <a:rPr sz="3600" spc="10" dirty="0">
                <a:solidFill>
                  <a:srgbClr val="2E377E"/>
                </a:solidFill>
                <a:latin typeface="Georgia"/>
                <a:cs typeface="Georgia"/>
              </a:rPr>
              <a:t> </a:t>
            </a:r>
            <a:r>
              <a:rPr sz="3600" dirty="0">
                <a:solidFill>
                  <a:srgbClr val="2E377E"/>
                </a:solidFill>
                <a:latin typeface="Georgia"/>
                <a:cs typeface="Georgia"/>
              </a:rPr>
              <a:t>need</a:t>
            </a:r>
            <a:r>
              <a:rPr sz="3600" spc="10" dirty="0">
                <a:solidFill>
                  <a:srgbClr val="2E377E"/>
                </a:solidFill>
                <a:latin typeface="Georgia"/>
                <a:cs typeface="Georgia"/>
              </a:rPr>
              <a:t> </a:t>
            </a:r>
            <a:r>
              <a:rPr sz="3600" spc="6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log</a:t>
            </a:r>
            <a:r>
              <a:rPr sz="3600" spc="15" dirty="0">
                <a:solidFill>
                  <a:srgbClr val="2E377E"/>
                </a:solidFill>
                <a:latin typeface="Georgia"/>
                <a:cs typeface="Georgia"/>
              </a:rPr>
              <a:t> </a:t>
            </a:r>
            <a:r>
              <a:rPr sz="3600" dirty="0">
                <a:solidFill>
                  <a:srgbClr val="2E377E"/>
                </a:solidFill>
                <a:latin typeface="Georgia"/>
                <a:cs typeface="Georgia"/>
              </a:rPr>
              <a:t>into</a:t>
            </a:r>
            <a:r>
              <a:rPr sz="3600" spc="10"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cluster</a:t>
            </a:r>
            <a:r>
              <a:rPr sz="3600" spc="10" dirty="0">
                <a:solidFill>
                  <a:srgbClr val="2E377E"/>
                </a:solidFill>
                <a:latin typeface="Georgia"/>
                <a:cs typeface="Georgia"/>
              </a:rPr>
              <a:t> </a:t>
            </a:r>
            <a:r>
              <a:rPr sz="3600" spc="6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administer</a:t>
            </a:r>
            <a:r>
              <a:rPr sz="3600" spc="10" dirty="0">
                <a:solidFill>
                  <a:srgbClr val="2E377E"/>
                </a:solidFill>
                <a:latin typeface="Georgia"/>
                <a:cs typeface="Georgia"/>
              </a:rPr>
              <a:t> </a:t>
            </a:r>
            <a:r>
              <a:rPr sz="3600" spc="30" dirty="0">
                <a:solidFill>
                  <a:srgbClr val="2E377E"/>
                </a:solidFill>
                <a:latin typeface="Georgia"/>
                <a:cs typeface="Georgia"/>
              </a:rPr>
              <a:t>it</a:t>
            </a:r>
            <a:endParaRPr sz="3600">
              <a:latin typeface="Georgia"/>
              <a:cs typeface="Georgia"/>
            </a:endParaRPr>
          </a:p>
          <a:p>
            <a:pPr marL="789305">
              <a:lnSpc>
                <a:spcPct val="100000"/>
              </a:lnSpc>
              <a:spcBef>
                <a:spcPts val="705"/>
              </a:spcBef>
            </a:pPr>
            <a:r>
              <a:rPr sz="3600" dirty="0">
                <a:solidFill>
                  <a:srgbClr val="2E377E"/>
                </a:solidFill>
                <a:latin typeface="Georgia"/>
                <a:cs typeface="Georgia"/>
              </a:rPr>
              <a:t>You</a:t>
            </a:r>
            <a:r>
              <a:rPr sz="3600" spc="5" dirty="0">
                <a:solidFill>
                  <a:srgbClr val="2E377E"/>
                </a:solidFill>
                <a:latin typeface="Georgia"/>
                <a:cs typeface="Georgia"/>
              </a:rPr>
              <a:t> </a:t>
            </a:r>
            <a:r>
              <a:rPr sz="3600" dirty="0">
                <a:solidFill>
                  <a:srgbClr val="2E377E"/>
                </a:solidFill>
                <a:latin typeface="Georgia"/>
                <a:cs typeface="Georgia"/>
              </a:rPr>
              <a:t>need</a:t>
            </a:r>
            <a:r>
              <a:rPr sz="3600" spc="10" dirty="0">
                <a:solidFill>
                  <a:srgbClr val="2E377E"/>
                </a:solidFill>
                <a:latin typeface="Georgia"/>
                <a:cs typeface="Georgia"/>
              </a:rPr>
              <a:t> </a:t>
            </a:r>
            <a:r>
              <a:rPr sz="3600" spc="6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access</a:t>
            </a:r>
            <a:r>
              <a:rPr sz="3600" spc="10" dirty="0">
                <a:solidFill>
                  <a:srgbClr val="2E377E"/>
                </a:solidFill>
                <a:latin typeface="Georgia"/>
                <a:cs typeface="Georgia"/>
              </a:rPr>
              <a:t> </a:t>
            </a:r>
            <a:r>
              <a:rPr sz="3600" dirty="0">
                <a:solidFill>
                  <a:srgbClr val="2E377E"/>
                </a:solidFill>
                <a:latin typeface="Georgia"/>
                <a:cs typeface="Georgia"/>
              </a:rPr>
              <a:t>resources</a:t>
            </a:r>
            <a:r>
              <a:rPr sz="3600" spc="5" dirty="0">
                <a:solidFill>
                  <a:srgbClr val="2E377E"/>
                </a:solidFill>
                <a:latin typeface="Georgia"/>
                <a:cs typeface="Georgia"/>
              </a:rPr>
              <a:t> </a:t>
            </a:r>
            <a:r>
              <a:rPr sz="3600" dirty="0">
                <a:solidFill>
                  <a:srgbClr val="2E377E"/>
                </a:solidFill>
                <a:latin typeface="Georgia"/>
                <a:cs typeface="Georgia"/>
              </a:rPr>
              <a:t>that</a:t>
            </a:r>
            <a:r>
              <a:rPr sz="3600" spc="10" dirty="0">
                <a:solidFill>
                  <a:srgbClr val="2E377E"/>
                </a:solidFill>
                <a:latin typeface="Georgia"/>
                <a:cs typeface="Georgia"/>
              </a:rPr>
              <a:t> </a:t>
            </a:r>
            <a:r>
              <a:rPr sz="3600" dirty="0">
                <a:solidFill>
                  <a:srgbClr val="2E377E"/>
                </a:solidFill>
                <a:latin typeface="Georgia"/>
                <a:cs typeface="Georgia"/>
              </a:rPr>
              <a:t>are</a:t>
            </a:r>
            <a:r>
              <a:rPr sz="3600" spc="5" dirty="0">
                <a:solidFill>
                  <a:srgbClr val="2E377E"/>
                </a:solidFill>
                <a:latin typeface="Georgia"/>
                <a:cs typeface="Georgia"/>
              </a:rPr>
              <a:t> </a:t>
            </a:r>
            <a:r>
              <a:rPr sz="3600" spc="55" dirty="0">
                <a:solidFill>
                  <a:srgbClr val="2E377E"/>
                </a:solidFill>
                <a:latin typeface="Georgia"/>
                <a:cs typeface="Georgia"/>
              </a:rPr>
              <a:t>owned</a:t>
            </a:r>
            <a:r>
              <a:rPr sz="3600" spc="10" dirty="0">
                <a:solidFill>
                  <a:srgbClr val="2E377E"/>
                </a:solidFill>
                <a:latin typeface="Georgia"/>
                <a:cs typeface="Georgia"/>
              </a:rPr>
              <a:t> </a:t>
            </a:r>
            <a:r>
              <a:rPr sz="3600" spc="90" dirty="0">
                <a:solidFill>
                  <a:srgbClr val="2E377E"/>
                </a:solidFill>
                <a:latin typeface="Georgia"/>
                <a:cs typeface="Georgia"/>
              </a:rPr>
              <a:t>by</a:t>
            </a:r>
            <a:r>
              <a:rPr sz="3600" spc="5"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spc="-10" dirty="0">
                <a:solidFill>
                  <a:srgbClr val="2E377E"/>
                </a:solidFill>
                <a:latin typeface="Georgia"/>
                <a:cs typeface="Georgia"/>
              </a:rPr>
              <a:t>user.</a:t>
            </a:r>
            <a:endParaRPr sz="3600">
              <a:latin typeface="Georgia"/>
              <a:cs typeface="Georgia"/>
            </a:endParaRPr>
          </a:p>
          <a:p>
            <a:pPr>
              <a:lnSpc>
                <a:spcPct val="100000"/>
              </a:lnSpc>
              <a:spcBef>
                <a:spcPts val="1635"/>
              </a:spcBef>
            </a:pPr>
            <a:endParaRPr sz="3600">
              <a:latin typeface="Georgia"/>
              <a:cs typeface="Georgia"/>
            </a:endParaRPr>
          </a:p>
          <a:p>
            <a:pPr marL="12700">
              <a:lnSpc>
                <a:spcPct val="100000"/>
              </a:lnSpc>
              <a:spcBef>
                <a:spcPts val="5"/>
              </a:spcBef>
            </a:pPr>
            <a:r>
              <a:rPr sz="3600" dirty="0">
                <a:solidFill>
                  <a:srgbClr val="2E377E"/>
                </a:solidFill>
                <a:latin typeface="Georgia"/>
                <a:cs typeface="Georgia"/>
              </a:rPr>
              <a:t>Use</a:t>
            </a:r>
            <a:r>
              <a:rPr sz="3600" spc="-45" dirty="0">
                <a:solidFill>
                  <a:srgbClr val="2E377E"/>
                </a:solidFill>
                <a:latin typeface="Georgia"/>
                <a:cs typeface="Georgia"/>
              </a:rPr>
              <a:t> </a:t>
            </a:r>
            <a:r>
              <a:rPr sz="3600" dirty="0">
                <a:solidFill>
                  <a:srgbClr val="2E377E"/>
                </a:solidFill>
                <a:latin typeface="Georgia"/>
                <a:cs typeface="Georgia"/>
              </a:rPr>
              <a:t>a</a:t>
            </a:r>
            <a:r>
              <a:rPr sz="3600" spc="-40" dirty="0">
                <a:solidFill>
                  <a:srgbClr val="2E377E"/>
                </a:solidFill>
                <a:latin typeface="Georgia"/>
                <a:cs typeface="Georgia"/>
              </a:rPr>
              <a:t> </a:t>
            </a:r>
            <a:r>
              <a:rPr sz="3600" spc="50" dirty="0">
                <a:solidFill>
                  <a:srgbClr val="2E377E"/>
                </a:solidFill>
                <a:latin typeface="Georgia"/>
                <a:cs typeface="Georgia"/>
              </a:rPr>
              <a:t>service</a:t>
            </a:r>
            <a:r>
              <a:rPr sz="3600" spc="-40" dirty="0">
                <a:solidFill>
                  <a:srgbClr val="2E377E"/>
                </a:solidFill>
                <a:latin typeface="Georgia"/>
                <a:cs typeface="Georgia"/>
              </a:rPr>
              <a:t> </a:t>
            </a:r>
            <a:r>
              <a:rPr sz="3600" dirty="0">
                <a:solidFill>
                  <a:srgbClr val="2E377E"/>
                </a:solidFill>
                <a:latin typeface="Georgia"/>
                <a:cs typeface="Georgia"/>
              </a:rPr>
              <a:t>account</a:t>
            </a:r>
            <a:r>
              <a:rPr sz="3600" spc="-45" dirty="0">
                <a:solidFill>
                  <a:srgbClr val="2E377E"/>
                </a:solidFill>
                <a:latin typeface="Georgia"/>
                <a:cs typeface="Georgia"/>
              </a:rPr>
              <a:t> </a:t>
            </a:r>
            <a:r>
              <a:rPr sz="3600" spc="-25" dirty="0">
                <a:solidFill>
                  <a:srgbClr val="2E377E"/>
                </a:solidFill>
                <a:latin typeface="Georgia"/>
                <a:cs typeface="Georgia"/>
              </a:rPr>
              <a:t>if:</a:t>
            </a:r>
            <a:endParaRPr sz="3600">
              <a:latin typeface="Georgia"/>
              <a:cs typeface="Georgia"/>
            </a:endParaRPr>
          </a:p>
          <a:p>
            <a:pPr marL="789305" marR="5080">
              <a:lnSpc>
                <a:spcPct val="116300"/>
              </a:lnSpc>
            </a:pPr>
            <a:r>
              <a:rPr sz="3600" dirty="0">
                <a:solidFill>
                  <a:srgbClr val="2E377E"/>
                </a:solidFill>
                <a:latin typeface="Georgia"/>
                <a:cs typeface="Georgia"/>
              </a:rPr>
              <a:t>You</a:t>
            </a:r>
            <a:r>
              <a:rPr sz="3600" spc="10" dirty="0">
                <a:solidFill>
                  <a:srgbClr val="2E377E"/>
                </a:solidFill>
                <a:latin typeface="Georgia"/>
                <a:cs typeface="Georgia"/>
              </a:rPr>
              <a:t> </a:t>
            </a:r>
            <a:r>
              <a:rPr sz="3600" dirty="0">
                <a:solidFill>
                  <a:srgbClr val="2E377E"/>
                </a:solidFill>
                <a:latin typeface="Georgia"/>
                <a:cs typeface="Georgia"/>
              </a:rPr>
              <a:t>are</a:t>
            </a:r>
            <a:r>
              <a:rPr sz="3600" spc="10" dirty="0">
                <a:solidFill>
                  <a:srgbClr val="2E377E"/>
                </a:solidFill>
                <a:latin typeface="Georgia"/>
                <a:cs typeface="Georgia"/>
              </a:rPr>
              <a:t> </a:t>
            </a:r>
            <a:r>
              <a:rPr sz="3600" dirty="0">
                <a:solidFill>
                  <a:srgbClr val="2E377E"/>
                </a:solidFill>
                <a:latin typeface="Georgia"/>
                <a:cs typeface="Georgia"/>
              </a:rPr>
              <a:t>running</a:t>
            </a:r>
            <a:r>
              <a:rPr sz="3600" spc="15" dirty="0">
                <a:solidFill>
                  <a:srgbClr val="2E377E"/>
                </a:solidFill>
                <a:latin typeface="Georgia"/>
                <a:cs typeface="Georgia"/>
              </a:rPr>
              <a:t> </a:t>
            </a:r>
            <a:r>
              <a:rPr sz="3600" dirty="0">
                <a:solidFill>
                  <a:srgbClr val="2E377E"/>
                </a:solidFill>
                <a:latin typeface="Georgia"/>
                <a:cs typeface="Georgia"/>
              </a:rPr>
              <a:t>a</a:t>
            </a:r>
            <a:r>
              <a:rPr sz="3600" spc="10" dirty="0">
                <a:solidFill>
                  <a:srgbClr val="2E377E"/>
                </a:solidFill>
                <a:latin typeface="Georgia"/>
                <a:cs typeface="Georgia"/>
              </a:rPr>
              <a:t> </a:t>
            </a:r>
            <a:r>
              <a:rPr sz="3600" spc="50" dirty="0">
                <a:solidFill>
                  <a:srgbClr val="2E377E"/>
                </a:solidFill>
                <a:latin typeface="Georgia"/>
                <a:cs typeface="Georgia"/>
              </a:rPr>
              <a:t>service</a:t>
            </a:r>
            <a:r>
              <a:rPr sz="3600" spc="10"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dirty="0">
                <a:solidFill>
                  <a:srgbClr val="2E377E"/>
                </a:solidFill>
                <a:latin typeface="Georgia"/>
                <a:cs typeface="Georgia"/>
              </a:rPr>
              <a:t>need</a:t>
            </a:r>
            <a:r>
              <a:rPr sz="3600" spc="10" dirty="0">
                <a:solidFill>
                  <a:srgbClr val="2E377E"/>
                </a:solidFill>
                <a:latin typeface="Georgia"/>
                <a:cs typeface="Georgia"/>
              </a:rPr>
              <a:t> </a:t>
            </a:r>
            <a:r>
              <a:rPr sz="3600" spc="6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authenticate</a:t>
            </a:r>
            <a:r>
              <a:rPr sz="3600" spc="10" dirty="0">
                <a:solidFill>
                  <a:srgbClr val="2E377E"/>
                </a:solidFill>
                <a:latin typeface="Georgia"/>
                <a:cs typeface="Georgia"/>
              </a:rPr>
              <a:t> </a:t>
            </a:r>
            <a:r>
              <a:rPr sz="3600" dirty="0">
                <a:solidFill>
                  <a:srgbClr val="2E377E"/>
                </a:solidFill>
                <a:latin typeface="Georgia"/>
                <a:cs typeface="Georgia"/>
              </a:rPr>
              <a:t>its</a:t>
            </a:r>
            <a:r>
              <a:rPr sz="3600" spc="10" dirty="0">
                <a:solidFill>
                  <a:srgbClr val="2E377E"/>
                </a:solidFill>
                <a:latin typeface="Georgia"/>
                <a:cs typeface="Georgia"/>
              </a:rPr>
              <a:t> </a:t>
            </a:r>
            <a:r>
              <a:rPr sz="3600" spc="-10" dirty="0">
                <a:solidFill>
                  <a:srgbClr val="2E377E"/>
                </a:solidFill>
                <a:latin typeface="Georgia"/>
                <a:cs typeface="Georgia"/>
              </a:rPr>
              <a:t>requests </a:t>
            </a:r>
            <a:r>
              <a:rPr sz="3600" dirty="0">
                <a:solidFill>
                  <a:srgbClr val="2E377E"/>
                </a:solidFill>
                <a:latin typeface="Georgia"/>
                <a:cs typeface="Georgia"/>
              </a:rPr>
              <a:t>You</a:t>
            </a:r>
            <a:r>
              <a:rPr sz="3600" spc="5" dirty="0">
                <a:solidFill>
                  <a:srgbClr val="2E377E"/>
                </a:solidFill>
                <a:latin typeface="Georgia"/>
                <a:cs typeface="Georgia"/>
              </a:rPr>
              <a:t> </a:t>
            </a:r>
            <a:r>
              <a:rPr sz="3600" dirty="0">
                <a:solidFill>
                  <a:srgbClr val="2E377E"/>
                </a:solidFill>
                <a:latin typeface="Georgia"/>
                <a:cs typeface="Georgia"/>
              </a:rPr>
              <a:t>need</a:t>
            </a:r>
            <a:r>
              <a:rPr sz="3600" spc="10" dirty="0">
                <a:solidFill>
                  <a:srgbClr val="2E377E"/>
                </a:solidFill>
                <a:latin typeface="Georgia"/>
                <a:cs typeface="Georgia"/>
              </a:rPr>
              <a:t> </a:t>
            </a:r>
            <a:r>
              <a:rPr sz="3600" spc="60" dirty="0">
                <a:solidFill>
                  <a:srgbClr val="2E377E"/>
                </a:solidFill>
                <a:latin typeface="Georgia"/>
                <a:cs typeface="Georgia"/>
              </a:rPr>
              <a:t>to</a:t>
            </a:r>
            <a:r>
              <a:rPr sz="3600" spc="5" dirty="0">
                <a:solidFill>
                  <a:srgbClr val="2E377E"/>
                </a:solidFill>
                <a:latin typeface="Georgia"/>
                <a:cs typeface="Georgia"/>
              </a:rPr>
              <a:t> </a:t>
            </a:r>
            <a:r>
              <a:rPr sz="3600" dirty="0">
                <a:solidFill>
                  <a:srgbClr val="2E377E"/>
                </a:solidFill>
                <a:latin typeface="Georgia"/>
                <a:cs typeface="Georgia"/>
              </a:rPr>
              <a:t>access</a:t>
            </a:r>
            <a:r>
              <a:rPr sz="3600" spc="10" dirty="0">
                <a:solidFill>
                  <a:srgbClr val="2E377E"/>
                </a:solidFill>
                <a:latin typeface="Georgia"/>
                <a:cs typeface="Georgia"/>
              </a:rPr>
              <a:t> </a:t>
            </a:r>
            <a:r>
              <a:rPr sz="3600" dirty="0">
                <a:solidFill>
                  <a:srgbClr val="2E377E"/>
                </a:solidFill>
                <a:latin typeface="Georgia"/>
                <a:cs typeface="Georgia"/>
              </a:rPr>
              <a:t>resources</a:t>
            </a:r>
            <a:r>
              <a:rPr sz="3600" spc="5" dirty="0">
                <a:solidFill>
                  <a:srgbClr val="2E377E"/>
                </a:solidFill>
                <a:latin typeface="Georgia"/>
                <a:cs typeface="Georgia"/>
              </a:rPr>
              <a:t> </a:t>
            </a:r>
            <a:r>
              <a:rPr sz="3600" dirty="0">
                <a:solidFill>
                  <a:srgbClr val="2E377E"/>
                </a:solidFill>
                <a:latin typeface="Georgia"/>
                <a:cs typeface="Georgia"/>
              </a:rPr>
              <a:t>that</a:t>
            </a:r>
            <a:r>
              <a:rPr sz="3600" spc="10" dirty="0">
                <a:solidFill>
                  <a:srgbClr val="2E377E"/>
                </a:solidFill>
                <a:latin typeface="Georgia"/>
                <a:cs typeface="Georgia"/>
              </a:rPr>
              <a:t> </a:t>
            </a:r>
            <a:r>
              <a:rPr sz="3600" dirty="0">
                <a:solidFill>
                  <a:srgbClr val="2E377E"/>
                </a:solidFill>
                <a:latin typeface="Georgia"/>
                <a:cs typeface="Georgia"/>
              </a:rPr>
              <a:t>are</a:t>
            </a:r>
            <a:r>
              <a:rPr sz="3600" spc="5" dirty="0">
                <a:solidFill>
                  <a:srgbClr val="2E377E"/>
                </a:solidFill>
                <a:latin typeface="Georgia"/>
                <a:cs typeface="Georgia"/>
              </a:rPr>
              <a:t> </a:t>
            </a:r>
            <a:r>
              <a:rPr sz="3600" spc="55" dirty="0">
                <a:solidFill>
                  <a:srgbClr val="2E377E"/>
                </a:solidFill>
                <a:latin typeface="Georgia"/>
                <a:cs typeface="Georgia"/>
              </a:rPr>
              <a:t>owned</a:t>
            </a:r>
            <a:r>
              <a:rPr sz="3600" spc="10" dirty="0">
                <a:solidFill>
                  <a:srgbClr val="2E377E"/>
                </a:solidFill>
                <a:latin typeface="Georgia"/>
                <a:cs typeface="Georgia"/>
              </a:rPr>
              <a:t> </a:t>
            </a:r>
            <a:r>
              <a:rPr sz="3600" spc="90" dirty="0">
                <a:solidFill>
                  <a:srgbClr val="2E377E"/>
                </a:solidFill>
                <a:latin typeface="Georgia"/>
                <a:cs typeface="Georgia"/>
              </a:rPr>
              <a:t>by</a:t>
            </a:r>
            <a:r>
              <a:rPr sz="3600" spc="5"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spc="40" dirty="0">
                <a:solidFill>
                  <a:srgbClr val="2E377E"/>
                </a:solidFill>
                <a:latin typeface="Georgia"/>
                <a:cs typeface="Georgia"/>
              </a:rPr>
              <a:t>service</a:t>
            </a:r>
            <a:endParaRPr sz="3600">
              <a:latin typeface="Georgia"/>
              <a:cs typeface="Georgia"/>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98016" y="475654"/>
            <a:ext cx="16391890" cy="8585200"/>
          </a:xfrm>
          <a:prstGeom prst="rect">
            <a:avLst/>
          </a:prstGeom>
        </p:spPr>
        <p:txBody>
          <a:bodyPr vert="horz" wrap="square" lIns="0" tIns="12700" rIns="0" bIns="0" rtlCol="0">
            <a:spAutoFit/>
          </a:bodyPr>
          <a:lstStyle/>
          <a:p>
            <a:pPr marL="412750" marR="6607809" indent="-400685">
              <a:lnSpc>
                <a:spcPct val="115500"/>
              </a:lnSpc>
              <a:spcBef>
                <a:spcPts val="100"/>
              </a:spcBef>
            </a:pPr>
            <a:r>
              <a:rPr sz="3300" dirty="0">
                <a:solidFill>
                  <a:srgbClr val="2E377E"/>
                </a:solidFill>
                <a:latin typeface="Georgia"/>
                <a:cs typeface="Georgia"/>
              </a:rPr>
              <a:t>There are three</a:t>
            </a:r>
            <a:r>
              <a:rPr sz="3300" spc="5" dirty="0">
                <a:solidFill>
                  <a:srgbClr val="2E377E"/>
                </a:solidFill>
                <a:latin typeface="Georgia"/>
                <a:cs typeface="Georgia"/>
              </a:rPr>
              <a:t> </a:t>
            </a:r>
            <a:r>
              <a:rPr sz="3300" dirty="0">
                <a:solidFill>
                  <a:srgbClr val="2E377E"/>
                </a:solidFill>
                <a:latin typeface="Georgia"/>
                <a:cs typeface="Georgia"/>
              </a:rPr>
              <a:t>components </a:t>
            </a:r>
            <a:r>
              <a:rPr sz="3300" spc="55" dirty="0">
                <a:solidFill>
                  <a:srgbClr val="2E377E"/>
                </a:solidFill>
                <a:latin typeface="Georgia"/>
                <a:cs typeface="Georgia"/>
              </a:rPr>
              <a:t>to</a:t>
            </a:r>
            <a:r>
              <a:rPr sz="3300" dirty="0">
                <a:solidFill>
                  <a:srgbClr val="2E377E"/>
                </a:solidFill>
                <a:latin typeface="Georgia"/>
                <a:cs typeface="Georgia"/>
              </a:rPr>
              <a:t> </a:t>
            </a:r>
            <a:r>
              <a:rPr sz="3300" spc="-85" dirty="0">
                <a:solidFill>
                  <a:srgbClr val="2E377E"/>
                </a:solidFill>
                <a:latin typeface="Georgia"/>
                <a:cs typeface="Georgia"/>
              </a:rPr>
              <a:t>RBAC</a:t>
            </a:r>
            <a:r>
              <a:rPr sz="3300" spc="5" dirty="0">
                <a:solidFill>
                  <a:srgbClr val="2E377E"/>
                </a:solidFill>
                <a:latin typeface="Georgia"/>
                <a:cs typeface="Georgia"/>
              </a:rPr>
              <a:t> </a:t>
            </a:r>
            <a:r>
              <a:rPr sz="3300" dirty="0">
                <a:solidFill>
                  <a:srgbClr val="2E377E"/>
                </a:solidFill>
                <a:latin typeface="Georgia"/>
                <a:cs typeface="Georgia"/>
              </a:rPr>
              <a:t>in </a:t>
            </a:r>
            <a:r>
              <a:rPr sz="3300" spc="-10" dirty="0">
                <a:solidFill>
                  <a:srgbClr val="2E377E"/>
                </a:solidFill>
                <a:latin typeface="Georgia"/>
                <a:cs typeface="Georgia"/>
              </a:rPr>
              <a:t>Kubernetes: </a:t>
            </a:r>
            <a:r>
              <a:rPr sz="3300" spc="-100" dirty="0">
                <a:solidFill>
                  <a:srgbClr val="2E377E"/>
                </a:solidFill>
                <a:latin typeface="Georgia"/>
                <a:cs typeface="Georgia"/>
              </a:rPr>
              <a:t>1.</a:t>
            </a:r>
            <a:r>
              <a:rPr sz="3300" spc="-465" dirty="0">
                <a:solidFill>
                  <a:srgbClr val="2E377E"/>
                </a:solidFill>
                <a:latin typeface="Georgia"/>
                <a:cs typeface="Georgia"/>
              </a:rPr>
              <a:t> </a:t>
            </a:r>
            <a:r>
              <a:rPr sz="3300" spc="-20" dirty="0">
                <a:solidFill>
                  <a:srgbClr val="2E377E"/>
                </a:solidFill>
                <a:latin typeface="Georgia"/>
                <a:cs typeface="Georgia"/>
              </a:rPr>
              <a:t>roles</a:t>
            </a:r>
            <a:endParaRPr sz="3300">
              <a:latin typeface="Georgia"/>
              <a:cs typeface="Georgia"/>
            </a:endParaRPr>
          </a:p>
          <a:p>
            <a:pPr marL="386715">
              <a:lnSpc>
                <a:spcPct val="100000"/>
              </a:lnSpc>
              <a:spcBef>
                <a:spcPts val="615"/>
              </a:spcBef>
            </a:pPr>
            <a:r>
              <a:rPr sz="3300" spc="-204" dirty="0">
                <a:solidFill>
                  <a:srgbClr val="2E377E"/>
                </a:solidFill>
                <a:latin typeface="Georgia"/>
                <a:cs typeface="Georgia"/>
              </a:rPr>
              <a:t>2.</a:t>
            </a:r>
            <a:r>
              <a:rPr sz="3300" spc="-455" dirty="0">
                <a:solidFill>
                  <a:srgbClr val="2E377E"/>
                </a:solidFill>
                <a:latin typeface="Georgia"/>
                <a:cs typeface="Georgia"/>
              </a:rPr>
              <a:t> </a:t>
            </a:r>
            <a:r>
              <a:rPr sz="3300" dirty="0">
                <a:solidFill>
                  <a:srgbClr val="2E377E"/>
                </a:solidFill>
                <a:latin typeface="Georgia"/>
                <a:cs typeface="Georgia"/>
              </a:rPr>
              <a:t>role</a:t>
            </a:r>
            <a:r>
              <a:rPr sz="3300" spc="-20" dirty="0">
                <a:solidFill>
                  <a:srgbClr val="2E377E"/>
                </a:solidFill>
                <a:latin typeface="Georgia"/>
                <a:cs typeface="Georgia"/>
              </a:rPr>
              <a:t> </a:t>
            </a:r>
            <a:r>
              <a:rPr sz="3300" spc="-10" dirty="0">
                <a:solidFill>
                  <a:srgbClr val="2E377E"/>
                </a:solidFill>
                <a:latin typeface="Georgia"/>
                <a:cs typeface="Georgia"/>
              </a:rPr>
              <a:t>bindings</a:t>
            </a:r>
            <a:endParaRPr sz="3300">
              <a:latin typeface="Georgia"/>
              <a:cs typeface="Georgia"/>
            </a:endParaRPr>
          </a:p>
          <a:p>
            <a:pPr marL="388620">
              <a:lnSpc>
                <a:spcPct val="100000"/>
              </a:lnSpc>
              <a:spcBef>
                <a:spcPts val="615"/>
              </a:spcBef>
            </a:pPr>
            <a:r>
              <a:rPr sz="3300" spc="-200" dirty="0">
                <a:solidFill>
                  <a:srgbClr val="2E377E"/>
                </a:solidFill>
                <a:latin typeface="Georgia"/>
                <a:cs typeface="Georgia"/>
              </a:rPr>
              <a:t>3.</a:t>
            </a:r>
            <a:r>
              <a:rPr sz="3300" spc="-470" dirty="0">
                <a:solidFill>
                  <a:srgbClr val="2E377E"/>
                </a:solidFill>
                <a:latin typeface="Georgia"/>
                <a:cs typeface="Georgia"/>
              </a:rPr>
              <a:t> </a:t>
            </a:r>
            <a:r>
              <a:rPr sz="3300" spc="-10" dirty="0">
                <a:solidFill>
                  <a:srgbClr val="2E377E"/>
                </a:solidFill>
                <a:latin typeface="Georgia"/>
                <a:cs typeface="Georgia"/>
              </a:rPr>
              <a:t>ClusterRoles</a:t>
            </a:r>
            <a:endParaRPr sz="3300">
              <a:latin typeface="Georgia"/>
              <a:cs typeface="Georgia"/>
            </a:endParaRPr>
          </a:p>
          <a:p>
            <a:pPr marL="12700" marR="5080">
              <a:lnSpc>
                <a:spcPct val="115500"/>
              </a:lnSpc>
              <a:spcBef>
                <a:spcPts val="3350"/>
              </a:spcBef>
            </a:pPr>
            <a:r>
              <a:rPr sz="3300" spc="-185" dirty="0">
                <a:solidFill>
                  <a:srgbClr val="2E377E"/>
                </a:solidFill>
                <a:latin typeface="Times New Roman"/>
                <a:cs typeface="Times New Roman"/>
              </a:rPr>
              <a:t>1.</a:t>
            </a:r>
            <a:r>
              <a:rPr sz="3300" spc="-55" dirty="0">
                <a:solidFill>
                  <a:srgbClr val="2E377E"/>
                </a:solidFill>
                <a:latin typeface="Times New Roman"/>
                <a:cs typeface="Times New Roman"/>
              </a:rPr>
              <a:t> </a:t>
            </a:r>
            <a:r>
              <a:rPr sz="3300" spc="95" dirty="0">
                <a:solidFill>
                  <a:srgbClr val="2E377E"/>
                </a:solidFill>
                <a:latin typeface="Times New Roman"/>
                <a:cs typeface="Times New Roman"/>
              </a:rPr>
              <a:t>Roles</a:t>
            </a:r>
            <a:r>
              <a:rPr sz="3300" spc="-50" dirty="0">
                <a:solidFill>
                  <a:srgbClr val="2E377E"/>
                </a:solidFill>
                <a:latin typeface="Times New Roman"/>
                <a:cs typeface="Times New Roman"/>
              </a:rPr>
              <a:t> </a:t>
            </a:r>
            <a:r>
              <a:rPr sz="3300" dirty="0">
                <a:solidFill>
                  <a:srgbClr val="2E377E"/>
                </a:solidFill>
                <a:latin typeface="Georgia"/>
                <a:cs typeface="Georgia"/>
              </a:rPr>
              <a:t>are</a:t>
            </a:r>
            <a:r>
              <a:rPr sz="3300" spc="-20" dirty="0">
                <a:solidFill>
                  <a:srgbClr val="2E377E"/>
                </a:solidFill>
                <a:latin typeface="Georgia"/>
                <a:cs typeface="Georgia"/>
              </a:rPr>
              <a:t> </a:t>
            </a:r>
            <a:r>
              <a:rPr sz="3300" dirty="0">
                <a:solidFill>
                  <a:srgbClr val="2E377E"/>
                </a:solidFill>
                <a:latin typeface="Georgia"/>
                <a:cs typeface="Georgia"/>
              </a:rPr>
              <a:t>the</a:t>
            </a:r>
            <a:r>
              <a:rPr sz="3300" spc="-20" dirty="0">
                <a:solidFill>
                  <a:srgbClr val="2E377E"/>
                </a:solidFill>
                <a:latin typeface="Georgia"/>
                <a:cs typeface="Georgia"/>
              </a:rPr>
              <a:t> </a:t>
            </a:r>
            <a:r>
              <a:rPr sz="3300" dirty="0">
                <a:solidFill>
                  <a:srgbClr val="2E377E"/>
                </a:solidFill>
                <a:latin typeface="Georgia"/>
                <a:cs typeface="Georgia"/>
              </a:rPr>
              <a:t>basic</a:t>
            </a:r>
            <a:r>
              <a:rPr sz="3300" spc="-20" dirty="0">
                <a:solidFill>
                  <a:srgbClr val="2E377E"/>
                </a:solidFill>
                <a:latin typeface="Georgia"/>
                <a:cs typeface="Georgia"/>
              </a:rPr>
              <a:t> </a:t>
            </a:r>
            <a:r>
              <a:rPr sz="3300" dirty="0">
                <a:solidFill>
                  <a:srgbClr val="2E377E"/>
                </a:solidFill>
                <a:latin typeface="Georgia"/>
                <a:cs typeface="Georgia"/>
              </a:rPr>
              <a:t>building</a:t>
            </a:r>
            <a:r>
              <a:rPr sz="3300" spc="-20" dirty="0">
                <a:solidFill>
                  <a:srgbClr val="2E377E"/>
                </a:solidFill>
                <a:latin typeface="Georgia"/>
                <a:cs typeface="Georgia"/>
              </a:rPr>
              <a:t> </a:t>
            </a:r>
            <a:r>
              <a:rPr sz="3300" dirty="0">
                <a:solidFill>
                  <a:srgbClr val="2E377E"/>
                </a:solidFill>
                <a:latin typeface="Georgia"/>
                <a:cs typeface="Georgia"/>
              </a:rPr>
              <a:t>blocks</a:t>
            </a:r>
            <a:r>
              <a:rPr sz="3300" spc="-20" dirty="0">
                <a:solidFill>
                  <a:srgbClr val="2E377E"/>
                </a:solidFill>
                <a:latin typeface="Georgia"/>
                <a:cs typeface="Georgia"/>
              </a:rPr>
              <a:t> </a:t>
            </a:r>
            <a:r>
              <a:rPr sz="3300" dirty="0">
                <a:solidFill>
                  <a:srgbClr val="2E377E"/>
                </a:solidFill>
                <a:latin typeface="Georgia"/>
                <a:cs typeface="Georgia"/>
              </a:rPr>
              <a:t>of</a:t>
            </a:r>
            <a:r>
              <a:rPr sz="3300" spc="-20" dirty="0">
                <a:solidFill>
                  <a:srgbClr val="2E377E"/>
                </a:solidFill>
                <a:latin typeface="Georgia"/>
                <a:cs typeface="Georgia"/>
              </a:rPr>
              <a:t> </a:t>
            </a:r>
            <a:r>
              <a:rPr sz="3300" spc="-105" dirty="0">
                <a:solidFill>
                  <a:srgbClr val="2E377E"/>
                </a:solidFill>
                <a:latin typeface="Georgia"/>
                <a:cs typeface="Georgia"/>
              </a:rPr>
              <a:t>RBAC.</a:t>
            </a:r>
            <a:r>
              <a:rPr sz="3300" spc="-20" dirty="0">
                <a:solidFill>
                  <a:srgbClr val="2E377E"/>
                </a:solidFill>
                <a:latin typeface="Georgia"/>
                <a:cs typeface="Georgia"/>
              </a:rPr>
              <a:t> </a:t>
            </a:r>
            <a:r>
              <a:rPr sz="3300" dirty="0">
                <a:solidFill>
                  <a:srgbClr val="2E377E"/>
                </a:solidFill>
                <a:latin typeface="Georgia"/>
                <a:cs typeface="Georgia"/>
              </a:rPr>
              <a:t>A</a:t>
            </a:r>
            <a:r>
              <a:rPr sz="3300" spc="-20" dirty="0">
                <a:solidFill>
                  <a:srgbClr val="2E377E"/>
                </a:solidFill>
                <a:latin typeface="Georgia"/>
                <a:cs typeface="Georgia"/>
              </a:rPr>
              <a:t> </a:t>
            </a:r>
            <a:r>
              <a:rPr sz="3300" dirty="0">
                <a:solidFill>
                  <a:srgbClr val="2E377E"/>
                </a:solidFill>
                <a:latin typeface="Georgia"/>
                <a:cs typeface="Georgia"/>
              </a:rPr>
              <a:t>role</a:t>
            </a:r>
            <a:r>
              <a:rPr sz="3300" spc="-20" dirty="0">
                <a:solidFill>
                  <a:srgbClr val="2E377E"/>
                </a:solidFill>
                <a:latin typeface="Georgia"/>
                <a:cs typeface="Georgia"/>
              </a:rPr>
              <a:t> </a:t>
            </a:r>
            <a:r>
              <a:rPr sz="3300" dirty="0">
                <a:solidFill>
                  <a:srgbClr val="2E377E"/>
                </a:solidFill>
                <a:latin typeface="Georgia"/>
                <a:cs typeface="Georgia"/>
              </a:rPr>
              <a:t>defines</a:t>
            </a:r>
            <a:r>
              <a:rPr sz="3300" spc="-20" dirty="0">
                <a:solidFill>
                  <a:srgbClr val="2E377E"/>
                </a:solidFill>
                <a:latin typeface="Georgia"/>
                <a:cs typeface="Georgia"/>
              </a:rPr>
              <a:t> </a:t>
            </a:r>
            <a:r>
              <a:rPr sz="3300" dirty="0">
                <a:solidFill>
                  <a:srgbClr val="2E377E"/>
                </a:solidFill>
                <a:latin typeface="Georgia"/>
                <a:cs typeface="Georgia"/>
              </a:rPr>
              <a:t>a</a:t>
            </a:r>
            <a:r>
              <a:rPr sz="3300" spc="-20" dirty="0">
                <a:solidFill>
                  <a:srgbClr val="2E377E"/>
                </a:solidFill>
                <a:latin typeface="Georgia"/>
                <a:cs typeface="Georgia"/>
              </a:rPr>
              <a:t> </a:t>
            </a:r>
            <a:r>
              <a:rPr sz="3300" spc="50" dirty="0">
                <a:solidFill>
                  <a:srgbClr val="2E377E"/>
                </a:solidFill>
                <a:latin typeface="Georgia"/>
                <a:cs typeface="Georgia"/>
              </a:rPr>
              <a:t>set</a:t>
            </a:r>
            <a:r>
              <a:rPr sz="3300" spc="-20" dirty="0">
                <a:solidFill>
                  <a:srgbClr val="2E377E"/>
                </a:solidFill>
                <a:latin typeface="Georgia"/>
                <a:cs typeface="Georgia"/>
              </a:rPr>
              <a:t> </a:t>
            </a:r>
            <a:r>
              <a:rPr sz="3300" dirty="0">
                <a:solidFill>
                  <a:srgbClr val="2E377E"/>
                </a:solidFill>
                <a:latin typeface="Georgia"/>
                <a:cs typeface="Georgia"/>
              </a:rPr>
              <a:t>of</a:t>
            </a:r>
            <a:r>
              <a:rPr sz="3300" spc="-20" dirty="0">
                <a:solidFill>
                  <a:srgbClr val="2E377E"/>
                </a:solidFill>
                <a:latin typeface="Georgia"/>
                <a:cs typeface="Georgia"/>
              </a:rPr>
              <a:t> </a:t>
            </a:r>
            <a:r>
              <a:rPr sz="3300" dirty="0">
                <a:solidFill>
                  <a:srgbClr val="2E377E"/>
                </a:solidFill>
                <a:latin typeface="Georgia"/>
                <a:cs typeface="Georgia"/>
              </a:rPr>
              <a:t>permissions</a:t>
            </a:r>
            <a:r>
              <a:rPr sz="3300" spc="-20" dirty="0">
                <a:solidFill>
                  <a:srgbClr val="2E377E"/>
                </a:solidFill>
                <a:latin typeface="Georgia"/>
                <a:cs typeface="Georgia"/>
              </a:rPr>
              <a:t> </a:t>
            </a:r>
            <a:r>
              <a:rPr sz="3300" dirty="0">
                <a:solidFill>
                  <a:srgbClr val="2E377E"/>
                </a:solidFill>
                <a:latin typeface="Georgia"/>
                <a:cs typeface="Georgia"/>
              </a:rPr>
              <a:t>for</a:t>
            </a:r>
            <a:r>
              <a:rPr sz="3300" spc="-20" dirty="0">
                <a:solidFill>
                  <a:srgbClr val="2E377E"/>
                </a:solidFill>
                <a:latin typeface="Georgia"/>
                <a:cs typeface="Georgia"/>
              </a:rPr>
              <a:t> </a:t>
            </a:r>
            <a:r>
              <a:rPr sz="3300" spc="-50" dirty="0">
                <a:solidFill>
                  <a:srgbClr val="2E377E"/>
                </a:solidFill>
                <a:latin typeface="Georgia"/>
                <a:cs typeface="Georgia"/>
              </a:rPr>
              <a:t>a </a:t>
            </a:r>
            <a:r>
              <a:rPr sz="3300" dirty="0">
                <a:solidFill>
                  <a:srgbClr val="2E377E"/>
                </a:solidFill>
                <a:latin typeface="Georgia"/>
                <a:cs typeface="Georgia"/>
              </a:rPr>
              <a:t>user</a:t>
            </a:r>
            <a:r>
              <a:rPr sz="3300" spc="-5" dirty="0">
                <a:solidFill>
                  <a:srgbClr val="2E377E"/>
                </a:solidFill>
                <a:latin typeface="Georgia"/>
                <a:cs typeface="Georgia"/>
              </a:rPr>
              <a:t> </a:t>
            </a:r>
            <a:r>
              <a:rPr sz="3300" dirty="0">
                <a:solidFill>
                  <a:srgbClr val="2E377E"/>
                </a:solidFill>
                <a:latin typeface="Georgia"/>
                <a:cs typeface="Georgia"/>
              </a:rPr>
              <a:t>or</a:t>
            </a:r>
            <a:r>
              <a:rPr sz="3300" spc="-5" dirty="0">
                <a:solidFill>
                  <a:srgbClr val="2E377E"/>
                </a:solidFill>
                <a:latin typeface="Georgia"/>
                <a:cs typeface="Georgia"/>
              </a:rPr>
              <a:t> </a:t>
            </a:r>
            <a:r>
              <a:rPr sz="3300" dirty="0">
                <a:solidFill>
                  <a:srgbClr val="2E377E"/>
                </a:solidFill>
                <a:latin typeface="Georgia"/>
                <a:cs typeface="Georgia"/>
              </a:rPr>
              <a:t>group.</a:t>
            </a:r>
            <a:r>
              <a:rPr sz="3300" spc="-5" dirty="0">
                <a:solidFill>
                  <a:srgbClr val="2E377E"/>
                </a:solidFill>
                <a:latin typeface="Georgia"/>
                <a:cs typeface="Georgia"/>
              </a:rPr>
              <a:t> </a:t>
            </a:r>
            <a:r>
              <a:rPr sz="3300" spc="-50" dirty="0">
                <a:solidFill>
                  <a:srgbClr val="2E377E"/>
                </a:solidFill>
                <a:latin typeface="Georgia"/>
                <a:cs typeface="Georgia"/>
              </a:rPr>
              <a:t>For</a:t>
            </a:r>
            <a:r>
              <a:rPr sz="3300" dirty="0">
                <a:solidFill>
                  <a:srgbClr val="2E377E"/>
                </a:solidFill>
                <a:latin typeface="Georgia"/>
                <a:cs typeface="Georgia"/>
              </a:rPr>
              <a:t> example,</a:t>
            </a:r>
            <a:r>
              <a:rPr sz="3300" spc="-5" dirty="0">
                <a:solidFill>
                  <a:srgbClr val="2E377E"/>
                </a:solidFill>
                <a:latin typeface="Georgia"/>
                <a:cs typeface="Georgia"/>
              </a:rPr>
              <a:t> </a:t>
            </a:r>
            <a:r>
              <a:rPr sz="3300" spc="80" dirty="0">
                <a:solidFill>
                  <a:srgbClr val="2E377E"/>
                </a:solidFill>
                <a:latin typeface="Georgia"/>
                <a:cs typeface="Georgia"/>
              </a:rPr>
              <a:t>you</a:t>
            </a:r>
            <a:r>
              <a:rPr sz="3300" spc="-5" dirty="0">
                <a:solidFill>
                  <a:srgbClr val="2E377E"/>
                </a:solidFill>
                <a:latin typeface="Georgia"/>
                <a:cs typeface="Georgia"/>
              </a:rPr>
              <a:t> </a:t>
            </a:r>
            <a:r>
              <a:rPr sz="3300" dirty="0">
                <a:solidFill>
                  <a:srgbClr val="2E377E"/>
                </a:solidFill>
                <a:latin typeface="Georgia"/>
                <a:cs typeface="Georgia"/>
              </a:rPr>
              <a:t>might create</a:t>
            </a:r>
            <a:r>
              <a:rPr sz="3300" spc="-5" dirty="0">
                <a:solidFill>
                  <a:srgbClr val="2E377E"/>
                </a:solidFill>
                <a:latin typeface="Georgia"/>
                <a:cs typeface="Georgia"/>
              </a:rPr>
              <a:t> </a:t>
            </a:r>
            <a:r>
              <a:rPr sz="3300" dirty="0">
                <a:solidFill>
                  <a:srgbClr val="2E377E"/>
                </a:solidFill>
                <a:latin typeface="Georgia"/>
                <a:cs typeface="Georgia"/>
              </a:rPr>
              <a:t>a</a:t>
            </a:r>
            <a:r>
              <a:rPr sz="3300" spc="-5" dirty="0">
                <a:solidFill>
                  <a:srgbClr val="2E377E"/>
                </a:solidFill>
                <a:latin typeface="Georgia"/>
                <a:cs typeface="Georgia"/>
              </a:rPr>
              <a:t> </a:t>
            </a:r>
            <a:r>
              <a:rPr sz="3300" dirty="0">
                <a:solidFill>
                  <a:srgbClr val="2E377E"/>
                </a:solidFill>
                <a:latin typeface="Georgia"/>
                <a:cs typeface="Georgia"/>
              </a:rPr>
              <a:t>role</a:t>
            </a:r>
            <a:r>
              <a:rPr sz="3300" spc="-5" dirty="0">
                <a:solidFill>
                  <a:srgbClr val="2E377E"/>
                </a:solidFill>
                <a:latin typeface="Georgia"/>
                <a:cs typeface="Georgia"/>
              </a:rPr>
              <a:t> </a:t>
            </a:r>
            <a:r>
              <a:rPr sz="3300" dirty="0">
                <a:solidFill>
                  <a:srgbClr val="2E377E"/>
                </a:solidFill>
                <a:latin typeface="Georgia"/>
                <a:cs typeface="Georgia"/>
              </a:rPr>
              <a:t>called “admin”</a:t>
            </a:r>
            <a:r>
              <a:rPr sz="3300" spc="-5" dirty="0">
                <a:solidFill>
                  <a:srgbClr val="2E377E"/>
                </a:solidFill>
                <a:latin typeface="Georgia"/>
                <a:cs typeface="Georgia"/>
              </a:rPr>
              <a:t> </a:t>
            </a:r>
            <a:r>
              <a:rPr sz="3300" dirty="0">
                <a:solidFill>
                  <a:srgbClr val="2E377E"/>
                </a:solidFill>
                <a:latin typeface="Georgia"/>
                <a:cs typeface="Georgia"/>
              </a:rPr>
              <a:t>that</a:t>
            </a:r>
            <a:r>
              <a:rPr sz="3300" spc="-5" dirty="0">
                <a:solidFill>
                  <a:srgbClr val="2E377E"/>
                </a:solidFill>
                <a:latin typeface="Georgia"/>
                <a:cs typeface="Georgia"/>
              </a:rPr>
              <a:t> </a:t>
            </a:r>
            <a:r>
              <a:rPr sz="3300" spc="55" dirty="0">
                <a:solidFill>
                  <a:srgbClr val="2E377E"/>
                </a:solidFill>
                <a:latin typeface="Georgia"/>
                <a:cs typeface="Georgia"/>
              </a:rPr>
              <a:t>gives</a:t>
            </a:r>
            <a:r>
              <a:rPr sz="3300" dirty="0">
                <a:solidFill>
                  <a:srgbClr val="2E377E"/>
                </a:solidFill>
                <a:latin typeface="Georgia"/>
                <a:cs typeface="Georgia"/>
              </a:rPr>
              <a:t> the</a:t>
            </a:r>
            <a:r>
              <a:rPr sz="3300" spc="-5" dirty="0">
                <a:solidFill>
                  <a:srgbClr val="2E377E"/>
                </a:solidFill>
                <a:latin typeface="Georgia"/>
                <a:cs typeface="Georgia"/>
              </a:rPr>
              <a:t> </a:t>
            </a:r>
            <a:r>
              <a:rPr sz="3300" dirty="0">
                <a:solidFill>
                  <a:srgbClr val="2E377E"/>
                </a:solidFill>
                <a:latin typeface="Georgia"/>
                <a:cs typeface="Georgia"/>
              </a:rPr>
              <a:t>user</a:t>
            </a:r>
            <a:r>
              <a:rPr sz="3300" spc="-5" dirty="0">
                <a:solidFill>
                  <a:srgbClr val="2E377E"/>
                </a:solidFill>
                <a:latin typeface="Georgia"/>
                <a:cs typeface="Georgia"/>
              </a:rPr>
              <a:t> </a:t>
            </a:r>
            <a:r>
              <a:rPr sz="3300" spc="-25" dirty="0">
                <a:solidFill>
                  <a:srgbClr val="2E377E"/>
                </a:solidFill>
                <a:latin typeface="Georgia"/>
                <a:cs typeface="Georgia"/>
              </a:rPr>
              <a:t>or </a:t>
            </a:r>
            <a:r>
              <a:rPr sz="3300" dirty="0">
                <a:solidFill>
                  <a:srgbClr val="2E377E"/>
                </a:solidFill>
                <a:latin typeface="Georgia"/>
                <a:cs typeface="Georgia"/>
              </a:rPr>
              <a:t>group</a:t>
            </a:r>
            <a:r>
              <a:rPr sz="3300" spc="15" dirty="0">
                <a:solidFill>
                  <a:srgbClr val="2E377E"/>
                </a:solidFill>
                <a:latin typeface="Georgia"/>
                <a:cs typeface="Georgia"/>
              </a:rPr>
              <a:t> </a:t>
            </a:r>
            <a:r>
              <a:rPr sz="3300" dirty="0">
                <a:solidFill>
                  <a:srgbClr val="2E377E"/>
                </a:solidFill>
                <a:latin typeface="Georgia"/>
                <a:cs typeface="Georgia"/>
              </a:rPr>
              <a:t>full</a:t>
            </a:r>
            <a:r>
              <a:rPr sz="3300" spc="15" dirty="0">
                <a:solidFill>
                  <a:srgbClr val="2E377E"/>
                </a:solidFill>
                <a:latin typeface="Georgia"/>
                <a:cs typeface="Georgia"/>
              </a:rPr>
              <a:t> </a:t>
            </a:r>
            <a:r>
              <a:rPr sz="3300" dirty="0">
                <a:solidFill>
                  <a:srgbClr val="2E377E"/>
                </a:solidFill>
                <a:latin typeface="Georgia"/>
                <a:cs typeface="Georgia"/>
              </a:rPr>
              <a:t>access</a:t>
            </a:r>
            <a:r>
              <a:rPr sz="3300" spc="15" dirty="0">
                <a:solidFill>
                  <a:srgbClr val="2E377E"/>
                </a:solidFill>
                <a:latin typeface="Georgia"/>
                <a:cs typeface="Georgia"/>
              </a:rPr>
              <a:t> </a:t>
            </a:r>
            <a:r>
              <a:rPr sz="3300" spc="55" dirty="0">
                <a:solidFill>
                  <a:srgbClr val="2E377E"/>
                </a:solidFill>
                <a:latin typeface="Georgia"/>
                <a:cs typeface="Georgia"/>
              </a:rPr>
              <a:t>to</a:t>
            </a:r>
            <a:r>
              <a:rPr sz="3300" spc="15" dirty="0">
                <a:solidFill>
                  <a:srgbClr val="2E377E"/>
                </a:solidFill>
                <a:latin typeface="Georgia"/>
                <a:cs typeface="Georgia"/>
              </a:rPr>
              <a:t> </a:t>
            </a:r>
            <a:r>
              <a:rPr sz="3300" dirty="0">
                <a:solidFill>
                  <a:srgbClr val="2E377E"/>
                </a:solidFill>
                <a:latin typeface="Georgia"/>
                <a:cs typeface="Georgia"/>
              </a:rPr>
              <a:t>all</a:t>
            </a:r>
            <a:r>
              <a:rPr sz="3300" spc="15" dirty="0">
                <a:solidFill>
                  <a:srgbClr val="2E377E"/>
                </a:solidFill>
                <a:latin typeface="Georgia"/>
                <a:cs typeface="Georgia"/>
              </a:rPr>
              <a:t> </a:t>
            </a:r>
            <a:r>
              <a:rPr sz="3300" dirty="0">
                <a:solidFill>
                  <a:srgbClr val="2E377E"/>
                </a:solidFill>
                <a:latin typeface="Georgia"/>
                <a:cs typeface="Georgia"/>
              </a:rPr>
              <a:t>resources</a:t>
            </a:r>
            <a:r>
              <a:rPr sz="3300" spc="15" dirty="0">
                <a:solidFill>
                  <a:srgbClr val="2E377E"/>
                </a:solidFill>
                <a:latin typeface="Georgia"/>
                <a:cs typeface="Georgia"/>
              </a:rPr>
              <a:t> </a:t>
            </a:r>
            <a:r>
              <a:rPr sz="3300" dirty="0">
                <a:solidFill>
                  <a:srgbClr val="2E377E"/>
                </a:solidFill>
                <a:latin typeface="Georgia"/>
                <a:cs typeface="Georgia"/>
              </a:rPr>
              <a:t>in</a:t>
            </a:r>
            <a:r>
              <a:rPr sz="3300" spc="20" dirty="0">
                <a:solidFill>
                  <a:srgbClr val="2E377E"/>
                </a:solidFill>
                <a:latin typeface="Georgia"/>
                <a:cs typeface="Georgia"/>
              </a:rPr>
              <a:t> </a:t>
            </a:r>
            <a:r>
              <a:rPr sz="3300" dirty="0">
                <a:solidFill>
                  <a:srgbClr val="2E377E"/>
                </a:solidFill>
                <a:latin typeface="Georgia"/>
                <a:cs typeface="Georgia"/>
              </a:rPr>
              <a:t>the</a:t>
            </a:r>
            <a:r>
              <a:rPr sz="3300" spc="15" dirty="0">
                <a:solidFill>
                  <a:srgbClr val="2E377E"/>
                </a:solidFill>
                <a:latin typeface="Georgia"/>
                <a:cs typeface="Georgia"/>
              </a:rPr>
              <a:t> </a:t>
            </a:r>
            <a:r>
              <a:rPr sz="3300" spc="-10" dirty="0">
                <a:solidFill>
                  <a:srgbClr val="2E377E"/>
                </a:solidFill>
                <a:latin typeface="Georgia"/>
                <a:cs typeface="Georgia"/>
              </a:rPr>
              <a:t>cluster.</a:t>
            </a:r>
            <a:endParaRPr sz="3300">
              <a:latin typeface="Georgia"/>
              <a:cs typeface="Georgia"/>
            </a:endParaRPr>
          </a:p>
          <a:p>
            <a:pPr>
              <a:lnSpc>
                <a:spcPct val="100000"/>
              </a:lnSpc>
              <a:spcBef>
                <a:spcPts val="1435"/>
              </a:spcBef>
            </a:pPr>
            <a:endParaRPr sz="3300">
              <a:latin typeface="Georgia"/>
              <a:cs typeface="Georgia"/>
            </a:endParaRPr>
          </a:p>
          <a:p>
            <a:pPr marL="12700">
              <a:lnSpc>
                <a:spcPct val="100000"/>
              </a:lnSpc>
              <a:spcBef>
                <a:spcPts val="5"/>
              </a:spcBef>
            </a:pPr>
            <a:r>
              <a:rPr sz="3300" spc="-20" dirty="0">
                <a:solidFill>
                  <a:srgbClr val="2E377E"/>
                </a:solidFill>
                <a:latin typeface="Georgia"/>
                <a:cs typeface="Georgia"/>
              </a:rPr>
              <a:t>(or)</a:t>
            </a:r>
            <a:endParaRPr sz="3300">
              <a:latin typeface="Georgia"/>
              <a:cs typeface="Georgia"/>
            </a:endParaRPr>
          </a:p>
          <a:p>
            <a:pPr>
              <a:lnSpc>
                <a:spcPct val="100000"/>
              </a:lnSpc>
              <a:spcBef>
                <a:spcPts val="825"/>
              </a:spcBef>
            </a:pPr>
            <a:endParaRPr sz="3300">
              <a:latin typeface="Georgia"/>
              <a:cs typeface="Georgia"/>
            </a:endParaRPr>
          </a:p>
          <a:p>
            <a:pPr marL="12700" marR="963294" indent="92075">
              <a:lnSpc>
                <a:spcPct val="115500"/>
              </a:lnSpc>
            </a:pPr>
            <a:r>
              <a:rPr sz="3300" dirty="0">
                <a:solidFill>
                  <a:srgbClr val="2E377E"/>
                </a:solidFill>
                <a:latin typeface="Georgia"/>
                <a:cs typeface="Georgia"/>
              </a:rPr>
              <a:t>Role</a:t>
            </a:r>
            <a:r>
              <a:rPr sz="3300" spc="-25" dirty="0">
                <a:solidFill>
                  <a:srgbClr val="2E377E"/>
                </a:solidFill>
                <a:latin typeface="Georgia"/>
                <a:cs typeface="Georgia"/>
              </a:rPr>
              <a:t> </a:t>
            </a:r>
            <a:r>
              <a:rPr sz="3300" dirty="0">
                <a:solidFill>
                  <a:srgbClr val="2E377E"/>
                </a:solidFill>
                <a:latin typeface="Georgia"/>
                <a:cs typeface="Georgia"/>
              </a:rPr>
              <a:t>is</a:t>
            </a:r>
            <a:r>
              <a:rPr sz="3300" spc="-20" dirty="0">
                <a:solidFill>
                  <a:srgbClr val="2E377E"/>
                </a:solidFill>
                <a:latin typeface="Georgia"/>
                <a:cs typeface="Georgia"/>
              </a:rPr>
              <a:t> </a:t>
            </a:r>
            <a:r>
              <a:rPr sz="3300" dirty="0">
                <a:solidFill>
                  <a:srgbClr val="2E377E"/>
                </a:solidFill>
                <a:latin typeface="Georgia"/>
                <a:cs typeface="Georgia"/>
              </a:rPr>
              <a:t>a</a:t>
            </a:r>
            <a:r>
              <a:rPr sz="3300" spc="-20" dirty="0">
                <a:solidFill>
                  <a:srgbClr val="2E377E"/>
                </a:solidFill>
                <a:latin typeface="Georgia"/>
                <a:cs typeface="Georgia"/>
              </a:rPr>
              <a:t> </a:t>
            </a:r>
            <a:r>
              <a:rPr sz="3300" spc="50" dirty="0">
                <a:solidFill>
                  <a:srgbClr val="2E377E"/>
                </a:solidFill>
                <a:latin typeface="Georgia"/>
                <a:cs typeface="Georgia"/>
              </a:rPr>
              <a:t>set</a:t>
            </a:r>
            <a:r>
              <a:rPr sz="3300" spc="-20" dirty="0">
                <a:solidFill>
                  <a:srgbClr val="2E377E"/>
                </a:solidFill>
                <a:latin typeface="Georgia"/>
                <a:cs typeface="Georgia"/>
              </a:rPr>
              <a:t> </a:t>
            </a:r>
            <a:r>
              <a:rPr sz="3300" dirty="0">
                <a:solidFill>
                  <a:srgbClr val="2E377E"/>
                </a:solidFill>
                <a:latin typeface="Georgia"/>
                <a:cs typeface="Georgia"/>
              </a:rPr>
              <a:t>of</a:t>
            </a:r>
            <a:r>
              <a:rPr sz="3300" spc="-20" dirty="0">
                <a:solidFill>
                  <a:srgbClr val="2E377E"/>
                </a:solidFill>
                <a:latin typeface="Georgia"/>
                <a:cs typeface="Georgia"/>
              </a:rPr>
              <a:t> </a:t>
            </a:r>
            <a:r>
              <a:rPr sz="3300" dirty="0">
                <a:solidFill>
                  <a:srgbClr val="2E377E"/>
                </a:solidFill>
                <a:latin typeface="Georgia"/>
                <a:cs typeface="Georgia"/>
              </a:rPr>
              <a:t>permissions</a:t>
            </a:r>
            <a:r>
              <a:rPr sz="3300" spc="-20" dirty="0">
                <a:solidFill>
                  <a:srgbClr val="2E377E"/>
                </a:solidFill>
                <a:latin typeface="Georgia"/>
                <a:cs typeface="Georgia"/>
              </a:rPr>
              <a:t> </a:t>
            </a:r>
            <a:r>
              <a:rPr sz="3300" dirty="0">
                <a:solidFill>
                  <a:srgbClr val="2E377E"/>
                </a:solidFill>
                <a:latin typeface="Georgia"/>
                <a:cs typeface="Georgia"/>
              </a:rPr>
              <a:t>that</a:t>
            </a:r>
            <a:r>
              <a:rPr sz="3300" spc="-20" dirty="0">
                <a:solidFill>
                  <a:srgbClr val="2E377E"/>
                </a:solidFill>
                <a:latin typeface="Georgia"/>
                <a:cs typeface="Georgia"/>
              </a:rPr>
              <a:t> </a:t>
            </a:r>
            <a:r>
              <a:rPr sz="3300" dirty="0">
                <a:solidFill>
                  <a:srgbClr val="2E377E"/>
                </a:solidFill>
                <a:latin typeface="Georgia"/>
                <a:cs typeface="Georgia"/>
              </a:rPr>
              <a:t>define</a:t>
            </a:r>
            <a:r>
              <a:rPr sz="3300" spc="-25" dirty="0">
                <a:solidFill>
                  <a:srgbClr val="2E377E"/>
                </a:solidFill>
                <a:latin typeface="Georgia"/>
                <a:cs typeface="Georgia"/>
              </a:rPr>
              <a:t> </a:t>
            </a:r>
            <a:r>
              <a:rPr sz="3300" spc="60" dirty="0">
                <a:solidFill>
                  <a:srgbClr val="2E377E"/>
                </a:solidFill>
                <a:latin typeface="Georgia"/>
                <a:cs typeface="Georgia"/>
              </a:rPr>
              <a:t>what</a:t>
            </a:r>
            <a:r>
              <a:rPr sz="3300" spc="-20" dirty="0">
                <a:solidFill>
                  <a:srgbClr val="2E377E"/>
                </a:solidFill>
                <a:latin typeface="Georgia"/>
                <a:cs typeface="Georgia"/>
              </a:rPr>
              <a:t> </a:t>
            </a:r>
            <a:r>
              <a:rPr sz="3300" dirty="0">
                <a:solidFill>
                  <a:srgbClr val="2E377E"/>
                </a:solidFill>
                <a:latin typeface="Georgia"/>
                <a:cs typeface="Georgia"/>
              </a:rPr>
              <a:t>actions</a:t>
            </a:r>
            <a:r>
              <a:rPr sz="3300" spc="-20" dirty="0">
                <a:solidFill>
                  <a:srgbClr val="2E377E"/>
                </a:solidFill>
                <a:latin typeface="Georgia"/>
                <a:cs typeface="Georgia"/>
              </a:rPr>
              <a:t> </a:t>
            </a:r>
            <a:r>
              <a:rPr sz="3300" spc="-35" dirty="0">
                <a:solidFill>
                  <a:srgbClr val="2E377E"/>
                </a:solidFill>
                <a:latin typeface="Georgia"/>
                <a:cs typeface="Georgia"/>
              </a:rPr>
              <a:t>(verbs)</a:t>
            </a:r>
            <a:r>
              <a:rPr sz="3300" spc="-20" dirty="0">
                <a:solidFill>
                  <a:srgbClr val="2E377E"/>
                </a:solidFill>
                <a:latin typeface="Georgia"/>
                <a:cs typeface="Georgia"/>
              </a:rPr>
              <a:t> </a:t>
            </a:r>
            <a:r>
              <a:rPr sz="3300" dirty="0">
                <a:solidFill>
                  <a:srgbClr val="2E377E"/>
                </a:solidFill>
                <a:latin typeface="Georgia"/>
                <a:cs typeface="Georgia"/>
              </a:rPr>
              <a:t>are</a:t>
            </a:r>
            <a:r>
              <a:rPr sz="3300" spc="-20" dirty="0">
                <a:solidFill>
                  <a:srgbClr val="2E377E"/>
                </a:solidFill>
                <a:latin typeface="Georgia"/>
                <a:cs typeface="Georgia"/>
              </a:rPr>
              <a:t> </a:t>
            </a:r>
            <a:r>
              <a:rPr sz="3300" dirty="0">
                <a:solidFill>
                  <a:srgbClr val="2E377E"/>
                </a:solidFill>
                <a:latin typeface="Georgia"/>
                <a:cs typeface="Georgia"/>
              </a:rPr>
              <a:t>allowed</a:t>
            </a:r>
            <a:r>
              <a:rPr sz="3300" spc="-20" dirty="0">
                <a:solidFill>
                  <a:srgbClr val="2E377E"/>
                </a:solidFill>
                <a:latin typeface="Georgia"/>
                <a:cs typeface="Georgia"/>
              </a:rPr>
              <a:t> </a:t>
            </a:r>
            <a:r>
              <a:rPr sz="3300" dirty="0">
                <a:solidFill>
                  <a:srgbClr val="2E377E"/>
                </a:solidFill>
                <a:latin typeface="Georgia"/>
                <a:cs typeface="Georgia"/>
              </a:rPr>
              <a:t>on</a:t>
            </a:r>
            <a:r>
              <a:rPr sz="3300" spc="-20" dirty="0">
                <a:solidFill>
                  <a:srgbClr val="2E377E"/>
                </a:solidFill>
                <a:latin typeface="Georgia"/>
                <a:cs typeface="Georgia"/>
              </a:rPr>
              <a:t> </a:t>
            </a:r>
            <a:r>
              <a:rPr sz="3300" spc="-10" dirty="0">
                <a:solidFill>
                  <a:srgbClr val="2E377E"/>
                </a:solidFill>
                <a:latin typeface="Georgia"/>
                <a:cs typeface="Georgia"/>
              </a:rPr>
              <a:t>specific </a:t>
            </a:r>
            <a:r>
              <a:rPr sz="3300" dirty="0">
                <a:solidFill>
                  <a:srgbClr val="2E377E"/>
                </a:solidFill>
                <a:latin typeface="Georgia"/>
                <a:cs typeface="Georgia"/>
              </a:rPr>
              <a:t>resources</a:t>
            </a:r>
            <a:r>
              <a:rPr sz="3300" spc="35" dirty="0">
                <a:solidFill>
                  <a:srgbClr val="2E377E"/>
                </a:solidFill>
                <a:latin typeface="Georgia"/>
                <a:cs typeface="Georgia"/>
              </a:rPr>
              <a:t> </a:t>
            </a:r>
            <a:r>
              <a:rPr sz="3300" spc="-120" dirty="0">
                <a:solidFill>
                  <a:srgbClr val="2E377E"/>
                </a:solidFill>
                <a:latin typeface="Georgia"/>
                <a:cs typeface="Georgia"/>
              </a:rPr>
              <a:t>(API</a:t>
            </a:r>
            <a:r>
              <a:rPr sz="3300" spc="40" dirty="0">
                <a:solidFill>
                  <a:srgbClr val="2E377E"/>
                </a:solidFill>
                <a:latin typeface="Georgia"/>
                <a:cs typeface="Georgia"/>
              </a:rPr>
              <a:t> </a:t>
            </a:r>
            <a:r>
              <a:rPr sz="3300" dirty="0">
                <a:solidFill>
                  <a:srgbClr val="2E377E"/>
                </a:solidFill>
                <a:latin typeface="Georgia"/>
                <a:cs typeface="Georgia"/>
              </a:rPr>
              <a:t>groups</a:t>
            </a:r>
            <a:r>
              <a:rPr sz="3300" spc="35" dirty="0">
                <a:solidFill>
                  <a:srgbClr val="2E377E"/>
                </a:solidFill>
                <a:latin typeface="Georgia"/>
                <a:cs typeface="Georgia"/>
              </a:rPr>
              <a:t> </a:t>
            </a:r>
            <a:r>
              <a:rPr sz="3300" dirty="0">
                <a:solidFill>
                  <a:srgbClr val="2E377E"/>
                </a:solidFill>
                <a:latin typeface="Georgia"/>
                <a:cs typeface="Georgia"/>
              </a:rPr>
              <a:t>and</a:t>
            </a:r>
            <a:r>
              <a:rPr sz="3300" spc="40" dirty="0">
                <a:solidFill>
                  <a:srgbClr val="2E377E"/>
                </a:solidFill>
                <a:latin typeface="Georgia"/>
                <a:cs typeface="Georgia"/>
              </a:rPr>
              <a:t> </a:t>
            </a:r>
            <a:r>
              <a:rPr sz="3300" dirty="0">
                <a:solidFill>
                  <a:srgbClr val="2E377E"/>
                </a:solidFill>
                <a:latin typeface="Georgia"/>
                <a:cs typeface="Georgia"/>
              </a:rPr>
              <a:t>resources)</a:t>
            </a:r>
            <a:r>
              <a:rPr sz="3300" spc="40" dirty="0">
                <a:solidFill>
                  <a:srgbClr val="2E377E"/>
                </a:solidFill>
                <a:latin typeface="Georgia"/>
                <a:cs typeface="Georgia"/>
              </a:rPr>
              <a:t> </a:t>
            </a:r>
            <a:r>
              <a:rPr sz="3300" dirty="0">
                <a:solidFill>
                  <a:srgbClr val="2E377E"/>
                </a:solidFill>
                <a:latin typeface="Georgia"/>
                <a:cs typeface="Georgia"/>
              </a:rPr>
              <a:t>within</a:t>
            </a:r>
            <a:r>
              <a:rPr sz="3300" spc="35" dirty="0">
                <a:solidFill>
                  <a:srgbClr val="2E377E"/>
                </a:solidFill>
                <a:latin typeface="Georgia"/>
                <a:cs typeface="Georgia"/>
              </a:rPr>
              <a:t> </a:t>
            </a:r>
            <a:r>
              <a:rPr sz="3300" dirty="0">
                <a:solidFill>
                  <a:srgbClr val="2E377E"/>
                </a:solidFill>
                <a:latin typeface="Georgia"/>
                <a:cs typeface="Georgia"/>
              </a:rPr>
              <a:t>a</a:t>
            </a:r>
            <a:r>
              <a:rPr sz="3300" spc="40" dirty="0">
                <a:solidFill>
                  <a:srgbClr val="2E377E"/>
                </a:solidFill>
                <a:latin typeface="Georgia"/>
                <a:cs typeface="Georgia"/>
              </a:rPr>
              <a:t> </a:t>
            </a:r>
            <a:r>
              <a:rPr sz="3300" dirty="0">
                <a:solidFill>
                  <a:srgbClr val="2E377E"/>
                </a:solidFill>
                <a:latin typeface="Georgia"/>
                <a:cs typeface="Georgia"/>
              </a:rPr>
              <a:t>particular</a:t>
            </a:r>
            <a:r>
              <a:rPr sz="3300" spc="40" dirty="0">
                <a:solidFill>
                  <a:srgbClr val="2E377E"/>
                </a:solidFill>
                <a:latin typeface="Georgia"/>
                <a:cs typeface="Georgia"/>
              </a:rPr>
              <a:t> </a:t>
            </a:r>
            <a:r>
              <a:rPr sz="3300" spc="-10" dirty="0">
                <a:solidFill>
                  <a:srgbClr val="2E377E"/>
                </a:solidFill>
                <a:latin typeface="Georgia"/>
                <a:cs typeface="Georgia"/>
              </a:rPr>
              <a:t>Namespace.</a:t>
            </a:r>
            <a:endParaRPr sz="3300">
              <a:latin typeface="Georgia"/>
              <a:cs typeface="Georgia"/>
            </a:endParaRPr>
          </a:p>
          <a:p>
            <a:pPr marL="12700" marR="1577340">
              <a:lnSpc>
                <a:spcPct val="115500"/>
              </a:lnSpc>
            </a:pPr>
            <a:r>
              <a:rPr sz="3300" dirty="0">
                <a:solidFill>
                  <a:srgbClr val="2E377E"/>
                </a:solidFill>
                <a:latin typeface="Georgia"/>
                <a:cs typeface="Georgia"/>
              </a:rPr>
              <a:t>Roles</a:t>
            </a:r>
            <a:r>
              <a:rPr sz="3300" spc="30" dirty="0">
                <a:solidFill>
                  <a:srgbClr val="2E377E"/>
                </a:solidFill>
                <a:latin typeface="Georgia"/>
                <a:cs typeface="Georgia"/>
              </a:rPr>
              <a:t> </a:t>
            </a:r>
            <a:r>
              <a:rPr sz="3300" dirty="0">
                <a:solidFill>
                  <a:srgbClr val="2E377E"/>
                </a:solidFill>
                <a:latin typeface="Georgia"/>
                <a:cs typeface="Georgia"/>
              </a:rPr>
              <a:t>are</a:t>
            </a:r>
            <a:r>
              <a:rPr sz="3300" spc="30" dirty="0">
                <a:solidFill>
                  <a:srgbClr val="2E377E"/>
                </a:solidFill>
                <a:latin typeface="Georgia"/>
                <a:cs typeface="Georgia"/>
              </a:rPr>
              <a:t> </a:t>
            </a:r>
            <a:r>
              <a:rPr sz="3300" dirty="0">
                <a:solidFill>
                  <a:srgbClr val="2E377E"/>
                </a:solidFill>
                <a:latin typeface="Georgia"/>
                <a:cs typeface="Georgia"/>
              </a:rPr>
              <a:t>Namespace-scoped,</a:t>
            </a:r>
            <a:r>
              <a:rPr sz="3300" spc="30" dirty="0">
                <a:solidFill>
                  <a:srgbClr val="2E377E"/>
                </a:solidFill>
                <a:latin typeface="Georgia"/>
                <a:cs typeface="Georgia"/>
              </a:rPr>
              <a:t> </a:t>
            </a:r>
            <a:r>
              <a:rPr sz="3300" dirty="0">
                <a:solidFill>
                  <a:srgbClr val="2E377E"/>
                </a:solidFill>
                <a:latin typeface="Georgia"/>
                <a:cs typeface="Georgia"/>
              </a:rPr>
              <a:t>meaning</a:t>
            </a:r>
            <a:r>
              <a:rPr sz="3300" spc="30" dirty="0">
                <a:solidFill>
                  <a:srgbClr val="2E377E"/>
                </a:solidFill>
                <a:latin typeface="Georgia"/>
                <a:cs typeface="Georgia"/>
              </a:rPr>
              <a:t> </a:t>
            </a:r>
            <a:r>
              <a:rPr sz="3300" spc="75" dirty="0">
                <a:solidFill>
                  <a:srgbClr val="2E377E"/>
                </a:solidFill>
                <a:latin typeface="Georgia"/>
                <a:cs typeface="Georgia"/>
              </a:rPr>
              <a:t>they</a:t>
            </a:r>
            <a:r>
              <a:rPr sz="3300" spc="30" dirty="0">
                <a:solidFill>
                  <a:srgbClr val="2E377E"/>
                </a:solidFill>
                <a:latin typeface="Georgia"/>
                <a:cs typeface="Georgia"/>
              </a:rPr>
              <a:t> </a:t>
            </a:r>
            <a:r>
              <a:rPr sz="3300" dirty="0">
                <a:solidFill>
                  <a:srgbClr val="2E377E"/>
                </a:solidFill>
                <a:latin typeface="Georgia"/>
                <a:cs typeface="Georgia"/>
              </a:rPr>
              <a:t>apply</a:t>
            </a:r>
            <a:r>
              <a:rPr sz="3300" spc="35" dirty="0">
                <a:solidFill>
                  <a:srgbClr val="2E377E"/>
                </a:solidFill>
                <a:latin typeface="Georgia"/>
                <a:cs typeface="Georgia"/>
              </a:rPr>
              <a:t> </a:t>
            </a:r>
            <a:r>
              <a:rPr sz="3300" dirty="0">
                <a:solidFill>
                  <a:srgbClr val="2E377E"/>
                </a:solidFill>
                <a:latin typeface="Georgia"/>
                <a:cs typeface="Georgia"/>
              </a:rPr>
              <a:t>only</a:t>
            </a:r>
            <a:r>
              <a:rPr sz="3300" spc="30" dirty="0">
                <a:solidFill>
                  <a:srgbClr val="2E377E"/>
                </a:solidFill>
                <a:latin typeface="Georgia"/>
                <a:cs typeface="Georgia"/>
              </a:rPr>
              <a:t> </a:t>
            </a:r>
            <a:r>
              <a:rPr sz="3300" spc="55" dirty="0">
                <a:solidFill>
                  <a:srgbClr val="2E377E"/>
                </a:solidFill>
                <a:latin typeface="Georgia"/>
                <a:cs typeface="Georgia"/>
              </a:rPr>
              <a:t>to</a:t>
            </a:r>
            <a:r>
              <a:rPr sz="3300" spc="30" dirty="0">
                <a:solidFill>
                  <a:srgbClr val="2E377E"/>
                </a:solidFill>
                <a:latin typeface="Georgia"/>
                <a:cs typeface="Georgia"/>
              </a:rPr>
              <a:t> </a:t>
            </a:r>
            <a:r>
              <a:rPr sz="3300" dirty="0">
                <a:solidFill>
                  <a:srgbClr val="2E377E"/>
                </a:solidFill>
                <a:latin typeface="Georgia"/>
                <a:cs typeface="Georgia"/>
              </a:rPr>
              <a:t>resources</a:t>
            </a:r>
            <a:r>
              <a:rPr sz="3300" spc="30" dirty="0">
                <a:solidFill>
                  <a:srgbClr val="2E377E"/>
                </a:solidFill>
                <a:latin typeface="Georgia"/>
                <a:cs typeface="Georgia"/>
              </a:rPr>
              <a:t> </a:t>
            </a:r>
            <a:r>
              <a:rPr sz="3300" dirty="0">
                <a:solidFill>
                  <a:srgbClr val="2E377E"/>
                </a:solidFill>
                <a:latin typeface="Georgia"/>
                <a:cs typeface="Georgia"/>
              </a:rPr>
              <a:t>within</a:t>
            </a:r>
            <a:r>
              <a:rPr sz="3300" spc="30" dirty="0">
                <a:solidFill>
                  <a:srgbClr val="2E377E"/>
                </a:solidFill>
                <a:latin typeface="Georgia"/>
                <a:cs typeface="Georgia"/>
              </a:rPr>
              <a:t> </a:t>
            </a:r>
            <a:r>
              <a:rPr sz="3300" spc="-20" dirty="0">
                <a:solidFill>
                  <a:srgbClr val="2E377E"/>
                </a:solidFill>
                <a:latin typeface="Georgia"/>
                <a:cs typeface="Georgia"/>
              </a:rPr>
              <a:t>that </a:t>
            </a:r>
            <a:r>
              <a:rPr sz="3300" spc="-10" dirty="0">
                <a:solidFill>
                  <a:srgbClr val="2E377E"/>
                </a:solidFill>
                <a:latin typeface="Georgia"/>
                <a:cs typeface="Georgia"/>
              </a:rPr>
              <a:t>Namespace.</a:t>
            </a:r>
            <a:endParaRPr sz="3300">
              <a:latin typeface="Georgia"/>
              <a:cs typeface="Georgia"/>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98016" y="755794"/>
            <a:ext cx="16510000" cy="8159750"/>
          </a:xfrm>
          <a:prstGeom prst="rect">
            <a:avLst/>
          </a:prstGeom>
        </p:spPr>
        <p:txBody>
          <a:bodyPr vert="horz" wrap="square" lIns="0" tIns="12700" rIns="0" bIns="0" rtlCol="0">
            <a:spAutoFit/>
          </a:bodyPr>
          <a:lstStyle/>
          <a:p>
            <a:pPr marL="12700" marR="5080" indent="387985">
              <a:lnSpc>
                <a:spcPct val="115500"/>
              </a:lnSpc>
              <a:spcBef>
                <a:spcPts val="100"/>
              </a:spcBef>
              <a:buAutoNum type="arabicPeriod" startAt="2"/>
              <a:tabLst>
                <a:tab pos="400685" algn="l"/>
              </a:tabLst>
            </a:pPr>
            <a:r>
              <a:rPr sz="3300" spc="135" dirty="0">
                <a:solidFill>
                  <a:srgbClr val="2E377E"/>
                </a:solidFill>
                <a:latin typeface="Times New Roman"/>
                <a:cs typeface="Times New Roman"/>
              </a:rPr>
              <a:t>ClusterRoles</a:t>
            </a:r>
            <a:r>
              <a:rPr sz="3300" spc="-45" dirty="0">
                <a:solidFill>
                  <a:srgbClr val="2E377E"/>
                </a:solidFill>
                <a:latin typeface="Times New Roman"/>
                <a:cs typeface="Times New Roman"/>
              </a:rPr>
              <a:t> </a:t>
            </a:r>
            <a:r>
              <a:rPr sz="3300" dirty="0">
                <a:solidFill>
                  <a:srgbClr val="2E377E"/>
                </a:solidFill>
                <a:latin typeface="Georgia"/>
                <a:cs typeface="Georgia"/>
              </a:rPr>
              <a:t>are</a:t>
            </a:r>
            <a:r>
              <a:rPr sz="3300" spc="-5" dirty="0">
                <a:solidFill>
                  <a:srgbClr val="2E377E"/>
                </a:solidFill>
                <a:latin typeface="Georgia"/>
                <a:cs typeface="Georgia"/>
              </a:rPr>
              <a:t> </a:t>
            </a:r>
            <a:r>
              <a:rPr sz="3300" dirty="0">
                <a:solidFill>
                  <a:srgbClr val="2E377E"/>
                </a:solidFill>
                <a:latin typeface="Georgia"/>
                <a:cs typeface="Georgia"/>
              </a:rPr>
              <a:t>special</a:t>
            </a:r>
            <a:r>
              <a:rPr sz="3300" spc="-10" dirty="0">
                <a:solidFill>
                  <a:srgbClr val="2E377E"/>
                </a:solidFill>
                <a:latin typeface="Georgia"/>
                <a:cs typeface="Georgia"/>
              </a:rPr>
              <a:t> </a:t>
            </a:r>
            <a:r>
              <a:rPr sz="3300" dirty="0">
                <a:solidFill>
                  <a:srgbClr val="2E377E"/>
                </a:solidFill>
                <a:latin typeface="Georgia"/>
                <a:cs typeface="Georgia"/>
              </a:rPr>
              <a:t>roles</a:t>
            </a:r>
            <a:r>
              <a:rPr sz="3300" spc="-10" dirty="0">
                <a:solidFill>
                  <a:srgbClr val="2E377E"/>
                </a:solidFill>
                <a:latin typeface="Georgia"/>
                <a:cs typeface="Georgia"/>
              </a:rPr>
              <a:t> </a:t>
            </a:r>
            <a:r>
              <a:rPr sz="3300" dirty="0">
                <a:solidFill>
                  <a:srgbClr val="2E377E"/>
                </a:solidFill>
                <a:latin typeface="Georgia"/>
                <a:cs typeface="Georgia"/>
              </a:rPr>
              <a:t>that</a:t>
            </a:r>
            <a:r>
              <a:rPr sz="3300" spc="-10" dirty="0">
                <a:solidFill>
                  <a:srgbClr val="2E377E"/>
                </a:solidFill>
                <a:latin typeface="Georgia"/>
                <a:cs typeface="Georgia"/>
              </a:rPr>
              <a:t> </a:t>
            </a:r>
            <a:r>
              <a:rPr sz="3300" dirty="0">
                <a:solidFill>
                  <a:srgbClr val="2E377E"/>
                </a:solidFill>
                <a:latin typeface="Georgia"/>
                <a:cs typeface="Georgia"/>
              </a:rPr>
              <a:t>apply</a:t>
            </a:r>
            <a:r>
              <a:rPr sz="3300" spc="-10" dirty="0">
                <a:solidFill>
                  <a:srgbClr val="2E377E"/>
                </a:solidFill>
                <a:latin typeface="Georgia"/>
                <a:cs typeface="Georgia"/>
              </a:rPr>
              <a:t> </a:t>
            </a:r>
            <a:r>
              <a:rPr sz="3300" spc="55" dirty="0">
                <a:solidFill>
                  <a:srgbClr val="2E377E"/>
                </a:solidFill>
                <a:latin typeface="Georgia"/>
                <a:cs typeface="Georgia"/>
              </a:rPr>
              <a:t>to</a:t>
            </a:r>
            <a:r>
              <a:rPr sz="3300" spc="-10" dirty="0">
                <a:solidFill>
                  <a:srgbClr val="2E377E"/>
                </a:solidFill>
                <a:latin typeface="Georgia"/>
                <a:cs typeface="Georgia"/>
              </a:rPr>
              <a:t> </a:t>
            </a:r>
            <a:r>
              <a:rPr sz="3300" dirty="0">
                <a:solidFill>
                  <a:srgbClr val="2E377E"/>
                </a:solidFill>
                <a:latin typeface="Georgia"/>
                <a:cs typeface="Georgia"/>
              </a:rPr>
              <a:t>all</a:t>
            </a:r>
            <a:r>
              <a:rPr sz="3300" spc="-10" dirty="0">
                <a:solidFill>
                  <a:srgbClr val="2E377E"/>
                </a:solidFill>
                <a:latin typeface="Georgia"/>
                <a:cs typeface="Georgia"/>
              </a:rPr>
              <a:t> </a:t>
            </a:r>
            <a:r>
              <a:rPr sz="3300" dirty="0">
                <a:solidFill>
                  <a:srgbClr val="2E377E"/>
                </a:solidFill>
                <a:latin typeface="Georgia"/>
                <a:cs typeface="Georgia"/>
              </a:rPr>
              <a:t>users</a:t>
            </a:r>
            <a:r>
              <a:rPr sz="3300" spc="-10" dirty="0">
                <a:solidFill>
                  <a:srgbClr val="2E377E"/>
                </a:solidFill>
                <a:latin typeface="Georgia"/>
                <a:cs typeface="Georgia"/>
              </a:rPr>
              <a:t> </a:t>
            </a:r>
            <a:r>
              <a:rPr sz="3300" dirty="0">
                <a:solidFill>
                  <a:srgbClr val="2E377E"/>
                </a:solidFill>
                <a:latin typeface="Georgia"/>
                <a:cs typeface="Georgia"/>
              </a:rPr>
              <a:t>in</a:t>
            </a:r>
            <a:r>
              <a:rPr sz="3300" spc="-10" dirty="0">
                <a:solidFill>
                  <a:srgbClr val="2E377E"/>
                </a:solidFill>
                <a:latin typeface="Georgia"/>
                <a:cs typeface="Georgia"/>
              </a:rPr>
              <a:t> </a:t>
            </a:r>
            <a:r>
              <a:rPr sz="3300" dirty="0">
                <a:solidFill>
                  <a:srgbClr val="2E377E"/>
                </a:solidFill>
                <a:latin typeface="Georgia"/>
                <a:cs typeface="Georgia"/>
              </a:rPr>
              <a:t>the</a:t>
            </a:r>
            <a:r>
              <a:rPr sz="3300" spc="-10" dirty="0">
                <a:solidFill>
                  <a:srgbClr val="2E377E"/>
                </a:solidFill>
                <a:latin typeface="Georgia"/>
                <a:cs typeface="Georgia"/>
              </a:rPr>
              <a:t> </a:t>
            </a:r>
            <a:r>
              <a:rPr sz="3300" dirty="0">
                <a:solidFill>
                  <a:srgbClr val="2E377E"/>
                </a:solidFill>
                <a:latin typeface="Georgia"/>
                <a:cs typeface="Georgia"/>
              </a:rPr>
              <a:t>cluster.</a:t>
            </a:r>
            <a:r>
              <a:rPr sz="3300" spc="-10" dirty="0">
                <a:solidFill>
                  <a:srgbClr val="2E377E"/>
                </a:solidFill>
                <a:latin typeface="Georgia"/>
                <a:cs typeface="Georgia"/>
              </a:rPr>
              <a:t> </a:t>
            </a:r>
            <a:r>
              <a:rPr sz="3300" spc="-50" dirty="0">
                <a:solidFill>
                  <a:srgbClr val="2E377E"/>
                </a:solidFill>
                <a:latin typeface="Georgia"/>
                <a:cs typeface="Georgia"/>
              </a:rPr>
              <a:t>For</a:t>
            </a:r>
            <a:r>
              <a:rPr sz="3300" spc="-5" dirty="0">
                <a:solidFill>
                  <a:srgbClr val="2E377E"/>
                </a:solidFill>
                <a:latin typeface="Georgia"/>
                <a:cs typeface="Georgia"/>
              </a:rPr>
              <a:t> </a:t>
            </a:r>
            <a:r>
              <a:rPr sz="3300" dirty="0">
                <a:solidFill>
                  <a:srgbClr val="2E377E"/>
                </a:solidFill>
                <a:latin typeface="Georgia"/>
                <a:cs typeface="Georgia"/>
              </a:rPr>
              <a:t>example,</a:t>
            </a:r>
            <a:r>
              <a:rPr sz="3300" spc="-10" dirty="0">
                <a:solidFill>
                  <a:srgbClr val="2E377E"/>
                </a:solidFill>
                <a:latin typeface="Georgia"/>
                <a:cs typeface="Georgia"/>
              </a:rPr>
              <a:t> </a:t>
            </a:r>
            <a:r>
              <a:rPr sz="3300" spc="55" dirty="0">
                <a:solidFill>
                  <a:srgbClr val="2E377E"/>
                </a:solidFill>
                <a:latin typeface="Georgia"/>
                <a:cs typeface="Georgia"/>
              </a:rPr>
              <a:t>you </a:t>
            </a:r>
            <a:r>
              <a:rPr sz="3300" dirty="0">
                <a:solidFill>
                  <a:srgbClr val="2E377E"/>
                </a:solidFill>
                <a:latin typeface="Georgia"/>
                <a:cs typeface="Georgia"/>
              </a:rPr>
              <a:t>might</a:t>
            </a:r>
            <a:r>
              <a:rPr sz="3300" spc="40" dirty="0">
                <a:solidFill>
                  <a:srgbClr val="2E377E"/>
                </a:solidFill>
                <a:latin typeface="Georgia"/>
                <a:cs typeface="Georgia"/>
              </a:rPr>
              <a:t> </a:t>
            </a:r>
            <a:r>
              <a:rPr sz="3300" dirty="0">
                <a:solidFill>
                  <a:srgbClr val="2E377E"/>
                </a:solidFill>
                <a:latin typeface="Georgia"/>
                <a:cs typeface="Georgia"/>
              </a:rPr>
              <a:t>create</a:t>
            </a:r>
            <a:r>
              <a:rPr sz="3300" spc="40" dirty="0">
                <a:solidFill>
                  <a:srgbClr val="2E377E"/>
                </a:solidFill>
                <a:latin typeface="Georgia"/>
                <a:cs typeface="Georgia"/>
              </a:rPr>
              <a:t> </a:t>
            </a:r>
            <a:r>
              <a:rPr sz="3300" dirty="0">
                <a:solidFill>
                  <a:srgbClr val="2E377E"/>
                </a:solidFill>
                <a:latin typeface="Georgia"/>
                <a:cs typeface="Georgia"/>
              </a:rPr>
              <a:t>a</a:t>
            </a:r>
            <a:r>
              <a:rPr sz="3300" spc="45" dirty="0">
                <a:solidFill>
                  <a:srgbClr val="2E377E"/>
                </a:solidFill>
                <a:latin typeface="Georgia"/>
                <a:cs typeface="Georgia"/>
              </a:rPr>
              <a:t> </a:t>
            </a:r>
            <a:r>
              <a:rPr sz="3300" dirty="0">
                <a:solidFill>
                  <a:srgbClr val="2E377E"/>
                </a:solidFill>
                <a:latin typeface="Georgia"/>
                <a:cs typeface="Georgia"/>
              </a:rPr>
              <a:t>ClusterRole</a:t>
            </a:r>
            <a:r>
              <a:rPr sz="3300" spc="40" dirty="0">
                <a:solidFill>
                  <a:srgbClr val="2E377E"/>
                </a:solidFill>
                <a:latin typeface="Georgia"/>
                <a:cs typeface="Georgia"/>
              </a:rPr>
              <a:t> </a:t>
            </a:r>
            <a:r>
              <a:rPr sz="3300" dirty="0">
                <a:solidFill>
                  <a:srgbClr val="2E377E"/>
                </a:solidFill>
                <a:latin typeface="Georgia"/>
                <a:cs typeface="Georgia"/>
              </a:rPr>
              <a:t>called</a:t>
            </a:r>
            <a:r>
              <a:rPr sz="3300" spc="40" dirty="0">
                <a:solidFill>
                  <a:srgbClr val="2E377E"/>
                </a:solidFill>
                <a:latin typeface="Georgia"/>
                <a:cs typeface="Georgia"/>
              </a:rPr>
              <a:t> </a:t>
            </a:r>
            <a:r>
              <a:rPr sz="3300" dirty="0">
                <a:solidFill>
                  <a:srgbClr val="2E377E"/>
                </a:solidFill>
                <a:latin typeface="Georgia"/>
                <a:cs typeface="Georgia"/>
              </a:rPr>
              <a:t>“cluster-admin”</a:t>
            </a:r>
            <a:r>
              <a:rPr sz="3300" spc="45" dirty="0">
                <a:solidFill>
                  <a:srgbClr val="2E377E"/>
                </a:solidFill>
                <a:latin typeface="Georgia"/>
                <a:cs typeface="Georgia"/>
              </a:rPr>
              <a:t> </a:t>
            </a:r>
            <a:r>
              <a:rPr sz="3300" dirty="0">
                <a:solidFill>
                  <a:srgbClr val="2E377E"/>
                </a:solidFill>
                <a:latin typeface="Georgia"/>
                <a:cs typeface="Georgia"/>
              </a:rPr>
              <a:t>that</a:t>
            </a:r>
            <a:r>
              <a:rPr sz="3300" spc="40" dirty="0">
                <a:solidFill>
                  <a:srgbClr val="2E377E"/>
                </a:solidFill>
                <a:latin typeface="Georgia"/>
                <a:cs typeface="Georgia"/>
              </a:rPr>
              <a:t> </a:t>
            </a:r>
            <a:r>
              <a:rPr sz="3300" spc="55" dirty="0">
                <a:solidFill>
                  <a:srgbClr val="2E377E"/>
                </a:solidFill>
                <a:latin typeface="Georgia"/>
                <a:cs typeface="Georgia"/>
              </a:rPr>
              <a:t>gives</a:t>
            </a:r>
            <a:r>
              <a:rPr sz="3300" spc="45" dirty="0">
                <a:solidFill>
                  <a:srgbClr val="2E377E"/>
                </a:solidFill>
                <a:latin typeface="Georgia"/>
                <a:cs typeface="Georgia"/>
              </a:rPr>
              <a:t> </a:t>
            </a:r>
            <a:r>
              <a:rPr sz="3300" dirty="0">
                <a:solidFill>
                  <a:srgbClr val="2E377E"/>
                </a:solidFill>
                <a:latin typeface="Georgia"/>
                <a:cs typeface="Georgia"/>
              </a:rPr>
              <a:t>the</a:t>
            </a:r>
            <a:r>
              <a:rPr sz="3300" spc="40" dirty="0">
                <a:solidFill>
                  <a:srgbClr val="2E377E"/>
                </a:solidFill>
                <a:latin typeface="Georgia"/>
                <a:cs typeface="Georgia"/>
              </a:rPr>
              <a:t> </a:t>
            </a:r>
            <a:r>
              <a:rPr sz="3300" dirty="0">
                <a:solidFill>
                  <a:srgbClr val="2E377E"/>
                </a:solidFill>
                <a:latin typeface="Georgia"/>
                <a:cs typeface="Georgia"/>
              </a:rPr>
              <a:t>user</a:t>
            </a:r>
            <a:r>
              <a:rPr sz="3300" spc="40" dirty="0">
                <a:solidFill>
                  <a:srgbClr val="2E377E"/>
                </a:solidFill>
                <a:latin typeface="Georgia"/>
                <a:cs typeface="Georgia"/>
              </a:rPr>
              <a:t> </a:t>
            </a:r>
            <a:r>
              <a:rPr sz="3300" dirty="0">
                <a:solidFill>
                  <a:srgbClr val="2E377E"/>
                </a:solidFill>
                <a:latin typeface="Georgia"/>
                <a:cs typeface="Georgia"/>
              </a:rPr>
              <a:t>or</a:t>
            </a:r>
            <a:r>
              <a:rPr sz="3300" spc="45" dirty="0">
                <a:solidFill>
                  <a:srgbClr val="2E377E"/>
                </a:solidFill>
                <a:latin typeface="Georgia"/>
                <a:cs typeface="Georgia"/>
              </a:rPr>
              <a:t> </a:t>
            </a:r>
            <a:r>
              <a:rPr sz="3300" dirty="0">
                <a:solidFill>
                  <a:srgbClr val="2E377E"/>
                </a:solidFill>
                <a:latin typeface="Georgia"/>
                <a:cs typeface="Georgia"/>
              </a:rPr>
              <a:t>group</a:t>
            </a:r>
            <a:r>
              <a:rPr sz="3300" spc="40" dirty="0">
                <a:solidFill>
                  <a:srgbClr val="2E377E"/>
                </a:solidFill>
                <a:latin typeface="Georgia"/>
                <a:cs typeface="Georgia"/>
              </a:rPr>
              <a:t> </a:t>
            </a:r>
            <a:r>
              <a:rPr sz="3300" dirty="0">
                <a:solidFill>
                  <a:srgbClr val="2E377E"/>
                </a:solidFill>
                <a:latin typeface="Georgia"/>
                <a:cs typeface="Georgia"/>
              </a:rPr>
              <a:t>full</a:t>
            </a:r>
            <a:r>
              <a:rPr sz="3300" spc="40" dirty="0">
                <a:solidFill>
                  <a:srgbClr val="2E377E"/>
                </a:solidFill>
                <a:latin typeface="Georgia"/>
                <a:cs typeface="Georgia"/>
              </a:rPr>
              <a:t> </a:t>
            </a:r>
            <a:r>
              <a:rPr sz="3300" spc="-10" dirty="0">
                <a:solidFill>
                  <a:srgbClr val="2E377E"/>
                </a:solidFill>
                <a:latin typeface="Georgia"/>
                <a:cs typeface="Georgia"/>
              </a:rPr>
              <a:t>access </a:t>
            </a:r>
            <a:r>
              <a:rPr sz="3300" spc="55" dirty="0">
                <a:solidFill>
                  <a:srgbClr val="2E377E"/>
                </a:solidFill>
                <a:latin typeface="Georgia"/>
                <a:cs typeface="Georgia"/>
              </a:rPr>
              <a:t>to</a:t>
            </a:r>
            <a:r>
              <a:rPr sz="3300" spc="-5" dirty="0">
                <a:solidFill>
                  <a:srgbClr val="2E377E"/>
                </a:solidFill>
                <a:latin typeface="Georgia"/>
                <a:cs typeface="Georgia"/>
              </a:rPr>
              <a:t> </a:t>
            </a:r>
            <a:r>
              <a:rPr sz="3300" dirty="0">
                <a:solidFill>
                  <a:srgbClr val="2E377E"/>
                </a:solidFill>
                <a:latin typeface="Georgia"/>
                <a:cs typeface="Georgia"/>
              </a:rPr>
              <a:t>all</a:t>
            </a:r>
            <a:r>
              <a:rPr sz="3300" spc="-5" dirty="0">
                <a:solidFill>
                  <a:srgbClr val="2E377E"/>
                </a:solidFill>
                <a:latin typeface="Georgia"/>
                <a:cs typeface="Georgia"/>
              </a:rPr>
              <a:t> </a:t>
            </a:r>
            <a:r>
              <a:rPr sz="3300" dirty="0">
                <a:solidFill>
                  <a:srgbClr val="2E377E"/>
                </a:solidFill>
                <a:latin typeface="Georgia"/>
                <a:cs typeface="Georgia"/>
              </a:rPr>
              <a:t>resources</a:t>
            </a:r>
            <a:r>
              <a:rPr sz="3300" spc="-5" dirty="0">
                <a:solidFill>
                  <a:srgbClr val="2E377E"/>
                </a:solidFill>
                <a:latin typeface="Georgia"/>
                <a:cs typeface="Georgia"/>
              </a:rPr>
              <a:t> </a:t>
            </a:r>
            <a:r>
              <a:rPr sz="3300" dirty="0">
                <a:solidFill>
                  <a:srgbClr val="2E377E"/>
                </a:solidFill>
                <a:latin typeface="Georgia"/>
                <a:cs typeface="Georgia"/>
              </a:rPr>
              <a:t>in the</a:t>
            </a:r>
            <a:r>
              <a:rPr sz="3300" spc="-5" dirty="0">
                <a:solidFill>
                  <a:srgbClr val="2E377E"/>
                </a:solidFill>
                <a:latin typeface="Georgia"/>
                <a:cs typeface="Georgia"/>
              </a:rPr>
              <a:t> </a:t>
            </a:r>
            <a:r>
              <a:rPr sz="3300" spc="-10" dirty="0">
                <a:solidFill>
                  <a:srgbClr val="2E377E"/>
                </a:solidFill>
                <a:latin typeface="Georgia"/>
                <a:cs typeface="Georgia"/>
              </a:rPr>
              <a:t>cluster.</a:t>
            </a:r>
            <a:endParaRPr sz="3300">
              <a:latin typeface="Georgia"/>
              <a:cs typeface="Georgia"/>
            </a:endParaRPr>
          </a:p>
          <a:p>
            <a:pPr marL="12700">
              <a:lnSpc>
                <a:spcPct val="100000"/>
              </a:lnSpc>
              <a:spcBef>
                <a:spcPts val="615"/>
              </a:spcBef>
            </a:pPr>
            <a:r>
              <a:rPr sz="3300" dirty="0">
                <a:solidFill>
                  <a:srgbClr val="2E377E"/>
                </a:solidFill>
                <a:latin typeface="Georgia"/>
                <a:cs typeface="Georgia"/>
              </a:rPr>
              <a:t>These</a:t>
            </a:r>
            <a:r>
              <a:rPr sz="3300" spc="40" dirty="0">
                <a:solidFill>
                  <a:srgbClr val="2E377E"/>
                </a:solidFill>
                <a:latin typeface="Georgia"/>
                <a:cs typeface="Georgia"/>
              </a:rPr>
              <a:t> </a:t>
            </a:r>
            <a:r>
              <a:rPr sz="3300" dirty="0">
                <a:solidFill>
                  <a:srgbClr val="2E377E"/>
                </a:solidFill>
                <a:latin typeface="Georgia"/>
                <a:cs typeface="Georgia"/>
              </a:rPr>
              <a:t>are</a:t>
            </a:r>
            <a:r>
              <a:rPr sz="3300" spc="45" dirty="0">
                <a:solidFill>
                  <a:srgbClr val="2E377E"/>
                </a:solidFill>
                <a:latin typeface="Georgia"/>
                <a:cs typeface="Georgia"/>
              </a:rPr>
              <a:t> </a:t>
            </a:r>
            <a:r>
              <a:rPr sz="3300" dirty="0">
                <a:solidFill>
                  <a:srgbClr val="2E377E"/>
                </a:solidFill>
                <a:latin typeface="Georgia"/>
                <a:cs typeface="Georgia"/>
              </a:rPr>
              <a:t>not</a:t>
            </a:r>
            <a:r>
              <a:rPr sz="3300" spc="45" dirty="0">
                <a:solidFill>
                  <a:srgbClr val="2E377E"/>
                </a:solidFill>
                <a:latin typeface="Georgia"/>
                <a:cs typeface="Georgia"/>
              </a:rPr>
              <a:t> </a:t>
            </a:r>
            <a:r>
              <a:rPr sz="3300" dirty="0">
                <a:solidFill>
                  <a:srgbClr val="2E377E"/>
                </a:solidFill>
                <a:latin typeface="Georgia"/>
                <a:cs typeface="Georgia"/>
              </a:rPr>
              <a:t>Namespace-specific.</a:t>
            </a:r>
            <a:r>
              <a:rPr sz="3300" spc="45" dirty="0">
                <a:solidFill>
                  <a:srgbClr val="2E377E"/>
                </a:solidFill>
                <a:latin typeface="Georgia"/>
                <a:cs typeface="Georgia"/>
              </a:rPr>
              <a:t> </a:t>
            </a:r>
            <a:r>
              <a:rPr sz="3300" dirty="0">
                <a:solidFill>
                  <a:srgbClr val="2E377E"/>
                </a:solidFill>
                <a:latin typeface="Georgia"/>
                <a:cs typeface="Georgia"/>
              </a:rPr>
              <a:t>They</a:t>
            </a:r>
            <a:r>
              <a:rPr sz="3300" spc="45" dirty="0">
                <a:solidFill>
                  <a:srgbClr val="2E377E"/>
                </a:solidFill>
                <a:latin typeface="Georgia"/>
                <a:cs typeface="Georgia"/>
              </a:rPr>
              <a:t> </a:t>
            </a:r>
            <a:r>
              <a:rPr sz="3300" dirty="0">
                <a:solidFill>
                  <a:srgbClr val="2E377E"/>
                </a:solidFill>
                <a:latin typeface="Georgia"/>
                <a:cs typeface="Georgia"/>
              </a:rPr>
              <a:t>define</a:t>
            </a:r>
            <a:r>
              <a:rPr sz="3300" spc="45" dirty="0">
                <a:solidFill>
                  <a:srgbClr val="2E377E"/>
                </a:solidFill>
                <a:latin typeface="Georgia"/>
                <a:cs typeface="Georgia"/>
              </a:rPr>
              <a:t> </a:t>
            </a:r>
            <a:r>
              <a:rPr sz="3300" dirty="0">
                <a:solidFill>
                  <a:srgbClr val="2E377E"/>
                </a:solidFill>
                <a:latin typeface="Georgia"/>
                <a:cs typeface="Georgia"/>
              </a:rPr>
              <a:t>permissions</a:t>
            </a:r>
            <a:r>
              <a:rPr sz="3300" spc="45" dirty="0">
                <a:solidFill>
                  <a:srgbClr val="2E377E"/>
                </a:solidFill>
                <a:latin typeface="Georgia"/>
                <a:cs typeface="Georgia"/>
              </a:rPr>
              <a:t> </a:t>
            </a:r>
            <a:r>
              <a:rPr sz="3300" dirty="0">
                <a:solidFill>
                  <a:srgbClr val="2E377E"/>
                </a:solidFill>
                <a:latin typeface="Georgia"/>
                <a:cs typeface="Georgia"/>
              </a:rPr>
              <a:t>for</a:t>
            </a:r>
            <a:r>
              <a:rPr sz="3300" spc="45" dirty="0">
                <a:solidFill>
                  <a:srgbClr val="2E377E"/>
                </a:solidFill>
                <a:latin typeface="Georgia"/>
                <a:cs typeface="Georgia"/>
              </a:rPr>
              <a:t> </a:t>
            </a:r>
            <a:r>
              <a:rPr sz="3300" dirty="0">
                <a:solidFill>
                  <a:srgbClr val="2E377E"/>
                </a:solidFill>
                <a:latin typeface="Georgia"/>
                <a:cs typeface="Georgia"/>
              </a:rPr>
              <a:t>cluster-</a:t>
            </a:r>
            <a:r>
              <a:rPr sz="3300" spc="55" dirty="0">
                <a:solidFill>
                  <a:srgbClr val="2E377E"/>
                </a:solidFill>
                <a:latin typeface="Georgia"/>
                <a:cs typeface="Georgia"/>
              </a:rPr>
              <a:t>wide</a:t>
            </a:r>
            <a:r>
              <a:rPr sz="3300" spc="45" dirty="0">
                <a:solidFill>
                  <a:srgbClr val="2E377E"/>
                </a:solidFill>
                <a:latin typeface="Georgia"/>
                <a:cs typeface="Georgia"/>
              </a:rPr>
              <a:t> </a:t>
            </a:r>
            <a:r>
              <a:rPr sz="3300" spc="-10" dirty="0">
                <a:solidFill>
                  <a:srgbClr val="2E377E"/>
                </a:solidFill>
                <a:latin typeface="Georgia"/>
                <a:cs typeface="Georgia"/>
              </a:rPr>
              <a:t>resources.</a:t>
            </a:r>
            <a:endParaRPr sz="3300">
              <a:latin typeface="Georgia"/>
              <a:cs typeface="Georgia"/>
            </a:endParaRPr>
          </a:p>
          <a:p>
            <a:pPr>
              <a:lnSpc>
                <a:spcPct val="100000"/>
              </a:lnSpc>
              <a:spcBef>
                <a:spcPts val="825"/>
              </a:spcBef>
            </a:pPr>
            <a:endParaRPr sz="3300">
              <a:latin typeface="Georgia"/>
              <a:cs typeface="Georgia"/>
            </a:endParaRPr>
          </a:p>
          <a:p>
            <a:pPr marL="12700" marR="29209" indent="386080" algn="just">
              <a:lnSpc>
                <a:spcPct val="115500"/>
              </a:lnSpc>
              <a:buAutoNum type="arabicPeriod" startAt="3"/>
              <a:tabLst>
                <a:tab pos="398780" algn="l"/>
              </a:tabLst>
            </a:pPr>
            <a:r>
              <a:rPr sz="3300" spc="80" dirty="0">
                <a:solidFill>
                  <a:srgbClr val="2E377E"/>
                </a:solidFill>
                <a:latin typeface="Times New Roman"/>
                <a:cs typeface="Times New Roman"/>
              </a:rPr>
              <a:t>Role</a:t>
            </a:r>
            <a:r>
              <a:rPr sz="3300" spc="-65" dirty="0">
                <a:solidFill>
                  <a:srgbClr val="2E377E"/>
                </a:solidFill>
                <a:latin typeface="Times New Roman"/>
                <a:cs typeface="Times New Roman"/>
              </a:rPr>
              <a:t> </a:t>
            </a:r>
            <a:r>
              <a:rPr sz="3300" spc="170" dirty="0">
                <a:solidFill>
                  <a:srgbClr val="2E377E"/>
                </a:solidFill>
                <a:latin typeface="Times New Roman"/>
                <a:cs typeface="Times New Roman"/>
              </a:rPr>
              <a:t>bindings</a:t>
            </a:r>
            <a:r>
              <a:rPr sz="3300" spc="-60" dirty="0">
                <a:solidFill>
                  <a:srgbClr val="2E377E"/>
                </a:solidFill>
                <a:latin typeface="Times New Roman"/>
                <a:cs typeface="Times New Roman"/>
              </a:rPr>
              <a:t> </a:t>
            </a:r>
            <a:r>
              <a:rPr sz="3300" dirty="0">
                <a:solidFill>
                  <a:srgbClr val="2E377E"/>
                </a:solidFill>
                <a:latin typeface="Georgia"/>
                <a:cs typeface="Georgia"/>
              </a:rPr>
              <a:t>connect</a:t>
            </a:r>
            <a:r>
              <a:rPr sz="3300" spc="-35" dirty="0">
                <a:solidFill>
                  <a:srgbClr val="2E377E"/>
                </a:solidFill>
                <a:latin typeface="Georgia"/>
                <a:cs typeface="Georgia"/>
              </a:rPr>
              <a:t> </a:t>
            </a:r>
            <a:r>
              <a:rPr sz="3300" dirty="0">
                <a:solidFill>
                  <a:srgbClr val="2E377E"/>
                </a:solidFill>
                <a:latin typeface="Georgia"/>
                <a:cs typeface="Georgia"/>
              </a:rPr>
              <a:t>users/groups</a:t>
            </a:r>
            <a:r>
              <a:rPr sz="3300" spc="-30" dirty="0">
                <a:solidFill>
                  <a:srgbClr val="2E377E"/>
                </a:solidFill>
                <a:latin typeface="Georgia"/>
                <a:cs typeface="Georgia"/>
              </a:rPr>
              <a:t> </a:t>
            </a:r>
            <a:r>
              <a:rPr sz="3300" spc="55" dirty="0">
                <a:solidFill>
                  <a:srgbClr val="2E377E"/>
                </a:solidFill>
                <a:latin typeface="Georgia"/>
                <a:cs typeface="Georgia"/>
              </a:rPr>
              <a:t>to</a:t>
            </a:r>
            <a:r>
              <a:rPr sz="3300" spc="-30" dirty="0">
                <a:solidFill>
                  <a:srgbClr val="2E377E"/>
                </a:solidFill>
                <a:latin typeface="Georgia"/>
                <a:cs typeface="Georgia"/>
              </a:rPr>
              <a:t> </a:t>
            </a:r>
            <a:r>
              <a:rPr sz="3300" dirty="0">
                <a:solidFill>
                  <a:srgbClr val="2E377E"/>
                </a:solidFill>
                <a:latin typeface="Georgia"/>
                <a:cs typeface="Georgia"/>
              </a:rPr>
              <a:t>roles.</a:t>
            </a:r>
            <a:r>
              <a:rPr sz="3300" spc="-35" dirty="0">
                <a:solidFill>
                  <a:srgbClr val="2E377E"/>
                </a:solidFill>
                <a:latin typeface="Georgia"/>
                <a:cs typeface="Georgia"/>
              </a:rPr>
              <a:t> </a:t>
            </a:r>
            <a:r>
              <a:rPr sz="3300" spc="-50" dirty="0">
                <a:solidFill>
                  <a:srgbClr val="2E377E"/>
                </a:solidFill>
                <a:latin typeface="Georgia"/>
                <a:cs typeface="Georgia"/>
              </a:rPr>
              <a:t>For</a:t>
            </a:r>
            <a:r>
              <a:rPr sz="3300" spc="-30" dirty="0">
                <a:solidFill>
                  <a:srgbClr val="2E377E"/>
                </a:solidFill>
                <a:latin typeface="Georgia"/>
                <a:cs typeface="Georgia"/>
              </a:rPr>
              <a:t> </a:t>
            </a:r>
            <a:r>
              <a:rPr sz="3300" dirty="0">
                <a:solidFill>
                  <a:srgbClr val="2E377E"/>
                </a:solidFill>
                <a:latin typeface="Georgia"/>
                <a:cs typeface="Georgia"/>
              </a:rPr>
              <a:t>example,</a:t>
            </a:r>
            <a:r>
              <a:rPr sz="3300" spc="-30" dirty="0">
                <a:solidFill>
                  <a:srgbClr val="2E377E"/>
                </a:solidFill>
                <a:latin typeface="Georgia"/>
                <a:cs typeface="Georgia"/>
              </a:rPr>
              <a:t> </a:t>
            </a:r>
            <a:r>
              <a:rPr sz="3300" spc="80" dirty="0">
                <a:solidFill>
                  <a:srgbClr val="2E377E"/>
                </a:solidFill>
                <a:latin typeface="Georgia"/>
                <a:cs typeface="Georgia"/>
              </a:rPr>
              <a:t>you</a:t>
            </a:r>
            <a:r>
              <a:rPr sz="3300" spc="-35" dirty="0">
                <a:solidFill>
                  <a:srgbClr val="2E377E"/>
                </a:solidFill>
                <a:latin typeface="Georgia"/>
                <a:cs typeface="Georgia"/>
              </a:rPr>
              <a:t> </a:t>
            </a:r>
            <a:r>
              <a:rPr sz="3300" dirty="0">
                <a:solidFill>
                  <a:srgbClr val="2E377E"/>
                </a:solidFill>
                <a:latin typeface="Georgia"/>
                <a:cs typeface="Georgia"/>
              </a:rPr>
              <a:t>might</a:t>
            </a:r>
            <a:r>
              <a:rPr sz="3300" spc="-30" dirty="0">
                <a:solidFill>
                  <a:srgbClr val="2E377E"/>
                </a:solidFill>
                <a:latin typeface="Georgia"/>
                <a:cs typeface="Georgia"/>
              </a:rPr>
              <a:t> </a:t>
            </a:r>
            <a:r>
              <a:rPr sz="3300" dirty="0">
                <a:solidFill>
                  <a:srgbClr val="2E377E"/>
                </a:solidFill>
                <a:latin typeface="Georgia"/>
                <a:cs typeface="Georgia"/>
              </a:rPr>
              <a:t>bind</a:t>
            </a:r>
            <a:r>
              <a:rPr sz="3300" spc="-30" dirty="0">
                <a:solidFill>
                  <a:srgbClr val="2E377E"/>
                </a:solidFill>
                <a:latin typeface="Georgia"/>
                <a:cs typeface="Georgia"/>
              </a:rPr>
              <a:t> </a:t>
            </a:r>
            <a:r>
              <a:rPr sz="3300" dirty="0">
                <a:solidFill>
                  <a:srgbClr val="2E377E"/>
                </a:solidFill>
                <a:latin typeface="Georgia"/>
                <a:cs typeface="Georgia"/>
              </a:rPr>
              <a:t>the</a:t>
            </a:r>
            <a:r>
              <a:rPr sz="3300" spc="-35" dirty="0">
                <a:solidFill>
                  <a:srgbClr val="2E377E"/>
                </a:solidFill>
                <a:latin typeface="Georgia"/>
                <a:cs typeface="Georgia"/>
              </a:rPr>
              <a:t> </a:t>
            </a:r>
            <a:r>
              <a:rPr sz="3300" spc="-10" dirty="0">
                <a:solidFill>
                  <a:srgbClr val="2E377E"/>
                </a:solidFill>
                <a:latin typeface="Georgia"/>
                <a:cs typeface="Georgia"/>
              </a:rPr>
              <a:t>“admin” </a:t>
            </a:r>
            <a:r>
              <a:rPr sz="3300" dirty="0">
                <a:solidFill>
                  <a:srgbClr val="2E377E"/>
                </a:solidFill>
                <a:latin typeface="Georgia"/>
                <a:cs typeface="Georgia"/>
              </a:rPr>
              <a:t>role</a:t>
            </a:r>
            <a:r>
              <a:rPr sz="3300" spc="5" dirty="0">
                <a:solidFill>
                  <a:srgbClr val="2E377E"/>
                </a:solidFill>
                <a:latin typeface="Georgia"/>
                <a:cs typeface="Georgia"/>
              </a:rPr>
              <a:t> </a:t>
            </a:r>
            <a:r>
              <a:rPr sz="3300" spc="55" dirty="0">
                <a:solidFill>
                  <a:srgbClr val="2E377E"/>
                </a:solidFill>
                <a:latin typeface="Georgia"/>
                <a:cs typeface="Georgia"/>
              </a:rPr>
              <a:t>to</a:t>
            </a:r>
            <a:r>
              <a:rPr sz="3300" spc="5" dirty="0">
                <a:solidFill>
                  <a:srgbClr val="2E377E"/>
                </a:solidFill>
                <a:latin typeface="Georgia"/>
                <a:cs typeface="Georgia"/>
              </a:rPr>
              <a:t> </a:t>
            </a:r>
            <a:r>
              <a:rPr sz="3300" dirty="0">
                <a:solidFill>
                  <a:srgbClr val="2E377E"/>
                </a:solidFill>
                <a:latin typeface="Georgia"/>
                <a:cs typeface="Georgia"/>
              </a:rPr>
              <a:t>the</a:t>
            </a:r>
            <a:r>
              <a:rPr sz="3300" spc="5" dirty="0">
                <a:solidFill>
                  <a:srgbClr val="2E377E"/>
                </a:solidFill>
                <a:latin typeface="Georgia"/>
                <a:cs typeface="Georgia"/>
              </a:rPr>
              <a:t> </a:t>
            </a:r>
            <a:r>
              <a:rPr sz="3300" dirty="0">
                <a:solidFill>
                  <a:srgbClr val="2E377E"/>
                </a:solidFill>
                <a:latin typeface="Georgia"/>
                <a:cs typeface="Georgia"/>
              </a:rPr>
              <a:t>“admin”</a:t>
            </a:r>
            <a:r>
              <a:rPr sz="3300" spc="5" dirty="0">
                <a:solidFill>
                  <a:srgbClr val="2E377E"/>
                </a:solidFill>
                <a:latin typeface="Georgia"/>
                <a:cs typeface="Georgia"/>
              </a:rPr>
              <a:t> </a:t>
            </a:r>
            <a:r>
              <a:rPr sz="3300" dirty="0">
                <a:solidFill>
                  <a:srgbClr val="2E377E"/>
                </a:solidFill>
                <a:latin typeface="Georgia"/>
                <a:cs typeface="Georgia"/>
              </a:rPr>
              <a:t>user.</a:t>
            </a:r>
            <a:r>
              <a:rPr sz="3300" spc="5" dirty="0">
                <a:solidFill>
                  <a:srgbClr val="2E377E"/>
                </a:solidFill>
                <a:latin typeface="Georgia"/>
                <a:cs typeface="Georgia"/>
              </a:rPr>
              <a:t> </a:t>
            </a:r>
            <a:r>
              <a:rPr sz="3300" dirty="0">
                <a:solidFill>
                  <a:srgbClr val="2E377E"/>
                </a:solidFill>
                <a:latin typeface="Georgia"/>
                <a:cs typeface="Georgia"/>
              </a:rPr>
              <a:t>This</a:t>
            </a:r>
            <a:r>
              <a:rPr sz="3300" spc="5" dirty="0">
                <a:solidFill>
                  <a:srgbClr val="2E377E"/>
                </a:solidFill>
                <a:latin typeface="Georgia"/>
                <a:cs typeface="Georgia"/>
              </a:rPr>
              <a:t> </a:t>
            </a:r>
            <a:r>
              <a:rPr sz="3300" dirty="0">
                <a:solidFill>
                  <a:srgbClr val="2E377E"/>
                </a:solidFill>
                <a:latin typeface="Georgia"/>
                <a:cs typeface="Georgia"/>
              </a:rPr>
              <a:t>would</a:t>
            </a:r>
            <a:r>
              <a:rPr sz="3300" spc="5" dirty="0">
                <a:solidFill>
                  <a:srgbClr val="2E377E"/>
                </a:solidFill>
                <a:latin typeface="Georgia"/>
                <a:cs typeface="Georgia"/>
              </a:rPr>
              <a:t> </a:t>
            </a:r>
            <a:r>
              <a:rPr sz="3300" spc="60" dirty="0">
                <a:solidFill>
                  <a:srgbClr val="2E377E"/>
                </a:solidFill>
                <a:latin typeface="Georgia"/>
                <a:cs typeface="Georgia"/>
              </a:rPr>
              <a:t>give</a:t>
            </a:r>
            <a:r>
              <a:rPr sz="3300" spc="5" dirty="0">
                <a:solidFill>
                  <a:srgbClr val="2E377E"/>
                </a:solidFill>
                <a:latin typeface="Georgia"/>
                <a:cs typeface="Georgia"/>
              </a:rPr>
              <a:t> </a:t>
            </a:r>
            <a:r>
              <a:rPr sz="3300" dirty="0">
                <a:solidFill>
                  <a:srgbClr val="2E377E"/>
                </a:solidFill>
                <a:latin typeface="Georgia"/>
                <a:cs typeface="Georgia"/>
              </a:rPr>
              <a:t>the</a:t>
            </a:r>
            <a:r>
              <a:rPr sz="3300" spc="5" dirty="0">
                <a:solidFill>
                  <a:srgbClr val="2E377E"/>
                </a:solidFill>
                <a:latin typeface="Georgia"/>
                <a:cs typeface="Georgia"/>
              </a:rPr>
              <a:t> </a:t>
            </a:r>
            <a:r>
              <a:rPr sz="3300" dirty="0">
                <a:solidFill>
                  <a:srgbClr val="2E377E"/>
                </a:solidFill>
                <a:latin typeface="Georgia"/>
                <a:cs typeface="Georgia"/>
              </a:rPr>
              <a:t>“admin”</a:t>
            </a:r>
            <a:r>
              <a:rPr sz="3300" spc="5" dirty="0">
                <a:solidFill>
                  <a:srgbClr val="2E377E"/>
                </a:solidFill>
                <a:latin typeface="Georgia"/>
                <a:cs typeface="Georgia"/>
              </a:rPr>
              <a:t> </a:t>
            </a:r>
            <a:r>
              <a:rPr sz="3300" dirty="0">
                <a:solidFill>
                  <a:srgbClr val="2E377E"/>
                </a:solidFill>
                <a:latin typeface="Georgia"/>
                <a:cs typeface="Georgia"/>
              </a:rPr>
              <a:t>user</a:t>
            </a:r>
            <a:r>
              <a:rPr sz="3300" spc="10" dirty="0">
                <a:solidFill>
                  <a:srgbClr val="2E377E"/>
                </a:solidFill>
                <a:latin typeface="Georgia"/>
                <a:cs typeface="Georgia"/>
              </a:rPr>
              <a:t> </a:t>
            </a:r>
            <a:r>
              <a:rPr sz="3300" dirty="0">
                <a:solidFill>
                  <a:srgbClr val="2E377E"/>
                </a:solidFill>
                <a:latin typeface="Georgia"/>
                <a:cs typeface="Georgia"/>
              </a:rPr>
              <a:t>all</a:t>
            </a:r>
            <a:r>
              <a:rPr sz="3300" spc="5" dirty="0">
                <a:solidFill>
                  <a:srgbClr val="2E377E"/>
                </a:solidFill>
                <a:latin typeface="Georgia"/>
                <a:cs typeface="Georgia"/>
              </a:rPr>
              <a:t> </a:t>
            </a:r>
            <a:r>
              <a:rPr sz="3300" dirty="0">
                <a:solidFill>
                  <a:srgbClr val="2E377E"/>
                </a:solidFill>
                <a:latin typeface="Georgia"/>
                <a:cs typeface="Georgia"/>
              </a:rPr>
              <a:t>the</a:t>
            </a:r>
            <a:r>
              <a:rPr sz="3300" spc="5" dirty="0">
                <a:solidFill>
                  <a:srgbClr val="2E377E"/>
                </a:solidFill>
                <a:latin typeface="Georgia"/>
                <a:cs typeface="Georgia"/>
              </a:rPr>
              <a:t> </a:t>
            </a:r>
            <a:r>
              <a:rPr sz="3300" dirty="0">
                <a:solidFill>
                  <a:srgbClr val="2E377E"/>
                </a:solidFill>
                <a:latin typeface="Georgia"/>
                <a:cs typeface="Georgia"/>
              </a:rPr>
              <a:t>permissions</a:t>
            </a:r>
            <a:r>
              <a:rPr sz="3300" spc="5" dirty="0">
                <a:solidFill>
                  <a:srgbClr val="2E377E"/>
                </a:solidFill>
                <a:latin typeface="Georgia"/>
                <a:cs typeface="Georgia"/>
              </a:rPr>
              <a:t> </a:t>
            </a:r>
            <a:r>
              <a:rPr sz="3300" dirty="0">
                <a:solidFill>
                  <a:srgbClr val="2E377E"/>
                </a:solidFill>
                <a:latin typeface="Georgia"/>
                <a:cs typeface="Georgia"/>
              </a:rPr>
              <a:t>defined</a:t>
            </a:r>
            <a:r>
              <a:rPr sz="3300" spc="5" dirty="0">
                <a:solidFill>
                  <a:srgbClr val="2E377E"/>
                </a:solidFill>
                <a:latin typeface="Georgia"/>
                <a:cs typeface="Georgia"/>
              </a:rPr>
              <a:t> </a:t>
            </a:r>
            <a:r>
              <a:rPr sz="3300" spc="-25" dirty="0">
                <a:solidFill>
                  <a:srgbClr val="2E377E"/>
                </a:solidFill>
                <a:latin typeface="Georgia"/>
                <a:cs typeface="Georgia"/>
              </a:rPr>
              <a:t>in </a:t>
            </a:r>
            <a:r>
              <a:rPr sz="3300" dirty="0">
                <a:solidFill>
                  <a:srgbClr val="2E377E"/>
                </a:solidFill>
                <a:latin typeface="Georgia"/>
                <a:cs typeface="Georgia"/>
              </a:rPr>
              <a:t>the</a:t>
            </a:r>
            <a:r>
              <a:rPr sz="3300" spc="50" dirty="0">
                <a:solidFill>
                  <a:srgbClr val="2E377E"/>
                </a:solidFill>
                <a:latin typeface="Georgia"/>
                <a:cs typeface="Georgia"/>
              </a:rPr>
              <a:t> </a:t>
            </a:r>
            <a:r>
              <a:rPr sz="3300" dirty="0">
                <a:solidFill>
                  <a:srgbClr val="2E377E"/>
                </a:solidFill>
                <a:latin typeface="Georgia"/>
                <a:cs typeface="Georgia"/>
              </a:rPr>
              <a:t>“admin”</a:t>
            </a:r>
            <a:r>
              <a:rPr sz="3300" spc="50" dirty="0">
                <a:solidFill>
                  <a:srgbClr val="2E377E"/>
                </a:solidFill>
                <a:latin typeface="Georgia"/>
                <a:cs typeface="Georgia"/>
              </a:rPr>
              <a:t> </a:t>
            </a:r>
            <a:r>
              <a:rPr sz="3300" spc="-20" dirty="0">
                <a:solidFill>
                  <a:srgbClr val="2E377E"/>
                </a:solidFill>
                <a:latin typeface="Georgia"/>
                <a:cs typeface="Georgia"/>
              </a:rPr>
              <a:t>role.</a:t>
            </a:r>
            <a:endParaRPr sz="3300">
              <a:latin typeface="Georgia"/>
              <a:cs typeface="Georgia"/>
            </a:endParaRPr>
          </a:p>
          <a:p>
            <a:pPr marL="12700" algn="just">
              <a:lnSpc>
                <a:spcPct val="100000"/>
              </a:lnSpc>
              <a:spcBef>
                <a:spcPts val="615"/>
              </a:spcBef>
            </a:pPr>
            <a:r>
              <a:rPr sz="3300" dirty="0">
                <a:solidFill>
                  <a:srgbClr val="2E377E"/>
                </a:solidFill>
                <a:latin typeface="Georgia"/>
                <a:cs typeface="Georgia"/>
              </a:rPr>
              <a:t>It</a:t>
            </a:r>
            <a:r>
              <a:rPr sz="3300" spc="45" dirty="0">
                <a:solidFill>
                  <a:srgbClr val="2E377E"/>
                </a:solidFill>
                <a:latin typeface="Georgia"/>
                <a:cs typeface="Georgia"/>
              </a:rPr>
              <a:t> </a:t>
            </a:r>
            <a:r>
              <a:rPr sz="3300" dirty="0">
                <a:solidFill>
                  <a:srgbClr val="2E377E"/>
                </a:solidFill>
                <a:latin typeface="Georgia"/>
                <a:cs typeface="Georgia"/>
              </a:rPr>
              <a:t>grants</a:t>
            </a:r>
            <a:r>
              <a:rPr sz="3300" spc="50" dirty="0">
                <a:solidFill>
                  <a:srgbClr val="2E377E"/>
                </a:solidFill>
                <a:latin typeface="Georgia"/>
                <a:cs typeface="Georgia"/>
              </a:rPr>
              <a:t> </a:t>
            </a:r>
            <a:r>
              <a:rPr sz="3300" dirty="0">
                <a:solidFill>
                  <a:srgbClr val="2E377E"/>
                </a:solidFill>
                <a:latin typeface="Georgia"/>
                <a:cs typeface="Georgia"/>
              </a:rPr>
              <a:t>the</a:t>
            </a:r>
            <a:r>
              <a:rPr sz="3300" spc="45" dirty="0">
                <a:solidFill>
                  <a:srgbClr val="2E377E"/>
                </a:solidFill>
                <a:latin typeface="Georgia"/>
                <a:cs typeface="Georgia"/>
              </a:rPr>
              <a:t> </a:t>
            </a:r>
            <a:r>
              <a:rPr sz="3300" dirty="0">
                <a:solidFill>
                  <a:srgbClr val="2E377E"/>
                </a:solidFill>
                <a:latin typeface="Georgia"/>
                <a:cs typeface="Georgia"/>
              </a:rPr>
              <a:t>permissions</a:t>
            </a:r>
            <a:r>
              <a:rPr sz="3300" spc="50" dirty="0">
                <a:solidFill>
                  <a:srgbClr val="2E377E"/>
                </a:solidFill>
                <a:latin typeface="Georgia"/>
                <a:cs typeface="Georgia"/>
              </a:rPr>
              <a:t> </a:t>
            </a:r>
            <a:r>
              <a:rPr sz="3300" spc="55" dirty="0">
                <a:solidFill>
                  <a:srgbClr val="2E377E"/>
                </a:solidFill>
                <a:latin typeface="Georgia"/>
                <a:cs typeface="Georgia"/>
              </a:rPr>
              <a:t>to</a:t>
            </a:r>
            <a:r>
              <a:rPr sz="3300" spc="45" dirty="0">
                <a:solidFill>
                  <a:srgbClr val="2E377E"/>
                </a:solidFill>
                <a:latin typeface="Georgia"/>
                <a:cs typeface="Georgia"/>
              </a:rPr>
              <a:t> </a:t>
            </a:r>
            <a:r>
              <a:rPr sz="3300" dirty="0">
                <a:solidFill>
                  <a:srgbClr val="2E377E"/>
                </a:solidFill>
                <a:latin typeface="Georgia"/>
                <a:cs typeface="Georgia"/>
              </a:rPr>
              <a:t>particular</a:t>
            </a:r>
            <a:r>
              <a:rPr sz="3300" spc="50" dirty="0">
                <a:solidFill>
                  <a:srgbClr val="2E377E"/>
                </a:solidFill>
                <a:latin typeface="Georgia"/>
                <a:cs typeface="Georgia"/>
              </a:rPr>
              <a:t> </a:t>
            </a:r>
            <a:r>
              <a:rPr sz="3300" dirty="0">
                <a:solidFill>
                  <a:srgbClr val="2E377E"/>
                </a:solidFill>
                <a:latin typeface="Georgia"/>
                <a:cs typeface="Georgia"/>
              </a:rPr>
              <a:t>namespaces</a:t>
            </a:r>
            <a:r>
              <a:rPr sz="3300" spc="50" dirty="0">
                <a:solidFill>
                  <a:srgbClr val="2E377E"/>
                </a:solidFill>
                <a:latin typeface="Georgia"/>
                <a:cs typeface="Georgia"/>
              </a:rPr>
              <a:t> </a:t>
            </a:r>
            <a:r>
              <a:rPr sz="3300" spc="-10" dirty="0">
                <a:solidFill>
                  <a:srgbClr val="2E377E"/>
                </a:solidFill>
                <a:latin typeface="Georgia"/>
                <a:cs typeface="Georgia"/>
              </a:rPr>
              <a:t>only.</a:t>
            </a:r>
            <a:endParaRPr sz="3300">
              <a:latin typeface="Georgia"/>
              <a:cs typeface="Georgia"/>
            </a:endParaRPr>
          </a:p>
          <a:p>
            <a:pPr>
              <a:lnSpc>
                <a:spcPct val="100000"/>
              </a:lnSpc>
              <a:spcBef>
                <a:spcPts val="825"/>
              </a:spcBef>
            </a:pPr>
            <a:endParaRPr sz="3300">
              <a:latin typeface="Georgia"/>
              <a:cs typeface="Georgia"/>
            </a:endParaRPr>
          </a:p>
          <a:p>
            <a:pPr marL="12700" marR="1964689" indent="389890">
              <a:lnSpc>
                <a:spcPct val="115500"/>
              </a:lnSpc>
              <a:spcBef>
                <a:spcPts val="5"/>
              </a:spcBef>
              <a:buAutoNum type="arabicPeriod" startAt="4"/>
              <a:tabLst>
                <a:tab pos="402590" algn="l"/>
              </a:tabLst>
            </a:pPr>
            <a:r>
              <a:rPr sz="3300" spc="130" dirty="0">
                <a:solidFill>
                  <a:srgbClr val="2E377E"/>
                </a:solidFill>
                <a:latin typeface="Times New Roman"/>
                <a:cs typeface="Times New Roman"/>
              </a:rPr>
              <a:t>ClusterRoleBindings</a:t>
            </a:r>
            <a:r>
              <a:rPr sz="3300" spc="-100" dirty="0">
                <a:solidFill>
                  <a:srgbClr val="2E377E"/>
                </a:solidFill>
                <a:latin typeface="Times New Roman"/>
                <a:cs typeface="Times New Roman"/>
              </a:rPr>
              <a:t> </a:t>
            </a:r>
            <a:r>
              <a:rPr sz="3300" dirty="0">
                <a:solidFill>
                  <a:srgbClr val="2E377E"/>
                </a:solidFill>
                <a:latin typeface="Georgia"/>
                <a:cs typeface="Georgia"/>
              </a:rPr>
              <a:t>similar</a:t>
            </a:r>
            <a:r>
              <a:rPr sz="3300" spc="-65" dirty="0">
                <a:solidFill>
                  <a:srgbClr val="2E377E"/>
                </a:solidFill>
                <a:latin typeface="Georgia"/>
                <a:cs typeface="Georgia"/>
              </a:rPr>
              <a:t> </a:t>
            </a:r>
            <a:r>
              <a:rPr sz="3300" spc="55" dirty="0">
                <a:solidFill>
                  <a:srgbClr val="2E377E"/>
                </a:solidFill>
                <a:latin typeface="Georgia"/>
                <a:cs typeface="Georgia"/>
              </a:rPr>
              <a:t>to</a:t>
            </a:r>
            <a:r>
              <a:rPr sz="3300" spc="-70" dirty="0">
                <a:solidFill>
                  <a:srgbClr val="2E377E"/>
                </a:solidFill>
                <a:latin typeface="Georgia"/>
                <a:cs typeface="Georgia"/>
              </a:rPr>
              <a:t> </a:t>
            </a:r>
            <a:r>
              <a:rPr sz="3300" spc="-20" dirty="0">
                <a:solidFill>
                  <a:srgbClr val="2E377E"/>
                </a:solidFill>
                <a:latin typeface="Georgia"/>
                <a:cs typeface="Georgia"/>
              </a:rPr>
              <a:t>RoleBindings,</a:t>
            </a:r>
            <a:r>
              <a:rPr sz="3300" spc="-65" dirty="0">
                <a:solidFill>
                  <a:srgbClr val="2E377E"/>
                </a:solidFill>
                <a:latin typeface="Georgia"/>
                <a:cs typeface="Georgia"/>
              </a:rPr>
              <a:t> </a:t>
            </a:r>
            <a:r>
              <a:rPr sz="3300" dirty="0">
                <a:solidFill>
                  <a:srgbClr val="2E377E"/>
                </a:solidFill>
                <a:latin typeface="Georgia"/>
                <a:cs typeface="Georgia"/>
              </a:rPr>
              <a:t>ClusterRoleBindings</a:t>
            </a:r>
            <a:r>
              <a:rPr sz="3300" spc="-70" dirty="0">
                <a:solidFill>
                  <a:srgbClr val="2E377E"/>
                </a:solidFill>
                <a:latin typeface="Georgia"/>
                <a:cs typeface="Georgia"/>
              </a:rPr>
              <a:t> </a:t>
            </a:r>
            <a:r>
              <a:rPr sz="3300" spc="-10" dirty="0">
                <a:solidFill>
                  <a:srgbClr val="2E377E"/>
                </a:solidFill>
                <a:latin typeface="Georgia"/>
                <a:cs typeface="Georgia"/>
              </a:rPr>
              <a:t>associate </a:t>
            </a:r>
            <a:r>
              <a:rPr sz="3300" dirty="0">
                <a:solidFill>
                  <a:srgbClr val="2E377E"/>
                </a:solidFill>
                <a:latin typeface="Georgia"/>
                <a:cs typeface="Georgia"/>
              </a:rPr>
              <a:t>ClusterRoles</a:t>
            </a:r>
            <a:r>
              <a:rPr sz="3300" spc="25" dirty="0">
                <a:solidFill>
                  <a:srgbClr val="2E377E"/>
                </a:solidFill>
                <a:latin typeface="Georgia"/>
                <a:cs typeface="Georgia"/>
              </a:rPr>
              <a:t> </a:t>
            </a:r>
            <a:r>
              <a:rPr sz="3300" spc="65" dirty="0">
                <a:solidFill>
                  <a:srgbClr val="2E377E"/>
                </a:solidFill>
                <a:latin typeface="Georgia"/>
                <a:cs typeface="Georgia"/>
              </a:rPr>
              <a:t>with</a:t>
            </a:r>
            <a:r>
              <a:rPr sz="3300" spc="25" dirty="0">
                <a:solidFill>
                  <a:srgbClr val="2E377E"/>
                </a:solidFill>
                <a:latin typeface="Georgia"/>
                <a:cs typeface="Georgia"/>
              </a:rPr>
              <a:t> </a:t>
            </a:r>
            <a:r>
              <a:rPr sz="3300" dirty="0">
                <a:solidFill>
                  <a:srgbClr val="2E377E"/>
                </a:solidFill>
                <a:latin typeface="Georgia"/>
                <a:cs typeface="Georgia"/>
              </a:rPr>
              <a:t>users/groups</a:t>
            </a:r>
            <a:r>
              <a:rPr sz="3300" spc="25" dirty="0">
                <a:solidFill>
                  <a:srgbClr val="2E377E"/>
                </a:solidFill>
                <a:latin typeface="Georgia"/>
                <a:cs typeface="Georgia"/>
              </a:rPr>
              <a:t> </a:t>
            </a:r>
            <a:r>
              <a:rPr sz="3300" dirty="0">
                <a:solidFill>
                  <a:srgbClr val="2E377E"/>
                </a:solidFill>
                <a:latin typeface="Georgia"/>
                <a:cs typeface="Georgia"/>
              </a:rPr>
              <a:t>across</a:t>
            </a:r>
            <a:r>
              <a:rPr sz="3300" spc="30" dirty="0">
                <a:solidFill>
                  <a:srgbClr val="2E377E"/>
                </a:solidFill>
                <a:latin typeface="Georgia"/>
                <a:cs typeface="Georgia"/>
              </a:rPr>
              <a:t> </a:t>
            </a:r>
            <a:r>
              <a:rPr sz="3300" dirty="0">
                <a:solidFill>
                  <a:srgbClr val="2E377E"/>
                </a:solidFill>
                <a:latin typeface="Georgia"/>
                <a:cs typeface="Georgia"/>
              </a:rPr>
              <a:t>the</a:t>
            </a:r>
            <a:r>
              <a:rPr sz="3300" spc="25" dirty="0">
                <a:solidFill>
                  <a:srgbClr val="2E377E"/>
                </a:solidFill>
                <a:latin typeface="Georgia"/>
                <a:cs typeface="Georgia"/>
              </a:rPr>
              <a:t> </a:t>
            </a:r>
            <a:r>
              <a:rPr sz="3300" dirty="0">
                <a:solidFill>
                  <a:srgbClr val="2E377E"/>
                </a:solidFill>
                <a:latin typeface="Georgia"/>
                <a:cs typeface="Georgia"/>
              </a:rPr>
              <a:t>entire</a:t>
            </a:r>
            <a:r>
              <a:rPr sz="3300" spc="25" dirty="0">
                <a:solidFill>
                  <a:srgbClr val="2E377E"/>
                </a:solidFill>
                <a:latin typeface="Georgia"/>
                <a:cs typeface="Georgia"/>
              </a:rPr>
              <a:t> </a:t>
            </a:r>
            <a:r>
              <a:rPr sz="3300" spc="-10" dirty="0">
                <a:solidFill>
                  <a:srgbClr val="2E377E"/>
                </a:solidFill>
                <a:latin typeface="Georgia"/>
                <a:cs typeface="Georgia"/>
              </a:rPr>
              <a:t>cluster.</a:t>
            </a:r>
            <a:endParaRPr sz="3300">
              <a:latin typeface="Georgia"/>
              <a:cs typeface="Georgia"/>
            </a:endParaRPr>
          </a:p>
          <a:p>
            <a:pPr marL="12700" marR="1581785">
              <a:lnSpc>
                <a:spcPct val="115500"/>
              </a:lnSpc>
            </a:pPr>
            <a:r>
              <a:rPr sz="3300" dirty="0">
                <a:solidFill>
                  <a:srgbClr val="2E377E"/>
                </a:solidFill>
                <a:latin typeface="Georgia"/>
                <a:cs typeface="Georgia"/>
              </a:rPr>
              <a:t>These</a:t>
            </a:r>
            <a:r>
              <a:rPr sz="3300" spc="60" dirty="0">
                <a:solidFill>
                  <a:srgbClr val="2E377E"/>
                </a:solidFill>
                <a:latin typeface="Georgia"/>
                <a:cs typeface="Georgia"/>
              </a:rPr>
              <a:t> </a:t>
            </a:r>
            <a:r>
              <a:rPr sz="3300" dirty="0">
                <a:solidFill>
                  <a:srgbClr val="2E377E"/>
                </a:solidFill>
                <a:latin typeface="Georgia"/>
                <a:cs typeface="Georgia"/>
              </a:rPr>
              <a:t>are</a:t>
            </a:r>
            <a:r>
              <a:rPr sz="3300" spc="65" dirty="0">
                <a:solidFill>
                  <a:srgbClr val="2E377E"/>
                </a:solidFill>
                <a:latin typeface="Georgia"/>
                <a:cs typeface="Georgia"/>
              </a:rPr>
              <a:t> </a:t>
            </a:r>
            <a:r>
              <a:rPr sz="3300" dirty="0">
                <a:solidFill>
                  <a:srgbClr val="2E377E"/>
                </a:solidFill>
                <a:latin typeface="Georgia"/>
                <a:cs typeface="Georgia"/>
              </a:rPr>
              <a:t>not</a:t>
            </a:r>
            <a:r>
              <a:rPr sz="3300" spc="65" dirty="0">
                <a:solidFill>
                  <a:srgbClr val="2E377E"/>
                </a:solidFill>
                <a:latin typeface="Georgia"/>
                <a:cs typeface="Georgia"/>
              </a:rPr>
              <a:t> </a:t>
            </a:r>
            <a:r>
              <a:rPr sz="3300" dirty="0">
                <a:solidFill>
                  <a:srgbClr val="2E377E"/>
                </a:solidFill>
                <a:latin typeface="Georgia"/>
                <a:cs typeface="Georgia"/>
              </a:rPr>
              <a:t>Namespace-specific.</a:t>
            </a:r>
            <a:r>
              <a:rPr sz="3300" spc="65" dirty="0">
                <a:solidFill>
                  <a:srgbClr val="2E377E"/>
                </a:solidFill>
                <a:latin typeface="Georgia"/>
                <a:cs typeface="Georgia"/>
              </a:rPr>
              <a:t> </a:t>
            </a:r>
            <a:r>
              <a:rPr sz="3300" dirty="0">
                <a:solidFill>
                  <a:srgbClr val="2E377E"/>
                </a:solidFill>
                <a:latin typeface="Georgia"/>
                <a:cs typeface="Georgia"/>
              </a:rPr>
              <a:t>They</a:t>
            </a:r>
            <a:r>
              <a:rPr sz="3300" spc="65" dirty="0">
                <a:solidFill>
                  <a:srgbClr val="2E377E"/>
                </a:solidFill>
                <a:latin typeface="Georgia"/>
                <a:cs typeface="Georgia"/>
              </a:rPr>
              <a:t> </a:t>
            </a:r>
            <a:r>
              <a:rPr sz="3300" dirty="0">
                <a:solidFill>
                  <a:srgbClr val="2E377E"/>
                </a:solidFill>
                <a:latin typeface="Georgia"/>
                <a:cs typeface="Georgia"/>
              </a:rPr>
              <a:t>grants</a:t>
            </a:r>
            <a:r>
              <a:rPr sz="3300" spc="60" dirty="0">
                <a:solidFill>
                  <a:srgbClr val="2E377E"/>
                </a:solidFill>
                <a:latin typeface="Georgia"/>
                <a:cs typeface="Georgia"/>
              </a:rPr>
              <a:t> </a:t>
            </a:r>
            <a:r>
              <a:rPr sz="3300" dirty="0">
                <a:solidFill>
                  <a:srgbClr val="2E377E"/>
                </a:solidFill>
                <a:latin typeface="Georgia"/>
                <a:cs typeface="Georgia"/>
              </a:rPr>
              <a:t>the</a:t>
            </a:r>
            <a:r>
              <a:rPr sz="3300" spc="65" dirty="0">
                <a:solidFill>
                  <a:srgbClr val="2E377E"/>
                </a:solidFill>
                <a:latin typeface="Georgia"/>
                <a:cs typeface="Georgia"/>
              </a:rPr>
              <a:t> </a:t>
            </a:r>
            <a:r>
              <a:rPr sz="3300" dirty="0">
                <a:solidFill>
                  <a:srgbClr val="2E377E"/>
                </a:solidFill>
                <a:latin typeface="Georgia"/>
                <a:cs typeface="Georgia"/>
              </a:rPr>
              <a:t>permissions</a:t>
            </a:r>
            <a:r>
              <a:rPr sz="3300" spc="65" dirty="0">
                <a:solidFill>
                  <a:srgbClr val="2E377E"/>
                </a:solidFill>
                <a:latin typeface="Georgia"/>
                <a:cs typeface="Georgia"/>
              </a:rPr>
              <a:t> </a:t>
            </a:r>
            <a:r>
              <a:rPr sz="3300" dirty="0">
                <a:solidFill>
                  <a:srgbClr val="2E377E"/>
                </a:solidFill>
                <a:latin typeface="Georgia"/>
                <a:cs typeface="Georgia"/>
              </a:rPr>
              <a:t>for</a:t>
            </a:r>
            <a:r>
              <a:rPr sz="3300" spc="65" dirty="0">
                <a:solidFill>
                  <a:srgbClr val="2E377E"/>
                </a:solidFill>
                <a:latin typeface="Georgia"/>
                <a:cs typeface="Georgia"/>
              </a:rPr>
              <a:t> </a:t>
            </a:r>
            <a:r>
              <a:rPr sz="3300" dirty="0">
                <a:solidFill>
                  <a:srgbClr val="2E377E"/>
                </a:solidFill>
                <a:latin typeface="Georgia"/>
                <a:cs typeface="Georgia"/>
              </a:rPr>
              <a:t>cluster-</a:t>
            </a:r>
            <a:r>
              <a:rPr sz="3300" spc="-20" dirty="0">
                <a:solidFill>
                  <a:srgbClr val="2E377E"/>
                </a:solidFill>
                <a:latin typeface="Georgia"/>
                <a:cs typeface="Georgia"/>
              </a:rPr>
              <a:t>wide </a:t>
            </a:r>
            <a:r>
              <a:rPr sz="3300" spc="-10" dirty="0">
                <a:solidFill>
                  <a:srgbClr val="2E377E"/>
                </a:solidFill>
                <a:latin typeface="Georgia"/>
                <a:cs typeface="Georgia"/>
              </a:rPr>
              <a:t>resources.</a:t>
            </a:r>
            <a:endParaRPr sz="3300">
              <a:latin typeface="Georgia"/>
              <a:cs typeface="Georgia"/>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9299" y="896823"/>
            <a:ext cx="16454755" cy="1187450"/>
          </a:xfrm>
          <a:prstGeom prst="rect">
            <a:avLst/>
          </a:prstGeom>
        </p:spPr>
        <p:txBody>
          <a:bodyPr vert="horz" wrap="square" lIns="0" tIns="12700" rIns="0" bIns="0" rtlCol="0">
            <a:spAutoFit/>
          </a:bodyPr>
          <a:lstStyle/>
          <a:p>
            <a:pPr marL="12700" marR="5080">
              <a:lnSpc>
                <a:spcPct val="115500"/>
              </a:lnSpc>
              <a:spcBef>
                <a:spcPts val="100"/>
              </a:spcBef>
            </a:pPr>
            <a:r>
              <a:rPr sz="3300" b="0" dirty="0">
                <a:solidFill>
                  <a:srgbClr val="2E377E"/>
                </a:solidFill>
                <a:latin typeface="Georgia"/>
                <a:cs typeface="Georgia"/>
              </a:rPr>
              <a:t>To</a:t>
            </a:r>
            <a:r>
              <a:rPr sz="3300" b="0" spc="-5" dirty="0">
                <a:solidFill>
                  <a:srgbClr val="2E377E"/>
                </a:solidFill>
                <a:latin typeface="Georgia"/>
                <a:cs typeface="Georgia"/>
              </a:rPr>
              <a:t> </a:t>
            </a:r>
            <a:r>
              <a:rPr sz="3300" b="0" dirty="0">
                <a:solidFill>
                  <a:srgbClr val="2E377E"/>
                </a:solidFill>
                <a:latin typeface="Georgia"/>
                <a:cs typeface="Georgia"/>
              </a:rPr>
              <a:t>use </a:t>
            </a:r>
            <a:r>
              <a:rPr sz="3300" b="0" spc="-85" dirty="0">
                <a:solidFill>
                  <a:srgbClr val="2E377E"/>
                </a:solidFill>
                <a:latin typeface="Georgia"/>
                <a:cs typeface="Georgia"/>
              </a:rPr>
              <a:t>RBAC</a:t>
            </a:r>
            <a:r>
              <a:rPr sz="3300" b="0" dirty="0">
                <a:solidFill>
                  <a:srgbClr val="2E377E"/>
                </a:solidFill>
                <a:latin typeface="Georgia"/>
                <a:cs typeface="Georgia"/>
              </a:rPr>
              <a:t> in </a:t>
            </a:r>
            <a:r>
              <a:rPr sz="3300" b="0" spc="70" dirty="0">
                <a:solidFill>
                  <a:srgbClr val="2E377E"/>
                </a:solidFill>
                <a:latin typeface="Georgia"/>
                <a:cs typeface="Georgia"/>
              </a:rPr>
              <a:t>your</a:t>
            </a:r>
            <a:r>
              <a:rPr sz="3300" b="0" dirty="0">
                <a:solidFill>
                  <a:srgbClr val="2E377E"/>
                </a:solidFill>
                <a:latin typeface="Georgia"/>
                <a:cs typeface="Georgia"/>
              </a:rPr>
              <a:t> Kubernetes cluster, </a:t>
            </a:r>
            <a:r>
              <a:rPr sz="3300" b="0" spc="80" dirty="0">
                <a:solidFill>
                  <a:srgbClr val="2E377E"/>
                </a:solidFill>
                <a:latin typeface="Georgia"/>
                <a:cs typeface="Georgia"/>
              </a:rPr>
              <a:t>you</a:t>
            </a:r>
            <a:r>
              <a:rPr sz="3300" b="0" dirty="0">
                <a:solidFill>
                  <a:srgbClr val="2E377E"/>
                </a:solidFill>
                <a:latin typeface="Georgia"/>
                <a:cs typeface="Georgia"/>
              </a:rPr>
              <a:t> first need </a:t>
            </a:r>
            <a:r>
              <a:rPr sz="3300" b="0" spc="55" dirty="0">
                <a:solidFill>
                  <a:srgbClr val="2E377E"/>
                </a:solidFill>
                <a:latin typeface="Georgia"/>
                <a:cs typeface="Georgia"/>
              </a:rPr>
              <a:t>to</a:t>
            </a:r>
            <a:r>
              <a:rPr sz="3300" b="0" dirty="0">
                <a:solidFill>
                  <a:srgbClr val="2E377E"/>
                </a:solidFill>
                <a:latin typeface="Georgia"/>
                <a:cs typeface="Georgia"/>
              </a:rPr>
              <a:t> create the roles, role </a:t>
            </a:r>
            <a:r>
              <a:rPr sz="3300" b="0" spc="-10" dirty="0">
                <a:solidFill>
                  <a:srgbClr val="2E377E"/>
                </a:solidFill>
                <a:latin typeface="Georgia"/>
                <a:cs typeface="Georgia"/>
              </a:rPr>
              <a:t>bindings, </a:t>
            </a:r>
            <a:r>
              <a:rPr sz="3300" b="0" dirty="0">
                <a:solidFill>
                  <a:srgbClr val="2E377E"/>
                </a:solidFill>
                <a:latin typeface="Georgia"/>
                <a:cs typeface="Georgia"/>
              </a:rPr>
              <a:t>and</a:t>
            </a:r>
            <a:r>
              <a:rPr sz="3300" b="0" spc="-30" dirty="0">
                <a:solidFill>
                  <a:srgbClr val="2E377E"/>
                </a:solidFill>
                <a:latin typeface="Georgia"/>
                <a:cs typeface="Georgia"/>
              </a:rPr>
              <a:t> </a:t>
            </a:r>
            <a:r>
              <a:rPr sz="3300" b="0" dirty="0">
                <a:solidFill>
                  <a:srgbClr val="2E377E"/>
                </a:solidFill>
                <a:latin typeface="Georgia"/>
                <a:cs typeface="Georgia"/>
              </a:rPr>
              <a:t>ClusterRoles</a:t>
            </a:r>
            <a:r>
              <a:rPr sz="3300" b="0" spc="-30" dirty="0">
                <a:solidFill>
                  <a:srgbClr val="2E377E"/>
                </a:solidFill>
                <a:latin typeface="Georgia"/>
                <a:cs typeface="Georgia"/>
              </a:rPr>
              <a:t> </a:t>
            </a:r>
            <a:r>
              <a:rPr sz="3300" b="0" dirty="0">
                <a:solidFill>
                  <a:srgbClr val="2E377E"/>
                </a:solidFill>
                <a:latin typeface="Georgia"/>
                <a:cs typeface="Georgia"/>
              </a:rPr>
              <a:t>that</a:t>
            </a:r>
            <a:r>
              <a:rPr sz="3300" b="0" spc="-30" dirty="0">
                <a:solidFill>
                  <a:srgbClr val="2E377E"/>
                </a:solidFill>
                <a:latin typeface="Georgia"/>
                <a:cs typeface="Georgia"/>
              </a:rPr>
              <a:t> </a:t>
            </a:r>
            <a:r>
              <a:rPr sz="3300" b="0" spc="80" dirty="0">
                <a:solidFill>
                  <a:srgbClr val="2E377E"/>
                </a:solidFill>
                <a:latin typeface="Georgia"/>
                <a:cs typeface="Georgia"/>
              </a:rPr>
              <a:t>you</a:t>
            </a:r>
            <a:r>
              <a:rPr sz="3300" b="0" spc="-30" dirty="0">
                <a:solidFill>
                  <a:srgbClr val="2E377E"/>
                </a:solidFill>
                <a:latin typeface="Georgia"/>
                <a:cs typeface="Georgia"/>
              </a:rPr>
              <a:t> </a:t>
            </a:r>
            <a:r>
              <a:rPr sz="3300" b="0" dirty="0">
                <a:solidFill>
                  <a:srgbClr val="2E377E"/>
                </a:solidFill>
                <a:latin typeface="Georgia"/>
                <a:cs typeface="Georgia"/>
              </a:rPr>
              <a:t>need.</a:t>
            </a:r>
            <a:r>
              <a:rPr sz="3300" b="0" spc="-30" dirty="0">
                <a:solidFill>
                  <a:srgbClr val="2E377E"/>
                </a:solidFill>
                <a:latin typeface="Georgia"/>
                <a:cs typeface="Georgia"/>
              </a:rPr>
              <a:t> </a:t>
            </a:r>
            <a:r>
              <a:rPr sz="3300" b="0" spc="-10" dirty="0">
                <a:solidFill>
                  <a:srgbClr val="2E377E"/>
                </a:solidFill>
                <a:latin typeface="Georgia"/>
                <a:cs typeface="Georgia"/>
              </a:rPr>
              <a:t>We</a:t>
            </a:r>
            <a:r>
              <a:rPr sz="3300" b="0" spc="-30" dirty="0">
                <a:solidFill>
                  <a:srgbClr val="2E377E"/>
                </a:solidFill>
                <a:latin typeface="Georgia"/>
                <a:cs typeface="Georgia"/>
              </a:rPr>
              <a:t> </a:t>
            </a:r>
            <a:r>
              <a:rPr sz="3300" b="0" dirty="0">
                <a:solidFill>
                  <a:srgbClr val="2E377E"/>
                </a:solidFill>
                <a:latin typeface="Georgia"/>
                <a:cs typeface="Georgia"/>
              </a:rPr>
              <a:t>can</a:t>
            </a:r>
            <a:r>
              <a:rPr sz="3300" b="0" spc="-25" dirty="0">
                <a:solidFill>
                  <a:srgbClr val="2E377E"/>
                </a:solidFill>
                <a:latin typeface="Georgia"/>
                <a:cs typeface="Georgia"/>
              </a:rPr>
              <a:t> </a:t>
            </a:r>
            <a:r>
              <a:rPr sz="3300" b="0" dirty="0">
                <a:solidFill>
                  <a:srgbClr val="2E377E"/>
                </a:solidFill>
                <a:latin typeface="Georgia"/>
                <a:cs typeface="Georgia"/>
              </a:rPr>
              <a:t>create</a:t>
            </a:r>
            <a:r>
              <a:rPr sz="3300" b="0" spc="-30" dirty="0">
                <a:solidFill>
                  <a:srgbClr val="2E377E"/>
                </a:solidFill>
                <a:latin typeface="Georgia"/>
                <a:cs typeface="Georgia"/>
              </a:rPr>
              <a:t> </a:t>
            </a:r>
            <a:r>
              <a:rPr sz="3300" b="0" dirty="0">
                <a:solidFill>
                  <a:srgbClr val="2E377E"/>
                </a:solidFill>
                <a:latin typeface="Georgia"/>
                <a:cs typeface="Georgia"/>
              </a:rPr>
              <a:t>these</a:t>
            </a:r>
            <a:r>
              <a:rPr sz="3300" b="0" spc="-30" dirty="0">
                <a:solidFill>
                  <a:srgbClr val="2E377E"/>
                </a:solidFill>
                <a:latin typeface="Georgia"/>
                <a:cs typeface="Georgia"/>
              </a:rPr>
              <a:t> </a:t>
            </a:r>
            <a:r>
              <a:rPr sz="3300" b="0" dirty="0">
                <a:solidFill>
                  <a:srgbClr val="2E377E"/>
                </a:solidFill>
                <a:latin typeface="Georgia"/>
                <a:cs typeface="Georgia"/>
              </a:rPr>
              <a:t>in</a:t>
            </a:r>
            <a:r>
              <a:rPr sz="3300" b="0" spc="-30" dirty="0">
                <a:solidFill>
                  <a:srgbClr val="2E377E"/>
                </a:solidFill>
                <a:latin typeface="Georgia"/>
                <a:cs typeface="Georgia"/>
              </a:rPr>
              <a:t> </a:t>
            </a:r>
            <a:r>
              <a:rPr sz="3300" b="0" spc="-229" dirty="0">
                <a:solidFill>
                  <a:srgbClr val="2E377E"/>
                </a:solidFill>
                <a:latin typeface="Georgia"/>
                <a:cs typeface="Georgia"/>
              </a:rPr>
              <a:t>2</a:t>
            </a:r>
            <a:r>
              <a:rPr sz="3300" b="0" spc="-30" dirty="0">
                <a:solidFill>
                  <a:srgbClr val="2E377E"/>
                </a:solidFill>
                <a:latin typeface="Georgia"/>
                <a:cs typeface="Georgia"/>
              </a:rPr>
              <a:t> </a:t>
            </a:r>
            <a:r>
              <a:rPr sz="3300" b="0" spc="-10" dirty="0">
                <a:solidFill>
                  <a:srgbClr val="2E377E"/>
                </a:solidFill>
                <a:latin typeface="Georgia"/>
                <a:cs typeface="Georgia"/>
              </a:rPr>
              <a:t>ways:</a:t>
            </a:r>
            <a:endParaRPr sz="3300">
              <a:latin typeface="Georgia"/>
              <a:cs typeface="Georgia"/>
            </a:endParaRPr>
          </a:p>
        </p:txBody>
      </p:sp>
      <p:sp>
        <p:nvSpPr>
          <p:cNvPr id="3" name="object 3"/>
          <p:cNvSpPr txBox="1"/>
          <p:nvPr/>
        </p:nvSpPr>
        <p:spPr>
          <a:xfrm>
            <a:off x="659299" y="2639898"/>
            <a:ext cx="15935325" cy="6594475"/>
          </a:xfrm>
          <a:prstGeom prst="rect">
            <a:avLst/>
          </a:prstGeom>
        </p:spPr>
        <p:txBody>
          <a:bodyPr vert="horz" wrap="square" lIns="0" tIns="90805" rIns="0" bIns="0" rtlCol="0">
            <a:spAutoFit/>
          </a:bodyPr>
          <a:lstStyle/>
          <a:p>
            <a:pPr marL="724535" indent="-311785">
              <a:lnSpc>
                <a:spcPct val="100000"/>
              </a:lnSpc>
              <a:spcBef>
                <a:spcPts val="715"/>
              </a:spcBef>
              <a:buAutoNum type="arabicPeriod"/>
              <a:tabLst>
                <a:tab pos="724535" algn="l"/>
              </a:tabLst>
            </a:pPr>
            <a:r>
              <a:rPr sz="3300" dirty="0">
                <a:solidFill>
                  <a:srgbClr val="2E377E"/>
                </a:solidFill>
                <a:latin typeface="Georgia"/>
                <a:cs typeface="Georgia"/>
              </a:rPr>
              <a:t>Imperative</a:t>
            </a:r>
            <a:r>
              <a:rPr sz="3300" spc="215" dirty="0">
                <a:solidFill>
                  <a:srgbClr val="2E377E"/>
                </a:solidFill>
                <a:latin typeface="Georgia"/>
                <a:cs typeface="Georgia"/>
              </a:rPr>
              <a:t> </a:t>
            </a:r>
            <a:r>
              <a:rPr sz="3300" spc="90" dirty="0">
                <a:solidFill>
                  <a:srgbClr val="2E377E"/>
                </a:solidFill>
                <a:latin typeface="Georgia"/>
                <a:cs typeface="Georgia"/>
              </a:rPr>
              <a:t>way</a:t>
            </a:r>
            <a:endParaRPr sz="3300">
              <a:latin typeface="Georgia"/>
              <a:cs typeface="Georgia"/>
            </a:endParaRPr>
          </a:p>
          <a:p>
            <a:pPr marL="724535" indent="-358775">
              <a:lnSpc>
                <a:spcPct val="100000"/>
              </a:lnSpc>
              <a:spcBef>
                <a:spcPts val="615"/>
              </a:spcBef>
              <a:buAutoNum type="arabicPeriod"/>
              <a:tabLst>
                <a:tab pos="724535" algn="l"/>
              </a:tabLst>
            </a:pPr>
            <a:r>
              <a:rPr sz="3300" dirty="0">
                <a:solidFill>
                  <a:srgbClr val="2E377E"/>
                </a:solidFill>
                <a:latin typeface="Georgia"/>
                <a:cs typeface="Georgia"/>
              </a:rPr>
              <a:t>Declarative</a:t>
            </a:r>
            <a:r>
              <a:rPr sz="3300" spc="190" dirty="0">
                <a:solidFill>
                  <a:srgbClr val="2E377E"/>
                </a:solidFill>
                <a:latin typeface="Georgia"/>
                <a:cs typeface="Georgia"/>
              </a:rPr>
              <a:t> </a:t>
            </a:r>
            <a:r>
              <a:rPr sz="3300" spc="90" dirty="0">
                <a:solidFill>
                  <a:srgbClr val="2E377E"/>
                </a:solidFill>
                <a:latin typeface="Georgia"/>
                <a:cs typeface="Georgia"/>
              </a:rPr>
              <a:t>way</a:t>
            </a:r>
            <a:endParaRPr sz="3300">
              <a:latin typeface="Georgia"/>
              <a:cs typeface="Georgia"/>
            </a:endParaRPr>
          </a:p>
          <a:p>
            <a:pPr>
              <a:lnSpc>
                <a:spcPct val="100000"/>
              </a:lnSpc>
            </a:pPr>
            <a:endParaRPr sz="3300">
              <a:latin typeface="Georgia"/>
              <a:cs typeface="Georgia"/>
            </a:endParaRPr>
          </a:p>
          <a:p>
            <a:pPr>
              <a:lnSpc>
                <a:spcPct val="100000"/>
              </a:lnSpc>
              <a:spcBef>
                <a:spcPts val="2335"/>
              </a:spcBef>
            </a:pPr>
            <a:endParaRPr sz="3300">
              <a:latin typeface="Georgia"/>
              <a:cs typeface="Georgia"/>
            </a:endParaRPr>
          </a:p>
          <a:p>
            <a:pPr marL="12700">
              <a:lnSpc>
                <a:spcPct val="100000"/>
              </a:lnSpc>
              <a:spcBef>
                <a:spcPts val="5"/>
              </a:spcBef>
            </a:pPr>
            <a:r>
              <a:rPr sz="5000" b="1" spc="130" dirty="0">
                <a:solidFill>
                  <a:srgbClr val="E7181F"/>
                </a:solidFill>
                <a:latin typeface="Times New Roman"/>
                <a:cs typeface="Times New Roman"/>
              </a:rPr>
              <a:t>creating</a:t>
            </a:r>
            <a:r>
              <a:rPr sz="5000" b="1" spc="-50" dirty="0">
                <a:solidFill>
                  <a:srgbClr val="E7181F"/>
                </a:solidFill>
                <a:latin typeface="Times New Roman"/>
                <a:cs typeface="Times New Roman"/>
              </a:rPr>
              <a:t> </a:t>
            </a:r>
            <a:r>
              <a:rPr sz="5000" b="1" spc="75" dirty="0">
                <a:solidFill>
                  <a:srgbClr val="E7181F"/>
                </a:solidFill>
                <a:latin typeface="Times New Roman"/>
                <a:cs typeface="Times New Roman"/>
              </a:rPr>
              <a:t>a</a:t>
            </a:r>
            <a:r>
              <a:rPr sz="5000" b="1" spc="-50" dirty="0">
                <a:solidFill>
                  <a:srgbClr val="E7181F"/>
                </a:solidFill>
                <a:latin typeface="Times New Roman"/>
                <a:cs typeface="Times New Roman"/>
              </a:rPr>
              <a:t> </a:t>
            </a:r>
            <a:r>
              <a:rPr sz="5000" b="1" spc="155" dirty="0">
                <a:solidFill>
                  <a:srgbClr val="E7181F"/>
                </a:solidFill>
                <a:latin typeface="Times New Roman"/>
                <a:cs typeface="Times New Roman"/>
              </a:rPr>
              <a:t>role</a:t>
            </a:r>
            <a:r>
              <a:rPr sz="5000" b="1" spc="-45" dirty="0">
                <a:solidFill>
                  <a:srgbClr val="E7181F"/>
                </a:solidFill>
                <a:latin typeface="Times New Roman"/>
                <a:cs typeface="Times New Roman"/>
              </a:rPr>
              <a:t> </a:t>
            </a:r>
            <a:r>
              <a:rPr sz="5000" b="1" spc="275" dirty="0">
                <a:solidFill>
                  <a:srgbClr val="E7181F"/>
                </a:solidFill>
                <a:latin typeface="Times New Roman"/>
                <a:cs typeface="Times New Roman"/>
              </a:rPr>
              <a:t>in</a:t>
            </a:r>
            <a:r>
              <a:rPr sz="5000" b="1" spc="-50" dirty="0">
                <a:solidFill>
                  <a:srgbClr val="E7181F"/>
                </a:solidFill>
                <a:latin typeface="Times New Roman"/>
                <a:cs typeface="Times New Roman"/>
              </a:rPr>
              <a:t> </a:t>
            </a:r>
            <a:r>
              <a:rPr sz="5000" b="1" spc="215" dirty="0">
                <a:solidFill>
                  <a:srgbClr val="E7181F"/>
                </a:solidFill>
                <a:latin typeface="Times New Roman"/>
                <a:cs typeface="Times New Roman"/>
              </a:rPr>
              <a:t>imperative</a:t>
            </a:r>
            <a:r>
              <a:rPr sz="5000" b="1" spc="-50" dirty="0">
                <a:solidFill>
                  <a:srgbClr val="E7181F"/>
                </a:solidFill>
                <a:latin typeface="Times New Roman"/>
                <a:cs typeface="Times New Roman"/>
              </a:rPr>
              <a:t> </a:t>
            </a:r>
            <a:r>
              <a:rPr sz="5000" b="1" spc="160" dirty="0">
                <a:solidFill>
                  <a:srgbClr val="E7181F"/>
                </a:solidFill>
                <a:latin typeface="Times New Roman"/>
                <a:cs typeface="Times New Roman"/>
              </a:rPr>
              <a:t>way:</a:t>
            </a:r>
            <a:endParaRPr sz="5000">
              <a:latin typeface="Times New Roman"/>
              <a:cs typeface="Times New Roman"/>
            </a:endParaRPr>
          </a:p>
          <a:p>
            <a:pPr marL="12700">
              <a:lnSpc>
                <a:spcPct val="100000"/>
              </a:lnSpc>
              <a:spcBef>
                <a:spcPts val="3135"/>
              </a:spcBef>
            </a:pPr>
            <a:r>
              <a:rPr sz="3300" dirty="0">
                <a:solidFill>
                  <a:srgbClr val="2E377E"/>
                </a:solidFill>
                <a:latin typeface="Georgia"/>
                <a:cs typeface="Georgia"/>
              </a:rPr>
              <a:t>Imperative</a:t>
            </a:r>
            <a:r>
              <a:rPr sz="3300" spc="114" dirty="0">
                <a:solidFill>
                  <a:srgbClr val="2E377E"/>
                </a:solidFill>
                <a:latin typeface="Georgia"/>
                <a:cs typeface="Georgia"/>
              </a:rPr>
              <a:t> way</a:t>
            </a:r>
            <a:r>
              <a:rPr sz="3300" spc="120" dirty="0">
                <a:solidFill>
                  <a:srgbClr val="2E377E"/>
                </a:solidFill>
                <a:latin typeface="Georgia"/>
                <a:cs typeface="Georgia"/>
              </a:rPr>
              <a:t> </a:t>
            </a:r>
            <a:r>
              <a:rPr sz="3300" spc="-235" dirty="0">
                <a:solidFill>
                  <a:srgbClr val="2E377E"/>
                </a:solidFill>
                <a:latin typeface="Georgia"/>
                <a:cs typeface="Georgia"/>
              </a:rPr>
              <a:t>:</a:t>
            </a:r>
            <a:r>
              <a:rPr sz="3300" spc="114" dirty="0">
                <a:solidFill>
                  <a:srgbClr val="2E377E"/>
                </a:solidFill>
                <a:latin typeface="Georgia"/>
                <a:cs typeface="Georgia"/>
              </a:rPr>
              <a:t> </a:t>
            </a:r>
            <a:r>
              <a:rPr sz="3300" dirty="0">
                <a:solidFill>
                  <a:srgbClr val="E7181F"/>
                </a:solidFill>
                <a:latin typeface="Georgia"/>
                <a:cs typeface="Georgia"/>
              </a:rPr>
              <a:t>kubectl</a:t>
            </a:r>
            <a:r>
              <a:rPr sz="3300" spc="120" dirty="0">
                <a:solidFill>
                  <a:srgbClr val="E7181F"/>
                </a:solidFill>
                <a:latin typeface="Georgia"/>
                <a:cs typeface="Georgia"/>
              </a:rPr>
              <a:t> </a:t>
            </a:r>
            <a:r>
              <a:rPr sz="3300" dirty="0">
                <a:solidFill>
                  <a:srgbClr val="E7181F"/>
                </a:solidFill>
                <a:latin typeface="Georgia"/>
                <a:cs typeface="Georgia"/>
              </a:rPr>
              <a:t>create</a:t>
            </a:r>
            <a:r>
              <a:rPr sz="3300" spc="114" dirty="0">
                <a:solidFill>
                  <a:srgbClr val="E7181F"/>
                </a:solidFill>
                <a:latin typeface="Georgia"/>
                <a:cs typeface="Georgia"/>
              </a:rPr>
              <a:t> </a:t>
            </a:r>
            <a:r>
              <a:rPr sz="3300" dirty="0">
                <a:solidFill>
                  <a:srgbClr val="E7181F"/>
                </a:solidFill>
                <a:latin typeface="Georgia"/>
                <a:cs typeface="Georgia"/>
              </a:rPr>
              <a:t>role</a:t>
            </a:r>
            <a:r>
              <a:rPr sz="3300" spc="120" dirty="0">
                <a:solidFill>
                  <a:srgbClr val="E7181F"/>
                </a:solidFill>
                <a:latin typeface="Georgia"/>
                <a:cs typeface="Georgia"/>
              </a:rPr>
              <a:t> </a:t>
            </a:r>
            <a:r>
              <a:rPr sz="3300" dirty="0">
                <a:solidFill>
                  <a:srgbClr val="E7181F"/>
                </a:solidFill>
                <a:latin typeface="Georgia"/>
                <a:cs typeface="Georgia"/>
              </a:rPr>
              <a:t>admin</a:t>
            </a:r>
            <a:r>
              <a:rPr sz="3300" spc="114" dirty="0">
                <a:solidFill>
                  <a:srgbClr val="E7181F"/>
                </a:solidFill>
                <a:latin typeface="Georgia"/>
                <a:cs typeface="Georgia"/>
              </a:rPr>
              <a:t> </a:t>
            </a:r>
            <a:r>
              <a:rPr sz="3300" dirty="0">
                <a:solidFill>
                  <a:srgbClr val="E7181F"/>
                </a:solidFill>
                <a:latin typeface="Georgia"/>
                <a:cs typeface="Georgia"/>
              </a:rPr>
              <a:t>--</a:t>
            </a:r>
            <a:r>
              <a:rPr sz="3300" spc="-10" dirty="0">
                <a:solidFill>
                  <a:srgbClr val="E7181F"/>
                </a:solidFill>
                <a:latin typeface="Georgia"/>
                <a:cs typeface="Georgia"/>
              </a:rPr>
              <a:t>verb=get,list,watch,create,update,delete</a:t>
            </a:r>
            <a:endParaRPr sz="3300">
              <a:latin typeface="Georgia"/>
              <a:cs typeface="Georgia"/>
            </a:endParaRPr>
          </a:p>
          <a:p>
            <a:pPr marL="12700">
              <a:lnSpc>
                <a:spcPct val="100000"/>
              </a:lnSpc>
              <a:spcBef>
                <a:spcPts val="615"/>
              </a:spcBef>
            </a:pPr>
            <a:r>
              <a:rPr sz="3300" dirty="0">
                <a:solidFill>
                  <a:srgbClr val="E7181F"/>
                </a:solidFill>
                <a:latin typeface="Georgia"/>
                <a:cs typeface="Georgia"/>
              </a:rPr>
              <a:t>--</a:t>
            </a:r>
            <a:r>
              <a:rPr sz="3300" spc="-10" dirty="0">
                <a:solidFill>
                  <a:srgbClr val="E7181F"/>
                </a:solidFill>
                <a:latin typeface="Georgia"/>
                <a:cs typeface="Georgia"/>
              </a:rPr>
              <a:t>resource=pods,services,configmaps,deployments</a:t>
            </a:r>
            <a:endParaRPr sz="3300">
              <a:latin typeface="Georgia"/>
              <a:cs typeface="Georgia"/>
            </a:endParaRPr>
          </a:p>
          <a:p>
            <a:pPr marL="12700">
              <a:lnSpc>
                <a:spcPct val="100000"/>
              </a:lnSpc>
              <a:spcBef>
                <a:spcPts val="1950"/>
              </a:spcBef>
            </a:pPr>
            <a:r>
              <a:rPr sz="3300" dirty="0">
                <a:solidFill>
                  <a:srgbClr val="2E377E"/>
                </a:solidFill>
                <a:latin typeface="Georgia"/>
                <a:cs typeface="Georgia"/>
              </a:rPr>
              <a:t>To</a:t>
            </a:r>
            <a:r>
              <a:rPr sz="3300" spc="-20" dirty="0">
                <a:solidFill>
                  <a:srgbClr val="2E377E"/>
                </a:solidFill>
                <a:latin typeface="Georgia"/>
                <a:cs typeface="Georgia"/>
              </a:rPr>
              <a:t> </a:t>
            </a:r>
            <a:r>
              <a:rPr sz="3300" dirty="0">
                <a:solidFill>
                  <a:srgbClr val="2E377E"/>
                </a:solidFill>
                <a:latin typeface="Georgia"/>
                <a:cs typeface="Georgia"/>
              </a:rPr>
              <a:t>see</a:t>
            </a:r>
            <a:r>
              <a:rPr sz="3300" spc="-20" dirty="0">
                <a:solidFill>
                  <a:srgbClr val="2E377E"/>
                </a:solidFill>
                <a:latin typeface="Georgia"/>
                <a:cs typeface="Georgia"/>
              </a:rPr>
              <a:t> </a:t>
            </a:r>
            <a:r>
              <a:rPr sz="3300" dirty="0">
                <a:solidFill>
                  <a:srgbClr val="2E377E"/>
                </a:solidFill>
                <a:latin typeface="Georgia"/>
                <a:cs typeface="Georgia"/>
              </a:rPr>
              <a:t>list</a:t>
            </a:r>
            <a:r>
              <a:rPr sz="3300" spc="-20" dirty="0">
                <a:solidFill>
                  <a:srgbClr val="2E377E"/>
                </a:solidFill>
                <a:latin typeface="Georgia"/>
                <a:cs typeface="Georgia"/>
              </a:rPr>
              <a:t> </a:t>
            </a:r>
            <a:r>
              <a:rPr sz="3300" dirty="0">
                <a:solidFill>
                  <a:srgbClr val="2E377E"/>
                </a:solidFill>
                <a:latin typeface="Georgia"/>
                <a:cs typeface="Georgia"/>
              </a:rPr>
              <a:t>of</a:t>
            </a:r>
            <a:r>
              <a:rPr sz="3300" spc="-20" dirty="0">
                <a:solidFill>
                  <a:srgbClr val="2E377E"/>
                </a:solidFill>
                <a:latin typeface="Georgia"/>
                <a:cs typeface="Georgia"/>
              </a:rPr>
              <a:t> </a:t>
            </a:r>
            <a:r>
              <a:rPr sz="3300" spc="-10" dirty="0">
                <a:solidFill>
                  <a:srgbClr val="2E377E"/>
                </a:solidFill>
                <a:latin typeface="Georgia"/>
                <a:cs typeface="Georgia"/>
              </a:rPr>
              <a:t>roles:</a:t>
            </a:r>
            <a:r>
              <a:rPr sz="3300" spc="-20" dirty="0">
                <a:solidFill>
                  <a:srgbClr val="2E377E"/>
                </a:solidFill>
                <a:latin typeface="Georgia"/>
                <a:cs typeface="Georgia"/>
              </a:rPr>
              <a:t> </a:t>
            </a:r>
            <a:r>
              <a:rPr sz="3300" dirty="0">
                <a:solidFill>
                  <a:srgbClr val="E7181F"/>
                </a:solidFill>
                <a:latin typeface="Georgia"/>
                <a:cs typeface="Georgia"/>
              </a:rPr>
              <a:t>kubectl</a:t>
            </a:r>
            <a:r>
              <a:rPr sz="3300" spc="-20" dirty="0">
                <a:solidFill>
                  <a:srgbClr val="E7181F"/>
                </a:solidFill>
                <a:latin typeface="Georgia"/>
                <a:cs typeface="Georgia"/>
              </a:rPr>
              <a:t> </a:t>
            </a:r>
            <a:r>
              <a:rPr sz="3300" spc="60" dirty="0">
                <a:solidFill>
                  <a:srgbClr val="E7181F"/>
                </a:solidFill>
                <a:latin typeface="Georgia"/>
                <a:cs typeface="Georgia"/>
              </a:rPr>
              <a:t>get</a:t>
            </a:r>
            <a:r>
              <a:rPr sz="3300" spc="-20" dirty="0">
                <a:solidFill>
                  <a:srgbClr val="E7181F"/>
                </a:solidFill>
                <a:latin typeface="Georgia"/>
                <a:cs typeface="Georgia"/>
              </a:rPr>
              <a:t> </a:t>
            </a:r>
            <a:r>
              <a:rPr sz="3300" spc="-10" dirty="0">
                <a:solidFill>
                  <a:srgbClr val="E7181F"/>
                </a:solidFill>
                <a:latin typeface="Georgia"/>
                <a:cs typeface="Georgia"/>
              </a:rPr>
              <a:t>roles</a:t>
            </a:r>
            <a:endParaRPr sz="3300">
              <a:latin typeface="Georgia"/>
              <a:cs typeface="Georgia"/>
            </a:endParaRPr>
          </a:p>
          <a:p>
            <a:pPr marL="12700" marR="1592580">
              <a:lnSpc>
                <a:spcPct val="115500"/>
              </a:lnSpc>
            </a:pPr>
            <a:r>
              <a:rPr sz="3300" dirty="0">
                <a:solidFill>
                  <a:srgbClr val="2E377E"/>
                </a:solidFill>
                <a:latin typeface="Georgia"/>
                <a:cs typeface="Georgia"/>
              </a:rPr>
              <a:t>To</a:t>
            </a:r>
            <a:r>
              <a:rPr sz="3300" spc="10" dirty="0">
                <a:solidFill>
                  <a:srgbClr val="2E377E"/>
                </a:solidFill>
                <a:latin typeface="Georgia"/>
                <a:cs typeface="Georgia"/>
              </a:rPr>
              <a:t> </a:t>
            </a:r>
            <a:r>
              <a:rPr sz="3300" dirty="0">
                <a:solidFill>
                  <a:srgbClr val="2E377E"/>
                </a:solidFill>
                <a:latin typeface="Georgia"/>
                <a:cs typeface="Georgia"/>
              </a:rPr>
              <a:t>see</a:t>
            </a:r>
            <a:r>
              <a:rPr sz="3300" spc="10" dirty="0">
                <a:solidFill>
                  <a:srgbClr val="2E377E"/>
                </a:solidFill>
                <a:latin typeface="Georgia"/>
                <a:cs typeface="Georgia"/>
              </a:rPr>
              <a:t> </a:t>
            </a:r>
            <a:r>
              <a:rPr sz="3300" dirty="0">
                <a:solidFill>
                  <a:srgbClr val="2E377E"/>
                </a:solidFill>
                <a:latin typeface="Georgia"/>
                <a:cs typeface="Georgia"/>
              </a:rPr>
              <a:t>the</a:t>
            </a:r>
            <a:r>
              <a:rPr sz="3300" spc="10" dirty="0">
                <a:solidFill>
                  <a:srgbClr val="2E377E"/>
                </a:solidFill>
                <a:latin typeface="Georgia"/>
                <a:cs typeface="Georgia"/>
              </a:rPr>
              <a:t> </a:t>
            </a:r>
            <a:r>
              <a:rPr sz="3300" dirty="0">
                <a:solidFill>
                  <a:srgbClr val="2E377E"/>
                </a:solidFill>
                <a:latin typeface="Georgia"/>
                <a:cs typeface="Georgia"/>
              </a:rPr>
              <a:t>list</a:t>
            </a:r>
            <a:r>
              <a:rPr sz="3300" spc="15" dirty="0">
                <a:solidFill>
                  <a:srgbClr val="2E377E"/>
                </a:solidFill>
                <a:latin typeface="Georgia"/>
                <a:cs typeface="Georgia"/>
              </a:rPr>
              <a:t> </a:t>
            </a:r>
            <a:r>
              <a:rPr sz="3300" dirty="0">
                <a:solidFill>
                  <a:srgbClr val="2E377E"/>
                </a:solidFill>
                <a:latin typeface="Georgia"/>
                <a:cs typeface="Georgia"/>
              </a:rPr>
              <a:t>of</a:t>
            </a:r>
            <a:r>
              <a:rPr sz="3300" spc="10" dirty="0">
                <a:solidFill>
                  <a:srgbClr val="2E377E"/>
                </a:solidFill>
                <a:latin typeface="Georgia"/>
                <a:cs typeface="Georgia"/>
              </a:rPr>
              <a:t> </a:t>
            </a:r>
            <a:r>
              <a:rPr sz="3300" spc="50" dirty="0">
                <a:solidFill>
                  <a:srgbClr val="2E377E"/>
                </a:solidFill>
                <a:latin typeface="Georgia"/>
                <a:cs typeface="Georgia"/>
              </a:rPr>
              <a:t>verbs</a:t>
            </a:r>
            <a:r>
              <a:rPr sz="3300" spc="10" dirty="0">
                <a:solidFill>
                  <a:srgbClr val="2E377E"/>
                </a:solidFill>
                <a:latin typeface="Georgia"/>
                <a:cs typeface="Georgia"/>
              </a:rPr>
              <a:t> </a:t>
            </a:r>
            <a:r>
              <a:rPr sz="3300" spc="630" dirty="0">
                <a:solidFill>
                  <a:srgbClr val="2E377E"/>
                </a:solidFill>
                <a:latin typeface="Georgia"/>
                <a:cs typeface="Georgia"/>
              </a:rPr>
              <a:t>&amp;</a:t>
            </a:r>
            <a:r>
              <a:rPr sz="3300" spc="10" dirty="0">
                <a:solidFill>
                  <a:srgbClr val="2E377E"/>
                </a:solidFill>
                <a:latin typeface="Georgia"/>
                <a:cs typeface="Georgia"/>
              </a:rPr>
              <a:t> </a:t>
            </a:r>
            <a:r>
              <a:rPr sz="3300" dirty="0">
                <a:solidFill>
                  <a:srgbClr val="2E377E"/>
                </a:solidFill>
                <a:latin typeface="Georgia"/>
                <a:cs typeface="Georgia"/>
              </a:rPr>
              <a:t>resources</a:t>
            </a:r>
            <a:r>
              <a:rPr sz="3300" spc="15" dirty="0">
                <a:solidFill>
                  <a:srgbClr val="2E377E"/>
                </a:solidFill>
                <a:latin typeface="Georgia"/>
                <a:cs typeface="Georgia"/>
              </a:rPr>
              <a:t> </a:t>
            </a:r>
            <a:r>
              <a:rPr sz="3300" dirty="0">
                <a:solidFill>
                  <a:srgbClr val="2E377E"/>
                </a:solidFill>
                <a:latin typeface="Georgia"/>
                <a:cs typeface="Georgia"/>
              </a:rPr>
              <a:t>of</a:t>
            </a:r>
            <a:r>
              <a:rPr sz="3300" spc="10" dirty="0">
                <a:solidFill>
                  <a:srgbClr val="2E377E"/>
                </a:solidFill>
                <a:latin typeface="Georgia"/>
                <a:cs typeface="Georgia"/>
              </a:rPr>
              <a:t> </a:t>
            </a:r>
            <a:r>
              <a:rPr sz="3300" dirty="0">
                <a:solidFill>
                  <a:srgbClr val="2E377E"/>
                </a:solidFill>
                <a:latin typeface="Georgia"/>
                <a:cs typeface="Georgia"/>
              </a:rPr>
              <a:t>a</a:t>
            </a:r>
            <a:r>
              <a:rPr sz="3300" spc="10" dirty="0">
                <a:solidFill>
                  <a:srgbClr val="2E377E"/>
                </a:solidFill>
                <a:latin typeface="Georgia"/>
                <a:cs typeface="Georgia"/>
              </a:rPr>
              <a:t> </a:t>
            </a:r>
            <a:r>
              <a:rPr sz="3300" dirty="0">
                <a:solidFill>
                  <a:srgbClr val="2E377E"/>
                </a:solidFill>
                <a:latin typeface="Georgia"/>
                <a:cs typeface="Georgia"/>
              </a:rPr>
              <a:t>role</a:t>
            </a:r>
            <a:r>
              <a:rPr sz="3300" spc="10" dirty="0">
                <a:solidFill>
                  <a:srgbClr val="2E377E"/>
                </a:solidFill>
                <a:latin typeface="Georgia"/>
                <a:cs typeface="Georgia"/>
              </a:rPr>
              <a:t> </a:t>
            </a:r>
            <a:r>
              <a:rPr sz="3300" spc="-235" dirty="0">
                <a:solidFill>
                  <a:srgbClr val="2E377E"/>
                </a:solidFill>
                <a:latin typeface="Georgia"/>
                <a:cs typeface="Georgia"/>
              </a:rPr>
              <a:t>:</a:t>
            </a:r>
            <a:r>
              <a:rPr sz="3300" spc="15" dirty="0">
                <a:solidFill>
                  <a:srgbClr val="2E377E"/>
                </a:solidFill>
                <a:latin typeface="Georgia"/>
                <a:cs typeface="Georgia"/>
              </a:rPr>
              <a:t> </a:t>
            </a:r>
            <a:r>
              <a:rPr sz="3300" dirty="0">
                <a:solidFill>
                  <a:srgbClr val="E7181F"/>
                </a:solidFill>
                <a:latin typeface="Georgia"/>
                <a:cs typeface="Georgia"/>
              </a:rPr>
              <a:t>kubectl</a:t>
            </a:r>
            <a:r>
              <a:rPr sz="3300" spc="10" dirty="0">
                <a:solidFill>
                  <a:srgbClr val="E7181F"/>
                </a:solidFill>
                <a:latin typeface="Georgia"/>
                <a:cs typeface="Georgia"/>
              </a:rPr>
              <a:t> </a:t>
            </a:r>
            <a:r>
              <a:rPr sz="3300" dirty="0">
                <a:solidFill>
                  <a:srgbClr val="E7181F"/>
                </a:solidFill>
                <a:latin typeface="Georgia"/>
                <a:cs typeface="Georgia"/>
              </a:rPr>
              <a:t>describe</a:t>
            </a:r>
            <a:r>
              <a:rPr sz="3300" spc="10" dirty="0">
                <a:solidFill>
                  <a:srgbClr val="E7181F"/>
                </a:solidFill>
                <a:latin typeface="Georgia"/>
                <a:cs typeface="Georgia"/>
              </a:rPr>
              <a:t> </a:t>
            </a:r>
            <a:r>
              <a:rPr sz="3300" dirty="0">
                <a:solidFill>
                  <a:srgbClr val="E7181F"/>
                </a:solidFill>
                <a:latin typeface="Georgia"/>
                <a:cs typeface="Georgia"/>
              </a:rPr>
              <a:t>role</a:t>
            </a:r>
            <a:r>
              <a:rPr sz="3300" spc="10" dirty="0">
                <a:solidFill>
                  <a:srgbClr val="E7181F"/>
                </a:solidFill>
                <a:latin typeface="Georgia"/>
                <a:cs typeface="Georgia"/>
              </a:rPr>
              <a:t> </a:t>
            </a:r>
            <a:r>
              <a:rPr sz="3300" dirty="0">
                <a:solidFill>
                  <a:srgbClr val="E7181F"/>
                </a:solidFill>
                <a:latin typeface="Georgia"/>
                <a:cs typeface="Georgia"/>
              </a:rPr>
              <a:t>role-</a:t>
            </a:r>
            <a:r>
              <a:rPr sz="3300" spc="-20" dirty="0">
                <a:solidFill>
                  <a:srgbClr val="E7181F"/>
                </a:solidFill>
                <a:latin typeface="Georgia"/>
                <a:cs typeface="Georgia"/>
              </a:rPr>
              <a:t>name </a:t>
            </a:r>
            <a:r>
              <a:rPr sz="3300" dirty="0">
                <a:solidFill>
                  <a:srgbClr val="2E377E"/>
                </a:solidFill>
                <a:latin typeface="Georgia"/>
                <a:cs typeface="Georgia"/>
              </a:rPr>
              <a:t>To</a:t>
            </a:r>
            <a:r>
              <a:rPr sz="3300" spc="20" dirty="0">
                <a:solidFill>
                  <a:srgbClr val="2E377E"/>
                </a:solidFill>
                <a:latin typeface="Georgia"/>
                <a:cs typeface="Georgia"/>
              </a:rPr>
              <a:t> </a:t>
            </a:r>
            <a:r>
              <a:rPr sz="3300" dirty="0">
                <a:solidFill>
                  <a:srgbClr val="2E377E"/>
                </a:solidFill>
                <a:latin typeface="Georgia"/>
                <a:cs typeface="Georgia"/>
              </a:rPr>
              <a:t>delete</a:t>
            </a:r>
            <a:r>
              <a:rPr sz="3300" spc="20" dirty="0">
                <a:solidFill>
                  <a:srgbClr val="2E377E"/>
                </a:solidFill>
                <a:latin typeface="Georgia"/>
                <a:cs typeface="Georgia"/>
              </a:rPr>
              <a:t> </a:t>
            </a:r>
            <a:r>
              <a:rPr sz="3300" dirty="0">
                <a:solidFill>
                  <a:srgbClr val="2E377E"/>
                </a:solidFill>
                <a:latin typeface="Georgia"/>
                <a:cs typeface="Georgia"/>
              </a:rPr>
              <a:t>a</a:t>
            </a:r>
            <a:r>
              <a:rPr sz="3300" spc="25" dirty="0">
                <a:solidFill>
                  <a:srgbClr val="2E377E"/>
                </a:solidFill>
                <a:latin typeface="Georgia"/>
                <a:cs typeface="Georgia"/>
              </a:rPr>
              <a:t> </a:t>
            </a:r>
            <a:r>
              <a:rPr sz="3300" dirty="0">
                <a:solidFill>
                  <a:srgbClr val="2E377E"/>
                </a:solidFill>
                <a:latin typeface="Georgia"/>
                <a:cs typeface="Georgia"/>
              </a:rPr>
              <a:t>role</a:t>
            </a:r>
            <a:r>
              <a:rPr sz="3300" spc="20" dirty="0">
                <a:solidFill>
                  <a:srgbClr val="2E377E"/>
                </a:solidFill>
                <a:latin typeface="Georgia"/>
                <a:cs typeface="Georgia"/>
              </a:rPr>
              <a:t> </a:t>
            </a:r>
            <a:r>
              <a:rPr sz="3300" spc="-235" dirty="0">
                <a:solidFill>
                  <a:srgbClr val="2E377E"/>
                </a:solidFill>
                <a:latin typeface="Georgia"/>
                <a:cs typeface="Georgia"/>
              </a:rPr>
              <a:t>:</a:t>
            </a:r>
            <a:r>
              <a:rPr sz="3300" spc="25" dirty="0">
                <a:solidFill>
                  <a:srgbClr val="2E377E"/>
                </a:solidFill>
                <a:latin typeface="Georgia"/>
                <a:cs typeface="Georgia"/>
              </a:rPr>
              <a:t> </a:t>
            </a:r>
            <a:r>
              <a:rPr sz="3300" dirty="0">
                <a:solidFill>
                  <a:srgbClr val="E7181F"/>
                </a:solidFill>
                <a:latin typeface="Georgia"/>
                <a:cs typeface="Georgia"/>
              </a:rPr>
              <a:t>kubectl</a:t>
            </a:r>
            <a:r>
              <a:rPr sz="3300" spc="20" dirty="0">
                <a:solidFill>
                  <a:srgbClr val="E7181F"/>
                </a:solidFill>
                <a:latin typeface="Georgia"/>
                <a:cs typeface="Georgia"/>
              </a:rPr>
              <a:t> </a:t>
            </a:r>
            <a:r>
              <a:rPr sz="3300" dirty="0">
                <a:solidFill>
                  <a:srgbClr val="E7181F"/>
                </a:solidFill>
                <a:latin typeface="Georgia"/>
                <a:cs typeface="Georgia"/>
              </a:rPr>
              <a:t>delete</a:t>
            </a:r>
            <a:r>
              <a:rPr sz="3300" spc="25" dirty="0">
                <a:solidFill>
                  <a:srgbClr val="E7181F"/>
                </a:solidFill>
                <a:latin typeface="Georgia"/>
                <a:cs typeface="Georgia"/>
              </a:rPr>
              <a:t> </a:t>
            </a:r>
            <a:r>
              <a:rPr sz="3300" dirty="0">
                <a:solidFill>
                  <a:srgbClr val="E7181F"/>
                </a:solidFill>
                <a:latin typeface="Georgia"/>
                <a:cs typeface="Georgia"/>
              </a:rPr>
              <a:t>role</a:t>
            </a:r>
            <a:r>
              <a:rPr sz="3300" spc="20" dirty="0">
                <a:solidFill>
                  <a:srgbClr val="E7181F"/>
                </a:solidFill>
                <a:latin typeface="Georgia"/>
                <a:cs typeface="Georgia"/>
              </a:rPr>
              <a:t> </a:t>
            </a:r>
            <a:r>
              <a:rPr sz="3300" dirty="0">
                <a:solidFill>
                  <a:srgbClr val="E7181F"/>
                </a:solidFill>
                <a:latin typeface="Georgia"/>
                <a:cs typeface="Georgia"/>
              </a:rPr>
              <a:t>role-</a:t>
            </a:r>
            <a:r>
              <a:rPr sz="3300" spc="-20" dirty="0">
                <a:solidFill>
                  <a:srgbClr val="E7181F"/>
                </a:solidFill>
                <a:latin typeface="Georgia"/>
                <a:cs typeface="Georgia"/>
              </a:rPr>
              <a:t>name</a:t>
            </a:r>
            <a:endParaRPr sz="3300">
              <a:latin typeface="Georgia"/>
              <a:cs typeface="Georgia"/>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71999" y="1525080"/>
            <a:ext cx="13354049" cy="5915024"/>
          </a:xfrm>
          <a:prstGeom prst="rect">
            <a:avLst/>
          </a:prstGeom>
        </p:spPr>
      </p:pic>
      <p:sp>
        <p:nvSpPr>
          <p:cNvPr id="3" name="object 3"/>
          <p:cNvSpPr txBox="1"/>
          <p:nvPr/>
        </p:nvSpPr>
        <p:spPr>
          <a:xfrm>
            <a:off x="4339066" y="7737673"/>
            <a:ext cx="4714875" cy="528320"/>
          </a:xfrm>
          <a:prstGeom prst="rect">
            <a:avLst/>
          </a:prstGeom>
        </p:spPr>
        <p:txBody>
          <a:bodyPr vert="horz" wrap="square" lIns="0" tIns="12700" rIns="0" bIns="0" rtlCol="0">
            <a:spAutoFit/>
          </a:bodyPr>
          <a:lstStyle/>
          <a:p>
            <a:pPr marL="12700">
              <a:lnSpc>
                <a:spcPct val="100000"/>
              </a:lnSpc>
              <a:spcBef>
                <a:spcPts val="100"/>
              </a:spcBef>
            </a:pPr>
            <a:r>
              <a:rPr sz="3300" dirty="0">
                <a:solidFill>
                  <a:srgbClr val="FF3131"/>
                </a:solidFill>
                <a:latin typeface="Georgia"/>
                <a:cs typeface="Georgia"/>
              </a:rPr>
              <a:t>kubectl</a:t>
            </a:r>
            <a:r>
              <a:rPr sz="3300" spc="100" dirty="0">
                <a:solidFill>
                  <a:srgbClr val="FF3131"/>
                </a:solidFill>
                <a:latin typeface="Georgia"/>
                <a:cs typeface="Georgia"/>
              </a:rPr>
              <a:t> </a:t>
            </a:r>
            <a:r>
              <a:rPr sz="3300" dirty="0">
                <a:solidFill>
                  <a:srgbClr val="FF3131"/>
                </a:solidFill>
                <a:latin typeface="Georgia"/>
                <a:cs typeface="Georgia"/>
              </a:rPr>
              <a:t>create</a:t>
            </a:r>
            <a:r>
              <a:rPr sz="3300" spc="105" dirty="0">
                <a:solidFill>
                  <a:srgbClr val="FF3131"/>
                </a:solidFill>
                <a:latin typeface="Georgia"/>
                <a:cs typeface="Georgia"/>
              </a:rPr>
              <a:t> </a:t>
            </a:r>
            <a:r>
              <a:rPr sz="3300" dirty="0">
                <a:solidFill>
                  <a:srgbClr val="FF3131"/>
                </a:solidFill>
                <a:latin typeface="Georgia"/>
                <a:cs typeface="Georgia"/>
              </a:rPr>
              <a:t>-</a:t>
            </a:r>
            <a:r>
              <a:rPr sz="3300" spc="50" dirty="0">
                <a:solidFill>
                  <a:srgbClr val="FF3131"/>
                </a:solidFill>
                <a:latin typeface="Georgia"/>
                <a:cs typeface="Georgia"/>
              </a:rPr>
              <a:t>f</a:t>
            </a:r>
            <a:r>
              <a:rPr sz="3300" spc="105" dirty="0">
                <a:solidFill>
                  <a:srgbClr val="FF3131"/>
                </a:solidFill>
                <a:latin typeface="Georgia"/>
                <a:cs typeface="Georgia"/>
              </a:rPr>
              <a:t> </a:t>
            </a:r>
            <a:r>
              <a:rPr sz="3300" spc="-10" dirty="0">
                <a:solidFill>
                  <a:srgbClr val="FF3131"/>
                </a:solidFill>
                <a:latin typeface="Georgia"/>
                <a:cs typeface="Georgia"/>
              </a:rPr>
              <a:t>role.yml</a:t>
            </a:r>
            <a:endParaRPr sz="3300">
              <a:latin typeface="Georgia"/>
              <a:cs typeface="Georgia"/>
            </a:endParaRPr>
          </a:p>
        </p:txBody>
      </p:sp>
      <p:sp>
        <p:nvSpPr>
          <p:cNvPr id="4" name="object 4"/>
          <p:cNvSpPr txBox="1">
            <a:spLocks noGrp="1"/>
          </p:cNvSpPr>
          <p:nvPr>
            <p:ph type="title"/>
          </p:nvPr>
        </p:nvSpPr>
        <p:spPr>
          <a:prstGeom prst="rect">
            <a:avLst/>
          </a:prstGeom>
        </p:spPr>
        <p:txBody>
          <a:bodyPr vert="horz" wrap="square" lIns="0" tIns="136219" rIns="0" bIns="0" rtlCol="0">
            <a:spAutoFit/>
          </a:bodyPr>
          <a:lstStyle/>
          <a:p>
            <a:pPr marL="86360">
              <a:lnSpc>
                <a:spcPct val="100000"/>
              </a:lnSpc>
              <a:spcBef>
                <a:spcPts val="100"/>
              </a:spcBef>
            </a:pPr>
            <a:r>
              <a:rPr spc="130" dirty="0"/>
              <a:t>creating</a:t>
            </a:r>
            <a:r>
              <a:rPr spc="-45" dirty="0"/>
              <a:t> </a:t>
            </a:r>
            <a:r>
              <a:rPr spc="75" dirty="0"/>
              <a:t>a</a:t>
            </a:r>
            <a:r>
              <a:rPr spc="-40" dirty="0"/>
              <a:t> </a:t>
            </a:r>
            <a:r>
              <a:rPr spc="155" dirty="0"/>
              <a:t>role</a:t>
            </a:r>
            <a:r>
              <a:rPr spc="-40" dirty="0"/>
              <a:t> </a:t>
            </a:r>
            <a:r>
              <a:rPr spc="275" dirty="0"/>
              <a:t>in</a:t>
            </a:r>
            <a:r>
              <a:rPr spc="-40" dirty="0"/>
              <a:t> </a:t>
            </a:r>
            <a:r>
              <a:rPr spc="160" dirty="0"/>
              <a:t>declarative</a:t>
            </a:r>
            <a:r>
              <a:rPr spc="-40" dirty="0"/>
              <a:t> </a:t>
            </a:r>
            <a:r>
              <a:rPr spc="160" dirty="0"/>
              <a:t>way:</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9299" y="1734348"/>
            <a:ext cx="17275810" cy="4262755"/>
          </a:xfrm>
          <a:prstGeom prst="rect">
            <a:avLst/>
          </a:prstGeom>
        </p:spPr>
        <p:txBody>
          <a:bodyPr vert="horz" wrap="square" lIns="0" tIns="90805" rIns="0" bIns="0" rtlCol="0">
            <a:spAutoFit/>
          </a:bodyPr>
          <a:lstStyle/>
          <a:p>
            <a:pPr marL="12700">
              <a:lnSpc>
                <a:spcPct val="100000"/>
              </a:lnSpc>
              <a:spcBef>
                <a:spcPts val="715"/>
              </a:spcBef>
            </a:pPr>
            <a:r>
              <a:rPr sz="3300" dirty="0">
                <a:solidFill>
                  <a:srgbClr val="2E377E"/>
                </a:solidFill>
                <a:latin typeface="Georgia"/>
                <a:cs typeface="Georgia"/>
              </a:rPr>
              <a:t>Imperative</a:t>
            </a:r>
            <a:r>
              <a:rPr sz="3300" spc="95" dirty="0">
                <a:solidFill>
                  <a:srgbClr val="2E377E"/>
                </a:solidFill>
                <a:latin typeface="Georgia"/>
                <a:cs typeface="Georgia"/>
              </a:rPr>
              <a:t> </a:t>
            </a:r>
            <a:r>
              <a:rPr sz="3300" spc="114" dirty="0">
                <a:solidFill>
                  <a:srgbClr val="2E377E"/>
                </a:solidFill>
                <a:latin typeface="Georgia"/>
                <a:cs typeface="Georgia"/>
              </a:rPr>
              <a:t>way</a:t>
            </a:r>
            <a:r>
              <a:rPr sz="3300" spc="100" dirty="0">
                <a:solidFill>
                  <a:srgbClr val="2E377E"/>
                </a:solidFill>
                <a:latin typeface="Georgia"/>
                <a:cs typeface="Georgia"/>
              </a:rPr>
              <a:t> </a:t>
            </a:r>
            <a:r>
              <a:rPr sz="3300" spc="-235" dirty="0">
                <a:solidFill>
                  <a:srgbClr val="2E377E"/>
                </a:solidFill>
                <a:latin typeface="Georgia"/>
                <a:cs typeface="Georgia"/>
              </a:rPr>
              <a:t>:</a:t>
            </a:r>
            <a:r>
              <a:rPr sz="3300" spc="100" dirty="0">
                <a:solidFill>
                  <a:srgbClr val="2E377E"/>
                </a:solidFill>
                <a:latin typeface="Georgia"/>
                <a:cs typeface="Georgia"/>
              </a:rPr>
              <a:t> </a:t>
            </a:r>
            <a:r>
              <a:rPr sz="3300" dirty="0">
                <a:solidFill>
                  <a:srgbClr val="E7181F"/>
                </a:solidFill>
                <a:latin typeface="Georgia"/>
                <a:cs typeface="Georgia"/>
              </a:rPr>
              <a:t>kubectl</a:t>
            </a:r>
            <a:r>
              <a:rPr sz="3300" spc="100" dirty="0">
                <a:solidFill>
                  <a:srgbClr val="E7181F"/>
                </a:solidFill>
                <a:latin typeface="Georgia"/>
                <a:cs typeface="Georgia"/>
              </a:rPr>
              <a:t> </a:t>
            </a:r>
            <a:r>
              <a:rPr sz="3300" dirty="0">
                <a:solidFill>
                  <a:srgbClr val="E7181F"/>
                </a:solidFill>
                <a:latin typeface="Georgia"/>
                <a:cs typeface="Georgia"/>
              </a:rPr>
              <a:t>create</a:t>
            </a:r>
            <a:r>
              <a:rPr sz="3300" spc="100" dirty="0">
                <a:solidFill>
                  <a:srgbClr val="E7181F"/>
                </a:solidFill>
                <a:latin typeface="Georgia"/>
                <a:cs typeface="Georgia"/>
              </a:rPr>
              <a:t> </a:t>
            </a:r>
            <a:r>
              <a:rPr sz="3300" dirty="0">
                <a:solidFill>
                  <a:srgbClr val="E7181F"/>
                </a:solidFill>
                <a:latin typeface="Georgia"/>
                <a:cs typeface="Georgia"/>
              </a:rPr>
              <a:t>rolebinding</a:t>
            </a:r>
            <a:r>
              <a:rPr sz="3300" spc="100" dirty="0">
                <a:solidFill>
                  <a:srgbClr val="E7181F"/>
                </a:solidFill>
                <a:latin typeface="Georgia"/>
                <a:cs typeface="Georgia"/>
              </a:rPr>
              <a:t> </a:t>
            </a:r>
            <a:r>
              <a:rPr sz="3300" dirty="0">
                <a:solidFill>
                  <a:srgbClr val="E7181F"/>
                </a:solidFill>
                <a:latin typeface="Georgia"/>
                <a:cs typeface="Georgia"/>
              </a:rPr>
              <a:t>role-binding-name</a:t>
            </a:r>
            <a:r>
              <a:rPr sz="3300" spc="100" dirty="0">
                <a:solidFill>
                  <a:srgbClr val="E7181F"/>
                </a:solidFill>
                <a:latin typeface="Georgia"/>
                <a:cs typeface="Georgia"/>
              </a:rPr>
              <a:t> </a:t>
            </a:r>
            <a:r>
              <a:rPr sz="3300" dirty="0">
                <a:solidFill>
                  <a:srgbClr val="E7181F"/>
                </a:solidFill>
                <a:latin typeface="Georgia"/>
                <a:cs typeface="Georgia"/>
              </a:rPr>
              <a:t>--</a:t>
            </a:r>
            <a:r>
              <a:rPr sz="3300" spc="-30" dirty="0">
                <a:solidFill>
                  <a:srgbClr val="E7181F"/>
                </a:solidFill>
                <a:latin typeface="Georgia"/>
                <a:cs typeface="Georgia"/>
              </a:rPr>
              <a:t>role=role-</a:t>
            </a:r>
            <a:r>
              <a:rPr sz="3300" spc="-20" dirty="0">
                <a:solidFill>
                  <a:srgbClr val="E7181F"/>
                </a:solidFill>
                <a:latin typeface="Georgia"/>
                <a:cs typeface="Georgia"/>
              </a:rPr>
              <a:t>name</a:t>
            </a:r>
            <a:endParaRPr sz="3300">
              <a:latin typeface="Georgia"/>
              <a:cs typeface="Georgia"/>
            </a:endParaRPr>
          </a:p>
          <a:p>
            <a:pPr marL="12700">
              <a:lnSpc>
                <a:spcPct val="100000"/>
              </a:lnSpc>
              <a:spcBef>
                <a:spcPts val="615"/>
              </a:spcBef>
            </a:pPr>
            <a:r>
              <a:rPr sz="3300" dirty="0">
                <a:solidFill>
                  <a:srgbClr val="E7181F"/>
                </a:solidFill>
                <a:latin typeface="Georgia"/>
                <a:cs typeface="Georgia"/>
              </a:rPr>
              <a:t>--</a:t>
            </a:r>
            <a:r>
              <a:rPr sz="3300" spc="-10" dirty="0">
                <a:solidFill>
                  <a:srgbClr val="E7181F"/>
                </a:solidFill>
                <a:latin typeface="Georgia"/>
                <a:cs typeface="Georgia"/>
              </a:rPr>
              <a:t>user=user-</a:t>
            </a:r>
            <a:r>
              <a:rPr sz="3300" spc="-20" dirty="0">
                <a:solidFill>
                  <a:srgbClr val="E7181F"/>
                </a:solidFill>
                <a:latin typeface="Georgia"/>
                <a:cs typeface="Georgia"/>
              </a:rPr>
              <a:t>name</a:t>
            </a:r>
            <a:endParaRPr sz="3300">
              <a:latin typeface="Georgia"/>
              <a:cs typeface="Georgia"/>
            </a:endParaRPr>
          </a:p>
          <a:p>
            <a:pPr marL="12700">
              <a:lnSpc>
                <a:spcPct val="100000"/>
              </a:lnSpc>
              <a:spcBef>
                <a:spcPts val="1950"/>
              </a:spcBef>
            </a:pPr>
            <a:r>
              <a:rPr sz="3300" dirty="0">
                <a:solidFill>
                  <a:srgbClr val="2E377E"/>
                </a:solidFill>
                <a:latin typeface="Georgia"/>
                <a:cs typeface="Georgia"/>
              </a:rPr>
              <a:t>To</a:t>
            </a:r>
            <a:r>
              <a:rPr sz="3300" spc="-25" dirty="0">
                <a:solidFill>
                  <a:srgbClr val="2E377E"/>
                </a:solidFill>
                <a:latin typeface="Georgia"/>
                <a:cs typeface="Georgia"/>
              </a:rPr>
              <a:t> </a:t>
            </a:r>
            <a:r>
              <a:rPr sz="3300" dirty="0">
                <a:solidFill>
                  <a:srgbClr val="2E377E"/>
                </a:solidFill>
                <a:latin typeface="Georgia"/>
                <a:cs typeface="Georgia"/>
              </a:rPr>
              <a:t>see</a:t>
            </a:r>
            <a:r>
              <a:rPr sz="3300" spc="-20" dirty="0">
                <a:solidFill>
                  <a:srgbClr val="2E377E"/>
                </a:solidFill>
                <a:latin typeface="Georgia"/>
                <a:cs typeface="Georgia"/>
              </a:rPr>
              <a:t> </a:t>
            </a:r>
            <a:r>
              <a:rPr sz="3300" dirty="0">
                <a:solidFill>
                  <a:srgbClr val="2E377E"/>
                </a:solidFill>
                <a:latin typeface="Georgia"/>
                <a:cs typeface="Georgia"/>
              </a:rPr>
              <a:t>list</a:t>
            </a:r>
            <a:r>
              <a:rPr sz="3300" spc="-25" dirty="0">
                <a:solidFill>
                  <a:srgbClr val="2E377E"/>
                </a:solidFill>
                <a:latin typeface="Georgia"/>
                <a:cs typeface="Georgia"/>
              </a:rPr>
              <a:t> </a:t>
            </a:r>
            <a:r>
              <a:rPr sz="3300" dirty="0">
                <a:solidFill>
                  <a:srgbClr val="2E377E"/>
                </a:solidFill>
                <a:latin typeface="Georgia"/>
                <a:cs typeface="Georgia"/>
              </a:rPr>
              <a:t>of</a:t>
            </a:r>
            <a:r>
              <a:rPr sz="3300" spc="-20" dirty="0">
                <a:solidFill>
                  <a:srgbClr val="2E377E"/>
                </a:solidFill>
                <a:latin typeface="Georgia"/>
                <a:cs typeface="Georgia"/>
              </a:rPr>
              <a:t> </a:t>
            </a:r>
            <a:r>
              <a:rPr sz="3300" dirty="0">
                <a:solidFill>
                  <a:srgbClr val="2E377E"/>
                </a:solidFill>
                <a:latin typeface="Georgia"/>
                <a:cs typeface="Georgia"/>
              </a:rPr>
              <a:t>rolebindings:</a:t>
            </a:r>
            <a:r>
              <a:rPr sz="3300" spc="-25" dirty="0">
                <a:solidFill>
                  <a:srgbClr val="2E377E"/>
                </a:solidFill>
                <a:latin typeface="Georgia"/>
                <a:cs typeface="Georgia"/>
              </a:rPr>
              <a:t> </a:t>
            </a:r>
            <a:r>
              <a:rPr sz="3300" dirty="0">
                <a:solidFill>
                  <a:srgbClr val="E7181F"/>
                </a:solidFill>
                <a:latin typeface="Georgia"/>
                <a:cs typeface="Georgia"/>
              </a:rPr>
              <a:t>kubectl</a:t>
            </a:r>
            <a:r>
              <a:rPr sz="3300" spc="-20" dirty="0">
                <a:solidFill>
                  <a:srgbClr val="E7181F"/>
                </a:solidFill>
                <a:latin typeface="Georgia"/>
                <a:cs typeface="Georgia"/>
              </a:rPr>
              <a:t> </a:t>
            </a:r>
            <a:r>
              <a:rPr sz="3300" spc="60" dirty="0">
                <a:solidFill>
                  <a:srgbClr val="E7181F"/>
                </a:solidFill>
                <a:latin typeface="Georgia"/>
                <a:cs typeface="Georgia"/>
              </a:rPr>
              <a:t>get</a:t>
            </a:r>
            <a:r>
              <a:rPr sz="3300" spc="-25" dirty="0">
                <a:solidFill>
                  <a:srgbClr val="E7181F"/>
                </a:solidFill>
                <a:latin typeface="Georgia"/>
                <a:cs typeface="Georgia"/>
              </a:rPr>
              <a:t> </a:t>
            </a:r>
            <a:r>
              <a:rPr sz="3300" spc="-10" dirty="0">
                <a:solidFill>
                  <a:srgbClr val="E7181F"/>
                </a:solidFill>
                <a:latin typeface="Georgia"/>
                <a:cs typeface="Georgia"/>
              </a:rPr>
              <a:t>rolesbinding</a:t>
            </a:r>
            <a:endParaRPr sz="3300">
              <a:latin typeface="Georgia"/>
              <a:cs typeface="Georgia"/>
            </a:endParaRPr>
          </a:p>
          <a:p>
            <a:pPr marL="12700" marR="1447165">
              <a:lnSpc>
                <a:spcPct val="115500"/>
              </a:lnSpc>
            </a:pPr>
            <a:r>
              <a:rPr sz="3300" dirty="0">
                <a:solidFill>
                  <a:srgbClr val="2E377E"/>
                </a:solidFill>
                <a:latin typeface="Georgia"/>
                <a:cs typeface="Georgia"/>
              </a:rPr>
              <a:t>To</a:t>
            </a:r>
            <a:r>
              <a:rPr sz="3300" spc="15" dirty="0">
                <a:solidFill>
                  <a:srgbClr val="2E377E"/>
                </a:solidFill>
                <a:latin typeface="Georgia"/>
                <a:cs typeface="Georgia"/>
              </a:rPr>
              <a:t> </a:t>
            </a:r>
            <a:r>
              <a:rPr sz="3300" dirty="0">
                <a:solidFill>
                  <a:srgbClr val="2E377E"/>
                </a:solidFill>
                <a:latin typeface="Georgia"/>
                <a:cs typeface="Georgia"/>
              </a:rPr>
              <a:t>see</a:t>
            </a:r>
            <a:r>
              <a:rPr sz="3300" spc="15" dirty="0">
                <a:solidFill>
                  <a:srgbClr val="2E377E"/>
                </a:solidFill>
                <a:latin typeface="Georgia"/>
                <a:cs typeface="Georgia"/>
              </a:rPr>
              <a:t> </a:t>
            </a:r>
            <a:r>
              <a:rPr sz="3300" dirty="0">
                <a:solidFill>
                  <a:srgbClr val="2E377E"/>
                </a:solidFill>
                <a:latin typeface="Georgia"/>
                <a:cs typeface="Georgia"/>
              </a:rPr>
              <a:t>the</a:t>
            </a:r>
            <a:r>
              <a:rPr sz="3300" spc="15" dirty="0">
                <a:solidFill>
                  <a:srgbClr val="2E377E"/>
                </a:solidFill>
                <a:latin typeface="Georgia"/>
                <a:cs typeface="Georgia"/>
              </a:rPr>
              <a:t> </a:t>
            </a:r>
            <a:r>
              <a:rPr sz="3300" dirty="0">
                <a:solidFill>
                  <a:srgbClr val="2E377E"/>
                </a:solidFill>
                <a:latin typeface="Georgia"/>
                <a:cs typeface="Georgia"/>
              </a:rPr>
              <a:t>list</a:t>
            </a:r>
            <a:r>
              <a:rPr sz="3300" spc="15" dirty="0">
                <a:solidFill>
                  <a:srgbClr val="2E377E"/>
                </a:solidFill>
                <a:latin typeface="Georgia"/>
                <a:cs typeface="Georgia"/>
              </a:rPr>
              <a:t> </a:t>
            </a:r>
            <a:r>
              <a:rPr sz="3300" dirty="0">
                <a:solidFill>
                  <a:srgbClr val="2E377E"/>
                </a:solidFill>
                <a:latin typeface="Georgia"/>
                <a:cs typeface="Georgia"/>
              </a:rPr>
              <a:t>users</a:t>
            </a:r>
            <a:r>
              <a:rPr sz="3300" spc="15" dirty="0">
                <a:solidFill>
                  <a:srgbClr val="2E377E"/>
                </a:solidFill>
                <a:latin typeface="Georgia"/>
                <a:cs typeface="Georgia"/>
              </a:rPr>
              <a:t> </a:t>
            </a:r>
            <a:r>
              <a:rPr sz="3300" spc="630" dirty="0">
                <a:solidFill>
                  <a:srgbClr val="2E377E"/>
                </a:solidFill>
                <a:latin typeface="Georgia"/>
                <a:cs typeface="Georgia"/>
              </a:rPr>
              <a:t>&amp;</a:t>
            </a:r>
            <a:r>
              <a:rPr sz="3300" spc="15" dirty="0">
                <a:solidFill>
                  <a:srgbClr val="2E377E"/>
                </a:solidFill>
                <a:latin typeface="Georgia"/>
                <a:cs typeface="Georgia"/>
              </a:rPr>
              <a:t> </a:t>
            </a:r>
            <a:r>
              <a:rPr sz="3300" dirty="0">
                <a:solidFill>
                  <a:srgbClr val="2E377E"/>
                </a:solidFill>
                <a:latin typeface="Georgia"/>
                <a:cs typeface="Georgia"/>
              </a:rPr>
              <a:t>roles</a:t>
            </a:r>
            <a:r>
              <a:rPr sz="3300" spc="15" dirty="0">
                <a:solidFill>
                  <a:srgbClr val="2E377E"/>
                </a:solidFill>
                <a:latin typeface="Georgia"/>
                <a:cs typeface="Georgia"/>
              </a:rPr>
              <a:t> </a:t>
            </a:r>
            <a:r>
              <a:rPr sz="3300" dirty="0">
                <a:solidFill>
                  <a:srgbClr val="2E377E"/>
                </a:solidFill>
                <a:latin typeface="Georgia"/>
                <a:cs typeface="Georgia"/>
              </a:rPr>
              <a:t>of</a:t>
            </a:r>
            <a:r>
              <a:rPr sz="3300" spc="15" dirty="0">
                <a:solidFill>
                  <a:srgbClr val="2E377E"/>
                </a:solidFill>
                <a:latin typeface="Georgia"/>
                <a:cs typeface="Georgia"/>
              </a:rPr>
              <a:t> </a:t>
            </a:r>
            <a:r>
              <a:rPr sz="3300" dirty="0">
                <a:solidFill>
                  <a:srgbClr val="2E377E"/>
                </a:solidFill>
                <a:latin typeface="Georgia"/>
                <a:cs typeface="Georgia"/>
              </a:rPr>
              <a:t>a</a:t>
            </a:r>
            <a:r>
              <a:rPr sz="3300" spc="15" dirty="0">
                <a:solidFill>
                  <a:srgbClr val="2E377E"/>
                </a:solidFill>
                <a:latin typeface="Georgia"/>
                <a:cs typeface="Georgia"/>
              </a:rPr>
              <a:t> </a:t>
            </a:r>
            <a:r>
              <a:rPr sz="3300" dirty="0">
                <a:solidFill>
                  <a:srgbClr val="2E377E"/>
                </a:solidFill>
                <a:latin typeface="Georgia"/>
                <a:cs typeface="Georgia"/>
              </a:rPr>
              <a:t>rolebinding</a:t>
            </a:r>
            <a:r>
              <a:rPr sz="3300" spc="15" dirty="0">
                <a:solidFill>
                  <a:srgbClr val="2E377E"/>
                </a:solidFill>
                <a:latin typeface="Georgia"/>
                <a:cs typeface="Georgia"/>
              </a:rPr>
              <a:t> </a:t>
            </a:r>
            <a:r>
              <a:rPr sz="3300" spc="-235" dirty="0">
                <a:solidFill>
                  <a:srgbClr val="2E377E"/>
                </a:solidFill>
                <a:latin typeface="Georgia"/>
                <a:cs typeface="Georgia"/>
              </a:rPr>
              <a:t>:</a:t>
            </a:r>
            <a:r>
              <a:rPr sz="3300" spc="20" dirty="0">
                <a:solidFill>
                  <a:srgbClr val="2E377E"/>
                </a:solidFill>
                <a:latin typeface="Georgia"/>
                <a:cs typeface="Georgia"/>
              </a:rPr>
              <a:t> </a:t>
            </a:r>
            <a:r>
              <a:rPr sz="3300" dirty="0">
                <a:solidFill>
                  <a:srgbClr val="E7181F"/>
                </a:solidFill>
                <a:latin typeface="Georgia"/>
                <a:cs typeface="Georgia"/>
              </a:rPr>
              <a:t>kubectl</a:t>
            </a:r>
            <a:r>
              <a:rPr sz="3300" spc="15" dirty="0">
                <a:solidFill>
                  <a:srgbClr val="E7181F"/>
                </a:solidFill>
                <a:latin typeface="Georgia"/>
                <a:cs typeface="Georgia"/>
              </a:rPr>
              <a:t> </a:t>
            </a:r>
            <a:r>
              <a:rPr sz="3300" dirty="0">
                <a:solidFill>
                  <a:srgbClr val="E7181F"/>
                </a:solidFill>
                <a:latin typeface="Georgia"/>
                <a:cs typeface="Georgia"/>
              </a:rPr>
              <a:t>describe</a:t>
            </a:r>
            <a:r>
              <a:rPr sz="3300" spc="15" dirty="0">
                <a:solidFill>
                  <a:srgbClr val="E7181F"/>
                </a:solidFill>
                <a:latin typeface="Georgia"/>
                <a:cs typeface="Georgia"/>
              </a:rPr>
              <a:t> </a:t>
            </a:r>
            <a:r>
              <a:rPr sz="3300" dirty="0">
                <a:solidFill>
                  <a:srgbClr val="E7181F"/>
                </a:solidFill>
                <a:latin typeface="Georgia"/>
                <a:cs typeface="Georgia"/>
              </a:rPr>
              <a:t>rolebinding</a:t>
            </a:r>
            <a:r>
              <a:rPr sz="3300" spc="15" dirty="0">
                <a:solidFill>
                  <a:srgbClr val="E7181F"/>
                </a:solidFill>
                <a:latin typeface="Georgia"/>
                <a:cs typeface="Georgia"/>
              </a:rPr>
              <a:t> </a:t>
            </a:r>
            <a:r>
              <a:rPr sz="3300" dirty="0">
                <a:solidFill>
                  <a:srgbClr val="E7181F"/>
                </a:solidFill>
                <a:latin typeface="Georgia"/>
                <a:cs typeface="Georgia"/>
              </a:rPr>
              <a:t>role-</a:t>
            </a:r>
            <a:r>
              <a:rPr sz="3300" spc="-20" dirty="0">
                <a:solidFill>
                  <a:srgbClr val="E7181F"/>
                </a:solidFill>
                <a:latin typeface="Georgia"/>
                <a:cs typeface="Georgia"/>
              </a:rPr>
              <a:t>name </a:t>
            </a:r>
            <a:r>
              <a:rPr sz="3300" dirty="0">
                <a:solidFill>
                  <a:srgbClr val="2E377E"/>
                </a:solidFill>
                <a:latin typeface="Georgia"/>
                <a:cs typeface="Georgia"/>
              </a:rPr>
              <a:t>To</a:t>
            </a:r>
            <a:r>
              <a:rPr sz="3300" spc="25" dirty="0">
                <a:solidFill>
                  <a:srgbClr val="2E377E"/>
                </a:solidFill>
                <a:latin typeface="Georgia"/>
                <a:cs typeface="Georgia"/>
              </a:rPr>
              <a:t> </a:t>
            </a:r>
            <a:r>
              <a:rPr sz="3300" dirty="0">
                <a:solidFill>
                  <a:srgbClr val="2E377E"/>
                </a:solidFill>
                <a:latin typeface="Georgia"/>
                <a:cs typeface="Georgia"/>
              </a:rPr>
              <a:t>delete</a:t>
            </a:r>
            <a:r>
              <a:rPr sz="3300" spc="25" dirty="0">
                <a:solidFill>
                  <a:srgbClr val="2E377E"/>
                </a:solidFill>
                <a:latin typeface="Georgia"/>
                <a:cs typeface="Georgia"/>
              </a:rPr>
              <a:t> </a:t>
            </a:r>
            <a:r>
              <a:rPr sz="3300" dirty="0">
                <a:solidFill>
                  <a:srgbClr val="2E377E"/>
                </a:solidFill>
                <a:latin typeface="Georgia"/>
                <a:cs typeface="Georgia"/>
              </a:rPr>
              <a:t>a</a:t>
            </a:r>
            <a:r>
              <a:rPr sz="3300" spc="30" dirty="0">
                <a:solidFill>
                  <a:srgbClr val="2E377E"/>
                </a:solidFill>
                <a:latin typeface="Georgia"/>
                <a:cs typeface="Georgia"/>
              </a:rPr>
              <a:t> </a:t>
            </a:r>
            <a:r>
              <a:rPr sz="3300" dirty="0">
                <a:solidFill>
                  <a:srgbClr val="2E377E"/>
                </a:solidFill>
                <a:latin typeface="Georgia"/>
                <a:cs typeface="Georgia"/>
              </a:rPr>
              <a:t>role</a:t>
            </a:r>
            <a:r>
              <a:rPr sz="3300" spc="25" dirty="0">
                <a:solidFill>
                  <a:srgbClr val="2E377E"/>
                </a:solidFill>
                <a:latin typeface="Georgia"/>
                <a:cs typeface="Georgia"/>
              </a:rPr>
              <a:t> </a:t>
            </a:r>
            <a:r>
              <a:rPr sz="3300" spc="-235" dirty="0">
                <a:solidFill>
                  <a:srgbClr val="2E377E"/>
                </a:solidFill>
                <a:latin typeface="Georgia"/>
                <a:cs typeface="Georgia"/>
              </a:rPr>
              <a:t>:</a:t>
            </a:r>
            <a:r>
              <a:rPr sz="3300" spc="30" dirty="0">
                <a:solidFill>
                  <a:srgbClr val="2E377E"/>
                </a:solidFill>
                <a:latin typeface="Georgia"/>
                <a:cs typeface="Georgia"/>
              </a:rPr>
              <a:t> </a:t>
            </a:r>
            <a:r>
              <a:rPr sz="3300" dirty="0">
                <a:solidFill>
                  <a:srgbClr val="E7181F"/>
                </a:solidFill>
                <a:latin typeface="Georgia"/>
                <a:cs typeface="Georgia"/>
              </a:rPr>
              <a:t>kubectl</a:t>
            </a:r>
            <a:r>
              <a:rPr sz="3300" spc="25" dirty="0">
                <a:solidFill>
                  <a:srgbClr val="E7181F"/>
                </a:solidFill>
                <a:latin typeface="Georgia"/>
                <a:cs typeface="Georgia"/>
              </a:rPr>
              <a:t> </a:t>
            </a:r>
            <a:r>
              <a:rPr sz="3300" dirty="0">
                <a:solidFill>
                  <a:srgbClr val="E7181F"/>
                </a:solidFill>
                <a:latin typeface="Georgia"/>
                <a:cs typeface="Georgia"/>
              </a:rPr>
              <a:t>delete</a:t>
            </a:r>
            <a:r>
              <a:rPr sz="3300" spc="30" dirty="0">
                <a:solidFill>
                  <a:srgbClr val="E7181F"/>
                </a:solidFill>
                <a:latin typeface="Georgia"/>
                <a:cs typeface="Georgia"/>
              </a:rPr>
              <a:t> </a:t>
            </a:r>
            <a:r>
              <a:rPr sz="3300" dirty="0">
                <a:solidFill>
                  <a:srgbClr val="E7181F"/>
                </a:solidFill>
                <a:latin typeface="Georgia"/>
                <a:cs typeface="Georgia"/>
              </a:rPr>
              <a:t>rolebinding</a:t>
            </a:r>
            <a:r>
              <a:rPr sz="3300" spc="25" dirty="0">
                <a:solidFill>
                  <a:srgbClr val="E7181F"/>
                </a:solidFill>
                <a:latin typeface="Georgia"/>
                <a:cs typeface="Georgia"/>
              </a:rPr>
              <a:t> </a:t>
            </a:r>
            <a:r>
              <a:rPr sz="3300" dirty="0">
                <a:solidFill>
                  <a:srgbClr val="E7181F"/>
                </a:solidFill>
                <a:latin typeface="Georgia"/>
                <a:cs typeface="Georgia"/>
              </a:rPr>
              <a:t>role-</a:t>
            </a:r>
            <a:r>
              <a:rPr sz="3300" spc="-20" dirty="0">
                <a:solidFill>
                  <a:srgbClr val="E7181F"/>
                </a:solidFill>
                <a:latin typeface="Georgia"/>
                <a:cs typeface="Georgia"/>
              </a:rPr>
              <a:t>name</a:t>
            </a:r>
            <a:endParaRPr sz="3300">
              <a:latin typeface="Georgia"/>
              <a:cs typeface="Georgia"/>
            </a:endParaRPr>
          </a:p>
          <a:p>
            <a:pPr marL="12700">
              <a:lnSpc>
                <a:spcPct val="100000"/>
              </a:lnSpc>
              <a:spcBef>
                <a:spcPts val="615"/>
              </a:spcBef>
            </a:pPr>
            <a:r>
              <a:rPr sz="3300" dirty="0">
                <a:solidFill>
                  <a:srgbClr val="2E377E"/>
                </a:solidFill>
                <a:latin typeface="Georgia"/>
                <a:cs typeface="Georgia"/>
              </a:rPr>
              <a:t>Command</a:t>
            </a:r>
            <a:r>
              <a:rPr sz="3300" spc="15" dirty="0">
                <a:solidFill>
                  <a:srgbClr val="2E377E"/>
                </a:solidFill>
                <a:latin typeface="Georgia"/>
                <a:cs typeface="Georgia"/>
              </a:rPr>
              <a:t> </a:t>
            </a:r>
            <a:r>
              <a:rPr sz="3300" spc="55" dirty="0">
                <a:solidFill>
                  <a:srgbClr val="2E377E"/>
                </a:solidFill>
                <a:latin typeface="Georgia"/>
                <a:cs typeface="Georgia"/>
              </a:rPr>
              <a:t>to</a:t>
            </a:r>
            <a:r>
              <a:rPr sz="3300" spc="20" dirty="0">
                <a:solidFill>
                  <a:srgbClr val="2E377E"/>
                </a:solidFill>
                <a:latin typeface="Georgia"/>
                <a:cs typeface="Georgia"/>
              </a:rPr>
              <a:t> </a:t>
            </a:r>
            <a:r>
              <a:rPr sz="3300" spc="50" dirty="0">
                <a:solidFill>
                  <a:srgbClr val="2E377E"/>
                </a:solidFill>
                <a:latin typeface="Georgia"/>
                <a:cs typeface="Georgia"/>
              </a:rPr>
              <a:t>remove</a:t>
            </a:r>
            <a:r>
              <a:rPr sz="3300" spc="20" dirty="0">
                <a:solidFill>
                  <a:srgbClr val="2E377E"/>
                </a:solidFill>
                <a:latin typeface="Georgia"/>
                <a:cs typeface="Georgia"/>
              </a:rPr>
              <a:t> </a:t>
            </a:r>
            <a:r>
              <a:rPr sz="3300" dirty="0">
                <a:solidFill>
                  <a:srgbClr val="2E377E"/>
                </a:solidFill>
                <a:latin typeface="Georgia"/>
                <a:cs typeface="Georgia"/>
              </a:rPr>
              <a:t>a</a:t>
            </a:r>
            <a:r>
              <a:rPr sz="3300" spc="15" dirty="0">
                <a:solidFill>
                  <a:srgbClr val="2E377E"/>
                </a:solidFill>
                <a:latin typeface="Georgia"/>
                <a:cs typeface="Georgia"/>
              </a:rPr>
              <a:t> </a:t>
            </a:r>
            <a:r>
              <a:rPr sz="3300" dirty="0">
                <a:solidFill>
                  <a:srgbClr val="2E377E"/>
                </a:solidFill>
                <a:latin typeface="Georgia"/>
                <a:cs typeface="Georgia"/>
              </a:rPr>
              <a:t>user</a:t>
            </a:r>
            <a:r>
              <a:rPr sz="3300" spc="20" dirty="0">
                <a:solidFill>
                  <a:srgbClr val="2E377E"/>
                </a:solidFill>
                <a:latin typeface="Georgia"/>
                <a:cs typeface="Georgia"/>
              </a:rPr>
              <a:t> </a:t>
            </a:r>
            <a:r>
              <a:rPr sz="3300" dirty="0">
                <a:solidFill>
                  <a:srgbClr val="2E377E"/>
                </a:solidFill>
                <a:latin typeface="Georgia"/>
                <a:cs typeface="Georgia"/>
              </a:rPr>
              <a:t>from</a:t>
            </a:r>
            <a:r>
              <a:rPr sz="3300" spc="20" dirty="0">
                <a:solidFill>
                  <a:srgbClr val="2E377E"/>
                </a:solidFill>
                <a:latin typeface="Georgia"/>
                <a:cs typeface="Georgia"/>
              </a:rPr>
              <a:t> </a:t>
            </a:r>
            <a:r>
              <a:rPr sz="3300" dirty="0">
                <a:solidFill>
                  <a:srgbClr val="2E377E"/>
                </a:solidFill>
                <a:latin typeface="Georgia"/>
                <a:cs typeface="Georgia"/>
              </a:rPr>
              <a:t>role-binding</a:t>
            </a:r>
            <a:r>
              <a:rPr sz="3300" spc="15" dirty="0">
                <a:solidFill>
                  <a:srgbClr val="2E377E"/>
                </a:solidFill>
                <a:latin typeface="Georgia"/>
                <a:cs typeface="Georgia"/>
              </a:rPr>
              <a:t> </a:t>
            </a:r>
            <a:r>
              <a:rPr sz="3300" spc="-235" dirty="0">
                <a:solidFill>
                  <a:srgbClr val="2E377E"/>
                </a:solidFill>
                <a:latin typeface="Georgia"/>
                <a:cs typeface="Georgia"/>
              </a:rPr>
              <a:t>:</a:t>
            </a:r>
            <a:r>
              <a:rPr sz="3300" spc="20" dirty="0">
                <a:solidFill>
                  <a:srgbClr val="2E377E"/>
                </a:solidFill>
                <a:latin typeface="Georgia"/>
                <a:cs typeface="Georgia"/>
              </a:rPr>
              <a:t> </a:t>
            </a:r>
            <a:r>
              <a:rPr sz="3300" dirty="0">
                <a:solidFill>
                  <a:srgbClr val="E7181F"/>
                </a:solidFill>
                <a:latin typeface="Georgia"/>
                <a:cs typeface="Georgia"/>
              </a:rPr>
              <a:t>kubectl</a:t>
            </a:r>
            <a:r>
              <a:rPr sz="3300" spc="20" dirty="0">
                <a:solidFill>
                  <a:srgbClr val="E7181F"/>
                </a:solidFill>
                <a:latin typeface="Georgia"/>
                <a:cs typeface="Georgia"/>
              </a:rPr>
              <a:t> </a:t>
            </a:r>
            <a:r>
              <a:rPr sz="3300" dirty="0">
                <a:solidFill>
                  <a:srgbClr val="E7181F"/>
                </a:solidFill>
                <a:latin typeface="Georgia"/>
                <a:cs typeface="Georgia"/>
              </a:rPr>
              <a:t>delete</a:t>
            </a:r>
            <a:r>
              <a:rPr sz="3300" spc="15" dirty="0">
                <a:solidFill>
                  <a:srgbClr val="E7181F"/>
                </a:solidFill>
                <a:latin typeface="Georgia"/>
                <a:cs typeface="Georgia"/>
              </a:rPr>
              <a:t> </a:t>
            </a:r>
            <a:r>
              <a:rPr sz="3300" dirty="0">
                <a:solidFill>
                  <a:srgbClr val="E7181F"/>
                </a:solidFill>
                <a:latin typeface="Georgia"/>
                <a:cs typeface="Georgia"/>
              </a:rPr>
              <a:t>rolebinding</a:t>
            </a:r>
            <a:r>
              <a:rPr sz="3300" spc="20" dirty="0">
                <a:solidFill>
                  <a:srgbClr val="E7181F"/>
                </a:solidFill>
                <a:latin typeface="Georgia"/>
                <a:cs typeface="Georgia"/>
              </a:rPr>
              <a:t> </a:t>
            </a:r>
            <a:r>
              <a:rPr sz="3300" dirty="0">
                <a:solidFill>
                  <a:srgbClr val="E7181F"/>
                </a:solidFill>
                <a:latin typeface="Georgia"/>
                <a:cs typeface="Georgia"/>
              </a:rPr>
              <a:t>rolebinding-</a:t>
            </a:r>
            <a:r>
              <a:rPr sz="3300" spc="-20" dirty="0">
                <a:solidFill>
                  <a:srgbClr val="E7181F"/>
                </a:solidFill>
                <a:latin typeface="Georgia"/>
                <a:cs typeface="Georgia"/>
              </a:rPr>
              <a:t>name</a:t>
            </a:r>
            <a:endParaRPr sz="3300">
              <a:latin typeface="Georgia"/>
              <a:cs typeface="Georgia"/>
            </a:endParaRPr>
          </a:p>
          <a:p>
            <a:pPr marL="12700">
              <a:lnSpc>
                <a:spcPct val="100000"/>
              </a:lnSpc>
              <a:spcBef>
                <a:spcPts val="615"/>
              </a:spcBef>
            </a:pPr>
            <a:r>
              <a:rPr sz="3300" dirty="0">
                <a:solidFill>
                  <a:srgbClr val="E7181F"/>
                </a:solidFill>
                <a:latin typeface="Georgia"/>
                <a:cs typeface="Georgia"/>
              </a:rPr>
              <a:t>--</a:t>
            </a:r>
            <a:r>
              <a:rPr sz="3300" spc="-10" dirty="0">
                <a:solidFill>
                  <a:srgbClr val="E7181F"/>
                </a:solidFill>
                <a:latin typeface="Georgia"/>
                <a:cs typeface="Georgia"/>
              </a:rPr>
              <a:t>user=usernmae</a:t>
            </a:r>
            <a:endParaRPr sz="3300">
              <a:latin typeface="Georgia"/>
              <a:cs typeface="Georgia"/>
            </a:endParaRPr>
          </a:p>
        </p:txBody>
      </p:sp>
      <p:sp>
        <p:nvSpPr>
          <p:cNvPr id="3" name="object 3"/>
          <p:cNvSpPr txBox="1">
            <a:spLocks noGrp="1"/>
          </p:cNvSpPr>
          <p:nvPr>
            <p:ph type="title"/>
          </p:nvPr>
        </p:nvSpPr>
        <p:spPr>
          <a:prstGeom prst="rect">
            <a:avLst/>
          </a:prstGeom>
        </p:spPr>
        <p:txBody>
          <a:bodyPr vert="horz" wrap="square" lIns="0" tIns="465069" rIns="0" bIns="0" rtlCol="0">
            <a:spAutoFit/>
          </a:bodyPr>
          <a:lstStyle/>
          <a:p>
            <a:pPr marL="86360">
              <a:lnSpc>
                <a:spcPct val="100000"/>
              </a:lnSpc>
              <a:spcBef>
                <a:spcPts val="100"/>
              </a:spcBef>
            </a:pPr>
            <a:r>
              <a:rPr spc="130" dirty="0"/>
              <a:t>creating</a:t>
            </a:r>
            <a:r>
              <a:rPr spc="-50" dirty="0"/>
              <a:t> </a:t>
            </a:r>
            <a:r>
              <a:rPr spc="75" dirty="0"/>
              <a:t>a</a:t>
            </a:r>
            <a:r>
              <a:rPr spc="-50" dirty="0"/>
              <a:t> </a:t>
            </a:r>
            <a:r>
              <a:rPr spc="204" dirty="0"/>
              <a:t>rolebindings</a:t>
            </a:r>
            <a:r>
              <a:rPr spc="-50" dirty="0"/>
              <a:t> </a:t>
            </a:r>
            <a:r>
              <a:rPr spc="275" dirty="0"/>
              <a:t>in</a:t>
            </a:r>
            <a:r>
              <a:rPr spc="-50" dirty="0"/>
              <a:t> </a:t>
            </a:r>
            <a:r>
              <a:rPr spc="215" dirty="0"/>
              <a:t>imperative</a:t>
            </a:r>
            <a:r>
              <a:rPr spc="-50" dirty="0"/>
              <a:t> </a:t>
            </a:r>
            <a:r>
              <a:rPr spc="160" dirty="0"/>
              <a:t>way:</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76946" y="1773833"/>
            <a:ext cx="10772774" cy="6457949"/>
          </a:xfrm>
          <a:prstGeom prst="rect">
            <a:avLst/>
          </a:prstGeom>
        </p:spPr>
      </p:pic>
      <p:sp>
        <p:nvSpPr>
          <p:cNvPr id="3" name="object 3"/>
          <p:cNvSpPr txBox="1">
            <a:spLocks noGrp="1"/>
          </p:cNvSpPr>
          <p:nvPr>
            <p:ph type="title"/>
          </p:nvPr>
        </p:nvSpPr>
        <p:spPr>
          <a:prstGeom prst="rect">
            <a:avLst/>
          </a:prstGeom>
        </p:spPr>
        <p:txBody>
          <a:bodyPr vert="horz" wrap="square" lIns="0" tIns="288620" rIns="0" bIns="0" rtlCol="0">
            <a:spAutoFit/>
          </a:bodyPr>
          <a:lstStyle/>
          <a:p>
            <a:pPr marL="238760">
              <a:lnSpc>
                <a:spcPct val="100000"/>
              </a:lnSpc>
              <a:spcBef>
                <a:spcPts val="100"/>
              </a:spcBef>
            </a:pPr>
            <a:r>
              <a:rPr spc="130" dirty="0"/>
              <a:t>creating</a:t>
            </a:r>
            <a:r>
              <a:rPr spc="-35" dirty="0"/>
              <a:t> </a:t>
            </a:r>
            <a:r>
              <a:rPr spc="75" dirty="0"/>
              <a:t>a</a:t>
            </a:r>
            <a:r>
              <a:rPr spc="-35" dirty="0"/>
              <a:t> </a:t>
            </a:r>
            <a:r>
              <a:rPr spc="204" dirty="0"/>
              <a:t>rolebinding</a:t>
            </a:r>
            <a:r>
              <a:rPr spc="-35" dirty="0"/>
              <a:t> </a:t>
            </a:r>
            <a:r>
              <a:rPr spc="275" dirty="0"/>
              <a:t>in</a:t>
            </a:r>
            <a:r>
              <a:rPr spc="-35" dirty="0"/>
              <a:t> </a:t>
            </a:r>
            <a:r>
              <a:rPr spc="160" dirty="0"/>
              <a:t>declarative</a:t>
            </a:r>
            <a:r>
              <a:rPr spc="-35" dirty="0"/>
              <a:t> </a:t>
            </a:r>
            <a:r>
              <a:rPr spc="160" dirty="0"/>
              <a:t>way:</a:t>
            </a:r>
          </a:p>
        </p:txBody>
      </p:sp>
      <p:sp>
        <p:nvSpPr>
          <p:cNvPr id="4" name="object 4"/>
          <p:cNvSpPr txBox="1"/>
          <p:nvPr/>
        </p:nvSpPr>
        <p:spPr>
          <a:xfrm>
            <a:off x="2773550" y="8431255"/>
            <a:ext cx="4392930" cy="528320"/>
          </a:xfrm>
          <a:prstGeom prst="rect">
            <a:avLst/>
          </a:prstGeom>
        </p:spPr>
        <p:txBody>
          <a:bodyPr vert="horz" wrap="square" lIns="0" tIns="12700" rIns="0" bIns="0" rtlCol="0">
            <a:spAutoFit/>
          </a:bodyPr>
          <a:lstStyle/>
          <a:p>
            <a:pPr marL="12700">
              <a:lnSpc>
                <a:spcPct val="100000"/>
              </a:lnSpc>
              <a:spcBef>
                <a:spcPts val="100"/>
              </a:spcBef>
            </a:pPr>
            <a:r>
              <a:rPr sz="3300" dirty="0">
                <a:solidFill>
                  <a:srgbClr val="FF3131"/>
                </a:solidFill>
                <a:latin typeface="Georgia"/>
                <a:cs typeface="Georgia"/>
              </a:rPr>
              <a:t>kubectl</a:t>
            </a:r>
            <a:r>
              <a:rPr sz="3300" spc="100" dirty="0">
                <a:solidFill>
                  <a:srgbClr val="FF3131"/>
                </a:solidFill>
                <a:latin typeface="Georgia"/>
                <a:cs typeface="Georgia"/>
              </a:rPr>
              <a:t> </a:t>
            </a:r>
            <a:r>
              <a:rPr sz="3300" dirty="0">
                <a:solidFill>
                  <a:srgbClr val="FF3131"/>
                </a:solidFill>
                <a:latin typeface="Georgia"/>
                <a:cs typeface="Georgia"/>
              </a:rPr>
              <a:t>create</a:t>
            </a:r>
            <a:r>
              <a:rPr sz="3300" spc="105" dirty="0">
                <a:solidFill>
                  <a:srgbClr val="FF3131"/>
                </a:solidFill>
                <a:latin typeface="Georgia"/>
                <a:cs typeface="Georgia"/>
              </a:rPr>
              <a:t> </a:t>
            </a:r>
            <a:r>
              <a:rPr sz="3300" dirty="0">
                <a:solidFill>
                  <a:srgbClr val="FF3131"/>
                </a:solidFill>
                <a:latin typeface="Georgia"/>
                <a:cs typeface="Georgia"/>
              </a:rPr>
              <a:t>-</a:t>
            </a:r>
            <a:r>
              <a:rPr sz="3300" spc="50" dirty="0">
                <a:solidFill>
                  <a:srgbClr val="FF3131"/>
                </a:solidFill>
                <a:latin typeface="Georgia"/>
                <a:cs typeface="Georgia"/>
              </a:rPr>
              <a:t>f</a:t>
            </a:r>
            <a:r>
              <a:rPr sz="3300" spc="105" dirty="0">
                <a:solidFill>
                  <a:srgbClr val="FF3131"/>
                </a:solidFill>
                <a:latin typeface="Georgia"/>
                <a:cs typeface="Georgia"/>
              </a:rPr>
              <a:t> </a:t>
            </a:r>
            <a:r>
              <a:rPr sz="3300" spc="-10" dirty="0">
                <a:solidFill>
                  <a:srgbClr val="FF3131"/>
                </a:solidFill>
                <a:latin typeface="Georgia"/>
                <a:cs typeface="Georgia"/>
              </a:rPr>
              <a:t>rb.yml</a:t>
            </a:r>
            <a:endParaRPr sz="3300">
              <a:latin typeface="Georgia"/>
              <a:cs typeface="Georgia"/>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11699" y="1437825"/>
            <a:ext cx="15283180" cy="3681729"/>
          </a:xfrm>
          <a:prstGeom prst="rect">
            <a:avLst/>
          </a:prstGeom>
        </p:spPr>
        <p:txBody>
          <a:bodyPr vert="horz" wrap="square" lIns="0" tIns="90805" rIns="0" bIns="0" rtlCol="0">
            <a:spAutoFit/>
          </a:bodyPr>
          <a:lstStyle/>
          <a:p>
            <a:pPr marL="12700">
              <a:lnSpc>
                <a:spcPct val="100000"/>
              </a:lnSpc>
              <a:spcBef>
                <a:spcPts val="715"/>
              </a:spcBef>
              <a:tabLst>
                <a:tab pos="3338829" algn="l"/>
              </a:tabLst>
            </a:pPr>
            <a:r>
              <a:rPr sz="3300" dirty="0">
                <a:solidFill>
                  <a:srgbClr val="2E377E"/>
                </a:solidFill>
                <a:latin typeface="Georgia"/>
                <a:cs typeface="Georgia"/>
              </a:rPr>
              <a:t>Imperative</a:t>
            </a:r>
            <a:r>
              <a:rPr sz="3300" spc="70" dirty="0">
                <a:solidFill>
                  <a:srgbClr val="2E377E"/>
                </a:solidFill>
                <a:latin typeface="Georgia"/>
                <a:cs typeface="Georgia"/>
              </a:rPr>
              <a:t> </a:t>
            </a:r>
            <a:r>
              <a:rPr sz="3300" spc="114" dirty="0">
                <a:solidFill>
                  <a:srgbClr val="2E377E"/>
                </a:solidFill>
                <a:latin typeface="Georgia"/>
                <a:cs typeface="Georgia"/>
              </a:rPr>
              <a:t>way</a:t>
            </a:r>
            <a:r>
              <a:rPr sz="3300" spc="75" dirty="0">
                <a:solidFill>
                  <a:srgbClr val="2E377E"/>
                </a:solidFill>
                <a:latin typeface="Georgia"/>
                <a:cs typeface="Georgia"/>
              </a:rPr>
              <a:t> </a:t>
            </a:r>
            <a:r>
              <a:rPr sz="3300" spc="-50" dirty="0">
                <a:solidFill>
                  <a:srgbClr val="2E377E"/>
                </a:solidFill>
                <a:latin typeface="Georgia"/>
                <a:cs typeface="Georgia"/>
              </a:rPr>
              <a:t>:</a:t>
            </a:r>
            <a:r>
              <a:rPr sz="3300" dirty="0">
                <a:solidFill>
                  <a:srgbClr val="2E377E"/>
                </a:solidFill>
                <a:latin typeface="Georgia"/>
                <a:cs typeface="Georgia"/>
              </a:rPr>
              <a:t>	</a:t>
            </a:r>
            <a:r>
              <a:rPr sz="3300" dirty="0">
                <a:solidFill>
                  <a:srgbClr val="E7181F"/>
                </a:solidFill>
                <a:latin typeface="Georgia"/>
                <a:cs typeface="Georgia"/>
              </a:rPr>
              <a:t>kubectl</a:t>
            </a:r>
            <a:r>
              <a:rPr sz="3300" spc="325" dirty="0">
                <a:solidFill>
                  <a:srgbClr val="E7181F"/>
                </a:solidFill>
                <a:latin typeface="Georgia"/>
                <a:cs typeface="Georgia"/>
              </a:rPr>
              <a:t> </a:t>
            </a:r>
            <a:r>
              <a:rPr sz="3300" dirty="0">
                <a:solidFill>
                  <a:srgbClr val="E7181F"/>
                </a:solidFill>
                <a:latin typeface="Georgia"/>
                <a:cs typeface="Georgia"/>
              </a:rPr>
              <a:t>create</a:t>
            </a:r>
            <a:r>
              <a:rPr sz="3300" spc="330" dirty="0">
                <a:solidFill>
                  <a:srgbClr val="E7181F"/>
                </a:solidFill>
                <a:latin typeface="Georgia"/>
                <a:cs typeface="Georgia"/>
              </a:rPr>
              <a:t> </a:t>
            </a:r>
            <a:r>
              <a:rPr sz="3300" dirty="0">
                <a:solidFill>
                  <a:srgbClr val="E7181F"/>
                </a:solidFill>
                <a:latin typeface="Georgia"/>
                <a:cs typeface="Georgia"/>
              </a:rPr>
              <a:t>clusterrolebinding</a:t>
            </a:r>
            <a:r>
              <a:rPr sz="3300" spc="325" dirty="0">
                <a:solidFill>
                  <a:srgbClr val="E7181F"/>
                </a:solidFill>
                <a:latin typeface="Georgia"/>
                <a:cs typeface="Georgia"/>
              </a:rPr>
              <a:t> </a:t>
            </a:r>
            <a:r>
              <a:rPr sz="3300" dirty="0">
                <a:solidFill>
                  <a:srgbClr val="E7181F"/>
                </a:solidFill>
                <a:latin typeface="Georgia"/>
                <a:cs typeface="Georgia"/>
              </a:rPr>
              <a:t>cluster-binding-</a:t>
            </a:r>
            <a:r>
              <a:rPr sz="3300" spc="-20" dirty="0">
                <a:solidFill>
                  <a:srgbClr val="E7181F"/>
                </a:solidFill>
                <a:latin typeface="Georgia"/>
                <a:cs typeface="Georgia"/>
              </a:rPr>
              <a:t>name</a:t>
            </a:r>
            <a:endParaRPr sz="3300">
              <a:latin typeface="Georgia"/>
              <a:cs typeface="Georgia"/>
            </a:endParaRPr>
          </a:p>
          <a:p>
            <a:pPr marL="12700">
              <a:lnSpc>
                <a:spcPct val="100000"/>
              </a:lnSpc>
              <a:spcBef>
                <a:spcPts val="615"/>
              </a:spcBef>
            </a:pPr>
            <a:r>
              <a:rPr sz="3300" dirty="0">
                <a:solidFill>
                  <a:srgbClr val="E7181F"/>
                </a:solidFill>
                <a:latin typeface="Georgia"/>
                <a:cs typeface="Georgia"/>
              </a:rPr>
              <a:t>--clusterrole=role-name</a:t>
            </a:r>
            <a:r>
              <a:rPr sz="3300" spc="135" dirty="0">
                <a:solidFill>
                  <a:srgbClr val="E7181F"/>
                </a:solidFill>
                <a:latin typeface="Georgia"/>
                <a:cs typeface="Georgia"/>
              </a:rPr>
              <a:t> </a:t>
            </a:r>
            <a:r>
              <a:rPr sz="3300" dirty="0">
                <a:solidFill>
                  <a:srgbClr val="E7181F"/>
                </a:solidFill>
                <a:latin typeface="Georgia"/>
                <a:cs typeface="Georgia"/>
              </a:rPr>
              <a:t>--</a:t>
            </a:r>
            <a:r>
              <a:rPr sz="3300" spc="-10" dirty="0">
                <a:solidFill>
                  <a:srgbClr val="E7181F"/>
                </a:solidFill>
                <a:latin typeface="Georgia"/>
                <a:cs typeface="Georgia"/>
              </a:rPr>
              <a:t>user=user-</a:t>
            </a:r>
            <a:r>
              <a:rPr sz="3300" spc="-20" dirty="0">
                <a:solidFill>
                  <a:srgbClr val="E7181F"/>
                </a:solidFill>
                <a:latin typeface="Georgia"/>
                <a:cs typeface="Georgia"/>
              </a:rPr>
              <a:t>name</a:t>
            </a:r>
            <a:endParaRPr sz="3300">
              <a:latin typeface="Georgia"/>
              <a:cs typeface="Georgia"/>
            </a:endParaRPr>
          </a:p>
          <a:p>
            <a:pPr marL="12700">
              <a:lnSpc>
                <a:spcPct val="100000"/>
              </a:lnSpc>
              <a:spcBef>
                <a:spcPts val="1950"/>
              </a:spcBef>
            </a:pPr>
            <a:r>
              <a:rPr sz="3300" dirty="0">
                <a:solidFill>
                  <a:srgbClr val="2E377E"/>
                </a:solidFill>
                <a:latin typeface="Georgia"/>
                <a:cs typeface="Georgia"/>
              </a:rPr>
              <a:t>To</a:t>
            </a:r>
            <a:r>
              <a:rPr sz="3300" spc="5" dirty="0">
                <a:solidFill>
                  <a:srgbClr val="2E377E"/>
                </a:solidFill>
                <a:latin typeface="Georgia"/>
                <a:cs typeface="Georgia"/>
              </a:rPr>
              <a:t> </a:t>
            </a:r>
            <a:r>
              <a:rPr sz="3300" dirty="0">
                <a:solidFill>
                  <a:srgbClr val="2E377E"/>
                </a:solidFill>
                <a:latin typeface="Georgia"/>
                <a:cs typeface="Georgia"/>
              </a:rPr>
              <a:t>see</a:t>
            </a:r>
            <a:r>
              <a:rPr sz="3300" spc="5" dirty="0">
                <a:solidFill>
                  <a:srgbClr val="2E377E"/>
                </a:solidFill>
                <a:latin typeface="Georgia"/>
                <a:cs typeface="Georgia"/>
              </a:rPr>
              <a:t> </a:t>
            </a:r>
            <a:r>
              <a:rPr sz="3300" dirty="0">
                <a:solidFill>
                  <a:srgbClr val="2E377E"/>
                </a:solidFill>
                <a:latin typeface="Georgia"/>
                <a:cs typeface="Georgia"/>
              </a:rPr>
              <a:t>list</a:t>
            </a:r>
            <a:r>
              <a:rPr sz="3300" spc="5" dirty="0">
                <a:solidFill>
                  <a:srgbClr val="2E377E"/>
                </a:solidFill>
                <a:latin typeface="Georgia"/>
                <a:cs typeface="Georgia"/>
              </a:rPr>
              <a:t> </a:t>
            </a:r>
            <a:r>
              <a:rPr sz="3300" dirty="0">
                <a:solidFill>
                  <a:srgbClr val="2E377E"/>
                </a:solidFill>
                <a:latin typeface="Georgia"/>
                <a:cs typeface="Georgia"/>
              </a:rPr>
              <a:t>of</a:t>
            </a:r>
            <a:r>
              <a:rPr sz="3300" spc="5" dirty="0">
                <a:solidFill>
                  <a:srgbClr val="2E377E"/>
                </a:solidFill>
                <a:latin typeface="Georgia"/>
                <a:cs typeface="Georgia"/>
              </a:rPr>
              <a:t> </a:t>
            </a:r>
            <a:r>
              <a:rPr sz="3300" dirty="0">
                <a:solidFill>
                  <a:srgbClr val="2E377E"/>
                </a:solidFill>
                <a:latin typeface="Georgia"/>
                <a:cs typeface="Georgia"/>
              </a:rPr>
              <a:t>clusterbindings:</a:t>
            </a:r>
            <a:r>
              <a:rPr sz="3300" spc="10" dirty="0">
                <a:solidFill>
                  <a:srgbClr val="2E377E"/>
                </a:solidFill>
                <a:latin typeface="Georgia"/>
                <a:cs typeface="Georgia"/>
              </a:rPr>
              <a:t> </a:t>
            </a:r>
            <a:r>
              <a:rPr sz="3300" dirty="0">
                <a:solidFill>
                  <a:srgbClr val="E7181F"/>
                </a:solidFill>
                <a:latin typeface="Georgia"/>
                <a:cs typeface="Georgia"/>
              </a:rPr>
              <a:t>kubectl</a:t>
            </a:r>
            <a:r>
              <a:rPr sz="3300" spc="5" dirty="0">
                <a:solidFill>
                  <a:srgbClr val="E7181F"/>
                </a:solidFill>
                <a:latin typeface="Georgia"/>
                <a:cs typeface="Georgia"/>
              </a:rPr>
              <a:t> </a:t>
            </a:r>
            <a:r>
              <a:rPr sz="3300" spc="60" dirty="0">
                <a:solidFill>
                  <a:srgbClr val="E7181F"/>
                </a:solidFill>
                <a:latin typeface="Georgia"/>
                <a:cs typeface="Georgia"/>
              </a:rPr>
              <a:t>get</a:t>
            </a:r>
            <a:r>
              <a:rPr sz="3300" spc="5" dirty="0">
                <a:solidFill>
                  <a:srgbClr val="E7181F"/>
                </a:solidFill>
                <a:latin typeface="Georgia"/>
                <a:cs typeface="Georgia"/>
              </a:rPr>
              <a:t> </a:t>
            </a:r>
            <a:r>
              <a:rPr sz="3300" spc="-10" dirty="0">
                <a:solidFill>
                  <a:srgbClr val="E7181F"/>
                </a:solidFill>
                <a:latin typeface="Georgia"/>
                <a:cs typeface="Georgia"/>
              </a:rPr>
              <a:t>clusterrolebindings</a:t>
            </a:r>
            <a:endParaRPr sz="3300">
              <a:latin typeface="Georgia"/>
              <a:cs typeface="Georgia"/>
            </a:endParaRPr>
          </a:p>
          <a:p>
            <a:pPr marL="12700" marR="5080">
              <a:lnSpc>
                <a:spcPct val="115500"/>
              </a:lnSpc>
            </a:pPr>
            <a:r>
              <a:rPr sz="3300" dirty="0">
                <a:solidFill>
                  <a:srgbClr val="2E377E"/>
                </a:solidFill>
                <a:latin typeface="Georgia"/>
                <a:cs typeface="Georgia"/>
              </a:rPr>
              <a:t>To</a:t>
            </a:r>
            <a:r>
              <a:rPr sz="3300" spc="5" dirty="0">
                <a:solidFill>
                  <a:srgbClr val="2E377E"/>
                </a:solidFill>
                <a:latin typeface="Georgia"/>
                <a:cs typeface="Georgia"/>
              </a:rPr>
              <a:t> </a:t>
            </a:r>
            <a:r>
              <a:rPr sz="3300" dirty="0">
                <a:solidFill>
                  <a:srgbClr val="2E377E"/>
                </a:solidFill>
                <a:latin typeface="Georgia"/>
                <a:cs typeface="Georgia"/>
              </a:rPr>
              <a:t>see</a:t>
            </a:r>
            <a:r>
              <a:rPr sz="3300" spc="10" dirty="0">
                <a:solidFill>
                  <a:srgbClr val="2E377E"/>
                </a:solidFill>
                <a:latin typeface="Georgia"/>
                <a:cs typeface="Georgia"/>
              </a:rPr>
              <a:t> </a:t>
            </a:r>
            <a:r>
              <a:rPr sz="3300" dirty="0">
                <a:solidFill>
                  <a:srgbClr val="2E377E"/>
                </a:solidFill>
                <a:latin typeface="Georgia"/>
                <a:cs typeface="Georgia"/>
              </a:rPr>
              <a:t>the</a:t>
            </a:r>
            <a:r>
              <a:rPr sz="3300" spc="10" dirty="0">
                <a:solidFill>
                  <a:srgbClr val="2E377E"/>
                </a:solidFill>
                <a:latin typeface="Georgia"/>
                <a:cs typeface="Georgia"/>
              </a:rPr>
              <a:t> </a:t>
            </a:r>
            <a:r>
              <a:rPr sz="3300" dirty="0">
                <a:solidFill>
                  <a:srgbClr val="2E377E"/>
                </a:solidFill>
                <a:latin typeface="Georgia"/>
                <a:cs typeface="Georgia"/>
              </a:rPr>
              <a:t>list</a:t>
            </a:r>
            <a:r>
              <a:rPr sz="3300" spc="10" dirty="0">
                <a:solidFill>
                  <a:srgbClr val="2E377E"/>
                </a:solidFill>
                <a:latin typeface="Georgia"/>
                <a:cs typeface="Georgia"/>
              </a:rPr>
              <a:t> </a:t>
            </a:r>
            <a:r>
              <a:rPr sz="3300" dirty="0">
                <a:solidFill>
                  <a:srgbClr val="2E377E"/>
                </a:solidFill>
                <a:latin typeface="Georgia"/>
                <a:cs typeface="Georgia"/>
              </a:rPr>
              <a:t>users</a:t>
            </a:r>
            <a:r>
              <a:rPr sz="3300" spc="10" dirty="0">
                <a:solidFill>
                  <a:srgbClr val="2E377E"/>
                </a:solidFill>
                <a:latin typeface="Georgia"/>
                <a:cs typeface="Georgia"/>
              </a:rPr>
              <a:t> </a:t>
            </a:r>
            <a:r>
              <a:rPr sz="3300" spc="630" dirty="0">
                <a:solidFill>
                  <a:srgbClr val="2E377E"/>
                </a:solidFill>
                <a:latin typeface="Georgia"/>
                <a:cs typeface="Georgia"/>
              </a:rPr>
              <a:t>&amp;</a:t>
            </a:r>
            <a:r>
              <a:rPr sz="3300" spc="10" dirty="0">
                <a:solidFill>
                  <a:srgbClr val="2E377E"/>
                </a:solidFill>
                <a:latin typeface="Georgia"/>
                <a:cs typeface="Georgia"/>
              </a:rPr>
              <a:t> </a:t>
            </a:r>
            <a:r>
              <a:rPr sz="3300" dirty="0">
                <a:solidFill>
                  <a:srgbClr val="2E377E"/>
                </a:solidFill>
                <a:latin typeface="Georgia"/>
                <a:cs typeface="Georgia"/>
              </a:rPr>
              <a:t>roles</a:t>
            </a:r>
            <a:r>
              <a:rPr sz="3300" spc="5" dirty="0">
                <a:solidFill>
                  <a:srgbClr val="2E377E"/>
                </a:solidFill>
                <a:latin typeface="Georgia"/>
                <a:cs typeface="Georgia"/>
              </a:rPr>
              <a:t> </a:t>
            </a:r>
            <a:r>
              <a:rPr sz="3300" dirty="0">
                <a:solidFill>
                  <a:srgbClr val="2E377E"/>
                </a:solidFill>
                <a:latin typeface="Georgia"/>
                <a:cs typeface="Georgia"/>
              </a:rPr>
              <a:t>of</a:t>
            </a:r>
            <a:r>
              <a:rPr sz="3300" spc="10" dirty="0">
                <a:solidFill>
                  <a:srgbClr val="2E377E"/>
                </a:solidFill>
                <a:latin typeface="Georgia"/>
                <a:cs typeface="Georgia"/>
              </a:rPr>
              <a:t> </a:t>
            </a:r>
            <a:r>
              <a:rPr sz="3300" dirty="0">
                <a:solidFill>
                  <a:srgbClr val="2E377E"/>
                </a:solidFill>
                <a:latin typeface="Georgia"/>
                <a:cs typeface="Georgia"/>
              </a:rPr>
              <a:t>a</a:t>
            </a:r>
            <a:r>
              <a:rPr sz="3300" spc="10" dirty="0">
                <a:solidFill>
                  <a:srgbClr val="2E377E"/>
                </a:solidFill>
                <a:latin typeface="Georgia"/>
                <a:cs typeface="Georgia"/>
              </a:rPr>
              <a:t> </a:t>
            </a:r>
            <a:r>
              <a:rPr sz="3300" dirty="0">
                <a:solidFill>
                  <a:srgbClr val="2E377E"/>
                </a:solidFill>
                <a:latin typeface="Georgia"/>
                <a:cs typeface="Georgia"/>
              </a:rPr>
              <a:t>rolebinding</a:t>
            </a:r>
            <a:r>
              <a:rPr sz="3300" spc="10" dirty="0">
                <a:solidFill>
                  <a:srgbClr val="2E377E"/>
                </a:solidFill>
                <a:latin typeface="Georgia"/>
                <a:cs typeface="Georgia"/>
              </a:rPr>
              <a:t> </a:t>
            </a:r>
            <a:r>
              <a:rPr sz="3300" spc="-235" dirty="0">
                <a:solidFill>
                  <a:srgbClr val="2E377E"/>
                </a:solidFill>
                <a:latin typeface="Georgia"/>
                <a:cs typeface="Georgia"/>
              </a:rPr>
              <a:t>:</a:t>
            </a:r>
            <a:r>
              <a:rPr sz="3300" spc="10" dirty="0">
                <a:solidFill>
                  <a:srgbClr val="2E377E"/>
                </a:solidFill>
                <a:latin typeface="Georgia"/>
                <a:cs typeface="Georgia"/>
              </a:rPr>
              <a:t> </a:t>
            </a:r>
            <a:r>
              <a:rPr sz="3300" dirty="0">
                <a:solidFill>
                  <a:srgbClr val="E7181F"/>
                </a:solidFill>
                <a:latin typeface="Georgia"/>
                <a:cs typeface="Georgia"/>
              </a:rPr>
              <a:t>kubectl</a:t>
            </a:r>
            <a:r>
              <a:rPr sz="3300" spc="10" dirty="0">
                <a:solidFill>
                  <a:srgbClr val="E7181F"/>
                </a:solidFill>
                <a:latin typeface="Georgia"/>
                <a:cs typeface="Georgia"/>
              </a:rPr>
              <a:t> </a:t>
            </a:r>
            <a:r>
              <a:rPr sz="3300" dirty="0">
                <a:solidFill>
                  <a:srgbClr val="E7181F"/>
                </a:solidFill>
                <a:latin typeface="Georgia"/>
                <a:cs typeface="Georgia"/>
              </a:rPr>
              <a:t>describe</a:t>
            </a:r>
            <a:r>
              <a:rPr sz="3300" spc="5" dirty="0">
                <a:solidFill>
                  <a:srgbClr val="E7181F"/>
                </a:solidFill>
                <a:latin typeface="Georgia"/>
                <a:cs typeface="Georgia"/>
              </a:rPr>
              <a:t> </a:t>
            </a:r>
            <a:r>
              <a:rPr sz="3300" spc="-10" dirty="0">
                <a:solidFill>
                  <a:srgbClr val="E7181F"/>
                </a:solidFill>
                <a:latin typeface="Georgia"/>
                <a:cs typeface="Georgia"/>
              </a:rPr>
              <a:t>clusterrolebindings </a:t>
            </a:r>
            <a:r>
              <a:rPr sz="3300" dirty="0">
                <a:solidFill>
                  <a:srgbClr val="E7181F"/>
                </a:solidFill>
                <a:latin typeface="Georgia"/>
                <a:cs typeface="Georgia"/>
              </a:rPr>
              <a:t>clusterbinding-</a:t>
            </a:r>
            <a:r>
              <a:rPr sz="3300" spc="-20" dirty="0">
                <a:solidFill>
                  <a:srgbClr val="E7181F"/>
                </a:solidFill>
                <a:latin typeface="Georgia"/>
                <a:cs typeface="Georgia"/>
              </a:rPr>
              <a:t>name</a:t>
            </a:r>
            <a:endParaRPr sz="3300">
              <a:latin typeface="Georgia"/>
              <a:cs typeface="Georgia"/>
            </a:endParaRPr>
          </a:p>
          <a:p>
            <a:pPr marL="12700">
              <a:lnSpc>
                <a:spcPct val="100000"/>
              </a:lnSpc>
              <a:spcBef>
                <a:spcPts val="615"/>
              </a:spcBef>
            </a:pPr>
            <a:r>
              <a:rPr sz="3300" dirty="0">
                <a:solidFill>
                  <a:srgbClr val="2E377E"/>
                </a:solidFill>
                <a:latin typeface="Georgia"/>
                <a:cs typeface="Georgia"/>
              </a:rPr>
              <a:t>To</a:t>
            </a:r>
            <a:r>
              <a:rPr sz="3300" spc="90" dirty="0">
                <a:solidFill>
                  <a:srgbClr val="2E377E"/>
                </a:solidFill>
                <a:latin typeface="Georgia"/>
                <a:cs typeface="Georgia"/>
              </a:rPr>
              <a:t> </a:t>
            </a:r>
            <a:r>
              <a:rPr sz="3300" dirty="0">
                <a:solidFill>
                  <a:srgbClr val="2E377E"/>
                </a:solidFill>
                <a:latin typeface="Georgia"/>
                <a:cs typeface="Georgia"/>
              </a:rPr>
              <a:t>delete</a:t>
            </a:r>
            <a:r>
              <a:rPr sz="3300" spc="90" dirty="0">
                <a:solidFill>
                  <a:srgbClr val="2E377E"/>
                </a:solidFill>
                <a:latin typeface="Georgia"/>
                <a:cs typeface="Georgia"/>
              </a:rPr>
              <a:t> </a:t>
            </a:r>
            <a:r>
              <a:rPr sz="3300" dirty="0">
                <a:solidFill>
                  <a:srgbClr val="2E377E"/>
                </a:solidFill>
                <a:latin typeface="Georgia"/>
                <a:cs typeface="Georgia"/>
              </a:rPr>
              <a:t>a</a:t>
            </a:r>
            <a:r>
              <a:rPr sz="3300" spc="90" dirty="0">
                <a:solidFill>
                  <a:srgbClr val="2E377E"/>
                </a:solidFill>
                <a:latin typeface="Georgia"/>
                <a:cs typeface="Georgia"/>
              </a:rPr>
              <a:t> </a:t>
            </a:r>
            <a:r>
              <a:rPr sz="3300" dirty="0">
                <a:solidFill>
                  <a:srgbClr val="2E377E"/>
                </a:solidFill>
                <a:latin typeface="Georgia"/>
                <a:cs typeface="Georgia"/>
              </a:rPr>
              <a:t>role</a:t>
            </a:r>
            <a:r>
              <a:rPr sz="3300" spc="95" dirty="0">
                <a:solidFill>
                  <a:srgbClr val="2E377E"/>
                </a:solidFill>
                <a:latin typeface="Georgia"/>
                <a:cs typeface="Georgia"/>
              </a:rPr>
              <a:t> </a:t>
            </a:r>
            <a:r>
              <a:rPr sz="3300" spc="-235" dirty="0">
                <a:solidFill>
                  <a:srgbClr val="2E377E"/>
                </a:solidFill>
                <a:latin typeface="Georgia"/>
                <a:cs typeface="Georgia"/>
              </a:rPr>
              <a:t>:</a:t>
            </a:r>
            <a:r>
              <a:rPr sz="3300" spc="90" dirty="0">
                <a:solidFill>
                  <a:srgbClr val="2E377E"/>
                </a:solidFill>
                <a:latin typeface="Georgia"/>
                <a:cs typeface="Georgia"/>
              </a:rPr>
              <a:t> </a:t>
            </a:r>
            <a:r>
              <a:rPr sz="3300" dirty="0">
                <a:solidFill>
                  <a:srgbClr val="FF3131"/>
                </a:solidFill>
                <a:latin typeface="Georgia"/>
                <a:cs typeface="Georgia"/>
              </a:rPr>
              <a:t>kubectl</a:t>
            </a:r>
            <a:r>
              <a:rPr sz="3300" spc="90" dirty="0">
                <a:solidFill>
                  <a:srgbClr val="FF3131"/>
                </a:solidFill>
                <a:latin typeface="Georgia"/>
                <a:cs typeface="Georgia"/>
              </a:rPr>
              <a:t> </a:t>
            </a:r>
            <a:r>
              <a:rPr sz="3300" dirty="0">
                <a:solidFill>
                  <a:srgbClr val="FF3131"/>
                </a:solidFill>
                <a:latin typeface="Georgia"/>
                <a:cs typeface="Georgia"/>
              </a:rPr>
              <a:t>delete</a:t>
            </a:r>
            <a:r>
              <a:rPr sz="3300" spc="95" dirty="0">
                <a:solidFill>
                  <a:srgbClr val="FF3131"/>
                </a:solidFill>
                <a:latin typeface="Georgia"/>
                <a:cs typeface="Georgia"/>
              </a:rPr>
              <a:t> </a:t>
            </a:r>
            <a:r>
              <a:rPr sz="3300" dirty="0">
                <a:solidFill>
                  <a:srgbClr val="FF3131"/>
                </a:solidFill>
                <a:latin typeface="Georgia"/>
                <a:cs typeface="Georgia"/>
              </a:rPr>
              <a:t>clusterrolebindings</a:t>
            </a:r>
            <a:r>
              <a:rPr sz="3300" spc="90" dirty="0">
                <a:solidFill>
                  <a:srgbClr val="FF3131"/>
                </a:solidFill>
                <a:latin typeface="Georgia"/>
                <a:cs typeface="Georgia"/>
              </a:rPr>
              <a:t> </a:t>
            </a:r>
            <a:r>
              <a:rPr sz="3300" dirty="0">
                <a:solidFill>
                  <a:srgbClr val="FF3131"/>
                </a:solidFill>
                <a:latin typeface="Georgia"/>
                <a:cs typeface="Georgia"/>
              </a:rPr>
              <a:t>clusterbinding-</a:t>
            </a:r>
            <a:r>
              <a:rPr sz="3300" spc="-20" dirty="0">
                <a:solidFill>
                  <a:srgbClr val="FF3131"/>
                </a:solidFill>
                <a:latin typeface="Georgia"/>
                <a:cs typeface="Georgia"/>
              </a:rPr>
              <a:t>name</a:t>
            </a:r>
            <a:endParaRPr sz="3300">
              <a:latin typeface="Georgia"/>
              <a:cs typeface="Georgia"/>
            </a:endParaRPr>
          </a:p>
        </p:txBody>
      </p:sp>
      <p:sp>
        <p:nvSpPr>
          <p:cNvPr id="3" name="object 3"/>
          <p:cNvSpPr txBox="1">
            <a:spLocks noGrp="1"/>
          </p:cNvSpPr>
          <p:nvPr>
            <p:ph type="title"/>
          </p:nvPr>
        </p:nvSpPr>
        <p:spPr>
          <a:xfrm>
            <a:off x="811699" y="355669"/>
            <a:ext cx="14422755" cy="787400"/>
          </a:xfrm>
          <a:prstGeom prst="rect">
            <a:avLst/>
          </a:prstGeom>
        </p:spPr>
        <p:txBody>
          <a:bodyPr vert="horz" wrap="square" lIns="0" tIns="12700" rIns="0" bIns="0" rtlCol="0">
            <a:spAutoFit/>
          </a:bodyPr>
          <a:lstStyle/>
          <a:p>
            <a:pPr marL="12700">
              <a:lnSpc>
                <a:spcPct val="100000"/>
              </a:lnSpc>
              <a:spcBef>
                <a:spcPts val="100"/>
              </a:spcBef>
            </a:pPr>
            <a:r>
              <a:rPr spc="130" dirty="0"/>
              <a:t>creating</a:t>
            </a:r>
            <a:r>
              <a:rPr spc="-50" dirty="0"/>
              <a:t> </a:t>
            </a:r>
            <a:r>
              <a:rPr spc="75" dirty="0"/>
              <a:t>a</a:t>
            </a:r>
            <a:r>
              <a:rPr spc="-45" dirty="0"/>
              <a:t> </a:t>
            </a:r>
            <a:r>
              <a:rPr spc="185" dirty="0"/>
              <a:t>clusterrolebindings</a:t>
            </a:r>
            <a:r>
              <a:rPr spc="-45" dirty="0"/>
              <a:t> </a:t>
            </a:r>
            <a:r>
              <a:rPr spc="275" dirty="0"/>
              <a:t>in</a:t>
            </a:r>
            <a:r>
              <a:rPr spc="-45" dirty="0"/>
              <a:t> </a:t>
            </a:r>
            <a:r>
              <a:rPr spc="215" dirty="0"/>
              <a:t>imperative</a:t>
            </a:r>
            <a:r>
              <a:rPr spc="-45" dirty="0"/>
              <a:t> </a:t>
            </a:r>
            <a:r>
              <a:rPr spc="160" dirty="0"/>
              <a:t>way:</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24399" y="2071897"/>
            <a:ext cx="11410949" cy="6143624"/>
          </a:xfrm>
          <a:prstGeom prst="rect">
            <a:avLst/>
          </a:prstGeom>
        </p:spPr>
      </p:pic>
      <p:sp>
        <p:nvSpPr>
          <p:cNvPr id="3" name="object 3"/>
          <p:cNvSpPr txBox="1">
            <a:spLocks noGrp="1"/>
          </p:cNvSpPr>
          <p:nvPr>
            <p:ph type="title"/>
          </p:nvPr>
        </p:nvSpPr>
        <p:spPr>
          <a:prstGeom prst="rect">
            <a:avLst/>
          </a:prstGeom>
        </p:spPr>
        <p:txBody>
          <a:bodyPr vert="horz" wrap="square" lIns="0" tIns="288619" rIns="0" bIns="0" rtlCol="0">
            <a:spAutoFit/>
          </a:bodyPr>
          <a:lstStyle/>
          <a:p>
            <a:pPr marL="238760">
              <a:lnSpc>
                <a:spcPct val="100000"/>
              </a:lnSpc>
              <a:spcBef>
                <a:spcPts val="100"/>
              </a:spcBef>
            </a:pPr>
            <a:r>
              <a:rPr spc="130" dirty="0"/>
              <a:t>creating</a:t>
            </a:r>
            <a:r>
              <a:rPr spc="-55" dirty="0"/>
              <a:t> </a:t>
            </a:r>
            <a:r>
              <a:rPr spc="75" dirty="0"/>
              <a:t>a</a:t>
            </a:r>
            <a:r>
              <a:rPr spc="-40" dirty="0"/>
              <a:t> </a:t>
            </a:r>
            <a:r>
              <a:rPr spc="155" dirty="0"/>
              <a:t>clusterroleBinding</a:t>
            </a:r>
            <a:r>
              <a:rPr spc="-40" dirty="0"/>
              <a:t> </a:t>
            </a:r>
            <a:r>
              <a:rPr spc="275" dirty="0"/>
              <a:t>in</a:t>
            </a:r>
            <a:r>
              <a:rPr spc="-40" dirty="0"/>
              <a:t> </a:t>
            </a:r>
            <a:r>
              <a:rPr spc="160" dirty="0"/>
              <a:t>declarative</a:t>
            </a:r>
            <a:r>
              <a:rPr spc="-40" dirty="0"/>
              <a:t> </a:t>
            </a:r>
            <a:r>
              <a:rPr spc="160" dirty="0"/>
              <a:t>way:</a:t>
            </a:r>
          </a:p>
        </p:txBody>
      </p:sp>
      <p:sp>
        <p:nvSpPr>
          <p:cNvPr id="4" name="object 4"/>
          <p:cNvSpPr txBox="1"/>
          <p:nvPr/>
        </p:nvSpPr>
        <p:spPr>
          <a:xfrm>
            <a:off x="2773550" y="8431254"/>
            <a:ext cx="4413885" cy="528320"/>
          </a:xfrm>
          <a:prstGeom prst="rect">
            <a:avLst/>
          </a:prstGeom>
        </p:spPr>
        <p:txBody>
          <a:bodyPr vert="horz" wrap="square" lIns="0" tIns="12700" rIns="0" bIns="0" rtlCol="0">
            <a:spAutoFit/>
          </a:bodyPr>
          <a:lstStyle/>
          <a:p>
            <a:pPr marL="12700">
              <a:lnSpc>
                <a:spcPct val="100000"/>
              </a:lnSpc>
              <a:spcBef>
                <a:spcPts val="100"/>
              </a:spcBef>
            </a:pPr>
            <a:r>
              <a:rPr sz="3300" dirty="0">
                <a:solidFill>
                  <a:srgbClr val="FF3131"/>
                </a:solidFill>
                <a:latin typeface="Georgia"/>
                <a:cs typeface="Georgia"/>
              </a:rPr>
              <a:t>kubectl</a:t>
            </a:r>
            <a:r>
              <a:rPr sz="3300" spc="100" dirty="0">
                <a:solidFill>
                  <a:srgbClr val="FF3131"/>
                </a:solidFill>
                <a:latin typeface="Georgia"/>
                <a:cs typeface="Georgia"/>
              </a:rPr>
              <a:t> </a:t>
            </a:r>
            <a:r>
              <a:rPr sz="3300" dirty="0">
                <a:solidFill>
                  <a:srgbClr val="FF3131"/>
                </a:solidFill>
                <a:latin typeface="Georgia"/>
                <a:cs typeface="Georgia"/>
              </a:rPr>
              <a:t>create</a:t>
            </a:r>
            <a:r>
              <a:rPr sz="3300" spc="105" dirty="0">
                <a:solidFill>
                  <a:srgbClr val="FF3131"/>
                </a:solidFill>
                <a:latin typeface="Georgia"/>
                <a:cs typeface="Georgia"/>
              </a:rPr>
              <a:t> </a:t>
            </a:r>
            <a:r>
              <a:rPr sz="3300" dirty="0">
                <a:solidFill>
                  <a:srgbClr val="FF3131"/>
                </a:solidFill>
                <a:latin typeface="Georgia"/>
                <a:cs typeface="Georgia"/>
              </a:rPr>
              <a:t>-</a:t>
            </a:r>
            <a:r>
              <a:rPr sz="3300" spc="50" dirty="0">
                <a:solidFill>
                  <a:srgbClr val="FF3131"/>
                </a:solidFill>
                <a:latin typeface="Georgia"/>
                <a:cs typeface="Georgia"/>
              </a:rPr>
              <a:t>f</a:t>
            </a:r>
            <a:r>
              <a:rPr sz="3300" spc="105" dirty="0">
                <a:solidFill>
                  <a:srgbClr val="FF3131"/>
                </a:solidFill>
                <a:latin typeface="Georgia"/>
                <a:cs typeface="Georgia"/>
              </a:rPr>
              <a:t> </a:t>
            </a:r>
            <a:r>
              <a:rPr sz="3300" spc="-10" dirty="0">
                <a:solidFill>
                  <a:srgbClr val="FF3131"/>
                </a:solidFill>
                <a:latin typeface="Georgia"/>
                <a:cs typeface="Georgia"/>
              </a:rPr>
              <a:t>cb.yml</a:t>
            </a:r>
            <a:endParaRPr sz="3300">
              <a:latin typeface="Georgia"/>
              <a:cs typeface="Georgia"/>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717903"/>
            <a:ext cx="13000355" cy="376491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2E377E"/>
                </a:solidFill>
                <a:latin typeface="Georgia"/>
                <a:cs typeface="Georgia"/>
              </a:rPr>
              <a:t>Now</a:t>
            </a:r>
            <a:r>
              <a:rPr sz="3600" spc="40" dirty="0">
                <a:solidFill>
                  <a:srgbClr val="2E377E"/>
                </a:solidFill>
                <a:latin typeface="Georgia"/>
                <a:cs typeface="Georgia"/>
              </a:rPr>
              <a:t> </a:t>
            </a:r>
            <a:r>
              <a:rPr sz="3600" dirty="0">
                <a:solidFill>
                  <a:srgbClr val="2E377E"/>
                </a:solidFill>
                <a:latin typeface="Georgia"/>
                <a:cs typeface="Georgia"/>
              </a:rPr>
              <a:t>lets</a:t>
            </a:r>
            <a:r>
              <a:rPr sz="3600" spc="45" dirty="0">
                <a:solidFill>
                  <a:srgbClr val="2E377E"/>
                </a:solidFill>
                <a:latin typeface="Georgia"/>
                <a:cs typeface="Georgia"/>
              </a:rPr>
              <a:t> </a:t>
            </a:r>
            <a:r>
              <a:rPr sz="3600" spc="50" dirty="0">
                <a:solidFill>
                  <a:srgbClr val="2E377E"/>
                </a:solidFill>
                <a:latin typeface="Georgia"/>
                <a:cs typeface="Georgia"/>
              </a:rPr>
              <a:t>check</a:t>
            </a:r>
            <a:r>
              <a:rPr sz="3600" spc="45" dirty="0">
                <a:solidFill>
                  <a:srgbClr val="2E377E"/>
                </a:solidFill>
                <a:latin typeface="Georgia"/>
                <a:cs typeface="Georgia"/>
              </a:rPr>
              <a:t> </a:t>
            </a:r>
            <a:r>
              <a:rPr sz="3600" dirty="0">
                <a:solidFill>
                  <a:srgbClr val="2E377E"/>
                </a:solidFill>
                <a:latin typeface="Georgia"/>
                <a:cs typeface="Georgia"/>
              </a:rPr>
              <a:t>either</a:t>
            </a:r>
            <a:r>
              <a:rPr sz="3600" spc="45" dirty="0">
                <a:solidFill>
                  <a:srgbClr val="2E377E"/>
                </a:solidFill>
                <a:latin typeface="Georgia"/>
                <a:cs typeface="Georgia"/>
              </a:rPr>
              <a:t> </a:t>
            </a:r>
            <a:r>
              <a:rPr sz="3600" spc="130" dirty="0">
                <a:solidFill>
                  <a:srgbClr val="2E377E"/>
                </a:solidFill>
                <a:latin typeface="Georgia"/>
                <a:cs typeface="Georgia"/>
              </a:rPr>
              <a:t>we</a:t>
            </a:r>
            <a:r>
              <a:rPr sz="3600" spc="40" dirty="0">
                <a:solidFill>
                  <a:srgbClr val="2E377E"/>
                </a:solidFill>
                <a:latin typeface="Georgia"/>
                <a:cs typeface="Georgia"/>
              </a:rPr>
              <a:t> </a:t>
            </a:r>
            <a:r>
              <a:rPr sz="3600" dirty="0">
                <a:solidFill>
                  <a:srgbClr val="2E377E"/>
                </a:solidFill>
                <a:latin typeface="Georgia"/>
                <a:cs typeface="Georgia"/>
              </a:rPr>
              <a:t>have</a:t>
            </a:r>
            <a:r>
              <a:rPr sz="3600" spc="45" dirty="0">
                <a:solidFill>
                  <a:srgbClr val="2E377E"/>
                </a:solidFill>
                <a:latin typeface="Georgia"/>
                <a:cs typeface="Georgia"/>
              </a:rPr>
              <a:t> </a:t>
            </a:r>
            <a:r>
              <a:rPr sz="3600" dirty="0">
                <a:solidFill>
                  <a:srgbClr val="2E377E"/>
                </a:solidFill>
                <a:latin typeface="Georgia"/>
                <a:cs typeface="Georgia"/>
              </a:rPr>
              <a:t>permissions</a:t>
            </a:r>
            <a:r>
              <a:rPr sz="3600" spc="45" dirty="0">
                <a:solidFill>
                  <a:srgbClr val="2E377E"/>
                </a:solidFill>
                <a:latin typeface="Georgia"/>
                <a:cs typeface="Georgia"/>
              </a:rPr>
              <a:t> </a:t>
            </a:r>
            <a:r>
              <a:rPr sz="3600" dirty="0">
                <a:solidFill>
                  <a:srgbClr val="2E377E"/>
                </a:solidFill>
                <a:latin typeface="Georgia"/>
                <a:cs typeface="Georgia"/>
              </a:rPr>
              <a:t>for</a:t>
            </a:r>
            <a:r>
              <a:rPr sz="3600" spc="45" dirty="0">
                <a:solidFill>
                  <a:srgbClr val="2E377E"/>
                </a:solidFill>
                <a:latin typeface="Georgia"/>
                <a:cs typeface="Georgia"/>
              </a:rPr>
              <a:t> </a:t>
            </a:r>
            <a:r>
              <a:rPr sz="3600" dirty="0">
                <a:solidFill>
                  <a:srgbClr val="2E377E"/>
                </a:solidFill>
                <a:latin typeface="Georgia"/>
                <a:cs typeface="Georgia"/>
              </a:rPr>
              <a:t>resources</a:t>
            </a:r>
            <a:r>
              <a:rPr sz="3600" spc="40" dirty="0">
                <a:solidFill>
                  <a:srgbClr val="2E377E"/>
                </a:solidFill>
                <a:latin typeface="Georgia"/>
                <a:cs typeface="Georgia"/>
              </a:rPr>
              <a:t> </a:t>
            </a:r>
            <a:r>
              <a:rPr sz="3600" dirty="0">
                <a:solidFill>
                  <a:srgbClr val="2E377E"/>
                </a:solidFill>
                <a:latin typeface="Georgia"/>
                <a:cs typeface="Georgia"/>
              </a:rPr>
              <a:t>or</a:t>
            </a:r>
            <a:r>
              <a:rPr sz="3600" spc="45" dirty="0">
                <a:solidFill>
                  <a:srgbClr val="2E377E"/>
                </a:solidFill>
                <a:latin typeface="Georgia"/>
                <a:cs typeface="Georgia"/>
              </a:rPr>
              <a:t> </a:t>
            </a:r>
            <a:r>
              <a:rPr sz="3600" spc="-20" dirty="0">
                <a:solidFill>
                  <a:srgbClr val="2E377E"/>
                </a:solidFill>
                <a:latin typeface="Georgia"/>
                <a:cs typeface="Georgia"/>
              </a:rPr>
              <a:t>not:</a:t>
            </a:r>
            <a:endParaRPr sz="3600">
              <a:latin typeface="Georgia"/>
              <a:cs typeface="Georgia"/>
            </a:endParaRPr>
          </a:p>
          <a:p>
            <a:pPr>
              <a:lnSpc>
                <a:spcPct val="100000"/>
              </a:lnSpc>
              <a:spcBef>
                <a:spcPts val="935"/>
              </a:spcBef>
            </a:pPr>
            <a:endParaRPr sz="3600">
              <a:latin typeface="Georgia"/>
              <a:cs typeface="Georgia"/>
            </a:endParaRPr>
          </a:p>
          <a:p>
            <a:pPr marL="12700" marR="7039609">
              <a:lnSpc>
                <a:spcPct val="116300"/>
              </a:lnSpc>
            </a:pPr>
            <a:r>
              <a:rPr sz="3600" spc="45" dirty="0">
                <a:solidFill>
                  <a:srgbClr val="2E377E"/>
                </a:solidFill>
                <a:latin typeface="Georgia"/>
                <a:cs typeface="Georgia"/>
              </a:rPr>
              <a:t>kubectl</a:t>
            </a:r>
            <a:r>
              <a:rPr sz="3600" spc="25" dirty="0">
                <a:solidFill>
                  <a:srgbClr val="2E377E"/>
                </a:solidFill>
                <a:latin typeface="Georgia"/>
                <a:cs typeface="Georgia"/>
              </a:rPr>
              <a:t> </a:t>
            </a:r>
            <a:r>
              <a:rPr sz="3600" dirty="0">
                <a:solidFill>
                  <a:srgbClr val="2E377E"/>
                </a:solidFill>
                <a:latin typeface="Georgia"/>
                <a:cs typeface="Georgia"/>
              </a:rPr>
              <a:t>auth</a:t>
            </a:r>
            <a:r>
              <a:rPr sz="3600" spc="30" dirty="0">
                <a:solidFill>
                  <a:srgbClr val="2E377E"/>
                </a:solidFill>
                <a:latin typeface="Georgia"/>
                <a:cs typeface="Georgia"/>
              </a:rPr>
              <a:t> </a:t>
            </a:r>
            <a:r>
              <a:rPr sz="3600" dirty="0">
                <a:solidFill>
                  <a:srgbClr val="2E377E"/>
                </a:solidFill>
                <a:latin typeface="Georgia"/>
                <a:cs typeface="Georgia"/>
              </a:rPr>
              <a:t>can-i</a:t>
            </a:r>
            <a:r>
              <a:rPr sz="3600" spc="30" dirty="0">
                <a:solidFill>
                  <a:srgbClr val="2E377E"/>
                </a:solidFill>
                <a:latin typeface="Georgia"/>
                <a:cs typeface="Georgia"/>
              </a:rPr>
              <a:t> </a:t>
            </a:r>
            <a:r>
              <a:rPr sz="3600" dirty="0">
                <a:solidFill>
                  <a:srgbClr val="2E377E"/>
                </a:solidFill>
                <a:latin typeface="Georgia"/>
                <a:cs typeface="Georgia"/>
              </a:rPr>
              <a:t>delete</a:t>
            </a:r>
            <a:r>
              <a:rPr sz="3600" spc="30" dirty="0">
                <a:solidFill>
                  <a:srgbClr val="2E377E"/>
                </a:solidFill>
                <a:latin typeface="Georgia"/>
                <a:cs typeface="Georgia"/>
              </a:rPr>
              <a:t> </a:t>
            </a:r>
            <a:r>
              <a:rPr sz="3600" spc="-25" dirty="0">
                <a:solidFill>
                  <a:srgbClr val="2E377E"/>
                </a:solidFill>
                <a:latin typeface="Georgia"/>
                <a:cs typeface="Georgia"/>
              </a:rPr>
              <a:t>pod </a:t>
            </a:r>
            <a:r>
              <a:rPr sz="3600" spc="45" dirty="0">
                <a:solidFill>
                  <a:srgbClr val="2E377E"/>
                </a:solidFill>
                <a:latin typeface="Georgia"/>
                <a:cs typeface="Georgia"/>
              </a:rPr>
              <a:t>kubectl</a:t>
            </a:r>
            <a:r>
              <a:rPr sz="3600" spc="30" dirty="0">
                <a:solidFill>
                  <a:srgbClr val="2E377E"/>
                </a:solidFill>
                <a:latin typeface="Georgia"/>
                <a:cs typeface="Georgia"/>
              </a:rPr>
              <a:t> </a:t>
            </a:r>
            <a:r>
              <a:rPr sz="3600" dirty="0">
                <a:solidFill>
                  <a:srgbClr val="2E377E"/>
                </a:solidFill>
                <a:latin typeface="Georgia"/>
                <a:cs typeface="Georgia"/>
              </a:rPr>
              <a:t>auth</a:t>
            </a:r>
            <a:r>
              <a:rPr sz="3600" spc="25" dirty="0">
                <a:solidFill>
                  <a:srgbClr val="2E377E"/>
                </a:solidFill>
                <a:latin typeface="Georgia"/>
                <a:cs typeface="Georgia"/>
              </a:rPr>
              <a:t> </a:t>
            </a:r>
            <a:r>
              <a:rPr sz="3600" dirty="0">
                <a:solidFill>
                  <a:srgbClr val="2E377E"/>
                </a:solidFill>
                <a:latin typeface="Georgia"/>
                <a:cs typeface="Georgia"/>
              </a:rPr>
              <a:t>can-i</a:t>
            </a:r>
            <a:r>
              <a:rPr sz="3600" spc="30" dirty="0">
                <a:solidFill>
                  <a:srgbClr val="2E377E"/>
                </a:solidFill>
                <a:latin typeface="Georgia"/>
                <a:cs typeface="Georgia"/>
              </a:rPr>
              <a:t> </a:t>
            </a:r>
            <a:r>
              <a:rPr sz="3600" dirty="0">
                <a:solidFill>
                  <a:srgbClr val="2E377E"/>
                </a:solidFill>
                <a:latin typeface="Georgia"/>
                <a:cs typeface="Georgia"/>
              </a:rPr>
              <a:t>create</a:t>
            </a:r>
            <a:r>
              <a:rPr sz="3600" spc="30" dirty="0">
                <a:solidFill>
                  <a:srgbClr val="2E377E"/>
                </a:solidFill>
                <a:latin typeface="Georgia"/>
                <a:cs typeface="Georgia"/>
              </a:rPr>
              <a:t> </a:t>
            </a:r>
            <a:r>
              <a:rPr sz="3600" spc="-25" dirty="0">
                <a:solidFill>
                  <a:srgbClr val="2E377E"/>
                </a:solidFill>
                <a:latin typeface="Georgia"/>
                <a:cs typeface="Georgia"/>
              </a:rPr>
              <a:t>pod</a:t>
            </a:r>
            <a:endParaRPr sz="3600">
              <a:latin typeface="Georgia"/>
              <a:cs typeface="Georgia"/>
            </a:endParaRPr>
          </a:p>
          <a:p>
            <a:pPr marL="12700" marR="5365750">
              <a:lnSpc>
                <a:spcPct val="116300"/>
              </a:lnSpc>
            </a:pPr>
            <a:r>
              <a:rPr sz="3600" spc="45" dirty="0">
                <a:solidFill>
                  <a:srgbClr val="2E377E"/>
                </a:solidFill>
                <a:latin typeface="Georgia"/>
                <a:cs typeface="Georgia"/>
              </a:rPr>
              <a:t>kubectl</a:t>
            </a:r>
            <a:r>
              <a:rPr sz="3600" spc="25" dirty="0">
                <a:solidFill>
                  <a:srgbClr val="2E377E"/>
                </a:solidFill>
                <a:latin typeface="Georgia"/>
                <a:cs typeface="Georgia"/>
              </a:rPr>
              <a:t> </a:t>
            </a:r>
            <a:r>
              <a:rPr sz="3600" dirty="0">
                <a:solidFill>
                  <a:srgbClr val="2E377E"/>
                </a:solidFill>
                <a:latin typeface="Georgia"/>
                <a:cs typeface="Georgia"/>
              </a:rPr>
              <a:t>auth</a:t>
            </a:r>
            <a:r>
              <a:rPr sz="3600" spc="30" dirty="0">
                <a:solidFill>
                  <a:srgbClr val="2E377E"/>
                </a:solidFill>
                <a:latin typeface="Georgia"/>
                <a:cs typeface="Georgia"/>
              </a:rPr>
              <a:t> </a:t>
            </a:r>
            <a:r>
              <a:rPr sz="3600" dirty="0">
                <a:solidFill>
                  <a:srgbClr val="2E377E"/>
                </a:solidFill>
                <a:latin typeface="Georgia"/>
                <a:cs typeface="Georgia"/>
              </a:rPr>
              <a:t>can-i</a:t>
            </a:r>
            <a:r>
              <a:rPr sz="3600" spc="30" dirty="0">
                <a:solidFill>
                  <a:srgbClr val="2E377E"/>
                </a:solidFill>
                <a:latin typeface="Georgia"/>
                <a:cs typeface="Georgia"/>
              </a:rPr>
              <a:t> </a:t>
            </a:r>
            <a:r>
              <a:rPr sz="3600" dirty="0">
                <a:solidFill>
                  <a:srgbClr val="2E377E"/>
                </a:solidFill>
                <a:latin typeface="Georgia"/>
                <a:cs typeface="Georgia"/>
              </a:rPr>
              <a:t>delete</a:t>
            </a:r>
            <a:r>
              <a:rPr sz="3600" spc="30" dirty="0">
                <a:solidFill>
                  <a:srgbClr val="2E377E"/>
                </a:solidFill>
                <a:latin typeface="Georgia"/>
                <a:cs typeface="Georgia"/>
              </a:rPr>
              <a:t> </a:t>
            </a:r>
            <a:r>
              <a:rPr sz="3600" spc="-10" dirty="0">
                <a:solidFill>
                  <a:srgbClr val="2E377E"/>
                </a:solidFill>
                <a:latin typeface="Georgia"/>
                <a:cs typeface="Georgia"/>
              </a:rPr>
              <a:t>deployment </a:t>
            </a:r>
            <a:r>
              <a:rPr sz="3600" spc="45" dirty="0">
                <a:solidFill>
                  <a:srgbClr val="2E377E"/>
                </a:solidFill>
                <a:latin typeface="Georgia"/>
                <a:cs typeface="Georgia"/>
              </a:rPr>
              <a:t>kubectl</a:t>
            </a:r>
            <a:r>
              <a:rPr sz="3600" spc="30" dirty="0">
                <a:solidFill>
                  <a:srgbClr val="2E377E"/>
                </a:solidFill>
                <a:latin typeface="Georgia"/>
                <a:cs typeface="Georgia"/>
              </a:rPr>
              <a:t> </a:t>
            </a:r>
            <a:r>
              <a:rPr sz="3600" dirty="0">
                <a:solidFill>
                  <a:srgbClr val="2E377E"/>
                </a:solidFill>
                <a:latin typeface="Georgia"/>
                <a:cs typeface="Georgia"/>
              </a:rPr>
              <a:t>auth</a:t>
            </a:r>
            <a:r>
              <a:rPr sz="3600" spc="25" dirty="0">
                <a:solidFill>
                  <a:srgbClr val="2E377E"/>
                </a:solidFill>
                <a:latin typeface="Georgia"/>
                <a:cs typeface="Georgia"/>
              </a:rPr>
              <a:t> </a:t>
            </a:r>
            <a:r>
              <a:rPr sz="3600" dirty="0">
                <a:solidFill>
                  <a:srgbClr val="2E377E"/>
                </a:solidFill>
                <a:latin typeface="Georgia"/>
                <a:cs typeface="Georgia"/>
              </a:rPr>
              <a:t>can-i</a:t>
            </a:r>
            <a:r>
              <a:rPr sz="3600" spc="30" dirty="0">
                <a:solidFill>
                  <a:srgbClr val="2E377E"/>
                </a:solidFill>
                <a:latin typeface="Georgia"/>
                <a:cs typeface="Georgia"/>
              </a:rPr>
              <a:t> </a:t>
            </a:r>
            <a:r>
              <a:rPr sz="3600" dirty="0">
                <a:solidFill>
                  <a:srgbClr val="2E377E"/>
                </a:solidFill>
                <a:latin typeface="Georgia"/>
                <a:cs typeface="Georgia"/>
              </a:rPr>
              <a:t>create</a:t>
            </a:r>
            <a:r>
              <a:rPr sz="3600" spc="30" dirty="0">
                <a:solidFill>
                  <a:srgbClr val="2E377E"/>
                </a:solidFill>
                <a:latin typeface="Georgia"/>
                <a:cs typeface="Georgia"/>
              </a:rPr>
              <a:t> </a:t>
            </a:r>
            <a:r>
              <a:rPr sz="3600" spc="65" dirty="0">
                <a:solidFill>
                  <a:srgbClr val="2E377E"/>
                </a:solidFill>
                <a:latin typeface="Georgia"/>
                <a:cs typeface="Georgia"/>
              </a:rPr>
              <a:t>pv</a:t>
            </a:r>
            <a:endParaRPr sz="3600">
              <a:latin typeface="Georgia"/>
              <a:cs typeface="Georgia"/>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88619" rIns="0" bIns="0" rtlCol="0">
            <a:spAutoFit/>
          </a:bodyPr>
          <a:lstStyle/>
          <a:p>
            <a:pPr marL="238760">
              <a:lnSpc>
                <a:spcPct val="100000"/>
              </a:lnSpc>
              <a:spcBef>
                <a:spcPts val="100"/>
              </a:spcBef>
            </a:pPr>
            <a:r>
              <a:rPr spc="-405" dirty="0"/>
              <a:t>PROJECT</a:t>
            </a:r>
            <a:r>
              <a:rPr spc="-20" dirty="0"/>
              <a:t> </a:t>
            </a:r>
            <a:r>
              <a:rPr dirty="0"/>
              <a:t>ON</a:t>
            </a:r>
            <a:r>
              <a:rPr spc="-20" dirty="0"/>
              <a:t> </a:t>
            </a:r>
            <a:r>
              <a:rPr spc="-310" dirty="0"/>
              <a:t>RBAC</a:t>
            </a:r>
          </a:p>
        </p:txBody>
      </p:sp>
      <p:sp>
        <p:nvSpPr>
          <p:cNvPr id="3" name="object 3"/>
          <p:cNvSpPr txBox="1"/>
          <p:nvPr/>
        </p:nvSpPr>
        <p:spPr>
          <a:xfrm>
            <a:off x="811699" y="1813448"/>
            <a:ext cx="15764510" cy="385445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Project</a:t>
            </a:r>
            <a:r>
              <a:rPr sz="3600" spc="114" dirty="0">
                <a:solidFill>
                  <a:srgbClr val="2E377E"/>
                </a:solidFill>
                <a:latin typeface="Georgia"/>
                <a:cs typeface="Georgia"/>
              </a:rPr>
              <a:t> </a:t>
            </a:r>
            <a:r>
              <a:rPr sz="3600" spc="65" dirty="0">
                <a:solidFill>
                  <a:srgbClr val="2E377E"/>
                </a:solidFill>
                <a:latin typeface="Georgia"/>
                <a:cs typeface="Georgia"/>
              </a:rPr>
              <a:t>Overview</a:t>
            </a:r>
            <a:endParaRPr sz="3600">
              <a:latin typeface="Georgia"/>
              <a:cs typeface="Georgia"/>
            </a:endParaRPr>
          </a:p>
          <a:p>
            <a:pPr marL="405765" indent="-393065">
              <a:lnSpc>
                <a:spcPct val="100000"/>
              </a:lnSpc>
              <a:spcBef>
                <a:spcPts val="705"/>
              </a:spcBef>
              <a:buAutoNum type="arabicPeriod"/>
              <a:tabLst>
                <a:tab pos="405765" algn="l"/>
              </a:tabLst>
            </a:pPr>
            <a:r>
              <a:rPr sz="3600" spc="-20" dirty="0">
                <a:solidFill>
                  <a:srgbClr val="2E377E"/>
                </a:solidFill>
                <a:latin typeface="Georgia"/>
                <a:cs typeface="Georgia"/>
              </a:rPr>
              <a:t>Namespace:</a:t>
            </a:r>
            <a:r>
              <a:rPr sz="3600" dirty="0">
                <a:solidFill>
                  <a:srgbClr val="2E377E"/>
                </a:solidFill>
                <a:latin typeface="Georgia"/>
                <a:cs typeface="Georgia"/>
              </a:rPr>
              <a:t> We’ll</a:t>
            </a:r>
            <a:r>
              <a:rPr sz="3600" spc="5" dirty="0">
                <a:solidFill>
                  <a:srgbClr val="2E377E"/>
                </a:solidFill>
                <a:latin typeface="Georgia"/>
                <a:cs typeface="Georgia"/>
              </a:rPr>
              <a:t> </a:t>
            </a:r>
            <a:r>
              <a:rPr sz="3600" dirty="0">
                <a:solidFill>
                  <a:srgbClr val="2E377E"/>
                </a:solidFill>
                <a:latin typeface="Georgia"/>
                <a:cs typeface="Georgia"/>
              </a:rPr>
              <a:t>create</a:t>
            </a:r>
            <a:r>
              <a:rPr sz="3600" spc="5" dirty="0">
                <a:solidFill>
                  <a:srgbClr val="2E377E"/>
                </a:solidFill>
                <a:latin typeface="Georgia"/>
                <a:cs typeface="Georgia"/>
              </a:rPr>
              <a:t> </a:t>
            </a:r>
            <a:r>
              <a:rPr sz="3600" dirty="0">
                <a:solidFill>
                  <a:srgbClr val="2E377E"/>
                </a:solidFill>
                <a:latin typeface="Georgia"/>
                <a:cs typeface="Georgia"/>
              </a:rPr>
              <a:t>a</a:t>
            </a:r>
            <a:r>
              <a:rPr sz="3600" spc="5" dirty="0">
                <a:solidFill>
                  <a:srgbClr val="2E377E"/>
                </a:solidFill>
                <a:latin typeface="Georgia"/>
                <a:cs typeface="Georgia"/>
              </a:rPr>
              <a:t> </a:t>
            </a:r>
            <a:r>
              <a:rPr sz="3600" dirty="0">
                <a:solidFill>
                  <a:srgbClr val="2E377E"/>
                </a:solidFill>
                <a:latin typeface="Georgia"/>
                <a:cs typeface="Georgia"/>
              </a:rPr>
              <a:t>Namespace for</a:t>
            </a:r>
            <a:r>
              <a:rPr sz="3600" spc="5" dirty="0">
                <a:solidFill>
                  <a:srgbClr val="2E377E"/>
                </a:solidFill>
                <a:latin typeface="Georgia"/>
                <a:cs typeface="Georgia"/>
              </a:rPr>
              <a:t> </a:t>
            </a:r>
            <a:r>
              <a:rPr sz="3600" dirty="0">
                <a:solidFill>
                  <a:srgbClr val="2E377E"/>
                </a:solidFill>
                <a:latin typeface="Georgia"/>
                <a:cs typeface="Georgia"/>
              </a:rPr>
              <a:t>our</a:t>
            </a:r>
            <a:r>
              <a:rPr sz="3600" spc="5" dirty="0">
                <a:solidFill>
                  <a:srgbClr val="2E377E"/>
                </a:solidFill>
                <a:latin typeface="Georgia"/>
                <a:cs typeface="Georgia"/>
              </a:rPr>
              <a:t> </a:t>
            </a:r>
            <a:r>
              <a:rPr sz="3600" dirty="0">
                <a:solidFill>
                  <a:srgbClr val="2E377E"/>
                </a:solidFill>
                <a:latin typeface="Georgia"/>
                <a:cs typeface="Georgia"/>
              </a:rPr>
              <a:t>project</a:t>
            </a:r>
            <a:r>
              <a:rPr sz="3600" spc="5" dirty="0">
                <a:solidFill>
                  <a:srgbClr val="2E377E"/>
                </a:solidFill>
                <a:latin typeface="Georgia"/>
                <a:cs typeface="Georgia"/>
              </a:rPr>
              <a:t> </a:t>
            </a:r>
            <a:r>
              <a:rPr sz="3600" dirty="0">
                <a:solidFill>
                  <a:srgbClr val="2E377E"/>
                </a:solidFill>
                <a:latin typeface="Georgia"/>
                <a:cs typeface="Georgia"/>
              </a:rPr>
              <a:t>called</a:t>
            </a:r>
            <a:r>
              <a:rPr sz="3600" spc="5" dirty="0">
                <a:solidFill>
                  <a:srgbClr val="2E377E"/>
                </a:solidFill>
                <a:latin typeface="Georgia"/>
                <a:cs typeface="Georgia"/>
              </a:rPr>
              <a:t> </a:t>
            </a:r>
            <a:r>
              <a:rPr sz="3600" dirty="0">
                <a:solidFill>
                  <a:srgbClr val="2E377E"/>
                </a:solidFill>
                <a:latin typeface="Georgia"/>
                <a:cs typeface="Georgia"/>
              </a:rPr>
              <a:t>‘my-</a:t>
            </a:r>
            <a:r>
              <a:rPr sz="3600" spc="-10" dirty="0">
                <a:solidFill>
                  <a:srgbClr val="2E377E"/>
                </a:solidFill>
                <a:latin typeface="Georgia"/>
                <a:cs typeface="Georgia"/>
              </a:rPr>
              <a:t>project’.</a:t>
            </a:r>
            <a:endParaRPr sz="3600">
              <a:latin typeface="Georgia"/>
              <a:cs typeface="Georgia"/>
            </a:endParaRPr>
          </a:p>
          <a:p>
            <a:pPr marL="434340" indent="-421640">
              <a:lnSpc>
                <a:spcPct val="100000"/>
              </a:lnSpc>
              <a:spcBef>
                <a:spcPts val="705"/>
              </a:spcBef>
              <a:buAutoNum type="arabicPeriod"/>
              <a:tabLst>
                <a:tab pos="434340" algn="l"/>
              </a:tabLst>
            </a:pPr>
            <a:r>
              <a:rPr sz="3600" spc="-30" dirty="0">
                <a:solidFill>
                  <a:srgbClr val="2E377E"/>
                </a:solidFill>
                <a:latin typeface="Georgia"/>
                <a:cs typeface="Georgia"/>
              </a:rPr>
              <a:t>Teams:</a:t>
            </a:r>
            <a:r>
              <a:rPr sz="3600" spc="-20" dirty="0">
                <a:solidFill>
                  <a:srgbClr val="2E377E"/>
                </a:solidFill>
                <a:latin typeface="Georgia"/>
                <a:cs typeface="Georgia"/>
              </a:rPr>
              <a:t> </a:t>
            </a:r>
            <a:r>
              <a:rPr sz="3600" dirty="0">
                <a:solidFill>
                  <a:srgbClr val="2E377E"/>
                </a:solidFill>
                <a:latin typeface="Georgia"/>
                <a:cs typeface="Georgia"/>
              </a:rPr>
              <a:t>We</a:t>
            </a:r>
            <a:r>
              <a:rPr sz="3600" spc="-15" dirty="0">
                <a:solidFill>
                  <a:srgbClr val="2E377E"/>
                </a:solidFill>
                <a:latin typeface="Georgia"/>
                <a:cs typeface="Georgia"/>
              </a:rPr>
              <a:t> </a:t>
            </a:r>
            <a:r>
              <a:rPr sz="3600" dirty="0">
                <a:solidFill>
                  <a:srgbClr val="2E377E"/>
                </a:solidFill>
                <a:latin typeface="Georgia"/>
                <a:cs typeface="Georgia"/>
              </a:rPr>
              <a:t>have</a:t>
            </a:r>
            <a:r>
              <a:rPr sz="3600" spc="-15" dirty="0">
                <a:solidFill>
                  <a:srgbClr val="2E377E"/>
                </a:solidFill>
                <a:latin typeface="Georgia"/>
                <a:cs typeface="Georgia"/>
              </a:rPr>
              <a:t> </a:t>
            </a:r>
            <a:r>
              <a:rPr sz="3600" spc="105" dirty="0">
                <a:solidFill>
                  <a:srgbClr val="2E377E"/>
                </a:solidFill>
                <a:latin typeface="Georgia"/>
                <a:cs typeface="Georgia"/>
              </a:rPr>
              <a:t>two</a:t>
            </a:r>
            <a:r>
              <a:rPr sz="3600" spc="-15" dirty="0">
                <a:solidFill>
                  <a:srgbClr val="2E377E"/>
                </a:solidFill>
                <a:latin typeface="Georgia"/>
                <a:cs typeface="Georgia"/>
              </a:rPr>
              <a:t> </a:t>
            </a:r>
            <a:r>
              <a:rPr sz="3600" dirty="0">
                <a:solidFill>
                  <a:srgbClr val="2E377E"/>
                </a:solidFill>
                <a:latin typeface="Georgia"/>
                <a:cs typeface="Georgia"/>
              </a:rPr>
              <a:t>teams:</a:t>
            </a:r>
            <a:r>
              <a:rPr sz="3600" spc="-15" dirty="0">
                <a:solidFill>
                  <a:srgbClr val="2E377E"/>
                </a:solidFill>
                <a:latin typeface="Georgia"/>
                <a:cs typeface="Georgia"/>
              </a:rPr>
              <a:t> </a:t>
            </a:r>
            <a:r>
              <a:rPr sz="3600" dirty="0">
                <a:solidFill>
                  <a:srgbClr val="2E377E"/>
                </a:solidFill>
                <a:latin typeface="Georgia"/>
                <a:cs typeface="Georgia"/>
              </a:rPr>
              <a:t>‘frontend-team’</a:t>
            </a:r>
            <a:r>
              <a:rPr sz="3600" spc="-15"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dirty="0">
                <a:solidFill>
                  <a:srgbClr val="2E377E"/>
                </a:solidFill>
                <a:latin typeface="Georgia"/>
                <a:cs typeface="Georgia"/>
              </a:rPr>
              <a:t>‘backend-</a:t>
            </a:r>
            <a:r>
              <a:rPr sz="3600" spc="-10" dirty="0">
                <a:solidFill>
                  <a:srgbClr val="2E377E"/>
                </a:solidFill>
                <a:latin typeface="Georgia"/>
                <a:cs typeface="Georgia"/>
              </a:rPr>
              <a:t>team’.</a:t>
            </a:r>
            <a:endParaRPr sz="3600">
              <a:latin typeface="Georgia"/>
              <a:cs typeface="Georgia"/>
            </a:endParaRPr>
          </a:p>
          <a:p>
            <a:pPr marL="12700" marR="5080" indent="419734">
              <a:lnSpc>
                <a:spcPct val="116300"/>
              </a:lnSpc>
              <a:buAutoNum type="arabicPeriod"/>
              <a:tabLst>
                <a:tab pos="432434" algn="l"/>
              </a:tabLst>
            </a:pPr>
            <a:r>
              <a:rPr sz="3600" dirty="0">
                <a:solidFill>
                  <a:srgbClr val="2E377E"/>
                </a:solidFill>
                <a:latin typeface="Georgia"/>
                <a:cs typeface="Georgia"/>
              </a:rPr>
              <a:t>Resources:</a:t>
            </a:r>
            <a:r>
              <a:rPr sz="3600" spc="-60" dirty="0">
                <a:solidFill>
                  <a:srgbClr val="2E377E"/>
                </a:solidFill>
                <a:latin typeface="Georgia"/>
                <a:cs typeface="Georgia"/>
              </a:rPr>
              <a:t> </a:t>
            </a:r>
            <a:r>
              <a:rPr sz="3600" spc="-45" dirty="0">
                <a:solidFill>
                  <a:srgbClr val="2E377E"/>
                </a:solidFill>
                <a:latin typeface="Georgia"/>
                <a:cs typeface="Georgia"/>
              </a:rPr>
              <a:t>Each</a:t>
            </a:r>
            <a:r>
              <a:rPr sz="3600" spc="-60" dirty="0">
                <a:solidFill>
                  <a:srgbClr val="2E377E"/>
                </a:solidFill>
                <a:latin typeface="Georgia"/>
                <a:cs typeface="Georgia"/>
              </a:rPr>
              <a:t> </a:t>
            </a:r>
            <a:r>
              <a:rPr sz="3600" dirty="0">
                <a:solidFill>
                  <a:srgbClr val="2E377E"/>
                </a:solidFill>
                <a:latin typeface="Georgia"/>
                <a:cs typeface="Georgia"/>
              </a:rPr>
              <a:t>team</a:t>
            </a:r>
            <a:r>
              <a:rPr sz="3600" spc="-60" dirty="0">
                <a:solidFill>
                  <a:srgbClr val="2E377E"/>
                </a:solidFill>
                <a:latin typeface="Georgia"/>
                <a:cs typeface="Georgia"/>
              </a:rPr>
              <a:t> </a:t>
            </a:r>
            <a:r>
              <a:rPr sz="3600" dirty="0">
                <a:solidFill>
                  <a:srgbClr val="2E377E"/>
                </a:solidFill>
                <a:latin typeface="Georgia"/>
                <a:cs typeface="Georgia"/>
              </a:rPr>
              <a:t>manages</a:t>
            </a:r>
            <a:r>
              <a:rPr sz="3600" spc="-60" dirty="0">
                <a:solidFill>
                  <a:srgbClr val="2E377E"/>
                </a:solidFill>
                <a:latin typeface="Georgia"/>
                <a:cs typeface="Georgia"/>
              </a:rPr>
              <a:t> </a:t>
            </a:r>
            <a:r>
              <a:rPr sz="3600" dirty="0">
                <a:solidFill>
                  <a:srgbClr val="2E377E"/>
                </a:solidFill>
                <a:latin typeface="Georgia"/>
                <a:cs typeface="Georgia"/>
              </a:rPr>
              <a:t>their</a:t>
            </a:r>
            <a:r>
              <a:rPr sz="3600" spc="-60" dirty="0">
                <a:solidFill>
                  <a:srgbClr val="2E377E"/>
                </a:solidFill>
                <a:latin typeface="Georgia"/>
                <a:cs typeface="Georgia"/>
              </a:rPr>
              <a:t> </a:t>
            </a:r>
            <a:r>
              <a:rPr sz="3600" spc="70" dirty="0">
                <a:solidFill>
                  <a:srgbClr val="2E377E"/>
                </a:solidFill>
                <a:latin typeface="Georgia"/>
                <a:cs typeface="Georgia"/>
              </a:rPr>
              <a:t>own</a:t>
            </a:r>
            <a:r>
              <a:rPr sz="3600" spc="-60" dirty="0">
                <a:solidFill>
                  <a:srgbClr val="2E377E"/>
                </a:solidFill>
                <a:latin typeface="Georgia"/>
                <a:cs typeface="Georgia"/>
              </a:rPr>
              <a:t> </a:t>
            </a:r>
            <a:r>
              <a:rPr sz="3600" dirty="0">
                <a:solidFill>
                  <a:srgbClr val="2E377E"/>
                </a:solidFill>
                <a:latin typeface="Georgia"/>
                <a:cs typeface="Georgia"/>
              </a:rPr>
              <a:t>Pods</a:t>
            </a:r>
            <a:r>
              <a:rPr sz="3600" spc="-60" dirty="0">
                <a:solidFill>
                  <a:srgbClr val="2E377E"/>
                </a:solidFill>
                <a:latin typeface="Georgia"/>
                <a:cs typeface="Georgia"/>
              </a:rPr>
              <a:t> </a:t>
            </a:r>
            <a:r>
              <a:rPr sz="3600" dirty="0">
                <a:solidFill>
                  <a:srgbClr val="2E377E"/>
                </a:solidFill>
                <a:latin typeface="Georgia"/>
                <a:cs typeface="Georgia"/>
              </a:rPr>
              <a:t>and</a:t>
            </a:r>
            <a:r>
              <a:rPr sz="3600" spc="-60" dirty="0">
                <a:solidFill>
                  <a:srgbClr val="2E377E"/>
                </a:solidFill>
                <a:latin typeface="Georgia"/>
                <a:cs typeface="Georgia"/>
              </a:rPr>
              <a:t> </a:t>
            </a:r>
            <a:r>
              <a:rPr sz="3600" dirty="0">
                <a:solidFill>
                  <a:srgbClr val="2E377E"/>
                </a:solidFill>
                <a:latin typeface="Georgia"/>
                <a:cs typeface="Georgia"/>
              </a:rPr>
              <a:t>Services.</a:t>
            </a:r>
            <a:r>
              <a:rPr sz="3600" spc="-60" dirty="0">
                <a:solidFill>
                  <a:srgbClr val="2E377E"/>
                </a:solidFill>
                <a:latin typeface="Georgia"/>
                <a:cs typeface="Georgia"/>
              </a:rPr>
              <a:t> </a:t>
            </a:r>
            <a:r>
              <a:rPr sz="3600" dirty="0">
                <a:solidFill>
                  <a:srgbClr val="2E377E"/>
                </a:solidFill>
                <a:latin typeface="Georgia"/>
                <a:cs typeface="Georgia"/>
              </a:rPr>
              <a:t>The</a:t>
            </a:r>
            <a:r>
              <a:rPr sz="3600" spc="-60" dirty="0">
                <a:solidFill>
                  <a:srgbClr val="2E377E"/>
                </a:solidFill>
                <a:latin typeface="Georgia"/>
                <a:cs typeface="Georgia"/>
              </a:rPr>
              <a:t> </a:t>
            </a:r>
            <a:r>
              <a:rPr sz="3600" spc="-10" dirty="0">
                <a:solidFill>
                  <a:srgbClr val="2E377E"/>
                </a:solidFill>
                <a:latin typeface="Georgia"/>
                <a:cs typeface="Georgia"/>
              </a:rPr>
              <a:t>‘frontend- </a:t>
            </a:r>
            <a:r>
              <a:rPr sz="3600" dirty="0">
                <a:solidFill>
                  <a:srgbClr val="2E377E"/>
                </a:solidFill>
                <a:latin typeface="Georgia"/>
                <a:cs typeface="Georgia"/>
              </a:rPr>
              <a:t>team’</a:t>
            </a:r>
            <a:r>
              <a:rPr sz="3600" spc="-60" dirty="0">
                <a:solidFill>
                  <a:srgbClr val="2E377E"/>
                </a:solidFill>
                <a:latin typeface="Georgia"/>
                <a:cs typeface="Georgia"/>
              </a:rPr>
              <a:t> </a:t>
            </a:r>
            <a:r>
              <a:rPr sz="3600" dirty="0">
                <a:solidFill>
                  <a:srgbClr val="2E377E"/>
                </a:solidFill>
                <a:latin typeface="Georgia"/>
                <a:cs typeface="Georgia"/>
              </a:rPr>
              <a:t>needs</a:t>
            </a:r>
            <a:r>
              <a:rPr sz="3600" spc="-60" dirty="0">
                <a:solidFill>
                  <a:srgbClr val="2E377E"/>
                </a:solidFill>
                <a:latin typeface="Georgia"/>
                <a:cs typeface="Georgia"/>
              </a:rPr>
              <a:t> </a:t>
            </a:r>
            <a:r>
              <a:rPr sz="3600" dirty="0">
                <a:solidFill>
                  <a:srgbClr val="2E377E"/>
                </a:solidFill>
                <a:latin typeface="Georgia"/>
                <a:cs typeface="Georgia"/>
              </a:rPr>
              <a:t>access</a:t>
            </a:r>
            <a:r>
              <a:rPr sz="3600" spc="-60" dirty="0">
                <a:solidFill>
                  <a:srgbClr val="2E377E"/>
                </a:solidFill>
                <a:latin typeface="Georgia"/>
                <a:cs typeface="Georgia"/>
              </a:rPr>
              <a:t> </a:t>
            </a:r>
            <a:r>
              <a:rPr sz="3600" spc="60" dirty="0">
                <a:solidFill>
                  <a:srgbClr val="2E377E"/>
                </a:solidFill>
                <a:latin typeface="Georgia"/>
                <a:cs typeface="Georgia"/>
              </a:rPr>
              <a:t>to</a:t>
            </a:r>
            <a:r>
              <a:rPr sz="3600" spc="-60" dirty="0">
                <a:solidFill>
                  <a:srgbClr val="2E377E"/>
                </a:solidFill>
                <a:latin typeface="Georgia"/>
                <a:cs typeface="Georgia"/>
              </a:rPr>
              <a:t> </a:t>
            </a:r>
            <a:r>
              <a:rPr sz="3600" dirty="0">
                <a:solidFill>
                  <a:srgbClr val="2E377E"/>
                </a:solidFill>
                <a:latin typeface="Georgia"/>
                <a:cs typeface="Georgia"/>
              </a:rPr>
              <a:t>Pods</a:t>
            </a:r>
            <a:r>
              <a:rPr sz="3600" spc="-60" dirty="0">
                <a:solidFill>
                  <a:srgbClr val="2E377E"/>
                </a:solidFill>
                <a:latin typeface="Georgia"/>
                <a:cs typeface="Georgia"/>
              </a:rPr>
              <a:t> </a:t>
            </a:r>
            <a:r>
              <a:rPr sz="3600" spc="75" dirty="0">
                <a:solidFill>
                  <a:srgbClr val="2E377E"/>
                </a:solidFill>
                <a:latin typeface="Georgia"/>
                <a:cs typeface="Georgia"/>
              </a:rPr>
              <a:t>with</a:t>
            </a:r>
            <a:r>
              <a:rPr sz="3600" spc="-60" dirty="0">
                <a:solidFill>
                  <a:srgbClr val="2E377E"/>
                </a:solidFill>
                <a:latin typeface="Georgia"/>
                <a:cs typeface="Georgia"/>
              </a:rPr>
              <a:t> </a:t>
            </a:r>
            <a:r>
              <a:rPr sz="3600" spc="50" dirty="0">
                <a:solidFill>
                  <a:srgbClr val="2E377E"/>
                </a:solidFill>
                <a:latin typeface="Georgia"/>
                <a:cs typeface="Georgia"/>
              </a:rPr>
              <a:t>the</a:t>
            </a:r>
            <a:r>
              <a:rPr sz="3600" spc="-60" dirty="0">
                <a:solidFill>
                  <a:srgbClr val="2E377E"/>
                </a:solidFill>
                <a:latin typeface="Georgia"/>
                <a:cs typeface="Georgia"/>
              </a:rPr>
              <a:t> </a:t>
            </a:r>
            <a:r>
              <a:rPr sz="3600" dirty="0">
                <a:solidFill>
                  <a:srgbClr val="2E377E"/>
                </a:solidFill>
                <a:latin typeface="Georgia"/>
                <a:cs typeface="Georgia"/>
              </a:rPr>
              <a:t>‘app=frontend’</a:t>
            </a:r>
            <a:r>
              <a:rPr sz="3600" spc="-60" dirty="0">
                <a:solidFill>
                  <a:srgbClr val="2E377E"/>
                </a:solidFill>
                <a:latin typeface="Georgia"/>
                <a:cs typeface="Georgia"/>
              </a:rPr>
              <a:t> </a:t>
            </a:r>
            <a:r>
              <a:rPr sz="3600" spc="-10" dirty="0">
                <a:solidFill>
                  <a:srgbClr val="2E377E"/>
                </a:solidFill>
                <a:latin typeface="Georgia"/>
                <a:cs typeface="Georgia"/>
              </a:rPr>
              <a:t>label,</a:t>
            </a:r>
            <a:r>
              <a:rPr sz="3600" spc="-60" dirty="0">
                <a:solidFill>
                  <a:srgbClr val="2E377E"/>
                </a:solidFill>
                <a:latin typeface="Georgia"/>
                <a:cs typeface="Georgia"/>
              </a:rPr>
              <a:t> </a:t>
            </a:r>
            <a:r>
              <a:rPr sz="3600" dirty="0">
                <a:solidFill>
                  <a:srgbClr val="2E377E"/>
                </a:solidFill>
                <a:latin typeface="Georgia"/>
                <a:cs typeface="Georgia"/>
              </a:rPr>
              <a:t>and</a:t>
            </a:r>
            <a:r>
              <a:rPr sz="3600" spc="-60" dirty="0">
                <a:solidFill>
                  <a:srgbClr val="2E377E"/>
                </a:solidFill>
                <a:latin typeface="Georgia"/>
                <a:cs typeface="Georgia"/>
              </a:rPr>
              <a:t> </a:t>
            </a:r>
            <a:r>
              <a:rPr sz="3600" spc="50" dirty="0">
                <a:solidFill>
                  <a:srgbClr val="2E377E"/>
                </a:solidFill>
                <a:latin typeface="Georgia"/>
                <a:cs typeface="Georgia"/>
              </a:rPr>
              <a:t>the</a:t>
            </a:r>
            <a:r>
              <a:rPr sz="3600" spc="-60" dirty="0">
                <a:solidFill>
                  <a:srgbClr val="2E377E"/>
                </a:solidFill>
                <a:latin typeface="Georgia"/>
                <a:cs typeface="Georgia"/>
              </a:rPr>
              <a:t> </a:t>
            </a:r>
            <a:r>
              <a:rPr sz="3600" spc="-10" dirty="0">
                <a:solidFill>
                  <a:srgbClr val="2E377E"/>
                </a:solidFill>
                <a:latin typeface="Georgia"/>
                <a:cs typeface="Georgia"/>
              </a:rPr>
              <a:t>‘backend- </a:t>
            </a:r>
            <a:r>
              <a:rPr sz="3600" dirty="0">
                <a:solidFill>
                  <a:srgbClr val="2E377E"/>
                </a:solidFill>
                <a:latin typeface="Georgia"/>
                <a:cs typeface="Georgia"/>
              </a:rPr>
              <a:t>team’</a:t>
            </a:r>
            <a:r>
              <a:rPr sz="3600" spc="-35" dirty="0">
                <a:solidFill>
                  <a:srgbClr val="2E377E"/>
                </a:solidFill>
                <a:latin typeface="Georgia"/>
                <a:cs typeface="Georgia"/>
              </a:rPr>
              <a:t> </a:t>
            </a:r>
            <a:r>
              <a:rPr sz="3600" dirty="0">
                <a:solidFill>
                  <a:srgbClr val="2E377E"/>
                </a:solidFill>
                <a:latin typeface="Georgia"/>
                <a:cs typeface="Georgia"/>
              </a:rPr>
              <a:t>needs</a:t>
            </a:r>
            <a:r>
              <a:rPr sz="3600" spc="-35" dirty="0">
                <a:solidFill>
                  <a:srgbClr val="2E377E"/>
                </a:solidFill>
                <a:latin typeface="Georgia"/>
                <a:cs typeface="Georgia"/>
              </a:rPr>
              <a:t> </a:t>
            </a:r>
            <a:r>
              <a:rPr sz="3600" dirty="0">
                <a:solidFill>
                  <a:srgbClr val="2E377E"/>
                </a:solidFill>
                <a:latin typeface="Georgia"/>
                <a:cs typeface="Georgia"/>
              </a:rPr>
              <a:t>access</a:t>
            </a:r>
            <a:r>
              <a:rPr sz="3600" spc="-30" dirty="0">
                <a:solidFill>
                  <a:srgbClr val="2E377E"/>
                </a:solidFill>
                <a:latin typeface="Georgia"/>
                <a:cs typeface="Georgia"/>
              </a:rPr>
              <a:t> </a:t>
            </a:r>
            <a:r>
              <a:rPr sz="3600" spc="60" dirty="0">
                <a:solidFill>
                  <a:srgbClr val="2E377E"/>
                </a:solidFill>
                <a:latin typeface="Georgia"/>
                <a:cs typeface="Georgia"/>
              </a:rPr>
              <a:t>to</a:t>
            </a:r>
            <a:r>
              <a:rPr sz="3600" spc="-35" dirty="0">
                <a:solidFill>
                  <a:srgbClr val="2E377E"/>
                </a:solidFill>
                <a:latin typeface="Georgia"/>
                <a:cs typeface="Georgia"/>
              </a:rPr>
              <a:t> </a:t>
            </a:r>
            <a:r>
              <a:rPr sz="3600" dirty="0">
                <a:solidFill>
                  <a:srgbClr val="2E377E"/>
                </a:solidFill>
                <a:latin typeface="Georgia"/>
                <a:cs typeface="Georgia"/>
              </a:rPr>
              <a:t>Pods</a:t>
            </a:r>
            <a:r>
              <a:rPr sz="3600" spc="-35" dirty="0">
                <a:solidFill>
                  <a:srgbClr val="2E377E"/>
                </a:solidFill>
                <a:latin typeface="Georgia"/>
                <a:cs typeface="Georgia"/>
              </a:rPr>
              <a:t> </a:t>
            </a:r>
            <a:r>
              <a:rPr sz="3600" spc="75" dirty="0">
                <a:solidFill>
                  <a:srgbClr val="2E377E"/>
                </a:solidFill>
                <a:latin typeface="Georgia"/>
                <a:cs typeface="Georgia"/>
              </a:rPr>
              <a:t>with</a:t>
            </a:r>
            <a:r>
              <a:rPr sz="3600" spc="-30"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spc="-10" dirty="0">
                <a:solidFill>
                  <a:srgbClr val="2E377E"/>
                </a:solidFill>
                <a:latin typeface="Georgia"/>
                <a:cs typeface="Georgia"/>
              </a:rPr>
              <a:t>‘app=backend’</a:t>
            </a:r>
            <a:r>
              <a:rPr sz="3600" spc="-35" dirty="0">
                <a:solidFill>
                  <a:srgbClr val="2E377E"/>
                </a:solidFill>
                <a:latin typeface="Georgia"/>
                <a:cs typeface="Georgia"/>
              </a:rPr>
              <a:t> </a:t>
            </a:r>
            <a:r>
              <a:rPr sz="3600" spc="-10" dirty="0">
                <a:solidFill>
                  <a:srgbClr val="2E377E"/>
                </a:solidFill>
                <a:latin typeface="Georgia"/>
                <a:cs typeface="Georgia"/>
              </a:rPr>
              <a:t>label.</a:t>
            </a:r>
            <a:endParaRPr sz="3600">
              <a:latin typeface="Georgia"/>
              <a:cs typeface="Georgia"/>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8534" y="3661887"/>
            <a:ext cx="7189470" cy="6207125"/>
          </a:xfrm>
          <a:prstGeom prst="rect">
            <a:avLst/>
          </a:prstGeom>
        </p:spPr>
        <p:txBody>
          <a:bodyPr vert="horz" wrap="square" lIns="0" tIns="93345" rIns="0" bIns="0" rtlCol="0">
            <a:spAutoFit/>
          </a:bodyPr>
          <a:lstStyle/>
          <a:p>
            <a:pPr marL="12700">
              <a:lnSpc>
                <a:spcPct val="100000"/>
              </a:lnSpc>
              <a:spcBef>
                <a:spcPts val="735"/>
              </a:spcBef>
            </a:pPr>
            <a:r>
              <a:rPr sz="3150" spc="375" dirty="0">
                <a:solidFill>
                  <a:srgbClr val="2E377E"/>
                </a:solidFill>
                <a:latin typeface="Times New Roman"/>
                <a:cs typeface="Times New Roman"/>
              </a:rPr>
              <a:t>#</a:t>
            </a:r>
            <a:r>
              <a:rPr sz="3150" spc="-80" dirty="0">
                <a:solidFill>
                  <a:srgbClr val="2E377E"/>
                </a:solidFill>
                <a:latin typeface="Times New Roman"/>
                <a:cs typeface="Times New Roman"/>
              </a:rPr>
              <a:t> </a:t>
            </a:r>
            <a:r>
              <a:rPr sz="3150" spc="220" dirty="0">
                <a:solidFill>
                  <a:srgbClr val="2E377E"/>
                </a:solidFill>
                <a:latin typeface="Times New Roman"/>
                <a:cs typeface="Times New Roman"/>
              </a:rPr>
              <a:t>frontend-</a:t>
            </a:r>
            <a:r>
              <a:rPr sz="3150" spc="130" dirty="0">
                <a:solidFill>
                  <a:srgbClr val="2E377E"/>
                </a:solidFill>
                <a:latin typeface="Times New Roman"/>
                <a:cs typeface="Times New Roman"/>
              </a:rPr>
              <a:t>role.yaml</a:t>
            </a:r>
            <a:endParaRPr sz="3150">
              <a:latin typeface="Times New Roman"/>
              <a:cs typeface="Times New Roman"/>
            </a:endParaRPr>
          </a:p>
          <a:p>
            <a:pPr marL="12700" marR="5080">
              <a:lnSpc>
                <a:spcPts val="4430"/>
              </a:lnSpc>
              <a:spcBef>
                <a:spcPts val="254"/>
              </a:spcBef>
            </a:pPr>
            <a:r>
              <a:rPr sz="3150" dirty="0">
                <a:solidFill>
                  <a:srgbClr val="2E377E"/>
                </a:solidFill>
                <a:latin typeface="Georgia"/>
                <a:cs typeface="Georgia"/>
              </a:rPr>
              <a:t>apiVersion:</a:t>
            </a:r>
            <a:r>
              <a:rPr sz="3150" spc="-130" dirty="0">
                <a:solidFill>
                  <a:srgbClr val="2E377E"/>
                </a:solidFill>
                <a:latin typeface="Georgia"/>
                <a:cs typeface="Georgia"/>
              </a:rPr>
              <a:t> </a:t>
            </a:r>
            <a:r>
              <a:rPr sz="3150" spc="-10" dirty="0">
                <a:solidFill>
                  <a:srgbClr val="2E377E"/>
                </a:solidFill>
                <a:latin typeface="Georgia"/>
                <a:cs typeface="Georgia"/>
              </a:rPr>
              <a:t>rbac.authorization.k8s.io/v1 </a:t>
            </a:r>
            <a:r>
              <a:rPr sz="3150" dirty="0">
                <a:solidFill>
                  <a:srgbClr val="2E377E"/>
                </a:solidFill>
                <a:latin typeface="Georgia"/>
                <a:cs typeface="Georgia"/>
              </a:rPr>
              <a:t>kind:</a:t>
            </a:r>
            <a:r>
              <a:rPr sz="3150" spc="-170" dirty="0">
                <a:solidFill>
                  <a:srgbClr val="2E377E"/>
                </a:solidFill>
                <a:latin typeface="Georgia"/>
                <a:cs typeface="Georgia"/>
              </a:rPr>
              <a:t> </a:t>
            </a:r>
            <a:r>
              <a:rPr sz="3150" spc="-20" dirty="0">
                <a:solidFill>
                  <a:srgbClr val="2E377E"/>
                </a:solidFill>
                <a:latin typeface="Georgia"/>
                <a:cs typeface="Georgia"/>
              </a:rPr>
              <a:t>Role</a:t>
            </a:r>
            <a:endParaRPr sz="3150">
              <a:latin typeface="Georgia"/>
              <a:cs typeface="Georgia"/>
            </a:endParaRPr>
          </a:p>
          <a:p>
            <a:pPr marL="12700">
              <a:lnSpc>
                <a:spcPct val="100000"/>
              </a:lnSpc>
              <a:spcBef>
                <a:spcPts val="380"/>
              </a:spcBef>
            </a:pPr>
            <a:r>
              <a:rPr sz="3150" spc="-10" dirty="0">
                <a:solidFill>
                  <a:srgbClr val="2E377E"/>
                </a:solidFill>
                <a:latin typeface="Georgia"/>
                <a:cs typeface="Georgia"/>
              </a:rPr>
              <a:t>metadata:</a:t>
            </a:r>
            <a:endParaRPr sz="3150">
              <a:latin typeface="Georgia"/>
              <a:cs typeface="Georgia"/>
            </a:endParaRPr>
          </a:p>
          <a:p>
            <a:pPr marL="12700" marR="2851785" indent="88900">
              <a:lnSpc>
                <a:spcPts val="4430"/>
              </a:lnSpc>
              <a:spcBef>
                <a:spcPts val="254"/>
              </a:spcBef>
            </a:pPr>
            <a:r>
              <a:rPr sz="3150" dirty="0">
                <a:solidFill>
                  <a:srgbClr val="2E377E"/>
                </a:solidFill>
                <a:latin typeface="Georgia"/>
                <a:cs typeface="Georgia"/>
              </a:rPr>
              <a:t>namespace:</a:t>
            </a:r>
            <a:r>
              <a:rPr sz="3150" spc="20" dirty="0">
                <a:solidFill>
                  <a:srgbClr val="2E377E"/>
                </a:solidFill>
                <a:latin typeface="Georgia"/>
                <a:cs typeface="Georgia"/>
              </a:rPr>
              <a:t> </a:t>
            </a:r>
            <a:r>
              <a:rPr sz="3150" spc="85" dirty="0">
                <a:solidFill>
                  <a:srgbClr val="2E377E"/>
                </a:solidFill>
                <a:latin typeface="Georgia"/>
                <a:cs typeface="Georgia"/>
              </a:rPr>
              <a:t>my-</a:t>
            </a:r>
            <a:r>
              <a:rPr sz="3150" spc="40" dirty="0">
                <a:solidFill>
                  <a:srgbClr val="2E377E"/>
                </a:solidFill>
                <a:latin typeface="Georgia"/>
                <a:cs typeface="Georgia"/>
              </a:rPr>
              <a:t>project </a:t>
            </a:r>
            <a:r>
              <a:rPr sz="3150" dirty="0">
                <a:solidFill>
                  <a:srgbClr val="2E377E"/>
                </a:solidFill>
                <a:latin typeface="Georgia"/>
                <a:cs typeface="Georgia"/>
              </a:rPr>
              <a:t>name:</a:t>
            </a:r>
            <a:r>
              <a:rPr sz="3150" spc="185" dirty="0">
                <a:solidFill>
                  <a:srgbClr val="2E377E"/>
                </a:solidFill>
                <a:latin typeface="Georgia"/>
                <a:cs typeface="Georgia"/>
              </a:rPr>
              <a:t> </a:t>
            </a:r>
            <a:r>
              <a:rPr sz="3150" dirty="0">
                <a:solidFill>
                  <a:srgbClr val="2E377E"/>
                </a:solidFill>
                <a:latin typeface="Georgia"/>
                <a:cs typeface="Georgia"/>
              </a:rPr>
              <a:t>frontend-</a:t>
            </a:r>
            <a:r>
              <a:rPr sz="3150" spc="-20" dirty="0">
                <a:solidFill>
                  <a:srgbClr val="2E377E"/>
                </a:solidFill>
                <a:latin typeface="Georgia"/>
                <a:cs typeface="Georgia"/>
              </a:rPr>
              <a:t>role </a:t>
            </a:r>
            <a:r>
              <a:rPr sz="3150" spc="-10" dirty="0">
                <a:solidFill>
                  <a:srgbClr val="2E377E"/>
                </a:solidFill>
                <a:latin typeface="Georgia"/>
                <a:cs typeface="Georgia"/>
              </a:rPr>
              <a:t>rules:</a:t>
            </a:r>
            <a:endParaRPr sz="3150">
              <a:latin typeface="Georgia"/>
              <a:cs typeface="Georgia"/>
            </a:endParaRPr>
          </a:p>
          <a:p>
            <a:pPr marL="12700">
              <a:lnSpc>
                <a:spcPct val="100000"/>
              </a:lnSpc>
              <a:spcBef>
                <a:spcPts val="375"/>
              </a:spcBef>
            </a:pPr>
            <a:r>
              <a:rPr sz="3150" dirty="0">
                <a:solidFill>
                  <a:srgbClr val="2E377E"/>
                </a:solidFill>
                <a:latin typeface="Georgia"/>
                <a:cs typeface="Georgia"/>
              </a:rPr>
              <a:t>-</a:t>
            </a:r>
            <a:r>
              <a:rPr sz="3150" spc="-90" dirty="0">
                <a:solidFill>
                  <a:srgbClr val="2E377E"/>
                </a:solidFill>
                <a:latin typeface="Georgia"/>
                <a:cs typeface="Georgia"/>
              </a:rPr>
              <a:t> </a:t>
            </a:r>
            <a:r>
              <a:rPr sz="3150" dirty="0">
                <a:solidFill>
                  <a:srgbClr val="2E377E"/>
                </a:solidFill>
                <a:latin typeface="Georgia"/>
                <a:cs typeface="Georgia"/>
              </a:rPr>
              <a:t>apiGroups:</a:t>
            </a:r>
            <a:r>
              <a:rPr sz="3150" spc="-90" dirty="0">
                <a:solidFill>
                  <a:srgbClr val="2E377E"/>
                </a:solidFill>
                <a:latin typeface="Georgia"/>
                <a:cs typeface="Georgia"/>
              </a:rPr>
              <a:t> </a:t>
            </a:r>
            <a:r>
              <a:rPr sz="3150" spc="-20" dirty="0">
                <a:solidFill>
                  <a:srgbClr val="2E377E"/>
                </a:solidFill>
                <a:latin typeface="Georgia"/>
                <a:cs typeface="Georgia"/>
              </a:rPr>
              <a:t>[""]</a:t>
            </a:r>
            <a:endParaRPr sz="3150">
              <a:latin typeface="Georgia"/>
              <a:cs typeface="Georgia"/>
            </a:endParaRPr>
          </a:p>
          <a:p>
            <a:pPr marL="101600" marR="1494790">
              <a:lnSpc>
                <a:spcPts val="4430"/>
              </a:lnSpc>
              <a:spcBef>
                <a:spcPts val="95"/>
              </a:spcBef>
            </a:pPr>
            <a:r>
              <a:rPr sz="3150" dirty="0">
                <a:solidFill>
                  <a:srgbClr val="2E377E"/>
                </a:solidFill>
                <a:latin typeface="Georgia"/>
                <a:cs typeface="Georgia"/>
              </a:rPr>
              <a:t>resources:</a:t>
            </a:r>
            <a:r>
              <a:rPr sz="3150" spc="145" dirty="0">
                <a:solidFill>
                  <a:srgbClr val="2E377E"/>
                </a:solidFill>
                <a:latin typeface="Georgia"/>
                <a:cs typeface="Georgia"/>
              </a:rPr>
              <a:t> </a:t>
            </a:r>
            <a:r>
              <a:rPr sz="3150" spc="-10" dirty="0">
                <a:solidFill>
                  <a:srgbClr val="2E377E"/>
                </a:solidFill>
                <a:latin typeface="Georgia"/>
                <a:cs typeface="Georgia"/>
              </a:rPr>
              <a:t>["pods"] </a:t>
            </a:r>
            <a:r>
              <a:rPr sz="3150" dirty="0">
                <a:solidFill>
                  <a:srgbClr val="2E377E"/>
                </a:solidFill>
                <a:latin typeface="Georgia"/>
                <a:cs typeface="Georgia"/>
              </a:rPr>
              <a:t>resourceNames:</a:t>
            </a:r>
            <a:r>
              <a:rPr sz="3150" spc="50" dirty="0">
                <a:solidFill>
                  <a:srgbClr val="2E377E"/>
                </a:solidFill>
                <a:latin typeface="Georgia"/>
                <a:cs typeface="Georgia"/>
              </a:rPr>
              <a:t> </a:t>
            </a:r>
            <a:r>
              <a:rPr sz="3150" spc="-200" dirty="0">
                <a:solidFill>
                  <a:srgbClr val="2E377E"/>
                </a:solidFill>
                <a:latin typeface="Georgia"/>
                <a:cs typeface="Georgia"/>
              </a:rPr>
              <a:t>["",</a:t>
            </a:r>
            <a:r>
              <a:rPr sz="3150" spc="45" dirty="0">
                <a:solidFill>
                  <a:srgbClr val="2E377E"/>
                </a:solidFill>
                <a:latin typeface="Georgia"/>
                <a:cs typeface="Georgia"/>
              </a:rPr>
              <a:t> </a:t>
            </a:r>
            <a:r>
              <a:rPr sz="3150" spc="-10" dirty="0">
                <a:solidFill>
                  <a:srgbClr val="2E377E"/>
                </a:solidFill>
                <a:latin typeface="Georgia"/>
                <a:cs typeface="Georgia"/>
              </a:rPr>
              <a:t>"frontend"] </a:t>
            </a:r>
            <a:r>
              <a:rPr sz="3150" dirty="0">
                <a:solidFill>
                  <a:srgbClr val="2E377E"/>
                </a:solidFill>
                <a:latin typeface="Georgia"/>
                <a:cs typeface="Georgia"/>
              </a:rPr>
              <a:t>verbs:</a:t>
            </a:r>
            <a:r>
              <a:rPr sz="3150" spc="-5" dirty="0">
                <a:solidFill>
                  <a:srgbClr val="2E377E"/>
                </a:solidFill>
                <a:latin typeface="Georgia"/>
                <a:cs typeface="Georgia"/>
              </a:rPr>
              <a:t> </a:t>
            </a:r>
            <a:r>
              <a:rPr sz="3150" spc="-85" dirty="0">
                <a:solidFill>
                  <a:srgbClr val="2E377E"/>
                </a:solidFill>
                <a:latin typeface="Georgia"/>
                <a:cs typeface="Georgia"/>
              </a:rPr>
              <a:t>["list",</a:t>
            </a:r>
            <a:r>
              <a:rPr sz="3150" dirty="0">
                <a:solidFill>
                  <a:srgbClr val="2E377E"/>
                </a:solidFill>
                <a:latin typeface="Georgia"/>
                <a:cs typeface="Georgia"/>
              </a:rPr>
              <a:t> </a:t>
            </a:r>
            <a:r>
              <a:rPr sz="3150" spc="-10" dirty="0">
                <a:solidFill>
                  <a:srgbClr val="2E377E"/>
                </a:solidFill>
                <a:latin typeface="Georgia"/>
                <a:cs typeface="Georgia"/>
              </a:rPr>
              <a:t>"get"]</a:t>
            </a:r>
            <a:endParaRPr sz="3150">
              <a:latin typeface="Georgia"/>
              <a:cs typeface="Georgia"/>
            </a:endParaRPr>
          </a:p>
        </p:txBody>
      </p:sp>
      <p:sp>
        <p:nvSpPr>
          <p:cNvPr id="3" name="object 3"/>
          <p:cNvSpPr txBox="1"/>
          <p:nvPr/>
        </p:nvSpPr>
        <p:spPr>
          <a:xfrm>
            <a:off x="9696373" y="3652694"/>
            <a:ext cx="7247890" cy="6207125"/>
          </a:xfrm>
          <a:prstGeom prst="rect">
            <a:avLst/>
          </a:prstGeom>
        </p:spPr>
        <p:txBody>
          <a:bodyPr vert="horz" wrap="square" lIns="0" tIns="86360" rIns="0" bIns="0" rtlCol="0">
            <a:spAutoFit/>
          </a:bodyPr>
          <a:lstStyle/>
          <a:p>
            <a:pPr marL="12700">
              <a:lnSpc>
                <a:spcPct val="100000"/>
              </a:lnSpc>
              <a:spcBef>
                <a:spcPts val="680"/>
              </a:spcBef>
            </a:pPr>
            <a:r>
              <a:rPr sz="3200" spc="365" dirty="0">
                <a:solidFill>
                  <a:srgbClr val="2E377E"/>
                </a:solidFill>
                <a:latin typeface="Times New Roman"/>
                <a:cs typeface="Times New Roman"/>
              </a:rPr>
              <a:t>#</a:t>
            </a:r>
            <a:r>
              <a:rPr sz="3200" spc="-75" dirty="0">
                <a:solidFill>
                  <a:srgbClr val="2E377E"/>
                </a:solidFill>
                <a:latin typeface="Times New Roman"/>
                <a:cs typeface="Times New Roman"/>
              </a:rPr>
              <a:t> </a:t>
            </a:r>
            <a:r>
              <a:rPr sz="3200" spc="185" dirty="0">
                <a:solidFill>
                  <a:srgbClr val="2E377E"/>
                </a:solidFill>
                <a:latin typeface="Times New Roman"/>
                <a:cs typeface="Times New Roman"/>
              </a:rPr>
              <a:t>backend-</a:t>
            </a:r>
            <a:r>
              <a:rPr sz="3200" spc="120" dirty="0">
                <a:solidFill>
                  <a:srgbClr val="2E377E"/>
                </a:solidFill>
                <a:latin typeface="Times New Roman"/>
                <a:cs typeface="Times New Roman"/>
              </a:rPr>
              <a:t>role.yaml</a:t>
            </a:r>
            <a:endParaRPr sz="3200">
              <a:latin typeface="Times New Roman"/>
              <a:cs typeface="Times New Roman"/>
            </a:endParaRPr>
          </a:p>
          <a:p>
            <a:pPr marL="12700" marR="5080">
              <a:lnSpc>
                <a:spcPct val="115199"/>
              </a:lnSpc>
              <a:spcBef>
                <a:spcPts val="5"/>
              </a:spcBef>
            </a:pPr>
            <a:r>
              <a:rPr sz="3200" spc="-10" dirty="0">
                <a:solidFill>
                  <a:srgbClr val="2E377E"/>
                </a:solidFill>
                <a:latin typeface="Georgia"/>
                <a:cs typeface="Georgia"/>
              </a:rPr>
              <a:t>apiVersion:</a:t>
            </a:r>
            <a:r>
              <a:rPr sz="3200" spc="-160" dirty="0">
                <a:solidFill>
                  <a:srgbClr val="2E377E"/>
                </a:solidFill>
                <a:latin typeface="Georgia"/>
                <a:cs typeface="Georgia"/>
              </a:rPr>
              <a:t> </a:t>
            </a:r>
            <a:r>
              <a:rPr sz="3200" spc="-10" dirty="0">
                <a:solidFill>
                  <a:srgbClr val="2E377E"/>
                </a:solidFill>
                <a:latin typeface="Georgia"/>
                <a:cs typeface="Georgia"/>
              </a:rPr>
              <a:t>rbac.authorization.k8s.io/v1 </a:t>
            </a:r>
            <a:r>
              <a:rPr sz="3200" dirty="0">
                <a:solidFill>
                  <a:srgbClr val="2E377E"/>
                </a:solidFill>
                <a:latin typeface="Georgia"/>
                <a:cs typeface="Georgia"/>
              </a:rPr>
              <a:t>kind:</a:t>
            </a:r>
            <a:r>
              <a:rPr sz="3200" spc="-185" dirty="0">
                <a:solidFill>
                  <a:srgbClr val="2E377E"/>
                </a:solidFill>
                <a:latin typeface="Georgia"/>
                <a:cs typeface="Georgia"/>
              </a:rPr>
              <a:t> </a:t>
            </a:r>
            <a:r>
              <a:rPr sz="3200" spc="-20" dirty="0">
                <a:solidFill>
                  <a:srgbClr val="2E377E"/>
                </a:solidFill>
                <a:latin typeface="Georgia"/>
                <a:cs typeface="Georgia"/>
              </a:rPr>
              <a:t>Role</a:t>
            </a:r>
            <a:endParaRPr sz="3200">
              <a:latin typeface="Georgia"/>
              <a:cs typeface="Georgia"/>
            </a:endParaRPr>
          </a:p>
          <a:p>
            <a:pPr marL="12700">
              <a:lnSpc>
                <a:spcPct val="100000"/>
              </a:lnSpc>
              <a:spcBef>
                <a:spcPts val="585"/>
              </a:spcBef>
            </a:pPr>
            <a:r>
              <a:rPr sz="3200" spc="-10" dirty="0">
                <a:solidFill>
                  <a:srgbClr val="2E377E"/>
                </a:solidFill>
                <a:latin typeface="Georgia"/>
                <a:cs typeface="Georgia"/>
              </a:rPr>
              <a:t>metadata:</a:t>
            </a:r>
            <a:endParaRPr sz="3200">
              <a:latin typeface="Georgia"/>
              <a:cs typeface="Georgia"/>
            </a:endParaRPr>
          </a:p>
          <a:p>
            <a:pPr marL="12700" marR="2874645" indent="89535">
              <a:lnSpc>
                <a:spcPct val="115199"/>
              </a:lnSpc>
            </a:pPr>
            <a:r>
              <a:rPr sz="3200" dirty="0">
                <a:solidFill>
                  <a:srgbClr val="2E377E"/>
                </a:solidFill>
                <a:latin typeface="Georgia"/>
                <a:cs typeface="Georgia"/>
              </a:rPr>
              <a:t>namespace:</a:t>
            </a:r>
            <a:r>
              <a:rPr sz="3200" spc="-130" dirty="0">
                <a:solidFill>
                  <a:srgbClr val="2E377E"/>
                </a:solidFill>
                <a:latin typeface="Georgia"/>
                <a:cs typeface="Georgia"/>
              </a:rPr>
              <a:t> </a:t>
            </a:r>
            <a:r>
              <a:rPr sz="3200" spc="65" dirty="0">
                <a:solidFill>
                  <a:srgbClr val="2E377E"/>
                </a:solidFill>
                <a:latin typeface="Georgia"/>
                <a:cs typeface="Georgia"/>
              </a:rPr>
              <a:t>my-</a:t>
            </a:r>
            <a:r>
              <a:rPr sz="3200" spc="-10" dirty="0">
                <a:solidFill>
                  <a:srgbClr val="2E377E"/>
                </a:solidFill>
                <a:latin typeface="Georgia"/>
                <a:cs typeface="Georgia"/>
              </a:rPr>
              <a:t>project </a:t>
            </a:r>
            <a:r>
              <a:rPr sz="3200" spc="-20" dirty="0">
                <a:solidFill>
                  <a:srgbClr val="2E377E"/>
                </a:solidFill>
                <a:latin typeface="Georgia"/>
                <a:cs typeface="Georgia"/>
              </a:rPr>
              <a:t>name:</a:t>
            </a:r>
            <a:r>
              <a:rPr sz="3200" spc="25" dirty="0">
                <a:solidFill>
                  <a:srgbClr val="2E377E"/>
                </a:solidFill>
                <a:latin typeface="Georgia"/>
                <a:cs typeface="Georgia"/>
              </a:rPr>
              <a:t> </a:t>
            </a:r>
            <a:r>
              <a:rPr sz="3200" dirty="0">
                <a:solidFill>
                  <a:srgbClr val="2E377E"/>
                </a:solidFill>
                <a:latin typeface="Georgia"/>
                <a:cs typeface="Georgia"/>
              </a:rPr>
              <a:t>backend-</a:t>
            </a:r>
            <a:r>
              <a:rPr sz="3200" spc="-20" dirty="0">
                <a:solidFill>
                  <a:srgbClr val="2E377E"/>
                </a:solidFill>
                <a:latin typeface="Georgia"/>
                <a:cs typeface="Georgia"/>
              </a:rPr>
              <a:t>role </a:t>
            </a:r>
            <a:r>
              <a:rPr sz="3200" spc="-10" dirty="0">
                <a:solidFill>
                  <a:srgbClr val="2E377E"/>
                </a:solidFill>
                <a:latin typeface="Georgia"/>
                <a:cs typeface="Georgia"/>
              </a:rPr>
              <a:t>rules:</a:t>
            </a:r>
            <a:endParaRPr sz="3200">
              <a:latin typeface="Georgia"/>
              <a:cs typeface="Georgia"/>
            </a:endParaRPr>
          </a:p>
          <a:p>
            <a:pPr marL="102235" marR="3771265" indent="-90170">
              <a:lnSpc>
                <a:spcPct val="115199"/>
              </a:lnSpc>
            </a:pPr>
            <a:r>
              <a:rPr sz="3200" dirty="0">
                <a:solidFill>
                  <a:srgbClr val="2E377E"/>
                </a:solidFill>
                <a:latin typeface="Georgia"/>
                <a:cs typeface="Georgia"/>
              </a:rPr>
              <a:t>-</a:t>
            </a:r>
            <a:r>
              <a:rPr sz="3200" spc="-120" dirty="0">
                <a:solidFill>
                  <a:srgbClr val="2E377E"/>
                </a:solidFill>
                <a:latin typeface="Georgia"/>
                <a:cs typeface="Georgia"/>
              </a:rPr>
              <a:t> </a:t>
            </a:r>
            <a:r>
              <a:rPr sz="3200" spc="-10" dirty="0">
                <a:solidFill>
                  <a:srgbClr val="2E377E"/>
                </a:solidFill>
                <a:latin typeface="Georgia"/>
                <a:cs typeface="Georgia"/>
              </a:rPr>
              <a:t>apiGroups:</a:t>
            </a:r>
            <a:r>
              <a:rPr sz="3200" spc="-114" dirty="0">
                <a:solidFill>
                  <a:srgbClr val="2E377E"/>
                </a:solidFill>
                <a:latin typeface="Georgia"/>
                <a:cs typeface="Georgia"/>
              </a:rPr>
              <a:t> </a:t>
            </a:r>
            <a:r>
              <a:rPr sz="3200" spc="-20" dirty="0">
                <a:solidFill>
                  <a:srgbClr val="2E377E"/>
                </a:solidFill>
                <a:latin typeface="Georgia"/>
                <a:cs typeface="Georgia"/>
              </a:rPr>
              <a:t>[""] </a:t>
            </a:r>
            <a:r>
              <a:rPr sz="3200" dirty="0">
                <a:solidFill>
                  <a:srgbClr val="2E377E"/>
                </a:solidFill>
                <a:latin typeface="Georgia"/>
                <a:cs typeface="Georgia"/>
              </a:rPr>
              <a:t>resources:</a:t>
            </a:r>
            <a:r>
              <a:rPr sz="3200" spc="10" dirty="0">
                <a:solidFill>
                  <a:srgbClr val="2E377E"/>
                </a:solidFill>
                <a:latin typeface="Georgia"/>
                <a:cs typeface="Georgia"/>
              </a:rPr>
              <a:t> </a:t>
            </a:r>
            <a:r>
              <a:rPr sz="3200" spc="-85" dirty="0">
                <a:solidFill>
                  <a:srgbClr val="2E377E"/>
                </a:solidFill>
                <a:latin typeface="Georgia"/>
                <a:cs typeface="Georgia"/>
              </a:rPr>
              <a:t>["pods"]</a:t>
            </a:r>
            <a:endParaRPr sz="3200">
              <a:latin typeface="Georgia"/>
              <a:cs typeface="Georgia"/>
            </a:endParaRPr>
          </a:p>
          <a:p>
            <a:pPr marL="102235" marR="1583055">
              <a:lnSpc>
                <a:spcPct val="115199"/>
              </a:lnSpc>
            </a:pPr>
            <a:r>
              <a:rPr sz="3200" dirty="0">
                <a:solidFill>
                  <a:srgbClr val="2E377E"/>
                </a:solidFill>
                <a:latin typeface="Georgia"/>
                <a:cs typeface="Georgia"/>
              </a:rPr>
              <a:t>resourceNames:</a:t>
            </a:r>
            <a:r>
              <a:rPr sz="3200" spc="-65" dirty="0">
                <a:solidFill>
                  <a:srgbClr val="2E377E"/>
                </a:solidFill>
                <a:latin typeface="Georgia"/>
                <a:cs typeface="Georgia"/>
              </a:rPr>
              <a:t> </a:t>
            </a:r>
            <a:r>
              <a:rPr sz="3200" spc="-215" dirty="0">
                <a:solidFill>
                  <a:srgbClr val="2E377E"/>
                </a:solidFill>
                <a:latin typeface="Georgia"/>
                <a:cs typeface="Georgia"/>
              </a:rPr>
              <a:t>["",</a:t>
            </a:r>
            <a:r>
              <a:rPr sz="3200" spc="-60" dirty="0">
                <a:solidFill>
                  <a:srgbClr val="2E377E"/>
                </a:solidFill>
                <a:latin typeface="Georgia"/>
                <a:cs typeface="Georgia"/>
              </a:rPr>
              <a:t> </a:t>
            </a:r>
            <a:r>
              <a:rPr sz="3200" spc="-25" dirty="0">
                <a:solidFill>
                  <a:srgbClr val="2E377E"/>
                </a:solidFill>
                <a:latin typeface="Georgia"/>
                <a:cs typeface="Georgia"/>
              </a:rPr>
              <a:t>"backend"] </a:t>
            </a:r>
            <a:r>
              <a:rPr sz="3200" dirty="0">
                <a:solidFill>
                  <a:srgbClr val="2E377E"/>
                </a:solidFill>
                <a:latin typeface="Georgia"/>
                <a:cs typeface="Georgia"/>
              </a:rPr>
              <a:t>verbs:</a:t>
            </a:r>
            <a:r>
              <a:rPr sz="3200" spc="-45" dirty="0">
                <a:solidFill>
                  <a:srgbClr val="2E377E"/>
                </a:solidFill>
                <a:latin typeface="Georgia"/>
                <a:cs typeface="Georgia"/>
              </a:rPr>
              <a:t> </a:t>
            </a:r>
            <a:r>
              <a:rPr sz="3200" spc="-95" dirty="0">
                <a:solidFill>
                  <a:srgbClr val="2E377E"/>
                </a:solidFill>
                <a:latin typeface="Georgia"/>
                <a:cs typeface="Georgia"/>
              </a:rPr>
              <a:t>["list",</a:t>
            </a:r>
            <a:r>
              <a:rPr sz="3200" spc="-45" dirty="0">
                <a:solidFill>
                  <a:srgbClr val="2E377E"/>
                </a:solidFill>
                <a:latin typeface="Georgia"/>
                <a:cs typeface="Georgia"/>
              </a:rPr>
              <a:t> </a:t>
            </a:r>
            <a:r>
              <a:rPr sz="3200" spc="-10" dirty="0">
                <a:solidFill>
                  <a:srgbClr val="2E377E"/>
                </a:solidFill>
                <a:latin typeface="Georgia"/>
                <a:cs typeface="Georgia"/>
              </a:rPr>
              <a:t>"get"]</a:t>
            </a:r>
            <a:endParaRPr sz="3200">
              <a:latin typeface="Georgia"/>
              <a:cs typeface="Georgia"/>
            </a:endParaRPr>
          </a:p>
        </p:txBody>
      </p:sp>
      <p:sp>
        <p:nvSpPr>
          <p:cNvPr id="4" name="object 4"/>
          <p:cNvSpPr txBox="1">
            <a:spLocks noGrp="1"/>
          </p:cNvSpPr>
          <p:nvPr>
            <p:ph type="title"/>
          </p:nvPr>
        </p:nvSpPr>
        <p:spPr>
          <a:xfrm>
            <a:off x="769811" y="329706"/>
            <a:ext cx="7587615" cy="523240"/>
          </a:xfrm>
          <a:prstGeom prst="rect">
            <a:avLst/>
          </a:prstGeom>
        </p:spPr>
        <p:txBody>
          <a:bodyPr vert="horz" wrap="square" lIns="0" tIns="14605" rIns="0" bIns="0" rtlCol="0">
            <a:spAutoFit/>
          </a:bodyPr>
          <a:lstStyle/>
          <a:p>
            <a:pPr marL="12700">
              <a:lnSpc>
                <a:spcPct val="100000"/>
              </a:lnSpc>
              <a:spcBef>
                <a:spcPts val="115"/>
              </a:spcBef>
            </a:pPr>
            <a:r>
              <a:rPr sz="3250" b="0" spc="160" dirty="0">
                <a:solidFill>
                  <a:srgbClr val="2E377E"/>
                </a:solidFill>
                <a:latin typeface="Times New Roman"/>
                <a:cs typeface="Times New Roman"/>
              </a:rPr>
              <a:t>Creating</a:t>
            </a:r>
            <a:r>
              <a:rPr sz="3250" b="0" spc="-90" dirty="0">
                <a:solidFill>
                  <a:srgbClr val="2E377E"/>
                </a:solidFill>
                <a:latin typeface="Times New Roman"/>
                <a:cs typeface="Times New Roman"/>
              </a:rPr>
              <a:t> </a:t>
            </a:r>
            <a:r>
              <a:rPr sz="3250" b="0" spc="200" dirty="0">
                <a:solidFill>
                  <a:srgbClr val="2E377E"/>
                </a:solidFill>
                <a:latin typeface="Times New Roman"/>
                <a:cs typeface="Times New Roman"/>
              </a:rPr>
              <a:t>Custom</a:t>
            </a:r>
            <a:r>
              <a:rPr sz="3250" b="0" spc="-90" dirty="0">
                <a:solidFill>
                  <a:srgbClr val="2E377E"/>
                </a:solidFill>
                <a:latin typeface="Times New Roman"/>
                <a:cs typeface="Times New Roman"/>
              </a:rPr>
              <a:t> </a:t>
            </a:r>
            <a:r>
              <a:rPr sz="3250" b="0" spc="105" dirty="0">
                <a:solidFill>
                  <a:srgbClr val="2E377E"/>
                </a:solidFill>
                <a:latin typeface="Times New Roman"/>
                <a:cs typeface="Times New Roman"/>
              </a:rPr>
              <a:t>Roles</a:t>
            </a:r>
            <a:r>
              <a:rPr sz="3250" b="0" spc="-85" dirty="0">
                <a:solidFill>
                  <a:srgbClr val="2E377E"/>
                </a:solidFill>
                <a:latin typeface="Times New Roman"/>
                <a:cs typeface="Times New Roman"/>
              </a:rPr>
              <a:t> </a:t>
            </a:r>
            <a:r>
              <a:rPr sz="3250" b="0" spc="250" dirty="0">
                <a:solidFill>
                  <a:srgbClr val="2E377E"/>
                </a:solidFill>
                <a:latin typeface="Times New Roman"/>
                <a:cs typeface="Times New Roman"/>
              </a:rPr>
              <a:t>and</a:t>
            </a:r>
            <a:r>
              <a:rPr sz="3250" b="0" spc="-90" dirty="0">
                <a:solidFill>
                  <a:srgbClr val="2E377E"/>
                </a:solidFill>
                <a:latin typeface="Times New Roman"/>
                <a:cs typeface="Times New Roman"/>
              </a:rPr>
              <a:t> </a:t>
            </a:r>
            <a:r>
              <a:rPr sz="3250" b="0" spc="105" dirty="0">
                <a:solidFill>
                  <a:srgbClr val="2E377E"/>
                </a:solidFill>
                <a:latin typeface="Times New Roman"/>
                <a:cs typeface="Times New Roman"/>
              </a:rPr>
              <a:t>RoleBindings</a:t>
            </a:r>
            <a:endParaRPr sz="3250">
              <a:latin typeface="Times New Roman"/>
              <a:cs typeface="Times New Roman"/>
            </a:endParaRPr>
          </a:p>
        </p:txBody>
      </p:sp>
      <p:sp>
        <p:nvSpPr>
          <p:cNvPr id="5" name="object 5"/>
          <p:cNvSpPr txBox="1"/>
          <p:nvPr/>
        </p:nvSpPr>
        <p:spPr>
          <a:xfrm>
            <a:off x="769811" y="827192"/>
            <a:ext cx="16449675" cy="2340610"/>
          </a:xfrm>
          <a:prstGeom prst="rect">
            <a:avLst/>
          </a:prstGeom>
        </p:spPr>
        <p:txBody>
          <a:bodyPr vert="horz" wrap="square" lIns="0" tIns="95250" rIns="0" bIns="0" rtlCol="0">
            <a:spAutoFit/>
          </a:bodyPr>
          <a:lstStyle/>
          <a:p>
            <a:pPr marL="12700">
              <a:lnSpc>
                <a:spcPct val="100000"/>
              </a:lnSpc>
              <a:spcBef>
                <a:spcPts val="750"/>
              </a:spcBef>
            </a:pPr>
            <a:r>
              <a:rPr sz="3250" spc="-60" dirty="0">
                <a:solidFill>
                  <a:srgbClr val="2E377E"/>
                </a:solidFill>
                <a:latin typeface="Georgia"/>
                <a:cs typeface="Georgia"/>
              </a:rPr>
              <a:t>1.</a:t>
            </a:r>
            <a:r>
              <a:rPr sz="3250" spc="-105" dirty="0">
                <a:solidFill>
                  <a:srgbClr val="2E377E"/>
                </a:solidFill>
                <a:latin typeface="Georgia"/>
                <a:cs typeface="Georgia"/>
              </a:rPr>
              <a:t> </a:t>
            </a:r>
            <a:r>
              <a:rPr sz="3250" spc="125" dirty="0">
                <a:solidFill>
                  <a:srgbClr val="2E377E"/>
                </a:solidFill>
                <a:latin typeface="Times New Roman"/>
                <a:cs typeface="Times New Roman"/>
              </a:rPr>
              <a:t>Define</a:t>
            </a:r>
            <a:r>
              <a:rPr sz="3250" spc="-130" dirty="0">
                <a:solidFill>
                  <a:srgbClr val="2E377E"/>
                </a:solidFill>
                <a:latin typeface="Times New Roman"/>
                <a:cs typeface="Times New Roman"/>
              </a:rPr>
              <a:t> </a:t>
            </a:r>
            <a:r>
              <a:rPr sz="3250" spc="60" dirty="0">
                <a:solidFill>
                  <a:srgbClr val="2E377E"/>
                </a:solidFill>
                <a:latin typeface="Times New Roman"/>
                <a:cs typeface="Times New Roman"/>
              </a:rPr>
              <a:t>Roles:</a:t>
            </a:r>
            <a:endParaRPr sz="3250">
              <a:latin typeface="Times New Roman"/>
              <a:cs typeface="Times New Roman"/>
            </a:endParaRPr>
          </a:p>
          <a:p>
            <a:pPr marL="12700" marR="5080">
              <a:lnSpc>
                <a:spcPct val="116799"/>
              </a:lnSpc>
              <a:spcBef>
                <a:spcPts val="5"/>
              </a:spcBef>
            </a:pPr>
            <a:r>
              <a:rPr sz="3250" dirty="0">
                <a:solidFill>
                  <a:srgbClr val="2E377E"/>
                </a:solidFill>
                <a:latin typeface="Georgia"/>
                <a:cs typeface="Georgia"/>
              </a:rPr>
              <a:t>We’ll</a:t>
            </a:r>
            <a:r>
              <a:rPr sz="3250" spc="30" dirty="0">
                <a:solidFill>
                  <a:srgbClr val="2E377E"/>
                </a:solidFill>
                <a:latin typeface="Georgia"/>
                <a:cs typeface="Georgia"/>
              </a:rPr>
              <a:t> </a:t>
            </a:r>
            <a:r>
              <a:rPr sz="3250" dirty="0">
                <a:solidFill>
                  <a:srgbClr val="2E377E"/>
                </a:solidFill>
                <a:latin typeface="Georgia"/>
                <a:cs typeface="Georgia"/>
              </a:rPr>
              <a:t>define</a:t>
            </a:r>
            <a:r>
              <a:rPr sz="3250" spc="25" dirty="0">
                <a:solidFill>
                  <a:srgbClr val="2E377E"/>
                </a:solidFill>
                <a:latin typeface="Georgia"/>
                <a:cs typeface="Georgia"/>
              </a:rPr>
              <a:t> </a:t>
            </a:r>
            <a:r>
              <a:rPr sz="3250" spc="100" dirty="0">
                <a:solidFill>
                  <a:srgbClr val="2E377E"/>
                </a:solidFill>
                <a:latin typeface="Georgia"/>
                <a:cs typeface="Georgia"/>
              </a:rPr>
              <a:t>two</a:t>
            </a:r>
            <a:r>
              <a:rPr sz="3250" spc="30" dirty="0">
                <a:solidFill>
                  <a:srgbClr val="2E377E"/>
                </a:solidFill>
                <a:latin typeface="Georgia"/>
                <a:cs typeface="Georgia"/>
              </a:rPr>
              <a:t> </a:t>
            </a:r>
            <a:r>
              <a:rPr sz="3250" spc="50" dirty="0">
                <a:solidFill>
                  <a:srgbClr val="2E377E"/>
                </a:solidFill>
                <a:latin typeface="Georgia"/>
                <a:cs typeface="Georgia"/>
              </a:rPr>
              <a:t>custom</a:t>
            </a:r>
            <a:r>
              <a:rPr sz="3250" spc="30" dirty="0">
                <a:solidFill>
                  <a:srgbClr val="2E377E"/>
                </a:solidFill>
                <a:latin typeface="Georgia"/>
                <a:cs typeface="Georgia"/>
              </a:rPr>
              <a:t> </a:t>
            </a:r>
            <a:r>
              <a:rPr sz="3250" spc="-25" dirty="0">
                <a:solidFill>
                  <a:srgbClr val="2E377E"/>
                </a:solidFill>
                <a:latin typeface="Georgia"/>
                <a:cs typeface="Georgia"/>
              </a:rPr>
              <a:t>Roles:</a:t>
            </a:r>
            <a:r>
              <a:rPr sz="3250" spc="30" dirty="0">
                <a:solidFill>
                  <a:srgbClr val="2E377E"/>
                </a:solidFill>
                <a:latin typeface="Georgia"/>
                <a:cs typeface="Georgia"/>
              </a:rPr>
              <a:t> </a:t>
            </a:r>
            <a:r>
              <a:rPr sz="3250" dirty="0">
                <a:solidFill>
                  <a:srgbClr val="2E377E"/>
                </a:solidFill>
                <a:latin typeface="Georgia"/>
                <a:cs typeface="Georgia"/>
              </a:rPr>
              <a:t>‘frontend-role’</a:t>
            </a:r>
            <a:r>
              <a:rPr sz="3250" spc="30" dirty="0">
                <a:solidFill>
                  <a:srgbClr val="2E377E"/>
                </a:solidFill>
                <a:latin typeface="Georgia"/>
                <a:cs typeface="Georgia"/>
              </a:rPr>
              <a:t> </a:t>
            </a:r>
            <a:r>
              <a:rPr sz="3250" dirty="0">
                <a:solidFill>
                  <a:srgbClr val="2E377E"/>
                </a:solidFill>
                <a:latin typeface="Georgia"/>
                <a:cs typeface="Georgia"/>
              </a:rPr>
              <a:t>and</a:t>
            </a:r>
            <a:r>
              <a:rPr sz="3250" spc="30" dirty="0">
                <a:solidFill>
                  <a:srgbClr val="2E377E"/>
                </a:solidFill>
                <a:latin typeface="Georgia"/>
                <a:cs typeface="Georgia"/>
              </a:rPr>
              <a:t> </a:t>
            </a:r>
            <a:r>
              <a:rPr sz="3250" dirty="0">
                <a:solidFill>
                  <a:srgbClr val="2E377E"/>
                </a:solidFill>
                <a:latin typeface="Georgia"/>
                <a:cs typeface="Georgia"/>
              </a:rPr>
              <a:t>‘backend-role’.</a:t>
            </a:r>
            <a:r>
              <a:rPr sz="3250" spc="30" dirty="0">
                <a:solidFill>
                  <a:srgbClr val="2E377E"/>
                </a:solidFill>
                <a:latin typeface="Georgia"/>
                <a:cs typeface="Georgia"/>
              </a:rPr>
              <a:t> </a:t>
            </a:r>
            <a:r>
              <a:rPr sz="3250" dirty="0">
                <a:solidFill>
                  <a:srgbClr val="2E377E"/>
                </a:solidFill>
                <a:latin typeface="Georgia"/>
                <a:cs typeface="Georgia"/>
              </a:rPr>
              <a:t>The</a:t>
            </a:r>
            <a:r>
              <a:rPr sz="3250" spc="25" dirty="0">
                <a:solidFill>
                  <a:srgbClr val="2E377E"/>
                </a:solidFill>
                <a:latin typeface="Georgia"/>
                <a:cs typeface="Georgia"/>
              </a:rPr>
              <a:t> </a:t>
            </a:r>
            <a:r>
              <a:rPr sz="3250" dirty="0">
                <a:solidFill>
                  <a:srgbClr val="2E377E"/>
                </a:solidFill>
                <a:latin typeface="Georgia"/>
                <a:cs typeface="Georgia"/>
              </a:rPr>
              <a:t>‘frontend-role’</a:t>
            </a:r>
            <a:r>
              <a:rPr sz="3250" spc="30" dirty="0">
                <a:solidFill>
                  <a:srgbClr val="2E377E"/>
                </a:solidFill>
                <a:latin typeface="Georgia"/>
                <a:cs typeface="Georgia"/>
              </a:rPr>
              <a:t> </a:t>
            </a:r>
            <a:r>
              <a:rPr sz="3250" spc="-20" dirty="0">
                <a:solidFill>
                  <a:srgbClr val="2E377E"/>
                </a:solidFill>
                <a:latin typeface="Georgia"/>
                <a:cs typeface="Georgia"/>
              </a:rPr>
              <a:t>will </a:t>
            </a:r>
            <a:r>
              <a:rPr sz="3250" dirty="0">
                <a:solidFill>
                  <a:srgbClr val="2E377E"/>
                </a:solidFill>
                <a:latin typeface="Georgia"/>
                <a:cs typeface="Georgia"/>
              </a:rPr>
              <a:t>allow</a:t>
            </a:r>
            <a:r>
              <a:rPr sz="3250" spc="-5" dirty="0">
                <a:solidFill>
                  <a:srgbClr val="2E377E"/>
                </a:solidFill>
                <a:latin typeface="Georgia"/>
                <a:cs typeface="Georgia"/>
              </a:rPr>
              <a:t> </a:t>
            </a:r>
            <a:r>
              <a:rPr sz="3250" dirty="0">
                <a:solidFill>
                  <a:srgbClr val="2E377E"/>
                </a:solidFill>
                <a:latin typeface="Georgia"/>
                <a:cs typeface="Georgia"/>
              </a:rPr>
              <a:t>listing</a:t>
            </a:r>
            <a:r>
              <a:rPr sz="3250" spc="5" dirty="0">
                <a:solidFill>
                  <a:srgbClr val="2E377E"/>
                </a:solidFill>
                <a:latin typeface="Georgia"/>
                <a:cs typeface="Georgia"/>
              </a:rPr>
              <a:t> </a:t>
            </a:r>
            <a:r>
              <a:rPr sz="3250" dirty="0">
                <a:solidFill>
                  <a:srgbClr val="2E377E"/>
                </a:solidFill>
                <a:latin typeface="Georgia"/>
                <a:cs typeface="Georgia"/>
              </a:rPr>
              <a:t>and</a:t>
            </a:r>
            <a:r>
              <a:rPr sz="3250" spc="-5" dirty="0">
                <a:solidFill>
                  <a:srgbClr val="2E377E"/>
                </a:solidFill>
                <a:latin typeface="Georgia"/>
                <a:cs typeface="Georgia"/>
              </a:rPr>
              <a:t> </a:t>
            </a:r>
            <a:r>
              <a:rPr sz="3250" spc="45" dirty="0">
                <a:solidFill>
                  <a:srgbClr val="2E377E"/>
                </a:solidFill>
                <a:latin typeface="Georgia"/>
                <a:cs typeface="Georgia"/>
              </a:rPr>
              <a:t>getting</a:t>
            </a:r>
            <a:r>
              <a:rPr sz="3250" dirty="0">
                <a:solidFill>
                  <a:srgbClr val="2E377E"/>
                </a:solidFill>
                <a:latin typeface="Georgia"/>
                <a:cs typeface="Georgia"/>
              </a:rPr>
              <a:t> Pods</a:t>
            </a:r>
            <a:r>
              <a:rPr sz="3250" spc="-5" dirty="0">
                <a:solidFill>
                  <a:srgbClr val="2E377E"/>
                </a:solidFill>
                <a:latin typeface="Georgia"/>
                <a:cs typeface="Georgia"/>
              </a:rPr>
              <a:t> </a:t>
            </a:r>
            <a:r>
              <a:rPr sz="3250" spc="70" dirty="0">
                <a:solidFill>
                  <a:srgbClr val="2E377E"/>
                </a:solidFill>
                <a:latin typeface="Georgia"/>
                <a:cs typeface="Georgia"/>
              </a:rPr>
              <a:t>with</a:t>
            </a:r>
            <a:r>
              <a:rPr sz="3250" dirty="0">
                <a:solidFill>
                  <a:srgbClr val="2E377E"/>
                </a:solidFill>
                <a:latin typeface="Georgia"/>
                <a:cs typeface="Georgia"/>
              </a:rPr>
              <a:t> </a:t>
            </a:r>
            <a:r>
              <a:rPr sz="3250" spc="50" dirty="0">
                <a:solidFill>
                  <a:srgbClr val="2E377E"/>
                </a:solidFill>
                <a:latin typeface="Georgia"/>
                <a:cs typeface="Georgia"/>
              </a:rPr>
              <a:t>the</a:t>
            </a:r>
            <a:r>
              <a:rPr sz="3250" dirty="0">
                <a:solidFill>
                  <a:srgbClr val="2E377E"/>
                </a:solidFill>
                <a:latin typeface="Georgia"/>
                <a:cs typeface="Georgia"/>
              </a:rPr>
              <a:t> ‘app=frontend’ label,</a:t>
            </a:r>
            <a:r>
              <a:rPr sz="3250" spc="-5" dirty="0">
                <a:solidFill>
                  <a:srgbClr val="2E377E"/>
                </a:solidFill>
                <a:latin typeface="Georgia"/>
                <a:cs typeface="Georgia"/>
              </a:rPr>
              <a:t> </a:t>
            </a:r>
            <a:r>
              <a:rPr sz="3250" dirty="0">
                <a:solidFill>
                  <a:srgbClr val="2E377E"/>
                </a:solidFill>
                <a:latin typeface="Georgia"/>
                <a:cs typeface="Georgia"/>
              </a:rPr>
              <a:t>while </a:t>
            </a:r>
            <a:r>
              <a:rPr sz="3250" spc="50" dirty="0">
                <a:solidFill>
                  <a:srgbClr val="2E377E"/>
                </a:solidFill>
                <a:latin typeface="Georgia"/>
                <a:cs typeface="Georgia"/>
              </a:rPr>
              <a:t>the</a:t>
            </a:r>
            <a:r>
              <a:rPr sz="3250" dirty="0">
                <a:solidFill>
                  <a:srgbClr val="2E377E"/>
                </a:solidFill>
                <a:latin typeface="Georgia"/>
                <a:cs typeface="Georgia"/>
              </a:rPr>
              <a:t> ‘backend-role’ </a:t>
            </a:r>
            <a:r>
              <a:rPr sz="3250" spc="-20" dirty="0">
                <a:solidFill>
                  <a:srgbClr val="2E377E"/>
                </a:solidFill>
                <a:latin typeface="Georgia"/>
                <a:cs typeface="Georgia"/>
              </a:rPr>
              <a:t>will </a:t>
            </a:r>
            <a:r>
              <a:rPr sz="3250" spc="50" dirty="0">
                <a:solidFill>
                  <a:srgbClr val="2E377E"/>
                </a:solidFill>
                <a:latin typeface="Georgia"/>
                <a:cs typeface="Georgia"/>
              </a:rPr>
              <a:t>have</a:t>
            </a:r>
            <a:r>
              <a:rPr sz="3250" spc="-5" dirty="0">
                <a:solidFill>
                  <a:srgbClr val="2E377E"/>
                </a:solidFill>
                <a:latin typeface="Georgia"/>
                <a:cs typeface="Georgia"/>
              </a:rPr>
              <a:t> </a:t>
            </a:r>
            <a:r>
              <a:rPr sz="3250" dirty="0">
                <a:solidFill>
                  <a:srgbClr val="2E377E"/>
                </a:solidFill>
                <a:latin typeface="Georgia"/>
                <a:cs typeface="Georgia"/>
              </a:rPr>
              <a:t>similar</a:t>
            </a:r>
            <a:r>
              <a:rPr sz="3250" spc="-5" dirty="0">
                <a:solidFill>
                  <a:srgbClr val="2E377E"/>
                </a:solidFill>
                <a:latin typeface="Georgia"/>
                <a:cs typeface="Georgia"/>
              </a:rPr>
              <a:t> </a:t>
            </a:r>
            <a:r>
              <a:rPr sz="3250" dirty="0">
                <a:solidFill>
                  <a:srgbClr val="2E377E"/>
                </a:solidFill>
                <a:latin typeface="Georgia"/>
                <a:cs typeface="Georgia"/>
              </a:rPr>
              <a:t>permissions</a:t>
            </a:r>
            <a:r>
              <a:rPr sz="3250" spc="-5" dirty="0">
                <a:solidFill>
                  <a:srgbClr val="2E377E"/>
                </a:solidFill>
                <a:latin typeface="Georgia"/>
                <a:cs typeface="Georgia"/>
              </a:rPr>
              <a:t> </a:t>
            </a:r>
            <a:r>
              <a:rPr sz="3250" dirty="0">
                <a:solidFill>
                  <a:srgbClr val="2E377E"/>
                </a:solidFill>
                <a:latin typeface="Georgia"/>
                <a:cs typeface="Georgia"/>
              </a:rPr>
              <a:t>for </a:t>
            </a:r>
            <a:r>
              <a:rPr sz="3250" spc="50" dirty="0">
                <a:solidFill>
                  <a:srgbClr val="2E377E"/>
                </a:solidFill>
                <a:latin typeface="Georgia"/>
                <a:cs typeface="Georgia"/>
              </a:rPr>
              <a:t>the</a:t>
            </a:r>
            <a:r>
              <a:rPr sz="3250" spc="-5" dirty="0">
                <a:solidFill>
                  <a:srgbClr val="2E377E"/>
                </a:solidFill>
                <a:latin typeface="Georgia"/>
                <a:cs typeface="Georgia"/>
              </a:rPr>
              <a:t> </a:t>
            </a:r>
            <a:r>
              <a:rPr sz="3250" dirty="0">
                <a:solidFill>
                  <a:srgbClr val="2E377E"/>
                </a:solidFill>
                <a:latin typeface="Georgia"/>
                <a:cs typeface="Georgia"/>
              </a:rPr>
              <a:t>‘app=backend’</a:t>
            </a:r>
            <a:r>
              <a:rPr sz="3250" spc="-5" dirty="0">
                <a:solidFill>
                  <a:srgbClr val="2E377E"/>
                </a:solidFill>
                <a:latin typeface="Georgia"/>
                <a:cs typeface="Georgia"/>
              </a:rPr>
              <a:t> </a:t>
            </a:r>
            <a:r>
              <a:rPr sz="3250" spc="-10" dirty="0">
                <a:solidFill>
                  <a:srgbClr val="2E377E"/>
                </a:solidFill>
                <a:latin typeface="Georgia"/>
                <a:cs typeface="Georgia"/>
              </a:rPr>
              <a:t>Pods.</a:t>
            </a:r>
            <a:endParaRPr sz="3250">
              <a:latin typeface="Georgia"/>
              <a:cs typeface="Georgia"/>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94299" y="170861"/>
            <a:ext cx="16980535" cy="2273300"/>
          </a:xfrm>
          <a:prstGeom prst="rect">
            <a:avLst/>
          </a:prstGeom>
        </p:spPr>
        <p:txBody>
          <a:bodyPr vert="horz" wrap="square" lIns="0" tIns="86360" rIns="0" bIns="0" rtlCol="0">
            <a:spAutoFit/>
          </a:bodyPr>
          <a:lstStyle/>
          <a:p>
            <a:pPr marL="12700">
              <a:lnSpc>
                <a:spcPct val="100000"/>
              </a:lnSpc>
              <a:spcBef>
                <a:spcPts val="680"/>
              </a:spcBef>
            </a:pPr>
            <a:r>
              <a:rPr sz="3200" b="0" spc="-35" dirty="0">
                <a:solidFill>
                  <a:srgbClr val="2E377E"/>
                </a:solidFill>
                <a:latin typeface="Times New Roman"/>
                <a:cs typeface="Times New Roman"/>
              </a:rPr>
              <a:t>2.</a:t>
            </a:r>
            <a:r>
              <a:rPr sz="3200" b="0" spc="-125" dirty="0">
                <a:solidFill>
                  <a:srgbClr val="2E377E"/>
                </a:solidFill>
                <a:latin typeface="Times New Roman"/>
                <a:cs typeface="Times New Roman"/>
              </a:rPr>
              <a:t> </a:t>
            </a:r>
            <a:r>
              <a:rPr sz="3200" b="0" spc="165" dirty="0">
                <a:solidFill>
                  <a:srgbClr val="2E377E"/>
                </a:solidFill>
                <a:latin typeface="Times New Roman"/>
                <a:cs typeface="Times New Roman"/>
              </a:rPr>
              <a:t>Create</a:t>
            </a:r>
            <a:r>
              <a:rPr sz="3200" b="0" spc="-125" dirty="0">
                <a:solidFill>
                  <a:srgbClr val="2E377E"/>
                </a:solidFill>
                <a:latin typeface="Times New Roman"/>
                <a:cs typeface="Times New Roman"/>
              </a:rPr>
              <a:t> </a:t>
            </a:r>
            <a:r>
              <a:rPr sz="3200" b="0" spc="80" dirty="0">
                <a:solidFill>
                  <a:srgbClr val="2E377E"/>
                </a:solidFill>
                <a:latin typeface="Times New Roman"/>
                <a:cs typeface="Times New Roman"/>
              </a:rPr>
              <a:t>RoleBindings:</a:t>
            </a:r>
            <a:endParaRPr sz="3200">
              <a:latin typeface="Times New Roman"/>
              <a:cs typeface="Times New Roman"/>
            </a:endParaRPr>
          </a:p>
          <a:p>
            <a:pPr marL="12700" marR="5080">
              <a:lnSpc>
                <a:spcPct val="115199"/>
              </a:lnSpc>
              <a:spcBef>
                <a:spcPts val="5"/>
              </a:spcBef>
            </a:pPr>
            <a:r>
              <a:rPr sz="3200" b="0" dirty="0">
                <a:solidFill>
                  <a:srgbClr val="2E377E"/>
                </a:solidFill>
                <a:latin typeface="Georgia"/>
                <a:cs typeface="Georgia"/>
              </a:rPr>
              <a:t>Now,</a:t>
            </a:r>
            <a:r>
              <a:rPr sz="3200" b="0" spc="25" dirty="0">
                <a:solidFill>
                  <a:srgbClr val="2E377E"/>
                </a:solidFill>
                <a:latin typeface="Georgia"/>
                <a:cs typeface="Georgia"/>
              </a:rPr>
              <a:t> </a:t>
            </a:r>
            <a:r>
              <a:rPr sz="3200" b="0" dirty="0">
                <a:solidFill>
                  <a:srgbClr val="2E377E"/>
                </a:solidFill>
                <a:latin typeface="Georgia"/>
                <a:cs typeface="Georgia"/>
              </a:rPr>
              <a:t>let’s</a:t>
            </a:r>
            <a:r>
              <a:rPr sz="3200" b="0" spc="25" dirty="0">
                <a:solidFill>
                  <a:srgbClr val="2E377E"/>
                </a:solidFill>
                <a:latin typeface="Georgia"/>
                <a:cs typeface="Georgia"/>
              </a:rPr>
              <a:t> </a:t>
            </a:r>
            <a:r>
              <a:rPr sz="3200" b="0" dirty="0">
                <a:solidFill>
                  <a:srgbClr val="2E377E"/>
                </a:solidFill>
                <a:latin typeface="Georgia"/>
                <a:cs typeface="Georgia"/>
              </a:rPr>
              <a:t>create</a:t>
            </a:r>
            <a:r>
              <a:rPr sz="3200" b="0" spc="30" dirty="0">
                <a:solidFill>
                  <a:srgbClr val="2E377E"/>
                </a:solidFill>
                <a:latin typeface="Georgia"/>
                <a:cs typeface="Georgia"/>
              </a:rPr>
              <a:t> </a:t>
            </a:r>
            <a:r>
              <a:rPr sz="3200" b="0" spc="-10" dirty="0">
                <a:solidFill>
                  <a:srgbClr val="2E377E"/>
                </a:solidFill>
                <a:latin typeface="Georgia"/>
                <a:cs typeface="Georgia"/>
              </a:rPr>
              <a:t>RoleBindings</a:t>
            </a:r>
            <a:r>
              <a:rPr sz="3200" b="0" spc="25" dirty="0">
                <a:solidFill>
                  <a:srgbClr val="2E377E"/>
                </a:solidFill>
                <a:latin typeface="Georgia"/>
                <a:cs typeface="Georgia"/>
              </a:rPr>
              <a:t> </a:t>
            </a:r>
            <a:r>
              <a:rPr sz="3200" b="0" spc="55" dirty="0">
                <a:solidFill>
                  <a:srgbClr val="2E377E"/>
                </a:solidFill>
                <a:latin typeface="Georgia"/>
                <a:cs typeface="Georgia"/>
              </a:rPr>
              <a:t>to</a:t>
            </a:r>
            <a:r>
              <a:rPr sz="3200" b="0" spc="25" dirty="0">
                <a:solidFill>
                  <a:srgbClr val="2E377E"/>
                </a:solidFill>
                <a:latin typeface="Georgia"/>
                <a:cs typeface="Georgia"/>
              </a:rPr>
              <a:t> </a:t>
            </a:r>
            <a:r>
              <a:rPr sz="3200" b="0" dirty="0">
                <a:solidFill>
                  <a:srgbClr val="2E377E"/>
                </a:solidFill>
                <a:latin typeface="Georgia"/>
                <a:cs typeface="Georgia"/>
              </a:rPr>
              <a:t>associate</a:t>
            </a:r>
            <a:r>
              <a:rPr sz="3200" b="0" spc="30" dirty="0">
                <a:solidFill>
                  <a:srgbClr val="2E377E"/>
                </a:solidFill>
                <a:latin typeface="Georgia"/>
                <a:cs typeface="Georgia"/>
              </a:rPr>
              <a:t> </a:t>
            </a:r>
            <a:r>
              <a:rPr sz="3200" b="0" dirty="0">
                <a:solidFill>
                  <a:srgbClr val="2E377E"/>
                </a:solidFill>
                <a:latin typeface="Georgia"/>
                <a:cs typeface="Georgia"/>
              </a:rPr>
              <a:t>these</a:t>
            </a:r>
            <a:r>
              <a:rPr sz="3200" b="0" spc="25" dirty="0">
                <a:solidFill>
                  <a:srgbClr val="2E377E"/>
                </a:solidFill>
                <a:latin typeface="Georgia"/>
                <a:cs typeface="Georgia"/>
              </a:rPr>
              <a:t> </a:t>
            </a:r>
            <a:r>
              <a:rPr sz="3200" b="0" dirty="0">
                <a:solidFill>
                  <a:srgbClr val="2E377E"/>
                </a:solidFill>
                <a:latin typeface="Georgia"/>
                <a:cs typeface="Georgia"/>
              </a:rPr>
              <a:t>custom</a:t>
            </a:r>
            <a:r>
              <a:rPr sz="3200" b="0" spc="25" dirty="0">
                <a:solidFill>
                  <a:srgbClr val="2E377E"/>
                </a:solidFill>
                <a:latin typeface="Georgia"/>
                <a:cs typeface="Georgia"/>
              </a:rPr>
              <a:t> </a:t>
            </a:r>
            <a:r>
              <a:rPr sz="3200" b="0" dirty="0">
                <a:solidFill>
                  <a:srgbClr val="2E377E"/>
                </a:solidFill>
                <a:latin typeface="Georgia"/>
                <a:cs typeface="Georgia"/>
              </a:rPr>
              <a:t>Roles</a:t>
            </a:r>
            <a:r>
              <a:rPr sz="3200" b="0" spc="30" dirty="0">
                <a:solidFill>
                  <a:srgbClr val="2E377E"/>
                </a:solidFill>
                <a:latin typeface="Georgia"/>
                <a:cs typeface="Georgia"/>
              </a:rPr>
              <a:t> </a:t>
            </a:r>
            <a:r>
              <a:rPr sz="3200" b="0" spc="70" dirty="0">
                <a:solidFill>
                  <a:srgbClr val="2E377E"/>
                </a:solidFill>
                <a:latin typeface="Georgia"/>
                <a:cs typeface="Georgia"/>
              </a:rPr>
              <a:t>with</a:t>
            </a:r>
            <a:r>
              <a:rPr sz="3200" b="0" spc="25" dirty="0">
                <a:solidFill>
                  <a:srgbClr val="2E377E"/>
                </a:solidFill>
                <a:latin typeface="Georgia"/>
                <a:cs typeface="Georgia"/>
              </a:rPr>
              <a:t> </a:t>
            </a:r>
            <a:r>
              <a:rPr sz="3200" b="0" spc="50" dirty="0">
                <a:solidFill>
                  <a:srgbClr val="2E377E"/>
                </a:solidFill>
                <a:latin typeface="Georgia"/>
                <a:cs typeface="Georgia"/>
              </a:rPr>
              <a:t>the</a:t>
            </a:r>
            <a:r>
              <a:rPr sz="3200" b="0" spc="30" dirty="0">
                <a:solidFill>
                  <a:srgbClr val="2E377E"/>
                </a:solidFill>
                <a:latin typeface="Georgia"/>
                <a:cs typeface="Georgia"/>
              </a:rPr>
              <a:t> </a:t>
            </a:r>
            <a:r>
              <a:rPr sz="3200" b="0" dirty="0">
                <a:solidFill>
                  <a:srgbClr val="2E377E"/>
                </a:solidFill>
                <a:latin typeface="Georgia"/>
                <a:cs typeface="Georgia"/>
              </a:rPr>
              <a:t>appropriate</a:t>
            </a:r>
            <a:r>
              <a:rPr sz="3200" b="0" spc="25" dirty="0">
                <a:solidFill>
                  <a:srgbClr val="2E377E"/>
                </a:solidFill>
                <a:latin typeface="Georgia"/>
                <a:cs typeface="Georgia"/>
              </a:rPr>
              <a:t> </a:t>
            </a:r>
            <a:r>
              <a:rPr sz="3200" b="0" spc="-10" dirty="0">
                <a:solidFill>
                  <a:srgbClr val="2E377E"/>
                </a:solidFill>
                <a:latin typeface="Georgia"/>
                <a:cs typeface="Georgia"/>
              </a:rPr>
              <a:t>teams. </a:t>
            </a:r>
            <a:r>
              <a:rPr sz="3200" b="0" dirty="0">
                <a:solidFill>
                  <a:srgbClr val="2E377E"/>
                </a:solidFill>
                <a:latin typeface="Georgia"/>
                <a:cs typeface="Georgia"/>
              </a:rPr>
              <a:t>The</a:t>
            </a:r>
            <a:r>
              <a:rPr sz="3200" b="0" spc="50" dirty="0">
                <a:solidFill>
                  <a:srgbClr val="2E377E"/>
                </a:solidFill>
                <a:latin typeface="Georgia"/>
                <a:cs typeface="Georgia"/>
              </a:rPr>
              <a:t> </a:t>
            </a:r>
            <a:r>
              <a:rPr sz="3200" b="0" dirty="0">
                <a:solidFill>
                  <a:srgbClr val="2E377E"/>
                </a:solidFill>
                <a:latin typeface="Georgia"/>
                <a:cs typeface="Georgia"/>
              </a:rPr>
              <a:t>‘frontend-role-binding’</a:t>
            </a:r>
            <a:r>
              <a:rPr sz="3200" b="0" spc="50" dirty="0">
                <a:solidFill>
                  <a:srgbClr val="2E377E"/>
                </a:solidFill>
                <a:latin typeface="Georgia"/>
                <a:cs typeface="Georgia"/>
              </a:rPr>
              <a:t> </a:t>
            </a:r>
            <a:r>
              <a:rPr sz="3200" b="0" dirty="0">
                <a:solidFill>
                  <a:srgbClr val="2E377E"/>
                </a:solidFill>
                <a:latin typeface="Georgia"/>
                <a:cs typeface="Georgia"/>
              </a:rPr>
              <a:t>will</a:t>
            </a:r>
            <a:r>
              <a:rPr sz="3200" b="0" spc="50" dirty="0">
                <a:solidFill>
                  <a:srgbClr val="2E377E"/>
                </a:solidFill>
                <a:latin typeface="Georgia"/>
                <a:cs typeface="Georgia"/>
              </a:rPr>
              <a:t> </a:t>
            </a:r>
            <a:r>
              <a:rPr sz="3200" b="0" dirty="0">
                <a:solidFill>
                  <a:srgbClr val="2E377E"/>
                </a:solidFill>
                <a:latin typeface="Georgia"/>
                <a:cs typeface="Georgia"/>
              </a:rPr>
              <a:t>bind</a:t>
            </a:r>
            <a:r>
              <a:rPr sz="3200" b="0" spc="50" dirty="0">
                <a:solidFill>
                  <a:srgbClr val="2E377E"/>
                </a:solidFill>
                <a:latin typeface="Georgia"/>
                <a:cs typeface="Georgia"/>
              </a:rPr>
              <a:t> the </a:t>
            </a:r>
            <a:r>
              <a:rPr sz="3200" b="0" dirty="0">
                <a:solidFill>
                  <a:srgbClr val="2E377E"/>
                </a:solidFill>
                <a:latin typeface="Georgia"/>
                <a:cs typeface="Georgia"/>
              </a:rPr>
              <a:t>‘frontend-role’</a:t>
            </a:r>
            <a:r>
              <a:rPr sz="3200" b="0" spc="55" dirty="0">
                <a:solidFill>
                  <a:srgbClr val="2E377E"/>
                </a:solidFill>
                <a:latin typeface="Georgia"/>
                <a:cs typeface="Georgia"/>
              </a:rPr>
              <a:t> to</a:t>
            </a:r>
            <a:r>
              <a:rPr sz="3200" b="0" spc="50" dirty="0">
                <a:solidFill>
                  <a:srgbClr val="2E377E"/>
                </a:solidFill>
                <a:latin typeface="Georgia"/>
                <a:cs typeface="Georgia"/>
              </a:rPr>
              <a:t> the </a:t>
            </a:r>
            <a:r>
              <a:rPr sz="3200" b="0" dirty="0">
                <a:solidFill>
                  <a:srgbClr val="2E377E"/>
                </a:solidFill>
                <a:latin typeface="Georgia"/>
                <a:cs typeface="Georgia"/>
              </a:rPr>
              <a:t>‘frontend-team’</a:t>
            </a:r>
            <a:r>
              <a:rPr sz="3200" b="0" spc="50" dirty="0">
                <a:solidFill>
                  <a:srgbClr val="2E377E"/>
                </a:solidFill>
                <a:latin typeface="Georgia"/>
                <a:cs typeface="Georgia"/>
              </a:rPr>
              <a:t> </a:t>
            </a:r>
            <a:r>
              <a:rPr sz="3200" b="0" dirty="0">
                <a:solidFill>
                  <a:srgbClr val="2E377E"/>
                </a:solidFill>
                <a:latin typeface="Georgia"/>
                <a:cs typeface="Georgia"/>
              </a:rPr>
              <a:t>group,</a:t>
            </a:r>
            <a:r>
              <a:rPr sz="3200" b="0" spc="50" dirty="0">
                <a:solidFill>
                  <a:srgbClr val="2E377E"/>
                </a:solidFill>
                <a:latin typeface="Georgia"/>
                <a:cs typeface="Georgia"/>
              </a:rPr>
              <a:t> </a:t>
            </a:r>
            <a:r>
              <a:rPr sz="3200" b="0" dirty="0">
                <a:solidFill>
                  <a:srgbClr val="2E377E"/>
                </a:solidFill>
                <a:latin typeface="Georgia"/>
                <a:cs typeface="Georgia"/>
              </a:rPr>
              <a:t>and</a:t>
            </a:r>
            <a:r>
              <a:rPr sz="3200" b="0" spc="50" dirty="0">
                <a:solidFill>
                  <a:srgbClr val="2E377E"/>
                </a:solidFill>
                <a:latin typeface="Georgia"/>
                <a:cs typeface="Georgia"/>
              </a:rPr>
              <a:t> </a:t>
            </a:r>
            <a:r>
              <a:rPr sz="3200" b="0" spc="25" dirty="0">
                <a:solidFill>
                  <a:srgbClr val="2E377E"/>
                </a:solidFill>
                <a:latin typeface="Georgia"/>
                <a:cs typeface="Georgia"/>
              </a:rPr>
              <a:t>the </a:t>
            </a:r>
            <a:r>
              <a:rPr sz="3200" b="0" dirty="0">
                <a:solidFill>
                  <a:srgbClr val="2E377E"/>
                </a:solidFill>
                <a:latin typeface="Georgia"/>
                <a:cs typeface="Georgia"/>
              </a:rPr>
              <a:t>‘backend-role-binding’</a:t>
            </a:r>
            <a:r>
              <a:rPr sz="3200" b="0" spc="60" dirty="0">
                <a:solidFill>
                  <a:srgbClr val="2E377E"/>
                </a:solidFill>
                <a:latin typeface="Georgia"/>
                <a:cs typeface="Georgia"/>
              </a:rPr>
              <a:t> </a:t>
            </a:r>
            <a:r>
              <a:rPr sz="3200" b="0" dirty="0">
                <a:solidFill>
                  <a:srgbClr val="2E377E"/>
                </a:solidFill>
                <a:latin typeface="Georgia"/>
                <a:cs typeface="Georgia"/>
              </a:rPr>
              <a:t>will</a:t>
            </a:r>
            <a:r>
              <a:rPr sz="3200" b="0" spc="65" dirty="0">
                <a:solidFill>
                  <a:srgbClr val="2E377E"/>
                </a:solidFill>
                <a:latin typeface="Georgia"/>
                <a:cs typeface="Georgia"/>
              </a:rPr>
              <a:t> </a:t>
            </a:r>
            <a:r>
              <a:rPr sz="3200" b="0" dirty="0">
                <a:solidFill>
                  <a:srgbClr val="2E377E"/>
                </a:solidFill>
                <a:latin typeface="Georgia"/>
                <a:cs typeface="Georgia"/>
              </a:rPr>
              <a:t>bind</a:t>
            </a:r>
            <a:r>
              <a:rPr sz="3200" b="0" spc="65" dirty="0">
                <a:solidFill>
                  <a:srgbClr val="2E377E"/>
                </a:solidFill>
                <a:latin typeface="Georgia"/>
                <a:cs typeface="Georgia"/>
              </a:rPr>
              <a:t> </a:t>
            </a:r>
            <a:r>
              <a:rPr sz="3200" b="0" spc="50" dirty="0">
                <a:solidFill>
                  <a:srgbClr val="2E377E"/>
                </a:solidFill>
                <a:latin typeface="Georgia"/>
                <a:cs typeface="Georgia"/>
              </a:rPr>
              <a:t>the</a:t>
            </a:r>
            <a:r>
              <a:rPr sz="3200" b="0" spc="65" dirty="0">
                <a:solidFill>
                  <a:srgbClr val="2E377E"/>
                </a:solidFill>
                <a:latin typeface="Georgia"/>
                <a:cs typeface="Georgia"/>
              </a:rPr>
              <a:t> </a:t>
            </a:r>
            <a:r>
              <a:rPr sz="3200" b="0" dirty="0">
                <a:solidFill>
                  <a:srgbClr val="2E377E"/>
                </a:solidFill>
                <a:latin typeface="Georgia"/>
                <a:cs typeface="Georgia"/>
              </a:rPr>
              <a:t>‘backend-role’</a:t>
            </a:r>
            <a:r>
              <a:rPr sz="3200" b="0" spc="65" dirty="0">
                <a:solidFill>
                  <a:srgbClr val="2E377E"/>
                </a:solidFill>
                <a:latin typeface="Georgia"/>
                <a:cs typeface="Georgia"/>
              </a:rPr>
              <a:t> </a:t>
            </a:r>
            <a:r>
              <a:rPr sz="3200" b="0" spc="55" dirty="0">
                <a:solidFill>
                  <a:srgbClr val="2E377E"/>
                </a:solidFill>
                <a:latin typeface="Georgia"/>
                <a:cs typeface="Georgia"/>
              </a:rPr>
              <a:t>to</a:t>
            </a:r>
            <a:r>
              <a:rPr sz="3200" b="0" spc="65" dirty="0">
                <a:solidFill>
                  <a:srgbClr val="2E377E"/>
                </a:solidFill>
                <a:latin typeface="Georgia"/>
                <a:cs typeface="Georgia"/>
              </a:rPr>
              <a:t> </a:t>
            </a:r>
            <a:r>
              <a:rPr sz="3200" b="0" spc="50" dirty="0">
                <a:solidFill>
                  <a:srgbClr val="2E377E"/>
                </a:solidFill>
                <a:latin typeface="Georgia"/>
                <a:cs typeface="Georgia"/>
              </a:rPr>
              <a:t>the</a:t>
            </a:r>
            <a:r>
              <a:rPr sz="3200" b="0" spc="65" dirty="0">
                <a:solidFill>
                  <a:srgbClr val="2E377E"/>
                </a:solidFill>
                <a:latin typeface="Georgia"/>
                <a:cs typeface="Georgia"/>
              </a:rPr>
              <a:t> </a:t>
            </a:r>
            <a:r>
              <a:rPr sz="3200" b="0" dirty="0">
                <a:solidFill>
                  <a:srgbClr val="2E377E"/>
                </a:solidFill>
                <a:latin typeface="Georgia"/>
                <a:cs typeface="Georgia"/>
              </a:rPr>
              <a:t>‘backend-team’</a:t>
            </a:r>
            <a:r>
              <a:rPr sz="3200" b="0" spc="60" dirty="0">
                <a:solidFill>
                  <a:srgbClr val="2E377E"/>
                </a:solidFill>
                <a:latin typeface="Georgia"/>
                <a:cs typeface="Georgia"/>
              </a:rPr>
              <a:t> </a:t>
            </a:r>
            <a:r>
              <a:rPr sz="3200" b="0" spc="-10" dirty="0">
                <a:solidFill>
                  <a:srgbClr val="2E377E"/>
                </a:solidFill>
                <a:latin typeface="Georgia"/>
                <a:cs typeface="Georgia"/>
              </a:rPr>
              <a:t>group.</a:t>
            </a:r>
            <a:endParaRPr sz="3200">
              <a:latin typeface="Georgia"/>
              <a:cs typeface="Georgia"/>
            </a:endParaRPr>
          </a:p>
        </p:txBody>
      </p:sp>
      <p:sp>
        <p:nvSpPr>
          <p:cNvPr id="3" name="object 3"/>
          <p:cNvSpPr txBox="1">
            <a:spLocks noGrp="1"/>
          </p:cNvSpPr>
          <p:nvPr>
            <p:ph sz="half" idx="2"/>
          </p:nvPr>
        </p:nvSpPr>
        <p:spPr>
          <a:prstGeom prst="rect">
            <a:avLst/>
          </a:prstGeom>
        </p:spPr>
        <p:txBody>
          <a:bodyPr vert="horz" wrap="square" lIns="0" tIns="12700" rIns="0" bIns="0" rtlCol="0">
            <a:spAutoFit/>
          </a:bodyPr>
          <a:lstStyle/>
          <a:p>
            <a:pPr marL="12700" marR="5080">
              <a:lnSpc>
                <a:spcPct val="115300"/>
              </a:lnSpc>
              <a:spcBef>
                <a:spcPts val="100"/>
              </a:spcBef>
            </a:pPr>
            <a:r>
              <a:rPr spc="320" dirty="0">
                <a:latin typeface="Times New Roman"/>
                <a:cs typeface="Times New Roman"/>
              </a:rPr>
              <a:t>#</a:t>
            </a:r>
            <a:r>
              <a:rPr spc="-50" dirty="0">
                <a:latin typeface="Times New Roman"/>
                <a:cs typeface="Times New Roman"/>
              </a:rPr>
              <a:t> </a:t>
            </a:r>
            <a:r>
              <a:rPr spc="185" dirty="0">
                <a:latin typeface="Times New Roman"/>
                <a:cs typeface="Times New Roman"/>
              </a:rPr>
              <a:t>frontend-</a:t>
            </a:r>
            <a:r>
              <a:rPr spc="135" dirty="0">
                <a:latin typeface="Times New Roman"/>
                <a:cs typeface="Times New Roman"/>
              </a:rPr>
              <a:t>role-</a:t>
            </a:r>
            <a:r>
              <a:rPr spc="120" dirty="0">
                <a:latin typeface="Times New Roman"/>
                <a:cs typeface="Times New Roman"/>
              </a:rPr>
              <a:t>binding.yaml </a:t>
            </a:r>
            <a:r>
              <a:rPr spc="-10" dirty="0"/>
              <a:t>apiVersion:</a:t>
            </a:r>
            <a:r>
              <a:rPr spc="-125" dirty="0"/>
              <a:t> </a:t>
            </a:r>
            <a:r>
              <a:rPr spc="-10" dirty="0"/>
              <a:t>rbac.authorization.k8s.io/v1 </a:t>
            </a:r>
            <a:r>
              <a:rPr dirty="0"/>
              <a:t>kind:</a:t>
            </a:r>
            <a:r>
              <a:rPr spc="-155" dirty="0"/>
              <a:t> </a:t>
            </a:r>
            <a:r>
              <a:rPr spc="-10" dirty="0"/>
              <a:t>RoleBinding</a:t>
            </a:r>
          </a:p>
          <a:p>
            <a:pPr marL="12700">
              <a:lnSpc>
                <a:spcPct val="100000"/>
              </a:lnSpc>
              <a:spcBef>
                <a:spcPts val="515"/>
              </a:spcBef>
            </a:pPr>
            <a:r>
              <a:rPr spc="-10" dirty="0"/>
              <a:t>metadata:</a:t>
            </a:r>
          </a:p>
          <a:p>
            <a:pPr marL="12700" marR="1664970" indent="78105">
              <a:lnSpc>
                <a:spcPct val="115300"/>
              </a:lnSpc>
            </a:pPr>
            <a:r>
              <a:rPr spc="-10" dirty="0"/>
              <a:t>name:</a:t>
            </a:r>
            <a:r>
              <a:rPr spc="229" dirty="0"/>
              <a:t> </a:t>
            </a:r>
            <a:r>
              <a:rPr dirty="0"/>
              <a:t>frontend-role-</a:t>
            </a:r>
            <a:r>
              <a:rPr spc="-10" dirty="0"/>
              <a:t>binding </a:t>
            </a:r>
            <a:r>
              <a:rPr dirty="0"/>
              <a:t>namespace:</a:t>
            </a:r>
            <a:r>
              <a:rPr spc="-70" dirty="0"/>
              <a:t> </a:t>
            </a:r>
            <a:r>
              <a:rPr spc="70" dirty="0"/>
              <a:t>my-</a:t>
            </a:r>
            <a:r>
              <a:rPr spc="-10" dirty="0"/>
              <a:t>project subjects:</a:t>
            </a:r>
          </a:p>
          <a:p>
            <a:pPr marL="12700">
              <a:lnSpc>
                <a:spcPct val="100000"/>
              </a:lnSpc>
              <a:spcBef>
                <a:spcPts val="515"/>
              </a:spcBef>
            </a:pPr>
            <a:r>
              <a:rPr dirty="0"/>
              <a:t>-</a:t>
            </a:r>
            <a:r>
              <a:rPr spc="-100" dirty="0"/>
              <a:t> </a:t>
            </a:r>
            <a:r>
              <a:rPr dirty="0"/>
              <a:t>kind:</a:t>
            </a:r>
            <a:r>
              <a:rPr spc="-95" dirty="0"/>
              <a:t> </a:t>
            </a:r>
            <a:r>
              <a:rPr spc="-20" dirty="0"/>
              <a:t>Group</a:t>
            </a:r>
          </a:p>
          <a:p>
            <a:pPr marL="90805">
              <a:lnSpc>
                <a:spcPct val="100000"/>
              </a:lnSpc>
              <a:spcBef>
                <a:spcPts val="515"/>
              </a:spcBef>
            </a:pPr>
            <a:r>
              <a:rPr spc="-10" dirty="0"/>
              <a:t>name:</a:t>
            </a:r>
            <a:r>
              <a:rPr spc="145" dirty="0"/>
              <a:t> </a:t>
            </a:r>
            <a:r>
              <a:rPr dirty="0"/>
              <a:t>frontend-</a:t>
            </a:r>
            <a:r>
              <a:rPr spc="-20" dirty="0"/>
              <a:t>team</a:t>
            </a:r>
          </a:p>
          <a:p>
            <a:pPr marL="12700" marR="630555" indent="78105">
              <a:lnSpc>
                <a:spcPct val="115300"/>
              </a:lnSpc>
            </a:pPr>
            <a:r>
              <a:rPr spc="-20" dirty="0"/>
              <a:t>apiGroup:</a:t>
            </a:r>
            <a:r>
              <a:rPr spc="-90" dirty="0"/>
              <a:t> </a:t>
            </a:r>
            <a:r>
              <a:rPr spc="-10" dirty="0"/>
              <a:t>rbac.authorization.k8s.io roleRef:</a:t>
            </a:r>
          </a:p>
          <a:p>
            <a:pPr marL="90805">
              <a:lnSpc>
                <a:spcPct val="100000"/>
              </a:lnSpc>
              <a:spcBef>
                <a:spcPts val="515"/>
              </a:spcBef>
            </a:pPr>
            <a:r>
              <a:rPr dirty="0"/>
              <a:t>kind:</a:t>
            </a:r>
            <a:r>
              <a:rPr spc="-155" dirty="0"/>
              <a:t> </a:t>
            </a:r>
            <a:r>
              <a:rPr spc="-20" dirty="0"/>
              <a:t>Role</a:t>
            </a:r>
          </a:p>
          <a:p>
            <a:pPr marL="90805">
              <a:lnSpc>
                <a:spcPct val="100000"/>
              </a:lnSpc>
              <a:spcBef>
                <a:spcPts val="520"/>
              </a:spcBef>
            </a:pPr>
            <a:r>
              <a:rPr spc="-10" dirty="0"/>
              <a:t>name:</a:t>
            </a:r>
            <a:r>
              <a:rPr spc="145" dirty="0"/>
              <a:t> </a:t>
            </a:r>
            <a:r>
              <a:rPr dirty="0"/>
              <a:t>frontend-</a:t>
            </a:r>
            <a:r>
              <a:rPr spc="-20" dirty="0"/>
              <a:t>role</a:t>
            </a:r>
          </a:p>
          <a:p>
            <a:pPr marL="90805">
              <a:lnSpc>
                <a:spcPct val="100000"/>
              </a:lnSpc>
              <a:spcBef>
                <a:spcPts val="515"/>
              </a:spcBef>
            </a:pPr>
            <a:r>
              <a:rPr spc="-20" dirty="0"/>
              <a:t>apiGroup:</a:t>
            </a:r>
            <a:r>
              <a:rPr spc="-90" dirty="0"/>
              <a:t> </a:t>
            </a:r>
            <a:r>
              <a:rPr spc="-10" dirty="0"/>
              <a:t>rbac.authorization.k8s.io</a:t>
            </a:r>
          </a:p>
        </p:txBody>
      </p:sp>
      <p:sp>
        <p:nvSpPr>
          <p:cNvPr id="4" name="object 4"/>
          <p:cNvSpPr txBox="1">
            <a:spLocks noGrp="1"/>
          </p:cNvSpPr>
          <p:nvPr>
            <p:ph sz="half" idx="3"/>
          </p:nvPr>
        </p:nvSpPr>
        <p:spPr>
          <a:prstGeom prst="rect">
            <a:avLst/>
          </a:prstGeom>
        </p:spPr>
        <p:txBody>
          <a:bodyPr vert="horz" wrap="square" lIns="0" tIns="12700" rIns="0" bIns="0" rtlCol="0">
            <a:spAutoFit/>
          </a:bodyPr>
          <a:lstStyle/>
          <a:p>
            <a:pPr marL="12700" marR="5080">
              <a:lnSpc>
                <a:spcPct val="115300"/>
              </a:lnSpc>
              <a:spcBef>
                <a:spcPts val="100"/>
              </a:spcBef>
            </a:pPr>
            <a:r>
              <a:rPr spc="320" dirty="0">
                <a:latin typeface="Times New Roman"/>
                <a:cs typeface="Times New Roman"/>
              </a:rPr>
              <a:t>#</a:t>
            </a:r>
            <a:r>
              <a:rPr spc="-75" dirty="0">
                <a:latin typeface="Times New Roman"/>
                <a:cs typeface="Times New Roman"/>
              </a:rPr>
              <a:t> </a:t>
            </a:r>
            <a:r>
              <a:rPr spc="165" dirty="0">
                <a:latin typeface="Times New Roman"/>
                <a:cs typeface="Times New Roman"/>
              </a:rPr>
              <a:t>backend-</a:t>
            </a:r>
            <a:r>
              <a:rPr spc="135" dirty="0">
                <a:latin typeface="Times New Roman"/>
                <a:cs typeface="Times New Roman"/>
              </a:rPr>
              <a:t>role-</a:t>
            </a:r>
            <a:r>
              <a:rPr spc="120" dirty="0">
                <a:latin typeface="Times New Roman"/>
                <a:cs typeface="Times New Roman"/>
              </a:rPr>
              <a:t>binding.yaml </a:t>
            </a:r>
            <a:r>
              <a:rPr spc="-10" dirty="0"/>
              <a:t>apiVersion:</a:t>
            </a:r>
            <a:r>
              <a:rPr spc="-125" dirty="0"/>
              <a:t> </a:t>
            </a:r>
            <a:r>
              <a:rPr spc="-10" dirty="0"/>
              <a:t>rbac.authorization.k8s.io/v1 </a:t>
            </a:r>
            <a:r>
              <a:rPr dirty="0"/>
              <a:t>kind:</a:t>
            </a:r>
            <a:r>
              <a:rPr spc="-155" dirty="0"/>
              <a:t> </a:t>
            </a:r>
            <a:r>
              <a:rPr spc="-10" dirty="0"/>
              <a:t>RoleBinding</a:t>
            </a:r>
          </a:p>
          <a:p>
            <a:pPr marL="12700">
              <a:lnSpc>
                <a:spcPct val="100000"/>
              </a:lnSpc>
              <a:spcBef>
                <a:spcPts val="515"/>
              </a:spcBef>
            </a:pPr>
            <a:r>
              <a:rPr spc="-10" dirty="0"/>
              <a:t>metadata:</a:t>
            </a:r>
          </a:p>
          <a:p>
            <a:pPr marL="12700" marR="1731645" indent="78105">
              <a:lnSpc>
                <a:spcPct val="115300"/>
              </a:lnSpc>
            </a:pPr>
            <a:r>
              <a:rPr spc="-10" dirty="0"/>
              <a:t>name:</a:t>
            </a:r>
            <a:r>
              <a:rPr spc="135" dirty="0"/>
              <a:t> </a:t>
            </a:r>
            <a:r>
              <a:rPr dirty="0"/>
              <a:t>backend-role-</a:t>
            </a:r>
            <a:r>
              <a:rPr spc="-10" dirty="0"/>
              <a:t>binding </a:t>
            </a:r>
            <a:r>
              <a:rPr dirty="0"/>
              <a:t>namespace:</a:t>
            </a:r>
            <a:r>
              <a:rPr spc="-70" dirty="0"/>
              <a:t> </a:t>
            </a:r>
            <a:r>
              <a:rPr spc="70" dirty="0"/>
              <a:t>my-</a:t>
            </a:r>
            <a:r>
              <a:rPr spc="-10" dirty="0"/>
              <a:t>project subjects:</a:t>
            </a:r>
          </a:p>
          <a:p>
            <a:pPr marL="12700">
              <a:lnSpc>
                <a:spcPct val="100000"/>
              </a:lnSpc>
              <a:spcBef>
                <a:spcPts val="515"/>
              </a:spcBef>
            </a:pPr>
            <a:r>
              <a:rPr dirty="0"/>
              <a:t>-</a:t>
            </a:r>
            <a:r>
              <a:rPr spc="-100" dirty="0"/>
              <a:t> </a:t>
            </a:r>
            <a:r>
              <a:rPr dirty="0"/>
              <a:t>kind:</a:t>
            </a:r>
            <a:r>
              <a:rPr spc="-95" dirty="0"/>
              <a:t> </a:t>
            </a:r>
            <a:r>
              <a:rPr spc="-20" dirty="0"/>
              <a:t>Group</a:t>
            </a:r>
          </a:p>
          <a:p>
            <a:pPr marL="90805">
              <a:lnSpc>
                <a:spcPct val="100000"/>
              </a:lnSpc>
              <a:spcBef>
                <a:spcPts val="515"/>
              </a:spcBef>
            </a:pPr>
            <a:r>
              <a:rPr spc="-10" dirty="0"/>
              <a:t>name:</a:t>
            </a:r>
            <a:r>
              <a:rPr spc="55" dirty="0"/>
              <a:t> </a:t>
            </a:r>
            <a:r>
              <a:rPr dirty="0"/>
              <a:t>backend-</a:t>
            </a:r>
            <a:r>
              <a:rPr spc="-20" dirty="0"/>
              <a:t>team</a:t>
            </a:r>
          </a:p>
          <a:p>
            <a:pPr marL="12700" marR="630555" indent="78105">
              <a:lnSpc>
                <a:spcPct val="115300"/>
              </a:lnSpc>
            </a:pPr>
            <a:r>
              <a:rPr spc="-20" dirty="0"/>
              <a:t>apiGroup:</a:t>
            </a:r>
            <a:r>
              <a:rPr spc="-90" dirty="0"/>
              <a:t> </a:t>
            </a:r>
            <a:r>
              <a:rPr spc="-10" dirty="0"/>
              <a:t>rbac.authorization.k8s.io roleRef:</a:t>
            </a:r>
          </a:p>
          <a:p>
            <a:pPr marL="90805">
              <a:lnSpc>
                <a:spcPct val="100000"/>
              </a:lnSpc>
              <a:spcBef>
                <a:spcPts val="515"/>
              </a:spcBef>
            </a:pPr>
            <a:r>
              <a:rPr dirty="0"/>
              <a:t>kind:</a:t>
            </a:r>
            <a:r>
              <a:rPr spc="-155" dirty="0"/>
              <a:t> </a:t>
            </a:r>
            <a:r>
              <a:rPr spc="-20" dirty="0"/>
              <a:t>Role</a:t>
            </a:r>
          </a:p>
          <a:p>
            <a:pPr marL="90805">
              <a:lnSpc>
                <a:spcPct val="100000"/>
              </a:lnSpc>
              <a:spcBef>
                <a:spcPts val="520"/>
              </a:spcBef>
            </a:pPr>
            <a:r>
              <a:rPr spc="-10" dirty="0"/>
              <a:t>name:</a:t>
            </a:r>
            <a:r>
              <a:rPr spc="55" dirty="0"/>
              <a:t> </a:t>
            </a:r>
            <a:r>
              <a:rPr dirty="0"/>
              <a:t>backend-</a:t>
            </a:r>
            <a:r>
              <a:rPr spc="-20" dirty="0"/>
              <a:t>role</a:t>
            </a:r>
          </a:p>
          <a:p>
            <a:pPr marL="90805">
              <a:lnSpc>
                <a:spcPct val="100000"/>
              </a:lnSpc>
              <a:spcBef>
                <a:spcPts val="515"/>
              </a:spcBef>
            </a:pPr>
            <a:r>
              <a:rPr spc="-20" dirty="0"/>
              <a:t>apiGroup:</a:t>
            </a:r>
            <a:r>
              <a:rPr spc="-90" dirty="0"/>
              <a:t> </a:t>
            </a:r>
            <a:r>
              <a:rPr spc="-10" dirty="0"/>
              <a:t>rbac.authorization.k8s.io</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2549" y="654904"/>
            <a:ext cx="15737205" cy="9067800"/>
          </a:xfrm>
          <a:prstGeom prst="rect">
            <a:avLst/>
          </a:prstGeom>
        </p:spPr>
        <p:txBody>
          <a:bodyPr vert="horz" wrap="square" lIns="0" tIns="80645" rIns="0" bIns="0" rtlCol="0">
            <a:spAutoFit/>
          </a:bodyPr>
          <a:lstStyle/>
          <a:p>
            <a:pPr marL="12700">
              <a:lnSpc>
                <a:spcPct val="100000"/>
              </a:lnSpc>
              <a:spcBef>
                <a:spcPts val="635"/>
              </a:spcBef>
            </a:pPr>
            <a:r>
              <a:rPr sz="2800" spc="95" dirty="0">
                <a:solidFill>
                  <a:srgbClr val="2E377E"/>
                </a:solidFill>
                <a:latin typeface="Times New Roman"/>
                <a:cs typeface="Times New Roman"/>
              </a:rPr>
              <a:t>Applying</a:t>
            </a:r>
            <a:r>
              <a:rPr sz="2800" spc="-90" dirty="0">
                <a:solidFill>
                  <a:srgbClr val="2E377E"/>
                </a:solidFill>
                <a:latin typeface="Times New Roman"/>
                <a:cs typeface="Times New Roman"/>
              </a:rPr>
              <a:t> </a:t>
            </a:r>
            <a:r>
              <a:rPr sz="2800" spc="90" dirty="0">
                <a:solidFill>
                  <a:srgbClr val="2E377E"/>
                </a:solidFill>
                <a:latin typeface="Times New Roman"/>
                <a:cs typeface="Times New Roman"/>
              </a:rPr>
              <a:t>Roles</a:t>
            </a:r>
            <a:r>
              <a:rPr sz="2800" spc="-85" dirty="0">
                <a:solidFill>
                  <a:srgbClr val="2E377E"/>
                </a:solidFill>
                <a:latin typeface="Times New Roman"/>
                <a:cs typeface="Times New Roman"/>
              </a:rPr>
              <a:t> </a:t>
            </a:r>
            <a:r>
              <a:rPr sz="2800" spc="215" dirty="0">
                <a:solidFill>
                  <a:srgbClr val="2E377E"/>
                </a:solidFill>
                <a:latin typeface="Times New Roman"/>
                <a:cs typeface="Times New Roman"/>
              </a:rPr>
              <a:t>and</a:t>
            </a:r>
            <a:r>
              <a:rPr sz="2800" spc="-85" dirty="0">
                <a:solidFill>
                  <a:srgbClr val="2E377E"/>
                </a:solidFill>
                <a:latin typeface="Times New Roman"/>
                <a:cs typeface="Times New Roman"/>
              </a:rPr>
              <a:t> </a:t>
            </a:r>
            <a:r>
              <a:rPr sz="2800" spc="75" dirty="0">
                <a:solidFill>
                  <a:srgbClr val="2E377E"/>
                </a:solidFill>
                <a:latin typeface="Times New Roman"/>
                <a:cs typeface="Times New Roman"/>
              </a:rPr>
              <a:t>RoleBindings:</a:t>
            </a:r>
            <a:endParaRPr sz="2800">
              <a:latin typeface="Times New Roman"/>
              <a:cs typeface="Times New Roman"/>
            </a:endParaRPr>
          </a:p>
          <a:p>
            <a:pPr marL="12700" marR="4149090">
              <a:lnSpc>
                <a:spcPct val="116100"/>
              </a:lnSpc>
            </a:pPr>
            <a:r>
              <a:rPr sz="2800" dirty="0">
                <a:solidFill>
                  <a:srgbClr val="2E377E"/>
                </a:solidFill>
                <a:latin typeface="Georgia"/>
                <a:cs typeface="Georgia"/>
              </a:rPr>
              <a:t>You</a:t>
            </a:r>
            <a:r>
              <a:rPr sz="2800" spc="-15" dirty="0">
                <a:solidFill>
                  <a:srgbClr val="2E377E"/>
                </a:solidFill>
                <a:latin typeface="Georgia"/>
                <a:cs typeface="Georgia"/>
              </a:rPr>
              <a:t> </a:t>
            </a:r>
            <a:r>
              <a:rPr sz="2800" dirty="0">
                <a:solidFill>
                  <a:srgbClr val="2E377E"/>
                </a:solidFill>
                <a:latin typeface="Georgia"/>
                <a:cs typeface="Georgia"/>
              </a:rPr>
              <a:t>can apply</a:t>
            </a:r>
            <a:r>
              <a:rPr sz="2800" spc="-5" dirty="0">
                <a:solidFill>
                  <a:srgbClr val="2E377E"/>
                </a:solidFill>
                <a:latin typeface="Georgia"/>
                <a:cs typeface="Georgia"/>
              </a:rPr>
              <a:t> </a:t>
            </a:r>
            <a:r>
              <a:rPr sz="2800" dirty="0">
                <a:solidFill>
                  <a:srgbClr val="2E377E"/>
                </a:solidFill>
                <a:latin typeface="Georgia"/>
                <a:cs typeface="Georgia"/>
              </a:rPr>
              <a:t>the Role and</a:t>
            </a:r>
            <a:r>
              <a:rPr sz="2800" spc="-5" dirty="0">
                <a:solidFill>
                  <a:srgbClr val="2E377E"/>
                </a:solidFill>
                <a:latin typeface="Georgia"/>
                <a:cs typeface="Georgia"/>
              </a:rPr>
              <a:t> </a:t>
            </a:r>
            <a:r>
              <a:rPr sz="2800" dirty="0">
                <a:solidFill>
                  <a:srgbClr val="2E377E"/>
                </a:solidFill>
                <a:latin typeface="Georgia"/>
                <a:cs typeface="Georgia"/>
              </a:rPr>
              <a:t>RoleBinding </a:t>
            </a:r>
            <a:r>
              <a:rPr sz="2800" spc="-55" dirty="0">
                <a:solidFill>
                  <a:srgbClr val="2E377E"/>
                </a:solidFill>
                <a:latin typeface="Georgia"/>
                <a:cs typeface="Georgia"/>
              </a:rPr>
              <a:t>YAML</a:t>
            </a:r>
            <a:r>
              <a:rPr sz="2800" dirty="0">
                <a:solidFill>
                  <a:srgbClr val="2E377E"/>
                </a:solidFill>
                <a:latin typeface="Georgia"/>
                <a:cs typeface="Georgia"/>
              </a:rPr>
              <a:t> files</a:t>
            </a:r>
            <a:r>
              <a:rPr sz="2800" spc="-5" dirty="0">
                <a:solidFill>
                  <a:srgbClr val="2E377E"/>
                </a:solidFill>
                <a:latin typeface="Georgia"/>
                <a:cs typeface="Georgia"/>
              </a:rPr>
              <a:t> </a:t>
            </a:r>
            <a:r>
              <a:rPr sz="2800" dirty="0">
                <a:solidFill>
                  <a:srgbClr val="2E377E"/>
                </a:solidFill>
                <a:latin typeface="Georgia"/>
                <a:cs typeface="Georgia"/>
              </a:rPr>
              <a:t>using ‘kubectl </a:t>
            </a:r>
            <a:r>
              <a:rPr sz="2800" spc="-10" dirty="0">
                <a:solidFill>
                  <a:srgbClr val="2E377E"/>
                </a:solidFill>
                <a:latin typeface="Georgia"/>
                <a:cs typeface="Georgia"/>
              </a:rPr>
              <a:t>apply’: </a:t>
            </a:r>
            <a:r>
              <a:rPr sz="2800" dirty="0">
                <a:solidFill>
                  <a:srgbClr val="2E377E"/>
                </a:solidFill>
                <a:latin typeface="Georgia"/>
                <a:cs typeface="Georgia"/>
              </a:rPr>
              <a:t>kubectl</a:t>
            </a:r>
            <a:r>
              <a:rPr sz="2800" spc="190" dirty="0">
                <a:solidFill>
                  <a:srgbClr val="2E377E"/>
                </a:solidFill>
                <a:latin typeface="Georgia"/>
                <a:cs typeface="Georgia"/>
              </a:rPr>
              <a:t> </a:t>
            </a:r>
            <a:r>
              <a:rPr sz="2800" dirty="0">
                <a:solidFill>
                  <a:srgbClr val="2E377E"/>
                </a:solidFill>
                <a:latin typeface="Georgia"/>
                <a:cs typeface="Georgia"/>
              </a:rPr>
              <a:t>apply</a:t>
            </a:r>
            <a:r>
              <a:rPr sz="2800" spc="195" dirty="0">
                <a:solidFill>
                  <a:srgbClr val="2E377E"/>
                </a:solidFill>
                <a:latin typeface="Georgia"/>
                <a:cs typeface="Georgia"/>
              </a:rPr>
              <a:t> </a:t>
            </a:r>
            <a:r>
              <a:rPr sz="2800" dirty="0">
                <a:solidFill>
                  <a:srgbClr val="2E377E"/>
                </a:solidFill>
                <a:latin typeface="Georgia"/>
                <a:cs typeface="Georgia"/>
              </a:rPr>
              <a:t>-f</a:t>
            </a:r>
            <a:r>
              <a:rPr sz="2800" spc="195" dirty="0">
                <a:solidFill>
                  <a:srgbClr val="2E377E"/>
                </a:solidFill>
                <a:latin typeface="Georgia"/>
                <a:cs typeface="Georgia"/>
              </a:rPr>
              <a:t> </a:t>
            </a:r>
            <a:r>
              <a:rPr sz="2800" dirty="0">
                <a:solidFill>
                  <a:srgbClr val="2E377E"/>
                </a:solidFill>
                <a:latin typeface="Georgia"/>
                <a:cs typeface="Georgia"/>
              </a:rPr>
              <a:t>frontend-</a:t>
            </a:r>
            <a:r>
              <a:rPr sz="2800" spc="-10" dirty="0">
                <a:solidFill>
                  <a:srgbClr val="2E377E"/>
                </a:solidFill>
                <a:latin typeface="Georgia"/>
                <a:cs typeface="Georgia"/>
              </a:rPr>
              <a:t>role.yaml</a:t>
            </a:r>
            <a:endParaRPr sz="2800">
              <a:latin typeface="Georgia"/>
              <a:cs typeface="Georgia"/>
            </a:endParaRPr>
          </a:p>
          <a:p>
            <a:pPr marL="12700">
              <a:lnSpc>
                <a:spcPct val="100000"/>
              </a:lnSpc>
              <a:spcBef>
                <a:spcPts val="540"/>
              </a:spcBef>
            </a:pPr>
            <a:r>
              <a:rPr sz="2800" dirty="0">
                <a:solidFill>
                  <a:srgbClr val="2E377E"/>
                </a:solidFill>
                <a:latin typeface="Georgia"/>
                <a:cs typeface="Georgia"/>
              </a:rPr>
              <a:t>kubectl</a:t>
            </a:r>
            <a:r>
              <a:rPr sz="2800" spc="160" dirty="0">
                <a:solidFill>
                  <a:srgbClr val="2E377E"/>
                </a:solidFill>
                <a:latin typeface="Georgia"/>
                <a:cs typeface="Georgia"/>
              </a:rPr>
              <a:t> </a:t>
            </a:r>
            <a:r>
              <a:rPr sz="2800" dirty="0">
                <a:solidFill>
                  <a:srgbClr val="2E377E"/>
                </a:solidFill>
                <a:latin typeface="Georgia"/>
                <a:cs typeface="Georgia"/>
              </a:rPr>
              <a:t>apply</a:t>
            </a:r>
            <a:r>
              <a:rPr sz="2800" spc="165" dirty="0">
                <a:solidFill>
                  <a:srgbClr val="2E377E"/>
                </a:solidFill>
                <a:latin typeface="Georgia"/>
                <a:cs typeface="Georgia"/>
              </a:rPr>
              <a:t> </a:t>
            </a:r>
            <a:r>
              <a:rPr sz="2800" dirty="0">
                <a:solidFill>
                  <a:srgbClr val="2E377E"/>
                </a:solidFill>
                <a:latin typeface="Georgia"/>
                <a:cs typeface="Georgia"/>
              </a:rPr>
              <a:t>-f</a:t>
            </a:r>
            <a:r>
              <a:rPr sz="2800" spc="165" dirty="0">
                <a:solidFill>
                  <a:srgbClr val="2E377E"/>
                </a:solidFill>
                <a:latin typeface="Georgia"/>
                <a:cs typeface="Georgia"/>
              </a:rPr>
              <a:t> </a:t>
            </a:r>
            <a:r>
              <a:rPr sz="2800" dirty="0">
                <a:solidFill>
                  <a:srgbClr val="2E377E"/>
                </a:solidFill>
                <a:latin typeface="Georgia"/>
                <a:cs typeface="Georgia"/>
              </a:rPr>
              <a:t>backend-</a:t>
            </a:r>
            <a:r>
              <a:rPr sz="2800" spc="-10" dirty="0">
                <a:solidFill>
                  <a:srgbClr val="2E377E"/>
                </a:solidFill>
                <a:latin typeface="Georgia"/>
                <a:cs typeface="Georgia"/>
              </a:rPr>
              <a:t>role.yaml</a:t>
            </a:r>
            <a:endParaRPr sz="2800">
              <a:latin typeface="Georgia"/>
              <a:cs typeface="Georgia"/>
            </a:endParaRPr>
          </a:p>
          <a:p>
            <a:pPr marL="12700" marR="8735060">
              <a:lnSpc>
                <a:spcPct val="116100"/>
              </a:lnSpc>
            </a:pPr>
            <a:r>
              <a:rPr sz="2800" dirty="0">
                <a:solidFill>
                  <a:srgbClr val="2E377E"/>
                </a:solidFill>
                <a:latin typeface="Georgia"/>
                <a:cs typeface="Georgia"/>
              </a:rPr>
              <a:t>kubectl</a:t>
            </a:r>
            <a:r>
              <a:rPr sz="2800" spc="220" dirty="0">
                <a:solidFill>
                  <a:srgbClr val="2E377E"/>
                </a:solidFill>
                <a:latin typeface="Georgia"/>
                <a:cs typeface="Georgia"/>
              </a:rPr>
              <a:t> </a:t>
            </a:r>
            <a:r>
              <a:rPr sz="2800" dirty="0">
                <a:solidFill>
                  <a:srgbClr val="2E377E"/>
                </a:solidFill>
                <a:latin typeface="Georgia"/>
                <a:cs typeface="Georgia"/>
              </a:rPr>
              <a:t>apply</a:t>
            </a:r>
            <a:r>
              <a:rPr sz="2800" spc="220" dirty="0">
                <a:solidFill>
                  <a:srgbClr val="2E377E"/>
                </a:solidFill>
                <a:latin typeface="Georgia"/>
                <a:cs typeface="Georgia"/>
              </a:rPr>
              <a:t> </a:t>
            </a:r>
            <a:r>
              <a:rPr sz="2800" dirty="0">
                <a:solidFill>
                  <a:srgbClr val="2E377E"/>
                </a:solidFill>
                <a:latin typeface="Georgia"/>
                <a:cs typeface="Georgia"/>
              </a:rPr>
              <a:t>-f</a:t>
            </a:r>
            <a:r>
              <a:rPr sz="2800" spc="225" dirty="0">
                <a:solidFill>
                  <a:srgbClr val="2E377E"/>
                </a:solidFill>
                <a:latin typeface="Georgia"/>
                <a:cs typeface="Georgia"/>
              </a:rPr>
              <a:t> </a:t>
            </a:r>
            <a:r>
              <a:rPr sz="2800" dirty="0">
                <a:solidFill>
                  <a:srgbClr val="2E377E"/>
                </a:solidFill>
                <a:latin typeface="Georgia"/>
                <a:cs typeface="Georgia"/>
              </a:rPr>
              <a:t>frontend-role-</a:t>
            </a:r>
            <a:r>
              <a:rPr sz="2800" spc="-10" dirty="0">
                <a:solidFill>
                  <a:srgbClr val="2E377E"/>
                </a:solidFill>
                <a:latin typeface="Georgia"/>
                <a:cs typeface="Georgia"/>
              </a:rPr>
              <a:t>binding.yaml </a:t>
            </a:r>
            <a:r>
              <a:rPr sz="2800" dirty="0">
                <a:solidFill>
                  <a:srgbClr val="2E377E"/>
                </a:solidFill>
                <a:latin typeface="Georgia"/>
                <a:cs typeface="Georgia"/>
              </a:rPr>
              <a:t>kubectl</a:t>
            </a:r>
            <a:r>
              <a:rPr sz="2800" spc="190" dirty="0">
                <a:solidFill>
                  <a:srgbClr val="2E377E"/>
                </a:solidFill>
                <a:latin typeface="Georgia"/>
                <a:cs typeface="Georgia"/>
              </a:rPr>
              <a:t> </a:t>
            </a:r>
            <a:r>
              <a:rPr sz="2800" dirty="0">
                <a:solidFill>
                  <a:srgbClr val="2E377E"/>
                </a:solidFill>
                <a:latin typeface="Georgia"/>
                <a:cs typeface="Georgia"/>
              </a:rPr>
              <a:t>apply</a:t>
            </a:r>
            <a:r>
              <a:rPr sz="2800" spc="195" dirty="0">
                <a:solidFill>
                  <a:srgbClr val="2E377E"/>
                </a:solidFill>
                <a:latin typeface="Georgia"/>
                <a:cs typeface="Georgia"/>
              </a:rPr>
              <a:t> </a:t>
            </a:r>
            <a:r>
              <a:rPr sz="2800" dirty="0">
                <a:solidFill>
                  <a:srgbClr val="2E377E"/>
                </a:solidFill>
                <a:latin typeface="Georgia"/>
                <a:cs typeface="Georgia"/>
              </a:rPr>
              <a:t>-f</a:t>
            </a:r>
            <a:r>
              <a:rPr sz="2800" spc="190" dirty="0">
                <a:solidFill>
                  <a:srgbClr val="2E377E"/>
                </a:solidFill>
                <a:latin typeface="Georgia"/>
                <a:cs typeface="Georgia"/>
              </a:rPr>
              <a:t> </a:t>
            </a:r>
            <a:r>
              <a:rPr sz="2800" dirty="0">
                <a:solidFill>
                  <a:srgbClr val="2E377E"/>
                </a:solidFill>
                <a:latin typeface="Georgia"/>
                <a:cs typeface="Georgia"/>
              </a:rPr>
              <a:t>backend-role-</a:t>
            </a:r>
            <a:r>
              <a:rPr sz="2800" spc="-10" dirty="0">
                <a:solidFill>
                  <a:srgbClr val="2E377E"/>
                </a:solidFill>
                <a:latin typeface="Georgia"/>
                <a:cs typeface="Georgia"/>
              </a:rPr>
              <a:t>binding.yaml</a:t>
            </a:r>
            <a:endParaRPr sz="2800">
              <a:latin typeface="Georgia"/>
              <a:cs typeface="Georgia"/>
            </a:endParaRPr>
          </a:p>
          <a:p>
            <a:pPr>
              <a:lnSpc>
                <a:spcPct val="100000"/>
              </a:lnSpc>
              <a:spcBef>
                <a:spcPts val="2835"/>
              </a:spcBef>
            </a:pPr>
            <a:endParaRPr sz="2800">
              <a:latin typeface="Georgia"/>
              <a:cs typeface="Georgia"/>
            </a:endParaRPr>
          </a:p>
          <a:p>
            <a:pPr marL="12700">
              <a:lnSpc>
                <a:spcPct val="100000"/>
              </a:lnSpc>
            </a:pPr>
            <a:r>
              <a:rPr sz="2800" spc="130" dirty="0">
                <a:solidFill>
                  <a:srgbClr val="2E377E"/>
                </a:solidFill>
                <a:latin typeface="Times New Roman"/>
                <a:cs typeface="Times New Roman"/>
              </a:rPr>
              <a:t>Testing</a:t>
            </a:r>
            <a:r>
              <a:rPr sz="2800" spc="-85" dirty="0">
                <a:solidFill>
                  <a:srgbClr val="2E377E"/>
                </a:solidFill>
                <a:latin typeface="Times New Roman"/>
                <a:cs typeface="Times New Roman"/>
              </a:rPr>
              <a:t> </a:t>
            </a:r>
            <a:r>
              <a:rPr sz="2800" spc="55" dirty="0">
                <a:solidFill>
                  <a:srgbClr val="2E377E"/>
                </a:solidFill>
                <a:latin typeface="Times New Roman"/>
                <a:cs typeface="Times New Roman"/>
              </a:rPr>
              <a:t>Access</a:t>
            </a:r>
            <a:endParaRPr sz="2800">
              <a:latin typeface="Times New Roman"/>
              <a:cs typeface="Times New Roman"/>
            </a:endParaRPr>
          </a:p>
          <a:p>
            <a:pPr marL="12700" marR="5080">
              <a:lnSpc>
                <a:spcPct val="116100"/>
              </a:lnSpc>
            </a:pPr>
            <a:r>
              <a:rPr sz="2800" dirty="0">
                <a:solidFill>
                  <a:srgbClr val="2E377E"/>
                </a:solidFill>
                <a:latin typeface="Georgia"/>
                <a:cs typeface="Georgia"/>
              </a:rPr>
              <a:t>Now,</a:t>
            </a:r>
            <a:r>
              <a:rPr sz="2800" spc="5" dirty="0">
                <a:solidFill>
                  <a:srgbClr val="2E377E"/>
                </a:solidFill>
                <a:latin typeface="Georgia"/>
                <a:cs typeface="Georgia"/>
              </a:rPr>
              <a:t> </a:t>
            </a:r>
            <a:r>
              <a:rPr sz="2800" dirty="0">
                <a:solidFill>
                  <a:srgbClr val="2E377E"/>
                </a:solidFill>
                <a:latin typeface="Georgia"/>
                <a:cs typeface="Georgia"/>
              </a:rPr>
              <a:t>members</a:t>
            </a:r>
            <a:r>
              <a:rPr sz="2800" spc="10" dirty="0">
                <a:solidFill>
                  <a:srgbClr val="2E377E"/>
                </a:solidFill>
                <a:latin typeface="Georgia"/>
                <a:cs typeface="Georgia"/>
              </a:rPr>
              <a:t> </a:t>
            </a:r>
            <a:r>
              <a:rPr sz="2800" dirty="0">
                <a:solidFill>
                  <a:srgbClr val="2E377E"/>
                </a:solidFill>
                <a:latin typeface="Georgia"/>
                <a:cs typeface="Georgia"/>
              </a:rPr>
              <a:t>of</a:t>
            </a:r>
            <a:r>
              <a:rPr sz="2800" spc="10" dirty="0">
                <a:solidFill>
                  <a:srgbClr val="2E377E"/>
                </a:solidFill>
                <a:latin typeface="Georgia"/>
                <a:cs typeface="Georgia"/>
              </a:rPr>
              <a:t> </a:t>
            </a:r>
            <a:r>
              <a:rPr sz="2800" dirty="0">
                <a:solidFill>
                  <a:srgbClr val="2E377E"/>
                </a:solidFill>
                <a:latin typeface="Georgia"/>
                <a:cs typeface="Georgia"/>
              </a:rPr>
              <a:t>the</a:t>
            </a:r>
            <a:r>
              <a:rPr sz="2800" spc="10" dirty="0">
                <a:solidFill>
                  <a:srgbClr val="2E377E"/>
                </a:solidFill>
                <a:latin typeface="Georgia"/>
                <a:cs typeface="Georgia"/>
              </a:rPr>
              <a:t> </a:t>
            </a:r>
            <a:r>
              <a:rPr sz="2800" dirty="0">
                <a:solidFill>
                  <a:srgbClr val="2E377E"/>
                </a:solidFill>
                <a:latin typeface="Georgia"/>
                <a:cs typeface="Georgia"/>
              </a:rPr>
              <a:t>‘frontend-team’</a:t>
            </a:r>
            <a:r>
              <a:rPr sz="2800" spc="10" dirty="0">
                <a:solidFill>
                  <a:srgbClr val="2E377E"/>
                </a:solidFill>
                <a:latin typeface="Georgia"/>
                <a:cs typeface="Georgia"/>
              </a:rPr>
              <a:t> </a:t>
            </a:r>
            <a:r>
              <a:rPr sz="2800" dirty="0">
                <a:solidFill>
                  <a:srgbClr val="2E377E"/>
                </a:solidFill>
                <a:latin typeface="Georgia"/>
                <a:cs typeface="Georgia"/>
              </a:rPr>
              <a:t>will</a:t>
            </a:r>
            <a:r>
              <a:rPr sz="2800" spc="10" dirty="0">
                <a:solidFill>
                  <a:srgbClr val="2E377E"/>
                </a:solidFill>
                <a:latin typeface="Georgia"/>
                <a:cs typeface="Georgia"/>
              </a:rPr>
              <a:t> </a:t>
            </a:r>
            <a:r>
              <a:rPr sz="2800" dirty="0">
                <a:solidFill>
                  <a:srgbClr val="2E377E"/>
                </a:solidFill>
                <a:latin typeface="Georgia"/>
                <a:cs typeface="Georgia"/>
              </a:rPr>
              <a:t>be</a:t>
            </a:r>
            <a:r>
              <a:rPr sz="2800" spc="10" dirty="0">
                <a:solidFill>
                  <a:srgbClr val="2E377E"/>
                </a:solidFill>
                <a:latin typeface="Georgia"/>
                <a:cs typeface="Georgia"/>
              </a:rPr>
              <a:t> </a:t>
            </a:r>
            <a:r>
              <a:rPr sz="2800" dirty="0">
                <a:solidFill>
                  <a:srgbClr val="2E377E"/>
                </a:solidFill>
                <a:latin typeface="Georgia"/>
                <a:cs typeface="Georgia"/>
              </a:rPr>
              <a:t>able</a:t>
            </a:r>
            <a:r>
              <a:rPr sz="2800" spc="10" dirty="0">
                <a:solidFill>
                  <a:srgbClr val="2E377E"/>
                </a:solidFill>
                <a:latin typeface="Georgia"/>
                <a:cs typeface="Georgia"/>
              </a:rPr>
              <a:t> </a:t>
            </a:r>
            <a:r>
              <a:rPr sz="2800" spc="50" dirty="0">
                <a:solidFill>
                  <a:srgbClr val="2E377E"/>
                </a:solidFill>
                <a:latin typeface="Georgia"/>
                <a:cs typeface="Georgia"/>
              </a:rPr>
              <a:t>to</a:t>
            </a:r>
            <a:r>
              <a:rPr sz="2800" spc="10" dirty="0">
                <a:solidFill>
                  <a:srgbClr val="2E377E"/>
                </a:solidFill>
                <a:latin typeface="Georgia"/>
                <a:cs typeface="Georgia"/>
              </a:rPr>
              <a:t> </a:t>
            </a:r>
            <a:r>
              <a:rPr sz="2800" dirty="0">
                <a:solidFill>
                  <a:srgbClr val="2E377E"/>
                </a:solidFill>
                <a:latin typeface="Georgia"/>
                <a:cs typeface="Georgia"/>
              </a:rPr>
              <a:t>list</a:t>
            </a:r>
            <a:r>
              <a:rPr sz="2800" spc="10" dirty="0">
                <a:solidFill>
                  <a:srgbClr val="2E377E"/>
                </a:solidFill>
                <a:latin typeface="Georgia"/>
                <a:cs typeface="Georgia"/>
              </a:rPr>
              <a:t> </a:t>
            </a:r>
            <a:r>
              <a:rPr sz="2800" dirty="0">
                <a:solidFill>
                  <a:srgbClr val="2E377E"/>
                </a:solidFill>
                <a:latin typeface="Georgia"/>
                <a:cs typeface="Georgia"/>
              </a:rPr>
              <a:t>and</a:t>
            </a:r>
            <a:r>
              <a:rPr sz="2800" spc="10" dirty="0">
                <a:solidFill>
                  <a:srgbClr val="2E377E"/>
                </a:solidFill>
                <a:latin typeface="Georgia"/>
                <a:cs typeface="Georgia"/>
              </a:rPr>
              <a:t> </a:t>
            </a:r>
            <a:r>
              <a:rPr sz="2800" spc="55" dirty="0">
                <a:solidFill>
                  <a:srgbClr val="2E377E"/>
                </a:solidFill>
                <a:latin typeface="Georgia"/>
                <a:cs typeface="Georgia"/>
              </a:rPr>
              <a:t>get</a:t>
            </a:r>
            <a:r>
              <a:rPr sz="2800" spc="10" dirty="0">
                <a:solidFill>
                  <a:srgbClr val="2E377E"/>
                </a:solidFill>
                <a:latin typeface="Georgia"/>
                <a:cs typeface="Georgia"/>
              </a:rPr>
              <a:t> </a:t>
            </a:r>
            <a:r>
              <a:rPr sz="2800" dirty="0">
                <a:solidFill>
                  <a:srgbClr val="2E377E"/>
                </a:solidFill>
                <a:latin typeface="Georgia"/>
                <a:cs typeface="Georgia"/>
              </a:rPr>
              <a:t>Pods</a:t>
            </a:r>
            <a:r>
              <a:rPr sz="2800" spc="10" dirty="0">
                <a:solidFill>
                  <a:srgbClr val="2E377E"/>
                </a:solidFill>
                <a:latin typeface="Georgia"/>
                <a:cs typeface="Georgia"/>
              </a:rPr>
              <a:t> </a:t>
            </a:r>
            <a:r>
              <a:rPr sz="2800" spc="60" dirty="0">
                <a:solidFill>
                  <a:srgbClr val="2E377E"/>
                </a:solidFill>
                <a:latin typeface="Georgia"/>
                <a:cs typeface="Georgia"/>
              </a:rPr>
              <a:t>with</a:t>
            </a:r>
            <a:r>
              <a:rPr sz="2800" spc="10" dirty="0">
                <a:solidFill>
                  <a:srgbClr val="2E377E"/>
                </a:solidFill>
                <a:latin typeface="Georgia"/>
                <a:cs typeface="Georgia"/>
              </a:rPr>
              <a:t> </a:t>
            </a:r>
            <a:r>
              <a:rPr sz="2800" dirty="0">
                <a:solidFill>
                  <a:srgbClr val="2E377E"/>
                </a:solidFill>
                <a:latin typeface="Georgia"/>
                <a:cs typeface="Georgia"/>
              </a:rPr>
              <a:t>the</a:t>
            </a:r>
            <a:r>
              <a:rPr sz="2800" spc="10" dirty="0">
                <a:solidFill>
                  <a:srgbClr val="2E377E"/>
                </a:solidFill>
                <a:latin typeface="Georgia"/>
                <a:cs typeface="Georgia"/>
              </a:rPr>
              <a:t> </a:t>
            </a:r>
            <a:r>
              <a:rPr sz="2800" dirty="0">
                <a:solidFill>
                  <a:srgbClr val="2E377E"/>
                </a:solidFill>
                <a:latin typeface="Georgia"/>
                <a:cs typeface="Georgia"/>
              </a:rPr>
              <a:t>‘app=frontend’</a:t>
            </a:r>
            <a:r>
              <a:rPr sz="2800" spc="10" dirty="0">
                <a:solidFill>
                  <a:srgbClr val="2E377E"/>
                </a:solidFill>
                <a:latin typeface="Georgia"/>
                <a:cs typeface="Georgia"/>
              </a:rPr>
              <a:t> </a:t>
            </a:r>
            <a:r>
              <a:rPr sz="2800" spc="-10" dirty="0">
                <a:solidFill>
                  <a:srgbClr val="2E377E"/>
                </a:solidFill>
                <a:latin typeface="Georgia"/>
                <a:cs typeface="Georgia"/>
              </a:rPr>
              <a:t>label: </a:t>
            </a:r>
            <a:r>
              <a:rPr sz="2800" dirty="0">
                <a:solidFill>
                  <a:srgbClr val="E7181F"/>
                </a:solidFill>
                <a:latin typeface="Georgia"/>
                <a:cs typeface="Georgia"/>
              </a:rPr>
              <a:t>kubectl</a:t>
            </a:r>
            <a:r>
              <a:rPr sz="2800" spc="65" dirty="0">
                <a:solidFill>
                  <a:srgbClr val="E7181F"/>
                </a:solidFill>
                <a:latin typeface="Georgia"/>
                <a:cs typeface="Georgia"/>
              </a:rPr>
              <a:t> </a:t>
            </a:r>
            <a:r>
              <a:rPr sz="2800" spc="55" dirty="0">
                <a:solidFill>
                  <a:srgbClr val="E7181F"/>
                </a:solidFill>
                <a:latin typeface="Georgia"/>
                <a:cs typeface="Georgia"/>
              </a:rPr>
              <a:t>get</a:t>
            </a:r>
            <a:r>
              <a:rPr sz="2800" spc="70" dirty="0">
                <a:solidFill>
                  <a:srgbClr val="E7181F"/>
                </a:solidFill>
                <a:latin typeface="Georgia"/>
                <a:cs typeface="Georgia"/>
              </a:rPr>
              <a:t> </a:t>
            </a:r>
            <a:r>
              <a:rPr sz="2800" dirty="0">
                <a:solidFill>
                  <a:srgbClr val="E7181F"/>
                </a:solidFill>
                <a:latin typeface="Georgia"/>
                <a:cs typeface="Georgia"/>
              </a:rPr>
              <a:t>pods</a:t>
            </a:r>
            <a:r>
              <a:rPr sz="2800" spc="70" dirty="0">
                <a:solidFill>
                  <a:srgbClr val="E7181F"/>
                </a:solidFill>
                <a:latin typeface="Georgia"/>
                <a:cs typeface="Georgia"/>
              </a:rPr>
              <a:t> </a:t>
            </a:r>
            <a:r>
              <a:rPr sz="2800" dirty="0">
                <a:solidFill>
                  <a:srgbClr val="E7181F"/>
                </a:solidFill>
                <a:latin typeface="Georgia"/>
                <a:cs typeface="Georgia"/>
              </a:rPr>
              <a:t>-n</a:t>
            </a:r>
            <a:r>
              <a:rPr sz="2800" spc="70" dirty="0">
                <a:solidFill>
                  <a:srgbClr val="E7181F"/>
                </a:solidFill>
                <a:latin typeface="Georgia"/>
                <a:cs typeface="Georgia"/>
              </a:rPr>
              <a:t> my-</a:t>
            </a:r>
            <a:r>
              <a:rPr sz="2800" dirty="0">
                <a:solidFill>
                  <a:srgbClr val="E7181F"/>
                </a:solidFill>
                <a:latin typeface="Georgia"/>
                <a:cs typeface="Georgia"/>
              </a:rPr>
              <a:t>project</a:t>
            </a:r>
            <a:r>
              <a:rPr sz="2800" spc="70" dirty="0">
                <a:solidFill>
                  <a:srgbClr val="E7181F"/>
                </a:solidFill>
                <a:latin typeface="Georgia"/>
                <a:cs typeface="Georgia"/>
              </a:rPr>
              <a:t> </a:t>
            </a:r>
            <a:r>
              <a:rPr sz="2800" dirty="0">
                <a:solidFill>
                  <a:srgbClr val="E7181F"/>
                </a:solidFill>
                <a:latin typeface="Georgia"/>
                <a:cs typeface="Georgia"/>
              </a:rPr>
              <a:t>--</a:t>
            </a:r>
            <a:r>
              <a:rPr sz="2800" spc="-10" dirty="0">
                <a:solidFill>
                  <a:srgbClr val="E7181F"/>
                </a:solidFill>
                <a:latin typeface="Georgia"/>
                <a:cs typeface="Georgia"/>
              </a:rPr>
              <a:t>selector=app=frontend</a:t>
            </a:r>
            <a:endParaRPr sz="2800">
              <a:latin typeface="Georgia"/>
              <a:cs typeface="Georgia"/>
            </a:endParaRPr>
          </a:p>
          <a:p>
            <a:pPr marL="12700">
              <a:lnSpc>
                <a:spcPct val="100000"/>
              </a:lnSpc>
              <a:spcBef>
                <a:spcPts val="540"/>
              </a:spcBef>
            </a:pPr>
            <a:r>
              <a:rPr sz="2800" dirty="0">
                <a:solidFill>
                  <a:srgbClr val="E7181F"/>
                </a:solidFill>
                <a:latin typeface="Georgia"/>
                <a:cs typeface="Georgia"/>
              </a:rPr>
              <a:t>kubectl</a:t>
            </a:r>
            <a:r>
              <a:rPr sz="2800" spc="55" dirty="0">
                <a:solidFill>
                  <a:srgbClr val="E7181F"/>
                </a:solidFill>
                <a:latin typeface="Georgia"/>
                <a:cs typeface="Georgia"/>
              </a:rPr>
              <a:t> </a:t>
            </a:r>
            <a:r>
              <a:rPr sz="2800" dirty="0">
                <a:solidFill>
                  <a:srgbClr val="E7181F"/>
                </a:solidFill>
                <a:latin typeface="Georgia"/>
                <a:cs typeface="Georgia"/>
              </a:rPr>
              <a:t>describe</a:t>
            </a:r>
            <a:r>
              <a:rPr sz="2800" spc="55" dirty="0">
                <a:solidFill>
                  <a:srgbClr val="E7181F"/>
                </a:solidFill>
                <a:latin typeface="Georgia"/>
                <a:cs typeface="Georgia"/>
              </a:rPr>
              <a:t> </a:t>
            </a:r>
            <a:r>
              <a:rPr sz="2800" dirty="0">
                <a:solidFill>
                  <a:srgbClr val="E7181F"/>
                </a:solidFill>
                <a:latin typeface="Georgia"/>
                <a:cs typeface="Georgia"/>
              </a:rPr>
              <a:t>pod</a:t>
            </a:r>
            <a:r>
              <a:rPr sz="2800" spc="55" dirty="0">
                <a:solidFill>
                  <a:srgbClr val="E7181F"/>
                </a:solidFill>
                <a:latin typeface="Georgia"/>
                <a:cs typeface="Georgia"/>
              </a:rPr>
              <a:t> </a:t>
            </a:r>
            <a:r>
              <a:rPr sz="2800" spc="-10" dirty="0">
                <a:solidFill>
                  <a:srgbClr val="E7181F"/>
                </a:solidFill>
                <a:latin typeface="Georgia"/>
                <a:cs typeface="Georgia"/>
              </a:rPr>
              <a:t>&lt;frontend-</a:t>
            </a:r>
            <a:r>
              <a:rPr sz="2800" dirty="0">
                <a:solidFill>
                  <a:srgbClr val="E7181F"/>
                </a:solidFill>
                <a:latin typeface="Georgia"/>
                <a:cs typeface="Georgia"/>
              </a:rPr>
              <a:t>pod-</a:t>
            </a:r>
            <a:r>
              <a:rPr sz="2800" spc="-25" dirty="0">
                <a:solidFill>
                  <a:srgbClr val="E7181F"/>
                </a:solidFill>
                <a:latin typeface="Georgia"/>
                <a:cs typeface="Georgia"/>
              </a:rPr>
              <a:t>name&gt;</a:t>
            </a:r>
            <a:r>
              <a:rPr sz="2800" spc="55" dirty="0">
                <a:solidFill>
                  <a:srgbClr val="E7181F"/>
                </a:solidFill>
                <a:latin typeface="Georgia"/>
                <a:cs typeface="Georgia"/>
              </a:rPr>
              <a:t> </a:t>
            </a:r>
            <a:r>
              <a:rPr sz="2800" dirty="0">
                <a:solidFill>
                  <a:srgbClr val="E7181F"/>
                </a:solidFill>
                <a:latin typeface="Georgia"/>
                <a:cs typeface="Georgia"/>
              </a:rPr>
              <a:t>-n</a:t>
            </a:r>
            <a:r>
              <a:rPr sz="2800" spc="55" dirty="0">
                <a:solidFill>
                  <a:srgbClr val="E7181F"/>
                </a:solidFill>
                <a:latin typeface="Georgia"/>
                <a:cs typeface="Georgia"/>
              </a:rPr>
              <a:t> </a:t>
            </a:r>
            <a:r>
              <a:rPr sz="2800" spc="70" dirty="0">
                <a:solidFill>
                  <a:srgbClr val="E7181F"/>
                </a:solidFill>
                <a:latin typeface="Georgia"/>
                <a:cs typeface="Georgia"/>
              </a:rPr>
              <a:t>my-</a:t>
            </a:r>
            <a:r>
              <a:rPr sz="2800" spc="-10" dirty="0">
                <a:solidFill>
                  <a:srgbClr val="E7181F"/>
                </a:solidFill>
                <a:latin typeface="Georgia"/>
                <a:cs typeface="Georgia"/>
              </a:rPr>
              <a:t>project</a:t>
            </a:r>
            <a:endParaRPr sz="2800">
              <a:latin typeface="Georgia"/>
              <a:cs typeface="Georgia"/>
            </a:endParaRPr>
          </a:p>
          <a:p>
            <a:pPr>
              <a:lnSpc>
                <a:spcPct val="100000"/>
              </a:lnSpc>
              <a:spcBef>
                <a:spcPts val="680"/>
              </a:spcBef>
            </a:pPr>
            <a:endParaRPr sz="2800">
              <a:latin typeface="Georgia"/>
              <a:cs typeface="Georgia"/>
            </a:endParaRPr>
          </a:p>
          <a:p>
            <a:pPr marL="12700">
              <a:lnSpc>
                <a:spcPct val="100000"/>
              </a:lnSpc>
            </a:pPr>
            <a:r>
              <a:rPr sz="2800" dirty="0">
                <a:solidFill>
                  <a:srgbClr val="2E377E"/>
                </a:solidFill>
                <a:latin typeface="Georgia"/>
                <a:cs typeface="Georgia"/>
              </a:rPr>
              <a:t>Similarly,</a:t>
            </a:r>
            <a:r>
              <a:rPr sz="2800" spc="35" dirty="0">
                <a:solidFill>
                  <a:srgbClr val="2E377E"/>
                </a:solidFill>
                <a:latin typeface="Georgia"/>
                <a:cs typeface="Georgia"/>
              </a:rPr>
              <a:t> </a:t>
            </a:r>
            <a:r>
              <a:rPr sz="2800" dirty="0">
                <a:solidFill>
                  <a:srgbClr val="2E377E"/>
                </a:solidFill>
                <a:latin typeface="Georgia"/>
                <a:cs typeface="Georgia"/>
              </a:rPr>
              <a:t>members</a:t>
            </a:r>
            <a:r>
              <a:rPr sz="2800" spc="35" dirty="0">
                <a:solidFill>
                  <a:srgbClr val="2E377E"/>
                </a:solidFill>
                <a:latin typeface="Georgia"/>
                <a:cs typeface="Georgia"/>
              </a:rPr>
              <a:t> </a:t>
            </a:r>
            <a:r>
              <a:rPr sz="2800" dirty="0">
                <a:solidFill>
                  <a:srgbClr val="2E377E"/>
                </a:solidFill>
                <a:latin typeface="Georgia"/>
                <a:cs typeface="Georgia"/>
              </a:rPr>
              <a:t>of</a:t>
            </a:r>
            <a:r>
              <a:rPr sz="2800" spc="35" dirty="0">
                <a:solidFill>
                  <a:srgbClr val="2E377E"/>
                </a:solidFill>
                <a:latin typeface="Georgia"/>
                <a:cs typeface="Georgia"/>
              </a:rPr>
              <a:t> </a:t>
            </a:r>
            <a:r>
              <a:rPr sz="2800" dirty="0">
                <a:solidFill>
                  <a:srgbClr val="2E377E"/>
                </a:solidFill>
                <a:latin typeface="Georgia"/>
                <a:cs typeface="Georgia"/>
              </a:rPr>
              <a:t>the</a:t>
            </a:r>
            <a:r>
              <a:rPr sz="2800" spc="35" dirty="0">
                <a:solidFill>
                  <a:srgbClr val="2E377E"/>
                </a:solidFill>
                <a:latin typeface="Georgia"/>
                <a:cs typeface="Georgia"/>
              </a:rPr>
              <a:t> </a:t>
            </a:r>
            <a:r>
              <a:rPr sz="2800" dirty="0">
                <a:solidFill>
                  <a:srgbClr val="2E377E"/>
                </a:solidFill>
                <a:latin typeface="Georgia"/>
                <a:cs typeface="Georgia"/>
              </a:rPr>
              <a:t>‘backend-team’</a:t>
            </a:r>
            <a:r>
              <a:rPr sz="2800" spc="35" dirty="0">
                <a:solidFill>
                  <a:srgbClr val="2E377E"/>
                </a:solidFill>
                <a:latin typeface="Georgia"/>
                <a:cs typeface="Georgia"/>
              </a:rPr>
              <a:t> </a:t>
            </a:r>
            <a:r>
              <a:rPr sz="2800" dirty="0">
                <a:solidFill>
                  <a:srgbClr val="2E377E"/>
                </a:solidFill>
                <a:latin typeface="Georgia"/>
                <a:cs typeface="Georgia"/>
              </a:rPr>
              <a:t>will</a:t>
            </a:r>
            <a:r>
              <a:rPr sz="2800" spc="35" dirty="0">
                <a:solidFill>
                  <a:srgbClr val="2E377E"/>
                </a:solidFill>
                <a:latin typeface="Georgia"/>
                <a:cs typeface="Georgia"/>
              </a:rPr>
              <a:t> </a:t>
            </a:r>
            <a:r>
              <a:rPr sz="2800" dirty="0">
                <a:solidFill>
                  <a:srgbClr val="2E377E"/>
                </a:solidFill>
                <a:latin typeface="Georgia"/>
                <a:cs typeface="Georgia"/>
              </a:rPr>
              <a:t>have</a:t>
            </a:r>
            <a:r>
              <a:rPr sz="2800" spc="35" dirty="0">
                <a:solidFill>
                  <a:srgbClr val="2E377E"/>
                </a:solidFill>
                <a:latin typeface="Georgia"/>
                <a:cs typeface="Georgia"/>
              </a:rPr>
              <a:t> </a:t>
            </a:r>
            <a:r>
              <a:rPr sz="2800" dirty="0">
                <a:solidFill>
                  <a:srgbClr val="2E377E"/>
                </a:solidFill>
                <a:latin typeface="Georgia"/>
                <a:cs typeface="Georgia"/>
              </a:rPr>
              <a:t>similar</a:t>
            </a:r>
            <a:r>
              <a:rPr sz="2800" spc="35" dirty="0">
                <a:solidFill>
                  <a:srgbClr val="2E377E"/>
                </a:solidFill>
                <a:latin typeface="Georgia"/>
                <a:cs typeface="Georgia"/>
              </a:rPr>
              <a:t> </a:t>
            </a:r>
            <a:r>
              <a:rPr sz="2800" dirty="0">
                <a:solidFill>
                  <a:srgbClr val="2E377E"/>
                </a:solidFill>
                <a:latin typeface="Georgia"/>
                <a:cs typeface="Georgia"/>
              </a:rPr>
              <a:t>access</a:t>
            </a:r>
            <a:r>
              <a:rPr sz="2800" spc="35" dirty="0">
                <a:solidFill>
                  <a:srgbClr val="2E377E"/>
                </a:solidFill>
                <a:latin typeface="Georgia"/>
                <a:cs typeface="Georgia"/>
              </a:rPr>
              <a:t> </a:t>
            </a:r>
            <a:r>
              <a:rPr sz="2800" spc="50" dirty="0">
                <a:solidFill>
                  <a:srgbClr val="2E377E"/>
                </a:solidFill>
                <a:latin typeface="Georgia"/>
                <a:cs typeface="Georgia"/>
              </a:rPr>
              <a:t>to</a:t>
            </a:r>
            <a:r>
              <a:rPr sz="2800" spc="35" dirty="0">
                <a:solidFill>
                  <a:srgbClr val="2E377E"/>
                </a:solidFill>
                <a:latin typeface="Georgia"/>
                <a:cs typeface="Georgia"/>
              </a:rPr>
              <a:t> </a:t>
            </a:r>
            <a:r>
              <a:rPr sz="2800" dirty="0">
                <a:solidFill>
                  <a:srgbClr val="2E377E"/>
                </a:solidFill>
                <a:latin typeface="Georgia"/>
                <a:cs typeface="Georgia"/>
              </a:rPr>
              <a:t>‘app=backend’</a:t>
            </a:r>
            <a:r>
              <a:rPr sz="2800" spc="35" dirty="0">
                <a:solidFill>
                  <a:srgbClr val="2E377E"/>
                </a:solidFill>
                <a:latin typeface="Georgia"/>
                <a:cs typeface="Georgia"/>
              </a:rPr>
              <a:t> </a:t>
            </a:r>
            <a:r>
              <a:rPr sz="2800" spc="-20" dirty="0">
                <a:solidFill>
                  <a:srgbClr val="2E377E"/>
                </a:solidFill>
                <a:latin typeface="Georgia"/>
                <a:cs typeface="Georgia"/>
              </a:rPr>
              <a:t>Pods.</a:t>
            </a:r>
            <a:endParaRPr sz="2800">
              <a:latin typeface="Georgia"/>
              <a:cs typeface="Georgia"/>
            </a:endParaRPr>
          </a:p>
          <a:p>
            <a:pPr>
              <a:lnSpc>
                <a:spcPct val="100000"/>
              </a:lnSpc>
              <a:spcBef>
                <a:spcPts val="715"/>
              </a:spcBef>
            </a:pPr>
            <a:endParaRPr sz="2800">
              <a:latin typeface="Georgia"/>
              <a:cs typeface="Georgia"/>
            </a:endParaRPr>
          </a:p>
          <a:p>
            <a:pPr marL="12700" marR="193040">
              <a:lnSpc>
                <a:spcPct val="116100"/>
              </a:lnSpc>
            </a:pPr>
            <a:r>
              <a:rPr sz="2800" dirty="0">
                <a:solidFill>
                  <a:srgbClr val="2E377E"/>
                </a:solidFill>
                <a:latin typeface="Georgia"/>
                <a:cs typeface="Georgia"/>
              </a:rPr>
              <a:t>By</a:t>
            </a:r>
            <a:r>
              <a:rPr sz="2800" spc="15" dirty="0">
                <a:solidFill>
                  <a:srgbClr val="2E377E"/>
                </a:solidFill>
                <a:latin typeface="Georgia"/>
                <a:cs typeface="Georgia"/>
              </a:rPr>
              <a:t> </a:t>
            </a:r>
            <a:r>
              <a:rPr sz="2800" dirty="0">
                <a:solidFill>
                  <a:srgbClr val="2E377E"/>
                </a:solidFill>
                <a:latin typeface="Georgia"/>
                <a:cs typeface="Georgia"/>
              </a:rPr>
              <a:t>creating</a:t>
            </a:r>
            <a:r>
              <a:rPr sz="2800" spc="20" dirty="0">
                <a:solidFill>
                  <a:srgbClr val="2E377E"/>
                </a:solidFill>
                <a:latin typeface="Georgia"/>
                <a:cs typeface="Georgia"/>
              </a:rPr>
              <a:t> </a:t>
            </a:r>
            <a:r>
              <a:rPr sz="2800" dirty="0">
                <a:solidFill>
                  <a:srgbClr val="2E377E"/>
                </a:solidFill>
                <a:latin typeface="Georgia"/>
                <a:cs typeface="Georgia"/>
              </a:rPr>
              <a:t>custom</a:t>
            </a:r>
            <a:r>
              <a:rPr sz="2800" spc="15" dirty="0">
                <a:solidFill>
                  <a:srgbClr val="2E377E"/>
                </a:solidFill>
                <a:latin typeface="Georgia"/>
                <a:cs typeface="Georgia"/>
              </a:rPr>
              <a:t> </a:t>
            </a:r>
            <a:r>
              <a:rPr sz="2800" dirty="0">
                <a:solidFill>
                  <a:srgbClr val="2E377E"/>
                </a:solidFill>
                <a:latin typeface="Georgia"/>
                <a:cs typeface="Georgia"/>
              </a:rPr>
              <a:t>Roles</a:t>
            </a:r>
            <a:r>
              <a:rPr sz="2800" spc="20" dirty="0">
                <a:solidFill>
                  <a:srgbClr val="2E377E"/>
                </a:solidFill>
                <a:latin typeface="Georgia"/>
                <a:cs typeface="Georgia"/>
              </a:rPr>
              <a:t> </a:t>
            </a:r>
            <a:r>
              <a:rPr sz="2800" dirty="0">
                <a:solidFill>
                  <a:srgbClr val="2E377E"/>
                </a:solidFill>
                <a:latin typeface="Georgia"/>
                <a:cs typeface="Georgia"/>
              </a:rPr>
              <a:t>and</a:t>
            </a:r>
            <a:r>
              <a:rPr sz="2800" spc="20" dirty="0">
                <a:solidFill>
                  <a:srgbClr val="2E377E"/>
                </a:solidFill>
                <a:latin typeface="Georgia"/>
                <a:cs typeface="Georgia"/>
              </a:rPr>
              <a:t> </a:t>
            </a:r>
            <a:r>
              <a:rPr sz="2800" spc="-10" dirty="0">
                <a:solidFill>
                  <a:srgbClr val="2E377E"/>
                </a:solidFill>
                <a:latin typeface="Georgia"/>
                <a:cs typeface="Georgia"/>
              </a:rPr>
              <a:t>RoleBindings,</a:t>
            </a:r>
            <a:r>
              <a:rPr sz="2800" spc="15" dirty="0">
                <a:solidFill>
                  <a:srgbClr val="2E377E"/>
                </a:solidFill>
                <a:latin typeface="Georgia"/>
                <a:cs typeface="Georgia"/>
              </a:rPr>
              <a:t> </a:t>
            </a:r>
            <a:r>
              <a:rPr sz="2800" spc="65" dirty="0">
                <a:solidFill>
                  <a:srgbClr val="2E377E"/>
                </a:solidFill>
                <a:latin typeface="Georgia"/>
                <a:cs typeface="Georgia"/>
              </a:rPr>
              <a:t>you</a:t>
            </a:r>
            <a:r>
              <a:rPr sz="2800" spc="20" dirty="0">
                <a:solidFill>
                  <a:srgbClr val="2E377E"/>
                </a:solidFill>
                <a:latin typeface="Georgia"/>
                <a:cs typeface="Georgia"/>
              </a:rPr>
              <a:t> </a:t>
            </a:r>
            <a:r>
              <a:rPr sz="2800" dirty="0">
                <a:solidFill>
                  <a:srgbClr val="2E377E"/>
                </a:solidFill>
                <a:latin typeface="Georgia"/>
                <a:cs typeface="Georgia"/>
              </a:rPr>
              <a:t>can</a:t>
            </a:r>
            <a:r>
              <a:rPr sz="2800" spc="20" dirty="0">
                <a:solidFill>
                  <a:srgbClr val="2E377E"/>
                </a:solidFill>
                <a:latin typeface="Georgia"/>
                <a:cs typeface="Georgia"/>
              </a:rPr>
              <a:t> </a:t>
            </a:r>
            <a:r>
              <a:rPr sz="2800" spc="55" dirty="0">
                <a:solidFill>
                  <a:srgbClr val="2E377E"/>
                </a:solidFill>
                <a:latin typeface="Georgia"/>
                <a:cs typeface="Georgia"/>
              </a:rPr>
              <a:t>effectively</a:t>
            </a:r>
            <a:r>
              <a:rPr sz="2800" spc="15" dirty="0">
                <a:solidFill>
                  <a:srgbClr val="2E377E"/>
                </a:solidFill>
                <a:latin typeface="Georgia"/>
                <a:cs typeface="Georgia"/>
              </a:rPr>
              <a:t> </a:t>
            </a:r>
            <a:r>
              <a:rPr sz="2800" dirty="0">
                <a:solidFill>
                  <a:srgbClr val="2E377E"/>
                </a:solidFill>
                <a:latin typeface="Georgia"/>
                <a:cs typeface="Georgia"/>
              </a:rPr>
              <a:t>control</a:t>
            </a:r>
            <a:r>
              <a:rPr sz="2800" spc="20" dirty="0">
                <a:solidFill>
                  <a:srgbClr val="2E377E"/>
                </a:solidFill>
                <a:latin typeface="Georgia"/>
                <a:cs typeface="Georgia"/>
              </a:rPr>
              <a:t> </a:t>
            </a:r>
            <a:r>
              <a:rPr sz="2800" dirty="0">
                <a:solidFill>
                  <a:srgbClr val="2E377E"/>
                </a:solidFill>
                <a:latin typeface="Georgia"/>
                <a:cs typeface="Georgia"/>
              </a:rPr>
              <a:t>access</a:t>
            </a:r>
            <a:r>
              <a:rPr sz="2800" spc="20" dirty="0">
                <a:solidFill>
                  <a:srgbClr val="2E377E"/>
                </a:solidFill>
                <a:latin typeface="Georgia"/>
                <a:cs typeface="Georgia"/>
              </a:rPr>
              <a:t> </a:t>
            </a:r>
            <a:r>
              <a:rPr sz="2800" spc="50" dirty="0">
                <a:solidFill>
                  <a:srgbClr val="2E377E"/>
                </a:solidFill>
                <a:latin typeface="Georgia"/>
                <a:cs typeface="Georgia"/>
              </a:rPr>
              <a:t>to</a:t>
            </a:r>
            <a:r>
              <a:rPr sz="2800" spc="15" dirty="0">
                <a:solidFill>
                  <a:srgbClr val="2E377E"/>
                </a:solidFill>
                <a:latin typeface="Georgia"/>
                <a:cs typeface="Georgia"/>
              </a:rPr>
              <a:t> </a:t>
            </a:r>
            <a:r>
              <a:rPr sz="2800" dirty="0">
                <a:solidFill>
                  <a:srgbClr val="2E377E"/>
                </a:solidFill>
                <a:latin typeface="Georgia"/>
                <a:cs typeface="Georgia"/>
              </a:rPr>
              <a:t>resources</a:t>
            </a:r>
            <a:r>
              <a:rPr sz="2800" spc="20" dirty="0">
                <a:solidFill>
                  <a:srgbClr val="2E377E"/>
                </a:solidFill>
                <a:latin typeface="Georgia"/>
                <a:cs typeface="Georgia"/>
              </a:rPr>
              <a:t> </a:t>
            </a:r>
            <a:r>
              <a:rPr sz="2800" spc="-10" dirty="0">
                <a:solidFill>
                  <a:srgbClr val="2E377E"/>
                </a:solidFill>
                <a:latin typeface="Georgia"/>
                <a:cs typeface="Georgia"/>
              </a:rPr>
              <a:t>within </a:t>
            </a:r>
            <a:r>
              <a:rPr sz="2800" spc="55" dirty="0">
                <a:solidFill>
                  <a:srgbClr val="2E377E"/>
                </a:solidFill>
                <a:latin typeface="Georgia"/>
                <a:cs typeface="Georgia"/>
              </a:rPr>
              <a:t>your</a:t>
            </a:r>
            <a:r>
              <a:rPr sz="2800" spc="60" dirty="0">
                <a:solidFill>
                  <a:srgbClr val="2E377E"/>
                </a:solidFill>
                <a:latin typeface="Georgia"/>
                <a:cs typeface="Georgia"/>
              </a:rPr>
              <a:t> </a:t>
            </a:r>
            <a:r>
              <a:rPr sz="2800" dirty="0">
                <a:solidFill>
                  <a:srgbClr val="2E377E"/>
                </a:solidFill>
                <a:latin typeface="Georgia"/>
                <a:cs typeface="Georgia"/>
              </a:rPr>
              <a:t>Kubernetes</a:t>
            </a:r>
            <a:r>
              <a:rPr sz="2800" spc="65" dirty="0">
                <a:solidFill>
                  <a:srgbClr val="2E377E"/>
                </a:solidFill>
                <a:latin typeface="Georgia"/>
                <a:cs typeface="Georgia"/>
              </a:rPr>
              <a:t> </a:t>
            </a:r>
            <a:r>
              <a:rPr sz="2800" dirty="0">
                <a:solidFill>
                  <a:srgbClr val="2E377E"/>
                </a:solidFill>
                <a:latin typeface="Georgia"/>
                <a:cs typeface="Georgia"/>
              </a:rPr>
              <a:t>cluster</a:t>
            </a:r>
            <a:r>
              <a:rPr sz="2800" spc="65" dirty="0">
                <a:solidFill>
                  <a:srgbClr val="2E377E"/>
                </a:solidFill>
                <a:latin typeface="Georgia"/>
                <a:cs typeface="Georgia"/>
              </a:rPr>
              <a:t> </a:t>
            </a:r>
            <a:r>
              <a:rPr sz="2800" dirty="0">
                <a:solidFill>
                  <a:srgbClr val="2E377E"/>
                </a:solidFill>
                <a:latin typeface="Georgia"/>
                <a:cs typeface="Georgia"/>
              </a:rPr>
              <a:t>based</a:t>
            </a:r>
            <a:r>
              <a:rPr sz="2800" spc="60" dirty="0">
                <a:solidFill>
                  <a:srgbClr val="2E377E"/>
                </a:solidFill>
                <a:latin typeface="Georgia"/>
                <a:cs typeface="Georgia"/>
              </a:rPr>
              <a:t> </a:t>
            </a:r>
            <a:r>
              <a:rPr sz="2800" dirty="0">
                <a:solidFill>
                  <a:srgbClr val="2E377E"/>
                </a:solidFill>
                <a:latin typeface="Georgia"/>
                <a:cs typeface="Georgia"/>
              </a:rPr>
              <a:t>on</a:t>
            </a:r>
            <a:r>
              <a:rPr sz="2800" spc="65" dirty="0">
                <a:solidFill>
                  <a:srgbClr val="2E377E"/>
                </a:solidFill>
                <a:latin typeface="Georgia"/>
                <a:cs typeface="Georgia"/>
              </a:rPr>
              <a:t> </a:t>
            </a:r>
            <a:r>
              <a:rPr sz="2800" spc="55" dirty="0">
                <a:solidFill>
                  <a:srgbClr val="2E377E"/>
                </a:solidFill>
                <a:latin typeface="Georgia"/>
                <a:cs typeface="Georgia"/>
              </a:rPr>
              <a:t>your</a:t>
            </a:r>
            <a:r>
              <a:rPr sz="2800" spc="60" dirty="0">
                <a:solidFill>
                  <a:srgbClr val="2E377E"/>
                </a:solidFill>
                <a:latin typeface="Georgia"/>
                <a:cs typeface="Georgia"/>
              </a:rPr>
              <a:t> </a:t>
            </a:r>
            <a:r>
              <a:rPr sz="2800" dirty="0">
                <a:solidFill>
                  <a:srgbClr val="2E377E"/>
                </a:solidFill>
                <a:latin typeface="Georgia"/>
                <a:cs typeface="Georgia"/>
              </a:rPr>
              <a:t>project’s</a:t>
            </a:r>
            <a:r>
              <a:rPr sz="2800" spc="65" dirty="0">
                <a:solidFill>
                  <a:srgbClr val="2E377E"/>
                </a:solidFill>
                <a:latin typeface="Georgia"/>
                <a:cs typeface="Georgia"/>
              </a:rPr>
              <a:t> </a:t>
            </a:r>
            <a:r>
              <a:rPr sz="2800" dirty="0">
                <a:solidFill>
                  <a:srgbClr val="2E377E"/>
                </a:solidFill>
                <a:latin typeface="Georgia"/>
                <a:cs typeface="Georgia"/>
              </a:rPr>
              <a:t>needs</a:t>
            </a:r>
            <a:r>
              <a:rPr sz="2800" spc="65" dirty="0">
                <a:solidFill>
                  <a:srgbClr val="2E377E"/>
                </a:solidFill>
                <a:latin typeface="Georgia"/>
                <a:cs typeface="Georgia"/>
              </a:rPr>
              <a:t> </a:t>
            </a:r>
            <a:r>
              <a:rPr sz="2800" dirty="0">
                <a:solidFill>
                  <a:srgbClr val="2E377E"/>
                </a:solidFill>
                <a:latin typeface="Georgia"/>
                <a:cs typeface="Georgia"/>
              </a:rPr>
              <a:t>and</a:t>
            </a:r>
            <a:r>
              <a:rPr sz="2800" spc="60" dirty="0">
                <a:solidFill>
                  <a:srgbClr val="2E377E"/>
                </a:solidFill>
                <a:latin typeface="Georgia"/>
                <a:cs typeface="Georgia"/>
              </a:rPr>
              <a:t> </a:t>
            </a:r>
            <a:r>
              <a:rPr sz="2800" dirty="0">
                <a:solidFill>
                  <a:srgbClr val="2E377E"/>
                </a:solidFill>
                <a:latin typeface="Georgia"/>
                <a:cs typeface="Georgia"/>
              </a:rPr>
              <a:t>organizational</a:t>
            </a:r>
            <a:r>
              <a:rPr sz="2800" spc="65" dirty="0">
                <a:solidFill>
                  <a:srgbClr val="2E377E"/>
                </a:solidFill>
                <a:latin typeface="Georgia"/>
                <a:cs typeface="Georgia"/>
              </a:rPr>
              <a:t> </a:t>
            </a:r>
            <a:r>
              <a:rPr sz="2800" dirty="0">
                <a:solidFill>
                  <a:srgbClr val="2E377E"/>
                </a:solidFill>
                <a:latin typeface="Georgia"/>
                <a:cs typeface="Georgia"/>
              </a:rPr>
              <a:t>structure.</a:t>
            </a:r>
            <a:r>
              <a:rPr sz="2800" spc="65" dirty="0">
                <a:solidFill>
                  <a:srgbClr val="2E377E"/>
                </a:solidFill>
                <a:latin typeface="Georgia"/>
                <a:cs typeface="Georgia"/>
              </a:rPr>
              <a:t> </a:t>
            </a:r>
            <a:r>
              <a:rPr sz="2800" dirty="0">
                <a:solidFill>
                  <a:srgbClr val="2E377E"/>
                </a:solidFill>
                <a:latin typeface="Georgia"/>
                <a:cs typeface="Georgia"/>
              </a:rPr>
              <a:t>This</a:t>
            </a:r>
            <a:r>
              <a:rPr sz="2800" spc="60" dirty="0">
                <a:solidFill>
                  <a:srgbClr val="2E377E"/>
                </a:solidFill>
                <a:latin typeface="Georgia"/>
                <a:cs typeface="Georgia"/>
              </a:rPr>
              <a:t> </a:t>
            </a:r>
            <a:r>
              <a:rPr sz="2800" spc="-20" dirty="0">
                <a:solidFill>
                  <a:srgbClr val="2E377E"/>
                </a:solidFill>
                <a:latin typeface="Georgia"/>
                <a:cs typeface="Georgia"/>
              </a:rPr>
              <a:t>RBAC </a:t>
            </a:r>
            <a:r>
              <a:rPr sz="2800" dirty="0">
                <a:solidFill>
                  <a:srgbClr val="2E377E"/>
                </a:solidFill>
                <a:latin typeface="Georgia"/>
                <a:cs typeface="Georgia"/>
              </a:rPr>
              <a:t>setup</a:t>
            </a:r>
            <a:r>
              <a:rPr sz="2800" spc="100" dirty="0">
                <a:solidFill>
                  <a:srgbClr val="2E377E"/>
                </a:solidFill>
                <a:latin typeface="Georgia"/>
                <a:cs typeface="Georgia"/>
              </a:rPr>
              <a:t> </a:t>
            </a:r>
            <a:r>
              <a:rPr sz="2800" dirty="0">
                <a:solidFill>
                  <a:srgbClr val="2E377E"/>
                </a:solidFill>
                <a:latin typeface="Georgia"/>
                <a:cs typeface="Georgia"/>
              </a:rPr>
              <a:t>ensures</a:t>
            </a:r>
            <a:r>
              <a:rPr sz="2800" spc="100" dirty="0">
                <a:solidFill>
                  <a:srgbClr val="2E377E"/>
                </a:solidFill>
                <a:latin typeface="Georgia"/>
                <a:cs typeface="Georgia"/>
              </a:rPr>
              <a:t> </a:t>
            </a:r>
            <a:r>
              <a:rPr sz="2800" dirty="0">
                <a:solidFill>
                  <a:srgbClr val="2E377E"/>
                </a:solidFill>
                <a:latin typeface="Georgia"/>
                <a:cs typeface="Georgia"/>
              </a:rPr>
              <a:t>that</a:t>
            </a:r>
            <a:r>
              <a:rPr sz="2800" spc="105" dirty="0">
                <a:solidFill>
                  <a:srgbClr val="2E377E"/>
                </a:solidFill>
                <a:latin typeface="Georgia"/>
                <a:cs typeface="Georgia"/>
              </a:rPr>
              <a:t> </a:t>
            </a:r>
            <a:r>
              <a:rPr sz="2800" dirty="0">
                <a:solidFill>
                  <a:srgbClr val="2E377E"/>
                </a:solidFill>
                <a:latin typeface="Georgia"/>
                <a:cs typeface="Georgia"/>
              </a:rPr>
              <a:t>different</a:t>
            </a:r>
            <a:r>
              <a:rPr sz="2800" spc="100" dirty="0">
                <a:solidFill>
                  <a:srgbClr val="2E377E"/>
                </a:solidFill>
                <a:latin typeface="Georgia"/>
                <a:cs typeface="Georgia"/>
              </a:rPr>
              <a:t> </a:t>
            </a:r>
            <a:r>
              <a:rPr sz="2800" dirty="0">
                <a:solidFill>
                  <a:srgbClr val="2E377E"/>
                </a:solidFill>
                <a:latin typeface="Georgia"/>
                <a:cs typeface="Georgia"/>
              </a:rPr>
              <a:t>teams</a:t>
            </a:r>
            <a:r>
              <a:rPr sz="2800" spc="105" dirty="0">
                <a:solidFill>
                  <a:srgbClr val="2E377E"/>
                </a:solidFill>
                <a:latin typeface="Georgia"/>
                <a:cs typeface="Georgia"/>
              </a:rPr>
              <a:t> </a:t>
            </a:r>
            <a:r>
              <a:rPr sz="2800" dirty="0">
                <a:solidFill>
                  <a:srgbClr val="2E377E"/>
                </a:solidFill>
                <a:latin typeface="Georgia"/>
                <a:cs typeface="Georgia"/>
              </a:rPr>
              <a:t>have</a:t>
            </a:r>
            <a:r>
              <a:rPr sz="2800" spc="100" dirty="0">
                <a:solidFill>
                  <a:srgbClr val="2E377E"/>
                </a:solidFill>
                <a:latin typeface="Georgia"/>
                <a:cs typeface="Georgia"/>
              </a:rPr>
              <a:t> </a:t>
            </a:r>
            <a:r>
              <a:rPr sz="2800" dirty="0">
                <a:solidFill>
                  <a:srgbClr val="2E377E"/>
                </a:solidFill>
                <a:latin typeface="Georgia"/>
                <a:cs typeface="Georgia"/>
              </a:rPr>
              <a:t>the</a:t>
            </a:r>
            <a:r>
              <a:rPr sz="2800" spc="105" dirty="0">
                <a:solidFill>
                  <a:srgbClr val="2E377E"/>
                </a:solidFill>
                <a:latin typeface="Georgia"/>
                <a:cs typeface="Georgia"/>
              </a:rPr>
              <a:t> </a:t>
            </a:r>
            <a:r>
              <a:rPr sz="2800" dirty="0">
                <a:solidFill>
                  <a:srgbClr val="2E377E"/>
                </a:solidFill>
                <a:latin typeface="Georgia"/>
                <a:cs typeface="Georgia"/>
              </a:rPr>
              <a:t>appropriate</a:t>
            </a:r>
            <a:r>
              <a:rPr sz="2800" spc="100" dirty="0">
                <a:solidFill>
                  <a:srgbClr val="2E377E"/>
                </a:solidFill>
                <a:latin typeface="Georgia"/>
                <a:cs typeface="Georgia"/>
              </a:rPr>
              <a:t> </a:t>
            </a:r>
            <a:r>
              <a:rPr sz="2800" dirty="0">
                <a:solidFill>
                  <a:srgbClr val="2E377E"/>
                </a:solidFill>
                <a:latin typeface="Georgia"/>
                <a:cs typeface="Georgia"/>
              </a:rPr>
              <a:t>permissions</a:t>
            </a:r>
            <a:r>
              <a:rPr sz="2800" spc="105" dirty="0">
                <a:solidFill>
                  <a:srgbClr val="2E377E"/>
                </a:solidFill>
                <a:latin typeface="Georgia"/>
                <a:cs typeface="Georgia"/>
              </a:rPr>
              <a:t> </a:t>
            </a:r>
            <a:r>
              <a:rPr sz="2800" spc="50" dirty="0">
                <a:solidFill>
                  <a:srgbClr val="2E377E"/>
                </a:solidFill>
                <a:latin typeface="Georgia"/>
                <a:cs typeface="Georgia"/>
              </a:rPr>
              <a:t>to</a:t>
            </a:r>
            <a:r>
              <a:rPr sz="2800" spc="100" dirty="0">
                <a:solidFill>
                  <a:srgbClr val="2E377E"/>
                </a:solidFill>
                <a:latin typeface="Georgia"/>
                <a:cs typeface="Georgia"/>
              </a:rPr>
              <a:t> </a:t>
            </a:r>
            <a:r>
              <a:rPr sz="2800" dirty="0">
                <a:solidFill>
                  <a:srgbClr val="2E377E"/>
                </a:solidFill>
                <a:latin typeface="Georgia"/>
                <a:cs typeface="Georgia"/>
              </a:rPr>
              <a:t>interact</a:t>
            </a:r>
            <a:r>
              <a:rPr sz="2800" spc="105" dirty="0">
                <a:solidFill>
                  <a:srgbClr val="2E377E"/>
                </a:solidFill>
                <a:latin typeface="Georgia"/>
                <a:cs typeface="Georgia"/>
              </a:rPr>
              <a:t> </a:t>
            </a:r>
            <a:r>
              <a:rPr sz="2800" spc="60" dirty="0">
                <a:solidFill>
                  <a:srgbClr val="2E377E"/>
                </a:solidFill>
                <a:latin typeface="Georgia"/>
                <a:cs typeface="Georgia"/>
              </a:rPr>
              <a:t>with</a:t>
            </a:r>
            <a:r>
              <a:rPr sz="2800" spc="100" dirty="0">
                <a:solidFill>
                  <a:srgbClr val="2E377E"/>
                </a:solidFill>
                <a:latin typeface="Georgia"/>
                <a:cs typeface="Georgia"/>
              </a:rPr>
              <a:t> </a:t>
            </a:r>
            <a:r>
              <a:rPr sz="2800" spc="-20" dirty="0">
                <a:solidFill>
                  <a:srgbClr val="2E377E"/>
                </a:solidFill>
                <a:latin typeface="Georgia"/>
                <a:cs typeface="Georgia"/>
              </a:rPr>
              <a:t>their </a:t>
            </a:r>
            <a:r>
              <a:rPr sz="2800" spc="45" dirty="0">
                <a:solidFill>
                  <a:srgbClr val="2E377E"/>
                </a:solidFill>
                <a:latin typeface="Georgia"/>
                <a:cs typeface="Georgia"/>
              </a:rPr>
              <a:t>respective</a:t>
            </a:r>
            <a:r>
              <a:rPr sz="2800" spc="10" dirty="0">
                <a:solidFill>
                  <a:srgbClr val="2E377E"/>
                </a:solidFill>
                <a:latin typeface="Georgia"/>
                <a:cs typeface="Georgia"/>
              </a:rPr>
              <a:t> </a:t>
            </a:r>
            <a:r>
              <a:rPr sz="2800" dirty="0">
                <a:solidFill>
                  <a:srgbClr val="2E377E"/>
                </a:solidFill>
                <a:latin typeface="Georgia"/>
                <a:cs typeface="Georgia"/>
              </a:rPr>
              <a:t>components,</a:t>
            </a:r>
            <a:r>
              <a:rPr sz="2800" spc="15" dirty="0">
                <a:solidFill>
                  <a:srgbClr val="2E377E"/>
                </a:solidFill>
                <a:latin typeface="Georgia"/>
                <a:cs typeface="Georgia"/>
              </a:rPr>
              <a:t> </a:t>
            </a:r>
            <a:r>
              <a:rPr sz="2800" dirty="0">
                <a:solidFill>
                  <a:srgbClr val="2E377E"/>
                </a:solidFill>
                <a:latin typeface="Georgia"/>
                <a:cs typeface="Georgia"/>
              </a:rPr>
              <a:t>enhancing</a:t>
            </a:r>
            <a:r>
              <a:rPr sz="2800" spc="10" dirty="0">
                <a:solidFill>
                  <a:srgbClr val="2E377E"/>
                </a:solidFill>
                <a:latin typeface="Georgia"/>
                <a:cs typeface="Georgia"/>
              </a:rPr>
              <a:t> </a:t>
            </a:r>
            <a:r>
              <a:rPr sz="2800" spc="50" dirty="0">
                <a:solidFill>
                  <a:srgbClr val="2E377E"/>
                </a:solidFill>
                <a:latin typeface="Georgia"/>
                <a:cs typeface="Georgia"/>
              </a:rPr>
              <a:t>security</a:t>
            </a:r>
            <a:r>
              <a:rPr sz="2800" spc="15" dirty="0">
                <a:solidFill>
                  <a:srgbClr val="2E377E"/>
                </a:solidFill>
                <a:latin typeface="Georgia"/>
                <a:cs typeface="Georgia"/>
              </a:rPr>
              <a:t> </a:t>
            </a:r>
            <a:r>
              <a:rPr sz="2800" dirty="0">
                <a:solidFill>
                  <a:srgbClr val="2E377E"/>
                </a:solidFill>
                <a:latin typeface="Georgia"/>
                <a:cs typeface="Georgia"/>
              </a:rPr>
              <a:t>and</a:t>
            </a:r>
            <a:r>
              <a:rPr sz="2800" spc="10" dirty="0">
                <a:solidFill>
                  <a:srgbClr val="2E377E"/>
                </a:solidFill>
                <a:latin typeface="Georgia"/>
                <a:cs typeface="Georgia"/>
              </a:rPr>
              <a:t> </a:t>
            </a:r>
            <a:r>
              <a:rPr sz="2800" spc="-10" dirty="0">
                <a:solidFill>
                  <a:srgbClr val="2E377E"/>
                </a:solidFill>
                <a:latin typeface="Georgia"/>
                <a:cs typeface="Georgia"/>
              </a:rPr>
              <a:t>manageability.</a:t>
            </a:r>
            <a:endParaRPr sz="2800">
              <a:latin typeface="Georgia"/>
              <a:cs typeface="Georgia"/>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11699" y="355670"/>
            <a:ext cx="15971519" cy="2978785"/>
          </a:xfrm>
          <a:prstGeom prst="rect">
            <a:avLst/>
          </a:prstGeom>
        </p:spPr>
        <p:txBody>
          <a:bodyPr vert="horz" wrap="square" lIns="0" tIns="12700" rIns="0" bIns="0" rtlCol="0">
            <a:spAutoFit/>
          </a:bodyPr>
          <a:lstStyle/>
          <a:p>
            <a:pPr marL="12700">
              <a:lnSpc>
                <a:spcPct val="100000"/>
              </a:lnSpc>
              <a:spcBef>
                <a:spcPts val="100"/>
              </a:spcBef>
            </a:pPr>
            <a:r>
              <a:rPr sz="5000" b="1" spc="-330" dirty="0">
                <a:solidFill>
                  <a:srgbClr val="E7181F"/>
                </a:solidFill>
                <a:latin typeface="Times New Roman"/>
                <a:cs typeface="Times New Roman"/>
              </a:rPr>
              <a:t>HEML</a:t>
            </a:r>
            <a:endParaRPr sz="5000">
              <a:latin typeface="Times New Roman"/>
              <a:cs typeface="Times New Roman"/>
            </a:endParaRPr>
          </a:p>
          <a:p>
            <a:pPr marL="216535" marR="5080">
              <a:lnSpc>
                <a:spcPct val="116300"/>
              </a:lnSpc>
              <a:spcBef>
                <a:spcPts val="2175"/>
              </a:spcBef>
            </a:pPr>
            <a:r>
              <a:rPr sz="3600" dirty="0">
                <a:solidFill>
                  <a:srgbClr val="2E377E"/>
                </a:solidFill>
                <a:latin typeface="Georgia"/>
                <a:cs typeface="Georgia"/>
              </a:rPr>
              <a:t>Helm</a:t>
            </a:r>
            <a:r>
              <a:rPr sz="3600" spc="15" dirty="0">
                <a:solidFill>
                  <a:srgbClr val="2E377E"/>
                </a:solidFill>
                <a:latin typeface="Georgia"/>
                <a:cs typeface="Georgia"/>
              </a:rPr>
              <a:t> </a:t>
            </a:r>
            <a:r>
              <a:rPr sz="3600" dirty="0">
                <a:solidFill>
                  <a:srgbClr val="2E377E"/>
                </a:solidFill>
                <a:latin typeface="Georgia"/>
                <a:cs typeface="Georgia"/>
              </a:rPr>
              <a:t>is</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dirty="0">
                <a:solidFill>
                  <a:srgbClr val="2E377E"/>
                </a:solidFill>
                <a:latin typeface="Georgia"/>
                <a:cs typeface="Georgia"/>
              </a:rPr>
              <a:t>Kubernetes</a:t>
            </a:r>
            <a:r>
              <a:rPr sz="3600" spc="15" dirty="0">
                <a:solidFill>
                  <a:srgbClr val="2E377E"/>
                </a:solidFill>
                <a:latin typeface="Georgia"/>
                <a:cs typeface="Georgia"/>
              </a:rPr>
              <a:t> </a:t>
            </a:r>
            <a:r>
              <a:rPr sz="3600" dirty="0">
                <a:solidFill>
                  <a:srgbClr val="2E377E"/>
                </a:solidFill>
                <a:latin typeface="Georgia"/>
                <a:cs typeface="Georgia"/>
              </a:rPr>
              <a:t>package</a:t>
            </a:r>
            <a:r>
              <a:rPr sz="3600" spc="15" dirty="0">
                <a:solidFill>
                  <a:srgbClr val="2E377E"/>
                </a:solidFill>
                <a:latin typeface="Georgia"/>
                <a:cs typeface="Georgia"/>
              </a:rPr>
              <a:t> </a:t>
            </a:r>
            <a:r>
              <a:rPr sz="3600" dirty="0">
                <a:solidFill>
                  <a:srgbClr val="2E377E"/>
                </a:solidFill>
                <a:latin typeface="Georgia"/>
                <a:cs typeface="Georgia"/>
              </a:rPr>
              <a:t>manager</a:t>
            </a:r>
            <a:r>
              <a:rPr sz="3600" spc="20" dirty="0">
                <a:solidFill>
                  <a:srgbClr val="2E377E"/>
                </a:solidFill>
                <a:latin typeface="Georgia"/>
                <a:cs typeface="Georgia"/>
              </a:rPr>
              <a:t> </a:t>
            </a:r>
            <a:r>
              <a:rPr sz="3600" dirty="0">
                <a:solidFill>
                  <a:srgbClr val="2E377E"/>
                </a:solidFill>
                <a:latin typeface="Georgia"/>
                <a:cs typeface="Georgia"/>
              </a:rPr>
              <a:t>in</a:t>
            </a:r>
            <a:r>
              <a:rPr sz="3600" spc="15" dirty="0">
                <a:solidFill>
                  <a:srgbClr val="2E377E"/>
                </a:solidFill>
                <a:latin typeface="Georgia"/>
                <a:cs typeface="Georgia"/>
              </a:rPr>
              <a:t> </a:t>
            </a:r>
            <a:r>
              <a:rPr sz="3600" dirty="0">
                <a:solidFill>
                  <a:srgbClr val="2E377E"/>
                </a:solidFill>
                <a:latin typeface="Georgia"/>
                <a:cs typeface="Georgia"/>
              </a:rPr>
              <a:t>which</a:t>
            </a:r>
            <a:r>
              <a:rPr sz="3600" spc="15"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multiple</a:t>
            </a:r>
            <a:r>
              <a:rPr sz="3600" spc="15" dirty="0">
                <a:solidFill>
                  <a:srgbClr val="2E377E"/>
                </a:solidFill>
                <a:latin typeface="Georgia"/>
                <a:cs typeface="Georgia"/>
              </a:rPr>
              <a:t> </a:t>
            </a:r>
            <a:r>
              <a:rPr sz="3600" dirty="0">
                <a:solidFill>
                  <a:srgbClr val="2E377E"/>
                </a:solidFill>
                <a:latin typeface="Georgia"/>
                <a:cs typeface="Georgia"/>
              </a:rPr>
              <a:t>numbers</a:t>
            </a:r>
            <a:r>
              <a:rPr sz="3600" spc="15" dirty="0">
                <a:solidFill>
                  <a:srgbClr val="2E377E"/>
                </a:solidFill>
                <a:latin typeface="Georgia"/>
                <a:cs typeface="Georgia"/>
              </a:rPr>
              <a:t> </a:t>
            </a:r>
            <a:r>
              <a:rPr sz="3600" spc="-25" dirty="0">
                <a:solidFill>
                  <a:srgbClr val="2E377E"/>
                </a:solidFill>
                <a:latin typeface="Georgia"/>
                <a:cs typeface="Georgia"/>
              </a:rPr>
              <a:t>of </a:t>
            </a:r>
            <a:r>
              <a:rPr sz="3600" spc="-90" dirty="0">
                <a:solidFill>
                  <a:srgbClr val="2E377E"/>
                </a:solidFill>
                <a:latin typeface="Georgia"/>
                <a:cs typeface="Georgia"/>
              </a:rPr>
              <a:t>YAML</a:t>
            </a:r>
            <a:r>
              <a:rPr sz="3600" spc="-20" dirty="0">
                <a:solidFill>
                  <a:srgbClr val="2E377E"/>
                </a:solidFill>
                <a:latin typeface="Georgia"/>
                <a:cs typeface="Georgia"/>
              </a:rPr>
              <a:t> </a:t>
            </a:r>
            <a:r>
              <a:rPr sz="3600" dirty="0">
                <a:solidFill>
                  <a:srgbClr val="2E377E"/>
                </a:solidFill>
                <a:latin typeface="Georgia"/>
                <a:cs typeface="Georgia"/>
              </a:rPr>
              <a:t>files</a:t>
            </a:r>
            <a:r>
              <a:rPr sz="3600" spc="-20" dirty="0">
                <a:solidFill>
                  <a:srgbClr val="2E377E"/>
                </a:solidFill>
                <a:latin typeface="Georgia"/>
                <a:cs typeface="Georgia"/>
              </a:rPr>
              <a:t> </a:t>
            </a:r>
            <a:r>
              <a:rPr sz="3600" dirty="0">
                <a:solidFill>
                  <a:srgbClr val="2E377E"/>
                </a:solidFill>
                <a:latin typeface="Georgia"/>
                <a:cs typeface="Georgia"/>
              </a:rPr>
              <a:t>such</a:t>
            </a:r>
            <a:r>
              <a:rPr sz="3600" spc="-20" dirty="0">
                <a:solidFill>
                  <a:srgbClr val="2E377E"/>
                </a:solidFill>
                <a:latin typeface="Georgia"/>
                <a:cs typeface="Georgia"/>
              </a:rPr>
              <a:t> </a:t>
            </a:r>
            <a:r>
              <a:rPr sz="3600" dirty="0">
                <a:solidFill>
                  <a:srgbClr val="2E377E"/>
                </a:solidFill>
                <a:latin typeface="Georgia"/>
                <a:cs typeface="Georgia"/>
              </a:rPr>
              <a:t>as</a:t>
            </a:r>
            <a:r>
              <a:rPr sz="3600" spc="-15" dirty="0">
                <a:solidFill>
                  <a:srgbClr val="2E377E"/>
                </a:solidFill>
                <a:latin typeface="Georgia"/>
                <a:cs typeface="Georgia"/>
              </a:rPr>
              <a:t> </a:t>
            </a:r>
            <a:r>
              <a:rPr sz="3600" spc="50" dirty="0">
                <a:solidFill>
                  <a:srgbClr val="2E377E"/>
                </a:solidFill>
                <a:latin typeface="Georgia"/>
                <a:cs typeface="Georgia"/>
              </a:rPr>
              <a:t>the</a:t>
            </a:r>
            <a:r>
              <a:rPr sz="3600" spc="-20" dirty="0">
                <a:solidFill>
                  <a:srgbClr val="2E377E"/>
                </a:solidFill>
                <a:latin typeface="Georgia"/>
                <a:cs typeface="Georgia"/>
              </a:rPr>
              <a:t> </a:t>
            </a:r>
            <a:r>
              <a:rPr sz="3600" dirty="0">
                <a:solidFill>
                  <a:srgbClr val="2E377E"/>
                </a:solidFill>
                <a:latin typeface="Georgia"/>
                <a:cs typeface="Georgia"/>
              </a:rPr>
              <a:t>backend,</a:t>
            </a:r>
            <a:r>
              <a:rPr sz="3600" spc="-20" dirty="0">
                <a:solidFill>
                  <a:srgbClr val="2E377E"/>
                </a:solidFill>
                <a:latin typeface="Georgia"/>
                <a:cs typeface="Georgia"/>
              </a:rPr>
              <a:t> </a:t>
            </a:r>
            <a:r>
              <a:rPr sz="3600" dirty="0">
                <a:solidFill>
                  <a:srgbClr val="2E377E"/>
                </a:solidFill>
                <a:latin typeface="Georgia"/>
                <a:cs typeface="Georgia"/>
              </a:rPr>
              <a:t>and</a:t>
            </a:r>
            <a:r>
              <a:rPr sz="3600" spc="-20" dirty="0">
                <a:solidFill>
                  <a:srgbClr val="2E377E"/>
                </a:solidFill>
                <a:latin typeface="Georgia"/>
                <a:cs typeface="Georgia"/>
              </a:rPr>
              <a:t> </a:t>
            </a:r>
            <a:r>
              <a:rPr sz="3600" dirty="0">
                <a:solidFill>
                  <a:srgbClr val="2E377E"/>
                </a:solidFill>
                <a:latin typeface="Georgia"/>
                <a:cs typeface="Georgia"/>
              </a:rPr>
              <a:t>frontend</a:t>
            </a:r>
            <a:r>
              <a:rPr sz="3600" spc="-15" dirty="0">
                <a:solidFill>
                  <a:srgbClr val="2E377E"/>
                </a:solidFill>
                <a:latin typeface="Georgia"/>
                <a:cs typeface="Georgia"/>
              </a:rPr>
              <a:t> </a:t>
            </a:r>
            <a:r>
              <a:rPr sz="3600" dirty="0">
                <a:solidFill>
                  <a:srgbClr val="2E377E"/>
                </a:solidFill>
                <a:latin typeface="Georgia"/>
                <a:cs typeface="Georgia"/>
              </a:rPr>
              <a:t>come</a:t>
            </a:r>
            <a:r>
              <a:rPr sz="3600" spc="-20" dirty="0">
                <a:solidFill>
                  <a:srgbClr val="2E377E"/>
                </a:solidFill>
                <a:latin typeface="Georgia"/>
                <a:cs typeface="Georgia"/>
              </a:rPr>
              <a:t> </a:t>
            </a:r>
            <a:r>
              <a:rPr sz="3600" dirty="0">
                <a:solidFill>
                  <a:srgbClr val="2E377E"/>
                </a:solidFill>
                <a:latin typeface="Georgia"/>
                <a:cs typeface="Georgia"/>
              </a:rPr>
              <a:t>under</a:t>
            </a:r>
            <a:r>
              <a:rPr sz="3600" spc="-20" dirty="0">
                <a:solidFill>
                  <a:srgbClr val="2E377E"/>
                </a:solidFill>
                <a:latin typeface="Georgia"/>
                <a:cs typeface="Georgia"/>
              </a:rPr>
              <a:t> </a:t>
            </a:r>
            <a:r>
              <a:rPr sz="3600" dirty="0">
                <a:solidFill>
                  <a:srgbClr val="2E377E"/>
                </a:solidFill>
                <a:latin typeface="Georgia"/>
                <a:cs typeface="Georgia"/>
              </a:rPr>
              <a:t>one</a:t>
            </a:r>
            <a:r>
              <a:rPr sz="3600" spc="-20" dirty="0">
                <a:solidFill>
                  <a:srgbClr val="2E377E"/>
                </a:solidFill>
                <a:latin typeface="Georgia"/>
                <a:cs typeface="Georgia"/>
              </a:rPr>
              <a:t> </a:t>
            </a:r>
            <a:r>
              <a:rPr sz="3600" spc="-45" dirty="0">
                <a:solidFill>
                  <a:srgbClr val="2E377E"/>
                </a:solidFill>
                <a:latin typeface="Georgia"/>
                <a:cs typeface="Georgia"/>
              </a:rPr>
              <a:t>roof(helm)</a:t>
            </a:r>
            <a:r>
              <a:rPr sz="3600" spc="-15" dirty="0">
                <a:solidFill>
                  <a:srgbClr val="2E377E"/>
                </a:solidFill>
                <a:latin typeface="Georgia"/>
                <a:cs typeface="Georgia"/>
              </a:rPr>
              <a:t> </a:t>
            </a:r>
            <a:r>
              <a:rPr sz="3600" spc="-25" dirty="0">
                <a:solidFill>
                  <a:srgbClr val="2E377E"/>
                </a:solidFill>
                <a:latin typeface="Georgia"/>
                <a:cs typeface="Georgia"/>
              </a:rPr>
              <a:t>and </a:t>
            </a:r>
            <a:r>
              <a:rPr sz="3600" dirty="0">
                <a:solidFill>
                  <a:srgbClr val="2E377E"/>
                </a:solidFill>
                <a:latin typeface="Georgia"/>
                <a:cs typeface="Georgia"/>
              </a:rPr>
              <a:t>deploy</a:t>
            </a:r>
            <a:r>
              <a:rPr sz="3600" spc="85" dirty="0">
                <a:solidFill>
                  <a:srgbClr val="2E377E"/>
                </a:solidFill>
                <a:latin typeface="Georgia"/>
                <a:cs typeface="Georgia"/>
              </a:rPr>
              <a:t> </a:t>
            </a:r>
            <a:r>
              <a:rPr sz="3600" dirty="0">
                <a:solidFill>
                  <a:srgbClr val="2E377E"/>
                </a:solidFill>
                <a:latin typeface="Georgia"/>
                <a:cs typeface="Georgia"/>
              </a:rPr>
              <a:t>using</a:t>
            </a:r>
            <a:r>
              <a:rPr sz="3600" spc="85" dirty="0">
                <a:solidFill>
                  <a:srgbClr val="2E377E"/>
                </a:solidFill>
                <a:latin typeface="Georgia"/>
                <a:cs typeface="Georgia"/>
              </a:rPr>
              <a:t> </a:t>
            </a:r>
            <a:r>
              <a:rPr sz="3600" spc="-10" dirty="0">
                <a:solidFill>
                  <a:srgbClr val="2E377E"/>
                </a:solidFill>
                <a:latin typeface="Georgia"/>
                <a:cs typeface="Georgia"/>
              </a:rPr>
              <a:t>helm.</a:t>
            </a:r>
            <a:endParaRPr sz="3600">
              <a:latin typeface="Georgia"/>
              <a:cs typeface="Georgia"/>
            </a:endParaRPr>
          </a:p>
        </p:txBody>
      </p:sp>
      <p:pic>
        <p:nvPicPr>
          <p:cNvPr id="3" name="object 3"/>
          <p:cNvPicPr/>
          <p:nvPr/>
        </p:nvPicPr>
        <p:blipFill>
          <a:blip r:embed="rId2" cstate="print"/>
          <a:stretch>
            <a:fillRect/>
          </a:stretch>
        </p:blipFill>
        <p:spPr>
          <a:xfrm>
            <a:off x="7553301" y="4670573"/>
            <a:ext cx="1938011" cy="2394430"/>
          </a:xfrm>
          <a:prstGeom prst="rect">
            <a:avLst/>
          </a:prstGeom>
        </p:spPr>
      </p:pic>
      <p:sp>
        <p:nvSpPr>
          <p:cNvPr id="4" name="object 4"/>
          <p:cNvSpPr/>
          <p:nvPr/>
        </p:nvSpPr>
        <p:spPr>
          <a:xfrm>
            <a:off x="10960817" y="4711773"/>
            <a:ext cx="1979930" cy="2286000"/>
          </a:xfrm>
          <a:custGeom>
            <a:avLst/>
            <a:gdLst/>
            <a:ahLst/>
            <a:cxnLst/>
            <a:rect l="l" t="t" r="r" b="b"/>
            <a:pathLst>
              <a:path w="1979929" h="2286000">
                <a:moveTo>
                  <a:pt x="76148" y="1981199"/>
                </a:moveTo>
                <a:lnTo>
                  <a:pt x="46517" y="1975208"/>
                </a:lnTo>
                <a:lnTo>
                  <a:pt x="22311" y="1958873"/>
                </a:lnTo>
                <a:lnTo>
                  <a:pt x="5987" y="1934651"/>
                </a:lnTo>
                <a:lnTo>
                  <a:pt x="0" y="1904999"/>
                </a:lnTo>
                <a:lnTo>
                  <a:pt x="0" y="76199"/>
                </a:lnTo>
                <a:lnTo>
                  <a:pt x="5987" y="46548"/>
                </a:lnTo>
                <a:lnTo>
                  <a:pt x="22311" y="22326"/>
                </a:lnTo>
                <a:lnTo>
                  <a:pt x="46517" y="5991"/>
                </a:lnTo>
                <a:lnTo>
                  <a:pt x="76148" y="0"/>
                </a:lnTo>
                <a:lnTo>
                  <a:pt x="1294525" y="0"/>
                </a:lnTo>
                <a:lnTo>
                  <a:pt x="1324156" y="5991"/>
                </a:lnTo>
                <a:lnTo>
                  <a:pt x="1348362" y="22326"/>
                </a:lnTo>
                <a:lnTo>
                  <a:pt x="1364687" y="46548"/>
                </a:lnTo>
                <a:lnTo>
                  <a:pt x="1370674" y="76199"/>
                </a:lnTo>
                <a:lnTo>
                  <a:pt x="1364687" y="105851"/>
                </a:lnTo>
                <a:lnTo>
                  <a:pt x="1348362" y="130073"/>
                </a:lnTo>
                <a:lnTo>
                  <a:pt x="1324156" y="146408"/>
                </a:lnTo>
                <a:lnTo>
                  <a:pt x="1294525" y="152399"/>
                </a:lnTo>
                <a:lnTo>
                  <a:pt x="152297" y="152399"/>
                </a:lnTo>
                <a:lnTo>
                  <a:pt x="152297" y="1904999"/>
                </a:lnTo>
                <a:lnTo>
                  <a:pt x="146309" y="1934651"/>
                </a:lnTo>
                <a:lnTo>
                  <a:pt x="129985" y="1958873"/>
                </a:lnTo>
                <a:lnTo>
                  <a:pt x="105779" y="1975208"/>
                </a:lnTo>
                <a:lnTo>
                  <a:pt x="76148" y="1981199"/>
                </a:lnTo>
                <a:close/>
              </a:path>
              <a:path w="1979929" h="2286000">
                <a:moveTo>
                  <a:pt x="1903714" y="2285999"/>
                </a:moveTo>
                <a:lnTo>
                  <a:pt x="380742" y="2285999"/>
                </a:lnTo>
                <a:lnTo>
                  <a:pt x="351111" y="2280008"/>
                </a:lnTo>
                <a:lnTo>
                  <a:pt x="326905" y="2263673"/>
                </a:lnTo>
                <a:lnTo>
                  <a:pt x="310581" y="2239451"/>
                </a:lnTo>
                <a:lnTo>
                  <a:pt x="304594" y="2209799"/>
                </a:lnTo>
                <a:lnTo>
                  <a:pt x="304594" y="380999"/>
                </a:lnTo>
                <a:lnTo>
                  <a:pt x="326803" y="327278"/>
                </a:lnTo>
                <a:lnTo>
                  <a:pt x="380742" y="304799"/>
                </a:lnTo>
                <a:lnTo>
                  <a:pt x="1449944" y="304799"/>
                </a:lnTo>
                <a:lnTo>
                  <a:pt x="1492382" y="317690"/>
                </a:lnTo>
                <a:lnTo>
                  <a:pt x="1515127" y="341604"/>
                </a:lnTo>
                <a:lnTo>
                  <a:pt x="1630645" y="457199"/>
                </a:lnTo>
                <a:lnTo>
                  <a:pt x="456891" y="457199"/>
                </a:lnTo>
                <a:lnTo>
                  <a:pt x="456891" y="2133599"/>
                </a:lnTo>
                <a:lnTo>
                  <a:pt x="1979862" y="2133599"/>
                </a:lnTo>
                <a:lnTo>
                  <a:pt x="1979862" y="2209799"/>
                </a:lnTo>
                <a:lnTo>
                  <a:pt x="1973875" y="2239451"/>
                </a:lnTo>
                <a:lnTo>
                  <a:pt x="1957551" y="2263673"/>
                </a:lnTo>
                <a:lnTo>
                  <a:pt x="1933345" y="2280008"/>
                </a:lnTo>
                <a:lnTo>
                  <a:pt x="1903714" y="2285999"/>
                </a:lnTo>
                <a:close/>
              </a:path>
              <a:path w="1979929" h="2286000">
                <a:moveTo>
                  <a:pt x="1979862" y="2133599"/>
                </a:moveTo>
                <a:lnTo>
                  <a:pt x="1827565" y="2133599"/>
                </a:lnTo>
                <a:lnTo>
                  <a:pt x="1827565" y="914399"/>
                </a:lnTo>
                <a:lnTo>
                  <a:pt x="1446822" y="914399"/>
                </a:lnTo>
                <a:lnTo>
                  <a:pt x="1404396" y="901509"/>
                </a:lnTo>
                <a:lnTo>
                  <a:pt x="1376318" y="867022"/>
                </a:lnTo>
                <a:lnTo>
                  <a:pt x="1370723" y="838199"/>
                </a:lnTo>
                <a:lnTo>
                  <a:pt x="1370798" y="819435"/>
                </a:lnTo>
                <a:lnTo>
                  <a:pt x="1373263" y="457199"/>
                </a:lnTo>
                <a:lnTo>
                  <a:pt x="1630645" y="457199"/>
                </a:lnTo>
                <a:lnTo>
                  <a:pt x="1740223" y="566851"/>
                </a:lnTo>
                <a:lnTo>
                  <a:pt x="1524798" y="566851"/>
                </a:lnTo>
                <a:lnTo>
                  <a:pt x="1523504" y="761999"/>
                </a:lnTo>
                <a:lnTo>
                  <a:pt x="1935239" y="761999"/>
                </a:lnTo>
                <a:lnTo>
                  <a:pt x="1958845" y="785621"/>
                </a:lnTo>
                <a:lnTo>
                  <a:pt x="1963643" y="790727"/>
                </a:lnTo>
                <a:lnTo>
                  <a:pt x="1967678" y="796289"/>
                </a:lnTo>
                <a:lnTo>
                  <a:pt x="1970800" y="802157"/>
                </a:lnTo>
                <a:lnTo>
                  <a:pt x="1970953" y="802385"/>
                </a:lnTo>
                <a:lnTo>
                  <a:pt x="1974754" y="810660"/>
                </a:lnTo>
                <a:lnTo>
                  <a:pt x="1977549" y="819435"/>
                </a:lnTo>
                <a:lnTo>
                  <a:pt x="1979273" y="828639"/>
                </a:lnTo>
                <a:lnTo>
                  <a:pt x="1979829" y="837666"/>
                </a:lnTo>
                <a:lnTo>
                  <a:pt x="1979862" y="2133599"/>
                </a:lnTo>
                <a:close/>
              </a:path>
              <a:path w="1979929" h="2286000">
                <a:moveTo>
                  <a:pt x="1935239" y="761999"/>
                </a:moveTo>
                <a:lnTo>
                  <a:pt x="1719891" y="761999"/>
                </a:lnTo>
                <a:lnTo>
                  <a:pt x="1524798" y="566851"/>
                </a:lnTo>
                <a:lnTo>
                  <a:pt x="1740223" y="566851"/>
                </a:lnTo>
                <a:lnTo>
                  <a:pt x="1935239" y="761999"/>
                </a:lnTo>
                <a:close/>
              </a:path>
              <a:path w="1979929" h="2286000">
                <a:moveTo>
                  <a:pt x="1142228" y="1110310"/>
                </a:moveTo>
                <a:lnTo>
                  <a:pt x="685337" y="1110310"/>
                </a:lnTo>
                <a:lnTo>
                  <a:pt x="655705" y="1104318"/>
                </a:lnTo>
                <a:lnTo>
                  <a:pt x="631500" y="1087983"/>
                </a:lnTo>
                <a:lnTo>
                  <a:pt x="615175" y="1063761"/>
                </a:lnTo>
                <a:lnTo>
                  <a:pt x="609188" y="1034110"/>
                </a:lnTo>
                <a:lnTo>
                  <a:pt x="615175" y="1004491"/>
                </a:lnTo>
                <a:lnTo>
                  <a:pt x="631500" y="980265"/>
                </a:lnTo>
                <a:lnTo>
                  <a:pt x="655705" y="963912"/>
                </a:lnTo>
                <a:lnTo>
                  <a:pt x="685337" y="957910"/>
                </a:lnTo>
                <a:lnTo>
                  <a:pt x="1142228" y="957910"/>
                </a:lnTo>
                <a:lnTo>
                  <a:pt x="1171859" y="963912"/>
                </a:lnTo>
                <a:lnTo>
                  <a:pt x="1196065" y="980265"/>
                </a:lnTo>
                <a:lnTo>
                  <a:pt x="1212389" y="1004491"/>
                </a:lnTo>
                <a:lnTo>
                  <a:pt x="1218377" y="1034110"/>
                </a:lnTo>
                <a:lnTo>
                  <a:pt x="1212389" y="1063761"/>
                </a:lnTo>
                <a:lnTo>
                  <a:pt x="1196065" y="1087983"/>
                </a:lnTo>
                <a:lnTo>
                  <a:pt x="1171859" y="1104318"/>
                </a:lnTo>
                <a:lnTo>
                  <a:pt x="1142228" y="1110310"/>
                </a:lnTo>
                <a:close/>
              </a:path>
              <a:path w="1979929" h="2286000">
                <a:moveTo>
                  <a:pt x="1294525" y="1371599"/>
                </a:moveTo>
                <a:lnTo>
                  <a:pt x="685337" y="1371599"/>
                </a:lnTo>
                <a:lnTo>
                  <a:pt x="655705" y="1365608"/>
                </a:lnTo>
                <a:lnTo>
                  <a:pt x="631500" y="1349273"/>
                </a:lnTo>
                <a:lnTo>
                  <a:pt x="615175" y="1325051"/>
                </a:lnTo>
                <a:lnTo>
                  <a:pt x="609188" y="1295399"/>
                </a:lnTo>
                <a:lnTo>
                  <a:pt x="615175" y="1265748"/>
                </a:lnTo>
                <a:lnTo>
                  <a:pt x="631500" y="1241526"/>
                </a:lnTo>
                <a:lnTo>
                  <a:pt x="655705" y="1225191"/>
                </a:lnTo>
                <a:lnTo>
                  <a:pt x="685337" y="1219199"/>
                </a:lnTo>
                <a:lnTo>
                  <a:pt x="1294525" y="1219199"/>
                </a:lnTo>
                <a:lnTo>
                  <a:pt x="1324156" y="1225191"/>
                </a:lnTo>
                <a:lnTo>
                  <a:pt x="1348362" y="1241526"/>
                </a:lnTo>
                <a:lnTo>
                  <a:pt x="1364687" y="1265748"/>
                </a:lnTo>
                <a:lnTo>
                  <a:pt x="1370674" y="1295399"/>
                </a:lnTo>
                <a:lnTo>
                  <a:pt x="1364687" y="1325051"/>
                </a:lnTo>
                <a:lnTo>
                  <a:pt x="1348362" y="1349273"/>
                </a:lnTo>
                <a:lnTo>
                  <a:pt x="1324156" y="1365608"/>
                </a:lnTo>
                <a:lnTo>
                  <a:pt x="1294525" y="1371599"/>
                </a:lnTo>
                <a:close/>
              </a:path>
              <a:path w="1979929" h="2286000">
                <a:moveTo>
                  <a:pt x="1522971" y="1632889"/>
                </a:moveTo>
                <a:lnTo>
                  <a:pt x="685337" y="1632889"/>
                </a:lnTo>
                <a:lnTo>
                  <a:pt x="655705" y="1626887"/>
                </a:lnTo>
                <a:lnTo>
                  <a:pt x="631500" y="1610534"/>
                </a:lnTo>
                <a:lnTo>
                  <a:pt x="615175" y="1586308"/>
                </a:lnTo>
                <a:lnTo>
                  <a:pt x="609188" y="1556689"/>
                </a:lnTo>
                <a:lnTo>
                  <a:pt x="615175" y="1527038"/>
                </a:lnTo>
                <a:lnTo>
                  <a:pt x="631500" y="1502816"/>
                </a:lnTo>
                <a:lnTo>
                  <a:pt x="655705" y="1486481"/>
                </a:lnTo>
                <a:lnTo>
                  <a:pt x="685337" y="1480489"/>
                </a:lnTo>
                <a:lnTo>
                  <a:pt x="1522971" y="1480489"/>
                </a:lnTo>
                <a:lnTo>
                  <a:pt x="1552602" y="1486481"/>
                </a:lnTo>
                <a:lnTo>
                  <a:pt x="1576808" y="1502816"/>
                </a:lnTo>
                <a:lnTo>
                  <a:pt x="1593132" y="1527038"/>
                </a:lnTo>
                <a:lnTo>
                  <a:pt x="1599119" y="1556689"/>
                </a:lnTo>
                <a:lnTo>
                  <a:pt x="1593132" y="1586308"/>
                </a:lnTo>
                <a:lnTo>
                  <a:pt x="1576808" y="1610534"/>
                </a:lnTo>
                <a:lnTo>
                  <a:pt x="1552602" y="1626887"/>
                </a:lnTo>
                <a:lnTo>
                  <a:pt x="1522971" y="1632889"/>
                </a:lnTo>
                <a:close/>
              </a:path>
            </a:pathLst>
          </a:custGeom>
          <a:solidFill>
            <a:srgbClr val="000000"/>
          </a:solidFill>
        </p:spPr>
        <p:txBody>
          <a:bodyPr wrap="square" lIns="0" tIns="0" rIns="0" bIns="0" rtlCol="0"/>
          <a:lstStyle/>
          <a:p>
            <a:endParaRPr/>
          </a:p>
        </p:txBody>
      </p:sp>
      <p:pic>
        <p:nvPicPr>
          <p:cNvPr id="5" name="object 5"/>
          <p:cNvPicPr/>
          <p:nvPr/>
        </p:nvPicPr>
        <p:blipFill>
          <a:blip r:embed="rId2" cstate="print"/>
          <a:stretch>
            <a:fillRect/>
          </a:stretch>
        </p:blipFill>
        <p:spPr>
          <a:xfrm>
            <a:off x="14675787" y="4650616"/>
            <a:ext cx="1707674" cy="2107773"/>
          </a:xfrm>
          <a:prstGeom prst="rect">
            <a:avLst/>
          </a:prstGeom>
        </p:spPr>
      </p:pic>
      <p:sp>
        <p:nvSpPr>
          <p:cNvPr id="6" name="object 6"/>
          <p:cNvSpPr txBox="1"/>
          <p:nvPr/>
        </p:nvSpPr>
        <p:spPr>
          <a:xfrm>
            <a:off x="7313490" y="7450580"/>
            <a:ext cx="2375535" cy="684530"/>
          </a:xfrm>
          <a:prstGeom prst="rect">
            <a:avLst/>
          </a:prstGeom>
        </p:spPr>
        <p:txBody>
          <a:bodyPr vert="horz" wrap="square" lIns="0" tIns="15240" rIns="0" bIns="0" rtlCol="0">
            <a:spAutoFit/>
          </a:bodyPr>
          <a:lstStyle/>
          <a:p>
            <a:pPr marL="12700">
              <a:lnSpc>
                <a:spcPct val="100000"/>
              </a:lnSpc>
              <a:spcBef>
                <a:spcPts val="120"/>
              </a:spcBef>
            </a:pPr>
            <a:r>
              <a:rPr sz="4300" b="1" spc="135" dirty="0">
                <a:latin typeface="Times New Roman"/>
                <a:cs typeface="Times New Roman"/>
              </a:rPr>
              <a:t>Frontend</a:t>
            </a:r>
            <a:endParaRPr sz="4300">
              <a:latin typeface="Times New Roman"/>
              <a:cs typeface="Times New Roman"/>
            </a:endParaRPr>
          </a:p>
        </p:txBody>
      </p:sp>
      <p:sp>
        <p:nvSpPr>
          <p:cNvPr id="7" name="object 7"/>
          <p:cNvSpPr txBox="1"/>
          <p:nvPr/>
        </p:nvSpPr>
        <p:spPr>
          <a:xfrm>
            <a:off x="11140441" y="7450580"/>
            <a:ext cx="2187575" cy="684530"/>
          </a:xfrm>
          <a:prstGeom prst="rect">
            <a:avLst/>
          </a:prstGeom>
        </p:spPr>
        <p:txBody>
          <a:bodyPr vert="horz" wrap="square" lIns="0" tIns="15240" rIns="0" bIns="0" rtlCol="0">
            <a:spAutoFit/>
          </a:bodyPr>
          <a:lstStyle/>
          <a:p>
            <a:pPr marL="12700">
              <a:lnSpc>
                <a:spcPct val="100000"/>
              </a:lnSpc>
              <a:spcBef>
                <a:spcPts val="120"/>
              </a:spcBef>
            </a:pPr>
            <a:r>
              <a:rPr sz="4300" b="1" spc="114" dirty="0">
                <a:latin typeface="Times New Roman"/>
                <a:cs typeface="Times New Roman"/>
              </a:rPr>
              <a:t>Backend</a:t>
            </a:r>
            <a:endParaRPr sz="4300">
              <a:latin typeface="Times New Roman"/>
              <a:cs typeface="Times New Roman"/>
            </a:endParaRPr>
          </a:p>
        </p:txBody>
      </p:sp>
      <p:sp>
        <p:nvSpPr>
          <p:cNvPr id="8" name="object 8"/>
          <p:cNvSpPr txBox="1"/>
          <p:nvPr/>
        </p:nvSpPr>
        <p:spPr>
          <a:xfrm>
            <a:off x="14497254" y="7450580"/>
            <a:ext cx="2328545" cy="684530"/>
          </a:xfrm>
          <a:prstGeom prst="rect">
            <a:avLst/>
          </a:prstGeom>
        </p:spPr>
        <p:txBody>
          <a:bodyPr vert="horz" wrap="square" lIns="0" tIns="15240" rIns="0" bIns="0" rtlCol="0">
            <a:spAutoFit/>
          </a:bodyPr>
          <a:lstStyle/>
          <a:p>
            <a:pPr marL="12700">
              <a:lnSpc>
                <a:spcPct val="100000"/>
              </a:lnSpc>
              <a:spcBef>
                <a:spcPts val="120"/>
              </a:spcBef>
            </a:pPr>
            <a:r>
              <a:rPr sz="4300" b="1" spc="114" dirty="0">
                <a:latin typeface="Times New Roman"/>
                <a:cs typeface="Times New Roman"/>
              </a:rPr>
              <a:t>Database</a:t>
            </a:r>
            <a:endParaRPr sz="4300">
              <a:latin typeface="Times New Roman"/>
              <a:cs typeface="Times New Roman"/>
            </a:endParaRPr>
          </a:p>
        </p:txBody>
      </p:sp>
      <p:sp>
        <p:nvSpPr>
          <p:cNvPr id="9" name="object 9"/>
          <p:cNvSpPr txBox="1"/>
          <p:nvPr/>
        </p:nvSpPr>
        <p:spPr>
          <a:xfrm>
            <a:off x="2153840" y="5684976"/>
            <a:ext cx="1818005" cy="787400"/>
          </a:xfrm>
          <a:prstGeom prst="rect">
            <a:avLst/>
          </a:prstGeom>
        </p:spPr>
        <p:txBody>
          <a:bodyPr vert="horz" wrap="square" lIns="0" tIns="12700" rIns="0" bIns="0" rtlCol="0">
            <a:spAutoFit/>
          </a:bodyPr>
          <a:lstStyle/>
          <a:p>
            <a:pPr marL="12700">
              <a:lnSpc>
                <a:spcPct val="100000"/>
              </a:lnSpc>
              <a:spcBef>
                <a:spcPts val="100"/>
              </a:spcBef>
            </a:pPr>
            <a:r>
              <a:rPr sz="5000" b="1" spc="-330" dirty="0">
                <a:solidFill>
                  <a:srgbClr val="E7181F"/>
                </a:solidFill>
                <a:latin typeface="Times New Roman"/>
                <a:cs typeface="Times New Roman"/>
              </a:rPr>
              <a:t>HEML</a:t>
            </a:r>
            <a:endParaRPr sz="5000">
              <a:latin typeface="Times New Roman"/>
              <a:cs typeface="Times New Roman"/>
            </a:endParaRPr>
          </a:p>
        </p:txBody>
      </p:sp>
      <p:sp>
        <p:nvSpPr>
          <p:cNvPr id="10" name="object 10"/>
          <p:cNvSpPr txBox="1"/>
          <p:nvPr/>
        </p:nvSpPr>
        <p:spPr>
          <a:xfrm>
            <a:off x="4961085" y="5477209"/>
            <a:ext cx="474345" cy="1132840"/>
          </a:xfrm>
          <a:prstGeom prst="rect">
            <a:avLst/>
          </a:prstGeom>
        </p:spPr>
        <p:txBody>
          <a:bodyPr vert="horz" wrap="square" lIns="0" tIns="13970" rIns="0" bIns="0" rtlCol="0">
            <a:spAutoFit/>
          </a:bodyPr>
          <a:lstStyle/>
          <a:p>
            <a:pPr marL="12700">
              <a:lnSpc>
                <a:spcPct val="100000"/>
              </a:lnSpc>
              <a:spcBef>
                <a:spcPts val="110"/>
              </a:spcBef>
            </a:pPr>
            <a:r>
              <a:rPr sz="7250" b="1" spc="-670" dirty="0">
                <a:latin typeface="Times New Roman"/>
                <a:cs typeface="Times New Roman"/>
              </a:rPr>
              <a:t>=</a:t>
            </a:r>
            <a:endParaRPr sz="7250">
              <a:latin typeface="Times New Roman"/>
              <a:cs typeface="Times New Roman"/>
            </a:endParaRPr>
          </a:p>
        </p:txBody>
      </p:sp>
      <p:sp>
        <p:nvSpPr>
          <p:cNvPr id="11" name="object 11"/>
          <p:cNvSpPr txBox="1"/>
          <p:nvPr/>
        </p:nvSpPr>
        <p:spPr>
          <a:xfrm>
            <a:off x="10024859" y="5498731"/>
            <a:ext cx="391795" cy="925830"/>
          </a:xfrm>
          <a:prstGeom prst="rect">
            <a:avLst/>
          </a:prstGeom>
        </p:spPr>
        <p:txBody>
          <a:bodyPr vert="horz" wrap="square" lIns="0" tIns="13335" rIns="0" bIns="0" rtlCol="0">
            <a:spAutoFit/>
          </a:bodyPr>
          <a:lstStyle/>
          <a:p>
            <a:pPr marL="12700">
              <a:lnSpc>
                <a:spcPct val="100000"/>
              </a:lnSpc>
              <a:spcBef>
                <a:spcPts val="105"/>
              </a:spcBef>
            </a:pPr>
            <a:r>
              <a:rPr sz="5900" b="1" spc="-555" dirty="0">
                <a:latin typeface="Times New Roman"/>
                <a:cs typeface="Times New Roman"/>
              </a:rPr>
              <a:t>+</a:t>
            </a:r>
            <a:endParaRPr sz="5900">
              <a:latin typeface="Times New Roman"/>
              <a:cs typeface="Times New Roman"/>
            </a:endParaRPr>
          </a:p>
        </p:txBody>
      </p:sp>
      <p:sp>
        <p:nvSpPr>
          <p:cNvPr id="12" name="object 12"/>
          <p:cNvSpPr txBox="1"/>
          <p:nvPr/>
        </p:nvSpPr>
        <p:spPr>
          <a:xfrm>
            <a:off x="13718387" y="5498731"/>
            <a:ext cx="391795" cy="925830"/>
          </a:xfrm>
          <a:prstGeom prst="rect">
            <a:avLst/>
          </a:prstGeom>
        </p:spPr>
        <p:txBody>
          <a:bodyPr vert="horz" wrap="square" lIns="0" tIns="13335" rIns="0" bIns="0" rtlCol="0">
            <a:spAutoFit/>
          </a:bodyPr>
          <a:lstStyle/>
          <a:p>
            <a:pPr marL="12700">
              <a:lnSpc>
                <a:spcPct val="100000"/>
              </a:lnSpc>
              <a:spcBef>
                <a:spcPts val="105"/>
              </a:spcBef>
            </a:pPr>
            <a:r>
              <a:rPr sz="5900" b="1" spc="-555" dirty="0">
                <a:latin typeface="Times New Roman"/>
                <a:cs typeface="Times New Roman"/>
              </a:rPr>
              <a:t>+</a:t>
            </a:r>
            <a:endParaRPr sz="5900">
              <a:latin typeface="Times New Roman"/>
              <a:cs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28700" y="1028700"/>
            <a:ext cx="16763999" cy="8429624"/>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76374" y="1098558"/>
            <a:ext cx="133350" cy="133349"/>
          </a:xfrm>
          <a:prstGeom prst="rect">
            <a:avLst/>
          </a:prstGeom>
        </p:spPr>
      </p:pic>
      <p:sp>
        <p:nvSpPr>
          <p:cNvPr id="3" name="object 3"/>
          <p:cNvSpPr txBox="1"/>
          <p:nvPr/>
        </p:nvSpPr>
        <p:spPr>
          <a:xfrm>
            <a:off x="1793180" y="739148"/>
            <a:ext cx="15467330" cy="5768975"/>
          </a:xfrm>
          <a:prstGeom prst="rect">
            <a:avLst/>
          </a:prstGeom>
        </p:spPr>
        <p:txBody>
          <a:bodyPr vert="horz" wrap="square" lIns="0" tIns="12700" rIns="0" bIns="0" rtlCol="0">
            <a:spAutoFit/>
          </a:bodyPr>
          <a:lstStyle/>
          <a:p>
            <a:pPr marL="12700" marR="836930">
              <a:lnSpc>
                <a:spcPct val="116300"/>
              </a:lnSpc>
              <a:spcBef>
                <a:spcPts val="100"/>
              </a:spcBef>
            </a:pPr>
            <a:r>
              <a:rPr sz="3600" dirty="0">
                <a:solidFill>
                  <a:srgbClr val="2E377E"/>
                </a:solidFill>
                <a:latin typeface="Georgia"/>
                <a:cs typeface="Georgia"/>
              </a:rPr>
              <a:t>Lets</a:t>
            </a:r>
            <a:r>
              <a:rPr sz="3600" spc="-40" dirty="0">
                <a:solidFill>
                  <a:srgbClr val="2E377E"/>
                </a:solidFill>
                <a:latin typeface="Georgia"/>
                <a:cs typeface="Georgia"/>
              </a:rPr>
              <a:t> </a:t>
            </a:r>
            <a:r>
              <a:rPr sz="3600" spc="55" dirty="0">
                <a:solidFill>
                  <a:srgbClr val="2E377E"/>
                </a:solidFill>
                <a:latin typeface="Georgia"/>
                <a:cs typeface="Georgia"/>
              </a:rPr>
              <a:t>say</a:t>
            </a:r>
            <a:r>
              <a:rPr sz="3600" spc="-35" dirty="0">
                <a:solidFill>
                  <a:srgbClr val="2E377E"/>
                </a:solidFill>
                <a:latin typeface="Georgia"/>
                <a:cs typeface="Georgia"/>
              </a:rPr>
              <a:t> </a:t>
            </a:r>
            <a:r>
              <a:rPr sz="3600" dirty="0">
                <a:solidFill>
                  <a:srgbClr val="2E377E"/>
                </a:solidFill>
                <a:latin typeface="Georgia"/>
                <a:cs typeface="Georgia"/>
              </a:rPr>
              <a:t>if</a:t>
            </a:r>
            <a:r>
              <a:rPr sz="3600" spc="-35" dirty="0">
                <a:solidFill>
                  <a:srgbClr val="2E377E"/>
                </a:solidFill>
                <a:latin typeface="Georgia"/>
                <a:cs typeface="Georgia"/>
              </a:rPr>
              <a:t> </a:t>
            </a:r>
            <a:r>
              <a:rPr sz="3600" spc="80" dirty="0">
                <a:solidFill>
                  <a:srgbClr val="2E377E"/>
                </a:solidFill>
                <a:latin typeface="Georgia"/>
                <a:cs typeface="Georgia"/>
              </a:rPr>
              <a:t>you</a:t>
            </a:r>
            <a:r>
              <a:rPr sz="3600" spc="-35" dirty="0">
                <a:solidFill>
                  <a:srgbClr val="2E377E"/>
                </a:solidFill>
                <a:latin typeface="Georgia"/>
                <a:cs typeface="Georgia"/>
              </a:rPr>
              <a:t> </a:t>
            </a:r>
            <a:r>
              <a:rPr sz="3600" spc="70" dirty="0">
                <a:solidFill>
                  <a:srgbClr val="2E377E"/>
                </a:solidFill>
                <a:latin typeface="Georgia"/>
                <a:cs typeface="Georgia"/>
              </a:rPr>
              <a:t>want</a:t>
            </a:r>
            <a:r>
              <a:rPr sz="3600" spc="-35" dirty="0">
                <a:solidFill>
                  <a:srgbClr val="2E377E"/>
                </a:solidFill>
                <a:latin typeface="Georgia"/>
                <a:cs typeface="Georgia"/>
              </a:rPr>
              <a:t> </a:t>
            </a:r>
            <a:r>
              <a:rPr sz="3600" spc="60" dirty="0">
                <a:solidFill>
                  <a:srgbClr val="2E377E"/>
                </a:solidFill>
                <a:latin typeface="Georgia"/>
                <a:cs typeface="Georgia"/>
              </a:rPr>
              <a:t>to</a:t>
            </a:r>
            <a:r>
              <a:rPr sz="3600" spc="-35" dirty="0">
                <a:solidFill>
                  <a:srgbClr val="2E377E"/>
                </a:solidFill>
                <a:latin typeface="Georgia"/>
                <a:cs typeface="Georgia"/>
              </a:rPr>
              <a:t> </a:t>
            </a:r>
            <a:r>
              <a:rPr sz="3600" dirty="0">
                <a:solidFill>
                  <a:srgbClr val="2E377E"/>
                </a:solidFill>
                <a:latin typeface="Georgia"/>
                <a:cs typeface="Georgia"/>
              </a:rPr>
              <a:t>deploy</a:t>
            </a:r>
            <a:r>
              <a:rPr sz="3600" spc="-35" dirty="0">
                <a:solidFill>
                  <a:srgbClr val="2E377E"/>
                </a:solidFill>
                <a:latin typeface="Georgia"/>
                <a:cs typeface="Georgia"/>
              </a:rPr>
              <a:t> </a:t>
            </a:r>
            <a:r>
              <a:rPr sz="3600" dirty="0">
                <a:solidFill>
                  <a:srgbClr val="2E377E"/>
                </a:solidFill>
                <a:latin typeface="Georgia"/>
                <a:cs typeface="Georgia"/>
              </a:rPr>
              <a:t>an</a:t>
            </a:r>
            <a:r>
              <a:rPr sz="3600" spc="-35" dirty="0">
                <a:solidFill>
                  <a:srgbClr val="2E377E"/>
                </a:solidFill>
                <a:latin typeface="Georgia"/>
                <a:cs typeface="Georgia"/>
              </a:rPr>
              <a:t> </a:t>
            </a:r>
            <a:r>
              <a:rPr sz="3600" dirty="0">
                <a:solidFill>
                  <a:srgbClr val="2E377E"/>
                </a:solidFill>
                <a:latin typeface="Georgia"/>
                <a:cs typeface="Georgia"/>
              </a:rPr>
              <a:t>application</a:t>
            </a:r>
            <a:r>
              <a:rPr sz="3600" spc="-35" dirty="0">
                <a:solidFill>
                  <a:srgbClr val="2E377E"/>
                </a:solidFill>
                <a:latin typeface="Georgia"/>
                <a:cs typeface="Georgia"/>
              </a:rPr>
              <a:t> </a:t>
            </a:r>
            <a:r>
              <a:rPr sz="3600" dirty="0">
                <a:solidFill>
                  <a:srgbClr val="2E377E"/>
                </a:solidFill>
                <a:latin typeface="Georgia"/>
                <a:cs typeface="Georgia"/>
              </a:rPr>
              <a:t>called</a:t>
            </a:r>
            <a:r>
              <a:rPr sz="3600" spc="-35" dirty="0">
                <a:solidFill>
                  <a:srgbClr val="2E377E"/>
                </a:solidFill>
                <a:latin typeface="Georgia"/>
                <a:cs typeface="Georgia"/>
              </a:rPr>
              <a:t> </a:t>
            </a:r>
            <a:r>
              <a:rPr sz="3600" dirty="0">
                <a:solidFill>
                  <a:srgbClr val="2E377E"/>
                </a:solidFill>
                <a:latin typeface="Georgia"/>
                <a:cs typeface="Georgia"/>
              </a:rPr>
              <a:t>paytm.</a:t>
            </a:r>
            <a:r>
              <a:rPr sz="3600" spc="-35" dirty="0">
                <a:solidFill>
                  <a:srgbClr val="2E377E"/>
                </a:solidFill>
                <a:latin typeface="Georgia"/>
                <a:cs typeface="Georgia"/>
              </a:rPr>
              <a:t> </a:t>
            </a:r>
            <a:r>
              <a:rPr sz="3600" dirty="0">
                <a:solidFill>
                  <a:srgbClr val="2E377E"/>
                </a:solidFill>
                <a:latin typeface="Georgia"/>
                <a:cs typeface="Georgia"/>
              </a:rPr>
              <a:t>It</a:t>
            </a:r>
            <a:r>
              <a:rPr sz="3600" spc="-35" dirty="0">
                <a:solidFill>
                  <a:srgbClr val="2E377E"/>
                </a:solidFill>
                <a:latin typeface="Georgia"/>
                <a:cs typeface="Georgia"/>
              </a:rPr>
              <a:t> </a:t>
            </a:r>
            <a:r>
              <a:rPr sz="3600" spc="-10" dirty="0">
                <a:solidFill>
                  <a:srgbClr val="2E377E"/>
                </a:solidFill>
                <a:latin typeface="Georgia"/>
                <a:cs typeface="Georgia"/>
              </a:rPr>
              <a:t>contains </a:t>
            </a:r>
            <a:r>
              <a:rPr sz="3600" dirty="0">
                <a:solidFill>
                  <a:srgbClr val="2E377E"/>
                </a:solidFill>
                <a:latin typeface="Georgia"/>
                <a:cs typeface="Georgia"/>
              </a:rPr>
              <a:t>multiple</a:t>
            </a:r>
            <a:r>
              <a:rPr sz="3600" spc="25" dirty="0">
                <a:solidFill>
                  <a:srgbClr val="2E377E"/>
                </a:solidFill>
                <a:latin typeface="Georgia"/>
                <a:cs typeface="Georgia"/>
              </a:rPr>
              <a:t> </a:t>
            </a:r>
            <a:r>
              <a:rPr sz="3600" dirty="0">
                <a:solidFill>
                  <a:srgbClr val="2E377E"/>
                </a:solidFill>
                <a:latin typeface="Georgia"/>
                <a:cs typeface="Georgia"/>
              </a:rPr>
              <a:t>services.</a:t>
            </a:r>
            <a:r>
              <a:rPr sz="3600" spc="25" dirty="0">
                <a:solidFill>
                  <a:srgbClr val="2E377E"/>
                </a:solidFill>
                <a:latin typeface="Georgia"/>
                <a:cs typeface="Georgia"/>
              </a:rPr>
              <a:t> </a:t>
            </a:r>
            <a:r>
              <a:rPr sz="3600" dirty="0">
                <a:solidFill>
                  <a:srgbClr val="2E377E"/>
                </a:solidFill>
                <a:latin typeface="Georgia"/>
                <a:cs typeface="Georgia"/>
              </a:rPr>
              <a:t>So</a:t>
            </a:r>
            <a:r>
              <a:rPr sz="3600" spc="25" dirty="0">
                <a:solidFill>
                  <a:srgbClr val="2E377E"/>
                </a:solidFill>
                <a:latin typeface="Georgia"/>
                <a:cs typeface="Georgia"/>
              </a:rPr>
              <a:t> </a:t>
            </a:r>
            <a:r>
              <a:rPr sz="3600" spc="130" dirty="0">
                <a:solidFill>
                  <a:srgbClr val="2E377E"/>
                </a:solidFill>
                <a:latin typeface="Georgia"/>
                <a:cs typeface="Georgia"/>
              </a:rPr>
              <a:t>we</a:t>
            </a:r>
            <a:r>
              <a:rPr sz="3600" spc="25" dirty="0">
                <a:solidFill>
                  <a:srgbClr val="2E377E"/>
                </a:solidFill>
                <a:latin typeface="Georgia"/>
                <a:cs typeface="Georgia"/>
              </a:rPr>
              <a:t> </a:t>
            </a:r>
            <a:r>
              <a:rPr sz="3600" dirty="0">
                <a:solidFill>
                  <a:srgbClr val="2E377E"/>
                </a:solidFill>
                <a:latin typeface="Georgia"/>
                <a:cs typeface="Georgia"/>
              </a:rPr>
              <a:t>need</a:t>
            </a:r>
            <a:r>
              <a:rPr sz="3600" spc="30" dirty="0">
                <a:solidFill>
                  <a:srgbClr val="2E377E"/>
                </a:solidFill>
                <a:latin typeface="Georgia"/>
                <a:cs typeface="Georgia"/>
              </a:rPr>
              <a:t> </a:t>
            </a:r>
            <a:r>
              <a:rPr sz="3600" spc="6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deploy</a:t>
            </a:r>
            <a:r>
              <a:rPr sz="3600" spc="25" dirty="0">
                <a:solidFill>
                  <a:srgbClr val="2E377E"/>
                </a:solidFill>
                <a:latin typeface="Georgia"/>
                <a:cs typeface="Georgia"/>
              </a:rPr>
              <a:t> </a:t>
            </a:r>
            <a:r>
              <a:rPr sz="3600" dirty="0">
                <a:solidFill>
                  <a:srgbClr val="2E377E"/>
                </a:solidFill>
                <a:latin typeface="Georgia"/>
                <a:cs typeface="Georgia"/>
              </a:rPr>
              <a:t>each</a:t>
            </a:r>
            <a:r>
              <a:rPr sz="3600" spc="25" dirty="0">
                <a:solidFill>
                  <a:srgbClr val="2E377E"/>
                </a:solidFill>
                <a:latin typeface="Georgia"/>
                <a:cs typeface="Georgia"/>
              </a:rPr>
              <a:t> </a:t>
            </a:r>
            <a:r>
              <a:rPr sz="3600" dirty="0">
                <a:solidFill>
                  <a:srgbClr val="2E377E"/>
                </a:solidFill>
                <a:latin typeface="Georgia"/>
                <a:cs typeface="Georgia"/>
              </a:rPr>
              <a:t>service,</a:t>
            </a:r>
            <a:r>
              <a:rPr sz="3600" spc="30" dirty="0">
                <a:solidFill>
                  <a:srgbClr val="2E377E"/>
                </a:solidFill>
                <a:latin typeface="Georgia"/>
                <a:cs typeface="Georgia"/>
              </a:rPr>
              <a:t> </a:t>
            </a:r>
            <a:r>
              <a:rPr sz="3600" dirty="0">
                <a:solidFill>
                  <a:srgbClr val="2E377E"/>
                </a:solidFill>
                <a:latin typeface="Georgia"/>
                <a:cs typeface="Georgia"/>
              </a:rPr>
              <a:t>for</a:t>
            </a:r>
            <a:r>
              <a:rPr sz="3600" spc="25" dirty="0">
                <a:solidFill>
                  <a:srgbClr val="2E377E"/>
                </a:solidFill>
                <a:latin typeface="Georgia"/>
                <a:cs typeface="Georgia"/>
              </a:rPr>
              <a:t> </a:t>
            </a:r>
            <a:r>
              <a:rPr sz="3600" dirty="0">
                <a:solidFill>
                  <a:srgbClr val="2E377E"/>
                </a:solidFill>
                <a:latin typeface="Georgia"/>
                <a:cs typeface="Georgia"/>
              </a:rPr>
              <a:t>that</a:t>
            </a:r>
            <a:r>
              <a:rPr sz="3600" spc="25" dirty="0">
                <a:solidFill>
                  <a:srgbClr val="2E377E"/>
                </a:solidFill>
                <a:latin typeface="Georgia"/>
                <a:cs typeface="Georgia"/>
              </a:rPr>
              <a:t> </a:t>
            </a:r>
            <a:r>
              <a:rPr sz="3600" spc="130" dirty="0">
                <a:solidFill>
                  <a:srgbClr val="2E377E"/>
                </a:solidFill>
                <a:latin typeface="Georgia"/>
                <a:cs typeface="Georgia"/>
              </a:rPr>
              <a:t>we</a:t>
            </a:r>
            <a:r>
              <a:rPr sz="3600" spc="25" dirty="0">
                <a:solidFill>
                  <a:srgbClr val="2E377E"/>
                </a:solidFill>
                <a:latin typeface="Georgia"/>
                <a:cs typeface="Georgia"/>
              </a:rPr>
              <a:t> </a:t>
            </a:r>
            <a:r>
              <a:rPr sz="3600" dirty="0">
                <a:solidFill>
                  <a:srgbClr val="2E377E"/>
                </a:solidFill>
                <a:latin typeface="Georgia"/>
                <a:cs typeface="Georgia"/>
              </a:rPr>
              <a:t>have</a:t>
            </a:r>
            <a:r>
              <a:rPr sz="3600" spc="25" dirty="0">
                <a:solidFill>
                  <a:srgbClr val="2E377E"/>
                </a:solidFill>
                <a:latin typeface="Georgia"/>
                <a:cs typeface="Georgia"/>
              </a:rPr>
              <a:t> </a:t>
            </a:r>
            <a:r>
              <a:rPr sz="3600" spc="35" dirty="0">
                <a:solidFill>
                  <a:srgbClr val="2E377E"/>
                </a:solidFill>
                <a:latin typeface="Georgia"/>
                <a:cs typeface="Georgia"/>
              </a:rPr>
              <a:t>to </a:t>
            </a:r>
            <a:r>
              <a:rPr sz="3600" spc="80" dirty="0">
                <a:solidFill>
                  <a:srgbClr val="2E377E"/>
                </a:solidFill>
                <a:latin typeface="Georgia"/>
                <a:cs typeface="Georgia"/>
              </a:rPr>
              <a:t>write</a:t>
            </a:r>
            <a:r>
              <a:rPr sz="3600" spc="-10" dirty="0">
                <a:solidFill>
                  <a:srgbClr val="2E377E"/>
                </a:solidFill>
                <a:latin typeface="Georgia"/>
                <a:cs typeface="Georgia"/>
              </a:rPr>
              <a:t> </a:t>
            </a:r>
            <a:r>
              <a:rPr sz="3600" spc="-265" dirty="0">
                <a:solidFill>
                  <a:srgbClr val="2E377E"/>
                </a:solidFill>
                <a:latin typeface="Georgia"/>
                <a:cs typeface="Georgia"/>
              </a:rPr>
              <a:t>2</a:t>
            </a:r>
            <a:r>
              <a:rPr sz="3600" spc="-5" dirty="0">
                <a:solidFill>
                  <a:srgbClr val="2E377E"/>
                </a:solidFill>
                <a:latin typeface="Georgia"/>
                <a:cs typeface="Georgia"/>
              </a:rPr>
              <a:t> </a:t>
            </a:r>
            <a:r>
              <a:rPr sz="3600" dirty="0">
                <a:solidFill>
                  <a:srgbClr val="2E377E"/>
                </a:solidFill>
                <a:latin typeface="Georgia"/>
                <a:cs typeface="Georgia"/>
              </a:rPr>
              <a:t>manifest(deployment</a:t>
            </a:r>
            <a:r>
              <a:rPr sz="3600" spc="-5" dirty="0">
                <a:solidFill>
                  <a:srgbClr val="2E377E"/>
                </a:solidFill>
                <a:latin typeface="Georgia"/>
                <a:cs typeface="Georgia"/>
              </a:rPr>
              <a:t> </a:t>
            </a:r>
            <a:r>
              <a:rPr sz="3600" spc="690" dirty="0">
                <a:solidFill>
                  <a:srgbClr val="2E377E"/>
                </a:solidFill>
                <a:latin typeface="Georgia"/>
                <a:cs typeface="Georgia"/>
              </a:rPr>
              <a:t>&amp;</a:t>
            </a:r>
            <a:r>
              <a:rPr sz="3600" spc="-5" dirty="0">
                <a:solidFill>
                  <a:srgbClr val="2E377E"/>
                </a:solidFill>
                <a:latin typeface="Georgia"/>
                <a:cs typeface="Georgia"/>
              </a:rPr>
              <a:t> </a:t>
            </a:r>
            <a:r>
              <a:rPr sz="3600" dirty="0">
                <a:solidFill>
                  <a:srgbClr val="2E377E"/>
                </a:solidFill>
                <a:latin typeface="Georgia"/>
                <a:cs typeface="Georgia"/>
              </a:rPr>
              <a:t>service)</a:t>
            </a:r>
            <a:r>
              <a:rPr sz="3600" spc="-5" dirty="0">
                <a:solidFill>
                  <a:srgbClr val="2E377E"/>
                </a:solidFill>
                <a:latin typeface="Georgia"/>
                <a:cs typeface="Georgia"/>
              </a:rPr>
              <a:t> </a:t>
            </a:r>
            <a:r>
              <a:rPr sz="3600" dirty="0">
                <a:solidFill>
                  <a:srgbClr val="2E377E"/>
                </a:solidFill>
                <a:latin typeface="Georgia"/>
                <a:cs typeface="Georgia"/>
              </a:rPr>
              <a:t>files</a:t>
            </a:r>
            <a:r>
              <a:rPr sz="3600" spc="-5" dirty="0">
                <a:solidFill>
                  <a:srgbClr val="2E377E"/>
                </a:solidFill>
                <a:latin typeface="Georgia"/>
                <a:cs typeface="Georgia"/>
              </a:rPr>
              <a:t> </a:t>
            </a:r>
            <a:r>
              <a:rPr sz="3600" dirty="0">
                <a:solidFill>
                  <a:srgbClr val="2E377E"/>
                </a:solidFill>
                <a:latin typeface="Georgia"/>
                <a:cs typeface="Georgia"/>
              </a:rPr>
              <a:t>for</a:t>
            </a:r>
            <a:r>
              <a:rPr sz="3600" spc="-5" dirty="0">
                <a:solidFill>
                  <a:srgbClr val="2E377E"/>
                </a:solidFill>
                <a:latin typeface="Georgia"/>
                <a:cs typeface="Georgia"/>
              </a:rPr>
              <a:t> </a:t>
            </a:r>
            <a:r>
              <a:rPr sz="3600" dirty="0">
                <a:solidFill>
                  <a:srgbClr val="2E377E"/>
                </a:solidFill>
                <a:latin typeface="Georgia"/>
                <a:cs typeface="Georgia"/>
              </a:rPr>
              <a:t>each</a:t>
            </a:r>
            <a:r>
              <a:rPr sz="3600" spc="-5" dirty="0">
                <a:solidFill>
                  <a:srgbClr val="2E377E"/>
                </a:solidFill>
                <a:latin typeface="Georgia"/>
                <a:cs typeface="Georgia"/>
              </a:rPr>
              <a:t> </a:t>
            </a:r>
            <a:r>
              <a:rPr sz="3600" spc="-10" dirty="0">
                <a:solidFill>
                  <a:srgbClr val="2E377E"/>
                </a:solidFill>
                <a:latin typeface="Georgia"/>
                <a:cs typeface="Georgia"/>
              </a:rPr>
              <a:t>service.</a:t>
            </a:r>
            <a:endParaRPr sz="3600">
              <a:latin typeface="Georgia"/>
              <a:cs typeface="Georgia"/>
            </a:endParaRPr>
          </a:p>
          <a:p>
            <a:pPr marL="12700" marR="5080">
              <a:lnSpc>
                <a:spcPct val="116300"/>
              </a:lnSpc>
            </a:pPr>
            <a:r>
              <a:rPr sz="3600" dirty="0">
                <a:solidFill>
                  <a:srgbClr val="2E377E"/>
                </a:solidFill>
                <a:latin typeface="Georgia"/>
                <a:cs typeface="Georgia"/>
              </a:rPr>
              <a:t>At</a:t>
            </a:r>
            <a:r>
              <a:rPr sz="3600" spc="10" dirty="0">
                <a:solidFill>
                  <a:srgbClr val="2E377E"/>
                </a:solidFill>
                <a:latin typeface="Georgia"/>
                <a:cs typeface="Georgia"/>
              </a:rPr>
              <a:t> </a:t>
            </a:r>
            <a:r>
              <a:rPr sz="3600" spc="50" dirty="0">
                <a:solidFill>
                  <a:srgbClr val="2E377E"/>
                </a:solidFill>
                <a:latin typeface="Georgia"/>
                <a:cs typeface="Georgia"/>
              </a:rPr>
              <a:t>the</a:t>
            </a:r>
            <a:r>
              <a:rPr sz="3600" spc="10" dirty="0">
                <a:solidFill>
                  <a:srgbClr val="2E377E"/>
                </a:solidFill>
                <a:latin typeface="Georgia"/>
                <a:cs typeface="Georgia"/>
              </a:rPr>
              <a:t> </a:t>
            </a:r>
            <a:r>
              <a:rPr sz="3600" dirty="0">
                <a:solidFill>
                  <a:srgbClr val="2E377E"/>
                </a:solidFill>
                <a:latin typeface="Georgia"/>
                <a:cs typeface="Georgia"/>
              </a:rPr>
              <a:t>end</a:t>
            </a:r>
            <a:r>
              <a:rPr sz="3600" spc="10" dirty="0">
                <a:solidFill>
                  <a:srgbClr val="2E377E"/>
                </a:solidFill>
                <a:latin typeface="Georgia"/>
                <a:cs typeface="Georgia"/>
              </a:rPr>
              <a:t> </a:t>
            </a:r>
            <a:r>
              <a:rPr sz="3600" spc="130" dirty="0">
                <a:solidFill>
                  <a:srgbClr val="2E377E"/>
                </a:solidFill>
                <a:latin typeface="Georgia"/>
                <a:cs typeface="Georgia"/>
              </a:rPr>
              <a:t>we</a:t>
            </a:r>
            <a:r>
              <a:rPr sz="3600" spc="10" dirty="0">
                <a:solidFill>
                  <a:srgbClr val="2E377E"/>
                </a:solidFill>
                <a:latin typeface="Georgia"/>
                <a:cs typeface="Georgia"/>
              </a:rPr>
              <a:t> </a:t>
            </a:r>
            <a:r>
              <a:rPr sz="3600" dirty="0">
                <a:solidFill>
                  <a:srgbClr val="2E377E"/>
                </a:solidFill>
                <a:latin typeface="Georgia"/>
                <a:cs typeface="Georgia"/>
              </a:rPr>
              <a:t>can</a:t>
            </a:r>
            <a:r>
              <a:rPr sz="3600" spc="15" dirty="0">
                <a:solidFill>
                  <a:srgbClr val="2E377E"/>
                </a:solidFill>
                <a:latin typeface="Georgia"/>
                <a:cs typeface="Georgia"/>
              </a:rPr>
              <a:t> </a:t>
            </a:r>
            <a:r>
              <a:rPr sz="3600" dirty="0">
                <a:solidFill>
                  <a:srgbClr val="2E377E"/>
                </a:solidFill>
                <a:latin typeface="Georgia"/>
                <a:cs typeface="Georgia"/>
              </a:rPr>
              <a:t>see</a:t>
            </a:r>
            <a:r>
              <a:rPr sz="3600" spc="10" dirty="0">
                <a:solidFill>
                  <a:srgbClr val="2E377E"/>
                </a:solidFill>
                <a:latin typeface="Georgia"/>
                <a:cs typeface="Georgia"/>
              </a:rPr>
              <a:t> </a:t>
            </a:r>
            <a:r>
              <a:rPr sz="3600" dirty="0">
                <a:solidFill>
                  <a:srgbClr val="2E377E"/>
                </a:solidFill>
                <a:latin typeface="Georgia"/>
                <a:cs typeface="Georgia"/>
              </a:rPr>
              <a:t>multiple</a:t>
            </a:r>
            <a:r>
              <a:rPr sz="3600" spc="10" dirty="0">
                <a:solidFill>
                  <a:srgbClr val="2E377E"/>
                </a:solidFill>
                <a:latin typeface="Georgia"/>
                <a:cs typeface="Georgia"/>
              </a:rPr>
              <a:t> </a:t>
            </a:r>
            <a:r>
              <a:rPr sz="3600" spc="-90" dirty="0">
                <a:solidFill>
                  <a:srgbClr val="2E377E"/>
                </a:solidFill>
                <a:latin typeface="Georgia"/>
                <a:cs typeface="Georgia"/>
              </a:rPr>
              <a:t>YAML</a:t>
            </a:r>
            <a:r>
              <a:rPr sz="3600" spc="10" dirty="0">
                <a:solidFill>
                  <a:srgbClr val="2E377E"/>
                </a:solidFill>
                <a:latin typeface="Georgia"/>
                <a:cs typeface="Georgia"/>
              </a:rPr>
              <a:t> </a:t>
            </a:r>
            <a:r>
              <a:rPr sz="3600" dirty="0">
                <a:solidFill>
                  <a:srgbClr val="2E377E"/>
                </a:solidFill>
                <a:latin typeface="Georgia"/>
                <a:cs typeface="Georgia"/>
              </a:rPr>
              <a:t>files</a:t>
            </a:r>
            <a:r>
              <a:rPr sz="3600" spc="10" dirty="0">
                <a:solidFill>
                  <a:srgbClr val="2E377E"/>
                </a:solidFill>
                <a:latin typeface="Georgia"/>
                <a:cs typeface="Georgia"/>
              </a:rPr>
              <a:t> </a:t>
            </a:r>
            <a:r>
              <a:rPr sz="3600" dirty="0">
                <a:solidFill>
                  <a:srgbClr val="2E377E"/>
                </a:solidFill>
                <a:latin typeface="Georgia"/>
                <a:cs typeface="Georgia"/>
              </a:rPr>
              <a:t>which</a:t>
            </a:r>
            <a:r>
              <a:rPr sz="3600" spc="15" dirty="0">
                <a:solidFill>
                  <a:srgbClr val="2E377E"/>
                </a:solidFill>
                <a:latin typeface="Georgia"/>
                <a:cs typeface="Georgia"/>
              </a:rPr>
              <a:t> </a:t>
            </a:r>
            <a:r>
              <a:rPr sz="3600" dirty="0">
                <a:solidFill>
                  <a:srgbClr val="2E377E"/>
                </a:solidFill>
                <a:latin typeface="Georgia"/>
                <a:cs typeface="Georgia"/>
              </a:rPr>
              <a:t>makes</a:t>
            </a:r>
            <a:r>
              <a:rPr sz="3600" spc="10" dirty="0">
                <a:solidFill>
                  <a:srgbClr val="2E377E"/>
                </a:solidFill>
                <a:latin typeface="Georgia"/>
                <a:cs typeface="Georgia"/>
              </a:rPr>
              <a:t> </a:t>
            </a:r>
            <a:r>
              <a:rPr sz="3600" dirty="0">
                <a:solidFill>
                  <a:srgbClr val="2E377E"/>
                </a:solidFill>
                <a:latin typeface="Georgia"/>
                <a:cs typeface="Georgia"/>
              </a:rPr>
              <a:t>more</a:t>
            </a:r>
            <a:r>
              <a:rPr sz="3600" spc="10" dirty="0">
                <a:solidFill>
                  <a:srgbClr val="2E377E"/>
                </a:solidFill>
                <a:latin typeface="Georgia"/>
                <a:cs typeface="Georgia"/>
              </a:rPr>
              <a:t> </a:t>
            </a:r>
            <a:r>
              <a:rPr sz="3600" dirty="0">
                <a:solidFill>
                  <a:srgbClr val="2E377E"/>
                </a:solidFill>
                <a:latin typeface="Georgia"/>
                <a:cs typeface="Georgia"/>
              </a:rPr>
              <a:t>confusion</a:t>
            </a:r>
            <a:r>
              <a:rPr sz="3600" spc="10" dirty="0">
                <a:solidFill>
                  <a:srgbClr val="2E377E"/>
                </a:solidFill>
                <a:latin typeface="Georgia"/>
                <a:cs typeface="Georgia"/>
              </a:rPr>
              <a:t> </a:t>
            </a:r>
            <a:r>
              <a:rPr sz="3600" spc="-25" dirty="0">
                <a:solidFill>
                  <a:srgbClr val="2E377E"/>
                </a:solidFill>
                <a:latin typeface="Georgia"/>
                <a:cs typeface="Georgia"/>
              </a:rPr>
              <a:t>and </a:t>
            </a:r>
            <a:r>
              <a:rPr sz="3600" spc="-10" dirty="0">
                <a:solidFill>
                  <a:srgbClr val="2E377E"/>
                </a:solidFill>
                <a:latin typeface="Georgia"/>
                <a:cs typeface="Georgia"/>
              </a:rPr>
              <a:t>messy.</a:t>
            </a:r>
            <a:endParaRPr sz="3600">
              <a:latin typeface="Georgia"/>
              <a:cs typeface="Georgia"/>
            </a:endParaRPr>
          </a:p>
          <a:p>
            <a:pPr marL="12700" marR="1860550">
              <a:lnSpc>
                <a:spcPct val="116300"/>
              </a:lnSpc>
            </a:pPr>
            <a:r>
              <a:rPr sz="3600" dirty="0">
                <a:solidFill>
                  <a:srgbClr val="2E377E"/>
                </a:solidFill>
                <a:latin typeface="Georgia"/>
                <a:cs typeface="Georgia"/>
              </a:rPr>
              <a:t>Instead</a:t>
            </a:r>
            <a:r>
              <a:rPr sz="3600" spc="-10" dirty="0">
                <a:solidFill>
                  <a:srgbClr val="2E377E"/>
                </a:solidFill>
                <a:latin typeface="Georgia"/>
                <a:cs typeface="Georgia"/>
              </a:rPr>
              <a:t> </a:t>
            </a:r>
            <a:r>
              <a:rPr sz="3600" dirty="0">
                <a:solidFill>
                  <a:srgbClr val="2E377E"/>
                </a:solidFill>
                <a:latin typeface="Georgia"/>
                <a:cs typeface="Georgia"/>
              </a:rPr>
              <a:t>of</a:t>
            </a:r>
            <a:r>
              <a:rPr sz="3600" spc="-10" dirty="0">
                <a:solidFill>
                  <a:srgbClr val="2E377E"/>
                </a:solidFill>
                <a:latin typeface="Georgia"/>
                <a:cs typeface="Georgia"/>
              </a:rPr>
              <a:t> </a:t>
            </a:r>
            <a:r>
              <a:rPr sz="3600" dirty="0">
                <a:solidFill>
                  <a:srgbClr val="2E377E"/>
                </a:solidFill>
                <a:latin typeface="Georgia"/>
                <a:cs typeface="Georgia"/>
              </a:rPr>
              <a:t>maintaining</a:t>
            </a:r>
            <a:r>
              <a:rPr sz="3600" spc="-10" dirty="0">
                <a:solidFill>
                  <a:srgbClr val="2E377E"/>
                </a:solidFill>
                <a:latin typeface="Georgia"/>
                <a:cs typeface="Georgia"/>
              </a:rPr>
              <a:t> </a:t>
            </a:r>
            <a:r>
              <a:rPr sz="3600" dirty="0">
                <a:solidFill>
                  <a:srgbClr val="2E377E"/>
                </a:solidFill>
                <a:latin typeface="Georgia"/>
                <a:cs typeface="Georgia"/>
              </a:rPr>
              <a:t>those</a:t>
            </a:r>
            <a:r>
              <a:rPr sz="3600" spc="-10" dirty="0">
                <a:solidFill>
                  <a:srgbClr val="2E377E"/>
                </a:solidFill>
                <a:latin typeface="Georgia"/>
                <a:cs typeface="Georgia"/>
              </a:rPr>
              <a:t> </a:t>
            </a:r>
            <a:r>
              <a:rPr sz="3600" dirty="0">
                <a:solidFill>
                  <a:srgbClr val="2E377E"/>
                </a:solidFill>
                <a:latin typeface="Georgia"/>
                <a:cs typeface="Georgia"/>
              </a:rPr>
              <a:t>multiple</a:t>
            </a:r>
            <a:r>
              <a:rPr sz="3600" spc="-10" dirty="0">
                <a:solidFill>
                  <a:srgbClr val="2E377E"/>
                </a:solidFill>
                <a:latin typeface="Georgia"/>
                <a:cs typeface="Georgia"/>
              </a:rPr>
              <a:t> </a:t>
            </a:r>
            <a:r>
              <a:rPr sz="3600" spc="-90" dirty="0">
                <a:solidFill>
                  <a:srgbClr val="2E377E"/>
                </a:solidFill>
                <a:latin typeface="Georgia"/>
                <a:cs typeface="Georgia"/>
              </a:rPr>
              <a:t>YAML</a:t>
            </a:r>
            <a:r>
              <a:rPr sz="3600" spc="-10" dirty="0">
                <a:solidFill>
                  <a:srgbClr val="2E377E"/>
                </a:solidFill>
                <a:latin typeface="Georgia"/>
                <a:cs typeface="Georgia"/>
              </a:rPr>
              <a:t> </a:t>
            </a:r>
            <a:r>
              <a:rPr sz="3600" dirty="0">
                <a:solidFill>
                  <a:srgbClr val="2E377E"/>
                </a:solidFill>
                <a:latin typeface="Georgia"/>
                <a:cs typeface="Georgia"/>
              </a:rPr>
              <a:t>files</a:t>
            </a:r>
            <a:r>
              <a:rPr sz="3600" spc="-5" dirty="0">
                <a:solidFill>
                  <a:srgbClr val="2E377E"/>
                </a:solidFill>
                <a:latin typeface="Georgia"/>
                <a:cs typeface="Georgia"/>
              </a:rPr>
              <a:t> </a:t>
            </a:r>
            <a:r>
              <a:rPr sz="3600" spc="130" dirty="0">
                <a:solidFill>
                  <a:srgbClr val="2E377E"/>
                </a:solidFill>
                <a:latin typeface="Georgia"/>
                <a:cs typeface="Georgia"/>
              </a:rPr>
              <a:t>we</a:t>
            </a:r>
            <a:r>
              <a:rPr sz="3600" spc="-10" dirty="0">
                <a:solidFill>
                  <a:srgbClr val="2E377E"/>
                </a:solidFill>
                <a:latin typeface="Georgia"/>
                <a:cs typeface="Georgia"/>
              </a:rPr>
              <a:t> </a:t>
            </a:r>
            <a:r>
              <a:rPr sz="3600" dirty="0">
                <a:solidFill>
                  <a:srgbClr val="2E377E"/>
                </a:solidFill>
                <a:latin typeface="Georgia"/>
                <a:cs typeface="Georgia"/>
              </a:rPr>
              <a:t>can</a:t>
            </a:r>
            <a:r>
              <a:rPr sz="3600" spc="-10" dirty="0">
                <a:solidFill>
                  <a:srgbClr val="2E377E"/>
                </a:solidFill>
                <a:latin typeface="Georgia"/>
                <a:cs typeface="Georgia"/>
              </a:rPr>
              <a:t> </a:t>
            </a:r>
            <a:r>
              <a:rPr sz="3600" dirty="0">
                <a:solidFill>
                  <a:srgbClr val="2E377E"/>
                </a:solidFill>
                <a:latin typeface="Georgia"/>
                <a:cs typeface="Georgia"/>
              </a:rPr>
              <a:t>do</a:t>
            </a:r>
            <a:r>
              <a:rPr sz="3600" spc="-10" dirty="0">
                <a:solidFill>
                  <a:srgbClr val="2E377E"/>
                </a:solidFill>
                <a:latin typeface="Georgia"/>
                <a:cs typeface="Georgia"/>
              </a:rPr>
              <a:t> </a:t>
            </a:r>
            <a:r>
              <a:rPr sz="3600" dirty="0">
                <a:solidFill>
                  <a:srgbClr val="2E377E"/>
                </a:solidFill>
                <a:latin typeface="Georgia"/>
                <a:cs typeface="Georgia"/>
              </a:rPr>
              <a:t>this</a:t>
            </a:r>
            <a:r>
              <a:rPr sz="3600" spc="-10" dirty="0">
                <a:solidFill>
                  <a:srgbClr val="2E377E"/>
                </a:solidFill>
                <a:latin typeface="Georgia"/>
                <a:cs typeface="Georgia"/>
              </a:rPr>
              <a:t> </a:t>
            </a:r>
            <a:r>
              <a:rPr sz="3600" spc="65" dirty="0">
                <a:solidFill>
                  <a:srgbClr val="2E377E"/>
                </a:solidFill>
                <a:latin typeface="Georgia"/>
                <a:cs typeface="Georgia"/>
              </a:rPr>
              <a:t>by </a:t>
            </a:r>
            <a:r>
              <a:rPr sz="3600" dirty="0">
                <a:solidFill>
                  <a:srgbClr val="2E377E"/>
                </a:solidFill>
                <a:latin typeface="Georgia"/>
                <a:cs typeface="Georgia"/>
              </a:rPr>
              <a:t>implementing</a:t>
            </a:r>
            <a:r>
              <a:rPr sz="3600" spc="65" dirty="0">
                <a:solidFill>
                  <a:srgbClr val="2E377E"/>
                </a:solidFill>
                <a:latin typeface="Georgia"/>
                <a:cs typeface="Georgia"/>
              </a:rPr>
              <a:t> </a:t>
            </a:r>
            <a:r>
              <a:rPr sz="3600" spc="-190" dirty="0">
                <a:solidFill>
                  <a:srgbClr val="2E377E"/>
                </a:solidFill>
                <a:latin typeface="Georgia"/>
                <a:cs typeface="Georgia"/>
              </a:rPr>
              <a:t>HELM.</a:t>
            </a:r>
            <a:r>
              <a:rPr sz="3600" spc="70" dirty="0">
                <a:solidFill>
                  <a:srgbClr val="2E377E"/>
                </a:solidFill>
                <a:latin typeface="Georgia"/>
                <a:cs typeface="Georgia"/>
              </a:rPr>
              <a:t> </a:t>
            </a:r>
            <a:r>
              <a:rPr sz="3600" dirty="0">
                <a:solidFill>
                  <a:srgbClr val="2E377E"/>
                </a:solidFill>
                <a:latin typeface="Georgia"/>
                <a:cs typeface="Georgia"/>
              </a:rPr>
              <a:t>It</a:t>
            </a:r>
            <a:r>
              <a:rPr sz="3600" spc="65" dirty="0">
                <a:solidFill>
                  <a:srgbClr val="2E377E"/>
                </a:solidFill>
                <a:latin typeface="Georgia"/>
                <a:cs typeface="Georgia"/>
              </a:rPr>
              <a:t> </a:t>
            </a:r>
            <a:r>
              <a:rPr sz="3600" dirty="0">
                <a:solidFill>
                  <a:srgbClr val="2E377E"/>
                </a:solidFill>
                <a:latin typeface="Georgia"/>
                <a:cs typeface="Georgia"/>
              </a:rPr>
              <a:t>will</a:t>
            </a:r>
            <a:r>
              <a:rPr sz="3600" spc="70" dirty="0">
                <a:solidFill>
                  <a:srgbClr val="2E377E"/>
                </a:solidFill>
                <a:latin typeface="Georgia"/>
                <a:cs typeface="Georgia"/>
              </a:rPr>
              <a:t> </a:t>
            </a:r>
            <a:r>
              <a:rPr sz="3600" dirty="0">
                <a:solidFill>
                  <a:srgbClr val="2E377E"/>
                </a:solidFill>
                <a:latin typeface="Georgia"/>
                <a:cs typeface="Georgia"/>
              </a:rPr>
              <a:t>deploy</a:t>
            </a:r>
            <a:r>
              <a:rPr sz="3600" spc="65" dirty="0">
                <a:solidFill>
                  <a:srgbClr val="2E377E"/>
                </a:solidFill>
                <a:latin typeface="Georgia"/>
                <a:cs typeface="Georgia"/>
              </a:rPr>
              <a:t> </a:t>
            </a:r>
            <a:r>
              <a:rPr sz="3600" dirty="0">
                <a:solidFill>
                  <a:srgbClr val="2E377E"/>
                </a:solidFill>
                <a:latin typeface="Georgia"/>
                <a:cs typeface="Georgia"/>
              </a:rPr>
              <a:t>our</a:t>
            </a:r>
            <a:r>
              <a:rPr sz="3600" spc="70" dirty="0">
                <a:solidFill>
                  <a:srgbClr val="2E377E"/>
                </a:solidFill>
                <a:latin typeface="Georgia"/>
                <a:cs typeface="Georgia"/>
              </a:rPr>
              <a:t> </a:t>
            </a:r>
            <a:r>
              <a:rPr sz="3600" dirty="0">
                <a:solidFill>
                  <a:srgbClr val="2E377E"/>
                </a:solidFill>
                <a:latin typeface="Georgia"/>
                <a:cs typeface="Georgia"/>
              </a:rPr>
              <a:t>entire</a:t>
            </a:r>
            <a:r>
              <a:rPr sz="3600" spc="70" dirty="0">
                <a:solidFill>
                  <a:srgbClr val="2E377E"/>
                </a:solidFill>
                <a:latin typeface="Georgia"/>
                <a:cs typeface="Georgia"/>
              </a:rPr>
              <a:t> </a:t>
            </a:r>
            <a:r>
              <a:rPr sz="3600" spc="-10" dirty="0">
                <a:solidFill>
                  <a:srgbClr val="2E377E"/>
                </a:solidFill>
                <a:latin typeface="Georgia"/>
                <a:cs typeface="Georgia"/>
              </a:rPr>
              <a:t>application.</a:t>
            </a:r>
            <a:endParaRPr sz="3600">
              <a:latin typeface="Georgia"/>
              <a:cs typeface="Georgia"/>
            </a:endParaRPr>
          </a:p>
          <a:p>
            <a:pPr marL="12700" marR="1287780">
              <a:lnSpc>
                <a:spcPct val="116300"/>
              </a:lnSpc>
            </a:pPr>
            <a:r>
              <a:rPr sz="3600" spc="-190" dirty="0">
                <a:solidFill>
                  <a:srgbClr val="2E377E"/>
                </a:solidFill>
                <a:latin typeface="Georgia"/>
                <a:cs typeface="Georgia"/>
              </a:rPr>
              <a:t>HELM</a:t>
            </a:r>
            <a:r>
              <a:rPr sz="3600" dirty="0">
                <a:solidFill>
                  <a:srgbClr val="2E377E"/>
                </a:solidFill>
                <a:latin typeface="Georgia"/>
                <a:cs typeface="Georgia"/>
              </a:rPr>
              <a:t> is a package manager for </a:t>
            </a:r>
            <a:r>
              <a:rPr sz="3600" spc="45" dirty="0">
                <a:solidFill>
                  <a:srgbClr val="2E377E"/>
                </a:solidFill>
                <a:latin typeface="Georgia"/>
                <a:cs typeface="Georgia"/>
              </a:rPr>
              <a:t>kubernetes</a:t>
            </a:r>
            <a:r>
              <a:rPr sz="3600" dirty="0">
                <a:solidFill>
                  <a:srgbClr val="2E377E"/>
                </a:solidFill>
                <a:latin typeface="Georgia"/>
                <a:cs typeface="Georgia"/>
              </a:rPr>
              <a:t> which makes </a:t>
            </a:r>
            <a:r>
              <a:rPr sz="3600" spc="-10" dirty="0">
                <a:solidFill>
                  <a:srgbClr val="2E377E"/>
                </a:solidFill>
                <a:latin typeface="Georgia"/>
                <a:cs typeface="Georgia"/>
              </a:rPr>
              <a:t>deployment simple.</a:t>
            </a:r>
            <a:endParaRPr sz="3600">
              <a:latin typeface="Georgia"/>
              <a:cs typeface="Georgia"/>
            </a:endParaRPr>
          </a:p>
        </p:txBody>
      </p:sp>
      <p:pic>
        <p:nvPicPr>
          <p:cNvPr id="4" name="object 4"/>
          <p:cNvPicPr/>
          <p:nvPr/>
        </p:nvPicPr>
        <p:blipFill>
          <a:blip r:embed="rId3" cstate="print"/>
          <a:stretch>
            <a:fillRect/>
          </a:stretch>
        </p:blipFill>
        <p:spPr>
          <a:xfrm>
            <a:off x="1476374" y="3013083"/>
            <a:ext cx="133350" cy="133349"/>
          </a:xfrm>
          <a:prstGeom prst="rect">
            <a:avLst/>
          </a:prstGeom>
        </p:spPr>
      </p:pic>
      <p:pic>
        <p:nvPicPr>
          <p:cNvPr id="5" name="object 5"/>
          <p:cNvPicPr/>
          <p:nvPr/>
        </p:nvPicPr>
        <p:blipFill>
          <a:blip r:embed="rId3" cstate="print"/>
          <a:stretch>
            <a:fillRect/>
          </a:stretch>
        </p:blipFill>
        <p:spPr>
          <a:xfrm>
            <a:off x="1476374" y="4289433"/>
            <a:ext cx="133350" cy="133349"/>
          </a:xfrm>
          <a:prstGeom prst="rect">
            <a:avLst/>
          </a:prstGeom>
        </p:spPr>
      </p:pic>
      <p:pic>
        <p:nvPicPr>
          <p:cNvPr id="6" name="object 6"/>
          <p:cNvPicPr/>
          <p:nvPr/>
        </p:nvPicPr>
        <p:blipFill>
          <a:blip r:embed="rId3" cstate="print"/>
          <a:stretch>
            <a:fillRect/>
          </a:stretch>
        </p:blipFill>
        <p:spPr>
          <a:xfrm>
            <a:off x="1476374" y="5565783"/>
            <a:ext cx="133350" cy="133349"/>
          </a:xfrm>
          <a:prstGeom prst="rect">
            <a:avLst/>
          </a:prstGeom>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22549" rIns="0" bIns="0" rtlCol="0">
            <a:spAutoFit/>
          </a:bodyPr>
          <a:lstStyle/>
          <a:p>
            <a:pPr marL="371475">
              <a:lnSpc>
                <a:spcPct val="100000"/>
              </a:lnSpc>
              <a:spcBef>
                <a:spcPts val="100"/>
              </a:spcBef>
            </a:pPr>
            <a:r>
              <a:rPr spc="65" dirty="0"/>
              <a:t>Key</a:t>
            </a:r>
            <a:r>
              <a:rPr spc="-45" dirty="0"/>
              <a:t> </a:t>
            </a:r>
            <a:r>
              <a:rPr spc="165" dirty="0"/>
              <a:t>Concepts</a:t>
            </a:r>
            <a:r>
              <a:rPr spc="-45" dirty="0"/>
              <a:t> </a:t>
            </a:r>
            <a:r>
              <a:rPr spc="145" dirty="0"/>
              <a:t>of</a:t>
            </a:r>
            <a:r>
              <a:rPr spc="-45" dirty="0"/>
              <a:t> </a:t>
            </a:r>
            <a:r>
              <a:rPr spc="-340" dirty="0"/>
              <a:t>HEML:</a:t>
            </a:r>
          </a:p>
        </p:txBody>
      </p:sp>
      <p:pic>
        <p:nvPicPr>
          <p:cNvPr id="3" name="object 3"/>
          <p:cNvPicPr/>
          <p:nvPr/>
        </p:nvPicPr>
        <p:blipFill>
          <a:blip r:embed="rId2" cstate="print"/>
          <a:stretch>
            <a:fillRect/>
          </a:stretch>
        </p:blipFill>
        <p:spPr>
          <a:xfrm>
            <a:off x="1651032" y="2414367"/>
            <a:ext cx="133350" cy="133349"/>
          </a:xfrm>
          <a:prstGeom prst="rect">
            <a:avLst/>
          </a:prstGeom>
        </p:spPr>
      </p:pic>
      <p:sp>
        <p:nvSpPr>
          <p:cNvPr id="4" name="object 4"/>
          <p:cNvSpPr txBox="1"/>
          <p:nvPr/>
        </p:nvSpPr>
        <p:spPr>
          <a:xfrm>
            <a:off x="1967837" y="2054957"/>
            <a:ext cx="15093315" cy="6407150"/>
          </a:xfrm>
          <a:prstGeom prst="rect">
            <a:avLst/>
          </a:prstGeom>
        </p:spPr>
        <p:txBody>
          <a:bodyPr vert="horz" wrap="square" lIns="0" tIns="12700" rIns="0" bIns="0" rtlCol="0">
            <a:spAutoFit/>
          </a:bodyPr>
          <a:lstStyle/>
          <a:p>
            <a:pPr marL="12700" marR="276225">
              <a:lnSpc>
                <a:spcPct val="116300"/>
              </a:lnSpc>
              <a:spcBef>
                <a:spcPts val="100"/>
              </a:spcBef>
            </a:pPr>
            <a:r>
              <a:rPr sz="3600" spc="-10" dirty="0">
                <a:solidFill>
                  <a:srgbClr val="2E377E"/>
                </a:solidFill>
                <a:latin typeface="Georgia"/>
                <a:cs typeface="Georgia"/>
              </a:rPr>
              <a:t>Charts:</a:t>
            </a:r>
            <a:r>
              <a:rPr sz="3600" spc="-35" dirty="0">
                <a:solidFill>
                  <a:srgbClr val="2E377E"/>
                </a:solidFill>
                <a:latin typeface="Georgia"/>
                <a:cs typeface="Georgia"/>
              </a:rPr>
              <a:t> </a:t>
            </a:r>
            <a:r>
              <a:rPr sz="3600" dirty="0">
                <a:solidFill>
                  <a:srgbClr val="2E377E"/>
                </a:solidFill>
                <a:latin typeface="Georgia"/>
                <a:cs typeface="Georgia"/>
              </a:rPr>
              <a:t>In</a:t>
            </a:r>
            <a:r>
              <a:rPr sz="3600" spc="-35" dirty="0">
                <a:solidFill>
                  <a:srgbClr val="2E377E"/>
                </a:solidFill>
                <a:latin typeface="Georgia"/>
                <a:cs typeface="Georgia"/>
              </a:rPr>
              <a:t> </a:t>
            </a:r>
            <a:r>
              <a:rPr sz="3600" spc="-30" dirty="0">
                <a:solidFill>
                  <a:srgbClr val="2E377E"/>
                </a:solidFill>
                <a:latin typeface="Georgia"/>
                <a:cs typeface="Georgia"/>
              </a:rPr>
              <a:t>Helm, </a:t>
            </a:r>
            <a:r>
              <a:rPr sz="3600" dirty="0">
                <a:solidFill>
                  <a:srgbClr val="2E377E"/>
                </a:solidFill>
                <a:latin typeface="Georgia"/>
                <a:cs typeface="Georgia"/>
              </a:rPr>
              <a:t>a</a:t>
            </a:r>
            <a:r>
              <a:rPr sz="3600" spc="-35" dirty="0">
                <a:solidFill>
                  <a:srgbClr val="2E377E"/>
                </a:solidFill>
                <a:latin typeface="Georgia"/>
                <a:cs typeface="Georgia"/>
              </a:rPr>
              <a:t> </a:t>
            </a:r>
            <a:r>
              <a:rPr sz="3600" dirty="0">
                <a:solidFill>
                  <a:srgbClr val="2E377E"/>
                </a:solidFill>
                <a:latin typeface="Georgia"/>
                <a:cs typeface="Georgia"/>
              </a:rPr>
              <a:t>chart</a:t>
            </a:r>
            <a:r>
              <a:rPr sz="3600" spc="-30" dirty="0">
                <a:solidFill>
                  <a:srgbClr val="2E377E"/>
                </a:solidFill>
                <a:latin typeface="Georgia"/>
                <a:cs typeface="Georgia"/>
              </a:rPr>
              <a:t> </a:t>
            </a:r>
            <a:r>
              <a:rPr sz="3600" dirty="0">
                <a:solidFill>
                  <a:srgbClr val="2E377E"/>
                </a:solidFill>
                <a:latin typeface="Georgia"/>
                <a:cs typeface="Georgia"/>
              </a:rPr>
              <a:t>is</a:t>
            </a:r>
            <a:r>
              <a:rPr sz="3600" spc="-35" dirty="0">
                <a:solidFill>
                  <a:srgbClr val="2E377E"/>
                </a:solidFill>
                <a:latin typeface="Georgia"/>
                <a:cs typeface="Georgia"/>
              </a:rPr>
              <a:t> </a:t>
            </a:r>
            <a:r>
              <a:rPr sz="3600" dirty="0">
                <a:solidFill>
                  <a:srgbClr val="2E377E"/>
                </a:solidFill>
                <a:latin typeface="Georgia"/>
                <a:cs typeface="Georgia"/>
              </a:rPr>
              <a:t>a</a:t>
            </a:r>
            <a:r>
              <a:rPr sz="3600" spc="-35" dirty="0">
                <a:solidFill>
                  <a:srgbClr val="2E377E"/>
                </a:solidFill>
                <a:latin typeface="Georgia"/>
                <a:cs typeface="Georgia"/>
              </a:rPr>
              <a:t> </a:t>
            </a:r>
            <a:r>
              <a:rPr sz="3600" dirty="0">
                <a:solidFill>
                  <a:srgbClr val="2E377E"/>
                </a:solidFill>
                <a:latin typeface="Georgia"/>
                <a:cs typeface="Georgia"/>
              </a:rPr>
              <a:t>collection</a:t>
            </a:r>
            <a:r>
              <a:rPr sz="3600" spc="-30" dirty="0">
                <a:solidFill>
                  <a:srgbClr val="2E377E"/>
                </a:solidFill>
                <a:latin typeface="Georgia"/>
                <a:cs typeface="Georgia"/>
              </a:rPr>
              <a:t> </a:t>
            </a:r>
            <a:r>
              <a:rPr sz="3600" dirty="0">
                <a:solidFill>
                  <a:srgbClr val="2E377E"/>
                </a:solidFill>
                <a:latin typeface="Georgia"/>
                <a:cs typeface="Georgia"/>
              </a:rPr>
              <a:t>of</a:t>
            </a:r>
            <a:r>
              <a:rPr sz="3600" spc="-35" dirty="0">
                <a:solidFill>
                  <a:srgbClr val="2E377E"/>
                </a:solidFill>
                <a:latin typeface="Georgia"/>
                <a:cs typeface="Georgia"/>
              </a:rPr>
              <a:t> </a:t>
            </a:r>
            <a:r>
              <a:rPr sz="3600" dirty="0">
                <a:solidFill>
                  <a:srgbClr val="2E377E"/>
                </a:solidFill>
                <a:latin typeface="Georgia"/>
                <a:cs typeface="Georgia"/>
              </a:rPr>
              <a:t>pre-configured</a:t>
            </a:r>
            <a:r>
              <a:rPr sz="3600" spc="-30" dirty="0">
                <a:solidFill>
                  <a:srgbClr val="2E377E"/>
                </a:solidFill>
                <a:latin typeface="Georgia"/>
                <a:cs typeface="Georgia"/>
              </a:rPr>
              <a:t> </a:t>
            </a:r>
            <a:r>
              <a:rPr sz="3600" spc="-10" dirty="0">
                <a:solidFill>
                  <a:srgbClr val="2E377E"/>
                </a:solidFill>
                <a:latin typeface="Georgia"/>
                <a:cs typeface="Georgia"/>
              </a:rPr>
              <a:t>Kubernetes </a:t>
            </a:r>
            <a:r>
              <a:rPr sz="3600" dirty="0">
                <a:solidFill>
                  <a:srgbClr val="2E377E"/>
                </a:solidFill>
                <a:latin typeface="Georgia"/>
                <a:cs typeface="Georgia"/>
              </a:rPr>
              <a:t>resources</a:t>
            </a:r>
            <a:r>
              <a:rPr sz="3600" spc="40" dirty="0">
                <a:solidFill>
                  <a:srgbClr val="2E377E"/>
                </a:solidFill>
                <a:latin typeface="Georgia"/>
                <a:cs typeface="Georgia"/>
              </a:rPr>
              <a:t> </a:t>
            </a:r>
            <a:r>
              <a:rPr sz="3600" dirty="0">
                <a:solidFill>
                  <a:srgbClr val="2E377E"/>
                </a:solidFill>
                <a:latin typeface="Georgia"/>
                <a:cs typeface="Georgia"/>
              </a:rPr>
              <a:t>that</a:t>
            </a:r>
            <a:r>
              <a:rPr sz="3600" spc="40" dirty="0">
                <a:solidFill>
                  <a:srgbClr val="2E377E"/>
                </a:solidFill>
                <a:latin typeface="Georgia"/>
                <a:cs typeface="Georgia"/>
              </a:rPr>
              <a:t> </a:t>
            </a:r>
            <a:r>
              <a:rPr sz="3600" dirty="0">
                <a:solidFill>
                  <a:srgbClr val="2E377E"/>
                </a:solidFill>
                <a:latin typeface="Georgia"/>
                <a:cs typeface="Georgia"/>
              </a:rPr>
              <a:t>describe</a:t>
            </a:r>
            <a:r>
              <a:rPr sz="3600" spc="40" dirty="0">
                <a:solidFill>
                  <a:srgbClr val="2E377E"/>
                </a:solidFill>
                <a:latin typeface="Georgia"/>
                <a:cs typeface="Georgia"/>
              </a:rPr>
              <a:t> </a:t>
            </a:r>
            <a:r>
              <a:rPr sz="3600" dirty="0">
                <a:solidFill>
                  <a:srgbClr val="2E377E"/>
                </a:solidFill>
                <a:latin typeface="Georgia"/>
                <a:cs typeface="Georgia"/>
              </a:rPr>
              <a:t>a</a:t>
            </a:r>
            <a:r>
              <a:rPr sz="3600" spc="40" dirty="0">
                <a:solidFill>
                  <a:srgbClr val="2E377E"/>
                </a:solidFill>
                <a:latin typeface="Georgia"/>
                <a:cs typeface="Georgia"/>
              </a:rPr>
              <a:t> </a:t>
            </a:r>
            <a:r>
              <a:rPr sz="3600" dirty="0">
                <a:solidFill>
                  <a:srgbClr val="2E377E"/>
                </a:solidFill>
                <a:latin typeface="Georgia"/>
                <a:cs typeface="Georgia"/>
              </a:rPr>
              <a:t>related</a:t>
            </a:r>
            <a:r>
              <a:rPr sz="3600" spc="40" dirty="0">
                <a:solidFill>
                  <a:srgbClr val="2E377E"/>
                </a:solidFill>
                <a:latin typeface="Georgia"/>
                <a:cs typeface="Georgia"/>
              </a:rPr>
              <a:t> </a:t>
            </a:r>
            <a:r>
              <a:rPr sz="3600" spc="60" dirty="0">
                <a:solidFill>
                  <a:srgbClr val="2E377E"/>
                </a:solidFill>
                <a:latin typeface="Georgia"/>
                <a:cs typeface="Georgia"/>
              </a:rPr>
              <a:t>set</a:t>
            </a:r>
            <a:r>
              <a:rPr sz="3600" spc="40" dirty="0">
                <a:solidFill>
                  <a:srgbClr val="2E377E"/>
                </a:solidFill>
                <a:latin typeface="Georgia"/>
                <a:cs typeface="Georgia"/>
              </a:rPr>
              <a:t> </a:t>
            </a:r>
            <a:r>
              <a:rPr sz="3600" dirty="0">
                <a:solidFill>
                  <a:srgbClr val="2E377E"/>
                </a:solidFill>
                <a:latin typeface="Georgia"/>
                <a:cs typeface="Georgia"/>
              </a:rPr>
              <a:t>of</a:t>
            </a:r>
            <a:r>
              <a:rPr sz="3600" spc="40" dirty="0">
                <a:solidFill>
                  <a:srgbClr val="2E377E"/>
                </a:solidFill>
                <a:latin typeface="Georgia"/>
                <a:cs typeface="Georgia"/>
              </a:rPr>
              <a:t> </a:t>
            </a:r>
            <a:r>
              <a:rPr sz="3600" dirty="0">
                <a:solidFill>
                  <a:srgbClr val="2E377E"/>
                </a:solidFill>
                <a:latin typeface="Georgia"/>
                <a:cs typeface="Georgia"/>
              </a:rPr>
              <a:t>services.</a:t>
            </a:r>
            <a:r>
              <a:rPr sz="3600" spc="40" dirty="0">
                <a:solidFill>
                  <a:srgbClr val="2E377E"/>
                </a:solidFill>
                <a:latin typeface="Georgia"/>
                <a:cs typeface="Georgia"/>
              </a:rPr>
              <a:t> </a:t>
            </a:r>
            <a:r>
              <a:rPr sz="3600" dirty="0">
                <a:solidFill>
                  <a:srgbClr val="2E377E"/>
                </a:solidFill>
                <a:latin typeface="Georgia"/>
                <a:cs typeface="Georgia"/>
              </a:rPr>
              <a:t>Charts</a:t>
            </a:r>
            <a:r>
              <a:rPr sz="3600" spc="40" dirty="0">
                <a:solidFill>
                  <a:srgbClr val="2E377E"/>
                </a:solidFill>
                <a:latin typeface="Georgia"/>
                <a:cs typeface="Georgia"/>
              </a:rPr>
              <a:t> </a:t>
            </a:r>
            <a:r>
              <a:rPr sz="3600" dirty="0">
                <a:solidFill>
                  <a:srgbClr val="2E377E"/>
                </a:solidFill>
                <a:latin typeface="Georgia"/>
                <a:cs typeface="Georgia"/>
              </a:rPr>
              <a:t>can</a:t>
            </a:r>
            <a:r>
              <a:rPr sz="3600" spc="40" dirty="0">
                <a:solidFill>
                  <a:srgbClr val="2E377E"/>
                </a:solidFill>
                <a:latin typeface="Georgia"/>
                <a:cs typeface="Georgia"/>
              </a:rPr>
              <a:t> </a:t>
            </a:r>
            <a:r>
              <a:rPr sz="3600" spc="-10" dirty="0">
                <a:solidFill>
                  <a:srgbClr val="2E377E"/>
                </a:solidFill>
                <a:latin typeface="Georgia"/>
                <a:cs typeface="Georgia"/>
              </a:rPr>
              <a:t>include </a:t>
            </a:r>
            <a:r>
              <a:rPr sz="3600" dirty="0">
                <a:solidFill>
                  <a:srgbClr val="2E377E"/>
                </a:solidFill>
                <a:latin typeface="Georgia"/>
                <a:cs typeface="Georgia"/>
              </a:rPr>
              <a:t>deployment</a:t>
            </a:r>
            <a:r>
              <a:rPr sz="3600" spc="35" dirty="0">
                <a:solidFill>
                  <a:srgbClr val="2E377E"/>
                </a:solidFill>
                <a:latin typeface="Georgia"/>
                <a:cs typeface="Georgia"/>
              </a:rPr>
              <a:t> </a:t>
            </a:r>
            <a:r>
              <a:rPr sz="3600" dirty="0">
                <a:solidFill>
                  <a:srgbClr val="2E377E"/>
                </a:solidFill>
                <a:latin typeface="Georgia"/>
                <a:cs typeface="Georgia"/>
              </a:rPr>
              <a:t>configurations,</a:t>
            </a:r>
            <a:r>
              <a:rPr sz="3600" spc="40" dirty="0">
                <a:solidFill>
                  <a:srgbClr val="2E377E"/>
                </a:solidFill>
                <a:latin typeface="Georgia"/>
                <a:cs typeface="Georgia"/>
              </a:rPr>
              <a:t> </a:t>
            </a:r>
            <a:r>
              <a:rPr sz="3600" spc="50" dirty="0">
                <a:solidFill>
                  <a:srgbClr val="2E377E"/>
                </a:solidFill>
                <a:latin typeface="Georgia"/>
                <a:cs typeface="Georgia"/>
              </a:rPr>
              <a:t>service</a:t>
            </a:r>
            <a:r>
              <a:rPr sz="3600" spc="35" dirty="0">
                <a:solidFill>
                  <a:srgbClr val="2E377E"/>
                </a:solidFill>
                <a:latin typeface="Georgia"/>
                <a:cs typeface="Georgia"/>
              </a:rPr>
              <a:t> </a:t>
            </a:r>
            <a:r>
              <a:rPr sz="3600" dirty="0">
                <a:solidFill>
                  <a:srgbClr val="2E377E"/>
                </a:solidFill>
                <a:latin typeface="Georgia"/>
                <a:cs typeface="Georgia"/>
              </a:rPr>
              <a:t>definitions,</a:t>
            </a:r>
            <a:r>
              <a:rPr sz="3600" spc="40" dirty="0">
                <a:solidFill>
                  <a:srgbClr val="2E377E"/>
                </a:solidFill>
                <a:latin typeface="Georgia"/>
                <a:cs typeface="Georgia"/>
              </a:rPr>
              <a:t> </a:t>
            </a:r>
            <a:r>
              <a:rPr sz="3600" dirty="0">
                <a:solidFill>
                  <a:srgbClr val="2E377E"/>
                </a:solidFill>
                <a:latin typeface="Georgia"/>
                <a:cs typeface="Georgia"/>
              </a:rPr>
              <a:t>ingress</a:t>
            </a:r>
            <a:r>
              <a:rPr sz="3600" spc="35" dirty="0">
                <a:solidFill>
                  <a:srgbClr val="2E377E"/>
                </a:solidFill>
                <a:latin typeface="Georgia"/>
                <a:cs typeface="Georgia"/>
              </a:rPr>
              <a:t> </a:t>
            </a:r>
            <a:r>
              <a:rPr sz="3600" dirty="0">
                <a:solidFill>
                  <a:srgbClr val="2E377E"/>
                </a:solidFill>
                <a:latin typeface="Georgia"/>
                <a:cs typeface="Georgia"/>
              </a:rPr>
              <a:t>rules,</a:t>
            </a:r>
            <a:r>
              <a:rPr sz="3600" spc="40" dirty="0">
                <a:solidFill>
                  <a:srgbClr val="2E377E"/>
                </a:solidFill>
                <a:latin typeface="Georgia"/>
                <a:cs typeface="Georgia"/>
              </a:rPr>
              <a:t> </a:t>
            </a:r>
            <a:r>
              <a:rPr sz="3600" dirty="0">
                <a:solidFill>
                  <a:srgbClr val="2E377E"/>
                </a:solidFill>
                <a:latin typeface="Georgia"/>
                <a:cs typeface="Georgia"/>
              </a:rPr>
              <a:t>and</a:t>
            </a:r>
            <a:r>
              <a:rPr sz="3600" spc="35" dirty="0">
                <a:solidFill>
                  <a:srgbClr val="2E377E"/>
                </a:solidFill>
                <a:latin typeface="Georgia"/>
                <a:cs typeface="Georgia"/>
              </a:rPr>
              <a:t> </a:t>
            </a:r>
            <a:r>
              <a:rPr sz="3600" spc="-20" dirty="0">
                <a:solidFill>
                  <a:srgbClr val="2E377E"/>
                </a:solidFill>
                <a:latin typeface="Georgia"/>
                <a:cs typeface="Georgia"/>
              </a:rPr>
              <a:t>more. </a:t>
            </a:r>
            <a:r>
              <a:rPr sz="3600" dirty="0">
                <a:solidFill>
                  <a:srgbClr val="2E377E"/>
                </a:solidFill>
                <a:latin typeface="Georgia"/>
                <a:cs typeface="Georgia"/>
              </a:rPr>
              <a:t>Think</a:t>
            </a:r>
            <a:r>
              <a:rPr sz="3600" spc="-5" dirty="0">
                <a:solidFill>
                  <a:srgbClr val="2E377E"/>
                </a:solidFill>
                <a:latin typeface="Georgia"/>
                <a:cs typeface="Georgia"/>
              </a:rPr>
              <a:t> </a:t>
            </a:r>
            <a:r>
              <a:rPr sz="3600" dirty="0">
                <a:solidFill>
                  <a:srgbClr val="2E377E"/>
                </a:solidFill>
                <a:latin typeface="Georgia"/>
                <a:cs typeface="Georgia"/>
              </a:rPr>
              <a:t>of a chart as a package that encapsulates </a:t>
            </a:r>
            <a:r>
              <a:rPr sz="3600" spc="60" dirty="0">
                <a:solidFill>
                  <a:srgbClr val="2E377E"/>
                </a:solidFill>
                <a:latin typeface="Georgia"/>
                <a:cs typeface="Georgia"/>
              </a:rPr>
              <a:t>everything</a:t>
            </a:r>
            <a:r>
              <a:rPr sz="3600" dirty="0">
                <a:solidFill>
                  <a:srgbClr val="2E377E"/>
                </a:solidFill>
                <a:latin typeface="Georgia"/>
                <a:cs typeface="Georgia"/>
              </a:rPr>
              <a:t> needed </a:t>
            </a:r>
            <a:r>
              <a:rPr sz="3600" spc="60" dirty="0">
                <a:solidFill>
                  <a:srgbClr val="2E377E"/>
                </a:solidFill>
                <a:latin typeface="Georgia"/>
                <a:cs typeface="Georgia"/>
              </a:rPr>
              <a:t>to</a:t>
            </a:r>
            <a:r>
              <a:rPr sz="3600" dirty="0">
                <a:solidFill>
                  <a:srgbClr val="2E377E"/>
                </a:solidFill>
                <a:latin typeface="Georgia"/>
                <a:cs typeface="Georgia"/>
              </a:rPr>
              <a:t> </a:t>
            </a:r>
            <a:r>
              <a:rPr sz="3600" spc="-25" dirty="0">
                <a:solidFill>
                  <a:srgbClr val="2E377E"/>
                </a:solidFill>
                <a:latin typeface="Georgia"/>
                <a:cs typeface="Georgia"/>
              </a:rPr>
              <a:t>run </a:t>
            </a:r>
            <a:r>
              <a:rPr sz="3600" dirty="0">
                <a:solidFill>
                  <a:srgbClr val="2E377E"/>
                </a:solidFill>
                <a:latin typeface="Georgia"/>
                <a:cs typeface="Georgia"/>
              </a:rPr>
              <a:t>a</a:t>
            </a:r>
            <a:r>
              <a:rPr sz="3600" spc="10" dirty="0">
                <a:solidFill>
                  <a:srgbClr val="2E377E"/>
                </a:solidFill>
                <a:latin typeface="Georgia"/>
                <a:cs typeface="Georgia"/>
              </a:rPr>
              <a:t> </a:t>
            </a:r>
            <a:r>
              <a:rPr sz="3600" dirty="0">
                <a:solidFill>
                  <a:srgbClr val="2E377E"/>
                </a:solidFill>
                <a:latin typeface="Georgia"/>
                <a:cs typeface="Georgia"/>
              </a:rPr>
              <a:t>specific</a:t>
            </a:r>
            <a:r>
              <a:rPr sz="3600" spc="15" dirty="0">
                <a:solidFill>
                  <a:srgbClr val="2E377E"/>
                </a:solidFill>
                <a:latin typeface="Georgia"/>
                <a:cs typeface="Georgia"/>
              </a:rPr>
              <a:t> </a:t>
            </a:r>
            <a:r>
              <a:rPr sz="3600" spc="-10" dirty="0">
                <a:solidFill>
                  <a:srgbClr val="2E377E"/>
                </a:solidFill>
                <a:latin typeface="Georgia"/>
                <a:cs typeface="Georgia"/>
              </a:rPr>
              <a:t>application.</a:t>
            </a:r>
            <a:endParaRPr sz="3600">
              <a:latin typeface="Georgia"/>
              <a:cs typeface="Georgia"/>
            </a:endParaRPr>
          </a:p>
          <a:p>
            <a:pPr marL="12700" marR="5080" algn="just">
              <a:lnSpc>
                <a:spcPct val="116300"/>
              </a:lnSpc>
            </a:pPr>
            <a:r>
              <a:rPr sz="3600" dirty="0">
                <a:solidFill>
                  <a:srgbClr val="2E377E"/>
                </a:solidFill>
                <a:latin typeface="Georgia"/>
                <a:cs typeface="Georgia"/>
              </a:rPr>
              <a:t>Templates:</a:t>
            </a:r>
            <a:r>
              <a:rPr sz="3600" spc="10" dirty="0">
                <a:solidFill>
                  <a:srgbClr val="2E377E"/>
                </a:solidFill>
                <a:latin typeface="Georgia"/>
                <a:cs typeface="Georgia"/>
              </a:rPr>
              <a:t> </a:t>
            </a:r>
            <a:r>
              <a:rPr sz="3600" dirty="0">
                <a:solidFill>
                  <a:srgbClr val="2E377E"/>
                </a:solidFill>
                <a:latin typeface="Georgia"/>
                <a:cs typeface="Georgia"/>
              </a:rPr>
              <a:t>Helm</a:t>
            </a:r>
            <a:r>
              <a:rPr sz="3600" spc="10" dirty="0">
                <a:solidFill>
                  <a:srgbClr val="2E377E"/>
                </a:solidFill>
                <a:latin typeface="Georgia"/>
                <a:cs typeface="Georgia"/>
              </a:rPr>
              <a:t> </a:t>
            </a:r>
            <a:r>
              <a:rPr sz="3600" dirty="0">
                <a:solidFill>
                  <a:srgbClr val="2E377E"/>
                </a:solidFill>
                <a:latin typeface="Georgia"/>
                <a:cs typeface="Georgia"/>
              </a:rPr>
              <a:t>uses</a:t>
            </a:r>
            <a:r>
              <a:rPr sz="3600" spc="10" dirty="0">
                <a:solidFill>
                  <a:srgbClr val="2E377E"/>
                </a:solidFill>
                <a:latin typeface="Georgia"/>
                <a:cs typeface="Georgia"/>
              </a:rPr>
              <a:t> </a:t>
            </a:r>
            <a:r>
              <a:rPr sz="3600" spc="-10" dirty="0">
                <a:solidFill>
                  <a:srgbClr val="2E377E"/>
                </a:solidFill>
                <a:latin typeface="Georgia"/>
                <a:cs typeface="Georgia"/>
              </a:rPr>
              <a:t>Go</a:t>
            </a:r>
            <a:r>
              <a:rPr sz="3600" spc="10" dirty="0">
                <a:solidFill>
                  <a:srgbClr val="2E377E"/>
                </a:solidFill>
                <a:latin typeface="Georgia"/>
                <a:cs typeface="Georgia"/>
              </a:rPr>
              <a:t> </a:t>
            </a:r>
            <a:r>
              <a:rPr sz="3600" dirty="0">
                <a:solidFill>
                  <a:srgbClr val="2E377E"/>
                </a:solidFill>
                <a:latin typeface="Georgia"/>
                <a:cs typeface="Georgia"/>
              </a:rPr>
              <a:t>templating</a:t>
            </a:r>
            <a:r>
              <a:rPr sz="3600" spc="10" dirty="0">
                <a:solidFill>
                  <a:srgbClr val="2E377E"/>
                </a:solidFill>
                <a:latin typeface="Georgia"/>
                <a:cs typeface="Georgia"/>
              </a:rPr>
              <a:t> </a:t>
            </a:r>
            <a:r>
              <a:rPr sz="3600" spc="60" dirty="0">
                <a:solidFill>
                  <a:srgbClr val="2E377E"/>
                </a:solidFill>
                <a:latin typeface="Georgia"/>
                <a:cs typeface="Georgia"/>
              </a:rPr>
              <a:t>to</a:t>
            </a:r>
            <a:r>
              <a:rPr sz="3600" spc="10" dirty="0">
                <a:solidFill>
                  <a:srgbClr val="2E377E"/>
                </a:solidFill>
                <a:latin typeface="Georgia"/>
                <a:cs typeface="Georgia"/>
              </a:rPr>
              <a:t> </a:t>
            </a:r>
            <a:r>
              <a:rPr sz="3600" dirty="0">
                <a:solidFill>
                  <a:srgbClr val="2E377E"/>
                </a:solidFill>
                <a:latin typeface="Georgia"/>
                <a:cs typeface="Georgia"/>
              </a:rPr>
              <a:t>dynamically</a:t>
            </a:r>
            <a:r>
              <a:rPr sz="3600" spc="10" dirty="0">
                <a:solidFill>
                  <a:srgbClr val="2E377E"/>
                </a:solidFill>
                <a:latin typeface="Georgia"/>
                <a:cs typeface="Georgia"/>
              </a:rPr>
              <a:t> </a:t>
            </a:r>
            <a:r>
              <a:rPr sz="3600" dirty="0">
                <a:solidFill>
                  <a:srgbClr val="2E377E"/>
                </a:solidFill>
                <a:latin typeface="Georgia"/>
                <a:cs typeface="Georgia"/>
              </a:rPr>
              <a:t>generate</a:t>
            </a:r>
            <a:r>
              <a:rPr sz="3600" spc="10" dirty="0">
                <a:solidFill>
                  <a:srgbClr val="2E377E"/>
                </a:solidFill>
                <a:latin typeface="Georgia"/>
                <a:cs typeface="Georgia"/>
              </a:rPr>
              <a:t> </a:t>
            </a:r>
            <a:r>
              <a:rPr sz="3600" spc="-10" dirty="0">
                <a:solidFill>
                  <a:srgbClr val="2E377E"/>
                </a:solidFill>
                <a:latin typeface="Georgia"/>
                <a:cs typeface="Georgia"/>
              </a:rPr>
              <a:t>Kubernetes </a:t>
            </a:r>
            <a:r>
              <a:rPr sz="3600" dirty="0">
                <a:solidFill>
                  <a:srgbClr val="2E377E"/>
                </a:solidFill>
                <a:latin typeface="Georgia"/>
                <a:cs typeface="Georgia"/>
              </a:rPr>
              <a:t>manifest</a:t>
            </a:r>
            <a:r>
              <a:rPr sz="3600" spc="35" dirty="0">
                <a:solidFill>
                  <a:srgbClr val="2E377E"/>
                </a:solidFill>
                <a:latin typeface="Georgia"/>
                <a:cs typeface="Georgia"/>
              </a:rPr>
              <a:t> </a:t>
            </a:r>
            <a:r>
              <a:rPr sz="3600" dirty="0">
                <a:solidFill>
                  <a:srgbClr val="2E377E"/>
                </a:solidFill>
                <a:latin typeface="Georgia"/>
                <a:cs typeface="Georgia"/>
              </a:rPr>
              <a:t>files</a:t>
            </a:r>
            <a:r>
              <a:rPr sz="3600" spc="35" dirty="0">
                <a:solidFill>
                  <a:srgbClr val="2E377E"/>
                </a:solidFill>
                <a:latin typeface="Georgia"/>
                <a:cs typeface="Georgia"/>
              </a:rPr>
              <a:t> </a:t>
            </a:r>
            <a:r>
              <a:rPr sz="3600" dirty="0">
                <a:solidFill>
                  <a:srgbClr val="2E377E"/>
                </a:solidFill>
                <a:latin typeface="Georgia"/>
                <a:cs typeface="Georgia"/>
              </a:rPr>
              <a:t>from</a:t>
            </a:r>
            <a:r>
              <a:rPr sz="3600" spc="35" dirty="0">
                <a:solidFill>
                  <a:srgbClr val="2E377E"/>
                </a:solidFill>
                <a:latin typeface="Georgia"/>
                <a:cs typeface="Georgia"/>
              </a:rPr>
              <a:t> </a:t>
            </a:r>
            <a:r>
              <a:rPr sz="3600" dirty="0">
                <a:solidFill>
                  <a:srgbClr val="2E377E"/>
                </a:solidFill>
                <a:latin typeface="Georgia"/>
                <a:cs typeface="Georgia"/>
              </a:rPr>
              <a:t>chart</a:t>
            </a:r>
            <a:r>
              <a:rPr sz="3600" spc="35" dirty="0">
                <a:solidFill>
                  <a:srgbClr val="2E377E"/>
                </a:solidFill>
                <a:latin typeface="Georgia"/>
                <a:cs typeface="Georgia"/>
              </a:rPr>
              <a:t> </a:t>
            </a:r>
            <a:r>
              <a:rPr sz="3600" dirty="0">
                <a:solidFill>
                  <a:srgbClr val="2E377E"/>
                </a:solidFill>
                <a:latin typeface="Georgia"/>
                <a:cs typeface="Georgia"/>
              </a:rPr>
              <a:t>templates.</a:t>
            </a:r>
            <a:r>
              <a:rPr sz="3600" spc="35" dirty="0">
                <a:solidFill>
                  <a:srgbClr val="2E377E"/>
                </a:solidFill>
                <a:latin typeface="Georgia"/>
                <a:cs typeface="Georgia"/>
              </a:rPr>
              <a:t> </a:t>
            </a:r>
            <a:r>
              <a:rPr sz="3600" dirty="0">
                <a:solidFill>
                  <a:srgbClr val="2E377E"/>
                </a:solidFill>
                <a:latin typeface="Georgia"/>
                <a:cs typeface="Georgia"/>
              </a:rPr>
              <a:t>This</a:t>
            </a:r>
            <a:r>
              <a:rPr sz="3600" spc="35" dirty="0">
                <a:solidFill>
                  <a:srgbClr val="2E377E"/>
                </a:solidFill>
                <a:latin typeface="Georgia"/>
                <a:cs typeface="Georgia"/>
              </a:rPr>
              <a:t> </a:t>
            </a:r>
            <a:r>
              <a:rPr sz="3600" dirty="0">
                <a:solidFill>
                  <a:srgbClr val="2E377E"/>
                </a:solidFill>
                <a:latin typeface="Georgia"/>
                <a:cs typeface="Georgia"/>
              </a:rPr>
              <a:t>means</a:t>
            </a:r>
            <a:r>
              <a:rPr sz="3600" spc="35" dirty="0">
                <a:solidFill>
                  <a:srgbClr val="2E377E"/>
                </a:solidFill>
                <a:latin typeface="Georgia"/>
                <a:cs typeface="Georgia"/>
              </a:rPr>
              <a:t> </a:t>
            </a:r>
            <a:r>
              <a:rPr sz="3600" spc="80" dirty="0">
                <a:solidFill>
                  <a:srgbClr val="2E377E"/>
                </a:solidFill>
                <a:latin typeface="Georgia"/>
                <a:cs typeface="Georgia"/>
              </a:rPr>
              <a:t>you</a:t>
            </a:r>
            <a:r>
              <a:rPr sz="3600" spc="35" dirty="0">
                <a:solidFill>
                  <a:srgbClr val="2E377E"/>
                </a:solidFill>
                <a:latin typeface="Georgia"/>
                <a:cs typeface="Georgia"/>
              </a:rPr>
              <a:t> </a:t>
            </a:r>
            <a:r>
              <a:rPr sz="3600" dirty="0">
                <a:solidFill>
                  <a:srgbClr val="2E377E"/>
                </a:solidFill>
                <a:latin typeface="Georgia"/>
                <a:cs typeface="Georgia"/>
              </a:rPr>
              <a:t>can</a:t>
            </a:r>
            <a:r>
              <a:rPr sz="3600" spc="35" dirty="0">
                <a:solidFill>
                  <a:srgbClr val="2E377E"/>
                </a:solidFill>
                <a:latin typeface="Georgia"/>
                <a:cs typeface="Georgia"/>
              </a:rPr>
              <a:t> </a:t>
            </a:r>
            <a:r>
              <a:rPr sz="3600" dirty="0">
                <a:solidFill>
                  <a:srgbClr val="2E377E"/>
                </a:solidFill>
                <a:latin typeface="Georgia"/>
                <a:cs typeface="Georgia"/>
              </a:rPr>
              <a:t>parameterize</a:t>
            </a:r>
            <a:r>
              <a:rPr sz="3600" spc="35" dirty="0">
                <a:solidFill>
                  <a:srgbClr val="2E377E"/>
                </a:solidFill>
                <a:latin typeface="Georgia"/>
                <a:cs typeface="Georgia"/>
              </a:rPr>
              <a:t> </a:t>
            </a:r>
            <a:r>
              <a:rPr sz="3600" spc="-25" dirty="0">
                <a:solidFill>
                  <a:srgbClr val="2E377E"/>
                </a:solidFill>
                <a:latin typeface="Georgia"/>
                <a:cs typeface="Georgia"/>
              </a:rPr>
              <a:t>and </a:t>
            </a:r>
            <a:r>
              <a:rPr sz="3600" spc="50" dirty="0">
                <a:solidFill>
                  <a:srgbClr val="2E377E"/>
                </a:solidFill>
                <a:latin typeface="Georgia"/>
                <a:cs typeface="Georgia"/>
              </a:rPr>
              <a:t>customize </a:t>
            </a:r>
            <a:r>
              <a:rPr sz="3600" spc="65" dirty="0">
                <a:solidFill>
                  <a:srgbClr val="2E377E"/>
                </a:solidFill>
                <a:latin typeface="Georgia"/>
                <a:cs typeface="Georgia"/>
              </a:rPr>
              <a:t>your</a:t>
            </a:r>
            <a:r>
              <a:rPr sz="3600" spc="50" dirty="0">
                <a:solidFill>
                  <a:srgbClr val="2E377E"/>
                </a:solidFill>
                <a:latin typeface="Georgia"/>
                <a:cs typeface="Georgia"/>
              </a:rPr>
              <a:t> </a:t>
            </a:r>
            <a:r>
              <a:rPr sz="3600" dirty="0">
                <a:solidFill>
                  <a:srgbClr val="2E377E"/>
                </a:solidFill>
                <a:latin typeface="Georgia"/>
                <a:cs typeface="Georgia"/>
              </a:rPr>
              <a:t>resources</a:t>
            </a:r>
            <a:r>
              <a:rPr sz="3600" spc="50" dirty="0">
                <a:solidFill>
                  <a:srgbClr val="2E377E"/>
                </a:solidFill>
                <a:latin typeface="Georgia"/>
                <a:cs typeface="Georgia"/>
              </a:rPr>
              <a:t> </a:t>
            </a:r>
            <a:r>
              <a:rPr sz="3600" dirty="0">
                <a:solidFill>
                  <a:srgbClr val="2E377E"/>
                </a:solidFill>
                <a:latin typeface="Georgia"/>
                <a:cs typeface="Georgia"/>
              </a:rPr>
              <a:t>based</a:t>
            </a:r>
            <a:r>
              <a:rPr sz="3600" spc="50" dirty="0">
                <a:solidFill>
                  <a:srgbClr val="2E377E"/>
                </a:solidFill>
                <a:latin typeface="Georgia"/>
                <a:cs typeface="Georgia"/>
              </a:rPr>
              <a:t> </a:t>
            </a:r>
            <a:r>
              <a:rPr sz="3600" dirty="0">
                <a:solidFill>
                  <a:srgbClr val="2E377E"/>
                </a:solidFill>
                <a:latin typeface="Georgia"/>
                <a:cs typeface="Georgia"/>
              </a:rPr>
              <a:t>on</a:t>
            </a:r>
            <a:r>
              <a:rPr sz="3600" spc="55" dirty="0">
                <a:solidFill>
                  <a:srgbClr val="2E377E"/>
                </a:solidFill>
                <a:latin typeface="Georgia"/>
                <a:cs typeface="Georgia"/>
              </a:rPr>
              <a:t> </a:t>
            </a:r>
            <a:r>
              <a:rPr sz="3600" dirty="0">
                <a:solidFill>
                  <a:srgbClr val="2E377E"/>
                </a:solidFill>
                <a:latin typeface="Georgia"/>
                <a:cs typeface="Georgia"/>
              </a:rPr>
              <a:t>user-defined</a:t>
            </a:r>
            <a:r>
              <a:rPr sz="3600" spc="50" dirty="0">
                <a:solidFill>
                  <a:srgbClr val="2E377E"/>
                </a:solidFill>
                <a:latin typeface="Georgia"/>
                <a:cs typeface="Georgia"/>
              </a:rPr>
              <a:t> </a:t>
            </a:r>
            <a:r>
              <a:rPr sz="3600" dirty="0">
                <a:solidFill>
                  <a:srgbClr val="2E377E"/>
                </a:solidFill>
                <a:latin typeface="Georgia"/>
                <a:cs typeface="Georgia"/>
              </a:rPr>
              <a:t>values</a:t>
            </a:r>
            <a:r>
              <a:rPr sz="3600" spc="50" dirty="0">
                <a:solidFill>
                  <a:srgbClr val="2E377E"/>
                </a:solidFill>
                <a:latin typeface="Georgia"/>
                <a:cs typeface="Georgia"/>
              </a:rPr>
              <a:t> </a:t>
            </a:r>
            <a:r>
              <a:rPr sz="3600" dirty="0">
                <a:solidFill>
                  <a:srgbClr val="2E377E"/>
                </a:solidFill>
                <a:latin typeface="Georgia"/>
                <a:cs typeface="Georgia"/>
              </a:rPr>
              <a:t>or</a:t>
            </a:r>
            <a:r>
              <a:rPr sz="3600" spc="50" dirty="0">
                <a:solidFill>
                  <a:srgbClr val="2E377E"/>
                </a:solidFill>
                <a:latin typeface="Georgia"/>
                <a:cs typeface="Georgia"/>
              </a:rPr>
              <a:t> </a:t>
            </a:r>
            <a:r>
              <a:rPr sz="3600" dirty="0">
                <a:solidFill>
                  <a:srgbClr val="2E377E"/>
                </a:solidFill>
                <a:latin typeface="Georgia"/>
                <a:cs typeface="Georgia"/>
              </a:rPr>
              <a:t>other</a:t>
            </a:r>
            <a:r>
              <a:rPr sz="3600" spc="55" dirty="0">
                <a:solidFill>
                  <a:srgbClr val="2E377E"/>
                </a:solidFill>
                <a:latin typeface="Georgia"/>
                <a:cs typeface="Georgia"/>
              </a:rPr>
              <a:t> </a:t>
            </a:r>
            <a:r>
              <a:rPr sz="3600" spc="-10" dirty="0">
                <a:solidFill>
                  <a:srgbClr val="2E377E"/>
                </a:solidFill>
                <a:latin typeface="Georgia"/>
                <a:cs typeface="Georgia"/>
              </a:rPr>
              <a:t>inputs.</a:t>
            </a:r>
            <a:endParaRPr sz="3600">
              <a:latin typeface="Georgia"/>
              <a:cs typeface="Georgia"/>
            </a:endParaRPr>
          </a:p>
          <a:p>
            <a:pPr marL="12700" marR="918210" algn="just">
              <a:lnSpc>
                <a:spcPct val="116300"/>
              </a:lnSpc>
            </a:pPr>
            <a:r>
              <a:rPr sz="3600" dirty="0">
                <a:solidFill>
                  <a:srgbClr val="2E377E"/>
                </a:solidFill>
                <a:latin typeface="Georgia"/>
                <a:cs typeface="Georgia"/>
              </a:rPr>
              <a:t>This</a:t>
            </a:r>
            <a:r>
              <a:rPr sz="3600" spc="15" dirty="0">
                <a:solidFill>
                  <a:srgbClr val="2E377E"/>
                </a:solidFill>
                <a:latin typeface="Georgia"/>
                <a:cs typeface="Georgia"/>
              </a:rPr>
              <a:t> </a:t>
            </a:r>
            <a:r>
              <a:rPr sz="3600" dirty="0">
                <a:solidFill>
                  <a:srgbClr val="2E377E"/>
                </a:solidFill>
                <a:latin typeface="Georgia"/>
                <a:cs typeface="Georgia"/>
              </a:rPr>
              <a:t>templating</a:t>
            </a:r>
            <a:r>
              <a:rPr sz="3600" spc="15" dirty="0">
                <a:solidFill>
                  <a:srgbClr val="2E377E"/>
                </a:solidFill>
                <a:latin typeface="Georgia"/>
                <a:cs typeface="Georgia"/>
              </a:rPr>
              <a:t> </a:t>
            </a:r>
            <a:r>
              <a:rPr sz="3600" dirty="0">
                <a:solidFill>
                  <a:srgbClr val="2E377E"/>
                </a:solidFill>
                <a:latin typeface="Georgia"/>
                <a:cs typeface="Georgia"/>
              </a:rPr>
              <a:t>mechanism</a:t>
            </a:r>
            <a:r>
              <a:rPr sz="3600" spc="15" dirty="0">
                <a:solidFill>
                  <a:srgbClr val="2E377E"/>
                </a:solidFill>
                <a:latin typeface="Georgia"/>
                <a:cs typeface="Georgia"/>
              </a:rPr>
              <a:t> </a:t>
            </a:r>
            <a:r>
              <a:rPr sz="3600" dirty="0">
                <a:solidFill>
                  <a:srgbClr val="2E377E"/>
                </a:solidFill>
                <a:latin typeface="Georgia"/>
                <a:cs typeface="Georgia"/>
              </a:rPr>
              <a:t>allows</a:t>
            </a:r>
            <a:r>
              <a:rPr sz="3600" spc="15" dirty="0">
                <a:solidFill>
                  <a:srgbClr val="2E377E"/>
                </a:solidFill>
                <a:latin typeface="Georgia"/>
                <a:cs typeface="Georgia"/>
              </a:rPr>
              <a:t> </a:t>
            </a:r>
            <a:r>
              <a:rPr sz="3600" spc="80" dirty="0">
                <a:solidFill>
                  <a:srgbClr val="2E377E"/>
                </a:solidFill>
                <a:latin typeface="Georgia"/>
                <a:cs typeface="Georgia"/>
              </a:rPr>
              <a:t>you</a:t>
            </a:r>
            <a:r>
              <a:rPr sz="3600" spc="15" dirty="0">
                <a:solidFill>
                  <a:srgbClr val="2E377E"/>
                </a:solidFill>
                <a:latin typeface="Georgia"/>
                <a:cs typeface="Georgia"/>
              </a:rPr>
              <a:t> </a:t>
            </a:r>
            <a:r>
              <a:rPr sz="3600" spc="60" dirty="0">
                <a:solidFill>
                  <a:srgbClr val="2E377E"/>
                </a:solidFill>
                <a:latin typeface="Georgia"/>
                <a:cs typeface="Georgia"/>
              </a:rPr>
              <a:t>to</a:t>
            </a:r>
            <a:r>
              <a:rPr sz="3600" spc="15" dirty="0">
                <a:solidFill>
                  <a:srgbClr val="2E377E"/>
                </a:solidFill>
                <a:latin typeface="Georgia"/>
                <a:cs typeface="Georgia"/>
              </a:rPr>
              <a:t> </a:t>
            </a:r>
            <a:r>
              <a:rPr sz="3600" dirty="0">
                <a:solidFill>
                  <a:srgbClr val="2E377E"/>
                </a:solidFill>
                <a:latin typeface="Georgia"/>
                <a:cs typeface="Georgia"/>
              </a:rPr>
              <a:t>create</a:t>
            </a:r>
            <a:r>
              <a:rPr sz="3600" spc="15" dirty="0">
                <a:solidFill>
                  <a:srgbClr val="2E377E"/>
                </a:solidFill>
                <a:latin typeface="Georgia"/>
                <a:cs typeface="Georgia"/>
              </a:rPr>
              <a:t> </a:t>
            </a:r>
            <a:r>
              <a:rPr sz="3600" dirty="0">
                <a:solidFill>
                  <a:srgbClr val="2E377E"/>
                </a:solidFill>
                <a:latin typeface="Georgia"/>
                <a:cs typeface="Georgia"/>
              </a:rPr>
              <a:t>reusable</a:t>
            </a:r>
            <a:r>
              <a:rPr sz="3600" spc="15"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spc="-10" dirty="0">
                <a:solidFill>
                  <a:srgbClr val="2E377E"/>
                </a:solidFill>
                <a:latin typeface="Georgia"/>
                <a:cs typeface="Georgia"/>
              </a:rPr>
              <a:t>flexible configurations.</a:t>
            </a:r>
            <a:endParaRPr sz="3600">
              <a:latin typeface="Georgia"/>
              <a:cs typeface="Georgia"/>
            </a:endParaRPr>
          </a:p>
        </p:txBody>
      </p:sp>
      <p:pic>
        <p:nvPicPr>
          <p:cNvPr id="5" name="object 5"/>
          <p:cNvPicPr/>
          <p:nvPr/>
        </p:nvPicPr>
        <p:blipFill>
          <a:blip r:embed="rId3" cstate="print"/>
          <a:stretch>
            <a:fillRect/>
          </a:stretch>
        </p:blipFill>
        <p:spPr>
          <a:xfrm>
            <a:off x="1651032" y="5605241"/>
            <a:ext cx="133350" cy="133349"/>
          </a:xfrm>
          <a:prstGeom prst="rect">
            <a:avLst/>
          </a:prstGeom>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76374" y="1250593"/>
            <a:ext cx="133350" cy="133349"/>
          </a:xfrm>
          <a:prstGeom prst="rect">
            <a:avLst/>
          </a:prstGeom>
        </p:spPr>
      </p:pic>
      <p:sp>
        <p:nvSpPr>
          <p:cNvPr id="3" name="object 3"/>
          <p:cNvSpPr txBox="1"/>
          <p:nvPr/>
        </p:nvSpPr>
        <p:spPr>
          <a:xfrm>
            <a:off x="1793180" y="891183"/>
            <a:ext cx="14675485" cy="5768975"/>
          </a:xfrm>
          <a:prstGeom prst="rect">
            <a:avLst/>
          </a:prstGeom>
        </p:spPr>
        <p:txBody>
          <a:bodyPr vert="horz" wrap="square" lIns="0" tIns="12700" rIns="0" bIns="0" rtlCol="0">
            <a:spAutoFit/>
          </a:bodyPr>
          <a:lstStyle/>
          <a:p>
            <a:pPr marL="12700" marR="5080">
              <a:lnSpc>
                <a:spcPct val="116300"/>
              </a:lnSpc>
              <a:spcBef>
                <a:spcPts val="100"/>
              </a:spcBef>
            </a:pPr>
            <a:r>
              <a:rPr sz="3600" spc="-25" dirty="0">
                <a:solidFill>
                  <a:srgbClr val="2E377E"/>
                </a:solidFill>
                <a:latin typeface="Georgia"/>
                <a:cs typeface="Georgia"/>
              </a:rPr>
              <a:t>Values:</a:t>
            </a:r>
            <a:r>
              <a:rPr sz="3600" spc="45" dirty="0">
                <a:solidFill>
                  <a:srgbClr val="2E377E"/>
                </a:solidFill>
                <a:latin typeface="Georgia"/>
                <a:cs typeface="Georgia"/>
              </a:rPr>
              <a:t> </a:t>
            </a:r>
            <a:r>
              <a:rPr sz="3600" dirty="0">
                <a:solidFill>
                  <a:srgbClr val="2E377E"/>
                </a:solidFill>
                <a:latin typeface="Georgia"/>
                <a:cs typeface="Georgia"/>
              </a:rPr>
              <a:t>Values</a:t>
            </a:r>
            <a:r>
              <a:rPr sz="3600" spc="50" dirty="0">
                <a:solidFill>
                  <a:srgbClr val="2E377E"/>
                </a:solidFill>
                <a:latin typeface="Georgia"/>
                <a:cs typeface="Georgia"/>
              </a:rPr>
              <a:t> </a:t>
            </a:r>
            <a:r>
              <a:rPr sz="3600" dirty="0">
                <a:solidFill>
                  <a:srgbClr val="2E377E"/>
                </a:solidFill>
                <a:latin typeface="Georgia"/>
                <a:cs typeface="Georgia"/>
              </a:rPr>
              <a:t>are</a:t>
            </a:r>
            <a:r>
              <a:rPr sz="3600" spc="45" dirty="0">
                <a:solidFill>
                  <a:srgbClr val="2E377E"/>
                </a:solidFill>
                <a:latin typeface="Georgia"/>
                <a:cs typeface="Georgia"/>
              </a:rPr>
              <a:t> </a:t>
            </a:r>
            <a:r>
              <a:rPr sz="3600" dirty="0">
                <a:solidFill>
                  <a:srgbClr val="2E377E"/>
                </a:solidFill>
                <a:latin typeface="Georgia"/>
                <a:cs typeface="Georgia"/>
              </a:rPr>
              <a:t>customizable</a:t>
            </a:r>
            <a:r>
              <a:rPr sz="3600" spc="50" dirty="0">
                <a:solidFill>
                  <a:srgbClr val="2E377E"/>
                </a:solidFill>
                <a:latin typeface="Georgia"/>
                <a:cs typeface="Georgia"/>
              </a:rPr>
              <a:t> </a:t>
            </a:r>
            <a:r>
              <a:rPr sz="3600" dirty="0">
                <a:solidFill>
                  <a:srgbClr val="2E377E"/>
                </a:solidFill>
                <a:latin typeface="Georgia"/>
                <a:cs typeface="Georgia"/>
              </a:rPr>
              <a:t>parameters</a:t>
            </a:r>
            <a:r>
              <a:rPr sz="3600" spc="50" dirty="0">
                <a:solidFill>
                  <a:srgbClr val="2E377E"/>
                </a:solidFill>
                <a:latin typeface="Georgia"/>
                <a:cs typeface="Georgia"/>
              </a:rPr>
              <a:t> </a:t>
            </a:r>
            <a:r>
              <a:rPr sz="3600" dirty="0">
                <a:solidFill>
                  <a:srgbClr val="2E377E"/>
                </a:solidFill>
                <a:latin typeface="Georgia"/>
                <a:cs typeface="Georgia"/>
              </a:rPr>
              <a:t>that</a:t>
            </a:r>
            <a:r>
              <a:rPr sz="3600" spc="45" dirty="0">
                <a:solidFill>
                  <a:srgbClr val="2E377E"/>
                </a:solidFill>
                <a:latin typeface="Georgia"/>
                <a:cs typeface="Georgia"/>
              </a:rPr>
              <a:t> </a:t>
            </a:r>
            <a:r>
              <a:rPr sz="3600" dirty="0">
                <a:solidFill>
                  <a:srgbClr val="2E377E"/>
                </a:solidFill>
                <a:latin typeface="Georgia"/>
                <a:cs typeface="Georgia"/>
              </a:rPr>
              <a:t>can</a:t>
            </a:r>
            <a:r>
              <a:rPr sz="3600" spc="50" dirty="0">
                <a:solidFill>
                  <a:srgbClr val="2E377E"/>
                </a:solidFill>
                <a:latin typeface="Georgia"/>
                <a:cs typeface="Georgia"/>
              </a:rPr>
              <a:t> </a:t>
            </a:r>
            <a:r>
              <a:rPr sz="3600" dirty="0">
                <a:solidFill>
                  <a:srgbClr val="2E377E"/>
                </a:solidFill>
                <a:latin typeface="Georgia"/>
                <a:cs typeface="Georgia"/>
              </a:rPr>
              <a:t>be</a:t>
            </a:r>
            <a:r>
              <a:rPr sz="3600" spc="50" dirty="0">
                <a:solidFill>
                  <a:srgbClr val="2E377E"/>
                </a:solidFill>
                <a:latin typeface="Georgia"/>
                <a:cs typeface="Georgia"/>
              </a:rPr>
              <a:t> </a:t>
            </a:r>
            <a:r>
              <a:rPr sz="3600" dirty="0">
                <a:solidFill>
                  <a:srgbClr val="2E377E"/>
                </a:solidFill>
                <a:latin typeface="Georgia"/>
                <a:cs typeface="Georgia"/>
              </a:rPr>
              <a:t>injected</a:t>
            </a:r>
            <a:r>
              <a:rPr sz="3600" spc="45" dirty="0">
                <a:solidFill>
                  <a:srgbClr val="2E377E"/>
                </a:solidFill>
                <a:latin typeface="Georgia"/>
                <a:cs typeface="Georgia"/>
              </a:rPr>
              <a:t> </a:t>
            </a:r>
            <a:r>
              <a:rPr sz="3600" spc="-20" dirty="0">
                <a:solidFill>
                  <a:srgbClr val="2E377E"/>
                </a:solidFill>
                <a:latin typeface="Georgia"/>
                <a:cs typeface="Georgia"/>
              </a:rPr>
              <a:t>into </a:t>
            </a:r>
            <a:r>
              <a:rPr sz="3600" dirty="0">
                <a:solidFill>
                  <a:srgbClr val="2E377E"/>
                </a:solidFill>
                <a:latin typeface="Georgia"/>
                <a:cs typeface="Georgia"/>
              </a:rPr>
              <a:t>chart</a:t>
            </a:r>
            <a:r>
              <a:rPr sz="3600" spc="70" dirty="0">
                <a:solidFill>
                  <a:srgbClr val="2E377E"/>
                </a:solidFill>
                <a:latin typeface="Georgia"/>
                <a:cs typeface="Georgia"/>
              </a:rPr>
              <a:t> </a:t>
            </a:r>
            <a:r>
              <a:rPr sz="3600" dirty="0">
                <a:solidFill>
                  <a:srgbClr val="2E377E"/>
                </a:solidFill>
                <a:latin typeface="Georgia"/>
                <a:cs typeface="Georgia"/>
              </a:rPr>
              <a:t>templates</a:t>
            </a:r>
            <a:r>
              <a:rPr sz="3600" spc="70" dirty="0">
                <a:solidFill>
                  <a:srgbClr val="2E377E"/>
                </a:solidFill>
                <a:latin typeface="Georgia"/>
                <a:cs typeface="Georgia"/>
              </a:rPr>
              <a:t> </a:t>
            </a:r>
            <a:r>
              <a:rPr sz="3600" dirty="0">
                <a:solidFill>
                  <a:srgbClr val="2E377E"/>
                </a:solidFill>
                <a:latin typeface="Georgia"/>
                <a:cs typeface="Georgia"/>
              </a:rPr>
              <a:t>during</a:t>
            </a:r>
            <a:r>
              <a:rPr sz="3600" spc="75" dirty="0">
                <a:solidFill>
                  <a:srgbClr val="2E377E"/>
                </a:solidFill>
                <a:latin typeface="Georgia"/>
                <a:cs typeface="Georgia"/>
              </a:rPr>
              <a:t> </a:t>
            </a:r>
            <a:r>
              <a:rPr sz="3600" dirty="0">
                <a:solidFill>
                  <a:srgbClr val="2E377E"/>
                </a:solidFill>
                <a:latin typeface="Georgia"/>
                <a:cs typeface="Georgia"/>
              </a:rPr>
              <a:t>deployment.</a:t>
            </a:r>
            <a:r>
              <a:rPr sz="3600" spc="70" dirty="0">
                <a:solidFill>
                  <a:srgbClr val="2E377E"/>
                </a:solidFill>
                <a:latin typeface="Georgia"/>
                <a:cs typeface="Georgia"/>
              </a:rPr>
              <a:t> </a:t>
            </a:r>
            <a:r>
              <a:rPr sz="3600" dirty="0">
                <a:solidFill>
                  <a:srgbClr val="2E377E"/>
                </a:solidFill>
                <a:latin typeface="Georgia"/>
                <a:cs typeface="Georgia"/>
              </a:rPr>
              <a:t>You</a:t>
            </a:r>
            <a:r>
              <a:rPr sz="3600" spc="75" dirty="0">
                <a:solidFill>
                  <a:srgbClr val="2E377E"/>
                </a:solidFill>
                <a:latin typeface="Georgia"/>
                <a:cs typeface="Georgia"/>
              </a:rPr>
              <a:t> </a:t>
            </a:r>
            <a:r>
              <a:rPr sz="3600" dirty="0">
                <a:solidFill>
                  <a:srgbClr val="2E377E"/>
                </a:solidFill>
                <a:latin typeface="Georgia"/>
                <a:cs typeface="Georgia"/>
              </a:rPr>
              <a:t>can</a:t>
            </a:r>
            <a:r>
              <a:rPr sz="3600" spc="70" dirty="0">
                <a:solidFill>
                  <a:srgbClr val="2E377E"/>
                </a:solidFill>
                <a:latin typeface="Georgia"/>
                <a:cs typeface="Georgia"/>
              </a:rPr>
              <a:t> </a:t>
            </a:r>
            <a:r>
              <a:rPr sz="3600" dirty="0">
                <a:solidFill>
                  <a:srgbClr val="2E377E"/>
                </a:solidFill>
                <a:latin typeface="Georgia"/>
                <a:cs typeface="Georgia"/>
              </a:rPr>
              <a:t>define</a:t>
            </a:r>
            <a:r>
              <a:rPr sz="3600" spc="75" dirty="0">
                <a:solidFill>
                  <a:srgbClr val="2E377E"/>
                </a:solidFill>
                <a:latin typeface="Georgia"/>
                <a:cs typeface="Georgia"/>
              </a:rPr>
              <a:t> </a:t>
            </a:r>
            <a:r>
              <a:rPr sz="3600" dirty="0">
                <a:solidFill>
                  <a:srgbClr val="2E377E"/>
                </a:solidFill>
                <a:latin typeface="Georgia"/>
                <a:cs typeface="Georgia"/>
              </a:rPr>
              <a:t>default</a:t>
            </a:r>
            <a:r>
              <a:rPr sz="3600" spc="70" dirty="0">
                <a:solidFill>
                  <a:srgbClr val="2E377E"/>
                </a:solidFill>
                <a:latin typeface="Georgia"/>
                <a:cs typeface="Georgia"/>
              </a:rPr>
              <a:t> </a:t>
            </a:r>
            <a:r>
              <a:rPr sz="3600" dirty="0">
                <a:solidFill>
                  <a:srgbClr val="2E377E"/>
                </a:solidFill>
                <a:latin typeface="Georgia"/>
                <a:cs typeface="Georgia"/>
              </a:rPr>
              <a:t>values</a:t>
            </a:r>
            <a:r>
              <a:rPr sz="3600" spc="75" dirty="0">
                <a:solidFill>
                  <a:srgbClr val="2E377E"/>
                </a:solidFill>
                <a:latin typeface="Georgia"/>
                <a:cs typeface="Georgia"/>
              </a:rPr>
              <a:t> </a:t>
            </a:r>
            <a:r>
              <a:rPr sz="3600" dirty="0">
                <a:solidFill>
                  <a:srgbClr val="2E377E"/>
                </a:solidFill>
                <a:latin typeface="Georgia"/>
                <a:cs typeface="Georgia"/>
              </a:rPr>
              <a:t>in</a:t>
            </a:r>
            <a:r>
              <a:rPr sz="3600" spc="70" dirty="0">
                <a:solidFill>
                  <a:srgbClr val="2E377E"/>
                </a:solidFill>
                <a:latin typeface="Georgia"/>
                <a:cs typeface="Georgia"/>
              </a:rPr>
              <a:t> </a:t>
            </a:r>
            <a:r>
              <a:rPr sz="3600" spc="-50" dirty="0">
                <a:solidFill>
                  <a:srgbClr val="2E377E"/>
                </a:solidFill>
                <a:latin typeface="Georgia"/>
                <a:cs typeface="Georgia"/>
              </a:rPr>
              <a:t>a </a:t>
            </a:r>
            <a:r>
              <a:rPr sz="3600" dirty="0">
                <a:solidFill>
                  <a:srgbClr val="2E377E"/>
                </a:solidFill>
                <a:latin typeface="Georgia"/>
                <a:cs typeface="Georgia"/>
              </a:rPr>
              <a:t>values.yaml</a:t>
            </a:r>
            <a:r>
              <a:rPr sz="3600" spc="15" dirty="0">
                <a:solidFill>
                  <a:srgbClr val="2E377E"/>
                </a:solidFill>
                <a:latin typeface="Georgia"/>
                <a:cs typeface="Georgia"/>
              </a:rPr>
              <a:t> </a:t>
            </a:r>
            <a:r>
              <a:rPr sz="3600" dirty="0">
                <a:solidFill>
                  <a:srgbClr val="2E377E"/>
                </a:solidFill>
                <a:latin typeface="Georgia"/>
                <a:cs typeface="Georgia"/>
              </a:rPr>
              <a:t>file</a:t>
            </a:r>
            <a:r>
              <a:rPr sz="3600" spc="20" dirty="0">
                <a:solidFill>
                  <a:srgbClr val="2E377E"/>
                </a:solidFill>
                <a:latin typeface="Georgia"/>
                <a:cs typeface="Georgia"/>
              </a:rPr>
              <a:t> </a:t>
            </a:r>
            <a:r>
              <a:rPr sz="3600" dirty="0">
                <a:solidFill>
                  <a:srgbClr val="2E377E"/>
                </a:solidFill>
                <a:latin typeface="Georgia"/>
                <a:cs typeface="Georgia"/>
              </a:rPr>
              <a:t>and</a:t>
            </a:r>
            <a:r>
              <a:rPr sz="3600" spc="15" dirty="0">
                <a:solidFill>
                  <a:srgbClr val="2E377E"/>
                </a:solidFill>
                <a:latin typeface="Georgia"/>
                <a:cs typeface="Georgia"/>
              </a:rPr>
              <a:t> </a:t>
            </a:r>
            <a:r>
              <a:rPr sz="3600" dirty="0">
                <a:solidFill>
                  <a:srgbClr val="2E377E"/>
                </a:solidFill>
                <a:latin typeface="Georgia"/>
                <a:cs typeface="Georgia"/>
              </a:rPr>
              <a:t>override</a:t>
            </a:r>
            <a:r>
              <a:rPr sz="3600" spc="20" dirty="0">
                <a:solidFill>
                  <a:srgbClr val="2E377E"/>
                </a:solidFill>
                <a:latin typeface="Georgia"/>
                <a:cs typeface="Georgia"/>
              </a:rPr>
              <a:t> </a:t>
            </a:r>
            <a:r>
              <a:rPr sz="3600" dirty="0">
                <a:solidFill>
                  <a:srgbClr val="2E377E"/>
                </a:solidFill>
                <a:latin typeface="Georgia"/>
                <a:cs typeface="Georgia"/>
              </a:rPr>
              <a:t>them</a:t>
            </a:r>
            <a:r>
              <a:rPr sz="3600" spc="20" dirty="0">
                <a:solidFill>
                  <a:srgbClr val="2E377E"/>
                </a:solidFill>
                <a:latin typeface="Georgia"/>
                <a:cs typeface="Georgia"/>
              </a:rPr>
              <a:t> </a:t>
            </a:r>
            <a:r>
              <a:rPr sz="3600" spc="60" dirty="0">
                <a:solidFill>
                  <a:srgbClr val="2E377E"/>
                </a:solidFill>
                <a:latin typeface="Georgia"/>
                <a:cs typeface="Georgia"/>
              </a:rPr>
              <a:t>when</a:t>
            </a:r>
            <a:r>
              <a:rPr sz="3600" spc="15" dirty="0">
                <a:solidFill>
                  <a:srgbClr val="2E377E"/>
                </a:solidFill>
                <a:latin typeface="Georgia"/>
                <a:cs typeface="Georgia"/>
              </a:rPr>
              <a:t> </a:t>
            </a:r>
            <a:r>
              <a:rPr sz="3600" dirty="0">
                <a:solidFill>
                  <a:srgbClr val="2E377E"/>
                </a:solidFill>
                <a:latin typeface="Georgia"/>
                <a:cs typeface="Georgia"/>
              </a:rPr>
              <a:t>installing</a:t>
            </a:r>
            <a:r>
              <a:rPr sz="3600" spc="20" dirty="0">
                <a:solidFill>
                  <a:srgbClr val="2E377E"/>
                </a:solidFill>
                <a:latin typeface="Georgia"/>
                <a:cs typeface="Georgia"/>
              </a:rPr>
              <a:t> </a:t>
            </a:r>
            <a:r>
              <a:rPr sz="3600" dirty="0">
                <a:solidFill>
                  <a:srgbClr val="2E377E"/>
                </a:solidFill>
                <a:latin typeface="Georgia"/>
                <a:cs typeface="Georgia"/>
              </a:rPr>
              <a:t>or</a:t>
            </a:r>
            <a:r>
              <a:rPr sz="3600" spc="20" dirty="0">
                <a:solidFill>
                  <a:srgbClr val="2E377E"/>
                </a:solidFill>
                <a:latin typeface="Georgia"/>
                <a:cs typeface="Georgia"/>
              </a:rPr>
              <a:t> </a:t>
            </a:r>
            <a:r>
              <a:rPr sz="3600" dirty="0">
                <a:solidFill>
                  <a:srgbClr val="2E377E"/>
                </a:solidFill>
                <a:latin typeface="Georgia"/>
                <a:cs typeface="Georgia"/>
              </a:rPr>
              <a:t>upgrading</a:t>
            </a:r>
            <a:r>
              <a:rPr sz="3600" spc="15" dirty="0">
                <a:solidFill>
                  <a:srgbClr val="2E377E"/>
                </a:solidFill>
                <a:latin typeface="Georgia"/>
                <a:cs typeface="Georgia"/>
              </a:rPr>
              <a:t> </a:t>
            </a:r>
            <a:r>
              <a:rPr sz="3600" dirty="0">
                <a:solidFill>
                  <a:srgbClr val="2E377E"/>
                </a:solidFill>
                <a:latin typeface="Georgia"/>
                <a:cs typeface="Georgia"/>
              </a:rPr>
              <a:t>a</a:t>
            </a:r>
            <a:r>
              <a:rPr sz="3600" spc="20" dirty="0">
                <a:solidFill>
                  <a:srgbClr val="2E377E"/>
                </a:solidFill>
                <a:latin typeface="Georgia"/>
                <a:cs typeface="Georgia"/>
              </a:rPr>
              <a:t> </a:t>
            </a:r>
            <a:r>
              <a:rPr sz="3600" spc="-10" dirty="0">
                <a:solidFill>
                  <a:srgbClr val="2E377E"/>
                </a:solidFill>
                <a:latin typeface="Georgia"/>
                <a:cs typeface="Georgia"/>
              </a:rPr>
              <a:t>chart. </a:t>
            </a:r>
            <a:r>
              <a:rPr sz="3600" dirty="0">
                <a:solidFill>
                  <a:srgbClr val="2E377E"/>
                </a:solidFill>
                <a:latin typeface="Georgia"/>
                <a:cs typeface="Georgia"/>
              </a:rPr>
              <a:t>This</a:t>
            </a:r>
            <a:r>
              <a:rPr sz="3600" spc="-25" dirty="0">
                <a:solidFill>
                  <a:srgbClr val="2E377E"/>
                </a:solidFill>
                <a:latin typeface="Georgia"/>
                <a:cs typeface="Georgia"/>
              </a:rPr>
              <a:t> </a:t>
            </a:r>
            <a:r>
              <a:rPr sz="3600" dirty="0">
                <a:solidFill>
                  <a:srgbClr val="2E377E"/>
                </a:solidFill>
                <a:latin typeface="Georgia"/>
                <a:cs typeface="Georgia"/>
              </a:rPr>
              <a:t>allows</a:t>
            </a:r>
            <a:r>
              <a:rPr sz="3600" spc="-20" dirty="0">
                <a:solidFill>
                  <a:srgbClr val="2E377E"/>
                </a:solidFill>
                <a:latin typeface="Georgia"/>
                <a:cs typeface="Georgia"/>
              </a:rPr>
              <a:t> </a:t>
            </a:r>
            <a:r>
              <a:rPr sz="3600" spc="80" dirty="0">
                <a:solidFill>
                  <a:srgbClr val="2E377E"/>
                </a:solidFill>
                <a:latin typeface="Georgia"/>
                <a:cs typeface="Georgia"/>
              </a:rPr>
              <a:t>you</a:t>
            </a:r>
            <a:r>
              <a:rPr sz="3600" spc="-20" dirty="0">
                <a:solidFill>
                  <a:srgbClr val="2E377E"/>
                </a:solidFill>
                <a:latin typeface="Georgia"/>
                <a:cs typeface="Georgia"/>
              </a:rPr>
              <a:t> </a:t>
            </a:r>
            <a:r>
              <a:rPr sz="3600" spc="60" dirty="0">
                <a:solidFill>
                  <a:srgbClr val="2E377E"/>
                </a:solidFill>
                <a:latin typeface="Georgia"/>
                <a:cs typeface="Georgia"/>
              </a:rPr>
              <a:t>to</a:t>
            </a:r>
            <a:r>
              <a:rPr sz="3600" spc="-20" dirty="0">
                <a:solidFill>
                  <a:srgbClr val="2E377E"/>
                </a:solidFill>
                <a:latin typeface="Georgia"/>
                <a:cs typeface="Georgia"/>
              </a:rPr>
              <a:t> </a:t>
            </a:r>
            <a:r>
              <a:rPr sz="3600" dirty="0">
                <a:solidFill>
                  <a:srgbClr val="2E377E"/>
                </a:solidFill>
                <a:latin typeface="Georgia"/>
                <a:cs typeface="Georgia"/>
              </a:rPr>
              <a:t>configure</a:t>
            </a:r>
            <a:r>
              <a:rPr sz="3600" spc="-20" dirty="0">
                <a:solidFill>
                  <a:srgbClr val="2E377E"/>
                </a:solidFill>
                <a:latin typeface="Georgia"/>
                <a:cs typeface="Georgia"/>
              </a:rPr>
              <a:t> </a:t>
            </a:r>
            <a:r>
              <a:rPr sz="3600" spc="65" dirty="0">
                <a:solidFill>
                  <a:srgbClr val="2E377E"/>
                </a:solidFill>
                <a:latin typeface="Georgia"/>
                <a:cs typeface="Georgia"/>
              </a:rPr>
              <a:t>your</a:t>
            </a:r>
            <a:r>
              <a:rPr sz="3600" spc="-20" dirty="0">
                <a:solidFill>
                  <a:srgbClr val="2E377E"/>
                </a:solidFill>
                <a:latin typeface="Georgia"/>
                <a:cs typeface="Georgia"/>
              </a:rPr>
              <a:t> </a:t>
            </a:r>
            <a:r>
              <a:rPr sz="3600" dirty="0">
                <a:solidFill>
                  <a:srgbClr val="2E377E"/>
                </a:solidFill>
                <a:latin typeface="Georgia"/>
                <a:cs typeface="Georgia"/>
              </a:rPr>
              <a:t>application</a:t>
            </a:r>
            <a:r>
              <a:rPr sz="3600" spc="-20" dirty="0">
                <a:solidFill>
                  <a:srgbClr val="2E377E"/>
                </a:solidFill>
                <a:latin typeface="Georgia"/>
                <a:cs typeface="Georgia"/>
              </a:rPr>
              <a:t> </a:t>
            </a:r>
            <a:r>
              <a:rPr sz="3600" spc="45" dirty="0">
                <a:solidFill>
                  <a:srgbClr val="2E377E"/>
                </a:solidFill>
                <a:latin typeface="Georgia"/>
                <a:cs typeface="Georgia"/>
              </a:rPr>
              <a:t>differently</a:t>
            </a:r>
            <a:r>
              <a:rPr sz="3600" spc="-25" dirty="0">
                <a:solidFill>
                  <a:srgbClr val="2E377E"/>
                </a:solidFill>
                <a:latin typeface="Georgia"/>
                <a:cs typeface="Georgia"/>
              </a:rPr>
              <a:t> </a:t>
            </a:r>
            <a:r>
              <a:rPr sz="3600" dirty="0">
                <a:solidFill>
                  <a:srgbClr val="2E377E"/>
                </a:solidFill>
                <a:latin typeface="Georgia"/>
                <a:cs typeface="Georgia"/>
              </a:rPr>
              <a:t>for</a:t>
            </a:r>
            <a:r>
              <a:rPr sz="3600" spc="-20" dirty="0">
                <a:solidFill>
                  <a:srgbClr val="2E377E"/>
                </a:solidFill>
                <a:latin typeface="Georgia"/>
                <a:cs typeface="Georgia"/>
              </a:rPr>
              <a:t> </a:t>
            </a:r>
            <a:r>
              <a:rPr sz="3600" spc="-10" dirty="0">
                <a:solidFill>
                  <a:srgbClr val="2E377E"/>
                </a:solidFill>
                <a:latin typeface="Georgia"/>
                <a:cs typeface="Georgia"/>
              </a:rPr>
              <a:t>various </a:t>
            </a:r>
            <a:r>
              <a:rPr sz="3600" dirty="0">
                <a:solidFill>
                  <a:srgbClr val="2E377E"/>
                </a:solidFill>
                <a:latin typeface="Georgia"/>
                <a:cs typeface="Georgia"/>
              </a:rPr>
              <a:t>environments</a:t>
            </a:r>
            <a:r>
              <a:rPr sz="3600" spc="125" dirty="0">
                <a:solidFill>
                  <a:srgbClr val="2E377E"/>
                </a:solidFill>
                <a:latin typeface="Georgia"/>
                <a:cs typeface="Georgia"/>
              </a:rPr>
              <a:t> </a:t>
            </a:r>
            <a:r>
              <a:rPr sz="3600" dirty="0">
                <a:solidFill>
                  <a:srgbClr val="2E377E"/>
                </a:solidFill>
                <a:latin typeface="Georgia"/>
                <a:cs typeface="Georgia"/>
              </a:rPr>
              <a:t>or</a:t>
            </a:r>
            <a:r>
              <a:rPr sz="3600" spc="130" dirty="0">
                <a:solidFill>
                  <a:srgbClr val="2E377E"/>
                </a:solidFill>
                <a:latin typeface="Georgia"/>
                <a:cs typeface="Georgia"/>
              </a:rPr>
              <a:t> </a:t>
            </a:r>
            <a:r>
              <a:rPr sz="3600" dirty="0">
                <a:solidFill>
                  <a:srgbClr val="2E377E"/>
                </a:solidFill>
                <a:latin typeface="Georgia"/>
                <a:cs typeface="Georgia"/>
              </a:rPr>
              <a:t>use</a:t>
            </a:r>
            <a:r>
              <a:rPr sz="3600" spc="130" dirty="0">
                <a:solidFill>
                  <a:srgbClr val="2E377E"/>
                </a:solidFill>
                <a:latin typeface="Georgia"/>
                <a:cs typeface="Georgia"/>
              </a:rPr>
              <a:t> </a:t>
            </a:r>
            <a:r>
              <a:rPr sz="3600" spc="-10" dirty="0">
                <a:solidFill>
                  <a:srgbClr val="2E377E"/>
                </a:solidFill>
                <a:latin typeface="Georgia"/>
                <a:cs typeface="Georgia"/>
              </a:rPr>
              <a:t>cases.</a:t>
            </a:r>
            <a:endParaRPr sz="3600">
              <a:latin typeface="Georgia"/>
              <a:cs typeface="Georgia"/>
            </a:endParaRPr>
          </a:p>
          <a:p>
            <a:pPr marL="12700" marR="49530">
              <a:lnSpc>
                <a:spcPct val="116300"/>
              </a:lnSpc>
            </a:pPr>
            <a:r>
              <a:rPr sz="3600" dirty="0">
                <a:solidFill>
                  <a:srgbClr val="2E377E"/>
                </a:solidFill>
                <a:latin typeface="Georgia"/>
                <a:cs typeface="Georgia"/>
              </a:rPr>
              <a:t>Repositories:</a:t>
            </a:r>
            <a:r>
              <a:rPr sz="3600" spc="20" dirty="0">
                <a:solidFill>
                  <a:srgbClr val="2E377E"/>
                </a:solidFill>
                <a:latin typeface="Georgia"/>
                <a:cs typeface="Georgia"/>
              </a:rPr>
              <a:t> </a:t>
            </a:r>
            <a:r>
              <a:rPr sz="3600" dirty="0">
                <a:solidFill>
                  <a:srgbClr val="2E377E"/>
                </a:solidFill>
                <a:latin typeface="Georgia"/>
                <a:cs typeface="Georgia"/>
              </a:rPr>
              <a:t>Helm</a:t>
            </a:r>
            <a:r>
              <a:rPr sz="3600" spc="25" dirty="0">
                <a:solidFill>
                  <a:srgbClr val="2E377E"/>
                </a:solidFill>
                <a:latin typeface="Georgia"/>
                <a:cs typeface="Georgia"/>
              </a:rPr>
              <a:t> </a:t>
            </a:r>
            <a:r>
              <a:rPr sz="3600" dirty="0">
                <a:solidFill>
                  <a:srgbClr val="2E377E"/>
                </a:solidFill>
                <a:latin typeface="Georgia"/>
                <a:cs typeface="Georgia"/>
              </a:rPr>
              <a:t>repositories</a:t>
            </a:r>
            <a:r>
              <a:rPr sz="3600" spc="25" dirty="0">
                <a:solidFill>
                  <a:srgbClr val="2E377E"/>
                </a:solidFill>
                <a:latin typeface="Georgia"/>
                <a:cs typeface="Georgia"/>
              </a:rPr>
              <a:t> </a:t>
            </a:r>
            <a:r>
              <a:rPr sz="3600" dirty="0">
                <a:solidFill>
                  <a:srgbClr val="2E377E"/>
                </a:solidFill>
                <a:latin typeface="Georgia"/>
                <a:cs typeface="Georgia"/>
              </a:rPr>
              <a:t>are</a:t>
            </a:r>
            <a:r>
              <a:rPr sz="3600" spc="20" dirty="0">
                <a:solidFill>
                  <a:srgbClr val="2E377E"/>
                </a:solidFill>
                <a:latin typeface="Georgia"/>
                <a:cs typeface="Georgia"/>
              </a:rPr>
              <a:t> </a:t>
            </a:r>
            <a:r>
              <a:rPr sz="3600" dirty="0">
                <a:solidFill>
                  <a:srgbClr val="2E377E"/>
                </a:solidFill>
                <a:latin typeface="Georgia"/>
                <a:cs typeface="Georgia"/>
              </a:rPr>
              <a:t>collections</a:t>
            </a:r>
            <a:r>
              <a:rPr sz="3600" spc="25" dirty="0">
                <a:solidFill>
                  <a:srgbClr val="2E377E"/>
                </a:solidFill>
                <a:latin typeface="Georgia"/>
                <a:cs typeface="Georgia"/>
              </a:rPr>
              <a:t> </a:t>
            </a:r>
            <a:r>
              <a:rPr sz="3600" dirty="0">
                <a:solidFill>
                  <a:srgbClr val="2E377E"/>
                </a:solidFill>
                <a:latin typeface="Georgia"/>
                <a:cs typeface="Georgia"/>
              </a:rPr>
              <a:t>of</a:t>
            </a:r>
            <a:r>
              <a:rPr sz="3600" spc="25" dirty="0">
                <a:solidFill>
                  <a:srgbClr val="2E377E"/>
                </a:solidFill>
                <a:latin typeface="Georgia"/>
                <a:cs typeface="Georgia"/>
              </a:rPr>
              <a:t> </a:t>
            </a:r>
            <a:r>
              <a:rPr sz="3600" dirty="0">
                <a:solidFill>
                  <a:srgbClr val="2E377E"/>
                </a:solidFill>
                <a:latin typeface="Georgia"/>
                <a:cs typeface="Georgia"/>
              </a:rPr>
              <a:t>packaged</a:t>
            </a:r>
            <a:r>
              <a:rPr sz="3600" spc="20" dirty="0">
                <a:solidFill>
                  <a:srgbClr val="2E377E"/>
                </a:solidFill>
                <a:latin typeface="Georgia"/>
                <a:cs typeface="Georgia"/>
              </a:rPr>
              <a:t> </a:t>
            </a:r>
            <a:r>
              <a:rPr sz="3600" dirty="0">
                <a:solidFill>
                  <a:srgbClr val="2E377E"/>
                </a:solidFill>
                <a:latin typeface="Georgia"/>
                <a:cs typeface="Georgia"/>
              </a:rPr>
              <a:t>charts</a:t>
            </a:r>
            <a:r>
              <a:rPr sz="3600" spc="25" dirty="0">
                <a:solidFill>
                  <a:srgbClr val="2E377E"/>
                </a:solidFill>
                <a:latin typeface="Georgia"/>
                <a:cs typeface="Georgia"/>
              </a:rPr>
              <a:t> </a:t>
            </a:r>
            <a:r>
              <a:rPr sz="3600" spc="-20" dirty="0">
                <a:solidFill>
                  <a:srgbClr val="2E377E"/>
                </a:solidFill>
                <a:latin typeface="Georgia"/>
                <a:cs typeface="Georgia"/>
              </a:rPr>
              <a:t>that </a:t>
            </a:r>
            <a:r>
              <a:rPr sz="3600" dirty="0">
                <a:solidFill>
                  <a:srgbClr val="2E377E"/>
                </a:solidFill>
                <a:latin typeface="Georgia"/>
                <a:cs typeface="Georgia"/>
              </a:rPr>
              <a:t>users</a:t>
            </a:r>
            <a:r>
              <a:rPr sz="3600" spc="-65" dirty="0">
                <a:solidFill>
                  <a:srgbClr val="2E377E"/>
                </a:solidFill>
                <a:latin typeface="Georgia"/>
                <a:cs typeface="Georgia"/>
              </a:rPr>
              <a:t> </a:t>
            </a:r>
            <a:r>
              <a:rPr sz="3600" dirty="0">
                <a:solidFill>
                  <a:srgbClr val="2E377E"/>
                </a:solidFill>
                <a:latin typeface="Georgia"/>
                <a:cs typeface="Georgia"/>
              </a:rPr>
              <a:t>can</a:t>
            </a:r>
            <a:r>
              <a:rPr sz="3600" spc="-65" dirty="0">
                <a:solidFill>
                  <a:srgbClr val="2E377E"/>
                </a:solidFill>
                <a:latin typeface="Georgia"/>
                <a:cs typeface="Georgia"/>
              </a:rPr>
              <a:t> </a:t>
            </a:r>
            <a:r>
              <a:rPr sz="3600" dirty="0">
                <a:solidFill>
                  <a:srgbClr val="2E377E"/>
                </a:solidFill>
                <a:latin typeface="Georgia"/>
                <a:cs typeface="Georgia"/>
              </a:rPr>
              <a:t>install.</a:t>
            </a:r>
            <a:r>
              <a:rPr sz="3600" spc="-60" dirty="0">
                <a:solidFill>
                  <a:srgbClr val="2E377E"/>
                </a:solidFill>
                <a:latin typeface="Georgia"/>
                <a:cs typeface="Georgia"/>
              </a:rPr>
              <a:t> </a:t>
            </a:r>
            <a:r>
              <a:rPr sz="3600" dirty="0">
                <a:solidFill>
                  <a:srgbClr val="2E377E"/>
                </a:solidFill>
                <a:latin typeface="Georgia"/>
                <a:cs typeface="Georgia"/>
              </a:rPr>
              <a:t>The</a:t>
            </a:r>
            <a:r>
              <a:rPr sz="3600" spc="-65" dirty="0">
                <a:solidFill>
                  <a:srgbClr val="2E377E"/>
                </a:solidFill>
                <a:latin typeface="Georgia"/>
                <a:cs typeface="Georgia"/>
              </a:rPr>
              <a:t> </a:t>
            </a:r>
            <a:r>
              <a:rPr sz="3600" dirty="0">
                <a:solidFill>
                  <a:srgbClr val="2E377E"/>
                </a:solidFill>
                <a:latin typeface="Georgia"/>
                <a:cs typeface="Georgia"/>
              </a:rPr>
              <a:t>Helm</a:t>
            </a:r>
            <a:r>
              <a:rPr sz="3600" spc="-65" dirty="0">
                <a:solidFill>
                  <a:srgbClr val="2E377E"/>
                </a:solidFill>
                <a:latin typeface="Georgia"/>
                <a:cs typeface="Georgia"/>
              </a:rPr>
              <a:t> </a:t>
            </a:r>
            <a:r>
              <a:rPr sz="3600" spc="-85" dirty="0">
                <a:solidFill>
                  <a:srgbClr val="2E377E"/>
                </a:solidFill>
                <a:latin typeface="Georgia"/>
                <a:cs typeface="Georgia"/>
              </a:rPr>
              <a:t>CLI</a:t>
            </a:r>
            <a:r>
              <a:rPr sz="3600" spc="-60" dirty="0">
                <a:solidFill>
                  <a:srgbClr val="2E377E"/>
                </a:solidFill>
                <a:latin typeface="Georgia"/>
                <a:cs typeface="Georgia"/>
              </a:rPr>
              <a:t> </a:t>
            </a:r>
            <a:r>
              <a:rPr sz="3600" dirty="0">
                <a:solidFill>
                  <a:srgbClr val="2E377E"/>
                </a:solidFill>
                <a:latin typeface="Georgia"/>
                <a:cs typeface="Georgia"/>
              </a:rPr>
              <a:t>can</a:t>
            </a:r>
            <a:r>
              <a:rPr sz="3600" spc="-65" dirty="0">
                <a:solidFill>
                  <a:srgbClr val="2E377E"/>
                </a:solidFill>
                <a:latin typeface="Georgia"/>
                <a:cs typeface="Georgia"/>
              </a:rPr>
              <a:t> </a:t>
            </a:r>
            <a:r>
              <a:rPr sz="3600" dirty="0">
                <a:solidFill>
                  <a:srgbClr val="2E377E"/>
                </a:solidFill>
                <a:latin typeface="Georgia"/>
                <a:cs typeface="Georgia"/>
              </a:rPr>
              <a:t>search,</a:t>
            </a:r>
            <a:r>
              <a:rPr sz="3600" spc="-60" dirty="0">
                <a:solidFill>
                  <a:srgbClr val="2E377E"/>
                </a:solidFill>
                <a:latin typeface="Georgia"/>
                <a:cs typeface="Georgia"/>
              </a:rPr>
              <a:t> </a:t>
            </a:r>
            <a:r>
              <a:rPr sz="3600" dirty="0">
                <a:solidFill>
                  <a:srgbClr val="2E377E"/>
                </a:solidFill>
                <a:latin typeface="Georgia"/>
                <a:cs typeface="Georgia"/>
              </a:rPr>
              <a:t>fetch,</a:t>
            </a:r>
            <a:r>
              <a:rPr sz="3600" spc="-65" dirty="0">
                <a:solidFill>
                  <a:srgbClr val="2E377E"/>
                </a:solidFill>
                <a:latin typeface="Georgia"/>
                <a:cs typeface="Georgia"/>
              </a:rPr>
              <a:t> </a:t>
            </a:r>
            <a:r>
              <a:rPr sz="3600" dirty="0">
                <a:solidFill>
                  <a:srgbClr val="2E377E"/>
                </a:solidFill>
                <a:latin typeface="Georgia"/>
                <a:cs typeface="Georgia"/>
              </a:rPr>
              <a:t>and</a:t>
            </a:r>
            <a:r>
              <a:rPr sz="3600" spc="-65" dirty="0">
                <a:solidFill>
                  <a:srgbClr val="2E377E"/>
                </a:solidFill>
                <a:latin typeface="Georgia"/>
                <a:cs typeface="Georgia"/>
              </a:rPr>
              <a:t> </a:t>
            </a:r>
            <a:r>
              <a:rPr sz="3600" dirty="0">
                <a:solidFill>
                  <a:srgbClr val="2E377E"/>
                </a:solidFill>
                <a:latin typeface="Georgia"/>
                <a:cs typeface="Georgia"/>
              </a:rPr>
              <a:t>install</a:t>
            </a:r>
            <a:r>
              <a:rPr sz="3600" spc="-60" dirty="0">
                <a:solidFill>
                  <a:srgbClr val="2E377E"/>
                </a:solidFill>
                <a:latin typeface="Georgia"/>
                <a:cs typeface="Georgia"/>
              </a:rPr>
              <a:t> </a:t>
            </a:r>
            <a:r>
              <a:rPr sz="3600" dirty="0">
                <a:solidFill>
                  <a:srgbClr val="2E377E"/>
                </a:solidFill>
                <a:latin typeface="Georgia"/>
                <a:cs typeface="Georgia"/>
              </a:rPr>
              <a:t>charts</a:t>
            </a:r>
            <a:r>
              <a:rPr sz="3600" spc="-65" dirty="0">
                <a:solidFill>
                  <a:srgbClr val="2E377E"/>
                </a:solidFill>
                <a:latin typeface="Georgia"/>
                <a:cs typeface="Georgia"/>
              </a:rPr>
              <a:t> </a:t>
            </a:r>
            <a:r>
              <a:rPr sz="3600" spc="-20" dirty="0">
                <a:solidFill>
                  <a:srgbClr val="2E377E"/>
                </a:solidFill>
                <a:latin typeface="Georgia"/>
                <a:cs typeface="Georgia"/>
              </a:rPr>
              <a:t>from </a:t>
            </a:r>
            <a:r>
              <a:rPr sz="3600" dirty="0">
                <a:solidFill>
                  <a:srgbClr val="2E377E"/>
                </a:solidFill>
                <a:latin typeface="Georgia"/>
                <a:cs typeface="Georgia"/>
              </a:rPr>
              <a:t>these</a:t>
            </a:r>
            <a:r>
              <a:rPr sz="3600" spc="30" dirty="0">
                <a:solidFill>
                  <a:srgbClr val="2E377E"/>
                </a:solidFill>
                <a:latin typeface="Georgia"/>
                <a:cs typeface="Georgia"/>
              </a:rPr>
              <a:t> </a:t>
            </a:r>
            <a:r>
              <a:rPr sz="3600" dirty="0">
                <a:solidFill>
                  <a:srgbClr val="2E377E"/>
                </a:solidFill>
                <a:latin typeface="Georgia"/>
                <a:cs typeface="Georgia"/>
              </a:rPr>
              <a:t>repositories.</a:t>
            </a:r>
            <a:r>
              <a:rPr sz="3600" spc="35" dirty="0">
                <a:solidFill>
                  <a:srgbClr val="2E377E"/>
                </a:solidFill>
                <a:latin typeface="Georgia"/>
                <a:cs typeface="Georgia"/>
              </a:rPr>
              <a:t> </a:t>
            </a:r>
            <a:r>
              <a:rPr sz="3600" dirty="0">
                <a:solidFill>
                  <a:srgbClr val="2E377E"/>
                </a:solidFill>
                <a:latin typeface="Georgia"/>
                <a:cs typeface="Georgia"/>
              </a:rPr>
              <a:t>You</a:t>
            </a:r>
            <a:r>
              <a:rPr sz="3600" spc="35" dirty="0">
                <a:solidFill>
                  <a:srgbClr val="2E377E"/>
                </a:solidFill>
                <a:latin typeface="Georgia"/>
                <a:cs typeface="Georgia"/>
              </a:rPr>
              <a:t> </a:t>
            </a:r>
            <a:r>
              <a:rPr sz="3600" dirty="0">
                <a:solidFill>
                  <a:srgbClr val="2E377E"/>
                </a:solidFill>
                <a:latin typeface="Georgia"/>
                <a:cs typeface="Georgia"/>
              </a:rPr>
              <a:t>can</a:t>
            </a:r>
            <a:r>
              <a:rPr sz="3600" spc="30" dirty="0">
                <a:solidFill>
                  <a:srgbClr val="2E377E"/>
                </a:solidFill>
                <a:latin typeface="Georgia"/>
                <a:cs typeface="Georgia"/>
              </a:rPr>
              <a:t> </a:t>
            </a:r>
            <a:r>
              <a:rPr sz="3600" dirty="0">
                <a:solidFill>
                  <a:srgbClr val="2E377E"/>
                </a:solidFill>
                <a:latin typeface="Georgia"/>
                <a:cs typeface="Georgia"/>
              </a:rPr>
              <a:t>also</a:t>
            </a:r>
            <a:r>
              <a:rPr sz="3600" spc="35" dirty="0">
                <a:solidFill>
                  <a:srgbClr val="2E377E"/>
                </a:solidFill>
                <a:latin typeface="Georgia"/>
                <a:cs typeface="Georgia"/>
              </a:rPr>
              <a:t> </a:t>
            </a:r>
            <a:r>
              <a:rPr sz="3600" dirty="0">
                <a:solidFill>
                  <a:srgbClr val="2E377E"/>
                </a:solidFill>
                <a:latin typeface="Georgia"/>
                <a:cs typeface="Georgia"/>
              </a:rPr>
              <a:t>create</a:t>
            </a:r>
            <a:r>
              <a:rPr sz="3600" spc="35" dirty="0">
                <a:solidFill>
                  <a:srgbClr val="2E377E"/>
                </a:solidFill>
                <a:latin typeface="Georgia"/>
                <a:cs typeface="Georgia"/>
              </a:rPr>
              <a:t> </a:t>
            </a:r>
            <a:r>
              <a:rPr sz="3600" spc="65" dirty="0">
                <a:solidFill>
                  <a:srgbClr val="2E377E"/>
                </a:solidFill>
                <a:latin typeface="Georgia"/>
                <a:cs typeface="Georgia"/>
              </a:rPr>
              <a:t>your</a:t>
            </a:r>
            <a:r>
              <a:rPr sz="3600" spc="35" dirty="0">
                <a:solidFill>
                  <a:srgbClr val="2E377E"/>
                </a:solidFill>
                <a:latin typeface="Georgia"/>
                <a:cs typeface="Georgia"/>
              </a:rPr>
              <a:t> </a:t>
            </a:r>
            <a:r>
              <a:rPr sz="3600" spc="70" dirty="0">
                <a:solidFill>
                  <a:srgbClr val="2E377E"/>
                </a:solidFill>
                <a:latin typeface="Georgia"/>
                <a:cs typeface="Georgia"/>
              </a:rPr>
              <a:t>own</a:t>
            </a:r>
            <a:r>
              <a:rPr sz="3600" spc="30" dirty="0">
                <a:solidFill>
                  <a:srgbClr val="2E377E"/>
                </a:solidFill>
                <a:latin typeface="Georgia"/>
                <a:cs typeface="Georgia"/>
              </a:rPr>
              <a:t> </a:t>
            </a:r>
            <a:r>
              <a:rPr sz="3600" spc="45" dirty="0">
                <a:solidFill>
                  <a:srgbClr val="2E377E"/>
                </a:solidFill>
                <a:latin typeface="Georgia"/>
                <a:cs typeface="Georgia"/>
              </a:rPr>
              <a:t>private</a:t>
            </a:r>
            <a:r>
              <a:rPr sz="3600" spc="35" dirty="0">
                <a:solidFill>
                  <a:srgbClr val="2E377E"/>
                </a:solidFill>
                <a:latin typeface="Georgia"/>
                <a:cs typeface="Georgia"/>
              </a:rPr>
              <a:t> </a:t>
            </a:r>
            <a:r>
              <a:rPr sz="3600" dirty="0">
                <a:solidFill>
                  <a:srgbClr val="2E377E"/>
                </a:solidFill>
                <a:latin typeface="Georgia"/>
                <a:cs typeface="Georgia"/>
              </a:rPr>
              <a:t>repository</a:t>
            </a:r>
            <a:r>
              <a:rPr sz="3600" spc="35" dirty="0">
                <a:solidFill>
                  <a:srgbClr val="2E377E"/>
                </a:solidFill>
                <a:latin typeface="Georgia"/>
                <a:cs typeface="Georgia"/>
              </a:rPr>
              <a:t> to </a:t>
            </a:r>
            <a:r>
              <a:rPr sz="3600" dirty="0">
                <a:solidFill>
                  <a:srgbClr val="2E377E"/>
                </a:solidFill>
                <a:latin typeface="Georgia"/>
                <a:cs typeface="Georgia"/>
              </a:rPr>
              <a:t>store</a:t>
            </a:r>
            <a:r>
              <a:rPr sz="3600" spc="150" dirty="0">
                <a:solidFill>
                  <a:srgbClr val="2E377E"/>
                </a:solidFill>
                <a:latin typeface="Georgia"/>
                <a:cs typeface="Georgia"/>
              </a:rPr>
              <a:t> </a:t>
            </a:r>
            <a:r>
              <a:rPr sz="3600" dirty="0">
                <a:solidFill>
                  <a:srgbClr val="2E377E"/>
                </a:solidFill>
                <a:latin typeface="Georgia"/>
                <a:cs typeface="Georgia"/>
              </a:rPr>
              <a:t>custom</a:t>
            </a:r>
            <a:r>
              <a:rPr sz="3600" spc="155" dirty="0">
                <a:solidFill>
                  <a:srgbClr val="2E377E"/>
                </a:solidFill>
                <a:latin typeface="Georgia"/>
                <a:cs typeface="Georgia"/>
              </a:rPr>
              <a:t> </a:t>
            </a:r>
            <a:r>
              <a:rPr sz="3600" spc="-10" dirty="0">
                <a:solidFill>
                  <a:srgbClr val="2E377E"/>
                </a:solidFill>
                <a:latin typeface="Georgia"/>
                <a:cs typeface="Georgia"/>
              </a:rPr>
              <a:t>charts.</a:t>
            </a:r>
            <a:endParaRPr sz="3600">
              <a:latin typeface="Georgia"/>
              <a:cs typeface="Georgia"/>
            </a:endParaRPr>
          </a:p>
        </p:txBody>
      </p:sp>
      <p:pic>
        <p:nvPicPr>
          <p:cNvPr id="4" name="object 4"/>
          <p:cNvPicPr/>
          <p:nvPr/>
        </p:nvPicPr>
        <p:blipFill>
          <a:blip r:embed="rId2" cstate="print"/>
          <a:stretch>
            <a:fillRect/>
          </a:stretch>
        </p:blipFill>
        <p:spPr>
          <a:xfrm>
            <a:off x="1476374" y="4441468"/>
            <a:ext cx="133350" cy="133349"/>
          </a:xfrm>
          <a:prstGeom prst="rect">
            <a:avLst/>
          </a:prstGeom>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70149" rIns="0" bIns="0" rtlCol="0">
            <a:spAutoFit/>
          </a:bodyPr>
          <a:lstStyle/>
          <a:p>
            <a:pPr marL="219075">
              <a:lnSpc>
                <a:spcPct val="100000"/>
              </a:lnSpc>
              <a:spcBef>
                <a:spcPts val="100"/>
              </a:spcBef>
            </a:pPr>
            <a:r>
              <a:rPr spc="145" dirty="0"/>
              <a:t>Advatnages</a:t>
            </a:r>
            <a:r>
              <a:rPr spc="-35" dirty="0"/>
              <a:t> </a:t>
            </a:r>
            <a:r>
              <a:rPr spc="145" dirty="0"/>
              <a:t>of</a:t>
            </a:r>
            <a:r>
              <a:rPr spc="-30" dirty="0"/>
              <a:t> </a:t>
            </a:r>
            <a:r>
              <a:rPr spc="-350" dirty="0"/>
              <a:t>HEML:</a:t>
            </a:r>
          </a:p>
        </p:txBody>
      </p:sp>
      <p:pic>
        <p:nvPicPr>
          <p:cNvPr id="3" name="object 3"/>
          <p:cNvPicPr/>
          <p:nvPr/>
        </p:nvPicPr>
        <p:blipFill>
          <a:blip r:embed="rId2" cstate="print"/>
          <a:stretch>
            <a:fillRect/>
          </a:stretch>
        </p:blipFill>
        <p:spPr>
          <a:xfrm>
            <a:off x="1252291" y="6778287"/>
            <a:ext cx="133350" cy="133349"/>
          </a:xfrm>
          <a:prstGeom prst="rect">
            <a:avLst/>
          </a:prstGeom>
        </p:spPr>
      </p:pic>
      <p:pic>
        <p:nvPicPr>
          <p:cNvPr id="4" name="object 4"/>
          <p:cNvPicPr/>
          <p:nvPr/>
        </p:nvPicPr>
        <p:blipFill>
          <a:blip r:embed="rId2" cstate="print"/>
          <a:stretch>
            <a:fillRect/>
          </a:stretch>
        </p:blipFill>
        <p:spPr>
          <a:xfrm>
            <a:off x="1252291" y="8054637"/>
            <a:ext cx="133350" cy="133349"/>
          </a:xfrm>
          <a:prstGeom prst="rect">
            <a:avLst/>
          </a:prstGeom>
        </p:spPr>
      </p:pic>
      <p:pic>
        <p:nvPicPr>
          <p:cNvPr id="5" name="object 5"/>
          <p:cNvPicPr/>
          <p:nvPr/>
        </p:nvPicPr>
        <p:blipFill>
          <a:blip r:embed="rId2" cstate="print"/>
          <a:stretch>
            <a:fillRect/>
          </a:stretch>
        </p:blipFill>
        <p:spPr>
          <a:xfrm>
            <a:off x="1252291" y="8692812"/>
            <a:ext cx="133350" cy="133349"/>
          </a:xfrm>
          <a:prstGeom prst="rect">
            <a:avLst/>
          </a:prstGeom>
        </p:spPr>
      </p:pic>
      <p:pic>
        <p:nvPicPr>
          <p:cNvPr id="6" name="object 6"/>
          <p:cNvPicPr/>
          <p:nvPr/>
        </p:nvPicPr>
        <p:blipFill>
          <a:blip r:embed="rId2" cstate="print"/>
          <a:stretch>
            <a:fillRect/>
          </a:stretch>
        </p:blipFill>
        <p:spPr>
          <a:xfrm>
            <a:off x="1252291" y="9330987"/>
            <a:ext cx="133350" cy="133349"/>
          </a:xfrm>
          <a:prstGeom prst="rect">
            <a:avLst/>
          </a:prstGeom>
        </p:spPr>
      </p:pic>
      <p:sp>
        <p:nvSpPr>
          <p:cNvPr id="7" name="object 7"/>
          <p:cNvSpPr txBox="1"/>
          <p:nvPr/>
        </p:nvSpPr>
        <p:spPr>
          <a:xfrm>
            <a:off x="791917" y="1597730"/>
            <a:ext cx="15651480" cy="8037830"/>
          </a:xfrm>
          <a:prstGeom prst="rect">
            <a:avLst/>
          </a:prstGeom>
        </p:spPr>
        <p:txBody>
          <a:bodyPr vert="horz" wrap="square" lIns="0" tIns="102235" rIns="0" bIns="0" rtlCol="0">
            <a:spAutoFit/>
          </a:bodyPr>
          <a:lstStyle/>
          <a:p>
            <a:pPr marL="12700">
              <a:lnSpc>
                <a:spcPct val="100000"/>
              </a:lnSpc>
              <a:spcBef>
                <a:spcPts val="805"/>
              </a:spcBef>
            </a:pPr>
            <a:r>
              <a:rPr sz="3600" dirty="0">
                <a:solidFill>
                  <a:srgbClr val="2E377E"/>
                </a:solidFill>
                <a:latin typeface="Georgia"/>
                <a:cs typeface="Georgia"/>
              </a:rPr>
              <a:t>It</a:t>
            </a:r>
            <a:r>
              <a:rPr sz="3600" spc="-40" dirty="0">
                <a:solidFill>
                  <a:srgbClr val="2E377E"/>
                </a:solidFill>
                <a:latin typeface="Georgia"/>
                <a:cs typeface="Georgia"/>
              </a:rPr>
              <a:t> </a:t>
            </a:r>
            <a:r>
              <a:rPr sz="3600" dirty="0">
                <a:solidFill>
                  <a:srgbClr val="2E377E"/>
                </a:solidFill>
                <a:latin typeface="Georgia"/>
                <a:cs typeface="Georgia"/>
              </a:rPr>
              <a:t>will</a:t>
            </a:r>
            <a:r>
              <a:rPr sz="3600" spc="-35" dirty="0">
                <a:solidFill>
                  <a:srgbClr val="2E377E"/>
                </a:solidFill>
                <a:latin typeface="Georgia"/>
                <a:cs typeface="Georgia"/>
              </a:rPr>
              <a:t> </a:t>
            </a:r>
            <a:r>
              <a:rPr sz="3600" spc="50" dirty="0">
                <a:solidFill>
                  <a:srgbClr val="2E377E"/>
                </a:solidFill>
                <a:latin typeface="Georgia"/>
                <a:cs typeface="Georgia"/>
              </a:rPr>
              <a:t>save</a:t>
            </a:r>
            <a:r>
              <a:rPr sz="3600" spc="-35" dirty="0">
                <a:solidFill>
                  <a:srgbClr val="2E377E"/>
                </a:solidFill>
                <a:latin typeface="Georgia"/>
                <a:cs typeface="Georgia"/>
              </a:rPr>
              <a:t> </a:t>
            </a:r>
            <a:r>
              <a:rPr sz="3600" spc="50" dirty="0">
                <a:solidFill>
                  <a:srgbClr val="2E377E"/>
                </a:solidFill>
                <a:latin typeface="Georgia"/>
                <a:cs typeface="Georgia"/>
              </a:rPr>
              <a:t>the</a:t>
            </a:r>
            <a:r>
              <a:rPr sz="3600" spc="-35" dirty="0">
                <a:solidFill>
                  <a:srgbClr val="2E377E"/>
                </a:solidFill>
                <a:latin typeface="Georgia"/>
                <a:cs typeface="Georgia"/>
              </a:rPr>
              <a:t> </a:t>
            </a:r>
            <a:r>
              <a:rPr sz="3600" spc="-20" dirty="0">
                <a:solidFill>
                  <a:srgbClr val="2E377E"/>
                </a:solidFill>
                <a:latin typeface="Georgia"/>
                <a:cs typeface="Georgia"/>
              </a:rPr>
              <a:t>time</a:t>
            </a:r>
            <a:endParaRPr sz="3600">
              <a:latin typeface="Georgia"/>
              <a:cs typeface="Georgia"/>
            </a:endParaRPr>
          </a:p>
          <a:p>
            <a:pPr marL="12700" marR="6141720">
              <a:lnSpc>
                <a:spcPct val="116300"/>
              </a:lnSpc>
            </a:pPr>
            <a:r>
              <a:rPr sz="3600" dirty="0">
                <a:solidFill>
                  <a:srgbClr val="2E377E"/>
                </a:solidFill>
                <a:latin typeface="Georgia"/>
                <a:cs typeface="Georgia"/>
              </a:rPr>
              <a:t>Helps</a:t>
            </a:r>
            <a:r>
              <a:rPr sz="3600" spc="-25" dirty="0">
                <a:solidFill>
                  <a:srgbClr val="2E377E"/>
                </a:solidFill>
                <a:latin typeface="Georgia"/>
                <a:cs typeface="Georgia"/>
              </a:rPr>
              <a:t> </a:t>
            </a:r>
            <a:r>
              <a:rPr sz="3600" spc="60" dirty="0">
                <a:solidFill>
                  <a:srgbClr val="2E377E"/>
                </a:solidFill>
                <a:latin typeface="Georgia"/>
                <a:cs typeface="Georgia"/>
              </a:rPr>
              <a:t>to</a:t>
            </a:r>
            <a:r>
              <a:rPr sz="3600" spc="-25" dirty="0">
                <a:solidFill>
                  <a:srgbClr val="2E377E"/>
                </a:solidFill>
                <a:latin typeface="Georgia"/>
                <a:cs typeface="Georgia"/>
              </a:rPr>
              <a:t> </a:t>
            </a:r>
            <a:r>
              <a:rPr sz="3600" dirty="0">
                <a:solidFill>
                  <a:srgbClr val="2E377E"/>
                </a:solidFill>
                <a:latin typeface="Georgia"/>
                <a:cs typeface="Georgia"/>
              </a:rPr>
              <a:t>automate</a:t>
            </a:r>
            <a:r>
              <a:rPr sz="3600" spc="-25" dirty="0">
                <a:solidFill>
                  <a:srgbClr val="2E377E"/>
                </a:solidFill>
                <a:latin typeface="Georgia"/>
                <a:cs typeface="Georgia"/>
              </a:rPr>
              <a:t> </a:t>
            </a:r>
            <a:r>
              <a:rPr sz="3600" spc="50" dirty="0">
                <a:solidFill>
                  <a:srgbClr val="2E377E"/>
                </a:solidFill>
                <a:latin typeface="Georgia"/>
                <a:cs typeface="Georgia"/>
              </a:rPr>
              <a:t>the</a:t>
            </a:r>
            <a:r>
              <a:rPr sz="3600" spc="-25" dirty="0">
                <a:solidFill>
                  <a:srgbClr val="2E377E"/>
                </a:solidFill>
                <a:latin typeface="Georgia"/>
                <a:cs typeface="Georgia"/>
              </a:rPr>
              <a:t> </a:t>
            </a:r>
            <a:r>
              <a:rPr sz="3600" dirty="0">
                <a:solidFill>
                  <a:srgbClr val="2E377E"/>
                </a:solidFill>
                <a:latin typeface="Georgia"/>
                <a:cs typeface="Georgia"/>
              </a:rPr>
              <a:t>application</a:t>
            </a:r>
            <a:r>
              <a:rPr sz="3600" spc="-20" dirty="0">
                <a:solidFill>
                  <a:srgbClr val="2E377E"/>
                </a:solidFill>
                <a:latin typeface="Georgia"/>
                <a:cs typeface="Georgia"/>
              </a:rPr>
              <a:t> </a:t>
            </a:r>
            <a:r>
              <a:rPr sz="3600" spc="-10" dirty="0">
                <a:solidFill>
                  <a:srgbClr val="2E377E"/>
                </a:solidFill>
                <a:latin typeface="Georgia"/>
                <a:cs typeface="Georgia"/>
              </a:rPr>
              <a:t>deployment </a:t>
            </a:r>
            <a:r>
              <a:rPr sz="3600" dirty="0">
                <a:solidFill>
                  <a:srgbClr val="2E377E"/>
                </a:solidFill>
                <a:latin typeface="Georgia"/>
                <a:cs typeface="Georgia"/>
              </a:rPr>
              <a:t>Better</a:t>
            </a:r>
            <a:r>
              <a:rPr sz="3600" spc="145" dirty="0">
                <a:solidFill>
                  <a:srgbClr val="2E377E"/>
                </a:solidFill>
                <a:latin typeface="Georgia"/>
                <a:cs typeface="Georgia"/>
              </a:rPr>
              <a:t> </a:t>
            </a:r>
            <a:r>
              <a:rPr sz="3600" spc="-10" dirty="0">
                <a:solidFill>
                  <a:srgbClr val="2E377E"/>
                </a:solidFill>
                <a:latin typeface="Georgia"/>
                <a:cs typeface="Georgia"/>
              </a:rPr>
              <a:t>scalability</a:t>
            </a:r>
            <a:endParaRPr sz="3600">
              <a:latin typeface="Georgia"/>
              <a:cs typeface="Georgia"/>
            </a:endParaRPr>
          </a:p>
          <a:p>
            <a:pPr marL="12700" marR="8667750">
              <a:lnSpc>
                <a:spcPct val="116300"/>
              </a:lnSpc>
            </a:pPr>
            <a:r>
              <a:rPr sz="3600" dirty="0">
                <a:solidFill>
                  <a:srgbClr val="2E377E"/>
                </a:solidFill>
                <a:latin typeface="Georgia"/>
                <a:cs typeface="Georgia"/>
              </a:rPr>
              <a:t>Perform</a:t>
            </a:r>
            <a:r>
              <a:rPr sz="3600" spc="25" dirty="0">
                <a:solidFill>
                  <a:srgbClr val="2E377E"/>
                </a:solidFill>
                <a:latin typeface="Georgia"/>
                <a:cs typeface="Georgia"/>
              </a:rPr>
              <a:t> </a:t>
            </a:r>
            <a:r>
              <a:rPr sz="3600" dirty="0">
                <a:solidFill>
                  <a:srgbClr val="2E377E"/>
                </a:solidFill>
                <a:latin typeface="Georgia"/>
                <a:cs typeface="Georgia"/>
              </a:rPr>
              <a:t>rollback</a:t>
            </a:r>
            <a:r>
              <a:rPr sz="3600" spc="25" dirty="0">
                <a:solidFill>
                  <a:srgbClr val="2E377E"/>
                </a:solidFill>
                <a:latin typeface="Georgia"/>
                <a:cs typeface="Georgia"/>
              </a:rPr>
              <a:t> </a:t>
            </a:r>
            <a:r>
              <a:rPr sz="3600" dirty="0">
                <a:solidFill>
                  <a:srgbClr val="2E377E"/>
                </a:solidFill>
                <a:latin typeface="Georgia"/>
                <a:cs typeface="Georgia"/>
              </a:rPr>
              <a:t>at</a:t>
            </a:r>
            <a:r>
              <a:rPr sz="3600" spc="25" dirty="0">
                <a:solidFill>
                  <a:srgbClr val="2E377E"/>
                </a:solidFill>
                <a:latin typeface="Georgia"/>
                <a:cs typeface="Georgia"/>
              </a:rPr>
              <a:t> </a:t>
            </a:r>
            <a:r>
              <a:rPr sz="3600" spc="35" dirty="0">
                <a:solidFill>
                  <a:srgbClr val="2E377E"/>
                </a:solidFill>
                <a:latin typeface="Georgia"/>
                <a:cs typeface="Georgia"/>
              </a:rPr>
              <a:t>anytime </a:t>
            </a:r>
            <a:r>
              <a:rPr sz="3600" dirty="0">
                <a:solidFill>
                  <a:srgbClr val="2E377E"/>
                </a:solidFill>
                <a:latin typeface="Georgia"/>
                <a:cs typeface="Georgia"/>
              </a:rPr>
              <a:t>Increase</a:t>
            </a:r>
            <a:r>
              <a:rPr sz="3600" spc="-15" dirty="0">
                <a:solidFill>
                  <a:srgbClr val="2E377E"/>
                </a:solidFill>
                <a:latin typeface="Georgia"/>
                <a:cs typeface="Georgia"/>
              </a:rPr>
              <a:t> </a:t>
            </a:r>
            <a:r>
              <a:rPr sz="3600" spc="50" dirty="0">
                <a:solidFill>
                  <a:srgbClr val="2E377E"/>
                </a:solidFill>
                <a:latin typeface="Georgia"/>
                <a:cs typeface="Georgia"/>
              </a:rPr>
              <a:t>the</a:t>
            </a:r>
            <a:r>
              <a:rPr sz="3600" spc="-15" dirty="0">
                <a:solidFill>
                  <a:srgbClr val="2E377E"/>
                </a:solidFill>
                <a:latin typeface="Georgia"/>
                <a:cs typeface="Georgia"/>
              </a:rPr>
              <a:t> </a:t>
            </a:r>
            <a:r>
              <a:rPr sz="3600" dirty="0">
                <a:solidFill>
                  <a:srgbClr val="2E377E"/>
                </a:solidFill>
                <a:latin typeface="Georgia"/>
                <a:cs typeface="Georgia"/>
              </a:rPr>
              <a:t>speed</a:t>
            </a:r>
            <a:r>
              <a:rPr sz="3600" spc="-10" dirty="0">
                <a:solidFill>
                  <a:srgbClr val="2E377E"/>
                </a:solidFill>
                <a:latin typeface="Georgia"/>
                <a:cs typeface="Georgia"/>
              </a:rPr>
              <a:t> </a:t>
            </a:r>
            <a:r>
              <a:rPr sz="3600" dirty="0">
                <a:solidFill>
                  <a:srgbClr val="2E377E"/>
                </a:solidFill>
                <a:latin typeface="Georgia"/>
                <a:cs typeface="Georgia"/>
              </a:rPr>
              <a:t>of</a:t>
            </a:r>
            <a:r>
              <a:rPr sz="3600" spc="-15" dirty="0">
                <a:solidFill>
                  <a:srgbClr val="2E377E"/>
                </a:solidFill>
                <a:latin typeface="Georgia"/>
                <a:cs typeface="Georgia"/>
              </a:rPr>
              <a:t> </a:t>
            </a:r>
            <a:r>
              <a:rPr sz="3600" spc="-10" dirty="0">
                <a:solidFill>
                  <a:srgbClr val="2E377E"/>
                </a:solidFill>
                <a:latin typeface="Georgia"/>
                <a:cs typeface="Georgia"/>
              </a:rPr>
              <a:t>deployment.</a:t>
            </a:r>
            <a:endParaRPr sz="3600">
              <a:latin typeface="Georgia"/>
              <a:cs typeface="Georgia"/>
            </a:endParaRPr>
          </a:p>
          <a:p>
            <a:pPr>
              <a:lnSpc>
                <a:spcPct val="100000"/>
              </a:lnSpc>
              <a:spcBef>
                <a:spcPts val="1645"/>
              </a:spcBef>
            </a:pPr>
            <a:endParaRPr sz="3600">
              <a:latin typeface="Georgia"/>
              <a:cs typeface="Georgia"/>
            </a:endParaRPr>
          </a:p>
          <a:p>
            <a:pPr marL="12700">
              <a:lnSpc>
                <a:spcPct val="100000"/>
              </a:lnSpc>
            </a:pPr>
            <a:r>
              <a:rPr sz="5000" b="1" spc="100" dirty="0">
                <a:solidFill>
                  <a:srgbClr val="E7181F"/>
                </a:solidFill>
                <a:latin typeface="Times New Roman"/>
                <a:cs typeface="Times New Roman"/>
              </a:rPr>
              <a:t>Install</a:t>
            </a:r>
            <a:r>
              <a:rPr sz="5000" b="1" spc="-25" dirty="0">
                <a:solidFill>
                  <a:srgbClr val="E7181F"/>
                </a:solidFill>
                <a:latin typeface="Times New Roman"/>
                <a:cs typeface="Times New Roman"/>
              </a:rPr>
              <a:t> </a:t>
            </a:r>
            <a:r>
              <a:rPr sz="5000" b="1" spc="-350" dirty="0">
                <a:solidFill>
                  <a:srgbClr val="E7181F"/>
                </a:solidFill>
                <a:latin typeface="Times New Roman"/>
                <a:cs typeface="Times New Roman"/>
              </a:rPr>
              <a:t>HEML:</a:t>
            </a:r>
            <a:endParaRPr sz="5000">
              <a:latin typeface="Times New Roman"/>
              <a:cs typeface="Times New Roman"/>
            </a:endParaRPr>
          </a:p>
          <a:p>
            <a:pPr marL="789305" marR="5080">
              <a:lnSpc>
                <a:spcPct val="116300"/>
              </a:lnSpc>
              <a:spcBef>
                <a:spcPts val="1100"/>
              </a:spcBef>
            </a:pPr>
            <a:r>
              <a:rPr sz="3600" dirty="0">
                <a:solidFill>
                  <a:srgbClr val="2E377E"/>
                </a:solidFill>
                <a:latin typeface="Georgia"/>
                <a:cs typeface="Georgia"/>
              </a:rPr>
              <a:t>curl</a:t>
            </a:r>
            <a:r>
              <a:rPr sz="3600" spc="-65" dirty="0">
                <a:solidFill>
                  <a:srgbClr val="2E377E"/>
                </a:solidFill>
                <a:latin typeface="Georgia"/>
                <a:cs typeface="Georgia"/>
              </a:rPr>
              <a:t> </a:t>
            </a:r>
            <a:r>
              <a:rPr sz="3600" dirty="0">
                <a:solidFill>
                  <a:srgbClr val="2E377E"/>
                </a:solidFill>
                <a:latin typeface="Georgia"/>
                <a:cs typeface="Georgia"/>
              </a:rPr>
              <a:t>-</a:t>
            </a:r>
            <a:r>
              <a:rPr sz="3600" spc="-20" dirty="0">
                <a:solidFill>
                  <a:srgbClr val="2E377E"/>
                </a:solidFill>
                <a:latin typeface="Georgia"/>
                <a:cs typeface="Georgia"/>
              </a:rPr>
              <a:t>fsSL</a:t>
            </a:r>
            <a:r>
              <a:rPr sz="3600" spc="-60" dirty="0">
                <a:solidFill>
                  <a:srgbClr val="2E377E"/>
                </a:solidFill>
                <a:latin typeface="Georgia"/>
                <a:cs typeface="Georgia"/>
              </a:rPr>
              <a:t> </a:t>
            </a:r>
            <a:r>
              <a:rPr sz="3600" dirty="0">
                <a:solidFill>
                  <a:srgbClr val="2E377E"/>
                </a:solidFill>
                <a:latin typeface="Georgia"/>
                <a:cs typeface="Georgia"/>
              </a:rPr>
              <a:t>-o</a:t>
            </a:r>
            <a:r>
              <a:rPr sz="3600" spc="-65" dirty="0">
                <a:solidFill>
                  <a:srgbClr val="2E377E"/>
                </a:solidFill>
                <a:latin typeface="Georgia"/>
                <a:cs typeface="Georgia"/>
              </a:rPr>
              <a:t> </a:t>
            </a:r>
            <a:r>
              <a:rPr sz="3600" spc="-10" dirty="0">
                <a:solidFill>
                  <a:srgbClr val="2E377E"/>
                </a:solidFill>
                <a:latin typeface="Georgia"/>
                <a:cs typeface="Georgia"/>
              </a:rPr>
              <a:t>get_helm.sh </a:t>
            </a:r>
            <a:r>
              <a:rPr sz="3600" spc="-25" dirty="0">
                <a:solidFill>
                  <a:srgbClr val="2E377E"/>
                </a:solidFill>
                <a:latin typeface="Georgia"/>
                <a:cs typeface="Georgia"/>
              </a:rPr>
              <a:t>https://raw.githubusercontent.com/helm/helm/main/scripts/get-</a:t>
            </a:r>
            <a:r>
              <a:rPr sz="3600" dirty="0">
                <a:solidFill>
                  <a:srgbClr val="2E377E"/>
                </a:solidFill>
                <a:latin typeface="Georgia"/>
                <a:cs typeface="Georgia"/>
              </a:rPr>
              <a:t>helm-</a:t>
            </a:r>
            <a:r>
              <a:rPr sz="3600" spc="-50" dirty="0">
                <a:solidFill>
                  <a:srgbClr val="2E377E"/>
                </a:solidFill>
                <a:latin typeface="Georgia"/>
                <a:cs typeface="Georgia"/>
              </a:rPr>
              <a:t>3 </a:t>
            </a:r>
            <a:r>
              <a:rPr sz="3600" dirty="0">
                <a:solidFill>
                  <a:srgbClr val="2E377E"/>
                </a:solidFill>
                <a:latin typeface="Georgia"/>
                <a:cs typeface="Georgia"/>
              </a:rPr>
              <a:t>chmod</a:t>
            </a:r>
            <a:r>
              <a:rPr sz="3600" spc="-40" dirty="0">
                <a:solidFill>
                  <a:srgbClr val="2E377E"/>
                </a:solidFill>
                <a:latin typeface="Georgia"/>
                <a:cs typeface="Georgia"/>
              </a:rPr>
              <a:t> </a:t>
            </a:r>
            <a:r>
              <a:rPr sz="3600" spc="-190" dirty="0">
                <a:solidFill>
                  <a:srgbClr val="2E377E"/>
                </a:solidFill>
                <a:latin typeface="Georgia"/>
                <a:cs typeface="Georgia"/>
              </a:rPr>
              <a:t>700</a:t>
            </a:r>
            <a:r>
              <a:rPr sz="3600" spc="-35" dirty="0">
                <a:solidFill>
                  <a:srgbClr val="2E377E"/>
                </a:solidFill>
                <a:latin typeface="Georgia"/>
                <a:cs typeface="Georgia"/>
              </a:rPr>
              <a:t> </a:t>
            </a:r>
            <a:r>
              <a:rPr sz="3600" spc="-10" dirty="0">
                <a:solidFill>
                  <a:srgbClr val="2E377E"/>
                </a:solidFill>
                <a:latin typeface="Georgia"/>
                <a:cs typeface="Georgia"/>
              </a:rPr>
              <a:t>get_helm.sh</a:t>
            </a:r>
            <a:endParaRPr sz="3600">
              <a:latin typeface="Georgia"/>
              <a:cs typeface="Georgia"/>
            </a:endParaRPr>
          </a:p>
          <a:p>
            <a:pPr marL="789305" marR="12028170">
              <a:lnSpc>
                <a:spcPct val="116300"/>
              </a:lnSpc>
              <a:spcBef>
                <a:spcPts val="5"/>
              </a:spcBef>
            </a:pPr>
            <a:r>
              <a:rPr sz="3600" spc="-25" dirty="0">
                <a:solidFill>
                  <a:srgbClr val="2E377E"/>
                </a:solidFill>
                <a:latin typeface="Georgia"/>
                <a:cs typeface="Georgia"/>
              </a:rPr>
              <a:t>./get_helm.sh </a:t>
            </a:r>
            <a:r>
              <a:rPr sz="3600" dirty="0">
                <a:solidFill>
                  <a:srgbClr val="2E377E"/>
                </a:solidFill>
                <a:latin typeface="Georgia"/>
                <a:cs typeface="Georgia"/>
              </a:rPr>
              <a:t>helm</a:t>
            </a:r>
            <a:r>
              <a:rPr sz="3600" spc="-35" dirty="0">
                <a:solidFill>
                  <a:srgbClr val="2E377E"/>
                </a:solidFill>
                <a:latin typeface="Georgia"/>
                <a:cs typeface="Georgia"/>
              </a:rPr>
              <a:t> </a:t>
            </a:r>
            <a:r>
              <a:rPr sz="3600" spc="-10" dirty="0">
                <a:solidFill>
                  <a:srgbClr val="2E377E"/>
                </a:solidFill>
                <a:latin typeface="Georgia"/>
                <a:cs typeface="Georgia"/>
              </a:rPr>
              <a:t>version</a:t>
            </a:r>
            <a:endParaRPr sz="3600">
              <a:latin typeface="Georgia"/>
              <a:cs typeface="Georgia"/>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70149" rIns="0" bIns="0" rtlCol="0">
            <a:spAutoFit/>
          </a:bodyPr>
          <a:lstStyle/>
          <a:p>
            <a:pPr marL="232410">
              <a:lnSpc>
                <a:spcPct val="100000"/>
              </a:lnSpc>
              <a:spcBef>
                <a:spcPts val="100"/>
              </a:spcBef>
            </a:pPr>
            <a:r>
              <a:rPr spc="-310" dirty="0"/>
              <a:t>HELM</a:t>
            </a:r>
            <a:r>
              <a:rPr spc="-40" dirty="0"/>
              <a:t> </a:t>
            </a:r>
            <a:r>
              <a:rPr spc="250" dirty="0"/>
              <a:t>commands:</a:t>
            </a:r>
          </a:p>
        </p:txBody>
      </p:sp>
      <p:pic>
        <p:nvPicPr>
          <p:cNvPr id="3" name="object 3"/>
          <p:cNvPicPr/>
          <p:nvPr/>
        </p:nvPicPr>
        <p:blipFill>
          <a:blip r:embed="rId2" cstate="print"/>
          <a:stretch>
            <a:fillRect/>
          </a:stretch>
        </p:blipFill>
        <p:spPr>
          <a:xfrm>
            <a:off x="1476374" y="2349687"/>
            <a:ext cx="133350" cy="133349"/>
          </a:xfrm>
          <a:prstGeom prst="rect">
            <a:avLst/>
          </a:prstGeom>
        </p:spPr>
      </p:pic>
      <p:sp>
        <p:nvSpPr>
          <p:cNvPr id="4" name="object 4"/>
          <p:cNvSpPr txBox="1"/>
          <p:nvPr/>
        </p:nvSpPr>
        <p:spPr>
          <a:xfrm>
            <a:off x="1793180" y="1990277"/>
            <a:ext cx="14126844" cy="2578100"/>
          </a:xfrm>
          <a:prstGeom prst="rect">
            <a:avLst/>
          </a:prstGeom>
        </p:spPr>
        <p:txBody>
          <a:bodyPr vert="horz" wrap="square" lIns="0" tIns="102235" rIns="0" bIns="0" rtlCol="0">
            <a:spAutoFit/>
          </a:bodyPr>
          <a:lstStyle/>
          <a:p>
            <a:pPr marL="12700">
              <a:lnSpc>
                <a:spcPct val="100000"/>
              </a:lnSpc>
              <a:spcBef>
                <a:spcPts val="805"/>
              </a:spcBef>
              <a:tabLst>
                <a:tab pos="4431665" algn="l"/>
              </a:tabLst>
            </a:pPr>
            <a:r>
              <a:rPr sz="3600" dirty="0">
                <a:solidFill>
                  <a:srgbClr val="2E377E"/>
                </a:solidFill>
                <a:latin typeface="Georgia"/>
                <a:cs typeface="Georgia"/>
              </a:rPr>
              <a:t>To</a:t>
            </a:r>
            <a:r>
              <a:rPr sz="3600" spc="-75" dirty="0">
                <a:solidFill>
                  <a:srgbClr val="2E377E"/>
                </a:solidFill>
                <a:latin typeface="Georgia"/>
                <a:cs typeface="Georgia"/>
              </a:rPr>
              <a:t> </a:t>
            </a:r>
            <a:r>
              <a:rPr sz="3600" dirty="0">
                <a:solidFill>
                  <a:srgbClr val="2E377E"/>
                </a:solidFill>
                <a:latin typeface="Georgia"/>
                <a:cs typeface="Georgia"/>
              </a:rPr>
              <a:t>list</a:t>
            </a:r>
            <a:r>
              <a:rPr sz="3600" spc="-75" dirty="0">
                <a:solidFill>
                  <a:srgbClr val="2E377E"/>
                </a:solidFill>
                <a:latin typeface="Georgia"/>
                <a:cs typeface="Georgia"/>
              </a:rPr>
              <a:t> </a:t>
            </a:r>
            <a:r>
              <a:rPr sz="3600" dirty="0">
                <a:solidFill>
                  <a:srgbClr val="2E377E"/>
                </a:solidFill>
                <a:latin typeface="Georgia"/>
                <a:cs typeface="Georgia"/>
              </a:rPr>
              <a:t>all</a:t>
            </a:r>
            <a:r>
              <a:rPr sz="3600" spc="-75" dirty="0">
                <a:solidFill>
                  <a:srgbClr val="2E377E"/>
                </a:solidFill>
                <a:latin typeface="Georgia"/>
                <a:cs typeface="Georgia"/>
              </a:rPr>
              <a:t> </a:t>
            </a:r>
            <a:r>
              <a:rPr sz="3600" dirty="0">
                <a:solidFill>
                  <a:srgbClr val="2E377E"/>
                </a:solidFill>
                <a:latin typeface="Georgia"/>
                <a:cs typeface="Georgia"/>
              </a:rPr>
              <a:t>helm</a:t>
            </a:r>
            <a:r>
              <a:rPr sz="3600" spc="-70" dirty="0">
                <a:solidFill>
                  <a:srgbClr val="2E377E"/>
                </a:solidFill>
                <a:latin typeface="Georgia"/>
                <a:cs typeface="Georgia"/>
              </a:rPr>
              <a:t> </a:t>
            </a:r>
            <a:r>
              <a:rPr sz="3600" spc="-10" dirty="0">
                <a:solidFill>
                  <a:srgbClr val="2E377E"/>
                </a:solidFill>
                <a:latin typeface="Georgia"/>
                <a:cs typeface="Georgia"/>
              </a:rPr>
              <a:t>repos</a:t>
            </a:r>
            <a:r>
              <a:rPr sz="3600" dirty="0">
                <a:solidFill>
                  <a:srgbClr val="2E377E"/>
                </a:solidFill>
                <a:latin typeface="Georgia"/>
                <a:cs typeface="Georgia"/>
              </a:rPr>
              <a:t>	</a:t>
            </a:r>
            <a:r>
              <a:rPr sz="3600" spc="-245" dirty="0">
                <a:solidFill>
                  <a:srgbClr val="2E377E"/>
                </a:solidFill>
                <a:latin typeface="Georgia"/>
                <a:cs typeface="Georgia"/>
              </a:rPr>
              <a:t>:</a:t>
            </a:r>
            <a:r>
              <a:rPr sz="3600" spc="-35" dirty="0">
                <a:solidFill>
                  <a:srgbClr val="2E377E"/>
                </a:solidFill>
                <a:latin typeface="Georgia"/>
                <a:cs typeface="Georgia"/>
              </a:rPr>
              <a:t> </a:t>
            </a:r>
            <a:r>
              <a:rPr sz="3600" dirty="0">
                <a:solidFill>
                  <a:srgbClr val="FF3131"/>
                </a:solidFill>
                <a:latin typeface="Georgia"/>
                <a:cs typeface="Georgia"/>
              </a:rPr>
              <a:t>helm</a:t>
            </a:r>
            <a:r>
              <a:rPr sz="3600" spc="-30" dirty="0">
                <a:solidFill>
                  <a:srgbClr val="FF3131"/>
                </a:solidFill>
                <a:latin typeface="Georgia"/>
                <a:cs typeface="Georgia"/>
              </a:rPr>
              <a:t> </a:t>
            </a:r>
            <a:r>
              <a:rPr sz="3600" dirty="0">
                <a:solidFill>
                  <a:srgbClr val="FF3131"/>
                </a:solidFill>
                <a:latin typeface="Georgia"/>
                <a:cs typeface="Georgia"/>
              </a:rPr>
              <a:t>repo</a:t>
            </a:r>
            <a:r>
              <a:rPr sz="3600" spc="-35" dirty="0">
                <a:solidFill>
                  <a:srgbClr val="FF3131"/>
                </a:solidFill>
                <a:latin typeface="Georgia"/>
                <a:cs typeface="Georgia"/>
              </a:rPr>
              <a:t> </a:t>
            </a:r>
            <a:r>
              <a:rPr sz="3600" spc="-20" dirty="0">
                <a:solidFill>
                  <a:srgbClr val="FF3131"/>
                </a:solidFill>
                <a:latin typeface="Georgia"/>
                <a:cs typeface="Georgia"/>
              </a:rPr>
              <a:t>list</a:t>
            </a:r>
            <a:endParaRPr sz="3600">
              <a:latin typeface="Georgia"/>
              <a:cs typeface="Georgia"/>
            </a:endParaRPr>
          </a:p>
          <a:p>
            <a:pPr marL="12700" marR="5080">
              <a:lnSpc>
                <a:spcPct val="116300"/>
              </a:lnSpc>
            </a:pPr>
            <a:r>
              <a:rPr sz="3600" dirty="0">
                <a:solidFill>
                  <a:srgbClr val="2E377E"/>
                </a:solidFill>
                <a:latin typeface="Georgia"/>
                <a:cs typeface="Georgia"/>
              </a:rPr>
              <a:t>To</a:t>
            </a:r>
            <a:r>
              <a:rPr sz="3600" spc="-35" dirty="0">
                <a:solidFill>
                  <a:srgbClr val="2E377E"/>
                </a:solidFill>
                <a:latin typeface="Georgia"/>
                <a:cs typeface="Georgia"/>
              </a:rPr>
              <a:t> </a:t>
            </a:r>
            <a:r>
              <a:rPr sz="3600" dirty="0">
                <a:solidFill>
                  <a:srgbClr val="2E377E"/>
                </a:solidFill>
                <a:latin typeface="Georgia"/>
                <a:cs typeface="Georgia"/>
              </a:rPr>
              <a:t>download</a:t>
            </a:r>
            <a:r>
              <a:rPr sz="3600" spc="-30" dirty="0">
                <a:solidFill>
                  <a:srgbClr val="2E377E"/>
                </a:solidFill>
                <a:latin typeface="Georgia"/>
                <a:cs typeface="Georgia"/>
              </a:rPr>
              <a:t> </a:t>
            </a:r>
            <a:r>
              <a:rPr sz="3600" spc="55" dirty="0">
                <a:solidFill>
                  <a:srgbClr val="2E377E"/>
                </a:solidFill>
                <a:latin typeface="Georgia"/>
                <a:cs typeface="Georgia"/>
              </a:rPr>
              <a:t>any</a:t>
            </a:r>
            <a:r>
              <a:rPr sz="3600" spc="-30" dirty="0">
                <a:solidFill>
                  <a:srgbClr val="2E377E"/>
                </a:solidFill>
                <a:latin typeface="Georgia"/>
                <a:cs typeface="Georgia"/>
              </a:rPr>
              <a:t> </a:t>
            </a:r>
            <a:r>
              <a:rPr sz="3600" dirty="0">
                <a:solidFill>
                  <a:srgbClr val="2E377E"/>
                </a:solidFill>
                <a:latin typeface="Georgia"/>
                <a:cs typeface="Georgia"/>
              </a:rPr>
              <a:t>repo</a:t>
            </a:r>
            <a:r>
              <a:rPr sz="3600" spc="-30" dirty="0">
                <a:solidFill>
                  <a:srgbClr val="2E377E"/>
                </a:solidFill>
                <a:latin typeface="Georgia"/>
                <a:cs typeface="Georgia"/>
              </a:rPr>
              <a:t> </a:t>
            </a:r>
            <a:r>
              <a:rPr sz="3600" spc="-245" dirty="0">
                <a:solidFill>
                  <a:srgbClr val="2E377E"/>
                </a:solidFill>
                <a:latin typeface="Georgia"/>
                <a:cs typeface="Georgia"/>
              </a:rPr>
              <a:t>:</a:t>
            </a:r>
            <a:r>
              <a:rPr sz="3600" spc="-30" dirty="0">
                <a:solidFill>
                  <a:srgbClr val="2E377E"/>
                </a:solidFill>
                <a:latin typeface="Georgia"/>
                <a:cs typeface="Georgia"/>
              </a:rPr>
              <a:t> </a:t>
            </a:r>
            <a:r>
              <a:rPr sz="3600" dirty="0">
                <a:solidFill>
                  <a:srgbClr val="2E377E"/>
                </a:solidFill>
                <a:latin typeface="Georgia"/>
                <a:cs typeface="Georgia"/>
              </a:rPr>
              <a:t>helm</a:t>
            </a:r>
            <a:r>
              <a:rPr sz="3600" spc="-30" dirty="0">
                <a:solidFill>
                  <a:srgbClr val="2E377E"/>
                </a:solidFill>
                <a:latin typeface="Georgia"/>
                <a:cs typeface="Georgia"/>
              </a:rPr>
              <a:t> </a:t>
            </a:r>
            <a:r>
              <a:rPr sz="3600" dirty="0">
                <a:solidFill>
                  <a:srgbClr val="2E377E"/>
                </a:solidFill>
                <a:latin typeface="Georgia"/>
                <a:cs typeface="Georgia"/>
              </a:rPr>
              <a:t>repo</a:t>
            </a:r>
            <a:r>
              <a:rPr sz="3600" spc="-30" dirty="0">
                <a:solidFill>
                  <a:srgbClr val="2E377E"/>
                </a:solidFill>
                <a:latin typeface="Georgia"/>
                <a:cs typeface="Georgia"/>
              </a:rPr>
              <a:t> </a:t>
            </a:r>
            <a:r>
              <a:rPr sz="3600" dirty="0">
                <a:solidFill>
                  <a:srgbClr val="2E377E"/>
                </a:solidFill>
                <a:latin typeface="Georgia"/>
                <a:cs typeface="Georgia"/>
              </a:rPr>
              <a:t>add</a:t>
            </a:r>
            <a:r>
              <a:rPr sz="3600" spc="-30" dirty="0">
                <a:solidFill>
                  <a:srgbClr val="2E377E"/>
                </a:solidFill>
                <a:latin typeface="Georgia"/>
                <a:cs typeface="Georgia"/>
              </a:rPr>
              <a:t> </a:t>
            </a:r>
            <a:r>
              <a:rPr sz="3600" dirty="0">
                <a:solidFill>
                  <a:srgbClr val="2E377E"/>
                </a:solidFill>
                <a:latin typeface="Georgia"/>
                <a:cs typeface="Georgia"/>
              </a:rPr>
              <a:t>repo_name</a:t>
            </a:r>
            <a:r>
              <a:rPr sz="3600" spc="-35" dirty="0">
                <a:solidFill>
                  <a:srgbClr val="2E377E"/>
                </a:solidFill>
                <a:latin typeface="Georgia"/>
                <a:cs typeface="Georgia"/>
              </a:rPr>
              <a:t> </a:t>
            </a:r>
            <a:r>
              <a:rPr sz="3600" dirty="0">
                <a:solidFill>
                  <a:srgbClr val="2E377E"/>
                </a:solidFill>
                <a:latin typeface="Georgia"/>
                <a:cs typeface="Georgia"/>
              </a:rPr>
              <a:t>url</a:t>
            </a:r>
            <a:r>
              <a:rPr sz="3600" spc="-30" dirty="0">
                <a:solidFill>
                  <a:srgbClr val="2E377E"/>
                </a:solidFill>
                <a:latin typeface="Georgia"/>
                <a:cs typeface="Georgia"/>
              </a:rPr>
              <a:t> </a:t>
            </a:r>
            <a:r>
              <a:rPr sz="3600" spc="140" dirty="0">
                <a:solidFill>
                  <a:srgbClr val="2E377E"/>
                </a:solidFill>
                <a:latin typeface="Times New Roman"/>
                <a:cs typeface="Times New Roman"/>
              </a:rPr>
              <a:t>(</a:t>
            </a:r>
            <a:r>
              <a:rPr sz="3600" spc="140" dirty="0">
                <a:solidFill>
                  <a:srgbClr val="FF3131"/>
                </a:solidFill>
                <a:latin typeface="Times New Roman"/>
                <a:cs typeface="Times New Roman"/>
              </a:rPr>
              <a:t>helm</a:t>
            </a:r>
            <a:r>
              <a:rPr sz="3600" spc="-60" dirty="0">
                <a:solidFill>
                  <a:srgbClr val="FF3131"/>
                </a:solidFill>
                <a:latin typeface="Times New Roman"/>
                <a:cs typeface="Times New Roman"/>
              </a:rPr>
              <a:t> </a:t>
            </a:r>
            <a:r>
              <a:rPr sz="3600" spc="229" dirty="0">
                <a:solidFill>
                  <a:srgbClr val="FF3131"/>
                </a:solidFill>
                <a:latin typeface="Times New Roman"/>
                <a:cs typeface="Times New Roman"/>
              </a:rPr>
              <a:t>repo</a:t>
            </a:r>
            <a:r>
              <a:rPr sz="3600" spc="-60" dirty="0">
                <a:solidFill>
                  <a:srgbClr val="FF3131"/>
                </a:solidFill>
                <a:latin typeface="Times New Roman"/>
                <a:cs typeface="Times New Roman"/>
              </a:rPr>
              <a:t> </a:t>
            </a:r>
            <a:r>
              <a:rPr sz="3600" spc="220" dirty="0">
                <a:solidFill>
                  <a:srgbClr val="FF3131"/>
                </a:solidFill>
                <a:latin typeface="Times New Roman"/>
                <a:cs typeface="Times New Roman"/>
              </a:rPr>
              <a:t>add </a:t>
            </a:r>
            <a:r>
              <a:rPr sz="3600" spc="240" dirty="0">
                <a:solidFill>
                  <a:srgbClr val="FF3131"/>
                </a:solidFill>
                <a:latin typeface="Times New Roman"/>
                <a:cs typeface="Times New Roman"/>
              </a:rPr>
              <a:t>myhelm</a:t>
            </a:r>
            <a:r>
              <a:rPr sz="3600" spc="-100" dirty="0">
                <a:solidFill>
                  <a:srgbClr val="FF3131"/>
                </a:solidFill>
                <a:latin typeface="Times New Roman"/>
                <a:cs typeface="Times New Roman"/>
              </a:rPr>
              <a:t> </a:t>
            </a:r>
            <a:r>
              <a:rPr sz="3600" spc="185" dirty="0">
                <a:solidFill>
                  <a:srgbClr val="FF3131"/>
                </a:solidFill>
                <a:latin typeface="Times New Roman"/>
                <a:cs typeface="Times New Roman"/>
              </a:rPr>
              <a:t>https://charts.helm.sh/stable</a:t>
            </a:r>
            <a:r>
              <a:rPr sz="3600" spc="185" dirty="0">
                <a:solidFill>
                  <a:srgbClr val="2E377E"/>
                </a:solidFill>
                <a:latin typeface="Times New Roman"/>
                <a:cs typeface="Times New Roman"/>
              </a:rPr>
              <a:t>)</a:t>
            </a:r>
            <a:endParaRPr sz="3600">
              <a:latin typeface="Times New Roman"/>
              <a:cs typeface="Times New Roman"/>
            </a:endParaRPr>
          </a:p>
          <a:p>
            <a:pPr marL="12700">
              <a:lnSpc>
                <a:spcPct val="100000"/>
              </a:lnSpc>
              <a:spcBef>
                <a:spcPts val="705"/>
              </a:spcBef>
            </a:pPr>
            <a:r>
              <a:rPr sz="3600" dirty="0">
                <a:solidFill>
                  <a:srgbClr val="2E377E"/>
                </a:solidFill>
                <a:latin typeface="Georgia"/>
                <a:cs typeface="Georgia"/>
              </a:rPr>
              <a:t>To</a:t>
            </a:r>
            <a:r>
              <a:rPr sz="3600" spc="-45" dirty="0">
                <a:solidFill>
                  <a:srgbClr val="2E377E"/>
                </a:solidFill>
                <a:latin typeface="Georgia"/>
                <a:cs typeface="Georgia"/>
              </a:rPr>
              <a:t> </a:t>
            </a:r>
            <a:r>
              <a:rPr sz="3600" spc="55" dirty="0">
                <a:solidFill>
                  <a:srgbClr val="2E377E"/>
                </a:solidFill>
                <a:latin typeface="Georgia"/>
                <a:cs typeface="Georgia"/>
              </a:rPr>
              <a:t>remove</a:t>
            </a:r>
            <a:r>
              <a:rPr sz="3600" spc="-40" dirty="0">
                <a:solidFill>
                  <a:srgbClr val="2E377E"/>
                </a:solidFill>
                <a:latin typeface="Georgia"/>
                <a:cs typeface="Georgia"/>
              </a:rPr>
              <a:t> </a:t>
            </a:r>
            <a:r>
              <a:rPr sz="3600" dirty="0">
                <a:solidFill>
                  <a:srgbClr val="2E377E"/>
                </a:solidFill>
                <a:latin typeface="Georgia"/>
                <a:cs typeface="Georgia"/>
              </a:rPr>
              <a:t>a</a:t>
            </a:r>
            <a:r>
              <a:rPr sz="3600" spc="-40" dirty="0">
                <a:solidFill>
                  <a:srgbClr val="2E377E"/>
                </a:solidFill>
                <a:latin typeface="Georgia"/>
                <a:cs typeface="Georgia"/>
              </a:rPr>
              <a:t> </a:t>
            </a:r>
            <a:r>
              <a:rPr sz="3600" dirty="0">
                <a:solidFill>
                  <a:srgbClr val="2E377E"/>
                </a:solidFill>
                <a:latin typeface="Georgia"/>
                <a:cs typeface="Georgia"/>
              </a:rPr>
              <a:t>repo</a:t>
            </a:r>
            <a:r>
              <a:rPr sz="3600" spc="-40" dirty="0">
                <a:solidFill>
                  <a:srgbClr val="2E377E"/>
                </a:solidFill>
                <a:latin typeface="Georgia"/>
                <a:cs typeface="Georgia"/>
              </a:rPr>
              <a:t> </a:t>
            </a:r>
            <a:r>
              <a:rPr sz="3600" dirty="0">
                <a:solidFill>
                  <a:srgbClr val="2E377E"/>
                </a:solidFill>
                <a:latin typeface="Georgia"/>
                <a:cs typeface="Georgia"/>
              </a:rPr>
              <a:t>from</a:t>
            </a:r>
            <a:r>
              <a:rPr sz="3600" spc="-45" dirty="0">
                <a:solidFill>
                  <a:srgbClr val="2E377E"/>
                </a:solidFill>
                <a:latin typeface="Georgia"/>
                <a:cs typeface="Georgia"/>
              </a:rPr>
              <a:t> </a:t>
            </a:r>
            <a:r>
              <a:rPr sz="3600" dirty="0">
                <a:solidFill>
                  <a:srgbClr val="2E377E"/>
                </a:solidFill>
                <a:latin typeface="Georgia"/>
                <a:cs typeface="Georgia"/>
              </a:rPr>
              <a:t>helm</a:t>
            </a:r>
            <a:r>
              <a:rPr sz="3600" spc="-40" dirty="0">
                <a:solidFill>
                  <a:srgbClr val="2E377E"/>
                </a:solidFill>
                <a:latin typeface="Georgia"/>
                <a:cs typeface="Georgia"/>
              </a:rPr>
              <a:t> </a:t>
            </a:r>
            <a:r>
              <a:rPr sz="3600" spc="-245" dirty="0">
                <a:solidFill>
                  <a:srgbClr val="2E377E"/>
                </a:solidFill>
                <a:latin typeface="Georgia"/>
                <a:cs typeface="Georgia"/>
              </a:rPr>
              <a:t>:</a:t>
            </a:r>
            <a:r>
              <a:rPr sz="3600" spc="-40" dirty="0">
                <a:solidFill>
                  <a:srgbClr val="2E377E"/>
                </a:solidFill>
                <a:latin typeface="Georgia"/>
                <a:cs typeface="Georgia"/>
              </a:rPr>
              <a:t> </a:t>
            </a:r>
            <a:r>
              <a:rPr sz="3600" dirty="0">
                <a:solidFill>
                  <a:srgbClr val="E7181F"/>
                </a:solidFill>
                <a:latin typeface="Georgia"/>
                <a:cs typeface="Georgia"/>
              </a:rPr>
              <a:t>helm</a:t>
            </a:r>
            <a:r>
              <a:rPr sz="3600" spc="-40" dirty="0">
                <a:solidFill>
                  <a:srgbClr val="E7181F"/>
                </a:solidFill>
                <a:latin typeface="Georgia"/>
                <a:cs typeface="Georgia"/>
              </a:rPr>
              <a:t> </a:t>
            </a:r>
            <a:r>
              <a:rPr sz="3600" dirty="0">
                <a:solidFill>
                  <a:srgbClr val="E7181F"/>
                </a:solidFill>
                <a:latin typeface="Georgia"/>
                <a:cs typeface="Georgia"/>
              </a:rPr>
              <a:t>repo</a:t>
            </a:r>
            <a:r>
              <a:rPr sz="3600" spc="-40" dirty="0">
                <a:solidFill>
                  <a:srgbClr val="E7181F"/>
                </a:solidFill>
                <a:latin typeface="Georgia"/>
                <a:cs typeface="Georgia"/>
              </a:rPr>
              <a:t> </a:t>
            </a:r>
            <a:r>
              <a:rPr sz="3600" spc="55" dirty="0">
                <a:solidFill>
                  <a:srgbClr val="E7181F"/>
                </a:solidFill>
                <a:latin typeface="Georgia"/>
                <a:cs typeface="Georgia"/>
              </a:rPr>
              <a:t>remove</a:t>
            </a:r>
            <a:r>
              <a:rPr sz="3600" spc="-45" dirty="0">
                <a:solidFill>
                  <a:srgbClr val="E7181F"/>
                </a:solidFill>
                <a:latin typeface="Georgia"/>
                <a:cs typeface="Georgia"/>
              </a:rPr>
              <a:t> </a:t>
            </a:r>
            <a:r>
              <a:rPr sz="3600" dirty="0">
                <a:solidFill>
                  <a:srgbClr val="E7181F"/>
                </a:solidFill>
                <a:latin typeface="Georgia"/>
                <a:cs typeface="Georgia"/>
              </a:rPr>
              <a:t>repo-</a:t>
            </a:r>
            <a:r>
              <a:rPr sz="3600" spc="-10" dirty="0">
                <a:solidFill>
                  <a:srgbClr val="E7181F"/>
                </a:solidFill>
                <a:latin typeface="Georgia"/>
                <a:cs typeface="Georgia"/>
              </a:rPr>
              <a:t>names</a:t>
            </a:r>
            <a:endParaRPr sz="3600">
              <a:latin typeface="Georgia"/>
              <a:cs typeface="Georgia"/>
            </a:endParaRPr>
          </a:p>
        </p:txBody>
      </p:sp>
      <p:pic>
        <p:nvPicPr>
          <p:cNvPr id="5" name="object 5"/>
          <p:cNvPicPr/>
          <p:nvPr/>
        </p:nvPicPr>
        <p:blipFill>
          <a:blip r:embed="rId3" cstate="print"/>
          <a:stretch>
            <a:fillRect/>
          </a:stretch>
        </p:blipFill>
        <p:spPr>
          <a:xfrm>
            <a:off x="1476374" y="2987862"/>
            <a:ext cx="133350" cy="133349"/>
          </a:xfrm>
          <a:prstGeom prst="rect">
            <a:avLst/>
          </a:prstGeom>
        </p:spPr>
      </p:pic>
      <p:pic>
        <p:nvPicPr>
          <p:cNvPr id="6" name="object 6"/>
          <p:cNvPicPr/>
          <p:nvPr/>
        </p:nvPicPr>
        <p:blipFill>
          <a:blip r:embed="rId3" cstate="print"/>
          <a:stretch>
            <a:fillRect/>
          </a:stretch>
        </p:blipFill>
        <p:spPr>
          <a:xfrm>
            <a:off x="1476374" y="4264212"/>
            <a:ext cx="133350" cy="133349"/>
          </a:xfrm>
          <a:prstGeom prst="rect">
            <a:avLst/>
          </a:prstGeom>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94225" y="3657848"/>
            <a:ext cx="12001499" cy="3629024"/>
          </a:xfrm>
          <a:prstGeom prst="rect">
            <a:avLst/>
          </a:prstGeom>
        </p:spPr>
      </p:pic>
      <p:sp>
        <p:nvSpPr>
          <p:cNvPr id="3" name="object 3"/>
          <p:cNvSpPr txBox="1">
            <a:spLocks noGrp="1"/>
          </p:cNvSpPr>
          <p:nvPr>
            <p:ph type="title"/>
          </p:nvPr>
        </p:nvSpPr>
        <p:spPr>
          <a:prstGeom prst="rect">
            <a:avLst/>
          </a:prstGeom>
        </p:spPr>
        <p:txBody>
          <a:bodyPr vert="horz" wrap="square" lIns="0" tIns="370149" rIns="0" bIns="0" rtlCol="0">
            <a:spAutoFit/>
          </a:bodyPr>
          <a:lstStyle/>
          <a:p>
            <a:pPr marL="232410">
              <a:lnSpc>
                <a:spcPct val="100000"/>
              </a:lnSpc>
              <a:spcBef>
                <a:spcPts val="100"/>
              </a:spcBef>
            </a:pPr>
            <a:r>
              <a:rPr spc="245" dirty="0"/>
              <a:t>Deploy</a:t>
            </a:r>
            <a:r>
              <a:rPr spc="-45" dirty="0"/>
              <a:t> </a:t>
            </a:r>
            <a:r>
              <a:rPr spc="75" dirty="0"/>
              <a:t>a</a:t>
            </a:r>
            <a:r>
              <a:rPr spc="-40" dirty="0"/>
              <a:t> </a:t>
            </a:r>
            <a:r>
              <a:rPr spc="260" dirty="0"/>
              <a:t>sample</a:t>
            </a:r>
            <a:r>
              <a:rPr spc="-40" dirty="0"/>
              <a:t> </a:t>
            </a:r>
            <a:r>
              <a:rPr spc="210" dirty="0"/>
              <a:t>Nginx</a:t>
            </a:r>
            <a:r>
              <a:rPr spc="-40" dirty="0"/>
              <a:t> </a:t>
            </a:r>
            <a:r>
              <a:rPr spc="155" dirty="0"/>
              <a:t>page</a:t>
            </a:r>
            <a:r>
              <a:rPr spc="-45" dirty="0"/>
              <a:t> </a:t>
            </a:r>
            <a:r>
              <a:rPr spc="195" dirty="0"/>
              <a:t>using</a:t>
            </a:r>
            <a:r>
              <a:rPr spc="-40" dirty="0"/>
              <a:t> </a:t>
            </a:r>
            <a:r>
              <a:rPr spc="-340" dirty="0"/>
              <a:t>HELM:</a:t>
            </a:r>
          </a:p>
        </p:txBody>
      </p:sp>
      <p:sp>
        <p:nvSpPr>
          <p:cNvPr id="4" name="object 4"/>
          <p:cNvSpPr txBox="1"/>
          <p:nvPr/>
        </p:nvSpPr>
        <p:spPr>
          <a:xfrm>
            <a:off x="1242262" y="1904719"/>
            <a:ext cx="10013950" cy="1301750"/>
          </a:xfrm>
          <a:prstGeom prst="rect">
            <a:avLst/>
          </a:prstGeom>
        </p:spPr>
        <p:txBody>
          <a:bodyPr vert="horz" wrap="square" lIns="0" tIns="102235" rIns="0" bIns="0" rtlCol="0">
            <a:spAutoFit/>
          </a:bodyPr>
          <a:lstStyle/>
          <a:p>
            <a:pPr marL="12700">
              <a:lnSpc>
                <a:spcPct val="100000"/>
              </a:lnSpc>
              <a:spcBef>
                <a:spcPts val="805"/>
              </a:spcBef>
            </a:pPr>
            <a:r>
              <a:rPr sz="3600" spc="-114" dirty="0">
                <a:solidFill>
                  <a:srgbClr val="2E377E"/>
                </a:solidFill>
                <a:latin typeface="Georgia"/>
                <a:cs typeface="Georgia"/>
              </a:rPr>
              <a:t>1.</a:t>
            </a:r>
            <a:r>
              <a:rPr sz="3600" spc="-480" dirty="0">
                <a:solidFill>
                  <a:srgbClr val="2E377E"/>
                </a:solidFill>
                <a:latin typeface="Georgia"/>
                <a:cs typeface="Georgia"/>
              </a:rPr>
              <a:t> </a:t>
            </a:r>
            <a:r>
              <a:rPr sz="3600" dirty="0">
                <a:solidFill>
                  <a:srgbClr val="2E377E"/>
                </a:solidFill>
                <a:latin typeface="Georgia"/>
                <a:cs typeface="Georgia"/>
              </a:rPr>
              <a:t>Create</a:t>
            </a:r>
            <a:r>
              <a:rPr sz="3600" spc="10" dirty="0">
                <a:solidFill>
                  <a:srgbClr val="2E377E"/>
                </a:solidFill>
                <a:latin typeface="Georgia"/>
                <a:cs typeface="Georgia"/>
              </a:rPr>
              <a:t> </a:t>
            </a:r>
            <a:r>
              <a:rPr sz="3600" dirty="0">
                <a:solidFill>
                  <a:srgbClr val="2E377E"/>
                </a:solidFill>
                <a:latin typeface="Georgia"/>
                <a:cs typeface="Georgia"/>
              </a:rPr>
              <a:t>a</a:t>
            </a:r>
            <a:r>
              <a:rPr sz="3600" spc="10" dirty="0">
                <a:solidFill>
                  <a:srgbClr val="2E377E"/>
                </a:solidFill>
                <a:latin typeface="Georgia"/>
                <a:cs typeface="Georgia"/>
              </a:rPr>
              <a:t> </a:t>
            </a:r>
            <a:r>
              <a:rPr sz="3600" dirty="0">
                <a:solidFill>
                  <a:srgbClr val="2E377E"/>
                </a:solidFill>
                <a:latin typeface="Georgia"/>
                <a:cs typeface="Georgia"/>
              </a:rPr>
              <a:t>helm</a:t>
            </a:r>
            <a:r>
              <a:rPr sz="3600" spc="10" dirty="0">
                <a:solidFill>
                  <a:srgbClr val="2E377E"/>
                </a:solidFill>
                <a:latin typeface="Georgia"/>
                <a:cs typeface="Georgia"/>
              </a:rPr>
              <a:t> </a:t>
            </a:r>
            <a:r>
              <a:rPr sz="3600" dirty="0">
                <a:solidFill>
                  <a:srgbClr val="2E377E"/>
                </a:solidFill>
                <a:latin typeface="Georgia"/>
                <a:cs typeface="Georgia"/>
              </a:rPr>
              <a:t>chart</a:t>
            </a:r>
            <a:r>
              <a:rPr sz="3600" spc="10" dirty="0">
                <a:solidFill>
                  <a:srgbClr val="2E377E"/>
                </a:solidFill>
                <a:latin typeface="Georgia"/>
                <a:cs typeface="Georgia"/>
              </a:rPr>
              <a:t> </a:t>
            </a:r>
            <a:r>
              <a:rPr sz="3600" spc="-245" dirty="0">
                <a:solidFill>
                  <a:srgbClr val="2E377E"/>
                </a:solidFill>
                <a:latin typeface="Georgia"/>
                <a:cs typeface="Georgia"/>
              </a:rPr>
              <a:t>:</a:t>
            </a:r>
            <a:r>
              <a:rPr sz="3600" spc="10" dirty="0">
                <a:solidFill>
                  <a:srgbClr val="2E377E"/>
                </a:solidFill>
                <a:latin typeface="Georgia"/>
                <a:cs typeface="Georgia"/>
              </a:rPr>
              <a:t> </a:t>
            </a:r>
            <a:r>
              <a:rPr sz="3600" dirty="0">
                <a:solidFill>
                  <a:srgbClr val="E7181F"/>
                </a:solidFill>
                <a:latin typeface="Georgia"/>
                <a:cs typeface="Georgia"/>
              </a:rPr>
              <a:t>helm</a:t>
            </a:r>
            <a:r>
              <a:rPr sz="3600" spc="10" dirty="0">
                <a:solidFill>
                  <a:srgbClr val="E7181F"/>
                </a:solidFill>
                <a:latin typeface="Georgia"/>
                <a:cs typeface="Georgia"/>
              </a:rPr>
              <a:t> </a:t>
            </a:r>
            <a:r>
              <a:rPr sz="3600" dirty="0">
                <a:solidFill>
                  <a:srgbClr val="E7181F"/>
                </a:solidFill>
                <a:latin typeface="Georgia"/>
                <a:cs typeface="Georgia"/>
              </a:rPr>
              <a:t>create</a:t>
            </a:r>
            <a:r>
              <a:rPr sz="3600" spc="10" dirty="0">
                <a:solidFill>
                  <a:srgbClr val="E7181F"/>
                </a:solidFill>
                <a:latin typeface="Georgia"/>
                <a:cs typeface="Georgia"/>
              </a:rPr>
              <a:t> </a:t>
            </a:r>
            <a:r>
              <a:rPr sz="3600" spc="-10" dirty="0">
                <a:solidFill>
                  <a:srgbClr val="E7181F"/>
                </a:solidFill>
                <a:latin typeface="Georgia"/>
                <a:cs typeface="Georgia"/>
              </a:rPr>
              <a:t>devops</a:t>
            </a:r>
            <a:endParaRPr sz="3600">
              <a:latin typeface="Georgia"/>
              <a:cs typeface="Georgia"/>
            </a:endParaRPr>
          </a:p>
          <a:p>
            <a:pPr marL="380365">
              <a:lnSpc>
                <a:spcPct val="100000"/>
              </a:lnSpc>
              <a:spcBef>
                <a:spcPts val="705"/>
              </a:spcBef>
            </a:pPr>
            <a:r>
              <a:rPr sz="3600" dirty="0">
                <a:solidFill>
                  <a:srgbClr val="2E377E"/>
                </a:solidFill>
                <a:latin typeface="Georgia"/>
                <a:cs typeface="Georgia"/>
              </a:rPr>
              <a:t>Now</a:t>
            </a:r>
            <a:r>
              <a:rPr sz="3600" spc="15" dirty="0">
                <a:solidFill>
                  <a:srgbClr val="2E377E"/>
                </a:solidFill>
                <a:latin typeface="Georgia"/>
                <a:cs typeface="Georgia"/>
              </a:rPr>
              <a:t> </a:t>
            </a:r>
            <a:r>
              <a:rPr sz="3600" spc="130" dirty="0">
                <a:solidFill>
                  <a:srgbClr val="2E377E"/>
                </a:solidFill>
                <a:latin typeface="Georgia"/>
                <a:cs typeface="Georgia"/>
              </a:rPr>
              <a:t>we</a:t>
            </a:r>
            <a:r>
              <a:rPr sz="3600" spc="20" dirty="0">
                <a:solidFill>
                  <a:srgbClr val="2E377E"/>
                </a:solidFill>
                <a:latin typeface="Georgia"/>
                <a:cs typeface="Georgia"/>
              </a:rPr>
              <a:t> </a:t>
            </a:r>
            <a:r>
              <a:rPr sz="3600" dirty="0">
                <a:solidFill>
                  <a:srgbClr val="2E377E"/>
                </a:solidFill>
                <a:latin typeface="Georgia"/>
                <a:cs typeface="Georgia"/>
              </a:rPr>
              <a:t>can</a:t>
            </a:r>
            <a:r>
              <a:rPr sz="3600" spc="20" dirty="0">
                <a:solidFill>
                  <a:srgbClr val="2E377E"/>
                </a:solidFill>
                <a:latin typeface="Georgia"/>
                <a:cs typeface="Georgia"/>
              </a:rPr>
              <a:t> </a:t>
            </a:r>
            <a:r>
              <a:rPr sz="3600" dirty="0">
                <a:solidFill>
                  <a:srgbClr val="2E377E"/>
                </a:solidFill>
                <a:latin typeface="Georgia"/>
                <a:cs typeface="Georgia"/>
              </a:rPr>
              <a:t>see</a:t>
            </a:r>
            <a:r>
              <a:rPr sz="3600" spc="20" dirty="0">
                <a:solidFill>
                  <a:srgbClr val="2E377E"/>
                </a:solidFill>
                <a:latin typeface="Georgia"/>
                <a:cs typeface="Georgia"/>
              </a:rPr>
              <a:t> </a:t>
            </a:r>
            <a:r>
              <a:rPr sz="3600" dirty="0">
                <a:solidFill>
                  <a:srgbClr val="2E377E"/>
                </a:solidFill>
                <a:latin typeface="Georgia"/>
                <a:cs typeface="Georgia"/>
              </a:rPr>
              <a:t>devops</a:t>
            </a:r>
            <a:r>
              <a:rPr sz="3600" spc="15" dirty="0">
                <a:solidFill>
                  <a:srgbClr val="2E377E"/>
                </a:solidFill>
                <a:latin typeface="Georgia"/>
                <a:cs typeface="Georgia"/>
              </a:rPr>
              <a:t> </a:t>
            </a:r>
            <a:r>
              <a:rPr sz="3600" dirty="0">
                <a:solidFill>
                  <a:srgbClr val="2E377E"/>
                </a:solidFill>
                <a:latin typeface="Georgia"/>
                <a:cs typeface="Georgia"/>
              </a:rPr>
              <a:t>folder</a:t>
            </a:r>
            <a:r>
              <a:rPr sz="3600" spc="20" dirty="0">
                <a:solidFill>
                  <a:srgbClr val="2E377E"/>
                </a:solidFill>
                <a:latin typeface="Georgia"/>
                <a:cs typeface="Georgia"/>
              </a:rPr>
              <a:t> </a:t>
            </a:r>
            <a:r>
              <a:rPr sz="3600" dirty="0">
                <a:solidFill>
                  <a:srgbClr val="2E377E"/>
                </a:solidFill>
                <a:latin typeface="Georgia"/>
                <a:cs typeface="Georgia"/>
              </a:rPr>
              <a:t>will</a:t>
            </a:r>
            <a:r>
              <a:rPr sz="3600" spc="20" dirty="0">
                <a:solidFill>
                  <a:srgbClr val="2E377E"/>
                </a:solidFill>
                <a:latin typeface="Georgia"/>
                <a:cs typeface="Georgia"/>
              </a:rPr>
              <a:t> </a:t>
            </a:r>
            <a:r>
              <a:rPr sz="3600" spc="50" dirty="0">
                <a:solidFill>
                  <a:srgbClr val="2E377E"/>
                </a:solidFill>
                <a:latin typeface="Georgia"/>
                <a:cs typeface="Georgia"/>
              </a:rPr>
              <a:t>gets</a:t>
            </a:r>
            <a:r>
              <a:rPr sz="3600" spc="20" dirty="0">
                <a:solidFill>
                  <a:srgbClr val="2E377E"/>
                </a:solidFill>
                <a:latin typeface="Georgia"/>
                <a:cs typeface="Georgia"/>
              </a:rPr>
              <a:t> </a:t>
            </a:r>
            <a:r>
              <a:rPr sz="3600" spc="-10" dirty="0">
                <a:solidFill>
                  <a:srgbClr val="2E377E"/>
                </a:solidFill>
                <a:latin typeface="Georgia"/>
                <a:cs typeface="Georgia"/>
              </a:rPr>
              <a:t>created.</a:t>
            </a:r>
            <a:endParaRPr sz="3600">
              <a:latin typeface="Georgia"/>
              <a:cs typeface="Georgia"/>
            </a:endParaRPr>
          </a:p>
        </p:txBody>
      </p:sp>
      <p:sp>
        <p:nvSpPr>
          <p:cNvPr id="5" name="object 5"/>
          <p:cNvSpPr txBox="1"/>
          <p:nvPr/>
        </p:nvSpPr>
        <p:spPr>
          <a:xfrm>
            <a:off x="1560498" y="7573402"/>
            <a:ext cx="13065125" cy="1301750"/>
          </a:xfrm>
          <a:prstGeom prst="rect">
            <a:avLst/>
          </a:prstGeom>
        </p:spPr>
        <p:txBody>
          <a:bodyPr vert="horz" wrap="square" lIns="0" tIns="102235" rIns="0" bIns="0" rtlCol="0">
            <a:spAutoFit/>
          </a:bodyPr>
          <a:lstStyle/>
          <a:p>
            <a:pPr marL="434340" indent="-421640">
              <a:lnSpc>
                <a:spcPct val="100000"/>
              </a:lnSpc>
              <a:spcBef>
                <a:spcPts val="805"/>
              </a:spcBef>
              <a:buAutoNum type="arabicPeriod" startAt="2"/>
              <a:tabLst>
                <a:tab pos="434340" algn="l"/>
              </a:tabLst>
            </a:pPr>
            <a:r>
              <a:rPr sz="3600" dirty="0">
                <a:solidFill>
                  <a:srgbClr val="2E377E"/>
                </a:solidFill>
                <a:latin typeface="Georgia"/>
                <a:cs typeface="Georgia"/>
              </a:rPr>
              <a:t>Enter</a:t>
            </a:r>
            <a:r>
              <a:rPr sz="3600" spc="-40" dirty="0">
                <a:solidFill>
                  <a:srgbClr val="2E377E"/>
                </a:solidFill>
                <a:latin typeface="Georgia"/>
                <a:cs typeface="Georgia"/>
              </a:rPr>
              <a:t> </a:t>
            </a:r>
            <a:r>
              <a:rPr sz="3600" dirty="0">
                <a:solidFill>
                  <a:srgbClr val="2E377E"/>
                </a:solidFill>
                <a:latin typeface="Georgia"/>
                <a:cs typeface="Georgia"/>
              </a:rPr>
              <a:t>into</a:t>
            </a:r>
            <a:r>
              <a:rPr sz="3600" spc="-40" dirty="0">
                <a:solidFill>
                  <a:srgbClr val="2E377E"/>
                </a:solidFill>
                <a:latin typeface="Georgia"/>
                <a:cs typeface="Georgia"/>
              </a:rPr>
              <a:t> </a:t>
            </a:r>
            <a:r>
              <a:rPr sz="3600" spc="50" dirty="0">
                <a:solidFill>
                  <a:srgbClr val="2E377E"/>
                </a:solidFill>
                <a:latin typeface="Georgia"/>
                <a:cs typeface="Georgia"/>
              </a:rPr>
              <a:t>the</a:t>
            </a:r>
            <a:r>
              <a:rPr sz="3600" spc="-40" dirty="0">
                <a:solidFill>
                  <a:srgbClr val="2E377E"/>
                </a:solidFill>
                <a:latin typeface="Georgia"/>
                <a:cs typeface="Georgia"/>
              </a:rPr>
              <a:t> </a:t>
            </a:r>
            <a:r>
              <a:rPr sz="3600" dirty="0">
                <a:solidFill>
                  <a:srgbClr val="2E377E"/>
                </a:solidFill>
                <a:latin typeface="Georgia"/>
                <a:cs typeface="Georgia"/>
              </a:rPr>
              <a:t>folder</a:t>
            </a:r>
            <a:r>
              <a:rPr sz="3600" spc="-40" dirty="0">
                <a:solidFill>
                  <a:srgbClr val="2E377E"/>
                </a:solidFill>
                <a:latin typeface="Georgia"/>
                <a:cs typeface="Georgia"/>
              </a:rPr>
              <a:t> </a:t>
            </a:r>
            <a:r>
              <a:rPr sz="3600" dirty="0">
                <a:solidFill>
                  <a:srgbClr val="2E377E"/>
                </a:solidFill>
                <a:latin typeface="Georgia"/>
                <a:cs typeface="Georgia"/>
              </a:rPr>
              <a:t>and</a:t>
            </a:r>
            <a:r>
              <a:rPr sz="3600" spc="-35" dirty="0">
                <a:solidFill>
                  <a:srgbClr val="2E377E"/>
                </a:solidFill>
                <a:latin typeface="Georgia"/>
                <a:cs typeface="Georgia"/>
              </a:rPr>
              <a:t> </a:t>
            </a:r>
            <a:r>
              <a:rPr sz="3600" dirty="0">
                <a:solidFill>
                  <a:srgbClr val="2E377E"/>
                </a:solidFill>
                <a:latin typeface="Georgia"/>
                <a:cs typeface="Georgia"/>
              </a:rPr>
              <a:t>open</a:t>
            </a:r>
            <a:r>
              <a:rPr sz="3600" spc="-40" dirty="0">
                <a:solidFill>
                  <a:srgbClr val="2E377E"/>
                </a:solidFill>
                <a:latin typeface="Georgia"/>
                <a:cs typeface="Georgia"/>
              </a:rPr>
              <a:t> </a:t>
            </a:r>
            <a:r>
              <a:rPr sz="3600" spc="145" dirty="0">
                <a:solidFill>
                  <a:srgbClr val="2E377E"/>
                </a:solidFill>
                <a:latin typeface="Times New Roman"/>
                <a:cs typeface="Times New Roman"/>
              </a:rPr>
              <a:t>values.yml</a:t>
            </a:r>
            <a:r>
              <a:rPr sz="3600" spc="-70" dirty="0">
                <a:solidFill>
                  <a:srgbClr val="2E377E"/>
                </a:solidFill>
                <a:latin typeface="Times New Roman"/>
                <a:cs typeface="Times New Roman"/>
              </a:rPr>
              <a:t> </a:t>
            </a:r>
            <a:r>
              <a:rPr sz="3600" spc="-20" dirty="0">
                <a:solidFill>
                  <a:srgbClr val="2E377E"/>
                </a:solidFill>
                <a:latin typeface="Georgia"/>
                <a:cs typeface="Georgia"/>
              </a:rPr>
              <a:t>file</a:t>
            </a:r>
            <a:endParaRPr sz="3600">
              <a:latin typeface="Georgia"/>
              <a:cs typeface="Georgia"/>
            </a:endParaRPr>
          </a:p>
          <a:p>
            <a:pPr marL="432434" indent="-419734">
              <a:lnSpc>
                <a:spcPct val="100000"/>
              </a:lnSpc>
              <a:spcBef>
                <a:spcPts val="705"/>
              </a:spcBef>
              <a:buAutoNum type="arabicPeriod" startAt="2"/>
              <a:tabLst>
                <a:tab pos="432434" algn="l"/>
              </a:tabLst>
            </a:pPr>
            <a:r>
              <a:rPr sz="3600" dirty="0">
                <a:solidFill>
                  <a:srgbClr val="2E377E"/>
                </a:solidFill>
                <a:latin typeface="Georgia"/>
                <a:cs typeface="Georgia"/>
              </a:rPr>
              <a:t>Change</a:t>
            </a:r>
            <a:r>
              <a:rPr sz="3600" spc="-65" dirty="0">
                <a:solidFill>
                  <a:srgbClr val="2E377E"/>
                </a:solidFill>
                <a:latin typeface="Georgia"/>
                <a:cs typeface="Georgia"/>
              </a:rPr>
              <a:t> </a:t>
            </a:r>
            <a:r>
              <a:rPr sz="3600" spc="50" dirty="0">
                <a:solidFill>
                  <a:srgbClr val="2E377E"/>
                </a:solidFill>
                <a:latin typeface="Georgia"/>
                <a:cs typeface="Georgia"/>
              </a:rPr>
              <a:t>the</a:t>
            </a:r>
            <a:r>
              <a:rPr sz="3600" spc="-60" dirty="0">
                <a:solidFill>
                  <a:srgbClr val="2E377E"/>
                </a:solidFill>
                <a:latin typeface="Georgia"/>
                <a:cs typeface="Georgia"/>
              </a:rPr>
              <a:t> </a:t>
            </a:r>
            <a:r>
              <a:rPr sz="3600" spc="50" dirty="0">
                <a:solidFill>
                  <a:srgbClr val="2E377E"/>
                </a:solidFill>
                <a:latin typeface="Georgia"/>
                <a:cs typeface="Georgia"/>
              </a:rPr>
              <a:t>service</a:t>
            </a:r>
            <a:r>
              <a:rPr sz="3600" spc="-60" dirty="0">
                <a:solidFill>
                  <a:srgbClr val="2E377E"/>
                </a:solidFill>
                <a:latin typeface="Georgia"/>
                <a:cs typeface="Georgia"/>
              </a:rPr>
              <a:t> </a:t>
            </a:r>
            <a:r>
              <a:rPr sz="3600" spc="90" dirty="0">
                <a:solidFill>
                  <a:srgbClr val="2E377E"/>
                </a:solidFill>
                <a:latin typeface="Georgia"/>
                <a:cs typeface="Georgia"/>
              </a:rPr>
              <a:t>type</a:t>
            </a:r>
            <a:r>
              <a:rPr sz="3600" spc="-60" dirty="0">
                <a:solidFill>
                  <a:srgbClr val="2E377E"/>
                </a:solidFill>
                <a:latin typeface="Georgia"/>
                <a:cs typeface="Georgia"/>
              </a:rPr>
              <a:t> </a:t>
            </a:r>
            <a:r>
              <a:rPr sz="3600" dirty="0">
                <a:solidFill>
                  <a:srgbClr val="2E377E"/>
                </a:solidFill>
                <a:latin typeface="Georgia"/>
                <a:cs typeface="Georgia"/>
              </a:rPr>
              <a:t>from</a:t>
            </a:r>
            <a:r>
              <a:rPr sz="3600" spc="-60" dirty="0">
                <a:solidFill>
                  <a:srgbClr val="2E377E"/>
                </a:solidFill>
                <a:latin typeface="Georgia"/>
                <a:cs typeface="Georgia"/>
              </a:rPr>
              <a:t> </a:t>
            </a:r>
            <a:r>
              <a:rPr sz="3600" spc="160" dirty="0">
                <a:solidFill>
                  <a:srgbClr val="2E377E"/>
                </a:solidFill>
                <a:latin typeface="Times New Roman"/>
                <a:cs typeface="Times New Roman"/>
              </a:rPr>
              <a:t>ClusterIP</a:t>
            </a:r>
            <a:r>
              <a:rPr sz="3600" spc="-90" dirty="0">
                <a:solidFill>
                  <a:srgbClr val="2E377E"/>
                </a:solidFill>
                <a:latin typeface="Times New Roman"/>
                <a:cs typeface="Times New Roman"/>
              </a:rPr>
              <a:t> </a:t>
            </a:r>
            <a:r>
              <a:rPr sz="3600" spc="250" dirty="0">
                <a:solidFill>
                  <a:srgbClr val="2E377E"/>
                </a:solidFill>
                <a:latin typeface="Times New Roman"/>
                <a:cs typeface="Times New Roman"/>
              </a:rPr>
              <a:t>to</a:t>
            </a:r>
            <a:r>
              <a:rPr sz="3600" spc="-90" dirty="0">
                <a:solidFill>
                  <a:srgbClr val="2E377E"/>
                </a:solidFill>
                <a:latin typeface="Times New Roman"/>
                <a:cs typeface="Times New Roman"/>
              </a:rPr>
              <a:t> </a:t>
            </a:r>
            <a:r>
              <a:rPr sz="3600" spc="195" dirty="0">
                <a:solidFill>
                  <a:srgbClr val="2E377E"/>
                </a:solidFill>
                <a:latin typeface="Times New Roman"/>
                <a:cs typeface="Times New Roman"/>
              </a:rPr>
              <a:t>NodePort</a:t>
            </a:r>
            <a:r>
              <a:rPr sz="3600" spc="-90" dirty="0">
                <a:solidFill>
                  <a:srgbClr val="2E377E"/>
                </a:solidFill>
                <a:latin typeface="Times New Roman"/>
                <a:cs typeface="Times New Roman"/>
              </a:rPr>
              <a:t> </a:t>
            </a:r>
            <a:r>
              <a:rPr sz="3600" dirty="0">
                <a:solidFill>
                  <a:srgbClr val="2E377E"/>
                </a:solidFill>
                <a:latin typeface="Georgia"/>
                <a:cs typeface="Georgia"/>
              </a:rPr>
              <a:t>on</a:t>
            </a:r>
            <a:r>
              <a:rPr sz="3600" spc="-60" dirty="0">
                <a:solidFill>
                  <a:srgbClr val="2E377E"/>
                </a:solidFill>
                <a:latin typeface="Georgia"/>
                <a:cs typeface="Georgia"/>
              </a:rPr>
              <a:t> </a:t>
            </a:r>
            <a:r>
              <a:rPr sz="3600" dirty="0">
                <a:solidFill>
                  <a:srgbClr val="2E377E"/>
                </a:solidFill>
                <a:latin typeface="Georgia"/>
                <a:cs typeface="Georgia"/>
              </a:rPr>
              <a:t>line</a:t>
            </a:r>
            <a:r>
              <a:rPr sz="3600" spc="-60" dirty="0">
                <a:solidFill>
                  <a:srgbClr val="2E377E"/>
                </a:solidFill>
                <a:latin typeface="Georgia"/>
                <a:cs typeface="Georgia"/>
              </a:rPr>
              <a:t> </a:t>
            </a:r>
            <a:r>
              <a:rPr sz="3600" spc="-285" dirty="0">
                <a:solidFill>
                  <a:srgbClr val="2E377E"/>
                </a:solidFill>
                <a:latin typeface="Georgia"/>
                <a:cs typeface="Georgia"/>
              </a:rPr>
              <a:t>43</a:t>
            </a:r>
            <a:endParaRPr sz="3600">
              <a:latin typeface="Georgia"/>
              <a:cs typeface="Georgia"/>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91739" y="3217921"/>
            <a:ext cx="15049499" cy="3848099"/>
          </a:xfrm>
          <a:prstGeom prst="rect">
            <a:avLst/>
          </a:prstGeom>
        </p:spPr>
      </p:pic>
      <p:sp>
        <p:nvSpPr>
          <p:cNvPr id="3" name="object 3"/>
          <p:cNvSpPr txBox="1"/>
          <p:nvPr/>
        </p:nvSpPr>
        <p:spPr>
          <a:xfrm>
            <a:off x="1016000" y="891183"/>
            <a:ext cx="12536170" cy="1939925"/>
          </a:xfrm>
          <a:prstGeom prst="rect">
            <a:avLst/>
          </a:prstGeom>
        </p:spPr>
        <p:txBody>
          <a:bodyPr vert="horz" wrap="square" lIns="0" tIns="102235" rIns="0" bIns="0" rtlCol="0">
            <a:spAutoFit/>
          </a:bodyPr>
          <a:lstStyle/>
          <a:p>
            <a:pPr marL="12700">
              <a:lnSpc>
                <a:spcPct val="100000"/>
              </a:lnSpc>
              <a:spcBef>
                <a:spcPts val="805"/>
              </a:spcBef>
            </a:pPr>
            <a:r>
              <a:rPr sz="3600" spc="-240" dirty="0">
                <a:solidFill>
                  <a:srgbClr val="2E377E"/>
                </a:solidFill>
                <a:latin typeface="Georgia"/>
                <a:cs typeface="Georgia"/>
              </a:rPr>
              <a:t>4.</a:t>
            </a:r>
            <a:r>
              <a:rPr sz="3600" spc="-20" dirty="0">
                <a:solidFill>
                  <a:srgbClr val="2E377E"/>
                </a:solidFill>
                <a:latin typeface="Georgia"/>
                <a:cs typeface="Georgia"/>
              </a:rPr>
              <a:t> </a:t>
            </a:r>
            <a:r>
              <a:rPr sz="3600" dirty="0">
                <a:solidFill>
                  <a:srgbClr val="2E377E"/>
                </a:solidFill>
                <a:latin typeface="Georgia"/>
                <a:cs typeface="Georgia"/>
              </a:rPr>
              <a:t>Now</a:t>
            </a:r>
            <a:r>
              <a:rPr sz="3600" spc="-20" dirty="0">
                <a:solidFill>
                  <a:srgbClr val="2E377E"/>
                </a:solidFill>
                <a:latin typeface="Georgia"/>
                <a:cs typeface="Georgia"/>
              </a:rPr>
              <a:t> </a:t>
            </a:r>
            <a:r>
              <a:rPr sz="3600" dirty="0">
                <a:solidFill>
                  <a:srgbClr val="2E377E"/>
                </a:solidFill>
                <a:latin typeface="Georgia"/>
                <a:cs typeface="Georgia"/>
              </a:rPr>
              <a:t>install</a:t>
            </a:r>
            <a:r>
              <a:rPr sz="3600" spc="-20" dirty="0">
                <a:solidFill>
                  <a:srgbClr val="2E377E"/>
                </a:solidFill>
                <a:latin typeface="Georgia"/>
                <a:cs typeface="Georgia"/>
              </a:rPr>
              <a:t> </a:t>
            </a:r>
            <a:r>
              <a:rPr sz="3600" dirty="0">
                <a:solidFill>
                  <a:srgbClr val="2E377E"/>
                </a:solidFill>
                <a:latin typeface="Georgia"/>
                <a:cs typeface="Georgia"/>
              </a:rPr>
              <a:t>helm</a:t>
            </a:r>
            <a:r>
              <a:rPr sz="3600" spc="-20" dirty="0">
                <a:solidFill>
                  <a:srgbClr val="2E377E"/>
                </a:solidFill>
                <a:latin typeface="Georgia"/>
                <a:cs typeface="Georgia"/>
              </a:rPr>
              <a:t> </a:t>
            </a:r>
            <a:r>
              <a:rPr sz="3600" spc="-245" dirty="0">
                <a:solidFill>
                  <a:srgbClr val="2E377E"/>
                </a:solidFill>
                <a:latin typeface="Georgia"/>
                <a:cs typeface="Georgia"/>
              </a:rPr>
              <a:t>:</a:t>
            </a:r>
            <a:r>
              <a:rPr sz="3600" spc="-20" dirty="0">
                <a:solidFill>
                  <a:srgbClr val="2E377E"/>
                </a:solidFill>
                <a:latin typeface="Georgia"/>
                <a:cs typeface="Georgia"/>
              </a:rPr>
              <a:t> </a:t>
            </a:r>
            <a:r>
              <a:rPr sz="3600" dirty="0">
                <a:solidFill>
                  <a:srgbClr val="FF3131"/>
                </a:solidFill>
                <a:latin typeface="Georgia"/>
                <a:cs typeface="Georgia"/>
              </a:rPr>
              <a:t>helm</a:t>
            </a:r>
            <a:r>
              <a:rPr sz="3600" spc="-20" dirty="0">
                <a:solidFill>
                  <a:srgbClr val="FF3131"/>
                </a:solidFill>
                <a:latin typeface="Georgia"/>
                <a:cs typeface="Georgia"/>
              </a:rPr>
              <a:t> </a:t>
            </a:r>
            <a:r>
              <a:rPr sz="3600" dirty="0">
                <a:solidFill>
                  <a:srgbClr val="FF3131"/>
                </a:solidFill>
                <a:latin typeface="Georgia"/>
                <a:cs typeface="Georgia"/>
              </a:rPr>
              <a:t>install</a:t>
            </a:r>
            <a:r>
              <a:rPr sz="3600" spc="-20" dirty="0">
                <a:solidFill>
                  <a:srgbClr val="FF3131"/>
                </a:solidFill>
                <a:latin typeface="Georgia"/>
                <a:cs typeface="Georgia"/>
              </a:rPr>
              <a:t> </a:t>
            </a:r>
            <a:r>
              <a:rPr lang="en-IN" sz="3600" dirty="0">
                <a:solidFill>
                  <a:srgbClr val="FF3131"/>
                </a:solidFill>
                <a:latin typeface="Georgia"/>
                <a:cs typeface="Georgia"/>
              </a:rPr>
              <a:t>rajco</a:t>
            </a:r>
            <a:r>
              <a:rPr sz="3600" spc="-15" dirty="0">
                <a:solidFill>
                  <a:srgbClr val="FF3131"/>
                </a:solidFill>
                <a:latin typeface="Georgia"/>
                <a:cs typeface="Georgia"/>
              </a:rPr>
              <a:t> </a:t>
            </a:r>
            <a:r>
              <a:rPr sz="3600" spc="-50" dirty="0">
                <a:solidFill>
                  <a:srgbClr val="FF3131"/>
                </a:solidFill>
                <a:latin typeface="Georgia"/>
                <a:cs typeface="Georgia"/>
              </a:rPr>
              <a:t>.</a:t>
            </a:r>
            <a:endParaRPr sz="3600" dirty="0">
              <a:latin typeface="Georgia"/>
              <a:cs typeface="Georgia"/>
            </a:endParaRPr>
          </a:p>
          <a:p>
            <a:pPr marL="12700">
              <a:lnSpc>
                <a:spcPct val="100000"/>
              </a:lnSpc>
              <a:spcBef>
                <a:spcPts val="705"/>
              </a:spcBef>
            </a:pPr>
            <a:r>
              <a:rPr sz="3600" dirty="0">
                <a:solidFill>
                  <a:srgbClr val="2E377E"/>
                </a:solidFill>
                <a:latin typeface="Georgia"/>
                <a:cs typeface="Georgia"/>
              </a:rPr>
              <a:t>here</a:t>
            </a:r>
            <a:r>
              <a:rPr sz="3600" spc="10" dirty="0">
                <a:solidFill>
                  <a:srgbClr val="2E377E"/>
                </a:solidFill>
                <a:latin typeface="Georgia"/>
                <a:cs typeface="Georgia"/>
              </a:rPr>
              <a:t> </a:t>
            </a:r>
            <a:r>
              <a:rPr sz="3600" spc="-100" dirty="0">
                <a:solidFill>
                  <a:srgbClr val="2E377E"/>
                </a:solidFill>
                <a:latin typeface="Georgia"/>
                <a:cs typeface="Georgia"/>
              </a:rPr>
              <a:t>dot(</a:t>
            </a:r>
            <a:r>
              <a:rPr sz="3600" spc="-100" dirty="0">
                <a:solidFill>
                  <a:srgbClr val="2E377E"/>
                </a:solidFill>
                <a:latin typeface="Times New Roman"/>
                <a:cs typeface="Times New Roman"/>
              </a:rPr>
              <a:t>.</a:t>
            </a:r>
            <a:r>
              <a:rPr sz="3600" spc="-100" dirty="0">
                <a:solidFill>
                  <a:srgbClr val="2E377E"/>
                </a:solidFill>
                <a:latin typeface="Georgia"/>
                <a:cs typeface="Georgia"/>
              </a:rPr>
              <a:t>)</a:t>
            </a:r>
            <a:r>
              <a:rPr sz="3600" spc="15" dirty="0">
                <a:solidFill>
                  <a:srgbClr val="2E377E"/>
                </a:solidFill>
                <a:latin typeface="Georgia"/>
                <a:cs typeface="Georgia"/>
              </a:rPr>
              <a:t> </a:t>
            </a:r>
            <a:r>
              <a:rPr sz="3600" dirty="0">
                <a:solidFill>
                  <a:srgbClr val="2E377E"/>
                </a:solidFill>
                <a:latin typeface="Georgia"/>
                <a:cs typeface="Georgia"/>
              </a:rPr>
              <a:t>represents</a:t>
            </a:r>
            <a:r>
              <a:rPr sz="3600" spc="15" dirty="0">
                <a:solidFill>
                  <a:srgbClr val="2E377E"/>
                </a:solidFill>
                <a:latin typeface="Georgia"/>
                <a:cs typeface="Georgia"/>
              </a:rPr>
              <a:t> </a:t>
            </a:r>
            <a:r>
              <a:rPr sz="3600" dirty="0">
                <a:solidFill>
                  <a:srgbClr val="2E377E"/>
                </a:solidFill>
                <a:latin typeface="Georgia"/>
                <a:cs typeface="Georgia"/>
              </a:rPr>
              <a:t>that</a:t>
            </a:r>
            <a:r>
              <a:rPr sz="3600" spc="15" dirty="0">
                <a:solidFill>
                  <a:srgbClr val="2E377E"/>
                </a:solidFill>
                <a:latin typeface="Georgia"/>
                <a:cs typeface="Georgia"/>
              </a:rPr>
              <a:t> </a:t>
            </a:r>
            <a:r>
              <a:rPr sz="3600" spc="70" dirty="0">
                <a:solidFill>
                  <a:srgbClr val="2E377E"/>
                </a:solidFill>
                <a:latin typeface="Georgia"/>
                <a:cs typeface="Georgia"/>
              </a:rPr>
              <a:t>pwd</a:t>
            </a:r>
            <a:r>
              <a:rPr sz="3600" spc="15" dirty="0">
                <a:solidFill>
                  <a:srgbClr val="2E377E"/>
                </a:solidFill>
                <a:latin typeface="Georgia"/>
                <a:cs typeface="Georgia"/>
              </a:rPr>
              <a:t> </a:t>
            </a:r>
            <a:r>
              <a:rPr sz="3600" spc="65" dirty="0">
                <a:solidFill>
                  <a:srgbClr val="2E377E"/>
                </a:solidFill>
                <a:latin typeface="Georgia"/>
                <a:cs typeface="Georgia"/>
              </a:rPr>
              <a:t>where</a:t>
            </a:r>
            <a:r>
              <a:rPr sz="3600" spc="15" dirty="0">
                <a:solidFill>
                  <a:srgbClr val="2E377E"/>
                </a:solidFill>
                <a:latin typeface="Georgia"/>
                <a:cs typeface="Georgia"/>
              </a:rPr>
              <a:t> </a:t>
            </a:r>
            <a:r>
              <a:rPr sz="3600" dirty="0">
                <a:solidFill>
                  <a:srgbClr val="2E377E"/>
                </a:solidFill>
                <a:latin typeface="Georgia"/>
                <a:cs typeface="Georgia"/>
              </a:rPr>
              <a:t>our</a:t>
            </a:r>
            <a:r>
              <a:rPr sz="3600" spc="15" dirty="0">
                <a:solidFill>
                  <a:srgbClr val="2E377E"/>
                </a:solidFill>
                <a:latin typeface="Georgia"/>
                <a:cs typeface="Georgia"/>
              </a:rPr>
              <a:t> </a:t>
            </a:r>
            <a:r>
              <a:rPr sz="3600" dirty="0">
                <a:solidFill>
                  <a:srgbClr val="2E377E"/>
                </a:solidFill>
                <a:latin typeface="Georgia"/>
                <a:cs typeface="Georgia"/>
              </a:rPr>
              <a:t>Chart.yaml</a:t>
            </a:r>
            <a:r>
              <a:rPr sz="3600" spc="15" dirty="0">
                <a:solidFill>
                  <a:srgbClr val="2E377E"/>
                </a:solidFill>
                <a:latin typeface="Georgia"/>
                <a:cs typeface="Georgia"/>
              </a:rPr>
              <a:t> </a:t>
            </a:r>
            <a:r>
              <a:rPr sz="3600" spc="-10" dirty="0">
                <a:solidFill>
                  <a:srgbClr val="2E377E"/>
                </a:solidFill>
                <a:latin typeface="Georgia"/>
                <a:cs typeface="Georgia"/>
              </a:rPr>
              <a:t>present</a:t>
            </a:r>
            <a:endParaRPr sz="3600" dirty="0">
              <a:latin typeface="Georgia"/>
              <a:cs typeface="Georgia"/>
            </a:endParaRPr>
          </a:p>
          <a:p>
            <a:pPr marL="12700">
              <a:lnSpc>
                <a:spcPct val="100000"/>
              </a:lnSpc>
              <a:spcBef>
                <a:spcPts val="705"/>
              </a:spcBef>
            </a:pPr>
            <a:r>
              <a:rPr lang="en-IN" sz="3600" spc="229" dirty="0">
                <a:solidFill>
                  <a:srgbClr val="2E377E"/>
                </a:solidFill>
                <a:latin typeface="Times New Roman"/>
                <a:cs typeface="Times New Roman"/>
              </a:rPr>
              <a:t>rajco</a:t>
            </a:r>
            <a:r>
              <a:rPr sz="3600" spc="-50" dirty="0">
                <a:solidFill>
                  <a:srgbClr val="2E377E"/>
                </a:solidFill>
                <a:latin typeface="Times New Roman"/>
                <a:cs typeface="Times New Roman"/>
              </a:rPr>
              <a:t> </a:t>
            </a:r>
            <a:r>
              <a:rPr sz="3600" dirty="0">
                <a:solidFill>
                  <a:srgbClr val="2E377E"/>
                </a:solidFill>
                <a:latin typeface="Georgia"/>
                <a:cs typeface="Georgia"/>
              </a:rPr>
              <a:t>is</a:t>
            </a:r>
            <a:r>
              <a:rPr sz="3600" spc="-20" dirty="0">
                <a:solidFill>
                  <a:srgbClr val="2E377E"/>
                </a:solidFill>
                <a:latin typeface="Georgia"/>
                <a:cs typeface="Georgia"/>
              </a:rPr>
              <a:t> </a:t>
            </a:r>
            <a:r>
              <a:rPr sz="3600" dirty="0">
                <a:solidFill>
                  <a:srgbClr val="2E377E"/>
                </a:solidFill>
                <a:latin typeface="Georgia"/>
                <a:cs typeface="Georgia"/>
              </a:rPr>
              <a:t>release</a:t>
            </a:r>
            <a:r>
              <a:rPr sz="3600" spc="-20" dirty="0">
                <a:solidFill>
                  <a:srgbClr val="2E377E"/>
                </a:solidFill>
                <a:latin typeface="Georgia"/>
                <a:cs typeface="Georgia"/>
              </a:rPr>
              <a:t> name</a:t>
            </a:r>
            <a:endParaRPr sz="3600" dirty="0">
              <a:latin typeface="Georgia"/>
              <a:cs typeface="Georgia"/>
            </a:endParaRPr>
          </a:p>
        </p:txBody>
      </p:sp>
      <p:sp>
        <p:nvSpPr>
          <p:cNvPr id="4" name="object 4"/>
          <p:cNvSpPr txBox="1"/>
          <p:nvPr/>
        </p:nvSpPr>
        <p:spPr>
          <a:xfrm>
            <a:off x="1016000" y="7166798"/>
            <a:ext cx="15565119" cy="2201545"/>
          </a:xfrm>
          <a:prstGeom prst="rect">
            <a:avLst/>
          </a:prstGeom>
        </p:spPr>
        <p:txBody>
          <a:bodyPr vert="horz" wrap="square" lIns="0" tIns="12700" rIns="0" bIns="0" rtlCol="0">
            <a:spAutoFit/>
          </a:bodyPr>
          <a:lstStyle/>
          <a:p>
            <a:pPr marL="12700" marR="5080" indent="419100">
              <a:lnSpc>
                <a:spcPct val="116300"/>
              </a:lnSpc>
              <a:spcBef>
                <a:spcPts val="100"/>
              </a:spcBef>
              <a:buAutoNum type="arabicPeriod" startAt="5"/>
              <a:tabLst>
                <a:tab pos="431800" algn="l"/>
              </a:tabLst>
            </a:pPr>
            <a:r>
              <a:rPr sz="3600" dirty="0">
                <a:solidFill>
                  <a:srgbClr val="2E377E"/>
                </a:solidFill>
                <a:latin typeface="Georgia"/>
                <a:cs typeface="Georgia"/>
              </a:rPr>
              <a:t>Now</a:t>
            </a:r>
            <a:r>
              <a:rPr sz="3600" spc="10" dirty="0">
                <a:solidFill>
                  <a:srgbClr val="2E377E"/>
                </a:solidFill>
                <a:latin typeface="Georgia"/>
                <a:cs typeface="Georgia"/>
              </a:rPr>
              <a:t> </a:t>
            </a:r>
            <a:r>
              <a:rPr sz="3600" spc="130" dirty="0">
                <a:solidFill>
                  <a:srgbClr val="2E377E"/>
                </a:solidFill>
                <a:latin typeface="Georgia"/>
                <a:cs typeface="Georgia"/>
              </a:rPr>
              <a:t>we</a:t>
            </a:r>
            <a:r>
              <a:rPr sz="3600" spc="15" dirty="0">
                <a:solidFill>
                  <a:srgbClr val="2E377E"/>
                </a:solidFill>
                <a:latin typeface="Georgia"/>
                <a:cs typeface="Georgia"/>
              </a:rPr>
              <a:t> </a:t>
            </a:r>
            <a:r>
              <a:rPr sz="3600" dirty="0">
                <a:solidFill>
                  <a:srgbClr val="2E377E"/>
                </a:solidFill>
                <a:latin typeface="Georgia"/>
                <a:cs typeface="Georgia"/>
              </a:rPr>
              <a:t>can</a:t>
            </a:r>
            <a:r>
              <a:rPr sz="3600" spc="15" dirty="0">
                <a:solidFill>
                  <a:srgbClr val="2E377E"/>
                </a:solidFill>
                <a:latin typeface="Georgia"/>
                <a:cs typeface="Georgia"/>
              </a:rPr>
              <a:t> </a:t>
            </a:r>
            <a:r>
              <a:rPr sz="3600" dirty="0">
                <a:solidFill>
                  <a:srgbClr val="2E377E"/>
                </a:solidFill>
                <a:latin typeface="Georgia"/>
                <a:cs typeface="Georgia"/>
              </a:rPr>
              <a:t>see</a:t>
            </a:r>
            <a:r>
              <a:rPr sz="3600" spc="15" dirty="0">
                <a:solidFill>
                  <a:srgbClr val="2E377E"/>
                </a:solidFill>
                <a:latin typeface="Georgia"/>
                <a:cs typeface="Georgia"/>
              </a:rPr>
              <a:t> </a:t>
            </a:r>
            <a:r>
              <a:rPr sz="3600" dirty="0">
                <a:solidFill>
                  <a:srgbClr val="2E377E"/>
                </a:solidFill>
                <a:latin typeface="Georgia"/>
                <a:cs typeface="Georgia"/>
              </a:rPr>
              <a:t>pods,</a:t>
            </a:r>
            <a:r>
              <a:rPr sz="3600" spc="15" dirty="0">
                <a:solidFill>
                  <a:srgbClr val="2E377E"/>
                </a:solidFill>
                <a:latin typeface="Georgia"/>
                <a:cs typeface="Georgia"/>
              </a:rPr>
              <a:t> </a:t>
            </a:r>
            <a:r>
              <a:rPr sz="3600" dirty="0">
                <a:solidFill>
                  <a:srgbClr val="2E377E"/>
                </a:solidFill>
                <a:latin typeface="Georgia"/>
                <a:cs typeface="Georgia"/>
              </a:rPr>
              <a:t>deployments,</a:t>
            </a:r>
            <a:r>
              <a:rPr sz="3600" spc="15" dirty="0">
                <a:solidFill>
                  <a:srgbClr val="2E377E"/>
                </a:solidFill>
                <a:latin typeface="Georgia"/>
                <a:cs typeface="Georgia"/>
              </a:rPr>
              <a:t> </a:t>
            </a:r>
            <a:r>
              <a:rPr sz="3600" spc="45" dirty="0">
                <a:solidFill>
                  <a:srgbClr val="2E377E"/>
                </a:solidFill>
                <a:latin typeface="Georgia"/>
                <a:cs typeface="Georgia"/>
              </a:rPr>
              <a:t>services</a:t>
            </a:r>
            <a:r>
              <a:rPr sz="3600" spc="15" dirty="0">
                <a:solidFill>
                  <a:srgbClr val="2E377E"/>
                </a:solidFill>
                <a:latin typeface="Georgia"/>
                <a:cs typeface="Georgia"/>
              </a:rPr>
              <a:t> </a:t>
            </a:r>
            <a:r>
              <a:rPr sz="3600" dirty="0">
                <a:solidFill>
                  <a:srgbClr val="2E377E"/>
                </a:solidFill>
                <a:latin typeface="Georgia"/>
                <a:cs typeface="Georgia"/>
              </a:rPr>
              <a:t>will</a:t>
            </a:r>
            <a:r>
              <a:rPr sz="3600" spc="15" dirty="0">
                <a:solidFill>
                  <a:srgbClr val="2E377E"/>
                </a:solidFill>
                <a:latin typeface="Georgia"/>
                <a:cs typeface="Georgia"/>
              </a:rPr>
              <a:t> </a:t>
            </a:r>
            <a:r>
              <a:rPr sz="3600" dirty="0">
                <a:solidFill>
                  <a:srgbClr val="2E377E"/>
                </a:solidFill>
                <a:latin typeface="Georgia"/>
                <a:cs typeface="Georgia"/>
              </a:rPr>
              <a:t>be</a:t>
            </a:r>
            <a:r>
              <a:rPr sz="3600" spc="10" dirty="0">
                <a:solidFill>
                  <a:srgbClr val="2E377E"/>
                </a:solidFill>
                <a:latin typeface="Georgia"/>
                <a:cs typeface="Georgia"/>
              </a:rPr>
              <a:t> </a:t>
            </a:r>
            <a:r>
              <a:rPr sz="3600" dirty="0">
                <a:solidFill>
                  <a:srgbClr val="2E377E"/>
                </a:solidFill>
                <a:latin typeface="Georgia"/>
                <a:cs typeface="Georgia"/>
              </a:rPr>
              <a:t>created</a:t>
            </a:r>
            <a:r>
              <a:rPr sz="3600" spc="15" dirty="0">
                <a:solidFill>
                  <a:srgbClr val="2E377E"/>
                </a:solidFill>
                <a:latin typeface="Georgia"/>
                <a:cs typeface="Georgia"/>
              </a:rPr>
              <a:t> </a:t>
            </a:r>
            <a:r>
              <a:rPr sz="3600" spc="-10" dirty="0">
                <a:solidFill>
                  <a:srgbClr val="2E377E"/>
                </a:solidFill>
                <a:latin typeface="Georgia"/>
                <a:cs typeface="Georgia"/>
              </a:rPr>
              <a:t>automatically. </a:t>
            </a:r>
            <a:r>
              <a:rPr sz="3600" dirty="0">
                <a:solidFill>
                  <a:srgbClr val="2E377E"/>
                </a:solidFill>
                <a:latin typeface="Georgia"/>
                <a:cs typeface="Georgia"/>
              </a:rPr>
              <a:t>Now</a:t>
            </a:r>
            <a:r>
              <a:rPr sz="3600" spc="10" dirty="0">
                <a:solidFill>
                  <a:srgbClr val="2E377E"/>
                </a:solidFill>
                <a:latin typeface="Georgia"/>
                <a:cs typeface="Georgia"/>
              </a:rPr>
              <a:t> </a:t>
            </a:r>
            <a:r>
              <a:rPr sz="3600" spc="130" dirty="0">
                <a:solidFill>
                  <a:srgbClr val="2E377E"/>
                </a:solidFill>
                <a:latin typeface="Georgia"/>
                <a:cs typeface="Georgia"/>
              </a:rPr>
              <a:t>we</a:t>
            </a:r>
            <a:r>
              <a:rPr sz="3600" spc="15" dirty="0">
                <a:solidFill>
                  <a:srgbClr val="2E377E"/>
                </a:solidFill>
                <a:latin typeface="Georgia"/>
                <a:cs typeface="Georgia"/>
              </a:rPr>
              <a:t> </a:t>
            </a:r>
            <a:r>
              <a:rPr sz="3600" dirty="0">
                <a:solidFill>
                  <a:srgbClr val="2E377E"/>
                </a:solidFill>
                <a:latin typeface="Georgia"/>
                <a:cs typeface="Georgia"/>
              </a:rPr>
              <a:t>can</a:t>
            </a:r>
            <a:r>
              <a:rPr sz="3600" spc="15" dirty="0">
                <a:solidFill>
                  <a:srgbClr val="2E377E"/>
                </a:solidFill>
                <a:latin typeface="Georgia"/>
                <a:cs typeface="Georgia"/>
              </a:rPr>
              <a:t> </a:t>
            </a:r>
            <a:r>
              <a:rPr sz="3600" dirty="0">
                <a:solidFill>
                  <a:srgbClr val="2E377E"/>
                </a:solidFill>
                <a:latin typeface="Georgia"/>
                <a:cs typeface="Georgia"/>
              </a:rPr>
              <a:t>access</a:t>
            </a:r>
            <a:r>
              <a:rPr sz="3600" spc="10" dirty="0">
                <a:solidFill>
                  <a:srgbClr val="2E377E"/>
                </a:solidFill>
                <a:latin typeface="Georgia"/>
                <a:cs typeface="Georgia"/>
              </a:rPr>
              <a:t> </a:t>
            </a:r>
            <a:r>
              <a:rPr sz="3600" dirty="0">
                <a:solidFill>
                  <a:srgbClr val="2E377E"/>
                </a:solidFill>
                <a:latin typeface="Georgia"/>
                <a:cs typeface="Georgia"/>
              </a:rPr>
              <a:t>those</a:t>
            </a:r>
            <a:r>
              <a:rPr sz="3600" spc="15" dirty="0">
                <a:solidFill>
                  <a:srgbClr val="2E377E"/>
                </a:solidFill>
                <a:latin typeface="Georgia"/>
                <a:cs typeface="Georgia"/>
              </a:rPr>
              <a:t> </a:t>
            </a:r>
            <a:r>
              <a:rPr sz="3600" dirty="0">
                <a:solidFill>
                  <a:srgbClr val="2E377E"/>
                </a:solidFill>
                <a:latin typeface="Georgia"/>
                <a:cs typeface="Georgia"/>
              </a:rPr>
              <a:t>nginx</a:t>
            </a:r>
            <a:r>
              <a:rPr sz="3600" spc="15" dirty="0">
                <a:solidFill>
                  <a:srgbClr val="2E377E"/>
                </a:solidFill>
                <a:latin typeface="Georgia"/>
                <a:cs typeface="Georgia"/>
              </a:rPr>
              <a:t> </a:t>
            </a:r>
            <a:r>
              <a:rPr sz="3600" dirty="0">
                <a:solidFill>
                  <a:srgbClr val="2E377E"/>
                </a:solidFill>
                <a:latin typeface="Georgia"/>
                <a:cs typeface="Georgia"/>
              </a:rPr>
              <a:t>page</a:t>
            </a:r>
            <a:r>
              <a:rPr sz="3600" spc="15" dirty="0">
                <a:solidFill>
                  <a:srgbClr val="2E377E"/>
                </a:solidFill>
                <a:latin typeface="Georgia"/>
                <a:cs typeface="Georgia"/>
              </a:rPr>
              <a:t> </a:t>
            </a:r>
            <a:r>
              <a:rPr sz="3600" dirty="0">
                <a:solidFill>
                  <a:srgbClr val="2E377E"/>
                </a:solidFill>
                <a:latin typeface="Georgia"/>
                <a:cs typeface="Georgia"/>
              </a:rPr>
              <a:t>using</a:t>
            </a:r>
            <a:r>
              <a:rPr sz="3600" spc="10" dirty="0">
                <a:solidFill>
                  <a:srgbClr val="2E377E"/>
                </a:solidFill>
                <a:latin typeface="Georgia"/>
                <a:cs typeface="Georgia"/>
              </a:rPr>
              <a:t> </a:t>
            </a:r>
            <a:r>
              <a:rPr sz="3600" dirty="0">
                <a:solidFill>
                  <a:srgbClr val="2E377E"/>
                </a:solidFill>
                <a:latin typeface="Georgia"/>
                <a:cs typeface="Georgia"/>
              </a:rPr>
              <a:t>slaveip:node-</a:t>
            </a:r>
            <a:r>
              <a:rPr sz="3600" spc="-20" dirty="0">
                <a:solidFill>
                  <a:srgbClr val="2E377E"/>
                </a:solidFill>
                <a:latin typeface="Georgia"/>
                <a:cs typeface="Georgia"/>
              </a:rPr>
              <a:t>port</a:t>
            </a:r>
            <a:endParaRPr sz="3600">
              <a:latin typeface="Georgia"/>
              <a:cs typeface="Georgia"/>
            </a:endParaRPr>
          </a:p>
          <a:p>
            <a:pPr marL="442595" indent="-429895">
              <a:lnSpc>
                <a:spcPct val="100000"/>
              </a:lnSpc>
              <a:spcBef>
                <a:spcPts val="2765"/>
              </a:spcBef>
              <a:buAutoNum type="arabicPeriod" startAt="5"/>
              <a:tabLst>
                <a:tab pos="442595" algn="l"/>
              </a:tabLst>
            </a:pPr>
            <a:r>
              <a:rPr sz="3600" dirty="0">
                <a:solidFill>
                  <a:srgbClr val="2E377E"/>
                </a:solidFill>
                <a:latin typeface="Georgia"/>
                <a:cs typeface="Georgia"/>
              </a:rPr>
              <a:t>To</a:t>
            </a:r>
            <a:r>
              <a:rPr sz="3600" spc="-40" dirty="0">
                <a:solidFill>
                  <a:srgbClr val="2E377E"/>
                </a:solidFill>
                <a:latin typeface="Georgia"/>
                <a:cs typeface="Georgia"/>
              </a:rPr>
              <a:t> </a:t>
            </a:r>
            <a:r>
              <a:rPr sz="3600" spc="65" dirty="0">
                <a:solidFill>
                  <a:srgbClr val="2E377E"/>
                </a:solidFill>
                <a:latin typeface="Georgia"/>
                <a:cs typeface="Georgia"/>
              </a:rPr>
              <a:t>get</a:t>
            </a:r>
            <a:r>
              <a:rPr sz="3600" spc="-35" dirty="0">
                <a:solidFill>
                  <a:srgbClr val="2E377E"/>
                </a:solidFill>
                <a:latin typeface="Georgia"/>
                <a:cs typeface="Georgia"/>
              </a:rPr>
              <a:t> </a:t>
            </a:r>
            <a:r>
              <a:rPr sz="3600" dirty="0">
                <a:solidFill>
                  <a:srgbClr val="2E377E"/>
                </a:solidFill>
                <a:latin typeface="Georgia"/>
                <a:cs typeface="Georgia"/>
              </a:rPr>
              <a:t>helm</a:t>
            </a:r>
            <a:r>
              <a:rPr sz="3600" spc="-35" dirty="0">
                <a:solidFill>
                  <a:srgbClr val="2E377E"/>
                </a:solidFill>
                <a:latin typeface="Georgia"/>
                <a:cs typeface="Georgia"/>
              </a:rPr>
              <a:t> </a:t>
            </a:r>
            <a:r>
              <a:rPr sz="3600" dirty="0">
                <a:solidFill>
                  <a:srgbClr val="2E377E"/>
                </a:solidFill>
                <a:latin typeface="Georgia"/>
                <a:cs typeface="Georgia"/>
              </a:rPr>
              <a:t>release</a:t>
            </a:r>
            <a:r>
              <a:rPr sz="3600" spc="-35" dirty="0">
                <a:solidFill>
                  <a:srgbClr val="2E377E"/>
                </a:solidFill>
                <a:latin typeface="Georgia"/>
                <a:cs typeface="Georgia"/>
              </a:rPr>
              <a:t> </a:t>
            </a:r>
            <a:r>
              <a:rPr sz="3600" dirty="0">
                <a:solidFill>
                  <a:srgbClr val="2E377E"/>
                </a:solidFill>
                <a:latin typeface="Georgia"/>
                <a:cs typeface="Georgia"/>
              </a:rPr>
              <a:t>list</a:t>
            </a:r>
            <a:r>
              <a:rPr sz="3600" spc="-35" dirty="0">
                <a:solidFill>
                  <a:srgbClr val="2E377E"/>
                </a:solidFill>
                <a:latin typeface="Georgia"/>
                <a:cs typeface="Georgia"/>
              </a:rPr>
              <a:t> </a:t>
            </a:r>
            <a:r>
              <a:rPr sz="3600" spc="-245" dirty="0">
                <a:solidFill>
                  <a:srgbClr val="2E377E"/>
                </a:solidFill>
                <a:latin typeface="Georgia"/>
                <a:cs typeface="Georgia"/>
              </a:rPr>
              <a:t>:</a:t>
            </a:r>
            <a:r>
              <a:rPr sz="3600" spc="-40" dirty="0">
                <a:solidFill>
                  <a:srgbClr val="2E377E"/>
                </a:solidFill>
                <a:latin typeface="Georgia"/>
                <a:cs typeface="Georgia"/>
              </a:rPr>
              <a:t> </a:t>
            </a:r>
            <a:r>
              <a:rPr sz="3600" dirty="0">
                <a:solidFill>
                  <a:srgbClr val="E7181F"/>
                </a:solidFill>
                <a:latin typeface="Georgia"/>
                <a:cs typeface="Georgia"/>
              </a:rPr>
              <a:t>helm</a:t>
            </a:r>
            <a:r>
              <a:rPr sz="3600" spc="-35" dirty="0">
                <a:solidFill>
                  <a:srgbClr val="E7181F"/>
                </a:solidFill>
                <a:latin typeface="Georgia"/>
                <a:cs typeface="Georgia"/>
              </a:rPr>
              <a:t> </a:t>
            </a:r>
            <a:r>
              <a:rPr sz="3600" dirty="0">
                <a:solidFill>
                  <a:srgbClr val="E7181F"/>
                </a:solidFill>
                <a:latin typeface="Georgia"/>
                <a:cs typeface="Georgia"/>
              </a:rPr>
              <a:t>list</a:t>
            </a:r>
            <a:r>
              <a:rPr sz="3600" spc="-35" dirty="0">
                <a:solidFill>
                  <a:srgbClr val="E7181F"/>
                </a:solidFill>
                <a:latin typeface="Georgia"/>
                <a:cs typeface="Georgia"/>
              </a:rPr>
              <a:t> </a:t>
            </a:r>
            <a:r>
              <a:rPr sz="3600" spc="-145" dirty="0">
                <a:solidFill>
                  <a:srgbClr val="E7181F"/>
                </a:solidFill>
                <a:latin typeface="Georgia"/>
                <a:cs typeface="Georgia"/>
              </a:rPr>
              <a:t>(or)</a:t>
            </a:r>
            <a:r>
              <a:rPr sz="3600" spc="-35" dirty="0">
                <a:solidFill>
                  <a:srgbClr val="E7181F"/>
                </a:solidFill>
                <a:latin typeface="Georgia"/>
                <a:cs typeface="Georgia"/>
              </a:rPr>
              <a:t> </a:t>
            </a:r>
            <a:r>
              <a:rPr sz="3600" dirty="0">
                <a:solidFill>
                  <a:srgbClr val="E7181F"/>
                </a:solidFill>
                <a:latin typeface="Georgia"/>
                <a:cs typeface="Georgia"/>
              </a:rPr>
              <a:t>helm</a:t>
            </a:r>
            <a:r>
              <a:rPr sz="3600" spc="-35" dirty="0">
                <a:solidFill>
                  <a:srgbClr val="E7181F"/>
                </a:solidFill>
                <a:latin typeface="Georgia"/>
                <a:cs typeface="Georgia"/>
              </a:rPr>
              <a:t> </a:t>
            </a:r>
            <a:r>
              <a:rPr sz="3600" spc="-25" dirty="0">
                <a:solidFill>
                  <a:srgbClr val="E7181F"/>
                </a:solidFill>
                <a:latin typeface="Georgia"/>
                <a:cs typeface="Georgia"/>
              </a:rPr>
              <a:t>ls</a:t>
            </a:r>
            <a:endParaRPr sz="3600">
              <a:latin typeface="Georgia"/>
              <a:cs typeface="Georgia"/>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00" y="894906"/>
            <a:ext cx="16376015" cy="5598160"/>
          </a:xfrm>
          <a:prstGeom prst="rect">
            <a:avLst/>
          </a:prstGeom>
        </p:spPr>
        <p:txBody>
          <a:bodyPr vert="horz" wrap="square" lIns="0" tIns="98425" rIns="0" bIns="0" rtlCol="0">
            <a:spAutoFit/>
          </a:bodyPr>
          <a:lstStyle/>
          <a:p>
            <a:pPr marL="431165" indent="-418465">
              <a:lnSpc>
                <a:spcPct val="100000"/>
              </a:lnSpc>
              <a:spcBef>
                <a:spcPts val="775"/>
              </a:spcBef>
              <a:buAutoNum type="arabicPeriod" startAt="5"/>
              <a:tabLst>
                <a:tab pos="431165" algn="l"/>
              </a:tabLst>
            </a:pPr>
            <a:r>
              <a:rPr sz="3500" dirty="0">
                <a:solidFill>
                  <a:srgbClr val="2E377E"/>
                </a:solidFill>
                <a:latin typeface="Georgia"/>
                <a:cs typeface="Georgia"/>
              </a:rPr>
              <a:t>Now</a:t>
            </a:r>
            <a:r>
              <a:rPr sz="3500" spc="-20" dirty="0">
                <a:solidFill>
                  <a:srgbClr val="2E377E"/>
                </a:solidFill>
                <a:latin typeface="Georgia"/>
                <a:cs typeface="Georgia"/>
              </a:rPr>
              <a:t> </a:t>
            </a:r>
            <a:r>
              <a:rPr sz="3500" dirty="0">
                <a:solidFill>
                  <a:srgbClr val="2E377E"/>
                </a:solidFill>
                <a:latin typeface="Georgia"/>
                <a:cs typeface="Georgia"/>
              </a:rPr>
              <a:t>lets</a:t>
            </a:r>
            <a:r>
              <a:rPr sz="3500" spc="-15" dirty="0">
                <a:solidFill>
                  <a:srgbClr val="2E377E"/>
                </a:solidFill>
                <a:latin typeface="Georgia"/>
                <a:cs typeface="Georgia"/>
              </a:rPr>
              <a:t> </a:t>
            </a:r>
            <a:r>
              <a:rPr sz="3500" dirty="0">
                <a:solidFill>
                  <a:srgbClr val="2E377E"/>
                </a:solidFill>
                <a:latin typeface="Georgia"/>
                <a:cs typeface="Georgia"/>
              </a:rPr>
              <a:t>scale</a:t>
            </a:r>
            <a:r>
              <a:rPr sz="3500" spc="-20" dirty="0">
                <a:solidFill>
                  <a:srgbClr val="2E377E"/>
                </a:solidFill>
                <a:latin typeface="Georgia"/>
                <a:cs typeface="Georgia"/>
              </a:rPr>
              <a:t> </a:t>
            </a:r>
            <a:r>
              <a:rPr sz="3500" dirty="0">
                <a:solidFill>
                  <a:srgbClr val="2E377E"/>
                </a:solidFill>
                <a:latin typeface="Georgia"/>
                <a:cs typeface="Georgia"/>
              </a:rPr>
              <a:t>up</a:t>
            </a:r>
            <a:r>
              <a:rPr sz="3500" spc="-15" dirty="0">
                <a:solidFill>
                  <a:srgbClr val="2E377E"/>
                </a:solidFill>
                <a:latin typeface="Georgia"/>
                <a:cs typeface="Georgia"/>
              </a:rPr>
              <a:t> </a:t>
            </a:r>
            <a:r>
              <a:rPr sz="3500" dirty="0">
                <a:solidFill>
                  <a:srgbClr val="2E377E"/>
                </a:solidFill>
                <a:latin typeface="Georgia"/>
                <a:cs typeface="Georgia"/>
              </a:rPr>
              <a:t>the</a:t>
            </a:r>
            <a:r>
              <a:rPr sz="3500" spc="-20" dirty="0">
                <a:solidFill>
                  <a:srgbClr val="2E377E"/>
                </a:solidFill>
                <a:latin typeface="Georgia"/>
                <a:cs typeface="Georgia"/>
              </a:rPr>
              <a:t> </a:t>
            </a:r>
            <a:r>
              <a:rPr sz="3500" dirty="0">
                <a:solidFill>
                  <a:srgbClr val="2E377E"/>
                </a:solidFill>
                <a:latin typeface="Georgia"/>
                <a:cs typeface="Georgia"/>
              </a:rPr>
              <a:t>replicas</a:t>
            </a:r>
            <a:r>
              <a:rPr sz="3500" spc="-15" dirty="0">
                <a:solidFill>
                  <a:srgbClr val="2E377E"/>
                </a:solidFill>
                <a:latin typeface="Georgia"/>
                <a:cs typeface="Georgia"/>
              </a:rPr>
              <a:t> </a:t>
            </a:r>
            <a:r>
              <a:rPr sz="3500" dirty="0">
                <a:solidFill>
                  <a:srgbClr val="2E377E"/>
                </a:solidFill>
                <a:latin typeface="Georgia"/>
                <a:cs typeface="Georgia"/>
              </a:rPr>
              <a:t>in</a:t>
            </a:r>
            <a:r>
              <a:rPr sz="3500" spc="-15" dirty="0">
                <a:solidFill>
                  <a:srgbClr val="2E377E"/>
                </a:solidFill>
                <a:latin typeface="Georgia"/>
                <a:cs typeface="Georgia"/>
              </a:rPr>
              <a:t> </a:t>
            </a:r>
            <a:r>
              <a:rPr sz="3500" dirty="0">
                <a:solidFill>
                  <a:srgbClr val="2E377E"/>
                </a:solidFill>
                <a:latin typeface="Georgia"/>
                <a:cs typeface="Georgia"/>
              </a:rPr>
              <a:t>values.yml</a:t>
            </a:r>
            <a:r>
              <a:rPr sz="3500" spc="-20" dirty="0">
                <a:solidFill>
                  <a:srgbClr val="2E377E"/>
                </a:solidFill>
                <a:latin typeface="Georgia"/>
                <a:cs typeface="Georgia"/>
              </a:rPr>
              <a:t> </a:t>
            </a:r>
            <a:r>
              <a:rPr sz="3500" spc="-25" dirty="0">
                <a:solidFill>
                  <a:srgbClr val="2E377E"/>
                </a:solidFill>
                <a:latin typeface="Georgia"/>
                <a:cs typeface="Georgia"/>
              </a:rPr>
              <a:t>(change</a:t>
            </a:r>
            <a:r>
              <a:rPr sz="3500" spc="-15" dirty="0">
                <a:solidFill>
                  <a:srgbClr val="2E377E"/>
                </a:solidFill>
                <a:latin typeface="Georgia"/>
                <a:cs typeface="Georgia"/>
              </a:rPr>
              <a:t> </a:t>
            </a:r>
            <a:r>
              <a:rPr sz="3500" dirty="0">
                <a:solidFill>
                  <a:srgbClr val="2E377E"/>
                </a:solidFill>
                <a:latin typeface="Georgia"/>
                <a:cs typeface="Georgia"/>
              </a:rPr>
              <a:t>value</a:t>
            </a:r>
            <a:r>
              <a:rPr sz="3500" spc="-20" dirty="0">
                <a:solidFill>
                  <a:srgbClr val="2E377E"/>
                </a:solidFill>
                <a:latin typeface="Georgia"/>
                <a:cs typeface="Georgia"/>
              </a:rPr>
              <a:t> </a:t>
            </a:r>
            <a:r>
              <a:rPr sz="3500" dirty="0">
                <a:solidFill>
                  <a:srgbClr val="2E377E"/>
                </a:solidFill>
                <a:latin typeface="Georgia"/>
                <a:cs typeface="Georgia"/>
              </a:rPr>
              <a:t>from</a:t>
            </a:r>
            <a:r>
              <a:rPr sz="3500" spc="-15" dirty="0">
                <a:solidFill>
                  <a:srgbClr val="2E377E"/>
                </a:solidFill>
                <a:latin typeface="Georgia"/>
                <a:cs typeface="Georgia"/>
              </a:rPr>
              <a:t> </a:t>
            </a:r>
            <a:r>
              <a:rPr sz="3500" dirty="0">
                <a:solidFill>
                  <a:srgbClr val="2E377E"/>
                </a:solidFill>
                <a:latin typeface="Georgia"/>
                <a:cs typeface="Georgia"/>
              </a:rPr>
              <a:t>1</a:t>
            </a:r>
            <a:r>
              <a:rPr sz="3500" spc="-15" dirty="0">
                <a:solidFill>
                  <a:srgbClr val="2E377E"/>
                </a:solidFill>
                <a:latin typeface="Georgia"/>
                <a:cs typeface="Georgia"/>
              </a:rPr>
              <a:t> </a:t>
            </a:r>
            <a:r>
              <a:rPr sz="3500" spc="55" dirty="0">
                <a:solidFill>
                  <a:srgbClr val="2E377E"/>
                </a:solidFill>
                <a:latin typeface="Georgia"/>
                <a:cs typeface="Georgia"/>
              </a:rPr>
              <a:t>to</a:t>
            </a:r>
            <a:r>
              <a:rPr sz="3500" spc="-20" dirty="0">
                <a:solidFill>
                  <a:srgbClr val="2E377E"/>
                </a:solidFill>
                <a:latin typeface="Georgia"/>
                <a:cs typeface="Georgia"/>
              </a:rPr>
              <a:t> </a:t>
            </a:r>
            <a:r>
              <a:rPr sz="3500" spc="-315" dirty="0">
                <a:solidFill>
                  <a:srgbClr val="2E377E"/>
                </a:solidFill>
                <a:latin typeface="Georgia"/>
                <a:cs typeface="Georgia"/>
              </a:rPr>
              <a:t>4)</a:t>
            </a:r>
            <a:endParaRPr sz="3500" dirty="0">
              <a:latin typeface="Georgia"/>
              <a:cs typeface="Georgia"/>
            </a:endParaRPr>
          </a:p>
          <a:p>
            <a:pPr marL="394335" indent="-381635">
              <a:lnSpc>
                <a:spcPct val="100000"/>
              </a:lnSpc>
              <a:spcBef>
                <a:spcPts val="675"/>
              </a:spcBef>
              <a:buAutoNum type="arabicPeriod" startAt="5"/>
              <a:tabLst>
                <a:tab pos="394335" algn="l"/>
              </a:tabLst>
            </a:pPr>
            <a:r>
              <a:rPr sz="3500" dirty="0">
                <a:solidFill>
                  <a:srgbClr val="2E377E"/>
                </a:solidFill>
                <a:latin typeface="Georgia"/>
                <a:cs typeface="Georgia"/>
              </a:rPr>
              <a:t>To</a:t>
            </a:r>
            <a:r>
              <a:rPr sz="3500" spc="-15" dirty="0">
                <a:solidFill>
                  <a:srgbClr val="2E377E"/>
                </a:solidFill>
                <a:latin typeface="Georgia"/>
                <a:cs typeface="Georgia"/>
              </a:rPr>
              <a:t> </a:t>
            </a:r>
            <a:r>
              <a:rPr sz="3500" dirty="0">
                <a:solidFill>
                  <a:srgbClr val="2E377E"/>
                </a:solidFill>
                <a:latin typeface="Georgia"/>
                <a:cs typeface="Georgia"/>
              </a:rPr>
              <a:t>update</a:t>
            </a:r>
            <a:r>
              <a:rPr sz="3500" spc="-10" dirty="0">
                <a:solidFill>
                  <a:srgbClr val="2E377E"/>
                </a:solidFill>
                <a:latin typeface="Georgia"/>
                <a:cs typeface="Georgia"/>
              </a:rPr>
              <a:t> </a:t>
            </a:r>
            <a:r>
              <a:rPr sz="3500" dirty="0">
                <a:solidFill>
                  <a:srgbClr val="2E377E"/>
                </a:solidFill>
                <a:latin typeface="Georgia"/>
                <a:cs typeface="Georgia"/>
              </a:rPr>
              <a:t>those</a:t>
            </a:r>
            <a:r>
              <a:rPr sz="3500" spc="-15" dirty="0">
                <a:solidFill>
                  <a:srgbClr val="2E377E"/>
                </a:solidFill>
                <a:latin typeface="Georgia"/>
                <a:cs typeface="Georgia"/>
              </a:rPr>
              <a:t> </a:t>
            </a:r>
            <a:r>
              <a:rPr sz="3500" dirty="0">
                <a:solidFill>
                  <a:srgbClr val="2E377E"/>
                </a:solidFill>
                <a:latin typeface="Georgia"/>
                <a:cs typeface="Georgia"/>
              </a:rPr>
              <a:t>changes</a:t>
            </a:r>
            <a:r>
              <a:rPr sz="3500" spc="-10" dirty="0">
                <a:solidFill>
                  <a:srgbClr val="2E377E"/>
                </a:solidFill>
                <a:latin typeface="Georgia"/>
                <a:cs typeface="Georgia"/>
              </a:rPr>
              <a:t> </a:t>
            </a:r>
            <a:r>
              <a:rPr sz="3500" spc="120" dirty="0">
                <a:solidFill>
                  <a:srgbClr val="2E377E"/>
                </a:solidFill>
                <a:latin typeface="Georgia"/>
                <a:cs typeface="Georgia"/>
              </a:rPr>
              <a:t>we</a:t>
            </a:r>
            <a:r>
              <a:rPr sz="3500" spc="-10" dirty="0">
                <a:solidFill>
                  <a:srgbClr val="2E377E"/>
                </a:solidFill>
                <a:latin typeface="Georgia"/>
                <a:cs typeface="Georgia"/>
              </a:rPr>
              <a:t> </a:t>
            </a:r>
            <a:r>
              <a:rPr sz="3500" dirty="0">
                <a:solidFill>
                  <a:srgbClr val="2E377E"/>
                </a:solidFill>
                <a:latin typeface="Georgia"/>
                <a:cs typeface="Georgia"/>
              </a:rPr>
              <a:t>will</a:t>
            </a:r>
            <a:r>
              <a:rPr sz="3500" spc="-15" dirty="0">
                <a:solidFill>
                  <a:srgbClr val="2E377E"/>
                </a:solidFill>
                <a:latin typeface="Georgia"/>
                <a:cs typeface="Georgia"/>
              </a:rPr>
              <a:t> </a:t>
            </a:r>
            <a:r>
              <a:rPr sz="3500" dirty="0">
                <a:solidFill>
                  <a:srgbClr val="2E377E"/>
                </a:solidFill>
                <a:latin typeface="Georgia"/>
                <a:cs typeface="Georgia"/>
              </a:rPr>
              <a:t>use</a:t>
            </a:r>
            <a:r>
              <a:rPr sz="3500" spc="-10" dirty="0">
                <a:solidFill>
                  <a:srgbClr val="2E377E"/>
                </a:solidFill>
                <a:latin typeface="Georgia"/>
                <a:cs typeface="Georgia"/>
              </a:rPr>
              <a:t> </a:t>
            </a:r>
            <a:r>
              <a:rPr sz="3500" spc="-250" dirty="0">
                <a:solidFill>
                  <a:srgbClr val="2E377E"/>
                </a:solidFill>
                <a:latin typeface="Georgia"/>
                <a:cs typeface="Georgia"/>
              </a:rPr>
              <a:t>:</a:t>
            </a:r>
            <a:r>
              <a:rPr sz="3500" spc="-10" dirty="0">
                <a:solidFill>
                  <a:srgbClr val="2E377E"/>
                </a:solidFill>
                <a:latin typeface="Georgia"/>
                <a:cs typeface="Georgia"/>
              </a:rPr>
              <a:t> </a:t>
            </a:r>
            <a:r>
              <a:rPr sz="3500" dirty="0">
                <a:solidFill>
                  <a:srgbClr val="E7181F"/>
                </a:solidFill>
                <a:latin typeface="Georgia"/>
                <a:cs typeface="Georgia"/>
              </a:rPr>
              <a:t>helm</a:t>
            </a:r>
            <a:r>
              <a:rPr sz="3500" spc="-15" dirty="0">
                <a:solidFill>
                  <a:srgbClr val="E7181F"/>
                </a:solidFill>
                <a:latin typeface="Georgia"/>
                <a:cs typeface="Georgia"/>
              </a:rPr>
              <a:t> </a:t>
            </a:r>
            <a:r>
              <a:rPr sz="3500" dirty="0">
                <a:solidFill>
                  <a:srgbClr val="E7181F"/>
                </a:solidFill>
                <a:latin typeface="Georgia"/>
                <a:cs typeface="Georgia"/>
              </a:rPr>
              <a:t>upgrade</a:t>
            </a:r>
            <a:r>
              <a:rPr sz="3500" spc="-10" dirty="0">
                <a:solidFill>
                  <a:srgbClr val="E7181F"/>
                </a:solidFill>
                <a:latin typeface="Georgia"/>
                <a:cs typeface="Georgia"/>
              </a:rPr>
              <a:t> </a:t>
            </a:r>
            <a:r>
              <a:rPr lang="en-IN" sz="3500" dirty="0">
                <a:solidFill>
                  <a:srgbClr val="E7181F"/>
                </a:solidFill>
                <a:latin typeface="Georgia"/>
                <a:cs typeface="Georgia"/>
              </a:rPr>
              <a:t>rajco</a:t>
            </a:r>
            <a:r>
              <a:rPr sz="3500" spc="-15" dirty="0">
                <a:solidFill>
                  <a:srgbClr val="E7181F"/>
                </a:solidFill>
                <a:latin typeface="Georgia"/>
                <a:cs typeface="Georgia"/>
              </a:rPr>
              <a:t> </a:t>
            </a:r>
            <a:r>
              <a:rPr sz="3500" spc="-50" dirty="0">
                <a:solidFill>
                  <a:srgbClr val="E7181F"/>
                </a:solidFill>
                <a:latin typeface="Georgia"/>
                <a:cs typeface="Georgia"/>
              </a:rPr>
              <a:t>.</a:t>
            </a:r>
            <a:endParaRPr sz="3500" dirty="0">
              <a:latin typeface="Georgia"/>
              <a:cs typeface="Georgia"/>
            </a:endParaRPr>
          </a:p>
          <a:p>
            <a:pPr marL="433070" indent="-420370">
              <a:lnSpc>
                <a:spcPct val="100000"/>
              </a:lnSpc>
              <a:spcBef>
                <a:spcPts val="675"/>
              </a:spcBef>
              <a:buAutoNum type="arabicPeriod" startAt="5"/>
              <a:tabLst>
                <a:tab pos="433070" algn="l"/>
              </a:tabLst>
            </a:pPr>
            <a:r>
              <a:rPr sz="3500" dirty="0">
                <a:solidFill>
                  <a:srgbClr val="2E377E"/>
                </a:solidFill>
                <a:latin typeface="Georgia"/>
                <a:cs typeface="Georgia"/>
              </a:rPr>
              <a:t>Now</a:t>
            </a:r>
            <a:r>
              <a:rPr sz="3500" spc="-5" dirty="0">
                <a:solidFill>
                  <a:srgbClr val="2E377E"/>
                </a:solidFill>
                <a:latin typeface="Georgia"/>
                <a:cs typeface="Georgia"/>
              </a:rPr>
              <a:t> </a:t>
            </a:r>
            <a:r>
              <a:rPr sz="3500" dirty="0">
                <a:solidFill>
                  <a:srgbClr val="2E377E"/>
                </a:solidFill>
                <a:latin typeface="Georgia"/>
                <a:cs typeface="Georgia"/>
              </a:rPr>
              <a:t>lets see the pods count, it will gets increased from 1 </a:t>
            </a:r>
            <a:r>
              <a:rPr sz="3500" spc="55" dirty="0">
                <a:solidFill>
                  <a:srgbClr val="2E377E"/>
                </a:solidFill>
                <a:latin typeface="Georgia"/>
                <a:cs typeface="Georgia"/>
              </a:rPr>
              <a:t>to</a:t>
            </a:r>
            <a:r>
              <a:rPr sz="3500" dirty="0">
                <a:solidFill>
                  <a:srgbClr val="2E377E"/>
                </a:solidFill>
                <a:latin typeface="Georgia"/>
                <a:cs typeface="Georgia"/>
              </a:rPr>
              <a:t> </a:t>
            </a:r>
            <a:r>
              <a:rPr sz="3500" spc="-25" dirty="0">
                <a:solidFill>
                  <a:srgbClr val="2E377E"/>
                </a:solidFill>
                <a:latin typeface="Georgia"/>
                <a:cs typeface="Georgia"/>
              </a:rPr>
              <a:t>4.</a:t>
            </a:r>
            <a:endParaRPr sz="3500" dirty="0">
              <a:latin typeface="Georgia"/>
              <a:cs typeface="Georgia"/>
            </a:endParaRPr>
          </a:p>
          <a:p>
            <a:pPr marL="12700" marR="197485" indent="417830">
              <a:lnSpc>
                <a:spcPts val="4880"/>
              </a:lnSpc>
              <a:spcBef>
                <a:spcPts val="270"/>
              </a:spcBef>
              <a:buAutoNum type="arabicPeriod" startAt="5"/>
              <a:tabLst>
                <a:tab pos="430530" algn="l"/>
                <a:tab pos="4491355" algn="l"/>
              </a:tabLst>
            </a:pPr>
            <a:r>
              <a:rPr sz="3500" dirty="0">
                <a:solidFill>
                  <a:srgbClr val="2E377E"/>
                </a:solidFill>
                <a:latin typeface="Georgia"/>
                <a:cs typeface="Georgia"/>
              </a:rPr>
              <a:t>Now</a:t>
            </a:r>
            <a:r>
              <a:rPr sz="3500" spc="-40" dirty="0">
                <a:solidFill>
                  <a:srgbClr val="2E377E"/>
                </a:solidFill>
                <a:latin typeface="Georgia"/>
                <a:cs typeface="Georgia"/>
              </a:rPr>
              <a:t> </a:t>
            </a:r>
            <a:r>
              <a:rPr sz="3500" spc="120" dirty="0">
                <a:solidFill>
                  <a:srgbClr val="2E377E"/>
                </a:solidFill>
                <a:latin typeface="Georgia"/>
                <a:cs typeface="Georgia"/>
              </a:rPr>
              <a:t>we</a:t>
            </a:r>
            <a:r>
              <a:rPr sz="3500" spc="-40" dirty="0">
                <a:solidFill>
                  <a:srgbClr val="2E377E"/>
                </a:solidFill>
                <a:latin typeface="Georgia"/>
                <a:cs typeface="Georgia"/>
              </a:rPr>
              <a:t> </a:t>
            </a:r>
            <a:r>
              <a:rPr sz="3500" dirty="0">
                <a:solidFill>
                  <a:srgbClr val="2E377E"/>
                </a:solidFill>
                <a:latin typeface="Georgia"/>
                <a:cs typeface="Georgia"/>
              </a:rPr>
              <a:t>can</a:t>
            </a:r>
            <a:r>
              <a:rPr sz="3500" spc="-40" dirty="0">
                <a:solidFill>
                  <a:srgbClr val="2E377E"/>
                </a:solidFill>
                <a:latin typeface="Georgia"/>
                <a:cs typeface="Georgia"/>
              </a:rPr>
              <a:t> </a:t>
            </a:r>
            <a:r>
              <a:rPr sz="3500" dirty="0">
                <a:solidFill>
                  <a:srgbClr val="2E377E"/>
                </a:solidFill>
                <a:latin typeface="Georgia"/>
                <a:cs typeface="Georgia"/>
              </a:rPr>
              <a:t>see</a:t>
            </a:r>
            <a:r>
              <a:rPr sz="3500" spc="-40" dirty="0">
                <a:solidFill>
                  <a:srgbClr val="2E377E"/>
                </a:solidFill>
                <a:latin typeface="Georgia"/>
                <a:cs typeface="Georgia"/>
              </a:rPr>
              <a:t> </a:t>
            </a:r>
            <a:r>
              <a:rPr sz="3500" spc="-25" dirty="0">
                <a:solidFill>
                  <a:srgbClr val="2E377E"/>
                </a:solidFill>
                <a:latin typeface="Georgia"/>
                <a:cs typeface="Georgia"/>
              </a:rPr>
              <a:t>the</a:t>
            </a:r>
            <a:r>
              <a:rPr sz="3500" dirty="0">
                <a:solidFill>
                  <a:srgbClr val="2E377E"/>
                </a:solidFill>
                <a:latin typeface="Georgia"/>
                <a:cs typeface="Georgia"/>
              </a:rPr>
              <a:t>	release</a:t>
            </a:r>
            <a:r>
              <a:rPr sz="3500" spc="-5" dirty="0">
                <a:solidFill>
                  <a:srgbClr val="2E377E"/>
                </a:solidFill>
                <a:latin typeface="Georgia"/>
                <a:cs typeface="Georgia"/>
              </a:rPr>
              <a:t> </a:t>
            </a:r>
            <a:r>
              <a:rPr sz="3500" dirty="0">
                <a:solidFill>
                  <a:srgbClr val="2E377E"/>
                </a:solidFill>
                <a:latin typeface="Georgia"/>
                <a:cs typeface="Georgia"/>
              </a:rPr>
              <a:t>using the command </a:t>
            </a:r>
            <a:r>
              <a:rPr sz="3500" dirty="0">
                <a:solidFill>
                  <a:srgbClr val="FF3131"/>
                </a:solidFill>
                <a:latin typeface="Georgia"/>
                <a:cs typeface="Georgia"/>
              </a:rPr>
              <a:t>helm list </a:t>
            </a:r>
            <a:r>
              <a:rPr sz="3500" dirty="0">
                <a:solidFill>
                  <a:srgbClr val="2E377E"/>
                </a:solidFill>
                <a:latin typeface="Georgia"/>
                <a:cs typeface="Georgia"/>
              </a:rPr>
              <a:t>then </a:t>
            </a:r>
            <a:r>
              <a:rPr sz="3500" spc="-10" dirty="0">
                <a:solidFill>
                  <a:srgbClr val="2E377E"/>
                </a:solidFill>
                <a:latin typeface="Georgia"/>
                <a:cs typeface="Georgia"/>
              </a:rPr>
              <a:t>revision(version) </a:t>
            </a:r>
            <a:r>
              <a:rPr sz="3500" dirty="0">
                <a:solidFill>
                  <a:srgbClr val="2E377E"/>
                </a:solidFill>
                <a:latin typeface="Georgia"/>
                <a:cs typeface="Georgia"/>
              </a:rPr>
              <a:t>will</a:t>
            </a:r>
            <a:r>
              <a:rPr sz="3500" spc="-5" dirty="0">
                <a:solidFill>
                  <a:srgbClr val="2E377E"/>
                </a:solidFill>
                <a:latin typeface="Georgia"/>
                <a:cs typeface="Georgia"/>
              </a:rPr>
              <a:t> </a:t>
            </a:r>
            <a:r>
              <a:rPr sz="3500" dirty="0">
                <a:solidFill>
                  <a:srgbClr val="2E377E"/>
                </a:solidFill>
                <a:latin typeface="Georgia"/>
                <a:cs typeface="Georgia"/>
              </a:rPr>
              <a:t>gets increased from 1 </a:t>
            </a:r>
            <a:r>
              <a:rPr sz="3500" spc="55" dirty="0">
                <a:solidFill>
                  <a:srgbClr val="2E377E"/>
                </a:solidFill>
                <a:latin typeface="Georgia"/>
                <a:cs typeface="Georgia"/>
              </a:rPr>
              <a:t>to</a:t>
            </a:r>
            <a:r>
              <a:rPr sz="3500" dirty="0">
                <a:solidFill>
                  <a:srgbClr val="2E377E"/>
                </a:solidFill>
                <a:latin typeface="Georgia"/>
                <a:cs typeface="Georgia"/>
              </a:rPr>
              <a:t> </a:t>
            </a:r>
            <a:r>
              <a:rPr sz="3500" spc="-305" dirty="0">
                <a:solidFill>
                  <a:srgbClr val="2E377E"/>
                </a:solidFill>
                <a:latin typeface="Georgia"/>
                <a:cs typeface="Georgia"/>
              </a:rPr>
              <a:t>2</a:t>
            </a:r>
            <a:endParaRPr sz="3500" dirty="0">
              <a:latin typeface="Georgia"/>
              <a:cs typeface="Georgia"/>
            </a:endParaRPr>
          </a:p>
          <a:p>
            <a:pPr marL="652780" indent="-640080">
              <a:lnSpc>
                <a:spcPct val="100000"/>
              </a:lnSpc>
              <a:spcBef>
                <a:spcPts val="395"/>
              </a:spcBef>
              <a:buAutoNum type="arabicPeriod" startAt="5"/>
              <a:tabLst>
                <a:tab pos="652780" algn="l"/>
              </a:tabLst>
            </a:pPr>
            <a:r>
              <a:rPr sz="3500" dirty="0">
                <a:solidFill>
                  <a:srgbClr val="2E377E"/>
                </a:solidFill>
                <a:latin typeface="Georgia"/>
                <a:cs typeface="Georgia"/>
              </a:rPr>
              <a:t>To</a:t>
            </a:r>
            <a:r>
              <a:rPr sz="3500" spc="-40" dirty="0">
                <a:solidFill>
                  <a:srgbClr val="2E377E"/>
                </a:solidFill>
                <a:latin typeface="Georgia"/>
                <a:cs typeface="Georgia"/>
              </a:rPr>
              <a:t> </a:t>
            </a:r>
            <a:r>
              <a:rPr sz="3500" dirty="0">
                <a:solidFill>
                  <a:srgbClr val="2E377E"/>
                </a:solidFill>
                <a:latin typeface="Georgia"/>
                <a:cs typeface="Georgia"/>
              </a:rPr>
              <a:t>rollback</a:t>
            </a:r>
            <a:r>
              <a:rPr sz="3500" spc="-40" dirty="0">
                <a:solidFill>
                  <a:srgbClr val="2E377E"/>
                </a:solidFill>
                <a:latin typeface="Georgia"/>
                <a:cs typeface="Georgia"/>
              </a:rPr>
              <a:t> </a:t>
            </a:r>
            <a:r>
              <a:rPr sz="3500" spc="55" dirty="0">
                <a:solidFill>
                  <a:srgbClr val="2E377E"/>
                </a:solidFill>
                <a:latin typeface="Georgia"/>
                <a:cs typeface="Georgia"/>
              </a:rPr>
              <a:t>to</a:t>
            </a:r>
            <a:r>
              <a:rPr sz="3500" spc="-35" dirty="0">
                <a:solidFill>
                  <a:srgbClr val="2E377E"/>
                </a:solidFill>
                <a:latin typeface="Georgia"/>
                <a:cs typeface="Georgia"/>
              </a:rPr>
              <a:t> </a:t>
            </a:r>
            <a:r>
              <a:rPr sz="3500" spc="60" dirty="0">
                <a:solidFill>
                  <a:srgbClr val="2E377E"/>
                </a:solidFill>
                <a:latin typeface="Georgia"/>
                <a:cs typeface="Georgia"/>
              </a:rPr>
              <a:t>prev</a:t>
            </a:r>
            <a:r>
              <a:rPr sz="3500" spc="-40" dirty="0">
                <a:solidFill>
                  <a:srgbClr val="2E377E"/>
                </a:solidFill>
                <a:latin typeface="Georgia"/>
                <a:cs typeface="Georgia"/>
              </a:rPr>
              <a:t> </a:t>
            </a:r>
            <a:r>
              <a:rPr sz="3500" dirty="0">
                <a:solidFill>
                  <a:srgbClr val="2E377E"/>
                </a:solidFill>
                <a:latin typeface="Georgia"/>
                <a:cs typeface="Georgia"/>
              </a:rPr>
              <a:t>revision</a:t>
            </a:r>
            <a:r>
              <a:rPr sz="3500" spc="-40" dirty="0">
                <a:solidFill>
                  <a:srgbClr val="2E377E"/>
                </a:solidFill>
                <a:latin typeface="Georgia"/>
                <a:cs typeface="Georgia"/>
              </a:rPr>
              <a:t> </a:t>
            </a:r>
            <a:r>
              <a:rPr sz="3500" spc="-250" dirty="0">
                <a:solidFill>
                  <a:srgbClr val="2E377E"/>
                </a:solidFill>
                <a:latin typeface="Georgia"/>
                <a:cs typeface="Georgia"/>
              </a:rPr>
              <a:t>:</a:t>
            </a:r>
            <a:r>
              <a:rPr sz="3500" spc="-35" dirty="0">
                <a:solidFill>
                  <a:srgbClr val="2E377E"/>
                </a:solidFill>
                <a:latin typeface="Georgia"/>
                <a:cs typeface="Georgia"/>
              </a:rPr>
              <a:t> </a:t>
            </a:r>
            <a:r>
              <a:rPr sz="3500" dirty="0">
                <a:solidFill>
                  <a:srgbClr val="FF3131"/>
                </a:solidFill>
                <a:latin typeface="Georgia"/>
                <a:cs typeface="Georgia"/>
              </a:rPr>
              <a:t>helm</a:t>
            </a:r>
            <a:r>
              <a:rPr sz="3500" spc="-40" dirty="0">
                <a:solidFill>
                  <a:srgbClr val="FF3131"/>
                </a:solidFill>
                <a:latin typeface="Georgia"/>
                <a:cs typeface="Georgia"/>
              </a:rPr>
              <a:t> </a:t>
            </a:r>
            <a:r>
              <a:rPr sz="3500" dirty="0">
                <a:solidFill>
                  <a:srgbClr val="FF3131"/>
                </a:solidFill>
                <a:latin typeface="Georgia"/>
                <a:cs typeface="Georgia"/>
              </a:rPr>
              <a:t>rollback</a:t>
            </a:r>
            <a:r>
              <a:rPr sz="3500" spc="-40" dirty="0">
                <a:solidFill>
                  <a:srgbClr val="FF3131"/>
                </a:solidFill>
                <a:latin typeface="Georgia"/>
                <a:cs typeface="Georgia"/>
              </a:rPr>
              <a:t> </a:t>
            </a:r>
            <a:r>
              <a:rPr lang="en-IN" sz="3500" dirty="0">
                <a:solidFill>
                  <a:srgbClr val="FF3131"/>
                </a:solidFill>
                <a:latin typeface="Georgia"/>
                <a:cs typeface="Georgia"/>
              </a:rPr>
              <a:t>rajco</a:t>
            </a:r>
            <a:r>
              <a:rPr sz="3500" spc="-35" dirty="0">
                <a:solidFill>
                  <a:srgbClr val="FF3131"/>
                </a:solidFill>
                <a:latin typeface="Georgia"/>
                <a:cs typeface="Georgia"/>
              </a:rPr>
              <a:t> </a:t>
            </a:r>
            <a:r>
              <a:rPr sz="3500" spc="-50" dirty="0">
                <a:solidFill>
                  <a:srgbClr val="FF3131"/>
                </a:solidFill>
                <a:latin typeface="Georgia"/>
                <a:cs typeface="Georgia"/>
              </a:rPr>
              <a:t>1</a:t>
            </a:r>
            <a:endParaRPr sz="3500" dirty="0">
              <a:latin typeface="Georgia"/>
              <a:cs typeface="Georgia"/>
            </a:endParaRPr>
          </a:p>
          <a:p>
            <a:pPr marL="12700">
              <a:lnSpc>
                <a:spcPct val="100000"/>
              </a:lnSpc>
              <a:spcBef>
                <a:spcPts val="675"/>
              </a:spcBef>
            </a:pPr>
            <a:r>
              <a:rPr sz="3500" dirty="0">
                <a:solidFill>
                  <a:srgbClr val="2E377E"/>
                </a:solidFill>
                <a:latin typeface="Georgia"/>
                <a:cs typeface="Georgia"/>
              </a:rPr>
              <a:t>The</a:t>
            </a:r>
            <a:r>
              <a:rPr sz="3500" spc="-30" dirty="0">
                <a:solidFill>
                  <a:srgbClr val="2E377E"/>
                </a:solidFill>
                <a:latin typeface="Georgia"/>
                <a:cs typeface="Georgia"/>
              </a:rPr>
              <a:t> </a:t>
            </a:r>
            <a:r>
              <a:rPr sz="3500" dirty="0">
                <a:solidFill>
                  <a:srgbClr val="2E377E"/>
                </a:solidFill>
                <a:latin typeface="Georgia"/>
                <a:cs typeface="Georgia"/>
              </a:rPr>
              <a:t>above</a:t>
            </a:r>
            <a:r>
              <a:rPr sz="3500" spc="-30" dirty="0">
                <a:solidFill>
                  <a:srgbClr val="2E377E"/>
                </a:solidFill>
                <a:latin typeface="Georgia"/>
                <a:cs typeface="Georgia"/>
              </a:rPr>
              <a:t> </a:t>
            </a:r>
            <a:r>
              <a:rPr sz="3500" dirty="0">
                <a:solidFill>
                  <a:srgbClr val="2E377E"/>
                </a:solidFill>
                <a:latin typeface="Georgia"/>
                <a:cs typeface="Georgia"/>
              </a:rPr>
              <a:t>command</a:t>
            </a:r>
            <a:r>
              <a:rPr sz="3500" spc="-25" dirty="0">
                <a:solidFill>
                  <a:srgbClr val="2E377E"/>
                </a:solidFill>
                <a:latin typeface="Georgia"/>
                <a:cs typeface="Georgia"/>
              </a:rPr>
              <a:t> </a:t>
            </a:r>
            <a:r>
              <a:rPr sz="3500" dirty="0">
                <a:solidFill>
                  <a:srgbClr val="2E377E"/>
                </a:solidFill>
                <a:latin typeface="Georgia"/>
                <a:cs typeface="Georgia"/>
              </a:rPr>
              <a:t>will</a:t>
            </a:r>
            <a:r>
              <a:rPr sz="3500" spc="-30" dirty="0">
                <a:solidFill>
                  <a:srgbClr val="2E377E"/>
                </a:solidFill>
                <a:latin typeface="Georgia"/>
                <a:cs typeface="Georgia"/>
              </a:rPr>
              <a:t> </a:t>
            </a:r>
            <a:r>
              <a:rPr sz="3500" dirty="0">
                <a:solidFill>
                  <a:srgbClr val="2E377E"/>
                </a:solidFill>
                <a:latin typeface="Georgia"/>
                <a:cs typeface="Georgia"/>
              </a:rPr>
              <a:t>rollback</a:t>
            </a:r>
            <a:r>
              <a:rPr sz="3500" spc="-30" dirty="0">
                <a:solidFill>
                  <a:srgbClr val="2E377E"/>
                </a:solidFill>
                <a:latin typeface="Georgia"/>
                <a:cs typeface="Georgia"/>
              </a:rPr>
              <a:t> </a:t>
            </a:r>
            <a:r>
              <a:rPr sz="3500" spc="55" dirty="0">
                <a:solidFill>
                  <a:srgbClr val="2E377E"/>
                </a:solidFill>
                <a:latin typeface="Georgia"/>
                <a:cs typeface="Georgia"/>
              </a:rPr>
              <a:t>to</a:t>
            </a:r>
            <a:r>
              <a:rPr sz="3500" spc="-25" dirty="0">
                <a:solidFill>
                  <a:srgbClr val="2E377E"/>
                </a:solidFill>
                <a:latin typeface="Georgia"/>
                <a:cs typeface="Georgia"/>
              </a:rPr>
              <a:t> </a:t>
            </a:r>
            <a:r>
              <a:rPr sz="3500" dirty="0">
                <a:solidFill>
                  <a:srgbClr val="2E377E"/>
                </a:solidFill>
                <a:latin typeface="Georgia"/>
                <a:cs typeface="Georgia"/>
              </a:rPr>
              <a:t>1st</a:t>
            </a:r>
            <a:r>
              <a:rPr sz="3500" spc="-30" dirty="0">
                <a:solidFill>
                  <a:srgbClr val="2E377E"/>
                </a:solidFill>
                <a:latin typeface="Georgia"/>
                <a:cs typeface="Georgia"/>
              </a:rPr>
              <a:t> </a:t>
            </a:r>
            <a:r>
              <a:rPr sz="3500" spc="-10" dirty="0">
                <a:solidFill>
                  <a:srgbClr val="2E377E"/>
                </a:solidFill>
                <a:latin typeface="Georgia"/>
                <a:cs typeface="Georgia"/>
              </a:rPr>
              <a:t>version</a:t>
            </a:r>
            <a:endParaRPr sz="3500" dirty="0">
              <a:latin typeface="Georgia"/>
              <a:cs typeface="Georgia"/>
            </a:endParaRPr>
          </a:p>
          <a:p>
            <a:pPr marL="12700" marR="5080">
              <a:lnSpc>
                <a:spcPts val="4880"/>
              </a:lnSpc>
              <a:spcBef>
                <a:spcPts val="90"/>
              </a:spcBef>
            </a:pPr>
            <a:r>
              <a:rPr sz="3500" dirty="0">
                <a:solidFill>
                  <a:srgbClr val="2E377E"/>
                </a:solidFill>
                <a:latin typeface="Georgia"/>
                <a:cs typeface="Georgia"/>
              </a:rPr>
              <a:t>Once</a:t>
            </a:r>
            <a:r>
              <a:rPr sz="3500" spc="-5" dirty="0">
                <a:solidFill>
                  <a:srgbClr val="2E377E"/>
                </a:solidFill>
                <a:latin typeface="Georgia"/>
                <a:cs typeface="Georgia"/>
              </a:rPr>
              <a:t> </a:t>
            </a:r>
            <a:r>
              <a:rPr sz="3500" spc="120" dirty="0">
                <a:solidFill>
                  <a:srgbClr val="2E377E"/>
                </a:solidFill>
                <a:latin typeface="Georgia"/>
                <a:cs typeface="Georgia"/>
              </a:rPr>
              <a:t>we</a:t>
            </a:r>
            <a:r>
              <a:rPr sz="3500" spc="-5" dirty="0">
                <a:solidFill>
                  <a:srgbClr val="2E377E"/>
                </a:solidFill>
                <a:latin typeface="Georgia"/>
                <a:cs typeface="Georgia"/>
              </a:rPr>
              <a:t> </a:t>
            </a:r>
            <a:r>
              <a:rPr sz="3500" dirty="0">
                <a:solidFill>
                  <a:srgbClr val="2E377E"/>
                </a:solidFill>
                <a:latin typeface="Georgia"/>
                <a:cs typeface="Georgia"/>
              </a:rPr>
              <a:t>perform</a:t>
            </a:r>
            <a:r>
              <a:rPr sz="3500" spc="-5" dirty="0">
                <a:solidFill>
                  <a:srgbClr val="2E377E"/>
                </a:solidFill>
                <a:latin typeface="Georgia"/>
                <a:cs typeface="Georgia"/>
              </a:rPr>
              <a:t> </a:t>
            </a:r>
            <a:r>
              <a:rPr sz="3500" dirty="0">
                <a:solidFill>
                  <a:srgbClr val="2E377E"/>
                </a:solidFill>
                <a:latin typeface="Georgia"/>
                <a:cs typeface="Georgia"/>
              </a:rPr>
              <a:t>the above</a:t>
            </a:r>
            <a:r>
              <a:rPr sz="3500" spc="-5" dirty="0">
                <a:solidFill>
                  <a:srgbClr val="2E377E"/>
                </a:solidFill>
                <a:latin typeface="Georgia"/>
                <a:cs typeface="Georgia"/>
              </a:rPr>
              <a:t> </a:t>
            </a:r>
            <a:r>
              <a:rPr sz="3500" dirty="0">
                <a:solidFill>
                  <a:srgbClr val="2E377E"/>
                </a:solidFill>
                <a:latin typeface="Georgia"/>
                <a:cs typeface="Georgia"/>
              </a:rPr>
              <a:t>command</a:t>
            </a:r>
            <a:r>
              <a:rPr sz="3500" spc="-5" dirty="0">
                <a:solidFill>
                  <a:srgbClr val="2E377E"/>
                </a:solidFill>
                <a:latin typeface="Georgia"/>
                <a:cs typeface="Georgia"/>
              </a:rPr>
              <a:t> </a:t>
            </a:r>
            <a:r>
              <a:rPr sz="3500" spc="120" dirty="0">
                <a:solidFill>
                  <a:srgbClr val="2E377E"/>
                </a:solidFill>
                <a:latin typeface="Georgia"/>
                <a:cs typeface="Georgia"/>
              </a:rPr>
              <a:t>we</a:t>
            </a:r>
            <a:r>
              <a:rPr sz="3500" spc="-5" dirty="0">
                <a:solidFill>
                  <a:srgbClr val="2E377E"/>
                </a:solidFill>
                <a:latin typeface="Georgia"/>
                <a:cs typeface="Georgia"/>
              </a:rPr>
              <a:t> </a:t>
            </a:r>
            <a:r>
              <a:rPr sz="3500" dirty="0">
                <a:solidFill>
                  <a:srgbClr val="2E377E"/>
                </a:solidFill>
                <a:latin typeface="Georgia"/>
                <a:cs typeface="Georgia"/>
              </a:rPr>
              <a:t>can see</a:t>
            </a:r>
            <a:r>
              <a:rPr sz="3500" spc="-5" dirty="0">
                <a:solidFill>
                  <a:srgbClr val="2E377E"/>
                </a:solidFill>
                <a:latin typeface="Georgia"/>
                <a:cs typeface="Georgia"/>
              </a:rPr>
              <a:t> </a:t>
            </a:r>
            <a:r>
              <a:rPr sz="3500" dirty="0">
                <a:solidFill>
                  <a:srgbClr val="2E377E"/>
                </a:solidFill>
                <a:latin typeface="Georgia"/>
                <a:cs typeface="Georgia"/>
              </a:rPr>
              <a:t>the</a:t>
            </a:r>
            <a:r>
              <a:rPr sz="3500" spc="-5" dirty="0">
                <a:solidFill>
                  <a:srgbClr val="2E377E"/>
                </a:solidFill>
                <a:latin typeface="Georgia"/>
                <a:cs typeface="Georgia"/>
              </a:rPr>
              <a:t> </a:t>
            </a:r>
            <a:r>
              <a:rPr sz="3500" dirty="0">
                <a:solidFill>
                  <a:srgbClr val="2E377E"/>
                </a:solidFill>
                <a:latin typeface="Georgia"/>
                <a:cs typeface="Georgia"/>
              </a:rPr>
              <a:t>pods</a:t>
            </a:r>
            <a:r>
              <a:rPr sz="3500" spc="-5" dirty="0">
                <a:solidFill>
                  <a:srgbClr val="2E377E"/>
                </a:solidFill>
                <a:latin typeface="Georgia"/>
                <a:cs typeface="Georgia"/>
              </a:rPr>
              <a:t> </a:t>
            </a:r>
            <a:r>
              <a:rPr sz="3500" dirty="0">
                <a:solidFill>
                  <a:srgbClr val="2E377E"/>
                </a:solidFill>
                <a:latin typeface="Georgia"/>
                <a:cs typeface="Georgia"/>
              </a:rPr>
              <a:t>count will</a:t>
            </a:r>
            <a:r>
              <a:rPr sz="3500" spc="-5" dirty="0">
                <a:solidFill>
                  <a:srgbClr val="2E377E"/>
                </a:solidFill>
                <a:latin typeface="Georgia"/>
                <a:cs typeface="Georgia"/>
              </a:rPr>
              <a:t> </a:t>
            </a:r>
            <a:r>
              <a:rPr sz="3500" dirty="0">
                <a:solidFill>
                  <a:srgbClr val="2E377E"/>
                </a:solidFill>
                <a:latin typeface="Georgia"/>
                <a:cs typeface="Georgia"/>
              </a:rPr>
              <a:t>be</a:t>
            </a:r>
            <a:r>
              <a:rPr sz="3500" spc="-5" dirty="0">
                <a:solidFill>
                  <a:srgbClr val="2E377E"/>
                </a:solidFill>
                <a:latin typeface="Georgia"/>
                <a:cs typeface="Georgia"/>
              </a:rPr>
              <a:t> </a:t>
            </a:r>
            <a:r>
              <a:rPr sz="3500" spc="-10" dirty="0">
                <a:solidFill>
                  <a:srgbClr val="2E377E"/>
                </a:solidFill>
                <a:latin typeface="Georgia"/>
                <a:cs typeface="Georgia"/>
              </a:rPr>
              <a:t>scaledown </a:t>
            </a:r>
            <a:r>
              <a:rPr sz="3500" dirty="0">
                <a:solidFill>
                  <a:srgbClr val="2E377E"/>
                </a:solidFill>
                <a:latin typeface="Georgia"/>
                <a:cs typeface="Georgia"/>
              </a:rPr>
              <a:t>from</a:t>
            </a:r>
            <a:r>
              <a:rPr sz="3500" spc="-70" dirty="0">
                <a:solidFill>
                  <a:srgbClr val="2E377E"/>
                </a:solidFill>
                <a:latin typeface="Georgia"/>
                <a:cs typeface="Georgia"/>
              </a:rPr>
              <a:t> </a:t>
            </a:r>
            <a:r>
              <a:rPr sz="3500" spc="-260" dirty="0">
                <a:solidFill>
                  <a:srgbClr val="2E377E"/>
                </a:solidFill>
                <a:latin typeface="Georgia"/>
                <a:cs typeface="Georgia"/>
              </a:rPr>
              <a:t>4</a:t>
            </a:r>
            <a:r>
              <a:rPr sz="3500" spc="-65" dirty="0">
                <a:solidFill>
                  <a:srgbClr val="2E377E"/>
                </a:solidFill>
                <a:latin typeface="Georgia"/>
                <a:cs typeface="Georgia"/>
              </a:rPr>
              <a:t> </a:t>
            </a:r>
            <a:r>
              <a:rPr sz="3500" spc="55" dirty="0">
                <a:solidFill>
                  <a:srgbClr val="2E377E"/>
                </a:solidFill>
                <a:latin typeface="Georgia"/>
                <a:cs typeface="Georgia"/>
              </a:rPr>
              <a:t>to</a:t>
            </a:r>
            <a:r>
              <a:rPr sz="3500" spc="-65" dirty="0">
                <a:solidFill>
                  <a:srgbClr val="2E377E"/>
                </a:solidFill>
                <a:latin typeface="Georgia"/>
                <a:cs typeface="Georgia"/>
              </a:rPr>
              <a:t> </a:t>
            </a:r>
            <a:r>
              <a:rPr sz="3500" dirty="0">
                <a:solidFill>
                  <a:srgbClr val="2E377E"/>
                </a:solidFill>
                <a:latin typeface="Georgia"/>
                <a:cs typeface="Georgia"/>
              </a:rPr>
              <a:t>1</a:t>
            </a:r>
            <a:r>
              <a:rPr sz="3500" spc="-65" dirty="0">
                <a:solidFill>
                  <a:srgbClr val="2E377E"/>
                </a:solidFill>
                <a:latin typeface="Georgia"/>
                <a:cs typeface="Georgia"/>
              </a:rPr>
              <a:t> </a:t>
            </a:r>
            <a:r>
              <a:rPr sz="3500" spc="-10" dirty="0">
                <a:solidFill>
                  <a:srgbClr val="2E377E"/>
                </a:solidFill>
                <a:latin typeface="Georgia"/>
                <a:cs typeface="Georgia"/>
              </a:rPr>
              <a:t>again.</a:t>
            </a:r>
            <a:endParaRPr sz="3500" dirty="0">
              <a:latin typeface="Georgia"/>
              <a:cs typeface="Georgia"/>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70149" rIns="0" bIns="0" rtlCol="0">
            <a:spAutoFit/>
          </a:bodyPr>
          <a:lstStyle/>
          <a:p>
            <a:pPr marL="232410">
              <a:lnSpc>
                <a:spcPct val="100000"/>
              </a:lnSpc>
              <a:spcBef>
                <a:spcPts val="100"/>
              </a:spcBef>
            </a:pPr>
            <a:r>
              <a:rPr spc="100" dirty="0"/>
              <a:t>General</a:t>
            </a:r>
            <a:r>
              <a:rPr spc="-40" dirty="0"/>
              <a:t> </a:t>
            </a:r>
            <a:r>
              <a:rPr spc="340" dirty="0"/>
              <a:t>commands</a:t>
            </a:r>
            <a:r>
              <a:rPr spc="-40" dirty="0"/>
              <a:t> </a:t>
            </a:r>
            <a:r>
              <a:rPr spc="200" dirty="0"/>
              <a:t>about</a:t>
            </a:r>
            <a:r>
              <a:rPr spc="-35" dirty="0"/>
              <a:t> </a:t>
            </a:r>
            <a:r>
              <a:rPr spc="-340" dirty="0"/>
              <a:t>HELM:</a:t>
            </a:r>
          </a:p>
        </p:txBody>
      </p:sp>
      <p:pic>
        <p:nvPicPr>
          <p:cNvPr id="3" name="object 3"/>
          <p:cNvPicPr/>
          <p:nvPr/>
        </p:nvPicPr>
        <p:blipFill>
          <a:blip r:embed="rId2" cstate="print"/>
          <a:stretch>
            <a:fillRect/>
          </a:stretch>
        </p:blipFill>
        <p:spPr>
          <a:xfrm>
            <a:off x="1293736" y="2018011"/>
            <a:ext cx="133350" cy="133349"/>
          </a:xfrm>
          <a:prstGeom prst="rect">
            <a:avLst/>
          </a:prstGeom>
        </p:spPr>
      </p:pic>
      <p:sp>
        <p:nvSpPr>
          <p:cNvPr id="4" name="object 4"/>
          <p:cNvSpPr txBox="1"/>
          <p:nvPr/>
        </p:nvSpPr>
        <p:spPr>
          <a:xfrm>
            <a:off x="1615899" y="1761851"/>
            <a:ext cx="14639925" cy="6235297"/>
          </a:xfrm>
          <a:prstGeom prst="rect">
            <a:avLst/>
          </a:prstGeom>
        </p:spPr>
        <p:txBody>
          <a:bodyPr vert="horz" wrap="square" lIns="0" tIns="11430" rIns="0" bIns="0" rtlCol="0">
            <a:spAutoFit/>
          </a:bodyPr>
          <a:lstStyle/>
          <a:p>
            <a:pPr marL="12700">
              <a:lnSpc>
                <a:spcPct val="100000"/>
              </a:lnSpc>
              <a:spcBef>
                <a:spcPts val="90"/>
              </a:spcBef>
            </a:pPr>
            <a:r>
              <a:rPr sz="3500" dirty="0">
                <a:solidFill>
                  <a:srgbClr val="2E377E"/>
                </a:solidFill>
                <a:latin typeface="Georgia"/>
                <a:cs typeface="Georgia"/>
              </a:rPr>
              <a:t>To</a:t>
            </a:r>
            <a:r>
              <a:rPr sz="3500" spc="-70" dirty="0">
                <a:solidFill>
                  <a:srgbClr val="2E377E"/>
                </a:solidFill>
                <a:latin typeface="Georgia"/>
                <a:cs typeface="Georgia"/>
              </a:rPr>
              <a:t> </a:t>
            </a:r>
            <a:r>
              <a:rPr sz="3500" dirty="0">
                <a:solidFill>
                  <a:srgbClr val="2E377E"/>
                </a:solidFill>
                <a:latin typeface="Georgia"/>
                <a:cs typeface="Georgia"/>
              </a:rPr>
              <a:t>uninstall</a:t>
            </a:r>
            <a:r>
              <a:rPr sz="3500" spc="-65" dirty="0">
                <a:solidFill>
                  <a:srgbClr val="2E377E"/>
                </a:solidFill>
                <a:latin typeface="Georgia"/>
                <a:cs typeface="Georgia"/>
              </a:rPr>
              <a:t> </a:t>
            </a:r>
            <a:r>
              <a:rPr sz="3500" dirty="0">
                <a:solidFill>
                  <a:srgbClr val="2E377E"/>
                </a:solidFill>
                <a:latin typeface="Georgia"/>
                <a:cs typeface="Georgia"/>
              </a:rPr>
              <a:t>helm</a:t>
            </a:r>
            <a:r>
              <a:rPr sz="3500" spc="-65" dirty="0">
                <a:solidFill>
                  <a:srgbClr val="2E377E"/>
                </a:solidFill>
                <a:latin typeface="Georgia"/>
                <a:cs typeface="Georgia"/>
              </a:rPr>
              <a:t> </a:t>
            </a:r>
            <a:r>
              <a:rPr sz="3500" spc="-250" dirty="0">
                <a:solidFill>
                  <a:srgbClr val="2E377E"/>
                </a:solidFill>
                <a:latin typeface="Georgia"/>
                <a:cs typeface="Georgia"/>
              </a:rPr>
              <a:t>:</a:t>
            </a:r>
            <a:r>
              <a:rPr sz="3500" spc="-65" dirty="0">
                <a:solidFill>
                  <a:srgbClr val="2E377E"/>
                </a:solidFill>
                <a:latin typeface="Georgia"/>
                <a:cs typeface="Georgia"/>
              </a:rPr>
              <a:t> </a:t>
            </a:r>
            <a:r>
              <a:rPr sz="3500" dirty="0">
                <a:solidFill>
                  <a:srgbClr val="FF3131"/>
                </a:solidFill>
                <a:latin typeface="Georgia"/>
                <a:cs typeface="Georgia"/>
              </a:rPr>
              <a:t>helm</a:t>
            </a:r>
            <a:r>
              <a:rPr sz="3500" spc="-65" dirty="0">
                <a:solidFill>
                  <a:srgbClr val="FF3131"/>
                </a:solidFill>
                <a:latin typeface="Georgia"/>
                <a:cs typeface="Georgia"/>
              </a:rPr>
              <a:t> </a:t>
            </a:r>
            <a:r>
              <a:rPr sz="3500" dirty="0">
                <a:solidFill>
                  <a:srgbClr val="FF3131"/>
                </a:solidFill>
                <a:latin typeface="Georgia"/>
                <a:cs typeface="Georgia"/>
              </a:rPr>
              <a:t>uninstall</a:t>
            </a:r>
            <a:r>
              <a:rPr sz="3500" spc="-65" dirty="0">
                <a:solidFill>
                  <a:srgbClr val="FF3131"/>
                </a:solidFill>
                <a:latin typeface="Georgia"/>
                <a:cs typeface="Georgia"/>
              </a:rPr>
              <a:t> </a:t>
            </a:r>
            <a:r>
              <a:rPr lang="en-IN" sz="3500" spc="-10" dirty="0">
                <a:solidFill>
                  <a:srgbClr val="FF3131"/>
                </a:solidFill>
                <a:latin typeface="Georgia"/>
                <a:cs typeface="Georgia"/>
              </a:rPr>
              <a:t>rajco</a:t>
            </a:r>
            <a:endParaRPr sz="3500" dirty="0">
              <a:latin typeface="Georgia"/>
              <a:cs typeface="Georgia"/>
            </a:endParaRPr>
          </a:p>
          <a:p>
            <a:pPr>
              <a:lnSpc>
                <a:spcPct val="100000"/>
              </a:lnSpc>
              <a:spcBef>
                <a:spcPts val="894"/>
              </a:spcBef>
            </a:pPr>
            <a:endParaRPr sz="3500" dirty="0">
              <a:latin typeface="Georgia"/>
              <a:cs typeface="Georgia"/>
            </a:endParaRPr>
          </a:p>
          <a:p>
            <a:pPr marL="12700" marR="5080">
              <a:lnSpc>
                <a:spcPct val="116100"/>
              </a:lnSpc>
              <a:tabLst>
                <a:tab pos="1425575" algn="l"/>
              </a:tabLst>
            </a:pPr>
            <a:r>
              <a:rPr sz="3500" dirty="0">
                <a:solidFill>
                  <a:srgbClr val="2E377E"/>
                </a:solidFill>
                <a:latin typeface="Georgia"/>
                <a:cs typeface="Georgia"/>
              </a:rPr>
              <a:t>If</a:t>
            </a:r>
            <a:r>
              <a:rPr sz="3500" spc="-10" dirty="0">
                <a:solidFill>
                  <a:srgbClr val="2E377E"/>
                </a:solidFill>
                <a:latin typeface="Georgia"/>
                <a:cs typeface="Georgia"/>
              </a:rPr>
              <a:t> </a:t>
            </a:r>
            <a:r>
              <a:rPr sz="3500" spc="75" dirty="0">
                <a:solidFill>
                  <a:srgbClr val="2E377E"/>
                </a:solidFill>
                <a:latin typeface="Georgia"/>
                <a:cs typeface="Georgia"/>
              </a:rPr>
              <a:t>you</a:t>
            </a:r>
            <a:r>
              <a:rPr sz="3500" spc="-10" dirty="0">
                <a:solidFill>
                  <a:srgbClr val="2E377E"/>
                </a:solidFill>
                <a:latin typeface="Georgia"/>
                <a:cs typeface="Georgia"/>
              </a:rPr>
              <a:t> </a:t>
            </a:r>
            <a:r>
              <a:rPr sz="3500" spc="65" dirty="0">
                <a:solidFill>
                  <a:srgbClr val="2E377E"/>
                </a:solidFill>
                <a:latin typeface="Georgia"/>
                <a:cs typeface="Georgia"/>
              </a:rPr>
              <a:t>want</a:t>
            </a:r>
            <a:r>
              <a:rPr sz="3500" spc="-10" dirty="0">
                <a:solidFill>
                  <a:srgbClr val="2E377E"/>
                </a:solidFill>
                <a:latin typeface="Georgia"/>
                <a:cs typeface="Georgia"/>
              </a:rPr>
              <a:t> </a:t>
            </a:r>
            <a:r>
              <a:rPr sz="3500" spc="55" dirty="0">
                <a:solidFill>
                  <a:srgbClr val="2E377E"/>
                </a:solidFill>
                <a:latin typeface="Georgia"/>
                <a:cs typeface="Georgia"/>
              </a:rPr>
              <a:t>to</a:t>
            </a:r>
            <a:r>
              <a:rPr sz="3500" spc="-10" dirty="0">
                <a:solidFill>
                  <a:srgbClr val="2E377E"/>
                </a:solidFill>
                <a:latin typeface="Georgia"/>
                <a:cs typeface="Georgia"/>
              </a:rPr>
              <a:t> </a:t>
            </a:r>
            <a:r>
              <a:rPr sz="3500" dirty="0">
                <a:solidFill>
                  <a:srgbClr val="2E377E"/>
                </a:solidFill>
                <a:latin typeface="Georgia"/>
                <a:cs typeface="Georgia"/>
              </a:rPr>
              <a:t>dry-run</a:t>
            </a:r>
            <a:r>
              <a:rPr sz="3500" spc="-10" dirty="0">
                <a:solidFill>
                  <a:srgbClr val="2E377E"/>
                </a:solidFill>
                <a:latin typeface="Georgia"/>
                <a:cs typeface="Georgia"/>
              </a:rPr>
              <a:t> </a:t>
            </a:r>
            <a:r>
              <a:rPr sz="3500" dirty="0">
                <a:solidFill>
                  <a:srgbClr val="2E377E"/>
                </a:solidFill>
                <a:latin typeface="Georgia"/>
                <a:cs typeface="Georgia"/>
              </a:rPr>
              <a:t>the</a:t>
            </a:r>
            <a:r>
              <a:rPr sz="3500" spc="-10" dirty="0">
                <a:solidFill>
                  <a:srgbClr val="2E377E"/>
                </a:solidFill>
                <a:latin typeface="Georgia"/>
                <a:cs typeface="Georgia"/>
              </a:rPr>
              <a:t> </a:t>
            </a:r>
            <a:r>
              <a:rPr sz="3500" dirty="0">
                <a:solidFill>
                  <a:srgbClr val="2E377E"/>
                </a:solidFill>
                <a:latin typeface="Georgia"/>
                <a:cs typeface="Georgia"/>
              </a:rPr>
              <a:t>chart</a:t>
            </a:r>
            <a:r>
              <a:rPr sz="3500" spc="-10" dirty="0">
                <a:solidFill>
                  <a:srgbClr val="2E377E"/>
                </a:solidFill>
                <a:latin typeface="Georgia"/>
                <a:cs typeface="Georgia"/>
              </a:rPr>
              <a:t> </a:t>
            </a:r>
            <a:r>
              <a:rPr sz="3500" dirty="0">
                <a:solidFill>
                  <a:srgbClr val="2E377E"/>
                </a:solidFill>
                <a:latin typeface="Georgia"/>
                <a:cs typeface="Georgia"/>
              </a:rPr>
              <a:t>before</a:t>
            </a:r>
            <a:r>
              <a:rPr sz="3500" spc="-5" dirty="0">
                <a:solidFill>
                  <a:srgbClr val="2E377E"/>
                </a:solidFill>
                <a:latin typeface="Georgia"/>
                <a:cs typeface="Georgia"/>
              </a:rPr>
              <a:t> </a:t>
            </a:r>
            <a:r>
              <a:rPr sz="3500" dirty="0">
                <a:solidFill>
                  <a:srgbClr val="2E377E"/>
                </a:solidFill>
                <a:latin typeface="Georgia"/>
                <a:cs typeface="Georgia"/>
              </a:rPr>
              <a:t>installation</a:t>
            </a:r>
            <a:r>
              <a:rPr sz="3500" spc="-10" dirty="0">
                <a:solidFill>
                  <a:srgbClr val="2E377E"/>
                </a:solidFill>
                <a:latin typeface="Georgia"/>
                <a:cs typeface="Georgia"/>
              </a:rPr>
              <a:t> </a:t>
            </a:r>
            <a:r>
              <a:rPr sz="3500" spc="-250" dirty="0">
                <a:solidFill>
                  <a:srgbClr val="2E377E"/>
                </a:solidFill>
                <a:latin typeface="Georgia"/>
                <a:cs typeface="Georgia"/>
              </a:rPr>
              <a:t>:</a:t>
            </a:r>
            <a:r>
              <a:rPr sz="3500" spc="-10" dirty="0">
                <a:solidFill>
                  <a:srgbClr val="2E377E"/>
                </a:solidFill>
                <a:latin typeface="Georgia"/>
                <a:cs typeface="Georgia"/>
              </a:rPr>
              <a:t> </a:t>
            </a:r>
            <a:r>
              <a:rPr sz="3500" dirty="0">
                <a:solidFill>
                  <a:srgbClr val="FF3131"/>
                </a:solidFill>
                <a:latin typeface="Georgia"/>
                <a:cs typeface="Georgia"/>
              </a:rPr>
              <a:t>helm</a:t>
            </a:r>
            <a:r>
              <a:rPr sz="3500" spc="-10" dirty="0">
                <a:solidFill>
                  <a:srgbClr val="FF3131"/>
                </a:solidFill>
                <a:latin typeface="Georgia"/>
                <a:cs typeface="Georgia"/>
              </a:rPr>
              <a:t> </a:t>
            </a:r>
            <a:r>
              <a:rPr sz="3500" dirty="0">
                <a:solidFill>
                  <a:srgbClr val="FF3131"/>
                </a:solidFill>
                <a:latin typeface="Georgia"/>
                <a:cs typeface="Georgia"/>
              </a:rPr>
              <a:t>install</a:t>
            </a:r>
            <a:r>
              <a:rPr sz="3500" spc="-10" dirty="0">
                <a:solidFill>
                  <a:srgbClr val="FF3131"/>
                </a:solidFill>
                <a:latin typeface="Georgia"/>
                <a:cs typeface="Georgia"/>
              </a:rPr>
              <a:t> </a:t>
            </a:r>
            <a:r>
              <a:rPr sz="3500" dirty="0">
                <a:solidFill>
                  <a:srgbClr val="FF3131"/>
                </a:solidFill>
                <a:latin typeface="Georgia"/>
                <a:cs typeface="Georgia"/>
              </a:rPr>
              <a:t>devops</a:t>
            </a:r>
            <a:r>
              <a:rPr sz="3500" spc="-10" dirty="0">
                <a:solidFill>
                  <a:srgbClr val="FF3131"/>
                </a:solidFill>
                <a:latin typeface="Georgia"/>
                <a:cs typeface="Georgia"/>
              </a:rPr>
              <a:t> </a:t>
            </a:r>
            <a:r>
              <a:rPr sz="3500" dirty="0">
                <a:solidFill>
                  <a:srgbClr val="FF3131"/>
                </a:solidFill>
                <a:latin typeface="Georgia"/>
                <a:cs typeface="Georgia"/>
              </a:rPr>
              <a:t>-</a:t>
            </a:r>
            <a:r>
              <a:rPr sz="3500" spc="-50" dirty="0">
                <a:solidFill>
                  <a:srgbClr val="FF3131"/>
                </a:solidFill>
                <a:latin typeface="Georgia"/>
                <a:cs typeface="Georgia"/>
              </a:rPr>
              <a:t>- </a:t>
            </a:r>
            <a:r>
              <a:rPr sz="3500" spc="-10" dirty="0">
                <a:solidFill>
                  <a:srgbClr val="FF3131"/>
                </a:solidFill>
                <a:latin typeface="Georgia"/>
                <a:cs typeface="Georgia"/>
              </a:rPr>
              <a:t>debug</a:t>
            </a:r>
            <a:r>
              <a:rPr sz="3500" dirty="0">
                <a:solidFill>
                  <a:srgbClr val="FF3131"/>
                </a:solidFill>
                <a:latin typeface="Georgia"/>
                <a:cs typeface="Georgia"/>
              </a:rPr>
              <a:t>	--dry-run</a:t>
            </a:r>
            <a:r>
              <a:rPr sz="3500" spc="225" dirty="0">
                <a:solidFill>
                  <a:srgbClr val="FF3131"/>
                </a:solidFill>
                <a:latin typeface="Georgia"/>
                <a:cs typeface="Georgia"/>
              </a:rPr>
              <a:t> </a:t>
            </a:r>
            <a:r>
              <a:rPr sz="3500" spc="-50" dirty="0">
                <a:solidFill>
                  <a:srgbClr val="FF3131"/>
                </a:solidFill>
                <a:latin typeface="Georgia"/>
                <a:cs typeface="Georgia"/>
              </a:rPr>
              <a:t>.</a:t>
            </a:r>
            <a:endParaRPr sz="3500" dirty="0">
              <a:latin typeface="Georgia"/>
              <a:cs typeface="Georgia"/>
            </a:endParaRPr>
          </a:p>
          <a:p>
            <a:pPr marL="12700" marR="3272154">
              <a:lnSpc>
                <a:spcPct val="232100"/>
              </a:lnSpc>
              <a:spcBef>
                <a:spcPts val="5"/>
              </a:spcBef>
            </a:pPr>
            <a:r>
              <a:rPr sz="3500" dirty="0">
                <a:solidFill>
                  <a:srgbClr val="2E377E"/>
                </a:solidFill>
                <a:latin typeface="Georgia"/>
                <a:cs typeface="Georgia"/>
              </a:rPr>
              <a:t>Validate</a:t>
            </a:r>
            <a:r>
              <a:rPr sz="3500" spc="-55" dirty="0">
                <a:solidFill>
                  <a:srgbClr val="2E377E"/>
                </a:solidFill>
                <a:latin typeface="Georgia"/>
                <a:cs typeface="Georgia"/>
              </a:rPr>
              <a:t> </a:t>
            </a:r>
            <a:r>
              <a:rPr sz="3500" dirty="0">
                <a:solidFill>
                  <a:srgbClr val="2E377E"/>
                </a:solidFill>
                <a:latin typeface="Georgia"/>
                <a:cs typeface="Georgia"/>
              </a:rPr>
              <a:t>all</a:t>
            </a:r>
            <a:r>
              <a:rPr sz="3500" spc="-55" dirty="0">
                <a:solidFill>
                  <a:srgbClr val="2E377E"/>
                </a:solidFill>
                <a:latin typeface="Georgia"/>
                <a:cs typeface="Georgia"/>
              </a:rPr>
              <a:t> </a:t>
            </a:r>
            <a:r>
              <a:rPr sz="3500" dirty="0">
                <a:solidFill>
                  <a:srgbClr val="2E377E"/>
                </a:solidFill>
                <a:latin typeface="Georgia"/>
                <a:cs typeface="Georgia"/>
              </a:rPr>
              <a:t>the</a:t>
            </a:r>
            <a:r>
              <a:rPr sz="3500" spc="-55" dirty="0">
                <a:solidFill>
                  <a:srgbClr val="2E377E"/>
                </a:solidFill>
                <a:latin typeface="Georgia"/>
                <a:cs typeface="Georgia"/>
              </a:rPr>
              <a:t> </a:t>
            </a:r>
            <a:r>
              <a:rPr sz="3500" spc="-95" dirty="0">
                <a:solidFill>
                  <a:srgbClr val="2E377E"/>
                </a:solidFill>
                <a:latin typeface="Georgia"/>
                <a:cs typeface="Georgia"/>
              </a:rPr>
              <a:t>YAML</a:t>
            </a:r>
            <a:r>
              <a:rPr sz="3500" spc="-55" dirty="0">
                <a:solidFill>
                  <a:srgbClr val="2E377E"/>
                </a:solidFill>
                <a:latin typeface="Georgia"/>
                <a:cs typeface="Georgia"/>
              </a:rPr>
              <a:t> </a:t>
            </a:r>
            <a:r>
              <a:rPr sz="3500" dirty="0">
                <a:solidFill>
                  <a:srgbClr val="2E377E"/>
                </a:solidFill>
                <a:latin typeface="Georgia"/>
                <a:cs typeface="Georgia"/>
              </a:rPr>
              <a:t>files</a:t>
            </a:r>
            <a:r>
              <a:rPr sz="3500" spc="-55" dirty="0">
                <a:solidFill>
                  <a:srgbClr val="2E377E"/>
                </a:solidFill>
                <a:latin typeface="Georgia"/>
                <a:cs typeface="Georgia"/>
              </a:rPr>
              <a:t> </a:t>
            </a:r>
            <a:r>
              <a:rPr sz="3500" dirty="0">
                <a:solidFill>
                  <a:srgbClr val="2E377E"/>
                </a:solidFill>
                <a:latin typeface="Georgia"/>
                <a:cs typeface="Georgia"/>
              </a:rPr>
              <a:t>in</a:t>
            </a:r>
            <a:r>
              <a:rPr sz="3500" spc="-55" dirty="0">
                <a:solidFill>
                  <a:srgbClr val="2E377E"/>
                </a:solidFill>
                <a:latin typeface="Georgia"/>
                <a:cs typeface="Georgia"/>
              </a:rPr>
              <a:t> </a:t>
            </a:r>
            <a:r>
              <a:rPr sz="3500" dirty="0">
                <a:solidFill>
                  <a:srgbClr val="2E377E"/>
                </a:solidFill>
                <a:latin typeface="Georgia"/>
                <a:cs typeface="Georgia"/>
              </a:rPr>
              <a:t>our</a:t>
            </a:r>
            <a:r>
              <a:rPr sz="3500" spc="-55" dirty="0">
                <a:solidFill>
                  <a:srgbClr val="2E377E"/>
                </a:solidFill>
                <a:latin typeface="Georgia"/>
                <a:cs typeface="Georgia"/>
              </a:rPr>
              <a:t> </a:t>
            </a:r>
            <a:r>
              <a:rPr sz="3500" spc="-185" dirty="0">
                <a:solidFill>
                  <a:srgbClr val="2E377E"/>
                </a:solidFill>
                <a:latin typeface="Georgia"/>
                <a:cs typeface="Georgia"/>
              </a:rPr>
              <a:t>HELM</a:t>
            </a:r>
            <a:r>
              <a:rPr sz="3500" spc="-55" dirty="0">
                <a:solidFill>
                  <a:srgbClr val="2E377E"/>
                </a:solidFill>
                <a:latin typeface="Georgia"/>
                <a:cs typeface="Georgia"/>
              </a:rPr>
              <a:t> </a:t>
            </a:r>
            <a:r>
              <a:rPr sz="3500" dirty="0">
                <a:solidFill>
                  <a:srgbClr val="2E377E"/>
                </a:solidFill>
                <a:latin typeface="Georgia"/>
                <a:cs typeface="Georgia"/>
              </a:rPr>
              <a:t>charts</a:t>
            </a:r>
            <a:r>
              <a:rPr sz="3500" spc="-55" dirty="0">
                <a:solidFill>
                  <a:srgbClr val="2E377E"/>
                </a:solidFill>
                <a:latin typeface="Georgia"/>
                <a:cs typeface="Georgia"/>
              </a:rPr>
              <a:t> </a:t>
            </a:r>
            <a:r>
              <a:rPr sz="3500" spc="-250" dirty="0">
                <a:solidFill>
                  <a:srgbClr val="2E377E"/>
                </a:solidFill>
                <a:latin typeface="Georgia"/>
                <a:cs typeface="Georgia"/>
              </a:rPr>
              <a:t>:</a:t>
            </a:r>
            <a:r>
              <a:rPr sz="3500" spc="-55" dirty="0">
                <a:solidFill>
                  <a:srgbClr val="2E377E"/>
                </a:solidFill>
                <a:latin typeface="Georgia"/>
                <a:cs typeface="Georgia"/>
              </a:rPr>
              <a:t> </a:t>
            </a:r>
            <a:r>
              <a:rPr sz="3500" dirty="0">
                <a:solidFill>
                  <a:srgbClr val="E7181F"/>
                </a:solidFill>
                <a:latin typeface="Georgia"/>
                <a:cs typeface="Georgia"/>
              </a:rPr>
              <a:t>helm</a:t>
            </a:r>
            <a:r>
              <a:rPr sz="3500" spc="-50" dirty="0">
                <a:solidFill>
                  <a:srgbClr val="E7181F"/>
                </a:solidFill>
                <a:latin typeface="Georgia"/>
                <a:cs typeface="Georgia"/>
              </a:rPr>
              <a:t> </a:t>
            </a:r>
            <a:r>
              <a:rPr sz="3500" dirty="0">
                <a:solidFill>
                  <a:srgbClr val="E7181F"/>
                </a:solidFill>
                <a:latin typeface="Georgia"/>
                <a:cs typeface="Georgia"/>
              </a:rPr>
              <a:t>list</a:t>
            </a:r>
            <a:r>
              <a:rPr sz="3500" spc="-55" dirty="0">
                <a:solidFill>
                  <a:srgbClr val="E7181F"/>
                </a:solidFill>
                <a:latin typeface="Georgia"/>
                <a:cs typeface="Georgia"/>
              </a:rPr>
              <a:t> </a:t>
            </a:r>
            <a:r>
              <a:rPr sz="3500" spc="-50" dirty="0">
                <a:solidFill>
                  <a:srgbClr val="E7181F"/>
                </a:solidFill>
                <a:latin typeface="Georgia"/>
                <a:cs typeface="Georgia"/>
              </a:rPr>
              <a:t>. </a:t>
            </a:r>
            <a:r>
              <a:rPr sz="3500" dirty="0">
                <a:solidFill>
                  <a:srgbClr val="2E377E"/>
                </a:solidFill>
                <a:latin typeface="Georgia"/>
                <a:cs typeface="Georgia"/>
              </a:rPr>
              <a:t>To</a:t>
            </a:r>
            <a:r>
              <a:rPr sz="3500" spc="-25" dirty="0">
                <a:solidFill>
                  <a:srgbClr val="2E377E"/>
                </a:solidFill>
                <a:latin typeface="Georgia"/>
                <a:cs typeface="Georgia"/>
              </a:rPr>
              <a:t> </a:t>
            </a:r>
            <a:r>
              <a:rPr sz="3500" spc="55" dirty="0">
                <a:solidFill>
                  <a:srgbClr val="2E377E"/>
                </a:solidFill>
                <a:latin typeface="Georgia"/>
                <a:cs typeface="Georgia"/>
              </a:rPr>
              <a:t>get</a:t>
            </a:r>
            <a:r>
              <a:rPr sz="3500" spc="-20" dirty="0">
                <a:solidFill>
                  <a:srgbClr val="2E377E"/>
                </a:solidFill>
                <a:latin typeface="Georgia"/>
                <a:cs typeface="Georgia"/>
              </a:rPr>
              <a:t> </a:t>
            </a:r>
            <a:r>
              <a:rPr sz="3500" dirty="0">
                <a:solidFill>
                  <a:srgbClr val="2E377E"/>
                </a:solidFill>
                <a:latin typeface="Georgia"/>
                <a:cs typeface="Georgia"/>
              </a:rPr>
              <a:t>template</a:t>
            </a:r>
            <a:r>
              <a:rPr sz="3500" spc="-25" dirty="0">
                <a:solidFill>
                  <a:srgbClr val="2E377E"/>
                </a:solidFill>
                <a:latin typeface="Georgia"/>
                <a:cs typeface="Georgia"/>
              </a:rPr>
              <a:t> </a:t>
            </a:r>
            <a:r>
              <a:rPr sz="3500" dirty="0">
                <a:solidFill>
                  <a:srgbClr val="2E377E"/>
                </a:solidFill>
                <a:latin typeface="Georgia"/>
                <a:cs typeface="Georgia"/>
              </a:rPr>
              <a:t>of</a:t>
            </a:r>
            <a:r>
              <a:rPr sz="3500" spc="-20" dirty="0">
                <a:solidFill>
                  <a:srgbClr val="2E377E"/>
                </a:solidFill>
                <a:latin typeface="Georgia"/>
                <a:cs typeface="Georgia"/>
              </a:rPr>
              <a:t> </a:t>
            </a:r>
            <a:r>
              <a:rPr sz="3500" dirty="0">
                <a:solidFill>
                  <a:srgbClr val="2E377E"/>
                </a:solidFill>
                <a:latin typeface="Georgia"/>
                <a:cs typeface="Georgia"/>
              </a:rPr>
              <a:t>our</a:t>
            </a:r>
            <a:r>
              <a:rPr sz="3500" spc="-25" dirty="0">
                <a:solidFill>
                  <a:srgbClr val="2E377E"/>
                </a:solidFill>
                <a:latin typeface="Georgia"/>
                <a:cs typeface="Georgia"/>
              </a:rPr>
              <a:t> </a:t>
            </a:r>
            <a:r>
              <a:rPr sz="3500" dirty="0">
                <a:solidFill>
                  <a:srgbClr val="2E377E"/>
                </a:solidFill>
                <a:latin typeface="Georgia"/>
                <a:cs typeface="Georgia"/>
              </a:rPr>
              <a:t>helm</a:t>
            </a:r>
            <a:r>
              <a:rPr sz="3500" spc="-20" dirty="0">
                <a:solidFill>
                  <a:srgbClr val="2E377E"/>
                </a:solidFill>
                <a:latin typeface="Georgia"/>
                <a:cs typeface="Georgia"/>
              </a:rPr>
              <a:t> </a:t>
            </a:r>
            <a:r>
              <a:rPr sz="3500" spc="-250" dirty="0">
                <a:solidFill>
                  <a:srgbClr val="2E377E"/>
                </a:solidFill>
                <a:latin typeface="Georgia"/>
                <a:cs typeface="Georgia"/>
              </a:rPr>
              <a:t>:</a:t>
            </a:r>
            <a:r>
              <a:rPr sz="3500" spc="-25" dirty="0">
                <a:solidFill>
                  <a:srgbClr val="2E377E"/>
                </a:solidFill>
                <a:latin typeface="Georgia"/>
                <a:cs typeface="Georgia"/>
              </a:rPr>
              <a:t> </a:t>
            </a:r>
            <a:r>
              <a:rPr sz="3500" dirty="0">
                <a:solidFill>
                  <a:srgbClr val="E7181F"/>
                </a:solidFill>
                <a:latin typeface="Georgia"/>
                <a:cs typeface="Georgia"/>
              </a:rPr>
              <a:t>helm</a:t>
            </a:r>
            <a:r>
              <a:rPr sz="3500" spc="-20" dirty="0">
                <a:solidFill>
                  <a:srgbClr val="E7181F"/>
                </a:solidFill>
                <a:latin typeface="Georgia"/>
                <a:cs typeface="Georgia"/>
              </a:rPr>
              <a:t> </a:t>
            </a:r>
            <a:r>
              <a:rPr sz="3500" dirty="0">
                <a:solidFill>
                  <a:srgbClr val="E7181F"/>
                </a:solidFill>
                <a:latin typeface="Georgia"/>
                <a:cs typeface="Georgia"/>
              </a:rPr>
              <a:t>template</a:t>
            </a:r>
            <a:r>
              <a:rPr sz="3500" spc="-25" dirty="0">
                <a:solidFill>
                  <a:srgbClr val="E7181F"/>
                </a:solidFill>
                <a:latin typeface="Georgia"/>
                <a:cs typeface="Georgia"/>
              </a:rPr>
              <a:t> </a:t>
            </a:r>
            <a:r>
              <a:rPr sz="3500" spc="-50" dirty="0">
                <a:solidFill>
                  <a:srgbClr val="E7181F"/>
                </a:solidFill>
                <a:latin typeface="Georgia"/>
                <a:cs typeface="Georgia"/>
              </a:rPr>
              <a:t>.</a:t>
            </a:r>
            <a:endParaRPr sz="3500" dirty="0">
              <a:latin typeface="Georgia"/>
              <a:cs typeface="Georgia"/>
            </a:endParaRPr>
          </a:p>
          <a:p>
            <a:pPr>
              <a:lnSpc>
                <a:spcPct val="100000"/>
              </a:lnSpc>
              <a:spcBef>
                <a:spcPts val="1570"/>
              </a:spcBef>
            </a:pPr>
            <a:endParaRPr sz="3500" dirty="0">
              <a:latin typeface="Georgia"/>
              <a:cs typeface="Georgia"/>
            </a:endParaRPr>
          </a:p>
          <a:p>
            <a:pPr marL="12700">
              <a:lnSpc>
                <a:spcPct val="100000"/>
              </a:lnSpc>
            </a:pPr>
            <a:r>
              <a:rPr sz="3500" dirty="0">
                <a:solidFill>
                  <a:srgbClr val="2E377E"/>
                </a:solidFill>
                <a:latin typeface="Georgia"/>
                <a:cs typeface="Georgia"/>
              </a:rPr>
              <a:t>To see</a:t>
            </a:r>
            <a:r>
              <a:rPr sz="3500" spc="5" dirty="0">
                <a:solidFill>
                  <a:srgbClr val="2E377E"/>
                </a:solidFill>
                <a:latin typeface="Georgia"/>
                <a:cs typeface="Georgia"/>
              </a:rPr>
              <a:t> </a:t>
            </a:r>
            <a:r>
              <a:rPr sz="3500" dirty="0">
                <a:solidFill>
                  <a:srgbClr val="2E377E"/>
                </a:solidFill>
                <a:latin typeface="Georgia"/>
                <a:cs typeface="Georgia"/>
              </a:rPr>
              <a:t>the</a:t>
            </a:r>
            <a:r>
              <a:rPr sz="3500" spc="5" dirty="0">
                <a:solidFill>
                  <a:srgbClr val="2E377E"/>
                </a:solidFill>
                <a:latin typeface="Georgia"/>
                <a:cs typeface="Georgia"/>
              </a:rPr>
              <a:t> </a:t>
            </a:r>
            <a:r>
              <a:rPr sz="3500" dirty="0">
                <a:solidFill>
                  <a:srgbClr val="2E377E"/>
                </a:solidFill>
                <a:latin typeface="Georgia"/>
                <a:cs typeface="Georgia"/>
              </a:rPr>
              <a:t>history of</a:t>
            </a:r>
            <a:r>
              <a:rPr sz="3500" spc="5" dirty="0">
                <a:solidFill>
                  <a:srgbClr val="2E377E"/>
                </a:solidFill>
                <a:latin typeface="Georgia"/>
                <a:cs typeface="Georgia"/>
              </a:rPr>
              <a:t> </a:t>
            </a:r>
            <a:r>
              <a:rPr sz="3500" dirty="0">
                <a:solidFill>
                  <a:srgbClr val="2E377E"/>
                </a:solidFill>
                <a:latin typeface="Georgia"/>
                <a:cs typeface="Georgia"/>
              </a:rPr>
              <a:t>a</a:t>
            </a:r>
            <a:r>
              <a:rPr sz="3500" spc="5" dirty="0">
                <a:solidFill>
                  <a:srgbClr val="2E377E"/>
                </a:solidFill>
                <a:latin typeface="Georgia"/>
                <a:cs typeface="Georgia"/>
              </a:rPr>
              <a:t> </a:t>
            </a:r>
            <a:r>
              <a:rPr sz="3500" dirty="0">
                <a:solidFill>
                  <a:srgbClr val="2E377E"/>
                </a:solidFill>
                <a:latin typeface="Georgia"/>
                <a:cs typeface="Georgia"/>
              </a:rPr>
              <a:t>release</a:t>
            </a:r>
            <a:r>
              <a:rPr sz="3500" spc="5" dirty="0">
                <a:solidFill>
                  <a:srgbClr val="2E377E"/>
                </a:solidFill>
                <a:latin typeface="Georgia"/>
                <a:cs typeface="Georgia"/>
              </a:rPr>
              <a:t> </a:t>
            </a:r>
            <a:r>
              <a:rPr sz="3500" spc="-250" dirty="0">
                <a:solidFill>
                  <a:srgbClr val="2E377E"/>
                </a:solidFill>
                <a:latin typeface="Georgia"/>
                <a:cs typeface="Georgia"/>
              </a:rPr>
              <a:t>:</a:t>
            </a:r>
            <a:r>
              <a:rPr sz="3500" dirty="0">
                <a:solidFill>
                  <a:srgbClr val="2E377E"/>
                </a:solidFill>
                <a:latin typeface="Georgia"/>
                <a:cs typeface="Georgia"/>
              </a:rPr>
              <a:t> </a:t>
            </a:r>
            <a:r>
              <a:rPr sz="3500" dirty="0">
                <a:solidFill>
                  <a:srgbClr val="E7181F"/>
                </a:solidFill>
                <a:latin typeface="Georgia"/>
                <a:cs typeface="Georgia"/>
              </a:rPr>
              <a:t>helm</a:t>
            </a:r>
            <a:r>
              <a:rPr sz="3500" spc="5" dirty="0">
                <a:solidFill>
                  <a:srgbClr val="E7181F"/>
                </a:solidFill>
                <a:latin typeface="Georgia"/>
                <a:cs typeface="Georgia"/>
              </a:rPr>
              <a:t> </a:t>
            </a:r>
            <a:r>
              <a:rPr sz="3500" dirty="0">
                <a:solidFill>
                  <a:srgbClr val="E7181F"/>
                </a:solidFill>
                <a:latin typeface="Georgia"/>
                <a:cs typeface="Georgia"/>
              </a:rPr>
              <a:t>history</a:t>
            </a:r>
            <a:r>
              <a:rPr sz="3500" spc="5" dirty="0">
                <a:solidFill>
                  <a:srgbClr val="E7181F"/>
                </a:solidFill>
                <a:latin typeface="Georgia"/>
                <a:cs typeface="Georgia"/>
              </a:rPr>
              <a:t> </a:t>
            </a:r>
            <a:r>
              <a:rPr lang="en-IN" sz="3500" spc="-10" dirty="0">
                <a:solidFill>
                  <a:srgbClr val="E7181F"/>
                </a:solidFill>
                <a:latin typeface="Georgia"/>
                <a:cs typeface="Georgia"/>
              </a:rPr>
              <a:t>rajco</a:t>
            </a:r>
            <a:endParaRPr sz="3500" dirty="0">
              <a:latin typeface="Georgia"/>
              <a:cs typeface="Georgia"/>
            </a:endParaRPr>
          </a:p>
        </p:txBody>
      </p:sp>
      <p:pic>
        <p:nvPicPr>
          <p:cNvPr id="5" name="object 5"/>
          <p:cNvPicPr/>
          <p:nvPr/>
        </p:nvPicPr>
        <p:blipFill>
          <a:blip r:embed="rId2" cstate="print"/>
          <a:stretch>
            <a:fillRect/>
          </a:stretch>
        </p:blipFill>
        <p:spPr>
          <a:xfrm>
            <a:off x="1293736" y="3256260"/>
            <a:ext cx="133350" cy="133349"/>
          </a:xfrm>
          <a:prstGeom prst="rect">
            <a:avLst/>
          </a:prstGeom>
        </p:spPr>
      </p:pic>
      <p:pic>
        <p:nvPicPr>
          <p:cNvPr id="6" name="object 6"/>
          <p:cNvPicPr/>
          <p:nvPr/>
        </p:nvPicPr>
        <p:blipFill>
          <a:blip r:embed="rId2" cstate="print"/>
          <a:stretch>
            <a:fillRect/>
          </a:stretch>
        </p:blipFill>
        <p:spPr>
          <a:xfrm>
            <a:off x="1293736" y="5113635"/>
            <a:ext cx="133350" cy="133349"/>
          </a:xfrm>
          <a:prstGeom prst="rect">
            <a:avLst/>
          </a:prstGeom>
        </p:spPr>
      </p:pic>
      <p:pic>
        <p:nvPicPr>
          <p:cNvPr id="7" name="object 7"/>
          <p:cNvPicPr/>
          <p:nvPr/>
        </p:nvPicPr>
        <p:blipFill>
          <a:blip r:embed="rId2" cstate="print"/>
          <a:stretch>
            <a:fillRect/>
          </a:stretch>
        </p:blipFill>
        <p:spPr>
          <a:xfrm>
            <a:off x="1293736" y="6351885"/>
            <a:ext cx="133350" cy="133349"/>
          </a:xfrm>
          <a:prstGeom prst="rect">
            <a:avLst/>
          </a:prstGeom>
        </p:spPr>
      </p:pic>
      <p:pic>
        <p:nvPicPr>
          <p:cNvPr id="8" name="object 8"/>
          <p:cNvPicPr/>
          <p:nvPr/>
        </p:nvPicPr>
        <p:blipFill>
          <a:blip r:embed="rId2" cstate="print"/>
          <a:stretch>
            <a:fillRect/>
          </a:stretch>
        </p:blipFill>
        <p:spPr>
          <a:xfrm>
            <a:off x="1293736" y="7590135"/>
            <a:ext cx="133350" cy="133349"/>
          </a:xfrm>
          <a:prstGeom prst="rect">
            <a:avLst/>
          </a:prstGeom>
        </p:spPr>
      </p:pic>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338</TotalTime>
  <Words>16299</Words>
  <Application>Microsoft Office PowerPoint</Application>
  <PresentationFormat>Custom</PresentationFormat>
  <Paragraphs>1442</Paragraphs>
  <Slides>218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218</vt:i4>
      </vt:variant>
    </vt:vector>
  </HeadingPairs>
  <TitlesOfParts>
    <vt:vector size="225" baseType="lpstr">
      <vt:lpstr>Arial</vt:lpstr>
      <vt:lpstr>Arial MT</vt:lpstr>
      <vt:lpstr>Courier New</vt:lpstr>
      <vt:lpstr>Georgia</vt:lpstr>
      <vt:lpstr>Times New Roman</vt:lpstr>
      <vt:lpstr>Trebuchet MS</vt:lpstr>
      <vt:lpstr>Office Theme</vt:lpstr>
      <vt:lpstr>PowerPoint Presentation</vt:lpstr>
      <vt:lpstr>WHY KUBERNETES</vt:lpstr>
      <vt:lpstr>KUBERNETES:</vt:lpstr>
      <vt:lpstr>aechitecture:</vt:lpstr>
      <vt:lpstr>HOW IT WORKS:</vt:lpstr>
      <vt:lpstr>How od creates:</vt:lpstr>
      <vt:lpstr>cluster:</vt:lpstr>
      <vt:lpstr>a i server:</vt:lpstr>
      <vt:lpstr>HOW SCHEDULER DECIDES</vt:lpstr>
      <vt:lpstr>pod 6 cpu</vt:lpstr>
      <vt:lpstr>pod 6 cpu</vt:lpstr>
      <vt:lpstr>PowerPoint Presentation</vt:lpstr>
      <vt:lpstr>Scheduler will do the following taks</vt:lpstr>
      <vt:lpstr>HOW NODE CONTROLLER WORKS:</vt:lpstr>
      <vt:lpstr>HOW RE LICATION CONTROLLER WORKS:</vt:lpstr>
      <vt:lpstr>kubelet:</vt:lpstr>
      <vt:lpstr>kubernetes cluster setu :</vt:lpstr>
      <vt:lpstr>MINIKUBE:</vt:lpstr>
      <vt:lpstr>MINIKUBE SETUP:</vt:lpstr>
      <vt:lpstr>PowerPoint Presentation</vt:lpstr>
      <vt:lpstr>KUBECTL:</vt:lpstr>
      <vt:lpstr>Lets start working on kubernetes!</vt:lpstr>
      <vt:lpstr>POD:</vt:lpstr>
      <vt:lpstr>SINGLE CONTAINER POD</vt:lpstr>
      <vt:lpstr>MULTI CONTAINER POD</vt:lpstr>
      <vt:lpstr>How Helper container works:</vt:lpstr>
      <vt:lpstr>POD CREATION:</vt:lpstr>
      <vt:lpstr>KUBECTL:</vt:lpstr>
      <vt:lpstr>MANIFEST FILE:</vt:lpstr>
      <vt:lpstr>COMMANDS:</vt:lpstr>
      <vt:lpstr>KUBERNETES METRICS SERVER:</vt:lpstr>
      <vt:lpstr>PowerPoint Presentation</vt:lpstr>
      <vt:lpstr>Labels, Selectors, and Node Selectors:</vt:lpstr>
      <vt:lpstr>Label-Selectors:</vt:lpstr>
      <vt:lpstr>Node Selector:</vt:lpstr>
      <vt:lpstr>PowerPoint Presentation</vt:lpstr>
      <vt:lpstr>PowerPoint Presentation</vt:lpstr>
      <vt:lpstr>PowerPoint Presentation</vt:lpstr>
      <vt:lpstr>WE DEPLOYED THE POD</vt:lpstr>
      <vt:lpstr>PowerPoint Presentation</vt:lpstr>
      <vt:lpstr>KUBERNETES SERVICES</vt:lpstr>
      <vt:lpstr>TYPES OF SERVICES</vt:lpstr>
      <vt:lpstr>COMPONENTS OF SERVICES</vt:lpstr>
      <vt:lpstr>CLUSTER-IP:</vt:lpstr>
      <vt:lpstr>PowerPoint Presentation</vt:lpstr>
      <vt:lpstr>PowerPoint Presentation</vt:lpstr>
      <vt:lpstr>PowerPoint Presentation</vt:lpstr>
      <vt:lpstr>PowerPoint Presentation</vt:lpstr>
      <vt:lpstr>PowerPoint Presentation</vt:lpstr>
      <vt:lpstr>PowerPoint Presentation</vt:lpstr>
      <vt:lpstr>ExternalName:</vt:lpstr>
      <vt:lpstr>COMMANDS FOR SERVICES:</vt:lpstr>
      <vt:lpstr>PowerPoint Presentation</vt:lpstr>
      <vt:lpstr>THE DRAWBACK</vt:lpstr>
      <vt:lpstr>REPLICAS IN KUBERNETES:</vt:lpstr>
      <vt:lpstr>PowerPoint Presentation</vt:lpstr>
      <vt:lpstr>REPLICATION CONTROLLER:</vt:lpstr>
      <vt:lpstr>REPLICATION CONTROLLER:</vt:lpstr>
      <vt:lpstr>SELECTOR: It select the resources based on labels. Labels are key value pairs.</vt:lpstr>
      <vt:lpstr>PowerPoint Presentation</vt:lpstr>
      <vt:lpstr>PowerPoint Presentation</vt:lpstr>
      <vt:lpstr>THE DRAWBACK</vt:lpstr>
      <vt:lpstr>REPLICASET:</vt:lpstr>
      <vt:lpstr>PowerPoint Presentation</vt:lpstr>
      <vt:lpstr>PowerPoint Presentation</vt:lpstr>
      <vt:lpstr>COMMANDS:</vt:lpstr>
      <vt:lpstr>THE DRAWBACK</vt:lpstr>
      <vt:lpstr>DEPLOYMENT:</vt:lpstr>
      <vt:lpstr>PowerPoint Presentation</vt:lpstr>
      <vt:lpstr>MANIFEST FILE:</vt:lpstr>
      <vt:lpstr>PowerPoint Presentation</vt:lpstr>
      <vt:lpstr>UPDATING A DEPLOYMENT:</vt:lpstr>
      <vt:lpstr>PAUSE/UNPAUSE A DEPLOYMENT:</vt:lpstr>
      <vt:lpstr>KUBERNETES AUTO-SCALING: As you know, to run the application we need CPU and memory. Sometimes, there will be a chance where the CPU gets loaded, and this might fail the server or affect the application. Now, we can’t afford the downtime of the applications. To avoid this, we need to increase the number of servers or increase the capacity of servers.</vt:lpstr>
      <vt:lpstr>PowerPoint Presentation</vt:lpstr>
      <vt:lpstr>Types of Autoscaling</vt:lpstr>
      <vt:lpstr>PowerPoint Presentation</vt:lpstr>
      <vt:lpstr>Key Features of Horizontal Pod AutoScaler:</vt:lpstr>
      <vt:lpstr>We can perform HPA through two types: 1. Imperative way: In this way, you will create hpa object by command only.</vt:lpstr>
      <vt:lpstr>PowerPoint Presentation</vt:lpstr>
      <vt:lpstr>PowerPoint Presentation</vt:lpstr>
      <vt:lpstr>PowerPoint Presentation</vt:lpstr>
      <vt:lpstr>DEPLOYMENT SCALING:</vt:lpstr>
      <vt:lpstr>DEPLOYMENT SCALING:</vt:lpstr>
      <vt:lpstr>DAEMON-SET:</vt:lpstr>
      <vt:lpstr>PowerPoint Presentation</vt:lpstr>
      <vt:lpstr>PowerPoint Presentation</vt:lpstr>
      <vt:lpstr>NAMESPACE:</vt:lpstr>
      <vt:lpstr>PowerPoint Presentation</vt:lpstr>
      <vt:lpstr>Default: As the name suggests, whenever we create any Kubernetes object such as pod, replicas, etc it will create in the default namespace.</vt:lpstr>
      <vt:lpstr>When should we consider Kubernetes Namespaces?</vt:lpstr>
      <vt:lpstr>COMMANDS:</vt:lpstr>
      <vt:lpstr>CREATE A POD IN NS (DECLARATIVE):</vt:lpstr>
      <vt:lpstr>NODEPORT FILE</vt:lpstr>
      <vt:lpstr>RESOURCE QUOTA:</vt:lpstr>
      <vt:lpstr>Just assume that we have 2 teams (Team-A &amp; Team-B) who are working on single kubernetes cluster.</vt:lpstr>
      <vt:lpstr>In this situation Team-A needs more CPU’s &amp; Memory because of heavy workload tasks.</vt:lpstr>
      <vt:lpstr>If the CPUs and other resources go to another team then it might increase the chance of failure.</vt:lpstr>
      <vt:lpstr>PowerPoint Presentation</vt:lpstr>
      <vt:lpstr>PowerPoint Presentation</vt:lpstr>
      <vt:lpstr>Lets understand the ResourceQuota with funny scenario. Assume that there is medical college which has 25 seats only. So the college management assigned 10 seats for girls and 15 seats for boys who has more than 80% in Intermediate.</vt:lpstr>
      <vt:lpstr>College (cluster)</vt:lpstr>
      <vt:lpstr>PowerPoint Presentation</vt:lpstr>
      <vt:lpstr>If the requests and limits are given in the manifest file, it works accordingly.</vt:lpstr>
      <vt:lpstr>If the requests are given but the limit is not provided then, the default limit will be used.</vt:lpstr>
      <vt:lpstr>If the requests are not provided but the limit is provided then, the requests will be equal to the limit.</vt:lpstr>
      <vt:lpstr>Hands on : Resource Quota create a ResourceQuota:</vt:lpstr>
      <vt:lpstr>PowerPoint Presentation</vt:lpstr>
      <vt:lpstr>If we execute this pod, we will get an error because the pod limits and requests are greater than the resource quota limits and requests.</vt:lpstr>
      <vt:lpstr>CONFIG MAPS:</vt:lpstr>
      <vt:lpstr>USE CASES IN CONFIG MAPS:</vt:lpstr>
      <vt:lpstr>SOME POINTS ABOUT CONFIGMAPS:</vt:lpstr>
      <vt:lpstr>PowerPoint Presentation</vt:lpstr>
      <vt:lpstr>PowerPoint Presentation</vt:lpstr>
      <vt:lpstr>PowerPoint Presentation</vt:lpstr>
      <vt:lpstr>PowerPoint Presentation</vt:lpstr>
      <vt:lpstr>PowerPoint Presentation</vt:lpstr>
      <vt:lpstr>Injecting CM into the pod with specific key pairs:</vt:lpstr>
      <vt:lpstr>Injecting multiple CMs with specific and multiple values:</vt:lpstr>
      <vt:lpstr>Injecting the environment file cm’s to pod:</vt:lpstr>
      <vt:lpstr>Injecting cm in the pod with the entire proper file:</vt:lpstr>
      <vt:lpstr>Injecting cm and creating a file in the pod with the selected key pairs</vt:lpstr>
      <vt:lpstr>SECRETS:</vt:lpstr>
      <vt:lpstr>PowerPoint Presentation</vt:lpstr>
      <vt:lpstr>PowerPoint Presentation</vt:lpstr>
      <vt:lpstr>PowerPoint Presentation</vt:lpstr>
      <vt:lpstr>PowerPoint Presentation</vt:lpstr>
      <vt:lpstr>Injecting Secret with a pod for a particular key pairs:</vt:lpstr>
      <vt:lpstr>Injecting the environment file secrets to pod:</vt:lpstr>
      <vt:lpstr>Injecting secret and creating a file in the pod with the selected key pairs</vt:lpstr>
      <vt:lpstr>There are 2 possible ways to store the data in config maps</vt:lpstr>
      <vt:lpstr>INIT CONTAINERS:</vt:lpstr>
      <vt:lpstr>lets create a new pod in which we have created two containers and the first container is initcontainer.</vt:lpstr>
      <vt:lpstr>PowerPoint Presentation</vt:lpstr>
      <vt:lpstr>If we describe the pod, we can see cont-1 status is running and cont-2 status is waiting</vt:lpstr>
      <vt:lpstr>KUBERNETES JOBS:</vt:lpstr>
      <vt:lpstr>Work completed and pod deleted:</vt:lpstr>
      <vt:lpstr>PowerPoint Presentation</vt:lpstr>
      <vt:lpstr>Create and run the pods simultaneously and delete once the work is completed.</vt:lpstr>
      <vt:lpstr>PowerPoint Presentation</vt:lpstr>
      <vt:lpstr>Scheduling a pod after each minute:</vt:lpstr>
      <vt:lpstr>PowerPoint Presentation</vt:lpstr>
      <vt:lpstr>PowerPoint Presentation</vt:lpstr>
      <vt:lpstr>STATELESS APPLICATION</vt:lpstr>
      <vt:lpstr>Again i called to same number, but this time another person pick the call. He don't know what the conversation we had with the first person. Again i had to repeat the details of my problem to the second person, though it is an inconvenience but it still works out</vt:lpstr>
      <vt:lpstr>Kubernetes Deployment suits perfectly here. Let’s assume you deployed your stateless application as a Deployment with 10 Pod replicas running in multiple worker nodes.</vt:lpstr>
      <vt:lpstr>If one of those Pods running in a particular worker node got terminated due to some issue</vt:lpstr>
      <vt:lpstr>PowerPoint Presentation</vt:lpstr>
      <vt:lpstr>STATELESS APPLICATION:</vt:lpstr>
      <vt:lpstr>PowerPoint Presentation</vt:lpstr>
      <vt:lpstr>PowerPoint Presentation</vt:lpstr>
      <vt:lpstr>PowerPoint Presentation</vt:lpstr>
      <vt:lpstr>STATEFUL APPLICATION:</vt:lpstr>
      <vt:lpstr>STATEFUL SET</vt:lpstr>
      <vt:lpstr>PowerPoint Presentation</vt:lpstr>
      <vt:lpstr>DEPLOYMENT VS STATEFUL SET</vt:lpstr>
      <vt:lpstr>PowerPoint Presentation</vt:lpstr>
      <vt:lpstr>K8'S VOLUME AND LIVENESS PROBES:</vt:lpstr>
      <vt:lpstr>The volumes reside inside the Pod which stores the data of all containers in that pod.</vt:lpstr>
      <vt:lpstr>pod</vt:lpstr>
      <vt:lpstr>Multiple containers within a pod can share one volume because the volume is attached to the pod.</vt:lpstr>
      <vt:lpstr>If the Pod gets deleted, then the volume will also get deleted which leads to a loss of data for all containers permanently.</vt:lpstr>
      <vt:lpstr>After deleting the pod, the new pod will be created with volume but this time volumes don’t have any previous data or any data.</vt:lpstr>
      <vt:lpstr>PowerPoint Presentation</vt:lpstr>
      <vt:lpstr>1. EMPTY DIR:</vt:lpstr>
      <vt:lpstr>PowerPoint Presentation</vt:lpstr>
      <vt:lpstr>PowerPoint Presentation</vt:lpstr>
      <vt:lpstr>Pod</vt:lpstr>
      <vt:lpstr>2. HOSTPATH:</vt:lpstr>
      <vt:lpstr>PowerPoint Presentation</vt:lpstr>
      <vt:lpstr>PowerPoint Presentation</vt:lpstr>
      <vt:lpstr>Host</vt:lpstr>
      <vt:lpstr>PowerPoint Presentation</vt:lpstr>
      <vt:lpstr>PERSISTENT VOLUME:</vt:lpstr>
      <vt:lpstr>PERSISTENT VOLUME:</vt:lpstr>
      <vt:lpstr>PERSISTENT VOLUME CLAIM:</vt:lpstr>
      <vt:lpstr>FACTS ABOUT EBS:</vt:lpstr>
      <vt:lpstr>PowerPoint Presentation</vt:lpstr>
      <vt:lpstr>PVC file:</vt:lpstr>
      <vt:lpstr>we have logged in to the created container (kubectl exec -it pod_name -c shell /bin/bash)and created one file with some text.</vt:lpstr>
      <vt:lpstr>Cluster</vt:lpstr>
      <vt:lpstr>PowerPoint Presentation</vt:lpstr>
      <vt:lpstr>kubectl apply -f deploy.yml kubectl get deploy kubectl get rs kubectl get po</vt:lpstr>
      <vt:lpstr>PowerPoint Presentation</vt:lpstr>
      <vt:lpstr>LIVENESSPROBE (HEALTHCHECK):</vt:lpstr>
      <vt:lpstr>PowerPoint Presentation</vt:lpstr>
      <vt:lpstr>PowerPoint Presentation</vt:lpstr>
      <vt:lpstr>RBAC (Role Based Access Control):</vt:lpstr>
      <vt:lpstr>Role-Based Access Control (RBAC) is a critical security feature in Kubernetes that allows you to define and manage access to resources based on roles and permissions. RBAC ensures that only authorized users, processes, or services can interact with specific resources within a Kubernetes cluster.</vt:lpstr>
      <vt:lpstr>PowerPoint Presentation</vt:lpstr>
      <vt:lpstr>PowerPoint Presentation</vt:lpstr>
      <vt:lpstr>Which account type should you use?</vt:lpstr>
      <vt:lpstr>PowerPoint Presentation</vt:lpstr>
      <vt:lpstr>PowerPoint Presentation</vt:lpstr>
      <vt:lpstr>To use RBAC in your Kubernetes cluster, you first need to create the roles, role bindings, and ClusterRoles that you need. We can create these in 2 ways:</vt:lpstr>
      <vt:lpstr>creating a role in declarative way:</vt:lpstr>
      <vt:lpstr>creating a rolebindings in imperative way:</vt:lpstr>
      <vt:lpstr>creating a rolebinding in declarative way:</vt:lpstr>
      <vt:lpstr>creating a clusterrolebindings in imperative way:</vt:lpstr>
      <vt:lpstr>creating a clusterroleBinding in declarative way:</vt:lpstr>
      <vt:lpstr>PowerPoint Presentation</vt:lpstr>
      <vt:lpstr>PROJECT ON RBAC</vt:lpstr>
      <vt:lpstr>Creating Custom Roles and RoleBindings</vt:lpstr>
      <vt:lpstr>2. Create RoleBindings: Now, let’s create RoleBindings to associate these custom Roles with the appropriate teams. The ‘frontend-role-binding’ will bind the ‘frontend-role’ to the ‘frontend-team’ group, and the ‘backend-role-binding’ will bind the ‘backend-role’ to the ‘backend-team’ group.</vt:lpstr>
      <vt:lpstr>PowerPoint Presentation</vt:lpstr>
      <vt:lpstr>PowerPoint Presentation</vt:lpstr>
      <vt:lpstr>PowerPoint Presentation</vt:lpstr>
      <vt:lpstr>PowerPoint Presentation</vt:lpstr>
      <vt:lpstr>PowerPoint Presentation</vt:lpstr>
      <vt:lpstr>Key Concepts of HEML:</vt:lpstr>
      <vt:lpstr>PowerPoint Presentation</vt:lpstr>
      <vt:lpstr>Advatnages of HEML:</vt:lpstr>
      <vt:lpstr>HELM commands:</vt:lpstr>
      <vt:lpstr>Deploy a sample Nginx page using HELM:</vt:lpstr>
      <vt:lpstr>PowerPoint Presentation</vt:lpstr>
      <vt:lpstr>PowerPoint Presentation</vt:lpstr>
      <vt:lpstr>General commands about HELM: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MUSTAFA'S KUBERNETES UDE</dc:title>
  <dc:creator>Shaik Musta</dc:creator>
  <cp:keywords>DAF0-c4h7c4,BAE-wkpMcFc</cp:keywords>
  <cp:lastModifiedBy>Siddharth S</cp:lastModifiedBy>
  <cp:revision>2</cp:revision>
  <dcterms:created xsi:type="dcterms:W3CDTF">2026-03-16T03:36:22Z</dcterms:created>
  <dcterms:modified xsi:type="dcterms:W3CDTF">2026-03-17T06:01:33Z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2024-02-12T00:00:00Z</vt:filetime>
  </property>
  <property fmtid="{D5CDD505-2E9C-101B-9397-08002B2CF9AE}" pid="3" name="Creator">
    <vt:lpwstr>Canva</vt:lpwstr>
  </property>
  <property fmtid="{D5CDD505-2E9C-101B-9397-08002B2CF9AE}" pid="4" name="LastSaved">
    <vt:filetime>2026-03-16T00:00:00Z</vt:filetime>
  </property>
  <property fmtid="{D5CDD505-2E9C-101B-9397-08002B2CF9AE}" pid="5" name="Producer">
    <vt:lpwstr>Canva</vt:lpwstr>
  </property>
</Properties>
</file>